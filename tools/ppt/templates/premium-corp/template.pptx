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  <p:sldMasterId id="2147483672" r:id="rId4"/>
  </p:sldMasterIdLst>
  <p:notesMasterIdLst>
    <p:notesMasterId r:id="rId14"/>
  </p:notesMasterIdLst>
  <p:handoutMasterIdLst>
    <p:handoutMasterId r:id="rId44"/>
  </p:handoutMasterIdLst>
  <p:sldIdLst>
    <p:sldId id="5720" r:id="rId8"/>
    <p:sldId id="5719" r:id="rId9"/>
    <p:sldId id="5715" r:id="rId10"/>
    <p:sldId id="5717" r:id="rId11"/>
    <p:sldId id="5721" r:id="rId12"/>
    <p:sldId id="701" r:id="rId13"/>
    <p:sldId id="5728" r:id="rId15"/>
    <p:sldId id="16669960" r:id="rId16"/>
    <p:sldId id="5725" r:id="rId17"/>
    <p:sldId id="710" r:id="rId18"/>
    <p:sldId id="16669961" r:id="rId19"/>
    <p:sldId id="2661" r:id="rId20"/>
    <p:sldId id="16669962" r:id="rId21"/>
    <p:sldId id="2506" r:id="rId22"/>
    <p:sldId id="5732" r:id="rId23"/>
    <p:sldId id="5733" r:id="rId24"/>
    <p:sldId id="2518" r:id="rId25"/>
    <p:sldId id="16669963" r:id="rId26"/>
    <p:sldId id="5735" r:id="rId27"/>
    <p:sldId id="16669964" r:id="rId28"/>
    <p:sldId id="16669965" r:id="rId29"/>
    <p:sldId id="2648" r:id="rId30"/>
    <p:sldId id="5740" r:id="rId31"/>
    <p:sldId id="5743" r:id="rId32"/>
    <p:sldId id="16669966" r:id="rId33"/>
    <p:sldId id="5748" r:id="rId34"/>
    <p:sldId id="5750" r:id="rId35"/>
    <p:sldId id="5749" r:id="rId36"/>
    <p:sldId id="16669967" r:id="rId37"/>
    <p:sldId id="5753" r:id="rId38"/>
    <p:sldId id="5755" r:id="rId39"/>
    <p:sldId id="16669968" r:id="rId40"/>
    <p:sldId id="5759" r:id="rId41"/>
    <p:sldId id="16669969" r:id="rId42"/>
    <p:sldId id="16669970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90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Lbls>
            <c:dLbl>
              <c:idx val="1"/>
              <c:layout>
                <c:manualLayout>
                  <c:x val="0.014350521854279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思源黑体 CN Medium" panose="020B0600000000000000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222692980082"/>
                      <c:h val="0.17412467166227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</c:v>
                </c:pt>
                <c:pt idx="1">
                  <c:v>280</c:v>
                </c:pt>
                <c:pt idx="2">
                  <c:v>120</c:v>
                </c:pt>
                <c:pt idx="3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116705544009569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思源黑体 CN Medium" panose="020B0600000000000000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6237499791495"/>
                      <c:h val="0.204188019799141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</c:v>
                </c:pt>
                <c:pt idx="1">
                  <c:v>12.3</c:v>
                </c:pt>
                <c:pt idx="2">
                  <c:v>5.5</c:v>
                </c:pt>
                <c:pt idx="3">
                  <c:v>4.1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93614296"/>
        <c:axId val="1293606376"/>
      </c:line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4"/>
        <c:axId val="1813296960"/>
        <c:axId val="1813294440"/>
      </c:barChart>
      <c:catAx>
        <c:axId val="18132969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3294440"/>
        <c:crosses val="autoZero"/>
        <c:auto val="1"/>
        <c:lblAlgn val="ctr"/>
        <c:lblOffset val="100"/>
        <c:noMultiLvlLbl val="0"/>
      </c:catAx>
      <c:valAx>
        <c:axId val="1813294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329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00" b="0" i="0" u="none" strike="noStrike" kern="1200" baseline="0">
                      <a:solidFill>
                        <a:schemeClr val="accent1"/>
                      </a:solidFill>
                      <a:latin typeface="+mj-ea"/>
                      <a:ea typeface="+mj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35000</c:v>
                </c:pt>
                <c:pt idx="1">
                  <c:v>25899</c:v>
                </c:pt>
                <c:pt idx="2">
                  <c:v>12099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Lbls>
            <c:dLbl>
              <c:idx val="1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fld id="{7496e2d8-b919-40e3-8b78-d837a29bf75a}" type="VALUE">
                      <a:t>[VALUE]</a:t>
                    </a:fld>
                    <a:endParaRPr lang="zh-CN" altLang="en-US"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12345</c:v>
                </c:pt>
                <c:pt idx="1">
                  <c:v>56421</c:v>
                </c:pt>
                <c:pt idx="2">
                  <c:v>22134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</c:dPt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100" b="0" i="0" u="none" strike="noStrike" kern="1200" baseline="0">
                      <a:solidFill>
                        <a:schemeClr val="accent1"/>
                      </a:solidFill>
                      <a:latin typeface="+mj-ea"/>
                      <a:ea typeface="+mj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23456</c:v>
                </c:pt>
                <c:pt idx="1">
                  <c:v>32123</c:v>
                </c:pt>
                <c:pt idx="2">
                  <c:v>54323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</c:dPt>
          <c:dLbls>
            <c:dLbl>
              <c:idx val="2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fld id="{690a7979-3157-4f85-a1bb-aa02f0992874}" type="VALUE">
                      <a:t>[VALUE]</a:t>
                    </a:fld>
                    <a:endParaRPr lang="zh-CN" altLang="en-US"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12211</c:v>
                </c:pt>
                <c:pt idx="1">
                  <c:v>45323</c:v>
                </c:pt>
                <c:pt idx="2">
                  <c:v>75432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fld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fld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C1017405-55BE-4362-88E1-BA68B5BD23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23EB11D7-82F1-4B2E-8B4A-14F87C2993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+mj-ea"/>
          <a:cs typeface="思源黑体 CN Medium" panose="020B06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tags" Target="../tags/tag22.xml"/><Relationship Id="rId5" Type="http://schemas.openxmlformats.org/officeDocument/2006/relationships/slideLayout" Target="../slideLayouts/slideLayout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svg"/><Relationship Id="rId3" Type="http://schemas.openxmlformats.org/officeDocument/2006/relationships/tags" Target="../tags/tag23.xml"/><Relationship Id="rId4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svg"/><Relationship Id="rId3" Type="http://schemas.openxmlformats.org/officeDocument/2006/relationships/tags" Target="../tags/tag24.xml"/><Relationship Id="rId4" Type="http://schemas.openxmlformats.org/officeDocument/2006/relationships/slideLayout" Target="../slideLayouts/slideLayout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.svg"/><Relationship Id="rId3" Type="http://schemas.openxmlformats.org/officeDocument/2006/relationships/image" Target="../media/image21.png"/><Relationship Id="rId4" Type="http://schemas.openxmlformats.org/officeDocument/2006/relationships/image" Target="../media/image4.svg"/><Relationship Id="rId5" Type="http://schemas.openxmlformats.org/officeDocument/2006/relationships/tags" Target="../tags/tag30.xml"/><Relationship Id="rId6" Type="http://schemas.openxmlformats.org/officeDocument/2006/relationships/slideLayout" Target="../slideLayouts/slideLayout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5.svg"/><Relationship Id="rId6" Type="http://schemas.openxmlformats.org/officeDocument/2006/relationships/tags" Target="../tags/tag31.xml"/><Relationship Id="rId7" Type="http://schemas.openxmlformats.org/officeDocument/2006/relationships/slideLayout" Target="../slideLayouts/slideLayout24.xml"/><Relationship Id="rId8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Layout" Target="../slideLayouts/slideLayout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tags" Target="../tags/tag48.xml"/><Relationship Id="rId9" Type="http://schemas.openxmlformats.org/officeDocument/2006/relationships/slideLayout" Target="../slideLayouts/slideLayout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tags" Target="../tags/tag51.xml"/><Relationship Id="rId6" Type="http://schemas.openxmlformats.org/officeDocument/2006/relationships/slideLayout" Target="../slideLayouts/slideLayout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Layout" Target="../slideLayouts/slideLayout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slideLayout" Target="../slideLayouts/slideLayout29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368300" y="5627291"/>
            <a:ext cx="11455400" cy="88042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68300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6509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年中数据分析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8926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优化产线效率，人力支出环比下降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B51D25"/>
                  </a:gs>
                  <a:gs pos="100000">
                    <a:srgbClr val="B51D25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370484" y="1133784"/>
            <a:ext cx="608442" cy="608442"/>
            <a:chOff x="647214" y="1220618"/>
            <a:chExt cx="516255" cy="516255"/>
          </a:xfrm>
        </p:grpSpPr>
        <p:sp>
          <p:nvSpPr>
            <p:cNvPr id="52" name="矩形 51"/>
            <p:cNvSpPr/>
            <p:nvPr/>
          </p:nvSpPr>
          <p:spPr>
            <a:xfrm>
              <a:off x="647214" y="1220618"/>
              <a:ext cx="516255" cy="51625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53" name="Google Shape;5620;p76"/>
            <p:cNvGrpSpPr/>
            <p:nvPr/>
          </p:nvGrpSpPr>
          <p:grpSpPr>
            <a:xfrm>
              <a:off x="808138" y="1284729"/>
              <a:ext cx="188688" cy="402498"/>
              <a:chOff x="4584850" y="4399275"/>
              <a:chExt cx="225875" cy="481825"/>
            </a:xfrm>
            <a:solidFill>
              <a:schemeClr val="bg1"/>
            </a:solidFill>
          </p:grpSpPr>
          <p:sp>
            <p:nvSpPr>
              <p:cNvPr id="54" name="Google Shape;5621;p76"/>
              <p:cNvSpPr/>
              <p:nvPr/>
            </p:nvSpPr>
            <p:spPr>
              <a:xfrm>
                <a:off x="4655400" y="4399275"/>
                <a:ext cx="84700" cy="847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3389" extrusionOk="0">
                    <a:moveTo>
                      <a:pt x="1696" y="1"/>
                    </a:moveTo>
                    <a:cubicBezTo>
                      <a:pt x="759" y="1"/>
                      <a:pt x="0" y="760"/>
                      <a:pt x="0" y="1696"/>
                    </a:cubicBezTo>
                    <a:cubicBezTo>
                      <a:pt x="0" y="2630"/>
                      <a:pt x="759" y="3389"/>
                      <a:pt x="1696" y="3389"/>
                    </a:cubicBezTo>
                    <a:cubicBezTo>
                      <a:pt x="2629" y="3389"/>
                      <a:pt x="3388" y="2630"/>
                      <a:pt x="3388" y="1696"/>
                    </a:cubicBezTo>
                    <a:cubicBezTo>
                      <a:pt x="3388" y="760"/>
                      <a:pt x="2629" y="1"/>
                      <a:pt x="169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55" name="Google Shape;5622;p76"/>
              <p:cNvSpPr/>
              <p:nvPr/>
            </p:nvSpPr>
            <p:spPr>
              <a:xfrm>
                <a:off x="4584850" y="4512200"/>
                <a:ext cx="225875" cy="368900"/>
              </a:xfrm>
              <a:custGeom>
                <a:avLst/>
                <a:gdLst/>
                <a:ahLst/>
                <a:cxnLst/>
                <a:rect l="l" t="t" r="r" b="b"/>
                <a:pathLst>
                  <a:path w="9035" h="14756" extrusionOk="0">
                    <a:moveTo>
                      <a:pt x="2259" y="1"/>
                    </a:moveTo>
                    <a:cubicBezTo>
                      <a:pt x="1013" y="1"/>
                      <a:pt x="1" y="1052"/>
                      <a:pt x="1" y="2298"/>
                    </a:cubicBezTo>
                    <a:lnTo>
                      <a:pt x="1" y="5686"/>
                    </a:lnTo>
                    <a:cubicBezTo>
                      <a:pt x="1" y="6280"/>
                      <a:pt x="414" y="6792"/>
                      <a:pt x="1106" y="6792"/>
                    </a:cubicBezTo>
                    <a:cubicBezTo>
                      <a:pt x="1284" y="6792"/>
                      <a:pt x="1480" y="6758"/>
                      <a:pt x="1693" y="6683"/>
                    </a:cubicBezTo>
                    <a:lnTo>
                      <a:pt x="1693" y="13627"/>
                    </a:lnTo>
                    <a:cubicBezTo>
                      <a:pt x="1693" y="14250"/>
                      <a:pt x="2199" y="14756"/>
                      <a:pt x="2822" y="14756"/>
                    </a:cubicBezTo>
                    <a:cubicBezTo>
                      <a:pt x="3446" y="14756"/>
                      <a:pt x="3952" y="14250"/>
                      <a:pt x="3952" y="13627"/>
                    </a:cubicBezTo>
                    <a:lnTo>
                      <a:pt x="3952" y="9637"/>
                    </a:lnTo>
                    <a:cubicBezTo>
                      <a:pt x="3952" y="9324"/>
                      <a:pt x="4204" y="9074"/>
                      <a:pt x="4518" y="9074"/>
                    </a:cubicBezTo>
                    <a:cubicBezTo>
                      <a:pt x="4828" y="9074"/>
                      <a:pt x="5081" y="9324"/>
                      <a:pt x="5081" y="9637"/>
                    </a:cubicBezTo>
                    <a:lnTo>
                      <a:pt x="5081" y="13627"/>
                    </a:lnTo>
                    <a:cubicBezTo>
                      <a:pt x="5081" y="14250"/>
                      <a:pt x="5587" y="14756"/>
                      <a:pt x="6210" y="14756"/>
                    </a:cubicBezTo>
                    <a:cubicBezTo>
                      <a:pt x="6833" y="14756"/>
                      <a:pt x="7339" y="14250"/>
                      <a:pt x="7339" y="13627"/>
                    </a:cubicBezTo>
                    <a:lnTo>
                      <a:pt x="7339" y="6683"/>
                    </a:lnTo>
                    <a:cubicBezTo>
                      <a:pt x="7552" y="6758"/>
                      <a:pt x="7749" y="6792"/>
                      <a:pt x="7927" y="6792"/>
                    </a:cubicBezTo>
                    <a:cubicBezTo>
                      <a:pt x="8619" y="6792"/>
                      <a:pt x="9035" y="6280"/>
                      <a:pt x="9035" y="5686"/>
                    </a:cubicBezTo>
                    <a:lnTo>
                      <a:pt x="9035" y="2298"/>
                    </a:lnTo>
                    <a:cubicBezTo>
                      <a:pt x="9035" y="1052"/>
                      <a:pt x="8020" y="1"/>
                      <a:pt x="67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58" name="文本框 57"/>
          <p:cNvSpPr txBox="1"/>
          <p:nvPr/>
        </p:nvSpPr>
        <p:spPr>
          <a:xfrm>
            <a:off x="1963747" y="1383888"/>
            <a:ext cx="711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9%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 rot="10800000" flipH="1">
            <a:off x="2628711" y="1512817"/>
            <a:ext cx="194156" cy="190920"/>
            <a:chOff x="3265714" y="1753437"/>
            <a:chExt cx="301451" cy="296427"/>
          </a:xfrm>
        </p:grpSpPr>
        <p:sp>
          <p:nvSpPr>
            <p:cNvPr id="62" name="矩形 478"/>
            <p:cNvSpPr/>
            <p:nvPr/>
          </p:nvSpPr>
          <p:spPr>
            <a:xfrm rot="5400000">
              <a:off x="3326004" y="1753437"/>
              <a:ext cx="241161" cy="241161"/>
            </a:xfrm>
            <a:custGeom>
              <a:avLst/>
              <a:gdLst>
                <a:gd name="connsiteX0" fmla="*/ 0 w 241161"/>
                <a:gd name="connsiteY0" fmla="*/ 0 h 241161"/>
                <a:gd name="connsiteX1" fmla="*/ 241161 w 241161"/>
                <a:gd name="connsiteY1" fmla="*/ 0 h 241161"/>
                <a:gd name="connsiteX2" fmla="*/ 241161 w 241161"/>
                <a:gd name="connsiteY2" fmla="*/ 241161 h 241161"/>
                <a:gd name="connsiteX3" fmla="*/ 0 w 241161"/>
                <a:gd name="connsiteY3" fmla="*/ 241161 h 241161"/>
                <a:gd name="connsiteX4" fmla="*/ 0 w 241161"/>
                <a:gd name="connsiteY4" fmla="*/ 0 h 241161"/>
                <a:gd name="connsiteX0-1" fmla="*/ 241161 w 332601"/>
                <a:gd name="connsiteY0-2" fmla="*/ 241161 h 332601"/>
                <a:gd name="connsiteX1-3" fmla="*/ 0 w 332601"/>
                <a:gd name="connsiteY1-4" fmla="*/ 241161 h 332601"/>
                <a:gd name="connsiteX2-5" fmla="*/ 0 w 332601"/>
                <a:gd name="connsiteY2-6" fmla="*/ 0 h 332601"/>
                <a:gd name="connsiteX3-7" fmla="*/ 241161 w 332601"/>
                <a:gd name="connsiteY3-8" fmla="*/ 0 h 332601"/>
                <a:gd name="connsiteX4-9" fmla="*/ 332601 w 332601"/>
                <a:gd name="connsiteY4-10" fmla="*/ 332601 h 332601"/>
                <a:gd name="connsiteX0-11" fmla="*/ 241161 w 241161"/>
                <a:gd name="connsiteY0-12" fmla="*/ 241161 h 241161"/>
                <a:gd name="connsiteX1-13" fmla="*/ 0 w 241161"/>
                <a:gd name="connsiteY1-14" fmla="*/ 241161 h 241161"/>
                <a:gd name="connsiteX2-15" fmla="*/ 0 w 241161"/>
                <a:gd name="connsiteY2-16" fmla="*/ 0 h 241161"/>
                <a:gd name="connsiteX3-17" fmla="*/ 241161 w 241161"/>
                <a:gd name="connsiteY3-18" fmla="*/ 0 h 241161"/>
                <a:gd name="connsiteX0-19" fmla="*/ 0 w 241161"/>
                <a:gd name="connsiteY0-20" fmla="*/ 241161 h 241161"/>
                <a:gd name="connsiteX1-21" fmla="*/ 0 w 241161"/>
                <a:gd name="connsiteY1-22" fmla="*/ 0 h 241161"/>
                <a:gd name="connsiteX2-23" fmla="*/ 241161 w 241161"/>
                <a:gd name="connsiteY2-24" fmla="*/ 0 h 2411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41161" h="241161">
                  <a:moveTo>
                    <a:pt x="0" y="241161"/>
                  </a:moveTo>
                  <a:lnTo>
                    <a:pt x="0" y="0"/>
                  </a:lnTo>
                  <a:lnTo>
                    <a:pt x="241161" y="0"/>
                  </a:lnTo>
                </a:path>
              </a:pathLst>
            </a:custGeom>
            <a:noFill/>
            <a:ln w="3175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63" name="直线连接符 615"/>
            <p:cNvCxnSpPr/>
            <p:nvPr/>
          </p:nvCxnSpPr>
          <p:spPr>
            <a:xfrm flipH="1">
              <a:off x="3265714" y="1773534"/>
              <a:ext cx="276330" cy="276330"/>
            </a:xfrm>
            <a:prstGeom prst="line">
              <a:avLst/>
            </a:prstGeom>
            <a:ln w="3810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线连接符 11"/>
          <p:cNvCxnSpPr/>
          <p:nvPr/>
        </p:nvCxnSpPr>
        <p:spPr>
          <a:xfrm>
            <a:off x="355600" y="1860677"/>
            <a:ext cx="33673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04196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通过自动化升级与技能培训，单位工时产出提升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，但区域薪资上涨仍带来压力。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1981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一线生产工资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46816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仓储分拣人力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1981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管理及技术岗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816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外包临时工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302606" y="5179677"/>
            <a:ext cx="5586788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b="1" i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物流仓储成本受油价影响显著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B51D25"/>
                  </a:gs>
                  <a:gs pos="100000">
                    <a:srgbClr val="B51D25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325687" y="5656610"/>
            <a:ext cx="7540625" cy="33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通过自动化升级与技能培训，单位工时产出提升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，但区域薪资上涨仍带来压力。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Google Shape;4568;p74"/>
          <p:cNvSpPr/>
          <p:nvPr/>
        </p:nvSpPr>
        <p:spPr>
          <a:xfrm rot="18029453">
            <a:off x="3308119" y="1276302"/>
            <a:ext cx="2869647" cy="1481726"/>
          </a:xfrm>
          <a:custGeom>
            <a:avLst/>
            <a:gdLst/>
            <a:ahLst/>
            <a:cxnLst/>
            <a:rect l="l" t="t" r="r" b="b"/>
            <a:pathLst>
              <a:path w="20642" h="10656" extrusionOk="0">
                <a:moveTo>
                  <a:pt x="10321" y="0"/>
                </a:moveTo>
                <a:cubicBezTo>
                  <a:pt x="4630" y="0"/>
                  <a:pt x="1" y="4630"/>
                  <a:pt x="1" y="10321"/>
                </a:cubicBezTo>
                <a:cubicBezTo>
                  <a:pt x="1" y="10385"/>
                  <a:pt x="2" y="10450"/>
                  <a:pt x="4" y="10514"/>
                </a:cubicBezTo>
                <a:cubicBezTo>
                  <a:pt x="1580" y="9686"/>
                  <a:pt x="3307" y="9273"/>
                  <a:pt x="5033" y="9273"/>
                </a:cubicBezTo>
                <a:cubicBezTo>
                  <a:pt x="6858" y="9273"/>
                  <a:pt x="8681" y="9735"/>
                  <a:pt x="10321" y="10655"/>
                </a:cubicBezTo>
                <a:cubicBezTo>
                  <a:pt x="11962" y="9735"/>
                  <a:pt x="13786" y="9273"/>
                  <a:pt x="15610" y="9273"/>
                </a:cubicBezTo>
                <a:cubicBezTo>
                  <a:pt x="17337" y="9273"/>
                  <a:pt x="19065" y="9686"/>
                  <a:pt x="20640" y="10514"/>
                </a:cubicBezTo>
                <a:cubicBezTo>
                  <a:pt x="20640" y="10450"/>
                  <a:pt x="20642" y="10385"/>
                  <a:pt x="20642" y="10321"/>
                </a:cubicBezTo>
                <a:cubicBezTo>
                  <a:pt x="20642" y="4630"/>
                  <a:pt x="16012" y="0"/>
                  <a:pt x="1032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Google Shape;4570;p74"/>
          <p:cNvSpPr/>
          <p:nvPr/>
        </p:nvSpPr>
        <p:spPr>
          <a:xfrm rot="18029453">
            <a:off x="5532771" y="1366637"/>
            <a:ext cx="1360586" cy="1289835"/>
          </a:xfrm>
          <a:custGeom>
            <a:avLst/>
            <a:gdLst/>
            <a:ahLst/>
            <a:cxnLst/>
            <a:rect l="l" t="t" r="r" b="b"/>
            <a:pathLst>
              <a:path w="9787" h="9276" extrusionOk="0">
                <a:moveTo>
                  <a:pt x="4781" y="1"/>
                </a:moveTo>
                <a:cubicBezTo>
                  <a:pt x="3141" y="1"/>
                  <a:pt x="1499" y="393"/>
                  <a:pt x="1" y="1178"/>
                </a:cubicBezTo>
                <a:cubicBezTo>
                  <a:pt x="2747" y="2923"/>
                  <a:pt x="4656" y="5871"/>
                  <a:pt x="4984" y="9276"/>
                </a:cubicBezTo>
                <a:cubicBezTo>
                  <a:pt x="7683" y="7574"/>
                  <a:pt x="9542" y="4656"/>
                  <a:pt x="9787" y="1300"/>
                </a:cubicBezTo>
                <a:cubicBezTo>
                  <a:pt x="8232" y="434"/>
                  <a:pt x="6507" y="1"/>
                  <a:pt x="478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4714902" y="2624925"/>
            <a:ext cx="2649892" cy="2505460"/>
            <a:chOff x="4714902" y="3042849"/>
            <a:chExt cx="2649892" cy="2505460"/>
          </a:xfr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2700000" scaled="0"/>
          </a:gradFill>
        </p:grpSpPr>
        <p:sp>
          <p:nvSpPr>
            <p:cNvPr id="33" name="Google Shape;4571;p74"/>
            <p:cNvSpPr/>
            <p:nvPr/>
          </p:nvSpPr>
          <p:spPr>
            <a:xfrm rot="18029453">
              <a:off x="4990040" y="3173556"/>
              <a:ext cx="2099615" cy="2649892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Google Shape;4572;p74"/>
            <p:cNvSpPr/>
            <p:nvPr/>
          </p:nvSpPr>
          <p:spPr>
            <a:xfrm rot="18029453">
              <a:off x="4771023" y="3078224"/>
              <a:ext cx="1360586" cy="1289835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5851599" y="1100409"/>
            <a:ext cx="2649892" cy="2964504"/>
            <a:chOff x="5851599" y="1518333"/>
            <a:chExt cx="2649892" cy="2964504"/>
          </a:xfr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95000"/>
                </a:schemeClr>
              </a:gs>
            </a:gsLst>
            <a:lin ang="2700000" scaled="0"/>
          </a:gradFill>
        </p:grpSpPr>
        <p:sp>
          <p:nvSpPr>
            <p:cNvPr id="31" name="Google Shape;4569;p74"/>
            <p:cNvSpPr/>
            <p:nvPr/>
          </p:nvSpPr>
          <p:spPr>
            <a:xfrm rot="18029453">
              <a:off x="6126807" y="1243125"/>
              <a:ext cx="2099476" cy="2649892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Google Shape;4573;p74"/>
            <p:cNvSpPr/>
            <p:nvPr/>
          </p:nvSpPr>
          <p:spPr>
            <a:xfrm rot="18029453">
              <a:off x="6332590" y="3153528"/>
              <a:ext cx="1399512" cy="125910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3840807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人工成本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66221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28%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09646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制造成本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735060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45%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303783" y="4366006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其他成本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329197" y="3831125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27%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840611" y="164141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01201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895160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5" name="箭头: V 形 84"/>
          <p:cNvSpPr/>
          <p:nvPr/>
        </p:nvSpPr>
        <p:spPr>
          <a:xfrm flipH="1">
            <a:off x="4595685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6" name="箭头: V 形 85"/>
          <p:cNvSpPr/>
          <p:nvPr/>
        </p:nvSpPr>
        <p:spPr>
          <a:xfrm>
            <a:off x="7419960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箭头: V 形 86"/>
          <p:cNvSpPr/>
          <p:nvPr/>
        </p:nvSpPr>
        <p:spPr>
          <a:xfrm rot="5400000">
            <a:off x="5994284" y="4717866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81981" y="3453443"/>
            <a:ext cx="759364" cy="628920"/>
            <a:chOff x="881981" y="3623869"/>
            <a:chExt cx="759364" cy="628920"/>
          </a:xfrm>
        </p:grpSpPr>
        <p:grpSp>
          <p:nvGrpSpPr>
            <p:cNvPr id="36" name="组合 35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9" name="弧形 28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7128000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58%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414811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881981" y="4667378"/>
            <a:ext cx="759364" cy="628920"/>
            <a:chOff x="881981" y="3623869"/>
            <a:chExt cx="759364" cy="628920"/>
          </a:xfrm>
        </p:grpSpPr>
        <p:grpSp>
          <p:nvGrpSpPr>
            <p:cNvPr id="93" name="组合 92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96" name="弧形 95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93896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15%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2414811" y="4667378"/>
            <a:ext cx="759364" cy="628920"/>
            <a:chOff x="881981" y="3623869"/>
            <a:chExt cx="759364" cy="628920"/>
          </a:xfrm>
        </p:grpSpPr>
        <p:grpSp>
          <p:nvGrpSpPr>
            <p:cNvPr id="98" name="组合 97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00" name="椭圆 99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1" name="弧形 100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2624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99" name="文本框 98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466673" y="3456406"/>
            <a:ext cx="640299" cy="640298"/>
            <a:chOff x="2977601" y="3014493"/>
            <a:chExt cx="1518729" cy="1518728"/>
          </a:xfrm>
        </p:grpSpPr>
        <p:sp>
          <p:nvSpPr>
            <p:cNvPr id="102" name="椭圆 101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弧形 102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20952000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06" name="矩形 105"/>
          <p:cNvSpPr/>
          <p:nvPr/>
        </p:nvSpPr>
        <p:spPr>
          <a:xfrm>
            <a:off x="8457604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388572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原材料波动推高成本，但工艺改进对冲部分风险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B51D25"/>
                  </a:gs>
                  <a:gs pos="100000">
                    <a:srgbClr val="B51D25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1224783" y="1133784"/>
            <a:ext cx="608442" cy="60844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17" name="直线连接符 11"/>
          <p:cNvCxnSpPr/>
          <p:nvPr/>
        </p:nvCxnSpPr>
        <p:spPr>
          <a:xfrm>
            <a:off x="8457604" y="1860677"/>
            <a:ext cx="33546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8593500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铜材价格上涨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，但通过标准化生产降低废品率至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（原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），节省成本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万元。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8681285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原材料采购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10236120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设备折旧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8681285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能源消耗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10236120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质量损耗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8971285" y="3453443"/>
            <a:ext cx="759364" cy="628920"/>
            <a:chOff x="881981" y="3623869"/>
            <a:chExt cx="759364" cy="628920"/>
          </a:xfrm>
        </p:grpSpPr>
        <p:grpSp>
          <p:nvGrpSpPr>
            <p:cNvPr id="124" name="组合 123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26" name="椭圆 125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7" name="弧形 126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587465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65%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10504115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8971285" y="4667378"/>
            <a:ext cx="759364" cy="628920"/>
            <a:chOff x="881981" y="3623869"/>
            <a:chExt cx="759364" cy="628920"/>
          </a:xfrm>
        </p:grpSpPr>
        <p:grpSp>
          <p:nvGrpSpPr>
            <p:cNvPr id="130" name="组合 129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2" name="椭圆 131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3" name="弧形 132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8307984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1" name="文本框 13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10%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10504115" y="4667378"/>
            <a:ext cx="759364" cy="628920"/>
            <a:chOff x="881981" y="3623869"/>
            <a:chExt cx="759364" cy="6289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7" name="椭圆 136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8" name="弧形 137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457861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6" name="文本框 135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10555977" y="3456406"/>
            <a:ext cx="640299" cy="640298"/>
            <a:chOff x="2977601" y="3014493"/>
            <a:chExt cx="1518729" cy="1518728"/>
          </a:xfrm>
        </p:grpSpPr>
        <p:sp>
          <p:nvSpPr>
            <p:cNvPr id="140" name="椭圆 139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19966674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176705" y="6036827"/>
            <a:ext cx="2171525" cy="305853"/>
            <a:chOff x="355600" y="6294662"/>
            <a:chExt cx="2171525" cy="305853"/>
          </a:xfrm>
        </p:grpSpPr>
        <p:sp>
          <p:nvSpPr>
            <p:cNvPr id="74" name="矩形 73"/>
            <p:cNvSpPr/>
            <p:nvPr/>
          </p:nvSpPr>
          <p:spPr>
            <a:xfrm>
              <a:off x="1844311" y="6313403"/>
              <a:ext cx="682814" cy="268372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40%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55600" y="6294662"/>
              <a:ext cx="1473200" cy="305853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运输费用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345049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856338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仓储租金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024682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535971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库存损耗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704315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215604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保险及税费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814395" y="6027782"/>
            <a:ext cx="302588" cy="302588"/>
            <a:chOff x="3861775" y="2457822"/>
            <a:chExt cx="762000" cy="762000"/>
          </a:xfrm>
        </p:grpSpPr>
        <p:sp>
          <p:nvSpPr>
            <p:cNvPr id="148" name="Rectangle: Rounded Corners 27"/>
            <p:cNvSpPr/>
            <p:nvPr/>
          </p:nvSpPr>
          <p:spPr>
            <a:xfrm>
              <a:off x="3861775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49" name="图形 148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50" name="组合 149"/>
          <p:cNvGrpSpPr/>
          <p:nvPr/>
        </p:nvGrpSpPr>
        <p:grpSpPr>
          <a:xfrm>
            <a:off x="3476661" y="6027782"/>
            <a:ext cx="302588" cy="302588"/>
            <a:chOff x="3837791" y="2457822"/>
            <a:chExt cx="762000" cy="762000"/>
          </a:xfrm>
        </p:grpSpPr>
        <p:sp>
          <p:nvSpPr>
            <p:cNvPr id="15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52" name="图形 151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</p:pic>
      </p:grpSp>
      <p:sp>
        <p:nvSpPr>
          <p:cNvPr id="154" name="Rectangle: Rounded Corners 27"/>
          <p:cNvSpPr/>
          <p:nvPr/>
        </p:nvSpPr>
        <p:spPr>
          <a:xfrm>
            <a:off x="614845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200" b="0" i="0" u="none" strike="noStrike" kern="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155" name="图形 154" descr="条形图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07045" y="6079466"/>
            <a:ext cx="181553" cy="181553"/>
          </a:xfrm>
          <a:prstGeom prst="rect">
            <a:avLst/>
          </a:prstGeom>
        </p:spPr>
      </p:pic>
      <p:sp>
        <p:nvSpPr>
          <p:cNvPr id="157" name="Rectangle: Rounded Corners 27"/>
          <p:cNvSpPr/>
          <p:nvPr/>
        </p:nvSpPr>
        <p:spPr>
          <a:xfrm>
            <a:off x="882024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200" b="0" i="0" u="none" strike="noStrike" kern="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158" name="图形 157" descr="条形图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78835" y="6079466"/>
            <a:ext cx="181553" cy="181553"/>
          </a:xfrm>
          <a:prstGeom prst="rect">
            <a:avLst/>
          </a:prstGeom>
        </p:spPr>
      </p:pic>
      <p:grpSp>
        <p:nvGrpSpPr>
          <p:cNvPr id="160" name="Google Shape;6643;p79"/>
          <p:cNvGrpSpPr/>
          <p:nvPr/>
        </p:nvGrpSpPr>
        <p:grpSpPr>
          <a:xfrm>
            <a:off x="11339566" y="1255459"/>
            <a:ext cx="378876" cy="369332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161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35560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阶段</a:t>
            </a:r>
            <a:endParaRPr kumimoji="0" lang="zh-CN" altLang="en-US" sz="3200" b="0" i="0" u="none" strike="noStrike" kern="1200" cap="none" spc="6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355600" y="531294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5600" y="211012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355600" y="4245334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355600" y="3177727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510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年中总结路径规划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4865899" y="5320738"/>
            <a:ext cx="2357330" cy="980492"/>
          </a:xfrm>
          <a:custGeom>
            <a:avLst/>
            <a:gdLst>
              <a:gd name="connsiteX0" fmla="*/ 0 w 2357330"/>
              <a:gd name="connsiteY0" fmla="*/ 0 h 980492"/>
              <a:gd name="connsiteX1" fmla="*/ 2357330 w 2357330"/>
              <a:gd name="connsiteY1" fmla="*/ 0 h 980492"/>
              <a:gd name="connsiteX2" fmla="*/ 2298744 w 2357330"/>
              <a:gd name="connsiteY2" fmla="*/ 391362 h 980492"/>
              <a:gd name="connsiteX3" fmla="*/ 2252684 w 2357330"/>
              <a:gd name="connsiteY3" fmla="*/ 811768 h 980492"/>
              <a:gd name="connsiteX4" fmla="*/ 2240663 w 2357330"/>
              <a:gd name="connsiteY4" fmla="*/ 980492 h 980492"/>
              <a:gd name="connsiteX5" fmla="*/ 116668 w 2357330"/>
              <a:gd name="connsiteY5" fmla="*/ 980492 h 980492"/>
              <a:gd name="connsiteX6" fmla="*/ 104646 w 2357330"/>
              <a:gd name="connsiteY6" fmla="*/ 811768 h 980492"/>
              <a:gd name="connsiteX7" fmla="*/ 58586 w 2357330"/>
              <a:gd name="connsiteY7" fmla="*/ 391362 h 980492"/>
              <a:gd name="connsiteX8" fmla="*/ 0 w 2357330"/>
              <a:gd name="connsiteY8" fmla="*/ 0 h 9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7330" h="980492">
                <a:moveTo>
                  <a:pt x="0" y="0"/>
                </a:moveTo>
                <a:lnTo>
                  <a:pt x="2357330" y="0"/>
                </a:lnTo>
                <a:lnTo>
                  <a:pt x="2298744" y="391362"/>
                </a:lnTo>
                <a:cubicBezTo>
                  <a:pt x="2280463" y="532379"/>
                  <a:pt x="2265118" y="672561"/>
                  <a:pt x="2252684" y="811768"/>
                </a:cubicBezTo>
                <a:lnTo>
                  <a:pt x="2240663" y="980492"/>
                </a:lnTo>
                <a:lnTo>
                  <a:pt x="116668" y="980492"/>
                </a:lnTo>
                <a:lnTo>
                  <a:pt x="104646" y="811768"/>
                </a:lnTo>
                <a:cubicBezTo>
                  <a:pt x="92212" y="672561"/>
                  <a:pt x="76868" y="532379"/>
                  <a:pt x="58586" y="39136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207" name="椭圆 206"/>
          <p:cNvSpPr/>
          <p:nvPr/>
        </p:nvSpPr>
        <p:spPr>
          <a:xfrm>
            <a:off x="4865899" y="5220475"/>
            <a:ext cx="2357330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9" name="任意多边形: 形状 208"/>
          <p:cNvSpPr/>
          <p:nvPr/>
        </p:nvSpPr>
        <p:spPr>
          <a:xfrm>
            <a:off x="4633019" y="4250532"/>
            <a:ext cx="2823088" cy="1026146"/>
          </a:xfrm>
          <a:custGeom>
            <a:avLst/>
            <a:gdLst>
              <a:gd name="connsiteX0" fmla="*/ 0 w 2823088"/>
              <a:gd name="connsiteY0" fmla="*/ 0 h 1026146"/>
              <a:gd name="connsiteX1" fmla="*/ 2823088 w 2823088"/>
              <a:gd name="connsiteY1" fmla="*/ 0 h 1026146"/>
              <a:gd name="connsiteX2" fmla="*/ 2776181 w 2823088"/>
              <a:gd name="connsiteY2" fmla="*/ 173751 h 1026146"/>
              <a:gd name="connsiteX3" fmla="*/ 2676772 w 2823088"/>
              <a:gd name="connsiteY3" fmla="*/ 606602 h 1026146"/>
              <a:gd name="connsiteX4" fmla="*/ 2607080 w 2823088"/>
              <a:gd name="connsiteY4" fmla="*/ 974080 h 1026146"/>
              <a:gd name="connsiteX5" fmla="*/ 2610743 w 2823088"/>
              <a:gd name="connsiteY5" fmla="*/ 975613 h 1026146"/>
              <a:gd name="connsiteX6" fmla="*/ 2606448 w 2823088"/>
              <a:gd name="connsiteY6" fmla="*/ 977411 h 1026146"/>
              <a:gd name="connsiteX7" fmla="*/ 2605864 w 2823088"/>
              <a:gd name="connsiteY7" fmla="*/ 980491 h 1026146"/>
              <a:gd name="connsiteX8" fmla="*/ 2599088 w 2823088"/>
              <a:gd name="connsiteY8" fmla="*/ 980491 h 1026146"/>
              <a:gd name="connsiteX9" fmla="*/ 2586409 w 2823088"/>
              <a:gd name="connsiteY9" fmla="*/ 985798 h 1026146"/>
              <a:gd name="connsiteX10" fmla="*/ 1412974 w 2823088"/>
              <a:gd name="connsiteY10" fmla="*/ 1026146 h 1026146"/>
              <a:gd name="connsiteX11" fmla="*/ 239540 w 2823088"/>
              <a:gd name="connsiteY11" fmla="*/ 985798 h 1026146"/>
              <a:gd name="connsiteX12" fmla="*/ 226861 w 2823088"/>
              <a:gd name="connsiteY12" fmla="*/ 980491 h 1026146"/>
              <a:gd name="connsiteX13" fmla="*/ 217225 w 2823088"/>
              <a:gd name="connsiteY13" fmla="*/ 980491 h 1026146"/>
              <a:gd name="connsiteX14" fmla="*/ 216395 w 2823088"/>
              <a:gd name="connsiteY14" fmla="*/ 976111 h 1026146"/>
              <a:gd name="connsiteX15" fmla="*/ 215205 w 2823088"/>
              <a:gd name="connsiteY15" fmla="*/ 975613 h 1026146"/>
              <a:gd name="connsiteX16" fmla="*/ 216220 w 2823088"/>
              <a:gd name="connsiteY16" fmla="*/ 975189 h 1026146"/>
              <a:gd name="connsiteX17" fmla="*/ 146316 w 2823088"/>
              <a:gd name="connsiteY17" fmla="*/ 606602 h 1026146"/>
              <a:gd name="connsiteX18" fmla="*/ 46907 w 2823088"/>
              <a:gd name="connsiteY18" fmla="*/ 173751 h 102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23088" h="1026146">
                <a:moveTo>
                  <a:pt x="0" y="0"/>
                </a:moveTo>
                <a:lnTo>
                  <a:pt x="2823088" y="0"/>
                </a:lnTo>
                <a:lnTo>
                  <a:pt x="2776181" y="173751"/>
                </a:lnTo>
                <a:cubicBezTo>
                  <a:pt x="2740037" y="318489"/>
                  <a:pt x="2706909" y="462819"/>
                  <a:pt x="2676772" y="606602"/>
                </a:cubicBezTo>
                <a:lnTo>
                  <a:pt x="2607080" y="974080"/>
                </a:lnTo>
                <a:lnTo>
                  <a:pt x="2610743" y="975613"/>
                </a:lnTo>
                <a:lnTo>
                  <a:pt x="2606448" y="977411"/>
                </a:lnTo>
                <a:lnTo>
                  <a:pt x="2605864" y="980491"/>
                </a:lnTo>
                <a:lnTo>
                  <a:pt x="2599088" y="980491"/>
                </a:lnTo>
                <a:lnTo>
                  <a:pt x="2586409" y="985798"/>
                </a:lnTo>
                <a:cubicBezTo>
                  <a:pt x="2474721" y="1008825"/>
                  <a:pt x="1991796" y="1026146"/>
                  <a:pt x="1412974" y="1026146"/>
                </a:cubicBezTo>
                <a:cubicBezTo>
                  <a:pt x="834153" y="1026146"/>
                  <a:pt x="351227" y="1008825"/>
                  <a:pt x="239540" y="985798"/>
                </a:cubicBezTo>
                <a:lnTo>
                  <a:pt x="226861" y="980491"/>
                </a:lnTo>
                <a:lnTo>
                  <a:pt x="217225" y="980491"/>
                </a:lnTo>
                <a:lnTo>
                  <a:pt x="216395" y="976111"/>
                </a:lnTo>
                <a:lnTo>
                  <a:pt x="215205" y="975613"/>
                </a:lnTo>
                <a:lnTo>
                  <a:pt x="216220" y="975189"/>
                </a:lnTo>
                <a:lnTo>
                  <a:pt x="146316" y="606602"/>
                </a:lnTo>
                <a:cubicBezTo>
                  <a:pt x="116179" y="462819"/>
                  <a:pt x="83052" y="318489"/>
                  <a:pt x="46907" y="1737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205" name="椭圆 204"/>
          <p:cNvSpPr/>
          <p:nvPr/>
        </p:nvSpPr>
        <p:spPr>
          <a:xfrm>
            <a:off x="4633018" y="4148123"/>
            <a:ext cx="2823089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8" name="任意多边形: 形状 207"/>
          <p:cNvSpPr/>
          <p:nvPr/>
        </p:nvSpPr>
        <p:spPr>
          <a:xfrm>
            <a:off x="4295628" y="3180327"/>
            <a:ext cx="3497870" cy="1024553"/>
          </a:xfrm>
          <a:custGeom>
            <a:avLst/>
            <a:gdLst>
              <a:gd name="connsiteX0" fmla="*/ 0 w 3497870"/>
              <a:gd name="connsiteY0" fmla="*/ 0 h 1024553"/>
              <a:gd name="connsiteX1" fmla="*/ 3497870 w 3497870"/>
              <a:gd name="connsiteY1" fmla="*/ 0 h 1024553"/>
              <a:gd name="connsiteX2" fmla="*/ 3366860 w 3497870"/>
              <a:gd name="connsiteY2" fmla="*/ 371795 h 1024553"/>
              <a:gd name="connsiteX3" fmla="*/ 3231085 w 3497870"/>
              <a:gd name="connsiteY3" fmla="*/ 808668 h 1024553"/>
              <a:gd name="connsiteX4" fmla="*/ 3186567 w 3497870"/>
              <a:gd name="connsiteY4" fmla="*/ 973574 h 1024553"/>
              <a:gd name="connsiteX5" fmla="*/ 3187846 w 3497870"/>
              <a:gd name="connsiteY5" fmla="*/ 974020 h 1024553"/>
              <a:gd name="connsiteX6" fmla="*/ 3186301 w 3497870"/>
              <a:gd name="connsiteY6" fmla="*/ 974559 h 1024553"/>
              <a:gd name="connsiteX7" fmla="*/ 3184699 w 3497870"/>
              <a:gd name="connsiteY7" fmla="*/ 980491 h 1024553"/>
              <a:gd name="connsiteX8" fmla="*/ 3169280 w 3497870"/>
              <a:gd name="connsiteY8" fmla="*/ 980491 h 1024553"/>
              <a:gd name="connsiteX9" fmla="*/ 3158626 w 3497870"/>
              <a:gd name="connsiteY9" fmla="*/ 984205 h 1024553"/>
              <a:gd name="connsiteX10" fmla="*/ 1749571 w 3497870"/>
              <a:gd name="connsiteY10" fmla="*/ 1024553 h 1024553"/>
              <a:gd name="connsiteX11" fmla="*/ 340517 w 3497870"/>
              <a:gd name="connsiteY11" fmla="*/ 984205 h 1024553"/>
              <a:gd name="connsiteX12" fmla="*/ 329863 w 3497870"/>
              <a:gd name="connsiteY12" fmla="*/ 980491 h 1024553"/>
              <a:gd name="connsiteX13" fmla="*/ 313172 w 3497870"/>
              <a:gd name="connsiteY13" fmla="*/ 980491 h 1024553"/>
              <a:gd name="connsiteX14" fmla="*/ 311439 w 3497870"/>
              <a:gd name="connsiteY14" fmla="*/ 974070 h 1024553"/>
              <a:gd name="connsiteX15" fmla="*/ 311296 w 3497870"/>
              <a:gd name="connsiteY15" fmla="*/ 974020 h 1024553"/>
              <a:gd name="connsiteX16" fmla="*/ 311414 w 3497870"/>
              <a:gd name="connsiteY16" fmla="*/ 973979 h 1024553"/>
              <a:gd name="connsiteX17" fmla="*/ 266785 w 3497870"/>
              <a:gd name="connsiteY17" fmla="*/ 808668 h 1024553"/>
              <a:gd name="connsiteX18" fmla="*/ 131010 w 3497870"/>
              <a:gd name="connsiteY18" fmla="*/ 371795 h 102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97870" h="1024553">
                <a:moveTo>
                  <a:pt x="0" y="0"/>
                </a:moveTo>
                <a:lnTo>
                  <a:pt x="3497870" y="0"/>
                </a:lnTo>
                <a:lnTo>
                  <a:pt x="3366860" y="371795"/>
                </a:lnTo>
                <a:cubicBezTo>
                  <a:pt x="3318540" y="517588"/>
                  <a:pt x="3273291" y="663260"/>
                  <a:pt x="3231085" y="808668"/>
                </a:cubicBezTo>
                <a:lnTo>
                  <a:pt x="3186567" y="973574"/>
                </a:lnTo>
                <a:lnTo>
                  <a:pt x="3187846" y="974020"/>
                </a:lnTo>
                <a:lnTo>
                  <a:pt x="3186301" y="974559"/>
                </a:lnTo>
                <a:lnTo>
                  <a:pt x="3184699" y="980491"/>
                </a:lnTo>
                <a:lnTo>
                  <a:pt x="3169280" y="980491"/>
                </a:lnTo>
                <a:lnTo>
                  <a:pt x="3158626" y="984205"/>
                </a:lnTo>
                <a:cubicBezTo>
                  <a:pt x="3024512" y="1007232"/>
                  <a:pt x="2444616" y="1024553"/>
                  <a:pt x="1749571" y="1024553"/>
                </a:cubicBezTo>
                <a:cubicBezTo>
                  <a:pt x="1054526" y="1024553"/>
                  <a:pt x="474631" y="1007232"/>
                  <a:pt x="340517" y="984205"/>
                </a:cubicBezTo>
                <a:lnTo>
                  <a:pt x="329863" y="980491"/>
                </a:lnTo>
                <a:lnTo>
                  <a:pt x="313172" y="980491"/>
                </a:lnTo>
                <a:lnTo>
                  <a:pt x="311439" y="974070"/>
                </a:lnTo>
                <a:lnTo>
                  <a:pt x="311296" y="974020"/>
                </a:lnTo>
                <a:lnTo>
                  <a:pt x="311414" y="973979"/>
                </a:lnTo>
                <a:lnTo>
                  <a:pt x="266785" y="808668"/>
                </a:lnTo>
                <a:cubicBezTo>
                  <a:pt x="224580" y="663260"/>
                  <a:pt x="179330" y="517588"/>
                  <a:pt x="131010" y="37179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200" name="椭圆 199"/>
          <p:cNvSpPr/>
          <p:nvPr/>
        </p:nvSpPr>
        <p:spPr>
          <a:xfrm>
            <a:off x="4295629" y="3036399"/>
            <a:ext cx="3497870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9" name="任意多边形: 形状 198"/>
          <p:cNvSpPr/>
          <p:nvPr/>
        </p:nvSpPr>
        <p:spPr>
          <a:xfrm>
            <a:off x="3845006" y="2110120"/>
            <a:ext cx="4399116" cy="1044204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195" name="椭圆 194"/>
          <p:cNvSpPr/>
          <p:nvPr/>
        </p:nvSpPr>
        <p:spPr>
          <a:xfrm>
            <a:off x="3845006" y="1951861"/>
            <a:ext cx="4399116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5149" y="55415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产品验证期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5535450" y="5716455"/>
            <a:ext cx="10182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4" name="矩形 213"/>
          <p:cNvSpPr/>
          <p:nvPr/>
        </p:nvSpPr>
        <p:spPr>
          <a:xfrm>
            <a:off x="5375149" y="450915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天使轮投入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5535450" y="4684105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5375149" y="34179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市场扩张期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5535450" y="3592877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2026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536251" y="2349912"/>
            <a:ext cx="1016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轮投入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535450" y="2524867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2027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623" y="5473180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完成前期开发与种子用户测试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1016623" y="443134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投入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800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万，启动小批量生产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623" y="338951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细分市场，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Pre-A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轮铺垫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016623" y="2263435"/>
            <a:ext cx="2674615" cy="730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投入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5000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万，拓展产品线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16462" y="2115591"/>
            <a:ext cx="1247979" cy="4266750"/>
            <a:chOff x="3616462" y="1270749"/>
            <a:chExt cx="1247979" cy="4266750"/>
          </a:xfrm>
        </p:grpSpPr>
        <p:sp>
          <p:nvSpPr>
            <p:cNvPr id="14" name="任意多边形: 形状 13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" name="等腰三角形 15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flipH="1">
            <a:off x="7215070" y="2115591"/>
            <a:ext cx="1247979" cy="4266750"/>
            <a:chOff x="3616462" y="1270749"/>
            <a:chExt cx="1247979" cy="4266750"/>
          </a:xfrm>
        </p:grpSpPr>
        <p:sp>
          <p:nvSpPr>
            <p:cNvPr id="29" name="任意多边形: 形状 28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32712" y="5473180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8232712" y="4412484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8232712" y="3351788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8232712" y="2291092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16305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目标</a:t>
            </a:r>
            <a:endParaRPr kumimoji="0" lang="zh-CN" altLang="en-US" sz="3200" b="0" i="0" u="none" strike="noStrike" kern="1200" cap="none" spc="6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061238" y="5367102"/>
            <a:ext cx="2845012" cy="830567"/>
            <a:chOff x="9061238" y="5367102"/>
            <a:chExt cx="2845012" cy="830567"/>
          </a:xfrm>
        </p:grpSpPr>
        <p:sp>
          <p:nvSpPr>
            <p:cNvPr id="226" name="矩形 225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成本控制在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元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台，通过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名种子用户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个月测试，收集核心需求。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7" name="矩形 226"/>
            <p:cNvSpPr/>
            <p:nvPr/>
          </p:nvSpPr>
          <p:spPr>
            <a:xfrm>
              <a:off x="988926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用户留存率≥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60%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NPS≥40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9" name="矩形: 圆角 22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关键指标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矩形: 圆角 63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061238" y="4294155"/>
            <a:ext cx="2845012" cy="830567"/>
            <a:chOff x="9061238" y="5367102"/>
            <a:chExt cx="2845012" cy="830567"/>
          </a:xfrm>
        </p:grpSpPr>
        <p:sp>
          <p:nvSpPr>
            <p:cNvPr id="82" name="矩形 81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释放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顾全，投入用于建立供应链（月产能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万台）及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人团队扩张。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9971088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估值锚定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投资策略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5" name="矩形: 圆角 8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061238" y="3221208"/>
            <a:ext cx="2845012" cy="830567"/>
            <a:chOff x="9061238" y="5367102"/>
            <a:chExt cx="2845012" cy="830567"/>
          </a:xfrm>
        </p:grpSpPr>
        <p:sp>
          <p:nvSpPr>
            <p:cNvPr id="87" name="矩形 86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通过电商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线下商铺货，月销突破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台，毛利率提升至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986210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年营收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万，再够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9" name="矩形: 圆角 8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里程碑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0" name="矩形: 圆角 89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9061238" y="2148261"/>
            <a:ext cx="2835780" cy="830567"/>
            <a:chOff x="9061238" y="5367102"/>
            <a:chExt cx="2835780" cy="830567"/>
          </a:xfrm>
        </p:grpSpPr>
        <p:sp>
          <p:nvSpPr>
            <p:cNvPr id="92" name="矩形 91"/>
            <p:cNvSpPr/>
            <p:nvPr/>
          </p:nvSpPr>
          <p:spPr>
            <a:xfrm>
              <a:off x="9061238" y="5367102"/>
              <a:ext cx="276246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释放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顾全，资金用于研发第二代产品（智能安防系列）及海外市场试点。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9961856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亿，对标行业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PS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倍数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5x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4" name="矩形: 圆角 9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估值目标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5" name="矩形: 圆角 9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619856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2762981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组合 98"/>
          <p:cNvGrpSpPr/>
          <p:nvPr/>
        </p:nvGrpSpPr>
        <p:grpSpPr>
          <a:xfrm>
            <a:off x="602208" y="2443884"/>
            <a:ext cx="302588" cy="302588"/>
            <a:chOff x="3837791" y="2457822"/>
            <a:chExt cx="762000" cy="762000"/>
          </a:xfrm>
        </p:grpSpPr>
        <p:sp>
          <p:nvSpPr>
            <p:cNvPr id="100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01" name="图形 100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2" name="组合 101"/>
          <p:cNvGrpSpPr/>
          <p:nvPr/>
        </p:nvGrpSpPr>
        <p:grpSpPr>
          <a:xfrm>
            <a:off x="602208" y="3515678"/>
            <a:ext cx="302588" cy="302588"/>
            <a:chOff x="3837791" y="2457822"/>
            <a:chExt cx="762000" cy="762000"/>
          </a:xfrm>
        </p:grpSpPr>
        <p:sp>
          <p:nvSpPr>
            <p:cNvPr id="103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04" name="图形 103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602208" y="4587472"/>
            <a:ext cx="302588" cy="302588"/>
            <a:chOff x="3837791" y="2457822"/>
            <a:chExt cx="762000" cy="762000"/>
          </a:xfrm>
        </p:grpSpPr>
        <p:sp>
          <p:nvSpPr>
            <p:cNvPr id="10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07" name="图形 106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602208" y="5659266"/>
            <a:ext cx="302588" cy="302588"/>
            <a:chOff x="3837791" y="2457822"/>
            <a:chExt cx="762000" cy="762000"/>
          </a:xfrm>
        </p:grpSpPr>
        <p:sp>
          <p:nvSpPr>
            <p:cNvPr id="10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10" name="图形 109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cxnSp>
        <p:nvCxnSpPr>
          <p:cNvPr id="97" name="直接箭头连接符 96"/>
          <p:cNvCxnSpPr/>
          <p:nvPr/>
        </p:nvCxnSpPr>
        <p:spPr>
          <a:xfrm>
            <a:off x="9463818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>
            <a:off x="11606943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任意多边形: 形状 111"/>
          <p:cNvSpPr/>
          <p:nvPr/>
        </p:nvSpPr>
        <p:spPr>
          <a:xfrm>
            <a:off x="2831410" y="1028700"/>
            <a:ext cx="6426308" cy="1067249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以用户验证驱动产品迭代，用阶段性投入匹配规模扩张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年实现从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到行业细分前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 flipH="1">
            <a:off x="7825790" y="1130301"/>
            <a:ext cx="3997910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  短板怎么补救？方法：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68300" y="1130301"/>
            <a:ext cx="3981189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长板怎么维持？方法：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368299" y="1983128"/>
            <a:ext cx="11455401" cy="410676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2569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木桶效应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78865" y="960234"/>
            <a:ext cx="4206883" cy="5103807"/>
            <a:chOff x="3878865" y="960234"/>
            <a:chExt cx="4206883" cy="5103807"/>
          </a:xfrm>
        </p:grpSpPr>
        <p:sp>
          <p:nvSpPr>
            <p:cNvPr id="133" name="任意形状 6"/>
            <p:cNvSpPr/>
            <p:nvPr/>
          </p:nvSpPr>
          <p:spPr>
            <a:xfrm rot="10564236">
              <a:off x="4035275" y="1618797"/>
              <a:ext cx="4050473" cy="4445244"/>
            </a:xfrm>
            <a:custGeom>
              <a:avLst/>
              <a:gdLst>
                <a:gd name="connsiteX0" fmla="*/ 0 w 4050473"/>
                <a:gd name="connsiteY0" fmla="*/ 4445244 h 4445244"/>
                <a:gd name="connsiteX1" fmla="*/ 286443 w 4050473"/>
                <a:gd name="connsiteY1" fmla="*/ 668301 h 4445244"/>
                <a:gd name="connsiteX2" fmla="*/ 284130 w 4050473"/>
                <a:gd name="connsiteY2" fmla="*/ 648718 h 4445244"/>
                <a:gd name="connsiteX3" fmla="*/ 2033048 w 4050473"/>
                <a:gd name="connsiteY3" fmla="*/ 373 h 4445244"/>
                <a:gd name="connsiteX4" fmla="*/ 3756779 w 4050473"/>
                <a:gd name="connsiteY4" fmla="*/ 624369 h 4445244"/>
                <a:gd name="connsiteX5" fmla="*/ 3760440 w 4050473"/>
                <a:gd name="connsiteY5" fmla="*/ 655358 h 4445244"/>
                <a:gd name="connsiteX6" fmla="*/ 3763048 w 4050473"/>
                <a:gd name="connsiteY6" fmla="*/ 655358 h 4445244"/>
                <a:gd name="connsiteX7" fmla="*/ 4050473 w 4050473"/>
                <a:gd name="connsiteY7" fmla="*/ 4445244 h 444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0473" h="4445244">
                  <a:moveTo>
                    <a:pt x="0" y="4445244"/>
                  </a:moveTo>
                  <a:lnTo>
                    <a:pt x="286443" y="668301"/>
                  </a:lnTo>
                  <a:lnTo>
                    <a:pt x="284130" y="648718"/>
                  </a:lnTo>
                  <a:cubicBezTo>
                    <a:pt x="288845" y="278408"/>
                    <a:pt x="1071863" y="-11866"/>
                    <a:pt x="2033048" y="373"/>
                  </a:cubicBezTo>
                  <a:cubicBezTo>
                    <a:pt x="2934160" y="11847"/>
                    <a:pt x="3671960" y="285128"/>
                    <a:pt x="3756779" y="624369"/>
                  </a:cubicBezTo>
                  <a:lnTo>
                    <a:pt x="3760440" y="655358"/>
                  </a:lnTo>
                  <a:lnTo>
                    <a:pt x="3763048" y="655358"/>
                  </a:lnTo>
                  <a:lnTo>
                    <a:pt x="4050473" y="4445244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 rot="21408007">
              <a:off x="3878865" y="960234"/>
              <a:ext cx="4061906" cy="134112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111" name="直线连接符 8"/>
            <p:cNvCxnSpPr/>
            <p:nvPr/>
          </p:nvCxnSpPr>
          <p:spPr>
            <a:xfrm>
              <a:off x="4557010" y="2238878"/>
              <a:ext cx="412229" cy="3695076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2" name="直线连接符 9"/>
            <p:cNvCxnSpPr/>
            <p:nvPr/>
          </p:nvCxnSpPr>
          <p:spPr>
            <a:xfrm>
              <a:off x="5418944" y="2321324"/>
              <a:ext cx="314794" cy="373255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3" name="直线连接符 12"/>
            <p:cNvCxnSpPr/>
            <p:nvPr/>
          </p:nvCxnSpPr>
          <p:spPr>
            <a:xfrm>
              <a:off x="6445770" y="2283849"/>
              <a:ext cx="101545" cy="3725055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 useBgFill="1">
          <p:nvSpPr>
            <p:cNvPr id="114" name="任意形状 20"/>
            <p:cNvSpPr/>
            <p:nvPr/>
          </p:nvSpPr>
          <p:spPr>
            <a:xfrm>
              <a:off x="6468338" y="2070788"/>
              <a:ext cx="812485" cy="1589333"/>
            </a:xfrm>
            <a:custGeom>
              <a:avLst/>
              <a:gdLst>
                <a:gd name="connsiteX0" fmla="*/ 0 w 833718"/>
                <a:gd name="connsiteY0" fmla="*/ 201706 h 1882588"/>
                <a:gd name="connsiteX1" fmla="*/ 53788 w 833718"/>
                <a:gd name="connsiteY1" fmla="*/ 1882588 h 1882588"/>
                <a:gd name="connsiteX2" fmla="*/ 833718 w 833718"/>
                <a:gd name="connsiteY2" fmla="*/ 1775012 h 1882588"/>
                <a:gd name="connsiteX3" fmla="*/ 833718 w 833718"/>
                <a:gd name="connsiteY3" fmla="*/ 0 h 1882588"/>
                <a:gd name="connsiteX4" fmla="*/ 0 w 833718"/>
                <a:gd name="connsiteY4" fmla="*/ 201706 h 1882588"/>
                <a:gd name="connsiteX0-1" fmla="*/ 0 w 855063"/>
                <a:gd name="connsiteY0-2" fmla="*/ 160455 h 1841337"/>
                <a:gd name="connsiteX1-3" fmla="*/ 53788 w 855063"/>
                <a:gd name="connsiteY1-4" fmla="*/ 1841337 h 1841337"/>
                <a:gd name="connsiteX2-5" fmla="*/ 833718 w 855063"/>
                <a:gd name="connsiteY2-6" fmla="*/ 1733761 h 1841337"/>
                <a:gd name="connsiteX3-7" fmla="*/ 855063 w 855063"/>
                <a:gd name="connsiteY3-8" fmla="*/ 0 h 1841337"/>
                <a:gd name="connsiteX4-9" fmla="*/ 0 w 855063"/>
                <a:gd name="connsiteY4-10" fmla="*/ 160455 h 1841337"/>
                <a:gd name="connsiteX0-11" fmla="*/ 0 w 855063"/>
                <a:gd name="connsiteY0-12" fmla="*/ 160455 h 1841337"/>
                <a:gd name="connsiteX1-13" fmla="*/ 53788 w 855063"/>
                <a:gd name="connsiteY1-14" fmla="*/ 1841337 h 1841337"/>
                <a:gd name="connsiteX2-15" fmla="*/ 798143 w 855063"/>
                <a:gd name="connsiteY2-16" fmla="*/ 1740636 h 1841337"/>
                <a:gd name="connsiteX3-17" fmla="*/ 855063 w 855063"/>
                <a:gd name="connsiteY3-18" fmla="*/ 0 h 1841337"/>
                <a:gd name="connsiteX4-19" fmla="*/ 0 w 855063"/>
                <a:gd name="connsiteY4-20" fmla="*/ 160455 h 1841337"/>
                <a:gd name="connsiteX0-21" fmla="*/ 0 w 855063"/>
                <a:gd name="connsiteY0-22" fmla="*/ 160455 h 1841337"/>
                <a:gd name="connsiteX1-23" fmla="*/ 53788 w 855063"/>
                <a:gd name="connsiteY1-24" fmla="*/ 1841337 h 1841337"/>
                <a:gd name="connsiteX2-25" fmla="*/ 833718 w 855063"/>
                <a:gd name="connsiteY2-26" fmla="*/ 1740636 h 1841337"/>
                <a:gd name="connsiteX3-27" fmla="*/ 855063 w 855063"/>
                <a:gd name="connsiteY3-28" fmla="*/ 0 h 1841337"/>
                <a:gd name="connsiteX4-29" fmla="*/ 0 w 855063"/>
                <a:gd name="connsiteY4-30" fmla="*/ 160455 h 1841337"/>
                <a:gd name="connsiteX0-31" fmla="*/ 0 w 855063"/>
                <a:gd name="connsiteY0-32" fmla="*/ 160455 h 1841337"/>
                <a:gd name="connsiteX1-33" fmla="*/ 60903 w 855063"/>
                <a:gd name="connsiteY1-34" fmla="*/ 1841337 h 1841337"/>
                <a:gd name="connsiteX2-35" fmla="*/ 833718 w 855063"/>
                <a:gd name="connsiteY2-36" fmla="*/ 1740636 h 1841337"/>
                <a:gd name="connsiteX3-37" fmla="*/ 855063 w 855063"/>
                <a:gd name="connsiteY3-38" fmla="*/ 0 h 1841337"/>
                <a:gd name="connsiteX4-39" fmla="*/ 0 w 855063"/>
                <a:gd name="connsiteY4-40" fmla="*/ 160455 h 1841337"/>
                <a:gd name="connsiteX0-41" fmla="*/ 0 w 805258"/>
                <a:gd name="connsiteY0-42" fmla="*/ 160455 h 1841337"/>
                <a:gd name="connsiteX1-43" fmla="*/ 11098 w 805258"/>
                <a:gd name="connsiteY1-44" fmla="*/ 1841337 h 1841337"/>
                <a:gd name="connsiteX2-45" fmla="*/ 783913 w 805258"/>
                <a:gd name="connsiteY2-46" fmla="*/ 1740636 h 1841337"/>
                <a:gd name="connsiteX3-47" fmla="*/ 805258 w 805258"/>
                <a:gd name="connsiteY3-48" fmla="*/ 0 h 1841337"/>
                <a:gd name="connsiteX4-49" fmla="*/ 0 w 805258"/>
                <a:gd name="connsiteY4-50" fmla="*/ 160455 h 1841337"/>
                <a:gd name="connsiteX0-51" fmla="*/ 0 w 840833"/>
                <a:gd name="connsiteY0-52" fmla="*/ 174205 h 1841337"/>
                <a:gd name="connsiteX1-53" fmla="*/ 46673 w 840833"/>
                <a:gd name="connsiteY1-54" fmla="*/ 1841337 h 1841337"/>
                <a:gd name="connsiteX2-55" fmla="*/ 819488 w 840833"/>
                <a:gd name="connsiteY2-56" fmla="*/ 1740636 h 1841337"/>
                <a:gd name="connsiteX3-57" fmla="*/ 840833 w 840833"/>
                <a:gd name="connsiteY3-58" fmla="*/ 0 h 1841337"/>
                <a:gd name="connsiteX4-59" fmla="*/ 0 w 840833"/>
                <a:gd name="connsiteY4-60" fmla="*/ 174205 h 1841337"/>
                <a:gd name="connsiteX0-61" fmla="*/ 0 w 840833"/>
                <a:gd name="connsiteY0-62" fmla="*/ 174205 h 1740636"/>
                <a:gd name="connsiteX1-63" fmla="*/ 58651 w 840833"/>
                <a:gd name="connsiteY1-64" fmla="*/ 1540395 h 1740636"/>
                <a:gd name="connsiteX2-65" fmla="*/ 819488 w 840833"/>
                <a:gd name="connsiteY2-66" fmla="*/ 1740636 h 1740636"/>
                <a:gd name="connsiteX3-67" fmla="*/ 840833 w 840833"/>
                <a:gd name="connsiteY3-68" fmla="*/ 0 h 1740636"/>
                <a:gd name="connsiteX4-69" fmla="*/ 0 w 840833"/>
                <a:gd name="connsiteY4-70" fmla="*/ 174205 h 1740636"/>
                <a:gd name="connsiteX0-71" fmla="*/ 0 w 840833"/>
                <a:gd name="connsiteY0-72" fmla="*/ 174205 h 1540395"/>
                <a:gd name="connsiteX1-73" fmla="*/ 58651 w 840833"/>
                <a:gd name="connsiteY1-74" fmla="*/ 1540395 h 1540395"/>
                <a:gd name="connsiteX2-75" fmla="*/ 819488 w 840833"/>
                <a:gd name="connsiteY2-76" fmla="*/ 1485993 h 1540395"/>
                <a:gd name="connsiteX3-77" fmla="*/ 840833 w 840833"/>
                <a:gd name="connsiteY3-78" fmla="*/ 0 h 1540395"/>
                <a:gd name="connsiteX4-79" fmla="*/ 0 w 840833"/>
                <a:gd name="connsiteY4-80" fmla="*/ 174205 h 1540395"/>
                <a:gd name="connsiteX0-81" fmla="*/ 0 w 840833"/>
                <a:gd name="connsiteY0-82" fmla="*/ 174205 h 1540395"/>
                <a:gd name="connsiteX1-83" fmla="*/ 58651 w 840833"/>
                <a:gd name="connsiteY1-84" fmla="*/ 1540395 h 1540395"/>
                <a:gd name="connsiteX2-85" fmla="*/ 798690 w 840833"/>
                <a:gd name="connsiteY2-86" fmla="*/ 1475944 h 1540395"/>
                <a:gd name="connsiteX3-87" fmla="*/ 840833 w 840833"/>
                <a:gd name="connsiteY3-88" fmla="*/ 0 h 1540395"/>
                <a:gd name="connsiteX4-89" fmla="*/ 0 w 840833"/>
                <a:gd name="connsiteY4-90" fmla="*/ 174205 h 1540395"/>
                <a:gd name="connsiteX0-91" fmla="*/ 0 w 840833"/>
                <a:gd name="connsiteY0-92" fmla="*/ 174205 h 1555467"/>
                <a:gd name="connsiteX1-93" fmla="*/ 48253 w 840833"/>
                <a:gd name="connsiteY1-94" fmla="*/ 1555467 h 1555467"/>
                <a:gd name="connsiteX2-95" fmla="*/ 798690 w 840833"/>
                <a:gd name="connsiteY2-96" fmla="*/ 1475944 h 1555467"/>
                <a:gd name="connsiteX3-97" fmla="*/ 840833 w 840833"/>
                <a:gd name="connsiteY3-98" fmla="*/ 0 h 1555467"/>
                <a:gd name="connsiteX4-99" fmla="*/ 0 w 840833"/>
                <a:gd name="connsiteY4-100" fmla="*/ 174205 h 1555467"/>
                <a:gd name="connsiteX0-101" fmla="*/ 0 w 840833"/>
                <a:gd name="connsiteY0-102" fmla="*/ 174205 h 1555467"/>
                <a:gd name="connsiteX1-103" fmla="*/ 48253 w 840833"/>
                <a:gd name="connsiteY1-104" fmla="*/ 1555467 h 1555467"/>
                <a:gd name="connsiteX2-105" fmla="*/ 804192 w 840833"/>
                <a:gd name="connsiteY2-106" fmla="*/ 1417465 h 1555467"/>
                <a:gd name="connsiteX3-107" fmla="*/ 840833 w 840833"/>
                <a:gd name="connsiteY3-108" fmla="*/ 0 h 1555467"/>
                <a:gd name="connsiteX4-109" fmla="*/ 0 w 840833"/>
                <a:gd name="connsiteY4-110" fmla="*/ 174205 h 1555467"/>
                <a:gd name="connsiteX0-111" fmla="*/ 0 w 849595"/>
                <a:gd name="connsiteY0-112" fmla="*/ 191138 h 1572400"/>
                <a:gd name="connsiteX1-113" fmla="*/ 48253 w 849595"/>
                <a:gd name="connsiteY1-114" fmla="*/ 1572400 h 1572400"/>
                <a:gd name="connsiteX2-115" fmla="*/ 804192 w 849595"/>
                <a:gd name="connsiteY2-116" fmla="*/ 1434398 h 1572400"/>
                <a:gd name="connsiteX3-117" fmla="*/ 849595 w 849595"/>
                <a:gd name="connsiteY3-118" fmla="*/ 0 h 1572400"/>
                <a:gd name="connsiteX4-119" fmla="*/ 0 w 849595"/>
                <a:gd name="connsiteY4-120" fmla="*/ 191138 h 1572400"/>
                <a:gd name="connsiteX0-121" fmla="*/ 0 w 840833"/>
                <a:gd name="connsiteY0-122" fmla="*/ 208071 h 1589333"/>
                <a:gd name="connsiteX1-123" fmla="*/ 48253 w 840833"/>
                <a:gd name="connsiteY1-124" fmla="*/ 1589333 h 1589333"/>
                <a:gd name="connsiteX2-125" fmla="*/ 804192 w 840833"/>
                <a:gd name="connsiteY2-126" fmla="*/ 1451331 h 1589333"/>
                <a:gd name="connsiteX3-127" fmla="*/ 840833 w 840833"/>
                <a:gd name="connsiteY3-128" fmla="*/ 0 h 1589333"/>
                <a:gd name="connsiteX4-129" fmla="*/ 0 w 840833"/>
                <a:gd name="connsiteY4-130" fmla="*/ 208071 h 158933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0833" h="1589333">
                  <a:moveTo>
                    <a:pt x="0" y="208071"/>
                  </a:moveTo>
                  <a:cubicBezTo>
                    <a:pt x="3699" y="768365"/>
                    <a:pt x="44554" y="1029039"/>
                    <a:pt x="48253" y="1589333"/>
                  </a:cubicBezTo>
                  <a:lnTo>
                    <a:pt x="804192" y="1451331"/>
                  </a:lnTo>
                  <a:lnTo>
                    <a:pt x="840833" y="0"/>
                  </a:lnTo>
                  <a:lnTo>
                    <a:pt x="0" y="208071"/>
                  </a:lnTo>
                  <a:close/>
                </a:path>
              </a:pathLst>
            </a:custGeom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eaVert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短板</a:t>
              </a:r>
              <a:endParaRPr kumimoji="1" lang="zh-CN" altLang="en-US" sz="2400" b="0" i="0" u="none" strike="noStrike" kern="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cxnSp>
          <p:nvCxnSpPr>
            <p:cNvPr id="115" name="直线连接符 14"/>
            <p:cNvCxnSpPr/>
            <p:nvPr/>
          </p:nvCxnSpPr>
          <p:spPr>
            <a:xfrm flipH="1">
              <a:off x="7232754" y="2051502"/>
              <a:ext cx="63287" cy="380750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>
          <p:nvSpPr>
            <p:cNvPr id="116" name="椭圆 115"/>
            <p:cNvSpPr/>
            <p:nvPr/>
          </p:nvSpPr>
          <p:spPr>
            <a:xfrm rot="21408007">
              <a:off x="3892701" y="996483"/>
              <a:ext cx="4029476" cy="1310233"/>
            </a:xfrm>
            <a:prstGeom prst="ellipse">
              <a:avLst/>
            </a:prstGeom>
            <a:noFill/>
            <a:ln w="22225" cap="flat" cmpd="sng" algn="ctr">
              <a:solidFill>
                <a:schemeClr val="accent1">
                  <a:lumMod val="50000"/>
                </a:scheme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 rot="21114534">
              <a:off x="4204874" y="3295726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技术壁垒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 rot="21230431">
              <a:off x="4896391" y="3322405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市场优势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 rot="21377819">
              <a:off x="5768518" y="3337224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团队实力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6644318" y="3754591"/>
              <a:ext cx="492443" cy="60529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运营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7370338" y="3314722"/>
              <a:ext cx="492443" cy="8617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现金流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2" name="文本框 131"/>
            <p:cNvSpPr txBox="1"/>
            <p:nvPr/>
          </p:nvSpPr>
          <p:spPr>
            <a:xfrm rot="21306006">
              <a:off x="4946725" y="1250153"/>
              <a:ext cx="188865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2025</a:t>
              </a: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3806" y="2116864"/>
            <a:ext cx="3365816" cy="888348"/>
            <a:chOff x="563806" y="2116864"/>
            <a:chExt cx="3365816" cy="888348"/>
          </a:xfrm>
        </p:grpSpPr>
        <p:sp>
          <p:nvSpPr>
            <p:cNvPr id="142" name="矩形 141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持续投入研发，每年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营收用于技术迭代，保持专利壁垒。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3806" y="3135532"/>
            <a:ext cx="3365816" cy="897202"/>
            <a:chOff x="563806" y="3023765"/>
            <a:chExt cx="3365816" cy="897202"/>
          </a:xfrm>
        </p:grpSpPr>
        <p:sp>
          <p:nvSpPr>
            <p:cNvPr id="150" name="矩形 149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绑定头部供应商，签订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年协议，确保供应链稳定性。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3806" y="4171756"/>
            <a:ext cx="3365816" cy="888500"/>
            <a:chOff x="563806" y="3948222"/>
            <a:chExt cx="3365816" cy="888500"/>
          </a:xfrm>
        </p:grpSpPr>
        <p:sp>
          <p:nvSpPr>
            <p:cNvPr id="152" name="矩形 151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建立用户社区，每月举办产品共创会，强化品牌忠诚度。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3806" y="5226206"/>
            <a:ext cx="3365816" cy="603040"/>
            <a:chOff x="563806" y="4890905"/>
            <a:chExt cx="3365816" cy="603040"/>
          </a:xfrm>
        </p:grpSpPr>
        <p:sp>
          <p:nvSpPr>
            <p:cNvPr id="154" name="矩形 153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563806" y="5163726"/>
              <a:ext cx="3365816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提前布局海外专利，规避技术抄袭风险。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685800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685800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>
            <a:off x="685800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/>
          <p:cNvGrpSpPr/>
          <p:nvPr/>
        </p:nvGrpSpPr>
        <p:grpSpPr>
          <a:xfrm>
            <a:off x="647539" y="2128060"/>
            <a:ext cx="302588" cy="302588"/>
            <a:chOff x="3837791" y="2457822"/>
            <a:chExt cx="762000" cy="762000"/>
          </a:xfrm>
        </p:grpSpPr>
        <p:sp>
          <p:nvSpPr>
            <p:cNvPr id="15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0" name="图形 159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1" name="组合 160"/>
          <p:cNvGrpSpPr/>
          <p:nvPr/>
        </p:nvGrpSpPr>
        <p:grpSpPr>
          <a:xfrm>
            <a:off x="647539" y="3155988"/>
            <a:ext cx="302588" cy="302588"/>
            <a:chOff x="3837791" y="2457822"/>
            <a:chExt cx="762000" cy="762000"/>
          </a:xfrm>
        </p:grpSpPr>
        <p:sp>
          <p:nvSpPr>
            <p:cNvPr id="162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3" name="图形 162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4" name="组合 163"/>
          <p:cNvGrpSpPr/>
          <p:nvPr/>
        </p:nvGrpSpPr>
        <p:grpSpPr>
          <a:xfrm>
            <a:off x="647539" y="4185870"/>
            <a:ext cx="302588" cy="302588"/>
            <a:chOff x="3837791" y="2457822"/>
            <a:chExt cx="762000" cy="762000"/>
          </a:xfrm>
        </p:grpSpPr>
        <p:sp>
          <p:nvSpPr>
            <p:cNvPr id="16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6" name="图形 165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7" name="组合 166"/>
          <p:cNvGrpSpPr/>
          <p:nvPr/>
        </p:nvGrpSpPr>
        <p:grpSpPr>
          <a:xfrm>
            <a:off x="647539" y="5226206"/>
            <a:ext cx="302588" cy="302588"/>
            <a:chOff x="3837791" y="2457822"/>
            <a:chExt cx="762000" cy="762000"/>
          </a:xfrm>
        </p:grpSpPr>
        <p:sp>
          <p:nvSpPr>
            <p:cNvPr id="16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9" name="图形 168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96" name="组合 195"/>
          <p:cNvGrpSpPr/>
          <p:nvPr/>
        </p:nvGrpSpPr>
        <p:grpSpPr>
          <a:xfrm>
            <a:off x="8175563" y="2116864"/>
            <a:ext cx="3365816" cy="888348"/>
            <a:chOff x="563806" y="2116864"/>
            <a:chExt cx="3365816" cy="888348"/>
          </a:xfrm>
        </p:grpSpPr>
        <p:sp>
          <p:nvSpPr>
            <p:cNvPr id="197" name="矩形 196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引入战略出资人，以资源置换估值，缓解资金压力。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01" name="组合 200"/>
          <p:cNvGrpSpPr/>
          <p:nvPr/>
        </p:nvGrpSpPr>
        <p:grpSpPr>
          <a:xfrm>
            <a:off x="8175563" y="3135532"/>
            <a:ext cx="3365816" cy="897202"/>
            <a:chOff x="563806" y="3023765"/>
            <a:chExt cx="3365816" cy="897202"/>
          </a:xfrm>
        </p:grpSpPr>
        <p:sp>
          <p:nvSpPr>
            <p:cNvPr id="202" name="矩形 201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3" name="矩形 202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高薪招募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名行业资深顾问，补齐管理短板。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8175563" y="4171756"/>
            <a:ext cx="3365816" cy="888500"/>
            <a:chOff x="563806" y="3948222"/>
            <a:chExt cx="3365816" cy="888500"/>
          </a:xfrm>
        </p:grpSpPr>
        <p:sp>
          <p:nvSpPr>
            <p:cNvPr id="206" name="矩形 205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矩形 209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与高校联合培养管培生，低成本储备技术人才。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8175562" y="5226206"/>
            <a:ext cx="3577161" cy="603040"/>
            <a:chOff x="563805" y="4890905"/>
            <a:chExt cx="3577161" cy="603040"/>
          </a:xfrm>
        </p:grpSpPr>
        <p:sp>
          <p:nvSpPr>
            <p:cNvPr id="212" name="矩形 211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0" name="矩形 229"/>
            <p:cNvSpPr/>
            <p:nvPr/>
          </p:nvSpPr>
          <p:spPr>
            <a:xfrm>
              <a:off x="563805" y="5163726"/>
              <a:ext cx="3577161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推行轻资产运营，将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非核心业务外包。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31" name="直接连接符 230"/>
          <p:cNvCxnSpPr/>
          <p:nvPr/>
        </p:nvCxnSpPr>
        <p:spPr>
          <a:xfrm>
            <a:off x="8297557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>
            <a:off x="8297557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>
            <a:off x="8297557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组合 233"/>
          <p:cNvGrpSpPr/>
          <p:nvPr/>
        </p:nvGrpSpPr>
        <p:grpSpPr>
          <a:xfrm>
            <a:off x="8259296" y="2128060"/>
            <a:ext cx="302588" cy="302588"/>
            <a:chOff x="3837791" y="2457822"/>
            <a:chExt cx="762000" cy="762000"/>
          </a:xfrm>
        </p:grpSpPr>
        <p:sp>
          <p:nvSpPr>
            <p:cNvPr id="23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36" name="图形 235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37" name="组合 236"/>
          <p:cNvGrpSpPr/>
          <p:nvPr/>
        </p:nvGrpSpPr>
        <p:grpSpPr>
          <a:xfrm>
            <a:off x="8259296" y="3155988"/>
            <a:ext cx="302588" cy="302588"/>
            <a:chOff x="3837791" y="2457822"/>
            <a:chExt cx="762000" cy="762000"/>
          </a:xfrm>
        </p:grpSpPr>
        <p:sp>
          <p:nvSpPr>
            <p:cNvPr id="23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39" name="图形 238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0" name="组合 239"/>
          <p:cNvGrpSpPr/>
          <p:nvPr/>
        </p:nvGrpSpPr>
        <p:grpSpPr>
          <a:xfrm>
            <a:off x="8259296" y="4185870"/>
            <a:ext cx="302588" cy="302588"/>
            <a:chOff x="3837791" y="2457822"/>
            <a:chExt cx="762000" cy="762000"/>
          </a:xfrm>
        </p:grpSpPr>
        <p:sp>
          <p:nvSpPr>
            <p:cNvPr id="24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42" name="图形 241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8259296" y="5226206"/>
            <a:ext cx="302588" cy="302588"/>
            <a:chOff x="3837791" y="2457822"/>
            <a:chExt cx="762000" cy="762000"/>
          </a:xfrm>
        </p:grpSpPr>
        <p:sp>
          <p:nvSpPr>
            <p:cNvPr id="24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47" name="图形 246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sp>
        <p:nvSpPr>
          <p:cNvPr id="248" name="矩形 247"/>
          <p:cNvSpPr/>
          <p:nvPr/>
        </p:nvSpPr>
        <p:spPr>
          <a:xfrm>
            <a:off x="368300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04759" y="6208889"/>
            <a:ext cx="21082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核心技术优势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市场先发优势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49" name="直接箭头连接符 248"/>
          <p:cNvCxnSpPr/>
          <p:nvPr/>
        </p:nvCxnSpPr>
        <p:spPr>
          <a:xfrm flipV="1">
            <a:off x="35757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/>
          <p:cNvCxnSpPr/>
          <p:nvPr/>
        </p:nvCxnSpPr>
        <p:spPr>
          <a:xfrm flipV="1">
            <a:off x="11373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矩形 251"/>
          <p:cNvSpPr/>
          <p:nvPr/>
        </p:nvSpPr>
        <p:spPr>
          <a:xfrm flipH="1">
            <a:off x="6096001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8855914" y="6208889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现金流紧张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团队经验不足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4" name="直接箭头连接符 253"/>
          <p:cNvCxnSpPr/>
          <p:nvPr/>
        </p:nvCxnSpPr>
        <p:spPr>
          <a:xfrm flipV="1">
            <a:off x="110499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V="1">
            <a:off x="86115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 rot="5400000">
            <a:off x="5771530" y="335524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8718" y="200526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-2025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战略分析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 rot="5400000">
            <a:off x="5796924" y="990590"/>
            <a:ext cx="598151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5796925" y="-138722"/>
            <a:ext cx="59814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 rot="5400000">
            <a:off x="5771530" y="216277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3821725" y="2817621"/>
            <a:ext cx="4614555" cy="1919037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任意多边形: 形状 14"/>
          <p:cNvSpPr/>
          <p:nvPr/>
        </p:nvSpPr>
        <p:spPr>
          <a:xfrm rot="5400000">
            <a:off x="5609790" y="341363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2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 rot="5400000">
            <a:off x="5966695" y="535171"/>
            <a:ext cx="324618" cy="1919037"/>
          </a:xfrm>
          <a:prstGeom prst="ellipse">
            <a:avLst/>
          </a:prstGeom>
          <a:gradFill>
            <a:gsLst>
              <a:gs pos="8300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5400000">
            <a:off x="5609790" y="1476801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任意多边形: 形状 17"/>
          <p:cNvSpPr/>
          <p:nvPr/>
        </p:nvSpPr>
        <p:spPr>
          <a:xfrm rot="5400000">
            <a:off x="5568507" y="264241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任意多边形: 形状 19"/>
          <p:cNvSpPr/>
          <p:nvPr/>
        </p:nvSpPr>
        <p:spPr>
          <a:xfrm rot="5400000">
            <a:off x="5568507" y="383488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8301" y="6084417"/>
            <a:ext cx="11455399" cy="438135"/>
            <a:chOff x="368301" y="6084417"/>
            <a:chExt cx="13254389" cy="438135"/>
          </a:xfrm>
        </p:grpSpPr>
        <p:sp>
          <p:nvSpPr>
            <p:cNvPr id="23" name="矩形 22"/>
            <p:cNvSpPr/>
            <p:nvPr/>
          </p:nvSpPr>
          <p:spPr>
            <a:xfrm>
              <a:off x="36830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银发市场攻坚</a:t>
              </a:r>
              <a:endParaRPr kumimoji="0" lang="zh-CN" altLang="en-US" sz="2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1157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跨境产能协同</a:t>
              </a:r>
              <a:endPara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05485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芯片国产替代</a:t>
              </a:r>
              <a:endPara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39812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订阅制转型</a:t>
              </a:r>
              <a:endPara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5409744" y="1302167"/>
            <a:ext cx="1475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相关闭环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55599" y="1345758"/>
            <a:ext cx="3437129" cy="4603737"/>
            <a:chOff x="355599" y="1345758"/>
            <a:chExt cx="3437129" cy="4603737"/>
          </a:xfrm>
        </p:grpSpPr>
        <p:sp>
          <p:nvSpPr>
            <p:cNvPr id="21" name="矩形 20"/>
            <p:cNvSpPr/>
            <p:nvPr/>
          </p:nvSpPr>
          <p:spPr>
            <a:xfrm>
              <a:off x="355599" y="1345758"/>
              <a:ext cx="3437129" cy="9947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68300" y="2339408"/>
              <a:ext cx="3423645" cy="3610087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</a:schemeClr>
                </a:gs>
                <a:gs pos="0">
                  <a:schemeClr val="accent1">
                    <a:lumMod val="10000"/>
                    <a:lumOff val="9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99902" y="1407005"/>
              <a:ext cx="2094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市场增量空间挖掘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04766" y="1716916"/>
              <a:ext cx="200433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全球智能穿戴设备市场年复合增长率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12%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，存量竞争转向场景创新。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" name="Google Shape;6082;p78"/>
            <p:cNvSpPr/>
            <p:nvPr/>
          </p:nvSpPr>
          <p:spPr>
            <a:xfrm>
              <a:off x="619856" y="1529158"/>
              <a:ext cx="802494" cy="626850"/>
            </a:xfrm>
            <a:custGeom>
              <a:avLst/>
              <a:gdLst/>
              <a:ahLst/>
              <a:cxnLst/>
              <a:rect l="l" t="t" r="r" b="b"/>
              <a:pathLst>
                <a:path w="12665" h="9893" extrusionOk="0">
                  <a:moveTo>
                    <a:pt x="8538" y="2458"/>
                  </a:moveTo>
                  <a:cubicBezTo>
                    <a:pt x="8758" y="2458"/>
                    <a:pt x="8916" y="2678"/>
                    <a:pt x="8916" y="2899"/>
                  </a:cubicBezTo>
                  <a:lnTo>
                    <a:pt x="8916" y="4569"/>
                  </a:lnTo>
                  <a:cubicBezTo>
                    <a:pt x="8916" y="4789"/>
                    <a:pt x="8727" y="4978"/>
                    <a:pt x="8538" y="4978"/>
                  </a:cubicBezTo>
                  <a:cubicBezTo>
                    <a:pt x="8349" y="4978"/>
                    <a:pt x="8128" y="4789"/>
                    <a:pt x="8128" y="4569"/>
                  </a:cubicBezTo>
                  <a:lnTo>
                    <a:pt x="8128" y="3875"/>
                  </a:lnTo>
                  <a:lnTo>
                    <a:pt x="6364" y="5671"/>
                  </a:lnTo>
                  <a:cubicBezTo>
                    <a:pt x="6285" y="5750"/>
                    <a:pt x="6175" y="5789"/>
                    <a:pt x="6065" y="5789"/>
                  </a:cubicBezTo>
                  <a:cubicBezTo>
                    <a:pt x="5954" y="5789"/>
                    <a:pt x="5844" y="5750"/>
                    <a:pt x="5765" y="5671"/>
                  </a:cubicBezTo>
                  <a:lnTo>
                    <a:pt x="5230" y="5104"/>
                  </a:lnTo>
                  <a:lnTo>
                    <a:pt x="3844" y="6490"/>
                  </a:lnTo>
                  <a:cubicBezTo>
                    <a:pt x="3765" y="6569"/>
                    <a:pt x="3655" y="6608"/>
                    <a:pt x="3544" y="6608"/>
                  </a:cubicBezTo>
                  <a:cubicBezTo>
                    <a:pt x="3434" y="6608"/>
                    <a:pt x="3324" y="6569"/>
                    <a:pt x="3245" y="6490"/>
                  </a:cubicBezTo>
                  <a:cubicBezTo>
                    <a:pt x="3087" y="6333"/>
                    <a:pt x="3087" y="6049"/>
                    <a:pt x="3245" y="5892"/>
                  </a:cubicBezTo>
                  <a:lnTo>
                    <a:pt x="4915" y="4254"/>
                  </a:lnTo>
                  <a:cubicBezTo>
                    <a:pt x="4994" y="4175"/>
                    <a:pt x="5104" y="4135"/>
                    <a:pt x="5214" y="4135"/>
                  </a:cubicBezTo>
                  <a:cubicBezTo>
                    <a:pt x="5324" y="4135"/>
                    <a:pt x="5435" y="4175"/>
                    <a:pt x="5513" y="4254"/>
                  </a:cubicBezTo>
                  <a:lnTo>
                    <a:pt x="6049" y="4789"/>
                  </a:lnTo>
                  <a:lnTo>
                    <a:pt x="7561" y="3308"/>
                  </a:lnTo>
                  <a:lnTo>
                    <a:pt x="6868" y="3308"/>
                  </a:lnTo>
                  <a:cubicBezTo>
                    <a:pt x="6648" y="3308"/>
                    <a:pt x="6490" y="3088"/>
                    <a:pt x="6490" y="2899"/>
                  </a:cubicBezTo>
                  <a:cubicBezTo>
                    <a:pt x="6490" y="2678"/>
                    <a:pt x="6679" y="2458"/>
                    <a:pt x="6868" y="2458"/>
                  </a:cubicBezTo>
                  <a:close/>
                  <a:moveTo>
                    <a:pt x="11814" y="8255"/>
                  </a:moveTo>
                  <a:cubicBezTo>
                    <a:pt x="11814" y="8538"/>
                    <a:pt x="11877" y="9105"/>
                    <a:pt x="11405" y="9105"/>
                  </a:cubicBezTo>
                  <a:lnTo>
                    <a:pt x="1197" y="9105"/>
                  </a:lnTo>
                  <a:cubicBezTo>
                    <a:pt x="977" y="9105"/>
                    <a:pt x="788" y="8885"/>
                    <a:pt x="788" y="8664"/>
                  </a:cubicBezTo>
                  <a:lnTo>
                    <a:pt x="788" y="8255"/>
                  </a:lnTo>
                  <a:close/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7435"/>
                  </a:lnTo>
                  <a:lnTo>
                    <a:pt x="410" y="7435"/>
                  </a:lnTo>
                  <a:cubicBezTo>
                    <a:pt x="189" y="7435"/>
                    <a:pt x="0" y="7625"/>
                    <a:pt x="0" y="7845"/>
                  </a:cubicBezTo>
                  <a:lnTo>
                    <a:pt x="0" y="8664"/>
                  </a:lnTo>
                  <a:cubicBezTo>
                    <a:pt x="0" y="9326"/>
                    <a:pt x="536" y="9893"/>
                    <a:pt x="1260" y="9893"/>
                  </a:cubicBezTo>
                  <a:lnTo>
                    <a:pt x="11436" y="9893"/>
                  </a:lnTo>
                  <a:cubicBezTo>
                    <a:pt x="12129" y="9893"/>
                    <a:pt x="12665" y="9326"/>
                    <a:pt x="12665" y="8664"/>
                  </a:cubicBezTo>
                  <a:lnTo>
                    <a:pt x="12665" y="7845"/>
                  </a:lnTo>
                  <a:cubicBezTo>
                    <a:pt x="12634" y="7593"/>
                    <a:pt x="12444" y="7435"/>
                    <a:pt x="12224" y="7435"/>
                  </a:cubicBezTo>
                  <a:lnTo>
                    <a:pt x="11814" y="7435"/>
                  </a:lnTo>
                  <a:lnTo>
                    <a:pt x="11814" y="1229"/>
                  </a:lnTo>
                  <a:cubicBezTo>
                    <a:pt x="11814" y="536"/>
                    <a:pt x="11247" y="0"/>
                    <a:pt x="1058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586761" y="2551583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用户渗透率分层运营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605540" y="2899727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一线城市年轻群体渗透率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58%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，但银发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下沉市场不足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，需差异化产品矩阵破局。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586761" y="4216579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用户渗透率分层运营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605540" y="4564723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一线城市年轻个体渗透率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58%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，但银发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下沉市场不足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，需差异化产品矩阵破局。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40" name="直接连接符 39"/>
            <p:cNvCxnSpPr>
              <a:stCxn id="35" idx="2"/>
              <a:endCxn id="36" idx="0"/>
            </p:cNvCxnSpPr>
            <p:nvPr/>
          </p:nvCxnSpPr>
          <p:spPr>
            <a:xfrm>
              <a:off x="1019926" y="2831830"/>
              <a:ext cx="0" cy="2538201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569926" y="2606328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场景适配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569926" y="5370031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服务增值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69926" y="4448796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渠道下沉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569926" y="3527562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价格分级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1743398" y="4100930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flipV="1">
              <a:off x="961136" y="3149658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flipV="1">
              <a:off x="961136" y="4064631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961136" y="4979604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8386571" y="1345758"/>
            <a:ext cx="3437129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399272" y="2339408"/>
            <a:ext cx="3423645" cy="361008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560514" y="1407005"/>
            <a:ext cx="209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供应链韧性重构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565378" y="1716916"/>
            <a:ext cx="20043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东南亚产能占比从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提升至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，但物流成本增加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个百分点。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8583641" y="2551583"/>
            <a:ext cx="2050104" cy="2860423"/>
            <a:chOff x="9617733" y="2551583"/>
            <a:chExt cx="2050104" cy="2860423"/>
          </a:xfrm>
        </p:grpSpPr>
        <p:sp>
          <p:nvSpPr>
            <p:cNvPr id="53" name="矩形 52"/>
            <p:cNvSpPr/>
            <p:nvPr/>
          </p:nvSpPr>
          <p:spPr>
            <a:xfrm>
              <a:off x="9617733" y="255158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地缘政治风险对冲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9636512" y="2899727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通过“中国芯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海外厂”模式，关键元器件备库周期从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天延长至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9617733" y="4216579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地缘政治风险对冲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9636512" y="4564723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通过“中国芯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海外厂”模式，关键元器件备库周期从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天延长至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9774370" y="4005543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>
            <a:stCxn id="58" idx="2"/>
            <a:endCxn id="59" idx="0"/>
          </p:cNvCxnSpPr>
          <p:nvPr/>
        </p:nvCxnSpPr>
        <p:spPr>
          <a:xfrm>
            <a:off x="11197377" y="2831830"/>
            <a:ext cx="0" cy="2538201"/>
          </a:xfrm>
          <a:prstGeom prst="line">
            <a:avLst/>
          </a:prstGeom>
          <a:ln w="952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747377" y="2606328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多源进入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747377" y="5370031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税筹优化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747377" y="4448796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库存缓冲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0747377" y="3527562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产能备份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等腰三角形 62"/>
          <p:cNvSpPr/>
          <p:nvPr/>
        </p:nvSpPr>
        <p:spPr>
          <a:xfrm flipV="1">
            <a:off x="11140613" y="3149658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等腰三角形 63"/>
          <p:cNvSpPr/>
          <p:nvPr/>
        </p:nvSpPr>
        <p:spPr>
          <a:xfrm flipV="1">
            <a:off x="11140613" y="4064631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等腰三角形 64"/>
          <p:cNvSpPr/>
          <p:nvPr/>
        </p:nvSpPr>
        <p:spPr>
          <a:xfrm flipV="1">
            <a:off x="11140613" y="4979604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66" name="Google Shape;5279;p76"/>
          <p:cNvGrpSpPr/>
          <p:nvPr/>
        </p:nvGrpSpPr>
        <p:grpSpPr>
          <a:xfrm>
            <a:off x="10906481" y="1537274"/>
            <a:ext cx="665664" cy="639990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6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056432" y="193300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需求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产能校准闭环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056432" y="310864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研发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市场联动闭环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056432" y="428427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成本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溢价平衡闭环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056432" y="545991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风险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收益对赌闭环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2" name="右大括号 81"/>
          <p:cNvSpPr/>
          <p:nvPr/>
        </p:nvSpPr>
        <p:spPr>
          <a:xfrm>
            <a:off x="3777431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右大括号 82"/>
          <p:cNvSpPr/>
          <p:nvPr/>
        </p:nvSpPr>
        <p:spPr>
          <a:xfrm flipH="1">
            <a:off x="7884183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tx2"/>
              </a:gs>
              <a:gs pos="0">
                <a:schemeClr val="tx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8925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问题分析与改进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556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6802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049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73295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6542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56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：响应速度慢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62797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平均响应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4.2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小时，超行业标准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110%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，满意度仅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26802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：备件供应慢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295262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调货周期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5.8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天，维修周期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天，投诉增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0049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：技术不足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27727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技工不会修高压系统，返修率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3295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：流程复杂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601920" y="2172352"/>
            <a:ext cx="1624763" cy="2644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个环节，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客户流失。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96542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：维系不足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92657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二次回厂率仅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，低于行业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5602" y="2843554"/>
            <a:ext cx="2169498" cy="2729370"/>
            <a:chOff x="355602" y="2843554"/>
            <a:chExt cx="2169498" cy="2729370"/>
          </a:xfrm>
        </p:grpSpPr>
        <p:sp>
          <p:nvSpPr>
            <p:cNvPr id="126" name="任意多边形: 形状 125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5" name="右大括号 124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22" name="矩形: 圆角 121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思源黑体 CN Medium" panose="020B0600000000000000" pitchFamily="34" charset="-122"/>
                  </a:rPr>
                  <a:t>改进策略：智能化响应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1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2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3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4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5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6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部署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科夫系统，实现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常见问题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分钟快速响应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等腰三角形 14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建立全国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4S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店智能派单系统，确保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小时技术员到位。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等腰三角形 14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145" name="直接连接符 144"/>
            <p:cNvCxnSpPr>
              <a:stCxn id="126" idx="12"/>
              <a:endCxn id="126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>
            <a:off x="5004902" y="2843554"/>
            <a:ext cx="2169498" cy="2729370"/>
            <a:chOff x="355602" y="2843554"/>
            <a:chExt cx="2169498" cy="2729370"/>
          </a:xfrm>
        </p:grpSpPr>
        <p:sp>
          <p:nvSpPr>
            <p:cNvPr id="167" name="任意多边形: 形状 166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8" name="右大括号 167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75" name="矩形: 圆角 174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思源黑体 CN Medium" panose="020B0600000000000000" pitchFamily="34" charset="-122"/>
                  </a:rPr>
                  <a:t>改进策略：技术提升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7" name="椭圆 176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8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9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0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1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2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3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70" name="矩形 169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引入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TÜV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认证体系，季度高压系统专项培训全覆盖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1" name="等腰三角形 17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建立专家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AR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远程支持系统，复杂故障处理效率提升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3" name="等腰三角形 17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174" name="直接连接符 173"/>
            <p:cNvCxnSpPr>
              <a:stCxn id="167" idx="12"/>
              <a:endCxn id="167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任意多边形: 形状 184"/>
          <p:cNvSpPr/>
          <p:nvPr/>
        </p:nvSpPr>
        <p:spPr>
          <a:xfrm>
            <a:off x="7329552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6" name="右大括号 185"/>
          <p:cNvSpPr/>
          <p:nvPr/>
        </p:nvSpPr>
        <p:spPr>
          <a:xfrm rot="5400000">
            <a:off x="8260412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3" name="矩形: 圆角 192"/>
          <p:cNvSpPr/>
          <p:nvPr/>
        </p:nvSpPr>
        <p:spPr>
          <a:xfrm>
            <a:off x="7440737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7569219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改进策略：流程简化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7503609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6" name="Google Shape;5273;p76"/>
          <p:cNvSpPr/>
          <p:nvPr/>
        </p:nvSpPr>
        <p:spPr>
          <a:xfrm>
            <a:off x="7636727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7" name="Google Shape;5274;p76"/>
          <p:cNvSpPr/>
          <p:nvPr/>
        </p:nvSpPr>
        <p:spPr>
          <a:xfrm>
            <a:off x="759391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8" name="Google Shape;5275;p76"/>
          <p:cNvSpPr/>
          <p:nvPr/>
        </p:nvSpPr>
        <p:spPr>
          <a:xfrm>
            <a:off x="762346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9" name="Google Shape;5276;p76"/>
          <p:cNvSpPr/>
          <p:nvPr/>
        </p:nvSpPr>
        <p:spPr>
          <a:xfrm>
            <a:off x="7577649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0" name="Google Shape;5277;p76"/>
          <p:cNvSpPr/>
          <p:nvPr/>
        </p:nvSpPr>
        <p:spPr>
          <a:xfrm>
            <a:off x="7543892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1" name="Google Shape;5278;p76"/>
          <p:cNvSpPr/>
          <p:nvPr/>
        </p:nvSpPr>
        <p:spPr>
          <a:xfrm>
            <a:off x="7577649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7673548" y="4458793"/>
            <a:ext cx="1695878" cy="989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开发一站式服务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APP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，实现鱼跃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诊断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支付全流程线上化</a:t>
            </a:r>
            <a:b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b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9" name="等腰三角形 188"/>
          <p:cNvSpPr/>
          <p:nvPr/>
        </p:nvSpPr>
        <p:spPr>
          <a:xfrm rot="5400000">
            <a:off x="7550104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7673548" y="3846810"/>
            <a:ext cx="1695878" cy="52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推行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一次到场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”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服务标准，确保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故障马上处理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1" name="等腰三角形 190"/>
          <p:cNvSpPr/>
          <p:nvPr/>
        </p:nvSpPr>
        <p:spPr>
          <a:xfrm rot="5400000">
            <a:off x="7550104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92" name="直接连接符 191"/>
          <p:cNvCxnSpPr>
            <a:stCxn id="185" idx="12"/>
            <a:endCxn id="185" idx="11"/>
          </p:cNvCxnSpPr>
          <p:nvPr/>
        </p:nvCxnSpPr>
        <p:spPr>
          <a:xfrm>
            <a:off x="7329552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/>
          <p:cNvGrpSpPr/>
          <p:nvPr/>
        </p:nvGrpSpPr>
        <p:grpSpPr>
          <a:xfrm>
            <a:off x="9654202" y="2843554"/>
            <a:ext cx="2169498" cy="2729370"/>
            <a:chOff x="355602" y="2843554"/>
            <a:chExt cx="2169498" cy="2729370"/>
          </a:xfrm>
        </p:grpSpPr>
        <p:sp>
          <p:nvSpPr>
            <p:cNvPr id="203" name="任意多边形: 形状 202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右大括号 203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05" name="组合 204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211" name="矩形: 圆角 210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思源黑体 CN Medium" panose="020B0600000000000000" pitchFamily="34" charset="-122"/>
                  </a:rPr>
                  <a:t>改进策略：客户管理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4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5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6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7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8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9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206" name="矩形 205"/>
            <p:cNvSpPr/>
            <p:nvPr/>
          </p:nvSpPr>
          <p:spPr>
            <a:xfrm>
              <a:off x="699598" y="3846810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主动维保提醒提升留存至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85%</a:t>
              </a:r>
              <a:b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</a:b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7" name="等腰三角形 206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8" name="矩形 207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推出老客户专项权益计划，包含免费检测等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项增值服务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9" name="等腰三角形 208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210" name="直接连接符 209"/>
            <p:cNvCxnSpPr>
              <a:stCxn id="203" idx="12"/>
              <a:endCxn id="203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任意多边形: 形状 266"/>
          <p:cNvSpPr/>
          <p:nvPr/>
        </p:nvSpPr>
        <p:spPr>
          <a:xfrm>
            <a:off x="2684295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8" name="右大括号 267"/>
          <p:cNvSpPr/>
          <p:nvPr/>
        </p:nvSpPr>
        <p:spPr>
          <a:xfrm rot="5400000">
            <a:off x="3611113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2795480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2923962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改进策略：供应链优化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椭圆 270"/>
          <p:cNvSpPr/>
          <p:nvPr/>
        </p:nvSpPr>
        <p:spPr>
          <a:xfrm>
            <a:off x="2858352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Google Shape;5273;p76"/>
          <p:cNvSpPr/>
          <p:nvPr/>
        </p:nvSpPr>
        <p:spPr>
          <a:xfrm>
            <a:off x="2991470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Google Shape;5274;p76"/>
          <p:cNvSpPr/>
          <p:nvPr/>
        </p:nvSpPr>
        <p:spPr>
          <a:xfrm>
            <a:off x="294866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Google Shape;5275;p76"/>
          <p:cNvSpPr/>
          <p:nvPr/>
        </p:nvSpPr>
        <p:spPr>
          <a:xfrm>
            <a:off x="297821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Google Shape;5276;p76"/>
          <p:cNvSpPr/>
          <p:nvPr/>
        </p:nvSpPr>
        <p:spPr>
          <a:xfrm>
            <a:off x="2932392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6" name="Google Shape;5277;p76"/>
          <p:cNvSpPr/>
          <p:nvPr/>
        </p:nvSpPr>
        <p:spPr>
          <a:xfrm>
            <a:off x="2898635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7" name="Google Shape;5278;p76"/>
          <p:cNvSpPr/>
          <p:nvPr/>
        </p:nvSpPr>
        <p:spPr>
          <a:xfrm>
            <a:off x="2932392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3028291" y="3846810"/>
            <a:ext cx="1695878" cy="5277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常用件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小时到货率提升至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b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等腰三角形 278"/>
          <p:cNvSpPr/>
          <p:nvPr/>
        </p:nvSpPr>
        <p:spPr>
          <a:xfrm rot="5400000">
            <a:off x="2904847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3028291" y="4455321"/>
            <a:ext cx="1695878" cy="75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实施供应商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VMI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管理，关键件库存共享，缺货率降至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等腰三角形 280"/>
          <p:cNvSpPr/>
          <p:nvPr/>
        </p:nvSpPr>
        <p:spPr>
          <a:xfrm rot="5400000">
            <a:off x="2904847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82" name="直接连接符 281"/>
          <p:cNvCxnSpPr>
            <a:stCxn id="267" idx="12"/>
            <a:endCxn id="267" idx="11"/>
          </p:cNvCxnSpPr>
          <p:nvPr/>
        </p:nvCxnSpPr>
        <p:spPr>
          <a:xfrm>
            <a:off x="2684295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129480" y="1113158"/>
            <a:ext cx="621744" cy="621742"/>
          </a:xfrm>
          <a:prstGeom prst="ellipse">
            <a:avLst/>
          </a:prstGeom>
          <a:solidFill>
            <a:schemeClr val="accent1">
              <a:alpha val="97000"/>
            </a:schemeClr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785129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440778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66828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112953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6" name="Google Shape;5288;p76"/>
          <p:cNvGrpSpPr/>
          <p:nvPr/>
        </p:nvGrpSpPr>
        <p:grpSpPr>
          <a:xfrm>
            <a:off x="3611823" y="1266323"/>
            <a:ext cx="322472" cy="310034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9" name="Google Shape;5313;p76"/>
          <p:cNvGrpSpPr/>
          <p:nvPr/>
        </p:nvGrpSpPr>
        <p:grpSpPr>
          <a:xfrm>
            <a:off x="5941707" y="1271151"/>
            <a:ext cx="310534" cy="310484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20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2" name="Google Shape;5344;p76"/>
          <p:cNvGrpSpPr/>
          <p:nvPr/>
        </p:nvGrpSpPr>
        <p:grpSpPr>
          <a:xfrm>
            <a:off x="8268581" y="1244493"/>
            <a:ext cx="310486" cy="310484"/>
            <a:chOff x="900750" y="1436075"/>
            <a:chExt cx="481825" cy="481825"/>
          </a:xfrm>
          <a:solidFill>
            <a:schemeClr val="bg1"/>
          </a:solidFill>
        </p:grpSpPr>
        <p:sp>
          <p:nvSpPr>
            <p:cNvPr id="23" name="Google Shape;5345;p76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Google Shape;5346;p76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Google Shape;5347;p76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" name="Google Shape;5348;p76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1" name="Google Shape;5700;p77"/>
          <p:cNvGrpSpPr/>
          <p:nvPr/>
        </p:nvGrpSpPr>
        <p:grpSpPr>
          <a:xfrm>
            <a:off x="1243810" y="1246125"/>
            <a:ext cx="393082" cy="339428"/>
            <a:chOff x="-42651700" y="3217825"/>
            <a:chExt cx="367600" cy="317425"/>
          </a:xfrm>
          <a:solidFill>
            <a:schemeClr val="bg1"/>
          </a:solidFill>
        </p:grpSpPr>
        <p:sp>
          <p:nvSpPr>
            <p:cNvPr id="32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7" name="Google Shape;6643;p79"/>
          <p:cNvGrpSpPr/>
          <p:nvPr/>
        </p:nvGrpSpPr>
        <p:grpSpPr>
          <a:xfrm>
            <a:off x="10599555" y="1275766"/>
            <a:ext cx="304190" cy="296526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38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3048674" y="5786160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打造智能高效有温度的服务体系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矩形: 圆顶角 4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8"/>
          <p:cNvSpPr/>
          <p:nvPr/>
        </p:nvSpPr>
        <p:spPr>
          <a:xfrm>
            <a:off x="484086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object 8"/>
          <p:cNvSpPr/>
          <p:nvPr/>
        </p:nvSpPr>
        <p:spPr>
          <a:xfrm>
            <a:off x="484086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object 17"/>
          <p:cNvSpPr/>
          <p:nvPr/>
        </p:nvSpPr>
        <p:spPr>
          <a:xfrm>
            <a:off x="484097" y="1163267"/>
            <a:ext cx="11259820" cy="969766"/>
          </a:xfrm>
          <a:custGeom>
            <a:avLst/>
            <a:gdLst/>
            <a:ahLst/>
            <a:cxnLst/>
            <a:rect l="l" t="t" r="r" b="b"/>
            <a:pathLst>
              <a:path w="11259820" h="793114">
                <a:moveTo>
                  <a:pt x="5629719" y="0"/>
                </a:moveTo>
                <a:lnTo>
                  <a:pt x="0" y="792759"/>
                </a:lnTo>
                <a:lnTo>
                  <a:pt x="11259451" y="792759"/>
                </a:lnTo>
                <a:lnTo>
                  <a:pt x="56297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63067" y="1573372"/>
            <a:ext cx="525897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智能物流科技企业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战略聚焦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88925" y="200526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-2025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战略聚焦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8"/>
          <p:cNvSpPr/>
          <p:nvPr/>
        </p:nvSpPr>
        <p:spPr>
          <a:xfrm>
            <a:off x="484086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智慧仓储处理方案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1" name="矩形: 圆顶角 6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63525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 flipH="1">
            <a:off x="1104250" y="3078029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实现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小时无人化作业，拣货效率提升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17216" y="3128473"/>
            <a:ext cx="345132" cy="345132"/>
            <a:chOff x="700160" y="3301975"/>
            <a:chExt cx="379244" cy="379244"/>
          </a:xfrm>
        </p:grpSpPr>
        <p:sp>
          <p:nvSpPr>
            <p:cNvPr id="6" name="椭圆 5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62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63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4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5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6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7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8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9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70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59" name="矩形 58"/>
          <p:cNvSpPr/>
          <p:nvPr/>
        </p:nvSpPr>
        <p:spPr>
          <a:xfrm flipH="1">
            <a:off x="1104250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自研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WMS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系统对接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30+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电商平台，库存准确率达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99.97%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717216" y="3721612"/>
            <a:ext cx="345132" cy="345132"/>
            <a:chOff x="700160" y="3301975"/>
            <a:chExt cx="379244" cy="379244"/>
          </a:xfrm>
        </p:grpSpPr>
        <p:sp>
          <p:nvSpPr>
            <p:cNvPr id="97" name="椭圆 96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99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00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1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2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3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4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5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6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7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60" name="矩形 59"/>
          <p:cNvSpPr/>
          <p:nvPr/>
        </p:nvSpPr>
        <p:spPr>
          <a:xfrm flipH="1">
            <a:off x="1104250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为特殊行业提供定制化恒温仓，损耗率降低至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0.3%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717216" y="4314752"/>
            <a:ext cx="345132" cy="345132"/>
            <a:chOff x="700160" y="3301975"/>
            <a:chExt cx="379244" cy="379244"/>
          </a:xfrm>
        </p:grpSpPr>
        <p:sp>
          <p:nvSpPr>
            <p:cNvPr id="109" name="椭圆 108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11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12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3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4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5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6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7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8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9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4" name="矩形: 圆角 23"/>
          <p:cNvSpPr/>
          <p:nvPr/>
        </p:nvSpPr>
        <p:spPr>
          <a:xfrm>
            <a:off x="739753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792437" y="5332805"/>
            <a:ext cx="1025086" cy="3490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1523334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2239308" y="5320114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7" name="object 8"/>
          <p:cNvSpPr/>
          <p:nvPr/>
        </p:nvSpPr>
        <p:spPr>
          <a:xfrm>
            <a:off x="3280340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8" name="object 8"/>
          <p:cNvSpPr/>
          <p:nvPr/>
        </p:nvSpPr>
        <p:spPr>
          <a:xfrm>
            <a:off x="3280340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object 8"/>
          <p:cNvSpPr/>
          <p:nvPr/>
        </p:nvSpPr>
        <p:spPr>
          <a:xfrm>
            <a:off x="3280340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城配运力平台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4059779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 flipH="1">
            <a:off x="3900504" y="3078029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整合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万辆新能源货车，通过算法实现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分钟响应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3513470" y="3128473"/>
            <a:ext cx="345132" cy="345132"/>
            <a:chOff x="700160" y="3301975"/>
            <a:chExt cx="379244" cy="379244"/>
          </a:xfrm>
        </p:grpSpPr>
        <p:sp>
          <p:nvSpPr>
            <p:cNvPr id="134" name="椭圆 133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36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37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8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9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0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1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2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3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4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46" name="矩形 145"/>
          <p:cNvSpPr/>
          <p:nvPr/>
        </p:nvSpPr>
        <p:spPr>
          <a:xfrm flipH="1">
            <a:off x="3900504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独闯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动态拼车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模式，同线路运输成本下降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28%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13470" y="3721612"/>
            <a:ext cx="345132" cy="345132"/>
            <a:chOff x="700160" y="3301975"/>
            <a:chExt cx="379244" cy="379244"/>
          </a:xfrm>
        </p:grpSpPr>
        <p:sp>
          <p:nvSpPr>
            <p:cNvPr id="148" name="椭圆 147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9" name="椭圆 148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50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51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2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3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4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5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6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7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8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60" name="矩形 159"/>
          <p:cNvSpPr/>
          <p:nvPr/>
        </p:nvSpPr>
        <p:spPr>
          <a:xfrm flipH="1">
            <a:off x="3900504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司机信用体系降低投诉率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67%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，月活司机超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万人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3513470" y="4314752"/>
            <a:ext cx="345132" cy="345132"/>
            <a:chOff x="700160" y="3301975"/>
            <a:chExt cx="379244" cy="379244"/>
          </a:xfrm>
        </p:grpSpPr>
        <p:sp>
          <p:nvSpPr>
            <p:cNvPr id="162" name="椭圆 161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64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65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6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7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8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9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0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1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2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73" name="矩形: 圆角 172"/>
          <p:cNvSpPr/>
          <p:nvPr/>
        </p:nvSpPr>
        <p:spPr>
          <a:xfrm>
            <a:off x="3536007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4" name="矩形: 圆角 173"/>
          <p:cNvSpPr/>
          <p:nvPr/>
        </p:nvSpPr>
        <p:spPr>
          <a:xfrm>
            <a:off x="3588691" y="5332805"/>
            <a:ext cx="852184" cy="3490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矩形: 圆角 174"/>
          <p:cNvSpPr/>
          <p:nvPr/>
        </p:nvSpPr>
        <p:spPr>
          <a:xfrm>
            <a:off x="4141917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5035562" y="5320114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7" name="object 8"/>
          <p:cNvSpPr/>
          <p:nvPr/>
        </p:nvSpPr>
        <p:spPr>
          <a:xfrm>
            <a:off x="6168132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8" name="object 8"/>
          <p:cNvSpPr/>
          <p:nvPr/>
        </p:nvSpPr>
        <p:spPr>
          <a:xfrm>
            <a:off x="6168132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9" name="object 8"/>
          <p:cNvSpPr/>
          <p:nvPr/>
        </p:nvSpPr>
        <p:spPr>
          <a:xfrm>
            <a:off x="6168132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供应链金融科技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6947571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2" name="矩形 181"/>
          <p:cNvSpPr/>
          <p:nvPr/>
        </p:nvSpPr>
        <p:spPr>
          <a:xfrm flipH="1">
            <a:off x="6788296" y="3078029"/>
            <a:ext cx="1955172" cy="63068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基于物流数据风控模型，中小企业授信审批时效从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天缩至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6401262" y="3128473"/>
            <a:ext cx="345132" cy="345132"/>
            <a:chOff x="700160" y="3301975"/>
            <a:chExt cx="379244" cy="379244"/>
          </a:xfrm>
        </p:grpSpPr>
        <p:sp>
          <p:nvSpPr>
            <p:cNvPr id="184" name="椭圆 183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椭圆 184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86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87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8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9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0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1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2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3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4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96" name="矩形 195"/>
          <p:cNvSpPr/>
          <p:nvPr/>
        </p:nvSpPr>
        <p:spPr>
          <a:xfrm flipH="1">
            <a:off x="6788296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与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家企业合作推出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运费呆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，坏账率控制在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7" name="组合 196"/>
          <p:cNvGrpSpPr/>
          <p:nvPr/>
        </p:nvGrpSpPr>
        <p:grpSpPr>
          <a:xfrm>
            <a:off x="6401262" y="3721612"/>
            <a:ext cx="345132" cy="345132"/>
            <a:chOff x="700160" y="3301975"/>
            <a:chExt cx="379244" cy="379244"/>
          </a:xfrm>
        </p:grpSpPr>
        <p:sp>
          <p:nvSpPr>
            <p:cNvPr id="198" name="椭圆 197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椭圆 198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00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01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2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3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4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5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6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7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8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10" name="矩形 209"/>
          <p:cNvSpPr/>
          <p:nvPr/>
        </p:nvSpPr>
        <p:spPr>
          <a:xfrm flipH="1">
            <a:off x="6788296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电子仓单质押业务年增速达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150%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，服务客户超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11" name="组合 210"/>
          <p:cNvGrpSpPr/>
          <p:nvPr/>
        </p:nvGrpSpPr>
        <p:grpSpPr>
          <a:xfrm>
            <a:off x="6401262" y="4314752"/>
            <a:ext cx="345132" cy="345132"/>
            <a:chOff x="700160" y="3301975"/>
            <a:chExt cx="379244" cy="379244"/>
          </a:xfrm>
        </p:grpSpPr>
        <p:sp>
          <p:nvSpPr>
            <p:cNvPr id="212" name="椭圆 211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3" name="椭圆 212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14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15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6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7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8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9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0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1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2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23" name="矩形: 圆角 222"/>
          <p:cNvSpPr/>
          <p:nvPr/>
        </p:nvSpPr>
        <p:spPr>
          <a:xfrm>
            <a:off x="6423799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4" name="矩形: 圆角 223"/>
          <p:cNvSpPr/>
          <p:nvPr/>
        </p:nvSpPr>
        <p:spPr>
          <a:xfrm>
            <a:off x="6476483" y="5332805"/>
            <a:ext cx="662752" cy="3490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5" name="矩形: 圆角 224"/>
          <p:cNvSpPr/>
          <p:nvPr/>
        </p:nvSpPr>
        <p:spPr>
          <a:xfrm>
            <a:off x="6850165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7923354" y="5320114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7" name="object 8"/>
          <p:cNvSpPr/>
          <p:nvPr/>
        </p:nvSpPr>
        <p:spPr>
          <a:xfrm>
            <a:off x="9055923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8" name="object 8"/>
          <p:cNvSpPr/>
          <p:nvPr/>
        </p:nvSpPr>
        <p:spPr>
          <a:xfrm>
            <a:off x="9055923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object 8"/>
          <p:cNvSpPr/>
          <p:nvPr/>
        </p:nvSpPr>
        <p:spPr>
          <a:xfrm>
            <a:off x="9055923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跨境物流中台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9835362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2" name="矩形 231"/>
          <p:cNvSpPr/>
          <p:nvPr/>
        </p:nvSpPr>
        <p:spPr>
          <a:xfrm flipH="1">
            <a:off x="9676087" y="3078029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实现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小时无人化作业，拣货效率提升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3" name="组合 232"/>
          <p:cNvGrpSpPr/>
          <p:nvPr/>
        </p:nvGrpSpPr>
        <p:grpSpPr>
          <a:xfrm>
            <a:off x="9289053" y="3128473"/>
            <a:ext cx="345132" cy="345132"/>
            <a:chOff x="700160" y="3301975"/>
            <a:chExt cx="379244" cy="379244"/>
          </a:xfrm>
        </p:grpSpPr>
        <p:sp>
          <p:nvSpPr>
            <p:cNvPr id="234" name="椭圆 233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5" name="椭圆 234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36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37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38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39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0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1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2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3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4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46" name="矩形 245"/>
          <p:cNvSpPr/>
          <p:nvPr/>
        </p:nvSpPr>
        <p:spPr>
          <a:xfrm flipH="1">
            <a:off x="9676087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自研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WMS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系统对接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30+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电商平台，库存准确率达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99.97%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47" name="组合 246"/>
          <p:cNvGrpSpPr/>
          <p:nvPr/>
        </p:nvGrpSpPr>
        <p:grpSpPr>
          <a:xfrm>
            <a:off x="9289053" y="3721612"/>
            <a:ext cx="345132" cy="345132"/>
            <a:chOff x="700160" y="3301975"/>
            <a:chExt cx="379244" cy="379244"/>
          </a:xfrm>
        </p:grpSpPr>
        <p:sp>
          <p:nvSpPr>
            <p:cNvPr id="248" name="椭圆 247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9" name="椭圆 248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0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51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2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3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4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5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6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7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8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60" name="矩形 259"/>
          <p:cNvSpPr/>
          <p:nvPr/>
        </p:nvSpPr>
        <p:spPr>
          <a:xfrm flipH="1">
            <a:off x="9676087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为特殊行业提供定制化恒温仓，损耗率降低至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0.3%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9289053" y="4314752"/>
            <a:ext cx="345132" cy="345132"/>
            <a:chOff x="700160" y="3301975"/>
            <a:chExt cx="379244" cy="379244"/>
          </a:xfrm>
        </p:grpSpPr>
        <p:sp>
          <p:nvSpPr>
            <p:cNvPr id="262" name="椭圆 261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3" name="椭圆 262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64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65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6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7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8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9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70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71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72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73" name="矩形: 圆角 272"/>
          <p:cNvSpPr/>
          <p:nvPr/>
        </p:nvSpPr>
        <p:spPr>
          <a:xfrm>
            <a:off x="9311590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矩形: 圆角 273"/>
          <p:cNvSpPr/>
          <p:nvPr/>
        </p:nvSpPr>
        <p:spPr>
          <a:xfrm>
            <a:off x="9364274" y="5332805"/>
            <a:ext cx="471088" cy="3490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矩形: 圆角 274"/>
          <p:cNvSpPr/>
          <p:nvPr/>
        </p:nvSpPr>
        <p:spPr>
          <a:xfrm>
            <a:off x="9555017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6" name="矩形 275"/>
          <p:cNvSpPr/>
          <p:nvPr/>
        </p:nvSpPr>
        <p:spPr>
          <a:xfrm>
            <a:off x="10811145" y="5320114"/>
            <a:ext cx="532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object 8"/>
          <p:cNvSpPr/>
          <p:nvPr/>
        </p:nvSpPr>
        <p:spPr>
          <a:xfrm>
            <a:off x="484087" y="5976909"/>
            <a:ext cx="11238710" cy="504049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3849231" y="6044267"/>
            <a:ext cx="4493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以科技驱动物流全链路降本增效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/>
          <p:cNvGrpSpPr/>
          <p:nvPr/>
        </p:nvGrpSpPr>
        <p:grpSpPr>
          <a:xfrm>
            <a:off x="336239" y="5154038"/>
            <a:ext cx="3406218" cy="1219164"/>
            <a:chOff x="336239" y="1127649"/>
            <a:chExt cx="3406218" cy="1219164"/>
          </a:xfrm>
        </p:grpSpPr>
        <p:sp>
          <p:nvSpPr>
            <p:cNvPr id="92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KOC</a:t>
              </a: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深度种草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93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签约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100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名成分党达人，开展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“28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天肌肤实验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纪实营销，在支护、小红书等平台打造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3000+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真实测评内容。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03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4287840" y="5154038"/>
            <a:ext cx="3406218" cy="1219164"/>
            <a:chOff x="336239" y="1127649"/>
            <a:chExt cx="3406218" cy="1219164"/>
          </a:xfrm>
        </p:grpSpPr>
        <p:sp>
          <p:nvSpPr>
            <p:cNvPr id="101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会员急速运营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升级小程序，推出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皮肤科医生在线问诊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服务，结合消费数据提供定制方案，目标再够提升至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45%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04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287840" y="1127649"/>
            <a:ext cx="3406218" cy="1219164"/>
            <a:chOff x="336239" y="1127649"/>
            <a:chExt cx="3406218" cy="1219164"/>
          </a:xfrm>
        </p:grpSpPr>
        <p:sp>
          <p:nvSpPr>
            <p:cNvPr id="87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跨界联名营销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9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与奢侈茶饮品牌推出限定礼盒，通过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内外养肤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概念打造话题，预计覆盖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万目标，提升品牌时尚度。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02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6" name="任意多边形: 形状 45"/>
          <p:cNvSpPr/>
          <p:nvPr/>
        </p:nvSpPr>
        <p:spPr>
          <a:xfrm>
            <a:off x="8332091" y="3962243"/>
            <a:ext cx="3249730" cy="2396894"/>
          </a:xfrm>
          <a:custGeom>
            <a:avLst/>
            <a:gdLst>
              <a:gd name="connsiteX0" fmla="*/ 3249730 w 3249730"/>
              <a:gd name="connsiteY0" fmla="*/ 0 h 2396894"/>
              <a:gd name="connsiteX1" fmla="*/ 3249730 w 3249730"/>
              <a:gd name="connsiteY1" fmla="*/ 2396894 h 2396894"/>
              <a:gd name="connsiteX2" fmla="*/ 0 w 3249730"/>
              <a:gd name="connsiteY2" fmla="*/ 2396894 h 2396894"/>
              <a:gd name="connsiteX3" fmla="*/ 0 w 3249730"/>
              <a:gd name="connsiteY3" fmla="*/ 432585 h 2396894"/>
              <a:gd name="connsiteX4" fmla="*/ 2065897 w 3249730"/>
              <a:gd name="connsiteY4" fmla="*/ 432585 h 2396894"/>
              <a:gd name="connsiteX5" fmla="*/ 2065897 w 3249730"/>
              <a:gd name="connsiteY5" fmla="*/ 911313 h 2396894"/>
              <a:gd name="connsiteX6" fmla="*/ 3249730 w 3249730"/>
              <a:gd name="connsiteY6" fmla="*/ 0 h 239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730" h="2396894">
                <a:moveTo>
                  <a:pt x="3249730" y="0"/>
                </a:moveTo>
                <a:lnTo>
                  <a:pt x="3249730" y="2396894"/>
                </a:lnTo>
                <a:lnTo>
                  <a:pt x="0" y="2396894"/>
                </a:lnTo>
                <a:lnTo>
                  <a:pt x="0" y="432585"/>
                </a:lnTo>
                <a:lnTo>
                  <a:pt x="2065897" y="432585"/>
                </a:lnTo>
                <a:lnTo>
                  <a:pt x="2065897" y="911313"/>
                </a:lnTo>
                <a:lnTo>
                  <a:pt x="32497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Freeform: Shape 32"/>
          <p:cNvSpPr/>
          <p:nvPr/>
        </p:nvSpPr>
        <p:spPr>
          <a:xfrm>
            <a:off x="4413479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Freeform: Shape 33"/>
          <p:cNvSpPr/>
          <p:nvPr/>
        </p:nvSpPr>
        <p:spPr>
          <a:xfrm>
            <a:off x="2651713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Freeform: Shape 34"/>
          <p:cNvSpPr/>
          <p:nvPr/>
        </p:nvSpPr>
        <p:spPr>
          <a:xfrm>
            <a:off x="891864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Freeform: Shape 35"/>
          <p:cNvSpPr/>
          <p:nvPr/>
        </p:nvSpPr>
        <p:spPr>
          <a:xfrm>
            <a:off x="6177626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Arrow: Right 36"/>
          <p:cNvSpPr/>
          <p:nvPr/>
        </p:nvSpPr>
        <p:spPr>
          <a:xfrm>
            <a:off x="1" y="2797108"/>
            <a:ext cx="11717448" cy="1914911"/>
          </a:xfrm>
          <a:prstGeom prst="rightArrow">
            <a:avLst>
              <a:gd name="adj1" fmla="val 50000"/>
              <a:gd name="adj2" fmla="val 64952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Freeform: Shape 37"/>
          <p:cNvSpPr/>
          <p:nvPr/>
        </p:nvSpPr>
        <p:spPr>
          <a:xfrm>
            <a:off x="4413479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Freeform: Shape 38"/>
          <p:cNvSpPr/>
          <p:nvPr/>
        </p:nvSpPr>
        <p:spPr>
          <a:xfrm>
            <a:off x="2651713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Freeform: Shape 39"/>
          <p:cNvSpPr/>
          <p:nvPr/>
        </p:nvSpPr>
        <p:spPr>
          <a:xfrm>
            <a:off x="891864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Freeform: Shape 40"/>
          <p:cNvSpPr/>
          <p:nvPr/>
        </p:nvSpPr>
        <p:spPr>
          <a:xfrm>
            <a:off x="6177626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TextBox 70"/>
          <p:cNvSpPr txBox="1"/>
          <p:nvPr/>
        </p:nvSpPr>
        <p:spPr>
          <a:xfrm rot="2903985">
            <a:off x="1292978" y="3569896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品牌定位升级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1" name="TextBox 70"/>
          <p:cNvSpPr txBox="1"/>
          <p:nvPr/>
        </p:nvSpPr>
        <p:spPr>
          <a:xfrm rot="2903985">
            <a:off x="3046963" y="3569895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跨界联名营销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TextBox 70"/>
          <p:cNvSpPr txBox="1"/>
          <p:nvPr/>
        </p:nvSpPr>
        <p:spPr>
          <a:xfrm rot="2903985">
            <a:off x="4809261" y="3569895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03</a:t>
            </a:r>
            <a:r>
              <a:rPr kumimoji="0" 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KOC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深度种草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TextBox 70"/>
          <p:cNvSpPr txBox="1"/>
          <p:nvPr/>
        </p:nvSpPr>
        <p:spPr>
          <a:xfrm rot="2903985">
            <a:off x="6563248" y="3569895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04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会员急速运营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8" name="直线连接符 87"/>
          <p:cNvCxnSpPr/>
          <p:nvPr/>
        </p:nvCxnSpPr>
        <p:spPr>
          <a:xfrm>
            <a:off x="3994431" y="1172095"/>
            <a:ext cx="0" cy="98928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/>
          <p:cNvCxnSpPr/>
          <p:nvPr/>
        </p:nvCxnSpPr>
        <p:spPr>
          <a:xfrm>
            <a:off x="3994431" y="5309917"/>
            <a:ext cx="0" cy="98928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任意多边形: 形状 48"/>
          <p:cNvSpPr/>
          <p:nvPr/>
        </p:nvSpPr>
        <p:spPr>
          <a:xfrm>
            <a:off x="8332091" y="984390"/>
            <a:ext cx="3249730" cy="2578122"/>
          </a:xfrm>
          <a:custGeom>
            <a:avLst/>
            <a:gdLst>
              <a:gd name="connsiteX0" fmla="*/ 0 w 3249730"/>
              <a:gd name="connsiteY0" fmla="*/ 0 h 2578122"/>
              <a:gd name="connsiteX1" fmla="*/ 3249730 w 3249730"/>
              <a:gd name="connsiteY1" fmla="*/ 0 h 2578122"/>
              <a:gd name="connsiteX2" fmla="*/ 3249730 w 3249730"/>
              <a:gd name="connsiteY2" fmla="*/ 2578122 h 2578122"/>
              <a:gd name="connsiteX3" fmla="*/ 2065897 w 3249730"/>
              <a:gd name="connsiteY3" fmla="*/ 1666808 h 2578122"/>
              <a:gd name="connsiteX4" fmla="*/ 2065897 w 3249730"/>
              <a:gd name="connsiteY4" fmla="*/ 2145536 h 2578122"/>
              <a:gd name="connsiteX5" fmla="*/ 0 w 3249730"/>
              <a:gd name="connsiteY5" fmla="*/ 2145536 h 2578122"/>
              <a:gd name="connsiteX6" fmla="*/ 0 w 3249730"/>
              <a:gd name="connsiteY6" fmla="*/ 0 h 2578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730" h="2578122">
                <a:moveTo>
                  <a:pt x="0" y="0"/>
                </a:moveTo>
                <a:lnTo>
                  <a:pt x="3249730" y="0"/>
                </a:lnTo>
                <a:lnTo>
                  <a:pt x="3249730" y="2578122"/>
                </a:lnTo>
                <a:lnTo>
                  <a:pt x="2065897" y="1666808"/>
                </a:lnTo>
                <a:lnTo>
                  <a:pt x="2065897" y="2145536"/>
                </a:lnTo>
                <a:lnTo>
                  <a:pt x="0" y="214553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88925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品牌策划推广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439935" y="1127649"/>
            <a:ext cx="3406218" cy="1219164"/>
            <a:chOff x="336239" y="1127649"/>
            <a:chExt cx="3406218" cy="1219164"/>
          </a:xfrm>
        </p:grpSpPr>
        <p:sp>
          <p:nvSpPr>
            <p:cNvPr id="66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品牌定位升级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聚焦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科技植萃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新主张，联合中科院研发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项专利成分，重塑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实验室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自然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的双重级音，差异化竞争高端市场。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01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8" name="Google Shape;6643;p79"/>
          <p:cNvGrpSpPr/>
          <p:nvPr/>
        </p:nvGrpSpPr>
        <p:grpSpPr>
          <a:xfrm>
            <a:off x="7138014" y="5135974"/>
            <a:ext cx="401466" cy="391352"/>
            <a:chOff x="-31817400" y="3910025"/>
            <a:chExt cx="301675" cy="294075"/>
          </a:xfrm>
          <a:solidFill>
            <a:schemeClr val="tx2"/>
          </a:solidFill>
        </p:grpSpPr>
        <p:sp>
          <p:nvSpPr>
            <p:cNvPr id="59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2" name="Google Shape;6785;p79"/>
          <p:cNvGrpSpPr/>
          <p:nvPr/>
        </p:nvGrpSpPr>
        <p:grpSpPr>
          <a:xfrm>
            <a:off x="3172631" y="5105038"/>
            <a:ext cx="408818" cy="388622"/>
            <a:chOff x="-32576675" y="3944600"/>
            <a:chExt cx="307200" cy="292025"/>
          </a:xfrm>
          <a:solidFill>
            <a:schemeClr val="accent1"/>
          </a:solidFill>
        </p:grpSpPr>
        <p:sp>
          <p:nvSpPr>
            <p:cNvPr id="63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5" name="Google Shape;7274;p80"/>
          <p:cNvGrpSpPr/>
          <p:nvPr/>
        </p:nvGrpSpPr>
        <p:grpSpPr>
          <a:xfrm>
            <a:off x="3142465" y="1130300"/>
            <a:ext cx="472415" cy="472139"/>
            <a:chOff x="-49764975" y="3183375"/>
            <a:chExt cx="299300" cy="299125"/>
          </a:xfrm>
          <a:solidFill>
            <a:schemeClr val="accent1"/>
          </a:solidFill>
        </p:grpSpPr>
        <p:sp>
          <p:nvSpPr>
            <p:cNvPr id="67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3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4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5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6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7" name="Google Shape;7347;p80"/>
          <p:cNvGrpSpPr/>
          <p:nvPr/>
        </p:nvGrpSpPr>
        <p:grpSpPr>
          <a:xfrm>
            <a:off x="7129865" y="1125644"/>
            <a:ext cx="416500" cy="476795"/>
            <a:chOff x="-44895900" y="3929450"/>
            <a:chExt cx="263875" cy="302075"/>
          </a:xfrm>
          <a:solidFill>
            <a:schemeClr val="tx2"/>
          </a:solidFill>
        </p:grpSpPr>
        <p:sp>
          <p:nvSpPr>
            <p:cNvPr id="78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0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2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5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9079108" y="120141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策略亮点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571947" y="1581564"/>
            <a:ext cx="2904045" cy="110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以专利成分为信任背书，通过跨界破圈获取新客，再以专业内容转化，最终用服务提升终身价值，形成营销闭环。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9079108" y="468264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预期效果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8571947" y="5062795"/>
            <a:ext cx="2904045" cy="84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个月内实现品牌搜索量增长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，高端线产品销量占比从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，克丹家突破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元。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665399" y="1181833"/>
            <a:ext cx="396054" cy="396054"/>
            <a:chOff x="8665399" y="1181833"/>
            <a:chExt cx="396054" cy="396054"/>
          </a:xfrm>
        </p:grpSpPr>
        <p:sp>
          <p:nvSpPr>
            <p:cNvPr id="22" name="椭圆 21"/>
            <p:cNvSpPr/>
            <p:nvPr/>
          </p:nvSpPr>
          <p:spPr>
            <a:xfrm>
              <a:off x="8665399" y="1181833"/>
              <a:ext cx="396054" cy="3960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27" name="Google Shape;6509;p78"/>
            <p:cNvGrpSpPr/>
            <p:nvPr/>
          </p:nvGrpSpPr>
          <p:grpSpPr>
            <a:xfrm>
              <a:off x="8719048" y="1239972"/>
              <a:ext cx="288756" cy="283454"/>
              <a:chOff x="5716825" y="3235950"/>
              <a:chExt cx="300900" cy="295375"/>
            </a:xfrm>
            <a:solidFill>
              <a:schemeClr val="accent1"/>
            </a:solidFill>
          </p:grpSpPr>
          <p:sp>
            <p:nvSpPr>
              <p:cNvPr id="128" name="Google Shape;6510;p78"/>
              <p:cNvSpPr/>
              <p:nvPr/>
            </p:nvSpPr>
            <p:spPr>
              <a:xfrm>
                <a:off x="5716825" y="3309975"/>
                <a:ext cx="137075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861" extrusionOk="0">
                    <a:moveTo>
                      <a:pt x="2584" y="1"/>
                    </a:moveTo>
                    <a:lnTo>
                      <a:pt x="410" y="2206"/>
                    </a:lnTo>
                    <a:cubicBezTo>
                      <a:pt x="1" y="2615"/>
                      <a:pt x="1" y="3277"/>
                      <a:pt x="410" y="3655"/>
                    </a:cubicBezTo>
                    <a:lnTo>
                      <a:pt x="2584" y="5860"/>
                    </a:lnTo>
                    <a:lnTo>
                      <a:pt x="3781" y="4632"/>
                    </a:lnTo>
                    <a:cubicBezTo>
                      <a:pt x="3844" y="4584"/>
                      <a:pt x="3939" y="4561"/>
                      <a:pt x="4029" y="4561"/>
                    </a:cubicBezTo>
                    <a:cubicBezTo>
                      <a:pt x="4120" y="4561"/>
                      <a:pt x="4206" y="4584"/>
                      <a:pt x="4254" y="4632"/>
                    </a:cubicBezTo>
                    <a:lnTo>
                      <a:pt x="4726" y="5104"/>
                    </a:lnTo>
                    <a:cubicBezTo>
                      <a:pt x="4789" y="5167"/>
                      <a:pt x="4884" y="5199"/>
                      <a:pt x="4974" y="5199"/>
                    </a:cubicBezTo>
                    <a:cubicBezTo>
                      <a:pt x="5065" y="5199"/>
                      <a:pt x="5152" y="5167"/>
                      <a:pt x="5199" y="5104"/>
                    </a:cubicBezTo>
                    <a:cubicBezTo>
                      <a:pt x="5325" y="5010"/>
                      <a:pt x="5325" y="4758"/>
                      <a:pt x="5199" y="4632"/>
                    </a:cubicBezTo>
                    <a:lnTo>
                      <a:pt x="4726" y="4159"/>
                    </a:lnTo>
                    <a:cubicBezTo>
                      <a:pt x="4632" y="4065"/>
                      <a:pt x="4632" y="3813"/>
                      <a:pt x="4726" y="3687"/>
                    </a:cubicBezTo>
                    <a:lnTo>
                      <a:pt x="5482" y="2962"/>
                    </a:lnTo>
                    <a:lnTo>
                      <a:pt x="5010" y="2489"/>
                    </a:lnTo>
                    <a:lnTo>
                      <a:pt x="4789" y="2710"/>
                    </a:lnTo>
                    <a:cubicBezTo>
                      <a:pt x="4584" y="2915"/>
                      <a:pt x="4317" y="3017"/>
                      <a:pt x="4049" y="3017"/>
                    </a:cubicBezTo>
                    <a:cubicBezTo>
                      <a:pt x="3781" y="3017"/>
                      <a:pt x="3513" y="2915"/>
                      <a:pt x="3309" y="2710"/>
                    </a:cubicBezTo>
                    <a:cubicBezTo>
                      <a:pt x="2930" y="2332"/>
                      <a:pt x="2930" y="1670"/>
                      <a:pt x="3309" y="1261"/>
                    </a:cubicBezTo>
                    <a:lnTo>
                      <a:pt x="3561" y="1040"/>
                    </a:lnTo>
                    <a:lnTo>
                      <a:pt x="25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9" name="Google Shape;6511;p78"/>
              <p:cNvSpPr/>
              <p:nvPr/>
            </p:nvSpPr>
            <p:spPr>
              <a:xfrm>
                <a:off x="5794025" y="3235950"/>
                <a:ext cx="145725" cy="133900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5356" extrusionOk="0">
                    <a:moveTo>
                      <a:pt x="2926" y="0"/>
                    </a:moveTo>
                    <a:cubicBezTo>
                      <a:pt x="2662" y="0"/>
                      <a:pt x="2394" y="95"/>
                      <a:pt x="2205" y="284"/>
                    </a:cubicBezTo>
                    <a:lnTo>
                      <a:pt x="0" y="2457"/>
                    </a:lnTo>
                    <a:lnTo>
                      <a:pt x="1229" y="3686"/>
                    </a:lnTo>
                    <a:cubicBezTo>
                      <a:pt x="1323" y="3781"/>
                      <a:pt x="1323" y="4033"/>
                      <a:pt x="1229" y="4127"/>
                    </a:cubicBezTo>
                    <a:lnTo>
                      <a:pt x="725" y="4600"/>
                    </a:lnTo>
                    <a:cubicBezTo>
                      <a:pt x="630" y="4726"/>
                      <a:pt x="630" y="4978"/>
                      <a:pt x="725" y="5072"/>
                    </a:cubicBezTo>
                    <a:cubicBezTo>
                      <a:pt x="788" y="5135"/>
                      <a:pt x="882" y="5167"/>
                      <a:pt x="977" y="5167"/>
                    </a:cubicBezTo>
                    <a:cubicBezTo>
                      <a:pt x="1071" y="5167"/>
                      <a:pt x="1166" y="5135"/>
                      <a:pt x="1229" y="5072"/>
                    </a:cubicBezTo>
                    <a:lnTo>
                      <a:pt x="1701" y="4600"/>
                    </a:lnTo>
                    <a:cubicBezTo>
                      <a:pt x="1749" y="4553"/>
                      <a:pt x="1835" y="4529"/>
                      <a:pt x="1926" y="4529"/>
                    </a:cubicBezTo>
                    <a:cubicBezTo>
                      <a:pt x="2016" y="4529"/>
                      <a:pt x="2111" y="4553"/>
                      <a:pt x="2174" y="4600"/>
                    </a:cubicBezTo>
                    <a:lnTo>
                      <a:pt x="2898" y="5356"/>
                    </a:lnTo>
                    <a:lnTo>
                      <a:pt x="3371" y="4883"/>
                    </a:lnTo>
                    <a:lnTo>
                      <a:pt x="3151" y="4663"/>
                    </a:lnTo>
                    <a:cubicBezTo>
                      <a:pt x="2741" y="4253"/>
                      <a:pt x="2741" y="3592"/>
                      <a:pt x="3151" y="3214"/>
                    </a:cubicBezTo>
                    <a:cubicBezTo>
                      <a:pt x="3340" y="3009"/>
                      <a:pt x="3607" y="2906"/>
                      <a:pt x="3875" y="2906"/>
                    </a:cubicBezTo>
                    <a:cubicBezTo>
                      <a:pt x="4143" y="2906"/>
                      <a:pt x="4411" y="3009"/>
                      <a:pt x="4600" y="3214"/>
                    </a:cubicBezTo>
                    <a:lnTo>
                      <a:pt x="4852" y="3434"/>
                    </a:lnTo>
                    <a:lnTo>
                      <a:pt x="5828" y="2457"/>
                    </a:lnTo>
                    <a:lnTo>
                      <a:pt x="3623" y="284"/>
                    </a:lnTo>
                    <a:cubicBezTo>
                      <a:pt x="3450" y="95"/>
                      <a:pt x="3190" y="0"/>
                      <a:pt x="29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0" name="Google Shape;6512;p78"/>
              <p:cNvSpPr/>
              <p:nvPr/>
            </p:nvSpPr>
            <p:spPr>
              <a:xfrm>
                <a:off x="5880650" y="3309975"/>
                <a:ext cx="137075" cy="145725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829" extrusionOk="0">
                    <a:moveTo>
                      <a:pt x="2899" y="1"/>
                    </a:moveTo>
                    <a:lnTo>
                      <a:pt x="1702" y="1229"/>
                    </a:lnTo>
                    <a:cubicBezTo>
                      <a:pt x="1639" y="1292"/>
                      <a:pt x="1544" y="1324"/>
                      <a:pt x="1450" y="1324"/>
                    </a:cubicBezTo>
                    <a:cubicBezTo>
                      <a:pt x="1355" y="1324"/>
                      <a:pt x="1261" y="1292"/>
                      <a:pt x="1198" y="1229"/>
                    </a:cubicBezTo>
                    <a:lnTo>
                      <a:pt x="725" y="757"/>
                    </a:lnTo>
                    <a:cubicBezTo>
                      <a:pt x="678" y="694"/>
                      <a:pt x="591" y="662"/>
                      <a:pt x="501" y="662"/>
                    </a:cubicBezTo>
                    <a:cubicBezTo>
                      <a:pt x="410" y="662"/>
                      <a:pt x="316" y="694"/>
                      <a:pt x="253" y="757"/>
                    </a:cubicBezTo>
                    <a:cubicBezTo>
                      <a:pt x="158" y="883"/>
                      <a:pt x="158" y="1103"/>
                      <a:pt x="253" y="1229"/>
                    </a:cubicBezTo>
                    <a:lnTo>
                      <a:pt x="725" y="1702"/>
                    </a:lnTo>
                    <a:cubicBezTo>
                      <a:pt x="851" y="1828"/>
                      <a:pt x="851" y="2048"/>
                      <a:pt x="725" y="2174"/>
                    </a:cubicBezTo>
                    <a:lnTo>
                      <a:pt x="1" y="2899"/>
                    </a:lnTo>
                    <a:lnTo>
                      <a:pt x="473" y="3372"/>
                    </a:lnTo>
                    <a:lnTo>
                      <a:pt x="694" y="3151"/>
                    </a:lnTo>
                    <a:cubicBezTo>
                      <a:pt x="898" y="2946"/>
                      <a:pt x="1166" y="2844"/>
                      <a:pt x="1434" y="2844"/>
                    </a:cubicBezTo>
                    <a:cubicBezTo>
                      <a:pt x="1702" y="2844"/>
                      <a:pt x="1970" y="2946"/>
                      <a:pt x="2174" y="3151"/>
                    </a:cubicBezTo>
                    <a:cubicBezTo>
                      <a:pt x="2552" y="3529"/>
                      <a:pt x="2552" y="4222"/>
                      <a:pt x="2174" y="4600"/>
                    </a:cubicBezTo>
                    <a:lnTo>
                      <a:pt x="1922" y="4852"/>
                    </a:lnTo>
                    <a:lnTo>
                      <a:pt x="2899" y="5829"/>
                    </a:lnTo>
                    <a:lnTo>
                      <a:pt x="5073" y="3655"/>
                    </a:lnTo>
                    <a:cubicBezTo>
                      <a:pt x="5482" y="3277"/>
                      <a:pt x="5482" y="2615"/>
                      <a:pt x="5073" y="2206"/>
                    </a:cubicBezTo>
                    <a:lnTo>
                      <a:pt x="289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1" name="Google Shape;6513;p78"/>
              <p:cNvSpPr/>
              <p:nvPr/>
            </p:nvSpPr>
            <p:spPr>
              <a:xfrm>
                <a:off x="5794025" y="3396625"/>
                <a:ext cx="147300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5388" extrusionOk="0">
                    <a:moveTo>
                      <a:pt x="2993" y="0"/>
                    </a:moveTo>
                    <a:lnTo>
                      <a:pt x="2520" y="473"/>
                    </a:lnTo>
                    <a:lnTo>
                      <a:pt x="2741" y="725"/>
                    </a:lnTo>
                    <a:cubicBezTo>
                      <a:pt x="3151" y="1103"/>
                      <a:pt x="3151" y="1764"/>
                      <a:pt x="2741" y="2174"/>
                    </a:cubicBezTo>
                    <a:cubicBezTo>
                      <a:pt x="2505" y="2363"/>
                      <a:pt x="2221" y="2457"/>
                      <a:pt x="1949" y="2457"/>
                    </a:cubicBezTo>
                    <a:cubicBezTo>
                      <a:pt x="1678" y="2457"/>
                      <a:pt x="1418" y="2363"/>
                      <a:pt x="1229" y="2174"/>
                    </a:cubicBezTo>
                    <a:lnTo>
                      <a:pt x="977" y="1922"/>
                    </a:lnTo>
                    <a:lnTo>
                      <a:pt x="0" y="2930"/>
                    </a:lnTo>
                    <a:lnTo>
                      <a:pt x="2205" y="5072"/>
                    </a:lnTo>
                    <a:cubicBezTo>
                      <a:pt x="2394" y="5293"/>
                      <a:pt x="2678" y="5387"/>
                      <a:pt x="2930" y="5387"/>
                    </a:cubicBezTo>
                    <a:cubicBezTo>
                      <a:pt x="3214" y="5387"/>
                      <a:pt x="3497" y="5293"/>
                      <a:pt x="3686" y="5072"/>
                    </a:cubicBezTo>
                    <a:lnTo>
                      <a:pt x="5891" y="2930"/>
                    </a:lnTo>
                    <a:lnTo>
                      <a:pt x="4663" y="1701"/>
                    </a:lnTo>
                    <a:cubicBezTo>
                      <a:pt x="4568" y="1575"/>
                      <a:pt x="4568" y="1355"/>
                      <a:pt x="4663" y="1229"/>
                    </a:cubicBezTo>
                    <a:lnTo>
                      <a:pt x="5167" y="756"/>
                    </a:lnTo>
                    <a:cubicBezTo>
                      <a:pt x="5261" y="630"/>
                      <a:pt x="5261" y="410"/>
                      <a:pt x="5167" y="284"/>
                    </a:cubicBezTo>
                    <a:cubicBezTo>
                      <a:pt x="5104" y="221"/>
                      <a:pt x="5009" y="189"/>
                      <a:pt x="4915" y="189"/>
                    </a:cubicBezTo>
                    <a:cubicBezTo>
                      <a:pt x="4820" y="189"/>
                      <a:pt x="4726" y="221"/>
                      <a:pt x="4663" y="284"/>
                    </a:cubicBezTo>
                    <a:lnTo>
                      <a:pt x="4190" y="756"/>
                    </a:lnTo>
                    <a:cubicBezTo>
                      <a:pt x="4143" y="819"/>
                      <a:pt x="4056" y="851"/>
                      <a:pt x="3966" y="851"/>
                    </a:cubicBezTo>
                    <a:cubicBezTo>
                      <a:pt x="3875" y="851"/>
                      <a:pt x="3781" y="819"/>
                      <a:pt x="3718" y="756"/>
                    </a:cubicBezTo>
                    <a:lnTo>
                      <a:pt x="29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33" name="椭圆 132"/>
          <p:cNvSpPr/>
          <p:nvPr/>
        </p:nvSpPr>
        <p:spPr>
          <a:xfrm>
            <a:off x="8665399" y="4655922"/>
            <a:ext cx="396054" cy="3960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9" name="Google Shape;5767;p77"/>
          <p:cNvGrpSpPr/>
          <p:nvPr/>
        </p:nvGrpSpPr>
        <p:grpSpPr>
          <a:xfrm>
            <a:off x="8762700" y="4748874"/>
            <a:ext cx="230352" cy="228112"/>
            <a:chOff x="-37385100" y="3949908"/>
            <a:chExt cx="321350" cy="318225"/>
          </a:xfrm>
          <a:solidFill>
            <a:schemeClr val="tx2"/>
          </a:solidFill>
        </p:grpSpPr>
        <p:sp>
          <p:nvSpPr>
            <p:cNvPr id="140" name="Google Shape;5768;p77"/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Google Shape;5769;p77"/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2" name="矩形: 圆顶角 1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任意形状 66"/>
          <p:cNvSpPr/>
          <p:nvPr/>
        </p:nvSpPr>
        <p:spPr>
          <a:xfrm>
            <a:off x="0" y="918872"/>
            <a:ext cx="12192000" cy="5925389"/>
          </a:xfrm>
          <a:custGeom>
            <a:avLst/>
            <a:gdLst>
              <a:gd name="connsiteX0" fmla="*/ 0 w 12192000"/>
              <a:gd name="connsiteY0" fmla="*/ 0 h 3581151"/>
              <a:gd name="connsiteX1" fmla="*/ 84227 w 12192000"/>
              <a:gd name="connsiteY1" fmla="*/ 41980 h 3581151"/>
              <a:gd name="connsiteX2" fmla="*/ 6096000 w 12192000"/>
              <a:gd name="connsiteY2" fmla="*/ 1011907 h 3581151"/>
              <a:gd name="connsiteX3" fmla="*/ 12107773 w 12192000"/>
              <a:gd name="connsiteY3" fmla="*/ 41980 h 3581151"/>
              <a:gd name="connsiteX4" fmla="*/ 12192000 w 12192000"/>
              <a:gd name="connsiteY4" fmla="*/ 0 h 3581151"/>
              <a:gd name="connsiteX5" fmla="*/ 12192000 w 12192000"/>
              <a:gd name="connsiteY5" fmla="*/ 3581151 h 3581151"/>
              <a:gd name="connsiteX6" fmla="*/ 12107773 w 12192000"/>
              <a:gd name="connsiteY6" fmla="*/ 3539171 h 3581151"/>
              <a:gd name="connsiteX7" fmla="*/ 6096000 w 12192000"/>
              <a:gd name="connsiteY7" fmla="*/ 2569244 h 3581151"/>
              <a:gd name="connsiteX8" fmla="*/ 84227 w 12192000"/>
              <a:gd name="connsiteY8" fmla="*/ 3539171 h 3581151"/>
              <a:gd name="connsiteX9" fmla="*/ 0 w 12192000"/>
              <a:gd name="connsiteY9" fmla="*/ 3581151 h 3581151"/>
              <a:gd name="connsiteX10" fmla="*/ 0 w 12192000"/>
              <a:gd name="connsiteY10" fmla="*/ 0 h 358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581151">
                <a:moveTo>
                  <a:pt x="0" y="0"/>
                </a:moveTo>
                <a:lnTo>
                  <a:pt x="84227" y="41980"/>
                </a:lnTo>
                <a:cubicBezTo>
                  <a:pt x="1317103" y="623474"/>
                  <a:pt x="3548268" y="1011907"/>
                  <a:pt x="6096000" y="1011907"/>
                </a:cubicBezTo>
                <a:cubicBezTo>
                  <a:pt x="8643732" y="1011907"/>
                  <a:pt x="10874897" y="623474"/>
                  <a:pt x="12107773" y="41980"/>
                </a:cubicBezTo>
                <a:lnTo>
                  <a:pt x="12192000" y="0"/>
                </a:lnTo>
                <a:lnTo>
                  <a:pt x="12192000" y="3581151"/>
                </a:lnTo>
                <a:lnTo>
                  <a:pt x="12107773" y="3539171"/>
                </a:lnTo>
                <a:cubicBezTo>
                  <a:pt x="10874897" y="2957677"/>
                  <a:pt x="8643732" y="2569244"/>
                  <a:pt x="6096000" y="2569244"/>
                </a:cubicBezTo>
                <a:cubicBezTo>
                  <a:pt x="3548268" y="2569244"/>
                  <a:pt x="1317103" y="2957677"/>
                  <a:pt x="84227" y="3539171"/>
                </a:cubicBezTo>
                <a:lnTo>
                  <a:pt x="0" y="358115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937599" y="2493962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8159629" y="2719895"/>
            <a:ext cx="702530" cy="7025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047368" y="2628421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互联互通不足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047361" y="3001185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各品牌协议不统一，仅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设备能跨平台联动，体验割裂。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446931" y="2493962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3329840" y="2719895"/>
            <a:ext cx="702530" cy="7025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 flipH="1">
            <a:off x="806527" y="2628421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产品同质化严重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 flipH="1">
            <a:off x="806525" y="3001185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品牌功能雷同，缺乏差异化创新，用户选择困难。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7937599" y="4070205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159629" y="4296138"/>
            <a:ext cx="702530" cy="7025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47368" y="4204664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数据安全隐患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047361" y="4577428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年行业共发生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23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起数据泄露事件，用户信任度下降。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46931" y="4070205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3329840" y="4296138"/>
            <a:ext cx="702530" cy="7025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 flipH="1">
            <a:off x="806527" y="4204664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安装维修复杂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 flipH="1">
            <a:off x="806525" y="4577428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消费者因安装问题退货，售后服务成本居高不下。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46931" y="828910"/>
            <a:ext cx="11270516" cy="58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智能家居行业核心挑战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734488" y="1419189"/>
            <a:ext cx="8683446" cy="61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以开放生态打破孤岛，通过模块化设计降低安装门槛，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同时建立行业级安全认证体系，重塑消费信心。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任意形状 86"/>
          <p:cNvSpPr/>
          <p:nvPr/>
        </p:nvSpPr>
        <p:spPr>
          <a:xfrm rot="5400000">
            <a:off x="6205359" y="2196732"/>
            <a:ext cx="1507545" cy="1550884"/>
          </a:xfrm>
          <a:custGeom>
            <a:avLst/>
            <a:gdLst>
              <a:gd name="connsiteX0" fmla="*/ 0 w 1507545"/>
              <a:gd name="connsiteY0" fmla="*/ 1550884 h 1550884"/>
              <a:gd name="connsiteX1" fmla="*/ 4067 w 1507545"/>
              <a:gd name="connsiteY1" fmla="*/ 1470351 h 1550884"/>
              <a:gd name="connsiteX2" fmla="*/ 1472656 w 1507545"/>
              <a:gd name="connsiteY2" fmla="*/ 1762 h 1550884"/>
              <a:gd name="connsiteX3" fmla="*/ 1507545 w 1507545"/>
              <a:gd name="connsiteY3" fmla="*/ 0 h 1550884"/>
              <a:gd name="connsiteX4" fmla="*/ 1507545 w 1507545"/>
              <a:gd name="connsiteY4" fmla="*/ 830573 h 1550884"/>
              <a:gd name="connsiteX5" fmla="*/ 1452895 w 1507545"/>
              <a:gd name="connsiteY5" fmla="*/ 838914 h 1550884"/>
              <a:gd name="connsiteX6" fmla="*/ 813854 w 1507545"/>
              <a:gd name="connsiteY6" fmla="*/ 1477955 h 1550884"/>
              <a:gd name="connsiteX7" fmla="*/ 802723 w 1507545"/>
              <a:gd name="connsiteY7" fmla="*/ 1550884 h 1550884"/>
              <a:gd name="connsiteX8" fmla="*/ 0 w 1507545"/>
              <a:gd name="connsiteY8" fmla="*/ 1550884 h 155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7545" h="1550884">
                <a:moveTo>
                  <a:pt x="0" y="1550884"/>
                </a:moveTo>
                <a:lnTo>
                  <a:pt x="4067" y="1470351"/>
                </a:lnTo>
                <a:cubicBezTo>
                  <a:pt x="82705" y="696005"/>
                  <a:pt x="698310" y="80401"/>
                  <a:pt x="1472656" y="1762"/>
                </a:cubicBezTo>
                <a:lnTo>
                  <a:pt x="1507545" y="0"/>
                </a:lnTo>
                <a:lnTo>
                  <a:pt x="1507545" y="830573"/>
                </a:lnTo>
                <a:lnTo>
                  <a:pt x="1452895" y="838914"/>
                </a:lnTo>
                <a:cubicBezTo>
                  <a:pt x="1132133" y="904551"/>
                  <a:pt x="879491" y="1157194"/>
                  <a:pt x="813854" y="1477955"/>
                </a:cubicBezTo>
                <a:lnTo>
                  <a:pt x="802723" y="1550884"/>
                </a:lnTo>
                <a:lnTo>
                  <a:pt x="0" y="155088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6" name="任意形状 85"/>
          <p:cNvSpPr/>
          <p:nvPr/>
        </p:nvSpPr>
        <p:spPr>
          <a:xfrm rot="5400000">
            <a:off x="4477283" y="2198735"/>
            <a:ext cx="1507353" cy="1547071"/>
          </a:xfrm>
          <a:custGeom>
            <a:avLst/>
            <a:gdLst>
              <a:gd name="connsiteX0" fmla="*/ 0 w 1507353"/>
              <a:gd name="connsiteY0" fmla="*/ 0 h 1547071"/>
              <a:gd name="connsiteX1" fmla="*/ 801826 w 1507353"/>
              <a:gd name="connsiteY1" fmla="*/ 0 h 1547071"/>
              <a:gd name="connsiteX2" fmla="*/ 811671 w 1507353"/>
              <a:gd name="connsiteY2" fmla="*/ 68846 h 1547071"/>
              <a:gd name="connsiteX3" fmla="*/ 1383669 w 1507353"/>
              <a:gd name="connsiteY3" fmla="*/ 700638 h 1547071"/>
              <a:gd name="connsiteX4" fmla="*/ 1507353 w 1507353"/>
              <a:gd name="connsiteY4" fmla="*/ 725067 h 1547071"/>
              <a:gd name="connsiteX5" fmla="*/ 1507353 w 1507353"/>
              <a:gd name="connsiteY5" fmla="*/ 1547071 h 1547071"/>
              <a:gd name="connsiteX6" fmla="*/ 1472464 w 1507353"/>
              <a:gd name="connsiteY6" fmla="*/ 1545309 h 1547071"/>
              <a:gd name="connsiteX7" fmla="*/ 3875 w 1507353"/>
              <a:gd name="connsiteY7" fmla="*/ 76720 h 1547071"/>
              <a:gd name="connsiteX8" fmla="*/ 0 w 1507353"/>
              <a:gd name="connsiteY8" fmla="*/ 0 h 154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7353" h="1547071">
                <a:moveTo>
                  <a:pt x="0" y="0"/>
                </a:moveTo>
                <a:lnTo>
                  <a:pt x="801826" y="0"/>
                </a:lnTo>
                <a:lnTo>
                  <a:pt x="811671" y="68846"/>
                </a:lnTo>
                <a:cubicBezTo>
                  <a:pt x="869541" y="370878"/>
                  <a:pt x="1092860" y="614128"/>
                  <a:pt x="1383669" y="700638"/>
                </a:cubicBezTo>
                <a:lnTo>
                  <a:pt x="1507353" y="725067"/>
                </a:lnTo>
                <a:lnTo>
                  <a:pt x="1507353" y="1547071"/>
                </a:lnTo>
                <a:lnTo>
                  <a:pt x="1472464" y="1545309"/>
                </a:lnTo>
                <a:cubicBezTo>
                  <a:pt x="698118" y="1466670"/>
                  <a:pt x="82513" y="851066"/>
                  <a:pt x="3875" y="76720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任意形状 79"/>
          <p:cNvSpPr/>
          <p:nvPr/>
        </p:nvSpPr>
        <p:spPr>
          <a:xfrm rot="5400000">
            <a:off x="4431338" y="3926808"/>
            <a:ext cx="1594827" cy="1551488"/>
          </a:xfrm>
          <a:custGeom>
            <a:avLst/>
            <a:gdLst>
              <a:gd name="connsiteX0" fmla="*/ 0 w 1594827"/>
              <a:gd name="connsiteY0" fmla="*/ 1551488 h 1551488"/>
              <a:gd name="connsiteX1" fmla="*/ 0 w 1594827"/>
              <a:gd name="connsiteY1" fmla="*/ 731167 h 1551488"/>
              <a:gd name="connsiteX2" fmla="*/ 15629 w 1594827"/>
              <a:gd name="connsiteY2" fmla="*/ 730378 h 1551488"/>
              <a:gd name="connsiteX3" fmla="*/ 738202 w 1594827"/>
              <a:gd name="connsiteY3" fmla="*/ 68846 h 1551488"/>
              <a:gd name="connsiteX4" fmla="*/ 748047 w 1594827"/>
              <a:gd name="connsiteY4" fmla="*/ 0 h 1551488"/>
              <a:gd name="connsiteX5" fmla="*/ 1594827 w 1594827"/>
              <a:gd name="connsiteY5" fmla="*/ 0 h 1551488"/>
              <a:gd name="connsiteX6" fmla="*/ 1590953 w 1594827"/>
              <a:gd name="connsiteY6" fmla="*/ 76720 h 1551488"/>
              <a:gd name="connsiteX7" fmla="*/ 122364 w 1594827"/>
              <a:gd name="connsiteY7" fmla="*/ 1545309 h 1551488"/>
              <a:gd name="connsiteX8" fmla="*/ 0 w 1594827"/>
              <a:gd name="connsiteY8" fmla="*/ 1551488 h 155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4827" h="1551488">
                <a:moveTo>
                  <a:pt x="0" y="1551488"/>
                </a:moveTo>
                <a:lnTo>
                  <a:pt x="0" y="731167"/>
                </a:lnTo>
                <a:lnTo>
                  <a:pt x="15629" y="730378"/>
                </a:lnTo>
                <a:cubicBezTo>
                  <a:pt x="377977" y="693579"/>
                  <a:pt x="670686" y="421217"/>
                  <a:pt x="738202" y="68846"/>
                </a:cubicBezTo>
                <a:lnTo>
                  <a:pt x="748047" y="0"/>
                </a:lnTo>
                <a:lnTo>
                  <a:pt x="1594827" y="0"/>
                </a:lnTo>
                <a:lnTo>
                  <a:pt x="1590953" y="76720"/>
                </a:lnTo>
                <a:cubicBezTo>
                  <a:pt x="1512315" y="851066"/>
                  <a:pt x="896710" y="1466670"/>
                  <a:pt x="122364" y="1545309"/>
                </a:cubicBezTo>
                <a:lnTo>
                  <a:pt x="0" y="155148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任意形状 77"/>
          <p:cNvSpPr/>
          <p:nvPr/>
        </p:nvSpPr>
        <p:spPr>
          <a:xfrm rot="5400000">
            <a:off x="6163829" y="3924998"/>
            <a:ext cx="1595020" cy="1555301"/>
          </a:xfrm>
          <a:custGeom>
            <a:avLst/>
            <a:gdLst>
              <a:gd name="connsiteX0" fmla="*/ 0 w 1595020"/>
              <a:gd name="connsiteY0" fmla="*/ 830098 h 1555301"/>
              <a:gd name="connsiteX1" fmla="*/ 1 w 1595020"/>
              <a:gd name="connsiteY1" fmla="*/ 0 h 1555301"/>
              <a:gd name="connsiteX2" fmla="*/ 122365 w 1595020"/>
              <a:gd name="connsiteY2" fmla="*/ 6179 h 1555301"/>
              <a:gd name="connsiteX3" fmla="*/ 1590953 w 1595020"/>
              <a:gd name="connsiteY3" fmla="*/ 1474768 h 1555301"/>
              <a:gd name="connsiteX4" fmla="*/ 1595020 w 1595020"/>
              <a:gd name="connsiteY4" fmla="*/ 1555301 h 1555301"/>
              <a:gd name="connsiteX5" fmla="*/ 747343 w 1595020"/>
              <a:gd name="connsiteY5" fmla="*/ 1555301 h 1555301"/>
              <a:gd name="connsiteX6" fmla="*/ 736212 w 1595020"/>
              <a:gd name="connsiteY6" fmla="*/ 1482373 h 1555301"/>
              <a:gd name="connsiteX7" fmla="*/ 15630 w 1595020"/>
              <a:gd name="connsiteY7" fmla="*/ 830887 h 1555301"/>
              <a:gd name="connsiteX8" fmla="*/ 0 w 1595020"/>
              <a:gd name="connsiteY8" fmla="*/ 830098 h 1555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5020" h="1555301">
                <a:moveTo>
                  <a:pt x="0" y="830098"/>
                </a:moveTo>
                <a:lnTo>
                  <a:pt x="1" y="0"/>
                </a:lnTo>
                <a:lnTo>
                  <a:pt x="122365" y="6179"/>
                </a:lnTo>
                <a:cubicBezTo>
                  <a:pt x="896711" y="84818"/>
                  <a:pt x="1512315" y="700422"/>
                  <a:pt x="1590953" y="1474768"/>
                </a:cubicBezTo>
                <a:lnTo>
                  <a:pt x="1595020" y="1555301"/>
                </a:lnTo>
                <a:lnTo>
                  <a:pt x="747343" y="1555301"/>
                </a:lnTo>
                <a:lnTo>
                  <a:pt x="736212" y="1482373"/>
                </a:lnTo>
                <a:cubicBezTo>
                  <a:pt x="665105" y="1134882"/>
                  <a:pt x="374527" y="867335"/>
                  <a:pt x="15630" y="830887"/>
                </a:cubicBezTo>
                <a:lnTo>
                  <a:pt x="0" y="8300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183770" y="2760037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916877" y="2760037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互通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183770" y="4450614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安装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916877" y="4450614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02" name="直接连接符 20"/>
          <p:cNvCxnSpPr/>
          <p:nvPr/>
        </p:nvCxnSpPr>
        <p:spPr>
          <a:xfrm>
            <a:off x="9154184" y="2997753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20"/>
          <p:cNvCxnSpPr/>
          <p:nvPr/>
        </p:nvCxnSpPr>
        <p:spPr>
          <a:xfrm>
            <a:off x="9154184" y="4582004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20"/>
          <p:cNvCxnSpPr/>
          <p:nvPr/>
        </p:nvCxnSpPr>
        <p:spPr>
          <a:xfrm>
            <a:off x="903319" y="2997753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20"/>
          <p:cNvCxnSpPr/>
          <p:nvPr/>
        </p:nvCxnSpPr>
        <p:spPr>
          <a:xfrm>
            <a:off x="903319" y="4582004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22638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核心挑战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46931" y="5643208"/>
            <a:ext cx="11270516" cy="460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市场机遇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734488" y="6024788"/>
            <a:ext cx="8683446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预计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2026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年全球市场规模将突破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亿，提前布局标准制定与技术创新者将获得超额红利。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3" name="矩形: 圆顶角 52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/>
        </p:nvSpPr>
        <p:spPr>
          <a:xfrm>
            <a:off x="255814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"/>
          <p:cNvSpPr/>
          <p:nvPr/>
        </p:nvSpPr>
        <p:spPr bwMode="auto">
          <a:xfrm>
            <a:off x="7701747" y="2441510"/>
            <a:ext cx="2349601" cy="815022"/>
          </a:xfrm>
          <a:custGeom>
            <a:avLst/>
            <a:gdLst>
              <a:gd name="T0" fmla="*/ 212 w 3802"/>
              <a:gd name="T1" fmla="*/ 0 h 1318"/>
              <a:gd name="T2" fmla="*/ 165 w 3802"/>
              <a:gd name="T3" fmla="*/ 47 h 1318"/>
              <a:gd name="T4" fmla="*/ 140 w 3802"/>
              <a:gd name="T5" fmla="*/ 72 h 1318"/>
              <a:gd name="T6" fmla="*/ 131 w 3802"/>
              <a:gd name="T7" fmla="*/ 81 h 1318"/>
              <a:gd name="T8" fmla="*/ 129 w 3802"/>
              <a:gd name="T9" fmla="*/ 82 h 1318"/>
              <a:gd name="T10" fmla="*/ 0 w 3802"/>
              <a:gd name="T11" fmla="*/ 215 h 1318"/>
              <a:gd name="T12" fmla="*/ 177 w 3802"/>
              <a:gd name="T13" fmla="*/ 301 h 1318"/>
              <a:gd name="T14" fmla="*/ 271 w 3802"/>
              <a:gd name="T15" fmla="*/ 347 h 1318"/>
              <a:gd name="T16" fmla="*/ 307 w 3802"/>
              <a:gd name="T17" fmla="*/ 364 h 1318"/>
              <a:gd name="T18" fmla="*/ 312 w 3802"/>
              <a:gd name="T19" fmla="*/ 366 h 1318"/>
              <a:gd name="T20" fmla="*/ 387 w 3802"/>
              <a:gd name="T21" fmla="*/ 402 h 1318"/>
              <a:gd name="T22" fmla="*/ 426 w 3802"/>
              <a:gd name="T23" fmla="*/ 421 h 1318"/>
              <a:gd name="T24" fmla="*/ 440 w 3802"/>
              <a:gd name="T25" fmla="*/ 428 h 1318"/>
              <a:gd name="T26" fmla="*/ 442 w 3802"/>
              <a:gd name="T27" fmla="*/ 429 h 1318"/>
              <a:gd name="T28" fmla="*/ 671 w 3802"/>
              <a:gd name="T29" fmla="*/ 452 h 1318"/>
              <a:gd name="T30" fmla="*/ 906 w 3802"/>
              <a:gd name="T31" fmla="*/ 491 h 1318"/>
              <a:gd name="T32" fmla="*/ 1147 w 3802"/>
              <a:gd name="T33" fmla="*/ 547 h 1318"/>
              <a:gd name="T34" fmla="*/ 1395 w 3802"/>
              <a:gd name="T35" fmla="*/ 622 h 1318"/>
              <a:gd name="T36" fmla="*/ 1730 w 3802"/>
              <a:gd name="T37" fmla="*/ 752 h 1318"/>
              <a:gd name="T38" fmla="*/ 2032 w 3802"/>
              <a:gd name="T39" fmla="*/ 909 h 1318"/>
              <a:gd name="T40" fmla="*/ 2294 w 3802"/>
              <a:gd name="T41" fmla="*/ 1090 h 1318"/>
              <a:gd name="T42" fmla="*/ 2504 w 3802"/>
              <a:gd name="T43" fmla="*/ 1290 h 1318"/>
              <a:gd name="T44" fmla="*/ 2565 w 3802"/>
              <a:gd name="T45" fmla="*/ 1249 h 1318"/>
              <a:gd name="T46" fmla="*/ 2596 w 3802"/>
              <a:gd name="T47" fmla="*/ 1229 h 1318"/>
              <a:gd name="T48" fmla="*/ 2607 w 3802"/>
              <a:gd name="T49" fmla="*/ 1221 h 1318"/>
              <a:gd name="T50" fmla="*/ 2609 w 3802"/>
              <a:gd name="T51" fmla="*/ 1220 h 1318"/>
              <a:gd name="T52" fmla="*/ 2745 w 3802"/>
              <a:gd name="T53" fmla="*/ 1130 h 1318"/>
              <a:gd name="T54" fmla="*/ 2813 w 3802"/>
              <a:gd name="T55" fmla="*/ 1086 h 1318"/>
              <a:gd name="T56" fmla="*/ 2838 w 3802"/>
              <a:gd name="T57" fmla="*/ 1070 h 1318"/>
              <a:gd name="T58" fmla="*/ 2841 w 3802"/>
              <a:gd name="T59" fmla="*/ 1067 h 1318"/>
              <a:gd name="T60" fmla="*/ 3172 w 3802"/>
              <a:gd name="T61" fmla="*/ 1154 h 1318"/>
              <a:gd name="T62" fmla="*/ 3347 w 3802"/>
              <a:gd name="T63" fmla="*/ 1200 h 1318"/>
              <a:gd name="T64" fmla="*/ 3412 w 3802"/>
              <a:gd name="T65" fmla="*/ 1217 h 1318"/>
              <a:gd name="T66" fmla="*/ 3421 w 3802"/>
              <a:gd name="T67" fmla="*/ 1220 h 1318"/>
              <a:gd name="T68" fmla="*/ 3639 w 3802"/>
              <a:gd name="T69" fmla="*/ 1276 h 1318"/>
              <a:gd name="T70" fmla="*/ 3753 w 3802"/>
              <a:gd name="T71" fmla="*/ 1306 h 1318"/>
              <a:gd name="T72" fmla="*/ 3796 w 3802"/>
              <a:gd name="T73" fmla="*/ 1317 h 1318"/>
              <a:gd name="T74" fmla="*/ 3802 w 3802"/>
              <a:gd name="T75" fmla="*/ 1318 h 1318"/>
              <a:gd name="T76" fmla="*/ 3351 w 3802"/>
              <a:gd name="T77" fmla="*/ 985 h 1318"/>
              <a:gd name="T78" fmla="*/ 2852 w 3802"/>
              <a:gd name="T79" fmla="*/ 701 h 1318"/>
              <a:gd name="T80" fmla="*/ 2323 w 3802"/>
              <a:gd name="T81" fmla="*/ 466 h 1318"/>
              <a:gd name="T82" fmla="*/ 1775 w 3802"/>
              <a:gd name="T83" fmla="*/ 276 h 1318"/>
              <a:gd name="T84" fmla="*/ 1357 w 3802"/>
              <a:gd name="T85" fmla="*/ 165 h 1318"/>
              <a:gd name="T86" fmla="*/ 959 w 3802"/>
              <a:gd name="T87" fmla="*/ 84 h 1318"/>
              <a:gd name="T88" fmla="*/ 578 w 3802"/>
              <a:gd name="T89" fmla="*/ 30 h 1318"/>
              <a:gd name="T90" fmla="*/ 212 w 3802"/>
              <a:gd name="T91" fmla="*/ 0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802" h="1318">
                <a:moveTo>
                  <a:pt x="212" y="0"/>
                </a:moveTo>
                <a:cubicBezTo>
                  <a:pt x="192" y="20"/>
                  <a:pt x="176" y="36"/>
                  <a:pt x="165" y="47"/>
                </a:cubicBezTo>
                <a:cubicBezTo>
                  <a:pt x="153" y="59"/>
                  <a:pt x="145" y="67"/>
                  <a:pt x="140" y="72"/>
                </a:cubicBezTo>
                <a:cubicBezTo>
                  <a:pt x="135" y="77"/>
                  <a:pt x="132" y="80"/>
                  <a:pt x="131" y="81"/>
                </a:cubicBezTo>
                <a:cubicBezTo>
                  <a:pt x="129" y="82"/>
                  <a:pt x="129" y="82"/>
                  <a:pt x="129" y="82"/>
                </a:cubicBezTo>
                <a:cubicBezTo>
                  <a:pt x="0" y="215"/>
                  <a:pt x="0" y="215"/>
                  <a:pt x="0" y="215"/>
                </a:cubicBezTo>
                <a:cubicBezTo>
                  <a:pt x="76" y="252"/>
                  <a:pt x="133" y="280"/>
                  <a:pt x="177" y="301"/>
                </a:cubicBezTo>
                <a:cubicBezTo>
                  <a:pt x="222" y="323"/>
                  <a:pt x="251" y="337"/>
                  <a:pt x="271" y="347"/>
                </a:cubicBezTo>
                <a:cubicBezTo>
                  <a:pt x="292" y="357"/>
                  <a:pt x="302" y="361"/>
                  <a:pt x="307" y="364"/>
                </a:cubicBezTo>
                <a:cubicBezTo>
                  <a:pt x="312" y="366"/>
                  <a:pt x="312" y="366"/>
                  <a:pt x="312" y="366"/>
                </a:cubicBezTo>
                <a:cubicBezTo>
                  <a:pt x="344" y="382"/>
                  <a:pt x="368" y="394"/>
                  <a:pt x="387" y="402"/>
                </a:cubicBezTo>
                <a:cubicBezTo>
                  <a:pt x="405" y="411"/>
                  <a:pt x="417" y="417"/>
                  <a:pt x="426" y="421"/>
                </a:cubicBezTo>
                <a:cubicBezTo>
                  <a:pt x="434" y="425"/>
                  <a:pt x="438" y="427"/>
                  <a:pt x="440" y="428"/>
                </a:cubicBezTo>
                <a:cubicBezTo>
                  <a:pt x="442" y="429"/>
                  <a:pt x="442" y="429"/>
                  <a:pt x="442" y="429"/>
                </a:cubicBezTo>
                <a:cubicBezTo>
                  <a:pt x="517" y="435"/>
                  <a:pt x="593" y="442"/>
                  <a:pt x="671" y="452"/>
                </a:cubicBezTo>
                <a:cubicBezTo>
                  <a:pt x="748" y="463"/>
                  <a:pt x="827" y="476"/>
                  <a:pt x="906" y="491"/>
                </a:cubicBezTo>
                <a:cubicBezTo>
                  <a:pt x="986" y="507"/>
                  <a:pt x="1066" y="525"/>
                  <a:pt x="1147" y="547"/>
                </a:cubicBezTo>
                <a:cubicBezTo>
                  <a:pt x="1229" y="569"/>
                  <a:pt x="1312" y="594"/>
                  <a:pt x="1395" y="622"/>
                </a:cubicBezTo>
                <a:cubicBezTo>
                  <a:pt x="1513" y="661"/>
                  <a:pt x="1625" y="705"/>
                  <a:pt x="1730" y="752"/>
                </a:cubicBezTo>
                <a:cubicBezTo>
                  <a:pt x="1838" y="801"/>
                  <a:pt x="1939" y="854"/>
                  <a:pt x="2032" y="909"/>
                </a:cubicBezTo>
                <a:cubicBezTo>
                  <a:pt x="2128" y="967"/>
                  <a:pt x="2216" y="1027"/>
                  <a:pt x="2294" y="1090"/>
                </a:cubicBezTo>
                <a:cubicBezTo>
                  <a:pt x="2375" y="1155"/>
                  <a:pt x="2445" y="1222"/>
                  <a:pt x="2504" y="1290"/>
                </a:cubicBezTo>
                <a:cubicBezTo>
                  <a:pt x="2531" y="1272"/>
                  <a:pt x="2550" y="1259"/>
                  <a:pt x="2565" y="1249"/>
                </a:cubicBezTo>
                <a:cubicBezTo>
                  <a:pt x="2580" y="1239"/>
                  <a:pt x="2589" y="1233"/>
                  <a:pt x="2596" y="1229"/>
                </a:cubicBezTo>
                <a:cubicBezTo>
                  <a:pt x="2602" y="1224"/>
                  <a:pt x="2606" y="1222"/>
                  <a:pt x="2607" y="1221"/>
                </a:cubicBezTo>
                <a:cubicBezTo>
                  <a:pt x="2609" y="1220"/>
                  <a:pt x="2609" y="1220"/>
                  <a:pt x="2609" y="1220"/>
                </a:cubicBezTo>
                <a:cubicBezTo>
                  <a:pt x="2668" y="1181"/>
                  <a:pt x="2712" y="1152"/>
                  <a:pt x="2745" y="1130"/>
                </a:cubicBezTo>
                <a:cubicBezTo>
                  <a:pt x="2777" y="1109"/>
                  <a:pt x="2799" y="1095"/>
                  <a:pt x="2813" y="1086"/>
                </a:cubicBezTo>
                <a:cubicBezTo>
                  <a:pt x="2827" y="1076"/>
                  <a:pt x="2834" y="1072"/>
                  <a:pt x="2838" y="1070"/>
                </a:cubicBezTo>
                <a:cubicBezTo>
                  <a:pt x="2841" y="1067"/>
                  <a:pt x="2841" y="1067"/>
                  <a:pt x="2841" y="1067"/>
                </a:cubicBezTo>
                <a:cubicBezTo>
                  <a:pt x="2983" y="1104"/>
                  <a:pt x="3090" y="1133"/>
                  <a:pt x="3172" y="1154"/>
                </a:cubicBezTo>
                <a:cubicBezTo>
                  <a:pt x="3254" y="1176"/>
                  <a:pt x="3310" y="1190"/>
                  <a:pt x="3347" y="1200"/>
                </a:cubicBezTo>
                <a:cubicBezTo>
                  <a:pt x="3384" y="1210"/>
                  <a:pt x="3403" y="1215"/>
                  <a:pt x="3412" y="1217"/>
                </a:cubicBezTo>
                <a:cubicBezTo>
                  <a:pt x="3421" y="1220"/>
                  <a:pt x="3421" y="1220"/>
                  <a:pt x="3421" y="1220"/>
                </a:cubicBezTo>
                <a:cubicBezTo>
                  <a:pt x="3515" y="1244"/>
                  <a:pt x="3586" y="1262"/>
                  <a:pt x="3639" y="1276"/>
                </a:cubicBezTo>
                <a:cubicBezTo>
                  <a:pt x="3693" y="1290"/>
                  <a:pt x="3729" y="1299"/>
                  <a:pt x="3753" y="1306"/>
                </a:cubicBezTo>
                <a:cubicBezTo>
                  <a:pt x="3778" y="1312"/>
                  <a:pt x="3790" y="1315"/>
                  <a:pt x="3796" y="1317"/>
                </a:cubicBezTo>
                <a:cubicBezTo>
                  <a:pt x="3802" y="1318"/>
                  <a:pt x="3802" y="1318"/>
                  <a:pt x="3802" y="1318"/>
                </a:cubicBezTo>
                <a:cubicBezTo>
                  <a:pt x="3666" y="1202"/>
                  <a:pt x="3514" y="1090"/>
                  <a:pt x="3351" y="985"/>
                </a:cubicBezTo>
                <a:cubicBezTo>
                  <a:pt x="3194" y="884"/>
                  <a:pt x="3027" y="789"/>
                  <a:pt x="2852" y="701"/>
                </a:cubicBezTo>
                <a:cubicBezTo>
                  <a:pt x="2683" y="616"/>
                  <a:pt x="2506" y="538"/>
                  <a:pt x="2323" y="466"/>
                </a:cubicBezTo>
                <a:cubicBezTo>
                  <a:pt x="2147" y="396"/>
                  <a:pt x="1963" y="332"/>
                  <a:pt x="1775" y="276"/>
                </a:cubicBezTo>
                <a:cubicBezTo>
                  <a:pt x="1634" y="234"/>
                  <a:pt x="1494" y="197"/>
                  <a:pt x="1357" y="165"/>
                </a:cubicBezTo>
                <a:cubicBezTo>
                  <a:pt x="1222" y="133"/>
                  <a:pt x="1089" y="106"/>
                  <a:pt x="959" y="84"/>
                </a:cubicBezTo>
                <a:cubicBezTo>
                  <a:pt x="830" y="62"/>
                  <a:pt x="702" y="44"/>
                  <a:pt x="578" y="30"/>
                </a:cubicBezTo>
                <a:cubicBezTo>
                  <a:pt x="454" y="16"/>
                  <a:pt x="332" y="6"/>
                  <a:pt x="212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  <a:round/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Freeform 6"/>
          <p:cNvSpPr/>
          <p:nvPr/>
        </p:nvSpPr>
        <p:spPr bwMode="auto">
          <a:xfrm>
            <a:off x="2348121" y="2437849"/>
            <a:ext cx="2572712" cy="810576"/>
          </a:xfrm>
          <a:custGeom>
            <a:avLst/>
            <a:gdLst>
              <a:gd name="T0" fmla="*/ 3840 w 4163"/>
              <a:gd name="T1" fmla="*/ 0 h 1311"/>
              <a:gd name="T2" fmla="*/ 3419 w 4163"/>
              <a:gd name="T3" fmla="*/ 17 h 1311"/>
              <a:gd name="T4" fmla="*/ 2975 w 4163"/>
              <a:gd name="T5" fmla="*/ 66 h 1311"/>
              <a:gd name="T6" fmla="*/ 2506 w 4163"/>
              <a:gd name="T7" fmla="*/ 153 h 1311"/>
              <a:gd name="T8" fmla="*/ 2010 w 4163"/>
              <a:gd name="T9" fmla="*/ 282 h 1311"/>
              <a:gd name="T10" fmla="*/ 1465 w 4163"/>
              <a:gd name="T11" fmla="*/ 470 h 1311"/>
              <a:gd name="T12" fmla="*/ 942 w 4163"/>
              <a:gd name="T13" fmla="*/ 703 h 1311"/>
              <a:gd name="T14" fmla="*/ 448 w 4163"/>
              <a:gd name="T15" fmla="*/ 983 h 1311"/>
              <a:gd name="T16" fmla="*/ 0 w 4163"/>
              <a:gd name="T17" fmla="*/ 1311 h 1311"/>
              <a:gd name="T18" fmla="*/ 192 w 4163"/>
              <a:gd name="T19" fmla="*/ 1261 h 1311"/>
              <a:gd name="T20" fmla="*/ 290 w 4163"/>
              <a:gd name="T21" fmla="*/ 1236 h 1311"/>
              <a:gd name="T22" fmla="*/ 325 w 4163"/>
              <a:gd name="T23" fmla="*/ 1227 h 1311"/>
              <a:gd name="T24" fmla="*/ 330 w 4163"/>
              <a:gd name="T25" fmla="*/ 1225 h 1311"/>
              <a:gd name="T26" fmla="*/ 911 w 4163"/>
              <a:gd name="T27" fmla="*/ 1073 h 1311"/>
              <a:gd name="T28" fmla="*/ 1043 w 4163"/>
              <a:gd name="T29" fmla="*/ 1160 h 1311"/>
              <a:gd name="T30" fmla="*/ 1113 w 4163"/>
              <a:gd name="T31" fmla="*/ 1206 h 1311"/>
              <a:gd name="T32" fmla="*/ 1139 w 4163"/>
              <a:gd name="T33" fmla="*/ 1223 h 1311"/>
              <a:gd name="T34" fmla="*/ 1143 w 4163"/>
              <a:gd name="T35" fmla="*/ 1225 h 1311"/>
              <a:gd name="T36" fmla="*/ 1215 w 4163"/>
              <a:gd name="T37" fmla="*/ 1272 h 1311"/>
              <a:gd name="T38" fmla="*/ 1253 w 4163"/>
              <a:gd name="T39" fmla="*/ 1297 h 1311"/>
              <a:gd name="T40" fmla="*/ 1267 w 4163"/>
              <a:gd name="T41" fmla="*/ 1306 h 1311"/>
              <a:gd name="T42" fmla="*/ 1269 w 4163"/>
              <a:gd name="T43" fmla="*/ 1307 h 1311"/>
              <a:gd name="T44" fmla="*/ 1479 w 4163"/>
              <a:gd name="T45" fmla="*/ 1104 h 1311"/>
              <a:gd name="T46" fmla="*/ 1743 w 4163"/>
              <a:gd name="T47" fmla="*/ 920 h 1311"/>
              <a:gd name="T48" fmla="*/ 2049 w 4163"/>
              <a:gd name="T49" fmla="*/ 761 h 1311"/>
              <a:gd name="T50" fmla="*/ 2390 w 4163"/>
              <a:gd name="T51" fmla="*/ 628 h 1311"/>
              <a:gd name="T52" fmla="*/ 2695 w 4163"/>
              <a:gd name="T53" fmla="*/ 538 h 1311"/>
              <a:gd name="T54" fmla="*/ 2990 w 4163"/>
              <a:gd name="T55" fmla="*/ 477 h 1311"/>
              <a:gd name="T56" fmla="*/ 3274 w 4163"/>
              <a:gd name="T57" fmla="*/ 442 h 1311"/>
              <a:gd name="T58" fmla="*/ 3545 w 4163"/>
              <a:gd name="T59" fmla="*/ 430 h 1311"/>
              <a:gd name="T60" fmla="*/ 3578 w 4163"/>
              <a:gd name="T61" fmla="*/ 430 h 1311"/>
              <a:gd name="T62" fmla="*/ 3610 w 4163"/>
              <a:gd name="T63" fmla="*/ 430 h 1311"/>
              <a:gd name="T64" fmla="*/ 3640 w 4163"/>
              <a:gd name="T65" fmla="*/ 430 h 1311"/>
              <a:gd name="T66" fmla="*/ 3670 w 4163"/>
              <a:gd name="T67" fmla="*/ 430 h 1311"/>
              <a:gd name="T68" fmla="*/ 3740 w 4163"/>
              <a:gd name="T69" fmla="*/ 409 h 1311"/>
              <a:gd name="T70" fmla="*/ 3775 w 4163"/>
              <a:gd name="T71" fmla="*/ 398 h 1311"/>
              <a:gd name="T72" fmla="*/ 3788 w 4163"/>
              <a:gd name="T73" fmla="*/ 394 h 1311"/>
              <a:gd name="T74" fmla="*/ 3790 w 4163"/>
              <a:gd name="T75" fmla="*/ 393 h 1311"/>
              <a:gd name="T76" fmla="*/ 4008 w 4163"/>
              <a:gd name="T77" fmla="*/ 325 h 1311"/>
              <a:gd name="T78" fmla="*/ 4117 w 4163"/>
              <a:gd name="T79" fmla="*/ 291 h 1311"/>
              <a:gd name="T80" fmla="*/ 4157 w 4163"/>
              <a:gd name="T81" fmla="*/ 279 h 1311"/>
              <a:gd name="T82" fmla="*/ 4163 w 4163"/>
              <a:gd name="T83" fmla="*/ 277 h 1311"/>
              <a:gd name="T84" fmla="*/ 4147 w 4163"/>
              <a:gd name="T85" fmla="*/ 183 h 1311"/>
              <a:gd name="T86" fmla="*/ 4139 w 4163"/>
              <a:gd name="T87" fmla="*/ 137 h 1311"/>
              <a:gd name="T88" fmla="*/ 4136 w 4163"/>
              <a:gd name="T89" fmla="*/ 120 h 1311"/>
              <a:gd name="T90" fmla="*/ 4135 w 4163"/>
              <a:gd name="T91" fmla="*/ 118 h 1311"/>
              <a:gd name="T92" fmla="*/ 4123 w 4163"/>
              <a:gd name="T93" fmla="*/ 53 h 1311"/>
              <a:gd name="T94" fmla="*/ 4117 w 4163"/>
              <a:gd name="T95" fmla="*/ 20 h 1311"/>
              <a:gd name="T96" fmla="*/ 4114 w 4163"/>
              <a:gd name="T97" fmla="*/ 8 h 1311"/>
              <a:gd name="T98" fmla="*/ 4114 w 4163"/>
              <a:gd name="T99" fmla="*/ 7 h 1311"/>
              <a:gd name="T100" fmla="*/ 4047 w 4163"/>
              <a:gd name="T101" fmla="*/ 4 h 1311"/>
              <a:gd name="T102" fmla="*/ 3980 w 4163"/>
              <a:gd name="T103" fmla="*/ 2 h 1311"/>
              <a:gd name="T104" fmla="*/ 3911 w 4163"/>
              <a:gd name="T105" fmla="*/ 1 h 1311"/>
              <a:gd name="T106" fmla="*/ 3840 w 4163"/>
              <a:gd name="T107" fmla="*/ 0 h 1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163" h="1311">
                <a:moveTo>
                  <a:pt x="3840" y="0"/>
                </a:moveTo>
                <a:cubicBezTo>
                  <a:pt x="3704" y="0"/>
                  <a:pt x="3563" y="6"/>
                  <a:pt x="3419" y="17"/>
                </a:cubicBezTo>
                <a:cubicBezTo>
                  <a:pt x="3275" y="28"/>
                  <a:pt x="3126" y="44"/>
                  <a:pt x="2975" y="66"/>
                </a:cubicBezTo>
                <a:cubicBezTo>
                  <a:pt x="2822" y="89"/>
                  <a:pt x="2665" y="118"/>
                  <a:pt x="2506" y="153"/>
                </a:cubicBezTo>
                <a:cubicBezTo>
                  <a:pt x="2344" y="189"/>
                  <a:pt x="2178" y="232"/>
                  <a:pt x="2010" y="282"/>
                </a:cubicBezTo>
                <a:cubicBezTo>
                  <a:pt x="1822" y="338"/>
                  <a:pt x="1640" y="401"/>
                  <a:pt x="1465" y="470"/>
                </a:cubicBezTo>
                <a:cubicBezTo>
                  <a:pt x="1284" y="541"/>
                  <a:pt x="1109" y="619"/>
                  <a:pt x="942" y="703"/>
                </a:cubicBezTo>
                <a:cubicBezTo>
                  <a:pt x="768" y="790"/>
                  <a:pt x="603" y="884"/>
                  <a:pt x="448" y="983"/>
                </a:cubicBezTo>
                <a:cubicBezTo>
                  <a:pt x="286" y="1087"/>
                  <a:pt x="136" y="1197"/>
                  <a:pt x="0" y="1311"/>
                </a:cubicBezTo>
                <a:cubicBezTo>
                  <a:pt x="84" y="1289"/>
                  <a:pt x="146" y="1273"/>
                  <a:pt x="192" y="1261"/>
                </a:cubicBezTo>
                <a:cubicBezTo>
                  <a:pt x="239" y="1249"/>
                  <a:pt x="269" y="1241"/>
                  <a:pt x="290" y="1236"/>
                </a:cubicBezTo>
                <a:cubicBezTo>
                  <a:pt x="310" y="1231"/>
                  <a:pt x="320" y="1228"/>
                  <a:pt x="325" y="1227"/>
                </a:cubicBezTo>
                <a:cubicBezTo>
                  <a:pt x="330" y="1225"/>
                  <a:pt x="330" y="1225"/>
                  <a:pt x="330" y="1225"/>
                </a:cubicBezTo>
                <a:cubicBezTo>
                  <a:pt x="911" y="1073"/>
                  <a:pt x="911" y="1073"/>
                  <a:pt x="911" y="1073"/>
                </a:cubicBezTo>
                <a:cubicBezTo>
                  <a:pt x="968" y="1110"/>
                  <a:pt x="1011" y="1138"/>
                  <a:pt x="1043" y="1160"/>
                </a:cubicBezTo>
                <a:cubicBezTo>
                  <a:pt x="1076" y="1181"/>
                  <a:pt x="1098" y="1196"/>
                  <a:pt x="1113" y="1206"/>
                </a:cubicBezTo>
                <a:cubicBezTo>
                  <a:pt x="1128" y="1215"/>
                  <a:pt x="1135" y="1220"/>
                  <a:pt x="1139" y="1223"/>
                </a:cubicBezTo>
                <a:cubicBezTo>
                  <a:pt x="1143" y="1225"/>
                  <a:pt x="1143" y="1225"/>
                  <a:pt x="1143" y="1225"/>
                </a:cubicBezTo>
                <a:cubicBezTo>
                  <a:pt x="1174" y="1245"/>
                  <a:pt x="1198" y="1261"/>
                  <a:pt x="1215" y="1272"/>
                </a:cubicBezTo>
                <a:cubicBezTo>
                  <a:pt x="1233" y="1284"/>
                  <a:pt x="1245" y="1292"/>
                  <a:pt x="1253" y="1297"/>
                </a:cubicBezTo>
                <a:cubicBezTo>
                  <a:pt x="1261" y="1302"/>
                  <a:pt x="1265" y="1305"/>
                  <a:pt x="1267" y="1306"/>
                </a:cubicBezTo>
                <a:cubicBezTo>
                  <a:pt x="1269" y="1307"/>
                  <a:pt x="1269" y="1307"/>
                  <a:pt x="1269" y="1307"/>
                </a:cubicBezTo>
                <a:cubicBezTo>
                  <a:pt x="1328" y="1238"/>
                  <a:pt x="1398" y="1169"/>
                  <a:pt x="1479" y="1104"/>
                </a:cubicBezTo>
                <a:cubicBezTo>
                  <a:pt x="1558" y="1040"/>
                  <a:pt x="1646" y="978"/>
                  <a:pt x="1743" y="920"/>
                </a:cubicBezTo>
                <a:cubicBezTo>
                  <a:pt x="1837" y="864"/>
                  <a:pt x="1940" y="810"/>
                  <a:pt x="2049" y="761"/>
                </a:cubicBezTo>
                <a:cubicBezTo>
                  <a:pt x="2156" y="712"/>
                  <a:pt x="2270" y="668"/>
                  <a:pt x="2390" y="628"/>
                </a:cubicBezTo>
                <a:cubicBezTo>
                  <a:pt x="2492" y="593"/>
                  <a:pt x="2594" y="563"/>
                  <a:pt x="2695" y="538"/>
                </a:cubicBezTo>
                <a:cubicBezTo>
                  <a:pt x="2794" y="513"/>
                  <a:pt x="2893" y="493"/>
                  <a:pt x="2990" y="477"/>
                </a:cubicBezTo>
                <a:cubicBezTo>
                  <a:pt x="3086" y="461"/>
                  <a:pt x="3181" y="449"/>
                  <a:pt x="3274" y="442"/>
                </a:cubicBezTo>
                <a:cubicBezTo>
                  <a:pt x="3367" y="434"/>
                  <a:pt x="3457" y="430"/>
                  <a:pt x="3545" y="430"/>
                </a:cubicBezTo>
                <a:cubicBezTo>
                  <a:pt x="3557" y="430"/>
                  <a:pt x="3568" y="430"/>
                  <a:pt x="3578" y="430"/>
                </a:cubicBezTo>
                <a:cubicBezTo>
                  <a:pt x="3589" y="430"/>
                  <a:pt x="3600" y="430"/>
                  <a:pt x="3610" y="430"/>
                </a:cubicBezTo>
                <a:cubicBezTo>
                  <a:pt x="3620" y="430"/>
                  <a:pt x="3630" y="430"/>
                  <a:pt x="3640" y="430"/>
                </a:cubicBezTo>
                <a:cubicBezTo>
                  <a:pt x="3650" y="430"/>
                  <a:pt x="3660" y="430"/>
                  <a:pt x="3670" y="430"/>
                </a:cubicBezTo>
                <a:cubicBezTo>
                  <a:pt x="3700" y="421"/>
                  <a:pt x="3723" y="414"/>
                  <a:pt x="3740" y="409"/>
                </a:cubicBezTo>
                <a:cubicBezTo>
                  <a:pt x="3756" y="404"/>
                  <a:pt x="3767" y="400"/>
                  <a:pt x="3775" y="398"/>
                </a:cubicBezTo>
                <a:cubicBezTo>
                  <a:pt x="3782" y="396"/>
                  <a:pt x="3786" y="394"/>
                  <a:pt x="3788" y="394"/>
                </a:cubicBezTo>
                <a:cubicBezTo>
                  <a:pt x="3790" y="393"/>
                  <a:pt x="3790" y="393"/>
                  <a:pt x="3790" y="393"/>
                </a:cubicBezTo>
                <a:cubicBezTo>
                  <a:pt x="3885" y="364"/>
                  <a:pt x="3956" y="342"/>
                  <a:pt x="4008" y="325"/>
                </a:cubicBezTo>
                <a:cubicBezTo>
                  <a:pt x="4060" y="309"/>
                  <a:pt x="4094" y="298"/>
                  <a:pt x="4117" y="291"/>
                </a:cubicBezTo>
                <a:cubicBezTo>
                  <a:pt x="4140" y="284"/>
                  <a:pt x="4151" y="281"/>
                  <a:pt x="4157" y="279"/>
                </a:cubicBezTo>
                <a:cubicBezTo>
                  <a:pt x="4163" y="277"/>
                  <a:pt x="4163" y="277"/>
                  <a:pt x="4163" y="277"/>
                </a:cubicBezTo>
                <a:cubicBezTo>
                  <a:pt x="4156" y="236"/>
                  <a:pt x="4150" y="206"/>
                  <a:pt x="4147" y="183"/>
                </a:cubicBezTo>
                <a:cubicBezTo>
                  <a:pt x="4143" y="161"/>
                  <a:pt x="4140" y="147"/>
                  <a:pt x="4139" y="137"/>
                </a:cubicBezTo>
                <a:cubicBezTo>
                  <a:pt x="4137" y="127"/>
                  <a:pt x="4136" y="122"/>
                  <a:pt x="4136" y="120"/>
                </a:cubicBezTo>
                <a:cubicBezTo>
                  <a:pt x="4135" y="118"/>
                  <a:pt x="4135" y="118"/>
                  <a:pt x="4135" y="118"/>
                </a:cubicBezTo>
                <a:cubicBezTo>
                  <a:pt x="4130" y="89"/>
                  <a:pt x="4126" y="68"/>
                  <a:pt x="4123" y="53"/>
                </a:cubicBezTo>
                <a:cubicBezTo>
                  <a:pt x="4120" y="37"/>
                  <a:pt x="4118" y="27"/>
                  <a:pt x="4117" y="20"/>
                </a:cubicBezTo>
                <a:cubicBezTo>
                  <a:pt x="4115" y="13"/>
                  <a:pt x="4115" y="10"/>
                  <a:pt x="4114" y="8"/>
                </a:cubicBezTo>
                <a:cubicBezTo>
                  <a:pt x="4114" y="7"/>
                  <a:pt x="4114" y="7"/>
                  <a:pt x="4114" y="7"/>
                </a:cubicBezTo>
                <a:cubicBezTo>
                  <a:pt x="4092" y="6"/>
                  <a:pt x="4070" y="5"/>
                  <a:pt x="4047" y="4"/>
                </a:cubicBezTo>
                <a:cubicBezTo>
                  <a:pt x="4025" y="3"/>
                  <a:pt x="4003" y="2"/>
                  <a:pt x="3980" y="2"/>
                </a:cubicBezTo>
                <a:cubicBezTo>
                  <a:pt x="3957" y="1"/>
                  <a:pt x="3934" y="1"/>
                  <a:pt x="3911" y="1"/>
                </a:cubicBezTo>
                <a:cubicBezTo>
                  <a:pt x="3888" y="1"/>
                  <a:pt x="3864" y="0"/>
                  <a:pt x="3840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Freeform 7"/>
          <p:cNvSpPr/>
          <p:nvPr/>
        </p:nvSpPr>
        <p:spPr bwMode="auto">
          <a:xfrm>
            <a:off x="6268657" y="3224360"/>
            <a:ext cx="2926866" cy="1482787"/>
          </a:xfrm>
          <a:custGeom>
            <a:avLst/>
            <a:gdLst>
              <a:gd name="T0" fmla="*/ 897 w 4736"/>
              <a:gd name="T1" fmla="*/ 0 h 2398"/>
              <a:gd name="T2" fmla="*/ 874 w 4736"/>
              <a:gd name="T3" fmla="*/ 102 h 2398"/>
              <a:gd name="T4" fmla="*/ 862 w 4736"/>
              <a:gd name="T5" fmla="*/ 156 h 2398"/>
              <a:gd name="T6" fmla="*/ 858 w 4736"/>
              <a:gd name="T7" fmla="*/ 176 h 2398"/>
              <a:gd name="T8" fmla="*/ 857 w 4736"/>
              <a:gd name="T9" fmla="*/ 179 h 2398"/>
              <a:gd name="T10" fmla="*/ 811 w 4736"/>
              <a:gd name="T11" fmla="*/ 356 h 2398"/>
              <a:gd name="T12" fmla="*/ 786 w 4736"/>
              <a:gd name="T13" fmla="*/ 452 h 2398"/>
              <a:gd name="T14" fmla="*/ 776 w 4736"/>
              <a:gd name="T15" fmla="*/ 488 h 2398"/>
              <a:gd name="T16" fmla="*/ 775 w 4736"/>
              <a:gd name="T17" fmla="*/ 494 h 2398"/>
              <a:gd name="T18" fmla="*/ 465 w 4736"/>
              <a:gd name="T19" fmla="*/ 516 h 2398"/>
              <a:gd name="T20" fmla="*/ 305 w 4736"/>
              <a:gd name="T21" fmla="*/ 527 h 2398"/>
              <a:gd name="T22" fmla="*/ 246 w 4736"/>
              <a:gd name="T23" fmla="*/ 531 h 2398"/>
              <a:gd name="T24" fmla="*/ 237 w 4736"/>
              <a:gd name="T25" fmla="*/ 532 h 2398"/>
              <a:gd name="T26" fmla="*/ 100 w 4736"/>
              <a:gd name="T27" fmla="*/ 543 h 2398"/>
              <a:gd name="T28" fmla="*/ 30 w 4736"/>
              <a:gd name="T29" fmla="*/ 549 h 2398"/>
              <a:gd name="T30" fmla="*/ 4 w 4736"/>
              <a:gd name="T31" fmla="*/ 551 h 2398"/>
              <a:gd name="T32" fmla="*/ 0 w 4736"/>
              <a:gd name="T33" fmla="*/ 552 h 2398"/>
              <a:gd name="T34" fmla="*/ 767 w 4736"/>
              <a:gd name="T35" fmla="*/ 1029 h 2398"/>
              <a:gd name="T36" fmla="*/ 1217 w 4736"/>
              <a:gd name="T37" fmla="*/ 1310 h 2398"/>
              <a:gd name="T38" fmla="*/ 1394 w 4736"/>
              <a:gd name="T39" fmla="*/ 1420 h 2398"/>
              <a:gd name="T40" fmla="*/ 1420 w 4736"/>
              <a:gd name="T41" fmla="*/ 1436 h 2398"/>
              <a:gd name="T42" fmla="*/ 2132 w 4736"/>
              <a:gd name="T43" fmla="*/ 1813 h 2398"/>
              <a:gd name="T44" fmla="*/ 2951 w 4736"/>
              <a:gd name="T45" fmla="*/ 2117 h 2398"/>
              <a:gd name="T46" fmla="*/ 3825 w 4736"/>
              <a:gd name="T47" fmla="*/ 2319 h 2398"/>
              <a:gd name="T48" fmla="*/ 4689 w 4736"/>
              <a:gd name="T49" fmla="*/ 2398 h 2398"/>
              <a:gd name="T50" fmla="*/ 4702 w 4736"/>
              <a:gd name="T51" fmla="*/ 2193 h 2398"/>
              <a:gd name="T52" fmla="*/ 4709 w 4736"/>
              <a:gd name="T53" fmla="*/ 2092 h 2398"/>
              <a:gd name="T54" fmla="*/ 4711 w 4736"/>
              <a:gd name="T55" fmla="*/ 2056 h 2398"/>
              <a:gd name="T56" fmla="*/ 4712 w 4736"/>
              <a:gd name="T57" fmla="*/ 2051 h 2398"/>
              <a:gd name="T58" fmla="*/ 4736 w 4736"/>
              <a:gd name="T59" fmla="*/ 1593 h 2398"/>
              <a:gd name="T60" fmla="*/ 4342 w 4736"/>
              <a:gd name="T61" fmla="*/ 1367 h 2398"/>
              <a:gd name="T62" fmla="*/ 4151 w 4736"/>
              <a:gd name="T63" fmla="*/ 1257 h 2398"/>
              <a:gd name="T64" fmla="*/ 4082 w 4736"/>
              <a:gd name="T65" fmla="*/ 1217 h 2398"/>
              <a:gd name="T66" fmla="*/ 4072 w 4736"/>
              <a:gd name="T67" fmla="*/ 1211 h 2398"/>
              <a:gd name="T68" fmla="*/ 3938 w 4736"/>
              <a:gd name="T69" fmla="*/ 1134 h 2398"/>
              <a:gd name="T70" fmla="*/ 3871 w 4736"/>
              <a:gd name="T71" fmla="*/ 1095 h 2398"/>
              <a:gd name="T72" fmla="*/ 3847 w 4736"/>
              <a:gd name="T73" fmla="*/ 1081 h 2398"/>
              <a:gd name="T74" fmla="*/ 3843 w 4736"/>
              <a:gd name="T75" fmla="*/ 1078 h 2398"/>
              <a:gd name="T76" fmla="*/ 3440 w 4736"/>
              <a:gd name="T77" fmla="*/ 1049 h 2398"/>
              <a:gd name="T78" fmla="*/ 3026 w 4736"/>
              <a:gd name="T79" fmla="*/ 970 h 2398"/>
              <a:gd name="T80" fmla="*/ 2623 w 4736"/>
              <a:gd name="T81" fmla="*/ 848 h 2398"/>
              <a:gd name="T82" fmla="*/ 2251 w 4736"/>
              <a:gd name="T83" fmla="*/ 687 h 2398"/>
              <a:gd name="T84" fmla="*/ 1424 w 4736"/>
              <a:gd name="T85" fmla="*/ 267 h 2398"/>
              <a:gd name="T86" fmla="*/ 1047 w 4736"/>
              <a:gd name="T87" fmla="*/ 76 h 2398"/>
              <a:gd name="T88" fmla="*/ 916 w 4736"/>
              <a:gd name="T89" fmla="*/ 9 h 2398"/>
              <a:gd name="T90" fmla="*/ 897 w 4736"/>
              <a:gd name="T91" fmla="*/ 0 h 2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736" h="2398">
                <a:moveTo>
                  <a:pt x="897" y="0"/>
                </a:moveTo>
                <a:cubicBezTo>
                  <a:pt x="887" y="43"/>
                  <a:pt x="880" y="76"/>
                  <a:pt x="874" y="102"/>
                </a:cubicBezTo>
                <a:cubicBezTo>
                  <a:pt x="868" y="127"/>
                  <a:pt x="865" y="144"/>
                  <a:pt x="862" y="156"/>
                </a:cubicBezTo>
                <a:cubicBezTo>
                  <a:pt x="859" y="167"/>
                  <a:pt x="858" y="173"/>
                  <a:pt x="858" y="176"/>
                </a:cubicBezTo>
                <a:cubicBezTo>
                  <a:pt x="857" y="179"/>
                  <a:pt x="857" y="179"/>
                  <a:pt x="857" y="179"/>
                </a:cubicBezTo>
                <a:cubicBezTo>
                  <a:pt x="837" y="254"/>
                  <a:pt x="822" y="312"/>
                  <a:pt x="811" y="356"/>
                </a:cubicBezTo>
                <a:cubicBezTo>
                  <a:pt x="799" y="401"/>
                  <a:pt x="791" y="432"/>
                  <a:pt x="786" y="452"/>
                </a:cubicBezTo>
                <a:cubicBezTo>
                  <a:pt x="780" y="473"/>
                  <a:pt x="777" y="483"/>
                  <a:pt x="776" y="488"/>
                </a:cubicBezTo>
                <a:cubicBezTo>
                  <a:pt x="775" y="494"/>
                  <a:pt x="775" y="494"/>
                  <a:pt x="775" y="494"/>
                </a:cubicBezTo>
                <a:cubicBezTo>
                  <a:pt x="641" y="503"/>
                  <a:pt x="540" y="510"/>
                  <a:pt x="465" y="516"/>
                </a:cubicBezTo>
                <a:cubicBezTo>
                  <a:pt x="389" y="521"/>
                  <a:pt x="338" y="525"/>
                  <a:pt x="305" y="527"/>
                </a:cubicBezTo>
                <a:cubicBezTo>
                  <a:pt x="271" y="530"/>
                  <a:pt x="254" y="531"/>
                  <a:pt x="246" y="531"/>
                </a:cubicBezTo>
                <a:cubicBezTo>
                  <a:pt x="237" y="532"/>
                  <a:pt x="237" y="532"/>
                  <a:pt x="237" y="532"/>
                </a:cubicBezTo>
                <a:cubicBezTo>
                  <a:pt x="178" y="537"/>
                  <a:pt x="134" y="541"/>
                  <a:pt x="100" y="543"/>
                </a:cubicBezTo>
                <a:cubicBezTo>
                  <a:pt x="67" y="546"/>
                  <a:pt x="45" y="548"/>
                  <a:pt x="30" y="549"/>
                </a:cubicBezTo>
                <a:cubicBezTo>
                  <a:pt x="15" y="550"/>
                  <a:pt x="7" y="551"/>
                  <a:pt x="4" y="551"/>
                </a:cubicBezTo>
                <a:cubicBezTo>
                  <a:pt x="0" y="552"/>
                  <a:pt x="0" y="552"/>
                  <a:pt x="0" y="552"/>
                </a:cubicBezTo>
                <a:cubicBezTo>
                  <a:pt x="315" y="748"/>
                  <a:pt x="568" y="905"/>
                  <a:pt x="767" y="1029"/>
                </a:cubicBezTo>
                <a:cubicBezTo>
                  <a:pt x="975" y="1159"/>
                  <a:pt x="1119" y="1248"/>
                  <a:pt x="1217" y="1310"/>
                </a:cubicBezTo>
                <a:cubicBezTo>
                  <a:pt x="1318" y="1372"/>
                  <a:pt x="1369" y="1404"/>
                  <a:pt x="1394" y="1420"/>
                </a:cubicBezTo>
                <a:cubicBezTo>
                  <a:pt x="1420" y="1436"/>
                  <a:pt x="1420" y="1436"/>
                  <a:pt x="1420" y="1436"/>
                </a:cubicBezTo>
                <a:cubicBezTo>
                  <a:pt x="1640" y="1574"/>
                  <a:pt x="1879" y="1700"/>
                  <a:pt x="2132" y="1813"/>
                </a:cubicBezTo>
                <a:cubicBezTo>
                  <a:pt x="2394" y="1931"/>
                  <a:pt x="2669" y="2032"/>
                  <a:pt x="2951" y="2117"/>
                </a:cubicBezTo>
                <a:cubicBezTo>
                  <a:pt x="3240" y="2204"/>
                  <a:pt x="3534" y="2271"/>
                  <a:pt x="3825" y="2319"/>
                </a:cubicBezTo>
                <a:cubicBezTo>
                  <a:pt x="4121" y="2367"/>
                  <a:pt x="4411" y="2393"/>
                  <a:pt x="4689" y="2398"/>
                </a:cubicBezTo>
                <a:cubicBezTo>
                  <a:pt x="4695" y="2308"/>
                  <a:pt x="4699" y="2242"/>
                  <a:pt x="4702" y="2193"/>
                </a:cubicBezTo>
                <a:cubicBezTo>
                  <a:pt x="4705" y="2145"/>
                  <a:pt x="4708" y="2113"/>
                  <a:pt x="4709" y="2092"/>
                </a:cubicBezTo>
                <a:cubicBezTo>
                  <a:pt x="4710" y="2072"/>
                  <a:pt x="4711" y="2061"/>
                  <a:pt x="4711" y="2056"/>
                </a:cubicBezTo>
                <a:cubicBezTo>
                  <a:pt x="4712" y="2051"/>
                  <a:pt x="4712" y="2051"/>
                  <a:pt x="4712" y="2051"/>
                </a:cubicBezTo>
                <a:cubicBezTo>
                  <a:pt x="4736" y="1593"/>
                  <a:pt x="4736" y="1593"/>
                  <a:pt x="4736" y="1593"/>
                </a:cubicBezTo>
                <a:cubicBezTo>
                  <a:pt x="4562" y="1493"/>
                  <a:pt x="4435" y="1420"/>
                  <a:pt x="4342" y="1367"/>
                </a:cubicBezTo>
                <a:cubicBezTo>
                  <a:pt x="4250" y="1314"/>
                  <a:pt x="4190" y="1279"/>
                  <a:pt x="4151" y="1257"/>
                </a:cubicBezTo>
                <a:cubicBezTo>
                  <a:pt x="4111" y="1234"/>
                  <a:pt x="4091" y="1223"/>
                  <a:pt x="4082" y="1217"/>
                </a:cubicBezTo>
                <a:cubicBezTo>
                  <a:pt x="4072" y="1211"/>
                  <a:pt x="4072" y="1211"/>
                  <a:pt x="4072" y="1211"/>
                </a:cubicBezTo>
                <a:cubicBezTo>
                  <a:pt x="4014" y="1178"/>
                  <a:pt x="3970" y="1153"/>
                  <a:pt x="3938" y="1134"/>
                </a:cubicBezTo>
                <a:cubicBezTo>
                  <a:pt x="3906" y="1115"/>
                  <a:pt x="3885" y="1103"/>
                  <a:pt x="3871" y="1095"/>
                </a:cubicBezTo>
                <a:cubicBezTo>
                  <a:pt x="3857" y="1087"/>
                  <a:pt x="3850" y="1083"/>
                  <a:pt x="3847" y="1081"/>
                </a:cubicBezTo>
                <a:cubicBezTo>
                  <a:pt x="3843" y="1078"/>
                  <a:pt x="3843" y="1078"/>
                  <a:pt x="3843" y="1078"/>
                </a:cubicBezTo>
                <a:cubicBezTo>
                  <a:pt x="3713" y="1077"/>
                  <a:pt x="3578" y="1067"/>
                  <a:pt x="3440" y="1049"/>
                </a:cubicBezTo>
                <a:cubicBezTo>
                  <a:pt x="3303" y="1031"/>
                  <a:pt x="3164" y="1004"/>
                  <a:pt x="3026" y="970"/>
                </a:cubicBezTo>
                <a:cubicBezTo>
                  <a:pt x="2889" y="937"/>
                  <a:pt x="2754" y="896"/>
                  <a:pt x="2623" y="848"/>
                </a:cubicBezTo>
                <a:cubicBezTo>
                  <a:pt x="2494" y="801"/>
                  <a:pt x="2369" y="747"/>
                  <a:pt x="2251" y="687"/>
                </a:cubicBezTo>
                <a:cubicBezTo>
                  <a:pt x="1877" y="497"/>
                  <a:pt x="1613" y="363"/>
                  <a:pt x="1424" y="267"/>
                </a:cubicBezTo>
                <a:cubicBezTo>
                  <a:pt x="1242" y="175"/>
                  <a:pt x="1124" y="115"/>
                  <a:pt x="1047" y="76"/>
                </a:cubicBezTo>
                <a:cubicBezTo>
                  <a:pt x="972" y="37"/>
                  <a:pt x="934" y="18"/>
                  <a:pt x="916" y="9"/>
                </a:cubicBezTo>
                <a:cubicBezTo>
                  <a:pt x="897" y="0"/>
                  <a:pt x="897" y="0"/>
                  <a:pt x="897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Freeform 8"/>
          <p:cNvSpPr/>
          <p:nvPr/>
        </p:nvSpPr>
        <p:spPr bwMode="auto">
          <a:xfrm>
            <a:off x="8676323" y="3113723"/>
            <a:ext cx="1821249" cy="1593425"/>
          </a:xfrm>
          <a:custGeom>
            <a:avLst/>
            <a:gdLst>
              <a:gd name="T0" fmla="*/ 1287 w 2947"/>
              <a:gd name="T1" fmla="*/ 0 h 2577"/>
              <a:gd name="T2" fmla="*/ 1153 w 2947"/>
              <a:gd name="T3" fmla="*/ 85 h 2577"/>
              <a:gd name="T4" fmla="*/ 1082 w 2947"/>
              <a:gd name="T5" fmla="*/ 131 h 2577"/>
              <a:gd name="T6" fmla="*/ 1055 w 2947"/>
              <a:gd name="T7" fmla="*/ 148 h 2577"/>
              <a:gd name="T8" fmla="*/ 1051 w 2947"/>
              <a:gd name="T9" fmla="*/ 150 h 2577"/>
              <a:gd name="T10" fmla="*/ 990 w 2947"/>
              <a:gd name="T11" fmla="*/ 193 h 2577"/>
              <a:gd name="T12" fmla="*/ 958 w 2947"/>
              <a:gd name="T13" fmla="*/ 215 h 2577"/>
              <a:gd name="T14" fmla="*/ 946 w 2947"/>
              <a:gd name="T15" fmla="*/ 224 h 2577"/>
              <a:gd name="T16" fmla="*/ 944 w 2947"/>
              <a:gd name="T17" fmla="*/ 225 h 2577"/>
              <a:gd name="T18" fmla="*/ 1049 w 2947"/>
              <a:gd name="T19" fmla="*/ 383 h 2577"/>
              <a:gd name="T20" fmla="*/ 1109 w 2947"/>
              <a:gd name="T21" fmla="*/ 545 h 2577"/>
              <a:gd name="T22" fmla="*/ 1116 w 2947"/>
              <a:gd name="T23" fmla="*/ 707 h 2577"/>
              <a:gd name="T24" fmla="*/ 1062 w 2947"/>
              <a:gd name="T25" fmla="*/ 865 h 2577"/>
              <a:gd name="T26" fmla="*/ 907 w 2947"/>
              <a:gd name="T27" fmla="*/ 1026 h 2577"/>
              <a:gd name="T28" fmla="*/ 670 w 2947"/>
              <a:gd name="T29" fmla="*/ 1148 h 2577"/>
              <a:gd name="T30" fmla="*/ 363 w 2947"/>
              <a:gd name="T31" fmla="*/ 1227 h 2577"/>
              <a:gd name="T32" fmla="*/ 0 w 2947"/>
              <a:gd name="T33" fmla="*/ 1257 h 2577"/>
              <a:gd name="T34" fmla="*/ 132 w 2947"/>
              <a:gd name="T35" fmla="*/ 1333 h 2577"/>
              <a:gd name="T36" fmla="*/ 201 w 2947"/>
              <a:gd name="T37" fmla="*/ 1373 h 2577"/>
              <a:gd name="T38" fmla="*/ 227 w 2947"/>
              <a:gd name="T39" fmla="*/ 1387 h 2577"/>
              <a:gd name="T40" fmla="*/ 230 w 2947"/>
              <a:gd name="T41" fmla="*/ 1390 h 2577"/>
              <a:gd name="T42" fmla="*/ 606 w 2947"/>
              <a:gd name="T43" fmla="*/ 1605 h 2577"/>
              <a:gd name="T44" fmla="*/ 810 w 2947"/>
              <a:gd name="T45" fmla="*/ 1721 h 2577"/>
              <a:gd name="T46" fmla="*/ 887 w 2947"/>
              <a:gd name="T47" fmla="*/ 1765 h 2577"/>
              <a:gd name="T48" fmla="*/ 898 w 2947"/>
              <a:gd name="T49" fmla="*/ 1771 h 2577"/>
              <a:gd name="T50" fmla="*/ 887 w 2947"/>
              <a:gd name="T51" fmla="*/ 2029 h 2577"/>
              <a:gd name="T52" fmla="*/ 881 w 2947"/>
              <a:gd name="T53" fmla="*/ 2169 h 2577"/>
              <a:gd name="T54" fmla="*/ 879 w 2947"/>
              <a:gd name="T55" fmla="*/ 2222 h 2577"/>
              <a:gd name="T56" fmla="*/ 879 w 2947"/>
              <a:gd name="T57" fmla="*/ 2230 h 2577"/>
              <a:gd name="T58" fmla="*/ 867 w 2947"/>
              <a:gd name="T59" fmla="*/ 2426 h 2577"/>
              <a:gd name="T60" fmla="*/ 861 w 2947"/>
              <a:gd name="T61" fmla="*/ 2532 h 2577"/>
              <a:gd name="T62" fmla="*/ 859 w 2947"/>
              <a:gd name="T63" fmla="*/ 2571 h 2577"/>
              <a:gd name="T64" fmla="*/ 859 w 2947"/>
              <a:gd name="T65" fmla="*/ 2577 h 2577"/>
              <a:gd name="T66" fmla="*/ 1649 w 2947"/>
              <a:gd name="T67" fmla="*/ 2509 h 2577"/>
              <a:gd name="T68" fmla="*/ 2283 w 2947"/>
              <a:gd name="T69" fmla="*/ 2311 h 2577"/>
              <a:gd name="T70" fmla="*/ 2714 w 2947"/>
              <a:gd name="T71" fmla="*/ 2004 h 2577"/>
              <a:gd name="T72" fmla="*/ 2920 w 2947"/>
              <a:gd name="T73" fmla="*/ 1614 h 2577"/>
              <a:gd name="T74" fmla="*/ 2921 w 2947"/>
              <a:gd name="T75" fmla="*/ 1248 h 2577"/>
              <a:gd name="T76" fmla="*/ 2785 w 2947"/>
              <a:gd name="T77" fmla="*/ 891 h 2577"/>
              <a:gd name="T78" fmla="*/ 2549 w 2947"/>
              <a:gd name="T79" fmla="*/ 556 h 2577"/>
              <a:gd name="T80" fmla="*/ 2241 w 2947"/>
              <a:gd name="T81" fmla="*/ 249 h 2577"/>
              <a:gd name="T82" fmla="*/ 2025 w 2947"/>
              <a:gd name="T83" fmla="*/ 194 h 2577"/>
              <a:gd name="T84" fmla="*/ 1916 w 2947"/>
              <a:gd name="T85" fmla="*/ 166 h 2577"/>
              <a:gd name="T86" fmla="*/ 1876 w 2947"/>
              <a:gd name="T87" fmla="*/ 155 h 2577"/>
              <a:gd name="T88" fmla="*/ 1871 w 2947"/>
              <a:gd name="T89" fmla="*/ 154 h 2577"/>
              <a:gd name="T90" fmla="*/ 1287 w 2947"/>
              <a:gd name="T91" fmla="*/ 0 h 2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947" h="2577">
                <a:moveTo>
                  <a:pt x="1287" y="0"/>
                </a:moveTo>
                <a:cubicBezTo>
                  <a:pt x="1230" y="36"/>
                  <a:pt x="1186" y="64"/>
                  <a:pt x="1153" y="85"/>
                </a:cubicBezTo>
                <a:cubicBezTo>
                  <a:pt x="1119" y="107"/>
                  <a:pt x="1097" y="121"/>
                  <a:pt x="1082" y="131"/>
                </a:cubicBezTo>
                <a:cubicBezTo>
                  <a:pt x="1066" y="140"/>
                  <a:pt x="1059" y="145"/>
                  <a:pt x="1055" y="148"/>
                </a:cubicBezTo>
                <a:cubicBezTo>
                  <a:pt x="1051" y="150"/>
                  <a:pt x="1051" y="150"/>
                  <a:pt x="1051" y="150"/>
                </a:cubicBezTo>
                <a:cubicBezTo>
                  <a:pt x="1025" y="168"/>
                  <a:pt x="1005" y="182"/>
                  <a:pt x="990" y="193"/>
                </a:cubicBezTo>
                <a:cubicBezTo>
                  <a:pt x="974" y="204"/>
                  <a:pt x="964" y="211"/>
                  <a:pt x="958" y="215"/>
                </a:cubicBezTo>
                <a:cubicBezTo>
                  <a:pt x="951" y="220"/>
                  <a:pt x="947" y="222"/>
                  <a:pt x="946" y="224"/>
                </a:cubicBezTo>
                <a:cubicBezTo>
                  <a:pt x="944" y="225"/>
                  <a:pt x="944" y="225"/>
                  <a:pt x="944" y="225"/>
                </a:cubicBezTo>
                <a:cubicBezTo>
                  <a:pt x="986" y="277"/>
                  <a:pt x="1021" y="331"/>
                  <a:pt x="1049" y="383"/>
                </a:cubicBezTo>
                <a:cubicBezTo>
                  <a:pt x="1077" y="438"/>
                  <a:pt x="1097" y="492"/>
                  <a:pt x="1109" y="545"/>
                </a:cubicBezTo>
                <a:cubicBezTo>
                  <a:pt x="1120" y="600"/>
                  <a:pt x="1123" y="654"/>
                  <a:pt x="1116" y="707"/>
                </a:cubicBezTo>
                <a:cubicBezTo>
                  <a:pt x="1108" y="761"/>
                  <a:pt x="1091" y="814"/>
                  <a:pt x="1062" y="865"/>
                </a:cubicBezTo>
                <a:cubicBezTo>
                  <a:pt x="1025" y="925"/>
                  <a:pt x="972" y="978"/>
                  <a:pt x="907" y="1026"/>
                </a:cubicBezTo>
                <a:cubicBezTo>
                  <a:pt x="841" y="1074"/>
                  <a:pt x="761" y="1115"/>
                  <a:pt x="670" y="1148"/>
                </a:cubicBezTo>
                <a:cubicBezTo>
                  <a:pt x="578" y="1182"/>
                  <a:pt x="475" y="1209"/>
                  <a:pt x="363" y="1227"/>
                </a:cubicBezTo>
                <a:cubicBezTo>
                  <a:pt x="250" y="1245"/>
                  <a:pt x="128" y="1255"/>
                  <a:pt x="0" y="1257"/>
                </a:cubicBezTo>
                <a:cubicBezTo>
                  <a:pt x="57" y="1289"/>
                  <a:pt x="100" y="1314"/>
                  <a:pt x="132" y="1333"/>
                </a:cubicBezTo>
                <a:cubicBezTo>
                  <a:pt x="165" y="1352"/>
                  <a:pt x="187" y="1364"/>
                  <a:pt x="201" y="1373"/>
                </a:cubicBezTo>
                <a:cubicBezTo>
                  <a:pt x="216" y="1381"/>
                  <a:pt x="223" y="1385"/>
                  <a:pt x="227" y="1387"/>
                </a:cubicBezTo>
                <a:cubicBezTo>
                  <a:pt x="230" y="1390"/>
                  <a:pt x="230" y="1390"/>
                  <a:pt x="230" y="1390"/>
                </a:cubicBezTo>
                <a:cubicBezTo>
                  <a:pt x="390" y="1481"/>
                  <a:pt x="512" y="1551"/>
                  <a:pt x="606" y="1605"/>
                </a:cubicBezTo>
                <a:cubicBezTo>
                  <a:pt x="702" y="1659"/>
                  <a:pt x="766" y="1696"/>
                  <a:pt x="810" y="1721"/>
                </a:cubicBezTo>
                <a:cubicBezTo>
                  <a:pt x="854" y="1746"/>
                  <a:pt x="876" y="1759"/>
                  <a:pt x="887" y="1765"/>
                </a:cubicBezTo>
                <a:cubicBezTo>
                  <a:pt x="898" y="1771"/>
                  <a:pt x="898" y="1771"/>
                  <a:pt x="898" y="1771"/>
                </a:cubicBezTo>
                <a:cubicBezTo>
                  <a:pt x="893" y="1880"/>
                  <a:pt x="890" y="1964"/>
                  <a:pt x="887" y="2029"/>
                </a:cubicBezTo>
                <a:cubicBezTo>
                  <a:pt x="884" y="2094"/>
                  <a:pt x="882" y="2139"/>
                  <a:pt x="881" y="2169"/>
                </a:cubicBezTo>
                <a:cubicBezTo>
                  <a:pt x="880" y="2199"/>
                  <a:pt x="879" y="2214"/>
                  <a:pt x="879" y="2222"/>
                </a:cubicBezTo>
                <a:cubicBezTo>
                  <a:pt x="879" y="2230"/>
                  <a:pt x="879" y="2230"/>
                  <a:pt x="879" y="2230"/>
                </a:cubicBezTo>
                <a:cubicBezTo>
                  <a:pt x="874" y="2313"/>
                  <a:pt x="870" y="2377"/>
                  <a:pt x="867" y="2426"/>
                </a:cubicBezTo>
                <a:cubicBezTo>
                  <a:pt x="865" y="2476"/>
                  <a:pt x="863" y="2509"/>
                  <a:pt x="861" y="2532"/>
                </a:cubicBezTo>
                <a:cubicBezTo>
                  <a:pt x="860" y="2554"/>
                  <a:pt x="860" y="2565"/>
                  <a:pt x="859" y="2571"/>
                </a:cubicBezTo>
                <a:cubicBezTo>
                  <a:pt x="859" y="2577"/>
                  <a:pt x="859" y="2577"/>
                  <a:pt x="859" y="2577"/>
                </a:cubicBezTo>
                <a:cubicBezTo>
                  <a:pt x="1141" y="2577"/>
                  <a:pt x="1407" y="2554"/>
                  <a:pt x="1649" y="2509"/>
                </a:cubicBezTo>
                <a:cubicBezTo>
                  <a:pt x="1889" y="2464"/>
                  <a:pt x="2102" y="2398"/>
                  <a:pt x="2283" y="2311"/>
                </a:cubicBezTo>
                <a:cubicBezTo>
                  <a:pt x="2460" y="2227"/>
                  <a:pt x="2605" y="2124"/>
                  <a:pt x="2714" y="2004"/>
                </a:cubicBezTo>
                <a:cubicBezTo>
                  <a:pt x="2818" y="1888"/>
                  <a:pt x="2888" y="1758"/>
                  <a:pt x="2920" y="1614"/>
                </a:cubicBezTo>
                <a:cubicBezTo>
                  <a:pt x="2947" y="1495"/>
                  <a:pt x="2946" y="1372"/>
                  <a:pt x="2921" y="1248"/>
                </a:cubicBezTo>
                <a:cubicBezTo>
                  <a:pt x="2896" y="1129"/>
                  <a:pt x="2850" y="1010"/>
                  <a:pt x="2785" y="891"/>
                </a:cubicBezTo>
                <a:cubicBezTo>
                  <a:pt x="2723" y="778"/>
                  <a:pt x="2643" y="666"/>
                  <a:pt x="2549" y="556"/>
                </a:cubicBezTo>
                <a:cubicBezTo>
                  <a:pt x="2459" y="451"/>
                  <a:pt x="2355" y="348"/>
                  <a:pt x="2241" y="249"/>
                </a:cubicBezTo>
                <a:cubicBezTo>
                  <a:pt x="2147" y="225"/>
                  <a:pt x="2077" y="207"/>
                  <a:pt x="2025" y="194"/>
                </a:cubicBezTo>
                <a:cubicBezTo>
                  <a:pt x="1973" y="180"/>
                  <a:pt x="1939" y="171"/>
                  <a:pt x="1916" y="166"/>
                </a:cubicBezTo>
                <a:cubicBezTo>
                  <a:pt x="1893" y="160"/>
                  <a:pt x="1882" y="157"/>
                  <a:pt x="1876" y="155"/>
                </a:cubicBezTo>
                <a:cubicBezTo>
                  <a:pt x="1871" y="154"/>
                  <a:pt x="1871" y="154"/>
                  <a:pt x="1871" y="154"/>
                </a:cubicBezTo>
                <a:cubicBezTo>
                  <a:pt x="1287" y="0"/>
                  <a:pt x="1287" y="0"/>
                  <a:pt x="1287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6" name="Freeform 9"/>
          <p:cNvSpPr/>
          <p:nvPr/>
        </p:nvSpPr>
        <p:spPr bwMode="auto">
          <a:xfrm>
            <a:off x="3569350" y="3178587"/>
            <a:ext cx="2623977" cy="1466832"/>
          </a:xfrm>
          <a:custGeom>
            <a:avLst/>
            <a:gdLst>
              <a:gd name="T0" fmla="*/ 3377 w 4246"/>
              <a:gd name="T1" fmla="*/ 0 h 2372"/>
              <a:gd name="T2" fmla="*/ 2566 w 4246"/>
              <a:gd name="T3" fmla="*/ 411 h 2372"/>
              <a:gd name="T4" fmla="*/ 2092 w 4246"/>
              <a:gd name="T5" fmla="*/ 651 h 2372"/>
              <a:gd name="T6" fmla="*/ 1905 w 4246"/>
              <a:gd name="T7" fmla="*/ 746 h 2372"/>
              <a:gd name="T8" fmla="*/ 1878 w 4246"/>
              <a:gd name="T9" fmla="*/ 759 h 2372"/>
              <a:gd name="T10" fmla="*/ 1603 w 4246"/>
              <a:gd name="T11" fmla="*/ 882 h 2372"/>
              <a:gd name="T12" fmla="*/ 1309 w 4246"/>
              <a:gd name="T13" fmla="*/ 984 h 2372"/>
              <a:gd name="T14" fmla="*/ 1004 w 4246"/>
              <a:gd name="T15" fmla="*/ 1065 h 2372"/>
              <a:gd name="T16" fmla="*/ 693 w 4246"/>
              <a:gd name="T17" fmla="*/ 1121 h 2372"/>
              <a:gd name="T18" fmla="*/ 607 w 4246"/>
              <a:gd name="T19" fmla="*/ 1190 h 2372"/>
              <a:gd name="T20" fmla="*/ 561 w 4246"/>
              <a:gd name="T21" fmla="*/ 1225 h 2372"/>
              <a:gd name="T22" fmla="*/ 545 w 4246"/>
              <a:gd name="T23" fmla="*/ 1239 h 2372"/>
              <a:gd name="T24" fmla="*/ 542 w 4246"/>
              <a:gd name="T25" fmla="*/ 1240 h 2372"/>
              <a:gd name="T26" fmla="*/ 238 w 4246"/>
              <a:gd name="T27" fmla="*/ 1478 h 2372"/>
              <a:gd name="T28" fmla="*/ 72 w 4246"/>
              <a:gd name="T29" fmla="*/ 1608 h 2372"/>
              <a:gd name="T30" fmla="*/ 9 w 4246"/>
              <a:gd name="T31" fmla="*/ 1657 h 2372"/>
              <a:gd name="T32" fmla="*/ 0 w 4246"/>
              <a:gd name="T33" fmla="*/ 1665 h 2372"/>
              <a:gd name="T34" fmla="*/ 124 w 4246"/>
              <a:gd name="T35" fmla="*/ 1882 h 2372"/>
              <a:gd name="T36" fmla="*/ 191 w 4246"/>
              <a:gd name="T37" fmla="*/ 2000 h 2372"/>
              <a:gd name="T38" fmla="*/ 217 w 4246"/>
              <a:gd name="T39" fmla="*/ 2044 h 2372"/>
              <a:gd name="T40" fmla="*/ 220 w 4246"/>
              <a:gd name="T41" fmla="*/ 2050 h 2372"/>
              <a:gd name="T42" fmla="*/ 326 w 4246"/>
              <a:gd name="T43" fmla="*/ 2233 h 2372"/>
              <a:gd name="T44" fmla="*/ 382 w 4246"/>
              <a:gd name="T45" fmla="*/ 2330 h 2372"/>
              <a:gd name="T46" fmla="*/ 403 w 4246"/>
              <a:gd name="T47" fmla="*/ 2367 h 2372"/>
              <a:gd name="T48" fmla="*/ 406 w 4246"/>
              <a:gd name="T49" fmla="*/ 2372 h 2372"/>
              <a:gd name="T50" fmla="*/ 1039 w 4246"/>
              <a:gd name="T51" fmla="*/ 2227 h 2372"/>
              <a:gd name="T52" fmla="*/ 1645 w 4246"/>
              <a:gd name="T53" fmla="*/ 2030 h 2372"/>
              <a:gd name="T54" fmla="*/ 2207 w 4246"/>
              <a:gd name="T55" fmla="*/ 1787 h 2372"/>
              <a:gd name="T56" fmla="*/ 2710 w 4246"/>
              <a:gd name="T57" fmla="*/ 1508 h 2372"/>
              <a:gd name="T58" fmla="*/ 3609 w 4246"/>
              <a:gd name="T59" fmla="*/ 946 h 2372"/>
              <a:gd name="T60" fmla="*/ 4037 w 4246"/>
              <a:gd name="T61" fmla="*/ 678 h 2372"/>
              <a:gd name="T62" fmla="*/ 4208 w 4246"/>
              <a:gd name="T63" fmla="*/ 572 h 2372"/>
              <a:gd name="T64" fmla="*/ 4246 w 4246"/>
              <a:gd name="T65" fmla="*/ 548 h 2372"/>
              <a:gd name="T66" fmla="*/ 4246 w 4246"/>
              <a:gd name="T67" fmla="*/ 547 h 2372"/>
              <a:gd name="T68" fmla="*/ 4245 w 4246"/>
              <a:gd name="T69" fmla="*/ 547 h 2372"/>
              <a:gd name="T70" fmla="*/ 4245 w 4246"/>
              <a:gd name="T71" fmla="*/ 547 h 2372"/>
              <a:gd name="T72" fmla="*/ 4245 w 4246"/>
              <a:gd name="T73" fmla="*/ 547 h 2372"/>
              <a:gd name="T74" fmla="*/ 4230 w 4246"/>
              <a:gd name="T75" fmla="*/ 537 h 2372"/>
              <a:gd name="T76" fmla="*/ 4126 w 4246"/>
              <a:gd name="T77" fmla="*/ 472 h 2372"/>
              <a:gd name="T78" fmla="*/ 3855 w 4246"/>
              <a:gd name="T79" fmla="*/ 301 h 2372"/>
              <a:gd name="T80" fmla="*/ 3377 w 4246"/>
              <a:gd name="T81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246" h="2372">
                <a:moveTo>
                  <a:pt x="3377" y="0"/>
                </a:moveTo>
                <a:cubicBezTo>
                  <a:pt x="3043" y="169"/>
                  <a:pt x="2776" y="304"/>
                  <a:pt x="2566" y="411"/>
                </a:cubicBezTo>
                <a:cubicBezTo>
                  <a:pt x="2347" y="522"/>
                  <a:pt x="2195" y="599"/>
                  <a:pt x="2092" y="651"/>
                </a:cubicBezTo>
                <a:cubicBezTo>
                  <a:pt x="1986" y="705"/>
                  <a:pt x="1932" y="732"/>
                  <a:pt x="1905" y="746"/>
                </a:cubicBezTo>
                <a:cubicBezTo>
                  <a:pt x="1878" y="759"/>
                  <a:pt x="1878" y="759"/>
                  <a:pt x="1878" y="759"/>
                </a:cubicBezTo>
                <a:cubicBezTo>
                  <a:pt x="1789" y="803"/>
                  <a:pt x="1697" y="844"/>
                  <a:pt x="1603" y="882"/>
                </a:cubicBezTo>
                <a:cubicBezTo>
                  <a:pt x="1507" y="919"/>
                  <a:pt x="1409" y="954"/>
                  <a:pt x="1309" y="984"/>
                </a:cubicBezTo>
                <a:cubicBezTo>
                  <a:pt x="1209" y="1015"/>
                  <a:pt x="1106" y="1042"/>
                  <a:pt x="1004" y="1065"/>
                </a:cubicBezTo>
                <a:cubicBezTo>
                  <a:pt x="900" y="1088"/>
                  <a:pt x="796" y="1107"/>
                  <a:pt x="693" y="1121"/>
                </a:cubicBezTo>
                <a:cubicBezTo>
                  <a:pt x="656" y="1151"/>
                  <a:pt x="628" y="1173"/>
                  <a:pt x="607" y="1190"/>
                </a:cubicBezTo>
                <a:cubicBezTo>
                  <a:pt x="585" y="1206"/>
                  <a:pt x="571" y="1218"/>
                  <a:pt x="561" y="1225"/>
                </a:cubicBezTo>
                <a:cubicBezTo>
                  <a:pt x="552" y="1233"/>
                  <a:pt x="547" y="1237"/>
                  <a:pt x="545" y="1239"/>
                </a:cubicBezTo>
                <a:cubicBezTo>
                  <a:pt x="542" y="1240"/>
                  <a:pt x="542" y="1240"/>
                  <a:pt x="542" y="1240"/>
                </a:cubicBezTo>
                <a:cubicBezTo>
                  <a:pt x="414" y="1341"/>
                  <a:pt x="314" y="1419"/>
                  <a:pt x="238" y="1478"/>
                </a:cubicBezTo>
                <a:cubicBezTo>
                  <a:pt x="160" y="1539"/>
                  <a:pt x="108" y="1580"/>
                  <a:pt x="72" y="1608"/>
                </a:cubicBezTo>
                <a:cubicBezTo>
                  <a:pt x="36" y="1636"/>
                  <a:pt x="18" y="1650"/>
                  <a:pt x="9" y="1657"/>
                </a:cubicBezTo>
                <a:cubicBezTo>
                  <a:pt x="0" y="1665"/>
                  <a:pt x="0" y="1665"/>
                  <a:pt x="0" y="1665"/>
                </a:cubicBezTo>
                <a:cubicBezTo>
                  <a:pt x="53" y="1757"/>
                  <a:pt x="93" y="1828"/>
                  <a:pt x="124" y="1882"/>
                </a:cubicBezTo>
                <a:cubicBezTo>
                  <a:pt x="156" y="1937"/>
                  <a:pt x="177" y="1975"/>
                  <a:pt x="191" y="2000"/>
                </a:cubicBezTo>
                <a:cubicBezTo>
                  <a:pt x="206" y="2025"/>
                  <a:pt x="213" y="2038"/>
                  <a:pt x="217" y="2044"/>
                </a:cubicBezTo>
                <a:cubicBezTo>
                  <a:pt x="220" y="2050"/>
                  <a:pt x="220" y="2050"/>
                  <a:pt x="220" y="2050"/>
                </a:cubicBezTo>
                <a:cubicBezTo>
                  <a:pt x="265" y="2128"/>
                  <a:pt x="300" y="2187"/>
                  <a:pt x="326" y="2233"/>
                </a:cubicBezTo>
                <a:cubicBezTo>
                  <a:pt x="352" y="2278"/>
                  <a:pt x="370" y="2309"/>
                  <a:pt x="382" y="2330"/>
                </a:cubicBezTo>
                <a:cubicBezTo>
                  <a:pt x="394" y="2351"/>
                  <a:pt x="400" y="2361"/>
                  <a:pt x="403" y="2367"/>
                </a:cubicBezTo>
                <a:cubicBezTo>
                  <a:pt x="406" y="2372"/>
                  <a:pt x="406" y="2372"/>
                  <a:pt x="406" y="2372"/>
                </a:cubicBezTo>
                <a:cubicBezTo>
                  <a:pt x="618" y="2333"/>
                  <a:pt x="830" y="2285"/>
                  <a:pt x="1039" y="2227"/>
                </a:cubicBezTo>
                <a:cubicBezTo>
                  <a:pt x="1245" y="2170"/>
                  <a:pt x="1447" y="2104"/>
                  <a:pt x="1645" y="2030"/>
                </a:cubicBezTo>
                <a:cubicBezTo>
                  <a:pt x="1839" y="1957"/>
                  <a:pt x="2026" y="1876"/>
                  <a:pt x="2207" y="1787"/>
                </a:cubicBezTo>
                <a:cubicBezTo>
                  <a:pt x="2383" y="1701"/>
                  <a:pt x="2551" y="1607"/>
                  <a:pt x="2710" y="1508"/>
                </a:cubicBezTo>
                <a:cubicBezTo>
                  <a:pt x="3111" y="1257"/>
                  <a:pt x="3399" y="1077"/>
                  <a:pt x="3609" y="946"/>
                </a:cubicBezTo>
                <a:cubicBezTo>
                  <a:pt x="3809" y="821"/>
                  <a:pt x="3944" y="736"/>
                  <a:pt x="4037" y="678"/>
                </a:cubicBezTo>
                <a:cubicBezTo>
                  <a:pt x="4127" y="622"/>
                  <a:pt x="4179" y="590"/>
                  <a:pt x="4208" y="572"/>
                </a:cubicBezTo>
                <a:cubicBezTo>
                  <a:pt x="4237" y="553"/>
                  <a:pt x="4244" y="549"/>
                  <a:pt x="4246" y="548"/>
                </a:cubicBezTo>
                <a:cubicBezTo>
                  <a:pt x="4246" y="548"/>
                  <a:pt x="4246" y="547"/>
                  <a:pt x="4246" y="547"/>
                </a:cubicBezTo>
                <a:cubicBezTo>
                  <a:pt x="4246" y="547"/>
                  <a:pt x="4246" y="547"/>
                  <a:pt x="4245" y="547"/>
                </a:cubicBezTo>
                <a:cubicBezTo>
                  <a:pt x="4245" y="547"/>
                  <a:pt x="4245" y="547"/>
                  <a:pt x="4245" y="547"/>
                </a:cubicBezTo>
                <a:cubicBezTo>
                  <a:pt x="4245" y="547"/>
                  <a:pt x="4245" y="547"/>
                  <a:pt x="4245" y="547"/>
                </a:cubicBezTo>
                <a:cubicBezTo>
                  <a:pt x="4245" y="547"/>
                  <a:pt x="4245" y="547"/>
                  <a:pt x="4230" y="537"/>
                </a:cubicBezTo>
                <a:cubicBezTo>
                  <a:pt x="4215" y="528"/>
                  <a:pt x="4185" y="509"/>
                  <a:pt x="4126" y="472"/>
                </a:cubicBezTo>
                <a:cubicBezTo>
                  <a:pt x="4067" y="435"/>
                  <a:pt x="3981" y="380"/>
                  <a:pt x="3855" y="301"/>
                </a:cubicBezTo>
                <a:cubicBezTo>
                  <a:pt x="3733" y="224"/>
                  <a:pt x="3577" y="125"/>
                  <a:pt x="3377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Freeform 10"/>
          <p:cNvSpPr/>
          <p:nvPr/>
        </p:nvSpPr>
        <p:spPr bwMode="auto">
          <a:xfrm>
            <a:off x="6193851" y="2437850"/>
            <a:ext cx="1760042" cy="740739"/>
          </a:xfrm>
          <a:custGeom>
            <a:avLst/>
            <a:gdLst>
              <a:gd name="T0" fmla="*/ 2382 w 2848"/>
              <a:gd name="T1" fmla="*/ 0 h 1198"/>
              <a:gd name="T2" fmla="*/ 1983 w 2848"/>
              <a:gd name="T3" fmla="*/ 17 h 1198"/>
              <a:gd name="T4" fmla="*/ 1607 w 2848"/>
              <a:gd name="T5" fmla="*/ 67 h 1198"/>
              <a:gd name="T6" fmla="*/ 1257 w 2848"/>
              <a:gd name="T7" fmla="*/ 153 h 1198"/>
              <a:gd name="T8" fmla="*/ 937 w 2848"/>
              <a:gd name="T9" fmla="*/ 282 h 1198"/>
              <a:gd name="T10" fmla="*/ 465 w 2848"/>
              <a:gd name="T11" fmla="*/ 522 h 1198"/>
              <a:gd name="T12" fmla="*/ 172 w 2848"/>
              <a:gd name="T13" fmla="*/ 670 h 1198"/>
              <a:gd name="T14" fmla="*/ 35 w 2848"/>
              <a:gd name="T15" fmla="*/ 739 h 1198"/>
              <a:gd name="T16" fmla="*/ 0 w 2848"/>
              <a:gd name="T17" fmla="*/ 758 h 1198"/>
              <a:gd name="T18" fmla="*/ 27 w 2848"/>
              <a:gd name="T19" fmla="*/ 771 h 1198"/>
              <a:gd name="T20" fmla="*/ 135 w 2848"/>
              <a:gd name="T21" fmla="*/ 826 h 1198"/>
              <a:gd name="T22" fmla="*/ 387 w 2848"/>
              <a:gd name="T23" fmla="*/ 952 h 1198"/>
              <a:gd name="T24" fmla="*/ 873 w 2848"/>
              <a:gd name="T25" fmla="*/ 1197 h 1198"/>
              <a:gd name="T26" fmla="*/ 875 w 2848"/>
              <a:gd name="T27" fmla="*/ 1198 h 1198"/>
              <a:gd name="T28" fmla="*/ 1434 w 2848"/>
              <a:gd name="T29" fmla="*/ 851 h 1198"/>
              <a:gd name="T30" fmla="*/ 1690 w 2848"/>
              <a:gd name="T31" fmla="*/ 692 h 1198"/>
              <a:gd name="T32" fmla="*/ 1780 w 2848"/>
              <a:gd name="T33" fmla="*/ 636 h 1198"/>
              <a:gd name="T34" fmla="*/ 1792 w 2848"/>
              <a:gd name="T35" fmla="*/ 628 h 1198"/>
              <a:gd name="T36" fmla="*/ 1974 w 2848"/>
              <a:gd name="T37" fmla="*/ 538 h 1198"/>
              <a:gd name="T38" fmla="*/ 2185 w 2848"/>
              <a:gd name="T39" fmla="*/ 477 h 1198"/>
              <a:gd name="T40" fmla="*/ 2421 w 2848"/>
              <a:gd name="T41" fmla="*/ 442 h 1198"/>
              <a:gd name="T42" fmla="*/ 2676 w 2848"/>
              <a:gd name="T43" fmla="*/ 430 h 1198"/>
              <a:gd name="T44" fmla="*/ 2719 w 2848"/>
              <a:gd name="T45" fmla="*/ 430 h 1198"/>
              <a:gd name="T46" fmla="*/ 2761 w 2848"/>
              <a:gd name="T47" fmla="*/ 431 h 1198"/>
              <a:gd name="T48" fmla="*/ 2804 w 2848"/>
              <a:gd name="T49" fmla="*/ 431 h 1198"/>
              <a:gd name="T50" fmla="*/ 2848 w 2848"/>
              <a:gd name="T51" fmla="*/ 433 h 1198"/>
              <a:gd name="T52" fmla="*/ 2773 w 2848"/>
              <a:gd name="T53" fmla="*/ 396 h 1198"/>
              <a:gd name="T54" fmla="*/ 2735 w 2848"/>
              <a:gd name="T55" fmla="*/ 378 h 1198"/>
              <a:gd name="T56" fmla="*/ 2721 w 2848"/>
              <a:gd name="T57" fmla="*/ 371 h 1198"/>
              <a:gd name="T58" fmla="*/ 2719 w 2848"/>
              <a:gd name="T59" fmla="*/ 370 h 1198"/>
              <a:gd name="T60" fmla="*/ 2410 w 2848"/>
              <a:gd name="T61" fmla="*/ 222 h 1198"/>
              <a:gd name="T62" fmla="*/ 2487 w 2848"/>
              <a:gd name="T63" fmla="*/ 144 h 1198"/>
              <a:gd name="T64" fmla="*/ 2525 w 2848"/>
              <a:gd name="T65" fmla="*/ 105 h 1198"/>
              <a:gd name="T66" fmla="*/ 2539 w 2848"/>
              <a:gd name="T67" fmla="*/ 91 h 1198"/>
              <a:gd name="T68" fmla="*/ 2541 w 2848"/>
              <a:gd name="T69" fmla="*/ 89 h 1198"/>
              <a:gd name="T70" fmla="*/ 2591 w 2848"/>
              <a:gd name="T71" fmla="*/ 40 h 1198"/>
              <a:gd name="T72" fmla="*/ 2617 w 2848"/>
              <a:gd name="T73" fmla="*/ 15 h 1198"/>
              <a:gd name="T74" fmla="*/ 2626 w 2848"/>
              <a:gd name="T75" fmla="*/ 6 h 1198"/>
              <a:gd name="T76" fmla="*/ 2627 w 2848"/>
              <a:gd name="T77" fmla="*/ 5 h 1198"/>
              <a:gd name="T78" fmla="*/ 2565 w 2848"/>
              <a:gd name="T79" fmla="*/ 3 h 1198"/>
              <a:gd name="T80" fmla="*/ 2504 w 2848"/>
              <a:gd name="T81" fmla="*/ 2 h 1198"/>
              <a:gd name="T82" fmla="*/ 2443 w 2848"/>
              <a:gd name="T83" fmla="*/ 1 h 1198"/>
              <a:gd name="T84" fmla="*/ 2382 w 2848"/>
              <a:gd name="T85" fmla="*/ 0 h 1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848" h="1198">
                <a:moveTo>
                  <a:pt x="2382" y="0"/>
                </a:moveTo>
                <a:cubicBezTo>
                  <a:pt x="2245" y="0"/>
                  <a:pt x="2112" y="6"/>
                  <a:pt x="1983" y="17"/>
                </a:cubicBezTo>
                <a:cubicBezTo>
                  <a:pt x="1854" y="28"/>
                  <a:pt x="1728" y="44"/>
                  <a:pt x="1607" y="67"/>
                </a:cubicBezTo>
                <a:cubicBezTo>
                  <a:pt x="1485" y="89"/>
                  <a:pt x="1368" y="118"/>
                  <a:pt x="1257" y="153"/>
                </a:cubicBezTo>
                <a:cubicBezTo>
                  <a:pt x="1144" y="189"/>
                  <a:pt x="1037" y="232"/>
                  <a:pt x="937" y="282"/>
                </a:cubicBezTo>
                <a:cubicBezTo>
                  <a:pt x="746" y="379"/>
                  <a:pt x="590" y="458"/>
                  <a:pt x="465" y="522"/>
                </a:cubicBezTo>
                <a:cubicBezTo>
                  <a:pt x="336" y="587"/>
                  <a:pt x="241" y="635"/>
                  <a:pt x="172" y="670"/>
                </a:cubicBezTo>
                <a:cubicBezTo>
                  <a:pt x="103" y="705"/>
                  <a:pt x="61" y="727"/>
                  <a:pt x="35" y="739"/>
                </a:cubicBezTo>
                <a:cubicBezTo>
                  <a:pt x="10" y="752"/>
                  <a:pt x="2" y="756"/>
                  <a:pt x="0" y="758"/>
                </a:cubicBezTo>
                <a:cubicBezTo>
                  <a:pt x="2" y="759"/>
                  <a:pt x="8" y="762"/>
                  <a:pt x="27" y="771"/>
                </a:cubicBezTo>
                <a:cubicBezTo>
                  <a:pt x="47" y="781"/>
                  <a:pt x="79" y="798"/>
                  <a:pt x="135" y="826"/>
                </a:cubicBezTo>
                <a:cubicBezTo>
                  <a:pt x="191" y="854"/>
                  <a:pt x="271" y="894"/>
                  <a:pt x="387" y="952"/>
                </a:cubicBezTo>
                <a:cubicBezTo>
                  <a:pt x="505" y="1012"/>
                  <a:pt x="662" y="1091"/>
                  <a:pt x="873" y="1197"/>
                </a:cubicBezTo>
                <a:cubicBezTo>
                  <a:pt x="875" y="1198"/>
                  <a:pt x="875" y="1198"/>
                  <a:pt x="875" y="1198"/>
                </a:cubicBezTo>
                <a:cubicBezTo>
                  <a:pt x="1127" y="1041"/>
                  <a:pt x="1306" y="930"/>
                  <a:pt x="1434" y="851"/>
                </a:cubicBezTo>
                <a:cubicBezTo>
                  <a:pt x="1558" y="774"/>
                  <a:pt x="1638" y="724"/>
                  <a:pt x="1690" y="692"/>
                </a:cubicBezTo>
                <a:cubicBezTo>
                  <a:pt x="1742" y="660"/>
                  <a:pt x="1767" y="644"/>
                  <a:pt x="1780" y="636"/>
                </a:cubicBezTo>
                <a:cubicBezTo>
                  <a:pt x="1792" y="628"/>
                  <a:pt x="1792" y="628"/>
                  <a:pt x="1792" y="628"/>
                </a:cubicBezTo>
                <a:cubicBezTo>
                  <a:pt x="1847" y="593"/>
                  <a:pt x="1908" y="563"/>
                  <a:pt x="1974" y="538"/>
                </a:cubicBezTo>
                <a:cubicBezTo>
                  <a:pt x="2039" y="514"/>
                  <a:pt x="2110" y="493"/>
                  <a:pt x="2185" y="477"/>
                </a:cubicBezTo>
                <a:cubicBezTo>
                  <a:pt x="2260" y="461"/>
                  <a:pt x="2339" y="450"/>
                  <a:pt x="2421" y="442"/>
                </a:cubicBezTo>
                <a:cubicBezTo>
                  <a:pt x="2503" y="434"/>
                  <a:pt x="2588" y="430"/>
                  <a:pt x="2676" y="430"/>
                </a:cubicBezTo>
                <a:cubicBezTo>
                  <a:pt x="2690" y="430"/>
                  <a:pt x="2704" y="430"/>
                  <a:pt x="2719" y="430"/>
                </a:cubicBezTo>
                <a:cubicBezTo>
                  <a:pt x="2733" y="430"/>
                  <a:pt x="2747" y="430"/>
                  <a:pt x="2761" y="431"/>
                </a:cubicBezTo>
                <a:cubicBezTo>
                  <a:pt x="2776" y="431"/>
                  <a:pt x="2790" y="431"/>
                  <a:pt x="2804" y="431"/>
                </a:cubicBezTo>
                <a:cubicBezTo>
                  <a:pt x="2819" y="432"/>
                  <a:pt x="2833" y="432"/>
                  <a:pt x="2848" y="433"/>
                </a:cubicBezTo>
                <a:cubicBezTo>
                  <a:pt x="2815" y="417"/>
                  <a:pt x="2791" y="405"/>
                  <a:pt x="2773" y="396"/>
                </a:cubicBezTo>
                <a:cubicBezTo>
                  <a:pt x="2755" y="388"/>
                  <a:pt x="2743" y="382"/>
                  <a:pt x="2735" y="378"/>
                </a:cubicBezTo>
                <a:cubicBezTo>
                  <a:pt x="2727" y="374"/>
                  <a:pt x="2723" y="372"/>
                  <a:pt x="2721" y="371"/>
                </a:cubicBezTo>
                <a:cubicBezTo>
                  <a:pt x="2719" y="370"/>
                  <a:pt x="2719" y="370"/>
                  <a:pt x="2719" y="370"/>
                </a:cubicBezTo>
                <a:cubicBezTo>
                  <a:pt x="2410" y="222"/>
                  <a:pt x="2410" y="222"/>
                  <a:pt x="2410" y="222"/>
                </a:cubicBezTo>
                <a:cubicBezTo>
                  <a:pt x="2443" y="188"/>
                  <a:pt x="2468" y="162"/>
                  <a:pt x="2487" y="144"/>
                </a:cubicBezTo>
                <a:cubicBezTo>
                  <a:pt x="2505" y="125"/>
                  <a:pt x="2517" y="113"/>
                  <a:pt x="2525" y="105"/>
                </a:cubicBezTo>
                <a:cubicBezTo>
                  <a:pt x="2533" y="97"/>
                  <a:pt x="2537" y="93"/>
                  <a:pt x="2539" y="91"/>
                </a:cubicBezTo>
                <a:cubicBezTo>
                  <a:pt x="2541" y="89"/>
                  <a:pt x="2541" y="89"/>
                  <a:pt x="2541" y="89"/>
                </a:cubicBezTo>
                <a:cubicBezTo>
                  <a:pt x="2563" y="67"/>
                  <a:pt x="2579" y="51"/>
                  <a:pt x="2591" y="40"/>
                </a:cubicBezTo>
                <a:cubicBezTo>
                  <a:pt x="2603" y="28"/>
                  <a:pt x="2611" y="20"/>
                  <a:pt x="2617" y="15"/>
                </a:cubicBezTo>
                <a:cubicBezTo>
                  <a:pt x="2622" y="10"/>
                  <a:pt x="2625" y="7"/>
                  <a:pt x="2626" y="6"/>
                </a:cubicBezTo>
                <a:cubicBezTo>
                  <a:pt x="2627" y="5"/>
                  <a:pt x="2627" y="5"/>
                  <a:pt x="2627" y="5"/>
                </a:cubicBezTo>
                <a:cubicBezTo>
                  <a:pt x="2607" y="4"/>
                  <a:pt x="2586" y="4"/>
                  <a:pt x="2565" y="3"/>
                </a:cubicBezTo>
                <a:cubicBezTo>
                  <a:pt x="2545" y="3"/>
                  <a:pt x="2524" y="2"/>
                  <a:pt x="2504" y="2"/>
                </a:cubicBezTo>
                <a:cubicBezTo>
                  <a:pt x="2483" y="1"/>
                  <a:pt x="2463" y="1"/>
                  <a:pt x="2443" y="1"/>
                </a:cubicBezTo>
                <a:cubicBezTo>
                  <a:pt x="2422" y="1"/>
                  <a:pt x="2402" y="0"/>
                  <a:pt x="2382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Freeform 11"/>
          <p:cNvSpPr/>
          <p:nvPr/>
        </p:nvSpPr>
        <p:spPr bwMode="auto">
          <a:xfrm>
            <a:off x="4640181" y="2442819"/>
            <a:ext cx="2163629" cy="1109278"/>
          </a:xfrm>
          <a:custGeom>
            <a:avLst/>
            <a:gdLst>
              <a:gd name="T0" fmla="*/ 447 w 3501"/>
              <a:gd name="T1" fmla="*/ 65 h 1794"/>
              <a:gd name="T2" fmla="*/ 456 w 3501"/>
              <a:gd name="T3" fmla="*/ 112 h 1794"/>
              <a:gd name="T4" fmla="*/ 472 w 3501"/>
              <a:gd name="T5" fmla="*/ 204 h 1794"/>
              <a:gd name="T6" fmla="*/ 484 w 3501"/>
              <a:gd name="T7" fmla="*/ 271 h 1794"/>
              <a:gd name="T8" fmla="*/ 272 w 3501"/>
              <a:gd name="T9" fmla="*/ 340 h 1794"/>
              <a:gd name="T10" fmla="*/ 118 w 3501"/>
              <a:gd name="T11" fmla="*/ 388 h 1794"/>
              <a:gd name="T12" fmla="*/ 48 w 3501"/>
              <a:gd name="T13" fmla="*/ 409 h 1794"/>
              <a:gd name="T14" fmla="*/ 2 w 3501"/>
              <a:gd name="T15" fmla="*/ 423 h 1794"/>
              <a:gd name="T16" fmla="*/ 207 w 3501"/>
              <a:gd name="T17" fmla="*/ 444 h 1794"/>
              <a:gd name="T18" fmla="*/ 574 w 3501"/>
              <a:gd name="T19" fmla="*/ 540 h 1794"/>
              <a:gd name="T20" fmla="*/ 1227 w 3501"/>
              <a:gd name="T21" fmla="*/ 931 h 1794"/>
              <a:gd name="T22" fmla="*/ 1628 w 3501"/>
              <a:gd name="T23" fmla="*/ 1179 h 1794"/>
              <a:gd name="T24" fmla="*/ 1644 w 3501"/>
              <a:gd name="T25" fmla="*/ 1189 h 1794"/>
              <a:gd name="T26" fmla="*/ 1644 w 3501"/>
              <a:gd name="T27" fmla="*/ 1190 h 1794"/>
              <a:gd name="T28" fmla="*/ 2122 w 3501"/>
              <a:gd name="T29" fmla="*/ 1491 h 1794"/>
              <a:gd name="T30" fmla="*/ 2497 w 3501"/>
              <a:gd name="T31" fmla="*/ 1727 h 1794"/>
              <a:gd name="T32" fmla="*/ 2512 w 3501"/>
              <a:gd name="T33" fmla="*/ 1737 h 1794"/>
              <a:gd name="T34" fmla="*/ 2513 w 3501"/>
              <a:gd name="T35" fmla="*/ 1737 h 1794"/>
              <a:gd name="T36" fmla="*/ 2565 w 3501"/>
              <a:gd name="T37" fmla="*/ 1770 h 1794"/>
              <a:gd name="T38" fmla="*/ 2602 w 3501"/>
              <a:gd name="T39" fmla="*/ 1794 h 1794"/>
              <a:gd name="T40" fmla="*/ 2741 w 3501"/>
              <a:gd name="T41" fmla="*/ 1783 h 1794"/>
              <a:gd name="T42" fmla="*/ 2836 w 3501"/>
              <a:gd name="T43" fmla="*/ 1775 h 1794"/>
              <a:gd name="T44" fmla="*/ 3155 w 3501"/>
              <a:gd name="T45" fmla="*/ 1750 h 1794"/>
              <a:gd name="T46" fmla="*/ 3374 w 3501"/>
              <a:gd name="T47" fmla="*/ 1733 h 1794"/>
              <a:gd name="T48" fmla="*/ 3428 w 3501"/>
              <a:gd name="T49" fmla="*/ 1550 h 1794"/>
              <a:gd name="T50" fmla="*/ 3459 w 3501"/>
              <a:gd name="T51" fmla="*/ 1429 h 1794"/>
              <a:gd name="T52" fmla="*/ 3484 w 3501"/>
              <a:gd name="T53" fmla="*/ 1321 h 1794"/>
              <a:gd name="T54" fmla="*/ 3501 w 3501"/>
              <a:gd name="T55" fmla="*/ 1250 h 1794"/>
              <a:gd name="T56" fmla="*/ 3389 w 3501"/>
              <a:gd name="T57" fmla="*/ 1190 h 1794"/>
              <a:gd name="T58" fmla="*/ 2901 w 3501"/>
              <a:gd name="T59" fmla="*/ 944 h 1794"/>
              <a:gd name="T60" fmla="*/ 2541 w 3501"/>
              <a:gd name="T61" fmla="*/ 763 h 1794"/>
              <a:gd name="T62" fmla="*/ 2513 w 3501"/>
              <a:gd name="T63" fmla="*/ 749 h 1794"/>
              <a:gd name="T64" fmla="*/ 2513 w 3501"/>
              <a:gd name="T65" fmla="*/ 749 h 1794"/>
              <a:gd name="T66" fmla="*/ 1947 w 3501"/>
              <a:gd name="T67" fmla="*/ 460 h 1794"/>
              <a:gd name="T68" fmla="*/ 1593 w 3501"/>
              <a:gd name="T69" fmla="*/ 280 h 1794"/>
              <a:gd name="T70" fmla="*/ 1322 w 3501"/>
              <a:gd name="T71" fmla="*/ 164 h 1794"/>
              <a:gd name="T72" fmla="*/ 747 w 3501"/>
              <a:gd name="T73" fmla="*/ 30 h 1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501" h="1794">
                <a:moveTo>
                  <a:pt x="435" y="0"/>
                </a:moveTo>
                <a:cubicBezTo>
                  <a:pt x="440" y="28"/>
                  <a:pt x="444" y="49"/>
                  <a:pt x="447" y="65"/>
                </a:cubicBezTo>
                <a:cubicBezTo>
                  <a:pt x="450" y="81"/>
                  <a:pt x="452" y="92"/>
                  <a:pt x="453" y="99"/>
                </a:cubicBezTo>
                <a:cubicBezTo>
                  <a:pt x="455" y="106"/>
                  <a:pt x="455" y="110"/>
                  <a:pt x="456" y="112"/>
                </a:cubicBezTo>
                <a:cubicBezTo>
                  <a:pt x="456" y="113"/>
                  <a:pt x="456" y="113"/>
                  <a:pt x="456" y="113"/>
                </a:cubicBezTo>
                <a:cubicBezTo>
                  <a:pt x="463" y="152"/>
                  <a:pt x="468" y="182"/>
                  <a:pt x="472" y="204"/>
                </a:cubicBezTo>
                <a:cubicBezTo>
                  <a:pt x="476" y="227"/>
                  <a:pt x="479" y="242"/>
                  <a:pt x="481" y="253"/>
                </a:cubicBezTo>
                <a:cubicBezTo>
                  <a:pt x="483" y="263"/>
                  <a:pt x="484" y="268"/>
                  <a:pt x="484" y="271"/>
                </a:cubicBezTo>
                <a:cubicBezTo>
                  <a:pt x="484" y="273"/>
                  <a:pt x="484" y="273"/>
                  <a:pt x="484" y="273"/>
                </a:cubicBezTo>
                <a:cubicBezTo>
                  <a:pt x="394" y="302"/>
                  <a:pt x="324" y="323"/>
                  <a:pt x="272" y="340"/>
                </a:cubicBezTo>
                <a:cubicBezTo>
                  <a:pt x="219" y="356"/>
                  <a:pt x="184" y="367"/>
                  <a:pt x="160" y="375"/>
                </a:cubicBezTo>
                <a:cubicBezTo>
                  <a:pt x="136" y="382"/>
                  <a:pt x="124" y="386"/>
                  <a:pt x="118" y="388"/>
                </a:cubicBezTo>
                <a:cubicBezTo>
                  <a:pt x="112" y="390"/>
                  <a:pt x="112" y="390"/>
                  <a:pt x="112" y="390"/>
                </a:cubicBezTo>
                <a:cubicBezTo>
                  <a:pt x="84" y="398"/>
                  <a:pt x="64" y="405"/>
                  <a:pt x="48" y="409"/>
                </a:cubicBezTo>
                <a:cubicBezTo>
                  <a:pt x="32" y="414"/>
                  <a:pt x="21" y="417"/>
                  <a:pt x="14" y="420"/>
                </a:cubicBezTo>
                <a:cubicBezTo>
                  <a:pt x="7" y="422"/>
                  <a:pt x="4" y="423"/>
                  <a:pt x="2" y="423"/>
                </a:cubicBezTo>
                <a:cubicBezTo>
                  <a:pt x="0" y="424"/>
                  <a:pt x="0" y="424"/>
                  <a:pt x="0" y="424"/>
                </a:cubicBezTo>
                <a:cubicBezTo>
                  <a:pt x="72" y="428"/>
                  <a:pt x="141" y="435"/>
                  <a:pt x="207" y="444"/>
                </a:cubicBezTo>
                <a:cubicBezTo>
                  <a:pt x="274" y="454"/>
                  <a:pt x="339" y="467"/>
                  <a:pt x="400" y="483"/>
                </a:cubicBezTo>
                <a:cubicBezTo>
                  <a:pt x="461" y="499"/>
                  <a:pt x="520" y="518"/>
                  <a:pt x="574" y="540"/>
                </a:cubicBezTo>
                <a:cubicBezTo>
                  <a:pt x="629" y="563"/>
                  <a:pt x="680" y="589"/>
                  <a:pt x="726" y="619"/>
                </a:cubicBezTo>
                <a:cubicBezTo>
                  <a:pt x="934" y="748"/>
                  <a:pt x="1099" y="851"/>
                  <a:pt x="1227" y="931"/>
                </a:cubicBezTo>
                <a:cubicBezTo>
                  <a:pt x="1361" y="1014"/>
                  <a:pt x="1453" y="1071"/>
                  <a:pt x="1516" y="1110"/>
                </a:cubicBezTo>
                <a:cubicBezTo>
                  <a:pt x="1579" y="1149"/>
                  <a:pt x="1612" y="1169"/>
                  <a:pt x="1628" y="1179"/>
                </a:cubicBezTo>
                <a:cubicBezTo>
                  <a:pt x="1644" y="1189"/>
                  <a:pt x="1644" y="1189"/>
                  <a:pt x="1644" y="1189"/>
                </a:cubicBezTo>
                <a:cubicBezTo>
                  <a:pt x="1644" y="1189"/>
                  <a:pt x="1644" y="1189"/>
                  <a:pt x="1644" y="1189"/>
                </a:cubicBezTo>
                <a:cubicBezTo>
                  <a:pt x="1644" y="1189"/>
                  <a:pt x="1644" y="1190"/>
                  <a:pt x="1644" y="1190"/>
                </a:cubicBezTo>
                <a:cubicBezTo>
                  <a:pt x="1644" y="1190"/>
                  <a:pt x="1644" y="1190"/>
                  <a:pt x="1644" y="1190"/>
                </a:cubicBezTo>
                <a:cubicBezTo>
                  <a:pt x="1644" y="1190"/>
                  <a:pt x="1644" y="1190"/>
                  <a:pt x="1644" y="1190"/>
                </a:cubicBezTo>
                <a:cubicBezTo>
                  <a:pt x="1844" y="1315"/>
                  <a:pt x="2000" y="1414"/>
                  <a:pt x="2122" y="1491"/>
                </a:cubicBezTo>
                <a:cubicBezTo>
                  <a:pt x="2248" y="1570"/>
                  <a:pt x="2334" y="1625"/>
                  <a:pt x="2393" y="1662"/>
                </a:cubicBezTo>
                <a:cubicBezTo>
                  <a:pt x="2452" y="1699"/>
                  <a:pt x="2482" y="1718"/>
                  <a:pt x="2497" y="1727"/>
                </a:cubicBezTo>
                <a:cubicBezTo>
                  <a:pt x="2512" y="1737"/>
                  <a:pt x="2512" y="1737"/>
                  <a:pt x="2512" y="1737"/>
                </a:cubicBezTo>
                <a:cubicBezTo>
                  <a:pt x="2512" y="1737"/>
                  <a:pt x="2512" y="1737"/>
                  <a:pt x="2512" y="1737"/>
                </a:cubicBezTo>
                <a:cubicBezTo>
                  <a:pt x="2512" y="1737"/>
                  <a:pt x="2512" y="1737"/>
                  <a:pt x="2512" y="1737"/>
                </a:cubicBezTo>
                <a:cubicBezTo>
                  <a:pt x="2513" y="1737"/>
                  <a:pt x="2513" y="1737"/>
                  <a:pt x="2513" y="1737"/>
                </a:cubicBezTo>
                <a:cubicBezTo>
                  <a:pt x="2513" y="1737"/>
                  <a:pt x="2513" y="1738"/>
                  <a:pt x="2513" y="1738"/>
                </a:cubicBezTo>
                <a:cubicBezTo>
                  <a:pt x="2536" y="1752"/>
                  <a:pt x="2553" y="1762"/>
                  <a:pt x="2565" y="1770"/>
                </a:cubicBezTo>
                <a:cubicBezTo>
                  <a:pt x="2578" y="1778"/>
                  <a:pt x="2587" y="1784"/>
                  <a:pt x="2592" y="1787"/>
                </a:cubicBezTo>
                <a:cubicBezTo>
                  <a:pt x="2598" y="1791"/>
                  <a:pt x="2601" y="1793"/>
                  <a:pt x="2602" y="1794"/>
                </a:cubicBezTo>
                <a:cubicBezTo>
                  <a:pt x="2604" y="1794"/>
                  <a:pt x="2604" y="1794"/>
                  <a:pt x="2604" y="1794"/>
                </a:cubicBezTo>
                <a:cubicBezTo>
                  <a:pt x="2663" y="1790"/>
                  <a:pt x="2707" y="1786"/>
                  <a:pt x="2741" y="1783"/>
                </a:cubicBezTo>
                <a:cubicBezTo>
                  <a:pt x="2774" y="1781"/>
                  <a:pt x="2796" y="1779"/>
                  <a:pt x="2811" y="1778"/>
                </a:cubicBezTo>
                <a:cubicBezTo>
                  <a:pt x="2825" y="1776"/>
                  <a:pt x="2833" y="1776"/>
                  <a:pt x="2836" y="1775"/>
                </a:cubicBezTo>
                <a:cubicBezTo>
                  <a:pt x="2840" y="1775"/>
                  <a:pt x="2840" y="1775"/>
                  <a:pt x="2840" y="1775"/>
                </a:cubicBezTo>
                <a:cubicBezTo>
                  <a:pt x="2977" y="1764"/>
                  <a:pt x="3079" y="1756"/>
                  <a:pt x="3155" y="1750"/>
                </a:cubicBezTo>
                <a:cubicBezTo>
                  <a:pt x="3231" y="1744"/>
                  <a:pt x="3282" y="1740"/>
                  <a:pt x="3315" y="1738"/>
                </a:cubicBezTo>
                <a:cubicBezTo>
                  <a:pt x="3349" y="1735"/>
                  <a:pt x="3366" y="1734"/>
                  <a:pt x="3374" y="1733"/>
                </a:cubicBezTo>
                <a:cubicBezTo>
                  <a:pt x="3383" y="1732"/>
                  <a:pt x="3383" y="1732"/>
                  <a:pt x="3383" y="1732"/>
                </a:cubicBezTo>
                <a:cubicBezTo>
                  <a:pt x="3403" y="1652"/>
                  <a:pt x="3418" y="1593"/>
                  <a:pt x="3428" y="1550"/>
                </a:cubicBezTo>
                <a:cubicBezTo>
                  <a:pt x="3439" y="1508"/>
                  <a:pt x="3446" y="1480"/>
                  <a:pt x="3451" y="1461"/>
                </a:cubicBezTo>
                <a:cubicBezTo>
                  <a:pt x="3455" y="1443"/>
                  <a:pt x="3457" y="1434"/>
                  <a:pt x="3459" y="1429"/>
                </a:cubicBezTo>
                <a:cubicBezTo>
                  <a:pt x="3460" y="1425"/>
                  <a:pt x="3460" y="1425"/>
                  <a:pt x="3460" y="1425"/>
                </a:cubicBezTo>
                <a:cubicBezTo>
                  <a:pt x="3470" y="1379"/>
                  <a:pt x="3478" y="1346"/>
                  <a:pt x="3484" y="1321"/>
                </a:cubicBezTo>
                <a:cubicBezTo>
                  <a:pt x="3490" y="1296"/>
                  <a:pt x="3494" y="1280"/>
                  <a:pt x="3496" y="1269"/>
                </a:cubicBezTo>
                <a:cubicBezTo>
                  <a:pt x="3499" y="1258"/>
                  <a:pt x="3500" y="1253"/>
                  <a:pt x="3501" y="1250"/>
                </a:cubicBezTo>
                <a:cubicBezTo>
                  <a:pt x="3501" y="1247"/>
                  <a:pt x="3501" y="1247"/>
                  <a:pt x="3501" y="1247"/>
                </a:cubicBezTo>
                <a:cubicBezTo>
                  <a:pt x="3389" y="1190"/>
                  <a:pt x="3389" y="1190"/>
                  <a:pt x="3389" y="1190"/>
                </a:cubicBezTo>
                <a:cubicBezTo>
                  <a:pt x="3387" y="1189"/>
                  <a:pt x="3387" y="1189"/>
                  <a:pt x="3387" y="1189"/>
                </a:cubicBezTo>
                <a:cubicBezTo>
                  <a:pt x="3176" y="1083"/>
                  <a:pt x="3019" y="1004"/>
                  <a:pt x="2901" y="944"/>
                </a:cubicBezTo>
                <a:cubicBezTo>
                  <a:pt x="2785" y="886"/>
                  <a:pt x="2705" y="846"/>
                  <a:pt x="2649" y="818"/>
                </a:cubicBezTo>
                <a:cubicBezTo>
                  <a:pt x="2593" y="790"/>
                  <a:pt x="2561" y="773"/>
                  <a:pt x="2541" y="763"/>
                </a:cubicBezTo>
                <a:cubicBezTo>
                  <a:pt x="2522" y="754"/>
                  <a:pt x="2516" y="751"/>
                  <a:pt x="2514" y="750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258" y="619"/>
                  <a:pt x="2077" y="527"/>
                  <a:pt x="1947" y="460"/>
                </a:cubicBezTo>
                <a:cubicBezTo>
                  <a:pt x="1821" y="396"/>
                  <a:pt x="1739" y="354"/>
                  <a:pt x="1685" y="327"/>
                </a:cubicBezTo>
                <a:cubicBezTo>
                  <a:pt x="1633" y="300"/>
                  <a:pt x="1606" y="287"/>
                  <a:pt x="1593" y="280"/>
                </a:cubicBezTo>
                <a:cubicBezTo>
                  <a:pt x="1581" y="273"/>
                  <a:pt x="1581" y="273"/>
                  <a:pt x="1581" y="273"/>
                </a:cubicBezTo>
                <a:cubicBezTo>
                  <a:pt x="1499" y="232"/>
                  <a:pt x="1413" y="196"/>
                  <a:pt x="1322" y="164"/>
                </a:cubicBezTo>
                <a:cubicBezTo>
                  <a:pt x="1233" y="133"/>
                  <a:pt x="1140" y="107"/>
                  <a:pt x="1043" y="84"/>
                </a:cubicBezTo>
                <a:cubicBezTo>
                  <a:pt x="948" y="62"/>
                  <a:pt x="848" y="44"/>
                  <a:pt x="747" y="30"/>
                </a:cubicBezTo>
                <a:cubicBezTo>
                  <a:pt x="646" y="17"/>
                  <a:pt x="541" y="6"/>
                  <a:pt x="435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Freeform 12"/>
          <p:cNvSpPr/>
          <p:nvPr/>
        </p:nvSpPr>
        <p:spPr bwMode="auto">
          <a:xfrm>
            <a:off x="3239259" y="2774738"/>
            <a:ext cx="2156830" cy="960972"/>
          </a:xfrm>
          <a:custGeom>
            <a:avLst/>
            <a:gdLst>
              <a:gd name="T0" fmla="*/ 2021 w 3490"/>
              <a:gd name="T1" fmla="*/ 0 h 1554"/>
              <a:gd name="T2" fmla="*/ 1791 w 3490"/>
              <a:gd name="T3" fmla="*/ 10 h 1554"/>
              <a:gd name="T4" fmla="*/ 1550 w 3490"/>
              <a:gd name="T5" fmla="*/ 41 h 1554"/>
              <a:gd name="T6" fmla="*/ 1300 w 3490"/>
              <a:gd name="T7" fmla="*/ 94 h 1554"/>
              <a:gd name="T8" fmla="*/ 1044 w 3490"/>
              <a:gd name="T9" fmla="*/ 171 h 1554"/>
              <a:gd name="T10" fmla="*/ 575 w 3490"/>
              <a:gd name="T11" fmla="*/ 383 h 1554"/>
              <a:gd name="T12" fmla="*/ 219 w 3490"/>
              <a:gd name="T13" fmla="*/ 651 h 1554"/>
              <a:gd name="T14" fmla="*/ 29 w 3490"/>
              <a:gd name="T15" fmla="*/ 954 h 1554"/>
              <a:gd name="T16" fmla="*/ 77 w 3490"/>
              <a:gd name="T17" fmla="*/ 1255 h 1554"/>
              <a:gd name="T18" fmla="*/ 210 w 3490"/>
              <a:gd name="T19" fmla="*/ 1382 h 1554"/>
              <a:gd name="T20" fmla="*/ 407 w 3490"/>
              <a:gd name="T21" fmla="*/ 1476 h 1554"/>
              <a:gd name="T22" fmla="*/ 659 w 3490"/>
              <a:gd name="T23" fmla="*/ 1534 h 1554"/>
              <a:gd name="T24" fmla="*/ 954 w 3490"/>
              <a:gd name="T25" fmla="*/ 1554 h 1554"/>
              <a:gd name="T26" fmla="*/ 1275 w 3490"/>
              <a:gd name="T27" fmla="*/ 1534 h 1554"/>
              <a:gd name="T28" fmla="*/ 1607 w 3490"/>
              <a:gd name="T29" fmla="*/ 1476 h 1554"/>
              <a:gd name="T30" fmla="*/ 1934 w 3490"/>
              <a:gd name="T31" fmla="*/ 1382 h 1554"/>
              <a:gd name="T32" fmla="*/ 2241 w 3490"/>
              <a:gd name="T33" fmla="*/ 1255 h 1554"/>
              <a:gd name="T34" fmla="*/ 3490 w 3490"/>
              <a:gd name="T35" fmla="*/ 651 h 1554"/>
              <a:gd name="T36" fmla="*/ 2763 w 3490"/>
              <a:gd name="T37" fmla="*/ 171 h 1554"/>
              <a:gd name="T38" fmla="*/ 2613 w 3490"/>
              <a:gd name="T39" fmla="*/ 94 h 1554"/>
              <a:gd name="T40" fmla="*/ 2436 w 3490"/>
              <a:gd name="T41" fmla="*/ 41 h 1554"/>
              <a:gd name="T42" fmla="*/ 2237 w 3490"/>
              <a:gd name="T43" fmla="*/ 10 h 1554"/>
              <a:gd name="T44" fmla="*/ 2021 w 3490"/>
              <a:gd name="T45" fmla="*/ 0 h 1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490" h="1554">
                <a:moveTo>
                  <a:pt x="2021" y="0"/>
                </a:moveTo>
                <a:cubicBezTo>
                  <a:pt x="1947" y="0"/>
                  <a:pt x="1870" y="3"/>
                  <a:pt x="1791" y="10"/>
                </a:cubicBezTo>
                <a:cubicBezTo>
                  <a:pt x="1712" y="17"/>
                  <a:pt x="1631" y="27"/>
                  <a:pt x="1550" y="41"/>
                </a:cubicBezTo>
                <a:cubicBezTo>
                  <a:pt x="1467" y="55"/>
                  <a:pt x="1384" y="73"/>
                  <a:pt x="1300" y="94"/>
                </a:cubicBezTo>
                <a:cubicBezTo>
                  <a:pt x="1215" y="116"/>
                  <a:pt x="1129" y="141"/>
                  <a:pt x="1044" y="171"/>
                </a:cubicBezTo>
                <a:cubicBezTo>
                  <a:pt x="870" y="231"/>
                  <a:pt x="712" y="303"/>
                  <a:pt x="575" y="383"/>
                </a:cubicBezTo>
                <a:cubicBezTo>
                  <a:pt x="433" y="465"/>
                  <a:pt x="312" y="556"/>
                  <a:pt x="219" y="651"/>
                </a:cubicBezTo>
                <a:cubicBezTo>
                  <a:pt x="123" y="750"/>
                  <a:pt x="56" y="853"/>
                  <a:pt x="29" y="954"/>
                </a:cubicBezTo>
                <a:cubicBezTo>
                  <a:pt x="0" y="1060"/>
                  <a:pt x="13" y="1163"/>
                  <a:pt x="77" y="1255"/>
                </a:cubicBezTo>
                <a:cubicBezTo>
                  <a:pt x="110" y="1303"/>
                  <a:pt x="155" y="1345"/>
                  <a:pt x="210" y="1382"/>
                </a:cubicBezTo>
                <a:cubicBezTo>
                  <a:pt x="266" y="1419"/>
                  <a:pt x="332" y="1451"/>
                  <a:pt x="407" y="1476"/>
                </a:cubicBezTo>
                <a:cubicBezTo>
                  <a:pt x="483" y="1502"/>
                  <a:pt x="568" y="1521"/>
                  <a:pt x="659" y="1534"/>
                </a:cubicBezTo>
                <a:cubicBezTo>
                  <a:pt x="751" y="1547"/>
                  <a:pt x="850" y="1554"/>
                  <a:pt x="954" y="1554"/>
                </a:cubicBezTo>
                <a:cubicBezTo>
                  <a:pt x="1057" y="1554"/>
                  <a:pt x="1165" y="1547"/>
                  <a:pt x="1275" y="1534"/>
                </a:cubicBezTo>
                <a:cubicBezTo>
                  <a:pt x="1384" y="1521"/>
                  <a:pt x="1496" y="1502"/>
                  <a:pt x="1607" y="1476"/>
                </a:cubicBezTo>
                <a:cubicBezTo>
                  <a:pt x="1717" y="1451"/>
                  <a:pt x="1827" y="1419"/>
                  <a:pt x="1934" y="1382"/>
                </a:cubicBezTo>
                <a:cubicBezTo>
                  <a:pt x="2039" y="1345"/>
                  <a:pt x="2142" y="1303"/>
                  <a:pt x="2241" y="1255"/>
                </a:cubicBezTo>
                <a:cubicBezTo>
                  <a:pt x="3490" y="651"/>
                  <a:pt x="3490" y="651"/>
                  <a:pt x="3490" y="651"/>
                </a:cubicBezTo>
                <a:cubicBezTo>
                  <a:pt x="2763" y="171"/>
                  <a:pt x="2763" y="171"/>
                  <a:pt x="2763" y="171"/>
                </a:cubicBezTo>
                <a:cubicBezTo>
                  <a:pt x="2718" y="141"/>
                  <a:pt x="2668" y="116"/>
                  <a:pt x="2613" y="94"/>
                </a:cubicBezTo>
                <a:cubicBezTo>
                  <a:pt x="2558" y="73"/>
                  <a:pt x="2499" y="55"/>
                  <a:pt x="2436" y="41"/>
                </a:cubicBezTo>
                <a:cubicBezTo>
                  <a:pt x="2373" y="27"/>
                  <a:pt x="2307" y="17"/>
                  <a:pt x="2237" y="10"/>
                </a:cubicBezTo>
                <a:cubicBezTo>
                  <a:pt x="2168" y="3"/>
                  <a:pt x="2096" y="0"/>
                  <a:pt x="2021" y="0"/>
                </a:cubicBezTo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Freeform 13"/>
          <p:cNvSpPr/>
          <p:nvPr/>
        </p:nvSpPr>
        <p:spPr bwMode="auto">
          <a:xfrm>
            <a:off x="6989778" y="2774738"/>
            <a:ext cx="2156307" cy="960972"/>
          </a:xfrm>
          <a:custGeom>
            <a:avLst/>
            <a:gdLst>
              <a:gd name="T0" fmla="*/ 1469 w 3489"/>
              <a:gd name="T1" fmla="*/ 0 h 1554"/>
              <a:gd name="T2" fmla="*/ 1253 w 3489"/>
              <a:gd name="T3" fmla="*/ 10 h 1554"/>
              <a:gd name="T4" fmla="*/ 1055 w 3489"/>
              <a:gd name="T5" fmla="*/ 41 h 1554"/>
              <a:gd name="T6" fmla="*/ 878 w 3489"/>
              <a:gd name="T7" fmla="*/ 94 h 1554"/>
              <a:gd name="T8" fmla="*/ 727 w 3489"/>
              <a:gd name="T9" fmla="*/ 171 h 1554"/>
              <a:gd name="T10" fmla="*/ 0 w 3489"/>
              <a:gd name="T11" fmla="*/ 651 h 1554"/>
              <a:gd name="T12" fmla="*/ 1248 w 3489"/>
              <a:gd name="T13" fmla="*/ 1255 h 1554"/>
              <a:gd name="T14" fmla="*/ 1555 w 3489"/>
              <a:gd name="T15" fmla="*/ 1382 h 1554"/>
              <a:gd name="T16" fmla="*/ 1882 w 3489"/>
              <a:gd name="T17" fmla="*/ 1476 h 1554"/>
              <a:gd name="T18" fmla="*/ 2214 w 3489"/>
              <a:gd name="T19" fmla="*/ 1534 h 1554"/>
              <a:gd name="T20" fmla="*/ 2535 w 3489"/>
              <a:gd name="T21" fmla="*/ 1554 h 1554"/>
              <a:gd name="T22" fmla="*/ 2829 w 3489"/>
              <a:gd name="T23" fmla="*/ 1534 h 1554"/>
              <a:gd name="T24" fmla="*/ 3081 w 3489"/>
              <a:gd name="T25" fmla="*/ 1476 h 1554"/>
              <a:gd name="T26" fmla="*/ 3279 w 3489"/>
              <a:gd name="T27" fmla="*/ 1382 h 1554"/>
              <a:gd name="T28" fmla="*/ 3412 w 3489"/>
              <a:gd name="T29" fmla="*/ 1255 h 1554"/>
              <a:gd name="T30" fmla="*/ 3461 w 3489"/>
              <a:gd name="T31" fmla="*/ 954 h 1554"/>
              <a:gd name="T32" fmla="*/ 3270 w 3489"/>
              <a:gd name="T33" fmla="*/ 651 h 1554"/>
              <a:gd name="T34" fmla="*/ 2915 w 3489"/>
              <a:gd name="T35" fmla="*/ 383 h 1554"/>
              <a:gd name="T36" fmla="*/ 2446 w 3489"/>
              <a:gd name="T37" fmla="*/ 171 h 1554"/>
              <a:gd name="T38" fmla="*/ 2191 w 3489"/>
              <a:gd name="T39" fmla="*/ 94 h 1554"/>
              <a:gd name="T40" fmla="*/ 1941 w 3489"/>
              <a:gd name="T41" fmla="*/ 41 h 1554"/>
              <a:gd name="T42" fmla="*/ 1700 w 3489"/>
              <a:gd name="T43" fmla="*/ 10 h 1554"/>
              <a:gd name="T44" fmla="*/ 1469 w 3489"/>
              <a:gd name="T45" fmla="*/ 0 h 1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489" h="1554">
                <a:moveTo>
                  <a:pt x="1469" y="0"/>
                </a:moveTo>
                <a:cubicBezTo>
                  <a:pt x="1395" y="0"/>
                  <a:pt x="1322" y="3"/>
                  <a:pt x="1253" y="10"/>
                </a:cubicBezTo>
                <a:cubicBezTo>
                  <a:pt x="1184" y="17"/>
                  <a:pt x="1117" y="27"/>
                  <a:pt x="1055" y="41"/>
                </a:cubicBezTo>
                <a:cubicBezTo>
                  <a:pt x="991" y="55"/>
                  <a:pt x="932" y="73"/>
                  <a:pt x="878" y="94"/>
                </a:cubicBezTo>
                <a:cubicBezTo>
                  <a:pt x="822" y="116"/>
                  <a:pt x="772" y="141"/>
                  <a:pt x="727" y="171"/>
                </a:cubicBezTo>
                <a:cubicBezTo>
                  <a:pt x="0" y="651"/>
                  <a:pt x="0" y="651"/>
                  <a:pt x="0" y="651"/>
                </a:cubicBezTo>
                <a:cubicBezTo>
                  <a:pt x="1248" y="1255"/>
                  <a:pt x="1248" y="1255"/>
                  <a:pt x="1248" y="1255"/>
                </a:cubicBezTo>
                <a:cubicBezTo>
                  <a:pt x="1346" y="1303"/>
                  <a:pt x="1449" y="1345"/>
                  <a:pt x="1555" y="1382"/>
                </a:cubicBezTo>
                <a:cubicBezTo>
                  <a:pt x="1662" y="1419"/>
                  <a:pt x="1771" y="1451"/>
                  <a:pt x="1882" y="1476"/>
                </a:cubicBezTo>
                <a:cubicBezTo>
                  <a:pt x="1993" y="1502"/>
                  <a:pt x="2104" y="1521"/>
                  <a:pt x="2214" y="1534"/>
                </a:cubicBezTo>
                <a:cubicBezTo>
                  <a:pt x="2324" y="1547"/>
                  <a:pt x="2431" y="1554"/>
                  <a:pt x="2535" y="1554"/>
                </a:cubicBezTo>
                <a:cubicBezTo>
                  <a:pt x="2638" y="1554"/>
                  <a:pt x="2737" y="1547"/>
                  <a:pt x="2829" y="1534"/>
                </a:cubicBezTo>
                <a:cubicBezTo>
                  <a:pt x="2921" y="1521"/>
                  <a:pt x="3005" y="1502"/>
                  <a:pt x="3081" y="1476"/>
                </a:cubicBezTo>
                <a:cubicBezTo>
                  <a:pt x="3157" y="1451"/>
                  <a:pt x="3223" y="1419"/>
                  <a:pt x="3279" y="1382"/>
                </a:cubicBezTo>
                <a:cubicBezTo>
                  <a:pt x="3334" y="1345"/>
                  <a:pt x="3379" y="1303"/>
                  <a:pt x="3412" y="1255"/>
                </a:cubicBezTo>
                <a:cubicBezTo>
                  <a:pt x="3476" y="1163"/>
                  <a:pt x="3489" y="1060"/>
                  <a:pt x="3461" y="954"/>
                </a:cubicBezTo>
                <a:cubicBezTo>
                  <a:pt x="3433" y="853"/>
                  <a:pt x="3367" y="750"/>
                  <a:pt x="3270" y="651"/>
                </a:cubicBezTo>
                <a:cubicBezTo>
                  <a:pt x="3178" y="556"/>
                  <a:pt x="3057" y="465"/>
                  <a:pt x="2915" y="383"/>
                </a:cubicBezTo>
                <a:cubicBezTo>
                  <a:pt x="2778" y="303"/>
                  <a:pt x="2620" y="231"/>
                  <a:pt x="2446" y="171"/>
                </a:cubicBezTo>
                <a:cubicBezTo>
                  <a:pt x="2361" y="141"/>
                  <a:pt x="2275" y="116"/>
                  <a:pt x="2191" y="94"/>
                </a:cubicBezTo>
                <a:cubicBezTo>
                  <a:pt x="2107" y="73"/>
                  <a:pt x="2023" y="55"/>
                  <a:pt x="1941" y="41"/>
                </a:cubicBezTo>
                <a:cubicBezTo>
                  <a:pt x="1859" y="27"/>
                  <a:pt x="1779" y="17"/>
                  <a:pt x="1700" y="10"/>
                </a:cubicBezTo>
                <a:cubicBezTo>
                  <a:pt x="1621" y="3"/>
                  <a:pt x="1544" y="0"/>
                  <a:pt x="1469" y="0"/>
                </a:cubicBezTo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Freeform 14"/>
          <p:cNvSpPr/>
          <p:nvPr/>
        </p:nvSpPr>
        <p:spPr bwMode="auto">
          <a:xfrm>
            <a:off x="1891959" y="3113722"/>
            <a:ext cx="2071562" cy="1590287"/>
          </a:xfrm>
          <a:custGeom>
            <a:avLst/>
            <a:gdLst>
              <a:gd name="T0" fmla="*/ 1625 w 3352"/>
              <a:gd name="T1" fmla="*/ 0 h 2572"/>
              <a:gd name="T2" fmla="*/ 1294 w 3352"/>
              <a:gd name="T3" fmla="*/ 85 h 2572"/>
              <a:gd name="T4" fmla="*/ 1119 w 3352"/>
              <a:gd name="T5" fmla="*/ 131 h 2572"/>
              <a:gd name="T6" fmla="*/ 1054 w 3352"/>
              <a:gd name="T7" fmla="*/ 147 h 2572"/>
              <a:gd name="T8" fmla="*/ 1045 w 3352"/>
              <a:gd name="T9" fmla="*/ 150 h 2572"/>
              <a:gd name="T10" fmla="*/ 854 w 3352"/>
              <a:gd name="T11" fmla="*/ 200 h 2572"/>
              <a:gd name="T12" fmla="*/ 755 w 3352"/>
              <a:gd name="T13" fmla="*/ 226 h 2572"/>
              <a:gd name="T14" fmla="*/ 718 w 3352"/>
              <a:gd name="T15" fmla="*/ 235 h 2572"/>
              <a:gd name="T16" fmla="*/ 712 w 3352"/>
              <a:gd name="T17" fmla="*/ 237 h 2572"/>
              <a:gd name="T18" fmla="*/ 402 w 3352"/>
              <a:gd name="T19" fmla="*/ 545 h 2572"/>
              <a:gd name="T20" fmla="*/ 163 w 3352"/>
              <a:gd name="T21" fmla="*/ 883 h 2572"/>
              <a:gd name="T22" fmla="*/ 26 w 3352"/>
              <a:gd name="T23" fmla="*/ 1242 h 2572"/>
              <a:gd name="T24" fmla="*/ 27 w 3352"/>
              <a:gd name="T25" fmla="*/ 1612 h 2572"/>
              <a:gd name="T26" fmla="*/ 227 w 3352"/>
              <a:gd name="T27" fmla="*/ 1999 h 2572"/>
              <a:gd name="T28" fmla="*/ 649 w 3352"/>
              <a:gd name="T29" fmla="*/ 2306 h 2572"/>
              <a:gd name="T30" fmla="*/ 1275 w 3352"/>
              <a:gd name="T31" fmla="*/ 2504 h 2572"/>
              <a:gd name="T32" fmla="*/ 2060 w 3352"/>
              <a:gd name="T33" fmla="*/ 2572 h 2572"/>
              <a:gd name="T34" fmla="*/ 2301 w 3352"/>
              <a:gd name="T35" fmla="*/ 2567 h 2572"/>
              <a:gd name="T36" fmla="*/ 2549 w 3352"/>
              <a:gd name="T37" fmla="*/ 2551 h 2572"/>
              <a:gd name="T38" fmla="*/ 2800 w 3352"/>
              <a:gd name="T39" fmla="*/ 2523 h 2572"/>
              <a:gd name="T40" fmla="*/ 3053 w 3352"/>
              <a:gd name="T41" fmla="*/ 2485 h 2572"/>
              <a:gd name="T42" fmla="*/ 2946 w 3352"/>
              <a:gd name="T43" fmla="*/ 2295 h 2572"/>
              <a:gd name="T44" fmla="*/ 2892 w 3352"/>
              <a:gd name="T45" fmla="*/ 2202 h 2572"/>
              <a:gd name="T46" fmla="*/ 2873 w 3352"/>
              <a:gd name="T47" fmla="*/ 2168 h 2572"/>
              <a:gd name="T48" fmla="*/ 2870 w 3352"/>
              <a:gd name="T49" fmla="*/ 2163 h 2572"/>
              <a:gd name="T50" fmla="*/ 2654 w 3352"/>
              <a:gd name="T51" fmla="*/ 1776 h 2572"/>
              <a:gd name="T52" fmla="*/ 2979 w 3352"/>
              <a:gd name="T53" fmla="*/ 1523 h 2572"/>
              <a:gd name="T54" fmla="*/ 3136 w 3352"/>
              <a:gd name="T55" fmla="*/ 1401 h 2572"/>
              <a:gd name="T56" fmla="*/ 3193 w 3352"/>
              <a:gd name="T57" fmla="*/ 1357 h 2572"/>
              <a:gd name="T58" fmla="*/ 3201 w 3352"/>
              <a:gd name="T59" fmla="*/ 1351 h 2572"/>
              <a:gd name="T60" fmla="*/ 3289 w 3352"/>
              <a:gd name="T61" fmla="*/ 1281 h 2572"/>
              <a:gd name="T62" fmla="*/ 3334 w 3352"/>
              <a:gd name="T63" fmla="*/ 1246 h 2572"/>
              <a:gd name="T64" fmla="*/ 3350 w 3352"/>
              <a:gd name="T65" fmla="*/ 1233 h 2572"/>
              <a:gd name="T66" fmla="*/ 3352 w 3352"/>
              <a:gd name="T67" fmla="*/ 1232 h 2572"/>
              <a:gd name="T68" fmla="*/ 3255 w 3352"/>
              <a:gd name="T69" fmla="*/ 1242 h 2572"/>
              <a:gd name="T70" fmla="*/ 3159 w 3352"/>
              <a:gd name="T71" fmla="*/ 1249 h 2572"/>
              <a:gd name="T72" fmla="*/ 3064 w 3352"/>
              <a:gd name="T73" fmla="*/ 1254 h 2572"/>
              <a:gd name="T74" fmla="*/ 2971 w 3352"/>
              <a:gd name="T75" fmla="*/ 1255 h 2572"/>
              <a:gd name="T76" fmla="*/ 2599 w 3352"/>
              <a:gd name="T77" fmla="*/ 1229 h 2572"/>
              <a:gd name="T78" fmla="*/ 2282 w 3352"/>
              <a:gd name="T79" fmla="*/ 1151 h 2572"/>
              <a:gd name="T80" fmla="*/ 2040 w 3352"/>
              <a:gd name="T81" fmla="*/ 1028 h 2572"/>
              <a:gd name="T82" fmla="*/ 1885 w 3352"/>
              <a:gd name="T83" fmla="*/ 864 h 2572"/>
              <a:gd name="T84" fmla="*/ 1827 w 3352"/>
              <a:gd name="T85" fmla="*/ 710 h 2572"/>
              <a:gd name="T86" fmla="*/ 1830 w 3352"/>
              <a:gd name="T87" fmla="*/ 552 h 2572"/>
              <a:gd name="T88" fmla="*/ 1886 w 3352"/>
              <a:gd name="T89" fmla="*/ 395 h 2572"/>
              <a:gd name="T90" fmla="*/ 1985 w 3352"/>
              <a:gd name="T91" fmla="*/ 241 h 2572"/>
              <a:gd name="T92" fmla="*/ 1910 w 3352"/>
              <a:gd name="T93" fmla="*/ 190 h 2572"/>
              <a:gd name="T94" fmla="*/ 1872 w 3352"/>
              <a:gd name="T95" fmla="*/ 164 h 2572"/>
              <a:gd name="T96" fmla="*/ 1858 w 3352"/>
              <a:gd name="T97" fmla="*/ 155 h 2572"/>
              <a:gd name="T98" fmla="*/ 1856 w 3352"/>
              <a:gd name="T99" fmla="*/ 154 h 2572"/>
              <a:gd name="T100" fmla="*/ 1720 w 3352"/>
              <a:gd name="T101" fmla="*/ 63 h 2572"/>
              <a:gd name="T102" fmla="*/ 1653 w 3352"/>
              <a:gd name="T103" fmla="*/ 18 h 2572"/>
              <a:gd name="T104" fmla="*/ 1628 w 3352"/>
              <a:gd name="T105" fmla="*/ 2 h 2572"/>
              <a:gd name="T106" fmla="*/ 1625 w 3352"/>
              <a:gd name="T107" fmla="*/ 0 h 2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352" h="2572">
                <a:moveTo>
                  <a:pt x="1625" y="0"/>
                </a:moveTo>
                <a:cubicBezTo>
                  <a:pt x="1483" y="36"/>
                  <a:pt x="1375" y="64"/>
                  <a:pt x="1294" y="85"/>
                </a:cubicBezTo>
                <a:cubicBezTo>
                  <a:pt x="1212" y="107"/>
                  <a:pt x="1156" y="121"/>
                  <a:pt x="1119" y="131"/>
                </a:cubicBezTo>
                <a:cubicBezTo>
                  <a:pt x="1082" y="140"/>
                  <a:pt x="1063" y="145"/>
                  <a:pt x="1054" y="147"/>
                </a:cubicBezTo>
                <a:cubicBezTo>
                  <a:pt x="1045" y="150"/>
                  <a:pt x="1045" y="150"/>
                  <a:pt x="1045" y="150"/>
                </a:cubicBezTo>
                <a:cubicBezTo>
                  <a:pt x="963" y="171"/>
                  <a:pt x="901" y="187"/>
                  <a:pt x="854" y="200"/>
                </a:cubicBezTo>
                <a:cubicBezTo>
                  <a:pt x="807" y="212"/>
                  <a:pt x="776" y="220"/>
                  <a:pt x="755" y="226"/>
                </a:cubicBezTo>
                <a:cubicBezTo>
                  <a:pt x="734" y="231"/>
                  <a:pt x="723" y="234"/>
                  <a:pt x="718" y="235"/>
                </a:cubicBezTo>
                <a:cubicBezTo>
                  <a:pt x="712" y="237"/>
                  <a:pt x="712" y="237"/>
                  <a:pt x="712" y="237"/>
                </a:cubicBezTo>
                <a:cubicBezTo>
                  <a:pt x="597" y="336"/>
                  <a:pt x="493" y="439"/>
                  <a:pt x="402" y="545"/>
                </a:cubicBezTo>
                <a:cubicBezTo>
                  <a:pt x="307" y="655"/>
                  <a:pt x="226" y="768"/>
                  <a:pt x="163" y="883"/>
                </a:cubicBezTo>
                <a:cubicBezTo>
                  <a:pt x="97" y="1002"/>
                  <a:pt x="50" y="1123"/>
                  <a:pt x="26" y="1242"/>
                </a:cubicBezTo>
                <a:cubicBezTo>
                  <a:pt x="1" y="1368"/>
                  <a:pt x="0" y="1492"/>
                  <a:pt x="27" y="1612"/>
                </a:cubicBezTo>
                <a:cubicBezTo>
                  <a:pt x="58" y="1754"/>
                  <a:pt x="125" y="1884"/>
                  <a:pt x="227" y="1999"/>
                </a:cubicBezTo>
                <a:cubicBezTo>
                  <a:pt x="333" y="2119"/>
                  <a:pt x="475" y="2221"/>
                  <a:pt x="649" y="2306"/>
                </a:cubicBezTo>
                <a:cubicBezTo>
                  <a:pt x="828" y="2393"/>
                  <a:pt x="1038" y="2459"/>
                  <a:pt x="1275" y="2504"/>
                </a:cubicBezTo>
                <a:cubicBezTo>
                  <a:pt x="1515" y="2550"/>
                  <a:pt x="1779" y="2572"/>
                  <a:pt x="2060" y="2572"/>
                </a:cubicBezTo>
                <a:cubicBezTo>
                  <a:pt x="2139" y="2572"/>
                  <a:pt x="2220" y="2571"/>
                  <a:pt x="2301" y="2567"/>
                </a:cubicBezTo>
                <a:cubicBezTo>
                  <a:pt x="2383" y="2563"/>
                  <a:pt x="2465" y="2558"/>
                  <a:pt x="2549" y="2551"/>
                </a:cubicBezTo>
                <a:cubicBezTo>
                  <a:pt x="2632" y="2543"/>
                  <a:pt x="2716" y="2534"/>
                  <a:pt x="2800" y="2523"/>
                </a:cubicBezTo>
                <a:cubicBezTo>
                  <a:pt x="2884" y="2512"/>
                  <a:pt x="2969" y="2500"/>
                  <a:pt x="3053" y="2485"/>
                </a:cubicBezTo>
                <a:cubicBezTo>
                  <a:pt x="3006" y="2402"/>
                  <a:pt x="2971" y="2341"/>
                  <a:pt x="2946" y="2295"/>
                </a:cubicBezTo>
                <a:cubicBezTo>
                  <a:pt x="2920" y="2251"/>
                  <a:pt x="2903" y="2221"/>
                  <a:pt x="2892" y="2202"/>
                </a:cubicBezTo>
                <a:cubicBezTo>
                  <a:pt x="2881" y="2182"/>
                  <a:pt x="2876" y="2173"/>
                  <a:pt x="2873" y="2168"/>
                </a:cubicBezTo>
                <a:cubicBezTo>
                  <a:pt x="2870" y="2163"/>
                  <a:pt x="2870" y="2163"/>
                  <a:pt x="2870" y="2163"/>
                </a:cubicBezTo>
                <a:cubicBezTo>
                  <a:pt x="2654" y="1776"/>
                  <a:pt x="2654" y="1776"/>
                  <a:pt x="2654" y="1776"/>
                </a:cubicBezTo>
                <a:cubicBezTo>
                  <a:pt x="2798" y="1664"/>
                  <a:pt x="2902" y="1583"/>
                  <a:pt x="2979" y="1523"/>
                </a:cubicBezTo>
                <a:cubicBezTo>
                  <a:pt x="3054" y="1465"/>
                  <a:pt x="3104" y="1426"/>
                  <a:pt x="3136" y="1401"/>
                </a:cubicBezTo>
                <a:cubicBezTo>
                  <a:pt x="3169" y="1376"/>
                  <a:pt x="3185" y="1364"/>
                  <a:pt x="3193" y="1357"/>
                </a:cubicBezTo>
                <a:cubicBezTo>
                  <a:pt x="3201" y="1351"/>
                  <a:pt x="3201" y="1351"/>
                  <a:pt x="3201" y="1351"/>
                </a:cubicBezTo>
                <a:cubicBezTo>
                  <a:pt x="3239" y="1321"/>
                  <a:pt x="3268" y="1298"/>
                  <a:pt x="3289" y="1281"/>
                </a:cubicBezTo>
                <a:cubicBezTo>
                  <a:pt x="3310" y="1265"/>
                  <a:pt x="3324" y="1254"/>
                  <a:pt x="3334" y="1246"/>
                </a:cubicBezTo>
                <a:cubicBezTo>
                  <a:pt x="3343" y="1239"/>
                  <a:pt x="3348" y="1235"/>
                  <a:pt x="3350" y="1233"/>
                </a:cubicBezTo>
                <a:cubicBezTo>
                  <a:pt x="3352" y="1232"/>
                  <a:pt x="3352" y="1232"/>
                  <a:pt x="3352" y="1232"/>
                </a:cubicBezTo>
                <a:cubicBezTo>
                  <a:pt x="3320" y="1235"/>
                  <a:pt x="3288" y="1239"/>
                  <a:pt x="3255" y="1242"/>
                </a:cubicBezTo>
                <a:cubicBezTo>
                  <a:pt x="3223" y="1245"/>
                  <a:pt x="3191" y="1247"/>
                  <a:pt x="3159" y="1249"/>
                </a:cubicBezTo>
                <a:cubicBezTo>
                  <a:pt x="3127" y="1251"/>
                  <a:pt x="3096" y="1253"/>
                  <a:pt x="3064" y="1254"/>
                </a:cubicBezTo>
                <a:cubicBezTo>
                  <a:pt x="3033" y="1255"/>
                  <a:pt x="3002" y="1255"/>
                  <a:pt x="2971" y="1255"/>
                </a:cubicBezTo>
                <a:cubicBezTo>
                  <a:pt x="2840" y="1255"/>
                  <a:pt x="2715" y="1246"/>
                  <a:pt x="2599" y="1229"/>
                </a:cubicBezTo>
                <a:cubicBezTo>
                  <a:pt x="2483" y="1211"/>
                  <a:pt x="2377" y="1185"/>
                  <a:pt x="2282" y="1151"/>
                </a:cubicBezTo>
                <a:cubicBezTo>
                  <a:pt x="2189" y="1118"/>
                  <a:pt x="2108" y="1076"/>
                  <a:pt x="2040" y="1028"/>
                </a:cubicBezTo>
                <a:cubicBezTo>
                  <a:pt x="1974" y="980"/>
                  <a:pt x="1921" y="925"/>
                  <a:pt x="1885" y="864"/>
                </a:cubicBezTo>
                <a:cubicBezTo>
                  <a:pt x="1855" y="814"/>
                  <a:pt x="1836" y="763"/>
                  <a:pt x="1827" y="710"/>
                </a:cubicBezTo>
                <a:cubicBezTo>
                  <a:pt x="1819" y="658"/>
                  <a:pt x="1820" y="605"/>
                  <a:pt x="1830" y="552"/>
                </a:cubicBezTo>
                <a:cubicBezTo>
                  <a:pt x="1841" y="500"/>
                  <a:pt x="1859" y="447"/>
                  <a:pt x="1886" y="395"/>
                </a:cubicBezTo>
                <a:cubicBezTo>
                  <a:pt x="1912" y="343"/>
                  <a:pt x="1945" y="292"/>
                  <a:pt x="1985" y="241"/>
                </a:cubicBezTo>
                <a:cubicBezTo>
                  <a:pt x="1953" y="219"/>
                  <a:pt x="1928" y="202"/>
                  <a:pt x="1910" y="190"/>
                </a:cubicBezTo>
                <a:cubicBezTo>
                  <a:pt x="1892" y="178"/>
                  <a:pt x="1880" y="170"/>
                  <a:pt x="1872" y="164"/>
                </a:cubicBezTo>
                <a:cubicBezTo>
                  <a:pt x="1864" y="159"/>
                  <a:pt x="1860" y="156"/>
                  <a:pt x="1858" y="155"/>
                </a:cubicBezTo>
                <a:cubicBezTo>
                  <a:pt x="1856" y="154"/>
                  <a:pt x="1856" y="154"/>
                  <a:pt x="1856" y="154"/>
                </a:cubicBezTo>
                <a:cubicBezTo>
                  <a:pt x="1797" y="114"/>
                  <a:pt x="1753" y="85"/>
                  <a:pt x="1720" y="63"/>
                </a:cubicBezTo>
                <a:cubicBezTo>
                  <a:pt x="1688" y="42"/>
                  <a:pt x="1667" y="28"/>
                  <a:pt x="1653" y="18"/>
                </a:cubicBezTo>
                <a:cubicBezTo>
                  <a:pt x="1639" y="9"/>
                  <a:pt x="1632" y="4"/>
                  <a:pt x="1628" y="2"/>
                </a:cubicBezTo>
                <a:cubicBezTo>
                  <a:pt x="1625" y="0"/>
                  <a:pt x="1625" y="0"/>
                  <a:pt x="1625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3" name="Rectangle 74"/>
          <p:cNvSpPr/>
          <p:nvPr/>
        </p:nvSpPr>
        <p:spPr>
          <a:xfrm>
            <a:off x="3430795" y="3022830"/>
            <a:ext cx="1420497" cy="384721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种类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品牌是专有的品牌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Rectangle 75"/>
          <p:cNvSpPr/>
          <p:nvPr/>
        </p:nvSpPr>
        <p:spPr>
          <a:xfrm>
            <a:off x="7553578" y="3018878"/>
            <a:ext cx="1420497" cy="384175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特征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品牌是专有的品牌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75" name="Straight Connector 80"/>
          <p:cNvCxnSpPr/>
          <p:nvPr/>
        </p:nvCxnSpPr>
        <p:spPr>
          <a:xfrm flipH="1">
            <a:off x="5230531" y="3926237"/>
            <a:ext cx="1" cy="763002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83"/>
          <p:cNvSpPr/>
          <p:nvPr/>
        </p:nvSpPr>
        <p:spPr>
          <a:xfrm>
            <a:off x="4694757" y="4695980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77" name="Straight Connector 84"/>
          <p:cNvCxnSpPr/>
          <p:nvPr/>
        </p:nvCxnSpPr>
        <p:spPr>
          <a:xfrm flipH="1">
            <a:off x="2379711" y="2542834"/>
            <a:ext cx="1" cy="1307274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88"/>
          <p:cNvSpPr/>
          <p:nvPr/>
        </p:nvSpPr>
        <p:spPr>
          <a:xfrm>
            <a:off x="1843936" y="2314024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1" name="Straight Connector 92"/>
          <p:cNvCxnSpPr/>
          <p:nvPr/>
        </p:nvCxnSpPr>
        <p:spPr>
          <a:xfrm flipH="1">
            <a:off x="3735113" y="1641101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95"/>
          <p:cNvSpPr/>
          <p:nvPr/>
        </p:nvSpPr>
        <p:spPr>
          <a:xfrm>
            <a:off x="3199337" y="1412294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3" name="Straight Connector 103"/>
          <p:cNvCxnSpPr/>
          <p:nvPr/>
        </p:nvCxnSpPr>
        <p:spPr>
          <a:xfrm flipH="1">
            <a:off x="5679953" y="1825927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104"/>
          <p:cNvSpPr/>
          <p:nvPr/>
        </p:nvSpPr>
        <p:spPr>
          <a:xfrm>
            <a:off x="5144177" y="1597120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5" name="Straight Connector 107"/>
          <p:cNvCxnSpPr/>
          <p:nvPr/>
        </p:nvCxnSpPr>
        <p:spPr>
          <a:xfrm flipH="1">
            <a:off x="7593895" y="4116298"/>
            <a:ext cx="1" cy="763002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08"/>
          <p:cNvSpPr/>
          <p:nvPr/>
        </p:nvSpPr>
        <p:spPr>
          <a:xfrm>
            <a:off x="7058122" y="4886040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9" name="Straight Connector 111"/>
          <p:cNvCxnSpPr/>
          <p:nvPr/>
        </p:nvCxnSpPr>
        <p:spPr>
          <a:xfrm flipH="1">
            <a:off x="9948654" y="2493073"/>
            <a:ext cx="1" cy="1307274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112"/>
          <p:cNvSpPr/>
          <p:nvPr/>
        </p:nvSpPr>
        <p:spPr>
          <a:xfrm>
            <a:off x="9412879" y="2264263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91" name="Straight Connector 115"/>
          <p:cNvCxnSpPr/>
          <p:nvPr/>
        </p:nvCxnSpPr>
        <p:spPr>
          <a:xfrm flipH="1">
            <a:off x="8709749" y="1678905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116"/>
          <p:cNvSpPr/>
          <p:nvPr/>
        </p:nvSpPr>
        <p:spPr>
          <a:xfrm>
            <a:off x="8173974" y="1450098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93" name="Straight Connector 119"/>
          <p:cNvCxnSpPr/>
          <p:nvPr/>
        </p:nvCxnSpPr>
        <p:spPr>
          <a:xfrm flipH="1">
            <a:off x="6988067" y="1649501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120"/>
          <p:cNvSpPr/>
          <p:nvPr/>
        </p:nvSpPr>
        <p:spPr>
          <a:xfrm>
            <a:off x="6452292" y="1420694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5" name="对话气泡: 矩形 94"/>
          <p:cNvSpPr/>
          <p:nvPr/>
        </p:nvSpPr>
        <p:spPr>
          <a:xfrm>
            <a:off x="660212" y="1063880"/>
            <a:ext cx="2424763" cy="983556"/>
          </a:xfrm>
          <a:prstGeom prst="wedgeRectCallout">
            <a:avLst>
              <a:gd name="adj1" fmla="val 61572"/>
              <a:gd name="adj2" fmla="val -8428"/>
            </a:avLst>
          </a:prstGeom>
          <a:solidFill>
            <a:schemeClr val="accent1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6" name="TextBox 93"/>
          <p:cNvSpPr txBox="1"/>
          <p:nvPr/>
        </p:nvSpPr>
        <p:spPr>
          <a:xfrm>
            <a:off x="707229" y="1122727"/>
            <a:ext cx="1364460" cy="302237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三大品牌策略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7" name="TextBox 94"/>
          <p:cNvSpPr txBox="1"/>
          <p:nvPr/>
        </p:nvSpPr>
        <p:spPr>
          <a:xfrm>
            <a:off x="712822" y="1380176"/>
            <a:ext cx="2225771" cy="599178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4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统一品牌策略是指企业将井音的所有系列产品使用同一品牌的策略。使用同一策略，有利于建立“企业识别系统”。</a:t>
            </a:r>
            <a:endParaRPr kumimoji="0" lang="en-US" sz="94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对话气泡: 矩形 102"/>
          <p:cNvSpPr/>
          <p:nvPr/>
        </p:nvSpPr>
        <p:spPr>
          <a:xfrm>
            <a:off x="671973" y="2166089"/>
            <a:ext cx="1141329" cy="1235898"/>
          </a:xfrm>
          <a:prstGeom prst="wedgeRectCallout">
            <a:avLst>
              <a:gd name="adj1" fmla="val 59911"/>
              <a:gd name="adj2" fmla="val -2992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9" name="对话气泡: 矩形 108"/>
          <p:cNvSpPr/>
          <p:nvPr/>
        </p:nvSpPr>
        <p:spPr>
          <a:xfrm flipH="1">
            <a:off x="9344102" y="1045112"/>
            <a:ext cx="2224970" cy="983556"/>
          </a:xfrm>
          <a:prstGeom prst="wedgeRectCallout">
            <a:avLst>
              <a:gd name="adj1" fmla="val 61572"/>
              <a:gd name="adj2" fmla="val -8428"/>
            </a:avLst>
          </a:prstGeom>
          <a:solidFill>
            <a:schemeClr val="tx2"/>
          </a:solidFill>
          <a:ln w="35814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对话气泡: 矩形 110"/>
          <p:cNvSpPr/>
          <p:nvPr/>
        </p:nvSpPr>
        <p:spPr>
          <a:xfrm flipH="1">
            <a:off x="10556482" y="2190146"/>
            <a:ext cx="1016808" cy="1235899"/>
          </a:xfrm>
          <a:prstGeom prst="wedgeRectCallout">
            <a:avLst>
              <a:gd name="adj1" fmla="val 71585"/>
              <a:gd name="adj2" fmla="val -34487"/>
            </a:avLst>
          </a:prstGeom>
          <a:solidFill>
            <a:schemeClr val="tx2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TextBox 94"/>
          <p:cNvSpPr txBox="1"/>
          <p:nvPr/>
        </p:nvSpPr>
        <p:spPr>
          <a:xfrm>
            <a:off x="10608249" y="2293926"/>
            <a:ext cx="941334" cy="1001146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统一品牌策略是指企业将经营的所有系列产品使用同一品牌的策略。</a:t>
            </a:r>
            <a:endParaRPr kumimoji="0" lang="zh-CN" altLang="en-US" sz="10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TextBox 93"/>
          <p:cNvSpPr txBox="1"/>
          <p:nvPr/>
        </p:nvSpPr>
        <p:spPr>
          <a:xfrm>
            <a:off x="9497766" y="1093917"/>
            <a:ext cx="2124515" cy="318241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NI" sz="1505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CHALLENGE 0</a:t>
            </a:r>
            <a:r>
              <a:rPr kumimoji="0" lang="en-US" altLang="zh-CN" sz="1505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endParaRPr kumimoji="0" lang="en-US" sz="1505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4" name="TextBox 94"/>
          <p:cNvSpPr txBox="1"/>
          <p:nvPr/>
        </p:nvSpPr>
        <p:spPr>
          <a:xfrm>
            <a:off x="9483327" y="1418083"/>
            <a:ext cx="1908408" cy="520758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4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统一品牌策略是指企业将经营的所有系列产品使用同一品牌的策略。</a:t>
            </a:r>
            <a:endParaRPr kumimoji="0" lang="en-US" sz="94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5" name="TextBox 94"/>
          <p:cNvSpPr txBox="1"/>
          <p:nvPr/>
        </p:nvSpPr>
        <p:spPr>
          <a:xfrm>
            <a:off x="730746" y="2267723"/>
            <a:ext cx="1028324" cy="1001146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统一品牌策略是指企业将经营的所有系列产品使用同一品牌的策略。</a:t>
            </a:r>
            <a:endParaRPr kumimoji="0" lang="en-US" sz="10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pic>
        <p:nvPicPr>
          <p:cNvPr id="117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3600714"/>
            <a:ext cx="169769" cy="169769"/>
          </a:xfrm>
          <a:prstGeom prst="rect">
            <a:avLst/>
          </a:prstGeom>
          <a:effectLst/>
        </p:spPr>
      </p:pic>
      <p:sp>
        <p:nvSpPr>
          <p:cNvPr id="118" name="Rectangle 88"/>
          <p:cNvSpPr/>
          <p:nvPr/>
        </p:nvSpPr>
        <p:spPr>
          <a:xfrm>
            <a:off x="1075896" y="3607117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20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3929558"/>
            <a:ext cx="169769" cy="169769"/>
          </a:xfrm>
          <a:prstGeom prst="rect">
            <a:avLst/>
          </a:prstGeom>
          <a:effectLst/>
        </p:spPr>
      </p:pic>
      <p:sp>
        <p:nvSpPr>
          <p:cNvPr id="121" name="Rectangle 88"/>
          <p:cNvSpPr/>
          <p:nvPr/>
        </p:nvSpPr>
        <p:spPr>
          <a:xfrm>
            <a:off x="1075896" y="3935962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23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4258403"/>
            <a:ext cx="169769" cy="169769"/>
          </a:xfrm>
          <a:prstGeom prst="rect">
            <a:avLst/>
          </a:prstGeom>
          <a:effectLst/>
        </p:spPr>
      </p:pic>
      <p:sp>
        <p:nvSpPr>
          <p:cNvPr id="124" name="Rectangle 88"/>
          <p:cNvSpPr/>
          <p:nvPr/>
        </p:nvSpPr>
        <p:spPr>
          <a:xfrm>
            <a:off x="1075896" y="4264808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26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4587249"/>
            <a:ext cx="169769" cy="169769"/>
          </a:xfrm>
          <a:prstGeom prst="rect">
            <a:avLst/>
          </a:prstGeom>
          <a:effectLst/>
        </p:spPr>
      </p:pic>
      <p:sp>
        <p:nvSpPr>
          <p:cNvPr id="127" name="Rectangle 88"/>
          <p:cNvSpPr/>
          <p:nvPr/>
        </p:nvSpPr>
        <p:spPr>
          <a:xfrm>
            <a:off x="1075896" y="4593653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5530720" y="2720988"/>
            <a:ext cx="306291" cy="30629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5033932" y="3549311"/>
            <a:ext cx="386874" cy="38687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0" name="椭圆 129"/>
          <p:cNvSpPr/>
          <p:nvPr/>
        </p:nvSpPr>
        <p:spPr>
          <a:xfrm>
            <a:off x="2176717" y="3813980"/>
            <a:ext cx="451601" cy="45160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3636629" y="2606261"/>
            <a:ext cx="211835" cy="21183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2" name="椭圆 131"/>
          <p:cNvSpPr/>
          <p:nvPr/>
        </p:nvSpPr>
        <p:spPr>
          <a:xfrm>
            <a:off x="7439215" y="3828873"/>
            <a:ext cx="306291" cy="30629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9586949" y="3717798"/>
            <a:ext cx="414615" cy="41461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7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207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4" name="椭圆 133"/>
          <p:cNvSpPr/>
          <p:nvPr/>
        </p:nvSpPr>
        <p:spPr>
          <a:xfrm>
            <a:off x="8602898" y="2620790"/>
            <a:ext cx="211835" cy="21183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5" name="椭圆 134"/>
          <p:cNvSpPr/>
          <p:nvPr/>
        </p:nvSpPr>
        <p:spPr>
          <a:xfrm>
            <a:off x="6850374" y="2608173"/>
            <a:ext cx="274323" cy="27432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3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</a:t>
            </a:r>
            <a:endParaRPr kumimoji="0" lang="zh-CN" altLang="en-US" sz="113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46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3600714"/>
            <a:ext cx="169769" cy="169769"/>
          </a:xfrm>
          <a:prstGeom prst="rect">
            <a:avLst/>
          </a:prstGeom>
          <a:effectLst/>
        </p:spPr>
      </p:pic>
      <p:sp>
        <p:nvSpPr>
          <p:cNvPr id="147" name="Rectangle 88"/>
          <p:cNvSpPr/>
          <p:nvPr/>
        </p:nvSpPr>
        <p:spPr>
          <a:xfrm>
            <a:off x="10882970" y="3607117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49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3929558"/>
            <a:ext cx="169769" cy="169769"/>
          </a:xfrm>
          <a:prstGeom prst="rect">
            <a:avLst/>
          </a:prstGeom>
          <a:effectLst/>
        </p:spPr>
      </p:pic>
      <p:sp>
        <p:nvSpPr>
          <p:cNvPr id="150" name="Rectangle 88"/>
          <p:cNvSpPr/>
          <p:nvPr/>
        </p:nvSpPr>
        <p:spPr>
          <a:xfrm>
            <a:off x="10882970" y="3935962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52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4258403"/>
            <a:ext cx="169769" cy="169769"/>
          </a:xfrm>
          <a:prstGeom prst="rect">
            <a:avLst/>
          </a:prstGeom>
          <a:effectLst/>
        </p:spPr>
      </p:pic>
      <p:sp>
        <p:nvSpPr>
          <p:cNvPr id="153" name="Rectangle 88"/>
          <p:cNvSpPr/>
          <p:nvPr/>
        </p:nvSpPr>
        <p:spPr>
          <a:xfrm>
            <a:off x="10882970" y="4264808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55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4587249"/>
            <a:ext cx="169769" cy="169769"/>
          </a:xfrm>
          <a:prstGeom prst="rect">
            <a:avLst/>
          </a:prstGeom>
          <a:effectLst/>
        </p:spPr>
      </p:pic>
      <p:sp>
        <p:nvSpPr>
          <p:cNvPr id="156" name="Rectangle 88"/>
          <p:cNvSpPr/>
          <p:nvPr/>
        </p:nvSpPr>
        <p:spPr>
          <a:xfrm>
            <a:off x="10882970" y="4593653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57" name="矩形: 圆顶角 156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660212" y="5312940"/>
            <a:ext cx="2663870" cy="9947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3402047" y="5312940"/>
            <a:ext cx="2663870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6143880" y="5312940"/>
            <a:ext cx="2663870" cy="9947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8885712" y="5312940"/>
            <a:ext cx="2663870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22733" y="54074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差异化定位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1529" y="5761403"/>
            <a:ext cx="2361236" cy="446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聚焦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职场能量站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概念，主打商务场景高频消费，避开网红咖啡红海竞争。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949152" y="540742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产品矩阵优化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3553364" y="5761403"/>
            <a:ext cx="2361236" cy="446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砍掉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款长尾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SKU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，集中研发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款爆品，原料成本降低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6690985" y="540742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渠道策略升级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6295197" y="5761403"/>
            <a:ext cx="2361236" cy="446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锁定写字楼大堂智能咖啡站，单点日销提升至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杯，租金占比压至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432817" y="540742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会员体系重构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9037029" y="5761403"/>
            <a:ext cx="2361236" cy="631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推行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咖啡保守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”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积分制，储值用户夫再够达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，克丹家提升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974" y="3725121"/>
            <a:ext cx="2157074" cy="5303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4974" y="4255474"/>
            <a:ext cx="2157074" cy="1626820"/>
          </a:xfrm>
          <a:prstGeom prst="rect">
            <a:avLst/>
          </a:prstGeom>
          <a:solidFill>
            <a:srgbClr val="A5A5A5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16324" y="3725120"/>
            <a:ext cx="2157074" cy="2157173"/>
          </a:xfrm>
          <a:prstGeom prst="rect">
            <a:avLst/>
          </a:prstGeom>
          <a:solidFill>
            <a:srgbClr val="44546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97674" y="3194769"/>
            <a:ext cx="2157074" cy="2687524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79024" y="3725121"/>
            <a:ext cx="2157074" cy="2157172"/>
          </a:xfrm>
          <a:prstGeom prst="rect">
            <a:avLst/>
          </a:prstGeom>
          <a:solidFill>
            <a:srgbClr val="44546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60374" y="3725121"/>
            <a:ext cx="2157074" cy="5303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560374" y="4255474"/>
            <a:ext cx="2157074" cy="1626820"/>
          </a:xfrm>
          <a:prstGeom prst="rect">
            <a:avLst/>
          </a:prstGeom>
          <a:solidFill>
            <a:srgbClr val="A5A5A5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16325" y="3194769"/>
            <a:ext cx="2157074" cy="5303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997675" y="2664417"/>
            <a:ext cx="2157074" cy="5303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279023" y="3194769"/>
            <a:ext cx="2157074" cy="5303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454624" y="2322370"/>
            <a:ext cx="11283950" cy="776605"/>
          </a:xfrm>
          <a:custGeom>
            <a:avLst/>
            <a:gdLst/>
            <a:ahLst/>
            <a:cxnLst/>
            <a:rect l="l" t="t" r="r" b="b"/>
            <a:pathLst>
              <a:path w="11283950" h="776605">
                <a:moveTo>
                  <a:pt x="11283950" y="776338"/>
                </a:moveTo>
                <a:lnTo>
                  <a:pt x="11223020" y="751831"/>
                </a:lnTo>
                <a:lnTo>
                  <a:pt x="11160284" y="727615"/>
                </a:lnTo>
                <a:lnTo>
                  <a:pt x="11095764" y="703696"/>
                </a:lnTo>
                <a:lnTo>
                  <a:pt x="11029481" y="680079"/>
                </a:lnTo>
                <a:lnTo>
                  <a:pt x="10961459" y="656769"/>
                </a:lnTo>
                <a:lnTo>
                  <a:pt x="10891718" y="633772"/>
                </a:lnTo>
                <a:lnTo>
                  <a:pt x="10820282" y="611093"/>
                </a:lnTo>
                <a:lnTo>
                  <a:pt x="10747173" y="588737"/>
                </a:lnTo>
                <a:lnTo>
                  <a:pt x="10709998" y="577682"/>
                </a:lnTo>
                <a:lnTo>
                  <a:pt x="10672413" y="566709"/>
                </a:lnTo>
                <a:lnTo>
                  <a:pt x="10634421" y="555820"/>
                </a:lnTo>
                <a:lnTo>
                  <a:pt x="10596024" y="545016"/>
                </a:lnTo>
                <a:lnTo>
                  <a:pt x="10557226" y="534296"/>
                </a:lnTo>
                <a:lnTo>
                  <a:pt x="10518029" y="523662"/>
                </a:lnTo>
                <a:lnTo>
                  <a:pt x="10478436" y="513113"/>
                </a:lnTo>
                <a:lnTo>
                  <a:pt x="10438449" y="502652"/>
                </a:lnTo>
                <a:lnTo>
                  <a:pt x="10398072" y="492278"/>
                </a:lnTo>
                <a:lnTo>
                  <a:pt x="10357307" y="481992"/>
                </a:lnTo>
                <a:lnTo>
                  <a:pt x="10316157" y="471795"/>
                </a:lnTo>
                <a:lnTo>
                  <a:pt x="10274625" y="461688"/>
                </a:lnTo>
                <a:lnTo>
                  <a:pt x="10232713" y="451670"/>
                </a:lnTo>
                <a:lnTo>
                  <a:pt x="10190425" y="441743"/>
                </a:lnTo>
                <a:lnTo>
                  <a:pt x="10147763" y="431908"/>
                </a:lnTo>
                <a:lnTo>
                  <a:pt x="10104730" y="422165"/>
                </a:lnTo>
                <a:lnTo>
                  <a:pt x="10061329" y="412515"/>
                </a:lnTo>
                <a:lnTo>
                  <a:pt x="10017562" y="402958"/>
                </a:lnTo>
                <a:lnTo>
                  <a:pt x="9973432" y="393495"/>
                </a:lnTo>
                <a:lnTo>
                  <a:pt x="9928943" y="384127"/>
                </a:lnTo>
                <a:lnTo>
                  <a:pt x="9884096" y="374855"/>
                </a:lnTo>
                <a:lnTo>
                  <a:pt x="9838895" y="365679"/>
                </a:lnTo>
                <a:lnTo>
                  <a:pt x="9793342" y="356599"/>
                </a:lnTo>
                <a:lnTo>
                  <a:pt x="9747440" y="347617"/>
                </a:lnTo>
                <a:lnTo>
                  <a:pt x="9701192" y="338733"/>
                </a:lnTo>
                <a:lnTo>
                  <a:pt x="9654601" y="329947"/>
                </a:lnTo>
                <a:lnTo>
                  <a:pt x="9607670" y="321261"/>
                </a:lnTo>
                <a:lnTo>
                  <a:pt x="9560400" y="312676"/>
                </a:lnTo>
                <a:lnTo>
                  <a:pt x="9512796" y="304191"/>
                </a:lnTo>
                <a:lnTo>
                  <a:pt x="9464859" y="295807"/>
                </a:lnTo>
                <a:lnTo>
                  <a:pt x="9416594" y="287526"/>
                </a:lnTo>
                <a:lnTo>
                  <a:pt x="9368001" y="279347"/>
                </a:lnTo>
                <a:lnTo>
                  <a:pt x="9319085" y="271272"/>
                </a:lnTo>
                <a:lnTo>
                  <a:pt x="9269847" y="263300"/>
                </a:lnTo>
                <a:lnTo>
                  <a:pt x="9220291" y="255434"/>
                </a:lnTo>
                <a:lnTo>
                  <a:pt x="9170420" y="247673"/>
                </a:lnTo>
                <a:lnTo>
                  <a:pt x="9120236" y="240018"/>
                </a:lnTo>
                <a:lnTo>
                  <a:pt x="9069742" y="232470"/>
                </a:lnTo>
                <a:lnTo>
                  <a:pt x="9018941" y="225029"/>
                </a:lnTo>
                <a:lnTo>
                  <a:pt x="8967836" y="217696"/>
                </a:lnTo>
                <a:lnTo>
                  <a:pt x="8916428" y="210472"/>
                </a:lnTo>
                <a:lnTo>
                  <a:pt x="8864722" y="203358"/>
                </a:lnTo>
                <a:lnTo>
                  <a:pt x="8812720" y="196353"/>
                </a:lnTo>
                <a:lnTo>
                  <a:pt x="8760425" y="189460"/>
                </a:lnTo>
                <a:lnTo>
                  <a:pt x="8707839" y="182677"/>
                </a:lnTo>
                <a:lnTo>
                  <a:pt x="8654966" y="176007"/>
                </a:lnTo>
                <a:lnTo>
                  <a:pt x="8601807" y="169449"/>
                </a:lnTo>
                <a:lnTo>
                  <a:pt x="8548366" y="163005"/>
                </a:lnTo>
                <a:lnTo>
                  <a:pt x="8494646" y="156675"/>
                </a:lnTo>
                <a:lnTo>
                  <a:pt x="8440650" y="150460"/>
                </a:lnTo>
                <a:lnTo>
                  <a:pt x="8386379" y="144360"/>
                </a:lnTo>
                <a:lnTo>
                  <a:pt x="8331837" y="138376"/>
                </a:lnTo>
                <a:lnTo>
                  <a:pt x="8277028" y="132509"/>
                </a:lnTo>
                <a:lnTo>
                  <a:pt x="8221952" y="126759"/>
                </a:lnTo>
                <a:lnTo>
                  <a:pt x="8166614" y="121127"/>
                </a:lnTo>
                <a:lnTo>
                  <a:pt x="8111016" y="115614"/>
                </a:lnTo>
                <a:lnTo>
                  <a:pt x="8055161" y="110220"/>
                </a:lnTo>
                <a:lnTo>
                  <a:pt x="7999051" y="104947"/>
                </a:lnTo>
                <a:lnTo>
                  <a:pt x="7942690" y="99794"/>
                </a:lnTo>
                <a:lnTo>
                  <a:pt x="7886080" y="94762"/>
                </a:lnTo>
                <a:lnTo>
                  <a:pt x="7829224" y="89853"/>
                </a:lnTo>
                <a:lnTo>
                  <a:pt x="7772124" y="85066"/>
                </a:lnTo>
                <a:lnTo>
                  <a:pt x="7714785" y="80403"/>
                </a:lnTo>
                <a:lnTo>
                  <a:pt x="7657207" y="75863"/>
                </a:lnTo>
                <a:lnTo>
                  <a:pt x="7599395" y="71449"/>
                </a:lnTo>
                <a:lnTo>
                  <a:pt x="7541350" y="67159"/>
                </a:lnTo>
                <a:lnTo>
                  <a:pt x="7483076" y="62996"/>
                </a:lnTo>
                <a:lnTo>
                  <a:pt x="7424575" y="58960"/>
                </a:lnTo>
                <a:lnTo>
                  <a:pt x="7365851" y="55050"/>
                </a:lnTo>
                <a:lnTo>
                  <a:pt x="7306905" y="51269"/>
                </a:lnTo>
                <a:lnTo>
                  <a:pt x="7247741" y="47617"/>
                </a:lnTo>
                <a:lnTo>
                  <a:pt x="7188362" y="44093"/>
                </a:lnTo>
                <a:lnTo>
                  <a:pt x="7128770" y="40700"/>
                </a:lnTo>
                <a:lnTo>
                  <a:pt x="7068968" y="37438"/>
                </a:lnTo>
                <a:lnTo>
                  <a:pt x="7008959" y="34307"/>
                </a:lnTo>
                <a:lnTo>
                  <a:pt x="6948746" y="31308"/>
                </a:lnTo>
                <a:lnTo>
                  <a:pt x="6888331" y="28441"/>
                </a:lnTo>
                <a:lnTo>
                  <a:pt x="6827717" y="25708"/>
                </a:lnTo>
                <a:lnTo>
                  <a:pt x="6766907" y="23109"/>
                </a:lnTo>
                <a:lnTo>
                  <a:pt x="6705904" y="20645"/>
                </a:lnTo>
                <a:lnTo>
                  <a:pt x="6644710" y="18316"/>
                </a:lnTo>
                <a:lnTo>
                  <a:pt x="6583329" y="16123"/>
                </a:lnTo>
                <a:lnTo>
                  <a:pt x="6521763" y="14066"/>
                </a:lnTo>
                <a:lnTo>
                  <a:pt x="6460014" y="12147"/>
                </a:lnTo>
                <a:lnTo>
                  <a:pt x="6398087" y="10366"/>
                </a:lnTo>
                <a:lnTo>
                  <a:pt x="6335982" y="8724"/>
                </a:lnTo>
                <a:lnTo>
                  <a:pt x="6273704" y="7221"/>
                </a:lnTo>
                <a:lnTo>
                  <a:pt x="6211255" y="5858"/>
                </a:lnTo>
                <a:lnTo>
                  <a:pt x="6148638" y="4635"/>
                </a:lnTo>
                <a:lnTo>
                  <a:pt x="6085855" y="3554"/>
                </a:lnTo>
                <a:lnTo>
                  <a:pt x="6022909" y="2615"/>
                </a:lnTo>
                <a:lnTo>
                  <a:pt x="5959804" y="1819"/>
                </a:lnTo>
                <a:lnTo>
                  <a:pt x="5896541" y="1166"/>
                </a:lnTo>
                <a:lnTo>
                  <a:pt x="5833124" y="656"/>
                </a:lnTo>
                <a:lnTo>
                  <a:pt x="5769555" y="292"/>
                </a:lnTo>
                <a:lnTo>
                  <a:pt x="5705838" y="73"/>
                </a:lnTo>
                <a:lnTo>
                  <a:pt x="5641975" y="0"/>
                </a:lnTo>
                <a:lnTo>
                  <a:pt x="5578111" y="73"/>
                </a:lnTo>
                <a:lnTo>
                  <a:pt x="5514394" y="292"/>
                </a:lnTo>
                <a:lnTo>
                  <a:pt x="5450825" y="656"/>
                </a:lnTo>
                <a:lnTo>
                  <a:pt x="5387408" y="1166"/>
                </a:lnTo>
                <a:lnTo>
                  <a:pt x="5324145" y="1819"/>
                </a:lnTo>
                <a:lnTo>
                  <a:pt x="5261040" y="2615"/>
                </a:lnTo>
                <a:lnTo>
                  <a:pt x="5198094" y="3554"/>
                </a:lnTo>
                <a:lnTo>
                  <a:pt x="5135311" y="4635"/>
                </a:lnTo>
                <a:lnTo>
                  <a:pt x="5072694" y="5858"/>
                </a:lnTo>
                <a:lnTo>
                  <a:pt x="5010245" y="7221"/>
                </a:lnTo>
                <a:lnTo>
                  <a:pt x="4947967" y="8724"/>
                </a:lnTo>
                <a:lnTo>
                  <a:pt x="4885862" y="10366"/>
                </a:lnTo>
                <a:lnTo>
                  <a:pt x="4823935" y="12147"/>
                </a:lnTo>
                <a:lnTo>
                  <a:pt x="4762186" y="14066"/>
                </a:lnTo>
                <a:lnTo>
                  <a:pt x="4700620" y="16123"/>
                </a:lnTo>
                <a:lnTo>
                  <a:pt x="4639239" y="18316"/>
                </a:lnTo>
                <a:lnTo>
                  <a:pt x="4578045" y="20645"/>
                </a:lnTo>
                <a:lnTo>
                  <a:pt x="4517042" y="23109"/>
                </a:lnTo>
                <a:lnTo>
                  <a:pt x="4456232" y="25708"/>
                </a:lnTo>
                <a:lnTo>
                  <a:pt x="4395618" y="28441"/>
                </a:lnTo>
                <a:lnTo>
                  <a:pt x="4335203" y="31308"/>
                </a:lnTo>
                <a:lnTo>
                  <a:pt x="4274990" y="34307"/>
                </a:lnTo>
                <a:lnTo>
                  <a:pt x="4214981" y="37438"/>
                </a:lnTo>
                <a:lnTo>
                  <a:pt x="4155179" y="40700"/>
                </a:lnTo>
                <a:lnTo>
                  <a:pt x="4095587" y="44093"/>
                </a:lnTo>
                <a:lnTo>
                  <a:pt x="4036208" y="47617"/>
                </a:lnTo>
                <a:lnTo>
                  <a:pt x="3977044" y="51269"/>
                </a:lnTo>
                <a:lnTo>
                  <a:pt x="3918098" y="55050"/>
                </a:lnTo>
                <a:lnTo>
                  <a:pt x="3859374" y="58960"/>
                </a:lnTo>
                <a:lnTo>
                  <a:pt x="3800873" y="62996"/>
                </a:lnTo>
                <a:lnTo>
                  <a:pt x="3742599" y="67159"/>
                </a:lnTo>
                <a:lnTo>
                  <a:pt x="3684554" y="71449"/>
                </a:lnTo>
                <a:lnTo>
                  <a:pt x="3626742" y="75863"/>
                </a:lnTo>
                <a:lnTo>
                  <a:pt x="3569164" y="80403"/>
                </a:lnTo>
                <a:lnTo>
                  <a:pt x="3511825" y="85066"/>
                </a:lnTo>
                <a:lnTo>
                  <a:pt x="3454725" y="89853"/>
                </a:lnTo>
                <a:lnTo>
                  <a:pt x="3397869" y="94762"/>
                </a:lnTo>
                <a:lnTo>
                  <a:pt x="3341259" y="99794"/>
                </a:lnTo>
                <a:lnTo>
                  <a:pt x="3284898" y="104947"/>
                </a:lnTo>
                <a:lnTo>
                  <a:pt x="3228788" y="110220"/>
                </a:lnTo>
                <a:lnTo>
                  <a:pt x="3172933" y="115614"/>
                </a:lnTo>
                <a:lnTo>
                  <a:pt x="3117335" y="121127"/>
                </a:lnTo>
                <a:lnTo>
                  <a:pt x="3061997" y="126759"/>
                </a:lnTo>
                <a:lnTo>
                  <a:pt x="3006921" y="132509"/>
                </a:lnTo>
                <a:lnTo>
                  <a:pt x="2952112" y="138376"/>
                </a:lnTo>
                <a:lnTo>
                  <a:pt x="2897570" y="144360"/>
                </a:lnTo>
                <a:lnTo>
                  <a:pt x="2843299" y="150460"/>
                </a:lnTo>
                <a:lnTo>
                  <a:pt x="2789303" y="156675"/>
                </a:lnTo>
                <a:lnTo>
                  <a:pt x="2735583" y="163005"/>
                </a:lnTo>
                <a:lnTo>
                  <a:pt x="2682142" y="169449"/>
                </a:lnTo>
                <a:lnTo>
                  <a:pt x="2628983" y="176007"/>
                </a:lnTo>
                <a:lnTo>
                  <a:pt x="2576110" y="182677"/>
                </a:lnTo>
                <a:lnTo>
                  <a:pt x="2523524" y="189460"/>
                </a:lnTo>
                <a:lnTo>
                  <a:pt x="2471229" y="196353"/>
                </a:lnTo>
                <a:lnTo>
                  <a:pt x="2419227" y="203358"/>
                </a:lnTo>
                <a:lnTo>
                  <a:pt x="2367521" y="210472"/>
                </a:lnTo>
                <a:lnTo>
                  <a:pt x="2316113" y="217696"/>
                </a:lnTo>
                <a:lnTo>
                  <a:pt x="2265008" y="225029"/>
                </a:lnTo>
                <a:lnTo>
                  <a:pt x="2214207" y="232470"/>
                </a:lnTo>
                <a:lnTo>
                  <a:pt x="2163713" y="240018"/>
                </a:lnTo>
                <a:lnTo>
                  <a:pt x="2113529" y="247673"/>
                </a:lnTo>
                <a:lnTo>
                  <a:pt x="2063658" y="255434"/>
                </a:lnTo>
                <a:lnTo>
                  <a:pt x="2014102" y="263300"/>
                </a:lnTo>
                <a:lnTo>
                  <a:pt x="1964864" y="271272"/>
                </a:lnTo>
                <a:lnTo>
                  <a:pt x="1915948" y="279347"/>
                </a:lnTo>
                <a:lnTo>
                  <a:pt x="1867355" y="287526"/>
                </a:lnTo>
                <a:lnTo>
                  <a:pt x="1819090" y="295807"/>
                </a:lnTo>
                <a:lnTo>
                  <a:pt x="1771153" y="304191"/>
                </a:lnTo>
                <a:lnTo>
                  <a:pt x="1723549" y="312676"/>
                </a:lnTo>
                <a:lnTo>
                  <a:pt x="1676279" y="321261"/>
                </a:lnTo>
                <a:lnTo>
                  <a:pt x="1629348" y="329947"/>
                </a:lnTo>
                <a:lnTo>
                  <a:pt x="1582757" y="338733"/>
                </a:lnTo>
                <a:lnTo>
                  <a:pt x="1536509" y="347617"/>
                </a:lnTo>
                <a:lnTo>
                  <a:pt x="1490607" y="356599"/>
                </a:lnTo>
                <a:lnTo>
                  <a:pt x="1445054" y="365679"/>
                </a:lnTo>
                <a:lnTo>
                  <a:pt x="1399853" y="374855"/>
                </a:lnTo>
                <a:lnTo>
                  <a:pt x="1355006" y="384127"/>
                </a:lnTo>
                <a:lnTo>
                  <a:pt x="1310517" y="393495"/>
                </a:lnTo>
                <a:lnTo>
                  <a:pt x="1266387" y="402958"/>
                </a:lnTo>
                <a:lnTo>
                  <a:pt x="1222620" y="412515"/>
                </a:lnTo>
                <a:lnTo>
                  <a:pt x="1179219" y="422165"/>
                </a:lnTo>
                <a:lnTo>
                  <a:pt x="1136186" y="431908"/>
                </a:lnTo>
                <a:lnTo>
                  <a:pt x="1093524" y="441743"/>
                </a:lnTo>
                <a:lnTo>
                  <a:pt x="1051236" y="451670"/>
                </a:lnTo>
                <a:lnTo>
                  <a:pt x="1009324" y="461688"/>
                </a:lnTo>
                <a:lnTo>
                  <a:pt x="967792" y="471795"/>
                </a:lnTo>
                <a:lnTo>
                  <a:pt x="926642" y="481992"/>
                </a:lnTo>
                <a:lnTo>
                  <a:pt x="885877" y="492278"/>
                </a:lnTo>
                <a:lnTo>
                  <a:pt x="845500" y="502652"/>
                </a:lnTo>
                <a:lnTo>
                  <a:pt x="805513" y="513113"/>
                </a:lnTo>
                <a:lnTo>
                  <a:pt x="765920" y="523662"/>
                </a:lnTo>
                <a:lnTo>
                  <a:pt x="726723" y="534296"/>
                </a:lnTo>
                <a:lnTo>
                  <a:pt x="687925" y="545016"/>
                </a:lnTo>
                <a:lnTo>
                  <a:pt x="649528" y="555820"/>
                </a:lnTo>
                <a:lnTo>
                  <a:pt x="611536" y="566709"/>
                </a:lnTo>
                <a:lnTo>
                  <a:pt x="573951" y="577682"/>
                </a:lnTo>
                <a:lnTo>
                  <a:pt x="536776" y="588737"/>
                </a:lnTo>
                <a:lnTo>
                  <a:pt x="500013" y="599874"/>
                </a:lnTo>
                <a:lnTo>
                  <a:pt x="427738" y="622392"/>
                </a:lnTo>
                <a:lnTo>
                  <a:pt x="357147" y="645231"/>
                </a:lnTo>
                <a:lnTo>
                  <a:pt x="288263" y="668385"/>
                </a:lnTo>
                <a:lnTo>
                  <a:pt x="221108" y="691849"/>
                </a:lnTo>
                <a:lnTo>
                  <a:pt x="155703" y="715618"/>
                </a:lnTo>
                <a:lnTo>
                  <a:pt x="92072" y="739686"/>
                </a:lnTo>
                <a:lnTo>
                  <a:pt x="30237" y="764048"/>
                </a:lnTo>
                <a:lnTo>
                  <a:pt x="0" y="776338"/>
                </a:lnTo>
              </a:path>
            </a:pathLst>
          </a:custGeom>
          <a:ln w="12700">
            <a:solidFill>
              <a:srgbClr val="CFD0D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pic>
        <p:nvPicPr>
          <p:cNvPr id="29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63940" y="2698533"/>
            <a:ext cx="140373" cy="140385"/>
          </a:xfrm>
          <a:prstGeom prst="rect">
            <a:avLst/>
          </a:prstGeom>
        </p:spPr>
      </p:pic>
      <p:pic>
        <p:nvPicPr>
          <p:cNvPr id="30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92065" y="2698533"/>
            <a:ext cx="140373" cy="140385"/>
          </a:xfrm>
          <a:prstGeom prst="rect">
            <a:avLst/>
          </a:prstGeom>
        </p:spPr>
      </p:pic>
      <p:pic>
        <p:nvPicPr>
          <p:cNvPr id="31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6765" y="2358563"/>
            <a:ext cx="140373" cy="140385"/>
          </a:xfrm>
          <a:prstGeom prst="rect">
            <a:avLst/>
          </a:prstGeom>
        </p:spPr>
      </p:pic>
      <p:pic>
        <p:nvPicPr>
          <p:cNvPr id="32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9590" y="2252177"/>
            <a:ext cx="140373" cy="140385"/>
          </a:xfrm>
          <a:prstGeom prst="rect">
            <a:avLst/>
          </a:prstGeom>
        </p:spPr>
      </p:pic>
      <p:pic>
        <p:nvPicPr>
          <p:cNvPr id="33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9240" y="2358563"/>
            <a:ext cx="140373" cy="14038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61982" y="1265108"/>
            <a:ext cx="1917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0979" y="1827128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996465" y="1100516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01259" y="1662536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577609" y="1100516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2403" y="1662536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808745" y="1265108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513539" y="1827128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328185" y="955303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032979" y="1517323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47435" y="3725120"/>
            <a:ext cx="193215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市场规模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815147" y="3194768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产业链价值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082859" y="2684870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03.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技术参透率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378003" y="3194768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04.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基建配套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636571" y="3725120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05.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政策影响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 flipH="1">
            <a:off x="511937" y="4318848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全球销量突破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万辆，中国占比超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，成为嘴答单一市场。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 flipH="1">
            <a:off x="2816225" y="3852504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动力电池占整车成本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年市场规模预计达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万亿元。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 flipH="1">
            <a:off x="5074793" y="3313337"/>
            <a:ext cx="1995081" cy="199977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L2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级自动驾驶装配率达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800V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高压平台车型占比提升至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L2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级自动驾驶装配率达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800V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高压平台车型占比提升至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 flipH="1">
            <a:off x="7360793" y="3852504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全球充电桩总量超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万根，中国公共快充桩占比达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 flipH="1">
            <a:off x="9665081" y="4318848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欧盟碳关税实施倒逼出口企业电池回收率提升至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以上。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pic>
        <p:nvPicPr>
          <p:cNvPr id="56" name="图形 55" descr="靶心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0166" y="5205807"/>
            <a:ext cx="532390" cy="53239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34974" y="5997634"/>
            <a:ext cx="2157074" cy="5386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电动化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00654" y="5997634"/>
            <a:ext cx="2157074" cy="5386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服务化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96814" y="5997634"/>
            <a:ext cx="2157074" cy="538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本土化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272654" y="5997634"/>
            <a:ext cx="2157074" cy="5386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快充网络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569277" y="5997634"/>
            <a:ext cx="2157074" cy="5386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碳壁垒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90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行业规模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oogle Shape;6643;p79"/>
          <p:cNvGrpSpPr/>
          <p:nvPr/>
        </p:nvGrpSpPr>
        <p:grpSpPr>
          <a:xfrm>
            <a:off x="5871600" y="5207123"/>
            <a:ext cx="401466" cy="391352"/>
            <a:chOff x="-31817400" y="3910025"/>
            <a:chExt cx="301675" cy="294075"/>
          </a:xfrm>
          <a:solidFill>
            <a:schemeClr val="accent1"/>
          </a:solidFill>
        </p:grpSpPr>
        <p:sp>
          <p:nvSpPr>
            <p:cNvPr id="50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8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9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0" name="Google Shape;6785;p79"/>
          <p:cNvGrpSpPr/>
          <p:nvPr/>
        </p:nvGrpSpPr>
        <p:grpSpPr>
          <a:xfrm>
            <a:off x="3574782" y="5238728"/>
            <a:ext cx="408818" cy="388622"/>
            <a:chOff x="-32576675" y="3944600"/>
            <a:chExt cx="307200" cy="292025"/>
          </a:xfrm>
          <a:solidFill>
            <a:schemeClr val="tx2"/>
          </a:solidFill>
        </p:grpSpPr>
        <p:sp>
          <p:nvSpPr>
            <p:cNvPr id="61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2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3" name="Google Shape;7274;p80"/>
          <p:cNvGrpSpPr/>
          <p:nvPr/>
        </p:nvGrpSpPr>
        <p:grpSpPr>
          <a:xfrm>
            <a:off x="8143218" y="5103265"/>
            <a:ext cx="472415" cy="472139"/>
            <a:chOff x="-49764975" y="3183375"/>
            <a:chExt cx="299300" cy="299125"/>
          </a:xfrm>
          <a:solidFill>
            <a:schemeClr val="tx2"/>
          </a:solidFill>
        </p:grpSpPr>
        <p:sp>
          <p:nvSpPr>
            <p:cNvPr id="64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5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6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7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3" name="Google Shape;7347;p80"/>
          <p:cNvGrpSpPr/>
          <p:nvPr/>
        </p:nvGrpSpPr>
        <p:grpSpPr>
          <a:xfrm>
            <a:off x="10439564" y="5199680"/>
            <a:ext cx="416500" cy="476795"/>
            <a:chOff x="-44895900" y="3929450"/>
            <a:chExt cx="263875" cy="302075"/>
          </a:xfrm>
          <a:solidFill>
            <a:schemeClr val="accent3">
              <a:lumMod val="75000"/>
            </a:schemeClr>
          </a:solidFill>
        </p:grpSpPr>
        <p:sp>
          <p:nvSpPr>
            <p:cNvPr id="74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5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6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7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8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1" name="矩形: 圆顶角 8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607;p47"/>
          <p:cNvSpPr/>
          <p:nvPr/>
        </p:nvSpPr>
        <p:spPr>
          <a:xfrm>
            <a:off x="5445095" y="2689924"/>
            <a:ext cx="3424078" cy="3424078"/>
          </a:xfrm>
          <a:prstGeom prst="ellipse">
            <a:avLst/>
          </a:prstGeom>
          <a:gradFill>
            <a:gsLst>
              <a:gs pos="70106">
                <a:schemeClr val="tx2">
                  <a:lumMod val="10000"/>
                  <a:lumOff val="90000"/>
                </a:schemeClr>
              </a:gs>
              <a:gs pos="34000">
                <a:schemeClr val="tx2">
                  <a:lumMod val="5000"/>
                  <a:lumOff val="95000"/>
                </a:schemeClr>
              </a:gs>
              <a:gs pos="0">
                <a:schemeClr val="tx2">
                  <a:lumMod val="10000"/>
                  <a:lumOff val="90000"/>
                </a:schemeClr>
              </a:gs>
              <a:gs pos="100000">
                <a:schemeClr val="tx2">
                  <a:lumMod val="5000"/>
                  <a:lumOff val="9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2" name="Google Shape;1607;p47"/>
          <p:cNvSpPr/>
          <p:nvPr/>
        </p:nvSpPr>
        <p:spPr>
          <a:xfrm>
            <a:off x="3275012" y="2689924"/>
            <a:ext cx="3424078" cy="3424078"/>
          </a:xfrm>
          <a:prstGeom prst="ellipse">
            <a:avLst/>
          </a:prstGeom>
          <a:gradFill>
            <a:gsLst>
              <a:gs pos="70106">
                <a:schemeClr val="accent1">
                  <a:lumMod val="10000"/>
                  <a:lumOff val="90000"/>
                </a:schemeClr>
              </a:gs>
              <a:gs pos="34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5000"/>
                  <a:lumOff val="9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4" name="Google Shape;1609;p47"/>
          <p:cNvSpPr/>
          <p:nvPr/>
        </p:nvSpPr>
        <p:spPr>
          <a:xfrm rot="8100000">
            <a:off x="3250288" y="2665249"/>
            <a:ext cx="3473457" cy="3473361"/>
          </a:xfrm>
          <a:custGeom>
            <a:avLst/>
            <a:gdLst/>
            <a:ahLst/>
            <a:cxnLst/>
            <a:rect l="l" t="t" r="r" b="b"/>
            <a:pathLst>
              <a:path w="19679" h="20595" extrusionOk="0">
                <a:moveTo>
                  <a:pt x="9838" y="0"/>
                </a:moveTo>
                <a:cubicBezTo>
                  <a:pt x="7320" y="0"/>
                  <a:pt x="4803" y="1005"/>
                  <a:pt x="2881" y="3015"/>
                </a:cubicBezTo>
                <a:cubicBezTo>
                  <a:pt x="-961" y="7037"/>
                  <a:pt x="-961" y="13557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7"/>
                  <a:pt x="20639" y="7037"/>
                  <a:pt x="16797" y="3015"/>
                </a:cubicBezTo>
                <a:cubicBezTo>
                  <a:pt x="14875" y="1005"/>
                  <a:pt x="12356" y="0"/>
                  <a:pt x="9838" y="0"/>
                </a:cubicBezTo>
                <a:close/>
                <a:moveTo>
                  <a:pt x="9838" y="319"/>
                </a:moveTo>
                <a:cubicBezTo>
                  <a:pt x="12278" y="319"/>
                  <a:pt x="14719" y="1294"/>
                  <a:pt x="16581" y="3242"/>
                </a:cubicBezTo>
                <a:cubicBezTo>
                  <a:pt x="20304" y="7139"/>
                  <a:pt x="20304" y="13456"/>
                  <a:pt x="16581" y="17353"/>
                </a:cubicBezTo>
                <a:cubicBezTo>
                  <a:pt x="12858" y="21250"/>
                  <a:pt x="6820" y="21250"/>
                  <a:pt x="3097" y="17353"/>
                </a:cubicBezTo>
                <a:cubicBezTo>
                  <a:pt x="-626" y="13456"/>
                  <a:pt x="-626" y="7139"/>
                  <a:pt x="3097" y="3242"/>
                </a:cubicBezTo>
                <a:cubicBezTo>
                  <a:pt x="4959" y="1294"/>
                  <a:pt x="7398" y="319"/>
                  <a:pt x="9838" y="31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1"/>
              </a:gs>
            </a:gsLst>
            <a:lin ang="197066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56" name="Google Shape;1614;p47"/>
          <p:cNvGrpSpPr/>
          <p:nvPr/>
        </p:nvGrpSpPr>
        <p:grpSpPr>
          <a:xfrm>
            <a:off x="3739000" y="2935674"/>
            <a:ext cx="285751" cy="285751"/>
            <a:chOff x="0" y="0"/>
            <a:chExt cx="571500" cy="571500"/>
          </a:xfrm>
        </p:grpSpPr>
        <p:sp>
          <p:nvSpPr>
            <p:cNvPr id="58" name="Google Shape;1615;p47"/>
            <p:cNvSpPr/>
            <p:nvPr/>
          </p:nvSpPr>
          <p:spPr>
            <a:xfrm>
              <a:off x="0" y="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9" name="Google Shape;1616;p47"/>
            <p:cNvSpPr/>
            <p:nvPr/>
          </p:nvSpPr>
          <p:spPr>
            <a:xfrm>
              <a:off x="240557" y="168335"/>
              <a:ext cx="307708" cy="36771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60" name="Google Shape;1617;p47"/>
            <p:cNvSpPr/>
            <p:nvPr/>
          </p:nvSpPr>
          <p:spPr>
            <a:xfrm>
              <a:off x="238956" y="167704"/>
              <a:ext cx="82158" cy="224662"/>
            </a:xfrm>
            <a:custGeom>
              <a:avLst/>
              <a:gdLst/>
              <a:ahLst/>
              <a:cxnLst/>
              <a:rect l="l" t="t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57" name="Google Shape;1618;p47"/>
          <p:cNvSpPr/>
          <p:nvPr/>
        </p:nvSpPr>
        <p:spPr>
          <a:xfrm>
            <a:off x="3456502" y="2659873"/>
            <a:ext cx="845029" cy="845029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51" name="Google Shape;1620;p47"/>
          <p:cNvGrpSpPr/>
          <p:nvPr/>
        </p:nvGrpSpPr>
        <p:grpSpPr>
          <a:xfrm>
            <a:off x="3109096" y="4259053"/>
            <a:ext cx="285751" cy="285751"/>
            <a:chOff x="0" y="0"/>
            <a:chExt cx="571500" cy="571500"/>
          </a:xfrm>
        </p:grpSpPr>
        <p:sp>
          <p:nvSpPr>
            <p:cNvPr id="53" name="Google Shape;1621;p47"/>
            <p:cNvSpPr/>
            <p:nvPr/>
          </p:nvSpPr>
          <p:spPr>
            <a:xfrm>
              <a:off x="0" y="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4" name="Google Shape;1622;p47"/>
            <p:cNvSpPr/>
            <p:nvPr/>
          </p:nvSpPr>
          <p:spPr>
            <a:xfrm>
              <a:off x="216008" y="176152"/>
              <a:ext cx="338192" cy="37649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5" name="Google Shape;1623;p47"/>
            <p:cNvSpPr/>
            <p:nvPr/>
          </p:nvSpPr>
          <p:spPr>
            <a:xfrm>
              <a:off x="214456" y="154919"/>
              <a:ext cx="154018" cy="227372"/>
            </a:xfrm>
            <a:custGeom>
              <a:avLst/>
              <a:gdLst/>
              <a:ahLst/>
              <a:cxnLst/>
              <a:rect l="l" t="t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41" name="Google Shape;1632;p47"/>
          <p:cNvGrpSpPr/>
          <p:nvPr/>
        </p:nvGrpSpPr>
        <p:grpSpPr>
          <a:xfrm>
            <a:off x="3739000" y="5582433"/>
            <a:ext cx="285751" cy="285751"/>
            <a:chOff x="0" y="0"/>
            <a:chExt cx="571500" cy="571500"/>
          </a:xfrm>
        </p:grpSpPr>
        <p:sp>
          <p:nvSpPr>
            <p:cNvPr id="43" name="Google Shape;1633;p47"/>
            <p:cNvSpPr/>
            <p:nvPr/>
          </p:nvSpPr>
          <p:spPr>
            <a:xfrm>
              <a:off x="0" y="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4" name="Google Shape;1634;p47"/>
            <p:cNvSpPr/>
            <p:nvPr/>
          </p:nvSpPr>
          <p:spPr>
            <a:xfrm>
              <a:off x="223383" y="173151"/>
              <a:ext cx="335427" cy="37264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5" name="Google Shape;1635;p47"/>
            <p:cNvSpPr/>
            <p:nvPr/>
          </p:nvSpPr>
          <p:spPr>
            <a:xfrm>
              <a:off x="216961" y="171682"/>
              <a:ext cx="149008" cy="228136"/>
            </a:xfrm>
            <a:custGeom>
              <a:avLst/>
              <a:gdLst/>
              <a:ahLst/>
              <a:cxnLst/>
              <a:rect l="l" t="t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1" name="Google Shape;1654;p47"/>
          <p:cNvSpPr txBox="1"/>
          <p:nvPr/>
        </p:nvSpPr>
        <p:spPr>
          <a:xfrm>
            <a:off x="556862" y="3024242"/>
            <a:ext cx="2700673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攻克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CT/MRI/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超声多源数据配准难题，配准精度达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0.2mm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Google Shape;1655;p47"/>
          <p:cNvSpPr txBox="1"/>
          <p:nvPr/>
        </p:nvSpPr>
        <p:spPr>
          <a:xfrm>
            <a:off x="1064287" y="2701056"/>
            <a:ext cx="2193248" cy="27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跨设备数据对齐</a:t>
            </a:r>
            <a:endParaRPr kumimoji="0" lang="zh-CN" altLang="en-US" sz="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Google Shape;1658;p47"/>
          <p:cNvSpPr txBox="1"/>
          <p:nvPr/>
        </p:nvSpPr>
        <p:spPr>
          <a:xfrm>
            <a:off x="559734" y="5671001"/>
            <a:ext cx="2700673" cy="5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lnSpc>
                <a:spcPct val="150000"/>
              </a:lnSpc>
              <a:buClr>
                <a:schemeClr val="dk2"/>
              </a:buClr>
              <a:buSzPts val="900"/>
              <a:defRPr sz="1200">
                <a:solidFill>
                  <a:schemeClr val="dk2"/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基于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Transformer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的病变标记系统，识别效率提升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Google Shape;1659;p47"/>
          <p:cNvSpPr txBox="1"/>
          <p:nvPr/>
        </p:nvSpPr>
        <p:spPr>
          <a:xfrm>
            <a:off x="1067159" y="5347815"/>
            <a:ext cx="2193248" cy="27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buClr>
                <a:schemeClr val="dk1"/>
              </a:buClr>
              <a:buSzPts val="1100"/>
              <a:defRPr sz="1400" b="1">
                <a:solidFill>
                  <a:schemeClr val="accent1"/>
                </a:solidFill>
                <a:latin typeface="+mn-ea"/>
                <a:cs typeface="Barlow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病灶智能标注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" name="Google Shape;1662;p47"/>
          <p:cNvSpPr txBox="1"/>
          <p:nvPr/>
        </p:nvSpPr>
        <p:spPr>
          <a:xfrm>
            <a:off x="496577" y="4347622"/>
            <a:ext cx="2233299" cy="5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lnSpc>
                <a:spcPct val="150000"/>
              </a:lnSpc>
              <a:buClr>
                <a:schemeClr val="dk2"/>
              </a:buClr>
              <a:buSzPts val="900"/>
              <a:defRPr sz="1200">
                <a:solidFill>
                  <a:schemeClr val="dk2"/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实时构建心脏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4D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运动模型，手术导航误差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&lt;1.5mm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Google Shape;1663;p47"/>
          <p:cNvSpPr txBox="1"/>
          <p:nvPr/>
        </p:nvSpPr>
        <p:spPr>
          <a:xfrm>
            <a:off x="536628" y="4024435"/>
            <a:ext cx="2193248" cy="27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buClr>
                <a:schemeClr val="dk1"/>
              </a:buClr>
              <a:buSzPts val="1100"/>
              <a:defRPr sz="1400" b="1">
                <a:solidFill>
                  <a:schemeClr val="accent1"/>
                </a:solidFill>
                <a:latin typeface="+mn-ea"/>
                <a:cs typeface="Barlow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动态器官建模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51203" y="1581630"/>
            <a:ext cx="11286034" cy="78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影像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实时计算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技术矩阵，已落地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家医院，辅助诊断准确率达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96.7%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，年节约医疗成本超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亿元。专利布局覆盖中美欧日韩五大市场。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669699" y="1076356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构建新一代智能诊疗基础设施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048451" y="3736348"/>
            <a:ext cx="1302064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多模态影像融合技术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3" name="Google Shape;1618;p47_28"/>
          <p:cNvSpPr/>
          <p:nvPr/>
        </p:nvSpPr>
        <p:spPr>
          <a:xfrm>
            <a:off x="2828823" y="3992725"/>
            <a:ext cx="845029" cy="845029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4" name="Google Shape;1618;p47_29"/>
          <p:cNvSpPr/>
          <p:nvPr/>
        </p:nvSpPr>
        <p:spPr>
          <a:xfrm>
            <a:off x="3464252" y="5302330"/>
            <a:ext cx="845029" cy="845029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5215" y="200526"/>
            <a:ext cx="3656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六段内容页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核心技术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顶角 1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Google Shape;1608;p47"/>
          <p:cNvSpPr/>
          <p:nvPr/>
        </p:nvSpPr>
        <p:spPr>
          <a:xfrm>
            <a:off x="5452845" y="2665199"/>
            <a:ext cx="3473456" cy="3473360"/>
          </a:xfrm>
          <a:custGeom>
            <a:avLst/>
            <a:gdLst/>
            <a:ahLst/>
            <a:cxnLst/>
            <a:rect l="l" t="t" r="r" b="b"/>
            <a:pathLst>
              <a:path w="19679" h="20595" extrusionOk="0">
                <a:moveTo>
                  <a:pt x="9838" y="0"/>
                </a:moveTo>
                <a:cubicBezTo>
                  <a:pt x="7320" y="0"/>
                  <a:pt x="4803" y="1005"/>
                  <a:pt x="2881" y="3015"/>
                </a:cubicBezTo>
                <a:cubicBezTo>
                  <a:pt x="-961" y="7037"/>
                  <a:pt x="-961" y="13557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7"/>
                  <a:pt x="20639" y="7037"/>
                  <a:pt x="16797" y="3015"/>
                </a:cubicBezTo>
                <a:cubicBezTo>
                  <a:pt x="14875" y="1005"/>
                  <a:pt x="12356" y="0"/>
                  <a:pt x="9838" y="0"/>
                </a:cubicBezTo>
                <a:close/>
                <a:moveTo>
                  <a:pt x="9838" y="319"/>
                </a:moveTo>
                <a:cubicBezTo>
                  <a:pt x="12278" y="319"/>
                  <a:pt x="14719" y="1294"/>
                  <a:pt x="16581" y="3242"/>
                </a:cubicBezTo>
                <a:cubicBezTo>
                  <a:pt x="20304" y="7139"/>
                  <a:pt x="20304" y="13456"/>
                  <a:pt x="16581" y="17353"/>
                </a:cubicBezTo>
                <a:cubicBezTo>
                  <a:pt x="12858" y="21250"/>
                  <a:pt x="6820" y="21250"/>
                  <a:pt x="3097" y="17353"/>
                </a:cubicBezTo>
                <a:cubicBezTo>
                  <a:pt x="-626" y="13456"/>
                  <a:pt x="-626" y="7139"/>
                  <a:pt x="3097" y="3242"/>
                </a:cubicBezTo>
                <a:cubicBezTo>
                  <a:pt x="4959" y="1294"/>
                  <a:pt x="7398" y="319"/>
                  <a:pt x="9838" y="319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891003" y="3736348"/>
            <a:ext cx="1302064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kumimoji="1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边缘计算部署方案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7850276" y="2659873"/>
            <a:ext cx="3777339" cy="3616422"/>
            <a:chOff x="7850276" y="2659873"/>
            <a:chExt cx="3777339" cy="3616422"/>
          </a:xfrm>
        </p:grpSpPr>
        <p:grpSp>
          <p:nvGrpSpPr>
            <p:cNvPr id="46" name="Google Shape;1626;p47"/>
            <p:cNvGrpSpPr/>
            <p:nvPr/>
          </p:nvGrpSpPr>
          <p:grpSpPr>
            <a:xfrm>
              <a:off x="8743662" y="4259053"/>
              <a:ext cx="285751" cy="285751"/>
              <a:chOff x="0" y="0"/>
              <a:chExt cx="571500" cy="571500"/>
            </a:xfrm>
          </p:grpSpPr>
          <p:sp>
            <p:nvSpPr>
              <p:cNvPr id="48" name="Google Shape;1627;p47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9" name="Google Shape;1628;p47"/>
              <p:cNvSpPr/>
              <p:nvPr/>
            </p:nvSpPr>
            <p:spPr>
              <a:xfrm>
                <a:off x="216008" y="176152"/>
                <a:ext cx="338192" cy="37649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1901"/>
                    </a:moveTo>
                    <a:lnTo>
                      <a:pt x="8288" y="0"/>
                    </a:lnTo>
                    <a:lnTo>
                      <a:pt x="2509" y="135"/>
                    </a:lnTo>
                    <a:lnTo>
                      <a:pt x="0" y="3119"/>
                    </a:lnTo>
                    <a:lnTo>
                      <a:pt x="4283" y="7078"/>
                    </a:lnTo>
                    <a:lnTo>
                      <a:pt x="102" y="11743"/>
                    </a:lnTo>
                    <a:lnTo>
                      <a:pt x="11001" y="21600"/>
                    </a:lnTo>
                    <a:cubicBezTo>
                      <a:pt x="13575" y="20713"/>
                      <a:pt x="15892" y="19313"/>
                      <a:pt x="17776" y="17505"/>
                    </a:cubicBezTo>
                    <a:cubicBezTo>
                      <a:pt x="19460" y="15889"/>
                      <a:pt x="20761" y="13982"/>
                      <a:pt x="21600" y="1190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50" name="Google Shape;1629;p47"/>
              <p:cNvSpPr/>
              <p:nvPr/>
            </p:nvSpPr>
            <p:spPr>
              <a:xfrm>
                <a:off x="214456" y="154919"/>
                <a:ext cx="154018" cy="227372"/>
              </a:xfrm>
              <a:custGeom>
                <a:avLst/>
                <a:gdLst/>
                <a:ahLst/>
                <a:cxnLst/>
                <a:rect l="l" t="t" r="r" b="b"/>
                <a:pathLst>
                  <a:path w="21596" h="21538" extrusionOk="0">
                    <a:moveTo>
                      <a:pt x="6392" y="6090"/>
                    </a:moveTo>
                    <a:lnTo>
                      <a:pt x="6392" y="6882"/>
                    </a:lnTo>
                    <a:cubicBezTo>
                      <a:pt x="6396" y="6960"/>
                      <a:pt x="6364" y="7038"/>
                      <a:pt x="6299" y="7103"/>
                    </a:cubicBezTo>
                    <a:cubicBezTo>
                      <a:pt x="6199" y="7203"/>
                      <a:pt x="6036" y="7265"/>
                      <a:pt x="5859" y="7271"/>
                    </a:cubicBezTo>
                    <a:lnTo>
                      <a:pt x="664" y="7276"/>
                    </a:lnTo>
                    <a:cubicBezTo>
                      <a:pt x="513" y="7279"/>
                      <a:pt x="364" y="7246"/>
                      <a:pt x="246" y="7182"/>
                    </a:cubicBezTo>
                    <a:cubicBezTo>
                      <a:pt x="87" y="7096"/>
                      <a:pt x="-4" y="6966"/>
                      <a:pt x="0" y="6829"/>
                    </a:cubicBezTo>
                    <a:lnTo>
                      <a:pt x="0" y="5619"/>
                    </a:lnTo>
                    <a:cubicBezTo>
                      <a:pt x="70" y="4333"/>
                      <a:pt x="814" y="3104"/>
                      <a:pt x="2100" y="2154"/>
                    </a:cubicBezTo>
                    <a:cubicBezTo>
                      <a:pt x="3421" y="1178"/>
                      <a:pt x="5208" y="568"/>
                      <a:pt x="7110" y="255"/>
                    </a:cubicBezTo>
                    <a:cubicBezTo>
                      <a:pt x="8638" y="4"/>
                      <a:pt x="10219" y="-53"/>
                      <a:pt x="11785" y="45"/>
                    </a:cubicBezTo>
                    <a:cubicBezTo>
                      <a:pt x="13407" y="147"/>
                      <a:pt x="15006" y="416"/>
                      <a:pt x="16439" y="941"/>
                    </a:cubicBezTo>
                    <a:cubicBezTo>
                      <a:pt x="17732" y="1414"/>
                      <a:pt x="18850" y="2083"/>
                      <a:pt x="19663" y="2911"/>
                    </a:cubicBezTo>
                    <a:cubicBezTo>
                      <a:pt x="20479" y="3743"/>
                      <a:pt x="20958" y="4708"/>
                      <a:pt x="20995" y="5706"/>
                    </a:cubicBezTo>
                    <a:cubicBezTo>
                      <a:pt x="21032" y="6696"/>
                      <a:pt x="20633" y="7663"/>
                      <a:pt x="20034" y="8566"/>
                    </a:cubicBezTo>
                    <a:cubicBezTo>
                      <a:pt x="19352" y="9594"/>
                      <a:pt x="18420" y="10534"/>
                      <a:pt x="17385" y="11416"/>
                    </a:cubicBezTo>
                    <a:cubicBezTo>
                      <a:pt x="16088" y="12522"/>
                      <a:pt x="14633" y="13536"/>
                      <a:pt x="13193" y="14557"/>
                    </a:cubicBezTo>
                    <a:cubicBezTo>
                      <a:pt x="11732" y="15593"/>
                      <a:pt x="10284" y="16637"/>
                      <a:pt x="8849" y="17689"/>
                    </a:cubicBezTo>
                    <a:cubicBezTo>
                      <a:pt x="8783" y="17718"/>
                      <a:pt x="8752" y="17772"/>
                      <a:pt x="8771" y="17824"/>
                    </a:cubicBezTo>
                    <a:cubicBezTo>
                      <a:pt x="8792" y="17880"/>
                      <a:pt x="8867" y="17919"/>
                      <a:pt x="8953" y="17919"/>
                    </a:cubicBezTo>
                    <a:lnTo>
                      <a:pt x="20829" y="17919"/>
                    </a:lnTo>
                    <a:cubicBezTo>
                      <a:pt x="21022" y="17905"/>
                      <a:pt x="21215" y="17947"/>
                      <a:pt x="21361" y="18034"/>
                    </a:cubicBezTo>
                    <a:cubicBezTo>
                      <a:pt x="21510" y="18123"/>
                      <a:pt x="21595" y="18250"/>
                      <a:pt x="21596" y="18384"/>
                    </a:cubicBezTo>
                    <a:lnTo>
                      <a:pt x="21596" y="21136"/>
                    </a:lnTo>
                    <a:cubicBezTo>
                      <a:pt x="21581" y="21230"/>
                      <a:pt x="21522" y="21318"/>
                      <a:pt x="21429" y="21387"/>
                    </a:cubicBezTo>
                    <a:cubicBezTo>
                      <a:pt x="21320" y="21470"/>
                      <a:pt x="21169" y="21522"/>
                      <a:pt x="21007" y="21534"/>
                    </a:cubicBezTo>
                    <a:lnTo>
                      <a:pt x="979" y="21534"/>
                    </a:lnTo>
                    <a:cubicBezTo>
                      <a:pt x="819" y="21547"/>
                      <a:pt x="657" y="21521"/>
                      <a:pt x="522" y="21461"/>
                    </a:cubicBezTo>
                    <a:cubicBezTo>
                      <a:pt x="361" y="21389"/>
                      <a:pt x="252" y="21274"/>
                      <a:pt x="222" y="21146"/>
                    </a:cubicBezTo>
                    <a:lnTo>
                      <a:pt x="189" y="18578"/>
                    </a:lnTo>
                    <a:cubicBezTo>
                      <a:pt x="178" y="18441"/>
                      <a:pt x="210" y="18305"/>
                      <a:pt x="282" y="18177"/>
                    </a:cubicBezTo>
                    <a:cubicBezTo>
                      <a:pt x="350" y="18057"/>
                      <a:pt x="453" y="17948"/>
                      <a:pt x="584" y="17855"/>
                    </a:cubicBezTo>
                    <a:lnTo>
                      <a:pt x="11394" y="10005"/>
                    </a:lnTo>
                    <a:cubicBezTo>
                      <a:pt x="11963" y="9497"/>
                      <a:pt x="12527" y="8986"/>
                      <a:pt x="13086" y="8472"/>
                    </a:cubicBezTo>
                    <a:cubicBezTo>
                      <a:pt x="13627" y="7974"/>
                      <a:pt x="14170" y="7464"/>
                      <a:pt x="14420" y="6868"/>
                    </a:cubicBezTo>
                    <a:cubicBezTo>
                      <a:pt x="14709" y="6181"/>
                      <a:pt x="14575" y="5464"/>
                      <a:pt x="14044" y="4885"/>
                    </a:cubicBezTo>
                    <a:cubicBezTo>
                      <a:pt x="13593" y="4393"/>
                      <a:pt x="12875" y="4026"/>
                      <a:pt x="12023" y="3825"/>
                    </a:cubicBezTo>
                    <a:cubicBezTo>
                      <a:pt x="10659" y="3503"/>
                      <a:pt x="9231" y="3631"/>
                      <a:pt x="8076" y="4087"/>
                    </a:cubicBezTo>
                    <a:cubicBezTo>
                      <a:pt x="7569" y="4288"/>
                      <a:pt x="7113" y="4553"/>
                      <a:pt x="6802" y="4894"/>
                    </a:cubicBezTo>
                    <a:cubicBezTo>
                      <a:pt x="6487" y="5241"/>
                      <a:pt x="6333" y="5657"/>
                      <a:pt x="6392" y="6090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36" name="Google Shape;1638;p47"/>
            <p:cNvGrpSpPr/>
            <p:nvPr/>
          </p:nvGrpSpPr>
          <p:grpSpPr>
            <a:xfrm>
              <a:off x="8151859" y="5582433"/>
              <a:ext cx="285751" cy="285751"/>
              <a:chOff x="0" y="0"/>
              <a:chExt cx="571500" cy="571500"/>
            </a:xfrm>
          </p:grpSpPr>
          <p:sp>
            <p:nvSpPr>
              <p:cNvPr id="38" name="Google Shape;1639;p47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9" name="Google Shape;1640;p47"/>
              <p:cNvSpPr/>
              <p:nvPr/>
            </p:nvSpPr>
            <p:spPr>
              <a:xfrm>
                <a:off x="223383" y="173151"/>
                <a:ext cx="335427" cy="37264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1436"/>
                    </a:moveTo>
                    <a:lnTo>
                      <a:pt x="8875" y="0"/>
                    </a:lnTo>
                    <a:lnTo>
                      <a:pt x="0" y="2059"/>
                    </a:lnTo>
                    <a:lnTo>
                      <a:pt x="3454" y="5169"/>
                    </a:lnTo>
                    <a:lnTo>
                      <a:pt x="3192" y="6850"/>
                    </a:lnTo>
                    <a:lnTo>
                      <a:pt x="6750" y="10052"/>
                    </a:lnTo>
                    <a:lnTo>
                      <a:pt x="5490" y="11512"/>
                    </a:lnTo>
                    <a:lnTo>
                      <a:pt x="2410" y="8864"/>
                    </a:lnTo>
                    <a:lnTo>
                      <a:pt x="953" y="11886"/>
                    </a:lnTo>
                    <a:lnTo>
                      <a:pt x="11639" y="21600"/>
                    </a:lnTo>
                    <a:cubicBezTo>
                      <a:pt x="14159" y="20558"/>
                      <a:pt x="16388" y="19022"/>
                      <a:pt x="18162" y="17104"/>
                    </a:cubicBezTo>
                    <a:cubicBezTo>
                      <a:pt x="19707" y="15434"/>
                      <a:pt x="20875" y="13509"/>
                      <a:pt x="21600" y="1143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0" name="Google Shape;1641;p47"/>
              <p:cNvSpPr/>
              <p:nvPr/>
            </p:nvSpPr>
            <p:spPr>
              <a:xfrm>
                <a:off x="216961" y="171682"/>
                <a:ext cx="149008" cy="228136"/>
              </a:xfrm>
              <a:custGeom>
                <a:avLst/>
                <a:gdLst/>
                <a:ahLst/>
                <a:cxnLst/>
                <a:rect l="l" t="t" r="r" b="b"/>
                <a:pathLst>
                  <a:path w="21513" h="21591" extrusionOk="0">
                    <a:moveTo>
                      <a:pt x="12133" y="3705"/>
                    </a:moveTo>
                    <a:lnTo>
                      <a:pt x="1263" y="3705"/>
                    </a:lnTo>
                    <a:cubicBezTo>
                      <a:pt x="1093" y="3705"/>
                      <a:pt x="928" y="3666"/>
                      <a:pt x="798" y="3594"/>
                    </a:cubicBezTo>
                    <a:cubicBezTo>
                      <a:pt x="678" y="3528"/>
                      <a:pt x="594" y="3438"/>
                      <a:pt x="560" y="3337"/>
                    </a:cubicBezTo>
                    <a:lnTo>
                      <a:pt x="560" y="514"/>
                    </a:lnTo>
                    <a:cubicBezTo>
                      <a:pt x="555" y="373"/>
                      <a:pt x="640" y="238"/>
                      <a:pt x="793" y="140"/>
                    </a:cubicBezTo>
                    <a:cubicBezTo>
                      <a:pt x="918" y="60"/>
                      <a:pt x="1081" y="11"/>
                      <a:pt x="1254" y="0"/>
                    </a:cubicBezTo>
                    <a:lnTo>
                      <a:pt x="20447" y="0"/>
                    </a:lnTo>
                    <a:cubicBezTo>
                      <a:pt x="20614" y="-2"/>
                      <a:pt x="20776" y="39"/>
                      <a:pt x="20896" y="115"/>
                    </a:cubicBezTo>
                    <a:cubicBezTo>
                      <a:pt x="21022" y="193"/>
                      <a:pt x="21092" y="302"/>
                      <a:pt x="21092" y="415"/>
                    </a:cubicBezTo>
                    <a:lnTo>
                      <a:pt x="21092" y="3562"/>
                    </a:lnTo>
                    <a:cubicBezTo>
                      <a:pt x="21087" y="3658"/>
                      <a:pt x="21056" y="3753"/>
                      <a:pt x="21000" y="3842"/>
                    </a:cubicBezTo>
                    <a:cubicBezTo>
                      <a:pt x="20947" y="3928"/>
                      <a:pt x="20871" y="4008"/>
                      <a:pt x="20776" y="4078"/>
                    </a:cubicBezTo>
                    <a:lnTo>
                      <a:pt x="14615" y="7758"/>
                    </a:lnTo>
                    <a:cubicBezTo>
                      <a:pt x="14538" y="7808"/>
                      <a:pt x="14510" y="7882"/>
                      <a:pt x="14542" y="7950"/>
                    </a:cubicBezTo>
                    <a:cubicBezTo>
                      <a:pt x="14567" y="8001"/>
                      <a:pt x="14623" y="8042"/>
                      <a:pt x="14697" y="8064"/>
                    </a:cubicBezTo>
                    <a:cubicBezTo>
                      <a:pt x="15727" y="8167"/>
                      <a:pt x="16712" y="8411"/>
                      <a:pt x="17589" y="8779"/>
                    </a:cubicBezTo>
                    <a:cubicBezTo>
                      <a:pt x="18597" y="9202"/>
                      <a:pt x="19434" y="9776"/>
                      <a:pt x="20059" y="10445"/>
                    </a:cubicBezTo>
                    <a:cubicBezTo>
                      <a:pt x="20822" y="11262"/>
                      <a:pt x="21235" y="12169"/>
                      <a:pt x="21412" y="13104"/>
                    </a:cubicBezTo>
                    <a:cubicBezTo>
                      <a:pt x="21588" y="14039"/>
                      <a:pt x="21528" y="15007"/>
                      <a:pt x="21273" y="15951"/>
                    </a:cubicBezTo>
                    <a:cubicBezTo>
                      <a:pt x="21068" y="16709"/>
                      <a:pt x="20740" y="17451"/>
                      <a:pt x="20211" y="18132"/>
                    </a:cubicBezTo>
                    <a:cubicBezTo>
                      <a:pt x="19696" y="18796"/>
                      <a:pt x="18997" y="19394"/>
                      <a:pt x="18143" y="19891"/>
                    </a:cubicBezTo>
                    <a:cubicBezTo>
                      <a:pt x="16120" y="21069"/>
                      <a:pt x="13441" y="21598"/>
                      <a:pt x="10734" y="21591"/>
                    </a:cubicBezTo>
                    <a:cubicBezTo>
                      <a:pt x="9081" y="21587"/>
                      <a:pt x="7448" y="21385"/>
                      <a:pt x="5977" y="20953"/>
                    </a:cubicBezTo>
                    <a:cubicBezTo>
                      <a:pt x="4452" y="20506"/>
                      <a:pt x="3115" y="19817"/>
                      <a:pt x="2073" y="18929"/>
                    </a:cubicBezTo>
                    <a:cubicBezTo>
                      <a:pt x="862" y="17895"/>
                      <a:pt x="145" y="16650"/>
                      <a:pt x="13" y="15350"/>
                    </a:cubicBezTo>
                    <a:lnTo>
                      <a:pt x="2" y="14852"/>
                    </a:lnTo>
                    <a:cubicBezTo>
                      <a:pt x="-12" y="14739"/>
                      <a:pt x="49" y="14627"/>
                      <a:pt x="170" y="14546"/>
                    </a:cubicBezTo>
                    <a:cubicBezTo>
                      <a:pt x="295" y="14462"/>
                      <a:pt x="469" y="14420"/>
                      <a:pt x="646" y="14429"/>
                    </a:cubicBezTo>
                    <a:lnTo>
                      <a:pt x="5990" y="14429"/>
                    </a:lnTo>
                    <a:cubicBezTo>
                      <a:pt x="6127" y="14434"/>
                      <a:pt x="6257" y="14472"/>
                      <a:pt x="6355" y="14535"/>
                    </a:cubicBezTo>
                    <a:cubicBezTo>
                      <a:pt x="6460" y="14603"/>
                      <a:pt x="6522" y="14695"/>
                      <a:pt x="6526" y="14791"/>
                    </a:cubicBezTo>
                    <a:cubicBezTo>
                      <a:pt x="6610" y="15121"/>
                      <a:pt x="6718" y="15448"/>
                      <a:pt x="6850" y="15771"/>
                    </a:cubicBezTo>
                    <a:cubicBezTo>
                      <a:pt x="6942" y="15998"/>
                      <a:pt x="7046" y="16223"/>
                      <a:pt x="7161" y="16445"/>
                    </a:cubicBezTo>
                    <a:cubicBezTo>
                      <a:pt x="7666" y="17125"/>
                      <a:pt x="8547" y="17608"/>
                      <a:pt x="9568" y="17834"/>
                    </a:cubicBezTo>
                    <a:cubicBezTo>
                      <a:pt x="10568" y="18055"/>
                      <a:pt x="11702" y="18029"/>
                      <a:pt x="12693" y="17662"/>
                    </a:cubicBezTo>
                    <a:cubicBezTo>
                      <a:pt x="14380" y="17037"/>
                      <a:pt x="14922" y="15695"/>
                      <a:pt x="14955" y="14403"/>
                    </a:cubicBezTo>
                    <a:cubicBezTo>
                      <a:pt x="14994" y="12890"/>
                      <a:pt x="14322" y="11313"/>
                      <a:pt x="12282" y="10703"/>
                    </a:cubicBezTo>
                    <a:cubicBezTo>
                      <a:pt x="11786" y="10554"/>
                      <a:pt x="11242" y="10487"/>
                      <a:pt x="10698" y="10509"/>
                    </a:cubicBezTo>
                    <a:cubicBezTo>
                      <a:pt x="10298" y="10525"/>
                      <a:pt x="9905" y="10589"/>
                      <a:pt x="9540" y="10698"/>
                    </a:cubicBezTo>
                    <a:lnTo>
                      <a:pt x="8545" y="11086"/>
                    </a:lnTo>
                    <a:cubicBezTo>
                      <a:pt x="8397" y="11157"/>
                      <a:pt x="8216" y="11191"/>
                      <a:pt x="8034" y="11182"/>
                    </a:cubicBezTo>
                    <a:cubicBezTo>
                      <a:pt x="7838" y="11172"/>
                      <a:pt x="7656" y="11114"/>
                      <a:pt x="7523" y="11019"/>
                    </a:cubicBezTo>
                    <a:lnTo>
                      <a:pt x="4907" y="8740"/>
                    </a:lnTo>
                    <a:cubicBezTo>
                      <a:pt x="4780" y="8645"/>
                      <a:pt x="4719" y="8520"/>
                      <a:pt x="4739" y="8394"/>
                    </a:cubicBezTo>
                    <a:cubicBezTo>
                      <a:pt x="4758" y="8276"/>
                      <a:pt x="4847" y="8168"/>
                      <a:pt x="4987" y="8092"/>
                    </a:cubicBezTo>
                    <a:lnTo>
                      <a:pt x="12302" y="3940"/>
                    </a:lnTo>
                    <a:cubicBezTo>
                      <a:pt x="12347" y="3901"/>
                      <a:pt x="12360" y="3851"/>
                      <a:pt x="12336" y="3805"/>
                    </a:cubicBezTo>
                    <a:cubicBezTo>
                      <a:pt x="12306" y="3747"/>
                      <a:pt x="12226" y="3707"/>
                      <a:pt x="12133" y="3705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31" name="Google Shape;1644;p47"/>
            <p:cNvGrpSpPr/>
            <p:nvPr/>
          </p:nvGrpSpPr>
          <p:grpSpPr>
            <a:xfrm>
              <a:off x="8151859" y="2935674"/>
              <a:ext cx="285751" cy="285751"/>
              <a:chOff x="1" y="0"/>
              <a:chExt cx="571500" cy="571500"/>
            </a:xfrm>
          </p:grpSpPr>
          <p:sp>
            <p:nvSpPr>
              <p:cNvPr id="33" name="Google Shape;1645;p47"/>
              <p:cNvSpPr/>
              <p:nvPr/>
            </p:nvSpPr>
            <p:spPr>
              <a:xfrm>
                <a:off x="1" y="0"/>
                <a:ext cx="571500" cy="5715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4" name="Google Shape;1646;p47"/>
              <p:cNvSpPr/>
              <p:nvPr/>
            </p:nvSpPr>
            <p:spPr>
              <a:xfrm>
                <a:off x="240557" y="168335"/>
                <a:ext cx="307708" cy="3677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3450"/>
                    </a:moveTo>
                    <a:lnTo>
                      <a:pt x="5480" y="0"/>
                    </a:lnTo>
                    <a:lnTo>
                      <a:pt x="0" y="2690"/>
                    </a:lnTo>
                    <a:lnTo>
                      <a:pt x="2959" y="5156"/>
                    </a:lnTo>
                    <a:lnTo>
                      <a:pt x="2623" y="13045"/>
                    </a:lnTo>
                    <a:lnTo>
                      <a:pt x="12823" y="21600"/>
                    </a:lnTo>
                    <a:cubicBezTo>
                      <a:pt x="14999" y="20620"/>
                      <a:pt x="16932" y="19301"/>
                      <a:pt x="18520" y="17716"/>
                    </a:cubicBezTo>
                    <a:cubicBezTo>
                      <a:pt x="19802" y="16435"/>
                      <a:pt x="20841" y="14996"/>
                      <a:pt x="21600" y="1345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5" name="Google Shape;1647;p47"/>
              <p:cNvSpPr/>
              <p:nvPr/>
            </p:nvSpPr>
            <p:spPr>
              <a:xfrm>
                <a:off x="238956" y="167704"/>
                <a:ext cx="82158" cy="224662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21584" extrusionOk="0">
                    <a:moveTo>
                      <a:pt x="0" y="1732"/>
                    </a:moveTo>
                    <a:cubicBezTo>
                      <a:pt x="-1" y="1616"/>
                      <a:pt x="100" y="1502"/>
                      <a:pt x="287" y="1407"/>
                    </a:cubicBezTo>
                    <a:cubicBezTo>
                      <a:pt x="489" y="1306"/>
                      <a:pt x="779" y="1232"/>
                      <a:pt x="1111" y="1198"/>
                    </a:cubicBezTo>
                    <a:lnTo>
                      <a:pt x="8348" y="207"/>
                    </a:lnTo>
                    <a:cubicBezTo>
                      <a:pt x="8705" y="144"/>
                      <a:pt x="9079" y="94"/>
                      <a:pt x="9464" y="60"/>
                    </a:cubicBezTo>
                    <a:cubicBezTo>
                      <a:pt x="9886" y="22"/>
                      <a:pt x="10318" y="2"/>
                      <a:pt x="10752" y="1"/>
                    </a:cubicBezTo>
                    <a:lnTo>
                      <a:pt x="20274" y="1"/>
                    </a:lnTo>
                    <a:cubicBezTo>
                      <a:pt x="20690" y="-10"/>
                      <a:pt x="21092" y="58"/>
                      <a:pt x="21339" y="180"/>
                    </a:cubicBezTo>
                    <a:cubicBezTo>
                      <a:pt x="21513" y="267"/>
                      <a:pt x="21593" y="374"/>
                      <a:pt x="21563" y="480"/>
                    </a:cubicBezTo>
                    <a:lnTo>
                      <a:pt x="21599" y="21163"/>
                    </a:lnTo>
                    <a:cubicBezTo>
                      <a:pt x="21587" y="21270"/>
                      <a:pt x="21469" y="21371"/>
                      <a:pt x="21266" y="21448"/>
                    </a:cubicBezTo>
                    <a:cubicBezTo>
                      <a:pt x="21024" y="21540"/>
                      <a:pt x="20684" y="21590"/>
                      <a:pt x="20334" y="21584"/>
                    </a:cubicBezTo>
                    <a:lnTo>
                      <a:pt x="11015" y="21584"/>
                    </a:lnTo>
                    <a:cubicBezTo>
                      <a:pt x="10657" y="21590"/>
                      <a:pt x="10311" y="21537"/>
                      <a:pt x="10072" y="21440"/>
                    </a:cubicBezTo>
                    <a:cubicBezTo>
                      <a:pt x="9891" y="21367"/>
                      <a:pt x="9785" y="21273"/>
                      <a:pt x="9771" y="21174"/>
                    </a:cubicBezTo>
                    <a:lnTo>
                      <a:pt x="9636" y="4253"/>
                    </a:lnTo>
                    <a:cubicBezTo>
                      <a:pt x="9639" y="4193"/>
                      <a:pt x="9570" y="4136"/>
                      <a:pt x="9447" y="4098"/>
                    </a:cubicBezTo>
                    <a:cubicBezTo>
                      <a:pt x="9286" y="4047"/>
                      <a:pt x="9059" y="4034"/>
                      <a:pt x="8864" y="4064"/>
                    </a:cubicBezTo>
                    <a:lnTo>
                      <a:pt x="1543" y="4572"/>
                    </a:lnTo>
                    <a:cubicBezTo>
                      <a:pt x="1228" y="4613"/>
                      <a:pt x="880" y="4601"/>
                      <a:pt x="591" y="4541"/>
                    </a:cubicBezTo>
                    <a:cubicBezTo>
                      <a:pt x="265" y="4472"/>
                      <a:pt x="51" y="4349"/>
                      <a:pt x="19" y="4212"/>
                    </a:cubicBezTo>
                    <a:lnTo>
                      <a:pt x="0" y="1732"/>
                    </a:ln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19" name="Google Shape;1652;p47"/>
            <p:cNvSpPr txBox="1"/>
            <p:nvPr/>
          </p:nvSpPr>
          <p:spPr>
            <a:xfrm>
              <a:off x="8903322" y="3024242"/>
              <a:ext cx="2700673" cy="605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lnSpc>
                  <a:spcPct val="150000"/>
                </a:lnSpc>
                <a:buClr>
                  <a:schemeClr val="dk2"/>
                </a:buClr>
                <a:buSzPts val="900"/>
                <a:defRPr sz="1200">
                  <a:solidFill>
                    <a:schemeClr val="dk2"/>
                  </a:solidFill>
                  <a:latin typeface="+mn-ea"/>
                  <a:cs typeface="Barlow Medium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  <a:buSzPts val="900"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3D-CNN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模型压缩至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500MB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，保持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98%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原模型精度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" name="Google Shape;1653;p47"/>
            <p:cNvSpPr txBox="1"/>
            <p:nvPr/>
          </p:nvSpPr>
          <p:spPr>
            <a:xfrm>
              <a:off x="8906331" y="2701056"/>
              <a:ext cx="2193248" cy="266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buClr>
                  <a:schemeClr val="dk1"/>
                </a:buClr>
                <a:buSzPts val="1100"/>
                <a:defRPr sz="1400" b="1">
                  <a:solidFill>
                    <a:schemeClr val="accent1"/>
                  </a:solidFill>
                  <a:latin typeface="+mn-ea"/>
                  <a:cs typeface="Barlow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轻量化模型压缩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Google Shape;1656;p47"/>
            <p:cNvSpPr txBox="1"/>
            <p:nvPr/>
          </p:nvSpPr>
          <p:spPr>
            <a:xfrm>
              <a:off x="8906194" y="5671001"/>
              <a:ext cx="2700673" cy="605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lnSpc>
                  <a:spcPct val="150000"/>
                </a:lnSpc>
                <a:buClr>
                  <a:schemeClr val="dk2"/>
                </a:buClr>
                <a:buSzPts val="900"/>
                <a:defRPr sz="1200">
                  <a:solidFill>
                    <a:schemeClr val="dk2"/>
                  </a:solidFill>
                  <a:latin typeface="+mn-ea"/>
                  <a:cs typeface="Barlow Medium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  <a:buSzPts val="9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联邦学习框架支持医院数据不出院，模型更新周期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&lt;24h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Google Shape;1657;p47"/>
            <p:cNvSpPr txBox="1"/>
            <p:nvPr/>
          </p:nvSpPr>
          <p:spPr>
            <a:xfrm>
              <a:off x="8909203" y="5347814"/>
              <a:ext cx="2193248" cy="266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buClr>
                  <a:schemeClr val="dk1"/>
                </a:buClr>
                <a:buSzPts val="1100"/>
                <a:defRPr sz="1400" b="1">
                  <a:solidFill>
                    <a:schemeClr val="accent1"/>
                  </a:solidFill>
                  <a:latin typeface="+mn-ea"/>
                  <a:cs typeface="Barlow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隐私保护推理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" name="Google Shape;1660;p47"/>
            <p:cNvSpPr/>
            <p:nvPr/>
          </p:nvSpPr>
          <p:spPr>
            <a:xfrm>
              <a:off x="9394317" y="4341611"/>
              <a:ext cx="2233298" cy="605294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  <a:buSzPts val="9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利用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FPGA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实现实时推理，延迟控制在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80ms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以内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Google Shape;1661;p47"/>
            <p:cNvSpPr/>
            <p:nvPr/>
          </p:nvSpPr>
          <p:spPr>
            <a:xfrm>
              <a:off x="9397327" y="4018424"/>
              <a:ext cx="2193248" cy="266740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异构计算加速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8" name="Google Shape;1618;p47_30"/>
            <p:cNvSpPr/>
            <p:nvPr/>
          </p:nvSpPr>
          <p:spPr>
            <a:xfrm>
              <a:off x="7850276" y="2659873"/>
              <a:ext cx="845029" cy="845029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dash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79" name="Google Shape;1618;p47_31"/>
            <p:cNvSpPr/>
            <p:nvPr/>
          </p:nvSpPr>
          <p:spPr>
            <a:xfrm>
              <a:off x="7858026" y="5302330"/>
              <a:ext cx="845029" cy="845029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dash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80" name="Google Shape;1618;p47_32"/>
            <p:cNvSpPr/>
            <p:nvPr/>
          </p:nvSpPr>
          <p:spPr>
            <a:xfrm>
              <a:off x="8470206" y="3992725"/>
              <a:ext cx="845029" cy="845029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dash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87" name="Google Shape;6695;p79"/>
          <p:cNvSpPr/>
          <p:nvPr/>
        </p:nvSpPr>
        <p:spPr>
          <a:xfrm>
            <a:off x="5813993" y="4115588"/>
            <a:ext cx="574140" cy="572582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5199" y="1"/>
                </a:moveTo>
                <a:cubicBezTo>
                  <a:pt x="5042" y="1"/>
                  <a:pt x="4916" y="127"/>
                  <a:pt x="4884" y="284"/>
                </a:cubicBezTo>
                <a:lnTo>
                  <a:pt x="4727" y="883"/>
                </a:lnTo>
                <a:cubicBezTo>
                  <a:pt x="4191" y="977"/>
                  <a:pt x="3655" y="1229"/>
                  <a:pt x="3151" y="1513"/>
                </a:cubicBezTo>
                <a:lnTo>
                  <a:pt x="2647" y="1229"/>
                </a:lnTo>
                <a:cubicBezTo>
                  <a:pt x="2599" y="1205"/>
                  <a:pt x="2542" y="1195"/>
                  <a:pt x="2482" y="1195"/>
                </a:cubicBezTo>
                <a:cubicBezTo>
                  <a:pt x="2386" y="1195"/>
                  <a:pt x="2284" y="1222"/>
                  <a:pt x="2206" y="1261"/>
                </a:cubicBezTo>
                <a:lnTo>
                  <a:pt x="1261" y="2206"/>
                </a:lnTo>
                <a:cubicBezTo>
                  <a:pt x="1135" y="2332"/>
                  <a:pt x="1135" y="2490"/>
                  <a:pt x="1230" y="2647"/>
                </a:cubicBezTo>
                <a:lnTo>
                  <a:pt x="1513" y="3151"/>
                </a:lnTo>
                <a:cubicBezTo>
                  <a:pt x="1198" y="3624"/>
                  <a:pt x="978" y="4191"/>
                  <a:pt x="883" y="4726"/>
                </a:cubicBezTo>
                <a:lnTo>
                  <a:pt x="284" y="4884"/>
                </a:lnTo>
                <a:cubicBezTo>
                  <a:pt x="127" y="4947"/>
                  <a:pt x="1" y="5041"/>
                  <a:pt x="1" y="5199"/>
                </a:cubicBezTo>
                <a:lnTo>
                  <a:pt x="1" y="6585"/>
                </a:lnTo>
                <a:cubicBezTo>
                  <a:pt x="1" y="6743"/>
                  <a:pt x="127" y="6869"/>
                  <a:pt x="284" y="6900"/>
                </a:cubicBezTo>
                <a:lnTo>
                  <a:pt x="883" y="7058"/>
                </a:lnTo>
                <a:cubicBezTo>
                  <a:pt x="946" y="7404"/>
                  <a:pt x="1072" y="7782"/>
                  <a:pt x="1230" y="8129"/>
                </a:cubicBezTo>
                <a:cubicBezTo>
                  <a:pt x="1504" y="7854"/>
                  <a:pt x="2843" y="6486"/>
                  <a:pt x="2841" y="6486"/>
                </a:cubicBezTo>
                <a:lnTo>
                  <a:pt x="2841" y="6486"/>
                </a:lnTo>
                <a:cubicBezTo>
                  <a:pt x="2841" y="6486"/>
                  <a:pt x="2839" y="6488"/>
                  <a:pt x="2836" y="6491"/>
                </a:cubicBezTo>
                <a:cubicBezTo>
                  <a:pt x="2836" y="6459"/>
                  <a:pt x="2805" y="6050"/>
                  <a:pt x="2805" y="5955"/>
                </a:cubicBezTo>
                <a:cubicBezTo>
                  <a:pt x="2773" y="4222"/>
                  <a:pt x="4191" y="2836"/>
                  <a:pt x="5861" y="2836"/>
                </a:cubicBezTo>
                <a:cubicBezTo>
                  <a:pt x="7562" y="2836"/>
                  <a:pt x="8948" y="4222"/>
                  <a:pt x="8948" y="5924"/>
                </a:cubicBezTo>
                <a:cubicBezTo>
                  <a:pt x="8948" y="7499"/>
                  <a:pt x="7751" y="8822"/>
                  <a:pt x="6113" y="8948"/>
                </a:cubicBezTo>
                <a:cubicBezTo>
                  <a:pt x="6066" y="8948"/>
                  <a:pt x="5963" y="8956"/>
                  <a:pt x="5821" y="8956"/>
                </a:cubicBezTo>
                <a:cubicBezTo>
                  <a:pt x="5680" y="8956"/>
                  <a:pt x="5499" y="8948"/>
                  <a:pt x="5294" y="8917"/>
                </a:cubicBezTo>
                <a:lnTo>
                  <a:pt x="3655" y="10523"/>
                </a:lnTo>
                <a:cubicBezTo>
                  <a:pt x="4034" y="10681"/>
                  <a:pt x="4349" y="10807"/>
                  <a:pt x="4727" y="10870"/>
                </a:cubicBezTo>
                <a:lnTo>
                  <a:pt x="4884" y="11468"/>
                </a:lnTo>
                <a:cubicBezTo>
                  <a:pt x="4916" y="11626"/>
                  <a:pt x="5042" y="11752"/>
                  <a:pt x="5199" y="11752"/>
                </a:cubicBezTo>
                <a:lnTo>
                  <a:pt x="6585" y="11752"/>
                </a:lnTo>
                <a:cubicBezTo>
                  <a:pt x="6743" y="11752"/>
                  <a:pt x="6869" y="11626"/>
                  <a:pt x="6901" y="11468"/>
                </a:cubicBezTo>
                <a:lnTo>
                  <a:pt x="7058" y="10870"/>
                </a:lnTo>
                <a:cubicBezTo>
                  <a:pt x="7594" y="10775"/>
                  <a:pt x="8129" y="10523"/>
                  <a:pt x="8633" y="10240"/>
                </a:cubicBezTo>
                <a:lnTo>
                  <a:pt x="9137" y="10523"/>
                </a:lnTo>
                <a:cubicBezTo>
                  <a:pt x="9185" y="10547"/>
                  <a:pt x="9243" y="10558"/>
                  <a:pt x="9302" y="10558"/>
                </a:cubicBezTo>
                <a:cubicBezTo>
                  <a:pt x="9399" y="10558"/>
                  <a:pt x="9501" y="10531"/>
                  <a:pt x="9578" y="10492"/>
                </a:cubicBezTo>
                <a:lnTo>
                  <a:pt x="10524" y="9547"/>
                </a:lnTo>
                <a:cubicBezTo>
                  <a:pt x="10650" y="9421"/>
                  <a:pt x="10650" y="9263"/>
                  <a:pt x="10555" y="9106"/>
                </a:cubicBezTo>
                <a:lnTo>
                  <a:pt x="10303" y="8601"/>
                </a:lnTo>
                <a:cubicBezTo>
                  <a:pt x="10618" y="8129"/>
                  <a:pt x="10807" y="7562"/>
                  <a:pt x="10933" y="7026"/>
                </a:cubicBezTo>
                <a:lnTo>
                  <a:pt x="11500" y="6869"/>
                </a:lnTo>
                <a:cubicBezTo>
                  <a:pt x="11658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752" y="5041"/>
                  <a:pt x="11658" y="4915"/>
                  <a:pt x="11500" y="4884"/>
                </a:cubicBezTo>
                <a:lnTo>
                  <a:pt x="10902" y="4726"/>
                </a:lnTo>
                <a:cubicBezTo>
                  <a:pt x="10807" y="4191"/>
                  <a:pt x="10555" y="3687"/>
                  <a:pt x="10272" y="3151"/>
                </a:cubicBezTo>
                <a:lnTo>
                  <a:pt x="10555" y="2647"/>
                </a:lnTo>
                <a:cubicBezTo>
                  <a:pt x="10650" y="2521"/>
                  <a:pt x="10587" y="2332"/>
                  <a:pt x="10524" y="2206"/>
                </a:cubicBezTo>
                <a:lnTo>
                  <a:pt x="9578" y="1261"/>
                </a:lnTo>
                <a:cubicBezTo>
                  <a:pt x="9509" y="1209"/>
                  <a:pt x="9430" y="1185"/>
                  <a:pt x="9347" y="1185"/>
                </a:cubicBezTo>
                <a:cubicBezTo>
                  <a:pt x="9279" y="1185"/>
                  <a:pt x="9208" y="1201"/>
                  <a:pt x="9137" y="1229"/>
                </a:cubicBezTo>
                <a:lnTo>
                  <a:pt x="8633" y="1513"/>
                </a:lnTo>
                <a:cubicBezTo>
                  <a:pt x="8161" y="1198"/>
                  <a:pt x="7594" y="977"/>
                  <a:pt x="7058" y="883"/>
                </a:cubicBezTo>
                <a:lnTo>
                  <a:pt x="6901" y="284"/>
                </a:lnTo>
                <a:cubicBezTo>
                  <a:pt x="6869" y="127"/>
                  <a:pt x="6743" y="1"/>
                  <a:pt x="658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8" name="Google Shape;6696;p79"/>
          <p:cNvSpPr/>
          <p:nvPr/>
        </p:nvSpPr>
        <p:spPr>
          <a:xfrm>
            <a:off x="5813993" y="4287090"/>
            <a:ext cx="419107" cy="399570"/>
          </a:xfrm>
          <a:custGeom>
            <a:avLst/>
            <a:gdLst/>
            <a:ahLst/>
            <a:cxnLst/>
            <a:rect l="l" t="t" r="r" b="b"/>
            <a:pathLst>
              <a:path w="8602" h="8201" extrusionOk="0">
                <a:moveTo>
                  <a:pt x="5939" y="0"/>
                </a:moveTo>
                <a:cubicBezTo>
                  <a:pt x="4729" y="0"/>
                  <a:pt x="3750" y="854"/>
                  <a:pt x="3561" y="1963"/>
                </a:cubicBezTo>
                <a:cubicBezTo>
                  <a:pt x="3466" y="2404"/>
                  <a:pt x="3498" y="2813"/>
                  <a:pt x="3624" y="3223"/>
                </a:cubicBezTo>
                <a:lnTo>
                  <a:pt x="410" y="6468"/>
                </a:lnTo>
                <a:cubicBezTo>
                  <a:pt x="1" y="6846"/>
                  <a:pt x="1" y="7507"/>
                  <a:pt x="410" y="7917"/>
                </a:cubicBezTo>
                <a:cubicBezTo>
                  <a:pt x="600" y="8106"/>
                  <a:pt x="852" y="8200"/>
                  <a:pt x="1111" y="8200"/>
                </a:cubicBezTo>
                <a:cubicBezTo>
                  <a:pt x="1371" y="8200"/>
                  <a:pt x="1639" y="8106"/>
                  <a:pt x="1860" y="7917"/>
                </a:cubicBezTo>
                <a:lnTo>
                  <a:pt x="5136" y="4640"/>
                </a:lnTo>
                <a:cubicBezTo>
                  <a:pt x="5388" y="4735"/>
                  <a:pt x="5664" y="4782"/>
                  <a:pt x="5947" y="4782"/>
                </a:cubicBezTo>
                <a:cubicBezTo>
                  <a:pt x="6231" y="4782"/>
                  <a:pt x="6522" y="4735"/>
                  <a:pt x="6806" y="4640"/>
                </a:cubicBezTo>
                <a:cubicBezTo>
                  <a:pt x="7846" y="4294"/>
                  <a:pt x="8602" y="3065"/>
                  <a:pt x="8224" y="1773"/>
                </a:cubicBezTo>
                <a:cubicBezTo>
                  <a:pt x="8192" y="1647"/>
                  <a:pt x="8129" y="1553"/>
                  <a:pt x="8003" y="1521"/>
                </a:cubicBezTo>
                <a:cubicBezTo>
                  <a:pt x="7972" y="1514"/>
                  <a:pt x="7942" y="1510"/>
                  <a:pt x="7914" y="1510"/>
                </a:cubicBezTo>
                <a:cubicBezTo>
                  <a:pt x="7830" y="1510"/>
                  <a:pt x="7759" y="1545"/>
                  <a:pt x="7688" y="1616"/>
                </a:cubicBezTo>
                <a:lnTo>
                  <a:pt x="6901" y="2404"/>
                </a:lnTo>
                <a:cubicBezTo>
                  <a:pt x="6759" y="2530"/>
                  <a:pt x="6578" y="2593"/>
                  <a:pt x="6400" y="2593"/>
                </a:cubicBezTo>
                <a:cubicBezTo>
                  <a:pt x="6223" y="2593"/>
                  <a:pt x="6050" y="2530"/>
                  <a:pt x="5924" y="2404"/>
                </a:cubicBezTo>
                <a:cubicBezTo>
                  <a:pt x="5640" y="2120"/>
                  <a:pt x="5640" y="1679"/>
                  <a:pt x="5924" y="1395"/>
                </a:cubicBezTo>
                <a:lnTo>
                  <a:pt x="6711" y="608"/>
                </a:lnTo>
                <a:cubicBezTo>
                  <a:pt x="6774" y="545"/>
                  <a:pt x="6806" y="419"/>
                  <a:pt x="6774" y="293"/>
                </a:cubicBezTo>
                <a:cubicBezTo>
                  <a:pt x="6743" y="198"/>
                  <a:pt x="6648" y="104"/>
                  <a:pt x="6554" y="72"/>
                </a:cubicBezTo>
                <a:cubicBezTo>
                  <a:pt x="6344" y="23"/>
                  <a:pt x="6139" y="0"/>
                  <a:pt x="59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"/>
          <p:cNvSpPr/>
          <p:nvPr/>
        </p:nvSpPr>
        <p:spPr>
          <a:xfrm>
            <a:off x="9533020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Rounded Rectangle"/>
          <p:cNvSpPr/>
          <p:nvPr/>
        </p:nvSpPr>
        <p:spPr>
          <a:xfrm>
            <a:off x="7264625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Rounded Rectangle"/>
          <p:cNvSpPr/>
          <p:nvPr/>
        </p:nvSpPr>
        <p:spPr>
          <a:xfrm>
            <a:off x="4996229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Rounded Rectangle"/>
          <p:cNvSpPr/>
          <p:nvPr/>
        </p:nvSpPr>
        <p:spPr>
          <a:xfrm>
            <a:off x="2727834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Rounded Rectangle"/>
          <p:cNvSpPr/>
          <p:nvPr/>
        </p:nvSpPr>
        <p:spPr>
          <a:xfrm>
            <a:off x="459438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81873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年突破固态电池技术，量产验证，研发投入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18%"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2" name="Shape"/>
          <p:cNvSpPr/>
          <p:nvPr/>
        </p:nvSpPr>
        <p:spPr>
          <a:xfrm>
            <a:off x="9535854" y="1144639"/>
            <a:ext cx="2200604" cy="2156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28" y="1503"/>
                  <a:pt x="7227" y="2871"/>
                  <a:pt x="0" y="4101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Shape"/>
          <p:cNvSpPr/>
          <p:nvPr/>
        </p:nvSpPr>
        <p:spPr>
          <a:xfrm>
            <a:off x="7267332" y="1565128"/>
            <a:ext cx="2200604" cy="1735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23" y="1507"/>
                  <a:pt x="7222" y="2847"/>
                  <a:pt x="0" y="4018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Shape"/>
          <p:cNvSpPr/>
          <p:nvPr/>
        </p:nvSpPr>
        <p:spPr>
          <a:xfrm>
            <a:off x="4998809" y="1896718"/>
            <a:ext cx="2200604" cy="1404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8337" y="648"/>
                  <a:pt x="15069" y="1268"/>
                  <a:pt x="11798" y="1832"/>
                </a:cubicBezTo>
                <a:cubicBezTo>
                  <a:pt x="7869" y="2508"/>
                  <a:pt x="3937" y="3104"/>
                  <a:pt x="0" y="3657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Shape"/>
          <p:cNvSpPr/>
          <p:nvPr/>
        </p:nvSpPr>
        <p:spPr>
          <a:xfrm>
            <a:off x="2730286" y="2140597"/>
            <a:ext cx="2200604" cy="11602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11" y="1207"/>
                  <a:pt x="7209" y="2166"/>
                  <a:pt x="0" y="2874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Shape"/>
          <p:cNvSpPr/>
          <p:nvPr/>
        </p:nvSpPr>
        <p:spPr>
          <a:xfrm>
            <a:off x="461764" y="2298553"/>
            <a:ext cx="2200604" cy="10023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6" y="800"/>
                  <a:pt x="7205" y="1310"/>
                  <a:pt x="0" y="1535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699214" y="1565128"/>
            <a:ext cx="6804113" cy="4967981"/>
            <a:chOff x="2910956" y="1485965"/>
            <a:chExt cx="6361340" cy="4058890"/>
          </a:xfrm>
        </p:grpSpPr>
        <p:sp>
          <p:nvSpPr>
            <p:cNvPr id="27" name="Line"/>
            <p:cNvSpPr/>
            <p:nvPr/>
          </p:nvSpPr>
          <p:spPr>
            <a:xfrm>
              <a:off x="9272296" y="1485965"/>
              <a:ext cx="0" cy="4058890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Line"/>
            <p:cNvSpPr/>
            <p:nvPr/>
          </p:nvSpPr>
          <p:spPr>
            <a:xfrm>
              <a:off x="7152674" y="1756878"/>
              <a:ext cx="0" cy="3787977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Line"/>
            <p:cNvSpPr/>
            <p:nvPr/>
          </p:nvSpPr>
          <p:spPr>
            <a:xfrm>
              <a:off x="5031019" y="1956129"/>
              <a:ext cx="0" cy="3588726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Line"/>
            <p:cNvSpPr/>
            <p:nvPr/>
          </p:nvSpPr>
          <p:spPr>
            <a:xfrm>
              <a:off x="2910956" y="2085181"/>
              <a:ext cx="0" cy="3459674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613557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2500"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技术突破年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3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77086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产能建设年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65670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市场扩张年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429476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生态布局年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694555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全球领先年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Freeform 610"/>
          <p:cNvSpPr/>
          <p:nvPr/>
        </p:nvSpPr>
        <p:spPr>
          <a:xfrm>
            <a:off x="2157394" y="2405459"/>
            <a:ext cx="376845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36" y="0"/>
                </a:moveTo>
                <a:lnTo>
                  <a:pt x="15836" y="2856"/>
                </a:lnTo>
                <a:lnTo>
                  <a:pt x="13502" y="5314"/>
                </a:lnTo>
                <a:lnTo>
                  <a:pt x="14301" y="6326"/>
                </a:lnTo>
                <a:lnTo>
                  <a:pt x="16635" y="3886"/>
                </a:lnTo>
                <a:lnTo>
                  <a:pt x="21600" y="3886"/>
                </a:lnTo>
                <a:lnTo>
                  <a:pt x="21600" y="0"/>
                </a:lnTo>
                <a:lnTo>
                  <a:pt x="15836" y="0"/>
                </a:lnTo>
                <a:close/>
                <a:moveTo>
                  <a:pt x="8396" y="831"/>
                </a:moveTo>
                <a:cubicBezTo>
                  <a:pt x="3701" y="1189"/>
                  <a:pt x="0" y="5698"/>
                  <a:pt x="0" y="11207"/>
                </a:cubicBezTo>
                <a:cubicBezTo>
                  <a:pt x="0" y="13844"/>
                  <a:pt x="853" y="16242"/>
                  <a:pt x="2256" y="18075"/>
                </a:cubicBezTo>
                <a:lnTo>
                  <a:pt x="5498" y="14334"/>
                </a:lnTo>
                <a:cubicBezTo>
                  <a:pt x="4915" y="13466"/>
                  <a:pt x="4558" y="12389"/>
                  <a:pt x="4558" y="11207"/>
                </a:cubicBezTo>
                <a:cubicBezTo>
                  <a:pt x="4558" y="8610"/>
                  <a:pt x="6226" y="6467"/>
                  <a:pt x="8396" y="6128"/>
                </a:cubicBezTo>
                <a:lnTo>
                  <a:pt x="8396" y="831"/>
                </a:lnTo>
                <a:close/>
                <a:moveTo>
                  <a:pt x="9602" y="831"/>
                </a:moveTo>
                <a:lnTo>
                  <a:pt x="9602" y="6128"/>
                </a:lnTo>
                <a:cubicBezTo>
                  <a:pt x="11575" y="6436"/>
                  <a:pt x="13140" y="8244"/>
                  <a:pt x="13408" y="10520"/>
                </a:cubicBezTo>
                <a:lnTo>
                  <a:pt x="17997" y="10520"/>
                </a:lnTo>
                <a:cubicBezTo>
                  <a:pt x="17894" y="8722"/>
                  <a:pt x="17382" y="7036"/>
                  <a:pt x="16588" y="5603"/>
                </a:cubicBezTo>
                <a:lnTo>
                  <a:pt x="15679" y="6561"/>
                </a:lnTo>
                <a:cubicBezTo>
                  <a:pt x="16090" y="7346"/>
                  <a:pt x="16415" y="8212"/>
                  <a:pt x="16603" y="9128"/>
                </a:cubicBezTo>
                <a:lnTo>
                  <a:pt x="14348" y="9128"/>
                </a:lnTo>
                <a:cubicBezTo>
                  <a:pt x="13786" y="7207"/>
                  <a:pt x="12472" y="5691"/>
                  <a:pt x="10808" y="5043"/>
                </a:cubicBezTo>
                <a:lnTo>
                  <a:pt x="10808" y="2440"/>
                </a:lnTo>
                <a:cubicBezTo>
                  <a:pt x="11739" y="2695"/>
                  <a:pt x="12607" y="3139"/>
                  <a:pt x="13377" y="3742"/>
                </a:cubicBezTo>
                <a:lnTo>
                  <a:pt x="14285" y="2784"/>
                </a:lnTo>
                <a:cubicBezTo>
                  <a:pt x="12954" y="1669"/>
                  <a:pt x="11344" y="964"/>
                  <a:pt x="9602" y="831"/>
                </a:cubicBezTo>
                <a:close/>
                <a:moveTo>
                  <a:pt x="13408" y="11894"/>
                </a:moveTo>
                <a:cubicBezTo>
                  <a:pt x="13114" y="14397"/>
                  <a:pt x="11257" y="16340"/>
                  <a:pt x="9007" y="16340"/>
                </a:cubicBezTo>
                <a:cubicBezTo>
                  <a:pt x="8011" y="16340"/>
                  <a:pt x="7085" y="15949"/>
                  <a:pt x="6344" y="15310"/>
                </a:cubicBezTo>
                <a:lnTo>
                  <a:pt x="3101" y="19051"/>
                </a:lnTo>
                <a:cubicBezTo>
                  <a:pt x="4682" y="20634"/>
                  <a:pt x="6749" y="21600"/>
                  <a:pt x="9007" y="21600"/>
                </a:cubicBezTo>
                <a:cubicBezTo>
                  <a:pt x="13780" y="21600"/>
                  <a:pt x="17688" y="17311"/>
                  <a:pt x="17997" y="11894"/>
                </a:cubicBezTo>
                <a:lnTo>
                  <a:pt x="13408" y="11894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8" name="Freeform 772"/>
          <p:cNvSpPr/>
          <p:nvPr/>
        </p:nvSpPr>
        <p:spPr>
          <a:xfrm>
            <a:off x="4505982" y="2298553"/>
            <a:ext cx="317912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7" h="21600" extrusionOk="0">
                <a:moveTo>
                  <a:pt x="0" y="0"/>
                </a:moveTo>
                <a:lnTo>
                  <a:pt x="0" y="16670"/>
                </a:lnTo>
                <a:cubicBezTo>
                  <a:pt x="0" y="18174"/>
                  <a:pt x="1243" y="19419"/>
                  <a:pt x="2765" y="19419"/>
                </a:cubicBezTo>
                <a:lnTo>
                  <a:pt x="7845" y="19419"/>
                </a:lnTo>
                <a:lnTo>
                  <a:pt x="8492" y="15819"/>
                </a:lnTo>
                <a:lnTo>
                  <a:pt x="8527" y="15535"/>
                </a:lnTo>
                <a:lnTo>
                  <a:pt x="8689" y="15304"/>
                </a:lnTo>
                <a:lnTo>
                  <a:pt x="12118" y="10073"/>
                </a:lnTo>
                <a:lnTo>
                  <a:pt x="10251" y="8920"/>
                </a:lnTo>
                <a:lnTo>
                  <a:pt x="13411" y="3901"/>
                </a:lnTo>
                <a:cubicBezTo>
                  <a:pt x="13656" y="3508"/>
                  <a:pt x="14011" y="3203"/>
                  <a:pt x="14398" y="2997"/>
                </a:cubicBezTo>
                <a:cubicBezTo>
                  <a:pt x="14785" y="2790"/>
                  <a:pt x="15199" y="2678"/>
                  <a:pt x="15637" y="2678"/>
                </a:cubicBezTo>
                <a:cubicBezTo>
                  <a:pt x="16052" y="2677"/>
                  <a:pt x="16488" y="2792"/>
                  <a:pt x="16875" y="2997"/>
                </a:cubicBezTo>
                <a:lnTo>
                  <a:pt x="16875" y="0"/>
                </a:lnTo>
                <a:lnTo>
                  <a:pt x="0" y="0"/>
                </a:lnTo>
                <a:close/>
                <a:moveTo>
                  <a:pt x="5888" y="3157"/>
                </a:moveTo>
                <a:lnTo>
                  <a:pt x="7037" y="3919"/>
                </a:lnTo>
                <a:lnTo>
                  <a:pt x="4596" y="7537"/>
                </a:lnTo>
                <a:lnTo>
                  <a:pt x="2352" y="5888"/>
                </a:lnTo>
                <a:lnTo>
                  <a:pt x="3178" y="4788"/>
                </a:lnTo>
                <a:lnTo>
                  <a:pt x="4255" y="5586"/>
                </a:lnTo>
                <a:lnTo>
                  <a:pt x="5888" y="3157"/>
                </a:lnTo>
                <a:close/>
                <a:moveTo>
                  <a:pt x="19084" y="3813"/>
                </a:moveTo>
                <a:cubicBezTo>
                  <a:pt x="18359" y="3813"/>
                  <a:pt x="17640" y="4162"/>
                  <a:pt x="17217" y="4806"/>
                </a:cubicBezTo>
                <a:lnTo>
                  <a:pt x="16301" y="4238"/>
                </a:lnTo>
                <a:cubicBezTo>
                  <a:pt x="16095" y="4110"/>
                  <a:pt x="15864" y="4043"/>
                  <a:pt x="15637" y="4043"/>
                </a:cubicBezTo>
                <a:cubicBezTo>
                  <a:pt x="15432" y="4043"/>
                  <a:pt x="15244" y="4091"/>
                  <a:pt x="15062" y="4185"/>
                </a:cubicBezTo>
                <a:cubicBezTo>
                  <a:pt x="14880" y="4280"/>
                  <a:pt x="14715" y="4428"/>
                  <a:pt x="14595" y="4611"/>
                </a:cubicBezTo>
                <a:lnTo>
                  <a:pt x="12028" y="8530"/>
                </a:lnTo>
                <a:lnTo>
                  <a:pt x="13195" y="9257"/>
                </a:lnTo>
                <a:lnTo>
                  <a:pt x="15673" y="5462"/>
                </a:lnTo>
                <a:lnTo>
                  <a:pt x="16463" y="5941"/>
                </a:lnTo>
                <a:lnTo>
                  <a:pt x="9856" y="16049"/>
                </a:lnTo>
                <a:lnTo>
                  <a:pt x="8851" y="21600"/>
                </a:lnTo>
                <a:lnTo>
                  <a:pt x="13590" y="18390"/>
                </a:lnTo>
                <a:lnTo>
                  <a:pt x="20933" y="7182"/>
                </a:lnTo>
                <a:cubicBezTo>
                  <a:pt x="21600" y="6164"/>
                  <a:pt x="21295" y="4806"/>
                  <a:pt x="20268" y="4150"/>
                </a:cubicBezTo>
                <a:cubicBezTo>
                  <a:pt x="19897" y="3912"/>
                  <a:pt x="19495" y="3813"/>
                  <a:pt x="19084" y="3813"/>
                </a:cubicBezTo>
                <a:close/>
                <a:moveTo>
                  <a:pt x="19066" y="5178"/>
                </a:moveTo>
                <a:cubicBezTo>
                  <a:pt x="19224" y="5178"/>
                  <a:pt x="19398" y="5216"/>
                  <a:pt x="19532" y="5302"/>
                </a:cubicBezTo>
                <a:cubicBezTo>
                  <a:pt x="19910" y="5543"/>
                  <a:pt x="20015" y="6043"/>
                  <a:pt x="19784" y="6420"/>
                </a:cubicBezTo>
                <a:lnTo>
                  <a:pt x="18725" y="8051"/>
                </a:lnTo>
                <a:lnTo>
                  <a:pt x="17324" y="7147"/>
                </a:lnTo>
                <a:lnTo>
                  <a:pt x="18383" y="5551"/>
                </a:lnTo>
                <a:cubicBezTo>
                  <a:pt x="18537" y="5316"/>
                  <a:pt x="18782" y="5178"/>
                  <a:pt x="19066" y="5178"/>
                </a:cubicBezTo>
                <a:close/>
                <a:moveTo>
                  <a:pt x="5888" y="8069"/>
                </a:moveTo>
                <a:lnTo>
                  <a:pt x="7037" y="8832"/>
                </a:lnTo>
                <a:lnTo>
                  <a:pt x="4596" y="12467"/>
                </a:lnTo>
                <a:lnTo>
                  <a:pt x="2352" y="10800"/>
                </a:lnTo>
                <a:lnTo>
                  <a:pt x="3178" y="9700"/>
                </a:lnTo>
                <a:lnTo>
                  <a:pt x="4255" y="10499"/>
                </a:lnTo>
                <a:lnTo>
                  <a:pt x="5888" y="8069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9" name="Freeform 661"/>
          <p:cNvSpPr/>
          <p:nvPr/>
        </p:nvSpPr>
        <p:spPr>
          <a:xfrm>
            <a:off x="6721301" y="2054744"/>
            <a:ext cx="318968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31" y="0"/>
                </a:moveTo>
                <a:lnTo>
                  <a:pt x="13496" y="4642"/>
                </a:lnTo>
                <a:lnTo>
                  <a:pt x="13496" y="7050"/>
                </a:lnTo>
                <a:lnTo>
                  <a:pt x="10463" y="10081"/>
                </a:lnTo>
                <a:cubicBezTo>
                  <a:pt x="10369" y="10062"/>
                  <a:pt x="10279" y="10047"/>
                  <a:pt x="10179" y="10047"/>
                </a:cubicBezTo>
                <a:cubicBezTo>
                  <a:pt x="9419" y="10047"/>
                  <a:pt x="8796" y="10656"/>
                  <a:pt x="8796" y="11398"/>
                </a:cubicBezTo>
                <a:cubicBezTo>
                  <a:pt x="8796" y="12140"/>
                  <a:pt x="9420" y="12731"/>
                  <a:pt x="10179" y="12731"/>
                </a:cubicBezTo>
                <a:cubicBezTo>
                  <a:pt x="10939" y="12731"/>
                  <a:pt x="11563" y="12140"/>
                  <a:pt x="11563" y="11398"/>
                </a:cubicBezTo>
                <a:cubicBezTo>
                  <a:pt x="11563" y="11256"/>
                  <a:pt x="11533" y="11110"/>
                  <a:pt x="11492" y="10982"/>
                </a:cubicBezTo>
                <a:lnTo>
                  <a:pt x="14524" y="7933"/>
                </a:lnTo>
                <a:lnTo>
                  <a:pt x="16847" y="7933"/>
                </a:lnTo>
                <a:lnTo>
                  <a:pt x="21600" y="3291"/>
                </a:lnTo>
                <a:lnTo>
                  <a:pt x="19348" y="3083"/>
                </a:lnTo>
                <a:lnTo>
                  <a:pt x="20518" y="1905"/>
                </a:lnTo>
                <a:lnTo>
                  <a:pt x="19525" y="970"/>
                </a:lnTo>
                <a:lnTo>
                  <a:pt x="18443" y="2061"/>
                </a:lnTo>
                <a:lnTo>
                  <a:pt x="18231" y="0"/>
                </a:lnTo>
                <a:close/>
                <a:moveTo>
                  <a:pt x="10179" y="1715"/>
                </a:moveTo>
                <a:cubicBezTo>
                  <a:pt x="4557" y="1715"/>
                  <a:pt x="0" y="6166"/>
                  <a:pt x="0" y="11657"/>
                </a:cubicBezTo>
                <a:cubicBezTo>
                  <a:pt x="0" y="17149"/>
                  <a:pt x="4558" y="21600"/>
                  <a:pt x="10179" y="21600"/>
                </a:cubicBezTo>
                <a:cubicBezTo>
                  <a:pt x="15802" y="21600"/>
                  <a:pt x="20359" y="17149"/>
                  <a:pt x="20359" y="11657"/>
                </a:cubicBezTo>
                <a:cubicBezTo>
                  <a:pt x="20359" y="10082"/>
                  <a:pt x="19979" y="8598"/>
                  <a:pt x="19312" y="7275"/>
                </a:cubicBezTo>
                <a:lnTo>
                  <a:pt x="17858" y="8695"/>
                </a:lnTo>
                <a:cubicBezTo>
                  <a:pt x="18231" y="9612"/>
                  <a:pt x="18426" y="10612"/>
                  <a:pt x="18426" y="11657"/>
                </a:cubicBezTo>
                <a:cubicBezTo>
                  <a:pt x="18426" y="16103"/>
                  <a:pt x="14731" y="19729"/>
                  <a:pt x="10179" y="19729"/>
                </a:cubicBezTo>
                <a:cubicBezTo>
                  <a:pt x="5628" y="19729"/>
                  <a:pt x="1933" y="16104"/>
                  <a:pt x="1933" y="11657"/>
                </a:cubicBezTo>
                <a:cubicBezTo>
                  <a:pt x="1933" y="7212"/>
                  <a:pt x="5628" y="3603"/>
                  <a:pt x="10179" y="3603"/>
                </a:cubicBezTo>
                <a:cubicBezTo>
                  <a:pt x="10911" y="3603"/>
                  <a:pt x="11614" y="3688"/>
                  <a:pt x="12290" y="3863"/>
                </a:cubicBezTo>
                <a:lnTo>
                  <a:pt x="13815" y="2373"/>
                </a:lnTo>
                <a:cubicBezTo>
                  <a:pt x="12683" y="1949"/>
                  <a:pt x="11464" y="1715"/>
                  <a:pt x="10179" y="1715"/>
                </a:cubicBezTo>
                <a:close/>
                <a:moveTo>
                  <a:pt x="10179" y="6011"/>
                </a:moveTo>
                <a:cubicBezTo>
                  <a:pt x="7140" y="6011"/>
                  <a:pt x="4682" y="8412"/>
                  <a:pt x="4682" y="11380"/>
                </a:cubicBezTo>
                <a:cubicBezTo>
                  <a:pt x="4682" y="14348"/>
                  <a:pt x="7140" y="16767"/>
                  <a:pt x="10179" y="16767"/>
                </a:cubicBezTo>
                <a:cubicBezTo>
                  <a:pt x="13218" y="16767"/>
                  <a:pt x="15677" y="14348"/>
                  <a:pt x="15677" y="11380"/>
                </a:cubicBezTo>
                <a:cubicBezTo>
                  <a:pt x="15678" y="10534"/>
                  <a:pt x="15484" y="9737"/>
                  <a:pt x="15127" y="9025"/>
                </a:cubicBezTo>
                <a:lnTo>
                  <a:pt x="14099" y="10116"/>
                </a:lnTo>
                <a:cubicBezTo>
                  <a:pt x="14237" y="10518"/>
                  <a:pt x="14311" y="10933"/>
                  <a:pt x="14311" y="11380"/>
                </a:cubicBezTo>
                <a:cubicBezTo>
                  <a:pt x="14311" y="13603"/>
                  <a:pt x="12455" y="15416"/>
                  <a:pt x="10179" y="15416"/>
                </a:cubicBezTo>
                <a:cubicBezTo>
                  <a:pt x="7904" y="15416"/>
                  <a:pt x="6047" y="13603"/>
                  <a:pt x="6047" y="11380"/>
                </a:cubicBezTo>
                <a:cubicBezTo>
                  <a:pt x="6047" y="9158"/>
                  <a:pt x="7904" y="7362"/>
                  <a:pt x="10179" y="7362"/>
                </a:cubicBezTo>
                <a:cubicBezTo>
                  <a:pt x="10570" y="7362"/>
                  <a:pt x="10939" y="7418"/>
                  <a:pt x="11297" y="7518"/>
                </a:cubicBezTo>
                <a:lnTo>
                  <a:pt x="12325" y="6444"/>
                </a:lnTo>
                <a:cubicBezTo>
                  <a:pt x="11665" y="6170"/>
                  <a:pt x="10942" y="6011"/>
                  <a:pt x="10179" y="6011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0" name="Freeform 673"/>
          <p:cNvSpPr/>
          <p:nvPr/>
        </p:nvSpPr>
        <p:spPr>
          <a:xfrm>
            <a:off x="8990728" y="1732909"/>
            <a:ext cx="328036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992" y="0"/>
                </a:moveTo>
                <a:cubicBezTo>
                  <a:pt x="16558" y="0"/>
                  <a:pt x="16132" y="69"/>
                  <a:pt x="15731" y="179"/>
                </a:cubicBezTo>
                <a:lnTo>
                  <a:pt x="15731" y="1234"/>
                </a:lnTo>
                <a:cubicBezTo>
                  <a:pt x="15291" y="1390"/>
                  <a:pt x="14898" y="1618"/>
                  <a:pt x="14551" y="1916"/>
                </a:cubicBezTo>
                <a:lnTo>
                  <a:pt x="13646" y="1397"/>
                </a:lnTo>
                <a:cubicBezTo>
                  <a:pt x="13050" y="1990"/>
                  <a:pt x="12604" y="2734"/>
                  <a:pt x="12384" y="3573"/>
                </a:cubicBezTo>
                <a:lnTo>
                  <a:pt x="13290" y="4093"/>
                </a:lnTo>
                <a:cubicBezTo>
                  <a:pt x="13249" y="4317"/>
                  <a:pt x="13225" y="4555"/>
                  <a:pt x="13225" y="4791"/>
                </a:cubicBezTo>
                <a:cubicBezTo>
                  <a:pt x="13225" y="5027"/>
                  <a:pt x="13249" y="5249"/>
                  <a:pt x="13290" y="5473"/>
                </a:cubicBezTo>
                <a:lnTo>
                  <a:pt x="12384" y="6009"/>
                </a:lnTo>
                <a:cubicBezTo>
                  <a:pt x="12604" y="6848"/>
                  <a:pt x="13050" y="7592"/>
                  <a:pt x="13646" y="8185"/>
                </a:cubicBezTo>
                <a:lnTo>
                  <a:pt x="14551" y="7666"/>
                </a:lnTo>
                <a:cubicBezTo>
                  <a:pt x="14898" y="7964"/>
                  <a:pt x="15292" y="8192"/>
                  <a:pt x="15731" y="8348"/>
                </a:cubicBezTo>
                <a:lnTo>
                  <a:pt x="15731" y="9403"/>
                </a:lnTo>
                <a:cubicBezTo>
                  <a:pt x="16132" y="9513"/>
                  <a:pt x="16558" y="9582"/>
                  <a:pt x="16992" y="9582"/>
                </a:cubicBezTo>
                <a:cubicBezTo>
                  <a:pt x="17426" y="9582"/>
                  <a:pt x="17837" y="9513"/>
                  <a:pt x="18237" y="9403"/>
                </a:cubicBezTo>
                <a:lnTo>
                  <a:pt x="18237" y="8348"/>
                </a:lnTo>
                <a:cubicBezTo>
                  <a:pt x="18677" y="8192"/>
                  <a:pt x="19087" y="7964"/>
                  <a:pt x="19434" y="7666"/>
                </a:cubicBezTo>
                <a:lnTo>
                  <a:pt x="20339" y="8185"/>
                </a:lnTo>
                <a:cubicBezTo>
                  <a:pt x="20935" y="7592"/>
                  <a:pt x="21380" y="6848"/>
                  <a:pt x="21600" y="6009"/>
                </a:cubicBezTo>
                <a:lnTo>
                  <a:pt x="20678" y="5473"/>
                </a:lnTo>
                <a:cubicBezTo>
                  <a:pt x="20720" y="5249"/>
                  <a:pt x="20759" y="5027"/>
                  <a:pt x="20759" y="4791"/>
                </a:cubicBezTo>
                <a:cubicBezTo>
                  <a:pt x="20759" y="4556"/>
                  <a:pt x="20736" y="4316"/>
                  <a:pt x="20695" y="4093"/>
                </a:cubicBezTo>
                <a:lnTo>
                  <a:pt x="21600" y="3573"/>
                </a:lnTo>
                <a:cubicBezTo>
                  <a:pt x="21380" y="2734"/>
                  <a:pt x="20935" y="1990"/>
                  <a:pt x="20339" y="1397"/>
                </a:cubicBezTo>
                <a:lnTo>
                  <a:pt x="19434" y="1916"/>
                </a:lnTo>
                <a:cubicBezTo>
                  <a:pt x="19087" y="1618"/>
                  <a:pt x="18677" y="1390"/>
                  <a:pt x="18237" y="1234"/>
                </a:cubicBezTo>
                <a:lnTo>
                  <a:pt x="18237" y="179"/>
                </a:lnTo>
                <a:cubicBezTo>
                  <a:pt x="17837" y="68"/>
                  <a:pt x="17426" y="0"/>
                  <a:pt x="16992" y="0"/>
                </a:cubicBezTo>
                <a:close/>
                <a:moveTo>
                  <a:pt x="16992" y="3021"/>
                </a:moveTo>
                <a:cubicBezTo>
                  <a:pt x="17961" y="3021"/>
                  <a:pt x="18738" y="3817"/>
                  <a:pt x="18738" y="4791"/>
                </a:cubicBezTo>
                <a:cubicBezTo>
                  <a:pt x="18738" y="5765"/>
                  <a:pt x="17961" y="6561"/>
                  <a:pt x="16992" y="6561"/>
                </a:cubicBezTo>
                <a:cubicBezTo>
                  <a:pt x="16022" y="6561"/>
                  <a:pt x="15230" y="5765"/>
                  <a:pt x="15230" y="4791"/>
                </a:cubicBezTo>
                <a:cubicBezTo>
                  <a:pt x="15230" y="3817"/>
                  <a:pt x="16022" y="3021"/>
                  <a:pt x="16992" y="3021"/>
                </a:cubicBezTo>
                <a:close/>
                <a:moveTo>
                  <a:pt x="8779" y="6123"/>
                </a:moveTo>
                <a:lnTo>
                  <a:pt x="8326" y="7341"/>
                </a:lnTo>
                <a:cubicBezTo>
                  <a:pt x="7800" y="7291"/>
                  <a:pt x="7270" y="7297"/>
                  <a:pt x="6758" y="7373"/>
                </a:cubicBezTo>
                <a:lnTo>
                  <a:pt x="6241" y="6204"/>
                </a:lnTo>
                <a:cubicBezTo>
                  <a:pt x="5070" y="6435"/>
                  <a:pt x="3963" y="6920"/>
                  <a:pt x="3023" y="7633"/>
                </a:cubicBezTo>
                <a:lnTo>
                  <a:pt x="3557" y="8819"/>
                </a:lnTo>
                <a:cubicBezTo>
                  <a:pt x="3158" y="9150"/>
                  <a:pt x="2789" y="9530"/>
                  <a:pt x="2474" y="9955"/>
                </a:cubicBezTo>
                <a:lnTo>
                  <a:pt x="1261" y="9485"/>
                </a:lnTo>
                <a:cubicBezTo>
                  <a:pt x="932" y="9970"/>
                  <a:pt x="668" y="10499"/>
                  <a:pt x="453" y="11060"/>
                </a:cubicBezTo>
                <a:cubicBezTo>
                  <a:pt x="240" y="11621"/>
                  <a:pt x="82" y="12201"/>
                  <a:pt x="0" y="12781"/>
                </a:cubicBezTo>
                <a:lnTo>
                  <a:pt x="1213" y="13252"/>
                </a:lnTo>
                <a:cubicBezTo>
                  <a:pt x="1163" y="13781"/>
                  <a:pt x="1185" y="14297"/>
                  <a:pt x="1261" y="14811"/>
                </a:cubicBezTo>
                <a:lnTo>
                  <a:pt x="81" y="15347"/>
                </a:lnTo>
                <a:cubicBezTo>
                  <a:pt x="193" y="15923"/>
                  <a:pt x="354" y="16487"/>
                  <a:pt x="598" y="17036"/>
                </a:cubicBezTo>
                <a:cubicBezTo>
                  <a:pt x="842" y="17586"/>
                  <a:pt x="1152" y="18094"/>
                  <a:pt x="1504" y="18563"/>
                </a:cubicBezTo>
                <a:lnTo>
                  <a:pt x="2684" y="18043"/>
                </a:lnTo>
                <a:cubicBezTo>
                  <a:pt x="3013" y="18444"/>
                  <a:pt x="3391" y="18799"/>
                  <a:pt x="3816" y="19115"/>
                </a:cubicBezTo>
                <a:lnTo>
                  <a:pt x="3363" y="20333"/>
                </a:lnTo>
                <a:cubicBezTo>
                  <a:pt x="3847" y="20661"/>
                  <a:pt x="4356" y="20946"/>
                  <a:pt x="4915" y="21162"/>
                </a:cubicBezTo>
                <a:cubicBezTo>
                  <a:pt x="5472" y="21376"/>
                  <a:pt x="6047" y="21518"/>
                  <a:pt x="6629" y="21600"/>
                </a:cubicBezTo>
                <a:lnTo>
                  <a:pt x="7098" y="20382"/>
                </a:lnTo>
                <a:cubicBezTo>
                  <a:pt x="7624" y="20432"/>
                  <a:pt x="8154" y="20426"/>
                  <a:pt x="8666" y="20349"/>
                </a:cubicBezTo>
                <a:lnTo>
                  <a:pt x="9183" y="21519"/>
                </a:lnTo>
                <a:cubicBezTo>
                  <a:pt x="10354" y="21288"/>
                  <a:pt x="11445" y="20786"/>
                  <a:pt x="12384" y="20073"/>
                </a:cubicBezTo>
                <a:lnTo>
                  <a:pt x="11867" y="18904"/>
                </a:lnTo>
                <a:cubicBezTo>
                  <a:pt x="12266" y="18573"/>
                  <a:pt x="12635" y="18194"/>
                  <a:pt x="12950" y="17767"/>
                </a:cubicBezTo>
                <a:lnTo>
                  <a:pt x="14147" y="18238"/>
                </a:lnTo>
                <a:cubicBezTo>
                  <a:pt x="14476" y="17753"/>
                  <a:pt x="14756" y="17224"/>
                  <a:pt x="14971" y="16663"/>
                </a:cubicBezTo>
                <a:cubicBezTo>
                  <a:pt x="15186" y="16102"/>
                  <a:pt x="15326" y="15522"/>
                  <a:pt x="15408" y="14941"/>
                </a:cubicBezTo>
                <a:lnTo>
                  <a:pt x="14195" y="14470"/>
                </a:lnTo>
                <a:cubicBezTo>
                  <a:pt x="14245" y="13942"/>
                  <a:pt x="14239" y="13425"/>
                  <a:pt x="14163" y="12911"/>
                </a:cubicBezTo>
                <a:lnTo>
                  <a:pt x="15343" y="12375"/>
                </a:lnTo>
                <a:cubicBezTo>
                  <a:pt x="15231" y="11800"/>
                  <a:pt x="15053" y="11236"/>
                  <a:pt x="14810" y="10686"/>
                </a:cubicBezTo>
                <a:cubicBezTo>
                  <a:pt x="14566" y="10137"/>
                  <a:pt x="14271" y="9629"/>
                  <a:pt x="13920" y="9160"/>
                </a:cubicBezTo>
                <a:lnTo>
                  <a:pt x="12724" y="9679"/>
                </a:lnTo>
                <a:cubicBezTo>
                  <a:pt x="12395" y="9279"/>
                  <a:pt x="12017" y="8924"/>
                  <a:pt x="11592" y="8608"/>
                </a:cubicBezTo>
                <a:lnTo>
                  <a:pt x="12061" y="7389"/>
                </a:lnTo>
                <a:cubicBezTo>
                  <a:pt x="11576" y="7062"/>
                  <a:pt x="11052" y="6777"/>
                  <a:pt x="10493" y="6561"/>
                </a:cubicBezTo>
                <a:cubicBezTo>
                  <a:pt x="9936" y="6346"/>
                  <a:pt x="9361" y="6205"/>
                  <a:pt x="8779" y="6123"/>
                </a:cubicBezTo>
                <a:close/>
                <a:moveTo>
                  <a:pt x="7599" y="10329"/>
                </a:moveTo>
                <a:cubicBezTo>
                  <a:pt x="8055" y="10314"/>
                  <a:pt x="8520" y="10398"/>
                  <a:pt x="8973" y="10573"/>
                </a:cubicBezTo>
                <a:cubicBezTo>
                  <a:pt x="10784" y="11270"/>
                  <a:pt x="11689" y="13301"/>
                  <a:pt x="10994" y="15120"/>
                </a:cubicBezTo>
                <a:cubicBezTo>
                  <a:pt x="10299" y="16939"/>
                  <a:pt x="8263" y="17848"/>
                  <a:pt x="6451" y="17150"/>
                </a:cubicBezTo>
                <a:cubicBezTo>
                  <a:pt x="4642" y="16452"/>
                  <a:pt x="3735" y="14422"/>
                  <a:pt x="4430" y="12603"/>
                </a:cubicBezTo>
                <a:cubicBezTo>
                  <a:pt x="4951" y="11238"/>
                  <a:pt x="6231" y="10376"/>
                  <a:pt x="7599" y="10329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1" name="Freeform 711"/>
          <p:cNvSpPr/>
          <p:nvPr/>
        </p:nvSpPr>
        <p:spPr>
          <a:xfrm>
            <a:off x="11253073" y="1370936"/>
            <a:ext cx="357054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extrusionOk="0">
                <a:moveTo>
                  <a:pt x="17909" y="2016"/>
                </a:moveTo>
                <a:lnTo>
                  <a:pt x="17909" y="0"/>
                </a:lnTo>
                <a:lnTo>
                  <a:pt x="3687" y="0"/>
                </a:lnTo>
                <a:lnTo>
                  <a:pt x="3687" y="2016"/>
                </a:lnTo>
                <a:lnTo>
                  <a:pt x="0" y="2016"/>
                </a:lnTo>
                <a:lnTo>
                  <a:pt x="0" y="5217"/>
                </a:lnTo>
                <a:cubicBezTo>
                  <a:pt x="-2" y="6787"/>
                  <a:pt x="519" y="8261"/>
                  <a:pt x="1388" y="9507"/>
                </a:cubicBezTo>
                <a:cubicBezTo>
                  <a:pt x="2111" y="10545"/>
                  <a:pt x="3073" y="11435"/>
                  <a:pt x="4202" y="12161"/>
                </a:cubicBezTo>
                <a:cubicBezTo>
                  <a:pt x="5145" y="14696"/>
                  <a:pt x="7292" y="16562"/>
                  <a:pt x="9876" y="16925"/>
                </a:cubicBezTo>
                <a:lnTo>
                  <a:pt x="9876" y="19584"/>
                </a:lnTo>
                <a:lnTo>
                  <a:pt x="6321" y="19584"/>
                </a:lnTo>
                <a:lnTo>
                  <a:pt x="6321" y="21600"/>
                </a:lnTo>
                <a:lnTo>
                  <a:pt x="15276" y="21600"/>
                </a:lnTo>
                <a:lnTo>
                  <a:pt x="15276" y="19584"/>
                </a:lnTo>
                <a:lnTo>
                  <a:pt x="11720" y="19584"/>
                </a:lnTo>
                <a:lnTo>
                  <a:pt x="11720" y="16925"/>
                </a:lnTo>
                <a:cubicBezTo>
                  <a:pt x="14304" y="16562"/>
                  <a:pt x="16452" y="14696"/>
                  <a:pt x="17394" y="12161"/>
                </a:cubicBezTo>
                <a:cubicBezTo>
                  <a:pt x="18524" y="11435"/>
                  <a:pt x="19486" y="10545"/>
                  <a:pt x="20208" y="9507"/>
                </a:cubicBezTo>
                <a:cubicBezTo>
                  <a:pt x="21078" y="8261"/>
                  <a:pt x="21598" y="6787"/>
                  <a:pt x="21597" y="5217"/>
                </a:cubicBezTo>
                <a:lnTo>
                  <a:pt x="21597" y="2016"/>
                </a:lnTo>
                <a:lnTo>
                  <a:pt x="17909" y="2016"/>
                </a:lnTo>
                <a:close/>
                <a:moveTo>
                  <a:pt x="3687" y="9270"/>
                </a:moveTo>
                <a:cubicBezTo>
                  <a:pt x="3371" y="8957"/>
                  <a:pt x="3092" y="8628"/>
                  <a:pt x="2855" y="8287"/>
                </a:cubicBezTo>
                <a:cubicBezTo>
                  <a:pt x="2190" y="7328"/>
                  <a:pt x="1844" y="6300"/>
                  <a:pt x="1843" y="5218"/>
                </a:cubicBezTo>
                <a:lnTo>
                  <a:pt x="1843" y="4032"/>
                </a:lnTo>
                <a:lnTo>
                  <a:pt x="3687" y="4032"/>
                </a:lnTo>
                <a:lnTo>
                  <a:pt x="3687" y="9270"/>
                </a:lnTo>
                <a:close/>
                <a:moveTo>
                  <a:pt x="13209" y="10543"/>
                </a:moveTo>
                <a:lnTo>
                  <a:pt x="10990" y="9468"/>
                </a:lnTo>
                <a:lnTo>
                  <a:pt x="8771" y="10543"/>
                </a:lnTo>
                <a:lnTo>
                  <a:pt x="9031" y="7932"/>
                </a:lnTo>
                <a:lnTo>
                  <a:pt x="7400" y="5984"/>
                </a:lnTo>
                <a:lnTo>
                  <a:pt x="9779" y="5446"/>
                </a:lnTo>
                <a:lnTo>
                  <a:pt x="10990" y="3168"/>
                </a:lnTo>
                <a:lnTo>
                  <a:pt x="12200" y="5446"/>
                </a:lnTo>
                <a:lnTo>
                  <a:pt x="14580" y="5984"/>
                </a:lnTo>
                <a:lnTo>
                  <a:pt x="12948" y="7932"/>
                </a:lnTo>
                <a:lnTo>
                  <a:pt x="13209" y="10543"/>
                </a:lnTo>
                <a:close/>
                <a:moveTo>
                  <a:pt x="19753" y="5217"/>
                </a:moveTo>
                <a:cubicBezTo>
                  <a:pt x="19751" y="6299"/>
                  <a:pt x="19406" y="7327"/>
                  <a:pt x="18741" y="8287"/>
                </a:cubicBezTo>
                <a:cubicBezTo>
                  <a:pt x="18504" y="8628"/>
                  <a:pt x="18225" y="8956"/>
                  <a:pt x="17909" y="9270"/>
                </a:cubicBezTo>
                <a:lnTo>
                  <a:pt x="17909" y="4032"/>
                </a:lnTo>
                <a:lnTo>
                  <a:pt x="19753" y="4032"/>
                </a:lnTo>
                <a:lnTo>
                  <a:pt x="19753" y="5217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581874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81873" y="4456601"/>
            <a:ext cx="1920682" cy="164083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完成第四代固态电解质材料研发，能量密度突破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450Wh/kg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，循环寿命达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2000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次以上。建立首条中试产线，实现月产能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吨级突破，申请核心专利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项，与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家头部电池厂达成联合测试协议。研发投入占比提升至营收的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1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613557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2500"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2025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84058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2026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3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77807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2027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432810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2028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5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718810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2029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57" name="直线连接符 56"/>
          <p:cNvCxnSpPr/>
          <p:nvPr/>
        </p:nvCxnSpPr>
        <p:spPr>
          <a:xfrm>
            <a:off x="597371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44626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2844627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0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44626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建成万吨级生产基地，量产成本控制在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85/kWh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以下。通过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IATF16949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认证，良品率提升至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，签订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年长期订单覆盖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产能。组建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人工程技术团队，自动化率实现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1" name="直线连接符 60"/>
          <p:cNvCxnSpPr/>
          <p:nvPr/>
        </p:nvCxnSpPr>
        <p:spPr>
          <a:xfrm>
            <a:off x="2860124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30626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5130627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30626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动力电池客户市占率突破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，储能领域签约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GWh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级项目。启动海外工厂选址，完成欧盟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REACH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认证。推出差异化产品矩阵，高端产品线毛利率维持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。年营收目标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5" name="直线连接符 64"/>
          <p:cNvCxnSpPr/>
          <p:nvPr/>
        </p:nvCxnSpPr>
        <p:spPr>
          <a:xfrm>
            <a:off x="5146124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385629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7385630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385629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建成电池回收体系，镍钴锰回收率达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。战略投子上游锂矿，实现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原料自供。与高校共建材料研究院，孵化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个创新项目。数字化工厂覆盖率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，碳排放强度降低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9" name="直线连接符 68"/>
          <p:cNvCxnSpPr/>
          <p:nvPr/>
        </p:nvCxnSpPr>
        <p:spPr>
          <a:xfrm>
            <a:off x="7401127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648382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9648383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tx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648382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成为全球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固态电池材料供应商，海外收入占比超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。建成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大研发中心，持有有效专利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。启动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IPO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筹备工作，估值目标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亿元。员工持股计划覆盖核心骨干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73" name="直线连接符 72"/>
          <p:cNvCxnSpPr/>
          <p:nvPr/>
        </p:nvCxnSpPr>
        <p:spPr>
          <a:xfrm>
            <a:off x="9663880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"/>
          <p:cNvSpPr/>
          <p:nvPr/>
        </p:nvSpPr>
        <p:spPr>
          <a:xfrm>
            <a:off x="466379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5" name="Rounded Rectangle"/>
          <p:cNvSpPr/>
          <p:nvPr/>
        </p:nvSpPr>
        <p:spPr>
          <a:xfrm>
            <a:off x="2736880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6" name="Rounded Rectangle"/>
          <p:cNvSpPr/>
          <p:nvPr/>
        </p:nvSpPr>
        <p:spPr>
          <a:xfrm>
            <a:off x="5007382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Rounded Rectangle"/>
          <p:cNvSpPr/>
          <p:nvPr/>
        </p:nvSpPr>
        <p:spPr>
          <a:xfrm>
            <a:off x="7270134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Rounded Rectangle"/>
          <p:cNvSpPr/>
          <p:nvPr/>
        </p:nvSpPr>
        <p:spPr>
          <a:xfrm>
            <a:off x="9532886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29760" y="1162181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工作中遇到问题与解决方案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25" y="200526"/>
            <a:ext cx="5194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五年战略发展规划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1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顶角 1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箭头: 虚尾 18"/>
          <p:cNvSpPr/>
          <p:nvPr/>
        </p:nvSpPr>
        <p:spPr>
          <a:xfrm>
            <a:off x="455542" y="932087"/>
            <a:ext cx="5869701" cy="979189"/>
          </a:xfrm>
          <a:prstGeom prst="stripedRightArrow">
            <a:avLst>
              <a:gd name="adj1" fmla="val 63618"/>
              <a:gd name="adj2" fmla="val 789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054" y="1233393"/>
            <a:ext cx="6253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五年三步走：研发突破→产能爬坡→全球领跑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7163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五段循环体系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1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顶角 1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4384506" y="2225781"/>
            <a:ext cx="3422988" cy="3300825"/>
            <a:chOff x="4101761" y="2225781"/>
            <a:chExt cx="3422988" cy="3300825"/>
          </a:xfrm>
        </p:grpSpPr>
        <p:sp>
          <p:nvSpPr>
            <p:cNvPr id="8" name="Google Shape;4524;p74"/>
            <p:cNvSpPr/>
            <p:nvPr/>
          </p:nvSpPr>
          <p:spPr>
            <a:xfrm>
              <a:off x="4483728" y="2592897"/>
              <a:ext cx="2671360" cy="2538708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Google Shape;4526;p74"/>
            <p:cNvSpPr/>
            <p:nvPr/>
          </p:nvSpPr>
          <p:spPr>
            <a:xfrm>
              <a:off x="6903522" y="3252147"/>
              <a:ext cx="621227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2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4" name="Google Shape;4527;p74"/>
            <p:cNvSpPr/>
            <p:nvPr/>
          </p:nvSpPr>
          <p:spPr>
            <a:xfrm rot="6479001">
              <a:off x="6573552" y="4388581"/>
              <a:ext cx="1230348" cy="167984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1" name="Google Shape;4529;p74"/>
            <p:cNvSpPr/>
            <p:nvPr/>
          </p:nvSpPr>
          <p:spPr>
            <a:xfrm>
              <a:off x="6335191" y="4829505"/>
              <a:ext cx="621228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3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2" name="Google Shape;4530;p74"/>
            <p:cNvSpPr/>
            <p:nvPr/>
          </p:nvSpPr>
          <p:spPr>
            <a:xfrm rot="10799079">
              <a:off x="5184925" y="5358766"/>
              <a:ext cx="1230585" cy="167840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Google Shape;4532;p74"/>
            <p:cNvSpPr/>
            <p:nvPr/>
          </p:nvSpPr>
          <p:spPr>
            <a:xfrm>
              <a:off x="4667098" y="4829505"/>
              <a:ext cx="621227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4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0" name="Google Shape;4533;p74"/>
            <p:cNvSpPr/>
            <p:nvPr/>
          </p:nvSpPr>
          <p:spPr>
            <a:xfrm rot="15121283">
              <a:off x="3803775" y="4419932"/>
              <a:ext cx="1230664" cy="168621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7" name="Google Shape;4535;p74"/>
            <p:cNvSpPr/>
            <p:nvPr/>
          </p:nvSpPr>
          <p:spPr>
            <a:xfrm>
              <a:off x="5508564" y="2225781"/>
              <a:ext cx="621228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1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6" name="Google Shape;4536;p74"/>
            <p:cNvSpPr/>
            <p:nvPr/>
          </p:nvSpPr>
          <p:spPr>
            <a:xfrm rot="2159678">
              <a:off x="6093239" y="2766023"/>
              <a:ext cx="1230399" cy="167591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4" name="Google Shape;4538;p74"/>
            <p:cNvSpPr/>
            <p:nvPr/>
          </p:nvSpPr>
          <p:spPr>
            <a:xfrm>
              <a:off x="4101761" y="3252147"/>
              <a:ext cx="621227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5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5" name="Google Shape;4539;p74"/>
            <p:cNvSpPr/>
            <p:nvPr/>
          </p:nvSpPr>
          <p:spPr>
            <a:xfrm rot="19440863">
              <a:off x="4336359" y="2749050"/>
              <a:ext cx="1230664" cy="168467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4468926" y="1606607"/>
            <a:ext cx="3254146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将季度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OKR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拆解为周级任务清单，确保每个成员每日目标明确，对齐率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304090" y="1255298"/>
            <a:ext cx="358381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159427" y="3019298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激励闭环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83633" y="3382123"/>
            <a:ext cx="2897856" cy="5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积分制即时奖励，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成员获得额外培训资源，离职率降低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7" name="Google Shape;4535;p74"/>
          <p:cNvSpPr/>
          <p:nvPr/>
        </p:nvSpPr>
        <p:spPr>
          <a:xfrm>
            <a:off x="3459161" y="3054659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8" name="Google Shape;7274;p80"/>
          <p:cNvGrpSpPr/>
          <p:nvPr/>
        </p:nvGrpSpPr>
        <p:grpSpPr>
          <a:xfrm>
            <a:off x="3535441" y="3125505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99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0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4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5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6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7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53" name="文本框 152"/>
          <p:cNvSpPr txBox="1"/>
          <p:nvPr/>
        </p:nvSpPr>
        <p:spPr>
          <a:xfrm>
            <a:off x="8752341" y="3019298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敏捷执行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8310511" y="3382123"/>
            <a:ext cx="2897856" cy="5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采用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Scrum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模式，每日站会同步进展，问题响应时效控制在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小时内。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5" name="Google Shape;4535;p74"/>
          <p:cNvSpPr/>
          <p:nvPr/>
        </p:nvSpPr>
        <p:spPr>
          <a:xfrm>
            <a:off x="8376716" y="3054659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56" name="Google Shape;7274;p80"/>
          <p:cNvGrpSpPr/>
          <p:nvPr/>
        </p:nvGrpSpPr>
        <p:grpSpPr>
          <a:xfrm>
            <a:off x="8452996" y="3125505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57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8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9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0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1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4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5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66" name="文本框 165"/>
          <p:cNvSpPr txBox="1"/>
          <p:nvPr/>
        </p:nvSpPr>
        <p:spPr>
          <a:xfrm>
            <a:off x="2813073" y="5049366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复盘优化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1637279" y="5412191"/>
            <a:ext cx="2897856" cy="5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双周回顾会分析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项流程，复用优秀实践案例库。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Google Shape;4535;p74"/>
          <p:cNvSpPr/>
          <p:nvPr/>
        </p:nvSpPr>
        <p:spPr>
          <a:xfrm>
            <a:off x="4112807" y="5084727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69" name="Google Shape;7274;p80"/>
          <p:cNvGrpSpPr/>
          <p:nvPr/>
        </p:nvGrpSpPr>
        <p:grpSpPr>
          <a:xfrm>
            <a:off x="4189087" y="5155573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70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1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2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3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4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5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6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7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8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79" name="文本框 178"/>
          <p:cNvSpPr txBox="1"/>
          <p:nvPr/>
        </p:nvSpPr>
        <p:spPr>
          <a:xfrm>
            <a:off x="8098697" y="5003931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过程检查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7656867" y="5366756"/>
            <a:ext cx="2897856" cy="591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每周五进行质量评审，代码缺陷率从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，迭代效率提升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1" name="Google Shape;4535;p74"/>
          <p:cNvSpPr/>
          <p:nvPr/>
        </p:nvSpPr>
        <p:spPr>
          <a:xfrm>
            <a:off x="7723072" y="5039292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82" name="Google Shape;7274;p80"/>
          <p:cNvGrpSpPr/>
          <p:nvPr/>
        </p:nvGrpSpPr>
        <p:grpSpPr>
          <a:xfrm>
            <a:off x="7799352" y="5110138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83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4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6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7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8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9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0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1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92" name="Google Shape;4535;p74"/>
          <p:cNvSpPr/>
          <p:nvPr/>
        </p:nvSpPr>
        <p:spPr>
          <a:xfrm>
            <a:off x="5914613" y="920477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93" name="Google Shape;7274;p80"/>
          <p:cNvGrpSpPr/>
          <p:nvPr/>
        </p:nvGrpSpPr>
        <p:grpSpPr>
          <a:xfrm>
            <a:off x="5990893" y="991323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94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5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6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7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8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0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1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03" name="文本框 202"/>
          <p:cNvSpPr txBox="1"/>
          <p:nvPr/>
        </p:nvSpPr>
        <p:spPr>
          <a:xfrm>
            <a:off x="5632016" y="3429000"/>
            <a:ext cx="927968" cy="108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循环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体系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355600" y="1028700"/>
            <a:ext cx="3442001" cy="16968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8394399" y="1028700"/>
            <a:ext cx="3442001" cy="16968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538936" y="1192650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持续改进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561305" y="1573156"/>
            <a:ext cx="3071458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建立跨部门反馈机制，每月收集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优化建议，落地转化率达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，推动流程持续精进。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10408755" y="1192650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文化塑造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8581606" y="1573156"/>
            <a:ext cx="3071458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失败案例分享会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营造学习型组织，创新提案数量季度增长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，团队韧性显著提升。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线连接符 85"/>
          <p:cNvCxnSpPr/>
          <p:nvPr/>
        </p:nvCxnSpPr>
        <p:spPr>
          <a:xfrm>
            <a:off x="6715359" y="1841500"/>
            <a:ext cx="0" cy="3295650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/>
          <p:cNvCxnSpPr/>
          <p:nvPr/>
        </p:nvCxnSpPr>
        <p:spPr>
          <a:xfrm>
            <a:off x="8799063" y="1168903"/>
            <a:ext cx="0" cy="3364997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/>
          <p:cNvCxnSpPr/>
          <p:nvPr/>
        </p:nvCxnSpPr>
        <p:spPr>
          <a:xfrm>
            <a:off x="4631916" y="2524125"/>
            <a:ext cx="0" cy="3311525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107"/>
          <p:cNvCxnSpPr/>
          <p:nvPr/>
        </p:nvCxnSpPr>
        <p:spPr>
          <a:xfrm>
            <a:off x="2548473" y="3005138"/>
            <a:ext cx="0" cy="3517305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63836" y="1076356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新能源汽车线下体验活动策划流程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63836" y="1581630"/>
            <a:ext cx="6342726" cy="570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这次我以新能源汽车品牌线下体验活动策划为例，先梳理五大核心流程，再从整体效果出发提炼三项综合指标，让内容逻辑清晰、数据详实。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6" name="三角形 75"/>
          <p:cNvSpPr/>
          <p:nvPr/>
        </p:nvSpPr>
        <p:spPr>
          <a:xfrm rot="10800000" flipH="1">
            <a:off x="2539680" y="5895309"/>
            <a:ext cx="273429" cy="627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三角形 77"/>
          <p:cNvSpPr/>
          <p:nvPr/>
        </p:nvSpPr>
        <p:spPr>
          <a:xfrm rot="10800000" flipH="1">
            <a:off x="6708026" y="4634216"/>
            <a:ext cx="273429" cy="636309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552595" y="4375357"/>
            <a:ext cx="1723245" cy="81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调研目标城市新能源汽车市场需求、竞品活动，结合品牌定位确定活动主题，规划体验项目与特色环节。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552595" y="3882098"/>
            <a:ext cx="1723245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676959" y="3323207"/>
            <a:ext cx="521714" cy="521714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2717061" y="3812851"/>
            <a:ext cx="1723245" cy="81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设计活动流程，细化试驾路线、互动游戏，对接场地、试驾车辆、表演团队等资源，完成物料制作与宣传排期。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2717061" y="3319592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2" name="椭圆 131"/>
          <p:cNvSpPr/>
          <p:nvPr/>
        </p:nvSpPr>
        <p:spPr>
          <a:xfrm>
            <a:off x="2841425" y="2760701"/>
            <a:ext cx="521714" cy="521714"/>
          </a:xfrm>
          <a:prstGeom prst="ellipse">
            <a:avLst/>
          </a:prstGeom>
          <a:noFill/>
          <a:ln w="317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4812079" y="3320707"/>
            <a:ext cx="1723245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对销售、试驾安全员等人员开展专项培训，按设计方案布置场地，调试设备，确保活动安全有序。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4812079" y="2827448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4936443" y="2268557"/>
            <a:ext cx="521714" cy="521714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6883947" y="2617871"/>
            <a:ext cx="1723245" cy="81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活动期间实时监测人流、试驾预约情况，把控各环节进度，及时处理突发问题，保障活动体验。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6883947" y="2124612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0" name="椭圆 139"/>
          <p:cNvSpPr/>
          <p:nvPr/>
        </p:nvSpPr>
        <p:spPr>
          <a:xfrm>
            <a:off x="7008311" y="1565721"/>
            <a:ext cx="521714" cy="521714"/>
          </a:xfrm>
          <a:prstGeom prst="ellipse">
            <a:avLst/>
          </a:prstGeom>
          <a:noFill/>
          <a:ln w="317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9025263" y="2016446"/>
            <a:ext cx="1723245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统计参与人数、留资客户数等数据，收集用户反馈，分析活动成效，形成报告指导后续活动优化。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9025263" y="1523187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4" name="椭圆 143"/>
          <p:cNvSpPr/>
          <p:nvPr/>
        </p:nvSpPr>
        <p:spPr>
          <a:xfrm>
            <a:off x="9149627" y="964296"/>
            <a:ext cx="521714" cy="521714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54764" y="2656922"/>
            <a:ext cx="11282472" cy="3865521"/>
            <a:chOff x="454764" y="2656922"/>
            <a:chExt cx="11282472" cy="3865521"/>
          </a:xfrm>
        </p:grpSpPr>
        <p:sp>
          <p:nvSpPr>
            <p:cNvPr id="60" name="矩形 59"/>
            <p:cNvSpPr/>
            <p:nvPr/>
          </p:nvSpPr>
          <p:spPr>
            <a:xfrm>
              <a:off x="454764" y="5435600"/>
              <a:ext cx="2358345" cy="10868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539680" y="4808467"/>
              <a:ext cx="2358345" cy="10868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4624596" y="4181334"/>
              <a:ext cx="2358345" cy="10868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09512" y="3554201"/>
              <a:ext cx="2358345" cy="10868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7" name="三角形 76"/>
            <p:cNvSpPr/>
            <p:nvPr/>
          </p:nvSpPr>
          <p:spPr>
            <a:xfrm rot="10800000" flipH="1">
              <a:off x="4623853" y="5268176"/>
              <a:ext cx="273429" cy="62346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0" name="任意形状 79"/>
            <p:cNvSpPr/>
            <p:nvPr/>
          </p:nvSpPr>
          <p:spPr>
            <a:xfrm rot="5400000">
              <a:off x="9455642" y="1995709"/>
              <a:ext cx="1620381" cy="2942807"/>
            </a:xfrm>
            <a:custGeom>
              <a:avLst/>
              <a:gdLst>
                <a:gd name="connsiteX0" fmla="*/ 0 w 1620381"/>
                <a:gd name="connsiteY0" fmla="*/ 586324 h 2942807"/>
                <a:gd name="connsiteX1" fmla="*/ 810191 w 1620381"/>
                <a:gd name="connsiteY1" fmla="*/ 0 h 2942807"/>
                <a:gd name="connsiteX2" fmla="*/ 1620381 w 1620381"/>
                <a:gd name="connsiteY2" fmla="*/ 586324 h 2942807"/>
                <a:gd name="connsiteX3" fmla="*/ 1353612 w 1620381"/>
                <a:gd name="connsiteY3" fmla="*/ 586324 h 2942807"/>
                <a:gd name="connsiteX4" fmla="*/ 1353612 w 1620381"/>
                <a:gd name="connsiteY4" fmla="*/ 2942807 h 2942807"/>
                <a:gd name="connsiteX5" fmla="*/ 266769 w 1620381"/>
                <a:gd name="connsiteY5" fmla="*/ 2942807 h 2942807"/>
                <a:gd name="connsiteX6" fmla="*/ 266769 w 1620381"/>
                <a:gd name="connsiteY6" fmla="*/ 586324 h 2942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0381" h="2942807">
                  <a:moveTo>
                    <a:pt x="0" y="586324"/>
                  </a:moveTo>
                  <a:lnTo>
                    <a:pt x="810191" y="0"/>
                  </a:lnTo>
                  <a:lnTo>
                    <a:pt x="1620381" y="586324"/>
                  </a:lnTo>
                  <a:lnTo>
                    <a:pt x="1353612" y="586324"/>
                  </a:lnTo>
                  <a:lnTo>
                    <a:pt x="1353612" y="2942807"/>
                  </a:lnTo>
                  <a:lnTo>
                    <a:pt x="266769" y="2942807"/>
                  </a:lnTo>
                  <a:lnTo>
                    <a:pt x="266769" y="586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11" name="组合 110"/>
            <p:cNvGrpSpPr/>
            <p:nvPr/>
          </p:nvGrpSpPr>
          <p:grpSpPr>
            <a:xfrm>
              <a:off x="671879" y="5654235"/>
              <a:ext cx="1871592" cy="659668"/>
              <a:chOff x="832279" y="5655198"/>
              <a:chExt cx="1871592" cy="659668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01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1383196" y="5655198"/>
                <a:ext cx="1320675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市场分析与主题规划</a:t>
                </a:r>
                <a:endParaRPr kumimoji="1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2752892" y="5019195"/>
              <a:ext cx="1872550" cy="659668"/>
              <a:chOff x="832279" y="5655198"/>
              <a:chExt cx="1872550" cy="659668"/>
            </a:xfrm>
          </p:grpSpPr>
          <p:sp>
            <p:nvSpPr>
              <p:cNvPr id="113" name="椭圆 112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02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1383197" y="5655198"/>
                <a:ext cx="1321632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方案细化与资源整合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15" name="组合 114"/>
            <p:cNvGrpSpPr/>
            <p:nvPr/>
          </p:nvGrpSpPr>
          <p:grpSpPr>
            <a:xfrm>
              <a:off x="4845483" y="4398719"/>
              <a:ext cx="1860972" cy="659668"/>
              <a:chOff x="832279" y="5655198"/>
              <a:chExt cx="1860972" cy="659668"/>
            </a:xfrm>
          </p:grpSpPr>
          <p:sp>
            <p:nvSpPr>
              <p:cNvPr id="116" name="椭圆 115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03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1383197" y="5655198"/>
                <a:ext cx="1310054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人员培训与场地布置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6928930" y="3772779"/>
              <a:ext cx="1878812" cy="659668"/>
              <a:chOff x="832279" y="5655198"/>
              <a:chExt cx="1878812" cy="659668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04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1383197" y="5655198"/>
                <a:ext cx="1327894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活动开展与动态管控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22" name="组合 121"/>
            <p:cNvGrpSpPr/>
            <p:nvPr/>
          </p:nvGrpSpPr>
          <p:grpSpPr>
            <a:xfrm>
              <a:off x="9017229" y="3137732"/>
              <a:ext cx="1891800" cy="659668"/>
              <a:chOff x="832279" y="5655198"/>
              <a:chExt cx="1891800" cy="659668"/>
            </a:xfrm>
          </p:grpSpPr>
          <p:sp>
            <p:nvSpPr>
              <p:cNvPr id="123" name="椭圆 122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05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4" name="文本框 123"/>
              <p:cNvSpPr txBox="1"/>
              <p:nvPr/>
            </p:nvSpPr>
            <p:spPr>
              <a:xfrm>
                <a:off x="1383197" y="5655198"/>
                <a:ext cx="1340882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效果评估与反馈应用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47" name="三角形 146"/>
            <p:cNvSpPr/>
            <p:nvPr/>
          </p:nvSpPr>
          <p:spPr>
            <a:xfrm rot="10800000" flipH="1">
              <a:off x="8792858" y="3994136"/>
              <a:ext cx="273429" cy="63630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9" name="右箭头 148"/>
          <p:cNvSpPr/>
          <p:nvPr/>
        </p:nvSpPr>
        <p:spPr>
          <a:xfrm>
            <a:off x="1414217" y="3389954"/>
            <a:ext cx="861623" cy="384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0" name="右箭头 149"/>
          <p:cNvSpPr/>
          <p:nvPr/>
        </p:nvSpPr>
        <p:spPr>
          <a:xfrm>
            <a:off x="3547817" y="2827448"/>
            <a:ext cx="861623" cy="38484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右箭头 150"/>
          <p:cNvSpPr/>
          <p:nvPr/>
        </p:nvSpPr>
        <p:spPr>
          <a:xfrm>
            <a:off x="5630617" y="2335304"/>
            <a:ext cx="861623" cy="384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右箭头 151"/>
          <p:cNvSpPr/>
          <p:nvPr/>
        </p:nvSpPr>
        <p:spPr>
          <a:xfrm>
            <a:off x="7728825" y="1628609"/>
            <a:ext cx="861623" cy="38484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3" name="右箭头 152"/>
          <p:cNvSpPr/>
          <p:nvPr/>
        </p:nvSpPr>
        <p:spPr>
          <a:xfrm>
            <a:off x="9872585" y="1027184"/>
            <a:ext cx="861623" cy="384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7040" y="200526"/>
            <a:ext cx="4434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五段递进体系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oogle Shape;7347;p80"/>
          <p:cNvGrpSpPr/>
          <p:nvPr/>
        </p:nvGrpSpPr>
        <p:grpSpPr>
          <a:xfrm>
            <a:off x="805165" y="3429000"/>
            <a:ext cx="281374" cy="322106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20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" name="Google Shape;7347;p80"/>
          <p:cNvGrpSpPr/>
          <p:nvPr/>
        </p:nvGrpSpPr>
        <p:grpSpPr>
          <a:xfrm>
            <a:off x="2961595" y="2863612"/>
            <a:ext cx="281374" cy="322106"/>
            <a:chOff x="-44895900" y="3929450"/>
            <a:chExt cx="263875" cy="302075"/>
          </a:xfrm>
          <a:solidFill>
            <a:schemeClr val="tx2"/>
          </a:solidFill>
        </p:grpSpPr>
        <p:sp>
          <p:nvSpPr>
            <p:cNvPr id="27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3" name="Google Shape;7347;p80"/>
          <p:cNvGrpSpPr/>
          <p:nvPr/>
        </p:nvGrpSpPr>
        <p:grpSpPr>
          <a:xfrm>
            <a:off x="5056613" y="2371164"/>
            <a:ext cx="281374" cy="322106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34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7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0" name="Google Shape;7347;p80"/>
          <p:cNvGrpSpPr/>
          <p:nvPr/>
        </p:nvGrpSpPr>
        <p:grpSpPr>
          <a:xfrm>
            <a:off x="7128481" y="1668259"/>
            <a:ext cx="281374" cy="322106"/>
            <a:chOff x="-44895900" y="3929450"/>
            <a:chExt cx="263875" cy="302075"/>
          </a:xfrm>
          <a:solidFill>
            <a:schemeClr val="tx2"/>
          </a:solidFill>
        </p:grpSpPr>
        <p:sp>
          <p:nvSpPr>
            <p:cNvPr id="41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2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3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4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6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7" name="Google Shape;7347;p80"/>
          <p:cNvGrpSpPr/>
          <p:nvPr/>
        </p:nvGrpSpPr>
        <p:grpSpPr>
          <a:xfrm>
            <a:off x="9273858" y="1063203"/>
            <a:ext cx="281374" cy="322106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48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0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1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2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7200900" y="4835190"/>
            <a:ext cx="4536335" cy="1681397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071697" y="5891641"/>
            <a:ext cx="1837484" cy="5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客户参与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转化率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7310558" y="5042490"/>
            <a:ext cx="1357192" cy="763686"/>
            <a:chOff x="7451181" y="5492984"/>
            <a:chExt cx="1075945" cy="605430"/>
          </a:xfrm>
        </p:grpSpPr>
        <p:sp>
          <p:nvSpPr>
            <p:cNvPr id="72" name="文本框 71"/>
            <p:cNvSpPr txBox="1"/>
            <p:nvPr/>
          </p:nvSpPr>
          <p:spPr>
            <a:xfrm>
              <a:off x="7451181" y="5658233"/>
              <a:ext cx="1075945" cy="292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75%​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7669576" y="5492984"/>
              <a:ext cx="605430" cy="605430"/>
              <a:chOff x="5092645" y="4721341"/>
              <a:chExt cx="2151890" cy="2151890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5092645" y="4721341"/>
                <a:ext cx="2151890" cy="2151890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74" name="弧形 73"/>
              <p:cNvSpPr/>
              <p:nvPr/>
            </p:nvSpPr>
            <p:spPr>
              <a:xfrm>
                <a:off x="5092645" y="4721341"/>
                <a:ext cx="2151890" cy="2151889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ln w="127000" cap="rnd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66" name="文本框 65"/>
          <p:cNvSpPr txBox="1"/>
          <p:nvPr/>
        </p:nvSpPr>
        <p:spPr>
          <a:xfrm>
            <a:off x="8590448" y="5891641"/>
            <a:ext cx="1837484" cy="5201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0" i="0"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活动满意度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评分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969139" y="5891641"/>
            <a:ext cx="2051138" cy="5201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0" i="0"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品牌覆盖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完成率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00" name="组合 99"/>
          <p:cNvGrpSpPr/>
          <p:nvPr/>
        </p:nvGrpSpPr>
        <p:grpSpPr>
          <a:xfrm>
            <a:off x="8811124" y="5042490"/>
            <a:ext cx="1357192" cy="763686"/>
            <a:chOff x="7451181" y="5492984"/>
            <a:chExt cx="1075945" cy="605430"/>
          </a:xfrm>
        </p:grpSpPr>
        <p:sp>
          <p:nvSpPr>
            <p:cNvPr id="101" name="文本框 100"/>
            <p:cNvSpPr txBox="1"/>
            <p:nvPr/>
          </p:nvSpPr>
          <p:spPr>
            <a:xfrm>
              <a:off x="7451181" y="5658233"/>
              <a:ext cx="1075945" cy="292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51D25"/>
                      </a:gs>
                      <a:gs pos="100000">
                        <a:srgbClr val="B51D25">
                          <a:lumMod val="75000"/>
                        </a:srgbClr>
                      </a:gs>
                    </a:gsLst>
                    <a:lin ang="2700000" scaled="0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88%​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7669576" y="5492984"/>
              <a:ext cx="605430" cy="605430"/>
              <a:chOff x="5092645" y="4721341"/>
              <a:chExt cx="2151890" cy="2151890"/>
            </a:xfrm>
          </p:grpSpPr>
          <p:sp>
            <p:nvSpPr>
              <p:cNvPr id="103" name="椭圆 102"/>
              <p:cNvSpPr/>
              <p:nvPr/>
            </p:nvSpPr>
            <p:spPr>
              <a:xfrm>
                <a:off x="5092645" y="4721341"/>
                <a:ext cx="2151890" cy="2151890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4" name="弧形 103"/>
              <p:cNvSpPr/>
              <p:nvPr/>
            </p:nvSpPr>
            <p:spPr>
              <a:xfrm>
                <a:off x="5092645" y="4721341"/>
                <a:ext cx="2151890" cy="2151889"/>
              </a:xfrm>
              <a:prstGeom prst="arc">
                <a:avLst>
                  <a:gd name="adj1" fmla="val 16200000"/>
                  <a:gd name="adj2" fmla="val 12765248"/>
                </a:avLst>
              </a:prstGeom>
              <a:ln w="12700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05" name="组合 104"/>
          <p:cNvGrpSpPr/>
          <p:nvPr/>
        </p:nvGrpSpPr>
        <p:grpSpPr>
          <a:xfrm>
            <a:off x="10311690" y="5042490"/>
            <a:ext cx="1357192" cy="763686"/>
            <a:chOff x="7451181" y="5492984"/>
            <a:chExt cx="1075945" cy="605430"/>
          </a:xfrm>
        </p:grpSpPr>
        <p:sp>
          <p:nvSpPr>
            <p:cNvPr id="106" name="文本框 105"/>
            <p:cNvSpPr txBox="1"/>
            <p:nvPr/>
          </p:nvSpPr>
          <p:spPr>
            <a:xfrm>
              <a:off x="7451181" y="5658233"/>
              <a:ext cx="1075945" cy="292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60%​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7669576" y="5492984"/>
              <a:ext cx="605430" cy="605430"/>
              <a:chOff x="5092645" y="4721341"/>
              <a:chExt cx="2151890" cy="2151890"/>
            </a:xfrm>
          </p:grpSpPr>
          <p:sp>
            <p:nvSpPr>
              <p:cNvPr id="145" name="椭圆 144"/>
              <p:cNvSpPr/>
              <p:nvPr/>
            </p:nvSpPr>
            <p:spPr>
              <a:xfrm>
                <a:off x="5092645" y="4721341"/>
                <a:ext cx="2151890" cy="2151890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6" name="弧形 145"/>
              <p:cNvSpPr/>
              <p:nvPr/>
            </p:nvSpPr>
            <p:spPr>
              <a:xfrm>
                <a:off x="5092645" y="4721341"/>
                <a:ext cx="2151890" cy="2151889"/>
              </a:xfrm>
              <a:prstGeom prst="arc">
                <a:avLst>
                  <a:gd name="adj1" fmla="val 16200000"/>
                  <a:gd name="adj2" fmla="val 5406547"/>
                </a:avLst>
              </a:prstGeom>
              <a:ln w="127000" cap="rnd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4" name="矩形: 圆顶角 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梯形 86"/>
          <p:cNvSpPr/>
          <p:nvPr/>
        </p:nvSpPr>
        <p:spPr>
          <a:xfrm rot="5400000">
            <a:off x="364228" y="2339212"/>
            <a:ext cx="3289434" cy="2893941"/>
          </a:xfrm>
          <a:prstGeom prst="trapezoid">
            <a:avLst>
              <a:gd name="adj" fmla="val 26419"/>
            </a:avLst>
          </a:prstGeom>
          <a:gradFill flip="none" rotWithShape="1">
            <a:gsLst>
              <a:gs pos="0">
                <a:schemeClr val="accent1">
                  <a:lumMod val="10000"/>
                  <a:lumOff val="90000"/>
                  <a:alpha val="0"/>
                </a:schemeClr>
              </a:gs>
              <a:gs pos="43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41178" y="2585864"/>
            <a:ext cx="79828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0" name="任意形状 49"/>
          <p:cNvSpPr/>
          <p:nvPr/>
        </p:nvSpPr>
        <p:spPr>
          <a:xfrm>
            <a:off x="3430586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任意形状 63"/>
          <p:cNvSpPr/>
          <p:nvPr/>
        </p:nvSpPr>
        <p:spPr>
          <a:xfrm>
            <a:off x="5397176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任意形状 66"/>
          <p:cNvSpPr/>
          <p:nvPr/>
        </p:nvSpPr>
        <p:spPr>
          <a:xfrm>
            <a:off x="7484575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梯形 14"/>
          <p:cNvSpPr/>
          <p:nvPr/>
        </p:nvSpPr>
        <p:spPr>
          <a:xfrm rot="5400000">
            <a:off x="4227153" y="-924749"/>
            <a:ext cx="2412974" cy="9421861"/>
          </a:xfrm>
          <a:prstGeom prst="trapezoid">
            <a:avLst>
              <a:gd name="adj" fmla="val 26419"/>
            </a:avLst>
          </a:prstGeom>
          <a:gradFill flip="none" rotWithShape="1">
            <a:gsLst>
              <a:gs pos="0">
                <a:schemeClr val="accent1">
                  <a:lumMod val="10000"/>
                  <a:lumOff val="90000"/>
                  <a:alpha val="0"/>
                </a:schemeClr>
              </a:gs>
              <a:gs pos="29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任意形状 50"/>
          <p:cNvSpPr/>
          <p:nvPr/>
        </p:nvSpPr>
        <p:spPr>
          <a:xfrm flipH="1">
            <a:off x="2047430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任意形状 64"/>
          <p:cNvSpPr/>
          <p:nvPr/>
        </p:nvSpPr>
        <p:spPr>
          <a:xfrm flipH="1">
            <a:off x="4014020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任意形状 67"/>
          <p:cNvSpPr/>
          <p:nvPr/>
        </p:nvSpPr>
        <p:spPr>
          <a:xfrm flipH="1">
            <a:off x="6101419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25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社交媒体运营项目规划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顶角 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958213" y="1039750"/>
            <a:ext cx="1459521" cy="1045607"/>
            <a:chOff x="1631608" y="1171154"/>
            <a:chExt cx="1459521" cy="1045607"/>
          </a:xfrm>
        </p:grpSpPr>
        <p:sp>
          <p:nvSpPr>
            <p:cNvPr id="23" name="文本框 22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明确品牌社交媒体运营目标，制定粉丝增长与互动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KPI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矩形: 圆角 23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目标定位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685868" y="1039750"/>
            <a:ext cx="1459521" cy="1045607"/>
            <a:chOff x="1631608" y="1171154"/>
            <a:chExt cx="1459521" cy="1045607"/>
          </a:xfrm>
        </p:grpSpPr>
        <p:sp>
          <p:nvSpPr>
            <p:cNvPr id="27" name="文本框 26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调研同类品牌账号数据，提炼内容优势与差异化运营方向。​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竞品分析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413523" y="1039750"/>
            <a:ext cx="1459521" cy="1045607"/>
            <a:chOff x="1631608" y="1171154"/>
            <a:chExt cx="1459521" cy="1045607"/>
          </a:xfrm>
        </p:grpSpPr>
        <p:sp>
          <p:nvSpPr>
            <p:cNvPr id="33" name="文本框 32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组建运营团队，配置设计、文案、数据分析等专项人员。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矩形: 圆角 34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资源筹备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141178" y="1039750"/>
            <a:ext cx="1459521" cy="1045607"/>
            <a:chOff x="1631608" y="1171154"/>
            <a:chExt cx="1459521" cy="1045607"/>
          </a:xfrm>
        </p:grpSpPr>
        <p:sp>
          <p:nvSpPr>
            <p:cNvPr id="41" name="文本框 40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搭建图文、视频、直播多元内容体系，规划周度发布排期。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内容矩阵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958213" y="5433089"/>
            <a:ext cx="1459521" cy="1045864"/>
            <a:chOff x="1631608" y="1171154"/>
            <a:chExt cx="1459521" cy="1045864"/>
          </a:xfrm>
        </p:grpSpPr>
        <p:sp>
          <p:nvSpPr>
            <p:cNvPr id="44" name="文本框 43"/>
            <p:cNvSpPr txBox="1"/>
            <p:nvPr/>
          </p:nvSpPr>
          <p:spPr>
            <a:xfrm>
              <a:off x="1631608" y="1558504"/>
              <a:ext cx="1459521" cy="658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聚焦小红书等各种平台，定制分渠道传播策略。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渠道运营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685868" y="5433089"/>
            <a:ext cx="1459521" cy="1045607"/>
            <a:chOff x="1631608" y="1171154"/>
            <a:chExt cx="1459521" cy="1045607"/>
          </a:xfrm>
        </p:grpSpPr>
        <p:sp>
          <p:nvSpPr>
            <p:cNvPr id="48" name="文本框 47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建立流量、转化、互动等核心指标监测报表。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矩形: 圆角 48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数据监测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413523" y="5433089"/>
            <a:ext cx="1459521" cy="1045607"/>
            <a:chOff x="1631608" y="1171154"/>
            <a:chExt cx="1459521" cy="1045607"/>
          </a:xfrm>
        </p:grpSpPr>
        <p:sp>
          <p:nvSpPr>
            <p:cNvPr id="53" name="文本框 52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设计话题挑战、用户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UGC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征集等活动，提升粉丝参与度。​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互动营销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141178" y="5433089"/>
            <a:ext cx="1459521" cy="1045607"/>
            <a:chOff x="1631608" y="1171154"/>
            <a:chExt cx="1459521" cy="1045607"/>
          </a:xfrm>
        </p:grpSpPr>
        <p:sp>
          <p:nvSpPr>
            <p:cNvPr id="59" name="文本框 58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根据月度数据分析结果，动态调整内容与投放策略。​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矩形: 圆角 59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优化迭代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2869232" y="2759346"/>
            <a:ext cx="79828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 rot="21348021">
            <a:off x="2667870" y="4186472"/>
            <a:ext cx="5610988" cy="363754"/>
            <a:chOff x="2470873" y="3611775"/>
            <a:chExt cx="5610988" cy="363754"/>
          </a:xfrm>
        </p:grpSpPr>
        <p:sp>
          <p:nvSpPr>
            <p:cNvPr id="17" name="文本框 16"/>
            <p:cNvSpPr txBox="1"/>
            <p:nvPr/>
          </p:nvSpPr>
          <p:spPr>
            <a:xfrm>
              <a:off x="2470873" y="3611775"/>
              <a:ext cx="1408486" cy="3637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前期策略规划​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572124" y="3611775"/>
              <a:ext cx="1408486" cy="3637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执行落地规划​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673375" y="3611775"/>
              <a:ext cx="1408486" cy="3637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效果评估规划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5011590" y="2656918"/>
            <a:ext cx="79828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1401" y="3022283"/>
            <a:ext cx="769468" cy="1012246"/>
          </a:xfrm>
          <a:custGeom>
            <a:avLst/>
            <a:gdLst>
              <a:gd name="connsiteX0" fmla="*/ 119582 w 769468"/>
              <a:gd name="connsiteY0" fmla="*/ 0 h 1012246"/>
              <a:gd name="connsiteX1" fmla="*/ 683449 w 769468"/>
              <a:gd name="connsiteY1" fmla="*/ 38152 h 1012246"/>
              <a:gd name="connsiteX2" fmla="*/ 692958 w 769468"/>
              <a:gd name="connsiteY2" fmla="*/ 48955 h 1012246"/>
              <a:gd name="connsiteX3" fmla="*/ 737407 w 769468"/>
              <a:gd name="connsiteY3" fmla="*/ 206346 h 1012246"/>
              <a:gd name="connsiteX4" fmla="*/ 699516 w 769468"/>
              <a:gd name="connsiteY4" fmla="*/ 348435 h 1012246"/>
              <a:gd name="connsiteX5" fmla="*/ 590217 w 769468"/>
              <a:gd name="connsiteY5" fmla="*/ 442432 h 1012246"/>
              <a:gd name="connsiteX6" fmla="*/ 722833 w 769468"/>
              <a:gd name="connsiteY6" fmla="*/ 540073 h 1012246"/>
              <a:gd name="connsiteX7" fmla="*/ 769468 w 769468"/>
              <a:gd name="connsiteY7" fmla="*/ 697464 h 1012246"/>
              <a:gd name="connsiteX8" fmla="*/ 717733 w 769468"/>
              <a:gd name="connsiteY8" fmla="*/ 867971 h 1012246"/>
              <a:gd name="connsiteX9" fmla="*/ 577101 w 769468"/>
              <a:gd name="connsiteY9" fmla="*/ 975813 h 1012246"/>
              <a:gd name="connsiteX10" fmla="*/ 378905 w 769468"/>
              <a:gd name="connsiteY10" fmla="*/ 1012246 h 1012246"/>
              <a:gd name="connsiteX11" fmla="*/ 140632 w 769468"/>
              <a:gd name="connsiteY11" fmla="*/ 948853 h 1012246"/>
              <a:gd name="connsiteX12" fmla="*/ 0 w 769468"/>
              <a:gd name="connsiteY12" fmla="*/ 763044 h 1012246"/>
              <a:gd name="connsiteX13" fmla="*/ 195282 w 769468"/>
              <a:gd name="connsiteY13" fmla="*/ 649373 h 1012246"/>
              <a:gd name="connsiteX14" fmla="*/ 263776 w 769468"/>
              <a:gd name="connsiteY14" fmla="*/ 755757 h 1012246"/>
              <a:gd name="connsiteX15" fmla="*/ 371618 w 769468"/>
              <a:gd name="connsiteY15" fmla="*/ 792190 h 1012246"/>
              <a:gd name="connsiteX16" fmla="*/ 468530 w 769468"/>
              <a:gd name="connsiteY16" fmla="*/ 760858 h 1012246"/>
              <a:gd name="connsiteX17" fmla="*/ 507149 w 769468"/>
              <a:gd name="connsiteY17" fmla="*/ 674147 h 1012246"/>
              <a:gd name="connsiteX18" fmla="*/ 300209 w 769468"/>
              <a:gd name="connsiteY18" fmla="*/ 550274 h 1012246"/>
              <a:gd name="connsiteX19" fmla="*/ 263776 w 769468"/>
              <a:gd name="connsiteY19" fmla="*/ 550274 h 1012246"/>
              <a:gd name="connsiteX20" fmla="*/ 263776 w 769468"/>
              <a:gd name="connsiteY20" fmla="*/ 349164 h 1012246"/>
              <a:gd name="connsiteX21" fmla="*/ 323526 w 769468"/>
              <a:gd name="connsiteY21" fmla="*/ 349164 h 1012246"/>
              <a:gd name="connsiteX22" fmla="*/ 433554 w 769468"/>
              <a:gd name="connsiteY22" fmla="*/ 314916 h 1012246"/>
              <a:gd name="connsiteX23" fmla="*/ 473631 w 769468"/>
              <a:gd name="connsiteY23" fmla="*/ 229663 h 1012246"/>
              <a:gd name="connsiteX24" fmla="*/ 441570 w 769468"/>
              <a:gd name="connsiteY24" fmla="*/ 154611 h 1012246"/>
              <a:gd name="connsiteX25" fmla="*/ 359960 w 769468"/>
              <a:gd name="connsiteY25" fmla="*/ 126193 h 1012246"/>
              <a:gd name="connsiteX26" fmla="*/ 262319 w 769468"/>
              <a:gd name="connsiteY26" fmla="*/ 164083 h 1012246"/>
              <a:gd name="connsiteX27" fmla="*/ 199654 w 769468"/>
              <a:gd name="connsiteY27" fmla="*/ 270468 h 1012246"/>
              <a:gd name="connsiteX28" fmla="*/ 13116 w 769468"/>
              <a:gd name="connsiteY28" fmla="*/ 162626 h 1012246"/>
              <a:gd name="connsiteX29" fmla="*/ 66127 w 769468"/>
              <a:gd name="connsiteY29" fmla="*/ 52052 h 10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69468" h="1012246">
                <a:moveTo>
                  <a:pt x="119582" y="0"/>
                </a:moveTo>
                <a:lnTo>
                  <a:pt x="683449" y="38152"/>
                </a:lnTo>
                <a:lnTo>
                  <a:pt x="692958" y="48955"/>
                </a:lnTo>
                <a:cubicBezTo>
                  <a:pt x="722591" y="94617"/>
                  <a:pt x="737407" y="147081"/>
                  <a:pt x="737407" y="206346"/>
                </a:cubicBezTo>
                <a:cubicBezTo>
                  <a:pt x="737407" y="260753"/>
                  <a:pt x="724777" y="308116"/>
                  <a:pt x="699516" y="348435"/>
                </a:cubicBezTo>
                <a:cubicBezTo>
                  <a:pt x="674256" y="388754"/>
                  <a:pt x="637823" y="420087"/>
                  <a:pt x="590217" y="442432"/>
                </a:cubicBezTo>
                <a:cubicBezTo>
                  <a:pt x="647538" y="464778"/>
                  <a:pt x="691744" y="497325"/>
                  <a:pt x="722833" y="540073"/>
                </a:cubicBezTo>
                <a:cubicBezTo>
                  <a:pt x="753923" y="582821"/>
                  <a:pt x="769468" y="635285"/>
                  <a:pt x="769468" y="697464"/>
                </a:cubicBezTo>
                <a:cubicBezTo>
                  <a:pt x="769468" y="763530"/>
                  <a:pt x="752223" y="820365"/>
                  <a:pt x="717733" y="867971"/>
                </a:cubicBezTo>
                <a:cubicBezTo>
                  <a:pt x="683243" y="915577"/>
                  <a:pt x="636366" y="951525"/>
                  <a:pt x="577101" y="975813"/>
                </a:cubicBezTo>
                <a:cubicBezTo>
                  <a:pt x="517836" y="1000102"/>
                  <a:pt x="451771" y="1012246"/>
                  <a:pt x="378905" y="1012246"/>
                </a:cubicBezTo>
                <a:cubicBezTo>
                  <a:pt x="285636" y="1012246"/>
                  <a:pt x="206212" y="991115"/>
                  <a:pt x="140632" y="948853"/>
                </a:cubicBezTo>
                <a:cubicBezTo>
                  <a:pt x="75053" y="906590"/>
                  <a:pt x="28175" y="844654"/>
                  <a:pt x="0" y="763044"/>
                </a:cubicBezTo>
                <a:lnTo>
                  <a:pt x="195282" y="649373"/>
                </a:lnTo>
                <a:cubicBezTo>
                  <a:pt x="208884" y="696007"/>
                  <a:pt x="231715" y="731468"/>
                  <a:pt x="263776" y="755757"/>
                </a:cubicBezTo>
                <a:cubicBezTo>
                  <a:pt x="295837" y="780046"/>
                  <a:pt x="331785" y="792190"/>
                  <a:pt x="371618" y="792190"/>
                </a:cubicBezTo>
                <a:cubicBezTo>
                  <a:pt x="410480" y="792190"/>
                  <a:pt x="442784" y="781746"/>
                  <a:pt x="468530" y="760858"/>
                </a:cubicBezTo>
                <a:cubicBezTo>
                  <a:pt x="494276" y="739970"/>
                  <a:pt x="507149" y="711066"/>
                  <a:pt x="507149" y="674147"/>
                </a:cubicBezTo>
                <a:cubicBezTo>
                  <a:pt x="507149" y="591565"/>
                  <a:pt x="438169" y="550274"/>
                  <a:pt x="300209" y="550274"/>
                </a:cubicBezTo>
                <a:lnTo>
                  <a:pt x="263776" y="550274"/>
                </a:lnTo>
                <a:lnTo>
                  <a:pt x="263776" y="349164"/>
                </a:lnTo>
                <a:lnTo>
                  <a:pt x="323526" y="349164"/>
                </a:lnTo>
                <a:cubicBezTo>
                  <a:pt x="370161" y="349164"/>
                  <a:pt x="406837" y="337748"/>
                  <a:pt x="433554" y="314916"/>
                </a:cubicBezTo>
                <a:cubicBezTo>
                  <a:pt x="460272" y="292085"/>
                  <a:pt x="473631" y="263667"/>
                  <a:pt x="473631" y="229663"/>
                </a:cubicBezTo>
                <a:cubicBezTo>
                  <a:pt x="473631" y="198573"/>
                  <a:pt x="462944" y="173556"/>
                  <a:pt x="441570" y="154611"/>
                </a:cubicBezTo>
                <a:cubicBezTo>
                  <a:pt x="420196" y="135665"/>
                  <a:pt x="392992" y="126193"/>
                  <a:pt x="359960" y="126193"/>
                </a:cubicBezTo>
                <a:cubicBezTo>
                  <a:pt x="323041" y="126193"/>
                  <a:pt x="290494" y="138823"/>
                  <a:pt x="262319" y="164083"/>
                </a:cubicBezTo>
                <a:cubicBezTo>
                  <a:pt x="234144" y="189343"/>
                  <a:pt x="213256" y="224805"/>
                  <a:pt x="199654" y="270468"/>
                </a:cubicBezTo>
                <a:lnTo>
                  <a:pt x="13116" y="162626"/>
                </a:lnTo>
                <a:cubicBezTo>
                  <a:pt x="25747" y="120850"/>
                  <a:pt x="43417" y="83991"/>
                  <a:pt x="66127" y="52052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097670" y="1039749"/>
            <a:ext cx="2714282" cy="5438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339894" y="2345862"/>
            <a:ext cx="2510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粉丝量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个月内较基线增长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062195" y="4704332"/>
            <a:ext cx="28436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35%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2" name="Google Shape;9970;p89"/>
          <p:cNvSpPr/>
          <p:nvPr/>
        </p:nvSpPr>
        <p:spPr>
          <a:xfrm>
            <a:off x="9763875" y="3097289"/>
            <a:ext cx="1381872" cy="1381872"/>
          </a:xfrm>
          <a:custGeom>
            <a:avLst/>
            <a:gdLst/>
            <a:ahLst/>
            <a:cxnLst/>
            <a:rect l="l" t="t" r="r" b="b"/>
            <a:pathLst>
              <a:path w="11503" h="11503" extrusionOk="0">
                <a:moveTo>
                  <a:pt x="0" y="1"/>
                </a:moveTo>
                <a:lnTo>
                  <a:pt x="0" y="11503"/>
                </a:lnTo>
                <a:lnTo>
                  <a:pt x="11503" y="11503"/>
                </a:lnTo>
                <a:lnTo>
                  <a:pt x="11503" y="10265"/>
                </a:lnTo>
                <a:lnTo>
                  <a:pt x="10836" y="10265"/>
                </a:lnTo>
                <a:lnTo>
                  <a:pt x="10836" y="10360"/>
                </a:lnTo>
                <a:lnTo>
                  <a:pt x="10836" y="10908"/>
                </a:lnTo>
                <a:lnTo>
                  <a:pt x="691" y="10908"/>
                </a:lnTo>
                <a:lnTo>
                  <a:pt x="691" y="9955"/>
                </a:lnTo>
                <a:lnTo>
                  <a:pt x="2072" y="9026"/>
                </a:lnTo>
                <a:cubicBezTo>
                  <a:pt x="2243" y="9154"/>
                  <a:pt x="2490" y="9244"/>
                  <a:pt x="2746" y="9244"/>
                </a:cubicBezTo>
                <a:cubicBezTo>
                  <a:pt x="2775" y="9244"/>
                  <a:pt x="2805" y="9243"/>
                  <a:pt x="2834" y="9240"/>
                </a:cubicBezTo>
                <a:cubicBezTo>
                  <a:pt x="3334" y="9169"/>
                  <a:pt x="3739" y="8788"/>
                  <a:pt x="3787" y="8288"/>
                </a:cubicBezTo>
                <a:cubicBezTo>
                  <a:pt x="3811" y="8002"/>
                  <a:pt x="3739" y="7740"/>
                  <a:pt x="3620" y="7526"/>
                </a:cubicBezTo>
                <a:lnTo>
                  <a:pt x="4049" y="6788"/>
                </a:lnTo>
                <a:cubicBezTo>
                  <a:pt x="4144" y="6811"/>
                  <a:pt x="4239" y="6811"/>
                  <a:pt x="4335" y="6811"/>
                </a:cubicBezTo>
                <a:cubicBezTo>
                  <a:pt x="4596" y="6811"/>
                  <a:pt x="4835" y="6740"/>
                  <a:pt x="5001" y="6549"/>
                </a:cubicBezTo>
                <a:lnTo>
                  <a:pt x="5644" y="7002"/>
                </a:lnTo>
                <a:cubicBezTo>
                  <a:pt x="5597" y="7145"/>
                  <a:pt x="5597" y="7288"/>
                  <a:pt x="5644" y="7454"/>
                </a:cubicBezTo>
                <a:cubicBezTo>
                  <a:pt x="5716" y="7859"/>
                  <a:pt x="6049" y="8193"/>
                  <a:pt x="6478" y="8264"/>
                </a:cubicBezTo>
                <a:cubicBezTo>
                  <a:pt x="6531" y="8272"/>
                  <a:pt x="6584" y="8276"/>
                  <a:pt x="6636" y="8276"/>
                </a:cubicBezTo>
                <a:cubicBezTo>
                  <a:pt x="7215" y="8276"/>
                  <a:pt x="7716" y="7806"/>
                  <a:pt x="7716" y="7216"/>
                </a:cubicBezTo>
                <a:cubicBezTo>
                  <a:pt x="7716" y="7026"/>
                  <a:pt x="7692" y="6883"/>
                  <a:pt x="7597" y="6764"/>
                </a:cubicBezTo>
                <a:lnTo>
                  <a:pt x="8169" y="6145"/>
                </a:lnTo>
                <a:cubicBezTo>
                  <a:pt x="8289" y="6196"/>
                  <a:pt x="8434" y="6235"/>
                  <a:pt x="8585" y="6235"/>
                </a:cubicBezTo>
                <a:cubicBezTo>
                  <a:pt x="8644" y="6235"/>
                  <a:pt x="8704" y="6229"/>
                  <a:pt x="8764" y="6216"/>
                </a:cubicBezTo>
                <a:cubicBezTo>
                  <a:pt x="9240" y="6168"/>
                  <a:pt x="9621" y="5787"/>
                  <a:pt x="9693" y="5311"/>
                </a:cubicBezTo>
                <a:cubicBezTo>
                  <a:pt x="9717" y="4978"/>
                  <a:pt x="9621" y="4668"/>
                  <a:pt x="9407" y="4478"/>
                </a:cubicBezTo>
                <a:lnTo>
                  <a:pt x="9836" y="3882"/>
                </a:lnTo>
                <a:cubicBezTo>
                  <a:pt x="9907" y="3894"/>
                  <a:pt x="9979" y="3900"/>
                  <a:pt x="10056" y="3900"/>
                </a:cubicBezTo>
                <a:cubicBezTo>
                  <a:pt x="10133" y="3900"/>
                  <a:pt x="10217" y="3894"/>
                  <a:pt x="10312" y="3882"/>
                </a:cubicBezTo>
                <a:cubicBezTo>
                  <a:pt x="10717" y="3787"/>
                  <a:pt x="11050" y="3454"/>
                  <a:pt x="11145" y="3049"/>
                </a:cubicBezTo>
                <a:cubicBezTo>
                  <a:pt x="11277" y="2391"/>
                  <a:pt x="10762" y="1773"/>
                  <a:pt x="10121" y="1773"/>
                </a:cubicBezTo>
                <a:cubicBezTo>
                  <a:pt x="10067" y="1773"/>
                  <a:pt x="10011" y="1777"/>
                  <a:pt x="9955" y="1787"/>
                </a:cubicBezTo>
                <a:cubicBezTo>
                  <a:pt x="9478" y="1858"/>
                  <a:pt x="9097" y="2239"/>
                  <a:pt x="9026" y="2739"/>
                </a:cubicBezTo>
                <a:cubicBezTo>
                  <a:pt x="9002" y="3049"/>
                  <a:pt x="9097" y="3311"/>
                  <a:pt x="9264" y="3525"/>
                </a:cubicBezTo>
                <a:lnTo>
                  <a:pt x="8859" y="4144"/>
                </a:lnTo>
                <a:cubicBezTo>
                  <a:pt x="8788" y="4120"/>
                  <a:pt x="8693" y="4120"/>
                  <a:pt x="8645" y="4120"/>
                </a:cubicBezTo>
                <a:cubicBezTo>
                  <a:pt x="8050" y="4120"/>
                  <a:pt x="7573" y="4597"/>
                  <a:pt x="7573" y="5192"/>
                </a:cubicBezTo>
                <a:cubicBezTo>
                  <a:pt x="7573" y="5359"/>
                  <a:pt x="7621" y="5549"/>
                  <a:pt x="7692" y="5692"/>
                </a:cubicBezTo>
                <a:lnTo>
                  <a:pt x="7145" y="6288"/>
                </a:lnTo>
                <a:cubicBezTo>
                  <a:pt x="7002" y="6192"/>
                  <a:pt x="6835" y="6168"/>
                  <a:pt x="6668" y="6168"/>
                </a:cubicBezTo>
                <a:cubicBezTo>
                  <a:pt x="6406" y="6168"/>
                  <a:pt x="6168" y="6264"/>
                  <a:pt x="5954" y="6430"/>
                </a:cubicBezTo>
                <a:lnTo>
                  <a:pt x="5335" y="6002"/>
                </a:lnTo>
                <a:cubicBezTo>
                  <a:pt x="5359" y="5883"/>
                  <a:pt x="5359" y="5764"/>
                  <a:pt x="5335" y="5645"/>
                </a:cubicBezTo>
                <a:cubicBezTo>
                  <a:pt x="5287" y="5168"/>
                  <a:pt x="4882" y="4763"/>
                  <a:pt x="4382" y="4716"/>
                </a:cubicBezTo>
                <a:cubicBezTo>
                  <a:pt x="4344" y="4711"/>
                  <a:pt x="4306" y="4709"/>
                  <a:pt x="4269" y="4709"/>
                </a:cubicBezTo>
                <a:cubicBezTo>
                  <a:pt x="3698" y="4709"/>
                  <a:pt x="3215" y="5206"/>
                  <a:pt x="3215" y="5787"/>
                </a:cubicBezTo>
                <a:cubicBezTo>
                  <a:pt x="3215" y="6049"/>
                  <a:pt x="3310" y="6264"/>
                  <a:pt x="3453" y="6478"/>
                </a:cubicBezTo>
                <a:lnTo>
                  <a:pt x="3049" y="7145"/>
                </a:lnTo>
                <a:cubicBezTo>
                  <a:pt x="2953" y="7121"/>
                  <a:pt x="2834" y="7097"/>
                  <a:pt x="2715" y="7097"/>
                </a:cubicBezTo>
                <a:cubicBezTo>
                  <a:pt x="2120" y="7097"/>
                  <a:pt x="1643" y="7573"/>
                  <a:pt x="1643" y="8169"/>
                </a:cubicBezTo>
                <a:cubicBezTo>
                  <a:pt x="1643" y="8240"/>
                  <a:pt x="1643" y="8336"/>
                  <a:pt x="1667" y="8431"/>
                </a:cubicBezTo>
                <a:lnTo>
                  <a:pt x="691" y="9074"/>
                </a:lnTo>
                <a:lnTo>
                  <a:pt x="691" y="691"/>
                </a:lnTo>
                <a:lnTo>
                  <a:pt x="1239" y="691"/>
                </a:lnTo>
                <a:lnTo>
                  <a:pt x="123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9371852" y="1605173"/>
            <a:ext cx="2165918" cy="3693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项目目标达成预期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371806" y="1474107"/>
            <a:ext cx="1245792" cy="12457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先行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3" name="椭圆 92"/>
          <p:cNvSpPr/>
          <p:nvPr/>
        </p:nvSpPr>
        <p:spPr>
          <a:xfrm>
            <a:off x="371806" y="3031442"/>
            <a:ext cx="1245792" cy="12457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多维发力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371806" y="4588777"/>
            <a:ext cx="1245792" cy="12457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数据驱动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任意多边形: 形状 193"/>
          <p:cNvSpPr/>
          <p:nvPr/>
        </p:nvSpPr>
        <p:spPr>
          <a:xfrm flipH="1">
            <a:off x="6470058" y="1130300"/>
            <a:ext cx="5268128" cy="3052254"/>
          </a:xfrm>
          <a:custGeom>
            <a:avLst/>
            <a:gdLst>
              <a:gd name="connsiteX0" fmla="*/ 0 w 5268128"/>
              <a:gd name="connsiteY0" fmla="*/ 0 h 3052254"/>
              <a:gd name="connsiteX1" fmla="*/ 944564 w 5268128"/>
              <a:gd name="connsiteY1" fmla="*/ 0 h 3052254"/>
              <a:gd name="connsiteX2" fmla="*/ 5268128 w 5268128"/>
              <a:gd name="connsiteY2" fmla="*/ 101272 h 3052254"/>
              <a:gd name="connsiteX3" fmla="*/ 5211949 w 5268128"/>
              <a:gd name="connsiteY3" fmla="*/ 120664 h 3052254"/>
              <a:gd name="connsiteX4" fmla="*/ 4468844 w 5268128"/>
              <a:gd name="connsiteY4" fmla="*/ 1212616 h 3052254"/>
              <a:gd name="connsiteX5" fmla="*/ 4521595 w 5268128"/>
              <a:gd name="connsiteY5" fmla="*/ 1561531 h 3052254"/>
              <a:gd name="connsiteX6" fmla="*/ 4548943 w 5268128"/>
              <a:gd name="connsiteY6" fmla="*/ 1636249 h 3052254"/>
              <a:gd name="connsiteX7" fmla="*/ 60069 w 5268128"/>
              <a:gd name="connsiteY7" fmla="*/ 3052254 h 3052254"/>
              <a:gd name="connsiteX8" fmla="*/ 0 w 5268128"/>
              <a:gd name="connsiteY8" fmla="*/ 3052254 h 3052254"/>
              <a:gd name="connsiteX9" fmla="*/ 0 w 5268128"/>
              <a:gd name="connsiteY9" fmla="*/ 0 h 305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8128" h="3052254">
                <a:moveTo>
                  <a:pt x="0" y="0"/>
                </a:moveTo>
                <a:lnTo>
                  <a:pt x="944564" y="0"/>
                </a:lnTo>
                <a:lnTo>
                  <a:pt x="5268128" y="101272"/>
                </a:lnTo>
                <a:lnTo>
                  <a:pt x="5211949" y="120664"/>
                </a:lnTo>
                <a:cubicBezTo>
                  <a:pt x="4776779" y="292262"/>
                  <a:pt x="4468844" y="716478"/>
                  <a:pt x="4468844" y="1212616"/>
                </a:cubicBezTo>
                <a:cubicBezTo>
                  <a:pt x="4468844" y="1334119"/>
                  <a:pt x="4487313" y="1451309"/>
                  <a:pt x="4521595" y="1561531"/>
                </a:cubicBezTo>
                <a:lnTo>
                  <a:pt x="4548943" y="1636249"/>
                </a:lnTo>
                <a:lnTo>
                  <a:pt x="60069" y="3052254"/>
                </a:lnTo>
                <a:lnTo>
                  <a:pt x="0" y="305225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 flipH="1">
            <a:off x="7459715" y="1988248"/>
            <a:ext cx="4067810" cy="788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用户需求准确度提升至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，研发浪费减少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，产品成功率从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提高到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 flipH="1">
            <a:off x="9352076" y="1432412"/>
            <a:ext cx="2175449" cy="501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546A"/>
                    </a:gs>
                    <a:gs pos="100000">
                      <a:srgbClr val="44546A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数据支撑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546A"/>
                  </a:gs>
                  <a:gs pos="100000">
                    <a:srgbClr val="44546A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49" name="Freeform 14"/>
          <p:cNvSpPr/>
          <p:nvPr/>
        </p:nvSpPr>
        <p:spPr bwMode="auto">
          <a:xfrm rot="10800000">
            <a:off x="461878" y="2567381"/>
            <a:ext cx="5462387" cy="1782132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807" h="10000">
                <a:moveTo>
                  <a:pt x="0" y="10000"/>
                </a:moveTo>
                <a:lnTo>
                  <a:pt x="11807" y="13"/>
                </a:lnTo>
                <a:lnTo>
                  <a:pt x="6114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0" name="Freeform 14"/>
          <p:cNvSpPr/>
          <p:nvPr/>
        </p:nvSpPr>
        <p:spPr bwMode="auto">
          <a:xfrm rot="10800000" flipH="1">
            <a:off x="6275540" y="2567381"/>
            <a:ext cx="5461697" cy="1781696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807" h="10000">
                <a:moveTo>
                  <a:pt x="0" y="10000"/>
                </a:moveTo>
                <a:lnTo>
                  <a:pt x="11807" y="13"/>
                </a:lnTo>
                <a:lnTo>
                  <a:pt x="6114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Freeform 14"/>
          <p:cNvSpPr/>
          <p:nvPr/>
        </p:nvSpPr>
        <p:spPr bwMode="auto">
          <a:xfrm rot="10800000" flipH="1">
            <a:off x="6161050" y="2546115"/>
            <a:ext cx="2693119" cy="1800006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  <a:gd name="connsiteX0-41" fmla="*/ 0 w 5822"/>
              <a:gd name="connsiteY0-42" fmla="*/ 10112 h 10112"/>
              <a:gd name="connsiteX1-43" fmla="*/ 5822 w 5822"/>
              <a:gd name="connsiteY1-44" fmla="*/ 13 h 10112"/>
              <a:gd name="connsiteX2-45" fmla="*/ 129 w 5822"/>
              <a:gd name="connsiteY2-46" fmla="*/ 0 h 10112"/>
              <a:gd name="connsiteX3-47" fmla="*/ 0 w 5822"/>
              <a:gd name="connsiteY3-48" fmla="*/ 10112 h 10112"/>
              <a:gd name="connsiteX0-49" fmla="*/ 0 w 10000"/>
              <a:gd name="connsiteY0-50" fmla="*/ 9987 h 9987"/>
              <a:gd name="connsiteX1-51" fmla="*/ 10000 w 10000"/>
              <a:gd name="connsiteY1-52" fmla="*/ 0 h 9987"/>
              <a:gd name="connsiteX2-53" fmla="*/ 208 w 10000"/>
              <a:gd name="connsiteY2-54" fmla="*/ 51 h 9987"/>
              <a:gd name="connsiteX3-55" fmla="*/ 0 w 10000"/>
              <a:gd name="connsiteY3-56" fmla="*/ 9987 h 9987"/>
              <a:gd name="connsiteX0-57" fmla="*/ 0 w 10000"/>
              <a:gd name="connsiteY0-58" fmla="*/ 10000 h 10000"/>
              <a:gd name="connsiteX1-59" fmla="*/ 10000 w 10000"/>
              <a:gd name="connsiteY1-60" fmla="*/ 0 h 10000"/>
              <a:gd name="connsiteX2-61" fmla="*/ 150 w 10000"/>
              <a:gd name="connsiteY2-62" fmla="*/ 25 h 10000"/>
              <a:gd name="connsiteX3-63" fmla="*/ 0 w 10000"/>
              <a:gd name="connsiteY3-64" fmla="*/ 10000 h 10000"/>
              <a:gd name="connsiteX0-65" fmla="*/ 0 w 10000"/>
              <a:gd name="connsiteY0-66" fmla="*/ 10000 h 10000"/>
              <a:gd name="connsiteX1-67" fmla="*/ 10000 w 10000"/>
              <a:gd name="connsiteY1-68" fmla="*/ 0 h 10000"/>
              <a:gd name="connsiteX2-69" fmla="*/ 208 w 10000"/>
              <a:gd name="connsiteY2-70" fmla="*/ 25 h 10000"/>
              <a:gd name="connsiteX3-71" fmla="*/ 0 w 10000"/>
              <a:gd name="connsiteY3-72" fmla="*/ 10000 h 10000"/>
              <a:gd name="connsiteX0-73" fmla="*/ 0 w 10000"/>
              <a:gd name="connsiteY0-74" fmla="*/ 10000 h 10000"/>
              <a:gd name="connsiteX1-75" fmla="*/ 10000 w 10000"/>
              <a:gd name="connsiteY1-76" fmla="*/ 0 h 10000"/>
              <a:gd name="connsiteX2-77" fmla="*/ 150 w 10000"/>
              <a:gd name="connsiteY2-78" fmla="*/ 25 h 10000"/>
              <a:gd name="connsiteX3-79" fmla="*/ 0 w 10000"/>
              <a:gd name="connsiteY3-80" fmla="*/ 10000 h 10000"/>
              <a:gd name="connsiteX0-81" fmla="*/ 0 w 10000"/>
              <a:gd name="connsiteY0-82" fmla="*/ 10000 h 10000"/>
              <a:gd name="connsiteX1-83" fmla="*/ 10000 w 10000"/>
              <a:gd name="connsiteY1-84" fmla="*/ 0 h 10000"/>
              <a:gd name="connsiteX2-85" fmla="*/ 193 w 10000"/>
              <a:gd name="connsiteY2-86" fmla="*/ 12 h 10000"/>
              <a:gd name="connsiteX3-87" fmla="*/ 0 w 10000"/>
              <a:gd name="connsiteY3-88" fmla="*/ 10000 h 10000"/>
              <a:gd name="connsiteX0-89" fmla="*/ 0 w 10000"/>
              <a:gd name="connsiteY0-90" fmla="*/ 10000 h 10000"/>
              <a:gd name="connsiteX1-91" fmla="*/ 10000 w 10000"/>
              <a:gd name="connsiteY1-92" fmla="*/ 0 h 10000"/>
              <a:gd name="connsiteX2-93" fmla="*/ 164 w 10000"/>
              <a:gd name="connsiteY2-94" fmla="*/ 38 h 10000"/>
              <a:gd name="connsiteX3-95" fmla="*/ 0 w 10000"/>
              <a:gd name="connsiteY3-96" fmla="*/ 10000 h 10000"/>
              <a:gd name="connsiteX0-97" fmla="*/ 0 w 10000"/>
              <a:gd name="connsiteY0-98" fmla="*/ 10001 h 10001"/>
              <a:gd name="connsiteX1-99" fmla="*/ 10000 w 10000"/>
              <a:gd name="connsiteY1-100" fmla="*/ 1 h 10001"/>
              <a:gd name="connsiteX2-101" fmla="*/ 164 w 10000"/>
              <a:gd name="connsiteY2-102" fmla="*/ 0 h 10001"/>
              <a:gd name="connsiteX3-103" fmla="*/ 0 w 10000"/>
              <a:gd name="connsiteY3-104" fmla="*/ 10001 h 10001"/>
              <a:gd name="connsiteX0-105" fmla="*/ 0 w 9957"/>
              <a:gd name="connsiteY0-106" fmla="*/ 10001 h 10001"/>
              <a:gd name="connsiteX1-107" fmla="*/ 9957 w 9957"/>
              <a:gd name="connsiteY1-108" fmla="*/ 14 h 10001"/>
              <a:gd name="connsiteX2-109" fmla="*/ 164 w 9957"/>
              <a:gd name="connsiteY2-110" fmla="*/ 0 h 10001"/>
              <a:gd name="connsiteX3-111" fmla="*/ 0 w 9957"/>
              <a:gd name="connsiteY3-112" fmla="*/ 10001 h 10001"/>
              <a:gd name="connsiteX0-113" fmla="*/ 0 w 10044"/>
              <a:gd name="connsiteY0-114" fmla="*/ 10000 h 10000"/>
              <a:gd name="connsiteX1-115" fmla="*/ 10044 w 10044"/>
              <a:gd name="connsiteY1-116" fmla="*/ 14 h 10000"/>
              <a:gd name="connsiteX2-117" fmla="*/ 165 w 10044"/>
              <a:gd name="connsiteY2-118" fmla="*/ 0 h 10000"/>
              <a:gd name="connsiteX3-119" fmla="*/ 0 w 10044"/>
              <a:gd name="connsiteY3-120" fmla="*/ 10000 h 10000"/>
              <a:gd name="connsiteX0-121" fmla="*/ 0 w 10044"/>
              <a:gd name="connsiteY0-122" fmla="*/ 9987 h 9987"/>
              <a:gd name="connsiteX1-123" fmla="*/ 10044 w 10044"/>
              <a:gd name="connsiteY1-124" fmla="*/ 1 h 9987"/>
              <a:gd name="connsiteX2-125" fmla="*/ 194 w 10044"/>
              <a:gd name="connsiteY2-126" fmla="*/ 0 h 9987"/>
              <a:gd name="connsiteX3-127" fmla="*/ 0 w 10044"/>
              <a:gd name="connsiteY3-128" fmla="*/ 9987 h 9987"/>
              <a:gd name="connsiteX0-129" fmla="*/ 0 w 10000"/>
              <a:gd name="connsiteY0-130" fmla="*/ 10000 h 10000"/>
              <a:gd name="connsiteX1-131" fmla="*/ 10000 w 10000"/>
              <a:gd name="connsiteY1-132" fmla="*/ 1 h 10000"/>
              <a:gd name="connsiteX2-133" fmla="*/ 164 w 10000"/>
              <a:gd name="connsiteY2-134" fmla="*/ 0 h 10000"/>
              <a:gd name="connsiteX3-135" fmla="*/ 0 w 10000"/>
              <a:gd name="connsiteY3-136" fmla="*/ 10000 h 10000"/>
              <a:gd name="connsiteX0-137" fmla="*/ 0 w 10000"/>
              <a:gd name="connsiteY0-138" fmla="*/ 10000 h 10000"/>
              <a:gd name="connsiteX1-139" fmla="*/ 10000 w 10000"/>
              <a:gd name="connsiteY1-140" fmla="*/ 1 h 10000"/>
              <a:gd name="connsiteX2-141" fmla="*/ 207 w 10000"/>
              <a:gd name="connsiteY2-142" fmla="*/ 0 h 10000"/>
              <a:gd name="connsiteX3-143" fmla="*/ 0 w 10000"/>
              <a:gd name="connsiteY3-144" fmla="*/ 10000 h 10000"/>
              <a:gd name="connsiteX0-145" fmla="*/ 0 w 10000"/>
              <a:gd name="connsiteY0-146" fmla="*/ 9999 h 9999"/>
              <a:gd name="connsiteX1-147" fmla="*/ 10000 w 10000"/>
              <a:gd name="connsiteY1-148" fmla="*/ 0 h 9999"/>
              <a:gd name="connsiteX2-149" fmla="*/ 193 w 10000"/>
              <a:gd name="connsiteY2-150" fmla="*/ 25 h 9999"/>
              <a:gd name="connsiteX3-151" fmla="*/ 0 w 10000"/>
              <a:gd name="connsiteY3-152" fmla="*/ 9999 h 9999"/>
              <a:gd name="connsiteX0-153" fmla="*/ 0 w 10000"/>
              <a:gd name="connsiteY0-154" fmla="*/ 10014 h 10014"/>
              <a:gd name="connsiteX1-155" fmla="*/ 10000 w 10000"/>
              <a:gd name="connsiteY1-156" fmla="*/ 14 h 10014"/>
              <a:gd name="connsiteX2-157" fmla="*/ 179 w 10000"/>
              <a:gd name="connsiteY2-158" fmla="*/ 0 h 10014"/>
              <a:gd name="connsiteX3-159" fmla="*/ 0 w 10000"/>
              <a:gd name="connsiteY3-160" fmla="*/ 10014 h 100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000" h="10014">
                <a:moveTo>
                  <a:pt x="0" y="10014"/>
                </a:moveTo>
                <a:lnTo>
                  <a:pt x="10000" y="14"/>
                </a:lnTo>
                <a:lnTo>
                  <a:pt x="179" y="0"/>
                </a:lnTo>
                <a:cubicBezTo>
                  <a:pt x="109" y="3320"/>
                  <a:pt x="69" y="6694"/>
                  <a:pt x="0" y="10014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2" name="Freeform 14"/>
          <p:cNvSpPr/>
          <p:nvPr/>
        </p:nvSpPr>
        <p:spPr bwMode="auto">
          <a:xfrm rot="10800000">
            <a:off x="3339206" y="2546115"/>
            <a:ext cx="2683937" cy="1800091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  <a:gd name="connsiteX0-41" fmla="*/ 0 w 5822"/>
              <a:gd name="connsiteY0-42" fmla="*/ 10112 h 10112"/>
              <a:gd name="connsiteX1-43" fmla="*/ 5822 w 5822"/>
              <a:gd name="connsiteY1-44" fmla="*/ 13 h 10112"/>
              <a:gd name="connsiteX2-45" fmla="*/ 129 w 5822"/>
              <a:gd name="connsiteY2-46" fmla="*/ 0 h 10112"/>
              <a:gd name="connsiteX3-47" fmla="*/ 0 w 5822"/>
              <a:gd name="connsiteY3-48" fmla="*/ 10112 h 10112"/>
              <a:gd name="connsiteX0-49" fmla="*/ 0 w 10000"/>
              <a:gd name="connsiteY0-50" fmla="*/ 9987 h 9987"/>
              <a:gd name="connsiteX1-51" fmla="*/ 10000 w 10000"/>
              <a:gd name="connsiteY1-52" fmla="*/ 0 h 9987"/>
              <a:gd name="connsiteX2-53" fmla="*/ 208 w 10000"/>
              <a:gd name="connsiteY2-54" fmla="*/ 51 h 9987"/>
              <a:gd name="connsiteX3-55" fmla="*/ 0 w 10000"/>
              <a:gd name="connsiteY3-56" fmla="*/ 9987 h 9987"/>
              <a:gd name="connsiteX0-57" fmla="*/ 0 w 10000"/>
              <a:gd name="connsiteY0-58" fmla="*/ 10000 h 10000"/>
              <a:gd name="connsiteX1-59" fmla="*/ 10000 w 10000"/>
              <a:gd name="connsiteY1-60" fmla="*/ 0 h 10000"/>
              <a:gd name="connsiteX2-61" fmla="*/ 150 w 10000"/>
              <a:gd name="connsiteY2-62" fmla="*/ 25 h 10000"/>
              <a:gd name="connsiteX3-63" fmla="*/ 0 w 10000"/>
              <a:gd name="connsiteY3-64" fmla="*/ 10000 h 10000"/>
              <a:gd name="connsiteX0-65" fmla="*/ 0 w 10000"/>
              <a:gd name="connsiteY0-66" fmla="*/ 10000 h 10000"/>
              <a:gd name="connsiteX1-67" fmla="*/ 10000 w 10000"/>
              <a:gd name="connsiteY1-68" fmla="*/ 0 h 10000"/>
              <a:gd name="connsiteX2-69" fmla="*/ 208 w 10000"/>
              <a:gd name="connsiteY2-70" fmla="*/ 25 h 10000"/>
              <a:gd name="connsiteX3-71" fmla="*/ 0 w 10000"/>
              <a:gd name="connsiteY3-72" fmla="*/ 10000 h 10000"/>
              <a:gd name="connsiteX0-73" fmla="*/ 0 w 10000"/>
              <a:gd name="connsiteY0-74" fmla="*/ 10000 h 10000"/>
              <a:gd name="connsiteX1-75" fmla="*/ 10000 w 10000"/>
              <a:gd name="connsiteY1-76" fmla="*/ 0 h 10000"/>
              <a:gd name="connsiteX2-77" fmla="*/ 150 w 10000"/>
              <a:gd name="connsiteY2-78" fmla="*/ 25 h 10000"/>
              <a:gd name="connsiteX3-79" fmla="*/ 0 w 10000"/>
              <a:gd name="connsiteY3-80" fmla="*/ 10000 h 10000"/>
              <a:gd name="connsiteX0-81" fmla="*/ 0 w 10000"/>
              <a:gd name="connsiteY0-82" fmla="*/ 10000 h 10000"/>
              <a:gd name="connsiteX1-83" fmla="*/ 10000 w 10000"/>
              <a:gd name="connsiteY1-84" fmla="*/ 0 h 10000"/>
              <a:gd name="connsiteX2-85" fmla="*/ 193 w 10000"/>
              <a:gd name="connsiteY2-86" fmla="*/ 12 h 10000"/>
              <a:gd name="connsiteX3-87" fmla="*/ 0 w 10000"/>
              <a:gd name="connsiteY3-88" fmla="*/ 10000 h 10000"/>
              <a:gd name="connsiteX0-89" fmla="*/ 0 w 10000"/>
              <a:gd name="connsiteY0-90" fmla="*/ 10000 h 10000"/>
              <a:gd name="connsiteX1-91" fmla="*/ 10000 w 10000"/>
              <a:gd name="connsiteY1-92" fmla="*/ 0 h 10000"/>
              <a:gd name="connsiteX2-93" fmla="*/ 164 w 10000"/>
              <a:gd name="connsiteY2-94" fmla="*/ 38 h 10000"/>
              <a:gd name="connsiteX3-95" fmla="*/ 0 w 10000"/>
              <a:gd name="connsiteY3-96" fmla="*/ 10000 h 10000"/>
              <a:gd name="connsiteX0-97" fmla="*/ 0 w 10000"/>
              <a:gd name="connsiteY0-98" fmla="*/ 10001 h 10001"/>
              <a:gd name="connsiteX1-99" fmla="*/ 10000 w 10000"/>
              <a:gd name="connsiteY1-100" fmla="*/ 1 h 10001"/>
              <a:gd name="connsiteX2-101" fmla="*/ 164 w 10000"/>
              <a:gd name="connsiteY2-102" fmla="*/ 0 h 10001"/>
              <a:gd name="connsiteX3-103" fmla="*/ 0 w 10000"/>
              <a:gd name="connsiteY3-104" fmla="*/ 10001 h 10001"/>
              <a:gd name="connsiteX0-105" fmla="*/ 0 w 9957"/>
              <a:gd name="connsiteY0-106" fmla="*/ 10001 h 10001"/>
              <a:gd name="connsiteX1-107" fmla="*/ 9957 w 9957"/>
              <a:gd name="connsiteY1-108" fmla="*/ 14 h 10001"/>
              <a:gd name="connsiteX2-109" fmla="*/ 164 w 9957"/>
              <a:gd name="connsiteY2-110" fmla="*/ 0 h 10001"/>
              <a:gd name="connsiteX3-111" fmla="*/ 0 w 9957"/>
              <a:gd name="connsiteY3-112" fmla="*/ 10001 h 10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957" h="10001">
                <a:moveTo>
                  <a:pt x="0" y="10001"/>
                </a:moveTo>
                <a:lnTo>
                  <a:pt x="9957" y="14"/>
                </a:lnTo>
                <a:lnTo>
                  <a:pt x="164" y="0"/>
                </a:lnTo>
                <a:cubicBezTo>
                  <a:pt x="95" y="3316"/>
                  <a:pt x="69" y="6685"/>
                  <a:pt x="0" y="10001"/>
                </a:cubicBezTo>
                <a:close/>
              </a:path>
            </a:pathLst>
          </a:custGeom>
          <a:solidFill>
            <a:srgbClr val="44546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9" name="Rectangle 12"/>
          <p:cNvSpPr>
            <a:spLocks noChangeArrowheads="1"/>
          </p:cNvSpPr>
          <p:nvPr/>
        </p:nvSpPr>
        <p:spPr bwMode="auto">
          <a:xfrm rot="10800000">
            <a:off x="454763" y="4342503"/>
            <a:ext cx="2646258" cy="169560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 rot="10800000">
            <a:off x="9091311" y="4342502"/>
            <a:ext cx="2645923" cy="1695601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>
            <a:lvl1pPr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1pPr>
            <a:lvl2pPr marL="742950" indent="-28575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2pPr>
            <a:lvl3pPr marL="1143000" indent="-22860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3pPr>
            <a:lvl4pPr marL="1600200" indent="-22860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4pPr>
            <a:lvl5pPr marL="2057400" indent="-22860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5pPr>
            <a:lvl6pPr marL="25146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6pPr>
            <a:lvl7pPr marL="29718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7pPr>
            <a:lvl8pPr marL="34290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8pPr>
            <a:lvl9pPr marL="38862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4" name="Rectangle 12"/>
          <p:cNvSpPr>
            <a:spLocks noChangeArrowheads="1"/>
          </p:cNvSpPr>
          <p:nvPr/>
        </p:nvSpPr>
        <p:spPr bwMode="auto">
          <a:xfrm rot="10800000">
            <a:off x="6213517" y="4342503"/>
            <a:ext cx="2645680" cy="169567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 rot="10800000">
            <a:off x="3333139" y="4342505"/>
            <a:ext cx="2648260" cy="16957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60" name="Oval 20"/>
          <p:cNvSpPr>
            <a:spLocks noChangeArrowheads="1"/>
          </p:cNvSpPr>
          <p:nvPr/>
        </p:nvSpPr>
        <p:spPr bwMode="auto">
          <a:xfrm rot="10800000">
            <a:off x="4922661" y="1168902"/>
            <a:ext cx="2346677" cy="2346677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algn="ctr" defTabSz="814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65330" y="4969695"/>
            <a:ext cx="2423403" cy="9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份用户调研与竞品分析，明确三大核心卖点，形成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MRD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文档，组织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轮跨部门需求评审，确保市场匹配度。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3443997" y="4969695"/>
            <a:ext cx="2423403" cy="73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bg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采用双周迭代模式，每版本交付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3-5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个核心功能，建立自动化测试体系，缺陷率控制在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以下。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314197" y="4969695"/>
            <a:ext cx="2423403" cy="9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bg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招募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名种子用户进行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Beta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测试，收集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1500+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反馈点，关键功能满意度达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，迭代优化优先级清单。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209797" y="4969695"/>
            <a:ext cx="2423403" cy="9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bg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制定分渠道上市策略，一批量产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万台，预售转化率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，同步启动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KOL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测评矩阵，覆盖目标人群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弧形 13"/>
          <p:cNvSpPr/>
          <p:nvPr/>
        </p:nvSpPr>
        <p:spPr>
          <a:xfrm>
            <a:off x="5057761" y="1304002"/>
            <a:ext cx="2076477" cy="2076477"/>
          </a:xfrm>
          <a:prstGeom prst="arc">
            <a:avLst>
              <a:gd name="adj1" fmla="val 16200000"/>
              <a:gd name="adj2" fmla="val 5228451"/>
            </a:avLst>
          </a:prstGeom>
          <a:ln w="9525">
            <a:solidFill>
              <a:schemeClr val="tx2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弧形 156"/>
          <p:cNvSpPr/>
          <p:nvPr/>
        </p:nvSpPr>
        <p:spPr>
          <a:xfrm>
            <a:off x="5057761" y="1304002"/>
            <a:ext cx="2076477" cy="2076477"/>
          </a:xfrm>
          <a:prstGeom prst="arc">
            <a:avLst>
              <a:gd name="adj1" fmla="val 5336891"/>
              <a:gd name="adj2" fmla="val 16012136"/>
            </a:avLst>
          </a:prstGeom>
          <a:ln w="9525">
            <a:solidFill>
              <a:schemeClr val="tx2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286125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智能硬件产品研发全流程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59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: 圆顶角 164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Google Shape;1402;p70"/>
          <p:cNvSpPr/>
          <p:nvPr/>
        </p:nvSpPr>
        <p:spPr>
          <a:xfrm>
            <a:off x="2127687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任意多边形: 形状 167"/>
          <p:cNvSpPr>
            <a:spLocks noChangeArrowheads="1"/>
          </p:cNvSpPr>
          <p:nvPr/>
        </p:nvSpPr>
        <p:spPr bwMode="auto">
          <a:xfrm rot="10800000">
            <a:off x="454763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66816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需求定义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73" name="Google Shape;1402;p70"/>
          <p:cNvSpPr/>
          <p:nvPr/>
        </p:nvSpPr>
        <p:spPr>
          <a:xfrm>
            <a:off x="5006354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4" name="Google Shape;1402;p70"/>
          <p:cNvSpPr/>
          <p:nvPr/>
        </p:nvSpPr>
        <p:spPr>
          <a:xfrm>
            <a:off x="7885021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Google Shape;1402;p70"/>
          <p:cNvSpPr/>
          <p:nvPr/>
        </p:nvSpPr>
        <p:spPr>
          <a:xfrm>
            <a:off x="10763688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9" name="任意多边形: 形状 168"/>
          <p:cNvSpPr>
            <a:spLocks noChangeArrowheads="1"/>
          </p:cNvSpPr>
          <p:nvPr/>
        </p:nvSpPr>
        <p:spPr bwMode="auto">
          <a:xfrm rot="10800000">
            <a:off x="3328110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70" name="任意多边形: 形状 169"/>
          <p:cNvSpPr>
            <a:spLocks noChangeArrowheads="1"/>
          </p:cNvSpPr>
          <p:nvPr/>
        </p:nvSpPr>
        <p:spPr bwMode="auto">
          <a:xfrm rot="10800000">
            <a:off x="6215971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71" name="任意多边形: 形状 170"/>
          <p:cNvSpPr>
            <a:spLocks noChangeArrowheads="1"/>
          </p:cNvSpPr>
          <p:nvPr/>
        </p:nvSpPr>
        <p:spPr bwMode="auto">
          <a:xfrm rot="10800000">
            <a:off x="9089318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3445483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600" b="1">
                <a:solidFill>
                  <a:schemeClr val="bg1"/>
                </a:solidFill>
                <a:latin typeface="+mj-ea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敏捷开发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315683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600" b="1">
                <a:solidFill>
                  <a:schemeClr val="bg1"/>
                </a:solidFill>
                <a:latin typeface="+mj-ea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用户验证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9211283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600" b="1">
                <a:solidFill>
                  <a:schemeClr val="bg1"/>
                </a:solidFill>
                <a:latin typeface="+mj-ea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规模推广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53816" y="1130300"/>
            <a:ext cx="5268128" cy="3052254"/>
            <a:chOff x="453816" y="1130300"/>
            <a:chExt cx="5268128" cy="3052254"/>
          </a:xfrm>
        </p:grpSpPr>
        <p:sp>
          <p:nvSpPr>
            <p:cNvPr id="188" name="任意多边形: 形状 187"/>
            <p:cNvSpPr/>
            <p:nvPr/>
          </p:nvSpPr>
          <p:spPr>
            <a:xfrm>
              <a:off x="453816" y="1130300"/>
              <a:ext cx="5268128" cy="3052254"/>
            </a:xfrm>
            <a:custGeom>
              <a:avLst/>
              <a:gdLst>
                <a:gd name="connsiteX0" fmla="*/ 0 w 5268128"/>
                <a:gd name="connsiteY0" fmla="*/ 0 h 3052254"/>
                <a:gd name="connsiteX1" fmla="*/ 944564 w 5268128"/>
                <a:gd name="connsiteY1" fmla="*/ 0 h 3052254"/>
                <a:gd name="connsiteX2" fmla="*/ 5268128 w 5268128"/>
                <a:gd name="connsiteY2" fmla="*/ 101272 h 3052254"/>
                <a:gd name="connsiteX3" fmla="*/ 5211949 w 5268128"/>
                <a:gd name="connsiteY3" fmla="*/ 120664 h 3052254"/>
                <a:gd name="connsiteX4" fmla="*/ 4468844 w 5268128"/>
                <a:gd name="connsiteY4" fmla="*/ 1212616 h 3052254"/>
                <a:gd name="connsiteX5" fmla="*/ 4521595 w 5268128"/>
                <a:gd name="connsiteY5" fmla="*/ 1561531 h 3052254"/>
                <a:gd name="connsiteX6" fmla="*/ 4548943 w 5268128"/>
                <a:gd name="connsiteY6" fmla="*/ 1636249 h 3052254"/>
                <a:gd name="connsiteX7" fmla="*/ 60069 w 5268128"/>
                <a:gd name="connsiteY7" fmla="*/ 3052254 h 3052254"/>
                <a:gd name="connsiteX8" fmla="*/ 0 w 5268128"/>
                <a:gd name="connsiteY8" fmla="*/ 3052254 h 3052254"/>
                <a:gd name="connsiteX9" fmla="*/ 0 w 5268128"/>
                <a:gd name="connsiteY9" fmla="*/ 0 h 305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68128" h="3052254">
                  <a:moveTo>
                    <a:pt x="0" y="0"/>
                  </a:moveTo>
                  <a:lnTo>
                    <a:pt x="944564" y="0"/>
                  </a:lnTo>
                  <a:lnTo>
                    <a:pt x="5268128" y="101272"/>
                  </a:lnTo>
                  <a:lnTo>
                    <a:pt x="5211949" y="120664"/>
                  </a:lnTo>
                  <a:cubicBezTo>
                    <a:pt x="4776779" y="292262"/>
                    <a:pt x="4468844" y="716478"/>
                    <a:pt x="4468844" y="1212616"/>
                  </a:cubicBezTo>
                  <a:cubicBezTo>
                    <a:pt x="4468844" y="1334119"/>
                    <a:pt x="4487313" y="1451309"/>
                    <a:pt x="4521595" y="1561531"/>
                  </a:cubicBezTo>
                  <a:lnTo>
                    <a:pt x="4548943" y="1636249"/>
                  </a:lnTo>
                  <a:lnTo>
                    <a:pt x="60069" y="3052254"/>
                  </a:lnTo>
                  <a:lnTo>
                    <a:pt x="0" y="3052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664477" y="1988248"/>
              <a:ext cx="4067810" cy="1158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形成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定义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-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开发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-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验证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-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推广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闭环，每个周期缩短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时间，产品迭代速度提升至行业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倍水平。</a:t>
              </a:r>
              <a:endPara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2" name="文本框 191"/>
            <p:cNvSpPr txBox="1"/>
            <p:nvPr/>
          </p:nvSpPr>
          <p:spPr>
            <a:xfrm>
              <a:off x="664477" y="1432412"/>
              <a:ext cx="2175449" cy="5014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51D25"/>
                      </a:gs>
                      <a:gs pos="100000">
                        <a:srgbClr val="B51D25">
                          <a:lumMod val="75000"/>
                        </a:srgbClr>
                      </a:gs>
                    </a:gsLst>
                    <a:lin ang="2700000" scaled="0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循环价值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807511" y="1932641"/>
            <a:ext cx="3615871" cy="52311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oogle Shape;1496;p70"/>
          <p:cNvGrpSpPr/>
          <p:nvPr/>
        </p:nvGrpSpPr>
        <p:grpSpPr>
          <a:xfrm>
            <a:off x="3709077" y="1283164"/>
            <a:ext cx="1002923" cy="829541"/>
            <a:chOff x="4943575" y="2516350"/>
            <a:chExt cx="98675" cy="81700"/>
          </a:xfrm>
          <a:solidFill>
            <a:schemeClr val="accent1"/>
          </a:solidFill>
        </p:grpSpPr>
        <p:sp>
          <p:nvSpPr>
            <p:cNvPr id="198" name="Google Shape;1497;p70"/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Google Shape;1498;p70"/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0" name="Google Shape;1499;p70"/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1" name="Google Shape;1500;p70"/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Google Shape;1501;p70"/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3" name="Google Shape;1502;p70"/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Google Shape;1503;p70"/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5" name="Google Shape;1504;p70"/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6" name="Google Shape;1505;p70"/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7" name="Google Shape;1506;p70"/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8" name="Google Shape;1507;p70"/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9" name="Google Shape;1508;p70"/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Google Shape;1509;p70"/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1" name="Google Shape;1510;p70"/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2" name="Google Shape;1511;p70"/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3" name="Google Shape;1512;p70"/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4" name="Google Shape;1513;p70"/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5" name="Google Shape;1514;p70"/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6" name="Google Shape;1515;p70"/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7" name="Google Shape;1516;p70"/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8" name="Google Shape;1517;p70"/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9" name="Google Shape;1518;p70"/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0" name="Google Shape;1519;p70"/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1" name="Google Shape;1520;p70"/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2" name="Google Shape;1521;p70"/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3" name="Google Shape;1522;p70"/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4" name="Google Shape;1523;p70"/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5" name="Google Shape;1524;p70"/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6" name="Google Shape;1525;p70"/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7" name="Google Shape;1526;p70"/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8" name="Google Shape;1527;p70"/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9" name="Google Shape;1528;p70"/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0" name="Google Shape;1529;p70"/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1" name="Google Shape;1530;p70"/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2" name="Google Shape;1531;p70"/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3" name="Google Shape;1532;p70"/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4" name="Google Shape;1533;p70"/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5" name="Google Shape;1534;p70"/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6" name="Google Shape;1535;p70"/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7" name="Google Shape;1536;p70"/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8" name="Google Shape;1537;p70"/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9" name="Google Shape;1538;p70"/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0" name="Google Shape;1539;p70"/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1" name="Google Shape;1540;p70"/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2" name="Google Shape;1541;p70"/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3" name="Google Shape;1542;p70"/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4" name="Google Shape;1543;p70"/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5" name="Google Shape;1544;p70"/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6" name="Google Shape;1545;p70"/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7" name="Google Shape;1546;p70"/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8" name="Google Shape;1547;p70"/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9" name="Google Shape;1548;p70"/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0" name="Google Shape;1549;p70"/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1" name="Google Shape;1550;p70"/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2" name="Google Shape;1551;p70"/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3" name="Google Shape;1552;p70"/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4" name="Google Shape;1553;p70"/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5" name="Google Shape;1554;p70"/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6" name="Google Shape;1555;p70"/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7" name="Google Shape;1556;p70"/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8" name="Google Shape;1557;p70"/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9" name="Google Shape;1558;p70"/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0" name="Google Shape;1559;p70"/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1" name="Google Shape;1560;p70"/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2" name="Google Shape;1561;p70"/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3" name="Google Shape;1562;p70"/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4" name="Google Shape;1563;p70"/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5" name="Google Shape;1564;p70"/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6" name="Google Shape;1565;p70"/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7" name="Google Shape;1566;p70"/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8" name="Google Shape;1567;p70"/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9" name="Google Shape;1568;p70"/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0" name="Google Shape;1569;p70"/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1" name="Google Shape;1570;p70"/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2" name="Google Shape;1571;p70"/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3" name="Google Shape;1572;p70"/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4" name="Google Shape;1573;p70"/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5" name="Google Shape;1574;p70"/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76" name="直接连接符 275"/>
          <p:cNvCxnSpPr/>
          <p:nvPr/>
        </p:nvCxnSpPr>
        <p:spPr>
          <a:xfrm flipH="1">
            <a:off x="7769612" y="1932641"/>
            <a:ext cx="3615871" cy="52311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" name="Google Shape;1496;p70"/>
          <p:cNvGrpSpPr/>
          <p:nvPr/>
        </p:nvGrpSpPr>
        <p:grpSpPr>
          <a:xfrm flipH="1">
            <a:off x="7480994" y="1283164"/>
            <a:ext cx="1002923" cy="829541"/>
            <a:chOff x="4943575" y="2516350"/>
            <a:chExt cx="98675" cy="81700"/>
          </a:xfrm>
          <a:solidFill>
            <a:schemeClr val="tx2"/>
          </a:solidFill>
        </p:grpSpPr>
        <p:sp>
          <p:nvSpPr>
            <p:cNvPr id="278" name="Google Shape;1497;p70"/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9" name="Google Shape;1498;p70"/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0" name="Google Shape;1499;p70"/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1" name="Google Shape;1500;p70"/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2" name="Google Shape;1501;p70"/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3" name="Google Shape;1502;p70"/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4" name="Google Shape;1503;p70"/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5" name="Google Shape;1504;p70"/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6" name="Google Shape;1505;p70"/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7" name="Google Shape;1506;p70"/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8" name="Google Shape;1507;p70"/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9" name="Google Shape;1508;p70"/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0" name="Google Shape;1509;p70"/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1" name="Google Shape;1510;p70"/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2" name="Google Shape;1511;p70"/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3" name="Google Shape;1512;p70"/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4" name="Google Shape;1513;p70"/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5" name="Google Shape;1514;p70"/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6" name="Google Shape;1515;p70"/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7" name="Google Shape;1516;p70"/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8" name="Google Shape;1517;p70"/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9" name="Google Shape;1518;p70"/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0" name="Google Shape;1519;p70"/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1" name="Google Shape;1520;p70"/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2" name="Google Shape;1521;p70"/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3" name="Google Shape;1522;p70"/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4" name="Google Shape;1523;p70"/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5" name="Google Shape;1524;p70"/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6" name="Google Shape;1525;p70"/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7" name="Google Shape;1526;p70"/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8" name="Google Shape;1527;p70"/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9" name="Google Shape;1528;p70"/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0" name="Google Shape;1529;p70"/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1" name="Google Shape;1530;p70"/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2" name="Google Shape;1531;p70"/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3" name="Google Shape;1532;p70"/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4" name="Google Shape;1533;p70"/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5" name="Google Shape;1534;p70"/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6" name="Google Shape;1535;p70"/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7" name="Google Shape;1536;p70"/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8" name="Google Shape;1537;p70"/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9" name="Google Shape;1538;p70"/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0" name="Google Shape;1539;p70"/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1" name="Google Shape;1540;p70"/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2" name="Google Shape;1541;p70"/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3" name="Google Shape;1542;p70"/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4" name="Google Shape;1543;p70"/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5" name="Google Shape;1544;p70"/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6" name="Google Shape;1545;p70"/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7" name="Google Shape;1546;p70"/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8" name="Google Shape;1547;p70"/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9" name="Google Shape;1548;p70"/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0" name="Google Shape;1549;p70"/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1" name="Google Shape;1550;p70"/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2" name="Google Shape;1551;p70"/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3" name="Google Shape;1552;p70"/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4" name="Google Shape;1553;p70"/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5" name="Google Shape;1554;p70"/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6" name="Google Shape;1555;p70"/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7" name="Google Shape;1556;p70"/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8" name="Google Shape;1557;p70"/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9" name="Google Shape;1558;p70"/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0" name="Google Shape;1559;p70"/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1" name="Google Shape;1560;p70"/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2" name="Google Shape;1561;p70"/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3" name="Google Shape;1562;p70"/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4" name="Google Shape;1563;p70"/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5" name="Google Shape;1564;p70"/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6" name="Google Shape;1565;p70"/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7" name="Google Shape;1566;p70"/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8" name="Google Shape;1567;p70"/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9" name="Google Shape;1568;p70"/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0" name="Google Shape;1569;p70"/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1" name="Google Shape;1570;p70"/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2" name="Google Shape;1571;p70"/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3" name="Google Shape;1572;p70"/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4" name="Google Shape;1573;p70"/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5" name="Google Shape;1574;p70"/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57" name="Google Shape;7275;p80"/>
          <p:cNvSpPr/>
          <p:nvPr/>
        </p:nvSpPr>
        <p:spPr>
          <a:xfrm>
            <a:off x="6135863" y="1882465"/>
            <a:ext cx="323619" cy="476257"/>
          </a:xfrm>
          <a:custGeom>
            <a:avLst/>
            <a:gdLst/>
            <a:ahLst/>
            <a:cxnLst/>
            <a:rect l="l" t="t" r="r" b="b"/>
            <a:pathLst>
              <a:path w="2805" h="4128" extrusionOk="0">
                <a:moveTo>
                  <a:pt x="2805" y="1"/>
                </a:moveTo>
                <a:lnTo>
                  <a:pt x="1" y="1355"/>
                </a:lnTo>
                <a:lnTo>
                  <a:pt x="1" y="4128"/>
                </a:lnTo>
                <a:lnTo>
                  <a:pt x="2805" y="2710"/>
                </a:lnTo>
                <a:lnTo>
                  <a:pt x="2805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8" name="Google Shape;7276;p80"/>
          <p:cNvSpPr/>
          <p:nvPr/>
        </p:nvSpPr>
        <p:spPr>
          <a:xfrm>
            <a:off x="5812359" y="2485862"/>
            <a:ext cx="239974" cy="545365"/>
          </a:xfrm>
          <a:custGeom>
            <a:avLst/>
            <a:gdLst/>
            <a:ahLst/>
            <a:cxnLst/>
            <a:rect l="l" t="t" r="r" b="b"/>
            <a:pathLst>
              <a:path w="2080" h="4727" extrusionOk="0">
                <a:moveTo>
                  <a:pt x="2080" y="0"/>
                </a:moveTo>
                <a:lnTo>
                  <a:pt x="1" y="1072"/>
                </a:lnTo>
                <a:lnTo>
                  <a:pt x="1" y="4726"/>
                </a:lnTo>
                <a:lnTo>
                  <a:pt x="2080" y="3529"/>
                </a:lnTo>
                <a:lnTo>
                  <a:pt x="2080" y="0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9" name="Google Shape;7277;p80"/>
          <p:cNvSpPr/>
          <p:nvPr/>
        </p:nvSpPr>
        <p:spPr>
          <a:xfrm>
            <a:off x="5732406" y="1882465"/>
            <a:ext cx="319927" cy="476257"/>
          </a:xfrm>
          <a:custGeom>
            <a:avLst/>
            <a:gdLst/>
            <a:ahLst/>
            <a:cxnLst/>
            <a:rect l="l" t="t" r="r" b="b"/>
            <a:pathLst>
              <a:path w="2773" h="4128" extrusionOk="0">
                <a:moveTo>
                  <a:pt x="1" y="1"/>
                </a:moveTo>
                <a:lnTo>
                  <a:pt x="1" y="2710"/>
                </a:lnTo>
                <a:lnTo>
                  <a:pt x="2773" y="4128"/>
                </a:lnTo>
                <a:lnTo>
                  <a:pt x="2773" y="1355"/>
                </a:lnTo>
                <a:lnTo>
                  <a:pt x="1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0" name="Google Shape;7278;p80"/>
          <p:cNvSpPr/>
          <p:nvPr/>
        </p:nvSpPr>
        <p:spPr>
          <a:xfrm>
            <a:off x="5445245" y="2256848"/>
            <a:ext cx="559901" cy="283585"/>
          </a:xfrm>
          <a:custGeom>
            <a:avLst/>
            <a:gdLst/>
            <a:ahLst/>
            <a:cxnLst/>
            <a:rect l="l" t="t" r="r" b="b"/>
            <a:pathLst>
              <a:path w="4853" h="2458" extrusionOk="0">
                <a:moveTo>
                  <a:pt x="2048" y="1"/>
                </a:moveTo>
                <a:lnTo>
                  <a:pt x="1" y="1040"/>
                </a:lnTo>
                <a:lnTo>
                  <a:pt x="2836" y="2458"/>
                </a:lnTo>
                <a:lnTo>
                  <a:pt x="4852" y="1418"/>
                </a:lnTo>
                <a:lnTo>
                  <a:pt x="20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1" name="Google Shape;7279;p80"/>
          <p:cNvSpPr/>
          <p:nvPr/>
        </p:nvSpPr>
        <p:spPr>
          <a:xfrm>
            <a:off x="6135863" y="2485862"/>
            <a:ext cx="239974" cy="545365"/>
          </a:xfrm>
          <a:custGeom>
            <a:avLst/>
            <a:gdLst/>
            <a:ahLst/>
            <a:cxnLst/>
            <a:rect l="l" t="t" r="r" b="b"/>
            <a:pathLst>
              <a:path w="2080" h="4727" extrusionOk="0">
                <a:moveTo>
                  <a:pt x="1" y="0"/>
                </a:moveTo>
                <a:lnTo>
                  <a:pt x="1" y="3529"/>
                </a:lnTo>
                <a:lnTo>
                  <a:pt x="2080" y="4726"/>
                </a:lnTo>
                <a:lnTo>
                  <a:pt x="2080" y="1072"/>
                </a:lnTo>
                <a:lnTo>
                  <a:pt x="1" y="0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2" name="Google Shape;7280;p80"/>
          <p:cNvSpPr/>
          <p:nvPr/>
        </p:nvSpPr>
        <p:spPr>
          <a:xfrm>
            <a:off x="6186742" y="2256848"/>
            <a:ext cx="559901" cy="283585"/>
          </a:xfrm>
          <a:custGeom>
            <a:avLst/>
            <a:gdLst/>
            <a:ahLst/>
            <a:cxnLst/>
            <a:rect l="l" t="t" r="r" b="b"/>
            <a:pathLst>
              <a:path w="4853" h="2458" extrusionOk="0">
                <a:moveTo>
                  <a:pt x="2773" y="1"/>
                </a:moveTo>
                <a:lnTo>
                  <a:pt x="1" y="1418"/>
                </a:lnTo>
                <a:lnTo>
                  <a:pt x="1985" y="2458"/>
                </a:lnTo>
                <a:lnTo>
                  <a:pt x="4852" y="1040"/>
                </a:lnTo>
                <a:lnTo>
                  <a:pt x="27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3" name="Google Shape;7281;p80"/>
          <p:cNvSpPr/>
          <p:nvPr/>
        </p:nvSpPr>
        <p:spPr>
          <a:xfrm>
            <a:off x="5405326" y="2445828"/>
            <a:ext cx="323504" cy="585399"/>
          </a:xfrm>
          <a:custGeom>
            <a:avLst/>
            <a:gdLst/>
            <a:ahLst/>
            <a:cxnLst/>
            <a:rect l="l" t="t" r="r" b="b"/>
            <a:pathLst>
              <a:path w="2804" h="5074" extrusionOk="0">
                <a:moveTo>
                  <a:pt x="0" y="1"/>
                </a:moveTo>
                <a:lnTo>
                  <a:pt x="0" y="3309"/>
                </a:lnTo>
                <a:cubicBezTo>
                  <a:pt x="0" y="3403"/>
                  <a:pt x="63" y="3529"/>
                  <a:pt x="189" y="3624"/>
                </a:cubicBezTo>
                <a:lnTo>
                  <a:pt x="2804" y="5073"/>
                </a:lnTo>
                <a:lnTo>
                  <a:pt x="2804" y="1419"/>
                </a:lnTo>
                <a:lnTo>
                  <a:pt x="0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4" name="Google Shape;7282;p80"/>
          <p:cNvSpPr/>
          <p:nvPr/>
        </p:nvSpPr>
        <p:spPr>
          <a:xfrm>
            <a:off x="6463058" y="2445828"/>
            <a:ext cx="323504" cy="585399"/>
          </a:xfrm>
          <a:custGeom>
            <a:avLst/>
            <a:gdLst/>
            <a:ahLst/>
            <a:cxnLst/>
            <a:rect l="l" t="t" r="r" b="b"/>
            <a:pathLst>
              <a:path w="2804" h="5074" extrusionOk="0">
                <a:moveTo>
                  <a:pt x="2804" y="1"/>
                </a:moveTo>
                <a:lnTo>
                  <a:pt x="0" y="1419"/>
                </a:lnTo>
                <a:lnTo>
                  <a:pt x="0" y="5073"/>
                </a:lnTo>
                <a:lnTo>
                  <a:pt x="2583" y="3624"/>
                </a:lnTo>
                <a:cubicBezTo>
                  <a:pt x="2709" y="3529"/>
                  <a:pt x="2804" y="3403"/>
                  <a:pt x="2804" y="3309"/>
                </a:cubicBezTo>
                <a:lnTo>
                  <a:pt x="2804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5" name="Google Shape;7283;p80"/>
          <p:cNvSpPr/>
          <p:nvPr/>
        </p:nvSpPr>
        <p:spPr>
          <a:xfrm>
            <a:off x="5772440" y="1650797"/>
            <a:ext cx="647007" cy="322696"/>
          </a:xfrm>
          <a:custGeom>
            <a:avLst/>
            <a:gdLst/>
            <a:ahLst/>
            <a:cxnLst/>
            <a:rect l="l" t="t" r="r" b="b"/>
            <a:pathLst>
              <a:path w="5608" h="2797" extrusionOk="0">
                <a:moveTo>
                  <a:pt x="2792" y="0"/>
                </a:moveTo>
                <a:cubicBezTo>
                  <a:pt x="2741" y="0"/>
                  <a:pt x="2694" y="8"/>
                  <a:pt x="2647" y="24"/>
                </a:cubicBezTo>
                <a:lnTo>
                  <a:pt x="0" y="1378"/>
                </a:lnTo>
                <a:lnTo>
                  <a:pt x="2804" y="2796"/>
                </a:lnTo>
                <a:lnTo>
                  <a:pt x="5608" y="1378"/>
                </a:lnTo>
                <a:lnTo>
                  <a:pt x="2962" y="24"/>
                </a:lnTo>
                <a:cubicBezTo>
                  <a:pt x="2899" y="8"/>
                  <a:pt x="2843" y="0"/>
                  <a:pt x="27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7" name="Google Shape;1581;p70"/>
          <p:cNvSpPr/>
          <p:nvPr/>
        </p:nvSpPr>
        <p:spPr>
          <a:xfrm>
            <a:off x="453816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8" name="Google Shape;1582;p70"/>
          <p:cNvSpPr/>
          <p:nvPr/>
        </p:nvSpPr>
        <p:spPr>
          <a:xfrm>
            <a:off x="481860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2" name="任意多边形: 形状 371"/>
          <p:cNvSpPr/>
          <p:nvPr/>
        </p:nvSpPr>
        <p:spPr>
          <a:xfrm>
            <a:off x="543159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前期阶段</a:t>
            </a:r>
            <a:endParaRPr kumimoji="0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4" name="Google Shape;1581;p70"/>
          <p:cNvSpPr/>
          <p:nvPr/>
        </p:nvSpPr>
        <p:spPr>
          <a:xfrm>
            <a:off x="3327163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5" name="Google Shape;1582;p70"/>
          <p:cNvSpPr/>
          <p:nvPr/>
        </p:nvSpPr>
        <p:spPr>
          <a:xfrm>
            <a:off x="3355207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6" name="任意多边形: 形状 375"/>
          <p:cNvSpPr/>
          <p:nvPr/>
        </p:nvSpPr>
        <p:spPr>
          <a:xfrm>
            <a:off x="3416506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准备阶段</a:t>
            </a:r>
            <a:endParaRPr kumimoji="0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8" name="Google Shape;1581;p70"/>
          <p:cNvSpPr/>
          <p:nvPr/>
        </p:nvSpPr>
        <p:spPr>
          <a:xfrm>
            <a:off x="6200510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9" name="Google Shape;1582;p70"/>
          <p:cNvSpPr/>
          <p:nvPr/>
        </p:nvSpPr>
        <p:spPr>
          <a:xfrm>
            <a:off x="6228554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0" name="任意多边形: 形状 379"/>
          <p:cNvSpPr/>
          <p:nvPr/>
        </p:nvSpPr>
        <p:spPr>
          <a:xfrm>
            <a:off x="6289853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开发阶段</a:t>
            </a:r>
            <a:endParaRPr kumimoji="0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2" name="Google Shape;1581;p70"/>
          <p:cNvSpPr/>
          <p:nvPr/>
        </p:nvSpPr>
        <p:spPr>
          <a:xfrm>
            <a:off x="9073857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3" name="Google Shape;1582;p70"/>
          <p:cNvSpPr/>
          <p:nvPr/>
        </p:nvSpPr>
        <p:spPr>
          <a:xfrm>
            <a:off x="9101901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4" name="任意多边形: 形状 383"/>
          <p:cNvSpPr/>
          <p:nvPr/>
        </p:nvSpPr>
        <p:spPr>
          <a:xfrm>
            <a:off x="9163200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后期阶段</a:t>
            </a:r>
            <a:endParaRPr kumimoji="0" lang="zh-CN" altLang="en-US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三角形 67"/>
          <p:cNvSpPr/>
          <p:nvPr/>
        </p:nvSpPr>
        <p:spPr>
          <a:xfrm rot="10800000" flipH="1">
            <a:off x="454763" y="1177690"/>
            <a:ext cx="2755797" cy="4167943"/>
          </a:xfrm>
          <a:prstGeom prst="triangle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Freeform 8"/>
          <p:cNvSpPr/>
          <p:nvPr/>
        </p:nvSpPr>
        <p:spPr bwMode="auto">
          <a:xfrm rot="10800000">
            <a:off x="56349" y="1177694"/>
            <a:ext cx="7866217" cy="5680305"/>
          </a:xfrm>
          <a:custGeom>
            <a:avLst/>
            <a:gdLst>
              <a:gd name="T0" fmla="*/ 3061 w 5480"/>
              <a:gd name="T1" fmla="*/ 3109 h 3276"/>
              <a:gd name="T2" fmla="*/ 5480 w 5480"/>
              <a:gd name="T3" fmla="*/ 0 h 3276"/>
              <a:gd name="T4" fmla="*/ 0 w 5480"/>
              <a:gd name="T5" fmla="*/ 0 h 3276"/>
              <a:gd name="T6" fmla="*/ 2426 w 5480"/>
              <a:gd name="T7" fmla="*/ 3109 h 3276"/>
              <a:gd name="T8" fmla="*/ 2251 w 5480"/>
              <a:gd name="T9" fmla="*/ 3109 h 3276"/>
              <a:gd name="T10" fmla="*/ 2750 w 5480"/>
              <a:gd name="T11" fmla="*/ 3276 h 3276"/>
              <a:gd name="T12" fmla="*/ 3243 w 5480"/>
              <a:gd name="T13" fmla="*/ 3109 h 3276"/>
              <a:gd name="T14" fmla="*/ 3061 w 5480"/>
              <a:gd name="T15" fmla="*/ 3109 h 3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80" h="3276">
                <a:moveTo>
                  <a:pt x="3061" y="3109"/>
                </a:moveTo>
                <a:lnTo>
                  <a:pt x="5480" y="0"/>
                </a:lnTo>
                <a:lnTo>
                  <a:pt x="0" y="0"/>
                </a:lnTo>
                <a:lnTo>
                  <a:pt x="2426" y="3109"/>
                </a:lnTo>
                <a:lnTo>
                  <a:pt x="2251" y="3109"/>
                </a:lnTo>
                <a:lnTo>
                  <a:pt x="2750" y="3276"/>
                </a:lnTo>
                <a:lnTo>
                  <a:pt x="3243" y="3109"/>
                </a:lnTo>
                <a:lnTo>
                  <a:pt x="3061" y="3109"/>
                </a:ln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accent1"/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algn="ctr" defTabSz="814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3" name="Group 35"/>
          <p:cNvGrpSpPr/>
          <p:nvPr/>
        </p:nvGrpSpPr>
        <p:grpSpPr>
          <a:xfrm>
            <a:off x="1098433" y="4642433"/>
            <a:ext cx="5754816" cy="1037873"/>
            <a:chOff x="2841625" y="3927475"/>
            <a:chExt cx="6496050" cy="915988"/>
          </a:xfrm>
          <a:solidFill>
            <a:schemeClr val="accent1"/>
          </a:solidFill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4" name="Rectangle 11"/>
            <p:cNvSpPr>
              <a:spLocks noChangeArrowheads="1"/>
            </p:cNvSpPr>
            <p:nvPr/>
          </p:nvSpPr>
          <p:spPr bwMode="auto">
            <a:xfrm rot="10800000">
              <a:off x="2843213" y="4125436"/>
              <a:ext cx="6494462" cy="71802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" name="Freeform 12"/>
            <p:cNvSpPr/>
            <p:nvPr/>
          </p:nvSpPr>
          <p:spPr bwMode="auto">
            <a:xfrm rot="10800000">
              <a:off x="2841625" y="3927475"/>
              <a:ext cx="6494463" cy="198438"/>
            </a:xfrm>
            <a:custGeom>
              <a:avLst/>
              <a:gdLst>
                <a:gd name="T0" fmla="*/ 4117 w 4242"/>
                <a:gd name="T1" fmla="*/ 118 h 118"/>
                <a:gd name="T2" fmla="*/ 125 w 4242"/>
                <a:gd name="T3" fmla="*/ 118 h 118"/>
                <a:gd name="T4" fmla="*/ 0 w 4242"/>
                <a:gd name="T5" fmla="*/ 0 h 118"/>
                <a:gd name="T6" fmla="*/ 4242 w 4242"/>
                <a:gd name="T7" fmla="*/ 0 h 118"/>
                <a:gd name="T8" fmla="*/ 4117 w 4242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2" h="118">
                  <a:moveTo>
                    <a:pt x="4117" y="118"/>
                  </a:moveTo>
                  <a:lnTo>
                    <a:pt x="125" y="118"/>
                  </a:lnTo>
                  <a:lnTo>
                    <a:pt x="0" y="0"/>
                  </a:lnTo>
                  <a:lnTo>
                    <a:pt x="4242" y="0"/>
                  </a:lnTo>
                  <a:lnTo>
                    <a:pt x="4117" y="11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" name="Group 34"/>
          <p:cNvGrpSpPr/>
          <p:nvPr/>
        </p:nvGrpSpPr>
        <p:grpSpPr>
          <a:xfrm>
            <a:off x="1866670" y="3558795"/>
            <a:ext cx="4219778" cy="786048"/>
            <a:chOff x="3744913" y="3011488"/>
            <a:chExt cx="4673600" cy="693737"/>
          </a:xfrm>
          <a:solidFill>
            <a:schemeClr val="accent1"/>
          </a:solidFill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 rot="10800000">
              <a:off x="3746500" y="3163906"/>
              <a:ext cx="4672013" cy="541319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" name="Freeform 14"/>
            <p:cNvSpPr/>
            <p:nvPr/>
          </p:nvSpPr>
          <p:spPr bwMode="auto">
            <a:xfrm rot="10800000">
              <a:off x="3744913" y="3011488"/>
              <a:ext cx="4672012" cy="150812"/>
            </a:xfrm>
            <a:custGeom>
              <a:avLst/>
              <a:gdLst>
                <a:gd name="T0" fmla="*/ 3108 w 3203"/>
                <a:gd name="T1" fmla="*/ 90 h 90"/>
                <a:gd name="T2" fmla="*/ 94 w 3203"/>
                <a:gd name="T3" fmla="*/ 90 h 90"/>
                <a:gd name="T4" fmla="*/ 0 w 3203"/>
                <a:gd name="T5" fmla="*/ 0 h 90"/>
                <a:gd name="T6" fmla="*/ 3203 w 3203"/>
                <a:gd name="T7" fmla="*/ 0 h 90"/>
                <a:gd name="T8" fmla="*/ 3108 w 3203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3" h="90">
                  <a:moveTo>
                    <a:pt x="3108" y="90"/>
                  </a:moveTo>
                  <a:lnTo>
                    <a:pt x="94" y="90"/>
                  </a:lnTo>
                  <a:lnTo>
                    <a:pt x="0" y="0"/>
                  </a:lnTo>
                  <a:lnTo>
                    <a:pt x="3203" y="0"/>
                  </a:lnTo>
                  <a:lnTo>
                    <a:pt x="3108" y="9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" name="Group 33"/>
          <p:cNvGrpSpPr/>
          <p:nvPr/>
        </p:nvGrpSpPr>
        <p:grpSpPr>
          <a:xfrm>
            <a:off x="2517410" y="2682011"/>
            <a:ext cx="2944098" cy="579193"/>
            <a:chOff x="4465638" y="2319339"/>
            <a:chExt cx="3260725" cy="511174"/>
          </a:xfrm>
          <a:solidFill>
            <a:schemeClr val="accent1"/>
          </a:solidFill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 rot="10800000">
              <a:off x="4465638" y="2425346"/>
              <a:ext cx="3260725" cy="40516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" name="Freeform 16"/>
            <p:cNvSpPr/>
            <p:nvPr/>
          </p:nvSpPr>
          <p:spPr bwMode="auto">
            <a:xfrm rot="10800000">
              <a:off x="4465638" y="2319339"/>
              <a:ext cx="3260725" cy="107950"/>
            </a:xfrm>
            <a:custGeom>
              <a:avLst/>
              <a:gdLst>
                <a:gd name="T0" fmla="*/ 2310 w 2381"/>
                <a:gd name="T1" fmla="*/ 64 h 64"/>
                <a:gd name="T2" fmla="*/ 71 w 2381"/>
                <a:gd name="T3" fmla="*/ 64 h 64"/>
                <a:gd name="T4" fmla="*/ 0 w 2381"/>
                <a:gd name="T5" fmla="*/ 0 h 64"/>
                <a:gd name="T6" fmla="*/ 2381 w 2381"/>
                <a:gd name="T7" fmla="*/ 0 h 64"/>
                <a:gd name="T8" fmla="*/ 2310 w 2381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1" h="64">
                  <a:moveTo>
                    <a:pt x="2310" y="64"/>
                  </a:moveTo>
                  <a:lnTo>
                    <a:pt x="71" y="64"/>
                  </a:lnTo>
                  <a:lnTo>
                    <a:pt x="0" y="0"/>
                  </a:lnTo>
                  <a:lnTo>
                    <a:pt x="2381" y="0"/>
                  </a:lnTo>
                  <a:lnTo>
                    <a:pt x="2310" y="6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2" name="Group 32"/>
          <p:cNvGrpSpPr/>
          <p:nvPr/>
        </p:nvGrpSpPr>
        <p:grpSpPr>
          <a:xfrm>
            <a:off x="3039149" y="1920345"/>
            <a:ext cx="1890586" cy="464075"/>
            <a:chOff x="5043488" y="1687513"/>
            <a:chExt cx="2093912" cy="409575"/>
          </a:xfrm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 rot="10800000">
              <a:off x="5043488" y="1769046"/>
              <a:ext cx="2093912" cy="32804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" name="Freeform 18"/>
            <p:cNvSpPr/>
            <p:nvPr/>
          </p:nvSpPr>
          <p:spPr bwMode="auto">
            <a:xfrm rot="10800000">
              <a:off x="5043488" y="1687513"/>
              <a:ext cx="2093912" cy="79375"/>
            </a:xfrm>
            <a:custGeom>
              <a:avLst/>
              <a:gdLst>
                <a:gd name="T0" fmla="*/ 1568 w 1616"/>
                <a:gd name="T1" fmla="*/ 45 h 45"/>
                <a:gd name="T2" fmla="*/ 47 w 1616"/>
                <a:gd name="T3" fmla="*/ 45 h 45"/>
                <a:gd name="T4" fmla="*/ 0 w 1616"/>
                <a:gd name="T5" fmla="*/ 0 h 45"/>
                <a:gd name="T6" fmla="*/ 1616 w 1616"/>
                <a:gd name="T7" fmla="*/ 0 h 45"/>
                <a:gd name="T8" fmla="*/ 1568 w 1616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6" h="45">
                  <a:moveTo>
                    <a:pt x="1568" y="45"/>
                  </a:moveTo>
                  <a:lnTo>
                    <a:pt x="47" y="45"/>
                  </a:lnTo>
                  <a:lnTo>
                    <a:pt x="0" y="0"/>
                  </a:lnTo>
                  <a:lnTo>
                    <a:pt x="1616" y="0"/>
                  </a:lnTo>
                  <a:lnTo>
                    <a:pt x="1568" y="4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942705" y="509703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智能库存优化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42705" y="386767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 b="1">
                <a:solidFill>
                  <a:schemeClr val="bg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02-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全渠道融合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942705" y="286183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 b="1">
                <a:solidFill>
                  <a:schemeClr val="bg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03-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数字化赋能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42705" y="203887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 b="1">
                <a:solidFill>
                  <a:schemeClr val="bg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04-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数字驱动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14304" y="1303484"/>
            <a:ext cx="139463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战略价值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14304" y="1642689"/>
            <a:ext cx="1723245" cy="98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通过四维数字化改造，预计年运营成本降低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，人效提升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，顾客满意度指标突破行业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水平。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32896" y="3001498"/>
            <a:ext cx="1836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1" name="三角形 70"/>
          <p:cNvSpPr/>
          <p:nvPr/>
        </p:nvSpPr>
        <p:spPr>
          <a:xfrm rot="10800000">
            <a:off x="4763463" y="1177690"/>
            <a:ext cx="2755797" cy="4167943"/>
          </a:xfrm>
          <a:prstGeom prst="triangle">
            <a:avLst>
              <a:gd name="adj" fmla="val 0"/>
            </a:avLst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 flipH="1">
            <a:off x="6002262" y="1303484"/>
            <a:ext cx="1394638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实施保障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 flipH="1">
            <a:off x="5673655" y="1642689"/>
            <a:ext cx="1723245" cy="98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accent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设立数字化转型办公室，每双周跟进进度，开批投入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万元专项资金，确保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个月内全面着地。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 flipH="1">
            <a:off x="5556237" y="3001498"/>
            <a:ext cx="1836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600" b="1">
                <a:solidFill>
                  <a:schemeClr val="accent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16%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77" name="直线连接符 76"/>
          <p:cNvCxnSpPr/>
          <p:nvPr/>
        </p:nvCxnSpPr>
        <p:spPr>
          <a:xfrm>
            <a:off x="693355" y="2762172"/>
            <a:ext cx="10440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/>
          <p:cNvCxnSpPr/>
          <p:nvPr/>
        </p:nvCxnSpPr>
        <p:spPr>
          <a:xfrm>
            <a:off x="6261035" y="2762172"/>
            <a:ext cx="10440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任意多边形: 形状 25"/>
          <p:cNvSpPr/>
          <p:nvPr/>
        </p:nvSpPr>
        <p:spPr>
          <a:xfrm>
            <a:off x="1100960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2316958" y="6079617"/>
            <a:ext cx="234355" cy="274152"/>
          </a:xfrm>
          <a:custGeom>
            <a:avLst/>
            <a:gdLst>
              <a:gd name="connsiteX0" fmla="*/ 0 w 234355"/>
              <a:gd name="connsiteY0" fmla="*/ 54830 h 274152"/>
              <a:gd name="connsiteX1" fmla="*/ 117178 w 234355"/>
              <a:gd name="connsiteY1" fmla="*/ 54830 h 274152"/>
              <a:gd name="connsiteX2" fmla="*/ 117178 w 234355"/>
              <a:gd name="connsiteY2" fmla="*/ 0 h 274152"/>
              <a:gd name="connsiteX3" fmla="*/ 234355 w 234355"/>
              <a:gd name="connsiteY3" fmla="*/ 137076 h 274152"/>
              <a:gd name="connsiteX4" fmla="*/ 117178 w 234355"/>
              <a:gd name="connsiteY4" fmla="*/ 274152 h 274152"/>
              <a:gd name="connsiteX5" fmla="*/ 117178 w 234355"/>
              <a:gd name="connsiteY5" fmla="*/ 219322 h 274152"/>
              <a:gd name="connsiteX6" fmla="*/ 0 w 234355"/>
              <a:gd name="connsiteY6" fmla="*/ 219322 h 274152"/>
              <a:gd name="connsiteX7" fmla="*/ 0 w 234355"/>
              <a:gd name="connsiteY7" fmla="*/ 54830 h 27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55" h="274152">
                <a:moveTo>
                  <a:pt x="0" y="54830"/>
                </a:moveTo>
                <a:lnTo>
                  <a:pt x="117178" y="54830"/>
                </a:lnTo>
                <a:lnTo>
                  <a:pt x="117178" y="0"/>
                </a:lnTo>
                <a:lnTo>
                  <a:pt x="234355" y="137076"/>
                </a:lnTo>
                <a:lnTo>
                  <a:pt x="117178" y="274152"/>
                </a:lnTo>
                <a:lnTo>
                  <a:pt x="117178" y="219322"/>
                </a:lnTo>
                <a:lnTo>
                  <a:pt x="0" y="219322"/>
                </a:lnTo>
                <a:lnTo>
                  <a:pt x="0" y="5483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4830" rIns="70306" bIns="5483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2648593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864591" y="6079617"/>
            <a:ext cx="234355" cy="274152"/>
          </a:xfrm>
          <a:custGeom>
            <a:avLst/>
            <a:gdLst>
              <a:gd name="connsiteX0" fmla="*/ 0 w 234355"/>
              <a:gd name="connsiteY0" fmla="*/ 54830 h 274152"/>
              <a:gd name="connsiteX1" fmla="*/ 117178 w 234355"/>
              <a:gd name="connsiteY1" fmla="*/ 54830 h 274152"/>
              <a:gd name="connsiteX2" fmla="*/ 117178 w 234355"/>
              <a:gd name="connsiteY2" fmla="*/ 0 h 274152"/>
              <a:gd name="connsiteX3" fmla="*/ 234355 w 234355"/>
              <a:gd name="connsiteY3" fmla="*/ 137076 h 274152"/>
              <a:gd name="connsiteX4" fmla="*/ 117178 w 234355"/>
              <a:gd name="connsiteY4" fmla="*/ 274152 h 274152"/>
              <a:gd name="connsiteX5" fmla="*/ 117178 w 234355"/>
              <a:gd name="connsiteY5" fmla="*/ 219322 h 274152"/>
              <a:gd name="connsiteX6" fmla="*/ 0 w 234355"/>
              <a:gd name="connsiteY6" fmla="*/ 219322 h 274152"/>
              <a:gd name="connsiteX7" fmla="*/ 0 w 234355"/>
              <a:gd name="connsiteY7" fmla="*/ 54830 h 27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55" h="274152">
                <a:moveTo>
                  <a:pt x="0" y="54830"/>
                </a:moveTo>
                <a:lnTo>
                  <a:pt x="117178" y="54830"/>
                </a:lnTo>
                <a:lnTo>
                  <a:pt x="117178" y="0"/>
                </a:lnTo>
                <a:lnTo>
                  <a:pt x="234355" y="137076"/>
                </a:lnTo>
                <a:lnTo>
                  <a:pt x="117178" y="274152"/>
                </a:lnTo>
                <a:lnTo>
                  <a:pt x="117178" y="219322"/>
                </a:lnTo>
                <a:lnTo>
                  <a:pt x="0" y="219322"/>
                </a:lnTo>
                <a:lnTo>
                  <a:pt x="0" y="5483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4830" rIns="70306" bIns="5483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4196227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5412225" y="6079617"/>
            <a:ext cx="234355" cy="274152"/>
          </a:xfrm>
          <a:custGeom>
            <a:avLst/>
            <a:gdLst>
              <a:gd name="connsiteX0" fmla="*/ 0 w 234355"/>
              <a:gd name="connsiteY0" fmla="*/ 54830 h 274152"/>
              <a:gd name="connsiteX1" fmla="*/ 117178 w 234355"/>
              <a:gd name="connsiteY1" fmla="*/ 54830 h 274152"/>
              <a:gd name="connsiteX2" fmla="*/ 117178 w 234355"/>
              <a:gd name="connsiteY2" fmla="*/ 0 h 274152"/>
              <a:gd name="connsiteX3" fmla="*/ 234355 w 234355"/>
              <a:gd name="connsiteY3" fmla="*/ 137076 h 274152"/>
              <a:gd name="connsiteX4" fmla="*/ 117178 w 234355"/>
              <a:gd name="connsiteY4" fmla="*/ 274152 h 274152"/>
              <a:gd name="connsiteX5" fmla="*/ 117178 w 234355"/>
              <a:gd name="connsiteY5" fmla="*/ 219322 h 274152"/>
              <a:gd name="connsiteX6" fmla="*/ 0 w 234355"/>
              <a:gd name="connsiteY6" fmla="*/ 219322 h 274152"/>
              <a:gd name="connsiteX7" fmla="*/ 0 w 234355"/>
              <a:gd name="connsiteY7" fmla="*/ 54830 h 27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55" h="274152">
                <a:moveTo>
                  <a:pt x="0" y="54830"/>
                </a:moveTo>
                <a:lnTo>
                  <a:pt x="117178" y="54830"/>
                </a:lnTo>
                <a:lnTo>
                  <a:pt x="117178" y="0"/>
                </a:lnTo>
                <a:lnTo>
                  <a:pt x="234355" y="137076"/>
                </a:lnTo>
                <a:lnTo>
                  <a:pt x="117178" y="274152"/>
                </a:lnTo>
                <a:lnTo>
                  <a:pt x="117178" y="219322"/>
                </a:lnTo>
                <a:lnTo>
                  <a:pt x="0" y="219322"/>
                </a:lnTo>
                <a:lnTo>
                  <a:pt x="0" y="5483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4830" rIns="70306" bIns="5483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5743861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88925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企业运营改进计划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8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圆顶角 6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978914" y="1177694"/>
            <a:ext cx="3757951" cy="1273403"/>
            <a:chOff x="7978914" y="1177694"/>
            <a:chExt cx="3757951" cy="1302492"/>
          </a:xfrm>
        </p:grpSpPr>
        <p:sp>
          <p:nvSpPr>
            <p:cNvPr id="28" name="圆角矩形 27"/>
            <p:cNvSpPr/>
            <p:nvPr/>
          </p:nvSpPr>
          <p:spPr>
            <a:xfrm>
              <a:off x="7978914" y="1177694"/>
              <a:ext cx="3757950" cy="1234180"/>
            </a:xfrm>
            <a:prstGeom prst="roundRect">
              <a:avLst>
                <a:gd name="adj" fmla="val 5356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082107" y="1244246"/>
              <a:ext cx="2590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01-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智能库存优化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1" name="Freeform 75"/>
            <p:cNvSpPr/>
            <p:nvPr/>
          </p:nvSpPr>
          <p:spPr>
            <a:xfrm flipH="1">
              <a:off x="7978914" y="1246005"/>
              <a:ext cx="3757951" cy="1234181"/>
            </a:xfrm>
            <a:custGeom>
              <a:avLst/>
              <a:gdLst/>
              <a:ahLst/>
              <a:cxnLst/>
              <a:rect l="0" t="0" r="0" b="0"/>
              <a:pathLst>
                <a:path w="3757951" h="1234181">
                  <a:moveTo>
                    <a:pt x="988966" y="0"/>
                  </a:moveTo>
                  <a:lnTo>
                    <a:pt x="66103" y="0"/>
                  </a:lnTo>
                  <a:cubicBezTo>
                    <a:pt x="29595" y="0"/>
                    <a:pt x="0" y="29595"/>
                    <a:pt x="0" y="66103"/>
                  </a:cubicBezTo>
                  <a:lnTo>
                    <a:pt x="0" y="1168077"/>
                  </a:lnTo>
                  <a:cubicBezTo>
                    <a:pt x="0" y="1204585"/>
                    <a:pt x="29595" y="1234180"/>
                    <a:pt x="66103" y="1234180"/>
                  </a:cubicBezTo>
                  <a:lnTo>
                    <a:pt x="3691847" y="1234180"/>
                  </a:lnTo>
                  <a:cubicBezTo>
                    <a:pt x="3728355" y="1234180"/>
                    <a:pt x="3757950" y="1204585"/>
                    <a:pt x="3757950" y="1168077"/>
                  </a:cubicBezTo>
                  <a:lnTo>
                    <a:pt x="3757950" y="583799"/>
                  </a:lnTo>
                  <a:cubicBezTo>
                    <a:pt x="3757950" y="464567"/>
                    <a:pt x="3661182" y="367799"/>
                    <a:pt x="3541950" y="367799"/>
                  </a:cubicBezTo>
                  <a:lnTo>
                    <a:pt x="1535705" y="367799"/>
                  </a:lnTo>
                  <a:cubicBezTo>
                    <a:pt x="1478444" y="367799"/>
                    <a:pt x="1423459" y="345024"/>
                    <a:pt x="1382970" y="304534"/>
                  </a:cubicBezTo>
                  <a:lnTo>
                    <a:pt x="1141701" y="63265"/>
                  </a:lnTo>
                  <a:cubicBezTo>
                    <a:pt x="1101212" y="22775"/>
                    <a:pt x="1046227" y="0"/>
                    <a:pt x="988966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27000" dist="127000" dir="13500000" sx="97000" sy="97000" algn="b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164650" y="1746877"/>
              <a:ext cx="3397430" cy="631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部署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需求预测系统，整合历史销售、天气等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15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项数据，将库存周转率从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天缩短至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28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天，滞销品占比降至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5%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以下。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33" name="圆角矩形 27"/>
          <p:cNvSpPr/>
          <p:nvPr/>
        </p:nvSpPr>
        <p:spPr>
          <a:xfrm>
            <a:off x="7978914" y="2517544"/>
            <a:ext cx="3757950" cy="1206617"/>
          </a:xfrm>
          <a:prstGeom prst="roundRect">
            <a:avLst>
              <a:gd name="adj" fmla="val 5356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082107" y="2582610"/>
            <a:ext cx="2590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全渠道融合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5" name="Freeform 75"/>
          <p:cNvSpPr/>
          <p:nvPr/>
        </p:nvSpPr>
        <p:spPr>
          <a:xfrm flipH="1">
            <a:off x="7978914" y="2584329"/>
            <a:ext cx="3757951" cy="1206618"/>
          </a:xfrm>
          <a:custGeom>
            <a:avLst/>
            <a:gdLst/>
            <a:ahLst/>
            <a:cxnLst/>
            <a:rect l="0" t="0" r="0" b="0"/>
            <a:pathLst>
              <a:path w="3757951" h="1234181">
                <a:moveTo>
                  <a:pt x="988966" y="0"/>
                </a:moveTo>
                <a:lnTo>
                  <a:pt x="66103" y="0"/>
                </a:lnTo>
                <a:cubicBezTo>
                  <a:pt x="29595" y="0"/>
                  <a:pt x="0" y="29595"/>
                  <a:pt x="0" y="66103"/>
                </a:cubicBezTo>
                <a:lnTo>
                  <a:pt x="0" y="1168077"/>
                </a:lnTo>
                <a:cubicBezTo>
                  <a:pt x="0" y="1204585"/>
                  <a:pt x="29595" y="1234180"/>
                  <a:pt x="66103" y="1234180"/>
                </a:cubicBezTo>
                <a:lnTo>
                  <a:pt x="3691847" y="1234180"/>
                </a:lnTo>
                <a:cubicBezTo>
                  <a:pt x="3728355" y="1234180"/>
                  <a:pt x="3757950" y="1204585"/>
                  <a:pt x="3757950" y="1168077"/>
                </a:cubicBezTo>
                <a:lnTo>
                  <a:pt x="3757950" y="583799"/>
                </a:lnTo>
                <a:cubicBezTo>
                  <a:pt x="3757950" y="464567"/>
                  <a:pt x="3661182" y="367799"/>
                  <a:pt x="3541950" y="367799"/>
                </a:cubicBezTo>
                <a:lnTo>
                  <a:pt x="1535705" y="367799"/>
                </a:lnTo>
                <a:cubicBezTo>
                  <a:pt x="1478444" y="367799"/>
                  <a:pt x="1423459" y="345024"/>
                  <a:pt x="1382970" y="304534"/>
                </a:cubicBezTo>
                <a:lnTo>
                  <a:pt x="1141701" y="63265"/>
                </a:lnTo>
                <a:cubicBezTo>
                  <a:pt x="1101212" y="22775"/>
                  <a:pt x="1046227" y="0"/>
                  <a:pt x="988966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  <a:effectLst>
            <a:outerShdw blurRad="127000" dist="127000" dir="13500000" sx="97000" sy="97000" algn="b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8164650" y="3074015"/>
            <a:ext cx="3397430" cy="446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升级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OMS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订单管理系统，实现线下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家门店与电商平台实时库存共享，订单履约时效压缩至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小时内。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7978914" y="3857394"/>
            <a:ext cx="3757951" cy="1273403"/>
            <a:chOff x="7978914" y="1177694"/>
            <a:chExt cx="3757951" cy="1302492"/>
          </a:xfrm>
        </p:grpSpPr>
        <p:sp>
          <p:nvSpPr>
            <p:cNvPr id="138" name="圆角矩形 27"/>
            <p:cNvSpPr/>
            <p:nvPr/>
          </p:nvSpPr>
          <p:spPr>
            <a:xfrm>
              <a:off x="7978914" y="1177694"/>
              <a:ext cx="3757950" cy="1234180"/>
            </a:xfrm>
            <a:prstGeom prst="roundRect">
              <a:avLst>
                <a:gd name="adj" fmla="val 5356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8082107" y="1244246"/>
              <a:ext cx="2590236" cy="34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03-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数字化赋能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0" name="Freeform 75"/>
            <p:cNvSpPr/>
            <p:nvPr/>
          </p:nvSpPr>
          <p:spPr>
            <a:xfrm flipH="1">
              <a:off x="7978914" y="1246005"/>
              <a:ext cx="3757951" cy="1234181"/>
            </a:xfrm>
            <a:custGeom>
              <a:avLst/>
              <a:gdLst/>
              <a:ahLst/>
              <a:cxnLst/>
              <a:rect l="0" t="0" r="0" b="0"/>
              <a:pathLst>
                <a:path w="3757951" h="1234181">
                  <a:moveTo>
                    <a:pt x="988966" y="0"/>
                  </a:moveTo>
                  <a:lnTo>
                    <a:pt x="66103" y="0"/>
                  </a:lnTo>
                  <a:cubicBezTo>
                    <a:pt x="29595" y="0"/>
                    <a:pt x="0" y="29595"/>
                    <a:pt x="0" y="66103"/>
                  </a:cubicBezTo>
                  <a:lnTo>
                    <a:pt x="0" y="1168077"/>
                  </a:lnTo>
                  <a:cubicBezTo>
                    <a:pt x="0" y="1204585"/>
                    <a:pt x="29595" y="1234180"/>
                    <a:pt x="66103" y="1234180"/>
                  </a:cubicBezTo>
                  <a:lnTo>
                    <a:pt x="3691847" y="1234180"/>
                  </a:lnTo>
                  <a:cubicBezTo>
                    <a:pt x="3728355" y="1234180"/>
                    <a:pt x="3757950" y="1204585"/>
                    <a:pt x="3757950" y="1168077"/>
                  </a:cubicBezTo>
                  <a:lnTo>
                    <a:pt x="3757950" y="583799"/>
                  </a:lnTo>
                  <a:cubicBezTo>
                    <a:pt x="3757950" y="464567"/>
                    <a:pt x="3661182" y="367799"/>
                    <a:pt x="3541950" y="367799"/>
                  </a:cubicBezTo>
                  <a:lnTo>
                    <a:pt x="1535705" y="367799"/>
                  </a:lnTo>
                  <a:cubicBezTo>
                    <a:pt x="1478444" y="367799"/>
                    <a:pt x="1423459" y="345024"/>
                    <a:pt x="1382970" y="304534"/>
                  </a:cubicBezTo>
                  <a:lnTo>
                    <a:pt x="1141701" y="63265"/>
                  </a:lnTo>
                  <a:cubicBezTo>
                    <a:pt x="1101212" y="22775"/>
                    <a:pt x="1046227" y="0"/>
                    <a:pt x="988966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27000" dist="127000" dir="13500000" sx="97000" sy="97000" algn="b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8164650" y="1746877"/>
              <a:ext cx="3397430" cy="457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开发移动平台，上线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门数字化课程，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个月内完成全员培训，关键岗位认证痛过率目标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90%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7978914" y="5197244"/>
            <a:ext cx="3757951" cy="1273403"/>
            <a:chOff x="7978914" y="1177694"/>
            <a:chExt cx="3757951" cy="1302492"/>
          </a:xfrm>
        </p:grpSpPr>
        <p:sp>
          <p:nvSpPr>
            <p:cNvPr id="143" name="圆角矩形 27"/>
            <p:cNvSpPr/>
            <p:nvPr/>
          </p:nvSpPr>
          <p:spPr>
            <a:xfrm>
              <a:off x="7978914" y="1177694"/>
              <a:ext cx="3757950" cy="1234180"/>
            </a:xfrm>
            <a:prstGeom prst="roundRect">
              <a:avLst>
                <a:gd name="adj" fmla="val 5356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8082107" y="1244246"/>
              <a:ext cx="2590236" cy="34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04-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数字驱动决策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Freeform 75"/>
            <p:cNvSpPr/>
            <p:nvPr/>
          </p:nvSpPr>
          <p:spPr>
            <a:xfrm flipH="1">
              <a:off x="7978914" y="1246005"/>
              <a:ext cx="3757951" cy="1234181"/>
            </a:xfrm>
            <a:custGeom>
              <a:avLst/>
              <a:gdLst/>
              <a:ahLst/>
              <a:cxnLst/>
              <a:rect l="0" t="0" r="0" b="0"/>
              <a:pathLst>
                <a:path w="3757951" h="1234181">
                  <a:moveTo>
                    <a:pt x="988966" y="0"/>
                  </a:moveTo>
                  <a:lnTo>
                    <a:pt x="66103" y="0"/>
                  </a:lnTo>
                  <a:cubicBezTo>
                    <a:pt x="29595" y="0"/>
                    <a:pt x="0" y="29595"/>
                    <a:pt x="0" y="66103"/>
                  </a:cubicBezTo>
                  <a:lnTo>
                    <a:pt x="0" y="1168077"/>
                  </a:lnTo>
                  <a:cubicBezTo>
                    <a:pt x="0" y="1204585"/>
                    <a:pt x="29595" y="1234180"/>
                    <a:pt x="66103" y="1234180"/>
                  </a:cubicBezTo>
                  <a:lnTo>
                    <a:pt x="3691847" y="1234180"/>
                  </a:lnTo>
                  <a:cubicBezTo>
                    <a:pt x="3728355" y="1234180"/>
                    <a:pt x="3757950" y="1204585"/>
                    <a:pt x="3757950" y="1168077"/>
                  </a:cubicBezTo>
                  <a:lnTo>
                    <a:pt x="3757950" y="583799"/>
                  </a:lnTo>
                  <a:cubicBezTo>
                    <a:pt x="3757950" y="464567"/>
                    <a:pt x="3661182" y="367799"/>
                    <a:pt x="3541950" y="367799"/>
                  </a:cubicBezTo>
                  <a:lnTo>
                    <a:pt x="1535705" y="367799"/>
                  </a:lnTo>
                  <a:cubicBezTo>
                    <a:pt x="1478444" y="367799"/>
                    <a:pt x="1423459" y="345024"/>
                    <a:pt x="1382970" y="304534"/>
                  </a:cubicBezTo>
                  <a:lnTo>
                    <a:pt x="1141701" y="63265"/>
                  </a:lnTo>
                  <a:cubicBezTo>
                    <a:pt x="1101212" y="22775"/>
                    <a:pt x="1046227" y="0"/>
                    <a:pt x="988966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27000" dist="127000" dir="13500000" sx="97000" sy="97000" algn="b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8164650" y="1746877"/>
              <a:ext cx="3397430" cy="457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搭建数据看板，整合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12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个业务系统数据，每日自动生成运营报告，管理层决策响应速度提升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60%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8" name="Google Shape;5013;p75"/>
          <p:cNvSpPr/>
          <p:nvPr/>
        </p:nvSpPr>
        <p:spPr>
          <a:xfrm>
            <a:off x="10633075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9" name="Google Shape;5014;p75"/>
          <p:cNvSpPr/>
          <p:nvPr/>
        </p:nvSpPr>
        <p:spPr>
          <a:xfrm>
            <a:off x="10689958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0" name="Google Shape;5015;p75"/>
          <p:cNvSpPr/>
          <p:nvPr/>
        </p:nvSpPr>
        <p:spPr>
          <a:xfrm>
            <a:off x="10746841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Google Shape;5016;p75"/>
          <p:cNvSpPr/>
          <p:nvPr/>
        </p:nvSpPr>
        <p:spPr>
          <a:xfrm>
            <a:off x="10803724" y="1389186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Google Shape;5017;p75"/>
          <p:cNvSpPr/>
          <p:nvPr/>
        </p:nvSpPr>
        <p:spPr>
          <a:xfrm>
            <a:off x="10860612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3" name="Google Shape;5018;p75"/>
          <p:cNvSpPr/>
          <p:nvPr/>
        </p:nvSpPr>
        <p:spPr>
          <a:xfrm>
            <a:off x="10917494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4" name="Google Shape;5019;p75"/>
          <p:cNvSpPr/>
          <p:nvPr/>
        </p:nvSpPr>
        <p:spPr>
          <a:xfrm>
            <a:off x="10974377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5" name="Google Shape;5020;p75"/>
          <p:cNvSpPr/>
          <p:nvPr/>
        </p:nvSpPr>
        <p:spPr>
          <a:xfrm>
            <a:off x="11031260" y="1389186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6" name="Google Shape;5021;p75"/>
          <p:cNvSpPr/>
          <p:nvPr/>
        </p:nvSpPr>
        <p:spPr>
          <a:xfrm>
            <a:off x="11088148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Google Shape;5022;p75"/>
          <p:cNvSpPr/>
          <p:nvPr/>
        </p:nvSpPr>
        <p:spPr>
          <a:xfrm>
            <a:off x="11145031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Google Shape;5023;p75"/>
          <p:cNvSpPr/>
          <p:nvPr/>
        </p:nvSpPr>
        <p:spPr>
          <a:xfrm>
            <a:off x="11201914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9" name="Google Shape;5024;p75"/>
          <p:cNvSpPr/>
          <p:nvPr/>
        </p:nvSpPr>
        <p:spPr>
          <a:xfrm>
            <a:off x="11258797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0" name="Google Shape;5025;p75"/>
          <p:cNvSpPr/>
          <p:nvPr/>
        </p:nvSpPr>
        <p:spPr>
          <a:xfrm>
            <a:off x="11315680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Google Shape;5026;p75"/>
          <p:cNvSpPr/>
          <p:nvPr/>
        </p:nvSpPr>
        <p:spPr>
          <a:xfrm>
            <a:off x="11372563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2" name="Google Shape;5027;p75"/>
          <p:cNvSpPr/>
          <p:nvPr/>
        </p:nvSpPr>
        <p:spPr>
          <a:xfrm>
            <a:off x="11429446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3" name="Google Shape;5028;p75"/>
          <p:cNvSpPr/>
          <p:nvPr/>
        </p:nvSpPr>
        <p:spPr>
          <a:xfrm>
            <a:off x="11486328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4" name="Google Shape;5029;p75"/>
          <p:cNvSpPr/>
          <p:nvPr/>
        </p:nvSpPr>
        <p:spPr>
          <a:xfrm>
            <a:off x="11543211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5" name="Google Shape;5030;p75"/>
          <p:cNvSpPr/>
          <p:nvPr/>
        </p:nvSpPr>
        <p:spPr>
          <a:xfrm>
            <a:off x="11600094" y="1389186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6" name="Google Shape;5013;p75"/>
          <p:cNvSpPr/>
          <p:nvPr/>
        </p:nvSpPr>
        <p:spPr>
          <a:xfrm>
            <a:off x="10633075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7" name="Google Shape;5014;p75"/>
          <p:cNvSpPr/>
          <p:nvPr/>
        </p:nvSpPr>
        <p:spPr>
          <a:xfrm>
            <a:off x="10689958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Google Shape;5015;p75"/>
          <p:cNvSpPr/>
          <p:nvPr/>
        </p:nvSpPr>
        <p:spPr>
          <a:xfrm>
            <a:off x="10746841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9" name="Google Shape;5016;p75"/>
          <p:cNvSpPr/>
          <p:nvPr/>
        </p:nvSpPr>
        <p:spPr>
          <a:xfrm>
            <a:off x="10803724" y="27338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0" name="Google Shape;5017;p75"/>
          <p:cNvSpPr/>
          <p:nvPr/>
        </p:nvSpPr>
        <p:spPr>
          <a:xfrm>
            <a:off x="10860612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1" name="Google Shape;5018;p75"/>
          <p:cNvSpPr/>
          <p:nvPr/>
        </p:nvSpPr>
        <p:spPr>
          <a:xfrm>
            <a:off x="10917494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Google Shape;5019;p75"/>
          <p:cNvSpPr/>
          <p:nvPr/>
        </p:nvSpPr>
        <p:spPr>
          <a:xfrm>
            <a:off x="10974377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3" name="Google Shape;5020;p75"/>
          <p:cNvSpPr/>
          <p:nvPr/>
        </p:nvSpPr>
        <p:spPr>
          <a:xfrm>
            <a:off x="11031260" y="27338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4" name="Google Shape;5021;p75"/>
          <p:cNvSpPr/>
          <p:nvPr/>
        </p:nvSpPr>
        <p:spPr>
          <a:xfrm>
            <a:off x="11088148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Google Shape;5022;p75"/>
          <p:cNvSpPr/>
          <p:nvPr/>
        </p:nvSpPr>
        <p:spPr>
          <a:xfrm>
            <a:off x="11145031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Google Shape;5023;p75"/>
          <p:cNvSpPr/>
          <p:nvPr/>
        </p:nvSpPr>
        <p:spPr>
          <a:xfrm>
            <a:off x="11201914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7" name="Google Shape;5024;p75"/>
          <p:cNvSpPr/>
          <p:nvPr/>
        </p:nvSpPr>
        <p:spPr>
          <a:xfrm>
            <a:off x="11258797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8" name="Google Shape;5025;p75"/>
          <p:cNvSpPr/>
          <p:nvPr/>
        </p:nvSpPr>
        <p:spPr>
          <a:xfrm>
            <a:off x="11315680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9" name="Google Shape;5026;p75"/>
          <p:cNvSpPr/>
          <p:nvPr/>
        </p:nvSpPr>
        <p:spPr>
          <a:xfrm>
            <a:off x="11372563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0" name="Google Shape;5027;p75"/>
          <p:cNvSpPr/>
          <p:nvPr/>
        </p:nvSpPr>
        <p:spPr>
          <a:xfrm>
            <a:off x="11429446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1" name="Google Shape;5028;p75"/>
          <p:cNvSpPr/>
          <p:nvPr/>
        </p:nvSpPr>
        <p:spPr>
          <a:xfrm>
            <a:off x="11486328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2" name="Google Shape;5029;p75"/>
          <p:cNvSpPr/>
          <p:nvPr/>
        </p:nvSpPr>
        <p:spPr>
          <a:xfrm>
            <a:off x="11543211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3" name="Google Shape;5030;p75"/>
          <p:cNvSpPr/>
          <p:nvPr/>
        </p:nvSpPr>
        <p:spPr>
          <a:xfrm>
            <a:off x="11600094" y="27338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4" name="Google Shape;5013;p75"/>
          <p:cNvSpPr/>
          <p:nvPr/>
        </p:nvSpPr>
        <p:spPr>
          <a:xfrm>
            <a:off x="10633075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5" name="Google Shape;5014;p75"/>
          <p:cNvSpPr/>
          <p:nvPr/>
        </p:nvSpPr>
        <p:spPr>
          <a:xfrm>
            <a:off x="10689958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6" name="Google Shape;5015;p75"/>
          <p:cNvSpPr/>
          <p:nvPr/>
        </p:nvSpPr>
        <p:spPr>
          <a:xfrm>
            <a:off x="10746841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7" name="Google Shape;5016;p75"/>
          <p:cNvSpPr/>
          <p:nvPr/>
        </p:nvSpPr>
        <p:spPr>
          <a:xfrm>
            <a:off x="10803724" y="4060749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8" name="Google Shape;5017;p75"/>
          <p:cNvSpPr/>
          <p:nvPr/>
        </p:nvSpPr>
        <p:spPr>
          <a:xfrm>
            <a:off x="10860612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9" name="Google Shape;5018;p75"/>
          <p:cNvSpPr/>
          <p:nvPr/>
        </p:nvSpPr>
        <p:spPr>
          <a:xfrm>
            <a:off x="10917494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0" name="Google Shape;5019;p75"/>
          <p:cNvSpPr/>
          <p:nvPr/>
        </p:nvSpPr>
        <p:spPr>
          <a:xfrm>
            <a:off x="10974377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1" name="Google Shape;5020;p75"/>
          <p:cNvSpPr/>
          <p:nvPr/>
        </p:nvSpPr>
        <p:spPr>
          <a:xfrm>
            <a:off x="11031260" y="4060749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2" name="Google Shape;5021;p75"/>
          <p:cNvSpPr/>
          <p:nvPr/>
        </p:nvSpPr>
        <p:spPr>
          <a:xfrm>
            <a:off x="11088148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3" name="Google Shape;5022;p75"/>
          <p:cNvSpPr/>
          <p:nvPr/>
        </p:nvSpPr>
        <p:spPr>
          <a:xfrm>
            <a:off x="11145031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4" name="Google Shape;5023;p75"/>
          <p:cNvSpPr/>
          <p:nvPr/>
        </p:nvSpPr>
        <p:spPr>
          <a:xfrm>
            <a:off x="11201914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Google Shape;5024;p75"/>
          <p:cNvSpPr/>
          <p:nvPr/>
        </p:nvSpPr>
        <p:spPr>
          <a:xfrm>
            <a:off x="11258797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6" name="Google Shape;5025;p75"/>
          <p:cNvSpPr/>
          <p:nvPr/>
        </p:nvSpPr>
        <p:spPr>
          <a:xfrm>
            <a:off x="11315680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7" name="Google Shape;5026;p75"/>
          <p:cNvSpPr/>
          <p:nvPr/>
        </p:nvSpPr>
        <p:spPr>
          <a:xfrm>
            <a:off x="11372563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8" name="Google Shape;5027;p75"/>
          <p:cNvSpPr/>
          <p:nvPr/>
        </p:nvSpPr>
        <p:spPr>
          <a:xfrm>
            <a:off x="11429446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9" name="Google Shape;5028;p75"/>
          <p:cNvSpPr/>
          <p:nvPr/>
        </p:nvSpPr>
        <p:spPr>
          <a:xfrm>
            <a:off x="11486328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0" name="Google Shape;5029;p75"/>
          <p:cNvSpPr/>
          <p:nvPr/>
        </p:nvSpPr>
        <p:spPr>
          <a:xfrm>
            <a:off x="11543211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1" name="Google Shape;5030;p75"/>
          <p:cNvSpPr/>
          <p:nvPr/>
        </p:nvSpPr>
        <p:spPr>
          <a:xfrm>
            <a:off x="11600094" y="4060749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2" name="Google Shape;5013;p75"/>
          <p:cNvSpPr/>
          <p:nvPr/>
        </p:nvSpPr>
        <p:spPr>
          <a:xfrm>
            <a:off x="10633075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3" name="Google Shape;5014;p75"/>
          <p:cNvSpPr/>
          <p:nvPr/>
        </p:nvSpPr>
        <p:spPr>
          <a:xfrm>
            <a:off x="10689958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4" name="Google Shape;5015;p75"/>
          <p:cNvSpPr/>
          <p:nvPr/>
        </p:nvSpPr>
        <p:spPr>
          <a:xfrm>
            <a:off x="10746841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5" name="Google Shape;5016;p75"/>
          <p:cNvSpPr/>
          <p:nvPr/>
        </p:nvSpPr>
        <p:spPr>
          <a:xfrm>
            <a:off x="10803724" y="54135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6" name="Google Shape;5017;p75"/>
          <p:cNvSpPr/>
          <p:nvPr/>
        </p:nvSpPr>
        <p:spPr>
          <a:xfrm>
            <a:off x="10860612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7" name="Google Shape;5018;p75"/>
          <p:cNvSpPr/>
          <p:nvPr/>
        </p:nvSpPr>
        <p:spPr>
          <a:xfrm>
            <a:off x="10917494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8" name="Google Shape;5019;p75"/>
          <p:cNvSpPr/>
          <p:nvPr/>
        </p:nvSpPr>
        <p:spPr>
          <a:xfrm>
            <a:off x="10974377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9" name="Google Shape;5020;p75"/>
          <p:cNvSpPr/>
          <p:nvPr/>
        </p:nvSpPr>
        <p:spPr>
          <a:xfrm>
            <a:off x="11031260" y="54135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0" name="Google Shape;5021;p75"/>
          <p:cNvSpPr/>
          <p:nvPr/>
        </p:nvSpPr>
        <p:spPr>
          <a:xfrm>
            <a:off x="11088148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1" name="Google Shape;5022;p75"/>
          <p:cNvSpPr/>
          <p:nvPr/>
        </p:nvSpPr>
        <p:spPr>
          <a:xfrm>
            <a:off x="11145031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2" name="Google Shape;5023;p75"/>
          <p:cNvSpPr/>
          <p:nvPr/>
        </p:nvSpPr>
        <p:spPr>
          <a:xfrm>
            <a:off x="11201914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3" name="Google Shape;5024;p75"/>
          <p:cNvSpPr/>
          <p:nvPr/>
        </p:nvSpPr>
        <p:spPr>
          <a:xfrm>
            <a:off x="11258797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4" name="Google Shape;5025;p75"/>
          <p:cNvSpPr/>
          <p:nvPr/>
        </p:nvSpPr>
        <p:spPr>
          <a:xfrm>
            <a:off x="11315680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Google Shape;5026;p75"/>
          <p:cNvSpPr/>
          <p:nvPr/>
        </p:nvSpPr>
        <p:spPr>
          <a:xfrm>
            <a:off x="11372563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6" name="Google Shape;5027;p75"/>
          <p:cNvSpPr/>
          <p:nvPr/>
        </p:nvSpPr>
        <p:spPr>
          <a:xfrm>
            <a:off x="11429446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7" name="Google Shape;5028;p75"/>
          <p:cNvSpPr/>
          <p:nvPr/>
        </p:nvSpPr>
        <p:spPr>
          <a:xfrm>
            <a:off x="11486328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8" name="Google Shape;5029;p75"/>
          <p:cNvSpPr/>
          <p:nvPr/>
        </p:nvSpPr>
        <p:spPr>
          <a:xfrm>
            <a:off x="11543211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9" name="Google Shape;5030;p75"/>
          <p:cNvSpPr/>
          <p:nvPr/>
        </p:nvSpPr>
        <p:spPr>
          <a:xfrm>
            <a:off x="11600094" y="54135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 flipH="1">
            <a:off x="549275" y="3887154"/>
            <a:ext cx="649063" cy="1162569"/>
            <a:chOff x="8396101" y="-1861777"/>
            <a:chExt cx="837343" cy="1499808"/>
          </a:xfrm>
        </p:grpSpPr>
        <p:sp>
          <p:nvSpPr>
            <p:cNvPr id="237" name="Google Shape;5204;p75"/>
            <p:cNvSpPr/>
            <p:nvPr/>
          </p:nvSpPr>
          <p:spPr>
            <a:xfrm flipH="1">
              <a:off x="9033319" y="-714751"/>
              <a:ext cx="200125" cy="352782"/>
            </a:xfrm>
            <a:custGeom>
              <a:avLst/>
              <a:gdLst/>
              <a:ahLst/>
              <a:cxnLst/>
              <a:rect l="l" t="t" r="r" b="b"/>
              <a:pathLst>
                <a:path w="14992" h="26428" extrusionOk="0">
                  <a:moveTo>
                    <a:pt x="31" y="0"/>
                  </a:moveTo>
                  <a:cubicBezTo>
                    <a:pt x="25" y="0"/>
                    <a:pt x="19" y="0"/>
                    <a:pt x="13" y="0"/>
                  </a:cubicBezTo>
                  <a:lnTo>
                    <a:pt x="0" y="0"/>
                  </a:lnTo>
                  <a:lnTo>
                    <a:pt x="0" y="26407"/>
                  </a:lnTo>
                  <a:lnTo>
                    <a:pt x="13" y="26427"/>
                  </a:lnTo>
                  <a:lnTo>
                    <a:pt x="14992" y="1860"/>
                  </a:lnTo>
                  <a:cubicBezTo>
                    <a:pt x="10391" y="663"/>
                    <a:pt x="5335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3" name="Google Shape;5209;p75"/>
            <p:cNvSpPr/>
            <p:nvPr/>
          </p:nvSpPr>
          <p:spPr>
            <a:xfrm flipH="1">
              <a:off x="8833607" y="-1082115"/>
              <a:ext cx="399823" cy="352022"/>
            </a:xfrm>
            <a:custGeom>
              <a:avLst/>
              <a:gdLst/>
              <a:ahLst/>
              <a:cxnLst/>
              <a:rect l="l" t="t" r="r" b="b"/>
              <a:pathLst>
                <a:path w="29952" h="26371" extrusionOk="0">
                  <a:moveTo>
                    <a:pt x="1" y="0"/>
                  </a:moveTo>
                  <a:lnTo>
                    <a:pt x="1" y="24234"/>
                  </a:lnTo>
                  <a:lnTo>
                    <a:pt x="14" y="24234"/>
                  </a:lnTo>
                  <a:cubicBezTo>
                    <a:pt x="14" y="24234"/>
                    <a:pt x="203" y="24229"/>
                    <a:pt x="558" y="24229"/>
                  </a:cubicBezTo>
                  <a:cubicBezTo>
                    <a:pt x="2473" y="24229"/>
                    <a:pt x="9215" y="24384"/>
                    <a:pt x="17213" y="26370"/>
                  </a:cubicBezTo>
                  <a:lnTo>
                    <a:pt x="29952" y="5713"/>
                  </a:lnTo>
                  <a:cubicBezTo>
                    <a:pt x="29952" y="5713"/>
                    <a:pt x="20827" y="0"/>
                    <a:pt x="14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9" name="Google Shape;5214;p75"/>
            <p:cNvSpPr/>
            <p:nvPr/>
          </p:nvSpPr>
          <p:spPr>
            <a:xfrm flipH="1">
              <a:off x="8635912" y="-1459691"/>
              <a:ext cx="597518" cy="408940"/>
            </a:xfrm>
            <a:custGeom>
              <a:avLst/>
              <a:gdLst/>
              <a:ahLst/>
              <a:cxnLst/>
              <a:rect l="l" t="t" r="r" b="b"/>
              <a:pathLst>
                <a:path w="44762" h="30635" extrusionOk="0">
                  <a:moveTo>
                    <a:pt x="1" y="1"/>
                  </a:moveTo>
                  <a:lnTo>
                    <a:pt x="1" y="24648"/>
                  </a:lnTo>
                  <a:lnTo>
                    <a:pt x="14" y="24648"/>
                  </a:lnTo>
                  <a:cubicBezTo>
                    <a:pt x="5607" y="24648"/>
                    <a:pt x="18560" y="25130"/>
                    <a:pt x="31390" y="30635"/>
                  </a:cubicBezTo>
                  <a:lnTo>
                    <a:pt x="44761" y="10327"/>
                  </a:lnTo>
                  <a:cubicBezTo>
                    <a:pt x="44761" y="10327"/>
                    <a:pt x="27304" y="1"/>
                    <a:pt x="14" y="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5" name="Google Shape;5219;p75"/>
            <p:cNvSpPr/>
            <p:nvPr/>
          </p:nvSpPr>
          <p:spPr>
            <a:xfrm flipH="1">
              <a:off x="8396101" y="-1861777"/>
              <a:ext cx="837329" cy="491089"/>
            </a:xfrm>
            <a:custGeom>
              <a:avLst/>
              <a:gdLst/>
              <a:ahLst/>
              <a:cxnLst/>
              <a:rect l="l" t="t" r="r" b="b"/>
              <a:pathLst>
                <a:path w="62727" h="36789" extrusionOk="0">
                  <a:moveTo>
                    <a:pt x="1" y="1"/>
                  </a:moveTo>
                  <a:lnTo>
                    <a:pt x="1" y="25976"/>
                  </a:lnTo>
                  <a:lnTo>
                    <a:pt x="17" y="25976"/>
                  </a:lnTo>
                  <a:cubicBezTo>
                    <a:pt x="74" y="25976"/>
                    <a:pt x="588" y="25960"/>
                    <a:pt x="1487" y="25960"/>
                  </a:cubicBezTo>
                  <a:cubicBezTo>
                    <a:pt x="7235" y="25960"/>
                    <a:pt x="28709" y="26646"/>
                    <a:pt x="46867" y="36789"/>
                  </a:cubicBezTo>
                  <a:lnTo>
                    <a:pt x="62726" y="12728"/>
                  </a:lnTo>
                  <a:cubicBezTo>
                    <a:pt x="62726" y="12728"/>
                    <a:pt x="39312" y="2"/>
                    <a:pt x="17" y="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6771462" y="3887154"/>
            <a:ext cx="649063" cy="1162569"/>
            <a:chOff x="8396101" y="-1861777"/>
            <a:chExt cx="837343" cy="1499808"/>
          </a:xfrm>
        </p:grpSpPr>
        <p:sp>
          <p:nvSpPr>
            <p:cNvPr id="242" name="Google Shape;5204;p75"/>
            <p:cNvSpPr/>
            <p:nvPr/>
          </p:nvSpPr>
          <p:spPr>
            <a:xfrm flipH="1">
              <a:off x="9033319" y="-714751"/>
              <a:ext cx="200125" cy="352782"/>
            </a:xfrm>
            <a:custGeom>
              <a:avLst/>
              <a:gdLst/>
              <a:ahLst/>
              <a:cxnLst/>
              <a:rect l="l" t="t" r="r" b="b"/>
              <a:pathLst>
                <a:path w="14992" h="26428" extrusionOk="0">
                  <a:moveTo>
                    <a:pt x="31" y="0"/>
                  </a:moveTo>
                  <a:cubicBezTo>
                    <a:pt x="25" y="0"/>
                    <a:pt x="19" y="0"/>
                    <a:pt x="13" y="0"/>
                  </a:cubicBezTo>
                  <a:lnTo>
                    <a:pt x="0" y="0"/>
                  </a:lnTo>
                  <a:lnTo>
                    <a:pt x="0" y="26407"/>
                  </a:lnTo>
                  <a:lnTo>
                    <a:pt x="13" y="26427"/>
                  </a:lnTo>
                  <a:lnTo>
                    <a:pt x="14992" y="1860"/>
                  </a:lnTo>
                  <a:cubicBezTo>
                    <a:pt x="10391" y="663"/>
                    <a:pt x="5335" y="0"/>
                    <a:pt x="31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3" name="Google Shape;5209;p75"/>
            <p:cNvSpPr/>
            <p:nvPr/>
          </p:nvSpPr>
          <p:spPr>
            <a:xfrm flipH="1">
              <a:off x="8833607" y="-1082115"/>
              <a:ext cx="399823" cy="352022"/>
            </a:xfrm>
            <a:custGeom>
              <a:avLst/>
              <a:gdLst/>
              <a:ahLst/>
              <a:cxnLst/>
              <a:rect l="l" t="t" r="r" b="b"/>
              <a:pathLst>
                <a:path w="29952" h="26371" extrusionOk="0">
                  <a:moveTo>
                    <a:pt x="1" y="0"/>
                  </a:moveTo>
                  <a:lnTo>
                    <a:pt x="1" y="24234"/>
                  </a:lnTo>
                  <a:lnTo>
                    <a:pt x="14" y="24234"/>
                  </a:lnTo>
                  <a:cubicBezTo>
                    <a:pt x="14" y="24234"/>
                    <a:pt x="203" y="24229"/>
                    <a:pt x="558" y="24229"/>
                  </a:cubicBezTo>
                  <a:cubicBezTo>
                    <a:pt x="2473" y="24229"/>
                    <a:pt x="9215" y="24384"/>
                    <a:pt x="17213" y="26370"/>
                  </a:cubicBezTo>
                  <a:lnTo>
                    <a:pt x="29952" y="5713"/>
                  </a:lnTo>
                  <a:cubicBezTo>
                    <a:pt x="29952" y="5713"/>
                    <a:pt x="20827" y="0"/>
                    <a:pt x="14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4" name="Google Shape;5214;p75"/>
            <p:cNvSpPr/>
            <p:nvPr/>
          </p:nvSpPr>
          <p:spPr>
            <a:xfrm flipH="1">
              <a:off x="8635912" y="-1459691"/>
              <a:ext cx="597518" cy="408940"/>
            </a:xfrm>
            <a:custGeom>
              <a:avLst/>
              <a:gdLst/>
              <a:ahLst/>
              <a:cxnLst/>
              <a:rect l="l" t="t" r="r" b="b"/>
              <a:pathLst>
                <a:path w="44762" h="30635" extrusionOk="0">
                  <a:moveTo>
                    <a:pt x="1" y="1"/>
                  </a:moveTo>
                  <a:lnTo>
                    <a:pt x="1" y="24648"/>
                  </a:lnTo>
                  <a:lnTo>
                    <a:pt x="14" y="24648"/>
                  </a:lnTo>
                  <a:cubicBezTo>
                    <a:pt x="5607" y="24648"/>
                    <a:pt x="18560" y="25130"/>
                    <a:pt x="31390" y="30635"/>
                  </a:cubicBezTo>
                  <a:lnTo>
                    <a:pt x="44761" y="10327"/>
                  </a:lnTo>
                  <a:cubicBezTo>
                    <a:pt x="44761" y="10327"/>
                    <a:pt x="27304" y="1"/>
                    <a:pt x="14" y="1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5" name="Google Shape;5219;p75"/>
            <p:cNvSpPr/>
            <p:nvPr/>
          </p:nvSpPr>
          <p:spPr>
            <a:xfrm flipH="1">
              <a:off x="8396101" y="-1861777"/>
              <a:ext cx="837329" cy="491089"/>
            </a:xfrm>
            <a:custGeom>
              <a:avLst/>
              <a:gdLst/>
              <a:ahLst/>
              <a:cxnLst/>
              <a:rect l="l" t="t" r="r" b="b"/>
              <a:pathLst>
                <a:path w="62727" h="36789" extrusionOk="0">
                  <a:moveTo>
                    <a:pt x="1" y="1"/>
                  </a:moveTo>
                  <a:lnTo>
                    <a:pt x="1" y="25976"/>
                  </a:lnTo>
                  <a:lnTo>
                    <a:pt x="17" y="25976"/>
                  </a:lnTo>
                  <a:cubicBezTo>
                    <a:pt x="74" y="25976"/>
                    <a:pt x="588" y="25960"/>
                    <a:pt x="1487" y="25960"/>
                  </a:cubicBezTo>
                  <a:cubicBezTo>
                    <a:pt x="7235" y="25960"/>
                    <a:pt x="28709" y="26646"/>
                    <a:pt x="46867" y="36789"/>
                  </a:cubicBezTo>
                  <a:lnTo>
                    <a:pt x="62726" y="12728"/>
                  </a:lnTo>
                  <a:cubicBezTo>
                    <a:pt x="62726" y="12728"/>
                    <a:pt x="39312" y="2"/>
                    <a:pt x="17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014303" y="1226831"/>
            <a:ext cx="327532" cy="327530"/>
            <a:chOff x="10054376" y="1266904"/>
            <a:chExt cx="247386" cy="247384"/>
          </a:xfrm>
        </p:grpSpPr>
        <p:sp>
          <p:nvSpPr>
            <p:cNvPr id="246" name="椭圆 245"/>
            <p:cNvSpPr/>
            <p:nvPr/>
          </p:nvSpPr>
          <p:spPr>
            <a:xfrm>
              <a:off x="10054376" y="1266904"/>
              <a:ext cx="247386" cy="247384"/>
            </a:xfrm>
            <a:prstGeom prst="ellipse">
              <a:avLst/>
            </a:prstGeom>
            <a:solidFill>
              <a:schemeClr val="accent1">
                <a:alpha val="97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6" name="Google Shape;5700;p77"/>
            <p:cNvGrpSpPr/>
            <p:nvPr/>
          </p:nvGrpSpPr>
          <p:grpSpPr>
            <a:xfrm>
              <a:off x="10099867" y="1323069"/>
              <a:ext cx="156404" cy="135055"/>
              <a:chOff x="-42651700" y="3217825"/>
              <a:chExt cx="367600" cy="317425"/>
            </a:xfrm>
            <a:solidFill>
              <a:schemeClr val="bg1"/>
            </a:solidFill>
          </p:grpSpPr>
          <p:sp>
            <p:nvSpPr>
              <p:cNvPr id="257" name="Google Shape;5701;p77"/>
              <p:cNvSpPr/>
              <p:nvPr/>
            </p:nvSpPr>
            <p:spPr>
              <a:xfrm>
                <a:off x="-42651700" y="3239075"/>
                <a:ext cx="367600" cy="296175"/>
              </a:xfrm>
              <a:custGeom>
                <a:avLst/>
                <a:gdLst/>
                <a:ahLst/>
                <a:cxnLst/>
                <a:rect l="l" t="t" r="r" b="b"/>
                <a:pathLst>
                  <a:path w="14704" h="11847" extrusionOk="0">
                    <a:moveTo>
                      <a:pt x="7370" y="797"/>
                    </a:moveTo>
                    <a:cubicBezTo>
                      <a:pt x="8536" y="797"/>
                      <a:pt x="9694" y="1246"/>
                      <a:pt x="10576" y="2143"/>
                    </a:cubicBezTo>
                    <a:cubicBezTo>
                      <a:pt x="12340" y="3908"/>
                      <a:pt x="12340" y="6775"/>
                      <a:pt x="10576" y="8539"/>
                    </a:cubicBezTo>
                    <a:cubicBezTo>
                      <a:pt x="9757" y="9390"/>
                      <a:pt x="8623" y="9894"/>
                      <a:pt x="7363" y="9894"/>
                    </a:cubicBezTo>
                    <a:cubicBezTo>
                      <a:pt x="6102" y="9894"/>
                      <a:pt x="4937" y="9358"/>
                      <a:pt x="4118" y="8539"/>
                    </a:cubicBezTo>
                    <a:cubicBezTo>
                      <a:pt x="2353" y="6775"/>
                      <a:pt x="2353" y="3908"/>
                      <a:pt x="4118" y="2143"/>
                    </a:cubicBezTo>
                    <a:cubicBezTo>
                      <a:pt x="5031" y="1246"/>
                      <a:pt x="6205" y="797"/>
                      <a:pt x="7370" y="797"/>
                    </a:cubicBezTo>
                    <a:close/>
                    <a:moveTo>
                      <a:pt x="7326" y="1"/>
                    </a:moveTo>
                    <a:cubicBezTo>
                      <a:pt x="2091" y="1"/>
                      <a:pt x="0" y="6750"/>
                      <a:pt x="4275" y="9768"/>
                    </a:cubicBezTo>
                    <a:lnTo>
                      <a:pt x="3424" y="11280"/>
                    </a:lnTo>
                    <a:cubicBezTo>
                      <a:pt x="3298" y="11532"/>
                      <a:pt x="3487" y="11847"/>
                      <a:pt x="3771" y="11847"/>
                    </a:cubicBezTo>
                    <a:cubicBezTo>
                      <a:pt x="3929" y="11847"/>
                      <a:pt x="4086" y="11784"/>
                      <a:pt x="4118" y="11626"/>
                    </a:cubicBezTo>
                    <a:lnTo>
                      <a:pt x="5000" y="10209"/>
                    </a:lnTo>
                    <a:cubicBezTo>
                      <a:pt x="5740" y="10571"/>
                      <a:pt x="6543" y="10752"/>
                      <a:pt x="7351" y="10752"/>
                    </a:cubicBezTo>
                    <a:cubicBezTo>
                      <a:pt x="8158" y="10752"/>
                      <a:pt x="8969" y="10571"/>
                      <a:pt x="9725" y="10209"/>
                    </a:cubicBezTo>
                    <a:lnTo>
                      <a:pt x="10576" y="11626"/>
                    </a:lnTo>
                    <a:cubicBezTo>
                      <a:pt x="10671" y="11784"/>
                      <a:pt x="10828" y="11847"/>
                      <a:pt x="10923" y="11847"/>
                    </a:cubicBezTo>
                    <a:cubicBezTo>
                      <a:pt x="11238" y="11847"/>
                      <a:pt x="11458" y="11532"/>
                      <a:pt x="11301" y="11280"/>
                    </a:cubicBezTo>
                    <a:lnTo>
                      <a:pt x="10419" y="9768"/>
                    </a:lnTo>
                    <a:cubicBezTo>
                      <a:pt x="14703" y="6775"/>
                      <a:pt x="12592" y="1"/>
                      <a:pt x="7363" y="1"/>
                    </a:cubicBezTo>
                    <a:cubicBezTo>
                      <a:pt x="7350" y="1"/>
                      <a:pt x="7338" y="1"/>
                      <a:pt x="732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8" name="Google Shape;5702;p77"/>
              <p:cNvSpPr/>
              <p:nvPr/>
            </p:nvSpPr>
            <p:spPr>
              <a:xfrm>
                <a:off x="-42419600" y="3217825"/>
                <a:ext cx="106350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4" extrusionOk="0">
                    <a:moveTo>
                      <a:pt x="1355" y="0"/>
                    </a:moveTo>
                    <a:cubicBezTo>
                      <a:pt x="882" y="0"/>
                      <a:pt x="410" y="95"/>
                      <a:pt x="0" y="315"/>
                    </a:cubicBezTo>
                    <a:cubicBezTo>
                      <a:pt x="1891" y="946"/>
                      <a:pt x="3340" y="2395"/>
                      <a:pt x="3938" y="4254"/>
                    </a:cubicBezTo>
                    <a:cubicBezTo>
                      <a:pt x="4128" y="3844"/>
                      <a:pt x="4254" y="3371"/>
                      <a:pt x="4254" y="2899"/>
                    </a:cubicBezTo>
                    <a:cubicBezTo>
                      <a:pt x="4254" y="1292"/>
                      <a:pt x="2962" y="0"/>
                      <a:pt x="1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9" name="Google Shape;5703;p77"/>
              <p:cNvSpPr/>
              <p:nvPr/>
            </p:nvSpPr>
            <p:spPr>
              <a:xfrm>
                <a:off x="-42623600" y="3218600"/>
                <a:ext cx="106350" cy="1063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5" extrusionOk="0">
                    <a:moveTo>
                      <a:pt x="2931" y="1"/>
                    </a:moveTo>
                    <a:cubicBezTo>
                      <a:pt x="1292" y="1"/>
                      <a:pt x="1" y="1293"/>
                      <a:pt x="1" y="2899"/>
                    </a:cubicBezTo>
                    <a:cubicBezTo>
                      <a:pt x="1" y="3372"/>
                      <a:pt x="127" y="3845"/>
                      <a:pt x="316" y="4254"/>
                    </a:cubicBezTo>
                    <a:cubicBezTo>
                      <a:pt x="977" y="2364"/>
                      <a:pt x="2426" y="915"/>
                      <a:pt x="4254" y="316"/>
                    </a:cubicBezTo>
                    <a:cubicBezTo>
                      <a:pt x="3876" y="127"/>
                      <a:pt x="3403" y="1"/>
                      <a:pt x="29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0" name="Google Shape;5704;p77"/>
              <p:cNvSpPr/>
              <p:nvPr/>
            </p:nvSpPr>
            <p:spPr>
              <a:xfrm>
                <a:off x="-42561375" y="3279250"/>
                <a:ext cx="1859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7468" extrusionOk="0">
                    <a:moveTo>
                      <a:pt x="3781" y="1671"/>
                    </a:moveTo>
                    <a:cubicBezTo>
                      <a:pt x="4033" y="1671"/>
                      <a:pt x="4191" y="1860"/>
                      <a:pt x="4191" y="2112"/>
                    </a:cubicBezTo>
                    <a:lnTo>
                      <a:pt x="4191" y="3340"/>
                    </a:lnTo>
                    <a:lnTo>
                      <a:pt x="5388" y="3340"/>
                    </a:lnTo>
                    <a:cubicBezTo>
                      <a:pt x="5640" y="3340"/>
                      <a:pt x="5829" y="3529"/>
                      <a:pt x="5829" y="3750"/>
                    </a:cubicBezTo>
                    <a:cubicBezTo>
                      <a:pt x="5829" y="4002"/>
                      <a:pt x="5640" y="4128"/>
                      <a:pt x="5388" y="4128"/>
                    </a:cubicBezTo>
                    <a:lnTo>
                      <a:pt x="3750" y="4128"/>
                    </a:lnTo>
                    <a:cubicBezTo>
                      <a:pt x="3498" y="4128"/>
                      <a:pt x="3308" y="3939"/>
                      <a:pt x="3308" y="3750"/>
                    </a:cubicBezTo>
                    <a:lnTo>
                      <a:pt x="3308" y="2112"/>
                    </a:lnTo>
                    <a:lnTo>
                      <a:pt x="3340" y="2112"/>
                    </a:lnTo>
                    <a:cubicBezTo>
                      <a:pt x="3340" y="1860"/>
                      <a:pt x="3529" y="1671"/>
                      <a:pt x="3781" y="1671"/>
                    </a:cubicBezTo>
                    <a:close/>
                    <a:moveTo>
                      <a:pt x="3750" y="1"/>
                    </a:moveTo>
                    <a:cubicBezTo>
                      <a:pt x="1702" y="1"/>
                      <a:pt x="32" y="1671"/>
                      <a:pt x="0" y="3750"/>
                    </a:cubicBezTo>
                    <a:cubicBezTo>
                      <a:pt x="32" y="5798"/>
                      <a:pt x="1702" y="7467"/>
                      <a:pt x="3750" y="7467"/>
                    </a:cubicBezTo>
                    <a:cubicBezTo>
                      <a:pt x="5797" y="7467"/>
                      <a:pt x="7436" y="5798"/>
                      <a:pt x="7436" y="3750"/>
                    </a:cubicBezTo>
                    <a:cubicBezTo>
                      <a:pt x="7436" y="1702"/>
                      <a:pt x="5797" y="64"/>
                      <a:pt x="3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239" name="组合 238"/>
          <p:cNvGrpSpPr/>
          <p:nvPr/>
        </p:nvGrpSpPr>
        <p:grpSpPr>
          <a:xfrm>
            <a:off x="10014303" y="2570452"/>
            <a:ext cx="327532" cy="327530"/>
            <a:chOff x="5785129" y="-1497168"/>
            <a:chExt cx="621744" cy="621742"/>
          </a:xfrm>
        </p:grpSpPr>
        <p:sp>
          <p:nvSpPr>
            <p:cNvPr id="247" name="椭圆 246"/>
            <p:cNvSpPr/>
            <p:nvPr/>
          </p:nvSpPr>
          <p:spPr>
            <a:xfrm>
              <a:off x="5785129" y="-1497168"/>
              <a:ext cx="621744" cy="621742"/>
            </a:xfrm>
            <a:prstGeom prst="ellipse">
              <a:avLst/>
            </a:prstGeom>
            <a:ln>
              <a:solidFill>
                <a:schemeClr val="bg1"/>
              </a:solidFill>
            </a:ln>
            <a:effectLst>
              <a:outerShdw blurRad="190500" dist="127000" dir="5400000" sx="98000" sy="98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3" name="Google Shape;5313;p76"/>
            <p:cNvGrpSpPr/>
            <p:nvPr/>
          </p:nvGrpSpPr>
          <p:grpSpPr>
            <a:xfrm>
              <a:off x="5941707" y="-1339175"/>
              <a:ext cx="310534" cy="310484"/>
              <a:chOff x="2685825" y="840375"/>
              <a:chExt cx="481900" cy="481825"/>
            </a:xfrm>
            <a:solidFill>
              <a:schemeClr val="bg1"/>
            </a:solidFill>
          </p:grpSpPr>
          <p:sp>
            <p:nvSpPr>
              <p:cNvPr id="254" name="Google Shape;5314;p76"/>
              <p:cNvSpPr/>
              <p:nvPr/>
            </p:nvSpPr>
            <p:spPr>
              <a:xfrm>
                <a:off x="2685825" y="840375"/>
                <a:ext cx="481900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6" h="19273" extrusionOk="0">
                    <a:moveTo>
                      <a:pt x="9600" y="4592"/>
                    </a:moveTo>
                    <a:cubicBezTo>
                      <a:pt x="12403" y="4592"/>
                      <a:pt x="14683" y="6872"/>
                      <a:pt x="14683" y="9675"/>
                    </a:cubicBezTo>
                    <a:cubicBezTo>
                      <a:pt x="14683" y="12476"/>
                      <a:pt x="12403" y="14755"/>
                      <a:pt x="9600" y="14755"/>
                    </a:cubicBezTo>
                    <a:cubicBezTo>
                      <a:pt x="6799" y="14755"/>
                      <a:pt x="4520" y="12476"/>
                      <a:pt x="4520" y="9675"/>
                    </a:cubicBezTo>
                    <a:cubicBezTo>
                      <a:pt x="4520" y="6872"/>
                      <a:pt x="6799" y="4592"/>
                      <a:pt x="9600" y="4592"/>
                    </a:cubicBezTo>
                    <a:close/>
                    <a:moveTo>
                      <a:pt x="8471" y="0"/>
                    </a:moveTo>
                    <a:cubicBezTo>
                      <a:pt x="8212" y="0"/>
                      <a:pt x="7986" y="175"/>
                      <a:pt x="7923" y="428"/>
                    </a:cubicBezTo>
                    <a:lnTo>
                      <a:pt x="7691" y="1427"/>
                    </a:lnTo>
                    <a:cubicBezTo>
                      <a:pt x="6778" y="1635"/>
                      <a:pt x="5908" y="1993"/>
                      <a:pt x="5116" y="2490"/>
                    </a:cubicBezTo>
                    <a:lnTo>
                      <a:pt x="4300" y="2002"/>
                    </a:lnTo>
                    <a:cubicBezTo>
                      <a:pt x="4210" y="1949"/>
                      <a:pt x="4110" y="1922"/>
                      <a:pt x="4010" y="1922"/>
                    </a:cubicBezTo>
                    <a:cubicBezTo>
                      <a:pt x="3864" y="1922"/>
                      <a:pt x="3719" y="1978"/>
                      <a:pt x="3611" y="2087"/>
                    </a:cubicBezTo>
                    <a:lnTo>
                      <a:pt x="2015" y="3683"/>
                    </a:lnTo>
                    <a:cubicBezTo>
                      <a:pt x="1831" y="3866"/>
                      <a:pt x="1798" y="4153"/>
                      <a:pt x="1930" y="4372"/>
                    </a:cubicBezTo>
                    <a:lnTo>
                      <a:pt x="2418" y="5188"/>
                    </a:lnTo>
                    <a:cubicBezTo>
                      <a:pt x="1921" y="5980"/>
                      <a:pt x="1563" y="6851"/>
                      <a:pt x="1355" y="7766"/>
                    </a:cubicBezTo>
                    <a:lnTo>
                      <a:pt x="431" y="7995"/>
                    </a:lnTo>
                    <a:cubicBezTo>
                      <a:pt x="178" y="8058"/>
                      <a:pt x="0" y="8284"/>
                      <a:pt x="3" y="8546"/>
                    </a:cubicBezTo>
                    <a:lnTo>
                      <a:pt x="3" y="10804"/>
                    </a:lnTo>
                    <a:cubicBezTo>
                      <a:pt x="0" y="11060"/>
                      <a:pt x="178" y="11286"/>
                      <a:pt x="428" y="11349"/>
                    </a:cubicBezTo>
                    <a:lnTo>
                      <a:pt x="1352" y="11581"/>
                    </a:lnTo>
                    <a:cubicBezTo>
                      <a:pt x="1560" y="12494"/>
                      <a:pt x="1921" y="13364"/>
                      <a:pt x="2418" y="14159"/>
                    </a:cubicBezTo>
                    <a:lnTo>
                      <a:pt x="1927" y="14972"/>
                    </a:lnTo>
                    <a:cubicBezTo>
                      <a:pt x="1795" y="15195"/>
                      <a:pt x="1831" y="15478"/>
                      <a:pt x="2012" y="15662"/>
                    </a:cubicBezTo>
                    <a:lnTo>
                      <a:pt x="3611" y="17261"/>
                    </a:lnTo>
                    <a:cubicBezTo>
                      <a:pt x="3720" y="17368"/>
                      <a:pt x="3864" y="17424"/>
                      <a:pt x="4011" y="17424"/>
                    </a:cubicBezTo>
                    <a:cubicBezTo>
                      <a:pt x="4110" y="17424"/>
                      <a:pt x="4210" y="17398"/>
                      <a:pt x="4300" y="17345"/>
                    </a:cubicBezTo>
                    <a:lnTo>
                      <a:pt x="5113" y="16854"/>
                    </a:lnTo>
                    <a:cubicBezTo>
                      <a:pt x="5908" y="17351"/>
                      <a:pt x="6778" y="17712"/>
                      <a:pt x="7691" y="17920"/>
                    </a:cubicBezTo>
                    <a:lnTo>
                      <a:pt x="7923" y="18844"/>
                    </a:lnTo>
                    <a:cubicBezTo>
                      <a:pt x="7983" y="19094"/>
                      <a:pt x="8212" y="19272"/>
                      <a:pt x="8471" y="19272"/>
                    </a:cubicBezTo>
                    <a:lnTo>
                      <a:pt x="10729" y="19272"/>
                    </a:lnTo>
                    <a:cubicBezTo>
                      <a:pt x="10988" y="19272"/>
                      <a:pt x="11214" y="19097"/>
                      <a:pt x="11277" y="18844"/>
                    </a:cubicBezTo>
                    <a:lnTo>
                      <a:pt x="11509" y="17920"/>
                    </a:lnTo>
                    <a:cubicBezTo>
                      <a:pt x="12421" y="17712"/>
                      <a:pt x="13292" y="17354"/>
                      <a:pt x="14084" y="16857"/>
                    </a:cubicBezTo>
                    <a:lnTo>
                      <a:pt x="14900" y="17345"/>
                    </a:lnTo>
                    <a:cubicBezTo>
                      <a:pt x="14989" y="17399"/>
                      <a:pt x="15090" y="17425"/>
                      <a:pt x="15190" y="17425"/>
                    </a:cubicBezTo>
                    <a:cubicBezTo>
                      <a:pt x="15336" y="17425"/>
                      <a:pt x="15480" y="17369"/>
                      <a:pt x="15589" y="17261"/>
                    </a:cubicBezTo>
                    <a:lnTo>
                      <a:pt x="17185" y="15665"/>
                    </a:lnTo>
                    <a:cubicBezTo>
                      <a:pt x="17369" y="15481"/>
                      <a:pt x="17402" y="15195"/>
                      <a:pt x="17270" y="14975"/>
                    </a:cubicBezTo>
                    <a:lnTo>
                      <a:pt x="16782" y="14159"/>
                    </a:lnTo>
                    <a:cubicBezTo>
                      <a:pt x="17279" y="13367"/>
                      <a:pt x="17637" y="12497"/>
                      <a:pt x="17845" y="11584"/>
                    </a:cubicBezTo>
                    <a:lnTo>
                      <a:pt x="18844" y="11352"/>
                    </a:lnTo>
                    <a:cubicBezTo>
                      <a:pt x="19097" y="11289"/>
                      <a:pt x="19275" y="11063"/>
                      <a:pt x="19275" y="10804"/>
                    </a:cubicBezTo>
                    <a:lnTo>
                      <a:pt x="19275" y="8546"/>
                    </a:lnTo>
                    <a:cubicBezTo>
                      <a:pt x="19275" y="8287"/>
                      <a:pt x="19097" y="8061"/>
                      <a:pt x="18847" y="7998"/>
                    </a:cubicBezTo>
                    <a:lnTo>
                      <a:pt x="17848" y="7766"/>
                    </a:lnTo>
                    <a:cubicBezTo>
                      <a:pt x="17640" y="6854"/>
                      <a:pt x="17279" y="5983"/>
                      <a:pt x="16782" y="5188"/>
                    </a:cubicBezTo>
                    <a:lnTo>
                      <a:pt x="17273" y="4375"/>
                    </a:lnTo>
                    <a:cubicBezTo>
                      <a:pt x="17405" y="4153"/>
                      <a:pt x="17369" y="3869"/>
                      <a:pt x="17188" y="3686"/>
                    </a:cubicBezTo>
                    <a:lnTo>
                      <a:pt x="15589" y="2090"/>
                    </a:lnTo>
                    <a:cubicBezTo>
                      <a:pt x="15480" y="1980"/>
                      <a:pt x="15335" y="1923"/>
                      <a:pt x="15188" y="1923"/>
                    </a:cubicBezTo>
                    <a:cubicBezTo>
                      <a:pt x="15089" y="1923"/>
                      <a:pt x="14989" y="1949"/>
                      <a:pt x="14900" y="2002"/>
                    </a:cubicBezTo>
                    <a:lnTo>
                      <a:pt x="14087" y="2493"/>
                    </a:lnTo>
                    <a:cubicBezTo>
                      <a:pt x="13292" y="1996"/>
                      <a:pt x="12421" y="1635"/>
                      <a:pt x="11509" y="1427"/>
                    </a:cubicBezTo>
                    <a:lnTo>
                      <a:pt x="11277" y="428"/>
                    </a:lnTo>
                    <a:cubicBezTo>
                      <a:pt x="11217" y="178"/>
                      <a:pt x="10988" y="0"/>
                      <a:pt x="107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5" name="Google Shape;5315;p76"/>
              <p:cNvSpPr/>
              <p:nvPr/>
            </p:nvSpPr>
            <p:spPr>
              <a:xfrm>
                <a:off x="2819200" y="983400"/>
                <a:ext cx="205475" cy="197625"/>
              </a:xfrm>
              <a:custGeom>
                <a:avLst/>
                <a:gdLst/>
                <a:ahLst/>
                <a:cxnLst/>
                <a:rect l="l" t="t" r="r" b="b"/>
                <a:pathLst>
                  <a:path w="8219" h="7905" extrusionOk="0">
                    <a:moveTo>
                      <a:pt x="4265" y="1129"/>
                    </a:moveTo>
                    <a:cubicBezTo>
                      <a:pt x="4629" y="1129"/>
                      <a:pt x="4996" y="1199"/>
                      <a:pt x="5346" y="1343"/>
                    </a:cubicBezTo>
                    <a:cubicBezTo>
                      <a:pt x="6400" y="1780"/>
                      <a:pt x="7089" y="2810"/>
                      <a:pt x="7089" y="3954"/>
                    </a:cubicBezTo>
                    <a:cubicBezTo>
                      <a:pt x="7086" y="5511"/>
                      <a:pt x="5825" y="6773"/>
                      <a:pt x="4265" y="6776"/>
                    </a:cubicBezTo>
                    <a:cubicBezTo>
                      <a:pt x="3124" y="6776"/>
                      <a:pt x="2094" y="6089"/>
                      <a:pt x="1657" y="5032"/>
                    </a:cubicBezTo>
                    <a:cubicBezTo>
                      <a:pt x="1221" y="3978"/>
                      <a:pt x="1461" y="2765"/>
                      <a:pt x="2268" y="1958"/>
                    </a:cubicBezTo>
                    <a:cubicBezTo>
                      <a:pt x="2808" y="1416"/>
                      <a:pt x="3530" y="1129"/>
                      <a:pt x="4265" y="1129"/>
                    </a:cubicBezTo>
                    <a:close/>
                    <a:moveTo>
                      <a:pt x="4265" y="0"/>
                    </a:moveTo>
                    <a:cubicBezTo>
                      <a:pt x="2666" y="0"/>
                      <a:pt x="1227" y="964"/>
                      <a:pt x="612" y="2440"/>
                    </a:cubicBezTo>
                    <a:cubicBezTo>
                      <a:pt x="1" y="3918"/>
                      <a:pt x="341" y="5616"/>
                      <a:pt x="1470" y="6749"/>
                    </a:cubicBezTo>
                    <a:cubicBezTo>
                      <a:pt x="2226" y="7504"/>
                      <a:pt x="3237" y="7905"/>
                      <a:pt x="4265" y="7905"/>
                    </a:cubicBezTo>
                    <a:cubicBezTo>
                      <a:pt x="4774" y="7905"/>
                      <a:pt x="5288" y="7806"/>
                      <a:pt x="5777" y="7604"/>
                    </a:cubicBezTo>
                    <a:cubicBezTo>
                      <a:pt x="7255" y="6993"/>
                      <a:pt x="8219" y="5550"/>
                      <a:pt x="8219" y="3954"/>
                    </a:cubicBezTo>
                    <a:cubicBezTo>
                      <a:pt x="8216" y="1771"/>
                      <a:pt x="6448" y="3"/>
                      <a:pt x="42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240" name="组合 239"/>
          <p:cNvGrpSpPr/>
          <p:nvPr/>
        </p:nvGrpSpPr>
        <p:grpSpPr>
          <a:xfrm>
            <a:off x="10014303" y="3914073"/>
            <a:ext cx="327532" cy="327530"/>
            <a:chOff x="10440778" y="-1497168"/>
            <a:chExt cx="621744" cy="621742"/>
          </a:xfrm>
        </p:grpSpPr>
        <p:sp>
          <p:nvSpPr>
            <p:cNvPr id="248" name="椭圆 247"/>
            <p:cNvSpPr/>
            <p:nvPr/>
          </p:nvSpPr>
          <p:spPr>
            <a:xfrm>
              <a:off x="10440778" y="-1497168"/>
              <a:ext cx="621744" cy="621742"/>
            </a:xfrm>
            <a:prstGeom prst="ellipse">
              <a:avLst/>
            </a:prstGeom>
            <a:ln>
              <a:solidFill>
                <a:schemeClr val="bg1"/>
              </a:solidFill>
            </a:ln>
            <a:effectLst>
              <a:outerShdw blurRad="190500" dist="127000" dir="5400000" sx="98000" sy="98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61" name="Google Shape;6643;p79"/>
            <p:cNvGrpSpPr/>
            <p:nvPr/>
          </p:nvGrpSpPr>
          <p:grpSpPr>
            <a:xfrm>
              <a:off x="10599555" y="-1334560"/>
              <a:ext cx="304190" cy="296526"/>
              <a:chOff x="-31817400" y="3910025"/>
              <a:chExt cx="301675" cy="294075"/>
            </a:xfrm>
            <a:solidFill>
              <a:schemeClr val="bg1"/>
            </a:solidFill>
          </p:grpSpPr>
          <p:sp>
            <p:nvSpPr>
              <p:cNvPr id="262" name="Google Shape;6644;p79"/>
              <p:cNvSpPr/>
              <p:nvPr/>
            </p:nvSpPr>
            <p:spPr>
              <a:xfrm>
                <a:off x="-31817400" y="3911550"/>
                <a:ext cx="301675" cy="292550"/>
              </a:xfrm>
              <a:custGeom>
                <a:avLst/>
                <a:gdLst/>
                <a:ahLst/>
                <a:cxnLst/>
                <a:rect l="l" t="t" r="r" b="b"/>
                <a:pathLst>
                  <a:path w="12067" h="11702" extrusionOk="0">
                    <a:moveTo>
                      <a:pt x="2558" y="0"/>
                    </a:moveTo>
                    <a:cubicBezTo>
                      <a:pt x="2357" y="0"/>
                      <a:pt x="2155" y="24"/>
                      <a:pt x="1954" y="70"/>
                    </a:cubicBezTo>
                    <a:cubicBezTo>
                      <a:pt x="1828" y="102"/>
                      <a:pt x="1733" y="196"/>
                      <a:pt x="1702" y="322"/>
                    </a:cubicBezTo>
                    <a:cubicBezTo>
                      <a:pt x="1670" y="448"/>
                      <a:pt x="1702" y="543"/>
                      <a:pt x="1796" y="637"/>
                    </a:cubicBezTo>
                    <a:lnTo>
                      <a:pt x="2679" y="1551"/>
                    </a:lnTo>
                    <a:cubicBezTo>
                      <a:pt x="2962" y="1803"/>
                      <a:pt x="2962" y="2244"/>
                      <a:pt x="2679" y="2528"/>
                    </a:cubicBezTo>
                    <a:cubicBezTo>
                      <a:pt x="2553" y="2669"/>
                      <a:pt x="2379" y="2740"/>
                      <a:pt x="2202" y="2740"/>
                    </a:cubicBezTo>
                    <a:cubicBezTo>
                      <a:pt x="2025" y="2740"/>
                      <a:pt x="1844" y="2669"/>
                      <a:pt x="1702" y="2528"/>
                    </a:cubicBezTo>
                    <a:lnTo>
                      <a:pt x="788" y="1614"/>
                    </a:lnTo>
                    <a:cubicBezTo>
                      <a:pt x="744" y="1569"/>
                      <a:pt x="668" y="1525"/>
                      <a:pt x="582" y="1525"/>
                    </a:cubicBezTo>
                    <a:cubicBezTo>
                      <a:pt x="547" y="1525"/>
                      <a:pt x="510" y="1532"/>
                      <a:pt x="473" y="1551"/>
                    </a:cubicBezTo>
                    <a:cubicBezTo>
                      <a:pt x="347" y="1582"/>
                      <a:pt x="284" y="1645"/>
                      <a:pt x="253" y="1771"/>
                    </a:cubicBezTo>
                    <a:cubicBezTo>
                      <a:pt x="1" y="2591"/>
                      <a:pt x="253" y="3473"/>
                      <a:pt x="883" y="4103"/>
                    </a:cubicBezTo>
                    <a:cubicBezTo>
                      <a:pt x="1366" y="4494"/>
                      <a:pt x="1932" y="4750"/>
                      <a:pt x="2619" y="4750"/>
                    </a:cubicBezTo>
                    <a:cubicBezTo>
                      <a:pt x="2874" y="4750"/>
                      <a:pt x="3145" y="4715"/>
                      <a:pt x="3435" y="4638"/>
                    </a:cubicBezTo>
                    <a:lnTo>
                      <a:pt x="7247" y="8482"/>
                    </a:lnTo>
                    <a:cubicBezTo>
                      <a:pt x="6963" y="9522"/>
                      <a:pt x="7215" y="10372"/>
                      <a:pt x="7814" y="10971"/>
                    </a:cubicBezTo>
                    <a:cubicBezTo>
                      <a:pt x="8291" y="11472"/>
                      <a:pt x="8895" y="11702"/>
                      <a:pt x="9516" y="11702"/>
                    </a:cubicBezTo>
                    <a:cubicBezTo>
                      <a:pt x="9714" y="11702"/>
                      <a:pt x="9915" y="11678"/>
                      <a:pt x="10114" y="11632"/>
                    </a:cubicBezTo>
                    <a:cubicBezTo>
                      <a:pt x="10240" y="11569"/>
                      <a:pt x="10334" y="11506"/>
                      <a:pt x="10366" y="11380"/>
                    </a:cubicBezTo>
                    <a:cubicBezTo>
                      <a:pt x="10397" y="11254"/>
                      <a:pt x="10366" y="11128"/>
                      <a:pt x="10271" y="11065"/>
                    </a:cubicBezTo>
                    <a:lnTo>
                      <a:pt x="9389" y="10152"/>
                    </a:lnTo>
                    <a:cubicBezTo>
                      <a:pt x="9106" y="9868"/>
                      <a:pt x="9106" y="9459"/>
                      <a:pt x="9389" y="9175"/>
                    </a:cubicBezTo>
                    <a:cubicBezTo>
                      <a:pt x="9515" y="9033"/>
                      <a:pt x="9688" y="8962"/>
                      <a:pt x="9866" y="8962"/>
                    </a:cubicBezTo>
                    <a:cubicBezTo>
                      <a:pt x="10043" y="8962"/>
                      <a:pt x="10224" y="9033"/>
                      <a:pt x="10366" y="9175"/>
                    </a:cubicBezTo>
                    <a:lnTo>
                      <a:pt x="11279" y="10089"/>
                    </a:lnTo>
                    <a:cubicBezTo>
                      <a:pt x="11326" y="10135"/>
                      <a:pt x="11405" y="10164"/>
                      <a:pt x="11494" y="10164"/>
                    </a:cubicBezTo>
                    <a:cubicBezTo>
                      <a:pt x="11527" y="10164"/>
                      <a:pt x="11561" y="10160"/>
                      <a:pt x="11594" y="10152"/>
                    </a:cubicBezTo>
                    <a:cubicBezTo>
                      <a:pt x="11720" y="10120"/>
                      <a:pt x="11783" y="10026"/>
                      <a:pt x="11815" y="9931"/>
                    </a:cubicBezTo>
                    <a:cubicBezTo>
                      <a:pt x="12067" y="9081"/>
                      <a:pt x="11815" y="8230"/>
                      <a:pt x="11185" y="7600"/>
                    </a:cubicBezTo>
                    <a:cubicBezTo>
                      <a:pt x="10778" y="7170"/>
                      <a:pt x="10224" y="6903"/>
                      <a:pt x="9537" y="6903"/>
                    </a:cubicBezTo>
                    <a:cubicBezTo>
                      <a:pt x="9266" y="6903"/>
                      <a:pt x="8975" y="6944"/>
                      <a:pt x="8665" y="7033"/>
                    </a:cubicBezTo>
                    <a:lnTo>
                      <a:pt x="4852" y="3221"/>
                    </a:lnTo>
                    <a:lnTo>
                      <a:pt x="4884" y="3032"/>
                    </a:lnTo>
                    <a:cubicBezTo>
                      <a:pt x="5136" y="2213"/>
                      <a:pt x="4884" y="1330"/>
                      <a:pt x="4254" y="700"/>
                    </a:cubicBezTo>
                    <a:cubicBezTo>
                      <a:pt x="3778" y="225"/>
                      <a:pt x="3177" y="0"/>
                      <a:pt x="25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3" name="Google Shape;6645;p79"/>
              <p:cNvSpPr/>
              <p:nvPr/>
            </p:nvSpPr>
            <p:spPr>
              <a:xfrm>
                <a:off x="-31816600" y="4062950"/>
                <a:ext cx="144150" cy="140600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24" extrusionOk="0">
                    <a:moveTo>
                      <a:pt x="4080" y="1504"/>
                    </a:moveTo>
                    <a:cubicBezTo>
                      <a:pt x="4167" y="1504"/>
                      <a:pt x="4253" y="1528"/>
                      <a:pt x="4316" y="1575"/>
                    </a:cubicBezTo>
                    <a:cubicBezTo>
                      <a:pt x="4442" y="1701"/>
                      <a:pt x="4442" y="1953"/>
                      <a:pt x="4316" y="2048"/>
                    </a:cubicBezTo>
                    <a:lnTo>
                      <a:pt x="2205" y="4159"/>
                    </a:lnTo>
                    <a:cubicBezTo>
                      <a:pt x="2158" y="4206"/>
                      <a:pt x="2072" y="4230"/>
                      <a:pt x="1985" y="4230"/>
                    </a:cubicBezTo>
                    <a:cubicBezTo>
                      <a:pt x="1898" y="4230"/>
                      <a:pt x="1812" y="4206"/>
                      <a:pt x="1764" y="4159"/>
                    </a:cubicBezTo>
                    <a:cubicBezTo>
                      <a:pt x="1638" y="4033"/>
                      <a:pt x="1638" y="3781"/>
                      <a:pt x="1764" y="3686"/>
                    </a:cubicBezTo>
                    <a:lnTo>
                      <a:pt x="3844" y="1575"/>
                    </a:lnTo>
                    <a:cubicBezTo>
                      <a:pt x="3907" y="1528"/>
                      <a:pt x="3993" y="1504"/>
                      <a:pt x="4080" y="1504"/>
                    </a:cubicBezTo>
                    <a:close/>
                    <a:moveTo>
                      <a:pt x="3844" y="0"/>
                    </a:moveTo>
                    <a:lnTo>
                      <a:pt x="567" y="3277"/>
                    </a:lnTo>
                    <a:cubicBezTo>
                      <a:pt x="0" y="3844"/>
                      <a:pt x="0" y="4694"/>
                      <a:pt x="567" y="5198"/>
                    </a:cubicBezTo>
                    <a:cubicBezTo>
                      <a:pt x="835" y="5482"/>
                      <a:pt x="1189" y="5624"/>
                      <a:pt x="1540" y="5624"/>
                    </a:cubicBezTo>
                    <a:cubicBezTo>
                      <a:pt x="1890" y="5624"/>
                      <a:pt x="2237" y="5482"/>
                      <a:pt x="2489" y="5198"/>
                    </a:cubicBezTo>
                    <a:lnTo>
                      <a:pt x="5766" y="1953"/>
                    </a:lnTo>
                    <a:lnTo>
                      <a:pt x="384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4" name="Google Shape;6646;p79"/>
              <p:cNvSpPr/>
              <p:nvPr/>
            </p:nvSpPr>
            <p:spPr>
              <a:xfrm>
                <a:off x="-31648050" y="3910025"/>
                <a:ext cx="129175" cy="127725"/>
              </a:xfrm>
              <a:custGeom>
                <a:avLst/>
                <a:gdLst/>
                <a:ahLst/>
                <a:cxnLst/>
                <a:rect l="l" t="t" r="r" b="b"/>
                <a:pathLst>
                  <a:path w="5167" h="5109" extrusionOk="0">
                    <a:moveTo>
                      <a:pt x="4249" y="1"/>
                    </a:moveTo>
                    <a:cubicBezTo>
                      <a:pt x="4179" y="1"/>
                      <a:pt x="4106" y="24"/>
                      <a:pt x="4033" y="68"/>
                    </a:cubicBezTo>
                    <a:lnTo>
                      <a:pt x="2206" y="1171"/>
                    </a:lnTo>
                    <a:cubicBezTo>
                      <a:pt x="2017" y="1265"/>
                      <a:pt x="1985" y="1549"/>
                      <a:pt x="2143" y="1706"/>
                    </a:cubicBezTo>
                    <a:lnTo>
                      <a:pt x="2300" y="1864"/>
                    </a:lnTo>
                    <a:lnTo>
                      <a:pt x="0" y="4164"/>
                    </a:lnTo>
                    <a:lnTo>
                      <a:pt x="945" y="5109"/>
                    </a:lnTo>
                    <a:lnTo>
                      <a:pt x="3245" y="2809"/>
                    </a:lnTo>
                    <a:lnTo>
                      <a:pt x="3434" y="2998"/>
                    </a:lnTo>
                    <a:cubicBezTo>
                      <a:pt x="3502" y="3066"/>
                      <a:pt x="3594" y="3099"/>
                      <a:pt x="3684" y="3099"/>
                    </a:cubicBezTo>
                    <a:cubicBezTo>
                      <a:pt x="3802" y="3099"/>
                      <a:pt x="3916" y="3042"/>
                      <a:pt x="3970" y="2935"/>
                    </a:cubicBezTo>
                    <a:lnTo>
                      <a:pt x="5073" y="1108"/>
                    </a:lnTo>
                    <a:cubicBezTo>
                      <a:pt x="5167" y="1013"/>
                      <a:pt x="5167" y="793"/>
                      <a:pt x="5041" y="698"/>
                    </a:cubicBezTo>
                    <a:lnTo>
                      <a:pt x="4474" y="100"/>
                    </a:lnTo>
                    <a:cubicBezTo>
                      <a:pt x="4406" y="32"/>
                      <a:pt x="4330" y="1"/>
                      <a:pt x="42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10014303" y="5257694"/>
            <a:ext cx="327532" cy="327530"/>
            <a:chOff x="3466828" y="-1497168"/>
            <a:chExt cx="621744" cy="621742"/>
          </a:xfrm>
        </p:grpSpPr>
        <p:sp>
          <p:nvSpPr>
            <p:cNvPr id="249" name="椭圆 248"/>
            <p:cNvSpPr/>
            <p:nvPr/>
          </p:nvSpPr>
          <p:spPr>
            <a:xfrm>
              <a:off x="3466828" y="-1497168"/>
              <a:ext cx="621744" cy="621742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>
              <a:outerShdw blurRad="190500" dist="127000" dir="5400000" sx="98000" sy="98000" algn="t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0" name="Google Shape;5288;p76"/>
            <p:cNvGrpSpPr/>
            <p:nvPr/>
          </p:nvGrpSpPr>
          <p:grpSpPr>
            <a:xfrm>
              <a:off x="3611823" y="-1344003"/>
              <a:ext cx="322472" cy="310034"/>
              <a:chOff x="4447550" y="249750"/>
              <a:chExt cx="500425" cy="481125"/>
            </a:xfrm>
            <a:solidFill>
              <a:schemeClr val="bg1"/>
            </a:solidFill>
          </p:grpSpPr>
          <p:sp>
            <p:nvSpPr>
              <p:cNvPr id="251" name="Google Shape;5289;p76"/>
              <p:cNvSpPr/>
              <p:nvPr/>
            </p:nvSpPr>
            <p:spPr>
              <a:xfrm>
                <a:off x="444755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4" y="0"/>
                    </a:moveTo>
                    <a:lnTo>
                      <a:pt x="10639" y="1635"/>
                    </a:lnTo>
                    <a:cubicBezTo>
                      <a:pt x="10811" y="1720"/>
                      <a:pt x="10970" y="1831"/>
                      <a:pt x="11109" y="1964"/>
                    </a:cubicBezTo>
                    <a:cubicBezTo>
                      <a:pt x="11771" y="2623"/>
                      <a:pt x="11771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3" y="9287"/>
                      <a:pt x="2463" y="8215"/>
                      <a:pt x="3126" y="7552"/>
                    </a:cubicBezTo>
                    <a:lnTo>
                      <a:pt x="5330" y="5351"/>
                    </a:lnTo>
                    <a:cubicBezTo>
                      <a:pt x="4924" y="4499"/>
                      <a:pt x="4764" y="3554"/>
                      <a:pt x="4866" y="2620"/>
                    </a:cubicBezTo>
                    <a:lnTo>
                      <a:pt x="4866" y="2620"/>
                    </a:lnTo>
                    <a:lnTo>
                      <a:pt x="1527" y="5956"/>
                    </a:lnTo>
                    <a:cubicBezTo>
                      <a:pt x="0" y="7501"/>
                      <a:pt x="6" y="9992"/>
                      <a:pt x="1545" y="11530"/>
                    </a:cubicBezTo>
                    <a:cubicBezTo>
                      <a:pt x="2316" y="12301"/>
                      <a:pt x="3327" y="12687"/>
                      <a:pt x="4339" y="12687"/>
                    </a:cubicBezTo>
                    <a:cubicBezTo>
                      <a:pt x="5343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8" y="3276"/>
                      <a:pt x="13626" y="1843"/>
                    </a:cubicBezTo>
                    <a:cubicBezTo>
                      <a:pt x="13500" y="1467"/>
                      <a:pt x="13316" y="1114"/>
                      <a:pt x="13075" y="798"/>
                    </a:cubicBezTo>
                    <a:lnTo>
                      <a:pt x="13066" y="807"/>
                    </a:lnTo>
                    <a:cubicBezTo>
                      <a:pt x="12952" y="663"/>
                      <a:pt x="12843" y="503"/>
                      <a:pt x="12708" y="368"/>
                    </a:cubicBezTo>
                    <a:cubicBezTo>
                      <a:pt x="12569" y="235"/>
                      <a:pt x="12428" y="115"/>
                      <a:pt x="122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2" name="Google Shape;5290;p76"/>
              <p:cNvSpPr/>
              <p:nvPr/>
            </p:nvSpPr>
            <p:spPr>
              <a:xfrm>
                <a:off x="458967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2" y="1"/>
                    </a:moveTo>
                    <a:cubicBezTo>
                      <a:pt x="8989" y="1"/>
                      <a:pt x="7985" y="381"/>
                      <a:pt x="7215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5" y="11038"/>
                    </a:cubicBezTo>
                    <a:cubicBezTo>
                      <a:pt x="639" y="11414"/>
                      <a:pt x="826" y="11767"/>
                      <a:pt x="1066" y="12083"/>
                    </a:cubicBezTo>
                    <a:lnTo>
                      <a:pt x="1073" y="12074"/>
                    </a:lnTo>
                    <a:cubicBezTo>
                      <a:pt x="1187" y="12218"/>
                      <a:pt x="1295" y="12378"/>
                      <a:pt x="1434" y="12513"/>
                    </a:cubicBezTo>
                    <a:cubicBezTo>
                      <a:pt x="1569" y="12646"/>
                      <a:pt x="1711" y="12766"/>
                      <a:pt x="1864" y="12881"/>
                    </a:cubicBezTo>
                    <a:lnTo>
                      <a:pt x="3500" y="11243"/>
                    </a:lnTo>
                    <a:cubicBezTo>
                      <a:pt x="3328" y="11158"/>
                      <a:pt x="3168" y="11050"/>
                      <a:pt x="3030" y="10918"/>
                    </a:cubicBezTo>
                    <a:cubicBezTo>
                      <a:pt x="2367" y="10255"/>
                      <a:pt x="2367" y="9183"/>
                      <a:pt x="3030" y="8521"/>
                    </a:cubicBezTo>
                    <a:lnTo>
                      <a:pt x="8811" y="2739"/>
                    </a:lnTo>
                    <a:cubicBezTo>
                      <a:pt x="9143" y="2408"/>
                      <a:pt x="9576" y="2242"/>
                      <a:pt x="10010" y="2242"/>
                    </a:cubicBezTo>
                    <a:cubicBezTo>
                      <a:pt x="10443" y="2242"/>
                      <a:pt x="10876" y="2408"/>
                      <a:pt x="11205" y="2739"/>
                    </a:cubicBezTo>
                    <a:cubicBezTo>
                      <a:pt x="11868" y="3401"/>
                      <a:pt x="11868" y="4473"/>
                      <a:pt x="11205" y="5136"/>
                    </a:cubicBezTo>
                    <a:lnTo>
                      <a:pt x="8811" y="7530"/>
                    </a:lnTo>
                    <a:cubicBezTo>
                      <a:pt x="9215" y="8382"/>
                      <a:pt x="9375" y="9328"/>
                      <a:pt x="9272" y="10261"/>
                    </a:cubicBezTo>
                    <a:lnTo>
                      <a:pt x="12804" y="6732"/>
                    </a:lnTo>
                    <a:cubicBezTo>
                      <a:pt x="14331" y="5187"/>
                      <a:pt x="14325" y="2697"/>
                      <a:pt x="12786" y="1158"/>
                    </a:cubicBezTo>
                    <a:cubicBezTo>
                      <a:pt x="12015" y="387"/>
                      <a:pt x="11004" y="1"/>
                      <a:pt x="99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40" name="矩形 39"/>
          <p:cNvSpPr/>
          <p:nvPr/>
        </p:nvSpPr>
        <p:spPr>
          <a:xfrm>
            <a:off x="7739406" y="1177690"/>
            <a:ext cx="154432" cy="5025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等腰三角形 44"/>
          <p:cNvSpPr/>
          <p:nvPr/>
        </p:nvSpPr>
        <p:spPr>
          <a:xfrm flipH="1" flipV="1">
            <a:off x="7651307" y="6157105"/>
            <a:ext cx="241939" cy="366214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梯形 84"/>
          <p:cNvSpPr/>
          <p:nvPr/>
        </p:nvSpPr>
        <p:spPr>
          <a:xfrm rot="16200000" flipH="1">
            <a:off x="6547759" y="1463016"/>
            <a:ext cx="6016172" cy="4535713"/>
          </a:xfrm>
          <a:prstGeom prst="trapezoid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梯形 7"/>
          <p:cNvSpPr/>
          <p:nvPr/>
        </p:nvSpPr>
        <p:spPr>
          <a:xfrm rot="5400000">
            <a:off x="-384629" y="1463014"/>
            <a:ext cx="6016172" cy="4535713"/>
          </a:xfrm>
          <a:prstGeom prst="trapezoid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4" name="任意多边形: 形状 83"/>
          <p:cNvSpPr/>
          <p:nvPr/>
        </p:nvSpPr>
        <p:spPr>
          <a:xfrm rot="16200000">
            <a:off x="4840092" y="3344617"/>
            <a:ext cx="2511818" cy="772509"/>
          </a:xfrm>
          <a:custGeom>
            <a:avLst/>
            <a:gdLst>
              <a:gd name="connsiteX0" fmla="*/ 2511818 w 2511818"/>
              <a:gd name="connsiteY0" fmla="*/ 386255 h 772509"/>
              <a:gd name="connsiteX1" fmla="*/ 2318691 w 2511818"/>
              <a:gd name="connsiteY1" fmla="*/ 772509 h 772509"/>
              <a:gd name="connsiteX2" fmla="*/ 193127 w 2511818"/>
              <a:gd name="connsiteY2" fmla="*/ 772509 h 772509"/>
              <a:gd name="connsiteX3" fmla="*/ 0 w 2511818"/>
              <a:gd name="connsiteY3" fmla="*/ 386255 h 772509"/>
              <a:gd name="connsiteX4" fmla="*/ 193127 w 2511818"/>
              <a:gd name="connsiteY4" fmla="*/ 0 h 772509"/>
              <a:gd name="connsiteX5" fmla="*/ 2318691 w 2511818"/>
              <a:gd name="connsiteY5" fmla="*/ 0 h 772509"/>
              <a:gd name="connsiteX6" fmla="*/ 2511818 w 2511818"/>
              <a:gd name="connsiteY6" fmla="*/ 386255 h 7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11818" h="772509">
                <a:moveTo>
                  <a:pt x="2511818" y="386255"/>
                </a:moveTo>
                <a:lnTo>
                  <a:pt x="2318691" y="772509"/>
                </a:lnTo>
                <a:lnTo>
                  <a:pt x="193127" y="772509"/>
                </a:lnTo>
                <a:lnTo>
                  <a:pt x="0" y="386255"/>
                </a:lnTo>
                <a:lnTo>
                  <a:pt x="193127" y="0"/>
                </a:lnTo>
                <a:lnTo>
                  <a:pt x="2318691" y="0"/>
                </a:lnTo>
                <a:lnTo>
                  <a:pt x="2511818" y="386255"/>
                </a:ln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任意多边形: 形状 82"/>
          <p:cNvSpPr/>
          <p:nvPr/>
        </p:nvSpPr>
        <p:spPr>
          <a:xfrm rot="16200000">
            <a:off x="2810936" y="2313725"/>
            <a:ext cx="3735838" cy="2834292"/>
          </a:xfrm>
          <a:custGeom>
            <a:avLst/>
            <a:gdLst>
              <a:gd name="connsiteX0" fmla="*/ 3735838 w 3735838"/>
              <a:gd name="connsiteY0" fmla="*/ 1610273 h 2834292"/>
              <a:gd name="connsiteX1" fmla="*/ 3123828 w 3735838"/>
              <a:gd name="connsiteY1" fmla="*/ 2834292 h 2834292"/>
              <a:gd name="connsiteX2" fmla="*/ 2930701 w 3735838"/>
              <a:gd name="connsiteY2" fmla="*/ 2448037 h 2834292"/>
              <a:gd name="connsiteX3" fmla="*/ 805137 w 3735838"/>
              <a:gd name="connsiteY3" fmla="*/ 2448037 h 2834292"/>
              <a:gd name="connsiteX4" fmla="*/ 612010 w 3735838"/>
              <a:gd name="connsiteY4" fmla="*/ 2834292 h 2834292"/>
              <a:gd name="connsiteX5" fmla="*/ 0 w 3735838"/>
              <a:gd name="connsiteY5" fmla="*/ 1610273 h 2834292"/>
              <a:gd name="connsiteX6" fmla="*/ 805137 w 3735838"/>
              <a:gd name="connsiteY6" fmla="*/ 0 h 2834292"/>
              <a:gd name="connsiteX7" fmla="*/ 2930701 w 3735838"/>
              <a:gd name="connsiteY7" fmla="*/ 0 h 2834292"/>
              <a:gd name="connsiteX8" fmla="*/ 3735838 w 3735838"/>
              <a:gd name="connsiteY8" fmla="*/ 1610273 h 283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2">
                <a:moveTo>
                  <a:pt x="3735838" y="1610273"/>
                </a:moveTo>
                <a:lnTo>
                  <a:pt x="3123828" y="2834292"/>
                </a:lnTo>
                <a:lnTo>
                  <a:pt x="2930701" y="2448037"/>
                </a:lnTo>
                <a:lnTo>
                  <a:pt x="805137" y="2448037"/>
                </a:lnTo>
                <a:lnTo>
                  <a:pt x="612010" y="2834292"/>
                </a:lnTo>
                <a:lnTo>
                  <a:pt x="0" y="1610273"/>
                </a:lnTo>
                <a:lnTo>
                  <a:pt x="805137" y="0"/>
                </a:lnTo>
                <a:lnTo>
                  <a:pt x="2930701" y="0"/>
                </a:lnTo>
                <a:lnTo>
                  <a:pt x="3735838" y="16102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2" name="任意多边形: 形状 81"/>
          <p:cNvSpPr/>
          <p:nvPr/>
        </p:nvSpPr>
        <p:spPr>
          <a:xfrm rot="16200000">
            <a:off x="5645228" y="2313726"/>
            <a:ext cx="3735838" cy="2834291"/>
          </a:xfrm>
          <a:custGeom>
            <a:avLst/>
            <a:gdLst>
              <a:gd name="connsiteX0" fmla="*/ 3735838 w 3735838"/>
              <a:gd name="connsiteY0" fmla="*/ 1224018 h 2834291"/>
              <a:gd name="connsiteX1" fmla="*/ 2930701 w 3735838"/>
              <a:gd name="connsiteY1" fmla="*/ 2834291 h 2834291"/>
              <a:gd name="connsiteX2" fmla="*/ 805137 w 3735838"/>
              <a:gd name="connsiteY2" fmla="*/ 2834291 h 2834291"/>
              <a:gd name="connsiteX3" fmla="*/ 0 w 3735838"/>
              <a:gd name="connsiteY3" fmla="*/ 1224018 h 2834291"/>
              <a:gd name="connsiteX4" fmla="*/ 612010 w 3735838"/>
              <a:gd name="connsiteY4" fmla="*/ 0 h 2834291"/>
              <a:gd name="connsiteX5" fmla="*/ 805137 w 3735838"/>
              <a:gd name="connsiteY5" fmla="*/ 386254 h 2834291"/>
              <a:gd name="connsiteX6" fmla="*/ 2930701 w 3735838"/>
              <a:gd name="connsiteY6" fmla="*/ 386254 h 2834291"/>
              <a:gd name="connsiteX7" fmla="*/ 3123828 w 3735838"/>
              <a:gd name="connsiteY7" fmla="*/ 0 h 2834291"/>
              <a:gd name="connsiteX8" fmla="*/ 3735838 w 3735838"/>
              <a:gd name="connsiteY8" fmla="*/ 1224018 h 283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1">
                <a:moveTo>
                  <a:pt x="3735838" y="1224018"/>
                </a:moveTo>
                <a:lnTo>
                  <a:pt x="2930701" y="2834291"/>
                </a:lnTo>
                <a:lnTo>
                  <a:pt x="805137" y="2834291"/>
                </a:lnTo>
                <a:lnTo>
                  <a:pt x="0" y="1224018"/>
                </a:lnTo>
                <a:lnTo>
                  <a:pt x="612010" y="0"/>
                </a:lnTo>
                <a:lnTo>
                  <a:pt x="805137" y="386254"/>
                </a:lnTo>
                <a:lnTo>
                  <a:pt x="2930701" y="386254"/>
                </a:lnTo>
                <a:lnTo>
                  <a:pt x="3123828" y="0"/>
                </a:lnTo>
                <a:lnTo>
                  <a:pt x="3735838" y="1224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61500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上半年总结下半年计划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任意多边形: 形状 103"/>
          <p:cNvSpPr/>
          <p:nvPr/>
        </p:nvSpPr>
        <p:spPr>
          <a:xfrm rot="5400000" flipH="1">
            <a:off x="8521502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6" name="任意多边形: 形状 105"/>
          <p:cNvSpPr/>
          <p:nvPr/>
        </p:nvSpPr>
        <p:spPr>
          <a:xfrm rot="16200000">
            <a:off x="-1943961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803103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业绩达成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六边形 12"/>
          <p:cNvSpPr/>
          <p:nvPr/>
        </p:nvSpPr>
        <p:spPr>
          <a:xfrm>
            <a:off x="551267" y="2146654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46125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上半年工作总结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81866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实现营收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亿元，达成率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，成功上线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款新产品，客户满意度提升至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，但渠道下沉进度滞后原计划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45383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下半年工作计划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81124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重点攻坚华东空白市场，新增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家经销商，启动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服务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捆绑销售模式，力争全年营收突破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2.8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64921" y="92229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稳中有进，突破在即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98072" y="1305512"/>
            <a:ext cx="3595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营收超额达标，产品矩阵初现，渠道待发力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9788" y="2911582"/>
            <a:ext cx="492443" cy="2075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总结与计划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8" name="Google Shape;7347;p80"/>
          <p:cNvGrpSpPr/>
          <p:nvPr/>
        </p:nvGrpSpPr>
        <p:grpSpPr>
          <a:xfrm>
            <a:off x="5887750" y="2604232"/>
            <a:ext cx="416500" cy="476795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29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5" name="矩形: 圆角 34"/>
          <p:cNvSpPr/>
          <p:nvPr/>
        </p:nvSpPr>
        <p:spPr>
          <a:xfrm>
            <a:off x="803103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产品创新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六边形 35"/>
          <p:cNvSpPr/>
          <p:nvPr/>
        </p:nvSpPr>
        <p:spPr>
          <a:xfrm>
            <a:off x="551267" y="3448173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03103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客户服务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六边形 37"/>
          <p:cNvSpPr/>
          <p:nvPr/>
        </p:nvSpPr>
        <p:spPr>
          <a:xfrm>
            <a:off x="551267" y="4749692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747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亿元超预期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，核心产品线贡献率达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，完成季度利润指标。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0747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成功推出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款新品，其中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盒子首月销量破万台，占比总营收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80747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满意度提升至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，投诉处理时效缩短至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小时，再够同比增长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矩形: 圆角 41"/>
          <p:cNvSpPr/>
          <p:nvPr/>
        </p:nvSpPr>
        <p:spPr>
          <a:xfrm flipH="1">
            <a:off x="9658627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市场拓展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六边形 42"/>
          <p:cNvSpPr/>
          <p:nvPr/>
        </p:nvSpPr>
        <p:spPr>
          <a:xfrm flipH="1">
            <a:off x="11133150" y="2146654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矩形: 圆角 43"/>
          <p:cNvSpPr/>
          <p:nvPr/>
        </p:nvSpPr>
        <p:spPr>
          <a:xfrm flipH="1">
            <a:off x="9658627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销售升级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六边形 44"/>
          <p:cNvSpPr/>
          <p:nvPr/>
        </p:nvSpPr>
        <p:spPr>
          <a:xfrm flipH="1">
            <a:off x="11133150" y="3448173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6" name="矩形: 圆角 45"/>
          <p:cNvSpPr/>
          <p:nvPr/>
        </p:nvSpPr>
        <p:spPr>
          <a:xfrm flipH="1">
            <a:off x="9658627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团队建设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六边形 46"/>
          <p:cNvSpPr/>
          <p:nvPr/>
        </p:nvSpPr>
        <p:spPr>
          <a:xfrm flipH="1">
            <a:off x="11133150" y="4749692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 flipH="1">
            <a:off x="9234509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亿元超预期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，核心产品线贡献率达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，完成季度利润指标。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 flipH="1">
            <a:off x="9234509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成功推出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款新品，其中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盒子首月销量破万台，占比总营收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 flipH="1">
            <a:off x="9234509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满意度提升至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，投诉处理时效缩短至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小时，再够同比增长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964921" y="5716215"/>
            <a:ext cx="2262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持续发力，大力冲刺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208303" y="6099431"/>
            <a:ext cx="37753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深耕华东市场，创新销售模式，冲刺年度目标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2914405" y="537896"/>
            <a:ext cx="6320104" cy="6320104"/>
          </a:xfrm>
          <a:prstGeom prst="arc">
            <a:avLst>
              <a:gd name="adj1" fmla="val 18591491"/>
              <a:gd name="adj2" fmla="val 2727432"/>
            </a:avLst>
          </a:prstGeom>
          <a:noFill/>
          <a:ln>
            <a:solidFill>
              <a:schemeClr val="accent1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弧形 64"/>
          <p:cNvSpPr/>
          <p:nvPr/>
        </p:nvSpPr>
        <p:spPr>
          <a:xfrm flipH="1" flipV="1">
            <a:off x="2914405" y="537896"/>
            <a:ext cx="6320104" cy="6320104"/>
          </a:xfrm>
          <a:prstGeom prst="arc">
            <a:avLst>
              <a:gd name="adj1" fmla="val 18743627"/>
              <a:gd name="adj2" fmla="val 2932594"/>
            </a:avLst>
          </a:prstGeom>
          <a:noFill/>
          <a:ln>
            <a:solidFill>
              <a:schemeClr val="tx2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>
            <a:stCxn id="57" idx="4"/>
            <a:endCxn id="137" idx="0"/>
          </p:cNvCxnSpPr>
          <p:nvPr/>
        </p:nvCxnSpPr>
        <p:spPr>
          <a:xfrm>
            <a:off x="3132214" y="2780286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>
            <a:off x="3132214" y="4274509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88925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项目策划执行流程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356289" y="2655946"/>
            <a:ext cx="2024658" cy="20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94565" y="1028701"/>
            <a:ext cx="4405639" cy="5270498"/>
          </a:xfrm>
          <a:prstGeom prst="roundRect">
            <a:avLst>
              <a:gd name="adj" fmla="val 176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3714" y="3460438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项目策划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执行流程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630293" y="1633481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520076" y="1556010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2583015" y="1618949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732104" y="2147933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立项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55728" y="1749751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基于年度营销目标拆解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KPI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，确定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大核心传播主题，完成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万预算分配及跨部门签字确认。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2630293" y="3133608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2520076" y="3056137"/>
            <a:ext cx="1224276" cy="12242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732104" y="3670108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筹备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855728" y="3249878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组建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人专项小组，签约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家供应商，制定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136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项执行清单，预设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个关键风险应对方案。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2630293" y="4633735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2520076" y="4556264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732104" y="5148187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落地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855728" y="4750005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按日追踪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个进度节点，建立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级质量检查机制，实时监控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数据，动态优化投放策略。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矩形: 圆顶角 94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78338" y="2850234"/>
            <a:ext cx="580558" cy="5805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958684" y="1749751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2958684" y="3249184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2958684" y="4748617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99" name="Google Shape;8079;p82"/>
          <p:cNvGrpSpPr/>
          <p:nvPr/>
        </p:nvGrpSpPr>
        <p:grpSpPr>
          <a:xfrm>
            <a:off x="3049191" y="1817420"/>
            <a:ext cx="222588" cy="211720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00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4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5" name="Google Shape;8290;p82"/>
          <p:cNvGrpSpPr/>
          <p:nvPr/>
        </p:nvGrpSpPr>
        <p:grpSpPr>
          <a:xfrm>
            <a:off x="3041372" y="3309903"/>
            <a:ext cx="177149" cy="232391"/>
            <a:chOff x="-3365275" y="3253275"/>
            <a:chExt cx="222150" cy="291425"/>
          </a:xfrm>
          <a:solidFill>
            <a:schemeClr val="tx2"/>
          </a:solidFill>
        </p:grpSpPr>
        <p:sp>
          <p:nvSpPr>
            <p:cNvPr id="106" name="Google Shape;8291;p82"/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7" name="Google Shape;8292;p82"/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8" name="Google Shape;8203;p82"/>
          <p:cNvGrpSpPr/>
          <p:nvPr/>
        </p:nvGrpSpPr>
        <p:grpSpPr>
          <a:xfrm>
            <a:off x="3036015" y="4776233"/>
            <a:ext cx="198090" cy="24612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09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0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1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2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13" name="Google Shape;8076;p82"/>
          <p:cNvGrpSpPr/>
          <p:nvPr/>
        </p:nvGrpSpPr>
        <p:grpSpPr>
          <a:xfrm>
            <a:off x="1175902" y="2957694"/>
            <a:ext cx="385430" cy="36563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14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5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1" name="任意多边形: 形状 20"/>
          <p:cNvSpPr/>
          <p:nvPr/>
        </p:nvSpPr>
        <p:spPr>
          <a:xfrm>
            <a:off x="1371600" y="10160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6" name="任意多边形: 形状 115"/>
          <p:cNvSpPr/>
          <p:nvPr/>
        </p:nvSpPr>
        <p:spPr>
          <a:xfrm flipV="1">
            <a:off x="1371600" y="46863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56353" y="1431141"/>
            <a:ext cx="268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全流程价值闭环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50504" y="1934981"/>
            <a:ext cx="3528696" cy="167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执行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三阶管控体系，确保项目按期高质量交付。运用数字化看板实现过程透明化，历史项目平均执行偏差率＜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。同步沉淀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SOP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知识库，持续优化人效产出比，较传统模式节省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协作成本。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7968343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811439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654535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0497631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组队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7968343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风控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8811439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追踪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矩形: 圆角 121"/>
          <p:cNvSpPr/>
          <p:nvPr/>
        </p:nvSpPr>
        <p:spPr>
          <a:xfrm>
            <a:off x="9654535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3" name="矩形: 圆角 122"/>
          <p:cNvSpPr/>
          <p:nvPr/>
        </p:nvSpPr>
        <p:spPr>
          <a:xfrm>
            <a:off x="10497631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沉淀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7" name="椭圆 136"/>
          <p:cNvSpPr/>
          <p:nvPr/>
        </p:nvSpPr>
        <p:spPr>
          <a:xfrm>
            <a:off x="2583015" y="3113172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2583015" y="4607395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416834" y="2715238"/>
            <a:ext cx="1894266" cy="1894266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3" name="Google Shape;1422;p70"/>
          <p:cNvGrpSpPr/>
          <p:nvPr/>
        </p:nvGrpSpPr>
        <p:grpSpPr>
          <a:xfrm rot="5400000">
            <a:off x="3086555" y="2836610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4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6" name="Google Shape;1422;p70"/>
          <p:cNvGrpSpPr/>
          <p:nvPr/>
        </p:nvGrpSpPr>
        <p:grpSpPr>
          <a:xfrm rot="5400000">
            <a:off x="3086555" y="4353028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7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8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106170" y="948059"/>
            <a:ext cx="3110416" cy="926323"/>
            <a:chOff x="2106170" y="948059"/>
            <a:chExt cx="3110416" cy="926323"/>
          </a:xfrm>
        </p:grpSpPr>
        <p:grpSp>
          <p:nvGrpSpPr>
            <p:cNvPr id="149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0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1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52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3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4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62" name="组合 161"/>
          <p:cNvGrpSpPr/>
          <p:nvPr/>
        </p:nvGrpSpPr>
        <p:grpSpPr>
          <a:xfrm flipV="1">
            <a:off x="2106170" y="5451256"/>
            <a:ext cx="3110416" cy="926323"/>
            <a:chOff x="2106170" y="948059"/>
            <a:chExt cx="3110416" cy="926323"/>
          </a:xfrm>
        </p:grpSpPr>
        <p:grpSp>
          <p:nvGrpSpPr>
            <p:cNvPr id="163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7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8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64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5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6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313541" y="200526"/>
            <a:ext cx="5769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互联网产品运营循环图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355600" y="1130300"/>
            <a:ext cx="2699976" cy="1233160"/>
            <a:chOff x="355600" y="1130300"/>
            <a:chExt cx="2699976" cy="1233160"/>
          </a:xfrm>
        </p:grpSpPr>
        <p:grpSp>
          <p:nvGrpSpPr>
            <p:cNvPr id="85" name="组合 84"/>
            <p:cNvGrpSpPr/>
            <p:nvPr/>
          </p:nvGrpSpPr>
          <p:grpSpPr>
            <a:xfrm>
              <a:off x="355600" y="1130300"/>
              <a:ext cx="2699976" cy="1233160"/>
              <a:chOff x="355600" y="1481465"/>
              <a:chExt cx="2699976" cy="12331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05" name="文本框 104"/>
            <p:cNvSpPr txBox="1"/>
            <p:nvPr/>
          </p:nvSpPr>
          <p:spPr>
            <a:xfrm>
              <a:off x="433373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明确季度运营目标（如用户活跃度提升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），拆解为月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周级关键任务，同步业务团队对齐优先级。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964710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目标制定与拆解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514708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355600" y="2442213"/>
            <a:ext cx="2699976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55600" y="2965432"/>
            <a:ext cx="2699976" cy="193471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33373" y="3031861"/>
            <a:ext cx="2547952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通过用户调研（问卷星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面对面访谈）、后台行为日志（埋点数据）、第三方监测工具（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Google Analytics/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Mixpanel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）多维度采集运营数据，覆盖用户注册、活跃、转化全链路。运用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Excel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数据透视表及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Python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脚本进行清洗，剔除重复值、修正格式错误、填补缺失数据，按用户分层（新客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活跃客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沉默客）分类归档，同步生成数据质量校验报告，确保关键指标完整率≥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，为后续分析提供可靠支撑。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964710" y="2537966"/>
            <a:ext cx="1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数据采集与清洗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514708" y="2526351"/>
            <a:ext cx="354944" cy="3549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5600" y="4966582"/>
            <a:ext cx="2699976" cy="1233160"/>
            <a:chOff x="355600" y="3712884"/>
            <a:chExt cx="2699976" cy="1233160"/>
          </a:xfrm>
        </p:grpSpPr>
        <p:grpSp>
          <p:nvGrpSpPr>
            <p:cNvPr id="134" name="组合 133"/>
            <p:cNvGrpSpPr/>
            <p:nvPr/>
          </p:nvGrpSpPr>
          <p:grpSpPr>
            <a:xfrm>
              <a:off x="355600" y="3712884"/>
              <a:ext cx="2699976" cy="1233160"/>
              <a:chOff x="355600" y="1481465"/>
              <a:chExt cx="2699976" cy="1233160"/>
            </a:xfrm>
          </p:grpSpPr>
          <p:sp>
            <p:nvSpPr>
              <p:cNvPr id="135" name="矩形 134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7" name="文本框 136"/>
            <p:cNvSpPr txBox="1"/>
            <p:nvPr/>
          </p:nvSpPr>
          <p:spPr>
            <a:xfrm>
              <a:off x="433373" y="4302532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对比目标与实际数据，运用漏斗模型、用户分层等方法定位问题（如注册转化率下降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3%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），输出关键影响因素清单。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64710" y="3808637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深度分析与诊断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514708" y="3797022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123724" y="1130300"/>
            <a:ext cx="2699976" cy="5067300"/>
            <a:chOff x="9123724" y="1130300"/>
            <a:chExt cx="2699976" cy="5168900"/>
          </a:xfrm>
        </p:grpSpPr>
        <p:sp>
          <p:nvSpPr>
            <p:cNvPr id="7" name="矩形 6"/>
            <p:cNvSpPr/>
            <p:nvPr/>
          </p:nvSpPr>
          <p:spPr>
            <a:xfrm>
              <a:off x="9123724" y="113030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123724" y="165351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201497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整合数据图表、案例分析与改进建议，制作结构化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PPT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（含核心指标看板、风险预警模块），经直属领导预审定稿。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732834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汇报材料与预审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9282832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123724" y="2442213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123724" y="2965432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01497" y="3031861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管理层及协作部门（产品、技术、市场）汇报，阐述目标达成度、现存问题及资源需求，形成会议决议并同步待办清单。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732834" y="2537966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部门汇报与决策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9282832" y="2526351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123724" y="3754126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123724" y="4277345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201497" y="4343774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根据汇报共识修订运营方案（如新增用户召回策略），更新目标拆解表并同步至协作平台，推动策略调整落地。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732834" y="3849879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策略迭代与执行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9282832" y="3838264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123724" y="506604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123724" y="558925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01497" y="565568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跟踪优化措施执行进度，定期（每周）更新数据看板，季度末对比目标完成度，沉淀可复用经验。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732834" y="516179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跟进复盘与沉淀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9282832" y="515017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143020" y="2127695"/>
            <a:ext cx="5905960" cy="3066646"/>
            <a:chOff x="2888824" y="1763485"/>
            <a:chExt cx="6414352" cy="3330626"/>
          </a:xfrm>
        </p:grpSpPr>
        <p:sp>
          <p:nvSpPr>
            <p:cNvPr id="46" name="Google Shape;4863;p74"/>
            <p:cNvSpPr/>
            <p:nvPr/>
          </p:nvSpPr>
          <p:spPr>
            <a:xfrm>
              <a:off x="4625964" y="4344674"/>
              <a:ext cx="7096" cy="22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Google Shape;4865;p74"/>
            <p:cNvSpPr/>
            <p:nvPr/>
          </p:nvSpPr>
          <p:spPr>
            <a:xfrm>
              <a:off x="2888824" y="3429168"/>
              <a:ext cx="2118752" cy="1664942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gradFill>
              <a:gsLst>
                <a:gs pos="84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Google Shape;4866;p74"/>
            <p:cNvSpPr/>
            <p:nvPr/>
          </p:nvSpPr>
          <p:spPr>
            <a:xfrm>
              <a:off x="2888824" y="1763485"/>
              <a:ext cx="1744641" cy="2039458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5" name="Google Shape;4867;p74"/>
            <p:cNvSpPr/>
            <p:nvPr/>
          </p:nvSpPr>
          <p:spPr>
            <a:xfrm>
              <a:off x="6095798" y="3428382"/>
              <a:ext cx="22" cy="2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6" name="Google Shape;4868;p74"/>
            <p:cNvSpPr/>
            <p:nvPr/>
          </p:nvSpPr>
          <p:spPr>
            <a:xfrm>
              <a:off x="4258118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Google Shape;4869;p74"/>
            <p:cNvSpPr/>
            <p:nvPr/>
          </p:nvSpPr>
          <p:spPr>
            <a:xfrm>
              <a:off x="5673381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8" name="Google Shape;4870;p74"/>
            <p:cNvSpPr/>
            <p:nvPr/>
          </p:nvSpPr>
          <p:spPr>
            <a:xfrm>
              <a:off x="7183616" y="3428382"/>
              <a:ext cx="2119179" cy="1665728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9" name="Google Shape;4871;p74"/>
            <p:cNvSpPr/>
            <p:nvPr/>
          </p:nvSpPr>
          <p:spPr>
            <a:xfrm>
              <a:off x="7189118" y="1763485"/>
              <a:ext cx="2114058" cy="2039840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gradFill>
              <a:gsLst>
                <a:gs pos="82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Google Shape;4868;p74"/>
            <p:cNvSpPr/>
            <p:nvPr/>
          </p:nvSpPr>
          <p:spPr>
            <a:xfrm flipH="1">
              <a:off x="5768353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>
              <a:gsLst>
                <a:gs pos="37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5" name="Google Shape;4869;p74"/>
            <p:cNvSpPr/>
            <p:nvPr/>
          </p:nvSpPr>
          <p:spPr>
            <a:xfrm flipH="1">
              <a:off x="4609078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>
              <a:gsLst>
                <a:gs pos="33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3222611" y="33984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486826" y="2208731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82623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486826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20884" y="341093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167732" y="22053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439043" y="342879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78627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场景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92959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业务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场景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48000" y="10447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闭环管理提升汇报价值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312291" y="1456736"/>
            <a:ext cx="5567418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“目标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分析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执行” 七步循环，将工作汇报转化为业务优化引擎，推动运营策略持续迭代。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164912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1540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定目标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158397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15025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析数据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151881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08509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促执行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3" name="箭头: 五边形 62"/>
          <p:cNvSpPr/>
          <p:nvPr/>
        </p:nvSpPr>
        <p:spPr>
          <a:xfrm>
            <a:off x="3164912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7" name="Google Shape;5389;p76"/>
          <p:cNvGrpSpPr/>
          <p:nvPr/>
        </p:nvGrpSpPr>
        <p:grpSpPr>
          <a:xfrm>
            <a:off x="3285232" y="5680144"/>
            <a:ext cx="342232" cy="338924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48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0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1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9" name="箭头: 五边形 88"/>
          <p:cNvSpPr/>
          <p:nvPr/>
        </p:nvSpPr>
        <p:spPr>
          <a:xfrm>
            <a:off x="5152663" y="5585222"/>
            <a:ext cx="814157" cy="51900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箭头: 五边形 94"/>
          <p:cNvSpPr/>
          <p:nvPr/>
        </p:nvSpPr>
        <p:spPr>
          <a:xfrm>
            <a:off x="7151881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01" name="Google Shape;5446;p76"/>
          <p:cNvGrpSpPr/>
          <p:nvPr/>
        </p:nvGrpSpPr>
        <p:grpSpPr>
          <a:xfrm>
            <a:off x="5254516" y="5667779"/>
            <a:ext cx="349698" cy="349696"/>
            <a:chOff x="1492675" y="2027925"/>
            <a:chExt cx="481825" cy="481825"/>
          </a:xfrm>
          <a:solidFill>
            <a:schemeClr val="bg1"/>
          </a:solidFill>
        </p:grpSpPr>
        <p:sp>
          <p:nvSpPr>
            <p:cNvPr id="102" name="Google Shape;5447;p76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Google Shape;5448;p76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4" name="Google Shape;5449;p76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6" name="Google Shape;5450;p76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7" name="Google Shape;5451;p76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8" name="Google Shape;5709;p77"/>
          <p:cNvGrpSpPr/>
          <p:nvPr/>
        </p:nvGrpSpPr>
        <p:grpSpPr>
          <a:xfrm>
            <a:off x="7252420" y="5653609"/>
            <a:ext cx="384776" cy="378036"/>
            <a:chOff x="-40748275" y="3238700"/>
            <a:chExt cx="322600" cy="316950"/>
          </a:xfrm>
          <a:solidFill>
            <a:schemeClr val="bg1"/>
          </a:solidFill>
        </p:grpSpPr>
        <p:sp>
          <p:nvSpPr>
            <p:cNvPr id="109" name="Google Shape;5710;p77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0" name="Google Shape;5711;p77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1" name="Google Shape;5712;p77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2" name="Google Shape;5713;p77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3" name="Google Shape;5714;p77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4" name="Google Shape;5715;p77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任意多边形: 形状 176"/>
          <p:cNvSpPr/>
          <p:nvPr/>
        </p:nvSpPr>
        <p:spPr>
          <a:xfrm>
            <a:off x="355599" y="988062"/>
            <a:ext cx="4731057" cy="2434717"/>
          </a:xfrm>
          <a:custGeom>
            <a:avLst/>
            <a:gdLst>
              <a:gd name="connsiteX0" fmla="*/ 63773 w 4402526"/>
              <a:gd name="connsiteY0" fmla="*/ 0 h 2434717"/>
              <a:gd name="connsiteX1" fmla="*/ 4402526 w 4402526"/>
              <a:gd name="connsiteY1" fmla="*/ 0 h 2434717"/>
              <a:gd name="connsiteX2" fmla="*/ 4316291 w 4402526"/>
              <a:gd name="connsiteY2" fmla="*/ 41542 h 2434717"/>
              <a:gd name="connsiteX3" fmla="*/ 2779817 w 4402526"/>
              <a:gd name="connsiteY3" fmla="*/ 2427036 h 2434717"/>
              <a:gd name="connsiteX4" fmla="*/ 2779550 w 4402526"/>
              <a:gd name="connsiteY4" fmla="*/ 2434717 h 2434717"/>
              <a:gd name="connsiteX5" fmla="*/ 0 w 4402526"/>
              <a:gd name="connsiteY5" fmla="*/ 2434717 h 2434717"/>
              <a:gd name="connsiteX6" fmla="*/ 0 w 4402526"/>
              <a:gd name="connsiteY6" fmla="*/ 63773 h 2434717"/>
              <a:gd name="connsiteX7" fmla="*/ 63773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63773" y="0"/>
                </a:moveTo>
                <a:lnTo>
                  <a:pt x="4402526" y="0"/>
                </a:lnTo>
                <a:lnTo>
                  <a:pt x="4316291" y="41542"/>
                </a:lnTo>
                <a:cubicBezTo>
                  <a:pt x="3454258" y="509826"/>
                  <a:pt x="2851761" y="1395329"/>
                  <a:pt x="2779817" y="2427036"/>
                </a:cubicBezTo>
                <a:lnTo>
                  <a:pt x="2779550" y="2434717"/>
                </a:lnTo>
                <a:lnTo>
                  <a:pt x="0" y="2434717"/>
                </a:ln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7131062" y="988062"/>
            <a:ext cx="4669143" cy="2434717"/>
          </a:xfrm>
          <a:custGeom>
            <a:avLst/>
            <a:gdLst>
              <a:gd name="connsiteX0" fmla="*/ 0 w 4402526"/>
              <a:gd name="connsiteY0" fmla="*/ 0 h 2434717"/>
              <a:gd name="connsiteX1" fmla="*/ 4338753 w 4402526"/>
              <a:gd name="connsiteY1" fmla="*/ 0 h 2434717"/>
              <a:gd name="connsiteX2" fmla="*/ 4402526 w 4402526"/>
              <a:gd name="connsiteY2" fmla="*/ 63773 h 2434717"/>
              <a:gd name="connsiteX3" fmla="*/ 4402526 w 4402526"/>
              <a:gd name="connsiteY3" fmla="*/ 2434717 h 2434717"/>
              <a:gd name="connsiteX4" fmla="*/ 1622975 w 4402526"/>
              <a:gd name="connsiteY4" fmla="*/ 2434717 h 2434717"/>
              <a:gd name="connsiteX5" fmla="*/ 1622708 w 4402526"/>
              <a:gd name="connsiteY5" fmla="*/ 2427036 h 2434717"/>
              <a:gd name="connsiteX6" fmla="*/ 86235 w 4402526"/>
              <a:gd name="connsiteY6" fmla="*/ 41542 h 2434717"/>
              <a:gd name="connsiteX7" fmla="*/ 0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0" y="0"/>
                </a:moveTo>
                <a:lnTo>
                  <a:pt x="4338753" y="0"/>
                </a:lnTo>
                <a:cubicBezTo>
                  <a:pt x="4373974" y="0"/>
                  <a:pt x="4402526" y="28552"/>
                  <a:pt x="4402526" y="63773"/>
                </a:cubicBezTo>
                <a:lnTo>
                  <a:pt x="4402526" y="2434717"/>
                </a:lnTo>
                <a:lnTo>
                  <a:pt x="1622975" y="2434717"/>
                </a:lnTo>
                <a:lnTo>
                  <a:pt x="1622708" y="2427036"/>
                </a:lnTo>
                <a:cubicBezTo>
                  <a:pt x="1550764" y="1395329"/>
                  <a:pt x="948268" y="509826"/>
                  <a:pt x="86235" y="4154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355599" y="3823838"/>
            <a:ext cx="4731059" cy="2434717"/>
          </a:xfrm>
          <a:custGeom>
            <a:avLst/>
            <a:gdLst>
              <a:gd name="connsiteX0" fmla="*/ 0 w 4402528"/>
              <a:gd name="connsiteY0" fmla="*/ 0 h 2434717"/>
              <a:gd name="connsiteX1" fmla="*/ 2779550 w 4402528"/>
              <a:gd name="connsiteY1" fmla="*/ 0 h 2434717"/>
              <a:gd name="connsiteX2" fmla="*/ 2779817 w 4402528"/>
              <a:gd name="connsiteY2" fmla="*/ 7680 h 2434717"/>
              <a:gd name="connsiteX3" fmla="*/ 4316291 w 4402528"/>
              <a:gd name="connsiteY3" fmla="*/ 2393175 h 2434717"/>
              <a:gd name="connsiteX4" fmla="*/ 4402528 w 4402528"/>
              <a:gd name="connsiteY4" fmla="*/ 2434717 h 2434717"/>
              <a:gd name="connsiteX5" fmla="*/ 63773 w 4402528"/>
              <a:gd name="connsiteY5" fmla="*/ 2434717 h 2434717"/>
              <a:gd name="connsiteX6" fmla="*/ 0 w 4402528"/>
              <a:gd name="connsiteY6" fmla="*/ 2370944 h 2434717"/>
              <a:gd name="connsiteX7" fmla="*/ 0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0" y="0"/>
                </a:moveTo>
                <a:lnTo>
                  <a:pt x="2779550" y="0"/>
                </a:lnTo>
                <a:lnTo>
                  <a:pt x="2779817" y="7680"/>
                </a:lnTo>
                <a:cubicBezTo>
                  <a:pt x="2851761" y="1039388"/>
                  <a:pt x="3454258" y="1924890"/>
                  <a:pt x="4316291" y="2393175"/>
                </a:cubicBezTo>
                <a:lnTo>
                  <a:pt x="4402528" y="2434717"/>
                </a:lnTo>
                <a:lnTo>
                  <a:pt x="63773" y="2434717"/>
                </a:lnTo>
                <a:cubicBezTo>
                  <a:pt x="28552" y="2434717"/>
                  <a:pt x="0" y="2406165"/>
                  <a:pt x="0" y="2370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7131060" y="3823838"/>
            <a:ext cx="4669145" cy="2434717"/>
          </a:xfrm>
          <a:custGeom>
            <a:avLst/>
            <a:gdLst>
              <a:gd name="connsiteX0" fmla="*/ 1622977 w 4402528"/>
              <a:gd name="connsiteY0" fmla="*/ 0 h 2434717"/>
              <a:gd name="connsiteX1" fmla="*/ 4402528 w 4402528"/>
              <a:gd name="connsiteY1" fmla="*/ 0 h 2434717"/>
              <a:gd name="connsiteX2" fmla="*/ 4402528 w 4402528"/>
              <a:gd name="connsiteY2" fmla="*/ 2370944 h 2434717"/>
              <a:gd name="connsiteX3" fmla="*/ 4338755 w 4402528"/>
              <a:gd name="connsiteY3" fmla="*/ 2434717 h 2434717"/>
              <a:gd name="connsiteX4" fmla="*/ 0 w 4402528"/>
              <a:gd name="connsiteY4" fmla="*/ 2434717 h 2434717"/>
              <a:gd name="connsiteX5" fmla="*/ 86237 w 4402528"/>
              <a:gd name="connsiteY5" fmla="*/ 2393175 h 2434717"/>
              <a:gd name="connsiteX6" fmla="*/ 1622710 w 4402528"/>
              <a:gd name="connsiteY6" fmla="*/ 7680 h 2434717"/>
              <a:gd name="connsiteX7" fmla="*/ 1622977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1622977" y="0"/>
                </a:moveTo>
                <a:lnTo>
                  <a:pt x="4402528" y="0"/>
                </a:lnTo>
                <a:lnTo>
                  <a:pt x="4402528" y="2370944"/>
                </a:lnTo>
                <a:cubicBezTo>
                  <a:pt x="4402528" y="2406165"/>
                  <a:pt x="4373976" y="2434717"/>
                  <a:pt x="4338755" y="2434717"/>
                </a:cubicBezTo>
                <a:lnTo>
                  <a:pt x="0" y="2434717"/>
                </a:lnTo>
                <a:lnTo>
                  <a:pt x="86237" y="2393175"/>
                </a:lnTo>
                <a:cubicBezTo>
                  <a:pt x="948270" y="1924890"/>
                  <a:pt x="1550766" y="1039388"/>
                  <a:pt x="1622710" y="7680"/>
                </a:cubicBezTo>
                <a:lnTo>
                  <a:pt x="1622977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88925" y="200526"/>
            <a:ext cx="5338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-PDCA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循环管理模型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4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: 圆顶角 15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679735" y="2221168"/>
            <a:ext cx="2834970" cy="2832756"/>
            <a:chOff x="4679774" y="2221207"/>
            <a:chExt cx="2834891" cy="2832679"/>
          </a:xfrm>
          <a:solidFill>
            <a:schemeClr val="accent1">
              <a:alpha val="10000"/>
            </a:schemeClr>
          </a:solidFill>
        </p:grpSpPr>
        <p:sp>
          <p:nvSpPr>
            <p:cNvPr id="163" name="任意多边形: 形状 162"/>
            <p:cNvSpPr/>
            <p:nvPr/>
          </p:nvSpPr>
          <p:spPr>
            <a:xfrm rot="5400000">
              <a:off x="6089357" y="2250967"/>
              <a:ext cx="1455067" cy="1395548"/>
            </a:xfrm>
            <a:custGeom>
              <a:avLst/>
              <a:gdLst>
                <a:gd name="connsiteX0" fmla="*/ 0 w 1455067"/>
                <a:gd name="connsiteY0" fmla="*/ 1395548 h 1395548"/>
                <a:gd name="connsiteX1" fmla="*/ 6212 w 1455067"/>
                <a:gd name="connsiteY1" fmla="*/ 1272520 h 1395548"/>
                <a:gd name="connsiteX2" fmla="*/ 1416339 w 1455067"/>
                <a:gd name="connsiteY2" fmla="*/ 0 h 1395548"/>
                <a:gd name="connsiteX3" fmla="*/ 1455067 w 1455067"/>
                <a:gd name="connsiteY3" fmla="*/ 1955 h 1395548"/>
                <a:gd name="connsiteX4" fmla="*/ 1455067 w 1455067"/>
                <a:gd name="connsiteY4" fmla="*/ 1395548 h 1395548"/>
                <a:gd name="connsiteX5" fmla="*/ 0 w 1455067"/>
                <a:gd name="connsiteY5" fmla="*/ 1395548 h 1395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5067" h="1395548">
                  <a:moveTo>
                    <a:pt x="0" y="1395548"/>
                  </a:moveTo>
                  <a:lnTo>
                    <a:pt x="6212" y="1272520"/>
                  </a:lnTo>
                  <a:cubicBezTo>
                    <a:pt x="78800" y="557764"/>
                    <a:pt x="682433" y="0"/>
                    <a:pt x="1416339" y="0"/>
                  </a:cubicBezTo>
                  <a:lnTo>
                    <a:pt x="1455067" y="1955"/>
                  </a:lnTo>
                  <a:lnTo>
                    <a:pt x="1455067" y="1395548"/>
                  </a:lnTo>
                  <a:lnTo>
                    <a:pt x="0" y="1395548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任意多边形: 形状 161"/>
            <p:cNvSpPr/>
            <p:nvPr/>
          </p:nvSpPr>
          <p:spPr>
            <a:xfrm rot="5400000">
              <a:off x="4649100" y="2251979"/>
              <a:ext cx="1454970" cy="1393621"/>
            </a:xfrm>
            <a:custGeom>
              <a:avLst/>
              <a:gdLst>
                <a:gd name="connsiteX0" fmla="*/ 0 w 1454970"/>
                <a:gd name="connsiteY0" fmla="*/ 0 h 1393621"/>
                <a:gd name="connsiteX1" fmla="*/ 1454970 w 1454970"/>
                <a:gd name="connsiteY1" fmla="*/ 0 h 1393621"/>
                <a:gd name="connsiteX2" fmla="*/ 1454970 w 1454970"/>
                <a:gd name="connsiteY2" fmla="*/ 1391665 h 1393621"/>
                <a:gd name="connsiteX3" fmla="*/ 1416242 w 1454970"/>
                <a:gd name="connsiteY3" fmla="*/ 1393621 h 1393621"/>
                <a:gd name="connsiteX4" fmla="*/ 6115 w 1454970"/>
                <a:gd name="connsiteY4" fmla="*/ 121101 h 1393621"/>
                <a:gd name="connsiteX5" fmla="*/ 0 w 1454970"/>
                <a:gd name="connsiteY5" fmla="*/ 0 h 139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4970" h="1393621">
                  <a:moveTo>
                    <a:pt x="0" y="0"/>
                  </a:moveTo>
                  <a:lnTo>
                    <a:pt x="1454970" y="0"/>
                  </a:lnTo>
                  <a:lnTo>
                    <a:pt x="1454970" y="1391665"/>
                  </a:lnTo>
                  <a:lnTo>
                    <a:pt x="1416242" y="1393621"/>
                  </a:lnTo>
                  <a:cubicBezTo>
                    <a:pt x="682336" y="1393621"/>
                    <a:pt x="78703" y="835856"/>
                    <a:pt x="6115" y="12110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 rot="5400000">
              <a:off x="4712819" y="3693213"/>
              <a:ext cx="1331796" cy="1389356"/>
            </a:xfrm>
            <a:custGeom>
              <a:avLst/>
              <a:gdLst>
                <a:gd name="connsiteX0" fmla="*/ 0 w 1331796"/>
                <a:gd name="connsiteY0" fmla="*/ 1389356 h 1389356"/>
                <a:gd name="connsiteX1" fmla="*/ 0 w 1331796"/>
                <a:gd name="connsiteY1" fmla="*/ 0 h 1389356"/>
                <a:gd name="connsiteX2" fmla="*/ 1331796 w 1331796"/>
                <a:gd name="connsiteY2" fmla="*/ 0 h 1389356"/>
                <a:gd name="connsiteX3" fmla="*/ 1325681 w 1331796"/>
                <a:gd name="connsiteY3" fmla="*/ 121101 h 1389356"/>
                <a:gd name="connsiteX4" fmla="*/ 60478 w 1331796"/>
                <a:gd name="connsiteY4" fmla="*/ 1386303 h 1389356"/>
                <a:gd name="connsiteX5" fmla="*/ 0 w 1331796"/>
                <a:gd name="connsiteY5" fmla="*/ 1389356 h 138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796" h="1389356">
                  <a:moveTo>
                    <a:pt x="0" y="1389356"/>
                  </a:moveTo>
                  <a:lnTo>
                    <a:pt x="0" y="0"/>
                  </a:lnTo>
                  <a:lnTo>
                    <a:pt x="1331796" y="0"/>
                  </a:lnTo>
                  <a:lnTo>
                    <a:pt x="1325681" y="121101"/>
                  </a:lnTo>
                  <a:cubicBezTo>
                    <a:pt x="1257932" y="788206"/>
                    <a:pt x="727584" y="1318554"/>
                    <a:pt x="60478" y="1386303"/>
                  </a:cubicBezTo>
                  <a:lnTo>
                    <a:pt x="0" y="1389356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5400000">
              <a:off x="6148812" y="3692298"/>
              <a:ext cx="1331893" cy="1391284"/>
            </a:xfrm>
            <a:custGeom>
              <a:avLst/>
              <a:gdLst>
                <a:gd name="connsiteX0" fmla="*/ 0 w 1331893"/>
                <a:gd name="connsiteY0" fmla="*/ 1391284 h 1391284"/>
                <a:gd name="connsiteX1" fmla="*/ 0 w 1331893"/>
                <a:gd name="connsiteY1" fmla="*/ 0 h 1391284"/>
                <a:gd name="connsiteX2" fmla="*/ 60478 w 1331893"/>
                <a:gd name="connsiteY2" fmla="*/ 3054 h 1391284"/>
                <a:gd name="connsiteX3" fmla="*/ 1325681 w 1331893"/>
                <a:gd name="connsiteY3" fmla="*/ 1268256 h 1391284"/>
                <a:gd name="connsiteX4" fmla="*/ 1331893 w 1331893"/>
                <a:gd name="connsiteY4" fmla="*/ 1391284 h 1391284"/>
                <a:gd name="connsiteX5" fmla="*/ 0 w 1331893"/>
                <a:gd name="connsiteY5" fmla="*/ 1391284 h 139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893" h="1391284">
                  <a:moveTo>
                    <a:pt x="0" y="1391284"/>
                  </a:moveTo>
                  <a:lnTo>
                    <a:pt x="0" y="0"/>
                  </a:lnTo>
                  <a:lnTo>
                    <a:pt x="60478" y="3054"/>
                  </a:lnTo>
                  <a:cubicBezTo>
                    <a:pt x="727584" y="70802"/>
                    <a:pt x="1257932" y="601150"/>
                    <a:pt x="1325681" y="1268256"/>
                  </a:cubicBezTo>
                  <a:lnTo>
                    <a:pt x="1331893" y="1391284"/>
                  </a:lnTo>
                  <a:lnTo>
                    <a:pt x="0" y="1391284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793055" y="1331489"/>
            <a:ext cx="4605890" cy="4612117"/>
            <a:chOff x="3793055" y="1331490"/>
            <a:chExt cx="4605890" cy="4612117"/>
          </a:xfrm>
        </p:grpSpPr>
        <p:sp>
          <p:nvSpPr>
            <p:cNvPr id="136" name="弧形 135"/>
            <p:cNvSpPr/>
            <p:nvPr/>
          </p:nvSpPr>
          <p:spPr>
            <a:xfrm rot="5400000">
              <a:off x="4326341" y="1871003"/>
              <a:ext cx="3553671" cy="3553672"/>
            </a:xfrm>
            <a:prstGeom prst="arc">
              <a:avLst/>
            </a:prstGeom>
            <a:ln w="7620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 flipH="1" flipV="1">
              <a:off x="4311988" y="1871003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弧形 143"/>
            <p:cNvSpPr/>
            <p:nvPr/>
          </p:nvSpPr>
          <p:spPr>
            <a:xfrm>
              <a:off x="4326341" y="1850421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等腰三角形 144"/>
            <p:cNvSpPr/>
            <p:nvPr/>
          </p:nvSpPr>
          <p:spPr>
            <a:xfrm rot="11474793">
              <a:off x="7214260" y="3501956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326340" y="1331490"/>
              <a:ext cx="3553672" cy="4072602"/>
              <a:chOff x="4361935" y="1331490"/>
              <a:chExt cx="3553672" cy="4072602"/>
            </a:xfrm>
          </p:grpSpPr>
          <p:sp>
            <p:nvSpPr>
              <p:cNvPr id="84" name="弧形 83"/>
              <p:cNvSpPr/>
              <p:nvPr/>
            </p:nvSpPr>
            <p:spPr>
              <a:xfrm rot="5400000" flipH="1" flipV="1">
                <a:off x="4361935" y="1850421"/>
                <a:ext cx="3553671" cy="3553672"/>
              </a:xfrm>
              <a:prstGeom prst="arc">
                <a:avLst/>
              </a:prstGeom>
              <a:ln w="7620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5" name="等腰三角形 84"/>
              <p:cNvSpPr/>
              <p:nvPr/>
            </p:nvSpPr>
            <p:spPr>
              <a:xfrm rot="16874793" flipH="1" flipV="1">
                <a:off x="5855839" y="1489118"/>
                <a:ext cx="1184684" cy="869427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42" name="等腰三角形 141"/>
            <p:cNvSpPr/>
            <p:nvPr/>
          </p:nvSpPr>
          <p:spPr>
            <a:xfrm rot="11474793" flipH="1" flipV="1">
              <a:off x="3793055" y="2903714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等腰三角形 138"/>
            <p:cNvSpPr/>
            <p:nvPr/>
          </p:nvSpPr>
          <p:spPr>
            <a:xfrm rot="16874793">
              <a:off x="5201423" y="4916551"/>
              <a:ext cx="1184684" cy="869427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253473" y="1871002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97724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计划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4012298" y="1812496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722054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执行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4249811" y="1696743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596631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改进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4142370" y="1619014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730427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检查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6555058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CHECK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820588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ACT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372332" y="2939747"/>
            <a:ext cx="1473056" cy="147305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PDCA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循环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8482" y="2636011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442571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PLAN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32787" y="2667310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04244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DO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45531" y="1137165"/>
            <a:ext cx="3409053" cy="2156104"/>
            <a:chOff x="545531" y="1137165"/>
            <a:chExt cx="3409053" cy="2156104"/>
          </a:xfrm>
        </p:grpSpPr>
        <p:sp>
          <p:nvSpPr>
            <p:cNvPr id="14" name="矩形: 圆角 13"/>
            <p:cNvSpPr/>
            <p:nvPr/>
          </p:nvSpPr>
          <p:spPr>
            <a:xfrm>
              <a:off x="545531" y="1137165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目标拆解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30459" y="1147447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基于用户反馈确定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大核心优化点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545531" y="1483942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方案设计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545531" y="1830719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资源准备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45531" y="2177496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风险评估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30459" y="1491600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制定双周迭代计划与交付标准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30459" y="1835753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协调开发、测试、设计团队资源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30459" y="2185981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预判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个关键风险并制定预案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67767" y="2559845"/>
              <a:ext cx="2587863" cy="733424"/>
            </a:xfrm>
            <a:prstGeom prst="roundRect">
              <a:avLst>
                <a:gd name="adj" fmla="val 1021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714636" y="2686057"/>
              <a:ext cx="483052" cy="486878"/>
            </a:xfrm>
            <a:prstGeom prst="roundRect">
              <a:avLst>
                <a:gd name="adj" fmla="val 1021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62725" y="2648088"/>
              <a:ext cx="1855126" cy="579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拆解目标，设计实施方案，预配资源并评估风险，确保计划可行性。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31" name="Google Shape;7274;p80"/>
            <p:cNvGrpSpPr/>
            <p:nvPr/>
          </p:nvGrpSpPr>
          <p:grpSpPr>
            <a:xfrm>
              <a:off x="809215" y="2776722"/>
              <a:ext cx="299846" cy="299670"/>
              <a:chOff x="-49764975" y="3183375"/>
              <a:chExt cx="299300" cy="299125"/>
            </a:xfrm>
            <a:solidFill>
              <a:schemeClr val="bg1"/>
            </a:solidFill>
          </p:grpSpPr>
          <p:sp>
            <p:nvSpPr>
              <p:cNvPr id="32" name="Google Shape;7275;p80"/>
              <p:cNvSpPr/>
              <p:nvPr/>
            </p:nvSpPr>
            <p:spPr>
              <a:xfrm>
                <a:off x="-49606675" y="3233575"/>
                <a:ext cx="701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4128" extrusionOk="0">
                    <a:moveTo>
                      <a:pt x="2805" y="1"/>
                    </a:moveTo>
                    <a:lnTo>
                      <a:pt x="1" y="1355"/>
                    </a:lnTo>
                    <a:lnTo>
                      <a:pt x="1" y="4128"/>
                    </a:lnTo>
                    <a:lnTo>
                      <a:pt x="2805" y="2710"/>
                    </a:lnTo>
                    <a:lnTo>
                      <a:pt x="280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3" name="Google Shape;7276;p80"/>
              <p:cNvSpPr/>
              <p:nvPr/>
            </p:nvSpPr>
            <p:spPr>
              <a:xfrm>
                <a:off x="-496767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2080" y="0"/>
                    </a:moveTo>
                    <a:lnTo>
                      <a:pt x="1" y="1072"/>
                    </a:lnTo>
                    <a:lnTo>
                      <a:pt x="1" y="4726"/>
                    </a:lnTo>
                    <a:lnTo>
                      <a:pt x="2080" y="3529"/>
                    </a:lnTo>
                    <a:lnTo>
                      <a:pt x="20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4" name="Google Shape;7277;p80"/>
              <p:cNvSpPr/>
              <p:nvPr/>
            </p:nvSpPr>
            <p:spPr>
              <a:xfrm>
                <a:off x="-49694100" y="3233575"/>
                <a:ext cx="693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4128" extrusionOk="0">
                    <a:moveTo>
                      <a:pt x="1" y="1"/>
                    </a:moveTo>
                    <a:lnTo>
                      <a:pt x="1" y="2710"/>
                    </a:lnTo>
                    <a:lnTo>
                      <a:pt x="2773" y="4128"/>
                    </a:lnTo>
                    <a:lnTo>
                      <a:pt x="2773" y="1355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5" name="Google Shape;7278;p80"/>
              <p:cNvSpPr/>
              <p:nvPr/>
            </p:nvSpPr>
            <p:spPr>
              <a:xfrm>
                <a:off x="-49756325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048" y="1"/>
                    </a:moveTo>
                    <a:lnTo>
                      <a:pt x="1" y="1040"/>
                    </a:lnTo>
                    <a:lnTo>
                      <a:pt x="2836" y="2458"/>
                    </a:lnTo>
                    <a:lnTo>
                      <a:pt x="4852" y="1418"/>
                    </a:lnTo>
                    <a:lnTo>
                      <a:pt x="204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6" name="Google Shape;7279;p80"/>
              <p:cNvSpPr/>
              <p:nvPr/>
            </p:nvSpPr>
            <p:spPr>
              <a:xfrm>
                <a:off x="-496066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1" y="0"/>
                    </a:moveTo>
                    <a:lnTo>
                      <a:pt x="1" y="3529"/>
                    </a:lnTo>
                    <a:lnTo>
                      <a:pt x="2080" y="4726"/>
                    </a:lnTo>
                    <a:lnTo>
                      <a:pt x="2080" y="107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7" name="Google Shape;7280;p80"/>
              <p:cNvSpPr/>
              <p:nvPr/>
            </p:nvSpPr>
            <p:spPr>
              <a:xfrm>
                <a:off x="-49595650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773" y="1"/>
                    </a:moveTo>
                    <a:lnTo>
                      <a:pt x="1" y="1418"/>
                    </a:lnTo>
                    <a:lnTo>
                      <a:pt x="1985" y="2458"/>
                    </a:lnTo>
                    <a:lnTo>
                      <a:pt x="4852" y="1040"/>
                    </a:lnTo>
                    <a:lnTo>
                      <a:pt x="27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9" name="Google Shape;7281;p80"/>
              <p:cNvSpPr/>
              <p:nvPr/>
            </p:nvSpPr>
            <p:spPr>
              <a:xfrm>
                <a:off x="-497649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0" y="1"/>
                    </a:moveTo>
                    <a:lnTo>
                      <a:pt x="0" y="3309"/>
                    </a:lnTo>
                    <a:cubicBezTo>
                      <a:pt x="0" y="3403"/>
                      <a:pt x="63" y="3529"/>
                      <a:pt x="189" y="3624"/>
                    </a:cubicBezTo>
                    <a:lnTo>
                      <a:pt x="2804" y="5073"/>
                    </a:lnTo>
                    <a:lnTo>
                      <a:pt x="2804" y="1419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41" name="Google Shape;7282;p80"/>
              <p:cNvSpPr/>
              <p:nvPr/>
            </p:nvSpPr>
            <p:spPr>
              <a:xfrm>
                <a:off x="-495357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2804" y="1"/>
                    </a:moveTo>
                    <a:lnTo>
                      <a:pt x="0" y="1419"/>
                    </a:lnTo>
                    <a:lnTo>
                      <a:pt x="0" y="5073"/>
                    </a:lnTo>
                    <a:lnTo>
                      <a:pt x="2583" y="3624"/>
                    </a:lnTo>
                    <a:cubicBezTo>
                      <a:pt x="2709" y="3529"/>
                      <a:pt x="2804" y="3403"/>
                      <a:pt x="2804" y="3309"/>
                    </a:cubicBezTo>
                    <a:lnTo>
                      <a:pt x="280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42" name="Google Shape;7283;p80"/>
              <p:cNvSpPr/>
              <p:nvPr/>
            </p:nvSpPr>
            <p:spPr>
              <a:xfrm>
                <a:off x="-49685425" y="3183375"/>
                <a:ext cx="14020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2797" extrusionOk="0">
                    <a:moveTo>
                      <a:pt x="2792" y="0"/>
                    </a:moveTo>
                    <a:cubicBezTo>
                      <a:pt x="2741" y="0"/>
                      <a:pt x="2694" y="8"/>
                      <a:pt x="2647" y="24"/>
                    </a:cubicBezTo>
                    <a:lnTo>
                      <a:pt x="0" y="1378"/>
                    </a:lnTo>
                    <a:lnTo>
                      <a:pt x="2804" y="2796"/>
                    </a:lnTo>
                    <a:lnTo>
                      <a:pt x="5608" y="1378"/>
                    </a:lnTo>
                    <a:lnTo>
                      <a:pt x="2962" y="24"/>
                    </a:lnTo>
                    <a:cubicBezTo>
                      <a:pt x="2899" y="8"/>
                      <a:pt x="2843" y="0"/>
                      <a:pt x="27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45" name="矩形: 圆角 44"/>
          <p:cNvSpPr/>
          <p:nvPr/>
        </p:nvSpPr>
        <p:spPr>
          <a:xfrm flipH="1">
            <a:off x="10822748" y="113716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任务分派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 flipH="1">
            <a:off x="8240909" y="114744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明确各模块负责人及交付节点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矩形: 圆角 47"/>
          <p:cNvSpPr/>
          <p:nvPr/>
        </p:nvSpPr>
        <p:spPr>
          <a:xfrm flipH="1">
            <a:off x="10822748" y="148394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进度管控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9" name="矩形: 圆角 48"/>
          <p:cNvSpPr/>
          <p:nvPr/>
        </p:nvSpPr>
        <p:spPr>
          <a:xfrm flipH="1">
            <a:off x="10822748" y="183071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质量保障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22748" y="217749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沟通协调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 flipH="1">
            <a:off x="8240909" y="149160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每日站会跟进开发进度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 flipH="1">
            <a:off x="8240909" y="1835753"/>
            <a:ext cx="252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自动化测试覆盖核心功能</a:t>
            </a:r>
            <a:b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b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8240909" y="218598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建立跨部门实时沟通机制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矩形: 圆角 53"/>
          <p:cNvSpPr/>
          <p:nvPr/>
        </p:nvSpPr>
        <p:spPr>
          <a:xfrm flipH="1">
            <a:off x="9039863" y="255984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997805" y="268605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 flipH="1">
            <a:off x="9077642" y="264808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拆解目标，设计实施方案，预配资源并评估风险，确保计划可行性。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57" name="Google Shape;7274;p80"/>
          <p:cNvGrpSpPr/>
          <p:nvPr/>
        </p:nvGrpSpPr>
        <p:grpSpPr>
          <a:xfrm flipH="1">
            <a:off x="11086432" y="277672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58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9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2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3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5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6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8" name="矩形: 圆角 67"/>
          <p:cNvSpPr/>
          <p:nvPr/>
        </p:nvSpPr>
        <p:spPr>
          <a:xfrm>
            <a:off x="545531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问题修复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43045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优先处理关键功能缺陷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545531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矩形: 圆角 70"/>
          <p:cNvSpPr/>
          <p:nvPr/>
        </p:nvSpPr>
        <p:spPr>
          <a:xfrm>
            <a:off x="545531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知识沉淀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545531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标准固化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430459" y="432194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更新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项开发规范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430459" y="4666093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形成案例库共享经验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430459" y="501632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修订产品需求文档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567767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714636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262725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拆解目标，设计实施方案，预配资源并评估风险，确保计划可行性。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9" name="Google Shape;7274;p80"/>
          <p:cNvGrpSpPr/>
          <p:nvPr/>
        </p:nvGrpSpPr>
        <p:grpSpPr>
          <a:xfrm>
            <a:off x="809215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80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1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2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6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7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8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9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0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91" name="矩形: 圆角 90"/>
          <p:cNvSpPr/>
          <p:nvPr/>
        </p:nvSpPr>
        <p:spPr>
          <a:xfrm flipH="1">
            <a:off x="10822748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数据收集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 flipH="1">
            <a:off x="824090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名种子用户实测反馈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3" name="矩形: 圆角 92"/>
          <p:cNvSpPr/>
          <p:nvPr/>
        </p:nvSpPr>
        <p:spPr>
          <a:xfrm flipH="1">
            <a:off x="10822748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效果评估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4" name="矩形: 圆角 93"/>
          <p:cNvSpPr/>
          <p:nvPr/>
        </p:nvSpPr>
        <p:spPr>
          <a:xfrm flipH="1">
            <a:off x="10822748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问题定位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矩形: 圆角 94"/>
          <p:cNvSpPr/>
          <p:nvPr/>
        </p:nvSpPr>
        <p:spPr>
          <a:xfrm flipH="1">
            <a:off x="10822748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改进建议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 flipH="1">
            <a:off x="8240909" y="432194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关键功能达标率分析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 flipH="1">
            <a:off x="8240909" y="4666093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高频问题诊断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 flipH="1">
            <a:off x="8240909" y="501632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产出优化方案清单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1" name="矩形: 圆角 130"/>
          <p:cNvSpPr/>
          <p:nvPr/>
        </p:nvSpPr>
        <p:spPr>
          <a:xfrm flipH="1">
            <a:off x="9039863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2" name="矩形: 圆角 131"/>
          <p:cNvSpPr/>
          <p:nvPr/>
        </p:nvSpPr>
        <p:spPr>
          <a:xfrm flipH="1">
            <a:off x="10997805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 flipH="1">
            <a:off x="9077642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拆解目标，设计实施方案，预配资源并评估风险，确保计划可行性。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4" name="Google Shape;7274;p80"/>
          <p:cNvGrpSpPr/>
          <p:nvPr/>
        </p:nvGrpSpPr>
        <p:grpSpPr>
          <a:xfrm flipH="1">
            <a:off x="11086432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3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7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8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0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5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6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7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: 圆角 152"/>
          <p:cNvSpPr/>
          <p:nvPr/>
        </p:nvSpPr>
        <p:spPr>
          <a:xfrm>
            <a:off x="355600" y="1024960"/>
            <a:ext cx="2785654" cy="2298700"/>
          </a:xfrm>
          <a:prstGeom prst="roundRect">
            <a:avLst>
              <a:gd name="adj" fmla="val 455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4" name="Freeform 145"/>
          <p:cNvSpPr/>
          <p:nvPr/>
        </p:nvSpPr>
        <p:spPr>
          <a:xfrm>
            <a:off x="355600" y="1024960"/>
            <a:ext cx="2785655" cy="2298701"/>
          </a:xfrm>
          <a:custGeom>
            <a:avLst/>
            <a:gdLst/>
            <a:ahLst/>
            <a:cxnLst/>
            <a:rect l="0" t="0" r="0" b="0"/>
            <a:pathLst>
              <a:path w="3016251" h="2298701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64277" y="538828"/>
                  <a:pt x="1104599" y="566833"/>
                  <a:pt x="1149586" y="566876"/>
                </a:cubicBezTo>
                <a:lnTo>
                  <a:pt x="2908355" y="568581"/>
                </a:lnTo>
                <a:cubicBezTo>
                  <a:pt x="2967913" y="568639"/>
                  <a:pt x="3016250" y="617023"/>
                  <a:pt x="3016250" y="676581"/>
                </a:cubicBezTo>
                <a:lnTo>
                  <a:pt x="3016250" y="2190700"/>
                </a:lnTo>
                <a:cubicBezTo>
                  <a:pt x="3016250" y="2250316"/>
                  <a:pt x="2967866" y="2298700"/>
                  <a:pt x="2908250" y="2298700"/>
                </a:cubicBezTo>
                <a:lnTo>
                  <a:pt x="0" y="22987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401671" y="1079043"/>
            <a:ext cx="903983" cy="509480"/>
          </a:xfrm>
          <a:custGeom>
            <a:avLst/>
            <a:gdLst>
              <a:gd name="connsiteX0" fmla="*/ 0 w 1065886"/>
              <a:gd name="connsiteY0" fmla="*/ 0 h 526607"/>
              <a:gd name="connsiteX1" fmla="*/ 787950 w 1065886"/>
              <a:gd name="connsiteY1" fmla="*/ 0 h 526607"/>
              <a:gd name="connsiteX2" fmla="*/ 889115 w 1065886"/>
              <a:gd name="connsiteY2" fmla="*/ 70188 h 526607"/>
              <a:gd name="connsiteX3" fmla="*/ 1048526 w 1065886"/>
              <a:gd name="connsiteY3" fmla="*/ 496688 h 526607"/>
              <a:gd name="connsiteX4" fmla="*/ 1064636 w 1065886"/>
              <a:gd name="connsiteY4" fmla="*/ 525427 h 526607"/>
              <a:gd name="connsiteX5" fmla="*/ 1065886 w 1065886"/>
              <a:gd name="connsiteY5" fmla="*/ 526607 h 526607"/>
              <a:gd name="connsiteX6" fmla="*/ 0 w 1065886"/>
              <a:gd name="connsiteY6" fmla="*/ 526607 h 52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5886" h="526607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52464" y="507223"/>
                  <a:pt x="1057938" y="516875"/>
                  <a:pt x="1064636" y="525427"/>
                </a:cubicBezTo>
                <a:lnTo>
                  <a:pt x="1065886" y="526607"/>
                </a:lnTo>
                <a:lnTo>
                  <a:pt x="0" y="5266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0" name="Google Shape;8307;p82"/>
          <p:cNvSpPr/>
          <p:nvPr/>
        </p:nvSpPr>
        <p:spPr>
          <a:xfrm>
            <a:off x="756689" y="1079042"/>
            <a:ext cx="316193" cy="309104"/>
          </a:xfrm>
          <a:custGeom>
            <a:avLst/>
            <a:gdLst/>
            <a:ahLst/>
            <a:cxnLst/>
            <a:rect l="l" t="t" r="r" b="b"/>
            <a:pathLst>
              <a:path w="8476" h="8286" extrusionOk="0">
                <a:moveTo>
                  <a:pt x="6105" y="1"/>
                </a:moveTo>
                <a:cubicBezTo>
                  <a:pt x="6014" y="1"/>
                  <a:pt x="5916" y="39"/>
                  <a:pt x="5829" y="126"/>
                </a:cubicBezTo>
                <a:lnTo>
                  <a:pt x="3781" y="2205"/>
                </a:lnTo>
                <a:cubicBezTo>
                  <a:pt x="3718" y="2268"/>
                  <a:pt x="3655" y="2363"/>
                  <a:pt x="3655" y="2426"/>
                </a:cubicBezTo>
                <a:lnTo>
                  <a:pt x="3655" y="4253"/>
                </a:lnTo>
                <a:lnTo>
                  <a:pt x="1544" y="6332"/>
                </a:lnTo>
                <a:cubicBezTo>
                  <a:pt x="1400" y="6270"/>
                  <a:pt x="1256" y="6242"/>
                  <a:pt x="1119" y="6242"/>
                </a:cubicBezTo>
                <a:cubicBezTo>
                  <a:pt x="835" y="6242"/>
                  <a:pt x="580" y="6362"/>
                  <a:pt x="410" y="6553"/>
                </a:cubicBezTo>
                <a:cubicBezTo>
                  <a:pt x="0" y="6931"/>
                  <a:pt x="0" y="7592"/>
                  <a:pt x="410" y="8002"/>
                </a:cubicBezTo>
                <a:cubicBezTo>
                  <a:pt x="599" y="8191"/>
                  <a:pt x="859" y="8286"/>
                  <a:pt x="1123" y="8286"/>
                </a:cubicBezTo>
                <a:cubicBezTo>
                  <a:pt x="1387" y="8286"/>
                  <a:pt x="1655" y="8191"/>
                  <a:pt x="1859" y="8002"/>
                </a:cubicBezTo>
                <a:cubicBezTo>
                  <a:pt x="2174" y="7687"/>
                  <a:pt x="2206" y="7214"/>
                  <a:pt x="2048" y="6868"/>
                </a:cubicBezTo>
                <a:lnTo>
                  <a:pt x="4128" y="4757"/>
                </a:lnTo>
                <a:lnTo>
                  <a:pt x="5955" y="4757"/>
                </a:lnTo>
                <a:cubicBezTo>
                  <a:pt x="6018" y="4757"/>
                  <a:pt x="6144" y="4725"/>
                  <a:pt x="6175" y="4662"/>
                </a:cubicBezTo>
                <a:lnTo>
                  <a:pt x="8286" y="2552"/>
                </a:lnTo>
                <a:cubicBezTo>
                  <a:pt x="8475" y="2331"/>
                  <a:pt x="8349" y="1985"/>
                  <a:pt x="8034" y="1985"/>
                </a:cubicBezTo>
                <a:lnTo>
                  <a:pt x="6428" y="1985"/>
                </a:lnTo>
                <a:lnTo>
                  <a:pt x="6428" y="346"/>
                </a:lnTo>
                <a:cubicBezTo>
                  <a:pt x="6428" y="140"/>
                  <a:pt x="6278" y="1"/>
                  <a:pt x="61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Google Shape;8308;p82"/>
          <p:cNvSpPr/>
          <p:nvPr/>
        </p:nvSpPr>
        <p:spPr>
          <a:xfrm>
            <a:off x="709685" y="1260565"/>
            <a:ext cx="179845" cy="176487"/>
          </a:xfrm>
          <a:custGeom>
            <a:avLst/>
            <a:gdLst/>
            <a:ahLst/>
            <a:cxnLst/>
            <a:rect l="l" t="t" r="r" b="b"/>
            <a:pathLst>
              <a:path w="4821" h="4731" extrusionOk="0">
                <a:moveTo>
                  <a:pt x="2340" y="1"/>
                </a:moveTo>
                <a:cubicBezTo>
                  <a:pt x="1722" y="1"/>
                  <a:pt x="1163" y="241"/>
                  <a:pt x="725" y="679"/>
                </a:cubicBezTo>
                <a:cubicBezTo>
                  <a:pt x="284" y="1120"/>
                  <a:pt x="0" y="1750"/>
                  <a:pt x="0" y="2380"/>
                </a:cubicBezTo>
                <a:cubicBezTo>
                  <a:pt x="0" y="3943"/>
                  <a:pt x="1211" y="4731"/>
                  <a:pt x="2420" y="4731"/>
                </a:cubicBezTo>
                <a:cubicBezTo>
                  <a:pt x="3622" y="4731"/>
                  <a:pt x="4821" y="3951"/>
                  <a:pt x="4821" y="2380"/>
                </a:cubicBezTo>
                <a:cubicBezTo>
                  <a:pt x="4821" y="2096"/>
                  <a:pt x="4758" y="1844"/>
                  <a:pt x="4663" y="1592"/>
                </a:cubicBezTo>
                <a:lnTo>
                  <a:pt x="4096" y="2159"/>
                </a:lnTo>
                <a:cubicBezTo>
                  <a:pt x="4253" y="3199"/>
                  <a:pt x="3434" y="4081"/>
                  <a:pt x="2395" y="4081"/>
                </a:cubicBezTo>
                <a:cubicBezTo>
                  <a:pt x="882" y="4081"/>
                  <a:pt x="126" y="2222"/>
                  <a:pt x="1197" y="1151"/>
                </a:cubicBezTo>
                <a:cubicBezTo>
                  <a:pt x="1522" y="827"/>
                  <a:pt x="1984" y="665"/>
                  <a:pt x="2428" y="665"/>
                </a:cubicBezTo>
                <a:cubicBezTo>
                  <a:pt x="2501" y="665"/>
                  <a:pt x="2575" y="670"/>
                  <a:pt x="2647" y="679"/>
                </a:cubicBezTo>
                <a:lnTo>
                  <a:pt x="3182" y="143"/>
                </a:lnTo>
                <a:cubicBezTo>
                  <a:pt x="2894" y="47"/>
                  <a:pt x="2611" y="1"/>
                  <a:pt x="2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Google Shape;8309;p82"/>
          <p:cNvSpPr/>
          <p:nvPr/>
        </p:nvSpPr>
        <p:spPr>
          <a:xfrm>
            <a:off x="634442" y="1185509"/>
            <a:ext cx="332644" cy="333091"/>
          </a:xfrm>
          <a:custGeom>
            <a:avLst/>
            <a:gdLst/>
            <a:ahLst/>
            <a:cxnLst/>
            <a:rect l="l" t="t" r="r" b="b"/>
            <a:pathLst>
              <a:path w="8917" h="8929" extrusionOk="0">
                <a:moveTo>
                  <a:pt x="4475" y="1"/>
                </a:moveTo>
                <a:cubicBezTo>
                  <a:pt x="3329" y="1"/>
                  <a:pt x="2187" y="454"/>
                  <a:pt x="1324" y="1336"/>
                </a:cubicBezTo>
                <a:cubicBezTo>
                  <a:pt x="474" y="2155"/>
                  <a:pt x="1" y="3289"/>
                  <a:pt x="1" y="4486"/>
                </a:cubicBezTo>
                <a:cubicBezTo>
                  <a:pt x="1" y="6912"/>
                  <a:pt x="2017" y="8929"/>
                  <a:pt x="4475" y="8929"/>
                </a:cubicBezTo>
                <a:cubicBezTo>
                  <a:pt x="6901" y="8929"/>
                  <a:pt x="8917" y="6912"/>
                  <a:pt x="8917" y="4486"/>
                </a:cubicBezTo>
                <a:cubicBezTo>
                  <a:pt x="8917" y="3604"/>
                  <a:pt x="8696" y="2817"/>
                  <a:pt x="8255" y="2124"/>
                </a:cubicBezTo>
                <a:cubicBezTo>
                  <a:pt x="8098" y="2218"/>
                  <a:pt x="7342" y="2943"/>
                  <a:pt x="7184" y="3100"/>
                </a:cubicBezTo>
                <a:cubicBezTo>
                  <a:pt x="8161" y="5148"/>
                  <a:pt x="6680" y="7511"/>
                  <a:pt x="4412" y="7511"/>
                </a:cubicBezTo>
                <a:cubicBezTo>
                  <a:pt x="1702" y="7511"/>
                  <a:pt x="316" y="4203"/>
                  <a:pt x="2269" y="2281"/>
                </a:cubicBezTo>
                <a:cubicBezTo>
                  <a:pt x="2869" y="1681"/>
                  <a:pt x="3659" y="1373"/>
                  <a:pt x="4447" y="1373"/>
                </a:cubicBezTo>
                <a:cubicBezTo>
                  <a:pt x="4900" y="1373"/>
                  <a:pt x="5352" y="1475"/>
                  <a:pt x="5766" y="1682"/>
                </a:cubicBezTo>
                <a:cubicBezTo>
                  <a:pt x="5924" y="1525"/>
                  <a:pt x="6617" y="800"/>
                  <a:pt x="6838" y="706"/>
                </a:cubicBezTo>
                <a:cubicBezTo>
                  <a:pt x="6115" y="233"/>
                  <a:pt x="5294" y="1"/>
                  <a:pt x="44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77985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结合公司季度战略目标与业务增长需求，明确活动在整体运营中的定位与价值，锚定长期发展方向。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537444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战略规划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2528138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37058" y="1024960"/>
            <a:ext cx="2785655" cy="2298701"/>
            <a:chOff x="355600" y="1130300"/>
            <a:chExt cx="3016251" cy="2298701"/>
          </a:xfrm>
        </p:grpSpPr>
        <p:sp>
          <p:nvSpPr>
            <p:cNvPr id="16" name="矩形: 圆角 15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2594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基于需求拆解活动目标，创新设计互动玩法，规划详细规则与流程，合理分配资源，形成兼具创意与落地性的方案。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189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方案设计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3095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020935" y="1024960"/>
            <a:ext cx="2785655" cy="2298701"/>
            <a:chOff x="355600" y="1130300"/>
            <a:chExt cx="3016251" cy="2298701"/>
          </a:xfrm>
        </p:grpSpPr>
        <p:sp>
          <p:nvSpPr>
            <p:cNvPr id="28" name="矩形: 圆角 27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143320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组织跨部门沟通会议，明确设计、技术、运营等各团队分工，统筹人力、设计素材、推广预算等资源。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02779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资源协调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1193473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3250658" y="1024960"/>
            <a:ext cx="2785655" cy="2298701"/>
            <a:chOff x="355600" y="1130300"/>
            <a:chExt cx="3016251" cy="2298701"/>
          </a:xfrm>
        </p:grpSpPr>
        <p:sp>
          <p:nvSpPr>
            <p:cNvPr id="173" name="矩形: 圆角 172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8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3730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深度访谈业务部门，结合用户调研问卷及行为数据，剖析市场竞品策略，定位活动核心目标与用户需求。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325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需求分析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4231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25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互联网活动策划工作流程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23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0" name="Google Shape;8203;p82"/>
          <p:cNvGrpSpPr/>
          <p:nvPr/>
        </p:nvGrpSpPr>
        <p:grpSpPr>
          <a:xfrm>
            <a:off x="3539847" y="1101816"/>
            <a:ext cx="308791" cy="38367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91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2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3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4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9" name="Google Shape;8076;p82"/>
          <p:cNvGrpSpPr/>
          <p:nvPr/>
        </p:nvGrpSpPr>
        <p:grpSpPr>
          <a:xfrm>
            <a:off x="6378266" y="1169424"/>
            <a:ext cx="378190" cy="35876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80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1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3" name="Google Shape;8132;p82"/>
          <p:cNvGrpSpPr/>
          <p:nvPr/>
        </p:nvGrpSpPr>
        <p:grpSpPr>
          <a:xfrm>
            <a:off x="9306977" y="1185510"/>
            <a:ext cx="348484" cy="346610"/>
            <a:chOff x="-6329100" y="3632100"/>
            <a:chExt cx="293025" cy="291450"/>
          </a:xfrm>
          <a:solidFill>
            <a:schemeClr val="accent1"/>
          </a:solidFill>
        </p:grpSpPr>
        <p:sp>
          <p:nvSpPr>
            <p:cNvPr id="184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6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239477" y="4000499"/>
            <a:ext cx="2785655" cy="2298701"/>
            <a:chOff x="6123354" y="4000499"/>
            <a:chExt cx="2785655" cy="2298701"/>
          </a:xfrm>
        </p:grpSpPr>
        <p:sp>
          <p:nvSpPr>
            <p:cNvPr id="129" name="矩形: 圆角 128"/>
            <p:cNvSpPr/>
            <p:nvPr/>
          </p:nvSpPr>
          <p:spPr>
            <a:xfrm>
              <a:off x="6123354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0" name="Freeform 145"/>
            <p:cNvSpPr/>
            <p:nvPr/>
          </p:nvSpPr>
          <p:spPr>
            <a:xfrm>
              <a:off x="6123354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4" name="Google Shape;8307;p82"/>
            <p:cNvSpPr/>
            <p:nvPr/>
          </p:nvSpPr>
          <p:spPr>
            <a:xfrm>
              <a:off x="6524443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5" name="Google Shape;8308;p82"/>
            <p:cNvSpPr/>
            <p:nvPr/>
          </p:nvSpPr>
          <p:spPr>
            <a:xfrm>
              <a:off x="6477439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8" name="Google Shape;8309;p82"/>
            <p:cNvSpPr/>
            <p:nvPr/>
          </p:nvSpPr>
          <p:spPr>
            <a:xfrm>
              <a:off x="6402196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6245739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整合活动全周期数据报表与用户反馈，深度分析活动亮点与不足，提炼经验形成标准化流程。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7305198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复盘优化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53" name="椭圆 252"/>
            <p:cNvSpPr/>
            <p:nvPr/>
          </p:nvSpPr>
          <p:spPr>
            <a:xfrm>
              <a:off x="8295892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6168934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87" name="Google Shape;8188;p82"/>
            <p:cNvGrpSpPr/>
            <p:nvPr/>
          </p:nvGrpSpPr>
          <p:grpSpPr>
            <a:xfrm>
              <a:off x="6411015" y="4088290"/>
              <a:ext cx="395670" cy="393536"/>
              <a:chOff x="-4118225" y="3253275"/>
              <a:chExt cx="292225" cy="290650"/>
            </a:xfrm>
          </p:grpSpPr>
          <p:sp>
            <p:nvSpPr>
              <p:cNvPr id="188" name="Google Shape;8189;p82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9" name="Google Shape;8190;p82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66" name="组合 165"/>
          <p:cNvGrpSpPr/>
          <p:nvPr/>
        </p:nvGrpSpPr>
        <p:grpSpPr>
          <a:xfrm>
            <a:off x="6123354" y="4000499"/>
            <a:ext cx="2785655" cy="2298701"/>
            <a:chOff x="3239477" y="4000499"/>
            <a:chExt cx="2785655" cy="2298701"/>
          </a:xfrm>
        </p:grpSpPr>
        <p:sp>
          <p:nvSpPr>
            <p:cNvPr id="245" name="矩形: 圆角 244"/>
            <p:cNvSpPr/>
            <p:nvPr/>
          </p:nvSpPr>
          <p:spPr>
            <a:xfrm>
              <a:off x="323947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6" name="Freeform 145"/>
            <p:cNvSpPr/>
            <p:nvPr/>
          </p:nvSpPr>
          <p:spPr>
            <a:xfrm>
              <a:off x="323947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328554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3361862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制定分阶段推广计划，通过社交媒体、站内信、合作渠道等多途径投放，实时追踪流量、转化等数据。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442132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推广执行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41" name="椭圆 240"/>
            <p:cNvSpPr/>
            <p:nvPr/>
          </p:nvSpPr>
          <p:spPr>
            <a:xfrm>
              <a:off x="541201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82" name="Google Shape;8098;p82"/>
            <p:cNvSpPr/>
            <p:nvPr/>
          </p:nvSpPr>
          <p:spPr>
            <a:xfrm>
              <a:off x="3458448" y="4112643"/>
              <a:ext cx="408702" cy="394214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10001" y="2714"/>
                  </a:moveTo>
                  <a:cubicBezTo>
                    <a:pt x="10213" y="2714"/>
                    <a:pt x="10440" y="2904"/>
                    <a:pt x="10341" y="3182"/>
                  </a:cubicBezTo>
                  <a:lnTo>
                    <a:pt x="9332" y="5923"/>
                  </a:lnTo>
                  <a:cubicBezTo>
                    <a:pt x="9269" y="6065"/>
                    <a:pt x="9143" y="6136"/>
                    <a:pt x="9017" y="6136"/>
                  </a:cubicBezTo>
                  <a:cubicBezTo>
                    <a:pt x="8891" y="6136"/>
                    <a:pt x="8765" y="6065"/>
                    <a:pt x="8702" y="5923"/>
                  </a:cubicBezTo>
                  <a:lnTo>
                    <a:pt x="7978" y="4033"/>
                  </a:lnTo>
                  <a:lnTo>
                    <a:pt x="7285" y="5923"/>
                  </a:lnTo>
                  <a:cubicBezTo>
                    <a:pt x="7222" y="6065"/>
                    <a:pt x="7080" y="6136"/>
                    <a:pt x="6946" y="6136"/>
                  </a:cubicBezTo>
                  <a:cubicBezTo>
                    <a:pt x="6812" y="6136"/>
                    <a:pt x="6686" y="6065"/>
                    <a:pt x="6655" y="5923"/>
                  </a:cubicBezTo>
                  <a:lnTo>
                    <a:pt x="5615" y="3182"/>
                  </a:lnTo>
                  <a:cubicBezTo>
                    <a:pt x="5516" y="2904"/>
                    <a:pt x="5729" y="2714"/>
                    <a:pt x="5941" y="2714"/>
                  </a:cubicBezTo>
                  <a:cubicBezTo>
                    <a:pt x="6064" y="2714"/>
                    <a:pt x="6187" y="2779"/>
                    <a:pt x="6245" y="2930"/>
                  </a:cubicBezTo>
                  <a:lnTo>
                    <a:pt x="6970" y="4820"/>
                  </a:lnTo>
                  <a:lnTo>
                    <a:pt x="7663" y="2930"/>
                  </a:lnTo>
                  <a:cubicBezTo>
                    <a:pt x="7726" y="2804"/>
                    <a:pt x="7867" y="2741"/>
                    <a:pt x="8001" y="2741"/>
                  </a:cubicBezTo>
                  <a:cubicBezTo>
                    <a:pt x="8135" y="2741"/>
                    <a:pt x="8261" y="2804"/>
                    <a:pt x="8293" y="2930"/>
                  </a:cubicBezTo>
                  <a:lnTo>
                    <a:pt x="9017" y="4820"/>
                  </a:lnTo>
                  <a:lnTo>
                    <a:pt x="9711" y="2930"/>
                  </a:lnTo>
                  <a:cubicBezTo>
                    <a:pt x="9757" y="2779"/>
                    <a:pt x="9877" y="2714"/>
                    <a:pt x="10001" y="2714"/>
                  </a:cubicBezTo>
                  <a:close/>
                  <a:moveTo>
                    <a:pt x="7946" y="0"/>
                  </a:moveTo>
                  <a:cubicBezTo>
                    <a:pt x="5678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7" y="6711"/>
                  </a:cubicBezTo>
                  <a:lnTo>
                    <a:pt x="4134" y="7435"/>
                  </a:lnTo>
                  <a:cubicBezTo>
                    <a:pt x="3981" y="7364"/>
                    <a:pt x="3827" y="7329"/>
                    <a:pt x="3678" y="7329"/>
                  </a:cubicBezTo>
                  <a:cubicBezTo>
                    <a:pt x="3431" y="7329"/>
                    <a:pt x="3197" y="7427"/>
                    <a:pt x="3000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24" y="11645"/>
                  </a:cubicBezTo>
                  <a:cubicBezTo>
                    <a:pt x="1758" y="11645"/>
                    <a:pt x="1999" y="11555"/>
                    <a:pt x="2212" y="11342"/>
                  </a:cubicBezTo>
                  <a:lnTo>
                    <a:pt x="4449" y="9074"/>
                  </a:lnTo>
                  <a:cubicBezTo>
                    <a:pt x="4764" y="8759"/>
                    <a:pt x="4796" y="8286"/>
                    <a:pt x="4638" y="7939"/>
                  </a:cubicBezTo>
                  <a:lnTo>
                    <a:pt x="5363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3" y="6364"/>
                    <a:pt x="12073" y="4127"/>
                  </a:cubicBezTo>
                  <a:cubicBezTo>
                    <a:pt x="12073" y="1796"/>
                    <a:pt x="10246" y="0"/>
                    <a:pt x="79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358837" y="4000499"/>
            <a:ext cx="2785655" cy="2298701"/>
            <a:chOff x="9007231" y="4000499"/>
            <a:chExt cx="2785655" cy="2298701"/>
          </a:xfrm>
        </p:grpSpPr>
        <p:sp>
          <p:nvSpPr>
            <p:cNvPr id="141" name="矩形: 圆角 140"/>
            <p:cNvSpPr/>
            <p:nvPr/>
          </p:nvSpPr>
          <p:spPr>
            <a:xfrm>
              <a:off x="9007231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2" name="Freeform 145"/>
            <p:cNvSpPr/>
            <p:nvPr/>
          </p:nvSpPr>
          <p:spPr>
            <a:xfrm>
              <a:off x="9007231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8" name="Google Shape;8307;p82"/>
            <p:cNvSpPr/>
            <p:nvPr/>
          </p:nvSpPr>
          <p:spPr>
            <a:xfrm>
              <a:off x="9408320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Google Shape;8308;p82"/>
            <p:cNvSpPr/>
            <p:nvPr/>
          </p:nvSpPr>
          <p:spPr>
            <a:xfrm>
              <a:off x="9361316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0" name="Google Shape;8309;p82"/>
            <p:cNvSpPr/>
            <p:nvPr/>
          </p:nvSpPr>
          <p:spPr>
            <a:xfrm>
              <a:off x="9286073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129616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将活动沉淀的用户资产、品牌影响力持续运营，通过维护、用户分层运营等手段，挖掘活动长尾价值。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10189075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长效运营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11179769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9052320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01" name="Google Shape;8290;p82"/>
            <p:cNvGrpSpPr/>
            <p:nvPr/>
          </p:nvGrpSpPr>
          <p:grpSpPr>
            <a:xfrm>
              <a:off x="9300843" y="4112029"/>
              <a:ext cx="300790" cy="394586"/>
              <a:chOff x="-3365275" y="3253275"/>
              <a:chExt cx="222150" cy="291425"/>
            </a:xfrm>
          </p:grpSpPr>
          <p:sp>
            <p:nvSpPr>
              <p:cNvPr id="202" name="Google Shape;8291;p82"/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3" name="Google Shape;8292;p82"/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67" name="组合 166"/>
          <p:cNvGrpSpPr/>
          <p:nvPr/>
        </p:nvGrpSpPr>
        <p:grpSpPr>
          <a:xfrm>
            <a:off x="9007231" y="4000499"/>
            <a:ext cx="2785655" cy="2298701"/>
            <a:chOff x="358837" y="4000499"/>
            <a:chExt cx="2785655" cy="2298701"/>
          </a:xfrm>
        </p:grpSpPr>
        <p:sp>
          <p:nvSpPr>
            <p:cNvPr id="233" name="矩形: 圆角 232"/>
            <p:cNvSpPr/>
            <p:nvPr/>
          </p:nvSpPr>
          <p:spPr>
            <a:xfrm>
              <a:off x="35883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4" name="Freeform 145"/>
            <p:cNvSpPr/>
            <p:nvPr/>
          </p:nvSpPr>
          <p:spPr>
            <a:xfrm>
              <a:off x="35883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40490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481222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模拟多场景、多用户操作路径，对活动页面兼容性、功能逻辑、数据统计等进行测试，消除潜在风险与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BUG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154068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上线测试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28" name="椭圆 227"/>
            <p:cNvSpPr/>
            <p:nvPr/>
          </p:nvSpPr>
          <p:spPr>
            <a:xfrm>
              <a:off x="253137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195" name="Google Shape;8219;p82"/>
            <p:cNvGrpSpPr/>
            <p:nvPr/>
          </p:nvGrpSpPr>
          <p:grpSpPr>
            <a:xfrm>
              <a:off x="619856" y="4137877"/>
              <a:ext cx="376974" cy="372940"/>
              <a:chOff x="-5611575" y="3272950"/>
              <a:chExt cx="294600" cy="291450"/>
            </a:xfrm>
          </p:grpSpPr>
          <p:sp>
            <p:nvSpPr>
              <p:cNvPr id="196" name="Google Shape;8220;p82"/>
              <p:cNvSpPr/>
              <p:nvPr/>
            </p:nvSpPr>
            <p:spPr>
              <a:xfrm>
                <a:off x="-5594250" y="3273750"/>
                <a:ext cx="85875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3372" extrusionOk="0">
                    <a:moveTo>
                      <a:pt x="1734" y="0"/>
                    </a:moveTo>
                    <a:cubicBezTo>
                      <a:pt x="788" y="0"/>
                      <a:pt x="32" y="756"/>
                      <a:pt x="32" y="1702"/>
                    </a:cubicBezTo>
                    <a:cubicBezTo>
                      <a:pt x="1" y="2678"/>
                      <a:pt x="820" y="3371"/>
                      <a:pt x="1702" y="3371"/>
                    </a:cubicBezTo>
                    <a:cubicBezTo>
                      <a:pt x="2269" y="3371"/>
                      <a:pt x="2899" y="3025"/>
                      <a:pt x="3214" y="2426"/>
                    </a:cubicBezTo>
                    <a:cubicBezTo>
                      <a:pt x="3340" y="2206"/>
                      <a:pt x="3435" y="1922"/>
                      <a:pt x="3435" y="1702"/>
                    </a:cubicBezTo>
                    <a:cubicBezTo>
                      <a:pt x="3435" y="756"/>
                      <a:pt x="2679" y="0"/>
                      <a:pt x="173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7" name="Google Shape;8221;p82"/>
              <p:cNvSpPr/>
              <p:nvPr/>
            </p:nvSpPr>
            <p:spPr>
              <a:xfrm>
                <a:off x="-5457200" y="3324950"/>
                <a:ext cx="6777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2710" extrusionOk="0">
                    <a:moveTo>
                      <a:pt x="1009" y="0"/>
                    </a:moveTo>
                    <a:cubicBezTo>
                      <a:pt x="410" y="158"/>
                      <a:pt x="1" y="662"/>
                      <a:pt x="1" y="1323"/>
                    </a:cubicBezTo>
                    <a:cubicBezTo>
                      <a:pt x="1" y="2079"/>
                      <a:pt x="631" y="2710"/>
                      <a:pt x="1355" y="2710"/>
                    </a:cubicBezTo>
                    <a:cubicBezTo>
                      <a:pt x="1985" y="2710"/>
                      <a:pt x="2553" y="2268"/>
                      <a:pt x="2710" y="1701"/>
                    </a:cubicBezTo>
                    <a:lnTo>
                      <a:pt x="1355" y="1701"/>
                    </a:lnTo>
                    <a:cubicBezTo>
                      <a:pt x="1166" y="1701"/>
                      <a:pt x="1009" y="1544"/>
                      <a:pt x="1009" y="1323"/>
                    </a:cubicBezTo>
                    <a:lnTo>
                      <a:pt x="100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8" name="Google Shape;8222;p82"/>
              <p:cNvSpPr/>
              <p:nvPr/>
            </p:nvSpPr>
            <p:spPr>
              <a:xfrm>
                <a:off x="-5415450" y="3325725"/>
                <a:ext cx="2522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978" extrusionOk="0">
                    <a:moveTo>
                      <a:pt x="0" y="1"/>
                    </a:moveTo>
                    <a:lnTo>
                      <a:pt x="0" y="977"/>
                    </a:lnTo>
                    <a:lnTo>
                      <a:pt x="1009" y="977"/>
                    </a:lnTo>
                    <a:cubicBezTo>
                      <a:pt x="883" y="473"/>
                      <a:pt x="473" y="127"/>
                      <a:pt x="0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9" name="Google Shape;8223;p82"/>
              <p:cNvSpPr/>
              <p:nvPr/>
            </p:nvSpPr>
            <p:spPr>
              <a:xfrm>
                <a:off x="-5611575" y="3359600"/>
                <a:ext cx="118950" cy="204800"/>
              </a:xfrm>
              <a:custGeom>
                <a:avLst/>
                <a:gdLst/>
                <a:ahLst/>
                <a:cxnLst/>
                <a:rect l="l" t="t" r="r" b="b"/>
                <a:pathLst>
                  <a:path w="4758" h="8192" extrusionOk="0">
                    <a:moveTo>
                      <a:pt x="694" y="0"/>
                    </a:moveTo>
                    <a:cubicBezTo>
                      <a:pt x="253" y="410"/>
                      <a:pt x="1" y="1008"/>
                      <a:pt x="1" y="1670"/>
                    </a:cubicBezTo>
                    <a:lnTo>
                      <a:pt x="1" y="3718"/>
                    </a:lnTo>
                    <a:cubicBezTo>
                      <a:pt x="1" y="4159"/>
                      <a:pt x="253" y="4569"/>
                      <a:pt x="662" y="4726"/>
                    </a:cubicBezTo>
                    <a:lnTo>
                      <a:pt x="662" y="7152"/>
                    </a:lnTo>
                    <a:cubicBezTo>
                      <a:pt x="662" y="7687"/>
                      <a:pt x="1135" y="8192"/>
                      <a:pt x="1670" y="8192"/>
                    </a:cubicBezTo>
                    <a:lnTo>
                      <a:pt x="3057" y="8192"/>
                    </a:lnTo>
                    <a:cubicBezTo>
                      <a:pt x="3624" y="8192"/>
                      <a:pt x="4096" y="7719"/>
                      <a:pt x="4096" y="7152"/>
                    </a:cubicBezTo>
                    <a:lnTo>
                      <a:pt x="4096" y="4726"/>
                    </a:lnTo>
                    <a:cubicBezTo>
                      <a:pt x="4474" y="4569"/>
                      <a:pt x="4758" y="4190"/>
                      <a:pt x="4758" y="3718"/>
                    </a:cubicBezTo>
                    <a:lnTo>
                      <a:pt x="4758" y="1670"/>
                    </a:lnTo>
                    <a:cubicBezTo>
                      <a:pt x="4758" y="1008"/>
                      <a:pt x="4474" y="410"/>
                      <a:pt x="4033" y="0"/>
                    </a:cubicBezTo>
                    <a:cubicBezTo>
                      <a:pt x="3718" y="347"/>
                      <a:pt x="3246" y="567"/>
                      <a:pt x="2742" y="662"/>
                    </a:cubicBez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cubicBezTo>
                      <a:pt x="2175" y="2741"/>
                      <a:pt x="2017" y="2584"/>
                      <a:pt x="2017" y="2395"/>
                    </a:cubicBezTo>
                    <a:lnTo>
                      <a:pt x="2017" y="662"/>
                    </a:lnTo>
                    <a:cubicBezTo>
                      <a:pt x="1513" y="567"/>
                      <a:pt x="1040" y="347"/>
                      <a:pt x="69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0" name="Google Shape;8224;p82"/>
              <p:cNvSpPr/>
              <p:nvPr/>
            </p:nvSpPr>
            <p:spPr>
              <a:xfrm>
                <a:off x="-5510750" y="3272950"/>
                <a:ext cx="1937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7499" extrusionOk="0">
                    <a:moveTo>
                      <a:pt x="3497" y="1355"/>
                    </a:moveTo>
                    <a:cubicBezTo>
                      <a:pt x="4663" y="1355"/>
                      <a:pt x="5577" y="2269"/>
                      <a:pt x="5577" y="3403"/>
                    </a:cubicBezTo>
                    <a:cubicBezTo>
                      <a:pt x="5577" y="4569"/>
                      <a:pt x="4600" y="5451"/>
                      <a:pt x="3497" y="5451"/>
                    </a:cubicBezTo>
                    <a:cubicBezTo>
                      <a:pt x="2363" y="5451"/>
                      <a:pt x="1450" y="4569"/>
                      <a:pt x="1450" y="3403"/>
                    </a:cubicBezTo>
                    <a:cubicBezTo>
                      <a:pt x="1450" y="2269"/>
                      <a:pt x="2363" y="1355"/>
                      <a:pt x="3497" y="1355"/>
                    </a:cubicBezTo>
                    <a:close/>
                    <a:moveTo>
                      <a:pt x="0" y="1"/>
                    </a:moveTo>
                    <a:cubicBezTo>
                      <a:pt x="441" y="410"/>
                      <a:pt x="725" y="1009"/>
                      <a:pt x="725" y="1671"/>
                    </a:cubicBezTo>
                    <a:cubicBezTo>
                      <a:pt x="725" y="2112"/>
                      <a:pt x="599" y="2521"/>
                      <a:pt x="410" y="2868"/>
                    </a:cubicBezTo>
                    <a:cubicBezTo>
                      <a:pt x="1040" y="3403"/>
                      <a:pt x="1387" y="4191"/>
                      <a:pt x="1387" y="5105"/>
                    </a:cubicBezTo>
                    <a:lnTo>
                      <a:pt x="1387" y="7152"/>
                    </a:lnTo>
                    <a:cubicBezTo>
                      <a:pt x="1387" y="7278"/>
                      <a:pt x="1387" y="7404"/>
                      <a:pt x="1355" y="7499"/>
                    </a:cubicBezTo>
                    <a:lnTo>
                      <a:pt x="5829" y="7499"/>
                    </a:lnTo>
                    <a:cubicBezTo>
                      <a:pt x="6396" y="7499"/>
                      <a:pt x="6900" y="7026"/>
                      <a:pt x="6900" y="6491"/>
                    </a:cubicBezTo>
                    <a:lnTo>
                      <a:pt x="6900" y="694"/>
                    </a:lnTo>
                    <a:lnTo>
                      <a:pt x="7246" y="694"/>
                    </a:lnTo>
                    <a:cubicBezTo>
                      <a:pt x="7751" y="694"/>
                      <a:pt x="7751" y="1"/>
                      <a:pt x="7278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71" name="空心弧 170"/>
          <p:cNvSpPr/>
          <p:nvPr/>
        </p:nvSpPr>
        <p:spPr>
          <a:xfrm rot="5400000">
            <a:off x="11159884" y="3453605"/>
            <a:ext cx="419115" cy="419115"/>
          </a:xfrm>
          <a:prstGeom prst="blockArc">
            <a:avLst>
              <a:gd name="adj1" fmla="val 10691766"/>
              <a:gd name="adj2" fmla="val 21578862"/>
              <a:gd name="adj3" fmla="val 282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471262" y="3453603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79597" y="3753237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矩形: 圆角 214"/>
          <p:cNvSpPr/>
          <p:nvPr/>
        </p:nvSpPr>
        <p:spPr>
          <a:xfrm>
            <a:off x="546790" y="3612223"/>
            <a:ext cx="10859675" cy="987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806240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178" name="等腰三角形 177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8" name="等腰三角形 217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9" name="等腰三角形 218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0" name="等腰三角形 219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3707611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23" name="等腰三角形 222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6" name="等腰三角形 25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7" name="等腰三角形 25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8" name="等腰三角形 25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59" name="组合 258"/>
          <p:cNvGrpSpPr/>
          <p:nvPr/>
        </p:nvGrpSpPr>
        <p:grpSpPr>
          <a:xfrm>
            <a:off x="5608982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0" name="等腰三角形 25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1" name="等腰三角形 26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2" name="等腰三角形 26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3" name="等腰三角形 26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7510353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5" name="等腰三角形 26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6" name="等腰三角形 26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7" name="等腰三角形 26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8" name="等腰三角形 26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9411724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0" name="等腰三角形 26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1" name="等腰三角形 27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2" name="等腰三角形 27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3" name="等腰三角形 27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 flipH="1">
            <a:off x="1806240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5" name="等腰三角形 27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6" name="等腰三角形 27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7" name="等腰三角形 27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8" name="等腰三角形 27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 flipH="1">
            <a:off x="3707611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0" name="等腰三角形 27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1" name="等腰三角形 28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2" name="等腰三角形 28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3" name="等腰三角形 28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 flipH="1">
            <a:off x="5608982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5" name="等腰三角形 28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6" name="等腰三角形 28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7" name="等腰三角形 28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8" name="等腰三角形 28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9" name="组合 288"/>
          <p:cNvGrpSpPr/>
          <p:nvPr/>
        </p:nvGrpSpPr>
        <p:grpSpPr>
          <a:xfrm flipH="1">
            <a:off x="7510353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0" name="等腰三角形 28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1" name="等腰三角形 29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2" name="等腰三角形 29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3" name="等腰三角形 29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94" name="组合 293"/>
          <p:cNvGrpSpPr/>
          <p:nvPr/>
        </p:nvGrpSpPr>
        <p:grpSpPr>
          <a:xfrm flipH="1">
            <a:off x="9411724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5" name="等腰三角形 29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6" name="等腰三角形 29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7" name="等腰三角形 29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8" name="等腰三角形 29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99" name="组合 298"/>
          <p:cNvGrpSpPr/>
          <p:nvPr/>
        </p:nvGrpSpPr>
        <p:grpSpPr>
          <a:xfrm rot="5400000">
            <a:off x="11414394" y="3620913"/>
            <a:ext cx="183760" cy="88106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301" name="等腰三角形 30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2" name="等腰三角形 30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3" name="等腰三角形 30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3316947" y="940353"/>
            <a:ext cx="1000124" cy="1000124"/>
            <a:chOff x="1100138" y="940353"/>
            <a:chExt cx="1000124" cy="1000124"/>
          </a:xfrm>
        </p:grpSpPr>
        <p:sp>
          <p:nvSpPr>
            <p:cNvPr id="44" name="椭圆 43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弧形 44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6" name="弧形 45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33756" y="940353"/>
            <a:ext cx="1000124" cy="1000124"/>
            <a:chOff x="1100138" y="940353"/>
            <a:chExt cx="1000124" cy="1000124"/>
          </a:xfrm>
        </p:grpSpPr>
        <p:sp>
          <p:nvSpPr>
            <p:cNvPr id="48" name="椭圆 47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弧形 48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弧形 53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728794" y="940353"/>
            <a:ext cx="1000124" cy="1000124"/>
            <a:chOff x="1100138" y="940353"/>
            <a:chExt cx="1000124" cy="1000124"/>
          </a:xfrm>
        </p:grpSpPr>
        <p:sp>
          <p:nvSpPr>
            <p:cNvPr id="56" name="椭圆 5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弧形 5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8" name="弧形 5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9923832" y="940353"/>
            <a:ext cx="1000124" cy="1000124"/>
            <a:chOff x="1100138" y="940353"/>
            <a:chExt cx="1000124" cy="1000124"/>
          </a:xfrm>
        </p:grpSpPr>
        <p:sp>
          <p:nvSpPr>
            <p:cNvPr id="60" name="椭圆 59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弧形 60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2" name="弧形 61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100138" y="940353"/>
            <a:ext cx="1000124" cy="1000124"/>
            <a:chOff x="1100138" y="940353"/>
            <a:chExt cx="1000124" cy="1000124"/>
          </a:xfrm>
        </p:grpSpPr>
        <p:sp>
          <p:nvSpPr>
            <p:cNvPr id="26" name="椭圆 2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7" name="弧形 3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8" name="弧形 3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255657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数字化转型五阶跃升路径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0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箭头: V 形 149"/>
          <p:cNvSpPr/>
          <p:nvPr/>
        </p:nvSpPr>
        <p:spPr>
          <a:xfrm>
            <a:off x="355600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7" name="箭头: V 形 136"/>
          <p:cNvSpPr/>
          <p:nvPr/>
        </p:nvSpPr>
        <p:spPr>
          <a:xfrm>
            <a:off x="9313552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箭头: V 形 137"/>
          <p:cNvSpPr/>
          <p:nvPr/>
        </p:nvSpPr>
        <p:spPr>
          <a:xfrm>
            <a:off x="9307628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箭头: V 形 14"/>
          <p:cNvSpPr/>
          <p:nvPr/>
        </p:nvSpPr>
        <p:spPr>
          <a:xfrm>
            <a:off x="2595088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箭头: V 形 15"/>
          <p:cNvSpPr/>
          <p:nvPr/>
        </p:nvSpPr>
        <p:spPr>
          <a:xfrm>
            <a:off x="4834576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074064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箭头: V 形 18"/>
          <p:cNvSpPr/>
          <p:nvPr/>
        </p:nvSpPr>
        <p:spPr>
          <a:xfrm>
            <a:off x="7069621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箭头: V 形 19"/>
          <p:cNvSpPr/>
          <p:nvPr/>
        </p:nvSpPr>
        <p:spPr>
          <a:xfrm>
            <a:off x="4831613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箭头: V 形 20"/>
          <p:cNvSpPr/>
          <p:nvPr/>
        </p:nvSpPr>
        <p:spPr>
          <a:xfrm>
            <a:off x="2593605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箭头: V 形 21"/>
          <p:cNvSpPr/>
          <p:nvPr/>
        </p:nvSpPr>
        <p:spPr>
          <a:xfrm>
            <a:off x="355597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: 圆顶角 22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: 圆顶角 4"/>
          <p:cNvSpPr/>
          <p:nvPr/>
        </p:nvSpPr>
        <p:spPr>
          <a:xfrm flipV="1">
            <a:off x="355597" y="5521671"/>
            <a:ext cx="2160813" cy="777529"/>
          </a:xfrm>
          <a:prstGeom prst="round2Same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" name="矩形: 圆顶角 27"/>
          <p:cNvSpPr/>
          <p:nvPr/>
        </p:nvSpPr>
        <p:spPr>
          <a:xfrm flipV="1">
            <a:off x="2593601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60000"/>
                </a:schemeClr>
              </a:gs>
              <a:gs pos="100000">
                <a:schemeClr val="tx2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" name="矩形: 圆顶角 28"/>
          <p:cNvSpPr/>
          <p:nvPr/>
        </p:nvSpPr>
        <p:spPr>
          <a:xfrm flipV="1">
            <a:off x="4831605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70000"/>
                </a:schemeClr>
              </a:gs>
              <a:gs pos="100000">
                <a:schemeClr val="tx2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矩形: 圆顶角 29"/>
          <p:cNvSpPr/>
          <p:nvPr/>
        </p:nvSpPr>
        <p:spPr>
          <a:xfrm flipV="1">
            <a:off x="7069609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80000"/>
                </a:schemeClr>
              </a:gs>
              <a:gs pos="100000">
                <a:schemeClr val="tx2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矩形: 圆顶角 30"/>
          <p:cNvSpPr/>
          <p:nvPr/>
        </p:nvSpPr>
        <p:spPr>
          <a:xfrm flipV="1">
            <a:off x="9307613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7675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J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4309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基础夯实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132468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流程优化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338096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数据驱动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43724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智能抉择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749352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生态协同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1925" y="2904745"/>
            <a:ext cx="1828156" cy="136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ERP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系统升级和物联网设备部署，实现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生产数据实时采集，为智能化打下坚实基础。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4822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信息化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覆盖率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484866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1339125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24487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基础升级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466611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设备物联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624487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数据采集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466611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标准统一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495845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L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714932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91224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Z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0109566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760017" y="2904745"/>
            <a:ext cx="1828156" cy="136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RPA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机器人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自动化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高频流程，审批时效从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缩短至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，人力成本降低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732914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流程自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化率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722958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1" name="等腰三角形 90"/>
          <p:cNvSpPr/>
          <p:nvPr/>
        </p:nvSpPr>
        <p:spPr>
          <a:xfrm rot="5400000">
            <a:off x="3577217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2862579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自动化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3704703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标准化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2862579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可视化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3704703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98109" y="2904745"/>
            <a:ext cx="1828156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搭建智能分析平台，整合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个业务系统数据，实现每日自动生成运营洞察报告。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971006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利用率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5961050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78%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1" name="等腰三角形 100"/>
          <p:cNvSpPr/>
          <p:nvPr/>
        </p:nvSpPr>
        <p:spPr>
          <a:xfrm rot="5400000">
            <a:off x="5815309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510067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整合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36201" y="2904745"/>
            <a:ext cx="1828156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预测模型，预测市场需求，库存周转率提升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，缺货率下降至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7209098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智能决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策占比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199142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3" name="等腰三角形 112"/>
          <p:cNvSpPr/>
          <p:nvPr/>
        </p:nvSpPr>
        <p:spPr>
          <a:xfrm rot="5400000">
            <a:off x="8053401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474292" y="2904745"/>
            <a:ext cx="1828156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连接上下游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家核心合作伙伴，构建产业云平台，订单协同效率提升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447189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生态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协同率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10437233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2" name="等腰三角形 121"/>
          <p:cNvSpPr/>
          <p:nvPr/>
        </p:nvSpPr>
        <p:spPr>
          <a:xfrm rot="5400000">
            <a:off x="10291492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562736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治理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矩形: 圆角 129"/>
          <p:cNvSpPr/>
          <p:nvPr/>
        </p:nvSpPr>
        <p:spPr>
          <a:xfrm>
            <a:off x="615405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分析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4" name="矩形: 圆角 133"/>
          <p:cNvSpPr/>
          <p:nvPr/>
        </p:nvSpPr>
        <p:spPr>
          <a:xfrm>
            <a:off x="536857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应用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5" name="矩形: 圆角 134"/>
          <p:cNvSpPr/>
          <p:nvPr/>
        </p:nvSpPr>
        <p:spPr>
          <a:xfrm>
            <a:off x="5904864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安全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38257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算法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790926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实施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43595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便捷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90624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闭环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962186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开放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014855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共生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067524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敏捷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0145529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信任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88925" y="200526"/>
            <a:ext cx="7542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智能供应链升级与数字化营销转型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2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顶角 3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55600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2287766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4219932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152097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8084263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0016429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7119" y="5739631"/>
            <a:ext cx="1584232" cy="559570"/>
            <a:chOff x="499909" y="5739631"/>
            <a:chExt cx="1584232" cy="559570"/>
          </a:xfrm>
        </p:grpSpPr>
        <p:sp>
          <p:nvSpPr>
            <p:cNvPr id="14" name="文本框 13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库存周转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效率提升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38%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367292" y="5739631"/>
            <a:ext cx="1620008" cy="559570"/>
            <a:chOff x="464133" y="5739631"/>
            <a:chExt cx="1620008" cy="559570"/>
          </a:xfrm>
        </p:grpSpPr>
        <p:sp>
          <p:nvSpPr>
            <p:cNvPr id="29" name="文本框 28"/>
            <p:cNvSpPr txBox="1"/>
            <p:nvPr/>
          </p:nvSpPr>
          <p:spPr>
            <a:xfrm>
              <a:off x="464133" y="5771752"/>
              <a:ext cx="968782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供应链协同时效缩短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梯形 2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39017" y="5739631"/>
            <a:ext cx="1584232" cy="559570"/>
            <a:chOff x="499909" y="5739631"/>
            <a:chExt cx="1584232" cy="559570"/>
          </a:xfrm>
        </p:grpSpPr>
        <p:sp>
          <p:nvSpPr>
            <p:cNvPr id="33" name="文本框 32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营销转化率增长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" name="梯形 38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35%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274966" y="5739631"/>
            <a:ext cx="1584232" cy="559570"/>
            <a:chOff x="499909" y="5739631"/>
            <a:chExt cx="1584232" cy="559570"/>
          </a:xfrm>
        </p:grpSpPr>
        <p:sp>
          <p:nvSpPr>
            <p:cNvPr id="42" name="文本框 41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货克成本下降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3" name="梯形 42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10915" y="5739631"/>
            <a:ext cx="1584232" cy="559570"/>
            <a:chOff x="499909" y="5739631"/>
            <a:chExt cx="1584232" cy="559570"/>
          </a:xfrm>
        </p:grpSpPr>
        <p:sp>
          <p:nvSpPr>
            <p:cNvPr id="55" name="文本框 54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会员再够突破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6" name="梯形 55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58%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0146863" y="5739631"/>
            <a:ext cx="1584232" cy="559570"/>
            <a:chOff x="499909" y="5739631"/>
            <a:chExt cx="1584232" cy="559570"/>
          </a:xfrm>
        </p:grpSpPr>
        <p:sp>
          <p:nvSpPr>
            <p:cNvPr id="59" name="文本框 58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库存周转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效率提升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梯形 5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38%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1140360"/>
            <a:ext cx="6096000" cy="4360340"/>
            <a:chOff x="0" y="1140360"/>
            <a:chExt cx="6096000" cy="4360340"/>
          </a:xfrm>
        </p:grpSpPr>
        <p:sp>
          <p:nvSpPr>
            <p:cNvPr id="44" name="任意多边形: 形状 43"/>
            <p:cNvSpPr/>
            <p:nvPr/>
          </p:nvSpPr>
          <p:spPr>
            <a:xfrm>
              <a:off x="0" y="1140360"/>
              <a:ext cx="6096000" cy="4360340"/>
            </a:xfrm>
            <a:custGeom>
              <a:avLst/>
              <a:gdLst>
                <a:gd name="connsiteX0" fmla="*/ 0 w 6096000"/>
                <a:gd name="connsiteY0" fmla="*/ 0 h 4360340"/>
                <a:gd name="connsiteX1" fmla="*/ 3915830 w 6096000"/>
                <a:gd name="connsiteY1" fmla="*/ 0 h 4360340"/>
                <a:gd name="connsiteX2" fmla="*/ 6096000 w 6096000"/>
                <a:gd name="connsiteY2" fmla="*/ 2180170 h 4360340"/>
                <a:gd name="connsiteX3" fmla="*/ 3915830 w 6096000"/>
                <a:gd name="connsiteY3" fmla="*/ 4360340 h 4360340"/>
                <a:gd name="connsiteX4" fmla="*/ 0 w 6096000"/>
                <a:gd name="connsiteY4" fmla="*/ 4360340 h 436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0" h="4360340">
                  <a:moveTo>
                    <a:pt x="0" y="0"/>
                  </a:moveTo>
                  <a:lnTo>
                    <a:pt x="3915830" y="0"/>
                  </a:lnTo>
                  <a:cubicBezTo>
                    <a:pt x="5119905" y="0"/>
                    <a:pt x="6096000" y="976095"/>
                    <a:pt x="6096000" y="2180170"/>
                  </a:cubicBezTo>
                  <a:cubicBezTo>
                    <a:pt x="6096000" y="3384245"/>
                    <a:pt x="5119905" y="4360340"/>
                    <a:pt x="3915830" y="4360340"/>
                  </a:cubicBezTo>
                  <a:lnTo>
                    <a:pt x="0" y="436034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9648863">
              <a:off x="5426749" y="4050355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高效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 rot="19288268">
              <a:off x="5015338" y="4558377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高效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4425914" y="4949753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高效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122664" y="1587909"/>
              <a:ext cx="359585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智能供应链升级</a:t>
              </a:r>
              <a:endParaRPr kumimoji="0" lang="zh-CN" altLang="en-US" sz="32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1424870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2489197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361298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369487" y="1543050"/>
              <a:ext cx="640283" cy="640283"/>
            </a:xfrm>
            <a:prstGeom prst="roundRect">
              <a:avLst>
                <a:gd name="adj" fmla="val 638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85" name="Google Shape;5700;p77"/>
            <p:cNvGrpSpPr/>
            <p:nvPr/>
          </p:nvGrpSpPr>
          <p:grpSpPr>
            <a:xfrm>
              <a:off x="476696" y="1679325"/>
              <a:ext cx="425864" cy="367732"/>
              <a:chOff x="-42651700" y="3217825"/>
              <a:chExt cx="367600" cy="317425"/>
            </a:xfrm>
            <a:solidFill>
              <a:schemeClr val="accent1"/>
            </a:solidFill>
          </p:grpSpPr>
          <p:sp>
            <p:nvSpPr>
              <p:cNvPr id="86" name="Google Shape;5701;p77"/>
              <p:cNvSpPr/>
              <p:nvPr/>
            </p:nvSpPr>
            <p:spPr>
              <a:xfrm>
                <a:off x="-42651700" y="3239075"/>
                <a:ext cx="367600" cy="296175"/>
              </a:xfrm>
              <a:custGeom>
                <a:avLst/>
                <a:gdLst/>
                <a:ahLst/>
                <a:cxnLst/>
                <a:rect l="l" t="t" r="r" b="b"/>
                <a:pathLst>
                  <a:path w="14704" h="11847" extrusionOk="0">
                    <a:moveTo>
                      <a:pt x="7370" y="797"/>
                    </a:moveTo>
                    <a:cubicBezTo>
                      <a:pt x="8536" y="797"/>
                      <a:pt x="9694" y="1246"/>
                      <a:pt x="10576" y="2143"/>
                    </a:cubicBezTo>
                    <a:cubicBezTo>
                      <a:pt x="12340" y="3908"/>
                      <a:pt x="12340" y="6775"/>
                      <a:pt x="10576" y="8539"/>
                    </a:cubicBezTo>
                    <a:cubicBezTo>
                      <a:pt x="9757" y="9390"/>
                      <a:pt x="8623" y="9894"/>
                      <a:pt x="7363" y="9894"/>
                    </a:cubicBezTo>
                    <a:cubicBezTo>
                      <a:pt x="6102" y="9894"/>
                      <a:pt x="4937" y="9358"/>
                      <a:pt x="4118" y="8539"/>
                    </a:cubicBezTo>
                    <a:cubicBezTo>
                      <a:pt x="2353" y="6775"/>
                      <a:pt x="2353" y="3908"/>
                      <a:pt x="4118" y="2143"/>
                    </a:cubicBezTo>
                    <a:cubicBezTo>
                      <a:pt x="5031" y="1246"/>
                      <a:pt x="6205" y="797"/>
                      <a:pt x="7370" y="797"/>
                    </a:cubicBezTo>
                    <a:close/>
                    <a:moveTo>
                      <a:pt x="7326" y="1"/>
                    </a:moveTo>
                    <a:cubicBezTo>
                      <a:pt x="2091" y="1"/>
                      <a:pt x="0" y="6750"/>
                      <a:pt x="4275" y="9768"/>
                    </a:cubicBezTo>
                    <a:lnTo>
                      <a:pt x="3424" y="11280"/>
                    </a:lnTo>
                    <a:cubicBezTo>
                      <a:pt x="3298" y="11532"/>
                      <a:pt x="3487" y="11847"/>
                      <a:pt x="3771" y="11847"/>
                    </a:cubicBezTo>
                    <a:cubicBezTo>
                      <a:pt x="3929" y="11847"/>
                      <a:pt x="4086" y="11784"/>
                      <a:pt x="4118" y="11626"/>
                    </a:cubicBezTo>
                    <a:lnTo>
                      <a:pt x="5000" y="10209"/>
                    </a:lnTo>
                    <a:cubicBezTo>
                      <a:pt x="5740" y="10571"/>
                      <a:pt x="6543" y="10752"/>
                      <a:pt x="7351" y="10752"/>
                    </a:cubicBezTo>
                    <a:cubicBezTo>
                      <a:pt x="8158" y="10752"/>
                      <a:pt x="8969" y="10571"/>
                      <a:pt x="9725" y="10209"/>
                    </a:cubicBezTo>
                    <a:lnTo>
                      <a:pt x="10576" y="11626"/>
                    </a:lnTo>
                    <a:cubicBezTo>
                      <a:pt x="10671" y="11784"/>
                      <a:pt x="10828" y="11847"/>
                      <a:pt x="10923" y="11847"/>
                    </a:cubicBezTo>
                    <a:cubicBezTo>
                      <a:pt x="11238" y="11847"/>
                      <a:pt x="11458" y="11532"/>
                      <a:pt x="11301" y="11280"/>
                    </a:cubicBezTo>
                    <a:lnTo>
                      <a:pt x="10419" y="9768"/>
                    </a:lnTo>
                    <a:cubicBezTo>
                      <a:pt x="14703" y="6775"/>
                      <a:pt x="12592" y="1"/>
                      <a:pt x="7363" y="1"/>
                    </a:cubicBezTo>
                    <a:cubicBezTo>
                      <a:pt x="7350" y="1"/>
                      <a:pt x="7338" y="1"/>
                      <a:pt x="732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7" name="Google Shape;5702;p77"/>
              <p:cNvSpPr/>
              <p:nvPr/>
            </p:nvSpPr>
            <p:spPr>
              <a:xfrm>
                <a:off x="-42419600" y="3217825"/>
                <a:ext cx="106350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4" extrusionOk="0">
                    <a:moveTo>
                      <a:pt x="1355" y="0"/>
                    </a:moveTo>
                    <a:cubicBezTo>
                      <a:pt x="882" y="0"/>
                      <a:pt x="410" y="95"/>
                      <a:pt x="0" y="315"/>
                    </a:cubicBezTo>
                    <a:cubicBezTo>
                      <a:pt x="1891" y="946"/>
                      <a:pt x="3340" y="2395"/>
                      <a:pt x="3938" y="4254"/>
                    </a:cubicBezTo>
                    <a:cubicBezTo>
                      <a:pt x="4128" y="3844"/>
                      <a:pt x="4254" y="3371"/>
                      <a:pt x="4254" y="2899"/>
                    </a:cubicBezTo>
                    <a:cubicBezTo>
                      <a:pt x="4254" y="1292"/>
                      <a:pt x="2962" y="0"/>
                      <a:pt x="1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8" name="Google Shape;5703;p77"/>
              <p:cNvSpPr/>
              <p:nvPr/>
            </p:nvSpPr>
            <p:spPr>
              <a:xfrm>
                <a:off x="-42623600" y="3218600"/>
                <a:ext cx="106350" cy="1063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5" extrusionOk="0">
                    <a:moveTo>
                      <a:pt x="2931" y="1"/>
                    </a:moveTo>
                    <a:cubicBezTo>
                      <a:pt x="1292" y="1"/>
                      <a:pt x="1" y="1293"/>
                      <a:pt x="1" y="2899"/>
                    </a:cubicBezTo>
                    <a:cubicBezTo>
                      <a:pt x="1" y="3372"/>
                      <a:pt x="127" y="3845"/>
                      <a:pt x="316" y="4254"/>
                    </a:cubicBezTo>
                    <a:cubicBezTo>
                      <a:pt x="977" y="2364"/>
                      <a:pt x="2426" y="915"/>
                      <a:pt x="4254" y="316"/>
                    </a:cubicBezTo>
                    <a:cubicBezTo>
                      <a:pt x="3876" y="127"/>
                      <a:pt x="3403" y="1"/>
                      <a:pt x="29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9" name="Google Shape;5704;p77"/>
              <p:cNvSpPr/>
              <p:nvPr/>
            </p:nvSpPr>
            <p:spPr>
              <a:xfrm>
                <a:off x="-42561375" y="3279250"/>
                <a:ext cx="1859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7468" extrusionOk="0">
                    <a:moveTo>
                      <a:pt x="3781" y="1671"/>
                    </a:moveTo>
                    <a:cubicBezTo>
                      <a:pt x="4033" y="1671"/>
                      <a:pt x="4191" y="1860"/>
                      <a:pt x="4191" y="2112"/>
                    </a:cubicBezTo>
                    <a:lnTo>
                      <a:pt x="4191" y="3340"/>
                    </a:lnTo>
                    <a:lnTo>
                      <a:pt x="5388" y="3340"/>
                    </a:lnTo>
                    <a:cubicBezTo>
                      <a:pt x="5640" y="3340"/>
                      <a:pt x="5829" y="3529"/>
                      <a:pt x="5829" y="3750"/>
                    </a:cubicBezTo>
                    <a:cubicBezTo>
                      <a:pt x="5829" y="4002"/>
                      <a:pt x="5640" y="4128"/>
                      <a:pt x="5388" y="4128"/>
                    </a:cubicBezTo>
                    <a:lnTo>
                      <a:pt x="3750" y="4128"/>
                    </a:lnTo>
                    <a:cubicBezTo>
                      <a:pt x="3498" y="4128"/>
                      <a:pt x="3308" y="3939"/>
                      <a:pt x="3308" y="3750"/>
                    </a:cubicBezTo>
                    <a:lnTo>
                      <a:pt x="3308" y="2112"/>
                    </a:lnTo>
                    <a:lnTo>
                      <a:pt x="3340" y="2112"/>
                    </a:lnTo>
                    <a:cubicBezTo>
                      <a:pt x="3340" y="1860"/>
                      <a:pt x="3529" y="1671"/>
                      <a:pt x="3781" y="1671"/>
                    </a:cubicBezTo>
                    <a:close/>
                    <a:moveTo>
                      <a:pt x="3750" y="1"/>
                    </a:moveTo>
                    <a:cubicBezTo>
                      <a:pt x="1702" y="1"/>
                      <a:pt x="32" y="1671"/>
                      <a:pt x="0" y="3750"/>
                    </a:cubicBezTo>
                    <a:cubicBezTo>
                      <a:pt x="32" y="5798"/>
                      <a:pt x="1702" y="7467"/>
                      <a:pt x="3750" y="7467"/>
                    </a:cubicBezTo>
                    <a:cubicBezTo>
                      <a:pt x="5797" y="7467"/>
                      <a:pt x="7436" y="5798"/>
                      <a:pt x="7436" y="3750"/>
                    </a:cubicBezTo>
                    <a:cubicBezTo>
                      <a:pt x="7436" y="1702"/>
                      <a:pt x="5797" y="64"/>
                      <a:pt x="3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442673" y="223063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通过部署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需求预测系统，将库存周转率从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天压缩至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天，实现与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家核心供应商的实时数据互通，物流成本降低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18%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。建立动态安全库存模型，缺货率下降至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442673" y="310055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通过部署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需求预测系统，将库存周转率从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天压缩至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天，实现与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家核心供应商的实时数据互通，物流成本降低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18%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。建立动态安全库存模型，缺货率下降至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82160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智能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预测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45732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实时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协同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01966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弹性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库存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382160" y="2302980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82160" y="3191923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509250" y="3043458"/>
              <a:ext cx="451995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任意多边形: 形状 15"/>
          <p:cNvSpPr/>
          <p:nvPr/>
        </p:nvSpPr>
        <p:spPr>
          <a:xfrm flipH="1">
            <a:off x="6096434" y="1140360"/>
            <a:ext cx="6096000" cy="4360340"/>
          </a:xfrm>
          <a:custGeom>
            <a:avLst/>
            <a:gdLst>
              <a:gd name="connsiteX0" fmla="*/ 0 w 6096000"/>
              <a:gd name="connsiteY0" fmla="*/ 0 h 4360340"/>
              <a:gd name="connsiteX1" fmla="*/ 3915830 w 6096000"/>
              <a:gd name="connsiteY1" fmla="*/ 0 h 4360340"/>
              <a:gd name="connsiteX2" fmla="*/ 6096000 w 6096000"/>
              <a:gd name="connsiteY2" fmla="*/ 2180170 h 4360340"/>
              <a:gd name="connsiteX3" fmla="*/ 3915830 w 6096000"/>
              <a:gd name="connsiteY3" fmla="*/ 4360340 h 4360340"/>
              <a:gd name="connsiteX4" fmla="*/ 0 w 6096000"/>
              <a:gd name="connsiteY4" fmla="*/ 4360340 h 43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4360340">
                <a:moveTo>
                  <a:pt x="0" y="0"/>
                </a:moveTo>
                <a:lnTo>
                  <a:pt x="3915830" y="0"/>
                </a:lnTo>
                <a:cubicBezTo>
                  <a:pt x="5119905" y="0"/>
                  <a:pt x="6096000" y="976095"/>
                  <a:pt x="6096000" y="2180170"/>
                </a:cubicBezTo>
                <a:cubicBezTo>
                  <a:pt x="6096000" y="3384245"/>
                  <a:pt x="5119905" y="4360340"/>
                  <a:pt x="3915830" y="4360340"/>
                </a:cubicBezTo>
                <a:lnTo>
                  <a:pt x="0" y="43603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 rot="1951137" flipH="1">
            <a:off x="6346197" y="4050355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 rot="2311732" flipH="1">
            <a:off x="6757608" y="4558377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7347032" y="4949753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 flipH="1">
            <a:off x="7473914" y="1587909"/>
            <a:ext cx="3595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数字化营销转型</a:t>
            </a:r>
            <a:endParaRPr kumimoji="0" lang="zh-CN" altLang="en-US" sz="32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 flipH="1">
            <a:off x="9832571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flipH="1">
            <a:off x="8768244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96143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2" name="矩形: 圆角 61"/>
          <p:cNvSpPr/>
          <p:nvPr/>
        </p:nvSpPr>
        <p:spPr>
          <a:xfrm flipH="1">
            <a:off x="11182664" y="1543050"/>
            <a:ext cx="640283" cy="640283"/>
          </a:xfrm>
          <a:prstGeom prst="roundRect">
            <a:avLst>
              <a:gd name="adj" fmla="val 6386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64" name="Google Shape;5700;p77"/>
          <p:cNvGrpSpPr/>
          <p:nvPr/>
        </p:nvGrpSpPr>
        <p:grpSpPr>
          <a:xfrm flipH="1">
            <a:off x="11289874" y="1679325"/>
            <a:ext cx="425864" cy="367732"/>
            <a:chOff x="-42651700" y="3217825"/>
            <a:chExt cx="367600" cy="317425"/>
          </a:xfrm>
          <a:solidFill>
            <a:schemeClr val="tx2"/>
          </a:solidFill>
        </p:grpSpPr>
        <p:sp>
          <p:nvSpPr>
            <p:cNvPr id="99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0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 flipH="1">
            <a:off x="6963210" y="223063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构建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CDP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客户数据平台，整合线上线下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大渠道数据，营销转化率提升至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。开展社交裂变活动，或克成本降低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，会员再够绿达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 flipH="1">
            <a:off x="6963210" y="310055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构建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CDP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客户数据平台，整合线上线下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大渠道数据，准确营销转化提升至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。开展社交列便活动，活可成本降低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，会员再够绿达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 flipH="1">
            <a:off x="10900820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社交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裂变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 flipH="1">
            <a:off x="9837248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精准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触达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 flipH="1">
            <a:off x="8781014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数据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融合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96" name="直接连接符 95"/>
          <p:cNvCxnSpPr/>
          <p:nvPr/>
        </p:nvCxnSpPr>
        <p:spPr>
          <a:xfrm flipH="1">
            <a:off x="11810274" y="2302980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H="1">
            <a:off x="11810274" y="3191923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7163234" y="3043458"/>
            <a:ext cx="451995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五边形 27"/>
          <p:cNvSpPr/>
          <p:nvPr/>
        </p:nvSpPr>
        <p:spPr>
          <a:xfrm>
            <a:off x="3571387" y="1048892"/>
            <a:ext cx="5049226" cy="4808790"/>
          </a:xfrm>
          <a:prstGeom prst="pentagon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6" name="五边形 165"/>
          <p:cNvSpPr/>
          <p:nvPr/>
        </p:nvSpPr>
        <p:spPr>
          <a:xfrm>
            <a:off x="3716511" y="1187105"/>
            <a:ext cx="4758978" cy="4532364"/>
          </a:xfrm>
          <a:prstGeom prst="pent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4273685" y="1812997"/>
            <a:ext cx="3644630" cy="347108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1" name="五边形 200"/>
          <p:cNvSpPr/>
          <p:nvPr/>
        </p:nvSpPr>
        <p:spPr>
          <a:xfrm>
            <a:off x="4701442" y="2220385"/>
            <a:ext cx="2789116" cy="2656304"/>
          </a:xfrm>
          <a:prstGeom prst="pentagon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8" name="五边形 187"/>
          <p:cNvSpPr/>
          <p:nvPr/>
        </p:nvSpPr>
        <p:spPr>
          <a:xfrm>
            <a:off x="5073153" y="2670785"/>
            <a:ext cx="2019300" cy="1923144"/>
          </a:xfrm>
          <a:prstGeom prst="pent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6128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工作流程汇报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顶角 2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任意多边形: 形状 174"/>
          <p:cNvSpPr/>
          <p:nvPr/>
        </p:nvSpPr>
        <p:spPr>
          <a:xfrm>
            <a:off x="355600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8" name="任意多边形: 形状 177"/>
          <p:cNvSpPr/>
          <p:nvPr/>
        </p:nvSpPr>
        <p:spPr>
          <a:xfrm flipH="1">
            <a:off x="6229478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5" name="任意多边形: 形状 184"/>
          <p:cNvSpPr/>
          <p:nvPr/>
        </p:nvSpPr>
        <p:spPr>
          <a:xfrm>
            <a:off x="355600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H="1">
            <a:off x="7818785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5127759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6571874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8" name="椭圆 197"/>
          <p:cNvSpPr/>
          <p:nvPr/>
        </p:nvSpPr>
        <p:spPr>
          <a:xfrm>
            <a:off x="4680314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9" name="椭圆 198"/>
          <p:cNvSpPr/>
          <p:nvPr/>
        </p:nvSpPr>
        <p:spPr>
          <a:xfrm>
            <a:off x="7019319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00" name="椭圆 199"/>
          <p:cNvSpPr/>
          <p:nvPr/>
        </p:nvSpPr>
        <p:spPr>
          <a:xfrm>
            <a:off x="5849815" y="469054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05" name="文本框 204"/>
          <p:cNvSpPr txBox="1"/>
          <p:nvPr/>
        </p:nvSpPr>
        <p:spPr>
          <a:xfrm rot="19425265">
            <a:off x="4268829" y="2078730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市场洞察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85521" y="1439066"/>
            <a:ext cx="3534943" cy="891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依据易观分析、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Gartner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等专业机构数据，融合内部用户画像研究，察觉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年县域市场电商用户年均增幅达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，低线城市消费潜能颇大，进而选定其为核心拓新区域 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965365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市场洞察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792150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下沉市场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0" name="矩形: 圆角 209"/>
          <p:cNvSpPr/>
          <p:nvPr/>
        </p:nvSpPr>
        <p:spPr>
          <a:xfrm>
            <a:off x="1596838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社交裂变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1" name="矩形: 圆角 210"/>
          <p:cNvSpPr/>
          <p:nvPr/>
        </p:nvSpPr>
        <p:spPr>
          <a:xfrm>
            <a:off x="2401526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数据驱动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 rot="2174735" flipH="1">
            <a:off x="6419893" y="2145478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策略制定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71536" y="1439066"/>
            <a:ext cx="3534943" cy="891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基于市场分析结论，制定 “社交分享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本地化活动” 双轮驱动策略。计划借由平台式组队、砍价形式促使用户自主传播，同时搭配线下地推，目标达成季度新增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万用户，提升市场覆盖率 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17934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策略制定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029801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下沉市场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9834489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社交裂变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0639177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数据驱动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5522" y="3482435"/>
            <a:ext cx="2885866" cy="109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联动生态场景（社交页推广、社区互动）、短视频平台，依托大数据算法定向触达目标人流。同时与超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家本地商超、便利店协作，开展线下扫码享惠活动，覆盖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余个社区，构建线上线下流量循环 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5365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渠道执行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614448" y="3482435"/>
            <a:ext cx="2885866" cy="109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运用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Google Analytics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、神策数据等工具，实时跟踪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UV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、转化率、跳出率等核心指标。当发现平台广告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ROI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低于行业均值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时，迅速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A/B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测试不同素材版本，调整投放策略后，转化率提升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，降低用户获取成本。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0011769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数据监控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792150" y="5026946"/>
            <a:ext cx="2726016" cy="108847"/>
            <a:chOff x="792150" y="4841772"/>
            <a:chExt cx="2726016" cy="186149"/>
          </a:xfrm>
        </p:grpSpPr>
        <p:sp>
          <p:nvSpPr>
            <p:cNvPr id="162" name="矩形: 圆角 161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矩形: 圆角 162"/>
            <p:cNvSpPr/>
            <p:nvPr/>
          </p:nvSpPr>
          <p:spPr>
            <a:xfrm>
              <a:off x="792151" y="4841772"/>
              <a:ext cx="1647838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67" name="直接连接符 166"/>
          <p:cNvCxnSpPr/>
          <p:nvPr/>
        </p:nvCxnSpPr>
        <p:spPr>
          <a:xfrm>
            <a:off x="822960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组合 167"/>
          <p:cNvGrpSpPr/>
          <p:nvPr/>
        </p:nvGrpSpPr>
        <p:grpSpPr>
          <a:xfrm>
            <a:off x="792150" y="5548143"/>
            <a:ext cx="2726016" cy="108847"/>
            <a:chOff x="792150" y="4841772"/>
            <a:chExt cx="2726016" cy="186149"/>
          </a:xfrm>
        </p:grpSpPr>
        <p:sp>
          <p:nvSpPr>
            <p:cNvPr id="169" name="矩形: 圆角 168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0" name="矩形: 圆角 169"/>
            <p:cNvSpPr/>
            <p:nvPr/>
          </p:nvSpPr>
          <p:spPr>
            <a:xfrm>
              <a:off x="792150" y="4841772"/>
              <a:ext cx="1849450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76" name="文本框 175"/>
          <p:cNvSpPr txBox="1"/>
          <p:nvPr/>
        </p:nvSpPr>
        <p:spPr>
          <a:xfrm>
            <a:off x="716951" y="4765379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线下合作商家覆盖率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095618" y="4736953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16951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社区触达率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3095618" y="5240365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8657801" y="5026946"/>
            <a:ext cx="2726016" cy="108847"/>
            <a:chOff x="792150" y="4841772"/>
            <a:chExt cx="2726016" cy="186149"/>
          </a:xfrm>
        </p:grpSpPr>
        <p:sp>
          <p:nvSpPr>
            <p:cNvPr id="203" name="矩形: 圆角 202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矩形: 圆角 203"/>
            <p:cNvSpPr/>
            <p:nvPr/>
          </p:nvSpPr>
          <p:spPr>
            <a:xfrm>
              <a:off x="792151" y="4841772"/>
              <a:ext cx="711623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84" name="直接连接符 183"/>
          <p:cNvCxnSpPr/>
          <p:nvPr/>
        </p:nvCxnSpPr>
        <p:spPr>
          <a:xfrm>
            <a:off x="8688611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组合 186"/>
          <p:cNvGrpSpPr/>
          <p:nvPr/>
        </p:nvGrpSpPr>
        <p:grpSpPr>
          <a:xfrm>
            <a:off x="8657801" y="5548143"/>
            <a:ext cx="2726016" cy="108847"/>
            <a:chOff x="792150" y="4841772"/>
            <a:chExt cx="2726016" cy="186149"/>
          </a:xfrm>
        </p:grpSpPr>
        <p:sp>
          <p:nvSpPr>
            <p:cNvPr id="196" name="矩形: 圆角 195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矩形: 圆角 201"/>
            <p:cNvSpPr/>
            <p:nvPr/>
          </p:nvSpPr>
          <p:spPr>
            <a:xfrm>
              <a:off x="792150" y="4841772"/>
              <a:ext cx="438581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8582602" y="4765379"/>
            <a:ext cx="209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初始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ROI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低于行业均值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10961269" y="4736953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8582602" y="5268791"/>
            <a:ext cx="209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调整后转化率提升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0961269" y="5240365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 rot="4309953">
            <a:off x="3598739" y="4044192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渠道执行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 rot="6492565" flipV="1">
            <a:off x="7000450" y="4044139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数据监控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5338546" y="5315431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复盘迭代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17" name="直接连接符 216"/>
          <p:cNvCxnSpPr/>
          <p:nvPr/>
        </p:nvCxnSpPr>
        <p:spPr>
          <a:xfrm flipV="1">
            <a:off x="3458334" y="1000636"/>
            <a:ext cx="2557266" cy="1860550"/>
          </a:xfrm>
          <a:prstGeom prst="line">
            <a:avLst/>
          </a:prstGeom>
          <a:ln w="152400" cap="rnd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flipH="1" flipV="1">
            <a:off x="6168103" y="1000636"/>
            <a:ext cx="2557266" cy="186055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flipV="1">
            <a:off x="7748308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>
            <a:off x="4605824" y="5824898"/>
            <a:ext cx="3168957" cy="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flipH="1" flipV="1">
            <a:off x="3508054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椭圆 231"/>
          <p:cNvSpPr/>
          <p:nvPr/>
        </p:nvSpPr>
        <p:spPr>
          <a:xfrm>
            <a:off x="767622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67622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174016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11174016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5600" y="6113486"/>
            <a:ext cx="11480800" cy="4540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7" name="椭圆 236"/>
          <p:cNvSpPr/>
          <p:nvPr/>
        </p:nvSpPr>
        <p:spPr>
          <a:xfrm>
            <a:off x="684278" y="6215346"/>
            <a:ext cx="250362" cy="25036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947998" y="6187767"/>
            <a:ext cx="126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复盘迭代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2364272" y="6144715"/>
            <a:ext cx="5741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季度活动结束后，系统复盘数据显示新增用户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48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万，再够绿提高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。深度剖析活动中的成功经验与不足，提炼高转化玩法，将有效策略模块融入下季度拉新计划，优化资源分配与执行细节。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8516515" y="6210560"/>
            <a:ext cx="1406154" cy="276999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活动成效         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96%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43" name="组合 242"/>
          <p:cNvGrpSpPr/>
          <p:nvPr/>
        </p:nvGrpSpPr>
        <p:grpSpPr>
          <a:xfrm>
            <a:off x="9165997" y="6289704"/>
            <a:ext cx="247588" cy="118709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45" name="等腰三角形 244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6" name="等腰三角形 245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7" name="等腰三角形 246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0008699" y="6210560"/>
            <a:ext cx="1368913" cy="276999"/>
            <a:chOff x="8599860" y="6210560"/>
            <a:chExt cx="1270712" cy="276999"/>
          </a:xfrm>
        </p:grpSpPr>
        <p:sp>
          <p:nvSpPr>
            <p:cNvPr id="250" name="文本框 249"/>
            <p:cNvSpPr txBox="1"/>
            <p:nvPr/>
          </p:nvSpPr>
          <p:spPr>
            <a:xfrm>
              <a:off x="8599860" y="6210560"/>
              <a:ext cx="1270712" cy="276999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转化提升          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8%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1" name="组合 250"/>
            <p:cNvGrpSpPr/>
            <p:nvPr/>
          </p:nvGrpSpPr>
          <p:grpSpPr>
            <a:xfrm>
              <a:off x="9217342" y="6289704"/>
              <a:ext cx="247588" cy="118709"/>
              <a:chOff x="1878868" y="3455194"/>
              <a:chExt cx="247588" cy="118709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</p:grpSpPr>
          <p:sp>
            <p:nvSpPr>
              <p:cNvPr id="252" name="等腰三角形 251"/>
              <p:cNvSpPr/>
              <p:nvPr/>
            </p:nvSpPr>
            <p:spPr>
              <a:xfrm rot="16200000" flipH="1" flipV="1">
                <a:off x="1870680" y="3463382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3" name="等腰三角形 252"/>
              <p:cNvSpPr/>
              <p:nvPr/>
            </p:nvSpPr>
            <p:spPr>
              <a:xfrm rot="16200000" flipH="1" flipV="1">
                <a:off x="1943308" y="3463383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4" name="等腰三角形 253"/>
              <p:cNvSpPr/>
              <p:nvPr/>
            </p:nvSpPr>
            <p:spPr>
              <a:xfrm rot="16200000" flipH="1" flipV="1">
                <a:off x="2015936" y="3463384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56" name="等腰三角形 255"/>
          <p:cNvSpPr/>
          <p:nvPr/>
        </p:nvSpPr>
        <p:spPr>
          <a:xfrm rot="16200000" flipH="1" flipV="1">
            <a:off x="192784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5" name="等腰三角形 254"/>
          <p:cNvSpPr/>
          <p:nvPr/>
        </p:nvSpPr>
        <p:spPr>
          <a:xfrm rot="16200000" flipH="1" flipV="1">
            <a:off x="201020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5481022" y="3732408"/>
            <a:ext cx="1211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电商用户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5358830" y="4086867"/>
            <a:ext cx="1456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增长工作流程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4" name="Google Shape;6082;p78"/>
          <p:cNvSpPr/>
          <p:nvPr/>
        </p:nvSpPr>
        <p:spPr>
          <a:xfrm>
            <a:off x="5757482" y="3141483"/>
            <a:ext cx="652892" cy="509992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306309" y="1238249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6309" y="3124210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6309" y="5010171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4395992" y="3124209"/>
            <a:ext cx="3400019" cy="1647301"/>
          </a:xfrm>
          <a:custGeom>
            <a:avLst/>
            <a:gdLst>
              <a:gd name="connsiteX0" fmla="*/ 762080 w 3400019"/>
              <a:gd name="connsiteY0" fmla="*/ 0 h 1647301"/>
              <a:gd name="connsiteX1" fmla="*/ 2637940 w 3400019"/>
              <a:gd name="connsiteY1" fmla="*/ 0 h 1647301"/>
              <a:gd name="connsiteX2" fmla="*/ 2679788 w 3400019"/>
              <a:gd name="connsiteY2" fmla="*/ 157154 h 1647301"/>
              <a:gd name="connsiteX3" fmla="*/ 3282929 w 3400019"/>
              <a:gd name="connsiteY3" fmla="*/ 1466784 h 1647301"/>
              <a:gd name="connsiteX4" fmla="*/ 3400019 w 3400019"/>
              <a:gd name="connsiteY4" fmla="*/ 1647301 h 1647301"/>
              <a:gd name="connsiteX5" fmla="*/ 0 w 3400019"/>
              <a:gd name="connsiteY5" fmla="*/ 1647301 h 1647301"/>
              <a:gd name="connsiteX6" fmla="*/ 117091 w 3400019"/>
              <a:gd name="connsiteY6" fmla="*/ 1466782 h 1647301"/>
              <a:gd name="connsiteX7" fmla="*/ 720232 w 3400019"/>
              <a:gd name="connsiteY7" fmla="*/ 157153 h 1647301"/>
              <a:gd name="connsiteX8" fmla="*/ 762080 w 3400019"/>
              <a:gd name="connsiteY8" fmla="*/ 0 h 164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0019" h="1647301">
                <a:moveTo>
                  <a:pt x="762080" y="0"/>
                </a:moveTo>
                <a:lnTo>
                  <a:pt x="2637940" y="0"/>
                </a:lnTo>
                <a:lnTo>
                  <a:pt x="2679788" y="157154"/>
                </a:lnTo>
                <a:cubicBezTo>
                  <a:pt x="2794268" y="548415"/>
                  <a:pt x="2996075" y="995957"/>
                  <a:pt x="3282929" y="1466784"/>
                </a:cubicBezTo>
                <a:lnTo>
                  <a:pt x="3400019" y="1647301"/>
                </a:lnTo>
                <a:lnTo>
                  <a:pt x="0" y="1647301"/>
                </a:lnTo>
                <a:lnTo>
                  <a:pt x="117091" y="1466782"/>
                </a:lnTo>
                <a:cubicBezTo>
                  <a:pt x="403945" y="995956"/>
                  <a:pt x="605753" y="548414"/>
                  <a:pt x="720232" y="157153"/>
                </a:cubicBezTo>
                <a:lnTo>
                  <a:pt x="76208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2305050" y="5010168"/>
            <a:ext cx="7581900" cy="1847833"/>
          </a:xfrm>
          <a:custGeom>
            <a:avLst/>
            <a:gdLst>
              <a:gd name="connsiteX0" fmla="*/ 1931514 w 7581900"/>
              <a:gd name="connsiteY0" fmla="*/ 0 h 1847833"/>
              <a:gd name="connsiteX1" fmla="*/ 5650388 w 7581900"/>
              <a:gd name="connsiteY1" fmla="*/ 0 h 1847833"/>
              <a:gd name="connsiteX2" fmla="*/ 5860118 w 7581900"/>
              <a:gd name="connsiteY2" fmla="*/ 287397 h 1847833"/>
              <a:gd name="connsiteX3" fmla="*/ 7495582 w 7581900"/>
              <a:gd name="connsiteY3" fmla="*/ 1800594 h 1847833"/>
              <a:gd name="connsiteX4" fmla="*/ 7581900 w 7581900"/>
              <a:gd name="connsiteY4" fmla="*/ 1847833 h 1847833"/>
              <a:gd name="connsiteX5" fmla="*/ 0 w 7581900"/>
              <a:gd name="connsiteY5" fmla="*/ 1847833 h 1847833"/>
              <a:gd name="connsiteX6" fmla="*/ 86320 w 7581900"/>
              <a:gd name="connsiteY6" fmla="*/ 1800592 h 1847833"/>
              <a:gd name="connsiteX7" fmla="*/ 1721785 w 7581900"/>
              <a:gd name="connsiteY7" fmla="*/ 287396 h 1847833"/>
              <a:gd name="connsiteX8" fmla="*/ 1931514 w 7581900"/>
              <a:gd name="connsiteY8" fmla="*/ 0 h 184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0" h="1847833">
                <a:moveTo>
                  <a:pt x="1931514" y="0"/>
                </a:moveTo>
                <a:lnTo>
                  <a:pt x="5650388" y="0"/>
                </a:lnTo>
                <a:lnTo>
                  <a:pt x="5860118" y="287397"/>
                </a:lnTo>
                <a:cubicBezTo>
                  <a:pt x="6376655" y="956359"/>
                  <a:pt x="6968498" y="1499557"/>
                  <a:pt x="7495582" y="1800594"/>
                </a:cubicBezTo>
                <a:lnTo>
                  <a:pt x="7581900" y="1847833"/>
                </a:lnTo>
                <a:lnTo>
                  <a:pt x="0" y="1847833"/>
                </a:lnTo>
                <a:lnTo>
                  <a:pt x="86320" y="1800592"/>
                </a:lnTo>
                <a:cubicBezTo>
                  <a:pt x="613404" y="1499556"/>
                  <a:pt x="1205248" y="956358"/>
                  <a:pt x="1721785" y="287396"/>
                </a:cubicBezTo>
                <a:lnTo>
                  <a:pt x="193151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箭头: 五边形 9"/>
          <p:cNvSpPr/>
          <p:nvPr/>
        </p:nvSpPr>
        <p:spPr>
          <a:xfrm rot="16200000">
            <a:off x="5167578" y="947478"/>
            <a:ext cx="1856850" cy="2019294"/>
          </a:xfrm>
          <a:prstGeom prst="homePlate">
            <a:avLst>
              <a:gd name="adj" fmla="val 6770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309" y="200526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递进流程图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7" name="箭头: 五边形 106"/>
          <p:cNvSpPr/>
          <p:nvPr/>
        </p:nvSpPr>
        <p:spPr>
          <a:xfrm>
            <a:off x="30631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箭头: 五边形 109"/>
          <p:cNvSpPr/>
          <p:nvPr/>
        </p:nvSpPr>
        <p:spPr>
          <a:xfrm flipH="1">
            <a:off x="1158264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箭头: 五边形 110"/>
          <p:cNvSpPr/>
          <p:nvPr/>
        </p:nvSpPr>
        <p:spPr>
          <a:xfrm>
            <a:off x="30631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箭头: 五边形 111"/>
          <p:cNvSpPr/>
          <p:nvPr/>
        </p:nvSpPr>
        <p:spPr>
          <a:xfrm flipH="1">
            <a:off x="1158264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箭头: 五边形 112"/>
          <p:cNvSpPr/>
          <p:nvPr/>
        </p:nvSpPr>
        <p:spPr>
          <a:xfrm>
            <a:off x="30631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4" name="箭头: 五边形 113"/>
          <p:cNvSpPr/>
          <p:nvPr/>
        </p:nvSpPr>
        <p:spPr>
          <a:xfrm flipH="1">
            <a:off x="1158264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086350" y="3831653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关键策略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动作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086350" y="5619751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底层价值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沉淀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5381625" y="2061899"/>
            <a:ext cx="142875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核心目标达成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1" name="Google Shape;6785;p79"/>
          <p:cNvGrpSpPr/>
          <p:nvPr/>
        </p:nvGrpSpPr>
        <p:grpSpPr>
          <a:xfrm>
            <a:off x="5840156" y="5142671"/>
            <a:ext cx="408818" cy="388622"/>
            <a:chOff x="-32576675" y="3944600"/>
            <a:chExt cx="307200" cy="2920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2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3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24" name="Google Shape;7274;p80"/>
          <p:cNvGrpSpPr/>
          <p:nvPr/>
        </p:nvGrpSpPr>
        <p:grpSpPr>
          <a:xfrm>
            <a:off x="5856038" y="3275623"/>
            <a:ext cx="472415" cy="472139"/>
            <a:chOff x="-49764975" y="3183375"/>
            <a:chExt cx="299300" cy="2991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6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7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8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9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1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2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3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1" name="Google Shape;5389;p76"/>
          <p:cNvGrpSpPr/>
          <p:nvPr/>
        </p:nvGrpSpPr>
        <p:grpSpPr>
          <a:xfrm>
            <a:off x="5863547" y="1469730"/>
            <a:ext cx="464906" cy="460412"/>
            <a:chOff x="5049725" y="1435050"/>
            <a:chExt cx="486550" cy="481850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42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628528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619857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6" name="矩形: 圆角 155"/>
          <p:cNvSpPr/>
          <p:nvPr/>
        </p:nvSpPr>
        <p:spPr>
          <a:xfrm>
            <a:off x="735708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16658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矩形: 圆角 160"/>
          <p:cNvSpPr/>
          <p:nvPr/>
        </p:nvSpPr>
        <p:spPr>
          <a:xfrm>
            <a:off x="2080010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2060960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4" name="矩形: 圆角 163"/>
          <p:cNvSpPr/>
          <p:nvPr/>
        </p:nvSpPr>
        <p:spPr>
          <a:xfrm>
            <a:off x="342431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40526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35162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7558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751599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9694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860294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1244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0204596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85546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528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9857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735708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6658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080010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60960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35162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723030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8860294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841244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10204596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185546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28528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619857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 “短视频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直播” 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6" name="矩形: 圆角 145"/>
          <p:cNvSpPr/>
          <p:nvPr/>
        </p:nvSpPr>
        <p:spPr>
          <a:xfrm>
            <a:off x="735708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716658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9435162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8901218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 “短视频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直播” 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矩形: 圆角 156"/>
          <p:cNvSpPr/>
          <p:nvPr/>
        </p:nvSpPr>
        <p:spPr>
          <a:xfrm>
            <a:off x="10204596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10185546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73696" y="200526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5600" y="1028700"/>
            <a:ext cx="3069771" cy="2400298"/>
          </a:xfrm>
          <a:prstGeom prst="roundRect">
            <a:avLst>
              <a:gd name="adj" fmla="val 27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577771" y="1028700"/>
            <a:ext cx="8245929" cy="2400298"/>
          </a:xfrm>
          <a:prstGeom prst="roundRect">
            <a:avLst>
              <a:gd name="adj" fmla="val 2725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355600" y="3554186"/>
            <a:ext cx="415834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4624330" y="3554186"/>
            <a:ext cx="3646311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381028" y="3554186"/>
            <a:ext cx="345537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3752169" y="1152522"/>
            <a:ext cx="1897567" cy="2152654"/>
            <a:chOff x="3752169" y="1152522"/>
            <a:chExt cx="1897567" cy="2152654"/>
          </a:xfrm>
        </p:grpSpPr>
        <p:sp>
          <p:nvSpPr>
            <p:cNvPr id="8" name="矩形: 圆角 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52" name="图表 51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55" name="矩形: 圆角 54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投放成本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万元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754717" y="1152522"/>
            <a:ext cx="1897567" cy="2152654"/>
            <a:chOff x="3752169" y="1152522"/>
            <a:chExt cx="1897567" cy="2152654"/>
          </a:xfrm>
        </p:grpSpPr>
        <p:sp>
          <p:nvSpPr>
            <p:cNvPr id="60" name="矩形: 圆角 59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61" name="图表 60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2" name="矩形: 圆角 61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品牌曝光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万次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757265" y="1152522"/>
            <a:ext cx="1897567" cy="2152654"/>
            <a:chOff x="3752169" y="1152522"/>
            <a:chExt cx="1897567" cy="2152654"/>
          </a:xfrm>
        </p:grpSpPr>
        <p:sp>
          <p:nvSpPr>
            <p:cNvPr id="98" name="矩形: 圆角 9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99" name="图表 98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00" name="矩形: 圆角 99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用户互动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万次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9759813" y="1152522"/>
            <a:ext cx="1897567" cy="2152654"/>
            <a:chOff x="3752169" y="1152522"/>
            <a:chExt cx="1897567" cy="2152654"/>
          </a:xfrm>
        </p:grpSpPr>
        <p:sp>
          <p:nvSpPr>
            <p:cNvPr id="104" name="矩形: 圆角 103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105" name="图表 104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6" name="矩形: 圆角 105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投产出比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ROI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aphicFrame>
        <p:nvGraphicFramePr>
          <p:cNvPr id="135" name="图表 134"/>
          <p:cNvGraphicFramePr/>
          <p:nvPr/>
        </p:nvGraphicFramePr>
        <p:xfrm>
          <a:off x="5062918" y="4260851"/>
          <a:ext cx="2966032" cy="171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23255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平台资源投放预算占比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aphicFrame>
        <p:nvGraphicFramePr>
          <p:cNvPr id="14" name="图表 13"/>
          <p:cNvGraphicFramePr/>
          <p:nvPr/>
        </p:nvGraphicFramePr>
        <p:xfrm>
          <a:off x="351226" y="428835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22179" y="496540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箭头: 上 15"/>
          <p:cNvSpPr/>
          <p:nvPr/>
        </p:nvSpPr>
        <p:spPr>
          <a:xfrm>
            <a:off x="1355893" y="477763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2445390" y="428787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116343" y="496492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32%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箭头: 上 22"/>
          <p:cNvSpPr/>
          <p:nvPr/>
        </p:nvSpPr>
        <p:spPr>
          <a:xfrm>
            <a:off x="3450057" y="477715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8674" y="579738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63513" y="579690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B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3" name="梯形 32"/>
          <p:cNvSpPr/>
          <p:nvPr/>
        </p:nvSpPr>
        <p:spPr>
          <a:xfrm rot="5400000">
            <a:off x="1578238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1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254233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6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01056" y="4826484"/>
            <a:ext cx="667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035969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成本结构优化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094237" y="4406934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613598" y="4425112"/>
            <a:ext cx="26512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缩减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投放（占比降至约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21%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 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094237" y="5154712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613598" y="5172890"/>
            <a:ext cx="26512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保持现有投放成本占比（约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719732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数据沉淀复用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709230" y="4268220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 “平台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人群” 数据看板，每周复盘高转化素材（如爆款 “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秒底妆速成” 短视频 ），沉淀成标准化模板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686499" y="5059249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提取小红书高互动笔记关键词（“清透伪素颜”“混油天菜” ），反哺产品包装与详情页文案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616950" y="4345022"/>
            <a:ext cx="0" cy="538612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616950" y="5110793"/>
            <a:ext cx="0" cy="538612"/>
          </a:xfrm>
          <a:prstGeom prst="line">
            <a:avLst/>
          </a:prstGeom>
          <a:ln w="381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77803" y="1234110"/>
            <a:ext cx="2025365" cy="2025365"/>
            <a:chOff x="889782" y="1223160"/>
            <a:chExt cx="2025365" cy="2025365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89782" y="2200275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>
              <a:off x="889784" y="2235843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588124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投放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侧重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977686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成本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88124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沉淀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977686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阶段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结论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355601" y="1355300"/>
            <a:ext cx="5856514" cy="1881282"/>
          </a:xfrm>
          <a:prstGeom prst="roundRect">
            <a:avLst>
              <a:gd name="adj" fmla="val 4228"/>
            </a:avLst>
          </a:prstGeom>
          <a:solidFill>
            <a:schemeClr val="accent1">
              <a:alpha val="5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矩形: 圆角 150"/>
          <p:cNvSpPr/>
          <p:nvPr/>
        </p:nvSpPr>
        <p:spPr>
          <a:xfrm>
            <a:off x="6865171" y="3903076"/>
            <a:ext cx="4979034" cy="2266116"/>
          </a:xfrm>
          <a:prstGeom prst="roundRect">
            <a:avLst>
              <a:gd name="adj" fmla="val 4228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6" name="矩形: 圆角 145"/>
          <p:cNvSpPr/>
          <p:nvPr/>
        </p:nvSpPr>
        <p:spPr>
          <a:xfrm>
            <a:off x="6865171" y="1162883"/>
            <a:ext cx="4979034" cy="2266116"/>
          </a:xfrm>
          <a:prstGeom prst="roundRect">
            <a:avLst>
              <a:gd name="adj" fmla="val 4228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355600" y="4086929"/>
            <a:ext cx="5138421" cy="1881282"/>
          </a:xfrm>
          <a:prstGeom prst="roundRect">
            <a:avLst>
              <a:gd name="adj" fmla="val 4228"/>
            </a:avLst>
          </a:prstGeom>
          <a:solidFill>
            <a:schemeClr val="tx2">
              <a:alpha val="5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数据展示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4" name="直接连接符 3"/>
          <p:cNvCxnSpPr>
            <a:stCxn id="8" idx="1"/>
          </p:cNvCxnSpPr>
          <p:nvPr/>
        </p:nvCxnSpPr>
        <p:spPr>
          <a:xfrm>
            <a:off x="355601" y="2295941"/>
            <a:ext cx="634999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/>
          <p:cNvSpPr/>
          <p:nvPr/>
        </p:nvSpPr>
        <p:spPr>
          <a:xfrm>
            <a:off x="5167087" y="1021367"/>
            <a:ext cx="1857828" cy="2549148"/>
          </a:xfrm>
          <a:prstGeom prst="roundRect">
            <a:avLst>
              <a:gd name="adj" fmla="val 422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55600" y="5038234"/>
            <a:ext cx="5969000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5167087" y="3750052"/>
            <a:ext cx="1857828" cy="2549148"/>
          </a:xfrm>
          <a:prstGeom prst="roundRect">
            <a:avLst>
              <a:gd name="adj" fmla="val 422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311095" y="2198073"/>
            <a:ext cx="1589769" cy="195735"/>
            <a:chOff x="5311095" y="2159170"/>
            <a:chExt cx="1589769" cy="195735"/>
          </a:xfrm>
        </p:grpSpPr>
        <p:grpSp>
          <p:nvGrpSpPr>
            <p:cNvPr id="18" name="组合 17"/>
            <p:cNvGrpSpPr/>
            <p:nvPr/>
          </p:nvGrpSpPr>
          <p:grpSpPr>
            <a:xfrm>
              <a:off x="5311095" y="2159170"/>
              <a:ext cx="1227818" cy="58964"/>
              <a:chOff x="5311095" y="2159170"/>
              <a:chExt cx="1227818" cy="58964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 flipH="1" flipV="1">
              <a:off x="5673046" y="2295941"/>
              <a:ext cx="1227818" cy="58964"/>
              <a:chOff x="5311095" y="2159170"/>
              <a:chExt cx="1227818" cy="58964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直接连接符 25"/>
          <p:cNvCxnSpPr/>
          <p:nvPr/>
        </p:nvCxnSpPr>
        <p:spPr>
          <a:xfrm>
            <a:off x="1538515" y="1495841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742475" y="1495841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946435" y="1495841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538515" y="4238134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2742475" y="4238134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946435" y="4238134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5311095" y="4926758"/>
            <a:ext cx="1589769" cy="195735"/>
            <a:chOff x="5311095" y="2159170"/>
            <a:chExt cx="1589769" cy="195735"/>
          </a:xfrm>
        </p:grpSpPr>
        <p:grpSp>
          <p:nvGrpSpPr>
            <p:cNvPr id="46" name="组合 45"/>
            <p:cNvGrpSpPr/>
            <p:nvPr/>
          </p:nvGrpSpPr>
          <p:grpSpPr>
            <a:xfrm>
              <a:off x="5311095" y="2159170"/>
              <a:ext cx="1227818" cy="58964"/>
              <a:chOff x="5311095" y="2159170"/>
              <a:chExt cx="1227818" cy="58964"/>
            </a:xfrm>
          </p:grpSpPr>
          <p:cxnSp>
            <p:nvCxnSpPr>
              <p:cNvPr id="50" name="直接连接符 49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/>
            <p:cNvGrpSpPr/>
            <p:nvPr/>
          </p:nvGrpSpPr>
          <p:grpSpPr>
            <a:xfrm flipH="1" flipV="1">
              <a:off x="5673046" y="2295941"/>
              <a:ext cx="1227818" cy="58964"/>
              <a:chOff x="5311095" y="2159170"/>
              <a:chExt cx="1227818" cy="58964"/>
            </a:xfrm>
          </p:grpSpPr>
          <p:cxnSp>
            <p:nvCxnSpPr>
              <p:cNvPr id="48" name="直接连接符 47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组合 63"/>
          <p:cNvGrpSpPr/>
          <p:nvPr/>
        </p:nvGrpSpPr>
        <p:grpSpPr>
          <a:xfrm>
            <a:off x="540658" y="1506263"/>
            <a:ext cx="812800" cy="666136"/>
            <a:chOff x="540658" y="1506263"/>
            <a:chExt cx="812800" cy="666136"/>
          </a:xfrm>
        </p:grpSpPr>
        <p:sp>
          <p:nvSpPr>
            <p:cNvPr id="52" name="文本框 51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门店目标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742441" y="1506263"/>
            <a:ext cx="812800" cy="666136"/>
            <a:chOff x="540658" y="1506263"/>
            <a:chExt cx="812800" cy="666136"/>
          </a:xfrm>
        </p:grpSpPr>
        <p:sp>
          <p:nvSpPr>
            <p:cNvPr id="66" name="文本框 65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选址完成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2944224" y="1506263"/>
            <a:ext cx="812800" cy="666136"/>
            <a:chOff x="540658" y="1506263"/>
            <a:chExt cx="812800" cy="666136"/>
          </a:xfrm>
        </p:grpSpPr>
        <p:sp>
          <p:nvSpPr>
            <p:cNvPr id="70" name="文本框 69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装修进度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559417" y="1710734"/>
              <a:ext cx="5893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60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23405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%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636194" y="1506263"/>
            <a:ext cx="1857827" cy="572476"/>
            <a:chOff x="30845" y="1506263"/>
            <a:chExt cx="1857827" cy="572476"/>
          </a:xfrm>
        </p:grpSpPr>
        <p:sp>
          <p:nvSpPr>
            <p:cNvPr id="74" name="文本框 73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证件办理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30845" y="1801740"/>
              <a:ext cx="18578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消防证办结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540658" y="2464022"/>
            <a:ext cx="812800" cy="666136"/>
            <a:chOff x="540658" y="1506263"/>
            <a:chExt cx="812800" cy="666136"/>
          </a:xfrm>
        </p:grpSpPr>
        <p:sp>
          <p:nvSpPr>
            <p:cNvPr id="78" name="文本框 77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人员招聘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人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1742441" y="2464022"/>
            <a:ext cx="812800" cy="666136"/>
            <a:chOff x="540658" y="1506263"/>
            <a:chExt cx="812800" cy="666136"/>
          </a:xfrm>
        </p:grpSpPr>
        <p:sp>
          <p:nvSpPr>
            <p:cNvPr id="82" name="文本框 81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培训场次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场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944224" y="2464022"/>
            <a:ext cx="812800" cy="666136"/>
            <a:chOff x="540658" y="1506263"/>
            <a:chExt cx="812800" cy="666136"/>
          </a:xfrm>
        </p:grpSpPr>
        <p:sp>
          <p:nvSpPr>
            <p:cNvPr id="86" name="文本框 85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预售金额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4146007" y="2464022"/>
            <a:ext cx="812800" cy="666136"/>
            <a:chOff x="540658" y="1506263"/>
            <a:chExt cx="812800" cy="666136"/>
          </a:xfrm>
        </p:grpSpPr>
        <p:sp>
          <p:nvSpPr>
            <p:cNvPr id="90" name="文本框 89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合作资源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5422198" y="1934756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新店拓展线路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40658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差评率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35172" y="4492580"/>
            <a:ext cx="30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97279" y="4594164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742441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续购率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816331" y="4492580"/>
            <a:ext cx="505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134020" y="4594164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2944224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新品销量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931557" y="4492580"/>
            <a:ext cx="83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1200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4146007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成本压降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320882" y="4485392"/>
            <a:ext cx="363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540658" y="5205524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东线改造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35172" y="5450339"/>
            <a:ext cx="30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97279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662839" y="5205524"/>
            <a:ext cx="9720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员工满意度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836884" y="5450339"/>
            <a:ext cx="505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2168692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2944224" y="5205524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线上订单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3019939" y="5450339"/>
            <a:ext cx="52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3358500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982721" y="5205524"/>
            <a:ext cx="1139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单消额提升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4340521" y="5450339"/>
            <a:ext cx="30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4502628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5422198" y="4668152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老店优化线路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4492901" y="4589392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5422198" y="2332274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策略逻辑拆解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422198" y="5073790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策略逻辑拆解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7263867" y="1669985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家店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个选址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 + 60%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装修进度） ，用 “选址先行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装修加速” 保障开店节奏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7263867" y="2705336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人招聘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场培训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家合作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预售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 ，靠 “人效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资源” 提前锁客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1" name="矩形: 圆角 140"/>
          <p:cNvSpPr/>
          <p:nvPr/>
        </p:nvSpPr>
        <p:spPr>
          <a:xfrm>
            <a:off x="7353164" y="1455407"/>
            <a:ext cx="825636" cy="247186"/>
          </a:xfrm>
          <a:prstGeom prst="roundRect">
            <a:avLst>
              <a:gd name="adj" fmla="val 1133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目标拆解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7353164" y="2474454"/>
            <a:ext cx="825636" cy="247186"/>
          </a:xfrm>
          <a:prstGeom prst="roundRect">
            <a:avLst>
              <a:gd name="adj" fmla="val 1133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资源协同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8" name="任意多边形: 形状 147"/>
          <p:cNvSpPr/>
          <p:nvPr/>
        </p:nvSpPr>
        <p:spPr>
          <a:xfrm>
            <a:off x="5169515" y="116114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9" name="任意多边形: 形状 148"/>
          <p:cNvSpPr/>
          <p:nvPr/>
        </p:nvSpPr>
        <p:spPr>
          <a:xfrm flipV="1">
            <a:off x="5169515" y="322743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任意多边形: 形状 151"/>
          <p:cNvSpPr/>
          <p:nvPr/>
        </p:nvSpPr>
        <p:spPr>
          <a:xfrm>
            <a:off x="5169515" y="390192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3" name="任意多边形: 形状 152"/>
          <p:cNvSpPr/>
          <p:nvPr/>
        </p:nvSpPr>
        <p:spPr>
          <a:xfrm flipV="1">
            <a:off x="5169515" y="596821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54" name="直接连接符 153"/>
          <p:cNvCxnSpPr/>
          <p:nvPr/>
        </p:nvCxnSpPr>
        <p:spPr>
          <a:xfrm>
            <a:off x="7353164" y="2295941"/>
            <a:ext cx="4095886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文本框 155"/>
          <p:cNvSpPr txBox="1"/>
          <p:nvPr/>
        </p:nvSpPr>
        <p:spPr>
          <a:xfrm>
            <a:off x="7263867" y="4376993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差评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×35%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再买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家动线改造 ，用 “差评溯源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再买分析” 找体验短板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7263867" y="5412344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份新品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×40%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线上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元客单价 ，靠 “产品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渠道” 双引擎拉增收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矩形: 圆角 157"/>
          <p:cNvSpPr/>
          <p:nvPr/>
        </p:nvSpPr>
        <p:spPr>
          <a:xfrm>
            <a:off x="7353164" y="4162415"/>
            <a:ext cx="825636" cy="247186"/>
          </a:xfrm>
          <a:prstGeom prst="roundRect">
            <a:avLst>
              <a:gd name="adj" fmla="val 1133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口碑驱动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9" name="矩形: 圆角 158"/>
          <p:cNvSpPr/>
          <p:nvPr/>
        </p:nvSpPr>
        <p:spPr>
          <a:xfrm>
            <a:off x="7353164" y="5181462"/>
            <a:ext cx="825636" cy="247186"/>
          </a:xfrm>
          <a:prstGeom prst="roundRect">
            <a:avLst>
              <a:gd name="adj" fmla="val 1133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盈利提效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60" name="直接连接符 159"/>
          <p:cNvCxnSpPr/>
          <p:nvPr/>
        </p:nvCxnSpPr>
        <p:spPr>
          <a:xfrm>
            <a:off x="7353164" y="5002949"/>
            <a:ext cx="4095886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任意多边形: 形状 163"/>
          <p:cNvSpPr/>
          <p:nvPr/>
        </p:nvSpPr>
        <p:spPr>
          <a:xfrm rot="2717502">
            <a:off x="843038" y="1703299"/>
            <a:ext cx="3882389" cy="3910917"/>
          </a:xfrm>
          <a:custGeom>
            <a:avLst/>
            <a:gdLst>
              <a:gd name="connsiteX0" fmla="*/ 2998787 w 3999625"/>
              <a:gd name="connsiteY0" fmla="*/ 477375 h 4029014"/>
              <a:gd name="connsiteX1" fmla="*/ 3260210 w 3999625"/>
              <a:gd name="connsiteY1" fmla="*/ 369230 h 4029014"/>
              <a:gd name="connsiteX2" fmla="*/ 3999625 w 3999625"/>
              <a:gd name="connsiteY2" fmla="*/ 0 h 4029014"/>
              <a:gd name="connsiteX3" fmla="*/ 3629917 w 3999625"/>
              <a:gd name="connsiteY3" fmla="*/ 738460 h 4029014"/>
              <a:gd name="connsiteX4" fmla="*/ 3521632 w 3999625"/>
              <a:gd name="connsiteY4" fmla="*/ 999545 h 4029014"/>
              <a:gd name="connsiteX5" fmla="*/ 3493870 w 3999625"/>
              <a:gd name="connsiteY5" fmla="*/ 1022421 h 4029014"/>
              <a:gd name="connsiteX6" fmla="*/ 536616 w 3999625"/>
              <a:gd name="connsiteY6" fmla="*/ 4009941 h 4029014"/>
              <a:gd name="connsiteX7" fmla="*/ 445641 w 3999625"/>
              <a:gd name="connsiteY7" fmla="*/ 4010404 h 4029014"/>
              <a:gd name="connsiteX8" fmla="*/ 19073 w 3999625"/>
              <a:gd name="connsiteY8" fmla="*/ 3588158 h 4029014"/>
              <a:gd name="connsiteX9" fmla="*/ 18610 w 3999625"/>
              <a:gd name="connsiteY9" fmla="*/ 3497183 h 4029014"/>
              <a:gd name="connsiteX10" fmla="*/ 2953532 w 3999625"/>
              <a:gd name="connsiteY10" fmla="*/ 532224 h 4029014"/>
              <a:gd name="connsiteX11" fmla="*/ 2953642 w 3999625"/>
              <a:gd name="connsiteY11" fmla="*/ 532020 h 4029014"/>
              <a:gd name="connsiteX12" fmla="*/ 2998787 w 3999625"/>
              <a:gd name="connsiteY12" fmla="*/ 477375 h 402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99625" h="4029014">
                <a:moveTo>
                  <a:pt x="2998787" y="477375"/>
                </a:moveTo>
                <a:cubicBezTo>
                  <a:pt x="3065691" y="410558"/>
                  <a:pt x="3158118" y="369230"/>
                  <a:pt x="3260210" y="369230"/>
                </a:cubicBezTo>
                <a:cubicBezTo>
                  <a:pt x="3506681" y="369230"/>
                  <a:pt x="3753153" y="246153"/>
                  <a:pt x="3999625" y="0"/>
                </a:cubicBezTo>
                <a:cubicBezTo>
                  <a:pt x="3753153" y="246153"/>
                  <a:pt x="3629917" y="492307"/>
                  <a:pt x="3629917" y="738460"/>
                </a:cubicBezTo>
                <a:cubicBezTo>
                  <a:pt x="3629917" y="840420"/>
                  <a:pt x="3588536" y="932728"/>
                  <a:pt x="3521632" y="999545"/>
                </a:cubicBezTo>
                <a:lnTo>
                  <a:pt x="3493870" y="1022421"/>
                </a:lnTo>
                <a:lnTo>
                  <a:pt x="536616" y="4009941"/>
                </a:lnTo>
                <a:cubicBezTo>
                  <a:pt x="511622" y="4035191"/>
                  <a:pt x="470890" y="4035398"/>
                  <a:pt x="445641" y="4010404"/>
                </a:cubicBezTo>
                <a:lnTo>
                  <a:pt x="19073" y="3588158"/>
                </a:lnTo>
                <a:cubicBezTo>
                  <a:pt x="-6177" y="3563164"/>
                  <a:pt x="-6384" y="3522432"/>
                  <a:pt x="18610" y="3497183"/>
                </a:cubicBezTo>
                <a:lnTo>
                  <a:pt x="2953532" y="532224"/>
                </a:lnTo>
                <a:lnTo>
                  <a:pt x="2953642" y="532020"/>
                </a:lnTo>
                <a:cubicBezTo>
                  <a:pt x="2966930" y="512377"/>
                  <a:pt x="2982061" y="494080"/>
                  <a:pt x="2998787" y="47737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5352610" y="3453458"/>
            <a:ext cx="6457399" cy="414678"/>
          </a:xfrm>
          <a:custGeom>
            <a:avLst/>
            <a:gdLst>
              <a:gd name="connsiteX0" fmla="*/ 1923491 w 6457399"/>
              <a:gd name="connsiteY0" fmla="*/ 0 h 414678"/>
              <a:gd name="connsiteX1" fmla="*/ 6250060 w 6457399"/>
              <a:gd name="connsiteY1" fmla="*/ 0 h 414678"/>
              <a:gd name="connsiteX2" fmla="*/ 6457399 w 6457399"/>
              <a:gd name="connsiteY2" fmla="*/ 207339 h 414678"/>
              <a:gd name="connsiteX3" fmla="*/ 6250060 w 6457399"/>
              <a:gd name="connsiteY3" fmla="*/ 414678 h 414678"/>
              <a:gd name="connsiteX4" fmla="*/ 1923491 w 6457399"/>
              <a:gd name="connsiteY4" fmla="*/ 414678 h 414678"/>
              <a:gd name="connsiteX5" fmla="*/ 1776881 w 6457399"/>
              <a:gd name="connsiteY5" fmla="*/ 353950 h 414678"/>
              <a:gd name="connsiteX6" fmla="*/ 1761567 w 6457399"/>
              <a:gd name="connsiteY6" fmla="*/ 331237 h 414678"/>
              <a:gd name="connsiteX7" fmla="*/ 1719088 w 6457399"/>
              <a:gd name="connsiteY7" fmla="*/ 295911 h 414678"/>
              <a:gd name="connsiteX8" fmla="*/ 1511342 w 6457399"/>
              <a:gd name="connsiteY8" fmla="*/ 217986 h 414678"/>
              <a:gd name="connsiteX9" fmla="*/ 1471668 w 6457399"/>
              <a:gd name="connsiteY9" fmla="*/ 214712 h 414678"/>
              <a:gd name="connsiteX10" fmla="*/ 1460278 w 6457399"/>
              <a:gd name="connsiteY10" fmla="*/ 216551 h 414678"/>
              <a:gd name="connsiteX11" fmla="*/ 1416569 w 6457399"/>
              <a:gd name="connsiteY11" fmla="*/ 243868 h 414678"/>
              <a:gd name="connsiteX12" fmla="*/ 1409633 w 6457399"/>
              <a:gd name="connsiteY12" fmla="*/ 246889 h 414678"/>
              <a:gd name="connsiteX13" fmla="*/ 1409107 w 6457399"/>
              <a:gd name="connsiteY13" fmla="*/ 248159 h 414678"/>
              <a:gd name="connsiteX14" fmla="*/ 1368287 w 6457399"/>
              <a:gd name="connsiteY14" fmla="*/ 265067 h 414678"/>
              <a:gd name="connsiteX15" fmla="*/ 153696 w 6457399"/>
              <a:gd name="connsiteY15" fmla="*/ 265067 h 414678"/>
              <a:gd name="connsiteX16" fmla="*/ 112877 w 6457399"/>
              <a:gd name="connsiteY16" fmla="*/ 248159 h 414678"/>
              <a:gd name="connsiteX17" fmla="*/ 112350 w 6457399"/>
              <a:gd name="connsiteY17" fmla="*/ 246887 h 414678"/>
              <a:gd name="connsiteX18" fmla="*/ 105416 w 6457399"/>
              <a:gd name="connsiteY18" fmla="*/ 243867 h 414678"/>
              <a:gd name="connsiteX19" fmla="*/ 0 w 6457399"/>
              <a:gd name="connsiteY19" fmla="*/ 206588 h 414678"/>
              <a:gd name="connsiteX20" fmla="*/ 106700 w 6457399"/>
              <a:gd name="connsiteY20" fmla="*/ 173162 h 414678"/>
              <a:gd name="connsiteX21" fmla="*/ 110791 w 6457399"/>
              <a:gd name="connsiteY21" fmla="*/ 171554 h 414678"/>
              <a:gd name="connsiteX22" fmla="*/ 112877 w 6457399"/>
              <a:gd name="connsiteY22" fmla="*/ 166519 h 414678"/>
              <a:gd name="connsiteX23" fmla="*/ 153696 w 6457399"/>
              <a:gd name="connsiteY23" fmla="*/ 149611 h 414678"/>
              <a:gd name="connsiteX24" fmla="*/ 1368287 w 6457399"/>
              <a:gd name="connsiteY24" fmla="*/ 149611 h 414678"/>
              <a:gd name="connsiteX25" fmla="*/ 1409107 w 6457399"/>
              <a:gd name="connsiteY25" fmla="*/ 166519 h 414678"/>
              <a:gd name="connsiteX26" fmla="*/ 1411192 w 6457399"/>
              <a:gd name="connsiteY26" fmla="*/ 171554 h 414678"/>
              <a:gd name="connsiteX27" fmla="*/ 1415285 w 6457399"/>
              <a:gd name="connsiteY27" fmla="*/ 173163 h 414678"/>
              <a:gd name="connsiteX28" fmla="*/ 1459957 w 6457399"/>
              <a:gd name="connsiteY28" fmla="*/ 198875 h 414678"/>
              <a:gd name="connsiteX29" fmla="*/ 1478192 w 6457399"/>
              <a:gd name="connsiteY29" fmla="*/ 201143 h 414678"/>
              <a:gd name="connsiteX30" fmla="*/ 1511315 w 6457399"/>
              <a:gd name="connsiteY30" fmla="*/ 198318 h 414678"/>
              <a:gd name="connsiteX31" fmla="*/ 1718846 w 6457399"/>
              <a:gd name="connsiteY31" fmla="*/ 119821 h 414678"/>
              <a:gd name="connsiteX32" fmla="*/ 1760556 w 6457399"/>
              <a:gd name="connsiteY32" fmla="*/ 84941 h 414678"/>
              <a:gd name="connsiteX33" fmla="*/ 1776881 w 6457399"/>
              <a:gd name="connsiteY33" fmla="*/ 60728 h 414678"/>
              <a:gd name="connsiteX34" fmla="*/ 1923491 w 6457399"/>
              <a:gd name="connsiteY34" fmla="*/ 0 h 41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457399" h="414678">
                <a:moveTo>
                  <a:pt x="1923491" y="0"/>
                </a:moveTo>
                <a:lnTo>
                  <a:pt x="6250060" y="0"/>
                </a:lnTo>
                <a:cubicBezTo>
                  <a:pt x="6364570" y="0"/>
                  <a:pt x="6457399" y="92829"/>
                  <a:pt x="6457399" y="207339"/>
                </a:cubicBezTo>
                <a:cubicBezTo>
                  <a:pt x="6457399" y="321849"/>
                  <a:pt x="6364570" y="414678"/>
                  <a:pt x="6250060" y="414678"/>
                </a:cubicBezTo>
                <a:lnTo>
                  <a:pt x="1923491" y="414678"/>
                </a:lnTo>
                <a:cubicBezTo>
                  <a:pt x="1866236" y="414678"/>
                  <a:pt x="1814402" y="391471"/>
                  <a:pt x="1776881" y="353950"/>
                </a:cubicBezTo>
                <a:lnTo>
                  <a:pt x="1761567" y="331237"/>
                </a:lnTo>
                <a:lnTo>
                  <a:pt x="1719088" y="295911"/>
                </a:lnTo>
                <a:cubicBezTo>
                  <a:pt x="1662764" y="256976"/>
                  <a:pt x="1593516" y="231001"/>
                  <a:pt x="1511342" y="217986"/>
                </a:cubicBezTo>
                <a:lnTo>
                  <a:pt x="1471668" y="214712"/>
                </a:lnTo>
                <a:lnTo>
                  <a:pt x="1460278" y="216551"/>
                </a:lnTo>
                <a:cubicBezTo>
                  <a:pt x="1442708" y="222764"/>
                  <a:pt x="1428139" y="231869"/>
                  <a:pt x="1416569" y="243868"/>
                </a:cubicBezTo>
                <a:lnTo>
                  <a:pt x="1409633" y="246889"/>
                </a:lnTo>
                <a:lnTo>
                  <a:pt x="1409107" y="248159"/>
                </a:lnTo>
                <a:cubicBezTo>
                  <a:pt x="1398660" y="258606"/>
                  <a:pt x="1384228" y="265067"/>
                  <a:pt x="1368287" y="265067"/>
                </a:cubicBezTo>
                <a:lnTo>
                  <a:pt x="153696" y="265067"/>
                </a:lnTo>
                <a:cubicBezTo>
                  <a:pt x="137755" y="265067"/>
                  <a:pt x="123323" y="258606"/>
                  <a:pt x="112877" y="248159"/>
                </a:cubicBezTo>
                <a:lnTo>
                  <a:pt x="112350" y="246887"/>
                </a:lnTo>
                <a:lnTo>
                  <a:pt x="105416" y="243867"/>
                </a:lnTo>
                <a:cubicBezTo>
                  <a:pt x="82275" y="219870"/>
                  <a:pt x="47137" y="207444"/>
                  <a:pt x="0" y="206588"/>
                </a:cubicBezTo>
                <a:cubicBezTo>
                  <a:pt x="47137" y="207444"/>
                  <a:pt x="82703" y="196302"/>
                  <a:pt x="106700" y="173162"/>
                </a:cubicBezTo>
                <a:lnTo>
                  <a:pt x="110791" y="171554"/>
                </a:lnTo>
                <a:lnTo>
                  <a:pt x="112877" y="166519"/>
                </a:lnTo>
                <a:cubicBezTo>
                  <a:pt x="123323" y="156073"/>
                  <a:pt x="137755" y="149611"/>
                  <a:pt x="153696" y="149611"/>
                </a:cubicBezTo>
                <a:lnTo>
                  <a:pt x="1368287" y="149611"/>
                </a:lnTo>
                <a:cubicBezTo>
                  <a:pt x="1384228" y="149611"/>
                  <a:pt x="1398660" y="156073"/>
                  <a:pt x="1409107" y="166519"/>
                </a:cubicBezTo>
                <a:lnTo>
                  <a:pt x="1411192" y="171554"/>
                </a:lnTo>
                <a:lnTo>
                  <a:pt x="1415285" y="173163"/>
                </a:lnTo>
                <a:cubicBezTo>
                  <a:pt x="1427283" y="184733"/>
                  <a:pt x="1442173" y="193304"/>
                  <a:pt x="1459957" y="198875"/>
                </a:cubicBezTo>
                <a:lnTo>
                  <a:pt x="1478192" y="201143"/>
                </a:lnTo>
                <a:lnTo>
                  <a:pt x="1511315" y="198318"/>
                </a:lnTo>
                <a:cubicBezTo>
                  <a:pt x="1593453" y="185077"/>
                  <a:pt x="1662630" y="158912"/>
                  <a:pt x="1718846" y="119821"/>
                </a:cubicBezTo>
                <a:lnTo>
                  <a:pt x="1760556" y="84941"/>
                </a:lnTo>
                <a:lnTo>
                  <a:pt x="1776881" y="60728"/>
                </a:lnTo>
                <a:cubicBezTo>
                  <a:pt x="1814402" y="23207"/>
                  <a:pt x="1866236" y="0"/>
                  <a:pt x="192349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73" name="Google Shape;5309;p76"/>
          <p:cNvGrpSpPr/>
          <p:nvPr/>
        </p:nvGrpSpPr>
        <p:grpSpPr>
          <a:xfrm>
            <a:off x="5874452" y="1455407"/>
            <a:ext cx="454097" cy="452361"/>
            <a:chOff x="2085450" y="842250"/>
            <a:chExt cx="483700" cy="481850"/>
          </a:xfrm>
          <a:solidFill>
            <a:schemeClr val="bg1"/>
          </a:solidFill>
        </p:grpSpPr>
        <p:sp>
          <p:nvSpPr>
            <p:cNvPr id="174" name="Google Shape;5310;p76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5" name="Google Shape;5311;p76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6" name="Google Shape;5312;p76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7" name="Google Shape;6409;p78"/>
          <p:cNvGrpSpPr/>
          <p:nvPr/>
        </p:nvGrpSpPr>
        <p:grpSpPr>
          <a:xfrm>
            <a:off x="5866332" y="2693599"/>
            <a:ext cx="464251" cy="465511"/>
            <a:chOff x="1674750" y="3254050"/>
            <a:chExt cx="294575" cy="295375"/>
          </a:xfrm>
          <a:solidFill>
            <a:schemeClr val="bg1"/>
          </a:solidFill>
        </p:grpSpPr>
        <p:sp>
          <p:nvSpPr>
            <p:cNvPr id="178" name="Google Shape;6410;p78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9" name="Google Shape;6411;p78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0" name="Google Shape;6412;p78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1" name="Google Shape;6409;p78"/>
          <p:cNvGrpSpPr/>
          <p:nvPr/>
        </p:nvGrpSpPr>
        <p:grpSpPr>
          <a:xfrm>
            <a:off x="5866332" y="5423041"/>
            <a:ext cx="464251" cy="465511"/>
            <a:chOff x="1674750" y="3254050"/>
            <a:chExt cx="294575" cy="295375"/>
          </a:xfrm>
          <a:solidFill>
            <a:schemeClr val="bg1"/>
          </a:solidFill>
        </p:grpSpPr>
        <p:sp>
          <p:nvSpPr>
            <p:cNvPr id="182" name="Google Shape;6410;p78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3" name="Google Shape;6411;p78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4" name="Google Shape;6412;p78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5" name="Google Shape;6595;p79"/>
          <p:cNvGrpSpPr/>
          <p:nvPr/>
        </p:nvGrpSpPr>
        <p:grpSpPr>
          <a:xfrm>
            <a:off x="5866331" y="4153748"/>
            <a:ext cx="472781" cy="470233"/>
            <a:chOff x="-35482200" y="3561225"/>
            <a:chExt cx="292225" cy="290650"/>
          </a:xfrm>
          <a:solidFill>
            <a:schemeClr val="bg1"/>
          </a:solidFill>
        </p:grpSpPr>
        <p:sp>
          <p:nvSpPr>
            <p:cNvPr id="186" name="Google Shape;6596;p79"/>
            <p:cNvSpPr/>
            <p:nvPr/>
          </p:nvSpPr>
          <p:spPr>
            <a:xfrm>
              <a:off x="-35482200" y="3749475"/>
              <a:ext cx="292225" cy="102400"/>
            </a:xfrm>
            <a:custGeom>
              <a:avLst/>
              <a:gdLst/>
              <a:ahLst/>
              <a:cxnLst/>
              <a:rect l="l" t="t" r="r" b="b"/>
              <a:pathLst>
                <a:path w="11689" h="4096" extrusionOk="0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7" name="Google Shape;6597;p79"/>
            <p:cNvSpPr/>
            <p:nvPr/>
          </p:nvSpPr>
          <p:spPr>
            <a:xfrm>
              <a:off x="-35371150" y="35612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8" name="Google Shape;6598;p79"/>
            <p:cNvSpPr/>
            <p:nvPr/>
          </p:nvSpPr>
          <p:spPr>
            <a:xfrm>
              <a:off x="-35405025" y="3647075"/>
              <a:ext cx="136275" cy="119750"/>
            </a:xfrm>
            <a:custGeom>
              <a:avLst/>
              <a:gdLst/>
              <a:ahLst/>
              <a:cxnLst/>
              <a:rect l="l" t="t" r="r" b="b"/>
              <a:pathLst>
                <a:path w="5451" h="4790" extrusionOk="0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1840454" y="3416119"/>
            <a:ext cx="1499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双向赋能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8651284" y="3480709"/>
            <a:ext cx="1499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业绩闭环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矩形 237"/>
          <p:cNvSpPr/>
          <p:nvPr/>
        </p:nvSpPr>
        <p:spPr>
          <a:xfrm>
            <a:off x="3422765" y="1028700"/>
            <a:ext cx="5246185" cy="1516364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66" name="直接连接符 165"/>
          <p:cNvCxnSpPr/>
          <p:nvPr/>
        </p:nvCxnSpPr>
        <p:spPr>
          <a:xfrm>
            <a:off x="0" y="2651668"/>
            <a:ext cx="8850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8892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冰山模型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" name="组合 214"/>
          <p:cNvGrpSpPr/>
          <p:nvPr/>
        </p:nvGrpSpPr>
        <p:grpSpPr>
          <a:xfrm>
            <a:off x="399588" y="1114730"/>
            <a:ext cx="2942387" cy="5167535"/>
            <a:chOff x="4346949" y="1114730"/>
            <a:chExt cx="2942387" cy="5167535"/>
          </a:xfrm>
        </p:grpSpPr>
        <p:sp>
          <p:nvSpPr>
            <p:cNvPr id="195" name="任意多边形: 形状 194"/>
            <p:cNvSpPr/>
            <p:nvPr/>
          </p:nvSpPr>
          <p:spPr>
            <a:xfrm>
              <a:off x="4346965" y="1114730"/>
              <a:ext cx="2942107" cy="5167535"/>
            </a:xfrm>
            <a:custGeom>
              <a:avLst/>
              <a:gdLst>
                <a:gd name="connsiteX0" fmla="*/ 18520 w 2083063"/>
                <a:gd name="connsiteY0" fmla="*/ 1216247 h 3772566"/>
                <a:gd name="connsiteX1" fmla="*/ 131391 w 2083063"/>
                <a:gd name="connsiteY1" fmla="*/ 1001363 h 3772566"/>
                <a:gd name="connsiteX2" fmla="*/ 313509 w 2083063"/>
                <a:gd name="connsiteY2" fmla="*/ 957644 h 3772566"/>
                <a:gd name="connsiteX3" fmla="*/ 320748 w 2083063"/>
                <a:gd name="connsiteY3" fmla="*/ 833819 h 3772566"/>
                <a:gd name="connsiteX4" fmla="*/ 287982 w 2083063"/>
                <a:gd name="connsiteY4" fmla="*/ 728186 h 3772566"/>
                <a:gd name="connsiteX5" fmla="*/ 397234 w 2083063"/>
                <a:gd name="connsiteY5" fmla="*/ 662654 h 3772566"/>
                <a:gd name="connsiteX6" fmla="*/ 495532 w 2083063"/>
                <a:gd name="connsiteY6" fmla="*/ 578930 h 3772566"/>
                <a:gd name="connsiteX7" fmla="*/ 662981 w 2083063"/>
                <a:gd name="connsiteY7" fmla="*/ 426053 h 3772566"/>
                <a:gd name="connsiteX8" fmla="*/ 808618 w 2083063"/>
                <a:gd name="connsiteY8" fmla="*/ 393287 h 3772566"/>
                <a:gd name="connsiteX9" fmla="*/ 845004 w 2083063"/>
                <a:gd name="connsiteY9" fmla="*/ 236696 h 3772566"/>
                <a:gd name="connsiteX10" fmla="*/ 1048934 w 2083063"/>
                <a:gd name="connsiteY10" fmla="*/ 109252 h 3772566"/>
                <a:gd name="connsiteX11" fmla="*/ 1107322 w 2083063"/>
                <a:gd name="connsiteY11" fmla="*/ 0 h 3772566"/>
                <a:gd name="connsiteX12" fmla="*/ 1438697 w 2083063"/>
                <a:gd name="connsiteY12" fmla="*/ 411480 h 3772566"/>
                <a:gd name="connsiteX13" fmla="*/ 1442317 w 2083063"/>
                <a:gd name="connsiteY13" fmla="*/ 648176 h 3772566"/>
                <a:gd name="connsiteX14" fmla="*/ 1526041 w 2083063"/>
                <a:gd name="connsiteY14" fmla="*/ 808387 h 3772566"/>
                <a:gd name="connsiteX15" fmla="*/ 1675298 w 2083063"/>
                <a:gd name="connsiteY15" fmla="*/ 866680 h 3772566"/>
                <a:gd name="connsiteX16" fmla="*/ 1824555 w 2083063"/>
                <a:gd name="connsiteY16" fmla="*/ 1074230 h 3772566"/>
                <a:gd name="connsiteX17" fmla="*/ 1988385 w 2083063"/>
                <a:gd name="connsiteY17" fmla="*/ 1150715 h 3772566"/>
                <a:gd name="connsiteX18" fmla="*/ 2083063 w 2083063"/>
                <a:gd name="connsiteY18" fmla="*/ 1212628 h 3772566"/>
                <a:gd name="connsiteX19" fmla="*/ 1941046 w 2083063"/>
                <a:gd name="connsiteY19" fmla="*/ 1613154 h 3772566"/>
                <a:gd name="connsiteX20" fmla="*/ 1795408 w 2083063"/>
                <a:gd name="connsiteY20" fmla="*/ 1645920 h 3772566"/>
                <a:gd name="connsiteX21" fmla="*/ 1740830 w 2083063"/>
                <a:gd name="connsiteY21" fmla="*/ 1787938 h 3772566"/>
                <a:gd name="connsiteX22" fmla="*/ 1780930 w 2083063"/>
                <a:gd name="connsiteY22" fmla="*/ 1922717 h 3772566"/>
                <a:gd name="connsiteX23" fmla="*/ 1646152 w 2083063"/>
                <a:gd name="connsiteY23" fmla="*/ 2050161 h 3772566"/>
                <a:gd name="connsiteX24" fmla="*/ 1329350 w 2083063"/>
                <a:gd name="connsiteY24" fmla="*/ 2450687 h 3772566"/>
                <a:gd name="connsiteX25" fmla="*/ 1161805 w 2083063"/>
                <a:gd name="connsiteY25" fmla="*/ 2581751 h 3772566"/>
                <a:gd name="connsiteX26" fmla="*/ 1201906 w 2083063"/>
                <a:gd name="connsiteY26" fmla="*/ 2749296 h 3772566"/>
                <a:gd name="connsiteX27" fmla="*/ 1118181 w 2083063"/>
                <a:gd name="connsiteY27" fmla="*/ 3026093 h 3772566"/>
                <a:gd name="connsiteX28" fmla="*/ 1085415 w 2083063"/>
                <a:gd name="connsiteY28" fmla="*/ 3295555 h 3772566"/>
                <a:gd name="connsiteX29" fmla="*/ 1059888 w 2083063"/>
                <a:gd name="connsiteY29" fmla="*/ 3772567 h 3772566"/>
                <a:gd name="connsiteX30" fmla="*/ 936063 w 2083063"/>
                <a:gd name="connsiteY30" fmla="*/ 3656076 h 3772566"/>
                <a:gd name="connsiteX31" fmla="*/ 932443 w 2083063"/>
                <a:gd name="connsiteY31" fmla="*/ 3492246 h 3772566"/>
                <a:gd name="connsiteX32" fmla="*/ 739467 w 2083063"/>
                <a:gd name="connsiteY32" fmla="*/ 3022473 h 3772566"/>
                <a:gd name="connsiteX33" fmla="*/ 586495 w 2083063"/>
                <a:gd name="connsiteY33" fmla="*/ 2905982 h 3772566"/>
                <a:gd name="connsiteX34" fmla="*/ 535537 w 2083063"/>
                <a:gd name="connsiteY34" fmla="*/ 2738438 h 3772566"/>
                <a:gd name="connsiteX35" fmla="*/ 397234 w 2083063"/>
                <a:gd name="connsiteY35" fmla="*/ 2254091 h 3772566"/>
                <a:gd name="connsiteX36" fmla="*/ 448192 w 2083063"/>
                <a:gd name="connsiteY36" fmla="*/ 2042922 h 3772566"/>
                <a:gd name="connsiteX37" fmla="*/ 218735 w 2083063"/>
                <a:gd name="connsiteY37" fmla="*/ 1864519 h 3772566"/>
                <a:gd name="connsiteX38" fmla="*/ 204162 w 2083063"/>
                <a:gd name="connsiteY38" fmla="*/ 1660589 h 3772566"/>
                <a:gd name="connsiteX39" fmla="*/ 127676 w 2083063"/>
                <a:gd name="connsiteY39" fmla="*/ 1551337 h 3772566"/>
                <a:gd name="connsiteX40" fmla="*/ 232 w 2083063"/>
                <a:gd name="connsiteY40" fmla="*/ 1405700 h 3772566"/>
                <a:gd name="connsiteX41" fmla="*/ 36617 w 2083063"/>
                <a:gd name="connsiteY41" fmla="*/ 1296448 h 3772566"/>
                <a:gd name="connsiteX42" fmla="*/ 18520 w 2083063"/>
                <a:gd name="connsiteY42" fmla="*/ 1216247 h 377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083063" h="3772566">
                  <a:moveTo>
                    <a:pt x="18520" y="1216247"/>
                  </a:moveTo>
                  <a:lnTo>
                    <a:pt x="131391" y="1001363"/>
                  </a:lnTo>
                  <a:lnTo>
                    <a:pt x="313509" y="957644"/>
                  </a:lnTo>
                  <a:lnTo>
                    <a:pt x="320748" y="833819"/>
                  </a:lnTo>
                  <a:lnTo>
                    <a:pt x="287982" y="728186"/>
                  </a:lnTo>
                  <a:lnTo>
                    <a:pt x="397234" y="662654"/>
                  </a:lnTo>
                  <a:lnTo>
                    <a:pt x="495532" y="578930"/>
                  </a:lnTo>
                  <a:lnTo>
                    <a:pt x="662981" y="426053"/>
                  </a:lnTo>
                  <a:lnTo>
                    <a:pt x="808618" y="393287"/>
                  </a:lnTo>
                  <a:lnTo>
                    <a:pt x="845004" y="236696"/>
                  </a:lnTo>
                  <a:lnTo>
                    <a:pt x="1048934" y="109252"/>
                  </a:lnTo>
                  <a:lnTo>
                    <a:pt x="1107322" y="0"/>
                  </a:lnTo>
                  <a:lnTo>
                    <a:pt x="1438697" y="411480"/>
                  </a:lnTo>
                  <a:lnTo>
                    <a:pt x="1442317" y="648176"/>
                  </a:lnTo>
                  <a:lnTo>
                    <a:pt x="1526041" y="808387"/>
                  </a:lnTo>
                  <a:lnTo>
                    <a:pt x="1675298" y="866680"/>
                  </a:lnTo>
                  <a:lnTo>
                    <a:pt x="1824555" y="1074230"/>
                  </a:lnTo>
                  <a:lnTo>
                    <a:pt x="1988385" y="1150715"/>
                  </a:lnTo>
                  <a:lnTo>
                    <a:pt x="2083063" y="1212628"/>
                  </a:lnTo>
                  <a:lnTo>
                    <a:pt x="1941046" y="1613154"/>
                  </a:lnTo>
                  <a:lnTo>
                    <a:pt x="1795408" y="1645920"/>
                  </a:lnTo>
                  <a:lnTo>
                    <a:pt x="1740830" y="1787938"/>
                  </a:lnTo>
                  <a:lnTo>
                    <a:pt x="1780930" y="1922717"/>
                  </a:lnTo>
                  <a:lnTo>
                    <a:pt x="1646152" y="2050161"/>
                  </a:lnTo>
                  <a:lnTo>
                    <a:pt x="1329350" y="2450687"/>
                  </a:lnTo>
                  <a:lnTo>
                    <a:pt x="1161805" y="2581751"/>
                  </a:lnTo>
                  <a:lnTo>
                    <a:pt x="1201906" y="2749296"/>
                  </a:lnTo>
                  <a:lnTo>
                    <a:pt x="1118181" y="3026093"/>
                  </a:lnTo>
                  <a:lnTo>
                    <a:pt x="1085415" y="3295555"/>
                  </a:lnTo>
                  <a:lnTo>
                    <a:pt x="1059888" y="3772567"/>
                  </a:lnTo>
                  <a:cubicBezTo>
                    <a:pt x="1059888" y="3772567"/>
                    <a:pt x="939682" y="3666935"/>
                    <a:pt x="936063" y="3656076"/>
                  </a:cubicBezTo>
                  <a:cubicBezTo>
                    <a:pt x="932443" y="3645122"/>
                    <a:pt x="932443" y="3492246"/>
                    <a:pt x="932443" y="3492246"/>
                  </a:cubicBezTo>
                  <a:lnTo>
                    <a:pt x="739467" y="3022473"/>
                  </a:lnTo>
                  <a:lnTo>
                    <a:pt x="586495" y="2905982"/>
                  </a:lnTo>
                  <a:lnTo>
                    <a:pt x="535537" y="2738438"/>
                  </a:lnTo>
                  <a:lnTo>
                    <a:pt x="397234" y="2254091"/>
                  </a:lnTo>
                  <a:lnTo>
                    <a:pt x="448192" y="2042922"/>
                  </a:lnTo>
                  <a:cubicBezTo>
                    <a:pt x="448192" y="2042922"/>
                    <a:pt x="226069" y="1875377"/>
                    <a:pt x="218735" y="1864519"/>
                  </a:cubicBezTo>
                  <a:cubicBezTo>
                    <a:pt x="211496" y="1853565"/>
                    <a:pt x="204162" y="1660589"/>
                    <a:pt x="204162" y="1660589"/>
                  </a:cubicBezTo>
                  <a:lnTo>
                    <a:pt x="127676" y="1551337"/>
                  </a:lnTo>
                  <a:cubicBezTo>
                    <a:pt x="127676" y="1551337"/>
                    <a:pt x="3851" y="1416558"/>
                    <a:pt x="232" y="1405700"/>
                  </a:cubicBezTo>
                  <a:cubicBezTo>
                    <a:pt x="-3388" y="1394746"/>
                    <a:pt x="36617" y="1296448"/>
                    <a:pt x="36617" y="1296448"/>
                  </a:cubicBezTo>
                  <a:lnTo>
                    <a:pt x="18520" y="1216247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4373122" y="1114730"/>
              <a:ext cx="2550969" cy="1766436"/>
            </a:xfrm>
            <a:custGeom>
              <a:avLst/>
              <a:gdLst>
                <a:gd name="connsiteX0" fmla="*/ 650558 w 1806130"/>
                <a:gd name="connsiteY0" fmla="*/ 1107662 h 1289589"/>
                <a:gd name="connsiteX1" fmla="*/ 1041178 w 1806130"/>
                <a:gd name="connsiteY1" fmla="*/ 1129094 h 1289589"/>
                <a:gd name="connsiteX2" fmla="*/ 1148144 w 1806130"/>
                <a:gd name="connsiteY2" fmla="*/ 909733 h 1289589"/>
                <a:gd name="connsiteX3" fmla="*/ 1603058 w 1806130"/>
                <a:gd name="connsiteY3" fmla="*/ 1150525 h 1289589"/>
                <a:gd name="connsiteX4" fmla="*/ 1661922 w 1806130"/>
                <a:gd name="connsiteY4" fmla="*/ 1107662 h 1289589"/>
                <a:gd name="connsiteX5" fmla="*/ 1806131 w 1806130"/>
                <a:gd name="connsiteY5" fmla="*/ 1074230 h 1289589"/>
                <a:gd name="connsiteX6" fmla="*/ 1656779 w 1806130"/>
                <a:gd name="connsiteY6" fmla="*/ 866680 h 1289589"/>
                <a:gd name="connsiteX7" fmla="*/ 1507522 w 1806130"/>
                <a:gd name="connsiteY7" fmla="*/ 808387 h 1289589"/>
                <a:gd name="connsiteX8" fmla="*/ 1423797 w 1806130"/>
                <a:gd name="connsiteY8" fmla="*/ 648176 h 1289589"/>
                <a:gd name="connsiteX9" fmla="*/ 1420082 w 1806130"/>
                <a:gd name="connsiteY9" fmla="*/ 411480 h 1289589"/>
                <a:gd name="connsiteX10" fmla="*/ 1088803 w 1806130"/>
                <a:gd name="connsiteY10" fmla="*/ 0 h 1289589"/>
                <a:gd name="connsiteX11" fmla="*/ 1030510 w 1806130"/>
                <a:gd name="connsiteY11" fmla="*/ 109252 h 1289589"/>
                <a:gd name="connsiteX12" fmla="*/ 826580 w 1806130"/>
                <a:gd name="connsiteY12" fmla="*/ 236696 h 1289589"/>
                <a:gd name="connsiteX13" fmla="*/ 790194 w 1806130"/>
                <a:gd name="connsiteY13" fmla="*/ 393287 h 1289589"/>
                <a:gd name="connsiteX14" fmla="*/ 644462 w 1806130"/>
                <a:gd name="connsiteY14" fmla="*/ 426053 h 1289589"/>
                <a:gd name="connsiteX15" fmla="*/ 477012 w 1806130"/>
                <a:gd name="connsiteY15" fmla="*/ 579025 h 1289589"/>
                <a:gd name="connsiteX16" fmla="*/ 378714 w 1806130"/>
                <a:gd name="connsiteY16" fmla="*/ 662750 h 1289589"/>
                <a:gd name="connsiteX17" fmla="*/ 269462 w 1806130"/>
                <a:gd name="connsiteY17" fmla="*/ 728282 h 1289589"/>
                <a:gd name="connsiteX18" fmla="*/ 302228 w 1806130"/>
                <a:gd name="connsiteY18" fmla="*/ 833914 h 1289589"/>
                <a:gd name="connsiteX19" fmla="*/ 294894 w 1806130"/>
                <a:gd name="connsiteY19" fmla="*/ 957739 h 1289589"/>
                <a:gd name="connsiteX20" fmla="*/ 112871 w 1806130"/>
                <a:gd name="connsiteY20" fmla="*/ 1001363 h 1289589"/>
                <a:gd name="connsiteX21" fmla="*/ 0 w 1806130"/>
                <a:gd name="connsiteY21" fmla="*/ 1216247 h 1289589"/>
                <a:gd name="connsiteX22" fmla="*/ 548831 w 1806130"/>
                <a:gd name="connsiteY22" fmla="*/ 1289590 h 128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06130" h="1289589">
                  <a:moveTo>
                    <a:pt x="650558" y="1107662"/>
                  </a:moveTo>
                  <a:lnTo>
                    <a:pt x="1041178" y="1129094"/>
                  </a:lnTo>
                  <a:lnTo>
                    <a:pt x="1148144" y="909733"/>
                  </a:lnTo>
                  <a:lnTo>
                    <a:pt x="1603058" y="1150525"/>
                  </a:lnTo>
                  <a:lnTo>
                    <a:pt x="1661922" y="1107662"/>
                  </a:lnTo>
                  <a:lnTo>
                    <a:pt x="1806131" y="1074230"/>
                  </a:lnTo>
                  <a:lnTo>
                    <a:pt x="1656779" y="866680"/>
                  </a:lnTo>
                  <a:lnTo>
                    <a:pt x="1507522" y="808387"/>
                  </a:lnTo>
                  <a:lnTo>
                    <a:pt x="1423797" y="648176"/>
                  </a:lnTo>
                  <a:lnTo>
                    <a:pt x="1420082" y="411480"/>
                  </a:lnTo>
                  <a:lnTo>
                    <a:pt x="1088803" y="0"/>
                  </a:lnTo>
                  <a:lnTo>
                    <a:pt x="1030510" y="109252"/>
                  </a:lnTo>
                  <a:lnTo>
                    <a:pt x="826580" y="236696"/>
                  </a:lnTo>
                  <a:lnTo>
                    <a:pt x="790194" y="393287"/>
                  </a:lnTo>
                  <a:lnTo>
                    <a:pt x="644462" y="426053"/>
                  </a:lnTo>
                  <a:lnTo>
                    <a:pt x="477012" y="579025"/>
                  </a:lnTo>
                  <a:lnTo>
                    <a:pt x="378714" y="662750"/>
                  </a:lnTo>
                  <a:lnTo>
                    <a:pt x="269462" y="728282"/>
                  </a:lnTo>
                  <a:lnTo>
                    <a:pt x="302228" y="833914"/>
                  </a:lnTo>
                  <a:lnTo>
                    <a:pt x="294894" y="957739"/>
                  </a:lnTo>
                  <a:lnTo>
                    <a:pt x="112871" y="1001363"/>
                  </a:lnTo>
                  <a:lnTo>
                    <a:pt x="0" y="1216247"/>
                  </a:lnTo>
                  <a:lnTo>
                    <a:pt x="548831" y="1289590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5304947" y="1246830"/>
              <a:ext cx="1315035" cy="2357076"/>
            </a:xfrm>
            <a:custGeom>
              <a:avLst/>
              <a:gdLst>
                <a:gd name="connsiteX0" fmla="*/ 107061 w 931068"/>
                <a:gd name="connsiteY0" fmla="*/ 752284 h 1720786"/>
                <a:gd name="connsiteX1" fmla="*/ 53531 w 931068"/>
                <a:gd name="connsiteY1" fmla="*/ 944880 h 1720786"/>
                <a:gd name="connsiteX2" fmla="*/ 262223 w 931068"/>
                <a:gd name="connsiteY2" fmla="*/ 1255205 h 1720786"/>
                <a:gd name="connsiteX3" fmla="*/ 374618 w 931068"/>
                <a:gd name="connsiteY3" fmla="*/ 1169575 h 1720786"/>
                <a:gd name="connsiteX4" fmla="*/ 406717 w 931068"/>
                <a:gd name="connsiteY4" fmla="*/ 1340834 h 1720786"/>
                <a:gd name="connsiteX5" fmla="*/ 561880 w 931068"/>
                <a:gd name="connsiteY5" fmla="*/ 1506760 h 1720786"/>
                <a:gd name="connsiteX6" fmla="*/ 567214 w 931068"/>
                <a:gd name="connsiteY6" fmla="*/ 1720787 h 1720786"/>
                <a:gd name="connsiteX7" fmla="*/ 931069 w 931068"/>
                <a:gd name="connsiteY7" fmla="*/ 1276636 h 1720786"/>
                <a:gd name="connsiteX8" fmla="*/ 834771 w 931068"/>
                <a:gd name="connsiteY8" fmla="*/ 1025176 h 1720786"/>
                <a:gd name="connsiteX9" fmla="*/ 652843 w 931068"/>
                <a:gd name="connsiteY9" fmla="*/ 944880 h 1720786"/>
                <a:gd name="connsiteX10" fmla="*/ 593979 w 931068"/>
                <a:gd name="connsiteY10" fmla="*/ 864584 h 1720786"/>
                <a:gd name="connsiteX11" fmla="*/ 529781 w 931068"/>
                <a:gd name="connsiteY11" fmla="*/ 591693 h 1720786"/>
                <a:gd name="connsiteX12" fmla="*/ 401384 w 931068"/>
                <a:gd name="connsiteY12" fmla="*/ 345567 h 1720786"/>
                <a:gd name="connsiteX13" fmla="*/ 369284 w 931068"/>
                <a:gd name="connsiteY13" fmla="*/ 0 h 1720786"/>
                <a:gd name="connsiteX14" fmla="*/ 165354 w 931068"/>
                <a:gd name="connsiteY14" fmla="*/ 127445 h 1720786"/>
                <a:gd name="connsiteX15" fmla="*/ 128969 w 931068"/>
                <a:gd name="connsiteY15" fmla="*/ 284036 h 1720786"/>
                <a:gd name="connsiteX16" fmla="*/ 7048 w 931068"/>
                <a:gd name="connsiteY16" fmla="*/ 311467 h 1720786"/>
                <a:gd name="connsiteX17" fmla="*/ 0 w 931068"/>
                <a:gd name="connsiteY17" fmla="*/ 527590 h 1720786"/>
                <a:gd name="connsiteX18" fmla="*/ 107061 w 931068"/>
                <a:gd name="connsiteY18" fmla="*/ 752284 h 1720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1068" h="1720786">
                  <a:moveTo>
                    <a:pt x="107061" y="752284"/>
                  </a:moveTo>
                  <a:lnTo>
                    <a:pt x="53531" y="944880"/>
                  </a:lnTo>
                  <a:lnTo>
                    <a:pt x="262223" y="1255205"/>
                  </a:lnTo>
                  <a:lnTo>
                    <a:pt x="374618" y="1169575"/>
                  </a:lnTo>
                  <a:cubicBezTo>
                    <a:pt x="374618" y="1169575"/>
                    <a:pt x="401384" y="1324737"/>
                    <a:pt x="406717" y="1340834"/>
                  </a:cubicBezTo>
                  <a:cubicBezTo>
                    <a:pt x="412052" y="1356931"/>
                    <a:pt x="561880" y="1506760"/>
                    <a:pt x="561880" y="1506760"/>
                  </a:cubicBezTo>
                  <a:lnTo>
                    <a:pt x="567214" y="1720787"/>
                  </a:lnTo>
                  <a:lnTo>
                    <a:pt x="931069" y="1276636"/>
                  </a:lnTo>
                  <a:lnTo>
                    <a:pt x="834771" y="1025176"/>
                  </a:lnTo>
                  <a:lnTo>
                    <a:pt x="652843" y="944880"/>
                  </a:lnTo>
                  <a:lnTo>
                    <a:pt x="593979" y="864584"/>
                  </a:lnTo>
                  <a:lnTo>
                    <a:pt x="529781" y="591693"/>
                  </a:lnTo>
                  <a:lnTo>
                    <a:pt x="401384" y="345567"/>
                  </a:lnTo>
                  <a:lnTo>
                    <a:pt x="369284" y="0"/>
                  </a:lnTo>
                  <a:lnTo>
                    <a:pt x="165354" y="127445"/>
                  </a:lnTo>
                  <a:lnTo>
                    <a:pt x="128969" y="284036"/>
                  </a:lnTo>
                  <a:lnTo>
                    <a:pt x="7048" y="311467"/>
                  </a:lnTo>
                  <a:lnTo>
                    <a:pt x="0" y="527590"/>
                  </a:lnTo>
                  <a:lnTo>
                    <a:pt x="107061" y="752284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6417988" y="2775745"/>
              <a:ext cx="871220" cy="1171362"/>
            </a:xfrm>
            <a:custGeom>
              <a:avLst/>
              <a:gdLst>
                <a:gd name="connsiteX0" fmla="*/ 314611 w 616838"/>
                <a:gd name="connsiteY0" fmla="*/ 710089 h 855154"/>
                <a:gd name="connsiteX1" fmla="*/ 274606 w 616838"/>
                <a:gd name="connsiteY1" fmla="*/ 575310 h 855154"/>
                <a:gd name="connsiteX2" fmla="*/ 329184 w 616838"/>
                <a:gd name="connsiteY2" fmla="*/ 433292 h 855154"/>
                <a:gd name="connsiteX3" fmla="*/ 474821 w 616838"/>
                <a:gd name="connsiteY3" fmla="*/ 400526 h 855154"/>
                <a:gd name="connsiteX4" fmla="*/ 616839 w 616838"/>
                <a:gd name="connsiteY4" fmla="*/ 0 h 855154"/>
                <a:gd name="connsiteX5" fmla="*/ 433483 w 616838"/>
                <a:gd name="connsiteY5" fmla="*/ 141161 h 855154"/>
                <a:gd name="connsiteX6" fmla="*/ 428149 w 616838"/>
                <a:gd name="connsiteY6" fmla="*/ 296418 h 855154"/>
                <a:gd name="connsiteX7" fmla="*/ 246221 w 616838"/>
                <a:gd name="connsiteY7" fmla="*/ 344519 h 855154"/>
                <a:gd name="connsiteX8" fmla="*/ 171259 w 616838"/>
                <a:gd name="connsiteY8" fmla="*/ 510445 h 855154"/>
                <a:gd name="connsiteX9" fmla="*/ 176593 w 616838"/>
                <a:gd name="connsiteY9" fmla="*/ 708470 h 855154"/>
                <a:gd name="connsiteX10" fmla="*/ 0 w 616838"/>
                <a:gd name="connsiteY10" fmla="*/ 831533 h 855154"/>
                <a:gd name="connsiteX11" fmla="*/ 165925 w 616838"/>
                <a:gd name="connsiteY11" fmla="*/ 855155 h 855154"/>
                <a:gd name="connsiteX12" fmla="*/ 179927 w 616838"/>
                <a:gd name="connsiteY12" fmla="*/ 837533 h 85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6838" h="855154">
                  <a:moveTo>
                    <a:pt x="314611" y="710089"/>
                  </a:moveTo>
                  <a:lnTo>
                    <a:pt x="274606" y="575310"/>
                  </a:lnTo>
                  <a:lnTo>
                    <a:pt x="329184" y="433292"/>
                  </a:lnTo>
                  <a:lnTo>
                    <a:pt x="474821" y="400526"/>
                  </a:lnTo>
                  <a:lnTo>
                    <a:pt x="616839" y="0"/>
                  </a:lnTo>
                  <a:lnTo>
                    <a:pt x="433483" y="141161"/>
                  </a:lnTo>
                  <a:lnTo>
                    <a:pt x="428149" y="296418"/>
                  </a:lnTo>
                  <a:lnTo>
                    <a:pt x="246221" y="344519"/>
                  </a:lnTo>
                  <a:lnTo>
                    <a:pt x="171259" y="510445"/>
                  </a:lnTo>
                  <a:lnTo>
                    <a:pt x="176593" y="708470"/>
                  </a:lnTo>
                  <a:lnTo>
                    <a:pt x="0" y="831533"/>
                  </a:lnTo>
                  <a:lnTo>
                    <a:pt x="165925" y="855155"/>
                  </a:lnTo>
                  <a:lnTo>
                    <a:pt x="179927" y="837533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4346949" y="2780574"/>
              <a:ext cx="1239640" cy="2473977"/>
            </a:xfrm>
            <a:custGeom>
              <a:avLst/>
              <a:gdLst>
                <a:gd name="connsiteX0" fmla="*/ 663659 w 877686"/>
                <a:gd name="connsiteY0" fmla="*/ 1427321 h 1806130"/>
                <a:gd name="connsiteX1" fmla="*/ 727858 w 877686"/>
                <a:gd name="connsiteY1" fmla="*/ 1202531 h 1806130"/>
                <a:gd name="connsiteX2" fmla="*/ 877686 w 877686"/>
                <a:gd name="connsiteY2" fmla="*/ 972407 h 1806130"/>
                <a:gd name="connsiteX3" fmla="*/ 743955 w 877686"/>
                <a:gd name="connsiteY3" fmla="*/ 656749 h 1806130"/>
                <a:gd name="connsiteX4" fmla="*/ 540596 w 877686"/>
                <a:gd name="connsiteY4" fmla="*/ 828008 h 1806130"/>
                <a:gd name="connsiteX5" fmla="*/ 631560 w 877686"/>
                <a:gd name="connsiteY5" fmla="*/ 1047369 h 1806130"/>
                <a:gd name="connsiteX6" fmla="*/ 519165 w 877686"/>
                <a:gd name="connsiteY6" fmla="*/ 1325594 h 1806130"/>
                <a:gd name="connsiteX7" fmla="*/ 551264 w 877686"/>
                <a:gd name="connsiteY7" fmla="*/ 1009840 h 1806130"/>
                <a:gd name="connsiteX8" fmla="*/ 444203 w 877686"/>
                <a:gd name="connsiteY8" fmla="*/ 694087 h 1806130"/>
                <a:gd name="connsiteX9" fmla="*/ 620797 w 877686"/>
                <a:gd name="connsiteY9" fmla="*/ 506825 h 1806130"/>
                <a:gd name="connsiteX10" fmla="*/ 449633 w 877686"/>
                <a:gd name="connsiteY10" fmla="*/ 506825 h 1806130"/>
                <a:gd name="connsiteX11" fmla="*/ 428201 w 877686"/>
                <a:gd name="connsiteY11" fmla="*/ 362331 h 1806130"/>
                <a:gd name="connsiteX12" fmla="*/ 299804 w 877686"/>
                <a:gd name="connsiteY12" fmla="*/ 266033 h 1806130"/>
                <a:gd name="connsiteX13" fmla="*/ 305138 w 877686"/>
                <a:gd name="connsiteY13" fmla="*/ 84106 h 1806130"/>
                <a:gd name="connsiteX14" fmla="*/ 18436 w 877686"/>
                <a:gd name="connsiteY14" fmla="*/ 0 h 1806130"/>
                <a:gd name="connsiteX15" fmla="*/ 36629 w 877686"/>
                <a:gd name="connsiteY15" fmla="*/ 80105 h 1806130"/>
                <a:gd name="connsiteX16" fmla="*/ 243 w 877686"/>
                <a:gd name="connsiteY16" fmla="*/ 189357 h 1806130"/>
                <a:gd name="connsiteX17" fmla="*/ 127688 w 877686"/>
                <a:gd name="connsiteY17" fmla="*/ 334994 h 1806130"/>
                <a:gd name="connsiteX18" fmla="*/ 204173 w 877686"/>
                <a:gd name="connsiteY18" fmla="*/ 444246 h 1806130"/>
                <a:gd name="connsiteX19" fmla="*/ 218747 w 877686"/>
                <a:gd name="connsiteY19" fmla="*/ 648176 h 1806130"/>
                <a:gd name="connsiteX20" fmla="*/ 448204 w 877686"/>
                <a:gd name="connsiteY20" fmla="*/ 826580 h 1806130"/>
                <a:gd name="connsiteX21" fmla="*/ 397245 w 877686"/>
                <a:gd name="connsiteY21" fmla="*/ 1037749 h 1806130"/>
                <a:gd name="connsiteX22" fmla="*/ 535643 w 877686"/>
                <a:gd name="connsiteY22" fmla="*/ 1522095 h 1806130"/>
                <a:gd name="connsiteX23" fmla="*/ 586602 w 877686"/>
                <a:gd name="connsiteY23" fmla="*/ 1689640 h 1806130"/>
                <a:gd name="connsiteX24" fmla="*/ 739574 w 877686"/>
                <a:gd name="connsiteY24" fmla="*/ 1806130 h 1806130"/>
                <a:gd name="connsiteX25" fmla="*/ 818917 w 877686"/>
                <a:gd name="connsiteY25" fmla="*/ 1555623 h 1806130"/>
                <a:gd name="connsiteX26" fmla="*/ 663659 w 877686"/>
                <a:gd name="connsiteY26" fmla="*/ 1427321 h 1806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77686" h="1806130">
                  <a:moveTo>
                    <a:pt x="663659" y="1427321"/>
                  </a:moveTo>
                  <a:lnTo>
                    <a:pt x="727858" y="1202531"/>
                  </a:lnTo>
                  <a:lnTo>
                    <a:pt x="877686" y="972407"/>
                  </a:lnTo>
                  <a:lnTo>
                    <a:pt x="743955" y="656749"/>
                  </a:lnTo>
                  <a:lnTo>
                    <a:pt x="540596" y="828008"/>
                  </a:lnTo>
                  <a:lnTo>
                    <a:pt x="631560" y="1047369"/>
                  </a:lnTo>
                  <a:lnTo>
                    <a:pt x="519165" y="1325594"/>
                  </a:lnTo>
                  <a:lnTo>
                    <a:pt x="551264" y="1009840"/>
                  </a:lnTo>
                  <a:lnTo>
                    <a:pt x="444203" y="694087"/>
                  </a:lnTo>
                  <a:lnTo>
                    <a:pt x="620797" y="506825"/>
                  </a:lnTo>
                  <a:lnTo>
                    <a:pt x="449633" y="506825"/>
                  </a:lnTo>
                  <a:lnTo>
                    <a:pt x="428201" y="362331"/>
                  </a:lnTo>
                  <a:lnTo>
                    <a:pt x="299804" y="266033"/>
                  </a:lnTo>
                  <a:lnTo>
                    <a:pt x="305138" y="84106"/>
                  </a:lnTo>
                  <a:lnTo>
                    <a:pt x="18436" y="0"/>
                  </a:lnTo>
                  <a:lnTo>
                    <a:pt x="36629" y="80105"/>
                  </a:lnTo>
                  <a:cubicBezTo>
                    <a:pt x="36629" y="80105"/>
                    <a:pt x="-3472" y="178403"/>
                    <a:pt x="243" y="189357"/>
                  </a:cubicBezTo>
                  <a:cubicBezTo>
                    <a:pt x="3863" y="200311"/>
                    <a:pt x="127688" y="334994"/>
                    <a:pt x="127688" y="334994"/>
                  </a:cubicBezTo>
                  <a:lnTo>
                    <a:pt x="204173" y="444246"/>
                  </a:lnTo>
                  <a:cubicBezTo>
                    <a:pt x="204173" y="444246"/>
                    <a:pt x="211412" y="637223"/>
                    <a:pt x="218747" y="648176"/>
                  </a:cubicBezTo>
                  <a:cubicBezTo>
                    <a:pt x="225986" y="659130"/>
                    <a:pt x="448204" y="826580"/>
                    <a:pt x="448204" y="826580"/>
                  </a:cubicBezTo>
                  <a:lnTo>
                    <a:pt x="397245" y="1037749"/>
                  </a:lnTo>
                  <a:lnTo>
                    <a:pt x="535643" y="1522095"/>
                  </a:lnTo>
                  <a:lnTo>
                    <a:pt x="586602" y="1689640"/>
                  </a:lnTo>
                  <a:lnTo>
                    <a:pt x="739574" y="1806130"/>
                  </a:lnTo>
                  <a:lnTo>
                    <a:pt x="818917" y="1555623"/>
                  </a:lnTo>
                  <a:lnTo>
                    <a:pt x="663659" y="1427321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5904081" y="1114730"/>
              <a:ext cx="809066" cy="1378027"/>
            </a:xfrm>
            <a:custGeom>
              <a:avLst/>
              <a:gdLst>
                <a:gd name="connsiteX0" fmla="*/ 37433 w 572833"/>
                <a:gd name="connsiteY0" fmla="*/ 310325 h 1006030"/>
                <a:gd name="connsiteX1" fmla="*/ 246126 w 572833"/>
                <a:gd name="connsiteY1" fmla="*/ 454819 h 1006030"/>
                <a:gd name="connsiteX2" fmla="*/ 214027 w 572833"/>
                <a:gd name="connsiteY2" fmla="*/ 920401 h 1006030"/>
                <a:gd name="connsiteX3" fmla="*/ 422719 w 572833"/>
                <a:gd name="connsiteY3" fmla="*/ 1006031 h 1006030"/>
                <a:gd name="connsiteX4" fmla="*/ 572834 w 572833"/>
                <a:gd name="connsiteY4" fmla="*/ 866680 h 1006030"/>
                <a:gd name="connsiteX5" fmla="*/ 423577 w 572833"/>
                <a:gd name="connsiteY5" fmla="*/ 808387 h 1006030"/>
                <a:gd name="connsiteX6" fmla="*/ 339852 w 572833"/>
                <a:gd name="connsiteY6" fmla="*/ 648176 h 1006030"/>
                <a:gd name="connsiteX7" fmla="*/ 336137 w 572833"/>
                <a:gd name="connsiteY7" fmla="*/ 411480 h 1006030"/>
                <a:gd name="connsiteX8" fmla="*/ 4858 w 572833"/>
                <a:gd name="connsiteY8" fmla="*/ 0 h 1006030"/>
                <a:gd name="connsiteX9" fmla="*/ 0 w 572833"/>
                <a:gd name="connsiteY9" fmla="*/ 26765 h 100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2833" h="1006030">
                  <a:moveTo>
                    <a:pt x="37433" y="310325"/>
                  </a:moveTo>
                  <a:lnTo>
                    <a:pt x="246126" y="454819"/>
                  </a:lnTo>
                  <a:lnTo>
                    <a:pt x="214027" y="920401"/>
                  </a:lnTo>
                  <a:lnTo>
                    <a:pt x="422719" y="1006031"/>
                  </a:lnTo>
                  <a:lnTo>
                    <a:pt x="572834" y="866680"/>
                  </a:lnTo>
                  <a:lnTo>
                    <a:pt x="423577" y="808387"/>
                  </a:lnTo>
                  <a:lnTo>
                    <a:pt x="339852" y="648176"/>
                  </a:lnTo>
                  <a:lnTo>
                    <a:pt x="336137" y="411480"/>
                  </a:lnTo>
                  <a:lnTo>
                    <a:pt x="4858" y="0"/>
                  </a:lnTo>
                  <a:lnTo>
                    <a:pt x="0" y="26765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6713148" y="2301878"/>
              <a:ext cx="576059" cy="473867"/>
            </a:xfrm>
            <a:custGeom>
              <a:avLst/>
              <a:gdLst>
                <a:gd name="connsiteX0" fmla="*/ 149352 w 407860"/>
                <a:gd name="connsiteY0" fmla="*/ 207550 h 345947"/>
                <a:gd name="connsiteX1" fmla="*/ 0 w 407860"/>
                <a:gd name="connsiteY1" fmla="*/ 0 h 345947"/>
                <a:gd name="connsiteX2" fmla="*/ 5143 w 407860"/>
                <a:gd name="connsiteY2" fmla="*/ 240983 h 345947"/>
                <a:gd name="connsiteX3" fmla="*/ 407860 w 407860"/>
                <a:gd name="connsiteY3" fmla="*/ 345948 h 345947"/>
                <a:gd name="connsiteX4" fmla="*/ 313182 w 407860"/>
                <a:gd name="connsiteY4" fmla="*/ 284036 h 34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860" h="345947">
                  <a:moveTo>
                    <a:pt x="149352" y="207550"/>
                  </a:moveTo>
                  <a:lnTo>
                    <a:pt x="0" y="0"/>
                  </a:lnTo>
                  <a:lnTo>
                    <a:pt x="5143" y="240983"/>
                  </a:lnTo>
                  <a:lnTo>
                    <a:pt x="407860" y="345948"/>
                  </a:lnTo>
                  <a:lnTo>
                    <a:pt x="313182" y="284036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5163490" y="1653441"/>
              <a:ext cx="680188" cy="1381679"/>
            </a:xfrm>
            <a:custGeom>
              <a:avLst/>
              <a:gdLst>
                <a:gd name="connsiteX0" fmla="*/ 230600 w 481584"/>
                <a:gd name="connsiteY0" fmla="*/ 0 h 1008697"/>
                <a:gd name="connsiteX1" fmla="*/ 149828 w 481584"/>
                <a:gd name="connsiteY1" fmla="*/ 270224 h 1008697"/>
                <a:gd name="connsiteX2" fmla="*/ 267557 w 481584"/>
                <a:gd name="connsiteY2" fmla="*/ 473583 h 1008697"/>
                <a:gd name="connsiteX3" fmla="*/ 192596 w 481584"/>
                <a:gd name="connsiteY3" fmla="*/ 687610 h 1008697"/>
                <a:gd name="connsiteX4" fmla="*/ 353092 w 481584"/>
                <a:gd name="connsiteY4" fmla="*/ 939165 h 1008697"/>
                <a:gd name="connsiteX5" fmla="*/ 481584 w 481584"/>
                <a:gd name="connsiteY5" fmla="*/ 784003 h 1008697"/>
                <a:gd name="connsiteX6" fmla="*/ 363855 w 481584"/>
                <a:gd name="connsiteY6" fmla="*/ 1008698 h 1008697"/>
                <a:gd name="connsiteX7" fmla="*/ 90964 w 481584"/>
                <a:gd name="connsiteY7" fmla="*/ 714375 h 1008697"/>
                <a:gd name="connsiteX8" fmla="*/ 171164 w 481584"/>
                <a:gd name="connsiteY8" fmla="*/ 521780 h 1008697"/>
                <a:gd name="connsiteX9" fmla="*/ 101632 w 481584"/>
                <a:gd name="connsiteY9" fmla="*/ 382619 h 1008697"/>
                <a:gd name="connsiteX10" fmla="*/ 0 w 481584"/>
                <a:gd name="connsiteY10" fmla="*/ 248888 h 1008697"/>
                <a:gd name="connsiteX11" fmla="*/ 84868 w 481584"/>
                <a:gd name="connsiteY11" fmla="*/ 32766 h 10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1584" h="1008697">
                  <a:moveTo>
                    <a:pt x="230600" y="0"/>
                  </a:moveTo>
                  <a:lnTo>
                    <a:pt x="149828" y="270224"/>
                  </a:lnTo>
                  <a:lnTo>
                    <a:pt x="267557" y="473583"/>
                  </a:lnTo>
                  <a:lnTo>
                    <a:pt x="192596" y="687610"/>
                  </a:lnTo>
                  <a:lnTo>
                    <a:pt x="353092" y="939165"/>
                  </a:lnTo>
                  <a:lnTo>
                    <a:pt x="481584" y="784003"/>
                  </a:lnTo>
                  <a:lnTo>
                    <a:pt x="363855" y="1008698"/>
                  </a:lnTo>
                  <a:lnTo>
                    <a:pt x="90964" y="714375"/>
                  </a:lnTo>
                  <a:lnTo>
                    <a:pt x="171164" y="521780"/>
                  </a:lnTo>
                  <a:lnTo>
                    <a:pt x="101632" y="382619"/>
                  </a:lnTo>
                  <a:lnTo>
                    <a:pt x="0" y="248888"/>
                  </a:lnTo>
                  <a:lnTo>
                    <a:pt x="84868" y="32766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5988028" y="2074990"/>
              <a:ext cx="754987" cy="2576136"/>
            </a:xfrm>
            <a:custGeom>
              <a:avLst/>
              <a:gdLst>
                <a:gd name="connsiteX0" fmla="*/ 47625 w 534543"/>
                <a:gd name="connsiteY0" fmla="*/ 0 h 1880711"/>
                <a:gd name="connsiteX1" fmla="*/ 117157 w 534543"/>
                <a:gd name="connsiteY1" fmla="*/ 144399 h 1880711"/>
                <a:gd name="connsiteX2" fmla="*/ 138589 w 534543"/>
                <a:gd name="connsiteY2" fmla="*/ 251460 h 1880711"/>
                <a:gd name="connsiteX3" fmla="*/ 384715 w 534543"/>
                <a:gd name="connsiteY3" fmla="*/ 406622 h 1880711"/>
                <a:gd name="connsiteX4" fmla="*/ 470344 w 534543"/>
                <a:gd name="connsiteY4" fmla="*/ 561785 h 1880711"/>
                <a:gd name="connsiteX5" fmla="*/ 534543 w 534543"/>
                <a:gd name="connsiteY5" fmla="*/ 658178 h 1880711"/>
                <a:gd name="connsiteX6" fmla="*/ 202787 w 534543"/>
                <a:gd name="connsiteY6" fmla="*/ 1102328 h 1880711"/>
                <a:gd name="connsiteX7" fmla="*/ 250984 w 534543"/>
                <a:gd name="connsiteY7" fmla="*/ 1359122 h 1880711"/>
                <a:gd name="connsiteX8" fmla="*/ 69056 w 534543"/>
                <a:gd name="connsiteY8" fmla="*/ 1680210 h 1880711"/>
                <a:gd name="connsiteX9" fmla="*/ 0 w 534543"/>
                <a:gd name="connsiteY9" fmla="*/ 1880711 h 1880711"/>
                <a:gd name="connsiteX10" fmla="*/ 36862 w 534543"/>
                <a:gd name="connsiteY10" fmla="*/ 1541050 h 1880711"/>
                <a:gd name="connsiteX11" fmla="*/ 149257 w 534543"/>
                <a:gd name="connsiteY11" fmla="*/ 1273493 h 1880711"/>
                <a:gd name="connsiteX12" fmla="*/ 85058 w 534543"/>
                <a:gd name="connsiteY12" fmla="*/ 1128998 h 1880711"/>
                <a:gd name="connsiteX13" fmla="*/ 133255 w 534543"/>
                <a:gd name="connsiteY13" fmla="*/ 936403 h 1880711"/>
                <a:gd name="connsiteX14" fmla="*/ 347282 w 534543"/>
                <a:gd name="connsiteY14" fmla="*/ 636746 h 1880711"/>
                <a:gd name="connsiteX15" fmla="*/ 325850 w 534543"/>
                <a:gd name="connsiteY15" fmla="*/ 444056 h 1880711"/>
                <a:gd name="connsiteX16" fmla="*/ 101156 w 534543"/>
                <a:gd name="connsiteY16" fmla="*/ 422720 h 1880711"/>
                <a:gd name="connsiteX17" fmla="*/ 79724 w 534543"/>
                <a:gd name="connsiteY17" fmla="*/ 299657 h 1880711"/>
                <a:gd name="connsiteX18" fmla="*/ 4763 w 534543"/>
                <a:gd name="connsiteY18" fmla="*/ 208693 h 188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34543" h="1880711">
                  <a:moveTo>
                    <a:pt x="47625" y="0"/>
                  </a:moveTo>
                  <a:lnTo>
                    <a:pt x="117157" y="144399"/>
                  </a:lnTo>
                  <a:lnTo>
                    <a:pt x="138589" y="251460"/>
                  </a:lnTo>
                  <a:lnTo>
                    <a:pt x="384715" y="406622"/>
                  </a:lnTo>
                  <a:lnTo>
                    <a:pt x="470344" y="561785"/>
                  </a:lnTo>
                  <a:lnTo>
                    <a:pt x="534543" y="658178"/>
                  </a:lnTo>
                  <a:lnTo>
                    <a:pt x="202787" y="1102328"/>
                  </a:lnTo>
                  <a:lnTo>
                    <a:pt x="250984" y="1359122"/>
                  </a:lnTo>
                  <a:lnTo>
                    <a:pt x="69056" y="1680210"/>
                  </a:lnTo>
                  <a:lnTo>
                    <a:pt x="0" y="1880711"/>
                  </a:lnTo>
                  <a:lnTo>
                    <a:pt x="36862" y="1541050"/>
                  </a:lnTo>
                  <a:lnTo>
                    <a:pt x="149257" y="1273493"/>
                  </a:lnTo>
                  <a:lnTo>
                    <a:pt x="85058" y="1128998"/>
                  </a:lnTo>
                  <a:lnTo>
                    <a:pt x="133255" y="936403"/>
                  </a:lnTo>
                  <a:lnTo>
                    <a:pt x="347282" y="636746"/>
                  </a:lnTo>
                  <a:lnTo>
                    <a:pt x="325850" y="444056"/>
                  </a:lnTo>
                  <a:lnTo>
                    <a:pt x="101156" y="422720"/>
                  </a:lnTo>
                  <a:lnTo>
                    <a:pt x="79724" y="299657"/>
                  </a:lnTo>
                  <a:lnTo>
                    <a:pt x="4763" y="208693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4753709" y="1698192"/>
              <a:ext cx="529780" cy="941082"/>
            </a:xfrm>
            <a:custGeom>
              <a:avLst/>
              <a:gdLst>
                <a:gd name="connsiteX0" fmla="*/ 236601 w 375094"/>
                <a:gd name="connsiteY0" fmla="*/ 687038 h 687038"/>
                <a:gd name="connsiteX1" fmla="*/ 316897 w 375094"/>
                <a:gd name="connsiteY1" fmla="*/ 419481 h 687038"/>
                <a:gd name="connsiteX2" fmla="*/ 290132 w 375094"/>
                <a:gd name="connsiteY2" fmla="*/ 216122 h 687038"/>
                <a:gd name="connsiteX3" fmla="*/ 375095 w 375094"/>
                <a:gd name="connsiteY3" fmla="*/ 0 h 687038"/>
                <a:gd name="connsiteX4" fmla="*/ 207550 w 375094"/>
                <a:gd name="connsiteY4" fmla="*/ 153067 h 687038"/>
                <a:gd name="connsiteX5" fmla="*/ 109252 w 375094"/>
                <a:gd name="connsiteY5" fmla="*/ 236792 h 687038"/>
                <a:gd name="connsiteX6" fmla="*/ 0 w 375094"/>
                <a:gd name="connsiteY6" fmla="*/ 302323 h 687038"/>
                <a:gd name="connsiteX7" fmla="*/ 32766 w 375094"/>
                <a:gd name="connsiteY7" fmla="*/ 407956 h 687038"/>
                <a:gd name="connsiteX8" fmla="*/ 113538 w 375094"/>
                <a:gd name="connsiteY8" fmla="*/ 655034 h 687038"/>
                <a:gd name="connsiteX9" fmla="*/ 236601 w 375094"/>
                <a:gd name="connsiteY9" fmla="*/ 687038 h 68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5094" h="687038">
                  <a:moveTo>
                    <a:pt x="236601" y="687038"/>
                  </a:moveTo>
                  <a:lnTo>
                    <a:pt x="316897" y="419481"/>
                  </a:lnTo>
                  <a:lnTo>
                    <a:pt x="290132" y="216122"/>
                  </a:lnTo>
                  <a:lnTo>
                    <a:pt x="375095" y="0"/>
                  </a:lnTo>
                  <a:lnTo>
                    <a:pt x="207550" y="153067"/>
                  </a:lnTo>
                  <a:lnTo>
                    <a:pt x="109252" y="236792"/>
                  </a:lnTo>
                  <a:lnTo>
                    <a:pt x="0" y="302323"/>
                  </a:lnTo>
                  <a:lnTo>
                    <a:pt x="32766" y="407956"/>
                  </a:lnTo>
                  <a:cubicBezTo>
                    <a:pt x="32766" y="407956"/>
                    <a:pt x="113538" y="638937"/>
                    <a:pt x="113538" y="655034"/>
                  </a:cubicBezTo>
                  <a:cubicBezTo>
                    <a:pt x="113538" y="671132"/>
                    <a:pt x="236601" y="687038"/>
                    <a:pt x="236601" y="687038"/>
                  </a:cubicBez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5223893" y="2727341"/>
              <a:ext cx="1163957" cy="2081652"/>
            </a:xfrm>
            <a:custGeom>
              <a:avLst/>
              <a:gdLst>
                <a:gd name="connsiteX0" fmla="*/ 0 w 824102"/>
                <a:gd name="connsiteY0" fmla="*/ 545782 h 1519713"/>
                <a:gd name="connsiteX1" fmla="*/ 133826 w 824102"/>
                <a:gd name="connsiteY1" fmla="*/ 513683 h 1519713"/>
                <a:gd name="connsiteX2" fmla="*/ 299657 w 824102"/>
                <a:gd name="connsiteY2" fmla="*/ 893636 h 1519713"/>
                <a:gd name="connsiteX3" fmla="*/ 460153 w 824102"/>
                <a:gd name="connsiteY3" fmla="*/ 1107662 h 1519713"/>
                <a:gd name="connsiteX4" fmla="*/ 315754 w 824102"/>
                <a:gd name="connsiteY4" fmla="*/ 1519714 h 1519713"/>
                <a:gd name="connsiteX5" fmla="*/ 535115 w 824102"/>
                <a:gd name="connsiteY5" fmla="*/ 1048798 h 1519713"/>
                <a:gd name="connsiteX6" fmla="*/ 401288 w 824102"/>
                <a:gd name="connsiteY6" fmla="*/ 856107 h 1519713"/>
                <a:gd name="connsiteX7" fmla="*/ 417386 w 824102"/>
                <a:gd name="connsiteY7" fmla="*/ 583216 h 1519713"/>
                <a:gd name="connsiteX8" fmla="*/ 631412 w 824102"/>
                <a:gd name="connsiteY8" fmla="*/ 294227 h 1519713"/>
                <a:gd name="connsiteX9" fmla="*/ 610076 w 824102"/>
                <a:gd name="connsiteY9" fmla="*/ 486918 h 1519713"/>
                <a:gd name="connsiteX10" fmla="*/ 824103 w 824102"/>
                <a:gd name="connsiteY10" fmla="*/ 160496 h 1519713"/>
                <a:gd name="connsiteX11" fmla="*/ 797338 w 824102"/>
                <a:gd name="connsiteY11" fmla="*/ 10668 h 1519713"/>
                <a:gd name="connsiteX12" fmla="*/ 476250 w 824102"/>
                <a:gd name="connsiteY12" fmla="*/ 208693 h 1519713"/>
                <a:gd name="connsiteX13" fmla="*/ 438817 w 824102"/>
                <a:gd name="connsiteY13" fmla="*/ 0 h 1519713"/>
                <a:gd name="connsiteX14" fmla="*/ 321088 w 824102"/>
                <a:gd name="connsiteY14" fmla="*/ 224695 h 1519713"/>
                <a:gd name="connsiteX15" fmla="*/ 144494 w 824102"/>
                <a:gd name="connsiteY15" fmla="*/ 251460 h 1519713"/>
                <a:gd name="connsiteX16" fmla="*/ 208693 w 824102"/>
                <a:gd name="connsiteY16" fmla="*/ 337090 h 151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4102" h="1519713">
                  <a:moveTo>
                    <a:pt x="0" y="545782"/>
                  </a:moveTo>
                  <a:lnTo>
                    <a:pt x="133826" y="513683"/>
                  </a:lnTo>
                  <a:lnTo>
                    <a:pt x="299657" y="893636"/>
                  </a:lnTo>
                  <a:lnTo>
                    <a:pt x="460153" y="1107662"/>
                  </a:lnTo>
                  <a:lnTo>
                    <a:pt x="315754" y="1519714"/>
                  </a:lnTo>
                  <a:lnTo>
                    <a:pt x="535115" y="1048798"/>
                  </a:lnTo>
                  <a:lnTo>
                    <a:pt x="401288" y="856107"/>
                  </a:lnTo>
                  <a:lnTo>
                    <a:pt x="417386" y="583216"/>
                  </a:lnTo>
                  <a:lnTo>
                    <a:pt x="631412" y="294227"/>
                  </a:lnTo>
                  <a:lnTo>
                    <a:pt x="610076" y="486918"/>
                  </a:lnTo>
                  <a:lnTo>
                    <a:pt x="824103" y="160496"/>
                  </a:lnTo>
                  <a:lnTo>
                    <a:pt x="797338" y="10668"/>
                  </a:lnTo>
                  <a:lnTo>
                    <a:pt x="476250" y="208693"/>
                  </a:lnTo>
                  <a:lnTo>
                    <a:pt x="438817" y="0"/>
                  </a:lnTo>
                  <a:lnTo>
                    <a:pt x="321088" y="224695"/>
                  </a:lnTo>
                  <a:lnTo>
                    <a:pt x="144494" y="251460"/>
                  </a:lnTo>
                  <a:lnTo>
                    <a:pt x="208693" y="337090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5391519" y="5254680"/>
              <a:ext cx="452561" cy="1027452"/>
            </a:xfrm>
            <a:custGeom>
              <a:avLst/>
              <a:gdLst>
                <a:gd name="connsiteX0" fmla="*/ 255937 w 320420"/>
                <a:gd name="connsiteY0" fmla="*/ 322040 h 750093"/>
                <a:gd name="connsiteX1" fmla="*/ 0 w 320420"/>
                <a:gd name="connsiteY1" fmla="*/ 0 h 750093"/>
                <a:gd name="connsiteX2" fmla="*/ 192977 w 320420"/>
                <a:gd name="connsiteY2" fmla="*/ 469773 h 750093"/>
                <a:gd name="connsiteX3" fmla="*/ 196596 w 320420"/>
                <a:gd name="connsiteY3" fmla="*/ 633603 h 750093"/>
                <a:gd name="connsiteX4" fmla="*/ 320421 w 320420"/>
                <a:gd name="connsiteY4" fmla="*/ 750094 h 750093"/>
                <a:gd name="connsiteX5" fmla="*/ 239935 w 320420"/>
                <a:gd name="connsiteY5" fmla="*/ 610934 h 750093"/>
                <a:gd name="connsiteX6" fmla="*/ 255937 w 320420"/>
                <a:gd name="connsiteY6" fmla="*/ 322040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420" h="750093">
                  <a:moveTo>
                    <a:pt x="255937" y="322040"/>
                  </a:moveTo>
                  <a:lnTo>
                    <a:pt x="0" y="0"/>
                  </a:lnTo>
                  <a:lnTo>
                    <a:pt x="192977" y="469773"/>
                  </a:lnTo>
                  <a:cubicBezTo>
                    <a:pt x="192977" y="469773"/>
                    <a:pt x="192977" y="622745"/>
                    <a:pt x="196596" y="633603"/>
                  </a:cubicBezTo>
                  <a:cubicBezTo>
                    <a:pt x="200216" y="644557"/>
                    <a:pt x="320421" y="750094"/>
                    <a:pt x="320421" y="750094"/>
                  </a:cubicBezTo>
                  <a:lnTo>
                    <a:pt x="239935" y="610934"/>
                  </a:lnTo>
                  <a:lnTo>
                    <a:pt x="255937" y="322040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5518650" y="4647733"/>
              <a:ext cx="526014" cy="612034"/>
            </a:xfrm>
            <a:custGeom>
              <a:avLst/>
              <a:gdLst>
                <a:gd name="connsiteX0" fmla="*/ 372428 w 372427"/>
                <a:gd name="connsiteY0" fmla="*/ 170021 h 446817"/>
                <a:gd name="connsiteX1" fmla="*/ 251460 w 372427"/>
                <a:gd name="connsiteY1" fmla="*/ 0 h 446817"/>
                <a:gd name="connsiteX2" fmla="*/ 187262 w 372427"/>
                <a:gd name="connsiteY2" fmla="*/ 224695 h 446817"/>
                <a:gd name="connsiteX3" fmla="*/ 0 w 372427"/>
                <a:gd name="connsiteY3" fmla="*/ 326422 h 446817"/>
                <a:gd name="connsiteX4" fmla="*/ 288608 w 372427"/>
                <a:gd name="connsiteY4" fmla="*/ 446818 h 44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27" h="446817">
                  <a:moveTo>
                    <a:pt x="372428" y="170021"/>
                  </a:moveTo>
                  <a:lnTo>
                    <a:pt x="251460" y="0"/>
                  </a:lnTo>
                  <a:lnTo>
                    <a:pt x="187262" y="224695"/>
                  </a:lnTo>
                  <a:lnTo>
                    <a:pt x="0" y="326422"/>
                  </a:lnTo>
                  <a:lnTo>
                    <a:pt x="288608" y="446818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4974470" y="4020431"/>
              <a:ext cx="1611674" cy="2261701"/>
            </a:xfrm>
            <a:custGeom>
              <a:avLst/>
              <a:gdLst>
                <a:gd name="connsiteX0" fmla="*/ 137922 w 1141094"/>
                <a:gd name="connsiteY0" fmla="*/ 784574 h 1651158"/>
                <a:gd name="connsiteX1" fmla="*/ 290894 w 1141094"/>
                <a:gd name="connsiteY1" fmla="*/ 901065 h 1651158"/>
                <a:gd name="connsiteX2" fmla="*/ 483870 w 1141094"/>
                <a:gd name="connsiteY2" fmla="*/ 1370838 h 1651158"/>
                <a:gd name="connsiteX3" fmla="*/ 487490 w 1141094"/>
                <a:gd name="connsiteY3" fmla="*/ 1534668 h 1651158"/>
                <a:gd name="connsiteX4" fmla="*/ 493871 w 1141094"/>
                <a:gd name="connsiteY4" fmla="*/ 1542764 h 1651158"/>
                <a:gd name="connsiteX5" fmla="*/ 508349 w 1141094"/>
                <a:gd name="connsiteY5" fmla="*/ 1557433 h 1651158"/>
                <a:gd name="connsiteX6" fmla="*/ 517779 w 1141094"/>
                <a:gd name="connsiteY6" fmla="*/ 1566482 h 1651158"/>
                <a:gd name="connsiteX7" fmla="*/ 562070 w 1141094"/>
                <a:gd name="connsiteY7" fmla="*/ 1607249 h 1651158"/>
                <a:gd name="connsiteX8" fmla="*/ 573024 w 1141094"/>
                <a:gd name="connsiteY8" fmla="*/ 1617154 h 1651158"/>
                <a:gd name="connsiteX9" fmla="*/ 592360 w 1141094"/>
                <a:gd name="connsiteY9" fmla="*/ 1634490 h 1651158"/>
                <a:gd name="connsiteX10" fmla="*/ 611219 w 1141094"/>
                <a:gd name="connsiteY10" fmla="*/ 1651159 h 1651158"/>
                <a:gd name="connsiteX11" fmla="*/ 636746 w 1141094"/>
                <a:gd name="connsiteY11" fmla="*/ 1174147 h 1651158"/>
                <a:gd name="connsiteX12" fmla="*/ 669512 w 1141094"/>
                <a:gd name="connsiteY12" fmla="*/ 904684 h 1651158"/>
                <a:gd name="connsiteX13" fmla="*/ 753237 w 1141094"/>
                <a:gd name="connsiteY13" fmla="*/ 627888 h 1651158"/>
                <a:gd name="connsiteX14" fmla="*/ 713137 w 1141094"/>
                <a:gd name="connsiteY14" fmla="*/ 460343 h 1651158"/>
                <a:gd name="connsiteX15" fmla="*/ 880682 w 1141094"/>
                <a:gd name="connsiteY15" fmla="*/ 329279 h 1651158"/>
                <a:gd name="connsiteX16" fmla="*/ 1141095 w 1141094"/>
                <a:gd name="connsiteY16" fmla="*/ 0 h 1651158"/>
                <a:gd name="connsiteX17" fmla="*/ 1097661 w 1141094"/>
                <a:gd name="connsiteY17" fmla="*/ 30385 h 1651158"/>
                <a:gd name="connsiteX18" fmla="*/ 881729 w 1141094"/>
                <a:gd name="connsiteY18" fmla="*/ 4953 h 1651158"/>
                <a:gd name="connsiteX19" fmla="*/ 792861 w 1141094"/>
                <a:gd name="connsiteY19" fmla="*/ 112871 h 1651158"/>
                <a:gd name="connsiteX20" fmla="*/ 665893 w 1141094"/>
                <a:gd name="connsiteY20" fmla="*/ 277939 h 1651158"/>
                <a:gd name="connsiteX21" fmla="*/ 519875 w 1141094"/>
                <a:gd name="connsiteY21" fmla="*/ 271558 h 1651158"/>
                <a:gd name="connsiteX22" fmla="*/ 335756 w 1141094"/>
                <a:gd name="connsiteY22" fmla="*/ 138208 h 1651158"/>
                <a:gd name="connsiteX23" fmla="*/ 138875 w 1141094"/>
                <a:gd name="connsiteY23" fmla="*/ 150876 h 1651158"/>
                <a:gd name="connsiteX24" fmla="*/ 30956 w 1141094"/>
                <a:gd name="connsiteY24" fmla="*/ 284226 h 1651158"/>
                <a:gd name="connsiteX25" fmla="*/ 0 w 1141094"/>
                <a:gd name="connsiteY25" fmla="*/ 312610 h 1651158"/>
                <a:gd name="connsiteX26" fmla="*/ 86868 w 1141094"/>
                <a:gd name="connsiteY26" fmla="*/ 616744 h 1651158"/>
                <a:gd name="connsiteX27" fmla="*/ 137922 w 1141094"/>
                <a:gd name="connsiteY27" fmla="*/ 784574 h 165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41094" h="1651158">
                  <a:moveTo>
                    <a:pt x="137922" y="784574"/>
                  </a:moveTo>
                  <a:lnTo>
                    <a:pt x="290894" y="901065"/>
                  </a:lnTo>
                  <a:lnTo>
                    <a:pt x="483870" y="1370838"/>
                  </a:lnTo>
                  <a:cubicBezTo>
                    <a:pt x="483870" y="1370838"/>
                    <a:pt x="483870" y="1523810"/>
                    <a:pt x="487490" y="1534668"/>
                  </a:cubicBezTo>
                  <a:cubicBezTo>
                    <a:pt x="487966" y="1536002"/>
                    <a:pt x="490252" y="1538859"/>
                    <a:pt x="493871" y="1542764"/>
                  </a:cubicBezTo>
                  <a:cubicBezTo>
                    <a:pt x="497491" y="1546669"/>
                    <a:pt x="502539" y="1551718"/>
                    <a:pt x="508349" y="1557433"/>
                  </a:cubicBezTo>
                  <a:cubicBezTo>
                    <a:pt x="511302" y="1560290"/>
                    <a:pt x="514445" y="1563338"/>
                    <a:pt x="517779" y="1566482"/>
                  </a:cubicBezTo>
                  <a:cubicBezTo>
                    <a:pt x="531114" y="1579150"/>
                    <a:pt x="547116" y="1593723"/>
                    <a:pt x="562070" y="1607249"/>
                  </a:cubicBezTo>
                  <a:cubicBezTo>
                    <a:pt x="565785" y="1610582"/>
                    <a:pt x="569500" y="1613916"/>
                    <a:pt x="573024" y="1617154"/>
                  </a:cubicBezTo>
                  <a:cubicBezTo>
                    <a:pt x="580168" y="1623536"/>
                    <a:pt x="586740" y="1629442"/>
                    <a:pt x="592360" y="1634490"/>
                  </a:cubicBezTo>
                  <a:cubicBezTo>
                    <a:pt x="603695" y="1644586"/>
                    <a:pt x="611219" y="1651159"/>
                    <a:pt x="611219" y="1651159"/>
                  </a:cubicBezTo>
                  <a:lnTo>
                    <a:pt x="636746" y="1174147"/>
                  </a:lnTo>
                  <a:lnTo>
                    <a:pt x="669512" y="904684"/>
                  </a:lnTo>
                  <a:lnTo>
                    <a:pt x="753237" y="627888"/>
                  </a:lnTo>
                  <a:lnTo>
                    <a:pt x="713137" y="460343"/>
                  </a:lnTo>
                  <a:lnTo>
                    <a:pt x="880682" y="329279"/>
                  </a:lnTo>
                  <a:lnTo>
                    <a:pt x="1141095" y="0"/>
                  </a:lnTo>
                  <a:lnTo>
                    <a:pt x="1097661" y="30385"/>
                  </a:lnTo>
                  <a:lnTo>
                    <a:pt x="881729" y="4953"/>
                  </a:lnTo>
                  <a:lnTo>
                    <a:pt x="792861" y="112871"/>
                  </a:lnTo>
                  <a:lnTo>
                    <a:pt x="665893" y="277939"/>
                  </a:lnTo>
                  <a:lnTo>
                    <a:pt x="519875" y="271558"/>
                  </a:lnTo>
                  <a:lnTo>
                    <a:pt x="335756" y="138208"/>
                  </a:lnTo>
                  <a:lnTo>
                    <a:pt x="138875" y="150876"/>
                  </a:lnTo>
                  <a:lnTo>
                    <a:pt x="30956" y="284226"/>
                  </a:lnTo>
                  <a:lnTo>
                    <a:pt x="0" y="312610"/>
                  </a:lnTo>
                  <a:lnTo>
                    <a:pt x="86868" y="616744"/>
                  </a:lnTo>
                  <a:lnTo>
                    <a:pt x="137922" y="784574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427741" y="2680504"/>
              <a:ext cx="504355" cy="24376"/>
            </a:xfrm>
            <a:custGeom>
              <a:avLst/>
              <a:gdLst>
                <a:gd name="connsiteX0" fmla="*/ 0 w 357092"/>
                <a:gd name="connsiteY0" fmla="*/ 0 h 17796"/>
                <a:gd name="connsiteX1" fmla="*/ 357092 w 357092"/>
                <a:gd name="connsiteY1" fmla="*/ 13240 h 17796"/>
                <a:gd name="connsiteX2" fmla="*/ 0 w 357092"/>
                <a:gd name="connsiteY2" fmla="*/ 0 h 1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7092" h="17796">
                  <a:moveTo>
                    <a:pt x="0" y="0"/>
                  </a:moveTo>
                  <a:cubicBezTo>
                    <a:pt x="0" y="0"/>
                    <a:pt x="281083" y="13240"/>
                    <a:pt x="357092" y="13240"/>
                  </a:cubicBezTo>
                  <a:cubicBezTo>
                    <a:pt x="357092" y="13240"/>
                    <a:pt x="127349" y="29718"/>
                    <a:pt x="0" y="0"/>
                  </a:cubicBez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4974470" y="3430969"/>
              <a:ext cx="438434" cy="300472"/>
            </a:xfrm>
            <a:custGeom>
              <a:avLst/>
              <a:gdLst>
                <a:gd name="connsiteX0" fmla="*/ 0 w 310419"/>
                <a:gd name="connsiteY0" fmla="*/ 219361 h 219360"/>
                <a:gd name="connsiteX1" fmla="*/ 176594 w 310419"/>
                <a:gd name="connsiteY1" fmla="*/ 32099 h 219360"/>
                <a:gd name="connsiteX2" fmla="*/ 310420 w 310419"/>
                <a:gd name="connsiteY2" fmla="*/ 0 h 219360"/>
                <a:gd name="connsiteX3" fmla="*/ 184499 w 310419"/>
                <a:gd name="connsiteY3" fmla="*/ 44005 h 219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19" h="219360">
                  <a:moveTo>
                    <a:pt x="0" y="219361"/>
                  </a:moveTo>
                  <a:lnTo>
                    <a:pt x="176594" y="32099"/>
                  </a:lnTo>
                  <a:lnTo>
                    <a:pt x="310420" y="0"/>
                  </a:lnTo>
                  <a:lnTo>
                    <a:pt x="184499" y="44005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6641167" y="3247661"/>
              <a:ext cx="124575" cy="498527"/>
            </a:xfrm>
            <a:custGeom>
              <a:avLst/>
              <a:gdLst>
                <a:gd name="connsiteX0" fmla="*/ 88201 w 88201"/>
                <a:gd name="connsiteY0" fmla="*/ 0 h 363950"/>
                <a:gd name="connsiteX1" fmla="*/ 13240 w 88201"/>
                <a:gd name="connsiteY1" fmla="*/ 165925 h 363950"/>
                <a:gd name="connsiteX2" fmla="*/ 18574 w 88201"/>
                <a:gd name="connsiteY2" fmla="*/ 363950 h 363950"/>
                <a:gd name="connsiteX3" fmla="*/ 0 w 88201"/>
                <a:gd name="connsiteY3" fmla="*/ 158401 h 36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201" h="363950">
                  <a:moveTo>
                    <a:pt x="88201" y="0"/>
                  </a:moveTo>
                  <a:lnTo>
                    <a:pt x="13240" y="165925"/>
                  </a:lnTo>
                  <a:lnTo>
                    <a:pt x="18574" y="363950"/>
                  </a:lnTo>
                  <a:lnTo>
                    <a:pt x="0" y="158401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6911978" y="2683900"/>
              <a:ext cx="377358" cy="91721"/>
            </a:xfrm>
            <a:custGeom>
              <a:avLst/>
              <a:gdLst>
                <a:gd name="connsiteX0" fmla="*/ 0 w 267176"/>
                <a:gd name="connsiteY0" fmla="*/ 0 h 66961"/>
                <a:gd name="connsiteX1" fmla="*/ 267176 w 267176"/>
                <a:gd name="connsiteY1" fmla="*/ 66961 h 66961"/>
                <a:gd name="connsiteX2" fmla="*/ 0 w 267176"/>
                <a:gd name="connsiteY2" fmla="*/ 0 h 6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176" h="66961">
                  <a:moveTo>
                    <a:pt x="0" y="0"/>
                  </a:moveTo>
                  <a:lnTo>
                    <a:pt x="267176" y="66961"/>
                  </a:lnTo>
                  <a:cubicBezTo>
                    <a:pt x="267081" y="67056"/>
                    <a:pt x="97822" y="48101"/>
                    <a:pt x="0" y="0"/>
                  </a:cubicBez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17" name="矩形 216"/>
          <p:cNvSpPr/>
          <p:nvPr/>
        </p:nvSpPr>
        <p:spPr>
          <a:xfrm>
            <a:off x="-1" y="2651189"/>
            <a:ext cx="8893061" cy="4006162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8850026" y="1028700"/>
            <a:ext cx="2973673" cy="33946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3559034" y="1164317"/>
            <a:ext cx="23165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水面上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显性成果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3689579" y="1520031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业绩达成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3689578" y="1727785"/>
            <a:ext cx="4502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总销售额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280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万元（完成季度目标的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销售贡献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62%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3689579" y="1986727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客户转化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689578" y="2194481"/>
            <a:ext cx="4502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新签客户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家，老客再续率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32%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，但客均订单额同比降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3422765" y="2807838"/>
            <a:ext cx="5246185" cy="2885833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3559034" y="2968323"/>
            <a:ext cx="23165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水面下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隐性能力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3710783" y="3494230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核心技能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3710782" y="3701984"/>
            <a:ext cx="4760117" cy="46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谈判技巧培训覆盖率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70%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 “需求洞察” 模拟测试平均得分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6.2/10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（导致方案匹配度低 ）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3710783" y="4231321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协作支持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3710783" y="4439075"/>
            <a:ext cx="4502866" cy="27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跨部门需求响应时效，超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订单因 “售后对接慢” 影响二次合作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3710783" y="4800477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心态任性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3710783" y="5008231"/>
            <a:ext cx="4502866" cy="27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Q2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丢单后，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销售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天内未主动复盘（消极心态延续影响后续开单 ）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399476" y="2639274"/>
            <a:ext cx="2942236" cy="3630464"/>
          </a:xfrm>
          <a:custGeom>
            <a:avLst/>
            <a:gdLst>
              <a:gd name="connsiteX0" fmla="*/ 36709 w 2083154"/>
              <a:gd name="connsiteY0" fmla="*/ 174498 h 2650426"/>
              <a:gd name="connsiteX1" fmla="*/ 20707 w 2083154"/>
              <a:gd name="connsiteY1" fmla="*/ 215360 h 2650426"/>
              <a:gd name="connsiteX2" fmla="*/ 13563 w 2083154"/>
              <a:gd name="connsiteY2" fmla="*/ 234696 h 2650426"/>
              <a:gd name="connsiteX3" fmla="*/ 5657 w 2083154"/>
              <a:gd name="connsiteY3" fmla="*/ 257842 h 2650426"/>
              <a:gd name="connsiteX4" fmla="*/ 37 w 2083154"/>
              <a:gd name="connsiteY4" fmla="*/ 280607 h 2650426"/>
              <a:gd name="connsiteX5" fmla="*/ 228 w 2083154"/>
              <a:gd name="connsiteY5" fmla="*/ 283655 h 2650426"/>
              <a:gd name="connsiteX6" fmla="*/ 127672 w 2083154"/>
              <a:gd name="connsiteY6" fmla="*/ 429292 h 2650426"/>
              <a:gd name="connsiteX7" fmla="*/ 204158 w 2083154"/>
              <a:gd name="connsiteY7" fmla="*/ 538544 h 2650426"/>
              <a:gd name="connsiteX8" fmla="*/ 206444 w 2083154"/>
              <a:gd name="connsiteY8" fmla="*/ 591693 h 2650426"/>
              <a:gd name="connsiteX9" fmla="*/ 209778 w 2083154"/>
              <a:gd name="connsiteY9" fmla="*/ 654939 h 2650426"/>
              <a:gd name="connsiteX10" fmla="*/ 212159 w 2083154"/>
              <a:gd name="connsiteY10" fmla="*/ 690277 h 2650426"/>
              <a:gd name="connsiteX11" fmla="*/ 213397 w 2083154"/>
              <a:gd name="connsiteY11" fmla="*/ 705898 h 2650426"/>
              <a:gd name="connsiteX12" fmla="*/ 214731 w 2083154"/>
              <a:gd name="connsiteY12" fmla="*/ 719519 h 2650426"/>
              <a:gd name="connsiteX13" fmla="*/ 216064 w 2083154"/>
              <a:gd name="connsiteY13" fmla="*/ 730472 h 2650426"/>
              <a:gd name="connsiteX14" fmla="*/ 218827 w 2083154"/>
              <a:gd name="connsiteY14" fmla="*/ 742379 h 2650426"/>
              <a:gd name="connsiteX15" fmla="*/ 448284 w 2083154"/>
              <a:gd name="connsiteY15" fmla="*/ 920782 h 2650426"/>
              <a:gd name="connsiteX16" fmla="*/ 397325 w 2083154"/>
              <a:gd name="connsiteY16" fmla="*/ 1131951 h 2650426"/>
              <a:gd name="connsiteX17" fmla="*/ 535723 w 2083154"/>
              <a:gd name="connsiteY17" fmla="*/ 1616297 h 2650426"/>
              <a:gd name="connsiteX18" fmla="*/ 586682 w 2083154"/>
              <a:gd name="connsiteY18" fmla="*/ 1783842 h 2650426"/>
              <a:gd name="connsiteX19" fmla="*/ 739654 w 2083154"/>
              <a:gd name="connsiteY19" fmla="*/ 1900333 h 2650426"/>
              <a:gd name="connsiteX20" fmla="*/ 932630 w 2083154"/>
              <a:gd name="connsiteY20" fmla="*/ 2370106 h 2650426"/>
              <a:gd name="connsiteX21" fmla="*/ 936250 w 2083154"/>
              <a:gd name="connsiteY21" fmla="*/ 2533936 h 2650426"/>
              <a:gd name="connsiteX22" fmla="*/ 942631 w 2083154"/>
              <a:gd name="connsiteY22" fmla="*/ 2542032 h 2650426"/>
              <a:gd name="connsiteX23" fmla="*/ 957109 w 2083154"/>
              <a:gd name="connsiteY23" fmla="*/ 2556701 h 2650426"/>
              <a:gd name="connsiteX24" fmla="*/ 966539 w 2083154"/>
              <a:gd name="connsiteY24" fmla="*/ 2565749 h 2650426"/>
              <a:gd name="connsiteX25" fmla="*/ 1010830 w 2083154"/>
              <a:gd name="connsiteY25" fmla="*/ 2606516 h 2650426"/>
              <a:gd name="connsiteX26" fmla="*/ 1021784 w 2083154"/>
              <a:gd name="connsiteY26" fmla="*/ 2616422 h 2650426"/>
              <a:gd name="connsiteX27" fmla="*/ 1041120 w 2083154"/>
              <a:gd name="connsiteY27" fmla="*/ 2633758 h 2650426"/>
              <a:gd name="connsiteX28" fmla="*/ 1059979 w 2083154"/>
              <a:gd name="connsiteY28" fmla="*/ 2650427 h 2650426"/>
              <a:gd name="connsiteX29" fmla="*/ 1085506 w 2083154"/>
              <a:gd name="connsiteY29" fmla="*/ 2173415 h 2650426"/>
              <a:gd name="connsiteX30" fmla="*/ 1118272 w 2083154"/>
              <a:gd name="connsiteY30" fmla="*/ 1903952 h 2650426"/>
              <a:gd name="connsiteX31" fmla="*/ 1201997 w 2083154"/>
              <a:gd name="connsiteY31" fmla="*/ 1627156 h 2650426"/>
              <a:gd name="connsiteX32" fmla="*/ 1161897 w 2083154"/>
              <a:gd name="connsiteY32" fmla="*/ 1459611 h 2650426"/>
              <a:gd name="connsiteX33" fmla="*/ 1329442 w 2083154"/>
              <a:gd name="connsiteY33" fmla="*/ 1328547 h 2650426"/>
              <a:gd name="connsiteX34" fmla="*/ 1646243 w 2083154"/>
              <a:gd name="connsiteY34" fmla="*/ 928021 h 2650426"/>
              <a:gd name="connsiteX35" fmla="*/ 1781022 w 2083154"/>
              <a:gd name="connsiteY35" fmla="*/ 800576 h 2650426"/>
              <a:gd name="connsiteX36" fmla="*/ 1740922 w 2083154"/>
              <a:gd name="connsiteY36" fmla="*/ 665797 h 2650426"/>
              <a:gd name="connsiteX37" fmla="*/ 1795500 w 2083154"/>
              <a:gd name="connsiteY37" fmla="*/ 523780 h 2650426"/>
              <a:gd name="connsiteX38" fmla="*/ 1941137 w 2083154"/>
              <a:gd name="connsiteY38" fmla="*/ 491014 h 2650426"/>
              <a:gd name="connsiteX39" fmla="*/ 2083155 w 2083154"/>
              <a:gd name="connsiteY39" fmla="*/ 90488 h 2650426"/>
              <a:gd name="connsiteX40" fmla="*/ 1988476 w 2083154"/>
              <a:gd name="connsiteY40" fmla="*/ 28575 h 2650426"/>
              <a:gd name="connsiteX41" fmla="*/ 1927231 w 2083154"/>
              <a:gd name="connsiteY41" fmla="*/ 0 h 2650426"/>
              <a:gd name="connsiteX42" fmla="*/ 67951 w 2083154"/>
              <a:gd name="connsiteY42" fmla="*/ 0 h 2650426"/>
              <a:gd name="connsiteX43" fmla="*/ 18516 w 2083154"/>
              <a:gd name="connsiteY43" fmla="*/ 94107 h 2650426"/>
              <a:gd name="connsiteX44" fmla="*/ 36709 w 2083154"/>
              <a:gd name="connsiteY44" fmla="*/ 174498 h 2650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83154" h="2650426">
                <a:moveTo>
                  <a:pt x="36709" y="174498"/>
                </a:moveTo>
                <a:cubicBezTo>
                  <a:pt x="36709" y="174498"/>
                  <a:pt x="28993" y="193358"/>
                  <a:pt x="20707" y="215360"/>
                </a:cubicBezTo>
                <a:cubicBezTo>
                  <a:pt x="18325" y="221647"/>
                  <a:pt x="15944" y="228219"/>
                  <a:pt x="13563" y="234696"/>
                </a:cubicBezTo>
                <a:cubicBezTo>
                  <a:pt x="10705" y="242792"/>
                  <a:pt x="7943" y="250793"/>
                  <a:pt x="5657" y="257842"/>
                </a:cubicBezTo>
                <a:cubicBezTo>
                  <a:pt x="2514" y="267748"/>
                  <a:pt x="323" y="276034"/>
                  <a:pt x="37" y="280607"/>
                </a:cubicBezTo>
                <a:cubicBezTo>
                  <a:pt x="-58" y="281940"/>
                  <a:pt x="37" y="282988"/>
                  <a:pt x="228" y="283655"/>
                </a:cubicBezTo>
                <a:cubicBezTo>
                  <a:pt x="3847" y="294608"/>
                  <a:pt x="127672" y="429292"/>
                  <a:pt x="127672" y="429292"/>
                </a:cubicBezTo>
                <a:lnTo>
                  <a:pt x="204158" y="538544"/>
                </a:lnTo>
                <a:cubicBezTo>
                  <a:pt x="204158" y="538544"/>
                  <a:pt x="205015" y="561308"/>
                  <a:pt x="206444" y="591693"/>
                </a:cubicBezTo>
                <a:cubicBezTo>
                  <a:pt x="207397" y="611029"/>
                  <a:pt x="208444" y="633413"/>
                  <a:pt x="209778" y="654939"/>
                </a:cubicBezTo>
                <a:cubicBezTo>
                  <a:pt x="210540" y="667226"/>
                  <a:pt x="211302" y="679228"/>
                  <a:pt x="212159" y="690277"/>
                </a:cubicBezTo>
                <a:cubicBezTo>
                  <a:pt x="212540" y="695801"/>
                  <a:pt x="213016" y="701040"/>
                  <a:pt x="213397" y="705898"/>
                </a:cubicBezTo>
                <a:cubicBezTo>
                  <a:pt x="213778" y="710851"/>
                  <a:pt x="214255" y="715328"/>
                  <a:pt x="214731" y="719519"/>
                </a:cubicBezTo>
                <a:cubicBezTo>
                  <a:pt x="215207" y="723614"/>
                  <a:pt x="215588" y="727329"/>
                  <a:pt x="216064" y="730472"/>
                </a:cubicBezTo>
                <a:cubicBezTo>
                  <a:pt x="216922" y="736759"/>
                  <a:pt x="217874" y="741045"/>
                  <a:pt x="218827" y="742379"/>
                </a:cubicBezTo>
                <a:cubicBezTo>
                  <a:pt x="226066" y="753332"/>
                  <a:pt x="448284" y="920782"/>
                  <a:pt x="448284" y="920782"/>
                </a:cubicBezTo>
                <a:lnTo>
                  <a:pt x="397325" y="1131951"/>
                </a:lnTo>
                <a:lnTo>
                  <a:pt x="535723" y="1616297"/>
                </a:lnTo>
                <a:lnTo>
                  <a:pt x="586682" y="1783842"/>
                </a:lnTo>
                <a:lnTo>
                  <a:pt x="739654" y="1900333"/>
                </a:lnTo>
                <a:lnTo>
                  <a:pt x="932630" y="2370106"/>
                </a:lnTo>
                <a:cubicBezTo>
                  <a:pt x="932630" y="2370106"/>
                  <a:pt x="932630" y="2523078"/>
                  <a:pt x="936250" y="2533936"/>
                </a:cubicBezTo>
                <a:cubicBezTo>
                  <a:pt x="936726" y="2535270"/>
                  <a:pt x="939012" y="2538127"/>
                  <a:pt x="942631" y="2542032"/>
                </a:cubicBezTo>
                <a:cubicBezTo>
                  <a:pt x="946251" y="2545937"/>
                  <a:pt x="951299" y="2550986"/>
                  <a:pt x="957109" y="2556701"/>
                </a:cubicBezTo>
                <a:cubicBezTo>
                  <a:pt x="960062" y="2559558"/>
                  <a:pt x="963205" y="2562606"/>
                  <a:pt x="966539" y="2565749"/>
                </a:cubicBezTo>
                <a:cubicBezTo>
                  <a:pt x="979874" y="2578418"/>
                  <a:pt x="995876" y="2592991"/>
                  <a:pt x="1010830" y="2606516"/>
                </a:cubicBezTo>
                <a:cubicBezTo>
                  <a:pt x="1014545" y="2609850"/>
                  <a:pt x="1018260" y="2613184"/>
                  <a:pt x="1021784" y="2616422"/>
                </a:cubicBezTo>
                <a:cubicBezTo>
                  <a:pt x="1028928" y="2622804"/>
                  <a:pt x="1035500" y="2628710"/>
                  <a:pt x="1041120" y="2633758"/>
                </a:cubicBezTo>
                <a:cubicBezTo>
                  <a:pt x="1052455" y="2643854"/>
                  <a:pt x="1059979" y="2650427"/>
                  <a:pt x="1059979" y="2650427"/>
                </a:cubicBezTo>
                <a:lnTo>
                  <a:pt x="1085506" y="2173415"/>
                </a:lnTo>
                <a:lnTo>
                  <a:pt x="1118272" y="1903952"/>
                </a:lnTo>
                <a:lnTo>
                  <a:pt x="1201997" y="1627156"/>
                </a:lnTo>
                <a:lnTo>
                  <a:pt x="1161897" y="1459611"/>
                </a:lnTo>
                <a:lnTo>
                  <a:pt x="1329442" y="1328547"/>
                </a:lnTo>
                <a:lnTo>
                  <a:pt x="1646243" y="928021"/>
                </a:lnTo>
                <a:lnTo>
                  <a:pt x="1781022" y="800576"/>
                </a:lnTo>
                <a:lnTo>
                  <a:pt x="1740922" y="665797"/>
                </a:lnTo>
                <a:lnTo>
                  <a:pt x="1795500" y="523780"/>
                </a:lnTo>
                <a:lnTo>
                  <a:pt x="1941137" y="491014"/>
                </a:lnTo>
                <a:lnTo>
                  <a:pt x="2083155" y="90488"/>
                </a:lnTo>
                <a:lnTo>
                  <a:pt x="1988476" y="28575"/>
                </a:lnTo>
                <a:lnTo>
                  <a:pt x="1927231" y="0"/>
                </a:lnTo>
                <a:lnTo>
                  <a:pt x="67951" y="0"/>
                </a:lnTo>
                <a:lnTo>
                  <a:pt x="18516" y="94107"/>
                </a:lnTo>
                <a:lnTo>
                  <a:pt x="36709" y="174498"/>
                </a:lnTo>
                <a:close/>
              </a:path>
            </a:pathLst>
          </a:custGeom>
          <a:solidFill>
            <a:schemeClr val="tx1">
              <a:alpha val="4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57948" y="2035688"/>
            <a:ext cx="1218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能力补位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124298" y="1152006"/>
            <a:ext cx="217890" cy="469654"/>
            <a:chOff x="3653621" y="1178195"/>
            <a:chExt cx="117350" cy="252944"/>
          </a:xfrm>
        </p:grpSpPr>
        <p:sp>
          <p:nvSpPr>
            <p:cNvPr id="12" name="等腰三角形 11"/>
            <p:cNvSpPr/>
            <p:nvPr/>
          </p:nvSpPr>
          <p:spPr>
            <a:xfrm>
              <a:off x="3653621" y="1178195"/>
              <a:ext cx="117350" cy="11925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" name="等腰三角形 2"/>
            <p:cNvSpPr/>
            <p:nvPr/>
          </p:nvSpPr>
          <p:spPr>
            <a:xfrm flipV="1">
              <a:off x="3653621" y="1311885"/>
              <a:ext cx="117350" cy="119254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8850026" y="4541391"/>
            <a:ext cx="2973673" cy="2015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94977" y="5410559"/>
            <a:ext cx="2550703" cy="88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业绩问题是冰山一角，水面下的能力、协作、心态才是破局关键。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Q3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聚焦 “隐性能力激活”，预计推动业绩达成率提升至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157948" y="2239730"/>
            <a:ext cx="2602251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针对 “需求洞察” 开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场实战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workshop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，搭配 “老带新案例库”（含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个经典需求挖掘场景 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箭头: V 形 23"/>
          <p:cNvSpPr/>
          <p:nvPr/>
        </p:nvSpPr>
        <p:spPr>
          <a:xfrm>
            <a:off x="9556686" y="1333500"/>
            <a:ext cx="1582234" cy="418720"/>
          </a:xfrm>
          <a:prstGeom prst="chevron">
            <a:avLst>
              <a:gd name="adj" fmla="val 273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01336" y="1354317"/>
            <a:ext cx="1736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优化策略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" name="箭头: V 形 29"/>
          <p:cNvSpPr/>
          <p:nvPr/>
        </p:nvSpPr>
        <p:spPr>
          <a:xfrm>
            <a:off x="9049925" y="1333500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箭头: V 形 30"/>
          <p:cNvSpPr/>
          <p:nvPr/>
        </p:nvSpPr>
        <p:spPr>
          <a:xfrm>
            <a:off x="11059255" y="1333500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9157948" y="2723833"/>
            <a:ext cx="1218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流程提效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9157948" y="2927875"/>
            <a:ext cx="2602251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 “客户需求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跨部门响应” 台账，超时预警机制（目标：响应时效缩短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9157948" y="3418219"/>
            <a:ext cx="1218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心态建设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9157948" y="3622261"/>
            <a:ext cx="2602251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推行 “丢单复盘会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成功案例墙” 双驱动，每周公示 “韧性之星” 激励正向循环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6" name="箭头: V 形 245"/>
          <p:cNvSpPr/>
          <p:nvPr/>
        </p:nvSpPr>
        <p:spPr>
          <a:xfrm>
            <a:off x="9556686" y="4847942"/>
            <a:ext cx="1582234" cy="418720"/>
          </a:xfrm>
          <a:prstGeom prst="chevron">
            <a:avLst>
              <a:gd name="adj" fmla="val 273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9501336" y="4868759"/>
            <a:ext cx="1736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结论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8" name="箭头: V 形 247"/>
          <p:cNvSpPr/>
          <p:nvPr/>
        </p:nvSpPr>
        <p:spPr>
          <a:xfrm>
            <a:off x="9049925" y="4847942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9" name="箭头: V 形 248"/>
          <p:cNvSpPr/>
          <p:nvPr/>
        </p:nvSpPr>
        <p:spPr>
          <a:xfrm>
            <a:off x="11059255" y="4847942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1" name="直接连接符 250"/>
          <p:cNvCxnSpPr/>
          <p:nvPr/>
        </p:nvCxnSpPr>
        <p:spPr>
          <a:xfrm flipV="1">
            <a:off x="9157948" y="2134568"/>
            <a:ext cx="0" cy="72957"/>
          </a:xfrm>
          <a:prstGeom prst="line">
            <a:avLst/>
          </a:prstGeom>
          <a:ln w="635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 flipV="1">
            <a:off x="9157948" y="2820909"/>
            <a:ext cx="0" cy="72957"/>
          </a:xfrm>
          <a:prstGeom prst="line">
            <a:avLst/>
          </a:prstGeom>
          <a:ln w="635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flipV="1">
            <a:off x="9157948" y="3515455"/>
            <a:ext cx="0" cy="72957"/>
          </a:xfrm>
          <a:prstGeom prst="line">
            <a:avLst/>
          </a:prstGeom>
          <a:ln w="635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oogle Shape;5272;p76"/>
          <p:cNvGrpSpPr/>
          <p:nvPr/>
        </p:nvGrpSpPr>
        <p:grpSpPr>
          <a:xfrm>
            <a:off x="9246892" y="4907283"/>
            <a:ext cx="229292" cy="254232"/>
            <a:chOff x="3300325" y="249875"/>
            <a:chExt cx="433725" cy="480900"/>
          </a:xfrm>
          <a:solidFill>
            <a:schemeClr val="bg1"/>
          </a:solidFill>
        </p:grpSpPr>
        <p:sp>
          <p:nvSpPr>
            <p:cNvPr id="161" name="Google Shape;5273;p76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Google Shape;5274;p76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Google Shape;5275;p76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4" name="Google Shape;5276;p76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5" name="Google Shape;5277;p76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7" name="Google Shape;5278;p7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68" name="Google Shape;5272;p76"/>
          <p:cNvGrpSpPr/>
          <p:nvPr/>
        </p:nvGrpSpPr>
        <p:grpSpPr>
          <a:xfrm flipH="1">
            <a:off x="11243474" y="4907283"/>
            <a:ext cx="229292" cy="254232"/>
            <a:chOff x="3300325" y="249875"/>
            <a:chExt cx="433725" cy="480900"/>
          </a:xfrm>
          <a:solidFill>
            <a:schemeClr val="bg1"/>
          </a:solidFill>
        </p:grpSpPr>
        <p:sp>
          <p:nvSpPr>
            <p:cNvPr id="169" name="Google Shape;5273;p76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0" name="Google Shape;5274;p76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1" name="Google Shape;5275;p76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2" name="Google Shape;5276;p76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3" name="Google Shape;5277;p76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4" name="Google Shape;5278;p7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5" name="Google Shape;8219;p82"/>
          <p:cNvGrpSpPr/>
          <p:nvPr/>
        </p:nvGrpSpPr>
        <p:grpSpPr>
          <a:xfrm>
            <a:off x="9241240" y="1433397"/>
            <a:ext cx="243776" cy="241168"/>
            <a:chOff x="-5611575" y="3272950"/>
            <a:chExt cx="294600" cy="291450"/>
          </a:xfrm>
          <a:solidFill>
            <a:schemeClr val="bg1"/>
          </a:solidFill>
        </p:grpSpPr>
        <p:sp>
          <p:nvSpPr>
            <p:cNvPr id="176" name="Google Shape;8220;p82"/>
            <p:cNvSpPr/>
            <p:nvPr/>
          </p:nvSpPr>
          <p:spPr>
            <a:xfrm>
              <a:off x="-5594250" y="3273750"/>
              <a:ext cx="85875" cy="84300"/>
            </a:xfrm>
            <a:custGeom>
              <a:avLst/>
              <a:gdLst/>
              <a:ahLst/>
              <a:cxnLst/>
              <a:rect l="l" t="t" r="r" b="b"/>
              <a:pathLst>
                <a:path w="3435" h="3372" extrusionOk="0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7" name="Google Shape;8221;p82"/>
            <p:cNvSpPr/>
            <p:nvPr/>
          </p:nvSpPr>
          <p:spPr>
            <a:xfrm>
              <a:off x="-5457200" y="3324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8" name="Google Shape;8222;p82"/>
            <p:cNvSpPr/>
            <p:nvPr/>
          </p:nvSpPr>
          <p:spPr>
            <a:xfrm>
              <a:off x="-5415450" y="3325725"/>
              <a:ext cx="25225" cy="24450"/>
            </a:xfrm>
            <a:custGeom>
              <a:avLst/>
              <a:gdLst/>
              <a:ahLst/>
              <a:cxnLst/>
              <a:rect l="l" t="t" r="r" b="b"/>
              <a:pathLst>
                <a:path w="1009" h="978" extrusionOk="0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9" name="Google Shape;8223;p82"/>
            <p:cNvSpPr/>
            <p:nvPr/>
          </p:nvSpPr>
          <p:spPr>
            <a:xfrm>
              <a:off x="-5611575" y="3359600"/>
              <a:ext cx="118950" cy="204800"/>
            </a:xfrm>
            <a:custGeom>
              <a:avLst/>
              <a:gdLst/>
              <a:ahLst/>
              <a:cxnLst/>
              <a:rect l="l" t="t" r="r" b="b"/>
              <a:pathLst>
                <a:path w="4758" h="8192" extrusionOk="0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0" name="Google Shape;8224;p82"/>
            <p:cNvSpPr/>
            <p:nvPr/>
          </p:nvSpPr>
          <p:spPr>
            <a:xfrm>
              <a:off x="-5510750" y="3272950"/>
              <a:ext cx="193775" cy="187475"/>
            </a:xfrm>
            <a:custGeom>
              <a:avLst/>
              <a:gdLst/>
              <a:ahLst/>
              <a:cxnLst/>
              <a:rect l="l" t="t" r="r" b="b"/>
              <a:pathLst>
                <a:path w="7751" h="7499" extrusionOk="0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1" name="Google Shape;8219;p82"/>
          <p:cNvGrpSpPr/>
          <p:nvPr/>
        </p:nvGrpSpPr>
        <p:grpSpPr>
          <a:xfrm flipH="1">
            <a:off x="11228990" y="1433397"/>
            <a:ext cx="243776" cy="241168"/>
            <a:chOff x="-5611575" y="3272950"/>
            <a:chExt cx="294600" cy="291450"/>
          </a:xfrm>
          <a:solidFill>
            <a:schemeClr val="bg1"/>
          </a:solidFill>
        </p:grpSpPr>
        <p:sp>
          <p:nvSpPr>
            <p:cNvPr id="182" name="Google Shape;8220;p82"/>
            <p:cNvSpPr/>
            <p:nvPr/>
          </p:nvSpPr>
          <p:spPr>
            <a:xfrm>
              <a:off x="-5594250" y="3273750"/>
              <a:ext cx="85875" cy="84300"/>
            </a:xfrm>
            <a:custGeom>
              <a:avLst/>
              <a:gdLst/>
              <a:ahLst/>
              <a:cxnLst/>
              <a:rect l="l" t="t" r="r" b="b"/>
              <a:pathLst>
                <a:path w="3435" h="3372" extrusionOk="0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3" name="Google Shape;8221;p82"/>
            <p:cNvSpPr/>
            <p:nvPr/>
          </p:nvSpPr>
          <p:spPr>
            <a:xfrm>
              <a:off x="-5457200" y="3324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4" name="Google Shape;8222;p82"/>
            <p:cNvSpPr/>
            <p:nvPr/>
          </p:nvSpPr>
          <p:spPr>
            <a:xfrm>
              <a:off x="-5415450" y="3325725"/>
              <a:ext cx="25225" cy="24450"/>
            </a:xfrm>
            <a:custGeom>
              <a:avLst/>
              <a:gdLst/>
              <a:ahLst/>
              <a:cxnLst/>
              <a:rect l="l" t="t" r="r" b="b"/>
              <a:pathLst>
                <a:path w="1009" h="978" extrusionOk="0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Google Shape;8223;p82"/>
            <p:cNvSpPr/>
            <p:nvPr/>
          </p:nvSpPr>
          <p:spPr>
            <a:xfrm>
              <a:off x="-5611575" y="3359600"/>
              <a:ext cx="118950" cy="204800"/>
            </a:xfrm>
            <a:custGeom>
              <a:avLst/>
              <a:gdLst/>
              <a:ahLst/>
              <a:cxnLst/>
              <a:rect l="l" t="t" r="r" b="b"/>
              <a:pathLst>
                <a:path w="4758" h="8192" extrusionOk="0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6" name="Google Shape;8224;p82"/>
            <p:cNvSpPr/>
            <p:nvPr/>
          </p:nvSpPr>
          <p:spPr>
            <a:xfrm>
              <a:off x="-5510750" y="3272950"/>
              <a:ext cx="193775" cy="187475"/>
            </a:xfrm>
            <a:custGeom>
              <a:avLst/>
              <a:gdLst/>
              <a:ahLst/>
              <a:cxnLst/>
              <a:rect l="l" t="t" r="r" b="b"/>
              <a:pathLst>
                <a:path w="7751" h="7499" extrusionOk="0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87" name="直接连接符 186"/>
          <p:cNvCxnSpPr/>
          <p:nvPr/>
        </p:nvCxnSpPr>
        <p:spPr>
          <a:xfrm flipV="1">
            <a:off x="3715093" y="1612900"/>
            <a:ext cx="0" cy="72957"/>
          </a:xfrm>
          <a:prstGeom prst="line">
            <a:avLst/>
          </a:prstGeom>
          <a:ln w="635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任意多边形: 形状 187"/>
          <p:cNvSpPr/>
          <p:nvPr/>
        </p:nvSpPr>
        <p:spPr>
          <a:xfrm>
            <a:off x="3422650" y="1177925"/>
            <a:ext cx="2647950" cy="285750"/>
          </a:xfrm>
          <a:custGeom>
            <a:avLst/>
            <a:gdLst>
              <a:gd name="connsiteX0" fmla="*/ 0 w 2647950"/>
              <a:gd name="connsiteY0" fmla="*/ 285750 h 285750"/>
              <a:gd name="connsiteX1" fmla="*/ 1920875 w 2647950"/>
              <a:gd name="connsiteY1" fmla="*/ 285750 h 285750"/>
              <a:gd name="connsiteX2" fmla="*/ 2206625 w 2647950"/>
              <a:gd name="connsiteY2" fmla="*/ 0 h 285750"/>
              <a:gd name="connsiteX3" fmla="*/ 2647950 w 264795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7950" h="285750">
                <a:moveTo>
                  <a:pt x="0" y="285750"/>
                </a:moveTo>
                <a:lnTo>
                  <a:pt x="1920875" y="285750"/>
                </a:lnTo>
                <a:lnTo>
                  <a:pt x="2206625" y="0"/>
                </a:lnTo>
                <a:lnTo>
                  <a:pt x="2647950" y="0"/>
                </a:lnTo>
              </a:path>
            </a:pathLst>
          </a:custGeom>
          <a:noFill/>
          <a:ln w="95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29000">
                  <a:schemeClr val="accent1"/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9" name="任意多边形: 形状 188"/>
          <p:cNvSpPr/>
          <p:nvPr/>
        </p:nvSpPr>
        <p:spPr>
          <a:xfrm>
            <a:off x="3422650" y="3006716"/>
            <a:ext cx="2647950" cy="285750"/>
          </a:xfrm>
          <a:custGeom>
            <a:avLst/>
            <a:gdLst>
              <a:gd name="connsiteX0" fmla="*/ 0 w 2647950"/>
              <a:gd name="connsiteY0" fmla="*/ 285750 h 285750"/>
              <a:gd name="connsiteX1" fmla="*/ 1920875 w 2647950"/>
              <a:gd name="connsiteY1" fmla="*/ 285750 h 285750"/>
              <a:gd name="connsiteX2" fmla="*/ 2206625 w 2647950"/>
              <a:gd name="connsiteY2" fmla="*/ 0 h 285750"/>
              <a:gd name="connsiteX3" fmla="*/ 2647950 w 264795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7950" h="285750">
                <a:moveTo>
                  <a:pt x="0" y="285750"/>
                </a:moveTo>
                <a:lnTo>
                  <a:pt x="1920875" y="285750"/>
                </a:lnTo>
                <a:lnTo>
                  <a:pt x="2206625" y="0"/>
                </a:lnTo>
                <a:lnTo>
                  <a:pt x="2647950" y="0"/>
                </a:lnTo>
              </a:path>
            </a:pathLst>
          </a:custGeom>
          <a:noFill/>
          <a:ln w="9525">
            <a:gradFill flip="none" rotWithShape="1">
              <a:gsLst>
                <a:gs pos="0">
                  <a:schemeClr val="tx2">
                    <a:alpha val="0"/>
                  </a:schemeClr>
                </a:gs>
                <a:gs pos="29000">
                  <a:schemeClr val="tx2"/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90" name="直接连接符 189"/>
          <p:cNvCxnSpPr/>
          <p:nvPr/>
        </p:nvCxnSpPr>
        <p:spPr>
          <a:xfrm flipV="1">
            <a:off x="3715093" y="2080595"/>
            <a:ext cx="0" cy="72957"/>
          </a:xfrm>
          <a:prstGeom prst="line">
            <a:avLst/>
          </a:prstGeom>
          <a:ln w="635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flipV="1">
            <a:off x="3715093" y="3588412"/>
            <a:ext cx="0" cy="72957"/>
          </a:xfrm>
          <a:prstGeom prst="line">
            <a:avLst/>
          </a:prstGeom>
          <a:ln w="635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flipV="1">
            <a:off x="3715093" y="4318662"/>
            <a:ext cx="0" cy="72957"/>
          </a:xfrm>
          <a:prstGeom prst="line">
            <a:avLst/>
          </a:prstGeom>
          <a:ln w="635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flipV="1">
            <a:off x="3715093" y="4899687"/>
            <a:ext cx="0" cy="72957"/>
          </a:xfrm>
          <a:prstGeom prst="line">
            <a:avLst/>
          </a:prstGeom>
          <a:ln w="635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梯形 193"/>
          <p:cNvSpPr/>
          <p:nvPr/>
        </p:nvSpPr>
        <p:spPr>
          <a:xfrm flipV="1">
            <a:off x="3422766" y="5781013"/>
            <a:ext cx="1698610" cy="776086"/>
          </a:xfrm>
          <a:prstGeom prst="trapezoid">
            <a:avLst>
              <a:gd name="adj" fmla="val 38091"/>
            </a:avLst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9" name="梯形 218"/>
          <p:cNvSpPr/>
          <p:nvPr/>
        </p:nvSpPr>
        <p:spPr>
          <a:xfrm flipV="1">
            <a:off x="5196553" y="5781013"/>
            <a:ext cx="1698610" cy="776086"/>
          </a:xfrm>
          <a:prstGeom prst="trapezoid">
            <a:avLst>
              <a:gd name="adj" fmla="val 38091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0" name="梯形 219"/>
          <p:cNvSpPr/>
          <p:nvPr/>
        </p:nvSpPr>
        <p:spPr>
          <a:xfrm flipV="1">
            <a:off x="6970340" y="5781013"/>
            <a:ext cx="1698610" cy="776086"/>
          </a:xfrm>
          <a:prstGeom prst="trapezoid">
            <a:avLst>
              <a:gd name="adj" fmla="val 38091"/>
            </a:avLst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3681781" y="5975492"/>
            <a:ext cx="1204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能力诊断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5468328" y="5975492"/>
            <a:ext cx="1204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落地节奏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7254875" y="5975492"/>
            <a:ext cx="1204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风险预判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等腰三角形 256"/>
          <p:cNvSpPr/>
          <p:nvPr/>
        </p:nvSpPr>
        <p:spPr>
          <a:xfrm>
            <a:off x="4996906" y="5872223"/>
            <a:ext cx="314558" cy="426977"/>
          </a:xfrm>
          <a:prstGeom prst="triangle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8" name="梯形 257"/>
          <p:cNvSpPr/>
          <p:nvPr/>
        </p:nvSpPr>
        <p:spPr>
          <a:xfrm>
            <a:off x="4906141" y="6334074"/>
            <a:ext cx="499770" cy="223024"/>
          </a:xfrm>
          <a:prstGeom prst="trapezoid">
            <a:avLst>
              <a:gd name="adj" fmla="val 38091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9" name="等腰三角形 258"/>
          <p:cNvSpPr/>
          <p:nvPr/>
        </p:nvSpPr>
        <p:spPr>
          <a:xfrm>
            <a:off x="6770693" y="5872223"/>
            <a:ext cx="314558" cy="426977"/>
          </a:xfrm>
          <a:prstGeom prst="triangle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0" name="梯形 259"/>
          <p:cNvSpPr/>
          <p:nvPr/>
        </p:nvSpPr>
        <p:spPr>
          <a:xfrm>
            <a:off x="6679928" y="6334074"/>
            <a:ext cx="499770" cy="223024"/>
          </a:xfrm>
          <a:prstGeom prst="trapezoid">
            <a:avLst>
              <a:gd name="adj" fmla="val 38091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7355644" y="1057726"/>
            <a:ext cx="1313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30%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7355644" y="2829064"/>
            <a:ext cx="1313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70%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66" name="组合 265"/>
          <p:cNvGrpSpPr/>
          <p:nvPr/>
        </p:nvGrpSpPr>
        <p:grpSpPr>
          <a:xfrm>
            <a:off x="7124298" y="2914764"/>
            <a:ext cx="217890" cy="469654"/>
            <a:chOff x="3653621" y="1178195"/>
            <a:chExt cx="117350" cy="252944"/>
          </a:xfrm>
        </p:grpSpPr>
        <p:sp>
          <p:nvSpPr>
            <p:cNvPr id="267" name="等腰三角形 266"/>
            <p:cNvSpPr/>
            <p:nvPr/>
          </p:nvSpPr>
          <p:spPr>
            <a:xfrm>
              <a:off x="3653621" y="1178195"/>
              <a:ext cx="117350" cy="119254"/>
            </a:xfrm>
            <a:prstGeom prst="triangl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8" name="等腰三角形 267"/>
            <p:cNvSpPr/>
            <p:nvPr/>
          </p:nvSpPr>
          <p:spPr>
            <a:xfrm flipV="1">
              <a:off x="3653621" y="1311885"/>
              <a:ext cx="117350" cy="11925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892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数据图表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矩形: 圆顶角 6"/>
          <p:cNvSpPr/>
          <p:nvPr/>
        </p:nvSpPr>
        <p:spPr>
          <a:xfrm>
            <a:off x="1165633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矩形: 圆顶角 7"/>
          <p:cNvSpPr/>
          <p:nvPr/>
        </p:nvSpPr>
        <p:spPr>
          <a:xfrm>
            <a:off x="3862985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顶角 8"/>
          <p:cNvSpPr/>
          <p:nvPr/>
        </p:nvSpPr>
        <p:spPr>
          <a:xfrm>
            <a:off x="6560337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顶角 12"/>
          <p:cNvSpPr/>
          <p:nvPr/>
        </p:nvSpPr>
        <p:spPr>
          <a:xfrm>
            <a:off x="9257690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矩形: 圆顶角 14"/>
          <p:cNvSpPr/>
          <p:nvPr/>
        </p:nvSpPr>
        <p:spPr>
          <a:xfrm flipV="1">
            <a:off x="1165633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165633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顶角 25"/>
          <p:cNvSpPr/>
          <p:nvPr/>
        </p:nvSpPr>
        <p:spPr>
          <a:xfrm rot="16200000">
            <a:off x="-108209" y="3012406"/>
            <a:ext cx="1736723" cy="810960"/>
          </a:xfrm>
          <a:prstGeom prst="round2SameRect">
            <a:avLst>
              <a:gd name="adj1" fmla="val 8812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25" name="直接连接符 224"/>
          <p:cNvCxnSpPr/>
          <p:nvPr/>
        </p:nvCxnSpPr>
        <p:spPr>
          <a:xfrm>
            <a:off x="1165633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矩形: 圆顶角 226"/>
          <p:cNvSpPr/>
          <p:nvPr/>
        </p:nvSpPr>
        <p:spPr>
          <a:xfrm rot="16200000">
            <a:off x="388678" y="4442745"/>
            <a:ext cx="742950" cy="810960"/>
          </a:xfrm>
          <a:prstGeom prst="round2SameRect">
            <a:avLst>
              <a:gd name="adj1" fmla="val 8812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0" name="矩形: 圆顶角 239"/>
          <p:cNvSpPr/>
          <p:nvPr/>
        </p:nvSpPr>
        <p:spPr>
          <a:xfrm rot="16200000">
            <a:off x="388678" y="5420646"/>
            <a:ext cx="742949" cy="810960"/>
          </a:xfrm>
          <a:prstGeom prst="round2SameRect">
            <a:avLst>
              <a:gd name="adj1" fmla="val 8812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1" name="矩形: 圆顶角 240"/>
          <p:cNvSpPr/>
          <p:nvPr/>
        </p:nvSpPr>
        <p:spPr>
          <a:xfrm flipV="1">
            <a:off x="3862985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0" name="直接连接符 249"/>
          <p:cNvCxnSpPr/>
          <p:nvPr/>
        </p:nvCxnSpPr>
        <p:spPr>
          <a:xfrm>
            <a:off x="3862985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/>
          <p:nvPr/>
        </p:nvCxnSpPr>
        <p:spPr>
          <a:xfrm>
            <a:off x="3862985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矩形: 圆顶角 252"/>
          <p:cNvSpPr/>
          <p:nvPr/>
        </p:nvSpPr>
        <p:spPr>
          <a:xfrm flipV="1">
            <a:off x="6560337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63" name="直接连接符 262"/>
          <p:cNvCxnSpPr/>
          <p:nvPr/>
        </p:nvCxnSpPr>
        <p:spPr>
          <a:xfrm>
            <a:off x="6560337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>
            <a:off x="6560337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矩形: 圆顶角 264"/>
          <p:cNvSpPr/>
          <p:nvPr/>
        </p:nvSpPr>
        <p:spPr>
          <a:xfrm flipV="1">
            <a:off x="9257689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69" name="直接连接符 268"/>
          <p:cNvCxnSpPr/>
          <p:nvPr/>
        </p:nvCxnSpPr>
        <p:spPr>
          <a:xfrm>
            <a:off x="9257689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>
            <a:off x="9257689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文本框 270"/>
          <p:cNvSpPr txBox="1"/>
          <p:nvPr/>
        </p:nvSpPr>
        <p:spPr>
          <a:xfrm>
            <a:off x="1400175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2436890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A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6" name="梯形 275"/>
          <p:cNvSpPr/>
          <p:nvPr/>
        </p:nvSpPr>
        <p:spPr>
          <a:xfrm flipV="1">
            <a:off x="2549679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2606829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椭圆 277"/>
          <p:cNvSpPr/>
          <p:nvPr/>
        </p:nvSpPr>
        <p:spPr>
          <a:xfrm>
            <a:off x="2558291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椭圆 278"/>
          <p:cNvSpPr/>
          <p:nvPr/>
        </p:nvSpPr>
        <p:spPr>
          <a:xfrm flipH="1">
            <a:off x="2511395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椭圆 279"/>
          <p:cNvSpPr/>
          <p:nvPr/>
        </p:nvSpPr>
        <p:spPr>
          <a:xfrm flipH="1">
            <a:off x="2351563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椭圆 280"/>
          <p:cNvSpPr/>
          <p:nvPr/>
        </p:nvSpPr>
        <p:spPr>
          <a:xfrm flipH="1">
            <a:off x="2101743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4092150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5128865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B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1" name="梯形 290"/>
          <p:cNvSpPr/>
          <p:nvPr/>
        </p:nvSpPr>
        <p:spPr>
          <a:xfrm flipV="1">
            <a:off x="5241654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椭圆 291"/>
          <p:cNvSpPr/>
          <p:nvPr/>
        </p:nvSpPr>
        <p:spPr>
          <a:xfrm>
            <a:off x="5298804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椭圆 292"/>
          <p:cNvSpPr/>
          <p:nvPr/>
        </p:nvSpPr>
        <p:spPr>
          <a:xfrm>
            <a:off x="5250266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4" name="椭圆 293"/>
          <p:cNvSpPr/>
          <p:nvPr/>
        </p:nvSpPr>
        <p:spPr>
          <a:xfrm flipH="1">
            <a:off x="5203370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椭圆 294"/>
          <p:cNvSpPr/>
          <p:nvPr/>
        </p:nvSpPr>
        <p:spPr>
          <a:xfrm flipH="1">
            <a:off x="5043538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6" name="椭圆 295"/>
          <p:cNvSpPr/>
          <p:nvPr/>
        </p:nvSpPr>
        <p:spPr>
          <a:xfrm flipH="1">
            <a:off x="4793718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6784125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820840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C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0" name="梯形 299"/>
          <p:cNvSpPr/>
          <p:nvPr/>
        </p:nvSpPr>
        <p:spPr>
          <a:xfrm flipV="1">
            <a:off x="7933629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1" name="椭圆 300"/>
          <p:cNvSpPr/>
          <p:nvPr/>
        </p:nvSpPr>
        <p:spPr>
          <a:xfrm>
            <a:off x="7990779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2" name="椭圆 301"/>
          <p:cNvSpPr/>
          <p:nvPr/>
        </p:nvSpPr>
        <p:spPr>
          <a:xfrm>
            <a:off x="7942241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3" name="椭圆 302"/>
          <p:cNvSpPr/>
          <p:nvPr/>
        </p:nvSpPr>
        <p:spPr>
          <a:xfrm flipH="1">
            <a:off x="7895345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4" name="椭圆 303"/>
          <p:cNvSpPr/>
          <p:nvPr/>
        </p:nvSpPr>
        <p:spPr>
          <a:xfrm flipH="1">
            <a:off x="7735513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5" name="椭圆 304"/>
          <p:cNvSpPr/>
          <p:nvPr/>
        </p:nvSpPr>
        <p:spPr>
          <a:xfrm flipH="1">
            <a:off x="7485693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9476099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10512814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D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9" name="梯形 308"/>
          <p:cNvSpPr/>
          <p:nvPr/>
        </p:nvSpPr>
        <p:spPr>
          <a:xfrm flipV="1">
            <a:off x="10625603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0" name="椭圆 309"/>
          <p:cNvSpPr/>
          <p:nvPr/>
        </p:nvSpPr>
        <p:spPr>
          <a:xfrm>
            <a:off x="10682753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1" name="椭圆 310"/>
          <p:cNvSpPr/>
          <p:nvPr/>
        </p:nvSpPr>
        <p:spPr>
          <a:xfrm>
            <a:off x="10634215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2" name="椭圆 311"/>
          <p:cNvSpPr/>
          <p:nvPr/>
        </p:nvSpPr>
        <p:spPr>
          <a:xfrm flipH="1">
            <a:off x="10587319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3" name="椭圆 312"/>
          <p:cNvSpPr/>
          <p:nvPr/>
        </p:nvSpPr>
        <p:spPr>
          <a:xfrm flipH="1">
            <a:off x="10427487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4" name="椭圆 313"/>
          <p:cNvSpPr/>
          <p:nvPr/>
        </p:nvSpPr>
        <p:spPr>
          <a:xfrm flipH="1">
            <a:off x="10177667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aphicFrame>
        <p:nvGraphicFramePr>
          <p:cNvPr id="317" name="图表 316"/>
          <p:cNvGraphicFramePr/>
          <p:nvPr/>
        </p:nvGraphicFramePr>
        <p:xfrm>
          <a:off x="1217175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18" name="图表 317"/>
          <p:cNvGraphicFramePr/>
          <p:nvPr/>
        </p:nvGraphicFramePr>
        <p:xfrm>
          <a:off x="3917276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9" name="图表 318"/>
          <p:cNvGraphicFramePr/>
          <p:nvPr/>
        </p:nvGraphicFramePr>
        <p:xfrm>
          <a:off x="6617377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0" name="图表 319"/>
          <p:cNvGraphicFramePr/>
          <p:nvPr/>
        </p:nvGraphicFramePr>
        <p:xfrm>
          <a:off x="9317478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1" name="文本框 320"/>
          <p:cNvSpPr txBox="1"/>
          <p:nvPr/>
        </p:nvSpPr>
        <p:spPr>
          <a:xfrm>
            <a:off x="202940" y="3048554"/>
            <a:ext cx="1114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全年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202940" y="4592085"/>
            <a:ext cx="1114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完成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7" name="箭头: 五边形 326"/>
          <p:cNvSpPr/>
          <p:nvPr/>
        </p:nvSpPr>
        <p:spPr>
          <a:xfrm>
            <a:off x="1483018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8" name="箭头: 五边形 327"/>
          <p:cNvSpPr/>
          <p:nvPr/>
        </p:nvSpPr>
        <p:spPr>
          <a:xfrm>
            <a:off x="1483019" y="4830688"/>
            <a:ext cx="614392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1400175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0069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箭头: 五边形 4"/>
          <p:cNvSpPr/>
          <p:nvPr/>
        </p:nvSpPr>
        <p:spPr>
          <a:xfrm>
            <a:off x="4174993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箭头: 五边形 5"/>
          <p:cNvSpPr/>
          <p:nvPr/>
        </p:nvSpPr>
        <p:spPr>
          <a:xfrm>
            <a:off x="4174994" y="4830688"/>
            <a:ext cx="686418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92150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62044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箭头: 五边形 228"/>
          <p:cNvSpPr/>
          <p:nvPr/>
        </p:nvSpPr>
        <p:spPr>
          <a:xfrm>
            <a:off x="6866968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箭头: 五边形 229"/>
          <p:cNvSpPr/>
          <p:nvPr/>
        </p:nvSpPr>
        <p:spPr>
          <a:xfrm>
            <a:off x="6866969" y="4830688"/>
            <a:ext cx="566341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6784125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22%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6754019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4" name="箭头: 五边形 233"/>
          <p:cNvSpPr/>
          <p:nvPr/>
        </p:nvSpPr>
        <p:spPr>
          <a:xfrm>
            <a:off x="9558942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5" name="箭头: 五边形 234"/>
          <p:cNvSpPr/>
          <p:nvPr/>
        </p:nvSpPr>
        <p:spPr>
          <a:xfrm>
            <a:off x="9558943" y="4830688"/>
            <a:ext cx="572482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9476099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23%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9445993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202940" y="5562862"/>
            <a:ext cx="1114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总结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1405543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月起势佳，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2-3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月下滑。加速春季新品，借平台推老客福利，提后续目标达成率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4053119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月低迷、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月冲高，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月断层。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月内容蓄水，社裙设互动日，稳季度目标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6753160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7-8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月平稳，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月失节点。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月借开学、中秋推满减，联动达人，追目标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453200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月平淡，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11-12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月借势增长。推打卡福利、周边组合，破节点依赖，冲目标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柱体 18"/>
          <p:cNvSpPr/>
          <p:nvPr/>
        </p:nvSpPr>
        <p:spPr>
          <a:xfrm rot="16200000">
            <a:off x="3361127" y="-1374191"/>
            <a:ext cx="5273674" cy="10129117"/>
          </a:xfrm>
          <a:prstGeom prst="can">
            <a:avLst>
              <a:gd name="adj" fmla="val 9469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1069" y="200526"/>
            <a:ext cx="3232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细分图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任意多边形: 形状 229"/>
          <p:cNvSpPr/>
          <p:nvPr/>
        </p:nvSpPr>
        <p:spPr bwMode="auto">
          <a:xfrm>
            <a:off x="1679734" y="6143138"/>
            <a:ext cx="8804116" cy="174542"/>
          </a:xfrm>
          <a:custGeom>
            <a:avLst/>
            <a:gdLst>
              <a:gd name="connsiteX0" fmla="*/ 88735 w 9719767"/>
              <a:gd name="connsiteY0" fmla="*/ 0 h 174542"/>
              <a:gd name="connsiteX1" fmla="*/ 9719767 w 9719767"/>
              <a:gd name="connsiteY1" fmla="*/ 0 h 174542"/>
              <a:gd name="connsiteX2" fmla="*/ 9705282 w 9719767"/>
              <a:gd name="connsiteY2" fmla="*/ 56001 h 174542"/>
              <a:gd name="connsiteX3" fmla="*/ 9631032 w 9719767"/>
              <a:gd name="connsiteY3" fmla="*/ 174542 h 174542"/>
              <a:gd name="connsiteX4" fmla="*/ 0 w 9719767"/>
              <a:gd name="connsiteY4" fmla="*/ 174542 h 174542"/>
              <a:gd name="connsiteX5" fmla="*/ 74250 w 9719767"/>
              <a:gd name="connsiteY5" fmla="*/ 56001 h 174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19767" h="174542">
                <a:moveTo>
                  <a:pt x="88735" y="0"/>
                </a:moveTo>
                <a:lnTo>
                  <a:pt x="9719767" y="0"/>
                </a:lnTo>
                <a:lnTo>
                  <a:pt x="9705282" y="56001"/>
                </a:lnTo>
                <a:cubicBezTo>
                  <a:pt x="9681831" y="133041"/>
                  <a:pt x="9656894" y="174542"/>
                  <a:pt x="9631032" y="174542"/>
                </a:cubicBezTo>
                <a:lnTo>
                  <a:pt x="0" y="174542"/>
                </a:lnTo>
                <a:cubicBezTo>
                  <a:pt x="25862" y="174542"/>
                  <a:pt x="50799" y="133041"/>
                  <a:pt x="74250" y="56001"/>
                </a:cubicBez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任意多边形: 形状 230"/>
          <p:cNvSpPr/>
          <p:nvPr/>
        </p:nvSpPr>
        <p:spPr bwMode="auto">
          <a:xfrm flipV="1">
            <a:off x="1679734" y="1058843"/>
            <a:ext cx="8804116" cy="174542"/>
          </a:xfrm>
          <a:custGeom>
            <a:avLst/>
            <a:gdLst>
              <a:gd name="connsiteX0" fmla="*/ 88735 w 9719767"/>
              <a:gd name="connsiteY0" fmla="*/ 0 h 174542"/>
              <a:gd name="connsiteX1" fmla="*/ 9719767 w 9719767"/>
              <a:gd name="connsiteY1" fmla="*/ 0 h 174542"/>
              <a:gd name="connsiteX2" fmla="*/ 9705282 w 9719767"/>
              <a:gd name="connsiteY2" fmla="*/ 56001 h 174542"/>
              <a:gd name="connsiteX3" fmla="*/ 9631032 w 9719767"/>
              <a:gd name="connsiteY3" fmla="*/ 174542 h 174542"/>
              <a:gd name="connsiteX4" fmla="*/ 0 w 9719767"/>
              <a:gd name="connsiteY4" fmla="*/ 174542 h 174542"/>
              <a:gd name="connsiteX5" fmla="*/ 74250 w 9719767"/>
              <a:gd name="connsiteY5" fmla="*/ 56001 h 174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19767" h="174542">
                <a:moveTo>
                  <a:pt x="88735" y="0"/>
                </a:moveTo>
                <a:lnTo>
                  <a:pt x="9719767" y="0"/>
                </a:lnTo>
                <a:lnTo>
                  <a:pt x="9705282" y="56001"/>
                </a:lnTo>
                <a:cubicBezTo>
                  <a:pt x="9681831" y="133041"/>
                  <a:pt x="9656894" y="174542"/>
                  <a:pt x="9631032" y="174542"/>
                </a:cubicBezTo>
                <a:lnTo>
                  <a:pt x="0" y="174542"/>
                </a:lnTo>
                <a:cubicBezTo>
                  <a:pt x="25862" y="174542"/>
                  <a:pt x="50799" y="133041"/>
                  <a:pt x="74250" y="56001"/>
                </a:cubicBez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任意多边形: 形状 15"/>
          <p:cNvSpPr/>
          <p:nvPr/>
        </p:nvSpPr>
        <p:spPr bwMode="auto">
          <a:xfrm flipH="1">
            <a:off x="-8953979" y="1053532"/>
            <a:ext cx="10884763" cy="5273675"/>
          </a:xfrm>
          <a:custGeom>
            <a:avLst/>
            <a:gdLst>
              <a:gd name="connsiteX0" fmla="*/ 0 w 10884763"/>
              <a:gd name="connsiteY0" fmla="*/ 0 h 5273675"/>
              <a:gd name="connsiteX1" fmla="*/ 1181100 w 10884763"/>
              <a:gd name="connsiteY1" fmla="*/ 0 h 5273675"/>
              <a:gd name="connsiteX2" fmla="*/ 1494660 w 10884763"/>
              <a:gd name="connsiteY2" fmla="*/ 2636647 h 5273675"/>
              <a:gd name="connsiteX3" fmla="*/ 1181100 w 10884763"/>
              <a:gd name="connsiteY3" fmla="*/ 5273294 h 5273675"/>
              <a:gd name="connsiteX4" fmla="*/ 10884763 w 10884763"/>
              <a:gd name="connsiteY4" fmla="*/ 5273634 h 5273675"/>
              <a:gd name="connsiteX5" fmla="*/ 10884666 w 10884763"/>
              <a:gd name="connsiteY5" fmla="*/ 5273675 h 5273675"/>
              <a:gd name="connsiteX6" fmla="*/ 0 w 10884763"/>
              <a:gd name="connsiteY6" fmla="*/ 5273294 h 5273675"/>
              <a:gd name="connsiteX7" fmla="*/ 313560 w 10884763"/>
              <a:gd name="connsiteY7" fmla="*/ 2636647 h 5273675"/>
              <a:gd name="connsiteX8" fmla="*/ 0 w 10884763"/>
              <a:gd name="connsiteY8" fmla="*/ 0 h 527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84763" h="5273675">
                <a:moveTo>
                  <a:pt x="0" y="0"/>
                </a:moveTo>
                <a:lnTo>
                  <a:pt x="1181100" y="0"/>
                </a:lnTo>
                <a:cubicBezTo>
                  <a:pt x="1354072" y="0"/>
                  <a:pt x="1494660" y="1180776"/>
                  <a:pt x="1494660" y="2636647"/>
                </a:cubicBezTo>
                <a:cubicBezTo>
                  <a:pt x="1494660" y="4092899"/>
                  <a:pt x="1354072" y="5273294"/>
                  <a:pt x="1181100" y="5273294"/>
                </a:cubicBezTo>
                <a:lnTo>
                  <a:pt x="10884763" y="5273634"/>
                </a:lnTo>
                <a:lnTo>
                  <a:pt x="10884666" y="5273675"/>
                </a:lnTo>
                <a:lnTo>
                  <a:pt x="0" y="5273294"/>
                </a:lnTo>
                <a:cubicBezTo>
                  <a:pt x="172972" y="5273294"/>
                  <a:pt x="313560" y="4092899"/>
                  <a:pt x="313560" y="2636647"/>
                </a:cubicBezTo>
                <a:cubicBezTo>
                  <a:pt x="313560" y="1180776"/>
                  <a:pt x="172972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37" name="直接连接符 236"/>
          <p:cNvCxnSpPr>
            <a:stCxn id="16" idx="7"/>
            <a:endCxn id="13" idx="7"/>
          </p:cNvCxnSpPr>
          <p:nvPr/>
        </p:nvCxnSpPr>
        <p:spPr>
          <a:xfrm>
            <a:off x="1617224" y="3690179"/>
            <a:ext cx="8988451" cy="0"/>
          </a:xfrm>
          <a:prstGeom prst="line">
            <a:avLst/>
          </a:prstGeom>
          <a:ln>
            <a:solidFill>
              <a:schemeClr val="tx1">
                <a:alpha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椭圆 237"/>
          <p:cNvSpPr/>
          <p:nvPr/>
        </p:nvSpPr>
        <p:spPr>
          <a:xfrm>
            <a:off x="2046077" y="1790699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营收额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6" name="直接连接符 255"/>
          <p:cNvCxnSpPr>
            <a:stCxn id="16" idx="2"/>
            <a:endCxn id="16" idx="7"/>
          </p:cNvCxnSpPr>
          <p:nvPr/>
        </p:nvCxnSpPr>
        <p:spPr>
          <a:xfrm>
            <a:off x="436124" y="3690179"/>
            <a:ext cx="11811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>
            <a:off x="5997964" y="1423851"/>
            <a:ext cx="0" cy="2103120"/>
          </a:xfrm>
          <a:prstGeom prst="line">
            <a:avLst/>
          </a:prstGeom>
          <a:ln w="635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>
            <a:off x="5997964" y="3879668"/>
            <a:ext cx="0" cy="2103120"/>
          </a:xfrm>
          <a:prstGeom prst="line">
            <a:avLst/>
          </a:prstGeom>
          <a:ln w="635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文本框 265"/>
          <p:cNvSpPr txBox="1"/>
          <p:nvPr/>
        </p:nvSpPr>
        <p:spPr>
          <a:xfrm rot="5560191">
            <a:off x="117939" y="2166719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Down">
              <a:avLst>
                <a:gd name="adj" fmla="val 12366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企业运营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8" name="文本框 267"/>
          <p:cNvSpPr txBox="1"/>
          <p:nvPr/>
        </p:nvSpPr>
        <p:spPr>
          <a:xfrm rot="5173622">
            <a:off x="117939" y="4700396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Dow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项目管理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9" name="椭圆 268"/>
          <p:cNvSpPr/>
          <p:nvPr/>
        </p:nvSpPr>
        <p:spPr>
          <a:xfrm>
            <a:off x="3024122" y="142385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利润率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0" name="椭圆 269"/>
          <p:cNvSpPr/>
          <p:nvPr/>
        </p:nvSpPr>
        <p:spPr>
          <a:xfrm>
            <a:off x="3511800" y="239755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椭圆 270"/>
          <p:cNvSpPr/>
          <p:nvPr/>
        </p:nvSpPr>
        <p:spPr>
          <a:xfrm>
            <a:off x="4700775" y="2767657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4921882" y="1781686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成本控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椭圆 272"/>
          <p:cNvSpPr/>
          <p:nvPr/>
        </p:nvSpPr>
        <p:spPr>
          <a:xfrm>
            <a:off x="4264415" y="1759988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椭圆 273"/>
          <p:cNvSpPr/>
          <p:nvPr/>
        </p:nvSpPr>
        <p:spPr>
          <a:xfrm>
            <a:off x="2501204" y="2935287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椭圆 274"/>
          <p:cNvSpPr/>
          <p:nvPr/>
        </p:nvSpPr>
        <p:spPr>
          <a:xfrm>
            <a:off x="8506796" y="175779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营销投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6" name="椭圆 275"/>
          <p:cNvSpPr/>
          <p:nvPr/>
        </p:nvSpPr>
        <p:spPr>
          <a:xfrm>
            <a:off x="7535854" y="150743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客裙画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8023532" y="248113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竞品优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椭圆 277"/>
          <p:cNvSpPr/>
          <p:nvPr/>
        </p:nvSpPr>
        <p:spPr>
          <a:xfrm>
            <a:off x="9212507" y="2851236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增长率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椭圆 278"/>
          <p:cNvSpPr/>
          <p:nvPr/>
        </p:nvSpPr>
        <p:spPr>
          <a:xfrm>
            <a:off x="9433614" y="1865265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占有率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椭圆 279"/>
          <p:cNvSpPr/>
          <p:nvPr/>
        </p:nvSpPr>
        <p:spPr>
          <a:xfrm>
            <a:off x="6386542" y="3047300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椭圆 280"/>
          <p:cNvSpPr/>
          <p:nvPr/>
        </p:nvSpPr>
        <p:spPr>
          <a:xfrm>
            <a:off x="10279262" y="2859859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2" name="椭圆 281"/>
          <p:cNvSpPr/>
          <p:nvPr/>
        </p:nvSpPr>
        <p:spPr>
          <a:xfrm>
            <a:off x="2073898" y="4299072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进度条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3" name="椭圆 282"/>
          <p:cNvSpPr/>
          <p:nvPr/>
        </p:nvSpPr>
        <p:spPr>
          <a:xfrm>
            <a:off x="3547154" y="398570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风险点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4" name="椭圆 283"/>
          <p:cNvSpPr/>
          <p:nvPr/>
        </p:nvSpPr>
        <p:spPr>
          <a:xfrm>
            <a:off x="3927347" y="5151713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5" name="椭圆 284"/>
          <p:cNvSpPr/>
          <p:nvPr/>
        </p:nvSpPr>
        <p:spPr>
          <a:xfrm>
            <a:off x="2795571" y="4786962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质量分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6" name="椭圆 285"/>
          <p:cNvSpPr/>
          <p:nvPr/>
        </p:nvSpPr>
        <p:spPr>
          <a:xfrm>
            <a:off x="4949703" y="4290059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里程碑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7" name="椭圆 286"/>
          <p:cNvSpPr/>
          <p:nvPr/>
        </p:nvSpPr>
        <p:spPr>
          <a:xfrm>
            <a:off x="4178040" y="4630869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8" name="椭圆 287"/>
          <p:cNvSpPr/>
          <p:nvPr/>
        </p:nvSpPr>
        <p:spPr>
          <a:xfrm>
            <a:off x="5127583" y="5270126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椭圆 288"/>
          <p:cNvSpPr/>
          <p:nvPr/>
        </p:nvSpPr>
        <p:spPr>
          <a:xfrm>
            <a:off x="9718319" y="4064009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访问量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0" name="椭圆 289"/>
          <p:cNvSpPr/>
          <p:nvPr/>
        </p:nvSpPr>
        <p:spPr>
          <a:xfrm>
            <a:off x="6602088" y="505896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活跃度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1" name="椭圆 290"/>
          <p:cNvSpPr/>
          <p:nvPr/>
        </p:nvSpPr>
        <p:spPr>
          <a:xfrm>
            <a:off x="7961597" y="4905924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转化率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椭圆 291"/>
          <p:cNvSpPr/>
          <p:nvPr/>
        </p:nvSpPr>
        <p:spPr>
          <a:xfrm>
            <a:off x="9150572" y="527603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响应时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椭圆 292"/>
          <p:cNvSpPr/>
          <p:nvPr/>
        </p:nvSpPr>
        <p:spPr>
          <a:xfrm>
            <a:off x="7732862" y="400070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留存率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4" name="椭圆 293"/>
          <p:cNvSpPr/>
          <p:nvPr/>
        </p:nvSpPr>
        <p:spPr>
          <a:xfrm>
            <a:off x="6755150" y="4266106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椭圆 294"/>
          <p:cNvSpPr/>
          <p:nvPr/>
        </p:nvSpPr>
        <p:spPr>
          <a:xfrm>
            <a:off x="8837102" y="4675572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任意多边形: 形状 12"/>
          <p:cNvSpPr/>
          <p:nvPr/>
        </p:nvSpPr>
        <p:spPr bwMode="auto">
          <a:xfrm>
            <a:off x="10292115" y="1053532"/>
            <a:ext cx="10884763" cy="5273675"/>
          </a:xfrm>
          <a:custGeom>
            <a:avLst/>
            <a:gdLst>
              <a:gd name="connsiteX0" fmla="*/ 0 w 10884763"/>
              <a:gd name="connsiteY0" fmla="*/ 0 h 5273675"/>
              <a:gd name="connsiteX1" fmla="*/ 1181100 w 10884763"/>
              <a:gd name="connsiteY1" fmla="*/ 0 h 5273675"/>
              <a:gd name="connsiteX2" fmla="*/ 1494660 w 10884763"/>
              <a:gd name="connsiteY2" fmla="*/ 2636647 h 5273675"/>
              <a:gd name="connsiteX3" fmla="*/ 1181100 w 10884763"/>
              <a:gd name="connsiteY3" fmla="*/ 5273294 h 5273675"/>
              <a:gd name="connsiteX4" fmla="*/ 10884763 w 10884763"/>
              <a:gd name="connsiteY4" fmla="*/ 5273634 h 5273675"/>
              <a:gd name="connsiteX5" fmla="*/ 10884666 w 10884763"/>
              <a:gd name="connsiteY5" fmla="*/ 5273675 h 5273675"/>
              <a:gd name="connsiteX6" fmla="*/ 0 w 10884763"/>
              <a:gd name="connsiteY6" fmla="*/ 5273294 h 5273675"/>
              <a:gd name="connsiteX7" fmla="*/ 313560 w 10884763"/>
              <a:gd name="connsiteY7" fmla="*/ 2636647 h 5273675"/>
              <a:gd name="connsiteX8" fmla="*/ 0 w 10884763"/>
              <a:gd name="connsiteY8" fmla="*/ 0 h 527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84763" h="5273675">
                <a:moveTo>
                  <a:pt x="0" y="0"/>
                </a:moveTo>
                <a:lnTo>
                  <a:pt x="1181100" y="0"/>
                </a:lnTo>
                <a:cubicBezTo>
                  <a:pt x="1354072" y="0"/>
                  <a:pt x="1494660" y="1180776"/>
                  <a:pt x="1494660" y="2636647"/>
                </a:cubicBezTo>
                <a:cubicBezTo>
                  <a:pt x="1494660" y="4092899"/>
                  <a:pt x="1354072" y="5273294"/>
                  <a:pt x="1181100" y="5273294"/>
                </a:cubicBezTo>
                <a:lnTo>
                  <a:pt x="10884763" y="5273634"/>
                </a:lnTo>
                <a:lnTo>
                  <a:pt x="10884666" y="5273675"/>
                </a:lnTo>
                <a:lnTo>
                  <a:pt x="0" y="5273294"/>
                </a:lnTo>
                <a:cubicBezTo>
                  <a:pt x="172972" y="5273294"/>
                  <a:pt x="313560" y="4092899"/>
                  <a:pt x="313560" y="2636647"/>
                </a:cubicBezTo>
                <a:cubicBezTo>
                  <a:pt x="313560" y="1180776"/>
                  <a:pt x="172972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  <a:effectLst>
            <a:outerShdw blurRad="127000" dist="190500" dir="10800000" algn="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9" name="直接连接符 258"/>
          <p:cNvCxnSpPr/>
          <p:nvPr/>
        </p:nvCxnSpPr>
        <p:spPr>
          <a:xfrm>
            <a:off x="10605675" y="3690179"/>
            <a:ext cx="11811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文本框 264"/>
          <p:cNvSpPr txBox="1"/>
          <p:nvPr/>
        </p:nvSpPr>
        <p:spPr>
          <a:xfrm rot="5213016">
            <a:off x="10159294" y="2166719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Up">
              <a:avLst>
                <a:gd name="adj" fmla="val 8152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市场分析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7" name="文本框 266"/>
          <p:cNvSpPr txBox="1"/>
          <p:nvPr/>
        </p:nvSpPr>
        <p:spPr>
          <a:xfrm rot="5684142">
            <a:off x="10159295" y="4703242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Up">
              <a:avLst>
                <a:gd name="adj" fmla="val 87917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日常数据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6" name="椭圆 295"/>
          <p:cNvSpPr/>
          <p:nvPr/>
        </p:nvSpPr>
        <p:spPr>
          <a:xfrm>
            <a:off x="6720553" y="2115817"/>
            <a:ext cx="632906" cy="632906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椭圆 264"/>
          <p:cNvSpPr/>
          <p:nvPr/>
        </p:nvSpPr>
        <p:spPr>
          <a:xfrm>
            <a:off x="11428209" y="3215357"/>
            <a:ext cx="224804" cy="22480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4" name="椭圆 263"/>
          <p:cNvSpPr/>
          <p:nvPr/>
        </p:nvSpPr>
        <p:spPr>
          <a:xfrm>
            <a:off x="11555157" y="3465566"/>
            <a:ext cx="224804" cy="22480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3" name="椭圆 262"/>
          <p:cNvSpPr/>
          <p:nvPr/>
        </p:nvSpPr>
        <p:spPr>
          <a:xfrm>
            <a:off x="11428209" y="3691236"/>
            <a:ext cx="189384" cy="18938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6" name="矩形: 圆角 255"/>
          <p:cNvSpPr/>
          <p:nvPr/>
        </p:nvSpPr>
        <p:spPr>
          <a:xfrm>
            <a:off x="1236002" y="26070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需求调研覆盖窄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矩形: 圆角 256"/>
          <p:cNvSpPr/>
          <p:nvPr/>
        </p:nvSpPr>
        <p:spPr>
          <a:xfrm>
            <a:off x="1236002" y="40256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上线迭代响应慢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8" name="矩形: 圆角 257"/>
          <p:cNvSpPr/>
          <p:nvPr/>
        </p:nvSpPr>
        <p:spPr>
          <a:xfrm>
            <a:off x="1391305" y="29696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方案协作链路断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9" name="矩形: 圆角 258"/>
          <p:cNvSpPr/>
          <p:nvPr/>
        </p:nvSpPr>
        <p:spPr>
          <a:xfrm>
            <a:off x="1391305" y="36631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开发测试漏洞多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705336" y="22445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基础业务效率低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6" name="矩形: 圆角 225"/>
          <p:cNvSpPr/>
          <p:nvPr/>
        </p:nvSpPr>
        <p:spPr>
          <a:xfrm>
            <a:off x="3705336" y="43881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目标战略定位糊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7" name="矩形: 圆角 226"/>
          <p:cNvSpPr/>
          <p:nvPr/>
        </p:nvSpPr>
        <p:spPr>
          <a:xfrm>
            <a:off x="3798587" y="26070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优化方案难落地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8" name="矩形: 圆角 227"/>
          <p:cNvSpPr/>
          <p:nvPr/>
        </p:nvSpPr>
        <p:spPr>
          <a:xfrm>
            <a:off x="3798587" y="40256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核心业务客依赖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矩形: 圆角 229"/>
          <p:cNvSpPr/>
          <p:nvPr/>
        </p:nvSpPr>
        <p:spPr>
          <a:xfrm>
            <a:off x="3863869" y="29696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核心业务创新缺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矩形: 圆角 230"/>
          <p:cNvSpPr/>
          <p:nvPr/>
        </p:nvSpPr>
        <p:spPr>
          <a:xfrm>
            <a:off x="3863869" y="36631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战略业务资源散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487656" y="22445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爬坡增长遇瓶颈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487656" y="43881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基础业务系统旧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580907" y="26070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增长营收增速缓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580907" y="40256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方案设计漏合规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646189" y="29696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目标数据无拆解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646189" y="36631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需求调研缺量化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381750" y="47507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爬坡数据缺关联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6381750" y="18820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起步数据基础弱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等腰三角形 17"/>
          <p:cNvSpPr/>
          <p:nvPr/>
        </p:nvSpPr>
        <p:spPr>
          <a:xfrm rot="16200000">
            <a:off x="5647363" y="-1058605"/>
            <a:ext cx="152376" cy="90495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119" y="200526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鱼骨图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任意多边形: 形状 2"/>
          <p:cNvSpPr/>
          <p:nvPr/>
        </p:nvSpPr>
        <p:spPr bwMode="auto">
          <a:xfrm>
            <a:off x="7576890" y="1500893"/>
            <a:ext cx="3635289" cy="3961860"/>
          </a:xfrm>
          <a:custGeom>
            <a:avLst/>
            <a:gdLst>
              <a:gd name="connsiteX0" fmla="*/ 1181100 w 2429551"/>
              <a:gd name="connsiteY0" fmla="*/ 0 h 5273379"/>
              <a:gd name="connsiteX1" fmla="*/ 0 w 2429551"/>
              <a:gd name="connsiteY1" fmla="*/ 0 h 5273379"/>
              <a:gd name="connsiteX2" fmla="*/ 313560 w 2429551"/>
              <a:gd name="connsiteY2" fmla="*/ 2636647 h 5273379"/>
              <a:gd name="connsiteX3" fmla="*/ 0 w 2429551"/>
              <a:gd name="connsiteY3" fmla="*/ 5273294 h 5273379"/>
              <a:gd name="connsiteX4" fmla="*/ 2429551 w 2429551"/>
              <a:gd name="connsiteY4" fmla="*/ 5273379 h 5273379"/>
              <a:gd name="connsiteX5" fmla="*/ 2429535 w 2429551"/>
              <a:gd name="connsiteY5" fmla="*/ 5273338 h 5273379"/>
              <a:gd name="connsiteX6" fmla="*/ 1181100 w 2429551"/>
              <a:gd name="connsiteY6" fmla="*/ 5273294 h 5273379"/>
              <a:gd name="connsiteX7" fmla="*/ 1494660 w 2429551"/>
              <a:gd name="connsiteY7" fmla="*/ 2636647 h 5273379"/>
              <a:gd name="connsiteX8" fmla="*/ 1181100 w 2429551"/>
              <a:gd name="connsiteY8" fmla="*/ 0 h 52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9551" h="5273379">
                <a:moveTo>
                  <a:pt x="1181100" y="0"/>
                </a:moveTo>
                <a:lnTo>
                  <a:pt x="0" y="0"/>
                </a:lnTo>
                <a:cubicBezTo>
                  <a:pt x="172972" y="0"/>
                  <a:pt x="313560" y="1180776"/>
                  <a:pt x="313560" y="2636647"/>
                </a:cubicBezTo>
                <a:cubicBezTo>
                  <a:pt x="313560" y="4092899"/>
                  <a:pt x="172972" y="5273294"/>
                  <a:pt x="0" y="5273294"/>
                </a:cubicBezTo>
                <a:lnTo>
                  <a:pt x="2429551" y="5273379"/>
                </a:lnTo>
                <a:lnTo>
                  <a:pt x="2429535" y="5273338"/>
                </a:lnTo>
                <a:lnTo>
                  <a:pt x="1181100" y="5273294"/>
                </a:lnTo>
                <a:cubicBezTo>
                  <a:pt x="1354072" y="5273294"/>
                  <a:pt x="1494660" y="4092899"/>
                  <a:pt x="1494660" y="2636647"/>
                </a:cubicBezTo>
                <a:cubicBezTo>
                  <a:pt x="1494660" y="1180776"/>
                  <a:pt x="1354072" y="0"/>
                  <a:pt x="118110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任意多边形: 形状 3"/>
          <p:cNvSpPr/>
          <p:nvPr/>
        </p:nvSpPr>
        <p:spPr bwMode="auto">
          <a:xfrm>
            <a:off x="4583330" y="1876296"/>
            <a:ext cx="3079104" cy="3211056"/>
          </a:xfrm>
          <a:custGeom>
            <a:avLst/>
            <a:gdLst>
              <a:gd name="connsiteX0" fmla="*/ 1181100 w 2429551"/>
              <a:gd name="connsiteY0" fmla="*/ 0 h 5273379"/>
              <a:gd name="connsiteX1" fmla="*/ 0 w 2429551"/>
              <a:gd name="connsiteY1" fmla="*/ 0 h 5273379"/>
              <a:gd name="connsiteX2" fmla="*/ 313560 w 2429551"/>
              <a:gd name="connsiteY2" fmla="*/ 2636647 h 5273379"/>
              <a:gd name="connsiteX3" fmla="*/ 0 w 2429551"/>
              <a:gd name="connsiteY3" fmla="*/ 5273294 h 5273379"/>
              <a:gd name="connsiteX4" fmla="*/ 2429551 w 2429551"/>
              <a:gd name="connsiteY4" fmla="*/ 5273379 h 5273379"/>
              <a:gd name="connsiteX5" fmla="*/ 2429535 w 2429551"/>
              <a:gd name="connsiteY5" fmla="*/ 5273338 h 5273379"/>
              <a:gd name="connsiteX6" fmla="*/ 1181100 w 2429551"/>
              <a:gd name="connsiteY6" fmla="*/ 5273294 h 5273379"/>
              <a:gd name="connsiteX7" fmla="*/ 1494660 w 2429551"/>
              <a:gd name="connsiteY7" fmla="*/ 2636647 h 5273379"/>
              <a:gd name="connsiteX8" fmla="*/ 1181100 w 2429551"/>
              <a:gd name="connsiteY8" fmla="*/ 0 h 52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9551" h="5273379">
                <a:moveTo>
                  <a:pt x="1181100" y="0"/>
                </a:moveTo>
                <a:lnTo>
                  <a:pt x="0" y="0"/>
                </a:lnTo>
                <a:cubicBezTo>
                  <a:pt x="172972" y="0"/>
                  <a:pt x="313560" y="1180776"/>
                  <a:pt x="313560" y="2636647"/>
                </a:cubicBezTo>
                <a:cubicBezTo>
                  <a:pt x="313560" y="4092899"/>
                  <a:pt x="172972" y="5273294"/>
                  <a:pt x="0" y="5273294"/>
                </a:cubicBezTo>
                <a:lnTo>
                  <a:pt x="2429551" y="5273379"/>
                </a:lnTo>
                <a:lnTo>
                  <a:pt x="2429535" y="5273338"/>
                </a:lnTo>
                <a:lnTo>
                  <a:pt x="1181100" y="5273294"/>
                </a:lnTo>
                <a:cubicBezTo>
                  <a:pt x="1354072" y="5273294"/>
                  <a:pt x="1494660" y="4092899"/>
                  <a:pt x="1494660" y="2636647"/>
                </a:cubicBezTo>
                <a:cubicBezTo>
                  <a:pt x="1494660" y="1180776"/>
                  <a:pt x="1354072" y="0"/>
                  <a:pt x="118110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任意多边形: 形状 4"/>
          <p:cNvSpPr/>
          <p:nvPr/>
        </p:nvSpPr>
        <p:spPr bwMode="auto">
          <a:xfrm>
            <a:off x="2158344" y="2314443"/>
            <a:ext cx="2541616" cy="2334760"/>
          </a:xfrm>
          <a:custGeom>
            <a:avLst/>
            <a:gdLst>
              <a:gd name="connsiteX0" fmla="*/ 1181100 w 2429551"/>
              <a:gd name="connsiteY0" fmla="*/ 0 h 5273379"/>
              <a:gd name="connsiteX1" fmla="*/ 0 w 2429551"/>
              <a:gd name="connsiteY1" fmla="*/ 0 h 5273379"/>
              <a:gd name="connsiteX2" fmla="*/ 313560 w 2429551"/>
              <a:gd name="connsiteY2" fmla="*/ 2636647 h 5273379"/>
              <a:gd name="connsiteX3" fmla="*/ 0 w 2429551"/>
              <a:gd name="connsiteY3" fmla="*/ 5273294 h 5273379"/>
              <a:gd name="connsiteX4" fmla="*/ 2429551 w 2429551"/>
              <a:gd name="connsiteY4" fmla="*/ 5273379 h 5273379"/>
              <a:gd name="connsiteX5" fmla="*/ 2429535 w 2429551"/>
              <a:gd name="connsiteY5" fmla="*/ 5273338 h 5273379"/>
              <a:gd name="connsiteX6" fmla="*/ 1181100 w 2429551"/>
              <a:gd name="connsiteY6" fmla="*/ 5273294 h 5273379"/>
              <a:gd name="connsiteX7" fmla="*/ 1494660 w 2429551"/>
              <a:gd name="connsiteY7" fmla="*/ 2636647 h 5273379"/>
              <a:gd name="connsiteX8" fmla="*/ 1181100 w 2429551"/>
              <a:gd name="connsiteY8" fmla="*/ 0 h 52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9551" h="5273379">
                <a:moveTo>
                  <a:pt x="1181100" y="0"/>
                </a:moveTo>
                <a:lnTo>
                  <a:pt x="0" y="0"/>
                </a:lnTo>
                <a:cubicBezTo>
                  <a:pt x="172972" y="0"/>
                  <a:pt x="313560" y="1180776"/>
                  <a:pt x="313560" y="2636647"/>
                </a:cubicBezTo>
                <a:cubicBezTo>
                  <a:pt x="313560" y="4092899"/>
                  <a:pt x="172972" y="5273294"/>
                  <a:pt x="0" y="5273294"/>
                </a:cubicBezTo>
                <a:lnTo>
                  <a:pt x="2429551" y="5273379"/>
                </a:lnTo>
                <a:lnTo>
                  <a:pt x="2429535" y="5273338"/>
                </a:lnTo>
                <a:lnTo>
                  <a:pt x="1181100" y="5273294"/>
                </a:lnTo>
                <a:cubicBezTo>
                  <a:pt x="1354072" y="5273294"/>
                  <a:pt x="1494660" y="4092899"/>
                  <a:pt x="1494660" y="2636647"/>
                </a:cubicBezTo>
                <a:cubicBezTo>
                  <a:pt x="1494660" y="1180776"/>
                  <a:pt x="1354072" y="0"/>
                  <a:pt x="118110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189066" y="2613903"/>
            <a:ext cx="1528458" cy="1630194"/>
            <a:chOff x="8470829" y="1897733"/>
            <a:chExt cx="2965219" cy="3162588"/>
          </a:xfrm>
        </p:grpSpPr>
        <p:sp>
          <p:nvSpPr>
            <p:cNvPr id="8" name="任意多边形: 形状 7"/>
            <p:cNvSpPr/>
            <p:nvPr/>
          </p:nvSpPr>
          <p:spPr>
            <a:xfrm>
              <a:off x="8470829" y="1897733"/>
              <a:ext cx="2965219" cy="3162588"/>
            </a:xfrm>
            <a:custGeom>
              <a:avLst/>
              <a:gdLst>
                <a:gd name="connsiteX0" fmla="*/ 2189602 w 2191828"/>
                <a:gd name="connsiteY0" fmla="*/ 1163288 h 2337720"/>
                <a:gd name="connsiteX1" fmla="*/ 2086732 w 2191828"/>
                <a:gd name="connsiteY1" fmla="*/ 1052608 h 2337720"/>
                <a:gd name="connsiteX2" fmla="*/ 170207 w 2191828"/>
                <a:gd name="connsiteY2" fmla="*/ 0 h 2337720"/>
                <a:gd name="connsiteX3" fmla="*/ 170207 w 2191828"/>
                <a:gd name="connsiteY3" fmla="*/ 0 h 2337720"/>
                <a:gd name="connsiteX4" fmla="*/ 170207 w 2191828"/>
                <a:gd name="connsiteY4" fmla="*/ 0 h 2337720"/>
                <a:gd name="connsiteX5" fmla="*/ 165921 w 2191828"/>
                <a:gd name="connsiteY5" fmla="*/ 2323052 h 2337720"/>
                <a:gd name="connsiteX6" fmla="*/ 170207 w 2191828"/>
                <a:gd name="connsiteY6" fmla="*/ 2337721 h 2337720"/>
                <a:gd name="connsiteX7" fmla="*/ 170207 w 2191828"/>
                <a:gd name="connsiteY7" fmla="*/ 2337721 h 2337720"/>
                <a:gd name="connsiteX8" fmla="*/ 170207 w 2191828"/>
                <a:gd name="connsiteY8" fmla="*/ 2337721 h 2337720"/>
                <a:gd name="connsiteX9" fmla="*/ 1652869 w 2191828"/>
                <a:gd name="connsiteY9" fmla="*/ 1667637 h 2337720"/>
                <a:gd name="connsiteX10" fmla="*/ 1409410 w 2191828"/>
                <a:gd name="connsiteY10" fmla="*/ 1556099 h 2337720"/>
                <a:gd name="connsiteX11" fmla="*/ 1943476 w 2191828"/>
                <a:gd name="connsiteY11" fmla="*/ 1424940 h 2337720"/>
                <a:gd name="connsiteX12" fmla="*/ 2189697 w 2191828"/>
                <a:gd name="connsiteY12" fmla="*/ 1174528 h 2337720"/>
                <a:gd name="connsiteX13" fmla="*/ 2189697 w 2191828"/>
                <a:gd name="connsiteY13" fmla="*/ 1174528 h 2337720"/>
                <a:gd name="connsiteX14" fmla="*/ 2189602 w 2191828"/>
                <a:gd name="connsiteY14" fmla="*/ 1163288 h 233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1828" h="2337720">
                  <a:moveTo>
                    <a:pt x="2189602" y="1163288"/>
                  </a:moveTo>
                  <a:lnTo>
                    <a:pt x="2086732" y="1052608"/>
                  </a:lnTo>
                  <a:cubicBezTo>
                    <a:pt x="1577811" y="504730"/>
                    <a:pt x="905632" y="135541"/>
                    <a:pt x="170207" y="0"/>
                  </a:cubicBezTo>
                  <a:lnTo>
                    <a:pt x="170207" y="0"/>
                  </a:lnTo>
                  <a:lnTo>
                    <a:pt x="170207" y="0"/>
                  </a:lnTo>
                  <a:cubicBezTo>
                    <a:pt x="-55250" y="757714"/>
                    <a:pt x="-56774" y="1564481"/>
                    <a:pt x="165921" y="2323052"/>
                  </a:cubicBezTo>
                  <a:lnTo>
                    <a:pt x="170207" y="2337721"/>
                  </a:lnTo>
                  <a:lnTo>
                    <a:pt x="170207" y="2337721"/>
                  </a:lnTo>
                  <a:lnTo>
                    <a:pt x="170207" y="2337721"/>
                  </a:lnTo>
                  <a:cubicBezTo>
                    <a:pt x="710750" y="2225897"/>
                    <a:pt x="1216528" y="1995868"/>
                    <a:pt x="1652869" y="1667637"/>
                  </a:cubicBezTo>
                  <a:lnTo>
                    <a:pt x="1409410" y="1556099"/>
                  </a:lnTo>
                  <a:lnTo>
                    <a:pt x="1943476" y="1424940"/>
                  </a:lnTo>
                  <a:cubicBezTo>
                    <a:pt x="2029201" y="1345597"/>
                    <a:pt x="2111402" y="1262158"/>
                    <a:pt x="2189697" y="1174528"/>
                  </a:cubicBezTo>
                  <a:lnTo>
                    <a:pt x="2189697" y="1174528"/>
                  </a:lnTo>
                  <a:cubicBezTo>
                    <a:pt x="2192555" y="1171289"/>
                    <a:pt x="2192555" y="1166432"/>
                    <a:pt x="2189602" y="116328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867013" y="3240898"/>
              <a:ext cx="476395" cy="476395"/>
            </a:xfrm>
            <a:custGeom>
              <a:avLst/>
              <a:gdLst>
                <a:gd name="connsiteX0" fmla="*/ 324803 w 324802"/>
                <a:gd name="connsiteY0" fmla="*/ 162401 h 324802"/>
                <a:gd name="connsiteX1" fmla="*/ 162402 w 324802"/>
                <a:gd name="connsiteY1" fmla="*/ 324803 h 324802"/>
                <a:gd name="connsiteX2" fmla="*/ 1 w 324802"/>
                <a:gd name="connsiteY2" fmla="*/ 162401 h 324802"/>
                <a:gd name="connsiteX3" fmla="*/ 162402 w 324802"/>
                <a:gd name="connsiteY3" fmla="*/ 0 h 324802"/>
                <a:gd name="connsiteX4" fmla="*/ 324803 w 324802"/>
                <a:gd name="connsiteY4" fmla="*/ 162401 h 32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802" h="324802">
                  <a:moveTo>
                    <a:pt x="324803" y="162401"/>
                  </a:moveTo>
                  <a:cubicBezTo>
                    <a:pt x="324803" y="252093"/>
                    <a:pt x="252093" y="324803"/>
                    <a:pt x="162402" y="324803"/>
                  </a:cubicBezTo>
                  <a:cubicBezTo>
                    <a:pt x="72710" y="324803"/>
                    <a:pt x="1" y="252093"/>
                    <a:pt x="1" y="162401"/>
                  </a:cubicBezTo>
                  <a:cubicBezTo>
                    <a:pt x="1" y="72710"/>
                    <a:pt x="72710" y="0"/>
                    <a:pt x="162402" y="0"/>
                  </a:cubicBezTo>
                  <a:cubicBezTo>
                    <a:pt x="252093" y="0"/>
                    <a:pt x="324803" y="72710"/>
                    <a:pt x="324803" y="16240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49" name="箭头: V 形 14"/>
          <p:cNvSpPr/>
          <p:nvPr/>
        </p:nvSpPr>
        <p:spPr>
          <a:xfrm>
            <a:off x="466377" y="2973548"/>
            <a:ext cx="894475" cy="1033370"/>
          </a:xfrm>
          <a:custGeom>
            <a:avLst/>
            <a:gdLst>
              <a:gd name="connsiteX0" fmla="*/ 108210 w 894475"/>
              <a:gd name="connsiteY0" fmla="*/ 0 h 1033370"/>
              <a:gd name="connsiteX1" fmla="*/ 472911 w 894475"/>
              <a:gd name="connsiteY1" fmla="*/ 0 h 1033370"/>
              <a:gd name="connsiteX2" fmla="*/ 558596 w 894475"/>
              <a:gd name="connsiteY2" fmla="*/ 42258 h 1033370"/>
              <a:gd name="connsiteX3" fmla="*/ 872156 w 894475"/>
              <a:gd name="connsiteY3" fmla="*/ 450944 h 1033370"/>
              <a:gd name="connsiteX4" fmla="*/ 872156 w 894475"/>
              <a:gd name="connsiteY4" fmla="*/ 582426 h 1033370"/>
              <a:gd name="connsiteX5" fmla="*/ 558596 w 894475"/>
              <a:gd name="connsiteY5" fmla="*/ 991112 h 1033370"/>
              <a:gd name="connsiteX6" fmla="*/ 472911 w 894475"/>
              <a:gd name="connsiteY6" fmla="*/ 1033370 h 1033370"/>
              <a:gd name="connsiteX7" fmla="*/ 108210 w 894475"/>
              <a:gd name="connsiteY7" fmla="*/ 1033370 h 1033370"/>
              <a:gd name="connsiteX8" fmla="*/ 22524 w 894475"/>
              <a:gd name="connsiteY8" fmla="*/ 859629 h 1033370"/>
              <a:gd name="connsiteX9" fmla="*/ 235205 w 894475"/>
              <a:gd name="connsiteY9" fmla="*/ 582426 h 1033370"/>
              <a:gd name="connsiteX10" fmla="*/ 235205 w 894475"/>
              <a:gd name="connsiteY10" fmla="*/ 450944 h 1033370"/>
              <a:gd name="connsiteX11" fmla="*/ 22524 w 894475"/>
              <a:gd name="connsiteY11" fmla="*/ 173741 h 1033370"/>
              <a:gd name="connsiteX12" fmla="*/ 108210 w 894475"/>
              <a:gd name="connsiteY12" fmla="*/ 0 h 103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4475" h="1033370">
                <a:moveTo>
                  <a:pt x="108210" y="0"/>
                </a:moveTo>
                <a:lnTo>
                  <a:pt x="472911" y="0"/>
                </a:lnTo>
                <a:cubicBezTo>
                  <a:pt x="506467" y="0"/>
                  <a:pt x="538170" y="15636"/>
                  <a:pt x="558596" y="42258"/>
                </a:cubicBezTo>
                <a:lnTo>
                  <a:pt x="872156" y="450944"/>
                </a:lnTo>
                <a:cubicBezTo>
                  <a:pt x="901915" y="489731"/>
                  <a:pt x="901915" y="543639"/>
                  <a:pt x="872156" y="582426"/>
                </a:cubicBezTo>
                <a:lnTo>
                  <a:pt x="558596" y="991112"/>
                </a:lnTo>
                <a:cubicBezTo>
                  <a:pt x="538170" y="1017734"/>
                  <a:pt x="506467" y="1033370"/>
                  <a:pt x="472911" y="1033370"/>
                </a:cubicBezTo>
                <a:lnTo>
                  <a:pt x="108210" y="1033370"/>
                </a:lnTo>
                <a:cubicBezTo>
                  <a:pt x="18644" y="1033370"/>
                  <a:pt x="-31996" y="930689"/>
                  <a:pt x="22524" y="859629"/>
                </a:cubicBezTo>
                <a:lnTo>
                  <a:pt x="235205" y="582426"/>
                </a:lnTo>
                <a:cubicBezTo>
                  <a:pt x="264964" y="543639"/>
                  <a:pt x="264964" y="489731"/>
                  <a:pt x="235205" y="450944"/>
                </a:cubicBezTo>
                <a:lnTo>
                  <a:pt x="22524" y="173741"/>
                </a:lnTo>
                <a:cubicBezTo>
                  <a:pt x="-31996" y="102681"/>
                  <a:pt x="18644" y="0"/>
                  <a:pt x="108210" y="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13953" y="1775829"/>
            <a:ext cx="351778" cy="351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621430" y="1362307"/>
            <a:ext cx="351778" cy="351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666304" y="978153"/>
            <a:ext cx="351778" cy="351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70494" y="1769331"/>
            <a:ext cx="115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流程推进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33532" y="1351673"/>
            <a:ext cx="115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层级划分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19682" y="978153"/>
            <a:ext cx="115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数据递增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4" name="矩形: 圆角 223"/>
          <p:cNvSpPr/>
          <p:nvPr/>
        </p:nvSpPr>
        <p:spPr>
          <a:xfrm>
            <a:off x="8184358" y="1882050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起步数据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5" name="矩形: 圆角 224"/>
          <p:cNvSpPr/>
          <p:nvPr/>
        </p:nvSpPr>
        <p:spPr>
          <a:xfrm>
            <a:off x="8392196" y="2361338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爬坡数据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矩形: 圆角 228"/>
          <p:cNvSpPr/>
          <p:nvPr/>
        </p:nvSpPr>
        <p:spPr>
          <a:xfrm>
            <a:off x="8392196" y="4278490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增长数据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2" name="矩形: 圆角 231"/>
          <p:cNvSpPr/>
          <p:nvPr/>
        </p:nvSpPr>
        <p:spPr>
          <a:xfrm>
            <a:off x="8184358" y="4757778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3" name="矩形: 圆角 232"/>
          <p:cNvSpPr/>
          <p:nvPr/>
        </p:nvSpPr>
        <p:spPr>
          <a:xfrm>
            <a:off x="5133644" y="2226934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4" name="矩形: 圆角 233"/>
          <p:cNvSpPr/>
          <p:nvPr/>
        </p:nvSpPr>
        <p:spPr>
          <a:xfrm>
            <a:off x="5284018" y="2659345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9" name="矩形: 圆角 238"/>
          <p:cNvSpPr/>
          <p:nvPr/>
        </p:nvSpPr>
        <p:spPr>
          <a:xfrm>
            <a:off x="5284018" y="3956578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0" name="矩形: 圆角 239"/>
          <p:cNvSpPr/>
          <p:nvPr/>
        </p:nvSpPr>
        <p:spPr>
          <a:xfrm>
            <a:off x="5133644" y="4388989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战略业务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1" name="矩形: 圆角 240"/>
          <p:cNvSpPr/>
          <p:nvPr/>
        </p:nvSpPr>
        <p:spPr>
          <a:xfrm>
            <a:off x="2711646" y="2889128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方案设计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4" name="矩形: 圆角 243"/>
          <p:cNvSpPr/>
          <p:nvPr/>
        </p:nvSpPr>
        <p:spPr>
          <a:xfrm>
            <a:off x="2711646" y="3772128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开发测试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5" name="矩形: 圆角 244"/>
          <p:cNvSpPr/>
          <p:nvPr/>
        </p:nvSpPr>
        <p:spPr>
          <a:xfrm>
            <a:off x="2586117" y="2450639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需求调研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6" name="矩形: 圆角 245"/>
          <p:cNvSpPr/>
          <p:nvPr/>
        </p:nvSpPr>
        <p:spPr>
          <a:xfrm>
            <a:off x="2586117" y="4210665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上线迭代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0" name="椭圆 249"/>
          <p:cNvSpPr/>
          <p:nvPr/>
        </p:nvSpPr>
        <p:spPr>
          <a:xfrm>
            <a:off x="2917870" y="3294013"/>
            <a:ext cx="412449" cy="4124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1" name="椭圆 250"/>
          <p:cNvSpPr/>
          <p:nvPr/>
        </p:nvSpPr>
        <p:spPr>
          <a:xfrm>
            <a:off x="5366974" y="3109355"/>
            <a:ext cx="759544" cy="7595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2" name="椭圆 251"/>
          <p:cNvSpPr/>
          <p:nvPr/>
        </p:nvSpPr>
        <p:spPr>
          <a:xfrm>
            <a:off x="8377360" y="2907619"/>
            <a:ext cx="1163016" cy="1163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0" name="矩形: 圆角 259"/>
          <p:cNvSpPr/>
          <p:nvPr/>
        </p:nvSpPr>
        <p:spPr>
          <a:xfrm>
            <a:off x="466377" y="5631353"/>
            <a:ext cx="11251147" cy="720921"/>
          </a:xfrm>
          <a:prstGeom prst="roundRect">
            <a:avLst>
              <a:gd name="adj" fmla="val 76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755329" y="5831028"/>
            <a:ext cx="10673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从流程推进、层级划分、数据递增三维度，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梳理业务各环节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类问题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，涵盖执行、价值、发展层面，助力诊断业务漏洞 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6" name="椭圆 265"/>
          <p:cNvSpPr/>
          <p:nvPr/>
        </p:nvSpPr>
        <p:spPr>
          <a:xfrm>
            <a:off x="11727456" y="3164995"/>
            <a:ext cx="311718" cy="3117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7" name="椭圆 266"/>
          <p:cNvSpPr/>
          <p:nvPr/>
        </p:nvSpPr>
        <p:spPr>
          <a:xfrm>
            <a:off x="11611925" y="3037799"/>
            <a:ext cx="146688" cy="14668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8" name="椭圆 267"/>
          <p:cNvSpPr/>
          <p:nvPr/>
        </p:nvSpPr>
        <p:spPr>
          <a:xfrm>
            <a:off x="11354865" y="2945703"/>
            <a:ext cx="146688" cy="14668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9" name="椭圆 268"/>
          <p:cNvSpPr/>
          <p:nvPr/>
        </p:nvSpPr>
        <p:spPr>
          <a:xfrm>
            <a:off x="11775362" y="2876485"/>
            <a:ext cx="215906" cy="215906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0" name="椭圆 269"/>
          <p:cNvSpPr/>
          <p:nvPr/>
        </p:nvSpPr>
        <p:spPr>
          <a:xfrm>
            <a:off x="11065491" y="2422472"/>
            <a:ext cx="436062" cy="436062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椭圆 270"/>
          <p:cNvSpPr/>
          <p:nvPr/>
        </p:nvSpPr>
        <p:spPr>
          <a:xfrm>
            <a:off x="11532010" y="2104113"/>
            <a:ext cx="536390" cy="53639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10535792" y="1367789"/>
            <a:ext cx="936974" cy="93697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椭圆 272"/>
          <p:cNvSpPr/>
          <p:nvPr/>
        </p:nvSpPr>
        <p:spPr>
          <a:xfrm>
            <a:off x="11577316" y="1800625"/>
            <a:ext cx="215906" cy="215906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椭圆 273"/>
          <p:cNvSpPr/>
          <p:nvPr/>
        </p:nvSpPr>
        <p:spPr>
          <a:xfrm>
            <a:off x="11480812" y="1301594"/>
            <a:ext cx="373494" cy="37349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6" name="Google Shape;5698;p77"/>
          <p:cNvSpPr/>
          <p:nvPr/>
        </p:nvSpPr>
        <p:spPr>
          <a:xfrm>
            <a:off x="5542566" y="3260465"/>
            <a:ext cx="419160" cy="427644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7" name="Google Shape;6215;p78"/>
          <p:cNvGrpSpPr/>
          <p:nvPr/>
        </p:nvGrpSpPr>
        <p:grpSpPr>
          <a:xfrm>
            <a:off x="8639652" y="3146904"/>
            <a:ext cx="631268" cy="632862"/>
            <a:chOff x="-61783350" y="3743950"/>
            <a:chExt cx="316650" cy="317450"/>
          </a:xfrm>
          <a:solidFill>
            <a:schemeClr val="accent1"/>
          </a:solidFill>
        </p:grpSpPr>
        <p:sp>
          <p:nvSpPr>
            <p:cNvPr id="238" name="Google Shape;6216;p78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2" name="Google Shape;6217;p78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43" name="Google Shape;6379;p78"/>
          <p:cNvGrpSpPr/>
          <p:nvPr/>
        </p:nvGrpSpPr>
        <p:grpSpPr>
          <a:xfrm>
            <a:off x="3011912" y="3370526"/>
            <a:ext cx="224364" cy="222594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247" name="Google Shape;6380;p7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8" name="Google Shape;6381;p7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3" name="Google Shape;6382;p7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8925" y="200526"/>
            <a:ext cx="5452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六段内容页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不足之处与改进措施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任意多边形: 形状 294"/>
          <p:cNvSpPr/>
          <p:nvPr/>
        </p:nvSpPr>
        <p:spPr>
          <a:xfrm rot="18900000">
            <a:off x="4717832" y="2410795"/>
            <a:ext cx="645025" cy="342195"/>
          </a:xfrm>
          <a:custGeom>
            <a:avLst/>
            <a:gdLst>
              <a:gd name="connsiteX0" fmla="*/ 388109 w 776218"/>
              <a:gd name="connsiteY0" fmla="*/ 0 h 411796"/>
              <a:gd name="connsiteX1" fmla="*/ 520772 w 776218"/>
              <a:gd name="connsiteY1" fmla="*/ 119968 h 411796"/>
              <a:gd name="connsiteX2" fmla="*/ 775174 w 776218"/>
              <a:gd name="connsiteY2" fmla="*/ 410303 h 411796"/>
              <a:gd name="connsiteX3" fmla="*/ 776218 w 776218"/>
              <a:gd name="connsiteY3" fmla="*/ 411796 h 411796"/>
              <a:gd name="connsiteX4" fmla="*/ 0 w 776218"/>
              <a:gd name="connsiteY4" fmla="*/ 411796 h 411796"/>
              <a:gd name="connsiteX5" fmla="*/ 1044 w 776218"/>
              <a:gd name="connsiteY5" fmla="*/ 410303 h 411796"/>
              <a:gd name="connsiteX6" fmla="*/ 255446 w 776218"/>
              <a:gd name="connsiteY6" fmla="*/ 119968 h 411796"/>
              <a:gd name="connsiteX7" fmla="*/ 388109 w 776218"/>
              <a:gd name="connsiteY7" fmla="*/ 0 h 411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6218" h="411796">
                <a:moveTo>
                  <a:pt x="388109" y="0"/>
                </a:moveTo>
                <a:lnTo>
                  <a:pt x="520772" y="119968"/>
                </a:lnTo>
                <a:cubicBezTo>
                  <a:pt x="612520" y="210450"/>
                  <a:pt x="697557" y="307506"/>
                  <a:pt x="775174" y="410303"/>
                </a:cubicBezTo>
                <a:lnTo>
                  <a:pt x="776218" y="411796"/>
                </a:lnTo>
                <a:lnTo>
                  <a:pt x="0" y="411796"/>
                </a:lnTo>
                <a:lnTo>
                  <a:pt x="1044" y="410303"/>
                </a:lnTo>
                <a:cubicBezTo>
                  <a:pt x="78661" y="307506"/>
                  <a:pt x="163698" y="210450"/>
                  <a:pt x="255446" y="119968"/>
                </a:cubicBezTo>
                <a:lnTo>
                  <a:pt x="38810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任意多边形: 形状 292"/>
          <p:cNvSpPr/>
          <p:nvPr/>
        </p:nvSpPr>
        <p:spPr>
          <a:xfrm rot="18900000">
            <a:off x="4868227" y="4372147"/>
            <a:ext cx="342949" cy="641893"/>
          </a:xfrm>
          <a:custGeom>
            <a:avLst/>
            <a:gdLst>
              <a:gd name="connsiteX0" fmla="*/ 412703 w 412703"/>
              <a:gd name="connsiteY0" fmla="*/ 0 h 772450"/>
              <a:gd name="connsiteX1" fmla="*/ 412703 w 412703"/>
              <a:gd name="connsiteY1" fmla="*/ 772450 h 772450"/>
              <a:gd name="connsiteX2" fmla="*/ 310355 w 412703"/>
              <a:gd name="connsiteY2" fmla="*/ 693866 h 772450"/>
              <a:gd name="connsiteX3" fmla="*/ 4198 w 412703"/>
              <a:gd name="connsiteY3" fmla="*/ 393283 h 772450"/>
              <a:gd name="connsiteX4" fmla="*/ 0 w 412703"/>
              <a:gd name="connsiteY4" fmla="*/ 387865 h 772450"/>
              <a:gd name="connsiteX5" fmla="*/ 120873 w 412703"/>
              <a:gd name="connsiteY5" fmla="*/ 254202 h 772450"/>
              <a:gd name="connsiteX6" fmla="*/ 377156 w 412703"/>
              <a:gd name="connsiteY6" fmla="*/ 25946 h 772450"/>
              <a:gd name="connsiteX7" fmla="*/ 412703 w 412703"/>
              <a:gd name="connsiteY7" fmla="*/ 0 h 77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2703" h="772450">
                <a:moveTo>
                  <a:pt x="412703" y="0"/>
                </a:moveTo>
                <a:lnTo>
                  <a:pt x="412703" y="772450"/>
                </a:lnTo>
                <a:lnTo>
                  <a:pt x="310355" y="693866"/>
                </a:lnTo>
                <a:cubicBezTo>
                  <a:pt x="200492" y="602216"/>
                  <a:pt x="98059" y="501698"/>
                  <a:pt x="4198" y="393283"/>
                </a:cubicBezTo>
                <a:lnTo>
                  <a:pt x="0" y="387865"/>
                </a:lnTo>
                <a:lnTo>
                  <a:pt x="120873" y="254202"/>
                </a:lnTo>
                <a:cubicBezTo>
                  <a:pt x="201301" y="172649"/>
                  <a:pt x="286924" y="96397"/>
                  <a:pt x="377156" y="25946"/>
                </a:cubicBezTo>
                <a:lnTo>
                  <a:pt x="41270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任意多边形: 形状 291"/>
          <p:cNvSpPr/>
          <p:nvPr/>
        </p:nvSpPr>
        <p:spPr>
          <a:xfrm rot="18900000">
            <a:off x="6980072" y="2260305"/>
            <a:ext cx="342948" cy="641892"/>
          </a:xfrm>
          <a:custGeom>
            <a:avLst/>
            <a:gdLst>
              <a:gd name="connsiteX0" fmla="*/ 0 w 412701"/>
              <a:gd name="connsiteY0" fmla="*/ 0 h 772448"/>
              <a:gd name="connsiteX1" fmla="*/ 35545 w 412701"/>
              <a:gd name="connsiteY1" fmla="*/ 25945 h 772448"/>
              <a:gd name="connsiteX2" fmla="*/ 291828 w 412701"/>
              <a:gd name="connsiteY2" fmla="*/ 254201 h 772448"/>
              <a:gd name="connsiteX3" fmla="*/ 412701 w 412701"/>
              <a:gd name="connsiteY3" fmla="*/ 387864 h 772448"/>
              <a:gd name="connsiteX4" fmla="*/ 408503 w 412701"/>
              <a:gd name="connsiteY4" fmla="*/ 393282 h 772448"/>
              <a:gd name="connsiteX5" fmla="*/ 102346 w 412701"/>
              <a:gd name="connsiteY5" fmla="*/ 693865 h 772448"/>
              <a:gd name="connsiteX6" fmla="*/ 0 w 412701"/>
              <a:gd name="connsiteY6" fmla="*/ 772448 h 772448"/>
              <a:gd name="connsiteX7" fmla="*/ 0 w 412701"/>
              <a:gd name="connsiteY7" fmla="*/ 0 h 77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2701" h="772448">
                <a:moveTo>
                  <a:pt x="0" y="0"/>
                </a:moveTo>
                <a:lnTo>
                  <a:pt x="35545" y="25945"/>
                </a:lnTo>
                <a:cubicBezTo>
                  <a:pt x="125777" y="96396"/>
                  <a:pt x="211400" y="172648"/>
                  <a:pt x="291828" y="254201"/>
                </a:cubicBezTo>
                <a:lnTo>
                  <a:pt x="412701" y="387864"/>
                </a:lnTo>
                <a:lnTo>
                  <a:pt x="408503" y="393282"/>
                </a:lnTo>
                <a:cubicBezTo>
                  <a:pt x="314642" y="501697"/>
                  <a:pt x="212209" y="602215"/>
                  <a:pt x="102346" y="693865"/>
                </a:cubicBezTo>
                <a:lnTo>
                  <a:pt x="0" y="772448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1" name="任意多边形: 形状 290"/>
          <p:cNvSpPr/>
          <p:nvPr/>
        </p:nvSpPr>
        <p:spPr>
          <a:xfrm rot="18900000">
            <a:off x="6829144" y="4522106"/>
            <a:ext cx="645025" cy="342197"/>
          </a:xfrm>
          <a:custGeom>
            <a:avLst/>
            <a:gdLst>
              <a:gd name="connsiteX0" fmla="*/ 0 w 776219"/>
              <a:gd name="connsiteY0" fmla="*/ 0 h 411797"/>
              <a:gd name="connsiteX1" fmla="*/ 776219 w 776219"/>
              <a:gd name="connsiteY1" fmla="*/ 0 h 411797"/>
              <a:gd name="connsiteX2" fmla="*/ 775173 w 776219"/>
              <a:gd name="connsiteY2" fmla="*/ 1495 h 411797"/>
              <a:gd name="connsiteX3" fmla="*/ 520771 w 776219"/>
              <a:gd name="connsiteY3" fmla="*/ 291830 h 411797"/>
              <a:gd name="connsiteX4" fmla="*/ 388109 w 776219"/>
              <a:gd name="connsiteY4" fmla="*/ 411797 h 411797"/>
              <a:gd name="connsiteX5" fmla="*/ 255447 w 776219"/>
              <a:gd name="connsiteY5" fmla="*/ 291830 h 411797"/>
              <a:gd name="connsiteX6" fmla="*/ 1045 w 776219"/>
              <a:gd name="connsiteY6" fmla="*/ 1495 h 411797"/>
              <a:gd name="connsiteX7" fmla="*/ 0 w 776219"/>
              <a:gd name="connsiteY7" fmla="*/ 0 h 41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6219" h="411797">
                <a:moveTo>
                  <a:pt x="0" y="0"/>
                </a:moveTo>
                <a:lnTo>
                  <a:pt x="776219" y="0"/>
                </a:lnTo>
                <a:lnTo>
                  <a:pt x="775173" y="1495"/>
                </a:lnTo>
                <a:cubicBezTo>
                  <a:pt x="697556" y="104292"/>
                  <a:pt x="612519" y="201348"/>
                  <a:pt x="520771" y="291830"/>
                </a:cubicBezTo>
                <a:lnTo>
                  <a:pt x="388109" y="411797"/>
                </a:lnTo>
                <a:lnTo>
                  <a:pt x="255447" y="291830"/>
                </a:lnTo>
                <a:cubicBezTo>
                  <a:pt x="163699" y="201348"/>
                  <a:pt x="78662" y="104292"/>
                  <a:pt x="1045" y="149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任意多边形: 形状 288"/>
          <p:cNvSpPr/>
          <p:nvPr/>
        </p:nvSpPr>
        <p:spPr>
          <a:xfrm rot="18900000">
            <a:off x="4500121" y="3293325"/>
            <a:ext cx="687992" cy="689544"/>
          </a:xfrm>
          <a:custGeom>
            <a:avLst/>
            <a:gdLst>
              <a:gd name="connsiteX0" fmla="*/ 815984 w 827924"/>
              <a:gd name="connsiteY0" fmla="*/ 0 h 829792"/>
              <a:gd name="connsiteX1" fmla="*/ 827924 w 827924"/>
              <a:gd name="connsiteY1" fmla="*/ 0 h 829792"/>
              <a:gd name="connsiteX2" fmla="*/ 680091 w 827924"/>
              <a:gd name="connsiteY2" fmla="*/ 210576 h 829792"/>
              <a:gd name="connsiteX3" fmla="*/ 543109 w 827924"/>
              <a:gd name="connsiteY3" fmla="*/ 459198 h 829792"/>
              <a:gd name="connsiteX4" fmla="*/ 518731 w 827924"/>
              <a:gd name="connsiteY4" fmla="*/ 517856 h 829792"/>
              <a:gd name="connsiteX5" fmla="*/ 346665 w 827924"/>
              <a:gd name="connsiteY5" fmla="*/ 600745 h 829792"/>
              <a:gd name="connsiteX6" fmla="*/ 131482 w 827924"/>
              <a:gd name="connsiteY6" fmla="*/ 731471 h 829792"/>
              <a:gd name="connsiteX7" fmla="*/ 0 w 827924"/>
              <a:gd name="connsiteY7" fmla="*/ 829792 h 829792"/>
              <a:gd name="connsiteX8" fmla="*/ 0 w 827924"/>
              <a:gd name="connsiteY8" fmla="*/ 815984 h 829792"/>
              <a:gd name="connsiteX9" fmla="*/ 815984 w 827924"/>
              <a:gd name="connsiteY9" fmla="*/ 0 h 829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924" h="829792">
                <a:moveTo>
                  <a:pt x="815984" y="0"/>
                </a:moveTo>
                <a:lnTo>
                  <a:pt x="827924" y="0"/>
                </a:lnTo>
                <a:lnTo>
                  <a:pt x="680091" y="210576"/>
                </a:lnTo>
                <a:cubicBezTo>
                  <a:pt x="630107" y="290648"/>
                  <a:pt x="584342" y="373626"/>
                  <a:pt x="543109" y="459198"/>
                </a:cubicBezTo>
                <a:lnTo>
                  <a:pt x="518731" y="517856"/>
                </a:lnTo>
                <a:lnTo>
                  <a:pt x="346665" y="600745"/>
                </a:lnTo>
                <a:cubicBezTo>
                  <a:pt x="272705" y="640922"/>
                  <a:pt x="200905" y="684571"/>
                  <a:pt x="131482" y="731471"/>
                </a:cubicBezTo>
                <a:lnTo>
                  <a:pt x="0" y="829792"/>
                </a:lnTo>
                <a:lnTo>
                  <a:pt x="0" y="815984"/>
                </a:lnTo>
                <a:cubicBezTo>
                  <a:pt x="0" y="365328"/>
                  <a:pt x="365328" y="0"/>
                  <a:pt x="81598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3830" y="2689849"/>
            <a:ext cx="4339590" cy="1885326"/>
            <a:chOff x="163830" y="2689849"/>
            <a:chExt cx="4339590" cy="1885326"/>
          </a:xfrm>
        </p:grpSpPr>
        <p:sp>
          <p:nvSpPr>
            <p:cNvPr id="5" name="矩形: 圆角 4"/>
            <p:cNvSpPr/>
            <p:nvPr/>
          </p:nvSpPr>
          <p:spPr>
            <a:xfrm>
              <a:off x="355600" y="2689849"/>
              <a:ext cx="4147820" cy="188532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 rot="18900000">
              <a:off x="163830" y="3163426"/>
              <a:ext cx="947200" cy="949336"/>
            </a:xfrm>
            <a:custGeom>
              <a:avLst/>
              <a:gdLst>
                <a:gd name="connsiteX0" fmla="*/ 815984 w 827924"/>
                <a:gd name="connsiteY0" fmla="*/ 0 h 829792"/>
                <a:gd name="connsiteX1" fmla="*/ 827924 w 827924"/>
                <a:gd name="connsiteY1" fmla="*/ 0 h 829792"/>
                <a:gd name="connsiteX2" fmla="*/ 680091 w 827924"/>
                <a:gd name="connsiteY2" fmla="*/ 210576 h 829792"/>
                <a:gd name="connsiteX3" fmla="*/ 543109 w 827924"/>
                <a:gd name="connsiteY3" fmla="*/ 459198 h 829792"/>
                <a:gd name="connsiteX4" fmla="*/ 518731 w 827924"/>
                <a:gd name="connsiteY4" fmla="*/ 517856 h 829792"/>
                <a:gd name="connsiteX5" fmla="*/ 346665 w 827924"/>
                <a:gd name="connsiteY5" fmla="*/ 600745 h 829792"/>
                <a:gd name="connsiteX6" fmla="*/ 131482 w 827924"/>
                <a:gd name="connsiteY6" fmla="*/ 731471 h 829792"/>
                <a:gd name="connsiteX7" fmla="*/ 0 w 827924"/>
                <a:gd name="connsiteY7" fmla="*/ 829792 h 829792"/>
                <a:gd name="connsiteX8" fmla="*/ 0 w 827924"/>
                <a:gd name="connsiteY8" fmla="*/ 815984 h 829792"/>
                <a:gd name="connsiteX9" fmla="*/ 815984 w 827924"/>
                <a:gd name="connsiteY9" fmla="*/ 0 h 82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7924" h="829792">
                  <a:moveTo>
                    <a:pt x="815984" y="0"/>
                  </a:moveTo>
                  <a:lnTo>
                    <a:pt x="827924" y="0"/>
                  </a:lnTo>
                  <a:lnTo>
                    <a:pt x="680091" y="210576"/>
                  </a:lnTo>
                  <a:cubicBezTo>
                    <a:pt x="630107" y="290648"/>
                    <a:pt x="584342" y="373626"/>
                    <a:pt x="543109" y="459198"/>
                  </a:cubicBezTo>
                  <a:lnTo>
                    <a:pt x="518731" y="517856"/>
                  </a:lnTo>
                  <a:lnTo>
                    <a:pt x="346665" y="600745"/>
                  </a:lnTo>
                  <a:cubicBezTo>
                    <a:pt x="272705" y="640922"/>
                    <a:pt x="200905" y="684571"/>
                    <a:pt x="131482" y="731471"/>
                  </a:cubicBezTo>
                  <a:lnTo>
                    <a:pt x="0" y="829792"/>
                  </a:lnTo>
                  <a:lnTo>
                    <a:pt x="0" y="815984"/>
                  </a:lnTo>
                  <a:cubicBezTo>
                    <a:pt x="0" y="365328"/>
                    <a:pt x="365328" y="0"/>
                    <a:pt x="81598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88" name="任意多边形: 形状 287"/>
          <p:cNvSpPr/>
          <p:nvPr/>
        </p:nvSpPr>
        <p:spPr>
          <a:xfrm rot="18900000">
            <a:off x="4756051" y="2658845"/>
            <a:ext cx="1023164" cy="300672"/>
          </a:xfrm>
          <a:custGeom>
            <a:avLst/>
            <a:gdLst>
              <a:gd name="connsiteX0" fmla="*/ 227525 w 1231268"/>
              <a:gd name="connsiteY0" fmla="*/ 0 h 361827"/>
              <a:gd name="connsiteX1" fmla="*/ 1003743 w 1231268"/>
              <a:gd name="connsiteY1" fmla="*/ 0 h 361827"/>
              <a:gd name="connsiteX2" fmla="*/ 1113470 w 1231268"/>
              <a:gd name="connsiteY2" fmla="*/ 156906 h 361827"/>
              <a:gd name="connsiteX3" fmla="*/ 1212581 w 1231268"/>
              <a:gd name="connsiteY3" fmla="*/ 323293 h 361827"/>
              <a:gd name="connsiteX4" fmla="*/ 1231268 w 1231268"/>
              <a:gd name="connsiteY4" fmla="*/ 361827 h 361827"/>
              <a:gd name="connsiteX5" fmla="*/ 1141609 w 1231268"/>
              <a:gd name="connsiteY5" fmla="*/ 338773 h 361827"/>
              <a:gd name="connsiteX6" fmla="*/ 615633 w 1231268"/>
              <a:gd name="connsiteY6" fmla="*/ 285750 h 361827"/>
              <a:gd name="connsiteX7" fmla="*/ 89658 w 1231268"/>
              <a:gd name="connsiteY7" fmla="*/ 338773 h 361827"/>
              <a:gd name="connsiteX8" fmla="*/ 0 w 1231268"/>
              <a:gd name="connsiteY8" fmla="*/ 361826 h 361827"/>
              <a:gd name="connsiteX9" fmla="*/ 18687 w 1231268"/>
              <a:gd name="connsiteY9" fmla="*/ 323293 h 361827"/>
              <a:gd name="connsiteX10" fmla="*/ 117797 w 1231268"/>
              <a:gd name="connsiteY10" fmla="*/ 156906 h 361827"/>
              <a:gd name="connsiteX11" fmla="*/ 227525 w 1231268"/>
              <a:gd name="connsiteY11" fmla="*/ 0 h 36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31268" h="361827">
                <a:moveTo>
                  <a:pt x="227525" y="0"/>
                </a:moveTo>
                <a:lnTo>
                  <a:pt x="1003743" y="0"/>
                </a:lnTo>
                <a:lnTo>
                  <a:pt x="1113470" y="156906"/>
                </a:lnTo>
                <a:cubicBezTo>
                  <a:pt x="1148481" y="211071"/>
                  <a:pt x="1181547" y="266568"/>
                  <a:pt x="1212581" y="323293"/>
                </a:cubicBezTo>
                <a:lnTo>
                  <a:pt x="1231268" y="361827"/>
                </a:lnTo>
                <a:lnTo>
                  <a:pt x="1141609" y="338773"/>
                </a:lnTo>
                <a:cubicBezTo>
                  <a:pt x="971714" y="304008"/>
                  <a:pt x="795806" y="285750"/>
                  <a:pt x="615633" y="285750"/>
                </a:cubicBezTo>
                <a:cubicBezTo>
                  <a:pt x="435461" y="285750"/>
                  <a:pt x="259552" y="304008"/>
                  <a:pt x="89658" y="338773"/>
                </a:cubicBezTo>
                <a:lnTo>
                  <a:pt x="0" y="361826"/>
                </a:lnTo>
                <a:lnTo>
                  <a:pt x="18687" y="323293"/>
                </a:lnTo>
                <a:cubicBezTo>
                  <a:pt x="49721" y="266568"/>
                  <a:pt x="82787" y="211071"/>
                  <a:pt x="117797" y="156906"/>
                </a:cubicBezTo>
                <a:lnTo>
                  <a:pt x="227525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4" name="任意多边形: 形状 283"/>
          <p:cNvSpPr/>
          <p:nvPr/>
        </p:nvSpPr>
        <p:spPr>
          <a:xfrm>
            <a:off x="5331150" y="2872698"/>
            <a:ext cx="1529700" cy="1529700"/>
          </a:xfrm>
          <a:custGeom>
            <a:avLst/>
            <a:gdLst>
              <a:gd name="connsiteX0" fmla="*/ 920415 w 1840831"/>
              <a:gd name="connsiteY0" fmla="*/ 0 h 1840832"/>
              <a:gd name="connsiteX1" fmla="*/ 1625852 w 1840831"/>
              <a:gd name="connsiteY1" fmla="*/ 95494 h 1840832"/>
              <a:gd name="connsiteX2" fmla="*/ 1718610 w 1840831"/>
              <a:gd name="connsiteY2" fmla="*/ 125638 h 1840832"/>
              <a:gd name="connsiteX3" fmla="*/ 1720602 w 1840831"/>
              <a:gd name="connsiteY3" fmla="*/ 131049 h 1840832"/>
              <a:gd name="connsiteX4" fmla="*/ 1840831 w 1840831"/>
              <a:gd name="connsiteY4" fmla="*/ 920417 h 1840832"/>
              <a:gd name="connsiteX5" fmla="*/ 1720602 w 1840831"/>
              <a:gd name="connsiteY5" fmla="*/ 1709785 h 1840832"/>
              <a:gd name="connsiteX6" fmla="*/ 1718610 w 1840831"/>
              <a:gd name="connsiteY6" fmla="*/ 1715194 h 1840832"/>
              <a:gd name="connsiteX7" fmla="*/ 1625852 w 1840831"/>
              <a:gd name="connsiteY7" fmla="*/ 1745338 h 1840832"/>
              <a:gd name="connsiteX8" fmla="*/ 920415 w 1840831"/>
              <a:gd name="connsiteY8" fmla="*/ 1840832 h 1840832"/>
              <a:gd name="connsiteX9" fmla="*/ 214979 w 1840831"/>
              <a:gd name="connsiteY9" fmla="*/ 1745338 h 1840832"/>
              <a:gd name="connsiteX10" fmla="*/ 122222 w 1840831"/>
              <a:gd name="connsiteY10" fmla="*/ 1715195 h 1840832"/>
              <a:gd name="connsiteX11" fmla="*/ 120230 w 1840831"/>
              <a:gd name="connsiteY11" fmla="*/ 1709785 h 1840832"/>
              <a:gd name="connsiteX12" fmla="*/ 0 w 1840831"/>
              <a:gd name="connsiteY12" fmla="*/ 920417 h 1840832"/>
              <a:gd name="connsiteX13" fmla="*/ 120229 w 1840831"/>
              <a:gd name="connsiteY13" fmla="*/ 131049 h 1840832"/>
              <a:gd name="connsiteX14" fmla="*/ 122222 w 1840831"/>
              <a:gd name="connsiteY14" fmla="*/ 125638 h 1840832"/>
              <a:gd name="connsiteX15" fmla="*/ 214979 w 1840831"/>
              <a:gd name="connsiteY15" fmla="*/ 95494 h 1840832"/>
              <a:gd name="connsiteX16" fmla="*/ 920415 w 1840831"/>
              <a:gd name="connsiteY16" fmla="*/ 0 h 18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40831" h="1840832">
                <a:moveTo>
                  <a:pt x="920415" y="0"/>
                </a:moveTo>
                <a:cubicBezTo>
                  <a:pt x="1163879" y="0"/>
                  <a:pt x="1400581" y="33159"/>
                  <a:pt x="1625852" y="95494"/>
                </a:cubicBezTo>
                <a:lnTo>
                  <a:pt x="1718610" y="125638"/>
                </a:lnTo>
                <a:lnTo>
                  <a:pt x="1720602" y="131049"/>
                </a:lnTo>
                <a:cubicBezTo>
                  <a:pt x="1798865" y="381181"/>
                  <a:pt x="1840831" y="646521"/>
                  <a:pt x="1840831" y="920417"/>
                </a:cubicBezTo>
                <a:cubicBezTo>
                  <a:pt x="1840831" y="1194314"/>
                  <a:pt x="1798864" y="1459653"/>
                  <a:pt x="1720602" y="1709785"/>
                </a:cubicBezTo>
                <a:lnTo>
                  <a:pt x="1718610" y="1715194"/>
                </a:lnTo>
                <a:lnTo>
                  <a:pt x="1625852" y="1745338"/>
                </a:lnTo>
                <a:cubicBezTo>
                  <a:pt x="1400581" y="1807673"/>
                  <a:pt x="1163879" y="1840832"/>
                  <a:pt x="920415" y="1840832"/>
                </a:cubicBezTo>
                <a:cubicBezTo>
                  <a:pt x="676952" y="1840832"/>
                  <a:pt x="440249" y="1807673"/>
                  <a:pt x="214979" y="1745338"/>
                </a:cubicBezTo>
                <a:lnTo>
                  <a:pt x="122222" y="1715195"/>
                </a:lnTo>
                <a:lnTo>
                  <a:pt x="120230" y="1709785"/>
                </a:lnTo>
                <a:cubicBezTo>
                  <a:pt x="41967" y="1459653"/>
                  <a:pt x="0" y="1194314"/>
                  <a:pt x="0" y="920417"/>
                </a:cubicBezTo>
                <a:cubicBezTo>
                  <a:pt x="0" y="646521"/>
                  <a:pt x="41967" y="381181"/>
                  <a:pt x="120229" y="131049"/>
                </a:cubicBezTo>
                <a:lnTo>
                  <a:pt x="122222" y="125638"/>
                </a:lnTo>
                <a:lnTo>
                  <a:pt x="214979" y="95494"/>
                </a:lnTo>
                <a:cubicBezTo>
                  <a:pt x="440249" y="33159"/>
                  <a:pt x="676952" y="0"/>
                  <a:pt x="92041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3" name="任意多边形: 形状 282"/>
          <p:cNvSpPr/>
          <p:nvPr/>
        </p:nvSpPr>
        <p:spPr>
          <a:xfrm rot="18900000">
            <a:off x="5117668" y="3957245"/>
            <a:ext cx="298143" cy="1019131"/>
          </a:xfrm>
          <a:custGeom>
            <a:avLst/>
            <a:gdLst>
              <a:gd name="connsiteX0" fmla="*/ 358783 w 358783"/>
              <a:gd name="connsiteY0" fmla="*/ 0 h 1226415"/>
              <a:gd name="connsiteX1" fmla="*/ 352580 w 358783"/>
              <a:gd name="connsiteY1" fmla="*/ 23806 h 1226415"/>
              <a:gd name="connsiteX2" fmla="*/ 285749 w 358783"/>
              <a:gd name="connsiteY2" fmla="*/ 613207 h 1226415"/>
              <a:gd name="connsiteX3" fmla="*/ 352580 w 358783"/>
              <a:gd name="connsiteY3" fmla="*/ 1202608 h 1226415"/>
              <a:gd name="connsiteX4" fmla="*/ 358783 w 358783"/>
              <a:gd name="connsiteY4" fmla="*/ 1226415 h 1226415"/>
              <a:gd name="connsiteX5" fmla="*/ 248394 w 358783"/>
              <a:gd name="connsiteY5" fmla="*/ 1167579 h 1226415"/>
              <a:gd name="connsiteX6" fmla="*/ 67878 w 358783"/>
              <a:gd name="connsiteY6" fmla="*/ 1050910 h 1226415"/>
              <a:gd name="connsiteX7" fmla="*/ 0 w 358783"/>
              <a:gd name="connsiteY7" fmla="*/ 998792 h 1226415"/>
              <a:gd name="connsiteX8" fmla="*/ 0 w 358783"/>
              <a:gd name="connsiteY8" fmla="*/ 226342 h 1226415"/>
              <a:gd name="connsiteX9" fmla="*/ 103185 w 358783"/>
              <a:gd name="connsiteY9" fmla="*/ 151025 h 1226415"/>
              <a:gd name="connsiteX10" fmla="*/ 248394 w 358783"/>
              <a:gd name="connsiteY10" fmla="*/ 58835 h 1226415"/>
              <a:gd name="connsiteX11" fmla="*/ 358783 w 358783"/>
              <a:gd name="connsiteY11" fmla="*/ 0 h 122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8783" h="1226415">
                <a:moveTo>
                  <a:pt x="358783" y="0"/>
                </a:moveTo>
                <a:lnTo>
                  <a:pt x="352580" y="23806"/>
                </a:lnTo>
                <a:cubicBezTo>
                  <a:pt x="308856" y="213216"/>
                  <a:pt x="285749" y="410513"/>
                  <a:pt x="285749" y="613207"/>
                </a:cubicBezTo>
                <a:cubicBezTo>
                  <a:pt x="285749" y="815901"/>
                  <a:pt x="308856" y="1013198"/>
                  <a:pt x="352580" y="1202608"/>
                </a:cubicBezTo>
                <a:lnTo>
                  <a:pt x="358783" y="1226415"/>
                </a:lnTo>
                <a:lnTo>
                  <a:pt x="248394" y="1167579"/>
                </a:lnTo>
                <a:cubicBezTo>
                  <a:pt x="186602" y="1131109"/>
                  <a:pt x="126382" y="1092179"/>
                  <a:pt x="67878" y="1050910"/>
                </a:cubicBezTo>
                <a:lnTo>
                  <a:pt x="0" y="998792"/>
                </a:lnTo>
                <a:lnTo>
                  <a:pt x="0" y="226342"/>
                </a:lnTo>
                <a:lnTo>
                  <a:pt x="103185" y="151025"/>
                </a:lnTo>
                <a:cubicBezTo>
                  <a:pt x="150533" y="118762"/>
                  <a:pt x="198960" y="88011"/>
                  <a:pt x="248394" y="58835"/>
                </a:cubicBezTo>
                <a:lnTo>
                  <a:pt x="35878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2" name="任意多边形: 形状 281"/>
          <p:cNvSpPr/>
          <p:nvPr/>
        </p:nvSpPr>
        <p:spPr>
          <a:xfrm rot="18900000">
            <a:off x="6776189" y="2298721"/>
            <a:ext cx="298143" cy="1019130"/>
          </a:xfrm>
          <a:custGeom>
            <a:avLst/>
            <a:gdLst>
              <a:gd name="connsiteX0" fmla="*/ 0 w 358783"/>
              <a:gd name="connsiteY0" fmla="*/ 0 h 1226414"/>
              <a:gd name="connsiteX1" fmla="*/ 110387 w 358783"/>
              <a:gd name="connsiteY1" fmla="*/ 58835 h 1226414"/>
              <a:gd name="connsiteX2" fmla="*/ 255596 w 358783"/>
              <a:gd name="connsiteY2" fmla="*/ 151025 h 1226414"/>
              <a:gd name="connsiteX3" fmla="*/ 358783 w 358783"/>
              <a:gd name="connsiteY3" fmla="*/ 226343 h 1226414"/>
              <a:gd name="connsiteX4" fmla="*/ 358783 w 358783"/>
              <a:gd name="connsiteY4" fmla="*/ 998791 h 1226414"/>
              <a:gd name="connsiteX5" fmla="*/ 290903 w 358783"/>
              <a:gd name="connsiteY5" fmla="*/ 1050910 h 1226414"/>
              <a:gd name="connsiteX6" fmla="*/ 110387 w 358783"/>
              <a:gd name="connsiteY6" fmla="*/ 1167579 h 1226414"/>
              <a:gd name="connsiteX7" fmla="*/ 0 w 358783"/>
              <a:gd name="connsiteY7" fmla="*/ 1226414 h 1226414"/>
              <a:gd name="connsiteX8" fmla="*/ 6203 w 358783"/>
              <a:gd name="connsiteY8" fmla="*/ 1202608 h 1226414"/>
              <a:gd name="connsiteX9" fmla="*/ 73033 w 358783"/>
              <a:gd name="connsiteY9" fmla="*/ 613207 h 1226414"/>
              <a:gd name="connsiteX10" fmla="*/ 6203 w 358783"/>
              <a:gd name="connsiteY10" fmla="*/ 23806 h 1226414"/>
              <a:gd name="connsiteX11" fmla="*/ 0 w 358783"/>
              <a:gd name="connsiteY11" fmla="*/ 0 h 122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8783" h="1226414">
                <a:moveTo>
                  <a:pt x="0" y="0"/>
                </a:moveTo>
                <a:lnTo>
                  <a:pt x="110387" y="58835"/>
                </a:lnTo>
                <a:cubicBezTo>
                  <a:pt x="159821" y="88011"/>
                  <a:pt x="208248" y="118762"/>
                  <a:pt x="255596" y="151025"/>
                </a:cubicBezTo>
                <a:lnTo>
                  <a:pt x="358783" y="226343"/>
                </a:lnTo>
                <a:lnTo>
                  <a:pt x="358783" y="998791"/>
                </a:lnTo>
                <a:lnTo>
                  <a:pt x="290903" y="1050910"/>
                </a:lnTo>
                <a:cubicBezTo>
                  <a:pt x="232399" y="1092179"/>
                  <a:pt x="172179" y="1131109"/>
                  <a:pt x="110387" y="1167579"/>
                </a:cubicBezTo>
                <a:lnTo>
                  <a:pt x="0" y="1226414"/>
                </a:lnTo>
                <a:lnTo>
                  <a:pt x="6203" y="1202608"/>
                </a:lnTo>
                <a:cubicBezTo>
                  <a:pt x="49926" y="1013198"/>
                  <a:pt x="73033" y="815901"/>
                  <a:pt x="73033" y="613207"/>
                </a:cubicBezTo>
                <a:cubicBezTo>
                  <a:pt x="73033" y="410513"/>
                  <a:pt x="49926" y="213216"/>
                  <a:pt x="6203" y="2380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任意多边形: 形状 280"/>
          <p:cNvSpPr/>
          <p:nvPr/>
        </p:nvSpPr>
        <p:spPr>
          <a:xfrm rot="18900000">
            <a:off x="7001181" y="3291003"/>
            <a:ext cx="687990" cy="690979"/>
          </a:xfrm>
          <a:custGeom>
            <a:avLst/>
            <a:gdLst>
              <a:gd name="connsiteX0" fmla="*/ 827923 w 827923"/>
              <a:gd name="connsiteY0" fmla="*/ 0 h 831520"/>
              <a:gd name="connsiteX1" fmla="*/ 827923 w 827923"/>
              <a:gd name="connsiteY1" fmla="*/ 15536 h 831520"/>
              <a:gd name="connsiteX2" fmla="*/ 11939 w 827923"/>
              <a:gd name="connsiteY2" fmla="*/ 831520 h 831520"/>
              <a:gd name="connsiteX3" fmla="*/ 0 w 827923"/>
              <a:gd name="connsiteY3" fmla="*/ 831520 h 831520"/>
              <a:gd name="connsiteX4" fmla="*/ 147832 w 827923"/>
              <a:gd name="connsiteY4" fmla="*/ 620945 h 831520"/>
              <a:gd name="connsiteX5" fmla="*/ 284814 w 827923"/>
              <a:gd name="connsiteY5" fmla="*/ 372323 h 831520"/>
              <a:gd name="connsiteX6" fmla="*/ 309192 w 827923"/>
              <a:gd name="connsiteY6" fmla="*/ 313663 h 831520"/>
              <a:gd name="connsiteX7" fmla="*/ 481257 w 827923"/>
              <a:gd name="connsiteY7" fmla="*/ 230775 h 831520"/>
              <a:gd name="connsiteX8" fmla="*/ 738448 w 827923"/>
              <a:gd name="connsiteY8" fmla="*/ 71068 h 831520"/>
              <a:gd name="connsiteX9" fmla="*/ 827923 w 827923"/>
              <a:gd name="connsiteY9" fmla="*/ 0 h 8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923" h="831520">
                <a:moveTo>
                  <a:pt x="827923" y="0"/>
                </a:moveTo>
                <a:lnTo>
                  <a:pt x="827923" y="15536"/>
                </a:lnTo>
                <a:cubicBezTo>
                  <a:pt x="827923" y="466192"/>
                  <a:pt x="462595" y="831520"/>
                  <a:pt x="11939" y="831520"/>
                </a:cubicBezTo>
                <a:lnTo>
                  <a:pt x="0" y="831520"/>
                </a:lnTo>
                <a:lnTo>
                  <a:pt x="147832" y="620945"/>
                </a:lnTo>
                <a:cubicBezTo>
                  <a:pt x="197817" y="540873"/>
                  <a:pt x="243581" y="457895"/>
                  <a:pt x="284814" y="372323"/>
                </a:cubicBezTo>
                <a:lnTo>
                  <a:pt x="309192" y="313663"/>
                </a:lnTo>
                <a:lnTo>
                  <a:pt x="481257" y="230775"/>
                </a:lnTo>
                <a:cubicBezTo>
                  <a:pt x="570240" y="182437"/>
                  <a:pt x="656097" y="129074"/>
                  <a:pt x="738448" y="71068"/>
                </a:cubicBezTo>
                <a:lnTo>
                  <a:pt x="82792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任意多边形: 形状 278"/>
          <p:cNvSpPr/>
          <p:nvPr/>
        </p:nvSpPr>
        <p:spPr>
          <a:xfrm rot="18900000">
            <a:off x="6412786" y="4315580"/>
            <a:ext cx="1023164" cy="300672"/>
          </a:xfrm>
          <a:custGeom>
            <a:avLst/>
            <a:gdLst>
              <a:gd name="connsiteX0" fmla="*/ 0 w 1231268"/>
              <a:gd name="connsiteY0" fmla="*/ 0 h 361826"/>
              <a:gd name="connsiteX1" fmla="*/ 89658 w 1231268"/>
              <a:gd name="connsiteY1" fmla="*/ 23053 h 361826"/>
              <a:gd name="connsiteX2" fmla="*/ 615633 w 1231268"/>
              <a:gd name="connsiteY2" fmla="*/ 76076 h 361826"/>
              <a:gd name="connsiteX3" fmla="*/ 1141609 w 1231268"/>
              <a:gd name="connsiteY3" fmla="*/ 23053 h 361826"/>
              <a:gd name="connsiteX4" fmla="*/ 1231268 w 1231268"/>
              <a:gd name="connsiteY4" fmla="*/ 0 h 361826"/>
              <a:gd name="connsiteX5" fmla="*/ 1212580 w 1231268"/>
              <a:gd name="connsiteY5" fmla="*/ 38536 h 361826"/>
              <a:gd name="connsiteX6" fmla="*/ 1113469 w 1231268"/>
              <a:gd name="connsiteY6" fmla="*/ 204923 h 361826"/>
              <a:gd name="connsiteX7" fmla="*/ 1003744 w 1231268"/>
              <a:gd name="connsiteY7" fmla="*/ 361826 h 361826"/>
              <a:gd name="connsiteX8" fmla="*/ 227525 w 1231268"/>
              <a:gd name="connsiteY8" fmla="*/ 361826 h 361826"/>
              <a:gd name="connsiteX9" fmla="*/ 117798 w 1231268"/>
              <a:gd name="connsiteY9" fmla="*/ 204923 h 361826"/>
              <a:gd name="connsiteX10" fmla="*/ 18687 w 1231268"/>
              <a:gd name="connsiteY10" fmla="*/ 38536 h 361826"/>
              <a:gd name="connsiteX11" fmla="*/ 0 w 1231268"/>
              <a:gd name="connsiteY11" fmla="*/ 0 h 36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31268" h="361826">
                <a:moveTo>
                  <a:pt x="0" y="0"/>
                </a:moveTo>
                <a:lnTo>
                  <a:pt x="89658" y="23053"/>
                </a:lnTo>
                <a:cubicBezTo>
                  <a:pt x="259552" y="57819"/>
                  <a:pt x="435461" y="76076"/>
                  <a:pt x="615633" y="76076"/>
                </a:cubicBezTo>
                <a:cubicBezTo>
                  <a:pt x="795806" y="76076"/>
                  <a:pt x="971714" y="57819"/>
                  <a:pt x="1141609" y="23053"/>
                </a:cubicBezTo>
                <a:lnTo>
                  <a:pt x="1231268" y="0"/>
                </a:lnTo>
                <a:lnTo>
                  <a:pt x="1212580" y="38536"/>
                </a:lnTo>
                <a:cubicBezTo>
                  <a:pt x="1181546" y="95261"/>
                  <a:pt x="1148480" y="150758"/>
                  <a:pt x="1113469" y="204923"/>
                </a:cubicBezTo>
                <a:lnTo>
                  <a:pt x="1003744" y="361826"/>
                </a:lnTo>
                <a:lnTo>
                  <a:pt x="227525" y="361826"/>
                </a:lnTo>
                <a:lnTo>
                  <a:pt x="117798" y="204923"/>
                </a:lnTo>
                <a:cubicBezTo>
                  <a:pt x="82788" y="150758"/>
                  <a:pt x="49721" y="95261"/>
                  <a:pt x="18687" y="385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5600" y="1028700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426368" y="1028700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 flipH="1">
            <a:off x="7688580" y="2689849"/>
            <a:ext cx="4339590" cy="1885326"/>
            <a:chOff x="163830" y="2689849"/>
            <a:chExt cx="4339590" cy="1885326"/>
          </a:xfrm>
        </p:grpSpPr>
        <p:sp>
          <p:nvSpPr>
            <p:cNvPr id="9" name="矩形: 圆角 8"/>
            <p:cNvSpPr/>
            <p:nvPr/>
          </p:nvSpPr>
          <p:spPr>
            <a:xfrm>
              <a:off x="355600" y="2689849"/>
              <a:ext cx="4147820" cy="188532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 rot="18900000">
              <a:off x="163830" y="3163426"/>
              <a:ext cx="947200" cy="949336"/>
            </a:xfrm>
            <a:custGeom>
              <a:avLst/>
              <a:gdLst>
                <a:gd name="connsiteX0" fmla="*/ 815984 w 827924"/>
                <a:gd name="connsiteY0" fmla="*/ 0 h 829792"/>
                <a:gd name="connsiteX1" fmla="*/ 827924 w 827924"/>
                <a:gd name="connsiteY1" fmla="*/ 0 h 829792"/>
                <a:gd name="connsiteX2" fmla="*/ 680091 w 827924"/>
                <a:gd name="connsiteY2" fmla="*/ 210576 h 829792"/>
                <a:gd name="connsiteX3" fmla="*/ 543109 w 827924"/>
                <a:gd name="connsiteY3" fmla="*/ 459198 h 829792"/>
                <a:gd name="connsiteX4" fmla="*/ 518731 w 827924"/>
                <a:gd name="connsiteY4" fmla="*/ 517856 h 829792"/>
                <a:gd name="connsiteX5" fmla="*/ 346665 w 827924"/>
                <a:gd name="connsiteY5" fmla="*/ 600745 h 829792"/>
                <a:gd name="connsiteX6" fmla="*/ 131482 w 827924"/>
                <a:gd name="connsiteY6" fmla="*/ 731471 h 829792"/>
                <a:gd name="connsiteX7" fmla="*/ 0 w 827924"/>
                <a:gd name="connsiteY7" fmla="*/ 829792 h 829792"/>
                <a:gd name="connsiteX8" fmla="*/ 0 w 827924"/>
                <a:gd name="connsiteY8" fmla="*/ 815984 h 829792"/>
                <a:gd name="connsiteX9" fmla="*/ 815984 w 827924"/>
                <a:gd name="connsiteY9" fmla="*/ 0 h 82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7924" h="829792">
                  <a:moveTo>
                    <a:pt x="815984" y="0"/>
                  </a:moveTo>
                  <a:lnTo>
                    <a:pt x="827924" y="0"/>
                  </a:lnTo>
                  <a:lnTo>
                    <a:pt x="680091" y="210576"/>
                  </a:lnTo>
                  <a:cubicBezTo>
                    <a:pt x="630107" y="290648"/>
                    <a:pt x="584342" y="373626"/>
                    <a:pt x="543109" y="459198"/>
                  </a:cubicBezTo>
                  <a:lnTo>
                    <a:pt x="518731" y="517856"/>
                  </a:lnTo>
                  <a:lnTo>
                    <a:pt x="346665" y="600745"/>
                  </a:lnTo>
                  <a:cubicBezTo>
                    <a:pt x="272705" y="640922"/>
                    <a:pt x="200905" y="684571"/>
                    <a:pt x="131482" y="731471"/>
                  </a:cubicBezTo>
                  <a:lnTo>
                    <a:pt x="0" y="829792"/>
                  </a:lnTo>
                  <a:lnTo>
                    <a:pt x="0" y="815984"/>
                  </a:lnTo>
                  <a:cubicBezTo>
                    <a:pt x="0" y="365328"/>
                    <a:pt x="365328" y="0"/>
                    <a:pt x="81598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2" name="矩形: 圆角 11"/>
          <p:cNvSpPr/>
          <p:nvPr/>
        </p:nvSpPr>
        <p:spPr>
          <a:xfrm>
            <a:off x="355600" y="4944768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426368" y="4944768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9997" y="1169245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807689" y="2872698"/>
            <a:ext cx="1119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改进措施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10237067" y="2872698"/>
            <a:ext cx="1119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改进措施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519996" y="1448599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工作流程存在冗余环节，跨部门协作时信息传递易滞后，导致任务推进周期长，部分环节反复修改，影响整体效率。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10764860" y="1169245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8657344" y="1448599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项目执行中，对突发问题预判不足，遇紧急状况时，资源调配混乱，临时协调耗时久，打乱工作节奏。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519997" y="5136664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519996" y="5416018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业务知识更新滞后，面对新政策、新市场需求，专业储备不足，输出方案时缺乏创新性与实用性，难以适配业务拓展。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10764860" y="5136664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8657344" y="5416018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团队沟通存在 “单向输出” 问题，基层建议难有效传递至决策层，同时决策反馈不及时，员工执行方向易偏差。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3649553" y="1045077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7618188" y="1045077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3649553" y="4972948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7618188" y="4972948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833197" y="3205489"/>
            <a:ext cx="2271153" cy="96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工作流程存在冗余环节，跨部门协作时信息传递易滞后，导致任务推进周期长，部分环节反复修改，影响整体效率。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8805712" y="3205489"/>
            <a:ext cx="2550892" cy="96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建立项目风险预案库，按过往案例分类梳理潜在风险，提前储备应急资源，定期演练应对方案，遇突发情况快速响应，保障项目平稳推进。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3420189" y="2973700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B51D25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7926154" y="2973700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B51D25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5482818" y="3222049"/>
            <a:ext cx="1226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不足与改进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76" name="Google Shape;5558;p76"/>
          <p:cNvGrpSpPr/>
          <p:nvPr/>
        </p:nvGrpSpPr>
        <p:grpSpPr>
          <a:xfrm>
            <a:off x="5547492" y="1125538"/>
            <a:ext cx="1097016" cy="1097016"/>
            <a:chOff x="5049725" y="3806450"/>
            <a:chExt cx="481825" cy="48182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77" name="Google Shape;5559;p76"/>
            <p:cNvSpPr/>
            <p:nvPr/>
          </p:nvSpPr>
          <p:spPr>
            <a:xfrm>
              <a:off x="536115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8" name="Google Shape;5560;p76"/>
            <p:cNvSpPr/>
            <p:nvPr/>
          </p:nvSpPr>
          <p:spPr>
            <a:xfrm>
              <a:off x="519177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0" name="Google Shape;5561;p76"/>
            <p:cNvSpPr/>
            <p:nvPr/>
          </p:nvSpPr>
          <p:spPr>
            <a:xfrm>
              <a:off x="504972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5" name="Google Shape;5562;p76"/>
          <p:cNvGrpSpPr/>
          <p:nvPr/>
        </p:nvGrpSpPr>
        <p:grpSpPr>
          <a:xfrm>
            <a:off x="5604402" y="5149509"/>
            <a:ext cx="985356" cy="985356"/>
            <a:chOff x="5651375" y="3806450"/>
            <a:chExt cx="481825" cy="481825"/>
          </a:xfrm>
        </p:grpSpPr>
        <p:sp>
          <p:nvSpPr>
            <p:cNvPr id="286" name="Google Shape;5563;p76"/>
            <p:cNvSpPr/>
            <p:nvPr/>
          </p:nvSpPr>
          <p:spPr>
            <a:xfrm>
              <a:off x="579342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7" name="Google Shape;5564;p76"/>
            <p:cNvSpPr/>
            <p:nvPr/>
          </p:nvSpPr>
          <p:spPr>
            <a:xfrm>
              <a:off x="5794475" y="4089725"/>
              <a:ext cx="195600" cy="84725"/>
            </a:xfrm>
            <a:custGeom>
              <a:avLst/>
              <a:gdLst/>
              <a:ahLst/>
              <a:cxnLst/>
              <a:rect l="l" t="t" r="r" b="b"/>
              <a:pathLst>
                <a:path w="7824" h="3389" extrusionOk="0">
                  <a:moveTo>
                    <a:pt x="1" y="1"/>
                  </a:moveTo>
                  <a:cubicBezTo>
                    <a:pt x="284" y="1943"/>
                    <a:pt x="1949" y="3385"/>
                    <a:pt x="3912" y="3388"/>
                  </a:cubicBezTo>
                  <a:cubicBezTo>
                    <a:pt x="5875" y="3385"/>
                    <a:pt x="7541" y="1943"/>
                    <a:pt x="78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0" name="Google Shape;5565;p76"/>
            <p:cNvSpPr/>
            <p:nvPr/>
          </p:nvSpPr>
          <p:spPr>
            <a:xfrm>
              <a:off x="565137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2" y="8901"/>
                    <a:pt x="6689" y="9073"/>
                    <a:pt x="6248" y="9073"/>
                  </a:cubicBezTo>
                  <a:cubicBezTo>
                    <a:pt x="6029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6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3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14153" y="10202"/>
                  </a:moveTo>
                  <a:cubicBezTo>
                    <a:pt x="14463" y="10202"/>
                    <a:pt x="14716" y="10452"/>
                    <a:pt x="14716" y="10766"/>
                  </a:cubicBezTo>
                  <a:cubicBezTo>
                    <a:pt x="14716" y="13566"/>
                    <a:pt x="12437" y="15849"/>
                    <a:pt x="9636" y="15849"/>
                  </a:cubicBezTo>
                  <a:cubicBezTo>
                    <a:pt x="6833" y="15849"/>
                    <a:pt x="4553" y="13566"/>
                    <a:pt x="4553" y="10766"/>
                  </a:cubicBezTo>
                  <a:cubicBezTo>
                    <a:pt x="4553" y="10452"/>
                    <a:pt x="4806" y="10202"/>
                    <a:pt x="5119" y="10202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30" y="0"/>
                    <a:pt x="96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4" name="Google Shape;5566;p76"/>
            <p:cNvSpPr/>
            <p:nvPr/>
          </p:nvSpPr>
          <p:spPr>
            <a:xfrm>
              <a:off x="596280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355599" y="1836420"/>
            <a:ext cx="2097310" cy="446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项目工作总结及计划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甘特图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65" name="组合 264"/>
          <p:cNvGrpSpPr/>
          <p:nvPr/>
        </p:nvGrpSpPr>
        <p:grpSpPr>
          <a:xfrm>
            <a:off x="2452912" y="1028700"/>
            <a:ext cx="9383488" cy="403860"/>
            <a:chOff x="1915886" y="1028700"/>
            <a:chExt cx="9920514" cy="403860"/>
          </a:xfrm>
        </p:grpSpPr>
        <p:sp>
          <p:nvSpPr>
            <p:cNvPr id="6" name="矩形 5"/>
            <p:cNvSpPr/>
            <p:nvPr/>
          </p:nvSpPr>
          <p:spPr>
            <a:xfrm>
              <a:off x="1915886" y="1028700"/>
              <a:ext cx="4960257" cy="4038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上半年总结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876143" y="1028700"/>
              <a:ext cx="4960257" cy="4038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下半年计划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2452912" y="1432560"/>
            <a:ext cx="9383488" cy="403860"/>
            <a:chOff x="1915886" y="1432560"/>
            <a:chExt cx="9920514" cy="403860"/>
          </a:xfrm>
        </p:grpSpPr>
        <p:sp>
          <p:nvSpPr>
            <p:cNvPr id="14" name="矩形 13"/>
            <p:cNvSpPr/>
            <p:nvPr/>
          </p:nvSpPr>
          <p:spPr>
            <a:xfrm>
              <a:off x="1915886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742596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569305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396015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222724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049434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876142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7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8" name="矩形 257"/>
            <p:cNvSpPr/>
            <p:nvPr/>
          </p:nvSpPr>
          <p:spPr>
            <a:xfrm>
              <a:off x="7702852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9" name="矩形 258"/>
            <p:cNvSpPr/>
            <p:nvPr/>
          </p:nvSpPr>
          <p:spPr>
            <a:xfrm>
              <a:off x="8529561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0" name="矩形 259"/>
            <p:cNvSpPr/>
            <p:nvPr/>
          </p:nvSpPr>
          <p:spPr>
            <a:xfrm>
              <a:off x="9356271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1" name="矩形 260"/>
            <p:cNvSpPr/>
            <p:nvPr/>
          </p:nvSpPr>
          <p:spPr>
            <a:xfrm>
              <a:off x="10182980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11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2" name="矩形 261"/>
            <p:cNvSpPr/>
            <p:nvPr/>
          </p:nvSpPr>
          <p:spPr>
            <a:xfrm>
              <a:off x="11009690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12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aphicFrame>
        <p:nvGraphicFramePr>
          <p:cNvPr id="263" name="表格 262"/>
          <p:cNvGraphicFramePr>
            <a:graphicFrameLocks noGrp="1"/>
          </p:cNvGraphicFramePr>
          <p:nvPr/>
        </p:nvGraphicFramePr>
        <p:xfrm>
          <a:off x="355600" y="1843638"/>
          <a:ext cx="11480798" cy="445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1184728"/>
                <a:gridCol w="1640114"/>
                <a:gridCol w="1640114"/>
                <a:gridCol w="1640114"/>
                <a:gridCol w="1640114"/>
                <a:gridCol w="1640114"/>
              </a:tblGrid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新员工培训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项目方案进度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业务优化进度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跨部门协作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技能培训进度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客户关系维护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绩效目标进度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355600" y="1028700"/>
            <a:ext cx="2097314" cy="4038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阶段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55599" y="1432560"/>
            <a:ext cx="2097313" cy="403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时间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六边形 6"/>
          <p:cNvSpPr/>
          <p:nvPr/>
        </p:nvSpPr>
        <p:spPr>
          <a:xfrm>
            <a:off x="2452911" y="1900709"/>
            <a:ext cx="3909788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六边形 7"/>
          <p:cNvSpPr/>
          <p:nvPr/>
        </p:nvSpPr>
        <p:spPr>
          <a:xfrm>
            <a:off x="2452911" y="1900709"/>
            <a:ext cx="1509489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16200" y="2010304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六边形 11"/>
          <p:cNvSpPr/>
          <p:nvPr/>
        </p:nvSpPr>
        <p:spPr>
          <a:xfrm>
            <a:off x="3234870" y="2535193"/>
            <a:ext cx="3909788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六边形 18"/>
          <p:cNvSpPr/>
          <p:nvPr/>
        </p:nvSpPr>
        <p:spPr>
          <a:xfrm>
            <a:off x="3234870" y="2535193"/>
            <a:ext cx="2345871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98159" y="264478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六边形 25"/>
          <p:cNvSpPr/>
          <p:nvPr/>
        </p:nvSpPr>
        <p:spPr>
          <a:xfrm>
            <a:off x="3290684" y="3168247"/>
            <a:ext cx="307201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六边形 30"/>
          <p:cNvSpPr/>
          <p:nvPr/>
        </p:nvSpPr>
        <p:spPr>
          <a:xfrm>
            <a:off x="3290684" y="3168247"/>
            <a:ext cx="2710545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3453972" y="3277842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六边形 256"/>
          <p:cNvSpPr/>
          <p:nvPr/>
        </p:nvSpPr>
        <p:spPr>
          <a:xfrm>
            <a:off x="2452909" y="3806813"/>
            <a:ext cx="307201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6" name="六边形 265"/>
          <p:cNvSpPr/>
          <p:nvPr/>
        </p:nvSpPr>
        <p:spPr>
          <a:xfrm>
            <a:off x="2452909" y="3806813"/>
            <a:ext cx="927849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2616197" y="3916408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8" name="六边形 267"/>
          <p:cNvSpPr/>
          <p:nvPr/>
        </p:nvSpPr>
        <p:spPr>
          <a:xfrm>
            <a:off x="3234870" y="4439463"/>
            <a:ext cx="307201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9" name="六边形 268"/>
          <p:cNvSpPr/>
          <p:nvPr/>
        </p:nvSpPr>
        <p:spPr>
          <a:xfrm>
            <a:off x="3234870" y="4439463"/>
            <a:ext cx="927849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3398158" y="4549058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六边形 270"/>
          <p:cNvSpPr/>
          <p:nvPr/>
        </p:nvSpPr>
        <p:spPr>
          <a:xfrm>
            <a:off x="4016828" y="5077232"/>
            <a:ext cx="2345872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六边形 271"/>
          <p:cNvSpPr/>
          <p:nvPr/>
        </p:nvSpPr>
        <p:spPr>
          <a:xfrm>
            <a:off x="4016827" y="5077232"/>
            <a:ext cx="1563914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4180115" y="5186827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六边形 273"/>
          <p:cNvSpPr/>
          <p:nvPr/>
        </p:nvSpPr>
        <p:spPr>
          <a:xfrm>
            <a:off x="5464628" y="5718175"/>
            <a:ext cx="1680027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六边形 274"/>
          <p:cNvSpPr/>
          <p:nvPr/>
        </p:nvSpPr>
        <p:spPr>
          <a:xfrm>
            <a:off x="5464627" y="5718175"/>
            <a:ext cx="898072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5627915" y="5827770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六边形 279"/>
          <p:cNvSpPr/>
          <p:nvPr/>
        </p:nvSpPr>
        <p:spPr>
          <a:xfrm>
            <a:off x="7926613" y="1900709"/>
            <a:ext cx="2345871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六边形 280"/>
          <p:cNvSpPr/>
          <p:nvPr/>
        </p:nvSpPr>
        <p:spPr>
          <a:xfrm>
            <a:off x="7926613" y="1900709"/>
            <a:ext cx="2007962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8089902" y="2010304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3" name="六边形 282"/>
          <p:cNvSpPr/>
          <p:nvPr/>
        </p:nvSpPr>
        <p:spPr>
          <a:xfrm>
            <a:off x="9490528" y="2535193"/>
            <a:ext cx="1859643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4" name="六边形 283"/>
          <p:cNvSpPr/>
          <p:nvPr/>
        </p:nvSpPr>
        <p:spPr>
          <a:xfrm>
            <a:off x="9490528" y="2535193"/>
            <a:ext cx="1467758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9653817" y="264478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6" name="六边形 285"/>
          <p:cNvSpPr/>
          <p:nvPr/>
        </p:nvSpPr>
        <p:spPr>
          <a:xfrm>
            <a:off x="7926613" y="3163560"/>
            <a:ext cx="390978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7" name="六边形 286"/>
          <p:cNvSpPr/>
          <p:nvPr/>
        </p:nvSpPr>
        <p:spPr>
          <a:xfrm>
            <a:off x="7926612" y="3163560"/>
            <a:ext cx="3031673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8089902" y="3273155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六边形 288"/>
          <p:cNvSpPr/>
          <p:nvPr/>
        </p:nvSpPr>
        <p:spPr>
          <a:xfrm>
            <a:off x="7144655" y="3806813"/>
            <a:ext cx="4691743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0" name="六边形 289"/>
          <p:cNvSpPr/>
          <p:nvPr/>
        </p:nvSpPr>
        <p:spPr>
          <a:xfrm>
            <a:off x="7144654" y="3806813"/>
            <a:ext cx="2345871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7307944" y="391640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六边形 291"/>
          <p:cNvSpPr/>
          <p:nvPr/>
        </p:nvSpPr>
        <p:spPr>
          <a:xfrm>
            <a:off x="10272484" y="4446963"/>
            <a:ext cx="1563914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六边形 292"/>
          <p:cNvSpPr/>
          <p:nvPr/>
        </p:nvSpPr>
        <p:spPr>
          <a:xfrm>
            <a:off x="10272484" y="4446963"/>
            <a:ext cx="1460075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10461040" y="455655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六边形 294"/>
          <p:cNvSpPr/>
          <p:nvPr/>
        </p:nvSpPr>
        <p:spPr>
          <a:xfrm>
            <a:off x="7144654" y="5077232"/>
            <a:ext cx="2345872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6" name="六边形 295"/>
          <p:cNvSpPr/>
          <p:nvPr/>
        </p:nvSpPr>
        <p:spPr>
          <a:xfrm>
            <a:off x="7144653" y="5077232"/>
            <a:ext cx="2180776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307941" y="5186827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8" name="六边形 297"/>
          <p:cNvSpPr/>
          <p:nvPr/>
        </p:nvSpPr>
        <p:spPr>
          <a:xfrm>
            <a:off x="9374415" y="5718175"/>
            <a:ext cx="1680027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9" name="六边形 298"/>
          <p:cNvSpPr/>
          <p:nvPr/>
        </p:nvSpPr>
        <p:spPr>
          <a:xfrm>
            <a:off x="9374414" y="5718175"/>
            <a:ext cx="1344386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9537702" y="5827770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组合 314"/>
          <p:cNvGrpSpPr/>
          <p:nvPr/>
        </p:nvGrpSpPr>
        <p:grpSpPr>
          <a:xfrm>
            <a:off x="368300" y="1155700"/>
            <a:ext cx="3886200" cy="965200"/>
            <a:chOff x="368300" y="1155700"/>
            <a:chExt cx="3886200" cy="965200"/>
          </a:xfrm>
        </p:grpSpPr>
        <p:sp>
          <p:nvSpPr>
            <p:cNvPr id="313" name="任意多边形: 形状 312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4" name="文本框 313"/>
            <p:cNvSpPr txBox="1"/>
            <p:nvPr/>
          </p:nvSpPr>
          <p:spPr>
            <a:xfrm>
              <a:off x="419801" y="1220715"/>
              <a:ext cx="400110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日常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16" name="组合 315"/>
          <p:cNvGrpSpPr/>
          <p:nvPr/>
        </p:nvGrpSpPr>
        <p:grpSpPr>
          <a:xfrm>
            <a:off x="204358" y="2196810"/>
            <a:ext cx="4050142" cy="965200"/>
            <a:chOff x="204358" y="1155700"/>
            <a:chExt cx="4050142" cy="965200"/>
          </a:xfrm>
        </p:grpSpPr>
        <p:sp>
          <p:nvSpPr>
            <p:cNvPr id="317" name="任意多边形: 形状 316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204358" y="1220715"/>
              <a:ext cx="615553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周度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04358" y="3237920"/>
            <a:ext cx="4050142" cy="965200"/>
            <a:chOff x="204358" y="1155700"/>
            <a:chExt cx="4050142" cy="965200"/>
          </a:xfrm>
        </p:grpSpPr>
        <p:sp>
          <p:nvSpPr>
            <p:cNvPr id="320" name="任意多边形: 形状 319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204358" y="1220715"/>
              <a:ext cx="615553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368300" y="4279030"/>
            <a:ext cx="3886200" cy="965200"/>
            <a:chOff x="368300" y="1155700"/>
            <a:chExt cx="3886200" cy="965200"/>
          </a:xfrm>
        </p:grpSpPr>
        <p:sp>
          <p:nvSpPr>
            <p:cNvPr id="323" name="任意多边形: 形状 322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419801" y="1220715"/>
              <a:ext cx="400110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季度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204358" y="5320138"/>
            <a:ext cx="4050142" cy="965200"/>
            <a:chOff x="204358" y="1155700"/>
            <a:chExt cx="4050142" cy="965200"/>
          </a:xfrm>
        </p:grpSpPr>
        <p:sp>
          <p:nvSpPr>
            <p:cNvPr id="326" name="任意多边形: 形状 325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7" name="文本框 326"/>
            <p:cNvSpPr txBox="1"/>
            <p:nvPr/>
          </p:nvSpPr>
          <p:spPr>
            <a:xfrm>
              <a:off x="204358" y="1220715"/>
              <a:ext cx="615553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88925" y="200526"/>
            <a:ext cx="3526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金字塔图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4252894" y="1140359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2" name="矩形 301"/>
          <p:cNvSpPr/>
          <p:nvPr/>
        </p:nvSpPr>
        <p:spPr>
          <a:xfrm>
            <a:off x="4252894" y="2181672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3" name="矩形 302"/>
          <p:cNvSpPr/>
          <p:nvPr/>
        </p:nvSpPr>
        <p:spPr>
          <a:xfrm>
            <a:off x="4252894" y="3222985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4252894" y="4264298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5" name="矩形 304"/>
          <p:cNvSpPr/>
          <p:nvPr/>
        </p:nvSpPr>
        <p:spPr>
          <a:xfrm>
            <a:off x="4252894" y="5305613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4" name="任意多边形: 形状 293"/>
          <p:cNvSpPr/>
          <p:nvPr/>
        </p:nvSpPr>
        <p:spPr>
          <a:xfrm>
            <a:off x="3577722" y="1130301"/>
            <a:ext cx="1350343" cy="1011681"/>
          </a:xfrm>
          <a:custGeom>
            <a:avLst/>
            <a:gdLst>
              <a:gd name="connsiteX0" fmla="*/ 711790 w 1399096"/>
              <a:gd name="connsiteY0" fmla="*/ 0 h 1011681"/>
              <a:gd name="connsiteX1" fmla="*/ 1399096 w 1399096"/>
              <a:gd name="connsiteY1" fmla="*/ 1011681 h 1011681"/>
              <a:gd name="connsiteX2" fmla="*/ 0 w 1399096"/>
              <a:gd name="connsiteY2" fmla="*/ 1011681 h 1011681"/>
              <a:gd name="connsiteX3" fmla="*/ 711790 w 1399096"/>
              <a:gd name="connsiteY3" fmla="*/ 0 h 1011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9096" h="1011681">
                <a:moveTo>
                  <a:pt x="711790" y="0"/>
                </a:moveTo>
                <a:lnTo>
                  <a:pt x="1399096" y="1011681"/>
                </a:lnTo>
                <a:lnTo>
                  <a:pt x="0" y="1011681"/>
                </a:lnTo>
                <a:lnTo>
                  <a:pt x="71179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6" name="任意多边形: 形状 285"/>
          <p:cNvSpPr/>
          <p:nvPr/>
        </p:nvSpPr>
        <p:spPr>
          <a:xfrm>
            <a:off x="2871979" y="2187701"/>
            <a:ext cx="2737555" cy="993585"/>
          </a:xfrm>
          <a:custGeom>
            <a:avLst/>
            <a:gdLst>
              <a:gd name="connsiteX0" fmla="*/ 699058 w 2836393"/>
              <a:gd name="connsiteY0" fmla="*/ 0 h 993585"/>
              <a:gd name="connsiteX1" fmla="*/ 2161381 w 2836393"/>
              <a:gd name="connsiteY1" fmla="*/ 0 h 993585"/>
              <a:gd name="connsiteX2" fmla="*/ 2836393 w 2836393"/>
              <a:gd name="connsiteY2" fmla="*/ 993585 h 993585"/>
              <a:gd name="connsiteX3" fmla="*/ 0 w 2836393"/>
              <a:gd name="connsiteY3" fmla="*/ 993585 h 993585"/>
              <a:gd name="connsiteX4" fmla="*/ 699058 w 2836393"/>
              <a:gd name="connsiteY4" fmla="*/ 0 h 99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6393" h="993585">
                <a:moveTo>
                  <a:pt x="699058" y="0"/>
                </a:moveTo>
                <a:lnTo>
                  <a:pt x="2161381" y="0"/>
                </a:lnTo>
                <a:lnTo>
                  <a:pt x="2836393" y="993585"/>
                </a:lnTo>
                <a:lnTo>
                  <a:pt x="0" y="993585"/>
                </a:lnTo>
                <a:lnTo>
                  <a:pt x="69905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任意多边形: 形状 277"/>
          <p:cNvSpPr/>
          <p:nvPr/>
        </p:nvSpPr>
        <p:spPr>
          <a:xfrm>
            <a:off x="2166233" y="3227005"/>
            <a:ext cx="4124768" cy="993585"/>
          </a:xfrm>
          <a:custGeom>
            <a:avLst/>
            <a:gdLst>
              <a:gd name="connsiteX0" fmla="*/ 699059 w 4273690"/>
              <a:gd name="connsiteY0" fmla="*/ 0 h 993585"/>
              <a:gd name="connsiteX1" fmla="*/ 3598678 w 4273690"/>
              <a:gd name="connsiteY1" fmla="*/ 0 h 993585"/>
              <a:gd name="connsiteX2" fmla="*/ 4273690 w 4273690"/>
              <a:gd name="connsiteY2" fmla="*/ 993585 h 993585"/>
              <a:gd name="connsiteX3" fmla="*/ 0 w 4273690"/>
              <a:gd name="connsiteY3" fmla="*/ 993585 h 993585"/>
              <a:gd name="connsiteX4" fmla="*/ 699059 w 4273690"/>
              <a:gd name="connsiteY4" fmla="*/ 0 h 99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3690" h="993585">
                <a:moveTo>
                  <a:pt x="699059" y="0"/>
                </a:moveTo>
                <a:lnTo>
                  <a:pt x="3598678" y="0"/>
                </a:lnTo>
                <a:lnTo>
                  <a:pt x="4273690" y="993585"/>
                </a:lnTo>
                <a:lnTo>
                  <a:pt x="0" y="993585"/>
                </a:lnTo>
                <a:lnTo>
                  <a:pt x="6990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任意多边形: 形状 274"/>
          <p:cNvSpPr/>
          <p:nvPr/>
        </p:nvSpPr>
        <p:spPr>
          <a:xfrm>
            <a:off x="1460489" y="4266309"/>
            <a:ext cx="5511981" cy="993585"/>
          </a:xfrm>
          <a:custGeom>
            <a:avLst/>
            <a:gdLst>
              <a:gd name="connsiteX0" fmla="*/ 699059 w 5710987"/>
              <a:gd name="connsiteY0" fmla="*/ 0 h 993585"/>
              <a:gd name="connsiteX1" fmla="*/ 5035975 w 5710987"/>
              <a:gd name="connsiteY1" fmla="*/ 0 h 993585"/>
              <a:gd name="connsiteX2" fmla="*/ 5710987 w 5710987"/>
              <a:gd name="connsiteY2" fmla="*/ 993585 h 993585"/>
              <a:gd name="connsiteX3" fmla="*/ 0 w 5710987"/>
              <a:gd name="connsiteY3" fmla="*/ 993585 h 993585"/>
              <a:gd name="connsiteX4" fmla="*/ 699059 w 5710987"/>
              <a:gd name="connsiteY4" fmla="*/ 0 h 99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0987" h="993585">
                <a:moveTo>
                  <a:pt x="699059" y="0"/>
                </a:moveTo>
                <a:lnTo>
                  <a:pt x="5035975" y="0"/>
                </a:lnTo>
                <a:lnTo>
                  <a:pt x="5710987" y="993585"/>
                </a:lnTo>
                <a:lnTo>
                  <a:pt x="0" y="993585"/>
                </a:lnTo>
                <a:lnTo>
                  <a:pt x="699059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任意多边形: 形状 271"/>
          <p:cNvSpPr/>
          <p:nvPr/>
        </p:nvSpPr>
        <p:spPr>
          <a:xfrm>
            <a:off x="754743" y="5305613"/>
            <a:ext cx="6899195" cy="993587"/>
          </a:xfrm>
          <a:custGeom>
            <a:avLst/>
            <a:gdLst>
              <a:gd name="connsiteX0" fmla="*/ 699060 w 7148286"/>
              <a:gd name="connsiteY0" fmla="*/ 0 h 993587"/>
              <a:gd name="connsiteX1" fmla="*/ 6473273 w 7148286"/>
              <a:gd name="connsiteY1" fmla="*/ 0 h 993587"/>
              <a:gd name="connsiteX2" fmla="*/ 7148286 w 7148286"/>
              <a:gd name="connsiteY2" fmla="*/ 993587 h 993587"/>
              <a:gd name="connsiteX3" fmla="*/ 0 w 7148286"/>
              <a:gd name="connsiteY3" fmla="*/ 993587 h 993587"/>
              <a:gd name="connsiteX4" fmla="*/ 699060 w 7148286"/>
              <a:gd name="connsiteY4" fmla="*/ 0 h 993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8286" h="993587">
                <a:moveTo>
                  <a:pt x="699060" y="0"/>
                </a:moveTo>
                <a:lnTo>
                  <a:pt x="6473273" y="0"/>
                </a:lnTo>
                <a:lnTo>
                  <a:pt x="7148286" y="993587"/>
                </a:lnTo>
                <a:lnTo>
                  <a:pt x="0" y="993587"/>
                </a:lnTo>
                <a:lnTo>
                  <a:pt x="69906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3330437" y="1489622"/>
            <a:ext cx="1844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工作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内容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3330437" y="2534183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工作事项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30437" y="3538352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执行任务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0" name="文本框 309"/>
          <p:cNvSpPr txBox="1"/>
          <p:nvPr/>
        </p:nvSpPr>
        <p:spPr>
          <a:xfrm>
            <a:off x="3330437" y="4542521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推进目标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3330437" y="5604679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战略目标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336" name="组合 335"/>
          <p:cNvGrpSpPr/>
          <p:nvPr/>
        </p:nvGrpSpPr>
        <p:grpSpPr>
          <a:xfrm>
            <a:off x="4996702" y="1349232"/>
            <a:ext cx="6507547" cy="691506"/>
            <a:chOff x="5175349" y="1349232"/>
            <a:chExt cx="6507547" cy="691506"/>
          </a:xfrm>
        </p:grpSpPr>
        <p:sp>
          <p:nvSpPr>
            <p:cNvPr id="328" name="文本框 327"/>
            <p:cNvSpPr txBox="1"/>
            <p:nvPr/>
          </p:nvSpPr>
          <p:spPr>
            <a:xfrm>
              <a:off x="5175349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客户沟通服务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29" name="文本框 328"/>
            <p:cNvSpPr txBox="1"/>
            <p:nvPr/>
          </p:nvSpPr>
          <p:spPr>
            <a:xfrm>
              <a:off x="5175349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每日回复客户质询，处理客户反馈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0" name="文本框 329"/>
            <p:cNvSpPr txBox="1"/>
            <p:nvPr/>
          </p:nvSpPr>
          <p:spPr>
            <a:xfrm>
              <a:off x="6894417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数据整理录入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1" name="文本框 330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按规录入客户及业务相关数据信息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2" name="文本框 331"/>
            <p:cNvSpPr txBox="1"/>
            <p:nvPr/>
          </p:nvSpPr>
          <p:spPr>
            <a:xfrm>
              <a:off x="8613485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文档归档整理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3" name="文本框 332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及时分类保存各类业务文档资料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4" name="文本框 333"/>
            <p:cNvSpPr txBox="1"/>
            <p:nvPr/>
          </p:nvSpPr>
          <p:spPr>
            <a:xfrm>
              <a:off x="10332553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办公环境维护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10332553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定期整理办公区域，保持整洁有序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37" name="组合 336"/>
          <p:cNvGrpSpPr/>
          <p:nvPr/>
        </p:nvGrpSpPr>
        <p:grpSpPr>
          <a:xfrm>
            <a:off x="5671873" y="2367713"/>
            <a:ext cx="4788479" cy="691506"/>
            <a:chOff x="5175349" y="1349232"/>
            <a:chExt cx="4788479" cy="691506"/>
          </a:xfrm>
        </p:grpSpPr>
        <p:sp>
          <p:nvSpPr>
            <p:cNvPr id="338" name="文本框 337"/>
            <p:cNvSpPr txBox="1"/>
            <p:nvPr/>
          </p:nvSpPr>
          <p:spPr>
            <a:xfrm>
              <a:off x="5175349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市场动态分析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9" name="文本框 338"/>
            <p:cNvSpPr txBox="1"/>
            <p:nvPr/>
          </p:nvSpPr>
          <p:spPr>
            <a:xfrm>
              <a:off x="5175349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收集行业数据，分析竞争态势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6894417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营销效果判定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41" name="文本框 340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复盘推广数据，优化投放策略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2" name="文本框 341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客户反馈汇总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43" name="文本框 342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具体内容：整理客户意见，提炼改进方向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347045" y="3386194"/>
            <a:ext cx="4788479" cy="691506"/>
            <a:chOff x="5175349" y="1349232"/>
            <a:chExt cx="4788479" cy="691506"/>
          </a:xfrm>
        </p:grpSpPr>
        <p:sp>
          <p:nvSpPr>
            <p:cNvPr id="347" name="文本框 346"/>
            <p:cNvSpPr txBox="1"/>
            <p:nvPr/>
          </p:nvSpPr>
          <p:spPr>
            <a:xfrm>
              <a:off x="5175349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营销活动策划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48" name="文本框 347"/>
            <p:cNvSpPr txBox="1"/>
            <p:nvPr/>
          </p:nvSpPr>
          <p:spPr>
            <a:xfrm>
              <a:off x="5175349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每月策划一场创新营销活动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9" name="文本框 348"/>
            <p:cNvSpPr txBox="1"/>
            <p:nvPr/>
          </p:nvSpPr>
          <p:spPr>
            <a:xfrm>
              <a:off x="6894417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渠道合作拓展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50" name="文本框 349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每月新增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家优质合作渠道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1" name="文本框 350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用户调研设施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52" name="文本框 351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每月开展一次用户需求调研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55" name="组合 354"/>
          <p:cNvGrpSpPr/>
          <p:nvPr/>
        </p:nvGrpSpPr>
        <p:grpSpPr>
          <a:xfrm>
            <a:off x="7045297" y="4404675"/>
            <a:ext cx="3069411" cy="691506"/>
            <a:chOff x="6894417" y="1349232"/>
            <a:chExt cx="3069411" cy="691506"/>
          </a:xfrm>
        </p:grpSpPr>
        <p:sp>
          <p:nvSpPr>
            <p:cNvPr id="358" name="文本框 357"/>
            <p:cNvSpPr txBox="1"/>
            <p:nvPr/>
          </p:nvSpPr>
          <p:spPr>
            <a:xfrm>
              <a:off x="6894417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产品迭代优化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59" name="文本框 358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完成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次产品迭代，优化核心功能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0" name="文本框 359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合作渠道深化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61" name="文本框 360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与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家现有渠道升级合作模式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7697388" y="5423154"/>
            <a:ext cx="3069411" cy="691506"/>
            <a:chOff x="8613485" y="1349232"/>
            <a:chExt cx="3069411" cy="691506"/>
          </a:xfrm>
        </p:grpSpPr>
        <p:sp>
          <p:nvSpPr>
            <p:cNvPr id="369" name="文本框 368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品牌市场双提升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70" name="文本框 369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品牌认知度升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，新开拓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个区域市场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71" name="文本框 370"/>
            <p:cNvSpPr txBox="1"/>
            <p:nvPr/>
          </p:nvSpPr>
          <p:spPr>
            <a:xfrm>
              <a:off x="10332553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产品与服务优化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72" name="文本框 371"/>
            <p:cNvSpPr txBox="1"/>
            <p:nvPr/>
          </p:nvSpPr>
          <p:spPr>
            <a:xfrm>
              <a:off x="10332553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完成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次产品迭代，用户满意度达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88%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88" name="组合 387"/>
          <p:cNvGrpSpPr/>
          <p:nvPr/>
        </p:nvGrpSpPr>
        <p:grpSpPr>
          <a:xfrm>
            <a:off x="11501137" y="1141927"/>
            <a:ext cx="322565" cy="1000042"/>
            <a:chOff x="11501137" y="1141927"/>
            <a:chExt cx="322565" cy="1000042"/>
          </a:xfrm>
        </p:grpSpPr>
        <p:sp>
          <p:nvSpPr>
            <p:cNvPr id="386" name="矩形: 圆顶角 385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5" name="矩形: 圆顶角 384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7" name="文本框 386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89" name="组合 388"/>
          <p:cNvGrpSpPr/>
          <p:nvPr/>
        </p:nvGrpSpPr>
        <p:grpSpPr>
          <a:xfrm>
            <a:off x="11501137" y="2181662"/>
            <a:ext cx="322565" cy="1000042"/>
            <a:chOff x="11501137" y="1141927"/>
            <a:chExt cx="322565" cy="1000042"/>
          </a:xfrm>
        </p:grpSpPr>
        <p:sp>
          <p:nvSpPr>
            <p:cNvPr id="390" name="矩形: 圆顶角 389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1" name="矩形: 圆顶角 390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2" name="文本框 391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2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93" name="组合 392"/>
          <p:cNvGrpSpPr/>
          <p:nvPr/>
        </p:nvGrpSpPr>
        <p:grpSpPr>
          <a:xfrm>
            <a:off x="11501137" y="3221397"/>
            <a:ext cx="322565" cy="1000042"/>
            <a:chOff x="11501137" y="1141927"/>
            <a:chExt cx="322565" cy="1000042"/>
          </a:xfrm>
        </p:grpSpPr>
        <p:sp>
          <p:nvSpPr>
            <p:cNvPr id="394" name="矩形: 圆顶角 393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5" name="矩形: 圆顶角 394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6" name="文本框 395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97" name="组合 396"/>
          <p:cNvGrpSpPr/>
          <p:nvPr/>
        </p:nvGrpSpPr>
        <p:grpSpPr>
          <a:xfrm>
            <a:off x="11501137" y="4261132"/>
            <a:ext cx="322565" cy="1000042"/>
            <a:chOff x="11501137" y="1141927"/>
            <a:chExt cx="322565" cy="1000042"/>
          </a:xfrm>
        </p:grpSpPr>
        <p:sp>
          <p:nvSpPr>
            <p:cNvPr id="398" name="矩形: 圆顶角 397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9" name="矩形: 圆顶角 398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0" name="文本框 399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01" name="组合 400"/>
          <p:cNvGrpSpPr/>
          <p:nvPr/>
        </p:nvGrpSpPr>
        <p:grpSpPr>
          <a:xfrm>
            <a:off x="11501137" y="5300867"/>
            <a:ext cx="322565" cy="1000042"/>
            <a:chOff x="11501137" y="1141927"/>
            <a:chExt cx="322565" cy="1000042"/>
          </a:xfrm>
        </p:grpSpPr>
        <p:sp>
          <p:nvSpPr>
            <p:cNvPr id="402" name="矩形: 圆顶角 401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3" name="矩形: 圆顶角 402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4" name="文本框 403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6082966" y="1130301"/>
            <a:ext cx="3389229" cy="5168899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7806310" y="1130301"/>
            <a:ext cx="2054951" cy="3133997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9529654" y="1130301"/>
            <a:ext cx="689380" cy="1051371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22.xml><?xml version="1.0" encoding="utf-8"?>
<p:tagLst xmlns:p="http://schemas.openxmlformats.org/presentationml/2006/main">
  <p:tag name="KSO_WM_SLIDE_NOBEATY" val="1"/>
</p:tagLst>
</file>

<file path=ppt/tags/tag23.xml><?xml version="1.0" encoding="utf-8"?>
<p:tagLst xmlns:p="http://schemas.openxmlformats.org/presentationml/2006/main">
  <p:tag name="KSO_WM_SLIDE_NOBEATY" val="1"/>
</p:tagLst>
</file>

<file path=ppt/tags/tag24.xml><?xml version="1.0" encoding="utf-8"?>
<p:tagLst xmlns:p="http://schemas.openxmlformats.org/presentationml/2006/main">
  <p:tag name="KSO_WM_SLIDE_NOBEATY" val="1"/>
</p:tagLst>
</file>

<file path=ppt/tags/tag25.xml><?xml version="1.0" encoding="utf-8"?>
<p:tagLst xmlns:p="http://schemas.openxmlformats.org/presentationml/2006/main">
  <p:tag name="KSO_WM_SLIDE_NOBEATY" val="1"/>
</p:tagLst>
</file>

<file path=ppt/tags/tag26.xml><?xml version="1.0" encoding="utf-8"?>
<p:tagLst xmlns:p="http://schemas.openxmlformats.org/presentationml/2006/main">
  <p:tag name="KSO_WM_SLIDE_NOBEATY" val="1"/>
</p:tagLst>
</file>

<file path=ppt/tags/tag27.xml><?xml version="1.0" encoding="utf-8"?>
<p:tagLst xmlns:p="http://schemas.openxmlformats.org/presentationml/2006/main">
  <p:tag name="KSO_WM_SLIDE_NOBEATY" val="1"/>
</p:tagLst>
</file>

<file path=ppt/tags/tag28.xml><?xml version="1.0" encoding="utf-8"?>
<p:tagLst xmlns:p="http://schemas.openxmlformats.org/presentationml/2006/main">
  <p:tag name="KSO_WM_SLIDE_NOBEATY" val="1"/>
</p:tagLst>
</file>

<file path=ppt/tags/tag29.xml><?xml version="1.0" encoding="utf-8"?>
<p:tagLst xmlns:p="http://schemas.openxmlformats.org/presentationml/2006/main">
  <p:tag name="KSO_WM_SLIDE_NOBEATY" val="1"/>
</p:tagLst>
</file>

<file path=ppt/tags/tag30.xml><?xml version="1.0" encoding="utf-8"?>
<p:tagLst xmlns:p="http://schemas.openxmlformats.org/presentationml/2006/main">
  <p:tag name="KSO_WM_SLIDE_NOBEATY" val="1"/>
</p:tagLst>
</file>

<file path=ppt/tags/tag31.xml><?xml version="1.0" encoding="utf-8"?>
<p:tagLst xmlns:p="http://schemas.openxmlformats.org/presentationml/2006/main">
  <p:tag name="KSO_WM_SLIDE_NOBEATY" val="1"/>
</p:tagLst>
</file>

<file path=ppt/tags/tag32.xml><?xml version="1.0" encoding="utf-8"?>
<p:tagLst xmlns:p="http://schemas.openxmlformats.org/presentationml/2006/main">
  <p:tag name="KSO_WM_SLIDE_NOBEATY" val="1"/>
</p:tagLst>
</file>

<file path=ppt/tags/tag33.xml><?xml version="1.0" encoding="utf-8"?>
<p:tagLst xmlns:p="http://schemas.openxmlformats.org/presentationml/2006/main">
  <p:tag name="KSO_WM_SLIDE_NOBEATY" val="1"/>
</p:tagLst>
</file>

<file path=ppt/tags/tag34.xml><?xml version="1.0" encoding="utf-8"?>
<p:tagLst xmlns:p="http://schemas.openxmlformats.org/presentationml/2006/main">
  <p:tag name="KSO_WM_SLIDE_NOBEATY" val="1"/>
</p:tagLst>
</file>

<file path=ppt/tags/tag35.xml><?xml version="1.0" encoding="utf-8"?>
<p:tagLst xmlns:p="http://schemas.openxmlformats.org/presentationml/2006/main">
  <p:tag name="KSO_WM_SLIDE_NOBEATY" val="1"/>
</p:tagLst>
</file>

<file path=ppt/tags/tag36.xml><?xml version="1.0" encoding="utf-8"?>
<p:tagLst xmlns:p="http://schemas.openxmlformats.org/presentationml/2006/main">
  <p:tag name="KSO_WM_SLIDE_NOBEATY" val="1"/>
</p:tagLst>
</file>

<file path=ppt/tags/tag37.xml><?xml version="1.0" encoding="utf-8"?>
<p:tagLst xmlns:p="http://schemas.openxmlformats.org/presentationml/2006/main">
  <p:tag name="KSO_WM_SLIDE_NOBEATY" val="1"/>
</p:tagLst>
</file>

<file path=ppt/tags/tag38.xml><?xml version="1.0" encoding="utf-8"?>
<p:tagLst xmlns:p="http://schemas.openxmlformats.org/presentationml/2006/main">
  <p:tag name="KSO_WM_SLIDE_NOBEATY" val="1"/>
</p:tagLst>
</file>

<file path=ppt/tags/tag39.xml><?xml version="1.0" encoding="utf-8"?>
<p:tagLst xmlns:p="http://schemas.openxmlformats.org/presentationml/2006/main">
  <p:tag name="KSO_WM_SLIDE_NOBEATY" val="1"/>
</p:tagLst>
</file>

<file path=ppt/tags/tag40.xml><?xml version="1.0" encoding="utf-8"?>
<p:tagLst xmlns:p="http://schemas.openxmlformats.org/presentationml/2006/main">
  <p:tag name="KSO_WM_SLIDE_NOBEATY" val="1"/>
</p:tagLst>
</file>

<file path=ppt/tags/tag41.xml><?xml version="1.0" encoding="utf-8"?>
<p:tagLst xmlns:p="http://schemas.openxmlformats.org/presentationml/2006/main">
  <p:tag name="KSO_WM_SLIDE_NOBEATY" val="1"/>
</p:tagLst>
</file>

<file path=ppt/tags/tag42.xml><?xml version="1.0" encoding="utf-8"?>
<p:tagLst xmlns:p="http://schemas.openxmlformats.org/presentationml/2006/main">
  <p:tag name="KSO_WM_SLIDE_NOBEATY" val="1"/>
</p:tagLst>
</file>

<file path=ppt/tags/tag43.xml><?xml version="1.0" encoding="utf-8"?>
<p:tagLst xmlns:p="http://schemas.openxmlformats.org/presentationml/2006/main">
  <p:tag name="KSO_WM_SLIDE_NOBEATY" val="1"/>
</p:tagLst>
</file>

<file path=ppt/tags/tag44.xml><?xml version="1.0" encoding="utf-8"?>
<p:tagLst xmlns:p="http://schemas.openxmlformats.org/presentationml/2006/main">
  <p:tag name="KSO_WM_SLIDE_NOBEATY" val="1"/>
</p:tagLst>
</file>

<file path=ppt/tags/tag45.xml><?xml version="1.0" encoding="utf-8"?>
<p:tagLst xmlns:p="http://schemas.openxmlformats.org/presentationml/2006/main">
  <p:tag name="KSO_WM_SLIDE_NOBEATY" val="1"/>
</p:tagLst>
</file>

<file path=ppt/tags/tag46.xml><?xml version="1.0" encoding="utf-8"?>
<p:tagLst xmlns:p="http://schemas.openxmlformats.org/presentationml/2006/main">
  <p:tag name="KSO_WM_SLIDE_NOBEATY" val="1"/>
</p:tagLst>
</file>

<file path=ppt/tags/tag47.xml><?xml version="1.0" encoding="utf-8"?>
<p:tagLst xmlns:p="http://schemas.openxmlformats.org/presentationml/2006/main">
  <p:tag name="KSO_WM_SLIDE_NOBEATY" val="1"/>
</p:tagLst>
</file>

<file path=ppt/tags/tag48.xml><?xml version="1.0" encoding="utf-8"?>
<p:tagLst xmlns:p="http://schemas.openxmlformats.org/presentationml/2006/main">
  <p:tag name="KSO_WM_SLIDE_NOBEATY" val="1"/>
</p:tagLst>
</file>

<file path=ppt/tags/tag49.xml><?xml version="1.0" encoding="utf-8"?>
<p:tagLst xmlns:p="http://schemas.openxmlformats.org/presentationml/2006/main">
  <p:tag name="KSO_WM_SLIDE_NOBEATY" val="1"/>
</p:tagLst>
</file>

<file path=ppt/tags/tag50.xml><?xml version="1.0" encoding="utf-8"?>
<p:tagLst xmlns:p="http://schemas.openxmlformats.org/presentationml/2006/main">
  <p:tag name="KSO_WM_SLIDE_NOBEATY" val="1"/>
</p:tagLst>
</file>

<file path=ppt/tags/tag51.xml><?xml version="1.0" encoding="utf-8"?>
<p:tagLst xmlns:p="http://schemas.openxmlformats.org/presentationml/2006/main">
  <p:tag name="KSO_WM_SLIDE_NOBEATY" val="1"/>
</p:tagLst>
</file>

<file path=ppt/tags/tag52.xml><?xml version="1.0" encoding="utf-8"?>
<p:tagLst xmlns:p="http://schemas.openxmlformats.org/presentationml/2006/main">
  <p:tag name="KSO_WM_SLIDE_NOBEATY" val="1"/>
</p:tagLst>
</file>

<file path=ppt/tags/tag53.xml><?xml version="1.0" encoding="utf-8"?>
<p:tagLst xmlns:p="http://schemas.openxmlformats.org/presentationml/2006/main">
  <p:tag name="KSO_WM_SLIDE_NOBEATY" val="1"/>
</p:tagLst>
</file>

<file path=ppt/tags/tag54.xml><?xml version="1.0" encoding="utf-8"?>
<p:tagLst xmlns:p="http://schemas.openxmlformats.org/presentationml/2006/main">
  <p:tag name="KSO_WM_SLIDE_NOBEATY" val="1"/>
</p:tagLst>
</file>

<file path=ppt/tags/tag55.xml><?xml version="1.0" encoding="utf-8"?>
<p:tagLst xmlns:p="http://schemas.openxmlformats.org/presentationml/2006/main">
  <p:tag name="KSO_WM_SLIDE_NOBEATY" val="1"/>
</p:tagLst>
</file>

<file path=ppt/tags/tag56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Medium"/>
        <a:ea typeface=""/>
        <a:cs typeface=""/>
        <a:font script="Jpan" typeface="游ゴシック Light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游ゴシック"/>
        <a:font script="Hang" typeface="맑은 고딕"/>
        <a:font script="Hans" typeface="思源黑体 CN Medium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1D25"/>
      </a:accent1>
      <a:accent2>
        <a:srgbClr val="0563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鸿蒙体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Medium"/>
        <a:ea typeface=""/>
        <a:cs typeface=""/>
        <a:font script="Jpan" typeface="游ゴシック Light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游ゴシック"/>
        <a:font script="Hang" typeface="맑은 고딕"/>
        <a:font script="Hans" typeface="思源黑体 CN Medium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13192</Words>
  <Application>WPS 演示</Application>
  <PresentationFormat>宽屏</PresentationFormat>
  <Paragraphs>2209</Paragraphs>
  <Slides>38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思源黑体 CN Medium</vt:lpstr>
      <vt:lpstr>微软雅黑</vt:lpstr>
      <vt:lpstr>Arial Unicode MS</vt:lpstr>
      <vt:lpstr>Barlow Medium</vt:lpstr>
      <vt:lpstr>Segoe Print</vt:lpstr>
      <vt:lpstr>Barlow</vt:lpstr>
      <vt:lpstr>Barlow SemiBold</vt:lpstr>
      <vt:lpstr>Calibri</vt:lpstr>
      <vt:lpstr>Roboto</vt:lpstr>
      <vt:lpstr>Inter</vt:lpstr>
      <vt:lpstr>HelveticaNeueLT Std</vt:lpstr>
      <vt:lpstr>Alibaba PuHuiTi</vt:lpstr>
      <vt:lpstr>Open Sans</vt:lpstr>
      <vt:lpstr>Roboto</vt:lpstr>
      <vt:lpstr>Office 主题​​</vt:lpstr>
      <vt:lpstr>2_Office 主题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五大工作成果展示/上半年回顾</dc:title>
  <dc:creator>张 琳</dc:creator>
  <cp:lastModifiedBy>Administrator</cp:lastModifiedBy>
  <cp:revision>37</cp:revision>
  <dcterms:created xsi:type="dcterms:W3CDTF">2025-08-13T07:51:00Z</dcterms:created>
  <dcterms:modified xsi:type="dcterms:W3CDTF">2025-09-17T07:00:31Z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50652F906FE94C03B30F45BE96EAC81D_12</vt:lpwstr>
  </property>
  <property fmtid="{D5CDD505-2E9C-101B-9397-08002B2CF9AE}" pid="3" name="KSOProductBuildVer">
    <vt:lpwstr>2052-11.1.0.11176</vt:lpwstr>
  </property>
</Properties>
</file>