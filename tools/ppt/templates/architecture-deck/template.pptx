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handoutMasters/handoutMaster1.xml" ContentType="application/vnd.openxmlformats-officedocument.presentationml.handoutMaster+xml"/>
  <Override PartName="/ppt/media/image2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0" r:id="rId2"/>
    <p:sldMasterId id="2147483672" r:id="rId3"/>
    <p:sldMasterId id="2147483684" r:id="rId4"/>
  </p:sldMasterIdLst>
  <p:notesMasterIdLst>
    <p:notesMasterId r:id="rId45"/>
  </p:notesMasterIdLst>
  <p:handoutMasterIdLst>
    <p:handoutMasterId r:id="rId46"/>
  </p:handoutMasterIdLst>
  <p:sldIdLst>
    <p:sldId id="16669930" r:id="rId8"/>
    <p:sldId id="16669931" r:id="rId9"/>
    <p:sldId id="16669923" r:id="rId10"/>
    <p:sldId id="16669925" r:id="rId11"/>
    <p:sldId id="315" r:id="rId12"/>
    <p:sldId id="16669929" r:id="rId13"/>
    <p:sldId id="319" r:id="rId14"/>
    <p:sldId id="362" r:id="rId15"/>
    <p:sldId id="11089977" r:id="rId16"/>
    <p:sldId id="11089994" r:id="rId17"/>
    <p:sldId id="753" r:id="rId18"/>
    <p:sldId id="764" r:id="rId19"/>
    <p:sldId id="778" r:id="rId20"/>
    <p:sldId id="781" r:id="rId21"/>
    <p:sldId id="809" r:id="rId22"/>
    <p:sldId id="813" r:id="rId23"/>
    <p:sldId id="814" r:id="rId24"/>
    <p:sldId id="817" r:id="rId25"/>
    <p:sldId id="819" r:id="rId26"/>
    <p:sldId id="820" r:id="rId27"/>
    <p:sldId id="823" r:id="rId28"/>
    <p:sldId id="830" r:id="rId29"/>
    <p:sldId id="831" r:id="rId30"/>
    <p:sldId id="834" r:id="rId31"/>
    <p:sldId id="836" r:id="rId32"/>
    <p:sldId id="837" r:id="rId33"/>
    <p:sldId id="840" r:id="rId34"/>
    <p:sldId id="841" r:id="rId35"/>
    <p:sldId id="842" r:id="rId36"/>
    <p:sldId id="844" r:id="rId37"/>
    <p:sldId id="845" r:id="rId38"/>
    <p:sldId id="846" r:id="rId39"/>
    <p:sldId id="847" r:id="rId40"/>
    <p:sldId id="851" r:id="rId41"/>
    <p:sldId id="870" r:id="rId42"/>
    <p:sldId id="868" r:id="rId43"/>
    <p:sldId id="877" r:id="rId4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1">
          <p15:clr>
            <a:srgbClr val="A4A3A4"/>
          </p15:clr>
        </p15:guide>
        <p15:guide id="2" pos="38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29D"/>
    <a:srgbClr val="F9F9F9"/>
    <a:srgbClr val="FE7E0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4984" autoAdjust="0"/>
    <p:restoredTop sz="94660"/>
  </p:normalViewPr>
  <p:slideViewPr>
    <p:cSldViewPr snapToGrid="0" showGuides="1">
      <p:cViewPr varScale="1">
        <p:scale>
          <a:sx n="124" d="100"/>
          <a:sy n="124" d="100"/>
        </p:scale>
        <p:origin x="328" y="168"/>
      </p:cViewPr>
      <p:guideLst>
        <p:guide orient="horz" pos="2161"/>
        <p:guide pos="3832"/>
      </p:guideLst>
    </p:cSldViewPr>
  </p:slideViewPr>
  <p:notesTextViewPr>
    <p:cViewPr>
      <p:scale>
        <a:sx n="1" d="1"/>
        <a:sy n="1" d="1"/>
      </p:scale>
      <p:origin x="0" y="0"/>
    </p:cViewPr>
  </p:notesTextViewPr>
  <p:sorterViewPr>
    <p:cViewPr>
      <p:scale>
        <a:sx n="107" d="100"/>
        <a:sy n="107"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notesMaster" Target="notesMasters/notesMaster1.xml"/><Relationship Id="rId46" Type="http://schemas.openxmlformats.org/officeDocument/2006/relationships/handoutMaster" Target="handoutMasters/handout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image" Target="../media/image20.emf"/><Relationship Id="rId2" Type="http://schemas.openxmlformats.org/officeDocument/2006/relationships/package" Target="../embeddings/Microsoft_Excel____.xlsx"/></Relationships>
</file>

<file path=ppt/charts/_rels/chart2.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___1.xlsx"/></Relationships>
</file>

<file path=ppt/charts/_rels/chart3.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___2.xlsx"/></Relationships>
</file>

<file path=ppt/charts/_rels/chart4.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___3.xlsx"/></Relationships>
</file>

<file path=ppt/charts/_rels/chart5.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4.xlsx"/></Relationships>
</file>

<file path=ppt/charts/_rels/chart6.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___5.xlsx"/></Relationships>
</file>

<file path=ppt/charts/_rels/chart7.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___6.xlsx"/></Relationships>
</file>

<file path=ppt/charts/_rels/chart8.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___7.xlsx"/></Relationships>
</file>

<file path=ppt/charts/_rels/chart9.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package" Target="../embeddings/Microsoft_Excel____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1"/>
          <c:order val="1"/>
          <c:tx>
            <c:strRef>
              <c:f>Sheet1!$C$1</c:f>
              <c:strCache>
                <c:ptCount val="1"/>
                <c:pt idx="0">
                  <c:v>辅助数据</c:v>
                </c:pt>
              </c:strCache>
            </c:strRef>
          </c:tx>
          <c:spPr>
            <a:gradFill>
              <a:gsLst>
                <a:gs pos="0">
                  <a:schemeClr val="accent2">
                    <a:alpha val="25000"/>
                  </a:schemeClr>
                </a:gs>
                <a:gs pos="89000">
                  <a:schemeClr val="accent2">
                    <a:alpha val="0"/>
                  </a:schemeClr>
                </a:gs>
              </a:gsLst>
              <a:lin ang="5400000" scaled="1"/>
            </a:gradFill>
            <a:ln>
              <a:noFill/>
            </a:ln>
            <a:effectLst/>
          </c:spPr>
          <c:cat>
            <c:strRef>
              <c:f>Sheet1!$A$2:$A$7</c:f>
              <c:strCache>
                <c:ptCount val="6"/>
                <c:pt idx="0">
                  <c:v>1月</c:v>
                </c:pt>
                <c:pt idx="1">
                  <c:v>2月</c:v>
                </c:pt>
                <c:pt idx="2">
                  <c:v>3月</c:v>
                </c:pt>
                <c:pt idx="3">
                  <c:v>4月</c:v>
                </c:pt>
                <c:pt idx="4">
                  <c:v>5月</c:v>
                </c:pt>
                <c:pt idx="5">
                  <c:v>6月</c:v>
                </c:pt>
              </c:strCache>
            </c:strRef>
          </c:cat>
          <c:val>
            <c:numRef>
              <c:f>Sheet1!$C$2:$C$7</c:f>
              <c:numCache>
                <c:formatCode>General</c:formatCode>
                <c:ptCount val="6"/>
                <c:pt idx="0">
                  <c:v>1345</c:v>
                </c:pt>
                <c:pt idx="1">
                  <c:v>1245</c:v>
                </c:pt>
                <c:pt idx="2">
                  <c:v>1000</c:v>
                </c:pt>
                <c:pt idx="3">
                  <c:v>1400</c:v>
                </c:pt>
                <c:pt idx="4">
                  <c:v>1700</c:v>
                </c:pt>
                <c:pt idx="5">
                  <c:v>1500</c:v>
                </c:pt>
              </c:numCache>
            </c:numRef>
          </c:val>
          <c:extLst>
            <c:ext xmlns:c16="http://schemas.microsoft.com/office/drawing/2014/chart" uri="{C3380CC4-5D6E-409C-BE32-E72D297353CC}">
              <c16:uniqueId val="{00000000-4DF5-CB46-8559-831AA46BAFDA}"/>
            </c:ext>
          </c:extLst>
        </c:ser>
        <c:dLbls>
          <c:showLegendKey val="0"/>
          <c:showVal val="0"/>
          <c:showCatName val="0"/>
          <c:showSerName val="0"/>
          <c:showPercent val="0"/>
          <c:showBubbleSize val="0"/>
        </c:dLbls>
        <c:dropLines>
          <c:spPr>
            <a:ln w="9525" cap="flat" cmpd="sng" algn="ctr">
              <a:solidFill>
                <a:schemeClr val="bg1">
                  <a:lumMod val="85000"/>
                  <a:alpha val="80000"/>
                </a:schemeClr>
              </a:solidFill>
              <a:prstDash val="solid"/>
              <a:round/>
            </a:ln>
            <a:effectLst/>
          </c:spPr>
        </c:dropLines>
        <c:axId val="-699098080"/>
        <c:axId val="-699108416"/>
      </c:areaChart>
      <c:lineChart>
        <c:grouping val="standard"/>
        <c:varyColors val="0"/>
        <c:ser>
          <c:idx val="0"/>
          <c:order val="0"/>
          <c:tx>
            <c:strRef>
              <c:f>Sheet1!$B$1</c:f>
              <c:strCache>
                <c:ptCount val="1"/>
                <c:pt idx="0">
                  <c:v>销售额</c:v>
                </c:pt>
              </c:strCache>
            </c:strRef>
          </c:tx>
          <c:spPr>
            <a:ln w="28575" cap="rnd" cmpd="sng" algn="ctr">
              <a:gradFill>
                <a:gsLst>
                  <a:gs pos="0">
                    <a:schemeClr val="accent3">
                      <a:lumMod val="60000"/>
                      <a:lumOff val="40000"/>
                    </a:schemeClr>
                  </a:gs>
                  <a:gs pos="100000">
                    <a:schemeClr val="accent3"/>
                  </a:gs>
                </a:gsLst>
                <a:lin ang="5400000" scaled="1"/>
              </a:gradFill>
              <a:prstDash val="solid"/>
              <a:round/>
            </a:ln>
            <a:effectLst/>
          </c:spPr>
          <c:marker>
            <c:symbol val="picture"/>
            <c:spPr>
              <a:blipFill>
                <a:blip xmlns:r="http://schemas.openxmlformats.org/officeDocument/2006/relationships" r:embed="rId1"/>
                <a:stretch>
                  <a:fillRect/>
                </a:stretch>
              </a:blipFill>
              <a:ln w="25400" cap="flat" cmpd="sng" algn="ctr">
                <a:noFill/>
                <a:prstDash val="solid"/>
                <a:round/>
              </a:ln>
              <a:effectLst/>
            </c:spPr>
          </c:marker>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ea"/>
                    <a:sym typeface="+mn-lt"/>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strRef>
              <c:f>Sheet1!$A$2:$A$7</c:f>
              <c:strCache>
                <c:ptCount val="6"/>
                <c:pt idx="0">
                  <c:v>1月</c:v>
                </c:pt>
                <c:pt idx="1">
                  <c:v>2月</c:v>
                </c:pt>
                <c:pt idx="2">
                  <c:v>3月</c:v>
                </c:pt>
                <c:pt idx="3">
                  <c:v>4月</c:v>
                </c:pt>
                <c:pt idx="4">
                  <c:v>5月</c:v>
                </c:pt>
                <c:pt idx="5">
                  <c:v>6月</c:v>
                </c:pt>
              </c:strCache>
            </c:strRef>
          </c:cat>
          <c:val>
            <c:numRef>
              <c:f>Sheet1!$B$2:$B$7</c:f>
              <c:numCache>
                <c:formatCode>General</c:formatCode>
                <c:ptCount val="6"/>
                <c:pt idx="0">
                  <c:v>1345</c:v>
                </c:pt>
                <c:pt idx="1">
                  <c:v>1245</c:v>
                </c:pt>
                <c:pt idx="2">
                  <c:v>1000</c:v>
                </c:pt>
                <c:pt idx="3">
                  <c:v>1400</c:v>
                </c:pt>
                <c:pt idx="4">
                  <c:v>1700</c:v>
                </c:pt>
                <c:pt idx="5">
                  <c:v>1500</c:v>
                </c:pt>
              </c:numCache>
            </c:numRef>
          </c:val>
          <c:smooth val="0"/>
          <c:extLst>
            <c:ext xmlns:c16="http://schemas.microsoft.com/office/drawing/2014/chart" uri="{C3380CC4-5D6E-409C-BE32-E72D297353CC}">
              <c16:uniqueId val="{00000001-4DF5-CB46-8559-831AA46BAFDA}"/>
            </c:ext>
          </c:extLst>
        </c:ser>
        <c:dLbls>
          <c:showLegendKey val="0"/>
          <c:showVal val="0"/>
          <c:showCatName val="0"/>
          <c:showSerName val="0"/>
          <c:showPercent val="0"/>
          <c:showBubbleSize val="0"/>
        </c:dLbls>
        <c:marker val="1"/>
        <c:smooth val="0"/>
        <c:axId val="-699098080"/>
        <c:axId val="-699108416"/>
      </c:lineChart>
      <c:catAx>
        <c:axId val="-699098080"/>
        <c:scaling>
          <c:orientation val="minMax"/>
        </c:scaling>
        <c:delete val="0"/>
        <c:axPos val="b"/>
        <c:numFmt formatCode="General" sourceLinked="1"/>
        <c:majorTickMark val="none"/>
        <c:minorTickMark val="none"/>
        <c:tickLblPos val="nextTo"/>
        <c:spPr>
          <a:noFill/>
          <a:ln w="9525" cap="flat" cmpd="sng" algn="ctr">
            <a:solidFill>
              <a:schemeClr val="bg1">
                <a:lumMod val="85000"/>
              </a:schemeClr>
            </a:solidFill>
            <a:prstDash val="solid"/>
            <a:round/>
          </a:ln>
          <a:effectLst/>
        </c:spPr>
        <c:txPr>
          <a:bodyPr rot="-60000000" spcFirstLastPara="0" vertOverflow="ellipsis" vert="horz" wrap="square" anchor="ctr" anchorCtr="1"/>
          <a:lstStyle/>
          <a:p>
            <a:pPr>
              <a:defRPr lang="zh-CN" sz="1000" b="0" i="0" u="none" strike="noStrike" kern="1200" baseline="0">
                <a:solidFill>
                  <a:schemeClr val="tx1"/>
                </a:solidFill>
                <a:latin typeface="+mn-lt"/>
                <a:ea typeface="+mn-ea"/>
                <a:cs typeface="+mn-ea"/>
                <a:sym typeface="+mn-lt"/>
              </a:defRPr>
            </a:pPr>
            <a:endParaRPr lang="zh-CN"/>
          </a:p>
        </c:txPr>
        <c:crossAx val="-699108416"/>
        <c:crosses val="autoZero"/>
        <c:auto val="1"/>
        <c:lblAlgn val="ctr"/>
        <c:lblOffset val="100"/>
        <c:noMultiLvlLbl val="0"/>
      </c:catAx>
      <c:valAx>
        <c:axId val="-699108416"/>
        <c:scaling>
          <c:orientation val="minMax"/>
        </c:scaling>
        <c:delete val="1"/>
        <c:axPos val="l"/>
        <c:numFmt formatCode="General" sourceLinked="1"/>
        <c:majorTickMark val="out"/>
        <c:minorTickMark val="none"/>
        <c:tickLblPos val="nextTo"/>
        <c:crossAx val="-699098080"/>
        <c:crosses val="autoZero"/>
        <c:crossBetween val="between"/>
      </c:valAx>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bg1">
                <a:lumMod val="85000"/>
              </a:schemeClr>
            </a:solidFill>
            <a:ln>
              <a:noFill/>
            </a:ln>
            <a:effectLst/>
          </c:spPr>
          <c:invertIfNegative val="0"/>
          <c:dLbls>
            <c:dLbl>
              <c:idx val="0"/>
              <c:layout>
                <c:manualLayout>
                  <c:x val="-3.4256903035701199E-3"/>
                  <c:y val="5.9479707116302002E-2"/>
                </c:manualLayout>
              </c:layout>
              <c:tx>
                <c:rich>
                  <a:bodyPr/>
                  <a:lstStyle/>
                  <a:p>
                    <a:fld id="{DBDC20DE-84B2-49C8-9A09-1593CFC0EBBF}" type="VALUE">
                      <a:rPr lang="zh-CN" altLang="en-US"/>
                      <a:pPr/>
                      <a:t>[值]</a:t>
                    </a:fld>
                    <a:endParaRPr lang="zh-CN" alt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92C2-5B40-9AF3-8B50D1AA967D}"/>
                </c:ext>
              </c:extLst>
            </c:dLbl>
            <c:dLbl>
              <c:idx val="1"/>
              <c:layout>
                <c:manualLayout>
                  <c:x val="3.4256903035701099E-3"/>
                  <c:y val="5.9479707116302002E-2"/>
                </c:manualLayout>
              </c:layout>
              <c:tx>
                <c:rich>
                  <a:bodyPr/>
                  <a:lstStyle/>
                  <a:p>
                    <a:fld id="{26DBDB9D-DA21-4E60-BA1B-67EC942D67DA}" type="VALUE">
                      <a:rPr lang="zh-CN" altLang="en-US"/>
                      <a:pPr/>
                      <a:t>[值]</a:t>
                    </a:fld>
                    <a:endParaRPr lang="zh-CN" alt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92C2-5B40-9AF3-8B50D1AA967D}"/>
                </c:ext>
              </c:extLst>
            </c:dLbl>
            <c:dLbl>
              <c:idx val="2"/>
              <c:layout>
                <c:manualLayout>
                  <c:x val="3.4256903035700501E-3"/>
                  <c:y val="5.9479707116302002E-2"/>
                </c:manualLayout>
              </c:layout>
              <c:tx>
                <c:rich>
                  <a:bodyPr/>
                  <a:lstStyle/>
                  <a:p>
                    <a:fld id="{E674EDAC-DAB1-4DE5-B57D-9662591DBA7E}" type="VALUE">
                      <a:rPr lang="zh-CN" altLang="en-US"/>
                      <a:pPr/>
                      <a:t>[值]</a:t>
                    </a:fld>
                    <a:endParaRPr lang="zh-CN" alt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92C2-5B40-9AF3-8B50D1AA967D}"/>
                </c:ext>
              </c:extLst>
            </c:dLbl>
            <c:dLbl>
              <c:idx val="3"/>
              <c:layout>
                <c:manualLayout>
                  <c:x val="3.4256903035701099E-3"/>
                  <c:y val="0"/>
                </c:manualLayout>
              </c:layout>
              <c:tx>
                <c:rich>
                  <a:bodyPr/>
                  <a:lstStyle/>
                  <a:p>
                    <a:fld id="{C6FFD008-9AB5-46EE-A1C4-B8C1D4027C4C}" type="VALUE">
                      <a:rPr lang="zh-CN" altLang="en-US"/>
                      <a:pPr/>
                      <a:t>[值]</a:t>
                    </a:fld>
                    <a:endParaRPr lang="zh-CN" alt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92C2-5B40-9AF3-8B50D1AA967D}"/>
                </c:ext>
              </c:extLst>
            </c:dLbl>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mn-lt"/>
                    <a:ea typeface="+mn-ea"/>
                    <a:cs typeface="+mn-ea"/>
                    <a:sym typeface="+mn-lt"/>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Sheet1!$A$2:$A$5</c:f>
              <c:numCache>
                <c:formatCode>General</c:formatCode>
                <c:ptCount val="4"/>
                <c:pt idx="0">
                  <c:v>2019</c:v>
                </c:pt>
                <c:pt idx="1">
                  <c:v>2020</c:v>
                </c:pt>
                <c:pt idx="2">
                  <c:v>2021</c:v>
                </c:pt>
                <c:pt idx="3">
                  <c:v>2022</c:v>
                </c:pt>
              </c:numCache>
            </c:numRef>
          </c:cat>
          <c:val>
            <c:numRef>
              <c:f>Sheet1!$B$2:$B$5</c:f>
              <c:numCache>
                <c:formatCode>General</c:formatCode>
                <c:ptCount val="4"/>
                <c:pt idx="0">
                  <c:v>102064</c:v>
                </c:pt>
                <c:pt idx="1">
                  <c:v>104672</c:v>
                </c:pt>
                <c:pt idx="2">
                  <c:v>122633</c:v>
                </c:pt>
                <c:pt idx="3">
                  <c:v>145377</c:v>
                </c:pt>
              </c:numCache>
            </c:numRef>
          </c:val>
          <c:extLst>
            <c:ext xmlns:c16="http://schemas.microsoft.com/office/drawing/2014/chart" uri="{C3380CC4-5D6E-409C-BE32-E72D297353CC}">
              <c16:uniqueId val="{00000004-92C2-5B40-9AF3-8B50D1AA967D}"/>
            </c:ext>
          </c:extLst>
        </c:ser>
        <c:dLbls>
          <c:showLegendKey val="0"/>
          <c:showVal val="1"/>
          <c:showCatName val="0"/>
          <c:showSerName val="0"/>
          <c:showPercent val="0"/>
          <c:showBubbleSize val="0"/>
        </c:dLbls>
        <c:gapWidth val="50"/>
        <c:overlap val="100"/>
        <c:axId val="1276408591"/>
        <c:axId val="1276390351"/>
      </c:barChart>
      <c:catAx>
        <c:axId val="12764085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ea"/>
                <a:sym typeface="+mn-lt"/>
              </a:defRPr>
            </a:pPr>
            <a:endParaRPr lang="zh-CN"/>
          </a:p>
        </c:txPr>
        <c:crossAx val="1276390351"/>
        <c:crosses val="autoZero"/>
        <c:auto val="1"/>
        <c:lblAlgn val="ctr"/>
        <c:lblOffset val="100"/>
        <c:noMultiLvlLbl val="0"/>
      </c:catAx>
      <c:valAx>
        <c:axId val="1276390351"/>
        <c:scaling>
          <c:orientation val="minMax"/>
        </c:scaling>
        <c:delete val="1"/>
        <c:axPos val="l"/>
        <c:numFmt formatCode="General" sourceLinked="1"/>
        <c:majorTickMark val="none"/>
        <c:minorTickMark val="none"/>
        <c:tickLblPos val="nextTo"/>
        <c:crossAx val="1276408591"/>
        <c:crosses val="autoZero"/>
        <c:crossBetween val="between"/>
      </c:valAx>
      <c:spPr>
        <a:noFill/>
        <a:ln w="25400">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系列 1</c:v>
                </c:pt>
              </c:strCache>
            </c:strRef>
          </c:tx>
          <c:spPr>
            <a:solidFill>
              <a:schemeClr val="bg1">
                <a:lumMod val="85000"/>
              </a:schemeClr>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mn-lt"/>
                    <a:ea typeface="+mn-ea"/>
                    <a:cs typeface="+mn-ea"/>
                    <a:sym typeface="+mn-lt"/>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服务运营</c:v>
                </c:pt>
                <c:pt idx="1">
                  <c:v>产品和服务开发</c:v>
                </c:pt>
                <c:pt idx="2">
                  <c:v>市场营销与销售</c:v>
                </c:pt>
                <c:pt idx="3">
                  <c:v>制造</c:v>
                </c:pt>
                <c:pt idx="4">
                  <c:v>风控</c:v>
                </c:pt>
                <c:pt idx="5">
                  <c:v>供应链管理</c:v>
                </c:pt>
                <c:pt idx="6">
                  <c:v>人力资源</c:v>
                </c:pt>
                <c:pt idx="7">
                  <c:v>战略与企业融资</c:v>
                </c:pt>
              </c:strCache>
            </c:strRef>
          </c:cat>
          <c:val>
            <c:numRef>
              <c:f>Sheet1!$B$2:$B$9</c:f>
              <c:numCache>
                <c:formatCode>0%</c:formatCode>
                <c:ptCount val="8"/>
                <c:pt idx="0">
                  <c:v>0.21</c:v>
                </c:pt>
                <c:pt idx="1">
                  <c:v>0.21</c:v>
                </c:pt>
                <c:pt idx="2">
                  <c:v>0.15</c:v>
                </c:pt>
                <c:pt idx="3">
                  <c:v>0.12</c:v>
                </c:pt>
                <c:pt idx="4">
                  <c:v>0.1</c:v>
                </c:pt>
                <c:pt idx="5">
                  <c:v>0.09</c:v>
                </c:pt>
                <c:pt idx="6">
                  <c:v>0.08</c:v>
                </c:pt>
                <c:pt idx="7">
                  <c:v>7.0000000000000007E-2</c:v>
                </c:pt>
              </c:numCache>
            </c:numRef>
          </c:val>
          <c:extLst>
            <c:ext xmlns:c16="http://schemas.microsoft.com/office/drawing/2014/chart" uri="{C3380CC4-5D6E-409C-BE32-E72D297353CC}">
              <c16:uniqueId val="{00000000-A4D0-984A-A0FC-F37D183BF6C0}"/>
            </c:ext>
          </c:extLst>
        </c:ser>
        <c:dLbls>
          <c:showLegendKey val="0"/>
          <c:showVal val="0"/>
          <c:showCatName val="0"/>
          <c:showSerName val="0"/>
          <c:showPercent val="0"/>
          <c:showBubbleSize val="0"/>
        </c:dLbls>
        <c:gapWidth val="35"/>
        <c:axId val="1274490367"/>
        <c:axId val="1274494687"/>
      </c:barChart>
      <c:catAx>
        <c:axId val="1274490367"/>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ea"/>
                <a:sym typeface="+mn-lt"/>
              </a:defRPr>
            </a:pPr>
            <a:endParaRPr lang="zh-CN"/>
          </a:p>
        </c:txPr>
        <c:crossAx val="1274494687"/>
        <c:crosses val="autoZero"/>
        <c:auto val="1"/>
        <c:lblAlgn val="ctr"/>
        <c:lblOffset val="100"/>
        <c:noMultiLvlLbl val="0"/>
      </c:catAx>
      <c:valAx>
        <c:axId val="1274494687"/>
        <c:scaling>
          <c:orientation val="minMax"/>
        </c:scaling>
        <c:delete val="1"/>
        <c:axPos val="b"/>
        <c:numFmt formatCode="0%" sourceLinked="1"/>
        <c:majorTickMark val="none"/>
        <c:minorTickMark val="none"/>
        <c:tickLblPos val="nextTo"/>
        <c:crossAx val="1274490367"/>
        <c:crosses val="autoZero"/>
        <c:crossBetween val="between"/>
      </c:valAx>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spPr>
            <a:solidFill>
              <a:schemeClr val="bg1">
                <a:lumMod val="95000"/>
              </a:schemeClr>
            </a:solidFill>
            <a:ln w="92075">
              <a:solidFill>
                <a:schemeClr val="lt1">
                  <a:alpha val="0"/>
                </a:schemeClr>
              </a:solidFill>
            </a:ln>
          </c:spPr>
          <c:dPt>
            <c:idx val="0"/>
            <c:bubble3D val="0"/>
            <c:explosion val="6"/>
            <c:spPr>
              <a:solidFill>
                <a:schemeClr val="accent1">
                  <a:lumMod val="20000"/>
                  <a:lumOff val="80000"/>
                </a:schemeClr>
              </a:solidFill>
              <a:ln w="92075">
                <a:solidFill>
                  <a:schemeClr val="lt1">
                    <a:alpha val="0"/>
                  </a:schemeClr>
                </a:solidFill>
              </a:ln>
              <a:effectLst/>
            </c:spPr>
            <c:extLst>
              <c:ext xmlns:c16="http://schemas.microsoft.com/office/drawing/2014/chart" uri="{C3380CC4-5D6E-409C-BE32-E72D297353CC}">
                <c16:uniqueId val="{00000001-F5E7-6745-9A1F-D73D4548A9D2}"/>
              </c:ext>
            </c:extLst>
          </c:dPt>
          <c:dPt>
            <c:idx val="1"/>
            <c:bubble3D val="0"/>
            <c:explosion val="7"/>
            <c:spPr>
              <a:solidFill>
                <a:schemeClr val="accent1">
                  <a:lumMod val="40000"/>
                  <a:lumOff val="60000"/>
                  <a:alpha val="80000"/>
                </a:schemeClr>
              </a:solidFill>
              <a:ln w="92075">
                <a:solidFill>
                  <a:schemeClr val="lt1">
                    <a:alpha val="0"/>
                  </a:schemeClr>
                </a:solidFill>
              </a:ln>
              <a:effectLst/>
            </c:spPr>
            <c:extLst>
              <c:ext xmlns:c16="http://schemas.microsoft.com/office/drawing/2014/chart" uri="{C3380CC4-5D6E-409C-BE32-E72D297353CC}">
                <c16:uniqueId val="{00000003-F5E7-6745-9A1F-D73D4548A9D2}"/>
              </c:ext>
            </c:extLst>
          </c:dPt>
          <c:dPt>
            <c:idx val="2"/>
            <c:bubble3D val="0"/>
            <c:explosion val="6"/>
            <c:spPr>
              <a:solidFill>
                <a:schemeClr val="accent1">
                  <a:lumMod val="40000"/>
                  <a:lumOff val="60000"/>
                </a:schemeClr>
              </a:solidFill>
              <a:ln w="92075">
                <a:solidFill>
                  <a:schemeClr val="lt1">
                    <a:alpha val="0"/>
                  </a:schemeClr>
                </a:solidFill>
              </a:ln>
              <a:effectLst/>
            </c:spPr>
            <c:extLst>
              <c:ext xmlns:c16="http://schemas.microsoft.com/office/drawing/2014/chart" uri="{C3380CC4-5D6E-409C-BE32-E72D297353CC}">
                <c16:uniqueId val="{00000005-F5E7-6745-9A1F-D73D4548A9D2}"/>
              </c:ext>
            </c:extLst>
          </c:dPt>
          <c:dPt>
            <c:idx val="3"/>
            <c:bubble3D val="0"/>
            <c:explosion val="6"/>
            <c:spPr>
              <a:solidFill>
                <a:schemeClr val="accent1"/>
              </a:solidFill>
              <a:ln w="92075">
                <a:solidFill>
                  <a:schemeClr val="lt1">
                    <a:alpha val="0"/>
                  </a:schemeClr>
                </a:solidFill>
              </a:ln>
              <a:effectLst/>
            </c:spPr>
            <c:extLst>
              <c:ext xmlns:c16="http://schemas.microsoft.com/office/drawing/2014/chart" uri="{C3380CC4-5D6E-409C-BE32-E72D297353CC}">
                <c16:uniqueId val="{00000007-F5E7-6745-9A1F-D73D4548A9D2}"/>
              </c:ext>
            </c:extLst>
          </c:dPt>
          <c:dPt>
            <c:idx val="4"/>
            <c:bubble3D val="0"/>
            <c:explosion val="6"/>
            <c:spPr>
              <a:solidFill>
                <a:schemeClr val="bg1">
                  <a:lumMod val="85000"/>
                </a:schemeClr>
              </a:solidFill>
              <a:ln w="92075">
                <a:solidFill>
                  <a:schemeClr val="lt1">
                    <a:alpha val="0"/>
                  </a:schemeClr>
                </a:solidFill>
              </a:ln>
              <a:effectLst/>
            </c:spPr>
            <c:extLst>
              <c:ext xmlns:c16="http://schemas.microsoft.com/office/drawing/2014/chart" uri="{C3380CC4-5D6E-409C-BE32-E72D297353CC}">
                <c16:uniqueId val="{00000009-F5E7-6745-9A1F-D73D4548A9D2}"/>
              </c:ext>
            </c:extLst>
          </c:dPt>
          <c:dPt>
            <c:idx val="5"/>
            <c:bubble3D val="0"/>
            <c:explosion val="5"/>
            <c:spPr>
              <a:solidFill>
                <a:schemeClr val="bg1">
                  <a:lumMod val="75000"/>
                </a:schemeClr>
              </a:solidFill>
              <a:ln w="92075">
                <a:solidFill>
                  <a:schemeClr val="lt1">
                    <a:alpha val="0"/>
                  </a:schemeClr>
                </a:solidFill>
              </a:ln>
              <a:effectLst/>
            </c:spPr>
            <c:extLst>
              <c:ext xmlns:c16="http://schemas.microsoft.com/office/drawing/2014/chart" uri="{C3380CC4-5D6E-409C-BE32-E72D297353CC}">
                <c16:uniqueId val="{0000000B-F5E7-6745-9A1F-D73D4548A9D2}"/>
              </c:ext>
            </c:extLst>
          </c:dPt>
          <c:dPt>
            <c:idx val="6"/>
            <c:bubble3D val="0"/>
            <c:explosion val="6"/>
            <c:spPr>
              <a:solidFill>
                <a:schemeClr val="bg1">
                  <a:lumMod val="65000"/>
                </a:schemeClr>
              </a:solidFill>
              <a:ln w="92075">
                <a:solidFill>
                  <a:schemeClr val="lt1">
                    <a:alpha val="0"/>
                  </a:schemeClr>
                </a:solidFill>
              </a:ln>
              <a:effectLst/>
            </c:spPr>
            <c:extLst>
              <c:ext xmlns:c16="http://schemas.microsoft.com/office/drawing/2014/chart" uri="{C3380CC4-5D6E-409C-BE32-E72D297353CC}">
                <c16:uniqueId val="{0000000D-F5E7-6745-9A1F-D73D4548A9D2}"/>
              </c:ext>
            </c:extLst>
          </c:dPt>
          <c:dPt>
            <c:idx val="7"/>
            <c:bubble3D val="0"/>
            <c:explosion val="6"/>
            <c:spPr>
              <a:solidFill>
                <a:schemeClr val="bg1">
                  <a:lumMod val="50000"/>
                </a:schemeClr>
              </a:solidFill>
              <a:ln w="92075">
                <a:solidFill>
                  <a:schemeClr val="lt1">
                    <a:alpha val="0"/>
                  </a:schemeClr>
                </a:solidFill>
              </a:ln>
              <a:effectLst/>
            </c:spPr>
            <c:extLst>
              <c:ext xmlns:c16="http://schemas.microsoft.com/office/drawing/2014/chart" uri="{C3380CC4-5D6E-409C-BE32-E72D297353CC}">
                <c16:uniqueId val="{0000000F-F5E7-6745-9A1F-D73D4548A9D2}"/>
              </c:ext>
            </c:extLst>
          </c:dPt>
          <c:cat>
            <c:strRef>
              <c:f>Sheet1!$A$2:$A$9</c:f>
              <c:strCache>
                <c:ptCount val="4"/>
                <c:pt idx="0">
                  <c:v>第一季度</c:v>
                </c:pt>
                <c:pt idx="1">
                  <c:v>第二季度</c:v>
                </c:pt>
                <c:pt idx="2">
                  <c:v>第三季度</c:v>
                </c:pt>
                <c:pt idx="3">
                  <c:v>第四季度</c:v>
                </c:pt>
              </c:strCache>
            </c:strRef>
          </c:cat>
          <c:val>
            <c:numRef>
              <c:f>Sheet1!$B$2:$B$9</c:f>
              <c:numCache>
                <c:formatCode>General</c:formatCode>
                <c:ptCount val="8"/>
                <c:pt idx="0">
                  <c:v>1</c:v>
                </c:pt>
                <c:pt idx="1">
                  <c:v>1</c:v>
                </c:pt>
                <c:pt idx="2">
                  <c:v>1</c:v>
                </c:pt>
                <c:pt idx="3">
                  <c:v>1</c:v>
                </c:pt>
                <c:pt idx="4">
                  <c:v>1</c:v>
                </c:pt>
                <c:pt idx="5">
                  <c:v>1</c:v>
                </c:pt>
                <c:pt idx="6">
                  <c:v>1</c:v>
                </c:pt>
                <c:pt idx="7">
                  <c:v>1</c:v>
                </c:pt>
              </c:numCache>
            </c:numRef>
          </c:val>
          <c:extLst>
            <c:ext xmlns:c16="http://schemas.microsoft.com/office/drawing/2014/chart" uri="{C3380CC4-5D6E-409C-BE32-E72D297353CC}">
              <c16:uniqueId val="{00000010-F5E7-6745-9A1F-D73D4548A9D2}"/>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spPr>
            <a:solidFill>
              <a:schemeClr val="bg1"/>
            </a:solidFill>
            <a:ln w="92075">
              <a:solidFill>
                <a:schemeClr val="lt1">
                  <a:alpha val="0"/>
                </a:schemeClr>
              </a:solidFill>
            </a:ln>
          </c:spPr>
          <c:dPt>
            <c:idx val="0"/>
            <c:bubble3D val="0"/>
            <c:explosion val="6"/>
            <c:spPr>
              <a:solidFill>
                <a:schemeClr val="bg1"/>
              </a:solidFill>
              <a:ln w="92075">
                <a:solidFill>
                  <a:schemeClr val="lt1">
                    <a:alpha val="0"/>
                  </a:schemeClr>
                </a:solidFill>
              </a:ln>
              <a:effectLst/>
            </c:spPr>
            <c:extLst>
              <c:ext xmlns:c16="http://schemas.microsoft.com/office/drawing/2014/chart" uri="{C3380CC4-5D6E-409C-BE32-E72D297353CC}">
                <c16:uniqueId val="{00000001-1323-5A40-A447-FE329E8A565A}"/>
              </c:ext>
            </c:extLst>
          </c:dPt>
          <c:dPt>
            <c:idx val="1"/>
            <c:bubble3D val="0"/>
            <c:explosion val="7"/>
            <c:spPr>
              <a:solidFill>
                <a:schemeClr val="bg1"/>
              </a:solidFill>
              <a:ln w="92075">
                <a:solidFill>
                  <a:schemeClr val="lt1">
                    <a:alpha val="0"/>
                  </a:schemeClr>
                </a:solidFill>
              </a:ln>
              <a:effectLst/>
            </c:spPr>
            <c:extLst>
              <c:ext xmlns:c16="http://schemas.microsoft.com/office/drawing/2014/chart" uri="{C3380CC4-5D6E-409C-BE32-E72D297353CC}">
                <c16:uniqueId val="{00000003-1323-5A40-A447-FE329E8A565A}"/>
              </c:ext>
            </c:extLst>
          </c:dPt>
          <c:dPt>
            <c:idx val="2"/>
            <c:bubble3D val="0"/>
            <c:explosion val="6"/>
            <c:spPr>
              <a:solidFill>
                <a:schemeClr val="bg1"/>
              </a:solidFill>
              <a:ln w="92075">
                <a:solidFill>
                  <a:schemeClr val="lt1">
                    <a:alpha val="0"/>
                  </a:schemeClr>
                </a:solidFill>
              </a:ln>
              <a:effectLst/>
            </c:spPr>
            <c:extLst>
              <c:ext xmlns:c16="http://schemas.microsoft.com/office/drawing/2014/chart" uri="{C3380CC4-5D6E-409C-BE32-E72D297353CC}">
                <c16:uniqueId val="{00000005-1323-5A40-A447-FE329E8A565A}"/>
              </c:ext>
            </c:extLst>
          </c:dPt>
          <c:dPt>
            <c:idx val="3"/>
            <c:bubble3D val="0"/>
            <c:explosion val="6"/>
            <c:spPr>
              <a:solidFill>
                <a:schemeClr val="bg1"/>
              </a:solidFill>
              <a:ln w="92075">
                <a:solidFill>
                  <a:schemeClr val="lt1">
                    <a:alpha val="0"/>
                  </a:schemeClr>
                </a:solidFill>
              </a:ln>
              <a:effectLst/>
            </c:spPr>
            <c:extLst>
              <c:ext xmlns:c16="http://schemas.microsoft.com/office/drawing/2014/chart" uri="{C3380CC4-5D6E-409C-BE32-E72D297353CC}">
                <c16:uniqueId val="{00000007-1323-5A40-A447-FE329E8A565A}"/>
              </c:ext>
            </c:extLst>
          </c:dPt>
          <c:dPt>
            <c:idx val="4"/>
            <c:bubble3D val="0"/>
            <c:explosion val="6"/>
            <c:spPr>
              <a:solidFill>
                <a:schemeClr val="bg1"/>
              </a:solidFill>
              <a:ln w="92075">
                <a:solidFill>
                  <a:schemeClr val="lt1">
                    <a:alpha val="0"/>
                  </a:schemeClr>
                </a:solidFill>
              </a:ln>
              <a:effectLst/>
            </c:spPr>
            <c:extLst>
              <c:ext xmlns:c16="http://schemas.microsoft.com/office/drawing/2014/chart" uri="{C3380CC4-5D6E-409C-BE32-E72D297353CC}">
                <c16:uniqueId val="{00000009-1323-5A40-A447-FE329E8A565A}"/>
              </c:ext>
            </c:extLst>
          </c:dPt>
          <c:dPt>
            <c:idx val="5"/>
            <c:bubble3D val="0"/>
            <c:explosion val="5"/>
            <c:spPr>
              <a:solidFill>
                <a:schemeClr val="bg1"/>
              </a:solidFill>
              <a:ln w="92075">
                <a:solidFill>
                  <a:schemeClr val="lt1">
                    <a:alpha val="0"/>
                  </a:schemeClr>
                </a:solidFill>
              </a:ln>
              <a:effectLst/>
            </c:spPr>
            <c:extLst>
              <c:ext xmlns:c16="http://schemas.microsoft.com/office/drawing/2014/chart" uri="{C3380CC4-5D6E-409C-BE32-E72D297353CC}">
                <c16:uniqueId val="{0000000B-1323-5A40-A447-FE329E8A565A}"/>
              </c:ext>
            </c:extLst>
          </c:dPt>
          <c:dPt>
            <c:idx val="6"/>
            <c:bubble3D val="0"/>
            <c:explosion val="6"/>
            <c:spPr>
              <a:solidFill>
                <a:schemeClr val="bg1"/>
              </a:solidFill>
              <a:ln w="92075">
                <a:solidFill>
                  <a:schemeClr val="lt1">
                    <a:alpha val="0"/>
                  </a:schemeClr>
                </a:solidFill>
              </a:ln>
              <a:effectLst/>
            </c:spPr>
            <c:extLst>
              <c:ext xmlns:c16="http://schemas.microsoft.com/office/drawing/2014/chart" uri="{C3380CC4-5D6E-409C-BE32-E72D297353CC}">
                <c16:uniqueId val="{0000000D-1323-5A40-A447-FE329E8A565A}"/>
              </c:ext>
            </c:extLst>
          </c:dPt>
          <c:dPt>
            <c:idx val="7"/>
            <c:bubble3D val="0"/>
            <c:explosion val="6"/>
            <c:spPr>
              <a:solidFill>
                <a:schemeClr val="bg1"/>
              </a:solidFill>
              <a:ln w="92075">
                <a:solidFill>
                  <a:schemeClr val="lt1">
                    <a:alpha val="0"/>
                  </a:schemeClr>
                </a:solidFill>
              </a:ln>
              <a:effectLst/>
            </c:spPr>
            <c:extLst>
              <c:ext xmlns:c16="http://schemas.microsoft.com/office/drawing/2014/chart" uri="{C3380CC4-5D6E-409C-BE32-E72D297353CC}">
                <c16:uniqueId val="{0000000F-1323-5A40-A447-FE329E8A565A}"/>
              </c:ext>
            </c:extLst>
          </c:dPt>
          <c:cat>
            <c:strRef>
              <c:f>Sheet1!$A$2:$A$9</c:f>
              <c:strCache>
                <c:ptCount val="4"/>
                <c:pt idx="0">
                  <c:v>第一季度</c:v>
                </c:pt>
                <c:pt idx="1">
                  <c:v>第二季度</c:v>
                </c:pt>
                <c:pt idx="2">
                  <c:v>第三季度</c:v>
                </c:pt>
                <c:pt idx="3">
                  <c:v>第四季度</c:v>
                </c:pt>
              </c:strCache>
            </c:strRef>
          </c:cat>
          <c:val>
            <c:numRef>
              <c:f>Sheet1!$B$2:$B$9</c:f>
              <c:numCache>
                <c:formatCode>General</c:formatCode>
                <c:ptCount val="8"/>
                <c:pt idx="0">
                  <c:v>1</c:v>
                </c:pt>
                <c:pt idx="1">
                  <c:v>1</c:v>
                </c:pt>
                <c:pt idx="2">
                  <c:v>1</c:v>
                </c:pt>
                <c:pt idx="3">
                  <c:v>1</c:v>
                </c:pt>
                <c:pt idx="4">
                  <c:v>1</c:v>
                </c:pt>
                <c:pt idx="5">
                  <c:v>1</c:v>
                </c:pt>
                <c:pt idx="6">
                  <c:v>1</c:v>
                </c:pt>
                <c:pt idx="7">
                  <c:v>1</c:v>
                </c:pt>
              </c:numCache>
            </c:numRef>
          </c:val>
          <c:extLst>
            <c:ext xmlns:c16="http://schemas.microsoft.com/office/drawing/2014/chart" uri="{C3380CC4-5D6E-409C-BE32-E72D297353CC}">
              <c16:uniqueId val="{00000010-1323-5A40-A447-FE329E8A565A}"/>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spPr>
            <a:solidFill>
              <a:schemeClr val="accent1"/>
            </a:solidFill>
          </c:spPr>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327-2249-91B9-14E7C56DCF55}"/>
              </c:ext>
            </c:extLst>
          </c:dPt>
          <c:dPt>
            <c:idx val="1"/>
            <c:bubble3D val="0"/>
            <c:spPr>
              <a:solidFill>
                <a:schemeClr val="accent1"/>
              </a:solidFill>
              <a:ln w="19050">
                <a:solidFill>
                  <a:schemeClr val="lt1"/>
                </a:solidFill>
              </a:ln>
              <a:effectLst/>
            </c:spPr>
            <c:extLst>
              <c:ext xmlns:c16="http://schemas.microsoft.com/office/drawing/2014/chart" uri="{C3380CC4-5D6E-409C-BE32-E72D297353CC}">
                <c16:uniqueId val="{00000003-C327-2249-91B9-14E7C56DCF55}"/>
              </c:ext>
            </c:extLst>
          </c:dPt>
          <c:dPt>
            <c:idx val="2"/>
            <c:bubble3D val="0"/>
            <c:spPr>
              <a:solidFill>
                <a:schemeClr val="accent1"/>
              </a:solidFill>
              <a:ln w="19050">
                <a:solidFill>
                  <a:schemeClr val="lt1"/>
                </a:solidFill>
              </a:ln>
              <a:effectLst/>
            </c:spPr>
            <c:extLst>
              <c:ext xmlns:c16="http://schemas.microsoft.com/office/drawing/2014/chart" uri="{C3380CC4-5D6E-409C-BE32-E72D297353CC}">
                <c16:uniqueId val="{00000005-C327-2249-91B9-14E7C56DCF55}"/>
              </c:ext>
            </c:extLst>
          </c:dPt>
          <c:dPt>
            <c:idx val="3"/>
            <c:bubble3D val="0"/>
            <c:spPr>
              <a:solidFill>
                <a:schemeClr val="accent1"/>
              </a:solidFill>
              <a:ln w="19050">
                <a:solidFill>
                  <a:schemeClr val="lt1"/>
                </a:solidFill>
              </a:ln>
              <a:effectLst/>
            </c:spPr>
            <c:extLst>
              <c:ext xmlns:c16="http://schemas.microsoft.com/office/drawing/2014/chart" uri="{C3380CC4-5D6E-409C-BE32-E72D297353CC}">
                <c16:uniqueId val="{00000007-C327-2249-91B9-14E7C56DCF55}"/>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C327-2249-91B9-14E7C56DCF55}"/>
              </c:ext>
            </c:extLst>
          </c:dPt>
          <c:dPt>
            <c:idx val="5"/>
            <c:bubble3D val="0"/>
            <c:spPr>
              <a:solidFill>
                <a:schemeClr val="accent1"/>
              </a:solidFill>
              <a:ln w="19050">
                <a:solidFill>
                  <a:schemeClr val="lt1"/>
                </a:solidFill>
              </a:ln>
              <a:effectLst/>
            </c:spPr>
            <c:extLst>
              <c:ext xmlns:c16="http://schemas.microsoft.com/office/drawing/2014/chart" uri="{C3380CC4-5D6E-409C-BE32-E72D297353CC}">
                <c16:uniqueId val="{0000000B-C327-2249-91B9-14E7C56DCF55}"/>
              </c:ext>
            </c:extLst>
          </c:dPt>
          <c:dPt>
            <c:idx val="6"/>
            <c:bubble3D val="0"/>
            <c:spPr>
              <a:solidFill>
                <a:schemeClr val="accent1"/>
              </a:solidFill>
              <a:ln w="19050">
                <a:solidFill>
                  <a:schemeClr val="lt1"/>
                </a:solidFill>
              </a:ln>
              <a:effectLst/>
            </c:spPr>
            <c:extLst>
              <c:ext xmlns:c16="http://schemas.microsoft.com/office/drawing/2014/chart" uri="{C3380CC4-5D6E-409C-BE32-E72D297353CC}">
                <c16:uniqueId val="{0000000D-C327-2249-91B9-14E7C56DCF55}"/>
              </c:ext>
            </c:extLst>
          </c:dPt>
          <c:cat>
            <c:strRef>
              <c:f>Sheet1!$A$2:$A$8</c:f>
              <c:strCache>
                <c:ptCount val="4"/>
                <c:pt idx="0">
                  <c:v>第一季度</c:v>
                </c:pt>
                <c:pt idx="1">
                  <c:v>第二季度</c:v>
                </c:pt>
                <c:pt idx="2">
                  <c:v>第三季度</c:v>
                </c:pt>
                <c:pt idx="3">
                  <c:v>第四季度</c:v>
                </c:pt>
              </c:strCache>
            </c:strRef>
          </c:cat>
          <c:val>
            <c:numRef>
              <c:f>Sheet1!$B$2:$B$8</c:f>
              <c:numCache>
                <c:formatCode>General</c:formatCode>
                <c:ptCount val="7"/>
                <c:pt idx="0">
                  <c:v>1</c:v>
                </c:pt>
                <c:pt idx="1">
                  <c:v>1</c:v>
                </c:pt>
                <c:pt idx="2">
                  <c:v>1</c:v>
                </c:pt>
                <c:pt idx="3">
                  <c:v>1</c:v>
                </c:pt>
                <c:pt idx="4">
                  <c:v>1</c:v>
                </c:pt>
                <c:pt idx="5">
                  <c:v>1</c:v>
                </c:pt>
                <c:pt idx="6">
                  <c:v>1</c:v>
                </c:pt>
              </c:numCache>
            </c:numRef>
          </c:val>
          <c:extLst>
            <c:ext xmlns:c16="http://schemas.microsoft.com/office/drawing/2014/chart" uri="{C3380CC4-5D6E-409C-BE32-E72D297353CC}">
              <c16:uniqueId val="{0000000E-C327-2249-91B9-14E7C56DCF55}"/>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spPr>
            <a:solidFill>
              <a:schemeClr val="accent1"/>
            </a:solidFill>
          </c:spPr>
          <c:dPt>
            <c:idx val="0"/>
            <c:bubble3D val="0"/>
            <c:spPr>
              <a:solidFill>
                <a:schemeClr val="accent1"/>
              </a:solidFill>
              <a:ln w="19050">
                <a:solidFill>
                  <a:schemeClr val="lt1"/>
                </a:solidFill>
              </a:ln>
              <a:effectLst/>
            </c:spPr>
            <c:extLst>
              <c:ext xmlns:c16="http://schemas.microsoft.com/office/drawing/2014/chart" uri="{C3380CC4-5D6E-409C-BE32-E72D297353CC}">
                <c16:uniqueId val="{00000001-D0BB-0641-8F77-53D0FE134831}"/>
              </c:ext>
            </c:extLst>
          </c:dPt>
          <c:dPt>
            <c:idx val="1"/>
            <c:bubble3D val="0"/>
            <c:spPr>
              <a:solidFill>
                <a:schemeClr val="accent1"/>
              </a:solidFill>
              <a:ln w="19050">
                <a:solidFill>
                  <a:schemeClr val="lt1"/>
                </a:solidFill>
              </a:ln>
              <a:effectLst/>
            </c:spPr>
            <c:extLst>
              <c:ext xmlns:c16="http://schemas.microsoft.com/office/drawing/2014/chart" uri="{C3380CC4-5D6E-409C-BE32-E72D297353CC}">
                <c16:uniqueId val="{00000003-D0BB-0641-8F77-53D0FE134831}"/>
              </c:ext>
            </c:extLst>
          </c:dPt>
          <c:dPt>
            <c:idx val="2"/>
            <c:bubble3D val="0"/>
            <c:spPr>
              <a:solidFill>
                <a:schemeClr val="accent1"/>
              </a:solidFill>
              <a:ln w="19050">
                <a:solidFill>
                  <a:schemeClr val="lt1"/>
                </a:solidFill>
              </a:ln>
              <a:effectLst/>
            </c:spPr>
            <c:extLst>
              <c:ext xmlns:c16="http://schemas.microsoft.com/office/drawing/2014/chart" uri="{C3380CC4-5D6E-409C-BE32-E72D297353CC}">
                <c16:uniqueId val="{00000005-D0BB-0641-8F77-53D0FE134831}"/>
              </c:ext>
            </c:extLst>
          </c:dPt>
          <c:dPt>
            <c:idx val="3"/>
            <c:bubble3D val="0"/>
            <c:spPr>
              <a:solidFill>
                <a:schemeClr val="accent1"/>
              </a:solidFill>
              <a:ln w="19050">
                <a:solidFill>
                  <a:schemeClr val="lt1"/>
                </a:solidFill>
              </a:ln>
              <a:effectLst/>
            </c:spPr>
            <c:extLst>
              <c:ext xmlns:c16="http://schemas.microsoft.com/office/drawing/2014/chart" uri="{C3380CC4-5D6E-409C-BE32-E72D297353CC}">
                <c16:uniqueId val="{00000007-D0BB-0641-8F77-53D0FE134831}"/>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D0BB-0641-8F77-53D0FE134831}"/>
              </c:ext>
            </c:extLst>
          </c:dPt>
          <c:dPt>
            <c:idx val="5"/>
            <c:bubble3D val="0"/>
            <c:spPr>
              <a:solidFill>
                <a:schemeClr val="accent1"/>
              </a:solidFill>
              <a:ln w="19050">
                <a:solidFill>
                  <a:schemeClr val="lt1"/>
                </a:solidFill>
              </a:ln>
              <a:effectLst/>
            </c:spPr>
            <c:extLst>
              <c:ext xmlns:c16="http://schemas.microsoft.com/office/drawing/2014/chart" uri="{C3380CC4-5D6E-409C-BE32-E72D297353CC}">
                <c16:uniqueId val="{0000000B-D0BB-0641-8F77-53D0FE134831}"/>
              </c:ext>
            </c:extLst>
          </c:dPt>
          <c:dPt>
            <c:idx val="6"/>
            <c:bubble3D val="0"/>
            <c:spPr>
              <a:solidFill>
                <a:schemeClr val="accent1"/>
              </a:solidFill>
              <a:ln w="19050">
                <a:solidFill>
                  <a:schemeClr val="lt1"/>
                </a:solidFill>
              </a:ln>
              <a:effectLst/>
            </c:spPr>
            <c:extLst>
              <c:ext xmlns:c16="http://schemas.microsoft.com/office/drawing/2014/chart" uri="{C3380CC4-5D6E-409C-BE32-E72D297353CC}">
                <c16:uniqueId val="{0000000D-D0BB-0641-8F77-53D0FE134831}"/>
              </c:ext>
            </c:extLst>
          </c:dPt>
          <c:cat>
            <c:strRef>
              <c:f>Sheet1!$A$2:$A$8</c:f>
              <c:strCache>
                <c:ptCount val="4"/>
                <c:pt idx="0">
                  <c:v>第一季度</c:v>
                </c:pt>
                <c:pt idx="1">
                  <c:v>第二季度</c:v>
                </c:pt>
                <c:pt idx="2">
                  <c:v>第三季度</c:v>
                </c:pt>
                <c:pt idx="3">
                  <c:v>第四季度</c:v>
                </c:pt>
              </c:strCache>
            </c:strRef>
          </c:cat>
          <c:val>
            <c:numRef>
              <c:f>Sheet1!$B$2:$B$8</c:f>
              <c:numCache>
                <c:formatCode>General</c:formatCode>
                <c:ptCount val="7"/>
                <c:pt idx="0">
                  <c:v>1</c:v>
                </c:pt>
                <c:pt idx="1">
                  <c:v>1</c:v>
                </c:pt>
                <c:pt idx="2">
                  <c:v>1</c:v>
                </c:pt>
                <c:pt idx="3">
                  <c:v>1</c:v>
                </c:pt>
                <c:pt idx="4">
                  <c:v>1</c:v>
                </c:pt>
                <c:pt idx="5">
                  <c:v>1</c:v>
                </c:pt>
                <c:pt idx="6">
                  <c:v>1</c:v>
                </c:pt>
              </c:numCache>
            </c:numRef>
          </c:val>
          <c:extLst>
            <c:ext xmlns:c16="http://schemas.microsoft.com/office/drawing/2014/chart" uri="{C3380CC4-5D6E-409C-BE32-E72D297353CC}">
              <c16:uniqueId val="{0000000E-D0BB-0641-8F77-53D0FE134831}"/>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chemeClr val="bg1">
                <a:lumMod val="85000"/>
              </a:schemeClr>
            </a:solidFill>
          </c:spPr>
          <c:dPt>
            <c:idx val="0"/>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1-96FF-D741-B722-35079B42EAA1}"/>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96FF-D741-B722-35079B42EAA1}"/>
              </c:ext>
            </c:extLst>
          </c:dPt>
          <c:dPt>
            <c:idx val="2"/>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5-96FF-D741-B722-35079B42EAA1}"/>
              </c:ext>
            </c:extLst>
          </c:dPt>
          <c:dPt>
            <c:idx val="3"/>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7-96FF-D741-B722-35079B42EAA1}"/>
              </c:ext>
            </c:extLst>
          </c:dPt>
          <c:dPt>
            <c:idx val="4"/>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9-96FF-D741-B722-35079B42EAA1}"/>
              </c:ext>
            </c:extLst>
          </c:dPt>
          <c:cat>
            <c:strRef>
              <c:f>Sheet1!$A$2:$A$6</c:f>
              <c:strCache>
                <c:ptCount val="4"/>
                <c:pt idx="0">
                  <c:v>第一季度</c:v>
                </c:pt>
                <c:pt idx="1">
                  <c:v>第二季度</c:v>
                </c:pt>
                <c:pt idx="2">
                  <c:v>第三季度</c:v>
                </c:pt>
                <c:pt idx="3">
                  <c:v>第四季度</c:v>
                </c:pt>
              </c:strCache>
            </c:strRef>
          </c:cat>
          <c:val>
            <c:numRef>
              <c:f>Sheet1!$B$2:$B$6</c:f>
              <c:numCache>
                <c:formatCode>General</c:formatCode>
                <c:ptCount val="5"/>
                <c:pt idx="0">
                  <c:v>1</c:v>
                </c:pt>
                <c:pt idx="1">
                  <c:v>1</c:v>
                </c:pt>
                <c:pt idx="2">
                  <c:v>1</c:v>
                </c:pt>
                <c:pt idx="3">
                  <c:v>1</c:v>
                </c:pt>
                <c:pt idx="4">
                  <c:v>1</c:v>
                </c:pt>
              </c:numCache>
            </c:numRef>
          </c:val>
          <c:extLst>
            <c:ext xmlns:c16="http://schemas.microsoft.com/office/drawing/2014/chart" uri="{C3380CC4-5D6E-409C-BE32-E72D297353CC}">
              <c16:uniqueId val="{0000000A-96FF-D741-B722-35079B42EAA1}"/>
            </c:ext>
          </c:extLst>
        </c:ser>
        <c:dLbls>
          <c:showLegendKey val="0"/>
          <c:showVal val="0"/>
          <c:showCatName val="0"/>
          <c:showSerName val="0"/>
          <c:showPercent val="0"/>
          <c:showBubbleSize val="0"/>
          <c:showLeaderLines val="1"/>
        </c:dLbls>
        <c:firstSliceAng val="0"/>
        <c:holeSize val="72"/>
      </c:doughnutChart>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chemeClr val="bg1">
                <a:lumMod val="85000"/>
              </a:schemeClr>
            </a:solidFill>
          </c:spPr>
          <c:dPt>
            <c:idx val="0"/>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1-DFCB-7147-BDC0-4452AB37AC41}"/>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DFCB-7147-BDC0-4452AB37AC41}"/>
              </c:ext>
            </c:extLst>
          </c:dPt>
          <c:dPt>
            <c:idx val="2"/>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5-DFCB-7147-BDC0-4452AB37AC41}"/>
              </c:ext>
            </c:extLst>
          </c:dPt>
          <c:dPt>
            <c:idx val="3"/>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7-DFCB-7147-BDC0-4452AB37AC41}"/>
              </c:ext>
            </c:extLst>
          </c:dPt>
          <c:dPt>
            <c:idx val="4"/>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9-DFCB-7147-BDC0-4452AB37AC41}"/>
              </c:ext>
            </c:extLst>
          </c:dPt>
          <c:cat>
            <c:strRef>
              <c:f>Sheet1!$A$2:$A$6</c:f>
              <c:strCache>
                <c:ptCount val="4"/>
                <c:pt idx="0">
                  <c:v>第一季度</c:v>
                </c:pt>
                <c:pt idx="1">
                  <c:v>第二季度</c:v>
                </c:pt>
                <c:pt idx="2">
                  <c:v>第三季度</c:v>
                </c:pt>
                <c:pt idx="3">
                  <c:v>第四季度</c:v>
                </c:pt>
              </c:strCache>
            </c:strRef>
          </c:cat>
          <c:val>
            <c:numRef>
              <c:f>Sheet1!$B$2:$B$6</c:f>
              <c:numCache>
                <c:formatCode>General</c:formatCode>
                <c:ptCount val="5"/>
                <c:pt idx="0">
                  <c:v>1</c:v>
                </c:pt>
                <c:pt idx="1">
                  <c:v>1</c:v>
                </c:pt>
                <c:pt idx="2">
                  <c:v>1</c:v>
                </c:pt>
                <c:pt idx="3">
                  <c:v>1</c:v>
                </c:pt>
                <c:pt idx="4">
                  <c:v>1</c:v>
                </c:pt>
              </c:numCache>
            </c:numRef>
          </c:val>
          <c:extLst>
            <c:ext xmlns:c16="http://schemas.microsoft.com/office/drawing/2014/chart" uri="{C3380CC4-5D6E-409C-BE32-E72D297353CC}">
              <c16:uniqueId val="{0000000A-DFCB-7147-BDC0-4452AB37AC41}"/>
            </c:ext>
          </c:extLst>
        </c:ser>
        <c:dLbls>
          <c:showLegendKey val="0"/>
          <c:showVal val="0"/>
          <c:showCatName val="0"/>
          <c:showSerName val="0"/>
          <c:showPercent val="0"/>
          <c:showBubbleSize val="0"/>
          <c:showLeaderLines val="1"/>
        </c:dLbls>
        <c:firstSliceAng val="0"/>
        <c:holeSize val="72"/>
      </c:doughnutChart>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黑体 CN Normal" panose="020B0400000000000000" pitchFamily="34" charset="-122"/>
              <a:ea typeface="思源黑体 CN Normal" panose="020B0400000000000000"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思源黑体 CN Normal" panose="020B0400000000000000" pitchFamily="34" charset="-122"/>
                <a:ea typeface="思源黑体 CN Normal" panose="020B0400000000000000" pitchFamily="34" charset="-122"/>
              </a:rPr>
              <a:t>2026/5/27</a:t>
            </a:fld>
            <a:endParaRPr lang="zh-CN" altLang="en-US">
              <a:latin typeface="思源黑体 CN Normal" panose="020B0400000000000000" pitchFamily="34" charset="-122"/>
              <a:ea typeface="思源黑体 CN Normal" panose="020B0400000000000000"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黑体 CN Normal" panose="020B0400000000000000" pitchFamily="34" charset="-122"/>
              <a:ea typeface="思源黑体 CN Normal" panose="020B0400000000000000"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思源黑体 CN Normal" panose="020B0400000000000000" pitchFamily="34" charset="-122"/>
                <a:ea typeface="思源黑体 CN Normal" panose="020B0400000000000000" pitchFamily="34" charset="-122"/>
              </a:rPr>
              <a:t>‹#›</a:t>
            </a:fld>
            <a:endParaRPr lang="zh-CN" altLang="en-US">
              <a:latin typeface="思源黑体 CN Normal" panose="020B0400000000000000" pitchFamily="34" charset="-122"/>
              <a:ea typeface="思源黑体 CN Normal" panose="020B0400000000000000" pitchFamily="3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CN Bold" panose="020B0800000000000000" pitchFamily="34" charset="-122"/>
                <a:ea typeface="思源黑体 CN Bold" panose="020B0800000000000000"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CN Bold" panose="020B0800000000000000" pitchFamily="34" charset="-122"/>
                <a:ea typeface="思源黑体 CN Bold" panose="020B0800000000000000" pitchFamily="34" charset="-122"/>
              </a:defRPr>
            </a:lvl1pPr>
          </a:lstStyle>
          <a:p>
            <a:fld id="{C1017405-55BE-4362-88E1-BA68B5BD23CF}" type="datetimeFigureOut">
              <a:rPr lang="zh-CN" altLang="en-US" smtClean="0"/>
              <a:t>2026/5/27</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CN Bold" panose="020B0800000000000000" pitchFamily="34" charset="-122"/>
                <a:ea typeface="思源黑体 CN Bold" panose="020B0800000000000000"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CN Bold" panose="020B0800000000000000" pitchFamily="34" charset="-122"/>
                <a:ea typeface="思源黑体 CN Bold" panose="020B0800000000000000" pitchFamily="34" charset="-122"/>
              </a:defRPr>
            </a:lvl1pPr>
          </a:lstStyle>
          <a:p>
            <a:fld id="{23EB11D7-82F1-4B2E-8B4A-14F87C299330}"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CN Bold" panose="020B0800000000000000" pitchFamily="34" charset="-122"/>
        <a:ea typeface="思源黑体 CN Bold" panose="020B0800000000000000" pitchFamily="34" charset="-122"/>
        <a:cs typeface="+mn-cs"/>
      </a:defRPr>
    </a:lvl1pPr>
    <a:lvl2pPr marL="457200" algn="l" defTabSz="914400" rtl="0" eaLnBrk="1" latinLnBrk="0" hangingPunct="1">
      <a:defRPr sz="1200" kern="1200">
        <a:solidFill>
          <a:schemeClr val="tx1"/>
        </a:solidFill>
        <a:latin typeface="思源黑体 CN Bold" panose="020B0800000000000000" pitchFamily="34" charset="-122"/>
        <a:ea typeface="思源黑体 CN Bold" panose="020B0800000000000000" pitchFamily="34" charset="-122"/>
        <a:cs typeface="+mn-cs"/>
      </a:defRPr>
    </a:lvl2pPr>
    <a:lvl3pPr marL="914400" algn="l" defTabSz="914400" rtl="0" eaLnBrk="1" latinLnBrk="0" hangingPunct="1">
      <a:defRPr sz="1200" kern="1200">
        <a:solidFill>
          <a:schemeClr val="tx1"/>
        </a:solidFill>
        <a:latin typeface="思源黑体 CN Bold" panose="020B0800000000000000" pitchFamily="34" charset="-122"/>
        <a:ea typeface="思源黑体 CN Bold" panose="020B0800000000000000" pitchFamily="34" charset="-122"/>
        <a:cs typeface="+mn-cs"/>
      </a:defRPr>
    </a:lvl3pPr>
    <a:lvl4pPr marL="1371600" algn="l" defTabSz="914400" rtl="0" eaLnBrk="1" latinLnBrk="0" hangingPunct="1">
      <a:defRPr sz="1200" kern="1200">
        <a:solidFill>
          <a:schemeClr val="tx1"/>
        </a:solidFill>
        <a:latin typeface="思源黑体 CN Bold" panose="020B0800000000000000" pitchFamily="34" charset="-122"/>
        <a:ea typeface="思源黑体 CN Bold" panose="020B0800000000000000" pitchFamily="34" charset="-122"/>
        <a:cs typeface="+mn-cs"/>
      </a:defRPr>
    </a:lvl4pPr>
    <a:lvl5pPr marL="1828800" algn="l" defTabSz="914400" rtl="0" eaLnBrk="1" latinLnBrk="0" hangingPunct="1">
      <a:defRPr sz="1200" kern="1200">
        <a:solidFill>
          <a:schemeClr val="tx1"/>
        </a:solidFill>
        <a:latin typeface="思源黑体 CN Bold" panose="020B0800000000000000" pitchFamily="34" charset="-122"/>
        <a:ea typeface="思源黑体 CN Bold" panose="020B0800000000000000"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F068B45-F7FB-4CC9-8E1E-82E41AAF0202}" type="slidenum">
              <a:rPr kumimoji="0" lang="zh-CN" altLang="en-US" sz="1200" b="0" i="0" u="none" strike="noStrike" kern="1200" cap="none" spc="0" normalizeH="0" baseline="0" noProof="0" smtClean="0">
                <a:ln>
                  <a:noFill/>
                </a:ln>
                <a:solidFill>
                  <a:prstClr val="black"/>
                </a:solidFill>
                <a:effectLst/>
                <a:uLnTx/>
                <a:uFillTx/>
                <a:cs typeface="思源黑体 CN Bold" panose="020B0800000000000000" pitchFamily="34" charset="-122"/>
              </a:rPr>
              <a:t>4</a:t>
            </a:fld>
            <a:endParaRPr kumimoji="0" lang="zh-CN" altLang="en-US" sz="1200" b="0" i="0" u="none" strike="noStrike" kern="1200" cap="none" spc="0" normalizeH="0" baseline="0" noProof="0" dirty="0">
              <a:ln>
                <a:noFill/>
              </a:ln>
              <a:solidFill>
                <a:prstClr val="black"/>
              </a:solidFill>
              <a:effectLst/>
              <a:uLnTx/>
              <a:uFillTx/>
              <a:cs typeface="思源黑体 CN Bold" panose="020B0800000000000000" pitchFamily="34"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5C46CD0B-5AA6-464B-BDCA-8F067F6B2304}" type="slidenum">
              <a:rPr kumimoji="1" lang="zh-CN" altLang="en-US" sz="1200" b="0" i="0" u="none" strike="noStrike" kern="1200" cap="none" spc="0" normalizeH="0" baseline="0" noProof="0" smtClean="0">
                <a:ln>
                  <a:noFill/>
                </a:ln>
                <a:solidFill>
                  <a:prstClr val="black"/>
                </a:solidFill>
                <a:effectLst/>
                <a:uLnTx/>
                <a:uFillTx/>
                <a:latin typeface="思源黑体 CN Bold" panose="020B0800000000000000" pitchFamily="34" charset="-122"/>
                <a:ea typeface="思源黑体 CN Bold" panose="020B0800000000000000" pitchFamily="34" charset="-122"/>
                <a:cs typeface="思源黑体 CN Bold" panose="020B0800000000000000" pitchFamily="34" charset="-122"/>
              </a:rPr>
              <a:t>25</a:t>
            </a:fld>
            <a:endParaRPr kumimoji="1" lang="zh-CN" altLang="en-US" sz="12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思源黑体 CN Bold" panose="020B0800000000000000" pitchFamily="34"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5C46CD0B-5AA6-464B-BDCA-8F067F6B2304}" type="slidenum">
              <a:rPr kumimoji="1" lang="zh-CN" altLang="en-US" sz="1200" b="0" i="0" u="none" strike="noStrike" kern="1200" cap="none" spc="0" normalizeH="0" baseline="0" noProof="0" smtClean="0">
                <a:ln>
                  <a:noFill/>
                </a:ln>
                <a:solidFill>
                  <a:prstClr val="black"/>
                </a:solidFill>
                <a:effectLst/>
                <a:uLnTx/>
                <a:uFillTx/>
                <a:latin typeface="思源黑体 CN Bold" panose="020B0800000000000000" pitchFamily="34" charset="-122"/>
                <a:ea typeface="思源黑体 CN Bold" panose="020B0800000000000000" pitchFamily="34" charset="-122"/>
                <a:cs typeface="思源黑体 CN Bold" panose="020B0800000000000000" pitchFamily="34" charset="-122"/>
              </a:rPr>
              <a:t>34</a:t>
            </a:fld>
            <a:endParaRPr kumimoji="1" lang="zh-CN" altLang="en-US" sz="12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思源黑体 CN Bold" panose="020B0800000000000000" pitchFamily="34"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tags" Target="../tags/tag5.xml"/><Relationship Id="rId5" Type="http://schemas.openxmlformats.org/officeDocument/2006/relationships/tags" Target="../tags/tag6.xml"/><Relationship Id="rId6"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dirty="0"/>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 name="文本框 7"/>
          <p:cNvSpPr txBox="1"/>
          <p:nvPr userDrawn="1"/>
        </p:nvSpPr>
        <p:spPr>
          <a:xfrm>
            <a:off x="9328607" y="395400"/>
            <a:ext cx="1138132" cy="215444"/>
          </a:xfrm>
          <a:prstGeom prst="rect">
            <a:avLst/>
          </a:prstGeom>
          <a:noFill/>
        </p:spPr>
        <p:txBody>
          <a:bodyPr wrap="none" lIns="0" tIns="0" rIns="0" bIns="0" rtlCol="0">
            <a:spAutoFit/>
          </a:bodyPr>
          <a:lstStyle/>
          <a:p>
            <a:r>
              <a:rPr lang="zh-CN" altLang="en-US" sz="1400" dirty="0">
                <a:latin typeface="+mn-ea"/>
                <a:ea typeface="+mn-ea"/>
              </a:rPr>
              <a:t>职场通用</a:t>
            </a:r>
            <a:r>
              <a:rPr lang="en-US" altLang="zh-CN" sz="1400" dirty="0">
                <a:latin typeface="+mn-ea"/>
                <a:ea typeface="+mn-ea"/>
              </a:rPr>
              <a:t>PPT ·</a:t>
            </a:r>
            <a:endParaRPr lang="zh-CN" altLang="en-US" sz="1400" dirty="0">
              <a:latin typeface="+mn-ea"/>
              <a:ea typeface="+mn-ea"/>
            </a:endParaRPr>
          </a:p>
        </p:txBody>
      </p:sp>
      <p:sp>
        <p:nvSpPr>
          <p:cNvPr id="10" name="文本框 9"/>
          <p:cNvSpPr txBox="1"/>
          <p:nvPr userDrawn="1"/>
        </p:nvSpPr>
        <p:spPr>
          <a:xfrm>
            <a:off x="10523707" y="395400"/>
            <a:ext cx="634789" cy="215444"/>
          </a:xfrm>
          <a:prstGeom prst="rect">
            <a:avLst/>
          </a:prstGeom>
          <a:noFill/>
        </p:spPr>
        <p:txBody>
          <a:bodyPr wrap="none" lIns="0" tIns="0" rIns="0" bIns="0" rtlCol="0">
            <a:spAutoFit/>
          </a:bodyPr>
          <a:lstStyle/>
          <a:p>
            <a:r>
              <a:rPr lang="zh-CN" altLang="en-US" sz="1400" dirty="0">
                <a:latin typeface="+mn-ea"/>
                <a:ea typeface="+mn-ea"/>
              </a:rPr>
              <a:t>可编辑 </a:t>
            </a:r>
            <a:r>
              <a:rPr lang="en-US" altLang="zh-CN" sz="1400" dirty="0">
                <a:latin typeface="+mn-ea"/>
                <a:ea typeface="+mn-ea"/>
              </a:rPr>
              <a:t>·</a:t>
            </a:r>
            <a:endParaRPr lang="zh-CN" altLang="en-US" sz="1400" dirty="0">
              <a:latin typeface="+mn-ea"/>
              <a:ea typeface="+mn-ea"/>
            </a:endParaRPr>
          </a:p>
        </p:txBody>
      </p:sp>
      <p:cxnSp>
        <p:nvCxnSpPr>
          <p:cNvPr id="14" name="直接连接符 13"/>
          <p:cNvCxnSpPr/>
          <p:nvPr userDrawn="1"/>
        </p:nvCxnSpPr>
        <p:spPr>
          <a:xfrm>
            <a:off x="442913" y="657225"/>
            <a:ext cx="11304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442914" y="204396"/>
            <a:ext cx="665124" cy="40644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userDrawn="1"/>
        </p:nvSpPr>
        <p:spPr>
          <a:xfrm>
            <a:off x="11215465" y="395400"/>
            <a:ext cx="538609" cy="215444"/>
          </a:xfrm>
          <a:prstGeom prst="rect">
            <a:avLst/>
          </a:prstGeom>
          <a:noFill/>
        </p:spPr>
        <p:txBody>
          <a:bodyPr wrap="none" lIns="0" tIns="0" rIns="0" bIns="0" rtlCol="0">
            <a:spAutoFit/>
          </a:bodyPr>
          <a:lstStyle/>
          <a:p>
            <a:r>
              <a:rPr lang="zh-CN" altLang="en-US" sz="1400" dirty="0">
                <a:latin typeface="+mn-ea"/>
                <a:ea typeface="+mn-ea"/>
              </a:rPr>
              <a:t>可修改</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dirty="0"/>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CF59F418-32D6-B744-B7F0-0E8DD8BFBA34}" type="datetimeFigureOut">
              <a:rPr kumimoji="1" lang="zh-CN" altLang="en-US" smtClean="0"/>
              <a:t>2026/5/27</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3210E113-E2CF-774A-87F0-4B048B944B22}" type="slidenum">
              <a:rPr kumimoji="1" lang="zh-CN" altLang="en-US" smtClean="0"/>
              <a:t>‹#›</a:t>
            </a:fld>
            <a:endParaRPr kumimoji="1"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F59F418-32D6-B744-B7F0-0E8DD8BFBA34}" type="datetimeFigureOut">
              <a:rPr kumimoji="1" lang="zh-CN" altLang="en-US" smtClean="0"/>
              <a:t>2026/5/27</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3210E113-E2CF-774A-87F0-4B048B944B22}" type="slidenum">
              <a:rPr kumimoji="1" lang="zh-CN" altLang="en-US" smtClean="0"/>
              <a:t>‹#›</a:t>
            </a:fld>
            <a:endParaRPr kumimoji="1"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CF59F418-32D6-B744-B7F0-0E8DD8BFBA34}" type="datetimeFigureOut">
              <a:rPr kumimoji="1" lang="zh-CN" altLang="en-US" smtClean="0"/>
              <a:t>2026/5/27</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3210E113-E2CF-774A-87F0-4B048B944B22}" type="slidenum">
              <a:rPr kumimoji="1" lang="zh-CN" altLang="en-US" smtClean="0"/>
              <a:t>‹#›</a:t>
            </a:fld>
            <a:endParaRPr kumimoji="1"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CF59F418-32D6-B744-B7F0-0E8DD8BFBA34}" type="datetimeFigureOut">
              <a:rPr kumimoji="1" lang="zh-CN" altLang="en-US" smtClean="0"/>
              <a:t>2026/5/27</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3210E113-E2CF-774A-87F0-4B048B944B22}" type="slidenum">
              <a:rPr kumimoji="1" lang="zh-CN" altLang="en-US" smtClean="0"/>
              <a:t>‹#›</a:t>
            </a:fld>
            <a:endParaRPr kumimoji="1"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CF59F418-32D6-B744-B7F0-0E8DD8BFBA34}" type="datetimeFigureOut">
              <a:rPr kumimoji="1" lang="zh-CN" altLang="en-US" smtClean="0"/>
              <a:t>2026/5/27</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3210E113-E2CF-774A-87F0-4B048B944B22}" type="slidenum">
              <a:rPr kumimoji="1" lang="zh-CN" altLang="en-US" smtClean="0"/>
              <a:t>‹#›</a:t>
            </a:fld>
            <a:endParaRPr kumimoji="1"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F59F418-32D6-B744-B7F0-0E8DD8BFBA34}" type="datetimeFigureOut">
              <a:rPr kumimoji="1" lang="zh-CN" altLang="en-US" smtClean="0"/>
              <a:t>2026/5/27</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3210E113-E2CF-774A-87F0-4B048B944B22}" type="slidenum">
              <a:rPr kumimoji="1" lang="zh-CN" altLang="en-US" smtClean="0"/>
              <a:t>‹#›</a:t>
            </a:fld>
            <a:endParaRPr kumimoji="1"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59F418-32D6-B744-B7F0-0E8DD8BFBA34}" type="datetimeFigureOut">
              <a:rPr kumimoji="1" lang="zh-CN" altLang="en-US" smtClean="0"/>
              <a:t>2026/5/27</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3210E113-E2CF-774A-87F0-4B048B944B22}" type="slidenum">
              <a:rPr kumimoji="1" lang="zh-CN" altLang="en-US" smtClean="0"/>
              <a:t>‹#›</a:t>
            </a:fld>
            <a:endParaRPr kumimoji="1"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dirty="0"/>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Date Placeholder 4"/>
          <p:cNvSpPr>
            <a:spLocks noGrp="1"/>
          </p:cNvSpPr>
          <p:nvPr>
            <p:ph type="dt" sz="half" idx="10"/>
          </p:nvPr>
        </p:nvSpPr>
        <p:spPr/>
        <p:txBody>
          <a:bodyPr/>
          <a:lstStyle/>
          <a:p>
            <a:fld id="{CF59F418-32D6-B744-B7F0-0E8DD8BFBA34}" type="datetimeFigureOut">
              <a:rPr kumimoji="1" lang="zh-CN" altLang="en-US" smtClean="0"/>
              <a:t>2026/5/27</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3210E113-E2CF-774A-87F0-4B048B944B22}" type="slidenum">
              <a:rPr kumimoji="1" lang="zh-CN" altLang="en-US" smtClean="0"/>
              <a:t>‹#›</a:t>
            </a:fld>
            <a:endParaRPr kumimoji="1"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F59F418-32D6-B744-B7F0-0E8DD8BFBA34}" type="datetimeFigureOut">
              <a:rPr kumimoji="1" lang="zh-CN" altLang="en-US" smtClean="0"/>
              <a:t>2026/5/27</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3210E113-E2CF-774A-87F0-4B048B944B22}" type="slidenum">
              <a:rPr kumimoji="1" lang="zh-CN" altLang="en-US" smtClean="0"/>
              <a:t>‹#›</a:t>
            </a:fld>
            <a:endParaRPr kumimoji="1"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F59F418-32D6-B744-B7F0-0E8DD8BFBA34}" type="datetimeFigureOut">
              <a:rPr kumimoji="1" lang="zh-CN" altLang="en-US" smtClean="0"/>
              <a:t>2026/5/27</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3210E113-E2CF-774A-87F0-4B048B944B22}" type="slidenum">
              <a:rPr kumimoji="1" lang="zh-CN" altLang="en-US" smtClean="0"/>
              <a:t>‹#›</a:t>
            </a:fld>
            <a:endParaRPr kumimoji="1"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dirty="0"/>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10"/>
          </p:nvPr>
        </p:nvSpPr>
        <p:spPr/>
        <p:txBody>
          <a:bodyPr/>
          <a:lstStyle/>
          <a:p>
            <a:fld id="{CF59F418-32D6-B744-B7F0-0E8DD8BFBA34}" type="datetimeFigureOut">
              <a:rPr kumimoji="1" lang="zh-CN" altLang="en-US" smtClean="0"/>
              <a:t>2026/5/27</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3210E113-E2CF-774A-87F0-4B048B944B22}" type="slidenum">
              <a:rPr kumimoji="1" lang="zh-CN" altLang="en-US" smtClean="0"/>
              <a:t>‹#›</a:t>
            </a:fld>
            <a:endParaRPr kumimoji="1"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竖排标题与文本">
    <p:spTree>
      <p:nvGrpSpPr>
        <p:cNvPr id="1" name=""/>
        <p:cNvGrpSpPr/>
        <p:nvPr/>
      </p:nvGrpSpPr>
      <p:grpSpPr>
        <a:xfrm>
          <a:off x="0" y="0"/>
          <a:ext cx="0" cy="0"/>
          <a:chOff x="0" y="0"/>
          <a:chExt cx="0" cy="0"/>
        </a:xfrm>
      </p:grpSpPr>
      <p:sp>
        <p:nvSpPr>
          <p:cNvPr id="2" name="小李PPT5"/>
          <p:cNvSpPr/>
          <p:nvPr userDrawn="1">
            <p:custDataLst>
              <p:tags r:id="rId1"/>
            </p:custDataLst>
          </p:nvPr>
        </p:nvSpPr>
        <p:spPr>
          <a:xfrm>
            <a:off x="434974" y="862700"/>
            <a:ext cx="11340000" cy="61705"/>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latin typeface="思源黑体 CN Bold" panose="020B0800000000000000" pitchFamily="34" charset="-122"/>
              <a:ea typeface="思源黑体 CN Bold" panose="020B0800000000000000" pitchFamily="34" charset="-122"/>
              <a:cs typeface="思源黑体 CN Normal" panose="020B0400000000000000" pitchFamily="34" charset="-122"/>
              <a:sym typeface="思源黑体 CN Normal" panose="020B0400000000000000" pitchFamily="34" charset="-122"/>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目录页">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思源黑体 CN Bold" panose="020B0800000000000000" pitchFamily="34" charset="-122"/>
                <a:ea typeface="思源黑体 CN Bold" panose="020B0800000000000000" pitchFamily="34" charset="-122"/>
              </a:defRPr>
            </a:lvl1pPr>
          </a:lstStyle>
          <a:p>
            <a:fld id="{23888F2F-F518-6245-AE99-FC24448EDFDB}" type="datetimeFigureOut">
              <a:rPr kumimoji="1" lang="zh-CN" altLang="en-US" smtClean="0"/>
              <a:t>2026/5/27</a:t>
            </a:fld>
            <a:endParaRPr kumimoji="1" lang="zh-CN" altLang="en-US" dirty="0"/>
          </a:p>
        </p:txBody>
      </p:sp>
      <p:sp>
        <p:nvSpPr>
          <p:cNvPr id="3" name="Footer Placeholder 2"/>
          <p:cNvSpPr>
            <a:spLocks noGrp="1"/>
          </p:cNvSpPr>
          <p:nvPr>
            <p:ph type="ftr" sz="quarter" idx="11"/>
          </p:nvPr>
        </p:nvSpPr>
        <p:spPr/>
        <p:txBody>
          <a:bodyPr/>
          <a:lstStyle>
            <a:lvl1pPr>
              <a:defRPr>
                <a:latin typeface="思源黑体 CN Bold" panose="020B0800000000000000" pitchFamily="34" charset="-122"/>
                <a:ea typeface="思源黑体 CN Bold" panose="020B0800000000000000" pitchFamily="34" charset="-122"/>
              </a:defRPr>
            </a:lvl1pPr>
          </a:lstStyle>
          <a:p>
            <a:endParaRPr kumimoji="1" lang="zh-CN" altLang="en-US" dirty="0"/>
          </a:p>
        </p:txBody>
      </p:sp>
      <p:sp>
        <p:nvSpPr>
          <p:cNvPr id="4" name="Slide Number Placeholder 3"/>
          <p:cNvSpPr>
            <a:spLocks noGrp="1"/>
          </p:cNvSpPr>
          <p:nvPr>
            <p:ph type="sldNum" sz="quarter" idx="12"/>
          </p:nvPr>
        </p:nvSpPr>
        <p:spPr/>
        <p:txBody>
          <a:bodyPr/>
          <a:lstStyle>
            <a:lvl1pPr>
              <a:defRPr>
                <a:latin typeface="思源黑体 CN Bold" panose="020B0800000000000000" pitchFamily="34" charset="-122"/>
                <a:ea typeface="思源黑体 CN Bold" panose="020B0800000000000000" pitchFamily="34" charset="-122"/>
              </a:defRPr>
            </a:lvl1pPr>
          </a:lstStyle>
          <a:p>
            <a:fld id="{8F216E3A-9B37-D941-B935-22FFC28C44CB}" type="slidenum">
              <a:rPr kumimoji="1" lang="zh-CN" altLang="en-US" smtClean="0"/>
              <a:t>‹#›</a:t>
            </a:fld>
            <a:endParaRPr kumimoji="1" lang="zh-CN" altLang="en-US"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obj">
  <p:cSld name="2_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a:prstGeom prst="rect">
            <a:avLst/>
          </a:prstGeom>
        </p:spPr>
        <p:txBody>
          <a:bodyPr vert="horz" lIns="90000" tIns="46800" rIns="90000" bIns="46800" rtlCol="0" anchor="ctr" anchorCtr="0">
            <a:normAutofit/>
          </a:bodyPr>
          <a:lstStyle>
            <a:lvl1pPr>
              <a:defRPr>
                <a:latin typeface="思源黑体 CN Bold" panose="020B0800000000000000" pitchFamily="34" charset="-122"/>
                <a:ea typeface="思源黑体 CN Bold" panose="020B0800000000000000" pitchFamily="34" charset="-122"/>
              </a:defRPr>
            </a:lvl1pPr>
          </a:lstStyle>
          <a:p>
            <a:pPr lvl="0"/>
            <a:r>
              <a:rPr lang="zh-CN" altLang="en-US" dirty="0"/>
              <a:t>单击此处编辑母版标题样式</a:t>
            </a:r>
          </a:p>
        </p:txBody>
      </p:sp>
      <p:sp>
        <p:nvSpPr>
          <p:cNvPr id="3" name="内容占位符 2"/>
          <p:cNvSpPr>
            <a:spLocks noGrp="1"/>
          </p:cNvSpPr>
          <p:nvPr>
            <p:ph idx="1"/>
            <p:custDataLst>
              <p:tags r:id="rId2"/>
            </p:custDataLst>
          </p:nvPr>
        </p:nvSpPr>
        <p:spPr>
          <a:xfrm>
            <a:off x="608400" y="1490400"/>
            <a:ext cx="10969200" cy="4759200"/>
          </a:xfrm>
          <a:prstGeom prst="rect">
            <a:avLst/>
          </a:prstGeom>
        </p:spPr>
        <p:txBody>
          <a:bodyPr vert="horz" lIns="90000" tIns="46800" rIns="90000" bIns="46800" rtlCol="0">
            <a:normAutofit/>
          </a:bodyPr>
          <a:lstStyle>
            <a:lvl1pPr>
              <a:defRPr>
                <a:latin typeface="思源黑体 CN Bold" panose="020B0800000000000000" pitchFamily="34" charset="-122"/>
                <a:ea typeface="思源黑体 CN Bold" panose="020B0800000000000000" pitchFamily="34" charset="-122"/>
              </a:defRPr>
            </a:lvl1pPr>
            <a:lvl2pPr>
              <a:defRPr>
                <a:latin typeface="思源黑体 CN Bold" panose="020B0800000000000000" pitchFamily="34" charset="-122"/>
                <a:ea typeface="思源黑体 CN Bold" panose="020B0800000000000000" pitchFamily="34" charset="-122"/>
              </a:defRPr>
            </a:lvl2pPr>
            <a:lvl3pPr>
              <a:defRPr>
                <a:latin typeface="思源黑体 CN Bold" panose="020B0800000000000000" pitchFamily="34" charset="-122"/>
                <a:ea typeface="思源黑体 CN Bold" panose="020B0800000000000000" pitchFamily="34" charset="-122"/>
              </a:defRPr>
            </a:lvl3pPr>
            <a:lvl4pPr>
              <a:defRPr>
                <a:latin typeface="思源黑体 CN Bold" panose="020B0800000000000000" pitchFamily="34" charset="-122"/>
                <a:ea typeface="思源黑体 CN Bold" panose="020B0800000000000000" pitchFamily="34" charset="-122"/>
              </a:defRPr>
            </a:lvl4pPr>
            <a:lvl5pPr>
              <a:defRPr>
                <a:latin typeface="思源黑体 CN Bold" panose="020B0800000000000000" pitchFamily="34" charset="-122"/>
                <a:ea typeface="思源黑体 CN Bold" panose="020B0800000000000000"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a:xfrm>
            <a:off x="612000" y="6314400"/>
            <a:ext cx="2700000" cy="316800"/>
          </a:xfrm>
          <a:prstGeom prst="rect">
            <a:avLst/>
          </a:prstGeom>
        </p:spPr>
        <p:txBody>
          <a:bodyPr/>
          <a:lstStyle>
            <a:lvl1pPr>
              <a:defRPr>
                <a:latin typeface="思源黑体 CN Bold" panose="020B0800000000000000" pitchFamily="34" charset="-122"/>
                <a:ea typeface="思源黑体 CN Bold" panose="020B0800000000000000" pitchFamily="34" charset="-122"/>
              </a:defRPr>
            </a:lvl1pPr>
          </a:lstStyle>
          <a:p>
            <a:fld id="{760FBDFE-C587-4B4C-A407-44438C67B59E}" type="datetimeFigureOut">
              <a:rPr lang="zh-CN" altLang="en-US" smtClean="0"/>
              <a:t>2026/5/27</a:t>
            </a:fld>
            <a:endParaRPr lang="zh-CN" altLang="en-US" dirty="0"/>
          </a:p>
        </p:txBody>
      </p:sp>
      <p:sp>
        <p:nvSpPr>
          <p:cNvPr id="5" name="页脚占位符 4"/>
          <p:cNvSpPr>
            <a:spLocks noGrp="1"/>
          </p:cNvSpPr>
          <p:nvPr>
            <p:ph type="ftr" sz="quarter" idx="11"/>
            <p:custDataLst>
              <p:tags r:id="rId4"/>
            </p:custDataLst>
          </p:nvPr>
        </p:nvSpPr>
        <p:spPr>
          <a:xfrm>
            <a:off x="4116000" y="6314400"/>
            <a:ext cx="3960000" cy="316800"/>
          </a:xfrm>
          <a:prstGeom prst="rect">
            <a:avLst/>
          </a:prstGeom>
        </p:spPr>
        <p:txBody>
          <a:bodyPr/>
          <a:lstStyle>
            <a:lvl1pPr>
              <a:defRPr>
                <a:latin typeface="思源黑体 CN Bold" panose="020B0800000000000000" pitchFamily="34" charset="-122"/>
                <a:ea typeface="思源黑体 CN Bold" panose="020B0800000000000000" pitchFamily="34" charset="-122"/>
              </a:defRPr>
            </a:lvl1pPr>
          </a:lstStyle>
          <a:p>
            <a:endParaRPr lang="zh-CN" altLang="en-US" dirty="0"/>
          </a:p>
        </p:txBody>
      </p:sp>
      <p:sp>
        <p:nvSpPr>
          <p:cNvPr id="6" name="灯片编号占位符 5"/>
          <p:cNvSpPr>
            <a:spLocks noGrp="1"/>
          </p:cNvSpPr>
          <p:nvPr>
            <p:ph type="sldNum" sz="quarter" idx="12"/>
            <p:custDataLst>
              <p:tags r:id="rId5"/>
            </p:custDataLst>
          </p:nvPr>
        </p:nvSpPr>
        <p:spPr/>
        <p:txBody>
          <a:bodyPr/>
          <a:lstStyle>
            <a:lvl1pPr>
              <a:defRPr>
                <a:latin typeface="思源黑体 CN Bold" panose="020B0800000000000000" pitchFamily="34" charset="-122"/>
                <a:ea typeface="思源黑体 CN Bold" panose="020B0800000000000000"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708BF2-F0E7-4509-84A4-913F97B3591C}" type="datetimeFigureOut">
              <a:rPr lang="zh-CN" altLang="en-US" smtClean="0"/>
              <a:t>2026/5/27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0DDAD0-62D5-415E-8F4D-BC5C1043F9D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思源黑体 CN Bold" panose="020B0800000000000000" pitchFamily="34" charset="-122"/>
              </a:defRPr>
            </a:lvl1pPr>
          </a:lstStyle>
          <a:p>
            <a:fld id="{C764DE79-268F-4C1A-8933-263129D2AF90}" type="datetimeFigureOut">
              <a:rPr lang="en-US" smtClean="0"/>
              <a:t>5/27/26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思源黑体 CN Bold" panose="020B0800000000000000" pitchFamily="34" charset="-122"/>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思源黑体 CN Bold" panose="020B0800000000000000" pitchFamily="34" charset="-122"/>
              </a:defRPr>
            </a:lvl1pPr>
          </a:lstStyle>
          <a:p>
            <a:fld id="{48F63A3B-78C7-47BE-AE5E-E10140E04643}" type="slidenum">
              <a:rPr lang="en-US" smtClean="0"/>
              <a:t>‹#›</a:t>
            </a:fld>
            <a:endParaRPr lang="en-US" dirty="0"/>
          </a:p>
        </p:txBody>
      </p:sp>
      <p:cxnSp>
        <p:nvCxnSpPr>
          <p:cNvPr id="12" name="直线连接符 11"/>
          <p:cNvCxnSpPr/>
          <p:nvPr userDrawn="1"/>
        </p:nvCxnSpPr>
        <p:spPr>
          <a:xfrm>
            <a:off x="525534" y="6589876"/>
            <a:ext cx="11388632"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思源黑体 CN Bold" panose="020B0800000000000000" pitchFamily="34" charset="-122"/>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Bold" panose="020B0800000000000000" pitchFamily="34" charset="-12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Bold" panose="020B0800000000000000" pitchFamily="34" charset="-122"/>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Bold" panose="020B0800000000000000" pitchFamily="34" charset="-122"/>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Layout" Target="../slideLayouts/slideLayout24.xml"/><Relationship Id="rId3"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tags" Target="../tags/tag35.xml"/><Relationship Id="rId2"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tags" Target="../tags/tag36.xml"/><Relationship Id="rId2"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tags" Target="../tags/tag37.xml"/><Relationship Id="rId2"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tags" Target="../tags/tag38.xml"/><Relationship Id="rId2" Type="http://schemas.openxmlformats.org/officeDocument/2006/relationships/tags" Target="../tags/tag39.xml"/><Relationship Id="rId3"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1" Type="http://schemas.openxmlformats.org/officeDocument/2006/relationships/tags" Target="../tags/tag40.xml"/><Relationship Id="rId2" Type="http://schemas.openxmlformats.org/officeDocument/2006/relationships/tags" Target="../tags/tag41.xml"/><Relationship Id="rId3"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1" Type="http://schemas.openxmlformats.org/officeDocument/2006/relationships/tags" Target="../tags/tag42.xml"/><Relationship Id="rId2" Type="http://schemas.openxmlformats.org/officeDocument/2006/relationships/tags" Target="../tags/tag43.xml"/><Relationship Id="rId3"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1" Type="http://schemas.openxmlformats.org/officeDocument/2006/relationships/tags" Target="../tags/tag44.xml"/><Relationship Id="rId2" Type="http://schemas.openxmlformats.org/officeDocument/2006/relationships/tags" Target="../tags/tag45.xml"/><Relationship Id="rId3"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1" Type="http://schemas.openxmlformats.org/officeDocument/2006/relationships/tags" Target="../tags/tag46.xml"/><Relationship Id="rId2" Type="http://schemas.openxmlformats.org/officeDocument/2006/relationships/tags" Target="../tags/tag47.xml"/><Relationship Id="rId3" Type="http://schemas.openxmlformats.org/officeDocument/2006/relationships/tags" Target="../tags/tag48.xml"/><Relationship Id="rId4"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1" Type="http://schemas.openxmlformats.org/officeDocument/2006/relationships/tags" Target="../tags/tag49.xml"/><Relationship Id="rId2" Type="http://schemas.openxmlformats.org/officeDocument/2006/relationships/tags" Target="../tags/tag50.xml"/><Relationship Id="rId3"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1" Type="http://schemas.openxmlformats.org/officeDocument/2006/relationships/tags" Target="../tags/tag51.xml"/><Relationship Id="rId2" Type="http://schemas.openxmlformats.org/officeDocument/2006/relationships/tags" Target="../tags/tag52.xml"/><Relationship Id="rId3"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1" Type="http://schemas.openxmlformats.org/officeDocument/2006/relationships/tags" Target="../tags/tag53.xml"/><Relationship Id="rId2" Type="http://schemas.openxmlformats.org/officeDocument/2006/relationships/tags" Target="../tags/tag54.xml"/><Relationship Id="rId3"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1" Type="http://schemas.openxmlformats.org/officeDocument/2006/relationships/tags" Target="../tags/tag55.xml"/><Relationship Id="rId2" Type="http://schemas.openxmlformats.org/officeDocument/2006/relationships/tags" Target="../tags/tag56.xml"/><Relationship Id="rId3"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1" Type="http://schemas.openxmlformats.org/officeDocument/2006/relationships/tags" Target="../tags/tag57.xml"/><Relationship Id="rId2" Type="http://schemas.openxmlformats.org/officeDocument/2006/relationships/tags" Target="../tags/tag58.xml"/><Relationship Id="rId3"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1" Type="http://schemas.openxmlformats.org/officeDocument/2006/relationships/tags" Target="../tags/tag59.xml"/><Relationship Id="rId2" Type="http://schemas.openxmlformats.org/officeDocument/2006/relationships/tags" Target="../tags/tag60.xml"/><Relationship Id="rId3" Type="http://schemas.openxmlformats.org/officeDocument/2006/relationships/slideLayout" Target="../slideLayouts/slideLayout35.xml"/><Relationship Id="rId4" Type="http://schemas.openxmlformats.org/officeDocument/2006/relationships/image" Target="../media/image21.png"/><Relationship Id="rId5" Type="http://schemas.openxmlformats.org/officeDocument/2006/relationships/image" Target="../media/image22.svg"/></Relationships>
</file>

<file path=ppt/slides/_rels/slide25.xml.rels><?xml version='1.0' encoding='UTF-8' standalone='yes'?>
<Relationships xmlns="http://schemas.openxmlformats.org/package/2006/relationships"><Relationship Id="rId1" Type="http://schemas.openxmlformats.org/officeDocument/2006/relationships/tags" Target="../tags/tag61.xml"/><Relationship Id="rId2" Type="http://schemas.openxmlformats.org/officeDocument/2006/relationships/tags" Target="../tags/tag62.xml"/><Relationship Id="rId3" Type="http://schemas.openxmlformats.org/officeDocument/2006/relationships/slideLayout" Target="../slideLayouts/slideLayout35.xml"/><Relationship Id="rId4" Type="http://schemas.openxmlformats.org/officeDocument/2006/relationships/notesSlide" Target="../notesSlides/notesSlide2.xml"/></Relationships>
</file>

<file path=ppt/slides/_rels/slide26.xml.rels><?xml version='1.0' encoding='UTF-8' standalone='yes'?>
<Relationships xmlns="http://schemas.openxmlformats.org/package/2006/relationships"><Relationship Id="rId1" Type="http://schemas.openxmlformats.org/officeDocument/2006/relationships/tags" Target="../tags/tag63.xml"/><Relationship Id="rId2" Type="http://schemas.openxmlformats.org/officeDocument/2006/relationships/tags" Target="../tags/tag64.xml"/><Relationship Id="rId3"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1" Type="http://schemas.openxmlformats.org/officeDocument/2006/relationships/tags" Target="../tags/tag65.xml"/><Relationship Id="rId2" Type="http://schemas.openxmlformats.org/officeDocument/2006/relationships/tags" Target="../tags/tag66.xml"/><Relationship Id="rId3" Type="http://schemas.openxmlformats.org/officeDocument/2006/relationships/slideLayout" Target="../slideLayouts/slideLayout35.xml"/><Relationship Id="rId4" Type="http://schemas.openxmlformats.org/officeDocument/2006/relationships/chart" Target="../charts/chart2.xml"/><Relationship Id="rId5" Type="http://schemas.openxmlformats.org/officeDocument/2006/relationships/chart" Target="../charts/chart3.xml"/></Relationships>
</file>

<file path=ppt/slides/_rels/slide28.xml.rels><?xml version='1.0' encoding='UTF-8' standalone='yes'?>
<Relationships xmlns="http://schemas.openxmlformats.org/package/2006/relationships"><Relationship Id="rId1" Type="http://schemas.openxmlformats.org/officeDocument/2006/relationships/tags" Target="../tags/tag67.xml"/><Relationship Id="rId2" Type="http://schemas.openxmlformats.org/officeDocument/2006/relationships/tags" Target="../tags/tag68.xml"/><Relationship Id="rId3"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1" Type="http://schemas.openxmlformats.org/officeDocument/2006/relationships/tags" Target="../tags/tag69.xml"/><Relationship Id="rId2" Type="http://schemas.openxmlformats.org/officeDocument/2006/relationships/tags" Target="../tags/tag70.xml"/><Relationship Id="rId3"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1" Type="http://schemas.openxmlformats.org/officeDocument/2006/relationships/tags" Target="../tags/tag71.xml"/><Relationship Id="rId2" Type="http://schemas.openxmlformats.org/officeDocument/2006/relationships/tags" Target="../tags/tag72.xml"/><Relationship Id="rId3"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1" Type="http://schemas.openxmlformats.org/officeDocument/2006/relationships/tags" Target="../tags/tag73.xml"/><Relationship Id="rId2" Type="http://schemas.openxmlformats.org/officeDocument/2006/relationships/tags" Target="../tags/tag74.xml"/><Relationship Id="rId3"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1" Type="http://schemas.openxmlformats.org/officeDocument/2006/relationships/tags" Target="../tags/tag75.xml"/><Relationship Id="rId2" Type="http://schemas.openxmlformats.org/officeDocument/2006/relationships/tags" Target="../tags/tag76.xml"/><Relationship Id="rId3"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1" Type="http://schemas.openxmlformats.org/officeDocument/2006/relationships/tags" Target="../tags/tag77.xml"/><Relationship Id="rId2" Type="http://schemas.openxmlformats.org/officeDocument/2006/relationships/tags" Target="../tags/tag78.xml"/><Relationship Id="rId3" Type="http://schemas.openxmlformats.org/officeDocument/2006/relationships/slideLayout" Target="../slideLayouts/slideLayout35.xml"/><Relationship Id="rId4" Type="http://schemas.openxmlformats.org/officeDocument/2006/relationships/chart" Target="../charts/chart4.xml"/><Relationship Id="rId5" Type="http://schemas.openxmlformats.org/officeDocument/2006/relationships/chart" Target="../charts/chart5.xml"/><Relationship Id="rId6"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tags" Target="../tags/tag79.xml"/><Relationship Id="rId2" Type="http://schemas.openxmlformats.org/officeDocument/2006/relationships/tags" Target="../tags/tag80.xml"/><Relationship Id="rId3" Type="http://schemas.openxmlformats.org/officeDocument/2006/relationships/slideLayout" Target="../slideLayouts/slideLayout35.xml"/><Relationship Id="rId4" Type="http://schemas.openxmlformats.org/officeDocument/2006/relationships/notesSlide" Target="../notesSlides/notesSlide3.xml"/></Relationships>
</file>

<file path=ppt/slides/_rels/slide35.xml.rels><?xml version='1.0' encoding='UTF-8' standalone='yes'?>
<Relationships xmlns="http://schemas.openxmlformats.org/package/2006/relationships"><Relationship Id="rId1" Type="http://schemas.openxmlformats.org/officeDocument/2006/relationships/tags" Target="../tags/tag81.xml"/><Relationship Id="rId2" Type="http://schemas.openxmlformats.org/officeDocument/2006/relationships/tags" Target="../tags/tag82.xml"/><Relationship Id="rId3" Type="http://schemas.openxmlformats.org/officeDocument/2006/relationships/slideLayout" Target="../slideLayouts/slideLayout35.xml"/><Relationship Id="rId4" Type="http://schemas.openxmlformats.org/officeDocument/2006/relationships/chart" Target="../charts/chart6.xml"/><Relationship Id="rId5" Type="http://schemas.openxmlformats.org/officeDocument/2006/relationships/chart" Target="../charts/chart7.xml"/></Relationships>
</file>

<file path=ppt/slides/_rels/slide36.xml.rels><?xml version='1.0' encoding='UTF-8' standalone='yes'?>
<Relationships xmlns="http://schemas.openxmlformats.org/package/2006/relationships"><Relationship Id="rId1" Type="http://schemas.openxmlformats.org/officeDocument/2006/relationships/tags" Target="../tags/tag83.xml"/><Relationship Id="rId2" Type="http://schemas.openxmlformats.org/officeDocument/2006/relationships/tags" Target="../tags/tag84.xml"/><Relationship Id="rId3"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1" Type="http://schemas.openxmlformats.org/officeDocument/2006/relationships/tags" Target="../tags/tag85.xml"/><Relationship Id="rId2" Type="http://schemas.openxmlformats.org/officeDocument/2006/relationships/tags" Target="../tags/tag86.xml"/><Relationship Id="rId3" Type="http://schemas.openxmlformats.org/officeDocument/2006/relationships/slideLayout" Target="../slideLayouts/slideLayout35.xml"/></Relationships>
</file>

<file path=ppt/slides/_rels/slide38.xml.rels><?xml version='1.0' encoding='UTF-8' standalone='yes'?>
<Relationships xmlns="http://schemas.openxmlformats.org/package/2006/relationships"><Relationship Id="rId1" Type="http://schemas.openxmlformats.org/officeDocument/2006/relationships/tags" Target="../tags/tag87.xml"/><Relationship Id="rId2" Type="http://schemas.openxmlformats.org/officeDocument/2006/relationships/tags" Target="../tags/tag88.xml"/><Relationship Id="rId3" Type="http://schemas.openxmlformats.org/officeDocument/2006/relationships/slideLayout" Target="../slideLayouts/slideLayout35.xml"/><Relationship Id="rId4" Type="http://schemas.openxmlformats.org/officeDocument/2006/relationships/chart" Target="../charts/chart8.xml"/><Relationship Id="rId5" Type="http://schemas.openxmlformats.org/officeDocument/2006/relationships/chart" Target="../charts/chart9.xml"/></Relationships>
</file>

<file path=ppt/slides/_rels/slide39.xml.rels><?xml version='1.0' encoding='UTF-8' standalone='yes'?>
<Relationships xmlns="http://schemas.openxmlformats.org/package/2006/relationships"><Relationship Id="rId1" Type="http://schemas.openxmlformats.org/officeDocument/2006/relationships/tags" Target="../tags/tag89.xml"/><Relationship Id="rId2" Type="http://schemas.openxmlformats.org/officeDocument/2006/relationships/tags" Target="../tags/tag90.xml"/><Relationship Id="rId3" Type="http://schemas.openxmlformats.org/officeDocument/2006/relationships/slideLayout" Target="../slideLayouts/slideLayout35.xml"/></Relationships>
</file>

<file path=ppt/slides/_rels/slide40.xml.rels><?xml version='1.0' encoding='UTF-8' standalone='yes'?>
<Relationships xmlns="http://schemas.openxmlformats.org/package/2006/relationships"><Relationship Id="rId1" Type="http://schemas.openxmlformats.org/officeDocument/2006/relationships/tags" Target="../tags/tag91.xml"/><Relationship Id="rId2" Type="http://schemas.openxmlformats.org/officeDocument/2006/relationships/tags" Target="../tags/tag92.xml"/><Relationship Id="rId3" Type="http://schemas.openxmlformats.org/officeDocument/2006/relationships/slideLayout" Target="../slideLayouts/slideLayout35.xml"/></Relationships>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20+"/>
          <p:cNvSpPr/>
          <p:nvPr/>
        </p:nvSpPr>
        <p:spPr>
          <a:xfrm>
            <a:off x="442913" y="732657"/>
            <a:ext cx="1578042" cy="96643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1" name="矩形 20"/>
          <p:cNvSpPr/>
          <p:nvPr/>
        </p:nvSpPr>
        <p:spPr>
          <a:xfrm>
            <a:off x="2112775" y="732657"/>
            <a:ext cx="7922907" cy="96643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2" name="矩形 21"/>
          <p:cNvSpPr/>
          <p:nvPr/>
        </p:nvSpPr>
        <p:spPr>
          <a:xfrm>
            <a:off x="676763" y="840202"/>
            <a:ext cx="1110342" cy="75134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8" name="文本框 7"/>
          <p:cNvSpPr txBox="1"/>
          <p:nvPr/>
        </p:nvSpPr>
        <p:spPr>
          <a:xfrm>
            <a:off x="770269" y="932912"/>
            <a:ext cx="923330" cy="593111"/>
          </a:xfrm>
          <a:prstGeom prst="rect">
            <a:avLst/>
          </a:prstGeom>
          <a:noFill/>
        </p:spPr>
        <p:txBody>
          <a:bodyPr wrap="none" lIns="0" tIns="0" rIns="0" bIns="0">
            <a:sp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项目管理</a:t>
            </a:r>
            <a:endParaRPr kumimoji="0" lang="en-US" altLang="zh-CN" sz="18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1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方法论</a:t>
            </a:r>
          </a:p>
        </p:txBody>
      </p:sp>
      <p:sp>
        <p:nvSpPr>
          <p:cNvPr id="14" name="文本框 13"/>
          <p:cNvSpPr txBox="1"/>
          <p:nvPr/>
        </p:nvSpPr>
        <p:spPr>
          <a:xfrm>
            <a:off x="2882203" y="886360"/>
            <a:ext cx="512961" cy="659027"/>
          </a:xfrm>
          <a:prstGeom prst="rect">
            <a:avLst/>
          </a:prstGeom>
          <a:noFill/>
        </p:spPr>
        <p:txBody>
          <a:bodyPr wrap="none" lIns="0" tIns="0" rIns="0" bIns="0">
            <a:spAutoFit/>
          </a:bodyPr>
          <a:lstStyle>
            <a:defPPr>
              <a:defRPr lang="zh-CN"/>
            </a:defP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305598"/>
                </a:solidFill>
                <a:effectLst/>
                <a:uLnTx/>
                <a:uFillTx/>
                <a:cs typeface="+mn-ea"/>
                <a:sym typeface="+mn-lt"/>
              </a:rPr>
              <a:t>文化</a:t>
            </a:r>
            <a:endParaRPr kumimoji="0" lang="en-US" altLang="zh-CN" sz="2000" b="0" i="0" u="none" strike="noStrike" kern="1200" cap="none" spc="0" normalizeH="0" baseline="0" noProof="0" dirty="0">
              <a:ln>
                <a:noFill/>
              </a:ln>
              <a:solidFill>
                <a:srgbClr val="305598"/>
              </a:solidFill>
              <a:effectLst/>
              <a:uLnTx/>
              <a:uFillTx/>
              <a:cs typeface="+mn-ea"/>
              <a:sym typeface="+mn-lt"/>
            </a:endParaRPr>
          </a:p>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305598"/>
                </a:solidFill>
                <a:effectLst/>
                <a:uLnTx/>
                <a:uFillTx/>
                <a:cs typeface="+mn-ea"/>
                <a:sym typeface="+mn-lt"/>
              </a:rPr>
              <a:t>体系</a:t>
            </a:r>
          </a:p>
        </p:txBody>
      </p:sp>
      <p:sp>
        <p:nvSpPr>
          <p:cNvPr id="29" name="矩形 28"/>
          <p:cNvSpPr/>
          <p:nvPr/>
        </p:nvSpPr>
        <p:spPr>
          <a:xfrm>
            <a:off x="3817040" y="1221635"/>
            <a:ext cx="2710525"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0" name="文本框 9"/>
          <p:cNvSpPr txBox="1"/>
          <p:nvPr/>
        </p:nvSpPr>
        <p:spPr>
          <a:xfrm>
            <a:off x="4479805" y="855766"/>
            <a:ext cx="1384995" cy="276999"/>
          </a:xfrm>
          <a:prstGeom prst="rect">
            <a:avLst/>
          </a:prstGeom>
          <a:noFill/>
        </p:spPr>
        <p:txBody>
          <a:bodyPr wrap="none" lIns="0" tIns="0" rIns="0" bIns="0">
            <a:spAutoFit/>
          </a:bodyPr>
          <a:lstStyle>
            <a:defPPr>
              <a:defRPr lang="zh-CN"/>
            </a:def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cs typeface="+mn-ea"/>
                <a:sym typeface="+mn-lt"/>
              </a:rPr>
              <a:t>项目管理文化</a:t>
            </a:r>
          </a:p>
        </p:txBody>
      </p:sp>
      <p:sp>
        <p:nvSpPr>
          <p:cNvPr id="16" name="文本框 15"/>
          <p:cNvSpPr txBox="1"/>
          <p:nvPr/>
        </p:nvSpPr>
        <p:spPr>
          <a:xfrm>
            <a:off x="4723461" y="1298868"/>
            <a:ext cx="897682" cy="215444"/>
          </a:xfrm>
          <a:prstGeom prst="rect">
            <a:avLst/>
          </a:prstGeom>
          <a:noFill/>
        </p:spPr>
        <p:txBody>
          <a:bodyPr wrap="none" lIns="0" tIns="0" rIns="0" bIns="0">
            <a:spAutoFit/>
          </a:bodyPr>
          <a:lstStyle>
            <a:defPPr>
              <a:defRPr lang="zh-CN"/>
            </a:def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项目型组织</a:t>
            </a:r>
          </a:p>
        </p:txBody>
      </p:sp>
      <p:sp>
        <p:nvSpPr>
          <p:cNvPr id="31" name="矩形 30"/>
          <p:cNvSpPr/>
          <p:nvPr/>
        </p:nvSpPr>
        <p:spPr>
          <a:xfrm>
            <a:off x="7046540" y="1234358"/>
            <a:ext cx="2710525"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2" name="文本框 11"/>
          <p:cNvSpPr txBox="1"/>
          <p:nvPr/>
        </p:nvSpPr>
        <p:spPr>
          <a:xfrm>
            <a:off x="7709305" y="868489"/>
            <a:ext cx="1384995" cy="276999"/>
          </a:xfrm>
          <a:prstGeom prst="rect">
            <a:avLst/>
          </a:prstGeom>
          <a:noFill/>
        </p:spPr>
        <p:txBody>
          <a:bodyPr wrap="none" lIns="0" tIns="0" rIns="0" bIns="0">
            <a:spAutoFit/>
          </a:bodyPr>
          <a:lstStyle>
            <a:defPPr>
              <a:defRPr lang="zh-CN"/>
            </a:def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cs typeface="+mn-ea"/>
                <a:sym typeface="+mn-lt"/>
              </a:rPr>
              <a:t>项目管理思维</a:t>
            </a:r>
          </a:p>
        </p:txBody>
      </p:sp>
      <p:sp>
        <p:nvSpPr>
          <p:cNvPr id="18" name="文本框 17"/>
          <p:cNvSpPr txBox="1"/>
          <p:nvPr/>
        </p:nvSpPr>
        <p:spPr>
          <a:xfrm>
            <a:off x="8006662" y="1311591"/>
            <a:ext cx="751809" cy="215444"/>
          </a:xfrm>
          <a:prstGeom prst="rect">
            <a:avLst/>
          </a:prstGeom>
          <a:noFill/>
        </p:spPr>
        <p:txBody>
          <a:bodyPr wrap="none" lIns="0" tIns="0" rIns="0" bIns="0">
            <a:spAutoFit/>
          </a:bodyPr>
          <a:lstStyle>
            <a:defPPr>
              <a:defRPr lang="zh-CN"/>
            </a:def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PMO职责</a:t>
            </a:r>
          </a:p>
        </p:txBody>
      </p:sp>
      <p:sp>
        <p:nvSpPr>
          <p:cNvPr id="32" name="矩形 31"/>
          <p:cNvSpPr/>
          <p:nvPr/>
        </p:nvSpPr>
        <p:spPr>
          <a:xfrm>
            <a:off x="442912" y="1787960"/>
            <a:ext cx="1578043" cy="473666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4" name="文本框 33"/>
          <p:cNvSpPr txBox="1"/>
          <p:nvPr/>
        </p:nvSpPr>
        <p:spPr>
          <a:xfrm>
            <a:off x="599068" y="1993860"/>
            <a:ext cx="1265732" cy="246221"/>
          </a:xfrm>
          <a:prstGeom prst="rect">
            <a:avLst/>
          </a:prstGeom>
          <a:noFill/>
        </p:spPr>
        <p:txBody>
          <a:bodyPr wrap="none" lIns="0" tIns="0" rIns="0" bIns="0">
            <a:spAutoFit/>
          </a:bodyPr>
          <a:lstStyle>
            <a:defPPr>
              <a:defRPr lang="zh-CN"/>
            </a:defPPr>
            <a:lvl1pPr>
              <a:defRPr sz="1600">
                <a:solidFill>
                  <a:schemeClr val="accent1"/>
                </a:solidFill>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mn-lt"/>
                <a:ea typeface="+mn-ea"/>
                <a:cs typeface="+mn-ea"/>
                <a:sym typeface="+mn-lt"/>
              </a:rPr>
              <a:t>客户交付项目</a:t>
            </a:r>
          </a:p>
        </p:txBody>
      </p:sp>
      <p:sp>
        <p:nvSpPr>
          <p:cNvPr id="35" name="矩形 34"/>
          <p:cNvSpPr/>
          <p:nvPr/>
        </p:nvSpPr>
        <p:spPr>
          <a:xfrm>
            <a:off x="541475" y="2330347"/>
            <a:ext cx="1346287"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6" name="文本框 35"/>
          <p:cNvSpPr txBox="1"/>
          <p:nvPr/>
        </p:nvSpPr>
        <p:spPr>
          <a:xfrm>
            <a:off x="847213" y="2438358"/>
            <a:ext cx="769441" cy="153888"/>
          </a:xfrm>
          <a:prstGeom prst="rect">
            <a:avLst/>
          </a:prstGeom>
          <a:noFill/>
        </p:spPr>
        <p:txBody>
          <a:bodyPr wrap="none" lIns="0" tIns="0" rIns="0" bIns="0">
            <a:spAutoFit/>
          </a:bodyPr>
          <a:lstStyle>
            <a:defPPr>
              <a:defRPr lang="zh-CN"/>
            </a:def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网络部署项目</a:t>
            </a:r>
          </a:p>
        </p:txBody>
      </p:sp>
      <p:sp>
        <p:nvSpPr>
          <p:cNvPr id="39" name="矩形 38"/>
          <p:cNvSpPr/>
          <p:nvPr/>
        </p:nvSpPr>
        <p:spPr>
          <a:xfrm>
            <a:off x="541475" y="2783522"/>
            <a:ext cx="1346287"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40" name="文本框 39"/>
          <p:cNvSpPr txBox="1"/>
          <p:nvPr/>
        </p:nvSpPr>
        <p:spPr>
          <a:xfrm>
            <a:off x="847213" y="2860755"/>
            <a:ext cx="769441" cy="153888"/>
          </a:xfrm>
          <a:prstGeom prst="rect">
            <a:avLst/>
          </a:prstGeom>
          <a:noFill/>
        </p:spPr>
        <p:txBody>
          <a:bodyPr wrap="none" lIns="0" tIns="0" rIns="0" bIns="0">
            <a:spAutoFit/>
          </a:bodyPr>
          <a:lstStyle>
            <a:defPPr>
              <a:defRPr lang="zh-CN"/>
            </a:def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管理服务项目</a:t>
            </a:r>
          </a:p>
        </p:txBody>
      </p:sp>
      <p:sp>
        <p:nvSpPr>
          <p:cNvPr id="42" name="矩形 41"/>
          <p:cNvSpPr/>
          <p:nvPr/>
        </p:nvSpPr>
        <p:spPr>
          <a:xfrm>
            <a:off x="541474" y="3236697"/>
            <a:ext cx="1346287"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43" name="文本框 42"/>
          <p:cNvSpPr txBox="1"/>
          <p:nvPr/>
        </p:nvSpPr>
        <p:spPr>
          <a:xfrm>
            <a:off x="847213" y="3344708"/>
            <a:ext cx="769441" cy="153888"/>
          </a:xfrm>
          <a:prstGeom prst="rect">
            <a:avLst/>
          </a:prstGeom>
          <a:noFill/>
        </p:spPr>
        <p:txBody>
          <a:bodyPr wrap="none" lIns="0" tIns="0" rIns="0" bIns="0">
            <a:spAutoFit/>
          </a:bodyPr>
          <a:lstStyle>
            <a:defPPr>
              <a:defRPr lang="zh-CN"/>
            </a:def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培训服务项目</a:t>
            </a:r>
          </a:p>
        </p:txBody>
      </p:sp>
      <p:sp>
        <p:nvSpPr>
          <p:cNvPr id="45" name="矩形 44"/>
          <p:cNvSpPr/>
          <p:nvPr/>
        </p:nvSpPr>
        <p:spPr>
          <a:xfrm>
            <a:off x="518511" y="3689873"/>
            <a:ext cx="1346287"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46" name="文本框 45"/>
          <p:cNvSpPr txBox="1"/>
          <p:nvPr/>
        </p:nvSpPr>
        <p:spPr>
          <a:xfrm>
            <a:off x="847213" y="3797884"/>
            <a:ext cx="769441" cy="153888"/>
          </a:xfrm>
          <a:prstGeom prst="rect">
            <a:avLst/>
          </a:prstGeom>
          <a:noFill/>
        </p:spPr>
        <p:txBody>
          <a:bodyPr wrap="none" lIns="0" tIns="0" rIns="0" bIns="0">
            <a:spAutoFit/>
          </a:bodyPr>
          <a:lstStyle>
            <a:defPPr>
              <a:defRPr lang="zh-CN"/>
            </a:def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销售培训项目</a:t>
            </a:r>
          </a:p>
        </p:txBody>
      </p:sp>
      <p:sp>
        <p:nvSpPr>
          <p:cNvPr id="47" name="文本框 46"/>
          <p:cNvSpPr txBox="1"/>
          <p:nvPr/>
        </p:nvSpPr>
        <p:spPr>
          <a:xfrm>
            <a:off x="811946" y="4313318"/>
            <a:ext cx="839975" cy="246221"/>
          </a:xfrm>
          <a:prstGeom prst="rect">
            <a:avLst/>
          </a:prstGeom>
          <a:noFill/>
        </p:spPr>
        <p:txBody>
          <a:bodyPr wrap="none" lIns="0" tIns="0" rIns="0" bIns="0">
            <a:spAutoFit/>
          </a:bodyPr>
          <a:lstStyle>
            <a:defPPr>
              <a:defRPr lang="zh-CN"/>
            </a:defPPr>
            <a:lvl1pPr>
              <a:defRPr sz="1600">
                <a:solidFill>
                  <a:schemeClr val="accent1"/>
                </a:solidFill>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mn-lt"/>
                <a:ea typeface="+mn-ea"/>
                <a:cs typeface="+mn-ea"/>
                <a:sym typeface="+mn-lt"/>
              </a:rPr>
              <a:t>其他项目</a:t>
            </a:r>
          </a:p>
        </p:txBody>
      </p:sp>
      <p:sp>
        <p:nvSpPr>
          <p:cNvPr id="49" name="矩形 48"/>
          <p:cNvSpPr/>
          <p:nvPr/>
        </p:nvSpPr>
        <p:spPr>
          <a:xfrm>
            <a:off x="558790" y="4664154"/>
            <a:ext cx="1346287"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50" name="文本框 49"/>
          <p:cNvSpPr txBox="1"/>
          <p:nvPr/>
        </p:nvSpPr>
        <p:spPr>
          <a:xfrm>
            <a:off x="975453" y="4772165"/>
            <a:ext cx="512961" cy="153888"/>
          </a:xfrm>
          <a:prstGeom prst="rect">
            <a:avLst/>
          </a:prstGeom>
          <a:noFill/>
        </p:spPr>
        <p:txBody>
          <a:bodyPr wrap="none" lIns="0" tIns="0" rIns="0" bIns="0">
            <a:spAutoFit/>
          </a:bodyPr>
          <a:lstStyle>
            <a:defPPr>
              <a:defRPr lang="zh-CN"/>
            </a:def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研发项目</a:t>
            </a:r>
          </a:p>
        </p:txBody>
      </p:sp>
      <p:sp>
        <p:nvSpPr>
          <p:cNvPr id="53" name="矩形 52"/>
          <p:cNvSpPr/>
          <p:nvPr/>
        </p:nvSpPr>
        <p:spPr>
          <a:xfrm>
            <a:off x="558790" y="5113354"/>
            <a:ext cx="1346287"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54" name="文本框 53"/>
          <p:cNvSpPr txBox="1"/>
          <p:nvPr/>
        </p:nvSpPr>
        <p:spPr>
          <a:xfrm>
            <a:off x="975453" y="5221365"/>
            <a:ext cx="512961" cy="153888"/>
          </a:xfrm>
          <a:prstGeom prst="rect">
            <a:avLst/>
          </a:prstGeom>
          <a:noFill/>
        </p:spPr>
        <p:txBody>
          <a:bodyPr wrap="none" lIns="0" tIns="0" rIns="0" bIns="0">
            <a:spAutoFit/>
          </a:bodyPr>
          <a:lstStyle>
            <a:defPPr>
              <a:defRPr lang="zh-CN"/>
            </a:def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基建项目</a:t>
            </a:r>
          </a:p>
        </p:txBody>
      </p:sp>
      <p:sp>
        <p:nvSpPr>
          <p:cNvPr id="55" name="矩形 54"/>
          <p:cNvSpPr/>
          <p:nvPr/>
        </p:nvSpPr>
        <p:spPr>
          <a:xfrm>
            <a:off x="2112776" y="1787960"/>
            <a:ext cx="7922906" cy="175698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56" name="Rectangle 20+"/>
          <p:cNvSpPr/>
          <p:nvPr/>
        </p:nvSpPr>
        <p:spPr>
          <a:xfrm>
            <a:off x="10133316" y="732656"/>
            <a:ext cx="1578042" cy="96643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1" name="矩形 60"/>
          <p:cNvSpPr/>
          <p:nvPr/>
        </p:nvSpPr>
        <p:spPr>
          <a:xfrm>
            <a:off x="2388299" y="2345223"/>
            <a:ext cx="2068368" cy="10757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2" name="文本框 61"/>
          <p:cNvSpPr txBox="1"/>
          <p:nvPr/>
        </p:nvSpPr>
        <p:spPr>
          <a:xfrm>
            <a:off x="2909521" y="2442722"/>
            <a:ext cx="1025923" cy="246221"/>
          </a:xfrm>
          <a:prstGeom prst="rect">
            <a:avLst/>
          </a:prstGeom>
          <a:noFill/>
        </p:spPr>
        <p:txBody>
          <a:bodyPr wrap="none" lIns="0" tIns="0" rIns="0" bIns="0">
            <a:spAutoFit/>
          </a:bodyPr>
          <a:lstStyle>
            <a:defPPr>
              <a:defRPr lang="zh-CN"/>
            </a:defPPr>
            <a:lvl1pPr>
              <a:defRPr sz="1600">
                <a:solidFill>
                  <a:schemeClr val="accent1"/>
                </a:solidFill>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mn-lt"/>
                <a:ea typeface="+mn-ea"/>
                <a:cs typeface="+mn-ea"/>
                <a:sym typeface="+mn-lt"/>
              </a:rPr>
              <a:t>决策和授权</a:t>
            </a:r>
          </a:p>
        </p:txBody>
      </p:sp>
      <p:grpSp>
        <p:nvGrpSpPr>
          <p:cNvPr id="60" name="组合 59"/>
          <p:cNvGrpSpPr/>
          <p:nvPr/>
        </p:nvGrpSpPr>
        <p:grpSpPr>
          <a:xfrm>
            <a:off x="2509703" y="2828448"/>
            <a:ext cx="524996" cy="523011"/>
            <a:chOff x="2509703" y="2828448"/>
            <a:chExt cx="524996" cy="523011"/>
          </a:xfrm>
        </p:grpSpPr>
        <p:sp>
          <p:nvSpPr>
            <p:cNvPr id="63" name="Rectangle 60+"/>
            <p:cNvSpPr/>
            <p:nvPr/>
          </p:nvSpPr>
          <p:spPr>
            <a:xfrm>
              <a:off x="2509703" y="2828448"/>
              <a:ext cx="524996" cy="523011"/>
            </a:xfrm>
            <a:prstGeom prst="rect">
              <a:avLst/>
            </a:prstGeom>
            <a:no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5" name="文本框 64"/>
            <p:cNvSpPr txBox="1"/>
            <p:nvPr/>
          </p:nvSpPr>
          <p:spPr>
            <a:xfrm>
              <a:off x="2643961" y="2927643"/>
              <a:ext cx="256480" cy="329962"/>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决策</a:t>
              </a:r>
            </a:p>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规则</a:t>
              </a:r>
            </a:p>
          </p:txBody>
        </p:sp>
      </p:grpSp>
      <p:sp>
        <p:nvSpPr>
          <p:cNvPr id="68" name="Rectangle 60+"/>
          <p:cNvSpPr/>
          <p:nvPr/>
        </p:nvSpPr>
        <p:spPr>
          <a:xfrm>
            <a:off x="3159985" y="2828448"/>
            <a:ext cx="524996" cy="523011"/>
          </a:xfrm>
          <a:prstGeom prst="rect">
            <a:avLst/>
          </a:prstGeom>
          <a:no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9" name="文本框 68"/>
          <p:cNvSpPr txBox="1"/>
          <p:nvPr/>
        </p:nvSpPr>
        <p:spPr>
          <a:xfrm>
            <a:off x="3294243" y="2927643"/>
            <a:ext cx="256480" cy="329962"/>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决策</a:t>
            </a:r>
          </a:p>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团队</a:t>
            </a:r>
          </a:p>
        </p:txBody>
      </p:sp>
      <p:grpSp>
        <p:nvGrpSpPr>
          <p:cNvPr id="57" name="组合 56"/>
          <p:cNvGrpSpPr/>
          <p:nvPr/>
        </p:nvGrpSpPr>
        <p:grpSpPr>
          <a:xfrm>
            <a:off x="3810267" y="2828448"/>
            <a:ext cx="524996" cy="523011"/>
            <a:chOff x="3810267" y="2828448"/>
            <a:chExt cx="524996" cy="523011"/>
          </a:xfrm>
        </p:grpSpPr>
        <p:sp>
          <p:nvSpPr>
            <p:cNvPr id="71" name="Rectangle 60+"/>
            <p:cNvSpPr/>
            <p:nvPr/>
          </p:nvSpPr>
          <p:spPr>
            <a:xfrm>
              <a:off x="3810267" y="2828448"/>
              <a:ext cx="524996" cy="523011"/>
            </a:xfrm>
            <a:prstGeom prst="rect">
              <a:avLst/>
            </a:prstGeom>
            <a:no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72" name="文本框 71"/>
            <p:cNvSpPr txBox="1"/>
            <p:nvPr/>
          </p:nvSpPr>
          <p:spPr>
            <a:xfrm>
              <a:off x="3944525" y="2927643"/>
              <a:ext cx="256480" cy="329962"/>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任命</a:t>
              </a:r>
              <a:endParaRPr kumimoji="0" lang="en-US" altLang="zh-CN" sz="10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授权</a:t>
              </a:r>
              <a:endParaRPr kumimoji="0" lang="en-US" altLang="zh-CN" sz="1000" b="0" i="0" u="none" strike="noStrike" kern="1200" cap="none" spc="0" normalizeH="0" baseline="0" noProof="0" dirty="0">
                <a:ln>
                  <a:noFill/>
                </a:ln>
                <a:solidFill>
                  <a:prstClr val="black"/>
                </a:solidFill>
                <a:effectLst/>
                <a:uLnTx/>
                <a:uFillTx/>
                <a:cs typeface="+mn-ea"/>
                <a:sym typeface="+mn-lt"/>
              </a:endParaRPr>
            </a:p>
          </p:txBody>
        </p:sp>
      </p:grpSp>
      <p:sp>
        <p:nvSpPr>
          <p:cNvPr id="76" name="矩形 75"/>
          <p:cNvSpPr/>
          <p:nvPr/>
        </p:nvSpPr>
        <p:spPr>
          <a:xfrm>
            <a:off x="4706307" y="2345223"/>
            <a:ext cx="2101789" cy="10757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77" name="文本框 76"/>
          <p:cNvSpPr txBox="1"/>
          <p:nvPr/>
        </p:nvSpPr>
        <p:spPr>
          <a:xfrm>
            <a:off x="4936464" y="2445392"/>
            <a:ext cx="1641475" cy="246221"/>
          </a:xfrm>
          <a:prstGeom prst="rect">
            <a:avLst/>
          </a:prstGeom>
          <a:noFill/>
        </p:spPr>
        <p:txBody>
          <a:bodyPr wrap="none" lIns="0" tIns="0" rIns="0" bIns="0">
            <a:spAutoFit/>
          </a:bodyPr>
          <a:lstStyle>
            <a:defPPr>
              <a:defRPr lang="zh-CN"/>
            </a:defPPr>
            <a:lvl1pPr>
              <a:defRPr sz="1600">
                <a:solidFill>
                  <a:schemeClr val="accent1"/>
                </a:solidFill>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mn-lt"/>
                <a:ea typeface="+mn-ea"/>
                <a:cs typeface="+mn-ea"/>
                <a:sym typeface="+mn-lt"/>
              </a:rPr>
              <a:t>项目经理管理体系</a:t>
            </a:r>
          </a:p>
        </p:txBody>
      </p:sp>
      <p:grpSp>
        <p:nvGrpSpPr>
          <p:cNvPr id="48" name="组合 47"/>
          <p:cNvGrpSpPr/>
          <p:nvPr/>
        </p:nvGrpSpPr>
        <p:grpSpPr>
          <a:xfrm>
            <a:off x="4841584" y="2831118"/>
            <a:ext cx="524996" cy="523011"/>
            <a:chOff x="4841584" y="2831118"/>
            <a:chExt cx="524996" cy="523011"/>
          </a:xfrm>
        </p:grpSpPr>
        <p:sp>
          <p:nvSpPr>
            <p:cNvPr id="86" name="Rectangle 60+"/>
            <p:cNvSpPr/>
            <p:nvPr/>
          </p:nvSpPr>
          <p:spPr>
            <a:xfrm>
              <a:off x="4841584" y="2831118"/>
              <a:ext cx="524996" cy="523011"/>
            </a:xfrm>
            <a:prstGeom prst="rect">
              <a:avLst/>
            </a:prstGeom>
            <a:no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87" name="文本框 86"/>
            <p:cNvSpPr txBox="1"/>
            <p:nvPr/>
          </p:nvSpPr>
          <p:spPr>
            <a:xfrm>
              <a:off x="4975842" y="2927643"/>
              <a:ext cx="256480" cy="329962"/>
            </a:xfrm>
            <a:prstGeom prst="rect">
              <a:avLst/>
            </a:prstGeom>
            <a:noFill/>
          </p:spPr>
          <p:txBody>
            <a:bodyPr wrap="none" lIns="0" tIns="0" rIns="0" bIns="0">
              <a:sp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cs typeface="+mn-ea"/>
                  <a:sym typeface="+mn-lt"/>
                </a:rPr>
                <a:t>KPI</a:t>
              </a:r>
            </a:p>
            <a:p>
              <a:pPr marL="0" marR="0" lvl="0" indent="0" algn="ctr"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设计</a:t>
              </a:r>
            </a:p>
          </p:txBody>
        </p:sp>
      </p:grpSp>
      <p:grpSp>
        <p:nvGrpSpPr>
          <p:cNvPr id="30" name="组合 29"/>
          <p:cNvGrpSpPr/>
          <p:nvPr/>
        </p:nvGrpSpPr>
        <p:grpSpPr>
          <a:xfrm>
            <a:off x="5494703" y="2831118"/>
            <a:ext cx="524996" cy="523011"/>
            <a:chOff x="5494703" y="2831118"/>
            <a:chExt cx="524996" cy="523011"/>
          </a:xfrm>
        </p:grpSpPr>
        <p:sp>
          <p:nvSpPr>
            <p:cNvPr id="84" name="Rectangle 60+"/>
            <p:cNvSpPr/>
            <p:nvPr/>
          </p:nvSpPr>
          <p:spPr>
            <a:xfrm>
              <a:off x="5494703" y="2831118"/>
              <a:ext cx="524996" cy="523011"/>
            </a:xfrm>
            <a:prstGeom prst="rect">
              <a:avLst/>
            </a:prstGeom>
            <a:no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85" name="文本框 84"/>
            <p:cNvSpPr txBox="1"/>
            <p:nvPr/>
          </p:nvSpPr>
          <p:spPr>
            <a:xfrm>
              <a:off x="5628961" y="2927643"/>
              <a:ext cx="256480" cy="329962"/>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绩效</a:t>
              </a:r>
              <a:endParaRPr kumimoji="0" lang="en-US" altLang="zh-CN" sz="10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跟踪</a:t>
              </a:r>
            </a:p>
          </p:txBody>
        </p:sp>
      </p:grpSp>
      <p:grpSp>
        <p:nvGrpSpPr>
          <p:cNvPr id="28" name="组合 27"/>
          <p:cNvGrpSpPr/>
          <p:nvPr/>
        </p:nvGrpSpPr>
        <p:grpSpPr>
          <a:xfrm>
            <a:off x="6147822" y="2831118"/>
            <a:ext cx="524996" cy="523011"/>
            <a:chOff x="6147822" y="2831118"/>
            <a:chExt cx="524996" cy="523011"/>
          </a:xfrm>
        </p:grpSpPr>
        <p:sp>
          <p:nvSpPr>
            <p:cNvPr id="82" name="Rectangle 60+"/>
            <p:cNvSpPr/>
            <p:nvPr/>
          </p:nvSpPr>
          <p:spPr>
            <a:xfrm>
              <a:off x="6147822" y="2831118"/>
              <a:ext cx="524996" cy="523011"/>
            </a:xfrm>
            <a:prstGeom prst="rect">
              <a:avLst/>
            </a:prstGeom>
            <a:no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83" name="文本框 82"/>
            <p:cNvSpPr txBox="1"/>
            <p:nvPr/>
          </p:nvSpPr>
          <p:spPr>
            <a:xfrm>
              <a:off x="6282080" y="2927643"/>
              <a:ext cx="256480" cy="329962"/>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考核</a:t>
              </a:r>
              <a:endParaRPr kumimoji="0" lang="en-US" altLang="zh-CN" sz="10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评价</a:t>
              </a:r>
              <a:endParaRPr kumimoji="0" lang="en-US" altLang="zh-CN" sz="1000" b="0" i="0" u="none" strike="noStrike" kern="1200" cap="none" spc="0" normalizeH="0" baseline="0" noProof="0" dirty="0">
                <a:ln>
                  <a:noFill/>
                </a:ln>
                <a:solidFill>
                  <a:prstClr val="black"/>
                </a:solidFill>
                <a:effectLst/>
                <a:uLnTx/>
                <a:uFillTx/>
                <a:cs typeface="+mn-ea"/>
                <a:sym typeface="+mn-lt"/>
              </a:endParaRPr>
            </a:p>
          </p:txBody>
        </p:sp>
      </p:grpSp>
      <p:sp>
        <p:nvSpPr>
          <p:cNvPr id="88" name="矩形 87"/>
          <p:cNvSpPr/>
          <p:nvPr/>
        </p:nvSpPr>
        <p:spPr>
          <a:xfrm>
            <a:off x="7057735" y="2345223"/>
            <a:ext cx="2702237" cy="10757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89" name="文本框 88"/>
          <p:cNvSpPr txBox="1"/>
          <p:nvPr/>
        </p:nvSpPr>
        <p:spPr>
          <a:xfrm>
            <a:off x="7382931" y="2445392"/>
            <a:ext cx="2051845" cy="246221"/>
          </a:xfrm>
          <a:prstGeom prst="rect">
            <a:avLst/>
          </a:prstGeom>
          <a:noFill/>
        </p:spPr>
        <p:txBody>
          <a:bodyPr wrap="none" lIns="0" tIns="0" rIns="0" bIns="0">
            <a:spAutoFit/>
          </a:bodyPr>
          <a:lstStyle>
            <a:defPPr>
              <a:defRPr lang="zh-CN"/>
            </a:defPPr>
            <a:lvl1pPr>
              <a:defRPr sz="1600">
                <a:solidFill>
                  <a:schemeClr val="accent1"/>
                </a:solidFill>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mn-lt"/>
                <a:ea typeface="+mn-ea"/>
                <a:cs typeface="+mn-ea"/>
                <a:sym typeface="+mn-lt"/>
              </a:rPr>
              <a:t>项目管理质量保证体系</a:t>
            </a:r>
          </a:p>
        </p:txBody>
      </p:sp>
      <p:grpSp>
        <p:nvGrpSpPr>
          <p:cNvPr id="26" name="组合 25"/>
          <p:cNvGrpSpPr/>
          <p:nvPr/>
        </p:nvGrpSpPr>
        <p:grpSpPr>
          <a:xfrm>
            <a:off x="7835864" y="2831118"/>
            <a:ext cx="524996" cy="523011"/>
            <a:chOff x="7835864" y="2831118"/>
            <a:chExt cx="524996" cy="523011"/>
          </a:xfrm>
        </p:grpSpPr>
        <p:sp>
          <p:nvSpPr>
            <p:cNvPr id="98" name="Rectangle 60+"/>
            <p:cNvSpPr/>
            <p:nvPr/>
          </p:nvSpPr>
          <p:spPr>
            <a:xfrm>
              <a:off x="7835864" y="2831118"/>
              <a:ext cx="524996" cy="523011"/>
            </a:xfrm>
            <a:prstGeom prst="rect">
              <a:avLst/>
            </a:prstGeom>
            <a:no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99" name="文本框 98"/>
            <p:cNvSpPr txBox="1"/>
            <p:nvPr/>
          </p:nvSpPr>
          <p:spPr>
            <a:xfrm>
              <a:off x="7970122" y="2927643"/>
              <a:ext cx="256480" cy="329962"/>
            </a:xfrm>
            <a:prstGeom prst="rect">
              <a:avLst/>
            </a:prstGeom>
            <a:noFill/>
          </p:spPr>
          <p:txBody>
            <a:bodyPr wrap="none" lIns="0" tIns="0" rIns="0" bIns="0">
              <a:sp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客户</a:t>
              </a:r>
              <a:endParaRPr kumimoji="0" lang="en-US" altLang="zh-CN" sz="10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1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cs typeface="+mn-ea"/>
                  <a:sym typeface="+mn-lt"/>
                </a:rPr>
                <a:t>QA</a:t>
              </a:r>
              <a:endParaRPr kumimoji="0" lang="zh-CN" altLang="en-US" sz="1000" b="0" i="0" u="none" strike="noStrike" kern="1200" cap="none" spc="0" normalizeH="0" baseline="0" noProof="0" dirty="0">
                <a:ln>
                  <a:noFill/>
                </a:ln>
                <a:solidFill>
                  <a:prstClr val="black"/>
                </a:solidFill>
                <a:effectLst/>
                <a:uLnTx/>
                <a:uFillTx/>
                <a:cs typeface="+mn-ea"/>
                <a:sym typeface="+mn-lt"/>
              </a:endParaRPr>
            </a:p>
          </p:txBody>
        </p:sp>
      </p:grpSp>
      <p:sp>
        <p:nvSpPr>
          <p:cNvPr id="96" name="Rectangle 60+"/>
          <p:cNvSpPr/>
          <p:nvPr/>
        </p:nvSpPr>
        <p:spPr>
          <a:xfrm>
            <a:off x="8456849" y="2831118"/>
            <a:ext cx="524996" cy="523011"/>
          </a:xfrm>
          <a:prstGeom prst="rect">
            <a:avLst/>
          </a:prstGeom>
          <a:no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97" name="文本框 96"/>
          <p:cNvSpPr txBox="1"/>
          <p:nvPr/>
        </p:nvSpPr>
        <p:spPr>
          <a:xfrm>
            <a:off x="8591107" y="2927643"/>
            <a:ext cx="256480" cy="329962"/>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绩效</a:t>
            </a:r>
            <a:endParaRPr kumimoji="0" lang="en-US" altLang="zh-CN" sz="10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评审</a:t>
            </a:r>
          </a:p>
        </p:txBody>
      </p:sp>
      <p:grpSp>
        <p:nvGrpSpPr>
          <p:cNvPr id="25" name="组合 24"/>
          <p:cNvGrpSpPr/>
          <p:nvPr/>
        </p:nvGrpSpPr>
        <p:grpSpPr>
          <a:xfrm>
            <a:off x="9077833" y="2831118"/>
            <a:ext cx="524996" cy="523011"/>
            <a:chOff x="9077833" y="2831118"/>
            <a:chExt cx="524996" cy="523011"/>
          </a:xfrm>
        </p:grpSpPr>
        <p:sp>
          <p:nvSpPr>
            <p:cNvPr id="94" name="Rectangle 60+"/>
            <p:cNvSpPr/>
            <p:nvPr/>
          </p:nvSpPr>
          <p:spPr>
            <a:xfrm>
              <a:off x="9077833" y="2831118"/>
              <a:ext cx="524996" cy="523011"/>
            </a:xfrm>
            <a:prstGeom prst="rect">
              <a:avLst/>
            </a:prstGeom>
            <a:no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95" name="文本框 94"/>
            <p:cNvSpPr txBox="1"/>
            <p:nvPr/>
          </p:nvSpPr>
          <p:spPr>
            <a:xfrm>
              <a:off x="9212090" y="2927643"/>
              <a:ext cx="256480" cy="329962"/>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评估</a:t>
              </a:r>
              <a:endParaRPr kumimoji="0" lang="en-US" altLang="zh-CN" sz="10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改进</a:t>
              </a:r>
              <a:endParaRPr kumimoji="0" lang="en-US" altLang="zh-CN" sz="1000" b="0" i="0" u="none" strike="noStrike" kern="1200" cap="none" spc="0" normalizeH="0" baseline="0" noProof="0" dirty="0">
                <a:ln>
                  <a:noFill/>
                </a:ln>
                <a:solidFill>
                  <a:prstClr val="black"/>
                </a:solidFill>
                <a:effectLst/>
                <a:uLnTx/>
                <a:uFillTx/>
                <a:cs typeface="+mn-ea"/>
                <a:sym typeface="+mn-lt"/>
              </a:endParaRPr>
            </a:p>
          </p:txBody>
        </p:sp>
      </p:grpSp>
      <p:grpSp>
        <p:nvGrpSpPr>
          <p:cNvPr id="27" name="组合 26"/>
          <p:cNvGrpSpPr/>
          <p:nvPr/>
        </p:nvGrpSpPr>
        <p:grpSpPr>
          <a:xfrm>
            <a:off x="7214879" y="2831118"/>
            <a:ext cx="524996" cy="523011"/>
            <a:chOff x="7214879" y="2831118"/>
            <a:chExt cx="524996" cy="523011"/>
          </a:xfrm>
        </p:grpSpPr>
        <p:sp>
          <p:nvSpPr>
            <p:cNvPr id="101" name="Rectangle 60+"/>
            <p:cNvSpPr/>
            <p:nvPr/>
          </p:nvSpPr>
          <p:spPr>
            <a:xfrm>
              <a:off x="7214879" y="2831118"/>
              <a:ext cx="524996" cy="523011"/>
            </a:xfrm>
            <a:prstGeom prst="rect">
              <a:avLst/>
            </a:prstGeom>
            <a:no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02" name="文本框 101"/>
            <p:cNvSpPr txBox="1"/>
            <p:nvPr/>
          </p:nvSpPr>
          <p:spPr>
            <a:xfrm>
              <a:off x="7349137" y="2927643"/>
              <a:ext cx="256480" cy="329962"/>
            </a:xfrm>
            <a:prstGeom prst="rect">
              <a:avLst/>
            </a:prstGeom>
            <a:noFill/>
          </p:spPr>
          <p:txBody>
            <a:bodyPr wrap="none" lIns="0" tIns="0" rIns="0" bIns="0">
              <a:sp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体系</a:t>
              </a:r>
              <a:endParaRPr kumimoji="0" lang="en-US" altLang="zh-CN" sz="10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1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cs typeface="+mn-ea"/>
                  <a:sym typeface="+mn-lt"/>
                </a:rPr>
                <a:t>QA</a:t>
              </a:r>
              <a:endParaRPr kumimoji="0" lang="zh-CN" altLang="en-US" sz="1000" b="0" i="0" u="none" strike="noStrike" kern="1200" cap="none" spc="0" normalizeH="0" baseline="0" noProof="0" dirty="0">
                <a:ln>
                  <a:noFill/>
                </a:ln>
                <a:solidFill>
                  <a:prstClr val="black"/>
                </a:solidFill>
                <a:effectLst/>
                <a:uLnTx/>
                <a:uFillTx/>
                <a:cs typeface="+mn-ea"/>
                <a:sym typeface="+mn-lt"/>
              </a:endParaRPr>
            </a:p>
          </p:txBody>
        </p:sp>
      </p:grpSp>
      <p:sp>
        <p:nvSpPr>
          <p:cNvPr id="112" name="矩形 111"/>
          <p:cNvSpPr/>
          <p:nvPr/>
        </p:nvSpPr>
        <p:spPr>
          <a:xfrm>
            <a:off x="2112775" y="3628446"/>
            <a:ext cx="7922906" cy="120481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114" name="组合 113"/>
          <p:cNvGrpSpPr/>
          <p:nvPr/>
        </p:nvGrpSpPr>
        <p:grpSpPr>
          <a:xfrm>
            <a:off x="2391391" y="3673104"/>
            <a:ext cx="7365674" cy="448782"/>
            <a:chOff x="2391391" y="1873325"/>
            <a:chExt cx="7365674" cy="448782"/>
          </a:xfrm>
        </p:grpSpPr>
        <p:sp>
          <p:nvSpPr>
            <p:cNvPr id="115" name="矩形 114"/>
            <p:cNvSpPr/>
            <p:nvPr/>
          </p:nvSpPr>
          <p:spPr>
            <a:xfrm>
              <a:off x="2391391" y="1873325"/>
              <a:ext cx="7365674" cy="44878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16" name="文本框 115"/>
            <p:cNvSpPr txBox="1"/>
            <p:nvPr/>
          </p:nvSpPr>
          <p:spPr>
            <a:xfrm>
              <a:off x="5381730" y="1966034"/>
              <a:ext cx="1384995" cy="276999"/>
            </a:xfrm>
            <a:prstGeom prst="rect">
              <a:avLst/>
            </a:prstGeom>
            <a:noFill/>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项目管理流程</a:t>
              </a:r>
              <a:endParaRPr kumimoji="0" lang="en-US" altLang="zh-CN" sz="1800" b="0" i="0" u="none" strike="noStrike" kern="1200" cap="none" spc="0" normalizeH="0" baseline="0" noProof="0" dirty="0">
                <a:ln>
                  <a:noFill/>
                </a:ln>
                <a:solidFill>
                  <a:prstClr val="white"/>
                </a:solidFill>
                <a:effectLst/>
                <a:uLnTx/>
                <a:uFillTx/>
                <a:cs typeface="+mn-ea"/>
                <a:sym typeface="+mn-lt"/>
              </a:endParaRPr>
            </a:p>
          </p:txBody>
        </p:sp>
      </p:grpSp>
      <p:grpSp>
        <p:nvGrpSpPr>
          <p:cNvPr id="15" name="组合 14"/>
          <p:cNvGrpSpPr/>
          <p:nvPr/>
        </p:nvGrpSpPr>
        <p:grpSpPr>
          <a:xfrm>
            <a:off x="2434089" y="4212402"/>
            <a:ext cx="627917" cy="548179"/>
            <a:chOff x="2434089" y="4212402"/>
            <a:chExt cx="627917" cy="548179"/>
          </a:xfrm>
        </p:grpSpPr>
        <p:sp>
          <p:nvSpPr>
            <p:cNvPr id="117" name="矩形 116"/>
            <p:cNvSpPr/>
            <p:nvPr/>
          </p:nvSpPr>
          <p:spPr>
            <a:xfrm>
              <a:off x="2434089" y="4212402"/>
              <a:ext cx="627917" cy="5481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18" name="文本框 117"/>
            <p:cNvSpPr txBox="1"/>
            <p:nvPr/>
          </p:nvSpPr>
          <p:spPr>
            <a:xfrm>
              <a:off x="2619808" y="4321511"/>
              <a:ext cx="256480" cy="329962"/>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分析</a:t>
              </a:r>
              <a:endParaRPr kumimoji="0" lang="en-US" altLang="zh-CN" sz="10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项目</a:t>
              </a:r>
            </a:p>
          </p:txBody>
        </p:sp>
      </p:grpSp>
      <p:grpSp>
        <p:nvGrpSpPr>
          <p:cNvPr id="13" name="组合 12"/>
          <p:cNvGrpSpPr/>
          <p:nvPr/>
        </p:nvGrpSpPr>
        <p:grpSpPr>
          <a:xfrm>
            <a:off x="3756985" y="4210843"/>
            <a:ext cx="627917" cy="548179"/>
            <a:chOff x="3756985" y="4210843"/>
            <a:chExt cx="627917" cy="548179"/>
          </a:xfrm>
        </p:grpSpPr>
        <p:sp>
          <p:nvSpPr>
            <p:cNvPr id="121" name="矩形 120"/>
            <p:cNvSpPr/>
            <p:nvPr/>
          </p:nvSpPr>
          <p:spPr>
            <a:xfrm>
              <a:off x="3756985" y="4210843"/>
              <a:ext cx="627917" cy="5481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22" name="文本框 121"/>
            <p:cNvSpPr txBox="1"/>
            <p:nvPr/>
          </p:nvSpPr>
          <p:spPr>
            <a:xfrm>
              <a:off x="3942704" y="4319951"/>
              <a:ext cx="256480" cy="329962"/>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规划</a:t>
              </a:r>
              <a:endParaRPr kumimoji="0" lang="en-US" altLang="zh-CN" sz="10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项目</a:t>
              </a:r>
            </a:p>
          </p:txBody>
        </p:sp>
      </p:grpSp>
      <p:grpSp>
        <p:nvGrpSpPr>
          <p:cNvPr id="11" name="组合 10"/>
          <p:cNvGrpSpPr/>
          <p:nvPr/>
        </p:nvGrpSpPr>
        <p:grpSpPr>
          <a:xfrm>
            <a:off x="5097944" y="4210843"/>
            <a:ext cx="627917" cy="548179"/>
            <a:chOff x="5097944" y="4210843"/>
            <a:chExt cx="627917" cy="548179"/>
          </a:xfrm>
        </p:grpSpPr>
        <p:sp>
          <p:nvSpPr>
            <p:cNvPr id="124" name="矩形 123"/>
            <p:cNvSpPr/>
            <p:nvPr/>
          </p:nvSpPr>
          <p:spPr>
            <a:xfrm>
              <a:off x="5097944" y="4210843"/>
              <a:ext cx="627917" cy="5481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25" name="文本框 124"/>
            <p:cNvSpPr txBox="1"/>
            <p:nvPr/>
          </p:nvSpPr>
          <p:spPr>
            <a:xfrm>
              <a:off x="5283662" y="4319951"/>
              <a:ext cx="256480" cy="329962"/>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建立</a:t>
              </a:r>
              <a:endParaRPr kumimoji="0" lang="en-US" altLang="zh-CN" sz="10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项目</a:t>
              </a:r>
            </a:p>
          </p:txBody>
        </p:sp>
      </p:grpSp>
      <p:grpSp>
        <p:nvGrpSpPr>
          <p:cNvPr id="5" name="组合 4"/>
          <p:cNvGrpSpPr/>
          <p:nvPr/>
        </p:nvGrpSpPr>
        <p:grpSpPr>
          <a:xfrm>
            <a:off x="6438903" y="4210843"/>
            <a:ext cx="627917" cy="548179"/>
            <a:chOff x="6438903" y="4210843"/>
            <a:chExt cx="627917" cy="548179"/>
          </a:xfrm>
        </p:grpSpPr>
        <p:sp>
          <p:nvSpPr>
            <p:cNvPr id="127" name="矩形 126"/>
            <p:cNvSpPr/>
            <p:nvPr/>
          </p:nvSpPr>
          <p:spPr>
            <a:xfrm>
              <a:off x="6438903" y="4210843"/>
              <a:ext cx="627917" cy="5481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28" name="文本框 127"/>
            <p:cNvSpPr txBox="1"/>
            <p:nvPr/>
          </p:nvSpPr>
          <p:spPr>
            <a:xfrm>
              <a:off x="6624621" y="4319951"/>
              <a:ext cx="256480" cy="329962"/>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实施</a:t>
              </a:r>
              <a:endParaRPr kumimoji="0" lang="en-US" altLang="zh-CN" sz="10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项目</a:t>
              </a:r>
            </a:p>
          </p:txBody>
        </p:sp>
      </p:grpSp>
      <p:grpSp>
        <p:nvGrpSpPr>
          <p:cNvPr id="3" name="组合 2"/>
          <p:cNvGrpSpPr/>
          <p:nvPr/>
        </p:nvGrpSpPr>
        <p:grpSpPr>
          <a:xfrm>
            <a:off x="7779862" y="4210843"/>
            <a:ext cx="627917" cy="548179"/>
            <a:chOff x="7779862" y="4210843"/>
            <a:chExt cx="627917" cy="548179"/>
          </a:xfrm>
        </p:grpSpPr>
        <p:sp>
          <p:nvSpPr>
            <p:cNvPr id="130" name="矩形 129"/>
            <p:cNvSpPr/>
            <p:nvPr/>
          </p:nvSpPr>
          <p:spPr>
            <a:xfrm>
              <a:off x="7779862" y="4210843"/>
              <a:ext cx="627917" cy="5481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31" name="文本框 130"/>
            <p:cNvSpPr txBox="1"/>
            <p:nvPr/>
          </p:nvSpPr>
          <p:spPr>
            <a:xfrm>
              <a:off x="7965580" y="4319951"/>
              <a:ext cx="256480" cy="329962"/>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移交</a:t>
              </a:r>
              <a:endParaRPr kumimoji="0" lang="en-US" altLang="zh-CN" sz="10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项目</a:t>
              </a:r>
            </a:p>
          </p:txBody>
        </p:sp>
      </p:grpSp>
      <p:grpSp>
        <p:nvGrpSpPr>
          <p:cNvPr id="2" name="组合 1"/>
          <p:cNvGrpSpPr/>
          <p:nvPr/>
        </p:nvGrpSpPr>
        <p:grpSpPr>
          <a:xfrm>
            <a:off x="9120817" y="4210843"/>
            <a:ext cx="627917" cy="548179"/>
            <a:chOff x="9120817" y="4210843"/>
            <a:chExt cx="627917" cy="548179"/>
          </a:xfrm>
        </p:grpSpPr>
        <p:sp>
          <p:nvSpPr>
            <p:cNvPr id="133" name="矩形 132"/>
            <p:cNvSpPr/>
            <p:nvPr/>
          </p:nvSpPr>
          <p:spPr>
            <a:xfrm>
              <a:off x="9120817" y="4210843"/>
              <a:ext cx="627917" cy="5481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34" name="文本框 133"/>
            <p:cNvSpPr txBox="1"/>
            <p:nvPr/>
          </p:nvSpPr>
          <p:spPr>
            <a:xfrm>
              <a:off x="9306535" y="4319951"/>
              <a:ext cx="256480" cy="329962"/>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关闭</a:t>
              </a:r>
              <a:endParaRPr kumimoji="0" lang="en-US" altLang="zh-CN" sz="10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项目</a:t>
              </a:r>
            </a:p>
          </p:txBody>
        </p:sp>
      </p:grpSp>
      <p:sp>
        <p:nvSpPr>
          <p:cNvPr id="140" name="矩形 139"/>
          <p:cNvSpPr/>
          <p:nvPr/>
        </p:nvSpPr>
        <p:spPr>
          <a:xfrm>
            <a:off x="2120929" y="4916759"/>
            <a:ext cx="7922906" cy="163052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141" name="组合 140"/>
          <p:cNvGrpSpPr/>
          <p:nvPr/>
        </p:nvGrpSpPr>
        <p:grpSpPr>
          <a:xfrm>
            <a:off x="2391391" y="5018058"/>
            <a:ext cx="7365674" cy="448782"/>
            <a:chOff x="2391391" y="1873325"/>
            <a:chExt cx="7365674" cy="448782"/>
          </a:xfrm>
        </p:grpSpPr>
        <p:sp>
          <p:nvSpPr>
            <p:cNvPr id="142" name="矩形 141"/>
            <p:cNvSpPr/>
            <p:nvPr/>
          </p:nvSpPr>
          <p:spPr>
            <a:xfrm>
              <a:off x="2391391" y="1873325"/>
              <a:ext cx="7365674" cy="44878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43" name="文本框 142"/>
            <p:cNvSpPr txBox="1"/>
            <p:nvPr/>
          </p:nvSpPr>
          <p:spPr>
            <a:xfrm>
              <a:off x="5150898" y="1966034"/>
              <a:ext cx="1846660" cy="276999"/>
            </a:xfrm>
            <a:prstGeom prst="rect">
              <a:avLst/>
            </a:prstGeom>
            <a:noFill/>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项目管理作业平台</a:t>
              </a:r>
              <a:endParaRPr kumimoji="0" lang="en-US" altLang="zh-CN" sz="1800" b="0" i="0" u="none" strike="noStrike" kern="1200" cap="none" spc="0" normalizeH="0" baseline="0" noProof="0" dirty="0">
                <a:ln>
                  <a:noFill/>
                </a:ln>
                <a:solidFill>
                  <a:prstClr val="white"/>
                </a:solidFill>
                <a:effectLst/>
                <a:uLnTx/>
                <a:uFillTx/>
                <a:cs typeface="+mn-ea"/>
                <a:sym typeface="+mn-lt"/>
              </a:endParaRPr>
            </a:p>
          </p:txBody>
        </p:sp>
      </p:grpSp>
      <p:sp>
        <p:nvSpPr>
          <p:cNvPr id="145" name="矩形 144"/>
          <p:cNvSpPr/>
          <p:nvPr/>
        </p:nvSpPr>
        <p:spPr>
          <a:xfrm>
            <a:off x="2409127" y="5668144"/>
            <a:ext cx="852567" cy="7558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46" name="文本框 145"/>
          <p:cNvSpPr txBox="1"/>
          <p:nvPr/>
        </p:nvSpPr>
        <p:spPr>
          <a:xfrm>
            <a:off x="2578930" y="6160474"/>
            <a:ext cx="512961" cy="160685"/>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进度管理</a:t>
            </a:r>
          </a:p>
        </p:txBody>
      </p:sp>
      <p:sp>
        <p:nvSpPr>
          <p:cNvPr id="148" name="矩形 147"/>
          <p:cNvSpPr/>
          <p:nvPr/>
        </p:nvSpPr>
        <p:spPr>
          <a:xfrm>
            <a:off x="3337037" y="5668144"/>
            <a:ext cx="852567" cy="7558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49" name="文本框 148"/>
          <p:cNvSpPr txBox="1"/>
          <p:nvPr/>
        </p:nvSpPr>
        <p:spPr>
          <a:xfrm>
            <a:off x="3506840" y="6160474"/>
            <a:ext cx="512961" cy="160685"/>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成本管理</a:t>
            </a:r>
          </a:p>
        </p:txBody>
      </p:sp>
      <p:sp>
        <p:nvSpPr>
          <p:cNvPr id="151" name="矩形 150"/>
          <p:cNvSpPr/>
          <p:nvPr/>
        </p:nvSpPr>
        <p:spPr>
          <a:xfrm>
            <a:off x="4264947" y="5668144"/>
            <a:ext cx="852567" cy="7558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52" name="文本框 151"/>
          <p:cNvSpPr txBox="1"/>
          <p:nvPr/>
        </p:nvSpPr>
        <p:spPr>
          <a:xfrm>
            <a:off x="4434750" y="6160474"/>
            <a:ext cx="512961" cy="160685"/>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风险管理</a:t>
            </a:r>
          </a:p>
        </p:txBody>
      </p:sp>
      <p:sp>
        <p:nvSpPr>
          <p:cNvPr id="154" name="矩形 153"/>
          <p:cNvSpPr/>
          <p:nvPr/>
        </p:nvSpPr>
        <p:spPr>
          <a:xfrm>
            <a:off x="5192857" y="5668144"/>
            <a:ext cx="852567" cy="7558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55" name="文本框 154"/>
          <p:cNvSpPr txBox="1"/>
          <p:nvPr/>
        </p:nvSpPr>
        <p:spPr>
          <a:xfrm>
            <a:off x="5362660" y="6160474"/>
            <a:ext cx="512961" cy="160685"/>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质量管理</a:t>
            </a:r>
          </a:p>
        </p:txBody>
      </p:sp>
      <p:sp>
        <p:nvSpPr>
          <p:cNvPr id="157" name="矩形 156"/>
          <p:cNvSpPr/>
          <p:nvPr/>
        </p:nvSpPr>
        <p:spPr>
          <a:xfrm>
            <a:off x="6120767" y="5668144"/>
            <a:ext cx="852567" cy="7558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58" name="文本框 157"/>
          <p:cNvSpPr txBox="1"/>
          <p:nvPr/>
        </p:nvSpPr>
        <p:spPr>
          <a:xfrm>
            <a:off x="6290570" y="6160474"/>
            <a:ext cx="512961" cy="160685"/>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工时管理</a:t>
            </a:r>
          </a:p>
        </p:txBody>
      </p:sp>
      <p:sp>
        <p:nvSpPr>
          <p:cNvPr id="160" name="矩形 159"/>
          <p:cNvSpPr/>
          <p:nvPr/>
        </p:nvSpPr>
        <p:spPr>
          <a:xfrm>
            <a:off x="7048677" y="5668144"/>
            <a:ext cx="852567" cy="7558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61" name="文本框 160"/>
          <p:cNvSpPr txBox="1"/>
          <p:nvPr/>
        </p:nvSpPr>
        <p:spPr>
          <a:xfrm>
            <a:off x="7218480" y="6160474"/>
            <a:ext cx="512961" cy="160685"/>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变更管理</a:t>
            </a:r>
          </a:p>
        </p:txBody>
      </p:sp>
      <p:sp>
        <p:nvSpPr>
          <p:cNvPr id="163" name="矩形 162"/>
          <p:cNvSpPr/>
          <p:nvPr/>
        </p:nvSpPr>
        <p:spPr>
          <a:xfrm>
            <a:off x="7976587" y="5668144"/>
            <a:ext cx="852567" cy="7558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64" name="文本框 163"/>
          <p:cNvSpPr txBox="1"/>
          <p:nvPr/>
        </p:nvSpPr>
        <p:spPr>
          <a:xfrm>
            <a:off x="8146390" y="6160474"/>
            <a:ext cx="512961" cy="160685"/>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采购管理</a:t>
            </a:r>
          </a:p>
        </p:txBody>
      </p:sp>
      <p:sp>
        <p:nvSpPr>
          <p:cNvPr id="166" name="矩形 165"/>
          <p:cNvSpPr/>
          <p:nvPr/>
        </p:nvSpPr>
        <p:spPr>
          <a:xfrm>
            <a:off x="8904498" y="5668144"/>
            <a:ext cx="852567" cy="7558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67" name="文本框 166"/>
          <p:cNvSpPr txBox="1"/>
          <p:nvPr/>
        </p:nvSpPr>
        <p:spPr>
          <a:xfrm>
            <a:off x="9074301" y="6160474"/>
            <a:ext cx="512961" cy="160685"/>
          </a:xfrm>
          <a:prstGeom prst="rect">
            <a:avLst/>
          </a:prstGeom>
          <a:noFill/>
        </p:spPr>
        <p:txBody>
          <a:bodyPr wrap="none" lIns="0" tIns="0" rIns="0" bIns="0">
            <a:spAutoFit/>
          </a:body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知识管理</a:t>
            </a:r>
          </a:p>
        </p:txBody>
      </p:sp>
      <p:sp>
        <p:nvSpPr>
          <p:cNvPr id="169" name="矩形 168"/>
          <p:cNvSpPr/>
          <p:nvPr/>
        </p:nvSpPr>
        <p:spPr>
          <a:xfrm>
            <a:off x="10367166" y="840201"/>
            <a:ext cx="1110342" cy="75134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70" name="文本框 169"/>
          <p:cNvSpPr txBox="1"/>
          <p:nvPr/>
        </p:nvSpPr>
        <p:spPr>
          <a:xfrm>
            <a:off x="10460672" y="932912"/>
            <a:ext cx="923330" cy="593111"/>
          </a:xfrm>
          <a:prstGeom prst="rect">
            <a:avLst/>
          </a:prstGeom>
          <a:noFill/>
        </p:spPr>
        <p:txBody>
          <a:bodyPr wrap="none" lIns="0" tIns="0" rIns="0" bIns="0">
            <a:sp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项目资源</a:t>
            </a:r>
            <a:endParaRPr kumimoji="0" lang="en-US" altLang="zh-CN" sz="18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1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度量体系</a:t>
            </a:r>
          </a:p>
        </p:txBody>
      </p:sp>
      <p:sp>
        <p:nvSpPr>
          <p:cNvPr id="171" name="Rectangle 20+"/>
          <p:cNvSpPr/>
          <p:nvPr/>
        </p:nvSpPr>
        <p:spPr>
          <a:xfrm>
            <a:off x="10144087" y="1787960"/>
            <a:ext cx="1578042" cy="175698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72" name="矩形 171"/>
          <p:cNvSpPr/>
          <p:nvPr/>
        </p:nvSpPr>
        <p:spPr>
          <a:xfrm>
            <a:off x="10269414" y="2241038"/>
            <a:ext cx="1327387"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73" name="文本框 172"/>
          <p:cNvSpPr txBox="1"/>
          <p:nvPr/>
        </p:nvSpPr>
        <p:spPr>
          <a:xfrm>
            <a:off x="10537616" y="2349049"/>
            <a:ext cx="769441" cy="153888"/>
          </a:xfrm>
          <a:prstGeom prst="rect">
            <a:avLst/>
          </a:prstGeom>
          <a:noFill/>
        </p:spPr>
        <p:txBody>
          <a:bodyPr wrap="none" lIns="0" tIns="0" rIns="0" bIns="0">
            <a:spAutoFit/>
          </a:bodyPr>
          <a:lstStyle>
            <a:defPPr>
              <a:defRPr lang="zh-CN"/>
            </a:def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一级项目经理</a:t>
            </a:r>
          </a:p>
        </p:txBody>
      </p:sp>
      <p:sp>
        <p:nvSpPr>
          <p:cNvPr id="176" name="矩形 175"/>
          <p:cNvSpPr/>
          <p:nvPr/>
        </p:nvSpPr>
        <p:spPr>
          <a:xfrm>
            <a:off x="10269414" y="2675351"/>
            <a:ext cx="1327387"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77" name="文本框 176"/>
          <p:cNvSpPr txBox="1"/>
          <p:nvPr/>
        </p:nvSpPr>
        <p:spPr>
          <a:xfrm>
            <a:off x="10537616" y="2783362"/>
            <a:ext cx="769441" cy="153888"/>
          </a:xfrm>
          <a:prstGeom prst="rect">
            <a:avLst/>
          </a:prstGeom>
          <a:noFill/>
        </p:spPr>
        <p:txBody>
          <a:bodyPr wrap="none" lIns="0" tIns="0" rIns="0" bIns="0">
            <a:spAutoFit/>
          </a:bodyPr>
          <a:lstStyle>
            <a:defPPr>
              <a:defRPr lang="zh-CN"/>
            </a:def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二级项目经理</a:t>
            </a:r>
          </a:p>
        </p:txBody>
      </p:sp>
      <p:sp>
        <p:nvSpPr>
          <p:cNvPr id="179" name="矩形 178"/>
          <p:cNvSpPr/>
          <p:nvPr/>
        </p:nvSpPr>
        <p:spPr>
          <a:xfrm>
            <a:off x="10269414" y="3109664"/>
            <a:ext cx="1327387"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80" name="文本框 179"/>
          <p:cNvSpPr txBox="1"/>
          <p:nvPr/>
        </p:nvSpPr>
        <p:spPr>
          <a:xfrm>
            <a:off x="10537616" y="3217675"/>
            <a:ext cx="769441" cy="153888"/>
          </a:xfrm>
          <a:prstGeom prst="rect">
            <a:avLst/>
          </a:prstGeom>
          <a:noFill/>
        </p:spPr>
        <p:txBody>
          <a:bodyPr wrap="none" lIns="0" tIns="0" rIns="0" bIns="0">
            <a:spAutoFit/>
          </a:bodyPr>
          <a:lstStyle>
            <a:defPPr>
              <a:defRPr lang="zh-CN"/>
            </a:def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三级项目经理</a:t>
            </a:r>
          </a:p>
        </p:txBody>
      </p:sp>
      <p:sp>
        <p:nvSpPr>
          <p:cNvPr id="181" name="文本框 180"/>
          <p:cNvSpPr txBox="1"/>
          <p:nvPr/>
        </p:nvSpPr>
        <p:spPr>
          <a:xfrm>
            <a:off x="10303128" y="1926927"/>
            <a:ext cx="1259961" cy="246221"/>
          </a:xfrm>
          <a:prstGeom prst="rect">
            <a:avLst/>
          </a:prstGeom>
          <a:noFill/>
        </p:spPr>
        <p:txBody>
          <a:bodyPr wrap="none" lIns="0" tIns="0" rIns="0" bIns="0">
            <a:spAutoFit/>
          </a:bodyPr>
          <a:lstStyle>
            <a:defPPr>
              <a:defRPr lang="zh-CN"/>
            </a:defPPr>
            <a:lvl1pPr>
              <a:defRPr sz="1600">
                <a:solidFill>
                  <a:schemeClr val="accent1"/>
                </a:solidFill>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mn-lt"/>
                <a:ea typeface="+mn-ea"/>
                <a:cs typeface="+mn-ea"/>
                <a:sym typeface="+mn-lt"/>
              </a:rPr>
              <a:t>任职认证体系</a:t>
            </a:r>
          </a:p>
        </p:txBody>
      </p:sp>
      <p:sp>
        <p:nvSpPr>
          <p:cNvPr id="182" name="Rectangle 20+"/>
          <p:cNvSpPr/>
          <p:nvPr/>
        </p:nvSpPr>
        <p:spPr>
          <a:xfrm>
            <a:off x="10133316" y="3628447"/>
            <a:ext cx="1578042" cy="289617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83" name="文本框 182"/>
          <p:cNvSpPr txBox="1"/>
          <p:nvPr/>
        </p:nvSpPr>
        <p:spPr>
          <a:xfrm>
            <a:off x="10303128" y="3803410"/>
            <a:ext cx="1259961" cy="246221"/>
          </a:xfrm>
          <a:prstGeom prst="rect">
            <a:avLst/>
          </a:prstGeom>
          <a:noFill/>
        </p:spPr>
        <p:txBody>
          <a:bodyPr wrap="none" lIns="0" tIns="0" rIns="0" bIns="0">
            <a:spAutoFit/>
          </a:bodyPr>
          <a:lstStyle>
            <a:defPPr>
              <a:defRPr lang="zh-CN"/>
            </a:defPPr>
            <a:lvl1pPr>
              <a:defRPr sz="1600">
                <a:solidFill>
                  <a:schemeClr val="accent1"/>
                </a:solidFill>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mn-lt"/>
                <a:ea typeface="+mn-ea"/>
                <a:cs typeface="+mn-ea"/>
                <a:sym typeface="+mn-lt"/>
              </a:rPr>
              <a:t>资源管理体系</a:t>
            </a:r>
          </a:p>
        </p:txBody>
      </p:sp>
      <p:sp>
        <p:nvSpPr>
          <p:cNvPr id="185" name="矩形 184"/>
          <p:cNvSpPr/>
          <p:nvPr/>
        </p:nvSpPr>
        <p:spPr>
          <a:xfrm>
            <a:off x="10266720" y="4224593"/>
            <a:ext cx="1327387"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86" name="文本框 185"/>
          <p:cNvSpPr txBox="1"/>
          <p:nvPr/>
        </p:nvSpPr>
        <p:spPr>
          <a:xfrm>
            <a:off x="10397272" y="4332604"/>
            <a:ext cx="1050131" cy="153888"/>
          </a:xfrm>
          <a:prstGeom prst="rect">
            <a:avLst/>
          </a:prstGeom>
          <a:noFill/>
        </p:spPr>
        <p:txBody>
          <a:bodyPr wrap="square" lIns="0" tIns="0" rIns="0" bIns="0">
            <a:spAutoFit/>
          </a:bodyPr>
          <a:lstStyle>
            <a:defPPr>
              <a:defRPr lang="zh-CN"/>
            </a:def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人力资源池</a:t>
            </a:r>
          </a:p>
        </p:txBody>
      </p:sp>
      <p:sp>
        <p:nvSpPr>
          <p:cNvPr id="188" name="矩形 187"/>
          <p:cNvSpPr/>
          <p:nvPr/>
        </p:nvSpPr>
        <p:spPr>
          <a:xfrm>
            <a:off x="10258641" y="4682566"/>
            <a:ext cx="1327387"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89" name="文本框 188"/>
          <p:cNvSpPr txBox="1"/>
          <p:nvPr/>
        </p:nvSpPr>
        <p:spPr>
          <a:xfrm>
            <a:off x="10601737" y="4790577"/>
            <a:ext cx="641201" cy="153888"/>
          </a:xfrm>
          <a:prstGeom prst="rect">
            <a:avLst/>
          </a:prstGeom>
          <a:noFill/>
        </p:spPr>
        <p:txBody>
          <a:bodyPr wrap="none" lIns="0" tIns="0" rIns="0" bIns="0">
            <a:spAutoFit/>
          </a:bodyPr>
          <a:lstStyle>
            <a:defPPr>
              <a:defRPr lang="zh-CN"/>
            </a:def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物资资源池</a:t>
            </a:r>
          </a:p>
        </p:txBody>
      </p:sp>
      <p:sp>
        <p:nvSpPr>
          <p:cNvPr id="191" name="矩形 190"/>
          <p:cNvSpPr/>
          <p:nvPr/>
        </p:nvSpPr>
        <p:spPr>
          <a:xfrm>
            <a:off x="10261334" y="5140539"/>
            <a:ext cx="1327387"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92" name="文本框 191"/>
          <p:cNvSpPr txBox="1"/>
          <p:nvPr/>
        </p:nvSpPr>
        <p:spPr>
          <a:xfrm>
            <a:off x="10604427" y="5248550"/>
            <a:ext cx="641201" cy="153888"/>
          </a:xfrm>
          <a:prstGeom prst="rect">
            <a:avLst/>
          </a:prstGeom>
          <a:noFill/>
        </p:spPr>
        <p:txBody>
          <a:bodyPr wrap="none" lIns="0" tIns="0" rIns="0" bIns="0">
            <a:spAutoFit/>
          </a:bodyPr>
          <a:lstStyle>
            <a:defPPr>
              <a:defRPr lang="zh-CN"/>
            </a:def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财务资源池</a:t>
            </a:r>
          </a:p>
        </p:txBody>
      </p:sp>
      <p:sp>
        <p:nvSpPr>
          <p:cNvPr id="194" name="矩形 193"/>
          <p:cNvSpPr/>
          <p:nvPr/>
        </p:nvSpPr>
        <p:spPr>
          <a:xfrm>
            <a:off x="10269414" y="5598512"/>
            <a:ext cx="1327387"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95" name="文本框 194"/>
          <p:cNvSpPr txBox="1"/>
          <p:nvPr/>
        </p:nvSpPr>
        <p:spPr>
          <a:xfrm>
            <a:off x="10601737" y="5706523"/>
            <a:ext cx="641201" cy="153888"/>
          </a:xfrm>
          <a:prstGeom prst="rect">
            <a:avLst/>
          </a:prstGeom>
          <a:noFill/>
        </p:spPr>
        <p:txBody>
          <a:bodyPr wrap="none" lIns="0" tIns="0" rIns="0" bIns="0">
            <a:spAutoFit/>
          </a:bodyPr>
          <a:lstStyle>
            <a:defPPr>
              <a:defRPr lang="zh-CN"/>
            </a:def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信息资源池</a:t>
            </a:r>
          </a:p>
        </p:txBody>
      </p:sp>
      <p:sp>
        <p:nvSpPr>
          <p:cNvPr id="203" name="矩形 202"/>
          <p:cNvSpPr/>
          <p:nvPr/>
        </p:nvSpPr>
        <p:spPr>
          <a:xfrm>
            <a:off x="10264027" y="6056485"/>
            <a:ext cx="1327387"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04" name="文本框 203"/>
          <p:cNvSpPr txBox="1"/>
          <p:nvPr/>
        </p:nvSpPr>
        <p:spPr>
          <a:xfrm>
            <a:off x="10601737" y="6164496"/>
            <a:ext cx="641201" cy="153888"/>
          </a:xfrm>
          <a:prstGeom prst="rect">
            <a:avLst/>
          </a:prstGeom>
          <a:noFill/>
        </p:spPr>
        <p:txBody>
          <a:bodyPr wrap="none" lIns="0" tIns="0" rIns="0" bIns="0">
            <a:spAutoFit/>
          </a:bodyPr>
          <a:lstStyle>
            <a:defPPr>
              <a:defRPr lang="zh-CN"/>
            </a:def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技术资源池</a:t>
            </a:r>
          </a:p>
        </p:txBody>
      </p:sp>
      <p:sp>
        <p:nvSpPr>
          <p:cNvPr id="216" name="矩形 215"/>
          <p:cNvSpPr/>
          <p:nvPr/>
        </p:nvSpPr>
        <p:spPr>
          <a:xfrm>
            <a:off x="558790" y="5562554"/>
            <a:ext cx="1346287"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17" name="文本框 216"/>
          <p:cNvSpPr txBox="1"/>
          <p:nvPr/>
        </p:nvSpPr>
        <p:spPr>
          <a:xfrm>
            <a:off x="975453" y="5670565"/>
            <a:ext cx="512961" cy="153888"/>
          </a:xfrm>
          <a:prstGeom prst="rect">
            <a:avLst/>
          </a:prstGeom>
          <a:noFill/>
        </p:spPr>
        <p:txBody>
          <a:bodyPr wrap="none" lIns="0" tIns="0" rIns="0" bIns="0">
            <a:spAutoFit/>
          </a:bodyPr>
          <a:lstStyle>
            <a:defPPr>
              <a:defRPr lang="zh-CN"/>
            </a:def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设备项目</a:t>
            </a:r>
          </a:p>
        </p:txBody>
      </p:sp>
      <p:sp>
        <p:nvSpPr>
          <p:cNvPr id="219" name="矩形 218"/>
          <p:cNvSpPr/>
          <p:nvPr/>
        </p:nvSpPr>
        <p:spPr>
          <a:xfrm>
            <a:off x="558790" y="6011753"/>
            <a:ext cx="1346287" cy="369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20" name="文本框 219"/>
          <p:cNvSpPr txBox="1"/>
          <p:nvPr/>
        </p:nvSpPr>
        <p:spPr>
          <a:xfrm>
            <a:off x="975453" y="6119764"/>
            <a:ext cx="512961" cy="153888"/>
          </a:xfrm>
          <a:prstGeom prst="rect">
            <a:avLst/>
          </a:prstGeom>
          <a:noFill/>
        </p:spPr>
        <p:txBody>
          <a:bodyPr wrap="none" lIns="0" tIns="0" rIns="0" bIns="0">
            <a:spAutoFit/>
          </a:bodyPr>
          <a:lstStyle>
            <a:defPPr>
              <a:defRPr lang="zh-CN"/>
            </a:def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系统项目</a:t>
            </a:r>
          </a:p>
        </p:txBody>
      </p:sp>
      <p:sp>
        <p:nvSpPr>
          <p:cNvPr id="227" name="图形 2169"/>
          <p:cNvSpPr/>
          <p:nvPr/>
        </p:nvSpPr>
        <p:spPr>
          <a:xfrm>
            <a:off x="3183158" y="4318259"/>
            <a:ext cx="434612" cy="301877"/>
          </a:xfrm>
          <a:custGeom>
            <a:avLst/>
            <a:gdLst>
              <a:gd name="connsiteX0" fmla="*/ 457927 w 541578"/>
              <a:gd name="connsiteY0" fmla="*/ 98063 h 376174"/>
              <a:gd name="connsiteX1" fmla="*/ 364890 w 541578"/>
              <a:gd name="connsiteY1" fmla="*/ 1950 h 376174"/>
              <a:gd name="connsiteX2" fmla="*/ 359026 w 541578"/>
              <a:gd name="connsiteY2" fmla="*/ 4310 h 376174"/>
              <a:gd name="connsiteX3" fmla="*/ 359026 w 541578"/>
              <a:gd name="connsiteY3" fmla="*/ 103104 h 376174"/>
              <a:gd name="connsiteX4" fmla="*/ 350588 w 541578"/>
              <a:gd name="connsiteY4" fmla="*/ 111542 h 376174"/>
              <a:gd name="connsiteX5" fmla="*/ 8474 w 541578"/>
              <a:gd name="connsiteY5" fmla="*/ 111542 h 376174"/>
              <a:gd name="connsiteX6" fmla="*/ 0 w 541578"/>
              <a:gd name="connsiteY6" fmla="*/ 120017 h 376174"/>
              <a:gd name="connsiteX7" fmla="*/ 0 w 541578"/>
              <a:gd name="connsiteY7" fmla="*/ 256176 h 376174"/>
              <a:gd name="connsiteX8" fmla="*/ 8474 w 541578"/>
              <a:gd name="connsiteY8" fmla="*/ 264614 h 376174"/>
              <a:gd name="connsiteX9" fmla="*/ 350588 w 541578"/>
              <a:gd name="connsiteY9" fmla="*/ 264614 h 376174"/>
              <a:gd name="connsiteX10" fmla="*/ 359026 w 541578"/>
              <a:gd name="connsiteY10" fmla="*/ 273052 h 376174"/>
              <a:gd name="connsiteX11" fmla="*/ 359026 w 541578"/>
              <a:gd name="connsiteY11" fmla="*/ 371846 h 376174"/>
              <a:gd name="connsiteX12" fmla="*/ 364890 w 541578"/>
              <a:gd name="connsiteY12" fmla="*/ 374242 h 376174"/>
              <a:gd name="connsiteX13" fmla="*/ 539165 w 541578"/>
              <a:gd name="connsiteY13" fmla="*/ 194175 h 376174"/>
              <a:gd name="connsiteX14" fmla="*/ 539165 w 541578"/>
              <a:gd name="connsiteY14" fmla="*/ 182018 h 376174"/>
              <a:gd name="connsiteX15" fmla="*/ 457927 w 541578"/>
              <a:gd name="connsiteY15" fmla="*/ 98063 h 376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1578" h="376174">
                <a:moveTo>
                  <a:pt x="457927" y="98063"/>
                </a:moveTo>
                <a:cubicBezTo>
                  <a:pt x="454709" y="94701"/>
                  <a:pt x="364890" y="1950"/>
                  <a:pt x="364890" y="1950"/>
                </a:cubicBezTo>
                <a:cubicBezTo>
                  <a:pt x="361672" y="-1411"/>
                  <a:pt x="359026" y="-302"/>
                  <a:pt x="359026" y="4310"/>
                </a:cubicBezTo>
                <a:lnTo>
                  <a:pt x="359026" y="103104"/>
                </a:lnTo>
                <a:cubicBezTo>
                  <a:pt x="359026" y="107752"/>
                  <a:pt x="355200" y="111542"/>
                  <a:pt x="350588" y="111542"/>
                </a:cubicBezTo>
                <a:lnTo>
                  <a:pt x="8474" y="111542"/>
                </a:lnTo>
                <a:cubicBezTo>
                  <a:pt x="3826" y="111542"/>
                  <a:pt x="0" y="115368"/>
                  <a:pt x="0" y="120017"/>
                </a:cubicBezTo>
                <a:lnTo>
                  <a:pt x="0" y="256176"/>
                </a:lnTo>
                <a:cubicBezTo>
                  <a:pt x="0" y="260824"/>
                  <a:pt x="3826" y="264614"/>
                  <a:pt x="8474" y="264614"/>
                </a:cubicBezTo>
                <a:lnTo>
                  <a:pt x="350588" y="264614"/>
                </a:lnTo>
                <a:cubicBezTo>
                  <a:pt x="355200" y="264614"/>
                  <a:pt x="359026" y="268440"/>
                  <a:pt x="359026" y="273052"/>
                </a:cubicBezTo>
                <a:lnTo>
                  <a:pt x="359026" y="371846"/>
                </a:lnTo>
                <a:cubicBezTo>
                  <a:pt x="359026" y="376494"/>
                  <a:pt x="361672" y="377567"/>
                  <a:pt x="364890" y="374242"/>
                </a:cubicBezTo>
                <a:lnTo>
                  <a:pt x="539165" y="194175"/>
                </a:lnTo>
                <a:cubicBezTo>
                  <a:pt x="542383" y="190814"/>
                  <a:pt x="542383" y="185343"/>
                  <a:pt x="539165" y="182018"/>
                </a:cubicBezTo>
                <a:lnTo>
                  <a:pt x="457927" y="98063"/>
                </a:lnTo>
                <a:close/>
              </a:path>
            </a:pathLst>
          </a:custGeom>
          <a:solidFill>
            <a:schemeClr val="accent4"/>
          </a:solid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28" name="图形 2169"/>
          <p:cNvSpPr/>
          <p:nvPr/>
        </p:nvSpPr>
        <p:spPr>
          <a:xfrm>
            <a:off x="4524117" y="4318259"/>
            <a:ext cx="434612" cy="301877"/>
          </a:xfrm>
          <a:custGeom>
            <a:avLst/>
            <a:gdLst>
              <a:gd name="connsiteX0" fmla="*/ 457927 w 541578"/>
              <a:gd name="connsiteY0" fmla="*/ 98063 h 376174"/>
              <a:gd name="connsiteX1" fmla="*/ 364890 w 541578"/>
              <a:gd name="connsiteY1" fmla="*/ 1950 h 376174"/>
              <a:gd name="connsiteX2" fmla="*/ 359026 w 541578"/>
              <a:gd name="connsiteY2" fmla="*/ 4310 h 376174"/>
              <a:gd name="connsiteX3" fmla="*/ 359026 w 541578"/>
              <a:gd name="connsiteY3" fmla="*/ 103104 h 376174"/>
              <a:gd name="connsiteX4" fmla="*/ 350588 w 541578"/>
              <a:gd name="connsiteY4" fmla="*/ 111542 h 376174"/>
              <a:gd name="connsiteX5" fmla="*/ 8474 w 541578"/>
              <a:gd name="connsiteY5" fmla="*/ 111542 h 376174"/>
              <a:gd name="connsiteX6" fmla="*/ 0 w 541578"/>
              <a:gd name="connsiteY6" fmla="*/ 120017 h 376174"/>
              <a:gd name="connsiteX7" fmla="*/ 0 w 541578"/>
              <a:gd name="connsiteY7" fmla="*/ 256176 h 376174"/>
              <a:gd name="connsiteX8" fmla="*/ 8474 w 541578"/>
              <a:gd name="connsiteY8" fmla="*/ 264614 h 376174"/>
              <a:gd name="connsiteX9" fmla="*/ 350588 w 541578"/>
              <a:gd name="connsiteY9" fmla="*/ 264614 h 376174"/>
              <a:gd name="connsiteX10" fmla="*/ 359026 w 541578"/>
              <a:gd name="connsiteY10" fmla="*/ 273052 h 376174"/>
              <a:gd name="connsiteX11" fmla="*/ 359026 w 541578"/>
              <a:gd name="connsiteY11" fmla="*/ 371846 h 376174"/>
              <a:gd name="connsiteX12" fmla="*/ 364890 w 541578"/>
              <a:gd name="connsiteY12" fmla="*/ 374242 h 376174"/>
              <a:gd name="connsiteX13" fmla="*/ 539165 w 541578"/>
              <a:gd name="connsiteY13" fmla="*/ 194175 h 376174"/>
              <a:gd name="connsiteX14" fmla="*/ 539165 w 541578"/>
              <a:gd name="connsiteY14" fmla="*/ 182018 h 376174"/>
              <a:gd name="connsiteX15" fmla="*/ 457927 w 541578"/>
              <a:gd name="connsiteY15" fmla="*/ 98063 h 376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1578" h="376174">
                <a:moveTo>
                  <a:pt x="457927" y="98063"/>
                </a:moveTo>
                <a:cubicBezTo>
                  <a:pt x="454709" y="94701"/>
                  <a:pt x="364890" y="1950"/>
                  <a:pt x="364890" y="1950"/>
                </a:cubicBezTo>
                <a:cubicBezTo>
                  <a:pt x="361672" y="-1411"/>
                  <a:pt x="359026" y="-302"/>
                  <a:pt x="359026" y="4310"/>
                </a:cubicBezTo>
                <a:lnTo>
                  <a:pt x="359026" y="103104"/>
                </a:lnTo>
                <a:cubicBezTo>
                  <a:pt x="359026" y="107752"/>
                  <a:pt x="355200" y="111542"/>
                  <a:pt x="350588" y="111542"/>
                </a:cubicBezTo>
                <a:lnTo>
                  <a:pt x="8474" y="111542"/>
                </a:lnTo>
                <a:cubicBezTo>
                  <a:pt x="3826" y="111542"/>
                  <a:pt x="0" y="115368"/>
                  <a:pt x="0" y="120017"/>
                </a:cubicBezTo>
                <a:lnTo>
                  <a:pt x="0" y="256176"/>
                </a:lnTo>
                <a:cubicBezTo>
                  <a:pt x="0" y="260824"/>
                  <a:pt x="3826" y="264614"/>
                  <a:pt x="8474" y="264614"/>
                </a:cubicBezTo>
                <a:lnTo>
                  <a:pt x="350588" y="264614"/>
                </a:lnTo>
                <a:cubicBezTo>
                  <a:pt x="355200" y="264614"/>
                  <a:pt x="359026" y="268440"/>
                  <a:pt x="359026" y="273052"/>
                </a:cubicBezTo>
                <a:lnTo>
                  <a:pt x="359026" y="371846"/>
                </a:lnTo>
                <a:cubicBezTo>
                  <a:pt x="359026" y="376494"/>
                  <a:pt x="361672" y="377567"/>
                  <a:pt x="364890" y="374242"/>
                </a:cubicBezTo>
                <a:lnTo>
                  <a:pt x="539165" y="194175"/>
                </a:lnTo>
                <a:cubicBezTo>
                  <a:pt x="542383" y="190814"/>
                  <a:pt x="542383" y="185343"/>
                  <a:pt x="539165" y="182018"/>
                </a:cubicBezTo>
                <a:lnTo>
                  <a:pt x="457927" y="98063"/>
                </a:lnTo>
                <a:close/>
              </a:path>
            </a:pathLst>
          </a:custGeom>
          <a:solidFill>
            <a:schemeClr val="accent4"/>
          </a:solid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29" name="图形 2169"/>
          <p:cNvSpPr/>
          <p:nvPr/>
        </p:nvSpPr>
        <p:spPr>
          <a:xfrm>
            <a:off x="5865076" y="4318259"/>
            <a:ext cx="434612" cy="301877"/>
          </a:xfrm>
          <a:custGeom>
            <a:avLst/>
            <a:gdLst>
              <a:gd name="connsiteX0" fmla="*/ 457927 w 541578"/>
              <a:gd name="connsiteY0" fmla="*/ 98063 h 376174"/>
              <a:gd name="connsiteX1" fmla="*/ 364890 w 541578"/>
              <a:gd name="connsiteY1" fmla="*/ 1950 h 376174"/>
              <a:gd name="connsiteX2" fmla="*/ 359026 w 541578"/>
              <a:gd name="connsiteY2" fmla="*/ 4310 h 376174"/>
              <a:gd name="connsiteX3" fmla="*/ 359026 w 541578"/>
              <a:gd name="connsiteY3" fmla="*/ 103104 h 376174"/>
              <a:gd name="connsiteX4" fmla="*/ 350588 w 541578"/>
              <a:gd name="connsiteY4" fmla="*/ 111542 h 376174"/>
              <a:gd name="connsiteX5" fmla="*/ 8474 w 541578"/>
              <a:gd name="connsiteY5" fmla="*/ 111542 h 376174"/>
              <a:gd name="connsiteX6" fmla="*/ 0 w 541578"/>
              <a:gd name="connsiteY6" fmla="*/ 120017 h 376174"/>
              <a:gd name="connsiteX7" fmla="*/ 0 w 541578"/>
              <a:gd name="connsiteY7" fmla="*/ 256176 h 376174"/>
              <a:gd name="connsiteX8" fmla="*/ 8474 w 541578"/>
              <a:gd name="connsiteY8" fmla="*/ 264614 h 376174"/>
              <a:gd name="connsiteX9" fmla="*/ 350588 w 541578"/>
              <a:gd name="connsiteY9" fmla="*/ 264614 h 376174"/>
              <a:gd name="connsiteX10" fmla="*/ 359026 w 541578"/>
              <a:gd name="connsiteY10" fmla="*/ 273052 h 376174"/>
              <a:gd name="connsiteX11" fmla="*/ 359026 w 541578"/>
              <a:gd name="connsiteY11" fmla="*/ 371846 h 376174"/>
              <a:gd name="connsiteX12" fmla="*/ 364890 w 541578"/>
              <a:gd name="connsiteY12" fmla="*/ 374242 h 376174"/>
              <a:gd name="connsiteX13" fmla="*/ 539165 w 541578"/>
              <a:gd name="connsiteY13" fmla="*/ 194175 h 376174"/>
              <a:gd name="connsiteX14" fmla="*/ 539165 w 541578"/>
              <a:gd name="connsiteY14" fmla="*/ 182018 h 376174"/>
              <a:gd name="connsiteX15" fmla="*/ 457927 w 541578"/>
              <a:gd name="connsiteY15" fmla="*/ 98063 h 376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1578" h="376174">
                <a:moveTo>
                  <a:pt x="457927" y="98063"/>
                </a:moveTo>
                <a:cubicBezTo>
                  <a:pt x="454709" y="94701"/>
                  <a:pt x="364890" y="1950"/>
                  <a:pt x="364890" y="1950"/>
                </a:cubicBezTo>
                <a:cubicBezTo>
                  <a:pt x="361672" y="-1411"/>
                  <a:pt x="359026" y="-302"/>
                  <a:pt x="359026" y="4310"/>
                </a:cubicBezTo>
                <a:lnTo>
                  <a:pt x="359026" y="103104"/>
                </a:lnTo>
                <a:cubicBezTo>
                  <a:pt x="359026" y="107752"/>
                  <a:pt x="355200" y="111542"/>
                  <a:pt x="350588" y="111542"/>
                </a:cubicBezTo>
                <a:lnTo>
                  <a:pt x="8474" y="111542"/>
                </a:lnTo>
                <a:cubicBezTo>
                  <a:pt x="3826" y="111542"/>
                  <a:pt x="0" y="115368"/>
                  <a:pt x="0" y="120017"/>
                </a:cubicBezTo>
                <a:lnTo>
                  <a:pt x="0" y="256176"/>
                </a:lnTo>
                <a:cubicBezTo>
                  <a:pt x="0" y="260824"/>
                  <a:pt x="3826" y="264614"/>
                  <a:pt x="8474" y="264614"/>
                </a:cubicBezTo>
                <a:lnTo>
                  <a:pt x="350588" y="264614"/>
                </a:lnTo>
                <a:cubicBezTo>
                  <a:pt x="355200" y="264614"/>
                  <a:pt x="359026" y="268440"/>
                  <a:pt x="359026" y="273052"/>
                </a:cubicBezTo>
                <a:lnTo>
                  <a:pt x="359026" y="371846"/>
                </a:lnTo>
                <a:cubicBezTo>
                  <a:pt x="359026" y="376494"/>
                  <a:pt x="361672" y="377567"/>
                  <a:pt x="364890" y="374242"/>
                </a:cubicBezTo>
                <a:lnTo>
                  <a:pt x="539165" y="194175"/>
                </a:lnTo>
                <a:cubicBezTo>
                  <a:pt x="542383" y="190814"/>
                  <a:pt x="542383" y="185343"/>
                  <a:pt x="539165" y="182018"/>
                </a:cubicBezTo>
                <a:lnTo>
                  <a:pt x="457927" y="98063"/>
                </a:lnTo>
                <a:close/>
              </a:path>
            </a:pathLst>
          </a:custGeom>
          <a:solidFill>
            <a:schemeClr val="accent4"/>
          </a:solid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30" name="图形 2169"/>
          <p:cNvSpPr/>
          <p:nvPr/>
        </p:nvSpPr>
        <p:spPr>
          <a:xfrm>
            <a:off x="7206035" y="4318258"/>
            <a:ext cx="434612" cy="301877"/>
          </a:xfrm>
          <a:custGeom>
            <a:avLst/>
            <a:gdLst>
              <a:gd name="connsiteX0" fmla="*/ 457927 w 541578"/>
              <a:gd name="connsiteY0" fmla="*/ 98063 h 376174"/>
              <a:gd name="connsiteX1" fmla="*/ 364890 w 541578"/>
              <a:gd name="connsiteY1" fmla="*/ 1950 h 376174"/>
              <a:gd name="connsiteX2" fmla="*/ 359026 w 541578"/>
              <a:gd name="connsiteY2" fmla="*/ 4310 h 376174"/>
              <a:gd name="connsiteX3" fmla="*/ 359026 w 541578"/>
              <a:gd name="connsiteY3" fmla="*/ 103104 h 376174"/>
              <a:gd name="connsiteX4" fmla="*/ 350588 w 541578"/>
              <a:gd name="connsiteY4" fmla="*/ 111542 h 376174"/>
              <a:gd name="connsiteX5" fmla="*/ 8474 w 541578"/>
              <a:gd name="connsiteY5" fmla="*/ 111542 h 376174"/>
              <a:gd name="connsiteX6" fmla="*/ 0 w 541578"/>
              <a:gd name="connsiteY6" fmla="*/ 120017 h 376174"/>
              <a:gd name="connsiteX7" fmla="*/ 0 w 541578"/>
              <a:gd name="connsiteY7" fmla="*/ 256176 h 376174"/>
              <a:gd name="connsiteX8" fmla="*/ 8474 w 541578"/>
              <a:gd name="connsiteY8" fmla="*/ 264614 h 376174"/>
              <a:gd name="connsiteX9" fmla="*/ 350588 w 541578"/>
              <a:gd name="connsiteY9" fmla="*/ 264614 h 376174"/>
              <a:gd name="connsiteX10" fmla="*/ 359026 w 541578"/>
              <a:gd name="connsiteY10" fmla="*/ 273052 h 376174"/>
              <a:gd name="connsiteX11" fmla="*/ 359026 w 541578"/>
              <a:gd name="connsiteY11" fmla="*/ 371846 h 376174"/>
              <a:gd name="connsiteX12" fmla="*/ 364890 w 541578"/>
              <a:gd name="connsiteY12" fmla="*/ 374242 h 376174"/>
              <a:gd name="connsiteX13" fmla="*/ 539165 w 541578"/>
              <a:gd name="connsiteY13" fmla="*/ 194175 h 376174"/>
              <a:gd name="connsiteX14" fmla="*/ 539165 w 541578"/>
              <a:gd name="connsiteY14" fmla="*/ 182018 h 376174"/>
              <a:gd name="connsiteX15" fmla="*/ 457927 w 541578"/>
              <a:gd name="connsiteY15" fmla="*/ 98063 h 376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1578" h="376174">
                <a:moveTo>
                  <a:pt x="457927" y="98063"/>
                </a:moveTo>
                <a:cubicBezTo>
                  <a:pt x="454709" y="94701"/>
                  <a:pt x="364890" y="1950"/>
                  <a:pt x="364890" y="1950"/>
                </a:cubicBezTo>
                <a:cubicBezTo>
                  <a:pt x="361672" y="-1411"/>
                  <a:pt x="359026" y="-302"/>
                  <a:pt x="359026" y="4310"/>
                </a:cubicBezTo>
                <a:lnTo>
                  <a:pt x="359026" y="103104"/>
                </a:lnTo>
                <a:cubicBezTo>
                  <a:pt x="359026" y="107752"/>
                  <a:pt x="355200" y="111542"/>
                  <a:pt x="350588" y="111542"/>
                </a:cubicBezTo>
                <a:lnTo>
                  <a:pt x="8474" y="111542"/>
                </a:lnTo>
                <a:cubicBezTo>
                  <a:pt x="3826" y="111542"/>
                  <a:pt x="0" y="115368"/>
                  <a:pt x="0" y="120017"/>
                </a:cubicBezTo>
                <a:lnTo>
                  <a:pt x="0" y="256176"/>
                </a:lnTo>
                <a:cubicBezTo>
                  <a:pt x="0" y="260824"/>
                  <a:pt x="3826" y="264614"/>
                  <a:pt x="8474" y="264614"/>
                </a:cubicBezTo>
                <a:lnTo>
                  <a:pt x="350588" y="264614"/>
                </a:lnTo>
                <a:cubicBezTo>
                  <a:pt x="355200" y="264614"/>
                  <a:pt x="359026" y="268440"/>
                  <a:pt x="359026" y="273052"/>
                </a:cubicBezTo>
                <a:lnTo>
                  <a:pt x="359026" y="371846"/>
                </a:lnTo>
                <a:cubicBezTo>
                  <a:pt x="359026" y="376494"/>
                  <a:pt x="361672" y="377567"/>
                  <a:pt x="364890" y="374242"/>
                </a:cubicBezTo>
                <a:lnTo>
                  <a:pt x="539165" y="194175"/>
                </a:lnTo>
                <a:cubicBezTo>
                  <a:pt x="542383" y="190814"/>
                  <a:pt x="542383" y="185343"/>
                  <a:pt x="539165" y="182018"/>
                </a:cubicBezTo>
                <a:lnTo>
                  <a:pt x="457927" y="98063"/>
                </a:lnTo>
                <a:close/>
              </a:path>
            </a:pathLst>
          </a:custGeom>
          <a:solidFill>
            <a:schemeClr val="accent4"/>
          </a:solid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31" name="图形 2169"/>
          <p:cNvSpPr/>
          <p:nvPr/>
        </p:nvSpPr>
        <p:spPr>
          <a:xfrm>
            <a:off x="8546994" y="4318258"/>
            <a:ext cx="434612" cy="301877"/>
          </a:xfrm>
          <a:custGeom>
            <a:avLst/>
            <a:gdLst>
              <a:gd name="connsiteX0" fmla="*/ 457927 w 541578"/>
              <a:gd name="connsiteY0" fmla="*/ 98063 h 376174"/>
              <a:gd name="connsiteX1" fmla="*/ 364890 w 541578"/>
              <a:gd name="connsiteY1" fmla="*/ 1950 h 376174"/>
              <a:gd name="connsiteX2" fmla="*/ 359026 w 541578"/>
              <a:gd name="connsiteY2" fmla="*/ 4310 h 376174"/>
              <a:gd name="connsiteX3" fmla="*/ 359026 w 541578"/>
              <a:gd name="connsiteY3" fmla="*/ 103104 h 376174"/>
              <a:gd name="connsiteX4" fmla="*/ 350588 w 541578"/>
              <a:gd name="connsiteY4" fmla="*/ 111542 h 376174"/>
              <a:gd name="connsiteX5" fmla="*/ 8474 w 541578"/>
              <a:gd name="connsiteY5" fmla="*/ 111542 h 376174"/>
              <a:gd name="connsiteX6" fmla="*/ 0 w 541578"/>
              <a:gd name="connsiteY6" fmla="*/ 120017 h 376174"/>
              <a:gd name="connsiteX7" fmla="*/ 0 w 541578"/>
              <a:gd name="connsiteY7" fmla="*/ 256176 h 376174"/>
              <a:gd name="connsiteX8" fmla="*/ 8474 w 541578"/>
              <a:gd name="connsiteY8" fmla="*/ 264614 h 376174"/>
              <a:gd name="connsiteX9" fmla="*/ 350588 w 541578"/>
              <a:gd name="connsiteY9" fmla="*/ 264614 h 376174"/>
              <a:gd name="connsiteX10" fmla="*/ 359026 w 541578"/>
              <a:gd name="connsiteY10" fmla="*/ 273052 h 376174"/>
              <a:gd name="connsiteX11" fmla="*/ 359026 w 541578"/>
              <a:gd name="connsiteY11" fmla="*/ 371846 h 376174"/>
              <a:gd name="connsiteX12" fmla="*/ 364890 w 541578"/>
              <a:gd name="connsiteY12" fmla="*/ 374242 h 376174"/>
              <a:gd name="connsiteX13" fmla="*/ 539165 w 541578"/>
              <a:gd name="connsiteY13" fmla="*/ 194175 h 376174"/>
              <a:gd name="connsiteX14" fmla="*/ 539165 w 541578"/>
              <a:gd name="connsiteY14" fmla="*/ 182018 h 376174"/>
              <a:gd name="connsiteX15" fmla="*/ 457927 w 541578"/>
              <a:gd name="connsiteY15" fmla="*/ 98063 h 376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1578" h="376174">
                <a:moveTo>
                  <a:pt x="457927" y="98063"/>
                </a:moveTo>
                <a:cubicBezTo>
                  <a:pt x="454709" y="94701"/>
                  <a:pt x="364890" y="1950"/>
                  <a:pt x="364890" y="1950"/>
                </a:cubicBezTo>
                <a:cubicBezTo>
                  <a:pt x="361672" y="-1411"/>
                  <a:pt x="359026" y="-302"/>
                  <a:pt x="359026" y="4310"/>
                </a:cubicBezTo>
                <a:lnTo>
                  <a:pt x="359026" y="103104"/>
                </a:lnTo>
                <a:cubicBezTo>
                  <a:pt x="359026" y="107752"/>
                  <a:pt x="355200" y="111542"/>
                  <a:pt x="350588" y="111542"/>
                </a:cubicBezTo>
                <a:lnTo>
                  <a:pt x="8474" y="111542"/>
                </a:lnTo>
                <a:cubicBezTo>
                  <a:pt x="3826" y="111542"/>
                  <a:pt x="0" y="115368"/>
                  <a:pt x="0" y="120017"/>
                </a:cubicBezTo>
                <a:lnTo>
                  <a:pt x="0" y="256176"/>
                </a:lnTo>
                <a:cubicBezTo>
                  <a:pt x="0" y="260824"/>
                  <a:pt x="3826" y="264614"/>
                  <a:pt x="8474" y="264614"/>
                </a:cubicBezTo>
                <a:lnTo>
                  <a:pt x="350588" y="264614"/>
                </a:lnTo>
                <a:cubicBezTo>
                  <a:pt x="355200" y="264614"/>
                  <a:pt x="359026" y="268440"/>
                  <a:pt x="359026" y="273052"/>
                </a:cubicBezTo>
                <a:lnTo>
                  <a:pt x="359026" y="371846"/>
                </a:lnTo>
                <a:cubicBezTo>
                  <a:pt x="359026" y="376494"/>
                  <a:pt x="361672" y="377567"/>
                  <a:pt x="364890" y="374242"/>
                </a:cubicBezTo>
                <a:lnTo>
                  <a:pt x="539165" y="194175"/>
                </a:lnTo>
                <a:cubicBezTo>
                  <a:pt x="542383" y="190814"/>
                  <a:pt x="542383" y="185343"/>
                  <a:pt x="539165" y="182018"/>
                </a:cubicBezTo>
                <a:lnTo>
                  <a:pt x="457927" y="98063"/>
                </a:lnTo>
                <a:close/>
              </a:path>
            </a:pathLst>
          </a:custGeom>
          <a:solidFill>
            <a:schemeClr val="accent4"/>
          </a:solid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grpSp>
        <p:nvGrpSpPr>
          <p:cNvPr id="250" name="组合 249"/>
          <p:cNvGrpSpPr/>
          <p:nvPr/>
        </p:nvGrpSpPr>
        <p:grpSpPr>
          <a:xfrm>
            <a:off x="2391391" y="1849482"/>
            <a:ext cx="7365674" cy="448782"/>
            <a:chOff x="2391391" y="1849482"/>
            <a:chExt cx="7365674" cy="448782"/>
          </a:xfrm>
        </p:grpSpPr>
        <p:sp>
          <p:nvSpPr>
            <p:cNvPr id="58" name="矩形 57"/>
            <p:cNvSpPr/>
            <p:nvPr/>
          </p:nvSpPr>
          <p:spPr>
            <a:xfrm>
              <a:off x="2391391" y="1849482"/>
              <a:ext cx="7365674" cy="44878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59" name="文本框 58"/>
            <p:cNvSpPr txBox="1"/>
            <p:nvPr/>
          </p:nvSpPr>
          <p:spPr>
            <a:xfrm>
              <a:off x="4754956" y="1950763"/>
              <a:ext cx="2638543" cy="276999"/>
            </a:xfrm>
            <a:prstGeom prst="rect">
              <a:avLst/>
            </a:prstGeom>
            <a:noFill/>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cs typeface="+mn-ea"/>
                  <a:sym typeface="+mn-lt"/>
                </a:rPr>
                <a:t>“</a:t>
              </a:r>
              <a:r>
                <a:rPr kumimoji="0" lang="zh-CN" altLang="en-US" sz="1800" b="0" i="0" u="none" strike="noStrike" kern="1200" cap="none" spc="0" normalizeH="0" baseline="0" noProof="0" dirty="0">
                  <a:ln>
                    <a:noFill/>
                  </a:ln>
                  <a:solidFill>
                    <a:prstClr val="white"/>
                  </a:solidFill>
                  <a:effectLst/>
                  <a:uLnTx/>
                  <a:uFillTx/>
                  <a:cs typeface="+mn-ea"/>
                  <a:sym typeface="+mn-lt"/>
                </a:rPr>
                <a:t>管理项目”的管理和控制</a:t>
              </a:r>
              <a:endParaRPr kumimoji="0" lang="en-US" altLang="zh-CN" sz="1800" b="0" i="0" u="none" strike="noStrike" kern="1200" cap="none" spc="0" normalizeH="0" baseline="0" noProof="0" dirty="0">
                <a:ln>
                  <a:noFill/>
                </a:ln>
                <a:solidFill>
                  <a:prstClr val="white"/>
                </a:solidFill>
                <a:effectLst/>
                <a:uLnTx/>
                <a:uFillTx/>
                <a:cs typeface="+mn-ea"/>
                <a:sym typeface="+mn-lt"/>
              </a:endParaRPr>
            </a:p>
          </p:txBody>
        </p:sp>
      </p:grpSp>
      <p:sp>
        <p:nvSpPr>
          <p:cNvPr id="238" name="图形 236"/>
          <p:cNvSpPr/>
          <p:nvPr/>
        </p:nvSpPr>
        <p:spPr>
          <a:xfrm>
            <a:off x="2445429" y="1078162"/>
            <a:ext cx="312392" cy="312392"/>
          </a:xfrm>
          <a:custGeom>
            <a:avLst/>
            <a:gdLst>
              <a:gd name="connsiteX0" fmla="*/ 1905000 w 1905000"/>
              <a:gd name="connsiteY0" fmla="*/ 1482700 h 1905000"/>
              <a:gd name="connsiteX1" fmla="*/ 1905000 w 1905000"/>
              <a:gd name="connsiteY1" fmla="*/ 1726406 h 1905000"/>
              <a:gd name="connsiteX2" fmla="*/ 1726406 w 1905000"/>
              <a:gd name="connsiteY2" fmla="*/ 1905000 h 1905000"/>
              <a:gd name="connsiteX3" fmla="*/ 1547813 w 1905000"/>
              <a:gd name="connsiteY3" fmla="*/ 1905000 h 1905000"/>
              <a:gd name="connsiteX4" fmla="*/ 1369219 w 1905000"/>
              <a:gd name="connsiteY4" fmla="*/ 1726406 h 1905000"/>
              <a:gd name="connsiteX5" fmla="*/ 1369219 w 1905000"/>
              <a:gd name="connsiteY5" fmla="*/ 1482700 h 1905000"/>
              <a:gd name="connsiteX6" fmla="*/ 1421495 w 1905000"/>
              <a:gd name="connsiteY6" fmla="*/ 1356382 h 1905000"/>
              <a:gd name="connsiteX7" fmla="*/ 1547813 w 1905000"/>
              <a:gd name="connsiteY7" fmla="*/ 1304107 h 1905000"/>
              <a:gd name="connsiteX8" fmla="*/ 1577578 w 1905000"/>
              <a:gd name="connsiteY8" fmla="*/ 1274341 h 1905000"/>
              <a:gd name="connsiteX9" fmla="*/ 1577578 w 1905000"/>
              <a:gd name="connsiteY9" fmla="*/ 1131094 h 1905000"/>
              <a:gd name="connsiteX10" fmla="*/ 1518047 w 1905000"/>
              <a:gd name="connsiteY10" fmla="*/ 1071563 h 1905000"/>
              <a:gd name="connsiteX11" fmla="*/ 1041797 w 1905000"/>
              <a:gd name="connsiteY11" fmla="*/ 1071563 h 1905000"/>
              <a:gd name="connsiteX12" fmla="*/ 1012031 w 1905000"/>
              <a:gd name="connsiteY12" fmla="*/ 1101328 h 1905000"/>
              <a:gd name="connsiteX13" fmla="*/ 1012031 w 1905000"/>
              <a:gd name="connsiteY13" fmla="*/ 1276201 h 1905000"/>
              <a:gd name="connsiteX14" fmla="*/ 1039937 w 1905000"/>
              <a:gd name="connsiteY14" fmla="*/ 1304107 h 1905000"/>
              <a:gd name="connsiteX15" fmla="*/ 1041797 w 1905000"/>
              <a:gd name="connsiteY15" fmla="*/ 1304107 h 1905000"/>
              <a:gd name="connsiteX16" fmla="*/ 1220391 w 1905000"/>
              <a:gd name="connsiteY16" fmla="*/ 1482700 h 1905000"/>
              <a:gd name="connsiteX17" fmla="*/ 1220391 w 1905000"/>
              <a:gd name="connsiteY17" fmla="*/ 1726406 h 1905000"/>
              <a:gd name="connsiteX18" fmla="*/ 1041797 w 1905000"/>
              <a:gd name="connsiteY18" fmla="*/ 1905000 h 1905000"/>
              <a:gd name="connsiteX19" fmla="*/ 863203 w 1905000"/>
              <a:gd name="connsiteY19" fmla="*/ 1905000 h 1905000"/>
              <a:gd name="connsiteX20" fmla="*/ 684609 w 1905000"/>
              <a:gd name="connsiteY20" fmla="*/ 1726406 h 1905000"/>
              <a:gd name="connsiteX21" fmla="*/ 684609 w 1905000"/>
              <a:gd name="connsiteY21" fmla="*/ 1482700 h 1905000"/>
              <a:gd name="connsiteX22" fmla="*/ 863203 w 1905000"/>
              <a:gd name="connsiteY22" fmla="*/ 1304107 h 1905000"/>
              <a:gd name="connsiteX23" fmla="*/ 865064 w 1905000"/>
              <a:gd name="connsiteY23" fmla="*/ 1304107 h 1905000"/>
              <a:gd name="connsiteX24" fmla="*/ 892969 w 1905000"/>
              <a:gd name="connsiteY24" fmla="*/ 1276201 h 1905000"/>
              <a:gd name="connsiteX25" fmla="*/ 892969 w 1905000"/>
              <a:gd name="connsiteY25" fmla="*/ 1101328 h 1905000"/>
              <a:gd name="connsiteX26" fmla="*/ 863203 w 1905000"/>
              <a:gd name="connsiteY26" fmla="*/ 1071563 h 1905000"/>
              <a:gd name="connsiteX27" fmla="*/ 386953 w 1905000"/>
              <a:gd name="connsiteY27" fmla="*/ 1071563 h 1905000"/>
              <a:gd name="connsiteX28" fmla="*/ 327422 w 1905000"/>
              <a:gd name="connsiteY28" fmla="*/ 1131094 h 1905000"/>
              <a:gd name="connsiteX29" fmla="*/ 327422 w 1905000"/>
              <a:gd name="connsiteY29" fmla="*/ 1274341 h 1905000"/>
              <a:gd name="connsiteX30" fmla="*/ 336166 w 1905000"/>
              <a:gd name="connsiteY30" fmla="*/ 1295363 h 1905000"/>
              <a:gd name="connsiteX31" fmla="*/ 357188 w 1905000"/>
              <a:gd name="connsiteY31" fmla="*/ 1304107 h 1905000"/>
              <a:gd name="connsiteX32" fmla="*/ 535781 w 1905000"/>
              <a:gd name="connsiteY32" fmla="*/ 1482700 h 1905000"/>
              <a:gd name="connsiteX33" fmla="*/ 535781 w 1905000"/>
              <a:gd name="connsiteY33" fmla="*/ 1726406 h 1905000"/>
              <a:gd name="connsiteX34" fmla="*/ 357188 w 1905000"/>
              <a:gd name="connsiteY34" fmla="*/ 1905000 h 1905000"/>
              <a:gd name="connsiteX35" fmla="*/ 178594 w 1905000"/>
              <a:gd name="connsiteY35" fmla="*/ 1905000 h 1905000"/>
              <a:gd name="connsiteX36" fmla="*/ 0 w 1905000"/>
              <a:gd name="connsiteY36" fmla="*/ 1726406 h 1905000"/>
              <a:gd name="connsiteX37" fmla="*/ 0 w 1905000"/>
              <a:gd name="connsiteY37" fmla="*/ 1482700 h 1905000"/>
              <a:gd name="connsiteX38" fmla="*/ 52276 w 1905000"/>
              <a:gd name="connsiteY38" fmla="*/ 1356382 h 1905000"/>
              <a:gd name="connsiteX39" fmla="*/ 178594 w 1905000"/>
              <a:gd name="connsiteY39" fmla="*/ 1304107 h 1905000"/>
              <a:gd name="connsiteX40" fmla="*/ 208359 w 1905000"/>
              <a:gd name="connsiteY40" fmla="*/ 1274341 h 1905000"/>
              <a:gd name="connsiteX41" fmla="*/ 208359 w 1905000"/>
              <a:gd name="connsiteY41" fmla="*/ 1131094 h 1905000"/>
              <a:gd name="connsiteX42" fmla="*/ 386953 w 1905000"/>
              <a:gd name="connsiteY42" fmla="*/ 952500 h 1905000"/>
              <a:gd name="connsiteX43" fmla="*/ 863203 w 1905000"/>
              <a:gd name="connsiteY43" fmla="*/ 952500 h 1905000"/>
              <a:gd name="connsiteX44" fmla="*/ 892969 w 1905000"/>
              <a:gd name="connsiteY44" fmla="*/ 922734 h 1905000"/>
              <a:gd name="connsiteX45" fmla="*/ 892969 w 1905000"/>
              <a:gd name="connsiteY45" fmla="*/ 744141 h 1905000"/>
              <a:gd name="connsiteX46" fmla="*/ 863203 w 1905000"/>
              <a:gd name="connsiteY46" fmla="*/ 714375 h 1905000"/>
              <a:gd name="connsiteX47" fmla="*/ 773906 w 1905000"/>
              <a:gd name="connsiteY47" fmla="*/ 714375 h 1905000"/>
              <a:gd name="connsiteX48" fmla="*/ 595313 w 1905000"/>
              <a:gd name="connsiteY48" fmla="*/ 535781 h 1905000"/>
              <a:gd name="connsiteX49" fmla="*/ 595313 w 1905000"/>
              <a:gd name="connsiteY49" fmla="*/ 178594 h 1905000"/>
              <a:gd name="connsiteX50" fmla="*/ 773906 w 1905000"/>
              <a:gd name="connsiteY50" fmla="*/ 0 h 1905000"/>
              <a:gd name="connsiteX51" fmla="*/ 1131094 w 1905000"/>
              <a:gd name="connsiteY51" fmla="*/ 0 h 1905000"/>
              <a:gd name="connsiteX52" fmla="*/ 1309688 w 1905000"/>
              <a:gd name="connsiteY52" fmla="*/ 178594 h 1905000"/>
              <a:gd name="connsiteX53" fmla="*/ 1309688 w 1905000"/>
              <a:gd name="connsiteY53" fmla="*/ 535781 h 1905000"/>
              <a:gd name="connsiteX54" fmla="*/ 1131094 w 1905000"/>
              <a:gd name="connsiteY54" fmla="*/ 714375 h 1905000"/>
              <a:gd name="connsiteX55" fmla="*/ 1041797 w 1905000"/>
              <a:gd name="connsiteY55" fmla="*/ 714375 h 1905000"/>
              <a:gd name="connsiteX56" fmla="*/ 1012031 w 1905000"/>
              <a:gd name="connsiteY56" fmla="*/ 744141 h 1905000"/>
              <a:gd name="connsiteX57" fmla="*/ 1012031 w 1905000"/>
              <a:gd name="connsiteY57" fmla="*/ 922734 h 1905000"/>
              <a:gd name="connsiteX58" fmla="*/ 1041797 w 1905000"/>
              <a:gd name="connsiteY58" fmla="*/ 952500 h 1905000"/>
              <a:gd name="connsiteX59" fmla="*/ 1518047 w 1905000"/>
              <a:gd name="connsiteY59" fmla="*/ 952500 h 1905000"/>
              <a:gd name="connsiteX60" fmla="*/ 1696641 w 1905000"/>
              <a:gd name="connsiteY60" fmla="*/ 1131094 h 1905000"/>
              <a:gd name="connsiteX61" fmla="*/ 1696641 w 1905000"/>
              <a:gd name="connsiteY61" fmla="*/ 1274341 h 1905000"/>
              <a:gd name="connsiteX62" fmla="*/ 1726406 w 1905000"/>
              <a:gd name="connsiteY62" fmla="*/ 1304107 h 1905000"/>
              <a:gd name="connsiteX63" fmla="*/ 1905000 w 1905000"/>
              <a:gd name="connsiteY63" fmla="*/ 1482700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1905000" h="1905000">
                <a:moveTo>
                  <a:pt x="1905000" y="1482700"/>
                </a:moveTo>
                <a:lnTo>
                  <a:pt x="1905000" y="1726406"/>
                </a:lnTo>
                <a:cubicBezTo>
                  <a:pt x="1905000" y="1825005"/>
                  <a:pt x="1825005" y="1905000"/>
                  <a:pt x="1726406" y="1905000"/>
                </a:cubicBezTo>
                <a:lnTo>
                  <a:pt x="1547813" y="1905000"/>
                </a:lnTo>
                <a:cubicBezTo>
                  <a:pt x="1449214" y="1905000"/>
                  <a:pt x="1369219" y="1825005"/>
                  <a:pt x="1369219" y="1726406"/>
                </a:cubicBezTo>
                <a:lnTo>
                  <a:pt x="1369219" y="1482700"/>
                </a:lnTo>
                <a:cubicBezTo>
                  <a:pt x="1369219" y="1433401"/>
                  <a:pt x="1389125" y="1388753"/>
                  <a:pt x="1421495" y="1356382"/>
                </a:cubicBezTo>
                <a:cubicBezTo>
                  <a:pt x="1453865" y="1324012"/>
                  <a:pt x="1498513" y="1304107"/>
                  <a:pt x="1547813" y="1304107"/>
                </a:cubicBezTo>
                <a:cubicBezTo>
                  <a:pt x="1564184" y="1304107"/>
                  <a:pt x="1577578" y="1290712"/>
                  <a:pt x="1577578" y="1274341"/>
                </a:cubicBezTo>
                <a:lnTo>
                  <a:pt x="1577578" y="1131094"/>
                </a:lnTo>
                <a:cubicBezTo>
                  <a:pt x="1577578" y="1098166"/>
                  <a:pt x="1550975" y="1071563"/>
                  <a:pt x="1518047" y="1071563"/>
                </a:cubicBezTo>
                <a:lnTo>
                  <a:pt x="1041797" y="1071563"/>
                </a:lnTo>
                <a:cubicBezTo>
                  <a:pt x="1025426" y="1071563"/>
                  <a:pt x="1012031" y="1084957"/>
                  <a:pt x="1012031" y="1101328"/>
                </a:cubicBezTo>
                <a:lnTo>
                  <a:pt x="1012031" y="1276201"/>
                </a:lnTo>
                <a:cubicBezTo>
                  <a:pt x="1012031" y="1291642"/>
                  <a:pt x="1024496" y="1304107"/>
                  <a:pt x="1039937" y="1304107"/>
                </a:cubicBezTo>
                <a:lnTo>
                  <a:pt x="1041797" y="1304107"/>
                </a:lnTo>
                <a:cubicBezTo>
                  <a:pt x="1140396" y="1304107"/>
                  <a:pt x="1220391" y="1384102"/>
                  <a:pt x="1220391" y="1482700"/>
                </a:cubicBezTo>
                <a:lnTo>
                  <a:pt x="1220391" y="1726406"/>
                </a:lnTo>
                <a:cubicBezTo>
                  <a:pt x="1220391" y="1825005"/>
                  <a:pt x="1140396" y="1905000"/>
                  <a:pt x="1041797" y="1905000"/>
                </a:cubicBezTo>
                <a:lnTo>
                  <a:pt x="863203" y="1905000"/>
                </a:lnTo>
                <a:cubicBezTo>
                  <a:pt x="764605" y="1905000"/>
                  <a:pt x="684609" y="1825005"/>
                  <a:pt x="684609" y="1726406"/>
                </a:cubicBezTo>
                <a:lnTo>
                  <a:pt x="684609" y="1482700"/>
                </a:lnTo>
                <a:cubicBezTo>
                  <a:pt x="684609" y="1384102"/>
                  <a:pt x="764605" y="1304107"/>
                  <a:pt x="863203" y="1304107"/>
                </a:cubicBezTo>
                <a:lnTo>
                  <a:pt x="865064" y="1304107"/>
                </a:lnTo>
                <a:cubicBezTo>
                  <a:pt x="880504" y="1304107"/>
                  <a:pt x="892969" y="1291642"/>
                  <a:pt x="892969" y="1276201"/>
                </a:cubicBezTo>
                <a:lnTo>
                  <a:pt x="892969" y="1101328"/>
                </a:lnTo>
                <a:cubicBezTo>
                  <a:pt x="892969" y="1084957"/>
                  <a:pt x="879574" y="1071563"/>
                  <a:pt x="863203" y="1071563"/>
                </a:cubicBezTo>
                <a:lnTo>
                  <a:pt x="386953" y="1071563"/>
                </a:lnTo>
                <a:cubicBezTo>
                  <a:pt x="354025" y="1071563"/>
                  <a:pt x="327422" y="1098166"/>
                  <a:pt x="327422" y="1131094"/>
                </a:cubicBezTo>
                <a:lnTo>
                  <a:pt x="327422" y="1274341"/>
                </a:lnTo>
                <a:cubicBezTo>
                  <a:pt x="327422" y="1282526"/>
                  <a:pt x="330771" y="1289968"/>
                  <a:pt x="336166" y="1295363"/>
                </a:cubicBezTo>
                <a:cubicBezTo>
                  <a:pt x="341561" y="1300758"/>
                  <a:pt x="349002" y="1304107"/>
                  <a:pt x="357188" y="1304107"/>
                </a:cubicBezTo>
                <a:cubicBezTo>
                  <a:pt x="455786" y="1304107"/>
                  <a:pt x="535781" y="1384102"/>
                  <a:pt x="535781" y="1482700"/>
                </a:cubicBezTo>
                <a:lnTo>
                  <a:pt x="535781" y="1726406"/>
                </a:lnTo>
                <a:cubicBezTo>
                  <a:pt x="535781" y="1825005"/>
                  <a:pt x="455786" y="1905000"/>
                  <a:pt x="357188" y="1905000"/>
                </a:cubicBezTo>
                <a:lnTo>
                  <a:pt x="178594" y="1905000"/>
                </a:lnTo>
                <a:cubicBezTo>
                  <a:pt x="79995" y="1905000"/>
                  <a:pt x="0" y="1825005"/>
                  <a:pt x="0" y="1726406"/>
                </a:cubicBezTo>
                <a:lnTo>
                  <a:pt x="0" y="1482700"/>
                </a:lnTo>
                <a:cubicBezTo>
                  <a:pt x="0" y="1433401"/>
                  <a:pt x="19906" y="1388753"/>
                  <a:pt x="52276" y="1356382"/>
                </a:cubicBezTo>
                <a:cubicBezTo>
                  <a:pt x="84646" y="1324012"/>
                  <a:pt x="129294" y="1304107"/>
                  <a:pt x="178594" y="1304107"/>
                </a:cubicBezTo>
                <a:cubicBezTo>
                  <a:pt x="194965" y="1304107"/>
                  <a:pt x="208359" y="1290712"/>
                  <a:pt x="208359" y="1274341"/>
                </a:cubicBezTo>
                <a:lnTo>
                  <a:pt x="208359" y="1131094"/>
                </a:lnTo>
                <a:cubicBezTo>
                  <a:pt x="208359" y="1032495"/>
                  <a:pt x="288355" y="952500"/>
                  <a:pt x="386953" y="952500"/>
                </a:cubicBezTo>
                <a:lnTo>
                  <a:pt x="863203" y="952500"/>
                </a:lnTo>
                <a:cubicBezTo>
                  <a:pt x="879574" y="952500"/>
                  <a:pt x="892969" y="939105"/>
                  <a:pt x="892969" y="922734"/>
                </a:cubicBezTo>
                <a:lnTo>
                  <a:pt x="892969" y="744141"/>
                </a:lnTo>
                <a:cubicBezTo>
                  <a:pt x="892969" y="727770"/>
                  <a:pt x="879574" y="714375"/>
                  <a:pt x="863203" y="714375"/>
                </a:cubicBezTo>
                <a:lnTo>
                  <a:pt x="773906" y="714375"/>
                </a:lnTo>
                <a:cubicBezTo>
                  <a:pt x="675308" y="714375"/>
                  <a:pt x="595313" y="634380"/>
                  <a:pt x="595313" y="535781"/>
                </a:cubicBezTo>
                <a:lnTo>
                  <a:pt x="595313" y="178594"/>
                </a:lnTo>
                <a:cubicBezTo>
                  <a:pt x="595313" y="79995"/>
                  <a:pt x="675308" y="0"/>
                  <a:pt x="773906" y="0"/>
                </a:cubicBezTo>
                <a:lnTo>
                  <a:pt x="1131094" y="0"/>
                </a:lnTo>
                <a:cubicBezTo>
                  <a:pt x="1229692" y="0"/>
                  <a:pt x="1309688" y="79995"/>
                  <a:pt x="1309688" y="178594"/>
                </a:cubicBezTo>
                <a:lnTo>
                  <a:pt x="1309688" y="535781"/>
                </a:lnTo>
                <a:cubicBezTo>
                  <a:pt x="1309688" y="634380"/>
                  <a:pt x="1229692" y="714375"/>
                  <a:pt x="1131094" y="714375"/>
                </a:cubicBezTo>
                <a:lnTo>
                  <a:pt x="1041797" y="714375"/>
                </a:lnTo>
                <a:cubicBezTo>
                  <a:pt x="1025426" y="714375"/>
                  <a:pt x="1012031" y="727770"/>
                  <a:pt x="1012031" y="744141"/>
                </a:cubicBezTo>
                <a:lnTo>
                  <a:pt x="1012031" y="922734"/>
                </a:lnTo>
                <a:cubicBezTo>
                  <a:pt x="1012031" y="939105"/>
                  <a:pt x="1025426" y="952500"/>
                  <a:pt x="1041797" y="952500"/>
                </a:cubicBezTo>
                <a:lnTo>
                  <a:pt x="1518047" y="952500"/>
                </a:lnTo>
                <a:cubicBezTo>
                  <a:pt x="1616646" y="952500"/>
                  <a:pt x="1696641" y="1032495"/>
                  <a:pt x="1696641" y="1131094"/>
                </a:cubicBezTo>
                <a:lnTo>
                  <a:pt x="1696641" y="1274341"/>
                </a:lnTo>
                <a:cubicBezTo>
                  <a:pt x="1696641" y="1290712"/>
                  <a:pt x="1710035" y="1304107"/>
                  <a:pt x="1726406" y="1304107"/>
                </a:cubicBezTo>
                <a:cubicBezTo>
                  <a:pt x="1825005" y="1304107"/>
                  <a:pt x="1905000" y="1384102"/>
                  <a:pt x="1905000" y="1482700"/>
                </a:cubicBezTo>
                <a:close/>
              </a:path>
            </a:pathLst>
          </a:custGeom>
          <a:solidFill>
            <a:schemeClr val="accent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49" name="图形 247"/>
          <p:cNvSpPr/>
          <p:nvPr/>
        </p:nvSpPr>
        <p:spPr>
          <a:xfrm>
            <a:off x="2704697" y="5799067"/>
            <a:ext cx="261428" cy="255614"/>
          </a:xfrm>
          <a:custGeom>
            <a:avLst/>
            <a:gdLst>
              <a:gd name="connsiteX0" fmla="*/ 710563 w 1643923"/>
              <a:gd name="connsiteY0" fmla="*/ 457666 h 1607363"/>
              <a:gd name="connsiteX1" fmla="*/ 844508 w 1643923"/>
              <a:gd name="connsiteY1" fmla="*/ 457666 h 1607363"/>
              <a:gd name="connsiteX2" fmla="*/ 844508 w 1643923"/>
              <a:gd name="connsiteY2" fmla="*/ 799971 h 1607363"/>
              <a:gd name="connsiteX3" fmla="*/ 1049147 w 1643923"/>
              <a:gd name="connsiteY3" fmla="*/ 799971 h 1607363"/>
              <a:gd name="connsiteX4" fmla="*/ 1049147 w 1643923"/>
              <a:gd name="connsiteY4" fmla="*/ 933916 h 1607363"/>
              <a:gd name="connsiteX5" fmla="*/ 710563 w 1643923"/>
              <a:gd name="connsiteY5" fmla="*/ 933916 h 1607363"/>
              <a:gd name="connsiteX6" fmla="*/ 710563 w 1643923"/>
              <a:gd name="connsiteY6" fmla="*/ 457666 h 1607363"/>
              <a:gd name="connsiteX7" fmla="*/ 1643924 w 1643923"/>
              <a:gd name="connsiteY7" fmla="*/ 268986 h 1607363"/>
              <a:gd name="connsiteX8" fmla="*/ 1529285 w 1643923"/>
              <a:gd name="connsiteY8" fmla="*/ 626099 h 1607363"/>
              <a:gd name="connsiteX9" fmla="*/ 1138984 w 1643923"/>
              <a:gd name="connsiteY9" fmla="*/ 488031 h 1607363"/>
              <a:gd name="connsiteX10" fmla="*/ 1183524 w 1643923"/>
              <a:gd name="connsiteY10" fmla="*/ 362085 h 1607363"/>
              <a:gd name="connsiteX11" fmla="*/ 1354535 w 1643923"/>
              <a:gd name="connsiteY11" fmla="*/ 422584 h 1607363"/>
              <a:gd name="connsiteX12" fmla="*/ 803581 w 1643923"/>
              <a:gd name="connsiteY12" fmla="*/ 133965 h 1607363"/>
              <a:gd name="connsiteX13" fmla="*/ 133854 w 1643923"/>
              <a:gd name="connsiteY13" fmla="*/ 803692 h 1607363"/>
              <a:gd name="connsiteX14" fmla="*/ 803581 w 1643923"/>
              <a:gd name="connsiteY14" fmla="*/ 1473418 h 1607363"/>
              <a:gd name="connsiteX15" fmla="*/ 1473307 w 1643923"/>
              <a:gd name="connsiteY15" fmla="*/ 803692 h 1607363"/>
              <a:gd name="connsiteX16" fmla="*/ 1607253 w 1643923"/>
              <a:gd name="connsiteY16" fmla="*/ 803692 h 1607363"/>
              <a:gd name="connsiteX17" fmla="*/ 803580 w 1643923"/>
              <a:gd name="connsiteY17" fmla="*/ 1607363 h 1607363"/>
              <a:gd name="connsiteX18" fmla="*/ 235299 w 1643923"/>
              <a:gd name="connsiteY18" fmla="*/ 1371974 h 1607363"/>
              <a:gd name="connsiteX19" fmla="*/ 235520 w 1643923"/>
              <a:gd name="connsiteY19" fmla="*/ 235315 h 1607363"/>
              <a:gd name="connsiteX20" fmla="*/ 1230866 w 1643923"/>
              <a:gd name="connsiteY20" fmla="*/ 122904 h 1607363"/>
              <a:gd name="connsiteX21" fmla="*/ 1474174 w 1643923"/>
              <a:gd name="connsiteY21" fmla="*/ 360791 h 1607363"/>
              <a:gd name="connsiteX22" fmla="*/ 1516750 w 1643923"/>
              <a:gd name="connsiteY22" fmla="*/ 228147 h 1607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3923" h="1607363">
                <a:moveTo>
                  <a:pt x="710563" y="457666"/>
                </a:moveTo>
                <a:lnTo>
                  <a:pt x="844508" y="457666"/>
                </a:lnTo>
                <a:lnTo>
                  <a:pt x="844508" y="799971"/>
                </a:lnTo>
                <a:lnTo>
                  <a:pt x="1049147" y="799971"/>
                </a:lnTo>
                <a:lnTo>
                  <a:pt x="1049147" y="933916"/>
                </a:lnTo>
                <a:lnTo>
                  <a:pt x="710563" y="933916"/>
                </a:lnTo>
                <a:lnTo>
                  <a:pt x="710563" y="457666"/>
                </a:lnTo>
                <a:close/>
                <a:moveTo>
                  <a:pt x="1643924" y="268986"/>
                </a:moveTo>
                <a:lnTo>
                  <a:pt x="1529285" y="626099"/>
                </a:lnTo>
                <a:lnTo>
                  <a:pt x="1138984" y="488031"/>
                </a:lnTo>
                <a:lnTo>
                  <a:pt x="1183524" y="362085"/>
                </a:lnTo>
                <a:lnTo>
                  <a:pt x="1354535" y="422584"/>
                </a:lnTo>
                <a:cubicBezTo>
                  <a:pt x="1229812" y="241299"/>
                  <a:pt x="1023625" y="133287"/>
                  <a:pt x="803581" y="133965"/>
                </a:cubicBezTo>
                <a:cubicBezTo>
                  <a:pt x="434294" y="133965"/>
                  <a:pt x="133854" y="434405"/>
                  <a:pt x="133854" y="803692"/>
                </a:cubicBezTo>
                <a:cubicBezTo>
                  <a:pt x="133854" y="1172979"/>
                  <a:pt x="434294" y="1473418"/>
                  <a:pt x="803581" y="1473418"/>
                </a:cubicBezTo>
                <a:cubicBezTo>
                  <a:pt x="1172868" y="1473418"/>
                  <a:pt x="1473307" y="1172979"/>
                  <a:pt x="1473307" y="803692"/>
                </a:cubicBezTo>
                <a:lnTo>
                  <a:pt x="1607253" y="803692"/>
                </a:lnTo>
                <a:cubicBezTo>
                  <a:pt x="1607252" y="1247548"/>
                  <a:pt x="1247436" y="1607364"/>
                  <a:pt x="803580" y="1607363"/>
                </a:cubicBezTo>
                <a:cubicBezTo>
                  <a:pt x="590434" y="1607363"/>
                  <a:pt x="386017" y="1522691"/>
                  <a:pt x="235299" y="1371974"/>
                </a:cubicBezTo>
                <a:cubicBezTo>
                  <a:pt x="-78519" y="1058033"/>
                  <a:pt x="-78420" y="549134"/>
                  <a:pt x="235520" y="235315"/>
                </a:cubicBezTo>
                <a:cubicBezTo>
                  <a:pt x="500534" y="-29596"/>
                  <a:pt x="913445" y="-76229"/>
                  <a:pt x="1230866" y="122904"/>
                </a:cubicBezTo>
                <a:cubicBezTo>
                  <a:pt x="1327965" y="183992"/>
                  <a:pt x="1410914" y="265093"/>
                  <a:pt x="1474174" y="360791"/>
                </a:cubicBezTo>
                <a:lnTo>
                  <a:pt x="1516750" y="228147"/>
                </a:lnTo>
                <a:close/>
              </a:path>
            </a:pathLst>
          </a:custGeom>
          <a:solidFill>
            <a:schemeClr val="accent2"/>
          </a:solidFill>
          <a:ln w="1488" cap="flat">
            <a:solidFill>
              <a:schemeClr val="accent2"/>
            </a:solidFill>
            <a:prstDash val="solid"/>
            <a:miter/>
          </a:ln>
          <a:effectLst/>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a:ln>
                <a:noFill/>
              </a:ln>
              <a:solidFill>
                <a:prstClr val="black"/>
              </a:solidFill>
              <a:effectLst/>
              <a:uLnTx/>
              <a:uFillTx/>
              <a:cs typeface="+mn-ea"/>
              <a:sym typeface="+mn-lt"/>
            </a:endParaRPr>
          </a:p>
        </p:txBody>
      </p:sp>
      <p:grpSp>
        <p:nvGrpSpPr>
          <p:cNvPr id="256" name="组合 255"/>
          <p:cNvGrpSpPr/>
          <p:nvPr/>
        </p:nvGrpSpPr>
        <p:grpSpPr>
          <a:xfrm>
            <a:off x="3637572" y="5803201"/>
            <a:ext cx="251497" cy="251468"/>
            <a:chOff x="4099505" y="5800110"/>
            <a:chExt cx="227375" cy="227346"/>
          </a:xfrm>
          <a:solidFill>
            <a:schemeClr val="accent2"/>
          </a:solidFill>
        </p:grpSpPr>
        <p:sp>
          <p:nvSpPr>
            <p:cNvPr id="254" name="任意多边形: 形状 253"/>
            <p:cNvSpPr/>
            <p:nvPr/>
          </p:nvSpPr>
          <p:spPr>
            <a:xfrm>
              <a:off x="4179442" y="5862607"/>
              <a:ext cx="68753" cy="101023"/>
            </a:xfrm>
            <a:custGeom>
              <a:avLst/>
              <a:gdLst>
                <a:gd name="connsiteX0" fmla="*/ 70144 w 85940"/>
                <a:gd name="connsiteY0" fmla="*/ 0 h 126278"/>
                <a:gd name="connsiteX1" fmla="*/ 42954 w 85940"/>
                <a:gd name="connsiteY1" fmla="*/ 27190 h 126278"/>
                <a:gd name="connsiteX2" fmla="*/ 15797 w 85940"/>
                <a:gd name="connsiteY2" fmla="*/ 0 h 126278"/>
                <a:gd name="connsiteX3" fmla="*/ 0 w 85940"/>
                <a:gd name="connsiteY3" fmla="*/ 15797 h 126278"/>
                <a:gd name="connsiteX4" fmla="*/ 29870 w 85940"/>
                <a:gd name="connsiteY4" fmla="*/ 45699 h 126278"/>
                <a:gd name="connsiteX5" fmla="*/ 10531 w 85940"/>
                <a:gd name="connsiteY5" fmla="*/ 45699 h 126278"/>
                <a:gd name="connsiteX6" fmla="*/ 10531 w 85940"/>
                <a:gd name="connsiteY6" fmla="*/ 68038 h 126278"/>
                <a:gd name="connsiteX7" fmla="*/ 31785 w 85940"/>
                <a:gd name="connsiteY7" fmla="*/ 68038 h 126278"/>
                <a:gd name="connsiteX8" fmla="*/ 31785 w 85940"/>
                <a:gd name="connsiteY8" fmla="*/ 80771 h 126278"/>
                <a:gd name="connsiteX9" fmla="*/ 10531 w 85940"/>
                <a:gd name="connsiteY9" fmla="*/ 80771 h 126278"/>
                <a:gd name="connsiteX10" fmla="*/ 10531 w 85940"/>
                <a:gd name="connsiteY10" fmla="*/ 103110 h 126278"/>
                <a:gd name="connsiteX11" fmla="*/ 31785 w 85940"/>
                <a:gd name="connsiteY11" fmla="*/ 103110 h 126278"/>
                <a:gd name="connsiteX12" fmla="*/ 31785 w 85940"/>
                <a:gd name="connsiteY12" fmla="*/ 126278 h 126278"/>
                <a:gd name="connsiteX13" fmla="*/ 54124 w 85940"/>
                <a:gd name="connsiteY13" fmla="*/ 126278 h 126278"/>
                <a:gd name="connsiteX14" fmla="*/ 54124 w 85940"/>
                <a:gd name="connsiteY14" fmla="*/ 103110 h 126278"/>
                <a:gd name="connsiteX15" fmla="*/ 75378 w 85940"/>
                <a:gd name="connsiteY15" fmla="*/ 103110 h 126278"/>
                <a:gd name="connsiteX16" fmla="*/ 75378 w 85940"/>
                <a:gd name="connsiteY16" fmla="*/ 80771 h 126278"/>
                <a:gd name="connsiteX17" fmla="*/ 54124 w 85940"/>
                <a:gd name="connsiteY17" fmla="*/ 80771 h 126278"/>
                <a:gd name="connsiteX18" fmla="*/ 54124 w 85940"/>
                <a:gd name="connsiteY18" fmla="*/ 68038 h 126278"/>
                <a:gd name="connsiteX19" fmla="*/ 75378 w 85940"/>
                <a:gd name="connsiteY19" fmla="*/ 68038 h 126278"/>
                <a:gd name="connsiteX20" fmla="*/ 75378 w 85940"/>
                <a:gd name="connsiteY20" fmla="*/ 45699 h 126278"/>
                <a:gd name="connsiteX21" fmla="*/ 56039 w 85940"/>
                <a:gd name="connsiteY21" fmla="*/ 45699 h 126278"/>
                <a:gd name="connsiteX22" fmla="*/ 85941 w 85940"/>
                <a:gd name="connsiteY22" fmla="*/ 15797 h 126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5940" h="126278">
                  <a:moveTo>
                    <a:pt x="70144" y="0"/>
                  </a:moveTo>
                  <a:lnTo>
                    <a:pt x="42954" y="27190"/>
                  </a:lnTo>
                  <a:lnTo>
                    <a:pt x="15797" y="0"/>
                  </a:lnTo>
                  <a:lnTo>
                    <a:pt x="0" y="15797"/>
                  </a:lnTo>
                  <a:lnTo>
                    <a:pt x="29870" y="45699"/>
                  </a:lnTo>
                  <a:lnTo>
                    <a:pt x="10531" y="45699"/>
                  </a:lnTo>
                  <a:lnTo>
                    <a:pt x="10531" y="68038"/>
                  </a:lnTo>
                  <a:lnTo>
                    <a:pt x="31785" y="68038"/>
                  </a:lnTo>
                  <a:lnTo>
                    <a:pt x="31785" y="80771"/>
                  </a:lnTo>
                  <a:lnTo>
                    <a:pt x="10531" y="80771"/>
                  </a:lnTo>
                  <a:lnTo>
                    <a:pt x="10531" y="103110"/>
                  </a:lnTo>
                  <a:lnTo>
                    <a:pt x="31785" y="103110"/>
                  </a:lnTo>
                  <a:lnTo>
                    <a:pt x="31785" y="126278"/>
                  </a:lnTo>
                  <a:lnTo>
                    <a:pt x="54124" y="126278"/>
                  </a:lnTo>
                  <a:lnTo>
                    <a:pt x="54124" y="103110"/>
                  </a:lnTo>
                  <a:lnTo>
                    <a:pt x="75378" y="103110"/>
                  </a:lnTo>
                  <a:lnTo>
                    <a:pt x="75378" y="80771"/>
                  </a:lnTo>
                  <a:lnTo>
                    <a:pt x="54124" y="80771"/>
                  </a:lnTo>
                  <a:lnTo>
                    <a:pt x="54124" y="68038"/>
                  </a:lnTo>
                  <a:lnTo>
                    <a:pt x="75378" y="68038"/>
                  </a:lnTo>
                  <a:lnTo>
                    <a:pt x="75378" y="45699"/>
                  </a:lnTo>
                  <a:lnTo>
                    <a:pt x="56039" y="45699"/>
                  </a:lnTo>
                  <a:lnTo>
                    <a:pt x="85941" y="15797"/>
                  </a:lnTo>
                  <a:close/>
                </a:path>
              </a:pathLst>
            </a:custGeom>
            <a:grpFill/>
            <a:ln w="253" cap="flat">
              <a:solidFill>
                <a:schemeClr val="accent2"/>
              </a:solidFill>
              <a:prstDash val="solid"/>
              <a:miter/>
            </a:ln>
            <a:effectLst/>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a:ln>
                  <a:noFill/>
                </a:ln>
                <a:solidFill>
                  <a:prstClr val="black"/>
                </a:solidFill>
                <a:effectLst/>
                <a:uLnTx/>
                <a:uFillTx/>
                <a:cs typeface="+mn-ea"/>
                <a:sym typeface="+mn-lt"/>
              </a:endParaRPr>
            </a:p>
          </p:txBody>
        </p:sp>
        <p:sp>
          <p:nvSpPr>
            <p:cNvPr id="255" name="任意多边形: 形状 254"/>
            <p:cNvSpPr/>
            <p:nvPr/>
          </p:nvSpPr>
          <p:spPr>
            <a:xfrm>
              <a:off x="4099505" y="5800110"/>
              <a:ext cx="227375" cy="227346"/>
            </a:xfrm>
            <a:custGeom>
              <a:avLst/>
              <a:gdLst>
                <a:gd name="connsiteX0" fmla="*/ 273076 w 284213"/>
                <a:gd name="connsiteY0" fmla="*/ 86770 h 284181"/>
                <a:gd name="connsiteX1" fmla="*/ 261013 w 284213"/>
                <a:gd name="connsiteY1" fmla="*/ 64176 h 284181"/>
                <a:gd name="connsiteX2" fmla="*/ 243717 w 284213"/>
                <a:gd name="connsiteY2" fmla="*/ 62389 h 284181"/>
                <a:gd name="connsiteX3" fmla="*/ 242280 w 284213"/>
                <a:gd name="connsiteY3" fmla="*/ 76463 h 284181"/>
                <a:gd name="connsiteX4" fmla="*/ 261907 w 284213"/>
                <a:gd name="connsiteY4" fmla="*/ 142937 h 284181"/>
                <a:gd name="connsiteX5" fmla="*/ 141277 w 284213"/>
                <a:gd name="connsiteY5" fmla="*/ 261843 h 284181"/>
                <a:gd name="connsiteX6" fmla="*/ 22339 w 284213"/>
                <a:gd name="connsiteY6" fmla="*/ 143032 h 284181"/>
                <a:gd name="connsiteX7" fmla="*/ 141245 w 284213"/>
                <a:gd name="connsiteY7" fmla="*/ 22307 h 284181"/>
                <a:gd name="connsiteX8" fmla="*/ 205262 w 284213"/>
                <a:gd name="connsiteY8" fmla="*/ 40338 h 284181"/>
                <a:gd name="connsiteX9" fmla="*/ 219112 w 284213"/>
                <a:gd name="connsiteY9" fmla="*/ 38774 h 284181"/>
                <a:gd name="connsiteX10" fmla="*/ 217133 w 284213"/>
                <a:gd name="connsiteY10" fmla="*/ 21381 h 284181"/>
                <a:gd name="connsiteX11" fmla="*/ 197443 w 284213"/>
                <a:gd name="connsiteY11" fmla="*/ 11169 h 284181"/>
                <a:gd name="connsiteX12" fmla="*/ 142107 w 284213"/>
                <a:gd name="connsiteY12" fmla="*/ 0 h 284181"/>
                <a:gd name="connsiteX13" fmla="*/ 86770 w 284213"/>
                <a:gd name="connsiteY13" fmla="*/ 11169 h 284181"/>
                <a:gd name="connsiteX14" fmla="*/ 41614 w 284213"/>
                <a:gd name="connsiteY14" fmla="*/ 41614 h 284181"/>
                <a:gd name="connsiteX15" fmla="*/ 11169 w 284213"/>
                <a:gd name="connsiteY15" fmla="*/ 86770 h 284181"/>
                <a:gd name="connsiteX16" fmla="*/ 0 w 284213"/>
                <a:gd name="connsiteY16" fmla="*/ 142107 h 284181"/>
                <a:gd name="connsiteX17" fmla="*/ 11169 w 284213"/>
                <a:gd name="connsiteY17" fmla="*/ 197411 h 284181"/>
                <a:gd name="connsiteX18" fmla="*/ 41614 w 284213"/>
                <a:gd name="connsiteY18" fmla="*/ 242568 h 284181"/>
                <a:gd name="connsiteX19" fmla="*/ 86770 w 284213"/>
                <a:gd name="connsiteY19" fmla="*/ 273012 h 284181"/>
                <a:gd name="connsiteX20" fmla="*/ 142107 w 284213"/>
                <a:gd name="connsiteY20" fmla="*/ 284182 h 284181"/>
                <a:gd name="connsiteX21" fmla="*/ 197443 w 284213"/>
                <a:gd name="connsiteY21" fmla="*/ 273012 h 284181"/>
                <a:gd name="connsiteX22" fmla="*/ 242600 w 284213"/>
                <a:gd name="connsiteY22" fmla="*/ 242568 h 284181"/>
                <a:gd name="connsiteX23" fmla="*/ 273044 w 284213"/>
                <a:gd name="connsiteY23" fmla="*/ 197411 h 284181"/>
                <a:gd name="connsiteX24" fmla="*/ 284214 w 284213"/>
                <a:gd name="connsiteY24" fmla="*/ 142107 h 284181"/>
                <a:gd name="connsiteX25" fmla="*/ 273076 w 284213"/>
                <a:gd name="connsiteY25" fmla="*/ 86770 h 284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4213" h="284181">
                  <a:moveTo>
                    <a:pt x="273076" y="86770"/>
                  </a:moveTo>
                  <a:cubicBezTo>
                    <a:pt x="269725" y="78856"/>
                    <a:pt x="265704" y="71293"/>
                    <a:pt x="261013" y="64176"/>
                  </a:cubicBezTo>
                  <a:cubicBezTo>
                    <a:pt x="257120" y="58240"/>
                    <a:pt x="248759" y="57379"/>
                    <a:pt x="243717" y="62389"/>
                  </a:cubicBezTo>
                  <a:cubicBezTo>
                    <a:pt x="239951" y="66155"/>
                    <a:pt x="239376" y="72027"/>
                    <a:pt x="242280" y="76463"/>
                  </a:cubicBezTo>
                  <a:cubicBezTo>
                    <a:pt x="254822" y="95546"/>
                    <a:pt x="262066" y="118396"/>
                    <a:pt x="261907" y="142937"/>
                  </a:cubicBezTo>
                  <a:cubicBezTo>
                    <a:pt x="261428" y="208932"/>
                    <a:pt x="207272" y="262322"/>
                    <a:pt x="141277" y="261843"/>
                  </a:cubicBezTo>
                  <a:cubicBezTo>
                    <a:pt x="75952" y="261396"/>
                    <a:pt x="22849" y="208357"/>
                    <a:pt x="22339" y="143032"/>
                  </a:cubicBezTo>
                  <a:cubicBezTo>
                    <a:pt x="21860" y="77037"/>
                    <a:pt x="75282" y="22786"/>
                    <a:pt x="141245" y="22307"/>
                  </a:cubicBezTo>
                  <a:cubicBezTo>
                    <a:pt x="164733" y="22147"/>
                    <a:pt x="186689" y="28753"/>
                    <a:pt x="205262" y="40338"/>
                  </a:cubicBezTo>
                  <a:cubicBezTo>
                    <a:pt x="209698" y="43082"/>
                    <a:pt x="215410" y="42444"/>
                    <a:pt x="219112" y="38774"/>
                  </a:cubicBezTo>
                  <a:cubicBezTo>
                    <a:pt x="224186" y="33700"/>
                    <a:pt x="223261" y="25179"/>
                    <a:pt x="217133" y="21381"/>
                  </a:cubicBezTo>
                  <a:cubicBezTo>
                    <a:pt x="210878" y="17488"/>
                    <a:pt x="204304" y="14073"/>
                    <a:pt x="197443" y="11169"/>
                  </a:cubicBezTo>
                  <a:cubicBezTo>
                    <a:pt x="179923" y="3766"/>
                    <a:pt x="161318" y="0"/>
                    <a:pt x="142107" y="0"/>
                  </a:cubicBezTo>
                  <a:cubicBezTo>
                    <a:pt x="122927" y="0"/>
                    <a:pt x="104322" y="3766"/>
                    <a:pt x="86770" y="11169"/>
                  </a:cubicBezTo>
                  <a:cubicBezTo>
                    <a:pt x="69857" y="18318"/>
                    <a:pt x="54634" y="28562"/>
                    <a:pt x="41614" y="41614"/>
                  </a:cubicBezTo>
                  <a:cubicBezTo>
                    <a:pt x="28562" y="54666"/>
                    <a:pt x="18318" y="69857"/>
                    <a:pt x="11169" y="86770"/>
                  </a:cubicBezTo>
                  <a:cubicBezTo>
                    <a:pt x="3766" y="104290"/>
                    <a:pt x="0" y="122895"/>
                    <a:pt x="0" y="142107"/>
                  </a:cubicBezTo>
                  <a:cubicBezTo>
                    <a:pt x="0" y="161318"/>
                    <a:pt x="3766" y="179891"/>
                    <a:pt x="11169" y="197411"/>
                  </a:cubicBezTo>
                  <a:cubicBezTo>
                    <a:pt x="18318" y="214325"/>
                    <a:pt x="28562" y="229547"/>
                    <a:pt x="41614" y="242568"/>
                  </a:cubicBezTo>
                  <a:cubicBezTo>
                    <a:pt x="54666" y="255620"/>
                    <a:pt x="69857" y="265864"/>
                    <a:pt x="86770" y="273012"/>
                  </a:cubicBezTo>
                  <a:cubicBezTo>
                    <a:pt x="104290" y="280416"/>
                    <a:pt x="122895" y="284182"/>
                    <a:pt x="142107" y="284182"/>
                  </a:cubicBezTo>
                  <a:cubicBezTo>
                    <a:pt x="161286" y="284182"/>
                    <a:pt x="179891" y="280416"/>
                    <a:pt x="197443" y="273012"/>
                  </a:cubicBezTo>
                  <a:cubicBezTo>
                    <a:pt x="214357" y="265864"/>
                    <a:pt x="229579" y="255620"/>
                    <a:pt x="242600" y="242568"/>
                  </a:cubicBezTo>
                  <a:cubicBezTo>
                    <a:pt x="255652" y="229515"/>
                    <a:pt x="265896" y="214325"/>
                    <a:pt x="273044" y="197411"/>
                  </a:cubicBezTo>
                  <a:cubicBezTo>
                    <a:pt x="280448" y="179891"/>
                    <a:pt x="284214" y="161286"/>
                    <a:pt x="284214" y="142107"/>
                  </a:cubicBezTo>
                  <a:cubicBezTo>
                    <a:pt x="284214" y="122927"/>
                    <a:pt x="280480" y="104290"/>
                    <a:pt x="273076" y="86770"/>
                  </a:cubicBezTo>
                  <a:close/>
                </a:path>
              </a:pathLst>
            </a:custGeom>
            <a:grpFill/>
            <a:ln w="253" cap="flat">
              <a:solidFill>
                <a:schemeClr val="accent2"/>
              </a:solidFill>
              <a:prstDash val="solid"/>
              <a:miter/>
            </a:ln>
            <a:effectLst/>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a:ln>
                  <a:noFill/>
                </a:ln>
                <a:solidFill>
                  <a:prstClr val="black"/>
                </a:solidFill>
                <a:effectLst/>
                <a:uLnTx/>
                <a:uFillTx/>
                <a:cs typeface="+mn-ea"/>
                <a:sym typeface="+mn-lt"/>
              </a:endParaRPr>
            </a:p>
          </p:txBody>
        </p:sp>
      </p:grpSp>
      <p:sp>
        <p:nvSpPr>
          <p:cNvPr id="259" name="图形 257"/>
          <p:cNvSpPr/>
          <p:nvPr/>
        </p:nvSpPr>
        <p:spPr>
          <a:xfrm>
            <a:off x="4561881" y="5799067"/>
            <a:ext cx="258699" cy="258708"/>
          </a:xfrm>
          <a:custGeom>
            <a:avLst/>
            <a:gdLst>
              <a:gd name="connsiteX0" fmla="*/ 1651497 w 1663154"/>
              <a:gd name="connsiteY0" fmla="*/ 970743 h 1663211"/>
              <a:gd name="connsiteX1" fmla="*/ 1651397 w 1663154"/>
              <a:gd name="connsiteY1" fmla="*/ 970726 h 1663211"/>
              <a:gd name="connsiteX2" fmla="*/ 1651373 w 1663154"/>
              <a:gd name="connsiteY2" fmla="*/ 970886 h 1663211"/>
              <a:gd name="connsiteX3" fmla="*/ 1587471 w 1663154"/>
              <a:gd name="connsiteY3" fmla="*/ 1017280 h 1663211"/>
              <a:gd name="connsiteX4" fmla="*/ 1541077 w 1663154"/>
              <a:gd name="connsiteY4" fmla="*/ 953379 h 1663211"/>
              <a:gd name="connsiteX5" fmla="*/ 1541301 w 1663154"/>
              <a:gd name="connsiteY5" fmla="*/ 952065 h 1663211"/>
              <a:gd name="connsiteX6" fmla="*/ 1541958 w 1663154"/>
              <a:gd name="connsiteY6" fmla="*/ 948839 h 1663211"/>
              <a:gd name="connsiteX7" fmla="*/ 1551533 w 1663154"/>
              <a:gd name="connsiteY7" fmla="*/ 831568 h 1663211"/>
              <a:gd name="connsiteX8" fmla="*/ 831577 w 1663154"/>
              <a:gd name="connsiteY8" fmla="*/ 111612 h 1663211"/>
              <a:gd name="connsiteX9" fmla="*/ 111621 w 1663154"/>
              <a:gd name="connsiteY9" fmla="*/ 831568 h 1663211"/>
              <a:gd name="connsiteX10" fmla="*/ 831577 w 1663154"/>
              <a:gd name="connsiteY10" fmla="*/ 1551533 h 1663211"/>
              <a:gd name="connsiteX11" fmla="*/ 831577 w 1663154"/>
              <a:gd name="connsiteY11" fmla="*/ 1551591 h 1663211"/>
              <a:gd name="connsiteX12" fmla="*/ 887388 w 1663154"/>
              <a:gd name="connsiteY12" fmla="*/ 1607401 h 1663211"/>
              <a:gd name="connsiteX13" fmla="*/ 831577 w 1663154"/>
              <a:gd name="connsiteY13" fmla="*/ 1663212 h 1663211"/>
              <a:gd name="connsiteX14" fmla="*/ 830041 w 1663154"/>
              <a:gd name="connsiteY14" fmla="*/ 1663134 h 1663211"/>
              <a:gd name="connsiteX15" fmla="*/ 0 w 1663154"/>
              <a:gd name="connsiteY15" fmla="*/ 831577 h 1663211"/>
              <a:gd name="connsiteX16" fmla="*/ 831577 w 1663154"/>
              <a:gd name="connsiteY16" fmla="*/ 0 h 1663211"/>
              <a:gd name="connsiteX17" fmla="*/ 1663154 w 1663154"/>
              <a:gd name="connsiteY17" fmla="*/ 831577 h 1663211"/>
              <a:gd name="connsiteX18" fmla="*/ 1651497 w 1663154"/>
              <a:gd name="connsiteY18" fmla="*/ 970743 h 1663211"/>
              <a:gd name="connsiteX19" fmla="*/ 1166440 w 1663154"/>
              <a:gd name="connsiteY19" fmla="*/ 831635 h 1663211"/>
              <a:gd name="connsiteX20" fmla="*/ 1154333 w 1663154"/>
              <a:gd name="connsiteY20" fmla="*/ 866282 h 1663211"/>
              <a:gd name="connsiteX21" fmla="*/ 878927 w 1663154"/>
              <a:gd name="connsiteY21" fmla="*/ 1343300 h 1663211"/>
              <a:gd name="connsiteX22" fmla="*/ 802768 w 1663154"/>
              <a:gd name="connsiteY22" fmla="*/ 1364024 h 1663211"/>
              <a:gd name="connsiteX23" fmla="*/ 782044 w 1663154"/>
              <a:gd name="connsiteY23" fmla="*/ 1287866 h 1663211"/>
              <a:gd name="connsiteX24" fmla="*/ 782261 w 1663154"/>
              <a:gd name="connsiteY24" fmla="*/ 1287490 h 1663211"/>
              <a:gd name="connsiteX25" fmla="*/ 1013227 w 1663154"/>
              <a:gd name="connsiteY25" fmla="*/ 887445 h 1663211"/>
              <a:gd name="connsiteX26" fmla="*/ 554582 w 1663154"/>
              <a:gd name="connsiteY26" fmla="*/ 887445 h 1663211"/>
              <a:gd name="connsiteX27" fmla="*/ 548153 w 1663154"/>
              <a:gd name="connsiteY27" fmla="*/ 887224 h 1663211"/>
              <a:gd name="connsiteX28" fmla="*/ 496878 w 1663154"/>
              <a:gd name="connsiteY28" fmla="*/ 827303 h 1663211"/>
              <a:gd name="connsiteX29" fmla="*/ 509550 w 1663154"/>
              <a:gd name="connsiteY29" fmla="*/ 796028 h 1663211"/>
              <a:gd name="connsiteX30" fmla="*/ 784121 w 1663154"/>
              <a:gd name="connsiteY30" fmla="*/ 320466 h 1663211"/>
              <a:gd name="connsiteX31" fmla="*/ 860280 w 1663154"/>
              <a:gd name="connsiteY31" fmla="*/ 299742 h 1663211"/>
              <a:gd name="connsiteX32" fmla="*/ 881004 w 1663154"/>
              <a:gd name="connsiteY32" fmla="*/ 375901 h 1663211"/>
              <a:gd name="connsiteX33" fmla="*/ 880787 w 1663154"/>
              <a:gd name="connsiteY33" fmla="*/ 376277 h 1663211"/>
              <a:gd name="connsiteX34" fmla="*/ 650107 w 1663154"/>
              <a:gd name="connsiteY34" fmla="*/ 775824 h 1663211"/>
              <a:gd name="connsiteX35" fmla="*/ 1110630 w 1663154"/>
              <a:gd name="connsiteY35" fmla="*/ 775824 h 1663211"/>
              <a:gd name="connsiteX36" fmla="*/ 1166440 w 1663154"/>
              <a:gd name="connsiteY36" fmla="*/ 831635 h 1663211"/>
              <a:gd name="connsiteX37" fmla="*/ 1182776 w 1663154"/>
              <a:gd name="connsiteY37" fmla="*/ 1380264 h 1663211"/>
              <a:gd name="connsiteX38" fmla="*/ 1238587 w 1663154"/>
              <a:gd name="connsiteY38" fmla="*/ 1436074 h 1663211"/>
              <a:gd name="connsiteX39" fmla="*/ 1238587 w 1663154"/>
              <a:gd name="connsiteY39" fmla="*/ 1606879 h 1663211"/>
              <a:gd name="connsiteX40" fmla="*/ 1182776 w 1663154"/>
              <a:gd name="connsiteY40" fmla="*/ 1662689 h 1663211"/>
              <a:gd name="connsiteX41" fmla="*/ 1126966 w 1663154"/>
              <a:gd name="connsiteY41" fmla="*/ 1606879 h 1663211"/>
              <a:gd name="connsiteX42" fmla="*/ 1126966 w 1663154"/>
              <a:gd name="connsiteY42" fmla="*/ 1436074 h 1663211"/>
              <a:gd name="connsiteX43" fmla="*/ 1182776 w 1663154"/>
              <a:gd name="connsiteY43" fmla="*/ 1380264 h 1663211"/>
              <a:gd name="connsiteX44" fmla="*/ 1394856 w 1663154"/>
              <a:gd name="connsiteY44" fmla="*/ 1138418 h 1663211"/>
              <a:gd name="connsiteX45" fmla="*/ 1450667 w 1663154"/>
              <a:gd name="connsiteY45" fmla="*/ 1194229 h 1663211"/>
              <a:gd name="connsiteX46" fmla="*/ 1450667 w 1663154"/>
              <a:gd name="connsiteY46" fmla="*/ 1606879 h 1663211"/>
              <a:gd name="connsiteX47" fmla="*/ 1394856 w 1663154"/>
              <a:gd name="connsiteY47" fmla="*/ 1662689 h 1663211"/>
              <a:gd name="connsiteX48" fmla="*/ 1339046 w 1663154"/>
              <a:gd name="connsiteY48" fmla="*/ 1606879 h 1663211"/>
              <a:gd name="connsiteX49" fmla="*/ 1339046 w 1663154"/>
              <a:gd name="connsiteY49" fmla="*/ 1194229 h 1663211"/>
              <a:gd name="connsiteX50" fmla="*/ 1394856 w 1663154"/>
              <a:gd name="connsiteY50" fmla="*/ 1138418 h 1663211"/>
              <a:gd name="connsiteX51" fmla="*/ 1606936 w 1663154"/>
              <a:gd name="connsiteY51" fmla="*/ 1227715 h 1663211"/>
              <a:gd name="connsiteX52" fmla="*/ 1662747 w 1663154"/>
              <a:gd name="connsiteY52" fmla="*/ 1283525 h 1663211"/>
              <a:gd name="connsiteX53" fmla="*/ 1662747 w 1663154"/>
              <a:gd name="connsiteY53" fmla="*/ 1606879 h 1663211"/>
              <a:gd name="connsiteX54" fmla="*/ 1606936 w 1663154"/>
              <a:gd name="connsiteY54" fmla="*/ 1662689 h 1663211"/>
              <a:gd name="connsiteX55" fmla="*/ 1551126 w 1663154"/>
              <a:gd name="connsiteY55" fmla="*/ 1606879 h 1663211"/>
              <a:gd name="connsiteX56" fmla="*/ 1551126 w 1663154"/>
              <a:gd name="connsiteY56" fmla="*/ 1283525 h 1663211"/>
              <a:gd name="connsiteX57" fmla="*/ 1606936 w 1663154"/>
              <a:gd name="connsiteY57" fmla="*/ 1227715 h 1663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663154" h="1663211">
                <a:moveTo>
                  <a:pt x="1651497" y="970743"/>
                </a:moveTo>
                <a:lnTo>
                  <a:pt x="1651397" y="970726"/>
                </a:lnTo>
                <a:cubicBezTo>
                  <a:pt x="1651397" y="970778"/>
                  <a:pt x="1651382" y="970832"/>
                  <a:pt x="1651373" y="970886"/>
                </a:cubicBezTo>
                <a:cubicBezTo>
                  <a:pt x="1646538" y="1001343"/>
                  <a:pt x="1617928" y="1022115"/>
                  <a:pt x="1587471" y="1017280"/>
                </a:cubicBezTo>
                <a:cubicBezTo>
                  <a:pt x="1557014" y="1012446"/>
                  <a:pt x="1536242" y="983836"/>
                  <a:pt x="1541077" y="953379"/>
                </a:cubicBezTo>
                <a:cubicBezTo>
                  <a:pt x="1541146" y="952940"/>
                  <a:pt x="1541221" y="952502"/>
                  <a:pt x="1541301" y="952065"/>
                </a:cubicBezTo>
                <a:cubicBezTo>
                  <a:pt x="1541487" y="950975"/>
                  <a:pt x="1541712" y="949903"/>
                  <a:pt x="1541958" y="948839"/>
                </a:cubicBezTo>
                <a:cubicBezTo>
                  <a:pt x="1548325" y="910073"/>
                  <a:pt x="1551527" y="870853"/>
                  <a:pt x="1551533" y="831568"/>
                </a:cubicBezTo>
                <a:cubicBezTo>
                  <a:pt x="1551533" y="433944"/>
                  <a:pt x="1229198" y="111612"/>
                  <a:pt x="831577" y="111612"/>
                </a:cubicBezTo>
                <a:cubicBezTo>
                  <a:pt x="433957" y="111612"/>
                  <a:pt x="111621" y="433951"/>
                  <a:pt x="111621" y="831568"/>
                </a:cubicBezTo>
                <a:cubicBezTo>
                  <a:pt x="111621" y="1229185"/>
                  <a:pt x="433957" y="1551533"/>
                  <a:pt x="831577" y="1551533"/>
                </a:cubicBezTo>
                <a:lnTo>
                  <a:pt x="831577" y="1551591"/>
                </a:lnTo>
                <a:cubicBezTo>
                  <a:pt x="862400" y="1551591"/>
                  <a:pt x="887388" y="1576578"/>
                  <a:pt x="887388" y="1607401"/>
                </a:cubicBezTo>
                <a:cubicBezTo>
                  <a:pt x="887388" y="1638225"/>
                  <a:pt x="862400" y="1663212"/>
                  <a:pt x="831577" y="1663212"/>
                </a:cubicBezTo>
                <a:cubicBezTo>
                  <a:pt x="831058" y="1663212"/>
                  <a:pt x="830556" y="1663149"/>
                  <a:pt x="830041" y="1663134"/>
                </a:cubicBezTo>
                <a:cubicBezTo>
                  <a:pt x="371482" y="1662302"/>
                  <a:pt x="0" y="1290331"/>
                  <a:pt x="0" y="831577"/>
                </a:cubicBezTo>
                <a:cubicBezTo>
                  <a:pt x="0" y="372308"/>
                  <a:pt x="372310" y="0"/>
                  <a:pt x="831577" y="0"/>
                </a:cubicBezTo>
                <a:cubicBezTo>
                  <a:pt x="1290844" y="0"/>
                  <a:pt x="1663154" y="372308"/>
                  <a:pt x="1663154" y="831577"/>
                </a:cubicBezTo>
                <a:cubicBezTo>
                  <a:pt x="1663153" y="878209"/>
                  <a:pt x="1659254" y="924760"/>
                  <a:pt x="1651497" y="970743"/>
                </a:cubicBezTo>
                <a:close/>
                <a:moveTo>
                  <a:pt x="1166440" y="831635"/>
                </a:moveTo>
                <a:cubicBezTo>
                  <a:pt x="1166449" y="844223"/>
                  <a:pt x="1162180" y="856439"/>
                  <a:pt x="1154333" y="866282"/>
                </a:cubicBezTo>
                <a:lnTo>
                  <a:pt x="878927" y="1343300"/>
                </a:lnTo>
                <a:cubicBezTo>
                  <a:pt x="863619" y="1370054"/>
                  <a:pt x="829522" y="1379332"/>
                  <a:pt x="802768" y="1364024"/>
                </a:cubicBezTo>
                <a:cubicBezTo>
                  <a:pt x="776015" y="1348717"/>
                  <a:pt x="766736" y="1314619"/>
                  <a:pt x="782044" y="1287866"/>
                </a:cubicBezTo>
                <a:cubicBezTo>
                  <a:pt x="782116" y="1287740"/>
                  <a:pt x="782188" y="1287615"/>
                  <a:pt x="782261" y="1287490"/>
                </a:cubicBezTo>
                <a:lnTo>
                  <a:pt x="1013227" y="887445"/>
                </a:lnTo>
                <a:lnTo>
                  <a:pt x="554582" y="887445"/>
                </a:lnTo>
                <a:cubicBezTo>
                  <a:pt x="552436" y="887497"/>
                  <a:pt x="550290" y="887423"/>
                  <a:pt x="548153" y="887224"/>
                </a:cubicBezTo>
                <a:cubicBezTo>
                  <a:pt x="517447" y="884836"/>
                  <a:pt x="494490" y="858009"/>
                  <a:pt x="496878" y="827303"/>
                </a:cubicBezTo>
                <a:cubicBezTo>
                  <a:pt x="497771" y="815819"/>
                  <a:pt x="502198" y="804894"/>
                  <a:pt x="509550" y="796028"/>
                </a:cubicBezTo>
                <a:lnTo>
                  <a:pt x="784121" y="320466"/>
                </a:lnTo>
                <a:cubicBezTo>
                  <a:pt x="799429" y="293713"/>
                  <a:pt x="833527" y="284434"/>
                  <a:pt x="860280" y="299742"/>
                </a:cubicBezTo>
                <a:cubicBezTo>
                  <a:pt x="887034" y="315050"/>
                  <a:pt x="896312" y="349147"/>
                  <a:pt x="881004" y="375901"/>
                </a:cubicBezTo>
                <a:cubicBezTo>
                  <a:pt x="880932" y="376026"/>
                  <a:pt x="880860" y="376152"/>
                  <a:pt x="880787" y="376277"/>
                </a:cubicBezTo>
                <a:lnTo>
                  <a:pt x="650107" y="775824"/>
                </a:lnTo>
                <a:lnTo>
                  <a:pt x="1110630" y="775824"/>
                </a:lnTo>
                <a:cubicBezTo>
                  <a:pt x="1141453" y="775824"/>
                  <a:pt x="1166440" y="800812"/>
                  <a:pt x="1166440" y="831635"/>
                </a:cubicBezTo>
                <a:close/>
                <a:moveTo>
                  <a:pt x="1182776" y="1380264"/>
                </a:moveTo>
                <a:cubicBezTo>
                  <a:pt x="1213600" y="1380264"/>
                  <a:pt x="1238587" y="1405251"/>
                  <a:pt x="1238587" y="1436074"/>
                </a:cubicBezTo>
                <a:lnTo>
                  <a:pt x="1238587" y="1606879"/>
                </a:lnTo>
                <a:cubicBezTo>
                  <a:pt x="1238587" y="1637702"/>
                  <a:pt x="1213600" y="1662689"/>
                  <a:pt x="1182776" y="1662689"/>
                </a:cubicBezTo>
                <a:cubicBezTo>
                  <a:pt x="1151953" y="1662689"/>
                  <a:pt x="1126966" y="1637702"/>
                  <a:pt x="1126966" y="1606879"/>
                </a:cubicBezTo>
                <a:lnTo>
                  <a:pt x="1126966" y="1436074"/>
                </a:lnTo>
                <a:cubicBezTo>
                  <a:pt x="1126966" y="1405251"/>
                  <a:pt x="1151953" y="1380264"/>
                  <a:pt x="1182776" y="1380264"/>
                </a:cubicBezTo>
                <a:close/>
                <a:moveTo>
                  <a:pt x="1394856" y="1138418"/>
                </a:moveTo>
                <a:cubicBezTo>
                  <a:pt x="1425680" y="1138418"/>
                  <a:pt x="1450667" y="1163405"/>
                  <a:pt x="1450667" y="1194229"/>
                </a:cubicBezTo>
                <a:lnTo>
                  <a:pt x="1450667" y="1606879"/>
                </a:lnTo>
                <a:cubicBezTo>
                  <a:pt x="1450667" y="1637702"/>
                  <a:pt x="1425680" y="1662689"/>
                  <a:pt x="1394856" y="1662689"/>
                </a:cubicBezTo>
                <a:cubicBezTo>
                  <a:pt x="1364033" y="1662689"/>
                  <a:pt x="1339046" y="1637702"/>
                  <a:pt x="1339046" y="1606879"/>
                </a:cubicBezTo>
                <a:lnTo>
                  <a:pt x="1339046" y="1194229"/>
                </a:lnTo>
                <a:cubicBezTo>
                  <a:pt x="1339046" y="1163405"/>
                  <a:pt x="1364033" y="1138418"/>
                  <a:pt x="1394856" y="1138418"/>
                </a:cubicBezTo>
                <a:close/>
                <a:moveTo>
                  <a:pt x="1606936" y="1227715"/>
                </a:moveTo>
                <a:cubicBezTo>
                  <a:pt x="1637760" y="1227715"/>
                  <a:pt x="1662747" y="1252702"/>
                  <a:pt x="1662747" y="1283525"/>
                </a:cubicBezTo>
                <a:lnTo>
                  <a:pt x="1662747" y="1606879"/>
                </a:lnTo>
                <a:cubicBezTo>
                  <a:pt x="1662747" y="1637702"/>
                  <a:pt x="1637760" y="1662689"/>
                  <a:pt x="1606936" y="1662689"/>
                </a:cubicBezTo>
                <a:cubicBezTo>
                  <a:pt x="1576113" y="1662689"/>
                  <a:pt x="1551126" y="1637702"/>
                  <a:pt x="1551126" y="1606879"/>
                </a:cubicBezTo>
                <a:lnTo>
                  <a:pt x="1551126" y="1283525"/>
                </a:lnTo>
                <a:cubicBezTo>
                  <a:pt x="1551126" y="1252702"/>
                  <a:pt x="1576113" y="1227715"/>
                  <a:pt x="1606936" y="1227715"/>
                </a:cubicBezTo>
                <a:close/>
              </a:path>
            </a:pathLst>
          </a:custGeom>
          <a:solidFill>
            <a:schemeClr val="accent2"/>
          </a:solidFill>
          <a:ln w="1488" cap="flat">
            <a:solidFill>
              <a:schemeClr val="accent2"/>
            </a:solidFill>
            <a:prstDash val="solid"/>
            <a:miter/>
          </a:ln>
          <a:effectLst/>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a:ln>
                <a:noFill/>
              </a:ln>
              <a:solidFill>
                <a:prstClr val="black"/>
              </a:solidFill>
              <a:effectLst/>
              <a:uLnTx/>
              <a:uFillTx/>
              <a:cs typeface="+mn-ea"/>
              <a:sym typeface="+mn-lt"/>
            </a:endParaRPr>
          </a:p>
        </p:txBody>
      </p:sp>
      <p:sp>
        <p:nvSpPr>
          <p:cNvPr id="262" name="图形 260"/>
          <p:cNvSpPr/>
          <p:nvPr/>
        </p:nvSpPr>
        <p:spPr>
          <a:xfrm>
            <a:off x="5490628" y="5793701"/>
            <a:ext cx="257026" cy="286996"/>
          </a:xfrm>
          <a:custGeom>
            <a:avLst/>
            <a:gdLst>
              <a:gd name="connsiteX0" fmla="*/ 225988 w 226266"/>
              <a:gd name="connsiteY0" fmla="*/ 70545 h 252649"/>
              <a:gd name="connsiteX1" fmla="*/ 222511 w 226266"/>
              <a:gd name="connsiteY1" fmla="*/ 30467 h 252649"/>
              <a:gd name="connsiteX2" fmla="*/ 217692 w 226266"/>
              <a:gd name="connsiteY2" fmla="*/ 26473 h 252649"/>
              <a:gd name="connsiteX3" fmla="*/ 217307 w 226266"/>
              <a:gd name="connsiteY3" fmla="*/ 26526 h 252649"/>
              <a:gd name="connsiteX4" fmla="*/ 189315 w 226266"/>
              <a:gd name="connsiteY4" fmla="*/ 30568 h 252649"/>
              <a:gd name="connsiteX5" fmla="*/ 164233 w 226266"/>
              <a:gd name="connsiteY5" fmla="*/ 25515 h 252649"/>
              <a:gd name="connsiteX6" fmla="*/ 128036 w 226266"/>
              <a:gd name="connsiteY6" fmla="*/ 9518 h 252649"/>
              <a:gd name="connsiteX7" fmla="*/ 115687 w 226266"/>
              <a:gd name="connsiteY7" fmla="*/ 1080 h 252649"/>
              <a:gd name="connsiteX8" fmla="*/ 109876 w 226266"/>
              <a:gd name="connsiteY8" fmla="*/ 1080 h 252649"/>
              <a:gd name="connsiteX9" fmla="*/ 97537 w 226266"/>
              <a:gd name="connsiteY9" fmla="*/ 9518 h 252649"/>
              <a:gd name="connsiteX10" fmla="*/ 61370 w 226266"/>
              <a:gd name="connsiteY10" fmla="*/ 25515 h 252649"/>
              <a:gd name="connsiteX11" fmla="*/ 37117 w 226266"/>
              <a:gd name="connsiteY11" fmla="*/ 30821 h 252649"/>
              <a:gd name="connsiteX12" fmla="*/ 8337 w 226266"/>
              <a:gd name="connsiteY12" fmla="*/ 26475 h 252649"/>
              <a:gd name="connsiteX13" fmla="*/ 3186 w 226266"/>
              <a:gd name="connsiteY13" fmla="*/ 30032 h 252649"/>
              <a:gd name="connsiteX14" fmla="*/ 3132 w 226266"/>
              <a:gd name="connsiteY14" fmla="*/ 30417 h 252649"/>
              <a:gd name="connsiteX15" fmla="*/ 293 w 226266"/>
              <a:gd name="connsiteY15" fmla="*/ 70495 h 252649"/>
              <a:gd name="connsiteX16" fmla="*/ 3860 w 226266"/>
              <a:gd name="connsiteY16" fmla="*/ 151651 h 252649"/>
              <a:gd name="connsiteX17" fmla="*/ 24829 w 226266"/>
              <a:gd name="connsiteY17" fmla="*/ 191356 h 252649"/>
              <a:gd name="connsiteX18" fmla="*/ 61047 w 226266"/>
              <a:gd name="connsiteY18" fmla="*/ 223491 h 252649"/>
              <a:gd name="connsiteX19" fmla="*/ 111261 w 226266"/>
              <a:gd name="connsiteY19" fmla="*/ 252271 h 252649"/>
              <a:gd name="connsiteX20" fmla="*/ 114848 w 226266"/>
              <a:gd name="connsiteY20" fmla="*/ 252271 h 252649"/>
              <a:gd name="connsiteX21" fmla="*/ 164557 w 226266"/>
              <a:gd name="connsiteY21" fmla="*/ 223491 h 252649"/>
              <a:gd name="connsiteX22" fmla="*/ 200795 w 226266"/>
              <a:gd name="connsiteY22" fmla="*/ 191356 h 252649"/>
              <a:gd name="connsiteX23" fmla="*/ 221784 w 226266"/>
              <a:gd name="connsiteY23" fmla="*/ 150570 h 252649"/>
              <a:gd name="connsiteX24" fmla="*/ 225988 w 226266"/>
              <a:gd name="connsiteY24" fmla="*/ 70545 h 252649"/>
              <a:gd name="connsiteX25" fmla="*/ 204595 w 226266"/>
              <a:gd name="connsiteY25" fmla="*/ 148296 h 252649"/>
              <a:gd name="connsiteX26" fmla="*/ 187587 w 226266"/>
              <a:gd name="connsiteY26" fmla="*/ 180119 h 252649"/>
              <a:gd name="connsiteX27" fmla="*/ 154573 w 226266"/>
              <a:gd name="connsiteY27" fmla="*/ 209293 h 252649"/>
              <a:gd name="connsiteX28" fmla="*/ 112989 w 226266"/>
              <a:gd name="connsiteY28" fmla="*/ 233940 h 252649"/>
              <a:gd name="connsiteX29" fmla="*/ 71011 w 226266"/>
              <a:gd name="connsiteY29" fmla="*/ 209293 h 252649"/>
              <a:gd name="connsiteX30" fmla="*/ 38027 w 226266"/>
              <a:gd name="connsiteY30" fmla="*/ 180119 h 252649"/>
              <a:gd name="connsiteX31" fmla="*/ 21039 w 226266"/>
              <a:gd name="connsiteY31" fmla="*/ 149388 h 252649"/>
              <a:gd name="connsiteX32" fmla="*/ 17614 w 226266"/>
              <a:gd name="connsiteY32" fmla="*/ 71000 h 252649"/>
              <a:gd name="connsiteX33" fmla="*/ 19059 w 226266"/>
              <a:gd name="connsiteY33" fmla="*/ 46818 h 252649"/>
              <a:gd name="connsiteX34" fmla="*/ 37107 w 226266"/>
              <a:gd name="connsiteY34" fmla="*/ 48283 h 252649"/>
              <a:gd name="connsiteX35" fmla="*/ 63917 w 226266"/>
              <a:gd name="connsiteY35" fmla="*/ 43008 h 252649"/>
              <a:gd name="connsiteX36" fmla="*/ 66413 w 226266"/>
              <a:gd name="connsiteY36" fmla="*/ 42220 h 252649"/>
              <a:gd name="connsiteX37" fmla="*/ 106329 w 226266"/>
              <a:gd name="connsiteY37" fmla="*/ 24565 h 252649"/>
              <a:gd name="connsiteX38" fmla="*/ 112776 w 226266"/>
              <a:gd name="connsiteY38" fmla="*/ 20523 h 252649"/>
              <a:gd name="connsiteX39" fmla="*/ 119234 w 226266"/>
              <a:gd name="connsiteY39" fmla="*/ 24565 h 252649"/>
              <a:gd name="connsiteX40" fmla="*/ 159171 w 226266"/>
              <a:gd name="connsiteY40" fmla="*/ 42210 h 252649"/>
              <a:gd name="connsiteX41" fmla="*/ 159888 w 226266"/>
              <a:gd name="connsiteY41" fmla="*/ 42432 h 252649"/>
              <a:gd name="connsiteX42" fmla="*/ 189315 w 226266"/>
              <a:gd name="connsiteY42" fmla="*/ 48010 h 252649"/>
              <a:gd name="connsiteX43" fmla="*/ 206787 w 226266"/>
              <a:gd name="connsiteY43" fmla="*/ 46676 h 252649"/>
              <a:gd name="connsiteX44" fmla="*/ 208657 w 226266"/>
              <a:gd name="connsiteY44" fmla="*/ 71010 h 252649"/>
              <a:gd name="connsiteX45" fmla="*/ 204615 w 226266"/>
              <a:gd name="connsiteY45" fmla="*/ 148307 h 252649"/>
              <a:gd name="connsiteX46" fmla="*/ 158867 w 226266"/>
              <a:gd name="connsiteY46" fmla="*/ 162949 h 252649"/>
              <a:gd name="connsiteX47" fmla="*/ 170196 w 226266"/>
              <a:gd name="connsiteY47" fmla="*/ 122457 h 252649"/>
              <a:gd name="connsiteX48" fmla="*/ 113605 w 226266"/>
              <a:gd name="connsiteY48" fmla="*/ 56388 h 252649"/>
              <a:gd name="connsiteX49" fmla="*/ 57015 w 226266"/>
              <a:gd name="connsiteY49" fmla="*/ 122457 h 252649"/>
              <a:gd name="connsiteX50" fmla="*/ 113605 w 226266"/>
              <a:gd name="connsiteY50" fmla="*/ 187132 h 252649"/>
              <a:gd name="connsiteX51" fmla="*/ 149702 w 226266"/>
              <a:gd name="connsiteY51" fmla="*/ 174348 h 252649"/>
              <a:gd name="connsiteX52" fmla="*/ 162445 w 226266"/>
              <a:gd name="connsiteY52" fmla="*/ 186424 h 252649"/>
              <a:gd name="connsiteX53" fmla="*/ 168104 w 226266"/>
              <a:gd name="connsiteY53" fmla="*/ 188557 h 252649"/>
              <a:gd name="connsiteX54" fmla="*/ 175178 w 226266"/>
              <a:gd name="connsiteY54" fmla="*/ 182877 h 252649"/>
              <a:gd name="connsiteX55" fmla="*/ 172348 w 226266"/>
              <a:gd name="connsiteY55" fmla="*/ 176481 h 252649"/>
              <a:gd name="connsiteX56" fmla="*/ 146832 w 226266"/>
              <a:gd name="connsiteY56" fmla="*/ 151621 h 252649"/>
              <a:gd name="connsiteX57" fmla="*/ 138343 w 226266"/>
              <a:gd name="connsiteY57" fmla="*/ 143092 h 252649"/>
              <a:gd name="connsiteX58" fmla="*/ 131977 w 226266"/>
              <a:gd name="connsiteY58" fmla="*/ 140253 h 252649"/>
              <a:gd name="connsiteX59" fmla="*/ 124903 w 226266"/>
              <a:gd name="connsiteY59" fmla="*/ 147326 h 252649"/>
              <a:gd name="connsiteX60" fmla="*/ 128440 w 226266"/>
              <a:gd name="connsiteY60" fmla="*/ 153723 h 252649"/>
              <a:gd name="connsiteX61" fmla="*/ 139061 w 226266"/>
              <a:gd name="connsiteY61" fmla="*/ 163667 h 252649"/>
              <a:gd name="connsiteX62" fmla="*/ 113585 w 226266"/>
              <a:gd name="connsiteY62" fmla="*/ 172701 h 252649"/>
              <a:gd name="connsiteX63" fmla="*/ 72870 w 226266"/>
              <a:gd name="connsiteY63" fmla="*/ 122467 h 252649"/>
              <a:gd name="connsiteX64" fmla="*/ 113585 w 226266"/>
              <a:gd name="connsiteY64" fmla="*/ 70606 h 252649"/>
              <a:gd name="connsiteX65" fmla="*/ 154300 w 226266"/>
              <a:gd name="connsiteY65" fmla="*/ 122467 h 252649"/>
              <a:gd name="connsiteX66" fmla="*/ 146832 w 226266"/>
              <a:gd name="connsiteY66" fmla="*/ 151621 h 25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226266" h="252649">
                <a:moveTo>
                  <a:pt x="225988" y="70545"/>
                </a:moveTo>
                <a:cubicBezTo>
                  <a:pt x="225721" y="57123"/>
                  <a:pt x="224559" y="43734"/>
                  <a:pt x="222511" y="30467"/>
                </a:cubicBezTo>
                <a:cubicBezTo>
                  <a:pt x="222284" y="28033"/>
                  <a:pt x="220126" y="26245"/>
                  <a:pt x="217692" y="26473"/>
                </a:cubicBezTo>
                <a:cubicBezTo>
                  <a:pt x="217563" y="26485"/>
                  <a:pt x="217435" y="26503"/>
                  <a:pt x="217307" y="26526"/>
                </a:cubicBezTo>
                <a:cubicBezTo>
                  <a:pt x="208220" y="29214"/>
                  <a:pt x="198792" y="30575"/>
                  <a:pt x="189315" y="30568"/>
                </a:cubicBezTo>
                <a:cubicBezTo>
                  <a:pt x="180760" y="30058"/>
                  <a:pt x="172318" y="28358"/>
                  <a:pt x="164233" y="25515"/>
                </a:cubicBezTo>
                <a:cubicBezTo>
                  <a:pt x="151575" y="21640"/>
                  <a:pt x="139423" y="16270"/>
                  <a:pt x="128036" y="9518"/>
                </a:cubicBezTo>
                <a:cubicBezTo>
                  <a:pt x="123703" y="7037"/>
                  <a:pt x="119573" y="4215"/>
                  <a:pt x="115687" y="1080"/>
                </a:cubicBezTo>
                <a:cubicBezTo>
                  <a:pt x="114018" y="-360"/>
                  <a:pt x="111545" y="-360"/>
                  <a:pt x="109876" y="1080"/>
                </a:cubicBezTo>
                <a:cubicBezTo>
                  <a:pt x="105993" y="4215"/>
                  <a:pt x="101867" y="7037"/>
                  <a:pt x="97537" y="9518"/>
                </a:cubicBezTo>
                <a:cubicBezTo>
                  <a:pt x="86160" y="16269"/>
                  <a:pt x="74019" y="21640"/>
                  <a:pt x="61370" y="25515"/>
                </a:cubicBezTo>
                <a:cubicBezTo>
                  <a:pt x="53589" y="28462"/>
                  <a:pt x="45418" y="30249"/>
                  <a:pt x="37117" y="30821"/>
                </a:cubicBezTo>
                <a:cubicBezTo>
                  <a:pt x="27365" y="30762"/>
                  <a:pt x="17672" y="29298"/>
                  <a:pt x="8337" y="26475"/>
                </a:cubicBezTo>
                <a:cubicBezTo>
                  <a:pt x="5932" y="26035"/>
                  <a:pt x="3626" y="27627"/>
                  <a:pt x="3186" y="30032"/>
                </a:cubicBezTo>
                <a:cubicBezTo>
                  <a:pt x="3162" y="30159"/>
                  <a:pt x="3145" y="30288"/>
                  <a:pt x="3132" y="30417"/>
                </a:cubicBezTo>
                <a:cubicBezTo>
                  <a:pt x="3132" y="30588"/>
                  <a:pt x="909" y="46666"/>
                  <a:pt x="293" y="70495"/>
                </a:cubicBezTo>
                <a:cubicBezTo>
                  <a:pt x="-612" y="97598"/>
                  <a:pt x="581" y="124732"/>
                  <a:pt x="3860" y="151651"/>
                </a:cubicBezTo>
                <a:cubicBezTo>
                  <a:pt x="6834" y="166646"/>
                  <a:pt x="14122" y="180446"/>
                  <a:pt x="24829" y="191356"/>
                </a:cubicBezTo>
                <a:cubicBezTo>
                  <a:pt x="35514" y="203536"/>
                  <a:pt x="47682" y="214331"/>
                  <a:pt x="61047" y="223491"/>
                </a:cubicBezTo>
                <a:cubicBezTo>
                  <a:pt x="76871" y="234597"/>
                  <a:pt x="93679" y="244230"/>
                  <a:pt x="111261" y="252271"/>
                </a:cubicBezTo>
                <a:cubicBezTo>
                  <a:pt x="112403" y="252775"/>
                  <a:pt x="113705" y="252775"/>
                  <a:pt x="114848" y="252271"/>
                </a:cubicBezTo>
                <a:cubicBezTo>
                  <a:pt x="132232" y="244159"/>
                  <a:pt x="148866" y="234529"/>
                  <a:pt x="164557" y="223491"/>
                </a:cubicBezTo>
                <a:cubicBezTo>
                  <a:pt x="177929" y="214333"/>
                  <a:pt x="190103" y="203537"/>
                  <a:pt x="200795" y="191356"/>
                </a:cubicBezTo>
                <a:cubicBezTo>
                  <a:pt x="211558" y="180055"/>
                  <a:pt x="218844" y="165897"/>
                  <a:pt x="221784" y="150570"/>
                </a:cubicBezTo>
                <a:cubicBezTo>
                  <a:pt x="225513" y="124069"/>
                  <a:pt x="226920" y="97292"/>
                  <a:pt x="225988" y="70545"/>
                </a:cubicBezTo>
                <a:close/>
                <a:moveTo>
                  <a:pt x="204595" y="148296"/>
                </a:moveTo>
                <a:cubicBezTo>
                  <a:pt x="202023" y="160289"/>
                  <a:pt x="196129" y="171317"/>
                  <a:pt x="187587" y="180119"/>
                </a:cubicBezTo>
                <a:cubicBezTo>
                  <a:pt x="177839" y="191179"/>
                  <a:pt x="166748" y="200979"/>
                  <a:pt x="154573" y="209293"/>
                </a:cubicBezTo>
                <a:cubicBezTo>
                  <a:pt x="141356" y="218551"/>
                  <a:pt x="127455" y="226790"/>
                  <a:pt x="112989" y="233940"/>
                </a:cubicBezTo>
                <a:cubicBezTo>
                  <a:pt x="98361" y="226856"/>
                  <a:pt x="84324" y="218614"/>
                  <a:pt x="71011" y="209293"/>
                </a:cubicBezTo>
                <a:cubicBezTo>
                  <a:pt x="58845" y="200978"/>
                  <a:pt x="47765" y="191177"/>
                  <a:pt x="38027" y="180119"/>
                </a:cubicBezTo>
                <a:cubicBezTo>
                  <a:pt x="29542" y="171710"/>
                  <a:pt x="23646" y="161045"/>
                  <a:pt x="21039" y="149388"/>
                </a:cubicBezTo>
                <a:cubicBezTo>
                  <a:pt x="17872" y="123386"/>
                  <a:pt x="16727" y="97179"/>
                  <a:pt x="17614" y="71000"/>
                </a:cubicBezTo>
                <a:cubicBezTo>
                  <a:pt x="17866" y="61450"/>
                  <a:pt x="18624" y="53214"/>
                  <a:pt x="19059" y="46818"/>
                </a:cubicBezTo>
                <a:cubicBezTo>
                  <a:pt x="25027" y="47779"/>
                  <a:pt x="31062" y="48269"/>
                  <a:pt x="37107" y="48283"/>
                </a:cubicBezTo>
                <a:cubicBezTo>
                  <a:pt x="46263" y="47926"/>
                  <a:pt x="55308" y="46146"/>
                  <a:pt x="63917" y="43008"/>
                </a:cubicBezTo>
                <a:lnTo>
                  <a:pt x="66413" y="42220"/>
                </a:lnTo>
                <a:cubicBezTo>
                  <a:pt x="80370" y="37934"/>
                  <a:pt x="93769" y="32008"/>
                  <a:pt x="106329" y="24565"/>
                </a:cubicBezTo>
                <a:cubicBezTo>
                  <a:pt x="108512" y="23272"/>
                  <a:pt x="110661" y="21925"/>
                  <a:pt x="112776" y="20523"/>
                </a:cubicBezTo>
                <a:cubicBezTo>
                  <a:pt x="114892" y="21925"/>
                  <a:pt x="117044" y="23272"/>
                  <a:pt x="119234" y="24565"/>
                </a:cubicBezTo>
                <a:cubicBezTo>
                  <a:pt x="131802" y="32005"/>
                  <a:pt x="145208" y="37927"/>
                  <a:pt x="159171" y="42210"/>
                </a:cubicBezTo>
                <a:lnTo>
                  <a:pt x="159888" y="42432"/>
                </a:lnTo>
                <a:cubicBezTo>
                  <a:pt x="169380" y="45689"/>
                  <a:pt x="179290" y="47568"/>
                  <a:pt x="189315" y="48010"/>
                </a:cubicBezTo>
                <a:cubicBezTo>
                  <a:pt x="195164" y="48003"/>
                  <a:pt x="201005" y="47558"/>
                  <a:pt x="206787" y="46676"/>
                </a:cubicBezTo>
                <a:cubicBezTo>
                  <a:pt x="207323" y="53093"/>
                  <a:pt x="208404" y="61400"/>
                  <a:pt x="208657" y="71010"/>
                </a:cubicBezTo>
                <a:cubicBezTo>
                  <a:pt x="209583" y="96844"/>
                  <a:pt x="208230" y="122710"/>
                  <a:pt x="204615" y="148307"/>
                </a:cubicBezTo>
                <a:close/>
                <a:moveTo>
                  <a:pt x="158867" y="162949"/>
                </a:moveTo>
                <a:cubicBezTo>
                  <a:pt x="166288" y="150747"/>
                  <a:pt x="170207" y="136738"/>
                  <a:pt x="170196" y="122457"/>
                </a:cubicBezTo>
                <a:cubicBezTo>
                  <a:pt x="170196" y="80398"/>
                  <a:pt x="148732" y="56388"/>
                  <a:pt x="113605" y="56388"/>
                </a:cubicBezTo>
                <a:cubicBezTo>
                  <a:pt x="77983" y="56388"/>
                  <a:pt x="57015" y="80802"/>
                  <a:pt x="57015" y="122457"/>
                </a:cubicBezTo>
                <a:cubicBezTo>
                  <a:pt x="57015" y="163616"/>
                  <a:pt x="79247" y="187132"/>
                  <a:pt x="113605" y="187132"/>
                </a:cubicBezTo>
                <a:cubicBezTo>
                  <a:pt x="126826" y="187620"/>
                  <a:pt x="139735" y="183048"/>
                  <a:pt x="149702" y="174348"/>
                </a:cubicBezTo>
                <a:lnTo>
                  <a:pt x="162445" y="186424"/>
                </a:lnTo>
                <a:cubicBezTo>
                  <a:pt x="164176" y="187492"/>
                  <a:pt x="166098" y="188216"/>
                  <a:pt x="168104" y="188557"/>
                </a:cubicBezTo>
                <a:cubicBezTo>
                  <a:pt x="172348" y="188082"/>
                  <a:pt x="174703" y="186192"/>
                  <a:pt x="175178" y="182877"/>
                </a:cubicBezTo>
                <a:cubicBezTo>
                  <a:pt x="174968" y="180491"/>
                  <a:pt x="173973" y="178241"/>
                  <a:pt x="172348" y="176481"/>
                </a:cubicBezTo>
                <a:close/>
                <a:moveTo>
                  <a:pt x="146832" y="151621"/>
                </a:moveTo>
                <a:lnTo>
                  <a:pt x="138343" y="143092"/>
                </a:lnTo>
                <a:cubicBezTo>
                  <a:pt x="136701" y="141312"/>
                  <a:pt x="134399" y="140285"/>
                  <a:pt x="131977" y="140253"/>
                </a:cubicBezTo>
                <a:cubicBezTo>
                  <a:pt x="128268" y="140693"/>
                  <a:pt x="125344" y="143617"/>
                  <a:pt x="124903" y="147326"/>
                </a:cubicBezTo>
                <a:cubicBezTo>
                  <a:pt x="124425" y="149698"/>
                  <a:pt x="125604" y="151830"/>
                  <a:pt x="128440" y="153723"/>
                </a:cubicBezTo>
                <a:lnTo>
                  <a:pt x="139061" y="163667"/>
                </a:lnTo>
                <a:cubicBezTo>
                  <a:pt x="132313" y="170282"/>
                  <a:pt x="122993" y="173587"/>
                  <a:pt x="113585" y="172701"/>
                </a:cubicBezTo>
                <a:cubicBezTo>
                  <a:pt x="88109" y="171761"/>
                  <a:pt x="72870" y="156118"/>
                  <a:pt x="72870" y="122467"/>
                </a:cubicBezTo>
                <a:cubicBezTo>
                  <a:pt x="72870" y="89938"/>
                  <a:pt x="88109" y="72031"/>
                  <a:pt x="113585" y="70606"/>
                </a:cubicBezTo>
                <a:cubicBezTo>
                  <a:pt x="138586" y="72031"/>
                  <a:pt x="154300" y="89574"/>
                  <a:pt x="154300" y="122467"/>
                </a:cubicBezTo>
                <a:cubicBezTo>
                  <a:pt x="153933" y="132609"/>
                  <a:pt x="151386" y="142552"/>
                  <a:pt x="146832" y="151621"/>
                </a:cubicBezTo>
                <a:close/>
              </a:path>
            </a:pathLst>
          </a:custGeom>
          <a:solidFill>
            <a:schemeClr val="accent2"/>
          </a:solidFill>
          <a:ln w="246" cap="flat">
            <a:solidFill>
              <a:schemeClr val="accent2"/>
            </a:solidFill>
            <a:prstDash val="solid"/>
            <a:miter/>
          </a:ln>
          <a:effectLst/>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a:ln>
                <a:noFill/>
              </a:ln>
              <a:solidFill>
                <a:prstClr val="black"/>
              </a:solidFill>
              <a:effectLst/>
              <a:uLnTx/>
              <a:uFillTx/>
              <a:cs typeface="+mn-ea"/>
              <a:sym typeface="+mn-lt"/>
            </a:endParaRPr>
          </a:p>
        </p:txBody>
      </p:sp>
      <p:sp>
        <p:nvSpPr>
          <p:cNvPr id="265" name="图形 263"/>
          <p:cNvSpPr>
            <a:spLocks noChangeAspect="1"/>
          </p:cNvSpPr>
          <p:nvPr/>
        </p:nvSpPr>
        <p:spPr>
          <a:xfrm flipH="1">
            <a:off x="6417451" y="5797385"/>
            <a:ext cx="259200" cy="259200"/>
          </a:xfrm>
          <a:custGeom>
            <a:avLst/>
            <a:gdLst>
              <a:gd name="connsiteX0" fmla="*/ 1305968 w 1663155"/>
              <a:gd name="connsiteY0" fmla="*/ 831635 h 1663154"/>
              <a:gd name="connsiteX1" fmla="*/ 831578 w 1663155"/>
              <a:gd name="connsiteY1" fmla="*/ 1306025 h 1663154"/>
              <a:gd name="connsiteX2" fmla="*/ 357188 w 1663155"/>
              <a:gd name="connsiteY2" fmla="*/ 831635 h 1663154"/>
              <a:gd name="connsiteX3" fmla="*/ 831578 w 1663155"/>
              <a:gd name="connsiteY3" fmla="*/ 357245 h 1663154"/>
              <a:gd name="connsiteX4" fmla="*/ 1305968 w 1663155"/>
              <a:gd name="connsiteY4" fmla="*/ 831635 h 1663154"/>
              <a:gd name="connsiteX5" fmla="*/ 468810 w 1663155"/>
              <a:gd name="connsiteY5" fmla="*/ 831635 h 1663154"/>
              <a:gd name="connsiteX6" fmla="*/ 831578 w 1663155"/>
              <a:gd name="connsiteY6" fmla="*/ 1194403 h 1663154"/>
              <a:gd name="connsiteX7" fmla="*/ 1194347 w 1663155"/>
              <a:gd name="connsiteY7" fmla="*/ 831635 h 1663154"/>
              <a:gd name="connsiteX8" fmla="*/ 831578 w 1663155"/>
              <a:gd name="connsiteY8" fmla="*/ 468866 h 1663154"/>
              <a:gd name="connsiteX9" fmla="*/ 468810 w 1663155"/>
              <a:gd name="connsiteY9" fmla="*/ 831635 h 1663154"/>
              <a:gd name="connsiteX10" fmla="*/ 887389 w 1663155"/>
              <a:gd name="connsiteY10" fmla="*/ 626996 h 1663154"/>
              <a:gd name="connsiteX11" fmla="*/ 887389 w 1663155"/>
              <a:gd name="connsiteY11" fmla="*/ 775824 h 1663154"/>
              <a:gd name="connsiteX12" fmla="*/ 1036217 w 1663155"/>
              <a:gd name="connsiteY12" fmla="*/ 775824 h 1663154"/>
              <a:gd name="connsiteX13" fmla="*/ 1092027 w 1663155"/>
              <a:gd name="connsiteY13" fmla="*/ 831635 h 1663154"/>
              <a:gd name="connsiteX14" fmla="*/ 1036217 w 1663155"/>
              <a:gd name="connsiteY14" fmla="*/ 887445 h 1663154"/>
              <a:gd name="connsiteX15" fmla="*/ 831578 w 1663155"/>
              <a:gd name="connsiteY15" fmla="*/ 887445 h 1663154"/>
              <a:gd name="connsiteX16" fmla="*/ 775768 w 1663155"/>
              <a:gd name="connsiteY16" fmla="*/ 831635 h 1663154"/>
              <a:gd name="connsiteX17" fmla="*/ 775768 w 1663155"/>
              <a:gd name="connsiteY17" fmla="*/ 626996 h 1663154"/>
              <a:gd name="connsiteX18" fmla="*/ 831578 w 1663155"/>
              <a:gd name="connsiteY18" fmla="*/ 571186 h 1663154"/>
              <a:gd name="connsiteX19" fmla="*/ 887389 w 1663155"/>
              <a:gd name="connsiteY19" fmla="*/ 626996 h 1663154"/>
              <a:gd name="connsiteX20" fmla="*/ 831578 w 1663155"/>
              <a:gd name="connsiteY20" fmla="*/ 1663154 h 1663154"/>
              <a:gd name="connsiteX21" fmla="*/ 1 w 1663155"/>
              <a:gd name="connsiteY21" fmla="*/ 831577 h 1663154"/>
              <a:gd name="connsiteX22" fmla="*/ 202476 w 1663155"/>
              <a:gd name="connsiteY22" fmla="*/ 287735 h 1663154"/>
              <a:gd name="connsiteX23" fmla="*/ 112359 w 1663155"/>
              <a:gd name="connsiteY23" fmla="*/ 288386 h 1663154"/>
              <a:gd name="connsiteX24" fmla="*/ 56185 w 1663155"/>
              <a:gd name="connsiteY24" fmla="*/ 232552 h 1663154"/>
              <a:gd name="connsiteX25" fmla="*/ 111566 w 1663155"/>
              <a:gd name="connsiteY25" fmla="*/ 176382 h 1663154"/>
              <a:gd name="connsiteX26" fmla="*/ 335041 w 1663155"/>
              <a:gd name="connsiteY26" fmla="*/ 174769 h 1663154"/>
              <a:gd name="connsiteX27" fmla="*/ 391305 w 1663155"/>
              <a:gd name="connsiteY27" fmla="*/ 230358 h 1663154"/>
              <a:gd name="connsiteX28" fmla="*/ 391305 w 1663155"/>
              <a:gd name="connsiteY28" fmla="*/ 230369 h 1663154"/>
              <a:gd name="connsiteX29" fmla="*/ 392890 w 1663155"/>
              <a:gd name="connsiteY29" fmla="*/ 454378 h 1663154"/>
              <a:gd name="connsiteX30" fmla="*/ 337640 w 1663155"/>
              <a:gd name="connsiteY30" fmla="*/ 510861 h 1663154"/>
              <a:gd name="connsiteX31" fmla="*/ 281157 w 1663155"/>
              <a:gd name="connsiteY31" fmla="*/ 455611 h 1663154"/>
              <a:gd name="connsiteX32" fmla="*/ 281154 w 1663155"/>
              <a:gd name="connsiteY32" fmla="*/ 455183 h 1663154"/>
              <a:gd name="connsiteX33" fmla="*/ 280542 w 1663155"/>
              <a:gd name="connsiteY33" fmla="*/ 368268 h 1663154"/>
              <a:gd name="connsiteX34" fmla="*/ 111622 w 1663155"/>
              <a:gd name="connsiteY34" fmla="*/ 831568 h 1663154"/>
              <a:gd name="connsiteX35" fmla="*/ 831578 w 1663155"/>
              <a:gd name="connsiteY35" fmla="*/ 1551533 h 1663154"/>
              <a:gd name="connsiteX36" fmla="*/ 1551534 w 1663155"/>
              <a:gd name="connsiteY36" fmla="*/ 831568 h 1663154"/>
              <a:gd name="connsiteX37" fmla="*/ 832757 w 1663155"/>
              <a:gd name="connsiteY37" fmla="*/ 111612 h 1663154"/>
              <a:gd name="connsiteX38" fmla="*/ 831578 w 1663155"/>
              <a:gd name="connsiteY38" fmla="*/ 111671 h 1663154"/>
              <a:gd name="connsiteX39" fmla="*/ 775768 w 1663155"/>
              <a:gd name="connsiteY39" fmla="*/ 55861 h 1663154"/>
              <a:gd name="connsiteX40" fmla="*/ 831578 w 1663155"/>
              <a:gd name="connsiteY40" fmla="*/ 50 h 1663154"/>
              <a:gd name="connsiteX41" fmla="*/ 831578 w 1663155"/>
              <a:gd name="connsiteY41" fmla="*/ 0 h 1663154"/>
              <a:gd name="connsiteX42" fmla="*/ 1663155 w 1663155"/>
              <a:gd name="connsiteY42" fmla="*/ 831577 h 1663154"/>
              <a:gd name="connsiteX43" fmla="*/ 831578 w 1663155"/>
              <a:gd name="connsiteY43" fmla="*/ 1663154 h 1663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663155" h="1663154">
                <a:moveTo>
                  <a:pt x="1305968" y="831635"/>
                </a:moveTo>
                <a:cubicBezTo>
                  <a:pt x="1305968" y="1093634"/>
                  <a:pt x="1093577" y="1306025"/>
                  <a:pt x="831578" y="1306025"/>
                </a:cubicBezTo>
                <a:cubicBezTo>
                  <a:pt x="569579" y="1306025"/>
                  <a:pt x="357188" y="1093634"/>
                  <a:pt x="357188" y="831635"/>
                </a:cubicBezTo>
                <a:cubicBezTo>
                  <a:pt x="357188" y="569636"/>
                  <a:pt x="569579" y="357245"/>
                  <a:pt x="831578" y="357245"/>
                </a:cubicBezTo>
                <a:cubicBezTo>
                  <a:pt x="1093577" y="357245"/>
                  <a:pt x="1305968" y="569636"/>
                  <a:pt x="1305968" y="831635"/>
                </a:cubicBezTo>
                <a:close/>
                <a:moveTo>
                  <a:pt x="468810" y="831635"/>
                </a:moveTo>
                <a:cubicBezTo>
                  <a:pt x="468810" y="1031995"/>
                  <a:pt x="631218" y="1194403"/>
                  <a:pt x="831578" y="1194403"/>
                </a:cubicBezTo>
                <a:cubicBezTo>
                  <a:pt x="1031938" y="1194403"/>
                  <a:pt x="1194347" y="1031995"/>
                  <a:pt x="1194347" y="831635"/>
                </a:cubicBezTo>
                <a:cubicBezTo>
                  <a:pt x="1194347" y="631275"/>
                  <a:pt x="1031938" y="468866"/>
                  <a:pt x="831578" y="468866"/>
                </a:cubicBezTo>
                <a:cubicBezTo>
                  <a:pt x="631218" y="468866"/>
                  <a:pt x="468810" y="631275"/>
                  <a:pt x="468810" y="831635"/>
                </a:cubicBezTo>
                <a:close/>
                <a:moveTo>
                  <a:pt x="887389" y="626996"/>
                </a:moveTo>
                <a:lnTo>
                  <a:pt x="887389" y="775824"/>
                </a:lnTo>
                <a:lnTo>
                  <a:pt x="1036217" y="775824"/>
                </a:lnTo>
                <a:cubicBezTo>
                  <a:pt x="1067040" y="775824"/>
                  <a:pt x="1092027" y="800812"/>
                  <a:pt x="1092027" y="831635"/>
                </a:cubicBezTo>
                <a:cubicBezTo>
                  <a:pt x="1092027" y="862458"/>
                  <a:pt x="1067040" y="887445"/>
                  <a:pt x="1036217" y="887445"/>
                </a:cubicBezTo>
                <a:lnTo>
                  <a:pt x="831578" y="887445"/>
                </a:lnTo>
                <a:cubicBezTo>
                  <a:pt x="800755" y="887445"/>
                  <a:pt x="775768" y="862458"/>
                  <a:pt x="775768" y="831635"/>
                </a:cubicBezTo>
                <a:lnTo>
                  <a:pt x="775768" y="626996"/>
                </a:lnTo>
                <a:cubicBezTo>
                  <a:pt x="775768" y="596173"/>
                  <a:pt x="800755" y="571186"/>
                  <a:pt x="831578" y="571186"/>
                </a:cubicBezTo>
                <a:cubicBezTo>
                  <a:pt x="862401" y="571186"/>
                  <a:pt x="887389" y="596173"/>
                  <a:pt x="887389" y="626996"/>
                </a:cubicBezTo>
                <a:close/>
                <a:moveTo>
                  <a:pt x="831578" y="1663154"/>
                </a:moveTo>
                <a:cubicBezTo>
                  <a:pt x="372311" y="1663154"/>
                  <a:pt x="1" y="1290844"/>
                  <a:pt x="1" y="831577"/>
                </a:cubicBezTo>
                <a:cubicBezTo>
                  <a:pt x="-293" y="631812"/>
                  <a:pt x="71615" y="438670"/>
                  <a:pt x="202476" y="287735"/>
                </a:cubicBezTo>
                <a:lnTo>
                  <a:pt x="112359" y="288386"/>
                </a:lnTo>
                <a:cubicBezTo>
                  <a:pt x="81429" y="288480"/>
                  <a:pt x="56279" y="263482"/>
                  <a:pt x="56185" y="232552"/>
                </a:cubicBezTo>
                <a:cubicBezTo>
                  <a:pt x="56092" y="201799"/>
                  <a:pt x="80815" y="176724"/>
                  <a:pt x="111566" y="176382"/>
                </a:cubicBezTo>
                <a:lnTo>
                  <a:pt x="335041" y="174769"/>
                </a:lnTo>
                <a:cubicBezTo>
                  <a:pt x="365928" y="174582"/>
                  <a:pt x="391119" y="199470"/>
                  <a:pt x="391305" y="230358"/>
                </a:cubicBezTo>
                <a:cubicBezTo>
                  <a:pt x="391305" y="230362"/>
                  <a:pt x="391305" y="230365"/>
                  <a:pt x="391305" y="230369"/>
                </a:cubicBezTo>
                <a:lnTo>
                  <a:pt x="392890" y="454378"/>
                </a:lnTo>
                <a:cubicBezTo>
                  <a:pt x="393231" y="485232"/>
                  <a:pt x="368494" y="510521"/>
                  <a:pt x="337640" y="510861"/>
                </a:cubicBezTo>
                <a:cubicBezTo>
                  <a:pt x="306786" y="511201"/>
                  <a:pt x="281498" y="486465"/>
                  <a:pt x="281157" y="455611"/>
                </a:cubicBezTo>
                <a:cubicBezTo>
                  <a:pt x="281156" y="455468"/>
                  <a:pt x="281154" y="455326"/>
                  <a:pt x="281154" y="455183"/>
                </a:cubicBezTo>
                <a:lnTo>
                  <a:pt x="280542" y="368268"/>
                </a:lnTo>
                <a:cubicBezTo>
                  <a:pt x="171230" y="497872"/>
                  <a:pt x="111381" y="662020"/>
                  <a:pt x="111622" y="831568"/>
                </a:cubicBezTo>
                <a:cubicBezTo>
                  <a:pt x="111622" y="1229192"/>
                  <a:pt x="433958" y="1551533"/>
                  <a:pt x="831578" y="1551533"/>
                </a:cubicBezTo>
                <a:cubicBezTo>
                  <a:pt x="1229199" y="1551533"/>
                  <a:pt x="1551534" y="1229192"/>
                  <a:pt x="1551534" y="831568"/>
                </a:cubicBezTo>
                <a:cubicBezTo>
                  <a:pt x="1551534" y="434338"/>
                  <a:pt x="1229835" y="112257"/>
                  <a:pt x="832757" y="111612"/>
                </a:cubicBezTo>
                <a:cubicBezTo>
                  <a:pt x="832361" y="111612"/>
                  <a:pt x="831976" y="111671"/>
                  <a:pt x="831578" y="111671"/>
                </a:cubicBezTo>
                <a:cubicBezTo>
                  <a:pt x="800755" y="111671"/>
                  <a:pt x="775768" y="86684"/>
                  <a:pt x="775768" y="55861"/>
                </a:cubicBezTo>
                <a:cubicBezTo>
                  <a:pt x="775768" y="25037"/>
                  <a:pt x="800755" y="50"/>
                  <a:pt x="831578" y="50"/>
                </a:cubicBezTo>
                <a:lnTo>
                  <a:pt x="831578" y="0"/>
                </a:lnTo>
                <a:cubicBezTo>
                  <a:pt x="1290845" y="0"/>
                  <a:pt x="1663155" y="372308"/>
                  <a:pt x="1663155" y="831577"/>
                </a:cubicBezTo>
                <a:cubicBezTo>
                  <a:pt x="1663155" y="1290846"/>
                  <a:pt x="1290845" y="1663154"/>
                  <a:pt x="831578" y="1663154"/>
                </a:cubicBezTo>
                <a:close/>
              </a:path>
            </a:pathLst>
          </a:custGeom>
          <a:solidFill>
            <a:schemeClr val="accent2"/>
          </a:solidFill>
          <a:ln w="1488" cap="flat">
            <a:solidFill>
              <a:schemeClr val="accent2"/>
            </a:solidFill>
            <a:prstDash val="solid"/>
            <a:miter/>
          </a:ln>
          <a:effectLst/>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a:ln>
                <a:noFill/>
              </a:ln>
              <a:solidFill>
                <a:prstClr val="black"/>
              </a:solidFill>
              <a:effectLst/>
              <a:uLnTx/>
              <a:uFillTx/>
              <a:cs typeface="+mn-ea"/>
              <a:sym typeface="+mn-lt"/>
            </a:endParaRPr>
          </a:p>
        </p:txBody>
      </p:sp>
      <p:sp>
        <p:nvSpPr>
          <p:cNvPr id="268" name="图形 266"/>
          <p:cNvSpPr/>
          <p:nvPr/>
        </p:nvSpPr>
        <p:spPr>
          <a:xfrm>
            <a:off x="7339643" y="5793702"/>
            <a:ext cx="270635" cy="256413"/>
          </a:xfrm>
          <a:custGeom>
            <a:avLst/>
            <a:gdLst>
              <a:gd name="connsiteX0" fmla="*/ 223203 w 1666302"/>
              <a:gd name="connsiteY0" fmla="*/ 830500 h 1578733"/>
              <a:gd name="connsiteX1" fmla="*/ 251666 w 1666302"/>
              <a:gd name="connsiteY1" fmla="*/ 818036 h 1578733"/>
              <a:gd name="connsiteX2" fmla="*/ 455561 w 1666302"/>
              <a:gd name="connsiteY2" fmla="*/ 580469 h 1578733"/>
              <a:gd name="connsiteX3" fmla="*/ 460956 w 1666302"/>
              <a:gd name="connsiteY3" fmla="*/ 543262 h 1578733"/>
              <a:gd name="connsiteX4" fmla="*/ 428958 w 1666302"/>
              <a:gd name="connsiteY4" fmla="*/ 522054 h 1578733"/>
              <a:gd name="connsiteX5" fmla="*/ 242736 w 1666302"/>
              <a:gd name="connsiteY5" fmla="*/ 522054 h 1578733"/>
              <a:gd name="connsiteX6" fmla="*/ 487559 w 1666302"/>
              <a:gd name="connsiteY6" fmla="*/ 215282 h 1578733"/>
              <a:gd name="connsiteX7" fmla="*/ 969948 w 1666302"/>
              <a:gd name="connsiteY7" fmla="*/ 119473 h 1578733"/>
              <a:gd name="connsiteX8" fmla="*/ 1464801 w 1666302"/>
              <a:gd name="connsiteY8" fmla="*/ 585864 h 1578733"/>
              <a:gd name="connsiteX9" fmla="*/ 1530472 w 1666302"/>
              <a:gd name="connsiteY9" fmla="*/ 623071 h 1578733"/>
              <a:gd name="connsiteX10" fmla="*/ 1567679 w 1666302"/>
              <a:gd name="connsiteY10" fmla="*/ 557400 h 1578733"/>
              <a:gd name="connsiteX11" fmla="*/ 991156 w 1666302"/>
              <a:gd name="connsiteY11" fmla="*/ 14736 h 1578733"/>
              <a:gd name="connsiteX12" fmla="*/ 428958 w 1666302"/>
              <a:gd name="connsiteY12" fmla="*/ 126543 h 1578733"/>
              <a:gd name="connsiteX13" fmla="*/ 130929 w 1666302"/>
              <a:gd name="connsiteY13" fmla="*/ 521868 h 1578733"/>
              <a:gd name="connsiteX14" fmla="*/ 35121 w 1666302"/>
              <a:gd name="connsiteY14" fmla="*/ 521868 h 1578733"/>
              <a:gd name="connsiteX15" fmla="*/ 3123 w 1666302"/>
              <a:gd name="connsiteY15" fmla="*/ 541401 h 1578733"/>
              <a:gd name="connsiteX16" fmla="*/ 6658 w 1666302"/>
              <a:gd name="connsiteY16" fmla="*/ 578608 h 1578733"/>
              <a:gd name="connsiteX17" fmla="*/ 194739 w 1666302"/>
              <a:gd name="connsiteY17" fmla="*/ 818036 h 1578733"/>
              <a:gd name="connsiteX18" fmla="*/ 223203 w 1666302"/>
              <a:gd name="connsiteY18" fmla="*/ 830500 h 1578733"/>
              <a:gd name="connsiteX19" fmla="*/ 1659766 w 1666302"/>
              <a:gd name="connsiteY19" fmla="*/ 1002582 h 1578733"/>
              <a:gd name="connsiteX20" fmla="*/ 1471685 w 1666302"/>
              <a:gd name="connsiteY20" fmla="*/ 766690 h 1578733"/>
              <a:gd name="connsiteX21" fmla="*/ 1445082 w 1666302"/>
              <a:gd name="connsiteY21" fmla="*/ 752551 h 1578733"/>
              <a:gd name="connsiteX22" fmla="*/ 1416618 w 1666302"/>
              <a:gd name="connsiteY22" fmla="*/ 765015 h 1578733"/>
              <a:gd name="connsiteX23" fmla="*/ 1212724 w 1666302"/>
              <a:gd name="connsiteY23" fmla="*/ 1002582 h 1578733"/>
              <a:gd name="connsiteX24" fmla="*/ 1207329 w 1666302"/>
              <a:gd name="connsiteY24" fmla="*/ 1039789 h 1578733"/>
              <a:gd name="connsiteX25" fmla="*/ 1239327 w 1666302"/>
              <a:gd name="connsiteY25" fmla="*/ 1060997 h 1578733"/>
              <a:gd name="connsiteX26" fmla="*/ 1423688 w 1666302"/>
              <a:gd name="connsiteY26" fmla="*/ 1060997 h 1578733"/>
              <a:gd name="connsiteX27" fmla="*/ 689407 w 1666302"/>
              <a:gd name="connsiteY27" fmla="*/ 1458182 h 1578733"/>
              <a:gd name="connsiteX28" fmla="*/ 199948 w 1666302"/>
              <a:gd name="connsiteY28" fmla="*/ 997001 h 1578733"/>
              <a:gd name="connsiteX29" fmla="*/ 134278 w 1666302"/>
              <a:gd name="connsiteY29" fmla="*/ 959794 h 1578733"/>
              <a:gd name="connsiteX30" fmla="*/ 97071 w 1666302"/>
              <a:gd name="connsiteY30" fmla="*/ 1025465 h 1578733"/>
              <a:gd name="connsiteX31" fmla="*/ 668199 w 1666302"/>
              <a:gd name="connsiteY31" fmla="*/ 1562734 h 1578733"/>
              <a:gd name="connsiteX32" fmla="*/ 822422 w 1666302"/>
              <a:gd name="connsiteY32" fmla="*/ 1578733 h 1578733"/>
              <a:gd name="connsiteX33" fmla="*/ 1537169 w 1666302"/>
              <a:gd name="connsiteY33" fmla="*/ 1060811 h 1578733"/>
              <a:gd name="connsiteX34" fmla="*/ 1631117 w 1666302"/>
              <a:gd name="connsiteY34" fmla="*/ 1060811 h 1578733"/>
              <a:gd name="connsiteX35" fmla="*/ 1663115 w 1666302"/>
              <a:gd name="connsiteY35" fmla="*/ 1041278 h 1578733"/>
              <a:gd name="connsiteX36" fmla="*/ 1659766 w 1666302"/>
              <a:gd name="connsiteY36" fmla="*/ 1002582 h 1578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666302" h="1578733">
                <a:moveTo>
                  <a:pt x="223203" y="830500"/>
                </a:moveTo>
                <a:cubicBezTo>
                  <a:pt x="233807" y="830500"/>
                  <a:pt x="244411" y="825105"/>
                  <a:pt x="251666" y="818036"/>
                </a:cubicBezTo>
                <a:lnTo>
                  <a:pt x="455561" y="580469"/>
                </a:lnTo>
                <a:cubicBezTo>
                  <a:pt x="464490" y="569865"/>
                  <a:pt x="466165" y="555726"/>
                  <a:pt x="460956" y="543262"/>
                </a:cubicBezTo>
                <a:cubicBezTo>
                  <a:pt x="455561" y="530797"/>
                  <a:pt x="443282" y="522054"/>
                  <a:pt x="428958" y="522054"/>
                </a:cubicBezTo>
                <a:lnTo>
                  <a:pt x="242736" y="522054"/>
                </a:lnTo>
                <a:cubicBezTo>
                  <a:pt x="290548" y="396108"/>
                  <a:pt x="373891" y="289696"/>
                  <a:pt x="487559" y="215282"/>
                </a:cubicBezTo>
                <a:cubicBezTo>
                  <a:pt x="631178" y="119473"/>
                  <a:pt x="801400" y="85801"/>
                  <a:pt x="969948" y="119473"/>
                </a:cubicBezTo>
                <a:cubicBezTo>
                  <a:pt x="1209375" y="167285"/>
                  <a:pt x="1402666" y="349971"/>
                  <a:pt x="1464801" y="585864"/>
                </a:cubicBezTo>
                <a:cubicBezTo>
                  <a:pt x="1471871" y="614327"/>
                  <a:pt x="1502008" y="632000"/>
                  <a:pt x="1530472" y="623071"/>
                </a:cubicBezTo>
                <a:cubicBezTo>
                  <a:pt x="1558935" y="616001"/>
                  <a:pt x="1576609" y="585864"/>
                  <a:pt x="1567679" y="557400"/>
                </a:cubicBezTo>
                <a:cubicBezTo>
                  <a:pt x="1496614" y="284301"/>
                  <a:pt x="1269465" y="71476"/>
                  <a:pt x="991156" y="14736"/>
                </a:cubicBezTo>
                <a:cubicBezTo>
                  <a:pt x="794331" y="-24332"/>
                  <a:pt x="595645" y="14736"/>
                  <a:pt x="428958" y="126543"/>
                </a:cubicBezTo>
                <a:cubicBezTo>
                  <a:pt x="285153" y="222165"/>
                  <a:pt x="180601" y="360575"/>
                  <a:pt x="130929" y="521868"/>
                </a:cubicBezTo>
                <a:lnTo>
                  <a:pt x="35121" y="521868"/>
                </a:lnTo>
                <a:cubicBezTo>
                  <a:pt x="20983" y="521868"/>
                  <a:pt x="8518" y="528937"/>
                  <a:pt x="3123" y="541401"/>
                </a:cubicBezTo>
                <a:cubicBezTo>
                  <a:pt x="-2272" y="553866"/>
                  <a:pt x="-411" y="568004"/>
                  <a:pt x="6658" y="578608"/>
                </a:cubicBezTo>
                <a:lnTo>
                  <a:pt x="194739" y="818036"/>
                </a:lnTo>
                <a:cubicBezTo>
                  <a:pt x="201809" y="825105"/>
                  <a:pt x="212599" y="830500"/>
                  <a:pt x="223203" y="830500"/>
                </a:cubicBezTo>
                <a:close/>
                <a:moveTo>
                  <a:pt x="1659766" y="1002582"/>
                </a:moveTo>
                <a:lnTo>
                  <a:pt x="1471685" y="766690"/>
                </a:lnTo>
                <a:cubicBezTo>
                  <a:pt x="1464615" y="757760"/>
                  <a:pt x="1455686" y="754225"/>
                  <a:pt x="1445082" y="752551"/>
                </a:cubicBezTo>
                <a:cubicBezTo>
                  <a:pt x="1434478" y="752551"/>
                  <a:pt x="1423874" y="756086"/>
                  <a:pt x="1416618" y="765015"/>
                </a:cubicBezTo>
                <a:lnTo>
                  <a:pt x="1212724" y="1002582"/>
                </a:lnTo>
                <a:cubicBezTo>
                  <a:pt x="1203794" y="1013186"/>
                  <a:pt x="1202120" y="1027325"/>
                  <a:pt x="1207329" y="1039789"/>
                </a:cubicBezTo>
                <a:cubicBezTo>
                  <a:pt x="1212724" y="1052254"/>
                  <a:pt x="1225002" y="1060997"/>
                  <a:pt x="1239327" y="1060997"/>
                </a:cubicBezTo>
                <a:lnTo>
                  <a:pt x="1423688" y="1060997"/>
                </a:lnTo>
                <a:cubicBezTo>
                  <a:pt x="1311881" y="1350096"/>
                  <a:pt x="1003434" y="1523853"/>
                  <a:pt x="689407" y="1458182"/>
                </a:cubicBezTo>
                <a:cubicBezTo>
                  <a:pt x="451840" y="1408511"/>
                  <a:pt x="263758" y="1231220"/>
                  <a:pt x="199948" y="997001"/>
                </a:cubicBezTo>
                <a:cubicBezTo>
                  <a:pt x="192879" y="968538"/>
                  <a:pt x="162741" y="952725"/>
                  <a:pt x="134278" y="959794"/>
                </a:cubicBezTo>
                <a:cubicBezTo>
                  <a:pt x="105815" y="966864"/>
                  <a:pt x="90002" y="997001"/>
                  <a:pt x="97071" y="1025465"/>
                </a:cubicBezTo>
                <a:cubicBezTo>
                  <a:pt x="171485" y="1298564"/>
                  <a:pt x="389704" y="1504319"/>
                  <a:pt x="668199" y="1562734"/>
                </a:cubicBezTo>
                <a:cubicBezTo>
                  <a:pt x="719545" y="1573338"/>
                  <a:pt x="771076" y="1578733"/>
                  <a:pt x="822422" y="1578733"/>
                </a:cubicBezTo>
                <a:cubicBezTo>
                  <a:pt x="1143333" y="1578733"/>
                  <a:pt x="1435966" y="1371304"/>
                  <a:pt x="1537169" y="1060811"/>
                </a:cubicBezTo>
                <a:lnTo>
                  <a:pt x="1631117" y="1060811"/>
                </a:lnTo>
                <a:cubicBezTo>
                  <a:pt x="1645256" y="1060811"/>
                  <a:pt x="1657720" y="1053742"/>
                  <a:pt x="1663115" y="1041278"/>
                </a:cubicBezTo>
                <a:cubicBezTo>
                  <a:pt x="1668510" y="1029185"/>
                  <a:pt x="1666836" y="1013186"/>
                  <a:pt x="1659766" y="1002582"/>
                </a:cubicBezTo>
                <a:close/>
              </a:path>
            </a:pathLst>
          </a:custGeom>
          <a:solidFill>
            <a:schemeClr val="accent2"/>
          </a:solidFill>
          <a:ln w="1488" cap="flat">
            <a:solidFill>
              <a:schemeClr val="accent2"/>
            </a:solidFill>
            <a:prstDash val="solid"/>
            <a:miter/>
          </a:ln>
          <a:effectLst/>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a:ln>
                <a:noFill/>
              </a:ln>
              <a:solidFill>
                <a:prstClr val="black"/>
              </a:solidFill>
              <a:effectLst/>
              <a:uLnTx/>
              <a:uFillTx/>
              <a:cs typeface="+mn-ea"/>
              <a:sym typeface="+mn-lt"/>
            </a:endParaRPr>
          </a:p>
        </p:txBody>
      </p:sp>
      <p:grpSp>
        <p:nvGrpSpPr>
          <p:cNvPr id="277" name="组合 276"/>
          <p:cNvGrpSpPr>
            <a:grpSpLocks noChangeAspect="1"/>
          </p:cNvGrpSpPr>
          <p:nvPr/>
        </p:nvGrpSpPr>
        <p:grpSpPr>
          <a:xfrm>
            <a:off x="8273270" y="5799067"/>
            <a:ext cx="259200" cy="243554"/>
            <a:chOff x="-2100714" y="335652"/>
            <a:chExt cx="1335577" cy="1254960"/>
          </a:xfrm>
          <a:solidFill>
            <a:schemeClr val="accent2"/>
          </a:solidFill>
        </p:grpSpPr>
        <p:sp>
          <p:nvSpPr>
            <p:cNvPr id="275" name="任意多边形: 形状 274"/>
            <p:cNvSpPr/>
            <p:nvPr/>
          </p:nvSpPr>
          <p:spPr>
            <a:xfrm>
              <a:off x="-2100714" y="335652"/>
              <a:ext cx="1335577" cy="1254960"/>
            </a:xfrm>
            <a:custGeom>
              <a:avLst/>
              <a:gdLst>
                <a:gd name="connsiteX0" fmla="*/ 403722 w 1669477"/>
                <a:gd name="connsiteY0" fmla="*/ 0 h 1568700"/>
                <a:gd name="connsiteX1" fmla="*/ 1224488 w 1669477"/>
                <a:gd name="connsiteY1" fmla="*/ 0 h 1568700"/>
                <a:gd name="connsiteX2" fmla="*/ 1416990 w 1669477"/>
                <a:gd name="connsiteY2" fmla="*/ 71471 h 1568700"/>
                <a:gd name="connsiteX3" fmla="*/ 1515153 w 1669477"/>
                <a:gd name="connsiteY3" fmla="*/ 251923 h 1568700"/>
                <a:gd name="connsiteX4" fmla="*/ 1666943 w 1669477"/>
                <a:gd name="connsiteY4" fmla="*/ 1305836 h 1568700"/>
                <a:gd name="connsiteX5" fmla="*/ 1660536 w 1669477"/>
                <a:gd name="connsiteY5" fmla="*/ 1403526 h 1568700"/>
                <a:gd name="connsiteX6" fmla="*/ 1613083 w 1669477"/>
                <a:gd name="connsiteY6" fmla="*/ 1489157 h 1568700"/>
                <a:gd name="connsiteX7" fmla="*/ 1535032 w 1669477"/>
                <a:gd name="connsiteY7" fmla="*/ 1548327 h 1568700"/>
                <a:gd name="connsiteX8" fmla="*/ 1439217 w 1669477"/>
                <a:gd name="connsiteY8" fmla="*/ 1568701 h 1568700"/>
                <a:gd name="connsiteX9" fmla="*/ 230162 w 1669477"/>
                <a:gd name="connsiteY9" fmla="*/ 1568701 h 1568700"/>
                <a:gd name="connsiteX10" fmla="*/ 136339 w 1669477"/>
                <a:gd name="connsiteY10" fmla="*/ 1549223 h 1568700"/>
                <a:gd name="connsiteX11" fmla="*/ 59187 w 1669477"/>
                <a:gd name="connsiteY11" fmla="*/ 1492525 h 1568700"/>
                <a:gd name="connsiteX12" fmla="*/ 10799 w 1669477"/>
                <a:gd name="connsiteY12" fmla="*/ 1409875 h 1568700"/>
                <a:gd name="connsiteX13" fmla="*/ 1375 w 1669477"/>
                <a:gd name="connsiteY13" fmla="*/ 1314659 h 1568700"/>
                <a:gd name="connsiteX14" fmla="*/ 111690 w 1669477"/>
                <a:gd name="connsiteY14" fmla="*/ 263183 h 1568700"/>
                <a:gd name="connsiteX15" fmla="*/ 207018 w 1669477"/>
                <a:gd name="connsiteY15" fmla="*/ 75286 h 1568700"/>
                <a:gd name="connsiteX16" fmla="*/ 403722 w 1669477"/>
                <a:gd name="connsiteY16" fmla="*/ 0 h 1568700"/>
                <a:gd name="connsiteX17" fmla="*/ 1224488 w 1669477"/>
                <a:gd name="connsiteY17" fmla="*/ 78754 h 1568700"/>
                <a:gd name="connsiteX18" fmla="*/ 403722 w 1669477"/>
                <a:gd name="connsiteY18" fmla="*/ 78754 h 1568700"/>
                <a:gd name="connsiteX19" fmla="*/ 259625 w 1669477"/>
                <a:gd name="connsiteY19" fmla="*/ 133736 h 1568700"/>
                <a:gd name="connsiteX20" fmla="*/ 189831 w 1669477"/>
                <a:gd name="connsiteY20" fmla="*/ 271181 h 1568700"/>
                <a:gd name="connsiteX21" fmla="*/ 79516 w 1669477"/>
                <a:gd name="connsiteY21" fmla="*/ 1322657 h 1568700"/>
                <a:gd name="connsiteX22" fmla="*/ 85551 w 1669477"/>
                <a:gd name="connsiteY22" fmla="*/ 1385569 h 1568700"/>
                <a:gd name="connsiteX23" fmla="*/ 117637 w 1669477"/>
                <a:gd name="connsiteY23" fmla="*/ 1439918 h 1568700"/>
                <a:gd name="connsiteX24" fmla="*/ 168335 w 1669477"/>
                <a:gd name="connsiteY24" fmla="*/ 1477545 h 1568700"/>
                <a:gd name="connsiteX25" fmla="*/ 230162 w 1669477"/>
                <a:gd name="connsiteY25" fmla="*/ 1489946 h 1568700"/>
                <a:gd name="connsiteX26" fmla="*/ 1439217 w 1669477"/>
                <a:gd name="connsiteY26" fmla="*/ 1489946 h 1568700"/>
                <a:gd name="connsiteX27" fmla="*/ 1502422 w 1669477"/>
                <a:gd name="connsiteY27" fmla="*/ 1476956 h 1568700"/>
                <a:gd name="connsiteX28" fmla="*/ 1553712 w 1669477"/>
                <a:gd name="connsiteY28" fmla="*/ 1437783 h 1568700"/>
                <a:gd name="connsiteX29" fmla="*/ 1585164 w 1669477"/>
                <a:gd name="connsiteY29" fmla="*/ 1381375 h 1568700"/>
                <a:gd name="connsiteX30" fmla="*/ 1589110 w 1669477"/>
                <a:gd name="connsiteY30" fmla="*/ 1316908 h 1568700"/>
                <a:gd name="connsiteX31" fmla="*/ 1437319 w 1669477"/>
                <a:gd name="connsiteY31" fmla="*/ 262996 h 1568700"/>
                <a:gd name="connsiteX32" fmla="*/ 1365617 w 1669477"/>
                <a:gd name="connsiteY32" fmla="*/ 130842 h 1568700"/>
                <a:gd name="connsiteX33" fmla="*/ 1224488 w 1669477"/>
                <a:gd name="connsiteY33" fmla="*/ 78754 h 156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669477" h="1568700">
                  <a:moveTo>
                    <a:pt x="403722" y="0"/>
                  </a:moveTo>
                  <a:lnTo>
                    <a:pt x="1224488" y="0"/>
                  </a:lnTo>
                  <a:cubicBezTo>
                    <a:pt x="1297821" y="0"/>
                    <a:pt x="1365220" y="26627"/>
                    <a:pt x="1416990" y="71471"/>
                  </a:cubicBezTo>
                  <a:cubicBezTo>
                    <a:pt x="1468729" y="116290"/>
                    <a:pt x="1504685" y="179244"/>
                    <a:pt x="1515153" y="251923"/>
                  </a:cubicBezTo>
                  <a:lnTo>
                    <a:pt x="1666943" y="1305836"/>
                  </a:lnTo>
                  <a:cubicBezTo>
                    <a:pt x="1671827" y="1339752"/>
                    <a:pt x="1669631" y="1372526"/>
                    <a:pt x="1660536" y="1403526"/>
                  </a:cubicBezTo>
                  <a:cubicBezTo>
                    <a:pt x="1651470" y="1434429"/>
                    <a:pt x="1635589" y="1463177"/>
                    <a:pt x="1613083" y="1489157"/>
                  </a:cubicBezTo>
                  <a:cubicBezTo>
                    <a:pt x="1590603" y="1515103"/>
                    <a:pt x="1564389" y="1534918"/>
                    <a:pt x="1535032" y="1548327"/>
                  </a:cubicBezTo>
                  <a:cubicBezTo>
                    <a:pt x="1505489" y="1561819"/>
                    <a:pt x="1473356" y="1568701"/>
                    <a:pt x="1439217" y="1568701"/>
                  </a:cubicBezTo>
                  <a:lnTo>
                    <a:pt x="230162" y="1568701"/>
                  </a:lnTo>
                  <a:cubicBezTo>
                    <a:pt x="196782" y="1568701"/>
                    <a:pt x="165352" y="1562140"/>
                    <a:pt x="136339" y="1549223"/>
                  </a:cubicBezTo>
                  <a:cubicBezTo>
                    <a:pt x="107460" y="1536367"/>
                    <a:pt x="81586" y="1517400"/>
                    <a:pt x="59187" y="1492525"/>
                  </a:cubicBezTo>
                  <a:cubicBezTo>
                    <a:pt x="36737" y="1467594"/>
                    <a:pt x="20554" y="1439884"/>
                    <a:pt x="10799" y="1409875"/>
                  </a:cubicBezTo>
                  <a:cubicBezTo>
                    <a:pt x="1068" y="1379930"/>
                    <a:pt x="-2124" y="1348031"/>
                    <a:pt x="1375" y="1314659"/>
                  </a:cubicBezTo>
                  <a:lnTo>
                    <a:pt x="111690" y="263183"/>
                  </a:lnTo>
                  <a:cubicBezTo>
                    <a:pt x="119571" y="188054"/>
                    <a:pt x="154846" y="122267"/>
                    <a:pt x="207018" y="75286"/>
                  </a:cubicBezTo>
                  <a:cubicBezTo>
                    <a:pt x="259245" y="28251"/>
                    <a:pt x="328319" y="0"/>
                    <a:pt x="403722" y="0"/>
                  </a:cubicBezTo>
                  <a:close/>
                  <a:moveTo>
                    <a:pt x="1224488" y="78754"/>
                  </a:moveTo>
                  <a:lnTo>
                    <a:pt x="403722" y="78754"/>
                  </a:lnTo>
                  <a:cubicBezTo>
                    <a:pt x="348361" y="78754"/>
                    <a:pt x="297766" y="99387"/>
                    <a:pt x="259625" y="133736"/>
                  </a:cubicBezTo>
                  <a:cubicBezTo>
                    <a:pt x="221419" y="168140"/>
                    <a:pt x="195590" y="216269"/>
                    <a:pt x="189831" y="271181"/>
                  </a:cubicBezTo>
                  <a:lnTo>
                    <a:pt x="79516" y="1322657"/>
                  </a:lnTo>
                  <a:cubicBezTo>
                    <a:pt x="77174" y="1345001"/>
                    <a:pt x="79217" y="1366078"/>
                    <a:pt x="85551" y="1385569"/>
                  </a:cubicBezTo>
                  <a:cubicBezTo>
                    <a:pt x="91866" y="1404994"/>
                    <a:pt x="102599" y="1423216"/>
                    <a:pt x="117637" y="1439918"/>
                  </a:cubicBezTo>
                  <a:cubicBezTo>
                    <a:pt x="132725" y="1456672"/>
                    <a:pt x="149725" y="1469263"/>
                    <a:pt x="168335" y="1477545"/>
                  </a:cubicBezTo>
                  <a:cubicBezTo>
                    <a:pt x="186809" y="1485769"/>
                    <a:pt x="207517" y="1489946"/>
                    <a:pt x="230162" y="1489946"/>
                  </a:cubicBezTo>
                  <a:lnTo>
                    <a:pt x="1439217" y="1489946"/>
                  </a:lnTo>
                  <a:cubicBezTo>
                    <a:pt x="1462392" y="1489946"/>
                    <a:pt x="1483586" y="1485557"/>
                    <a:pt x="1502422" y="1476956"/>
                  </a:cubicBezTo>
                  <a:cubicBezTo>
                    <a:pt x="1521437" y="1468272"/>
                    <a:pt x="1538663" y="1455151"/>
                    <a:pt x="1553712" y="1437783"/>
                  </a:cubicBezTo>
                  <a:cubicBezTo>
                    <a:pt x="1568731" y="1420446"/>
                    <a:pt x="1579259" y="1401506"/>
                    <a:pt x="1585164" y="1381375"/>
                  </a:cubicBezTo>
                  <a:cubicBezTo>
                    <a:pt x="1591038" y="1361348"/>
                    <a:pt x="1592394" y="1339718"/>
                    <a:pt x="1589110" y="1316908"/>
                  </a:cubicBezTo>
                  <a:lnTo>
                    <a:pt x="1437319" y="262996"/>
                  </a:lnTo>
                  <a:cubicBezTo>
                    <a:pt x="1429634" y="209647"/>
                    <a:pt x="1403375" y="163550"/>
                    <a:pt x="1365617" y="130842"/>
                  </a:cubicBezTo>
                  <a:cubicBezTo>
                    <a:pt x="1327886" y="98160"/>
                    <a:pt x="1278485" y="78754"/>
                    <a:pt x="1224488" y="78754"/>
                  </a:cubicBezTo>
                  <a:close/>
                </a:path>
              </a:pathLst>
            </a:custGeom>
            <a:grpFill/>
            <a:ln w="10160" cap="flat">
              <a:solidFill>
                <a:schemeClr val="accent2"/>
              </a:solidFill>
              <a:prstDash val="solid"/>
              <a:miter/>
            </a:ln>
            <a:effectLst/>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a:ln>
                  <a:noFill/>
                </a:ln>
                <a:solidFill>
                  <a:prstClr val="black"/>
                </a:solidFill>
                <a:effectLst/>
                <a:uLnTx/>
                <a:uFillTx/>
                <a:cs typeface="+mn-ea"/>
                <a:sym typeface="+mn-lt"/>
              </a:endParaRPr>
            </a:p>
          </p:txBody>
        </p:sp>
        <p:sp>
          <p:nvSpPr>
            <p:cNvPr id="276" name="任意多边形: 形状 275"/>
            <p:cNvSpPr/>
            <p:nvPr/>
          </p:nvSpPr>
          <p:spPr>
            <a:xfrm>
              <a:off x="-1803285" y="592720"/>
              <a:ext cx="740689" cy="403868"/>
            </a:xfrm>
            <a:custGeom>
              <a:avLst/>
              <a:gdLst>
                <a:gd name="connsiteX0" fmla="*/ 162 w 925863"/>
                <a:gd name="connsiteY0" fmla="*/ 39224 h 504834"/>
                <a:gd name="connsiteX1" fmla="*/ 39385 w 925863"/>
                <a:gd name="connsiteY1" fmla="*/ 0 h 504834"/>
                <a:gd name="connsiteX2" fmla="*/ 78609 w 925863"/>
                <a:gd name="connsiteY2" fmla="*/ 39224 h 504834"/>
                <a:gd name="connsiteX3" fmla="*/ 78601 w 925863"/>
                <a:gd name="connsiteY3" fmla="*/ 41903 h 504834"/>
                <a:gd name="connsiteX4" fmla="*/ 78754 w 925863"/>
                <a:gd name="connsiteY4" fmla="*/ 41903 h 504834"/>
                <a:gd name="connsiteX5" fmla="*/ 191274 w 925863"/>
                <a:gd name="connsiteY5" fmla="*/ 313561 h 504834"/>
                <a:gd name="connsiteX6" fmla="*/ 462932 w 925863"/>
                <a:gd name="connsiteY6" fmla="*/ 426080 h 504834"/>
                <a:gd name="connsiteX7" fmla="*/ 734590 w 925863"/>
                <a:gd name="connsiteY7" fmla="*/ 313561 h 504834"/>
                <a:gd name="connsiteX8" fmla="*/ 847109 w 925863"/>
                <a:gd name="connsiteY8" fmla="*/ 41903 h 504834"/>
                <a:gd name="connsiteX9" fmla="*/ 847263 w 925863"/>
                <a:gd name="connsiteY9" fmla="*/ 41903 h 504834"/>
                <a:gd name="connsiteX10" fmla="*/ 847252 w 925863"/>
                <a:gd name="connsiteY10" fmla="*/ 39377 h 504834"/>
                <a:gd name="connsiteX11" fmla="*/ 886322 w 925863"/>
                <a:gd name="connsiteY11" fmla="*/ 0 h 504834"/>
                <a:gd name="connsiteX12" fmla="*/ 925699 w 925863"/>
                <a:gd name="connsiteY12" fmla="*/ 39070 h 504834"/>
                <a:gd name="connsiteX13" fmla="*/ 925710 w 925863"/>
                <a:gd name="connsiteY13" fmla="*/ 41749 h 504834"/>
                <a:gd name="connsiteX14" fmla="*/ 925863 w 925863"/>
                <a:gd name="connsiteY14" fmla="*/ 41903 h 504834"/>
                <a:gd name="connsiteX15" fmla="*/ 790272 w 925863"/>
                <a:gd name="connsiteY15" fmla="*/ 369243 h 504834"/>
                <a:gd name="connsiteX16" fmla="*/ 462932 w 925863"/>
                <a:gd name="connsiteY16" fmla="*/ 504835 h 504834"/>
                <a:gd name="connsiteX17" fmla="*/ 135592 w 925863"/>
                <a:gd name="connsiteY17" fmla="*/ 369243 h 504834"/>
                <a:gd name="connsiteX18" fmla="*/ 0 w 925863"/>
                <a:gd name="connsiteY18" fmla="*/ 41903 h 504834"/>
                <a:gd name="connsiteX19" fmla="*/ 153 w 925863"/>
                <a:gd name="connsiteY19" fmla="*/ 41903 h 504834"/>
                <a:gd name="connsiteX20" fmla="*/ 162 w 925863"/>
                <a:gd name="connsiteY20" fmla="*/ 39224 h 504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25863" h="504834">
                  <a:moveTo>
                    <a:pt x="162" y="39224"/>
                  </a:moveTo>
                  <a:cubicBezTo>
                    <a:pt x="162" y="17564"/>
                    <a:pt x="17725" y="0"/>
                    <a:pt x="39385" y="0"/>
                  </a:cubicBezTo>
                  <a:cubicBezTo>
                    <a:pt x="61046" y="0"/>
                    <a:pt x="78609" y="17564"/>
                    <a:pt x="78609" y="39224"/>
                  </a:cubicBezTo>
                  <a:lnTo>
                    <a:pt x="78601" y="41903"/>
                  </a:lnTo>
                  <a:lnTo>
                    <a:pt x="78754" y="41903"/>
                  </a:lnTo>
                  <a:cubicBezTo>
                    <a:pt x="78754" y="147990"/>
                    <a:pt x="121756" y="244040"/>
                    <a:pt x="191274" y="313561"/>
                  </a:cubicBezTo>
                  <a:cubicBezTo>
                    <a:pt x="260794" y="383078"/>
                    <a:pt x="356841" y="426080"/>
                    <a:pt x="462932" y="426080"/>
                  </a:cubicBezTo>
                  <a:cubicBezTo>
                    <a:pt x="569022" y="426080"/>
                    <a:pt x="665069" y="383078"/>
                    <a:pt x="734590" y="313561"/>
                  </a:cubicBezTo>
                  <a:cubicBezTo>
                    <a:pt x="804107" y="244040"/>
                    <a:pt x="847109" y="147990"/>
                    <a:pt x="847109" y="41903"/>
                  </a:cubicBezTo>
                  <a:lnTo>
                    <a:pt x="847263" y="41903"/>
                  </a:lnTo>
                  <a:lnTo>
                    <a:pt x="847252" y="39377"/>
                  </a:lnTo>
                  <a:cubicBezTo>
                    <a:pt x="847168" y="17717"/>
                    <a:pt x="864662" y="84"/>
                    <a:pt x="886322" y="0"/>
                  </a:cubicBezTo>
                  <a:cubicBezTo>
                    <a:pt x="907982" y="-83"/>
                    <a:pt x="925615" y="17410"/>
                    <a:pt x="925699" y="39070"/>
                  </a:cubicBezTo>
                  <a:lnTo>
                    <a:pt x="925710" y="41749"/>
                  </a:lnTo>
                  <a:lnTo>
                    <a:pt x="925863" y="41903"/>
                  </a:lnTo>
                  <a:cubicBezTo>
                    <a:pt x="925863" y="169731"/>
                    <a:pt x="874046" y="285466"/>
                    <a:pt x="790272" y="369243"/>
                  </a:cubicBezTo>
                  <a:cubicBezTo>
                    <a:pt x="706495" y="453017"/>
                    <a:pt x="590763" y="504835"/>
                    <a:pt x="462932" y="504835"/>
                  </a:cubicBezTo>
                  <a:cubicBezTo>
                    <a:pt x="335100" y="504835"/>
                    <a:pt x="219369" y="453017"/>
                    <a:pt x="135592" y="369243"/>
                  </a:cubicBezTo>
                  <a:cubicBezTo>
                    <a:pt x="51817" y="285466"/>
                    <a:pt x="0" y="169731"/>
                    <a:pt x="0" y="41903"/>
                  </a:cubicBezTo>
                  <a:lnTo>
                    <a:pt x="153" y="41903"/>
                  </a:lnTo>
                  <a:lnTo>
                    <a:pt x="162" y="39224"/>
                  </a:lnTo>
                  <a:close/>
                </a:path>
              </a:pathLst>
            </a:custGeom>
            <a:grpFill/>
            <a:ln w="10160" cap="flat">
              <a:solidFill>
                <a:schemeClr val="accent2"/>
              </a:solidFill>
              <a:prstDash val="solid"/>
              <a:miter/>
            </a:ln>
            <a:effectLst/>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a:ln>
                  <a:noFill/>
                </a:ln>
                <a:solidFill>
                  <a:prstClr val="black"/>
                </a:solidFill>
                <a:effectLst/>
                <a:uLnTx/>
                <a:uFillTx/>
                <a:cs typeface="+mn-ea"/>
                <a:sym typeface="+mn-lt"/>
              </a:endParaRPr>
            </a:p>
          </p:txBody>
        </p:sp>
      </p:grpSp>
      <p:grpSp>
        <p:nvGrpSpPr>
          <p:cNvPr id="283" name="组合 282"/>
          <p:cNvGrpSpPr/>
          <p:nvPr/>
        </p:nvGrpSpPr>
        <p:grpSpPr>
          <a:xfrm>
            <a:off x="9189565" y="5787328"/>
            <a:ext cx="282433" cy="269258"/>
            <a:chOff x="-3258602" y="269592"/>
            <a:chExt cx="1501620" cy="1431563"/>
          </a:xfrm>
          <a:solidFill>
            <a:schemeClr val="accent2"/>
          </a:solidFill>
        </p:grpSpPr>
        <p:sp>
          <p:nvSpPr>
            <p:cNvPr id="281" name="任意多边形: 形状 280"/>
            <p:cNvSpPr/>
            <p:nvPr/>
          </p:nvSpPr>
          <p:spPr>
            <a:xfrm>
              <a:off x="-3258602" y="269592"/>
              <a:ext cx="1501620" cy="1431563"/>
            </a:xfrm>
            <a:custGeom>
              <a:avLst/>
              <a:gdLst>
                <a:gd name="connsiteX0" fmla="*/ 1500950 w 1877020"/>
                <a:gd name="connsiteY0" fmla="*/ 1789454 h 1789453"/>
                <a:gd name="connsiteX1" fmla="*/ 376033 w 1877020"/>
                <a:gd name="connsiteY1" fmla="*/ 1789454 h 1789453"/>
                <a:gd name="connsiteX2" fmla="*/ 0 w 1877020"/>
                <a:gd name="connsiteY2" fmla="*/ 1413384 h 1789453"/>
                <a:gd name="connsiteX3" fmla="*/ 0 w 1877020"/>
                <a:gd name="connsiteY3" fmla="*/ 376070 h 1789453"/>
                <a:gd name="connsiteX4" fmla="*/ 376014 w 1877020"/>
                <a:gd name="connsiteY4" fmla="*/ 0 h 1789453"/>
                <a:gd name="connsiteX5" fmla="*/ 1500950 w 1877020"/>
                <a:gd name="connsiteY5" fmla="*/ 0 h 1789453"/>
                <a:gd name="connsiteX6" fmla="*/ 1877020 w 1877020"/>
                <a:gd name="connsiteY6" fmla="*/ 376070 h 1789453"/>
                <a:gd name="connsiteX7" fmla="*/ 1877020 w 1877020"/>
                <a:gd name="connsiteY7" fmla="*/ 1413384 h 1789453"/>
                <a:gd name="connsiteX8" fmla="*/ 1500950 w 1877020"/>
                <a:gd name="connsiteY8" fmla="*/ 1789454 h 1789453"/>
                <a:gd name="connsiteX9" fmla="*/ 376033 w 1877020"/>
                <a:gd name="connsiteY9" fmla="*/ 149758 h 1789453"/>
                <a:gd name="connsiteX10" fmla="*/ 149777 w 1877020"/>
                <a:gd name="connsiteY10" fmla="*/ 376051 h 1789453"/>
                <a:gd name="connsiteX11" fmla="*/ 149777 w 1877020"/>
                <a:gd name="connsiteY11" fmla="*/ 1413365 h 1789453"/>
                <a:gd name="connsiteX12" fmla="*/ 376033 w 1877020"/>
                <a:gd name="connsiteY12" fmla="*/ 1639658 h 1789453"/>
                <a:gd name="connsiteX13" fmla="*/ 1500969 w 1877020"/>
                <a:gd name="connsiteY13" fmla="*/ 1639658 h 1789453"/>
                <a:gd name="connsiteX14" fmla="*/ 1727262 w 1877020"/>
                <a:gd name="connsiteY14" fmla="*/ 1413365 h 1789453"/>
                <a:gd name="connsiteX15" fmla="*/ 1727262 w 1877020"/>
                <a:gd name="connsiteY15" fmla="*/ 376070 h 1789453"/>
                <a:gd name="connsiteX16" fmla="*/ 1500969 w 1877020"/>
                <a:gd name="connsiteY16" fmla="*/ 149777 h 1789453"/>
                <a:gd name="connsiteX17" fmla="*/ 376033 w 1877020"/>
                <a:gd name="connsiteY17" fmla="*/ 149758 h 1789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77020" h="1789453">
                  <a:moveTo>
                    <a:pt x="1500950" y="1789454"/>
                  </a:moveTo>
                  <a:lnTo>
                    <a:pt x="376033" y="1789454"/>
                  </a:lnTo>
                  <a:cubicBezTo>
                    <a:pt x="168678" y="1789454"/>
                    <a:pt x="0" y="1620776"/>
                    <a:pt x="0" y="1413384"/>
                  </a:cubicBezTo>
                  <a:lnTo>
                    <a:pt x="0" y="376070"/>
                  </a:lnTo>
                  <a:cubicBezTo>
                    <a:pt x="0" y="168678"/>
                    <a:pt x="168678" y="0"/>
                    <a:pt x="376014" y="0"/>
                  </a:cubicBezTo>
                  <a:lnTo>
                    <a:pt x="1500950" y="0"/>
                  </a:lnTo>
                  <a:cubicBezTo>
                    <a:pt x="1708342" y="0"/>
                    <a:pt x="1877020" y="168678"/>
                    <a:pt x="1877020" y="376070"/>
                  </a:cubicBezTo>
                  <a:lnTo>
                    <a:pt x="1877020" y="1413384"/>
                  </a:lnTo>
                  <a:cubicBezTo>
                    <a:pt x="1877020" y="1620776"/>
                    <a:pt x="1708342" y="1789454"/>
                    <a:pt x="1500950" y="1789454"/>
                  </a:cubicBezTo>
                  <a:close/>
                  <a:moveTo>
                    <a:pt x="376033" y="149758"/>
                  </a:moveTo>
                  <a:cubicBezTo>
                    <a:pt x="251278" y="149758"/>
                    <a:pt x="149777" y="251259"/>
                    <a:pt x="149777" y="376051"/>
                  </a:cubicBezTo>
                  <a:lnTo>
                    <a:pt x="149777" y="1413365"/>
                  </a:lnTo>
                  <a:cubicBezTo>
                    <a:pt x="149777" y="1538176"/>
                    <a:pt x="251278" y="1639658"/>
                    <a:pt x="376033" y="1639658"/>
                  </a:cubicBezTo>
                  <a:lnTo>
                    <a:pt x="1500969" y="1639658"/>
                  </a:lnTo>
                  <a:cubicBezTo>
                    <a:pt x="1625780" y="1639658"/>
                    <a:pt x="1727262" y="1538157"/>
                    <a:pt x="1727262" y="1413365"/>
                  </a:cubicBezTo>
                  <a:lnTo>
                    <a:pt x="1727262" y="376070"/>
                  </a:lnTo>
                  <a:cubicBezTo>
                    <a:pt x="1727262" y="251259"/>
                    <a:pt x="1625761" y="149777"/>
                    <a:pt x="1500969" y="149777"/>
                  </a:cubicBezTo>
                  <a:lnTo>
                    <a:pt x="376033" y="149758"/>
                  </a:lnTo>
                  <a:close/>
                </a:path>
              </a:pathLst>
            </a:custGeom>
            <a:grpFill/>
            <a:ln w="1860" cap="flat">
              <a:noFill/>
              <a:prstDash val="solid"/>
              <a:miter/>
            </a:ln>
            <a:effectLst/>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a:ln>
                  <a:noFill/>
                </a:ln>
                <a:solidFill>
                  <a:prstClr val="black"/>
                </a:solidFill>
                <a:effectLst/>
                <a:uLnTx/>
                <a:uFillTx/>
                <a:cs typeface="+mn-ea"/>
                <a:sym typeface="+mn-lt"/>
              </a:endParaRPr>
            </a:p>
          </p:txBody>
        </p:sp>
        <p:sp>
          <p:nvSpPr>
            <p:cNvPr id="282" name="任意多边形: 形状 281"/>
            <p:cNvSpPr/>
            <p:nvPr/>
          </p:nvSpPr>
          <p:spPr>
            <a:xfrm>
              <a:off x="-2896586" y="798598"/>
              <a:ext cx="777598" cy="437197"/>
            </a:xfrm>
            <a:custGeom>
              <a:avLst/>
              <a:gdLst>
                <a:gd name="connsiteX0" fmla="*/ 0 w 971996"/>
                <a:gd name="connsiteY0" fmla="*/ 0 h 546496"/>
                <a:gd name="connsiteX1" fmla="*/ 971996 w 971996"/>
                <a:gd name="connsiteY1" fmla="*/ 0 h 546496"/>
                <a:gd name="connsiteX2" fmla="*/ 971996 w 971996"/>
                <a:gd name="connsiteY2" fmla="*/ 149758 h 546496"/>
                <a:gd name="connsiteX3" fmla="*/ 0 w 971996"/>
                <a:gd name="connsiteY3" fmla="*/ 149758 h 546496"/>
                <a:gd name="connsiteX4" fmla="*/ 0 w 971996"/>
                <a:gd name="connsiteY4" fmla="*/ 396739 h 546496"/>
                <a:gd name="connsiteX5" fmla="*/ 544599 w 971996"/>
                <a:gd name="connsiteY5" fmla="*/ 396739 h 546496"/>
                <a:gd name="connsiteX6" fmla="*/ 544599 w 971996"/>
                <a:gd name="connsiteY6" fmla="*/ 546497 h 546496"/>
                <a:gd name="connsiteX7" fmla="*/ 0 w 971996"/>
                <a:gd name="connsiteY7" fmla="*/ 546497 h 546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1996" h="546496">
                  <a:moveTo>
                    <a:pt x="0" y="0"/>
                  </a:moveTo>
                  <a:lnTo>
                    <a:pt x="971996" y="0"/>
                  </a:lnTo>
                  <a:lnTo>
                    <a:pt x="971996" y="149758"/>
                  </a:lnTo>
                  <a:lnTo>
                    <a:pt x="0" y="149758"/>
                  </a:lnTo>
                  <a:close/>
                  <a:moveTo>
                    <a:pt x="0" y="396739"/>
                  </a:moveTo>
                  <a:lnTo>
                    <a:pt x="544599" y="396739"/>
                  </a:lnTo>
                  <a:lnTo>
                    <a:pt x="544599" y="546497"/>
                  </a:lnTo>
                  <a:lnTo>
                    <a:pt x="0" y="546497"/>
                  </a:lnTo>
                  <a:close/>
                </a:path>
              </a:pathLst>
            </a:custGeom>
            <a:grpFill/>
            <a:ln w="1860" cap="flat">
              <a:noFill/>
              <a:prstDash val="solid"/>
              <a:miter/>
            </a:ln>
            <a:effectLst/>
          </p:spPr>
          <p:txBody>
            <a:bodyPr lIns="73152" tIns="36576" rIns="73152" bIns="36576"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a:ln>
                  <a:noFill/>
                </a:ln>
                <a:solidFill>
                  <a:prstClr val="black"/>
                </a:solidFill>
                <a:effectLst/>
                <a:uLnTx/>
                <a:uFillTx/>
                <a:cs typeface="+mn-ea"/>
                <a:sym typeface="+mn-lt"/>
              </a:endParaRPr>
            </a:p>
          </p:txBody>
        </p:sp>
      </p:grpSp>
      <p:cxnSp>
        <p:nvCxnSpPr>
          <p:cNvPr id="41" name="直接连接符 40"/>
          <p:cNvCxnSpPr/>
          <p:nvPr/>
        </p:nvCxnSpPr>
        <p:spPr>
          <a:xfrm>
            <a:off x="442913" y="657225"/>
            <a:ext cx="11304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4" name="文本框 63"/>
          <p:cNvSpPr txBox="1"/>
          <p:nvPr/>
        </p:nvSpPr>
        <p:spPr>
          <a:xfrm>
            <a:off x="1666875" y="196403"/>
            <a:ext cx="2513509" cy="430887"/>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cs typeface="+mn-ea"/>
                <a:sym typeface="+mn-lt"/>
              </a:rPr>
              <a:t>项目管理全视图</a:t>
            </a:r>
          </a:p>
        </p:txBody>
      </p:sp>
      <p:sp>
        <p:nvSpPr>
          <p:cNvPr id="66" name="文本框 65"/>
          <p:cNvSpPr txBox="1"/>
          <p:nvPr/>
        </p:nvSpPr>
        <p:spPr>
          <a:xfrm>
            <a:off x="430961" y="196403"/>
            <a:ext cx="1077218" cy="430887"/>
          </a:xfrm>
          <a:prstGeom prst="rect">
            <a:avLst/>
          </a:prstGeom>
          <a:noFill/>
        </p:spPr>
        <p:txBody>
          <a:bodyPr wrap="none" lIns="0" tIns="0" rIns="0" bIns="0">
            <a:spAutoFit/>
          </a:bodyPr>
          <a:lstStyle>
            <a:defPPr>
              <a:defRPr lang="zh-CN"/>
            </a:defPPr>
            <a:lvl1pPr>
              <a:defRPr sz="2800">
                <a:latin typeface="思源黑体 CN Bold" panose="020B0800000000000000" pitchFamily="34" charset="-122"/>
                <a:ea typeface="思源黑体 CN Bold" panose="020B0800000000000000"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305598"/>
                </a:solidFill>
                <a:effectLst/>
                <a:uLnTx/>
                <a:uFillTx/>
                <a:latin typeface="+mn-lt"/>
                <a:ea typeface="+mn-ea"/>
                <a:cs typeface="+mn-ea"/>
                <a:sym typeface="+mn-lt"/>
              </a:rPr>
              <a:t>框架图</a:t>
            </a:r>
          </a:p>
        </p:txBody>
      </p:sp>
      <p:cxnSp>
        <p:nvCxnSpPr>
          <p:cNvPr id="67" name="直接连接符 66"/>
          <p:cNvCxnSpPr/>
          <p:nvPr/>
        </p:nvCxnSpPr>
        <p:spPr>
          <a:xfrm>
            <a:off x="1584758" y="192772"/>
            <a:ext cx="0" cy="4381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53941" y="2918911"/>
            <a:ext cx="10595147" cy="1685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 name="矩形: 圆角 2"/>
          <p:cNvSpPr/>
          <p:nvPr/>
        </p:nvSpPr>
        <p:spPr>
          <a:xfrm>
            <a:off x="1765189" y="3225037"/>
            <a:ext cx="3888187" cy="1073426"/>
          </a:xfrm>
          <a:prstGeom prst="roundRect">
            <a:avLst>
              <a:gd name="adj" fmla="val 50000"/>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cxnSp>
        <p:nvCxnSpPr>
          <p:cNvPr id="6" name="直接连接符 5"/>
          <p:cNvCxnSpPr/>
          <p:nvPr/>
        </p:nvCxnSpPr>
        <p:spPr>
          <a:xfrm>
            <a:off x="442913" y="657225"/>
            <a:ext cx="11304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1669961" y="196403"/>
            <a:ext cx="2154436" cy="430887"/>
          </a:xfrm>
          <a:prstGeom prst="rect">
            <a:avLst/>
          </a:prstGeom>
          <a:noFill/>
        </p:spPr>
        <p:txBody>
          <a:bodyPr wrap="none" lIns="0" tIns="0" rIns="0" bIns="0" anchor="ctr">
            <a:spAutoFit/>
          </a:bodyPr>
          <a:lstStyle>
            <a:defPPr>
              <a:defRPr lang="zh-CN"/>
            </a:defPPr>
            <a:lvl1pPr>
              <a:defRPr sz="2800">
                <a:latin typeface="思源黑体 CN Bold" panose="020B0800000000000000" pitchFamily="34" charset="-122"/>
                <a:ea typeface="思源黑体 CN Bold" panose="020B0800000000000000"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mn-lt"/>
                <a:ea typeface="+mn-ea"/>
                <a:cs typeface="+mn-ea"/>
                <a:sym typeface="+mn-lt"/>
              </a:rPr>
              <a:t>项目流程规划</a:t>
            </a:r>
          </a:p>
        </p:txBody>
      </p:sp>
      <p:sp>
        <p:nvSpPr>
          <p:cNvPr id="11" name="文本框 10"/>
          <p:cNvSpPr txBox="1"/>
          <p:nvPr/>
        </p:nvSpPr>
        <p:spPr>
          <a:xfrm>
            <a:off x="430961" y="196403"/>
            <a:ext cx="1077218" cy="430887"/>
          </a:xfrm>
          <a:prstGeom prst="rect">
            <a:avLst/>
          </a:prstGeom>
          <a:noFill/>
        </p:spPr>
        <p:txBody>
          <a:bodyPr wrap="none" lIns="0" tIns="0" rIns="0" bIns="0" anchor="ctr">
            <a:spAutoFit/>
          </a:bodyPr>
          <a:lstStyle>
            <a:defPPr>
              <a:defRPr lang="zh-CN"/>
            </a:defPPr>
            <a:lvl1pPr>
              <a:defRPr sz="2800">
                <a:solidFill>
                  <a:schemeClr val="accent1"/>
                </a:solidFill>
                <a:latin typeface="思源黑体 CN Bold" panose="020B0800000000000000" pitchFamily="34" charset="-122"/>
                <a:ea typeface="思源黑体 CN Bold" panose="020B0800000000000000"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305598"/>
                </a:solidFill>
                <a:effectLst/>
                <a:uLnTx/>
                <a:uFillTx/>
                <a:latin typeface="+mn-lt"/>
                <a:ea typeface="+mn-ea"/>
                <a:cs typeface="+mn-ea"/>
                <a:sym typeface="+mn-lt"/>
              </a:rPr>
              <a:t>框架图</a:t>
            </a:r>
          </a:p>
        </p:txBody>
      </p:sp>
      <p:sp>
        <p:nvSpPr>
          <p:cNvPr id="13" name="矩形 12"/>
          <p:cNvSpPr/>
          <p:nvPr/>
        </p:nvSpPr>
        <p:spPr>
          <a:xfrm>
            <a:off x="1153941" y="2205715"/>
            <a:ext cx="2314973" cy="5778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4" name="文本框 13"/>
          <p:cNvSpPr txBox="1"/>
          <p:nvPr/>
        </p:nvSpPr>
        <p:spPr>
          <a:xfrm>
            <a:off x="1528361" y="2386917"/>
            <a:ext cx="1590179" cy="215444"/>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上市首月市占率≥</a:t>
            </a:r>
            <a:r>
              <a:rPr kumimoji="0" lang="en-US" altLang="zh-CN" sz="1400" b="0" i="0" u="none" strike="noStrike" kern="1200" cap="none" spc="0" normalizeH="0" baseline="0" noProof="0" dirty="0">
                <a:ln>
                  <a:noFill/>
                </a:ln>
                <a:solidFill>
                  <a:prstClr val="white"/>
                </a:solidFill>
                <a:effectLst/>
                <a:uLnTx/>
                <a:uFillTx/>
                <a:cs typeface="+mn-ea"/>
                <a:sym typeface="+mn-lt"/>
              </a:rPr>
              <a:t>8%</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sp>
        <p:nvSpPr>
          <p:cNvPr id="15" name="Rectangle 32+"/>
          <p:cNvSpPr/>
          <p:nvPr/>
        </p:nvSpPr>
        <p:spPr>
          <a:xfrm>
            <a:off x="3913999" y="2205715"/>
            <a:ext cx="2314973" cy="57785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6" name="文本框 15"/>
          <p:cNvSpPr txBox="1"/>
          <p:nvPr/>
        </p:nvSpPr>
        <p:spPr>
          <a:xfrm>
            <a:off x="4342120" y="2386917"/>
            <a:ext cx="1458733" cy="215444"/>
          </a:xfrm>
          <a:prstGeom prst="rect">
            <a:avLst/>
          </a:prstGeom>
          <a:noFill/>
        </p:spPr>
        <p:txBody>
          <a:bodyPr wrap="none" lIns="0" tIns="0" rIns="0" bIns="0">
            <a:spAutoFit/>
          </a:bodyPr>
          <a:lstStyle>
            <a:defPPr>
              <a:defRPr lang="zh-CN"/>
            </a:defPPr>
            <a:lvl1pPr>
              <a:defRPr sz="1400" b="0" i="0">
                <a:solidFill>
                  <a:schemeClr val="bg1"/>
                </a:solidFill>
                <a:effectLst/>
                <a:latin typeface="Inter"/>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mn-lt"/>
                <a:cs typeface="+mn-ea"/>
                <a:sym typeface="+mn-lt"/>
              </a:rPr>
              <a:t>线下</a:t>
            </a:r>
            <a:r>
              <a:rPr kumimoji="0" lang="en-US" altLang="zh-CN" sz="1400" b="0" i="0" u="none" strike="noStrike" kern="1200" cap="none" spc="0" normalizeH="0" baseline="0" noProof="0" dirty="0">
                <a:ln>
                  <a:noFill/>
                </a:ln>
                <a:solidFill>
                  <a:prstClr val="white"/>
                </a:solidFill>
                <a:effectLst/>
                <a:uLnTx/>
                <a:uFillTx/>
                <a:latin typeface="+mn-lt"/>
                <a:cs typeface="+mn-ea"/>
                <a:sym typeface="+mn-lt"/>
              </a:rPr>
              <a:t>10</a:t>
            </a:r>
            <a:r>
              <a:rPr kumimoji="0" lang="zh-CN" altLang="en-US" sz="1400" b="0" i="0" u="none" strike="noStrike" kern="1200" cap="none" spc="0" normalizeH="0" baseline="0" noProof="0" dirty="0">
                <a:ln>
                  <a:noFill/>
                </a:ln>
                <a:solidFill>
                  <a:prstClr val="white"/>
                </a:solidFill>
                <a:effectLst/>
                <a:uLnTx/>
                <a:uFillTx/>
                <a:latin typeface="+mn-lt"/>
                <a:cs typeface="+mn-ea"/>
                <a:sym typeface="+mn-lt"/>
              </a:rPr>
              <a:t>城同步铺货</a:t>
            </a:r>
          </a:p>
        </p:txBody>
      </p:sp>
      <p:sp>
        <p:nvSpPr>
          <p:cNvPr id="17" name="Rectangle 32++"/>
          <p:cNvSpPr/>
          <p:nvPr/>
        </p:nvSpPr>
        <p:spPr>
          <a:xfrm>
            <a:off x="6674057" y="2205715"/>
            <a:ext cx="2314973" cy="57785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8" name="文本框 17"/>
          <p:cNvSpPr txBox="1"/>
          <p:nvPr/>
        </p:nvSpPr>
        <p:spPr>
          <a:xfrm>
            <a:off x="6750657" y="2386917"/>
            <a:ext cx="2186609" cy="215444"/>
          </a:xfrm>
          <a:prstGeom prst="rect">
            <a:avLst/>
          </a:prstGeom>
          <a:noFill/>
        </p:spPr>
        <p:txBody>
          <a:bodyPr wrap="square" lIns="0" tIns="0" rIns="0" bIns="0">
            <a:spAutoFit/>
          </a:bodyPr>
          <a:lstStyle>
            <a:defPPr>
              <a:defRPr lang="zh-CN"/>
            </a:defPPr>
            <a:lvl1pPr>
              <a:defRPr sz="1400" b="0" i="0">
                <a:solidFill>
                  <a:schemeClr val="bg1"/>
                </a:solidFill>
                <a:effectLst/>
                <a:latin typeface="Inter"/>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mn-lt"/>
                <a:cs typeface="+mn-ea"/>
                <a:sym typeface="+mn-lt"/>
              </a:rPr>
              <a:t>用户复购率提升至</a:t>
            </a:r>
            <a:r>
              <a:rPr kumimoji="0" lang="en-US" altLang="zh-CN" sz="1400" b="0" i="0" u="none" strike="noStrike" kern="1200" cap="none" spc="0" normalizeH="0" baseline="0" noProof="0" dirty="0">
                <a:ln>
                  <a:noFill/>
                </a:ln>
                <a:solidFill>
                  <a:prstClr val="white"/>
                </a:solidFill>
                <a:effectLst/>
                <a:uLnTx/>
                <a:uFillTx/>
                <a:latin typeface="+mn-lt"/>
                <a:cs typeface="+mn-ea"/>
                <a:sym typeface="+mn-lt"/>
              </a:rPr>
              <a:t>35%</a:t>
            </a:r>
            <a:endParaRPr kumimoji="0" lang="zh-CN" altLang="en-US" sz="1400" b="0" i="0" u="none" strike="noStrike" kern="1200" cap="none" spc="0" normalizeH="0" baseline="0" noProof="0" dirty="0">
              <a:ln>
                <a:noFill/>
              </a:ln>
              <a:solidFill>
                <a:prstClr val="white"/>
              </a:solidFill>
              <a:effectLst/>
              <a:uLnTx/>
              <a:uFillTx/>
              <a:latin typeface="+mn-lt"/>
              <a:cs typeface="+mn-ea"/>
              <a:sym typeface="+mn-lt"/>
            </a:endParaRPr>
          </a:p>
        </p:txBody>
      </p:sp>
      <p:sp>
        <p:nvSpPr>
          <p:cNvPr id="19" name="Rectangle 32+++"/>
          <p:cNvSpPr/>
          <p:nvPr/>
        </p:nvSpPr>
        <p:spPr>
          <a:xfrm>
            <a:off x="9434115" y="2205715"/>
            <a:ext cx="2314973" cy="57785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0" name="文本框 19"/>
          <p:cNvSpPr txBox="1"/>
          <p:nvPr/>
        </p:nvSpPr>
        <p:spPr>
          <a:xfrm>
            <a:off x="10094671" y="2386917"/>
            <a:ext cx="993862" cy="215444"/>
          </a:xfrm>
          <a:prstGeom prst="rect">
            <a:avLst/>
          </a:prstGeom>
          <a:noFill/>
        </p:spPr>
        <p:txBody>
          <a:bodyPr wrap="none" lIns="0" tIns="0" rIns="0" bIns="0">
            <a:spAutoFit/>
          </a:bodyPr>
          <a:lstStyle>
            <a:defPPr>
              <a:defRPr lang="zh-CN"/>
            </a:defPPr>
            <a:lvl1pPr>
              <a:defRPr sz="1400" b="0" i="0">
                <a:solidFill>
                  <a:schemeClr val="bg1"/>
                </a:solidFill>
                <a:effectLst/>
                <a:latin typeface="Inter"/>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mn-lt"/>
                <a:cs typeface="+mn-ea"/>
                <a:sym typeface="+mn-lt"/>
              </a:rPr>
              <a:t>分析</a:t>
            </a:r>
            <a:r>
              <a:rPr kumimoji="0" lang="en-US" altLang="zh-CN" sz="1400" b="0" i="0" u="none" strike="noStrike" kern="1200" cap="none" spc="0" normalizeH="0" baseline="0" noProof="0" dirty="0">
                <a:ln>
                  <a:noFill/>
                </a:ln>
                <a:solidFill>
                  <a:prstClr val="white"/>
                </a:solidFill>
                <a:effectLst/>
                <a:uLnTx/>
                <a:uFillTx/>
                <a:latin typeface="+mn-lt"/>
                <a:cs typeface="+mn-ea"/>
                <a:sym typeface="+mn-lt"/>
              </a:rPr>
              <a:t>ROI≥1:5</a:t>
            </a:r>
            <a:endParaRPr kumimoji="0" lang="zh-CN" altLang="en-US" sz="1400" b="0" i="0" u="none" strike="noStrike" kern="1200" cap="none" spc="0" normalizeH="0" baseline="0" noProof="0" dirty="0">
              <a:ln>
                <a:noFill/>
              </a:ln>
              <a:solidFill>
                <a:prstClr val="white"/>
              </a:solidFill>
              <a:effectLst/>
              <a:uLnTx/>
              <a:uFillTx/>
              <a:latin typeface="+mn-lt"/>
              <a:cs typeface="+mn-ea"/>
              <a:sym typeface="+mn-lt"/>
            </a:endParaRPr>
          </a:p>
        </p:txBody>
      </p:sp>
      <p:sp>
        <p:nvSpPr>
          <p:cNvPr id="21" name="任意多边形: 形状 20"/>
          <p:cNvSpPr/>
          <p:nvPr/>
        </p:nvSpPr>
        <p:spPr>
          <a:xfrm>
            <a:off x="1138238" y="1418346"/>
            <a:ext cx="10610849" cy="360589"/>
          </a:xfrm>
          <a:custGeom>
            <a:avLst/>
            <a:gdLst>
              <a:gd name="connsiteX0" fmla="*/ 0 w 10560271"/>
              <a:gd name="connsiteY0" fmla="*/ 0 h 360589"/>
              <a:gd name="connsiteX1" fmla="*/ 10387239 w 10560271"/>
              <a:gd name="connsiteY1" fmla="*/ 0 h 360589"/>
              <a:gd name="connsiteX2" fmla="*/ 10555088 w 10560271"/>
              <a:gd name="connsiteY2" fmla="*/ 167849 h 360589"/>
              <a:gd name="connsiteX3" fmla="*/ 10555088 w 10560271"/>
              <a:gd name="connsiteY3" fmla="*/ 192804 h 360589"/>
              <a:gd name="connsiteX4" fmla="*/ 10387302 w 10560271"/>
              <a:gd name="connsiteY4" fmla="*/ 360589 h 360589"/>
              <a:gd name="connsiteX5" fmla="*/ 0 w 10560271"/>
              <a:gd name="connsiteY5" fmla="*/ 360589 h 360589"/>
              <a:gd name="connsiteX6" fmla="*/ 0 w 10560271"/>
              <a:gd name="connsiteY6" fmla="*/ 0 h 360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60271" h="360589">
                <a:moveTo>
                  <a:pt x="0" y="0"/>
                </a:moveTo>
                <a:lnTo>
                  <a:pt x="10387239" y="0"/>
                </a:lnTo>
                <a:lnTo>
                  <a:pt x="10555088" y="167849"/>
                </a:lnTo>
                <a:cubicBezTo>
                  <a:pt x="10561999" y="174699"/>
                  <a:pt x="10561999" y="185893"/>
                  <a:pt x="10555088" y="192804"/>
                </a:cubicBezTo>
                <a:lnTo>
                  <a:pt x="10387302" y="360589"/>
                </a:lnTo>
                <a:lnTo>
                  <a:pt x="0" y="360589"/>
                </a:lnTo>
                <a:lnTo>
                  <a:pt x="0" y="0"/>
                </a:lnTo>
                <a:close/>
              </a:path>
            </a:pathLst>
          </a:cu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134" name="组合 133"/>
          <p:cNvGrpSpPr/>
          <p:nvPr/>
        </p:nvGrpSpPr>
        <p:grpSpPr>
          <a:xfrm>
            <a:off x="1516090" y="1276634"/>
            <a:ext cx="1590675" cy="633383"/>
            <a:chOff x="1516090" y="1217642"/>
            <a:chExt cx="1590675" cy="633383"/>
          </a:xfrm>
        </p:grpSpPr>
        <p:sp>
          <p:nvSpPr>
            <p:cNvPr id="25" name="任意多边形: 形状 24"/>
            <p:cNvSpPr/>
            <p:nvPr/>
          </p:nvSpPr>
          <p:spPr>
            <a:xfrm>
              <a:off x="1516090" y="1218730"/>
              <a:ext cx="1590675" cy="146519"/>
            </a:xfrm>
            <a:custGeom>
              <a:avLst/>
              <a:gdLst>
                <a:gd name="connsiteX0" fmla="*/ 125647 w 1562099"/>
                <a:gd name="connsiteY0" fmla="*/ 0 h 143798"/>
                <a:gd name="connsiteX1" fmla="*/ 1436452 w 1562099"/>
                <a:gd name="connsiteY1" fmla="*/ 0 h 143798"/>
                <a:gd name="connsiteX2" fmla="*/ 1562099 w 1562099"/>
                <a:gd name="connsiteY2" fmla="*/ 125647 h 143798"/>
                <a:gd name="connsiteX3" fmla="*/ 1558435 w 1562099"/>
                <a:gd name="connsiteY3" fmla="*/ 143798 h 143798"/>
                <a:gd name="connsiteX4" fmla="*/ 3665 w 1562099"/>
                <a:gd name="connsiteY4" fmla="*/ 143798 h 143798"/>
                <a:gd name="connsiteX5" fmla="*/ 0 w 1562099"/>
                <a:gd name="connsiteY5" fmla="*/ 125647 h 143798"/>
                <a:gd name="connsiteX6" fmla="*/ 125647 w 1562099"/>
                <a:gd name="connsiteY6" fmla="*/ 0 h 143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62099" h="143798">
                  <a:moveTo>
                    <a:pt x="125647" y="0"/>
                  </a:moveTo>
                  <a:lnTo>
                    <a:pt x="1436452" y="0"/>
                  </a:lnTo>
                  <a:cubicBezTo>
                    <a:pt x="1505845" y="0"/>
                    <a:pt x="1562099" y="56254"/>
                    <a:pt x="1562099" y="125647"/>
                  </a:cubicBezTo>
                  <a:lnTo>
                    <a:pt x="1558435" y="143798"/>
                  </a:lnTo>
                  <a:lnTo>
                    <a:pt x="3665" y="143798"/>
                  </a:lnTo>
                  <a:lnTo>
                    <a:pt x="0" y="125647"/>
                  </a:lnTo>
                  <a:cubicBezTo>
                    <a:pt x="0" y="56254"/>
                    <a:pt x="56254" y="0"/>
                    <a:pt x="125647" y="0"/>
                  </a:cubicBez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6" name="任意多边形: 形状 25"/>
            <p:cNvSpPr/>
            <p:nvPr/>
          </p:nvSpPr>
          <p:spPr>
            <a:xfrm flipH="1" flipV="1">
              <a:off x="1610697" y="1217642"/>
              <a:ext cx="1401460" cy="633383"/>
            </a:xfrm>
            <a:custGeom>
              <a:avLst/>
              <a:gdLst>
                <a:gd name="connsiteX0" fmla="*/ 1396319 w 1401460"/>
                <a:gd name="connsiteY0" fmla="*/ 633383 h 633383"/>
                <a:gd name="connsiteX1" fmla="*/ 0 w 1401460"/>
                <a:gd name="connsiteY1" fmla="*/ 633383 h 633383"/>
                <a:gd name="connsiteX2" fmla="*/ 46531 w 1401460"/>
                <a:gd name="connsiteY2" fmla="*/ 623599 h 633383"/>
                <a:gd name="connsiteX3" fmla="*/ 116163 w 1401460"/>
                <a:gd name="connsiteY3" fmla="*/ 553022 h 633383"/>
                <a:gd name="connsiteX4" fmla="*/ 301416 w 1401460"/>
                <a:gd name="connsiteY4" fmla="*/ 97125 h 633383"/>
                <a:gd name="connsiteX5" fmla="*/ 302997 w 1401460"/>
                <a:gd name="connsiteY5" fmla="*/ 97125 h 633383"/>
                <a:gd name="connsiteX6" fmla="*/ 305771 w 1401460"/>
                <a:gd name="connsiteY6" fmla="*/ 83383 h 633383"/>
                <a:gd name="connsiteX7" fmla="*/ 431567 w 1401460"/>
                <a:gd name="connsiteY7" fmla="*/ 0 h 633383"/>
                <a:gd name="connsiteX8" fmla="*/ 961792 w 1401460"/>
                <a:gd name="connsiteY8" fmla="*/ 0 h 633383"/>
                <a:gd name="connsiteX9" fmla="*/ 1087588 w 1401460"/>
                <a:gd name="connsiteY9" fmla="*/ 83383 h 633383"/>
                <a:gd name="connsiteX10" fmla="*/ 1089298 w 1401460"/>
                <a:gd name="connsiteY10" fmla="*/ 91851 h 633383"/>
                <a:gd name="connsiteX11" fmla="*/ 1091468 w 1401460"/>
                <a:gd name="connsiteY11" fmla="*/ 92750 h 633383"/>
                <a:gd name="connsiteX12" fmla="*/ 1093280 w 1401460"/>
                <a:gd name="connsiteY12" fmla="*/ 97125 h 633383"/>
                <a:gd name="connsiteX13" fmla="*/ 1094904 w 1401460"/>
                <a:gd name="connsiteY13" fmla="*/ 97125 h 633383"/>
                <a:gd name="connsiteX14" fmla="*/ 1280156 w 1401460"/>
                <a:gd name="connsiteY14" fmla="*/ 553022 h 633383"/>
                <a:gd name="connsiteX15" fmla="*/ 1349789 w 1401460"/>
                <a:gd name="connsiteY15" fmla="*/ 623599 h 633383"/>
                <a:gd name="connsiteX16" fmla="*/ 1401460 w 1401460"/>
                <a:gd name="connsiteY16" fmla="*/ 633383 h 633383"/>
                <a:gd name="connsiteX17" fmla="*/ 1400686 w 1401460"/>
                <a:gd name="connsiteY17" fmla="*/ 633383 h 633383"/>
                <a:gd name="connsiteX18" fmla="*/ 1401389 w 1401460"/>
                <a:gd name="connsiteY18" fmla="*/ 633250 h 633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01460" h="633383">
                  <a:moveTo>
                    <a:pt x="1396319" y="633383"/>
                  </a:moveTo>
                  <a:lnTo>
                    <a:pt x="0" y="633383"/>
                  </a:lnTo>
                  <a:lnTo>
                    <a:pt x="46531" y="623599"/>
                  </a:lnTo>
                  <a:cubicBezTo>
                    <a:pt x="77073" y="610706"/>
                    <a:pt x="102697" y="586162"/>
                    <a:pt x="116163" y="553022"/>
                  </a:cubicBezTo>
                  <a:lnTo>
                    <a:pt x="301416" y="97125"/>
                  </a:lnTo>
                  <a:lnTo>
                    <a:pt x="302997" y="97125"/>
                  </a:lnTo>
                  <a:lnTo>
                    <a:pt x="305771" y="83383"/>
                  </a:lnTo>
                  <a:cubicBezTo>
                    <a:pt x="326496" y="34382"/>
                    <a:pt x="375016" y="0"/>
                    <a:pt x="431567" y="0"/>
                  </a:cubicBezTo>
                  <a:lnTo>
                    <a:pt x="961792" y="0"/>
                  </a:lnTo>
                  <a:cubicBezTo>
                    <a:pt x="1018343" y="0"/>
                    <a:pt x="1066863" y="34382"/>
                    <a:pt x="1087588" y="83383"/>
                  </a:cubicBezTo>
                  <a:lnTo>
                    <a:pt x="1089298" y="91851"/>
                  </a:lnTo>
                  <a:lnTo>
                    <a:pt x="1091468" y="92750"/>
                  </a:lnTo>
                  <a:lnTo>
                    <a:pt x="1093280" y="97125"/>
                  </a:lnTo>
                  <a:lnTo>
                    <a:pt x="1094904" y="97125"/>
                  </a:lnTo>
                  <a:lnTo>
                    <a:pt x="1280156" y="553022"/>
                  </a:lnTo>
                  <a:cubicBezTo>
                    <a:pt x="1293622" y="586162"/>
                    <a:pt x="1319246" y="610706"/>
                    <a:pt x="1349789" y="623599"/>
                  </a:cubicBezTo>
                  <a:close/>
                  <a:moveTo>
                    <a:pt x="1401460" y="633383"/>
                  </a:moveTo>
                  <a:lnTo>
                    <a:pt x="1400686" y="633383"/>
                  </a:lnTo>
                  <a:lnTo>
                    <a:pt x="1401389" y="633250"/>
                  </a:lnTo>
                  <a:close/>
                </a:path>
              </a:pathLst>
            </a:custGeom>
            <a:gradFill>
              <a:gsLst>
                <a:gs pos="0">
                  <a:schemeClr val="accent2"/>
                </a:gs>
                <a:gs pos="100000">
                  <a:schemeClr val="accent3"/>
                </a:gs>
                <a:gs pos="93000">
                  <a:schemeClr val="accent4"/>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sp>
        <p:nvSpPr>
          <p:cNvPr id="24" name="文本框 23"/>
          <p:cNvSpPr txBox="1"/>
          <p:nvPr/>
        </p:nvSpPr>
        <p:spPr>
          <a:xfrm>
            <a:off x="1965179" y="1460141"/>
            <a:ext cx="692498"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策划期</a:t>
            </a:r>
          </a:p>
        </p:txBody>
      </p:sp>
      <p:grpSp>
        <p:nvGrpSpPr>
          <p:cNvPr id="133" name="组合 132"/>
          <p:cNvGrpSpPr/>
          <p:nvPr/>
        </p:nvGrpSpPr>
        <p:grpSpPr>
          <a:xfrm>
            <a:off x="4276148" y="1276634"/>
            <a:ext cx="1590675" cy="633383"/>
            <a:chOff x="4276148" y="1217642"/>
            <a:chExt cx="1590675" cy="633383"/>
          </a:xfrm>
        </p:grpSpPr>
        <p:sp>
          <p:nvSpPr>
            <p:cNvPr id="30" name="任意多边形: 形状 29"/>
            <p:cNvSpPr/>
            <p:nvPr/>
          </p:nvSpPr>
          <p:spPr>
            <a:xfrm>
              <a:off x="4276148" y="1218730"/>
              <a:ext cx="1590675" cy="146519"/>
            </a:xfrm>
            <a:custGeom>
              <a:avLst/>
              <a:gdLst>
                <a:gd name="connsiteX0" fmla="*/ 125647 w 1562099"/>
                <a:gd name="connsiteY0" fmla="*/ 0 h 143798"/>
                <a:gd name="connsiteX1" fmla="*/ 1436452 w 1562099"/>
                <a:gd name="connsiteY1" fmla="*/ 0 h 143798"/>
                <a:gd name="connsiteX2" fmla="*/ 1562099 w 1562099"/>
                <a:gd name="connsiteY2" fmla="*/ 125647 h 143798"/>
                <a:gd name="connsiteX3" fmla="*/ 1558435 w 1562099"/>
                <a:gd name="connsiteY3" fmla="*/ 143798 h 143798"/>
                <a:gd name="connsiteX4" fmla="*/ 3665 w 1562099"/>
                <a:gd name="connsiteY4" fmla="*/ 143798 h 143798"/>
                <a:gd name="connsiteX5" fmla="*/ 0 w 1562099"/>
                <a:gd name="connsiteY5" fmla="*/ 125647 h 143798"/>
                <a:gd name="connsiteX6" fmla="*/ 125647 w 1562099"/>
                <a:gd name="connsiteY6" fmla="*/ 0 h 143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62099" h="143798">
                  <a:moveTo>
                    <a:pt x="125647" y="0"/>
                  </a:moveTo>
                  <a:lnTo>
                    <a:pt x="1436452" y="0"/>
                  </a:lnTo>
                  <a:cubicBezTo>
                    <a:pt x="1505845" y="0"/>
                    <a:pt x="1562099" y="56254"/>
                    <a:pt x="1562099" y="125647"/>
                  </a:cubicBezTo>
                  <a:lnTo>
                    <a:pt x="1558435" y="143798"/>
                  </a:lnTo>
                  <a:lnTo>
                    <a:pt x="3665" y="143798"/>
                  </a:lnTo>
                  <a:lnTo>
                    <a:pt x="0" y="125647"/>
                  </a:lnTo>
                  <a:cubicBezTo>
                    <a:pt x="0" y="56254"/>
                    <a:pt x="56254" y="0"/>
                    <a:pt x="125647" y="0"/>
                  </a:cubicBez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1" name="任意多边形: 形状 30"/>
            <p:cNvSpPr/>
            <p:nvPr/>
          </p:nvSpPr>
          <p:spPr>
            <a:xfrm flipH="1" flipV="1">
              <a:off x="4370755" y="1217642"/>
              <a:ext cx="1401460" cy="633383"/>
            </a:xfrm>
            <a:custGeom>
              <a:avLst/>
              <a:gdLst>
                <a:gd name="connsiteX0" fmla="*/ 1396319 w 1401460"/>
                <a:gd name="connsiteY0" fmla="*/ 633383 h 633383"/>
                <a:gd name="connsiteX1" fmla="*/ 0 w 1401460"/>
                <a:gd name="connsiteY1" fmla="*/ 633383 h 633383"/>
                <a:gd name="connsiteX2" fmla="*/ 46531 w 1401460"/>
                <a:gd name="connsiteY2" fmla="*/ 623599 h 633383"/>
                <a:gd name="connsiteX3" fmla="*/ 116163 w 1401460"/>
                <a:gd name="connsiteY3" fmla="*/ 553022 h 633383"/>
                <a:gd name="connsiteX4" fmla="*/ 301416 w 1401460"/>
                <a:gd name="connsiteY4" fmla="*/ 97125 h 633383"/>
                <a:gd name="connsiteX5" fmla="*/ 302997 w 1401460"/>
                <a:gd name="connsiteY5" fmla="*/ 97125 h 633383"/>
                <a:gd name="connsiteX6" fmla="*/ 305771 w 1401460"/>
                <a:gd name="connsiteY6" fmla="*/ 83383 h 633383"/>
                <a:gd name="connsiteX7" fmla="*/ 431567 w 1401460"/>
                <a:gd name="connsiteY7" fmla="*/ 0 h 633383"/>
                <a:gd name="connsiteX8" fmla="*/ 961792 w 1401460"/>
                <a:gd name="connsiteY8" fmla="*/ 0 h 633383"/>
                <a:gd name="connsiteX9" fmla="*/ 1087588 w 1401460"/>
                <a:gd name="connsiteY9" fmla="*/ 83383 h 633383"/>
                <a:gd name="connsiteX10" fmla="*/ 1089298 w 1401460"/>
                <a:gd name="connsiteY10" fmla="*/ 91851 h 633383"/>
                <a:gd name="connsiteX11" fmla="*/ 1091468 w 1401460"/>
                <a:gd name="connsiteY11" fmla="*/ 92750 h 633383"/>
                <a:gd name="connsiteX12" fmla="*/ 1093280 w 1401460"/>
                <a:gd name="connsiteY12" fmla="*/ 97125 h 633383"/>
                <a:gd name="connsiteX13" fmla="*/ 1094904 w 1401460"/>
                <a:gd name="connsiteY13" fmla="*/ 97125 h 633383"/>
                <a:gd name="connsiteX14" fmla="*/ 1280156 w 1401460"/>
                <a:gd name="connsiteY14" fmla="*/ 553022 h 633383"/>
                <a:gd name="connsiteX15" fmla="*/ 1349789 w 1401460"/>
                <a:gd name="connsiteY15" fmla="*/ 623599 h 633383"/>
                <a:gd name="connsiteX16" fmla="*/ 1401460 w 1401460"/>
                <a:gd name="connsiteY16" fmla="*/ 633383 h 633383"/>
                <a:gd name="connsiteX17" fmla="*/ 1400686 w 1401460"/>
                <a:gd name="connsiteY17" fmla="*/ 633383 h 633383"/>
                <a:gd name="connsiteX18" fmla="*/ 1401389 w 1401460"/>
                <a:gd name="connsiteY18" fmla="*/ 633250 h 633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01460" h="633383">
                  <a:moveTo>
                    <a:pt x="1396319" y="633383"/>
                  </a:moveTo>
                  <a:lnTo>
                    <a:pt x="0" y="633383"/>
                  </a:lnTo>
                  <a:lnTo>
                    <a:pt x="46531" y="623599"/>
                  </a:lnTo>
                  <a:cubicBezTo>
                    <a:pt x="77073" y="610706"/>
                    <a:pt x="102697" y="586162"/>
                    <a:pt x="116163" y="553022"/>
                  </a:cubicBezTo>
                  <a:lnTo>
                    <a:pt x="301416" y="97125"/>
                  </a:lnTo>
                  <a:lnTo>
                    <a:pt x="302997" y="97125"/>
                  </a:lnTo>
                  <a:lnTo>
                    <a:pt x="305771" y="83383"/>
                  </a:lnTo>
                  <a:cubicBezTo>
                    <a:pt x="326496" y="34382"/>
                    <a:pt x="375016" y="0"/>
                    <a:pt x="431567" y="0"/>
                  </a:cubicBezTo>
                  <a:lnTo>
                    <a:pt x="961792" y="0"/>
                  </a:lnTo>
                  <a:cubicBezTo>
                    <a:pt x="1018343" y="0"/>
                    <a:pt x="1066863" y="34382"/>
                    <a:pt x="1087588" y="83383"/>
                  </a:cubicBezTo>
                  <a:lnTo>
                    <a:pt x="1089298" y="91851"/>
                  </a:lnTo>
                  <a:lnTo>
                    <a:pt x="1091468" y="92750"/>
                  </a:lnTo>
                  <a:lnTo>
                    <a:pt x="1093280" y="97125"/>
                  </a:lnTo>
                  <a:lnTo>
                    <a:pt x="1094904" y="97125"/>
                  </a:lnTo>
                  <a:lnTo>
                    <a:pt x="1280156" y="553022"/>
                  </a:lnTo>
                  <a:cubicBezTo>
                    <a:pt x="1293622" y="586162"/>
                    <a:pt x="1319246" y="610706"/>
                    <a:pt x="1349789" y="623599"/>
                  </a:cubicBezTo>
                  <a:close/>
                  <a:moveTo>
                    <a:pt x="1401460" y="633383"/>
                  </a:moveTo>
                  <a:lnTo>
                    <a:pt x="1400686" y="633383"/>
                  </a:lnTo>
                  <a:lnTo>
                    <a:pt x="1401389" y="633250"/>
                  </a:lnTo>
                  <a:close/>
                </a:path>
              </a:pathLst>
            </a:custGeom>
            <a:gradFill>
              <a:gsLst>
                <a:gs pos="0">
                  <a:schemeClr val="accent2"/>
                </a:gs>
                <a:gs pos="100000">
                  <a:schemeClr val="accent3"/>
                </a:gs>
                <a:gs pos="93000">
                  <a:schemeClr val="accent4"/>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sp>
        <p:nvSpPr>
          <p:cNvPr id="29" name="TextBox 18+"/>
          <p:cNvSpPr txBox="1"/>
          <p:nvPr/>
        </p:nvSpPr>
        <p:spPr>
          <a:xfrm>
            <a:off x="4725237" y="1460141"/>
            <a:ext cx="692498"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执行期</a:t>
            </a:r>
          </a:p>
        </p:txBody>
      </p:sp>
      <p:grpSp>
        <p:nvGrpSpPr>
          <p:cNvPr id="132" name="组合 131"/>
          <p:cNvGrpSpPr/>
          <p:nvPr/>
        </p:nvGrpSpPr>
        <p:grpSpPr>
          <a:xfrm>
            <a:off x="7036206" y="1276634"/>
            <a:ext cx="1590675" cy="633383"/>
            <a:chOff x="7036206" y="1217642"/>
            <a:chExt cx="1590675" cy="633383"/>
          </a:xfrm>
        </p:grpSpPr>
        <p:sp>
          <p:nvSpPr>
            <p:cNvPr id="35" name="任意多边形: 形状 34"/>
            <p:cNvSpPr/>
            <p:nvPr/>
          </p:nvSpPr>
          <p:spPr>
            <a:xfrm>
              <a:off x="7036206" y="1218730"/>
              <a:ext cx="1590675" cy="146519"/>
            </a:xfrm>
            <a:custGeom>
              <a:avLst/>
              <a:gdLst>
                <a:gd name="connsiteX0" fmla="*/ 125647 w 1562099"/>
                <a:gd name="connsiteY0" fmla="*/ 0 h 143798"/>
                <a:gd name="connsiteX1" fmla="*/ 1436452 w 1562099"/>
                <a:gd name="connsiteY1" fmla="*/ 0 h 143798"/>
                <a:gd name="connsiteX2" fmla="*/ 1562099 w 1562099"/>
                <a:gd name="connsiteY2" fmla="*/ 125647 h 143798"/>
                <a:gd name="connsiteX3" fmla="*/ 1558435 w 1562099"/>
                <a:gd name="connsiteY3" fmla="*/ 143798 h 143798"/>
                <a:gd name="connsiteX4" fmla="*/ 3665 w 1562099"/>
                <a:gd name="connsiteY4" fmla="*/ 143798 h 143798"/>
                <a:gd name="connsiteX5" fmla="*/ 0 w 1562099"/>
                <a:gd name="connsiteY5" fmla="*/ 125647 h 143798"/>
                <a:gd name="connsiteX6" fmla="*/ 125647 w 1562099"/>
                <a:gd name="connsiteY6" fmla="*/ 0 h 143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62099" h="143798">
                  <a:moveTo>
                    <a:pt x="125647" y="0"/>
                  </a:moveTo>
                  <a:lnTo>
                    <a:pt x="1436452" y="0"/>
                  </a:lnTo>
                  <a:cubicBezTo>
                    <a:pt x="1505845" y="0"/>
                    <a:pt x="1562099" y="56254"/>
                    <a:pt x="1562099" y="125647"/>
                  </a:cubicBezTo>
                  <a:lnTo>
                    <a:pt x="1558435" y="143798"/>
                  </a:lnTo>
                  <a:lnTo>
                    <a:pt x="3665" y="143798"/>
                  </a:lnTo>
                  <a:lnTo>
                    <a:pt x="0" y="125647"/>
                  </a:lnTo>
                  <a:cubicBezTo>
                    <a:pt x="0" y="56254"/>
                    <a:pt x="56254" y="0"/>
                    <a:pt x="125647" y="0"/>
                  </a:cubicBez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6" name="任意多边形: 形状 35"/>
            <p:cNvSpPr/>
            <p:nvPr/>
          </p:nvSpPr>
          <p:spPr>
            <a:xfrm flipH="1" flipV="1">
              <a:off x="7130813" y="1217642"/>
              <a:ext cx="1401460" cy="633383"/>
            </a:xfrm>
            <a:custGeom>
              <a:avLst/>
              <a:gdLst>
                <a:gd name="connsiteX0" fmla="*/ 1396319 w 1401460"/>
                <a:gd name="connsiteY0" fmla="*/ 633383 h 633383"/>
                <a:gd name="connsiteX1" fmla="*/ 0 w 1401460"/>
                <a:gd name="connsiteY1" fmla="*/ 633383 h 633383"/>
                <a:gd name="connsiteX2" fmla="*/ 46531 w 1401460"/>
                <a:gd name="connsiteY2" fmla="*/ 623599 h 633383"/>
                <a:gd name="connsiteX3" fmla="*/ 116163 w 1401460"/>
                <a:gd name="connsiteY3" fmla="*/ 553022 h 633383"/>
                <a:gd name="connsiteX4" fmla="*/ 301416 w 1401460"/>
                <a:gd name="connsiteY4" fmla="*/ 97125 h 633383"/>
                <a:gd name="connsiteX5" fmla="*/ 302997 w 1401460"/>
                <a:gd name="connsiteY5" fmla="*/ 97125 h 633383"/>
                <a:gd name="connsiteX6" fmla="*/ 305771 w 1401460"/>
                <a:gd name="connsiteY6" fmla="*/ 83383 h 633383"/>
                <a:gd name="connsiteX7" fmla="*/ 431567 w 1401460"/>
                <a:gd name="connsiteY7" fmla="*/ 0 h 633383"/>
                <a:gd name="connsiteX8" fmla="*/ 961792 w 1401460"/>
                <a:gd name="connsiteY8" fmla="*/ 0 h 633383"/>
                <a:gd name="connsiteX9" fmla="*/ 1087588 w 1401460"/>
                <a:gd name="connsiteY9" fmla="*/ 83383 h 633383"/>
                <a:gd name="connsiteX10" fmla="*/ 1089298 w 1401460"/>
                <a:gd name="connsiteY10" fmla="*/ 91851 h 633383"/>
                <a:gd name="connsiteX11" fmla="*/ 1091468 w 1401460"/>
                <a:gd name="connsiteY11" fmla="*/ 92750 h 633383"/>
                <a:gd name="connsiteX12" fmla="*/ 1093280 w 1401460"/>
                <a:gd name="connsiteY12" fmla="*/ 97125 h 633383"/>
                <a:gd name="connsiteX13" fmla="*/ 1094904 w 1401460"/>
                <a:gd name="connsiteY13" fmla="*/ 97125 h 633383"/>
                <a:gd name="connsiteX14" fmla="*/ 1280156 w 1401460"/>
                <a:gd name="connsiteY14" fmla="*/ 553022 h 633383"/>
                <a:gd name="connsiteX15" fmla="*/ 1349789 w 1401460"/>
                <a:gd name="connsiteY15" fmla="*/ 623599 h 633383"/>
                <a:gd name="connsiteX16" fmla="*/ 1401460 w 1401460"/>
                <a:gd name="connsiteY16" fmla="*/ 633383 h 633383"/>
                <a:gd name="connsiteX17" fmla="*/ 1400686 w 1401460"/>
                <a:gd name="connsiteY17" fmla="*/ 633383 h 633383"/>
                <a:gd name="connsiteX18" fmla="*/ 1401389 w 1401460"/>
                <a:gd name="connsiteY18" fmla="*/ 633250 h 633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01460" h="633383">
                  <a:moveTo>
                    <a:pt x="1396319" y="633383"/>
                  </a:moveTo>
                  <a:lnTo>
                    <a:pt x="0" y="633383"/>
                  </a:lnTo>
                  <a:lnTo>
                    <a:pt x="46531" y="623599"/>
                  </a:lnTo>
                  <a:cubicBezTo>
                    <a:pt x="77073" y="610706"/>
                    <a:pt x="102697" y="586162"/>
                    <a:pt x="116163" y="553022"/>
                  </a:cubicBezTo>
                  <a:lnTo>
                    <a:pt x="301416" y="97125"/>
                  </a:lnTo>
                  <a:lnTo>
                    <a:pt x="302997" y="97125"/>
                  </a:lnTo>
                  <a:lnTo>
                    <a:pt x="305771" y="83383"/>
                  </a:lnTo>
                  <a:cubicBezTo>
                    <a:pt x="326496" y="34382"/>
                    <a:pt x="375016" y="0"/>
                    <a:pt x="431567" y="0"/>
                  </a:cubicBezTo>
                  <a:lnTo>
                    <a:pt x="961792" y="0"/>
                  </a:lnTo>
                  <a:cubicBezTo>
                    <a:pt x="1018343" y="0"/>
                    <a:pt x="1066863" y="34382"/>
                    <a:pt x="1087588" y="83383"/>
                  </a:cubicBezTo>
                  <a:lnTo>
                    <a:pt x="1089298" y="91851"/>
                  </a:lnTo>
                  <a:lnTo>
                    <a:pt x="1091468" y="92750"/>
                  </a:lnTo>
                  <a:lnTo>
                    <a:pt x="1093280" y="97125"/>
                  </a:lnTo>
                  <a:lnTo>
                    <a:pt x="1094904" y="97125"/>
                  </a:lnTo>
                  <a:lnTo>
                    <a:pt x="1280156" y="553022"/>
                  </a:lnTo>
                  <a:cubicBezTo>
                    <a:pt x="1293622" y="586162"/>
                    <a:pt x="1319246" y="610706"/>
                    <a:pt x="1349789" y="623599"/>
                  </a:cubicBezTo>
                  <a:close/>
                  <a:moveTo>
                    <a:pt x="1401460" y="633383"/>
                  </a:moveTo>
                  <a:lnTo>
                    <a:pt x="1400686" y="633383"/>
                  </a:lnTo>
                  <a:lnTo>
                    <a:pt x="1401389" y="633250"/>
                  </a:lnTo>
                  <a:close/>
                </a:path>
              </a:pathLst>
            </a:custGeom>
            <a:gradFill>
              <a:gsLst>
                <a:gs pos="0">
                  <a:schemeClr val="accent2"/>
                </a:gs>
                <a:gs pos="100000">
                  <a:schemeClr val="accent3"/>
                </a:gs>
                <a:gs pos="93000">
                  <a:schemeClr val="accent4"/>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sp>
        <p:nvSpPr>
          <p:cNvPr id="34" name="TextBox 18++"/>
          <p:cNvSpPr txBox="1"/>
          <p:nvPr/>
        </p:nvSpPr>
        <p:spPr>
          <a:xfrm>
            <a:off x="7485295" y="1460141"/>
            <a:ext cx="692498"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监测期</a:t>
            </a:r>
          </a:p>
        </p:txBody>
      </p:sp>
      <p:grpSp>
        <p:nvGrpSpPr>
          <p:cNvPr id="131" name="组合 130"/>
          <p:cNvGrpSpPr/>
          <p:nvPr/>
        </p:nvGrpSpPr>
        <p:grpSpPr>
          <a:xfrm>
            <a:off x="9796264" y="1276634"/>
            <a:ext cx="1590675" cy="633383"/>
            <a:chOff x="9796264" y="1217642"/>
            <a:chExt cx="1590675" cy="633383"/>
          </a:xfrm>
        </p:grpSpPr>
        <p:sp>
          <p:nvSpPr>
            <p:cNvPr id="40" name="任意多边形: 形状 39"/>
            <p:cNvSpPr/>
            <p:nvPr/>
          </p:nvSpPr>
          <p:spPr>
            <a:xfrm>
              <a:off x="9796264" y="1218730"/>
              <a:ext cx="1590675" cy="146519"/>
            </a:xfrm>
            <a:custGeom>
              <a:avLst/>
              <a:gdLst>
                <a:gd name="connsiteX0" fmla="*/ 125647 w 1562099"/>
                <a:gd name="connsiteY0" fmla="*/ 0 h 143798"/>
                <a:gd name="connsiteX1" fmla="*/ 1436452 w 1562099"/>
                <a:gd name="connsiteY1" fmla="*/ 0 h 143798"/>
                <a:gd name="connsiteX2" fmla="*/ 1562099 w 1562099"/>
                <a:gd name="connsiteY2" fmla="*/ 125647 h 143798"/>
                <a:gd name="connsiteX3" fmla="*/ 1558435 w 1562099"/>
                <a:gd name="connsiteY3" fmla="*/ 143798 h 143798"/>
                <a:gd name="connsiteX4" fmla="*/ 3665 w 1562099"/>
                <a:gd name="connsiteY4" fmla="*/ 143798 h 143798"/>
                <a:gd name="connsiteX5" fmla="*/ 0 w 1562099"/>
                <a:gd name="connsiteY5" fmla="*/ 125647 h 143798"/>
                <a:gd name="connsiteX6" fmla="*/ 125647 w 1562099"/>
                <a:gd name="connsiteY6" fmla="*/ 0 h 143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62099" h="143798">
                  <a:moveTo>
                    <a:pt x="125647" y="0"/>
                  </a:moveTo>
                  <a:lnTo>
                    <a:pt x="1436452" y="0"/>
                  </a:lnTo>
                  <a:cubicBezTo>
                    <a:pt x="1505845" y="0"/>
                    <a:pt x="1562099" y="56254"/>
                    <a:pt x="1562099" y="125647"/>
                  </a:cubicBezTo>
                  <a:lnTo>
                    <a:pt x="1558435" y="143798"/>
                  </a:lnTo>
                  <a:lnTo>
                    <a:pt x="3665" y="143798"/>
                  </a:lnTo>
                  <a:lnTo>
                    <a:pt x="0" y="125647"/>
                  </a:lnTo>
                  <a:cubicBezTo>
                    <a:pt x="0" y="56254"/>
                    <a:pt x="56254" y="0"/>
                    <a:pt x="125647" y="0"/>
                  </a:cubicBez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41" name="任意多边形: 形状 40"/>
            <p:cNvSpPr/>
            <p:nvPr/>
          </p:nvSpPr>
          <p:spPr>
            <a:xfrm flipH="1" flipV="1">
              <a:off x="9890871" y="1217642"/>
              <a:ext cx="1401460" cy="633383"/>
            </a:xfrm>
            <a:custGeom>
              <a:avLst/>
              <a:gdLst>
                <a:gd name="connsiteX0" fmla="*/ 1396319 w 1401460"/>
                <a:gd name="connsiteY0" fmla="*/ 633383 h 633383"/>
                <a:gd name="connsiteX1" fmla="*/ 0 w 1401460"/>
                <a:gd name="connsiteY1" fmla="*/ 633383 h 633383"/>
                <a:gd name="connsiteX2" fmla="*/ 46531 w 1401460"/>
                <a:gd name="connsiteY2" fmla="*/ 623599 h 633383"/>
                <a:gd name="connsiteX3" fmla="*/ 116163 w 1401460"/>
                <a:gd name="connsiteY3" fmla="*/ 553022 h 633383"/>
                <a:gd name="connsiteX4" fmla="*/ 301416 w 1401460"/>
                <a:gd name="connsiteY4" fmla="*/ 97125 h 633383"/>
                <a:gd name="connsiteX5" fmla="*/ 302997 w 1401460"/>
                <a:gd name="connsiteY5" fmla="*/ 97125 h 633383"/>
                <a:gd name="connsiteX6" fmla="*/ 305771 w 1401460"/>
                <a:gd name="connsiteY6" fmla="*/ 83383 h 633383"/>
                <a:gd name="connsiteX7" fmla="*/ 431567 w 1401460"/>
                <a:gd name="connsiteY7" fmla="*/ 0 h 633383"/>
                <a:gd name="connsiteX8" fmla="*/ 961792 w 1401460"/>
                <a:gd name="connsiteY8" fmla="*/ 0 h 633383"/>
                <a:gd name="connsiteX9" fmla="*/ 1087588 w 1401460"/>
                <a:gd name="connsiteY9" fmla="*/ 83383 h 633383"/>
                <a:gd name="connsiteX10" fmla="*/ 1089298 w 1401460"/>
                <a:gd name="connsiteY10" fmla="*/ 91851 h 633383"/>
                <a:gd name="connsiteX11" fmla="*/ 1091468 w 1401460"/>
                <a:gd name="connsiteY11" fmla="*/ 92750 h 633383"/>
                <a:gd name="connsiteX12" fmla="*/ 1093280 w 1401460"/>
                <a:gd name="connsiteY12" fmla="*/ 97125 h 633383"/>
                <a:gd name="connsiteX13" fmla="*/ 1094904 w 1401460"/>
                <a:gd name="connsiteY13" fmla="*/ 97125 h 633383"/>
                <a:gd name="connsiteX14" fmla="*/ 1280156 w 1401460"/>
                <a:gd name="connsiteY14" fmla="*/ 553022 h 633383"/>
                <a:gd name="connsiteX15" fmla="*/ 1349789 w 1401460"/>
                <a:gd name="connsiteY15" fmla="*/ 623599 h 633383"/>
                <a:gd name="connsiteX16" fmla="*/ 1401460 w 1401460"/>
                <a:gd name="connsiteY16" fmla="*/ 633383 h 633383"/>
                <a:gd name="connsiteX17" fmla="*/ 1400686 w 1401460"/>
                <a:gd name="connsiteY17" fmla="*/ 633383 h 633383"/>
                <a:gd name="connsiteX18" fmla="*/ 1401389 w 1401460"/>
                <a:gd name="connsiteY18" fmla="*/ 633250 h 633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01460" h="633383">
                  <a:moveTo>
                    <a:pt x="1396319" y="633383"/>
                  </a:moveTo>
                  <a:lnTo>
                    <a:pt x="0" y="633383"/>
                  </a:lnTo>
                  <a:lnTo>
                    <a:pt x="46531" y="623599"/>
                  </a:lnTo>
                  <a:cubicBezTo>
                    <a:pt x="77073" y="610706"/>
                    <a:pt x="102697" y="586162"/>
                    <a:pt x="116163" y="553022"/>
                  </a:cubicBezTo>
                  <a:lnTo>
                    <a:pt x="301416" y="97125"/>
                  </a:lnTo>
                  <a:lnTo>
                    <a:pt x="302997" y="97125"/>
                  </a:lnTo>
                  <a:lnTo>
                    <a:pt x="305771" y="83383"/>
                  </a:lnTo>
                  <a:cubicBezTo>
                    <a:pt x="326496" y="34382"/>
                    <a:pt x="375016" y="0"/>
                    <a:pt x="431567" y="0"/>
                  </a:cubicBezTo>
                  <a:lnTo>
                    <a:pt x="961792" y="0"/>
                  </a:lnTo>
                  <a:cubicBezTo>
                    <a:pt x="1018343" y="0"/>
                    <a:pt x="1066863" y="34382"/>
                    <a:pt x="1087588" y="83383"/>
                  </a:cubicBezTo>
                  <a:lnTo>
                    <a:pt x="1089298" y="91851"/>
                  </a:lnTo>
                  <a:lnTo>
                    <a:pt x="1091468" y="92750"/>
                  </a:lnTo>
                  <a:lnTo>
                    <a:pt x="1093280" y="97125"/>
                  </a:lnTo>
                  <a:lnTo>
                    <a:pt x="1094904" y="97125"/>
                  </a:lnTo>
                  <a:lnTo>
                    <a:pt x="1280156" y="553022"/>
                  </a:lnTo>
                  <a:cubicBezTo>
                    <a:pt x="1293622" y="586162"/>
                    <a:pt x="1319246" y="610706"/>
                    <a:pt x="1349789" y="623599"/>
                  </a:cubicBezTo>
                  <a:close/>
                  <a:moveTo>
                    <a:pt x="1401460" y="633383"/>
                  </a:moveTo>
                  <a:lnTo>
                    <a:pt x="1400686" y="633383"/>
                  </a:lnTo>
                  <a:lnTo>
                    <a:pt x="1401389" y="633250"/>
                  </a:lnTo>
                  <a:close/>
                </a:path>
              </a:pathLst>
            </a:custGeom>
            <a:gradFill>
              <a:gsLst>
                <a:gs pos="0">
                  <a:schemeClr val="accent2"/>
                </a:gs>
                <a:gs pos="100000">
                  <a:schemeClr val="accent3"/>
                </a:gs>
                <a:gs pos="93000">
                  <a:schemeClr val="accent4"/>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sp>
        <p:nvSpPr>
          <p:cNvPr id="39" name="TextBox 18+++"/>
          <p:cNvSpPr txBox="1"/>
          <p:nvPr/>
        </p:nvSpPr>
        <p:spPr>
          <a:xfrm>
            <a:off x="10245353" y="1460141"/>
            <a:ext cx="692498"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收尾期</a:t>
            </a:r>
          </a:p>
        </p:txBody>
      </p:sp>
      <p:grpSp>
        <p:nvGrpSpPr>
          <p:cNvPr id="42" name="图形 2169"/>
          <p:cNvGrpSpPr/>
          <p:nvPr/>
        </p:nvGrpSpPr>
        <p:grpSpPr>
          <a:xfrm>
            <a:off x="3554364" y="1461533"/>
            <a:ext cx="274185" cy="274215"/>
            <a:chOff x="2556334" y="1790803"/>
            <a:chExt cx="313866" cy="313901"/>
          </a:xfrm>
          <a:solidFill>
            <a:schemeClr val="accent1"/>
          </a:solidFill>
        </p:grpSpPr>
        <p:sp>
          <p:nvSpPr>
            <p:cNvPr id="43" name="任意多边形: 形状 42"/>
            <p:cNvSpPr/>
            <p:nvPr/>
          </p:nvSpPr>
          <p:spPr>
            <a:xfrm>
              <a:off x="2690562" y="1790803"/>
              <a:ext cx="179638" cy="313901"/>
            </a:xfrm>
            <a:custGeom>
              <a:avLst/>
              <a:gdLst>
                <a:gd name="connsiteX0" fmla="*/ 22705 w 179638"/>
                <a:gd name="connsiteY0" fmla="*/ 313902 h 313901"/>
                <a:gd name="connsiteX1" fmla="*/ 6651 w 179638"/>
                <a:gd name="connsiteY1" fmla="*/ 307251 h 313901"/>
                <a:gd name="connsiteX2" fmla="*/ 0 w 179638"/>
                <a:gd name="connsiteY2" fmla="*/ 291197 h 313901"/>
                <a:gd name="connsiteX3" fmla="*/ 6651 w 179638"/>
                <a:gd name="connsiteY3" fmla="*/ 275142 h 313901"/>
                <a:gd name="connsiteX4" fmla="*/ 117530 w 179638"/>
                <a:gd name="connsiteY4" fmla="*/ 164263 h 313901"/>
                <a:gd name="connsiteX5" fmla="*/ 117530 w 179638"/>
                <a:gd name="connsiteY5" fmla="*/ 149675 h 313901"/>
                <a:gd name="connsiteX6" fmla="*/ 6651 w 179638"/>
                <a:gd name="connsiteY6" fmla="*/ 38795 h 313901"/>
                <a:gd name="connsiteX7" fmla="*/ 6651 w 179638"/>
                <a:gd name="connsiteY7" fmla="*/ 6651 h 313901"/>
                <a:gd name="connsiteX8" fmla="*/ 22705 w 179638"/>
                <a:gd name="connsiteY8" fmla="*/ 0 h 313901"/>
                <a:gd name="connsiteX9" fmla="*/ 38759 w 179638"/>
                <a:gd name="connsiteY9" fmla="*/ 6651 h 313901"/>
                <a:gd name="connsiteX10" fmla="*/ 172987 w 179638"/>
                <a:gd name="connsiteY10" fmla="*/ 140879 h 313901"/>
                <a:gd name="connsiteX11" fmla="*/ 172987 w 179638"/>
                <a:gd name="connsiteY11" fmla="*/ 172987 h 313901"/>
                <a:gd name="connsiteX12" fmla="*/ 38759 w 179638"/>
                <a:gd name="connsiteY12" fmla="*/ 307216 h 313901"/>
                <a:gd name="connsiteX13" fmla="*/ 22705 w 179638"/>
                <a:gd name="connsiteY13" fmla="*/ 313902 h 31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9638" h="313901">
                  <a:moveTo>
                    <a:pt x="22705" y="313902"/>
                  </a:moveTo>
                  <a:cubicBezTo>
                    <a:pt x="16627" y="313902"/>
                    <a:pt x="10941" y="311542"/>
                    <a:pt x="6651" y="307251"/>
                  </a:cubicBezTo>
                  <a:cubicBezTo>
                    <a:pt x="2360" y="302961"/>
                    <a:pt x="0" y="297275"/>
                    <a:pt x="0" y="291197"/>
                  </a:cubicBezTo>
                  <a:cubicBezTo>
                    <a:pt x="0" y="285154"/>
                    <a:pt x="2360" y="279433"/>
                    <a:pt x="6651" y="275142"/>
                  </a:cubicBezTo>
                  <a:lnTo>
                    <a:pt x="117530" y="164263"/>
                  </a:lnTo>
                  <a:cubicBezTo>
                    <a:pt x="121535" y="160223"/>
                    <a:pt x="121535" y="153679"/>
                    <a:pt x="117530" y="149675"/>
                  </a:cubicBezTo>
                  <a:lnTo>
                    <a:pt x="6651" y="38795"/>
                  </a:lnTo>
                  <a:cubicBezTo>
                    <a:pt x="-2217" y="29928"/>
                    <a:pt x="-2217" y="15518"/>
                    <a:pt x="6651" y="6651"/>
                  </a:cubicBezTo>
                  <a:cubicBezTo>
                    <a:pt x="10941" y="2360"/>
                    <a:pt x="16662" y="0"/>
                    <a:pt x="22705" y="0"/>
                  </a:cubicBezTo>
                  <a:cubicBezTo>
                    <a:pt x="28748" y="0"/>
                    <a:pt x="34469" y="2360"/>
                    <a:pt x="38759" y="6651"/>
                  </a:cubicBezTo>
                  <a:lnTo>
                    <a:pt x="172987" y="140879"/>
                  </a:lnTo>
                  <a:cubicBezTo>
                    <a:pt x="181855" y="149746"/>
                    <a:pt x="181855" y="164156"/>
                    <a:pt x="172987" y="172987"/>
                  </a:cubicBezTo>
                  <a:lnTo>
                    <a:pt x="38759" y="307216"/>
                  </a:lnTo>
                  <a:cubicBezTo>
                    <a:pt x="34469" y="311542"/>
                    <a:pt x="28784" y="313902"/>
                    <a:pt x="22705" y="313902"/>
                  </a:cubicBezTo>
                  <a:close/>
                </a:path>
              </a:pathLst>
            </a:custGeom>
            <a:grp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44" name="任意多边形: 形状 43"/>
            <p:cNvSpPr/>
            <p:nvPr/>
          </p:nvSpPr>
          <p:spPr>
            <a:xfrm>
              <a:off x="2556334" y="1790803"/>
              <a:ext cx="179638" cy="313901"/>
            </a:xfrm>
            <a:custGeom>
              <a:avLst/>
              <a:gdLst>
                <a:gd name="connsiteX0" fmla="*/ 22705 w 179638"/>
                <a:gd name="connsiteY0" fmla="*/ 313902 h 313901"/>
                <a:gd name="connsiteX1" fmla="*/ 6651 w 179638"/>
                <a:gd name="connsiteY1" fmla="*/ 307251 h 313901"/>
                <a:gd name="connsiteX2" fmla="*/ 0 w 179638"/>
                <a:gd name="connsiteY2" fmla="*/ 291197 h 313901"/>
                <a:gd name="connsiteX3" fmla="*/ 6651 w 179638"/>
                <a:gd name="connsiteY3" fmla="*/ 275142 h 313901"/>
                <a:gd name="connsiteX4" fmla="*/ 117530 w 179638"/>
                <a:gd name="connsiteY4" fmla="*/ 164263 h 313901"/>
                <a:gd name="connsiteX5" fmla="*/ 117530 w 179638"/>
                <a:gd name="connsiteY5" fmla="*/ 149675 h 313901"/>
                <a:gd name="connsiteX6" fmla="*/ 6651 w 179638"/>
                <a:gd name="connsiteY6" fmla="*/ 38795 h 313901"/>
                <a:gd name="connsiteX7" fmla="*/ 6651 w 179638"/>
                <a:gd name="connsiteY7" fmla="*/ 6651 h 313901"/>
                <a:gd name="connsiteX8" fmla="*/ 22705 w 179638"/>
                <a:gd name="connsiteY8" fmla="*/ 0 h 313901"/>
                <a:gd name="connsiteX9" fmla="*/ 38760 w 179638"/>
                <a:gd name="connsiteY9" fmla="*/ 6651 h 313901"/>
                <a:gd name="connsiteX10" fmla="*/ 172988 w 179638"/>
                <a:gd name="connsiteY10" fmla="*/ 140879 h 313901"/>
                <a:gd name="connsiteX11" fmla="*/ 172988 w 179638"/>
                <a:gd name="connsiteY11" fmla="*/ 172987 h 313901"/>
                <a:gd name="connsiteX12" fmla="*/ 38760 w 179638"/>
                <a:gd name="connsiteY12" fmla="*/ 307216 h 313901"/>
                <a:gd name="connsiteX13" fmla="*/ 22705 w 179638"/>
                <a:gd name="connsiteY13" fmla="*/ 313902 h 31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9638" h="313901">
                  <a:moveTo>
                    <a:pt x="22705" y="313902"/>
                  </a:moveTo>
                  <a:cubicBezTo>
                    <a:pt x="16627" y="313902"/>
                    <a:pt x="10941" y="311542"/>
                    <a:pt x="6651" y="307251"/>
                  </a:cubicBezTo>
                  <a:cubicBezTo>
                    <a:pt x="2360" y="302961"/>
                    <a:pt x="0" y="297275"/>
                    <a:pt x="0" y="291197"/>
                  </a:cubicBezTo>
                  <a:cubicBezTo>
                    <a:pt x="0" y="285154"/>
                    <a:pt x="2360" y="279433"/>
                    <a:pt x="6651" y="275142"/>
                  </a:cubicBezTo>
                  <a:lnTo>
                    <a:pt x="117530" y="164263"/>
                  </a:lnTo>
                  <a:cubicBezTo>
                    <a:pt x="121570" y="160223"/>
                    <a:pt x="121570" y="153679"/>
                    <a:pt x="117530" y="149675"/>
                  </a:cubicBezTo>
                  <a:lnTo>
                    <a:pt x="6651" y="38795"/>
                  </a:lnTo>
                  <a:cubicBezTo>
                    <a:pt x="-2217" y="29928"/>
                    <a:pt x="-2217" y="15518"/>
                    <a:pt x="6651" y="6651"/>
                  </a:cubicBezTo>
                  <a:cubicBezTo>
                    <a:pt x="10941" y="2360"/>
                    <a:pt x="16662" y="0"/>
                    <a:pt x="22705" y="0"/>
                  </a:cubicBezTo>
                  <a:cubicBezTo>
                    <a:pt x="28784" y="0"/>
                    <a:pt x="34469" y="2360"/>
                    <a:pt x="38760" y="6651"/>
                  </a:cubicBezTo>
                  <a:lnTo>
                    <a:pt x="172988" y="140879"/>
                  </a:lnTo>
                  <a:cubicBezTo>
                    <a:pt x="181855" y="149746"/>
                    <a:pt x="181855" y="164156"/>
                    <a:pt x="172988" y="172987"/>
                  </a:cubicBezTo>
                  <a:lnTo>
                    <a:pt x="38760" y="307216"/>
                  </a:lnTo>
                  <a:cubicBezTo>
                    <a:pt x="34469" y="311542"/>
                    <a:pt x="28748" y="313902"/>
                    <a:pt x="22705" y="313902"/>
                  </a:cubicBezTo>
                  <a:close/>
                </a:path>
              </a:pathLst>
            </a:custGeom>
            <a:grp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45" name="图形 2169+"/>
          <p:cNvGrpSpPr/>
          <p:nvPr/>
        </p:nvGrpSpPr>
        <p:grpSpPr>
          <a:xfrm>
            <a:off x="6314422" y="1461533"/>
            <a:ext cx="274185" cy="274215"/>
            <a:chOff x="2556334" y="1790803"/>
            <a:chExt cx="313866" cy="313901"/>
          </a:xfrm>
          <a:solidFill>
            <a:schemeClr val="accent1"/>
          </a:solidFill>
        </p:grpSpPr>
        <p:sp>
          <p:nvSpPr>
            <p:cNvPr id="46" name="任意多边形: 形状 45"/>
            <p:cNvSpPr/>
            <p:nvPr/>
          </p:nvSpPr>
          <p:spPr>
            <a:xfrm>
              <a:off x="2690562" y="1790803"/>
              <a:ext cx="179638" cy="313901"/>
            </a:xfrm>
            <a:custGeom>
              <a:avLst/>
              <a:gdLst>
                <a:gd name="connsiteX0" fmla="*/ 22705 w 179638"/>
                <a:gd name="connsiteY0" fmla="*/ 313902 h 313901"/>
                <a:gd name="connsiteX1" fmla="*/ 6651 w 179638"/>
                <a:gd name="connsiteY1" fmla="*/ 307251 h 313901"/>
                <a:gd name="connsiteX2" fmla="*/ 0 w 179638"/>
                <a:gd name="connsiteY2" fmla="*/ 291197 h 313901"/>
                <a:gd name="connsiteX3" fmla="*/ 6651 w 179638"/>
                <a:gd name="connsiteY3" fmla="*/ 275142 h 313901"/>
                <a:gd name="connsiteX4" fmla="*/ 117530 w 179638"/>
                <a:gd name="connsiteY4" fmla="*/ 164263 h 313901"/>
                <a:gd name="connsiteX5" fmla="*/ 117530 w 179638"/>
                <a:gd name="connsiteY5" fmla="*/ 149675 h 313901"/>
                <a:gd name="connsiteX6" fmla="*/ 6651 w 179638"/>
                <a:gd name="connsiteY6" fmla="*/ 38795 h 313901"/>
                <a:gd name="connsiteX7" fmla="*/ 6651 w 179638"/>
                <a:gd name="connsiteY7" fmla="*/ 6651 h 313901"/>
                <a:gd name="connsiteX8" fmla="*/ 22705 w 179638"/>
                <a:gd name="connsiteY8" fmla="*/ 0 h 313901"/>
                <a:gd name="connsiteX9" fmla="*/ 38759 w 179638"/>
                <a:gd name="connsiteY9" fmla="*/ 6651 h 313901"/>
                <a:gd name="connsiteX10" fmla="*/ 172987 w 179638"/>
                <a:gd name="connsiteY10" fmla="*/ 140879 h 313901"/>
                <a:gd name="connsiteX11" fmla="*/ 172987 w 179638"/>
                <a:gd name="connsiteY11" fmla="*/ 172987 h 313901"/>
                <a:gd name="connsiteX12" fmla="*/ 38759 w 179638"/>
                <a:gd name="connsiteY12" fmla="*/ 307216 h 313901"/>
                <a:gd name="connsiteX13" fmla="*/ 22705 w 179638"/>
                <a:gd name="connsiteY13" fmla="*/ 313902 h 31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9638" h="313901">
                  <a:moveTo>
                    <a:pt x="22705" y="313902"/>
                  </a:moveTo>
                  <a:cubicBezTo>
                    <a:pt x="16627" y="313902"/>
                    <a:pt x="10941" y="311542"/>
                    <a:pt x="6651" y="307251"/>
                  </a:cubicBezTo>
                  <a:cubicBezTo>
                    <a:pt x="2360" y="302961"/>
                    <a:pt x="0" y="297275"/>
                    <a:pt x="0" y="291197"/>
                  </a:cubicBezTo>
                  <a:cubicBezTo>
                    <a:pt x="0" y="285154"/>
                    <a:pt x="2360" y="279433"/>
                    <a:pt x="6651" y="275142"/>
                  </a:cubicBezTo>
                  <a:lnTo>
                    <a:pt x="117530" y="164263"/>
                  </a:lnTo>
                  <a:cubicBezTo>
                    <a:pt x="121535" y="160223"/>
                    <a:pt x="121535" y="153679"/>
                    <a:pt x="117530" y="149675"/>
                  </a:cubicBezTo>
                  <a:lnTo>
                    <a:pt x="6651" y="38795"/>
                  </a:lnTo>
                  <a:cubicBezTo>
                    <a:pt x="-2217" y="29928"/>
                    <a:pt x="-2217" y="15518"/>
                    <a:pt x="6651" y="6651"/>
                  </a:cubicBezTo>
                  <a:cubicBezTo>
                    <a:pt x="10941" y="2360"/>
                    <a:pt x="16662" y="0"/>
                    <a:pt x="22705" y="0"/>
                  </a:cubicBezTo>
                  <a:cubicBezTo>
                    <a:pt x="28748" y="0"/>
                    <a:pt x="34469" y="2360"/>
                    <a:pt x="38759" y="6651"/>
                  </a:cubicBezTo>
                  <a:lnTo>
                    <a:pt x="172987" y="140879"/>
                  </a:lnTo>
                  <a:cubicBezTo>
                    <a:pt x="181855" y="149746"/>
                    <a:pt x="181855" y="164156"/>
                    <a:pt x="172987" y="172987"/>
                  </a:cubicBezTo>
                  <a:lnTo>
                    <a:pt x="38759" y="307216"/>
                  </a:lnTo>
                  <a:cubicBezTo>
                    <a:pt x="34469" y="311542"/>
                    <a:pt x="28784" y="313902"/>
                    <a:pt x="22705" y="313902"/>
                  </a:cubicBezTo>
                  <a:close/>
                </a:path>
              </a:pathLst>
            </a:custGeom>
            <a:grp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47" name="任意多边形: 形状 46"/>
            <p:cNvSpPr/>
            <p:nvPr/>
          </p:nvSpPr>
          <p:spPr>
            <a:xfrm>
              <a:off x="2556334" y="1790803"/>
              <a:ext cx="179638" cy="313901"/>
            </a:xfrm>
            <a:custGeom>
              <a:avLst/>
              <a:gdLst>
                <a:gd name="connsiteX0" fmla="*/ 22705 w 179638"/>
                <a:gd name="connsiteY0" fmla="*/ 313902 h 313901"/>
                <a:gd name="connsiteX1" fmla="*/ 6651 w 179638"/>
                <a:gd name="connsiteY1" fmla="*/ 307251 h 313901"/>
                <a:gd name="connsiteX2" fmla="*/ 0 w 179638"/>
                <a:gd name="connsiteY2" fmla="*/ 291197 h 313901"/>
                <a:gd name="connsiteX3" fmla="*/ 6651 w 179638"/>
                <a:gd name="connsiteY3" fmla="*/ 275142 h 313901"/>
                <a:gd name="connsiteX4" fmla="*/ 117530 w 179638"/>
                <a:gd name="connsiteY4" fmla="*/ 164263 h 313901"/>
                <a:gd name="connsiteX5" fmla="*/ 117530 w 179638"/>
                <a:gd name="connsiteY5" fmla="*/ 149675 h 313901"/>
                <a:gd name="connsiteX6" fmla="*/ 6651 w 179638"/>
                <a:gd name="connsiteY6" fmla="*/ 38795 h 313901"/>
                <a:gd name="connsiteX7" fmla="*/ 6651 w 179638"/>
                <a:gd name="connsiteY7" fmla="*/ 6651 h 313901"/>
                <a:gd name="connsiteX8" fmla="*/ 22705 w 179638"/>
                <a:gd name="connsiteY8" fmla="*/ 0 h 313901"/>
                <a:gd name="connsiteX9" fmla="*/ 38760 w 179638"/>
                <a:gd name="connsiteY9" fmla="*/ 6651 h 313901"/>
                <a:gd name="connsiteX10" fmla="*/ 172988 w 179638"/>
                <a:gd name="connsiteY10" fmla="*/ 140879 h 313901"/>
                <a:gd name="connsiteX11" fmla="*/ 172988 w 179638"/>
                <a:gd name="connsiteY11" fmla="*/ 172987 h 313901"/>
                <a:gd name="connsiteX12" fmla="*/ 38760 w 179638"/>
                <a:gd name="connsiteY12" fmla="*/ 307216 h 313901"/>
                <a:gd name="connsiteX13" fmla="*/ 22705 w 179638"/>
                <a:gd name="connsiteY13" fmla="*/ 313902 h 31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9638" h="313901">
                  <a:moveTo>
                    <a:pt x="22705" y="313902"/>
                  </a:moveTo>
                  <a:cubicBezTo>
                    <a:pt x="16627" y="313902"/>
                    <a:pt x="10941" y="311542"/>
                    <a:pt x="6651" y="307251"/>
                  </a:cubicBezTo>
                  <a:cubicBezTo>
                    <a:pt x="2360" y="302961"/>
                    <a:pt x="0" y="297275"/>
                    <a:pt x="0" y="291197"/>
                  </a:cubicBezTo>
                  <a:cubicBezTo>
                    <a:pt x="0" y="285154"/>
                    <a:pt x="2360" y="279433"/>
                    <a:pt x="6651" y="275142"/>
                  </a:cubicBezTo>
                  <a:lnTo>
                    <a:pt x="117530" y="164263"/>
                  </a:lnTo>
                  <a:cubicBezTo>
                    <a:pt x="121570" y="160223"/>
                    <a:pt x="121570" y="153679"/>
                    <a:pt x="117530" y="149675"/>
                  </a:cubicBezTo>
                  <a:lnTo>
                    <a:pt x="6651" y="38795"/>
                  </a:lnTo>
                  <a:cubicBezTo>
                    <a:pt x="-2217" y="29928"/>
                    <a:pt x="-2217" y="15518"/>
                    <a:pt x="6651" y="6651"/>
                  </a:cubicBezTo>
                  <a:cubicBezTo>
                    <a:pt x="10941" y="2360"/>
                    <a:pt x="16662" y="0"/>
                    <a:pt x="22705" y="0"/>
                  </a:cubicBezTo>
                  <a:cubicBezTo>
                    <a:pt x="28784" y="0"/>
                    <a:pt x="34469" y="2360"/>
                    <a:pt x="38760" y="6651"/>
                  </a:cubicBezTo>
                  <a:lnTo>
                    <a:pt x="172988" y="140879"/>
                  </a:lnTo>
                  <a:cubicBezTo>
                    <a:pt x="181855" y="149746"/>
                    <a:pt x="181855" y="164156"/>
                    <a:pt x="172988" y="172987"/>
                  </a:cubicBezTo>
                  <a:lnTo>
                    <a:pt x="38760" y="307216"/>
                  </a:lnTo>
                  <a:cubicBezTo>
                    <a:pt x="34469" y="311542"/>
                    <a:pt x="28748" y="313902"/>
                    <a:pt x="22705" y="313902"/>
                  </a:cubicBezTo>
                  <a:close/>
                </a:path>
              </a:pathLst>
            </a:custGeom>
            <a:grp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48" name="图形 2169++"/>
          <p:cNvGrpSpPr/>
          <p:nvPr/>
        </p:nvGrpSpPr>
        <p:grpSpPr>
          <a:xfrm>
            <a:off x="9074480" y="1461533"/>
            <a:ext cx="274185" cy="274215"/>
            <a:chOff x="2556334" y="1790803"/>
            <a:chExt cx="313866" cy="313901"/>
          </a:xfrm>
          <a:solidFill>
            <a:schemeClr val="accent1"/>
          </a:solidFill>
        </p:grpSpPr>
        <p:sp>
          <p:nvSpPr>
            <p:cNvPr id="49" name="任意多边形: 形状 48"/>
            <p:cNvSpPr/>
            <p:nvPr/>
          </p:nvSpPr>
          <p:spPr>
            <a:xfrm>
              <a:off x="2690562" y="1790803"/>
              <a:ext cx="179638" cy="313901"/>
            </a:xfrm>
            <a:custGeom>
              <a:avLst/>
              <a:gdLst>
                <a:gd name="connsiteX0" fmla="*/ 22705 w 179638"/>
                <a:gd name="connsiteY0" fmla="*/ 313902 h 313901"/>
                <a:gd name="connsiteX1" fmla="*/ 6651 w 179638"/>
                <a:gd name="connsiteY1" fmla="*/ 307251 h 313901"/>
                <a:gd name="connsiteX2" fmla="*/ 0 w 179638"/>
                <a:gd name="connsiteY2" fmla="*/ 291197 h 313901"/>
                <a:gd name="connsiteX3" fmla="*/ 6651 w 179638"/>
                <a:gd name="connsiteY3" fmla="*/ 275142 h 313901"/>
                <a:gd name="connsiteX4" fmla="*/ 117530 w 179638"/>
                <a:gd name="connsiteY4" fmla="*/ 164263 h 313901"/>
                <a:gd name="connsiteX5" fmla="*/ 117530 w 179638"/>
                <a:gd name="connsiteY5" fmla="*/ 149675 h 313901"/>
                <a:gd name="connsiteX6" fmla="*/ 6651 w 179638"/>
                <a:gd name="connsiteY6" fmla="*/ 38795 h 313901"/>
                <a:gd name="connsiteX7" fmla="*/ 6651 w 179638"/>
                <a:gd name="connsiteY7" fmla="*/ 6651 h 313901"/>
                <a:gd name="connsiteX8" fmla="*/ 22705 w 179638"/>
                <a:gd name="connsiteY8" fmla="*/ 0 h 313901"/>
                <a:gd name="connsiteX9" fmla="*/ 38759 w 179638"/>
                <a:gd name="connsiteY9" fmla="*/ 6651 h 313901"/>
                <a:gd name="connsiteX10" fmla="*/ 172987 w 179638"/>
                <a:gd name="connsiteY10" fmla="*/ 140879 h 313901"/>
                <a:gd name="connsiteX11" fmla="*/ 172987 w 179638"/>
                <a:gd name="connsiteY11" fmla="*/ 172987 h 313901"/>
                <a:gd name="connsiteX12" fmla="*/ 38759 w 179638"/>
                <a:gd name="connsiteY12" fmla="*/ 307216 h 313901"/>
                <a:gd name="connsiteX13" fmla="*/ 22705 w 179638"/>
                <a:gd name="connsiteY13" fmla="*/ 313902 h 31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9638" h="313901">
                  <a:moveTo>
                    <a:pt x="22705" y="313902"/>
                  </a:moveTo>
                  <a:cubicBezTo>
                    <a:pt x="16627" y="313902"/>
                    <a:pt x="10941" y="311542"/>
                    <a:pt x="6651" y="307251"/>
                  </a:cubicBezTo>
                  <a:cubicBezTo>
                    <a:pt x="2360" y="302961"/>
                    <a:pt x="0" y="297275"/>
                    <a:pt x="0" y="291197"/>
                  </a:cubicBezTo>
                  <a:cubicBezTo>
                    <a:pt x="0" y="285154"/>
                    <a:pt x="2360" y="279433"/>
                    <a:pt x="6651" y="275142"/>
                  </a:cubicBezTo>
                  <a:lnTo>
                    <a:pt x="117530" y="164263"/>
                  </a:lnTo>
                  <a:cubicBezTo>
                    <a:pt x="121535" y="160223"/>
                    <a:pt x="121535" y="153679"/>
                    <a:pt x="117530" y="149675"/>
                  </a:cubicBezTo>
                  <a:lnTo>
                    <a:pt x="6651" y="38795"/>
                  </a:lnTo>
                  <a:cubicBezTo>
                    <a:pt x="-2217" y="29928"/>
                    <a:pt x="-2217" y="15518"/>
                    <a:pt x="6651" y="6651"/>
                  </a:cubicBezTo>
                  <a:cubicBezTo>
                    <a:pt x="10941" y="2360"/>
                    <a:pt x="16662" y="0"/>
                    <a:pt x="22705" y="0"/>
                  </a:cubicBezTo>
                  <a:cubicBezTo>
                    <a:pt x="28748" y="0"/>
                    <a:pt x="34469" y="2360"/>
                    <a:pt x="38759" y="6651"/>
                  </a:cubicBezTo>
                  <a:lnTo>
                    <a:pt x="172987" y="140879"/>
                  </a:lnTo>
                  <a:cubicBezTo>
                    <a:pt x="181855" y="149746"/>
                    <a:pt x="181855" y="164156"/>
                    <a:pt x="172987" y="172987"/>
                  </a:cubicBezTo>
                  <a:lnTo>
                    <a:pt x="38759" y="307216"/>
                  </a:lnTo>
                  <a:cubicBezTo>
                    <a:pt x="34469" y="311542"/>
                    <a:pt x="28784" y="313902"/>
                    <a:pt x="22705" y="313902"/>
                  </a:cubicBezTo>
                  <a:close/>
                </a:path>
              </a:pathLst>
            </a:custGeom>
            <a:grp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50" name="任意多边形: 形状 49"/>
            <p:cNvSpPr/>
            <p:nvPr/>
          </p:nvSpPr>
          <p:spPr>
            <a:xfrm>
              <a:off x="2556334" y="1790803"/>
              <a:ext cx="179638" cy="313901"/>
            </a:xfrm>
            <a:custGeom>
              <a:avLst/>
              <a:gdLst>
                <a:gd name="connsiteX0" fmla="*/ 22705 w 179638"/>
                <a:gd name="connsiteY0" fmla="*/ 313902 h 313901"/>
                <a:gd name="connsiteX1" fmla="*/ 6651 w 179638"/>
                <a:gd name="connsiteY1" fmla="*/ 307251 h 313901"/>
                <a:gd name="connsiteX2" fmla="*/ 0 w 179638"/>
                <a:gd name="connsiteY2" fmla="*/ 291197 h 313901"/>
                <a:gd name="connsiteX3" fmla="*/ 6651 w 179638"/>
                <a:gd name="connsiteY3" fmla="*/ 275142 h 313901"/>
                <a:gd name="connsiteX4" fmla="*/ 117530 w 179638"/>
                <a:gd name="connsiteY4" fmla="*/ 164263 h 313901"/>
                <a:gd name="connsiteX5" fmla="*/ 117530 w 179638"/>
                <a:gd name="connsiteY5" fmla="*/ 149675 h 313901"/>
                <a:gd name="connsiteX6" fmla="*/ 6651 w 179638"/>
                <a:gd name="connsiteY6" fmla="*/ 38795 h 313901"/>
                <a:gd name="connsiteX7" fmla="*/ 6651 w 179638"/>
                <a:gd name="connsiteY7" fmla="*/ 6651 h 313901"/>
                <a:gd name="connsiteX8" fmla="*/ 22705 w 179638"/>
                <a:gd name="connsiteY8" fmla="*/ 0 h 313901"/>
                <a:gd name="connsiteX9" fmla="*/ 38760 w 179638"/>
                <a:gd name="connsiteY9" fmla="*/ 6651 h 313901"/>
                <a:gd name="connsiteX10" fmla="*/ 172988 w 179638"/>
                <a:gd name="connsiteY10" fmla="*/ 140879 h 313901"/>
                <a:gd name="connsiteX11" fmla="*/ 172988 w 179638"/>
                <a:gd name="connsiteY11" fmla="*/ 172987 h 313901"/>
                <a:gd name="connsiteX12" fmla="*/ 38760 w 179638"/>
                <a:gd name="connsiteY12" fmla="*/ 307216 h 313901"/>
                <a:gd name="connsiteX13" fmla="*/ 22705 w 179638"/>
                <a:gd name="connsiteY13" fmla="*/ 313902 h 31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9638" h="313901">
                  <a:moveTo>
                    <a:pt x="22705" y="313902"/>
                  </a:moveTo>
                  <a:cubicBezTo>
                    <a:pt x="16627" y="313902"/>
                    <a:pt x="10941" y="311542"/>
                    <a:pt x="6651" y="307251"/>
                  </a:cubicBezTo>
                  <a:cubicBezTo>
                    <a:pt x="2360" y="302961"/>
                    <a:pt x="0" y="297275"/>
                    <a:pt x="0" y="291197"/>
                  </a:cubicBezTo>
                  <a:cubicBezTo>
                    <a:pt x="0" y="285154"/>
                    <a:pt x="2360" y="279433"/>
                    <a:pt x="6651" y="275142"/>
                  </a:cubicBezTo>
                  <a:lnTo>
                    <a:pt x="117530" y="164263"/>
                  </a:lnTo>
                  <a:cubicBezTo>
                    <a:pt x="121570" y="160223"/>
                    <a:pt x="121570" y="153679"/>
                    <a:pt x="117530" y="149675"/>
                  </a:cubicBezTo>
                  <a:lnTo>
                    <a:pt x="6651" y="38795"/>
                  </a:lnTo>
                  <a:cubicBezTo>
                    <a:pt x="-2217" y="29928"/>
                    <a:pt x="-2217" y="15518"/>
                    <a:pt x="6651" y="6651"/>
                  </a:cubicBezTo>
                  <a:cubicBezTo>
                    <a:pt x="10941" y="2360"/>
                    <a:pt x="16662" y="0"/>
                    <a:pt x="22705" y="0"/>
                  </a:cubicBezTo>
                  <a:cubicBezTo>
                    <a:pt x="28784" y="0"/>
                    <a:pt x="34469" y="2360"/>
                    <a:pt x="38760" y="6651"/>
                  </a:cubicBezTo>
                  <a:lnTo>
                    <a:pt x="172988" y="140879"/>
                  </a:lnTo>
                  <a:cubicBezTo>
                    <a:pt x="181855" y="149746"/>
                    <a:pt x="181855" y="164156"/>
                    <a:pt x="172988" y="172987"/>
                  </a:cubicBezTo>
                  <a:lnTo>
                    <a:pt x="38760" y="307216"/>
                  </a:lnTo>
                  <a:cubicBezTo>
                    <a:pt x="34469" y="311542"/>
                    <a:pt x="28748" y="313902"/>
                    <a:pt x="22705" y="313902"/>
                  </a:cubicBezTo>
                  <a:close/>
                </a:path>
              </a:pathLst>
            </a:custGeom>
            <a:grp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sp>
        <p:nvSpPr>
          <p:cNvPr id="51" name="文本框 50"/>
          <p:cNvSpPr txBox="1"/>
          <p:nvPr/>
        </p:nvSpPr>
        <p:spPr>
          <a:xfrm>
            <a:off x="1852968" y="948019"/>
            <a:ext cx="900888" cy="276999"/>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cs typeface="+mn-ea"/>
                <a:sym typeface="+mn-lt"/>
              </a:rPr>
              <a:t>6.1-6.15</a:t>
            </a:r>
            <a:endParaRPr kumimoji="0" lang="zh-CN" altLang="en-US" sz="1800" b="0" i="0" u="none" strike="noStrike" kern="1200" cap="none" spc="0" normalizeH="0" baseline="0" noProof="0" dirty="0">
              <a:ln>
                <a:noFill/>
              </a:ln>
              <a:solidFill>
                <a:srgbClr val="305598"/>
              </a:solidFill>
              <a:effectLst/>
              <a:uLnTx/>
              <a:uFillTx/>
              <a:cs typeface="+mn-ea"/>
              <a:sym typeface="+mn-lt"/>
            </a:endParaRPr>
          </a:p>
        </p:txBody>
      </p:sp>
      <p:sp>
        <p:nvSpPr>
          <p:cNvPr id="52" name="文本框 51"/>
          <p:cNvSpPr txBox="1"/>
          <p:nvPr/>
        </p:nvSpPr>
        <p:spPr>
          <a:xfrm>
            <a:off x="4544899" y="948019"/>
            <a:ext cx="1033937" cy="276999"/>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cs typeface="+mn-ea"/>
                <a:sym typeface="+mn-lt"/>
              </a:rPr>
              <a:t>6.16-7.15</a:t>
            </a:r>
            <a:endParaRPr kumimoji="0" lang="zh-CN" altLang="en-US" sz="1800" b="0" i="0" u="none" strike="noStrike" kern="1200" cap="none" spc="0" normalizeH="0" baseline="0" noProof="0" dirty="0">
              <a:ln>
                <a:noFill/>
              </a:ln>
              <a:solidFill>
                <a:srgbClr val="305598"/>
              </a:solidFill>
              <a:effectLst/>
              <a:uLnTx/>
              <a:uFillTx/>
              <a:cs typeface="+mn-ea"/>
              <a:sym typeface="+mn-lt"/>
            </a:endParaRPr>
          </a:p>
        </p:txBody>
      </p:sp>
      <p:sp>
        <p:nvSpPr>
          <p:cNvPr id="53" name="文本框 52"/>
          <p:cNvSpPr txBox="1"/>
          <p:nvPr/>
        </p:nvSpPr>
        <p:spPr>
          <a:xfrm>
            <a:off x="7304957" y="948019"/>
            <a:ext cx="1033937" cy="276999"/>
          </a:xfrm>
          <a:prstGeom prst="rect">
            <a:avLst/>
          </a:prstGeom>
          <a:noFill/>
        </p:spPr>
        <p:txBody>
          <a:bodyPr wrap="none" lIns="0" tIns="0" rIns="0" bIns="0">
            <a:spAutoFit/>
          </a:bodyPr>
          <a:lstStyle>
            <a:defPPr>
              <a:defRPr lang="zh-CN"/>
            </a:defPPr>
            <a:lvl1pPr>
              <a:defRPr>
                <a:solidFill>
                  <a:schemeClr val="accent1"/>
                </a:solidFill>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mn-lt"/>
                <a:ea typeface="+mn-ea"/>
                <a:cs typeface="+mn-ea"/>
                <a:sym typeface="+mn-lt"/>
              </a:rPr>
              <a:t>7.16-7.31</a:t>
            </a:r>
            <a:endParaRPr kumimoji="0" lang="zh-CN" altLang="en-US" sz="1800" b="0" i="0" u="none" strike="noStrike" kern="1200" cap="none" spc="0" normalizeH="0" baseline="0" noProof="0" dirty="0">
              <a:ln>
                <a:noFill/>
              </a:ln>
              <a:solidFill>
                <a:srgbClr val="305598"/>
              </a:solidFill>
              <a:effectLst/>
              <a:uLnTx/>
              <a:uFillTx/>
              <a:latin typeface="+mn-lt"/>
              <a:ea typeface="+mn-ea"/>
              <a:cs typeface="+mn-ea"/>
              <a:sym typeface="+mn-lt"/>
            </a:endParaRPr>
          </a:p>
        </p:txBody>
      </p:sp>
      <p:sp>
        <p:nvSpPr>
          <p:cNvPr id="54" name="文本框 53"/>
          <p:cNvSpPr txBox="1"/>
          <p:nvPr/>
        </p:nvSpPr>
        <p:spPr>
          <a:xfrm>
            <a:off x="10133143" y="948019"/>
            <a:ext cx="900888" cy="276999"/>
          </a:xfrm>
          <a:prstGeom prst="rect">
            <a:avLst/>
          </a:prstGeom>
          <a:noFill/>
        </p:spPr>
        <p:txBody>
          <a:bodyPr wrap="none" lIns="0" tIns="0" rIns="0" bIns="0">
            <a:spAutoFit/>
          </a:bodyPr>
          <a:lstStyle>
            <a:defPPr>
              <a:defRPr lang="zh-CN"/>
            </a:defPPr>
            <a:lvl1pPr>
              <a:defRPr>
                <a:solidFill>
                  <a:schemeClr val="accent1"/>
                </a:solidFill>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mn-lt"/>
                <a:ea typeface="+mn-ea"/>
                <a:cs typeface="+mn-ea"/>
                <a:sym typeface="+mn-lt"/>
              </a:rPr>
              <a:t>8.1-8.15</a:t>
            </a:r>
            <a:endParaRPr kumimoji="0" lang="zh-CN" altLang="en-US" sz="1800" b="0" i="0" u="none" strike="noStrike" kern="1200" cap="none" spc="0" normalizeH="0" baseline="0" noProof="0" dirty="0">
              <a:ln>
                <a:noFill/>
              </a:ln>
              <a:solidFill>
                <a:srgbClr val="305598"/>
              </a:solidFill>
              <a:effectLst/>
              <a:uLnTx/>
              <a:uFillTx/>
              <a:latin typeface="+mn-lt"/>
              <a:ea typeface="+mn-ea"/>
              <a:cs typeface="+mn-ea"/>
              <a:sym typeface="+mn-lt"/>
            </a:endParaRPr>
          </a:p>
        </p:txBody>
      </p:sp>
      <p:sp>
        <p:nvSpPr>
          <p:cNvPr id="55" name="图形 2169"/>
          <p:cNvSpPr/>
          <p:nvPr/>
        </p:nvSpPr>
        <p:spPr>
          <a:xfrm>
            <a:off x="2976643" y="3624455"/>
            <a:ext cx="428362" cy="274590"/>
          </a:xfrm>
          <a:custGeom>
            <a:avLst/>
            <a:gdLst>
              <a:gd name="connsiteX0" fmla="*/ 316476 w 490357"/>
              <a:gd name="connsiteY0" fmla="*/ 0 h 314330"/>
              <a:gd name="connsiteX1" fmla="*/ 316476 w 490357"/>
              <a:gd name="connsiteY1" fmla="*/ 86887 h 314330"/>
              <a:gd name="connsiteX2" fmla="*/ 0 w 490357"/>
              <a:gd name="connsiteY2" fmla="*/ 86887 h 314330"/>
              <a:gd name="connsiteX3" fmla="*/ 0 w 490357"/>
              <a:gd name="connsiteY3" fmla="*/ 227408 h 314330"/>
              <a:gd name="connsiteX4" fmla="*/ 316476 w 490357"/>
              <a:gd name="connsiteY4" fmla="*/ 227408 h 314330"/>
              <a:gd name="connsiteX5" fmla="*/ 316476 w 490357"/>
              <a:gd name="connsiteY5" fmla="*/ 314331 h 314330"/>
              <a:gd name="connsiteX6" fmla="*/ 490358 w 490357"/>
              <a:gd name="connsiteY6" fmla="*/ 157148 h 314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 h="314330">
                <a:moveTo>
                  <a:pt x="316476" y="0"/>
                </a:moveTo>
                <a:lnTo>
                  <a:pt x="316476" y="86887"/>
                </a:lnTo>
                <a:lnTo>
                  <a:pt x="0" y="86887"/>
                </a:lnTo>
                <a:lnTo>
                  <a:pt x="0" y="227408"/>
                </a:lnTo>
                <a:lnTo>
                  <a:pt x="316476" y="227408"/>
                </a:lnTo>
                <a:lnTo>
                  <a:pt x="316476" y="314331"/>
                </a:lnTo>
                <a:lnTo>
                  <a:pt x="490358" y="157148"/>
                </a:lnTo>
                <a:close/>
              </a:path>
            </a:pathLst>
          </a:custGeom>
          <a:solidFill>
            <a:schemeClr val="accent1"/>
          </a:solid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56" name="图形 2169+"/>
          <p:cNvSpPr/>
          <p:nvPr/>
        </p:nvSpPr>
        <p:spPr>
          <a:xfrm>
            <a:off x="5794860" y="3624455"/>
            <a:ext cx="428362" cy="274590"/>
          </a:xfrm>
          <a:custGeom>
            <a:avLst/>
            <a:gdLst>
              <a:gd name="connsiteX0" fmla="*/ 316476 w 490357"/>
              <a:gd name="connsiteY0" fmla="*/ 0 h 314330"/>
              <a:gd name="connsiteX1" fmla="*/ 316476 w 490357"/>
              <a:gd name="connsiteY1" fmla="*/ 86887 h 314330"/>
              <a:gd name="connsiteX2" fmla="*/ 0 w 490357"/>
              <a:gd name="connsiteY2" fmla="*/ 86887 h 314330"/>
              <a:gd name="connsiteX3" fmla="*/ 0 w 490357"/>
              <a:gd name="connsiteY3" fmla="*/ 227408 h 314330"/>
              <a:gd name="connsiteX4" fmla="*/ 316476 w 490357"/>
              <a:gd name="connsiteY4" fmla="*/ 227408 h 314330"/>
              <a:gd name="connsiteX5" fmla="*/ 316476 w 490357"/>
              <a:gd name="connsiteY5" fmla="*/ 314331 h 314330"/>
              <a:gd name="connsiteX6" fmla="*/ 490358 w 490357"/>
              <a:gd name="connsiteY6" fmla="*/ 157148 h 314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 h="314330">
                <a:moveTo>
                  <a:pt x="316476" y="0"/>
                </a:moveTo>
                <a:lnTo>
                  <a:pt x="316476" y="86887"/>
                </a:lnTo>
                <a:lnTo>
                  <a:pt x="0" y="86887"/>
                </a:lnTo>
                <a:lnTo>
                  <a:pt x="0" y="227408"/>
                </a:lnTo>
                <a:lnTo>
                  <a:pt x="316476" y="227408"/>
                </a:lnTo>
                <a:lnTo>
                  <a:pt x="316476" y="314331"/>
                </a:lnTo>
                <a:lnTo>
                  <a:pt x="490358" y="157148"/>
                </a:lnTo>
                <a:close/>
              </a:path>
            </a:pathLst>
          </a:custGeom>
          <a:solidFill>
            <a:schemeClr val="accent1"/>
          </a:solid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57" name="图形 2169++"/>
          <p:cNvSpPr/>
          <p:nvPr/>
        </p:nvSpPr>
        <p:spPr>
          <a:xfrm>
            <a:off x="8490352" y="3624455"/>
            <a:ext cx="428362" cy="274590"/>
          </a:xfrm>
          <a:custGeom>
            <a:avLst/>
            <a:gdLst>
              <a:gd name="connsiteX0" fmla="*/ 316476 w 490357"/>
              <a:gd name="connsiteY0" fmla="*/ 0 h 314330"/>
              <a:gd name="connsiteX1" fmla="*/ 316476 w 490357"/>
              <a:gd name="connsiteY1" fmla="*/ 86887 h 314330"/>
              <a:gd name="connsiteX2" fmla="*/ 0 w 490357"/>
              <a:gd name="connsiteY2" fmla="*/ 86887 h 314330"/>
              <a:gd name="connsiteX3" fmla="*/ 0 w 490357"/>
              <a:gd name="connsiteY3" fmla="*/ 227408 h 314330"/>
              <a:gd name="connsiteX4" fmla="*/ 316476 w 490357"/>
              <a:gd name="connsiteY4" fmla="*/ 227408 h 314330"/>
              <a:gd name="connsiteX5" fmla="*/ 316476 w 490357"/>
              <a:gd name="connsiteY5" fmla="*/ 314331 h 314330"/>
              <a:gd name="connsiteX6" fmla="*/ 490358 w 490357"/>
              <a:gd name="connsiteY6" fmla="*/ 157148 h 314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 h="314330">
                <a:moveTo>
                  <a:pt x="316476" y="0"/>
                </a:moveTo>
                <a:lnTo>
                  <a:pt x="316476" y="86887"/>
                </a:lnTo>
                <a:lnTo>
                  <a:pt x="0" y="86887"/>
                </a:lnTo>
                <a:lnTo>
                  <a:pt x="0" y="227408"/>
                </a:lnTo>
                <a:lnTo>
                  <a:pt x="316476" y="227408"/>
                </a:lnTo>
                <a:lnTo>
                  <a:pt x="316476" y="314331"/>
                </a:lnTo>
                <a:lnTo>
                  <a:pt x="490358" y="157148"/>
                </a:lnTo>
                <a:close/>
              </a:path>
            </a:pathLst>
          </a:custGeom>
          <a:solidFill>
            <a:schemeClr val="accent1"/>
          </a:solidFill>
          <a:ln w="3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58" name="Oval 29+"/>
          <p:cNvSpPr/>
          <p:nvPr/>
        </p:nvSpPr>
        <p:spPr>
          <a:xfrm>
            <a:off x="1600778" y="3051101"/>
            <a:ext cx="1421298" cy="1421298"/>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59" name="椭圆 58"/>
          <p:cNvSpPr/>
          <p:nvPr/>
        </p:nvSpPr>
        <p:spPr>
          <a:xfrm>
            <a:off x="1775707" y="3226030"/>
            <a:ext cx="1071439" cy="107143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0" name="文本框 59"/>
          <p:cNvSpPr txBox="1"/>
          <p:nvPr/>
        </p:nvSpPr>
        <p:spPr>
          <a:xfrm>
            <a:off x="1952354" y="3819281"/>
            <a:ext cx="718145" cy="215444"/>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口碑引爆</a:t>
            </a:r>
          </a:p>
        </p:txBody>
      </p:sp>
      <p:sp>
        <p:nvSpPr>
          <p:cNvPr id="61" name="Oval 29++"/>
          <p:cNvSpPr/>
          <p:nvPr/>
        </p:nvSpPr>
        <p:spPr>
          <a:xfrm>
            <a:off x="4360837" y="3051101"/>
            <a:ext cx="1421298" cy="1421298"/>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2" name="Oval 29+"/>
          <p:cNvSpPr/>
          <p:nvPr/>
        </p:nvSpPr>
        <p:spPr>
          <a:xfrm>
            <a:off x="4535767" y="3226030"/>
            <a:ext cx="1071439" cy="1071439"/>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3" name="文本框 62"/>
          <p:cNvSpPr txBox="1"/>
          <p:nvPr/>
        </p:nvSpPr>
        <p:spPr>
          <a:xfrm>
            <a:off x="4712414" y="3819281"/>
            <a:ext cx="718145" cy="215444"/>
          </a:xfrm>
          <a:prstGeom prst="rect">
            <a:avLst/>
          </a:prstGeom>
          <a:noFill/>
        </p:spPr>
        <p:txBody>
          <a:bodyPr wrap="none" lIns="0" tIns="0" rIns="0" bIns="0">
            <a:spAutoFit/>
          </a:bodyPr>
          <a:lstStyle>
            <a:defPPr>
              <a:defRPr lang="zh-CN"/>
            </a:defPPr>
            <a:lvl1pPr>
              <a:defRPr sz="1400">
                <a:solidFill>
                  <a:schemeClr val="bg1"/>
                </a:solidFill>
                <a:effectLst/>
                <a:latin typeface="quote-cjk-patch"/>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mn-lt"/>
                <a:cs typeface="+mn-ea"/>
                <a:sym typeface="+mn-lt"/>
              </a:rPr>
              <a:t>终端激励</a:t>
            </a:r>
          </a:p>
        </p:txBody>
      </p:sp>
      <p:sp>
        <p:nvSpPr>
          <p:cNvPr id="64" name="Oval 29+++"/>
          <p:cNvSpPr/>
          <p:nvPr/>
        </p:nvSpPr>
        <p:spPr>
          <a:xfrm>
            <a:off x="7120895" y="3051101"/>
            <a:ext cx="1421298" cy="1421298"/>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5" name="Oval 29++"/>
          <p:cNvSpPr/>
          <p:nvPr/>
        </p:nvSpPr>
        <p:spPr>
          <a:xfrm>
            <a:off x="7295824" y="3226030"/>
            <a:ext cx="1071439" cy="1071439"/>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6" name="TextBox 59+"/>
          <p:cNvSpPr txBox="1"/>
          <p:nvPr/>
        </p:nvSpPr>
        <p:spPr>
          <a:xfrm>
            <a:off x="7472472" y="3819281"/>
            <a:ext cx="718145" cy="215444"/>
          </a:xfrm>
          <a:prstGeom prst="rect">
            <a:avLst/>
          </a:prstGeom>
          <a:noFill/>
        </p:spPr>
        <p:txBody>
          <a:bodyPr wrap="none" lIns="0" tIns="0" rIns="0" bIns="0">
            <a:spAutoFit/>
          </a:bodyPr>
          <a:lstStyle>
            <a:defPPr>
              <a:defRPr lang="zh-CN"/>
            </a:defPPr>
            <a:lvl1pPr>
              <a:defRPr sz="1400">
                <a:solidFill>
                  <a:schemeClr val="bg1"/>
                </a:solidFill>
                <a:effectLst/>
                <a:latin typeface="quote-cjk-patch"/>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mn-lt"/>
                <a:cs typeface="+mn-ea"/>
                <a:sym typeface="+mn-lt"/>
              </a:rPr>
              <a:t>私域沉淀</a:t>
            </a:r>
          </a:p>
        </p:txBody>
      </p:sp>
      <p:sp>
        <p:nvSpPr>
          <p:cNvPr id="67" name="Oval 29+++"/>
          <p:cNvSpPr/>
          <p:nvPr/>
        </p:nvSpPr>
        <p:spPr>
          <a:xfrm>
            <a:off x="9880953" y="3051101"/>
            <a:ext cx="1421298" cy="1421298"/>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8" name="Rounded Rectangle 36+"/>
          <p:cNvSpPr/>
          <p:nvPr/>
        </p:nvSpPr>
        <p:spPr>
          <a:xfrm>
            <a:off x="1777683" y="3225037"/>
            <a:ext cx="9346191" cy="1073426"/>
          </a:xfrm>
          <a:prstGeom prst="roundRect">
            <a:avLst>
              <a:gd name="adj" fmla="val 50000"/>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9" name="文本框 68"/>
          <p:cNvSpPr txBox="1"/>
          <p:nvPr/>
        </p:nvSpPr>
        <p:spPr>
          <a:xfrm>
            <a:off x="1739348" y="4940827"/>
            <a:ext cx="1033937" cy="215444"/>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预算：</a:t>
            </a:r>
            <a:r>
              <a:rPr kumimoji="0" lang="en-US" altLang="zh-CN" sz="1400" b="0" i="0" u="none" strike="noStrike" kern="1200" cap="none" spc="0" normalizeH="0" baseline="0" noProof="0" dirty="0">
                <a:ln>
                  <a:noFill/>
                </a:ln>
                <a:solidFill>
                  <a:prstClr val="black"/>
                </a:solidFill>
                <a:effectLst/>
                <a:uLnTx/>
                <a:uFillTx/>
                <a:cs typeface="+mn-ea"/>
                <a:sym typeface="+mn-lt"/>
              </a:rPr>
              <a:t>¥30</a:t>
            </a:r>
            <a:r>
              <a:rPr kumimoji="0" lang="zh-CN" altLang="en-US" sz="1400" b="0" i="0" u="none" strike="noStrike" kern="1200" cap="none" spc="0" normalizeH="0" baseline="0" noProof="0" dirty="0">
                <a:ln>
                  <a:noFill/>
                </a:ln>
                <a:solidFill>
                  <a:prstClr val="black"/>
                </a:solidFill>
                <a:effectLst/>
                <a:uLnTx/>
                <a:uFillTx/>
                <a:cs typeface="+mn-ea"/>
                <a:sym typeface="+mn-lt"/>
              </a:rPr>
              <a:t>万</a:t>
            </a:r>
          </a:p>
        </p:txBody>
      </p:sp>
      <p:sp>
        <p:nvSpPr>
          <p:cNvPr id="70" name="文本框 69"/>
          <p:cNvSpPr txBox="1"/>
          <p:nvPr/>
        </p:nvSpPr>
        <p:spPr>
          <a:xfrm>
            <a:off x="4702795" y="4940827"/>
            <a:ext cx="737381" cy="215444"/>
          </a:xfrm>
          <a:prstGeom prst="rect">
            <a:avLst/>
          </a:prstGeom>
          <a:noFill/>
        </p:spPr>
        <p:txBody>
          <a:bodyPr wrap="none" lIns="0" tIns="0" rIns="0" bIns="0">
            <a:spAutoFit/>
          </a:bodyPr>
          <a:lstStyle>
            <a:defPPr>
              <a:defRPr lang="zh-CN"/>
            </a:defPPr>
            <a:lvl1pPr>
              <a:defRPr sz="1400" b="0" i="0">
                <a:effectLst/>
                <a:latin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mn-lt"/>
                <a:cs typeface="+mn-ea"/>
                <a:sym typeface="+mn-lt"/>
              </a:rPr>
              <a:t>地推</a:t>
            </a:r>
            <a:r>
              <a:rPr kumimoji="0" lang="en-US" altLang="zh-CN" sz="1400" b="0" i="0" u="none" strike="noStrike" kern="1200" cap="none" spc="0" normalizeH="0" baseline="0" noProof="0" dirty="0">
                <a:ln>
                  <a:noFill/>
                </a:ln>
                <a:solidFill>
                  <a:prstClr val="black"/>
                </a:solidFill>
                <a:effectLst/>
                <a:uLnTx/>
                <a:uFillTx/>
                <a:latin typeface="+mn-lt"/>
                <a:cs typeface="+mn-ea"/>
                <a:sym typeface="+mn-lt"/>
              </a:rPr>
              <a:t>50</a:t>
            </a:r>
            <a:r>
              <a:rPr kumimoji="0" lang="zh-CN" altLang="en-US" sz="1400" b="0" i="0" u="none" strike="noStrike" kern="1200" cap="none" spc="0" normalizeH="0" baseline="0" noProof="0" dirty="0">
                <a:ln>
                  <a:noFill/>
                </a:ln>
                <a:solidFill>
                  <a:prstClr val="black"/>
                </a:solidFill>
                <a:effectLst/>
                <a:uLnTx/>
                <a:uFillTx/>
                <a:latin typeface="+mn-lt"/>
                <a:cs typeface="+mn-ea"/>
                <a:sym typeface="+mn-lt"/>
              </a:rPr>
              <a:t>人</a:t>
            </a:r>
          </a:p>
        </p:txBody>
      </p:sp>
      <p:sp>
        <p:nvSpPr>
          <p:cNvPr id="71" name="文本框 70"/>
          <p:cNvSpPr txBox="1"/>
          <p:nvPr/>
        </p:nvSpPr>
        <p:spPr>
          <a:xfrm>
            <a:off x="7465257" y="4940827"/>
            <a:ext cx="742191" cy="215444"/>
          </a:xfrm>
          <a:prstGeom prst="rect">
            <a:avLst/>
          </a:prstGeom>
          <a:noFill/>
        </p:spPr>
        <p:txBody>
          <a:bodyPr wrap="none" lIns="0" tIns="0" rIns="0" bIns="0">
            <a:spAutoFit/>
          </a:bodyPr>
          <a:lstStyle>
            <a:defPPr>
              <a:defRPr lang="zh-CN"/>
            </a:defPPr>
            <a:lvl1pPr>
              <a:defRPr sz="1400" b="0" i="0">
                <a:effectLst/>
                <a:latin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mn-lt"/>
                <a:cs typeface="+mn-ea"/>
                <a:sym typeface="+mn-lt"/>
              </a:rPr>
              <a:t>CRM</a:t>
            </a:r>
            <a:r>
              <a:rPr kumimoji="0" lang="zh-CN" altLang="en-US" sz="1400" b="0" i="0" u="none" strike="noStrike" kern="1200" cap="none" spc="0" normalizeH="0" baseline="0" noProof="0" dirty="0">
                <a:ln>
                  <a:noFill/>
                </a:ln>
                <a:solidFill>
                  <a:prstClr val="black"/>
                </a:solidFill>
                <a:effectLst/>
                <a:uLnTx/>
                <a:uFillTx/>
                <a:latin typeface="+mn-lt"/>
                <a:cs typeface="+mn-ea"/>
                <a:sym typeface="+mn-lt"/>
              </a:rPr>
              <a:t>系统</a:t>
            </a:r>
          </a:p>
        </p:txBody>
      </p:sp>
      <p:sp>
        <p:nvSpPr>
          <p:cNvPr id="72" name="文本框 71"/>
          <p:cNvSpPr txBox="1"/>
          <p:nvPr/>
        </p:nvSpPr>
        <p:spPr>
          <a:xfrm>
            <a:off x="10052993" y="4940827"/>
            <a:ext cx="1077218" cy="215444"/>
          </a:xfrm>
          <a:prstGeom prst="rect">
            <a:avLst/>
          </a:prstGeom>
          <a:noFill/>
        </p:spPr>
        <p:txBody>
          <a:bodyPr wrap="none" lIns="0" tIns="0" rIns="0" bIns="0">
            <a:spAutoFit/>
          </a:bodyPr>
          <a:lstStyle>
            <a:defPPr>
              <a:defRPr lang="zh-CN"/>
            </a:defPPr>
            <a:lvl1pPr>
              <a:defRPr sz="1400" b="0" i="0">
                <a:effectLst/>
                <a:latin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mn-lt"/>
                <a:cs typeface="+mn-ea"/>
                <a:sym typeface="+mn-lt"/>
              </a:rPr>
              <a:t>外包数据团队</a:t>
            </a:r>
          </a:p>
        </p:txBody>
      </p:sp>
      <p:sp>
        <p:nvSpPr>
          <p:cNvPr id="73" name="Rectangle 32+"/>
          <p:cNvSpPr/>
          <p:nvPr/>
        </p:nvSpPr>
        <p:spPr>
          <a:xfrm>
            <a:off x="1153941" y="4759624"/>
            <a:ext cx="2314973" cy="577850"/>
          </a:xfrm>
          <a:prstGeom prst="rect">
            <a:avLst/>
          </a:prstGeom>
          <a:noFill/>
          <a:ln>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74" name="Rectangle 32++"/>
          <p:cNvSpPr/>
          <p:nvPr/>
        </p:nvSpPr>
        <p:spPr>
          <a:xfrm>
            <a:off x="3913999" y="4759624"/>
            <a:ext cx="2314973" cy="577850"/>
          </a:xfrm>
          <a:prstGeom prst="rect">
            <a:avLst/>
          </a:prstGeom>
          <a:noFill/>
          <a:ln>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75" name="Rectangle 32+++"/>
          <p:cNvSpPr/>
          <p:nvPr/>
        </p:nvSpPr>
        <p:spPr>
          <a:xfrm>
            <a:off x="6674057" y="4759624"/>
            <a:ext cx="2314973" cy="577850"/>
          </a:xfrm>
          <a:prstGeom prst="rect">
            <a:avLst/>
          </a:prstGeom>
          <a:noFill/>
          <a:ln>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76" name="Rectangle 32++++"/>
          <p:cNvSpPr/>
          <p:nvPr/>
        </p:nvSpPr>
        <p:spPr>
          <a:xfrm>
            <a:off x="9434115" y="4759624"/>
            <a:ext cx="2314973" cy="577850"/>
          </a:xfrm>
          <a:prstGeom prst="rect">
            <a:avLst/>
          </a:prstGeom>
          <a:noFill/>
          <a:ln>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77" name="Rectangle 32++"/>
          <p:cNvSpPr/>
          <p:nvPr/>
        </p:nvSpPr>
        <p:spPr>
          <a:xfrm>
            <a:off x="1153941" y="5502303"/>
            <a:ext cx="2314973" cy="1022322"/>
          </a:xfrm>
          <a:prstGeom prst="rect">
            <a:avLst/>
          </a:prstGeom>
          <a:solidFill>
            <a:schemeClr val="accent5"/>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78" name="Rectangle 32+++"/>
          <p:cNvSpPr/>
          <p:nvPr/>
        </p:nvSpPr>
        <p:spPr>
          <a:xfrm>
            <a:off x="1153941" y="5502303"/>
            <a:ext cx="2314973" cy="445273"/>
          </a:xfrm>
          <a:prstGeom prst="rect">
            <a:avLst/>
          </a:prstGeom>
          <a:solidFill>
            <a:schemeClr val="accent2"/>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79" name="Group 87+"/>
          <p:cNvGrpSpPr/>
          <p:nvPr/>
        </p:nvGrpSpPr>
        <p:grpSpPr>
          <a:xfrm>
            <a:off x="3913999" y="5502303"/>
            <a:ext cx="2314973" cy="1022322"/>
            <a:chOff x="1153941" y="5502303"/>
            <a:chExt cx="2314973" cy="1022322"/>
          </a:xfrm>
        </p:grpSpPr>
        <p:sp>
          <p:nvSpPr>
            <p:cNvPr id="80" name="Rectangle 32++"/>
            <p:cNvSpPr/>
            <p:nvPr/>
          </p:nvSpPr>
          <p:spPr>
            <a:xfrm>
              <a:off x="1153941" y="5502303"/>
              <a:ext cx="2314973" cy="1022322"/>
            </a:xfrm>
            <a:prstGeom prst="rect">
              <a:avLst/>
            </a:prstGeom>
            <a:solidFill>
              <a:schemeClr val="accent5"/>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81" name="Rectangle 32+++"/>
            <p:cNvSpPr/>
            <p:nvPr/>
          </p:nvSpPr>
          <p:spPr>
            <a:xfrm>
              <a:off x="1153941" y="5502303"/>
              <a:ext cx="2314973" cy="445273"/>
            </a:xfrm>
            <a:prstGeom prst="rect">
              <a:avLst/>
            </a:prstGeom>
            <a:solidFill>
              <a:schemeClr val="accent2"/>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82" name="Group 87++"/>
          <p:cNvGrpSpPr/>
          <p:nvPr/>
        </p:nvGrpSpPr>
        <p:grpSpPr>
          <a:xfrm>
            <a:off x="6674057" y="5502303"/>
            <a:ext cx="2314973" cy="1022322"/>
            <a:chOff x="1153941" y="5502303"/>
            <a:chExt cx="2314973" cy="1022322"/>
          </a:xfrm>
        </p:grpSpPr>
        <p:sp>
          <p:nvSpPr>
            <p:cNvPr id="83" name="Rectangle 32++"/>
            <p:cNvSpPr/>
            <p:nvPr/>
          </p:nvSpPr>
          <p:spPr>
            <a:xfrm>
              <a:off x="1153941" y="5502303"/>
              <a:ext cx="2314973" cy="1022322"/>
            </a:xfrm>
            <a:prstGeom prst="rect">
              <a:avLst/>
            </a:prstGeom>
            <a:solidFill>
              <a:schemeClr val="accent5"/>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84" name="Rectangle 32+++"/>
            <p:cNvSpPr/>
            <p:nvPr/>
          </p:nvSpPr>
          <p:spPr>
            <a:xfrm>
              <a:off x="1153941" y="5502303"/>
              <a:ext cx="2314973" cy="445273"/>
            </a:xfrm>
            <a:prstGeom prst="rect">
              <a:avLst/>
            </a:prstGeom>
            <a:solidFill>
              <a:schemeClr val="accent2"/>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85" name="Group 87+++"/>
          <p:cNvGrpSpPr/>
          <p:nvPr/>
        </p:nvGrpSpPr>
        <p:grpSpPr>
          <a:xfrm>
            <a:off x="9434115" y="5502303"/>
            <a:ext cx="2314973" cy="1022322"/>
            <a:chOff x="1153941" y="5502303"/>
            <a:chExt cx="2314973" cy="1022322"/>
          </a:xfrm>
        </p:grpSpPr>
        <p:sp>
          <p:nvSpPr>
            <p:cNvPr id="86" name="Rectangle 32++"/>
            <p:cNvSpPr/>
            <p:nvPr/>
          </p:nvSpPr>
          <p:spPr>
            <a:xfrm>
              <a:off x="1153941" y="5502303"/>
              <a:ext cx="2314973" cy="1022322"/>
            </a:xfrm>
            <a:prstGeom prst="rect">
              <a:avLst/>
            </a:prstGeom>
            <a:solidFill>
              <a:schemeClr val="accent5"/>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87" name="Rectangle 32+++"/>
            <p:cNvSpPr/>
            <p:nvPr/>
          </p:nvSpPr>
          <p:spPr>
            <a:xfrm>
              <a:off x="1153941" y="5502303"/>
              <a:ext cx="2314973" cy="445273"/>
            </a:xfrm>
            <a:prstGeom prst="rect">
              <a:avLst/>
            </a:prstGeom>
            <a:solidFill>
              <a:schemeClr val="accent2"/>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sp>
        <p:nvSpPr>
          <p:cNvPr id="88" name="文本框 87"/>
          <p:cNvSpPr txBox="1"/>
          <p:nvPr/>
        </p:nvSpPr>
        <p:spPr>
          <a:xfrm>
            <a:off x="1923501" y="6116742"/>
            <a:ext cx="756617" cy="276999"/>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cs typeface="+mn-ea"/>
                <a:sym typeface="+mn-lt"/>
              </a:rPr>
              <a:t>500</a:t>
            </a:r>
            <a:r>
              <a:rPr kumimoji="0" lang="zh-CN" altLang="en-US" sz="1800" b="0" i="0" u="none" strike="noStrike" kern="1200" cap="none" spc="0" normalizeH="0" baseline="0" noProof="0" dirty="0">
                <a:ln>
                  <a:noFill/>
                </a:ln>
                <a:solidFill>
                  <a:srgbClr val="305598"/>
                </a:solidFill>
                <a:effectLst/>
                <a:uLnTx/>
                <a:uFillTx/>
                <a:cs typeface="+mn-ea"/>
                <a:sym typeface="+mn-lt"/>
              </a:rPr>
              <a:t>万</a:t>
            </a:r>
            <a:r>
              <a:rPr kumimoji="0" lang="en-US" altLang="zh-CN" sz="1800" b="0" i="0" u="none" strike="noStrike" kern="1200" cap="none" spc="0" normalizeH="0" baseline="0" noProof="0" dirty="0">
                <a:ln>
                  <a:noFill/>
                </a:ln>
                <a:solidFill>
                  <a:srgbClr val="305598"/>
                </a:solidFill>
                <a:effectLst/>
                <a:uLnTx/>
                <a:uFillTx/>
                <a:cs typeface="+mn-ea"/>
                <a:sym typeface="+mn-lt"/>
              </a:rPr>
              <a:t>+</a:t>
            </a:r>
            <a:endParaRPr kumimoji="0" lang="zh-CN" altLang="en-US" sz="1800" b="0" i="0" u="none" strike="noStrike" kern="1200" cap="none" spc="0" normalizeH="0" baseline="0" noProof="0" dirty="0">
              <a:ln>
                <a:noFill/>
              </a:ln>
              <a:solidFill>
                <a:srgbClr val="305598"/>
              </a:solidFill>
              <a:effectLst/>
              <a:uLnTx/>
              <a:uFillTx/>
              <a:cs typeface="+mn-ea"/>
              <a:sym typeface="+mn-lt"/>
            </a:endParaRPr>
          </a:p>
        </p:txBody>
      </p:sp>
      <p:sp>
        <p:nvSpPr>
          <p:cNvPr id="89" name="文本框 88"/>
          <p:cNvSpPr txBox="1"/>
          <p:nvPr/>
        </p:nvSpPr>
        <p:spPr>
          <a:xfrm>
            <a:off x="1952355" y="5617218"/>
            <a:ext cx="718145" cy="215444"/>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预热曝光</a:t>
            </a:r>
          </a:p>
        </p:txBody>
      </p:sp>
      <p:sp>
        <p:nvSpPr>
          <p:cNvPr id="90" name="Oval 29+++"/>
          <p:cNvSpPr/>
          <p:nvPr/>
        </p:nvSpPr>
        <p:spPr>
          <a:xfrm>
            <a:off x="10055883" y="3226030"/>
            <a:ext cx="1071439" cy="1071439"/>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91" name="TextBox 59++"/>
          <p:cNvSpPr txBox="1"/>
          <p:nvPr/>
        </p:nvSpPr>
        <p:spPr>
          <a:xfrm>
            <a:off x="10232530" y="3819281"/>
            <a:ext cx="718145" cy="215444"/>
          </a:xfrm>
          <a:prstGeom prst="rect">
            <a:avLst/>
          </a:prstGeom>
          <a:noFill/>
        </p:spPr>
        <p:txBody>
          <a:bodyPr wrap="none" lIns="0" tIns="0" rIns="0" bIns="0">
            <a:spAutoFit/>
          </a:bodyPr>
          <a:lstStyle>
            <a:defPPr>
              <a:defRPr lang="zh-CN"/>
            </a:defPPr>
            <a:lvl1pPr>
              <a:defRPr sz="1400">
                <a:solidFill>
                  <a:schemeClr val="bg1"/>
                </a:solidFill>
                <a:effectLst/>
                <a:latin typeface="quote-cjk-patch"/>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mn-lt"/>
                <a:cs typeface="+mn-ea"/>
                <a:sym typeface="+mn-lt"/>
              </a:rPr>
              <a:t>热度延续</a:t>
            </a:r>
          </a:p>
        </p:txBody>
      </p:sp>
      <p:sp>
        <p:nvSpPr>
          <p:cNvPr id="92" name="TextBox 100+"/>
          <p:cNvSpPr txBox="1"/>
          <p:nvPr/>
        </p:nvSpPr>
        <p:spPr>
          <a:xfrm>
            <a:off x="4712413" y="5617218"/>
            <a:ext cx="718145" cy="215444"/>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终端动销</a:t>
            </a:r>
          </a:p>
        </p:txBody>
      </p:sp>
      <p:sp>
        <p:nvSpPr>
          <p:cNvPr id="93" name="TextBox 98+"/>
          <p:cNvSpPr txBox="1"/>
          <p:nvPr/>
        </p:nvSpPr>
        <p:spPr>
          <a:xfrm>
            <a:off x="4704398" y="6116742"/>
            <a:ext cx="734175" cy="276999"/>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cs typeface="+mn-ea"/>
                <a:sym typeface="+mn-lt"/>
              </a:rPr>
              <a:t>80</a:t>
            </a:r>
            <a:r>
              <a:rPr kumimoji="0" lang="zh-CN" altLang="en-US" sz="1800" b="0" i="0" u="none" strike="noStrike" kern="1200" cap="none" spc="0" normalizeH="0" baseline="0" noProof="0" dirty="0">
                <a:ln>
                  <a:noFill/>
                </a:ln>
                <a:solidFill>
                  <a:srgbClr val="305598"/>
                </a:solidFill>
                <a:effectLst/>
                <a:uLnTx/>
                <a:uFillTx/>
                <a:cs typeface="+mn-ea"/>
                <a:sym typeface="+mn-lt"/>
              </a:rPr>
              <a:t>万罐</a:t>
            </a:r>
          </a:p>
        </p:txBody>
      </p:sp>
      <p:sp>
        <p:nvSpPr>
          <p:cNvPr id="94" name="TextBox 100++"/>
          <p:cNvSpPr txBox="1"/>
          <p:nvPr/>
        </p:nvSpPr>
        <p:spPr>
          <a:xfrm>
            <a:off x="7382703" y="5617218"/>
            <a:ext cx="897682" cy="215444"/>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用户留存率</a:t>
            </a:r>
          </a:p>
        </p:txBody>
      </p:sp>
      <p:sp>
        <p:nvSpPr>
          <p:cNvPr id="95" name="TextBox 98++"/>
          <p:cNvSpPr txBox="1"/>
          <p:nvPr/>
        </p:nvSpPr>
        <p:spPr>
          <a:xfrm>
            <a:off x="7515752" y="6116742"/>
            <a:ext cx="562655" cy="276999"/>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cs typeface="+mn-ea"/>
                <a:sym typeface="+mn-lt"/>
              </a:rPr>
              <a:t>+22%</a:t>
            </a:r>
            <a:endParaRPr kumimoji="0" lang="zh-CN" altLang="en-US" sz="1800" b="0" i="0" u="none" strike="noStrike" kern="1200" cap="none" spc="0" normalizeH="0" baseline="0" noProof="0" dirty="0">
              <a:ln>
                <a:noFill/>
              </a:ln>
              <a:solidFill>
                <a:srgbClr val="305598"/>
              </a:solidFill>
              <a:effectLst/>
              <a:uLnTx/>
              <a:uFillTx/>
              <a:cs typeface="+mn-ea"/>
              <a:sym typeface="+mn-lt"/>
            </a:endParaRPr>
          </a:p>
        </p:txBody>
      </p:sp>
      <p:sp>
        <p:nvSpPr>
          <p:cNvPr id="96" name="TextBox 100+++"/>
          <p:cNvSpPr txBox="1"/>
          <p:nvPr/>
        </p:nvSpPr>
        <p:spPr>
          <a:xfrm>
            <a:off x="10322297" y="5617218"/>
            <a:ext cx="538609" cy="215444"/>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总销售</a:t>
            </a:r>
          </a:p>
        </p:txBody>
      </p:sp>
      <p:sp>
        <p:nvSpPr>
          <p:cNvPr id="97" name="TextBox 98+++"/>
          <p:cNvSpPr txBox="1"/>
          <p:nvPr/>
        </p:nvSpPr>
        <p:spPr>
          <a:xfrm>
            <a:off x="10135547" y="6116742"/>
            <a:ext cx="904094" cy="276999"/>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cs typeface="+mn-ea"/>
                <a:sym typeface="+mn-lt"/>
              </a:rPr>
              <a:t>¥1560</a:t>
            </a:r>
            <a:r>
              <a:rPr kumimoji="0" lang="zh-CN" altLang="en-US" sz="1800" b="0" i="0" u="none" strike="noStrike" kern="1200" cap="none" spc="0" normalizeH="0" baseline="0" noProof="0" dirty="0">
                <a:ln>
                  <a:noFill/>
                </a:ln>
                <a:solidFill>
                  <a:srgbClr val="305598"/>
                </a:solidFill>
                <a:effectLst/>
                <a:uLnTx/>
                <a:uFillTx/>
                <a:cs typeface="+mn-ea"/>
                <a:sym typeface="+mn-lt"/>
              </a:rPr>
              <a:t>万</a:t>
            </a:r>
          </a:p>
        </p:txBody>
      </p:sp>
      <p:sp>
        <p:nvSpPr>
          <p:cNvPr id="98" name="矩形 97"/>
          <p:cNvSpPr/>
          <p:nvPr/>
        </p:nvSpPr>
        <p:spPr>
          <a:xfrm>
            <a:off x="442913" y="873125"/>
            <a:ext cx="504825" cy="11874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99" name="Rectangle 130+"/>
          <p:cNvSpPr/>
          <p:nvPr/>
        </p:nvSpPr>
        <p:spPr>
          <a:xfrm>
            <a:off x="442913" y="2144023"/>
            <a:ext cx="504825" cy="70123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00" name="Rectangle 130++"/>
          <p:cNvSpPr/>
          <p:nvPr/>
        </p:nvSpPr>
        <p:spPr>
          <a:xfrm>
            <a:off x="442913" y="2928704"/>
            <a:ext cx="504825" cy="166609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01" name="Rectangle 130+++"/>
          <p:cNvSpPr/>
          <p:nvPr/>
        </p:nvSpPr>
        <p:spPr>
          <a:xfrm>
            <a:off x="442913" y="4678244"/>
            <a:ext cx="504825" cy="74061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02" name="Rectangle 130++++"/>
          <p:cNvSpPr/>
          <p:nvPr/>
        </p:nvSpPr>
        <p:spPr>
          <a:xfrm>
            <a:off x="442913" y="5502303"/>
            <a:ext cx="504825" cy="102232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03" name="文本框 102"/>
          <p:cNvSpPr txBox="1"/>
          <p:nvPr/>
        </p:nvSpPr>
        <p:spPr>
          <a:xfrm>
            <a:off x="572215" y="1261665"/>
            <a:ext cx="246221" cy="410369"/>
          </a:xfrm>
          <a:prstGeom prst="rect">
            <a:avLst/>
          </a:prstGeom>
          <a:noFill/>
        </p:spPr>
        <p:txBody>
          <a:bodyPr vert="eaVert"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阶段</a:t>
            </a:r>
          </a:p>
        </p:txBody>
      </p:sp>
      <p:sp>
        <p:nvSpPr>
          <p:cNvPr id="104" name="TextBox 138+"/>
          <p:cNvSpPr txBox="1"/>
          <p:nvPr/>
        </p:nvSpPr>
        <p:spPr>
          <a:xfrm>
            <a:off x="572215" y="2289454"/>
            <a:ext cx="246221" cy="410369"/>
          </a:xfrm>
          <a:prstGeom prst="rect">
            <a:avLst/>
          </a:prstGeom>
          <a:noFill/>
        </p:spPr>
        <p:txBody>
          <a:bodyPr vert="eaVert"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目标</a:t>
            </a:r>
          </a:p>
        </p:txBody>
      </p:sp>
      <p:sp>
        <p:nvSpPr>
          <p:cNvPr id="105" name="TextBox 138++"/>
          <p:cNvSpPr txBox="1"/>
          <p:nvPr/>
        </p:nvSpPr>
        <p:spPr>
          <a:xfrm>
            <a:off x="572215" y="3351381"/>
            <a:ext cx="246221" cy="820738"/>
          </a:xfrm>
          <a:prstGeom prst="rect">
            <a:avLst/>
          </a:prstGeom>
          <a:noFill/>
        </p:spPr>
        <p:txBody>
          <a:bodyPr vert="eaVert"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核心策略</a:t>
            </a:r>
          </a:p>
        </p:txBody>
      </p:sp>
      <p:sp>
        <p:nvSpPr>
          <p:cNvPr id="106" name="TextBox 138+++"/>
          <p:cNvSpPr txBox="1"/>
          <p:nvPr/>
        </p:nvSpPr>
        <p:spPr>
          <a:xfrm>
            <a:off x="572215" y="4843364"/>
            <a:ext cx="246221" cy="410369"/>
          </a:xfrm>
          <a:prstGeom prst="rect">
            <a:avLst/>
          </a:prstGeom>
          <a:noFill/>
        </p:spPr>
        <p:txBody>
          <a:bodyPr vert="eaVert"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部署</a:t>
            </a:r>
          </a:p>
        </p:txBody>
      </p:sp>
      <p:sp>
        <p:nvSpPr>
          <p:cNvPr id="107" name="TextBox 138++++"/>
          <p:cNvSpPr txBox="1"/>
          <p:nvPr/>
        </p:nvSpPr>
        <p:spPr>
          <a:xfrm>
            <a:off x="572215" y="5808280"/>
            <a:ext cx="246221" cy="410369"/>
          </a:xfrm>
          <a:prstGeom prst="rect">
            <a:avLst/>
          </a:prstGeom>
          <a:noFill/>
        </p:spPr>
        <p:txBody>
          <a:bodyPr vert="eaVert"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成果</a:t>
            </a:r>
          </a:p>
        </p:txBody>
      </p:sp>
      <p:sp>
        <p:nvSpPr>
          <p:cNvPr id="112" name="图形 110"/>
          <p:cNvSpPr/>
          <p:nvPr/>
        </p:nvSpPr>
        <p:spPr>
          <a:xfrm>
            <a:off x="2156079" y="3345288"/>
            <a:ext cx="324433" cy="363828"/>
          </a:xfrm>
          <a:custGeom>
            <a:avLst/>
            <a:gdLst>
              <a:gd name="connsiteX0" fmla="*/ 1276201 w 1276201"/>
              <a:gd name="connsiteY0" fmla="*/ 1230995 h 1431168"/>
              <a:gd name="connsiteX1" fmla="*/ 1276201 w 1276201"/>
              <a:gd name="connsiteY1" fmla="*/ 0 h 1431168"/>
              <a:gd name="connsiteX2" fmla="*/ 863203 w 1276201"/>
              <a:gd name="connsiteY2" fmla="*/ 274402 h 1431168"/>
              <a:gd name="connsiteX3" fmla="*/ 0 w 1276201"/>
              <a:gd name="connsiteY3" fmla="*/ 274402 h 1431168"/>
              <a:gd name="connsiteX4" fmla="*/ 0 w 1276201"/>
              <a:gd name="connsiteY4" fmla="*/ 955477 h 1431168"/>
              <a:gd name="connsiteX5" fmla="*/ 150688 w 1276201"/>
              <a:gd name="connsiteY5" fmla="*/ 955477 h 1431168"/>
              <a:gd name="connsiteX6" fmla="*/ 261379 w 1276201"/>
              <a:gd name="connsiteY6" fmla="*/ 1431169 h 1431168"/>
              <a:gd name="connsiteX7" fmla="*/ 630659 w 1276201"/>
              <a:gd name="connsiteY7" fmla="*/ 1431169 h 1431168"/>
              <a:gd name="connsiteX8" fmla="*/ 519782 w 1276201"/>
              <a:gd name="connsiteY8" fmla="*/ 955477 h 1431168"/>
              <a:gd name="connsiteX9" fmla="*/ 863203 w 1276201"/>
              <a:gd name="connsiteY9" fmla="*/ 955477 h 1431168"/>
              <a:gd name="connsiteX10" fmla="*/ 1276201 w 1276201"/>
              <a:gd name="connsiteY10" fmla="*/ 1230995 h 1431168"/>
              <a:gd name="connsiteX11" fmla="*/ 1190625 w 1276201"/>
              <a:gd name="connsiteY11" fmla="*/ 1071004 h 1431168"/>
              <a:gd name="connsiteX12" fmla="*/ 919014 w 1276201"/>
              <a:gd name="connsiteY12" fmla="*/ 889620 h 1431168"/>
              <a:gd name="connsiteX13" fmla="*/ 919014 w 1276201"/>
              <a:gd name="connsiteY13" fmla="*/ 340072 h 1431168"/>
              <a:gd name="connsiteX14" fmla="*/ 1190625 w 1276201"/>
              <a:gd name="connsiteY14" fmla="*/ 159618 h 1431168"/>
              <a:gd name="connsiteX15" fmla="*/ 1190625 w 1276201"/>
              <a:gd name="connsiteY15" fmla="*/ 1071004 h 1431168"/>
              <a:gd name="connsiteX16" fmla="*/ 522759 w 1276201"/>
              <a:gd name="connsiteY16" fmla="*/ 1345406 h 1431168"/>
              <a:gd name="connsiteX17" fmla="*/ 329282 w 1276201"/>
              <a:gd name="connsiteY17" fmla="*/ 1345406 h 1431168"/>
              <a:gd name="connsiteX18" fmla="*/ 238311 w 1276201"/>
              <a:gd name="connsiteY18" fmla="*/ 955477 h 1431168"/>
              <a:gd name="connsiteX19" fmla="*/ 431788 w 1276201"/>
              <a:gd name="connsiteY19" fmla="*/ 955477 h 1431168"/>
              <a:gd name="connsiteX20" fmla="*/ 522759 w 1276201"/>
              <a:gd name="connsiteY20" fmla="*/ 1345406 h 1431168"/>
              <a:gd name="connsiteX21" fmla="*/ 130597 w 1276201"/>
              <a:gd name="connsiteY21" fmla="*/ 869900 h 1431168"/>
              <a:gd name="connsiteX22" fmla="*/ 85576 w 1276201"/>
              <a:gd name="connsiteY22" fmla="*/ 869900 h 1431168"/>
              <a:gd name="connsiteX23" fmla="*/ 85576 w 1276201"/>
              <a:gd name="connsiteY23" fmla="*/ 359978 h 1431168"/>
              <a:gd name="connsiteX24" fmla="*/ 595313 w 1276201"/>
              <a:gd name="connsiteY24" fmla="*/ 359978 h 1431168"/>
              <a:gd name="connsiteX25" fmla="*/ 595313 w 1276201"/>
              <a:gd name="connsiteY25" fmla="*/ 869900 h 1431168"/>
              <a:gd name="connsiteX26" fmla="*/ 130597 w 1276201"/>
              <a:gd name="connsiteY26" fmla="*/ 869900 h 1431168"/>
              <a:gd name="connsiteX27" fmla="*/ 833438 w 1276201"/>
              <a:gd name="connsiteY27" fmla="*/ 869900 h 1431168"/>
              <a:gd name="connsiteX28" fmla="*/ 680889 w 1276201"/>
              <a:gd name="connsiteY28" fmla="*/ 869900 h 1431168"/>
              <a:gd name="connsiteX29" fmla="*/ 680889 w 1276201"/>
              <a:gd name="connsiteY29" fmla="*/ 359978 h 1431168"/>
              <a:gd name="connsiteX30" fmla="*/ 833438 w 1276201"/>
              <a:gd name="connsiteY30" fmla="*/ 359978 h 1431168"/>
              <a:gd name="connsiteX31" fmla="*/ 833438 w 1276201"/>
              <a:gd name="connsiteY31" fmla="*/ 869900 h 1431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76201" h="1431168">
                <a:moveTo>
                  <a:pt x="1276201" y="1230995"/>
                </a:moveTo>
                <a:lnTo>
                  <a:pt x="1276201" y="0"/>
                </a:lnTo>
                <a:lnTo>
                  <a:pt x="863203" y="274402"/>
                </a:lnTo>
                <a:lnTo>
                  <a:pt x="0" y="274402"/>
                </a:lnTo>
                <a:lnTo>
                  <a:pt x="0" y="955477"/>
                </a:lnTo>
                <a:lnTo>
                  <a:pt x="150688" y="955477"/>
                </a:lnTo>
                <a:lnTo>
                  <a:pt x="261379" y="1431169"/>
                </a:lnTo>
                <a:lnTo>
                  <a:pt x="630659" y="1431169"/>
                </a:lnTo>
                <a:lnTo>
                  <a:pt x="519782" y="955477"/>
                </a:lnTo>
                <a:lnTo>
                  <a:pt x="863203" y="955477"/>
                </a:lnTo>
                <a:lnTo>
                  <a:pt x="1276201" y="1230995"/>
                </a:lnTo>
                <a:close/>
                <a:moveTo>
                  <a:pt x="1190625" y="1071004"/>
                </a:moveTo>
                <a:lnTo>
                  <a:pt x="919014" y="889620"/>
                </a:lnTo>
                <a:lnTo>
                  <a:pt x="919014" y="340072"/>
                </a:lnTo>
                <a:lnTo>
                  <a:pt x="1190625" y="159618"/>
                </a:lnTo>
                <a:lnTo>
                  <a:pt x="1190625" y="1071004"/>
                </a:lnTo>
                <a:close/>
                <a:moveTo>
                  <a:pt x="522759" y="1345406"/>
                </a:moveTo>
                <a:lnTo>
                  <a:pt x="329282" y="1345406"/>
                </a:lnTo>
                <a:lnTo>
                  <a:pt x="238311" y="955477"/>
                </a:lnTo>
                <a:lnTo>
                  <a:pt x="431788" y="955477"/>
                </a:lnTo>
                <a:lnTo>
                  <a:pt x="522759" y="1345406"/>
                </a:lnTo>
                <a:close/>
                <a:moveTo>
                  <a:pt x="130597" y="869900"/>
                </a:moveTo>
                <a:lnTo>
                  <a:pt x="85576" y="869900"/>
                </a:lnTo>
                <a:lnTo>
                  <a:pt x="85576" y="359978"/>
                </a:lnTo>
                <a:lnTo>
                  <a:pt x="595313" y="359978"/>
                </a:lnTo>
                <a:lnTo>
                  <a:pt x="595313" y="869900"/>
                </a:lnTo>
                <a:lnTo>
                  <a:pt x="130597" y="869900"/>
                </a:lnTo>
                <a:close/>
                <a:moveTo>
                  <a:pt x="833438" y="869900"/>
                </a:moveTo>
                <a:lnTo>
                  <a:pt x="680889" y="869900"/>
                </a:lnTo>
                <a:lnTo>
                  <a:pt x="680889" y="359978"/>
                </a:lnTo>
                <a:lnTo>
                  <a:pt x="833438" y="359978"/>
                </a:lnTo>
                <a:lnTo>
                  <a:pt x="833438" y="869900"/>
                </a:ln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15" name="图形 113"/>
          <p:cNvSpPr/>
          <p:nvPr/>
        </p:nvSpPr>
        <p:spPr>
          <a:xfrm>
            <a:off x="4906779" y="3429000"/>
            <a:ext cx="360680" cy="335667"/>
          </a:xfrm>
          <a:custGeom>
            <a:avLst/>
            <a:gdLst>
              <a:gd name="connsiteX0" fmla="*/ 277485 w 283764"/>
              <a:gd name="connsiteY0" fmla="*/ 83950 h 264085"/>
              <a:gd name="connsiteX1" fmla="*/ 256569 w 283764"/>
              <a:gd name="connsiteY1" fmla="*/ 27020 h 264085"/>
              <a:gd name="connsiteX2" fmla="*/ 256454 w 283764"/>
              <a:gd name="connsiteY2" fmla="*/ 26726 h 264085"/>
              <a:gd name="connsiteX3" fmla="*/ 229774 w 283764"/>
              <a:gd name="connsiteY3" fmla="*/ 0 h 264085"/>
              <a:gd name="connsiteX4" fmla="*/ 228363 w 283764"/>
              <a:gd name="connsiteY4" fmla="*/ 123 h 264085"/>
              <a:gd name="connsiteX5" fmla="*/ 54506 w 283764"/>
              <a:gd name="connsiteY5" fmla="*/ 123 h 264085"/>
              <a:gd name="connsiteX6" fmla="*/ 38721 w 283764"/>
              <a:gd name="connsiteY6" fmla="*/ 7268 h 264085"/>
              <a:gd name="connsiteX7" fmla="*/ 26678 w 283764"/>
              <a:gd name="connsiteY7" fmla="*/ 25613 h 264085"/>
              <a:gd name="connsiteX8" fmla="*/ 123 w 283764"/>
              <a:gd name="connsiteY8" fmla="*/ 102854 h 264085"/>
              <a:gd name="connsiteX9" fmla="*/ 56 w 283764"/>
              <a:gd name="connsiteY9" fmla="*/ 105234 h 264085"/>
              <a:gd name="connsiteX10" fmla="*/ 249 w 283764"/>
              <a:gd name="connsiteY10" fmla="*/ 106877 h 264085"/>
              <a:gd name="connsiteX11" fmla="*/ 0 w 283764"/>
              <a:gd name="connsiteY11" fmla="*/ 109963 h 264085"/>
              <a:gd name="connsiteX12" fmla="*/ 27050 w 283764"/>
              <a:gd name="connsiteY12" fmla="*/ 148972 h 264085"/>
              <a:gd name="connsiteX13" fmla="*/ 27050 w 283764"/>
              <a:gd name="connsiteY13" fmla="*/ 230228 h 264085"/>
              <a:gd name="connsiteX14" fmla="*/ 58272 w 283764"/>
              <a:gd name="connsiteY14" fmla="*/ 264086 h 264085"/>
              <a:gd name="connsiteX15" fmla="*/ 226116 w 283764"/>
              <a:gd name="connsiteY15" fmla="*/ 264086 h 264085"/>
              <a:gd name="connsiteX16" fmla="*/ 257279 w 283764"/>
              <a:gd name="connsiteY16" fmla="*/ 230228 h 264085"/>
              <a:gd name="connsiteX17" fmla="*/ 257279 w 283764"/>
              <a:gd name="connsiteY17" fmla="*/ 148972 h 264085"/>
              <a:gd name="connsiteX18" fmla="*/ 283708 w 283764"/>
              <a:gd name="connsiteY18" fmla="*/ 109964 h 264085"/>
              <a:gd name="connsiteX19" fmla="*/ 283603 w 283764"/>
              <a:gd name="connsiteY19" fmla="*/ 108307 h 264085"/>
              <a:gd name="connsiteX20" fmla="*/ 277485 w 283764"/>
              <a:gd name="connsiteY20" fmla="*/ 83950 h 264085"/>
              <a:gd name="connsiteX21" fmla="*/ 277485 w 283764"/>
              <a:gd name="connsiteY21" fmla="*/ 83950 h 264085"/>
              <a:gd name="connsiteX22" fmla="*/ 223422 w 283764"/>
              <a:gd name="connsiteY22" fmla="*/ 250542 h 264085"/>
              <a:gd name="connsiteX23" fmla="*/ 60908 w 283764"/>
              <a:gd name="connsiteY23" fmla="*/ 250542 h 264085"/>
              <a:gd name="connsiteX24" fmla="*/ 40594 w 283764"/>
              <a:gd name="connsiteY24" fmla="*/ 230228 h 264085"/>
              <a:gd name="connsiteX25" fmla="*/ 40594 w 283764"/>
              <a:gd name="connsiteY25" fmla="*/ 148972 h 264085"/>
              <a:gd name="connsiteX26" fmla="*/ 73830 w 283764"/>
              <a:gd name="connsiteY26" fmla="*/ 139515 h 264085"/>
              <a:gd name="connsiteX27" fmla="*/ 77587 w 283764"/>
              <a:gd name="connsiteY27" fmla="*/ 134301 h 264085"/>
              <a:gd name="connsiteX28" fmla="*/ 80039 w 283764"/>
              <a:gd name="connsiteY28" fmla="*/ 137432 h 264085"/>
              <a:gd name="connsiteX29" fmla="*/ 108308 w 283764"/>
              <a:gd name="connsiteY29" fmla="*/ 148971 h 264085"/>
              <a:gd name="connsiteX30" fmla="*/ 137096 w 283764"/>
              <a:gd name="connsiteY30" fmla="*/ 143129 h 264085"/>
              <a:gd name="connsiteX31" fmla="*/ 141854 w 283764"/>
              <a:gd name="connsiteY31" fmla="*/ 138504 h 264085"/>
              <a:gd name="connsiteX32" fmla="*/ 146613 w 283764"/>
              <a:gd name="connsiteY32" fmla="*/ 143129 h 264085"/>
              <a:gd name="connsiteX33" fmla="*/ 176022 w 283764"/>
              <a:gd name="connsiteY33" fmla="*/ 148971 h 264085"/>
              <a:gd name="connsiteX34" fmla="*/ 203101 w 283764"/>
              <a:gd name="connsiteY34" fmla="*/ 139934 h 264085"/>
              <a:gd name="connsiteX35" fmla="*/ 206490 w 283764"/>
              <a:gd name="connsiteY35" fmla="*/ 136063 h 264085"/>
              <a:gd name="connsiteX36" fmla="*/ 209244 w 283764"/>
              <a:gd name="connsiteY36" fmla="*/ 139645 h 264085"/>
              <a:gd name="connsiteX37" fmla="*/ 243736 w 283764"/>
              <a:gd name="connsiteY37" fmla="*/ 148972 h 264085"/>
              <a:gd name="connsiteX38" fmla="*/ 243736 w 283764"/>
              <a:gd name="connsiteY38" fmla="*/ 237000 h 264085"/>
              <a:gd name="connsiteX39" fmla="*/ 223422 w 283764"/>
              <a:gd name="connsiteY39" fmla="*/ 250542 h 264085"/>
              <a:gd name="connsiteX40" fmla="*/ 223422 w 283764"/>
              <a:gd name="connsiteY40" fmla="*/ 250542 h 264085"/>
              <a:gd name="connsiteX41" fmla="*/ 277593 w 283764"/>
              <a:gd name="connsiteY41" fmla="*/ 108343 h 264085"/>
              <a:gd name="connsiteX42" fmla="*/ 270822 w 283764"/>
              <a:gd name="connsiteY42" fmla="*/ 108343 h 264085"/>
              <a:gd name="connsiteX43" fmla="*/ 270822 w 283764"/>
              <a:gd name="connsiteY43" fmla="*/ 108343 h 264085"/>
              <a:gd name="connsiteX44" fmla="*/ 242175 w 283764"/>
              <a:gd name="connsiteY44" fmla="*/ 135906 h 264085"/>
              <a:gd name="connsiteX45" fmla="*/ 221394 w 283764"/>
              <a:gd name="connsiteY45" fmla="*/ 128813 h 264085"/>
              <a:gd name="connsiteX46" fmla="*/ 216342 w 283764"/>
              <a:gd name="connsiteY46" fmla="*/ 112572 h 264085"/>
              <a:gd name="connsiteX47" fmla="*/ 209267 w 283764"/>
              <a:gd name="connsiteY47" fmla="*/ 103583 h 264085"/>
              <a:gd name="connsiteX48" fmla="*/ 200267 w 283764"/>
              <a:gd name="connsiteY48" fmla="*/ 110653 h 264085"/>
              <a:gd name="connsiteX49" fmla="*/ 175295 w 283764"/>
              <a:gd name="connsiteY49" fmla="*/ 135906 h 264085"/>
              <a:gd name="connsiteX50" fmla="*/ 149948 w 283764"/>
              <a:gd name="connsiteY50" fmla="*/ 115186 h 264085"/>
              <a:gd name="connsiteX51" fmla="*/ 141854 w 283764"/>
              <a:gd name="connsiteY51" fmla="*/ 106991 h 264085"/>
              <a:gd name="connsiteX52" fmla="*/ 133762 w 283764"/>
              <a:gd name="connsiteY52" fmla="*/ 115186 h 264085"/>
              <a:gd name="connsiteX53" fmla="*/ 108415 w 283764"/>
              <a:gd name="connsiteY53" fmla="*/ 135906 h 264085"/>
              <a:gd name="connsiteX54" fmla="*/ 92356 w 283764"/>
              <a:gd name="connsiteY54" fmla="*/ 126797 h 264085"/>
              <a:gd name="connsiteX55" fmla="*/ 83166 w 283764"/>
              <a:gd name="connsiteY55" fmla="*/ 106523 h 264085"/>
              <a:gd name="connsiteX56" fmla="*/ 83159 w 283764"/>
              <a:gd name="connsiteY56" fmla="*/ 106475 h 264085"/>
              <a:gd name="connsiteX57" fmla="*/ 74094 w 283764"/>
              <a:gd name="connsiteY57" fmla="*/ 99408 h 264085"/>
              <a:gd name="connsiteX58" fmla="*/ 67106 w 283764"/>
              <a:gd name="connsiteY58" fmla="*/ 108568 h 264085"/>
              <a:gd name="connsiteX59" fmla="*/ 61648 w 283764"/>
              <a:gd name="connsiteY59" fmla="*/ 128723 h 264085"/>
              <a:gd name="connsiteX60" fmla="*/ 41535 w 283764"/>
              <a:gd name="connsiteY60" fmla="*/ 135906 h 264085"/>
              <a:gd name="connsiteX61" fmla="*/ 13508 w 283764"/>
              <a:gd name="connsiteY61" fmla="*/ 108343 h 264085"/>
              <a:gd name="connsiteX62" fmla="*/ 13508 w 283764"/>
              <a:gd name="connsiteY62" fmla="*/ 108343 h 264085"/>
              <a:gd name="connsiteX63" fmla="*/ 13508 w 283764"/>
              <a:gd name="connsiteY63" fmla="*/ 108343 h 264085"/>
              <a:gd name="connsiteX64" fmla="*/ 13508 w 283764"/>
              <a:gd name="connsiteY64" fmla="*/ 108343 h 264085"/>
              <a:gd name="connsiteX65" fmla="*/ 13508 w 283764"/>
              <a:gd name="connsiteY65" fmla="*/ 101572 h 264085"/>
              <a:gd name="connsiteX66" fmla="*/ 40594 w 283764"/>
              <a:gd name="connsiteY66" fmla="*/ 33858 h 264085"/>
              <a:gd name="connsiteX67" fmla="*/ 40594 w 283764"/>
              <a:gd name="connsiteY67" fmla="*/ 33858 h 264085"/>
              <a:gd name="connsiteX68" fmla="*/ 54137 w 283764"/>
              <a:gd name="connsiteY68" fmla="*/ 13544 h 264085"/>
              <a:gd name="connsiteX69" fmla="*/ 230193 w 283764"/>
              <a:gd name="connsiteY69" fmla="*/ 13544 h 264085"/>
              <a:gd name="connsiteX70" fmla="*/ 243736 w 283764"/>
              <a:gd name="connsiteY70" fmla="*/ 33858 h 264085"/>
              <a:gd name="connsiteX71" fmla="*/ 264050 w 283764"/>
              <a:gd name="connsiteY71" fmla="*/ 88028 h 264085"/>
              <a:gd name="connsiteX72" fmla="*/ 264050 w 283764"/>
              <a:gd name="connsiteY72" fmla="*/ 88028 h 264085"/>
              <a:gd name="connsiteX73" fmla="*/ 270822 w 283764"/>
              <a:gd name="connsiteY73" fmla="*/ 108343 h 264085"/>
              <a:gd name="connsiteX74" fmla="*/ 270822 w 283764"/>
              <a:gd name="connsiteY74" fmla="*/ 108343 h 264085"/>
              <a:gd name="connsiteX75" fmla="*/ 277593 w 283764"/>
              <a:gd name="connsiteY75" fmla="*/ 108343 h 264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283764" h="264085">
                <a:moveTo>
                  <a:pt x="277485" y="83950"/>
                </a:moveTo>
                <a:lnTo>
                  <a:pt x="256569" y="27020"/>
                </a:lnTo>
                <a:cubicBezTo>
                  <a:pt x="256533" y="26922"/>
                  <a:pt x="256495" y="26823"/>
                  <a:pt x="256454" y="26726"/>
                </a:cubicBezTo>
                <a:cubicBezTo>
                  <a:pt x="247435" y="4800"/>
                  <a:pt x="234136" y="0"/>
                  <a:pt x="229774" y="0"/>
                </a:cubicBezTo>
                <a:cubicBezTo>
                  <a:pt x="229295" y="0"/>
                  <a:pt x="228822" y="41"/>
                  <a:pt x="228363" y="123"/>
                </a:cubicBezTo>
                <a:lnTo>
                  <a:pt x="54506" y="123"/>
                </a:lnTo>
                <a:cubicBezTo>
                  <a:pt x="49398" y="123"/>
                  <a:pt x="43792" y="2660"/>
                  <a:pt x="38721" y="7268"/>
                </a:cubicBezTo>
                <a:cubicBezTo>
                  <a:pt x="33640" y="11885"/>
                  <a:pt x="29476" y="18226"/>
                  <a:pt x="26678" y="25613"/>
                </a:cubicBezTo>
                <a:cubicBezTo>
                  <a:pt x="11049" y="65391"/>
                  <a:pt x="2114" y="91378"/>
                  <a:pt x="123" y="102854"/>
                </a:cubicBezTo>
                <a:cubicBezTo>
                  <a:pt x="-13" y="103641"/>
                  <a:pt x="-35" y="104441"/>
                  <a:pt x="56" y="105234"/>
                </a:cubicBezTo>
                <a:lnTo>
                  <a:pt x="249" y="106877"/>
                </a:lnTo>
                <a:cubicBezTo>
                  <a:pt x="144" y="107661"/>
                  <a:pt x="0" y="108735"/>
                  <a:pt x="0" y="109963"/>
                </a:cubicBezTo>
                <a:cubicBezTo>
                  <a:pt x="0" y="128403"/>
                  <a:pt x="10876" y="143180"/>
                  <a:pt x="27050" y="148972"/>
                </a:cubicBezTo>
                <a:lnTo>
                  <a:pt x="27050" y="230228"/>
                </a:lnTo>
                <a:cubicBezTo>
                  <a:pt x="27050" y="247256"/>
                  <a:pt x="41470" y="264086"/>
                  <a:pt x="58272" y="264086"/>
                </a:cubicBezTo>
                <a:lnTo>
                  <a:pt x="226116" y="264086"/>
                </a:lnTo>
                <a:cubicBezTo>
                  <a:pt x="242919" y="264086"/>
                  <a:pt x="257279" y="247256"/>
                  <a:pt x="257279" y="230228"/>
                </a:cubicBezTo>
                <a:lnTo>
                  <a:pt x="257279" y="148972"/>
                </a:lnTo>
                <a:cubicBezTo>
                  <a:pt x="273096" y="142988"/>
                  <a:pt x="283708" y="128144"/>
                  <a:pt x="283708" y="109964"/>
                </a:cubicBezTo>
                <a:cubicBezTo>
                  <a:pt x="283708" y="109312"/>
                  <a:pt x="283655" y="108749"/>
                  <a:pt x="283603" y="108307"/>
                </a:cubicBezTo>
                <a:cubicBezTo>
                  <a:pt x="284364" y="101758"/>
                  <a:pt x="282446" y="94153"/>
                  <a:pt x="277485" y="83950"/>
                </a:cubicBezTo>
                <a:lnTo>
                  <a:pt x="277485" y="83950"/>
                </a:lnTo>
                <a:close/>
                <a:moveTo>
                  <a:pt x="223422" y="250542"/>
                </a:moveTo>
                <a:lnTo>
                  <a:pt x="60908" y="250542"/>
                </a:lnTo>
                <a:cubicBezTo>
                  <a:pt x="53032" y="250542"/>
                  <a:pt x="40594" y="241165"/>
                  <a:pt x="40594" y="230228"/>
                </a:cubicBezTo>
                <a:lnTo>
                  <a:pt x="40594" y="148972"/>
                </a:lnTo>
                <a:cubicBezTo>
                  <a:pt x="53460" y="148496"/>
                  <a:pt x="66886" y="147496"/>
                  <a:pt x="73830" y="139515"/>
                </a:cubicBezTo>
                <a:cubicBezTo>
                  <a:pt x="75289" y="137840"/>
                  <a:pt x="76530" y="136088"/>
                  <a:pt x="77587" y="134301"/>
                </a:cubicBezTo>
                <a:cubicBezTo>
                  <a:pt x="78370" y="135376"/>
                  <a:pt x="79187" y="136421"/>
                  <a:pt x="80039" y="137432"/>
                </a:cubicBezTo>
                <a:cubicBezTo>
                  <a:pt x="88111" y="147018"/>
                  <a:pt x="98081" y="148971"/>
                  <a:pt x="108308" y="148971"/>
                </a:cubicBezTo>
                <a:cubicBezTo>
                  <a:pt x="119622" y="148971"/>
                  <a:pt x="129647" y="149126"/>
                  <a:pt x="137096" y="143129"/>
                </a:cubicBezTo>
                <a:cubicBezTo>
                  <a:pt x="138857" y="141710"/>
                  <a:pt x="140445" y="140166"/>
                  <a:pt x="141854" y="138504"/>
                </a:cubicBezTo>
                <a:cubicBezTo>
                  <a:pt x="143264" y="140166"/>
                  <a:pt x="144850" y="141710"/>
                  <a:pt x="146613" y="143129"/>
                </a:cubicBezTo>
                <a:cubicBezTo>
                  <a:pt x="154061" y="149126"/>
                  <a:pt x="164707" y="148971"/>
                  <a:pt x="176022" y="148971"/>
                </a:cubicBezTo>
                <a:cubicBezTo>
                  <a:pt x="186180" y="148971"/>
                  <a:pt x="195327" y="147906"/>
                  <a:pt x="203101" y="139934"/>
                </a:cubicBezTo>
                <a:cubicBezTo>
                  <a:pt x="204302" y="138703"/>
                  <a:pt x="205433" y="137409"/>
                  <a:pt x="206490" y="136063"/>
                </a:cubicBezTo>
                <a:cubicBezTo>
                  <a:pt x="207302" y="137282"/>
                  <a:pt x="208217" y="138479"/>
                  <a:pt x="209244" y="139645"/>
                </a:cubicBezTo>
                <a:cubicBezTo>
                  <a:pt x="216355" y="147692"/>
                  <a:pt x="230167" y="148633"/>
                  <a:pt x="243736" y="148972"/>
                </a:cubicBezTo>
                <a:lnTo>
                  <a:pt x="243736" y="237000"/>
                </a:lnTo>
                <a:cubicBezTo>
                  <a:pt x="243736" y="244988"/>
                  <a:pt x="231300" y="250542"/>
                  <a:pt x="223422" y="250542"/>
                </a:cubicBezTo>
                <a:lnTo>
                  <a:pt x="223422" y="250542"/>
                </a:lnTo>
                <a:close/>
                <a:moveTo>
                  <a:pt x="277593" y="108343"/>
                </a:moveTo>
                <a:cubicBezTo>
                  <a:pt x="281812" y="108636"/>
                  <a:pt x="270776" y="108002"/>
                  <a:pt x="270822" y="108343"/>
                </a:cubicBezTo>
                <a:cubicBezTo>
                  <a:pt x="270827" y="108374"/>
                  <a:pt x="270817" y="108312"/>
                  <a:pt x="270822" y="108343"/>
                </a:cubicBezTo>
                <a:cubicBezTo>
                  <a:pt x="270712" y="122553"/>
                  <a:pt x="256083" y="135906"/>
                  <a:pt x="242175" y="135906"/>
                </a:cubicBezTo>
                <a:cubicBezTo>
                  <a:pt x="232610" y="135906"/>
                  <a:pt x="225619" y="133520"/>
                  <a:pt x="221394" y="128813"/>
                </a:cubicBezTo>
                <a:cubicBezTo>
                  <a:pt x="215566" y="122316"/>
                  <a:pt x="216315" y="112871"/>
                  <a:pt x="216342" y="112572"/>
                </a:cubicBezTo>
                <a:cubicBezTo>
                  <a:pt x="216802" y="108127"/>
                  <a:pt x="213656" y="104122"/>
                  <a:pt x="209267" y="103583"/>
                </a:cubicBezTo>
                <a:cubicBezTo>
                  <a:pt x="204860" y="103041"/>
                  <a:pt x="200845" y="106195"/>
                  <a:pt x="200267" y="110653"/>
                </a:cubicBezTo>
                <a:cubicBezTo>
                  <a:pt x="198686" y="122849"/>
                  <a:pt x="188274" y="135906"/>
                  <a:pt x="175295" y="135906"/>
                </a:cubicBezTo>
                <a:cubicBezTo>
                  <a:pt x="163041" y="135906"/>
                  <a:pt x="149948" y="130464"/>
                  <a:pt x="149948" y="115186"/>
                </a:cubicBezTo>
                <a:cubicBezTo>
                  <a:pt x="149948" y="110662"/>
                  <a:pt x="146324" y="106991"/>
                  <a:pt x="141854" y="106991"/>
                </a:cubicBezTo>
                <a:cubicBezTo>
                  <a:pt x="137385" y="106991"/>
                  <a:pt x="133762" y="110662"/>
                  <a:pt x="133762" y="115186"/>
                </a:cubicBezTo>
                <a:cubicBezTo>
                  <a:pt x="133762" y="130464"/>
                  <a:pt x="120669" y="135906"/>
                  <a:pt x="108415" y="135906"/>
                </a:cubicBezTo>
                <a:cubicBezTo>
                  <a:pt x="101116" y="135906"/>
                  <a:pt x="95220" y="130199"/>
                  <a:pt x="92356" y="126797"/>
                </a:cubicBezTo>
                <a:cubicBezTo>
                  <a:pt x="87476" y="121001"/>
                  <a:pt x="84040" y="113417"/>
                  <a:pt x="83166" y="106523"/>
                </a:cubicBezTo>
                <a:cubicBezTo>
                  <a:pt x="83164" y="106510"/>
                  <a:pt x="83161" y="106487"/>
                  <a:pt x="83159" y="106475"/>
                </a:cubicBezTo>
                <a:cubicBezTo>
                  <a:pt x="82578" y="101993"/>
                  <a:pt x="78520" y="98827"/>
                  <a:pt x="74094" y="99408"/>
                </a:cubicBezTo>
                <a:cubicBezTo>
                  <a:pt x="69667" y="99990"/>
                  <a:pt x="66539" y="104085"/>
                  <a:pt x="67106" y="108568"/>
                </a:cubicBezTo>
                <a:cubicBezTo>
                  <a:pt x="67121" y="108692"/>
                  <a:pt x="68482" y="120921"/>
                  <a:pt x="61648" y="128723"/>
                </a:cubicBezTo>
                <a:cubicBezTo>
                  <a:pt x="57475" y="133488"/>
                  <a:pt x="50707" y="135906"/>
                  <a:pt x="41535" y="135906"/>
                </a:cubicBezTo>
                <a:cubicBezTo>
                  <a:pt x="27558" y="135906"/>
                  <a:pt x="13508" y="122644"/>
                  <a:pt x="13508" y="108343"/>
                </a:cubicBezTo>
                <a:cubicBezTo>
                  <a:pt x="13510" y="108198"/>
                  <a:pt x="13467" y="108658"/>
                  <a:pt x="13508" y="108343"/>
                </a:cubicBezTo>
                <a:cubicBezTo>
                  <a:pt x="13564" y="107927"/>
                  <a:pt x="11046" y="108877"/>
                  <a:pt x="13508" y="108343"/>
                </a:cubicBezTo>
                <a:cubicBezTo>
                  <a:pt x="14074" y="108222"/>
                  <a:pt x="13577" y="108917"/>
                  <a:pt x="13508" y="108343"/>
                </a:cubicBezTo>
                <a:lnTo>
                  <a:pt x="13508" y="101572"/>
                </a:lnTo>
                <a:cubicBezTo>
                  <a:pt x="15697" y="90740"/>
                  <a:pt x="26312" y="70202"/>
                  <a:pt x="40594" y="33858"/>
                </a:cubicBezTo>
                <a:cubicBezTo>
                  <a:pt x="40606" y="33825"/>
                  <a:pt x="40581" y="33890"/>
                  <a:pt x="40594" y="33858"/>
                </a:cubicBezTo>
                <a:cubicBezTo>
                  <a:pt x="44813" y="22693"/>
                  <a:pt x="52564" y="13615"/>
                  <a:pt x="54137" y="13544"/>
                </a:cubicBezTo>
                <a:lnTo>
                  <a:pt x="230193" y="13544"/>
                </a:lnTo>
                <a:cubicBezTo>
                  <a:pt x="232101" y="14482"/>
                  <a:pt x="238850" y="22063"/>
                  <a:pt x="243736" y="33858"/>
                </a:cubicBezTo>
                <a:lnTo>
                  <a:pt x="264050" y="88028"/>
                </a:lnTo>
                <a:cubicBezTo>
                  <a:pt x="264149" y="88298"/>
                  <a:pt x="263923" y="87772"/>
                  <a:pt x="264050" y="88028"/>
                </a:cubicBezTo>
                <a:cubicBezTo>
                  <a:pt x="268594" y="97293"/>
                  <a:pt x="271197" y="106197"/>
                  <a:pt x="270822" y="108343"/>
                </a:cubicBezTo>
                <a:cubicBezTo>
                  <a:pt x="270715" y="108953"/>
                  <a:pt x="270791" y="107724"/>
                  <a:pt x="270822" y="108343"/>
                </a:cubicBezTo>
                <a:lnTo>
                  <a:pt x="277593" y="108343"/>
                </a:lnTo>
                <a:close/>
              </a:path>
            </a:pathLst>
          </a:custGeom>
          <a:solidFill>
            <a:schemeClr val="bg1"/>
          </a:solidFill>
          <a:ln w="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grpSp>
        <p:nvGrpSpPr>
          <p:cNvPr id="121" name="组合 120"/>
          <p:cNvGrpSpPr/>
          <p:nvPr/>
        </p:nvGrpSpPr>
        <p:grpSpPr>
          <a:xfrm>
            <a:off x="7603425" y="3429000"/>
            <a:ext cx="400794" cy="370414"/>
            <a:chOff x="4943938" y="3116680"/>
            <a:chExt cx="285797" cy="264134"/>
          </a:xfrm>
          <a:solidFill>
            <a:schemeClr val="bg1"/>
          </a:solidFill>
        </p:grpSpPr>
        <p:sp>
          <p:nvSpPr>
            <p:cNvPr id="119" name="任意多边形: 形状 118"/>
            <p:cNvSpPr/>
            <p:nvPr/>
          </p:nvSpPr>
          <p:spPr>
            <a:xfrm>
              <a:off x="5007727" y="3116680"/>
              <a:ext cx="222008" cy="148005"/>
            </a:xfrm>
            <a:custGeom>
              <a:avLst/>
              <a:gdLst>
                <a:gd name="connsiteX0" fmla="*/ 184989 w 222008"/>
                <a:gd name="connsiteY0" fmla="*/ 0 h 148005"/>
                <a:gd name="connsiteX1" fmla="*/ 37019 w 222008"/>
                <a:gd name="connsiteY1" fmla="*/ 0 h 148005"/>
                <a:gd name="connsiteX2" fmla="*/ 0 w 222008"/>
                <a:gd name="connsiteY2" fmla="*/ 37019 h 148005"/>
                <a:gd name="connsiteX3" fmla="*/ 0 w 222008"/>
                <a:gd name="connsiteY3" fmla="*/ 44416 h 148005"/>
                <a:gd name="connsiteX4" fmla="*/ 9264 w 222008"/>
                <a:gd name="connsiteY4" fmla="*/ 53679 h 148005"/>
                <a:gd name="connsiteX5" fmla="*/ 18527 w 222008"/>
                <a:gd name="connsiteY5" fmla="*/ 44416 h 148005"/>
                <a:gd name="connsiteX6" fmla="*/ 44416 w 222008"/>
                <a:gd name="connsiteY6" fmla="*/ 18527 h 148005"/>
                <a:gd name="connsiteX7" fmla="*/ 177593 w 222008"/>
                <a:gd name="connsiteY7" fmla="*/ 18527 h 148005"/>
                <a:gd name="connsiteX8" fmla="*/ 203481 w 222008"/>
                <a:gd name="connsiteY8" fmla="*/ 44416 h 148005"/>
                <a:gd name="connsiteX9" fmla="*/ 203481 w 222008"/>
                <a:gd name="connsiteY9" fmla="*/ 103625 h 148005"/>
                <a:gd name="connsiteX10" fmla="*/ 177593 w 222008"/>
                <a:gd name="connsiteY10" fmla="*/ 129514 h 148005"/>
                <a:gd name="connsiteX11" fmla="*/ 168470 w 222008"/>
                <a:gd name="connsiteY11" fmla="*/ 138742 h 148005"/>
                <a:gd name="connsiteX12" fmla="*/ 177593 w 222008"/>
                <a:gd name="connsiteY12" fmla="*/ 148006 h 148005"/>
                <a:gd name="connsiteX13" fmla="*/ 184989 w 222008"/>
                <a:gd name="connsiteY13" fmla="*/ 148006 h 148005"/>
                <a:gd name="connsiteX14" fmla="*/ 222008 w 222008"/>
                <a:gd name="connsiteY14" fmla="*/ 110987 h 148005"/>
                <a:gd name="connsiteX15" fmla="*/ 222008 w 222008"/>
                <a:gd name="connsiteY15" fmla="*/ 37019 h 148005"/>
                <a:gd name="connsiteX16" fmla="*/ 184989 w 222008"/>
                <a:gd name="connsiteY16" fmla="*/ 0 h 148005"/>
                <a:gd name="connsiteX17" fmla="*/ 35 w 222008"/>
                <a:gd name="connsiteY17" fmla="*/ 134832 h 148005"/>
                <a:gd name="connsiteX18" fmla="*/ 9299 w 222008"/>
                <a:gd name="connsiteY18" fmla="*/ 144096 h 148005"/>
                <a:gd name="connsiteX19" fmla="*/ 18562 w 222008"/>
                <a:gd name="connsiteY19" fmla="*/ 134832 h 148005"/>
                <a:gd name="connsiteX20" fmla="*/ 9299 w 222008"/>
                <a:gd name="connsiteY20" fmla="*/ 125569 h 148005"/>
                <a:gd name="connsiteX21" fmla="*/ 35 w 222008"/>
                <a:gd name="connsiteY21" fmla="*/ 134832 h 148005"/>
                <a:gd name="connsiteX22" fmla="*/ 37019 w 222008"/>
                <a:gd name="connsiteY22" fmla="*/ 134832 h 148005"/>
                <a:gd name="connsiteX23" fmla="*/ 46283 w 222008"/>
                <a:gd name="connsiteY23" fmla="*/ 144096 h 148005"/>
                <a:gd name="connsiteX24" fmla="*/ 55546 w 222008"/>
                <a:gd name="connsiteY24" fmla="*/ 134832 h 148005"/>
                <a:gd name="connsiteX25" fmla="*/ 46283 w 222008"/>
                <a:gd name="connsiteY25" fmla="*/ 125569 h 148005"/>
                <a:gd name="connsiteX26" fmla="*/ 37019 w 222008"/>
                <a:gd name="connsiteY26" fmla="*/ 134832 h 148005"/>
                <a:gd name="connsiteX27" fmla="*/ 74003 w 222008"/>
                <a:gd name="connsiteY27" fmla="*/ 134832 h 148005"/>
                <a:gd name="connsiteX28" fmla="*/ 83266 w 222008"/>
                <a:gd name="connsiteY28" fmla="*/ 144096 h 148005"/>
                <a:gd name="connsiteX29" fmla="*/ 92530 w 222008"/>
                <a:gd name="connsiteY29" fmla="*/ 134832 h 148005"/>
                <a:gd name="connsiteX30" fmla="*/ 83266 w 222008"/>
                <a:gd name="connsiteY30" fmla="*/ 125569 h 148005"/>
                <a:gd name="connsiteX31" fmla="*/ 74003 w 222008"/>
                <a:gd name="connsiteY31" fmla="*/ 134832 h 1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22008" h="148005">
                  <a:moveTo>
                    <a:pt x="184989" y="0"/>
                  </a:moveTo>
                  <a:lnTo>
                    <a:pt x="37019" y="0"/>
                  </a:lnTo>
                  <a:cubicBezTo>
                    <a:pt x="16590" y="0"/>
                    <a:pt x="0" y="16590"/>
                    <a:pt x="0" y="37019"/>
                  </a:cubicBezTo>
                  <a:lnTo>
                    <a:pt x="0" y="44416"/>
                  </a:lnTo>
                  <a:cubicBezTo>
                    <a:pt x="0" y="49523"/>
                    <a:pt x="4156" y="53679"/>
                    <a:pt x="9264" y="53679"/>
                  </a:cubicBezTo>
                  <a:cubicBezTo>
                    <a:pt x="14371" y="53679"/>
                    <a:pt x="18527" y="49523"/>
                    <a:pt x="18527" y="44416"/>
                  </a:cubicBezTo>
                  <a:cubicBezTo>
                    <a:pt x="18527" y="30151"/>
                    <a:pt x="30151" y="18527"/>
                    <a:pt x="44416" y="18527"/>
                  </a:cubicBezTo>
                  <a:lnTo>
                    <a:pt x="177593" y="18527"/>
                  </a:lnTo>
                  <a:cubicBezTo>
                    <a:pt x="191858" y="18527"/>
                    <a:pt x="203481" y="30151"/>
                    <a:pt x="203481" y="44416"/>
                  </a:cubicBezTo>
                  <a:lnTo>
                    <a:pt x="203481" y="103625"/>
                  </a:lnTo>
                  <a:cubicBezTo>
                    <a:pt x="203481" y="117961"/>
                    <a:pt x="191858" y="129514"/>
                    <a:pt x="177593" y="129514"/>
                  </a:cubicBezTo>
                  <a:cubicBezTo>
                    <a:pt x="172521" y="129549"/>
                    <a:pt x="168470" y="133670"/>
                    <a:pt x="168470" y="138742"/>
                  </a:cubicBezTo>
                  <a:cubicBezTo>
                    <a:pt x="168470" y="143814"/>
                    <a:pt x="172521" y="147900"/>
                    <a:pt x="177593" y="148006"/>
                  </a:cubicBezTo>
                  <a:lnTo>
                    <a:pt x="184989" y="148006"/>
                  </a:lnTo>
                  <a:cubicBezTo>
                    <a:pt x="205419" y="148006"/>
                    <a:pt x="222008" y="131416"/>
                    <a:pt x="222008" y="110987"/>
                  </a:cubicBezTo>
                  <a:lnTo>
                    <a:pt x="222008" y="37019"/>
                  </a:lnTo>
                  <a:cubicBezTo>
                    <a:pt x="222008" y="16590"/>
                    <a:pt x="205419" y="0"/>
                    <a:pt x="184989" y="0"/>
                  </a:cubicBezTo>
                  <a:close/>
                  <a:moveTo>
                    <a:pt x="35" y="134832"/>
                  </a:moveTo>
                  <a:cubicBezTo>
                    <a:pt x="35" y="139940"/>
                    <a:pt x="4191" y="144096"/>
                    <a:pt x="9299" y="144096"/>
                  </a:cubicBezTo>
                  <a:cubicBezTo>
                    <a:pt x="14406" y="144096"/>
                    <a:pt x="18562" y="139940"/>
                    <a:pt x="18562" y="134832"/>
                  </a:cubicBezTo>
                  <a:cubicBezTo>
                    <a:pt x="18562" y="129725"/>
                    <a:pt x="14406" y="125569"/>
                    <a:pt x="9299" y="125569"/>
                  </a:cubicBezTo>
                  <a:cubicBezTo>
                    <a:pt x="4191" y="125569"/>
                    <a:pt x="35" y="129725"/>
                    <a:pt x="35" y="134832"/>
                  </a:cubicBezTo>
                  <a:close/>
                  <a:moveTo>
                    <a:pt x="37019" y="134832"/>
                  </a:moveTo>
                  <a:cubicBezTo>
                    <a:pt x="37019" y="139940"/>
                    <a:pt x="41175" y="144096"/>
                    <a:pt x="46283" y="144096"/>
                  </a:cubicBezTo>
                  <a:cubicBezTo>
                    <a:pt x="51390" y="144096"/>
                    <a:pt x="55546" y="139940"/>
                    <a:pt x="55546" y="134832"/>
                  </a:cubicBezTo>
                  <a:cubicBezTo>
                    <a:pt x="55546" y="129725"/>
                    <a:pt x="51390" y="125569"/>
                    <a:pt x="46283" y="125569"/>
                  </a:cubicBezTo>
                  <a:cubicBezTo>
                    <a:pt x="41140" y="125569"/>
                    <a:pt x="37019" y="129725"/>
                    <a:pt x="37019" y="134832"/>
                  </a:cubicBezTo>
                  <a:close/>
                  <a:moveTo>
                    <a:pt x="74003" y="134832"/>
                  </a:moveTo>
                  <a:cubicBezTo>
                    <a:pt x="74003" y="139940"/>
                    <a:pt x="78159" y="144096"/>
                    <a:pt x="83266" y="144096"/>
                  </a:cubicBezTo>
                  <a:cubicBezTo>
                    <a:pt x="88374" y="144096"/>
                    <a:pt x="92530" y="139940"/>
                    <a:pt x="92530" y="134832"/>
                  </a:cubicBezTo>
                  <a:cubicBezTo>
                    <a:pt x="92530" y="129725"/>
                    <a:pt x="88374" y="125569"/>
                    <a:pt x="83266" y="125569"/>
                  </a:cubicBezTo>
                  <a:cubicBezTo>
                    <a:pt x="78159" y="125569"/>
                    <a:pt x="74003" y="129725"/>
                    <a:pt x="74003" y="134832"/>
                  </a:cubicBezTo>
                  <a:close/>
                </a:path>
              </a:pathLst>
            </a:custGeom>
            <a:grpFill/>
            <a:ln w="34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20" name="任意多边形: 形状 119"/>
            <p:cNvSpPr/>
            <p:nvPr/>
          </p:nvSpPr>
          <p:spPr>
            <a:xfrm>
              <a:off x="4943938" y="3177545"/>
              <a:ext cx="222008" cy="203269"/>
            </a:xfrm>
            <a:custGeom>
              <a:avLst/>
              <a:gdLst>
                <a:gd name="connsiteX0" fmla="*/ 184954 w 222008"/>
                <a:gd name="connsiteY0" fmla="*/ 0 h 203269"/>
                <a:gd name="connsiteX1" fmla="*/ 37019 w 222008"/>
                <a:gd name="connsiteY1" fmla="*/ 0 h 203269"/>
                <a:gd name="connsiteX2" fmla="*/ 0 w 222008"/>
                <a:gd name="connsiteY2" fmla="*/ 37019 h 203269"/>
                <a:gd name="connsiteX3" fmla="*/ 0 w 222008"/>
                <a:gd name="connsiteY3" fmla="*/ 110987 h 203269"/>
                <a:gd name="connsiteX4" fmla="*/ 37019 w 222008"/>
                <a:gd name="connsiteY4" fmla="*/ 148006 h 203269"/>
                <a:gd name="connsiteX5" fmla="*/ 102427 w 222008"/>
                <a:gd name="connsiteY5" fmla="*/ 148006 h 203269"/>
                <a:gd name="connsiteX6" fmla="*/ 175514 w 222008"/>
                <a:gd name="connsiteY6" fmla="*/ 201474 h 203269"/>
                <a:gd name="connsiteX7" fmla="*/ 175620 w 222008"/>
                <a:gd name="connsiteY7" fmla="*/ 201509 h 203269"/>
                <a:gd name="connsiteX8" fmla="*/ 175796 w 222008"/>
                <a:gd name="connsiteY8" fmla="*/ 201650 h 203269"/>
                <a:gd name="connsiteX9" fmla="*/ 175972 w 222008"/>
                <a:gd name="connsiteY9" fmla="*/ 201791 h 203269"/>
                <a:gd name="connsiteX10" fmla="*/ 176149 w 222008"/>
                <a:gd name="connsiteY10" fmla="*/ 201896 h 203269"/>
                <a:gd name="connsiteX11" fmla="*/ 176360 w 222008"/>
                <a:gd name="connsiteY11" fmla="*/ 202037 h 203269"/>
                <a:gd name="connsiteX12" fmla="*/ 176501 w 222008"/>
                <a:gd name="connsiteY12" fmla="*/ 202143 h 203269"/>
                <a:gd name="connsiteX13" fmla="*/ 176783 w 222008"/>
                <a:gd name="connsiteY13" fmla="*/ 202284 h 203269"/>
                <a:gd name="connsiteX14" fmla="*/ 176888 w 222008"/>
                <a:gd name="connsiteY14" fmla="*/ 202319 h 203269"/>
                <a:gd name="connsiteX15" fmla="*/ 177205 w 222008"/>
                <a:gd name="connsiteY15" fmla="*/ 202460 h 203269"/>
                <a:gd name="connsiteX16" fmla="*/ 177311 w 222008"/>
                <a:gd name="connsiteY16" fmla="*/ 202495 h 203269"/>
                <a:gd name="connsiteX17" fmla="*/ 177663 w 222008"/>
                <a:gd name="connsiteY17" fmla="*/ 202636 h 203269"/>
                <a:gd name="connsiteX18" fmla="*/ 177698 w 222008"/>
                <a:gd name="connsiteY18" fmla="*/ 202671 h 203269"/>
                <a:gd name="connsiteX19" fmla="*/ 178051 w 222008"/>
                <a:gd name="connsiteY19" fmla="*/ 202812 h 203269"/>
                <a:gd name="connsiteX20" fmla="*/ 178156 w 222008"/>
                <a:gd name="connsiteY20" fmla="*/ 202847 h 203269"/>
                <a:gd name="connsiteX21" fmla="*/ 178508 w 222008"/>
                <a:gd name="connsiteY21" fmla="*/ 202953 h 203269"/>
                <a:gd name="connsiteX22" fmla="*/ 178649 w 222008"/>
                <a:gd name="connsiteY22" fmla="*/ 202988 h 203269"/>
                <a:gd name="connsiteX23" fmla="*/ 178931 w 222008"/>
                <a:gd name="connsiteY23" fmla="*/ 203094 h 203269"/>
                <a:gd name="connsiteX24" fmla="*/ 179142 w 222008"/>
                <a:gd name="connsiteY24" fmla="*/ 203129 h 203269"/>
                <a:gd name="connsiteX25" fmla="*/ 179354 w 222008"/>
                <a:gd name="connsiteY25" fmla="*/ 203164 h 203269"/>
                <a:gd name="connsiteX26" fmla="*/ 179636 w 222008"/>
                <a:gd name="connsiteY26" fmla="*/ 203200 h 203269"/>
                <a:gd name="connsiteX27" fmla="*/ 179776 w 222008"/>
                <a:gd name="connsiteY27" fmla="*/ 203235 h 203269"/>
                <a:gd name="connsiteX28" fmla="*/ 180093 w 222008"/>
                <a:gd name="connsiteY28" fmla="*/ 203270 h 203269"/>
                <a:gd name="connsiteX29" fmla="*/ 182031 w 222008"/>
                <a:gd name="connsiteY29" fmla="*/ 203270 h 203269"/>
                <a:gd name="connsiteX30" fmla="*/ 182242 w 222008"/>
                <a:gd name="connsiteY30" fmla="*/ 203235 h 203269"/>
                <a:gd name="connsiteX31" fmla="*/ 182524 w 222008"/>
                <a:gd name="connsiteY31" fmla="*/ 203200 h 203269"/>
                <a:gd name="connsiteX32" fmla="*/ 182629 w 222008"/>
                <a:gd name="connsiteY32" fmla="*/ 203200 h 203269"/>
                <a:gd name="connsiteX33" fmla="*/ 182735 w 222008"/>
                <a:gd name="connsiteY33" fmla="*/ 203164 h 203269"/>
                <a:gd name="connsiteX34" fmla="*/ 183017 w 222008"/>
                <a:gd name="connsiteY34" fmla="*/ 203129 h 203269"/>
                <a:gd name="connsiteX35" fmla="*/ 183193 w 222008"/>
                <a:gd name="connsiteY35" fmla="*/ 203094 h 203269"/>
                <a:gd name="connsiteX36" fmla="*/ 183404 w 222008"/>
                <a:gd name="connsiteY36" fmla="*/ 203059 h 203269"/>
                <a:gd name="connsiteX37" fmla="*/ 183616 w 222008"/>
                <a:gd name="connsiteY37" fmla="*/ 203023 h 203269"/>
                <a:gd name="connsiteX38" fmla="*/ 183827 w 222008"/>
                <a:gd name="connsiteY38" fmla="*/ 202988 h 203269"/>
                <a:gd name="connsiteX39" fmla="*/ 184038 w 222008"/>
                <a:gd name="connsiteY39" fmla="*/ 202882 h 203269"/>
                <a:gd name="connsiteX40" fmla="*/ 184215 w 222008"/>
                <a:gd name="connsiteY40" fmla="*/ 202777 h 203269"/>
                <a:gd name="connsiteX41" fmla="*/ 184426 w 222008"/>
                <a:gd name="connsiteY41" fmla="*/ 202671 h 203269"/>
                <a:gd name="connsiteX42" fmla="*/ 184602 w 222008"/>
                <a:gd name="connsiteY42" fmla="*/ 202566 h 203269"/>
                <a:gd name="connsiteX43" fmla="*/ 184813 w 222008"/>
                <a:gd name="connsiteY43" fmla="*/ 202460 h 203269"/>
                <a:gd name="connsiteX44" fmla="*/ 184989 w 222008"/>
                <a:gd name="connsiteY44" fmla="*/ 202354 h 203269"/>
                <a:gd name="connsiteX45" fmla="*/ 185201 w 222008"/>
                <a:gd name="connsiteY45" fmla="*/ 202248 h 203269"/>
                <a:gd name="connsiteX46" fmla="*/ 185377 w 222008"/>
                <a:gd name="connsiteY46" fmla="*/ 202143 h 203269"/>
                <a:gd name="connsiteX47" fmla="*/ 185553 w 222008"/>
                <a:gd name="connsiteY47" fmla="*/ 202037 h 203269"/>
                <a:gd name="connsiteX48" fmla="*/ 185764 w 222008"/>
                <a:gd name="connsiteY48" fmla="*/ 201896 h 203269"/>
                <a:gd name="connsiteX49" fmla="*/ 185940 w 222008"/>
                <a:gd name="connsiteY49" fmla="*/ 201791 h 203269"/>
                <a:gd name="connsiteX50" fmla="*/ 186152 w 222008"/>
                <a:gd name="connsiteY50" fmla="*/ 201650 h 203269"/>
                <a:gd name="connsiteX51" fmla="*/ 186293 w 222008"/>
                <a:gd name="connsiteY51" fmla="*/ 201544 h 203269"/>
                <a:gd name="connsiteX52" fmla="*/ 186504 w 222008"/>
                <a:gd name="connsiteY52" fmla="*/ 201368 h 203269"/>
                <a:gd name="connsiteX53" fmla="*/ 186645 w 222008"/>
                <a:gd name="connsiteY53" fmla="*/ 201262 h 203269"/>
                <a:gd name="connsiteX54" fmla="*/ 186856 w 222008"/>
                <a:gd name="connsiteY54" fmla="*/ 201086 h 203269"/>
                <a:gd name="connsiteX55" fmla="*/ 186997 w 222008"/>
                <a:gd name="connsiteY55" fmla="*/ 200980 h 203269"/>
                <a:gd name="connsiteX56" fmla="*/ 187208 w 222008"/>
                <a:gd name="connsiteY56" fmla="*/ 200804 h 203269"/>
                <a:gd name="connsiteX57" fmla="*/ 187349 w 222008"/>
                <a:gd name="connsiteY57" fmla="*/ 200699 h 203269"/>
                <a:gd name="connsiteX58" fmla="*/ 187525 w 222008"/>
                <a:gd name="connsiteY58" fmla="*/ 200523 h 203269"/>
                <a:gd name="connsiteX59" fmla="*/ 187666 w 222008"/>
                <a:gd name="connsiteY59" fmla="*/ 200382 h 203269"/>
                <a:gd name="connsiteX60" fmla="*/ 187842 w 222008"/>
                <a:gd name="connsiteY60" fmla="*/ 200206 h 203269"/>
                <a:gd name="connsiteX61" fmla="*/ 187983 w 222008"/>
                <a:gd name="connsiteY61" fmla="*/ 200065 h 203269"/>
                <a:gd name="connsiteX62" fmla="*/ 188124 w 222008"/>
                <a:gd name="connsiteY62" fmla="*/ 199889 h 203269"/>
                <a:gd name="connsiteX63" fmla="*/ 188265 w 222008"/>
                <a:gd name="connsiteY63" fmla="*/ 199712 h 203269"/>
                <a:gd name="connsiteX64" fmla="*/ 188371 w 222008"/>
                <a:gd name="connsiteY64" fmla="*/ 199607 h 203269"/>
                <a:gd name="connsiteX65" fmla="*/ 188406 w 222008"/>
                <a:gd name="connsiteY65" fmla="*/ 199501 h 203269"/>
                <a:gd name="connsiteX66" fmla="*/ 188547 w 222008"/>
                <a:gd name="connsiteY66" fmla="*/ 199325 h 203269"/>
                <a:gd name="connsiteX67" fmla="*/ 188688 w 222008"/>
                <a:gd name="connsiteY67" fmla="*/ 199114 h 203269"/>
                <a:gd name="connsiteX68" fmla="*/ 188793 w 222008"/>
                <a:gd name="connsiteY68" fmla="*/ 198973 h 203269"/>
                <a:gd name="connsiteX69" fmla="*/ 188934 w 222008"/>
                <a:gd name="connsiteY69" fmla="*/ 198761 h 203269"/>
                <a:gd name="connsiteX70" fmla="*/ 189040 w 222008"/>
                <a:gd name="connsiteY70" fmla="*/ 198621 h 203269"/>
                <a:gd name="connsiteX71" fmla="*/ 189181 w 222008"/>
                <a:gd name="connsiteY71" fmla="*/ 198339 h 203269"/>
                <a:gd name="connsiteX72" fmla="*/ 189216 w 222008"/>
                <a:gd name="connsiteY72" fmla="*/ 198233 h 203269"/>
                <a:gd name="connsiteX73" fmla="*/ 189357 w 222008"/>
                <a:gd name="connsiteY73" fmla="*/ 197916 h 203269"/>
                <a:gd name="connsiteX74" fmla="*/ 189392 w 222008"/>
                <a:gd name="connsiteY74" fmla="*/ 197881 h 203269"/>
                <a:gd name="connsiteX75" fmla="*/ 189533 w 222008"/>
                <a:gd name="connsiteY75" fmla="*/ 197529 h 203269"/>
                <a:gd name="connsiteX76" fmla="*/ 189533 w 222008"/>
                <a:gd name="connsiteY76" fmla="*/ 197493 h 203269"/>
                <a:gd name="connsiteX77" fmla="*/ 189674 w 222008"/>
                <a:gd name="connsiteY77" fmla="*/ 197141 h 203269"/>
                <a:gd name="connsiteX78" fmla="*/ 189709 w 222008"/>
                <a:gd name="connsiteY78" fmla="*/ 197036 h 203269"/>
                <a:gd name="connsiteX79" fmla="*/ 189815 w 222008"/>
                <a:gd name="connsiteY79" fmla="*/ 196683 h 203269"/>
                <a:gd name="connsiteX80" fmla="*/ 189850 w 222008"/>
                <a:gd name="connsiteY80" fmla="*/ 196542 h 203269"/>
                <a:gd name="connsiteX81" fmla="*/ 189956 w 222008"/>
                <a:gd name="connsiteY81" fmla="*/ 196261 h 203269"/>
                <a:gd name="connsiteX82" fmla="*/ 189991 w 222008"/>
                <a:gd name="connsiteY82" fmla="*/ 196049 h 203269"/>
                <a:gd name="connsiteX83" fmla="*/ 190026 w 222008"/>
                <a:gd name="connsiteY83" fmla="*/ 195873 h 203269"/>
                <a:gd name="connsiteX84" fmla="*/ 190061 w 222008"/>
                <a:gd name="connsiteY84" fmla="*/ 195556 h 203269"/>
                <a:gd name="connsiteX85" fmla="*/ 190061 w 222008"/>
                <a:gd name="connsiteY85" fmla="*/ 195415 h 203269"/>
                <a:gd name="connsiteX86" fmla="*/ 190097 w 222008"/>
                <a:gd name="connsiteY86" fmla="*/ 195063 h 203269"/>
                <a:gd name="connsiteX87" fmla="*/ 190097 w 222008"/>
                <a:gd name="connsiteY87" fmla="*/ 194957 h 203269"/>
                <a:gd name="connsiteX88" fmla="*/ 190097 w 222008"/>
                <a:gd name="connsiteY88" fmla="*/ 194605 h 203269"/>
                <a:gd name="connsiteX89" fmla="*/ 190097 w 222008"/>
                <a:gd name="connsiteY89" fmla="*/ 194500 h 203269"/>
                <a:gd name="connsiteX90" fmla="*/ 190097 w 222008"/>
                <a:gd name="connsiteY90" fmla="*/ 194183 h 203269"/>
                <a:gd name="connsiteX91" fmla="*/ 190097 w 222008"/>
                <a:gd name="connsiteY91" fmla="*/ 194042 h 203269"/>
                <a:gd name="connsiteX92" fmla="*/ 190097 w 222008"/>
                <a:gd name="connsiteY92" fmla="*/ 193760 h 203269"/>
                <a:gd name="connsiteX93" fmla="*/ 190097 w 222008"/>
                <a:gd name="connsiteY93" fmla="*/ 193584 h 203269"/>
                <a:gd name="connsiteX94" fmla="*/ 190097 w 222008"/>
                <a:gd name="connsiteY94" fmla="*/ 193302 h 203269"/>
                <a:gd name="connsiteX95" fmla="*/ 190097 w 222008"/>
                <a:gd name="connsiteY95" fmla="*/ 193091 h 203269"/>
                <a:gd name="connsiteX96" fmla="*/ 190061 w 222008"/>
                <a:gd name="connsiteY96" fmla="*/ 192879 h 203269"/>
                <a:gd name="connsiteX97" fmla="*/ 190026 w 222008"/>
                <a:gd name="connsiteY97" fmla="*/ 192668 h 203269"/>
                <a:gd name="connsiteX98" fmla="*/ 190026 w 222008"/>
                <a:gd name="connsiteY98" fmla="*/ 192562 h 203269"/>
                <a:gd name="connsiteX99" fmla="*/ 182242 w 222008"/>
                <a:gd name="connsiteY99" fmla="*/ 148147 h 203269"/>
                <a:gd name="connsiteX100" fmla="*/ 184989 w 222008"/>
                <a:gd name="connsiteY100" fmla="*/ 148147 h 203269"/>
                <a:gd name="connsiteX101" fmla="*/ 222008 w 222008"/>
                <a:gd name="connsiteY101" fmla="*/ 111127 h 203269"/>
                <a:gd name="connsiteX102" fmla="*/ 222008 w 222008"/>
                <a:gd name="connsiteY102" fmla="*/ 36984 h 203269"/>
                <a:gd name="connsiteX103" fmla="*/ 184954 w 222008"/>
                <a:gd name="connsiteY103" fmla="*/ 0 h 203269"/>
                <a:gd name="connsiteX104" fmla="*/ 203481 w 222008"/>
                <a:gd name="connsiteY104" fmla="*/ 103590 h 203269"/>
                <a:gd name="connsiteX105" fmla="*/ 177593 w 222008"/>
                <a:gd name="connsiteY105" fmla="*/ 129478 h 203269"/>
                <a:gd name="connsiteX106" fmla="*/ 171182 w 222008"/>
                <a:gd name="connsiteY106" fmla="*/ 129478 h 203269"/>
                <a:gd name="connsiteX107" fmla="*/ 161919 w 222008"/>
                <a:gd name="connsiteY107" fmla="*/ 138742 h 203269"/>
                <a:gd name="connsiteX108" fmla="*/ 162236 w 222008"/>
                <a:gd name="connsiteY108" fmla="*/ 141102 h 203269"/>
                <a:gd name="connsiteX109" fmla="*/ 167836 w 222008"/>
                <a:gd name="connsiteY109" fmla="*/ 173014 h 203269"/>
                <a:gd name="connsiteX110" fmla="*/ 111761 w 222008"/>
                <a:gd name="connsiteY110" fmla="*/ 131909 h 203269"/>
                <a:gd name="connsiteX111" fmla="*/ 110529 w 222008"/>
                <a:gd name="connsiteY111" fmla="*/ 131134 h 203269"/>
                <a:gd name="connsiteX112" fmla="*/ 105245 w 222008"/>
                <a:gd name="connsiteY112" fmla="*/ 129478 h 203269"/>
                <a:gd name="connsiteX113" fmla="*/ 44381 w 222008"/>
                <a:gd name="connsiteY113" fmla="*/ 129478 h 203269"/>
                <a:gd name="connsiteX114" fmla="*/ 18492 w 222008"/>
                <a:gd name="connsiteY114" fmla="*/ 103590 h 203269"/>
                <a:gd name="connsiteX115" fmla="*/ 18492 w 222008"/>
                <a:gd name="connsiteY115" fmla="*/ 44381 h 203269"/>
                <a:gd name="connsiteX116" fmla="*/ 44381 w 222008"/>
                <a:gd name="connsiteY116" fmla="*/ 18492 h 203269"/>
                <a:gd name="connsiteX117" fmla="*/ 177557 w 222008"/>
                <a:gd name="connsiteY117" fmla="*/ 18492 h 203269"/>
                <a:gd name="connsiteX118" fmla="*/ 203446 w 222008"/>
                <a:gd name="connsiteY118" fmla="*/ 44381 h 203269"/>
                <a:gd name="connsiteX119" fmla="*/ 203446 w 222008"/>
                <a:gd name="connsiteY119" fmla="*/ 103590 h 203269"/>
                <a:gd name="connsiteX120" fmla="*/ 203481 w 222008"/>
                <a:gd name="connsiteY120" fmla="*/ 103590 h 20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222008" h="203269">
                  <a:moveTo>
                    <a:pt x="184954" y="0"/>
                  </a:moveTo>
                  <a:lnTo>
                    <a:pt x="37019" y="0"/>
                  </a:lnTo>
                  <a:cubicBezTo>
                    <a:pt x="16590" y="0"/>
                    <a:pt x="0" y="16590"/>
                    <a:pt x="0" y="37019"/>
                  </a:cubicBezTo>
                  <a:lnTo>
                    <a:pt x="0" y="110987"/>
                  </a:lnTo>
                  <a:cubicBezTo>
                    <a:pt x="0" y="131416"/>
                    <a:pt x="16590" y="148006"/>
                    <a:pt x="37019" y="148006"/>
                  </a:cubicBezTo>
                  <a:lnTo>
                    <a:pt x="102427" y="148006"/>
                  </a:lnTo>
                  <a:lnTo>
                    <a:pt x="175514" y="201474"/>
                  </a:lnTo>
                  <a:cubicBezTo>
                    <a:pt x="175550" y="201474"/>
                    <a:pt x="175550" y="201509"/>
                    <a:pt x="175620" y="201509"/>
                  </a:cubicBezTo>
                  <a:cubicBezTo>
                    <a:pt x="175655" y="201544"/>
                    <a:pt x="175761" y="201614"/>
                    <a:pt x="175796" y="201650"/>
                  </a:cubicBezTo>
                  <a:cubicBezTo>
                    <a:pt x="175832" y="201685"/>
                    <a:pt x="175937" y="201755"/>
                    <a:pt x="175972" y="201791"/>
                  </a:cubicBezTo>
                  <a:cubicBezTo>
                    <a:pt x="176008" y="201826"/>
                    <a:pt x="176113" y="201896"/>
                    <a:pt x="176149" y="201896"/>
                  </a:cubicBezTo>
                  <a:cubicBezTo>
                    <a:pt x="176254" y="201932"/>
                    <a:pt x="176289" y="202002"/>
                    <a:pt x="176360" y="202037"/>
                  </a:cubicBezTo>
                  <a:cubicBezTo>
                    <a:pt x="176395" y="202072"/>
                    <a:pt x="176466" y="202072"/>
                    <a:pt x="176501" y="202143"/>
                  </a:cubicBezTo>
                  <a:cubicBezTo>
                    <a:pt x="176606" y="202178"/>
                    <a:pt x="176677" y="202248"/>
                    <a:pt x="176783" y="202284"/>
                  </a:cubicBezTo>
                  <a:cubicBezTo>
                    <a:pt x="176818" y="202284"/>
                    <a:pt x="176818" y="202319"/>
                    <a:pt x="176888" y="202319"/>
                  </a:cubicBezTo>
                  <a:cubicBezTo>
                    <a:pt x="176994" y="202354"/>
                    <a:pt x="177100" y="202425"/>
                    <a:pt x="177205" y="202460"/>
                  </a:cubicBezTo>
                  <a:cubicBezTo>
                    <a:pt x="177240" y="202460"/>
                    <a:pt x="177240" y="202460"/>
                    <a:pt x="177311" y="202495"/>
                  </a:cubicBezTo>
                  <a:cubicBezTo>
                    <a:pt x="177417" y="202530"/>
                    <a:pt x="177522" y="202601"/>
                    <a:pt x="177663" y="202636"/>
                  </a:cubicBezTo>
                  <a:cubicBezTo>
                    <a:pt x="177663" y="202636"/>
                    <a:pt x="177698" y="202636"/>
                    <a:pt x="177698" y="202671"/>
                  </a:cubicBezTo>
                  <a:cubicBezTo>
                    <a:pt x="177839" y="202706"/>
                    <a:pt x="177910" y="202777"/>
                    <a:pt x="178051" y="202812"/>
                  </a:cubicBezTo>
                  <a:cubicBezTo>
                    <a:pt x="178086" y="202812"/>
                    <a:pt x="178086" y="202812"/>
                    <a:pt x="178156" y="202847"/>
                  </a:cubicBezTo>
                  <a:cubicBezTo>
                    <a:pt x="178297" y="202882"/>
                    <a:pt x="178368" y="202953"/>
                    <a:pt x="178508" y="202953"/>
                  </a:cubicBezTo>
                  <a:cubicBezTo>
                    <a:pt x="178544" y="202953"/>
                    <a:pt x="178614" y="202988"/>
                    <a:pt x="178649" y="202988"/>
                  </a:cubicBezTo>
                  <a:cubicBezTo>
                    <a:pt x="178755" y="203023"/>
                    <a:pt x="178825" y="203023"/>
                    <a:pt x="178931" y="203094"/>
                  </a:cubicBezTo>
                  <a:cubicBezTo>
                    <a:pt x="179037" y="203094"/>
                    <a:pt x="179072" y="203129"/>
                    <a:pt x="179142" y="203129"/>
                  </a:cubicBezTo>
                  <a:cubicBezTo>
                    <a:pt x="179248" y="203129"/>
                    <a:pt x="179283" y="203164"/>
                    <a:pt x="179354" y="203164"/>
                  </a:cubicBezTo>
                  <a:cubicBezTo>
                    <a:pt x="179459" y="203164"/>
                    <a:pt x="179530" y="203200"/>
                    <a:pt x="179636" y="203200"/>
                  </a:cubicBezTo>
                  <a:cubicBezTo>
                    <a:pt x="179671" y="203200"/>
                    <a:pt x="179741" y="203200"/>
                    <a:pt x="179776" y="203235"/>
                  </a:cubicBezTo>
                  <a:cubicBezTo>
                    <a:pt x="179882" y="203235"/>
                    <a:pt x="179988" y="203270"/>
                    <a:pt x="180093" y="203270"/>
                  </a:cubicBezTo>
                  <a:lnTo>
                    <a:pt x="182031" y="203270"/>
                  </a:lnTo>
                  <a:cubicBezTo>
                    <a:pt x="182136" y="203270"/>
                    <a:pt x="182172" y="203270"/>
                    <a:pt x="182242" y="203235"/>
                  </a:cubicBezTo>
                  <a:cubicBezTo>
                    <a:pt x="182348" y="203235"/>
                    <a:pt x="182418" y="203200"/>
                    <a:pt x="182524" y="203200"/>
                  </a:cubicBezTo>
                  <a:lnTo>
                    <a:pt x="182629" y="203200"/>
                  </a:lnTo>
                  <a:cubicBezTo>
                    <a:pt x="182665" y="203200"/>
                    <a:pt x="182735" y="203200"/>
                    <a:pt x="182735" y="203164"/>
                  </a:cubicBezTo>
                  <a:cubicBezTo>
                    <a:pt x="182841" y="203164"/>
                    <a:pt x="182911" y="203129"/>
                    <a:pt x="183017" y="203129"/>
                  </a:cubicBezTo>
                  <a:cubicBezTo>
                    <a:pt x="183052" y="203129"/>
                    <a:pt x="183158" y="203094"/>
                    <a:pt x="183193" y="203094"/>
                  </a:cubicBezTo>
                  <a:cubicBezTo>
                    <a:pt x="183299" y="203094"/>
                    <a:pt x="183334" y="203059"/>
                    <a:pt x="183404" y="203059"/>
                  </a:cubicBezTo>
                  <a:cubicBezTo>
                    <a:pt x="183510" y="203059"/>
                    <a:pt x="183545" y="203023"/>
                    <a:pt x="183616" y="203023"/>
                  </a:cubicBezTo>
                  <a:cubicBezTo>
                    <a:pt x="183721" y="203023"/>
                    <a:pt x="183757" y="202988"/>
                    <a:pt x="183827" y="202988"/>
                  </a:cubicBezTo>
                  <a:cubicBezTo>
                    <a:pt x="183933" y="202953"/>
                    <a:pt x="183968" y="202953"/>
                    <a:pt x="184038" y="202882"/>
                  </a:cubicBezTo>
                  <a:cubicBezTo>
                    <a:pt x="184074" y="202882"/>
                    <a:pt x="184179" y="202847"/>
                    <a:pt x="184215" y="202777"/>
                  </a:cubicBezTo>
                  <a:cubicBezTo>
                    <a:pt x="184320" y="202742"/>
                    <a:pt x="184355" y="202742"/>
                    <a:pt x="184426" y="202671"/>
                  </a:cubicBezTo>
                  <a:cubicBezTo>
                    <a:pt x="184461" y="202636"/>
                    <a:pt x="184567" y="202636"/>
                    <a:pt x="184602" y="202566"/>
                  </a:cubicBezTo>
                  <a:cubicBezTo>
                    <a:pt x="184708" y="202530"/>
                    <a:pt x="184743" y="202530"/>
                    <a:pt x="184813" y="202460"/>
                  </a:cubicBezTo>
                  <a:cubicBezTo>
                    <a:pt x="184849" y="202425"/>
                    <a:pt x="184954" y="202425"/>
                    <a:pt x="184989" y="202354"/>
                  </a:cubicBezTo>
                  <a:cubicBezTo>
                    <a:pt x="185095" y="202319"/>
                    <a:pt x="185130" y="202248"/>
                    <a:pt x="185201" y="202248"/>
                  </a:cubicBezTo>
                  <a:cubicBezTo>
                    <a:pt x="185236" y="202213"/>
                    <a:pt x="185342" y="202143"/>
                    <a:pt x="185377" y="202143"/>
                  </a:cubicBezTo>
                  <a:cubicBezTo>
                    <a:pt x="185412" y="202108"/>
                    <a:pt x="185518" y="202037"/>
                    <a:pt x="185553" y="202037"/>
                  </a:cubicBezTo>
                  <a:cubicBezTo>
                    <a:pt x="185659" y="202002"/>
                    <a:pt x="185694" y="201932"/>
                    <a:pt x="185764" y="201896"/>
                  </a:cubicBezTo>
                  <a:cubicBezTo>
                    <a:pt x="185800" y="201861"/>
                    <a:pt x="185870" y="201791"/>
                    <a:pt x="185940" y="201791"/>
                  </a:cubicBezTo>
                  <a:cubicBezTo>
                    <a:pt x="186046" y="201755"/>
                    <a:pt x="186081" y="201685"/>
                    <a:pt x="186152" y="201650"/>
                  </a:cubicBezTo>
                  <a:cubicBezTo>
                    <a:pt x="186187" y="201614"/>
                    <a:pt x="186257" y="201614"/>
                    <a:pt x="186293" y="201544"/>
                  </a:cubicBezTo>
                  <a:cubicBezTo>
                    <a:pt x="186398" y="201509"/>
                    <a:pt x="186434" y="201403"/>
                    <a:pt x="186504" y="201368"/>
                  </a:cubicBezTo>
                  <a:cubicBezTo>
                    <a:pt x="186539" y="201333"/>
                    <a:pt x="186610" y="201333"/>
                    <a:pt x="186645" y="201262"/>
                  </a:cubicBezTo>
                  <a:cubicBezTo>
                    <a:pt x="186751" y="201227"/>
                    <a:pt x="186786" y="201121"/>
                    <a:pt x="186856" y="201086"/>
                  </a:cubicBezTo>
                  <a:cubicBezTo>
                    <a:pt x="186891" y="201051"/>
                    <a:pt x="186962" y="201051"/>
                    <a:pt x="186997" y="200980"/>
                  </a:cubicBezTo>
                  <a:cubicBezTo>
                    <a:pt x="187103" y="200945"/>
                    <a:pt x="187138" y="200840"/>
                    <a:pt x="187208" y="200804"/>
                  </a:cubicBezTo>
                  <a:cubicBezTo>
                    <a:pt x="187244" y="200769"/>
                    <a:pt x="187314" y="200699"/>
                    <a:pt x="187349" y="200699"/>
                  </a:cubicBezTo>
                  <a:lnTo>
                    <a:pt x="187525" y="200523"/>
                  </a:lnTo>
                  <a:lnTo>
                    <a:pt x="187666" y="200382"/>
                  </a:lnTo>
                  <a:lnTo>
                    <a:pt x="187842" y="200206"/>
                  </a:lnTo>
                  <a:lnTo>
                    <a:pt x="187983" y="200065"/>
                  </a:lnTo>
                  <a:cubicBezTo>
                    <a:pt x="188019" y="200029"/>
                    <a:pt x="188089" y="199924"/>
                    <a:pt x="188124" y="199889"/>
                  </a:cubicBezTo>
                  <a:cubicBezTo>
                    <a:pt x="188159" y="199853"/>
                    <a:pt x="188230" y="199748"/>
                    <a:pt x="188265" y="199712"/>
                  </a:cubicBezTo>
                  <a:cubicBezTo>
                    <a:pt x="188300" y="199677"/>
                    <a:pt x="188300" y="199607"/>
                    <a:pt x="188371" y="199607"/>
                  </a:cubicBezTo>
                  <a:cubicBezTo>
                    <a:pt x="188371" y="199572"/>
                    <a:pt x="188406" y="199572"/>
                    <a:pt x="188406" y="199501"/>
                  </a:cubicBezTo>
                  <a:cubicBezTo>
                    <a:pt x="188441" y="199466"/>
                    <a:pt x="188512" y="199360"/>
                    <a:pt x="188547" y="199325"/>
                  </a:cubicBezTo>
                  <a:cubicBezTo>
                    <a:pt x="188582" y="199219"/>
                    <a:pt x="188653" y="199184"/>
                    <a:pt x="188688" y="199114"/>
                  </a:cubicBezTo>
                  <a:cubicBezTo>
                    <a:pt x="188723" y="199078"/>
                    <a:pt x="188723" y="199008"/>
                    <a:pt x="188793" y="198973"/>
                  </a:cubicBezTo>
                  <a:cubicBezTo>
                    <a:pt x="188829" y="198867"/>
                    <a:pt x="188899" y="198797"/>
                    <a:pt x="188934" y="198761"/>
                  </a:cubicBezTo>
                  <a:cubicBezTo>
                    <a:pt x="188970" y="198726"/>
                    <a:pt x="188970" y="198656"/>
                    <a:pt x="189040" y="198621"/>
                  </a:cubicBezTo>
                  <a:cubicBezTo>
                    <a:pt x="189075" y="198515"/>
                    <a:pt x="189146" y="198444"/>
                    <a:pt x="189181" y="198339"/>
                  </a:cubicBezTo>
                  <a:cubicBezTo>
                    <a:pt x="189181" y="198304"/>
                    <a:pt x="189216" y="198304"/>
                    <a:pt x="189216" y="198233"/>
                  </a:cubicBezTo>
                  <a:cubicBezTo>
                    <a:pt x="189251" y="198127"/>
                    <a:pt x="189322" y="198022"/>
                    <a:pt x="189357" y="197916"/>
                  </a:cubicBezTo>
                  <a:cubicBezTo>
                    <a:pt x="189357" y="197881"/>
                    <a:pt x="189357" y="197881"/>
                    <a:pt x="189392" y="197881"/>
                  </a:cubicBezTo>
                  <a:cubicBezTo>
                    <a:pt x="189427" y="197740"/>
                    <a:pt x="189498" y="197670"/>
                    <a:pt x="189533" y="197529"/>
                  </a:cubicBezTo>
                  <a:lnTo>
                    <a:pt x="189533" y="197493"/>
                  </a:lnTo>
                  <a:cubicBezTo>
                    <a:pt x="189568" y="197353"/>
                    <a:pt x="189639" y="197282"/>
                    <a:pt x="189674" y="197141"/>
                  </a:cubicBezTo>
                  <a:cubicBezTo>
                    <a:pt x="189674" y="197106"/>
                    <a:pt x="189674" y="197106"/>
                    <a:pt x="189709" y="197036"/>
                  </a:cubicBezTo>
                  <a:cubicBezTo>
                    <a:pt x="189744" y="196930"/>
                    <a:pt x="189815" y="196824"/>
                    <a:pt x="189815" y="196683"/>
                  </a:cubicBezTo>
                  <a:cubicBezTo>
                    <a:pt x="189815" y="196648"/>
                    <a:pt x="189850" y="196578"/>
                    <a:pt x="189850" y="196542"/>
                  </a:cubicBezTo>
                  <a:cubicBezTo>
                    <a:pt x="189885" y="196437"/>
                    <a:pt x="189885" y="196366"/>
                    <a:pt x="189956" y="196261"/>
                  </a:cubicBezTo>
                  <a:cubicBezTo>
                    <a:pt x="189956" y="196155"/>
                    <a:pt x="189991" y="196120"/>
                    <a:pt x="189991" y="196049"/>
                  </a:cubicBezTo>
                  <a:cubicBezTo>
                    <a:pt x="189991" y="196014"/>
                    <a:pt x="190026" y="195908"/>
                    <a:pt x="190026" y="195873"/>
                  </a:cubicBezTo>
                  <a:cubicBezTo>
                    <a:pt x="190026" y="195768"/>
                    <a:pt x="190061" y="195662"/>
                    <a:pt x="190061" y="195556"/>
                  </a:cubicBezTo>
                  <a:lnTo>
                    <a:pt x="190061" y="195415"/>
                  </a:lnTo>
                  <a:cubicBezTo>
                    <a:pt x="190061" y="195274"/>
                    <a:pt x="190097" y="195204"/>
                    <a:pt x="190097" y="195063"/>
                  </a:cubicBezTo>
                  <a:lnTo>
                    <a:pt x="190097" y="194957"/>
                  </a:lnTo>
                  <a:lnTo>
                    <a:pt x="190097" y="194605"/>
                  </a:lnTo>
                  <a:lnTo>
                    <a:pt x="190097" y="194500"/>
                  </a:lnTo>
                  <a:lnTo>
                    <a:pt x="190097" y="194183"/>
                  </a:lnTo>
                  <a:lnTo>
                    <a:pt x="190097" y="194042"/>
                  </a:lnTo>
                  <a:lnTo>
                    <a:pt x="190097" y="193760"/>
                  </a:lnTo>
                  <a:lnTo>
                    <a:pt x="190097" y="193584"/>
                  </a:lnTo>
                  <a:lnTo>
                    <a:pt x="190097" y="193302"/>
                  </a:lnTo>
                  <a:lnTo>
                    <a:pt x="190097" y="193091"/>
                  </a:lnTo>
                  <a:cubicBezTo>
                    <a:pt x="190097" y="193020"/>
                    <a:pt x="190097" y="192950"/>
                    <a:pt x="190061" y="192879"/>
                  </a:cubicBezTo>
                  <a:cubicBezTo>
                    <a:pt x="190061" y="192774"/>
                    <a:pt x="190026" y="192703"/>
                    <a:pt x="190026" y="192668"/>
                  </a:cubicBezTo>
                  <a:lnTo>
                    <a:pt x="190026" y="192562"/>
                  </a:lnTo>
                  <a:lnTo>
                    <a:pt x="182242" y="148147"/>
                  </a:lnTo>
                  <a:lnTo>
                    <a:pt x="184989" y="148147"/>
                  </a:lnTo>
                  <a:cubicBezTo>
                    <a:pt x="205419" y="148147"/>
                    <a:pt x="222008" y="131557"/>
                    <a:pt x="222008" y="111127"/>
                  </a:cubicBezTo>
                  <a:lnTo>
                    <a:pt x="222008" y="36984"/>
                  </a:lnTo>
                  <a:cubicBezTo>
                    <a:pt x="221973" y="16555"/>
                    <a:pt x="205383" y="0"/>
                    <a:pt x="184954" y="0"/>
                  </a:cubicBezTo>
                  <a:close/>
                  <a:moveTo>
                    <a:pt x="203481" y="103590"/>
                  </a:moveTo>
                  <a:cubicBezTo>
                    <a:pt x="203481" y="117855"/>
                    <a:pt x="191858" y="129478"/>
                    <a:pt x="177593" y="129478"/>
                  </a:cubicBezTo>
                  <a:lnTo>
                    <a:pt x="171182" y="129478"/>
                  </a:lnTo>
                  <a:cubicBezTo>
                    <a:pt x="166075" y="129478"/>
                    <a:pt x="161919" y="133635"/>
                    <a:pt x="161919" y="138742"/>
                  </a:cubicBezTo>
                  <a:cubicBezTo>
                    <a:pt x="161919" y="139552"/>
                    <a:pt x="162024" y="140327"/>
                    <a:pt x="162236" y="141102"/>
                  </a:cubicBezTo>
                  <a:lnTo>
                    <a:pt x="167836" y="173014"/>
                  </a:lnTo>
                  <a:lnTo>
                    <a:pt x="111761" y="131909"/>
                  </a:lnTo>
                  <a:cubicBezTo>
                    <a:pt x="111339" y="131627"/>
                    <a:pt x="110951" y="131381"/>
                    <a:pt x="110529" y="131134"/>
                  </a:cubicBezTo>
                  <a:cubicBezTo>
                    <a:pt x="109049" y="130077"/>
                    <a:pt x="107218" y="129478"/>
                    <a:pt x="105245" y="129478"/>
                  </a:cubicBezTo>
                  <a:lnTo>
                    <a:pt x="44381" y="129478"/>
                  </a:lnTo>
                  <a:cubicBezTo>
                    <a:pt x="30115" y="129478"/>
                    <a:pt x="18492" y="117855"/>
                    <a:pt x="18492" y="103590"/>
                  </a:cubicBezTo>
                  <a:lnTo>
                    <a:pt x="18492" y="44381"/>
                  </a:lnTo>
                  <a:cubicBezTo>
                    <a:pt x="18492" y="30115"/>
                    <a:pt x="30115" y="18492"/>
                    <a:pt x="44381" y="18492"/>
                  </a:cubicBezTo>
                  <a:lnTo>
                    <a:pt x="177557" y="18492"/>
                  </a:lnTo>
                  <a:cubicBezTo>
                    <a:pt x="191823" y="18492"/>
                    <a:pt x="203446" y="30115"/>
                    <a:pt x="203446" y="44381"/>
                  </a:cubicBezTo>
                  <a:lnTo>
                    <a:pt x="203446" y="103590"/>
                  </a:lnTo>
                  <a:lnTo>
                    <a:pt x="203481" y="103590"/>
                  </a:lnTo>
                  <a:close/>
                </a:path>
              </a:pathLst>
            </a:custGeom>
            <a:grpFill/>
            <a:ln w="34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grpSp>
      <p:grpSp>
        <p:nvGrpSpPr>
          <p:cNvPr id="130" name="组合 129"/>
          <p:cNvGrpSpPr/>
          <p:nvPr/>
        </p:nvGrpSpPr>
        <p:grpSpPr>
          <a:xfrm>
            <a:off x="10373253" y="3429000"/>
            <a:ext cx="362301" cy="344510"/>
            <a:chOff x="231140" y="193118"/>
            <a:chExt cx="1508124" cy="1434069"/>
          </a:xfrm>
          <a:solidFill>
            <a:schemeClr val="bg1"/>
          </a:solidFill>
        </p:grpSpPr>
        <p:sp>
          <p:nvSpPr>
            <p:cNvPr id="128" name="任意多边形: 形状 127"/>
            <p:cNvSpPr/>
            <p:nvPr/>
          </p:nvSpPr>
          <p:spPr>
            <a:xfrm>
              <a:off x="231140" y="553859"/>
              <a:ext cx="1508124" cy="1073328"/>
            </a:xfrm>
            <a:custGeom>
              <a:avLst/>
              <a:gdLst>
                <a:gd name="connsiteX0" fmla="*/ 159544 w 1508124"/>
                <a:gd name="connsiteY0" fmla="*/ 742811 h 1073328"/>
                <a:gd name="connsiteX1" fmla="*/ 53975 w 1508124"/>
                <a:gd name="connsiteY1" fmla="*/ 738048 h 1073328"/>
                <a:gd name="connsiteX2" fmla="*/ 18018 w 1508124"/>
                <a:gd name="connsiteY2" fmla="*/ 694947 h 1073328"/>
                <a:gd name="connsiteX3" fmla="*/ 61119 w 1508124"/>
                <a:gd name="connsiteY3" fmla="*/ 658991 h 1073328"/>
                <a:gd name="connsiteX4" fmla="*/ 1168400 w 1508124"/>
                <a:gd name="connsiteY4" fmla="*/ 22800 h 1073328"/>
                <a:gd name="connsiteX5" fmla="*/ 1221224 w 1508124"/>
                <a:gd name="connsiteY5" fmla="*/ 3790 h 1073328"/>
                <a:gd name="connsiteX6" fmla="*/ 1240234 w 1508124"/>
                <a:gd name="connsiteY6" fmla="*/ 56614 h 1073328"/>
                <a:gd name="connsiteX7" fmla="*/ 159544 w 1508124"/>
                <a:gd name="connsiteY7" fmla="*/ 742811 h 1073328"/>
                <a:gd name="connsiteX8" fmla="*/ 1468438 w 1508124"/>
                <a:gd name="connsiteY8" fmla="*/ 1073328 h 1073328"/>
                <a:gd name="connsiteX9" fmla="*/ 39688 w 1508124"/>
                <a:gd name="connsiteY9" fmla="*/ 1073328 h 1073328"/>
                <a:gd name="connsiteX10" fmla="*/ 0 w 1508124"/>
                <a:gd name="connsiteY10" fmla="*/ 1033641 h 1073328"/>
                <a:gd name="connsiteX11" fmla="*/ 39688 w 1508124"/>
                <a:gd name="connsiteY11" fmla="*/ 993953 h 1073328"/>
                <a:gd name="connsiteX12" fmla="*/ 1468438 w 1508124"/>
                <a:gd name="connsiteY12" fmla="*/ 993953 h 1073328"/>
                <a:gd name="connsiteX13" fmla="*/ 1508125 w 1508124"/>
                <a:gd name="connsiteY13" fmla="*/ 1033641 h 1073328"/>
                <a:gd name="connsiteX14" fmla="*/ 1468438 w 1508124"/>
                <a:gd name="connsiteY14" fmla="*/ 1073328 h 1073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08124" h="1073328">
                  <a:moveTo>
                    <a:pt x="159544" y="742811"/>
                  </a:moveTo>
                  <a:cubicBezTo>
                    <a:pt x="124619" y="742811"/>
                    <a:pt x="89429" y="741223"/>
                    <a:pt x="53975" y="738048"/>
                  </a:cubicBezTo>
                  <a:cubicBezTo>
                    <a:pt x="32144" y="736075"/>
                    <a:pt x="16045" y="716779"/>
                    <a:pt x="18018" y="694947"/>
                  </a:cubicBezTo>
                  <a:cubicBezTo>
                    <a:pt x="19991" y="673116"/>
                    <a:pt x="39288" y="657018"/>
                    <a:pt x="61119" y="658991"/>
                  </a:cubicBezTo>
                  <a:cubicBezTo>
                    <a:pt x="526905" y="699209"/>
                    <a:pt x="968559" y="445456"/>
                    <a:pt x="1168400" y="22800"/>
                  </a:cubicBezTo>
                  <a:cubicBezTo>
                    <a:pt x="1177737" y="2963"/>
                    <a:pt x="1201388" y="-5548"/>
                    <a:pt x="1221224" y="3790"/>
                  </a:cubicBezTo>
                  <a:cubicBezTo>
                    <a:pt x="1241061" y="13127"/>
                    <a:pt x="1249572" y="36777"/>
                    <a:pt x="1240234" y="56614"/>
                  </a:cubicBezTo>
                  <a:cubicBezTo>
                    <a:pt x="1042442" y="474582"/>
                    <a:pt x="621948" y="741580"/>
                    <a:pt x="159544" y="742811"/>
                  </a:cubicBezTo>
                  <a:close/>
                  <a:moveTo>
                    <a:pt x="1468438" y="1073328"/>
                  </a:moveTo>
                  <a:lnTo>
                    <a:pt x="39688" y="1073328"/>
                  </a:lnTo>
                  <a:cubicBezTo>
                    <a:pt x="17769" y="1073328"/>
                    <a:pt x="0" y="1055559"/>
                    <a:pt x="0" y="1033641"/>
                  </a:cubicBezTo>
                  <a:cubicBezTo>
                    <a:pt x="0" y="1011722"/>
                    <a:pt x="17769" y="993953"/>
                    <a:pt x="39688" y="993953"/>
                  </a:cubicBezTo>
                  <a:lnTo>
                    <a:pt x="1468438" y="993953"/>
                  </a:lnTo>
                  <a:cubicBezTo>
                    <a:pt x="1490356" y="993953"/>
                    <a:pt x="1508125" y="1011722"/>
                    <a:pt x="1508125" y="1033641"/>
                  </a:cubicBezTo>
                  <a:cubicBezTo>
                    <a:pt x="1508125" y="1055559"/>
                    <a:pt x="1490356" y="1073328"/>
                    <a:pt x="1468438" y="1073328"/>
                  </a:cubicBezTo>
                  <a:close/>
                </a:path>
              </a:pathLst>
            </a:custGeom>
            <a:grpFill/>
            <a:ln w="186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129" name="任意多边形: 形状 128"/>
            <p:cNvSpPr/>
            <p:nvPr/>
          </p:nvSpPr>
          <p:spPr>
            <a:xfrm>
              <a:off x="1143839" y="193118"/>
              <a:ext cx="573621" cy="590046"/>
            </a:xfrm>
            <a:custGeom>
              <a:avLst/>
              <a:gdLst>
                <a:gd name="connsiteX0" fmla="*/ 458900 w 573621"/>
                <a:gd name="connsiteY0" fmla="*/ 95806 h 590046"/>
                <a:gd name="connsiteX1" fmla="*/ 475013 w 573621"/>
                <a:gd name="connsiteY1" fmla="*/ 302022 h 590046"/>
                <a:gd name="connsiteX2" fmla="*/ 487713 w 573621"/>
                <a:gd name="connsiteY2" fmla="*/ 465059 h 590046"/>
                <a:gd name="connsiteX3" fmla="*/ 346267 w 573621"/>
                <a:gd name="connsiteY3" fmla="*/ 341789 h 590046"/>
                <a:gd name="connsiteX4" fmla="*/ 332774 w 573621"/>
                <a:gd name="connsiteY4" fmla="*/ 329883 h 590046"/>
                <a:gd name="connsiteX5" fmla="*/ 315390 w 573621"/>
                <a:gd name="connsiteY5" fmla="*/ 325121 h 590046"/>
                <a:gd name="connsiteX6" fmla="*/ 134653 w 573621"/>
                <a:gd name="connsiteY6" fmla="*/ 274717 h 590046"/>
                <a:gd name="connsiteX7" fmla="*/ 277846 w 573621"/>
                <a:gd name="connsiteY7" fmla="*/ 195739 h 590046"/>
                <a:gd name="connsiteX8" fmla="*/ 458900 w 573621"/>
                <a:gd name="connsiteY8" fmla="*/ 95806 h 590046"/>
                <a:gd name="connsiteX9" fmla="*/ 480729 w 573621"/>
                <a:gd name="connsiteY9" fmla="*/ 80 h 590046"/>
                <a:gd name="connsiteX10" fmla="*/ 457472 w 573621"/>
                <a:gd name="connsiteY10" fmla="*/ 5954 h 590046"/>
                <a:gd name="connsiteX11" fmla="*/ 239508 w 573621"/>
                <a:gd name="connsiteY11" fmla="*/ 126207 h 590046"/>
                <a:gd name="connsiteX12" fmla="*/ 21544 w 573621"/>
                <a:gd name="connsiteY12" fmla="*/ 246539 h 590046"/>
                <a:gd name="connsiteX13" fmla="*/ 6890 w 573621"/>
                <a:gd name="connsiteY13" fmla="*/ 309399 h 590046"/>
                <a:gd name="connsiteX14" fmla="*/ 27894 w 573621"/>
                <a:gd name="connsiteY14" fmla="*/ 327343 h 590046"/>
                <a:gd name="connsiteX15" fmla="*/ 294118 w 573621"/>
                <a:gd name="connsiteY15" fmla="*/ 401559 h 590046"/>
                <a:gd name="connsiteX16" fmla="*/ 502477 w 573621"/>
                <a:gd name="connsiteY16" fmla="*/ 583248 h 590046"/>
                <a:gd name="connsiteX17" fmla="*/ 528512 w 573621"/>
                <a:gd name="connsiteY17" fmla="*/ 589995 h 590046"/>
                <a:gd name="connsiteX18" fmla="*/ 573571 w 573621"/>
                <a:gd name="connsiteY18" fmla="*/ 549113 h 590046"/>
                <a:gd name="connsiteX19" fmla="*/ 573518 w 573621"/>
                <a:gd name="connsiteY19" fmla="*/ 544037 h 590046"/>
                <a:gd name="connsiteX20" fmla="*/ 554150 w 573621"/>
                <a:gd name="connsiteY20" fmla="*/ 295831 h 590046"/>
                <a:gd name="connsiteX21" fmla="*/ 534783 w 573621"/>
                <a:gd name="connsiteY21" fmla="*/ 47626 h 590046"/>
                <a:gd name="connsiteX22" fmla="*/ 480808 w 573621"/>
                <a:gd name="connsiteY22" fmla="*/ 1 h 590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73621" h="590046">
                  <a:moveTo>
                    <a:pt x="458900" y="95806"/>
                  </a:moveTo>
                  <a:lnTo>
                    <a:pt x="475013" y="302022"/>
                  </a:lnTo>
                  <a:lnTo>
                    <a:pt x="487713" y="465059"/>
                  </a:lnTo>
                  <a:lnTo>
                    <a:pt x="346267" y="341789"/>
                  </a:lnTo>
                  <a:lnTo>
                    <a:pt x="332774" y="329883"/>
                  </a:lnTo>
                  <a:lnTo>
                    <a:pt x="315390" y="325121"/>
                  </a:lnTo>
                  <a:lnTo>
                    <a:pt x="134653" y="274717"/>
                  </a:lnTo>
                  <a:lnTo>
                    <a:pt x="277846" y="195739"/>
                  </a:lnTo>
                  <a:lnTo>
                    <a:pt x="458900" y="95806"/>
                  </a:lnTo>
                  <a:moveTo>
                    <a:pt x="480729" y="80"/>
                  </a:moveTo>
                  <a:cubicBezTo>
                    <a:pt x="472604" y="35"/>
                    <a:pt x="464601" y="2057"/>
                    <a:pt x="457472" y="5954"/>
                  </a:cubicBezTo>
                  <a:lnTo>
                    <a:pt x="239508" y="126207"/>
                  </a:lnTo>
                  <a:lnTo>
                    <a:pt x="21544" y="246539"/>
                  </a:lnTo>
                  <a:cubicBezTo>
                    <a:pt x="139" y="259851"/>
                    <a:pt x="-6422" y="287994"/>
                    <a:pt x="6890" y="309399"/>
                  </a:cubicBezTo>
                  <a:cubicBezTo>
                    <a:pt x="11869" y="317407"/>
                    <a:pt x="19207" y="323675"/>
                    <a:pt x="27894" y="327343"/>
                  </a:cubicBezTo>
                  <a:lnTo>
                    <a:pt x="294118" y="401559"/>
                  </a:lnTo>
                  <a:lnTo>
                    <a:pt x="502477" y="583248"/>
                  </a:lnTo>
                  <a:cubicBezTo>
                    <a:pt x="510460" y="587626"/>
                    <a:pt x="519408" y="589945"/>
                    <a:pt x="528512" y="589995"/>
                  </a:cubicBezTo>
                  <a:cubicBezTo>
                    <a:pt x="552244" y="591148"/>
                    <a:pt x="572418" y="572845"/>
                    <a:pt x="573571" y="549113"/>
                  </a:cubicBezTo>
                  <a:cubicBezTo>
                    <a:pt x="573653" y="547421"/>
                    <a:pt x="573636" y="545726"/>
                    <a:pt x="573518" y="544037"/>
                  </a:cubicBezTo>
                  <a:lnTo>
                    <a:pt x="554150" y="295831"/>
                  </a:lnTo>
                  <a:lnTo>
                    <a:pt x="534783" y="47626"/>
                  </a:lnTo>
                  <a:cubicBezTo>
                    <a:pt x="531480" y="20355"/>
                    <a:pt x="508277" y="-118"/>
                    <a:pt x="480808" y="1"/>
                  </a:cubicBezTo>
                  <a:close/>
                </a:path>
              </a:pathLst>
            </a:custGeom>
            <a:grpFill/>
            <a:ln w="186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grpSp>
      <p:cxnSp>
        <p:nvCxnSpPr>
          <p:cNvPr id="22" name="直接连接符 21"/>
          <p:cNvCxnSpPr/>
          <p:nvPr/>
        </p:nvCxnSpPr>
        <p:spPr>
          <a:xfrm>
            <a:off x="1584758" y="192772"/>
            <a:ext cx="0" cy="4381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lemon1"/>
          <p:cNvSpPr/>
          <p:nvPr/>
        </p:nvSpPr>
        <p:spPr>
          <a:xfrm>
            <a:off x="496089" y="2345394"/>
            <a:ext cx="1604790" cy="1604790"/>
          </a:xfrm>
          <a:prstGeom prst="ellipse">
            <a:avLst/>
          </a:prstGeom>
          <a:solidFill>
            <a:schemeClr val="accent1"/>
          </a:solidFill>
          <a:ln w="12700" cap="flat">
            <a:noFill/>
            <a:prstDash val="sysDash"/>
            <a:miter lim="800000"/>
          </a:ln>
          <a:effectLst>
            <a:outerShdw blurRad="50800" dist="38100" dir="2700000" algn="tl" rotWithShape="0">
              <a:schemeClr val="accent1">
                <a:alpha val="40000"/>
              </a:scheme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914400" rtl="0" eaLnBrk="1" fontAlgn="auto" latinLnBrk="0" hangingPunct="0">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000000"/>
              </a:solidFill>
              <a:effectLst/>
              <a:uLnTx/>
              <a:uFillTx/>
              <a:cs typeface="+mn-ea"/>
              <a:sym typeface="+mn-lt"/>
            </a:endParaRPr>
          </a:p>
        </p:txBody>
      </p:sp>
      <p:sp>
        <p:nvSpPr>
          <p:cNvPr id="84" name="lemon2"/>
          <p:cNvSpPr/>
          <p:nvPr/>
        </p:nvSpPr>
        <p:spPr>
          <a:xfrm>
            <a:off x="2467531" y="4954017"/>
            <a:ext cx="1604790" cy="1604790"/>
          </a:xfrm>
          <a:prstGeom prst="ellipse">
            <a:avLst/>
          </a:prstGeom>
          <a:solidFill>
            <a:schemeClr val="accent1"/>
          </a:solidFill>
          <a:ln w="12700" cap="flat">
            <a:noFill/>
            <a:prstDash val="sysDash"/>
            <a:miter lim="800000"/>
          </a:ln>
          <a:effectLst>
            <a:outerShdw blurRad="50800" dist="38100" dir="2700000" algn="tl" rotWithShape="0">
              <a:schemeClr val="accent1">
                <a:alpha val="40000"/>
              </a:scheme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914400" rtl="0" eaLnBrk="1" fontAlgn="auto" latinLnBrk="0" hangingPunct="0">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000000"/>
              </a:solidFill>
              <a:effectLst/>
              <a:uLnTx/>
              <a:uFillTx/>
              <a:cs typeface="+mn-ea"/>
              <a:sym typeface="+mn-lt"/>
            </a:endParaRPr>
          </a:p>
        </p:txBody>
      </p:sp>
      <p:sp>
        <p:nvSpPr>
          <p:cNvPr id="83" name="lemon3"/>
          <p:cNvSpPr/>
          <p:nvPr/>
        </p:nvSpPr>
        <p:spPr>
          <a:xfrm>
            <a:off x="4444820" y="2346027"/>
            <a:ext cx="1604790" cy="1604790"/>
          </a:xfrm>
          <a:prstGeom prst="ellipse">
            <a:avLst/>
          </a:prstGeom>
          <a:solidFill>
            <a:schemeClr val="accent1"/>
          </a:solidFill>
          <a:ln w="12700" cap="flat">
            <a:noFill/>
            <a:prstDash val="sysDash"/>
            <a:miter lim="800000"/>
          </a:ln>
          <a:effectLst>
            <a:outerShdw blurRad="50800" dist="38100" dir="2700000" algn="tl" rotWithShape="0">
              <a:schemeClr val="accent1">
                <a:alpha val="40000"/>
              </a:scheme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914400" rtl="0" eaLnBrk="1" fontAlgn="auto" latinLnBrk="0" hangingPunct="0">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000000"/>
              </a:solidFill>
              <a:effectLst/>
              <a:uLnTx/>
              <a:uFillTx/>
              <a:cs typeface="+mn-ea"/>
              <a:sym typeface="+mn-lt"/>
            </a:endParaRPr>
          </a:p>
        </p:txBody>
      </p:sp>
      <p:sp>
        <p:nvSpPr>
          <p:cNvPr id="5" name="lemon4"/>
          <p:cNvSpPr/>
          <p:nvPr/>
        </p:nvSpPr>
        <p:spPr>
          <a:xfrm>
            <a:off x="2598700" y="3423467"/>
            <a:ext cx="1353539" cy="1353539"/>
          </a:xfrm>
          <a:prstGeom prst="ellipse">
            <a:avLst/>
          </a:prstGeom>
          <a:solidFill>
            <a:schemeClr val="accent2"/>
          </a:solidFill>
          <a:ln w="12700" cap="flat">
            <a:noFill/>
            <a:prstDash val="sysDash"/>
            <a:miter lim="800000"/>
          </a:ln>
          <a:effectLst>
            <a:outerShdw blurRad="50800" dist="38100" dir="2700000" algn="tl" rotWithShape="0">
              <a:schemeClr val="accent2">
                <a:alpha val="40000"/>
              </a:scheme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914400" rtl="0" eaLnBrk="1" fontAlgn="auto" latinLnBrk="0" hangingPunct="0">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000000"/>
              </a:solidFill>
              <a:effectLst/>
              <a:uLnTx/>
              <a:uFillTx/>
              <a:cs typeface="+mn-ea"/>
              <a:sym typeface="+mn-lt"/>
            </a:endParaRPr>
          </a:p>
        </p:txBody>
      </p:sp>
      <p:sp>
        <p:nvSpPr>
          <p:cNvPr id="6" name="lemon5"/>
          <p:cNvSpPr txBox="1"/>
          <p:nvPr/>
        </p:nvSpPr>
        <p:spPr>
          <a:xfrm>
            <a:off x="2664930" y="3732602"/>
            <a:ext cx="1211074" cy="782471"/>
          </a:xfrm>
          <a:prstGeom prst="rect">
            <a:avLst/>
          </a:prstGeom>
          <a:ln w="12700">
            <a:miter lim="400000"/>
          </a:ln>
        </p:spPr>
        <p:txBody>
          <a:bodyPr lIns="0" tIns="0" rIns="0" bIns="0">
            <a:noAutofit/>
          </a:bodyPr>
          <a:lstStyle>
            <a:lvl1pPr defTabSz="609600">
              <a:lnSpc>
                <a:spcPts val="2300"/>
              </a:lnSpc>
              <a:defRPr sz="2000" b="1">
                <a:latin typeface="Microsoft YaHei UI Bold"/>
                <a:ea typeface="Microsoft YaHei UI Bold"/>
                <a:cs typeface="Microsoft YaHei UI Bold"/>
                <a:sym typeface="Microsoft YaHei UI Bold"/>
              </a:defRPr>
            </a:lvl1pPr>
          </a:lstStyle>
          <a:p>
            <a:pPr marL="0" marR="0" lvl="0" indent="0" algn="ctr" defTabSz="609600" rtl="0" eaLnBrk="1" fontAlgn="auto" latinLnBrk="0" hangingPunct="0">
              <a:lnSpc>
                <a:spcPct val="150000"/>
              </a:lnSpc>
              <a:spcBef>
                <a:spcPts val="0"/>
              </a:spcBef>
              <a:spcAft>
                <a:spcPts val="0"/>
              </a:spcAft>
              <a:buClrTx/>
              <a:buSzTx/>
              <a:buFontTx/>
              <a:buNone/>
              <a:defRPr/>
            </a:pPr>
            <a:r>
              <a:rPr kumimoji="0" lang="zh-CN" altLang="en-US" sz="1600" b="0" i="0" u="none" strike="noStrike" kern="0" cap="none" spc="0" normalizeH="0" baseline="0" noProof="0" dirty="0">
                <a:ln>
                  <a:noFill/>
                </a:ln>
                <a:solidFill>
                  <a:srgbClr val="FFFFFF"/>
                </a:solidFill>
                <a:effectLst/>
                <a:uLnTx/>
                <a:uFillTx/>
                <a:latin typeface="+mn-lt"/>
                <a:ea typeface="+mn-ea"/>
                <a:cs typeface="+mn-ea"/>
                <a:sym typeface="+mn-lt"/>
              </a:rPr>
              <a:t>打造电商品牌扩展品类</a:t>
            </a:r>
            <a:endParaRPr kumimoji="0" lang="en-US" altLang="zh-CN" sz="1600" b="0" i="0" u="none" strike="noStrike" kern="0" cap="none" spc="0" normalizeH="0" baseline="0" noProof="0" dirty="0">
              <a:ln>
                <a:noFill/>
              </a:ln>
              <a:solidFill>
                <a:srgbClr val="FFFFFF"/>
              </a:solidFill>
              <a:effectLst/>
              <a:uLnTx/>
              <a:uFillTx/>
              <a:latin typeface="+mn-lt"/>
              <a:ea typeface="+mn-ea"/>
              <a:cs typeface="+mn-ea"/>
              <a:sym typeface="+mn-lt"/>
            </a:endParaRPr>
          </a:p>
        </p:txBody>
      </p:sp>
      <p:sp>
        <p:nvSpPr>
          <p:cNvPr id="7" name="lemon6"/>
          <p:cNvSpPr/>
          <p:nvPr/>
        </p:nvSpPr>
        <p:spPr>
          <a:xfrm>
            <a:off x="621715" y="2471020"/>
            <a:ext cx="1353539" cy="1353539"/>
          </a:xfrm>
          <a:prstGeom prst="ellipse">
            <a:avLst/>
          </a:prstGeom>
          <a:solidFill>
            <a:schemeClr val="bg1"/>
          </a:solidFill>
          <a:ln w="12700" cap="flat">
            <a:solidFill>
              <a:schemeClr val="accent1"/>
            </a:solidFill>
            <a:prstDash val="sysDash"/>
            <a:miter lim="800000"/>
          </a:ln>
          <a:effectLst>
            <a:outerShdw blurRad="558800" sx="102000" sy="102000" algn="ctr" rotWithShape="0">
              <a:schemeClr val="accent1">
                <a:alpha val="10000"/>
              </a:scheme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000000"/>
              </a:solidFill>
              <a:effectLst/>
              <a:uLnTx/>
              <a:uFillTx/>
              <a:cs typeface="+mn-ea"/>
              <a:sym typeface="+mn-lt"/>
            </a:endParaRPr>
          </a:p>
        </p:txBody>
      </p:sp>
      <p:sp>
        <p:nvSpPr>
          <p:cNvPr id="8" name="lemon7"/>
          <p:cNvSpPr txBox="1"/>
          <p:nvPr/>
        </p:nvSpPr>
        <p:spPr>
          <a:xfrm>
            <a:off x="658680" y="2780155"/>
            <a:ext cx="1282704" cy="388244"/>
          </a:xfrm>
          <a:prstGeom prst="rect">
            <a:avLst/>
          </a:prstGeom>
          <a:ln w="12700">
            <a:miter lim="400000"/>
          </a:ln>
        </p:spPr>
        <p:txBody>
          <a:bodyPr lIns="0" tIns="0" rIns="0" bIns="0">
            <a:noAutofit/>
          </a:bodyPr>
          <a:lstStyle>
            <a:lvl1pPr defTabSz="609600">
              <a:lnSpc>
                <a:spcPts val="2300"/>
              </a:lnSpc>
              <a:defRPr sz="2000" b="1">
                <a:latin typeface="Microsoft YaHei UI Bold"/>
                <a:ea typeface="Microsoft YaHei UI Bold"/>
                <a:cs typeface="Microsoft YaHei UI Bold"/>
                <a:sym typeface="Microsoft YaHei UI Bold"/>
              </a:defRPr>
            </a:lvl1pPr>
          </a:lstStyle>
          <a:p>
            <a:pPr marL="0" marR="0" lvl="0" indent="0" algn="ctr" defTabSz="609600" rtl="0" eaLnBrk="1" fontAlgn="auto" latinLnBrk="0" hangingPunct="0">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329D"/>
                </a:solidFill>
                <a:effectLst/>
                <a:uLnTx/>
                <a:uFillTx/>
                <a:latin typeface="+mn-lt"/>
                <a:ea typeface="+mn-ea"/>
                <a:cs typeface="+mn-ea"/>
                <a:sym typeface="+mn-lt"/>
              </a:rPr>
              <a:t>品牌形象打造</a:t>
            </a:r>
          </a:p>
        </p:txBody>
      </p:sp>
      <p:sp>
        <p:nvSpPr>
          <p:cNvPr id="9" name="lemon8"/>
          <p:cNvSpPr txBox="1"/>
          <p:nvPr/>
        </p:nvSpPr>
        <p:spPr>
          <a:xfrm>
            <a:off x="658680" y="3169069"/>
            <a:ext cx="1282704" cy="328295"/>
          </a:xfrm>
          <a:prstGeom prst="rect">
            <a:avLst/>
          </a:prstGeom>
          <a:ln w="12700">
            <a:miter lim="400000"/>
          </a:ln>
        </p:spPr>
        <p:txBody>
          <a:bodyPr wrap="square" lIns="0" tIns="0" rIns="0" bIns="0">
            <a:spAutoFit/>
          </a:bodyPr>
          <a:lstStyle/>
          <a:p>
            <a:pPr marL="0" marR="0" lvl="0" indent="0" algn="ctr" defTabSz="609600" rtl="0" eaLnBrk="1" fontAlgn="auto" latinLnBrk="0" hangingPunct="0">
              <a:lnSpc>
                <a:spcPct val="100000"/>
              </a:lnSpc>
              <a:spcBef>
                <a:spcPts val="400"/>
              </a:spcBef>
              <a:spcAft>
                <a:spcPts val="0"/>
              </a:spcAft>
              <a:buClrTx/>
              <a:buSzTx/>
              <a:buFontTx/>
              <a:buNone/>
              <a:defRPr sz="1200" spc="123">
                <a:latin typeface="Microsoft YaHei UI Regular"/>
                <a:ea typeface="Microsoft YaHei UI Regular"/>
                <a:cs typeface="Microsoft YaHei UI Regular"/>
                <a:sym typeface="Microsoft YaHei UI Regular"/>
              </a:defRPr>
            </a:pPr>
            <a:r>
              <a:rPr kumimoji="0" lang="zh-CN" altLang="en-US"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rPr>
              <a:t>品牌调性</a:t>
            </a:r>
            <a:r>
              <a:rPr kumimoji="0" lang="en-US" altLang="zh-CN"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rPr>
              <a:t>/</a:t>
            </a:r>
            <a:r>
              <a:rPr kumimoji="0" lang="zh-CN" altLang="en-US"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rPr>
              <a:t>用户画像</a:t>
            </a:r>
            <a:endParaRPr kumimoji="0" lang="en-US" altLang="zh-CN"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endParaRPr>
          </a:p>
          <a:p>
            <a:pPr marL="0" marR="0" lvl="0" indent="0" algn="ctr" defTabSz="609600" rtl="0" eaLnBrk="1" fontAlgn="auto" latinLnBrk="0" hangingPunct="0">
              <a:lnSpc>
                <a:spcPct val="100000"/>
              </a:lnSpc>
              <a:spcBef>
                <a:spcPts val="400"/>
              </a:spcBef>
              <a:spcAft>
                <a:spcPts val="0"/>
              </a:spcAft>
              <a:buClrTx/>
              <a:buSzTx/>
              <a:buFontTx/>
              <a:buNone/>
              <a:defRPr sz="1200" spc="123">
                <a:latin typeface="Microsoft YaHei UI Regular"/>
                <a:ea typeface="Microsoft YaHei UI Regular"/>
                <a:cs typeface="Microsoft YaHei UI Regular"/>
                <a:sym typeface="Microsoft YaHei UI Regular"/>
              </a:defRPr>
            </a:pPr>
            <a:r>
              <a:rPr kumimoji="0" lang="en-US" altLang="zh-CN"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rPr>
              <a:t>/</a:t>
            </a:r>
            <a:r>
              <a:rPr kumimoji="0" lang="zh-CN" altLang="en-US"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rPr>
              <a:t>品牌领域</a:t>
            </a:r>
            <a:endParaRPr kumimoji="0" lang="en-US" altLang="zh-CN"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10" name="lemon9"/>
          <p:cNvSpPr/>
          <p:nvPr/>
        </p:nvSpPr>
        <p:spPr>
          <a:xfrm>
            <a:off x="4570446" y="2471653"/>
            <a:ext cx="1353539" cy="1353539"/>
          </a:xfrm>
          <a:prstGeom prst="ellipse">
            <a:avLst/>
          </a:prstGeom>
          <a:solidFill>
            <a:schemeClr val="bg1"/>
          </a:solidFill>
          <a:ln w="12700" cap="flat">
            <a:solidFill>
              <a:schemeClr val="accent1"/>
            </a:solidFill>
            <a:prstDash val="sysDash"/>
            <a:miter lim="800000"/>
          </a:ln>
          <a:effectLst>
            <a:outerShdw blurRad="558800" sx="102000" sy="102000" algn="ctr" rotWithShape="0">
              <a:schemeClr val="accent1">
                <a:alpha val="10000"/>
              </a:scheme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000000"/>
              </a:solidFill>
              <a:effectLst/>
              <a:uLnTx/>
              <a:uFillTx/>
              <a:cs typeface="+mn-ea"/>
              <a:sym typeface="+mn-lt"/>
            </a:endParaRPr>
          </a:p>
        </p:txBody>
      </p:sp>
      <p:sp>
        <p:nvSpPr>
          <p:cNvPr id="11" name="lemon10"/>
          <p:cNvSpPr txBox="1"/>
          <p:nvPr/>
        </p:nvSpPr>
        <p:spPr>
          <a:xfrm>
            <a:off x="4765564" y="2780155"/>
            <a:ext cx="970684" cy="388244"/>
          </a:xfrm>
          <a:prstGeom prst="rect">
            <a:avLst/>
          </a:prstGeom>
          <a:ln w="12700">
            <a:miter lim="400000"/>
          </a:ln>
        </p:spPr>
        <p:txBody>
          <a:bodyPr lIns="0" tIns="0" rIns="0" bIns="0">
            <a:noAutofit/>
          </a:bodyPr>
          <a:lstStyle>
            <a:lvl1pPr defTabSz="609600">
              <a:lnSpc>
                <a:spcPts val="2300"/>
              </a:lnSpc>
              <a:defRPr sz="2000" b="1">
                <a:latin typeface="Microsoft YaHei UI Bold"/>
                <a:ea typeface="Microsoft YaHei UI Bold"/>
                <a:cs typeface="Microsoft YaHei UI Bold"/>
                <a:sym typeface="Microsoft YaHei UI Bold"/>
              </a:defRPr>
            </a:lvl1pPr>
          </a:lstStyle>
          <a:p>
            <a:pPr marL="0" marR="0" lvl="0" indent="0" algn="ctr" defTabSz="609600" rtl="0" eaLnBrk="1" fontAlgn="auto" latinLnBrk="0" hangingPunct="0">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329D"/>
                </a:solidFill>
                <a:effectLst/>
                <a:uLnTx/>
                <a:uFillTx/>
                <a:latin typeface="+mn-lt"/>
                <a:ea typeface="+mn-ea"/>
                <a:cs typeface="+mn-ea"/>
                <a:sym typeface="+mn-lt"/>
              </a:rPr>
              <a:t>品牌核心观念</a:t>
            </a:r>
          </a:p>
        </p:txBody>
      </p:sp>
      <p:sp>
        <p:nvSpPr>
          <p:cNvPr id="12" name="lemon11"/>
          <p:cNvSpPr txBox="1"/>
          <p:nvPr/>
        </p:nvSpPr>
        <p:spPr>
          <a:xfrm>
            <a:off x="4609554" y="3169069"/>
            <a:ext cx="1282704" cy="328295"/>
          </a:xfrm>
          <a:prstGeom prst="rect">
            <a:avLst/>
          </a:prstGeom>
          <a:ln w="12700">
            <a:miter lim="400000"/>
          </a:ln>
        </p:spPr>
        <p:txBody>
          <a:bodyPr wrap="square" lIns="0" tIns="0" rIns="0" bIns="0">
            <a:spAutoFit/>
          </a:bodyPr>
          <a:lstStyle/>
          <a:p>
            <a:pPr marL="0" marR="0" lvl="0" indent="0" algn="ctr" defTabSz="609600" rtl="0" eaLnBrk="1" fontAlgn="auto" latinLnBrk="0" hangingPunct="0">
              <a:lnSpc>
                <a:spcPct val="100000"/>
              </a:lnSpc>
              <a:spcBef>
                <a:spcPts val="400"/>
              </a:spcBef>
              <a:spcAft>
                <a:spcPts val="0"/>
              </a:spcAft>
              <a:buClrTx/>
              <a:buSzTx/>
              <a:buFontTx/>
              <a:buNone/>
              <a:defRPr sz="1200" spc="123">
                <a:latin typeface="Microsoft YaHei UI Regular"/>
                <a:ea typeface="Microsoft YaHei UI Regular"/>
                <a:cs typeface="Microsoft YaHei UI Regular"/>
                <a:sym typeface="Microsoft YaHei UI Regular"/>
              </a:defRPr>
            </a:pPr>
            <a:r>
              <a:rPr kumimoji="0" lang="zh-CN" altLang="en-US"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rPr>
              <a:t>品牌价值观</a:t>
            </a:r>
            <a:r>
              <a:rPr kumimoji="0" lang="en-US" altLang="zh-CN"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rPr>
              <a:t>/</a:t>
            </a:r>
            <a:r>
              <a:rPr kumimoji="0" lang="zh-CN" altLang="en-US"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rPr>
              <a:t>品牌</a:t>
            </a:r>
            <a:endParaRPr kumimoji="0" lang="en-US" altLang="zh-CN"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endParaRPr>
          </a:p>
          <a:p>
            <a:pPr marL="0" marR="0" lvl="0" indent="0" algn="ctr" defTabSz="609600" rtl="0" eaLnBrk="1" fontAlgn="auto" latinLnBrk="0" hangingPunct="0">
              <a:lnSpc>
                <a:spcPct val="100000"/>
              </a:lnSpc>
              <a:spcBef>
                <a:spcPts val="400"/>
              </a:spcBef>
              <a:spcAft>
                <a:spcPts val="0"/>
              </a:spcAft>
              <a:buClrTx/>
              <a:buSzTx/>
              <a:buFontTx/>
              <a:buNone/>
              <a:defRPr sz="1200" spc="123">
                <a:latin typeface="Microsoft YaHei UI Regular"/>
                <a:ea typeface="Microsoft YaHei UI Regular"/>
                <a:cs typeface="Microsoft YaHei UI Regular"/>
                <a:sym typeface="Microsoft YaHei UI Regular"/>
              </a:defRPr>
            </a:pPr>
            <a:r>
              <a:rPr kumimoji="0" lang="zh-CN" altLang="en-US"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rPr>
              <a:t>理念</a:t>
            </a:r>
            <a:endParaRPr kumimoji="0" lang="en-US" altLang="zh-CN"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13" name="lemon12"/>
          <p:cNvSpPr/>
          <p:nvPr/>
        </p:nvSpPr>
        <p:spPr>
          <a:xfrm>
            <a:off x="2593157" y="5079643"/>
            <a:ext cx="1353539" cy="1353539"/>
          </a:xfrm>
          <a:prstGeom prst="ellipse">
            <a:avLst/>
          </a:prstGeom>
          <a:solidFill>
            <a:schemeClr val="bg1"/>
          </a:solidFill>
          <a:ln w="12700" cap="flat">
            <a:solidFill>
              <a:schemeClr val="accent1"/>
            </a:solidFill>
            <a:prstDash val="sysDash"/>
            <a:miter lim="800000"/>
          </a:ln>
          <a:effectLst>
            <a:outerShdw blurRad="558800" sx="102000" sy="102000" algn="ctr" rotWithShape="0">
              <a:schemeClr val="accent1">
                <a:alpha val="10000"/>
              </a:scheme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000000"/>
              </a:solidFill>
              <a:effectLst/>
              <a:uLnTx/>
              <a:uFillTx/>
              <a:cs typeface="+mn-ea"/>
              <a:sym typeface="+mn-lt"/>
            </a:endParaRPr>
          </a:p>
        </p:txBody>
      </p:sp>
      <p:sp>
        <p:nvSpPr>
          <p:cNvPr id="14" name="lemon13"/>
          <p:cNvSpPr txBox="1"/>
          <p:nvPr/>
        </p:nvSpPr>
        <p:spPr>
          <a:xfrm>
            <a:off x="2790127" y="5250261"/>
            <a:ext cx="970684" cy="528261"/>
          </a:xfrm>
          <a:prstGeom prst="rect">
            <a:avLst/>
          </a:prstGeom>
          <a:ln w="12700">
            <a:miter lim="400000"/>
          </a:ln>
        </p:spPr>
        <p:txBody>
          <a:bodyPr lIns="0" tIns="0" rIns="0" bIns="0">
            <a:noAutofit/>
          </a:bodyPr>
          <a:lstStyle>
            <a:lvl1pPr defTabSz="609600">
              <a:lnSpc>
                <a:spcPts val="2300"/>
              </a:lnSpc>
              <a:defRPr sz="2000" b="1">
                <a:latin typeface="Microsoft YaHei UI Bold"/>
                <a:ea typeface="Microsoft YaHei UI Bold"/>
                <a:cs typeface="Microsoft YaHei UI Bold"/>
                <a:sym typeface="Microsoft YaHei UI Bold"/>
              </a:defRPr>
            </a:lvl1pPr>
          </a:lstStyle>
          <a:p>
            <a:pPr marL="0" marR="0" lvl="0" indent="0" algn="ctr" defTabSz="609600" rtl="0" eaLnBrk="1" fontAlgn="auto" latinLnBrk="0" hangingPunct="0">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329D"/>
                </a:solidFill>
                <a:effectLst/>
                <a:uLnTx/>
                <a:uFillTx/>
                <a:latin typeface="+mn-lt"/>
                <a:ea typeface="+mn-ea"/>
                <a:cs typeface="+mn-ea"/>
                <a:sym typeface="+mn-lt"/>
              </a:rPr>
              <a:t>品牌价值</a:t>
            </a:r>
            <a:endParaRPr kumimoji="0" lang="en-US" altLang="zh-CN" sz="1200" b="0" i="0" u="none" strike="noStrike" kern="0" cap="none" spc="0" normalizeH="0" baseline="0" noProof="0" dirty="0">
              <a:ln>
                <a:noFill/>
              </a:ln>
              <a:solidFill>
                <a:srgbClr val="00329D"/>
              </a:solidFill>
              <a:effectLst/>
              <a:uLnTx/>
              <a:uFillTx/>
              <a:latin typeface="+mn-lt"/>
              <a:ea typeface="+mn-ea"/>
              <a:cs typeface="+mn-ea"/>
              <a:sym typeface="+mn-lt"/>
            </a:endParaRPr>
          </a:p>
          <a:p>
            <a:pPr marL="0" marR="0" lvl="0" indent="0" algn="ctr" defTabSz="609600" rtl="0" eaLnBrk="1" fontAlgn="auto" latinLnBrk="0" hangingPunct="0">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329D"/>
                </a:solidFill>
                <a:effectLst/>
                <a:uLnTx/>
                <a:uFillTx/>
                <a:latin typeface="+mn-lt"/>
                <a:ea typeface="+mn-ea"/>
                <a:cs typeface="+mn-ea"/>
                <a:sym typeface="+mn-lt"/>
              </a:rPr>
              <a:t>持续提升</a:t>
            </a:r>
          </a:p>
        </p:txBody>
      </p:sp>
      <p:sp>
        <p:nvSpPr>
          <p:cNvPr id="15" name="lemon14"/>
          <p:cNvSpPr txBox="1"/>
          <p:nvPr/>
        </p:nvSpPr>
        <p:spPr>
          <a:xfrm>
            <a:off x="2634117" y="5849561"/>
            <a:ext cx="1282704" cy="328295"/>
          </a:xfrm>
          <a:prstGeom prst="rect">
            <a:avLst/>
          </a:prstGeom>
          <a:ln w="12700">
            <a:miter lim="400000"/>
          </a:ln>
        </p:spPr>
        <p:txBody>
          <a:bodyPr wrap="square" lIns="0" tIns="0" rIns="0" bIns="0">
            <a:spAutoFit/>
          </a:bodyPr>
          <a:lstStyle/>
          <a:p>
            <a:pPr marL="0" marR="0" lvl="0" indent="0" algn="ctr" defTabSz="609600" rtl="0" eaLnBrk="1" fontAlgn="auto" latinLnBrk="0" hangingPunct="0">
              <a:lnSpc>
                <a:spcPct val="100000"/>
              </a:lnSpc>
              <a:spcBef>
                <a:spcPts val="400"/>
              </a:spcBef>
              <a:spcAft>
                <a:spcPts val="0"/>
              </a:spcAft>
              <a:buClrTx/>
              <a:buSzTx/>
              <a:buFontTx/>
              <a:buNone/>
              <a:defRPr sz="1200" spc="123">
                <a:latin typeface="Microsoft YaHei UI Regular"/>
                <a:ea typeface="Microsoft YaHei UI Regular"/>
                <a:cs typeface="Microsoft YaHei UI Regular"/>
                <a:sym typeface="Microsoft YaHei UI Regular"/>
              </a:defRPr>
            </a:pPr>
            <a:r>
              <a:rPr kumimoji="0" lang="zh-CN" altLang="en-US"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rPr>
              <a:t>商品定位</a:t>
            </a:r>
            <a:r>
              <a:rPr kumimoji="0" lang="en-US" altLang="zh-CN"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rPr>
              <a:t>/</a:t>
            </a:r>
            <a:r>
              <a:rPr kumimoji="0" lang="zh-CN" altLang="en-US"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rPr>
              <a:t>商品销售</a:t>
            </a:r>
            <a:endParaRPr kumimoji="0" lang="en-US" altLang="zh-CN"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endParaRPr>
          </a:p>
          <a:p>
            <a:pPr marL="0" marR="0" lvl="0" indent="0" algn="ctr" defTabSz="609600" rtl="0" eaLnBrk="1" fontAlgn="auto" latinLnBrk="0" hangingPunct="0">
              <a:lnSpc>
                <a:spcPct val="100000"/>
              </a:lnSpc>
              <a:spcBef>
                <a:spcPts val="400"/>
              </a:spcBef>
              <a:spcAft>
                <a:spcPts val="0"/>
              </a:spcAft>
              <a:buClrTx/>
              <a:buSzTx/>
              <a:buFontTx/>
              <a:buNone/>
              <a:defRPr sz="1200" spc="123">
                <a:latin typeface="Microsoft YaHei UI Regular"/>
                <a:ea typeface="Microsoft YaHei UI Regular"/>
                <a:cs typeface="Microsoft YaHei UI Regular"/>
                <a:sym typeface="Microsoft YaHei UI Regular"/>
              </a:defRPr>
            </a:pPr>
            <a:r>
              <a:rPr kumimoji="0" lang="zh-CN" altLang="en-US"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rPr>
              <a:t>目标</a:t>
            </a:r>
            <a:endParaRPr kumimoji="0" lang="en-US" altLang="zh-CN" sz="900" b="0" i="0" u="none" strike="noStrike" kern="0" cap="none" spc="123" normalizeH="0" baseline="0" noProof="0" dirty="0">
              <a:ln>
                <a:noFill/>
              </a:ln>
              <a:solidFill>
                <a:srgbClr val="00329D"/>
              </a:solidFill>
              <a:effectLst/>
              <a:uLnTx/>
              <a:uFillTx/>
              <a:latin typeface="思源黑体 CN Normal" panose="020B0400000000000000" pitchFamily="34" charset="-122"/>
              <a:ea typeface="思源黑体 CN Normal" panose="020B0400000000000000" pitchFamily="34" charset="-122"/>
              <a:cs typeface="+mn-ea"/>
              <a:sym typeface="+mn-lt"/>
            </a:endParaRPr>
          </a:p>
        </p:txBody>
      </p:sp>
      <p:cxnSp>
        <p:nvCxnSpPr>
          <p:cNvPr id="16" name="lemon15"/>
          <p:cNvCxnSpPr>
            <a:stCxn id="7" idx="6"/>
            <a:endCxn id="10" idx="2"/>
          </p:cNvCxnSpPr>
          <p:nvPr/>
        </p:nvCxnSpPr>
        <p:spPr>
          <a:xfrm>
            <a:off x="1975254" y="3147790"/>
            <a:ext cx="2595192" cy="633"/>
          </a:xfrm>
          <a:prstGeom prst="straightConnector1">
            <a:avLst/>
          </a:prstGeom>
          <a:noFill/>
          <a:ln w="12700" cap="flat">
            <a:solidFill>
              <a:schemeClr val="accent1"/>
            </a:solidFill>
            <a:prstDash val="sysDash"/>
            <a:miter lim="800000"/>
            <a:tailEnd type="triangle"/>
          </a:ln>
          <a:effectLst/>
          <a:sp3d/>
        </p:spPr>
        <p:style>
          <a:lnRef idx="0">
            <a:scrgbClr r="0" g="0" b="0"/>
          </a:lnRef>
          <a:fillRef idx="0">
            <a:scrgbClr r="0" g="0" b="0"/>
          </a:fillRef>
          <a:effectRef idx="0">
            <a:scrgbClr r="0" g="0" b="0"/>
          </a:effectRef>
          <a:fontRef idx="none"/>
        </p:style>
      </p:cxnSp>
      <p:cxnSp>
        <p:nvCxnSpPr>
          <p:cNvPr id="17" name="lemon16"/>
          <p:cNvCxnSpPr>
            <a:stCxn id="7" idx="4"/>
            <a:endCxn id="13" idx="2"/>
          </p:cNvCxnSpPr>
          <p:nvPr/>
        </p:nvCxnSpPr>
        <p:spPr>
          <a:xfrm>
            <a:off x="1298485" y="3824559"/>
            <a:ext cx="1294672" cy="1931854"/>
          </a:xfrm>
          <a:prstGeom prst="straightConnector1">
            <a:avLst/>
          </a:prstGeom>
          <a:noFill/>
          <a:ln w="12700" cap="flat">
            <a:solidFill>
              <a:schemeClr val="accent1"/>
            </a:solidFill>
            <a:prstDash val="sysDash"/>
            <a:miter lim="800000"/>
            <a:tailEnd type="triangle"/>
          </a:ln>
          <a:effectLst/>
          <a:sp3d/>
        </p:spPr>
        <p:style>
          <a:lnRef idx="0">
            <a:scrgbClr r="0" g="0" b="0"/>
          </a:lnRef>
          <a:fillRef idx="0">
            <a:scrgbClr r="0" g="0" b="0"/>
          </a:fillRef>
          <a:effectRef idx="0">
            <a:scrgbClr r="0" g="0" b="0"/>
          </a:effectRef>
          <a:fontRef idx="none"/>
        </p:style>
      </p:cxnSp>
      <p:cxnSp>
        <p:nvCxnSpPr>
          <p:cNvPr id="18" name="lemon17"/>
          <p:cNvCxnSpPr>
            <a:stCxn id="10" idx="4"/>
            <a:endCxn id="13" idx="6"/>
          </p:cNvCxnSpPr>
          <p:nvPr/>
        </p:nvCxnSpPr>
        <p:spPr>
          <a:xfrm flipH="1">
            <a:off x="3946696" y="3825192"/>
            <a:ext cx="1300520" cy="1931221"/>
          </a:xfrm>
          <a:prstGeom prst="straightConnector1">
            <a:avLst/>
          </a:prstGeom>
          <a:noFill/>
          <a:ln w="12700" cap="flat">
            <a:solidFill>
              <a:schemeClr val="accent1"/>
            </a:solidFill>
            <a:prstDash val="sysDash"/>
            <a:miter lim="800000"/>
            <a:tailEnd type="triangle"/>
          </a:ln>
          <a:effectLst/>
          <a:sp3d/>
        </p:spPr>
        <p:style>
          <a:lnRef idx="0">
            <a:scrgbClr r="0" g="0" b="0"/>
          </a:lnRef>
          <a:fillRef idx="0">
            <a:scrgbClr r="0" g="0" b="0"/>
          </a:fillRef>
          <a:effectRef idx="0">
            <a:scrgbClr r="0" g="0" b="0"/>
          </a:effectRef>
          <a:fontRef idx="none"/>
        </p:style>
      </p:cxnSp>
      <p:sp>
        <p:nvSpPr>
          <p:cNvPr id="19" name="lemon18"/>
          <p:cNvSpPr txBox="1"/>
          <p:nvPr/>
        </p:nvSpPr>
        <p:spPr>
          <a:xfrm>
            <a:off x="2298997" y="2896015"/>
            <a:ext cx="1952945" cy="168701"/>
          </a:xfrm>
          <a:prstGeom prst="rect">
            <a:avLst/>
          </a:prstGeom>
          <a:ln w="12700">
            <a:miter lim="400000"/>
          </a:ln>
        </p:spPr>
        <p:txBody>
          <a:bodyPr wrap="square" lIns="0" tIns="0" rIns="0" bIns="0">
            <a:spAutoFit/>
          </a:bodyPr>
          <a:lstStyle/>
          <a:p>
            <a:pPr marL="0" marR="0" lvl="0" indent="0" algn="ctr" defTabSz="609600" rtl="0" eaLnBrk="1" fontAlgn="auto" latinLnBrk="0" hangingPunct="0">
              <a:lnSpc>
                <a:spcPct val="130000"/>
              </a:lnSpc>
              <a:spcBef>
                <a:spcPts val="400"/>
              </a:spcBef>
              <a:spcAft>
                <a:spcPts val="0"/>
              </a:spcAft>
              <a:buClrTx/>
              <a:buSzTx/>
              <a:buFontTx/>
              <a:buNone/>
              <a:defRPr sz="1200" spc="123">
                <a:latin typeface="Microsoft YaHei UI Regular"/>
                <a:ea typeface="Microsoft YaHei UI Regular"/>
                <a:cs typeface="Microsoft YaHei UI Regular"/>
                <a:sym typeface="Microsoft YaHei UI Regular"/>
              </a:defRPr>
            </a:pPr>
            <a:r>
              <a:rPr kumimoji="0" lang="zh-CN" altLang="en-US"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rPr>
              <a:t>形象和价值理念高度统一</a:t>
            </a:r>
            <a:endParaRPr kumimoji="0" lang="en-US" altLang="zh-CN"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20" name="lemon19"/>
          <p:cNvSpPr txBox="1"/>
          <p:nvPr/>
        </p:nvSpPr>
        <p:spPr>
          <a:xfrm rot="3377168">
            <a:off x="825470" y="4752420"/>
            <a:ext cx="1952945" cy="168701"/>
          </a:xfrm>
          <a:prstGeom prst="rect">
            <a:avLst/>
          </a:prstGeom>
          <a:ln w="12700">
            <a:miter lim="400000"/>
          </a:ln>
        </p:spPr>
        <p:txBody>
          <a:bodyPr wrap="square" lIns="0" tIns="0" rIns="0" bIns="0">
            <a:spAutoFit/>
          </a:bodyPr>
          <a:lstStyle/>
          <a:p>
            <a:pPr marL="0" marR="0" lvl="0" indent="0" algn="ctr" defTabSz="609600" rtl="0" eaLnBrk="1" fontAlgn="auto" latinLnBrk="0" hangingPunct="0">
              <a:lnSpc>
                <a:spcPct val="130000"/>
              </a:lnSpc>
              <a:spcBef>
                <a:spcPts val="400"/>
              </a:spcBef>
              <a:spcAft>
                <a:spcPts val="0"/>
              </a:spcAft>
              <a:buClrTx/>
              <a:buSzTx/>
              <a:buFontTx/>
              <a:buNone/>
              <a:defRPr sz="1200" spc="123">
                <a:latin typeface="Microsoft YaHei UI Regular"/>
                <a:ea typeface="Microsoft YaHei UI Regular"/>
                <a:cs typeface="Microsoft YaHei UI Regular"/>
                <a:sym typeface="Microsoft YaHei UI Regular"/>
              </a:defRPr>
            </a:pPr>
            <a:r>
              <a:rPr kumimoji="0" lang="zh-CN" altLang="en-US"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rPr>
              <a:t>持续优化品牌形象，提升价值</a:t>
            </a:r>
            <a:endParaRPr kumimoji="0" lang="en-US" altLang="zh-CN"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21" name="lemon20"/>
          <p:cNvSpPr txBox="1"/>
          <p:nvPr/>
        </p:nvSpPr>
        <p:spPr>
          <a:xfrm rot="18222832" flipH="1">
            <a:off x="3764185" y="4731398"/>
            <a:ext cx="1952945" cy="168701"/>
          </a:xfrm>
          <a:prstGeom prst="rect">
            <a:avLst/>
          </a:prstGeom>
          <a:ln w="12700">
            <a:miter lim="400000"/>
          </a:ln>
        </p:spPr>
        <p:txBody>
          <a:bodyPr wrap="square" lIns="0" tIns="0" rIns="0" bIns="0">
            <a:spAutoFit/>
          </a:bodyPr>
          <a:lstStyle/>
          <a:p>
            <a:pPr marL="0" marR="0" lvl="0" indent="0" algn="ctr" defTabSz="609600" rtl="0" eaLnBrk="1" fontAlgn="auto" latinLnBrk="0" hangingPunct="0">
              <a:lnSpc>
                <a:spcPct val="130000"/>
              </a:lnSpc>
              <a:spcBef>
                <a:spcPts val="400"/>
              </a:spcBef>
              <a:spcAft>
                <a:spcPts val="0"/>
              </a:spcAft>
              <a:buClrTx/>
              <a:buSzTx/>
              <a:buFontTx/>
              <a:buNone/>
              <a:defRPr sz="1200" spc="123">
                <a:latin typeface="Microsoft YaHei UI Regular"/>
                <a:ea typeface="Microsoft YaHei UI Regular"/>
                <a:cs typeface="Microsoft YaHei UI Regular"/>
                <a:sym typeface="Microsoft YaHei UI Regular"/>
              </a:defRPr>
            </a:pPr>
            <a:r>
              <a:rPr kumimoji="0" lang="zh-CN" altLang="en-US"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rPr>
              <a:t>核心观念、品牌价值协同提升</a:t>
            </a:r>
            <a:endParaRPr kumimoji="0" lang="en-US" altLang="zh-CN"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22" name="lemon21"/>
          <p:cNvSpPr txBox="1"/>
          <p:nvPr/>
        </p:nvSpPr>
        <p:spPr>
          <a:xfrm>
            <a:off x="873618" y="6047465"/>
            <a:ext cx="1415548" cy="168701"/>
          </a:xfrm>
          <a:prstGeom prst="rect">
            <a:avLst/>
          </a:prstGeom>
          <a:ln w="12700">
            <a:miter lim="400000"/>
          </a:ln>
        </p:spPr>
        <p:txBody>
          <a:bodyPr wrap="square" lIns="0" tIns="0" rIns="0" bIns="0">
            <a:spAutoFit/>
          </a:bodyPr>
          <a:lstStyle/>
          <a:p>
            <a:pPr marL="0" marR="0" lvl="0" indent="0" algn="l" defTabSz="609600" rtl="0" eaLnBrk="1" fontAlgn="auto" latinLnBrk="0" hangingPunct="0">
              <a:lnSpc>
                <a:spcPct val="130000"/>
              </a:lnSpc>
              <a:spcBef>
                <a:spcPts val="400"/>
              </a:spcBef>
              <a:spcAft>
                <a:spcPts val="0"/>
              </a:spcAft>
              <a:buClrTx/>
              <a:buSzTx/>
              <a:buFontTx/>
              <a:buNone/>
              <a:defRPr sz="1200" spc="123">
                <a:latin typeface="Microsoft YaHei UI Regular"/>
                <a:ea typeface="Microsoft YaHei UI Regular"/>
                <a:cs typeface="Microsoft YaHei UI Regular"/>
                <a:sym typeface="Microsoft YaHei UI Regular"/>
              </a:defRPr>
            </a:pPr>
            <a:r>
              <a:rPr kumimoji="0" lang="zh-CN" altLang="en-US"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rPr>
              <a:t>价值 </a:t>
            </a:r>
            <a:r>
              <a:rPr kumimoji="0" lang="zh-CN" altLang="en-US" sz="7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rPr>
              <a:t>电商品牌价值重点提升</a:t>
            </a:r>
            <a:endParaRPr kumimoji="0" lang="zh-CN" altLang="en-US"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23" name="lemon22"/>
          <p:cNvSpPr/>
          <p:nvPr/>
        </p:nvSpPr>
        <p:spPr>
          <a:xfrm>
            <a:off x="750875" y="5974827"/>
            <a:ext cx="1584584" cy="301656"/>
          </a:xfrm>
          <a:prstGeom prst="rect">
            <a:avLst/>
          </a:prstGeom>
          <a:noFill/>
          <a:ln w="12700" cap="flat">
            <a:solidFill>
              <a:schemeClr val="tx1"/>
            </a:solidFill>
            <a:prstDash val="sysDash"/>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914400" rtl="0" eaLnBrk="1" fontAlgn="auto" latinLnBrk="0" hangingPunct="0">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000000"/>
              </a:solidFill>
              <a:effectLst/>
              <a:uLnTx/>
              <a:uFillTx/>
              <a:cs typeface="+mn-ea"/>
              <a:sym typeface="+mn-lt"/>
            </a:endParaRPr>
          </a:p>
        </p:txBody>
      </p:sp>
      <p:sp>
        <p:nvSpPr>
          <p:cNvPr id="24" name="lemon23"/>
          <p:cNvSpPr txBox="1"/>
          <p:nvPr/>
        </p:nvSpPr>
        <p:spPr>
          <a:xfrm>
            <a:off x="4340863" y="6047465"/>
            <a:ext cx="1415548" cy="168701"/>
          </a:xfrm>
          <a:prstGeom prst="rect">
            <a:avLst/>
          </a:prstGeom>
          <a:ln w="12700">
            <a:miter lim="400000"/>
          </a:ln>
        </p:spPr>
        <p:txBody>
          <a:bodyPr wrap="square" lIns="0" tIns="0" rIns="0" bIns="0">
            <a:spAutoFit/>
          </a:bodyPr>
          <a:lstStyle/>
          <a:p>
            <a:pPr marL="0" marR="0" lvl="0" indent="0" algn="l" defTabSz="609600" rtl="0" eaLnBrk="1" fontAlgn="auto" latinLnBrk="0" hangingPunct="0">
              <a:lnSpc>
                <a:spcPct val="130000"/>
              </a:lnSpc>
              <a:spcBef>
                <a:spcPts val="400"/>
              </a:spcBef>
              <a:spcAft>
                <a:spcPts val="0"/>
              </a:spcAft>
              <a:buClrTx/>
              <a:buSzTx/>
              <a:buFontTx/>
              <a:buNone/>
              <a:defRPr sz="1200" spc="123">
                <a:latin typeface="Microsoft YaHei UI Regular"/>
                <a:ea typeface="Microsoft YaHei UI Regular"/>
                <a:cs typeface="Microsoft YaHei UI Regular"/>
                <a:sym typeface="Microsoft YaHei UI Regular"/>
              </a:defRPr>
            </a:pPr>
            <a:r>
              <a:rPr kumimoji="0" lang="zh-CN" altLang="en-US"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rPr>
              <a:t>定位 </a:t>
            </a:r>
            <a:r>
              <a:rPr kumimoji="0" lang="zh-CN" altLang="en-US" sz="7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rPr>
              <a:t>价值直接影响产品定位</a:t>
            </a:r>
            <a:endParaRPr kumimoji="0" lang="zh-CN" altLang="en-US"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25" name="lemon24"/>
          <p:cNvSpPr/>
          <p:nvPr/>
        </p:nvSpPr>
        <p:spPr>
          <a:xfrm>
            <a:off x="4218121" y="5974827"/>
            <a:ext cx="1584584" cy="301656"/>
          </a:xfrm>
          <a:prstGeom prst="rect">
            <a:avLst/>
          </a:prstGeom>
          <a:noFill/>
          <a:ln w="12700" cap="flat">
            <a:solidFill>
              <a:schemeClr val="tx1"/>
            </a:solidFill>
            <a:prstDash val="sysDash"/>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914400" rtl="0" eaLnBrk="1" fontAlgn="auto" latinLnBrk="0" hangingPunct="0">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000000"/>
              </a:solidFill>
              <a:effectLst/>
              <a:uLnTx/>
              <a:uFillTx/>
              <a:cs typeface="+mn-ea"/>
              <a:sym typeface="+mn-lt"/>
            </a:endParaRPr>
          </a:p>
        </p:txBody>
      </p:sp>
      <p:cxnSp>
        <p:nvCxnSpPr>
          <p:cNvPr id="29" name="lemon25"/>
          <p:cNvCxnSpPr>
            <a:endCxn id="23" idx="3"/>
          </p:cNvCxnSpPr>
          <p:nvPr/>
        </p:nvCxnSpPr>
        <p:spPr>
          <a:xfrm flipH="1">
            <a:off x="2335459" y="6120551"/>
            <a:ext cx="367017" cy="5105"/>
          </a:xfrm>
          <a:prstGeom prst="straightConnector1">
            <a:avLst/>
          </a:prstGeom>
          <a:noFill/>
          <a:ln w="12700" cap="flat">
            <a:solidFill>
              <a:schemeClr val="accent1"/>
            </a:solidFill>
            <a:prstDash val="sysDash"/>
            <a:miter lim="800000"/>
            <a:tailEnd type="triangle"/>
          </a:ln>
          <a:effectLst/>
          <a:sp3d/>
        </p:spPr>
        <p:style>
          <a:lnRef idx="0">
            <a:scrgbClr r="0" g="0" b="0"/>
          </a:lnRef>
          <a:fillRef idx="0">
            <a:scrgbClr r="0" g="0" b="0"/>
          </a:fillRef>
          <a:effectRef idx="0">
            <a:scrgbClr r="0" g="0" b="0"/>
          </a:effectRef>
          <a:fontRef idx="none"/>
        </p:style>
      </p:cxnSp>
      <p:cxnSp>
        <p:nvCxnSpPr>
          <p:cNvPr id="30" name="lemon26"/>
          <p:cNvCxnSpPr>
            <a:endCxn id="25" idx="1"/>
          </p:cNvCxnSpPr>
          <p:nvPr/>
        </p:nvCxnSpPr>
        <p:spPr>
          <a:xfrm flipV="1">
            <a:off x="3832329" y="6125655"/>
            <a:ext cx="385792" cy="12042"/>
          </a:xfrm>
          <a:prstGeom prst="straightConnector1">
            <a:avLst/>
          </a:prstGeom>
          <a:noFill/>
          <a:ln w="12700" cap="flat">
            <a:solidFill>
              <a:schemeClr val="accent1"/>
            </a:solidFill>
            <a:prstDash val="sysDash"/>
            <a:miter lim="800000"/>
            <a:tailEnd type="triangle"/>
          </a:ln>
          <a:effectLst/>
          <a:sp3d/>
        </p:spPr>
        <p:style>
          <a:lnRef idx="0">
            <a:scrgbClr r="0" g="0" b="0"/>
          </a:lnRef>
          <a:fillRef idx="0">
            <a:scrgbClr r="0" g="0" b="0"/>
          </a:fillRef>
          <a:effectRef idx="0">
            <a:scrgbClr r="0" g="0" b="0"/>
          </a:effectRef>
          <a:fontRef idx="none"/>
        </p:style>
      </p:cxnSp>
      <p:cxnSp>
        <p:nvCxnSpPr>
          <p:cNvPr id="31" name="lemon27"/>
          <p:cNvCxnSpPr/>
          <p:nvPr/>
        </p:nvCxnSpPr>
        <p:spPr>
          <a:xfrm flipH="1" flipV="1">
            <a:off x="1897036" y="3503089"/>
            <a:ext cx="737081" cy="372892"/>
          </a:xfrm>
          <a:prstGeom prst="straightConnector1">
            <a:avLst/>
          </a:prstGeom>
          <a:noFill/>
          <a:ln w="127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cxnSp>
        <p:nvCxnSpPr>
          <p:cNvPr id="32" name="lemon28"/>
          <p:cNvCxnSpPr>
            <a:stCxn id="5" idx="4"/>
            <a:endCxn id="13" idx="0"/>
          </p:cNvCxnSpPr>
          <p:nvPr/>
        </p:nvCxnSpPr>
        <p:spPr>
          <a:xfrm flipH="1">
            <a:off x="3269927" y="4777006"/>
            <a:ext cx="5543" cy="302637"/>
          </a:xfrm>
          <a:prstGeom prst="straightConnector1">
            <a:avLst/>
          </a:prstGeom>
          <a:noFill/>
          <a:ln w="127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cxnSp>
        <p:nvCxnSpPr>
          <p:cNvPr id="33" name="lemon29"/>
          <p:cNvCxnSpPr/>
          <p:nvPr/>
        </p:nvCxnSpPr>
        <p:spPr>
          <a:xfrm flipV="1">
            <a:off x="3916822" y="3503089"/>
            <a:ext cx="765695" cy="321470"/>
          </a:xfrm>
          <a:prstGeom prst="straightConnector1">
            <a:avLst/>
          </a:prstGeom>
          <a:noFill/>
          <a:ln w="127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sp>
        <p:nvSpPr>
          <p:cNvPr id="35" name="lemon30"/>
          <p:cNvSpPr/>
          <p:nvPr/>
        </p:nvSpPr>
        <p:spPr>
          <a:xfrm>
            <a:off x="484482" y="975413"/>
            <a:ext cx="5368627" cy="1128432"/>
          </a:xfrm>
          <a:prstGeom prst="roundRect">
            <a:avLst>
              <a:gd name="adj" fmla="val 2511"/>
            </a:avLst>
          </a:prstGeom>
          <a:solidFill>
            <a:schemeClr val="accent1">
              <a:lumMod val="20000"/>
              <a:lumOff val="80000"/>
              <a:alpha val="15079"/>
            </a:schemeClr>
          </a:solidFill>
          <a:ln w="12700">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36" name="lemon31"/>
          <p:cNvSpPr/>
          <p:nvPr/>
        </p:nvSpPr>
        <p:spPr>
          <a:xfrm>
            <a:off x="2956416" y="1080559"/>
            <a:ext cx="2800614" cy="926391"/>
          </a:xfrm>
          <a:prstGeom prst="rect">
            <a:avLst/>
          </a:prstGeom>
          <a:solidFill>
            <a:schemeClr val="bg1"/>
          </a:solidFill>
          <a:ln>
            <a:noFill/>
          </a:ln>
          <a:effectLst>
            <a:outerShdw blurRad="3810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39" name="lemon32"/>
          <p:cNvSpPr txBox="1"/>
          <p:nvPr/>
        </p:nvSpPr>
        <p:spPr>
          <a:xfrm>
            <a:off x="2999439" y="1256718"/>
            <a:ext cx="1640193"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329D"/>
                </a:solidFill>
                <a:effectLst/>
                <a:uLnTx/>
                <a:uFillTx/>
                <a:cs typeface="+mn-ea"/>
                <a:sym typeface="+mn-lt"/>
              </a:rPr>
              <a:t>2023</a:t>
            </a:r>
            <a:r>
              <a:rPr kumimoji="0" lang="zh-CN" altLang="en-US" sz="1000" b="0" i="0" u="none" strike="noStrike" kern="1200" cap="none" spc="0" normalizeH="0" baseline="0" noProof="0" dirty="0">
                <a:ln>
                  <a:noFill/>
                </a:ln>
                <a:solidFill>
                  <a:srgbClr val="00329D"/>
                </a:solidFill>
                <a:effectLst/>
                <a:uLnTx/>
                <a:uFillTx/>
                <a:cs typeface="+mn-ea"/>
                <a:sym typeface="+mn-lt"/>
              </a:rPr>
              <a:t>年电商双十一商城消</a:t>
            </a:r>
            <a:br>
              <a:rPr kumimoji="0" lang="en-US" altLang="zh-CN" sz="1000" b="0" i="0" u="none" strike="noStrike" kern="1200" cap="none" spc="0" normalizeH="0" baseline="0" noProof="0" dirty="0">
                <a:ln>
                  <a:noFill/>
                </a:ln>
                <a:solidFill>
                  <a:srgbClr val="00329D"/>
                </a:solidFill>
                <a:effectLst/>
                <a:uLnTx/>
                <a:uFillTx/>
                <a:cs typeface="+mn-ea"/>
                <a:sym typeface="+mn-lt"/>
              </a:rPr>
            </a:br>
            <a:r>
              <a:rPr kumimoji="0" lang="zh-CN" altLang="en-US" sz="1000" b="0" i="0" u="none" strike="noStrike" kern="1200" cap="none" spc="0" normalizeH="0" baseline="0" noProof="0" dirty="0">
                <a:ln>
                  <a:noFill/>
                </a:ln>
                <a:solidFill>
                  <a:srgbClr val="00329D"/>
                </a:solidFill>
                <a:effectLst/>
                <a:uLnTx/>
                <a:uFillTx/>
                <a:cs typeface="+mn-ea"/>
                <a:sym typeface="+mn-lt"/>
              </a:rPr>
              <a:t>费人数同比增长</a:t>
            </a:r>
            <a:endParaRPr kumimoji="0" lang="en-US" sz="1000" b="0" i="0" u="none" strike="noStrike" kern="1200" cap="none" spc="0" normalizeH="0" baseline="0" noProof="0" dirty="0">
              <a:ln>
                <a:noFill/>
              </a:ln>
              <a:solidFill>
                <a:srgbClr val="00329D"/>
              </a:solidFill>
              <a:effectLst/>
              <a:uLnTx/>
              <a:uFillTx/>
              <a:cs typeface="+mn-ea"/>
              <a:sym typeface="+mn-lt"/>
            </a:endParaRPr>
          </a:p>
        </p:txBody>
      </p:sp>
      <p:sp>
        <p:nvSpPr>
          <p:cNvPr id="40" name="lemon33"/>
          <p:cNvSpPr txBox="1"/>
          <p:nvPr/>
        </p:nvSpPr>
        <p:spPr>
          <a:xfrm>
            <a:off x="4389986" y="1154700"/>
            <a:ext cx="1289170" cy="83099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4800" b="1" i="0" u="none" strike="noStrike" kern="1200" cap="none" spc="0" normalizeH="0" baseline="0" noProof="0" dirty="0">
                <a:ln>
                  <a:noFill/>
                </a:ln>
                <a:solidFill>
                  <a:srgbClr val="4480FB"/>
                </a:solidFill>
                <a:effectLst/>
                <a:uLnTx/>
                <a:uFillTx/>
                <a:cs typeface="+mn-ea"/>
                <a:sym typeface="+mn-lt"/>
              </a:rPr>
              <a:t>86</a:t>
            </a:r>
            <a:r>
              <a:rPr kumimoji="1" lang="en-US" altLang="zh-CN" sz="2000" b="1" i="0" u="none" strike="noStrike" kern="1200" cap="none" spc="0" normalizeH="0" baseline="0" noProof="0" dirty="0">
                <a:ln>
                  <a:noFill/>
                </a:ln>
                <a:solidFill>
                  <a:srgbClr val="4480FB"/>
                </a:solidFill>
                <a:effectLst/>
                <a:uLnTx/>
                <a:uFillTx/>
                <a:cs typeface="+mn-ea"/>
                <a:sym typeface="+mn-lt"/>
              </a:rPr>
              <a:t>%</a:t>
            </a:r>
          </a:p>
        </p:txBody>
      </p:sp>
      <p:sp>
        <p:nvSpPr>
          <p:cNvPr id="41" name="lemon34"/>
          <p:cNvSpPr txBox="1"/>
          <p:nvPr/>
        </p:nvSpPr>
        <p:spPr>
          <a:xfrm>
            <a:off x="3021583" y="1607033"/>
            <a:ext cx="1545823" cy="369332"/>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GB" altLang="zh-CN" sz="600" b="0" i="0" u="none" strike="noStrike" kern="1200" cap="none" spc="0" normalizeH="0" baseline="0" noProof="0" dirty="0">
                <a:ln>
                  <a:noFill/>
                </a:ln>
                <a:solidFill>
                  <a:srgbClr val="000000"/>
                </a:solidFill>
                <a:effectLst/>
                <a:uLnTx/>
                <a:uFillTx/>
                <a:cs typeface="+mn-ea"/>
                <a:sym typeface="+mn-lt"/>
              </a:rPr>
              <a:t>E-commerce in 2023</a:t>
            </a:r>
            <a:r>
              <a:rPr kumimoji="0" lang="zh-CN" altLang="en-US" sz="600" b="0" i="0" u="none" strike="noStrike" kern="1200" cap="none" spc="0" normalizeH="0" baseline="0" noProof="0" dirty="0">
                <a:ln>
                  <a:noFill/>
                </a:ln>
                <a:solidFill>
                  <a:srgbClr val="000000"/>
                </a:solidFill>
                <a:effectLst/>
                <a:uLnTx/>
                <a:uFillTx/>
                <a:cs typeface="+mn-ea"/>
                <a:sym typeface="+mn-lt"/>
              </a:rPr>
              <a:t> </a:t>
            </a:r>
            <a:r>
              <a:rPr kumimoji="0" lang="en-GB" altLang="zh-CN" sz="600" b="0" i="0" u="none" strike="noStrike" kern="1200" cap="none" spc="0" normalizeH="0" baseline="0" noProof="0" dirty="0">
                <a:ln>
                  <a:noFill/>
                </a:ln>
                <a:solidFill>
                  <a:srgbClr val="000000"/>
                </a:solidFill>
                <a:effectLst/>
                <a:uLnTx/>
                <a:uFillTx/>
                <a:cs typeface="+mn-ea"/>
                <a:sym typeface="+mn-lt"/>
              </a:rPr>
              <a:t>The number of consumers in the Double Eleven increased year-on-year</a:t>
            </a:r>
          </a:p>
        </p:txBody>
      </p:sp>
      <p:sp>
        <p:nvSpPr>
          <p:cNvPr id="48" name="lemon35"/>
          <p:cNvSpPr/>
          <p:nvPr/>
        </p:nvSpPr>
        <p:spPr>
          <a:xfrm>
            <a:off x="631690" y="1078481"/>
            <a:ext cx="2213735" cy="926391"/>
          </a:xfrm>
          <a:prstGeom prst="rect">
            <a:avLst/>
          </a:prstGeom>
          <a:solidFill>
            <a:schemeClr val="bg1"/>
          </a:solidFill>
          <a:ln>
            <a:noFill/>
          </a:ln>
          <a:effectLst>
            <a:outerShdw blurRad="3810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49" name="lemon36"/>
          <p:cNvSpPr/>
          <p:nvPr/>
        </p:nvSpPr>
        <p:spPr>
          <a:xfrm>
            <a:off x="628667" y="1086003"/>
            <a:ext cx="34995" cy="9273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50" name="lemon37"/>
          <p:cNvSpPr txBox="1"/>
          <p:nvPr/>
        </p:nvSpPr>
        <p:spPr>
          <a:xfrm>
            <a:off x="849344" y="1168734"/>
            <a:ext cx="1467068" cy="492443"/>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0329D"/>
                </a:solidFill>
                <a:effectLst/>
                <a:uLnTx/>
                <a:uFillTx/>
                <a:cs typeface="+mn-ea"/>
                <a:sym typeface="+mn-lt"/>
              </a:rPr>
              <a:t>2024</a:t>
            </a:r>
            <a:r>
              <a:rPr kumimoji="0" lang="zh-CN" altLang="en-US" sz="1600" b="0" i="0" u="none" strike="noStrike" kern="1200" cap="none" spc="0" normalizeH="0" baseline="0" noProof="0" dirty="0">
                <a:ln>
                  <a:noFill/>
                </a:ln>
                <a:solidFill>
                  <a:srgbClr val="00329D"/>
                </a:solidFill>
                <a:effectLst/>
                <a:uLnTx/>
                <a:uFillTx/>
                <a:cs typeface="+mn-ea"/>
                <a:sym typeface="+mn-lt"/>
              </a:rPr>
              <a:t>年</a:t>
            </a:r>
            <a:br>
              <a:rPr kumimoji="0" lang="en-US" altLang="zh-CN" sz="1000" b="0" i="0" u="none" strike="noStrike" kern="1200" cap="none" spc="0" normalizeH="0" baseline="0" noProof="0" dirty="0">
                <a:ln>
                  <a:noFill/>
                </a:ln>
                <a:solidFill>
                  <a:srgbClr val="00329D"/>
                </a:solidFill>
                <a:effectLst/>
                <a:uLnTx/>
                <a:uFillTx/>
                <a:cs typeface="+mn-ea"/>
                <a:sym typeface="+mn-lt"/>
              </a:rPr>
            </a:br>
            <a:r>
              <a:rPr kumimoji="0" lang="zh-CN" altLang="en-US" sz="1000" b="0" i="0" u="none" strike="noStrike" kern="1200" cap="none" spc="0" normalizeH="0" baseline="0" noProof="0" dirty="0">
                <a:ln>
                  <a:noFill/>
                </a:ln>
                <a:solidFill>
                  <a:srgbClr val="00329D"/>
                </a:solidFill>
                <a:effectLst/>
                <a:uLnTx/>
                <a:uFillTx/>
                <a:cs typeface="+mn-ea"/>
                <a:sym typeface="+mn-lt"/>
              </a:rPr>
              <a:t>平台各项业务数据表现</a:t>
            </a:r>
            <a:endParaRPr kumimoji="0" lang="en-US" sz="1000" b="0" i="0" u="none" strike="noStrike" kern="1200" cap="none" spc="0" normalizeH="0" baseline="0" noProof="0" dirty="0">
              <a:ln>
                <a:noFill/>
              </a:ln>
              <a:solidFill>
                <a:srgbClr val="00329D"/>
              </a:solidFill>
              <a:effectLst/>
              <a:uLnTx/>
              <a:uFillTx/>
              <a:cs typeface="+mn-ea"/>
              <a:sym typeface="+mn-lt"/>
            </a:endParaRPr>
          </a:p>
        </p:txBody>
      </p:sp>
      <p:sp>
        <p:nvSpPr>
          <p:cNvPr id="51" name="lemon38"/>
          <p:cNvSpPr txBox="1"/>
          <p:nvPr/>
        </p:nvSpPr>
        <p:spPr>
          <a:xfrm>
            <a:off x="861742" y="1626396"/>
            <a:ext cx="1861763" cy="276999"/>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GB" altLang="zh-CN" sz="600" b="0" i="0" u="none" strike="noStrike" kern="1200" cap="none" spc="0" normalizeH="0" baseline="0" noProof="0" dirty="0">
                <a:ln>
                  <a:noFill/>
                </a:ln>
                <a:solidFill>
                  <a:srgbClr val="000000"/>
                </a:solidFill>
                <a:effectLst/>
                <a:uLnTx/>
                <a:uFillTx/>
                <a:cs typeface="+mn-ea"/>
                <a:sym typeface="+mn-lt"/>
              </a:rPr>
              <a:t>E-commerce in 2023</a:t>
            </a:r>
            <a:r>
              <a:rPr kumimoji="0" lang="zh-CN" altLang="en-US" sz="600" b="0" i="0" u="none" strike="noStrike" kern="1200" cap="none" spc="0" normalizeH="0" baseline="0" noProof="0" dirty="0">
                <a:ln>
                  <a:noFill/>
                </a:ln>
                <a:solidFill>
                  <a:srgbClr val="000000"/>
                </a:solidFill>
                <a:effectLst/>
                <a:uLnTx/>
                <a:uFillTx/>
                <a:cs typeface="+mn-ea"/>
                <a:sym typeface="+mn-lt"/>
              </a:rPr>
              <a:t> </a:t>
            </a:r>
            <a:r>
              <a:rPr kumimoji="0" lang="en-GB" altLang="zh-CN" sz="600" b="0" i="0" u="none" strike="noStrike" kern="1200" cap="none" spc="0" normalizeH="0" baseline="0" noProof="0" dirty="0">
                <a:ln>
                  <a:noFill/>
                </a:ln>
                <a:solidFill>
                  <a:srgbClr val="000000"/>
                </a:solidFill>
                <a:effectLst/>
                <a:uLnTx/>
                <a:uFillTx/>
                <a:cs typeface="+mn-ea"/>
                <a:sym typeface="+mn-lt"/>
              </a:rPr>
              <a:t>The number of consumers in the Double Eleven increased year-on-year</a:t>
            </a:r>
          </a:p>
        </p:txBody>
      </p:sp>
      <p:grpSp>
        <p:nvGrpSpPr>
          <p:cNvPr id="52" name="lemon39"/>
          <p:cNvGrpSpPr/>
          <p:nvPr/>
        </p:nvGrpSpPr>
        <p:grpSpPr>
          <a:xfrm>
            <a:off x="6247323" y="2183922"/>
            <a:ext cx="2771090" cy="3473318"/>
            <a:chOff x="5060577" y="2081346"/>
            <a:chExt cx="2771090" cy="3473318"/>
          </a:xfrm>
        </p:grpSpPr>
        <p:grpSp>
          <p:nvGrpSpPr>
            <p:cNvPr id="53" name="组合 52"/>
            <p:cNvGrpSpPr/>
            <p:nvPr/>
          </p:nvGrpSpPr>
          <p:grpSpPr>
            <a:xfrm>
              <a:off x="5060577" y="2432075"/>
              <a:ext cx="2771090" cy="1517514"/>
              <a:chOff x="1106643" y="2616741"/>
              <a:chExt cx="1753289" cy="1517514"/>
            </a:xfrm>
          </p:grpSpPr>
          <p:sp>
            <p:nvSpPr>
              <p:cNvPr id="58" name="lemon39-1"/>
              <p:cNvSpPr/>
              <p:nvPr/>
            </p:nvSpPr>
            <p:spPr>
              <a:xfrm>
                <a:off x="1106643" y="2616741"/>
                <a:ext cx="1753289" cy="1517514"/>
              </a:xfrm>
              <a:prstGeom prst="roundRect">
                <a:avLst>
                  <a:gd name="adj" fmla="val 0"/>
                </a:avLst>
              </a:prstGeom>
              <a:noFill/>
              <a:ln w="12700" cap="flat">
                <a:solidFill>
                  <a:schemeClr val="accent1"/>
                </a:solidFill>
                <a:prstDash val="solid"/>
                <a:miter/>
              </a:ln>
              <a:effectLst>
                <a:outerShdw blurRad="190500" sx="102000" sy="102000" algn="ctr" rotWithShape="0">
                  <a:srgbClr val="000000">
                    <a:alpha val="20000"/>
                  </a:srgbClr>
                </a:outerShdw>
              </a:effectLst>
            </p:spPr>
            <p:txBody>
              <a:bodyPr rtlCol="0" anchor="ctr"/>
              <a:lstStyle/>
              <a:p>
                <a:pPr marL="0" marR="0" lvl="0" indent="0" algn="l" defTabSz="73152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dirty="0">
                  <a:ln>
                    <a:noFill/>
                  </a:ln>
                  <a:solidFill>
                    <a:srgbClr val="000000"/>
                  </a:solidFill>
                  <a:effectLst/>
                  <a:uLnTx/>
                  <a:uFillTx/>
                  <a:cs typeface="+mn-ea"/>
                  <a:sym typeface="+mn-lt"/>
                </a:endParaRPr>
              </a:p>
            </p:txBody>
          </p:sp>
          <p:sp>
            <p:nvSpPr>
              <p:cNvPr id="59" name="lemon39-2"/>
              <p:cNvSpPr/>
              <p:nvPr/>
            </p:nvSpPr>
            <p:spPr>
              <a:xfrm>
                <a:off x="1236506" y="3149407"/>
                <a:ext cx="1550346" cy="192627"/>
              </a:xfrm>
              <a:prstGeom prst="rect">
                <a:avLst/>
              </a:prstGeom>
              <a:noFill/>
            </p:spPr>
            <p:txBody>
              <a:bodyPr wrap="square" lIns="0" tIns="0" rIns="0" bIns="0" rtlCol="0" anchor="t"/>
              <a:lstStyle/>
              <a:p>
                <a:pPr marL="0" marR="0" lvl="0" indent="0" algn="l" defTabSz="73152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dirty="0">
                    <a:ln>
                      <a:noFill/>
                    </a:ln>
                    <a:solidFill>
                      <a:srgbClr val="000000"/>
                    </a:solidFill>
                    <a:effectLst/>
                    <a:uLnTx/>
                    <a:uFillTx/>
                    <a:cs typeface="+mn-ea"/>
                    <a:sym typeface="+mn-lt"/>
                  </a:rPr>
                  <a:t>问题</a:t>
                </a:r>
                <a:r>
                  <a:rPr kumimoji="0" lang="en-US" altLang="zh-CN" sz="1400" b="0" i="0" u="none" strike="noStrike" kern="1200" cap="none" spc="0" normalizeH="0" baseline="0" noProof="0" dirty="0">
                    <a:ln>
                      <a:noFill/>
                    </a:ln>
                    <a:solidFill>
                      <a:srgbClr val="000000"/>
                    </a:solidFill>
                    <a:effectLst/>
                    <a:uLnTx/>
                    <a:uFillTx/>
                    <a:cs typeface="+mn-ea"/>
                    <a:sym typeface="+mn-lt"/>
                  </a:rPr>
                  <a:t>1</a:t>
                </a:r>
                <a:r>
                  <a:rPr kumimoji="0" lang="zh-CN" altLang="en-US" sz="1400" b="0" i="0" u="none" strike="noStrike" kern="1200" cap="none" spc="0" normalizeH="0" baseline="0" noProof="0" dirty="0">
                    <a:ln>
                      <a:noFill/>
                    </a:ln>
                    <a:solidFill>
                      <a:srgbClr val="000000"/>
                    </a:solidFill>
                    <a:effectLst/>
                    <a:uLnTx/>
                    <a:uFillTx/>
                    <a:cs typeface="+mn-ea"/>
                    <a:sym typeface="+mn-lt"/>
                  </a:rPr>
                  <a:t>｜用户对品牌价值关注</a:t>
                </a:r>
                <a:endParaRPr kumimoji="0" lang="en-US" sz="1400" b="0" i="0" u="none" strike="noStrike" kern="1200" cap="none" spc="0" normalizeH="0" baseline="0" noProof="0" dirty="0">
                  <a:ln>
                    <a:noFill/>
                  </a:ln>
                  <a:solidFill>
                    <a:srgbClr val="000000"/>
                  </a:solidFill>
                  <a:effectLst/>
                  <a:uLnTx/>
                  <a:uFillTx/>
                  <a:cs typeface="+mn-ea"/>
                  <a:sym typeface="+mn-lt"/>
                </a:endParaRPr>
              </a:p>
            </p:txBody>
          </p:sp>
          <p:sp>
            <p:nvSpPr>
              <p:cNvPr id="60" name="lemon39-3"/>
              <p:cNvSpPr/>
              <p:nvPr/>
            </p:nvSpPr>
            <p:spPr>
              <a:xfrm>
                <a:off x="1236506" y="3418709"/>
                <a:ext cx="1574456" cy="369332"/>
              </a:xfrm>
              <a:prstGeom prst="rect">
                <a:avLst/>
              </a:prstGeom>
              <a:noFill/>
            </p:spPr>
            <p:txBody>
              <a:bodyPr wrap="square" lIns="0" tIns="0" rIns="0" bIns="0" rtlCol="0" anchor="t">
                <a:spAutoFit/>
              </a:bodyPr>
              <a:lstStyle/>
              <a:p>
                <a:pPr marL="0" marR="0" lvl="0" indent="0" algn="l" defTabSz="73152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dirty="0" err="1">
                    <a:ln>
                      <a:noFill/>
                    </a:ln>
                    <a:solidFill>
                      <a:srgbClr val="000000"/>
                    </a:solidFill>
                    <a:effectLst/>
                    <a:uLnTx/>
                    <a:uFillTx/>
                    <a:cs typeface="+mn-ea"/>
                    <a:sym typeface="+mn-lt"/>
                  </a:rPr>
                  <a:t>品牌已成为用户在电商平台购物的重点关注要素</a:t>
                </a:r>
                <a:endParaRPr kumimoji="0" lang="en-US" sz="1200" b="0" i="0" u="none" strike="noStrike" kern="1200" cap="none" spc="0" normalizeH="0" baseline="0" noProof="0" dirty="0">
                  <a:ln>
                    <a:noFill/>
                  </a:ln>
                  <a:solidFill>
                    <a:srgbClr val="000000"/>
                  </a:solidFill>
                  <a:effectLst/>
                  <a:uLnTx/>
                  <a:uFillTx/>
                  <a:cs typeface="+mn-ea"/>
                  <a:sym typeface="+mn-lt"/>
                </a:endParaRPr>
              </a:p>
            </p:txBody>
          </p:sp>
        </p:grpSp>
        <p:sp>
          <p:nvSpPr>
            <p:cNvPr id="54" name="lemon39-4"/>
            <p:cNvSpPr/>
            <p:nvPr/>
          </p:nvSpPr>
          <p:spPr>
            <a:xfrm>
              <a:off x="5060577" y="4037150"/>
              <a:ext cx="2771090" cy="1517514"/>
            </a:xfrm>
            <a:prstGeom prst="roundRect">
              <a:avLst>
                <a:gd name="adj" fmla="val 0"/>
              </a:avLst>
            </a:prstGeom>
            <a:noFill/>
            <a:ln w="12700" cap="flat">
              <a:solidFill>
                <a:schemeClr val="accent2"/>
              </a:solidFill>
              <a:prstDash val="solid"/>
              <a:miter/>
            </a:ln>
            <a:effectLst>
              <a:outerShdw blurRad="190500" sx="102000" sy="102000" algn="ctr" rotWithShape="0">
                <a:srgbClr val="000000">
                  <a:alpha val="20000"/>
                </a:srgbClr>
              </a:outerShdw>
            </a:effectLst>
          </p:spPr>
          <p:txBody>
            <a:bodyPr rtlCol="0" anchor="ctr"/>
            <a:lstStyle/>
            <a:p>
              <a:pPr marL="0" marR="0" lvl="0" indent="0" algn="l" defTabSz="73152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dirty="0">
                <a:ln>
                  <a:noFill/>
                </a:ln>
                <a:solidFill>
                  <a:srgbClr val="000000"/>
                </a:solidFill>
                <a:effectLst/>
                <a:uLnTx/>
                <a:uFillTx/>
                <a:cs typeface="+mn-ea"/>
                <a:sym typeface="+mn-lt"/>
              </a:endParaRPr>
            </a:p>
          </p:txBody>
        </p:sp>
        <p:sp>
          <p:nvSpPr>
            <p:cNvPr id="55" name="lemon39-5"/>
            <p:cNvSpPr/>
            <p:nvPr/>
          </p:nvSpPr>
          <p:spPr>
            <a:xfrm>
              <a:off x="5265827" y="4441073"/>
              <a:ext cx="2450337" cy="430887"/>
            </a:xfrm>
            <a:prstGeom prst="rect">
              <a:avLst/>
            </a:prstGeom>
            <a:noFill/>
          </p:spPr>
          <p:txBody>
            <a:bodyPr wrap="square" lIns="0" tIns="0" rIns="0" bIns="0" rtlCol="0" anchor="t">
              <a:spAutoFit/>
            </a:bodyPr>
            <a:lstStyle/>
            <a:p>
              <a:pPr marL="0" marR="0" lvl="0" indent="0" algn="l" defTabSz="73152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dirty="0">
                  <a:ln>
                    <a:noFill/>
                  </a:ln>
                  <a:solidFill>
                    <a:srgbClr val="000000"/>
                  </a:solidFill>
                  <a:effectLst/>
                  <a:uLnTx/>
                  <a:uFillTx/>
                  <a:cs typeface="+mn-ea"/>
                  <a:sym typeface="+mn-lt"/>
                </a:rPr>
                <a:t>问题</a:t>
              </a:r>
              <a:r>
                <a:rPr kumimoji="0" lang="en-US" altLang="zh-CN" sz="1400" b="0" i="0" u="none" strike="noStrike" kern="1200" cap="none" spc="0" normalizeH="0" baseline="0" noProof="0" dirty="0">
                  <a:ln>
                    <a:noFill/>
                  </a:ln>
                  <a:solidFill>
                    <a:srgbClr val="000000"/>
                  </a:solidFill>
                  <a:effectLst/>
                  <a:uLnTx/>
                  <a:uFillTx/>
                  <a:cs typeface="+mn-ea"/>
                  <a:sym typeface="+mn-lt"/>
                </a:rPr>
                <a:t>2</a:t>
              </a:r>
              <a:r>
                <a:rPr kumimoji="0" lang="zh-CN" altLang="en-US" sz="1400" b="0" i="0" u="none" strike="noStrike" kern="1200" cap="none" spc="0" normalizeH="0" baseline="0" noProof="0" dirty="0">
                  <a:ln>
                    <a:noFill/>
                  </a:ln>
                  <a:solidFill>
                    <a:srgbClr val="000000"/>
                  </a:solidFill>
                  <a:effectLst/>
                  <a:uLnTx/>
                  <a:uFillTx/>
                  <a:cs typeface="+mn-ea"/>
                  <a:sym typeface="+mn-lt"/>
                </a:rPr>
                <a:t>｜商品价格、定位与商品品牌之间存在显著差距</a:t>
              </a:r>
              <a:endParaRPr kumimoji="0" lang="en-US" sz="1400" b="0" i="0" u="none" strike="noStrike" kern="1200" cap="none" spc="0" normalizeH="0" baseline="0" noProof="0" dirty="0">
                <a:ln>
                  <a:noFill/>
                </a:ln>
                <a:solidFill>
                  <a:srgbClr val="000000"/>
                </a:solidFill>
                <a:effectLst/>
                <a:uLnTx/>
                <a:uFillTx/>
                <a:cs typeface="+mn-ea"/>
                <a:sym typeface="+mn-lt"/>
              </a:endParaRPr>
            </a:p>
          </p:txBody>
        </p:sp>
        <p:sp>
          <p:nvSpPr>
            <p:cNvPr id="56" name="lemon39-6"/>
            <p:cNvSpPr/>
            <p:nvPr/>
          </p:nvSpPr>
          <p:spPr>
            <a:xfrm>
              <a:off x="5265827" y="4959521"/>
              <a:ext cx="2398633" cy="369332"/>
            </a:xfrm>
            <a:prstGeom prst="rect">
              <a:avLst/>
            </a:prstGeom>
            <a:noFill/>
          </p:spPr>
          <p:txBody>
            <a:bodyPr wrap="square" lIns="0" tIns="0" rIns="0" bIns="0" rtlCol="0" anchor="t">
              <a:spAutoFit/>
            </a:bodyPr>
            <a:lstStyle/>
            <a:p>
              <a:pPr marL="0" marR="0" lvl="0" indent="0" algn="l" defTabSz="73152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dirty="0" err="1">
                  <a:ln>
                    <a:noFill/>
                  </a:ln>
                  <a:solidFill>
                    <a:srgbClr val="000000"/>
                  </a:solidFill>
                  <a:effectLst/>
                  <a:uLnTx/>
                  <a:uFillTx/>
                  <a:cs typeface="+mn-ea"/>
                  <a:sym typeface="+mn-lt"/>
                </a:rPr>
                <a:t>从数据上看</a:t>
              </a:r>
              <a:r>
                <a:rPr kumimoji="0" lang="zh-CN" altLang="en-US" sz="1200" b="0" i="0" u="none" strike="noStrike" kern="1200" cap="none" spc="0" normalizeH="0" baseline="0" noProof="0" dirty="0">
                  <a:ln>
                    <a:noFill/>
                  </a:ln>
                  <a:solidFill>
                    <a:srgbClr val="000000"/>
                  </a:solidFill>
                  <a:effectLst/>
                  <a:uLnTx/>
                  <a:uFillTx/>
                  <a:cs typeface="+mn-ea"/>
                  <a:sym typeface="+mn-lt"/>
                </a:rPr>
                <a:t>，部分商品品牌调性与商品调性严重不符</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57" name="lemon39-7"/>
            <p:cNvSpPr/>
            <p:nvPr/>
          </p:nvSpPr>
          <p:spPr>
            <a:xfrm>
              <a:off x="5800583" y="2081346"/>
              <a:ext cx="1103009" cy="349456"/>
            </a:xfrm>
            <a:prstGeom prst="rect">
              <a:avLst/>
            </a:prstGeom>
            <a:ln w="12700">
              <a:miter lim="400000"/>
            </a:ln>
          </p:spPr>
          <p:txBody>
            <a:bodyPr wrap="none" lIns="25400" tIns="25400" rIns="25400" bIns="25400" anchor="ctr">
              <a:noAutofit/>
            </a:bodyPr>
            <a:lstStyle/>
            <a:p>
              <a:pPr marL="0" marR="0" lvl="0" indent="0" algn="ctr" defTabSz="1219200" rtl="0" eaLnBrk="1" fontAlgn="auto" latinLnBrk="0" hangingPunct="0">
                <a:lnSpc>
                  <a:spcPct val="100000"/>
                </a:lnSpc>
                <a:spcBef>
                  <a:spcPts val="0"/>
                </a:spcBef>
                <a:spcAft>
                  <a:spcPts val="0"/>
                </a:spcAft>
                <a:buClrTx/>
                <a:buSzTx/>
                <a:buFontTx/>
                <a:buNone/>
                <a:defRPr/>
              </a:pPr>
              <a:r>
                <a:rPr kumimoji="0" lang="en-US" altLang="zh-CN" sz="1200" b="0" i="0" u="none" strike="noStrike" kern="0" cap="none" spc="0" normalizeH="0" baseline="0" noProof="0" dirty="0">
                  <a:ln>
                    <a:noFill/>
                  </a:ln>
                  <a:solidFill>
                    <a:srgbClr val="000000"/>
                  </a:solidFill>
                  <a:effectLst/>
                  <a:uLnTx/>
                  <a:uFillTx/>
                  <a:cs typeface="+mn-ea"/>
                  <a:sym typeface="+mn-lt"/>
                </a:rPr>
                <a:t>01</a:t>
              </a:r>
              <a:r>
                <a:rPr kumimoji="0" lang="zh-CN" altLang="en-US" sz="1200" b="0" i="0" u="none" strike="noStrike" kern="0" cap="none" spc="0" normalizeH="0" baseline="0" noProof="0" dirty="0">
                  <a:ln>
                    <a:noFill/>
                  </a:ln>
                  <a:solidFill>
                    <a:srgbClr val="000000"/>
                  </a:solidFill>
                  <a:effectLst/>
                  <a:uLnTx/>
                  <a:uFillTx/>
                  <a:cs typeface="+mn-ea"/>
                  <a:sym typeface="+mn-lt"/>
                </a:rPr>
                <a:t>、问题</a:t>
              </a:r>
              <a:endParaRPr kumimoji="0" lang="zh-CN" altLang="en-US" sz="1000" b="0" i="0" u="none" strike="noStrike" kern="0" cap="none" spc="0" normalizeH="0" baseline="0" noProof="0" dirty="0">
                <a:ln>
                  <a:noFill/>
                </a:ln>
                <a:solidFill>
                  <a:srgbClr val="000000">
                    <a:lumMod val="50000"/>
                    <a:lumOff val="50000"/>
                  </a:srgbClr>
                </a:solidFill>
                <a:effectLst/>
                <a:uLnTx/>
                <a:uFillTx/>
                <a:cs typeface="+mn-ea"/>
                <a:sym typeface="+mn-lt"/>
              </a:endParaRPr>
            </a:p>
          </p:txBody>
        </p:sp>
      </p:grpSp>
      <p:grpSp>
        <p:nvGrpSpPr>
          <p:cNvPr id="61" name="lemon40"/>
          <p:cNvGrpSpPr/>
          <p:nvPr/>
        </p:nvGrpSpPr>
        <p:grpSpPr>
          <a:xfrm>
            <a:off x="9098367" y="2183924"/>
            <a:ext cx="2771089" cy="3468830"/>
            <a:chOff x="7913843" y="2081348"/>
            <a:chExt cx="2771089" cy="3468830"/>
          </a:xfrm>
        </p:grpSpPr>
        <p:grpSp>
          <p:nvGrpSpPr>
            <p:cNvPr id="62" name="组合 61"/>
            <p:cNvGrpSpPr/>
            <p:nvPr/>
          </p:nvGrpSpPr>
          <p:grpSpPr>
            <a:xfrm>
              <a:off x="7913843" y="2427589"/>
              <a:ext cx="2771089" cy="3122589"/>
              <a:chOff x="7913843" y="2612255"/>
              <a:chExt cx="2771089" cy="3201780"/>
            </a:xfrm>
          </p:grpSpPr>
          <p:grpSp>
            <p:nvGrpSpPr>
              <p:cNvPr id="64" name="组合 63"/>
              <p:cNvGrpSpPr/>
              <p:nvPr/>
            </p:nvGrpSpPr>
            <p:grpSpPr>
              <a:xfrm>
                <a:off x="7913843" y="2612255"/>
                <a:ext cx="2771089" cy="1023778"/>
                <a:chOff x="1291896" y="2879723"/>
                <a:chExt cx="1511908" cy="439883"/>
              </a:xfrm>
            </p:grpSpPr>
            <p:sp>
              <p:nvSpPr>
                <p:cNvPr id="71" name="lemon40-1"/>
                <p:cNvSpPr/>
                <p:nvPr/>
              </p:nvSpPr>
              <p:spPr>
                <a:xfrm>
                  <a:off x="1291896" y="2879723"/>
                  <a:ext cx="1511908" cy="439883"/>
                </a:xfrm>
                <a:prstGeom prst="roundRect">
                  <a:avLst>
                    <a:gd name="adj" fmla="val 0"/>
                  </a:avLst>
                </a:prstGeom>
                <a:solidFill>
                  <a:schemeClr val="accent1"/>
                </a:solidFill>
                <a:ln w="12700" cap="flat">
                  <a:noFill/>
                  <a:prstDash val="solid"/>
                  <a:miter/>
                </a:ln>
                <a:effectLst/>
              </p:spPr>
              <p:txBody>
                <a:bodyPr rtlCol="0" anchor="ctr"/>
                <a:lstStyle/>
                <a:p>
                  <a:pPr marL="0" marR="0" lvl="0" indent="0" algn="l" defTabSz="73152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dirty="0">
                    <a:ln>
                      <a:noFill/>
                    </a:ln>
                    <a:solidFill>
                      <a:srgbClr val="000000"/>
                    </a:solidFill>
                    <a:effectLst/>
                    <a:uLnTx/>
                    <a:uFillTx/>
                    <a:cs typeface="+mn-ea"/>
                    <a:sym typeface="+mn-lt"/>
                  </a:endParaRPr>
                </a:p>
              </p:txBody>
            </p:sp>
            <p:sp>
              <p:nvSpPr>
                <p:cNvPr id="72" name="lemon40-2"/>
                <p:cNvSpPr/>
                <p:nvPr/>
              </p:nvSpPr>
              <p:spPr>
                <a:xfrm>
                  <a:off x="1499812" y="3053380"/>
                  <a:ext cx="1161901" cy="189833"/>
                </a:xfrm>
                <a:prstGeom prst="rect">
                  <a:avLst/>
                </a:prstGeom>
                <a:noFill/>
              </p:spPr>
              <p:txBody>
                <a:bodyPr wrap="square" lIns="0" tIns="0" rIns="0" bIns="0" rtlCol="0" anchor="t">
                  <a:spAutoFit/>
                </a:bodyPr>
                <a:lstStyle/>
                <a:p>
                  <a:pPr marL="0" marR="0" lvl="0" indent="0" algn="ctr" defTabSz="73152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结合用户调研，持续品牌优化、提升</a:t>
                  </a:r>
                  <a:endParaRPr kumimoji="0" lang="en-US" sz="1400" b="0" i="0" u="none" strike="noStrike" kern="1200" cap="none" spc="0" normalizeH="0" baseline="0" noProof="0" dirty="0">
                    <a:ln>
                      <a:noFill/>
                    </a:ln>
                    <a:solidFill>
                      <a:srgbClr val="FFFFFF"/>
                    </a:solidFill>
                    <a:effectLst/>
                    <a:uLnTx/>
                    <a:uFillTx/>
                    <a:cs typeface="+mn-ea"/>
                    <a:sym typeface="+mn-lt"/>
                  </a:endParaRPr>
                </a:p>
              </p:txBody>
            </p:sp>
          </p:grpSp>
          <p:grpSp>
            <p:nvGrpSpPr>
              <p:cNvPr id="65" name="组合 64"/>
              <p:cNvGrpSpPr/>
              <p:nvPr/>
            </p:nvGrpSpPr>
            <p:grpSpPr>
              <a:xfrm>
                <a:off x="7913843" y="3701256"/>
                <a:ext cx="2771089" cy="1023778"/>
                <a:chOff x="1291896" y="2879723"/>
                <a:chExt cx="1511908" cy="439883"/>
              </a:xfrm>
            </p:grpSpPr>
            <p:sp>
              <p:nvSpPr>
                <p:cNvPr id="69" name="lemon40-3"/>
                <p:cNvSpPr/>
                <p:nvPr/>
              </p:nvSpPr>
              <p:spPr>
                <a:xfrm>
                  <a:off x="1291896" y="2879723"/>
                  <a:ext cx="1511908" cy="439883"/>
                </a:xfrm>
                <a:prstGeom prst="roundRect">
                  <a:avLst>
                    <a:gd name="adj" fmla="val 0"/>
                  </a:avLst>
                </a:prstGeom>
                <a:solidFill>
                  <a:schemeClr val="accent2"/>
                </a:solidFill>
                <a:ln w="12700" cap="flat">
                  <a:noFill/>
                  <a:prstDash val="solid"/>
                  <a:miter/>
                </a:ln>
                <a:effectLst/>
              </p:spPr>
              <p:txBody>
                <a:bodyPr rtlCol="0" anchor="ctr"/>
                <a:lstStyle/>
                <a:p>
                  <a:pPr marL="0" marR="0" lvl="0" indent="0" algn="l" defTabSz="73152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dirty="0">
                    <a:ln>
                      <a:noFill/>
                    </a:ln>
                    <a:solidFill>
                      <a:srgbClr val="000000"/>
                    </a:solidFill>
                    <a:effectLst/>
                    <a:uLnTx/>
                    <a:uFillTx/>
                    <a:cs typeface="+mn-ea"/>
                    <a:sym typeface="+mn-lt"/>
                  </a:endParaRPr>
                </a:p>
              </p:txBody>
            </p:sp>
            <p:sp>
              <p:nvSpPr>
                <p:cNvPr id="70" name="lemon40-4"/>
                <p:cNvSpPr/>
                <p:nvPr/>
              </p:nvSpPr>
              <p:spPr>
                <a:xfrm>
                  <a:off x="1499812" y="3053380"/>
                  <a:ext cx="1161901" cy="189833"/>
                </a:xfrm>
                <a:prstGeom prst="rect">
                  <a:avLst/>
                </a:prstGeom>
                <a:noFill/>
              </p:spPr>
              <p:txBody>
                <a:bodyPr wrap="square" lIns="0" tIns="0" rIns="0" bIns="0" rtlCol="0" anchor="t">
                  <a:spAutoFit/>
                </a:bodyPr>
                <a:lstStyle/>
                <a:p>
                  <a:pPr marL="0" marR="0" lvl="0" indent="0" algn="ctr" defTabSz="73152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对于销售产品调性进行调整，符合品牌理念</a:t>
                  </a:r>
                  <a:endParaRPr kumimoji="0" lang="en-US" sz="1400" b="0" i="0" u="none" strike="noStrike" kern="1200" cap="none" spc="0" normalizeH="0" baseline="0" noProof="0" dirty="0">
                    <a:ln>
                      <a:noFill/>
                    </a:ln>
                    <a:solidFill>
                      <a:srgbClr val="FFFFFF"/>
                    </a:solidFill>
                    <a:effectLst/>
                    <a:uLnTx/>
                    <a:uFillTx/>
                    <a:cs typeface="+mn-ea"/>
                    <a:sym typeface="+mn-lt"/>
                  </a:endParaRPr>
                </a:p>
              </p:txBody>
            </p:sp>
          </p:grpSp>
          <p:grpSp>
            <p:nvGrpSpPr>
              <p:cNvPr id="66" name="组合 65"/>
              <p:cNvGrpSpPr/>
              <p:nvPr/>
            </p:nvGrpSpPr>
            <p:grpSpPr>
              <a:xfrm>
                <a:off x="7913843" y="4790257"/>
                <a:ext cx="2771089" cy="1023778"/>
                <a:chOff x="1291896" y="2879723"/>
                <a:chExt cx="1511908" cy="439883"/>
              </a:xfrm>
            </p:grpSpPr>
            <p:sp>
              <p:nvSpPr>
                <p:cNvPr id="67" name="lemon40-5"/>
                <p:cNvSpPr/>
                <p:nvPr/>
              </p:nvSpPr>
              <p:spPr>
                <a:xfrm>
                  <a:off x="1291896" y="2879723"/>
                  <a:ext cx="1511908" cy="439883"/>
                </a:xfrm>
                <a:prstGeom prst="roundRect">
                  <a:avLst>
                    <a:gd name="adj" fmla="val 0"/>
                  </a:avLst>
                </a:prstGeom>
                <a:solidFill>
                  <a:schemeClr val="accent1"/>
                </a:solidFill>
                <a:ln w="12700" cap="flat">
                  <a:noFill/>
                  <a:prstDash val="solid"/>
                  <a:miter/>
                </a:ln>
                <a:effectLst/>
              </p:spPr>
              <p:txBody>
                <a:bodyPr rtlCol="0" anchor="ctr"/>
                <a:lstStyle/>
                <a:p>
                  <a:pPr marL="0" marR="0" lvl="0" indent="0" algn="l" defTabSz="73152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dirty="0">
                    <a:ln>
                      <a:noFill/>
                    </a:ln>
                    <a:solidFill>
                      <a:srgbClr val="000000"/>
                    </a:solidFill>
                    <a:effectLst/>
                    <a:uLnTx/>
                    <a:uFillTx/>
                    <a:cs typeface="+mn-ea"/>
                    <a:sym typeface="+mn-lt"/>
                  </a:endParaRPr>
                </a:p>
              </p:txBody>
            </p:sp>
            <p:sp>
              <p:nvSpPr>
                <p:cNvPr id="68" name="lemon40-6"/>
                <p:cNvSpPr/>
                <p:nvPr/>
              </p:nvSpPr>
              <p:spPr>
                <a:xfrm>
                  <a:off x="1499812" y="3053380"/>
                  <a:ext cx="1161901" cy="189833"/>
                </a:xfrm>
                <a:prstGeom prst="rect">
                  <a:avLst/>
                </a:prstGeom>
                <a:noFill/>
              </p:spPr>
              <p:txBody>
                <a:bodyPr wrap="square" lIns="0" tIns="0" rIns="0" bIns="0" rtlCol="0" anchor="t">
                  <a:spAutoFit/>
                </a:bodyPr>
                <a:lstStyle/>
                <a:p>
                  <a:pPr marL="0" marR="0" lvl="0" indent="0" algn="ctr" defTabSz="73152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推陈出新出新，紧密围绕品牌做好商品开发</a:t>
                  </a:r>
                  <a:endParaRPr kumimoji="0" lang="en-US" sz="1400" b="0" i="0" u="none" strike="noStrike" kern="1200" cap="none" spc="0" normalizeH="0" baseline="0" noProof="0" dirty="0">
                    <a:ln>
                      <a:noFill/>
                    </a:ln>
                    <a:solidFill>
                      <a:srgbClr val="FFFFFF"/>
                    </a:solidFill>
                    <a:effectLst/>
                    <a:uLnTx/>
                    <a:uFillTx/>
                    <a:cs typeface="+mn-ea"/>
                    <a:sym typeface="+mn-lt"/>
                  </a:endParaRPr>
                </a:p>
              </p:txBody>
            </p:sp>
          </p:grpSp>
        </p:grpSp>
        <p:sp>
          <p:nvSpPr>
            <p:cNvPr id="63" name="lemon40-7"/>
            <p:cNvSpPr/>
            <p:nvPr/>
          </p:nvSpPr>
          <p:spPr>
            <a:xfrm>
              <a:off x="8747883" y="2081348"/>
              <a:ext cx="1103009" cy="349456"/>
            </a:xfrm>
            <a:prstGeom prst="rect">
              <a:avLst/>
            </a:prstGeom>
            <a:ln w="12700">
              <a:miter lim="400000"/>
            </a:ln>
          </p:spPr>
          <p:txBody>
            <a:bodyPr wrap="none" lIns="25400" tIns="25400" rIns="25400" bIns="25400" anchor="ctr">
              <a:noAutofit/>
            </a:bodyPr>
            <a:lstStyle/>
            <a:p>
              <a:pPr marL="0" marR="0" lvl="0" indent="0" algn="ctr" defTabSz="1219200" rtl="0" eaLnBrk="1" fontAlgn="auto" latinLnBrk="0" hangingPunct="0">
                <a:lnSpc>
                  <a:spcPct val="100000"/>
                </a:lnSpc>
                <a:spcBef>
                  <a:spcPts val="0"/>
                </a:spcBef>
                <a:spcAft>
                  <a:spcPts val="0"/>
                </a:spcAft>
                <a:buClrTx/>
                <a:buSzTx/>
                <a:buFontTx/>
                <a:buNone/>
                <a:defRPr/>
              </a:pPr>
              <a:r>
                <a:rPr kumimoji="0" lang="en-US" altLang="zh-CN" sz="1200" b="0" i="0" u="none" strike="noStrike" kern="0" cap="none" spc="0" normalizeH="0" baseline="0" noProof="0" dirty="0">
                  <a:ln>
                    <a:noFill/>
                  </a:ln>
                  <a:solidFill>
                    <a:srgbClr val="000000"/>
                  </a:solidFill>
                  <a:effectLst/>
                  <a:uLnTx/>
                  <a:uFillTx/>
                  <a:cs typeface="+mn-ea"/>
                  <a:sym typeface="+mn-lt"/>
                </a:rPr>
                <a:t>02</a:t>
              </a:r>
              <a:r>
                <a:rPr kumimoji="0" lang="zh-CN" altLang="en-US" sz="1200" b="0" i="0" u="none" strike="noStrike" kern="0" cap="none" spc="0" normalizeH="0" baseline="0" noProof="0" dirty="0">
                  <a:ln>
                    <a:noFill/>
                  </a:ln>
                  <a:solidFill>
                    <a:srgbClr val="000000"/>
                  </a:solidFill>
                  <a:effectLst/>
                  <a:uLnTx/>
                  <a:uFillTx/>
                  <a:cs typeface="+mn-ea"/>
                  <a:sym typeface="+mn-lt"/>
                </a:rPr>
                <a:t>、措施</a:t>
              </a:r>
              <a:endParaRPr kumimoji="0" lang="zh-CN" altLang="en-US" sz="1000" b="0" i="0" u="none" strike="noStrike" kern="0" cap="none" spc="0" normalizeH="0" baseline="0" noProof="0" dirty="0">
                <a:ln>
                  <a:noFill/>
                </a:ln>
                <a:solidFill>
                  <a:srgbClr val="000000">
                    <a:lumMod val="50000"/>
                    <a:lumOff val="50000"/>
                  </a:srgbClr>
                </a:solidFill>
                <a:effectLst/>
                <a:uLnTx/>
                <a:uFillTx/>
                <a:cs typeface="+mn-ea"/>
                <a:sym typeface="+mn-lt"/>
              </a:endParaRPr>
            </a:p>
          </p:txBody>
        </p:sp>
      </p:grpSp>
      <p:sp>
        <p:nvSpPr>
          <p:cNvPr id="73" name="lemon41"/>
          <p:cNvSpPr/>
          <p:nvPr/>
        </p:nvSpPr>
        <p:spPr>
          <a:xfrm>
            <a:off x="6247323" y="975413"/>
            <a:ext cx="5368627" cy="1128432"/>
          </a:xfrm>
          <a:prstGeom prst="roundRect">
            <a:avLst>
              <a:gd name="adj" fmla="val 2511"/>
            </a:avLst>
          </a:prstGeom>
          <a:solidFill>
            <a:schemeClr val="accent1">
              <a:lumMod val="20000"/>
              <a:lumOff val="80000"/>
              <a:alpha val="15079"/>
            </a:schemeClr>
          </a:solidFill>
          <a:ln w="12700">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74" name="lemon42"/>
          <p:cNvSpPr/>
          <p:nvPr/>
        </p:nvSpPr>
        <p:spPr>
          <a:xfrm>
            <a:off x="8719257" y="1080559"/>
            <a:ext cx="2800614" cy="926391"/>
          </a:xfrm>
          <a:prstGeom prst="rect">
            <a:avLst/>
          </a:prstGeom>
          <a:solidFill>
            <a:schemeClr val="bg1"/>
          </a:solidFill>
          <a:ln>
            <a:noFill/>
          </a:ln>
          <a:effectLst>
            <a:outerShdw blurRad="3810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75" name="lemon43"/>
          <p:cNvSpPr txBox="1"/>
          <p:nvPr/>
        </p:nvSpPr>
        <p:spPr>
          <a:xfrm>
            <a:off x="8762280" y="1256718"/>
            <a:ext cx="1640193"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329D"/>
                </a:solidFill>
                <a:effectLst/>
                <a:uLnTx/>
                <a:uFillTx/>
                <a:cs typeface="+mn-ea"/>
                <a:sym typeface="+mn-lt"/>
              </a:rPr>
              <a:t>2023</a:t>
            </a:r>
            <a:r>
              <a:rPr kumimoji="0" lang="zh-CN" altLang="en-US" sz="1000" b="0" i="0" u="none" strike="noStrike" kern="1200" cap="none" spc="0" normalizeH="0" baseline="0" noProof="0" dirty="0">
                <a:ln>
                  <a:noFill/>
                </a:ln>
                <a:solidFill>
                  <a:srgbClr val="00329D"/>
                </a:solidFill>
                <a:effectLst/>
                <a:uLnTx/>
                <a:uFillTx/>
                <a:cs typeface="+mn-ea"/>
                <a:sym typeface="+mn-lt"/>
              </a:rPr>
              <a:t>年电商双十一商城消</a:t>
            </a:r>
            <a:br>
              <a:rPr kumimoji="0" lang="en-US" altLang="zh-CN" sz="1000" b="0" i="0" u="none" strike="noStrike" kern="1200" cap="none" spc="0" normalizeH="0" baseline="0" noProof="0" dirty="0">
                <a:ln>
                  <a:noFill/>
                </a:ln>
                <a:solidFill>
                  <a:srgbClr val="00329D"/>
                </a:solidFill>
                <a:effectLst/>
                <a:uLnTx/>
                <a:uFillTx/>
                <a:cs typeface="+mn-ea"/>
                <a:sym typeface="+mn-lt"/>
              </a:rPr>
            </a:br>
            <a:r>
              <a:rPr kumimoji="0" lang="zh-CN" altLang="en-US" sz="1000" b="0" i="0" u="none" strike="noStrike" kern="1200" cap="none" spc="0" normalizeH="0" baseline="0" noProof="0" dirty="0">
                <a:ln>
                  <a:noFill/>
                </a:ln>
                <a:solidFill>
                  <a:srgbClr val="00329D"/>
                </a:solidFill>
                <a:effectLst/>
                <a:uLnTx/>
                <a:uFillTx/>
                <a:cs typeface="+mn-ea"/>
                <a:sym typeface="+mn-lt"/>
              </a:rPr>
              <a:t>费人数同比增长</a:t>
            </a:r>
            <a:endParaRPr kumimoji="0" lang="en-US" sz="1000" b="0" i="0" u="none" strike="noStrike" kern="1200" cap="none" spc="0" normalizeH="0" baseline="0" noProof="0" dirty="0">
              <a:ln>
                <a:noFill/>
              </a:ln>
              <a:solidFill>
                <a:srgbClr val="00329D"/>
              </a:solidFill>
              <a:effectLst/>
              <a:uLnTx/>
              <a:uFillTx/>
              <a:cs typeface="+mn-ea"/>
              <a:sym typeface="+mn-lt"/>
            </a:endParaRPr>
          </a:p>
        </p:txBody>
      </p:sp>
      <p:sp>
        <p:nvSpPr>
          <p:cNvPr id="76" name="lemon44"/>
          <p:cNvSpPr txBox="1"/>
          <p:nvPr/>
        </p:nvSpPr>
        <p:spPr>
          <a:xfrm>
            <a:off x="10152827" y="1154700"/>
            <a:ext cx="1289170" cy="83099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4800" b="1" i="0" u="none" strike="noStrike" kern="1200" cap="none" spc="0" normalizeH="0" baseline="0" noProof="0" dirty="0">
                <a:ln>
                  <a:noFill/>
                </a:ln>
                <a:solidFill>
                  <a:srgbClr val="4480FB"/>
                </a:solidFill>
                <a:effectLst/>
                <a:uLnTx/>
                <a:uFillTx/>
                <a:cs typeface="+mn-ea"/>
                <a:sym typeface="+mn-lt"/>
              </a:rPr>
              <a:t>76</a:t>
            </a:r>
            <a:r>
              <a:rPr kumimoji="1" lang="en-US" altLang="zh-CN" sz="2000" b="1" i="0" u="none" strike="noStrike" kern="1200" cap="none" spc="0" normalizeH="0" baseline="0" noProof="0" dirty="0">
                <a:ln>
                  <a:noFill/>
                </a:ln>
                <a:solidFill>
                  <a:srgbClr val="4480FB"/>
                </a:solidFill>
                <a:effectLst/>
                <a:uLnTx/>
                <a:uFillTx/>
                <a:cs typeface="+mn-ea"/>
                <a:sym typeface="+mn-lt"/>
              </a:rPr>
              <a:t>%</a:t>
            </a:r>
          </a:p>
        </p:txBody>
      </p:sp>
      <p:sp>
        <p:nvSpPr>
          <p:cNvPr id="77" name="lemon45"/>
          <p:cNvSpPr txBox="1"/>
          <p:nvPr/>
        </p:nvSpPr>
        <p:spPr>
          <a:xfrm>
            <a:off x="8784424" y="1607033"/>
            <a:ext cx="1545823" cy="369332"/>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GB" altLang="zh-CN" sz="600" b="0" i="0" u="none" strike="noStrike" kern="1200" cap="none" spc="0" normalizeH="0" baseline="0" noProof="0" dirty="0">
                <a:ln>
                  <a:noFill/>
                </a:ln>
                <a:solidFill>
                  <a:srgbClr val="000000"/>
                </a:solidFill>
                <a:effectLst/>
                <a:uLnTx/>
                <a:uFillTx/>
                <a:cs typeface="+mn-ea"/>
                <a:sym typeface="+mn-lt"/>
              </a:rPr>
              <a:t>E-commerce in 2023</a:t>
            </a:r>
            <a:r>
              <a:rPr kumimoji="0" lang="zh-CN" altLang="en-US" sz="600" b="0" i="0" u="none" strike="noStrike" kern="1200" cap="none" spc="0" normalizeH="0" baseline="0" noProof="0" dirty="0">
                <a:ln>
                  <a:noFill/>
                </a:ln>
                <a:solidFill>
                  <a:srgbClr val="000000"/>
                </a:solidFill>
                <a:effectLst/>
                <a:uLnTx/>
                <a:uFillTx/>
                <a:cs typeface="+mn-ea"/>
                <a:sym typeface="+mn-lt"/>
              </a:rPr>
              <a:t> </a:t>
            </a:r>
            <a:r>
              <a:rPr kumimoji="0" lang="en-GB" altLang="zh-CN" sz="600" b="0" i="0" u="none" strike="noStrike" kern="1200" cap="none" spc="0" normalizeH="0" baseline="0" noProof="0" dirty="0">
                <a:ln>
                  <a:noFill/>
                </a:ln>
                <a:solidFill>
                  <a:srgbClr val="000000"/>
                </a:solidFill>
                <a:effectLst/>
                <a:uLnTx/>
                <a:uFillTx/>
                <a:cs typeface="+mn-ea"/>
                <a:sym typeface="+mn-lt"/>
              </a:rPr>
              <a:t>The number of consumers in the Double Eleven increased year-on-year</a:t>
            </a:r>
          </a:p>
        </p:txBody>
      </p:sp>
      <p:sp>
        <p:nvSpPr>
          <p:cNvPr id="78" name="lemon46"/>
          <p:cNvSpPr/>
          <p:nvPr/>
        </p:nvSpPr>
        <p:spPr>
          <a:xfrm>
            <a:off x="6394531" y="1078481"/>
            <a:ext cx="2213735" cy="926391"/>
          </a:xfrm>
          <a:prstGeom prst="rect">
            <a:avLst/>
          </a:prstGeom>
          <a:solidFill>
            <a:schemeClr val="bg1"/>
          </a:solidFill>
          <a:ln>
            <a:noFill/>
          </a:ln>
          <a:effectLst>
            <a:outerShdw blurRad="3810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79" name="lemon47"/>
          <p:cNvSpPr/>
          <p:nvPr/>
        </p:nvSpPr>
        <p:spPr>
          <a:xfrm>
            <a:off x="6391508" y="1086003"/>
            <a:ext cx="34995" cy="9273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80" name="lemon48"/>
          <p:cNvSpPr txBox="1"/>
          <p:nvPr/>
        </p:nvSpPr>
        <p:spPr>
          <a:xfrm>
            <a:off x="6612185" y="1168734"/>
            <a:ext cx="1467068" cy="492443"/>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0329D"/>
                </a:solidFill>
                <a:effectLst/>
                <a:uLnTx/>
                <a:uFillTx/>
                <a:cs typeface="+mn-ea"/>
                <a:sym typeface="+mn-lt"/>
              </a:rPr>
              <a:t>2024</a:t>
            </a:r>
            <a:r>
              <a:rPr kumimoji="0" lang="zh-CN" altLang="en-US" sz="1600" b="0" i="0" u="none" strike="noStrike" kern="1200" cap="none" spc="0" normalizeH="0" baseline="0" noProof="0" dirty="0">
                <a:ln>
                  <a:noFill/>
                </a:ln>
                <a:solidFill>
                  <a:srgbClr val="00329D"/>
                </a:solidFill>
                <a:effectLst/>
                <a:uLnTx/>
                <a:uFillTx/>
                <a:cs typeface="+mn-ea"/>
                <a:sym typeface="+mn-lt"/>
              </a:rPr>
              <a:t>年</a:t>
            </a:r>
            <a:br>
              <a:rPr kumimoji="0" lang="en-US" altLang="zh-CN" sz="1000" b="0" i="0" u="none" strike="noStrike" kern="1200" cap="none" spc="0" normalizeH="0" baseline="0" noProof="0" dirty="0">
                <a:ln>
                  <a:noFill/>
                </a:ln>
                <a:solidFill>
                  <a:srgbClr val="00329D"/>
                </a:solidFill>
                <a:effectLst/>
                <a:uLnTx/>
                <a:uFillTx/>
                <a:cs typeface="+mn-ea"/>
                <a:sym typeface="+mn-lt"/>
              </a:rPr>
            </a:br>
            <a:r>
              <a:rPr kumimoji="0" lang="zh-CN" altLang="en-US" sz="1000" b="0" i="0" u="none" strike="noStrike" kern="1200" cap="none" spc="0" normalizeH="0" baseline="0" noProof="0" dirty="0">
                <a:ln>
                  <a:noFill/>
                </a:ln>
                <a:solidFill>
                  <a:srgbClr val="00329D"/>
                </a:solidFill>
                <a:effectLst/>
                <a:uLnTx/>
                <a:uFillTx/>
                <a:cs typeface="+mn-ea"/>
                <a:sym typeface="+mn-lt"/>
              </a:rPr>
              <a:t>平台各项业务数据表现</a:t>
            </a:r>
            <a:endParaRPr kumimoji="0" lang="en-US" sz="1000" b="0" i="0" u="none" strike="noStrike" kern="1200" cap="none" spc="0" normalizeH="0" baseline="0" noProof="0" dirty="0">
              <a:ln>
                <a:noFill/>
              </a:ln>
              <a:solidFill>
                <a:srgbClr val="00329D"/>
              </a:solidFill>
              <a:effectLst/>
              <a:uLnTx/>
              <a:uFillTx/>
              <a:cs typeface="+mn-ea"/>
              <a:sym typeface="+mn-lt"/>
            </a:endParaRPr>
          </a:p>
        </p:txBody>
      </p:sp>
      <p:sp>
        <p:nvSpPr>
          <p:cNvPr id="81" name="lemon49"/>
          <p:cNvSpPr txBox="1"/>
          <p:nvPr/>
        </p:nvSpPr>
        <p:spPr>
          <a:xfrm>
            <a:off x="6624583" y="1626396"/>
            <a:ext cx="1861763" cy="276999"/>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GB" altLang="zh-CN" sz="600" b="0" i="0" u="none" strike="noStrike" kern="1200" cap="none" spc="0" normalizeH="0" baseline="0" noProof="0" dirty="0">
                <a:ln>
                  <a:noFill/>
                </a:ln>
                <a:solidFill>
                  <a:srgbClr val="000000"/>
                </a:solidFill>
                <a:effectLst/>
                <a:uLnTx/>
                <a:uFillTx/>
                <a:cs typeface="+mn-ea"/>
                <a:sym typeface="+mn-lt"/>
              </a:rPr>
              <a:t>E-commerce in 2023</a:t>
            </a:r>
            <a:r>
              <a:rPr kumimoji="0" lang="zh-CN" altLang="en-US" sz="600" b="0" i="0" u="none" strike="noStrike" kern="1200" cap="none" spc="0" normalizeH="0" baseline="0" noProof="0" dirty="0">
                <a:ln>
                  <a:noFill/>
                </a:ln>
                <a:solidFill>
                  <a:srgbClr val="000000"/>
                </a:solidFill>
                <a:effectLst/>
                <a:uLnTx/>
                <a:uFillTx/>
                <a:cs typeface="+mn-ea"/>
                <a:sym typeface="+mn-lt"/>
              </a:rPr>
              <a:t> </a:t>
            </a:r>
            <a:r>
              <a:rPr kumimoji="0" lang="en-GB" altLang="zh-CN" sz="600" b="0" i="0" u="none" strike="noStrike" kern="1200" cap="none" spc="0" normalizeH="0" baseline="0" noProof="0" dirty="0">
                <a:ln>
                  <a:noFill/>
                </a:ln>
                <a:solidFill>
                  <a:srgbClr val="000000"/>
                </a:solidFill>
                <a:effectLst/>
                <a:uLnTx/>
                <a:uFillTx/>
                <a:cs typeface="+mn-ea"/>
                <a:sym typeface="+mn-lt"/>
              </a:rPr>
              <a:t>The number of consumers in the Double Eleven increased year-on-year</a:t>
            </a:r>
          </a:p>
        </p:txBody>
      </p:sp>
      <p:sp>
        <p:nvSpPr>
          <p:cNvPr id="82" name="lemon50"/>
          <p:cNvSpPr/>
          <p:nvPr/>
        </p:nvSpPr>
        <p:spPr>
          <a:xfrm>
            <a:off x="6261995" y="5778522"/>
            <a:ext cx="5607461" cy="655492"/>
          </a:xfrm>
          <a:prstGeom prst="roundRect">
            <a:avLst>
              <a:gd name="adj" fmla="val 2511"/>
            </a:avLst>
          </a:prstGeom>
          <a:solidFill>
            <a:schemeClr val="accent1">
              <a:lumMod val="20000"/>
              <a:lumOff val="80000"/>
              <a:alpha val="15079"/>
            </a:schemeClr>
          </a:solidFill>
          <a:ln w="12700">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86" name="lemon51"/>
          <p:cNvSpPr txBox="1"/>
          <p:nvPr/>
        </p:nvSpPr>
        <p:spPr>
          <a:xfrm>
            <a:off x="6372000" y="5913067"/>
            <a:ext cx="5558415" cy="400110"/>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结合</a:t>
            </a:r>
            <a:r>
              <a:rPr kumimoji="0" lang="en-US" altLang="zh-CN" sz="1000" b="0" i="0" u="none" strike="noStrike" kern="1200" cap="none" spc="0" normalizeH="0" baseline="0" noProof="0" dirty="0">
                <a:ln>
                  <a:noFill/>
                </a:ln>
                <a:solidFill>
                  <a:srgbClr val="000000"/>
                </a:solidFill>
                <a:effectLst/>
                <a:uLnTx/>
                <a:uFillTx/>
                <a:cs typeface="+mn-ea"/>
                <a:sym typeface="+mn-lt"/>
              </a:rPr>
              <a:t>2023</a:t>
            </a:r>
            <a:r>
              <a:rPr kumimoji="0" lang="zh-CN" altLang="en-US" sz="1000" b="0" i="0" u="none" strike="noStrike" kern="1200" cap="none" spc="0" normalizeH="0" baseline="0" noProof="0" dirty="0">
                <a:ln>
                  <a:noFill/>
                </a:ln>
                <a:solidFill>
                  <a:srgbClr val="000000"/>
                </a:solidFill>
                <a:effectLst/>
                <a:uLnTx/>
                <a:uFillTx/>
                <a:cs typeface="+mn-ea"/>
                <a:sym typeface="+mn-lt"/>
              </a:rPr>
              <a:t>年度数据，可以看出用户对于产品品牌的关注更加强烈，头部品牌的用户粘性显著增加，其中价格、营销手段、产品定位都对用户的停留起到了很大的影响。</a:t>
            </a:r>
            <a:endParaRPr kumimoji="0" lang="en-US" sz="1000" b="0" i="0" u="none" strike="noStrike" kern="1200" cap="none" spc="0" normalizeH="0" baseline="0" noProof="0" dirty="0">
              <a:ln>
                <a:noFill/>
              </a:ln>
              <a:solidFill>
                <a:srgbClr val="000000"/>
              </a:solidFill>
              <a:effectLst/>
              <a:uLnTx/>
              <a:uFillTx/>
              <a:cs typeface="+mn-ea"/>
              <a:sym typeface="+mn-lt"/>
            </a:endParaRPr>
          </a:p>
        </p:txBody>
      </p:sp>
      <p:sp>
        <p:nvSpPr>
          <p:cNvPr id="87" name="lemon52"/>
          <p:cNvSpPr txBox="1"/>
          <p:nvPr/>
        </p:nvSpPr>
        <p:spPr>
          <a:xfrm>
            <a:off x="6372000" y="2629209"/>
            <a:ext cx="1062652"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srgbClr val="00329D"/>
                </a:solidFill>
                <a:effectLst/>
                <a:uLnTx/>
                <a:uFillTx/>
                <a:cs typeface="+mn-ea"/>
                <a:sym typeface="+mn-lt"/>
              </a:rPr>
              <a:t>PART1</a:t>
            </a:r>
            <a:endParaRPr kumimoji="1" lang="zh-CN" altLang="en-US" sz="1800" b="0" i="0" u="none" strike="noStrike" kern="1200" cap="none" spc="0" normalizeH="0" baseline="0" noProof="0" dirty="0">
              <a:ln>
                <a:noFill/>
              </a:ln>
              <a:solidFill>
                <a:srgbClr val="00329D"/>
              </a:solidFill>
              <a:effectLst/>
              <a:uLnTx/>
              <a:uFillTx/>
              <a:cs typeface="+mn-ea"/>
              <a:sym typeface="+mn-lt"/>
            </a:endParaRPr>
          </a:p>
        </p:txBody>
      </p:sp>
      <p:sp>
        <p:nvSpPr>
          <p:cNvPr id="88" name="lemon53"/>
          <p:cNvSpPr txBox="1"/>
          <p:nvPr/>
        </p:nvSpPr>
        <p:spPr>
          <a:xfrm>
            <a:off x="6357712" y="4166701"/>
            <a:ext cx="1062652"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srgbClr val="00329D"/>
                </a:solidFill>
                <a:effectLst/>
                <a:uLnTx/>
                <a:uFillTx/>
                <a:cs typeface="+mn-ea"/>
                <a:sym typeface="+mn-lt"/>
              </a:rPr>
              <a:t>PART2</a:t>
            </a:r>
            <a:endParaRPr kumimoji="1" lang="zh-CN" altLang="en-US" sz="1800" b="0" i="0" u="none" strike="noStrike" kern="1200" cap="none" spc="0" normalizeH="0" baseline="0" noProof="0" dirty="0">
              <a:ln>
                <a:noFill/>
              </a:ln>
              <a:solidFill>
                <a:srgbClr val="00329D"/>
              </a:solidFill>
              <a:effectLst/>
              <a:uLnTx/>
              <a:uFillTx/>
              <a:cs typeface="+mn-ea"/>
              <a:sym typeface="+mn-lt"/>
            </a:endParaRPr>
          </a:p>
        </p:txBody>
      </p:sp>
      <p:sp>
        <p:nvSpPr>
          <p:cNvPr id="89" name="lemon54"/>
          <p:cNvSpPr/>
          <p:nvPr/>
        </p:nvSpPr>
        <p:spPr>
          <a:xfrm flipV="1">
            <a:off x="6387377" y="3872947"/>
            <a:ext cx="2499890" cy="45719"/>
          </a:xfrm>
          <a:prstGeom prst="roundRect">
            <a:avLst>
              <a:gd name="adj" fmla="val 0"/>
            </a:avLst>
          </a:prstGeom>
          <a:solidFill>
            <a:schemeClr val="accent1"/>
          </a:solidFill>
          <a:ln w="12700" cap="flat">
            <a:noFill/>
            <a:prstDash val="solid"/>
            <a:miter/>
          </a:ln>
          <a:effectLst/>
        </p:spPr>
        <p:txBody>
          <a:bodyPr rtlCol="0" anchor="ctr"/>
          <a:lstStyle/>
          <a:p>
            <a:pPr marL="0" marR="0" lvl="0" indent="0" algn="l" defTabSz="73152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dirty="0">
              <a:ln>
                <a:noFill/>
              </a:ln>
              <a:solidFill>
                <a:srgbClr val="000000"/>
              </a:solidFill>
              <a:effectLst/>
              <a:uLnTx/>
              <a:uFillTx/>
              <a:cs typeface="+mn-ea"/>
              <a:sym typeface="+mn-lt"/>
            </a:endParaRPr>
          </a:p>
        </p:txBody>
      </p:sp>
      <p:sp>
        <p:nvSpPr>
          <p:cNvPr id="90" name="lemon55"/>
          <p:cNvSpPr/>
          <p:nvPr/>
        </p:nvSpPr>
        <p:spPr>
          <a:xfrm flipV="1">
            <a:off x="6387377" y="5516815"/>
            <a:ext cx="2499890" cy="45719"/>
          </a:xfrm>
          <a:prstGeom prst="roundRect">
            <a:avLst>
              <a:gd name="adj" fmla="val 0"/>
            </a:avLst>
          </a:prstGeom>
          <a:solidFill>
            <a:schemeClr val="accent2"/>
          </a:solidFill>
          <a:ln w="12700" cap="flat">
            <a:noFill/>
            <a:prstDash val="solid"/>
            <a:miter/>
          </a:ln>
          <a:effectLst/>
        </p:spPr>
        <p:txBody>
          <a:bodyPr rtlCol="0" anchor="ctr"/>
          <a:lstStyle/>
          <a:p>
            <a:pPr marL="0" marR="0" lvl="0" indent="0" algn="l" defTabSz="73152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dirty="0">
              <a:ln>
                <a:noFill/>
              </a:ln>
              <a:solidFill>
                <a:srgbClr val="000000"/>
              </a:solidFill>
              <a:effectLst/>
              <a:uLnTx/>
              <a:uFillTx/>
              <a:cs typeface="+mn-ea"/>
              <a:sym typeface="+mn-lt"/>
            </a:endParaRPr>
          </a:p>
        </p:txBody>
      </p:sp>
      <p:sp>
        <p:nvSpPr>
          <p:cNvPr id="2" name="矩形: 圆角 7"/>
          <p:cNvSpPr/>
          <p:nvPr/>
        </p:nvSpPr>
        <p:spPr>
          <a:xfrm flipV="1">
            <a:off x="457802" y="696804"/>
            <a:ext cx="11388632" cy="4571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cs typeface="+mn-ea"/>
              <a:sym typeface="+mn-lt"/>
            </a:endParaRPr>
          </a:p>
        </p:txBody>
      </p:sp>
      <p:sp>
        <p:nvSpPr>
          <p:cNvPr id="3" name="Venn diagram"/>
          <p:cNvSpPr txBox="1"/>
          <p:nvPr/>
        </p:nvSpPr>
        <p:spPr>
          <a:xfrm>
            <a:off x="437924" y="204604"/>
            <a:ext cx="6651772" cy="420628"/>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algn="l"/>
            <a:r>
              <a:rPr lang="zh-CN" altLang="en-US" sz="2400" b="1" i="0" dirty="0">
                <a:solidFill>
                  <a:schemeClr val="accent1"/>
                </a:solidFill>
                <a:cs typeface="+mn-ea"/>
                <a:sym typeface="+mn-lt"/>
              </a:rPr>
              <a:t>高端</a:t>
            </a:r>
            <a:r>
              <a:rPr lang="en-US" sz="2400" b="1" i="0" dirty="0">
                <a:solidFill>
                  <a:schemeClr val="accent1"/>
                </a:solidFill>
                <a:cs typeface="+mn-ea"/>
                <a:sym typeface="+mn-lt"/>
              </a:rPr>
              <a:t>PPT</a:t>
            </a:r>
            <a:r>
              <a:rPr lang="zh-CN" altLang="en-US" sz="2400" b="1" i="0" dirty="0">
                <a:solidFill>
                  <a:schemeClr val="accent1"/>
                </a:solidFill>
                <a:cs typeface="+mn-ea"/>
                <a:sym typeface="+mn-lt"/>
              </a:rPr>
              <a:t>系列之一：打工人必备</a:t>
            </a:r>
            <a:r>
              <a:rPr lang="en-US" sz="2400" b="1" i="0" dirty="0">
                <a:solidFill>
                  <a:schemeClr val="accent1"/>
                </a:solidFill>
                <a:cs typeface="+mn-ea"/>
                <a:sym typeface="+mn-lt"/>
              </a:rPr>
              <a:t>PPT</a:t>
            </a:r>
            <a:r>
              <a:rPr lang="zh-CN" altLang="en-US" sz="2400" b="1" i="0" dirty="0">
                <a:solidFill>
                  <a:schemeClr val="accent1"/>
                </a:solidFill>
                <a:cs typeface="+mn-ea"/>
                <a:sym typeface="+mn-lt"/>
              </a:rPr>
              <a:t>逻辑图</a:t>
            </a:r>
            <a:endParaRPr sz="2400" b="1" i="0" dirty="0">
              <a:solidFill>
                <a:schemeClr val="accent1"/>
              </a:solidFill>
              <a:cs typeface="+mn-ea"/>
              <a:sym typeface="+mn-lt"/>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lemon1"/>
          <p:cNvSpPr/>
          <p:nvPr/>
        </p:nvSpPr>
        <p:spPr>
          <a:xfrm>
            <a:off x="7148002" y="1138587"/>
            <a:ext cx="3033772" cy="5175655"/>
          </a:xfrm>
          <a:prstGeom prst="roundRect">
            <a:avLst>
              <a:gd name="adj" fmla="val 2511"/>
            </a:avLst>
          </a:prstGeom>
          <a:solidFill>
            <a:schemeClr val="accent1">
              <a:lumMod val="20000"/>
              <a:lumOff val="80000"/>
              <a:alpha val="15079"/>
            </a:schemeClr>
          </a:solidFill>
          <a:ln w="12700">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3" name="lemon2"/>
          <p:cNvSpPr/>
          <p:nvPr/>
        </p:nvSpPr>
        <p:spPr>
          <a:xfrm flipV="1">
            <a:off x="3517816" y="2714383"/>
            <a:ext cx="1710331" cy="1"/>
          </a:xfrm>
          <a:prstGeom prst="line">
            <a:avLst/>
          </a:prstGeom>
          <a:ln w="12700">
            <a:solidFill>
              <a:schemeClr val="accent2"/>
            </a:solidFill>
            <a:miter lim="400000"/>
            <a:tailEnd type="triangle"/>
          </a:ln>
        </p:spPr>
        <p:txBody>
          <a:bodyPr lIns="25400" tIns="25400" rIns="25400" bIns="25400" anchor="ctr"/>
          <a:lstStyle/>
          <a:p>
            <a:pPr marL="0" marR="0" lvl="0" indent="0" algn="ctr" defTabSz="1219200" rtl="0" eaLnBrk="1" fontAlgn="auto" latinLnBrk="0" hangingPunct="0">
              <a:lnSpc>
                <a:spcPct val="100000"/>
              </a:lnSpc>
              <a:spcBef>
                <a:spcPts val="0"/>
              </a:spcBef>
              <a:spcAft>
                <a:spcPts val="0"/>
              </a:spcAft>
              <a:buClrTx/>
              <a:buSzTx/>
              <a:buFontTx/>
              <a:buNone/>
              <a:defRPr sz="1200">
                <a:solidFill>
                  <a:srgbClr val="5E5E5E"/>
                </a:solidFill>
                <a:latin typeface="Helvetica Neue"/>
                <a:ea typeface="Helvetica Neue"/>
                <a:cs typeface="Helvetica Neue"/>
                <a:sym typeface="Helvetica Neue"/>
              </a:defRPr>
            </a:pPr>
            <a:endParaRPr kumimoji="0" sz="1200" b="0" i="0" u="none" strike="noStrike" kern="0" cap="none" spc="0" normalizeH="0" baseline="0" noProof="0" dirty="0">
              <a:ln>
                <a:noFill/>
              </a:ln>
              <a:solidFill>
                <a:srgbClr val="4480FB"/>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15" name="lemon3"/>
          <p:cNvSpPr/>
          <p:nvPr/>
        </p:nvSpPr>
        <p:spPr>
          <a:xfrm flipV="1">
            <a:off x="3517816" y="3930466"/>
            <a:ext cx="1689401" cy="1"/>
          </a:xfrm>
          <a:prstGeom prst="line">
            <a:avLst/>
          </a:prstGeom>
          <a:ln w="12700">
            <a:solidFill>
              <a:schemeClr val="accent2"/>
            </a:solidFill>
            <a:miter lim="400000"/>
            <a:tailEnd type="triangle"/>
          </a:ln>
        </p:spPr>
        <p:txBody>
          <a:bodyPr lIns="25400" tIns="25400" rIns="25400" bIns="25400" anchor="ctr"/>
          <a:lstStyle/>
          <a:p>
            <a:pPr marL="0" marR="0" lvl="0" indent="0" algn="ctr" defTabSz="1219200" rtl="0" eaLnBrk="1" fontAlgn="auto" latinLnBrk="0" hangingPunct="0">
              <a:lnSpc>
                <a:spcPct val="100000"/>
              </a:lnSpc>
              <a:spcBef>
                <a:spcPts val="0"/>
              </a:spcBef>
              <a:spcAft>
                <a:spcPts val="0"/>
              </a:spcAft>
              <a:buClrTx/>
              <a:buSzTx/>
              <a:buFontTx/>
              <a:buNone/>
              <a:defRPr sz="1200">
                <a:solidFill>
                  <a:srgbClr val="5E5E5E"/>
                </a:solidFill>
                <a:latin typeface="Helvetica Neue"/>
                <a:ea typeface="Helvetica Neue"/>
                <a:cs typeface="Helvetica Neue"/>
                <a:sym typeface="Helvetica Neue"/>
              </a:defRPr>
            </a:pPr>
            <a:endParaRPr kumimoji="0" sz="1200" b="0" i="0" u="none" strike="noStrike" kern="0" cap="none" spc="0" normalizeH="0" baseline="0" noProof="0" dirty="0">
              <a:ln>
                <a:noFill/>
              </a:ln>
              <a:solidFill>
                <a:srgbClr val="4480FB"/>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17" name="lemon4"/>
          <p:cNvSpPr/>
          <p:nvPr/>
        </p:nvSpPr>
        <p:spPr>
          <a:xfrm>
            <a:off x="3517816" y="5042937"/>
            <a:ext cx="1663722" cy="0"/>
          </a:xfrm>
          <a:prstGeom prst="line">
            <a:avLst/>
          </a:prstGeom>
          <a:ln w="12700">
            <a:solidFill>
              <a:schemeClr val="accent2"/>
            </a:solidFill>
            <a:miter lim="400000"/>
            <a:tailEnd type="triangle"/>
          </a:ln>
        </p:spPr>
        <p:txBody>
          <a:bodyPr lIns="25400" tIns="25400" rIns="25400" bIns="25400" anchor="ctr"/>
          <a:lstStyle/>
          <a:p>
            <a:pPr marL="0" marR="0" lvl="0" indent="0" algn="ctr" defTabSz="1219200" rtl="0" eaLnBrk="1" fontAlgn="auto" latinLnBrk="0" hangingPunct="0">
              <a:lnSpc>
                <a:spcPct val="100000"/>
              </a:lnSpc>
              <a:spcBef>
                <a:spcPts val="0"/>
              </a:spcBef>
              <a:spcAft>
                <a:spcPts val="0"/>
              </a:spcAft>
              <a:buClrTx/>
              <a:buSzTx/>
              <a:buFontTx/>
              <a:buNone/>
              <a:defRPr sz="1200">
                <a:solidFill>
                  <a:srgbClr val="5E5E5E"/>
                </a:solidFill>
                <a:latin typeface="Helvetica Neue"/>
                <a:ea typeface="Helvetica Neue"/>
                <a:cs typeface="Helvetica Neue"/>
                <a:sym typeface="Helvetica Neue"/>
              </a:defRPr>
            </a:pPr>
            <a:endParaRPr kumimoji="0" sz="1200" b="0" i="0" u="none" strike="noStrike" kern="0" cap="none" spc="0" normalizeH="0" baseline="0" noProof="0" dirty="0">
              <a:ln>
                <a:noFill/>
              </a:ln>
              <a:solidFill>
                <a:srgbClr val="4480FB"/>
              </a:solidFill>
              <a:effectLst/>
              <a:uLnTx/>
              <a:uFillTx/>
              <a:latin typeface="思源黑体 CN Normal" panose="020B0400000000000000" pitchFamily="34" charset="-122"/>
              <a:ea typeface="思源黑体 CN Normal" panose="020B0400000000000000" pitchFamily="34" charset="-122"/>
              <a:cs typeface="+mn-ea"/>
              <a:sym typeface="+mn-lt"/>
            </a:endParaRPr>
          </a:p>
        </p:txBody>
      </p:sp>
      <p:grpSp>
        <p:nvGrpSpPr>
          <p:cNvPr id="114" name="lemon5"/>
          <p:cNvGrpSpPr/>
          <p:nvPr/>
        </p:nvGrpSpPr>
        <p:grpSpPr>
          <a:xfrm>
            <a:off x="5427377" y="2099429"/>
            <a:ext cx="1451860" cy="3266440"/>
            <a:chOff x="6149961" y="2491129"/>
            <a:chExt cx="1189490" cy="2676152"/>
          </a:xfrm>
        </p:grpSpPr>
        <p:sp>
          <p:nvSpPr>
            <p:cNvPr id="36" name="lemon5-1"/>
            <p:cNvSpPr/>
            <p:nvPr/>
          </p:nvSpPr>
          <p:spPr>
            <a:xfrm>
              <a:off x="6149961" y="2491129"/>
              <a:ext cx="981626" cy="981626"/>
            </a:xfrm>
            <a:prstGeom prst="ellipse">
              <a:avLst/>
            </a:prstGeom>
            <a:solidFill>
              <a:schemeClr val="accent2"/>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914400" rtl="0" eaLnBrk="1" fontAlgn="auto" latinLnBrk="0" hangingPunct="0">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7" name="lemon5-2"/>
            <p:cNvSpPr/>
            <p:nvPr/>
          </p:nvSpPr>
          <p:spPr>
            <a:xfrm>
              <a:off x="6149961" y="4185655"/>
              <a:ext cx="981626" cy="981626"/>
            </a:xfrm>
            <a:prstGeom prst="ellipse">
              <a:avLst/>
            </a:prstGeom>
            <a:solidFill>
              <a:schemeClr val="bg1"/>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ctr" defTabSz="914400" rtl="0" eaLnBrk="1" fontAlgn="auto" latinLnBrk="0" hangingPunct="0">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8" name="lemon5-3"/>
            <p:cNvSpPr/>
            <p:nvPr/>
          </p:nvSpPr>
          <p:spPr>
            <a:xfrm>
              <a:off x="6149961" y="3326319"/>
              <a:ext cx="981626" cy="981626"/>
            </a:xfrm>
            <a:prstGeom prst="ellipse">
              <a:avLst/>
            </a:prstGeom>
            <a:solidFill>
              <a:schemeClr val="accent1"/>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914400" rtl="0" eaLnBrk="1" fontAlgn="auto" latinLnBrk="0" hangingPunct="0">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9" name="lemon5-4"/>
            <p:cNvSpPr txBox="1"/>
            <p:nvPr/>
          </p:nvSpPr>
          <p:spPr>
            <a:xfrm>
              <a:off x="6317723" y="3680879"/>
              <a:ext cx="670778" cy="390539"/>
            </a:xfrm>
            <a:prstGeom prst="rect">
              <a:avLst/>
            </a:prstGeom>
            <a:ln w="12700">
              <a:miter lim="400000"/>
            </a:ln>
          </p:spPr>
          <p:txBody>
            <a:bodyPr lIns="0" tIns="0" rIns="0" bIns="0">
              <a:noAutofit/>
            </a:bodyPr>
            <a:lstStyle>
              <a:lvl1pPr algn="ctr" defTabSz="609600">
                <a:lnSpc>
                  <a:spcPts val="2000"/>
                </a:lnSpc>
                <a:defRPr b="1">
                  <a:solidFill>
                    <a:srgbClr val="FFFFFF"/>
                  </a:solidFill>
                  <a:latin typeface="Microsoft YaHei Bold"/>
                  <a:ea typeface="Microsoft YaHei Bold"/>
                  <a:cs typeface="Microsoft YaHei Bold"/>
                  <a:sym typeface="Microsoft YaHei Bold"/>
                </a:defRPr>
              </a:lvl1pPr>
            </a:lstStyle>
            <a:p>
              <a:pPr marL="0" marR="0" lvl="0" indent="0" algn="ctr" defTabSz="609600" rtl="0" eaLnBrk="1" fontAlgn="auto" latinLnBrk="0" hangingPunct="0">
                <a:lnSpc>
                  <a:spcPct val="13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uLnTx/>
                  <a:uFillTx/>
                  <a:latin typeface="+mn-lt"/>
                  <a:ea typeface="+mn-ea"/>
                  <a:cs typeface="+mn-ea"/>
                  <a:sym typeface="+mn-lt"/>
                </a:rPr>
                <a:t>骑行</a:t>
              </a:r>
              <a:endParaRPr kumimoji="0" sz="1800" b="0" i="0" u="none" strike="noStrike" kern="0" cap="none" spc="0" normalizeH="0" baseline="0" noProof="0" dirty="0">
                <a:ln>
                  <a:noFill/>
                </a:ln>
                <a:solidFill>
                  <a:srgbClr val="FFFFFF"/>
                </a:solidFill>
                <a:effectLst/>
                <a:uLnTx/>
                <a:uFillTx/>
                <a:latin typeface="+mn-lt"/>
                <a:ea typeface="+mn-ea"/>
                <a:cs typeface="+mn-ea"/>
                <a:sym typeface="+mn-lt"/>
              </a:endParaRPr>
            </a:p>
          </p:txBody>
        </p:sp>
        <p:sp>
          <p:nvSpPr>
            <p:cNvPr id="40" name="lemon5-5"/>
            <p:cNvSpPr txBox="1"/>
            <p:nvPr/>
          </p:nvSpPr>
          <p:spPr>
            <a:xfrm>
              <a:off x="6327284" y="2785708"/>
              <a:ext cx="670780" cy="300274"/>
            </a:xfrm>
            <a:prstGeom prst="rect">
              <a:avLst/>
            </a:prstGeom>
            <a:ln w="12700">
              <a:miter lim="400000"/>
            </a:ln>
          </p:spPr>
          <p:txBody>
            <a:bodyPr lIns="0" tIns="0" rIns="0" bIns="0">
              <a:noAutofit/>
            </a:bodyPr>
            <a:lstStyle>
              <a:lvl1pPr algn="ctr" defTabSz="609600">
                <a:lnSpc>
                  <a:spcPts val="2000"/>
                </a:lnSpc>
                <a:defRPr b="1">
                  <a:solidFill>
                    <a:srgbClr val="FFFFFF"/>
                  </a:solidFill>
                  <a:latin typeface="Microsoft YaHei Bold"/>
                  <a:ea typeface="Microsoft YaHei Bold"/>
                  <a:cs typeface="Microsoft YaHei Bold"/>
                  <a:sym typeface="Microsoft YaHei Bold"/>
                </a:defRPr>
              </a:lvl1pPr>
            </a:lstStyle>
            <a:p>
              <a:pPr marL="0" marR="0" lvl="0" indent="0" algn="ctr" defTabSz="609600" rtl="0" eaLnBrk="1" fontAlgn="auto" latinLnBrk="0" hangingPunct="0">
                <a:lnSpc>
                  <a:spcPct val="13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uLnTx/>
                  <a:uFillTx/>
                  <a:latin typeface="+mn-lt"/>
                  <a:ea typeface="+mn-ea"/>
                  <a:cs typeface="+mn-ea"/>
                  <a:sym typeface="+mn-lt"/>
                </a:rPr>
                <a:t>登山</a:t>
              </a:r>
              <a:endParaRPr kumimoji="0" sz="1800" b="0" i="0" u="none" strike="noStrike" kern="0" cap="none" spc="0" normalizeH="0" baseline="0" noProof="0" dirty="0">
                <a:ln>
                  <a:noFill/>
                </a:ln>
                <a:solidFill>
                  <a:srgbClr val="FFFFFF"/>
                </a:solidFill>
                <a:effectLst/>
                <a:uLnTx/>
                <a:uFillTx/>
                <a:latin typeface="+mn-lt"/>
                <a:ea typeface="+mn-ea"/>
                <a:cs typeface="+mn-ea"/>
                <a:sym typeface="+mn-lt"/>
              </a:endParaRPr>
            </a:p>
          </p:txBody>
        </p:sp>
        <p:sp>
          <p:nvSpPr>
            <p:cNvPr id="41" name="lemon5-6"/>
            <p:cNvSpPr txBox="1"/>
            <p:nvPr/>
          </p:nvSpPr>
          <p:spPr>
            <a:xfrm>
              <a:off x="6327284" y="4566596"/>
              <a:ext cx="670780" cy="300274"/>
            </a:xfrm>
            <a:prstGeom prst="rect">
              <a:avLst/>
            </a:prstGeom>
            <a:ln w="12700">
              <a:miter lim="400000"/>
            </a:ln>
          </p:spPr>
          <p:txBody>
            <a:bodyPr lIns="0" tIns="0" rIns="0" bIns="0">
              <a:noAutofit/>
            </a:bodyPr>
            <a:lstStyle>
              <a:lvl1pPr algn="ctr" defTabSz="609600">
                <a:lnSpc>
                  <a:spcPts val="2000"/>
                </a:lnSpc>
                <a:defRPr b="1">
                  <a:solidFill>
                    <a:srgbClr val="FFFFFF"/>
                  </a:solidFill>
                  <a:latin typeface="Microsoft YaHei Bold"/>
                  <a:ea typeface="Microsoft YaHei Bold"/>
                  <a:cs typeface="Microsoft YaHei Bold"/>
                  <a:sym typeface="Microsoft YaHei Bold"/>
                </a:defRPr>
              </a:lvl1pPr>
            </a:lstStyle>
            <a:p>
              <a:pPr marL="0" marR="0" lvl="0" indent="0" algn="ctr" defTabSz="609600" rtl="0" eaLnBrk="1" fontAlgn="auto" latinLnBrk="0" hangingPunct="0">
                <a:lnSpc>
                  <a:spcPct val="13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329D"/>
                  </a:solidFill>
                  <a:effectLst/>
                  <a:uLnTx/>
                  <a:uFillTx/>
                  <a:latin typeface="+mn-lt"/>
                  <a:ea typeface="+mn-ea"/>
                  <a:cs typeface="+mn-ea"/>
                  <a:sym typeface="+mn-lt"/>
                </a:rPr>
                <a:t>体育</a:t>
              </a:r>
              <a:endParaRPr kumimoji="0" sz="1800" b="0" i="0" u="none" strike="noStrike" kern="0" cap="none" spc="0" normalizeH="0" baseline="0" noProof="0" dirty="0">
                <a:ln>
                  <a:noFill/>
                </a:ln>
                <a:solidFill>
                  <a:srgbClr val="00329D"/>
                </a:solidFill>
                <a:effectLst/>
                <a:uLnTx/>
                <a:uFillTx/>
                <a:latin typeface="+mn-lt"/>
                <a:ea typeface="+mn-ea"/>
                <a:cs typeface="+mn-ea"/>
                <a:sym typeface="+mn-lt"/>
              </a:endParaRPr>
            </a:p>
          </p:txBody>
        </p:sp>
        <p:sp>
          <p:nvSpPr>
            <p:cNvPr id="43" name="lemon5-7"/>
            <p:cNvSpPr/>
            <p:nvPr/>
          </p:nvSpPr>
          <p:spPr>
            <a:xfrm flipH="1">
              <a:off x="6197884" y="2773632"/>
              <a:ext cx="1141567" cy="1141567"/>
            </a:xfrm>
            <a:prstGeom prst="arc">
              <a:avLst>
                <a:gd name="adj1" fmla="val 7783464"/>
                <a:gd name="adj2" fmla="val 13826139"/>
              </a:avLst>
            </a:prstGeom>
            <a:noFill/>
            <a:ln w="12700" cap="flat">
              <a:solidFill>
                <a:schemeClr val="accent1"/>
              </a:solidFill>
              <a:prstDash val="dash"/>
              <a:miter lim="800000"/>
              <a:headEnd type="triangle"/>
              <a:tailEnd type="triangle"/>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lvl="0" indent="0" algn="l" defTabSz="914400" rtl="0" eaLnBrk="1" fontAlgn="auto" latinLnBrk="1" hangingPunct="0">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44" name="lemon5-8"/>
            <p:cNvSpPr/>
            <p:nvPr/>
          </p:nvSpPr>
          <p:spPr>
            <a:xfrm flipH="1">
              <a:off x="6197884" y="3737161"/>
              <a:ext cx="1141567" cy="1141567"/>
            </a:xfrm>
            <a:prstGeom prst="arc">
              <a:avLst>
                <a:gd name="adj1" fmla="val 7783464"/>
                <a:gd name="adj2" fmla="val 13826139"/>
              </a:avLst>
            </a:prstGeom>
            <a:noFill/>
            <a:ln w="12700" cap="flat">
              <a:solidFill>
                <a:schemeClr val="accent1"/>
              </a:solidFill>
              <a:prstDash val="dash"/>
              <a:miter lim="800000"/>
              <a:headEnd type="triangle"/>
              <a:tailEnd type="triangle"/>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lvl="0" indent="0" algn="l" defTabSz="914400" rtl="0" eaLnBrk="1" fontAlgn="auto" latinLnBrk="1" hangingPunct="0">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grpSp>
      <p:cxnSp>
        <p:nvCxnSpPr>
          <p:cNvPr id="85" name="lemon6"/>
          <p:cNvCxnSpPr/>
          <p:nvPr/>
        </p:nvCxnSpPr>
        <p:spPr>
          <a:xfrm>
            <a:off x="3883505" y="5476591"/>
            <a:ext cx="3263442" cy="302720"/>
          </a:xfrm>
          <a:prstGeom prst="line">
            <a:avLst/>
          </a:prstGeom>
          <a:ln w="15875">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8" name="lemon7"/>
          <p:cNvCxnSpPr/>
          <p:nvPr/>
        </p:nvCxnSpPr>
        <p:spPr>
          <a:xfrm flipV="1">
            <a:off x="3794932" y="1501709"/>
            <a:ext cx="3352015" cy="230459"/>
          </a:xfrm>
          <a:prstGeom prst="line">
            <a:avLst/>
          </a:prstGeom>
          <a:ln w="158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lemon8"/>
          <p:cNvSpPr/>
          <p:nvPr/>
        </p:nvSpPr>
        <p:spPr>
          <a:xfrm>
            <a:off x="7279570" y="2565827"/>
            <a:ext cx="2771089" cy="998456"/>
          </a:xfrm>
          <a:prstGeom prst="roundRect">
            <a:avLst>
              <a:gd name="adj" fmla="val 0"/>
            </a:avLst>
          </a:prstGeom>
          <a:solidFill>
            <a:schemeClr val="accent1"/>
          </a:solidFill>
          <a:ln w="12700" cap="flat">
            <a:noFill/>
            <a:prstDash val="solid"/>
            <a:miter/>
          </a:ln>
          <a:effectLst/>
        </p:spPr>
        <p:txBody>
          <a:bodyPr rtlCol="0" anchor="ctr"/>
          <a:lstStyle/>
          <a:p>
            <a:pPr marL="0" marR="0" lvl="0" indent="0" algn="l" defTabSz="73152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dirty="0">
              <a:ln>
                <a:noFill/>
              </a:ln>
              <a:solidFill>
                <a:srgbClr val="000000"/>
              </a:solidFill>
              <a:effectLst/>
              <a:uLnTx/>
              <a:uFillTx/>
              <a:cs typeface="+mn-ea"/>
              <a:sym typeface="+mn-lt"/>
            </a:endParaRPr>
          </a:p>
        </p:txBody>
      </p:sp>
      <p:sp>
        <p:nvSpPr>
          <p:cNvPr id="102" name="lemon9"/>
          <p:cNvSpPr/>
          <p:nvPr/>
        </p:nvSpPr>
        <p:spPr>
          <a:xfrm>
            <a:off x="7456458" y="2876763"/>
            <a:ext cx="1281947" cy="430887"/>
          </a:xfrm>
          <a:prstGeom prst="rect">
            <a:avLst/>
          </a:prstGeom>
          <a:noFill/>
        </p:spPr>
        <p:txBody>
          <a:bodyPr wrap="square" lIns="0" tIns="0" rIns="0" bIns="0" rtlCol="0" anchor="t">
            <a:spAutoFit/>
          </a:bodyPr>
          <a:lstStyle/>
          <a:p>
            <a:pPr marL="0" marR="0" lvl="0" indent="0" algn="ctr" defTabSz="73152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FFFFFF"/>
                </a:solidFill>
                <a:effectLst/>
                <a:uLnTx/>
                <a:uFillTx/>
                <a:cs typeface="+mn-ea"/>
                <a:sym typeface="+mn-lt"/>
              </a:rPr>
              <a:t>2024</a:t>
            </a:r>
            <a:r>
              <a:rPr kumimoji="0" lang="zh-CN" altLang="en-US" sz="1400" b="0" i="0" u="none" strike="noStrike" kern="1200" cap="none" spc="0" normalizeH="0" baseline="0" noProof="0" dirty="0">
                <a:ln>
                  <a:noFill/>
                </a:ln>
                <a:solidFill>
                  <a:srgbClr val="FFFFFF"/>
                </a:solidFill>
                <a:effectLst/>
                <a:uLnTx/>
                <a:uFillTx/>
                <a:cs typeface="+mn-ea"/>
                <a:sym typeface="+mn-lt"/>
              </a:rPr>
              <a:t>年度</a:t>
            </a:r>
            <a:r>
              <a:rPr kumimoji="0" lang="en-US" sz="1400" b="0" i="0" u="none" strike="noStrike" kern="1200" cap="none" spc="0" normalizeH="0" baseline="0" noProof="0" dirty="0" err="1">
                <a:ln>
                  <a:noFill/>
                </a:ln>
                <a:solidFill>
                  <a:srgbClr val="FFFFFF"/>
                </a:solidFill>
                <a:effectLst/>
                <a:uLnTx/>
                <a:uFillTx/>
                <a:cs typeface="+mn-ea"/>
                <a:sym typeface="+mn-lt"/>
              </a:rPr>
              <a:t>整体</a:t>
            </a:r>
            <a:br>
              <a:rPr kumimoji="0" lang="en-US" sz="1400" b="0" i="0" u="none" strike="noStrike" kern="1200" cap="none" spc="0" normalizeH="0" baseline="0" noProof="0" dirty="0">
                <a:ln>
                  <a:noFill/>
                </a:ln>
                <a:solidFill>
                  <a:srgbClr val="FFFFFF"/>
                </a:solidFill>
                <a:effectLst/>
                <a:uLnTx/>
                <a:uFillTx/>
                <a:cs typeface="+mn-ea"/>
                <a:sym typeface="+mn-lt"/>
              </a:rPr>
            </a:br>
            <a:r>
              <a:rPr kumimoji="0" lang="en-US" sz="1400" b="0" i="0" u="none" strike="noStrike" kern="1200" cap="none" spc="0" normalizeH="0" baseline="0" noProof="0" dirty="0" err="1">
                <a:ln>
                  <a:noFill/>
                </a:ln>
                <a:solidFill>
                  <a:srgbClr val="FFFFFF"/>
                </a:solidFill>
                <a:effectLst/>
                <a:uLnTx/>
                <a:uFillTx/>
                <a:cs typeface="+mn-ea"/>
                <a:sym typeface="+mn-lt"/>
              </a:rPr>
              <a:t>销量提升</a:t>
            </a:r>
            <a:endParaRPr kumimoji="0" lang="en-US" sz="1400" b="0" i="0" u="none" strike="noStrike" kern="1200" cap="none" spc="0" normalizeH="0" baseline="0" noProof="0" dirty="0">
              <a:ln>
                <a:noFill/>
              </a:ln>
              <a:solidFill>
                <a:srgbClr val="FFFFFF"/>
              </a:solidFill>
              <a:effectLst/>
              <a:uLnTx/>
              <a:uFillTx/>
              <a:cs typeface="+mn-ea"/>
              <a:sym typeface="+mn-lt"/>
            </a:endParaRPr>
          </a:p>
        </p:txBody>
      </p:sp>
      <p:sp>
        <p:nvSpPr>
          <p:cNvPr id="99" name="lemon10"/>
          <p:cNvSpPr/>
          <p:nvPr/>
        </p:nvSpPr>
        <p:spPr>
          <a:xfrm>
            <a:off x="7279569" y="3627893"/>
            <a:ext cx="2771089" cy="998456"/>
          </a:xfrm>
          <a:prstGeom prst="roundRect">
            <a:avLst>
              <a:gd name="adj" fmla="val 0"/>
            </a:avLst>
          </a:prstGeom>
          <a:solidFill>
            <a:schemeClr val="accent2"/>
          </a:solidFill>
          <a:ln w="12700" cap="flat">
            <a:noFill/>
            <a:prstDash val="solid"/>
            <a:miter/>
          </a:ln>
          <a:effectLst/>
        </p:spPr>
        <p:txBody>
          <a:bodyPr rtlCol="0" anchor="ctr"/>
          <a:lstStyle/>
          <a:p>
            <a:pPr marL="0" marR="0" lvl="0" indent="0" algn="l" defTabSz="73152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dirty="0">
              <a:ln>
                <a:noFill/>
              </a:ln>
              <a:solidFill>
                <a:srgbClr val="000000"/>
              </a:solidFill>
              <a:effectLst/>
              <a:uLnTx/>
              <a:uFillTx/>
              <a:cs typeface="+mn-ea"/>
              <a:sym typeface="+mn-lt"/>
            </a:endParaRPr>
          </a:p>
        </p:txBody>
      </p:sp>
      <p:sp>
        <p:nvSpPr>
          <p:cNvPr id="97" name="lemon11"/>
          <p:cNvSpPr/>
          <p:nvPr/>
        </p:nvSpPr>
        <p:spPr>
          <a:xfrm>
            <a:off x="7279569" y="4689960"/>
            <a:ext cx="2771089" cy="998456"/>
          </a:xfrm>
          <a:prstGeom prst="roundRect">
            <a:avLst>
              <a:gd name="adj" fmla="val 0"/>
            </a:avLst>
          </a:prstGeom>
          <a:solidFill>
            <a:schemeClr val="accent1"/>
          </a:solidFill>
          <a:ln w="12700" cap="flat">
            <a:noFill/>
            <a:prstDash val="solid"/>
            <a:miter/>
          </a:ln>
          <a:effectLst/>
        </p:spPr>
        <p:txBody>
          <a:bodyPr rtlCol="0" anchor="ctr"/>
          <a:lstStyle/>
          <a:p>
            <a:pPr marL="0" marR="0" lvl="0" indent="0" algn="l" defTabSz="73152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dirty="0">
              <a:ln>
                <a:noFill/>
              </a:ln>
              <a:solidFill>
                <a:srgbClr val="000000"/>
              </a:solidFill>
              <a:effectLst/>
              <a:uLnTx/>
              <a:uFillTx/>
              <a:cs typeface="+mn-ea"/>
              <a:sym typeface="+mn-lt"/>
            </a:endParaRPr>
          </a:p>
        </p:txBody>
      </p:sp>
      <p:sp>
        <p:nvSpPr>
          <p:cNvPr id="105" name="lemon12"/>
          <p:cNvSpPr/>
          <p:nvPr/>
        </p:nvSpPr>
        <p:spPr>
          <a:xfrm>
            <a:off x="7284683" y="1267134"/>
            <a:ext cx="2765975" cy="1128432"/>
          </a:xfrm>
          <a:prstGeom prst="roundRect">
            <a:avLst>
              <a:gd name="adj" fmla="val 2511"/>
            </a:avLst>
          </a:prstGeom>
          <a:solidFill>
            <a:schemeClr val="accent2">
              <a:alpha val="15079"/>
            </a:schemeClr>
          </a:solidFill>
          <a:ln w="12700">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10" name="lemon13"/>
          <p:cNvSpPr/>
          <p:nvPr/>
        </p:nvSpPr>
        <p:spPr>
          <a:xfrm>
            <a:off x="7431891" y="1370202"/>
            <a:ext cx="2516098" cy="926391"/>
          </a:xfrm>
          <a:prstGeom prst="rect">
            <a:avLst/>
          </a:prstGeom>
          <a:solidFill>
            <a:schemeClr val="bg1"/>
          </a:solidFill>
          <a:ln>
            <a:noFill/>
          </a:ln>
          <a:effectLst>
            <a:outerShdw blurRad="3810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11" name="lemon14"/>
          <p:cNvSpPr/>
          <p:nvPr/>
        </p:nvSpPr>
        <p:spPr>
          <a:xfrm>
            <a:off x="7428868" y="1377724"/>
            <a:ext cx="34995" cy="92735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12" name="lemon15"/>
          <p:cNvSpPr txBox="1"/>
          <p:nvPr/>
        </p:nvSpPr>
        <p:spPr>
          <a:xfrm>
            <a:off x="7649545" y="1460455"/>
            <a:ext cx="1800493" cy="50013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0329D"/>
                </a:solidFill>
                <a:effectLst/>
                <a:uLnTx/>
                <a:uFillTx/>
                <a:cs typeface="+mn-ea"/>
                <a:sym typeface="+mn-lt"/>
              </a:rPr>
              <a:t>2024</a:t>
            </a:r>
            <a:r>
              <a:rPr kumimoji="0" lang="zh-CN" altLang="en-US" sz="1600" b="0" i="0" u="none" strike="noStrike" kern="1200" cap="none" spc="0" normalizeH="0" baseline="0" noProof="0" dirty="0">
                <a:ln>
                  <a:noFill/>
                </a:ln>
                <a:solidFill>
                  <a:srgbClr val="00329D"/>
                </a:solidFill>
                <a:effectLst/>
                <a:uLnTx/>
                <a:uFillTx/>
                <a:cs typeface="+mn-ea"/>
                <a:sym typeface="+mn-lt"/>
              </a:rPr>
              <a:t>年</a:t>
            </a:r>
            <a:br>
              <a:rPr kumimoji="0" lang="en-US" altLang="zh-CN" sz="1000" b="0" i="0" u="none" strike="noStrike" kern="1200" cap="none" spc="0" normalizeH="0" baseline="0" noProof="0" dirty="0">
                <a:ln>
                  <a:noFill/>
                </a:ln>
                <a:solidFill>
                  <a:srgbClr val="00329D"/>
                </a:solidFill>
                <a:effectLst/>
                <a:uLnTx/>
                <a:uFillTx/>
                <a:cs typeface="+mn-ea"/>
                <a:sym typeface="+mn-lt"/>
              </a:rPr>
            </a:br>
            <a:r>
              <a:rPr kumimoji="0" lang="zh-CN" altLang="en-US" sz="1050" b="0" i="0" u="none" strike="noStrike" kern="1200" cap="none" spc="0" normalizeH="0" baseline="0" noProof="0" dirty="0">
                <a:ln>
                  <a:noFill/>
                </a:ln>
                <a:solidFill>
                  <a:srgbClr val="00329D"/>
                </a:solidFill>
                <a:effectLst/>
                <a:uLnTx/>
                <a:uFillTx/>
                <a:cs typeface="+mn-ea"/>
                <a:sym typeface="+mn-lt"/>
              </a:rPr>
              <a:t>户外运动品类销售数据表现</a:t>
            </a:r>
            <a:endParaRPr kumimoji="0" lang="en-US" sz="1000" b="0" i="0" u="none" strike="noStrike" kern="1200" cap="none" spc="0" normalizeH="0" baseline="0" noProof="0" dirty="0">
              <a:ln>
                <a:noFill/>
              </a:ln>
              <a:solidFill>
                <a:srgbClr val="00329D"/>
              </a:solidFill>
              <a:effectLst/>
              <a:uLnTx/>
              <a:uFillTx/>
              <a:cs typeface="+mn-ea"/>
              <a:sym typeface="+mn-lt"/>
            </a:endParaRPr>
          </a:p>
        </p:txBody>
      </p:sp>
      <p:sp>
        <p:nvSpPr>
          <p:cNvPr id="113" name="lemon16"/>
          <p:cNvSpPr txBox="1"/>
          <p:nvPr/>
        </p:nvSpPr>
        <p:spPr>
          <a:xfrm>
            <a:off x="7661943" y="1918117"/>
            <a:ext cx="2084692"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GB" altLang="zh-CN" sz="800" b="0" i="0" u="none" strike="noStrike" kern="1200" cap="none" spc="0" normalizeH="0" baseline="0" noProof="0" dirty="0">
                <a:ln>
                  <a:noFill/>
                </a:ln>
                <a:solidFill>
                  <a:srgbClr val="000000"/>
                </a:solidFill>
                <a:effectLst/>
                <a:uLnTx/>
                <a:uFillTx/>
                <a:cs typeface="+mn-ea"/>
                <a:sym typeface="+mn-lt"/>
              </a:rPr>
              <a:t>Sales data performance of outdoor sports categories</a:t>
            </a:r>
            <a:endParaRPr kumimoji="0" lang="en-GB" altLang="zh-CN" sz="600" b="0" i="0" u="none" strike="noStrike" kern="1200" cap="none" spc="0" normalizeH="0" baseline="0" noProof="0" dirty="0">
              <a:ln>
                <a:noFill/>
              </a:ln>
              <a:solidFill>
                <a:srgbClr val="000000"/>
              </a:solidFill>
              <a:effectLst/>
              <a:uLnTx/>
              <a:uFillTx/>
              <a:cs typeface="+mn-ea"/>
              <a:sym typeface="+mn-lt"/>
            </a:endParaRPr>
          </a:p>
        </p:txBody>
      </p:sp>
      <p:sp>
        <p:nvSpPr>
          <p:cNvPr id="123" name="lemon17"/>
          <p:cNvSpPr txBox="1"/>
          <p:nvPr/>
        </p:nvSpPr>
        <p:spPr>
          <a:xfrm rot="21385802">
            <a:off x="4711865" y="1339213"/>
            <a:ext cx="1952945" cy="168701"/>
          </a:xfrm>
          <a:prstGeom prst="rect">
            <a:avLst/>
          </a:prstGeom>
          <a:ln w="12700">
            <a:miter lim="400000"/>
          </a:ln>
        </p:spPr>
        <p:txBody>
          <a:bodyPr wrap="square" lIns="0" tIns="0" rIns="0" bIns="0">
            <a:spAutoFit/>
          </a:bodyPr>
          <a:lstStyle/>
          <a:p>
            <a:pPr marL="0" marR="0" lvl="0" indent="0" algn="ctr" defTabSz="609600" rtl="0" eaLnBrk="1" fontAlgn="auto" latinLnBrk="0" hangingPunct="0">
              <a:lnSpc>
                <a:spcPct val="130000"/>
              </a:lnSpc>
              <a:spcBef>
                <a:spcPts val="400"/>
              </a:spcBef>
              <a:spcAft>
                <a:spcPts val="0"/>
              </a:spcAft>
              <a:buClrTx/>
              <a:buSzTx/>
              <a:buFontTx/>
              <a:buNone/>
              <a:defRPr sz="1200" spc="123">
                <a:latin typeface="Microsoft YaHei UI Regular"/>
                <a:ea typeface="Microsoft YaHei UI Regular"/>
                <a:cs typeface="Microsoft YaHei UI Regular"/>
                <a:sym typeface="Microsoft YaHei UI Regular"/>
              </a:defRPr>
            </a:pPr>
            <a:r>
              <a:rPr kumimoji="0" lang="zh-CN" altLang="en-US"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rPr>
              <a:t>户外运动需求催生销量</a:t>
            </a:r>
            <a:endParaRPr kumimoji="0" lang="en-US" altLang="zh-CN"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126" name="lemon18"/>
          <p:cNvSpPr txBox="1"/>
          <p:nvPr/>
        </p:nvSpPr>
        <p:spPr>
          <a:xfrm rot="21385802">
            <a:off x="4758143" y="1670642"/>
            <a:ext cx="1952945" cy="168701"/>
          </a:xfrm>
          <a:prstGeom prst="rect">
            <a:avLst/>
          </a:prstGeom>
          <a:ln w="12700">
            <a:miter lim="400000"/>
          </a:ln>
        </p:spPr>
        <p:txBody>
          <a:bodyPr wrap="square" lIns="0" tIns="0" rIns="0" bIns="0">
            <a:spAutoFit/>
          </a:bodyPr>
          <a:lstStyle/>
          <a:p>
            <a:pPr marL="0" marR="0" lvl="0" indent="0" algn="ctr" defTabSz="609600" rtl="0" eaLnBrk="1" fontAlgn="auto" latinLnBrk="0" hangingPunct="0">
              <a:lnSpc>
                <a:spcPct val="130000"/>
              </a:lnSpc>
              <a:spcBef>
                <a:spcPts val="400"/>
              </a:spcBef>
              <a:spcAft>
                <a:spcPts val="0"/>
              </a:spcAft>
              <a:buClrTx/>
              <a:buSzTx/>
              <a:buFontTx/>
              <a:buNone/>
              <a:defRPr sz="1200" spc="123">
                <a:latin typeface="Microsoft YaHei UI Regular"/>
                <a:ea typeface="Microsoft YaHei UI Regular"/>
                <a:cs typeface="Microsoft YaHei UI Regular"/>
                <a:sym typeface="Microsoft YaHei UI Regular"/>
              </a:defRPr>
            </a:pPr>
            <a:r>
              <a:rPr kumimoji="0" lang="zh-CN" altLang="en-US"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rPr>
              <a:t>销量提升对户外运动起到推动作用</a:t>
            </a:r>
            <a:endParaRPr kumimoji="0" lang="en-US" altLang="zh-CN"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127" name="lemon19"/>
          <p:cNvSpPr txBox="1"/>
          <p:nvPr/>
        </p:nvSpPr>
        <p:spPr>
          <a:xfrm rot="299101">
            <a:off x="4931920" y="5391807"/>
            <a:ext cx="1952945" cy="168701"/>
          </a:xfrm>
          <a:prstGeom prst="rect">
            <a:avLst/>
          </a:prstGeom>
          <a:ln w="12700">
            <a:miter lim="400000"/>
          </a:ln>
        </p:spPr>
        <p:txBody>
          <a:bodyPr wrap="square" lIns="0" tIns="0" rIns="0" bIns="0">
            <a:spAutoFit/>
          </a:bodyPr>
          <a:lstStyle/>
          <a:p>
            <a:pPr marL="0" marR="0" lvl="0" indent="0" algn="ctr" defTabSz="609600" rtl="0" eaLnBrk="1" fontAlgn="auto" latinLnBrk="0" hangingPunct="0">
              <a:lnSpc>
                <a:spcPct val="130000"/>
              </a:lnSpc>
              <a:spcBef>
                <a:spcPts val="400"/>
              </a:spcBef>
              <a:spcAft>
                <a:spcPts val="0"/>
              </a:spcAft>
              <a:buClrTx/>
              <a:buSzTx/>
              <a:buFontTx/>
              <a:buNone/>
              <a:defRPr sz="1200" spc="123">
                <a:latin typeface="Microsoft YaHei UI Regular"/>
                <a:ea typeface="Microsoft YaHei UI Regular"/>
                <a:cs typeface="Microsoft YaHei UI Regular"/>
                <a:sym typeface="Microsoft YaHei UI Regular"/>
              </a:defRPr>
            </a:pPr>
            <a:r>
              <a:rPr kumimoji="0" lang="zh-CN" altLang="en-US"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rPr>
              <a:t>户外运动需求催生销量</a:t>
            </a:r>
            <a:endParaRPr kumimoji="0" lang="en-US" altLang="zh-CN"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129" name="lemon20"/>
          <p:cNvSpPr txBox="1"/>
          <p:nvPr/>
        </p:nvSpPr>
        <p:spPr>
          <a:xfrm rot="299101">
            <a:off x="4858596" y="5722012"/>
            <a:ext cx="1952945" cy="168701"/>
          </a:xfrm>
          <a:prstGeom prst="rect">
            <a:avLst/>
          </a:prstGeom>
          <a:ln w="12700">
            <a:miter lim="400000"/>
          </a:ln>
        </p:spPr>
        <p:txBody>
          <a:bodyPr wrap="square" lIns="0" tIns="0" rIns="0" bIns="0">
            <a:spAutoFit/>
          </a:bodyPr>
          <a:lstStyle/>
          <a:p>
            <a:pPr marL="0" marR="0" lvl="0" indent="0" algn="ctr" defTabSz="609600" rtl="0" eaLnBrk="1" fontAlgn="auto" latinLnBrk="0" hangingPunct="0">
              <a:lnSpc>
                <a:spcPct val="130000"/>
              </a:lnSpc>
              <a:spcBef>
                <a:spcPts val="400"/>
              </a:spcBef>
              <a:spcAft>
                <a:spcPts val="0"/>
              </a:spcAft>
              <a:buClrTx/>
              <a:buSzTx/>
              <a:buFontTx/>
              <a:buNone/>
              <a:defRPr sz="1200" spc="123">
                <a:latin typeface="Microsoft YaHei UI Regular"/>
                <a:ea typeface="Microsoft YaHei UI Regular"/>
                <a:cs typeface="Microsoft YaHei UI Regular"/>
                <a:sym typeface="Microsoft YaHei UI Regular"/>
              </a:defRPr>
            </a:pPr>
            <a:r>
              <a:rPr kumimoji="0" lang="zh-CN" altLang="en-US"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rPr>
              <a:t>销量提升对户外运动起到推动作用</a:t>
            </a:r>
            <a:endParaRPr kumimoji="0" lang="en-US" altLang="zh-CN" sz="900" b="0" i="0" u="none" strike="noStrike" kern="0" cap="none" spc="123"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133" name="lemon21"/>
          <p:cNvSpPr/>
          <p:nvPr/>
        </p:nvSpPr>
        <p:spPr>
          <a:xfrm>
            <a:off x="10754903" y="2141000"/>
            <a:ext cx="93644" cy="936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34" name="lemon22"/>
          <p:cNvSpPr/>
          <p:nvPr/>
        </p:nvSpPr>
        <p:spPr>
          <a:xfrm>
            <a:off x="10766315" y="3608890"/>
            <a:ext cx="93644" cy="936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35" name="lemon23"/>
          <p:cNvSpPr/>
          <p:nvPr/>
        </p:nvSpPr>
        <p:spPr>
          <a:xfrm>
            <a:off x="10897027" y="2007086"/>
            <a:ext cx="894056" cy="471732"/>
          </a:xfrm>
          <a:prstGeom prst="roundRect">
            <a:avLst>
              <a:gd name="adj" fmla="val 8650"/>
            </a:avLst>
          </a:prstGeom>
          <a:solidFill>
            <a:schemeClr val="bg1"/>
          </a:solidFill>
          <a:ln>
            <a:solidFill>
              <a:schemeClr val="accent2"/>
            </a:solidFill>
          </a:ln>
          <a:effectLst>
            <a:outerShdw blurRad="3810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37" name="lemon24"/>
          <p:cNvSpPr txBox="1"/>
          <p:nvPr/>
        </p:nvSpPr>
        <p:spPr>
          <a:xfrm>
            <a:off x="10848547" y="2103110"/>
            <a:ext cx="1037120"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公路车</a:t>
            </a:r>
            <a:endParaRPr kumimoji="0" lang="en-US" sz="1200" b="0" i="0" u="none" strike="noStrike" kern="1200" cap="none" spc="0" normalizeH="0" baseline="0" noProof="0" dirty="0">
              <a:ln>
                <a:noFill/>
              </a:ln>
              <a:solidFill>
                <a:srgbClr val="000000"/>
              </a:solidFill>
              <a:effectLst/>
              <a:uLnTx/>
              <a:uFillTx/>
              <a:cs typeface="+mn-ea"/>
              <a:sym typeface="+mn-lt"/>
            </a:endParaRPr>
          </a:p>
        </p:txBody>
      </p:sp>
      <p:cxnSp>
        <p:nvCxnSpPr>
          <p:cNvPr id="141" name="lemon25"/>
          <p:cNvCxnSpPr/>
          <p:nvPr/>
        </p:nvCxnSpPr>
        <p:spPr>
          <a:xfrm flipH="1">
            <a:off x="10444743" y="2187822"/>
            <a:ext cx="340" cy="2817816"/>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cxnSp>
        <p:nvCxnSpPr>
          <p:cNvPr id="142" name="lemon26"/>
          <p:cNvCxnSpPr/>
          <p:nvPr/>
        </p:nvCxnSpPr>
        <p:spPr>
          <a:xfrm flipH="1">
            <a:off x="10445083" y="2187822"/>
            <a:ext cx="298348"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cxnSp>
        <p:nvCxnSpPr>
          <p:cNvPr id="146" name="lemon27"/>
          <p:cNvCxnSpPr/>
          <p:nvPr/>
        </p:nvCxnSpPr>
        <p:spPr>
          <a:xfrm flipH="1">
            <a:off x="10148146" y="3656470"/>
            <a:ext cx="298348"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cxnSp>
        <p:nvCxnSpPr>
          <p:cNvPr id="148" name="lemon28"/>
          <p:cNvCxnSpPr/>
          <p:nvPr/>
        </p:nvCxnSpPr>
        <p:spPr>
          <a:xfrm flipH="1">
            <a:off x="10445083" y="2898917"/>
            <a:ext cx="298348"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cxnSp>
        <p:nvCxnSpPr>
          <p:cNvPr id="149" name="lemon29"/>
          <p:cNvCxnSpPr/>
          <p:nvPr/>
        </p:nvCxnSpPr>
        <p:spPr>
          <a:xfrm flipH="1">
            <a:off x="10456959" y="3655376"/>
            <a:ext cx="298348"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cxnSp>
        <p:nvCxnSpPr>
          <p:cNvPr id="150" name="lemon30"/>
          <p:cNvCxnSpPr/>
          <p:nvPr/>
        </p:nvCxnSpPr>
        <p:spPr>
          <a:xfrm flipH="1">
            <a:off x="10445083" y="4321796"/>
            <a:ext cx="298348"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cxnSp>
        <p:nvCxnSpPr>
          <p:cNvPr id="151" name="lemon31"/>
          <p:cNvCxnSpPr/>
          <p:nvPr/>
        </p:nvCxnSpPr>
        <p:spPr>
          <a:xfrm flipH="1">
            <a:off x="10466957" y="5005638"/>
            <a:ext cx="298348"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sp>
        <p:nvSpPr>
          <p:cNvPr id="153" name="lemon32"/>
          <p:cNvSpPr/>
          <p:nvPr/>
        </p:nvSpPr>
        <p:spPr>
          <a:xfrm>
            <a:off x="10754903" y="2851366"/>
            <a:ext cx="93644" cy="936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58" name="lemon33"/>
          <p:cNvSpPr txBox="1"/>
          <p:nvPr/>
        </p:nvSpPr>
        <p:spPr>
          <a:xfrm>
            <a:off x="524576" y="959823"/>
            <a:ext cx="4624984"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00329D"/>
                </a:solidFill>
                <a:effectLst/>
                <a:uLnTx/>
                <a:uFillTx/>
                <a:cs typeface="+mn-ea"/>
                <a:sym typeface="+mn-lt"/>
              </a:rPr>
              <a:t>2024</a:t>
            </a:r>
            <a:r>
              <a:rPr kumimoji="0" lang="zh-CN" altLang="en-US" sz="1400" b="1" i="0" u="none" strike="noStrike" kern="1200" cap="none" spc="0" normalizeH="0" baseline="0" noProof="0" dirty="0">
                <a:ln>
                  <a:noFill/>
                </a:ln>
                <a:solidFill>
                  <a:srgbClr val="00329D"/>
                </a:solidFill>
                <a:effectLst/>
                <a:uLnTx/>
                <a:uFillTx/>
                <a:cs typeface="+mn-ea"/>
                <a:sym typeface="+mn-lt"/>
              </a:rPr>
              <a:t>年电商商城户外运动流量结构（截止</a:t>
            </a:r>
            <a:r>
              <a:rPr kumimoji="0" lang="en-US" altLang="zh-CN" sz="1400" b="1" i="0" u="none" strike="noStrike" kern="1200" cap="none" spc="0" normalizeH="0" baseline="0" noProof="0" dirty="0">
                <a:ln>
                  <a:noFill/>
                </a:ln>
                <a:solidFill>
                  <a:srgbClr val="00329D"/>
                </a:solidFill>
                <a:effectLst/>
                <a:uLnTx/>
                <a:uFillTx/>
                <a:cs typeface="+mn-ea"/>
                <a:sym typeface="+mn-lt"/>
              </a:rPr>
              <a:t>2024</a:t>
            </a:r>
            <a:r>
              <a:rPr kumimoji="0" lang="zh-CN" altLang="en-US" sz="1400" b="1" i="0" u="none" strike="noStrike" kern="1200" cap="none" spc="0" normalizeH="0" baseline="0" noProof="0" dirty="0">
                <a:ln>
                  <a:noFill/>
                </a:ln>
                <a:solidFill>
                  <a:srgbClr val="00329D"/>
                </a:solidFill>
                <a:effectLst/>
                <a:uLnTx/>
                <a:uFillTx/>
                <a:cs typeface="+mn-ea"/>
                <a:sym typeface="+mn-lt"/>
              </a:rPr>
              <a:t>年</a:t>
            </a:r>
            <a:r>
              <a:rPr kumimoji="0" lang="en-US" altLang="zh-CN" sz="1400" b="1" i="0" u="none" strike="noStrike" kern="1200" cap="none" spc="0" normalizeH="0" baseline="0" noProof="0" dirty="0">
                <a:ln>
                  <a:noFill/>
                </a:ln>
                <a:solidFill>
                  <a:srgbClr val="00329D"/>
                </a:solidFill>
                <a:effectLst/>
                <a:uLnTx/>
                <a:uFillTx/>
                <a:cs typeface="+mn-ea"/>
                <a:sym typeface="+mn-lt"/>
              </a:rPr>
              <a:t>3</a:t>
            </a:r>
            <a:r>
              <a:rPr kumimoji="0" lang="zh-CN" altLang="en-US" sz="1400" b="1" i="0" u="none" strike="noStrike" kern="1200" cap="none" spc="0" normalizeH="0" baseline="0" noProof="0" dirty="0">
                <a:ln>
                  <a:noFill/>
                </a:ln>
                <a:solidFill>
                  <a:srgbClr val="00329D"/>
                </a:solidFill>
                <a:effectLst/>
                <a:uLnTx/>
                <a:uFillTx/>
                <a:cs typeface="+mn-ea"/>
                <a:sym typeface="+mn-lt"/>
              </a:rPr>
              <a:t>月）</a:t>
            </a:r>
            <a:endParaRPr kumimoji="0" lang="en-US" sz="1400" b="1" i="0" u="none" strike="noStrike" kern="1200" cap="none" spc="0" normalizeH="0" baseline="0" noProof="0" dirty="0">
              <a:ln>
                <a:noFill/>
              </a:ln>
              <a:solidFill>
                <a:srgbClr val="00329D"/>
              </a:solidFill>
              <a:effectLst/>
              <a:uLnTx/>
              <a:uFillTx/>
              <a:cs typeface="+mn-ea"/>
              <a:sym typeface="+mn-lt"/>
            </a:endParaRPr>
          </a:p>
        </p:txBody>
      </p:sp>
      <p:sp>
        <p:nvSpPr>
          <p:cNvPr id="159" name="lemon34"/>
          <p:cNvSpPr txBox="1"/>
          <p:nvPr/>
        </p:nvSpPr>
        <p:spPr>
          <a:xfrm>
            <a:off x="1166692" y="5967054"/>
            <a:ext cx="2941831"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329D"/>
                </a:solidFill>
                <a:effectLst/>
                <a:uLnTx/>
                <a:uFillTx/>
                <a:cs typeface="+mn-ea"/>
                <a:sym typeface="+mn-lt"/>
              </a:rPr>
              <a:t>2024</a:t>
            </a:r>
            <a:r>
              <a:rPr kumimoji="0" lang="zh-CN" altLang="en-US" sz="1400" b="0" i="0" u="none" strike="noStrike" kern="1200" cap="none" spc="0" normalizeH="0" baseline="0" noProof="0" dirty="0">
                <a:ln>
                  <a:noFill/>
                </a:ln>
                <a:solidFill>
                  <a:srgbClr val="00329D"/>
                </a:solidFill>
                <a:effectLst/>
                <a:uLnTx/>
                <a:uFillTx/>
                <a:cs typeface="+mn-ea"/>
                <a:sym typeface="+mn-lt"/>
              </a:rPr>
              <a:t>年户外运动品类正在迅速崛起</a:t>
            </a:r>
            <a:endParaRPr kumimoji="0" lang="en-US" sz="1400" b="0" i="0" u="none" strike="noStrike" kern="1200" cap="none" spc="0" normalizeH="0" baseline="0" noProof="0" dirty="0">
              <a:ln>
                <a:noFill/>
              </a:ln>
              <a:solidFill>
                <a:srgbClr val="00329D"/>
              </a:solidFill>
              <a:effectLst/>
              <a:uLnTx/>
              <a:uFillTx/>
              <a:cs typeface="+mn-ea"/>
              <a:sym typeface="+mn-lt"/>
            </a:endParaRPr>
          </a:p>
        </p:txBody>
      </p:sp>
      <p:sp>
        <p:nvSpPr>
          <p:cNvPr id="160" name="lemon35"/>
          <p:cNvSpPr txBox="1"/>
          <p:nvPr/>
        </p:nvSpPr>
        <p:spPr>
          <a:xfrm>
            <a:off x="8780927" y="2671941"/>
            <a:ext cx="1289170" cy="83099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4800" b="1" i="0" u="none" strike="noStrike" kern="1200" cap="none" spc="0" normalizeH="0" baseline="0" noProof="0" dirty="0">
                <a:ln>
                  <a:noFill/>
                </a:ln>
                <a:solidFill>
                  <a:srgbClr val="F8F8F8"/>
                </a:solidFill>
                <a:effectLst/>
                <a:uLnTx/>
                <a:uFillTx/>
                <a:cs typeface="+mn-ea"/>
                <a:sym typeface="+mn-lt"/>
              </a:rPr>
              <a:t>96</a:t>
            </a:r>
            <a:r>
              <a:rPr kumimoji="1" lang="en-US" altLang="zh-CN" sz="2000" b="1" i="0" u="none" strike="noStrike" kern="1200" cap="none" spc="0" normalizeH="0" baseline="0" noProof="0" dirty="0">
                <a:ln>
                  <a:noFill/>
                </a:ln>
                <a:solidFill>
                  <a:srgbClr val="F8F8F8"/>
                </a:solidFill>
                <a:effectLst/>
                <a:uLnTx/>
                <a:uFillTx/>
                <a:cs typeface="+mn-ea"/>
                <a:sym typeface="+mn-lt"/>
              </a:rPr>
              <a:t>%</a:t>
            </a:r>
          </a:p>
        </p:txBody>
      </p:sp>
      <p:sp>
        <p:nvSpPr>
          <p:cNvPr id="168" name="lemon36"/>
          <p:cNvSpPr/>
          <p:nvPr/>
        </p:nvSpPr>
        <p:spPr>
          <a:xfrm>
            <a:off x="7462944" y="3952876"/>
            <a:ext cx="1281947" cy="430887"/>
          </a:xfrm>
          <a:prstGeom prst="rect">
            <a:avLst/>
          </a:prstGeom>
          <a:noFill/>
        </p:spPr>
        <p:txBody>
          <a:bodyPr wrap="square" lIns="0" tIns="0" rIns="0" bIns="0" rtlCol="0" anchor="t">
            <a:spAutoFit/>
          </a:bodyPr>
          <a:lstStyle/>
          <a:p>
            <a:pPr marL="0" marR="0" lvl="0" indent="0" algn="ctr" defTabSz="73152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dirty="0" err="1">
                <a:ln>
                  <a:noFill/>
                </a:ln>
                <a:solidFill>
                  <a:srgbClr val="FFFFFF"/>
                </a:solidFill>
                <a:effectLst/>
                <a:uLnTx/>
                <a:uFillTx/>
                <a:cs typeface="+mn-ea"/>
                <a:sym typeface="+mn-lt"/>
              </a:rPr>
              <a:t>露营装备</a:t>
            </a:r>
            <a:r>
              <a:rPr kumimoji="0" lang="zh-CN" altLang="en-US" sz="1400" b="0" i="0" u="none" strike="noStrike" kern="1200" cap="none" spc="0" normalizeH="0" baseline="0" noProof="0" dirty="0">
                <a:ln>
                  <a:noFill/>
                </a:ln>
                <a:solidFill>
                  <a:srgbClr val="FFFFFF"/>
                </a:solidFill>
                <a:effectLst/>
                <a:uLnTx/>
                <a:uFillTx/>
                <a:cs typeface="+mn-ea"/>
                <a:sym typeface="+mn-lt"/>
              </a:rPr>
              <a:t>（帐篷等）提升显著</a:t>
            </a:r>
            <a:endParaRPr kumimoji="0" lang="en-US" sz="1400" b="0" i="0" u="none" strike="noStrike" kern="1200" cap="none" spc="0" normalizeH="0" baseline="0" noProof="0" dirty="0">
              <a:ln>
                <a:noFill/>
              </a:ln>
              <a:solidFill>
                <a:srgbClr val="FFFFFF"/>
              </a:solidFill>
              <a:effectLst/>
              <a:uLnTx/>
              <a:uFillTx/>
              <a:cs typeface="+mn-ea"/>
              <a:sym typeface="+mn-lt"/>
            </a:endParaRPr>
          </a:p>
        </p:txBody>
      </p:sp>
      <p:sp>
        <p:nvSpPr>
          <p:cNvPr id="169" name="lemon37"/>
          <p:cNvSpPr txBox="1"/>
          <p:nvPr/>
        </p:nvSpPr>
        <p:spPr>
          <a:xfrm>
            <a:off x="8787413" y="3748054"/>
            <a:ext cx="1289170" cy="83099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4800" b="1" i="0" u="none" strike="noStrike" kern="1200" cap="none" spc="0" normalizeH="0" baseline="0" noProof="0" dirty="0">
                <a:ln>
                  <a:noFill/>
                </a:ln>
                <a:solidFill>
                  <a:srgbClr val="F8F8F8"/>
                </a:solidFill>
                <a:effectLst/>
                <a:uLnTx/>
                <a:uFillTx/>
                <a:cs typeface="+mn-ea"/>
                <a:sym typeface="+mn-lt"/>
              </a:rPr>
              <a:t>86</a:t>
            </a:r>
            <a:r>
              <a:rPr kumimoji="1" lang="en-US" altLang="zh-CN" sz="2000" b="1" i="0" u="none" strike="noStrike" kern="1200" cap="none" spc="0" normalizeH="0" baseline="0" noProof="0" dirty="0">
                <a:ln>
                  <a:noFill/>
                </a:ln>
                <a:solidFill>
                  <a:srgbClr val="F8F8F8"/>
                </a:solidFill>
                <a:effectLst/>
                <a:uLnTx/>
                <a:uFillTx/>
                <a:cs typeface="+mn-ea"/>
                <a:sym typeface="+mn-lt"/>
              </a:rPr>
              <a:t>%</a:t>
            </a:r>
          </a:p>
        </p:txBody>
      </p:sp>
      <p:sp>
        <p:nvSpPr>
          <p:cNvPr id="170" name="lemon38"/>
          <p:cNvSpPr/>
          <p:nvPr/>
        </p:nvSpPr>
        <p:spPr>
          <a:xfrm>
            <a:off x="7456458" y="4981853"/>
            <a:ext cx="1281947" cy="430887"/>
          </a:xfrm>
          <a:prstGeom prst="rect">
            <a:avLst/>
          </a:prstGeom>
          <a:noFill/>
        </p:spPr>
        <p:txBody>
          <a:bodyPr wrap="square" lIns="0" tIns="0" rIns="0" bIns="0" rtlCol="0" anchor="t">
            <a:spAutoFit/>
          </a:bodyPr>
          <a:lstStyle/>
          <a:p>
            <a:pPr marL="0" marR="0" lvl="0" indent="0" algn="ctr" defTabSz="73152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运动装备等增量相对较缓</a:t>
            </a:r>
            <a:endParaRPr kumimoji="0" lang="en-US" sz="1400" b="0" i="0" u="none" strike="noStrike" kern="1200" cap="none" spc="0" normalizeH="0" baseline="0" noProof="0" dirty="0">
              <a:ln>
                <a:noFill/>
              </a:ln>
              <a:solidFill>
                <a:srgbClr val="FFFFFF"/>
              </a:solidFill>
              <a:effectLst/>
              <a:uLnTx/>
              <a:uFillTx/>
              <a:cs typeface="+mn-ea"/>
              <a:sym typeface="+mn-lt"/>
            </a:endParaRPr>
          </a:p>
        </p:txBody>
      </p:sp>
      <p:sp>
        <p:nvSpPr>
          <p:cNvPr id="171" name="lemon39"/>
          <p:cNvSpPr txBox="1"/>
          <p:nvPr/>
        </p:nvSpPr>
        <p:spPr>
          <a:xfrm>
            <a:off x="8780927" y="4777031"/>
            <a:ext cx="1289170" cy="83099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4800" b="1" i="0" u="none" strike="noStrike" kern="1200" cap="none" spc="0" normalizeH="0" baseline="0" noProof="0" dirty="0">
                <a:ln>
                  <a:noFill/>
                </a:ln>
                <a:solidFill>
                  <a:srgbClr val="F8F8F8"/>
                </a:solidFill>
                <a:effectLst/>
                <a:uLnTx/>
                <a:uFillTx/>
                <a:cs typeface="+mn-ea"/>
                <a:sym typeface="+mn-lt"/>
              </a:rPr>
              <a:t>52</a:t>
            </a:r>
            <a:r>
              <a:rPr kumimoji="1" lang="en-US" altLang="zh-CN" sz="2000" b="1" i="0" u="none" strike="noStrike" kern="1200" cap="none" spc="0" normalizeH="0" baseline="0" noProof="0" dirty="0">
                <a:ln>
                  <a:noFill/>
                </a:ln>
                <a:solidFill>
                  <a:srgbClr val="F8F8F8"/>
                </a:solidFill>
                <a:effectLst/>
                <a:uLnTx/>
                <a:uFillTx/>
                <a:cs typeface="+mn-ea"/>
                <a:sym typeface="+mn-lt"/>
              </a:rPr>
              <a:t>%</a:t>
            </a:r>
          </a:p>
        </p:txBody>
      </p:sp>
      <p:sp>
        <p:nvSpPr>
          <p:cNvPr id="172" name="lemon40"/>
          <p:cNvSpPr/>
          <p:nvPr/>
        </p:nvSpPr>
        <p:spPr>
          <a:xfrm>
            <a:off x="7295297" y="5767697"/>
            <a:ext cx="2765975" cy="433516"/>
          </a:xfrm>
          <a:prstGeom prst="roundRect">
            <a:avLst>
              <a:gd name="adj" fmla="val 2511"/>
            </a:avLst>
          </a:prstGeom>
          <a:solidFill>
            <a:schemeClr val="accent2">
              <a:alpha val="15079"/>
            </a:schemeClr>
          </a:solidFill>
          <a:ln w="12700">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73" name="lemon41"/>
          <p:cNvSpPr/>
          <p:nvPr/>
        </p:nvSpPr>
        <p:spPr>
          <a:xfrm rot="10800000">
            <a:off x="10456959" y="914727"/>
            <a:ext cx="1263522" cy="687573"/>
          </a:xfrm>
          <a:prstGeom prst="wedgeRoundRectCallout">
            <a:avLst>
              <a:gd name="adj1" fmla="val -6606"/>
              <a:gd name="adj2" fmla="val -104682"/>
              <a:gd name="adj3" fmla="val 16667"/>
            </a:avLst>
          </a:prstGeom>
          <a:solidFill>
            <a:schemeClr val="bg1"/>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74" name="lemon42"/>
          <p:cNvSpPr txBox="1"/>
          <p:nvPr/>
        </p:nvSpPr>
        <p:spPr>
          <a:xfrm>
            <a:off x="10609887" y="1027462"/>
            <a:ext cx="1094176" cy="482504"/>
          </a:xfrm>
          <a:prstGeom prst="rect">
            <a:avLst/>
          </a:prstGeom>
          <a:noFill/>
          <a:ln w="12700" cap="flat">
            <a:noFill/>
            <a:miter lim="400000"/>
          </a:ln>
          <a:effectLst/>
        </p:spPr>
        <p:txBody>
          <a:bodyPr wrap="square" lIns="25400" tIns="25400" rIns="25400" bIns="25400" numCol="1" anchor="ctr">
            <a:spAutoFit/>
          </a:bodyPr>
          <a:lstStyle>
            <a:lvl1pPr algn="l">
              <a:defRPr sz="2200" b="0">
                <a:solidFill>
                  <a:srgbClr val="FFFFFF"/>
                </a:solidFill>
                <a:latin typeface="Arial" panose="020B0604020202020204"/>
                <a:ea typeface="Arial" panose="020B0604020202020204"/>
                <a:cs typeface="Arial" panose="020B0604020202020204"/>
                <a:sym typeface="Arial" panose="020B0604020202020204"/>
              </a:defRPr>
            </a:lvl1pPr>
          </a:lstStyle>
          <a:p>
            <a:pPr marL="0" marR="0" lvl="0" indent="0" algn="l" defTabSz="457200" rtl="0" eaLnBrk="1" fontAlgn="auto" latinLnBrk="0" hangingPunct="1">
              <a:lnSpc>
                <a:spcPts val="168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latin typeface="+mn-lt"/>
                <a:ea typeface="+mn-ea"/>
                <a:cs typeface="+mn-ea"/>
                <a:sym typeface="+mn-lt"/>
              </a:rPr>
              <a:t>细分高销量领域产品</a:t>
            </a:r>
          </a:p>
        </p:txBody>
      </p:sp>
      <p:sp>
        <p:nvSpPr>
          <p:cNvPr id="175" name="lemon43"/>
          <p:cNvSpPr/>
          <p:nvPr/>
        </p:nvSpPr>
        <p:spPr>
          <a:xfrm>
            <a:off x="10775833" y="4273196"/>
            <a:ext cx="93644" cy="936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77" name="lemon44"/>
          <p:cNvSpPr/>
          <p:nvPr/>
        </p:nvSpPr>
        <p:spPr>
          <a:xfrm>
            <a:off x="10775833" y="4963466"/>
            <a:ext cx="93644" cy="936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80" name="lemon45"/>
          <p:cNvSpPr/>
          <p:nvPr/>
        </p:nvSpPr>
        <p:spPr>
          <a:xfrm>
            <a:off x="10899009" y="2662136"/>
            <a:ext cx="894056" cy="471732"/>
          </a:xfrm>
          <a:prstGeom prst="roundRect">
            <a:avLst>
              <a:gd name="adj" fmla="val 8650"/>
            </a:avLst>
          </a:prstGeom>
          <a:solidFill>
            <a:schemeClr val="bg1"/>
          </a:solidFill>
          <a:ln>
            <a:solidFill>
              <a:schemeClr val="accent2"/>
            </a:solidFill>
          </a:ln>
          <a:effectLst>
            <a:outerShdw blurRad="3810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81" name="lemon46"/>
          <p:cNvSpPr txBox="1"/>
          <p:nvPr/>
        </p:nvSpPr>
        <p:spPr>
          <a:xfrm>
            <a:off x="10850529" y="2758160"/>
            <a:ext cx="1037120"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山地车</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182" name="lemon47"/>
          <p:cNvSpPr/>
          <p:nvPr/>
        </p:nvSpPr>
        <p:spPr>
          <a:xfrm>
            <a:off x="10905396" y="3438521"/>
            <a:ext cx="894056" cy="471732"/>
          </a:xfrm>
          <a:prstGeom prst="roundRect">
            <a:avLst>
              <a:gd name="adj" fmla="val 8650"/>
            </a:avLst>
          </a:prstGeom>
          <a:solidFill>
            <a:schemeClr val="bg1"/>
          </a:solidFill>
          <a:ln>
            <a:solidFill>
              <a:schemeClr val="accent2"/>
            </a:solidFill>
          </a:ln>
          <a:effectLst>
            <a:outerShdw blurRad="3810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83" name="lemon48"/>
          <p:cNvSpPr txBox="1"/>
          <p:nvPr/>
        </p:nvSpPr>
        <p:spPr>
          <a:xfrm>
            <a:off x="10856916" y="3534545"/>
            <a:ext cx="1037120"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登山鞋</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184" name="lemon49"/>
          <p:cNvSpPr/>
          <p:nvPr/>
        </p:nvSpPr>
        <p:spPr>
          <a:xfrm>
            <a:off x="10919939" y="4132497"/>
            <a:ext cx="894056" cy="471732"/>
          </a:xfrm>
          <a:prstGeom prst="roundRect">
            <a:avLst>
              <a:gd name="adj" fmla="val 8650"/>
            </a:avLst>
          </a:prstGeom>
          <a:solidFill>
            <a:schemeClr val="bg1"/>
          </a:solidFill>
          <a:ln>
            <a:solidFill>
              <a:schemeClr val="accent2"/>
            </a:solidFill>
          </a:ln>
          <a:effectLst>
            <a:outerShdw blurRad="3810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85" name="lemon50"/>
          <p:cNvSpPr txBox="1"/>
          <p:nvPr/>
        </p:nvSpPr>
        <p:spPr>
          <a:xfrm>
            <a:off x="10871459" y="4228521"/>
            <a:ext cx="1037120"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冲锋衣</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186" name="lemon51"/>
          <p:cNvSpPr/>
          <p:nvPr/>
        </p:nvSpPr>
        <p:spPr>
          <a:xfrm>
            <a:off x="10919423" y="4811244"/>
            <a:ext cx="894056" cy="471732"/>
          </a:xfrm>
          <a:prstGeom prst="roundRect">
            <a:avLst>
              <a:gd name="adj" fmla="val 8650"/>
            </a:avLst>
          </a:prstGeom>
          <a:solidFill>
            <a:schemeClr val="bg1"/>
          </a:solidFill>
          <a:ln>
            <a:solidFill>
              <a:schemeClr val="accent2"/>
            </a:solidFill>
          </a:ln>
          <a:effectLst>
            <a:outerShdw blurRad="3810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87" name="lemon52"/>
          <p:cNvSpPr txBox="1"/>
          <p:nvPr/>
        </p:nvSpPr>
        <p:spPr>
          <a:xfrm>
            <a:off x="10870943" y="4907268"/>
            <a:ext cx="1037120"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运动鞋</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192" name="lemon53"/>
          <p:cNvSpPr txBox="1"/>
          <p:nvPr/>
        </p:nvSpPr>
        <p:spPr>
          <a:xfrm>
            <a:off x="7703519" y="5791314"/>
            <a:ext cx="2043116" cy="393389"/>
          </a:xfrm>
          <a:prstGeom prst="rect">
            <a:avLst/>
          </a:prstGeom>
          <a:ln w="12700">
            <a:miter lim="400000"/>
          </a:ln>
        </p:spPr>
        <p:txBody>
          <a:bodyPr lIns="0" tIns="0" rIns="0" bIns="0">
            <a:noAutofit/>
          </a:bodyPr>
          <a:lstStyle>
            <a:lvl1pPr algn="ctr" defTabSz="609600">
              <a:lnSpc>
                <a:spcPts val="2000"/>
              </a:lnSpc>
              <a:defRPr b="1">
                <a:solidFill>
                  <a:srgbClr val="FFFFFF"/>
                </a:solidFill>
                <a:latin typeface="Microsoft YaHei Bold"/>
                <a:ea typeface="Microsoft YaHei Bold"/>
                <a:cs typeface="Microsoft YaHei Bold"/>
                <a:sym typeface="Microsoft YaHei Bold"/>
              </a:defRPr>
            </a:lvl1pPr>
          </a:lstStyle>
          <a:p>
            <a:pPr marL="0" marR="0" lvl="0" indent="0" algn="ctr" defTabSz="609600" rtl="0" eaLnBrk="1" fontAlgn="auto" latinLnBrk="0" hangingPunct="0">
              <a:lnSpc>
                <a:spcPct val="150000"/>
              </a:lnSpc>
              <a:spcBef>
                <a:spcPts val="0"/>
              </a:spcBef>
              <a:spcAft>
                <a:spcPts val="0"/>
              </a:spcAft>
              <a:buClrTx/>
              <a:buSzTx/>
              <a:buFontTx/>
              <a:buNone/>
              <a:defRPr/>
            </a:pPr>
            <a:r>
              <a:rPr kumimoji="0" lang="zh-CN" altLang="en-US" sz="1600" b="0" i="0" u="none" strike="noStrike" kern="0" cap="none" spc="0" normalizeH="0" baseline="0" noProof="0" dirty="0">
                <a:ln>
                  <a:noFill/>
                </a:ln>
                <a:solidFill>
                  <a:srgbClr val="4480FB"/>
                </a:solidFill>
                <a:effectLst/>
                <a:uLnTx/>
                <a:uFillTx/>
                <a:latin typeface="+mn-lt"/>
                <a:ea typeface="+mn-ea"/>
                <a:cs typeface="+mn-ea"/>
                <a:sym typeface="+mn-lt"/>
              </a:rPr>
              <a:t>总体呈现显著上升趋势</a:t>
            </a:r>
            <a:endParaRPr kumimoji="0" lang="en-US" altLang="zh-CN" sz="1600" b="0" i="0" u="none" strike="noStrike" kern="0" cap="none" spc="0" normalizeH="0" baseline="0" noProof="0" dirty="0">
              <a:ln>
                <a:noFill/>
              </a:ln>
              <a:solidFill>
                <a:srgbClr val="4480FB"/>
              </a:solidFill>
              <a:effectLst/>
              <a:uLnTx/>
              <a:uFillTx/>
              <a:latin typeface="+mn-lt"/>
              <a:ea typeface="+mn-ea"/>
              <a:cs typeface="+mn-ea"/>
              <a:sym typeface="+mn-lt"/>
            </a:endParaRPr>
          </a:p>
        </p:txBody>
      </p:sp>
      <p:sp>
        <p:nvSpPr>
          <p:cNvPr id="194" name="lemon54"/>
          <p:cNvSpPr/>
          <p:nvPr/>
        </p:nvSpPr>
        <p:spPr>
          <a:xfrm>
            <a:off x="10617369" y="5396921"/>
            <a:ext cx="787742" cy="935397"/>
          </a:xfrm>
          <a:custGeom>
            <a:avLst/>
            <a:gdLst>
              <a:gd name="connsiteX0" fmla="*/ 1238946 w 2371843"/>
              <a:gd name="connsiteY0" fmla="*/ 23893 h 3288083"/>
              <a:gd name="connsiteX1" fmla="*/ 2354533 w 2371843"/>
              <a:gd name="connsiteY1" fmla="*/ 1302255 h 3288083"/>
              <a:gd name="connsiteX2" fmla="*/ 2348001 w 2371843"/>
              <a:gd name="connsiteY2" fmla="*/ 1400861 h 3288083"/>
              <a:gd name="connsiteX3" fmla="*/ 2301921 w 2371843"/>
              <a:gd name="connsiteY3" fmla="*/ 1418170 h 3288083"/>
              <a:gd name="connsiteX4" fmla="*/ 1753581 w 2371843"/>
              <a:gd name="connsiteY4" fmla="*/ 1418170 h 3288083"/>
              <a:gd name="connsiteX5" fmla="*/ 1684525 w 2371843"/>
              <a:gd name="connsiteY5" fmla="*/ 1478185 h 3288083"/>
              <a:gd name="connsiteX6" fmla="*/ 219546 w 2371843"/>
              <a:gd name="connsiteY6" fmla="*/ 3286810 h 3288083"/>
              <a:gd name="connsiteX7" fmla="*/ 137689 w 2371843"/>
              <a:gd name="connsiteY7" fmla="*/ 3231419 h 3288083"/>
              <a:gd name="connsiteX8" fmla="*/ 162821 w 2371843"/>
              <a:gd name="connsiteY8" fmla="*/ 3163484 h 3288083"/>
              <a:gd name="connsiteX9" fmla="*/ 701293 w 2371843"/>
              <a:gd name="connsiteY9" fmla="*/ 2155592 h 3288083"/>
              <a:gd name="connsiteX10" fmla="*/ 742400 w 2371843"/>
              <a:gd name="connsiteY10" fmla="*/ 1488871 h 3288083"/>
              <a:gd name="connsiteX11" fmla="*/ 672521 w 2371843"/>
              <a:gd name="connsiteY11" fmla="*/ 1417350 h 3288083"/>
              <a:gd name="connsiteX12" fmla="*/ 69924 w 2371843"/>
              <a:gd name="connsiteY12" fmla="*/ 1417350 h 3288083"/>
              <a:gd name="connsiteX13" fmla="*/ 0 w 2371843"/>
              <a:gd name="connsiteY13" fmla="*/ 1347516 h 3288083"/>
              <a:gd name="connsiteX14" fmla="*/ 17308 w 2371843"/>
              <a:gd name="connsiteY14" fmla="*/ 1301432 h 3288083"/>
              <a:gd name="connsiteX15" fmla="*/ 1133718 w 2371843"/>
              <a:gd name="connsiteY15" fmla="*/ 23893 h 3288083"/>
              <a:gd name="connsiteX16" fmla="*/ 1232318 w 2371843"/>
              <a:gd name="connsiteY16" fmla="*/ 17265 h 3288083"/>
              <a:gd name="connsiteX17" fmla="*/ 1238946 w 2371843"/>
              <a:gd name="connsiteY17" fmla="*/ 23893 h 3288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371843" h="3288083">
                <a:moveTo>
                  <a:pt x="1238946" y="23893"/>
                </a:moveTo>
                <a:lnTo>
                  <a:pt x="2354533" y="1302255"/>
                </a:lnTo>
                <a:cubicBezTo>
                  <a:pt x="2379960" y="1331287"/>
                  <a:pt x="2377033" y="1375437"/>
                  <a:pt x="2348001" y="1400861"/>
                </a:cubicBezTo>
                <a:cubicBezTo>
                  <a:pt x="2335249" y="1412029"/>
                  <a:pt x="2318872" y="1418182"/>
                  <a:pt x="2301921" y="1418170"/>
                </a:cubicBezTo>
                <a:lnTo>
                  <a:pt x="1753581" y="1418170"/>
                </a:lnTo>
                <a:cubicBezTo>
                  <a:pt x="1718711" y="1417871"/>
                  <a:pt x="1689087" y="1443613"/>
                  <a:pt x="1684525" y="1478185"/>
                </a:cubicBezTo>
                <a:cubicBezTo>
                  <a:pt x="1643418" y="1775783"/>
                  <a:pt x="1395145" y="3091963"/>
                  <a:pt x="219546" y="3286810"/>
                </a:cubicBezTo>
                <a:cubicBezTo>
                  <a:pt x="181652" y="3294104"/>
                  <a:pt x="145005" y="3269332"/>
                  <a:pt x="137689" y="3231419"/>
                </a:cubicBezTo>
                <a:cubicBezTo>
                  <a:pt x="132754" y="3205869"/>
                  <a:pt x="142441" y="3179683"/>
                  <a:pt x="162821" y="3163484"/>
                </a:cubicBezTo>
                <a:cubicBezTo>
                  <a:pt x="364236" y="3005643"/>
                  <a:pt x="627305" y="2699822"/>
                  <a:pt x="701293" y="2155592"/>
                </a:cubicBezTo>
                <a:cubicBezTo>
                  <a:pt x="729699" y="1934504"/>
                  <a:pt x="743431" y="1711774"/>
                  <a:pt x="742400" y="1488871"/>
                </a:cubicBezTo>
                <a:cubicBezTo>
                  <a:pt x="742409" y="1450004"/>
                  <a:pt x="711379" y="1418243"/>
                  <a:pt x="672521" y="1417350"/>
                </a:cubicBezTo>
                <a:lnTo>
                  <a:pt x="69924" y="1417350"/>
                </a:lnTo>
                <a:cubicBezTo>
                  <a:pt x="31330" y="1417373"/>
                  <a:pt x="26" y="1386107"/>
                  <a:pt x="0" y="1347516"/>
                </a:cubicBezTo>
                <a:cubicBezTo>
                  <a:pt x="-10" y="1330565"/>
                  <a:pt x="6140" y="1314185"/>
                  <a:pt x="17308" y="1301432"/>
                </a:cubicBezTo>
                <a:lnTo>
                  <a:pt x="1133718" y="23893"/>
                </a:lnTo>
                <a:cubicBezTo>
                  <a:pt x="1159116" y="-5165"/>
                  <a:pt x="1203259" y="-8132"/>
                  <a:pt x="1232318" y="17265"/>
                </a:cubicBezTo>
                <a:cubicBezTo>
                  <a:pt x="1234673" y="19324"/>
                  <a:pt x="1236886" y="21538"/>
                  <a:pt x="1238946" y="23893"/>
                </a:cubicBezTo>
                <a:close/>
              </a:path>
            </a:pathLst>
          </a:custGeom>
          <a:solidFill>
            <a:schemeClr val="accent2"/>
          </a:solidFill>
          <a:ln w="3209"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95" name="lemon55"/>
          <p:cNvSpPr/>
          <p:nvPr/>
        </p:nvSpPr>
        <p:spPr>
          <a:xfrm>
            <a:off x="11205950" y="5604311"/>
            <a:ext cx="522542" cy="663556"/>
          </a:xfrm>
          <a:custGeom>
            <a:avLst/>
            <a:gdLst>
              <a:gd name="connsiteX0" fmla="*/ 1238946 w 2371843"/>
              <a:gd name="connsiteY0" fmla="*/ 23893 h 3288083"/>
              <a:gd name="connsiteX1" fmla="*/ 2354533 w 2371843"/>
              <a:gd name="connsiteY1" fmla="*/ 1302255 h 3288083"/>
              <a:gd name="connsiteX2" fmla="*/ 2348001 w 2371843"/>
              <a:gd name="connsiteY2" fmla="*/ 1400861 h 3288083"/>
              <a:gd name="connsiteX3" fmla="*/ 2301921 w 2371843"/>
              <a:gd name="connsiteY3" fmla="*/ 1418170 h 3288083"/>
              <a:gd name="connsiteX4" fmla="*/ 1753581 w 2371843"/>
              <a:gd name="connsiteY4" fmla="*/ 1418170 h 3288083"/>
              <a:gd name="connsiteX5" fmla="*/ 1684525 w 2371843"/>
              <a:gd name="connsiteY5" fmla="*/ 1478185 h 3288083"/>
              <a:gd name="connsiteX6" fmla="*/ 219546 w 2371843"/>
              <a:gd name="connsiteY6" fmla="*/ 3286810 h 3288083"/>
              <a:gd name="connsiteX7" fmla="*/ 137689 w 2371843"/>
              <a:gd name="connsiteY7" fmla="*/ 3231419 h 3288083"/>
              <a:gd name="connsiteX8" fmla="*/ 162821 w 2371843"/>
              <a:gd name="connsiteY8" fmla="*/ 3163484 h 3288083"/>
              <a:gd name="connsiteX9" fmla="*/ 701293 w 2371843"/>
              <a:gd name="connsiteY9" fmla="*/ 2155592 h 3288083"/>
              <a:gd name="connsiteX10" fmla="*/ 742400 w 2371843"/>
              <a:gd name="connsiteY10" fmla="*/ 1488871 h 3288083"/>
              <a:gd name="connsiteX11" fmla="*/ 672521 w 2371843"/>
              <a:gd name="connsiteY11" fmla="*/ 1417350 h 3288083"/>
              <a:gd name="connsiteX12" fmla="*/ 69924 w 2371843"/>
              <a:gd name="connsiteY12" fmla="*/ 1417350 h 3288083"/>
              <a:gd name="connsiteX13" fmla="*/ 0 w 2371843"/>
              <a:gd name="connsiteY13" fmla="*/ 1347516 h 3288083"/>
              <a:gd name="connsiteX14" fmla="*/ 17308 w 2371843"/>
              <a:gd name="connsiteY14" fmla="*/ 1301432 h 3288083"/>
              <a:gd name="connsiteX15" fmla="*/ 1133718 w 2371843"/>
              <a:gd name="connsiteY15" fmla="*/ 23893 h 3288083"/>
              <a:gd name="connsiteX16" fmla="*/ 1232318 w 2371843"/>
              <a:gd name="connsiteY16" fmla="*/ 17265 h 3288083"/>
              <a:gd name="connsiteX17" fmla="*/ 1238946 w 2371843"/>
              <a:gd name="connsiteY17" fmla="*/ 23893 h 3288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371843" h="3288083">
                <a:moveTo>
                  <a:pt x="1238946" y="23893"/>
                </a:moveTo>
                <a:lnTo>
                  <a:pt x="2354533" y="1302255"/>
                </a:lnTo>
                <a:cubicBezTo>
                  <a:pt x="2379960" y="1331287"/>
                  <a:pt x="2377033" y="1375437"/>
                  <a:pt x="2348001" y="1400861"/>
                </a:cubicBezTo>
                <a:cubicBezTo>
                  <a:pt x="2335249" y="1412029"/>
                  <a:pt x="2318872" y="1418182"/>
                  <a:pt x="2301921" y="1418170"/>
                </a:cubicBezTo>
                <a:lnTo>
                  <a:pt x="1753581" y="1418170"/>
                </a:lnTo>
                <a:cubicBezTo>
                  <a:pt x="1718711" y="1417871"/>
                  <a:pt x="1689087" y="1443613"/>
                  <a:pt x="1684525" y="1478185"/>
                </a:cubicBezTo>
                <a:cubicBezTo>
                  <a:pt x="1643418" y="1775783"/>
                  <a:pt x="1395145" y="3091963"/>
                  <a:pt x="219546" y="3286810"/>
                </a:cubicBezTo>
                <a:cubicBezTo>
                  <a:pt x="181652" y="3294104"/>
                  <a:pt x="145005" y="3269332"/>
                  <a:pt x="137689" y="3231419"/>
                </a:cubicBezTo>
                <a:cubicBezTo>
                  <a:pt x="132754" y="3205869"/>
                  <a:pt x="142441" y="3179683"/>
                  <a:pt x="162821" y="3163484"/>
                </a:cubicBezTo>
                <a:cubicBezTo>
                  <a:pt x="364236" y="3005643"/>
                  <a:pt x="627305" y="2699822"/>
                  <a:pt x="701293" y="2155592"/>
                </a:cubicBezTo>
                <a:cubicBezTo>
                  <a:pt x="729699" y="1934504"/>
                  <a:pt x="743431" y="1711774"/>
                  <a:pt x="742400" y="1488871"/>
                </a:cubicBezTo>
                <a:cubicBezTo>
                  <a:pt x="742409" y="1450004"/>
                  <a:pt x="711379" y="1418243"/>
                  <a:pt x="672521" y="1417350"/>
                </a:cubicBezTo>
                <a:lnTo>
                  <a:pt x="69924" y="1417350"/>
                </a:lnTo>
                <a:cubicBezTo>
                  <a:pt x="31330" y="1417373"/>
                  <a:pt x="26" y="1386107"/>
                  <a:pt x="0" y="1347516"/>
                </a:cubicBezTo>
                <a:cubicBezTo>
                  <a:pt x="-10" y="1330565"/>
                  <a:pt x="6140" y="1314185"/>
                  <a:pt x="17308" y="1301432"/>
                </a:cubicBezTo>
                <a:lnTo>
                  <a:pt x="1133718" y="23893"/>
                </a:lnTo>
                <a:cubicBezTo>
                  <a:pt x="1159116" y="-5165"/>
                  <a:pt x="1203259" y="-8132"/>
                  <a:pt x="1232318" y="17265"/>
                </a:cubicBezTo>
                <a:cubicBezTo>
                  <a:pt x="1234673" y="19324"/>
                  <a:pt x="1236886" y="21538"/>
                  <a:pt x="1238946" y="23893"/>
                </a:cubicBezTo>
                <a:close/>
              </a:path>
            </a:pathLst>
          </a:custGeom>
          <a:solidFill>
            <a:schemeClr val="accent1"/>
          </a:solidFill>
          <a:ln w="3209"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grpSp>
        <p:nvGrpSpPr>
          <p:cNvPr id="210" name="lemon56"/>
          <p:cNvGrpSpPr/>
          <p:nvPr/>
        </p:nvGrpSpPr>
        <p:grpSpPr>
          <a:xfrm>
            <a:off x="259941" y="1314756"/>
            <a:ext cx="4588606" cy="4592457"/>
            <a:chOff x="411469" y="1401096"/>
            <a:chExt cx="4437077" cy="4440801"/>
          </a:xfrm>
        </p:grpSpPr>
        <p:sp>
          <p:nvSpPr>
            <p:cNvPr id="4" name="lemon56-1"/>
            <p:cNvSpPr/>
            <p:nvPr/>
          </p:nvSpPr>
          <p:spPr>
            <a:xfrm rot="5400000">
              <a:off x="411469" y="1404820"/>
              <a:ext cx="4437077" cy="4437077"/>
            </a:xfrm>
            <a:prstGeom prst="ellipse">
              <a:avLst/>
            </a:prstGeom>
            <a:solidFill>
              <a:schemeClr val="accent2">
                <a:lumMod val="20000"/>
                <a:lumOff val="80000"/>
                <a:alpha val="80000"/>
              </a:schemeClr>
            </a:solidFill>
            <a:ln w="12700" cap="flat">
              <a:solidFill>
                <a:schemeClr val="accent1">
                  <a:alpha val="50000"/>
                </a:schemeClr>
              </a:solidFill>
              <a:prstDash val="sysDash"/>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5" name="lemon56-2"/>
            <p:cNvSpPr/>
            <p:nvPr/>
          </p:nvSpPr>
          <p:spPr>
            <a:xfrm rot="5400000">
              <a:off x="955957" y="1410905"/>
              <a:ext cx="3349774" cy="3349774"/>
            </a:xfrm>
            <a:prstGeom prst="ellipse">
              <a:avLst/>
            </a:prstGeom>
            <a:solidFill>
              <a:schemeClr val="accent2">
                <a:alpha val="12560"/>
              </a:schemeClr>
            </a:solidFill>
            <a:ln w="12700" cap="flat">
              <a:solidFill>
                <a:schemeClr val="accent2"/>
              </a:solidFill>
              <a:prstDash val="sysDash"/>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0" name="lemon56-3"/>
            <p:cNvSpPr txBox="1"/>
            <p:nvPr/>
          </p:nvSpPr>
          <p:spPr>
            <a:xfrm>
              <a:off x="1972351" y="3754945"/>
              <a:ext cx="1334252" cy="301381"/>
            </a:xfrm>
            <a:prstGeom prst="rect">
              <a:avLst/>
            </a:prstGeom>
            <a:ln w="12700">
              <a:miter lim="400000"/>
            </a:ln>
          </p:spPr>
          <p:txBody>
            <a:bodyPr lIns="0" tIns="0" rIns="0" bIns="0">
              <a:noAutofit/>
            </a:bodyPr>
            <a:lstStyle>
              <a:lvl1pPr algn="ctr" defTabSz="609600">
                <a:lnSpc>
                  <a:spcPts val="2000"/>
                </a:lnSpc>
                <a:defRPr b="1">
                  <a:solidFill>
                    <a:srgbClr val="FFFFFF"/>
                  </a:solidFill>
                  <a:latin typeface="Microsoft YaHei Bold"/>
                  <a:ea typeface="Microsoft YaHei Bold"/>
                  <a:cs typeface="Microsoft YaHei Bold"/>
                  <a:sym typeface="Microsoft YaHei Bold"/>
                </a:defRPr>
              </a:lvl1pPr>
            </a:lstStyle>
            <a:p>
              <a:pPr marL="0" marR="0" lvl="0" indent="0" algn="ctr" defTabSz="609600" rtl="0" eaLnBrk="1" fontAlgn="auto" latinLnBrk="0" hangingPunct="0">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4480FB"/>
                  </a:solidFill>
                  <a:effectLst/>
                  <a:uLnTx/>
                  <a:uFillTx/>
                  <a:latin typeface="+mn-lt"/>
                  <a:ea typeface="+mn-ea"/>
                  <a:cs typeface="+mn-ea"/>
                  <a:sym typeface="+mn-lt"/>
                </a:rPr>
                <a:t>运动服</a:t>
              </a:r>
              <a:endParaRPr kumimoji="0" lang="en-US" altLang="zh-CN" sz="1200" b="0" i="0" u="none" strike="noStrike" kern="0" cap="none" spc="0" normalizeH="0" baseline="0" noProof="0" dirty="0">
                <a:ln>
                  <a:noFill/>
                </a:ln>
                <a:solidFill>
                  <a:srgbClr val="4480FB"/>
                </a:solidFill>
                <a:effectLst/>
                <a:uLnTx/>
                <a:uFillTx/>
                <a:latin typeface="+mn-lt"/>
                <a:ea typeface="+mn-ea"/>
                <a:cs typeface="+mn-ea"/>
                <a:sym typeface="+mn-lt"/>
              </a:endParaRPr>
            </a:p>
            <a:p>
              <a:pPr marL="0" marR="0" lvl="0" indent="0" algn="ctr" defTabSz="609600" rtl="0" eaLnBrk="1" fontAlgn="auto" latinLnBrk="0" hangingPunct="0">
                <a:lnSpc>
                  <a:spcPct val="150000"/>
                </a:lnSpc>
                <a:spcBef>
                  <a:spcPts val="0"/>
                </a:spcBef>
                <a:spcAft>
                  <a:spcPts val="0"/>
                </a:spcAft>
                <a:buClrTx/>
                <a:buSzTx/>
                <a:buFontTx/>
                <a:buNone/>
                <a:defRPr/>
              </a:pPr>
              <a:r>
                <a:rPr kumimoji="0" lang="en-US" sz="1200" b="0" i="0" u="none" strike="noStrike" kern="0" cap="none" spc="0" normalizeH="0" baseline="0" noProof="0" dirty="0" err="1">
                  <a:ln>
                    <a:noFill/>
                  </a:ln>
                  <a:solidFill>
                    <a:srgbClr val="4480FB"/>
                  </a:solidFill>
                  <a:effectLst/>
                  <a:uLnTx/>
                  <a:uFillTx/>
                  <a:latin typeface="+mn-lt"/>
                  <a:ea typeface="+mn-ea"/>
                  <a:cs typeface="+mn-ea"/>
                  <a:sym typeface="+mn-lt"/>
                </a:rPr>
                <a:t>运动鞋</a:t>
              </a:r>
              <a:endParaRPr kumimoji="0" sz="1200" b="0" i="0" u="none" strike="noStrike" kern="0" cap="none" spc="0" normalizeH="0" baseline="0" noProof="0" dirty="0">
                <a:ln>
                  <a:noFill/>
                </a:ln>
                <a:solidFill>
                  <a:srgbClr val="4480FB"/>
                </a:solidFill>
                <a:effectLst/>
                <a:uLnTx/>
                <a:uFillTx/>
                <a:latin typeface="+mn-lt"/>
                <a:ea typeface="+mn-ea"/>
                <a:cs typeface="+mn-ea"/>
                <a:sym typeface="+mn-lt"/>
              </a:endParaRPr>
            </a:p>
          </p:txBody>
        </p:sp>
        <p:sp>
          <p:nvSpPr>
            <p:cNvPr id="11" name="lemon56-4"/>
            <p:cNvSpPr txBox="1"/>
            <p:nvPr/>
          </p:nvSpPr>
          <p:spPr>
            <a:xfrm>
              <a:off x="1971047" y="4984269"/>
              <a:ext cx="1334252" cy="301381"/>
            </a:xfrm>
            <a:prstGeom prst="rect">
              <a:avLst/>
            </a:prstGeom>
            <a:ln w="12700">
              <a:miter lim="400000"/>
            </a:ln>
          </p:spPr>
          <p:txBody>
            <a:bodyPr lIns="0" tIns="0" rIns="0" bIns="0">
              <a:noAutofit/>
            </a:bodyPr>
            <a:lstStyle>
              <a:lvl1pPr algn="ctr" defTabSz="609600">
                <a:lnSpc>
                  <a:spcPts val="2000"/>
                </a:lnSpc>
                <a:defRPr b="1">
                  <a:solidFill>
                    <a:srgbClr val="FFFFFF"/>
                  </a:solidFill>
                  <a:latin typeface="Microsoft YaHei Bold"/>
                  <a:ea typeface="Microsoft YaHei Bold"/>
                  <a:cs typeface="Microsoft YaHei Bold"/>
                  <a:sym typeface="Microsoft YaHei Bold"/>
                </a:defRPr>
              </a:lvl1pPr>
            </a:lstStyle>
            <a:p>
              <a:pPr marL="0" marR="0" lvl="0" indent="0" algn="ctr" defTabSz="609600" rtl="0" eaLnBrk="1" fontAlgn="auto" latinLnBrk="0" hangingPunct="0">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4480FB"/>
                  </a:solidFill>
                  <a:effectLst/>
                  <a:uLnTx/>
                  <a:uFillTx/>
                  <a:latin typeface="+mn-lt"/>
                  <a:ea typeface="+mn-ea"/>
                  <a:cs typeface="+mn-ea"/>
                  <a:sym typeface="+mn-lt"/>
                </a:rPr>
                <a:t>瑜伽</a:t>
              </a:r>
              <a:endParaRPr kumimoji="0" lang="en-US" altLang="zh-CN" sz="1200" b="0" i="0" u="none" strike="noStrike" kern="0" cap="none" spc="0" normalizeH="0" baseline="0" noProof="0" dirty="0">
                <a:ln>
                  <a:noFill/>
                </a:ln>
                <a:solidFill>
                  <a:srgbClr val="4480FB"/>
                </a:solidFill>
                <a:effectLst/>
                <a:uLnTx/>
                <a:uFillTx/>
                <a:latin typeface="+mn-lt"/>
                <a:ea typeface="+mn-ea"/>
                <a:cs typeface="+mn-ea"/>
                <a:sym typeface="+mn-lt"/>
              </a:endParaRPr>
            </a:p>
            <a:p>
              <a:pPr marL="0" marR="0" lvl="0" indent="0" algn="ctr" defTabSz="609600" rtl="0" eaLnBrk="1" fontAlgn="auto" latinLnBrk="0" hangingPunct="0">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4480FB"/>
                  </a:solidFill>
                  <a:effectLst/>
                  <a:uLnTx/>
                  <a:uFillTx/>
                  <a:latin typeface="+mn-lt"/>
                  <a:ea typeface="+mn-ea"/>
                  <a:cs typeface="+mn-ea"/>
                  <a:sym typeface="+mn-lt"/>
                </a:rPr>
                <a:t>球迷用品</a:t>
              </a:r>
              <a:endParaRPr kumimoji="0" sz="1200" b="0" i="0" u="none" strike="noStrike" kern="0" cap="none" spc="0" normalizeH="0" baseline="0" noProof="0" dirty="0">
                <a:ln>
                  <a:noFill/>
                </a:ln>
                <a:solidFill>
                  <a:srgbClr val="4480FB"/>
                </a:solidFill>
                <a:effectLst/>
                <a:uLnTx/>
                <a:uFillTx/>
                <a:latin typeface="+mn-lt"/>
                <a:ea typeface="+mn-ea"/>
                <a:cs typeface="+mn-ea"/>
                <a:sym typeface="+mn-lt"/>
              </a:endParaRPr>
            </a:p>
          </p:txBody>
        </p:sp>
        <p:sp>
          <p:nvSpPr>
            <p:cNvPr id="14" name="lemon56-5"/>
            <p:cNvSpPr/>
            <p:nvPr/>
          </p:nvSpPr>
          <p:spPr>
            <a:xfrm>
              <a:off x="3364239" y="3858898"/>
              <a:ext cx="143136" cy="143136"/>
            </a:xfrm>
            <a:prstGeom prst="rect">
              <a:avLst/>
            </a:prstGeom>
            <a:ln w="12700">
              <a:solidFill>
                <a:schemeClr val="accent2"/>
              </a:solidFill>
              <a:miter lim="400000"/>
            </a:ln>
          </p:spPr>
          <p:txBody>
            <a:bodyPr lIns="25400" tIns="25400" rIns="25400" bIns="25400" anchor="ctr"/>
            <a:lstStyle/>
            <a:p>
              <a:pPr marL="0" marR="0" lvl="0" indent="0" algn="ctr" defTabSz="412750" rtl="0" eaLnBrk="1" fontAlgn="auto" latinLnBrk="0" hangingPunct="0">
                <a:lnSpc>
                  <a:spcPct val="100000"/>
                </a:lnSpc>
                <a:spcBef>
                  <a:spcPts val="0"/>
                </a:spcBef>
                <a:spcAft>
                  <a:spcPts val="0"/>
                </a:spcAft>
                <a:buClrTx/>
                <a:buSzTx/>
                <a:buFontTx/>
                <a:buNone/>
                <a:defRPr sz="1600">
                  <a:solidFill>
                    <a:srgbClr val="FFFFFF"/>
                  </a:solidFill>
                  <a:latin typeface="Helvetica Neue Medium"/>
                  <a:ea typeface="Helvetica Neue Medium"/>
                  <a:cs typeface="Helvetica Neue Medium"/>
                  <a:sym typeface="Helvetica Neue Medium"/>
                </a:defRPr>
              </a:pPr>
              <a:endParaRPr kumimoji="0" sz="1600" b="0" i="0" u="none" strike="noStrike" kern="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16" name="lemon56-6"/>
            <p:cNvSpPr/>
            <p:nvPr/>
          </p:nvSpPr>
          <p:spPr>
            <a:xfrm>
              <a:off x="3364239" y="4971369"/>
              <a:ext cx="143136" cy="143136"/>
            </a:xfrm>
            <a:prstGeom prst="rect">
              <a:avLst/>
            </a:prstGeom>
            <a:ln w="12700">
              <a:solidFill>
                <a:schemeClr val="accent2"/>
              </a:solidFill>
              <a:miter lim="400000"/>
            </a:ln>
          </p:spPr>
          <p:txBody>
            <a:bodyPr lIns="25400" tIns="25400" rIns="25400" bIns="25400" anchor="ctr"/>
            <a:lstStyle/>
            <a:p>
              <a:pPr marL="0" marR="0" lvl="0" indent="0" algn="ctr" defTabSz="412750" rtl="0" eaLnBrk="1" fontAlgn="auto" latinLnBrk="0" hangingPunct="0">
                <a:lnSpc>
                  <a:spcPct val="100000"/>
                </a:lnSpc>
                <a:spcBef>
                  <a:spcPts val="0"/>
                </a:spcBef>
                <a:spcAft>
                  <a:spcPts val="0"/>
                </a:spcAft>
                <a:buClrTx/>
                <a:buSzTx/>
                <a:buFontTx/>
                <a:buNone/>
                <a:defRPr sz="1600">
                  <a:solidFill>
                    <a:srgbClr val="FFFFFF"/>
                  </a:solidFill>
                  <a:latin typeface="Helvetica Neue Medium"/>
                  <a:ea typeface="Helvetica Neue Medium"/>
                  <a:cs typeface="Helvetica Neue Medium"/>
                  <a:sym typeface="Helvetica Neue Medium"/>
                </a:defRPr>
              </a:pPr>
              <a:endParaRPr kumimoji="0" sz="1600" b="0" i="0" u="none" strike="noStrike" kern="0" cap="none" spc="0" normalizeH="0" baseline="0" noProof="0" dirty="0">
                <a:ln>
                  <a:noFill/>
                </a:ln>
                <a:solidFill>
                  <a:srgbClr val="4480FB"/>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84" name="lemon56-7"/>
            <p:cNvSpPr/>
            <p:nvPr/>
          </p:nvSpPr>
          <p:spPr>
            <a:xfrm rot="5400000">
              <a:off x="1609267" y="1407949"/>
              <a:ext cx="2041480" cy="2041480"/>
            </a:xfrm>
            <a:prstGeom prst="ellipse">
              <a:avLst/>
            </a:prstGeom>
            <a:solidFill>
              <a:schemeClr val="accent2">
                <a:lumMod val="75000"/>
                <a:alpha val="80000"/>
              </a:schemeClr>
            </a:solidFill>
            <a:ln w="12700" cap="flat">
              <a:solidFill>
                <a:schemeClr val="accent1">
                  <a:alpha val="50000"/>
                </a:schemeClr>
              </a:solidFill>
              <a:prstDash val="sysDash"/>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457200" rtl="0" eaLnBrk="1" fontAlgn="auto" latinLnBrk="0" hangingPunct="0">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7" name="lemon56-8"/>
            <p:cNvSpPr/>
            <p:nvPr/>
          </p:nvSpPr>
          <p:spPr>
            <a:xfrm>
              <a:off x="1962883" y="1401096"/>
              <a:ext cx="1334252" cy="1334252"/>
            </a:xfrm>
            <a:prstGeom prst="ellipse">
              <a:avLst/>
            </a:prstGeom>
            <a:solidFill>
              <a:schemeClr val="accent1"/>
            </a:solidFill>
            <a:ln w="12700" cap="flat">
              <a:noFill/>
              <a:prstDash val="sysDash"/>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lvl="0" indent="0" algn="l" defTabSz="914400" rtl="0" eaLnBrk="1" fontAlgn="auto" latinLnBrk="0" hangingPunct="0">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 name="lemon56-9"/>
            <p:cNvSpPr txBox="1"/>
            <p:nvPr/>
          </p:nvSpPr>
          <p:spPr>
            <a:xfrm>
              <a:off x="1962883" y="1664005"/>
              <a:ext cx="1334252" cy="855546"/>
            </a:xfrm>
            <a:prstGeom prst="rect">
              <a:avLst/>
            </a:prstGeom>
            <a:ln w="12700">
              <a:miter lim="400000"/>
            </a:ln>
          </p:spPr>
          <p:txBody>
            <a:bodyPr lIns="0" tIns="0" rIns="0" bIns="0">
              <a:noAutofit/>
            </a:bodyPr>
            <a:lstStyle>
              <a:lvl1pPr algn="ctr" defTabSz="609600">
                <a:lnSpc>
                  <a:spcPts val="2000"/>
                </a:lnSpc>
                <a:defRPr b="1">
                  <a:solidFill>
                    <a:srgbClr val="FFFFFF"/>
                  </a:solidFill>
                  <a:latin typeface="Microsoft YaHei Bold"/>
                  <a:ea typeface="Microsoft YaHei Bold"/>
                  <a:cs typeface="Microsoft YaHei Bold"/>
                  <a:sym typeface="Microsoft YaHei Bold"/>
                </a:defRPr>
              </a:lvl1pPr>
            </a:lstStyle>
            <a:p>
              <a:pPr marL="0" marR="0" lvl="0" indent="0" algn="ctr" defTabSz="609600" rtl="0" eaLnBrk="1" fontAlgn="auto" latinLnBrk="0" hangingPunct="0">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FFFFFF"/>
                  </a:solidFill>
                  <a:effectLst/>
                  <a:uLnTx/>
                  <a:uFillTx/>
                  <a:latin typeface="+mn-lt"/>
                  <a:ea typeface="+mn-ea"/>
                  <a:cs typeface="+mn-ea"/>
                  <a:sym typeface="+mn-lt"/>
                </a:rPr>
                <a:t>自行车</a:t>
              </a:r>
              <a:endParaRPr kumimoji="0" lang="en-US" altLang="zh-CN" sz="1200" b="0" i="0" u="none" strike="noStrike" kern="0" cap="none" spc="0" normalizeH="0" baseline="0" noProof="0" dirty="0">
                <a:ln>
                  <a:noFill/>
                </a:ln>
                <a:solidFill>
                  <a:srgbClr val="FFFFFF"/>
                </a:solidFill>
                <a:effectLst/>
                <a:uLnTx/>
                <a:uFillTx/>
                <a:latin typeface="+mn-lt"/>
                <a:ea typeface="+mn-ea"/>
                <a:cs typeface="+mn-ea"/>
                <a:sym typeface="+mn-lt"/>
              </a:endParaRPr>
            </a:p>
            <a:p>
              <a:pPr marL="0" marR="0" lvl="0" indent="0" algn="ctr" defTabSz="609600" rtl="0" eaLnBrk="1" fontAlgn="auto" latinLnBrk="0" hangingPunct="0">
                <a:lnSpc>
                  <a:spcPct val="150000"/>
                </a:lnSpc>
                <a:spcBef>
                  <a:spcPts val="0"/>
                </a:spcBef>
                <a:spcAft>
                  <a:spcPts val="0"/>
                </a:spcAft>
                <a:buClrTx/>
                <a:buSzTx/>
                <a:buFontTx/>
                <a:buNone/>
                <a:defRPr/>
              </a:pPr>
              <a:r>
                <a:rPr kumimoji="0" lang="en-US" sz="1200" b="0" i="0" u="none" strike="noStrike" kern="0" cap="none" spc="0" normalizeH="0" baseline="0" noProof="0" dirty="0" err="1">
                  <a:ln>
                    <a:noFill/>
                  </a:ln>
                  <a:solidFill>
                    <a:srgbClr val="FFFFFF"/>
                  </a:solidFill>
                  <a:effectLst/>
                  <a:uLnTx/>
                  <a:uFillTx/>
                  <a:latin typeface="+mn-lt"/>
                  <a:ea typeface="+mn-ea"/>
                  <a:cs typeface="+mn-ea"/>
                  <a:sym typeface="+mn-lt"/>
                </a:rPr>
                <a:t>骑行装备</a:t>
              </a:r>
              <a:endParaRPr kumimoji="0" lang="en-US" sz="1200" b="0" i="0" u="none" strike="noStrike" kern="0" cap="none" spc="0" normalizeH="0" baseline="0" noProof="0" dirty="0">
                <a:ln>
                  <a:noFill/>
                </a:ln>
                <a:solidFill>
                  <a:srgbClr val="FFFFFF"/>
                </a:solidFill>
                <a:effectLst/>
                <a:uLnTx/>
                <a:uFillTx/>
                <a:latin typeface="+mn-lt"/>
                <a:ea typeface="+mn-ea"/>
                <a:cs typeface="+mn-ea"/>
                <a:sym typeface="+mn-lt"/>
              </a:endParaRPr>
            </a:p>
            <a:p>
              <a:pPr marL="0" marR="0" lvl="0" indent="0" algn="ctr" defTabSz="609600" rtl="0" eaLnBrk="1" fontAlgn="auto" latinLnBrk="0" hangingPunct="0">
                <a:lnSpc>
                  <a:spcPct val="150000"/>
                </a:lnSpc>
                <a:spcBef>
                  <a:spcPts val="0"/>
                </a:spcBef>
                <a:spcAft>
                  <a:spcPts val="0"/>
                </a:spcAft>
                <a:buClrTx/>
                <a:buSzTx/>
                <a:buFontTx/>
                <a:buNone/>
                <a:defRPr/>
              </a:pPr>
              <a:r>
                <a:rPr kumimoji="0" lang="en-US" sz="1200" b="0" i="0" u="none" strike="noStrike" kern="0" cap="none" spc="0" normalizeH="0" baseline="0" noProof="0" dirty="0" err="1">
                  <a:ln>
                    <a:noFill/>
                  </a:ln>
                  <a:solidFill>
                    <a:srgbClr val="FFFFFF"/>
                  </a:solidFill>
                  <a:effectLst/>
                  <a:uLnTx/>
                  <a:uFillTx/>
                  <a:latin typeface="+mn-lt"/>
                  <a:ea typeface="+mn-ea"/>
                  <a:cs typeface="+mn-ea"/>
                  <a:sym typeface="+mn-lt"/>
                </a:rPr>
                <a:t>零配件</a:t>
              </a:r>
              <a:endParaRPr kumimoji="0" sz="1200" b="0" i="0" u="none" strike="noStrike" kern="0" cap="none" spc="0" normalizeH="0" baseline="0" noProof="0" dirty="0">
                <a:ln>
                  <a:noFill/>
                </a:ln>
                <a:solidFill>
                  <a:srgbClr val="FFFFFF"/>
                </a:solidFill>
                <a:effectLst/>
                <a:uLnTx/>
                <a:uFillTx/>
                <a:latin typeface="+mn-lt"/>
                <a:ea typeface="+mn-ea"/>
                <a:cs typeface="+mn-ea"/>
                <a:sym typeface="+mn-lt"/>
              </a:endParaRPr>
            </a:p>
          </p:txBody>
        </p:sp>
        <p:sp>
          <p:nvSpPr>
            <p:cNvPr id="9" name="lemon56-10"/>
            <p:cNvSpPr txBox="1"/>
            <p:nvPr/>
          </p:nvSpPr>
          <p:spPr>
            <a:xfrm>
              <a:off x="1976861" y="2798791"/>
              <a:ext cx="1334252" cy="301381"/>
            </a:xfrm>
            <a:prstGeom prst="rect">
              <a:avLst/>
            </a:prstGeom>
            <a:ln w="12700">
              <a:miter lim="400000"/>
            </a:ln>
          </p:spPr>
          <p:txBody>
            <a:bodyPr lIns="0" tIns="0" rIns="0" bIns="0">
              <a:noAutofit/>
            </a:bodyPr>
            <a:lstStyle>
              <a:lvl1pPr algn="ctr" defTabSz="609600">
                <a:lnSpc>
                  <a:spcPts val="2000"/>
                </a:lnSpc>
                <a:defRPr b="1">
                  <a:solidFill>
                    <a:srgbClr val="FFFFFF"/>
                  </a:solidFill>
                  <a:latin typeface="Microsoft YaHei Bold"/>
                  <a:ea typeface="Microsoft YaHei Bold"/>
                  <a:cs typeface="Microsoft YaHei Bold"/>
                  <a:sym typeface="Microsoft YaHei Bold"/>
                </a:defRPr>
              </a:lvl1pPr>
            </a:lstStyle>
            <a:p>
              <a:pPr marL="0" marR="0" lvl="0" indent="0" algn="ctr" defTabSz="609600" rtl="0" eaLnBrk="1" fontAlgn="auto" latinLnBrk="0" hangingPunct="0">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FFFFFF"/>
                  </a:solidFill>
                  <a:effectLst/>
                  <a:uLnTx/>
                  <a:uFillTx/>
                  <a:latin typeface="+mn-lt"/>
                  <a:ea typeface="+mn-ea"/>
                  <a:cs typeface="+mn-ea"/>
                  <a:sym typeface="+mn-lt"/>
                </a:rPr>
                <a:t>户外登山</a:t>
              </a:r>
              <a:endParaRPr kumimoji="0" lang="en-US" altLang="zh-CN" sz="1200" b="0" i="0" u="none" strike="noStrike" kern="0" cap="none" spc="0" normalizeH="0" baseline="0" noProof="0" dirty="0">
                <a:ln>
                  <a:noFill/>
                </a:ln>
                <a:solidFill>
                  <a:srgbClr val="FFFFFF"/>
                </a:solidFill>
                <a:effectLst/>
                <a:uLnTx/>
                <a:uFillTx/>
                <a:latin typeface="+mn-lt"/>
                <a:ea typeface="+mn-ea"/>
                <a:cs typeface="+mn-ea"/>
                <a:sym typeface="+mn-lt"/>
              </a:endParaRPr>
            </a:p>
            <a:p>
              <a:pPr marL="0" marR="0" lvl="0" indent="0" algn="ctr" defTabSz="609600" rtl="0" eaLnBrk="1" fontAlgn="auto" latinLnBrk="0" hangingPunct="0">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FFFFFF"/>
                  </a:solidFill>
                  <a:effectLst/>
                  <a:uLnTx/>
                  <a:uFillTx/>
                  <a:latin typeface="+mn-lt"/>
                  <a:ea typeface="+mn-ea"/>
                  <a:cs typeface="+mn-ea"/>
                  <a:sym typeface="+mn-lt"/>
                </a:rPr>
                <a:t>野营</a:t>
              </a:r>
              <a:endParaRPr kumimoji="0" sz="1200" b="0" i="0" u="none" strike="noStrike" kern="0" cap="none" spc="0" normalizeH="0" baseline="0" noProof="0" dirty="0">
                <a:ln>
                  <a:noFill/>
                </a:ln>
                <a:solidFill>
                  <a:srgbClr val="FFFFFF"/>
                </a:solidFill>
                <a:effectLst/>
                <a:uLnTx/>
                <a:uFillTx/>
                <a:latin typeface="+mn-lt"/>
                <a:ea typeface="+mn-ea"/>
                <a:cs typeface="+mn-ea"/>
                <a:sym typeface="+mn-lt"/>
              </a:endParaRPr>
            </a:p>
          </p:txBody>
        </p:sp>
        <p:sp>
          <p:nvSpPr>
            <p:cNvPr id="12" name="lemon56-11"/>
            <p:cNvSpPr/>
            <p:nvPr/>
          </p:nvSpPr>
          <p:spPr>
            <a:xfrm>
              <a:off x="3364239" y="2642816"/>
              <a:ext cx="143136" cy="143136"/>
            </a:xfrm>
            <a:prstGeom prst="rect">
              <a:avLst/>
            </a:prstGeom>
            <a:ln w="12700">
              <a:solidFill>
                <a:schemeClr val="bg1"/>
              </a:solidFill>
              <a:miter lim="400000"/>
            </a:ln>
          </p:spPr>
          <p:txBody>
            <a:bodyPr lIns="25400" tIns="25400" rIns="25400" bIns="25400" anchor="ctr"/>
            <a:lstStyle/>
            <a:p>
              <a:pPr marL="0" marR="0" lvl="0" indent="0" algn="ctr" defTabSz="412750" rtl="0" eaLnBrk="1" fontAlgn="auto" latinLnBrk="0" hangingPunct="0">
                <a:lnSpc>
                  <a:spcPct val="100000"/>
                </a:lnSpc>
                <a:spcBef>
                  <a:spcPts val="0"/>
                </a:spcBef>
                <a:spcAft>
                  <a:spcPts val="0"/>
                </a:spcAft>
                <a:buClrTx/>
                <a:buSzTx/>
                <a:buFontTx/>
                <a:buNone/>
                <a:defRPr sz="1600">
                  <a:solidFill>
                    <a:srgbClr val="FFFFFF"/>
                  </a:solidFill>
                  <a:latin typeface="Helvetica Neue Medium"/>
                  <a:ea typeface="Helvetica Neue Medium"/>
                  <a:cs typeface="Helvetica Neue Medium"/>
                  <a:sym typeface="Helvetica Neue Medium"/>
                </a:defRPr>
              </a:pPr>
              <a:endParaRPr kumimoji="0" sz="1600" b="0" i="0" u="none" strike="noStrike" kern="0" cap="none" spc="0" normalizeH="0" baseline="0" noProof="0" dirty="0">
                <a:ln>
                  <a:noFill/>
                </a:ln>
                <a:solidFill>
                  <a:srgbClr val="FFFFFF"/>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196" name="lemon56-12"/>
            <p:cNvSpPr txBox="1"/>
            <p:nvPr/>
          </p:nvSpPr>
          <p:spPr>
            <a:xfrm>
              <a:off x="3194898" y="3394731"/>
              <a:ext cx="560076" cy="2308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登山鞋</a:t>
              </a:r>
              <a:endParaRPr kumimoji="0" lang="en-US" altLang="zh-CN" sz="900" b="0" i="0" u="none" strike="noStrike" kern="1200" cap="none" spc="0" normalizeH="0" baseline="0" noProof="0" dirty="0">
                <a:ln>
                  <a:noFill/>
                </a:ln>
                <a:solidFill>
                  <a:srgbClr val="000000"/>
                </a:solidFill>
                <a:effectLst/>
                <a:uLnTx/>
                <a:uFillTx/>
                <a:cs typeface="+mn-ea"/>
                <a:sym typeface="+mn-lt"/>
              </a:endParaRPr>
            </a:p>
          </p:txBody>
        </p:sp>
        <p:sp>
          <p:nvSpPr>
            <p:cNvPr id="197" name="lemon56-13"/>
            <p:cNvSpPr/>
            <p:nvPr/>
          </p:nvSpPr>
          <p:spPr>
            <a:xfrm>
              <a:off x="3426549" y="3334536"/>
              <a:ext cx="31728" cy="31728"/>
            </a:xfrm>
            <a:prstGeom prst="ellipse">
              <a:avLst/>
            </a:prstGeom>
            <a:solidFill>
              <a:schemeClr val="accent2"/>
            </a:solidFill>
            <a:ln>
              <a:noFill/>
            </a:ln>
            <a:effectLst>
              <a:outerShdw blurRad="254000" sx="102000" sy="102000" algn="ctr" rotWithShape="0">
                <a:srgbClr val="E31D1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050" b="0" i="0" u="none" strike="noStrike" kern="1200" cap="none" spc="0" normalizeH="0" baseline="0" noProof="0" dirty="0">
                <a:ln>
                  <a:noFill/>
                </a:ln>
                <a:solidFill>
                  <a:srgbClr val="FFFFFF"/>
                </a:solidFill>
                <a:effectLst/>
                <a:uLnTx/>
                <a:uFillTx/>
                <a:cs typeface="+mn-ea"/>
                <a:sym typeface="+mn-lt"/>
              </a:endParaRPr>
            </a:p>
          </p:txBody>
        </p:sp>
        <p:sp>
          <p:nvSpPr>
            <p:cNvPr id="198" name="lemon56-14"/>
            <p:cNvSpPr txBox="1"/>
            <p:nvPr/>
          </p:nvSpPr>
          <p:spPr>
            <a:xfrm>
              <a:off x="1263445" y="3378058"/>
              <a:ext cx="560076" cy="2308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运动鞋</a:t>
              </a:r>
              <a:endParaRPr kumimoji="0" lang="en-US" altLang="zh-CN" sz="900" b="0" i="0" u="none" strike="noStrike" kern="1200" cap="none" spc="0" normalizeH="0" baseline="0" noProof="0" dirty="0">
                <a:ln>
                  <a:noFill/>
                </a:ln>
                <a:solidFill>
                  <a:srgbClr val="000000"/>
                </a:solidFill>
                <a:effectLst/>
                <a:uLnTx/>
                <a:uFillTx/>
                <a:cs typeface="+mn-ea"/>
                <a:sym typeface="+mn-lt"/>
              </a:endParaRPr>
            </a:p>
          </p:txBody>
        </p:sp>
        <p:sp>
          <p:nvSpPr>
            <p:cNvPr id="199" name="lemon56-15"/>
            <p:cNvSpPr/>
            <p:nvPr/>
          </p:nvSpPr>
          <p:spPr>
            <a:xfrm>
              <a:off x="1495096" y="3317863"/>
              <a:ext cx="31728" cy="31728"/>
            </a:xfrm>
            <a:prstGeom prst="ellipse">
              <a:avLst/>
            </a:prstGeom>
            <a:solidFill>
              <a:schemeClr val="accent2"/>
            </a:solidFill>
            <a:ln>
              <a:noFill/>
            </a:ln>
            <a:effectLst>
              <a:outerShdw blurRad="254000" sx="102000" sy="102000" algn="ctr" rotWithShape="0">
                <a:srgbClr val="E31D1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050" b="0" i="0" u="none" strike="noStrike" kern="1200" cap="none" spc="0" normalizeH="0" baseline="0" noProof="0" dirty="0">
                <a:ln>
                  <a:noFill/>
                </a:ln>
                <a:solidFill>
                  <a:srgbClr val="FFFFFF"/>
                </a:solidFill>
                <a:effectLst/>
                <a:uLnTx/>
                <a:uFillTx/>
                <a:cs typeface="+mn-ea"/>
                <a:sym typeface="+mn-lt"/>
              </a:endParaRPr>
            </a:p>
          </p:txBody>
        </p:sp>
        <p:sp>
          <p:nvSpPr>
            <p:cNvPr id="200" name="lemon56-16"/>
            <p:cNvSpPr txBox="1"/>
            <p:nvPr/>
          </p:nvSpPr>
          <p:spPr>
            <a:xfrm>
              <a:off x="1706415" y="3733360"/>
              <a:ext cx="560076" cy="2308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骑行服</a:t>
              </a:r>
              <a:endParaRPr kumimoji="0" lang="en-US" altLang="zh-CN" sz="900" b="0" i="0" u="none" strike="noStrike" kern="1200" cap="none" spc="0" normalizeH="0" baseline="0" noProof="0" dirty="0">
                <a:ln>
                  <a:noFill/>
                </a:ln>
                <a:solidFill>
                  <a:srgbClr val="000000"/>
                </a:solidFill>
                <a:effectLst/>
                <a:uLnTx/>
                <a:uFillTx/>
                <a:cs typeface="+mn-ea"/>
                <a:sym typeface="+mn-lt"/>
              </a:endParaRPr>
            </a:p>
          </p:txBody>
        </p:sp>
        <p:sp>
          <p:nvSpPr>
            <p:cNvPr id="201" name="lemon56-17"/>
            <p:cNvSpPr/>
            <p:nvPr/>
          </p:nvSpPr>
          <p:spPr>
            <a:xfrm>
              <a:off x="1938066" y="3673165"/>
              <a:ext cx="31728" cy="31728"/>
            </a:xfrm>
            <a:prstGeom prst="ellipse">
              <a:avLst/>
            </a:prstGeom>
            <a:solidFill>
              <a:schemeClr val="accent2"/>
            </a:solidFill>
            <a:ln>
              <a:noFill/>
            </a:ln>
            <a:effectLst>
              <a:outerShdw blurRad="254000" sx="102000" sy="102000" algn="ctr" rotWithShape="0">
                <a:srgbClr val="E31D1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050" b="0" i="0" u="none" strike="noStrike" kern="1200" cap="none" spc="0" normalizeH="0" baseline="0" noProof="0" dirty="0">
                <a:ln>
                  <a:noFill/>
                </a:ln>
                <a:solidFill>
                  <a:srgbClr val="FFFFFF"/>
                </a:solidFill>
                <a:effectLst/>
                <a:uLnTx/>
                <a:uFillTx/>
                <a:cs typeface="+mn-ea"/>
                <a:sym typeface="+mn-lt"/>
              </a:endParaRPr>
            </a:p>
          </p:txBody>
        </p:sp>
        <p:sp>
          <p:nvSpPr>
            <p:cNvPr id="202" name="lemon56-18"/>
            <p:cNvSpPr txBox="1"/>
            <p:nvPr/>
          </p:nvSpPr>
          <p:spPr>
            <a:xfrm>
              <a:off x="851324" y="4529847"/>
              <a:ext cx="695435" cy="2308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羽毛球拍</a:t>
              </a:r>
              <a:endParaRPr kumimoji="0" lang="en-US" altLang="zh-CN" sz="900" b="0" i="0" u="none" strike="noStrike" kern="1200" cap="none" spc="0" normalizeH="0" baseline="0" noProof="0" dirty="0">
                <a:ln>
                  <a:noFill/>
                </a:ln>
                <a:solidFill>
                  <a:srgbClr val="000000"/>
                </a:solidFill>
                <a:effectLst/>
                <a:uLnTx/>
                <a:uFillTx/>
                <a:cs typeface="+mn-ea"/>
                <a:sym typeface="+mn-lt"/>
              </a:endParaRPr>
            </a:p>
          </p:txBody>
        </p:sp>
        <p:sp>
          <p:nvSpPr>
            <p:cNvPr id="203" name="lemon56-19"/>
            <p:cNvSpPr/>
            <p:nvPr/>
          </p:nvSpPr>
          <p:spPr>
            <a:xfrm>
              <a:off x="1164256" y="4469652"/>
              <a:ext cx="31728" cy="31728"/>
            </a:xfrm>
            <a:prstGeom prst="ellipse">
              <a:avLst/>
            </a:prstGeom>
            <a:solidFill>
              <a:schemeClr val="accent2"/>
            </a:solidFill>
            <a:ln>
              <a:noFill/>
            </a:ln>
            <a:effectLst>
              <a:outerShdw blurRad="254000" sx="102000" sy="102000" algn="ctr" rotWithShape="0">
                <a:srgbClr val="E31D1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050" b="0" i="0" u="none" strike="noStrike" kern="1200" cap="none" spc="0" normalizeH="0" baseline="0" noProof="0" dirty="0">
                <a:ln>
                  <a:noFill/>
                </a:ln>
                <a:solidFill>
                  <a:srgbClr val="FFFFFF"/>
                </a:solidFill>
                <a:effectLst/>
                <a:uLnTx/>
                <a:uFillTx/>
                <a:cs typeface="+mn-ea"/>
                <a:sym typeface="+mn-lt"/>
              </a:endParaRPr>
            </a:p>
          </p:txBody>
        </p:sp>
        <p:sp>
          <p:nvSpPr>
            <p:cNvPr id="204" name="lemon56-20"/>
            <p:cNvSpPr txBox="1"/>
            <p:nvPr/>
          </p:nvSpPr>
          <p:spPr>
            <a:xfrm>
              <a:off x="3626233" y="4637223"/>
              <a:ext cx="560076" cy="2308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网球</a:t>
              </a:r>
              <a:endParaRPr kumimoji="0" lang="en-US" altLang="zh-CN" sz="900" b="0" i="0" u="none" strike="noStrike" kern="1200" cap="none" spc="0" normalizeH="0" baseline="0" noProof="0" dirty="0">
                <a:ln>
                  <a:noFill/>
                </a:ln>
                <a:solidFill>
                  <a:srgbClr val="000000"/>
                </a:solidFill>
                <a:effectLst/>
                <a:uLnTx/>
                <a:uFillTx/>
                <a:cs typeface="+mn-ea"/>
                <a:sym typeface="+mn-lt"/>
              </a:endParaRPr>
            </a:p>
          </p:txBody>
        </p:sp>
        <p:sp>
          <p:nvSpPr>
            <p:cNvPr id="205" name="lemon56-21"/>
            <p:cNvSpPr/>
            <p:nvPr/>
          </p:nvSpPr>
          <p:spPr>
            <a:xfrm>
              <a:off x="3857884" y="4577028"/>
              <a:ext cx="31728" cy="31728"/>
            </a:xfrm>
            <a:prstGeom prst="ellipse">
              <a:avLst/>
            </a:prstGeom>
            <a:solidFill>
              <a:schemeClr val="accent2"/>
            </a:solidFill>
            <a:ln>
              <a:noFill/>
            </a:ln>
            <a:effectLst>
              <a:outerShdw blurRad="254000" sx="102000" sy="102000" algn="ctr" rotWithShape="0">
                <a:srgbClr val="E31D1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050" b="0" i="0" u="none" strike="noStrike" kern="1200" cap="none" spc="0" normalizeH="0" baseline="0" noProof="0" dirty="0">
                <a:ln>
                  <a:noFill/>
                </a:ln>
                <a:solidFill>
                  <a:srgbClr val="FFFFFF"/>
                </a:solidFill>
                <a:effectLst/>
                <a:uLnTx/>
                <a:uFillTx/>
                <a:cs typeface="+mn-ea"/>
                <a:sym typeface="+mn-lt"/>
              </a:endParaRPr>
            </a:p>
          </p:txBody>
        </p:sp>
        <p:sp>
          <p:nvSpPr>
            <p:cNvPr id="206" name="lemon56-22"/>
            <p:cNvSpPr txBox="1"/>
            <p:nvPr/>
          </p:nvSpPr>
          <p:spPr>
            <a:xfrm>
              <a:off x="1546759" y="5262988"/>
              <a:ext cx="560076" cy="2308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足球</a:t>
              </a:r>
              <a:endParaRPr kumimoji="0" lang="en-US" altLang="zh-CN" sz="900" b="0" i="0" u="none" strike="noStrike" kern="1200" cap="none" spc="0" normalizeH="0" baseline="0" noProof="0" dirty="0">
                <a:ln>
                  <a:noFill/>
                </a:ln>
                <a:solidFill>
                  <a:srgbClr val="000000"/>
                </a:solidFill>
                <a:effectLst/>
                <a:uLnTx/>
                <a:uFillTx/>
                <a:cs typeface="+mn-ea"/>
                <a:sym typeface="+mn-lt"/>
              </a:endParaRPr>
            </a:p>
          </p:txBody>
        </p:sp>
        <p:sp>
          <p:nvSpPr>
            <p:cNvPr id="207" name="lemon56-23"/>
            <p:cNvSpPr/>
            <p:nvPr/>
          </p:nvSpPr>
          <p:spPr>
            <a:xfrm>
              <a:off x="1778410" y="5202793"/>
              <a:ext cx="31728" cy="31728"/>
            </a:xfrm>
            <a:prstGeom prst="ellipse">
              <a:avLst/>
            </a:prstGeom>
            <a:solidFill>
              <a:schemeClr val="accent2"/>
            </a:solidFill>
            <a:ln>
              <a:noFill/>
            </a:ln>
            <a:effectLst>
              <a:outerShdw blurRad="254000" sx="102000" sy="102000" algn="ctr" rotWithShape="0">
                <a:srgbClr val="E31D19">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050" b="0" i="0" u="none" strike="noStrike" kern="1200" cap="none" spc="0" normalizeH="0" baseline="0" noProof="0" dirty="0">
                <a:ln>
                  <a:noFill/>
                </a:ln>
                <a:solidFill>
                  <a:srgbClr val="FFFFFF"/>
                </a:solidFill>
                <a:effectLst/>
                <a:uLnTx/>
                <a:uFillTx/>
                <a:cs typeface="+mn-ea"/>
                <a:sym typeface="+mn-lt"/>
              </a:endParaRPr>
            </a:p>
          </p:txBody>
        </p:sp>
      </p:grpSp>
      <p:sp>
        <p:nvSpPr>
          <p:cNvPr id="208" name="lemon57"/>
          <p:cNvSpPr/>
          <p:nvPr/>
        </p:nvSpPr>
        <p:spPr>
          <a:xfrm>
            <a:off x="421642" y="1362617"/>
            <a:ext cx="75034" cy="13100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09" name="lemon58"/>
          <p:cNvSpPr txBox="1"/>
          <p:nvPr/>
        </p:nvSpPr>
        <p:spPr>
          <a:xfrm>
            <a:off x="461086" y="1284144"/>
            <a:ext cx="1601587" cy="400110"/>
          </a:xfrm>
          <a:prstGeom prst="rect">
            <a:avLst/>
          </a:prstGeom>
          <a:noFill/>
        </p:spPr>
        <p:txBody>
          <a:bodyPr wrap="square" rtlCol="0">
            <a:spAutoFit/>
          </a:bodyPr>
          <a:lstStyle>
            <a:defPPr>
              <a:defRPr lang="en-US"/>
            </a:defPPr>
            <a:lvl1pPr>
              <a:lnSpc>
                <a:spcPct val="130000"/>
              </a:lnSpc>
              <a:defRPr sz="1000">
                <a:latin typeface="+mn-ea"/>
                <a:cs typeface="OPPOSans B" panose="00020600040101010101" pitchFamily="18" charset="-122"/>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mn-lt"/>
                <a:cs typeface="+mn-ea"/>
                <a:sym typeface="+mn-lt"/>
              </a:rPr>
              <a:t>数据来源：</a:t>
            </a:r>
            <a:br>
              <a:rPr kumimoji="0" lang="en-US" altLang="zh-CN" sz="1000" b="0" i="0" u="none" strike="noStrike" kern="1200" cap="none" spc="0" normalizeH="0" baseline="0" noProof="0" dirty="0">
                <a:ln>
                  <a:noFill/>
                </a:ln>
                <a:solidFill>
                  <a:srgbClr val="000000"/>
                </a:solidFill>
                <a:effectLst/>
                <a:uLnTx/>
                <a:uFillTx/>
                <a:latin typeface="+mn-lt"/>
                <a:cs typeface="+mn-ea"/>
                <a:sym typeface="+mn-lt"/>
              </a:rPr>
            </a:br>
            <a:r>
              <a:rPr kumimoji="0" lang="en-US" altLang="zh-CN" sz="1000" b="0" i="0" u="none" strike="noStrike" kern="1200" cap="none" spc="0" normalizeH="0" baseline="0" noProof="0" dirty="0">
                <a:ln>
                  <a:noFill/>
                </a:ln>
                <a:solidFill>
                  <a:srgbClr val="000000"/>
                </a:solidFill>
                <a:effectLst/>
                <a:uLnTx/>
                <a:uFillTx/>
                <a:latin typeface="+mn-lt"/>
                <a:cs typeface="+mn-ea"/>
                <a:sym typeface="+mn-lt"/>
              </a:rPr>
              <a:t>XX</a:t>
            </a:r>
            <a:r>
              <a:rPr kumimoji="0" lang="zh-CN" altLang="en-US" sz="1000" b="0" i="0" u="none" strike="noStrike" kern="1200" cap="none" spc="0" normalizeH="0" baseline="0" noProof="0" dirty="0">
                <a:ln>
                  <a:noFill/>
                </a:ln>
                <a:solidFill>
                  <a:srgbClr val="000000"/>
                </a:solidFill>
                <a:effectLst/>
                <a:uLnTx/>
                <a:uFillTx/>
                <a:latin typeface="+mn-lt"/>
                <a:cs typeface="+mn-ea"/>
                <a:sym typeface="+mn-lt"/>
              </a:rPr>
              <a:t>商业协会</a:t>
            </a:r>
            <a:endParaRPr kumimoji="0" lang="en-US" sz="1000" b="0" i="0" u="none" strike="noStrike" kern="1200" cap="none" spc="0" normalizeH="0" baseline="0" noProof="0" dirty="0">
              <a:ln>
                <a:noFill/>
              </a:ln>
              <a:solidFill>
                <a:srgbClr val="000000"/>
              </a:solidFill>
              <a:effectLst/>
              <a:uLnTx/>
              <a:uFillTx/>
              <a:latin typeface="+mn-lt"/>
              <a:cs typeface="+mn-ea"/>
              <a:sym typeface="+mn-lt"/>
            </a:endParaRPr>
          </a:p>
        </p:txBody>
      </p:sp>
      <p:sp>
        <p:nvSpPr>
          <p:cNvPr id="211" name="lemon59"/>
          <p:cNvSpPr/>
          <p:nvPr/>
        </p:nvSpPr>
        <p:spPr>
          <a:xfrm rot="18993478" flipV="1">
            <a:off x="754760" y="5039540"/>
            <a:ext cx="534217" cy="920767"/>
          </a:xfrm>
          <a:custGeom>
            <a:avLst/>
            <a:gdLst>
              <a:gd name="connsiteX0" fmla="*/ 0 w 187287"/>
              <a:gd name="connsiteY0" fmla="*/ 0 h 334179"/>
              <a:gd name="connsiteX1" fmla="*/ 7345 w 187287"/>
              <a:gd name="connsiteY1" fmla="*/ 124858 h 334179"/>
              <a:gd name="connsiteX2" fmla="*/ 22034 w 187287"/>
              <a:gd name="connsiteY2" fmla="*/ 150564 h 334179"/>
              <a:gd name="connsiteX3" fmla="*/ 36723 w 187287"/>
              <a:gd name="connsiteY3" fmla="*/ 183615 h 334179"/>
              <a:gd name="connsiteX4" fmla="*/ 66101 w 187287"/>
              <a:gd name="connsiteY4" fmla="*/ 231355 h 334179"/>
              <a:gd name="connsiteX5" fmla="*/ 84463 w 187287"/>
              <a:gd name="connsiteY5" fmla="*/ 257061 h 334179"/>
              <a:gd name="connsiteX6" fmla="*/ 128530 w 187287"/>
              <a:gd name="connsiteY6" fmla="*/ 293783 h 334179"/>
              <a:gd name="connsiteX7" fmla="*/ 165253 w 187287"/>
              <a:gd name="connsiteY7" fmla="*/ 323162 h 334179"/>
              <a:gd name="connsiteX8" fmla="*/ 176270 w 187287"/>
              <a:gd name="connsiteY8" fmla="*/ 326834 h 334179"/>
              <a:gd name="connsiteX9" fmla="*/ 187287 w 187287"/>
              <a:gd name="connsiteY9" fmla="*/ 334179 h 334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287" h="334179">
                <a:moveTo>
                  <a:pt x="0" y="0"/>
                </a:moveTo>
                <a:cubicBezTo>
                  <a:pt x="2448" y="41619"/>
                  <a:pt x="1308" y="83606"/>
                  <a:pt x="7345" y="124858"/>
                </a:cubicBezTo>
                <a:cubicBezTo>
                  <a:pt x="8774" y="134623"/>
                  <a:pt x="17621" y="141737"/>
                  <a:pt x="22034" y="150564"/>
                </a:cubicBezTo>
                <a:cubicBezTo>
                  <a:pt x="27426" y="161347"/>
                  <a:pt x="31590" y="172706"/>
                  <a:pt x="36723" y="183615"/>
                </a:cubicBezTo>
                <a:cubicBezTo>
                  <a:pt x="55207" y="222895"/>
                  <a:pt x="44365" y="202374"/>
                  <a:pt x="66101" y="231355"/>
                </a:cubicBezTo>
                <a:cubicBezTo>
                  <a:pt x="72419" y="239779"/>
                  <a:pt x="77017" y="249615"/>
                  <a:pt x="84463" y="257061"/>
                </a:cubicBezTo>
                <a:cubicBezTo>
                  <a:pt x="97983" y="270581"/>
                  <a:pt x="115010" y="280262"/>
                  <a:pt x="128530" y="293783"/>
                </a:cubicBezTo>
                <a:cubicBezTo>
                  <a:pt x="138559" y="303813"/>
                  <a:pt x="151354" y="318529"/>
                  <a:pt x="165253" y="323162"/>
                </a:cubicBezTo>
                <a:lnTo>
                  <a:pt x="176270" y="326834"/>
                </a:lnTo>
                <a:lnTo>
                  <a:pt x="187287" y="334179"/>
                </a:lnTo>
              </a:path>
            </a:pathLst>
          </a:custGeom>
          <a:noFill/>
          <a:ln w="25400">
            <a:solidFill>
              <a:schemeClr val="accent1"/>
            </a:solidFill>
            <a:prstDash val="sysDot"/>
            <a:headEnd type="stealth" w="lg" len="lg"/>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 name="矩形: 圆角 7"/>
          <p:cNvSpPr/>
          <p:nvPr/>
        </p:nvSpPr>
        <p:spPr>
          <a:xfrm flipV="1">
            <a:off x="457802" y="696804"/>
            <a:ext cx="11388632" cy="4571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cs typeface="+mn-ea"/>
              <a:sym typeface="+mn-lt"/>
            </a:endParaRPr>
          </a:p>
        </p:txBody>
      </p:sp>
      <p:sp>
        <p:nvSpPr>
          <p:cNvPr id="3" name="Venn diagram"/>
          <p:cNvSpPr txBox="1"/>
          <p:nvPr/>
        </p:nvSpPr>
        <p:spPr>
          <a:xfrm>
            <a:off x="437924" y="204604"/>
            <a:ext cx="6651772" cy="420628"/>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algn="l"/>
            <a:r>
              <a:rPr lang="zh-CN" altLang="en-US" sz="2400" b="1" i="0" dirty="0">
                <a:solidFill>
                  <a:schemeClr val="accent1"/>
                </a:solidFill>
                <a:cs typeface="+mn-ea"/>
                <a:sym typeface="+mn-lt"/>
              </a:rPr>
              <a:t>高端</a:t>
            </a:r>
            <a:r>
              <a:rPr lang="en-US" sz="2400" b="1" i="0" dirty="0">
                <a:solidFill>
                  <a:schemeClr val="accent1"/>
                </a:solidFill>
                <a:cs typeface="+mn-ea"/>
                <a:sym typeface="+mn-lt"/>
              </a:rPr>
              <a:t>PPT</a:t>
            </a:r>
            <a:r>
              <a:rPr lang="zh-CN" altLang="en-US" sz="2400" b="1" i="0" dirty="0">
                <a:solidFill>
                  <a:schemeClr val="accent1"/>
                </a:solidFill>
                <a:cs typeface="+mn-ea"/>
                <a:sym typeface="+mn-lt"/>
              </a:rPr>
              <a:t>系列之一：打工人必备</a:t>
            </a:r>
            <a:r>
              <a:rPr lang="en-US" sz="2400" b="1" i="0" dirty="0">
                <a:solidFill>
                  <a:schemeClr val="accent1"/>
                </a:solidFill>
                <a:cs typeface="+mn-ea"/>
                <a:sym typeface="+mn-lt"/>
              </a:rPr>
              <a:t>PPT</a:t>
            </a:r>
            <a:r>
              <a:rPr lang="zh-CN" altLang="en-US" sz="2400" b="1" i="0" dirty="0">
                <a:solidFill>
                  <a:schemeClr val="accent1"/>
                </a:solidFill>
                <a:cs typeface="+mn-ea"/>
                <a:sym typeface="+mn-lt"/>
              </a:rPr>
              <a:t>逻辑图</a:t>
            </a:r>
            <a:endParaRPr sz="2400" b="1" i="0" dirty="0">
              <a:solidFill>
                <a:schemeClr val="accent1"/>
              </a:solidFill>
              <a:cs typeface="+mn-ea"/>
              <a:sym typeface="+mn-lt"/>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lemon1"/>
          <p:cNvSpPr/>
          <p:nvPr/>
        </p:nvSpPr>
        <p:spPr>
          <a:xfrm>
            <a:off x="457200" y="1174757"/>
            <a:ext cx="7163076" cy="5242976"/>
          </a:xfrm>
          <a:prstGeom prst="roundRect">
            <a:avLst>
              <a:gd name="adj" fmla="val 399"/>
            </a:avLst>
          </a:prstGeom>
          <a:solidFill>
            <a:schemeClr val="accent1">
              <a:lumMod val="20000"/>
              <a:lumOff val="80000"/>
              <a:alpha val="15079"/>
            </a:schemeClr>
          </a:solidFill>
          <a:ln w="19050">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5" name="lemon2"/>
          <p:cNvSpPr/>
          <p:nvPr/>
        </p:nvSpPr>
        <p:spPr>
          <a:xfrm>
            <a:off x="3053059" y="2230169"/>
            <a:ext cx="2140228" cy="983686"/>
          </a:xfrm>
          <a:prstGeom prst="roundRect">
            <a:avLst>
              <a:gd name="adj" fmla="val 5173"/>
            </a:avLst>
          </a:prstGeom>
          <a:solidFill>
            <a:schemeClr val="accent1">
              <a:lumMod val="20000"/>
              <a:lumOff val="80000"/>
              <a:alpha val="15079"/>
            </a:schemeClr>
          </a:solidFill>
          <a:ln w="1270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3" name="lemon3"/>
          <p:cNvSpPr/>
          <p:nvPr/>
        </p:nvSpPr>
        <p:spPr>
          <a:xfrm>
            <a:off x="693628" y="2230169"/>
            <a:ext cx="2140228" cy="983686"/>
          </a:xfrm>
          <a:prstGeom prst="roundRect">
            <a:avLst>
              <a:gd name="adj" fmla="val 5173"/>
            </a:avLst>
          </a:prstGeom>
          <a:solidFill>
            <a:schemeClr val="accent1">
              <a:lumMod val="20000"/>
              <a:lumOff val="80000"/>
              <a:alpha val="15079"/>
            </a:schemeClr>
          </a:solidFill>
          <a:ln w="1270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58" name="lemon4"/>
          <p:cNvSpPr/>
          <p:nvPr/>
        </p:nvSpPr>
        <p:spPr>
          <a:xfrm>
            <a:off x="5374655" y="2234262"/>
            <a:ext cx="2140228" cy="983686"/>
          </a:xfrm>
          <a:prstGeom prst="roundRect">
            <a:avLst>
              <a:gd name="adj" fmla="val 5173"/>
            </a:avLst>
          </a:prstGeom>
          <a:solidFill>
            <a:schemeClr val="accent1">
              <a:lumMod val="20000"/>
              <a:lumOff val="80000"/>
              <a:alpha val="15079"/>
            </a:schemeClr>
          </a:solidFill>
          <a:ln w="1270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4" name="lemon5"/>
          <p:cNvSpPr/>
          <p:nvPr/>
        </p:nvSpPr>
        <p:spPr>
          <a:xfrm>
            <a:off x="8327676" y="6010852"/>
            <a:ext cx="3249465" cy="676995"/>
          </a:xfrm>
          <a:prstGeom prst="ellipse">
            <a:avLst/>
          </a:prstGeom>
          <a:gradFill flip="none" rotWithShape="1">
            <a:gsLst>
              <a:gs pos="0">
                <a:schemeClr val="accent2">
                  <a:alpha val="32897"/>
                </a:schemeClr>
              </a:gs>
              <a:gs pos="80000">
                <a:schemeClr val="accent2">
                  <a:lumMod val="20000"/>
                  <a:lumOff val="80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5" name="lemon6"/>
          <p:cNvGrpSpPr/>
          <p:nvPr/>
        </p:nvGrpSpPr>
        <p:grpSpPr>
          <a:xfrm>
            <a:off x="7767071" y="1323179"/>
            <a:ext cx="4322371" cy="4392456"/>
            <a:chOff x="4354500" y="1961589"/>
            <a:chExt cx="3602990" cy="3661410"/>
          </a:xfrm>
          <a:scene3d>
            <a:camera prst="perspectiveRight">
              <a:rot lat="20635734" lon="19209476" rev="926074"/>
            </a:camera>
            <a:lightRig rig="contrasting" dir="t"/>
          </a:scene3d>
        </p:grpSpPr>
        <p:grpSp>
          <p:nvGrpSpPr>
            <p:cNvPr id="6" name="组合 5"/>
            <p:cNvGrpSpPr/>
            <p:nvPr/>
          </p:nvGrpSpPr>
          <p:grpSpPr>
            <a:xfrm rot="2700000">
              <a:off x="4325290" y="1990799"/>
              <a:ext cx="3661410" cy="3602990"/>
              <a:chOff x="3934016" y="2163540"/>
              <a:chExt cx="3661410" cy="3602990"/>
            </a:xfrm>
          </p:grpSpPr>
          <p:sp>
            <p:nvSpPr>
              <p:cNvPr id="11" name="lemon6-1"/>
              <p:cNvSpPr>
                <a:spLocks noChangeAspect="1"/>
              </p:cNvSpPr>
              <p:nvPr/>
            </p:nvSpPr>
            <p:spPr bwMode="auto">
              <a:xfrm rot="2349825">
                <a:off x="6055970" y="3071111"/>
                <a:ext cx="1539456" cy="1744630"/>
              </a:xfrm>
              <a:custGeom>
                <a:avLst/>
                <a:gdLst>
                  <a:gd name="T0" fmla="*/ 19 w 1260"/>
                  <a:gd name="T1" fmla="*/ 1 h 1451"/>
                  <a:gd name="T2" fmla="*/ 53 w 1260"/>
                  <a:gd name="T3" fmla="*/ 3 h 1451"/>
                  <a:gd name="T4" fmla="*/ 86 w 1260"/>
                  <a:gd name="T5" fmla="*/ 7 h 1451"/>
                  <a:gd name="T6" fmla="*/ 119 w 1260"/>
                  <a:gd name="T7" fmla="*/ 12 h 1451"/>
                  <a:gd name="T8" fmla="*/ 151 w 1260"/>
                  <a:gd name="T9" fmla="*/ 20 h 1451"/>
                  <a:gd name="T10" fmla="*/ 182 w 1260"/>
                  <a:gd name="T11" fmla="*/ 28 h 1451"/>
                  <a:gd name="T12" fmla="*/ 214 w 1260"/>
                  <a:gd name="T13" fmla="*/ 38 h 1451"/>
                  <a:gd name="T14" fmla="*/ 244 w 1260"/>
                  <a:gd name="T15" fmla="*/ 50 h 1451"/>
                  <a:gd name="T16" fmla="*/ 273 w 1260"/>
                  <a:gd name="T17" fmla="*/ 63 h 1451"/>
                  <a:gd name="T18" fmla="*/ 302 w 1260"/>
                  <a:gd name="T19" fmla="*/ 77 h 1451"/>
                  <a:gd name="T20" fmla="*/ 330 w 1260"/>
                  <a:gd name="T21" fmla="*/ 93 h 1451"/>
                  <a:gd name="T22" fmla="*/ 357 w 1260"/>
                  <a:gd name="T23" fmla="*/ 109 h 1451"/>
                  <a:gd name="T24" fmla="*/ 384 w 1260"/>
                  <a:gd name="T25" fmla="*/ 127 h 1451"/>
                  <a:gd name="T26" fmla="*/ 409 w 1260"/>
                  <a:gd name="T27" fmla="*/ 146 h 1451"/>
                  <a:gd name="T28" fmla="*/ 433 w 1260"/>
                  <a:gd name="T29" fmla="*/ 167 h 1451"/>
                  <a:gd name="T30" fmla="*/ 458 w 1260"/>
                  <a:gd name="T31" fmla="*/ 188 h 1451"/>
                  <a:gd name="T32" fmla="*/ 480 w 1260"/>
                  <a:gd name="T33" fmla="*/ 210 h 1451"/>
                  <a:gd name="T34" fmla="*/ 501 w 1260"/>
                  <a:gd name="T35" fmla="*/ 235 h 1451"/>
                  <a:gd name="T36" fmla="*/ 521 w 1260"/>
                  <a:gd name="T37" fmla="*/ 259 h 1451"/>
                  <a:gd name="T38" fmla="*/ 541 w 1260"/>
                  <a:gd name="T39" fmla="*/ 284 h 1451"/>
                  <a:gd name="T40" fmla="*/ 559 w 1260"/>
                  <a:gd name="T41" fmla="*/ 311 h 1451"/>
                  <a:gd name="T42" fmla="*/ 575 w 1260"/>
                  <a:gd name="T43" fmla="*/ 338 h 1451"/>
                  <a:gd name="T44" fmla="*/ 590 w 1260"/>
                  <a:gd name="T45" fmla="*/ 366 h 1451"/>
                  <a:gd name="T46" fmla="*/ 605 w 1260"/>
                  <a:gd name="T47" fmla="*/ 395 h 1451"/>
                  <a:gd name="T48" fmla="*/ 617 w 1260"/>
                  <a:gd name="T49" fmla="*/ 425 h 1451"/>
                  <a:gd name="T50" fmla="*/ 629 w 1260"/>
                  <a:gd name="T51" fmla="*/ 455 h 1451"/>
                  <a:gd name="T52" fmla="*/ 639 w 1260"/>
                  <a:gd name="T53" fmla="*/ 487 h 1451"/>
                  <a:gd name="T54" fmla="*/ 647 w 1260"/>
                  <a:gd name="T55" fmla="*/ 518 h 1451"/>
                  <a:gd name="T56" fmla="*/ 654 w 1260"/>
                  <a:gd name="T57" fmla="*/ 551 h 1451"/>
                  <a:gd name="T58" fmla="*/ 660 w 1260"/>
                  <a:gd name="T59" fmla="*/ 584 h 1451"/>
                  <a:gd name="T60" fmla="*/ 663 w 1260"/>
                  <a:gd name="T61" fmla="*/ 616 h 1451"/>
                  <a:gd name="T62" fmla="*/ 665 w 1260"/>
                  <a:gd name="T63" fmla="*/ 651 h 1451"/>
                  <a:gd name="T64" fmla="*/ 487 w 1260"/>
                  <a:gd name="T65" fmla="*/ 767 h 1451"/>
                  <a:gd name="T66" fmla="*/ 329 w 1260"/>
                  <a:gd name="T67" fmla="*/ 651 h 1451"/>
                  <a:gd name="T68" fmla="*/ 326 w 1260"/>
                  <a:gd name="T69" fmla="*/ 626 h 1451"/>
                  <a:gd name="T70" fmla="*/ 321 w 1260"/>
                  <a:gd name="T71" fmla="*/ 602 h 1451"/>
                  <a:gd name="T72" fmla="*/ 316 w 1260"/>
                  <a:gd name="T73" fmla="*/ 579 h 1451"/>
                  <a:gd name="T74" fmla="*/ 311 w 1260"/>
                  <a:gd name="T75" fmla="*/ 564 h 1451"/>
                  <a:gd name="T76" fmla="*/ 302 w 1260"/>
                  <a:gd name="T77" fmla="*/ 542 h 1451"/>
                  <a:gd name="T78" fmla="*/ 295 w 1260"/>
                  <a:gd name="T79" fmla="*/ 528 h 1451"/>
                  <a:gd name="T80" fmla="*/ 285 w 1260"/>
                  <a:gd name="T81" fmla="*/ 507 h 1451"/>
                  <a:gd name="T82" fmla="*/ 276 w 1260"/>
                  <a:gd name="T83" fmla="*/ 494 h 1451"/>
                  <a:gd name="T84" fmla="*/ 263 w 1260"/>
                  <a:gd name="T85" fmla="*/ 475 h 1451"/>
                  <a:gd name="T86" fmla="*/ 254 w 1260"/>
                  <a:gd name="T87" fmla="*/ 462 h 1451"/>
                  <a:gd name="T88" fmla="*/ 244 w 1260"/>
                  <a:gd name="T89" fmla="*/ 450 h 1451"/>
                  <a:gd name="T90" fmla="*/ 228 w 1260"/>
                  <a:gd name="T91" fmla="*/ 434 h 1451"/>
                  <a:gd name="T92" fmla="*/ 211 w 1260"/>
                  <a:gd name="T93" fmla="*/ 418 h 1451"/>
                  <a:gd name="T94" fmla="*/ 198 w 1260"/>
                  <a:gd name="T95" fmla="*/ 409 h 1451"/>
                  <a:gd name="T96" fmla="*/ 186 w 1260"/>
                  <a:gd name="T97" fmla="*/ 399 h 1451"/>
                  <a:gd name="T98" fmla="*/ 173 w 1260"/>
                  <a:gd name="T99" fmla="*/ 391 h 1451"/>
                  <a:gd name="T100" fmla="*/ 153 w 1260"/>
                  <a:gd name="T101" fmla="*/ 378 h 1451"/>
                  <a:gd name="T102" fmla="*/ 140 w 1260"/>
                  <a:gd name="T103" fmla="*/ 371 h 1451"/>
                  <a:gd name="T104" fmla="*/ 118 w 1260"/>
                  <a:gd name="T105" fmla="*/ 362 h 1451"/>
                  <a:gd name="T106" fmla="*/ 96 w 1260"/>
                  <a:gd name="T107" fmla="*/ 354 h 1451"/>
                  <a:gd name="T108" fmla="*/ 72 w 1260"/>
                  <a:gd name="T109" fmla="*/ 347 h 1451"/>
                  <a:gd name="T110" fmla="*/ 57 w 1260"/>
                  <a:gd name="T111" fmla="*/ 343 h 1451"/>
                  <a:gd name="T112" fmla="*/ 33 w 1260"/>
                  <a:gd name="T113" fmla="*/ 339 h 1451"/>
                  <a:gd name="T114" fmla="*/ 16 w 1260"/>
                  <a:gd name="T115" fmla="*/ 338 h 1451"/>
                  <a:gd name="T116" fmla="*/ 0 w 1260"/>
                  <a:gd name="T117" fmla="*/ 337 h 1451"/>
                  <a:gd name="T118" fmla="*/ 2 w 1260"/>
                  <a:gd name="T119" fmla="*/ 0 h 145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260"/>
                  <a:gd name="T181" fmla="*/ 0 h 1451"/>
                  <a:gd name="T182" fmla="*/ 1260 w 1260"/>
                  <a:gd name="T183" fmla="*/ 1451 h 1451"/>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260" h="1451">
                    <a:moveTo>
                      <a:pt x="3" y="0"/>
                    </a:moveTo>
                    <a:lnTo>
                      <a:pt x="35" y="1"/>
                    </a:lnTo>
                    <a:lnTo>
                      <a:pt x="68" y="3"/>
                    </a:lnTo>
                    <a:lnTo>
                      <a:pt x="100" y="6"/>
                    </a:lnTo>
                    <a:lnTo>
                      <a:pt x="131" y="9"/>
                    </a:lnTo>
                    <a:lnTo>
                      <a:pt x="162" y="13"/>
                    </a:lnTo>
                    <a:lnTo>
                      <a:pt x="193" y="18"/>
                    </a:lnTo>
                    <a:lnTo>
                      <a:pt x="225" y="23"/>
                    </a:lnTo>
                    <a:lnTo>
                      <a:pt x="255" y="30"/>
                    </a:lnTo>
                    <a:lnTo>
                      <a:pt x="285" y="37"/>
                    </a:lnTo>
                    <a:lnTo>
                      <a:pt x="315" y="44"/>
                    </a:lnTo>
                    <a:lnTo>
                      <a:pt x="345" y="53"/>
                    </a:lnTo>
                    <a:lnTo>
                      <a:pt x="374" y="62"/>
                    </a:lnTo>
                    <a:lnTo>
                      <a:pt x="404" y="72"/>
                    </a:lnTo>
                    <a:lnTo>
                      <a:pt x="433" y="83"/>
                    </a:lnTo>
                    <a:lnTo>
                      <a:pt x="461" y="94"/>
                    </a:lnTo>
                    <a:lnTo>
                      <a:pt x="489" y="106"/>
                    </a:lnTo>
                    <a:lnTo>
                      <a:pt x="517" y="119"/>
                    </a:lnTo>
                    <a:lnTo>
                      <a:pt x="545" y="132"/>
                    </a:lnTo>
                    <a:lnTo>
                      <a:pt x="572" y="145"/>
                    </a:lnTo>
                    <a:lnTo>
                      <a:pt x="599" y="160"/>
                    </a:lnTo>
                    <a:lnTo>
                      <a:pt x="625" y="175"/>
                    </a:lnTo>
                    <a:lnTo>
                      <a:pt x="651" y="190"/>
                    </a:lnTo>
                    <a:lnTo>
                      <a:pt x="676" y="206"/>
                    </a:lnTo>
                    <a:lnTo>
                      <a:pt x="702" y="223"/>
                    </a:lnTo>
                    <a:lnTo>
                      <a:pt x="726" y="240"/>
                    </a:lnTo>
                    <a:lnTo>
                      <a:pt x="751" y="259"/>
                    </a:lnTo>
                    <a:lnTo>
                      <a:pt x="774" y="277"/>
                    </a:lnTo>
                    <a:lnTo>
                      <a:pt x="798" y="296"/>
                    </a:lnTo>
                    <a:lnTo>
                      <a:pt x="820" y="316"/>
                    </a:lnTo>
                    <a:lnTo>
                      <a:pt x="843" y="336"/>
                    </a:lnTo>
                    <a:lnTo>
                      <a:pt x="866" y="356"/>
                    </a:lnTo>
                    <a:lnTo>
                      <a:pt x="887" y="377"/>
                    </a:lnTo>
                    <a:lnTo>
                      <a:pt x="908" y="398"/>
                    </a:lnTo>
                    <a:lnTo>
                      <a:pt x="928" y="421"/>
                    </a:lnTo>
                    <a:lnTo>
                      <a:pt x="948" y="444"/>
                    </a:lnTo>
                    <a:lnTo>
                      <a:pt x="967" y="467"/>
                    </a:lnTo>
                    <a:lnTo>
                      <a:pt x="986" y="490"/>
                    </a:lnTo>
                    <a:lnTo>
                      <a:pt x="1004" y="514"/>
                    </a:lnTo>
                    <a:lnTo>
                      <a:pt x="1023" y="538"/>
                    </a:lnTo>
                    <a:lnTo>
                      <a:pt x="1040" y="564"/>
                    </a:lnTo>
                    <a:lnTo>
                      <a:pt x="1057" y="589"/>
                    </a:lnTo>
                    <a:lnTo>
                      <a:pt x="1073" y="614"/>
                    </a:lnTo>
                    <a:lnTo>
                      <a:pt x="1088" y="640"/>
                    </a:lnTo>
                    <a:lnTo>
                      <a:pt x="1103" y="666"/>
                    </a:lnTo>
                    <a:lnTo>
                      <a:pt x="1117" y="693"/>
                    </a:lnTo>
                    <a:lnTo>
                      <a:pt x="1131" y="720"/>
                    </a:lnTo>
                    <a:lnTo>
                      <a:pt x="1144" y="748"/>
                    </a:lnTo>
                    <a:lnTo>
                      <a:pt x="1156" y="776"/>
                    </a:lnTo>
                    <a:lnTo>
                      <a:pt x="1168" y="804"/>
                    </a:lnTo>
                    <a:lnTo>
                      <a:pt x="1180" y="833"/>
                    </a:lnTo>
                    <a:lnTo>
                      <a:pt x="1190" y="861"/>
                    </a:lnTo>
                    <a:lnTo>
                      <a:pt x="1200" y="891"/>
                    </a:lnTo>
                    <a:lnTo>
                      <a:pt x="1209" y="921"/>
                    </a:lnTo>
                    <a:lnTo>
                      <a:pt x="1217" y="950"/>
                    </a:lnTo>
                    <a:lnTo>
                      <a:pt x="1224" y="980"/>
                    </a:lnTo>
                    <a:lnTo>
                      <a:pt x="1231" y="1010"/>
                    </a:lnTo>
                    <a:lnTo>
                      <a:pt x="1237" y="1042"/>
                    </a:lnTo>
                    <a:lnTo>
                      <a:pt x="1243" y="1073"/>
                    </a:lnTo>
                    <a:lnTo>
                      <a:pt x="1248" y="1104"/>
                    </a:lnTo>
                    <a:lnTo>
                      <a:pt x="1252" y="1135"/>
                    </a:lnTo>
                    <a:lnTo>
                      <a:pt x="1255" y="1166"/>
                    </a:lnTo>
                    <a:lnTo>
                      <a:pt x="1257" y="1198"/>
                    </a:lnTo>
                    <a:lnTo>
                      <a:pt x="1259" y="1231"/>
                    </a:lnTo>
                    <a:lnTo>
                      <a:pt x="1260" y="1263"/>
                    </a:lnTo>
                    <a:lnTo>
                      <a:pt x="921" y="1451"/>
                    </a:lnTo>
                    <a:lnTo>
                      <a:pt x="622" y="1246"/>
                    </a:lnTo>
                    <a:lnTo>
                      <a:pt x="622" y="1231"/>
                    </a:lnTo>
                    <a:lnTo>
                      <a:pt x="620" y="1215"/>
                    </a:lnTo>
                    <a:lnTo>
                      <a:pt x="616" y="1184"/>
                    </a:lnTo>
                    <a:lnTo>
                      <a:pt x="611" y="1154"/>
                    </a:lnTo>
                    <a:lnTo>
                      <a:pt x="608" y="1139"/>
                    </a:lnTo>
                    <a:lnTo>
                      <a:pt x="605" y="1125"/>
                    </a:lnTo>
                    <a:lnTo>
                      <a:pt x="597" y="1096"/>
                    </a:lnTo>
                    <a:lnTo>
                      <a:pt x="593" y="1082"/>
                    </a:lnTo>
                    <a:lnTo>
                      <a:pt x="588" y="1067"/>
                    </a:lnTo>
                    <a:lnTo>
                      <a:pt x="577" y="1039"/>
                    </a:lnTo>
                    <a:lnTo>
                      <a:pt x="572" y="1025"/>
                    </a:lnTo>
                    <a:lnTo>
                      <a:pt x="566" y="1012"/>
                    </a:lnTo>
                    <a:lnTo>
                      <a:pt x="559" y="998"/>
                    </a:lnTo>
                    <a:lnTo>
                      <a:pt x="553" y="985"/>
                    </a:lnTo>
                    <a:lnTo>
                      <a:pt x="539" y="959"/>
                    </a:lnTo>
                    <a:lnTo>
                      <a:pt x="530" y="947"/>
                    </a:lnTo>
                    <a:lnTo>
                      <a:pt x="523" y="934"/>
                    </a:lnTo>
                    <a:lnTo>
                      <a:pt x="506" y="910"/>
                    </a:lnTo>
                    <a:lnTo>
                      <a:pt x="498" y="898"/>
                    </a:lnTo>
                    <a:lnTo>
                      <a:pt x="489" y="887"/>
                    </a:lnTo>
                    <a:lnTo>
                      <a:pt x="480" y="874"/>
                    </a:lnTo>
                    <a:lnTo>
                      <a:pt x="471" y="863"/>
                    </a:lnTo>
                    <a:lnTo>
                      <a:pt x="461" y="852"/>
                    </a:lnTo>
                    <a:lnTo>
                      <a:pt x="451" y="841"/>
                    </a:lnTo>
                    <a:lnTo>
                      <a:pt x="431" y="821"/>
                    </a:lnTo>
                    <a:lnTo>
                      <a:pt x="410" y="801"/>
                    </a:lnTo>
                    <a:lnTo>
                      <a:pt x="399" y="791"/>
                    </a:lnTo>
                    <a:lnTo>
                      <a:pt x="388" y="782"/>
                    </a:lnTo>
                    <a:lnTo>
                      <a:pt x="375" y="773"/>
                    </a:lnTo>
                    <a:lnTo>
                      <a:pt x="364" y="764"/>
                    </a:lnTo>
                    <a:lnTo>
                      <a:pt x="352" y="755"/>
                    </a:lnTo>
                    <a:lnTo>
                      <a:pt x="340" y="747"/>
                    </a:lnTo>
                    <a:lnTo>
                      <a:pt x="328" y="739"/>
                    </a:lnTo>
                    <a:lnTo>
                      <a:pt x="315" y="731"/>
                    </a:lnTo>
                    <a:lnTo>
                      <a:pt x="290" y="716"/>
                    </a:lnTo>
                    <a:lnTo>
                      <a:pt x="277" y="709"/>
                    </a:lnTo>
                    <a:lnTo>
                      <a:pt x="264" y="702"/>
                    </a:lnTo>
                    <a:lnTo>
                      <a:pt x="237" y="690"/>
                    </a:lnTo>
                    <a:lnTo>
                      <a:pt x="223" y="684"/>
                    </a:lnTo>
                    <a:lnTo>
                      <a:pt x="209" y="678"/>
                    </a:lnTo>
                    <a:lnTo>
                      <a:pt x="181" y="669"/>
                    </a:lnTo>
                    <a:lnTo>
                      <a:pt x="152" y="660"/>
                    </a:lnTo>
                    <a:lnTo>
                      <a:pt x="137" y="656"/>
                    </a:lnTo>
                    <a:lnTo>
                      <a:pt x="123" y="653"/>
                    </a:lnTo>
                    <a:lnTo>
                      <a:pt x="108" y="649"/>
                    </a:lnTo>
                    <a:lnTo>
                      <a:pt x="93" y="647"/>
                    </a:lnTo>
                    <a:lnTo>
                      <a:pt x="63" y="642"/>
                    </a:lnTo>
                    <a:lnTo>
                      <a:pt x="47" y="640"/>
                    </a:lnTo>
                    <a:lnTo>
                      <a:pt x="31" y="639"/>
                    </a:lnTo>
                    <a:lnTo>
                      <a:pt x="16" y="638"/>
                    </a:lnTo>
                    <a:lnTo>
                      <a:pt x="0" y="637"/>
                    </a:lnTo>
                    <a:lnTo>
                      <a:pt x="197" y="348"/>
                    </a:lnTo>
                    <a:lnTo>
                      <a:pt x="3" y="0"/>
                    </a:lnTo>
                    <a:close/>
                  </a:path>
                </a:pathLst>
              </a:custGeom>
              <a:solidFill>
                <a:schemeClr val="accent1"/>
              </a:solidFill>
              <a:ln>
                <a:noFill/>
              </a:ln>
              <a:effectLst>
                <a:innerShdw blurRad="482600">
                  <a:srgbClr val="3B8BF1"/>
                </a:innerShdw>
              </a:effectLst>
              <a:sp3d extrusionH="317500" contourW="12700" prstMaterial="matte">
                <a:extrusionClr>
                  <a:schemeClr val="accent1">
                    <a:lumMod val="50000"/>
                  </a:schemeClr>
                </a:extrusionClr>
                <a:contourClr>
                  <a:schemeClr val="accent1"/>
                </a:contourClr>
              </a:sp3d>
            </p:spPr>
            <p:txBody>
              <a:bodyP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35" b="0" i="0" u="none" strike="noStrike" kern="1200" cap="none" spc="0" normalizeH="0" baseline="0" noProof="0" dirty="0">
                  <a:ln>
                    <a:noFill/>
                  </a:ln>
                  <a:solidFill>
                    <a:prstClr val="black"/>
                  </a:solidFill>
                  <a:effectLst/>
                  <a:uLnTx/>
                  <a:uFillTx/>
                  <a:cs typeface="+mn-ea"/>
                  <a:sym typeface="+mn-lt"/>
                </a:endParaRPr>
              </a:p>
            </p:txBody>
          </p:sp>
          <p:sp>
            <p:nvSpPr>
              <p:cNvPr id="12" name="lemon6-2"/>
              <p:cNvSpPr>
                <a:spLocks noChangeAspect="1"/>
              </p:cNvSpPr>
              <p:nvPr/>
            </p:nvSpPr>
            <p:spPr bwMode="auto">
              <a:xfrm rot="2349825">
                <a:off x="4849369" y="2163540"/>
                <a:ext cx="1747491" cy="1592230"/>
              </a:xfrm>
              <a:custGeom>
                <a:avLst/>
                <a:gdLst>
                  <a:gd name="T0" fmla="*/ 337 w 1431"/>
                  <a:gd name="T1" fmla="*/ 688 h 1325"/>
                  <a:gd name="T2" fmla="*/ 337 w 1431"/>
                  <a:gd name="T3" fmla="*/ 659 h 1325"/>
                  <a:gd name="T4" fmla="*/ 338 w 1431"/>
                  <a:gd name="T5" fmla="*/ 643 h 1325"/>
                  <a:gd name="T6" fmla="*/ 341 w 1431"/>
                  <a:gd name="T7" fmla="*/ 618 h 1325"/>
                  <a:gd name="T8" fmla="*/ 346 w 1431"/>
                  <a:gd name="T9" fmla="*/ 594 h 1325"/>
                  <a:gd name="T10" fmla="*/ 350 w 1431"/>
                  <a:gd name="T11" fmla="*/ 578 h 1325"/>
                  <a:gd name="T12" fmla="*/ 358 w 1431"/>
                  <a:gd name="T13" fmla="*/ 556 h 1325"/>
                  <a:gd name="T14" fmla="*/ 364 w 1431"/>
                  <a:gd name="T15" fmla="*/ 541 h 1325"/>
                  <a:gd name="T16" fmla="*/ 374 w 1431"/>
                  <a:gd name="T17" fmla="*/ 519 h 1325"/>
                  <a:gd name="T18" fmla="*/ 382 w 1431"/>
                  <a:gd name="T19" fmla="*/ 506 h 1325"/>
                  <a:gd name="T20" fmla="*/ 390 w 1431"/>
                  <a:gd name="T21" fmla="*/ 492 h 1325"/>
                  <a:gd name="T22" fmla="*/ 399 w 1431"/>
                  <a:gd name="T23" fmla="*/ 479 h 1325"/>
                  <a:gd name="T24" fmla="*/ 408 w 1431"/>
                  <a:gd name="T25" fmla="*/ 467 h 1325"/>
                  <a:gd name="T26" fmla="*/ 418 w 1431"/>
                  <a:gd name="T27" fmla="*/ 454 h 1325"/>
                  <a:gd name="T28" fmla="*/ 434 w 1431"/>
                  <a:gd name="T29" fmla="*/ 437 h 1325"/>
                  <a:gd name="T30" fmla="*/ 445 w 1431"/>
                  <a:gd name="T31" fmla="*/ 426 h 1325"/>
                  <a:gd name="T32" fmla="*/ 463 w 1431"/>
                  <a:gd name="T33" fmla="*/ 411 h 1325"/>
                  <a:gd name="T34" fmla="*/ 476 w 1431"/>
                  <a:gd name="T35" fmla="*/ 402 h 1325"/>
                  <a:gd name="T36" fmla="*/ 496 w 1431"/>
                  <a:gd name="T37" fmla="*/ 388 h 1325"/>
                  <a:gd name="T38" fmla="*/ 516 w 1431"/>
                  <a:gd name="T39" fmla="*/ 376 h 1325"/>
                  <a:gd name="T40" fmla="*/ 530 w 1431"/>
                  <a:gd name="T41" fmla="*/ 369 h 1325"/>
                  <a:gd name="T42" fmla="*/ 544 w 1431"/>
                  <a:gd name="T43" fmla="*/ 362 h 1325"/>
                  <a:gd name="T44" fmla="*/ 559 w 1431"/>
                  <a:gd name="T45" fmla="*/ 357 h 1325"/>
                  <a:gd name="T46" fmla="*/ 590 w 1431"/>
                  <a:gd name="T47" fmla="*/ 347 h 1325"/>
                  <a:gd name="T48" fmla="*/ 606 w 1431"/>
                  <a:gd name="T49" fmla="*/ 343 h 1325"/>
                  <a:gd name="T50" fmla="*/ 630 w 1431"/>
                  <a:gd name="T51" fmla="*/ 339 h 1325"/>
                  <a:gd name="T52" fmla="*/ 647 w 1431"/>
                  <a:gd name="T53" fmla="*/ 337 h 1325"/>
                  <a:gd name="T54" fmla="*/ 756 w 1431"/>
                  <a:gd name="T55" fmla="*/ 176 h 1325"/>
                  <a:gd name="T56" fmla="*/ 638 w 1431"/>
                  <a:gd name="T57" fmla="*/ 1 h 1325"/>
                  <a:gd name="T58" fmla="*/ 603 w 1431"/>
                  <a:gd name="T59" fmla="*/ 3 h 1325"/>
                  <a:gd name="T60" fmla="*/ 571 w 1431"/>
                  <a:gd name="T61" fmla="*/ 8 h 1325"/>
                  <a:gd name="T62" fmla="*/ 538 w 1431"/>
                  <a:gd name="T63" fmla="*/ 14 h 1325"/>
                  <a:gd name="T64" fmla="*/ 506 w 1431"/>
                  <a:gd name="T65" fmla="*/ 21 h 1325"/>
                  <a:gd name="T66" fmla="*/ 474 w 1431"/>
                  <a:gd name="T67" fmla="*/ 30 h 1325"/>
                  <a:gd name="T68" fmla="*/ 443 w 1431"/>
                  <a:gd name="T69" fmla="*/ 40 h 1325"/>
                  <a:gd name="T70" fmla="*/ 414 w 1431"/>
                  <a:gd name="T71" fmla="*/ 53 h 1325"/>
                  <a:gd name="T72" fmla="*/ 385 w 1431"/>
                  <a:gd name="T73" fmla="*/ 66 h 1325"/>
                  <a:gd name="T74" fmla="*/ 356 w 1431"/>
                  <a:gd name="T75" fmla="*/ 80 h 1325"/>
                  <a:gd name="T76" fmla="*/ 328 w 1431"/>
                  <a:gd name="T77" fmla="*/ 96 h 1325"/>
                  <a:gd name="T78" fmla="*/ 301 w 1431"/>
                  <a:gd name="T79" fmla="*/ 113 h 1325"/>
                  <a:gd name="T80" fmla="*/ 275 w 1431"/>
                  <a:gd name="T81" fmla="*/ 132 h 1325"/>
                  <a:gd name="T82" fmla="*/ 249 w 1431"/>
                  <a:gd name="T83" fmla="*/ 152 h 1325"/>
                  <a:gd name="T84" fmla="*/ 226 w 1431"/>
                  <a:gd name="T85" fmla="*/ 172 h 1325"/>
                  <a:gd name="T86" fmla="*/ 202 w 1431"/>
                  <a:gd name="T87" fmla="*/ 193 h 1325"/>
                  <a:gd name="T88" fmla="*/ 180 w 1431"/>
                  <a:gd name="T89" fmla="*/ 217 h 1325"/>
                  <a:gd name="T90" fmla="*/ 159 w 1431"/>
                  <a:gd name="T91" fmla="*/ 240 h 1325"/>
                  <a:gd name="T92" fmla="*/ 139 w 1431"/>
                  <a:gd name="T93" fmla="*/ 265 h 1325"/>
                  <a:gd name="T94" fmla="*/ 120 w 1431"/>
                  <a:gd name="T95" fmla="*/ 291 h 1325"/>
                  <a:gd name="T96" fmla="*/ 102 w 1431"/>
                  <a:gd name="T97" fmla="*/ 318 h 1325"/>
                  <a:gd name="T98" fmla="*/ 86 w 1431"/>
                  <a:gd name="T99" fmla="*/ 345 h 1325"/>
                  <a:gd name="T100" fmla="*/ 71 w 1431"/>
                  <a:gd name="T101" fmla="*/ 374 h 1325"/>
                  <a:gd name="T102" fmla="*/ 58 w 1431"/>
                  <a:gd name="T103" fmla="*/ 403 h 1325"/>
                  <a:gd name="T104" fmla="*/ 45 w 1431"/>
                  <a:gd name="T105" fmla="*/ 433 h 1325"/>
                  <a:gd name="T106" fmla="*/ 34 w 1431"/>
                  <a:gd name="T107" fmla="*/ 463 h 1325"/>
                  <a:gd name="T108" fmla="*/ 25 w 1431"/>
                  <a:gd name="T109" fmla="*/ 494 h 1325"/>
                  <a:gd name="T110" fmla="*/ 16 w 1431"/>
                  <a:gd name="T111" fmla="*/ 526 h 1325"/>
                  <a:gd name="T112" fmla="*/ 10 w 1431"/>
                  <a:gd name="T113" fmla="*/ 559 h 1325"/>
                  <a:gd name="T114" fmla="*/ 5 w 1431"/>
                  <a:gd name="T115" fmla="*/ 592 h 1325"/>
                  <a:gd name="T116" fmla="*/ 2 w 1431"/>
                  <a:gd name="T117" fmla="*/ 625 h 1325"/>
                  <a:gd name="T118" fmla="*/ 1 w 1431"/>
                  <a:gd name="T119" fmla="*/ 659 h 1325"/>
                  <a:gd name="T120" fmla="*/ 1 w 1431"/>
                  <a:gd name="T121" fmla="*/ 688 h 1325"/>
                  <a:gd name="T122" fmla="*/ 177 w 1431"/>
                  <a:gd name="T123" fmla="*/ 596 h 1325"/>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431"/>
                  <a:gd name="T187" fmla="*/ 0 h 1325"/>
                  <a:gd name="T188" fmla="*/ 1431 w 1431"/>
                  <a:gd name="T189" fmla="*/ 1325 h 1325"/>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431" h="1325">
                    <a:moveTo>
                      <a:pt x="638" y="1324"/>
                    </a:moveTo>
                    <a:lnTo>
                      <a:pt x="637" y="1302"/>
                    </a:lnTo>
                    <a:lnTo>
                      <a:pt x="637" y="1280"/>
                    </a:lnTo>
                    <a:lnTo>
                      <a:pt x="637" y="1248"/>
                    </a:lnTo>
                    <a:lnTo>
                      <a:pt x="638" y="1232"/>
                    </a:lnTo>
                    <a:lnTo>
                      <a:pt x="640" y="1217"/>
                    </a:lnTo>
                    <a:lnTo>
                      <a:pt x="644" y="1185"/>
                    </a:lnTo>
                    <a:lnTo>
                      <a:pt x="646" y="1170"/>
                    </a:lnTo>
                    <a:lnTo>
                      <a:pt x="649" y="1154"/>
                    </a:lnTo>
                    <a:lnTo>
                      <a:pt x="655" y="1125"/>
                    </a:lnTo>
                    <a:lnTo>
                      <a:pt x="659" y="1110"/>
                    </a:lnTo>
                    <a:lnTo>
                      <a:pt x="663" y="1095"/>
                    </a:lnTo>
                    <a:lnTo>
                      <a:pt x="673" y="1067"/>
                    </a:lnTo>
                    <a:lnTo>
                      <a:pt x="678" y="1052"/>
                    </a:lnTo>
                    <a:lnTo>
                      <a:pt x="683" y="1038"/>
                    </a:lnTo>
                    <a:lnTo>
                      <a:pt x="689" y="1024"/>
                    </a:lnTo>
                    <a:lnTo>
                      <a:pt x="695" y="1010"/>
                    </a:lnTo>
                    <a:lnTo>
                      <a:pt x="708" y="983"/>
                    </a:lnTo>
                    <a:lnTo>
                      <a:pt x="715" y="970"/>
                    </a:lnTo>
                    <a:lnTo>
                      <a:pt x="724" y="957"/>
                    </a:lnTo>
                    <a:lnTo>
                      <a:pt x="731" y="944"/>
                    </a:lnTo>
                    <a:lnTo>
                      <a:pt x="739" y="932"/>
                    </a:lnTo>
                    <a:lnTo>
                      <a:pt x="747" y="920"/>
                    </a:lnTo>
                    <a:lnTo>
                      <a:pt x="756" y="907"/>
                    </a:lnTo>
                    <a:lnTo>
                      <a:pt x="764" y="895"/>
                    </a:lnTo>
                    <a:lnTo>
                      <a:pt x="773" y="884"/>
                    </a:lnTo>
                    <a:lnTo>
                      <a:pt x="783" y="871"/>
                    </a:lnTo>
                    <a:lnTo>
                      <a:pt x="792" y="860"/>
                    </a:lnTo>
                    <a:lnTo>
                      <a:pt x="812" y="838"/>
                    </a:lnTo>
                    <a:lnTo>
                      <a:pt x="822" y="827"/>
                    </a:lnTo>
                    <a:lnTo>
                      <a:pt x="832" y="817"/>
                    </a:lnTo>
                    <a:lnTo>
                      <a:pt x="843" y="807"/>
                    </a:lnTo>
                    <a:lnTo>
                      <a:pt x="854" y="797"/>
                    </a:lnTo>
                    <a:lnTo>
                      <a:pt x="877" y="778"/>
                    </a:lnTo>
                    <a:lnTo>
                      <a:pt x="889" y="769"/>
                    </a:lnTo>
                    <a:lnTo>
                      <a:pt x="901" y="760"/>
                    </a:lnTo>
                    <a:lnTo>
                      <a:pt x="925" y="743"/>
                    </a:lnTo>
                    <a:lnTo>
                      <a:pt x="938" y="735"/>
                    </a:lnTo>
                    <a:lnTo>
                      <a:pt x="951" y="727"/>
                    </a:lnTo>
                    <a:lnTo>
                      <a:pt x="976" y="711"/>
                    </a:lnTo>
                    <a:lnTo>
                      <a:pt x="990" y="705"/>
                    </a:lnTo>
                    <a:lnTo>
                      <a:pt x="1003" y="698"/>
                    </a:lnTo>
                    <a:lnTo>
                      <a:pt x="1017" y="692"/>
                    </a:lnTo>
                    <a:lnTo>
                      <a:pt x="1030" y="686"/>
                    </a:lnTo>
                    <a:lnTo>
                      <a:pt x="1045" y="680"/>
                    </a:lnTo>
                    <a:lnTo>
                      <a:pt x="1059" y="675"/>
                    </a:lnTo>
                    <a:lnTo>
                      <a:pt x="1088" y="665"/>
                    </a:lnTo>
                    <a:lnTo>
                      <a:pt x="1117" y="657"/>
                    </a:lnTo>
                    <a:lnTo>
                      <a:pt x="1132" y="653"/>
                    </a:lnTo>
                    <a:lnTo>
                      <a:pt x="1147" y="649"/>
                    </a:lnTo>
                    <a:lnTo>
                      <a:pt x="1177" y="644"/>
                    </a:lnTo>
                    <a:lnTo>
                      <a:pt x="1192" y="642"/>
                    </a:lnTo>
                    <a:lnTo>
                      <a:pt x="1209" y="640"/>
                    </a:lnTo>
                    <a:lnTo>
                      <a:pt x="1224" y="638"/>
                    </a:lnTo>
                    <a:lnTo>
                      <a:pt x="1240" y="637"/>
                    </a:lnTo>
                    <a:lnTo>
                      <a:pt x="1431" y="334"/>
                    </a:lnTo>
                    <a:lnTo>
                      <a:pt x="1239" y="0"/>
                    </a:lnTo>
                    <a:lnTo>
                      <a:pt x="1207" y="1"/>
                    </a:lnTo>
                    <a:lnTo>
                      <a:pt x="1174" y="3"/>
                    </a:lnTo>
                    <a:lnTo>
                      <a:pt x="1142" y="6"/>
                    </a:lnTo>
                    <a:lnTo>
                      <a:pt x="1111" y="10"/>
                    </a:lnTo>
                    <a:lnTo>
                      <a:pt x="1080" y="15"/>
                    </a:lnTo>
                    <a:lnTo>
                      <a:pt x="1049" y="20"/>
                    </a:lnTo>
                    <a:lnTo>
                      <a:pt x="1018" y="26"/>
                    </a:lnTo>
                    <a:lnTo>
                      <a:pt x="987" y="32"/>
                    </a:lnTo>
                    <a:lnTo>
                      <a:pt x="957" y="40"/>
                    </a:lnTo>
                    <a:lnTo>
                      <a:pt x="928" y="48"/>
                    </a:lnTo>
                    <a:lnTo>
                      <a:pt x="898" y="57"/>
                    </a:lnTo>
                    <a:lnTo>
                      <a:pt x="868" y="66"/>
                    </a:lnTo>
                    <a:lnTo>
                      <a:pt x="839" y="76"/>
                    </a:lnTo>
                    <a:lnTo>
                      <a:pt x="811" y="88"/>
                    </a:lnTo>
                    <a:lnTo>
                      <a:pt x="783" y="100"/>
                    </a:lnTo>
                    <a:lnTo>
                      <a:pt x="755" y="112"/>
                    </a:lnTo>
                    <a:lnTo>
                      <a:pt x="728" y="125"/>
                    </a:lnTo>
                    <a:lnTo>
                      <a:pt x="699" y="138"/>
                    </a:lnTo>
                    <a:lnTo>
                      <a:pt x="673" y="152"/>
                    </a:lnTo>
                    <a:lnTo>
                      <a:pt x="646" y="167"/>
                    </a:lnTo>
                    <a:lnTo>
                      <a:pt x="620" y="182"/>
                    </a:lnTo>
                    <a:lnTo>
                      <a:pt x="595" y="198"/>
                    </a:lnTo>
                    <a:lnTo>
                      <a:pt x="570" y="214"/>
                    </a:lnTo>
                    <a:lnTo>
                      <a:pt x="544" y="231"/>
                    </a:lnTo>
                    <a:lnTo>
                      <a:pt x="520" y="250"/>
                    </a:lnTo>
                    <a:lnTo>
                      <a:pt x="496" y="268"/>
                    </a:lnTo>
                    <a:lnTo>
                      <a:pt x="472" y="287"/>
                    </a:lnTo>
                    <a:lnTo>
                      <a:pt x="449" y="306"/>
                    </a:lnTo>
                    <a:lnTo>
                      <a:pt x="427" y="325"/>
                    </a:lnTo>
                    <a:lnTo>
                      <a:pt x="405" y="346"/>
                    </a:lnTo>
                    <a:lnTo>
                      <a:pt x="382" y="366"/>
                    </a:lnTo>
                    <a:lnTo>
                      <a:pt x="361" y="388"/>
                    </a:lnTo>
                    <a:lnTo>
                      <a:pt x="341" y="410"/>
                    </a:lnTo>
                    <a:lnTo>
                      <a:pt x="320" y="433"/>
                    </a:lnTo>
                    <a:lnTo>
                      <a:pt x="301" y="455"/>
                    </a:lnTo>
                    <a:lnTo>
                      <a:pt x="282" y="478"/>
                    </a:lnTo>
                    <a:lnTo>
                      <a:pt x="263" y="502"/>
                    </a:lnTo>
                    <a:lnTo>
                      <a:pt x="245" y="526"/>
                    </a:lnTo>
                    <a:lnTo>
                      <a:pt x="227" y="550"/>
                    </a:lnTo>
                    <a:lnTo>
                      <a:pt x="210" y="576"/>
                    </a:lnTo>
                    <a:lnTo>
                      <a:pt x="194" y="602"/>
                    </a:lnTo>
                    <a:lnTo>
                      <a:pt x="178" y="627"/>
                    </a:lnTo>
                    <a:lnTo>
                      <a:pt x="163" y="653"/>
                    </a:lnTo>
                    <a:lnTo>
                      <a:pt x="149" y="680"/>
                    </a:lnTo>
                    <a:lnTo>
                      <a:pt x="135" y="707"/>
                    </a:lnTo>
                    <a:lnTo>
                      <a:pt x="122" y="735"/>
                    </a:lnTo>
                    <a:lnTo>
                      <a:pt x="109" y="762"/>
                    </a:lnTo>
                    <a:lnTo>
                      <a:pt x="97" y="790"/>
                    </a:lnTo>
                    <a:lnTo>
                      <a:pt x="86" y="819"/>
                    </a:lnTo>
                    <a:lnTo>
                      <a:pt x="74" y="847"/>
                    </a:lnTo>
                    <a:lnTo>
                      <a:pt x="64" y="876"/>
                    </a:lnTo>
                    <a:lnTo>
                      <a:pt x="55" y="906"/>
                    </a:lnTo>
                    <a:lnTo>
                      <a:pt x="47" y="936"/>
                    </a:lnTo>
                    <a:lnTo>
                      <a:pt x="39" y="966"/>
                    </a:lnTo>
                    <a:lnTo>
                      <a:pt x="31" y="996"/>
                    </a:lnTo>
                    <a:lnTo>
                      <a:pt x="25" y="1026"/>
                    </a:lnTo>
                    <a:lnTo>
                      <a:pt x="19" y="1058"/>
                    </a:lnTo>
                    <a:lnTo>
                      <a:pt x="14" y="1089"/>
                    </a:lnTo>
                    <a:lnTo>
                      <a:pt x="10" y="1120"/>
                    </a:lnTo>
                    <a:lnTo>
                      <a:pt x="6" y="1151"/>
                    </a:lnTo>
                    <a:lnTo>
                      <a:pt x="4" y="1183"/>
                    </a:lnTo>
                    <a:lnTo>
                      <a:pt x="2" y="1215"/>
                    </a:lnTo>
                    <a:lnTo>
                      <a:pt x="1" y="1247"/>
                    </a:lnTo>
                    <a:lnTo>
                      <a:pt x="0" y="1280"/>
                    </a:lnTo>
                    <a:lnTo>
                      <a:pt x="1" y="1302"/>
                    </a:lnTo>
                    <a:lnTo>
                      <a:pt x="2" y="1325"/>
                    </a:lnTo>
                    <a:lnTo>
                      <a:pt x="335" y="1129"/>
                    </a:lnTo>
                    <a:lnTo>
                      <a:pt x="638" y="1324"/>
                    </a:lnTo>
                    <a:close/>
                  </a:path>
                </a:pathLst>
              </a:custGeom>
              <a:solidFill>
                <a:schemeClr val="accent2"/>
              </a:solidFill>
              <a:ln>
                <a:noFill/>
              </a:ln>
              <a:effectLst>
                <a:innerShdw blurRad="482600">
                  <a:schemeClr val="accent2"/>
                </a:innerShdw>
              </a:effectLst>
              <a:sp3d extrusionH="317500" contourW="12700" prstMaterial="matte">
                <a:extrusionClr>
                  <a:schemeClr val="accent2"/>
                </a:extrusionClr>
                <a:contourClr>
                  <a:schemeClr val="accent2">
                    <a:lumMod val="60000"/>
                    <a:lumOff val="40000"/>
                  </a:schemeClr>
                </a:contourClr>
              </a:sp3d>
            </p:spPr>
            <p:txBody>
              <a:bodyP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35" b="0" i="0" u="none" strike="noStrike" kern="1200" cap="none" spc="0" normalizeH="0" baseline="0" noProof="0" dirty="0">
                  <a:ln>
                    <a:noFill/>
                  </a:ln>
                  <a:solidFill>
                    <a:prstClr val="black"/>
                  </a:solidFill>
                  <a:effectLst/>
                  <a:uLnTx/>
                  <a:uFillTx/>
                  <a:cs typeface="+mn-ea"/>
                  <a:sym typeface="+mn-lt"/>
                </a:endParaRPr>
              </a:p>
            </p:txBody>
          </p:sp>
          <p:sp>
            <p:nvSpPr>
              <p:cNvPr id="13" name="lemon6-3"/>
              <p:cNvSpPr>
                <a:spLocks noChangeAspect="1"/>
              </p:cNvSpPr>
              <p:nvPr/>
            </p:nvSpPr>
            <p:spPr bwMode="auto">
              <a:xfrm rot="2349825">
                <a:off x="3934016" y="3223511"/>
                <a:ext cx="1581063" cy="1639997"/>
              </a:xfrm>
              <a:custGeom>
                <a:avLst/>
                <a:gdLst>
                  <a:gd name="T0" fmla="*/ 579 w 1295"/>
                  <a:gd name="T1" fmla="*/ 541 h 1364"/>
                  <a:gd name="T2" fmla="*/ 674 w 1295"/>
                  <a:gd name="T3" fmla="*/ 385 h 1364"/>
                  <a:gd name="T4" fmla="*/ 651 w 1295"/>
                  <a:gd name="T5" fmla="*/ 384 h 1364"/>
                  <a:gd name="T6" fmla="*/ 627 w 1295"/>
                  <a:gd name="T7" fmla="*/ 382 h 1364"/>
                  <a:gd name="T8" fmla="*/ 597 w 1295"/>
                  <a:gd name="T9" fmla="*/ 376 h 1364"/>
                  <a:gd name="T10" fmla="*/ 583 w 1295"/>
                  <a:gd name="T11" fmla="*/ 372 h 1364"/>
                  <a:gd name="T12" fmla="*/ 555 w 1295"/>
                  <a:gd name="T13" fmla="*/ 363 h 1364"/>
                  <a:gd name="T14" fmla="*/ 540 w 1295"/>
                  <a:gd name="T15" fmla="*/ 358 h 1364"/>
                  <a:gd name="T16" fmla="*/ 514 w 1295"/>
                  <a:gd name="T17" fmla="*/ 345 h 1364"/>
                  <a:gd name="T18" fmla="*/ 501 w 1295"/>
                  <a:gd name="T19" fmla="*/ 337 h 1364"/>
                  <a:gd name="T20" fmla="*/ 476 w 1295"/>
                  <a:gd name="T21" fmla="*/ 321 h 1364"/>
                  <a:gd name="T22" fmla="*/ 465 w 1295"/>
                  <a:gd name="T23" fmla="*/ 312 h 1364"/>
                  <a:gd name="T24" fmla="*/ 442 w 1295"/>
                  <a:gd name="T25" fmla="*/ 294 h 1364"/>
                  <a:gd name="T26" fmla="*/ 422 w 1295"/>
                  <a:gd name="T27" fmla="*/ 273 h 1364"/>
                  <a:gd name="T28" fmla="*/ 413 w 1295"/>
                  <a:gd name="T29" fmla="*/ 262 h 1364"/>
                  <a:gd name="T30" fmla="*/ 395 w 1295"/>
                  <a:gd name="T31" fmla="*/ 238 h 1364"/>
                  <a:gd name="T32" fmla="*/ 383 w 1295"/>
                  <a:gd name="T33" fmla="*/ 220 h 1364"/>
                  <a:gd name="T34" fmla="*/ 371 w 1295"/>
                  <a:gd name="T35" fmla="*/ 201 h 1364"/>
                  <a:gd name="T36" fmla="*/ 359 w 1295"/>
                  <a:gd name="T37" fmla="*/ 174 h 1364"/>
                  <a:gd name="T38" fmla="*/ 354 w 1295"/>
                  <a:gd name="T39" fmla="*/ 160 h 1364"/>
                  <a:gd name="T40" fmla="*/ 347 w 1295"/>
                  <a:gd name="T41" fmla="*/ 139 h 1364"/>
                  <a:gd name="T42" fmla="*/ 341 w 1295"/>
                  <a:gd name="T43" fmla="*/ 117 h 1364"/>
                  <a:gd name="T44" fmla="*/ 170 w 1295"/>
                  <a:gd name="T45" fmla="*/ 0 h 1364"/>
                  <a:gd name="T46" fmla="*/ 1 w 1295"/>
                  <a:gd name="T47" fmla="*/ 117 h 1364"/>
                  <a:gd name="T48" fmla="*/ 5 w 1295"/>
                  <a:gd name="T49" fmla="*/ 149 h 1364"/>
                  <a:gd name="T50" fmla="*/ 11 w 1295"/>
                  <a:gd name="T51" fmla="*/ 181 h 1364"/>
                  <a:gd name="T52" fmla="*/ 18 w 1295"/>
                  <a:gd name="T53" fmla="*/ 212 h 1364"/>
                  <a:gd name="T54" fmla="*/ 27 w 1295"/>
                  <a:gd name="T55" fmla="*/ 242 h 1364"/>
                  <a:gd name="T56" fmla="*/ 36 w 1295"/>
                  <a:gd name="T57" fmla="*/ 273 h 1364"/>
                  <a:gd name="T58" fmla="*/ 48 w 1295"/>
                  <a:gd name="T59" fmla="*/ 302 h 1364"/>
                  <a:gd name="T60" fmla="*/ 61 w 1295"/>
                  <a:gd name="T61" fmla="*/ 330 h 1364"/>
                  <a:gd name="T62" fmla="*/ 74 w 1295"/>
                  <a:gd name="T63" fmla="*/ 358 h 1364"/>
                  <a:gd name="T64" fmla="*/ 89 w 1295"/>
                  <a:gd name="T65" fmla="*/ 385 h 1364"/>
                  <a:gd name="T66" fmla="*/ 106 w 1295"/>
                  <a:gd name="T67" fmla="*/ 412 h 1364"/>
                  <a:gd name="T68" fmla="*/ 123 w 1295"/>
                  <a:gd name="T69" fmla="*/ 438 h 1364"/>
                  <a:gd name="T70" fmla="*/ 142 w 1295"/>
                  <a:gd name="T71" fmla="*/ 462 h 1364"/>
                  <a:gd name="T72" fmla="*/ 161 w 1295"/>
                  <a:gd name="T73" fmla="*/ 486 h 1364"/>
                  <a:gd name="T74" fmla="*/ 182 w 1295"/>
                  <a:gd name="T75" fmla="*/ 509 h 1364"/>
                  <a:gd name="T76" fmla="*/ 203 w 1295"/>
                  <a:gd name="T77" fmla="*/ 531 h 1364"/>
                  <a:gd name="T78" fmla="*/ 226 w 1295"/>
                  <a:gd name="T79" fmla="*/ 551 h 1364"/>
                  <a:gd name="T80" fmla="*/ 250 w 1295"/>
                  <a:gd name="T81" fmla="*/ 571 h 1364"/>
                  <a:gd name="T82" fmla="*/ 274 w 1295"/>
                  <a:gd name="T83" fmla="*/ 590 h 1364"/>
                  <a:gd name="T84" fmla="*/ 299 w 1295"/>
                  <a:gd name="T85" fmla="*/ 608 h 1364"/>
                  <a:gd name="T86" fmla="*/ 325 w 1295"/>
                  <a:gd name="T87" fmla="*/ 625 h 1364"/>
                  <a:gd name="T88" fmla="*/ 352 w 1295"/>
                  <a:gd name="T89" fmla="*/ 640 h 1364"/>
                  <a:gd name="T90" fmla="*/ 380 w 1295"/>
                  <a:gd name="T91" fmla="*/ 654 h 1364"/>
                  <a:gd name="T92" fmla="*/ 409 w 1295"/>
                  <a:gd name="T93" fmla="*/ 667 h 1364"/>
                  <a:gd name="T94" fmla="*/ 437 w 1295"/>
                  <a:gd name="T95" fmla="*/ 678 h 1364"/>
                  <a:gd name="T96" fmla="*/ 467 w 1295"/>
                  <a:gd name="T97" fmla="*/ 689 h 1364"/>
                  <a:gd name="T98" fmla="*/ 498 w 1295"/>
                  <a:gd name="T99" fmla="*/ 698 h 1364"/>
                  <a:gd name="T100" fmla="*/ 529 w 1295"/>
                  <a:gd name="T101" fmla="*/ 706 h 1364"/>
                  <a:gd name="T102" fmla="*/ 560 w 1295"/>
                  <a:gd name="T103" fmla="*/ 711 h 1364"/>
                  <a:gd name="T104" fmla="*/ 592 w 1295"/>
                  <a:gd name="T105" fmla="*/ 716 h 1364"/>
                  <a:gd name="T106" fmla="*/ 624 w 1295"/>
                  <a:gd name="T107" fmla="*/ 719 h 1364"/>
                  <a:gd name="T108" fmla="*/ 658 w 1295"/>
                  <a:gd name="T109" fmla="*/ 721 h 1364"/>
                  <a:gd name="T110" fmla="*/ 677 w 1295"/>
                  <a:gd name="T111" fmla="*/ 721 h 1364"/>
                  <a:gd name="T112" fmla="*/ 681 w 1295"/>
                  <a:gd name="T113" fmla="*/ 720 h 136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295"/>
                  <a:gd name="T172" fmla="*/ 0 h 1364"/>
                  <a:gd name="T173" fmla="*/ 1295 w 1295"/>
                  <a:gd name="T174" fmla="*/ 1364 h 136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295" h="1364">
                    <a:moveTo>
                      <a:pt x="1295" y="1362"/>
                    </a:moveTo>
                    <a:lnTo>
                      <a:pt x="1096" y="1023"/>
                    </a:lnTo>
                    <a:lnTo>
                      <a:pt x="1295" y="727"/>
                    </a:lnTo>
                    <a:lnTo>
                      <a:pt x="1276" y="728"/>
                    </a:lnTo>
                    <a:lnTo>
                      <a:pt x="1246" y="727"/>
                    </a:lnTo>
                    <a:lnTo>
                      <a:pt x="1232" y="726"/>
                    </a:lnTo>
                    <a:lnTo>
                      <a:pt x="1217" y="725"/>
                    </a:lnTo>
                    <a:lnTo>
                      <a:pt x="1187" y="722"/>
                    </a:lnTo>
                    <a:lnTo>
                      <a:pt x="1159" y="717"/>
                    </a:lnTo>
                    <a:lnTo>
                      <a:pt x="1131" y="711"/>
                    </a:lnTo>
                    <a:lnTo>
                      <a:pt x="1117" y="708"/>
                    </a:lnTo>
                    <a:lnTo>
                      <a:pt x="1103" y="704"/>
                    </a:lnTo>
                    <a:lnTo>
                      <a:pt x="1076" y="696"/>
                    </a:lnTo>
                    <a:lnTo>
                      <a:pt x="1050" y="687"/>
                    </a:lnTo>
                    <a:lnTo>
                      <a:pt x="1037" y="682"/>
                    </a:lnTo>
                    <a:lnTo>
                      <a:pt x="1023" y="677"/>
                    </a:lnTo>
                    <a:lnTo>
                      <a:pt x="998" y="665"/>
                    </a:lnTo>
                    <a:lnTo>
                      <a:pt x="973" y="653"/>
                    </a:lnTo>
                    <a:lnTo>
                      <a:pt x="961" y="646"/>
                    </a:lnTo>
                    <a:lnTo>
                      <a:pt x="949" y="638"/>
                    </a:lnTo>
                    <a:lnTo>
                      <a:pt x="925" y="623"/>
                    </a:lnTo>
                    <a:lnTo>
                      <a:pt x="902" y="608"/>
                    </a:lnTo>
                    <a:lnTo>
                      <a:pt x="891" y="600"/>
                    </a:lnTo>
                    <a:lnTo>
                      <a:pt x="880" y="591"/>
                    </a:lnTo>
                    <a:lnTo>
                      <a:pt x="858" y="574"/>
                    </a:lnTo>
                    <a:lnTo>
                      <a:pt x="837" y="556"/>
                    </a:lnTo>
                    <a:lnTo>
                      <a:pt x="818" y="537"/>
                    </a:lnTo>
                    <a:lnTo>
                      <a:pt x="799" y="517"/>
                    </a:lnTo>
                    <a:lnTo>
                      <a:pt x="790" y="506"/>
                    </a:lnTo>
                    <a:lnTo>
                      <a:pt x="781" y="496"/>
                    </a:lnTo>
                    <a:lnTo>
                      <a:pt x="764" y="473"/>
                    </a:lnTo>
                    <a:lnTo>
                      <a:pt x="747" y="451"/>
                    </a:lnTo>
                    <a:lnTo>
                      <a:pt x="732" y="428"/>
                    </a:lnTo>
                    <a:lnTo>
                      <a:pt x="725" y="417"/>
                    </a:lnTo>
                    <a:lnTo>
                      <a:pt x="718" y="405"/>
                    </a:lnTo>
                    <a:lnTo>
                      <a:pt x="703" y="380"/>
                    </a:lnTo>
                    <a:lnTo>
                      <a:pt x="691" y="355"/>
                    </a:lnTo>
                    <a:lnTo>
                      <a:pt x="680" y="330"/>
                    </a:lnTo>
                    <a:lnTo>
                      <a:pt x="675" y="316"/>
                    </a:lnTo>
                    <a:lnTo>
                      <a:pt x="670" y="303"/>
                    </a:lnTo>
                    <a:lnTo>
                      <a:pt x="661" y="276"/>
                    </a:lnTo>
                    <a:lnTo>
                      <a:pt x="657" y="263"/>
                    </a:lnTo>
                    <a:lnTo>
                      <a:pt x="653" y="249"/>
                    </a:lnTo>
                    <a:lnTo>
                      <a:pt x="646" y="221"/>
                    </a:lnTo>
                    <a:lnTo>
                      <a:pt x="641" y="193"/>
                    </a:lnTo>
                    <a:lnTo>
                      <a:pt x="322" y="0"/>
                    </a:lnTo>
                    <a:lnTo>
                      <a:pt x="0" y="191"/>
                    </a:lnTo>
                    <a:lnTo>
                      <a:pt x="2" y="222"/>
                    </a:lnTo>
                    <a:lnTo>
                      <a:pt x="6" y="252"/>
                    </a:lnTo>
                    <a:lnTo>
                      <a:pt x="10" y="282"/>
                    </a:lnTo>
                    <a:lnTo>
                      <a:pt x="15" y="312"/>
                    </a:lnTo>
                    <a:lnTo>
                      <a:pt x="21" y="343"/>
                    </a:lnTo>
                    <a:lnTo>
                      <a:pt x="27" y="372"/>
                    </a:lnTo>
                    <a:lnTo>
                      <a:pt x="35" y="401"/>
                    </a:lnTo>
                    <a:lnTo>
                      <a:pt x="42" y="430"/>
                    </a:lnTo>
                    <a:lnTo>
                      <a:pt x="51" y="458"/>
                    </a:lnTo>
                    <a:lnTo>
                      <a:pt x="60" y="488"/>
                    </a:lnTo>
                    <a:lnTo>
                      <a:pt x="69" y="516"/>
                    </a:lnTo>
                    <a:lnTo>
                      <a:pt x="81" y="543"/>
                    </a:lnTo>
                    <a:lnTo>
                      <a:pt x="91" y="571"/>
                    </a:lnTo>
                    <a:lnTo>
                      <a:pt x="103" y="598"/>
                    </a:lnTo>
                    <a:lnTo>
                      <a:pt x="115" y="624"/>
                    </a:lnTo>
                    <a:lnTo>
                      <a:pt x="128" y="652"/>
                    </a:lnTo>
                    <a:lnTo>
                      <a:pt x="141" y="678"/>
                    </a:lnTo>
                    <a:lnTo>
                      <a:pt x="155" y="704"/>
                    </a:lnTo>
                    <a:lnTo>
                      <a:pt x="169" y="729"/>
                    </a:lnTo>
                    <a:lnTo>
                      <a:pt x="184" y="754"/>
                    </a:lnTo>
                    <a:lnTo>
                      <a:pt x="200" y="779"/>
                    </a:lnTo>
                    <a:lnTo>
                      <a:pt x="216" y="803"/>
                    </a:lnTo>
                    <a:lnTo>
                      <a:pt x="233" y="828"/>
                    </a:lnTo>
                    <a:lnTo>
                      <a:pt x="251" y="851"/>
                    </a:lnTo>
                    <a:lnTo>
                      <a:pt x="268" y="874"/>
                    </a:lnTo>
                    <a:lnTo>
                      <a:pt x="287" y="897"/>
                    </a:lnTo>
                    <a:lnTo>
                      <a:pt x="305" y="919"/>
                    </a:lnTo>
                    <a:lnTo>
                      <a:pt x="324" y="941"/>
                    </a:lnTo>
                    <a:lnTo>
                      <a:pt x="344" y="962"/>
                    </a:lnTo>
                    <a:lnTo>
                      <a:pt x="364" y="984"/>
                    </a:lnTo>
                    <a:lnTo>
                      <a:pt x="385" y="1004"/>
                    </a:lnTo>
                    <a:lnTo>
                      <a:pt x="407" y="1024"/>
                    </a:lnTo>
                    <a:lnTo>
                      <a:pt x="428" y="1043"/>
                    </a:lnTo>
                    <a:lnTo>
                      <a:pt x="450" y="1062"/>
                    </a:lnTo>
                    <a:lnTo>
                      <a:pt x="473" y="1081"/>
                    </a:lnTo>
                    <a:lnTo>
                      <a:pt x="495" y="1099"/>
                    </a:lnTo>
                    <a:lnTo>
                      <a:pt x="519" y="1116"/>
                    </a:lnTo>
                    <a:lnTo>
                      <a:pt x="542" y="1134"/>
                    </a:lnTo>
                    <a:lnTo>
                      <a:pt x="567" y="1151"/>
                    </a:lnTo>
                    <a:lnTo>
                      <a:pt x="592" y="1166"/>
                    </a:lnTo>
                    <a:lnTo>
                      <a:pt x="616" y="1182"/>
                    </a:lnTo>
                    <a:lnTo>
                      <a:pt x="642" y="1196"/>
                    </a:lnTo>
                    <a:lnTo>
                      <a:pt x="667" y="1211"/>
                    </a:lnTo>
                    <a:lnTo>
                      <a:pt x="693" y="1224"/>
                    </a:lnTo>
                    <a:lnTo>
                      <a:pt x="720" y="1237"/>
                    </a:lnTo>
                    <a:lnTo>
                      <a:pt x="747" y="1250"/>
                    </a:lnTo>
                    <a:lnTo>
                      <a:pt x="774" y="1262"/>
                    </a:lnTo>
                    <a:lnTo>
                      <a:pt x="801" y="1273"/>
                    </a:lnTo>
                    <a:lnTo>
                      <a:pt x="828" y="1283"/>
                    </a:lnTo>
                    <a:lnTo>
                      <a:pt x="856" y="1294"/>
                    </a:lnTo>
                    <a:lnTo>
                      <a:pt x="885" y="1304"/>
                    </a:lnTo>
                    <a:lnTo>
                      <a:pt x="914" y="1312"/>
                    </a:lnTo>
                    <a:lnTo>
                      <a:pt x="942" y="1321"/>
                    </a:lnTo>
                    <a:lnTo>
                      <a:pt x="971" y="1328"/>
                    </a:lnTo>
                    <a:lnTo>
                      <a:pt x="1001" y="1335"/>
                    </a:lnTo>
                    <a:lnTo>
                      <a:pt x="1030" y="1341"/>
                    </a:lnTo>
                    <a:lnTo>
                      <a:pt x="1061" y="1346"/>
                    </a:lnTo>
                    <a:lnTo>
                      <a:pt x="1091" y="1351"/>
                    </a:lnTo>
                    <a:lnTo>
                      <a:pt x="1121" y="1355"/>
                    </a:lnTo>
                    <a:lnTo>
                      <a:pt x="1151" y="1358"/>
                    </a:lnTo>
                    <a:lnTo>
                      <a:pt x="1182" y="1361"/>
                    </a:lnTo>
                    <a:lnTo>
                      <a:pt x="1214" y="1363"/>
                    </a:lnTo>
                    <a:lnTo>
                      <a:pt x="1245" y="1364"/>
                    </a:lnTo>
                    <a:lnTo>
                      <a:pt x="1276" y="1364"/>
                    </a:lnTo>
                    <a:lnTo>
                      <a:pt x="1281" y="1364"/>
                    </a:lnTo>
                    <a:lnTo>
                      <a:pt x="1285" y="1363"/>
                    </a:lnTo>
                    <a:lnTo>
                      <a:pt x="1290" y="1362"/>
                    </a:lnTo>
                    <a:lnTo>
                      <a:pt x="1295" y="1362"/>
                    </a:lnTo>
                    <a:close/>
                  </a:path>
                </a:pathLst>
              </a:custGeom>
              <a:gradFill>
                <a:gsLst>
                  <a:gs pos="0">
                    <a:schemeClr val="accent1"/>
                  </a:gs>
                  <a:gs pos="100000">
                    <a:schemeClr val="accent1"/>
                  </a:gs>
                </a:gsLst>
                <a:lin ang="10800000" scaled="0"/>
              </a:gradFill>
              <a:ln>
                <a:noFill/>
              </a:ln>
              <a:effectLst>
                <a:innerShdw blurRad="482600">
                  <a:schemeClr val="accent1"/>
                </a:innerShdw>
              </a:effectLst>
              <a:sp3d extrusionH="317500" contourW="12700" prstMaterial="matte">
                <a:extrusionClr>
                  <a:schemeClr val="accent1">
                    <a:lumMod val="50000"/>
                  </a:schemeClr>
                </a:extrusionClr>
                <a:contourClr>
                  <a:schemeClr val="accent1"/>
                </a:contourClr>
              </a:sp3d>
            </p:spPr>
            <p:txBody>
              <a:bodyP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35" b="0" i="0" u="none" strike="noStrike" kern="1200" cap="none" spc="0" normalizeH="0" baseline="0" noProof="0" dirty="0">
                  <a:ln>
                    <a:noFill/>
                  </a:ln>
                  <a:solidFill>
                    <a:prstClr val="black"/>
                  </a:solidFill>
                  <a:effectLst/>
                  <a:uLnTx/>
                  <a:uFillTx/>
                  <a:cs typeface="+mn-ea"/>
                  <a:sym typeface="+mn-lt"/>
                </a:endParaRPr>
              </a:p>
            </p:txBody>
          </p:sp>
          <p:sp>
            <p:nvSpPr>
              <p:cNvPr id="14" name="lemon6-4"/>
              <p:cNvSpPr>
                <a:spLocks noChangeAspect="1"/>
              </p:cNvSpPr>
              <p:nvPr/>
            </p:nvSpPr>
            <p:spPr bwMode="auto">
              <a:xfrm rot="2349825">
                <a:off x="4978812" y="4285756"/>
                <a:ext cx="1692015" cy="1480774"/>
              </a:xfrm>
              <a:custGeom>
                <a:avLst/>
                <a:gdLst>
                  <a:gd name="T0" fmla="*/ 0 w 1385"/>
                  <a:gd name="T1" fmla="*/ 477 h 1233"/>
                  <a:gd name="T2" fmla="*/ 117 w 1385"/>
                  <a:gd name="T3" fmla="*/ 310 h 1233"/>
                  <a:gd name="T4" fmla="*/ 138 w 1385"/>
                  <a:gd name="T5" fmla="*/ 306 h 1233"/>
                  <a:gd name="T6" fmla="*/ 160 w 1385"/>
                  <a:gd name="T7" fmla="*/ 299 h 1233"/>
                  <a:gd name="T8" fmla="*/ 187 w 1385"/>
                  <a:gd name="T9" fmla="*/ 289 h 1233"/>
                  <a:gd name="T10" fmla="*/ 207 w 1385"/>
                  <a:gd name="T11" fmla="*/ 280 h 1233"/>
                  <a:gd name="T12" fmla="*/ 226 w 1385"/>
                  <a:gd name="T13" fmla="*/ 270 h 1233"/>
                  <a:gd name="T14" fmla="*/ 249 w 1385"/>
                  <a:gd name="T15" fmla="*/ 254 h 1233"/>
                  <a:gd name="T16" fmla="*/ 267 w 1385"/>
                  <a:gd name="T17" fmla="*/ 242 h 1233"/>
                  <a:gd name="T18" fmla="*/ 278 w 1385"/>
                  <a:gd name="T19" fmla="*/ 233 h 1233"/>
                  <a:gd name="T20" fmla="*/ 289 w 1385"/>
                  <a:gd name="T21" fmla="*/ 223 h 1233"/>
                  <a:gd name="T22" fmla="*/ 299 w 1385"/>
                  <a:gd name="T23" fmla="*/ 214 h 1233"/>
                  <a:gd name="T24" fmla="*/ 309 w 1385"/>
                  <a:gd name="T25" fmla="*/ 203 h 1233"/>
                  <a:gd name="T26" fmla="*/ 322 w 1385"/>
                  <a:gd name="T27" fmla="*/ 186 h 1233"/>
                  <a:gd name="T28" fmla="*/ 339 w 1385"/>
                  <a:gd name="T29" fmla="*/ 164 h 1233"/>
                  <a:gd name="T30" fmla="*/ 355 w 1385"/>
                  <a:gd name="T31" fmla="*/ 139 h 1233"/>
                  <a:gd name="T32" fmla="*/ 364 w 1385"/>
                  <a:gd name="T33" fmla="*/ 120 h 1233"/>
                  <a:gd name="T34" fmla="*/ 373 w 1385"/>
                  <a:gd name="T35" fmla="*/ 100 h 1233"/>
                  <a:gd name="T36" fmla="*/ 382 w 1385"/>
                  <a:gd name="T37" fmla="*/ 73 h 1233"/>
                  <a:gd name="T38" fmla="*/ 390 w 1385"/>
                  <a:gd name="T39" fmla="*/ 44 h 1233"/>
                  <a:gd name="T40" fmla="*/ 394 w 1385"/>
                  <a:gd name="T41" fmla="*/ 15 h 1233"/>
                  <a:gd name="T42" fmla="*/ 395 w 1385"/>
                  <a:gd name="T43" fmla="*/ 0 h 1233"/>
                  <a:gd name="T44" fmla="*/ 732 w 1385"/>
                  <a:gd name="T45" fmla="*/ 2 h 1233"/>
                  <a:gd name="T46" fmla="*/ 730 w 1385"/>
                  <a:gd name="T47" fmla="*/ 35 h 1233"/>
                  <a:gd name="T48" fmla="*/ 727 w 1385"/>
                  <a:gd name="T49" fmla="*/ 67 h 1233"/>
                  <a:gd name="T50" fmla="*/ 722 w 1385"/>
                  <a:gd name="T51" fmla="*/ 98 h 1233"/>
                  <a:gd name="T52" fmla="*/ 716 w 1385"/>
                  <a:gd name="T53" fmla="*/ 129 h 1233"/>
                  <a:gd name="T54" fmla="*/ 708 w 1385"/>
                  <a:gd name="T55" fmla="*/ 159 h 1233"/>
                  <a:gd name="T56" fmla="*/ 699 w 1385"/>
                  <a:gd name="T57" fmla="*/ 190 h 1233"/>
                  <a:gd name="T58" fmla="*/ 688 w 1385"/>
                  <a:gd name="T59" fmla="*/ 219 h 1233"/>
                  <a:gd name="T60" fmla="*/ 676 w 1385"/>
                  <a:gd name="T61" fmla="*/ 247 h 1233"/>
                  <a:gd name="T62" fmla="*/ 663 w 1385"/>
                  <a:gd name="T63" fmla="*/ 276 h 1233"/>
                  <a:gd name="T64" fmla="*/ 649 w 1385"/>
                  <a:gd name="T65" fmla="*/ 303 h 1233"/>
                  <a:gd name="T66" fmla="*/ 634 w 1385"/>
                  <a:gd name="T67" fmla="*/ 329 h 1233"/>
                  <a:gd name="T68" fmla="*/ 618 w 1385"/>
                  <a:gd name="T69" fmla="*/ 354 h 1233"/>
                  <a:gd name="T70" fmla="*/ 600 w 1385"/>
                  <a:gd name="T71" fmla="*/ 380 h 1233"/>
                  <a:gd name="T72" fmla="*/ 581 w 1385"/>
                  <a:gd name="T73" fmla="*/ 403 h 1233"/>
                  <a:gd name="T74" fmla="*/ 561 w 1385"/>
                  <a:gd name="T75" fmla="*/ 427 h 1233"/>
                  <a:gd name="T76" fmla="*/ 541 w 1385"/>
                  <a:gd name="T77" fmla="*/ 449 h 1233"/>
                  <a:gd name="T78" fmla="*/ 519 w 1385"/>
                  <a:gd name="T79" fmla="*/ 470 h 1233"/>
                  <a:gd name="T80" fmla="*/ 496 w 1385"/>
                  <a:gd name="T81" fmla="*/ 490 h 1233"/>
                  <a:gd name="T82" fmla="*/ 473 w 1385"/>
                  <a:gd name="T83" fmla="*/ 510 h 1233"/>
                  <a:gd name="T84" fmla="*/ 449 w 1385"/>
                  <a:gd name="T85" fmla="*/ 528 h 1233"/>
                  <a:gd name="T86" fmla="*/ 423 w 1385"/>
                  <a:gd name="T87" fmla="*/ 545 h 1233"/>
                  <a:gd name="T88" fmla="*/ 397 w 1385"/>
                  <a:gd name="T89" fmla="*/ 561 h 1233"/>
                  <a:gd name="T90" fmla="*/ 370 w 1385"/>
                  <a:gd name="T91" fmla="*/ 575 h 1233"/>
                  <a:gd name="T92" fmla="*/ 343 w 1385"/>
                  <a:gd name="T93" fmla="*/ 589 h 1233"/>
                  <a:gd name="T94" fmla="*/ 314 w 1385"/>
                  <a:gd name="T95" fmla="*/ 601 h 1233"/>
                  <a:gd name="T96" fmla="*/ 286 w 1385"/>
                  <a:gd name="T97" fmla="*/ 613 h 1233"/>
                  <a:gd name="T98" fmla="*/ 256 w 1385"/>
                  <a:gd name="T99" fmla="*/ 623 h 1233"/>
                  <a:gd name="T100" fmla="*/ 226 w 1385"/>
                  <a:gd name="T101" fmla="*/ 631 h 1233"/>
                  <a:gd name="T102" fmla="*/ 196 w 1385"/>
                  <a:gd name="T103" fmla="*/ 638 h 1233"/>
                  <a:gd name="T104" fmla="*/ 164 w 1385"/>
                  <a:gd name="T105" fmla="*/ 644 h 1233"/>
                  <a:gd name="T106" fmla="*/ 133 w 1385"/>
                  <a:gd name="T107" fmla="*/ 648 h 1233"/>
                  <a:gd name="T108" fmla="*/ 101 w 1385"/>
                  <a:gd name="T109" fmla="*/ 651 h 123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385"/>
                  <a:gd name="T166" fmla="*/ 0 h 1233"/>
                  <a:gd name="T167" fmla="*/ 1385 w 1385"/>
                  <a:gd name="T168" fmla="*/ 1233 h 123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385" h="1233">
                    <a:moveTo>
                      <a:pt x="191" y="1233"/>
                    </a:moveTo>
                    <a:lnTo>
                      <a:pt x="0" y="903"/>
                    </a:lnTo>
                    <a:lnTo>
                      <a:pt x="194" y="592"/>
                    </a:lnTo>
                    <a:lnTo>
                      <a:pt x="221" y="588"/>
                    </a:lnTo>
                    <a:lnTo>
                      <a:pt x="248" y="582"/>
                    </a:lnTo>
                    <a:lnTo>
                      <a:pt x="262" y="579"/>
                    </a:lnTo>
                    <a:lnTo>
                      <a:pt x="275" y="575"/>
                    </a:lnTo>
                    <a:lnTo>
                      <a:pt x="302" y="567"/>
                    </a:lnTo>
                    <a:lnTo>
                      <a:pt x="327" y="558"/>
                    </a:lnTo>
                    <a:lnTo>
                      <a:pt x="354" y="548"/>
                    </a:lnTo>
                    <a:lnTo>
                      <a:pt x="379" y="537"/>
                    </a:lnTo>
                    <a:lnTo>
                      <a:pt x="391" y="531"/>
                    </a:lnTo>
                    <a:lnTo>
                      <a:pt x="403" y="525"/>
                    </a:lnTo>
                    <a:lnTo>
                      <a:pt x="427" y="511"/>
                    </a:lnTo>
                    <a:lnTo>
                      <a:pt x="450" y="497"/>
                    </a:lnTo>
                    <a:lnTo>
                      <a:pt x="472" y="482"/>
                    </a:lnTo>
                    <a:lnTo>
                      <a:pt x="494" y="467"/>
                    </a:lnTo>
                    <a:lnTo>
                      <a:pt x="506" y="458"/>
                    </a:lnTo>
                    <a:lnTo>
                      <a:pt x="516" y="450"/>
                    </a:lnTo>
                    <a:lnTo>
                      <a:pt x="526" y="441"/>
                    </a:lnTo>
                    <a:lnTo>
                      <a:pt x="536" y="432"/>
                    </a:lnTo>
                    <a:lnTo>
                      <a:pt x="546" y="423"/>
                    </a:lnTo>
                    <a:lnTo>
                      <a:pt x="556" y="414"/>
                    </a:lnTo>
                    <a:lnTo>
                      <a:pt x="565" y="405"/>
                    </a:lnTo>
                    <a:lnTo>
                      <a:pt x="575" y="395"/>
                    </a:lnTo>
                    <a:lnTo>
                      <a:pt x="584" y="385"/>
                    </a:lnTo>
                    <a:lnTo>
                      <a:pt x="593" y="375"/>
                    </a:lnTo>
                    <a:lnTo>
                      <a:pt x="610" y="353"/>
                    </a:lnTo>
                    <a:lnTo>
                      <a:pt x="626" y="332"/>
                    </a:lnTo>
                    <a:lnTo>
                      <a:pt x="642" y="310"/>
                    </a:lnTo>
                    <a:lnTo>
                      <a:pt x="656" y="287"/>
                    </a:lnTo>
                    <a:lnTo>
                      <a:pt x="671" y="264"/>
                    </a:lnTo>
                    <a:lnTo>
                      <a:pt x="683" y="240"/>
                    </a:lnTo>
                    <a:lnTo>
                      <a:pt x="689" y="228"/>
                    </a:lnTo>
                    <a:lnTo>
                      <a:pt x="695" y="215"/>
                    </a:lnTo>
                    <a:lnTo>
                      <a:pt x="705" y="189"/>
                    </a:lnTo>
                    <a:lnTo>
                      <a:pt x="715" y="164"/>
                    </a:lnTo>
                    <a:lnTo>
                      <a:pt x="723" y="138"/>
                    </a:lnTo>
                    <a:lnTo>
                      <a:pt x="731" y="111"/>
                    </a:lnTo>
                    <a:lnTo>
                      <a:pt x="737" y="84"/>
                    </a:lnTo>
                    <a:lnTo>
                      <a:pt x="742" y="57"/>
                    </a:lnTo>
                    <a:lnTo>
                      <a:pt x="746" y="28"/>
                    </a:lnTo>
                    <a:lnTo>
                      <a:pt x="747" y="14"/>
                    </a:lnTo>
                    <a:lnTo>
                      <a:pt x="748" y="0"/>
                    </a:lnTo>
                    <a:lnTo>
                      <a:pt x="1032" y="202"/>
                    </a:lnTo>
                    <a:lnTo>
                      <a:pt x="1385" y="4"/>
                    </a:lnTo>
                    <a:lnTo>
                      <a:pt x="1384" y="36"/>
                    </a:lnTo>
                    <a:lnTo>
                      <a:pt x="1382" y="66"/>
                    </a:lnTo>
                    <a:lnTo>
                      <a:pt x="1379" y="96"/>
                    </a:lnTo>
                    <a:lnTo>
                      <a:pt x="1375" y="126"/>
                    </a:lnTo>
                    <a:lnTo>
                      <a:pt x="1371" y="156"/>
                    </a:lnTo>
                    <a:lnTo>
                      <a:pt x="1366" y="185"/>
                    </a:lnTo>
                    <a:lnTo>
                      <a:pt x="1360" y="216"/>
                    </a:lnTo>
                    <a:lnTo>
                      <a:pt x="1354" y="245"/>
                    </a:lnTo>
                    <a:lnTo>
                      <a:pt x="1347" y="273"/>
                    </a:lnTo>
                    <a:lnTo>
                      <a:pt x="1339" y="302"/>
                    </a:lnTo>
                    <a:lnTo>
                      <a:pt x="1331" y="330"/>
                    </a:lnTo>
                    <a:lnTo>
                      <a:pt x="1322" y="359"/>
                    </a:lnTo>
                    <a:lnTo>
                      <a:pt x="1313" y="387"/>
                    </a:lnTo>
                    <a:lnTo>
                      <a:pt x="1301" y="414"/>
                    </a:lnTo>
                    <a:lnTo>
                      <a:pt x="1291" y="441"/>
                    </a:lnTo>
                    <a:lnTo>
                      <a:pt x="1279" y="468"/>
                    </a:lnTo>
                    <a:lnTo>
                      <a:pt x="1268" y="494"/>
                    </a:lnTo>
                    <a:lnTo>
                      <a:pt x="1255" y="522"/>
                    </a:lnTo>
                    <a:lnTo>
                      <a:pt x="1242" y="547"/>
                    </a:lnTo>
                    <a:lnTo>
                      <a:pt x="1228" y="573"/>
                    </a:lnTo>
                    <a:lnTo>
                      <a:pt x="1214" y="598"/>
                    </a:lnTo>
                    <a:lnTo>
                      <a:pt x="1200" y="623"/>
                    </a:lnTo>
                    <a:lnTo>
                      <a:pt x="1184" y="647"/>
                    </a:lnTo>
                    <a:lnTo>
                      <a:pt x="1169" y="671"/>
                    </a:lnTo>
                    <a:lnTo>
                      <a:pt x="1152" y="696"/>
                    </a:lnTo>
                    <a:lnTo>
                      <a:pt x="1135" y="719"/>
                    </a:lnTo>
                    <a:lnTo>
                      <a:pt x="1117" y="742"/>
                    </a:lnTo>
                    <a:lnTo>
                      <a:pt x="1099" y="764"/>
                    </a:lnTo>
                    <a:lnTo>
                      <a:pt x="1081" y="786"/>
                    </a:lnTo>
                    <a:lnTo>
                      <a:pt x="1062" y="808"/>
                    </a:lnTo>
                    <a:lnTo>
                      <a:pt x="1043" y="829"/>
                    </a:lnTo>
                    <a:lnTo>
                      <a:pt x="1023" y="851"/>
                    </a:lnTo>
                    <a:lnTo>
                      <a:pt x="1003" y="871"/>
                    </a:lnTo>
                    <a:lnTo>
                      <a:pt x="982" y="891"/>
                    </a:lnTo>
                    <a:lnTo>
                      <a:pt x="961" y="910"/>
                    </a:lnTo>
                    <a:lnTo>
                      <a:pt x="939" y="929"/>
                    </a:lnTo>
                    <a:lnTo>
                      <a:pt x="917" y="947"/>
                    </a:lnTo>
                    <a:lnTo>
                      <a:pt x="895" y="965"/>
                    </a:lnTo>
                    <a:lnTo>
                      <a:pt x="872" y="982"/>
                    </a:lnTo>
                    <a:lnTo>
                      <a:pt x="849" y="1000"/>
                    </a:lnTo>
                    <a:lnTo>
                      <a:pt x="826" y="1017"/>
                    </a:lnTo>
                    <a:lnTo>
                      <a:pt x="801" y="1032"/>
                    </a:lnTo>
                    <a:lnTo>
                      <a:pt x="776" y="1048"/>
                    </a:lnTo>
                    <a:lnTo>
                      <a:pt x="752" y="1063"/>
                    </a:lnTo>
                    <a:lnTo>
                      <a:pt x="727" y="1077"/>
                    </a:lnTo>
                    <a:lnTo>
                      <a:pt x="701" y="1090"/>
                    </a:lnTo>
                    <a:lnTo>
                      <a:pt x="676" y="1104"/>
                    </a:lnTo>
                    <a:lnTo>
                      <a:pt x="649" y="1116"/>
                    </a:lnTo>
                    <a:lnTo>
                      <a:pt x="622" y="1128"/>
                    </a:lnTo>
                    <a:lnTo>
                      <a:pt x="595" y="1139"/>
                    </a:lnTo>
                    <a:lnTo>
                      <a:pt x="568" y="1150"/>
                    </a:lnTo>
                    <a:lnTo>
                      <a:pt x="541" y="1161"/>
                    </a:lnTo>
                    <a:lnTo>
                      <a:pt x="514" y="1171"/>
                    </a:lnTo>
                    <a:lnTo>
                      <a:pt x="485" y="1180"/>
                    </a:lnTo>
                    <a:lnTo>
                      <a:pt x="456" y="1188"/>
                    </a:lnTo>
                    <a:lnTo>
                      <a:pt x="428" y="1196"/>
                    </a:lnTo>
                    <a:lnTo>
                      <a:pt x="399" y="1203"/>
                    </a:lnTo>
                    <a:lnTo>
                      <a:pt x="370" y="1209"/>
                    </a:lnTo>
                    <a:lnTo>
                      <a:pt x="340" y="1215"/>
                    </a:lnTo>
                    <a:lnTo>
                      <a:pt x="311" y="1220"/>
                    </a:lnTo>
                    <a:lnTo>
                      <a:pt x="281" y="1224"/>
                    </a:lnTo>
                    <a:lnTo>
                      <a:pt x="251" y="1228"/>
                    </a:lnTo>
                    <a:lnTo>
                      <a:pt x="221" y="1231"/>
                    </a:lnTo>
                    <a:lnTo>
                      <a:pt x="191" y="1233"/>
                    </a:lnTo>
                    <a:close/>
                  </a:path>
                </a:pathLst>
              </a:custGeom>
              <a:solidFill>
                <a:schemeClr val="accent2"/>
              </a:solidFill>
              <a:ln>
                <a:noFill/>
              </a:ln>
              <a:effectLst>
                <a:innerShdw blurRad="482600">
                  <a:schemeClr val="accent2"/>
                </a:innerShdw>
              </a:effectLst>
              <a:sp3d extrusionH="317500" contourW="12700" prstMaterial="matte">
                <a:extrusionClr>
                  <a:schemeClr val="accent2"/>
                </a:extrusionClr>
                <a:contourClr>
                  <a:schemeClr val="accent2">
                    <a:lumMod val="60000"/>
                    <a:lumOff val="40000"/>
                  </a:schemeClr>
                </a:contourClr>
              </a:sp3d>
            </p:spPr>
            <p:txBody>
              <a:bodyP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135" b="0" i="0" u="none" strike="noStrike" kern="1200" cap="none" spc="0" normalizeH="0" baseline="0" noProof="0" dirty="0">
                  <a:ln>
                    <a:noFill/>
                  </a:ln>
                  <a:solidFill>
                    <a:prstClr val="black"/>
                  </a:solidFill>
                  <a:effectLst/>
                  <a:uLnTx/>
                  <a:uFillTx/>
                  <a:cs typeface="+mn-ea"/>
                  <a:sym typeface="+mn-lt"/>
                </a:endParaRPr>
              </a:p>
            </p:txBody>
          </p:sp>
        </p:grpSp>
        <p:sp>
          <p:nvSpPr>
            <p:cNvPr id="7" name="lemon6-5"/>
            <p:cNvSpPr txBox="1"/>
            <p:nvPr/>
          </p:nvSpPr>
          <p:spPr>
            <a:xfrm>
              <a:off x="5210662" y="2758799"/>
              <a:ext cx="668508" cy="641381"/>
            </a:xfrm>
            <a:prstGeom prst="rect">
              <a:avLst/>
            </a:prstGeom>
            <a:noFill/>
            <a:sp3d>
              <a:extrusionClr>
                <a:srgbClr val="C70101"/>
              </a:extrusionClr>
            </a:sp3d>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0" dirty="0">
                  <a:ln>
                    <a:noFill/>
                  </a:ln>
                  <a:solidFill>
                    <a:prstClr val="white"/>
                  </a:solidFill>
                  <a:effectLst/>
                  <a:uLnTx/>
                  <a:uFillTx/>
                  <a:cs typeface="+mn-ea"/>
                  <a:sym typeface="+mn-lt"/>
                </a:rPr>
                <a:t>1</a:t>
              </a:r>
              <a:endParaRPr kumimoji="0" lang="zh-CN" altLang="en-US" sz="4400" b="1" i="0" u="none" strike="noStrike" kern="1200" cap="none" spc="0" normalizeH="0" baseline="0" noProof="0" dirty="0">
                <a:ln>
                  <a:noFill/>
                </a:ln>
                <a:solidFill>
                  <a:prstClr val="white"/>
                </a:solidFill>
                <a:effectLst/>
                <a:uLnTx/>
                <a:uFillTx/>
                <a:cs typeface="+mn-ea"/>
                <a:sym typeface="+mn-lt"/>
              </a:endParaRPr>
            </a:p>
          </p:txBody>
        </p:sp>
        <p:sp>
          <p:nvSpPr>
            <p:cNvPr id="8" name="lemon6-6"/>
            <p:cNvSpPr txBox="1"/>
            <p:nvPr/>
          </p:nvSpPr>
          <p:spPr>
            <a:xfrm>
              <a:off x="6680683" y="2426405"/>
              <a:ext cx="668508" cy="641381"/>
            </a:xfrm>
            <a:prstGeom prst="rect">
              <a:avLst/>
            </a:prstGeom>
            <a:noFill/>
            <a:sp3d>
              <a:extrusionClr>
                <a:srgbClr val="C70101"/>
              </a:extrusionClr>
            </a:sp3d>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0" dirty="0">
                  <a:ln>
                    <a:noFill/>
                  </a:ln>
                  <a:solidFill>
                    <a:prstClr val="white"/>
                  </a:solidFill>
                  <a:effectLst/>
                  <a:uLnTx/>
                  <a:uFillTx/>
                  <a:cs typeface="+mn-ea"/>
                  <a:sym typeface="+mn-lt"/>
                </a:rPr>
                <a:t>3</a:t>
              </a:r>
              <a:endParaRPr kumimoji="0" lang="zh-CN" altLang="en-US" sz="4400" b="1" i="0" u="none" strike="noStrike" kern="1200" cap="none" spc="0" normalizeH="0" baseline="0" noProof="0" dirty="0">
                <a:ln>
                  <a:noFill/>
                </a:ln>
                <a:solidFill>
                  <a:prstClr val="white"/>
                </a:solidFill>
                <a:effectLst/>
                <a:uLnTx/>
                <a:uFillTx/>
                <a:cs typeface="+mn-ea"/>
                <a:sym typeface="+mn-lt"/>
              </a:endParaRPr>
            </a:p>
          </p:txBody>
        </p:sp>
        <p:sp>
          <p:nvSpPr>
            <p:cNvPr id="9" name="lemon6-7"/>
            <p:cNvSpPr txBox="1"/>
            <p:nvPr/>
          </p:nvSpPr>
          <p:spPr>
            <a:xfrm>
              <a:off x="5030456" y="4310383"/>
              <a:ext cx="668508" cy="641381"/>
            </a:xfrm>
            <a:prstGeom prst="rect">
              <a:avLst/>
            </a:prstGeom>
            <a:noFill/>
            <a:sp3d>
              <a:extrusionClr>
                <a:srgbClr val="C70101"/>
              </a:extrusionClr>
            </a:sp3d>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0" dirty="0">
                  <a:ln>
                    <a:noFill/>
                  </a:ln>
                  <a:solidFill>
                    <a:prstClr val="white"/>
                  </a:solidFill>
                  <a:effectLst/>
                  <a:uLnTx/>
                  <a:uFillTx/>
                  <a:cs typeface="+mn-ea"/>
                  <a:sym typeface="+mn-lt"/>
                </a:rPr>
                <a:t>2</a:t>
              </a:r>
              <a:endParaRPr kumimoji="0" lang="zh-CN" altLang="en-US" sz="4400" b="1" i="0" u="none" strike="noStrike" kern="1200" cap="none" spc="0" normalizeH="0" baseline="0" noProof="0" dirty="0">
                <a:ln>
                  <a:noFill/>
                </a:ln>
                <a:solidFill>
                  <a:prstClr val="white"/>
                </a:solidFill>
                <a:effectLst/>
                <a:uLnTx/>
                <a:uFillTx/>
                <a:cs typeface="+mn-ea"/>
                <a:sym typeface="+mn-lt"/>
              </a:endParaRPr>
            </a:p>
          </p:txBody>
        </p:sp>
        <p:sp>
          <p:nvSpPr>
            <p:cNvPr id="10" name="lemon6-8"/>
            <p:cNvSpPr txBox="1"/>
            <p:nvPr/>
          </p:nvSpPr>
          <p:spPr>
            <a:xfrm>
              <a:off x="6517120" y="4050498"/>
              <a:ext cx="668508" cy="641381"/>
            </a:xfrm>
            <a:prstGeom prst="rect">
              <a:avLst/>
            </a:prstGeom>
            <a:noFill/>
            <a:sp3d>
              <a:extrusionClr>
                <a:srgbClr val="C70101"/>
              </a:extrusionClr>
            </a:sp3d>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0" dirty="0">
                  <a:ln>
                    <a:noFill/>
                  </a:ln>
                  <a:solidFill>
                    <a:prstClr val="white"/>
                  </a:solidFill>
                  <a:effectLst/>
                  <a:uLnTx/>
                  <a:uFillTx/>
                  <a:cs typeface="+mn-ea"/>
                  <a:sym typeface="+mn-lt"/>
                </a:rPr>
                <a:t>4</a:t>
              </a:r>
              <a:endParaRPr kumimoji="0" lang="zh-CN" altLang="en-US" sz="4400" b="1" i="0" u="none" strike="noStrike" kern="1200" cap="none" spc="0" normalizeH="0" baseline="0" noProof="0" dirty="0">
                <a:ln>
                  <a:noFill/>
                </a:ln>
                <a:solidFill>
                  <a:prstClr val="white"/>
                </a:solidFill>
                <a:effectLst/>
                <a:uLnTx/>
                <a:uFillTx/>
                <a:cs typeface="+mn-ea"/>
                <a:sym typeface="+mn-lt"/>
              </a:endParaRPr>
            </a:p>
          </p:txBody>
        </p:sp>
      </p:grpSp>
      <p:sp>
        <p:nvSpPr>
          <p:cNvPr id="16" name="lemon7"/>
          <p:cNvSpPr/>
          <p:nvPr/>
        </p:nvSpPr>
        <p:spPr>
          <a:xfrm>
            <a:off x="693628" y="1297278"/>
            <a:ext cx="6821255" cy="757526"/>
          </a:xfrm>
          <a:prstGeom prst="roundRect">
            <a:avLst>
              <a:gd name="adj" fmla="val 4378"/>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8" name="lemon8"/>
          <p:cNvSpPr/>
          <p:nvPr/>
        </p:nvSpPr>
        <p:spPr>
          <a:xfrm>
            <a:off x="908594" y="2317747"/>
            <a:ext cx="1701633" cy="430887"/>
          </a:xfrm>
          <a:prstGeom prst="rect">
            <a:avLst/>
          </a:prstGeom>
          <a:noFill/>
        </p:spPr>
        <p:txBody>
          <a:bodyPr wrap="square" lIns="0" tIns="0" rIns="0" bIns="0" rtlCol="0" anchor="t">
            <a:spAutoFit/>
          </a:bodyPr>
          <a:lstStyle/>
          <a:p>
            <a:pPr marL="0" marR="0" lvl="0" indent="0" algn="ctr" defTabSz="73152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329D"/>
                </a:solidFill>
                <a:effectLst/>
                <a:uLnTx/>
                <a:uFillTx/>
                <a:cs typeface="+mn-ea"/>
                <a:sym typeface="+mn-lt"/>
              </a:rPr>
              <a:t>2024</a:t>
            </a:r>
            <a:r>
              <a:rPr kumimoji="0" lang="zh-CN" altLang="en-US" sz="1400" b="0" i="0" u="none" strike="noStrike" kern="1200" cap="none" spc="0" normalizeH="0" baseline="0" noProof="0" dirty="0">
                <a:ln>
                  <a:noFill/>
                </a:ln>
                <a:solidFill>
                  <a:srgbClr val="00329D"/>
                </a:solidFill>
                <a:effectLst/>
                <a:uLnTx/>
                <a:uFillTx/>
                <a:cs typeface="+mn-ea"/>
                <a:sym typeface="+mn-lt"/>
              </a:rPr>
              <a:t>年度</a:t>
            </a:r>
            <a:r>
              <a:rPr kumimoji="0" lang="en-US" sz="1400" b="0" i="0" u="none" strike="noStrike" kern="1200" cap="none" spc="0" normalizeH="0" baseline="0" noProof="0" dirty="0" err="1">
                <a:ln>
                  <a:noFill/>
                </a:ln>
                <a:solidFill>
                  <a:srgbClr val="00329D"/>
                </a:solidFill>
                <a:effectLst/>
                <a:uLnTx/>
                <a:uFillTx/>
                <a:cs typeface="+mn-ea"/>
                <a:sym typeface="+mn-lt"/>
              </a:rPr>
              <a:t>整体</a:t>
            </a:r>
            <a:br>
              <a:rPr kumimoji="0" lang="en-US" sz="1400" b="0" i="0" u="none" strike="noStrike" kern="1200" cap="none" spc="0" normalizeH="0" baseline="0" noProof="0" dirty="0">
                <a:ln>
                  <a:noFill/>
                </a:ln>
                <a:solidFill>
                  <a:srgbClr val="00329D"/>
                </a:solidFill>
                <a:effectLst/>
                <a:uLnTx/>
                <a:uFillTx/>
                <a:cs typeface="+mn-ea"/>
                <a:sym typeface="+mn-lt"/>
              </a:rPr>
            </a:br>
            <a:r>
              <a:rPr kumimoji="0" lang="en-US" sz="1400" b="0" i="0" u="none" strike="noStrike" kern="1200" cap="none" spc="0" normalizeH="0" baseline="0" noProof="0" dirty="0" err="1">
                <a:ln>
                  <a:noFill/>
                </a:ln>
                <a:solidFill>
                  <a:srgbClr val="00329D"/>
                </a:solidFill>
                <a:effectLst/>
                <a:uLnTx/>
                <a:uFillTx/>
                <a:cs typeface="+mn-ea"/>
                <a:sym typeface="+mn-lt"/>
              </a:rPr>
              <a:t>销量提升</a:t>
            </a:r>
            <a:endParaRPr kumimoji="0" lang="en-US" sz="1400" b="0" i="0" u="none" strike="noStrike" kern="1200" cap="none" spc="0" normalizeH="0" baseline="0" noProof="0" dirty="0">
              <a:ln>
                <a:noFill/>
              </a:ln>
              <a:solidFill>
                <a:srgbClr val="00329D"/>
              </a:solidFill>
              <a:effectLst/>
              <a:uLnTx/>
              <a:uFillTx/>
              <a:cs typeface="+mn-ea"/>
              <a:sym typeface="+mn-lt"/>
            </a:endParaRPr>
          </a:p>
        </p:txBody>
      </p:sp>
      <p:sp>
        <p:nvSpPr>
          <p:cNvPr id="19" name="lemon9"/>
          <p:cNvSpPr txBox="1"/>
          <p:nvPr/>
        </p:nvSpPr>
        <p:spPr>
          <a:xfrm>
            <a:off x="940830" y="2674280"/>
            <a:ext cx="1711221" cy="58477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3200" b="1" i="0" u="none" strike="noStrike" kern="1200" cap="none" spc="0" normalizeH="0" baseline="0" noProof="0" dirty="0">
                <a:ln>
                  <a:noFill/>
                </a:ln>
                <a:solidFill>
                  <a:srgbClr val="00329D"/>
                </a:solidFill>
                <a:effectLst/>
                <a:uLnTx/>
                <a:uFillTx/>
                <a:cs typeface="+mn-ea"/>
                <a:sym typeface="+mn-lt"/>
              </a:rPr>
              <a:t>86</a:t>
            </a:r>
            <a:r>
              <a:rPr kumimoji="1" lang="en-US" altLang="zh-CN" sz="1200" b="1" i="0" u="none" strike="noStrike" kern="1200" cap="none" spc="0" normalizeH="0" baseline="0" noProof="0" dirty="0">
                <a:ln>
                  <a:noFill/>
                </a:ln>
                <a:solidFill>
                  <a:srgbClr val="00329D"/>
                </a:solidFill>
                <a:effectLst/>
                <a:uLnTx/>
                <a:uFillTx/>
                <a:cs typeface="+mn-ea"/>
                <a:sym typeface="+mn-lt"/>
              </a:rPr>
              <a:t>%</a:t>
            </a:r>
          </a:p>
        </p:txBody>
      </p:sp>
      <p:sp>
        <p:nvSpPr>
          <p:cNvPr id="21" name="lemon10"/>
          <p:cNvSpPr/>
          <p:nvPr/>
        </p:nvSpPr>
        <p:spPr>
          <a:xfrm>
            <a:off x="3251806" y="2317747"/>
            <a:ext cx="1701633" cy="430887"/>
          </a:xfrm>
          <a:prstGeom prst="rect">
            <a:avLst/>
          </a:prstGeom>
          <a:noFill/>
        </p:spPr>
        <p:txBody>
          <a:bodyPr wrap="square" lIns="0" tIns="0" rIns="0" bIns="0" rtlCol="0" anchor="t">
            <a:spAutoFit/>
          </a:bodyPr>
          <a:lstStyle/>
          <a:p>
            <a:pPr marL="0" marR="0" lvl="0" indent="0" algn="ctr" defTabSz="73152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4480FB"/>
                </a:solidFill>
                <a:effectLst/>
                <a:uLnTx/>
                <a:uFillTx/>
                <a:cs typeface="+mn-ea"/>
                <a:sym typeface="+mn-lt"/>
              </a:rPr>
              <a:t>2024</a:t>
            </a:r>
            <a:r>
              <a:rPr kumimoji="0" lang="zh-CN" altLang="en-US" sz="1400" b="0" i="0" u="none" strike="noStrike" kern="1200" cap="none" spc="0" normalizeH="0" baseline="0" noProof="0" dirty="0">
                <a:ln>
                  <a:noFill/>
                </a:ln>
                <a:solidFill>
                  <a:srgbClr val="4480FB"/>
                </a:solidFill>
                <a:effectLst/>
                <a:uLnTx/>
                <a:uFillTx/>
                <a:cs typeface="+mn-ea"/>
                <a:sym typeface="+mn-lt"/>
              </a:rPr>
              <a:t>年度</a:t>
            </a:r>
            <a:r>
              <a:rPr kumimoji="0" lang="en-US" sz="1400" b="0" i="0" u="none" strike="noStrike" kern="1200" cap="none" spc="0" normalizeH="0" baseline="0" noProof="0" dirty="0" err="1">
                <a:ln>
                  <a:noFill/>
                </a:ln>
                <a:solidFill>
                  <a:srgbClr val="4480FB"/>
                </a:solidFill>
                <a:effectLst/>
                <a:uLnTx/>
                <a:uFillTx/>
                <a:cs typeface="+mn-ea"/>
                <a:sym typeface="+mn-lt"/>
              </a:rPr>
              <a:t>整体</a:t>
            </a:r>
            <a:br>
              <a:rPr kumimoji="0" lang="en-US" sz="1400" b="0" i="0" u="none" strike="noStrike" kern="1200" cap="none" spc="0" normalizeH="0" baseline="0" noProof="0" dirty="0">
                <a:ln>
                  <a:noFill/>
                </a:ln>
                <a:solidFill>
                  <a:srgbClr val="4480FB"/>
                </a:solidFill>
                <a:effectLst/>
                <a:uLnTx/>
                <a:uFillTx/>
                <a:cs typeface="+mn-ea"/>
                <a:sym typeface="+mn-lt"/>
              </a:rPr>
            </a:br>
            <a:r>
              <a:rPr kumimoji="0" lang="en-US" sz="1400" b="0" i="0" u="none" strike="noStrike" kern="1200" cap="none" spc="0" normalizeH="0" baseline="0" noProof="0" dirty="0" err="1">
                <a:ln>
                  <a:noFill/>
                </a:ln>
                <a:solidFill>
                  <a:srgbClr val="4480FB"/>
                </a:solidFill>
                <a:effectLst/>
                <a:uLnTx/>
                <a:uFillTx/>
                <a:cs typeface="+mn-ea"/>
                <a:sym typeface="+mn-lt"/>
              </a:rPr>
              <a:t>销量提升</a:t>
            </a:r>
            <a:endParaRPr kumimoji="0" lang="en-US" sz="1400" b="0" i="0" u="none" strike="noStrike" kern="1200" cap="none" spc="0" normalizeH="0" baseline="0" noProof="0" dirty="0">
              <a:ln>
                <a:noFill/>
              </a:ln>
              <a:solidFill>
                <a:srgbClr val="4480FB"/>
              </a:solidFill>
              <a:effectLst/>
              <a:uLnTx/>
              <a:uFillTx/>
              <a:cs typeface="+mn-ea"/>
              <a:sym typeface="+mn-lt"/>
            </a:endParaRPr>
          </a:p>
        </p:txBody>
      </p:sp>
      <p:sp>
        <p:nvSpPr>
          <p:cNvPr id="22" name="lemon11"/>
          <p:cNvSpPr txBox="1"/>
          <p:nvPr/>
        </p:nvSpPr>
        <p:spPr>
          <a:xfrm>
            <a:off x="3284042" y="2674280"/>
            <a:ext cx="1711221" cy="58477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3200" b="1" i="0" u="none" strike="noStrike" kern="1200" cap="none" spc="0" normalizeH="0" baseline="0" noProof="0" dirty="0">
                <a:ln>
                  <a:noFill/>
                </a:ln>
                <a:solidFill>
                  <a:srgbClr val="4480FB"/>
                </a:solidFill>
                <a:effectLst/>
                <a:uLnTx/>
                <a:uFillTx/>
                <a:cs typeface="+mn-ea"/>
                <a:sym typeface="+mn-lt"/>
              </a:rPr>
              <a:t>23</a:t>
            </a:r>
            <a:r>
              <a:rPr kumimoji="1" lang="en-US" altLang="zh-CN" sz="1200" b="1" i="0" u="none" strike="noStrike" kern="1200" cap="none" spc="0" normalizeH="0" baseline="0" noProof="0" dirty="0">
                <a:ln>
                  <a:noFill/>
                </a:ln>
                <a:solidFill>
                  <a:srgbClr val="4480FB"/>
                </a:solidFill>
                <a:effectLst/>
                <a:uLnTx/>
                <a:uFillTx/>
                <a:cs typeface="+mn-ea"/>
                <a:sym typeface="+mn-lt"/>
              </a:rPr>
              <a:t>%</a:t>
            </a:r>
          </a:p>
        </p:txBody>
      </p:sp>
      <p:sp>
        <p:nvSpPr>
          <p:cNvPr id="28" name="lemon12"/>
          <p:cNvSpPr/>
          <p:nvPr/>
        </p:nvSpPr>
        <p:spPr>
          <a:xfrm rot="9508657" flipH="1" flipV="1">
            <a:off x="8293902" y="1510087"/>
            <a:ext cx="473568" cy="967634"/>
          </a:xfrm>
          <a:custGeom>
            <a:avLst/>
            <a:gdLst>
              <a:gd name="connsiteX0" fmla="*/ 0 w 187287"/>
              <a:gd name="connsiteY0" fmla="*/ 0 h 334179"/>
              <a:gd name="connsiteX1" fmla="*/ 7345 w 187287"/>
              <a:gd name="connsiteY1" fmla="*/ 124858 h 334179"/>
              <a:gd name="connsiteX2" fmla="*/ 22034 w 187287"/>
              <a:gd name="connsiteY2" fmla="*/ 150564 h 334179"/>
              <a:gd name="connsiteX3" fmla="*/ 36723 w 187287"/>
              <a:gd name="connsiteY3" fmla="*/ 183615 h 334179"/>
              <a:gd name="connsiteX4" fmla="*/ 66101 w 187287"/>
              <a:gd name="connsiteY4" fmla="*/ 231355 h 334179"/>
              <a:gd name="connsiteX5" fmla="*/ 84463 w 187287"/>
              <a:gd name="connsiteY5" fmla="*/ 257061 h 334179"/>
              <a:gd name="connsiteX6" fmla="*/ 128530 w 187287"/>
              <a:gd name="connsiteY6" fmla="*/ 293783 h 334179"/>
              <a:gd name="connsiteX7" fmla="*/ 165253 w 187287"/>
              <a:gd name="connsiteY7" fmla="*/ 323162 h 334179"/>
              <a:gd name="connsiteX8" fmla="*/ 176270 w 187287"/>
              <a:gd name="connsiteY8" fmla="*/ 326834 h 334179"/>
              <a:gd name="connsiteX9" fmla="*/ 187287 w 187287"/>
              <a:gd name="connsiteY9" fmla="*/ 334179 h 334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287" h="334179">
                <a:moveTo>
                  <a:pt x="0" y="0"/>
                </a:moveTo>
                <a:cubicBezTo>
                  <a:pt x="2448" y="41619"/>
                  <a:pt x="1308" y="83606"/>
                  <a:pt x="7345" y="124858"/>
                </a:cubicBezTo>
                <a:cubicBezTo>
                  <a:pt x="8774" y="134623"/>
                  <a:pt x="17621" y="141737"/>
                  <a:pt x="22034" y="150564"/>
                </a:cubicBezTo>
                <a:cubicBezTo>
                  <a:pt x="27426" y="161347"/>
                  <a:pt x="31590" y="172706"/>
                  <a:pt x="36723" y="183615"/>
                </a:cubicBezTo>
                <a:cubicBezTo>
                  <a:pt x="55207" y="222895"/>
                  <a:pt x="44365" y="202374"/>
                  <a:pt x="66101" y="231355"/>
                </a:cubicBezTo>
                <a:cubicBezTo>
                  <a:pt x="72419" y="239779"/>
                  <a:pt x="77017" y="249615"/>
                  <a:pt x="84463" y="257061"/>
                </a:cubicBezTo>
                <a:cubicBezTo>
                  <a:pt x="97983" y="270581"/>
                  <a:pt x="115010" y="280262"/>
                  <a:pt x="128530" y="293783"/>
                </a:cubicBezTo>
                <a:cubicBezTo>
                  <a:pt x="138559" y="303813"/>
                  <a:pt x="151354" y="318529"/>
                  <a:pt x="165253" y="323162"/>
                </a:cubicBezTo>
                <a:lnTo>
                  <a:pt x="176270" y="326834"/>
                </a:lnTo>
                <a:lnTo>
                  <a:pt x="187287" y="334179"/>
                </a:lnTo>
              </a:path>
            </a:pathLst>
          </a:custGeom>
          <a:noFill/>
          <a:ln w="15875">
            <a:solidFill>
              <a:schemeClr val="tx1">
                <a:alpha val="50000"/>
              </a:schemeClr>
            </a:solidFill>
            <a:prstDash val="sysDot"/>
            <a:headEnd type="stealth" w="lg" len="lg"/>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9" name="lemon13"/>
          <p:cNvSpPr/>
          <p:nvPr/>
        </p:nvSpPr>
        <p:spPr>
          <a:xfrm rot="16200000" flipH="1">
            <a:off x="2182852" y="3489042"/>
            <a:ext cx="2337834" cy="2705786"/>
          </a:xfrm>
          <a:prstGeom prst="triangle">
            <a:avLst/>
          </a:prstGeom>
          <a:gradFill>
            <a:gsLst>
              <a:gs pos="100000">
                <a:schemeClr val="accent2">
                  <a:alpha val="0"/>
                </a:schemeClr>
              </a:gs>
              <a:gs pos="15000">
                <a:schemeClr val="accent2">
                  <a:alpha val="30000"/>
                </a:schemeClr>
              </a:gs>
              <a:gs pos="71000">
                <a:schemeClr val="accent2">
                  <a:lumMod val="20000"/>
                  <a:lumOff val="80000"/>
                  <a:alpha val="7000"/>
                </a:schemeClr>
              </a:gs>
            </a:gsLst>
            <a:path path="circle">
              <a:fillToRect l="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700" b="0" i="0" u="none" strike="noStrike" kern="1200" cap="none" spc="0" normalizeH="0" baseline="0" noProof="0" dirty="0">
              <a:ln>
                <a:noFill/>
              </a:ln>
              <a:solidFill>
                <a:srgbClr val="FFFFFF"/>
              </a:solidFill>
              <a:effectLst/>
              <a:uLnTx/>
              <a:uFillTx/>
              <a:cs typeface="+mn-ea"/>
              <a:sym typeface="+mn-lt"/>
            </a:endParaRPr>
          </a:p>
        </p:txBody>
      </p:sp>
      <p:grpSp>
        <p:nvGrpSpPr>
          <p:cNvPr id="30" name="lemon14"/>
          <p:cNvGrpSpPr/>
          <p:nvPr/>
        </p:nvGrpSpPr>
        <p:grpSpPr>
          <a:xfrm>
            <a:off x="2271689" y="3640135"/>
            <a:ext cx="2463313" cy="2403601"/>
            <a:chOff x="3296939" y="1283830"/>
            <a:chExt cx="3806594" cy="3714320"/>
          </a:xfrm>
        </p:grpSpPr>
        <p:cxnSp>
          <p:nvCxnSpPr>
            <p:cNvPr id="31" name="lemon14-1"/>
            <p:cNvCxnSpPr/>
            <p:nvPr/>
          </p:nvCxnSpPr>
          <p:spPr>
            <a:xfrm flipH="1" flipV="1">
              <a:off x="3296939" y="3312485"/>
              <a:ext cx="3806594" cy="1685665"/>
            </a:xfrm>
            <a:prstGeom prst="line">
              <a:avLst/>
            </a:prstGeom>
            <a:ln w="12700">
              <a:solidFill>
                <a:schemeClr val="accent1"/>
              </a:solidFill>
              <a:prstDash val="dash"/>
              <a:headEnd type="stealth"/>
            </a:ln>
          </p:spPr>
          <p:style>
            <a:lnRef idx="1">
              <a:schemeClr val="accent1"/>
            </a:lnRef>
            <a:fillRef idx="0">
              <a:schemeClr val="accent1"/>
            </a:fillRef>
            <a:effectRef idx="0">
              <a:schemeClr val="accent1"/>
            </a:effectRef>
            <a:fontRef idx="minor">
              <a:schemeClr val="tx1"/>
            </a:fontRef>
          </p:style>
        </p:cxnSp>
        <p:cxnSp>
          <p:nvCxnSpPr>
            <p:cNvPr id="32" name="lemon14-2"/>
            <p:cNvCxnSpPr/>
            <p:nvPr/>
          </p:nvCxnSpPr>
          <p:spPr>
            <a:xfrm flipH="1">
              <a:off x="3296939" y="1283830"/>
              <a:ext cx="3806594" cy="1685665"/>
            </a:xfrm>
            <a:prstGeom prst="line">
              <a:avLst/>
            </a:prstGeom>
            <a:ln w="12700">
              <a:solidFill>
                <a:schemeClr val="accent1"/>
              </a:solidFill>
              <a:prstDash val="dash"/>
              <a:headEnd type="stealth"/>
            </a:ln>
          </p:spPr>
          <p:style>
            <a:lnRef idx="1">
              <a:schemeClr val="accent1"/>
            </a:lnRef>
            <a:fillRef idx="0">
              <a:schemeClr val="accent1"/>
            </a:fillRef>
            <a:effectRef idx="0">
              <a:schemeClr val="accent1"/>
            </a:effectRef>
            <a:fontRef idx="minor">
              <a:schemeClr val="tx1"/>
            </a:fontRef>
          </p:style>
        </p:cxnSp>
      </p:grpSp>
      <p:sp>
        <p:nvSpPr>
          <p:cNvPr id="33" name="lemon15"/>
          <p:cNvSpPr/>
          <p:nvPr/>
        </p:nvSpPr>
        <p:spPr>
          <a:xfrm rot="5400000">
            <a:off x="626491" y="4149409"/>
            <a:ext cx="1196704" cy="1385054"/>
          </a:xfrm>
          <a:prstGeom prst="triangle">
            <a:avLst/>
          </a:prstGeom>
          <a:gradFill>
            <a:gsLst>
              <a:gs pos="94000">
                <a:schemeClr val="accent2">
                  <a:alpha val="0"/>
                </a:schemeClr>
              </a:gs>
              <a:gs pos="15000">
                <a:schemeClr val="accent2">
                  <a:alpha val="31000"/>
                </a:schemeClr>
              </a:gs>
              <a:gs pos="71000">
                <a:schemeClr val="accent2">
                  <a:alpha val="3949"/>
                </a:schemeClr>
              </a:gs>
            </a:gsLst>
            <a:path path="circle">
              <a:fillToRect l="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700" b="0" i="0" u="none" strike="noStrike" kern="1200" cap="none" spc="0" normalizeH="0" baseline="0" noProof="0" dirty="0">
              <a:ln>
                <a:noFill/>
              </a:ln>
              <a:solidFill>
                <a:srgbClr val="FFFFFF"/>
              </a:solidFill>
              <a:effectLst/>
              <a:uLnTx/>
              <a:uFillTx/>
              <a:cs typeface="+mn-ea"/>
              <a:sym typeface="+mn-lt"/>
            </a:endParaRPr>
          </a:p>
        </p:txBody>
      </p:sp>
      <p:sp>
        <p:nvSpPr>
          <p:cNvPr id="34" name="lemon16"/>
          <p:cNvSpPr txBox="1"/>
          <p:nvPr/>
        </p:nvSpPr>
        <p:spPr>
          <a:xfrm>
            <a:off x="612969" y="4724527"/>
            <a:ext cx="710348" cy="247453"/>
          </a:xfrm>
          <a:prstGeom prst="rect">
            <a:avLst/>
          </a:prstGeom>
          <a:noFill/>
          <a:effectLst/>
        </p:spPr>
        <p:txBody>
          <a:bodyPr wrap="none" lIns="85039" tIns="42520" rIns="85039" bIns="4252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市场需求</a:t>
            </a:r>
          </a:p>
        </p:txBody>
      </p:sp>
      <p:sp>
        <p:nvSpPr>
          <p:cNvPr id="35" name="lemon17"/>
          <p:cNvSpPr/>
          <p:nvPr/>
        </p:nvSpPr>
        <p:spPr>
          <a:xfrm>
            <a:off x="1444719" y="4369285"/>
            <a:ext cx="945302" cy="945302"/>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36" name="lemon18"/>
          <p:cNvSpPr txBox="1"/>
          <p:nvPr/>
        </p:nvSpPr>
        <p:spPr>
          <a:xfrm>
            <a:off x="1562200" y="4724526"/>
            <a:ext cx="710348" cy="247453"/>
          </a:xfrm>
          <a:prstGeom prst="rect">
            <a:avLst/>
          </a:prstGeom>
          <a:noFill/>
          <a:effectLst/>
        </p:spPr>
        <p:txBody>
          <a:bodyPr wrap="none" lIns="85039" tIns="42520" rIns="85039" bIns="4252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FFFFFF"/>
                </a:solidFill>
                <a:effectLst/>
                <a:uLnTx/>
                <a:uFillTx/>
                <a:cs typeface="+mn-ea"/>
                <a:sym typeface="+mn-lt"/>
              </a:rPr>
              <a:t>品类丰富</a:t>
            </a:r>
          </a:p>
        </p:txBody>
      </p:sp>
      <p:sp>
        <p:nvSpPr>
          <p:cNvPr id="37" name="lemon19"/>
          <p:cNvSpPr/>
          <p:nvPr/>
        </p:nvSpPr>
        <p:spPr>
          <a:xfrm>
            <a:off x="6232962" y="4243584"/>
            <a:ext cx="1195254" cy="1195254"/>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38" name="lemon20"/>
          <p:cNvSpPr txBox="1"/>
          <p:nvPr/>
        </p:nvSpPr>
        <p:spPr>
          <a:xfrm>
            <a:off x="6475418" y="4720161"/>
            <a:ext cx="710348" cy="247453"/>
          </a:xfrm>
          <a:prstGeom prst="rect">
            <a:avLst/>
          </a:prstGeom>
          <a:noFill/>
          <a:effectLst/>
        </p:spPr>
        <p:txBody>
          <a:bodyPr wrap="none" lIns="85039" tIns="42520" rIns="85039" bIns="4252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FFFFFF"/>
                </a:solidFill>
                <a:effectLst/>
                <a:uLnTx/>
                <a:uFillTx/>
                <a:cs typeface="+mn-ea"/>
                <a:sym typeface="+mn-lt"/>
              </a:rPr>
              <a:t>销量增长</a:t>
            </a:r>
          </a:p>
        </p:txBody>
      </p:sp>
      <p:grpSp>
        <p:nvGrpSpPr>
          <p:cNvPr id="39" name="lemon21"/>
          <p:cNvGrpSpPr/>
          <p:nvPr/>
        </p:nvGrpSpPr>
        <p:grpSpPr>
          <a:xfrm>
            <a:off x="4853692" y="3644063"/>
            <a:ext cx="1608403" cy="2395746"/>
            <a:chOff x="7286947" y="1274331"/>
            <a:chExt cx="2485489" cy="3702181"/>
          </a:xfrm>
        </p:grpSpPr>
        <p:cxnSp>
          <p:nvCxnSpPr>
            <p:cNvPr id="40" name="lemon21-1"/>
            <p:cNvCxnSpPr/>
            <p:nvPr/>
          </p:nvCxnSpPr>
          <p:spPr>
            <a:xfrm flipH="1" flipV="1">
              <a:off x="7286947" y="1274331"/>
              <a:ext cx="2485489" cy="1100643"/>
            </a:xfrm>
            <a:prstGeom prst="line">
              <a:avLst/>
            </a:prstGeom>
            <a:ln w="12700">
              <a:solidFill>
                <a:schemeClr val="accent1"/>
              </a:solidFill>
              <a:prstDash val="dash"/>
              <a:headEnd type="stealth"/>
            </a:ln>
          </p:spPr>
          <p:style>
            <a:lnRef idx="1">
              <a:schemeClr val="accent1"/>
            </a:lnRef>
            <a:fillRef idx="0">
              <a:schemeClr val="accent1"/>
            </a:fillRef>
            <a:effectRef idx="0">
              <a:schemeClr val="accent1"/>
            </a:effectRef>
            <a:fontRef idx="minor">
              <a:schemeClr val="tx1"/>
            </a:fontRef>
          </p:style>
        </p:cxnSp>
        <p:cxnSp>
          <p:nvCxnSpPr>
            <p:cNvPr id="41" name="lemon21-2"/>
            <p:cNvCxnSpPr/>
            <p:nvPr/>
          </p:nvCxnSpPr>
          <p:spPr>
            <a:xfrm flipH="1">
              <a:off x="7286947" y="3875869"/>
              <a:ext cx="2485489" cy="1100643"/>
            </a:xfrm>
            <a:prstGeom prst="line">
              <a:avLst/>
            </a:prstGeom>
            <a:ln w="12700">
              <a:solidFill>
                <a:schemeClr val="accent1"/>
              </a:solidFill>
              <a:prstDash val="dash"/>
              <a:headEnd type="stealth"/>
            </a:ln>
          </p:spPr>
          <p:style>
            <a:lnRef idx="1">
              <a:schemeClr val="accent1"/>
            </a:lnRef>
            <a:fillRef idx="0">
              <a:schemeClr val="accent1"/>
            </a:fillRef>
            <a:effectRef idx="0">
              <a:schemeClr val="accent1"/>
            </a:effectRef>
            <a:fontRef idx="minor">
              <a:schemeClr val="tx1"/>
            </a:fontRef>
          </p:style>
        </p:cxnSp>
      </p:grpSp>
      <p:sp>
        <p:nvSpPr>
          <p:cNvPr id="42" name="lemon22"/>
          <p:cNvSpPr txBox="1"/>
          <p:nvPr/>
        </p:nvSpPr>
        <p:spPr>
          <a:xfrm rot="20162894">
            <a:off x="2427565" y="4311134"/>
            <a:ext cx="620581" cy="193592"/>
          </a:xfrm>
          <a:prstGeom prst="rect">
            <a:avLst/>
          </a:prstGeom>
          <a:noFill/>
          <a:effectLst/>
        </p:spPr>
        <p:txBody>
          <a:bodyPr wrap="none" lIns="85039" tIns="42520" rIns="85039" bIns="4252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00" b="0" i="0" u="none" strike="noStrike" kern="1200" cap="none" spc="0" normalizeH="0" baseline="0" noProof="0" dirty="0">
                <a:ln>
                  <a:noFill/>
                </a:ln>
                <a:solidFill>
                  <a:srgbClr val="000000"/>
                </a:solidFill>
                <a:effectLst/>
                <a:uLnTx/>
                <a:uFillTx/>
                <a:cs typeface="+mn-ea"/>
                <a:sym typeface="+mn-lt"/>
              </a:rPr>
              <a:t>进一步促进</a:t>
            </a:r>
          </a:p>
        </p:txBody>
      </p:sp>
      <p:sp>
        <p:nvSpPr>
          <p:cNvPr id="43" name="lemon23"/>
          <p:cNvSpPr txBox="1"/>
          <p:nvPr/>
        </p:nvSpPr>
        <p:spPr>
          <a:xfrm rot="20162894">
            <a:off x="3655085" y="3765846"/>
            <a:ext cx="620581" cy="193592"/>
          </a:xfrm>
          <a:prstGeom prst="rect">
            <a:avLst/>
          </a:prstGeom>
          <a:noFill/>
          <a:effectLst/>
        </p:spPr>
        <p:txBody>
          <a:bodyPr wrap="none" lIns="85039" tIns="42520" rIns="85039" bIns="4252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00" b="0" i="0" u="none" strike="noStrike" kern="1200" cap="none" spc="0" normalizeH="0" baseline="0" noProof="0" dirty="0">
                <a:ln>
                  <a:noFill/>
                </a:ln>
                <a:solidFill>
                  <a:srgbClr val="000000"/>
                </a:solidFill>
                <a:effectLst/>
                <a:uLnTx/>
                <a:uFillTx/>
                <a:cs typeface="+mn-ea"/>
                <a:sym typeface="+mn-lt"/>
              </a:rPr>
              <a:t>进一步促进</a:t>
            </a:r>
          </a:p>
        </p:txBody>
      </p:sp>
      <p:sp>
        <p:nvSpPr>
          <p:cNvPr id="44" name="lemon24"/>
          <p:cNvSpPr txBox="1"/>
          <p:nvPr/>
        </p:nvSpPr>
        <p:spPr>
          <a:xfrm rot="1430560">
            <a:off x="2445560" y="5208891"/>
            <a:ext cx="620581" cy="193592"/>
          </a:xfrm>
          <a:prstGeom prst="rect">
            <a:avLst/>
          </a:prstGeom>
          <a:noFill/>
          <a:effectLst/>
        </p:spPr>
        <p:txBody>
          <a:bodyPr wrap="none" lIns="85039" tIns="42520" rIns="85039" bIns="4252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00" b="0" i="0" u="none" strike="noStrike" kern="1200" cap="none" spc="0" normalizeH="0" baseline="0" noProof="0" dirty="0">
                <a:ln>
                  <a:noFill/>
                </a:ln>
                <a:solidFill>
                  <a:srgbClr val="000000"/>
                </a:solidFill>
                <a:effectLst/>
                <a:uLnTx/>
                <a:uFillTx/>
                <a:cs typeface="+mn-ea"/>
                <a:sym typeface="+mn-lt"/>
              </a:rPr>
              <a:t>进一步促进</a:t>
            </a:r>
          </a:p>
        </p:txBody>
      </p:sp>
      <p:sp>
        <p:nvSpPr>
          <p:cNvPr id="45" name="lemon25"/>
          <p:cNvSpPr txBox="1"/>
          <p:nvPr/>
        </p:nvSpPr>
        <p:spPr>
          <a:xfrm rot="1430560">
            <a:off x="3674116" y="5751842"/>
            <a:ext cx="620581" cy="193592"/>
          </a:xfrm>
          <a:prstGeom prst="rect">
            <a:avLst/>
          </a:prstGeom>
          <a:noFill/>
          <a:effectLst/>
        </p:spPr>
        <p:txBody>
          <a:bodyPr wrap="none" lIns="85039" tIns="42520" rIns="85039" bIns="4252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00" b="0" i="0" u="none" strike="noStrike" kern="1200" cap="none" spc="0" normalizeH="0" baseline="0" noProof="0" dirty="0">
                <a:ln>
                  <a:noFill/>
                </a:ln>
                <a:solidFill>
                  <a:srgbClr val="000000"/>
                </a:solidFill>
                <a:effectLst/>
                <a:uLnTx/>
                <a:uFillTx/>
                <a:cs typeface="+mn-ea"/>
                <a:sym typeface="+mn-lt"/>
              </a:rPr>
              <a:t>进一步促进</a:t>
            </a:r>
          </a:p>
        </p:txBody>
      </p:sp>
      <p:sp>
        <p:nvSpPr>
          <p:cNvPr id="46" name="lemon26"/>
          <p:cNvSpPr txBox="1"/>
          <p:nvPr/>
        </p:nvSpPr>
        <p:spPr>
          <a:xfrm rot="1430560">
            <a:off x="5457211" y="3845863"/>
            <a:ext cx="530812" cy="193592"/>
          </a:xfrm>
          <a:prstGeom prst="rect">
            <a:avLst/>
          </a:prstGeom>
          <a:noFill/>
          <a:effectLst/>
        </p:spPr>
        <p:txBody>
          <a:bodyPr wrap="none" lIns="85039" tIns="42520" rIns="85039" bIns="4252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00" b="0" i="0" u="none" strike="noStrike" kern="1200" cap="none" spc="0" normalizeH="0" baseline="0" noProof="0" dirty="0">
                <a:ln>
                  <a:noFill/>
                </a:ln>
                <a:solidFill>
                  <a:srgbClr val="000000"/>
                </a:solidFill>
                <a:effectLst/>
                <a:uLnTx/>
                <a:uFillTx/>
                <a:cs typeface="+mn-ea"/>
                <a:sym typeface="+mn-lt"/>
              </a:rPr>
              <a:t>强劲动力</a:t>
            </a:r>
          </a:p>
        </p:txBody>
      </p:sp>
      <p:sp>
        <p:nvSpPr>
          <p:cNvPr id="47" name="lemon27"/>
          <p:cNvSpPr txBox="1"/>
          <p:nvPr/>
        </p:nvSpPr>
        <p:spPr>
          <a:xfrm rot="20162894">
            <a:off x="5504676" y="5683442"/>
            <a:ext cx="530812" cy="193592"/>
          </a:xfrm>
          <a:prstGeom prst="rect">
            <a:avLst/>
          </a:prstGeom>
          <a:noFill/>
          <a:effectLst/>
        </p:spPr>
        <p:txBody>
          <a:bodyPr wrap="none" lIns="85039" tIns="42520" rIns="85039" bIns="4252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00" b="0" i="0" u="none" strike="noStrike" kern="1200" cap="none" spc="0" normalizeH="0" baseline="0" noProof="0" dirty="0">
                <a:ln>
                  <a:noFill/>
                </a:ln>
                <a:solidFill>
                  <a:srgbClr val="000000"/>
                </a:solidFill>
                <a:effectLst/>
                <a:uLnTx/>
                <a:uFillTx/>
                <a:cs typeface="+mn-ea"/>
                <a:sym typeface="+mn-lt"/>
              </a:rPr>
              <a:t>强劲动力</a:t>
            </a:r>
          </a:p>
        </p:txBody>
      </p:sp>
      <p:sp>
        <p:nvSpPr>
          <p:cNvPr id="49" name="lemon28"/>
          <p:cNvSpPr/>
          <p:nvPr/>
        </p:nvSpPr>
        <p:spPr>
          <a:xfrm>
            <a:off x="3220049" y="4290127"/>
            <a:ext cx="1132636" cy="1132636"/>
          </a:xfrm>
          <a:prstGeom prst="ellipse">
            <a:avLst/>
          </a:prstGeom>
          <a:solidFill>
            <a:schemeClr val="bg1"/>
          </a:solidFill>
          <a:ln w="9525">
            <a:solidFill>
              <a:schemeClr val="accent2"/>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srgbClr val="FFFFFF"/>
              </a:solidFill>
              <a:effectLst/>
              <a:uLnTx/>
              <a:uFillTx/>
              <a:cs typeface="+mn-ea"/>
              <a:sym typeface="+mn-lt"/>
            </a:endParaRPr>
          </a:p>
        </p:txBody>
      </p:sp>
      <p:sp>
        <p:nvSpPr>
          <p:cNvPr id="50" name="lemon29"/>
          <p:cNvSpPr txBox="1"/>
          <p:nvPr/>
        </p:nvSpPr>
        <p:spPr>
          <a:xfrm>
            <a:off x="3431199" y="4739036"/>
            <a:ext cx="710348" cy="247453"/>
          </a:xfrm>
          <a:prstGeom prst="rect">
            <a:avLst/>
          </a:prstGeom>
          <a:noFill/>
          <a:effectLst/>
        </p:spPr>
        <p:txBody>
          <a:bodyPr wrap="none" lIns="85039" tIns="42520" rIns="85039" bIns="4252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客户增长</a:t>
            </a:r>
          </a:p>
        </p:txBody>
      </p:sp>
      <p:sp>
        <p:nvSpPr>
          <p:cNvPr id="59" name="lemon30"/>
          <p:cNvSpPr/>
          <p:nvPr/>
        </p:nvSpPr>
        <p:spPr>
          <a:xfrm>
            <a:off x="5573402" y="2321840"/>
            <a:ext cx="1701633" cy="430887"/>
          </a:xfrm>
          <a:prstGeom prst="rect">
            <a:avLst/>
          </a:prstGeom>
          <a:noFill/>
        </p:spPr>
        <p:txBody>
          <a:bodyPr wrap="square" lIns="0" tIns="0" rIns="0" bIns="0" rtlCol="0" anchor="t">
            <a:spAutoFit/>
          </a:bodyPr>
          <a:lstStyle/>
          <a:p>
            <a:pPr marL="0" marR="0" lvl="0" indent="0" algn="ctr" defTabSz="73152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329D"/>
                </a:solidFill>
                <a:effectLst/>
                <a:uLnTx/>
                <a:uFillTx/>
                <a:cs typeface="+mn-ea"/>
                <a:sym typeface="+mn-lt"/>
              </a:rPr>
              <a:t>2024</a:t>
            </a:r>
            <a:r>
              <a:rPr kumimoji="0" lang="zh-CN" altLang="en-US" sz="1400" b="0" i="0" u="none" strike="noStrike" kern="1200" cap="none" spc="0" normalizeH="0" baseline="0" noProof="0" dirty="0">
                <a:ln>
                  <a:noFill/>
                </a:ln>
                <a:solidFill>
                  <a:srgbClr val="00329D"/>
                </a:solidFill>
                <a:effectLst/>
                <a:uLnTx/>
                <a:uFillTx/>
                <a:cs typeface="+mn-ea"/>
                <a:sym typeface="+mn-lt"/>
              </a:rPr>
              <a:t>年度</a:t>
            </a:r>
            <a:r>
              <a:rPr kumimoji="0" lang="en-US" sz="1400" b="0" i="0" u="none" strike="noStrike" kern="1200" cap="none" spc="0" normalizeH="0" baseline="0" noProof="0" dirty="0" err="1">
                <a:ln>
                  <a:noFill/>
                </a:ln>
                <a:solidFill>
                  <a:srgbClr val="00329D"/>
                </a:solidFill>
                <a:effectLst/>
                <a:uLnTx/>
                <a:uFillTx/>
                <a:cs typeface="+mn-ea"/>
                <a:sym typeface="+mn-lt"/>
              </a:rPr>
              <a:t>整体</a:t>
            </a:r>
            <a:br>
              <a:rPr kumimoji="0" lang="en-US" sz="1400" b="0" i="0" u="none" strike="noStrike" kern="1200" cap="none" spc="0" normalizeH="0" baseline="0" noProof="0" dirty="0">
                <a:ln>
                  <a:noFill/>
                </a:ln>
                <a:solidFill>
                  <a:srgbClr val="00329D"/>
                </a:solidFill>
                <a:effectLst/>
                <a:uLnTx/>
                <a:uFillTx/>
                <a:cs typeface="+mn-ea"/>
                <a:sym typeface="+mn-lt"/>
              </a:rPr>
            </a:br>
            <a:r>
              <a:rPr kumimoji="0" lang="en-US" sz="1400" b="0" i="0" u="none" strike="noStrike" kern="1200" cap="none" spc="0" normalizeH="0" baseline="0" noProof="0" dirty="0" err="1">
                <a:ln>
                  <a:noFill/>
                </a:ln>
                <a:solidFill>
                  <a:srgbClr val="00329D"/>
                </a:solidFill>
                <a:effectLst/>
                <a:uLnTx/>
                <a:uFillTx/>
                <a:cs typeface="+mn-ea"/>
                <a:sym typeface="+mn-lt"/>
              </a:rPr>
              <a:t>销量提升</a:t>
            </a:r>
            <a:endParaRPr kumimoji="0" lang="en-US" sz="1400" b="0" i="0" u="none" strike="noStrike" kern="1200" cap="none" spc="0" normalizeH="0" baseline="0" noProof="0" dirty="0">
              <a:ln>
                <a:noFill/>
              </a:ln>
              <a:solidFill>
                <a:srgbClr val="00329D"/>
              </a:solidFill>
              <a:effectLst/>
              <a:uLnTx/>
              <a:uFillTx/>
              <a:cs typeface="+mn-ea"/>
              <a:sym typeface="+mn-lt"/>
            </a:endParaRPr>
          </a:p>
        </p:txBody>
      </p:sp>
      <p:sp>
        <p:nvSpPr>
          <p:cNvPr id="60" name="lemon31"/>
          <p:cNvSpPr txBox="1"/>
          <p:nvPr/>
        </p:nvSpPr>
        <p:spPr>
          <a:xfrm>
            <a:off x="5605638" y="2678373"/>
            <a:ext cx="1711221" cy="58477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3200" b="1" i="0" u="none" strike="noStrike" kern="1200" cap="none" spc="0" normalizeH="0" baseline="0" noProof="0" dirty="0">
                <a:ln>
                  <a:noFill/>
                </a:ln>
                <a:solidFill>
                  <a:srgbClr val="00329D"/>
                </a:solidFill>
                <a:effectLst/>
                <a:uLnTx/>
                <a:uFillTx/>
                <a:cs typeface="+mn-ea"/>
                <a:sym typeface="+mn-lt"/>
              </a:rPr>
              <a:t>96</a:t>
            </a:r>
            <a:r>
              <a:rPr kumimoji="1" lang="en-US" altLang="zh-CN" sz="1200" b="1" i="0" u="none" strike="noStrike" kern="1200" cap="none" spc="0" normalizeH="0" baseline="0" noProof="0" dirty="0">
                <a:ln>
                  <a:noFill/>
                </a:ln>
                <a:solidFill>
                  <a:srgbClr val="00329D"/>
                </a:solidFill>
                <a:effectLst/>
                <a:uLnTx/>
                <a:uFillTx/>
                <a:cs typeface="+mn-ea"/>
                <a:sym typeface="+mn-lt"/>
              </a:rPr>
              <a:t>%</a:t>
            </a:r>
          </a:p>
        </p:txBody>
      </p:sp>
      <p:sp>
        <p:nvSpPr>
          <p:cNvPr id="61" name="lemon32"/>
          <p:cNvSpPr txBox="1"/>
          <p:nvPr/>
        </p:nvSpPr>
        <p:spPr>
          <a:xfrm>
            <a:off x="859061" y="1353237"/>
            <a:ext cx="6479474" cy="621902"/>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1200"/>
              </a:spcBef>
              <a:spcAft>
                <a:spcPts val="0"/>
              </a:spcAft>
              <a:buClrTx/>
              <a:buSzTx/>
              <a:buFontTx/>
              <a:buNone/>
              <a:defRPr/>
            </a:pPr>
            <a:r>
              <a:rPr kumimoji="0" lang="zh-CN" altLang="en-US" sz="1200" b="0" i="0" u="none" strike="noStrike" kern="1200" cap="none" spc="0" normalizeH="0" baseline="0" noProof="0" dirty="0">
                <a:ln>
                  <a:noFill/>
                </a:ln>
                <a:solidFill>
                  <a:srgbClr val="F8F8F8"/>
                </a:solidFill>
                <a:effectLst/>
                <a:uLnTx/>
                <a:uFillTx/>
                <a:cs typeface="+mn-ea"/>
                <a:sym typeface="+mn-lt"/>
              </a:rPr>
              <a:t>结合</a:t>
            </a:r>
            <a:r>
              <a:rPr kumimoji="0" lang="en-US" altLang="zh-CN" sz="1200" b="0" i="0" u="none" strike="noStrike" kern="1200" cap="none" spc="0" normalizeH="0" baseline="0" noProof="0" dirty="0">
                <a:ln>
                  <a:noFill/>
                </a:ln>
                <a:solidFill>
                  <a:srgbClr val="F8F8F8"/>
                </a:solidFill>
                <a:effectLst/>
                <a:uLnTx/>
                <a:uFillTx/>
                <a:cs typeface="+mn-ea"/>
                <a:sym typeface="+mn-lt"/>
              </a:rPr>
              <a:t>2023</a:t>
            </a:r>
            <a:r>
              <a:rPr kumimoji="0" lang="zh-CN" altLang="en-US" sz="1200" b="0" i="0" u="none" strike="noStrike" kern="1200" cap="none" spc="0" normalizeH="0" baseline="0" noProof="0" dirty="0">
                <a:ln>
                  <a:noFill/>
                </a:ln>
                <a:solidFill>
                  <a:srgbClr val="F8F8F8"/>
                </a:solidFill>
                <a:effectLst/>
                <a:uLnTx/>
                <a:uFillTx/>
                <a:cs typeface="+mn-ea"/>
                <a:sym typeface="+mn-lt"/>
              </a:rPr>
              <a:t>年度数据，可以看出用户对于产品品牌的关注更加强烈，头部品牌的用户粘性显著增加，其中价格、营销手段、产品定位都对用户的停留起到了很大的影响</a:t>
            </a:r>
            <a:r>
              <a:rPr kumimoji="0" lang="en-US" altLang="zh-CN" sz="1200" b="0" i="0" u="none" strike="noStrike" kern="1200" cap="none" spc="0" normalizeH="0" baseline="0" noProof="0" dirty="0">
                <a:ln>
                  <a:noFill/>
                </a:ln>
                <a:solidFill>
                  <a:srgbClr val="F8F8F8"/>
                </a:solidFill>
                <a:effectLst/>
                <a:uLnTx/>
                <a:uFillTx/>
                <a:cs typeface="+mn-ea"/>
                <a:sym typeface="+mn-lt"/>
              </a:rPr>
              <a:t>,</a:t>
            </a:r>
            <a:r>
              <a:rPr kumimoji="0" lang="zh-CN" altLang="en-US" sz="1200" b="0" i="0" u="none" strike="noStrike" kern="1200" cap="none" spc="0" normalizeH="0" baseline="0" noProof="0" dirty="0">
                <a:ln>
                  <a:noFill/>
                </a:ln>
                <a:solidFill>
                  <a:srgbClr val="F8F8F8"/>
                </a:solidFill>
                <a:effectLst/>
                <a:uLnTx/>
                <a:uFillTx/>
                <a:cs typeface="+mn-ea"/>
                <a:sym typeface="+mn-lt"/>
              </a:rPr>
              <a:t>销量增长显著</a:t>
            </a:r>
            <a:endParaRPr kumimoji="0" lang="en-US" sz="1200" b="0" i="0" u="none" strike="noStrike" kern="1200" cap="none" spc="0" normalizeH="0" baseline="0" noProof="0" dirty="0">
              <a:ln>
                <a:noFill/>
              </a:ln>
              <a:solidFill>
                <a:srgbClr val="F8F8F8"/>
              </a:solidFill>
              <a:effectLst/>
              <a:uLnTx/>
              <a:uFillTx/>
              <a:cs typeface="+mn-ea"/>
              <a:sym typeface="+mn-lt"/>
            </a:endParaRPr>
          </a:p>
        </p:txBody>
      </p:sp>
      <p:sp>
        <p:nvSpPr>
          <p:cNvPr id="62" name="lemon33"/>
          <p:cNvSpPr/>
          <p:nvPr/>
        </p:nvSpPr>
        <p:spPr>
          <a:xfrm rot="10800000">
            <a:off x="1155129" y="3453311"/>
            <a:ext cx="1263522" cy="687573"/>
          </a:xfrm>
          <a:prstGeom prst="wedgeRoundRectCallout">
            <a:avLst>
              <a:gd name="adj1" fmla="val -6606"/>
              <a:gd name="adj2" fmla="val -104682"/>
              <a:gd name="adj3" fmla="val 16667"/>
            </a:avLst>
          </a:prstGeom>
          <a:solidFill>
            <a:schemeClr val="bg1"/>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63" name="lemon34"/>
          <p:cNvSpPr txBox="1"/>
          <p:nvPr/>
        </p:nvSpPr>
        <p:spPr>
          <a:xfrm>
            <a:off x="1308057" y="3566046"/>
            <a:ext cx="1094176" cy="482504"/>
          </a:xfrm>
          <a:prstGeom prst="rect">
            <a:avLst/>
          </a:prstGeom>
          <a:noFill/>
          <a:ln w="12700" cap="flat">
            <a:noFill/>
            <a:miter lim="400000"/>
          </a:ln>
          <a:effectLst/>
        </p:spPr>
        <p:txBody>
          <a:bodyPr wrap="square" lIns="25400" tIns="25400" rIns="25400" bIns="25400" numCol="1" anchor="ctr">
            <a:spAutoFit/>
          </a:bodyPr>
          <a:lstStyle>
            <a:lvl1pPr algn="l">
              <a:defRPr sz="2200" b="0">
                <a:solidFill>
                  <a:srgbClr val="FFFFFF"/>
                </a:solidFill>
                <a:latin typeface="Arial" panose="020B0604020202020204"/>
                <a:ea typeface="Arial" panose="020B0604020202020204"/>
                <a:cs typeface="Arial" panose="020B0604020202020204"/>
                <a:sym typeface="Arial" panose="020B0604020202020204"/>
              </a:defRPr>
            </a:lvl1pPr>
          </a:lstStyle>
          <a:p>
            <a:pPr marL="0" marR="0" lvl="0" indent="0" algn="l" defTabSz="457200" rtl="0" eaLnBrk="1" fontAlgn="auto" latinLnBrk="0" hangingPunct="1">
              <a:lnSpc>
                <a:spcPts val="168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latin typeface="+mn-lt"/>
                <a:ea typeface="+mn-ea"/>
                <a:cs typeface="+mn-ea"/>
                <a:sym typeface="+mn-lt"/>
              </a:rPr>
              <a:t>细分高销量领域产品</a:t>
            </a:r>
          </a:p>
        </p:txBody>
      </p:sp>
      <p:sp>
        <p:nvSpPr>
          <p:cNvPr id="65" name="lemon35"/>
          <p:cNvSpPr txBox="1"/>
          <p:nvPr/>
        </p:nvSpPr>
        <p:spPr>
          <a:xfrm>
            <a:off x="7739518" y="1043215"/>
            <a:ext cx="1212638"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329D"/>
                </a:solidFill>
                <a:effectLst/>
                <a:uLnTx/>
                <a:uFillTx/>
                <a:cs typeface="+mn-ea"/>
                <a:sym typeface="+mn-lt"/>
              </a:rPr>
              <a:t>头部品牌</a:t>
            </a:r>
          </a:p>
        </p:txBody>
      </p:sp>
      <p:sp>
        <p:nvSpPr>
          <p:cNvPr id="66" name="lemon36"/>
          <p:cNvSpPr txBox="1"/>
          <p:nvPr/>
        </p:nvSpPr>
        <p:spPr>
          <a:xfrm>
            <a:off x="8983688" y="1002696"/>
            <a:ext cx="6479474" cy="621902"/>
          </a:xfrm>
          <a:prstGeom prst="rect">
            <a:avLst/>
          </a:prstGeom>
          <a:noFill/>
        </p:spPr>
        <p:txBody>
          <a:bodyPr wrap="square" rtlCol="0">
            <a:spAutoFit/>
          </a:bodyPr>
          <a:lstStyle/>
          <a:p>
            <a:pPr marL="0" marR="0" lvl="0" indent="0" algn="l" defTabSz="457200" rtl="0" eaLnBrk="1" fontAlgn="auto" latinLnBrk="0" hangingPunct="1">
              <a:lnSpc>
                <a:spcPct val="150000"/>
              </a:lnSpc>
              <a:spcBef>
                <a:spcPts val="120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结合</a:t>
            </a:r>
            <a:r>
              <a:rPr kumimoji="0" lang="en-US" altLang="zh-CN" sz="1200" b="0" i="0" u="none" strike="noStrike" kern="1200" cap="none" spc="0" normalizeH="0" baseline="0" noProof="0" dirty="0">
                <a:ln>
                  <a:noFill/>
                </a:ln>
                <a:solidFill>
                  <a:srgbClr val="00329D"/>
                </a:solidFill>
                <a:effectLst/>
                <a:uLnTx/>
                <a:uFillTx/>
                <a:cs typeface="+mn-ea"/>
                <a:sym typeface="+mn-lt"/>
              </a:rPr>
              <a:t>2023</a:t>
            </a:r>
            <a:r>
              <a:rPr kumimoji="0" lang="zh-CN" altLang="en-US" sz="1200" b="0" i="0" u="none" strike="noStrike" kern="1200" cap="none" spc="0" normalizeH="0" baseline="0" noProof="0" dirty="0">
                <a:ln>
                  <a:noFill/>
                </a:ln>
                <a:solidFill>
                  <a:srgbClr val="00329D"/>
                </a:solidFill>
                <a:effectLst/>
                <a:uLnTx/>
                <a:uFillTx/>
                <a:cs typeface="+mn-ea"/>
                <a:sym typeface="+mn-lt"/>
              </a:rPr>
              <a:t>年度数据，可以看出用户</a:t>
            </a:r>
            <a:br>
              <a:rPr kumimoji="0" lang="en-US" altLang="zh-CN" sz="1200" b="0" i="0" u="none" strike="noStrike" kern="1200" cap="none" spc="0" normalizeH="0" baseline="0" noProof="0" dirty="0">
                <a:ln>
                  <a:noFill/>
                </a:ln>
                <a:solidFill>
                  <a:srgbClr val="00329D"/>
                </a:solidFill>
                <a:effectLst/>
                <a:uLnTx/>
                <a:uFillTx/>
                <a:cs typeface="+mn-ea"/>
                <a:sym typeface="+mn-lt"/>
              </a:rPr>
            </a:br>
            <a:r>
              <a:rPr kumimoji="0" lang="zh-CN" altLang="en-US" sz="1200" b="0" i="0" u="none" strike="noStrike" kern="1200" cap="none" spc="0" normalizeH="0" baseline="0" noProof="0" dirty="0">
                <a:ln>
                  <a:noFill/>
                </a:ln>
                <a:solidFill>
                  <a:srgbClr val="00329D"/>
                </a:solidFill>
                <a:effectLst/>
                <a:uLnTx/>
                <a:uFillTx/>
                <a:cs typeface="+mn-ea"/>
                <a:sym typeface="+mn-lt"/>
              </a:rPr>
              <a:t>对于头部品牌的关注更加强烈</a:t>
            </a:r>
            <a:endParaRPr kumimoji="0" lang="en-US" sz="1200" b="0" i="0" u="none" strike="noStrike" kern="1200" cap="none" spc="0" normalizeH="0" baseline="0" noProof="0" dirty="0">
              <a:ln>
                <a:noFill/>
              </a:ln>
              <a:solidFill>
                <a:srgbClr val="00329D"/>
              </a:solidFill>
              <a:effectLst/>
              <a:uLnTx/>
              <a:uFillTx/>
              <a:cs typeface="+mn-ea"/>
              <a:sym typeface="+mn-lt"/>
            </a:endParaRPr>
          </a:p>
        </p:txBody>
      </p:sp>
      <p:sp>
        <p:nvSpPr>
          <p:cNvPr id="67" name="lemon37"/>
          <p:cNvSpPr txBox="1"/>
          <p:nvPr/>
        </p:nvSpPr>
        <p:spPr>
          <a:xfrm>
            <a:off x="7974273" y="5567866"/>
            <a:ext cx="1212638"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329D"/>
                </a:solidFill>
                <a:effectLst/>
                <a:uLnTx/>
                <a:uFillTx/>
                <a:cs typeface="+mn-ea"/>
                <a:sym typeface="+mn-lt"/>
              </a:rPr>
              <a:t>中部品牌</a:t>
            </a:r>
          </a:p>
        </p:txBody>
      </p:sp>
      <p:sp>
        <p:nvSpPr>
          <p:cNvPr id="68" name="lemon38"/>
          <p:cNvSpPr txBox="1"/>
          <p:nvPr/>
        </p:nvSpPr>
        <p:spPr>
          <a:xfrm>
            <a:off x="9110643" y="5530079"/>
            <a:ext cx="6479474" cy="621902"/>
          </a:xfrm>
          <a:prstGeom prst="rect">
            <a:avLst/>
          </a:prstGeom>
          <a:noFill/>
        </p:spPr>
        <p:txBody>
          <a:bodyPr wrap="square" rtlCol="0">
            <a:spAutoFit/>
          </a:bodyPr>
          <a:lstStyle/>
          <a:p>
            <a:pPr marL="0" marR="0" lvl="0" indent="0" algn="l" defTabSz="457200" rtl="0" eaLnBrk="1" fontAlgn="auto" latinLnBrk="0" hangingPunct="1">
              <a:lnSpc>
                <a:spcPct val="150000"/>
              </a:lnSpc>
              <a:spcBef>
                <a:spcPts val="120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结合</a:t>
            </a:r>
            <a:r>
              <a:rPr kumimoji="0" lang="en-US" altLang="zh-CN" sz="1200" b="0" i="0" u="none" strike="noStrike" kern="1200" cap="none" spc="0" normalizeH="0" baseline="0" noProof="0" dirty="0">
                <a:ln>
                  <a:noFill/>
                </a:ln>
                <a:solidFill>
                  <a:srgbClr val="00329D"/>
                </a:solidFill>
                <a:effectLst/>
                <a:uLnTx/>
                <a:uFillTx/>
                <a:cs typeface="+mn-ea"/>
                <a:sym typeface="+mn-lt"/>
              </a:rPr>
              <a:t>2023</a:t>
            </a:r>
            <a:r>
              <a:rPr kumimoji="0" lang="zh-CN" altLang="en-US" sz="1200" b="0" i="0" u="none" strike="noStrike" kern="1200" cap="none" spc="0" normalizeH="0" baseline="0" noProof="0" dirty="0">
                <a:ln>
                  <a:noFill/>
                </a:ln>
                <a:solidFill>
                  <a:srgbClr val="00329D"/>
                </a:solidFill>
                <a:effectLst/>
                <a:uLnTx/>
                <a:uFillTx/>
                <a:cs typeface="+mn-ea"/>
                <a:sym typeface="+mn-lt"/>
              </a:rPr>
              <a:t>年度数据，中端</a:t>
            </a:r>
            <a:br>
              <a:rPr kumimoji="0" lang="en-US" altLang="zh-CN" sz="1200" b="0" i="0" u="none" strike="noStrike" kern="1200" cap="none" spc="0" normalizeH="0" baseline="0" noProof="0" dirty="0">
                <a:ln>
                  <a:noFill/>
                </a:ln>
                <a:solidFill>
                  <a:srgbClr val="00329D"/>
                </a:solidFill>
                <a:effectLst/>
                <a:uLnTx/>
                <a:uFillTx/>
                <a:cs typeface="+mn-ea"/>
                <a:sym typeface="+mn-lt"/>
              </a:rPr>
            </a:br>
            <a:r>
              <a:rPr kumimoji="0" lang="zh-CN" altLang="en-US" sz="1200" b="0" i="0" u="none" strike="noStrike" kern="1200" cap="none" spc="0" normalizeH="0" baseline="0" noProof="0" dirty="0">
                <a:ln>
                  <a:noFill/>
                </a:ln>
                <a:solidFill>
                  <a:srgbClr val="00329D"/>
                </a:solidFill>
                <a:effectLst/>
                <a:uLnTx/>
                <a:uFillTx/>
                <a:cs typeface="+mn-ea"/>
                <a:sym typeface="+mn-lt"/>
              </a:rPr>
              <a:t>品牌销量有所放缓</a:t>
            </a:r>
            <a:endParaRPr kumimoji="0" lang="en-US" sz="1200" b="0" i="0" u="none" strike="noStrike" kern="1200" cap="none" spc="0" normalizeH="0" baseline="0" noProof="0" dirty="0">
              <a:ln>
                <a:noFill/>
              </a:ln>
              <a:solidFill>
                <a:srgbClr val="00329D"/>
              </a:solidFill>
              <a:effectLst/>
              <a:uLnTx/>
              <a:uFillTx/>
              <a:cs typeface="+mn-ea"/>
              <a:sym typeface="+mn-lt"/>
            </a:endParaRPr>
          </a:p>
        </p:txBody>
      </p:sp>
      <p:sp>
        <p:nvSpPr>
          <p:cNvPr id="69" name="lemon39"/>
          <p:cNvSpPr/>
          <p:nvPr/>
        </p:nvSpPr>
        <p:spPr>
          <a:xfrm rot="20806895" flipV="1">
            <a:off x="8606638" y="4448547"/>
            <a:ext cx="473568" cy="967634"/>
          </a:xfrm>
          <a:custGeom>
            <a:avLst/>
            <a:gdLst>
              <a:gd name="connsiteX0" fmla="*/ 0 w 187287"/>
              <a:gd name="connsiteY0" fmla="*/ 0 h 334179"/>
              <a:gd name="connsiteX1" fmla="*/ 7345 w 187287"/>
              <a:gd name="connsiteY1" fmla="*/ 124858 h 334179"/>
              <a:gd name="connsiteX2" fmla="*/ 22034 w 187287"/>
              <a:gd name="connsiteY2" fmla="*/ 150564 h 334179"/>
              <a:gd name="connsiteX3" fmla="*/ 36723 w 187287"/>
              <a:gd name="connsiteY3" fmla="*/ 183615 h 334179"/>
              <a:gd name="connsiteX4" fmla="*/ 66101 w 187287"/>
              <a:gd name="connsiteY4" fmla="*/ 231355 h 334179"/>
              <a:gd name="connsiteX5" fmla="*/ 84463 w 187287"/>
              <a:gd name="connsiteY5" fmla="*/ 257061 h 334179"/>
              <a:gd name="connsiteX6" fmla="*/ 128530 w 187287"/>
              <a:gd name="connsiteY6" fmla="*/ 293783 h 334179"/>
              <a:gd name="connsiteX7" fmla="*/ 165253 w 187287"/>
              <a:gd name="connsiteY7" fmla="*/ 323162 h 334179"/>
              <a:gd name="connsiteX8" fmla="*/ 176270 w 187287"/>
              <a:gd name="connsiteY8" fmla="*/ 326834 h 334179"/>
              <a:gd name="connsiteX9" fmla="*/ 187287 w 187287"/>
              <a:gd name="connsiteY9" fmla="*/ 334179 h 334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287" h="334179">
                <a:moveTo>
                  <a:pt x="0" y="0"/>
                </a:moveTo>
                <a:cubicBezTo>
                  <a:pt x="2448" y="41619"/>
                  <a:pt x="1308" y="83606"/>
                  <a:pt x="7345" y="124858"/>
                </a:cubicBezTo>
                <a:cubicBezTo>
                  <a:pt x="8774" y="134623"/>
                  <a:pt x="17621" y="141737"/>
                  <a:pt x="22034" y="150564"/>
                </a:cubicBezTo>
                <a:cubicBezTo>
                  <a:pt x="27426" y="161347"/>
                  <a:pt x="31590" y="172706"/>
                  <a:pt x="36723" y="183615"/>
                </a:cubicBezTo>
                <a:cubicBezTo>
                  <a:pt x="55207" y="222895"/>
                  <a:pt x="44365" y="202374"/>
                  <a:pt x="66101" y="231355"/>
                </a:cubicBezTo>
                <a:cubicBezTo>
                  <a:pt x="72419" y="239779"/>
                  <a:pt x="77017" y="249615"/>
                  <a:pt x="84463" y="257061"/>
                </a:cubicBezTo>
                <a:cubicBezTo>
                  <a:pt x="97983" y="270581"/>
                  <a:pt x="115010" y="280262"/>
                  <a:pt x="128530" y="293783"/>
                </a:cubicBezTo>
                <a:cubicBezTo>
                  <a:pt x="138559" y="303813"/>
                  <a:pt x="151354" y="318529"/>
                  <a:pt x="165253" y="323162"/>
                </a:cubicBezTo>
                <a:lnTo>
                  <a:pt x="176270" y="326834"/>
                </a:lnTo>
                <a:lnTo>
                  <a:pt x="187287" y="334179"/>
                </a:lnTo>
              </a:path>
            </a:pathLst>
          </a:custGeom>
          <a:noFill/>
          <a:ln w="15875">
            <a:solidFill>
              <a:schemeClr val="tx1">
                <a:alpha val="50000"/>
              </a:schemeClr>
            </a:solidFill>
            <a:prstDash val="sysDot"/>
            <a:headEnd type="stealth" w="lg" len="lg"/>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grpSp>
        <p:nvGrpSpPr>
          <p:cNvPr id="70" name="lemon40"/>
          <p:cNvGrpSpPr/>
          <p:nvPr/>
        </p:nvGrpSpPr>
        <p:grpSpPr>
          <a:xfrm>
            <a:off x="10525269" y="1612832"/>
            <a:ext cx="1408935" cy="1333460"/>
            <a:chOff x="3684656" y="1440180"/>
            <a:chExt cx="1617591" cy="1530940"/>
          </a:xfrm>
        </p:grpSpPr>
        <p:sp>
          <p:nvSpPr>
            <p:cNvPr id="71" name="lemon40-1"/>
            <p:cNvSpPr/>
            <p:nvPr/>
          </p:nvSpPr>
          <p:spPr>
            <a:xfrm rot="13500000">
              <a:off x="3696221" y="1849371"/>
              <a:ext cx="1110184" cy="1133313"/>
            </a:xfrm>
            <a:prstGeom prst="triangle">
              <a:avLst>
                <a:gd name="adj" fmla="val 51456"/>
              </a:avLst>
            </a:prstGeom>
            <a:solidFill>
              <a:schemeClr val="accent1"/>
            </a:solidFill>
            <a:ln>
              <a:noFill/>
              <a:headEnd type="triangl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srgbClr val="000000"/>
                </a:solidFill>
                <a:effectLst/>
                <a:uLnTx/>
                <a:uFillTx/>
                <a:cs typeface="+mn-ea"/>
                <a:sym typeface="+mn-lt"/>
              </a:endParaRPr>
            </a:p>
          </p:txBody>
        </p:sp>
        <p:sp>
          <p:nvSpPr>
            <p:cNvPr id="72" name="lemon40-2"/>
            <p:cNvSpPr/>
            <p:nvPr/>
          </p:nvSpPr>
          <p:spPr>
            <a:xfrm>
              <a:off x="4069080" y="1440180"/>
              <a:ext cx="1135380" cy="1135380"/>
            </a:xfrm>
            <a:prstGeom prst="ellipse">
              <a:avLst/>
            </a:prstGeom>
            <a:solidFill>
              <a:schemeClr val="bg1"/>
            </a:solidFill>
            <a:ln w="31750">
              <a:solidFill>
                <a:schemeClr val="accent1"/>
              </a:solidFill>
              <a:headEnd type="triangl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srgbClr val="FFFFFF"/>
                </a:solidFill>
                <a:effectLst/>
                <a:uLnTx/>
                <a:uFillTx/>
                <a:cs typeface="+mn-ea"/>
                <a:sym typeface="+mn-lt"/>
              </a:endParaRPr>
            </a:p>
          </p:txBody>
        </p:sp>
        <p:sp>
          <p:nvSpPr>
            <p:cNvPr id="73" name="lemon40-3"/>
            <p:cNvSpPr txBox="1"/>
            <p:nvPr/>
          </p:nvSpPr>
          <p:spPr>
            <a:xfrm>
              <a:off x="3984760" y="1575127"/>
              <a:ext cx="1317487" cy="489252"/>
            </a:xfrm>
            <a:prstGeom prst="rect">
              <a:avLst/>
            </a:prstGeom>
            <a:noFill/>
          </p:spPr>
          <p:txBody>
            <a:bodyPr wrap="square" rtlCol="0">
              <a:sp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存在问题</a:t>
              </a:r>
              <a:endParaRPr kumimoji="0" lang="en-US" altLang="zh-CN" sz="1600" b="0" i="0" u="none" strike="noStrike" kern="1200" cap="none" spc="0" normalizeH="0" baseline="0" noProof="0" dirty="0">
                <a:ln>
                  <a:noFill/>
                </a:ln>
                <a:solidFill>
                  <a:srgbClr val="00329D"/>
                </a:solidFill>
                <a:effectLst/>
                <a:uLnTx/>
                <a:uFillTx/>
                <a:cs typeface="+mn-ea"/>
                <a:sym typeface="+mn-lt"/>
              </a:endParaRPr>
            </a:p>
          </p:txBody>
        </p:sp>
        <p:sp>
          <p:nvSpPr>
            <p:cNvPr id="74" name="lemon40-4"/>
            <p:cNvSpPr txBox="1"/>
            <p:nvPr/>
          </p:nvSpPr>
          <p:spPr>
            <a:xfrm>
              <a:off x="4176308" y="2054328"/>
              <a:ext cx="1035923" cy="270907"/>
            </a:xfrm>
            <a:prstGeom prst="rect">
              <a:avLst/>
            </a:prstGeom>
            <a:noFill/>
          </p:spPr>
          <p:txBody>
            <a:bodyPr wrap="square" rtlCol="0">
              <a:sp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en-GB" altLang="zh-CN" sz="700" b="0" i="0" u="none" strike="noStrike" kern="1200" cap="none" spc="0" normalizeH="0" baseline="0" noProof="0" dirty="0">
                  <a:ln>
                    <a:noFill/>
                  </a:ln>
                  <a:solidFill>
                    <a:srgbClr val="000000"/>
                  </a:solidFill>
                  <a:effectLst/>
                  <a:uLnTx/>
                  <a:uFillTx/>
                  <a:cs typeface="+mn-ea"/>
                  <a:sym typeface="+mn-lt"/>
                </a:rPr>
                <a:t>Existing problems</a:t>
              </a:r>
              <a:endParaRPr kumimoji="0" lang="en-US" altLang="zh-CN" sz="700" b="0" i="0" u="none" strike="noStrike" kern="1200" cap="none" spc="0" normalizeH="0" baseline="0" noProof="0" dirty="0">
                <a:ln>
                  <a:noFill/>
                </a:ln>
                <a:solidFill>
                  <a:srgbClr val="000000"/>
                </a:solidFill>
                <a:effectLst/>
                <a:uLnTx/>
                <a:uFillTx/>
                <a:cs typeface="+mn-ea"/>
                <a:sym typeface="+mn-lt"/>
              </a:endParaRPr>
            </a:p>
          </p:txBody>
        </p:sp>
      </p:grpSp>
      <p:sp>
        <p:nvSpPr>
          <p:cNvPr id="2" name="lemon41"/>
          <p:cNvSpPr/>
          <p:nvPr/>
        </p:nvSpPr>
        <p:spPr>
          <a:xfrm>
            <a:off x="4510820" y="4162329"/>
            <a:ext cx="604543" cy="604543"/>
          </a:xfrm>
          <a:prstGeom prst="ellipse">
            <a:avLst/>
          </a:prstGeom>
          <a:solidFill>
            <a:schemeClr val="bg1"/>
          </a:solidFill>
          <a:ln w="9525">
            <a:solidFill>
              <a:schemeClr val="accent2"/>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srgbClr val="FFFFFF"/>
              </a:solidFill>
              <a:effectLst/>
              <a:uLnTx/>
              <a:uFillTx/>
              <a:cs typeface="+mn-ea"/>
              <a:sym typeface="+mn-lt"/>
            </a:endParaRPr>
          </a:p>
        </p:txBody>
      </p:sp>
      <p:sp>
        <p:nvSpPr>
          <p:cNvPr id="54" name="lemon42"/>
          <p:cNvSpPr txBox="1"/>
          <p:nvPr/>
        </p:nvSpPr>
        <p:spPr>
          <a:xfrm>
            <a:off x="4552472" y="4293015"/>
            <a:ext cx="551650" cy="393647"/>
          </a:xfrm>
          <a:prstGeom prst="rect">
            <a:avLst/>
          </a:prstGeom>
          <a:noFill/>
          <a:effectLst/>
        </p:spPr>
        <p:txBody>
          <a:bodyPr wrap="none" lIns="85039" tIns="42520" rIns="85039" bIns="4252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一次性</a:t>
            </a:r>
            <a:endParaRPr kumimoji="0" lang="en-US" altLang="zh-CN" sz="10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生意</a:t>
            </a:r>
          </a:p>
        </p:txBody>
      </p:sp>
      <p:sp>
        <p:nvSpPr>
          <p:cNvPr id="3" name="lemon43"/>
          <p:cNvSpPr/>
          <p:nvPr/>
        </p:nvSpPr>
        <p:spPr>
          <a:xfrm>
            <a:off x="4572965" y="4868621"/>
            <a:ext cx="604543" cy="604543"/>
          </a:xfrm>
          <a:prstGeom prst="ellipse">
            <a:avLst/>
          </a:prstGeom>
          <a:solidFill>
            <a:schemeClr val="bg1"/>
          </a:solidFill>
          <a:ln w="9525">
            <a:solidFill>
              <a:schemeClr val="accent2"/>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srgbClr val="FFFFFF"/>
              </a:solidFill>
              <a:effectLst/>
              <a:uLnTx/>
              <a:uFillTx/>
              <a:cs typeface="+mn-ea"/>
              <a:sym typeface="+mn-lt"/>
            </a:endParaRPr>
          </a:p>
        </p:txBody>
      </p:sp>
      <p:sp>
        <p:nvSpPr>
          <p:cNvPr id="56" name="lemon44"/>
          <p:cNvSpPr txBox="1"/>
          <p:nvPr/>
        </p:nvSpPr>
        <p:spPr>
          <a:xfrm>
            <a:off x="4606353" y="5010243"/>
            <a:ext cx="551650" cy="393647"/>
          </a:xfrm>
          <a:prstGeom prst="rect">
            <a:avLst/>
          </a:prstGeom>
          <a:noFill/>
          <a:effectLst/>
        </p:spPr>
        <p:txBody>
          <a:bodyPr wrap="none" lIns="85039" tIns="42520" rIns="85039" bIns="4252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常态化</a:t>
            </a:r>
            <a:endParaRPr kumimoji="0" lang="en-US" altLang="zh-CN" sz="10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回购</a:t>
            </a:r>
          </a:p>
        </p:txBody>
      </p:sp>
      <p:sp>
        <p:nvSpPr>
          <p:cNvPr id="15" name="lemon45"/>
          <p:cNvSpPr/>
          <p:nvPr/>
        </p:nvSpPr>
        <p:spPr>
          <a:xfrm>
            <a:off x="5197301" y="4506996"/>
            <a:ext cx="604543" cy="604543"/>
          </a:xfrm>
          <a:prstGeom prst="ellipse">
            <a:avLst/>
          </a:prstGeom>
          <a:solidFill>
            <a:schemeClr val="bg1"/>
          </a:solidFill>
          <a:ln w="9525">
            <a:solidFill>
              <a:schemeClr val="accent2"/>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srgbClr val="FFFFFF"/>
              </a:solidFill>
              <a:effectLst/>
              <a:uLnTx/>
              <a:uFillTx/>
              <a:cs typeface="+mn-ea"/>
              <a:sym typeface="+mn-lt"/>
            </a:endParaRPr>
          </a:p>
        </p:txBody>
      </p:sp>
      <p:sp>
        <p:nvSpPr>
          <p:cNvPr id="52" name="lemon46"/>
          <p:cNvSpPr txBox="1"/>
          <p:nvPr/>
        </p:nvSpPr>
        <p:spPr>
          <a:xfrm>
            <a:off x="5293990" y="4619720"/>
            <a:ext cx="425013" cy="393647"/>
          </a:xfrm>
          <a:prstGeom prst="rect">
            <a:avLst/>
          </a:prstGeom>
          <a:noFill/>
          <a:effectLst/>
        </p:spPr>
        <p:txBody>
          <a:bodyPr wrap="none" lIns="85039" tIns="42520" rIns="85039" bIns="4252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支持</a:t>
            </a:r>
            <a:endParaRPr kumimoji="0" lang="en-US" altLang="zh-CN" sz="10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回购</a:t>
            </a:r>
          </a:p>
        </p:txBody>
      </p:sp>
      <p:sp>
        <p:nvSpPr>
          <p:cNvPr id="20" name="lemon47"/>
          <p:cNvSpPr/>
          <p:nvPr/>
        </p:nvSpPr>
        <p:spPr>
          <a:xfrm>
            <a:off x="1328024" y="5737875"/>
            <a:ext cx="1178691" cy="428698"/>
          </a:xfrm>
          <a:prstGeom prst="roundRect">
            <a:avLst>
              <a:gd name="adj" fmla="val 12168"/>
            </a:avLst>
          </a:prstGeom>
          <a:solidFill>
            <a:schemeClr val="accent2">
              <a:alpha val="15079"/>
            </a:schemeClr>
          </a:solidFill>
          <a:ln w="12700">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4" name="lemon48"/>
          <p:cNvSpPr txBox="1"/>
          <p:nvPr/>
        </p:nvSpPr>
        <p:spPr>
          <a:xfrm>
            <a:off x="1446893" y="5791155"/>
            <a:ext cx="940953" cy="322396"/>
          </a:xfrm>
          <a:prstGeom prst="rect">
            <a:avLst/>
          </a:prstGeom>
          <a:noFill/>
        </p:spPr>
        <p:txBody>
          <a:bodyPr wrap="square" rtlCol="0">
            <a:spAutoFit/>
          </a:bodyPr>
          <a:lstStyle>
            <a:defPPr>
              <a:defRPr lang="zh-CN"/>
            </a:defPPr>
            <a:lvl1pPr algn="ctr">
              <a:lnSpc>
                <a:spcPct val="110000"/>
              </a:lnSpc>
              <a:defRPr sz="1400">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latin typeface="+mn-lt"/>
                <a:ea typeface="+mn-ea"/>
                <a:cs typeface="+mn-ea"/>
                <a:sym typeface="+mn-lt"/>
              </a:rPr>
              <a:t>健康领域</a:t>
            </a:r>
          </a:p>
        </p:txBody>
      </p:sp>
      <p:cxnSp>
        <p:nvCxnSpPr>
          <p:cNvPr id="64" name="lemon49"/>
          <p:cNvCxnSpPr/>
          <p:nvPr/>
        </p:nvCxnSpPr>
        <p:spPr>
          <a:xfrm flipV="1">
            <a:off x="1942608" y="5327220"/>
            <a:ext cx="0" cy="356023"/>
          </a:xfrm>
          <a:prstGeom prst="line">
            <a:avLst/>
          </a:prstGeom>
          <a:ln w="12700">
            <a:solidFill>
              <a:schemeClr val="accent1"/>
            </a:solidFill>
            <a:prstDash val="dash"/>
            <a:headEnd type="stealth"/>
          </a:ln>
        </p:spPr>
        <p:style>
          <a:lnRef idx="1">
            <a:schemeClr val="accent1"/>
          </a:lnRef>
          <a:fillRef idx="0">
            <a:schemeClr val="accent1"/>
          </a:fillRef>
          <a:effectRef idx="0">
            <a:schemeClr val="accent1"/>
          </a:effectRef>
          <a:fontRef idx="minor">
            <a:schemeClr val="tx1"/>
          </a:fontRef>
        </p:style>
      </p:cxnSp>
      <p:sp>
        <p:nvSpPr>
          <p:cNvPr id="26" name="矩形: 圆角 7"/>
          <p:cNvSpPr/>
          <p:nvPr/>
        </p:nvSpPr>
        <p:spPr>
          <a:xfrm flipV="1">
            <a:off x="457802" y="696804"/>
            <a:ext cx="11388632" cy="4571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cs typeface="+mn-ea"/>
              <a:sym typeface="+mn-lt"/>
            </a:endParaRPr>
          </a:p>
        </p:txBody>
      </p:sp>
      <p:sp>
        <p:nvSpPr>
          <p:cNvPr id="27" name="Venn diagram"/>
          <p:cNvSpPr txBox="1"/>
          <p:nvPr/>
        </p:nvSpPr>
        <p:spPr>
          <a:xfrm>
            <a:off x="437924" y="204604"/>
            <a:ext cx="6651772" cy="420628"/>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algn="l"/>
            <a:r>
              <a:rPr lang="zh-CN" altLang="en-US" sz="2400" b="1" i="0" dirty="0">
                <a:solidFill>
                  <a:schemeClr val="accent1"/>
                </a:solidFill>
                <a:cs typeface="+mn-ea"/>
                <a:sym typeface="+mn-lt"/>
              </a:rPr>
              <a:t>高端</a:t>
            </a:r>
            <a:r>
              <a:rPr lang="en-US" sz="2400" b="1" i="0" dirty="0">
                <a:solidFill>
                  <a:schemeClr val="accent1"/>
                </a:solidFill>
                <a:cs typeface="+mn-ea"/>
                <a:sym typeface="+mn-lt"/>
              </a:rPr>
              <a:t>PPT</a:t>
            </a:r>
            <a:r>
              <a:rPr lang="zh-CN" altLang="en-US" sz="2400" b="1" i="0" dirty="0">
                <a:solidFill>
                  <a:schemeClr val="accent1"/>
                </a:solidFill>
                <a:cs typeface="+mn-ea"/>
                <a:sym typeface="+mn-lt"/>
              </a:rPr>
              <a:t>系列之一：打工人必备</a:t>
            </a:r>
            <a:r>
              <a:rPr lang="en-US" sz="2400" b="1" i="0" dirty="0">
                <a:solidFill>
                  <a:schemeClr val="accent1"/>
                </a:solidFill>
                <a:cs typeface="+mn-ea"/>
                <a:sym typeface="+mn-lt"/>
              </a:rPr>
              <a:t>PPT</a:t>
            </a:r>
            <a:r>
              <a:rPr lang="zh-CN" altLang="en-US" sz="2400" b="1" i="0" dirty="0">
                <a:solidFill>
                  <a:schemeClr val="accent1"/>
                </a:solidFill>
                <a:cs typeface="+mn-ea"/>
                <a:sym typeface="+mn-lt"/>
              </a:rPr>
              <a:t>逻辑图</a:t>
            </a:r>
            <a:endParaRPr sz="2400" b="1" i="0" dirty="0">
              <a:solidFill>
                <a:schemeClr val="accent1"/>
              </a:solidFill>
              <a:cs typeface="+mn-ea"/>
              <a:sym typeface="+mn-lt"/>
            </a:endParaRP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lemon1"/>
          <p:cNvSpPr/>
          <p:nvPr/>
        </p:nvSpPr>
        <p:spPr>
          <a:xfrm>
            <a:off x="6919341" y="1017731"/>
            <a:ext cx="4936676" cy="5242976"/>
          </a:xfrm>
          <a:prstGeom prst="roundRect">
            <a:avLst>
              <a:gd name="adj" fmla="val 399"/>
            </a:avLst>
          </a:prstGeom>
          <a:solidFill>
            <a:schemeClr val="accent1">
              <a:lumMod val="20000"/>
              <a:lumOff val="80000"/>
              <a:alpha val="15079"/>
            </a:schemeClr>
          </a:solidFill>
          <a:ln w="19050">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grpSp>
        <p:nvGrpSpPr>
          <p:cNvPr id="87" name="lemon2"/>
          <p:cNvGrpSpPr/>
          <p:nvPr/>
        </p:nvGrpSpPr>
        <p:grpSpPr>
          <a:xfrm>
            <a:off x="335984" y="1075048"/>
            <a:ext cx="6667254" cy="3103659"/>
            <a:chOff x="335984" y="1075048"/>
            <a:chExt cx="6667254" cy="3103659"/>
          </a:xfrm>
        </p:grpSpPr>
        <p:grpSp>
          <p:nvGrpSpPr>
            <p:cNvPr id="78" name="组合 77"/>
            <p:cNvGrpSpPr/>
            <p:nvPr/>
          </p:nvGrpSpPr>
          <p:grpSpPr>
            <a:xfrm>
              <a:off x="335984" y="1502229"/>
              <a:ext cx="6667254" cy="2676478"/>
              <a:chOff x="335984" y="1502229"/>
              <a:chExt cx="6667254" cy="2676478"/>
            </a:xfrm>
          </p:grpSpPr>
          <p:grpSp>
            <p:nvGrpSpPr>
              <p:cNvPr id="65" name="组合 64"/>
              <p:cNvGrpSpPr/>
              <p:nvPr/>
            </p:nvGrpSpPr>
            <p:grpSpPr>
              <a:xfrm>
                <a:off x="589712" y="1502229"/>
                <a:ext cx="6160830" cy="2393630"/>
                <a:chOff x="5219743" y="976242"/>
                <a:chExt cx="6160830" cy="2393630"/>
              </a:xfrm>
            </p:grpSpPr>
            <p:sp>
              <p:nvSpPr>
                <p:cNvPr id="48" name="lemon2-1"/>
                <p:cNvSpPr/>
                <p:nvPr/>
              </p:nvSpPr>
              <p:spPr>
                <a:xfrm>
                  <a:off x="5232100" y="1126367"/>
                  <a:ext cx="96831" cy="206860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9" name="lemon2-2"/>
                <p:cNvSpPr/>
                <p:nvPr/>
              </p:nvSpPr>
              <p:spPr>
                <a:xfrm>
                  <a:off x="5577576" y="1126367"/>
                  <a:ext cx="81762" cy="206860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0" name="lemon2-3"/>
                <p:cNvSpPr/>
                <p:nvPr/>
              </p:nvSpPr>
              <p:spPr>
                <a:xfrm>
                  <a:off x="5896230" y="1126367"/>
                  <a:ext cx="81762" cy="206860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1" name="lemon2-4"/>
                <p:cNvSpPr/>
                <p:nvPr/>
              </p:nvSpPr>
              <p:spPr>
                <a:xfrm>
                  <a:off x="6094812" y="1126367"/>
                  <a:ext cx="81762" cy="206860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2" name="lemon2-5"/>
                <p:cNvSpPr/>
                <p:nvPr/>
              </p:nvSpPr>
              <p:spPr>
                <a:xfrm>
                  <a:off x="6935827" y="1126367"/>
                  <a:ext cx="71196" cy="206860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3" name="lemon2-6"/>
                <p:cNvSpPr/>
                <p:nvPr/>
              </p:nvSpPr>
              <p:spPr>
                <a:xfrm>
                  <a:off x="7249357" y="1126367"/>
                  <a:ext cx="71196" cy="206860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4" name="lemon2-7"/>
                <p:cNvSpPr/>
                <p:nvPr/>
              </p:nvSpPr>
              <p:spPr>
                <a:xfrm>
                  <a:off x="7734266" y="1126367"/>
                  <a:ext cx="45719" cy="206860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5" name="lemon2-8"/>
                <p:cNvSpPr/>
                <p:nvPr/>
              </p:nvSpPr>
              <p:spPr>
                <a:xfrm>
                  <a:off x="7849720" y="1126367"/>
                  <a:ext cx="113291" cy="206860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6" name="lemon2-9"/>
                <p:cNvSpPr/>
                <p:nvPr/>
              </p:nvSpPr>
              <p:spPr>
                <a:xfrm>
                  <a:off x="8572094" y="1126367"/>
                  <a:ext cx="96744" cy="206860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7" name="lemon2-10"/>
                <p:cNvSpPr/>
                <p:nvPr/>
              </p:nvSpPr>
              <p:spPr>
                <a:xfrm>
                  <a:off x="9535356" y="1126367"/>
                  <a:ext cx="93739" cy="206860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8" name="lemon2-11"/>
                <p:cNvSpPr/>
                <p:nvPr/>
              </p:nvSpPr>
              <p:spPr>
                <a:xfrm>
                  <a:off x="10125636" y="1126367"/>
                  <a:ext cx="191159" cy="206860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9" name="lemon2-12"/>
                <p:cNvSpPr/>
                <p:nvPr/>
              </p:nvSpPr>
              <p:spPr>
                <a:xfrm>
                  <a:off x="11042578" y="1126367"/>
                  <a:ext cx="45719" cy="206860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7" name="lemon2-13"/>
                <p:cNvSpPr/>
                <p:nvPr/>
              </p:nvSpPr>
              <p:spPr>
                <a:xfrm>
                  <a:off x="5233182" y="1301262"/>
                  <a:ext cx="334994" cy="206860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8" name="lemon2-14"/>
                <p:cNvSpPr/>
                <p:nvPr/>
              </p:nvSpPr>
              <p:spPr>
                <a:xfrm>
                  <a:off x="5582028" y="2295982"/>
                  <a:ext cx="301339" cy="107389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9" name="lemon2-15"/>
                <p:cNvSpPr/>
                <p:nvPr/>
              </p:nvSpPr>
              <p:spPr>
                <a:xfrm>
                  <a:off x="5897636" y="2622877"/>
                  <a:ext cx="198364" cy="746994"/>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0" name="lemon2-16"/>
                <p:cNvSpPr/>
                <p:nvPr/>
              </p:nvSpPr>
              <p:spPr>
                <a:xfrm>
                  <a:off x="6096830" y="1593273"/>
                  <a:ext cx="829952" cy="177659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1" name="lemon2-17"/>
                <p:cNvSpPr/>
                <p:nvPr/>
              </p:nvSpPr>
              <p:spPr>
                <a:xfrm>
                  <a:off x="6936377" y="1960881"/>
                  <a:ext cx="287384" cy="140899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2" name="lemon2-18"/>
                <p:cNvSpPr/>
                <p:nvPr/>
              </p:nvSpPr>
              <p:spPr>
                <a:xfrm>
                  <a:off x="7232807" y="2295981"/>
                  <a:ext cx="484076" cy="107388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3" name="lemon2-19"/>
                <p:cNvSpPr/>
                <p:nvPr/>
              </p:nvSpPr>
              <p:spPr>
                <a:xfrm>
                  <a:off x="7711913" y="2856595"/>
                  <a:ext cx="129578" cy="51327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4" name="lemon2-20"/>
                <p:cNvSpPr/>
                <p:nvPr/>
              </p:nvSpPr>
              <p:spPr>
                <a:xfrm>
                  <a:off x="7856152" y="2114190"/>
                  <a:ext cx="700039" cy="125568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5" name="lemon2-21"/>
                <p:cNvSpPr/>
                <p:nvPr/>
              </p:nvSpPr>
              <p:spPr>
                <a:xfrm>
                  <a:off x="8578270" y="2179782"/>
                  <a:ext cx="964504" cy="119008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6" name="lemon2-22"/>
                <p:cNvSpPr/>
                <p:nvPr/>
              </p:nvSpPr>
              <p:spPr>
                <a:xfrm>
                  <a:off x="9557435" y="2376786"/>
                  <a:ext cx="552548" cy="993084"/>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7" name="lemon2-23"/>
                <p:cNvSpPr/>
                <p:nvPr/>
              </p:nvSpPr>
              <p:spPr>
                <a:xfrm>
                  <a:off x="10124644" y="2745549"/>
                  <a:ext cx="960121" cy="62432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cxnSp>
              <p:nvCxnSpPr>
                <p:cNvPr id="60" name="lemon2-24"/>
                <p:cNvCxnSpPr/>
                <p:nvPr/>
              </p:nvCxnSpPr>
              <p:spPr>
                <a:xfrm>
                  <a:off x="5219743" y="3369870"/>
                  <a:ext cx="6160830" cy="0"/>
                </a:xfrm>
                <a:prstGeom prst="straightConnector1">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62" name="lemon2-25"/>
                <p:cNvCxnSpPr/>
                <p:nvPr/>
              </p:nvCxnSpPr>
              <p:spPr>
                <a:xfrm flipV="1">
                  <a:off x="5237883" y="976242"/>
                  <a:ext cx="6731" cy="2393628"/>
                </a:xfrm>
                <a:prstGeom prst="straightConnector1">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grpSp>
          <p:sp>
            <p:nvSpPr>
              <p:cNvPr id="67" name="lemon2-26"/>
              <p:cNvSpPr txBox="1"/>
              <p:nvPr/>
            </p:nvSpPr>
            <p:spPr>
              <a:xfrm>
                <a:off x="564989" y="3917097"/>
                <a:ext cx="960482"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050" b="0" i="0" u="none" strike="noStrike" kern="1200" cap="none" spc="0" normalizeH="0" baseline="0" noProof="0" dirty="0">
                    <a:ln>
                      <a:noFill/>
                    </a:ln>
                    <a:solidFill>
                      <a:srgbClr val="000000"/>
                    </a:solidFill>
                    <a:effectLst/>
                    <a:uLnTx/>
                    <a:uFillTx/>
                    <a:cs typeface="+mn-ea"/>
                    <a:sym typeface="+mn-lt"/>
                  </a:rPr>
                  <a:t>2010</a:t>
                </a:r>
                <a:endParaRPr kumimoji="1" lang="zh-CN" altLang="en-US" sz="1050" b="0" i="0" u="none" strike="noStrike" kern="1200" cap="none" spc="0" normalizeH="0" baseline="0" noProof="0" dirty="0">
                  <a:ln>
                    <a:noFill/>
                  </a:ln>
                  <a:solidFill>
                    <a:srgbClr val="000000"/>
                  </a:solidFill>
                  <a:effectLst/>
                  <a:uLnTx/>
                  <a:uFillTx/>
                  <a:cs typeface="+mn-ea"/>
                  <a:sym typeface="+mn-lt"/>
                </a:endParaRPr>
              </a:p>
            </p:txBody>
          </p:sp>
          <p:sp>
            <p:nvSpPr>
              <p:cNvPr id="68" name="lemon2-27"/>
              <p:cNvSpPr txBox="1"/>
              <p:nvPr/>
            </p:nvSpPr>
            <p:spPr>
              <a:xfrm>
                <a:off x="1506350" y="3917097"/>
                <a:ext cx="960482"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050" b="0" i="0" u="none" strike="noStrike" kern="1200" cap="none" spc="0" normalizeH="0" baseline="0" noProof="0" dirty="0">
                    <a:ln>
                      <a:noFill/>
                    </a:ln>
                    <a:solidFill>
                      <a:srgbClr val="000000"/>
                    </a:solidFill>
                    <a:effectLst/>
                    <a:uLnTx/>
                    <a:uFillTx/>
                    <a:cs typeface="+mn-ea"/>
                    <a:sym typeface="+mn-lt"/>
                  </a:rPr>
                  <a:t>2013</a:t>
                </a:r>
                <a:endParaRPr kumimoji="1" lang="zh-CN" altLang="en-US" sz="1050" b="0" i="0" u="none" strike="noStrike" kern="1200" cap="none" spc="0" normalizeH="0" baseline="0" noProof="0" dirty="0">
                  <a:ln>
                    <a:noFill/>
                  </a:ln>
                  <a:solidFill>
                    <a:srgbClr val="000000"/>
                  </a:solidFill>
                  <a:effectLst/>
                  <a:uLnTx/>
                  <a:uFillTx/>
                  <a:cs typeface="+mn-ea"/>
                  <a:sym typeface="+mn-lt"/>
                </a:endParaRPr>
              </a:p>
            </p:txBody>
          </p:sp>
          <p:sp>
            <p:nvSpPr>
              <p:cNvPr id="69" name="lemon2-28"/>
              <p:cNvSpPr txBox="1"/>
              <p:nvPr/>
            </p:nvSpPr>
            <p:spPr>
              <a:xfrm>
                <a:off x="2374707" y="3917097"/>
                <a:ext cx="960482"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050" b="0" i="0" u="none" strike="noStrike" kern="1200" cap="none" spc="0" normalizeH="0" baseline="0" noProof="0" dirty="0">
                    <a:ln>
                      <a:noFill/>
                    </a:ln>
                    <a:solidFill>
                      <a:srgbClr val="000000"/>
                    </a:solidFill>
                    <a:effectLst/>
                    <a:uLnTx/>
                    <a:uFillTx/>
                    <a:cs typeface="+mn-ea"/>
                    <a:sym typeface="+mn-lt"/>
                  </a:rPr>
                  <a:t>2015</a:t>
                </a:r>
                <a:endParaRPr kumimoji="1" lang="zh-CN" altLang="en-US" sz="1050" b="0" i="0" u="none" strike="noStrike" kern="1200" cap="none" spc="0" normalizeH="0" baseline="0" noProof="0" dirty="0">
                  <a:ln>
                    <a:noFill/>
                  </a:ln>
                  <a:solidFill>
                    <a:srgbClr val="000000"/>
                  </a:solidFill>
                  <a:effectLst/>
                  <a:uLnTx/>
                  <a:uFillTx/>
                  <a:cs typeface="+mn-ea"/>
                  <a:sym typeface="+mn-lt"/>
                </a:endParaRPr>
              </a:p>
            </p:txBody>
          </p:sp>
          <p:sp>
            <p:nvSpPr>
              <p:cNvPr id="70" name="lemon2-29"/>
              <p:cNvSpPr txBox="1"/>
              <p:nvPr/>
            </p:nvSpPr>
            <p:spPr>
              <a:xfrm>
                <a:off x="3316068" y="3917097"/>
                <a:ext cx="960482"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050" b="0" i="0" u="none" strike="noStrike" kern="1200" cap="none" spc="0" normalizeH="0" baseline="0" noProof="0" dirty="0">
                    <a:ln>
                      <a:noFill/>
                    </a:ln>
                    <a:solidFill>
                      <a:srgbClr val="000000"/>
                    </a:solidFill>
                    <a:effectLst/>
                    <a:uLnTx/>
                    <a:uFillTx/>
                    <a:cs typeface="+mn-ea"/>
                    <a:sym typeface="+mn-lt"/>
                  </a:rPr>
                  <a:t>2017</a:t>
                </a:r>
                <a:endParaRPr kumimoji="1" lang="zh-CN" altLang="en-US" sz="1050" b="0" i="0" u="none" strike="noStrike" kern="1200" cap="none" spc="0" normalizeH="0" baseline="0" noProof="0" dirty="0">
                  <a:ln>
                    <a:noFill/>
                  </a:ln>
                  <a:solidFill>
                    <a:srgbClr val="000000"/>
                  </a:solidFill>
                  <a:effectLst/>
                  <a:uLnTx/>
                  <a:uFillTx/>
                  <a:cs typeface="+mn-ea"/>
                  <a:sym typeface="+mn-lt"/>
                </a:endParaRPr>
              </a:p>
            </p:txBody>
          </p:sp>
          <p:sp>
            <p:nvSpPr>
              <p:cNvPr id="71" name="lemon2-30"/>
              <p:cNvSpPr txBox="1"/>
              <p:nvPr/>
            </p:nvSpPr>
            <p:spPr>
              <a:xfrm>
                <a:off x="4218292" y="3917097"/>
                <a:ext cx="960482"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050" b="0" i="0" u="none" strike="noStrike" kern="1200" cap="none" spc="0" normalizeH="0" baseline="0" noProof="0" dirty="0">
                    <a:ln>
                      <a:noFill/>
                    </a:ln>
                    <a:solidFill>
                      <a:srgbClr val="000000"/>
                    </a:solidFill>
                    <a:effectLst/>
                    <a:uLnTx/>
                    <a:uFillTx/>
                    <a:cs typeface="+mn-ea"/>
                    <a:sym typeface="+mn-lt"/>
                  </a:rPr>
                  <a:t>2019</a:t>
                </a:r>
                <a:endParaRPr kumimoji="1" lang="zh-CN" altLang="en-US" sz="1050" b="0" i="0" u="none" strike="noStrike" kern="1200" cap="none" spc="0" normalizeH="0" baseline="0" noProof="0" dirty="0">
                  <a:ln>
                    <a:noFill/>
                  </a:ln>
                  <a:solidFill>
                    <a:srgbClr val="000000"/>
                  </a:solidFill>
                  <a:effectLst/>
                  <a:uLnTx/>
                  <a:uFillTx/>
                  <a:cs typeface="+mn-ea"/>
                  <a:sym typeface="+mn-lt"/>
                </a:endParaRPr>
              </a:p>
            </p:txBody>
          </p:sp>
          <p:sp>
            <p:nvSpPr>
              <p:cNvPr id="72" name="lemon2-31"/>
              <p:cNvSpPr txBox="1"/>
              <p:nvPr/>
            </p:nvSpPr>
            <p:spPr>
              <a:xfrm>
                <a:off x="5159653" y="3917097"/>
                <a:ext cx="960482"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050" b="0" i="0" u="none" strike="noStrike" kern="1200" cap="none" spc="0" normalizeH="0" baseline="0" noProof="0" dirty="0">
                    <a:ln>
                      <a:noFill/>
                    </a:ln>
                    <a:solidFill>
                      <a:srgbClr val="000000"/>
                    </a:solidFill>
                    <a:effectLst/>
                    <a:uLnTx/>
                    <a:uFillTx/>
                    <a:cs typeface="+mn-ea"/>
                    <a:sym typeface="+mn-lt"/>
                  </a:rPr>
                  <a:t>2021</a:t>
                </a:r>
                <a:endParaRPr kumimoji="1" lang="zh-CN" altLang="en-US" sz="1050" b="0" i="0" u="none" strike="noStrike" kern="1200" cap="none" spc="0" normalizeH="0" baseline="0" noProof="0" dirty="0">
                  <a:ln>
                    <a:noFill/>
                  </a:ln>
                  <a:solidFill>
                    <a:srgbClr val="000000"/>
                  </a:solidFill>
                  <a:effectLst/>
                  <a:uLnTx/>
                  <a:uFillTx/>
                  <a:cs typeface="+mn-ea"/>
                  <a:sym typeface="+mn-lt"/>
                </a:endParaRPr>
              </a:p>
            </p:txBody>
          </p:sp>
          <p:sp>
            <p:nvSpPr>
              <p:cNvPr id="73" name="lemon2-32"/>
              <p:cNvSpPr txBox="1"/>
              <p:nvPr/>
            </p:nvSpPr>
            <p:spPr>
              <a:xfrm>
                <a:off x="6042756" y="3917097"/>
                <a:ext cx="960482"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050" b="0" i="0" u="none" strike="noStrike" kern="1200" cap="none" spc="0" normalizeH="0" baseline="0" noProof="0" dirty="0">
                    <a:ln>
                      <a:noFill/>
                    </a:ln>
                    <a:solidFill>
                      <a:srgbClr val="000000"/>
                    </a:solidFill>
                    <a:effectLst/>
                    <a:uLnTx/>
                    <a:uFillTx/>
                    <a:cs typeface="+mn-ea"/>
                    <a:sym typeface="+mn-lt"/>
                  </a:rPr>
                  <a:t>2023</a:t>
                </a:r>
                <a:endParaRPr kumimoji="1" lang="zh-CN" altLang="en-US" sz="1050" b="0" i="0" u="none" strike="noStrike" kern="1200" cap="none" spc="0" normalizeH="0" baseline="0" noProof="0" dirty="0">
                  <a:ln>
                    <a:noFill/>
                  </a:ln>
                  <a:solidFill>
                    <a:srgbClr val="000000"/>
                  </a:solidFill>
                  <a:effectLst/>
                  <a:uLnTx/>
                  <a:uFillTx/>
                  <a:cs typeface="+mn-ea"/>
                  <a:sym typeface="+mn-lt"/>
                </a:endParaRPr>
              </a:p>
            </p:txBody>
          </p:sp>
          <p:sp>
            <p:nvSpPr>
              <p:cNvPr id="74" name="lemon2-33"/>
              <p:cNvSpPr txBox="1"/>
              <p:nvPr/>
            </p:nvSpPr>
            <p:spPr>
              <a:xfrm>
                <a:off x="335984" y="3742202"/>
                <a:ext cx="207986"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050" b="0" i="0" u="none" strike="noStrike" kern="1200" cap="none" spc="0" normalizeH="0" baseline="0" noProof="0" dirty="0">
                    <a:ln>
                      <a:noFill/>
                    </a:ln>
                    <a:solidFill>
                      <a:srgbClr val="000000"/>
                    </a:solidFill>
                    <a:effectLst/>
                    <a:uLnTx/>
                    <a:uFillTx/>
                    <a:cs typeface="+mn-ea"/>
                    <a:sym typeface="+mn-lt"/>
                  </a:rPr>
                  <a:t>0</a:t>
                </a:r>
                <a:endParaRPr kumimoji="1" lang="zh-CN" altLang="en-US" sz="1050" b="0" i="0" u="none" strike="noStrike" kern="1200" cap="none" spc="0" normalizeH="0" baseline="0" noProof="0" dirty="0">
                  <a:ln>
                    <a:noFill/>
                  </a:ln>
                  <a:solidFill>
                    <a:srgbClr val="000000"/>
                  </a:solidFill>
                  <a:effectLst/>
                  <a:uLnTx/>
                  <a:uFillTx/>
                  <a:cs typeface="+mn-ea"/>
                  <a:sym typeface="+mn-lt"/>
                </a:endParaRPr>
              </a:p>
            </p:txBody>
          </p:sp>
          <p:sp>
            <p:nvSpPr>
              <p:cNvPr id="75" name="lemon2-34"/>
              <p:cNvSpPr txBox="1"/>
              <p:nvPr/>
            </p:nvSpPr>
            <p:spPr>
              <a:xfrm>
                <a:off x="335984" y="3006407"/>
                <a:ext cx="207986"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050" b="0" i="0" u="none" strike="noStrike" kern="1200" cap="none" spc="0" normalizeH="0" baseline="0" noProof="0" dirty="0">
                    <a:ln>
                      <a:noFill/>
                    </a:ln>
                    <a:solidFill>
                      <a:srgbClr val="000000"/>
                    </a:solidFill>
                    <a:effectLst/>
                    <a:uLnTx/>
                    <a:uFillTx/>
                    <a:cs typeface="+mn-ea"/>
                    <a:sym typeface="+mn-lt"/>
                  </a:rPr>
                  <a:t>2</a:t>
                </a:r>
                <a:endParaRPr kumimoji="1" lang="zh-CN" altLang="en-US" sz="1050" b="0" i="0" u="none" strike="noStrike" kern="1200" cap="none" spc="0" normalizeH="0" baseline="0" noProof="0" dirty="0">
                  <a:ln>
                    <a:noFill/>
                  </a:ln>
                  <a:solidFill>
                    <a:srgbClr val="000000"/>
                  </a:solidFill>
                  <a:effectLst/>
                  <a:uLnTx/>
                  <a:uFillTx/>
                  <a:cs typeface="+mn-ea"/>
                  <a:sym typeface="+mn-lt"/>
                </a:endParaRPr>
              </a:p>
            </p:txBody>
          </p:sp>
          <p:sp>
            <p:nvSpPr>
              <p:cNvPr id="76" name="lemon2-35"/>
              <p:cNvSpPr txBox="1"/>
              <p:nvPr/>
            </p:nvSpPr>
            <p:spPr>
              <a:xfrm>
                <a:off x="335984" y="2301434"/>
                <a:ext cx="207986"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050" b="0" i="0" u="none" strike="noStrike" kern="1200" cap="none" spc="0" normalizeH="0" baseline="0" noProof="0" dirty="0">
                    <a:ln>
                      <a:noFill/>
                    </a:ln>
                    <a:solidFill>
                      <a:srgbClr val="000000"/>
                    </a:solidFill>
                    <a:effectLst/>
                    <a:uLnTx/>
                    <a:uFillTx/>
                    <a:cs typeface="+mn-ea"/>
                    <a:sym typeface="+mn-lt"/>
                  </a:rPr>
                  <a:t>4</a:t>
                </a:r>
                <a:endParaRPr kumimoji="1" lang="zh-CN" altLang="en-US" sz="1050" b="0" i="0" u="none" strike="noStrike" kern="1200" cap="none" spc="0" normalizeH="0" baseline="0" noProof="0" dirty="0">
                  <a:ln>
                    <a:noFill/>
                  </a:ln>
                  <a:solidFill>
                    <a:srgbClr val="000000"/>
                  </a:solidFill>
                  <a:effectLst/>
                  <a:uLnTx/>
                  <a:uFillTx/>
                  <a:cs typeface="+mn-ea"/>
                  <a:sym typeface="+mn-lt"/>
                </a:endParaRPr>
              </a:p>
            </p:txBody>
          </p:sp>
          <p:sp>
            <p:nvSpPr>
              <p:cNvPr id="77" name="lemon2-36"/>
              <p:cNvSpPr txBox="1"/>
              <p:nvPr/>
            </p:nvSpPr>
            <p:spPr>
              <a:xfrm>
                <a:off x="335984" y="1565639"/>
                <a:ext cx="207986"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050" b="0" i="0" u="none" strike="noStrike" kern="1200" cap="none" spc="0" normalizeH="0" baseline="0" noProof="0" dirty="0">
                    <a:ln>
                      <a:noFill/>
                    </a:ln>
                    <a:solidFill>
                      <a:srgbClr val="000000"/>
                    </a:solidFill>
                    <a:effectLst/>
                    <a:uLnTx/>
                    <a:uFillTx/>
                    <a:cs typeface="+mn-ea"/>
                    <a:sym typeface="+mn-lt"/>
                  </a:rPr>
                  <a:t>6</a:t>
                </a:r>
                <a:endParaRPr kumimoji="1" lang="zh-CN" altLang="en-US" sz="1050" b="0" i="0" u="none" strike="noStrike" kern="1200" cap="none" spc="0" normalizeH="0" baseline="0" noProof="0" dirty="0">
                  <a:ln>
                    <a:noFill/>
                  </a:ln>
                  <a:solidFill>
                    <a:srgbClr val="000000"/>
                  </a:solidFill>
                  <a:effectLst/>
                  <a:uLnTx/>
                  <a:uFillTx/>
                  <a:cs typeface="+mn-ea"/>
                  <a:sym typeface="+mn-lt"/>
                </a:endParaRPr>
              </a:p>
            </p:txBody>
          </p:sp>
        </p:grpSp>
        <p:sp>
          <p:nvSpPr>
            <p:cNvPr id="79" name="lemon2-37"/>
            <p:cNvSpPr txBox="1"/>
            <p:nvPr/>
          </p:nvSpPr>
          <p:spPr>
            <a:xfrm>
              <a:off x="492199" y="1075048"/>
              <a:ext cx="3728533" cy="276999"/>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dirty="0" err="1">
                  <a:ln>
                    <a:noFill/>
                  </a:ln>
                  <a:solidFill>
                    <a:srgbClr val="000000"/>
                  </a:solidFill>
                  <a:effectLst/>
                  <a:uLnTx/>
                  <a:uFillTx/>
                  <a:cs typeface="+mn-ea"/>
                  <a:sym typeface="+mn-lt"/>
                </a:rPr>
                <a:t>麦肯锡</a:t>
              </a:r>
              <a:r>
                <a:rPr kumimoji="0" lang="zh-CN" altLang="en-US" sz="1200" b="0" i="0" u="none" strike="noStrike" kern="1200" cap="none" spc="0" normalizeH="0" baseline="0" noProof="0" dirty="0">
                  <a:ln>
                    <a:noFill/>
                  </a:ln>
                  <a:solidFill>
                    <a:srgbClr val="000000"/>
                  </a:solidFill>
                  <a:effectLst/>
                  <a:uLnTx/>
                  <a:uFillTx/>
                  <a:cs typeface="+mn-ea"/>
                  <a:sym typeface="+mn-lt"/>
                </a:rPr>
                <a:t>图表：</a:t>
              </a:r>
              <a:r>
                <a:rPr kumimoji="0" lang="en-US" altLang="zh-CN" sz="1200" b="0" i="0" u="none" strike="noStrike" kern="1200" cap="none" spc="0" normalizeH="0" baseline="0" noProof="0" dirty="0">
                  <a:ln>
                    <a:noFill/>
                  </a:ln>
                  <a:solidFill>
                    <a:srgbClr val="000000"/>
                  </a:solidFill>
                  <a:effectLst/>
                  <a:uLnTx/>
                  <a:uFillTx/>
                  <a:cs typeface="+mn-ea"/>
                  <a:sym typeface="+mn-lt"/>
                </a:rPr>
                <a:t>2010</a:t>
              </a:r>
              <a:r>
                <a:rPr kumimoji="0" lang="zh-CN" altLang="en-US" sz="1200" b="0" i="0" u="none" strike="noStrike" kern="1200" cap="none" spc="0" normalizeH="0" baseline="0" noProof="0" dirty="0">
                  <a:ln>
                    <a:noFill/>
                  </a:ln>
                  <a:solidFill>
                    <a:srgbClr val="000000"/>
                  </a:solidFill>
                  <a:effectLst/>
                  <a:uLnTx/>
                  <a:uFillTx/>
                  <a:cs typeface="+mn-ea"/>
                  <a:sym typeface="+mn-lt"/>
                </a:rPr>
                <a:t>年电商行业增量示意图 </a:t>
              </a:r>
              <a:r>
                <a:rPr kumimoji="0" lang="en-US" altLang="zh-CN" sz="1200" b="0" i="0" u="none" strike="noStrike" kern="1200" cap="none" spc="0" normalizeH="0" baseline="0" noProof="0" dirty="0">
                  <a:ln>
                    <a:noFill/>
                  </a:ln>
                  <a:solidFill>
                    <a:srgbClr val="000000"/>
                  </a:solidFill>
                  <a:effectLst/>
                  <a:uLnTx/>
                  <a:uFillTx/>
                  <a:cs typeface="+mn-ea"/>
                  <a:sym typeface="+mn-lt"/>
                </a:rPr>
                <a:t>%growth</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80" name="lemon2-38"/>
            <p:cNvSpPr/>
            <p:nvPr/>
          </p:nvSpPr>
          <p:spPr>
            <a:xfrm>
              <a:off x="4123656" y="1151907"/>
              <a:ext cx="265401" cy="13787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81" name="lemon2-39"/>
            <p:cNvSpPr/>
            <p:nvPr/>
          </p:nvSpPr>
          <p:spPr>
            <a:xfrm>
              <a:off x="5034689" y="1149461"/>
              <a:ext cx="265401" cy="13787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82" name="lemon2-40"/>
            <p:cNvSpPr txBox="1"/>
            <p:nvPr/>
          </p:nvSpPr>
          <p:spPr>
            <a:xfrm>
              <a:off x="4353432" y="1093457"/>
              <a:ext cx="669831" cy="253916"/>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050" b="0" i="0" u="none" strike="noStrike" kern="1200" cap="none" spc="0" normalizeH="0" baseline="0" noProof="0" dirty="0">
                  <a:ln>
                    <a:noFill/>
                  </a:ln>
                  <a:solidFill>
                    <a:srgbClr val="000000"/>
                  </a:solidFill>
                  <a:effectLst/>
                  <a:uLnTx/>
                  <a:uFillTx/>
                  <a:cs typeface="+mn-ea"/>
                  <a:sym typeface="+mn-lt"/>
                </a:rPr>
                <a:t>35-50%</a:t>
              </a:r>
              <a:endParaRPr kumimoji="0" lang="en-US" sz="1050" b="0" i="0" u="none" strike="noStrike" kern="1200" cap="none" spc="0" normalizeH="0" baseline="0" noProof="0" dirty="0">
                <a:ln>
                  <a:noFill/>
                </a:ln>
                <a:solidFill>
                  <a:srgbClr val="000000"/>
                </a:solidFill>
                <a:effectLst/>
                <a:uLnTx/>
                <a:uFillTx/>
                <a:cs typeface="+mn-ea"/>
                <a:sym typeface="+mn-lt"/>
              </a:endParaRPr>
            </a:p>
          </p:txBody>
        </p:sp>
        <p:sp>
          <p:nvSpPr>
            <p:cNvPr id="84" name="lemon2-41"/>
            <p:cNvSpPr txBox="1"/>
            <p:nvPr/>
          </p:nvSpPr>
          <p:spPr>
            <a:xfrm>
              <a:off x="5252589" y="1093457"/>
              <a:ext cx="790167" cy="253916"/>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050" b="0" i="0" u="none" strike="noStrike" kern="1200" cap="none" spc="0" normalizeH="0" baseline="0" noProof="0" dirty="0">
                  <a:ln>
                    <a:noFill/>
                  </a:ln>
                  <a:solidFill>
                    <a:srgbClr val="000000"/>
                  </a:solidFill>
                  <a:effectLst/>
                  <a:uLnTx/>
                  <a:uFillTx/>
                  <a:cs typeface="+mn-ea"/>
                  <a:sym typeface="+mn-lt"/>
                </a:rPr>
                <a:t>15-20%</a:t>
              </a:r>
              <a:endParaRPr kumimoji="0" lang="en-US" sz="1050" b="0" i="0" u="none" strike="noStrike" kern="1200" cap="none" spc="0" normalizeH="0" baseline="0" noProof="0" dirty="0">
                <a:ln>
                  <a:noFill/>
                </a:ln>
                <a:solidFill>
                  <a:srgbClr val="000000"/>
                </a:solidFill>
                <a:effectLst/>
                <a:uLnTx/>
                <a:uFillTx/>
                <a:cs typeface="+mn-ea"/>
                <a:sym typeface="+mn-lt"/>
              </a:endParaRPr>
            </a:p>
          </p:txBody>
        </p:sp>
        <p:sp>
          <p:nvSpPr>
            <p:cNvPr id="85" name="lemon2-42"/>
            <p:cNvSpPr/>
            <p:nvPr/>
          </p:nvSpPr>
          <p:spPr>
            <a:xfrm>
              <a:off x="5921569" y="1156487"/>
              <a:ext cx="265401" cy="13787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86" name="lemon2-43"/>
            <p:cNvSpPr txBox="1"/>
            <p:nvPr/>
          </p:nvSpPr>
          <p:spPr>
            <a:xfrm>
              <a:off x="6155118" y="1093457"/>
              <a:ext cx="790167" cy="253916"/>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sz="1050" b="0" i="0" u="none" strike="noStrike" kern="1200" cap="none" spc="0" normalizeH="0" baseline="0" noProof="0" dirty="0">
                  <a:ln>
                    <a:noFill/>
                  </a:ln>
                  <a:solidFill>
                    <a:srgbClr val="000000"/>
                  </a:solidFill>
                  <a:effectLst/>
                  <a:uLnTx/>
                  <a:uFillTx/>
                  <a:cs typeface="+mn-ea"/>
                  <a:sym typeface="+mn-lt"/>
                </a:rPr>
                <a:t>&lt;10%</a:t>
              </a:r>
            </a:p>
          </p:txBody>
        </p:sp>
      </p:grpSp>
      <p:sp>
        <p:nvSpPr>
          <p:cNvPr id="128" name="lemon3"/>
          <p:cNvSpPr/>
          <p:nvPr/>
        </p:nvSpPr>
        <p:spPr>
          <a:xfrm>
            <a:off x="7067502" y="1124300"/>
            <a:ext cx="4706645" cy="735012"/>
          </a:xfrm>
          <a:prstGeom prst="roundRect">
            <a:avLst>
              <a:gd name="adj" fmla="val 0"/>
            </a:avLst>
          </a:prstGeom>
          <a:solidFill>
            <a:schemeClr val="accent1"/>
          </a:solidFill>
          <a:ln>
            <a:noFill/>
          </a:ln>
          <a:effectLst>
            <a:outerShdw blurRad="2540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ID" sz="1800" b="0" i="0" u="none" strike="noStrike" kern="1200" cap="none" spc="0" normalizeH="0" baseline="0" noProof="0" dirty="0">
              <a:ln>
                <a:noFill/>
              </a:ln>
              <a:solidFill>
                <a:srgbClr val="FFFFFF"/>
              </a:solidFill>
              <a:effectLst/>
              <a:uLnTx/>
              <a:uFillTx/>
              <a:cs typeface="+mn-ea"/>
              <a:sym typeface="+mn-lt"/>
            </a:endParaRPr>
          </a:p>
        </p:txBody>
      </p:sp>
      <p:sp>
        <p:nvSpPr>
          <p:cNvPr id="129" name="lemon4"/>
          <p:cNvSpPr txBox="1"/>
          <p:nvPr/>
        </p:nvSpPr>
        <p:spPr>
          <a:xfrm>
            <a:off x="6826212" y="1287331"/>
            <a:ext cx="5225400" cy="40011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FFFFFF"/>
                </a:solidFill>
                <a:effectLst/>
                <a:uLnTx/>
                <a:uFillTx/>
                <a:cs typeface="+mn-ea"/>
                <a:sym typeface="+mn-lt"/>
              </a:rPr>
              <a:t>2023</a:t>
            </a:r>
            <a:r>
              <a:rPr kumimoji="0" lang="zh-CN" altLang="en-US" sz="2000" b="1" i="0" u="none" strike="noStrike" kern="1200" cap="none" spc="0" normalizeH="0" baseline="0" noProof="0" dirty="0">
                <a:ln>
                  <a:noFill/>
                </a:ln>
                <a:solidFill>
                  <a:srgbClr val="FFFFFF"/>
                </a:solidFill>
                <a:effectLst/>
                <a:uLnTx/>
                <a:uFillTx/>
                <a:cs typeface="+mn-ea"/>
                <a:sym typeface="+mn-lt"/>
              </a:rPr>
              <a:t>年</a:t>
            </a:r>
            <a:r>
              <a:rPr kumimoji="0" lang="en-US" altLang="zh-CN" sz="2000" b="1" i="0" u="none" strike="noStrike" kern="1200" cap="none" spc="0" normalizeH="0" baseline="0" noProof="0" dirty="0">
                <a:ln>
                  <a:noFill/>
                </a:ln>
                <a:solidFill>
                  <a:srgbClr val="FFFFFF"/>
                </a:solidFill>
                <a:effectLst/>
                <a:uLnTx/>
                <a:uFillTx/>
                <a:cs typeface="+mn-ea"/>
                <a:sym typeface="+mn-lt"/>
              </a:rPr>
              <a:t>xx</a:t>
            </a:r>
            <a:r>
              <a:rPr kumimoji="0" lang="zh-CN" altLang="en-US" sz="2000" b="1" i="0" u="none" strike="noStrike" kern="1200" cap="none" spc="0" normalizeH="0" baseline="0" noProof="0" dirty="0">
                <a:ln>
                  <a:noFill/>
                </a:ln>
                <a:solidFill>
                  <a:srgbClr val="FFFFFF"/>
                </a:solidFill>
                <a:effectLst/>
                <a:uLnTx/>
                <a:uFillTx/>
                <a:cs typeface="+mn-ea"/>
                <a:sym typeface="+mn-lt"/>
              </a:rPr>
              <a:t>电商平台销量实现重大突破</a:t>
            </a:r>
            <a:endParaRPr kumimoji="0" lang="en-US" sz="2000" b="1" i="0" u="none" strike="noStrike" kern="1200" cap="none" spc="0" normalizeH="0" baseline="0" noProof="0" dirty="0">
              <a:ln>
                <a:noFill/>
              </a:ln>
              <a:solidFill>
                <a:srgbClr val="FFFFFF"/>
              </a:solidFill>
              <a:effectLst/>
              <a:uLnTx/>
              <a:uFillTx/>
              <a:cs typeface="+mn-ea"/>
              <a:sym typeface="+mn-lt"/>
            </a:endParaRPr>
          </a:p>
        </p:txBody>
      </p:sp>
      <p:sp>
        <p:nvSpPr>
          <p:cNvPr id="130" name="lemon5"/>
          <p:cNvSpPr/>
          <p:nvPr/>
        </p:nvSpPr>
        <p:spPr>
          <a:xfrm>
            <a:off x="7067501" y="1972116"/>
            <a:ext cx="1446212" cy="1427162"/>
          </a:xfrm>
          <a:prstGeom prst="roundRect">
            <a:avLst>
              <a:gd name="adj" fmla="val 0"/>
            </a:avLst>
          </a:prstGeom>
          <a:solidFill>
            <a:schemeClr val="accent1">
              <a:lumMod val="20000"/>
              <a:lumOff val="80000"/>
              <a:alpha val="15079"/>
            </a:schemeClr>
          </a:solidFill>
          <a:ln w="1270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ID" sz="1800" b="0" i="0" u="none" strike="noStrike" kern="1200" cap="none" spc="0" normalizeH="0" baseline="0" noProof="0" dirty="0">
              <a:ln>
                <a:noFill/>
              </a:ln>
              <a:solidFill>
                <a:srgbClr val="FFFFFF"/>
              </a:solidFill>
              <a:effectLst/>
              <a:uLnTx/>
              <a:uFillTx/>
              <a:cs typeface="+mn-ea"/>
              <a:sym typeface="+mn-lt"/>
            </a:endParaRPr>
          </a:p>
        </p:txBody>
      </p:sp>
      <p:sp>
        <p:nvSpPr>
          <p:cNvPr id="131" name="lemon6"/>
          <p:cNvSpPr txBox="1">
            <a:spLocks noChangeArrowheads="1"/>
          </p:cNvSpPr>
          <p:nvPr/>
        </p:nvSpPr>
        <p:spPr bwMode="auto">
          <a:xfrm>
            <a:off x="7069724" y="2930627"/>
            <a:ext cx="133826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marL="0" marR="0" lvl="0" indent="0" algn="ctr" defTabSz="457200" rtl="0" eaLnBrk="1" fontAlgn="auto" latinLnBrk="0" hangingPunct="1">
              <a:lnSpc>
                <a:spcPct val="100000"/>
              </a:lnSpc>
              <a:spcBef>
                <a:spcPct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latin typeface="+mn-lt"/>
                <a:ea typeface="+mn-ea"/>
                <a:cs typeface="+mn-ea"/>
                <a:sym typeface="+mn-lt"/>
              </a:rPr>
              <a:t>销量增长</a:t>
            </a:r>
            <a:endParaRPr kumimoji="0" lang="en-ID" altLang="zh-CN" sz="1400" b="0" i="0" u="none" strike="noStrike" kern="1200" cap="none" spc="0" normalizeH="0" baseline="0" noProof="0" dirty="0">
              <a:ln>
                <a:noFill/>
              </a:ln>
              <a:solidFill>
                <a:srgbClr val="00329D"/>
              </a:solidFill>
              <a:effectLst/>
              <a:uLnTx/>
              <a:uFillTx/>
              <a:latin typeface="+mn-lt"/>
              <a:ea typeface="+mn-ea"/>
              <a:cs typeface="+mn-ea"/>
              <a:sym typeface="+mn-lt"/>
            </a:endParaRPr>
          </a:p>
        </p:txBody>
      </p:sp>
      <p:sp>
        <p:nvSpPr>
          <p:cNvPr id="132" name="lemon7"/>
          <p:cNvSpPr/>
          <p:nvPr/>
        </p:nvSpPr>
        <p:spPr>
          <a:xfrm>
            <a:off x="8693101" y="1972116"/>
            <a:ext cx="1446212" cy="1427162"/>
          </a:xfrm>
          <a:prstGeom prst="roundRect">
            <a:avLst>
              <a:gd name="adj" fmla="val 0"/>
            </a:avLst>
          </a:prstGeom>
          <a:solidFill>
            <a:schemeClr val="accent1">
              <a:lumMod val="20000"/>
              <a:lumOff val="80000"/>
              <a:alpha val="15079"/>
            </a:schemeClr>
          </a:solidFill>
          <a:ln w="1270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ID" sz="1800" b="0" i="0" u="none" strike="noStrike" kern="1200" cap="none" spc="0" normalizeH="0" baseline="0" noProof="0" dirty="0">
              <a:ln>
                <a:noFill/>
              </a:ln>
              <a:solidFill>
                <a:srgbClr val="FFFFFF"/>
              </a:solidFill>
              <a:effectLst/>
              <a:uLnTx/>
              <a:uFillTx/>
              <a:cs typeface="+mn-ea"/>
              <a:sym typeface="+mn-lt"/>
            </a:endParaRPr>
          </a:p>
        </p:txBody>
      </p:sp>
      <p:sp>
        <p:nvSpPr>
          <p:cNvPr id="133" name="lemon8"/>
          <p:cNvSpPr txBox="1">
            <a:spLocks noChangeArrowheads="1"/>
          </p:cNvSpPr>
          <p:nvPr/>
        </p:nvSpPr>
        <p:spPr bwMode="auto">
          <a:xfrm>
            <a:off x="8765254" y="2915112"/>
            <a:ext cx="13398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marL="0" marR="0" lvl="0" indent="0" algn="ctr" defTabSz="457200" rtl="0" eaLnBrk="1" fontAlgn="auto" latinLnBrk="0" hangingPunct="1">
              <a:lnSpc>
                <a:spcPct val="100000"/>
              </a:lnSpc>
              <a:spcBef>
                <a:spcPct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latin typeface="+mn-lt"/>
                <a:ea typeface="+mn-ea"/>
                <a:cs typeface="+mn-ea"/>
                <a:sym typeface="+mn-lt"/>
              </a:rPr>
              <a:t>营收增长</a:t>
            </a:r>
            <a:endParaRPr kumimoji="0" lang="en-ID" altLang="zh-CN" sz="1400" b="0" i="0" u="none" strike="noStrike" kern="1200" cap="none" spc="0" normalizeH="0" baseline="0" noProof="0" dirty="0">
              <a:ln>
                <a:noFill/>
              </a:ln>
              <a:solidFill>
                <a:srgbClr val="00329D"/>
              </a:solidFill>
              <a:effectLst/>
              <a:uLnTx/>
              <a:uFillTx/>
              <a:latin typeface="+mn-lt"/>
              <a:ea typeface="+mn-ea"/>
              <a:cs typeface="+mn-ea"/>
              <a:sym typeface="+mn-lt"/>
            </a:endParaRPr>
          </a:p>
        </p:txBody>
      </p:sp>
      <p:sp>
        <p:nvSpPr>
          <p:cNvPr id="139" name="lemon9"/>
          <p:cNvSpPr/>
          <p:nvPr/>
        </p:nvSpPr>
        <p:spPr>
          <a:xfrm>
            <a:off x="10320581" y="1980830"/>
            <a:ext cx="1446212" cy="1427162"/>
          </a:xfrm>
          <a:prstGeom prst="roundRect">
            <a:avLst>
              <a:gd name="adj" fmla="val 0"/>
            </a:avLst>
          </a:prstGeom>
          <a:solidFill>
            <a:schemeClr val="accent1">
              <a:lumMod val="20000"/>
              <a:lumOff val="80000"/>
              <a:alpha val="15079"/>
            </a:schemeClr>
          </a:solidFill>
          <a:ln w="1270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ID" sz="1800" b="0" i="0" u="none" strike="noStrike" kern="1200" cap="none" spc="0" normalizeH="0" baseline="0" noProof="0" dirty="0">
              <a:ln>
                <a:noFill/>
              </a:ln>
              <a:solidFill>
                <a:srgbClr val="FFFFFF"/>
              </a:solidFill>
              <a:effectLst/>
              <a:uLnTx/>
              <a:uFillTx/>
              <a:cs typeface="+mn-ea"/>
              <a:sym typeface="+mn-lt"/>
            </a:endParaRPr>
          </a:p>
        </p:txBody>
      </p:sp>
      <p:sp>
        <p:nvSpPr>
          <p:cNvPr id="140" name="lemon10"/>
          <p:cNvSpPr txBox="1">
            <a:spLocks noChangeArrowheads="1"/>
          </p:cNvSpPr>
          <p:nvPr/>
        </p:nvSpPr>
        <p:spPr bwMode="auto">
          <a:xfrm>
            <a:off x="10402533" y="2925622"/>
            <a:ext cx="13398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marL="0" marR="0" lvl="0" indent="0" algn="ctr" defTabSz="457200" rtl="0" eaLnBrk="1" fontAlgn="auto" latinLnBrk="0" hangingPunct="1">
              <a:lnSpc>
                <a:spcPct val="100000"/>
              </a:lnSpc>
              <a:spcBef>
                <a:spcPct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latin typeface="+mn-lt"/>
                <a:ea typeface="+mn-ea"/>
                <a:cs typeface="+mn-ea"/>
                <a:sym typeface="+mn-lt"/>
              </a:rPr>
              <a:t>利润增长</a:t>
            </a:r>
            <a:endParaRPr kumimoji="0" lang="en-ID" altLang="zh-CN" sz="1400" b="0" i="0" u="none" strike="noStrike" kern="1200" cap="none" spc="0" normalizeH="0" baseline="0" noProof="0" dirty="0">
              <a:ln>
                <a:noFill/>
              </a:ln>
              <a:solidFill>
                <a:srgbClr val="00329D"/>
              </a:solidFill>
              <a:effectLst/>
              <a:uLnTx/>
              <a:uFillTx/>
              <a:latin typeface="+mn-lt"/>
              <a:ea typeface="+mn-ea"/>
              <a:cs typeface="+mn-ea"/>
              <a:sym typeface="+mn-lt"/>
            </a:endParaRPr>
          </a:p>
        </p:txBody>
      </p:sp>
      <p:sp>
        <p:nvSpPr>
          <p:cNvPr id="141" name="lemon11"/>
          <p:cNvSpPr txBox="1"/>
          <p:nvPr/>
        </p:nvSpPr>
        <p:spPr>
          <a:xfrm>
            <a:off x="7257535" y="2239878"/>
            <a:ext cx="1150452"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3600" b="1" i="0" u="none" strike="noStrike" kern="1200" cap="none" spc="0" normalizeH="0" baseline="0" noProof="0" dirty="0">
                <a:ln>
                  <a:noFill/>
                </a:ln>
                <a:solidFill>
                  <a:srgbClr val="00329D"/>
                </a:solidFill>
                <a:effectLst/>
                <a:uLnTx/>
                <a:uFillTx/>
                <a:cs typeface="+mn-ea"/>
                <a:sym typeface="+mn-lt"/>
              </a:rPr>
              <a:t>68%</a:t>
            </a:r>
            <a:endParaRPr kumimoji="1" lang="zh-CN" altLang="en-US" sz="3600" b="1" i="0" u="none" strike="noStrike" kern="1200" cap="none" spc="0" normalizeH="0" baseline="0" noProof="0" dirty="0">
              <a:ln>
                <a:noFill/>
              </a:ln>
              <a:solidFill>
                <a:srgbClr val="00329D"/>
              </a:solidFill>
              <a:effectLst/>
              <a:uLnTx/>
              <a:uFillTx/>
              <a:cs typeface="+mn-ea"/>
              <a:sym typeface="+mn-lt"/>
            </a:endParaRPr>
          </a:p>
        </p:txBody>
      </p:sp>
      <p:sp>
        <p:nvSpPr>
          <p:cNvPr id="142" name="lemon12"/>
          <p:cNvSpPr txBox="1"/>
          <p:nvPr/>
        </p:nvSpPr>
        <p:spPr>
          <a:xfrm>
            <a:off x="8913465" y="2235797"/>
            <a:ext cx="1150452"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3600" b="1" i="0" u="none" strike="noStrike" kern="1200" cap="none" spc="0" normalizeH="0" baseline="0" noProof="0" dirty="0">
                <a:ln>
                  <a:noFill/>
                </a:ln>
                <a:solidFill>
                  <a:srgbClr val="00329D"/>
                </a:solidFill>
                <a:effectLst/>
                <a:uLnTx/>
                <a:uFillTx/>
                <a:cs typeface="+mn-ea"/>
                <a:sym typeface="+mn-lt"/>
              </a:rPr>
              <a:t>58%</a:t>
            </a:r>
            <a:endParaRPr kumimoji="1" lang="zh-CN" altLang="en-US" sz="3600" b="1" i="0" u="none" strike="noStrike" kern="1200" cap="none" spc="0" normalizeH="0" baseline="0" noProof="0" dirty="0">
              <a:ln>
                <a:noFill/>
              </a:ln>
              <a:solidFill>
                <a:srgbClr val="00329D"/>
              </a:solidFill>
              <a:effectLst/>
              <a:uLnTx/>
              <a:uFillTx/>
              <a:cs typeface="+mn-ea"/>
              <a:sym typeface="+mn-lt"/>
            </a:endParaRPr>
          </a:p>
        </p:txBody>
      </p:sp>
      <p:sp>
        <p:nvSpPr>
          <p:cNvPr id="143" name="lemon13"/>
          <p:cNvSpPr txBox="1"/>
          <p:nvPr/>
        </p:nvSpPr>
        <p:spPr>
          <a:xfrm>
            <a:off x="10566522" y="2235796"/>
            <a:ext cx="1150452"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3600" b="1" i="0" u="none" strike="noStrike" kern="1200" cap="none" spc="0" normalizeH="0" baseline="0" noProof="0" dirty="0">
                <a:ln>
                  <a:noFill/>
                </a:ln>
                <a:solidFill>
                  <a:srgbClr val="00329D"/>
                </a:solidFill>
                <a:effectLst/>
                <a:uLnTx/>
                <a:uFillTx/>
                <a:cs typeface="+mn-ea"/>
                <a:sym typeface="+mn-lt"/>
              </a:rPr>
              <a:t>88%</a:t>
            </a:r>
            <a:endParaRPr kumimoji="1" lang="zh-CN" altLang="en-US" sz="3600" b="1" i="0" u="none" strike="noStrike" kern="1200" cap="none" spc="0" normalizeH="0" baseline="0" noProof="0" dirty="0">
              <a:ln>
                <a:noFill/>
              </a:ln>
              <a:solidFill>
                <a:srgbClr val="00329D"/>
              </a:solidFill>
              <a:effectLst/>
              <a:uLnTx/>
              <a:uFillTx/>
              <a:cs typeface="+mn-ea"/>
              <a:sym typeface="+mn-lt"/>
            </a:endParaRPr>
          </a:p>
        </p:txBody>
      </p:sp>
      <p:sp>
        <p:nvSpPr>
          <p:cNvPr id="144" name="lemon14"/>
          <p:cNvSpPr/>
          <p:nvPr/>
        </p:nvSpPr>
        <p:spPr bwMode="auto">
          <a:xfrm rot="3287205">
            <a:off x="2425393" y="700255"/>
            <a:ext cx="3192893" cy="2865855"/>
          </a:xfrm>
          <a:custGeom>
            <a:avLst/>
            <a:gdLst>
              <a:gd name="T0" fmla="*/ 2515 w 2802"/>
              <a:gd name="T1" fmla="*/ 351 h 2515"/>
              <a:gd name="T2" fmla="*/ 2802 w 2802"/>
              <a:gd name="T3" fmla="*/ 0 h 2515"/>
              <a:gd name="T4" fmla="*/ 2649 w 2802"/>
              <a:gd name="T5" fmla="*/ 49 h 2515"/>
              <a:gd name="T6" fmla="*/ 2649 w 2802"/>
              <a:gd name="T7" fmla="*/ 46 h 2515"/>
              <a:gd name="T8" fmla="*/ 2646 w 2802"/>
              <a:gd name="T9" fmla="*/ 49 h 2515"/>
              <a:gd name="T10" fmla="*/ 2469 w 2802"/>
              <a:gd name="T11" fmla="*/ 103 h 2515"/>
              <a:gd name="T12" fmla="*/ 2528 w 2802"/>
              <a:gd name="T13" fmla="*/ 136 h 2515"/>
              <a:gd name="T14" fmla="*/ 1073 w 2802"/>
              <a:gd name="T15" fmla="*/ 1220 h 2515"/>
              <a:gd name="T16" fmla="*/ 1073 w 2802"/>
              <a:gd name="T17" fmla="*/ 1541 h 2515"/>
              <a:gd name="T18" fmla="*/ 0 w 2802"/>
              <a:gd name="T19" fmla="*/ 2515 h 2515"/>
              <a:gd name="T20" fmla="*/ 1183 w 2802"/>
              <a:gd name="T21" fmla="*/ 1595 h 2515"/>
              <a:gd name="T22" fmla="*/ 1183 w 2802"/>
              <a:gd name="T23" fmla="*/ 1274 h 2515"/>
              <a:gd name="T24" fmla="*/ 2549 w 2802"/>
              <a:gd name="T25" fmla="*/ 256 h 2515"/>
              <a:gd name="T26" fmla="*/ 2549 w 2802"/>
              <a:gd name="T27" fmla="*/ 259 h 2515"/>
              <a:gd name="T28" fmla="*/ 2515 w 2802"/>
              <a:gd name="T29" fmla="*/ 351 h 25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02" h="2515">
                <a:moveTo>
                  <a:pt x="2515" y="351"/>
                </a:moveTo>
                <a:lnTo>
                  <a:pt x="2802" y="0"/>
                </a:lnTo>
                <a:lnTo>
                  <a:pt x="2649" y="49"/>
                </a:lnTo>
                <a:lnTo>
                  <a:pt x="2649" y="46"/>
                </a:lnTo>
                <a:lnTo>
                  <a:pt x="2646" y="49"/>
                </a:lnTo>
                <a:lnTo>
                  <a:pt x="2469" y="103"/>
                </a:lnTo>
                <a:lnTo>
                  <a:pt x="2528" y="136"/>
                </a:lnTo>
                <a:lnTo>
                  <a:pt x="1073" y="1220"/>
                </a:lnTo>
                <a:lnTo>
                  <a:pt x="1073" y="1541"/>
                </a:lnTo>
                <a:lnTo>
                  <a:pt x="0" y="2515"/>
                </a:lnTo>
                <a:lnTo>
                  <a:pt x="1183" y="1595"/>
                </a:lnTo>
                <a:lnTo>
                  <a:pt x="1183" y="1274"/>
                </a:lnTo>
                <a:lnTo>
                  <a:pt x="2549" y="256"/>
                </a:lnTo>
                <a:lnTo>
                  <a:pt x="2549" y="259"/>
                </a:lnTo>
                <a:lnTo>
                  <a:pt x="2515" y="351"/>
                </a:lnTo>
                <a:close/>
              </a:path>
            </a:pathLst>
          </a:custGeom>
          <a:solidFill>
            <a:schemeClr val="accent1"/>
          </a:solidFill>
          <a:ln w="9525">
            <a:noFill/>
            <a:round/>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80" name="lemon15"/>
          <p:cNvSpPr/>
          <p:nvPr/>
        </p:nvSpPr>
        <p:spPr>
          <a:xfrm>
            <a:off x="1341064" y="4764886"/>
            <a:ext cx="4249675" cy="1501824"/>
          </a:xfrm>
          <a:prstGeom prst="roundRect">
            <a:avLst>
              <a:gd name="adj" fmla="val 50000"/>
            </a:avLst>
          </a:prstGeom>
          <a:pattFill prst="pct50">
            <a:fgClr>
              <a:schemeClr val="accent2">
                <a:lumMod val="20000"/>
                <a:lumOff val="80000"/>
              </a:schemeClr>
            </a:fgClr>
            <a:bgClr>
              <a:schemeClr val="bg1"/>
            </a:bgClr>
          </a:patt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ID" sz="1100" b="0" i="0" u="none" strike="noStrike" kern="1200" cap="none" spc="0" normalizeH="0" baseline="0" noProof="0" dirty="0">
              <a:ln>
                <a:noFill/>
              </a:ln>
              <a:solidFill>
                <a:srgbClr val="FFFFFF"/>
              </a:solidFill>
              <a:effectLst/>
              <a:uLnTx/>
              <a:uFillTx/>
              <a:cs typeface="+mn-ea"/>
              <a:sym typeface="+mn-lt"/>
            </a:endParaRPr>
          </a:p>
        </p:txBody>
      </p:sp>
      <p:sp>
        <p:nvSpPr>
          <p:cNvPr id="181" name="lemon16"/>
          <p:cNvSpPr/>
          <p:nvPr/>
        </p:nvSpPr>
        <p:spPr>
          <a:xfrm>
            <a:off x="3236752" y="5208479"/>
            <a:ext cx="543067" cy="54306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ID" sz="1100" b="0" i="0" u="none" strike="noStrike" kern="1200" cap="none" spc="0" normalizeH="0" baseline="0" noProof="0" dirty="0">
              <a:ln>
                <a:noFill/>
              </a:ln>
              <a:solidFill>
                <a:srgbClr val="FFFFFF"/>
              </a:solidFill>
              <a:effectLst/>
              <a:uLnTx/>
              <a:uFillTx/>
              <a:cs typeface="+mn-ea"/>
              <a:sym typeface="+mn-lt"/>
            </a:endParaRPr>
          </a:p>
        </p:txBody>
      </p:sp>
      <p:cxnSp>
        <p:nvCxnSpPr>
          <p:cNvPr id="182" name="lemon17"/>
          <p:cNvCxnSpPr>
            <a:stCxn id="180" idx="0"/>
          </p:cNvCxnSpPr>
          <p:nvPr/>
        </p:nvCxnSpPr>
        <p:spPr>
          <a:xfrm>
            <a:off x="3465902" y="4764886"/>
            <a:ext cx="0" cy="1501824"/>
          </a:xfrm>
          <a:prstGeom prst="line">
            <a:avLst/>
          </a:prstGeom>
          <a:ln>
            <a:solidFill>
              <a:schemeClr val="bg1">
                <a:lumMod val="50000"/>
                <a:alpha val="18000"/>
              </a:schemeClr>
            </a:solidFill>
          </a:ln>
        </p:spPr>
        <p:style>
          <a:lnRef idx="1">
            <a:schemeClr val="accent1"/>
          </a:lnRef>
          <a:fillRef idx="0">
            <a:schemeClr val="accent1"/>
          </a:fillRef>
          <a:effectRef idx="0">
            <a:schemeClr val="accent1"/>
          </a:effectRef>
          <a:fontRef idx="minor">
            <a:schemeClr val="tx1"/>
          </a:fontRef>
        </p:style>
      </p:cxnSp>
      <p:sp>
        <p:nvSpPr>
          <p:cNvPr id="183" name="lemon18"/>
          <p:cNvSpPr txBox="1"/>
          <p:nvPr/>
        </p:nvSpPr>
        <p:spPr>
          <a:xfrm>
            <a:off x="3162935" y="5208270"/>
            <a:ext cx="694690" cy="586740"/>
          </a:xfrm>
          <a:prstGeom prst="rect">
            <a:avLst/>
          </a:prstGeom>
          <a:noFill/>
        </p:spPr>
        <p:txBody>
          <a:bodyPr wrap="square" rtlCol="0" anchor="b">
            <a:noAutofit/>
          </a:bodyPr>
          <a:lstStyle/>
          <a:p>
            <a:pPr marL="0" marR="0" lvl="0" indent="0" algn="ctr" defTabSz="457200" rtl="0" eaLnBrk="1" fontAlgn="auto" latinLnBrk="0" hangingPunct="1">
              <a:lnSpc>
                <a:spcPts val="9400"/>
              </a:lnSpc>
              <a:spcBef>
                <a:spcPts val="0"/>
              </a:spcBef>
              <a:spcAft>
                <a:spcPts val="0"/>
              </a:spcAft>
              <a:buClrTx/>
              <a:buSzTx/>
              <a:buFontTx/>
              <a:buNone/>
              <a:defRPr/>
            </a:pPr>
            <a:r>
              <a:rPr kumimoji="0" lang="en-US" sz="1400" b="1" i="0" u="none" strike="noStrike" kern="1200" cap="none" spc="0" normalizeH="0" baseline="0" noProof="0" dirty="0" err="1">
                <a:ln>
                  <a:noFill/>
                </a:ln>
                <a:solidFill>
                  <a:srgbClr val="FFFFFF"/>
                </a:solidFill>
                <a:effectLst/>
                <a:uLnTx/>
                <a:uFillTx/>
                <a:cs typeface="+mn-ea"/>
                <a:sym typeface="+mn-lt"/>
              </a:rPr>
              <a:t>结合</a:t>
            </a:r>
            <a:endParaRPr kumimoji="0" lang="en-US" sz="1400" b="1" i="0" u="none" strike="noStrike" kern="1200" cap="none" spc="0" normalizeH="0" baseline="0" noProof="0" dirty="0">
              <a:ln>
                <a:noFill/>
              </a:ln>
              <a:solidFill>
                <a:srgbClr val="FFFFFF"/>
              </a:solidFill>
              <a:effectLst/>
              <a:uLnTx/>
              <a:uFillTx/>
              <a:cs typeface="+mn-ea"/>
              <a:sym typeface="+mn-lt"/>
            </a:endParaRPr>
          </a:p>
        </p:txBody>
      </p:sp>
      <p:sp>
        <p:nvSpPr>
          <p:cNvPr id="185" name="lemon19"/>
          <p:cNvSpPr/>
          <p:nvPr/>
        </p:nvSpPr>
        <p:spPr>
          <a:xfrm>
            <a:off x="5702144" y="5236989"/>
            <a:ext cx="511532" cy="511532"/>
          </a:xfrm>
          <a:prstGeom prst="ellipse">
            <a:avLst/>
          </a:prstGeom>
          <a:solidFill>
            <a:schemeClr val="accent1"/>
          </a:solidFill>
          <a:ln w="12700">
            <a:miter lim="400000"/>
          </a:ln>
        </p:spPr>
        <p:txBody>
          <a:bodyPr lIns="0" tIns="0" rIns="0" bIns="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100" b="0" i="0" u="none" strike="noStrike" kern="1200" cap="none" spc="0" normalizeH="0" baseline="0" noProof="0" dirty="0">
              <a:ln>
                <a:noFill/>
              </a:ln>
              <a:solidFill>
                <a:srgbClr val="000000"/>
              </a:solidFill>
              <a:effectLst/>
              <a:uLnTx/>
              <a:uFillTx/>
              <a:cs typeface="+mn-ea"/>
              <a:sym typeface="+mn-lt"/>
            </a:endParaRPr>
          </a:p>
        </p:txBody>
      </p:sp>
      <p:sp>
        <p:nvSpPr>
          <p:cNvPr id="186" name="lemon20"/>
          <p:cNvSpPr/>
          <p:nvPr/>
        </p:nvSpPr>
        <p:spPr>
          <a:xfrm rot="10800000">
            <a:off x="5837023" y="5386204"/>
            <a:ext cx="246313" cy="209716"/>
          </a:xfrm>
          <a:custGeom>
            <a:avLst/>
            <a:gdLst/>
            <a:ahLst/>
            <a:cxnLst>
              <a:cxn ang="0">
                <a:pos x="wd2" y="hd2"/>
              </a:cxn>
              <a:cxn ang="5400000">
                <a:pos x="wd2" y="hd2"/>
              </a:cxn>
              <a:cxn ang="10800000">
                <a:pos x="wd2" y="hd2"/>
              </a:cxn>
              <a:cxn ang="16200000">
                <a:pos x="wd2" y="hd2"/>
              </a:cxn>
            </a:cxnLst>
            <a:rect l="0" t="0" r="r" b="b"/>
            <a:pathLst>
              <a:path w="21600" h="21600" extrusionOk="0">
                <a:moveTo>
                  <a:pt x="1093" y="0"/>
                </a:moveTo>
                <a:cubicBezTo>
                  <a:pt x="499" y="0"/>
                  <a:pt x="0" y="584"/>
                  <a:pt x="0" y="1283"/>
                </a:cubicBezTo>
                <a:cubicBezTo>
                  <a:pt x="0" y="1537"/>
                  <a:pt x="86" y="1788"/>
                  <a:pt x="205" y="1978"/>
                </a:cubicBezTo>
                <a:lnTo>
                  <a:pt x="5189" y="10800"/>
                </a:lnTo>
                <a:lnTo>
                  <a:pt x="205" y="19649"/>
                </a:lnTo>
                <a:cubicBezTo>
                  <a:pt x="86" y="19839"/>
                  <a:pt x="0" y="20089"/>
                  <a:pt x="0" y="20344"/>
                </a:cubicBezTo>
                <a:cubicBezTo>
                  <a:pt x="0" y="21042"/>
                  <a:pt x="499" y="21600"/>
                  <a:pt x="1093" y="21600"/>
                </a:cubicBezTo>
                <a:lnTo>
                  <a:pt x="4325" y="21600"/>
                </a:lnTo>
                <a:cubicBezTo>
                  <a:pt x="4702" y="21600"/>
                  <a:pt x="5041" y="21382"/>
                  <a:pt x="5235" y="21039"/>
                </a:cubicBezTo>
                <a:lnTo>
                  <a:pt x="10629" y="11495"/>
                </a:lnTo>
                <a:cubicBezTo>
                  <a:pt x="10748" y="11304"/>
                  <a:pt x="10811" y="11054"/>
                  <a:pt x="10811" y="10800"/>
                </a:cubicBezTo>
                <a:cubicBezTo>
                  <a:pt x="10811" y="10546"/>
                  <a:pt x="10748" y="10296"/>
                  <a:pt x="10629" y="10105"/>
                </a:cubicBezTo>
                <a:lnTo>
                  <a:pt x="5235" y="588"/>
                </a:lnTo>
                <a:cubicBezTo>
                  <a:pt x="5041" y="245"/>
                  <a:pt x="4702" y="0"/>
                  <a:pt x="4325" y="0"/>
                </a:cubicBezTo>
                <a:lnTo>
                  <a:pt x="1093" y="0"/>
                </a:lnTo>
                <a:close/>
                <a:moveTo>
                  <a:pt x="11881" y="0"/>
                </a:moveTo>
                <a:cubicBezTo>
                  <a:pt x="11287" y="0"/>
                  <a:pt x="10811" y="584"/>
                  <a:pt x="10811" y="1283"/>
                </a:cubicBezTo>
                <a:cubicBezTo>
                  <a:pt x="10811" y="1537"/>
                  <a:pt x="10875" y="1788"/>
                  <a:pt x="10993" y="1978"/>
                </a:cubicBezTo>
                <a:lnTo>
                  <a:pt x="15978" y="10800"/>
                </a:lnTo>
                <a:lnTo>
                  <a:pt x="10993" y="19649"/>
                </a:lnTo>
                <a:cubicBezTo>
                  <a:pt x="10875" y="19839"/>
                  <a:pt x="10811" y="20089"/>
                  <a:pt x="10811" y="20344"/>
                </a:cubicBezTo>
                <a:cubicBezTo>
                  <a:pt x="10811" y="21042"/>
                  <a:pt x="11287" y="21600"/>
                  <a:pt x="11881" y="21600"/>
                </a:cubicBezTo>
                <a:lnTo>
                  <a:pt x="15113" y="21600"/>
                </a:lnTo>
                <a:cubicBezTo>
                  <a:pt x="15491" y="21600"/>
                  <a:pt x="15829" y="21382"/>
                  <a:pt x="16024" y="21039"/>
                </a:cubicBezTo>
                <a:lnTo>
                  <a:pt x="21418" y="11495"/>
                </a:lnTo>
                <a:cubicBezTo>
                  <a:pt x="21537" y="11304"/>
                  <a:pt x="21600" y="11054"/>
                  <a:pt x="21600" y="10800"/>
                </a:cubicBezTo>
                <a:cubicBezTo>
                  <a:pt x="21600" y="10546"/>
                  <a:pt x="21537" y="10296"/>
                  <a:pt x="21418" y="10105"/>
                </a:cubicBezTo>
                <a:lnTo>
                  <a:pt x="16024" y="588"/>
                </a:lnTo>
                <a:cubicBezTo>
                  <a:pt x="15829" y="245"/>
                  <a:pt x="15491" y="0"/>
                  <a:pt x="15113" y="0"/>
                </a:cubicBezTo>
                <a:lnTo>
                  <a:pt x="11881" y="0"/>
                </a:lnTo>
                <a:close/>
              </a:path>
            </a:pathLst>
          </a:custGeom>
          <a:solidFill>
            <a:schemeClr val="bg1"/>
          </a:solidFill>
          <a:ln w="12700">
            <a:miter lim="400000"/>
          </a:ln>
        </p:spPr>
        <p:txBody>
          <a:bodyPr lIns="45719" rIns="45719" anchor="ctr"/>
          <a:lstStyle/>
          <a:p>
            <a:pPr marL="0" marR="0" lvl="0" indent="0" algn="l" defTabSz="914400" rtl="0" eaLnBrk="1" fontAlgn="auto" latinLnBrk="0" hangingPunct="1">
              <a:lnSpc>
                <a:spcPct val="100000"/>
              </a:lnSpc>
              <a:spcBef>
                <a:spcPts val="0"/>
              </a:spcBef>
              <a:spcAft>
                <a:spcPts val="0"/>
              </a:spcAft>
              <a:buClrTx/>
              <a:buSzTx/>
              <a:buFontTx/>
              <a:buNone/>
              <a:defRPr sz="1800">
                <a:solidFill>
                  <a:srgbClr val="000000"/>
                </a:solidFill>
                <a:latin typeface="Calibri" panose="020F0502020204030204"/>
                <a:ea typeface="Calibri" panose="020F0502020204030204"/>
                <a:cs typeface="Calibri" panose="020F0502020204030204"/>
                <a:sym typeface="Calibri" panose="020F0502020204030204"/>
              </a:defRPr>
            </a:pPr>
            <a:endParaRPr kumimoji="0" sz="1100" b="0" i="0" u="none" strike="noStrike" kern="1200" cap="none" spc="0"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190" name="lemon21"/>
          <p:cNvSpPr/>
          <p:nvPr/>
        </p:nvSpPr>
        <p:spPr>
          <a:xfrm>
            <a:off x="1480935" y="4859903"/>
            <a:ext cx="1305506" cy="1305506"/>
          </a:xfrm>
          <a:prstGeom prst="ellips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100" b="0" i="0" u="none" strike="noStrike" kern="1200" cap="none" spc="0" normalizeH="0" baseline="0" noProof="0" dirty="0">
              <a:ln>
                <a:noFill/>
              </a:ln>
              <a:solidFill>
                <a:srgbClr val="FFFFFF"/>
              </a:solidFill>
              <a:effectLst/>
              <a:uLnTx/>
              <a:uFillTx/>
              <a:cs typeface="+mn-ea"/>
              <a:sym typeface="+mn-lt"/>
            </a:endParaRPr>
          </a:p>
        </p:txBody>
      </p:sp>
      <p:sp>
        <p:nvSpPr>
          <p:cNvPr id="191" name="lemon22"/>
          <p:cNvSpPr/>
          <p:nvPr/>
        </p:nvSpPr>
        <p:spPr>
          <a:xfrm>
            <a:off x="4130452" y="4846692"/>
            <a:ext cx="1305506" cy="1305506"/>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100" b="0" i="0" u="none" strike="noStrike" kern="1200" cap="none" spc="0" normalizeH="0" baseline="0" noProof="0" dirty="0">
              <a:ln>
                <a:noFill/>
              </a:ln>
              <a:solidFill>
                <a:srgbClr val="FFFFFF"/>
              </a:solidFill>
              <a:effectLst/>
              <a:uLnTx/>
              <a:uFillTx/>
              <a:cs typeface="+mn-ea"/>
              <a:sym typeface="+mn-lt"/>
            </a:endParaRPr>
          </a:p>
        </p:txBody>
      </p:sp>
      <p:sp>
        <p:nvSpPr>
          <p:cNvPr id="192" name="lemon23"/>
          <p:cNvSpPr/>
          <p:nvPr/>
        </p:nvSpPr>
        <p:spPr>
          <a:xfrm>
            <a:off x="1885126" y="5232957"/>
            <a:ext cx="468674" cy="553998"/>
          </a:xfrm>
          <a:prstGeom prst="rect">
            <a:avLst/>
          </a:prstGeom>
          <a:ln w="12700">
            <a:miter lim="400000"/>
          </a:ln>
        </p:spPr>
        <p:txBody>
          <a:bodyPr wrap="square" lIns="0" tIns="0" rIns="0" bIns="0" anchor="ctr">
            <a:spAutoFit/>
          </a:bodyPr>
          <a:lstStyle>
            <a:lvl1pPr defTabSz="1155700">
              <a:lnSpc>
                <a:spcPct val="80000"/>
              </a:lnSpc>
              <a:buClrTx/>
              <a:buFontTx/>
              <a:defRPr sz="3000" b="1">
                <a:solidFill>
                  <a:srgbClr val="4CA59D"/>
                </a:solidFill>
                <a:latin typeface="Jost-Bold"/>
                <a:ea typeface="Jost-Bold"/>
                <a:cs typeface="Jost-Bold"/>
                <a:sym typeface="Jost-Bold"/>
              </a:defRPr>
            </a:lvl1pPr>
          </a:lstStyle>
          <a:p>
            <a:pPr marL="0" marR="0" lvl="0" indent="0" algn="ctr" defTabSz="11557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latin typeface="+mn-lt"/>
                <a:ea typeface="+mn-ea"/>
                <a:cs typeface="+mn-ea"/>
                <a:sym typeface="+mn-lt"/>
              </a:rPr>
              <a:t>成本管控</a:t>
            </a:r>
            <a:endParaRPr kumimoji="0" lang="en-US" sz="1800" b="0" i="0" u="none" strike="noStrike" kern="1200" cap="none" spc="0" normalizeH="0" baseline="0" noProof="0" dirty="0">
              <a:ln>
                <a:noFill/>
              </a:ln>
              <a:solidFill>
                <a:srgbClr val="FFFFFF"/>
              </a:solidFill>
              <a:effectLst/>
              <a:uLnTx/>
              <a:uFillTx/>
              <a:latin typeface="+mn-lt"/>
              <a:ea typeface="+mn-ea"/>
              <a:cs typeface="+mn-ea"/>
              <a:sym typeface="+mn-lt"/>
            </a:endParaRPr>
          </a:p>
        </p:txBody>
      </p:sp>
      <p:sp>
        <p:nvSpPr>
          <p:cNvPr id="195" name="lemon24"/>
          <p:cNvSpPr/>
          <p:nvPr/>
        </p:nvSpPr>
        <p:spPr>
          <a:xfrm flipH="1">
            <a:off x="612859" y="5236989"/>
            <a:ext cx="511532" cy="511532"/>
          </a:xfrm>
          <a:prstGeom prst="ellipse">
            <a:avLst/>
          </a:prstGeom>
          <a:solidFill>
            <a:schemeClr val="tx1"/>
          </a:solidFill>
          <a:ln w="12700">
            <a:miter lim="400000"/>
          </a:ln>
        </p:spPr>
        <p:txBody>
          <a:bodyPr lIns="0" tIns="0" rIns="0" bIns="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100" b="0" i="0" u="none" strike="noStrike" kern="1200" cap="none" spc="0" normalizeH="0" baseline="0" noProof="0" dirty="0">
              <a:ln>
                <a:noFill/>
              </a:ln>
              <a:solidFill>
                <a:srgbClr val="000000"/>
              </a:solidFill>
              <a:effectLst/>
              <a:uLnTx/>
              <a:uFillTx/>
              <a:cs typeface="+mn-ea"/>
              <a:sym typeface="+mn-lt"/>
            </a:endParaRPr>
          </a:p>
        </p:txBody>
      </p:sp>
      <p:sp>
        <p:nvSpPr>
          <p:cNvPr id="196" name="lemon25"/>
          <p:cNvSpPr/>
          <p:nvPr/>
        </p:nvSpPr>
        <p:spPr>
          <a:xfrm rot="10800000" flipH="1">
            <a:off x="747738" y="5386204"/>
            <a:ext cx="246313" cy="209716"/>
          </a:xfrm>
          <a:custGeom>
            <a:avLst/>
            <a:gdLst/>
            <a:ahLst/>
            <a:cxnLst>
              <a:cxn ang="0">
                <a:pos x="wd2" y="hd2"/>
              </a:cxn>
              <a:cxn ang="5400000">
                <a:pos x="wd2" y="hd2"/>
              </a:cxn>
              <a:cxn ang="10800000">
                <a:pos x="wd2" y="hd2"/>
              </a:cxn>
              <a:cxn ang="16200000">
                <a:pos x="wd2" y="hd2"/>
              </a:cxn>
            </a:cxnLst>
            <a:rect l="0" t="0" r="r" b="b"/>
            <a:pathLst>
              <a:path w="21600" h="21600" extrusionOk="0">
                <a:moveTo>
                  <a:pt x="1093" y="0"/>
                </a:moveTo>
                <a:cubicBezTo>
                  <a:pt x="499" y="0"/>
                  <a:pt x="0" y="584"/>
                  <a:pt x="0" y="1283"/>
                </a:cubicBezTo>
                <a:cubicBezTo>
                  <a:pt x="0" y="1537"/>
                  <a:pt x="86" y="1788"/>
                  <a:pt x="205" y="1978"/>
                </a:cubicBezTo>
                <a:lnTo>
                  <a:pt x="5189" y="10800"/>
                </a:lnTo>
                <a:lnTo>
                  <a:pt x="205" y="19649"/>
                </a:lnTo>
                <a:cubicBezTo>
                  <a:pt x="86" y="19839"/>
                  <a:pt x="0" y="20089"/>
                  <a:pt x="0" y="20344"/>
                </a:cubicBezTo>
                <a:cubicBezTo>
                  <a:pt x="0" y="21042"/>
                  <a:pt x="499" y="21600"/>
                  <a:pt x="1093" y="21600"/>
                </a:cubicBezTo>
                <a:lnTo>
                  <a:pt x="4325" y="21600"/>
                </a:lnTo>
                <a:cubicBezTo>
                  <a:pt x="4702" y="21600"/>
                  <a:pt x="5041" y="21382"/>
                  <a:pt x="5235" y="21039"/>
                </a:cubicBezTo>
                <a:lnTo>
                  <a:pt x="10629" y="11495"/>
                </a:lnTo>
                <a:cubicBezTo>
                  <a:pt x="10748" y="11304"/>
                  <a:pt x="10811" y="11054"/>
                  <a:pt x="10811" y="10800"/>
                </a:cubicBezTo>
                <a:cubicBezTo>
                  <a:pt x="10811" y="10546"/>
                  <a:pt x="10748" y="10296"/>
                  <a:pt x="10629" y="10105"/>
                </a:cubicBezTo>
                <a:lnTo>
                  <a:pt x="5235" y="588"/>
                </a:lnTo>
                <a:cubicBezTo>
                  <a:pt x="5041" y="245"/>
                  <a:pt x="4702" y="0"/>
                  <a:pt x="4325" y="0"/>
                </a:cubicBezTo>
                <a:lnTo>
                  <a:pt x="1093" y="0"/>
                </a:lnTo>
                <a:close/>
                <a:moveTo>
                  <a:pt x="11881" y="0"/>
                </a:moveTo>
                <a:cubicBezTo>
                  <a:pt x="11287" y="0"/>
                  <a:pt x="10811" y="584"/>
                  <a:pt x="10811" y="1283"/>
                </a:cubicBezTo>
                <a:cubicBezTo>
                  <a:pt x="10811" y="1537"/>
                  <a:pt x="10875" y="1788"/>
                  <a:pt x="10993" y="1978"/>
                </a:cubicBezTo>
                <a:lnTo>
                  <a:pt x="15978" y="10800"/>
                </a:lnTo>
                <a:lnTo>
                  <a:pt x="10993" y="19649"/>
                </a:lnTo>
                <a:cubicBezTo>
                  <a:pt x="10875" y="19839"/>
                  <a:pt x="10811" y="20089"/>
                  <a:pt x="10811" y="20344"/>
                </a:cubicBezTo>
                <a:cubicBezTo>
                  <a:pt x="10811" y="21042"/>
                  <a:pt x="11287" y="21600"/>
                  <a:pt x="11881" y="21600"/>
                </a:cubicBezTo>
                <a:lnTo>
                  <a:pt x="15113" y="21600"/>
                </a:lnTo>
                <a:cubicBezTo>
                  <a:pt x="15491" y="21600"/>
                  <a:pt x="15829" y="21382"/>
                  <a:pt x="16024" y="21039"/>
                </a:cubicBezTo>
                <a:lnTo>
                  <a:pt x="21418" y="11495"/>
                </a:lnTo>
                <a:cubicBezTo>
                  <a:pt x="21537" y="11304"/>
                  <a:pt x="21600" y="11054"/>
                  <a:pt x="21600" y="10800"/>
                </a:cubicBezTo>
                <a:cubicBezTo>
                  <a:pt x="21600" y="10546"/>
                  <a:pt x="21537" y="10296"/>
                  <a:pt x="21418" y="10105"/>
                </a:cubicBezTo>
                <a:lnTo>
                  <a:pt x="16024" y="588"/>
                </a:lnTo>
                <a:cubicBezTo>
                  <a:pt x="15829" y="245"/>
                  <a:pt x="15491" y="0"/>
                  <a:pt x="15113" y="0"/>
                </a:cubicBezTo>
                <a:lnTo>
                  <a:pt x="11881" y="0"/>
                </a:lnTo>
                <a:close/>
              </a:path>
            </a:pathLst>
          </a:custGeom>
          <a:solidFill>
            <a:schemeClr val="bg1"/>
          </a:solidFill>
          <a:ln w="12700">
            <a:miter lim="400000"/>
          </a:ln>
        </p:spPr>
        <p:txBody>
          <a:bodyPr lIns="45719" rIns="45719" anchor="ctr"/>
          <a:lstStyle/>
          <a:p>
            <a:pPr marL="0" marR="0" lvl="0" indent="0" algn="l" defTabSz="914400" rtl="0" eaLnBrk="1" fontAlgn="auto" latinLnBrk="0" hangingPunct="1">
              <a:lnSpc>
                <a:spcPct val="100000"/>
              </a:lnSpc>
              <a:spcBef>
                <a:spcPts val="0"/>
              </a:spcBef>
              <a:spcAft>
                <a:spcPts val="0"/>
              </a:spcAft>
              <a:buClrTx/>
              <a:buSzTx/>
              <a:buFontTx/>
              <a:buNone/>
              <a:defRPr sz="1800">
                <a:solidFill>
                  <a:srgbClr val="000000"/>
                </a:solidFill>
                <a:latin typeface="Calibri" panose="020F0502020204030204"/>
                <a:ea typeface="Calibri" panose="020F0502020204030204"/>
                <a:cs typeface="Calibri" panose="020F0502020204030204"/>
                <a:sym typeface="Calibri" panose="020F0502020204030204"/>
              </a:defRPr>
            </a:pPr>
            <a:endParaRPr kumimoji="0" sz="1100" b="0" i="0" u="none" strike="noStrike" kern="1200" cap="none" spc="0" normalizeH="0" baseline="0" noProof="0" dirty="0">
              <a:ln>
                <a:noFill/>
              </a:ln>
              <a:solidFill>
                <a:srgbClr val="000000"/>
              </a:solidFill>
              <a:effectLst/>
              <a:uLnTx/>
              <a:uFillTx/>
              <a:latin typeface="思源黑体 CN Normal" panose="020B0400000000000000" pitchFamily="34" charset="-122"/>
              <a:ea typeface="思源黑体 CN Normal" panose="020B0400000000000000" pitchFamily="34" charset="-122"/>
              <a:cs typeface="+mn-ea"/>
              <a:sym typeface="+mn-lt"/>
            </a:endParaRPr>
          </a:p>
        </p:txBody>
      </p:sp>
      <p:sp>
        <p:nvSpPr>
          <p:cNvPr id="197" name="lemon26"/>
          <p:cNvSpPr/>
          <p:nvPr/>
        </p:nvSpPr>
        <p:spPr>
          <a:xfrm>
            <a:off x="4600823" y="5228160"/>
            <a:ext cx="468674" cy="553998"/>
          </a:xfrm>
          <a:prstGeom prst="rect">
            <a:avLst/>
          </a:prstGeom>
          <a:ln w="12700">
            <a:miter lim="400000"/>
          </a:ln>
        </p:spPr>
        <p:txBody>
          <a:bodyPr wrap="square" lIns="0" tIns="0" rIns="0" bIns="0" anchor="ctr">
            <a:spAutoFit/>
          </a:bodyPr>
          <a:lstStyle>
            <a:lvl1pPr defTabSz="1155700">
              <a:lnSpc>
                <a:spcPct val="80000"/>
              </a:lnSpc>
              <a:buClrTx/>
              <a:buFontTx/>
              <a:defRPr sz="3000" b="1">
                <a:solidFill>
                  <a:srgbClr val="4CA59D"/>
                </a:solidFill>
                <a:latin typeface="Jost-Bold"/>
                <a:ea typeface="Jost-Bold"/>
                <a:cs typeface="Jost-Bold"/>
                <a:sym typeface="Jost-Bold"/>
              </a:defRPr>
            </a:lvl1pPr>
          </a:lstStyle>
          <a:p>
            <a:pPr marL="0" marR="0" lvl="0" indent="0" algn="ctr" defTabSz="11557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latin typeface="+mn-lt"/>
                <a:ea typeface="+mn-ea"/>
                <a:cs typeface="+mn-ea"/>
                <a:sym typeface="+mn-lt"/>
              </a:rPr>
              <a:t>资源整合</a:t>
            </a:r>
            <a:endParaRPr kumimoji="0" lang="en-US" sz="1800" b="0" i="0" u="none" strike="noStrike" kern="1200" cap="none" spc="0" normalizeH="0" baseline="0" noProof="0" dirty="0">
              <a:ln>
                <a:noFill/>
              </a:ln>
              <a:solidFill>
                <a:srgbClr val="FFFFFF"/>
              </a:solidFill>
              <a:effectLst/>
              <a:uLnTx/>
              <a:uFillTx/>
              <a:latin typeface="+mn-lt"/>
              <a:ea typeface="+mn-ea"/>
              <a:cs typeface="+mn-ea"/>
              <a:sym typeface="+mn-lt"/>
            </a:endParaRPr>
          </a:p>
        </p:txBody>
      </p:sp>
      <p:sp>
        <p:nvSpPr>
          <p:cNvPr id="198" name="lemon27"/>
          <p:cNvSpPr/>
          <p:nvPr/>
        </p:nvSpPr>
        <p:spPr>
          <a:xfrm rot="10800000">
            <a:off x="5251692" y="4329667"/>
            <a:ext cx="1263522" cy="687573"/>
          </a:xfrm>
          <a:prstGeom prst="wedgeRoundRectCallout">
            <a:avLst>
              <a:gd name="adj1" fmla="val 46825"/>
              <a:gd name="adj2" fmla="val -92253"/>
              <a:gd name="adj3" fmla="val 16667"/>
            </a:avLst>
          </a:prstGeom>
          <a:solidFill>
            <a:schemeClr val="bg1"/>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99" name="lemon28"/>
          <p:cNvSpPr txBox="1"/>
          <p:nvPr/>
        </p:nvSpPr>
        <p:spPr>
          <a:xfrm>
            <a:off x="5404620" y="4539321"/>
            <a:ext cx="1094176" cy="288669"/>
          </a:xfrm>
          <a:prstGeom prst="rect">
            <a:avLst/>
          </a:prstGeom>
          <a:noFill/>
          <a:ln w="12700" cap="flat">
            <a:noFill/>
            <a:miter lim="400000"/>
          </a:ln>
          <a:effectLst/>
        </p:spPr>
        <p:txBody>
          <a:bodyPr wrap="square" lIns="25400" tIns="25400" rIns="25400" bIns="25400" numCol="1" anchor="ctr">
            <a:spAutoFit/>
          </a:bodyPr>
          <a:lstStyle>
            <a:lvl1pPr algn="l">
              <a:defRPr sz="2200" b="0">
                <a:solidFill>
                  <a:srgbClr val="FFFFFF"/>
                </a:solidFill>
                <a:latin typeface="Arial" panose="020B0604020202020204"/>
                <a:ea typeface="Arial" panose="020B0604020202020204"/>
                <a:cs typeface="Arial" panose="020B0604020202020204"/>
                <a:sym typeface="Arial" panose="020B0604020202020204"/>
              </a:defRPr>
            </a:lvl1pPr>
          </a:lstStyle>
          <a:p>
            <a:pPr marL="0" marR="0" lvl="0" indent="0" algn="l" defTabSz="457200" rtl="0" eaLnBrk="1" fontAlgn="auto" latinLnBrk="0" hangingPunct="1">
              <a:lnSpc>
                <a:spcPts val="168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00329D"/>
                </a:solidFill>
                <a:effectLst/>
                <a:uLnTx/>
                <a:uFillTx/>
                <a:latin typeface="+mn-lt"/>
                <a:ea typeface="+mn-ea"/>
                <a:cs typeface="+mn-ea"/>
                <a:sym typeface="+mn-lt"/>
              </a:rPr>
              <a:t>核心优势</a:t>
            </a:r>
          </a:p>
        </p:txBody>
      </p:sp>
      <p:sp>
        <p:nvSpPr>
          <p:cNvPr id="200" name="lemon29"/>
          <p:cNvSpPr/>
          <p:nvPr/>
        </p:nvSpPr>
        <p:spPr>
          <a:xfrm rot="15533351" flipH="1" flipV="1">
            <a:off x="3877041" y="2256240"/>
            <a:ext cx="190517" cy="701474"/>
          </a:xfrm>
          <a:custGeom>
            <a:avLst/>
            <a:gdLst>
              <a:gd name="connsiteX0" fmla="*/ 0 w 187287"/>
              <a:gd name="connsiteY0" fmla="*/ 0 h 334179"/>
              <a:gd name="connsiteX1" fmla="*/ 7345 w 187287"/>
              <a:gd name="connsiteY1" fmla="*/ 124858 h 334179"/>
              <a:gd name="connsiteX2" fmla="*/ 22034 w 187287"/>
              <a:gd name="connsiteY2" fmla="*/ 150564 h 334179"/>
              <a:gd name="connsiteX3" fmla="*/ 36723 w 187287"/>
              <a:gd name="connsiteY3" fmla="*/ 183615 h 334179"/>
              <a:gd name="connsiteX4" fmla="*/ 66101 w 187287"/>
              <a:gd name="connsiteY4" fmla="*/ 231355 h 334179"/>
              <a:gd name="connsiteX5" fmla="*/ 84463 w 187287"/>
              <a:gd name="connsiteY5" fmla="*/ 257061 h 334179"/>
              <a:gd name="connsiteX6" fmla="*/ 128530 w 187287"/>
              <a:gd name="connsiteY6" fmla="*/ 293783 h 334179"/>
              <a:gd name="connsiteX7" fmla="*/ 165253 w 187287"/>
              <a:gd name="connsiteY7" fmla="*/ 323162 h 334179"/>
              <a:gd name="connsiteX8" fmla="*/ 176270 w 187287"/>
              <a:gd name="connsiteY8" fmla="*/ 326834 h 334179"/>
              <a:gd name="connsiteX9" fmla="*/ 187287 w 187287"/>
              <a:gd name="connsiteY9" fmla="*/ 334179 h 334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287" h="334179">
                <a:moveTo>
                  <a:pt x="0" y="0"/>
                </a:moveTo>
                <a:cubicBezTo>
                  <a:pt x="2448" y="41619"/>
                  <a:pt x="1308" y="83606"/>
                  <a:pt x="7345" y="124858"/>
                </a:cubicBezTo>
                <a:cubicBezTo>
                  <a:pt x="8774" y="134623"/>
                  <a:pt x="17621" y="141737"/>
                  <a:pt x="22034" y="150564"/>
                </a:cubicBezTo>
                <a:cubicBezTo>
                  <a:pt x="27426" y="161347"/>
                  <a:pt x="31590" y="172706"/>
                  <a:pt x="36723" y="183615"/>
                </a:cubicBezTo>
                <a:cubicBezTo>
                  <a:pt x="55207" y="222895"/>
                  <a:pt x="44365" y="202374"/>
                  <a:pt x="66101" y="231355"/>
                </a:cubicBezTo>
                <a:cubicBezTo>
                  <a:pt x="72419" y="239779"/>
                  <a:pt x="77017" y="249615"/>
                  <a:pt x="84463" y="257061"/>
                </a:cubicBezTo>
                <a:cubicBezTo>
                  <a:pt x="97983" y="270581"/>
                  <a:pt x="115010" y="280262"/>
                  <a:pt x="128530" y="293783"/>
                </a:cubicBezTo>
                <a:cubicBezTo>
                  <a:pt x="138559" y="303813"/>
                  <a:pt x="151354" y="318529"/>
                  <a:pt x="165253" y="323162"/>
                </a:cubicBezTo>
                <a:lnTo>
                  <a:pt x="176270" y="326834"/>
                </a:lnTo>
                <a:lnTo>
                  <a:pt x="187287" y="334179"/>
                </a:lnTo>
              </a:path>
            </a:pathLst>
          </a:custGeom>
          <a:noFill/>
          <a:ln w="15875">
            <a:solidFill>
              <a:schemeClr val="tx1">
                <a:alpha val="50000"/>
              </a:schemeClr>
            </a:solidFill>
            <a:prstDash val="sysDot"/>
            <a:headEnd type="stealth" w="lg" len="lg"/>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01" name="lemon30"/>
          <p:cNvSpPr txBox="1"/>
          <p:nvPr/>
        </p:nvSpPr>
        <p:spPr>
          <a:xfrm>
            <a:off x="4256356" y="2325818"/>
            <a:ext cx="1212638"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cs typeface="+mn-ea"/>
                <a:sym typeface="+mn-lt"/>
              </a:rPr>
              <a:t>增速放缓</a:t>
            </a:r>
          </a:p>
        </p:txBody>
      </p:sp>
      <p:grpSp>
        <p:nvGrpSpPr>
          <p:cNvPr id="202" name="lemon31"/>
          <p:cNvGrpSpPr/>
          <p:nvPr/>
        </p:nvGrpSpPr>
        <p:grpSpPr>
          <a:xfrm>
            <a:off x="8517081" y="3671673"/>
            <a:ext cx="2743458" cy="2764181"/>
            <a:chOff x="3627267" y="556869"/>
            <a:chExt cx="6912106" cy="6307274"/>
          </a:xfrm>
          <a:gradFill>
            <a:gsLst>
              <a:gs pos="43000">
                <a:srgbClr val="5E7FC7">
                  <a:alpha val="13229"/>
                </a:srgbClr>
              </a:gs>
              <a:gs pos="0">
                <a:schemeClr val="accent1">
                  <a:alpha val="5000"/>
                </a:schemeClr>
              </a:gs>
              <a:gs pos="100000">
                <a:schemeClr val="accent2">
                  <a:lumMod val="20000"/>
                  <a:lumOff val="80000"/>
                  <a:alpha val="0"/>
                </a:schemeClr>
              </a:gs>
            </a:gsLst>
            <a:lin ang="0" scaled="0"/>
          </a:gradFill>
        </p:grpSpPr>
        <p:sp>
          <p:nvSpPr>
            <p:cNvPr id="203" name="lemon31-1"/>
            <p:cNvSpPr/>
            <p:nvPr/>
          </p:nvSpPr>
          <p:spPr>
            <a:xfrm>
              <a:off x="3627267" y="556869"/>
              <a:ext cx="6788259" cy="6307274"/>
            </a:xfrm>
            <a:custGeom>
              <a:avLst/>
              <a:gdLst/>
              <a:ahLst/>
              <a:cxnLst>
                <a:cxn ang="0">
                  <a:pos x="wd2" y="hd2"/>
                </a:cxn>
                <a:cxn ang="5400000">
                  <a:pos x="wd2" y="hd2"/>
                </a:cxn>
                <a:cxn ang="10800000">
                  <a:pos x="wd2" y="hd2"/>
                </a:cxn>
                <a:cxn ang="16200000">
                  <a:pos x="wd2" y="hd2"/>
                </a:cxn>
              </a:cxnLst>
              <a:rect l="0" t="0" r="r" b="b"/>
              <a:pathLst>
                <a:path w="21600" h="21600" extrusionOk="0">
                  <a:moveTo>
                    <a:pt x="21489" y="0"/>
                  </a:moveTo>
                  <a:lnTo>
                    <a:pt x="0" y="10737"/>
                  </a:lnTo>
                  <a:lnTo>
                    <a:pt x="21600" y="21600"/>
                  </a:lnTo>
                  <a:lnTo>
                    <a:pt x="21489" y="0"/>
                  </a:lnTo>
                  <a:close/>
                </a:path>
              </a:pathLst>
            </a:custGeom>
            <a:grpFill/>
            <a:ln w="12700" cap="flat">
              <a:noFill/>
              <a:miter lim="400000"/>
            </a:ln>
            <a:effectLst/>
          </p:spPr>
          <p:txBody>
            <a:bodyPr wrap="square" lIns="0" tIns="0" rIns="0" bIns="0" numCol="1" anchor="ctr">
              <a:noAutofit/>
            </a:bodyPr>
            <a:lstStyle/>
            <a:p>
              <a:pPr marL="0" marR="0" lvl="0" indent="0" algn="l" defTabSz="457200" rtl="0" eaLnBrk="1" fontAlgn="auto" latinLnBrk="0" hangingPunct="1">
                <a:lnSpc>
                  <a:spcPct val="100000"/>
                </a:lnSpc>
                <a:spcBef>
                  <a:spcPts val="0"/>
                </a:spcBef>
                <a:spcAft>
                  <a:spcPts val="0"/>
                </a:spcAft>
                <a:buClrTx/>
                <a:buSzTx/>
                <a:buFontTx/>
                <a:buNone/>
                <a:defRPr sz="3200" b="0">
                  <a:solidFill>
                    <a:srgbClr val="FFFFFF"/>
                  </a:solidFill>
                  <a:latin typeface="+mn-lt"/>
                  <a:ea typeface="+mn-ea"/>
                  <a:cs typeface="+mn-cs"/>
                  <a:sym typeface="Helvetica Neue Medium"/>
                </a:defRPr>
              </a:pPr>
              <a:endParaRPr kumimoji="0" sz="1600" b="0" i="0" u="none" strike="noStrike" kern="1200" cap="none" spc="0" normalizeH="0" baseline="0" noProof="0" dirty="0">
                <a:ln>
                  <a:noFill/>
                </a:ln>
                <a:solidFill>
                  <a:srgbClr val="FFFFFF"/>
                </a:solidFill>
                <a:effectLst/>
                <a:uLnTx/>
                <a:uFillTx/>
                <a:cs typeface="+mn-ea"/>
                <a:sym typeface="+mn-lt"/>
              </a:endParaRPr>
            </a:p>
          </p:txBody>
        </p:sp>
        <p:sp>
          <p:nvSpPr>
            <p:cNvPr id="204" name="lemon31-2"/>
            <p:cNvSpPr/>
            <p:nvPr/>
          </p:nvSpPr>
          <p:spPr>
            <a:xfrm flipH="1">
              <a:off x="3676531" y="3687615"/>
              <a:ext cx="6862842" cy="0"/>
            </a:xfrm>
            <a:prstGeom prst="line">
              <a:avLst/>
            </a:prstGeom>
            <a:grpFill/>
            <a:ln w="25400" cap="flat">
              <a:solidFill>
                <a:srgbClr val="C5C3BF"/>
              </a:solidFill>
              <a:custDash>
                <a:ds d="200000" sp="200000"/>
              </a:custDash>
              <a:miter lim="400000"/>
            </a:ln>
            <a:effectLst/>
          </p:spPr>
          <p:txBody>
            <a:bodyPr wrap="square" lIns="0" tIns="0" rIns="0" bIns="0" numCol="1" anchor="ctr">
              <a:noAutofit/>
            </a:bodyPr>
            <a:lstStyle/>
            <a:p>
              <a:pPr marL="0" marR="0" lvl="0" indent="0" algn="l" defTabSz="457200" rtl="0" eaLnBrk="1" fontAlgn="auto" latinLnBrk="0" hangingPunct="1">
                <a:lnSpc>
                  <a:spcPct val="100000"/>
                </a:lnSpc>
                <a:spcBef>
                  <a:spcPts val="0"/>
                </a:spcBef>
                <a:spcAft>
                  <a:spcPts val="0"/>
                </a:spcAft>
                <a:buClrTx/>
                <a:buSzTx/>
                <a:buFontTx/>
                <a:buNone/>
                <a:defRPr sz="3200" b="0">
                  <a:solidFill>
                    <a:srgbClr val="FFFFFF"/>
                  </a:solidFill>
                  <a:latin typeface="+mn-lt"/>
                  <a:ea typeface="+mn-ea"/>
                  <a:cs typeface="+mn-cs"/>
                  <a:sym typeface="Helvetica Neue Medium"/>
                </a:defRPr>
              </a:pPr>
              <a:endParaRPr kumimoji="0" sz="1600" b="0" i="0" u="none" strike="noStrike" kern="1200" cap="none" spc="0" normalizeH="0" baseline="0" noProof="0" dirty="0">
                <a:ln>
                  <a:noFill/>
                </a:ln>
                <a:solidFill>
                  <a:srgbClr val="FFFFFF"/>
                </a:solidFill>
                <a:effectLst/>
                <a:uLnTx/>
                <a:uFillTx/>
                <a:cs typeface="+mn-ea"/>
                <a:sym typeface="+mn-lt"/>
              </a:endParaRPr>
            </a:p>
          </p:txBody>
        </p:sp>
      </p:grpSp>
      <p:sp>
        <p:nvSpPr>
          <p:cNvPr id="205" name="lemon32"/>
          <p:cNvSpPr/>
          <p:nvPr/>
        </p:nvSpPr>
        <p:spPr>
          <a:xfrm>
            <a:off x="9569593" y="3825124"/>
            <a:ext cx="316061" cy="2230730"/>
          </a:xfrm>
          <a:custGeom>
            <a:avLst/>
            <a:gdLst/>
            <a:ahLst/>
            <a:cxnLst>
              <a:cxn ang="0">
                <a:pos x="wd2" y="hd2"/>
              </a:cxn>
              <a:cxn ang="5400000">
                <a:pos x="wd2" y="hd2"/>
              </a:cxn>
              <a:cxn ang="10800000">
                <a:pos x="wd2" y="hd2"/>
              </a:cxn>
              <a:cxn ang="16200000">
                <a:pos x="wd2" y="hd2"/>
              </a:cxn>
            </a:cxnLst>
            <a:rect l="0" t="0" r="r" b="b"/>
            <a:pathLst>
              <a:path w="21600" h="21589" extrusionOk="0">
                <a:moveTo>
                  <a:pt x="13" y="21588"/>
                </a:moveTo>
                <a:lnTo>
                  <a:pt x="9790" y="21588"/>
                </a:lnTo>
                <a:cubicBezTo>
                  <a:pt x="11407" y="21600"/>
                  <a:pt x="12989" y="21530"/>
                  <a:pt x="14123" y="21397"/>
                </a:cubicBezTo>
                <a:cubicBezTo>
                  <a:pt x="15046" y="21289"/>
                  <a:pt x="15601" y="21146"/>
                  <a:pt x="15687" y="20995"/>
                </a:cubicBezTo>
                <a:lnTo>
                  <a:pt x="15687" y="11471"/>
                </a:lnTo>
                <a:cubicBezTo>
                  <a:pt x="15796" y="11297"/>
                  <a:pt x="16391" y="11131"/>
                  <a:pt x="17382" y="10999"/>
                </a:cubicBezTo>
                <a:cubicBezTo>
                  <a:pt x="18467" y="10854"/>
                  <a:pt x="19960" y="10758"/>
                  <a:pt x="21600" y="10727"/>
                </a:cubicBezTo>
                <a:cubicBezTo>
                  <a:pt x="20179" y="10723"/>
                  <a:pt x="18813" y="10662"/>
                  <a:pt x="17740" y="10554"/>
                </a:cubicBezTo>
                <a:cubicBezTo>
                  <a:pt x="16383" y="10419"/>
                  <a:pt x="15606" y="10222"/>
                  <a:pt x="15613" y="10015"/>
                </a:cubicBezTo>
                <a:lnTo>
                  <a:pt x="15613" y="643"/>
                </a:lnTo>
                <a:cubicBezTo>
                  <a:pt x="15656" y="477"/>
                  <a:pt x="15122" y="315"/>
                  <a:pt x="14129" y="195"/>
                </a:cubicBezTo>
                <a:cubicBezTo>
                  <a:pt x="13138" y="74"/>
                  <a:pt x="11771" y="4"/>
                  <a:pt x="10330" y="0"/>
                </a:cubicBezTo>
                <a:lnTo>
                  <a:pt x="0" y="0"/>
                </a:lnTo>
              </a:path>
            </a:pathLst>
          </a:custGeom>
          <a:ln w="25400">
            <a:solidFill>
              <a:schemeClr val="accent1"/>
            </a:solidFill>
            <a:miter lim="400000"/>
          </a:ln>
        </p:spPr>
        <p:txBody>
          <a:bodyPr lIns="0" tIns="0" rIns="0" bIns="0" anchor="ctr"/>
          <a:lstStyle/>
          <a:p>
            <a:pPr marL="0" marR="0" lvl="0" indent="0" algn="l" defTabSz="457200" rtl="0" eaLnBrk="1" fontAlgn="auto" latinLnBrk="0" hangingPunct="1">
              <a:lnSpc>
                <a:spcPct val="100000"/>
              </a:lnSpc>
              <a:spcBef>
                <a:spcPts val="0"/>
              </a:spcBef>
              <a:spcAft>
                <a:spcPts val="0"/>
              </a:spcAft>
              <a:buClrTx/>
              <a:buSzTx/>
              <a:buFontTx/>
              <a:buNone/>
              <a:defRPr sz="3200" b="0">
                <a:solidFill>
                  <a:srgbClr val="FFFFFF"/>
                </a:solidFill>
                <a:latin typeface="+mn-lt"/>
                <a:ea typeface="+mn-ea"/>
                <a:cs typeface="+mn-cs"/>
                <a:sym typeface="Helvetica Neue Medium"/>
              </a:defRPr>
            </a:pPr>
            <a:endParaRPr kumimoji="0" sz="1600" b="0" i="0" u="none" strike="noStrike" kern="1200" cap="none" spc="0" normalizeH="0" baseline="0" noProof="0" dirty="0">
              <a:ln>
                <a:noFill/>
              </a:ln>
              <a:solidFill>
                <a:srgbClr val="FFFFFF"/>
              </a:solidFill>
              <a:effectLst/>
              <a:uLnTx/>
              <a:uFillTx/>
              <a:cs typeface="+mn-ea"/>
              <a:sym typeface="+mn-lt"/>
            </a:endParaRPr>
          </a:p>
        </p:txBody>
      </p:sp>
      <p:grpSp>
        <p:nvGrpSpPr>
          <p:cNvPr id="145" name="lemon33"/>
          <p:cNvGrpSpPr/>
          <p:nvPr/>
        </p:nvGrpSpPr>
        <p:grpSpPr>
          <a:xfrm>
            <a:off x="7270435" y="3825124"/>
            <a:ext cx="2273317" cy="2230730"/>
            <a:chOff x="676658" y="1287919"/>
            <a:chExt cx="4695890" cy="4607918"/>
          </a:xfrm>
        </p:grpSpPr>
        <p:sp>
          <p:nvSpPr>
            <p:cNvPr id="146" name="lemon33-1"/>
            <p:cNvSpPr/>
            <p:nvPr/>
          </p:nvSpPr>
          <p:spPr bwMode="auto">
            <a:xfrm>
              <a:off x="2880896" y="1353772"/>
              <a:ext cx="1810352" cy="1281170"/>
            </a:xfrm>
            <a:custGeom>
              <a:avLst/>
              <a:gdLst>
                <a:gd name="T0" fmla="*/ 0 w 1718"/>
                <a:gd name="T1" fmla="*/ 92 h 1218"/>
                <a:gd name="T2" fmla="*/ 1718 w 1718"/>
                <a:gd name="T3" fmla="*/ 671 h 1218"/>
                <a:gd name="T4" fmla="*/ 1162 w 1718"/>
                <a:gd name="T5" fmla="*/ 1218 h 1218"/>
                <a:gd name="T6" fmla="*/ 245 w 1718"/>
                <a:gd name="T7" fmla="*/ 852 h 1218"/>
                <a:gd name="T8" fmla="*/ 0 w 1718"/>
                <a:gd name="T9" fmla="*/ 92 h 1218"/>
              </a:gdLst>
              <a:ahLst/>
              <a:cxnLst>
                <a:cxn ang="0">
                  <a:pos x="T0" y="T1"/>
                </a:cxn>
                <a:cxn ang="0">
                  <a:pos x="T2" y="T3"/>
                </a:cxn>
                <a:cxn ang="0">
                  <a:pos x="T4" y="T5"/>
                </a:cxn>
                <a:cxn ang="0">
                  <a:pos x="T6" y="T7"/>
                </a:cxn>
                <a:cxn ang="0">
                  <a:pos x="T8" y="T9"/>
                </a:cxn>
              </a:cxnLst>
              <a:rect l="0" t="0" r="r" b="b"/>
              <a:pathLst>
                <a:path w="1718" h="1218">
                  <a:moveTo>
                    <a:pt x="0" y="92"/>
                  </a:moveTo>
                  <a:cubicBezTo>
                    <a:pt x="635" y="0"/>
                    <a:pt x="1269" y="213"/>
                    <a:pt x="1718" y="671"/>
                  </a:cubicBezTo>
                  <a:cubicBezTo>
                    <a:pt x="1162" y="1218"/>
                    <a:pt x="1162" y="1218"/>
                    <a:pt x="1162" y="1218"/>
                  </a:cubicBezTo>
                  <a:cubicBezTo>
                    <a:pt x="920" y="971"/>
                    <a:pt x="590" y="843"/>
                    <a:pt x="245" y="852"/>
                  </a:cubicBezTo>
                  <a:cubicBezTo>
                    <a:pt x="292" y="574"/>
                    <a:pt x="202" y="291"/>
                    <a:pt x="0" y="92"/>
                  </a:cubicBezTo>
                  <a:close/>
                </a:path>
              </a:pathLst>
            </a:custGeom>
            <a:solidFill>
              <a:schemeClr val="accent1">
                <a:lumMod val="75000"/>
              </a:schemeClr>
            </a:solidFill>
            <a:ln w="25400">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47" name="lemon33-2"/>
            <p:cNvSpPr/>
            <p:nvPr/>
          </p:nvSpPr>
          <p:spPr bwMode="auto">
            <a:xfrm>
              <a:off x="4180794" y="2126974"/>
              <a:ext cx="1191754" cy="1474666"/>
            </a:xfrm>
            <a:custGeom>
              <a:avLst/>
              <a:gdLst>
                <a:gd name="T0" fmla="*/ 556 w 1130"/>
                <a:gd name="T1" fmla="*/ 0 h 1403"/>
                <a:gd name="T2" fmla="*/ 1130 w 1130"/>
                <a:gd name="T3" fmla="*/ 1403 h 1403"/>
                <a:gd name="T4" fmla="*/ 348 w 1130"/>
                <a:gd name="T5" fmla="*/ 1403 h 1403"/>
                <a:gd name="T6" fmla="*/ 0 w 1130"/>
                <a:gd name="T7" fmla="*/ 547 h 1403"/>
                <a:gd name="T8" fmla="*/ 556 w 1130"/>
                <a:gd name="T9" fmla="*/ 0 h 1403"/>
              </a:gdLst>
              <a:ahLst/>
              <a:cxnLst>
                <a:cxn ang="0">
                  <a:pos x="T0" y="T1"/>
                </a:cxn>
                <a:cxn ang="0">
                  <a:pos x="T2" y="T3"/>
                </a:cxn>
                <a:cxn ang="0">
                  <a:pos x="T4" y="T5"/>
                </a:cxn>
                <a:cxn ang="0">
                  <a:pos x="T6" y="T7"/>
                </a:cxn>
                <a:cxn ang="0">
                  <a:pos x="T8" y="T9"/>
                </a:cxn>
              </a:cxnLst>
              <a:rect l="0" t="0" r="r" b="b"/>
              <a:pathLst>
                <a:path w="1130" h="1403">
                  <a:moveTo>
                    <a:pt x="556" y="0"/>
                  </a:moveTo>
                  <a:cubicBezTo>
                    <a:pt x="924" y="375"/>
                    <a:pt x="1130" y="878"/>
                    <a:pt x="1130" y="1403"/>
                  </a:cubicBezTo>
                  <a:cubicBezTo>
                    <a:pt x="348" y="1403"/>
                    <a:pt x="348" y="1403"/>
                    <a:pt x="348" y="1403"/>
                  </a:cubicBezTo>
                  <a:cubicBezTo>
                    <a:pt x="348" y="1084"/>
                    <a:pt x="224" y="775"/>
                    <a:pt x="0" y="547"/>
                  </a:cubicBezTo>
                  <a:cubicBezTo>
                    <a:pt x="556" y="0"/>
                    <a:pt x="556" y="0"/>
                    <a:pt x="556" y="0"/>
                  </a:cubicBezTo>
                  <a:close/>
                </a:path>
              </a:pathLst>
            </a:custGeom>
            <a:solidFill>
              <a:schemeClr val="accent2"/>
            </a:solidFill>
            <a:ln w="25400">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48" name="lemon33-3"/>
            <p:cNvSpPr/>
            <p:nvPr/>
          </p:nvSpPr>
          <p:spPr bwMode="auto">
            <a:xfrm>
              <a:off x="4174687" y="3724424"/>
              <a:ext cx="1197618" cy="1484928"/>
            </a:xfrm>
            <a:custGeom>
              <a:avLst/>
              <a:gdLst>
                <a:gd name="T0" fmla="*/ 1136 w 1136"/>
                <a:gd name="T1" fmla="*/ 0 h 1412"/>
                <a:gd name="T2" fmla="*/ 553 w 1136"/>
                <a:gd name="T3" fmla="*/ 1412 h 1412"/>
                <a:gd name="T4" fmla="*/ 0 w 1136"/>
                <a:gd name="T5" fmla="*/ 862 h 1412"/>
                <a:gd name="T6" fmla="*/ 354 w 1136"/>
                <a:gd name="T7" fmla="*/ 0 h 1412"/>
                <a:gd name="T8" fmla="*/ 1136 w 1136"/>
                <a:gd name="T9" fmla="*/ 0 h 1412"/>
              </a:gdLst>
              <a:ahLst/>
              <a:cxnLst>
                <a:cxn ang="0">
                  <a:pos x="T0" y="T1"/>
                </a:cxn>
                <a:cxn ang="0">
                  <a:pos x="T2" y="T3"/>
                </a:cxn>
                <a:cxn ang="0">
                  <a:pos x="T4" y="T5"/>
                </a:cxn>
                <a:cxn ang="0">
                  <a:pos x="T6" y="T7"/>
                </a:cxn>
                <a:cxn ang="0">
                  <a:pos x="T8" y="T9"/>
                </a:cxn>
              </a:cxnLst>
              <a:rect l="0" t="0" r="r" b="b"/>
              <a:pathLst>
                <a:path w="1136" h="1412">
                  <a:moveTo>
                    <a:pt x="1136" y="0"/>
                  </a:moveTo>
                  <a:cubicBezTo>
                    <a:pt x="1136" y="527"/>
                    <a:pt x="924" y="1038"/>
                    <a:pt x="553" y="1412"/>
                  </a:cubicBezTo>
                  <a:cubicBezTo>
                    <a:pt x="0" y="862"/>
                    <a:pt x="0" y="862"/>
                    <a:pt x="0" y="862"/>
                  </a:cubicBezTo>
                  <a:cubicBezTo>
                    <a:pt x="229" y="632"/>
                    <a:pt x="354" y="325"/>
                    <a:pt x="354" y="0"/>
                  </a:cubicBezTo>
                  <a:cubicBezTo>
                    <a:pt x="1136" y="0"/>
                    <a:pt x="1136" y="0"/>
                    <a:pt x="1136" y="0"/>
                  </a:cubicBezTo>
                  <a:close/>
                </a:path>
              </a:pathLst>
            </a:custGeom>
            <a:solidFill>
              <a:schemeClr val="accent1">
                <a:lumMod val="75000"/>
              </a:schemeClr>
            </a:solidFill>
            <a:ln w="25400">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49" name="lemon33-4"/>
            <p:cNvSpPr/>
            <p:nvPr/>
          </p:nvSpPr>
          <p:spPr bwMode="auto">
            <a:xfrm>
              <a:off x="3195028" y="4695289"/>
              <a:ext cx="1499588" cy="1200548"/>
            </a:xfrm>
            <a:custGeom>
              <a:avLst/>
              <a:gdLst>
                <a:gd name="T0" fmla="*/ 1422 w 1422"/>
                <a:gd name="T1" fmla="*/ 550 h 1142"/>
                <a:gd name="T2" fmla="*/ 1 w 1422"/>
                <a:gd name="T3" fmla="*/ 1142 h 1142"/>
                <a:gd name="T4" fmla="*/ 0 w 1422"/>
                <a:gd name="T5" fmla="*/ 360 h 1142"/>
                <a:gd name="T6" fmla="*/ 869 w 1422"/>
                <a:gd name="T7" fmla="*/ 0 h 1142"/>
                <a:gd name="T8" fmla="*/ 1422 w 1422"/>
                <a:gd name="T9" fmla="*/ 550 h 1142"/>
              </a:gdLst>
              <a:ahLst/>
              <a:cxnLst>
                <a:cxn ang="0">
                  <a:pos x="T0" y="T1"/>
                </a:cxn>
                <a:cxn ang="0">
                  <a:pos x="T2" y="T3"/>
                </a:cxn>
                <a:cxn ang="0">
                  <a:pos x="T4" y="T5"/>
                </a:cxn>
                <a:cxn ang="0">
                  <a:pos x="T6" y="T7"/>
                </a:cxn>
                <a:cxn ang="0">
                  <a:pos x="T8" y="T9"/>
                </a:cxn>
              </a:cxnLst>
              <a:rect l="0" t="0" r="r" b="b"/>
              <a:pathLst>
                <a:path w="1422" h="1142">
                  <a:moveTo>
                    <a:pt x="1422" y="550"/>
                  </a:moveTo>
                  <a:cubicBezTo>
                    <a:pt x="1046" y="928"/>
                    <a:pt x="534" y="1142"/>
                    <a:pt x="1" y="1142"/>
                  </a:cubicBezTo>
                  <a:cubicBezTo>
                    <a:pt x="0" y="360"/>
                    <a:pt x="0" y="360"/>
                    <a:pt x="0" y="360"/>
                  </a:cubicBezTo>
                  <a:cubicBezTo>
                    <a:pt x="327" y="360"/>
                    <a:pt x="638" y="232"/>
                    <a:pt x="869" y="0"/>
                  </a:cubicBezTo>
                  <a:cubicBezTo>
                    <a:pt x="1422" y="550"/>
                    <a:pt x="1422" y="550"/>
                    <a:pt x="1422" y="550"/>
                  </a:cubicBezTo>
                  <a:close/>
                </a:path>
              </a:pathLst>
            </a:custGeom>
            <a:solidFill>
              <a:schemeClr val="accent1">
                <a:lumMod val="60000"/>
                <a:lumOff val="40000"/>
              </a:schemeClr>
            </a:solidFill>
            <a:ln w="25400">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50" name="lemon33-5"/>
            <p:cNvSpPr/>
            <p:nvPr/>
          </p:nvSpPr>
          <p:spPr bwMode="auto">
            <a:xfrm>
              <a:off x="1574129" y="4695289"/>
              <a:ext cx="1498122" cy="1200548"/>
            </a:xfrm>
            <a:custGeom>
              <a:avLst/>
              <a:gdLst>
                <a:gd name="T0" fmla="*/ 1421 w 1421"/>
                <a:gd name="T1" fmla="*/ 1142 h 1142"/>
                <a:gd name="T2" fmla="*/ 0 w 1421"/>
                <a:gd name="T3" fmla="*/ 550 h 1142"/>
                <a:gd name="T4" fmla="*/ 553 w 1421"/>
                <a:gd name="T5" fmla="*/ 0 h 1142"/>
                <a:gd name="T6" fmla="*/ 1421 w 1421"/>
                <a:gd name="T7" fmla="*/ 360 h 1142"/>
                <a:gd name="T8" fmla="*/ 1421 w 1421"/>
                <a:gd name="T9" fmla="*/ 1142 h 1142"/>
              </a:gdLst>
              <a:ahLst/>
              <a:cxnLst>
                <a:cxn ang="0">
                  <a:pos x="T0" y="T1"/>
                </a:cxn>
                <a:cxn ang="0">
                  <a:pos x="T2" y="T3"/>
                </a:cxn>
                <a:cxn ang="0">
                  <a:pos x="T4" y="T5"/>
                </a:cxn>
                <a:cxn ang="0">
                  <a:pos x="T6" y="T7"/>
                </a:cxn>
                <a:cxn ang="0">
                  <a:pos x="T8" y="T9"/>
                </a:cxn>
              </a:cxnLst>
              <a:rect l="0" t="0" r="r" b="b"/>
              <a:pathLst>
                <a:path w="1421" h="1142">
                  <a:moveTo>
                    <a:pt x="1421" y="1142"/>
                  </a:moveTo>
                  <a:cubicBezTo>
                    <a:pt x="888" y="1142"/>
                    <a:pt x="376" y="928"/>
                    <a:pt x="0" y="550"/>
                  </a:cubicBezTo>
                  <a:cubicBezTo>
                    <a:pt x="553" y="0"/>
                    <a:pt x="553" y="0"/>
                    <a:pt x="553" y="0"/>
                  </a:cubicBezTo>
                  <a:cubicBezTo>
                    <a:pt x="783" y="232"/>
                    <a:pt x="1095" y="360"/>
                    <a:pt x="1421" y="360"/>
                  </a:cubicBezTo>
                  <a:cubicBezTo>
                    <a:pt x="1421" y="1142"/>
                    <a:pt x="1421" y="1142"/>
                    <a:pt x="1421" y="1142"/>
                  </a:cubicBezTo>
                  <a:close/>
                </a:path>
              </a:pathLst>
            </a:custGeom>
            <a:solidFill>
              <a:schemeClr val="accent2">
                <a:lumMod val="60000"/>
                <a:lumOff val="40000"/>
              </a:schemeClr>
            </a:solidFill>
            <a:ln w="25400">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51" name="lemon33-6"/>
            <p:cNvSpPr/>
            <p:nvPr/>
          </p:nvSpPr>
          <p:spPr bwMode="auto">
            <a:xfrm>
              <a:off x="676658" y="2961082"/>
              <a:ext cx="1408702" cy="2217862"/>
            </a:xfrm>
            <a:custGeom>
              <a:avLst/>
              <a:gdLst>
                <a:gd name="T0" fmla="*/ 201 w 1337"/>
                <a:gd name="T1" fmla="*/ 644 h 2109"/>
                <a:gd name="T2" fmla="*/ 0 w 1337"/>
                <a:gd name="T3" fmla="*/ 745 h 2109"/>
                <a:gd name="T4" fmla="*/ 0 w 1337"/>
                <a:gd name="T5" fmla="*/ 297 h 2109"/>
                <a:gd name="T6" fmla="*/ 596 w 1337"/>
                <a:gd name="T7" fmla="*/ 0 h 2109"/>
                <a:gd name="T8" fmla="*/ 1191 w 1337"/>
                <a:gd name="T9" fmla="*/ 297 h 2109"/>
                <a:gd name="T10" fmla="*/ 1190 w 1337"/>
                <a:gd name="T11" fmla="*/ 745 h 2109"/>
                <a:gd name="T12" fmla="*/ 984 w 1337"/>
                <a:gd name="T13" fmla="*/ 641 h 2109"/>
                <a:gd name="T14" fmla="*/ 1337 w 1337"/>
                <a:gd name="T15" fmla="*/ 1559 h 2109"/>
                <a:gd name="T16" fmla="*/ 784 w 1337"/>
                <a:gd name="T17" fmla="*/ 2109 h 2109"/>
                <a:gd name="T18" fmla="*/ 201 w 1337"/>
                <a:gd name="T19" fmla="*/ 644 h 2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7" h="2109">
                  <a:moveTo>
                    <a:pt x="201" y="644"/>
                  </a:moveTo>
                  <a:cubicBezTo>
                    <a:pt x="0" y="745"/>
                    <a:pt x="0" y="745"/>
                    <a:pt x="0" y="745"/>
                  </a:cubicBezTo>
                  <a:cubicBezTo>
                    <a:pt x="0" y="297"/>
                    <a:pt x="0" y="297"/>
                    <a:pt x="0" y="297"/>
                  </a:cubicBezTo>
                  <a:cubicBezTo>
                    <a:pt x="596" y="0"/>
                    <a:pt x="596" y="0"/>
                    <a:pt x="596" y="0"/>
                  </a:cubicBezTo>
                  <a:cubicBezTo>
                    <a:pt x="1191" y="297"/>
                    <a:pt x="1191" y="297"/>
                    <a:pt x="1191" y="297"/>
                  </a:cubicBezTo>
                  <a:cubicBezTo>
                    <a:pt x="1190" y="745"/>
                    <a:pt x="1190" y="745"/>
                    <a:pt x="1190" y="745"/>
                  </a:cubicBezTo>
                  <a:cubicBezTo>
                    <a:pt x="984" y="641"/>
                    <a:pt x="984" y="641"/>
                    <a:pt x="984" y="641"/>
                  </a:cubicBezTo>
                  <a:cubicBezTo>
                    <a:pt x="969" y="987"/>
                    <a:pt x="1093" y="1314"/>
                    <a:pt x="1337" y="1559"/>
                  </a:cubicBezTo>
                  <a:cubicBezTo>
                    <a:pt x="784" y="2109"/>
                    <a:pt x="784" y="2109"/>
                    <a:pt x="784" y="2109"/>
                  </a:cubicBezTo>
                  <a:cubicBezTo>
                    <a:pt x="401" y="1724"/>
                    <a:pt x="186" y="1188"/>
                    <a:pt x="201" y="644"/>
                  </a:cubicBezTo>
                  <a:close/>
                </a:path>
              </a:pathLst>
            </a:custGeom>
            <a:solidFill>
              <a:schemeClr val="accent2"/>
            </a:solidFill>
            <a:ln w="25400">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4480FB"/>
                </a:solidFill>
                <a:effectLst/>
                <a:uLnTx/>
                <a:uFillTx/>
                <a:cs typeface="+mn-ea"/>
                <a:sym typeface="+mn-lt"/>
              </a:endParaRPr>
            </a:p>
          </p:txBody>
        </p:sp>
        <p:sp>
          <p:nvSpPr>
            <p:cNvPr id="152" name="lemon33-7"/>
            <p:cNvSpPr>
              <a:spLocks noChangeArrowheads="1"/>
            </p:cNvSpPr>
            <p:nvPr/>
          </p:nvSpPr>
          <p:spPr bwMode="auto">
            <a:xfrm>
              <a:off x="1292902" y="1287919"/>
              <a:ext cx="1639888" cy="1636713"/>
            </a:xfrm>
            <a:prstGeom prst="ellipse">
              <a:avLst/>
            </a:prstGeom>
            <a:solidFill>
              <a:schemeClr val="accent1"/>
            </a:soli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53" name="lemon33-8"/>
            <p:cNvSpPr/>
            <p:nvPr/>
          </p:nvSpPr>
          <p:spPr bwMode="auto">
            <a:xfrm>
              <a:off x="1464352" y="1459369"/>
              <a:ext cx="1350963" cy="1293813"/>
            </a:xfrm>
            <a:custGeom>
              <a:avLst/>
              <a:gdLst>
                <a:gd name="T0" fmla="*/ 568 w 1183"/>
                <a:gd name="T1" fmla="*/ 1136 h 1136"/>
                <a:gd name="T2" fmla="*/ 0 w 1183"/>
                <a:gd name="T3" fmla="*/ 568 h 1136"/>
                <a:gd name="T4" fmla="*/ 568 w 1183"/>
                <a:gd name="T5" fmla="*/ 0 h 1136"/>
                <a:gd name="T6" fmla="*/ 1136 w 1183"/>
                <a:gd name="T7" fmla="*/ 553 h 1136"/>
                <a:gd name="T8" fmla="*/ 1183 w 1183"/>
                <a:gd name="T9" fmla="*/ 505 h 1136"/>
                <a:gd name="T10" fmla="*/ 1183 w 1183"/>
                <a:gd name="T11" fmla="*/ 568 h 1136"/>
                <a:gd name="T12" fmla="*/ 1121 w 1183"/>
                <a:gd name="T13" fmla="*/ 631 h 1136"/>
                <a:gd name="T14" fmla="*/ 1058 w 1183"/>
                <a:gd name="T15" fmla="*/ 568 h 1136"/>
                <a:gd name="T16" fmla="*/ 1058 w 1183"/>
                <a:gd name="T17" fmla="*/ 505 h 1136"/>
                <a:gd name="T18" fmla="*/ 1105 w 1183"/>
                <a:gd name="T19" fmla="*/ 552 h 1136"/>
                <a:gd name="T20" fmla="*/ 568 w 1183"/>
                <a:gd name="T21" fmla="*/ 31 h 1136"/>
                <a:gd name="T22" fmla="*/ 31 w 1183"/>
                <a:gd name="T23" fmla="*/ 568 h 1136"/>
                <a:gd name="T24" fmla="*/ 568 w 1183"/>
                <a:gd name="T25" fmla="*/ 1105 h 1136"/>
                <a:gd name="T26" fmla="*/ 568 w 1183"/>
                <a:gd name="T27" fmla="*/ 1136 h 1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83" h="1136">
                  <a:moveTo>
                    <a:pt x="568" y="1136"/>
                  </a:moveTo>
                  <a:cubicBezTo>
                    <a:pt x="254" y="1136"/>
                    <a:pt x="0" y="882"/>
                    <a:pt x="0" y="568"/>
                  </a:cubicBezTo>
                  <a:cubicBezTo>
                    <a:pt x="0" y="254"/>
                    <a:pt x="254" y="0"/>
                    <a:pt x="568" y="0"/>
                  </a:cubicBezTo>
                  <a:cubicBezTo>
                    <a:pt x="876" y="0"/>
                    <a:pt x="1127" y="245"/>
                    <a:pt x="1136" y="553"/>
                  </a:cubicBezTo>
                  <a:cubicBezTo>
                    <a:pt x="1183" y="505"/>
                    <a:pt x="1183" y="505"/>
                    <a:pt x="1183" y="505"/>
                  </a:cubicBezTo>
                  <a:cubicBezTo>
                    <a:pt x="1183" y="568"/>
                    <a:pt x="1183" y="568"/>
                    <a:pt x="1183" y="568"/>
                  </a:cubicBezTo>
                  <a:cubicBezTo>
                    <a:pt x="1121" y="631"/>
                    <a:pt x="1121" y="631"/>
                    <a:pt x="1121" y="631"/>
                  </a:cubicBezTo>
                  <a:cubicBezTo>
                    <a:pt x="1058" y="568"/>
                    <a:pt x="1058" y="568"/>
                    <a:pt x="1058" y="568"/>
                  </a:cubicBezTo>
                  <a:cubicBezTo>
                    <a:pt x="1058" y="505"/>
                    <a:pt x="1058" y="505"/>
                    <a:pt x="1058" y="505"/>
                  </a:cubicBezTo>
                  <a:cubicBezTo>
                    <a:pt x="1105" y="552"/>
                    <a:pt x="1105" y="552"/>
                    <a:pt x="1105" y="552"/>
                  </a:cubicBezTo>
                  <a:cubicBezTo>
                    <a:pt x="1096" y="263"/>
                    <a:pt x="859" y="31"/>
                    <a:pt x="568" y="31"/>
                  </a:cubicBezTo>
                  <a:cubicBezTo>
                    <a:pt x="272" y="31"/>
                    <a:pt x="31" y="271"/>
                    <a:pt x="31" y="568"/>
                  </a:cubicBezTo>
                  <a:cubicBezTo>
                    <a:pt x="31" y="864"/>
                    <a:pt x="272" y="1105"/>
                    <a:pt x="568" y="1105"/>
                  </a:cubicBezTo>
                  <a:cubicBezTo>
                    <a:pt x="568" y="1136"/>
                    <a:pt x="568" y="1136"/>
                    <a:pt x="568" y="1136"/>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54" name="lemon33-9"/>
            <p:cNvSpPr/>
            <p:nvPr/>
          </p:nvSpPr>
          <p:spPr bwMode="auto">
            <a:xfrm>
              <a:off x="1996165" y="1738768"/>
              <a:ext cx="230188" cy="274638"/>
            </a:xfrm>
            <a:custGeom>
              <a:avLst/>
              <a:gdLst>
                <a:gd name="T0" fmla="*/ 191 w 201"/>
                <a:gd name="T1" fmla="*/ 108 h 240"/>
                <a:gd name="T2" fmla="*/ 186 w 201"/>
                <a:gd name="T3" fmla="*/ 108 h 240"/>
                <a:gd name="T4" fmla="*/ 187 w 201"/>
                <a:gd name="T5" fmla="*/ 84 h 240"/>
                <a:gd name="T6" fmla="*/ 101 w 201"/>
                <a:gd name="T7" fmla="*/ 0 h 240"/>
                <a:gd name="T8" fmla="*/ 14 w 201"/>
                <a:gd name="T9" fmla="*/ 84 h 240"/>
                <a:gd name="T10" fmla="*/ 15 w 201"/>
                <a:gd name="T11" fmla="*/ 108 h 240"/>
                <a:gd name="T12" fmla="*/ 11 w 201"/>
                <a:gd name="T13" fmla="*/ 108 h 240"/>
                <a:gd name="T14" fmla="*/ 5 w 201"/>
                <a:gd name="T15" fmla="*/ 136 h 240"/>
                <a:gd name="T16" fmla="*/ 23 w 201"/>
                <a:gd name="T17" fmla="*/ 156 h 240"/>
                <a:gd name="T18" fmla="*/ 100 w 201"/>
                <a:gd name="T19" fmla="*/ 238 h 240"/>
                <a:gd name="T20" fmla="*/ 101 w 201"/>
                <a:gd name="T21" fmla="*/ 238 h 240"/>
                <a:gd name="T22" fmla="*/ 101 w 201"/>
                <a:gd name="T23" fmla="*/ 238 h 240"/>
                <a:gd name="T24" fmla="*/ 178 w 201"/>
                <a:gd name="T25" fmla="*/ 156 h 240"/>
                <a:gd name="T26" fmla="*/ 197 w 201"/>
                <a:gd name="T27" fmla="*/ 136 h 240"/>
                <a:gd name="T28" fmla="*/ 191 w 201"/>
                <a:gd name="T29" fmla="*/ 108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1" h="240">
                  <a:moveTo>
                    <a:pt x="191" y="108"/>
                  </a:moveTo>
                  <a:cubicBezTo>
                    <a:pt x="189" y="108"/>
                    <a:pt x="188" y="108"/>
                    <a:pt x="186" y="108"/>
                  </a:cubicBezTo>
                  <a:cubicBezTo>
                    <a:pt x="187" y="103"/>
                    <a:pt x="187" y="88"/>
                    <a:pt x="187" y="84"/>
                  </a:cubicBezTo>
                  <a:cubicBezTo>
                    <a:pt x="189" y="34"/>
                    <a:pt x="149" y="0"/>
                    <a:pt x="101" y="0"/>
                  </a:cubicBezTo>
                  <a:cubicBezTo>
                    <a:pt x="53" y="0"/>
                    <a:pt x="13" y="34"/>
                    <a:pt x="14" y="84"/>
                  </a:cubicBezTo>
                  <a:cubicBezTo>
                    <a:pt x="14" y="88"/>
                    <a:pt x="14" y="103"/>
                    <a:pt x="15" y="108"/>
                  </a:cubicBezTo>
                  <a:cubicBezTo>
                    <a:pt x="13" y="108"/>
                    <a:pt x="12" y="108"/>
                    <a:pt x="11" y="108"/>
                  </a:cubicBezTo>
                  <a:cubicBezTo>
                    <a:pt x="3" y="111"/>
                    <a:pt x="0" y="124"/>
                    <a:pt x="5" y="136"/>
                  </a:cubicBezTo>
                  <a:cubicBezTo>
                    <a:pt x="8" y="148"/>
                    <a:pt x="16" y="155"/>
                    <a:pt x="23" y="156"/>
                  </a:cubicBezTo>
                  <a:cubicBezTo>
                    <a:pt x="31" y="240"/>
                    <a:pt x="100" y="238"/>
                    <a:pt x="100" y="238"/>
                  </a:cubicBezTo>
                  <a:cubicBezTo>
                    <a:pt x="101" y="238"/>
                    <a:pt x="101" y="238"/>
                    <a:pt x="101" y="238"/>
                  </a:cubicBezTo>
                  <a:cubicBezTo>
                    <a:pt x="101" y="238"/>
                    <a:pt x="101" y="238"/>
                    <a:pt x="101" y="238"/>
                  </a:cubicBezTo>
                  <a:cubicBezTo>
                    <a:pt x="101" y="238"/>
                    <a:pt x="171" y="240"/>
                    <a:pt x="178" y="156"/>
                  </a:cubicBezTo>
                  <a:cubicBezTo>
                    <a:pt x="185" y="155"/>
                    <a:pt x="193" y="148"/>
                    <a:pt x="197" y="136"/>
                  </a:cubicBezTo>
                  <a:cubicBezTo>
                    <a:pt x="201" y="124"/>
                    <a:pt x="198" y="111"/>
                    <a:pt x="191" y="108"/>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55" name="lemon33-10"/>
            <p:cNvSpPr>
              <a:spLocks noEditPoints="1"/>
            </p:cNvSpPr>
            <p:nvPr/>
          </p:nvSpPr>
          <p:spPr bwMode="auto">
            <a:xfrm>
              <a:off x="1885040" y="2013406"/>
              <a:ext cx="506413" cy="374650"/>
            </a:xfrm>
            <a:custGeom>
              <a:avLst/>
              <a:gdLst>
                <a:gd name="T0" fmla="*/ 401 w 443"/>
                <a:gd name="T1" fmla="*/ 287 h 329"/>
                <a:gd name="T2" fmla="*/ 323 w 443"/>
                <a:gd name="T3" fmla="*/ 319 h 329"/>
                <a:gd name="T4" fmla="*/ 245 w 443"/>
                <a:gd name="T5" fmla="*/ 287 h 329"/>
                <a:gd name="T6" fmla="*/ 213 w 443"/>
                <a:gd name="T7" fmla="*/ 209 h 329"/>
                <a:gd name="T8" fmla="*/ 245 w 443"/>
                <a:gd name="T9" fmla="*/ 131 h 329"/>
                <a:gd name="T10" fmla="*/ 323 w 443"/>
                <a:gd name="T11" fmla="*/ 99 h 329"/>
                <a:gd name="T12" fmla="*/ 401 w 443"/>
                <a:gd name="T13" fmla="*/ 131 h 329"/>
                <a:gd name="T14" fmla="*/ 433 w 443"/>
                <a:gd name="T15" fmla="*/ 209 h 329"/>
                <a:gd name="T16" fmla="*/ 401 w 443"/>
                <a:gd name="T17" fmla="*/ 287 h 329"/>
                <a:gd name="T18" fmla="*/ 395 w 443"/>
                <a:gd name="T19" fmla="*/ 114 h 329"/>
                <a:gd name="T20" fmla="*/ 283 w 443"/>
                <a:gd name="T21" fmla="*/ 0 h 329"/>
                <a:gd name="T22" fmla="*/ 244 w 443"/>
                <a:gd name="T23" fmla="*/ 39 h 329"/>
                <a:gd name="T24" fmla="*/ 227 w 443"/>
                <a:gd name="T25" fmla="*/ 39 h 329"/>
                <a:gd name="T26" fmla="*/ 197 w 443"/>
                <a:gd name="T27" fmla="*/ 9 h 329"/>
                <a:gd name="T28" fmla="*/ 197 w 443"/>
                <a:gd name="T29" fmla="*/ 9 h 329"/>
                <a:gd name="T30" fmla="*/ 197 w 443"/>
                <a:gd name="T31" fmla="*/ 9 h 329"/>
                <a:gd name="T32" fmla="*/ 167 w 443"/>
                <a:gd name="T33" fmla="*/ 39 h 329"/>
                <a:gd name="T34" fmla="*/ 150 w 443"/>
                <a:gd name="T35" fmla="*/ 39 h 329"/>
                <a:gd name="T36" fmla="*/ 112 w 443"/>
                <a:gd name="T37" fmla="*/ 0 h 329"/>
                <a:gd name="T38" fmla="*/ 0 w 443"/>
                <a:gd name="T39" fmla="*/ 119 h 329"/>
                <a:gd name="T40" fmla="*/ 0 w 443"/>
                <a:gd name="T41" fmla="*/ 268 h 329"/>
                <a:gd name="T42" fmla="*/ 67 w 443"/>
                <a:gd name="T43" fmla="*/ 303 h 329"/>
                <a:gd name="T44" fmla="*/ 67 w 443"/>
                <a:gd name="T45" fmla="*/ 150 h 329"/>
                <a:gd name="T46" fmla="*/ 77 w 443"/>
                <a:gd name="T47" fmla="*/ 110 h 329"/>
                <a:gd name="T48" fmla="*/ 77 w 443"/>
                <a:gd name="T49" fmla="*/ 306 h 329"/>
                <a:gd name="T50" fmla="*/ 198 w 443"/>
                <a:gd name="T51" fmla="*/ 327 h 329"/>
                <a:gd name="T52" fmla="*/ 275 w 443"/>
                <a:gd name="T53" fmla="*/ 319 h 329"/>
                <a:gd name="T54" fmla="*/ 275 w 443"/>
                <a:gd name="T55" fmla="*/ 319 h 329"/>
                <a:gd name="T56" fmla="*/ 323 w 443"/>
                <a:gd name="T57" fmla="*/ 329 h 329"/>
                <a:gd name="T58" fmla="*/ 443 w 443"/>
                <a:gd name="T59" fmla="*/ 209 h 329"/>
                <a:gd name="T60" fmla="*/ 395 w 443"/>
                <a:gd name="T61" fmla="*/ 114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3" h="329">
                  <a:moveTo>
                    <a:pt x="401" y="287"/>
                  </a:moveTo>
                  <a:cubicBezTo>
                    <a:pt x="380" y="307"/>
                    <a:pt x="352" y="319"/>
                    <a:pt x="323" y="319"/>
                  </a:cubicBezTo>
                  <a:cubicBezTo>
                    <a:pt x="294" y="319"/>
                    <a:pt x="266" y="307"/>
                    <a:pt x="245" y="287"/>
                  </a:cubicBezTo>
                  <a:cubicBezTo>
                    <a:pt x="225" y="266"/>
                    <a:pt x="213" y="238"/>
                    <a:pt x="213" y="209"/>
                  </a:cubicBezTo>
                  <a:cubicBezTo>
                    <a:pt x="213" y="180"/>
                    <a:pt x="225" y="152"/>
                    <a:pt x="245" y="131"/>
                  </a:cubicBezTo>
                  <a:cubicBezTo>
                    <a:pt x="266" y="111"/>
                    <a:pt x="294" y="99"/>
                    <a:pt x="323" y="99"/>
                  </a:cubicBezTo>
                  <a:cubicBezTo>
                    <a:pt x="352" y="99"/>
                    <a:pt x="380" y="111"/>
                    <a:pt x="401" y="131"/>
                  </a:cubicBezTo>
                  <a:cubicBezTo>
                    <a:pt x="421" y="152"/>
                    <a:pt x="433" y="180"/>
                    <a:pt x="433" y="209"/>
                  </a:cubicBezTo>
                  <a:cubicBezTo>
                    <a:pt x="433" y="238"/>
                    <a:pt x="421" y="266"/>
                    <a:pt x="401" y="287"/>
                  </a:cubicBezTo>
                  <a:close/>
                  <a:moveTo>
                    <a:pt x="395" y="114"/>
                  </a:moveTo>
                  <a:cubicBezTo>
                    <a:pt x="392" y="53"/>
                    <a:pt x="343" y="3"/>
                    <a:pt x="283" y="0"/>
                  </a:cubicBezTo>
                  <a:cubicBezTo>
                    <a:pt x="244" y="39"/>
                    <a:pt x="244" y="39"/>
                    <a:pt x="244" y="39"/>
                  </a:cubicBezTo>
                  <a:cubicBezTo>
                    <a:pt x="239" y="44"/>
                    <a:pt x="232" y="44"/>
                    <a:pt x="227" y="39"/>
                  </a:cubicBezTo>
                  <a:cubicBezTo>
                    <a:pt x="197" y="9"/>
                    <a:pt x="197" y="9"/>
                    <a:pt x="197" y="9"/>
                  </a:cubicBezTo>
                  <a:cubicBezTo>
                    <a:pt x="197" y="9"/>
                    <a:pt x="197" y="9"/>
                    <a:pt x="197" y="9"/>
                  </a:cubicBezTo>
                  <a:cubicBezTo>
                    <a:pt x="197" y="9"/>
                    <a:pt x="197" y="9"/>
                    <a:pt x="197" y="9"/>
                  </a:cubicBezTo>
                  <a:cubicBezTo>
                    <a:pt x="167" y="39"/>
                    <a:pt x="167" y="39"/>
                    <a:pt x="167" y="39"/>
                  </a:cubicBezTo>
                  <a:cubicBezTo>
                    <a:pt x="163" y="44"/>
                    <a:pt x="155" y="44"/>
                    <a:pt x="150" y="39"/>
                  </a:cubicBezTo>
                  <a:cubicBezTo>
                    <a:pt x="112" y="0"/>
                    <a:pt x="112" y="0"/>
                    <a:pt x="112" y="0"/>
                  </a:cubicBezTo>
                  <a:cubicBezTo>
                    <a:pt x="50" y="4"/>
                    <a:pt x="0" y="56"/>
                    <a:pt x="0" y="119"/>
                  </a:cubicBezTo>
                  <a:cubicBezTo>
                    <a:pt x="0" y="268"/>
                    <a:pt x="0" y="268"/>
                    <a:pt x="0" y="268"/>
                  </a:cubicBezTo>
                  <a:cubicBezTo>
                    <a:pt x="21" y="282"/>
                    <a:pt x="43" y="294"/>
                    <a:pt x="67" y="303"/>
                  </a:cubicBezTo>
                  <a:cubicBezTo>
                    <a:pt x="67" y="150"/>
                    <a:pt x="67" y="150"/>
                    <a:pt x="67" y="150"/>
                  </a:cubicBezTo>
                  <a:cubicBezTo>
                    <a:pt x="67" y="133"/>
                    <a:pt x="70" y="120"/>
                    <a:pt x="77" y="110"/>
                  </a:cubicBezTo>
                  <a:cubicBezTo>
                    <a:pt x="77" y="110"/>
                    <a:pt x="77" y="192"/>
                    <a:pt x="77" y="306"/>
                  </a:cubicBezTo>
                  <a:cubicBezTo>
                    <a:pt x="114" y="320"/>
                    <a:pt x="155" y="327"/>
                    <a:pt x="198" y="327"/>
                  </a:cubicBezTo>
                  <a:cubicBezTo>
                    <a:pt x="224" y="327"/>
                    <a:pt x="250" y="324"/>
                    <a:pt x="275" y="319"/>
                  </a:cubicBezTo>
                  <a:cubicBezTo>
                    <a:pt x="275" y="319"/>
                    <a:pt x="275" y="319"/>
                    <a:pt x="275" y="319"/>
                  </a:cubicBezTo>
                  <a:cubicBezTo>
                    <a:pt x="290" y="325"/>
                    <a:pt x="306" y="329"/>
                    <a:pt x="323" y="329"/>
                  </a:cubicBezTo>
                  <a:cubicBezTo>
                    <a:pt x="389" y="329"/>
                    <a:pt x="443" y="275"/>
                    <a:pt x="443" y="209"/>
                  </a:cubicBezTo>
                  <a:cubicBezTo>
                    <a:pt x="443" y="170"/>
                    <a:pt x="424" y="136"/>
                    <a:pt x="395" y="114"/>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56" name="lemon33-11"/>
            <p:cNvSpPr/>
            <p:nvPr/>
          </p:nvSpPr>
          <p:spPr bwMode="auto">
            <a:xfrm>
              <a:off x="2208890" y="2165806"/>
              <a:ext cx="90488" cy="171450"/>
            </a:xfrm>
            <a:custGeom>
              <a:avLst/>
              <a:gdLst>
                <a:gd name="T0" fmla="*/ 74 w 80"/>
                <a:gd name="T1" fmla="*/ 82 h 150"/>
                <a:gd name="T2" fmla="*/ 50 w 80"/>
                <a:gd name="T3" fmla="*/ 66 h 150"/>
                <a:gd name="T4" fmla="*/ 48 w 80"/>
                <a:gd name="T5" fmla="*/ 65 h 150"/>
                <a:gd name="T6" fmla="*/ 34 w 80"/>
                <a:gd name="T7" fmla="*/ 57 h 150"/>
                <a:gd name="T8" fmla="*/ 29 w 80"/>
                <a:gd name="T9" fmla="*/ 53 h 150"/>
                <a:gd name="T10" fmla="*/ 28 w 80"/>
                <a:gd name="T11" fmla="*/ 52 h 150"/>
                <a:gd name="T12" fmla="*/ 27 w 80"/>
                <a:gd name="T13" fmla="*/ 46 h 150"/>
                <a:gd name="T14" fmla="*/ 29 w 80"/>
                <a:gd name="T15" fmla="*/ 39 h 150"/>
                <a:gd name="T16" fmla="*/ 31 w 80"/>
                <a:gd name="T17" fmla="*/ 37 h 150"/>
                <a:gd name="T18" fmla="*/ 42 w 80"/>
                <a:gd name="T19" fmla="*/ 34 h 150"/>
                <a:gd name="T20" fmla="*/ 48 w 80"/>
                <a:gd name="T21" fmla="*/ 34 h 150"/>
                <a:gd name="T22" fmla="*/ 55 w 80"/>
                <a:gd name="T23" fmla="*/ 35 h 150"/>
                <a:gd name="T24" fmla="*/ 71 w 80"/>
                <a:gd name="T25" fmla="*/ 41 h 150"/>
                <a:gd name="T26" fmla="*/ 79 w 80"/>
                <a:gd name="T27" fmla="*/ 21 h 150"/>
                <a:gd name="T28" fmla="*/ 61 w 80"/>
                <a:gd name="T29" fmla="*/ 14 h 150"/>
                <a:gd name="T30" fmla="*/ 48 w 80"/>
                <a:gd name="T31" fmla="*/ 12 h 150"/>
                <a:gd name="T32" fmla="*/ 48 w 80"/>
                <a:gd name="T33" fmla="*/ 0 h 150"/>
                <a:gd name="T34" fmla="*/ 29 w 80"/>
                <a:gd name="T35" fmla="*/ 0 h 150"/>
                <a:gd name="T36" fmla="*/ 29 w 80"/>
                <a:gd name="T37" fmla="*/ 13 h 150"/>
                <a:gd name="T38" fmla="*/ 12 w 80"/>
                <a:gd name="T39" fmla="*/ 21 h 150"/>
                <a:gd name="T40" fmla="*/ 1 w 80"/>
                <a:gd name="T41" fmla="*/ 47 h 150"/>
                <a:gd name="T42" fmla="*/ 5 w 80"/>
                <a:gd name="T43" fmla="*/ 62 h 150"/>
                <a:gd name="T44" fmla="*/ 14 w 80"/>
                <a:gd name="T45" fmla="*/ 73 h 150"/>
                <a:gd name="T46" fmla="*/ 29 w 80"/>
                <a:gd name="T47" fmla="*/ 83 h 150"/>
                <a:gd name="T48" fmla="*/ 31 w 80"/>
                <a:gd name="T49" fmla="*/ 84 h 150"/>
                <a:gd name="T50" fmla="*/ 47 w 80"/>
                <a:gd name="T51" fmla="*/ 92 h 150"/>
                <a:gd name="T52" fmla="*/ 48 w 80"/>
                <a:gd name="T53" fmla="*/ 93 h 150"/>
                <a:gd name="T54" fmla="*/ 52 w 80"/>
                <a:gd name="T55" fmla="*/ 97 h 150"/>
                <a:gd name="T56" fmla="*/ 55 w 80"/>
                <a:gd name="T57" fmla="*/ 104 h 150"/>
                <a:gd name="T58" fmla="*/ 50 w 80"/>
                <a:gd name="T59" fmla="*/ 113 h 150"/>
                <a:gd name="T60" fmla="*/ 48 w 80"/>
                <a:gd name="T61" fmla="*/ 115 h 150"/>
                <a:gd name="T62" fmla="*/ 37 w 80"/>
                <a:gd name="T63" fmla="*/ 117 h 150"/>
                <a:gd name="T64" fmla="*/ 29 w 80"/>
                <a:gd name="T65" fmla="*/ 116 h 150"/>
                <a:gd name="T66" fmla="*/ 21 w 80"/>
                <a:gd name="T67" fmla="*/ 114 h 150"/>
                <a:gd name="T68" fmla="*/ 0 w 80"/>
                <a:gd name="T69" fmla="*/ 107 h 150"/>
                <a:gd name="T70" fmla="*/ 0 w 80"/>
                <a:gd name="T71" fmla="*/ 131 h 150"/>
                <a:gd name="T72" fmla="*/ 29 w 80"/>
                <a:gd name="T73" fmla="*/ 138 h 150"/>
                <a:gd name="T74" fmla="*/ 29 w 80"/>
                <a:gd name="T75" fmla="*/ 150 h 150"/>
                <a:gd name="T76" fmla="*/ 48 w 80"/>
                <a:gd name="T77" fmla="*/ 150 h 150"/>
                <a:gd name="T78" fmla="*/ 48 w 80"/>
                <a:gd name="T79" fmla="*/ 137 h 150"/>
                <a:gd name="T80" fmla="*/ 68 w 80"/>
                <a:gd name="T81" fmla="*/ 129 h 150"/>
                <a:gd name="T82" fmla="*/ 80 w 80"/>
                <a:gd name="T83" fmla="*/ 102 h 150"/>
                <a:gd name="T84" fmla="*/ 74 w 80"/>
                <a:gd name="T85" fmla="*/ 82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0" h="150">
                  <a:moveTo>
                    <a:pt x="74" y="82"/>
                  </a:moveTo>
                  <a:cubicBezTo>
                    <a:pt x="69" y="77"/>
                    <a:pt x="62" y="71"/>
                    <a:pt x="50" y="66"/>
                  </a:cubicBezTo>
                  <a:cubicBezTo>
                    <a:pt x="49" y="65"/>
                    <a:pt x="49" y="65"/>
                    <a:pt x="48" y="65"/>
                  </a:cubicBezTo>
                  <a:cubicBezTo>
                    <a:pt x="41" y="61"/>
                    <a:pt x="36" y="59"/>
                    <a:pt x="34" y="57"/>
                  </a:cubicBezTo>
                  <a:cubicBezTo>
                    <a:pt x="32" y="56"/>
                    <a:pt x="30" y="55"/>
                    <a:pt x="29" y="53"/>
                  </a:cubicBezTo>
                  <a:cubicBezTo>
                    <a:pt x="29" y="53"/>
                    <a:pt x="29" y="52"/>
                    <a:pt x="28" y="52"/>
                  </a:cubicBezTo>
                  <a:cubicBezTo>
                    <a:pt x="27" y="50"/>
                    <a:pt x="27" y="48"/>
                    <a:pt x="27" y="46"/>
                  </a:cubicBezTo>
                  <a:cubicBezTo>
                    <a:pt x="27" y="43"/>
                    <a:pt x="28" y="41"/>
                    <a:pt x="29" y="39"/>
                  </a:cubicBezTo>
                  <a:cubicBezTo>
                    <a:pt x="30" y="38"/>
                    <a:pt x="30" y="38"/>
                    <a:pt x="31" y="37"/>
                  </a:cubicBezTo>
                  <a:cubicBezTo>
                    <a:pt x="33" y="35"/>
                    <a:pt x="37" y="34"/>
                    <a:pt x="42" y="34"/>
                  </a:cubicBezTo>
                  <a:cubicBezTo>
                    <a:pt x="44" y="34"/>
                    <a:pt x="46" y="34"/>
                    <a:pt x="48" y="34"/>
                  </a:cubicBezTo>
                  <a:cubicBezTo>
                    <a:pt x="50" y="34"/>
                    <a:pt x="53" y="35"/>
                    <a:pt x="55" y="35"/>
                  </a:cubicBezTo>
                  <a:cubicBezTo>
                    <a:pt x="59" y="36"/>
                    <a:pt x="65" y="38"/>
                    <a:pt x="71" y="41"/>
                  </a:cubicBezTo>
                  <a:cubicBezTo>
                    <a:pt x="79" y="21"/>
                    <a:pt x="79" y="21"/>
                    <a:pt x="79" y="21"/>
                  </a:cubicBezTo>
                  <a:cubicBezTo>
                    <a:pt x="73" y="18"/>
                    <a:pt x="67" y="16"/>
                    <a:pt x="61" y="14"/>
                  </a:cubicBezTo>
                  <a:cubicBezTo>
                    <a:pt x="57" y="13"/>
                    <a:pt x="53" y="12"/>
                    <a:pt x="48" y="12"/>
                  </a:cubicBezTo>
                  <a:cubicBezTo>
                    <a:pt x="48" y="0"/>
                    <a:pt x="48" y="0"/>
                    <a:pt x="48" y="0"/>
                  </a:cubicBezTo>
                  <a:cubicBezTo>
                    <a:pt x="29" y="0"/>
                    <a:pt x="29" y="0"/>
                    <a:pt x="29" y="0"/>
                  </a:cubicBezTo>
                  <a:cubicBezTo>
                    <a:pt x="29" y="13"/>
                    <a:pt x="29" y="13"/>
                    <a:pt x="29" y="13"/>
                  </a:cubicBezTo>
                  <a:cubicBezTo>
                    <a:pt x="23" y="15"/>
                    <a:pt x="17" y="17"/>
                    <a:pt x="12" y="21"/>
                  </a:cubicBezTo>
                  <a:cubicBezTo>
                    <a:pt x="5" y="27"/>
                    <a:pt x="1" y="36"/>
                    <a:pt x="1" y="47"/>
                  </a:cubicBezTo>
                  <a:cubicBezTo>
                    <a:pt x="1" y="53"/>
                    <a:pt x="3" y="58"/>
                    <a:pt x="5" y="62"/>
                  </a:cubicBezTo>
                  <a:cubicBezTo>
                    <a:pt x="7" y="66"/>
                    <a:pt x="10" y="70"/>
                    <a:pt x="14" y="73"/>
                  </a:cubicBezTo>
                  <a:cubicBezTo>
                    <a:pt x="17" y="76"/>
                    <a:pt x="22" y="80"/>
                    <a:pt x="29" y="83"/>
                  </a:cubicBezTo>
                  <a:cubicBezTo>
                    <a:pt x="30" y="83"/>
                    <a:pt x="30" y="83"/>
                    <a:pt x="31" y="84"/>
                  </a:cubicBezTo>
                  <a:cubicBezTo>
                    <a:pt x="39" y="87"/>
                    <a:pt x="44" y="90"/>
                    <a:pt x="47" y="92"/>
                  </a:cubicBezTo>
                  <a:cubicBezTo>
                    <a:pt x="47" y="92"/>
                    <a:pt x="48" y="93"/>
                    <a:pt x="48" y="93"/>
                  </a:cubicBezTo>
                  <a:cubicBezTo>
                    <a:pt x="50" y="94"/>
                    <a:pt x="51" y="96"/>
                    <a:pt x="52" y="97"/>
                  </a:cubicBezTo>
                  <a:cubicBezTo>
                    <a:pt x="54" y="99"/>
                    <a:pt x="55" y="101"/>
                    <a:pt x="55" y="104"/>
                  </a:cubicBezTo>
                  <a:cubicBezTo>
                    <a:pt x="55" y="108"/>
                    <a:pt x="53" y="111"/>
                    <a:pt x="50" y="113"/>
                  </a:cubicBezTo>
                  <a:cubicBezTo>
                    <a:pt x="49" y="114"/>
                    <a:pt x="49" y="114"/>
                    <a:pt x="48" y="115"/>
                  </a:cubicBezTo>
                  <a:cubicBezTo>
                    <a:pt x="45" y="116"/>
                    <a:pt x="41" y="117"/>
                    <a:pt x="37" y="117"/>
                  </a:cubicBezTo>
                  <a:cubicBezTo>
                    <a:pt x="34" y="117"/>
                    <a:pt x="32" y="117"/>
                    <a:pt x="29" y="116"/>
                  </a:cubicBezTo>
                  <a:cubicBezTo>
                    <a:pt x="27" y="116"/>
                    <a:pt x="24" y="115"/>
                    <a:pt x="21" y="114"/>
                  </a:cubicBezTo>
                  <a:cubicBezTo>
                    <a:pt x="15" y="113"/>
                    <a:pt x="8" y="110"/>
                    <a:pt x="0" y="107"/>
                  </a:cubicBezTo>
                  <a:cubicBezTo>
                    <a:pt x="0" y="131"/>
                    <a:pt x="0" y="131"/>
                    <a:pt x="0" y="131"/>
                  </a:cubicBezTo>
                  <a:cubicBezTo>
                    <a:pt x="9" y="135"/>
                    <a:pt x="18" y="138"/>
                    <a:pt x="29" y="138"/>
                  </a:cubicBezTo>
                  <a:cubicBezTo>
                    <a:pt x="29" y="150"/>
                    <a:pt x="29" y="150"/>
                    <a:pt x="29" y="150"/>
                  </a:cubicBezTo>
                  <a:cubicBezTo>
                    <a:pt x="48" y="150"/>
                    <a:pt x="48" y="150"/>
                    <a:pt x="48" y="150"/>
                  </a:cubicBezTo>
                  <a:cubicBezTo>
                    <a:pt x="48" y="137"/>
                    <a:pt x="48" y="137"/>
                    <a:pt x="48" y="137"/>
                  </a:cubicBezTo>
                  <a:cubicBezTo>
                    <a:pt x="56" y="136"/>
                    <a:pt x="63" y="133"/>
                    <a:pt x="68" y="129"/>
                  </a:cubicBezTo>
                  <a:cubicBezTo>
                    <a:pt x="76" y="122"/>
                    <a:pt x="80" y="114"/>
                    <a:pt x="80" y="102"/>
                  </a:cubicBezTo>
                  <a:cubicBezTo>
                    <a:pt x="80" y="94"/>
                    <a:pt x="78" y="88"/>
                    <a:pt x="74" y="82"/>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57" name="lemon33-12"/>
            <p:cNvSpPr txBox="1"/>
            <p:nvPr/>
          </p:nvSpPr>
          <p:spPr>
            <a:xfrm>
              <a:off x="2318232" y="3264544"/>
              <a:ext cx="1739125" cy="909535"/>
            </a:xfrm>
            <a:prstGeom prst="rect">
              <a:avLst/>
            </a:prstGeom>
            <a:noFill/>
          </p:spPr>
          <p:txBody>
            <a:bodyPr wrap="square" lIns="0" rIns="0" rtlCol="0">
              <a:spAutoFit/>
            </a:bodyPr>
            <a:lstStyle/>
            <a:p>
              <a:pPr marL="0" marR="0" lvl="0" indent="0" algn="ctr" defTabSz="457200" rtl="0" eaLnBrk="1" fontAlgn="auto" latinLnBrk="0" hangingPunct="1">
                <a:lnSpc>
                  <a:spcPct val="120000"/>
                </a:lnSpc>
                <a:spcBef>
                  <a:spcPts val="600"/>
                </a:spcBef>
                <a:spcAft>
                  <a:spcPts val="0"/>
                </a:spcAft>
                <a:buClrTx/>
                <a:buSzTx/>
                <a:buFontTx/>
                <a:buNone/>
                <a:defRPr/>
              </a:pPr>
              <a:r>
                <a:rPr kumimoji="0" lang="en-US" sz="2000" b="0" i="0" u="none" strike="noStrike" kern="1200" cap="none" spc="0" normalizeH="0" baseline="0" noProof="0" dirty="0" err="1">
                  <a:ln>
                    <a:noFill/>
                  </a:ln>
                  <a:solidFill>
                    <a:srgbClr val="00329D">
                      <a:alpha val="70000"/>
                    </a:srgbClr>
                  </a:solidFill>
                  <a:effectLst/>
                  <a:uLnTx/>
                  <a:uFillTx/>
                  <a:cs typeface="+mn-ea"/>
                  <a:sym typeface="+mn-lt"/>
                </a:rPr>
                <a:t>增长点</a:t>
              </a:r>
              <a:endParaRPr kumimoji="0" lang="en-US" sz="2000" b="0" i="0" u="none" strike="noStrike" kern="1200" cap="none" spc="0" normalizeH="0" baseline="0" noProof="0" dirty="0">
                <a:ln>
                  <a:noFill/>
                </a:ln>
                <a:solidFill>
                  <a:srgbClr val="00329D">
                    <a:alpha val="70000"/>
                  </a:srgbClr>
                </a:solidFill>
                <a:effectLst/>
                <a:uLnTx/>
                <a:uFillTx/>
                <a:cs typeface="+mn-ea"/>
                <a:sym typeface="+mn-lt"/>
              </a:endParaRPr>
            </a:p>
          </p:txBody>
        </p:sp>
      </p:grpSp>
      <p:sp>
        <p:nvSpPr>
          <p:cNvPr id="206" name="lemon34"/>
          <p:cNvSpPr txBox="1"/>
          <p:nvPr/>
        </p:nvSpPr>
        <p:spPr>
          <a:xfrm rot="1691129">
            <a:off x="8545017" y="4017852"/>
            <a:ext cx="583904"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F8F8F8"/>
                </a:solidFill>
                <a:effectLst/>
                <a:uLnTx/>
                <a:uFillTx/>
                <a:cs typeface="+mn-ea"/>
                <a:sym typeface="+mn-lt"/>
              </a:rPr>
              <a:t>服饰</a:t>
            </a:r>
          </a:p>
        </p:txBody>
      </p:sp>
      <p:sp>
        <p:nvSpPr>
          <p:cNvPr id="207" name="lemon35"/>
          <p:cNvSpPr txBox="1"/>
          <p:nvPr/>
        </p:nvSpPr>
        <p:spPr>
          <a:xfrm rot="3767250">
            <a:off x="8999196" y="4499729"/>
            <a:ext cx="583904"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F8F8F8"/>
                </a:solidFill>
                <a:effectLst/>
                <a:uLnTx/>
                <a:uFillTx/>
                <a:cs typeface="+mn-ea"/>
                <a:sym typeface="+mn-lt"/>
              </a:rPr>
              <a:t>生活</a:t>
            </a:r>
          </a:p>
        </p:txBody>
      </p:sp>
      <p:sp>
        <p:nvSpPr>
          <p:cNvPr id="208" name="lemon36"/>
          <p:cNvSpPr txBox="1"/>
          <p:nvPr/>
        </p:nvSpPr>
        <p:spPr>
          <a:xfrm rot="6778945">
            <a:off x="8970761" y="5210199"/>
            <a:ext cx="583904"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F8F8F8"/>
                </a:solidFill>
                <a:effectLst/>
                <a:uLnTx/>
                <a:uFillTx/>
                <a:cs typeface="+mn-ea"/>
                <a:sym typeface="+mn-lt"/>
              </a:rPr>
              <a:t>娱乐</a:t>
            </a:r>
          </a:p>
        </p:txBody>
      </p:sp>
      <p:sp>
        <p:nvSpPr>
          <p:cNvPr id="209" name="lemon37"/>
          <p:cNvSpPr txBox="1"/>
          <p:nvPr/>
        </p:nvSpPr>
        <p:spPr>
          <a:xfrm rot="20012993">
            <a:off x="8536945" y="5632724"/>
            <a:ext cx="583904"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F8F8F8"/>
                </a:solidFill>
                <a:effectLst/>
                <a:uLnTx/>
                <a:uFillTx/>
                <a:cs typeface="+mn-ea"/>
                <a:sym typeface="+mn-lt"/>
              </a:rPr>
              <a:t>美食</a:t>
            </a:r>
          </a:p>
        </p:txBody>
      </p:sp>
      <p:sp>
        <p:nvSpPr>
          <p:cNvPr id="210" name="lemon38"/>
          <p:cNvSpPr txBox="1"/>
          <p:nvPr/>
        </p:nvSpPr>
        <p:spPr>
          <a:xfrm rot="1678219">
            <a:off x="7846619" y="5664872"/>
            <a:ext cx="583904"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F8F8F8"/>
                </a:solidFill>
                <a:effectLst/>
                <a:uLnTx/>
                <a:uFillTx/>
                <a:cs typeface="+mn-ea"/>
                <a:sym typeface="+mn-lt"/>
              </a:rPr>
              <a:t>学习</a:t>
            </a:r>
          </a:p>
        </p:txBody>
      </p:sp>
      <p:sp>
        <p:nvSpPr>
          <p:cNvPr id="211" name="lemon39"/>
          <p:cNvSpPr txBox="1"/>
          <p:nvPr/>
        </p:nvSpPr>
        <p:spPr>
          <a:xfrm rot="4039336">
            <a:off x="7332552" y="5131495"/>
            <a:ext cx="583904"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F8F8F8"/>
                </a:solidFill>
                <a:effectLst/>
                <a:uLnTx/>
                <a:uFillTx/>
                <a:cs typeface="+mn-ea"/>
                <a:sym typeface="+mn-lt"/>
              </a:rPr>
              <a:t>出行</a:t>
            </a:r>
          </a:p>
        </p:txBody>
      </p:sp>
      <p:sp>
        <p:nvSpPr>
          <p:cNvPr id="212" name="lemon40"/>
          <p:cNvSpPr txBox="1"/>
          <p:nvPr/>
        </p:nvSpPr>
        <p:spPr>
          <a:xfrm>
            <a:off x="492199" y="4338729"/>
            <a:ext cx="3728533" cy="276999"/>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cs typeface="+mn-ea"/>
                <a:sym typeface="+mn-lt"/>
              </a:rPr>
              <a:t>2023</a:t>
            </a:r>
            <a:r>
              <a:rPr kumimoji="0" lang="zh-CN" altLang="en-US" sz="1200" b="0" i="0" u="none" strike="noStrike" kern="1200" cap="none" spc="0" normalizeH="0" baseline="0" noProof="0" dirty="0">
                <a:ln>
                  <a:noFill/>
                </a:ln>
                <a:solidFill>
                  <a:srgbClr val="000000"/>
                </a:solidFill>
                <a:effectLst/>
                <a:uLnTx/>
                <a:uFillTx/>
                <a:cs typeface="+mn-ea"/>
                <a:sym typeface="+mn-lt"/>
              </a:rPr>
              <a:t>年度，</a:t>
            </a:r>
            <a:r>
              <a:rPr kumimoji="0" lang="en-US" altLang="zh-CN" sz="1200" b="0" i="0" u="none" strike="noStrike" kern="1200" cap="none" spc="0" normalizeH="0" baseline="0" noProof="0" dirty="0">
                <a:ln>
                  <a:noFill/>
                </a:ln>
                <a:solidFill>
                  <a:srgbClr val="000000"/>
                </a:solidFill>
                <a:effectLst/>
                <a:uLnTx/>
                <a:uFillTx/>
                <a:cs typeface="+mn-ea"/>
                <a:sym typeface="+mn-lt"/>
              </a:rPr>
              <a:t>xxx</a:t>
            </a:r>
            <a:r>
              <a:rPr kumimoji="0" lang="zh-CN" altLang="en-US" sz="1200" b="0" i="0" u="none" strike="noStrike" kern="1200" cap="none" spc="0" normalizeH="0" baseline="0" noProof="0" dirty="0">
                <a:ln>
                  <a:noFill/>
                </a:ln>
                <a:solidFill>
                  <a:srgbClr val="000000"/>
                </a:solidFill>
                <a:effectLst/>
                <a:uLnTx/>
                <a:uFillTx/>
                <a:cs typeface="+mn-ea"/>
                <a:sym typeface="+mn-lt"/>
              </a:rPr>
              <a:t>电商平台两大优势</a:t>
            </a:r>
            <a:r>
              <a:rPr kumimoji="0" lang="en-US" altLang="zh-CN" sz="1200" b="0" i="0" u="none" strike="noStrike" kern="1200" cap="none" spc="0" normalizeH="0" baseline="0" noProof="0" dirty="0">
                <a:ln>
                  <a:noFill/>
                </a:ln>
                <a:solidFill>
                  <a:srgbClr val="000000"/>
                </a:solidFill>
                <a:effectLst/>
                <a:uLnTx/>
                <a:uFillTx/>
                <a:cs typeface="+mn-ea"/>
                <a:sym typeface="+mn-lt"/>
              </a:rPr>
              <a:t>:</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213" name="lemon41"/>
          <p:cNvSpPr txBox="1"/>
          <p:nvPr/>
        </p:nvSpPr>
        <p:spPr>
          <a:xfrm>
            <a:off x="10013136" y="4239097"/>
            <a:ext cx="1713511" cy="1455078"/>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329D"/>
                </a:solidFill>
                <a:effectLst/>
                <a:uLnTx/>
                <a:uFillTx/>
                <a:cs typeface="+mn-ea"/>
                <a:sym typeface="+mn-lt"/>
              </a:rPr>
              <a:t>2023</a:t>
            </a:r>
            <a:r>
              <a:rPr kumimoji="0" lang="zh-CN" altLang="en-US" sz="1000" b="0" i="0" u="none" strike="noStrike" kern="1200" cap="none" spc="0" normalizeH="0" baseline="0" noProof="0" dirty="0">
                <a:ln>
                  <a:noFill/>
                </a:ln>
                <a:solidFill>
                  <a:srgbClr val="00329D"/>
                </a:solidFill>
                <a:effectLst/>
                <a:uLnTx/>
                <a:uFillTx/>
                <a:cs typeface="+mn-ea"/>
                <a:sym typeface="+mn-lt"/>
              </a:rPr>
              <a:t>年，在公司营收、销量方面来看，服饰、生活用品、娱乐设施、美食、日常出行以及阅读学习成为本年度销量的有力增长点，增长幅度最高可达到</a:t>
            </a:r>
            <a:r>
              <a:rPr kumimoji="0" lang="en-US" altLang="zh-CN" sz="1000" b="0" i="0" u="none" strike="noStrike" kern="1200" cap="none" spc="0" normalizeH="0" baseline="0" noProof="0" dirty="0">
                <a:ln>
                  <a:noFill/>
                </a:ln>
                <a:solidFill>
                  <a:srgbClr val="00329D"/>
                </a:solidFill>
                <a:effectLst/>
                <a:uLnTx/>
                <a:uFillTx/>
                <a:cs typeface="+mn-ea"/>
                <a:sym typeface="+mn-lt"/>
              </a:rPr>
              <a:t>69%</a:t>
            </a:r>
            <a:endParaRPr kumimoji="0" lang="zh-CN" altLang="en-US" sz="1000" b="0" i="0" u="none" strike="noStrike" kern="1200" cap="none" spc="0" normalizeH="0" baseline="0" noProof="0" dirty="0">
              <a:ln>
                <a:noFill/>
              </a:ln>
              <a:solidFill>
                <a:srgbClr val="00329D"/>
              </a:solidFill>
              <a:effectLst/>
              <a:uLnTx/>
              <a:uFillTx/>
              <a:cs typeface="+mn-ea"/>
              <a:sym typeface="+mn-lt"/>
            </a:endParaRPr>
          </a:p>
        </p:txBody>
      </p:sp>
      <p:cxnSp>
        <p:nvCxnSpPr>
          <p:cNvPr id="214" name="lemon42"/>
          <p:cNvCxnSpPr/>
          <p:nvPr/>
        </p:nvCxnSpPr>
        <p:spPr>
          <a:xfrm>
            <a:off x="10102412" y="4003812"/>
            <a:ext cx="156706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16" name="lemon43"/>
          <p:cNvSpPr/>
          <p:nvPr/>
        </p:nvSpPr>
        <p:spPr>
          <a:xfrm rot="15533351" flipH="1" flipV="1">
            <a:off x="8773605" y="3677515"/>
            <a:ext cx="154817" cy="348434"/>
          </a:xfrm>
          <a:custGeom>
            <a:avLst/>
            <a:gdLst>
              <a:gd name="connsiteX0" fmla="*/ 0 w 187287"/>
              <a:gd name="connsiteY0" fmla="*/ 0 h 334179"/>
              <a:gd name="connsiteX1" fmla="*/ 7345 w 187287"/>
              <a:gd name="connsiteY1" fmla="*/ 124858 h 334179"/>
              <a:gd name="connsiteX2" fmla="*/ 22034 w 187287"/>
              <a:gd name="connsiteY2" fmla="*/ 150564 h 334179"/>
              <a:gd name="connsiteX3" fmla="*/ 36723 w 187287"/>
              <a:gd name="connsiteY3" fmla="*/ 183615 h 334179"/>
              <a:gd name="connsiteX4" fmla="*/ 66101 w 187287"/>
              <a:gd name="connsiteY4" fmla="*/ 231355 h 334179"/>
              <a:gd name="connsiteX5" fmla="*/ 84463 w 187287"/>
              <a:gd name="connsiteY5" fmla="*/ 257061 h 334179"/>
              <a:gd name="connsiteX6" fmla="*/ 128530 w 187287"/>
              <a:gd name="connsiteY6" fmla="*/ 293783 h 334179"/>
              <a:gd name="connsiteX7" fmla="*/ 165253 w 187287"/>
              <a:gd name="connsiteY7" fmla="*/ 323162 h 334179"/>
              <a:gd name="connsiteX8" fmla="*/ 176270 w 187287"/>
              <a:gd name="connsiteY8" fmla="*/ 326834 h 334179"/>
              <a:gd name="connsiteX9" fmla="*/ 187287 w 187287"/>
              <a:gd name="connsiteY9" fmla="*/ 334179 h 334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287" h="334179">
                <a:moveTo>
                  <a:pt x="0" y="0"/>
                </a:moveTo>
                <a:cubicBezTo>
                  <a:pt x="2448" y="41619"/>
                  <a:pt x="1308" y="83606"/>
                  <a:pt x="7345" y="124858"/>
                </a:cubicBezTo>
                <a:cubicBezTo>
                  <a:pt x="8774" y="134623"/>
                  <a:pt x="17621" y="141737"/>
                  <a:pt x="22034" y="150564"/>
                </a:cubicBezTo>
                <a:cubicBezTo>
                  <a:pt x="27426" y="161347"/>
                  <a:pt x="31590" y="172706"/>
                  <a:pt x="36723" y="183615"/>
                </a:cubicBezTo>
                <a:cubicBezTo>
                  <a:pt x="55207" y="222895"/>
                  <a:pt x="44365" y="202374"/>
                  <a:pt x="66101" y="231355"/>
                </a:cubicBezTo>
                <a:cubicBezTo>
                  <a:pt x="72419" y="239779"/>
                  <a:pt x="77017" y="249615"/>
                  <a:pt x="84463" y="257061"/>
                </a:cubicBezTo>
                <a:cubicBezTo>
                  <a:pt x="97983" y="270581"/>
                  <a:pt x="115010" y="280262"/>
                  <a:pt x="128530" y="293783"/>
                </a:cubicBezTo>
                <a:cubicBezTo>
                  <a:pt x="138559" y="303813"/>
                  <a:pt x="151354" y="318529"/>
                  <a:pt x="165253" y="323162"/>
                </a:cubicBezTo>
                <a:lnTo>
                  <a:pt x="176270" y="326834"/>
                </a:lnTo>
                <a:lnTo>
                  <a:pt x="187287" y="334179"/>
                </a:lnTo>
              </a:path>
            </a:pathLst>
          </a:custGeom>
          <a:noFill/>
          <a:ln w="15875">
            <a:solidFill>
              <a:schemeClr val="tx1">
                <a:alpha val="50000"/>
              </a:schemeClr>
            </a:solidFill>
            <a:prstDash val="sysDot"/>
            <a:headEnd type="stealth" w="lg" len="lg"/>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17" name="lemon44"/>
          <p:cNvSpPr txBox="1"/>
          <p:nvPr/>
        </p:nvSpPr>
        <p:spPr>
          <a:xfrm>
            <a:off x="8963858" y="3512426"/>
            <a:ext cx="1212638"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cs typeface="+mn-ea"/>
                <a:sym typeface="+mn-lt"/>
              </a:rPr>
              <a:t>增幅</a:t>
            </a:r>
            <a:r>
              <a:rPr kumimoji="0" lang="en-US" altLang="zh-CN" sz="1400" b="0" i="0" u="none" strike="noStrike" kern="1200" cap="none" spc="0" normalizeH="0" baseline="0" noProof="0" dirty="0">
                <a:ln>
                  <a:noFill/>
                </a:ln>
                <a:solidFill>
                  <a:srgbClr val="00329D"/>
                </a:solidFill>
                <a:effectLst/>
                <a:uLnTx/>
                <a:uFillTx/>
                <a:cs typeface="+mn-ea"/>
                <a:sym typeface="+mn-lt"/>
              </a:rPr>
              <a:t>69%</a:t>
            </a:r>
            <a:endParaRPr kumimoji="0" lang="zh-CN" altLang="en-US" sz="1400" b="0" i="0" u="none" strike="noStrike" kern="1200" cap="none" spc="0" normalizeH="0" baseline="0" noProof="0" dirty="0">
              <a:ln>
                <a:noFill/>
              </a:ln>
              <a:solidFill>
                <a:srgbClr val="00329D"/>
              </a:solidFill>
              <a:effectLst/>
              <a:uLnTx/>
              <a:uFillTx/>
              <a:cs typeface="+mn-ea"/>
              <a:sym typeface="+mn-lt"/>
            </a:endParaRPr>
          </a:p>
        </p:txBody>
      </p:sp>
      <p:sp>
        <p:nvSpPr>
          <p:cNvPr id="2" name="矩形: 圆角 7"/>
          <p:cNvSpPr/>
          <p:nvPr/>
        </p:nvSpPr>
        <p:spPr>
          <a:xfrm flipV="1">
            <a:off x="457802" y="696804"/>
            <a:ext cx="11388632" cy="4571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cs typeface="+mn-ea"/>
              <a:sym typeface="+mn-lt"/>
            </a:endParaRPr>
          </a:p>
        </p:txBody>
      </p:sp>
      <p:sp>
        <p:nvSpPr>
          <p:cNvPr id="3" name="Venn diagram"/>
          <p:cNvSpPr txBox="1"/>
          <p:nvPr/>
        </p:nvSpPr>
        <p:spPr>
          <a:xfrm>
            <a:off x="437924" y="204604"/>
            <a:ext cx="6651772" cy="420628"/>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algn="l"/>
            <a:r>
              <a:rPr lang="zh-CN" altLang="en-US" sz="2400" b="1" i="0" dirty="0">
                <a:solidFill>
                  <a:schemeClr val="accent1"/>
                </a:solidFill>
                <a:cs typeface="+mn-ea"/>
                <a:sym typeface="+mn-lt"/>
              </a:rPr>
              <a:t>高端</a:t>
            </a:r>
            <a:r>
              <a:rPr lang="en-US" sz="2400" b="1" i="0" dirty="0">
                <a:solidFill>
                  <a:schemeClr val="accent1"/>
                </a:solidFill>
                <a:cs typeface="+mn-ea"/>
                <a:sym typeface="+mn-lt"/>
              </a:rPr>
              <a:t>PPT</a:t>
            </a:r>
            <a:r>
              <a:rPr lang="zh-CN" altLang="en-US" sz="2400" b="1" i="0" dirty="0">
                <a:solidFill>
                  <a:schemeClr val="accent1"/>
                </a:solidFill>
                <a:cs typeface="+mn-ea"/>
                <a:sym typeface="+mn-lt"/>
              </a:rPr>
              <a:t>系列之一：打工人必备</a:t>
            </a:r>
            <a:r>
              <a:rPr lang="en-US" sz="2400" b="1" i="0" dirty="0">
                <a:solidFill>
                  <a:schemeClr val="accent1"/>
                </a:solidFill>
                <a:cs typeface="+mn-ea"/>
                <a:sym typeface="+mn-lt"/>
              </a:rPr>
              <a:t>PPT</a:t>
            </a:r>
            <a:r>
              <a:rPr lang="zh-CN" altLang="en-US" sz="2400" b="1" i="0" dirty="0">
                <a:solidFill>
                  <a:schemeClr val="accent1"/>
                </a:solidFill>
                <a:cs typeface="+mn-ea"/>
                <a:sym typeface="+mn-lt"/>
              </a:rPr>
              <a:t>逻辑图</a:t>
            </a:r>
            <a:endParaRPr sz="2400" b="1" i="0" dirty="0">
              <a:solidFill>
                <a:schemeClr val="accent1"/>
              </a:solidFill>
              <a:cs typeface="+mn-ea"/>
              <a:sym typeface="+mn-lt"/>
            </a:endParaRP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lemon1"/>
          <p:cNvSpPr/>
          <p:nvPr/>
        </p:nvSpPr>
        <p:spPr>
          <a:xfrm>
            <a:off x="6764483" y="1210348"/>
            <a:ext cx="4961351" cy="4984863"/>
          </a:xfrm>
          <a:prstGeom prst="roundRect">
            <a:avLst>
              <a:gd name="adj" fmla="val 110"/>
            </a:avLst>
          </a:prstGeom>
          <a:solidFill>
            <a:schemeClr val="accent1">
              <a:lumMod val="20000"/>
              <a:lumOff val="80000"/>
              <a:alpha val="15079"/>
            </a:schemeClr>
          </a:solidFill>
          <a:ln w="15875">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4" name="lemon2"/>
          <p:cNvSpPr/>
          <p:nvPr/>
        </p:nvSpPr>
        <p:spPr>
          <a:xfrm>
            <a:off x="2709096" y="1527988"/>
            <a:ext cx="4055387" cy="4114572"/>
          </a:xfrm>
          <a:custGeom>
            <a:avLst/>
            <a:gdLst/>
            <a:ahLst/>
            <a:cxnLst>
              <a:cxn ang="0">
                <a:pos x="wd2" y="hd2"/>
              </a:cxn>
              <a:cxn ang="5400000">
                <a:pos x="wd2" y="hd2"/>
              </a:cxn>
              <a:cxn ang="10800000">
                <a:pos x="wd2" y="hd2"/>
              </a:cxn>
              <a:cxn ang="16200000">
                <a:pos x="wd2" y="hd2"/>
              </a:cxn>
            </a:cxnLst>
            <a:rect l="0" t="0" r="r" b="b"/>
            <a:pathLst>
              <a:path w="21600" h="21600" extrusionOk="0">
                <a:moveTo>
                  <a:pt x="21489" y="0"/>
                </a:moveTo>
                <a:lnTo>
                  <a:pt x="0" y="10737"/>
                </a:lnTo>
                <a:lnTo>
                  <a:pt x="21600" y="21600"/>
                </a:lnTo>
                <a:lnTo>
                  <a:pt x="21489" y="0"/>
                </a:lnTo>
                <a:close/>
              </a:path>
            </a:pathLst>
          </a:custGeom>
          <a:gradFill flip="none" rotWithShape="1">
            <a:gsLst>
              <a:gs pos="50000">
                <a:schemeClr val="accent2">
                  <a:lumMod val="20000"/>
                  <a:lumOff val="80000"/>
                </a:schemeClr>
              </a:gs>
              <a:gs pos="100000">
                <a:schemeClr val="accent2">
                  <a:lumMod val="20000"/>
                  <a:lumOff val="80000"/>
                  <a:alpha val="0"/>
                </a:schemeClr>
              </a:gs>
            </a:gsLst>
            <a:lin ang="0" scaled="0"/>
          </a:gradFill>
          <a:ln w="12700" cap="flat">
            <a:noFill/>
            <a:miter lim="400000"/>
          </a:ln>
          <a:effectLst/>
        </p:spPr>
        <p:txBody>
          <a:bodyPr wrap="square" lIns="0" tIns="0" rIns="0" bIns="0" numCol="1" anchor="ctr">
            <a:noAutofit/>
          </a:bodyPr>
          <a:lstStyle/>
          <a:p>
            <a:pPr marL="0" marR="0" lvl="0" indent="0" algn="l" defTabSz="457200" rtl="0" eaLnBrk="1" fontAlgn="auto" latinLnBrk="0" hangingPunct="1">
              <a:lnSpc>
                <a:spcPct val="100000"/>
              </a:lnSpc>
              <a:spcBef>
                <a:spcPts val="0"/>
              </a:spcBef>
              <a:spcAft>
                <a:spcPts val="0"/>
              </a:spcAft>
              <a:buClrTx/>
              <a:buSzTx/>
              <a:buFontTx/>
              <a:buNone/>
              <a:defRPr sz="3200" b="0">
                <a:solidFill>
                  <a:srgbClr val="FFFFFF"/>
                </a:solidFill>
                <a:latin typeface="+mn-lt"/>
                <a:ea typeface="+mn-ea"/>
                <a:cs typeface="+mn-cs"/>
                <a:sym typeface="Helvetica Neue Medium"/>
              </a:defRPr>
            </a:pPr>
            <a:endParaRPr kumimoji="0" sz="1600" b="0" i="0" u="none" strike="noStrike" kern="1200" cap="none" spc="0" normalizeH="0" baseline="0" noProof="0" dirty="0">
              <a:ln>
                <a:noFill/>
              </a:ln>
              <a:solidFill>
                <a:srgbClr val="FFFFFF"/>
              </a:solidFill>
              <a:effectLst/>
              <a:uLnTx/>
              <a:uFillTx/>
              <a:cs typeface="+mn-ea"/>
              <a:sym typeface="+mn-lt"/>
            </a:endParaRPr>
          </a:p>
        </p:txBody>
      </p:sp>
      <p:grpSp>
        <p:nvGrpSpPr>
          <p:cNvPr id="40" name="lemon3"/>
          <p:cNvGrpSpPr/>
          <p:nvPr/>
        </p:nvGrpSpPr>
        <p:grpSpPr>
          <a:xfrm>
            <a:off x="1173665" y="1326463"/>
            <a:ext cx="4476226" cy="4721081"/>
            <a:chOff x="1173665" y="1326463"/>
            <a:chExt cx="4476226" cy="4721081"/>
          </a:xfrm>
        </p:grpSpPr>
        <p:sp>
          <p:nvSpPr>
            <p:cNvPr id="6" name="lemon3-1"/>
            <p:cNvSpPr/>
            <p:nvPr/>
          </p:nvSpPr>
          <p:spPr>
            <a:xfrm>
              <a:off x="1981398" y="2620104"/>
              <a:ext cx="2077139" cy="2077140"/>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7" name="lemon3-2"/>
            <p:cNvSpPr/>
            <p:nvPr/>
          </p:nvSpPr>
          <p:spPr>
            <a:xfrm>
              <a:off x="4173933" y="1326463"/>
              <a:ext cx="824416" cy="824416"/>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0" name="lemon3-3"/>
            <p:cNvSpPr/>
            <p:nvPr/>
          </p:nvSpPr>
          <p:spPr>
            <a:xfrm>
              <a:off x="4825475" y="2412367"/>
              <a:ext cx="824416" cy="824416"/>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2" name="lemon3-4"/>
            <p:cNvSpPr/>
            <p:nvPr/>
          </p:nvSpPr>
          <p:spPr>
            <a:xfrm>
              <a:off x="4929344" y="3715452"/>
              <a:ext cx="667920" cy="667920"/>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3" name="lemon3-5"/>
            <p:cNvSpPr/>
            <p:nvPr/>
          </p:nvSpPr>
          <p:spPr>
            <a:xfrm>
              <a:off x="4693278" y="4697487"/>
              <a:ext cx="589656" cy="589656"/>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4" name="lemon3-6"/>
            <p:cNvSpPr/>
            <p:nvPr/>
          </p:nvSpPr>
          <p:spPr>
            <a:xfrm>
              <a:off x="4022851" y="5216832"/>
              <a:ext cx="589656" cy="589656"/>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8" name="lemon3-7"/>
            <p:cNvSpPr/>
            <p:nvPr/>
          </p:nvSpPr>
          <p:spPr>
            <a:xfrm>
              <a:off x="3201341" y="5528441"/>
              <a:ext cx="519103" cy="519103"/>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9" name="lemon3-8"/>
            <p:cNvSpPr/>
            <p:nvPr/>
          </p:nvSpPr>
          <p:spPr>
            <a:xfrm>
              <a:off x="2387969" y="5502217"/>
              <a:ext cx="510967" cy="510967"/>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0" name="lemon3-9"/>
            <p:cNvSpPr/>
            <p:nvPr/>
          </p:nvSpPr>
          <p:spPr>
            <a:xfrm>
              <a:off x="1683692" y="5256176"/>
              <a:ext cx="457255" cy="457255"/>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1" name="lemon3-10"/>
            <p:cNvSpPr/>
            <p:nvPr/>
          </p:nvSpPr>
          <p:spPr>
            <a:xfrm>
              <a:off x="1285860" y="4664532"/>
              <a:ext cx="408032" cy="408032"/>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2" name="lemon3-11"/>
            <p:cNvSpPr/>
            <p:nvPr/>
          </p:nvSpPr>
          <p:spPr>
            <a:xfrm>
              <a:off x="1173665" y="4049411"/>
              <a:ext cx="408032" cy="408032"/>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3" name="lemon3-12"/>
            <p:cNvSpPr/>
            <p:nvPr/>
          </p:nvSpPr>
          <p:spPr>
            <a:xfrm>
              <a:off x="1173665" y="3437362"/>
              <a:ext cx="357662" cy="357662"/>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4" name="lemon3-13"/>
            <p:cNvSpPr/>
            <p:nvPr/>
          </p:nvSpPr>
          <p:spPr>
            <a:xfrm>
              <a:off x="1392981" y="2804912"/>
              <a:ext cx="357662" cy="357662"/>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5" name="lemon3-14"/>
            <p:cNvSpPr/>
            <p:nvPr/>
          </p:nvSpPr>
          <p:spPr>
            <a:xfrm>
              <a:off x="1923424" y="2376478"/>
              <a:ext cx="294030" cy="294030"/>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6" name="lemon3-15"/>
            <p:cNvSpPr/>
            <p:nvPr/>
          </p:nvSpPr>
          <p:spPr>
            <a:xfrm>
              <a:off x="2509971" y="2146961"/>
              <a:ext cx="258325" cy="258325"/>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7" name="lemon3-16"/>
            <p:cNvSpPr/>
            <p:nvPr/>
          </p:nvSpPr>
          <p:spPr>
            <a:xfrm>
              <a:off x="3162823" y="2162262"/>
              <a:ext cx="258325" cy="258325"/>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8" name="lemon3-17"/>
            <p:cNvSpPr/>
            <p:nvPr/>
          </p:nvSpPr>
          <p:spPr>
            <a:xfrm>
              <a:off x="3779971" y="2381579"/>
              <a:ext cx="209749" cy="209749"/>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9" name="lemon3-18"/>
            <p:cNvSpPr/>
            <p:nvPr/>
          </p:nvSpPr>
          <p:spPr>
            <a:xfrm>
              <a:off x="4279812" y="2876318"/>
              <a:ext cx="209749" cy="209749"/>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0" name="lemon3-19"/>
            <p:cNvSpPr/>
            <p:nvPr/>
          </p:nvSpPr>
          <p:spPr>
            <a:xfrm>
              <a:off x="4330816" y="3585274"/>
              <a:ext cx="209749" cy="209749"/>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1" name="lemon3-20"/>
            <p:cNvSpPr/>
            <p:nvPr/>
          </p:nvSpPr>
          <p:spPr>
            <a:xfrm>
              <a:off x="4147202" y="4345236"/>
              <a:ext cx="209749" cy="209749"/>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2" name="lemon3-21"/>
            <p:cNvSpPr/>
            <p:nvPr/>
          </p:nvSpPr>
          <p:spPr>
            <a:xfrm>
              <a:off x="3524952" y="4819573"/>
              <a:ext cx="156317" cy="156317"/>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5" name="lemon3-22"/>
            <p:cNvSpPr/>
            <p:nvPr/>
          </p:nvSpPr>
          <p:spPr>
            <a:xfrm>
              <a:off x="2941354" y="4924886"/>
              <a:ext cx="42918" cy="42918"/>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6" name="lemon3-23"/>
            <p:cNvSpPr/>
            <p:nvPr/>
          </p:nvSpPr>
          <p:spPr>
            <a:xfrm>
              <a:off x="2336651" y="4776128"/>
              <a:ext cx="34937" cy="34937"/>
            </a:xfrm>
            <a:prstGeom prst="ellipse">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grpSp>
      <p:sp>
        <p:nvSpPr>
          <p:cNvPr id="48" name="lemon4"/>
          <p:cNvSpPr/>
          <p:nvPr/>
        </p:nvSpPr>
        <p:spPr>
          <a:xfrm>
            <a:off x="5959365" y="1604122"/>
            <a:ext cx="418224" cy="4314763"/>
          </a:xfrm>
          <a:custGeom>
            <a:avLst/>
            <a:gdLst/>
            <a:ahLst/>
            <a:cxnLst>
              <a:cxn ang="0">
                <a:pos x="wd2" y="hd2"/>
              </a:cxn>
              <a:cxn ang="5400000">
                <a:pos x="wd2" y="hd2"/>
              </a:cxn>
              <a:cxn ang="10800000">
                <a:pos x="wd2" y="hd2"/>
              </a:cxn>
              <a:cxn ang="16200000">
                <a:pos x="wd2" y="hd2"/>
              </a:cxn>
            </a:cxnLst>
            <a:rect l="0" t="0" r="r" b="b"/>
            <a:pathLst>
              <a:path w="21600" h="21589" extrusionOk="0">
                <a:moveTo>
                  <a:pt x="13" y="21588"/>
                </a:moveTo>
                <a:lnTo>
                  <a:pt x="9790" y="21588"/>
                </a:lnTo>
                <a:cubicBezTo>
                  <a:pt x="11407" y="21600"/>
                  <a:pt x="12989" y="21530"/>
                  <a:pt x="14123" y="21397"/>
                </a:cubicBezTo>
                <a:cubicBezTo>
                  <a:pt x="15046" y="21289"/>
                  <a:pt x="15601" y="21146"/>
                  <a:pt x="15687" y="20995"/>
                </a:cubicBezTo>
                <a:lnTo>
                  <a:pt x="15687" y="11471"/>
                </a:lnTo>
                <a:cubicBezTo>
                  <a:pt x="15796" y="11297"/>
                  <a:pt x="16391" y="11131"/>
                  <a:pt x="17382" y="10999"/>
                </a:cubicBezTo>
                <a:cubicBezTo>
                  <a:pt x="18467" y="10854"/>
                  <a:pt x="19960" y="10758"/>
                  <a:pt x="21600" y="10727"/>
                </a:cubicBezTo>
                <a:cubicBezTo>
                  <a:pt x="20179" y="10723"/>
                  <a:pt x="18813" y="10662"/>
                  <a:pt x="17740" y="10554"/>
                </a:cubicBezTo>
                <a:cubicBezTo>
                  <a:pt x="16383" y="10419"/>
                  <a:pt x="15606" y="10222"/>
                  <a:pt x="15613" y="10015"/>
                </a:cubicBezTo>
                <a:lnTo>
                  <a:pt x="15613" y="643"/>
                </a:lnTo>
                <a:cubicBezTo>
                  <a:pt x="15656" y="477"/>
                  <a:pt x="15122" y="315"/>
                  <a:pt x="14129" y="195"/>
                </a:cubicBezTo>
                <a:cubicBezTo>
                  <a:pt x="13138" y="74"/>
                  <a:pt x="11771" y="4"/>
                  <a:pt x="10330" y="0"/>
                </a:cubicBezTo>
                <a:lnTo>
                  <a:pt x="0" y="0"/>
                </a:lnTo>
              </a:path>
            </a:pathLst>
          </a:custGeom>
          <a:ln w="25400">
            <a:solidFill>
              <a:schemeClr val="accent2"/>
            </a:solidFill>
            <a:miter lim="400000"/>
          </a:ln>
        </p:spPr>
        <p:txBody>
          <a:bodyPr lIns="0" tIns="0" rIns="0" bIns="0" anchor="ctr"/>
          <a:lstStyle/>
          <a:p>
            <a:pPr marL="0" marR="0" lvl="0" indent="0" algn="l" defTabSz="457200" rtl="0" eaLnBrk="1" fontAlgn="auto" latinLnBrk="0" hangingPunct="1">
              <a:lnSpc>
                <a:spcPct val="100000"/>
              </a:lnSpc>
              <a:spcBef>
                <a:spcPts val="0"/>
              </a:spcBef>
              <a:spcAft>
                <a:spcPts val="0"/>
              </a:spcAft>
              <a:buClrTx/>
              <a:buSzTx/>
              <a:buFontTx/>
              <a:buNone/>
              <a:defRPr sz="3200" b="0">
                <a:solidFill>
                  <a:srgbClr val="FFFFFF"/>
                </a:solidFill>
                <a:latin typeface="+mn-lt"/>
                <a:ea typeface="+mn-ea"/>
                <a:cs typeface="+mn-cs"/>
                <a:sym typeface="Helvetica Neue Medium"/>
              </a:defRPr>
            </a:pPr>
            <a:endParaRPr kumimoji="0" sz="1600" b="0" i="0" u="none" strike="noStrike" kern="1200" cap="none" spc="0" normalizeH="0" baseline="0" noProof="0" dirty="0">
              <a:ln>
                <a:noFill/>
              </a:ln>
              <a:solidFill>
                <a:srgbClr val="FFFFFF"/>
              </a:solidFill>
              <a:effectLst/>
              <a:uLnTx/>
              <a:uFillTx/>
              <a:cs typeface="+mn-ea"/>
              <a:sym typeface="+mn-lt"/>
            </a:endParaRPr>
          </a:p>
        </p:txBody>
      </p:sp>
      <p:sp>
        <p:nvSpPr>
          <p:cNvPr id="49" name="lemon5"/>
          <p:cNvSpPr txBox="1"/>
          <p:nvPr/>
        </p:nvSpPr>
        <p:spPr>
          <a:xfrm>
            <a:off x="7230752" y="1512662"/>
            <a:ext cx="3240819" cy="359073"/>
          </a:xfrm>
          <a:prstGeom prst="rect">
            <a:avLst/>
          </a:prstGeom>
          <a:ln w="12700">
            <a:miter lim="400000"/>
          </a:ln>
        </p:spPr>
        <p:txBody>
          <a:bodyPr wrap="square" lIns="25400" tIns="25400" rIns="25400" bIns="25400">
            <a:spAutoFit/>
          </a:bodyPr>
          <a:lstStyle>
            <a:lvl1pPr algn="l">
              <a:defRPr sz="4600" b="0">
                <a:solidFill>
                  <a:srgbClr val="535454"/>
                </a:solidFill>
                <a:latin typeface="Barlow Bold"/>
                <a:ea typeface="Barlow Bold"/>
                <a:cs typeface="Barlow Bold"/>
                <a:sym typeface="Barlow Bold"/>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00329D"/>
                </a:solidFill>
                <a:effectLst/>
                <a:uLnTx/>
                <a:uFillTx/>
                <a:latin typeface="+mn-lt"/>
                <a:ea typeface="+mn-ea"/>
                <a:cs typeface="+mn-ea"/>
                <a:sym typeface="+mn-lt"/>
              </a:rPr>
              <a:t>2024</a:t>
            </a:r>
            <a:r>
              <a:rPr kumimoji="0" lang="zh-CN" altLang="en-US" sz="2000" b="1" i="0" u="none" strike="noStrike" kern="1200" cap="none" spc="0" normalizeH="0" baseline="0" noProof="0" dirty="0">
                <a:ln>
                  <a:noFill/>
                </a:ln>
                <a:solidFill>
                  <a:srgbClr val="00329D"/>
                </a:solidFill>
                <a:effectLst/>
                <a:uLnTx/>
                <a:uFillTx/>
                <a:latin typeface="+mn-lt"/>
                <a:ea typeface="+mn-ea"/>
                <a:cs typeface="+mn-ea"/>
                <a:sym typeface="+mn-lt"/>
              </a:rPr>
              <a:t>年工作开展详情</a:t>
            </a:r>
            <a:endParaRPr kumimoji="0" sz="2000" b="1" i="0" u="none" strike="noStrike" kern="1200" cap="none" spc="0" normalizeH="0" baseline="0" noProof="0" dirty="0">
              <a:ln>
                <a:noFill/>
              </a:ln>
              <a:solidFill>
                <a:srgbClr val="00329D"/>
              </a:solidFill>
              <a:effectLst/>
              <a:uLnTx/>
              <a:uFillTx/>
              <a:latin typeface="+mn-lt"/>
              <a:ea typeface="+mn-ea"/>
              <a:cs typeface="+mn-ea"/>
              <a:sym typeface="+mn-lt"/>
            </a:endParaRPr>
          </a:p>
        </p:txBody>
      </p:sp>
      <p:graphicFrame>
        <p:nvGraphicFramePr>
          <p:cNvPr id="2" name="lemon6"/>
          <p:cNvGraphicFramePr/>
          <p:nvPr/>
        </p:nvGraphicFramePr>
        <p:xfrm>
          <a:off x="6722859" y="3949916"/>
          <a:ext cx="4961351" cy="2245295"/>
        </p:xfrm>
        <a:graphic>
          <a:graphicData uri="http://schemas.openxmlformats.org/drawingml/2006/chart">
            <c:chart xmlns:c="http://schemas.openxmlformats.org/drawingml/2006/chart" xmlns:r="http://schemas.openxmlformats.org/officeDocument/2006/relationships" r:id="rId3"/>
          </a:graphicData>
        </a:graphic>
      </p:graphicFrame>
      <p:sp>
        <p:nvSpPr>
          <p:cNvPr id="4" name="lemon7"/>
          <p:cNvSpPr/>
          <p:nvPr/>
        </p:nvSpPr>
        <p:spPr bwMode="auto">
          <a:xfrm>
            <a:off x="229932" y="1246652"/>
            <a:ext cx="1234461" cy="1585119"/>
          </a:xfrm>
          <a:custGeom>
            <a:avLst/>
            <a:gdLst>
              <a:gd name="T0" fmla="*/ 200 w 287"/>
              <a:gd name="T1" fmla="*/ 274 h 360"/>
              <a:gd name="T2" fmla="*/ 287 w 287"/>
              <a:gd name="T3" fmla="*/ 143 h 360"/>
              <a:gd name="T4" fmla="*/ 143 w 287"/>
              <a:gd name="T5" fmla="*/ 0 h 360"/>
              <a:gd name="T6" fmla="*/ 0 w 287"/>
              <a:gd name="T7" fmla="*/ 143 h 360"/>
              <a:gd name="T8" fmla="*/ 130 w 287"/>
              <a:gd name="T9" fmla="*/ 285 h 360"/>
              <a:gd name="T10" fmla="*/ 271 w 287"/>
              <a:gd name="T11" fmla="*/ 350 h 360"/>
              <a:gd name="T12" fmla="*/ 200 w 287"/>
              <a:gd name="T13" fmla="*/ 274 h 360"/>
            </a:gdLst>
            <a:ahLst/>
            <a:cxnLst>
              <a:cxn ang="0">
                <a:pos x="T0" y="T1"/>
              </a:cxn>
              <a:cxn ang="0">
                <a:pos x="T2" y="T3"/>
              </a:cxn>
              <a:cxn ang="0">
                <a:pos x="T4" y="T5"/>
              </a:cxn>
              <a:cxn ang="0">
                <a:pos x="T6" y="T7"/>
              </a:cxn>
              <a:cxn ang="0">
                <a:pos x="T8" y="T9"/>
              </a:cxn>
              <a:cxn ang="0">
                <a:pos x="T10" y="T11"/>
              </a:cxn>
              <a:cxn ang="0">
                <a:pos x="T12" y="T13"/>
              </a:cxn>
            </a:cxnLst>
            <a:rect l="0" t="0" r="r" b="b"/>
            <a:pathLst>
              <a:path w="287" h="360">
                <a:moveTo>
                  <a:pt x="200" y="274"/>
                </a:moveTo>
                <a:cubicBezTo>
                  <a:pt x="251" y="252"/>
                  <a:pt x="287" y="202"/>
                  <a:pt x="287" y="143"/>
                </a:cubicBezTo>
                <a:cubicBezTo>
                  <a:pt x="287" y="64"/>
                  <a:pt x="223" y="0"/>
                  <a:pt x="143" y="0"/>
                </a:cubicBezTo>
                <a:cubicBezTo>
                  <a:pt x="64" y="0"/>
                  <a:pt x="0" y="64"/>
                  <a:pt x="0" y="143"/>
                </a:cubicBezTo>
                <a:cubicBezTo>
                  <a:pt x="0" y="217"/>
                  <a:pt x="57" y="278"/>
                  <a:pt x="130" y="285"/>
                </a:cubicBezTo>
                <a:cubicBezTo>
                  <a:pt x="162" y="360"/>
                  <a:pt x="271" y="350"/>
                  <a:pt x="271" y="350"/>
                </a:cubicBezTo>
                <a:cubicBezTo>
                  <a:pt x="224" y="340"/>
                  <a:pt x="207" y="304"/>
                  <a:pt x="200" y="274"/>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ru-RU" sz="6000" b="0" i="0" u="none" strike="noStrike" kern="1200" cap="none" spc="0" normalizeH="0" baseline="0" noProof="0" dirty="0">
              <a:ln>
                <a:noFill/>
              </a:ln>
              <a:solidFill>
                <a:srgbClr val="000000"/>
              </a:solidFill>
              <a:effectLst/>
              <a:uLnTx/>
              <a:uFillTx/>
              <a:cs typeface="+mn-ea"/>
              <a:sym typeface="+mn-lt"/>
            </a:endParaRPr>
          </a:p>
        </p:txBody>
      </p:sp>
      <p:sp>
        <p:nvSpPr>
          <p:cNvPr id="8" name="lemon8"/>
          <p:cNvSpPr>
            <a:spLocks noChangeArrowheads="1"/>
          </p:cNvSpPr>
          <p:nvPr/>
        </p:nvSpPr>
        <p:spPr bwMode="auto">
          <a:xfrm>
            <a:off x="382218" y="1525828"/>
            <a:ext cx="9361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FFFFFF"/>
                </a:solidFill>
                <a:effectLst/>
                <a:uLnTx/>
                <a:uFillTx/>
                <a:latin typeface="+mn-lt"/>
                <a:cs typeface="+mn-ea"/>
                <a:sym typeface="+mn-lt"/>
              </a:rPr>
              <a:t>下滑</a:t>
            </a:r>
            <a:endParaRPr kumimoji="0" lang="ru-RU" altLang="ru-RU" sz="2400" b="1" i="0" u="none" strike="noStrike" kern="1200" cap="none" spc="0" normalizeH="0" baseline="0" noProof="0" dirty="0">
              <a:ln>
                <a:noFill/>
              </a:ln>
              <a:solidFill>
                <a:srgbClr val="FFFFFF"/>
              </a:solidFill>
              <a:effectLst/>
              <a:uLnTx/>
              <a:uFillTx/>
              <a:latin typeface="+mn-lt"/>
              <a:cs typeface="+mn-ea"/>
              <a:sym typeface="+mn-lt"/>
            </a:endParaRPr>
          </a:p>
        </p:txBody>
      </p:sp>
      <p:sp>
        <p:nvSpPr>
          <p:cNvPr id="9" name="lemon9"/>
          <p:cNvSpPr>
            <a:spLocks noChangeArrowheads="1"/>
          </p:cNvSpPr>
          <p:nvPr/>
        </p:nvSpPr>
        <p:spPr bwMode="auto">
          <a:xfrm>
            <a:off x="396733" y="1965484"/>
            <a:ext cx="93613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ru-RU" altLang="ru-RU" sz="1600" b="0" i="0" u="none" strike="noStrike" kern="1200" cap="none" spc="0" normalizeH="0" baseline="0" noProof="0" dirty="0" err="1">
                <a:ln>
                  <a:noFill/>
                </a:ln>
                <a:solidFill>
                  <a:srgbClr val="FFFFFF"/>
                </a:solidFill>
                <a:effectLst/>
                <a:uLnTx/>
                <a:uFillTx/>
                <a:latin typeface="+mn-lt"/>
                <a:cs typeface="+mn-ea"/>
                <a:sym typeface="+mn-lt"/>
              </a:rPr>
              <a:t>销量趋势</a:t>
            </a:r>
            <a:endParaRPr kumimoji="0" lang="ru-RU" altLang="ru-RU" sz="1600" b="0" i="0" u="none" strike="noStrike" kern="1200" cap="none" spc="0" normalizeH="0" baseline="0" noProof="0" dirty="0">
              <a:ln>
                <a:noFill/>
              </a:ln>
              <a:solidFill>
                <a:srgbClr val="FFFFFF"/>
              </a:solidFill>
              <a:effectLst/>
              <a:uLnTx/>
              <a:uFillTx/>
              <a:latin typeface="+mn-lt"/>
              <a:cs typeface="+mn-ea"/>
              <a:sym typeface="+mn-lt"/>
            </a:endParaRPr>
          </a:p>
        </p:txBody>
      </p:sp>
      <p:sp>
        <p:nvSpPr>
          <p:cNvPr id="11" name="lemon10"/>
          <p:cNvSpPr txBox="1"/>
          <p:nvPr/>
        </p:nvSpPr>
        <p:spPr>
          <a:xfrm>
            <a:off x="7179065" y="1922917"/>
            <a:ext cx="4235175" cy="829651"/>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F8F8F8">
                    <a:lumMod val="25000"/>
                  </a:srgbClr>
                </a:solidFill>
                <a:effectLst/>
                <a:uLnTx/>
                <a:uFillTx/>
                <a:cs typeface="+mn-ea"/>
                <a:sym typeface="+mn-lt"/>
              </a:rPr>
              <a:t>2023</a:t>
            </a:r>
            <a:r>
              <a:rPr kumimoji="0" lang="zh-CN" altLang="en-US" sz="1100" b="0" i="0" u="none" strike="noStrike" kern="1200" cap="none" spc="0" normalizeH="0" baseline="0" noProof="0" dirty="0">
                <a:ln>
                  <a:noFill/>
                </a:ln>
                <a:solidFill>
                  <a:srgbClr val="F8F8F8">
                    <a:lumMod val="25000"/>
                  </a:srgbClr>
                </a:solidFill>
                <a:effectLst/>
                <a:uLnTx/>
                <a:uFillTx/>
                <a:cs typeface="+mn-ea"/>
                <a:sym typeface="+mn-lt"/>
              </a:rPr>
              <a:t>年，在公司营收、销量方面来看，服饰、生活用品、娱乐设施、美食、日常出行以及阅读学习成为本年度销量的有力增长点，增长幅度最高可达到</a:t>
            </a:r>
            <a:r>
              <a:rPr kumimoji="0" lang="en-US" altLang="zh-CN" sz="1100" b="0" i="0" u="none" strike="noStrike" kern="1200" cap="none" spc="0" normalizeH="0" baseline="0" noProof="0" dirty="0">
                <a:ln>
                  <a:noFill/>
                </a:ln>
                <a:solidFill>
                  <a:srgbClr val="F8F8F8">
                    <a:lumMod val="25000"/>
                  </a:srgbClr>
                </a:solidFill>
                <a:effectLst/>
                <a:uLnTx/>
                <a:uFillTx/>
                <a:cs typeface="+mn-ea"/>
                <a:sym typeface="+mn-lt"/>
              </a:rPr>
              <a:t>69%</a:t>
            </a:r>
            <a:endParaRPr kumimoji="0" lang="zh-CN" altLang="en-US" sz="1100" b="0" i="0" u="none" strike="noStrike" kern="1200" cap="none" spc="0" normalizeH="0" baseline="0" noProof="0" dirty="0">
              <a:ln>
                <a:noFill/>
              </a:ln>
              <a:solidFill>
                <a:srgbClr val="F8F8F8">
                  <a:lumMod val="25000"/>
                </a:srgbClr>
              </a:solidFill>
              <a:effectLst/>
              <a:uLnTx/>
              <a:uFillTx/>
              <a:cs typeface="+mn-ea"/>
              <a:sym typeface="+mn-lt"/>
            </a:endParaRPr>
          </a:p>
        </p:txBody>
      </p:sp>
      <p:sp>
        <p:nvSpPr>
          <p:cNvPr id="15" name="lemon11"/>
          <p:cNvSpPr txBox="1"/>
          <p:nvPr/>
        </p:nvSpPr>
        <p:spPr>
          <a:xfrm>
            <a:off x="7223514" y="2812861"/>
            <a:ext cx="4235175" cy="575735"/>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F8F8F8">
                    <a:lumMod val="25000"/>
                  </a:srgbClr>
                </a:solidFill>
                <a:effectLst/>
                <a:uLnTx/>
                <a:uFillTx/>
                <a:cs typeface="+mn-ea"/>
                <a:sym typeface="+mn-lt"/>
              </a:rPr>
              <a:t>2023</a:t>
            </a:r>
            <a:r>
              <a:rPr kumimoji="0" lang="zh-CN" altLang="en-US" sz="1100" b="0" i="0" u="none" strike="noStrike" kern="1200" cap="none" spc="0" normalizeH="0" baseline="0" noProof="0" dirty="0">
                <a:ln>
                  <a:noFill/>
                </a:ln>
                <a:solidFill>
                  <a:srgbClr val="F8F8F8">
                    <a:lumMod val="25000"/>
                  </a:srgbClr>
                </a:solidFill>
                <a:effectLst/>
                <a:uLnTx/>
                <a:uFillTx/>
                <a:cs typeface="+mn-ea"/>
                <a:sym typeface="+mn-lt"/>
              </a:rPr>
              <a:t>年，在公司营收、销量方面来看，服饰、生活用品、娱乐设施、美食、日常出行以及阅读学习成为本年度销量的有力增长点</a:t>
            </a:r>
          </a:p>
        </p:txBody>
      </p:sp>
      <p:sp>
        <p:nvSpPr>
          <p:cNvPr id="16" name="lemon12"/>
          <p:cNvSpPr txBox="1"/>
          <p:nvPr/>
        </p:nvSpPr>
        <p:spPr>
          <a:xfrm>
            <a:off x="7185436" y="3474248"/>
            <a:ext cx="4235175" cy="513346"/>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329D"/>
                </a:solidFill>
                <a:effectLst/>
                <a:uLnTx/>
                <a:uFillTx/>
                <a:cs typeface="+mn-ea"/>
                <a:sym typeface="+mn-lt"/>
              </a:rPr>
              <a:t>每月销量数据</a:t>
            </a:r>
          </a:p>
        </p:txBody>
      </p:sp>
      <p:sp>
        <p:nvSpPr>
          <p:cNvPr id="17" name="lemon13"/>
          <p:cNvSpPr txBox="1"/>
          <p:nvPr/>
        </p:nvSpPr>
        <p:spPr>
          <a:xfrm>
            <a:off x="1982700" y="1463279"/>
            <a:ext cx="3240819" cy="359073"/>
          </a:xfrm>
          <a:prstGeom prst="rect">
            <a:avLst/>
          </a:prstGeom>
          <a:ln w="12700">
            <a:miter lim="400000"/>
          </a:ln>
        </p:spPr>
        <p:txBody>
          <a:bodyPr wrap="square" lIns="25400" tIns="25400" rIns="25400" bIns="25400">
            <a:spAutoFit/>
          </a:bodyPr>
          <a:lstStyle>
            <a:lvl1pPr algn="l">
              <a:defRPr sz="4600" b="0">
                <a:solidFill>
                  <a:srgbClr val="535454"/>
                </a:solidFill>
                <a:latin typeface="Barlow Bold"/>
                <a:ea typeface="Barlow Bold"/>
                <a:cs typeface="Barlow Bold"/>
                <a:sym typeface="Barlow Bold"/>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4480FB"/>
                </a:solidFill>
                <a:effectLst/>
                <a:uLnTx/>
                <a:uFillTx/>
                <a:latin typeface="+mn-lt"/>
                <a:ea typeface="+mn-ea"/>
                <a:cs typeface="+mn-ea"/>
                <a:sym typeface="+mn-lt"/>
              </a:rPr>
              <a:t>各品类销量情况</a:t>
            </a:r>
            <a:endParaRPr kumimoji="0" sz="2000" b="1" i="0" u="none" strike="noStrike" kern="1200" cap="none" spc="0" normalizeH="0" baseline="0" noProof="0" dirty="0">
              <a:ln>
                <a:noFill/>
              </a:ln>
              <a:solidFill>
                <a:srgbClr val="4480FB"/>
              </a:solidFill>
              <a:effectLst/>
              <a:uLnTx/>
              <a:uFillTx/>
              <a:latin typeface="+mn-lt"/>
              <a:ea typeface="+mn-ea"/>
              <a:cs typeface="+mn-ea"/>
              <a:sym typeface="+mn-lt"/>
            </a:endParaRPr>
          </a:p>
        </p:txBody>
      </p:sp>
      <p:sp>
        <p:nvSpPr>
          <p:cNvPr id="33" name="lemon14"/>
          <p:cNvSpPr txBox="1"/>
          <p:nvPr/>
        </p:nvSpPr>
        <p:spPr>
          <a:xfrm>
            <a:off x="2283460" y="3161077"/>
            <a:ext cx="1728542"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2800" b="0" i="0" u="none" strike="noStrike" kern="1200" cap="none" spc="0" normalizeH="0" baseline="0" noProof="0" dirty="0">
                <a:ln>
                  <a:noFill/>
                </a:ln>
                <a:solidFill>
                  <a:srgbClr val="FFFFFF"/>
                </a:solidFill>
                <a:effectLst/>
                <a:uLnTx/>
                <a:uFillTx/>
                <a:cs typeface="+mn-ea"/>
                <a:sym typeface="+mn-lt"/>
              </a:rPr>
              <a:t>¥20,000</a:t>
            </a:r>
            <a:endParaRPr kumimoji="1" lang="zh-CN" altLang="en-US" sz="2800" b="0" i="0" u="none" strike="noStrike" kern="1200" cap="none" spc="0" normalizeH="0" baseline="0" noProof="0" dirty="0">
              <a:ln>
                <a:noFill/>
              </a:ln>
              <a:solidFill>
                <a:srgbClr val="FFFFFF"/>
              </a:solidFill>
              <a:effectLst/>
              <a:uLnTx/>
              <a:uFillTx/>
              <a:cs typeface="+mn-ea"/>
              <a:sym typeface="+mn-lt"/>
            </a:endParaRPr>
          </a:p>
        </p:txBody>
      </p:sp>
      <p:sp>
        <p:nvSpPr>
          <p:cNvPr id="34" name="lemon15"/>
          <p:cNvSpPr txBox="1"/>
          <p:nvPr/>
        </p:nvSpPr>
        <p:spPr>
          <a:xfrm>
            <a:off x="2499087" y="3764478"/>
            <a:ext cx="1728542"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srgbClr val="FFFFFF"/>
                </a:solidFill>
                <a:effectLst/>
                <a:uLnTx/>
                <a:uFillTx/>
                <a:cs typeface="+mn-ea"/>
                <a:sym typeface="+mn-lt"/>
              </a:rPr>
              <a:t>生活家居</a:t>
            </a:r>
          </a:p>
        </p:txBody>
      </p:sp>
      <p:sp>
        <p:nvSpPr>
          <p:cNvPr id="37" name="lemon16"/>
          <p:cNvSpPr txBox="1"/>
          <p:nvPr/>
        </p:nvSpPr>
        <p:spPr>
          <a:xfrm>
            <a:off x="4168468" y="1571216"/>
            <a:ext cx="88807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600" b="0" i="0" u="none" strike="noStrike" kern="1200" cap="none" spc="0" normalizeH="0" baseline="0" noProof="0" dirty="0">
                <a:ln>
                  <a:noFill/>
                </a:ln>
                <a:solidFill>
                  <a:srgbClr val="FFFFFF"/>
                </a:solidFill>
                <a:effectLst/>
                <a:uLnTx/>
                <a:uFillTx/>
                <a:cs typeface="+mn-ea"/>
                <a:sym typeface="+mn-lt"/>
              </a:rPr>
              <a:t>¥9,000</a:t>
            </a:r>
            <a:endParaRPr kumimoji="1"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38" name="lemon17"/>
          <p:cNvSpPr txBox="1"/>
          <p:nvPr/>
        </p:nvSpPr>
        <p:spPr>
          <a:xfrm>
            <a:off x="4835035" y="2662494"/>
            <a:ext cx="88807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600" b="0" i="0" u="none" strike="noStrike" kern="1200" cap="none" spc="0" normalizeH="0" baseline="0" noProof="0" dirty="0">
                <a:ln>
                  <a:noFill/>
                </a:ln>
                <a:solidFill>
                  <a:srgbClr val="FFFFFF"/>
                </a:solidFill>
                <a:effectLst/>
                <a:uLnTx/>
                <a:uFillTx/>
                <a:cs typeface="+mn-ea"/>
                <a:sym typeface="+mn-lt"/>
              </a:rPr>
              <a:t>¥8,000</a:t>
            </a:r>
            <a:endParaRPr kumimoji="1"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39" name="lemon18"/>
          <p:cNvSpPr txBox="1"/>
          <p:nvPr/>
        </p:nvSpPr>
        <p:spPr>
          <a:xfrm>
            <a:off x="4924766" y="3910911"/>
            <a:ext cx="888077"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200" b="0" i="0" u="none" strike="noStrike" kern="1200" cap="none" spc="0" normalizeH="0" baseline="0" noProof="0" dirty="0">
                <a:ln>
                  <a:noFill/>
                </a:ln>
                <a:solidFill>
                  <a:srgbClr val="FFFFFF"/>
                </a:solidFill>
                <a:effectLst/>
                <a:uLnTx/>
                <a:uFillTx/>
                <a:cs typeface="+mn-ea"/>
                <a:sym typeface="+mn-lt"/>
              </a:rPr>
              <a:t>¥7,000</a:t>
            </a:r>
            <a:endParaRPr kumimoji="1"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41" name="lemon19"/>
          <p:cNvSpPr txBox="1"/>
          <p:nvPr/>
        </p:nvSpPr>
        <p:spPr>
          <a:xfrm>
            <a:off x="4656706" y="4823314"/>
            <a:ext cx="888077"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200" b="0" i="0" u="none" strike="noStrike" kern="1200" cap="none" spc="0" normalizeH="0" baseline="0" noProof="0" dirty="0">
                <a:ln>
                  <a:noFill/>
                </a:ln>
                <a:solidFill>
                  <a:srgbClr val="FFFFFF"/>
                </a:solidFill>
                <a:effectLst/>
                <a:uLnTx/>
                <a:uFillTx/>
                <a:cs typeface="+mn-ea"/>
                <a:sym typeface="+mn-lt"/>
              </a:rPr>
              <a:t>¥6,000</a:t>
            </a:r>
            <a:endParaRPr kumimoji="1"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42" name="lemon20"/>
          <p:cNvSpPr txBox="1"/>
          <p:nvPr/>
        </p:nvSpPr>
        <p:spPr>
          <a:xfrm>
            <a:off x="3117273" y="5656691"/>
            <a:ext cx="888077"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200" b="0" i="0" u="none" strike="noStrike" kern="1200" cap="none" spc="0" normalizeH="0" baseline="0" noProof="0" dirty="0">
                <a:ln>
                  <a:noFill/>
                </a:ln>
                <a:solidFill>
                  <a:srgbClr val="FFFFFF"/>
                </a:solidFill>
                <a:effectLst/>
                <a:uLnTx/>
                <a:uFillTx/>
                <a:cs typeface="+mn-ea"/>
                <a:sym typeface="+mn-lt"/>
              </a:rPr>
              <a:t>¥4,000</a:t>
            </a:r>
            <a:endParaRPr kumimoji="1"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45" name="lemon21"/>
          <p:cNvSpPr txBox="1"/>
          <p:nvPr/>
        </p:nvSpPr>
        <p:spPr>
          <a:xfrm>
            <a:off x="2307045" y="5621967"/>
            <a:ext cx="888077"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100" b="0" i="0" u="none" strike="noStrike" kern="1200" cap="none" spc="0" normalizeH="0" baseline="0" noProof="0" dirty="0">
                <a:ln>
                  <a:noFill/>
                </a:ln>
                <a:solidFill>
                  <a:srgbClr val="FFFFFF"/>
                </a:solidFill>
                <a:effectLst/>
                <a:uLnTx/>
                <a:uFillTx/>
                <a:cs typeface="+mn-ea"/>
                <a:sym typeface="+mn-lt"/>
              </a:rPr>
              <a:t>¥3,000</a:t>
            </a:r>
            <a:endParaRPr kumimoji="1" lang="zh-CN" altLang="en-US" sz="1100" b="0" i="0" u="none" strike="noStrike" kern="1200" cap="none" spc="0" normalizeH="0" baseline="0" noProof="0" dirty="0">
              <a:ln>
                <a:noFill/>
              </a:ln>
              <a:solidFill>
                <a:srgbClr val="FFFFFF"/>
              </a:solidFill>
              <a:effectLst/>
              <a:uLnTx/>
              <a:uFillTx/>
              <a:cs typeface="+mn-ea"/>
              <a:sym typeface="+mn-lt"/>
            </a:endParaRPr>
          </a:p>
        </p:txBody>
      </p:sp>
      <p:sp>
        <p:nvSpPr>
          <p:cNvPr id="46" name="lemon22"/>
          <p:cNvSpPr txBox="1"/>
          <p:nvPr/>
        </p:nvSpPr>
        <p:spPr>
          <a:xfrm>
            <a:off x="1600990" y="5367324"/>
            <a:ext cx="888077"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100" b="0" i="0" u="none" strike="noStrike" kern="1200" cap="none" spc="0" normalizeH="0" baseline="0" noProof="0" dirty="0">
                <a:ln>
                  <a:noFill/>
                </a:ln>
                <a:solidFill>
                  <a:srgbClr val="FFFFFF"/>
                </a:solidFill>
                <a:effectLst/>
                <a:uLnTx/>
                <a:uFillTx/>
                <a:cs typeface="+mn-ea"/>
                <a:sym typeface="+mn-lt"/>
              </a:rPr>
              <a:t>¥2,000</a:t>
            </a:r>
            <a:endParaRPr kumimoji="1" lang="zh-CN" altLang="en-US" sz="1100" b="0" i="0" u="none" strike="noStrike" kern="1200" cap="none" spc="0" normalizeH="0" baseline="0" noProof="0" dirty="0">
              <a:ln>
                <a:noFill/>
              </a:ln>
              <a:solidFill>
                <a:srgbClr val="FFFFFF"/>
              </a:solidFill>
              <a:effectLst/>
              <a:uLnTx/>
              <a:uFillTx/>
              <a:cs typeface="+mn-ea"/>
              <a:sym typeface="+mn-lt"/>
            </a:endParaRPr>
          </a:p>
        </p:txBody>
      </p:sp>
      <p:sp>
        <p:nvSpPr>
          <p:cNvPr id="51" name="lemon23"/>
          <p:cNvSpPr txBox="1"/>
          <p:nvPr/>
        </p:nvSpPr>
        <p:spPr>
          <a:xfrm>
            <a:off x="1230102" y="4753482"/>
            <a:ext cx="888077" cy="2308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900" b="0" i="0" u="none" strike="noStrike" kern="1200" cap="none" spc="0" normalizeH="0" baseline="0" noProof="0" dirty="0">
                <a:ln>
                  <a:noFill/>
                </a:ln>
                <a:solidFill>
                  <a:srgbClr val="FFFFFF"/>
                </a:solidFill>
                <a:effectLst/>
                <a:uLnTx/>
                <a:uFillTx/>
                <a:cs typeface="+mn-ea"/>
                <a:sym typeface="+mn-lt"/>
              </a:rPr>
              <a:t>¥1,000</a:t>
            </a:r>
            <a:endParaRPr kumimoji="1" lang="zh-CN" altLang="en-US" sz="900" b="0" i="0" u="none" strike="noStrike" kern="1200" cap="none" spc="0" normalizeH="0" baseline="0" noProof="0" dirty="0">
              <a:ln>
                <a:noFill/>
              </a:ln>
              <a:solidFill>
                <a:srgbClr val="FFFFFF"/>
              </a:solidFill>
              <a:effectLst/>
              <a:uLnTx/>
              <a:uFillTx/>
              <a:cs typeface="+mn-ea"/>
              <a:sym typeface="+mn-lt"/>
            </a:endParaRPr>
          </a:p>
        </p:txBody>
      </p:sp>
      <p:sp>
        <p:nvSpPr>
          <p:cNvPr id="52" name="lemon24"/>
          <p:cNvSpPr txBox="1"/>
          <p:nvPr/>
        </p:nvSpPr>
        <p:spPr>
          <a:xfrm>
            <a:off x="1161440" y="4140588"/>
            <a:ext cx="888077" cy="2308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900" b="0" i="0" u="none" strike="noStrike" kern="1200" cap="none" spc="0" normalizeH="0" baseline="0" noProof="0" dirty="0">
                <a:ln>
                  <a:noFill/>
                </a:ln>
                <a:solidFill>
                  <a:srgbClr val="FFFFFF"/>
                </a:solidFill>
                <a:effectLst/>
                <a:uLnTx/>
                <a:uFillTx/>
                <a:cs typeface="+mn-ea"/>
                <a:sym typeface="+mn-lt"/>
              </a:rPr>
              <a:t>¥900</a:t>
            </a:r>
            <a:endParaRPr kumimoji="1" lang="zh-CN" altLang="en-US" sz="900" b="0" i="0" u="none" strike="noStrike" kern="1200" cap="none" spc="0" normalizeH="0" baseline="0" noProof="0" dirty="0">
              <a:ln>
                <a:noFill/>
              </a:ln>
              <a:solidFill>
                <a:srgbClr val="FFFFFF"/>
              </a:solidFill>
              <a:effectLst/>
              <a:uLnTx/>
              <a:uFillTx/>
              <a:cs typeface="+mn-ea"/>
              <a:sym typeface="+mn-lt"/>
            </a:endParaRPr>
          </a:p>
        </p:txBody>
      </p:sp>
      <p:sp>
        <p:nvSpPr>
          <p:cNvPr id="53" name="lemon25"/>
          <p:cNvSpPr txBox="1"/>
          <p:nvPr/>
        </p:nvSpPr>
        <p:spPr>
          <a:xfrm>
            <a:off x="3950650" y="5367324"/>
            <a:ext cx="888077"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200" b="0" i="0" u="none" strike="noStrike" kern="1200" cap="none" spc="0" normalizeH="0" baseline="0" noProof="0" dirty="0">
                <a:ln>
                  <a:noFill/>
                </a:ln>
                <a:solidFill>
                  <a:srgbClr val="FFFFFF"/>
                </a:solidFill>
                <a:effectLst/>
                <a:uLnTx/>
                <a:uFillTx/>
                <a:cs typeface="+mn-ea"/>
                <a:sym typeface="+mn-lt"/>
              </a:rPr>
              <a:t>¥5,000</a:t>
            </a:r>
            <a:endParaRPr kumimoji="1"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54" name="lemon26"/>
          <p:cNvSpPr txBox="1"/>
          <p:nvPr/>
        </p:nvSpPr>
        <p:spPr>
          <a:xfrm>
            <a:off x="1126716" y="3515555"/>
            <a:ext cx="888077" cy="2308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900" b="0" i="0" u="none" strike="noStrike" kern="1200" cap="none" spc="0" normalizeH="0" baseline="0" noProof="0" dirty="0">
                <a:ln>
                  <a:noFill/>
                </a:ln>
                <a:solidFill>
                  <a:srgbClr val="FFFFFF"/>
                </a:solidFill>
                <a:effectLst/>
                <a:uLnTx/>
                <a:uFillTx/>
                <a:cs typeface="+mn-ea"/>
                <a:sym typeface="+mn-lt"/>
              </a:rPr>
              <a:t>¥800</a:t>
            </a:r>
            <a:endParaRPr kumimoji="1" lang="zh-CN" altLang="en-US" sz="900" b="0" i="0" u="none" strike="noStrike" kern="1200" cap="none" spc="0" normalizeH="0" baseline="0" noProof="0" dirty="0">
              <a:ln>
                <a:noFill/>
              </a:ln>
              <a:solidFill>
                <a:srgbClr val="FFFFFF"/>
              </a:solidFill>
              <a:effectLst/>
              <a:uLnTx/>
              <a:uFillTx/>
              <a:cs typeface="+mn-ea"/>
              <a:sym typeface="+mn-lt"/>
            </a:endParaRPr>
          </a:p>
        </p:txBody>
      </p:sp>
      <p:sp>
        <p:nvSpPr>
          <p:cNvPr id="55" name="lemon27"/>
          <p:cNvSpPr txBox="1"/>
          <p:nvPr/>
        </p:nvSpPr>
        <p:spPr>
          <a:xfrm>
            <a:off x="1335060" y="2890523"/>
            <a:ext cx="888077" cy="2308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900" b="0" i="0" u="none" strike="noStrike" kern="1200" cap="none" spc="0" normalizeH="0" baseline="0" noProof="0" dirty="0">
                <a:ln>
                  <a:noFill/>
                </a:ln>
                <a:solidFill>
                  <a:srgbClr val="FFFFFF"/>
                </a:solidFill>
                <a:effectLst/>
                <a:uLnTx/>
                <a:uFillTx/>
                <a:cs typeface="+mn-ea"/>
                <a:sym typeface="+mn-lt"/>
              </a:rPr>
              <a:t>¥700</a:t>
            </a:r>
            <a:endParaRPr kumimoji="1" lang="zh-CN" altLang="en-US" sz="900" b="0" i="0" u="none" strike="noStrike" kern="1200" cap="none" spc="0" normalizeH="0" baseline="0" noProof="0" dirty="0">
              <a:ln>
                <a:noFill/>
              </a:ln>
              <a:solidFill>
                <a:srgbClr val="FFFFFF"/>
              </a:solidFill>
              <a:effectLst/>
              <a:uLnTx/>
              <a:uFillTx/>
              <a:cs typeface="+mn-ea"/>
              <a:sym typeface="+mn-lt"/>
            </a:endParaRPr>
          </a:p>
        </p:txBody>
      </p:sp>
      <p:sp>
        <p:nvSpPr>
          <p:cNvPr id="56" name="lemon28"/>
          <p:cNvSpPr txBox="1"/>
          <p:nvPr/>
        </p:nvSpPr>
        <p:spPr>
          <a:xfrm>
            <a:off x="4236473" y="2188955"/>
            <a:ext cx="172854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cs typeface="+mn-ea"/>
                <a:sym typeface="+mn-lt"/>
              </a:rPr>
              <a:t>类别</a:t>
            </a:r>
            <a:r>
              <a:rPr kumimoji="1" lang="en-US" altLang="zh-CN" sz="1200" b="0" i="0" u="none" strike="noStrike" kern="1200" cap="none" spc="0" normalizeH="0" baseline="0" noProof="0" dirty="0">
                <a:ln>
                  <a:noFill/>
                </a:ln>
                <a:solidFill>
                  <a:srgbClr val="000000"/>
                </a:solidFill>
                <a:effectLst/>
                <a:uLnTx/>
                <a:uFillTx/>
                <a:cs typeface="+mn-ea"/>
                <a:sym typeface="+mn-lt"/>
              </a:rPr>
              <a:t>1</a:t>
            </a:r>
            <a:endParaRPr kumimoji="1"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57" name="lemon29"/>
          <p:cNvSpPr txBox="1"/>
          <p:nvPr/>
        </p:nvSpPr>
        <p:spPr>
          <a:xfrm>
            <a:off x="4907804" y="3253826"/>
            <a:ext cx="172854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cs typeface="+mn-ea"/>
                <a:sym typeface="+mn-lt"/>
              </a:rPr>
              <a:t>类别</a:t>
            </a:r>
            <a:r>
              <a:rPr kumimoji="1" lang="en-US" altLang="zh-CN" sz="1200" b="0" i="0" u="none" strike="noStrike" kern="1200" cap="none" spc="0" normalizeH="0" baseline="0" noProof="0" dirty="0">
                <a:ln>
                  <a:noFill/>
                </a:ln>
                <a:solidFill>
                  <a:srgbClr val="000000"/>
                </a:solidFill>
                <a:effectLst/>
                <a:uLnTx/>
                <a:uFillTx/>
                <a:cs typeface="+mn-ea"/>
                <a:sym typeface="+mn-lt"/>
              </a:rPr>
              <a:t>2</a:t>
            </a:r>
            <a:endParaRPr kumimoji="1"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59" name="lemon30"/>
          <p:cNvSpPr txBox="1"/>
          <p:nvPr/>
        </p:nvSpPr>
        <p:spPr>
          <a:xfrm>
            <a:off x="4907804" y="4399720"/>
            <a:ext cx="172854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cs typeface="+mn-ea"/>
                <a:sym typeface="+mn-lt"/>
              </a:rPr>
              <a:t>类别</a:t>
            </a:r>
            <a:r>
              <a:rPr kumimoji="1" lang="en-US" altLang="zh-CN" sz="1200" b="0" i="0" u="none" strike="noStrike" kern="1200" cap="none" spc="0" normalizeH="0" baseline="0" noProof="0" dirty="0">
                <a:ln>
                  <a:noFill/>
                </a:ln>
                <a:solidFill>
                  <a:srgbClr val="000000"/>
                </a:solidFill>
                <a:effectLst/>
                <a:uLnTx/>
                <a:uFillTx/>
                <a:cs typeface="+mn-ea"/>
                <a:sym typeface="+mn-lt"/>
              </a:rPr>
              <a:t>3</a:t>
            </a:r>
            <a:endParaRPr kumimoji="1"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60" name="lemon31"/>
          <p:cNvSpPr txBox="1"/>
          <p:nvPr/>
        </p:nvSpPr>
        <p:spPr>
          <a:xfrm>
            <a:off x="4664735" y="5302545"/>
            <a:ext cx="172854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cs typeface="+mn-ea"/>
                <a:sym typeface="+mn-lt"/>
              </a:rPr>
              <a:t>类别</a:t>
            </a:r>
            <a:r>
              <a:rPr kumimoji="1" lang="en-US" altLang="zh-CN" sz="1200" b="0" i="0" u="none" strike="noStrike" kern="1200" cap="none" spc="0" normalizeH="0" baseline="0" noProof="0" dirty="0">
                <a:ln>
                  <a:noFill/>
                </a:ln>
                <a:solidFill>
                  <a:srgbClr val="000000"/>
                </a:solidFill>
                <a:effectLst/>
                <a:uLnTx/>
                <a:uFillTx/>
                <a:cs typeface="+mn-ea"/>
                <a:sym typeface="+mn-lt"/>
              </a:rPr>
              <a:t>4</a:t>
            </a:r>
            <a:endParaRPr kumimoji="1"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61" name="lemon32"/>
          <p:cNvSpPr txBox="1"/>
          <p:nvPr/>
        </p:nvSpPr>
        <p:spPr>
          <a:xfrm>
            <a:off x="4016553" y="5823406"/>
            <a:ext cx="172854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cs typeface="+mn-ea"/>
                <a:sym typeface="+mn-lt"/>
              </a:rPr>
              <a:t>类别</a:t>
            </a:r>
            <a:r>
              <a:rPr kumimoji="1" lang="en-US" altLang="zh-CN" sz="1200" b="0" i="0" u="none" strike="noStrike" kern="1200" cap="none" spc="0" normalizeH="0" baseline="0" noProof="0" dirty="0">
                <a:ln>
                  <a:noFill/>
                </a:ln>
                <a:solidFill>
                  <a:srgbClr val="000000"/>
                </a:solidFill>
                <a:effectLst/>
                <a:uLnTx/>
                <a:uFillTx/>
                <a:cs typeface="+mn-ea"/>
                <a:sym typeface="+mn-lt"/>
              </a:rPr>
              <a:t>5</a:t>
            </a:r>
            <a:endParaRPr kumimoji="1"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62" name="lemon33"/>
          <p:cNvSpPr txBox="1"/>
          <p:nvPr/>
        </p:nvSpPr>
        <p:spPr>
          <a:xfrm>
            <a:off x="3125302" y="6089624"/>
            <a:ext cx="172854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cs typeface="+mn-ea"/>
                <a:sym typeface="+mn-lt"/>
              </a:rPr>
              <a:t>类别</a:t>
            </a:r>
            <a:r>
              <a:rPr kumimoji="1" lang="en-US" altLang="zh-CN" sz="1200" b="0" i="0" u="none" strike="noStrike" kern="1200" cap="none" spc="0" normalizeH="0" baseline="0" noProof="0" dirty="0">
                <a:ln>
                  <a:noFill/>
                </a:ln>
                <a:solidFill>
                  <a:srgbClr val="000000"/>
                </a:solidFill>
                <a:effectLst/>
                <a:uLnTx/>
                <a:uFillTx/>
                <a:cs typeface="+mn-ea"/>
                <a:sym typeface="+mn-lt"/>
              </a:rPr>
              <a:t>6</a:t>
            </a:r>
            <a:endParaRPr kumimoji="1"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63" name="lemon34"/>
          <p:cNvSpPr txBox="1"/>
          <p:nvPr/>
        </p:nvSpPr>
        <p:spPr>
          <a:xfrm>
            <a:off x="2280350" y="6101200"/>
            <a:ext cx="882473"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cs typeface="+mn-ea"/>
                <a:sym typeface="+mn-lt"/>
              </a:rPr>
              <a:t>类别</a:t>
            </a:r>
            <a:r>
              <a:rPr kumimoji="1" lang="en-US" altLang="zh-CN" sz="1200" b="0" i="0" u="none" strike="noStrike" kern="1200" cap="none" spc="0" normalizeH="0" baseline="0" noProof="0" dirty="0">
                <a:ln>
                  <a:noFill/>
                </a:ln>
                <a:solidFill>
                  <a:srgbClr val="000000"/>
                </a:solidFill>
                <a:effectLst/>
                <a:uLnTx/>
                <a:uFillTx/>
                <a:cs typeface="+mn-ea"/>
                <a:sym typeface="+mn-lt"/>
              </a:rPr>
              <a:t>7</a:t>
            </a:r>
            <a:endParaRPr kumimoji="1"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64" name="lemon35"/>
          <p:cNvSpPr txBox="1"/>
          <p:nvPr/>
        </p:nvSpPr>
        <p:spPr>
          <a:xfrm>
            <a:off x="1400674" y="5777108"/>
            <a:ext cx="172854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cs typeface="+mn-ea"/>
                <a:sym typeface="+mn-lt"/>
              </a:rPr>
              <a:t>类别</a:t>
            </a:r>
            <a:r>
              <a:rPr kumimoji="1" lang="en-US" altLang="zh-CN" sz="1200" b="0" i="0" u="none" strike="noStrike" kern="1200" cap="none" spc="0" normalizeH="0" baseline="0" noProof="0" dirty="0">
                <a:ln>
                  <a:noFill/>
                </a:ln>
                <a:solidFill>
                  <a:srgbClr val="000000"/>
                </a:solidFill>
                <a:effectLst/>
                <a:uLnTx/>
                <a:uFillTx/>
                <a:cs typeface="+mn-ea"/>
                <a:sym typeface="+mn-lt"/>
              </a:rPr>
              <a:t>8</a:t>
            </a:r>
            <a:endParaRPr kumimoji="1"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65" name="lemon36"/>
          <p:cNvSpPr txBox="1"/>
          <p:nvPr/>
        </p:nvSpPr>
        <p:spPr>
          <a:xfrm>
            <a:off x="775641" y="5001605"/>
            <a:ext cx="172854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cs typeface="+mn-ea"/>
                <a:sym typeface="+mn-lt"/>
              </a:rPr>
              <a:t>类别</a:t>
            </a:r>
            <a:r>
              <a:rPr kumimoji="1" lang="en-US" altLang="zh-CN" sz="1200" b="0" i="0" u="none" strike="noStrike" kern="1200" cap="none" spc="0" normalizeH="0" baseline="0" noProof="0" dirty="0">
                <a:ln>
                  <a:noFill/>
                </a:ln>
                <a:solidFill>
                  <a:srgbClr val="000000"/>
                </a:solidFill>
                <a:effectLst/>
                <a:uLnTx/>
                <a:uFillTx/>
                <a:cs typeface="+mn-ea"/>
                <a:sym typeface="+mn-lt"/>
              </a:rPr>
              <a:t>9</a:t>
            </a:r>
            <a:endParaRPr kumimoji="1"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66" name="lemon37"/>
          <p:cNvSpPr txBox="1"/>
          <p:nvPr/>
        </p:nvSpPr>
        <p:spPr>
          <a:xfrm>
            <a:off x="544147" y="4283975"/>
            <a:ext cx="172854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cs typeface="+mn-ea"/>
                <a:sym typeface="+mn-lt"/>
              </a:rPr>
              <a:t>类别</a:t>
            </a:r>
            <a:r>
              <a:rPr kumimoji="1" lang="en-US" altLang="zh-CN" sz="1200" b="0" i="0" u="none" strike="noStrike" kern="1200" cap="none" spc="0" normalizeH="0" baseline="0" noProof="0" dirty="0">
                <a:ln>
                  <a:noFill/>
                </a:ln>
                <a:solidFill>
                  <a:srgbClr val="000000"/>
                </a:solidFill>
                <a:effectLst/>
                <a:uLnTx/>
                <a:uFillTx/>
                <a:cs typeface="+mn-ea"/>
                <a:sym typeface="+mn-lt"/>
              </a:rPr>
              <a:t>10</a:t>
            </a:r>
            <a:endParaRPr kumimoji="1"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67" name="lemon38"/>
          <p:cNvSpPr txBox="1"/>
          <p:nvPr/>
        </p:nvSpPr>
        <p:spPr>
          <a:xfrm>
            <a:off x="509423" y="3554770"/>
            <a:ext cx="172854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cs typeface="+mn-ea"/>
                <a:sym typeface="+mn-lt"/>
              </a:rPr>
              <a:t>类别</a:t>
            </a:r>
            <a:r>
              <a:rPr kumimoji="1" lang="en-US" altLang="zh-CN" sz="1200" b="0" i="0" u="none" strike="noStrike" kern="1200" cap="none" spc="0" normalizeH="0" baseline="0" noProof="0" dirty="0">
                <a:ln>
                  <a:noFill/>
                </a:ln>
                <a:solidFill>
                  <a:srgbClr val="000000"/>
                </a:solidFill>
                <a:effectLst/>
                <a:uLnTx/>
                <a:uFillTx/>
                <a:cs typeface="+mn-ea"/>
                <a:sym typeface="+mn-lt"/>
              </a:rPr>
              <a:t>11</a:t>
            </a:r>
            <a:endParaRPr kumimoji="1"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68" name="lemon39"/>
          <p:cNvSpPr txBox="1"/>
          <p:nvPr/>
        </p:nvSpPr>
        <p:spPr>
          <a:xfrm>
            <a:off x="636744" y="2860289"/>
            <a:ext cx="172854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cs typeface="+mn-ea"/>
                <a:sym typeface="+mn-lt"/>
              </a:rPr>
              <a:t>类别</a:t>
            </a:r>
            <a:r>
              <a:rPr kumimoji="1" lang="en-US" altLang="zh-CN" sz="1200" b="0" i="0" u="none" strike="noStrike" kern="1200" cap="none" spc="0" normalizeH="0" baseline="0" noProof="0" dirty="0">
                <a:ln>
                  <a:noFill/>
                </a:ln>
                <a:solidFill>
                  <a:srgbClr val="000000"/>
                </a:solidFill>
                <a:effectLst/>
                <a:uLnTx/>
                <a:uFillTx/>
                <a:cs typeface="+mn-ea"/>
                <a:sym typeface="+mn-lt"/>
              </a:rPr>
              <a:t>12</a:t>
            </a:r>
            <a:endParaRPr kumimoji="1"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69" name="lemon40"/>
          <p:cNvSpPr txBox="1"/>
          <p:nvPr/>
        </p:nvSpPr>
        <p:spPr>
          <a:xfrm>
            <a:off x="2072004" y="4932158"/>
            <a:ext cx="172854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cs typeface="+mn-ea"/>
                <a:sym typeface="+mn-lt"/>
              </a:rPr>
              <a:t>品类</a:t>
            </a:r>
            <a:r>
              <a:rPr kumimoji="1" lang="en-US" altLang="zh-CN" sz="1200" b="0" i="0" u="none" strike="noStrike" kern="1200" cap="none" spc="0" normalizeH="0" baseline="0" noProof="0" dirty="0">
                <a:ln>
                  <a:noFill/>
                </a:ln>
                <a:solidFill>
                  <a:srgbClr val="000000"/>
                </a:solidFill>
                <a:effectLst/>
                <a:uLnTx/>
                <a:uFillTx/>
                <a:cs typeface="+mn-ea"/>
                <a:sym typeface="+mn-lt"/>
              </a:rPr>
              <a:t>20</a:t>
            </a:r>
            <a:endParaRPr kumimoji="1"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5" name="矩形: 圆角 7"/>
          <p:cNvSpPr/>
          <p:nvPr/>
        </p:nvSpPr>
        <p:spPr>
          <a:xfrm flipV="1">
            <a:off x="457802" y="696804"/>
            <a:ext cx="11388632" cy="4571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cs typeface="+mn-ea"/>
              <a:sym typeface="+mn-lt"/>
            </a:endParaRPr>
          </a:p>
        </p:txBody>
      </p:sp>
      <p:sp>
        <p:nvSpPr>
          <p:cNvPr id="43" name="Venn diagram"/>
          <p:cNvSpPr txBox="1"/>
          <p:nvPr/>
        </p:nvSpPr>
        <p:spPr>
          <a:xfrm>
            <a:off x="437924" y="204604"/>
            <a:ext cx="6651772" cy="420628"/>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algn="l"/>
            <a:r>
              <a:rPr lang="zh-CN" altLang="en-US" sz="2400" b="1" i="0" dirty="0">
                <a:solidFill>
                  <a:schemeClr val="accent1"/>
                </a:solidFill>
                <a:cs typeface="+mn-ea"/>
                <a:sym typeface="+mn-lt"/>
              </a:rPr>
              <a:t>高端</a:t>
            </a:r>
            <a:r>
              <a:rPr lang="en-US" sz="2400" b="1" i="0" dirty="0">
                <a:solidFill>
                  <a:schemeClr val="accent1"/>
                </a:solidFill>
                <a:cs typeface="+mn-ea"/>
                <a:sym typeface="+mn-lt"/>
              </a:rPr>
              <a:t>PPT</a:t>
            </a:r>
            <a:r>
              <a:rPr lang="zh-CN" altLang="en-US" sz="2400" b="1" i="0" dirty="0">
                <a:solidFill>
                  <a:schemeClr val="accent1"/>
                </a:solidFill>
                <a:cs typeface="+mn-ea"/>
                <a:sym typeface="+mn-lt"/>
              </a:rPr>
              <a:t>系列之一：打工人必备</a:t>
            </a:r>
            <a:r>
              <a:rPr lang="en-US" sz="2400" b="1" i="0" dirty="0">
                <a:solidFill>
                  <a:schemeClr val="accent1"/>
                </a:solidFill>
                <a:cs typeface="+mn-ea"/>
                <a:sym typeface="+mn-lt"/>
              </a:rPr>
              <a:t>PPT</a:t>
            </a:r>
            <a:r>
              <a:rPr lang="zh-CN" altLang="en-US" sz="2400" b="1" i="0" dirty="0">
                <a:solidFill>
                  <a:schemeClr val="accent1"/>
                </a:solidFill>
                <a:cs typeface="+mn-ea"/>
                <a:sym typeface="+mn-lt"/>
              </a:rPr>
              <a:t>逻辑图</a:t>
            </a:r>
            <a:endParaRPr sz="2400" b="1" i="0" dirty="0">
              <a:solidFill>
                <a:schemeClr val="accent1"/>
              </a:solidFill>
              <a:cs typeface="+mn-ea"/>
              <a:sym typeface="+mn-lt"/>
            </a:endParaRP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lemon1"/>
          <p:cNvSpPr/>
          <p:nvPr/>
        </p:nvSpPr>
        <p:spPr>
          <a:xfrm>
            <a:off x="462632" y="1402294"/>
            <a:ext cx="2278012" cy="4711591"/>
          </a:xfrm>
          <a:prstGeom prst="roundRect">
            <a:avLst>
              <a:gd name="adj" fmla="val 2511"/>
            </a:avLst>
          </a:prstGeom>
          <a:solidFill>
            <a:schemeClr val="accent2">
              <a:lumMod val="20000"/>
              <a:lumOff val="80000"/>
              <a:alpha val="15079"/>
            </a:schemeClr>
          </a:solidFill>
          <a:ln w="12700">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cxnSp>
        <p:nvCxnSpPr>
          <p:cNvPr id="12" name="lemon2"/>
          <p:cNvCxnSpPr/>
          <p:nvPr/>
        </p:nvCxnSpPr>
        <p:spPr>
          <a:xfrm>
            <a:off x="7995166" y="2124906"/>
            <a:ext cx="1072744" cy="273083"/>
          </a:xfrm>
          <a:prstGeom prst="bentConnector3">
            <a:avLst>
              <a:gd name="adj1" fmla="val 50000"/>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lemon3"/>
          <p:cNvCxnSpPr/>
          <p:nvPr/>
        </p:nvCxnSpPr>
        <p:spPr>
          <a:xfrm flipV="1">
            <a:off x="8065109" y="3166420"/>
            <a:ext cx="1025284" cy="713693"/>
          </a:xfrm>
          <a:prstGeom prst="bentConnector3">
            <a:avLst>
              <a:gd name="adj1" fmla="val 50000"/>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lemon4"/>
          <p:cNvCxnSpPr/>
          <p:nvPr/>
        </p:nvCxnSpPr>
        <p:spPr>
          <a:xfrm flipV="1">
            <a:off x="8181896" y="4716498"/>
            <a:ext cx="844860" cy="815084"/>
          </a:xfrm>
          <a:prstGeom prst="bentConnector3">
            <a:avLst>
              <a:gd name="adj1" fmla="val 50000"/>
            </a:avLst>
          </a:prstGeom>
          <a:ln w="127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grpSp>
        <p:nvGrpSpPr>
          <p:cNvPr id="107" name="lemon5"/>
          <p:cNvGrpSpPr/>
          <p:nvPr/>
        </p:nvGrpSpPr>
        <p:grpSpPr>
          <a:xfrm>
            <a:off x="8587021" y="1654010"/>
            <a:ext cx="2957966" cy="4276589"/>
            <a:chOff x="8587021" y="1654010"/>
            <a:chExt cx="2957966" cy="4276589"/>
          </a:xfrm>
        </p:grpSpPr>
        <p:grpSp>
          <p:nvGrpSpPr>
            <p:cNvPr id="4" name="组合 3"/>
            <p:cNvGrpSpPr/>
            <p:nvPr/>
          </p:nvGrpSpPr>
          <p:grpSpPr>
            <a:xfrm>
              <a:off x="9118292" y="1654010"/>
              <a:ext cx="2426695" cy="4276589"/>
              <a:chOff x="9205431" y="2157642"/>
              <a:chExt cx="2650330" cy="4670703"/>
            </a:xfrm>
          </p:grpSpPr>
          <p:sp>
            <p:nvSpPr>
              <p:cNvPr id="5" name="lemon5-1"/>
              <p:cNvSpPr/>
              <p:nvPr/>
            </p:nvSpPr>
            <p:spPr bwMode="auto">
              <a:xfrm>
                <a:off x="9555474" y="2157642"/>
                <a:ext cx="2300287" cy="4378325"/>
              </a:xfrm>
              <a:custGeom>
                <a:avLst/>
                <a:gdLst>
                  <a:gd name="T0" fmla="*/ 576 w 609"/>
                  <a:gd name="T1" fmla="*/ 1154 h 1161"/>
                  <a:gd name="T2" fmla="*/ 33 w 609"/>
                  <a:gd name="T3" fmla="*/ 946 h 1161"/>
                  <a:gd name="T4" fmla="*/ 0 w 609"/>
                  <a:gd name="T5" fmla="*/ 901 h 1161"/>
                  <a:gd name="T6" fmla="*/ 0 w 609"/>
                  <a:gd name="T7" fmla="*/ 27 h 1161"/>
                  <a:gd name="T8" fmla="*/ 33 w 609"/>
                  <a:gd name="T9" fmla="*/ 7 h 1161"/>
                  <a:gd name="T10" fmla="*/ 576 w 609"/>
                  <a:gd name="T11" fmla="*/ 215 h 1161"/>
                  <a:gd name="T12" fmla="*/ 609 w 609"/>
                  <a:gd name="T13" fmla="*/ 260 h 1161"/>
                  <a:gd name="T14" fmla="*/ 609 w 609"/>
                  <a:gd name="T15" fmla="*/ 1134 h 1161"/>
                  <a:gd name="T16" fmla="*/ 576 w 609"/>
                  <a:gd name="T17" fmla="*/ 1154 h 1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9" h="1161">
                    <a:moveTo>
                      <a:pt x="576" y="1154"/>
                    </a:moveTo>
                    <a:cubicBezTo>
                      <a:pt x="33" y="946"/>
                      <a:pt x="33" y="946"/>
                      <a:pt x="33" y="946"/>
                    </a:cubicBezTo>
                    <a:cubicBezTo>
                      <a:pt x="15" y="939"/>
                      <a:pt x="0" y="919"/>
                      <a:pt x="0" y="901"/>
                    </a:cubicBezTo>
                    <a:cubicBezTo>
                      <a:pt x="0" y="27"/>
                      <a:pt x="0" y="27"/>
                      <a:pt x="0" y="27"/>
                    </a:cubicBezTo>
                    <a:cubicBezTo>
                      <a:pt x="0" y="9"/>
                      <a:pt x="15" y="0"/>
                      <a:pt x="33" y="7"/>
                    </a:cubicBezTo>
                    <a:cubicBezTo>
                      <a:pt x="576" y="215"/>
                      <a:pt x="576" y="215"/>
                      <a:pt x="576" y="215"/>
                    </a:cubicBezTo>
                    <a:cubicBezTo>
                      <a:pt x="594" y="222"/>
                      <a:pt x="609" y="242"/>
                      <a:pt x="609" y="260"/>
                    </a:cubicBezTo>
                    <a:cubicBezTo>
                      <a:pt x="609" y="1134"/>
                      <a:pt x="609" y="1134"/>
                      <a:pt x="609" y="1134"/>
                    </a:cubicBezTo>
                    <a:cubicBezTo>
                      <a:pt x="609" y="1152"/>
                      <a:pt x="594" y="1161"/>
                      <a:pt x="576" y="1154"/>
                    </a:cubicBezTo>
                    <a:close/>
                  </a:path>
                </a:pathLst>
              </a:custGeom>
              <a:solidFill>
                <a:schemeClr val="accent1">
                  <a:alpha val="50000"/>
                </a:schemeClr>
              </a:soli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6" name="lemon5-2"/>
              <p:cNvSpPr/>
              <p:nvPr/>
            </p:nvSpPr>
            <p:spPr bwMode="auto">
              <a:xfrm>
                <a:off x="9506261" y="2192456"/>
                <a:ext cx="2297112" cy="4381500"/>
              </a:xfrm>
              <a:custGeom>
                <a:avLst/>
                <a:gdLst>
                  <a:gd name="T0" fmla="*/ 575 w 608"/>
                  <a:gd name="T1" fmla="*/ 1155 h 1162"/>
                  <a:gd name="T2" fmla="*/ 32 w 608"/>
                  <a:gd name="T3" fmla="*/ 947 h 1162"/>
                  <a:gd name="T4" fmla="*/ 0 w 608"/>
                  <a:gd name="T5" fmla="*/ 901 h 1162"/>
                  <a:gd name="T6" fmla="*/ 0 w 608"/>
                  <a:gd name="T7" fmla="*/ 27 h 1162"/>
                  <a:gd name="T8" fmla="*/ 32 w 608"/>
                  <a:gd name="T9" fmla="*/ 7 h 1162"/>
                  <a:gd name="T10" fmla="*/ 575 w 608"/>
                  <a:gd name="T11" fmla="*/ 215 h 1162"/>
                  <a:gd name="T12" fmla="*/ 608 w 608"/>
                  <a:gd name="T13" fmla="*/ 261 h 1162"/>
                  <a:gd name="T14" fmla="*/ 608 w 608"/>
                  <a:gd name="T15" fmla="*/ 1135 h 1162"/>
                  <a:gd name="T16" fmla="*/ 575 w 608"/>
                  <a:gd name="T17" fmla="*/ 1155 h 1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8" h="1162">
                    <a:moveTo>
                      <a:pt x="575" y="1155"/>
                    </a:moveTo>
                    <a:cubicBezTo>
                      <a:pt x="32" y="947"/>
                      <a:pt x="32" y="947"/>
                      <a:pt x="32" y="947"/>
                    </a:cubicBezTo>
                    <a:cubicBezTo>
                      <a:pt x="14" y="940"/>
                      <a:pt x="0" y="919"/>
                      <a:pt x="0" y="901"/>
                    </a:cubicBezTo>
                    <a:cubicBezTo>
                      <a:pt x="0" y="27"/>
                      <a:pt x="0" y="27"/>
                      <a:pt x="0" y="27"/>
                    </a:cubicBezTo>
                    <a:cubicBezTo>
                      <a:pt x="0" y="9"/>
                      <a:pt x="14" y="0"/>
                      <a:pt x="32" y="7"/>
                    </a:cubicBezTo>
                    <a:cubicBezTo>
                      <a:pt x="575" y="215"/>
                      <a:pt x="575" y="215"/>
                      <a:pt x="575" y="215"/>
                    </a:cubicBezTo>
                    <a:cubicBezTo>
                      <a:pt x="593" y="222"/>
                      <a:pt x="608" y="243"/>
                      <a:pt x="608" y="261"/>
                    </a:cubicBezTo>
                    <a:cubicBezTo>
                      <a:pt x="608" y="1135"/>
                      <a:pt x="608" y="1135"/>
                      <a:pt x="608" y="1135"/>
                    </a:cubicBezTo>
                    <a:cubicBezTo>
                      <a:pt x="608" y="1153"/>
                      <a:pt x="593" y="1162"/>
                      <a:pt x="575" y="1155"/>
                    </a:cubicBezTo>
                    <a:close/>
                  </a:path>
                </a:pathLst>
              </a:custGeom>
              <a:solidFill>
                <a:schemeClr val="accent1">
                  <a:lumMod val="20000"/>
                  <a:lumOff val="80000"/>
                </a:schemeClr>
              </a:soli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7" name="lemon5-3"/>
              <p:cNvSpPr/>
              <p:nvPr/>
            </p:nvSpPr>
            <p:spPr bwMode="auto">
              <a:xfrm>
                <a:off x="9310744" y="2353350"/>
                <a:ext cx="1662112" cy="1411287"/>
              </a:xfrm>
              <a:custGeom>
                <a:avLst/>
                <a:gdLst>
                  <a:gd name="T0" fmla="*/ 413 w 440"/>
                  <a:gd name="T1" fmla="*/ 368 h 374"/>
                  <a:gd name="T2" fmla="*/ 27 w 440"/>
                  <a:gd name="T3" fmla="*/ 220 h 374"/>
                  <a:gd name="T4" fmla="*/ 0 w 440"/>
                  <a:gd name="T5" fmla="*/ 182 h 374"/>
                  <a:gd name="T6" fmla="*/ 0 w 440"/>
                  <a:gd name="T7" fmla="*/ 23 h 374"/>
                  <a:gd name="T8" fmla="*/ 27 w 440"/>
                  <a:gd name="T9" fmla="*/ 6 h 374"/>
                  <a:gd name="T10" fmla="*/ 413 w 440"/>
                  <a:gd name="T11" fmla="*/ 154 h 374"/>
                  <a:gd name="T12" fmla="*/ 440 w 440"/>
                  <a:gd name="T13" fmla="*/ 192 h 374"/>
                  <a:gd name="T14" fmla="*/ 440 w 440"/>
                  <a:gd name="T15" fmla="*/ 351 h 374"/>
                  <a:gd name="T16" fmla="*/ 413 w 440"/>
                  <a:gd name="T17" fmla="*/ 368 h 3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0" h="374">
                    <a:moveTo>
                      <a:pt x="413" y="368"/>
                    </a:moveTo>
                    <a:cubicBezTo>
                      <a:pt x="27" y="220"/>
                      <a:pt x="27" y="220"/>
                      <a:pt x="27" y="220"/>
                    </a:cubicBezTo>
                    <a:cubicBezTo>
                      <a:pt x="12" y="214"/>
                      <a:pt x="0" y="197"/>
                      <a:pt x="0" y="182"/>
                    </a:cubicBezTo>
                    <a:cubicBezTo>
                      <a:pt x="0" y="23"/>
                      <a:pt x="0" y="23"/>
                      <a:pt x="0" y="23"/>
                    </a:cubicBezTo>
                    <a:cubicBezTo>
                      <a:pt x="0" y="8"/>
                      <a:pt x="12" y="0"/>
                      <a:pt x="27" y="6"/>
                    </a:cubicBezTo>
                    <a:cubicBezTo>
                      <a:pt x="413" y="154"/>
                      <a:pt x="413" y="154"/>
                      <a:pt x="413" y="154"/>
                    </a:cubicBezTo>
                    <a:cubicBezTo>
                      <a:pt x="428" y="160"/>
                      <a:pt x="440" y="177"/>
                      <a:pt x="440" y="192"/>
                    </a:cubicBezTo>
                    <a:cubicBezTo>
                      <a:pt x="440" y="351"/>
                      <a:pt x="440" y="351"/>
                      <a:pt x="440" y="351"/>
                    </a:cubicBezTo>
                    <a:cubicBezTo>
                      <a:pt x="440" y="366"/>
                      <a:pt x="428" y="374"/>
                      <a:pt x="413" y="368"/>
                    </a:cubicBezTo>
                    <a:close/>
                  </a:path>
                </a:pathLst>
              </a:custGeom>
              <a:solidFill>
                <a:schemeClr val="accent2">
                  <a:lumMod val="75000"/>
                </a:schemeClr>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 name="lemon5-4"/>
              <p:cNvSpPr/>
              <p:nvPr/>
            </p:nvSpPr>
            <p:spPr bwMode="auto">
              <a:xfrm>
                <a:off x="9257818" y="2380964"/>
                <a:ext cx="1665287" cy="1409699"/>
              </a:xfrm>
              <a:custGeom>
                <a:avLst/>
                <a:gdLst>
                  <a:gd name="T0" fmla="*/ 414 w 441"/>
                  <a:gd name="T1" fmla="*/ 368 h 374"/>
                  <a:gd name="T2" fmla="*/ 27 w 441"/>
                  <a:gd name="T3" fmla="*/ 220 h 374"/>
                  <a:gd name="T4" fmla="*/ 0 w 441"/>
                  <a:gd name="T5" fmla="*/ 182 h 374"/>
                  <a:gd name="T6" fmla="*/ 0 w 441"/>
                  <a:gd name="T7" fmla="*/ 23 h 374"/>
                  <a:gd name="T8" fmla="*/ 27 w 441"/>
                  <a:gd name="T9" fmla="*/ 6 h 374"/>
                  <a:gd name="T10" fmla="*/ 414 w 441"/>
                  <a:gd name="T11" fmla="*/ 155 h 374"/>
                  <a:gd name="T12" fmla="*/ 441 w 441"/>
                  <a:gd name="T13" fmla="*/ 192 h 374"/>
                  <a:gd name="T14" fmla="*/ 441 w 441"/>
                  <a:gd name="T15" fmla="*/ 351 h 374"/>
                  <a:gd name="T16" fmla="*/ 414 w 441"/>
                  <a:gd name="T17" fmla="*/ 368 h 3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1" h="374">
                    <a:moveTo>
                      <a:pt x="414" y="368"/>
                    </a:moveTo>
                    <a:cubicBezTo>
                      <a:pt x="27" y="220"/>
                      <a:pt x="27" y="220"/>
                      <a:pt x="27" y="220"/>
                    </a:cubicBezTo>
                    <a:cubicBezTo>
                      <a:pt x="12" y="214"/>
                      <a:pt x="0" y="197"/>
                      <a:pt x="0" y="182"/>
                    </a:cubicBezTo>
                    <a:cubicBezTo>
                      <a:pt x="0" y="23"/>
                      <a:pt x="0" y="23"/>
                      <a:pt x="0" y="23"/>
                    </a:cubicBezTo>
                    <a:cubicBezTo>
                      <a:pt x="0" y="8"/>
                      <a:pt x="12" y="0"/>
                      <a:pt x="27" y="6"/>
                    </a:cubicBezTo>
                    <a:cubicBezTo>
                      <a:pt x="414" y="155"/>
                      <a:pt x="414" y="155"/>
                      <a:pt x="414" y="155"/>
                    </a:cubicBezTo>
                    <a:cubicBezTo>
                      <a:pt x="429" y="160"/>
                      <a:pt x="441" y="177"/>
                      <a:pt x="441" y="192"/>
                    </a:cubicBezTo>
                    <a:cubicBezTo>
                      <a:pt x="441" y="351"/>
                      <a:pt x="441" y="351"/>
                      <a:pt x="441" y="351"/>
                    </a:cubicBezTo>
                    <a:cubicBezTo>
                      <a:pt x="441" y="366"/>
                      <a:pt x="429" y="374"/>
                      <a:pt x="414" y="368"/>
                    </a:cubicBezTo>
                    <a:close/>
                  </a:path>
                </a:pathLst>
              </a:custGeom>
              <a:solidFill>
                <a:schemeClr val="accent2"/>
              </a:soli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 name="lemon5-5"/>
              <p:cNvSpPr/>
              <p:nvPr/>
            </p:nvSpPr>
            <p:spPr bwMode="auto">
              <a:xfrm>
                <a:off x="9257818" y="3327114"/>
                <a:ext cx="1665287" cy="1938338"/>
              </a:xfrm>
              <a:custGeom>
                <a:avLst/>
                <a:gdLst>
                  <a:gd name="T0" fmla="*/ 414 w 441"/>
                  <a:gd name="T1" fmla="*/ 509 h 514"/>
                  <a:gd name="T2" fmla="*/ 27 w 441"/>
                  <a:gd name="T3" fmla="*/ 360 h 514"/>
                  <a:gd name="T4" fmla="*/ 0 w 441"/>
                  <a:gd name="T5" fmla="*/ 323 h 514"/>
                  <a:gd name="T6" fmla="*/ 0 w 441"/>
                  <a:gd name="T7" fmla="*/ 22 h 514"/>
                  <a:gd name="T8" fmla="*/ 27 w 441"/>
                  <a:gd name="T9" fmla="*/ 6 h 514"/>
                  <a:gd name="T10" fmla="*/ 414 w 441"/>
                  <a:gd name="T11" fmla="*/ 154 h 514"/>
                  <a:gd name="T12" fmla="*/ 441 w 441"/>
                  <a:gd name="T13" fmla="*/ 191 h 514"/>
                  <a:gd name="T14" fmla="*/ 441 w 441"/>
                  <a:gd name="T15" fmla="*/ 492 h 514"/>
                  <a:gd name="T16" fmla="*/ 414 w 441"/>
                  <a:gd name="T17" fmla="*/ 509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1" h="514">
                    <a:moveTo>
                      <a:pt x="414" y="509"/>
                    </a:moveTo>
                    <a:cubicBezTo>
                      <a:pt x="27" y="360"/>
                      <a:pt x="27" y="360"/>
                      <a:pt x="27" y="360"/>
                    </a:cubicBezTo>
                    <a:cubicBezTo>
                      <a:pt x="12" y="354"/>
                      <a:pt x="0" y="338"/>
                      <a:pt x="0" y="323"/>
                    </a:cubicBezTo>
                    <a:cubicBezTo>
                      <a:pt x="0" y="22"/>
                      <a:pt x="0" y="22"/>
                      <a:pt x="0" y="22"/>
                    </a:cubicBezTo>
                    <a:cubicBezTo>
                      <a:pt x="0" y="7"/>
                      <a:pt x="12" y="0"/>
                      <a:pt x="27" y="6"/>
                    </a:cubicBezTo>
                    <a:cubicBezTo>
                      <a:pt x="414" y="154"/>
                      <a:pt x="414" y="154"/>
                      <a:pt x="414" y="154"/>
                    </a:cubicBezTo>
                    <a:cubicBezTo>
                      <a:pt x="429" y="160"/>
                      <a:pt x="441" y="176"/>
                      <a:pt x="441" y="191"/>
                    </a:cubicBezTo>
                    <a:cubicBezTo>
                      <a:pt x="441" y="492"/>
                      <a:pt x="441" y="492"/>
                      <a:pt x="441" y="492"/>
                    </a:cubicBezTo>
                    <a:cubicBezTo>
                      <a:pt x="441" y="507"/>
                      <a:pt x="429" y="514"/>
                      <a:pt x="414" y="509"/>
                    </a:cubicBezTo>
                    <a:close/>
                  </a:path>
                </a:pathLst>
              </a:custGeom>
              <a:solidFill>
                <a:schemeClr val="accent2">
                  <a:alpha val="56000"/>
                </a:schemeClr>
              </a:soli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0" name="lemon5-6"/>
              <p:cNvSpPr/>
              <p:nvPr/>
            </p:nvSpPr>
            <p:spPr bwMode="auto">
              <a:xfrm>
                <a:off x="9205431" y="4890008"/>
                <a:ext cx="1665287" cy="1938337"/>
              </a:xfrm>
              <a:custGeom>
                <a:avLst/>
                <a:gdLst>
                  <a:gd name="T0" fmla="*/ 414 w 441"/>
                  <a:gd name="T1" fmla="*/ 509 h 514"/>
                  <a:gd name="T2" fmla="*/ 27 w 441"/>
                  <a:gd name="T3" fmla="*/ 360 h 514"/>
                  <a:gd name="T4" fmla="*/ 0 w 441"/>
                  <a:gd name="T5" fmla="*/ 323 h 514"/>
                  <a:gd name="T6" fmla="*/ 0 w 441"/>
                  <a:gd name="T7" fmla="*/ 22 h 514"/>
                  <a:gd name="T8" fmla="*/ 27 w 441"/>
                  <a:gd name="T9" fmla="*/ 6 h 514"/>
                  <a:gd name="T10" fmla="*/ 414 w 441"/>
                  <a:gd name="T11" fmla="*/ 154 h 514"/>
                  <a:gd name="T12" fmla="*/ 441 w 441"/>
                  <a:gd name="T13" fmla="*/ 191 h 514"/>
                  <a:gd name="T14" fmla="*/ 441 w 441"/>
                  <a:gd name="T15" fmla="*/ 492 h 514"/>
                  <a:gd name="T16" fmla="*/ 414 w 441"/>
                  <a:gd name="T17" fmla="*/ 509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1" h="514">
                    <a:moveTo>
                      <a:pt x="414" y="509"/>
                    </a:moveTo>
                    <a:cubicBezTo>
                      <a:pt x="27" y="360"/>
                      <a:pt x="27" y="360"/>
                      <a:pt x="27" y="360"/>
                    </a:cubicBezTo>
                    <a:cubicBezTo>
                      <a:pt x="12" y="354"/>
                      <a:pt x="0" y="338"/>
                      <a:pt x="0" y="323"/>
                    </a:cubicBezTo>
                    <a:cubicBezTo>
                      <a:pt x="0" y="22"/>
                      <a:pt x="0" y="22"/>
                      <a:pt x="0" y="22"/>
                    </a:cubicBezTo>
                    <a:cubicBezTo>
                      <a:pt x="0" y="7"/>
                      <a:pt x="12" y="0"/>
                      <a:pt x="27" y="6"/>
                    </a:cubicBezTo>
                    <a:cubicBezTo>
                      <a:pt x="414" y="154"/>
                      <a:pt x="414" y="154"/>
                      <a:pt x="414" y="154"/>
                    </a:cubicBezTo>
                    <a:cubicBezTo>
                      <a:pt x="429" y="160"/>
                      <a:pt x="441" y="176"/>
                      <a:pt x="441" y="191"/>
                    </a:cubicBezTo>
                    <a:cubicBezTo>
                      <a:pt x="441" y="492"/>
                      <a:pt x="441" y="492"/>
                      <a:pt x="441" y="492"/>
                    </a:cubicBezTo>
                    <a:cubicBezTo>
                      <a:pt x="441" y="507"/>
                      <a:pt x="429" y="514"/>
                      <a:pt x="414" y="509"/>
                    </a:cubicBezTo>
                    <a:close/>
                  </a:path>
                </a:pathLst>
              </a:custGeom>
              <a:solidFill>
                <a:schemeClr val="accent2">
                  <a:alpha val="56000"/>
                </a:schemeClr>
              </a:soli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grpSp>
        <p:sp>
          <p:nvSpPr>
            <p:cNvPr id="36" name="lemon5-7"/>
            <p:cNvSpPr txBox="1"/>
            <p:nvPr/>
          </p:nvSpPr>
          <p:spPr>
            <a:xfrm rot="182446" flipH="1">
              <a:off x="8748872" y="2193110"/>
              <a:ext cx="2587311" cy="597536"/>
            </a:xfrm>
            <a:prstGeom prst="rect">
              <a:avLst/>
            </a:prstGeom>
            <a:noFill/>
            <a:scene3d>
              <a:camera prst="orthographicFront">
                <a:rot lat="745129" lon="3063216" rev="21368593"/>
              </a:camera>
              <a:lightRig rig="threePt" dir="t"/>
            </a:scene3d>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cs typeface="+mn-ea"/>
                  <a:sym typeface="+mn-lt"/>
                </a:rPr>
                <a:t>2024</a:t>
              </a:r>
              <a:r>
                <a:rPr kumimoji="0" lang="zh-CN" altLang="en-US" sz="2400" b="0" i="0" u="none" strike="noStrike" kern="1200" cap="none" spc="0" normalizeH="0" baseline="0" noProof="0" dirty="0">
                  <a:ln>
                    <a:noFill/>
                  </a:ln>
                  <a:solidFill>
                    <a:srgbClr val="FFFFFF"/>
                  </a:solidFill>
                  <a:effectLst/>
                  <a:uLnTx/>
                  <a:uFillTx/>
                  <a:cs typeface="+mn-ea"/>
                  <a:sym typeface="+mn-lt"/>
                </a:rPr>
                <a:t>销量目标</a:t>
              </a:r>
              <a:endParaRPr kumimoji="0" lang="en-US" altLang="zh-CN" sz="2400" b="0" i="0" u="none" strike="noStrike" kern="1200" cap="none" spc="0" normalizeH="0" baseline="0" noProof="0" dirty="0">
                <a:ln>
                  <a:noFill/>
                </a:ln>
                <a:solidFill>
                  <a:srgbClr val="FFFFFF"/>
                </a:solidFill>
                <a:effectLst/>
                <a:uLnTx/>
                <a:uFillTx/>
                <a:cs typeface="+mn-ea"/>
                <a:sym typeface="+mn-lt"/>
              </a:endParaRPr>
            </a:p>
          </p:txBody>
        </p:sp>
        <p:sp>
          <p:nvSpPr>
            <p:cNvPr id="37" name="lemon5-8"/>
            <p:cNvSpPr txBox="1"/>
            <p:nvPr/>
          </p:nvSpPr>
          <p:spPr>
            <a:xfrm rot="172305" flipH="1">
              <a:off x="8606899" y="3189340"/>
              <a:ext cx="2587311" cy="830997"/>
            </a:xfrm>
            <a:prstGeom prst="rect">
              <a:avLst/>
            </a:prstGeom>
            <a:noFill/>
            <a:scene3d>
              <a:camera prst="orthographicFront">
                <a:rot lat="693558" lon="2452067" rev="21241301"/>
              </a:camera>
              <a:lightRig rig="threePt" dir="t"/>
            </a:scene3d>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00329D"/>
                  </a:solidFill>
                  <a:effectLst/>
                  <a:uLnTx/>
                  <a:uFillTx/>
                  <a:cs typeface="+mn-ea"/>
                  <a:sym typeface="+mn-lt"/>
                </a:rPr>
                <a:t>2023</a:t>
              </a:r>
              <a:r>
                <a:rPr kumimoji="0" lang="zh-CN" altLang="en-US" sz="2400" b="0" i="0" u="none" strike="noStrike" kern="1200" cap="none" spc="0" normalizeH="0" baseline="0" noProof="0" dirty="0">
                  <a:ln>
                    <a:noFill/>
                  </a:ln>
                  <a:solidFill>
                    <a:srgbClr val="00329D"/>
                  </a:solidFill>
                  <a:effectLst/>
                  <a:uLnTx/>
                  <a:uFillTx/>
                  <a:cs typeface="+mn-ea"/>
                  <a:sym typeface="+mn-lt"/>
                </a:rPr>
                <a:t>年</a:t>
              </a:r>
              <a:endParaRPr kumimoji="0" lang="en-US" altLang="zh-CN" sz="24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00329D"/>
                  </a:solidFill>
                  <a:effectLst/>
                  <a:uLnTx/>
                  <a:uFillTx/>
                  <a:cs typeface="+mn-ea"/>
                  <a:sym typeface="+mn-lt"/>
                </a:rPr>
                <a:t>回顾总结</a:t>
              </a:r>
              <a:endParaRPr kumimoji="0" lang="en-US" altLang="zh-CN" sz="2400" b="0" i="0" u="none" strike="noStrike" kern="1200" cap="none" spc="0" normalizeH="0" baseline="0" noProof="0" dirty="0">
                <a:ln>
                  <a:noFill/>
                </a:ln>
                <a:solidFill>
                  <a:srgbClr val="00329D"/>
                </a:solidFill>
                <a:effectLst/>
                <a:uLnTx/>
                <a:uFillTx/>
                <a:cs typeface="+mn-ea"/>
                <a:sym typeface="+mn-lt"/>
              </a:endParaRPr>
            </a:p>
          </p:txBody>
        </p:sp>
        <p:sp>
          <p:nvSpPr>
            <p:cNvPr id="38" name="lemon5-9"/>
            <p:cNvSpPr txBox="1"/>
            <p:nvPr/>
          </p:nvSpPr>
          <p:spPr>
            <a:xfrm rot="172305" flipH="1">
              <a:off x="8587021" y="4671984"/>
              <a:ext cx="2587311" cy="830997"/>
            </a:xfrm>
            <a:prstGeom prst="rect">
              <a:avLst/>
            </a:prstGeom>
            <a:noFill/>
            <a:scene3d>
              <a:camera prst="orthographicFront">
                <a:rot lat="693558" lon="2452067" rev="21241301"/>
              </a:camera>
              <a:lightRig rig="threePt" dir="t"/>
            </a:scene3d>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00329D"/>
                  </a:solidFill>
                  <a:effectLst/>
                  <a:uLnTx/>
                  <a:uFillTx/>
                  <a:cs typeface="+mn-ea"/>
                  <a:sym typeface="+mn-lt"/>
                </a:rPr>
                <a:t>年度工作复盘</a:t>
              </a:r>
              <a:endParaRPr kumimoji="0" lang="en-US" altLang="zh-CN" sz="24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00329D"/>
                  </a:solidFill>
                  <a:effectLst/>
                  <a:uLnTx/>
                  <a:uFillTx/>
                  <a:cs typeface="+mn-ea"/>
                  <a:sym typeface="+mn-lt"/>
                </a:rPr>
                <a:t>其他方面</a:t>
              </a:r>
              <a:endParaRPr kumimoji="0" lang="en-US" altLang="zh-CN" sz="2400" b="0" i="0" u="none" strike="noStrike" kern="1200" cap="none" spc="0" normalizeH="0" baseline="0" noProof="0" dirty="0">
                <a:ln>
                  <a:noFill/>
                </a:ln>
                <a:solidFill>
                  <a:srgbClr val="00329D"/>
                </a:solidFill>
                <a:effectLst/>
                <a:uLnTx/>
                <a:uFillTx/>
                <a:cs typeface="+mn-ea"/>
                <a:sym typeface="+mn-lt"/>
              </a:endParaRPr>
            </a:p>
          </p:txBody>
        </p:sp>
      </p:grpSp>
      <p:sp>
        <p:nvSpPr>
          <p:cNvPr id="74" name="lemon6"/>
          <p:cNvSpPr/>
          <p:nvPr/>
        </p:nvSpPr>
        <p:spPr>
          <a:xfrm>
            <a:off x="5341758" y="1251468"/>
            <a:ext cx="2608348" cy="1582737"/>
          </a:xfrm>
          <a:prstGeom prst="roundRect">
            <a:avLst>
              <a:gd name="adj" fmla="val 2511"/>
            </a:avLst>
          </a:prstGeom>
          <a:solidFill>
            <a:schemeClr val="accent1">
              <a:lumMod val="20000"/>
              <a:lumOff val="80000"/>
              <a:alpha val="15079"/>
            </a:schemeClr>
          </a:solidFill>
          <a:ln w="12700">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77" name="lemon7"/>
          <p:cNvSpPr/>
          <p:nvPr/>
        </p:nvSpPr>
        <p:spPr>
          <a:xfrm>
            <a:off x="5412736" y="1326418"/>
            <a:ext cx="2608348" cy="1128432"/>
          </a:xfrm>
          <a:prstGeom prst="roundRect">
            <a:avLst>
              <a:gd name="adj" fmla="val 2511"/>
            </a:avLst>
          </a:prstGeom>
          <a:solidFill>
            <a:schemeClr val="accent1">
              <a:lumMod val="20000"/>
              <a:lumOff val="80000"/>
              <a:alpha val="15079"/>
            </a:schemeClr>
          </a:solidFill>
          <a:ln w="12700">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78" name="lemon8"/>
          <p:cNvSpPr/>
          <p:nvPr/>
        </p:nvSpPr>
        <p:spPr>
          <a:xfrm>
            <a:off x="5508834" y="1472346"/>
            <a:ext cx="2280125" cy="883531"/>
          </a:xfrm>
          <a:prstGeom prst="rect">
            <a:avLst/>
          </a:prstGeom>
          <a:solidFill>
            <a:schemeClr val="bg1"/>
          </a:solidFill>
          <a:ln>
            <a:noFill/>
          </a:ln>
          <a:effectLst>
            <a:outerShdw blurRad="3810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79" name="lemon9"/>
          <p:cNvSpPr/>
          <p:nvPr/>
        </p:nvSpPr>
        <p:spPr>
          <a:xfrm>
            <a:off x="5498821" y="1472346"/>
            <a:ext cx="77658" cy="88353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2800" b="0" i="0" u="none" strike="noStrike" kern="1200" cap="none" spc="0" normalizeH="0" baseline="0" noProof="0" dirty="0">
              <a:ln>
                <a:noFill/>
              </a:ln>
              <a:solidFill>
                <a:srgbClr val="FFFFFF"/>
              </a:solidFill>
              <a:effectLst/>
              <a:uLnTx/>
              <a:uFillTx/>
              <a:cs typeface="+mn-ea"/>
              <a:sym typeface="+mn-lt"/>
            </a:endParaRPr>
          </a:p>
        </p:txBody>
      </p:sp>
      <p:sp>
        <p:nvSpPr>
          <p:cNvPr id="80" name="lemon10"/>
          <p:cNvSpPr txBox="1"/>
          <p:nvPr/>
        </p:nvSpPr>
        <p:spPr>
          <a:xfrm>
            <a:off x="5759214" y="1550411"/>
            <a:ext cx="2326713"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2000" b="1" i="0" u="none" strike="noStrike" kern="1200" cap="none" spc="0" normalizeH="0" baseline="0" noProof="0" dirty="0" err="1">
                <a:ln>
                  <a:noFill/>
                </a:ln>
                <a:solidFill>
                  <a:srgbClr val="00329D"/>
                </a:solidFill>
                <a:effectLst/>
                <a:uLnTx/>
                <a:uFillTx/>
                <a:cs typeface="+mn-ea"/>
                <a:sym typeface="+mn-lt"/>
              </a:rPr>
              <a:t>销量</a:t>
            </a:r>
            <a:br>
              <a:rPr kumimoji="0" lang="en-US" sz="2000" b="1" i="0" u="none" strike="noStrike" kern="1200" cap="none" spc="0" normalizeH="0" baseline="0" noProof="0" dirty="0">
                <a:ln>
                  <a:noFill/>
                </a:ln>
                <a:solidFill>
                  <a:srgbClr val="00329D"/>
                </a:solidFill>
                <a:effectLst/>
                <a:uLnTx/>
                <a:uFillTx/>
                <a:cs typeface="+mn-ea"/>
                <a:sym typeface="+mn-lt"/>
              </a:rPr>
            </a:br>
            <a:r>
              <a:rPr kumimoji="0" lang="en-US" sz="2000" b="1" i="0" u="none" strike="noStrike" kern="1200" cap="none" spc="0" normalizeH="0" baseline="0" noProof="0" dirty="0" err="1">
                <a:ln>
                  <a:noFill/>
                </a:ln>
                <a:solidFill>
                  <a:srgbClr val="00329D"/>
                </a:solidFill>
                <a:effectLst/>
                <a:uLnTx/>
                <a:uFillTx/>
                <a:cs typeface="+mn-ea"/>
                <a:sym typeface="+mn-lt"/>
              </a:rPr>
              <a:t>目标</a:t>
            </a:r>
            <a:endParaRPr kumimoji="0" lang="en-US" sz="2000" b="1" i="0" u="none" strike="noStrike" kern="1200" cap="none" spc="0" normalizeH="0" baseline="0" noProof="0" dirty="0">
              <a:ln>
                <a:noFill/>
              </a:ln>
              <a:solidFill>
                <a:srgbClr val="00329D"/>
              </a:solidFill>
              <a:effectLst/>
              <a:uLnTx/>
              <a:uFillTx/>
              <a:cs typeface="+mn-ea"/>
              <a:sym typeface="+mn-lt"/>
            </a:endParaRPr>
          </a:p>
        </p:txBody>
      </p:sp>
      <p:sp>
        <p:nvSpPr>
          <p:cNvPr id="82" name="lemon11"/>
          <p:cNvSpPr txBox="1"/>
          <p:nvPr/>
        </p:nvSpPr>
        <p:spPr>
          <a:xfrm>
            <a:off x="6258538" y="1507132"/>
            <a:ext cx="1711221" cy="76944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4400" b="1" i="0" u="none" strike="noStrike" kern="1200" cap="none" spc="0" normalizeH="0" baseline="0" noProof="0" dirty="0">
                <a:ln>
                  <a:noFill/>
                </a:ln>
                <a:solidFill>
                  <a:srgbClr val="00329D"/>
                </a:solidFill>
                <a:effectLst/>
                <a:uLnTx/>
                <a:uFillTx/>
                <a:cs typeface="+mn-ea"/>
                <a:sym typeface="+mn-lt"/>
              </a:rPr>
              <a:t>100</a:t>
            </a:r>
            <a:r>
              <a:rPr kumimoji="1" lang="en-US" altLang="zh-CN" sz="1800" b="1" i="0" u="none" strike="noStrike" kern="1200" cap="none" spc="0" normalizeH="0" baseline="0" noProof="0" dirty="0">
                <a:ln>
                  <a:noFill/>
                </a:ln>
                <a:solidFill>
                  <a:srgbClr val="00329D"/>
                </a:solidFill>
                <a:effectLst/>
                <a:uLnTx/>
                <a:uFillTx/>
                <a:cs typeface="+mn-ea"/>
                <a:sym typeface="+mn-lt"/>
              </a:rPr>
              <a:t>%</a:t>
            </a:r>
          </a:p>
        </p:txBody>
      </p:sp>
      <p:sp>
        <p:nvSpPr>
          <p:cNvPr id="83" name="lemon12"/>
          <p:cNvSpPr txBox="1"/>
          <p:nvPr/>
        </p:nvSpPr>
        <p:spPr>
          <a:xfrm>
            <a:off x="5594848" y="2315066"/>
            <a:ext cx="2207354" cy="47121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120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销量实现逆势增长</a:t>
            </a:r>
            <a:endParaRPr kumimoji="0" lang="en-US" altLang="zh-CN" sz="1800" b="0" i="0" u="none" strike="noStrike" kern="1200" cap="none" spc="0" normalizeH="0" baseline="0" noProof="0" dirty="0">
              <a:ln>
                <a:noFill/>
              </a:ln>
              <a:solidFill>
                <a:srgbClr val="000000"/>
              </a:solidFill>
              <a:effectLst/>
              <a:uLnTx/>
              <a:uFillTx/>
              <a:cs typeface="+mn-ea"/>
              <a:sym typeface="+mn-lt"/>
            </a:endParaRPr>
          </a:p>
        </p:txBody>
      </p:sp>
      <p:sp>
        <p:nvSpPr>
          <p:cNvPr id="84" name="lemon13"/>
          <p:cNvSpPr/>
          <p:nvPr/>
        </p:nvSpPr>
        <p:spPr>
          <a:xfrm>
            <a:off x="5330399" y="2994593"/>
            <a:ext cx="2608348" cy="1555921"/>
          </a:xfrm>
          <a:prstGeom prst="roundRect">
            <a:avLst>
              <a:gd name="adj" fmla="val 2511"/>
            </a:avLst>
          </a:prstGeom>
          <a:solidFill>
            <a:schemeClr val="accent1">
              <a:lumMod val="20000"/>
              <a:lumOff val="80000"/>
              <a:alpha val="15079"/>
            </a:schemeClr>
          </a:solidFill>
          <a:ln w="12700">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90" name="lemon14"/>
          <p:cNvSpPr txBox="1"/>
          <p:nvPr/>
        </p:nvSpPr>
        <p:spPr>
          <a:xfrm>
            <a:off x="5598994" y="4024003"/>
            <a:ext cx="2207354" cy="47121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120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利润首次实现增长</a:t>
            </a:r>
            <a:endParaRPr kumimoji="0" lang="en-US" altLang="zh-CN" sz="1800" b="0" i="0" u="none" strike="noStrike" kern="1200" cap="none" spc="0" normalizeH="0" baseline="0" noProof="0" dirty="0">
              <a:ln>
                <a:noFill/>
              </a:ln>
              <a:solidFill>
                <a:srgbClr val="000000"/>
              </a:solidFill>
              <a:effectLst/>
              <a:uLnTx/>
              <a:uFillTx/>
              <a:cs typeface="+mn-ea"/>
              <a:sym typeface="+mn-lt"/>
            </a:endParaRPr>
          </a:p>
        </p:txBody>
      </p:sp>
      <p:sp>
        <p:nvSpPr>
          <p:cNvPr id="91" name="lemon15"/>
          <p:cNvSpPr/>
          <p:nvPr/>
        </p:nvSpPr>
        <p:spPr>
          <a:xfrm>
            <a:off x="5346069" y="4716498"/>
            <a:ext cx="2608348" cy="1477893"/>
          </a:xfrm>
          <a:prstGeom prst="roundRect">
            <a:avLst>
              <a:gd name="adj" fmla="val 2511"/>
            </a:avLst>
          </a:prstGeom>
          <a:solidFill>
            <a:schemeClr val="accent1">
              <a:lumMod val="20000"/>
              <a:lumOff val="80000"/>
              <a:alpha val="15079"/>
            </a:schemeClr>
          </a:solidFill>
          <a:ln w="12700">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97" name="lemon16"/>
          <p:cNvSpPr txBox="1"/>
          <p:nvPr/>
        </p:nvSpPr>
        <p:spPr>
          <a:xfrm>
            <a:off x="5704536" y="5642666"/>
            <a:ext cx="2207354" cy="47121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120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成本效益显著提升</a:t>
            </a:r>
            <a:endParaRPr kumimoji="0" lang="en-US" altLang="zh-CN" sz="1800" b="0" i="0" u="none" strike="noStrike" kern="1200" cap="none" spc="0" normalizeH="0" baseline="0" noProof="0" dirty="0">
              <a:ln>
                <a:noFill/>
              </a:ln>
              <a:solidFill>
                <a:srgbClr val="000000"/>
              </a:solidFill>
              <a:effectLst/>
              <a:uLnTx/>
              <a:uFillTx/>
              <a:cs typeface="+mn-ea"/>
              <a:sym typeface="+mn-lt"/>
            </a:endParaRPr>
          </a:p>
        </p:txBody>
      </p:sp>
      <p:sp>
        <p:nvSpPr>
          <p:cNvPr id="98" name="lemon17"/>
          <p:cNvSpPr/>
          <p:nvPr/>
        </p:nvSpPr>
        <p:spPr>
          <a:xfrm>
            <a:off x="5456761" y="3179513"/>
            <a:ext cx="2406120" cy="816914"/>
          </a:xfrm>
          <a:prstGeom prst="roundRect">
            <a:avLst>
              <a:gd name="adj" fmla="val 0"/>
            </a:avLst>
          </a:prstGeom>
          <a:solidFill>
            <a:schemeClr val="accent1"/>
          </a:solidFill>
          <a:ln w="12700" cap="flat">
            <a:noFill/>
            <a:prstDash val="solid"/>
            <a:miter/>
          </a:ln>
          <a:effectLst/>
        </p:spPr>
        <p:txBody>
          <a:bodyPr rtlCol="0" anchor="ctr"/>
          <a:lstStyle/>
          <a:p>
            <a:pPr marL="0" marR="0" lvl="0" indent="0" algn="l" defTabSz="73152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dirty="0">
              <a:ln>
                <a:noFill/>
              </a:ln>
              <a:solidFill>
                <a:srgbClr val="000000"/>
              </a:solidFill>
              <a:effectLst/>
              <a:uLnTx/>
              <a:uFillTx/>
              <a:cs typeface="+mn-ea"/>
              <a:sym typeface="+mn-lt"/>
            </a:endParaRPr>
          </a:p>
        </p:txBody>
      </p:sp>
      <p:sp>
        <p:nvSpPr>
          <p:cNvPr id="99" name="lemon18"/>
          <p:cNvSpPr/>
          <p:nvPr/>
        </p:nvSpPr>
        <p:spPr>
          <a:xfrm>
            <a:off x="5384049" y="3443867"/>
            <a:ext cx="1701633" cy="307777"/>
          </a:xfrm>
          <a:prstGeom prst="rect">
            <a:avLst/>
          </a:prstGeom>
          <a:noFill/>
        </p:spPr>
        <p:txBody>
          <a:bodyPr wrap="square" lIns="0" tIns="0" rIns="0" bIns="0" rtlCol="0" anchor="t">
            <a:spAutoFit/>
          </a:bodyPr>
          <a:lstStyle/>
          <a:p>
            <a:pPr marL="0" marR="0" lvl="0" indent="0" algn="ctr" defTabSz="731520" rtl="0" eaLnBrk="1" fontAlgn="auto" latinLnBrk="0" hangingPunct="1">
              <a:lnSpc>
                <a:spcPct val="100000"/>
              </a:lnSpc>
              <a:spcBef>
                <a:spcPts val="0"/>
              </a:spcBef>
              <a:spcAft>
                <a:spcPts val="0"/>
              </a:spcAft>
              <a:buClrTx/>
              <a:buSzTx/>
              <a:buFontTx/>
              <a:buNone/>
              <a:defRPr/>
            </a:pPr>
            <a:r>
              <a:rPr kumimoji="0" lang="en-US" sz="2000" b="0" i="0" u="none" strike="noStrike" kern="1200" cap="none" spc="0" normalizeH="0" baseline="0" noProof="0" dirty="0" err="1">
                <a:ln>
                  <a:noFill/>
                </a:ln>
                <a:solidFill>
                  <a:srgbClr val="FFFFFF"/>
                </a:solidFill>
                <a:effectLst/>
                <a:uLnTx/>
                <a:uFillTx/>
                <a:cs typeface="+mn-ea"/>
                <a:sym typeface="+mn-lt"/>
              </a:rPr>
              <a:t>利润增长</a:t>
            </a:r>
            <a:endParaRPr kumimoji="0" lang="en-US" sz="2000" b="0" i="0" u="none" strike="noStrike" kern="1200" cap="none" spc="0" normalizeH="0" baseline="0" noProof="0" dirty="0">
              <a:ln>
                <a:noFill/>
              </a:ln>
              <a:solidFill>
                <a:srgbClr val="FFFFFF"/>
              </a:solidFill>
              <a:effectLst/>
              <a:uLnTx/>
              <a:uFillTx/>
              <a:cs typeface="+mn-ea"/>
              <a:sym typeface="+mn-lt"/>
            </a:endParaRPr>
          </a:p>
        </p:txBody>
      </p:sp>
      <p:sp>
        <p:nvSpPr>
          <p:cNvPr id="100" name="lemon19"/>
          <p:cNvSpPr txBox="1"/>
          <p:nvPr/>
        </p:nvSpPr>
        <p:spPr>
          <a:xfrm>
            <a:off x="6409650" y="3213036"/>
            <a:ext cx="1711221" cy="76944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4400" b="1" i="0" u="none" strike="noStrike" kern="1200" cap="none" spc="0" normalizeH="0" baseline="0" noProof="0" dirty="0">
                <a:ln>
                  <a:noFill/>
                </a:ln>
                <a:solidFill>
                  <a:srgbClr val="F8F8F8"/>
                </a:solidFill>
                <a:effectLst/>
                <a:uLnTx/>
                <a:uFillTx/>
                <a:cs typeface="+mn-ea"/>
                <a:sym typeface="+mn-lt"/>
              </a:rPr>
              <a:t>66</a:t>
            </a:r>
            <a:r>
              <a:rPr kumimoji="1" lang="en-US" altLang="zh-CN" sz="1800" b="1" i="0" u="none" strike="noStrike" kern="1200" cap="none" spc="0" normalizeH="0" baseline="0" noProof="0" dirty="0">
                <a:ln>
                  <a:noFill/>
                </a:ln>
                <a:solidFill>
                  <a:srgbClr val="F8F8F8"/>
                </a:solidFill>
                <a:effectLst/>
                <a:uLnTx/>
                <a:uFillTx/>
                <a:cs typeface="+mn-ea"/>
                <a:sym typeface="+mn-lt"/>
              </a:rPr>
              <a:t>%</a:t>
            </a:r>
          </a:p>
        </p:txBody>
      </p:sp>
      <p:sp>
        <p:nvSpPr>
          <p:cNvPr id="101" name="lemon20"/>
          <p:cNvSpPr/>
          <p:nvPr/>
        </p:nvSpPr>
        <p:spPr>
          <a:xfrm>
            <a:off x="5456761" y="4844481"/>
            <a:ext cx="2406120" cy="816914"/>
          </a:xfrm>
          <a:prstGeom prst="roundRect">
            <a:avLst>
              <a:gd name="adj" fmla="val 0"/>
            </a:avLst>
          </a:prstGeom>
          <a:solidFill>
            <a:schemeClr val="accent2"/>
          </a:solidFill>
          <a:ln w="12700" cap="flat">
            <a:noFill/>
            <a:prstDash val="solid"/>
            <a:miter/>
          </a:ln>
          <a:effectLst/>
        </p:spPr>
        <p:txBody>
          <a:bodyPr rtlCol="0" anchor="ctr"/>
          <a:lstStyle/>
          <a:p>
            <a:pPr marL="0" marR="0" lvl="0" indent="0" algn="l" defTabSz="73152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dirty="0">
              <a:ln>
                <a:noFill/>
              </a:ln>
              <a:solidFill>
                <a:srgbClr val="000000"/>
              </a:solidFill>
              <a:effectLst/>
              <a:uLnTx/>
              <a:uFillTx/>
              <a:cs typeface="+mn-ea"/>
              <a:sym typeface="+mn-lt"/>
            </a:endParaRPr>
          </a:p>
        </p:txBody>
      </p:sp>
      <p:sp>
        <p:nvSpPr>
          <p:cNvPr id="102" name="lemon21"/>
          <p:cNvSpPr/>
          <p:nvPr/>
        </p:nvSpPr>
        <p:spPr>
          <a:xfrm>
            <a:off x="5384049" y="5108835"/>
            <a:ext cx="1701633" cy="307777"/>
          </a:xfrm>
          <a:prstGeom prst="rect">
            <a:avLst/>
          </a:prstGeom>
          <a:noFill/>
        </p:spPr>
        <p:txBody>
          <a:bodyPr wrap="square" lIns="0" tIns="0" rIns="0" bIns="0" rtlCol="0" anchor="t">
            <a:spAutoFit/>
          </a:bodyPr>
          <a:lstStyle/>
          <a:p>
            <a:pPr marL="0" marR="0" lvl="0" indent="0" algn="ctr" defTabSz="731520" rtl="0" eaLnBrk="1" fontAlgn="auto" latinLnBrk="0" hangingPunct="1">
              <a:lnSpc>
                <a:spcPct val="100000"/>
              </a:lnSpc>
              <a:spcBef>
                <a:spcPts val="0"/>
              </a:spcBef>
              <a:spcAft>
                <a:spcPts val="0"/>
              </a:spcAft>
              <a:buClrTx/>
              <a:buSzTx/>
              <a:buFontTx/>
              <a:buNone/>
              <a:defRPr/>
            </a:pPr>
            <a:r>
              <a:rPr kumimoji="0" lang="en-US" sz="2000" b="0" i="0" u="none" strike="noStrike" kern="1200" cap="none" spc="0" normalizeH="0" baseline="0" noProof="0" dirty="0" err="1">
                <a:ln>
                  <a:noFill/>
                </a:ln>
                <a:solidFill>
                  <a:srgbClr val="FFFFFF"/>
                </a:solidFill>
                <a:effectLst/>
                <a:uLnTx/>
                <a:uFillTx/>
                <a:cs typeface="+mn-ea"/>
                <a:sym typeface="+mn-lt"/>
              </a:rPr>
              <a:t>成本控制</a:t>
            </a:r>
            <a:endParaRPr kumimoji="0" lang="en-US" sz="2000" b="0" i="0" u="none" strike="noStrike" kern="1200" cap="none" spc="0" normalizeH="0" baseline="0" noProof="0" dirty="0">
              <a:ln>
                <a:noFill/>
              </a:ln>
              <a:solidFill>
                <a:srgbClr val="FFFFFF"/>
              </a:solidFill>
              <a:effectLst/>
              <a:uLnTx/>
              <a:uFillTx/>
              <a:cs typeface="+mn-ea"/>
              <a:sym typeface="+mn-lt"/>
            </a:endParaRPr>
          </a:p>
        </p:txBody>
      </p:sp>
      <p:sp>
        <p:nvSpPr>
          <p:cNvPr id="103" name="lemon22"/>
          <p:cNvSpPr txBox="1"/>
          <p:nvPr/>
        </p:nvSpPr>
        <p:spPr>
          <a:xfrm>
            <a:off x="6409650" y="4878004"/>
            <a:ext cx="1711221" cy="76944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4400" b="1" i="0" u="none" strike="noStrike" kern="1200" cap="none" spc="0" normalizeH="0" baseline="0" noProof="0" dirty="0">
                <a:ln>
                  <a:noFill/>
                </a:ln>
                <a:solidFill>
                  <a:srgbClr val="F8F8F8"/>
                </a:solidFill>
                <a:effectLst/>
                <a:uLnTx/>
                <a:uFillTx/>
                <a:cs typeface="+mn-ea"/>
                <a:sym typeface="+mn-lt"/>
              </a:rPr>
              <a:t>70</a:t>
            </a:r>
            <a:r>
              <a:rPr kumimoji="1" lang="en-US" altLang="zh-CN" sz="1800" b="1" i="0" u="none" strike="noStrike" kern="1200" cap="none" spc="0" normalizeH="0" baseline="0" noProof="0" dirty="0">
                <a:ln>
                  <a:noFill/>
                </a:ln>
                <a:solidFill>
                  <a:srgbClr val="F8F8F8"/>
                </a:solidFill>
                <a:effectLst/>
                <a:uLnTx/>
                <a:uFillTx/>
                <a:cs typeface="+mn-ea"/>
                <a:sym typeface="+mn-lt"/>
              </a:rPr>
              <a:t>%</a:t>
            </a:r>
          </a:p>
        </p:txBody>
      </p:sp>
      <p:sp>
        <p:nvSpPr>
          <p:cNvPr id="119" name="lemon23"/>
          <p:cNvSpPr/>
          <p:nvPr/>
        </p:nvSpPr>
        <p:spPr>
          <a:xfrm>
            <a:off x="3140867" y="1827087"/>
            <a:ext cx="1201037" cy="546289"/>
          </a:xfrm>
          <a:prstGeom prst="roundRect">
            <a:avLst>
              <a:gd name="adj" fmla="val 8650"/>
            </a:avLst>
          </a:prstGeom>
          <a:solidFill>
            <a:schemeClr val="accent2"/>
          </a:solidFill>
          <a:ln>
            <a:solidFill>
              <a:schemeClr val="accent2"/>
            </a:solidFill>
          </a:ln>
          <a:effectLst>
            <a:outerShdw blurRad="3810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20" name="lemon24"/>
          <p:cNvSpPr txBox="1"/>
          <p:nvPr/>
        </p:nvSpPr>
        <p:spPr>
          <a:xfrm>
            <a:off x="3175449" y="1938288"/>
            <a:ext cx="1201037"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利润点</a:t>
            </a:r>
            <a:r>
              <a:rPr kumimoji="0" lang="en-US" altLang="zh-CN" sz="1800" b="0" i="0" u="none" strike="noStrike" kern="1200" cap="none" spc="0" normalizeH="0" baseline="0" noProof="0" dirty="0">
                <a:ln>
                  <a:noFill/>
                </a:ln>
                <a:solidFill>
                  <a:srgbClr val="FFFFFF"/>
                </a:solidFill>
                <a:effectLst/>
                <a:uLnTx/>
                <a:uFillTx/>
                <a:cs typeface="+mn-ea"/>
                <a:sym typeface="+mn-lt"/>
              </a:rPr>
              <a:t>01</a:t>
            </a:r>
            <a:endParaRPr kumimoji="0" lang="en-US" sz="1800" b="0" i="0" u="none" strike="noStrike" kern="1200" cap="none" spc="0" normalizeH="0" baseline="0" noProof="0" dirty="0">
              <a:ln>
                <a:noFill/>
              </a:ln>
              <a:solidFill>
                <a:srgbClr val="FFFFFF"/>
              </a:solidFill>
              <a:effectLst/>
              <a:uLnTx/>
              <a:uFillTx/>
              <a:cs typeface="+mn-ea"/>
              <a:sym typeface="+mn-lt"/>
            </a:endParaRPr>
          </a:p>
        </p:txBody>
      </p:sp>
      <p:grpSp>
        <p:nvGrpSpPr>
          <p:cNvPr id="141" name="lemon25"/>
          <p:cNvGrpSpPr/>
          <p:nvPr/>
        </p:nvGrpSpPr>
        <p:grpSpPr>
          <a:xfrm flipH="1">
            <a:off x="4521565" y="2034539"/>
            <a:ext cx="835338" cy="3377003"/>
            <a:chOff x="3136157" y="2200447"/>
            <a:chExt cx="721331" cy="2916110"/>
          </a:xfrm>
        </p:grpSpPr>
        <p:sp>
          <p:nvSpPr>
            <p:cNvPr id="117" name="lemon25-1"/>
            <p:cNvSpPr/>
            <p:nvPr/>
          </p:nvSpPr>
          <p:spPr>
            <a:xfrm>
              <a:off x="3742914" y="2200447"/>
              <a:ext cx="93644" cy="936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18" name="lemon25-2"/>
            <p:cNvSpPr/>
            <p:nvPr/>
          </p:nvSpPr>
          <p:spPr>
            <a:xfrm>
              <a:off x="3754326" y="3668337"/>
              <a:ext cx="93644" cy="936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cxnSp>
          <p:nvCxnSpPr>
            <p:cNvPr id="121" name="lemon25-3"/>
            <p:cNvCxnSpPr/>
            <p:nvPr/>
          </p:nvCxnSpPr>
          <p:spPr>
            <a:xfrm flipH="1">
              <a:off x="3432754" y="2247269"/>
              <a:ext cx="340" cy="2817816"/>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cxnSp>
          <p:nvCxnSpPr>
            <p:cNvPr id="122" name="lemon25-4"/>
            <p:cNvCxnSpPr/>
            <p:nvPr/>
          </p:nvCxnSpPr>
          <p:spPr>
            <a:xfrm flipH="1">
              <a:off x="3433094" y="2247269"/>
              <a:ext cx="298348"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cxnSp>
          <p:nvCxnSpPr>
            <p:cNvPr id="123" name="lemon25-5"/>
            <p:cNvCxnSpPr/>
            <p:nvPr/>
          </p:nvCxnSpPr>
          <p:spPr>
            <a:xfrm flipH="1">
              <a:off x="3136157" y="3715917"/>
              <a:ext cx="298348"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cxnSp>
          <p:nvCxnSpPr>
            <p:cNvPr id="124" name="lemon25-6"/>
            <p:cNvCxnSpPr/>
            <p:nvPr/>
          </p:nvCxnSpPr>
          <p:spPr>
            <a:xfrm flipH="1">
              <a:off x="3433094" y="2958364"/>
              <a:ext cx="298348"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cxnSp>
          <p:nvCxnSpPr>
            <p:cNvPr id="125" name="lemon25-7"/>
            <p:cNvCxnSpPr/>
            <p:nvPr/>
          </p:nvCxnSpPr>
          <p:spPr>
            <a:xfrm flipH="1">
              <a:off x="3444970" y="3714823"/>
              <a:ext cx="298348"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cxnSp>
          <p:nvCxnSpPr>
            <p:cNvPr id="126" name="lemon25-8"/>
            <p:cNvCxnSpPr/>
            <p:nvPr/>
          </p:nvCxnSpPr>
          <p:spPr>
            <a:xfrm flipH="1">
              <a:off x="3433094" y="4381243"/>
              <a:ext cx="298348"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cxnSp>
          <p:nvCxnSpPr>
            <p:cNvPr id="127" name="lemon25-9"/>
            <p:cNvCxnSpPr/>
            <p:nvPr/>
          </p:nvCxnSpPr>
          <p:spPr>
            <a:xfrm flipH="1">
              <a:off x="3454968" y="5065085"/>
              <a:ext cx="298348" cy="0"/>
            </a:xfrm>
            <a:prstGeom prst="line">
              <a:avLst/>
            </a:prstGeom>
            <a:ln w="12700">
              <a:prstDash val="dash"/>
            </a:ln>
          </p:spPr>
          <p:style>
            <a:lnRef idx="2">
              <a:schemeClr val="accent1"/>
            </a:lnRef>
            <a:fillRef idx="0">
              <a:schemeClr val="accent1"/>
            </a:fillRef>
            <a:effectRef idx="1">
              <a:schemeClr val="accent1"/>
            </a:effectRef>
            <a:fontRef idx="minor">
              <a:schemeClr val="tx1"/>
            </a:fontRef>
          </p:style>
        </p:cxnSp>
        <p:sp>
          <p:nvSpPr>
            <p:cNvPr id="128" name="lemon25-10"/>
            <p:cNvSpPr/>
            <p:nvPr/>
          </p:nvSpPr>
          <p:spPr>
            <a:xfrm>
              <a:off x="3742914" y="2910813"/>
              <a:ext cx="93644" cy="936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31" name="lemon25-11"/>
            <p:cNvSpPr/>
            <p:nvPr/>
          </p:nvSpPr>
          <p:spPr>
            <a:xfrm>
              <a:off x="3763844" y="4332643"/>
              <a:ext cx="93644" cy="936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32" name="lemon25-12"/>
            <p:cNvSpPr/>
            <p:nvPr/>
          </p:nvSpPr>
          <p:spPr>
            <a:xfrm>
              <a:off x="3763844" y="5022913"/>
              <a:ext cx="93644" cy="936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grpSp>
      <p:sp>
        <p:nvSpPr>
          <p:cNvPr id="133" name="lemon26"/>
          <p:cNvSpPr/>
          <p:nvPr/>
        </p:nvSpPr>
        <p:spPr>
          <a:xfrm>
            <a:off x="3143163" y="2585668"/>
            <a:ext cx="1201037" cy="546289"/>
          </a:xfrm>
          <a:prstGeom prst="roundRect">
            <a:avLst>
              <a:gd name="adj" fmla="val 8650"/>
            </a:avLst>
          </a:prstGeom>
          <a:solidFill>
            <a:schemeClr val="accent1"/>
          </a:solidFill>
          <a:ln>
            <a:noFill/>
          </a:ln>
          <a:effectLst>
            <a:outerShdw blurRad="3810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35" name="lemon27"/>
          <p:cNvSpPr/>
          <p:nvPr/>
        </p:nvSpPr>
        <p:spPr>
          <a:xfrm>
            <a:off x="3150559" y="3484761"/>
            <a:ext cx="1201037" cy="546289"/>
          </a:xfrm>
          <a:prstGeom prst="roundRect">
            <a:avLst>
              <a:gd name="adj" fmla="val 8650"/>
            </a:avLst>
          </a:prstGeom>
          <a:solidFill>
            <a:schemeClr val="accent2"/>
          </a:solidFill>
          <a:ln>
            <a:solidFill>
              <a:schemeClr val="accent2"/>
            </a:solidFill>
          </a:ln>
          <a:effectLst>
            <a:outerShdw blurRad="3810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37" name="lemon28"/>
          <p:cNvSpPr/>
          <p:nvPr/>
        </p:nvSpPr>
        <p:spPr>
          <a:xfrm>
            <a:off x="3167401" y="4288420"/>
            <a:ext cx="1201037" cy="546289"/>
          </a:xfrm>
          <a:prstGeom prst="roundRect">
            <a:avLst>
              <a:gd name="adj" fmla="val 8650"/>
            </a:avLst>
          </a:prstGeom>
          <a:solidFill>
            <a:schemeClr val="accent1"/>
          </a:solidFill>
          <a:ln>
            <a:noFill/>
          </a:ln>
          <a:effectLst>
            <a:outerShdw blurRad="3810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39" name="lemon29"/>
          <p:cNvSpPr/>
          <p:nvPr/>
        </p:nvSpPr>
        <p:spPr>
          <a:xfrm>
            <a:off x="3166803" y="5074444"/>
            <a:ext cx="1201037" cy="546289"/>
          </a:xfrm>
          <a:prstGeom prst="roundRect">
            <a:avLst>
              <a:gd name="adj" fmla="val 8650"/>
            </a:avLst>
          </a:prstGeom>
          <a:solidFill>
            <a:schemeClr val="accent2"/>
          </a:solidFill>
          <a:ln>
            <a:solidFill>
              <a:schemeClr val="accent2"/>
            </a:solidFill>
          </a:ln>
          <a:effectLst>
            <a:outerShdw blurRad="3810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43" name="lemon30"/>
          <p:cNvSpPr txBox="1"/>
          <p:nvPr/>
        </p:nvSpPr>
        <p:spPr>
          <a:xfrm>
            <a:off x="3191623" y="2706644"/>
            <a:ext cx="1201037"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利润点</a:t>
            </a:r>
            <a:r>
              <a:rPr kumimoji="0" lang="en-US" altLang="zh-CN" sz="1800" b="0" i="0" u="none" strike="noStrike" kern="1200" cap="none" spc="0" normalizeH="0" baseline="0" noProof="0" dirty="0">
                <a:ln>
                  <a:noFill/>
                </a:ln>
                <a:solidFill>
                  <a:srgbClr val="FFFFFF"/>
                </a:solidFill>
                <a:effectLst/>
                <a:uLnTx/>
                <a:uFillTx/>
                <a:cs typeface="+mn-ea"/>
                <a:sym typeface="+mn-lt"/>
              </a:rPr>
              <a:t>02</a:t>
            </a: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44" name="lemon31"/>
          <p:cNvSpPr txBox="1"/>
          <p:nvPr/>
        </p:nvSpPr>
        <p:spPr>
          <a:xfrm>
            <a:off x="3209029" y="3596920"/>
            <a:ext cx="1201037"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利润点</a:t>
            </a:r>
            <a:r>
              <a:rPr kumimoji="0" lang="en-US" altLang="zh-CN" sz="1800" b="0" i="0" u="none" strike="noStrike" kern="1200" cap="none" spc="0" normalizeH="0" baseline="0" noProof="0" dirty="0">
                <a:ln>
                  <a:noFill/>
                </a:ln>
                <a:solidFill>
                  <a:srgbClr val="FFFFFF"/>
                </a:solidFill>
                <a:effectLst/>
                <a:uLnTx/>
                <a:uFillTx/>
                <a:cs typeface="+mn-ea"/>
                <a:sym typeface="+mn-lt"/>
              </a:rPr>
              <a:t>03</a:t>
            </a: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45" name="lemon32"/>
          <p:cNvSpPr txBox="1"/>
          <p:nvPr/>
        </p:nvSpPr>
        <p:spPr>
          <a:xfrm>
            <a:off x="3180214" y="4373286"/>
            <a:ext cx="1201037"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利润点</a:t>
            </a:r>
            <a:r>
              <a:rPr kumimoji="0" lang="en-US" altLang="zh-CN" sz="1800" b="0" i="0" u="none" strike="noStrike" kern="1200" cap="none" spc="0" normalizeH="0" baseline="0" noProof="0" dirty="0">
                <a:ln>
                  <a:noFill/>
                </a:ln>
                <a:solidFill>
                  <a:srgbClr val="FFFFFF"/>
                </a:solidFill>
                <a:effectLst/>
                <a:uLnTx/>
                <a:uFillTx/>
                <a:cs typeface="+mn-ea"/>
                <a:sym typeface="+mn-lt"/>
              </a:rPr>
              <a:t>04</a:t>
            </a: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46" name="lemon33"/>
          <p:cNvSpPr txBox="1"/>
          <p:nvPr/>
        </p:nvSpPr>
        <p:spPr>
          <a:xfrm>
            <a:off x="3179469" y="5162922"/>
            <a:ext cx="1201037"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利润点</a:t>
            </a:r>
            <a:r>
              <a:rPr kumimoji="0" lang="en-US" altLang="zh-CN" sz="1800" b="0" i="0" u="none" strike="noStrike" kern="1200" cap="none" spc="0" normalizeH="0" baseline="0" noProof="0" dirty="0">
                <a:ln>
                  <a:noFill/>
                </a:ln>
                <a:solidFill>
                  <a:srgbClr val="FFFFFF"/>
                </a:solidFill>
                <a:effectLst/>
                <a:uLnTx/>
                <a:uFillTx/>
                <a:cs typeface="+mn-ea"/>
                <a:sym typeface="+mn-lt"/>
              </a:rPr>
              <a:t>05</a:t>
            </a: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51" name="lemon34"/>
          <p:cNvSpPr/>
          <p:nvPr/>
        </p:nvSpPr>
        <p:spPr>
          <a:xfrm>
            <a:off x="627349" y="3502608"/>
            <a:ext cx="1938236" cy="514325"/>
          </a:xfrm>
          <a:prstGeom prst="roundRect">
            <a:avLst>
              <a:gd name="adj" fmla="val 8243"/>
            </a:avLst>
          </a:prstGeom>
          <a:noFill/>
          <a:ln w="19050">
            <a:solidFill>
              <a:schemeClr val="accent2"/>
            </a:solidFill>
            <a:headEnd type="triangl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2" name="lemon35"/>
          <p:cNvSpPr txBox="1"/>
          <p:nvPr/>
        </p:nvSpPr>
        <p:spPr>
          <a:xfrm>
            <a:off x="927261" y="3484761"/>
            <a:ext cx="2018012" cy="467820"/>
          </a:xfrm>
          <a:prstGeom prst="rect">
            <a:avLst/>
          </a:prstGeom>
          <a:noFill/>
        </p:spPr>
        <p:txBody>
          <a:bodyPr wrap="square" rtlCol="0">
            <a:spAutoFit/>
          </a:bodyPr>
          <a:lstStyle/>
          <a:p>
            <a:pPr marL="0" marR="0" lvl="0" indent="0" algn="l" defTabSz="457200" rtl="0" eaLnBrk="1" fontAlgn="auto" latinLnBrk="0" hangingPunct="0">
              <a:lnSpc>
                <a:spcPct val="15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4480FB"/>
                </a:solidFill>
                <a:effectLst/>
                <a:uLnTx/>
                <a:uFillTx/>
                <a:cs typeface="+mn-ea"/>
                <a:sym typeface="+mn-lt"/>
              </a:rPr>
              <a:t>销量目标</a:t>
            </a:r>
            <a:r>
              <a:rPr kumimoji="0" lang="en-US" altLang="zh-CN" sz="1800" b="0" i="0" u="none" strike="noStrike" kern="0" cap="none" spc="0" normalizeH="0" baseline="0" noProof="0" dirty="0">
                <a:ln>
                  <a:noFill/>
                </a:ln>
                <a:solidFill>
                  <a:srgbClr val="4480FB"/>
                </a:solidFill>
                <a:effectLst/>
                <a:uLnTx/>
                <a:uFillTx/>
                <a:cs typeface="+mn-ea"/>
                <a:sym typeface="+mn-lt"/>
              </a:rPr>
              <a:t>01</a:t>
            </a:r>
          </a:p>
        </p:txBody>
      </p:sp>
      <p:sp>
        <p:nvSpPr>
          <p:cNvPr id="153" name="lemon36"/>
          <p:cNvSpPr/>
          <p:nvPr/>
        </p:nvSpPr>
        <p:spPr>
          <a:xfrm>
            <a:off x="633590" y="4139210"/>
            <a:ext cx="1938236" cy="514325"/>
          </a:xfrm>
          <a:prstGeom prst="roundRect">
            <a:avLst>
              <a:gd name="adj" fmla="val 8243"/>
            </a:avLst>
          </a:prstGeom>
          <a:noFill/>
          <a:ln w="19050">
            <a:solidFill>
              <a:schemeClr val="accent2"/>
            </a:solidFill>
            <a:headEnd type="triangl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4" name="lemon37"/>
          <p:cNvSpPr txBox="1"/>
          <p:nvPr/>
        </p:nvSpPr>
        <p:spPr>
          <a:xfrm>
            <a:off x="933502" y="4121363"/>
            <a:ext cx="2018012" cy="467820"/>
          </a:xfrm>
          <a:prstGeom prst="rect">
            <a:avLst/>
          </a:prstGeom>
          <a:noFill/>
        </p:spPr>
        <p:txBody>
          <a:bodyPr wrap="square" rtlCol="0">
            <a:spAutoFit/>
          </a:bodyPr>
          <a:lstStyle/>
          <a:p>
            <a:pPr marL="0" marR="0" lvl="0" indent="0" algn="l" defTabSz="457200" rtl="0" eaLnBrk="1" fontAlgn="auto" latinLnBrk="0" hangingPunct="0">
              <a:lnSpc>
                <a:spcPct val="15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4480FB"/>
                </a:solidFill>
                <a:effectLst/>
                <a:uLnTx/>
                <a:uFillTx/>
                <a:cs typeface="+mn-ea"/>
                <a:sym typeface="+mn-lt"/>
              </a:rPr>
              <a:t>销量目标</a:t>
            </a:r>
            <a:r>
              <a:rPr kumimoji="0" lang="en-US" altLang="zh-CN" sz="1800" b="0" i="0" u="none" strike="noStrike" kern="0" cap="none" spc="0" normalizeH="0" baseline="0" noProof="0" dirty="0">
                <a:ln>
                  <a:noFill/>
                </a:ln>
                <a:solidFill>
                  <a:srgbClr val="4480FB"/>
                </a:solidFill>
                <a:effectLst/>
                <a:uLnTx/>
                <a:uFillTx/>
                <a:cs typeface="+mn-ea"/>
                <a:sym typeface="+mn-lt"/>
              </a:rPr>
              <a:t>02</a:t>
            </a:r>
          </a:p>
        </p:txBody>
      </p:sp>
      <p:sp>
        <p:nvSpPr>
          <p:cNvPr id="155" name="lemon38"/>
          <p:cNvSpPr/>
          <p:nvPr/>
        </p:nvSpPr>
        <p:spPr>
          <a:xfrm>
            <a:off x="627349" y="4775812"/>
            <a:ext cx="1938236" cy="514325"/>
          </a:xfrm>
          <a:prstGeom prst="roundRect">
            <a:avLst>
              <a:gd name="adj" fmla="val 8243"/>
            </a:avLst>
          </a:prstGeom>
          <a:noFill/>
          <a:ln w="19050">
            <a:solidFill>
              <a:schemeClr val="accent2"/>
            </a:solidFill>
            <a:headEnd type="triangl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6" name="lemon39"/>
          <p:cNvSpPr txBox="1"/>
          <p:nvPr/>
        </p:nvSpPr>
        <p:spPr>
          <a:xfrm>
            <a:off x="939453" y="4757965"/>
            <a:ext cx="2018012" cy="467820"/>
          </a:xfrm>
          <a:prstGeom prst="rect">
            <a:avLst/>
          </a:prstGeom>
          <a:noFill/>
        </p:spPr>
        <p:txBody>
          <a:bodyPr wrap="square" rtlCol="0">
            <a:spAutoFit/>
          </a:bodyPr>
          <a:lstStyle/>
          <a:p>
            <a:pPr marL="0" marR="0" lvl="0" indent="0" algn="l" defTabSz="457200" rtl="0" eaLnBrk="1" fontAlgn="auto" latinLnBrk="0" hangingPunct="0">
              <a:lnSpc>
                <a:spcPct val="15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4480FB"/>
                </a:solidFill>
                <a:effectLst/>
                <a:uLnTx/>
                <a:uFillTx/>
                <a:cs typeface="+mn-ea"/>
                <a:sym typeface="+mn-lt"/>
              </a:rPr>
              <a:t>销量目标</a:t>
            </a:r>
            <a:r>
              <a:rPr kumimoji="0" lang="en-US" altLang="zh-CN" sz="1800" b="0" i="0" u="none" strike="noStrike" kern="0" cap="none" spc="0" normalizeH="0" baseline="0" noProof="0" dirty="0">
                <a:ln>
                  <a:noFill/>
                </a:ln>
                <a:solidFill>
                  <a:srgbClr val="4480FB"/>
                </a:solidFill>
                <a:effectLst/>
                <a:uLnTx/>
                <a:uFillTx/>
                <a:cs typeface="+mn-ea"/>
                <a:sym typeface="+mn-lt"/>
              </a:rPr>
              <a:t>03</a:t>
            </a:r>
          </a:p>
        </p:txBody>
      </p:sp>
      <p:sp>
        <p:nvSpPr>
          <p:cNvPr id="157" name="lemon40"/>
          <p:cNvSpPr/>
          <p:nvPr/>
        </p:nvSpPr>
        <p:spPr>
          <a:xfrm>
            <a:off x="644122" y="1530435"/>
            <a:ext cx="1972235" cy="1732211"/>
          </a:xfrm>
          <a:prstGeom prst="roundRect">
            <a:avLst>
              <a:gd name="adj" fmla="val 0"/>
            </a:avLst>
          </a:prstGeom>
          <a:solidFill>
            <a:schemeClr val="accent2"/>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58" name="lemon41"/>
          <p:cNvSpPr txBox="1"/>
          <p:nvPr/>
        </p:nvSpPr>
        <p:spPr>
          <a:xfrm>
            <a:off x="729431" y="1633672"/>
            <a:ext cx="1744728" cy="1591398"/>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FFFFFF"/>
                </a:solidFill>
                <a:effectLst/>
                <a:uLnTx/>
                <a:uFillTx/>
                <a:cs typeface="+mn-ea"/>
                <a:sym typeface="+mn-lt"/>
              </a:rPr>
              <a:t>2023</a:t>
            </a:r>
            <a:r>
              <a:rPr kumimoji="0" lang="zh-CN" altLang="en-US" sz="1100" b="0" i="0" u="none" strike="noStrike" kern="1200" cap="none" spc="0" normalizeH="0" baseline="0" noProof="0" dirty="0">
                <a:ln>
                  <a:noFill/>
                </a:ln>
                <a:solidFill>
                  <a:srgbClr val="FFFFFF"/>
                </a:solidFill>
                <a:effectLst/>
                <a:uLnTx/>
                <a:uFillTx/>
                <a:cs typeface="+mn-ea"/>
                <a:sym typeface="+mn-lt"/>
              </a:rPr>
              <a:t>年，在公司营收、销量方面来看，服饰、生活用品、娱乐设施、美食、日常出行以及阅读学习成为本年度销量的有力增长点。</a:t>
            </a:r>
          </a:p>
        </p:txBody>
      </p:sp>
      <p:sp>
        <p:nvSpPr>
          <p:cNvPr id="159" name="lemon42"/>
          <p:cNvSpPr/>
          <p:nvPr/>
        </p:nvSpPr>
        <p:spPr>
          <a:xfrm>
            <a:off x="630399" y="5409673"/>
            <a:ext cx="1938236" cy="514325"/>
          </a:xfrm>
          <a:prstGeom prst="roundRect">
            <a:avLst>
              <a:gd name="adj" fmla="val 8243"/>
            </a:avLst>
          </a:prstGeom>
          <a:noFill/>
          <a:ln w="19050">
            <a:solidFill>
              <a:schemeClr val="accent2"/>
            </a:solidFill>
            <a:headEnd type="triangl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0" name="lemon43"/>
          <p:cNvSpPr txBox="1"/>
          <p:nvPr/>
        </p:nvSpPr>
        <p:spPr>
          <a:xfrm>
            <a:off x="942503" y="5391826"/>
            <a:ext cx="2018012" cy="467820"/>
          </a:xfrm>
          <a:prstGeom prst="rect">
            <a:avLst/>
          </a:prstGeom>
          <a:noFill/>
        </p:spPr>
        <p:txBody>
          <a:bodyPr wrap="square" rtlCol="0">
            <a:spAutoFit/>
          </a:bodyPr>
          <a:lstStyle/>
          <a:p>
            <a:pPr marL="0" marR="0" lvl="0" indent="0" algn="l" defTabSz="457200" rtl="0" eaLnBrk="1" fontAlgn="auto" latinLnBrk="0" hangingPunct="0">
              <a:lnSpc>
                <a:spcPct val="15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4480FB"/>
                </a:solidFill>
                <a:effectLst/>
                <a:uLnTx/>
                <a:uFillTx/>
                <a:cs typeface="+mn-ea"/>
                <a:sym typeface="+mn-lt"/>
              </a:rPr>
              <a:t>销量目标</a:t>
            </a:r>
            <a:r>
              <a:rPr kumimoji="0" lang="en-US" altLang="zh-CN" sz="1800" b="0" i="0" u="none" strike="noStrike" kern="0" cap="none" spc="0" normalizeH="0" baseline="0" noProof="0" dirty="0">
                <a:ln>
                  <a:noFill/>
                </a:ln>
                <a:solidFill>
                  <a:srgbClr val="4480FB"/>
                </a:solidFill>
                <a:effectLst/>
                <a:uLnTx/>
                <a:uFillTx/>
                <a:cs typeface="+mn-ea"/>
                <a:sym typeface="+mn-lt"/>
              </a:rPr>
              <a:t>04</a:t>
            </a:r>
          </a:p>
        </p:txBody>
      </p:sp>
      <p:sp>
        <p:nvSpPr>
          <p:cNvPr id="2" name="矩形: 圆角 7"/>
          <p:cNvSpPr/>
          <p:nvPr/>
        </p:nvSpPr>
        <p:spPr>
          <a:xfrm flipV="1">
            <a:off x="457802" y="696804"/>
            <a:ext cx="11388632" cy="4571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cs typeface="+mn-ea"/>
              <a:sym typeface="+mn-lt"/>
            </a:endParaRPr>
          </a:p>
        </p:txBody>
      </p:sp>
      <p:sp>
        <p:nvSpPr>
          <p:cNvPr id="3" name="Venn diagram"/>
          <p:cNvSpPr txBox="1"/>
          <p:nvPr/>
        </p:nvSpPr>
        <p:spPr>
          <a:xfrm>
            <a:off x="437924" y="204604"/>
            <a:ext cx="6651772" cy="420628"/>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algn="l"/>
            <a:r>
              <a:rPr lang="zh-CN" altLang="en-US" sz="2400" b="1" i="0" dirty="0">
                <a:solidFill>
                  <a:schemeClr val="accent1"/>
                </a:solidFill>
                <a:cs typeface="+mn-ea"/>
                <a:sym typeface="+mn-lt"/>
              </a:rPr>
              <a:t>高端</a:t>
            </a:r>
            <a:r>
              <a:rPr lang="en-US" sz="2400" b="1" i="0" dirty="0">
                <a:solidFill>
                  <a:schemeClr val="accent1"/>
                </a:solidFill>
                <a:cs typeface="+mn-ea"/>
                <a:sym typeface="+mn-lt"/>
              </a:rPr>
              <a:t>PPT</a:t>
            </a:r>
            <a:r>
              <a:rPr lang="zh-CN" altLang="en-US" sz="2400" b="1" i="0" dirty="0">
                <a:solidFill>
                  <a:schemeClr val="accent1"/>
                </a:solidFill>
                <a:cs typeface="+mn-ea"/>
                <a:sym typeface="+mn-lt"/>
              </a:rPr>
              <a:t>系列之一：打工人必备</a:t>
            </a:r>
            <a:r>
              <a:rPr lang="en-US" sz="2400" b="1" i="0" dirty="0">
                <a:solidFill>
                  <a:schemeClr val="accent1"/>
                </a:solidFill>
                <a:cs typeface="+mn-ea"/>
                <a:sym typeface="+mn-lt"/>
              </a:rPr>
              <a:t>PPT</a:t>
            </a:r>
            <a:r>
              <a:rPr lang="zh-CN" altLang="en-US" sz="2400" b="1" i="0" dirty="0">
                <a:solidFill>
                  <a:schemeClr val="accent1"/>
                </a:solidFill>
                <a:cs typeface="+mn-ea"/>
                <a:sym typeface="+mn-lt"/>
              </a:rPr>
              <a:t>逻辑图</a:t>
            </a:r>
            <a:endParaRPr sz="2400" b="1" i="0" dirty="0">
              <a:solidFill>
                <a:schemeClr val="accent1"/>
              </a:solidFill>
              <a:cs typeface="+mn-ea"/>
              <a:sym typeface="+mn-lt"/>
            </a:endParaRP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lemon1"/>
          <p:cNvSpPr/>
          <p:nvPr/>
        </p:nvSpPr>
        <p:spPr>
          <a:xfrm>
            <a:off x="5709399" y="2191614"/>
            <a:ext cx="4317121" cy="4198739"/>
          </a:xfrm>
          <a:prstGeom prst="donut">
            <a:avLst>
              <a:gd name="adj" fmla="val 41264"/>
            </a:avLst>
          </a:prstGeom>
          <a:solidFill>
            <a:schemeClr val="accent2">
              <a:lumMod val="20000"/>
              <a:lumOff val="80000"/>
              <a:alpha val="40000"/>
            </a:schemeClr>
          </a:solidFill>
          <a:ln w="15875">
            <a:gradFill flip="none" rotWithShape="1">
              <a:gsLst>
                <a:gs pos="0">
                  <a:schemeClr val="accent2"/>
                </a:gs>
                <a:gs pos="99000">
                  <a:schemeClr val="accent2">
                    <a:alpha val="0"/>
                  </a:schemeClr>
                </a:gs>
              </a:gsLst>
              <a:lin ang="10800000" scaled="1"/>
              <a:tileRect/>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5" name="lemon2"/>
          <p:cNvSpPr/>
          <p:nvPr/>
        </p:nvSpPr>
        <p:spPr>
          <a:xfrm>
            <a:off x="2498014" y="2186608"/>
            <a:ext cx="4317121" cy="4198739"/>
          </a:xfrm>
          <a:prstGeom prst="donut">
            <a:avLst>
              <a:gd name="adj" fmla="val 47295"/>
            </a:avLst>
          </a:prstGeom>
          <a:solidFill>
            <a:schemeClr val="accent1">
              <a:lumMod val="20000"/>
              <a:lumOff val="80000"/>
              <a:alpha val="40000"/>
            </a:schemeClr>
          </a:solidFill>
          <a:ln w="15875">
            <a:gradFill flip="none" rotWithShape="1">
              <a:gsLst>
                <a:gs pos="0">
                  <a:schemeClr val="accent1"/>
                </a:gs>
                <a:gs pos="99000">
                  <a:schemeClr val="accent1">
                    <a:alpha val="0"/>
                  </a:schemeClr>
                </a:gs>
              </a:gsLst>
              <a:lin ang="0" scaled="1"/>
              <a:tileRect/>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6" name="lemon3"/>
          <p:cNvSpPr/>
          <p:nvPr/>
        </p:nvSpPr>
        <p:spPr>
          <a:xfrm>
            <a:off x="8728052" y="2923294"/>
            <a:ext cx="1458043" cy="1386593"/>
          </a:xfrm>
          <a:custGeom>
            <a:avLst/>
            <a:gdLst/>
            <a:ahLst/>
            <a:cxnLst/>
            <a:rect l="0" t="0" r="0" b="0"/>
            <a:pathLst>
              <a:path w="1465073" h="1432561">
                <a:moveTo>
                  <a:pt x="0" y="1432560"/>
                </a:moveTo>
                <a:lnTo>
                  <a:pt x="233948" y="1432560"/>
                </a:lnTo>
                <a:cubicBezTo>
                  <a:pt x="432668" y="1432560"/>
                  <a:pt x="593948" y="1271280"/>
                  <a:pt x="593948" y="1072560"/>
                </a:cubicBezTo>
                <a:lnTo>
                  <a:pt x="593948" y="360000"/>
                </a:lnTo>
                <a:cubicBezTo>
                  <a:pt x="593948" y="161280"/>
                  <a:pt x="755228" y="0"/>
                  <a:pt x="953948" y="0"/>
                </a:cubicBezTo>
                <a:lnTo>
                  <a:pt x="1465072" y="0"/>
                </a:lnTo>
              </a:path>
            </a:pathLst>
          </a:custGeom>
          <a:noFill/>
          <a:ln w="146050" cap="rnd">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 name="lemon4"/>
          <p:cNvSpPr/>
          <p:nvPr/>
        </p:nvSpPr>
        <p:spPr>
          <a:xfrm>
            <a:off x="8728052" y="4315817"/>
            <a:ext cx="1458043" cy="1386593"/>
          </a:xfrm>
          <a:custGeom>
            <a:avLst/>
            <a:gdLst/>
            <a:ahLst/>
            <a:cxnLst/>
            <a:rect l="0" t="0" r="0" b="0"/>
            <a:pathLst>
              <a:path w="1465073" h="1432561">
                <a:moveTo>
                  <a:pt x="0" y="0"/>
                </a:moveTo>
                <a:lnTo>
                  <a:pt x="233948" y="0"/>
                </a:lnTo>
                <a:cubicBezTo>
                  <a:pt x="432668" y="0"/>
                  <a:pt x="593948" y="161280"/>
                  <a:pt x="593948" y="360000"/>
                </a:cubicBezTo>
                <a:lnTo>
                  <a:pt x="593948" y="1072560"/>
                </a:lnTo>
                <a:cubicBezTo>
                  <a:pt x="593948" y="1271280"/>
                  <a:pt x="755228" y="1432560"/>
                  <a:pt x="953948" y="1432560"/>
                </a:cubicBezTo>
                <a:lnTo>
                  <a:pt x="1465072" y="1432560"/>
                </a:lnTo>
              </a:path>
            </a:pathLst>
          </a:custGeom>
          <a:noFill/>
          <a:ln w="146050" cap="rnd">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 name="lemon5"/>
          <p:cNvSpPr/>
          <p:nvPr/>
        </p:nvSpPr>
        <p:spPr>
          <a:xfrm>
            <a:off x="2314462" y="2923294"/>
            <a:ext cx="1458043" cy="1386593"/>
          </a:xfrm>
          <a:custGeom>
            <a:avLst/>
            <a:gdLst/>
            <a:ahLst/>
            <a:cxnLst/>
            <a:rect l="0" t="0" r="0" b="0"/>
            <a:pathLst>
              <a:path w="1465073" h="1432561">
                <a:moveTo>
                  <a:pt x="1465072" y="1432560"/>
                </a:moveTo>
                <a:lnTo>
                  <a:pt x="1231124" y="1432560"/>
                </a:lnTo>
                <a:cubicBezTo>
                  <a:pt x="1032404" y="1432560"/>
                  <a:pt x="871124" y="1271280"/>
                  <a:pt x="871124" y="1072560"/>
                </a:cubicBezTo>
                <a:lnTo>
                  <a:pt x="871124" y="360000"/>
                </a:lnTo>
                <a:cubicBezTo>
                  <a:pt x="871124" y="161280"/>
                  <a:pt x="709844" y="0"/>
                  <a:pt x="511124" y="0"/>
                </a:cubicBezTo>
                <a:lnTo>
                  <a:pt x="0" y="0"/>
                </a:lnTo>
              </a:path>
            </a:pathLst>
          </a:custGeom>
          <a:noFill/>
          <a:ln w="146050" cap="rnd">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9" name="lemon6"/>
          <p:cNvSpPr/>
          <p:nvPr/>
        </p:nvSpPr>
        <p:spPr>
          <a:xfrm>
            <a:off x="2314462" y="4315817"/>
            <a:ext cx="1458043" cy="1386593"/>
          </a:xfrm>
          <a:custGeom>
            <a:avLst/>
            <a:gdLst/>
            <a:ahLst/>
            <a:cxnLst/>
            <a:rect l="0" t="0" r="0" b="0"/>
            <a:pathLst>
              <a:path w="1465073" h="1432561">
                <a:moveTo>
                  <a:pt x="1465072" y="0"/>
                </a:moveTo>
                <a:lnTo>
                  <a:pt x="1231124" y="0"/>
                </a:lnTo>
                <a:cubicBezTo>
                  <a:pt x="1032404" y="0"/>
                  <a:pt x="871124" y="161280"/>
                  <a:pt x="871124" y="360000"/>
                </a:cubicBezTo>
                <a:lnTo>
                  <a:pt x="871124" y="1072560"/>
                </a:lnTo>
                <a:cubicBezTo>
                  <a:pt x="871124" y="1271280"/>
                  <a:pt x="709844" y="1432560"/>
                  <a:pt x="511124" y="1432560"/>
                </a:cubicBezTo>
                <a:lnTo>
                  <a:pt x="0" y="1432560"/>
                </a:lnTo>
              </a:path>
            </a:pathLst>
          </a:custGeom>
          <a:noFill/>
          <a:ln w="146050" cap="rnd">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 name="lemon7"/>
          <p:cNvSpPr/>
          <p:nvPr/>
        </p:nvSpPr>
        <p:spPr>
          <a:xfrm>
            <a:off x="9768645" y="2666676"/>
            <a:ext cx="1614972" cy="484769"/>
          </a:xfrm>
          <a:prstGeom prst="roundRect">
            <a:avLst>
              <a:gd name="adj" fmla="val 20894"/>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 name="lemon8"/>
          <p:cNvSpPr txBox="1"/>
          <p:nvPr/>
        </p:nvSpPr>
        <p:spPr>
          <a:xfrm>
            <a:off x="9914260" y="2715425"/>
            <a:ext cx="1323742"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cs typeface="+mn-ea"/>
                <a:sym typeface="+mn-lt"/>
              </a:rPr>
              <a:t>PART 03</a:t>
            </a:r>
            <a:endParaRPr kumimoji="0" lang="zh-CN" altLang="en-US" sz="2000" b="0" i="0" u="none" strike="noStrike" kern="1200" cap="none" spc="0" normalizeH="0" baseline="0" noProof="0" dirty="0">
              <a:ln>
                <a:noFill/>
              </a:ln>
              <a:solidFill>
                <a:prstClr val="white"/>
              </a:solidFill>
              <a:effectLst/>
              <a:uLnTx/>
              <a:uFillTx/>
              <a:cs typeface="+mn-ea"/>
              <a:sym typeface="+mn-lt"/>
            </a:endParaRPr>
          </a:p>
        </p:txBody>
      </p:sp>
      <p:sp>
        <p:nvSpPr>
          <p:cNvPr id="15" name="lemon9"/>
          <p:cNvSpPr/>
          <p:nvPr/>
        </p:nvSpPr>
        <p:spPr>
          <a:xfrm>
            <a:off x="9768645" y="5465925"/>
            <a:ext cx="1614972" cy="484769"/>
          </a:xfrm>
          <a:prstGeom prst="roundRect">
            <a:avLst>
              <a:gd name="adj" fmla="val 20894"/>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 name="lemon10"/>
          <p:cNvSpPr txBox="1"/>
          <p:nvPr/>
        </p:nvSpPr>
        <p:spPr>
          <a:xfrm>
            <a:off x="9960736" y="5514674"/>
            <a:ext cx="1230790" cy="400110"/>
          </a:xfrm>
          <a:prstGeom prst="rect">
            <a:avLst/>
          </a:prstGeom>
          <a:noFill/>
        </p:spPr>
        <p:txBody>
          <a:bodyPr wrap="square" rtlCol="0">
            <a:spAutoFit/>
          </a:bodyPr>
          <a:lstStyle>
            <a:defPPr>
              <a:defRPr lang="zh-CN"/>
            </a:defPPr>
            <a:lvl1pPr>
              <a:defRPr sz="2000">
                <a:gradFill>
                  <a:gsLst>
                    <a:gs pos="14000">
                      <a:schemeClr val="accent2"/>
                    </a:gs>
                    <a:gs pos="100000">
                      <a:schemeClr val="accent3"/>
                    </a:gs>
                  </a:gsLst>
                  <a:path path="circle">
                    <a:fillToRect r="100000" b="100000"/>
                  </a:path>
                </a:gradFill>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mn-lt"/>
                <a:ea typeface="+mn-ea"/>
                <a:cs typeface="+mn-ea"/>
                <a:sym typeface="+mn-lt"/>
              </a:rPr>
              <a:t>PART 04</a:t>
            </a:r>
            <a:endParaRPr kumimoji="0" lang="zh-CN" altLang="en-US" sz="2000" b="0"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21" name="lemon11"/>
          <p:cNvSpPr/>
          <p:nvPr/>
        </p:nvSpPr>
        <p:spPr>
          <a:xfrm>
            <a:off x="1023905" y="2666676"/>
            <a:ext cx="1614972" cy="484769"/>
          </a:xfrm>
          <a:prstGeom prst="roundRect">
            <a:avLst>
              <a:gd name="adj" fmla="val 26186"/>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2" name="lemon12"/>
          <p:cNvSpPr txBox="1"/>
          <p:nvPr/>
        </p:nvSpPr>
        <p:spPr>
          <a:xfrm>
            <a:off x="1169520" y="2715425"/>
            <a:ext cx="1323742"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cs typeface="+mn-ea"/>
                <a:sym typeface="+mn-lt"/>
              </a:rPr>
              <a:t>PART 01</a:t>
            </a:r>
            <a:endParaRPr kumimoji="0" lang="zh-CN" altLang="en-US" sz="2000" b="0" i="0" u="none" strike="noStrike" kern="1200" cap="none" spc="0" normalizeH="0" baseline="0" noProof="0" dirty="0">
              <a:ln>
                <a:noFill/>
              </a:ln>
              <a:solidFill>
                <a:prstClr val="white"/>
              </a:solidFill>
              <a:effectLst/>
              <a:uLnTx/>
              <a:uFillTx/>
              <a:cs typeface="+mn-ea"/>
              <a:sym typeface="+mn-lt"/>
            </a:endParaRPr>
          </a:p>
        </p:txBody>
      </p:sp>
      <p:sp>
        <p:nvSpPr>
          <p:cNvPr id="23" name="lemon13"/>
          <p:cNvSpPr/>
          <p:nvPr/>
        </p:nvSpPr>
        <p:spPr>
          <a:xfrm>
            <a:off x="1023905" y="5465925"/>
            <a:ext cx="1614972" cy="484769"/>
          </a:xfrm>
          <a:prstGeom prst="roundRect">
            <a:avLst>
              <a:gd name="adj" fmla="val 31478"/>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4" name="lemon14"/>
          <p:cNvSpPr txBox="1"/>
          <p:nvPr/>
        </p:nvSpPr>
        <p:spPr>
          <a:xfrm>
            <a:off x="1215996" y="5514674"/>
            <a:ext cx="1230790" cy="400110"/>
          </a:xfrm>
          <a:prstGeom prst="rect">
            <a:avLst/>
          </a:prstGeom>
          <a:noFill/>
        </p:spPr>
        <p:txBody>
          <a:bodyPr wrap="square" rtlCol="0">
            <a:spAutoFit/>
          </a:bodyPr>
          <a:lstStyle>
            <a:defPPr>
              <a:defRPr lang="zh-CN"/>
            </a:defPPr>
            <a:lvl1pPr>
              <a:defRPr sz="2000">
                <a:gradFill>
                  <a:gsLst>
                    <a:gs pos="14000">
                      <a:schemeClr val="accent2"/>
                    </a:gs>
                    <a:gs pos="100000">
                      <a:schemeClr val="accent3"/>
                    </a:gs>
                  </a:gsLst>
                  <a:path path="circle">
                    <a:fillToRect r="100000" b="100000"/>
                  </a:path>
                </a:gradFill>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mn-lt"/>
                <a:ea typeface="+mn-ea"/>
                <a:cs typeface="+mn-ea"/>
                <a:sym typeface="+mn-lt"/>
              </a:rPr>
              <a:t>PART 02</a:t>
            </a:r>
            <a:endParaRPr kumimoji="0" lang="zh-CN" altLang="en-US" sz="2000" b="0"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26" name="lemon15"/>
          <p:cNvSpPr/>
          <p:nvPr/>
        </p:nvSpPr>
        <p:spPr>
          <a:xfrm>
            <a:off x="3576408" y="3258750"/>
            <a:ext cx="2159077" cy="2099871"/>
          </a:xfrm>
          <a:prstGeom prst="ellipse">
            <a:avLst/>
          </a:prstGeom>
          <a:solidFill>
            <a:schemeClr val="accent1"/>
          </a:solidFill>
          <a:ln>
            <a:noFill/>
          </a:ln>
          <a:effectLst>
            <a:outerShdw blurRad="444500" dist="317500" dir="2700000" sx="92000" sy="92000" algn="t" rotWithShape="0">
              <a:schemeClr val="accent1">
                <a:lumMod val="75000"/>
                <a:alpha val="5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7" name="lemon16"/>
          <p:cNvSpPr/>
          <p:nvPr/>
        </p:nvSpPr>
        <p:spPr>
          <a:xfrm>
            <a:off x="6798486" y="3258749"/>
            <a:ext cx="2116518" cy="2099873"/>
          </a:xfrm>
          <a:prstGeom prst="ellipse">
            <a:avLst/>
          </a:prstGeom>
          <a:solidFill>
            <a:schemeClr val="accent2"/>
          </a:solidFill>
          <a:ln>
            <a:noFill/>
          </a:ln>
          <a:effectLst>
            <a:outerShdw blurRad="444500" dist="317500" dir="2700000" sx="92000" sy="92000" algn="t" rotWithShape="0">
              <a:schemeClr val="accent3">
                <a:lumMod val="75000"/>
                <a:alpha val="5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8" name="lemon17"/>
          <p:cNvSpPr txBox="1"/>
          <p:nvPr/>
        </p:nvSpPr>
        <p:spPr>
          <a:xfrm>
            <a:off x="3893193" y="3906520"/>
            <a:ext cx="1525507" cy="830997"/>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第一部分内容</a:t>
            </a:r>
          </a:p>
        </p:txBody>
      </p:sp>
      <p:sp>
        <p:nvSpPr>
          <p:cNvPr id="29" name="lemon18"/>
          <p:cNvSpPr txBox="1"/>
          <p:nvPr/>
        </p:nvSpPr>
        <p:spPr>
          <a:xfrm>
            <a:off x="7044686" y="3906520"/>
            <a:ext cx="1624119" cy="830997"/>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第二部分内容</a:t>
            </a:r>
          </a:p>
        </p:txBody>
      </p:sp>
      <p:sp>
        <p:nvSpPr>
          <p:cNvPr id="34" name="lemon19"/>
          <p:cNvSpPr/>
          <p:nvPr/>
        </p:nvSpPr>
        <p:spPr>
          <a:xfrm>
            <a:off x="4760098" y="2499298"/>
            <a:ext cx="3080758" cy="2996293"/>
          </a:xfrm>
          <a:prstGeom prst="arc">
            <a:avLst>
              <a:gd name="adj1" fmla="val 13324381"/>
              <a:gd name="adj2" fmla="val 18820625"/>
            </a:avLst>
          </a:prstGeom>
          <a:ln w="31750">
            <a:gradFill>
              <a:gsLst>
                <a:gs pos="0">
                  <a:schemeClr val="accent1">
                    <a:lumMod val="75000"/>
                    <a:alpha val="900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5" name="lemon20"/>
          <p:cNvSpPr/>
          <p:nvPr/>
        </p:nvSpPr>
        <p:spPr>
          <a:xfrm flipV="1">
            <a:off x="4829835" y="2962019"/>
            <a:ext cx="3080758" cy="2996293"/>
          </a:xfrm>
          <a:prstGeom prst="arc">
            <a:avLst>
              <a:gd name="adj1" fmla="val 13399366"/>
              <a:gd name="adj2" fmla="val 19037619"/>
            </a:avLst>
          </a:prstGeom>
          <a:ln w="31750">
            <a:gradFill>
              <a:gsLst>
                <a:gs pos="97000">
                  <a:schemeClr val="accent2">
                    <a:alpha val="0"/>
                  </a:schemeClr>
                </a:gs>
                <a:gs pos="0">
                  <a:schemeClr val="accent2"/>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6" name="lemon21"/>
          <p:cNvSpPr/>
          <p:nvPr/>
        </p:nvSpPr>
        <p:spPr>
          <a:xfrm rot="2609116" flipH="1">
            <a:off x="7316829" y="2842433"/>
            <a:ext cx="181962" cy="109094"/>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7" name="lemon22"/>
          <p:cNvSpPr/>
          <p:nvPr/>
        </p:nvSpPr>
        <p:spPr>
          <a:xfrm rot="13529785" flipH="1">
            <a:off x="5136601" y="5459097"/>
            <a:ext cx="176972" cy="112170"/>
          </a:xfrm>
          <a:prstGeom prst="triangle">
            <a:avLst>
              <a:gd name="adj" fmla="val 10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8" name="lemon23"/>
          <p:cNvSpPr/>
          <p:nvPr/>
        </p:nvSpPr>
        <p:spPr>
          <a:xfrm>
            <a:off x="706501" y="994563"/>
            <a:ext cx="10999343" cy="814592"/>
          </a:xfrm>
          <a:prstGeom prst="roundRect">
            <a:avLst>
              <a:gd name="adj" fmla="val 6749"/>
            </a:avLst>
          </a:prstGeom>
          <a:solidFill>
            <a:schemeClr val="accent1">
              <a:lumMod val="20000"/>
              <a:lumOff val="80000"/>
              <a:alpha val="15079"/>
            </a:schemeClr>
          </a:solidFill>
          <a:ln w="12700">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39" name="lemon24"/>
          <p:cNvSpPr txBox="1"/>
          <p:nvPr/>
        </p:nvSpPr>
        <p:spPr>
          <a:xfrm>
            <a:off x="1387445" y="1131107"/>
            <a:ext cx="12247828" cy="429156"/>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3F3F3F">
                    <a:lumMod val="50000"/>
                  </a:srgbClr>
                </a:solidFill>
                <a:effectLst/>
                <a:uLnTx/>
                <a:uFillTx/>
                <a:cs typeface="+mn-ea"/>
                <a:sym typeface="+mn-lt"/>
              </a:rPr>
              <a:t>2023</a:t>
            </a:r>
            <a:r>
              <a:rPr kumimoji="0" lang="zh-CN" altLang="en-US" sz="1600" b="0" i="0" u="none" strike="noStrike" kern="1200" cap="none" spc="0" normalizeH="0" baseline="0" noProof="0" dirty="0">
                <a:ln>
                  <a:noFill/>
                </a:ln>
                <a:solidFill>
                  <a:srgbClr val="3F3F3F">
                    <a:lumMod val="50000"/>
                  </a:srgbClr>
                </a:solidFill>
                <a:effectLst/>
                <a:uLnTx/>
                <a:uFillTx/>
                <a:cs typeface="+mn-ea"/>
                <a:sym typeface="+mn-lt"/>
              </a:rPr>
              <a:t>年，在公司营收、销量方面来看，日常出行以及阅读学习成为本年度销量的有力增长点。</a:t>
            </a:r>
            <a:endParaRPr kumimoji="0" lang="en-US" altLang="zh-CN" sz="1600" b="0" i="0" u="none" strike="noStrike" kern="1200" cap="none" spc="0" normalizeH="0" baseline="0" noProof="0" dirty="0">
              <a:ln>
                <a:noFill/>
              </a:ln>
              <a:solidFill>
                <a:srgbClr val="3F3F3F">
                  <a:lumMod val="50000"/>
                </a:srgbClr>
              </a:solidFill>
              <a:effectLst/>
              <a:uLnTx/>
              <a:uFillTx/>
              <a:cs typeface="+mn-ea"/>
              <a:sym typeface="+mn-lt"/>
            </a:endParaRPr>
          </a:p>
        </p:txBody>
      </p:sp>
      <p:grpSp>
        <p:nvGrpSpPr>
          <p:cNvPr id="41" name="lemon25"/>
          <p:cNvGrpSpPr/>
          <p:nvPr/>
        </p:nvGrpSpPr>
        <p:grpSpPr>
          <a:xfrm>
            <a:off x="486155" y="1181795"/>
            <a:ext cx="487947" cy="487947"/>
            <a:chOff x="5734988" y="949771"/>
            <a:chExt cx="347205" cy="347205"/>
          </a:xfrm>
        </p:grpSpPr>
        <p:sp>
          <p:nvSpPr>
            <p:cNvPr id="42" name="lemon25-1"/>
            <p:cNvSpPr/>
            <p:nvPr/>
          </p:nvSpPr>
          <p:spPr>
            <a:xfrm>
              <a:off x="5734988" y="949771"/>
              <a:ext cx="347205" cy="347205"/>
            </a:xfrm>
            <a:prstGeom prst="ellipse">
              <a:avLst/>
            </a:prstGeom>
            <a:solidFill>
              <a:schemeClr val="accent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3" name="lemon25-2"/>
            <p:cNvSpPr/>
            <p:nvPr/>
          </p:nvSpPr>
          <p:spPr bwMode="auto">
            <a:xfrm>
              <a:off x="5810061" y="1055694"/>
              <a:ext cx="201613" cy="155575"/>
            </a:xfrm>
            <a:custGeom>
              <a:avLst/>
              <a:gdLst/>
              <a:ahLst/>
              <a:cxnLst>
                <a:cxn ang="0">
                  <a:pos x="58" y="12"/>
                </a:cxn>
                <a:cxn ang="0">
                  <a:pos x="30" y="39"/>
                </a:cxn>
                <a:cxn ang="0">
                  <a:pos x="25" y="44"/>
                </a:cxn>
                <a:cxn ang="0">
                  <a:pos x="23" y="45"/>
                </a:cxn>
                <a:cxn ang="0">
                  <a:pos x="20" y="44"/>
                </a:cxn>
                <a:cxn ang="0">
                  <a:pos x="15" y="39"/>
                </a:cxn>
                <a:cxn ang="0">
                  <a:pos x="1" y="26"/>
                </a:cxn>
                <a:cxn ang="0">
                  <a:pos x="0" y="23"/>
                </a:cxn>
                <a:cxn ang="0">
                  <a:pos x="1" y="20"/>
                </a:cxn>
                <a:cxn ang="0">
                  <a:pos x="6" y="15"/>
                </a:cxn>
                <a:cxn ang="0">
                  <a:pos x="9" y="14"/>
                </a:cxn>
                <a:cxn ang="0">
                  <a:pos x="11" y="15"/>
                </a:cxn>
                <a:cxn ang="0">
                  <a:pos x="23" y="26"/>
                </a:cxn>
                <a:cxn ang="0">
                  <a:pos x="47" y="1"/>
                </a:cxn>
                <a:cxn ang="0">
                  <a:pos x="50" y="0"/>
                </a:cxn>
                <a:cxn ang="0">
                  <a:pos x="53" y="1"/>
                </a:cxn>
                <a:cxn ang="0">
                  <a:pos x="58" y="7"/>
                </a:cxn>
                <a:cxn ang="0">
                  <a:pos x="59" y="9"/>
                </a:cxn>
                <a:cxn ang="0">
                  <a:pos x="58" y="12"/>
                </a:cxn>
              </a:cxnLst>
              <a:rect l="0" t="0" r="r" b="b"/>
              <a:pathLst>
                <a:path w="59" h="45">
                  <a:moveTo>
                    <a:pt x="58" y="12"/>
                  </a:moveTo>
                  <a:cubicBezTo>
                    <a:pt x="30" y="39"/>
                    <a:pt x="30" y="39"/>
                    <a:pt x="30" y="39"/>
                  </a:cubicBezTo>
                  <a:cubicBezTo>
                    <a:pt x="25" y="44"/>
                    <a:pt x="25" y="44"/>
                    <a:pt x="25" y="44"/>
                  </a:cubicBezTo>
                  <a:cubicBezTo>
                    <a:pt x="24" y="45"/>
                    <a:pt x="24" y="45"/>
                    <a:pt x="23" y="45"/>
                  </a:cubicBezTo>
                  <a:cubicBezTo>
                    <a:pt x="22" y="45"/>
                    <a:pt x="21" y="45"/>
                    <a:pt x="20" y="44"/>
                  </a:cubicBezTo>
                  <a:cubicBezTo>
                    <a:pt x="15" y="39"/>
                    <a:pt x="15" y="39"/>
                    <a:pt x="15" y="39"/>
                  </a:cubicBezTo>
                  <a:cubicBezTo>
                    <a:pt x="1" y="26"/>
                    <a:pt x="1" y="26"/>
                    <a:pt x="1" y="26"/>
                  </a:cubicBezTo>
                  <a:cubicBezTo>
                    <a:pt x="0" y="25"/>
                    <a:pt x="0" y="24"/>
                    <a:pt x="0" y="23"/>
                  </a:cubicBezTo>
                  <a:cubicBezTo>
                    <a:pt x="0" y="22"/>
                    <a:pt x="0" y="21"/>
                    <a:pt x="1" y="20"/>
                  </a:cubicBezTo>
                  <a:cubicBezTo>
                    <a:pt x="6" y="15"/>
                    <a:pt x="6" y="15"/>
                    <a:pt x="6" y="15"/>
                  </a:cubicBezTo>
                  <a:cubicBezTo>
                    <a:pt x="7" y="14"/>
                    <a:pt x="8" y="14"/>
                    <a:pt x="9" y="14"/>
                  </a:cubicBezTo>
                  <a:cubicBezTo>
                    <a:pt x="10" y="14"/>
                    <a:pt x="11" y="14"/>
                    <a:pt x="11" y="15"/>
                  </a:cubicBezTo>
                  <a:cubicBezTo>
                    <a:pt x="23" y="26"/>
                    <a:pt x="23" y="26"/>
                    <a:pt x="23" y="26"/>
                  </a:cubicBezTo>
                  <a:cubicBezTo>
                    <a:pt x="47" y="1"/>
                    <a:pt x="47" y="1"/>
                    <a:pt x="47" y="1"/>
                  </a:cubicBezTo>
                  <a:cubicBezTo>
                    <a:pt x="48" y="1"/>
                    <a:pt x="49" y="0"/>
                    <a:pt x="50" y="0"/>
                  </a:cubicBezTo>
                  <a:cubicBezTo>
                    <a:pt x="51" y="0"/>
                    <a:pt x="52" y="1"/>
                    <a:pt x="53" y="1"/>
                  </a:cubicBezTo>
                  <a:cubicBezTo>
                    <a:pt x="58" y="7"/>
                    <a:pt x="58" y="7"/>
                    <a:pt x="58" y="7"/>
                  </a:cubicBezTo>
                  <a:cubicBezTo>
                    <a:pt x="58" y="7"/>
                    <a:pt x="59" y="8"/>
                    <a:pt x="59" y="9"/>
                  </a:cubicBezTo>
                  <a:cubicBezTo>
                    <a:pt x="59" y="10"/>
                    <a:pt x="58" y="11"/>
                    <a:pt x="58" y="12"/>
                  </a:cubicBezTo>
                  <a:close/>
                </a:path>
              </a:pathLst>
            </a:custGeom>
            <a:solidFill>
              <a:schemeClr val="bg1"/>
            </a:solidFill>
            <a:ln w="9525">
              <a:noFill/>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grpSp>
      <p:sp>
        <p:nvSpPr>
          <p:cNvPr id="45" name="lemon26"/>
          <p:cNvSpPr/>
          <p:nvPr/>
        </p:nvSpPr>
        <p:spPr>
          <a:xfrm>
            <a:off x="9556001" y="3834376"/>
            <a:ext cx="2311619" cy="763334"/>
          </a:xfrm>
          <a:prstGeom prst="wedgeRoundRectCallout">
            <a:avLst>
              <a:gd name="adj1" fmla="val -1328"/>
              <a:gd name="adj2" fmla="val -129743"/>
              <a:gd name="adj3" fmla="val 16667"/>
            </a:avLst>
          </a:prstGeom>
          <a:solidFill>
            <a:schemeClr val="bg1"/>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6" name="lemon27"/>
          <p:cNvSpPr txBox="1"/>
          <p:nvPr/>
        </p:nvSpPr>
        <p:spPr>
          <a:xfrm>
            <a:off x="9641937" y="3902606"/>
            <a:ext cx="1200024"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3600" b="1" i="0" u="none" strike="noStrike" kern="1200" cap="none" spc="0" normalizeH="0" baseline="0" noProof="0" dirty="0">
                <a:ln>
                  <a:noFill/>
                </a:ln>
                <a:solidFill>
                  <a:srgbClr val="4480FB"/>
                </a:solidFill>
                <a:effectLst/>
                <a:uLnTx/>
                <a:uFillTx/>
                <a:cs typeface="+mn-ea"/>
                <a:sym typeface="+mn-lt"/>
              </a:rPr>
              <a:t>50%</a:t>
            </a:r>
            <a:endParaRPr kumimoji="1" lang="zh-CN" altLang="en-US" sz="3600" b="1" i="0" u="none" strike="noStrike" kern="1200" cap="none" spc="0" normalizeH="0" baseline="0" noProof="0" dirty="0">
              <a:ln>
                <a:noFill/>
              </a:ln>
              <a:solidFill>
                <a:srgbClr val="4480FB"/>
              </a:solidFill>
              <a:effectLst/>
              <a:uLnTx/>
              <a:uFillTx/>
              <a:cs typeface="+mn-ea"/>
              <a:sym typeface="+mn-lt"/>
            </a:endParaRPr>
          </a:p>
        </p:txBody>
      </p:sp>
      <p:sp>
        <p:nvSpPr>
          <p:cNvPr id="47" name="lemon28"/>
          <p:cNvSpPr txBox="1"/>
          <p:nvPr/>
        </p:nvSpPr>
        <p:spPr>
          <a:xfrm>
            <a:off x="10742253" y="3950714"/>
            <a:ext cx="1093735" cy="57708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文字内容可根据需求单击进行修改</a:t>
            </a:r>
          </a:p>
        </p:txBody>
      </p:sp>
      <p:sp>
        <p:nvSpPr>
          <p:cNvPr id="48" name="lemon29"/>
          <p:cNvSpPr/>
          <p:nvPr/>
        </p:nvSpPr>
        <p:spPr>
          <a:xfrm>
            <a:off x="400440" y="3976969"/>
            <a:ext cx="2311619" cy="763334"/>
          </a:xfrm>
          <a:prstGeom prst="wedgeRoundRectCallout">
            <a:avLst>
              <a:gd name="adj1" fmla="val 4978"/>
              <a:gd name="adj2" fmla="val 144559"/>
              <a:gd name="adj3" fmla="val 16667"/>
            </a:avLst>
          </a:prstGeom>
          <a:solidFill>
            <a:schemeClr val="bg1"/>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9" name="lemon30"/>
          <p:cNvSpPr txBox="1"/>
          <p:nvPr/>
        </p:nvSpPr>
        <p:spPr>
          <a:xfrm>
            <a:off x="486376" y="4045199"/>
            <a:ext cx="1200024"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3600" b="1" i="0" u="none" strike="noStrike" kern="1200" cap="none" spc="0" normalizeH="0" baseline="0" noProof="0" dirty="0">
                <a:ln>
                  <a:noFill/>
                </a:ln>
                <a:solidFill>
                  <a:srgbClr val="00329D"/>
                </a:solidFill>
                <a:effectLst/>
                <a:uLnTx/>
                <a:uFillTx/>
                <a:cs typeface="+mn-ea"/>
                <a:sym typeface="+mn-lt"/>
              </a:rPr>
              <a:t>50%</a:t>
            </a:r>
            <a:endParaRPr kumimoji="1" lang="zh-CN" altLang="en-US" sz="3600" b="1" i="0" u="none" strike="noStrike" kern="1200" cap="none" spc="0" normalizeH="0" baseline="0" noProof="0" dirty="0">
              <a:ln>
                <a:noFill/>
              </a:ln>
              <a:solidFill>
                <a:srgbClr val="00329D"/>
              </a:solidFill>
              <a:effectLst/>
              <a:uLnTx/>
              <a:uFillTx/>
              <a:cs typeface="+mn-ea"/>
              <a:sym typeface="+mn-lt"/>
            </a:endParaRPr>
          </a:p>
        </p:txBody>
      </p:sp>
      <p:sp>
        <p:nvSpPr>
          <p:cNvPr id="50" name="lemon31"/>
          <p:cNvSpPr txBox="1"/>
          <p:nvPr/>
        </p:nvSpPr>
        <p:spPr>
          <a:xfrm>
            <a:off x="1586692" y="4093307"/>
            <a:ext cx="1093735" cy="57708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文字内容可根据需求单击进行修改</a:t>
            </a:r>
          </a:p>
        </p:txBody>
      </p:sp>
      <p:sp>
        <p:nvSpPr>
          <p:cNvPr id="51" name="lemon32"/>
          <p:cNvSpPr/>
          <p:nvPr/>
        </p:nvSpPr>
        <p:spPr>
          <a:xfrm>
            <a:off x="6076105" y="5562616"/>
            <a:ext cx="2311619" cy="763334"/>
          </a:xfrm>
          <a:prstGeom prst="wedgeRoundRectCallout">
            <a:avLst>
              <a:gd name="adj1" fmla="val -1328"/>
              <a:gd name="adj2" fmla="val -129743"/>
              <a:gd name="adj3" fmla="val 16667"/>
            </a:avLst>
          </a:prstGeom>
          <a:solidFill>
            <a:schemeClr val="bg1"/>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2" name="lemon33"/>
          <p:cNvSpPr txBox="1"/>
          <p:nvPr/>
        </p:nvSpPr>
        <p:spPr>
          <a:xfrm>
            <a:off x="6162041" y="5630846"/>
            <a:ext cx="1200024"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3600" b="1" i="0" u="none" strike="noStrike" kern="1200" cap="none" spc="0" normalizeH="0" baseline="0" noProof="0" dirty="0">
                <a:ln>
                  <a:noFill/>
                </a:ln>
                <a:solidFill>
                  <a:srgbClr val="4480FB"/>
                </a:solidFill>
                <a:effectLst/>
                <a:uLnTx/>
                <a:uFillTx/>
                <a:cs typeface="+mn-ea"/>
                <a:sym typeface="+mn-lt"/>
              </a:rPr>
              <a:t>50%</a:t>
            </a:r>
            <a:endParaRPr kumimoji="1" lang="zh-CN" altLang="en-US" sz="3600" b="1" i="0" u="none" strike="noStrike" kern="1200" cap="none" spc="0" normalizeH="0" baseline="0" noProof="0" dirty="0">
              <a:ln>
                <a:noFill/>
              </a:ln>
              <a:solidFill>
                <a:srgbClr val="4480FB"/>
              </a:solidFill>
              <a:effectLst/>
              <a:uLnTx/>
              <a:uFillTx/>
              <a:cs typeface="+mn-ea"/>
              <a:sym typeface="+mn-lt"/>
            </a:endParaRPr>
          </a:p>
        </p:txBody>
      </p:sp>
      <p:sp>
        <p:nvSpPr>
          <p:cNvPr id="53" name="lemon34"/>
          <p:cNvSpPr txBox="1"/>
          <p:nvPr/>
        </p:nvSpPr>
        <p:spPr>
          <a:xfrm>
            <a:off x="7262357" y="5678954"/>
            <a:ext cx="1093735" cy="57708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文字内容可根据需求单击进行修改</a:t>
            </a:r>
          </a:p>
        </p:txBody>
      </p:sp>
      <p:sp>
        <p:nvSpPr>
          <p:cNvPr id="54" name="lemon35"/>
          <p:cNvSpPr/>
          <p:nvPr/>
        </p:nvSpPr>
        <p:spPr>
          <a:xfrm>
            <a:off x="3580961" y="2201178"/>
            <a:ext cx="2311619" cy="763334"/>
          </a:xfrm>
          <a:prstGeom prst="wedgeRoundRectCallout">
            <a:avLst>
              <a:gd name="adj1" fmla="val 4978"/>
              <a:gd name="adj2" fmla="val 144559"/>
              <a:gd name="adj3" fmla="val 16667"/>
            </a:avLst>
          </a:prstGeom>
          <a:solidFill>
            <a:schemeClr val="bg1"/>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5" name="lemon36"/>
          <p:cNvSpPr txBox="1"/>
          <p:nvPr/>
        </p:nvSpPr>
        <p:spPr>
          <a:xfrm>
            <a:off x="3666897" y="2269408"/>
            <a:ext cx="1200024"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3600" b="1" i="0" u="none" strike="noStrike" kern="1200" cap="none" spc="0" normalizeH="0" baseline="0" noProof="0" dirty="0">
                <a:ln>
                  <a:noFill/>
                </a:ln>
                <a:solidFill>
                  <a:srgbClr val="00329D"/>
                </a:solidFill>
                <a:effectLst/>
                <a:uLnTx/>
                <a:uFillTx/>
                <a:cs typeface="+mn-ea"/>
                <a:sym typeface="+mn-lt"/>
              </a:rPr>
              <a:t>50%</a:t>
            </a:r>
            <a:endParaRPr kumimoji="1" lang="zh-CN" altLang="en-US" sz="3600" b="1" i="0" u="none" strike="noStrike" kern="1200" cap="none" spc="0" normalizeH="0" baseline="0" noProof="0" dirty="0">
              <a:ln>
                <a:noFill/>
              </a:ln>
              <a:solidFill>
                <a:srgbClr val="00329D"/>
              </a:solidFill>
              <a:effectLst/>
              <a:uLnTx/>
              <a:uFillTx/>
              <a:cs typeface="+mn-ea"/>
              <a:sym typeface="+mn-lt"/>
            </a:endParaRPr>
          </a:p>
        </p:txBody>
      </p:sp>
      <p:sp>
        <p:nvSpPr>
          <p:cNvPr id="56" name="lemon37"/>
          <p:cNvSpPr txBox="1"/>
          <p:nvPr/>
        </p:nvSpPr>
        <p:spPr>
          <a:xfrm>
            <a:off x="4767213" y="2317516"/>
            <a:ext cx="1093735" cy="57708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文字内容可根据需求单击进行修改</a:t>
            </a:r>
          </a:p>
        </p:txBody>
      </p:sp>
      <p:sp>
        <p:nvSpPr>
          <p:cNvPr id="2" name="矩形: 圆角 7"/>
          <p:cNvSpPr/>
          <p:nvPr/>
        </p:nvSpPr>
        <p:spPr>
          <a:xfrm flipV="1">
            <a:off x="457802" y="696804"/>
            <a:ext cx="11388632" cy="4571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cs typeface="+mn-ea"/>
              <a:sym typeface="+mn-lt"/>
            </a:endParaRPr>
          </a:p>
        </p:txBody>
      </p:sp>
      <p:sp>
        <p:nvSpPr>
          <p:cNvPr id="3" name="Venn diagram"/>
          <p:cNvSpPr txBox="1"/>
          <p:nvPr/>
        </p:nvSpPr>
        <p:spPr>
          <a:xfrm>
            <a:off x="437924" y="204604"/>
            <a:ext cx="6651772" cy="420628"/>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algn="l"/>
            <a:r>
              <a:rPr lang="zh-CN" altLang="en-US" sz="2400" b="1" i="0" dirty="0">
                <a:solidFill>
                  <a:schemeClr val="accent1"/>
                </a:solidFill>
                <a:cs typeface="+mn-ea"/>
                <a:sym typeface="+mn-lt"/>
              </a:rPr>
              <a:t>高端</a:t>
            </a:r>
            <a:r>
              <a:rPr lang="en-US" sz="2400" b="1" i="0" dirty="0">
                <a:solidFill>
                  <a:schemeClr val="accent1"/>
                </a:solidFill>
                <a:cs typeface="+mn-ea"/>
                <a:sym typeface="+mn-lt"/>
              </a:rPr>
              <a:t>PPT</a:t>
            </a:r>
            <a:r>
              <a:rPr lang="zh-CN" altLang="en-US" sz="2400" b="1" i="0" dirty="0">
                <a:solidFill>
                  <a:schemeClr val="accent1"/>
                </a:solidFill>
                <a:cs typeface="+mn-ea"/>
                <a:sym typeface="+mn-lt"/>
              </a:rPr>
              <a:t>系列之一：打工人必备</a:t>
            </a:r>
            <a:r>
              <a:rPr lang="en-US" sz="2400" b="1" i="0" dirty="0">
                <a:solidFill>
                  <a:schemeClr val="accent1"/>
                </a:solidFill>
                <a:cs typeface="+mn-ea"/>
                <a:sym typeface="+mn-lt"/>
              </a:rPr>
              <a:t>PPT</a:t>
            </a:r>
            <a:r>
              <a:rPr lang="zh-CN" altLang="en-US" sz="2400" b="1" i="0" dirty="0">
                <a:solidFill>
                  <a:schemeClr val="accent1"/>
                </a:solidFill>
                <a:cs typeface="+mn-ea"/>
                <a:sym typeface="+mn-lt"/>
              </a:rPr>
              <a:t>逻辑图</a:t>
            </a:r>
            <a:endParaRPr sz="2400" b="1" i="0" dirty="0">
              <a:solidFill>
                <a:schemeClr val="accent1"/>
              </a:solidFill>
              <a:cs typeface="+mn-ea"/>
              <a:sym typeface="+mn-lt"/>
            </a:endParaRP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6月更新1"/>
          <p:cNvSpPr/>
          <p:nvPr/>
        </p:nvSpPr>
        <p:spPr>
          <a:xfrm>
            <a:off x="519193" y="1611138"/>
            <a:ext cx="7330698" cy="4562966"/>
          </a:xfrm>
          <a:custGeom>
            <a:avLst/>
            <a:gdLst>
              <a:gd name="connsiteX0" fmla="*/ 0 w 7330698"/>
              <a:gd name="connsiteY0" fmla="*/ 0 h 4562966"/>
              <a:gd name="connsiteX1" fmla="*/ 282255 w 7330698"/>
              <a:gd name="connsiteY1" fmla="*/ 0 h 4562966"/>
              <a:gd name="connsiteX2" fmla="*/ 396182 w 7330698"/>
              <a:gd name="connsiteY2" fmla="*/ 408433 h 4562966"/>
              <a:gd name="connsiteX3" fmla="*/ 3542141 w 7330698"/>
              <a:gd name="connsiteY3" fmla="*/ 4137590 h 4562966"/>
              <a:gd name="connsiteX4" fmla="*/ 3984669 w 7330698"/>
              <a:gd name="connsiteY4" fmla="*/ 4361319 h 4562966"/>
              <a:gd name="connsiteX5" fmla="*/ 4429869 w 7330698"/>
              <a:gd name="connsiteY5" fmla="*/ 4548335 h 4562966"/>
              <a:gd name="connsiteX6" fmla="*/ 7330698 w 7330698"/>
              <a:gd name="connsiteY6" fmla="*/ 4529903 h 4562966"/>
              <a:gd name="connsiteX7" fmla="*/ 7330698 w 7330698"/>
              <a:gd name="connsiteY7" fmla="*/ 4562966 h 4562966"/>
              <a:gd name="connsiteX8" fmla="*/ 0 w 7330698"/>
              <a:gd name="connsiteY8" fmla="*/ 4562966 h 456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30698" h="4562966">
                <a:moveTo>
                  <a:pt x="0" y="0"/>
                </a:moveTo>
                <a:lnTo>
                  <a:pt x="282255" y="0"/>
                </a:lnTo>
                <a:lnTo>
                  <a:pt x="396182" y="408433"/>
                </a:lnTo>
                <a:cubicBezTo>
                  <a:pt x="895908" y="1917562"/>
                  <a:pt x="1984045" y="3279850"/>
                  <a:pt x="3542141" y="4137590"/>
                </a:cubicBezTo>
                <a:cubicBezTo>
                  <a:pt x="3688213" y="4218004"/>
                  <a:pt x="3835822" y="4292555"/>
                  <a:pt x="3984669" y="4361319"/>
                </a:cubicBezTo>
                <a:lnTo>
                  <a:pt x="4429869" y="4548335"/>
                </a:lnTo>
                <a:lnTo>
                  <a:pt x="7330698" y="4529903"/>
                </a:lnTo>
                <a:lnTo>
                  <a:pt x="7330698" y="4562966"/>
                </a:lnTo>
                <a:lnTo>
                  <a:pt x="0" y="4562966"/>
                </a:lnTo>
                <a:close/>
              </a:path>
            </a:pathLst>
          </a:custGeom>
          <a:solidFill>
            <a:schemeClr val="accent2">
              <a:lumMod val="20000"/>
              <a:lumOff val="80000"/>
              <a:alpha val="56937"/>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0" name="6月更新2"/>
          <p:cNvSpPr/>
          <p:nvPr/>
        </p:nvSpPr>
        <p:spPr>
          <a:xfrm rot="1729981">
            <a:off x="197166" y="1934699"/>
            <a:ext cx="8397474" cy="3732861"/>
          </a:xfrm>
          <a:custGeom>
            <a:avLst/>
            <a:gdLst>
              <a:gd name="connsiteX0" fmla="*/ 0 w 8397474"/>
              <a:gd name="connsiteY0" fmla="*/ 1683185 h 3732861"/>
              <a:gd name="connsiteX1" fmla="*/ 3057528 w 8397474"/>
              <a:gd name="connsiteY1" fmla="*/ 0 h 3732861"/>
              <a:gd name="connsiteX2" fmla="*/ 3213147 w 8397474"/>
              <a:gd name="connsiteY2" fmla="*/ 156449 h 3732861"/>
              <a:gd name="connsiteX3" fmla="*/ 5529417 w 8397474"/>
              <a:gd name="connsiteY3" fmla="*/ 1033076 h 3732861"/>
              <a:gd name="connsiteX4" fmla="*/ 7360892 w 8397474"/>
              <a:gd name="connsiteY4" fmla="*/ 521920 h 3732861"/>
              <a:gd name="connsiteX5" fmla="*/ 7410554 w 8397474"/>
              <a:gd name="connsiteY5" fmla="*/ 487987 h 3732861"/>
              <a:gd name="connsiteX6" fmla="*/ 8397474 w 8397474"/>
              <a:gd name="connsiteY6" fmla="*/ 2280740 h 3732861"/>
              <a:gd name="connsiteX7" fmla="*/ 8382867 w 8397474"/>
              <a:gd name="connsiteY7" fmla="*/ 2288781 h 3732861"/>
              <a:gd name="connsiteX8" fmla="*/ 8371999 w 8397474"/>
              <a:gd name="connsiteY8" fmla="*/ 2269039 h 3732861"/>
              <a:gd name="connsiteX9" fmla="*/ 5834514 w 8397474"/>
              <a:gd name="connsiteY9" fmla="*/ 3665937 h 3732861"/>
              <a:gd name="connsiteX10" fmla="*/ 5356820 w 8397474"/>
              <a:gd name="connsiteY10" fmla="*/ 3715790 h 3732861"/>
              <a:gd name="connsiteX11" fmla="*/ 4863842 w 8397474"/>
              <a:gd name="connsiteY11" fmla="*/ 3732861 h 3732861"/>
              <a:gd name="connsiteX12" fmla="*/ 333220 w 8397474"/>
              <a:gd name="connsiteY12" fmla="*/ 2018180 h 3732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97474" h="3732861">
                <a:moveTo>
                  <a:pt x="0" y="1683185"/>
                </a:moveTo>
                <a:lnTo>
                  <a:pt x="3057528" y="0"/>
                </a:lnTo>
                <a:lnTo>
                  <a:pt x="3213147" y="156449"/>
                </a:lnTo>
                <a:cubicBezTo>
                  <a:pt x="3805932" y="698074"/>
                  <a:pt x="4624858" y="1033076"/>
                  <a:pt x="5529417" y="1033076"/>
                </a:cubicBezTo>
                <a:cubicBezTo>
                  <a:pt x="6207837" y="1033076"/>
                  <a:pt x="6838087" y="844637"/>
                  <a:pt x="7360892" y="521920"/>
                </a:cubicBezTo>
                <a:lnTo>
                  <a:pt x="7410554" y="487987"/>
                </a:lnTo>
                <a:lnTo>
                  <a:pt x="8397474" y="2280740"/>
                </a:lnTo>
                <a:lnTo>
                  <a:pt x="8382867" y="2288781"/>
                </a:lnTo>
                <a:lnTo>
                  <a:pt x="8371999" y="2269039"/>
                </a:lnTo>
                <a:lnTo>
                  <a:pt x="5834514" y="3665937"/>
                </a:lnTo>
                <a:lnTo>
                  <a:pt x="5356820" y="3715790"/>
                </a:lnTo>
                <a:cubicBezTo>
                  <a:pt x="5194117" y="3727102"/>
                  <a:pt x="5029716" y="3732861"/>
                  <a:pt x="4863842" y="3732861"/>
                </a:cubicBezTo>
                <a:cubicBezTo>
                  <a:pt x="3094526" y="3732861"/>
                  <a:pt x="1492707" y="3077597"/>
                  <a:pt x="333220" y="2018180"/>
                </a:cubicBezTo>
                <a:close/>
              </a:path>
            </a:pathLst>
          </a:custGeom>
          <a:solidFill>
            <a:schemeClr val="accent2">
              <a:lumMod val="60000"/>
              <a:lumOff val="40000"/>
              <a:alpha val="3399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4" name="6月更新3"/>
          <p:cNvSpPr/>
          <p:nvPr/>
        </p:nvSpPr>
        <p:spPr>
          <a:xfrm rot="1729981">
            <a:off x="4205817" y="997645"/>
            <a:ext cx="4318672" cy="2743690"/>
          </a:xfrm>
          <a:custGeom>
            <a:avLst/>
            <a:gdLst>
              <a:gd name="connsiteX0" fmla="*/ 0 w 4392502"/>
              <a:gd name="connsiteY0" fmla="*/ 1742703 h 2790595"/>
              <a:gd name="connsiteX1" fmla="*/ 3165643 w 4392502"/>
              <a:gd name="connsiteY1" fmla="*/ 0 h 2790595"/>
              <a:gd name="connsiteX2" fmla="*/ 4392502 w 4392502"/>
              <a:gd name="connsiteY2" fmla="*/ 2228605 h 2790595"/>
              <a:gd name="connsiteX3" fmla="*/ 4318103 w 4392502"/>
              <a:gd name="connsiteY3" fmla="*/ 2279439 h 2790595"/>
              <a:gd name="connsiteX4" fmla="*/ 2486628 w 4392502"/>
              <a:gd name="connsiteY4" fmla="*/ 2790595 h 2790595"/>
              <a:gd name="connsiteX5" fmla="*/ 170358 w 4392502"/>
              <a:gd name="connsiteY5" fmla="*/ 1913968 h 2790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92502" h="2790595">
                <a:moveTo>
                  <a:pt x="0" y="1742703"/>
                </a:moveTo>
                <a:lnTo>
                  <a:pt x="3165643" y="0"/>
                </a:lnTo>
                <a:lnTo>
                  <a:pt x="4392502" y="2228605"/>
                </a:lnTo>
                <a:lnTo>
                  <a:pt x="4318103" y="2279439"/>
                </a:lnTo>
                <a:cubicBezTo>
                  <a:pt x="3795298" y="2602156"/>
                  <a:pt x="3165048" y="2790595"/>
                  <a:pt x="2486628" y="2790595"/>
                </a:cubicBezTo>
                <a:cubicBezTo>
                  <a:pt x="1582069" y="2790595"/>
                  <a:pt x="763143" y="2455593"/>
                  <a:pt x="170358" y="1913968"/>
                </a:cubicBezTo>
                <a:close/>
              </a:path>
            </a:pathLst>
          </a:custGeom>
          <a:solidFill>
            <a:schemeClr val="accent2">
              <a:alpha val="4519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cxnSp>
        <p:nvCxnSpPr>
          <p:cNvPr id="27" name="6月更新4"/>
          <p:cNvCxnSpPr/>
          <p:nvPr/>
        </p:nvCxnSpPr>
        <p:spPr>
          <a:xfrm>
            <a:off x="519193" y="6174104"/>
            <a:ext cx="7747477" cy="0"/>
          </a:xfrm>
          <a:prstGeom prst="straightConnector1">
            <a:avLst/>
          </a:prstGeom>
          <a:ln>
            <a:headEnd w="lg" len="lg"/>
            <a:tailEnd type="arrow"/>
          </a:ln>
        </p:spPr>
        <p:style>
          <a:lnRef idx="2">
            <a:schemeClr val="accent1"/>
          </a:lnRef>
          <a:fillRef idx="0">
            <a:schemeClr val="accent1"/>
          </a:fillRef>
          <a:effectRef idx="1">
            <a:schemeClr val="accent1"/>
          </a:effectRef>
          <a:fontRef idx="minor">
            <a:schemeClr val="tx1"/>
          </a:fontRef>
        </p:style>
      </p:cxnSp>
      <p:cxnSp>
        <p:nvCxnSpPr>
          <p:cNvPr id="31" name="6月更新5"/>
          <p:cNvCxnSpPr/>
          <p:nvPr/>
        </p:nvCxnSpPr>
        <p:spPr>
          <a:xfrm flipV="1">
            <a:off x="519193" y="1280160"/>
            <a:ext cx="0" cy="4891741"/>
          </a:xfrm>
          <a:prstGeom prst="straightConnector1">
            <a:avLst/>
          </a:prstGeom>
          <a:ln>
            <a:headEnd w="lg" len="lg"/>
            <a:tailEnd type="arrow"/>
          </a:ln>
        </p:spPr>
        <p:style>
          <a:lnRef idx="2">
            <a:schemeClr val="accent1"/>
          </a:lnRef>
          <a:fillRef idx="0">
            <a:schemeClr val="accent1"/>
          </a:fillRef>
          <a:effectRef idx="1">
            <a:schemeClr val="accent1"/>
          </a:effectRef>
          <a:fontRef idx="minor">
            <a:schemeClr val="tx1"/>
          </a:fontRef>
        </p:style>
      </p:cxnSp>
      <p:sp>
        <p:nvSpPr>
          <p:cNvPr id="34" name="6月更新6"/>
          <p:cNvSpPr/>
          <p:nvPr/>
        </p:nvSpPr>
        <p:spPr>
          <a:xfrm>
            <a:off x="6584592" y="1947253"/>
            <a:ext cx="315243" cy="315243"/>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 name="6月更新7"/>
          <p:cNvSpPr/>
          <p:nvPr/>
        </p:nvSpPr>
        <p:spPr>
          <a:xfrm>
            <a:off x="5782786" y="2215015"/>
            <a:ext cx="315243" cy="315243"/>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 name="6月更新8"/>
          <p:cNvSpPr/>
          <p:nvPr/>
        </p:nvSpPr>
        <p:spPr>
          <a:xfrm>
            <a:off x="6168202" y="2798887"/>
            <a:ext cx="315243" cy="315243"/>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6" name="6月更新9"/>
          <p:cNvSpPr/>
          <p:nvPr/>
        </p:nvSpPr>
        <p:spPr>
          <a:xfrm>
            <a:off x="5307515" y="3064565"/>
            <a:ext cx="315243" cy="315243"/>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7" name="6月更新10"/>
          <p:cNvSpPr/>
          <p:nvPr/>
        </p:nvSpPr>
        <p:spPr>
          <a:xfrm>
            <a:off x="6124729" y="3375346"/>
            <a:ext cx="235032" cy="23503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8" name="6月更新11"/>
          <p:cNvSpPr/>
          <p:nvPr/>
        </p:nvSpPr>
        <p:spPr>
          <a:xfrm>
            <a:off x="3991653" y="3302000"/>
            <a:ext cx="218370" cy="218370"/>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9" name="6月更新12"/>
          <p:cNvSpPr/>
          <p:nvPr/>
        </p:nvSpPr>
        <p:spPr>
          <a:xfrm>
            <a:off x="5015705" y="3489375"/>
            <a:ext cx="291809" cy="291809"/>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0" name="6月更新13"/>
          <p:cNvSpPr/>
          <p:nvPr/>
        </p:nvSpPr>
        <p:spPr>
          <a:xfrm>
            <a:off x="5325976" y="4064967"/>
            <a:ext cx="218370" cy="218370"/>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1" name="6月更新14"/>
          <p:cNvSpPr/>
          <p:nvPr/>
        </p:nvSpPr>
        <p:spPr>
          <a:xfrm>
            <a:off x="4056701" y="3986561"/>
            <a:ext cx="218370" cy="218370"/>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2" name="6月更新15"/>
          <p:cNvSpPr/>
          <p:nvPr/>
        </p:nvSpPr>
        <p:spPr>
          <a:xfrm>
            <a:off x="4926496" y="5034776"/>
            <a:ext cx="218370" cy="218370"/>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3" name="6月更新16"/>
          <p:cNvSpPr/>
          <p:nvPr/>
        </p:nvSpPr>
        <p:spPr>
          <a:xfrm>
            <a:off x="2374527" y="3627234"/>
            <a:ext cx="379492" cy="379492"/>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4" name="6月更新17"/>
          <p:cNvSpPr/>
          <p:nvPr/>
        </p:nvSpPr>
        <p:spPr>
          <a:xfrm>
            <a:off x="3056715" y="4078407"/>
            <a:ext cx="289931" cy="289931"/>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5" name="6月更新18"/>
          <p:cNvSpPr/>
          <p:nvPr/>
        </p:nvSpPr>
        <p:spPr>
          <a:xfrm>
            <a:off x="1731489" y="5047756"/>
            <a:ext cx="218370" cy="218370"/>
          </a:xfrm>
          <a:prstGeom prst="ellipse">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6" name="6月更新19"/>
          <p:cNvSpPr/>
          <p:nvPr/>
        </p:nvSpPr>
        <p:spPr>
          <a:xfrm>
            <a:off x="1251516" y="5604440"/>
            <a:ext cx="218370" cy="218370"/>
          </a:xfrm>
          <a:prstGeom prst="ellipse">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7" name="6月更新20"/>
          <p:cNvSpPr/>
          <p:nvPr/>
        </p:nvSpPr>
        <p:spPr>
          <a:xfrm>
            <a:off x="3093669" y="4591627"/>
            <a:ext cx="301480" cy="301480"/>
          </a:xfrm>
          <a:prstGeom prst="ellipse">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8" name="6月更新21"/>
          <p:cNvSpPr/>
          <p:nvPr/>
        </p:nvSpPr>
        <p:spPr>
          <a:xfrm>
            <a:off x="4509874" y="4435510"/>
            <a:ext cx="301480" cy="301480"/>
          </a:xfrm>
          <a:prstGeom prst="ellipse">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9" name="6月更新22"/>
          <p:cNvSpPr/>
          <p:nvPr/>
        </p:nvSpPr>
        <p:spPr>
          <a:xfrm>
            <a:off x="6204860" y="4736593"/>
            <a:ext cx="207010" cy="207010"/>
          </a:xfrm>
          <a:prstGeom prst="ellipse">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0" name="6月更新23"/>
          <p:cNvSpPr txBox="1"/>
          <p:nvPr/>
        </p:nvSpPr>
        <p:spPr>
          <a:xfrm>
            <a:off x="6550604" y="1934282"/>
            <a:ext cx="516595"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600" b="0" i="0" u="none" strike="noStrike" kern="1200" cap="none" spc="0" normalizeH="0" baseline="0" noProof="0" dirty="0">
                <a:ln>
                  <a:noFill/>
                </a:ln>
                <a:solidFill>
                  <a:srgbClr val="F8F8F8"/>
                </a:solidFill>
                <a:effectLst/>
                <a:uLnTx/>
                <a:uFillTx/>
                <a:cs typeface="+mn-ea"/>
                <a:sym typeface="+mn-lt"/>
              </a:rPr>
              <a:t>01</a:t>
            </a:r>
            <a:endParaRPr kumimoji="1" lang="zh-CN" altLang="en-US" sz="1600" b="0" i="0" u="none" strike="noStrike" kern="1200" cap="none" spc="0" normalizeH="0" baseline="0" noProof="0" dirty="0">
              <a:ln>
                <a:noFill/>
              </a:ln>
              <a:solidFill>
                <a:srgbClr val="F8F8F8"/>
              </a:solidFill>
              <a:effectLst/>
              <a:uLnTx/>
              <a:uFillTx/>
              <a:cs typeface="+mn-ea"/>
              <a:sym typeface="+mn-lt"/>
            </a:endParaRPr>
          </a:p>
        </p:txBody>
      </p:sp>
      <p:sp>
        <p:nvSpPr>
          <p:cNvPr id="22" name="6月更新24"/>
          <p:cNvSpPr txBox="1"/>
          <p:nvPr/>
        </p:nvSpPr>
        <p:spPr>
          <a:xfrm>
            <a:off x="5735321" y="2192890"/>
            <a:ext cx="516595"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600" b="0" i="0" u="none" strike="noStrike" kern="1200" cap="none" spc="0" normalizeH="0" baseline="0" noProof="0" dirty="0">
                <a:ln>
                  <a:noFill/>
                </a:ln>
                <a:solidFill>
                  <a:srgbClr val="F8F8F8"/>
                </a:solidFill>
                <a:effectLst/>
                <a:uLnTx/>
                <a:uFillTx/>
                <a:cs typeface="+mn-ea"/>
                <a:sym typeface="+mn-lt"/>
              </a:rPr>
              <a:t>02</a:t>
            </a:r>
            <a:endParaRPr kumimoji="1" lang="zh-CN" altLang="en-US" sz="1600" b="0" i="0" u="none" strike="noStrike" kern="1200" cap="none" spc="0" normalizeH="0" baseline="0" noProof="0" dirty="0">
              <a:ln>
                <a:noFill/>
              </a:ln>
              <a:solidFill>
                <a:srgbClr val="F8F8F8"/>
              </a:solidFill>
              <a:effectLst/>
              <a:uLnTx/>
              <a:uFillTx/>
              <a:cs typeface="+mn-ea"/>
              <a:sym typeface="+mn-lt"/>
            </a:endParaRPr>
          </a:p>
        </p:txBody>
      </p:sp>
      <p:sp>
        <p:nvSpPr>
          <p:cNvPr id="23" name="6月更新25"/>
          <p:cNvSpPr txBox="1"/>
          <p:nvPr/>
        </p:nvSpPr>
        <p:spPr>
          <a:xfrm>
            <a:off x="6133258" y="2806645"/>
            <a:ext cx="516595"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400" b="0" i="0" u="none" strike="noStrike" kern="1200" cap="none" spc="0" normalizeH="0" baseline="0" noProof="0" dirty="0">
                <a:ln>
                  <a:noFill/>
                </a:ln>
                <a:solidFill>
                  <a:srgbClr val="F8F8F8"/>
                </a:solidFill>
                <a:effectLst/>
                <a:uLnTx/>
                <a:uFillTx/>
                <a:cs typeface="+mn-ea"/>
                <a:sym typeface="+mn-lt"/>
              </a:rPr>
              <a:t>03</a:t>
            </a:r>
            <a:endParaRPr kumimoji="1" lang="zh-CN" altLang="en-US" sz="1400" b="0" i="0" u="none" strike="noStrike" kern="1200" cap="none" spc="0" normalizeH="0" baseline="0" noProof="0" dirty="0">
              <a:ln>
                <a:noFill/>
              </a:ln>
              <a:solidFill>
                <a:srgbClr val="F8F8F8"/>
              </a:solidFill>
              <a:effectLst/>
              <a:uLnTx/>
              <a:uFillTx/>
              <a:cs typeface="+mn-ea"/>
              <a:sym typeface="+mn-lt"/>
            </a:endParaRPr>
          </a:p>
        </p:txBody>
      </p:sp>
      <p:sp>
        <p:nvSpPr>
          <p:cNvPr id="25" name="6月更新26"/>
          <p:cNvSpPr txBox="1"/>
          <p:nvPr/>
        </p:nvSpPr>
        <p:spPr>
          <a:xfrm>
            <a:off x="6067172" y="3371756"/>
            <a:ext cx="516595"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200" b="0" i="0" u="none" strike="noStrike" kern="1200" cap="none" spc="0" normalizeH="0" baseline="0" noProof="0" dirty="0">
                <a:ln>
                  <a:noFill/>
                </a:ln>
                <a:solidFill>
                  <a:srgbClr val="F8F8F8"/>
                </a:solidFill>
                <a:effectLst/>
                <a:uLnTx/>
                <a:uFillTx/>
                <a:cs typeface="+mn-ea"/>
                <a:sym typeface="+mn-lt"/>
              </a:rPr>
              <a:t>04</a:t>
            </a:r>
            <a:endParaRPr kumimoji="1" lang="zh-CN" altLang="en-US" sz="1200" b="0" i="0" u="none" strike="noStrike" kern="1200" cap="none" spc="0" normalizeH="0" baseline="0" noProof="0" dirty="0">
              <a:ln>
                <a:noFill/>
              </a:ln>
              <a:solidFill>
                <a:srgbClr val="F8F8F8"/>
              </a:solidFill>
              <a:effectLst/>
              <a:uLnTx/>
              <a:uFillTx/>
              <a:cs typeface="+mn-ea"/>
              <a:sym typeface="+mn-lt"/>
            </a:endParaRPr>
          </a:p>
        </p:txBody>
      </p:sp>
      <p:sp>
        <p:nvSpPr>
          <p:cNvPr id="28" name="6月更新27"/>
          <p:cNvSpPr txBox="1"/>
          <p:nvPr/>
        </p:nvSpPr>
        <p:spPr>
          <a:xfrm>
            <a:off x="5270342" y="3075008"/>
            <a:ext cx="516595"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400" b="0" i="0" u="none" strike="noStrike" kern="1200" cap="none" spc="0" normalizeH="0" baseline="0" noProof="0" dirty="0">
                <a:ln>
                  <a:noFill/>
                </a:ln>
                <a:solidFill>
                  <a:srgbClr val="F8F8F8"/>
                </a:solidFill>
                <a:effectLst/>
                <a:uLnTx/>
                <a:uFillTx/>
                <a:cs typeface="+mn-ea"/>
                <a:sym typeface="+mn-lt"/>
              </a:rPr>
              <a:t>05</a:t>
            </a:r>
            <a:endParaRPr kumimoji="1" lang="zh-CN" altLang="en-US" sz="1400" b="0" i="0" u="none" strike="noStrike" kern="1200" cap="none" spc="0" normalizeH="0" baseline="0" noProof="0" dirty="0">
              <a:ln>
                <a:noFill/>
              </a:ln>
              <a:solidFill>
                <a:srgbClr val="F8F8F8"/>
              </a:solidFill>
              <a:effectLst/>
              <a:uLnTx/>
              <a:uFillTx/>
              <a:cs typeface="+mn-ea"/>
              <a:sym typeface="+mn-lt"/>
            </a:endParaRPr>
          </a:p>
        </p:txBody>
      </p:sp>
      <p:sp>
        <p:nvSpPr>
          <p:cNvPr id="32" name="6月更新28"/>
          <p:cNvSpPr txBox="1"/>
          <p:nvPr/>
        </p:nvSpPr>
        <p:spPr>
          <a:xfrm>
            <a:off x="4975584" y="3496521"/>
            <a:ext cx="367437"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200" b="0" i="0" u="none" strike="noStrike" kern="1200" cap="none" spc="0" normalizeH="0" baseline="0" noProof="0" dirty="0">
                <a:ln>
                  <a:noFill/>
                </a:ln>
                <a:solidFill>
                  <a:srgbClr val="F8F8F8"/>
                </a:solidFill>
                <a:effectLst/>
                <a:uLnTx/>
                <a:uFillTx/>
                <a:cs typeface="+mn-ea"/>
                <a:sym typeface="+mn-lt"/>
              </a:rPr>
              <a:t>06</a:t>
            </a:r>
            <a:endParaRPr kumimoji="1" lang="zh-CN" altLang="en-US" sz="1200" b="0" i="0" u="none" strike="noStrike" kern="1200" cap="none" spc="0" normalizeH="0" baseline="0" noProof="0" dirty="0">
              <a:ln>
                <a:noFill/>
              </a:ln>
              <a:solidFill>
                <a:srgbClr val="F8F8F8"/>
              </a:solidFill>
              <a:effectLst/>
              <a:uLnTx/>
              <a:uFillTx/>
              <a:cs typeface="+mn-ea"/>
              <a:sym typeface="+mn-lt"/>
            </a:endParaRPr>
          </a:p>
        </p:txBody>
      </p:sp>
      <p:sp>
        <p:nvSpPr>
          <p:cNvPr id="33" name="6月更新29"/>
          <p:cNvSpPr txBox="1"/>
          <p:nvPr/>
        </p:nvSpPr>
        <p:spPr>
          <a:xfrm>
            <a:off x="5265179" y="4049983"/>
            <a:ext cx="350153"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100" b="0" i="0" u="none" strike="noStrike" kern="1200" cap="none" spc="0" normalizeH="0" baseline="0" noProof="0" dirty="0">
                <a:ln>
                  <a:noFill/>
                </a:ln>
                <a:solidFill>
                  <a:srgbClr val="F8F8F8"/>
                </a:solidFill>
                <a:effectLst/>
                <a:uLnTx/>
                <a:uFillTx/>
                <a:cs typeface="+mn-ea"/>
                <a:sym typeface="+mn-lt"/>
              </a:rPr>
              <a:t>07</a:t>
            </a:r>
            <a:endParaRPr kumimoji="1" lang="zh-CN" altLang="en-US" sz="1100" b="0" i="0" u="none" strike="noStrike" kern="1200" cap="none" spc="0" normalizeH="0" baseline="0" noProof="0" dirty="0">
              <a:ln>
                <a:noFill/>
              </a:ln>
              <a:solidFill>
                <a:srgbClr val="F8F8F8"/>
              </a:solidFill>
              <a:effectLst/>
              <a:uLnTx/>
              <a:uFillTx/>
              <a:cs typeface="+mn-ea"/>
              <a:sym typeface="+mn-lt"/>
            </a:endParaRPr>
          </a:p>
        </p:txBody>
      </p:sp>
      <p:sp>
        <p:nvSpPr>
          <p:cNvPr id="35" name="6月更新30"/>
          <p:cNvSpPr txBox="1"/>
          <p:nvPr/>
        </p:nvSpPr>
        <p:spPr>
          <a:xfrm>
            <a:off x="6136938" y="4711571"/>
            <a:ext cx="350153"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100" b="0" i="0" u="none" strike="noStrike" kern="1200" cap="none" spc="0" normalizeH="0" baseline="0" noProof="0" dirty="0">
                <a:ln>
                  <a:noFill/>
                </a:ln>
                <a:solidFill>
                  <a:srgbClr val="F8F8F8"/>
                </a:solidFill>
                <a:effectLst/>
                <a:uLnTx/>
                <a:uFillTx/>
                <a:cs typeface="+mn-ea"/>
                <a:sym typeface="+mn-lt"/>
              </a:rPr>
              <a:t>08</a:t>
            </a:r>
            <a:endParaRPr kumimoji="1" lang="zh-CN" altLang="en-US" sz="1100" b="0" i="0" u="none" strike="noStrike" kern="1200" cap="none" spc="0" normalizeH="0" baseline="0" noProof="0" dirty="0">
              <a:ln>
                <a:noFill/>
              </a:ln>
              <a:solidFill>
                <a:srgbClr val="F8F8F8"/>
              </a:solidFill>
              <a:effectLst/>
              <a:uLnTx/>
              <a:uFillTx/>
              <a:cs typeface="+mn-ea"/>
              <a:sym typeface="+mn-lt"/>
            </a:endParaRPr>
          </a:p>
        </p:txBody>
      </p:sp>
      <p:sp>
        <p:nvSpPr>
          <p:cNvPr id="36" name="6月更新31"/>
          <p:cNvSpPr txBox="1"/>
          <p:nvPr/>
        </p:nvSpPr>
        <p:spPr>
          <a:xfrm>
            <a:off x="4467582" y="4446243"/>
            <a:ext cx="524687"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400" b="0" i="0" u="none" strike="noStrike" kern="1200" cap="none" spc="0" normalizeH="0" baseline="0" noProof="0" dirty="0">
                <a:ln>
                  <a:noFill/>
                </a:ln>
                <a:solidFill>
                  <a:srgbClr val="F8F8F8"/>
                </a:solidFill>
                <a:effectLst/>
                <a:uLnTx/>
                <a:uFillTx/>
                <a:cs typeface="+mn-ea"/>
                <a:sym typeface="+mn-lt"/>
              </a:rPr>
              <a:t>11</a:t>
            </a:r>
            <a:endParaRPr kumimoji="1" lang="zh-CN" altLang="en-US" sz="1400" b="0" i="0" u="none" strike="noStrike" kern="1200" cap="none" spc="0" normalizeH="0" baseline="0" noProof="0" dirty="0">
              <a:ln>
                <a:noFill/>
              </a:ln>
              <a:solidFill>
                <a:srgbClr val="F8F8F8"/>
              </a:solidFill>
              <a:effectLst/>
              <a:uLnTx/>
              <a:uFillTx/>
              <a:cs typeface="+mn-ea"/>
              <a:sym typeface="+mn-lt"/>
            </a:endParaRPr>
          </a:p>
        </p:txBody>
      </p:sp>
      <p:sp>
        <p:nvSpPr>
          <p:cNvPr id="37" name="6月更新32"/>
          <p:cNvSpPr txBox="1"/>
          <p:nvPr/>
        </p:nvSpPr>
        <p:spPr>
          <a:xfrm>
            <a:off x="3937298" y="3289679"/>
            <a:ext cx="350153"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100" b="0" i="0" u="none" strike="noStrike" kern="1200" cap="none" spc="0" normalizeH="0" baseline="0" noProof="0" dirty="0">
                <a:ln>
                  <a:noFill/>
                </a:ln>
                <a:solidFill>
                  <a:srgbClr val="F8F8F8"/>
                </a:solidFill>
                <a:effectLst/>
                <a:uLnTx/>
                <a:uFillTx/>
                <a:cs typeface="+mn-ea"/>
                <a:sym typeface="+mn-lt"/>
              </a:rPr>
              <a:t>09</a:t>
            </a:r>
            <a:endParaRPr kumimoji="1" lang="zh-CN" altLang="en-US" sz="1100" b="0" i="0" u="none" strike="noStrike" kern="1200" cap="none" spc="0" normalizeH="0" baseline="0" noProof="0" dirty="0">
              <a:ln>
                <a:noFill/>
              </a:ln>
              <a:solidFill>
                <a:srgbClr val="F8F8F8"/>
              </a:solidFill>
              <a:effectLst/>
              <a:uLnTx/>
              <a:uFillTx/>
              <a:cs typeface="+mn-ea"/>
              <a:sym typeface="+mn-lt"/>
            </a:endParaRPr>
          </a:p>
        </p:txBody>
      </p:sp>
      <p:sp>
        <p:nvSpPr>
          <p:cNvPr id="38" name="6月更新33"/>
          <p:cNvSpPr txBox="1"/>
          <p:nvPr/>
        </p:nvSpPr>
        <p:spPr>
          <a:xfrm>
            <a:off x="3988098" y="3961763"/>
            <a:ext cx="350153"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100" b="0" i="0" u="none" strike="noStrike" kern="1200" cap="none" spc="0" normalizeH="0" baseline="0" noProof="0" dirty="0">
                <a:ln>
                  <a:noFill/>
                </a:ln>
                <a:solidFill>
                  <a:srgbClr val="F8F8F8"/>
                </a:solidFill>
                <a:effectLst/>
                <a:uLnTx/>
                <a:uFillTx/>
                <a:cs typeface="+mn-ea"/>
                <a:sym typeface="+mn-lt"/>
              </a:rPr>
              <a:t>10</a:t>
            </a:r>
            <a:endParaRPr kumimoji="1" lang="zh-CN" altLang="en-US" sz="1100" b="0" i="0" u="none" strike="noStrike" kern="1200" cap="none" spc="0" normalizeH="0" baseline="0" noProof="0" dirty="0">
              <a:ln>
                <a:noFill/>
              </a:ln>
              <a:solidFill>
                <a:srgbClr val="F8F8F8"/>
              </a:solidFill>
              <a:effectLst/>
              <a:uLnTx/>
              <a:uFillTx/>
              <a:cs typeface="+mn-ea"/>
              <a:sym typeface="+mn-lt"/>
            </a:endParaRPr>
          </a:p>
        </p:txBody>
      </p:sp>
      <p:sp>
        <p:nvSpPr>
          <p:cNvPr id="39" name="6月更新34"/>
          <p:cNvSpPr txBox="1"/>
          <p:nvPr/>
        </p:nvSpPr>
        <p:spPr>
          <a:xfrm>
            <a:off x="4856778" y="5022467"/>
            <a:ext cx="350153"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100" b="0" i="0" u="none" strike="noStrike" kern="1200" cap="none" spc="0" normalizeH="0" baseline="0" noProof="0" dirty="0">
                <a:ln>
                  <a:noFill/>
                </a:ln>
                <a:solidFill>
                  <a:srgbClr val="F8F8F8"/>
                </a:solidFill>
                <a:effectLst/>
                <a:uLnTx/>
                <a:uFillTx/>
                <a:cs typeface="+mn-ea"/>
                <a:sym typeface="+mn-lt"/>
              </a:rPr>
              <a:t>12</a:t>
            </a:r>
            <a:endParaRPr kumimoji="1" lang="zh-CN" altLang="en-US" sz="1100" b="0" i="0" u="none" strike="noStrike" kern="1200" cap="none" spc="0" normalizeH="0" baseline="0" noProof="0" dirty="0">
              <a:ln>
                <a:noFill/>
              </a:ln>
              <a:solidFill>
                <a:srgbClr val="F8F8F8"/>
              </a:solidFill>
              <a:effectLst/>
              <a:uLnTx/>
              <a:uFillTx/>
              <a:cs typeface="+mn-ea"/>
              <a:sym typeface="+mn-lt"/>
            </a:endParaRPr>
          </a:p>
        </p:txBody>
      </p:sp>
      <p:sp>
        <p:nvSpPr>
          <p:cNvPr id="40" name="6月更新35"/>
          <p:cNvSpPr txBox="1"/>
          <p:nvPr/>
        </p:nvSpPr>
        <p:spPr>
          <a:xfrm>
            <a:off x="150892" y="3019368"/>
            <a:ext cx="379493"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600" b="0" i="0" u="none" strike="noStrike" kern="1200" cap="none" spc="0" normalizeH="0" baseline="0" noProof="0" dirty="0">
                <a:ln>
                  <a:noFill/>
                </a:ln>
                <a:solidFill>
                  <a:srgbClr val="000000"/>
                </a:solidFill>
                <a:effectLst/>
                <a:uLnTx/>
                <a:uFillTx/>
                <a:cs typeface="+mn-ea"/>
                <a:sym typeface="+mn-lt"/>
              </a:rPr>
              <a:t>环境影响重要性</a:t>
            </a:r>
          </a:p>
        </p:txBody>
      </p:sp>
      <p:sp>
        <p:nvSpPr>
          <p:cNvPr id="41" name="6月更新36"/>
          <p:cNvSpPr txBox="1"/>
          <p:nvPr/>
        </p:nvSpPr>
        <p:spPr>
          <a:xfrm>
            <a:off x="3452741" y="6220691"/>
            <a:ext cx="2700150"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600" b="0" i="0" u="none" strike="noStrike" kern="1200" cap="none" spc="0" normalizeH="0" baseline="0" noProof="0" dirty="0">
                <a:ln>
                  <a:noFill/>
                </a:ln>
                <a:solidFill>
                  <a:srgbClr val="000000"/>
                </a:solidFill>
                <a:effectLst/>
                <a:uLnTx/>
                <a:uFillTx/>
                <a:cs typeface="+mn-ea"/>
                <a:sym typeface="+mn-lt"/>
              </a:rPr>
              <a:t>经济影响重要性</a:t>
            </a:r>
          </a:p>
        </p:txBody>
      </p:sp>
      <p:sp>
        <p:nvSpPr>
          <p:cNvPr id="42" name="6月更新37"/>
          <p:cNvSpPr txBox="1"/>
          <p:nvPr/>
        </p:nvSpPr>
        <p:spPr>
          <a:xfrm>
            <a:off x="2344252" y="3649886"/>
            <a:ext cx="52468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600" b="0" i="0" u="none" strike="noStrike" kern="1200" cap="none" spc="0" normalizeH="0" baseline="0" noProof="0" dirty="0">
                <a:ln>
                  <a:noFill/>
                </a:ln>
                <a:solidFill>
                  <a:srgbClr val="F8F8F8"/>
                </a:solidFill>
                <a:effectLst/>
                <a:uLnTx/>
                <a:uFillTx/>
                <a:cs typeface="+mn-ea"/>
                <a:sym typeface="+mn-lt"/>
              </a:rPr>
              <a:t>13</a:t>
            </a:r>
            <a:endParaRPr kumimoji="1" lang="zh-CN" altLang="en-US" sz="1600" b="0" i="0" u="none" strike="noStrike" kern="1200" cap="none" spc="0" normalizeH="0" baseline="0" noProof="0" dirty="0">
              <a:ln>
                <a:noFill/>
              </a:ln>
              <a:solidFill>
                <a:srgbClr val="F8F8F8"/>
              </a:solidFill>
              <a:effectLst/>
              <a:uLnTx/>
              <a:uFillTx/>
              <a:cs typeface="+mn-ea"/>
              <a:sym typeface="+mn-lt"/>
            </a:endParaRPr>
          </a:p>
        </p:txBody>
      </p:sp>
      <p:sp>
        <p:nvSpPr>
          <p:cNvPr id="43" name="6月更新38"/>
          <p:cNvSpPr txBox="1"/>
          <p:nvPr/>
        </p:nvSpPr>
        <p:spPr>
          <a:xfrm>
            <a:off x="2993287" y="4092568"/>
            <a:ext cx="524687"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400" b="0" i="0" u="none" strike="noStrike" kern="1200" cap="none" spc="0" normalizeH="0" baseline="0" noProof="0" dirty="0">
                <a:ln>
                  <a:noFill/>
                </a:ln>
                <a:solidFill>
                  <a:srgbClr val="F8F8F8"/>
                </a:solidFill>
                <a:effectLst/>
                <a:uLnTx/>
                <a:uFillTx/>
                <a:cs typeface="+mn-ea"/>
                <a:sym typeface="+mn-lt"/>
              </a:rPr>
              <a:t>14</a:t>
            </a:r>
            <a:endParaRPr kumimoji="1" lang="zh-CN" altLang="en-US" sz="1400" b="0" i="0" u="none" strike="noStrike" kern="1200" cap="none" spc="0" normalizeH="0" baseline="0" noProof="0" dirty="0">
              <a:ln>
                <a:noFill/>
              </a:ln>
              <a:solidFill>
                <a:srgbClr val="F8F8F8"/>
              </a:solidFill>
              <a:effectLst/>
              <a:uLnTx/>
              <a:uFillTx/>
              <a:cs typeface="+mn-ea"/>
              <a:sym typeface="+mn-lt"/>
            </a:endParaRPr>
          </a:p>
        </p:txBody>
      </p:sp>
      <p:sp>
        <p:nvSpPr>
          <p:cNvPr id="44" name="6月更新39"/>
          <p:cNvSpPr txBox="1"/>
          <p:nvPr/>
        </p:nvSpPr>
        <p:spPr>
          <a:xfrm>
            <a:off x="3056715" y="4608623"/>
            <a:ext cx="524687"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400" b="0" i="0" u="none" strike="noStrike" kern="1200" cap="none" spc="0" normalizeH="0" baseline="0" noProof="0" dirty="0">
                <a:ln>
                  <a:noFill/>
                </a:ln>
                <a:solidFill>
                  <a:srgbClr val="F8F8F8"/>
                </a:solidFill>
                <a:effectLst/>
                <a:uLnTx/>
                <a:uFillTx/>
                <a:cs typeface="+mn-ea"/>
                <a:sym typeface="+mn-lt"/>
              </a:rPr>
              <a:t>15</a:t>
            </a:r>
            <a:endParaRPr kumimoji="1" lang="zh-CN" altLang="en-US" sz="1400" b="0" i="0" u="none" strike="noStrike" kern="1200" cap="none" spc="0" normalizeH="0" baseline="0" noProof="0" dirty="0">
              <a:ln>
                <a:noFill/>
              </a:ln>
              <a:solidFill>
                <a:srgbClr val="F8F8F8"/>
              </a:solidFill>
              <a:effectLst/>
              <a:uLnTx/>
              <a:uFillTx/>
              <a:cs typeface="+mn-ea"/>
              <a:sym typeface="+mn-lt"/>
            </a:endParaRPr>
          </a:p>
        </p:txBody>
      </p:sp>
      <p:sp>
        <p:nvSpPr>
          <p:cNvPr id="45" name="6月更新40"/>
          <p:cNvSpPr txBox="1"/>
          <p:nvPr/>
        </p:nvSpPr>
        <p:spPr>
          <a:xfrm>
            <a:off x="1665237" y="5036006"/>
            <a:ext cx="524687"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100" b="0" i="0" u="none" strike="noStrike" kern="1200" cap="none" spc="0" normalizeH="0" baseline="0" noProof="0" dirty="0">
                <a:ln>
                  <a:noFill/>
                </a:ln>
                <a:solidFill>
                  <a:srgbClr val="F8F8F8"/>
                </a:solidFill>
                <a:effectLst/>
                <a:uLnTx/>
                <a:uFillTx/>
                <a:cs typeface="+mn-ea"/>
                <a:sym typeface="+mn-lt"/>
              </a:rPr>
              <a:t>16</a:t>
            </a:r>
            <a:endParaRPr kumimoji="1" lang="zh-CN" altLang="en-US" sz="1100" b="0" i="0" u="none" strike="noStrike" kern="1200" cap="none" spc="0" normalizeH="0" baseline="0" noProof="0" dirty="0">
              <a:ln>
                <a:noFill/>
              </a:ln>
              <a:solidFill>
                <a:srgbClr val="F8F8F8"/>
              </a:solidFill>
              <a:effectLst/>
              <a:uLnTx/>
              <a:uFillTx/>
              <a:cs typeface="+mn-ea"/>
              <a:sym typeface="+mn-lt"/>
            </a:endParaRPr>
          </a:p>
        </p:txBody>
      </p:sp>
      <p:sp>
        <p:nvSpPr>
          <p:cNvPr id="47" name="6月更新41"/>
          <p:cNvSpPr txBox="1"/>
          <p:nvPr/>
        </p:nvSpPr>
        <p:spPr>
          <a:xfrm>
            <a:off x="1188158" y="5592598"/>
            <a:ext cx="524687"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100" b="0" i="0" u="none" strike="noStrike" kern="1200" cap="none" spc="0" normalizeH="0" baseline="0" noProof="0" dirty="0">
                <a:ln>
                  <a:noFill/>
                </a:ln>
                <a:solidFill>
                  <a:srgbClr val="F8F8F8"/>
                </a:solidFill>
                <a:effectLst/>
                <a:uLnTx/>
                <a:uFillTx/>
                <a:cs typeface="+mn-ea"/>
                <a:sym typeface="+mn-lt"/>
              </a:rPr>
              <a:t>17</a:t>
            </a:r>
            <a:endParaRPr kumimoji="1" lang="zh-CN" altLang="en-US" sz="1100" b="0" i="0" u="none" strike="noStrike" kern="1200" cap="none" spc="0" normalizeH="0" baseline="0" noProof="0" dirty="0">
              <a:ln>
                <a:noFill/>
              </a:ln>
              <a:solidFill>
                <a:srgbClr val="F8F8F8"/>
              </a:solidFill>
              <a:effectLst/>
              <a:uLnTx/>
              <a:uFillTx/>
              <a:cs typeface="+mn-ea"/>
              <a:sym typeface="+mn-lt"/>
            </a:endParaRPr>
          </a:p>
        </p:txBody>
      </p:sp>
      <p:sp>
        <p:nvSpPr>
          <p:cNvPr id="48" name="6月更新42"/>
          <p:cNvSpPr txBox="1"/>
          <p:nvPr/>
        </p:nvSpPr>
        <p:spPr>
          <a:xfrm>
            <a:off x="6968414" y="1986007"/>
            <a:ext cx="1077328"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rgbClr val="000000"/>
                </a:solidFill>
                <a:effectLst/>
                <a:uLnTx/>
                <a:uFillTx/>
                <a:cs typeface="+mn-ea"/>
                <a:sym typeface="+mn-lt"/>
              </a:rPr>
              <a:t>输入指标项</a:t>
            </a:r>
          </a:p>
        </p:txBody>
      </p:sp>
      <p:sp>
        <p:nvSpPr>
          <p:cNvPr id="49" name="6月更新43"/>
          <p:cNvSpPr txBox="1"/>
          <p:nvPr/>
        </p:nvSpPr>
        <p:spPr>
          <a:xfrm>
            <a:off x="6125665" y="2320613"/>
            <a:ext cx="1077328"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rgbClr val="000000"/>
                </a:solidFill>
                <a:effectLst/>
                <a:uLnTx/>
                <a:uFillTx/>
                <a:cs typeface="+mn-ea"/>
                <a:sym typeface="+mn-lt"/>
              </a:rPr>
              <a:t>输入指标项</a:t>
            </a:r>
          </a:p>
        </p:txBody>
      </p:sp>
      <p:sp>
        <p:nvSpPr>
          <p:cNvPr id="50" name="6月更新44"/>
          <p:cNvSpPr txBox="1"/>
          <p:nvPr/>
        </p:nvSpPr>
        <p:spPr>
          <a:xfrm>
            <a:off x="6519163" y="2848509"/>
            <a:ext cx="1077328"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rgbClr val="000000"/>
                </a:solidFill>
                <a:effectLst/>
                <a:uLnTx/>
                <a:uFillTx/>
                <a:cs typeface="+mn-ea"/>
                <a:sym typeface="+mn-lt"/>
              </a:rPr>
              <a:t>输入指标项</a:t>
            </a:r>
          </a:p>
        </p:txBody>
      </p:sp>
      <p:sp>
        <p:nvSpPr>
          <p:cNvPr id="51" name="6月更新45"/>
          <p:cNvSpPr txBox="1"/>
          <p:nvPr/>
        </p:nvSpPr>
        <p:spPr>
          <a:xfrm>
            <a:off x="6418503" y="3379808"/>
            <a:ext cx="1077328"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rgbClr val="000000"/>
                </a:solidFill>
                <a:effectLst/>
                <a:uLnTx/>
                <a:uFillTx/>
                <a:cs typeface="+mn-ea"/>
                <a:sym typeface="+mn-lt"/>
              </a:rPr>
              <a:t>输入指标项</a:t>
            </a:r>
          </a:p>
        </p:txBody>
      </p:sp>
      <p:sp>
        <p:nvSpPr>
          <p:cNvPr id="52" name="6月更新46"/>
          <p:cNvSpPr txBox="1"/>
          <p:nvPr/>
        </p:nvSpPr>
        <p:spPr>
          <a:xfrm>
            <a:off x="4460492" y="2971620"/>
            <a:ext cx="1077328"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rgbClr val="000000"/>
                </a:solidFill>
                <a:effectLst/>
                <a:uLnTx/>
                <a:uFillTx/>
                <a:cs typeface="+mn-ea"/>
                <a:sym typeface="+mn-lt"/>
              </a:rPr>
              <a:t>输入指标项</a:t>
            </a:r>
          </a:p>
        </p:txBody>
      </p:sp>
      <p:sp>
        <p:nvSpPr>
          <p:cNvPr id="54" name="6月更新47"/>
          <p:cNvSpPr txBox="1"/>
          <p:nvPr/>
        </p:nvSpPr>
        <p:spPr>
          <a:xfrm>
            <a:off x="3156196" y="3269844"/>
            <a:ext cx="1077328"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rgbClr val="000000"/>
                </a:solidFill>
                <a:effectLst/>
                <a:uLnTx/>
                <a:uFillTx/>
                <a:cs typeface="+mn-ea"/>
                <a:sym typeface="+mn-lt"/>
              </a:rPr>
              <a:t>输入指标项</a:t>
            </a:r>
          </a:p>
        </p:txBody>
      </p:sp>
      <p:sp>
        <p:nvSpPr>
          <p:cNvPr id="55" name="6月更新48"/>
          <p:cNvSpPr txBox="1"/>
          <p:nvPr/>
        </p:nvSpPr>
        <p:spPr>
          <a:xfrm>
            <a:off x="5619184" y="4092568"/>
            <a:ext cx="1077328" cy="21544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800" b="0" i="0" u="none" strike="noStrike" kern="1200" cap="none" spc="0" normalizeH="0" baseline="0" noProof="0" dirty="0">
                <a:ln>
                  <a:noFill/>
                </a:ln>
                <a:solidFill>
                  <a:srgbClr val="000000"/>
                </a:solidFill>
                <a:effectLst/>
                <a:uLnTx/>
                <a:uFillTx/>
                <a:cs typeface="+mn-ea"/>
                <a:sym typeface="+mn-lt"/>
              </a:rPr>
              <a:t>输入指标项</a:t>
            </a:r>
          </a:p>
        </p:txBody>
      </p:sp>
      <p:sp>
        <p:nvSpPr>
          <p:cNvPr id="56" name="6月更新49"/>
          <p:cNvSpPr txBox="1"/>
          <p:nvPr/>
        </p:nvSpPr>
        <p:spPr>
          <a:xfrm>
            <a:off x="5339285" y="3588563"/>
            <a:ext cx="1077328"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rgbClr val="000000"/>
                </a:solidFill>
                <a:effectLst/>
                <a:uLnTx/>
                <a:uFillTx/>
                <a:cs typeface="+mn-ea"/>
                <a:sym typeface="+mn-lt"/>
              </a:rPr>
              <a:t>输入指标项</a:t>
            </a:r>
          </a:p>
        </p:txBody>
      </p:sp>
      <p:sp>
        <p:nvSpPr>
          <p:cNvPr id="57" name="6月更新50"/>
          <p:cNvSpPr txBox="1"/>
          <p:nvPr/>
        </p:nvSpPr>
        <p:spPr>
          <a:xfrm>
            <a:off x="4254836" y="3984846"/>
            <a:ext cx="1077328" cy="21544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800" b="0" i="0" u="none" strike="noStrike" kern="1200" cap="none" spc="0" normalizeH="0" baseline="0" noProof="0" dirty="0">
                <a:ln>
                  <a:noFill/>
                </a:ln>
                <a:solidFill>
                  <a:srgbClr val="000000"/>
                </a:solidFill>
                <a:effectLst/>
                <a:uLnTx/>
                <a:uFillTx/>
                <a:cs typeface="+mn-ea"/>
                <a:sym typeface="+mn-lt"/>
              </a:rPr>
              <a:t>输入指标项</a:t>
            </a:r>
          </a:p>
        </p:txBody>
      </p:sp>
      <p:sp>
        <p:nvSpPr>
          <p:cNvPr id="58" name="6月更新51"/>
          <p:cNvSpPr txBox="1"/>
          <p:nvPr/>
        </p:nvSpPr>
        <p:spPr>
          <a:xfrm>
            <a:off x="2884976" y="3734793"/>
            <a:ext cx="1077328"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rgbClr val="000000"/>
                </a:solidFill>
                <a:effectLst/>
                <a:uLnTx/>
                <a:uFillTx/>
                <a:cs typeface="+mn-ea"/>
                <a:sym typeface="+mn-lt"/>
              </a:rPr>
              <a:t>输入指标项</a:t>
            </a:r>
          </a:p>
        </p:txBody>
      </p:sp>
      <p:sp>
        <p:nvSpPr>
          <p:cNvPr id="59" name="6月更新52"/>
          <p:cNvSpPr txBox="1"/>
          <p:nvPr/>
        </p:nvSpPr>
        <p:spPr>
          <a:xfrm>
            <a:off x="2149899" y="4091692"/>
            <a:ext cx="1077328"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rgbClr val="000000"/>
                </a:solidFill>
                <a:effectLst/>
                <a:uLnTx/>
                <a:uFillTx/>
                <a:cs typeface="+mn-ea"/>
                <a:sym typeface="+mn-lt"/>
              </a:rPr>
              <a:t>输入指标项</a:t>
            </a:r>
          </a:p>
        </p:txBody>
      </p:sp>
      <p:sp>
        <p:nvSpPr>
          <p:cNvPr id="60" name="6月更新53"/>
          <p:cNvSpPr txBox="1"/>
          <p:nvPr/>
        </p:nvSpPr>
        <p:spPr>
          <a:xfrm>
            <a:off x="3365424" y="4749933"/>
            <a:ext cx="1077328"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rgbClr val="000000"/>
                </a:solidFill>
                <a:effectLst/>
                <a:uLnTx/>
                <a:uFillTx/>
                <a:cs typeface="+mn-ea"/>
                <a:sym typeface="+mn-lt"/>
              </a:rPr>
              <a:t>输入指标项</a:t>
            </a:r>
          </a:p>
        </p:txBody>
      </p:sp>
      <p:sp>
        <p:nvSpPr>
          <p:cNvPr id="61" name="6月更新54"/>
          <p:cNvSpPr txBox="1"/>
          <p:nvPr/>
        </p:nvSpPr>
        <p:spPr>
          <a:xfrm>
            <a:off x="4853261" y="4571702"/>
            <a:ext cx="1077328"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rgbClr val="000000"/>
                </a:solidFill>
                <a:effectLst/>
                <a:uLnTx/>
                <a:uFillTx/>
                <a:cs typeface="+mn-ea"/>
                <a:sym typeface="+mn-lt"/>
              </a:rPr>
              <a:t>输入指标项</a:t>
            </a:r>
          </a:p>
        </p:txBody>
      </p:sp>
      <p:sp>
        <p:nvSpPr>
          <p:cNvPr id="62" name="6月更新55"/>
          <p:cNvSpPr txBox="1"/>
          <p:nvPr/>
        </p:nvSpPr>
        <p:spPr>
          <a:xfrm>
            <a:off x="6395342" y="4749932"/>
            <a:ext cx="1077328" cy="2308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900" b="0" i="0" u="none" strike="noStrike" kern="1200" cap="none" spc="0" normalizeH="0" baseline="0" noProof="0" dirty="0">
                <a:ln>
                  <a:noFill/>
                </a:ln>
                <a:solidFill>
                  <a:srgbClr val="000000"/>
                </a:solidFill>
                <a:effectLst/>
                <a:uLnTx/>
                <a:uFillTx/>
                <a:cs typeface="+mn-ea"/>
                <a:sym typeface="+mn-lt"/>
              </a:rPr>
              <a:t>输入指标项</a:t>
            </a:r>
          </a:p>
        </p:txBody>
      </p:sp>
      <p:sp>
        <p:nvSpPr>
          <p:cNvPr id="63" name="6月更新56"/>
          <p:cNvSpPr txBox="1"/>
          <p:nvPr/>
        </p:nvSpPr>
        <p:spPr>
          <a:xfrm>
            <a:off x="5225220" y="5067647"/>
            <a:ext cx="1077328" cy="2308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900" b="0" i="0" u="none" strike="noStrike" kern="1200" cap="none" spc="0" normalizeH="0" baseline="0" noProof="0" dirty="0">
                <a:ln>
                  <a:noFill/>
                </a:ln>
                <a:solidFill>
                  <a:srgbClr val="000000"/>
                </a:solidFill>
                <a:effectLst/>
                <a:uLnTx/>
                <a:uFillTx/>
                <a:cs typeface="+mn-ea"/>
                <a:sym typeface="+mn-lt"/>
              </a:rPr>
              <a:t>输入指标项</a:t>
            </a:r>
          </a:p>
        </p:txBody>
      </p:sp>
      <p:sp>
        <p:nvSpPr>
          <p:cNvPr id="64" name="6月更新57"/>
          <p:cNvSpPr txBox="1"/>
          <p:nvPr/>
        </p:nvSpPr>
        <p:spPr>
          <a:xfrm>
            <a:off x="1980215" y="5056496"/>
            <a:ext cx="1077328" cy="2308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900" b="0" i="0" u="none" strike="noStrike" kern="1200" cap="none" spc="0" normalizeH="0" baseline="0" noProof="0" dirty="0">
                <a:ln>
                  <a:noFill/>
                </a:ln>
                <a:solidFill>
                  <a:srgbClr val="000000"/>
                </a:solidFill>
                <a:effectLst/>
                <a:uLnTx/>
                <a:uFillTx/>
                <a:cs typeface="+mn-ea"/>
                <a:sym typeface="+mn-lt"/>
              </a:rPr>
              <a:t>输入指标项</a:t>
            </a:r>
          </a:p>
        </p:txBody>
      </p:sp>
      <p:sp>
        <p:nvSpPr>
          <p:cNvPr id="65" name="6月更新58"/>
          <p:cNvSpPr txBox="1"/>
          <p:nvPr/>
        </p:nvSpPr>
        <p:spPr>
          <a:xfrm>
            <a:off x="1456108" y="5602906"/>
            <a:ext cx="1077328" cy="2308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900" b="0" i="0" u="none" strike="noStrike" kern="1200" cap="none" spc="0" normalizeH="0" baseline="0" noProof="0" dirty="0">
                <a:ln>
                  <a:noFill/>
                </a:ln>
                <a:solidFill>
                  <a:srgbClr val="000000"/>
                </a:solidFill>
                <a:effectLst/>
                <a:uLnTx/>
                <a:uFillTx/>
                <a:cs typeface="+mn-ea"/>
                <a:sym typeface="+mn-lt"/>
              </a:rPr>
              <a:t>输入指标项</a:t>
            </a:r>
          </a:p>
        </p:txBody>
      </p:sp>
      <p:sp>
        <p:nvSpPr>
          <p:cNvPr id="66" name="6月更新59"/>
          <p:cNvSpPr txBox="1"/>
          <p:nvPr/>
        </p:nvSpPr>
        <p:spPr>
          <a:xfrm>
            <a:off x="2273393" y="1119690"/>
            <a:ext cx="4485833"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srgbClr val="4480FB"/>
                </a:solidFill>
                <a:effectLst/>
                <a:uLnTx/>
                <a:uFillTx/>
                <a:cs typeface="+mn-ea"/>
                <a:sym typeface="+mn-lt"/>
              </a:rPr>
              <a:t>2024</a:t>
            </a:r>
            <a:r>
              <a:rPr kumimoji="1" lang="zh-CN" altLang="en-US" sz="1800" b="0" i="0" u="none" strike="noStrike" kern="1200" cap="none" spc="0" normalizeH="0" baseline="0" noProof="0" dirty="0">
                <a:ln>
                  <a:noFill/>
                </a:ln>
                <a:solidFill>
                  <a:srgbClr val="4480FB"/>
                </a:solidFill>
                <a:effectLst/>
                <a:uLnTx/>
                <a:uFillTx/>
                <a:cs typeface="+mn-ea"/>
                <a:sym typeface="+mn-lt"/>
              </a:rPr>
              <a:t>年</a:t>
            </a:r>
            <a:r>
              <a:rPr kumimoji="1" lang="en-US" altLang="zh-CN" sz="1800" b="0" i="0" u="none" strike="noStrike" kern="1200" cap="none" spc="0" normalizeH="0" baseline="0" noProof="0" dirty="0">
                <a:ln>
                  <a:noFill/>
                </a:ln>
                <a:solidFill>
                  <a:srgbClr val="4480FB"/>
                </a:solidFill>
                <a:effectLst/>
                <a:uLnTx/>
                <a:uFillTx/>
                <a:cs typeface="+mn-ea"/>
                <a:sym typeface="+mn-lt"/>
              </a:rPr>
              <a:t>xxx</a:t>
            </a:r>
            <a:r>
              <a:rPr kumimoji="1" lang="zh-CN" altLang="en-US" sz="1800" b="0" i="0" u="none" strike="noStrike" kern="1200" cap="none" spc="0" normalizeH="0" baseline="0" noProof="0" dirty="0">
                <a:ln>
                  <a:noFill/>
                </a:ln>
                <a:solidFill>
                  <a:srgbClr val="4480FB"/>
                </a:solidFill>
                <a:effectLst/>
                <a:uLnTx/>
                <a:uFillTx/>
                <a:cs typeface="+mn-ea"/>
                <a:sym typeface="+mn-lt"/>
              </a:rPr>
              <a:t>平台各项业务指标重要性评估</a:t>
            </a:r>
          </a:p>
        </p:txBody>
      </p:sp>
      <p:sp>
        <p:nvSpPr>
          <p:cNvPr id="67" name="6月更新60"/>
          <p:cNvSpPr/>
          <p:nvPr/>
        </p:nvSpPr>
        <p:spPr>
          <a:xfrm>
            <a:off x="8457459" y="1611138"/>
            <a:ext cx="3489158" cy="4560763"/>
          </a:xfrm>
          <a:prstGeom prst="rect">
            <a:avLst/>
          </a:prstGeom>
          <a:solidFill>
            <a:schemeClr val="accent2">
              <a:alpha val="2071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68" name="6月更新61"/>
          <p:cNvSpPr txBox="1"/>
          <p:nvPr/>
        </p:nvSpPr>
        <p:spPr>
          <a:xfrm>
            <a:off x="8659739" y="1762587"/>
            <a:ext cx="2909512"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800" b="0" i="0" u="none" strike="noStrike" kern="1200" cap="none" spc="0" normalizeH="0" baseline="0" noProof="0" dirty="0">
                <a:ln>
                  <a:noFill/>
                </a:ln>
                <a:solidFill>
                  <a:srgbClr val="4480FB">
                    <a:lumMod val="50000"/>
                  </a:srgbClr>
                </a:solidFill>
                <a:effectLst/>
                <a:uLnTx/>
                <a:uFillTx/>
                <a:cs typeface="+mn-ea"/>
                <a:sym typeface="+mn-lt"/>
              </a:rPr>
              <a:t>2024</a:t>
            </a:r>
            <a:r>
              <a:rPr kumimoji="1" lang="zh-CN" altLang="en-US" sz="1800" b="0" i="0" u="none" strike="noStrike" kern="1200" cap="none" spc="0" normalizeH="0" baseline="0" noProof="0" dirty="0">
                <a:ln>
                  <a:noFill/>
                </a:ln>
                <a:solidFill>
                  <a:srgbClr val="4480FB">
                    <a:lumMod val="50000"/>
                  </a:srgbClr>
                </a:solidFill>
                <a:effectLst/>
                <a:uLnTx/>
                <a:uFillTx/>
                <a:cs typeface="+mn-ea"/>
                <a:sym typeface="+mn-lt"/>
              </a:rPr>
              <a:t>年平台业务表现情况</a:t>
            </a:r>
          </a:p>
        </p:txBody>
      </p:sp>
      <p:cxnSp>
        <p:nvCxnSpPr>
          <p:cNvPr id="70" name="6月更新62"/>
          <p:cNvCxnSpPr/>
          <p:nvPr/>
        </p:nvCxnSpPr>
        <p:spPr>
          <a:xfrm>
            <a:off x="8684419" y="2634186"/>
            <a:ext cx="3072439" cy="0"/>
          </a:xfrm>
          <a:prstGeom prst="line">
            <a:avLst/>
          </a:prstGeom>
          <a:ln w="31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73" name="6月更新63"/>
          <p:cNvCxnSpPr/>
          <p:nvPr/>
        </p:nvCxnSpPr>
        <p:spPr>
          <a:xfrm>
            <a:off x="8684419" y="3608744"/>
            <a:ext cx="3072439" cy="0"/>
          </a:xfrm>
          <a:prstGeom prst="line">
            <a:avLst/>
          </a:prstGeom>
          <a:ln w="31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74" name="6月更新64"/>
          <p:cNvCxnSpPr/>
          <p:nvPr/>
        </p:nvCxnSpPr>
        <p:spPr>
          <a:xfrm>
            <a:off x="8684419" y="4607365"/>
            <a:ext cx="3072439" cy="0"/>
          </a:xfrm>
          <a:prstGeom prst="line">
            <a:avLst/>
          </a:prstGeom>
          <a:ln w="31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75" name="6月更新65"/>
          <p:cNvCxnSpPr/>
          <p:nvPr/>
        </p:nvCxnSpPr>
        <p:spPr>
          <a:xfrm>
            <a:off x="8696451" y="5581923"/>
            <a:ext cx="3072439" cy="0"/>
          </a:xfrm>
          <a:prstGeom prst="line">
            <a:avLst/>
          </a:prstGeom>
          <a:ln w="31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76" name="6月更新66"/>
          <p:cNvCxnSpPr/>
          <p:nvPr/>
        </p:nvCxnSpPr>
        <p:spPr>
          <a:xfrm>
            <a:off x="10232670" y="2848509"/>
            <a:ext cx="0" cy="544445"/>
          </a:xfrm>
          <a:prstGeom prst="line">
            <a:avLst/>
          </a:prstGeom>
          <a:ln w="31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79" name="6月更新67"/>
          <p:cNvCxnSpPr/>
          <p:nvPr/>
        </p:nvCxnSpPr>
        <p:spPr>
          <a:xfrm>
            <a:off x="10244701" y="3883224"/>
            <a:ext cx="0" cy="544445"/>
          </a:xfrm>
          <a:prstGeom prst="line">
            <a:avLst/>
          </a:prstGeom>
          <a:ln w="31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80" name="6月更新68"/>
          <p:cNvCxnSpPr/>
          <p:nvPr/>
        </p:nvCxnSpPr>
        <p:spPr>
          <a:xfrm>
            <a:off x="10244701" y="4869814"/>
            <a:ext cx="0" cy="544445"/>
          </a:xfrm>
          <a:prstGeom prst="line">
            <a:avLst/>
          </a:prstGeom>
          <a:ln w="3175">
            <a:solidFill>
              <a:schemeClr val="accent3"/>
            </a:solidFill>
          </a:ln>
        </p:spPr>
        <p:style>
          <a:lnRef idx="2">
            <a:schemeClr val="accent1"/>
          </a:lnRef>
          <a:fillRef idx="0">
            <a:schemeClr val="accent1"/>
          </a:fillRef>
          <a:effectRef idx="1">
            <a:schemeClr val="accent1"/>
          </a:effectRef>
          <a:fontRef idx="minor">
            <a:schemeClr val="tx1"/>
          </a:fontRef>
        </p:style>
      </p:cxnSp>
      <p:sp>
        <p:nvSpPr>
          <p:cNvPr id="81" name="6月更新69"/>
          <p:cNvSpPr txBox="1"/>
          <p:nvPr/>
        </p:nvSpPr>
        <p:spPr>
          <a:xfrm>
            <a:off x="8631476" y="2123879"/>
            <a:ext cx="4485833"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4480FB">
                    <a:lumMod val="50000"/>
                  </a:srgbClr>
                </a:solidFill>
                <a:effectLst/>
                <a:uLnTx/>
                <a:uFillTx/>
                <a:cs typeface="+mn-ea"/>
                <a:sym typeface="+mn-lt"/>
              </a:rPr>
              <a:t>总体完成度较高</a:t>
            </a:r>
          </a:p>
        </p:txBody>
      </p:sp>
      <p:sp>
        <p:nvSpPr>
          <p:cNvPr id="82" name="6月更新70"/>
          <p:cNvSpPr txBox="1"/>
          <p:nvPr/>
        </p:nvSpPr>
        <p:spPr>
          <a:xfrm>
            <a:off x="8685761" y="2844070"/>
            <a:ext cx="779020"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4480FB">
                    <a:lumMod val="50000"/>
                  </a:srgbClr>
                </a:solidFill>
                <a:effectLst/>
                <a:uLnTx/>
                <a:uFillTx/>
                <a:cs typeface="+mn-ea"/>
                <a:sym typeface="+mn-lt"/>
              </a:rPr>
              <a:t>营业额</a:t>
            </a:r>
          </a:p>
        </p:txBody>
      </p:sp>
      <p:sp>
        <p:nvSpPr>
          <p:cNvPr id="83" name="6月更新71"/>
          <p:cNvSpPr txBox="1"/>
          <p:nvPr/>
        </p:nvSpPr>
        <p:spPr>
          <a:xfrm>
            <a:off x="8693852" y="3151568"/>
            <a:ext cx="1245413"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400" b="0" i="0" u="none" strike="noStrike" kern="1200" cap="none" spc="0" normalizeH="0" baseline="0" noProof="0" dirty="0">
                <a:ln>
                  <a:noFill/>
                </a:ln>
                <a:solidFill>
                  <a:srgbClr val="4480FB">
                    <a:lumMod val="50000"/>
                  </a:srgbClr>
                </a:solidFill>
                <a:effectLst/>
                <a:uLnTx/>
                <a:uFillTx/>
                <a:cs typeface="+mn-ea"/>
                <a:sym typeface="+mn-lt"/>
              </a:rPr>
              <a:t>3000</a:t>
            </a:r>
            <a:r>
              <a:rPr kumimoji="1" lang="zh-CN" altLang="en-US" sz="1400" b="0" i="0" u="none" strike="noStrike" kern="1200" cap="none" spc="0" normalizeH="0" baseline="0" noProof="0" dirty="0">
                <a:ln>
                  <a:noFill/>
                </a:ln>
                <a:solidFill>
                  <a:srgbClr val="4480FB">
                    <a:lumMod val="50000"/>
                  </a:srgbClr>
                </a:solidFill>
                <a:effectLst/>
                <a:uLnTx/>
                <a:uFillTx/>
                <a:cs typeface="+mn-ea"/>
                <a:sym typeface="+mn-lt"/>
              </a:rPr>
              <a:t>万元</a:t>
            </a:r>
          </a:p>
        </p:txBody>
      </p:sp>
      <p:sp>
        <p:nvSpPr>
          <p:cNvPr id="84" name="6月更新72"/>
          <p:cNvSpPr txBox="1"/>
          <p:nvPr/>
        </p:nvSpPr>
        <p:spPr>
          <a:xfrm>
            <a:off x="10449825" y="2844070"/>
            <a:ext cx="779020"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4480FB">
                    <a:lumMod val="50000"/>
                  </a:srgbClr>
                </a:solidFill>
                <a:effectLst/>
                <a:uLnTx/>
                <a:uFillTx/>
                <a:cs typeface="+mn-ea"/>
                <a:sym typeface="+mn-lt"/>
              </a:rPr>
              <a:t>利润</a:t>
            </a:r>
          </a:p>
        </p:txBody>
      </p:sp>
      <p:sp>
        <p:nvSpPr>
          <p:cNvPr id="85" name="6月更新73"/>
          <p:cNvSpPr txBox="1"/>
          <p:nvPr/>
        </p:nvSpPr>
        <p:spPr>
          <a:xfrm>
            <a:off x="10457916" y="3151568"/>
            <a:ext cx="1245413"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400" b="0" i="0" u="none" strike="noStrike" kern="1200" cap="none" spc="0" normalizeH="0" baseline="0" noProof="0" dirty="0">
                <a:ln>
                  <a:noFill/>
                </a:ln>
                <a:solidFill>
                  <a:srgbClr val="4480FB">
                    <a:lumMod val="50000"/>
                  </a:srgbClr>
                </a:solidFill>
                <a:effectLst/>
                <a:uLnTx/>
                <a:uFillTx/>
                <a:cs typeface="+mn-ea"/>
                <a:sym typeface="+mn-lt"/>
              </a:rPr>
              <a:t>500</a:t>
            </a:r>
            <a:r>
              <a:rPr kumimoji="1" lang="zh-CN" altLang="en-US" sz="1400" b="0" i="0" u="none" strike="noStrike" kern="1200" cap="none" spc="0" normalizeH="0" baseline="0" noProof="0" dirty="0">
                <a:ln>
                  <a:noFill/>
                </a:ln>
                <a:solidFill>
                  <a:srgbClr val="4480FB">
                    <a:lumMod val="50000"/>
                  </a:srgbClr>
                </a:solidFill>
                <a:effectLst/>
                <a:uLnTx/>
                <a:uFillTx/>
                <a:cs typeface="+mn-ea"/>
                <a:sym typeface="+mn-lt"/>
              </a:rPr>
              <a:t>万元</a:t>
            </a:r>
          </a:p>
        </p:txBody>
      </p:sp>
      <p:sp>
        <p:nvSpPr>
          <p:cNvPr id="86" name="6月更新74"/>
          <p:cNvSpPr txBox="1"/>
          <p:nvPr/>
        </p:nvSpPr>
        <p:spPr>
          <a:xfrm>
            <a:off x="8701944" y="3807022"/>
            <a:ext cx="1378369"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4480FB">
                    <a:lumMod val="50000"/>
                  </a:srgbClr>
                </a:solidFill>
                <a:effectLst/>
                <a:uLnTx/>
                <a:uFillTx/>
                <a:cs typeface="+mn-ea"/>
                <a:sym typeface="+mn-lt"/>
              </a:rPr>
              <a:t>员工收入</a:t>
            </a:r>
          </a:p>
        </p:txBody>
      </p:sp>
      <p:sp>
        <p:nvSpPr>
          <p:cNvPr id="87" name="6月更新75"/>
          <p:cNvSpPr txBox="1"/>
          <p:nvPr/>
        </p:nvSpPr>
        <p:spPr>
          <a:xfrm>
            <a:off x="8710036" y="4114520"/>
            <a:ext cx="1245413"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4480FB">
                    <a:lumMod val="50000"/>
                  </a:srgbClr>
                </a:solidFill>
                <a:effectLst/>
                <a:uLnTx/>
                <a:uFillTx/>
                <a:cs typeface="+mn-ea"/>
                <a:sym typeface="+mn-lt"/>
              </a:rPr>
              <a:t>人均</a:t>
            </a:r>
            <a:r>
              <a:rPr kumimoji="1" lang="en-US" altLang="zh-CN" sz="1400" b="0" i="0" u="none" strike="noStrike" kern="1200" cap="none" spc="0" normalizeH="0" baseline="0" noProof="0" dirty="0">
                <a:ln>
                  <a:noFill/>
                </a:ln>
                <a:solidFill>
                  <a:srgbClr val="4480FB">
                    <a:lumMod val="50000"/>
                  </a:srgbClr>
                </a:solidFill>
                <a:effectLst/>
                <a:uLnTx/>
                <a:uFillTx/>
                <a:cs typeface="+mn-ea"/>
                <a:sym typeface="+mn-lt"/>
              </a:rPr>
              <a:t>20</a:t>
            </a:r>
            <a:r>
              <a:rPr kumimoji="1" lang="zh-CN" altLang="en-US" sz="1400" b="0" i="0" u="none" strike="noStrike" kern="1200" cap="none" spc="0" normalizeH="0" baseline="0" noProof="0" dirty="0">
                <a:ln>
                  <a:noFill/>
                </a:ln>
                <a:solidFill>
                  <a:srgbClr val="4480FB">
                    <a:lumMod val="50000"/>
                  </a:srgbClr>
                </a:solidFill>
                <a:effectLst/>
                <a:uLnTx/>
                <a:uFillTx/>
                <a:cs typeface="+mn-ea"/>
                <a:sym typeface="+mn-lt"/>
              </a:rPr>
              <a:t>万元</a:t>
            </a:r>
          </a:p>
        </p:txBody>
      </p:sp>
      <p:sp>
        <p:nvSpPr>
          <p:cNvPr id="88" name="6月更新76"/>
          <p:cNvSpPr txBox="1"/>
          <p:nvPr/>
        </p:nvSpPr>
        <p:spPr>
          <a:xfrm>
            <a:off x="10466008" y="3807022"/>
            <a:ext cx="1237311"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4480FB">
                    <a:lumMod val="50000"/>
                  </a:srgbClr>
                </a:solidFill>
                <a:effectLst/>
                <a:uLnTx/>
                <a:uFillTx/>
                <a:cs typeface="+mn-ea"/>
                <a:sym typeface="+mn-lt"/>
              </a:rPr>
              <a:t>归母净利润</a:t>
            </a:r>
          </a:p>
        </p:txBody>
      </p:sp>
      <p:sp>
        <p:nvSpPr>
          <p:cNvPr id="89" name="6月更新77"/>
          <p:cNvSpPr txBox="1"/>
          <p:nvPr/>
        </p:nvSpPr>
        <p:spPr>
          <a:xfrm>
            <a:off x="10474100" y="4114520"/>
            <a:ext cx="1245413"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400" b="0" i="0" u="none" strike="noStrike" kern="1200" cap="none" spc="0" normalizeH="0" baseline="0" noProof="0" dirty="0">
                <a:ln>
                  <a:noFill/>
                </a:ln>
                <a:solidFill>
                  <a:srgbClr val="4480FB">
                    <a:lumMod val="50000"/>
                  </a:srgbClr>
                </a:solidFill>
                <a:effectLst/>
                <a:uLnTx/>
                <a:uFillTx/>
                <a:cs typeface="+mn-ea"/>
                <a:sym typeface="+mn-lt"/>
              </a:rPr>
              <a:t>300</a:t>
            </a:r>
            <a:r>
              <a:rPr kumimoji="1" lang="zh-CN" altLang="en-US" sz="1400" b="0" i="0" u="none" strike="noStrike" kern="1200" cap="none" spc="0" normalizeH="0" baseline="0" noProof="0" dirty="0">
                <a:ln>
                  <a:noFill/>
                </a:ln>
                <a:solidFill>
                  <a:srgbClr val="4480FB">
                    <a:lumMod val="50000"/>
                  </a:srgbClr>
                </a:solidFill>
                <a:effectLst/>
                <a:uLnTx/>
                <a:uFillTx/>
                <a:cs typeface="+mn-ea"/>
                <a:sym typeface="+mn-lt"/>
              </a:rPr>
              <a:t>万元</a:t>
            </a:r>
          </a:p>
        </p:txBody>
      </p:sp>
      <p:sp>
        <p:nvSpPr>
          <p:cNvPr id="90" name="6月更新78"/>
          <p:cNvSpPr txBox="1"/>
          <p:nvPr/>
        </p:nvSpPr>
        <p:spPr>
          <a:xfrm>
            <a:off x="8693851" y="4810434"/>
            <a:ext cx="1378369"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4480FB">
                    <a:lumMod val="50000"/>
                  </a:srgbClr>
                </a:solidFill>
                <a:effectLst/>
                <a:uLnTx/>
                <a:uFillTx/>
                <a:cs typeface="+mn-ea"/>
                <a:sym typeface="+mn-lt"/>
              </a:rPr>
              <a:t>创新投入</a:t>
            </a:r>
          </a:p>
        </p:txBody>
      </p:sp>
      <p:sp>
        <p:nvSpPr>
          <p:cNvPr id="91" name="6月更新79"/>
          <p:cNvSpPr txBox="1"/>
          <p:nvPr/>
        </p:nvSpPr>
        <p:spPr>
          <a:xfrm>
            <a:off x="8701943" y="5117932"/>
            <a:ext cx="1245413"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400" b="0" i="0" u="none" strike="noStrike" kern="1200" cap="none" spc="0" normalizeH="0" baseline="0" noProof="0" dirty="0">
                <a:ln>
                  <a:noFill/>
                </a:ln>
                <a:solidFill>
                  <a:srgbClr val="4480FB">
                    <a:lumMod val="50000"/>
                  </a:srgbClr>
                </a:solidFill>
                <a:effectLst/>
                <a:uLnTx/>
                <a:uFillTx/>
                <a:cs typeface="+mn-ea"/>
                <a:sym typeface="+mn-lt"/>
              </a:rPr>
              <a:t>30</a:t>
            </a:r>
            <a:r>
              <a:rPr kumimoji="1" lang="zh-CN" altLang="en-US" sz="1400" b="0" i="0" u="none" strike="noStrike" kern="1200" cap="none" spc="0" normalizeH="0" baseline="0" noProof="0" dirty="0">
                <a:ln>
                  <a:noFill/>
                </a:ln>
                <a:solidFill>
                  <a:srgbClr val="4480FB">
                    <a:lumMod val="50000"/>
                  </a:srgbClr>
                </a:solidFill>
                <a:effectLst/>
                <a:uLnTx/>
                <a:uFillTx/>
                <a:cs typeface="+mn-ea"/>
                <a:sym typeface="+mn-lt"/>
              </a:rPr>
              <a:t>万元</a:t>
            </a:r>
          </a:p>
        </p:txBody>
      </p:sp>
      <p:sp>
        <p:nvSpPr>
          <p:cNvPr id="92" name="6月更新80"/>
          <p:cNvSpPr txBox="1"/>
          <p:nvPr/>
        </p:nvSpPr>
        <p:spPr>
          <a:xfrm>
            <a:off x="10457915" y="4810434"/>
            <a:ext cx="1237311"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4480FB">
                    <a:lumMod val="50000"/>
                  </a:srgbClr>
                </a:solidFill>
                <a:effectLst/>
                <a:uLnTx/>
                <a:uFillTx/>
                <a:cs typeface="+mn-ea"/>
                <a:sym typeface="+mn-lt"/>
              </a:rPr>
              <a:t>业绩提升</a:t>
            </a:r>
          </a:p>
        </p:txBody>
      </p:sp>
      <p:sp>
        <p:nvSpPr>
          <p:cNvPr id="93" name="6月更新81"/>
          <p:cNvSpPr txBox="1"/>
          <p:nvPr/>
        </p:nvSpPr>
        <p:spPr>
          <a:xfrm>
            <a:off x="10466007" y="5117932"/>
            <a:ext cx="1245413"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400" b="0" i="0" u="none" strike="noStrike" kern="1200" cap="none" spc="0" normalizeH="0" baseline="0" noProof="0" dirty="0">
                <a:ln>
                  <a:noFill/>
                </a:ln>
                <a:solidFill>
                  <a:srgbClr val="4480FB">
                    <a:lumMod val="50000"/>
                  </a:srgbClr>
                </a:solidFill>
                <a:effectLst/>
                <a:uLnTx/>
                <a:uFillTx/>
                <a:cs typeface="+mn-ea"/>
                <a:sym typeface="+mn-lt"/>
              </a:rPr>
              <a:t>28.8%</a:t>
            </a:r>
            <a:endParaRPr kumimoji="1" lang="zh-CN" altLang="en-US" sz="1400" b="0" i="0" u="none" strike="noStrike" kern="1200" cap="none" spc="0" normalizeH="0" baseline="0" noProof="0" dirty="0">
              <a:ln>
                <a:noFill/>
              </a:ln>
              <a:solidFill>
                <a:srgbClr val="4480FB">
                  <a:lumMod val="50000"/>
                </a:srgbClr>
              </a:solidFill>
              <a:effectLst/>
              <a:uLnTx/>
              <a:uFillTx/>
              <a:cs typeface="+mn-ea"/>
              <a:sym typeface="+mn-lt"/>
            </a:endParaRPr>
          </a:p>
        </p:txBody>
      </p:sp>
      <p:sp>
        <p:nvSpPr>
          <p:cNvPr id="94" name="6月更新82"/>
          <p:cNvSpPr/>
          <p:nvPr/>
        </p:nvSpPr>
        <p:spPr>
          <a:xfrm>
            <a:off x="1594238" y="2566834"/>
            <a:ext cx="1140343" cy="527609"/>
          </a:xfrm>
          <a:prstGeom prst="wedgeRoundRectCallout">
            <a:avLst>
              <a:gd name="adj1" fmla="val 31117"/>
              <a:gd name="adj2" fmla="val 139938"/>
              <a:gd name="adj3" fmla="val 16667"/>
            </a:avLst>
          </a:prstGeom>
          <a:solidFill>
            <a:schemeClr val="bg1"/>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95" name="6月更新83"/>
          <p:cNvSpPr txBox="1"/>
          <p:nvPr/>
        </p:nvSpPr>
        <p:spPr>
          <a:xfrm>
            <a:off x="1651185" y="2591362"/>
            <a:ext cx="1142285" cy="429156"/>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指标详情</a:t>
            </a:r>
          </a:p>
        </p:txBody>
      </p:sp>
      <p:sp>
        <p:nvSpPr>
          <p:cNvPr id="96" name="6月更新84"/>
          <p:cNvSpPr txBox="1"/>
          <p:nvPr/>
        </p:nvSpPr>
        <p:spPr>
          <a:xfrm>
            <a:off x="8893462" y="5735532"/>
            <a:ext cx="4485833"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400" b="0" i="0" u="none" strike="noStrike" kern="1200" cap="none" spc="0" normalizeH="0" baseline="0" noProof="0" dirty="0">
                <a:ln>
                  <a:noFill/>
                </a:ln>
                <a:solidFill>
                  <a:srgbClr val="4480FB">
                    <a:lumMod val="50000"/>
                  </a:srgbClr>
                </a:solidFill>
                <a:effectLst/>
                <a:uLnTx/>
                <a:uFillTx/>
                <a:cs typeface="+mn-ea"/>
                <a:sym typeface="+mn-lt"/>
              </a:rPr>
              <a:t>2024</a:t>
            </a:r>
            <a:r>
              <a:rPr kumimoji="1" lang="zh-CN" altLang="en-US" sz="1400" b="0" i="0" u="none" strike="noStrike" kern="1200" cap="none" spc="0" normalizeH="0" baseline="0" noProof="0" dirty="0">
                <a:ln>
                  <a:noFill/>
                </a:ln>
                <a:solidFill>
                  <a:srgbClr val="4480FB">
                    <a:lumMod val="50000"/>
                  </a:srgbClr>
                </a:solidFill>
                <a:effectLst/>
                <a:uLnTx/>
                <a:uFillTx/>
                <a:cs typeface="+mn-ea"/>
                <a:sym typeface="+mn-lt"/>
              </a:rPr>
              <a:t>年经营业绩为近三年来最佳</a:t>
            </a:r>
          </a:p>
        </p:txBody>
      </p:sp>
      <p:sp>
        <p:nvSpPr>
          <p:cNvPr id="4" name="矩形: 圆角 7"/>
          <p:cNvSpPr/>
          <p:nvPr/>
        </p:nvSpPr>
        <p:spPr>
          <a:xfrm flipV="1">
            <a:off x="457802" y="696804"/>
            <a:ext cx="11388632" cy="4571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cs typeface="+mn-ea"/>
              <a:sym typeface="+mn-lt"/>
            </a:endParaRPr>
          </a:p>
        </p:txBody>
      </p:sp>
      <p:sp>
        <p:nvSpPr>
          <p:cNvPr id="5" name="Venn diagram"/>
          <p:cNvSpPr txBox="1"/>
          <p:nvPr/>
        </p:nvSpPr>
        <p:spPr>
          <a:xfrm>
            <a:off x="437924" y="204604"/>
            <a:ext cx="6651772" cy="420628"/>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algn="l"/>
            <a:r>
              <a:rPr lang="zh-CN" altLang="en-US" sz="2400" b="1" i="0" dirty="0">
                <a:solidFill>
                  <a:schemeClr val="accent1"/>
                </a:solidFill>
                <a:cs typeface="+mn-ea"/>
                <a:sym typeface="+mn-lt"/>
              </a:rPr>
              <a:t>高端</a:t>
            </a:r>
            <a:r>
              <a:rPr lang="en-US" sz="2400" b="1" i="0" dirty="0">
                <a:solidFill>
                  <a:schemeClr val="accent1"/>
                </a:solidFill>
                <a:cs typeface="+mn-ea"/>
                <a:sym typeface="+mn-lt"/>
              </a:rPr>
              <a:t>PPT</a:t>
            </a:r>
            <a:r>
              <a:rPr lang="zh-CN" altLang="en-US" sz="2400" b="1" i="0" dirty="0">
                <a:solidFill>
                  <a:schemeClr val="accent1"/>
                </a:solidFill>
                <a:cs typeface="+mn-ea"/>
                <a:sym typeface="+mn-lt"/>
              </a:rPr>
              <a:t>系列之一：打工人必备</a:t>
            </a:r>
            <a:r>
              <a:rPr lang="en-US" sz="2400" b="1" i="0" dirty="0">
                <a:solidFill>
                  <a:schemeClr val="accent1"/>
                </a:solidFill>
                <a:cs typeface="+mn-ea"/>
                <a:sym typeface="+mn-lt"/>
              </a:rPr>
              <a:t>PPT</a:t>
            </a:r>
            <a:r>
              <a:rPr lang="zh-CN" altLang="en-US" sz="2400" b="1" i="0" dirty="0">
                <a:solidFill>
                  <a:schemeClr val="accent1"/>
                </a:solidFill>
                <a:cs typeface="+mn-ea"/>
                <a:sym typeface="+mn-lt"/>
              </a:rPr>
              <a:t>逻辑图</a:t>
            </a:r>
            <a:endParaRPr sz="2400" b="1" i="0" dirty="0">
              <a:solidFill>
                <a:schemeClr val="accent1"/>
              </a:solidFill>
              <a:cs typeface="+mn-ea"/>
              <a:sym typeface="+mn-lt"/>
            </a:endParaRP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熊大的PPT宝库1"/>
          <p:cNvSpPr txBox="1"/>
          <p:nvPr/>
        </p:nvSpPr>
        <p:spPr>
          <a:xfrm>
            <a:off x="348830" y="216968"/>
            <a:ext cx="392447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企业</a:t>
            </a:r>
            <a:r>
              <a:rPr kumimoji="0" lang="en-US" altLang="zh-CN" sz="3200" b="0" i="0" u="none" strike="noStrike" kern="1200" cap="none" spc="0" normalizeH="0" baseline="0" noProof="0" dirty="0">
                <a:ln>
                  <a:noFill/>
                </a:ln>
                <a:solidFill>
                  <a:srgbClr val="00329D"/>
                </a:solidFill>
                <a:effectLst/>
                <a:uLnTx/>
                <a:uFillTx/>
                <a:cs typeface="+mn-ea"/>
                <a:sym typeface="+mn-lt"/>
              </a:rPr>
              <a:t>AI</a:t>
            </a:r>
            <a:r>
              <a:rPr kumimoji="0" lang="zh-CN" altLang="en-US" sz="3200" b="0" i="0" u="none" strike="noStrike" kern="1200" cap="none" spc="0" normalizeH="0" baseline="0" noProof="0" dirty="0">
                <a:ln>
                  <a:noFill/>
                </a:ln>
                <a:solidFill>
                  <a:srgbClr val="00329D"/>
                </a:solidFill>
                <a:effectLst/>
                <a:uLnTx/>
                <a:uFillTx/>
                <a:cs typeface="+mn-ea"/>
                <a:sym typeface="+mn-lt"/>
              </a:rPr>
              <a:t>营销实战解析</a:t>
            </a:r>
          </a:p>
        </p:txBody>
      </p:sp>
      <p:sp>
        <p:nvSpPr>
          <p:cNvPr id="2" name="熊大的PPT宝库2"/>
          <p:cNvSpPr/>
          <p:nvPr/>
        </p:nvSpPr>
        <p:spPr>
          <a:xfrm rot="10800000">
            <a:off x="434974" y="1337124"/>
            <a:ext cx="5775440" cy="3541395"/>
          </a:xfrm>
          <a:custGeom>
            <a:avLst/>
            <a:gdLst>
              <a:gd name="connsiteX0" fmla="*/ 7232087 w 7232087"/>
              <a:gd name="connsiteY0" fmla="*/ 0 h 3541395"/>
              <a:gd name="connsiteX1" fmla="*/ 7232087 w 7232087"/>
              <a:gd name="connsiteY1" fmla="*/ 3541395 h 3541395"/>
              <a:gd name="connsiteX2" fmla="*/ 0 w 7232087"/>
              <a:gd name="connsiteY2" fmla="*/ 2651510 h 3541395"/>
              <a:gd name="connsiteX3" fmla="*/ 38657 w 7232087"/>
              <a:gd name="connsiteY3" fmla="*/ 2629358 h 3541395"/>
              <a:gd name="connsiteX4" fmla="*/ 76050 w 7232087"/>
              <a:gd name="connsiteY4" fmla="*/ 2585555 h 3541395"/>
              <a:gd name="connsiteX5" fmla="*/ 110574 w 7232087"/>
              <a:gd name="connsiteY5" fmla="*/ 2522543 h 3541395"/>
              <a:gd name="connsiteX6" fmla="*/ 126600 w 7232087"/>
              <a:gd name="connsiteY6" fmla="*/ 2484404 h 3541395"/>
              <a:gd name="connsiteX7" fmla="*/ 141714 w 7232087"/>
              <a:gd name="connsiteY7" fmla="*/ 2442145 h 3541395"/>
              <a:gd name="connsiteX8" fmla="*/ 155854 w 7232087"/>
              <a:gd name="connsiteY8" fmla="*/ 2395995 h 3541395"/>
              <a:gd name="connsiteX9" fmla="*/ 168953 w 7232087"/>
              <a:gd name="connsiteY9" fmla="*/ 2346182 h 3541395"/>
              <a:gd name="connsiteX10" fmla="*/ 180948 w 7232087"/>
              <a:gd name="connsiteY10" fmla="*/ 2292932 h 3541395"/>
              <a:gd name="connsiteX11" fmla="*/ 191774 w 7232087"/>
              <a:gd name="connsiteY11" fmla="*/ 2236473 h 3541395"/>
              <a:gd name="connsiteX12" fmla="*/ 201366 w 7232087"/>
              <a:gd name="connsiteY12" fmla="*/ 2177034 h 3541395"/>
              <a:gd name="connsiteX13" fmla="*/ 209660 w 7232087"/>
              <a:gd name="connsiteY13" fmla="*/ 2114841 h 3541395"/>
              <a:gd name="connsiteX14" fmla="*/ 216590 w 7232087"/>
              <a:gd name="connsiteY14" fmla="*/ 2050123 h 3541395"/>
              <a:gd name="connsiteX15" fmla="*/ 222093 w 7232087"/>
              <a:gd name="connsiteY15" fmla="*/ 1983107 h 3541395"/>
              <a:gd name="connsiteX16" fmla="*/ 226104 w 7232087"/>
              <a:gd name="connsiteY16" fmla="*/ 1914021 h 3541395"/>
              <a:gd name="connsiteX17" fmla="*/ 228558 w 7232087"/>
              <a:gd name="connsiteY17" fmla="*/ 1843092 h 3541395"/>
              <a:gd name="connsiteX18" fmla="*/ 229390 w 7232087"/>
              <a:gd name="connsiteY18" fmla="*/ 1770547 h 3541395"/>
              <a:gd name="connsiteX19" fmla="*/ 228558 w 7232087"/>
              <a:gd name="connsiteY19" fmla="*/ 1698003 h 3541395"/>
              <a:gd name="connsiteX20" fmla="*/ 226104 w 7232087"/>
              <a:gd name="connsiteY20" fmla="*/ 1627074 h 3541395"/>
              <a:gd name="connsiteX21" fmla="*/ 222093 w 7232087"/>
              <a:gd name="connsiteY21" fmla="*/ 1557988 h 3541395"/>
              <a:gd name="connsiteX22" fmla="*/ 216590 w 7232087"/>
              <a:gd name="connsiteY22" fmla="*/ 1490972 h 3541395"/>
              <a:gd name="connsiteX23" fmla="*/ 209660 w 7232087"/>
              <a:gd name="connsiteY23" fmla="*/ 1426253 h 3541395"/>
              <a:gd name="connsiteX24" fmla="*/ 201366 w 7232087"/>
              <a:gd name="connsiteY24" fmla="*/ 1364061 h 3541395"/>
              <a:gd name="connsiteX25" fmla="*/ 191774 w 7232087"/>
              <a:gd name="connsiteY25" fmla="*/ 1304622 h 3541395"/>
              <a:gd name="connsiteX26" fmla="*/ 180948 w 7232087"/>
              <a:gd name="connsiteY26" fmla="*/ 1248163 h 3541395"/>
              <a:gd name="connsiteX27" fmla="*/ 168953 w 7232087"/>
              <a:gd name="connsiteY27" fmla="*/ 1194913 h 3541395"/>
              <a:gd name="connsiteX28" fmla="*/ 155854 w 7232087"/>
              <a:gd name="connsiteY28" fmla="*/ 1145099 h 3541395"/>
              <a:gd name="connsiteX29" fmla="*/ 141714 w 7232087"/>
              <a:gd name="connsiteY29" fmla="*/ 1098949 h 3541395"/>
              <a:gd name="connsiteX30" fmla="*/ 126600 w 7232087"/>
              <a:gd name="connsiteY30" fmla="*/ 1056691 h 3541395"/>
              <a:gd name="connsiteX31" fmla="*/ 110574 w 7232087"/>
              <a:gd name="connsiteY31" fmla="*/ 1018551 h 3541395"/>
              <a:gd name="connsiteX32" fmla="*/ 76050 w 7232087"/>
              <a:gd name="connsiteY32" fmla="*/ 955540 h 3541395"/>
              <a:gd name="connsiteX33" fmla="*/ 38657 w 7232087"/>
              <a:gd name="connsiteY33" fmla="*/ 911737 h 3541395"/>
              <a:gd name="connsiteX34" fmla="*/ 431 w 7232087"/>
              <a:gd name="connsiteY34" fmla="*/ 889832 h 3541395"/>
              <a:gd name="connsiteX35" fmla="*/ 7232087 w 7232087"/>
              <a:gd name="connsiteY35" fmla="*/ 0 h 3541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232087" h="3541395">
                <a:moveTo>
                  <a:pt x="7232087" y="0"/>
                </a:moveTo>
                <a:lnTo>
                  <a:pt x="7232087" y="3541395"/>
                </a:lnTo>
                <a:lnTo>
                  <a:pt x="0" y="2651510"/>
                </a:lnTo>
                <a:lnTo>
                  <a:pt x="38657" y="2629358"/>
                </a:lnTo>
                <a:lnTo>
                  <a:pt x="76050" y="2585555"/>
                </a:lnTo>
                <a:lnTo>
                  <a:pt x="110574" y="2522543"/>
                </a:lnTo>
                <a:lnTo>
                  <a:pt x="126600" y="2484404"/>
                </a:lnTo>
                <a:lnTo>
                  <a:pt x="141714" y="2442145"/>
                </a:lnTo>
                <a:lnTo>
                  <a:pt x="155854" y="2395995"/>
                </a:lnTo>
                <a:lnTo>
                  <a:pt x="168953" y="2346182"/>
                </a:lnTo>
                <a:lnTo>
                  <a:pt x="180948" y="2292932"/>
                </a:lnTo>
                <a:lnTo>
                  <a:pt x="191774" y="2236473"/>
                </a:lnTo>
                <a:lnTo>
                  <a:pt x="201366" y="2177034"/>
                </a:lnTo>
                <a:lnTo>
                  <a:pt x="209660" y="2114841"/>
                </a:lnTo>
                <a:lnTo>
                  <a:pt x="216590" y="2050123"/>
                </a:lnTo>
                <a:lnTo>
                  <a:pt x="222093" y="1983107"/>
                </a:lnTo>
                <a:lnTo>
                  <a:pt x="226104" y="1914021"/>
                </a:lnTo>
                <a:lnTo>
                  <a:pt x="228558" y="1843092"/>
                </a:lnTo>
                <a:lnTo>
                  <a:pt x="229390" y="1770547"/>
                </a:lnTo>
                <a:lnTo>
                  <a:pt x="228558" y="1698003"/>
                </a:lnTo>
                <a:lnTo>
                  <a:pt x="226104" y="1627074"/>
                </a:lnTo>
                <a:lnTo>
                  <a:pt x="222093" y="1557988"/>
                </a:lnTo>
                <a:lnTo>
                  <a:pt x="216590" y="1490972"/>
                </a:lnTo>
                <a:lnTo>
                  <a:pt x="209660" y="1426253"/>
                </a:lnTo>
                <a:lnTo>
                  <a:pt x="201366" y="1364061"/>
                </a:lnTo>
                <a:lnTo>
                  <a:pt x="191774" y="1304622"/>
                </a:lnTo>
                <a:lnTo>
                  <a:pt x="180948" y="1248163"/>
                </a:lnTo>
                <a:lnTo>
                  <a:pt x="168953" y="1194913"/>
                </a:lnTo>
                <a:lnTo>
                  <a:pt x="155854" y="1145099"/>
                </a:lnTo>
                <a:lnTo>
                  <a:pt x="141714" y="1098949"/>
                </a:lnTo>
                <a:lnTo>
                  <a:pt x="126600" y="1056691"/>
                </a:lnTo>
                <a:lnTo>
                  <a:pt x="110574" y="1018551"/>
                </a:lnTo>
                <a:lnTo>
                  <a:pt x="76050" y="955540"/>
                </a:lnTo>
                <a:lnTo>
                  <a:pt x="38657" y="911737"/>
                </a:lnTo>
                <a:lnTo>
                  <a:pt x="431" y="889832"/>
                </a:lnTo>
                <a:lnTo>
                  <a:pt x="7232087" y="0"/>
                </a:lnTo>
                <a:close/>
              </a:path>
            </a:pathLst>
          </a:custGeom>
          <a:gradFill>
            <a:gsLst>
              <a:gs pos="0">
                <a:schemeClr val="accent1">
                  <a:alpha val="20000"/>
                </a:schemeClr>
              </a:gs>
              <a:gs pos="100000">
                <a:schemeClr val="bg1"/>
              </a:gs>
            </a:gsLst>
            <a:lin ang="0" scaled="0"/>
          </a:grad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 name="熊大的PPT宝库3"/>
          <p:cNvSpPr/>
          <p:nvPr/>
        </p:nvSpPr>
        <p:spPr>
          <a:xfrm>
            <a:off x="5942008" y="1337124"/>
            <a:ext cx="5775440" cy="3541395"/>
          </a:xfrm>
          <a:custGeom>
            <a:avLst/>
            <a:gdLst>
              <a:gd name="connsiteX0" fmla="*/ 7232087 w 7232087"/>
              <a:gd name="connsiteY0" fmla="*/ 0 h 3541395"/>
              <a:gd name="connsiteX1" fmla="*/ 7232087 w 7232087"/>
              <a:gd name="connsiteY1" fmla="*/ 3541395 h 3541395"/>
              <a:gd name="connsiteX2" fmla="*/ 0 w 7232087"/>
              <a:gd name="connsiteY2" fmla="*/ 2651510 h 3541395"/>
              <a:gd name="connsiteX3" fmla="*/ 38657 w 7232087"/>
              <a:gd name="connsiteY3" fmla="*/ 2629358 h 3541395"/>
              <a:gd name="connsiteX4" fmla="*/ 76050 w 7232087"/>
              <a:gd name="connsiteY4" fmla="*/ 2585555 h 3541395"/>
              <a:gd name="connsiteX5" fmla="*/ 110574 w 7232087"/>
              <a:gd name="connsiteY5" fmla="*/ 2522543 h 3541395"/>
              <a:gd name="connsiteX6" fmla="*/ 126600 w 7232087"/>
              <a:gd name="connsiteY6" fmla="*/ 2484404 h 3541395"/>
              <a:gd name="connsiteX7" fmla="*/ 141714 w 7232087"/>
              <a:gd name="connsiteY7" fmla="*/ 2442145 h 3541395"/>
              <a:gd name="connsiteX8" fmla="*/ 155854 w 7232087"/>
              <a:gd name="connsiteY8" fmla="*/ 2395995 h 3541395"/>
              <a:gd name="connsiteX9" fmla="*/ 168953 w 7232087"/>
              <a:gd name="connsiteY9" fmla="*/ 2346182 h 3541395"/>
              <a:gd name="connsiteX10" fmla="*/ 180948 w 7232087"/>
              <a:gd name="connsiteY10" fmla="*/ 2292932 h 3541395"/>
              <a:gd name="connsiteX11" fmla="*/ 191774 w 7232087"/>
              <a:gd name="connsiteY11" fmla="*/ 2236473 h 3541395"/>
              <a:gd name="connsiteX12" fmla="*/ 201366 w 7232087"/>
              <a:gd name="connsiteY12" fmla="*/ 2177034 h 3541395"/>
              <a:gd name="connsiteX13" fmla="*/ 209660 w 7232087"/>
              <a:gd name="connsiteY13" fmla="*/ 2114841 h 3541395"/>
              <a:gd name="connsiteX14" fmla="*/ 216590 w 7232087"/>
              <a:gd name="connsiteY14" fmla="*/ 2050123 h 3541395"/>
              <a:gd name="connsiteX15" fmla="*/ 222093 w 7232087"/>
              <a:gd name="connsiteY15" fmla="*/ 1983107 h 3541395"/>
              <a:gd name="connsiteX16" fmla="*/ 226104 w 7232087"/>
              <a:gd name="connsiteY16" fmla="*/ 1914021 h 3541395"/>
              <a:gd name="connsiteX17" fmla="*/ 228558 w 7232087"/>
              <a:gd name="connsiteY17" fmla="*/ 1843092 h 3541395"/>
              <a:gd name="connsiteX18" fmla="*/ 229390 w 7232087"/>
              <a:gd name="connsiteY18" fmla="*/ 1770547 h 3541395"/>
              <a:gd name="connsiteX19" fmla="*/ 228558 w 7232087"/>
              <a:gd name="connsiteY19" fmla="*/ 1698003 h 3541395"/>
              <a:gd name="connsiteX20" fmla="*/ 226104 w 7232087"/>
              <a:gd name="connsiteY20" fmla="*/ 1627074 h 3541395"/>
              <a:gd name="connsiteX21" fmla="*/ 222093 w 7232087"/>
              <a:gd name="connsiteY21" fmla="*/ 1557988 h 3541395"/>
              <a:gd name="connsiteX22" fmla="*/ 216590 w 7232087"/>
              <a:gd name="connsiteY22" fmla="*/ 1490972 h 3541395"/>
              <a:gd name="connsiteX23" fmla="*/ 209660 w 7232087"/>
              <a:gd name="connsiteY23" fmla="*/ 1426253 h 3541395"/>
              <a:gd name="connsiteX24" fmla="*/ 201366 w 7232087"/>
              <a:gd name="connsiteY24" fmla="*/ 1364061 h 3541395"/>
              <a:gd name="connsiteX25" fmla="*/ 191774 w 7232087"/>
              <a:gd name="connsiteY25" fmla="*/ 1304622 h 3541395"/>
              <a:gd name="connsiteX26" fmla="*/ 180948 w 7232087"/>
              <a:gd name="connsiteY26" fmla="*/ 1248163 h 3541395"/>
              <a:gd name="connsiteX27" fmla="*/ 168953 w 7232087"/>
              <a:gd name="connsiteY27" fmla="*/ 1194913 h 3541395"/>
              <a:gd name="connsiteX28" fmla="*/ 155854 w 7232087"/>
              <a:gd name="connsiteY28" fmla="*/ 1145099 h 3541395"/>
              <a:gd name="connsiteX29" fmla="*/ 141714 w 7232087"/>
              <a:gd name="connsiteY29" fmla="*/ 1098949 h 3541395"/>
              <a:gd name="connsiteX30" fmla="*/ 126600 w 7232087"/>
              <a:gd name="connsiteY30" fmla="*/ 1056691 h 3541395"/>
              <a:gd name="connsiteX31" fmla="*/ 110574 w 7232087"/>
              <a:gd name="connsiteY31" fmla="*/ 1018551 h 3541395"/>
              <a:gd name="connsiteX32" fmla="*/ 76050 w 7232087"/>
              <a:gd name="connsiteY32" fmla="*/ 955540 h 3541395"/>
              <a:gd name="connsiteX33" fmla="*/ 38657 w 7232087"/>
              <a:gd name="connsiteY33" fmla="*/ 911737 h 3541395"/>
              <a:gd name="connsiteX34" fmla="*/ 431 w 7232087"/>
              <a:gd name="connsiteY34" fmla="*/ 889832 h 3541395"/>
              <a:gd name="connsiteX35" fmla="*/ 7232087 w 7232087"/>
              <a:gd name="connsiteY35" fmla="*/ 0 h 3541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232087" h="3541395">
                <a:moveTo>
                  <a:pt x="7232087" y="0"/>
                </a:moveTo>
                <a:lnTo>
                  <a:pt x="7232087" y="3541395"/>
                </a:lnTo>
                <a:lnTo>
                  <a:pt x="0" y="2651510"/>
                </a:lnTo>
                <a:lnTo>
                  <a:pt x="38657" y="2629358"/>
                </a:lnTo>
                <a:lnTo>
                  <a:pt x="76050" y="2585555"/>
                </a:lnTo>
                <a:lnTo>
                  <a:pt x="110574" y="2522543"/>
                </a:lnTo>
                <a:lnTo>
                  <a:pt x="126600" y="2484404"/>
                </a:lnTo>
                <a:lnTo>
                  <a:pt x="141714" y="2442145"/>
                </a:lnTo>
                <a:lnTo>
                  <a:pt x="155854" y="2395995"/>
                </a:lnTo>
                <a:lnTo>
                  <a:pt x="168953" y="2346182"/>
                </a:lnTo>
                <a:lnTo>
                  <a:pt x="180948" y="2292932"/>
                </a:lnTo>
                <a:lnTo>
                  <a:pt x="191774" y="2236473"/>
                </a:lnTo>
                <a:lnTo>
                  <a:pt x="201366" y="2177034"/>
                </a:lnTo>
                <a:lnTo>
                  <a:pt x="209660" y="2114841"/>
                </a:lnTo>
                <a:lnTo>
                  <a:pt x="216590" y="2050123"/>
                </a:lnTo>
                <a:lnTo>
                  <a:pt x="222093" y="1983107"/>
                </a:lnTo>
                <a:lnTo>
                  <a:pt x="226104" y="1914021"/>
                </a:lnTo>
                <a:lnTo>
                  <a:pt x="228558" y="1843092"/>
                </a:lnTo>
                <a:lnTo>
                  <a:pt x="229390" y="1770547"/>
                </a:lnTo>
                <a:lnTo>
                  <a:pt x="228558" y="1698003"/>
                </a:lnTo>
                <a:lnTo>
                  <a:pt x="226104" y="1627074"/>
                </a:lnTo>
                <a:lnTo>
                  <a:pt x="222093" y="1557988"/>
                </a:lnTo>
                <a:lnTo>
                  <a:pt x="216590" y="1490972"/>
                </a:lnTo>
                <a:lnTo>
                  <a:pt x="209660" y="1426253"/>
                </a:lnTo>
                <a:lnTo>
                  <a:pt x="201366" y="1364061"/>
                </a:lnTo>
                <a:lnTo>
                  <a:pt x="191774" y="1304622"/>
                </a:lnTo>
                <a:lnTo>
                  <a:pt x="180948" y="1248163"/>
                </a:lnTo>
                <a:lnTo>
                  <a:pt x="168953" y="1194913"/>
                </a:lnTo>
                <a:lnTo>
                  <a:pt x="155854" y="1145099"/>
                </a:lnTo>
                <a:lnTo>
                  <a:pt x="141714" y="1098949"/>
                </a:lnTo>
                <a:lnTo>
                  <a:pt x="126600" y="1056691"/>
                </a:lnTo>
                <a:lnTo>
                  <a:pt x="110574" y="1018551"/>
                </a:lnTo>
                <a:lnTo>
                  <a:pt x="76050" y="955540"/>
                </a:lnTo>
                <a:lnTo>
                  <a:pt x="38657" y="911737"/>
                </a:lnTo>
                <a:lnTo>
                  <a:pt x="431" y="889832"/>
                </a:lnTo>
                <a:lnTo>
                  <a:pt x="7232087" y="0"/>
                </a:lnTo>
                <a:close/>
              </a:path>
            </a:pathLst>
          </a:custGeom>
          <a:gradFill>
            <a:gsLst>
              <a:gs pos="0">
                <a:schemeClr val="accent1">
                  <a:alpha val="20000"/>
                </a:schemeClr>
              </a:gs>
              <a:gs pos="100000">
                <a:schemeClr val="bg1"/>
              </a:gs>
            </a:gsLst>
            <a:lin ang="0" scaled="0"/>
          </a:grad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5" name="熊大的PPT宝库4"/>
          <p:cNvSpPr/>
          <p:nvPr/>
        </p:nvSpPr>
        <p:spPr>
          <a:xfrm>
            <a:off x="1186773" y="1416275"/>
            <a:ext cx="9737389" cy="3255743"/>
          </a:xfrm>
          <a:prstGeom prst="roundRect">
            <a:avLst>
              <a:gd name="adj" fmla="val 50000"/>
            </a:avLst>
          </a:prstGeom>
          <a:no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7" name="熊大的PPT宝库5"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a:spLocks noChangeAspect="1"/>
          </p:cNvSpPr>
          <p:nvPr/>
        </p:nvSpPr>
        <p:spPr>
          <a:xfrm>
            <a:off x="2537204" y="2541440"/>
            <a:ext cx="1116000" cy="1116000"/>
          </a:xfrm>
          <a:prstGeom prst="ellipse">
            <a:avLst/>
          </a:prstGeom>
          <a:solidFill>
            <a:schemeClr val="bg1"/>
          </a:solidFill>
          <a:ln w="19050">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srgbClr val="00329D"/>
                </a:solidFill>
                <a:effectLst/>
                <a:uLnTx/>
                <a:uFillTx/>
                <a:cs typeface="+mn-ea"/>
                <a:sym typeface="+mn-lt"/>
              </a:rPr>
              <a:t>数据收集</a:t>
            </a:r>
          </a:p>
        </p:txBody>
      </p:sp>
      <p:sp>
        <p:nvSpPr>
          <p:cNvPr id="8" name="熊大的PPT宝库6"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a:spLocks noChangeAspect="1"/>
          </p:cNvSpPr>
          <p:nvPr/>
        </p:nvSpPr>
        <p:spPr>
          <a:xfrm>
            <a:off x="8545210" y="2541440"/>
            <a:ext cx="1116000" cy="1116000"/>
          </a:xfrm>
          <a:prstGeom prst="ellipse">
            <a:avLst/>
          </a:prstGeom>
          <a:solidFill>
            <a:schemeClr val="bg1"/>
          </a:solidFill>
          <a:ln w="19050">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srgbClr val="00329D"/>
                </a:solidFill>
                <a:effectLst/>
                <a:uLnTx/>
                <a:uFillTx/>
                <a:cs typeface="+mn-ea"/>
                <a:sym typeface="+mn-lt"/>
              </a:rPr>
              <a:t>用户</a:t>
            </a:r>
          </a:p>
        </p:txBody>
      </p:sp>
      <p:sp>
        <p:nvSpPr>
          <p:cNvPr id="9" name="熊大的PPT宝库7"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a:spLocks noChangeAspect="1"/>
          </p:cNvSpPr>
          <p:nvPr/>
        </p:nvSpPr>
        <p:spPr>
          <a:xfrm>
            <a:off x="3943201" y="2379440"/>
            <a:ext cx="1440000" cy="1440000"/>
          </a:xfrm>
          <a:prstGeom prst="ellipse">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数据</a:t>
            </a:r>
            <a:endParaRPr kumimoji="0" lang="en-US" altLang="zh-CN" sz="1800" b="0"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处理</a:t>
            </a:r>
          </a:p>
        </p:txBody>
      </p:sp>
      <p:sp>
        <p:nvSpPr>
          <p:cNvPr id="10" name="熊大的PPT宝库8"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a:spLocks noChangeAspect="1"/>
          </p:cNvSpPr>
          <p:nvPr/>
        </p:nvSpPr>
        <p:spPr>
          <a:xfrm>
            <a:off x="6815213" y="2379440"/>
            <a:ext cx="1440000" cy="1440000"/>
          </a:xfrm>
          <a:prstGeom prst="ellipse">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预测</a:t>
            </a:r>
            <a:r>
              <a:rPr kumimoji="0" lang="en-US" altLang="zh-CN" sz="1800" b="0" i="0" u="none" strike="noStrike" kern="1200" cap="none" spc="0" normalizeH="0" baseline="0" noProof="0" dirty="0">
                <a:ln>
                  <a:noFill/>
                </a:ln>
                <a:solidFill>
                  <a:srgbClr val="FFFFFF"/>
                </a:solidFill>
                <a:effectLst/>
                <a:uLnTx/>
                <a:uFillTx/>
                <a:cs typeface="+mn-ea"/>
                <a:sym typeface="+mn-lt"/>
              </a:rPr>
              <a:t>&amp;</a:t>
            </a:r>
            <a:r>
              <a:rPr kumimoji="0" lang="zh-CN" altLang="en-US" sz="1800" b="0" i="0" u="none" strike="noStrike" kern="1200" cap="none" spc="0" normalizeH="0" baseline="0" noProof="0" dirty="0">
                <a:ln>
                  <a:noFill/>
                </a:ln>
                <a:solidFill>
                  <a:srgbClr val="FFFFFF"/>
                </a:solidFill>
                <a:effectLst/>
                <a:uLnTx/>
                <a:uFillTx/>
                <a:cs typeface="+mn-ea"/>
                <a:sym typeface="+mn-lt"/>
              </a:rPr>
              <a:t>优化</a:t>
            </a:r>
            <a:r>
              <a:rPr kumimoji="0" lang="en-US" altLang="zh-CN" sz="1800" b="0" i="0" u="none" strike="noStrike" kern="1200" cap="none" spc="0" normalizeH="0" baseline="0" noProof="0" dirty="0">
                <a:ln>
                  <a:noFill/>
                </a:ln>
                <a:solidFill>
                  <a:srgbClr val="FFFFFF"/>
                </a:solidFill>
                <a:effectLst/>
                <a:uLnTx/>
                <a:uFillTx/>
                <a:cs typeface="+mn-ea"/>
                <a:sym typeface="+mn-lt"/>
              </a:rPr>
              <a:t>&amp;</a:t>
            </a:r>
            <a:r>
              <a:rPr kumimoji="0" lang="zh-CN" altLang="en-US" sz="1800" b="0" i="0" u="none" strike="noStrike" kern="1200" cap="none" spc="0" normalizeH="0" baseline="0" noProof="0" dirty="0">
                <a:ln>
                  <a:noFill/>
                </a:ln>
                <a:solidFill>
                  <a:srgbClr val="FFFFFF"/>
                </a:solidFill>
                <a:effectLst/>
                <a:uLnTx/>
                <a:uFillTx/>
                <a:cs typeface="+mn-ea"/>
                <a:sym typeface="+mn-lt"/>
              </a:rPr>
              <a:t>投放</a:t>
            </a:r>
          </a:p>
        </p:txBody>
      </p:sp>
      <p:sp>
        <p:nvSpPr>
          <p:cNvPr id="11" name="熊大的PPT宝库9"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a:spLocks noChangeAspect="1"/>
          </p:cNvSpPr>
          <p:nvPr/>
        </p:nvSpPr>
        <p:spPr>
          <a:xfrm>
            <a:off x="5217207" y="2217440"/>
            <a:ext cx="1764000" cy="1764000"/>
          </a:xfrm>
          <a:prstGeom prst="ellipse">
            <a:avLst/>
          </a:prstGeom>
          <a:solidFill>
            <a:schemeClr val="bg1"/>
          </a:solidFill>
          <a:ln>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329D">
                  <a:lumMod val="50000"/>
                </a:srgbClr>
              </a:solidFill>
              <a:effectLst/>
              <a:uLnTx/>
              <a:uFillTx/>
              <a:cs typeface="+mn-ea"/>
              <a:sym typeface="+mn-lt"/>
            </a:endParaRPr>
          </a:p>
        </p:txBody>
      </p:sp>
      <p:sp>
        <p:nvSpPr>
          <p:cNvPr id="12" name="熊大的PPT宝库10"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2087960" y="3005778"/>
            <a:ext cx="374253" cy="187325"/>
          </a:xfrm>
          <a:prstGeom prst="rightArrow">
            <a:avLst>
              <a:gd name="adj1" fmla="val 55086"/>
              <a:gd name="adj2" fmla="val 53401"/>
            </a:avLst>
          </a:prstGeom>
          <a:gradFill>
            <a:gsLst>
              <a:gs pos="0">
                <a:schemeClr val="accent1"/>
              </a:gs>
              <a:gs pos="0">
                <a:schemeClr val="accent1">
                  <a:alpha val="0"/>
                </a:schemeClr>
              </a:gs>
              <a:gs pos="100000">
                <a:schemeClr val="accent1"/>
              </a:gs>
            </a:gsLst>
            <a:lin ang="0" scaled="0"/>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solidFill>
                  <a:srgbClr val="FE6800"/>
                </a:solidFill>
              </a:ln>
              <a:solidFill>
                <a:srgbClr val="FFFFFF"/>
              </a:solidFill>
              <a:effectLst/>
              <a:uLnTx/>
              <a:uFillTx/>
              <a:cs typeface="+mn-ea"/>
              <a:sym typeface="+mn-lt"/>
            </a:endParaRPr>
          </a:p>
        </p:txBody>
      </p:sp>
      <p:sp>
        <p:nvSpPr>
          <p:cNvPr id="16" name="熊大的PPT宝库11"/>
          <p:cNvSpPr/>
          <p:nvPr/>
        </p:nvSpPr>
        <p:spPr>
          <a:xfrm>
            <a:off x="432066" y="2880538"/>
            <a:ext cx="1538822" cy="437804"/>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17" name="熊大的PPT宝库12"/>
          <p:cNvSpPr/>
          <p:nvPr/>
        </p:nvSpPr>
        <p:spPr>
          <a:xfrm>
            <a:off x="432066" y="2880538"/>
            <a:ext cx="1538822" cy="437804"/>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18" name="熊大的PPT宝库13"/>
          <p:cNvSpPr/>
          <p:nvPr/>
        </p:nvSpPr>
        <p:spPr>
          <a:xfrm>
            <a:off x="494856" y="2898402"/>
            <a:ext cx="1413242" cy="402076"/>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19" name="熊大的PPT宝库14"/>
          <p:cNvSpPr/>
          <p:nvPr/>
        </p:nvSpPr>
        <p:spPr>
          <a:xfrm>
            <a:off x="432066" y="2880538"/>
            <a:ext cx="1538822" cy="437804"/>
          </a:xfrm>
          <a:prstGeom prst="roundRect">
            <a:avLst>
              <a:gd name="adj" fmla="val 50000"/>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15" name="熊大的PPT宝库15"/>
          <p:cNvSpPr txBox="1"/>
          <p:nvPr/>
        </p:nvSpPr>
        <p:spPr>
          <a:xfrm>
            <a:off x="638443" y="2930163"/>
            <a:ext cx="1126068" cy="3385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投放需求</a:t>
            </a:r>
          </a:p>
        </p:txBody>
      </p:sp>
      <p:sp>
        <p:nvSpPr>
          <p:cNvPr id="23" name="熊大的PPT宝库16"/>
          <p:cNvSpPr/>
          <p:nvPr/>
        </p:nvSpPr>
        <p:spPr>
          <a:xfrm>
            <a:off x="5350184" y="1240085"/>
            <a:ext cx="1538822" cy="437804"/>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24" name="熊大的PPT宝库17"/>
          <p:cNvSpPr/>
          <p:nvPr/>
        </p:nvSpPr>
        <p:spPr>
          <a:xfrm>
            <a:off x="5350184" y="1240085"/>
            <a:ext cx="1538822" cy="437804"/>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25" name="熊大的PPT宝库18"/>
          <p:cNvSpPr/>
          <p:nvPr/>
        </p:nvSpPr>
        <p:spPr>
          <a:xfrm>
            <a:off x="5412974" y="1257949"/>
            <a:ext cx="1413242" cy="402076"/>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26" name="熊大的PPT宝库19"/>
          <p:cNvSpPr/>
          <p:nvPr/>
        </p:nvSpPr>
        <p:spPr>
          <a:xfrm>
            <a:off x="5350184" y="1240085"/>
            <a:ext cx="1538822" cy="437804"/>
          </a:xfrm>
          <a:prstGeom prst="roundRect">
            <a:avLst>
              <a:gd name="adj" fmla="val 50000"/>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22" name="熊大的PPT宝库20"/>
          <p:cNvSpPr txBox="1"/>
          <p:nvPr/>
        </p:nvSpPr>
        <p:spPr>
          <a:xfrm>
            <a:off x="5556561" y="1289706"/>
            <a:ext cx="1126068" cy="33855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迭代优化</a:t>
            </a:r>
          </a:p>
        </p:txBody>
      </p:sp>
      <p:sp>
        <p:nvSpPr>
          <p:cNvPr id="37" name="熊大的PPT宝库21"/>
          <p:cNvSpPr/>
          <p:nvPr/>
        </p:nvSpPr>
        <p:spPr>
          <a:xfrm>
            <a:off x="10157391" y="2880892"/>
            <a:ext cx="1538822" cy="437804"/>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38" name="熊大的PPT宝库22"/>
          <p:cNvSpPr/>
          <p:nvPr/>
        </p:nvSpPr>
        <p:spPr>
          <a:xfrm>
            <a:off x="10157391" y="2880892"/>
            <a:ext cx="1538822" cy="437804"/>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39" name="熊大的PPT宝库23"/>
          <p:cNvSpPr/>
          <p:nvPr/>
        </p:nvSpPr>
        <p:spPr>
          <a:xfrm>
            <a:off x="10220181" y="2898756"/>
            <a:ext cx="1413242" cy="402076"/>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40" name="熊大的PPT宝库24"/>
          <p:cNvSpPr/>
          <p:nvPr/>
        </p:nvSpPr>
        <p:spPr>
          <a:xfrm>
            <a:off x="10157391" y="2880892"/>
            <a:ext cx="1538822" cy="437804"/>
          </a:xfrm>
          <a:prstGeom prst="roundRect">
            <a:avLst>
              <a:gd name="adj" fmla="val 50000"/>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36" name="熊大的PPT宝库25"/>
          <p:cNvSpPr txBox="1"/>
          <p:nvPr/>
        </p:nvSpPr>
        <p:spPr>
          <a:xfrm>
            <a:off x="10363768" y="2930517"/>
            <a:ext cx="1126068" cy="3385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投放需求</a:t>
            </a:r>
          </a:p>
        </p:txBody>
      </p:sp>
      <p:sp>
        <p:nvSpPr>
          <p:cNvPr id="41" name="熊大的PPT宝库26"/>
          <p:cNvSpPr/>
          <p:nvPr/>
        </p:nvSpPr>
        <p:spPr>
          <a:xfrm>
            <a:off x="5556752" y="3283677"/>
            <a:ext cx="1107997" cy="369332"/>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329D"/>
                </a:solidFill>
                <a:effectLst/>
                <a:uLnTx/>
                <a:uFillTx/>
                <a:cs typeface="+mn-ea"/>
                <a:sym typeface="+mn-lt"/>
              </a:rPr>
              <a:t>模型训练</a:t>
            </a:r>
          </a:p>
        </p:txBody>
      </p:sp>
      <p:sp>
        <p:nvSpPr>
          <p:cNvPr id="63" name="熊大的PPT宝库27"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9723200" y="3005778"/>
            <a:ext cx="374253" cy="187325"/>
          </a:xfrm>
          <a:prstGeom prst="rightArrow">
            <a:avLst>
              <a:gd name="adj1" fmla="val 55086"/>
              <a:gd name="adj2" fmla="val 53401"/>
            </a:avLst>
          </a:prstGeom>
          <a:gradFill>
            <a:gsLst>
              <a:gs pos="0">
                <a:schemeClr val="accent1"/>
              </a:gs>
              <a:gs pos="0">
                <a:schemeClr val="accent1">
                  <a:alpha val="0"/>
                </a:schemeClr>
              </a:gs>
              <a:gs pos="100000">
                <a:schemeClr val="accent1"/>
              </a:gs>
            </a:gsLst>
            <a:lin ang="0" scaled="0"/>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solidFill>
                  <a:srgbClr val="FE6800"/>
                </a:solidFill>
              </a:ln>
              <a:solidFill>
                <a:srgbClr val="FFFFFF"/>
              </a:solidFill>
              <a:effectLst/>
              <a:uLnTx/>
              <a:uFillTx/>
              <a:cs typeface="+mn-ea"/>
              <a:sym typeface="+mn-lt"/>
            </a:endParaRPr>
          </a:p>
        </p:txBody>
      </p:sp>
      <p:sp>
        <p:nvSpPr>
          <p:cNvPr id="133" name="熊大的PPT宝库28"/>
          <p:cNvSpPr/>
          <p:nvPr/>
        </p:nvSpPr>
        <p:spPr>
          <a:xfrm>
            <a:off x="432065" y="5363609"/>
            <a:ext cx="2106000" cy="1080000"/>
          </a:xfrm>
          <a:prstGeom prst="roundRect">
            <a:avLst>
              <a:gd name="adj" fmla="val 11001"/>
            </a:avLst>
          </a:prstGeom>
          <a:solidFill>
            <a:schemeClr val="accent1">
              <a:lumMod val="20000"/>
              <a:lumOff val="80000"/>
              <a:alpha val="30000"/>
            </a:schemeClr>
          </a:solidFill>
          <a:ln w="19050">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28" name="熊大的PPT宝库29"/>
          <p:cNvSpPr txBox="1"/>
          <p:nvPr/>
        </p:nvSpPr>
        <p:spPr>
          <a:xfrm>
            <a:off x="671019" y="5490722"/>
            <a:ext cx="1457817" cy="861774"/>
          </a:xfrm>
          <a:prstGeom prst="rect">
            <a:avLst/>
          </a:prstGeom>
          <a:noFill/>
        </p:spPr>
        <p:txBody>
          <a:bodyPr wrap="square" lIns="0" tIns="0" rIns="0" bIns="0">
            <a:spAutoFit/>
          </a:bodyPr>
          <a:lstStyle/>
          <a:p>
            <a:pPr marL="285750" marR="0" lvl="0" indent="-285750" algn="ctr"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zh-CN" sz="1400" b="0" i="0" u="none" strike="noStrike" kern="1200" cap="none" spc="0" normalizeH="0" baseline="0" noProof="0" dirty="0">
                <a:ln>
                  <a:noFill/>
                </a:ln>
                <a:solidFill>
                  <a:srgbClr val="000000"/>
                </a:solidFill>
                <a:effectLst/>
                <a:uLnTx/>
                <a:uFillTx/>
                <a:cs typeface="+mn-ea"/>
                <a:sym typeface="+mn-lt"/>
              </a:rPr>
              <a:t>浏览行为</a:t>
            </a:r>
          </a:p>
          <a:p>
            <a:pPr marL="285750" marR="0" lvl="0" indent="-285750" algn="ctr"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zh-CN" sz="1400" b="0" i="0" u="none" strike="noStrike" kern="1200" cap="none" spc="0" normalizeH="0" baseline="0" noProof="0" dirty="0">
                <a:ln>
                  <a:noFill/>
                </a:ln>
                <a:solidFill>
                  <a:srgbClr val="000000"/>
                </a:solidFill>
                <a:effectLst/>
                <a:uLnTx/>
                <a:uFillTx/>
                <a:cs typeface="+mn-ea"/>
                <a:sym typeface="+mn-lt"/>
              </a:rPr>
              <a:t>互动行为</a:t>
            </a:r>
          </a:p>
          <a:p>
            <a:pPr marL="285750" marR="0" lvl="0" indent="-285750" algn="ctr"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zh-CN" sz="1400" b="0" i="0" u="none" strike="noStrike" kern="1200" cap="none" spc="0" normalizeH="0" baseline="0" noProof="0" dirty="0">
                <a:ln>
                  <a:noFill/>
                </a:ln>
                <a:solidFill>
                  <a:srgbClr val="000000"/>
                </a:solidFill>
                <a:effectLst/>
                <a:uLnTx/>
                <a:uFillTx/>
                <a:cs typeface="+mn-ea"/>
                <a:sym typeface="+mn-lt"/>
              </a:rPr>
              <a:t>转化行为</a:t>
            </a:r>
          </a:p>
          <a:p>
            <a:pPr marL="285750" marR="0" lvl="0" indent="-285750" algn="ctr" defTabSz="457200" rtl="0" eaLnBrk="1" fontAlgn="auto"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zh-CN" sz="1400" b="0" i="0" u="none" strike="noStrike" kern="1200" cap="none" spc="0" normalizeH="0" baseline="0" noProof="0" dirty="0">
                <a:ln>
                  <a:noFill/>
                </a:ln>
                <a:solidFill>
                  <a:srgbClr val="000000"/>
                </a:solidFill>
                <a:effectLst/>
                <a:uLnTx/>
                <a:uFillTx/>
                <a:cs typeface="+mn-ea"/>
                <a:sym typeface="+mn-lt"/>
              </a:rPr>
              <a:t>转化行为</a:t>
            </a:r>
            <a:endParaRPr kumimoji="0" lang="zh-CN" altLang="zh-CN" sz="1000" b="0" i="0" u="none" strike="noStrike" kern="1200" cap="none" spc="0" normalizeH="0" baseline="0" noProof="0" dirty="0">
              <a:ln>
                <a:noFill/>
              </a:ln>
              <a:solidFill>
                <a:srgbClr val="000000"/>
              </a:solidFill>
              <a:effectLst/>
              <a:uLnTx/>
              <a:uFillTx/>
              <a:cs typeface="+mn-ea"/>
              <a:sym typeface="+mn-lt"/>
            </a:endParaRPr>
          </a:p>
        </p:txBody>
      </p:sp>
      <p:sp>
        <p:nvSpPr>
          <p:cNvPr id="137" name="熊大的PPT宝库30"/>
          <p:cNvSpPr/>
          <p:nvPr/>
        </p:nvSpPr>
        <p:spPr>
          <a:xfrm>
            <a:off x="2722273" y="5363609"/>
            <a:ext cx="2106000" cy="1080000"/>
          </a:xfrm>
          <a:prstGeom prst="roundRect">
            <a:avLst>
              <a:gd name="adj" fmla="val 11001"/>
            </a:avLst>
          </a:prstGeom>
          <a:solidFill>
            <a:schemeClr val="accent1"/>
          </a:solidFill>
          <a:ln w="9525">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87782" tIns="43891" rIns="87782" bIns="43891"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650" b="0" i="0" u="none" strike="noStrike" kern="1200" cap="none" spc="0" normalizeH="0" baseline="0" noProof="0" dirty="0">
              <a:ln>
                <a:noFill/>
              </a:ln>
              <a:solidFill>
                <a:srgbClr val="FFFFFF"/>
              </a:solidFill>
              <a:effectLst/>
              <a:uLnTx/>
              <a:uFillTx/>
              <a:cs typeface="+mn-ea"/>
              <a:sym typeface="+mn-lt"/>
            </a:endParaRPr>
          </a:p>
        </p:txBody>
      </p:sp>
      <p:sp>
        <p:nvSpPr>
          <p:cNvPr id="129" name="熊大的PPT宝库31"/>
          <p:cNvSpPr txBox="1"/>
          <p:nvPr/>
        </p:nvSpPr>
        <p:spPr>
          <a:xfrm>
            <a:off x="2950614" y="5490722"/>
            <a:ext cx="1648456" cy="861774"/>
          </a:xfrm>
          <a:prstGeom prst="rect">
            <a:avLst/>
          </a:prstGeom>
          <a:noFill/>
        </p:spPr>
        <p:txBody>
          <a:bodyPr wrap="square" lIns="0" tIns="0" rIns="0" bIns="0">
            <a:spAutoFit/>
          </a:bodyPr>
          <a:lstStyle/>
          <a:p>
            <a:pPr marL="285750" marR="0" lvl="0" indent="-285750" algn="l"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zh-CN" sz="1400" b="0" i="0" u="none" strike="noStrike" kern="1200" cap="none" spc="0" normalizeH="0" baseline="0" noProof="0" dirty="0">
                <a:ln>
                  <a:noFill/>
                </a:ln>
                <a:solidFill>
                  <a:srgbClr val="FFFFFF"/>
                </a:solidFill>
                <a:effectLst/>
                <a:uLnTx/>
                <a:uFillTx/>
                <a:cs typeface="+mn-ea"/>
                <a:sym typeface="+mn-lt"/>
              </a:rPr>
              <a:t>用户的浏览记录</a:t>
            </a:r>
          </a:p>
          <a:p>
            <a:pPr marL="285750" marR="0" lvl="0" indent="-285750" algn="l"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zh-CN" sz="1400" b="0" i="0" u="none" strike="noStrike" kern="1200" cap="none" spc="0" normalizeH="0" baseline="0" noProof="0" dirty="0">
                <a:ln>
                  <a:noFill/>
                </a:ln>
                <a:solidFill>
                  <a:srgbClr val="FFFFFF"/>
                </a:solidFill>
                <a:effectLst/>
                <a:uLnTx/>
                <a:uFillTx/>
                <a:cs typeface="+mn-ea"/>
                <a:sym typeface="+mn-lt"/>
              </a:rPr>
              <a:t>购买记录</a:t>
            </a:r>
          </a:p>
          <a:p>
            <a:pPr marL="285750" marR="0" lvl="0" indent="-285750" algn="l"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zh-CN" sz="1400" b="0" i="0" u="none" strike="noStrike" kern="1200" cap="none" spc="0" normalizeH="0" baseline="0" noProof="0" dirty="0">
                <a:ln>
                  <a:noFill/>
                </a:ln>
                <a:solidFill>
                  <a:srgbClr val="FFFFFF"/>
                </a:solidFill>
                <a:effectLst/>
                <a:uLnTx/>
                <a:uFillTx/>
                <a:cs typeface="+mn-ea"/>
                <a:sym typeface="+mn-lt"/>
              </a:rPr>
              <a:t>购买地理位置</a:t>
            </a:r>
          </a:p>
          <a:p>
            <a:pPr marL="285750" marR="0" lvl="0" indent="-285750" algn="l"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zh-CN" sz="1400" b="0" i="0" u="none" strike="noStrike" kern="1200" cap="none" spc="0" normalizeH="0" baseline="0" noProof="0" dirty="0">
                <a:ln>
                  <a:noFill/>
                </a:ln>
                <a:solidFill>
                  <a:srgbClr val="FFFFFF"/>
                </a:solidFill>
                <a:effectLst/>
                <a:uLnTx/>
                <a:uFillTx/>
                <a:cs typeface="+mn-ea"/>
                <a:sym typeface="+mn-lt"/>
              </a:rPr>
              <a:t>目标受众等</a:t>
            </a:r>
          </a:p>
        </p:txBody>
      </p:sp>
      <p:sp>
        <p:nvSpPr>
          <p:cNvPr id="138" name="熊大的PPT宝库32"/>
          <p:cNvSpPr/>
          <p:nvPr/>
        </p:nvSpPr>
        <p:spPr>
          <a:xfrm>
            <a:off x="5832554" y="2564240"/>
            <a:ext cx="501226" cy="592324"/>
          </a:xfrm>
          <a:custGeom>
            <a:avLst/>
            <a:gdLst>
              <a:gd name="T0" fmla="*/ 228662378 w 501"/>
              <a:gd name="T1" fmla="*/ 0 h 619"/>
              <a:gd name="T2" fmla="*/ 228662378 w 501"/>
              <a:gd name="T3" fmla="*/ 0 h 619"/>
              <a:gd name="T4" fmla="*/ 200160568 w 501"/>
              <a:gd name="T5" fmla="*/ 0 h 619"/>
              <a:gd name="T6" fmla="*/ 47286783 w 501"/>
              <a:gd name="T7" fmla="*/ 0 h 619"/>
              <a:gd name="T8" fmla="*/ 0 w 501"/>
              <a:gd name="T9" fmla="*/ 47379166 h 619"/>
              <a:gd name="T10" fmla="*/ 0 w 501"/>
              <a:gd name="T11" fmla="*/ 348940850 h 619"/>
              <a:gd name="T12" fmla="*/ 47286783 w 501"/>
              <a:gd name="T13" fmla="*/ 395679887 h 619"/>
              <a:gd name="T14" fmla="*/ 276597058 w 501"/>
              <a:gd name="T15" fmla="*/ 395679887 h 619"/>
              <a:gd name="T16" fmla="*/ 323883841 w 501"/>
              <a:gd name="T17" fmla="*/ 348940850 h 619"/>
              <a:gd name="T18" fmla="*/ 323883841 w 501"/>
              <a:gd name="T19" fmla="*/ 94118202 h 619"/>
              <a:gd name="T20" fmla="*/ 228662378 w 501"/>
              <a:gd name="T21" fmla="*/ 0 h 619"/>
              <a:gd name="T22" fmla="*/ 305098868 w 501"/>
              <a:gd name="T23" fmla="*/ 348940850 h 619"/>
              <a:gd name="T24" fmla="*/ 305098868 w 501"/>
              <a:gd name="T25" fmla="*/ 348940850 h 619"/>
              <a:gd name="T26" fmla="*/ 276597058 w 501"/>
              <a:gd name="T27" fmla="*/ 377112138 h 619"/>
              <a:gd name="T28" fmla="*/ 47286783 w 501"/>
              <a:gd name="T29" fmla="*/ 377112138 h 619"/>
              <a:gd name="T30" fmla="*/ 18784973 w 501"/>
              <a:gd name="T31" fmla="*/ 348940850 h 619"/>
              <a:gd name="T32" fmla="*/ 18784973 w 501"/>
              <a:gd name="T33" fmla="*/ 47379166 h 619"/>
              <a:gd name="T34" fmla="*/ 47286783 w 501"/>
              <a:gd name="T35" fmla="*/ 18567749 h 619"/>
              <a:gd name="T36" fmla="*/ 200160568 w 501"/>
              <a:gd name="T37" fmla="*/ 18567749 h 619"/>
              <a:gd name="T38" fmla="*/ 200160568 w 501"/>
              <a:gd name="T39" fmla="*/ 75550453 h 619"/>
              <a:gd name="T40" fmla="*/ 247447351 w 501"/>
              <a:gd name="T41" fmla="*/ 122929619 h 619"/>
              <a:gd name="T42" fmla="*/ 305098868 w 501"/>
              <a:gd name="T43" fmla="*/ 122929619 h 619"/>
              <a:gd name="T44" fmla="*/ 305098868 w 501"/>
              <a:gd name="T45" fmla="*/ 348940850 h 619"/>
              <a:gd name="T46" fmla="*/ 247447351 w 501"/>
              <a:gd name="T47" fmla="*/ 94118202 h 619"/>
              <a:gd name="T48" fmla="*/ 247447351 w 501"/>
              <a:gd name="T49" fmla="*/ 94118202 h 619"/>
              <a:gd name="T50" fmla="*/ 228662378 w 501"/>
              <a:gd name="T51" fmla="*/ 75550453 h 619"/>
              <a:gd name="T52" fmla="*/ 228662378 w 501"/>
              <a:gd name="T53" fmla="*/ 18567749 h 619"/>
              <a:gd name="T54" fmla="*/ 305098868 w 501"/>
              <a:gd name="T55" fmla="*/ 94118202 h 619"/>
              <a:gd name="T56" fmla="*/ 247447351 w 501"/>
              <a:gd name="T57" fmla="*/ 94118202 h 619"/>
              <a:gd name="T58" fmla="*/ 238378411 w 501"/>
              <a:gd name="T59" fmla="*/ 273390397 h 619"/>
              <a:gd name="T60" fmla="*/ 238378411 w 501"/>
              <a:gd name="T61" fmla="*/ 273390397 h 619"/>
              <a:gd name="T62" fmla="*/ 85505431 w 501"/>
              <a:gd name="T63" fmla="*/ 273390397 h 619"/>
              <a:gd name="T64" fmla="*/ 76436490 w 501"/>
              <a:gd name="T65" fmla="*/ 282993936 h 619"/>
              <a:gd name="T66" fmla="*/ 85505431 w 501"/>
              <a:gd name="T67" fmla="*/ 301561685 h 619"/>
              <a:gd name="T68" fmla="*/ 238378411 w 501"/>
              <a:gd name="T69" fmla="*/ 301561685 h 619"/>
              <a:gd name="T70" fmla="*/ 247447351 w 501"/>
              <a:gd name="T71" fmla="*/ 282993936 h 619"/>
              <a:gd name="T72" fmla="*/ 238378411 w 501"/>
              <a:gd name="T73" fmla="*/ 273390397 h 619"/>
              <a:gd name="T74" fmla="*/ 238378411 w 501"/>
              <a:gd name="T75" fmla="*/ 197839943 h 619"/>
              <a:gd name="T76" fmla="*/ 238378411 w 501"/>
              <a:gd name="T77" fmla="*/ 197839943 h 619"/>
              <a:gd name="T78" fmla="*/ 85505431 w 501"/>
              <a:gd name="T79" fmla="*/ 197839943 h 619"/>
              <a:gd name="T80" fmla="*/ 76436490 w 501"/>
              <a:gd name="T81" fmla="*/ 207443482 h 619"/>
              <a:gd name="T82" fmla="*/ 85505431 w 501"/>
              <a:gd name="T83" fmla="*/ 226651360 h 619"/>
              <a:gd name="T84" fmla="*/ 238378411 w 501"/>
              <a:gd name="T85" fmla="*/ 226651360 h 619"/>
              <a:gd name="T86" fmla="*/ 247447351 w 501"/>
              <a:gd name="T87" fmla="*/ 207443482 h 619"/>
              <a:gd name="T88" fmla="*/ 238378411 w 501"/>
              <a:gd name="T89" fmla="*/ 197839943 h 61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501" h="619">
                <a:moveTo>
                  <a:pt x="353" y="0"/>
                </a:moveTo>
                <a:lnTo>
                  <a:pt x="353" y="0"/>
                </a:lnTo>
                <a:cubicBezTo>
                  <a:pt x="338" y="0"/>
                  <a:pt x="338" y="0"/>
                  <a:pt x="309" y="0"/>
                </a:cubicBezTo>
                <a:cubicBezTo>
                  <a:pt x="73" y="0"/>
                  <a:pt x="73" y="0"/>
                  <a:pt x="73" y="0"/>
                </a:cubicBezTo>
                <a:cubicBezTo>
                  <a:pt x="29" y="0"/>
                  <a:pt x="0" y="29"/>
                  <a:pt x="0" y="74"/>
                </a:cubicBezTo>
                <a:cubicBezTo>
                  <a:pt x="0" y="545"/>
                  <a:pt x="0" y="545"/>
                  <a:pt x="0" y="545"/>
                </a:cubicBezTo>
                <a:cubicBezTo>
                  <a:pt x="0" y="589"/>
                  <a:pt x="29" y="618"/>
                  <a:pt x="73" y="618"/>
                </a:cubicBezTo>
                <a:cubicBezTo>
                  <a:pt x="427" y="618"/>
                  <a:pt x="427" y="618"/>
                  <a:pt x="427" y="618"/>
                </a:cubicBezTo>
                <a:cubicBezTo>
                  <a:pt x="471" y="618"/>
                  <a:pt x="500" y="589"/>
                  <a:pt x="500" y="545"/>
                </a:cubicBezTo>
                <a:cubicBezTo>
                  <a:pt x="500" y="147"/>
                  <a:pt x="500" y="147"/>
                  <a:pt x="500" y="147"/>
                </a:cubicBezTo>
                <a:lnTo>
                  <a:pt x="353" y="0"/>
                </a:lnTo>
                <a:close/>
                <a:moveTo>
                  <a:pt x="471" y="545"/>
                </a:moveTo>
                <a:lnTo>
                  <a:pt x="471" y="545"/>
                </a:lnTo>
                <a:cubicBezTo>
                  <a:pt x="471" y="559"/>
                  <a:pt x="441" y="589"/>
                  <a:pt x="427" y="589"/>
                </a:cubicBezTo>
                <a:cubicBezTo>
                  <a:pt x="73" y="589"/>
                  <a:pt x="73" y="589"/>
                  <a:pt x="73" y="589"/>
                </a:cubicBezTo>
                <a:cubicBezTo>
                  <a:pt x="59" y="589"/>
                  <a:pt x="29" y="559"/>
                  <a:pt x="29" y="545"/>
                </a:cubicBezTo>
                <a:cubicBezTo>
                  <a:pt x="29" y="74"/>
                  <a:pt x="29" y="74"/>
                  <a:pt x="29" y="74"/>
                </a:cubicBezTo>
                <a:cubicBezTo>
                  <a:pt x="29" y="59"/>
                  <a:pt x="59" y="29"/>
                  <a:pt x="73" y="29"/>
                </a:cubicBezTo>
                <a:cubicBezTo>
                  <a:pt x="309" y="29"/>
                  <a:pt x="309" y="29"/>
                  <a:pt x="309" y="29"/>
                </a:cubicBezTo>
                <a:cubicBezTo>
                  <a:pt x="309" y="88"/>
                  <a:pt x="309" y="118"/>
                  <a:pt x="309" y="118"/>
                </a:cubicBezTo>
                <a:cubicBezTo>
                  <a:pt x="309" y="162"/>
                  <a:pt x="338" y="192"/>
                  <a:pt x="382" y="192"/>
                </a:cubicBezTo>
                <a:cubicBezTo>
                  <a:pt x="382" y="192"/>
                  <a:pt x="427" y="192"/>
                  <a:pt x="471" y="192"/>
                </a:cubicBezTo>
                <a:lnTo>
                  <a:pt x="471" y="545"/>
                </a:lnTo>
                <a:close/>
                <a:moveTo>
                  <a:pt x="382" y="147"/>
                </a:moveTo>
                <a:lnTo>
                  <a:pt x="382" y="147"/>
                </a:lnTo>
                <a:cubicBezTo>
                  <a:pt x="368" y="147"/>
                  <a:pt x="353" y="133"/>
                  <a:pt x="353" y="118"/>
                </a:cubicBezTo>
                <a:cubicBezTo>
                  <a:pt x="353" y="118"/>
                  <a:pt x="353" y="88"/>
                  <a:pt x="353" y="29"/>
                </a:cubicBezTo>
                <a:cubicBezTo>
                  <a:pt x="471" y="147"/>
                  <a:pt x="471" y="147"/>
                  <a:pt x="471" y="147"/>
                </a:cubicBezTo>
                <a:lnTo>
                  <a:pt x="382" y="147"/>
                </a:lnTo>
                <a:close/>
                <a:moveTo>
                  <a:pt x="368" y="427"/>
                </a:moveTo>
                <a:lnTo>
                  <a:pt x="368" y="427"/>
                </a:lnTo>
                <a:cubicBezTo>
                  <a:pt x="132" y="427"/>
                  <a:pt x="132" y="427"/>
                  <a:pt x="132" y="427"/>
                </a:cubicBezTo>
                <a:cubicBezTo>
                  <a:pt x="118" y="427"/>
                  <a:pt x="118" y="442"/>
                  <a:pt x="118" y="442"/>
                </a:cubicBezTo>
                <a:cubicBezTo>
                  <a:pt x="118" y="457"/>
                  <a:pt x="118" y="471"/>
                  <a:pt x="132" y="471"/>
                </a:cubicBezTo>
                <a:cubicBezTo>
                  <a:pt x="368" y="471"/>
                  <a:pt x="368" y="471"/>
                  <a:pt x="368" y="471"/>
                </a:cubicBezTo>
                <a:cubicBezTo>
                  <a:pt x="382" y="471"/>
                  <a:pt x="382" y="457"/>
                  <a:pt x="382" y="442"/>
                </a:cubicBezTo>
                <a:cubicBezTo>
                  <a:pt x="382" y="442"/>
                  <a:pt x="382" y="427"/>
                  <a:pt x="368" y="427"/>
                </a:cubicBezTo>
                <a:close/>
                <a:moveTo>
                  <a:pt x="368" y="309"/>
                </a:moveTo>
                <a:lnTo>
                  <a:pt x="368" y="309"/>
                </a:lnTo>
                <a:cubicBezTo>
                  <a:pt x="132" y="309"/>
                  <a:pt x="132" y="309"/>
                  <a:pt x="132" y="309"/>
                </a:cubicBezTo>
                <a:cubicBezTo>
                  <a:pt x="118" y="309"/>
                  <a:pt x="118" y="324"/>
                  <a:pt x="118" y="324"/>
                </a:cubicBezTo>
                <a:cubicBezTo>
                  <a:pt x="118" y="339"/>
                  <a:pt x="118" y="354"/>
                  <a:pt x="132" y="354"/>
                </a:cubicBezTo>
                <a:cubicBezTo>
                  <a:pt x="368" y="354"/>
                  <a:pt x="368" y="354"/>
                  <a:pt x="368" y="354"/>
                </a:cubicBezTo>
                <a:cubicBezTo>
                  <a:pt x="382" y="354"/>
                  <a:pt x="382" y="339"/>
                  <a:pt x="382" y="324"/>
                </a:cubicBezTo>
                <a:cubicBezTo>
                  <a:pt x="382" y="324"/>
                  <a:pt x="382" y="309"/>
                  <a:pt x="368" y="309"/>
                </a:cubicBezTo>
                <a:close/>
              </a:path>
            </a:pathLst>
          </a:custGeom>
          <a:solidFill>
            <a:schemeClr val="accent1"/>
          </a:solidFill>
          <a:ln>
            <a:noFill/>
          </a:ln>
        </p:spPr>
        <p:txBody>
          <a:bodyPr wrap="none" lIns="121908" tIns="60955" rIns="121908" bIns="60955"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43" name="熊大的PPT宝库33"/>
          <p:cNvSpPr/>
          <p:nvPr/>
        </p:nvSpPr>
        <p:spPr>
          <a:xfrm>
            <a:off x="2540169" y="5837746"/>
            <a:ext cx="180000" cy="180000"/>
          </a:xfrm>
          <a:prstGeom prst="chevron">
            <a:avLst/>
          </a:prstGeom>
          <a:gradFill>
            <a:gsLst>
              <a:gs pos="0">
                <a:schemeClr val="accent1">
                  <a:lumMod val="20000"/>
                  <a:lumOff val="80000"/>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0" name="熊大的PPT宝库34"/>
          <p:cNvSpPr/>
          <p:nvPr/>
        </p:nvSpPr>
        <p:spPr>
          <a:xfrm>
            <a:off x="5350184" y="4473310"/>
            <a:ext cx="1538822" cy="437804"/>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151" name="熊大的PPT宝库35"/>
          <p:cNvSpPr/>
          <p:nvPr/>
        </p:nvSpPr>
        <p:spPr>
          <a:xfrm>
            <a:off x="5350184" y="4473310"/>
            <a:ext cx="1538822" cy="437804"/>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152" name="熊大的PPT宝库36"/>
          <p:cNvSpPr/>
          <p:nvPr/>
        </p:nvSpPr>
        <p:spPr>
          <a:xfrm>
            <a:off x="5412974" y="4491174"/>
            <a:ext cx="1413242" cy="402076"/>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153" name="熊大的PPT宝库37"/>
          <p:cNvSpPr/>
          <p:nvPr/>
        </p:nvSpPr>
        <p:spPr>
          <a:xfrm>
            <a:off x="5350184" y="4473310"/>
            <a:ext cx="1538822" cy="437804"/>
          </a:xfrm>
          <a:prstGeom prst="roundRect">
            <a:avLst>
              <a:gd name="adj" fmla="val 50000"/>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cs typeface="+mn-ea"/>
              <a:sym typeface="+mn-lt"/>
            </a:endParaRPr>
          </a:p>
        </p:txBody>
      </p:sp>
      <p:sp>
        <p:nvSpPr>
          <p:cNvPr id="149" name="熊大的PPT宝库38"/>
          <p:cNvSpPr txBox="1"/>
          <p:nvPr/>
        </p:nvSpPr>
        <p:spPr>
          <a:xfrm>
            <a:off x="5556561" y="4522935"/>
            <a:ext cx="1126068" cy="33855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迭代优化</a:t>
            </a:r>
          </a:p>
        </p:txBody>
      </p:sp>
      <p:sp>
        <p:nvSpPr>
          <p:cNvPr id="20" name="熊大的PPT宝库39"/>
          <p:cNvSpPr/>
          <p:nvPr/>
        </p:nvSpPr>
        <p:spPr>
          <a:xfrm>
            <a:off x="5012481" y="5363609"/>
            <a:ext cx="2106000" cy="1080000"/>
          </a:xfrm>
          <a:prstGeom prst="roundRect">
            <a:avLst>
              <a:gd name="adj" fmla="val 11001"/>
            </a:avLst>
          </a:prstGeom>
          <a:solidFill>
            <a:schemeClr val="accent1">
              <a:lumMod val="20000"/>
              <a:lumOff val="80000"/>
              <a:alpha val="30000"/>
            </a:schemeClr>
          </a:solidFill>
          <a:ln w="19050">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9" name="熊大的PPT宝库40"/>
          <p:cNvSpPr txBox="1"/>
          <p:nvPr/>
        </p:nvSpPr>
        <p:spPr>
          <a:xfrm>
            <a:off x="5267169" y="5490722"/>
            <a:ext cx="1457817" cy="861774"/>
          </a:xfrm>
          <a:prstGeom prst="rect">
            <a:avLst/>
          </a:prstGeom>
          <a:noFill/>
        </p:spPr>
        <p:txBody>
          <a:bodyPr wrap="square" lIns="0" tIns="0" rIns="0" bIns="0">
            <a:spAutoFit/>
          </a:bodyPr>
          <a:lstStyle/>
          <a:p>
            <a:pPr marL="285750" marR="0" lvl="0" indent="-285750" algn="ctr"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en-US" sz="1400" b="0" i="0" u="none" strike="noStrike" kern="1200" cap="none" spc="0" normalizeH="0" baseline="0" noProof="0" dirty="0">
                <a:ln>
                  <a:noFill/>
                </a:ln>
                <a:solidFill>
                  <a:srgbClr val="000000"/>
                </a:solidFill>
                <a:effectLst/>
                <a:uLnTx/>
                <a:uFillTx/>
                <a:cs typeface="+mn-ea"/>
                <a:sym typeface="+mn-lt"/>
              </a:rPr>
              <a:t>投放策略模型</a:t>
            </a:r>
          </a:p>
          <a:p>
            <a:pPr marL="285750" marR="0" lvl="0" indent="-285750" algn="ctr"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en-US" sz="1400" b="0" i="0" u="none" strike="noStrike" kern="1200" cap="none" spc="0" normalizeH="0" baseline="0" noProof="0" dirty="0">
                <a:ln>
                  <a:noFill/>
                </a:ln>
                <a:solidFill>
                  <a:srgbClr val="000000"/>
                </a:solidFill>
                <a:effectLst/>
                <a:uLnTx/>
                <a:uFillTx/>
                <a:cs typeface="+mn-ea"/>
                <a:sym typeface="+mn-lt"/>
              </a:rPr>
              <a:t>智能投放策略</a:t>
            </a:r>
            <a:endParaRPr kumimoji="0" lang="en-US" altLang="zh-CN" sz="1400" b="0" i="0" u="none" strike="noStrike" kern="1200" cap="none" spc="0" normalizeH="0" baseline="0" noProof="0" dirty="0">
              <a:ln>
                <a:noFill/>
              </a:ln>
              <a:solidFill>
                <a:srgbClr val="000000"/>
              </a:solidFill>
              <a:effectLst/>
              <a:uLnTx/>
              <a:uFillTx/>
              <a:cs typeface="+mn-ea"/>
              <a:sym typeface="+mn-lt"/>
            </a:endParaRPr>
          </a:p>
          <a:p>
            <a:pPr marL="285750" marR="0" lvl="0" indent="-285750" algn="ctr"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en-US" sz="1400" b="0" i="0" u="none" strike="noStrike" kern="1200" cap="none" spc="0" normalizeH="0" baseline="0" noProof="0" dirty="0">
                <a:ln>
                  <a:noFill/>
                </a:ln>
                <a:solidFill>
                  <a:srgbClr val="000000"/>
                </a:solidFill>
                <a:effectLst/>
                <a:uLnTx/>
                <a:uFillTx/>
                <a:cs typeface="+mn-ea"/>
                <a:sym typeface="+mn-lt"/>
              </a:rPr>
              <a:t>广告投放策略</a:t>
            </a:r>
            <a:endParaRPr kumimoji="0" lang="en-US" altLang="zh-CN" sz="1400" b="0" i="0" u="none" strike="noStrike" kern="1200" cap="none" spc="0" normalizeH="0" baseline="0" noProof="0" dirty="0">
              <a:ln>
                <a:noFill/>
              </a:ln>
              <a:solidFill>
                <a:srgbClr val="000000"/>
              </a:solidFill>
              <a:effectLst/>
              <a:uLnTx/>
              <a:uFillTx/>
              <a:cs typeface="+mn-ea"/>
              <a:sym typeface="+mn-lt"/>
            </a:endParaRPr>
          </a:p>
          <a:p>
            <a:pPr marL="285750" marR="0" lvl="0" indent="-285750" algn="ctr"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en-US" sz="1400" b="0" i="0" u="none" strike="noStrike" kern="1200" cap="none" spc="0" normalizeH="0" baseline="0" noProof="0" dirty="0">
                <a:ln>
                  <a:noFill/>
                </a:ln>
                <a:solidFill>
                  <a:srgbClr val="000000"/>
                </a:solidFill>
                <a:effectLst/>
                <a:uLnTx/>
                <a:uFillTx/>
                <a:cs typeface="+mn-ea"/>
                <a:sym typeface="+mn-lt"/>
              </a:rPr>
              <a:t>智能投放策略</a:t>
            </a:r>
            <a:endParaRPr kumimoji="0" lang="zh-CN" altLang="zh-CN" sz="1400" b="0" i="0" u="none" strike="noStrike" kern="1200" cap="none" spc="0" normalizeH="0" baseline="0" noProof="0" dirty="0">
              <a:ln>
                <a:noFill/>
              </a:ln>
              <a:solidFill>
                <a:srgbClr val="000000"/>
              </a:solidFill>
              <a:effectLst/>
              <a:uLnTx/>
              <a:uFillTx/>
              <a:cs typeface="+mn-ea"/>
              <a:sym typeface="+mn-lt"/>
            </a:endParaRPr>
          </a:p>
        </p:txBody>
      </p:sp>
      <p:sp>
        <p:nvSpPr>
          <p:cNvPr id="13" name="熊大的PPT宝库41"/>
          <p:cNvSpPr/>
          <p:nvPr/>
        </p:nvSpPr>
        <p:spPr>
          <a:xfrm>
            <a:off x="7302689" y="5363609"/>
            <a:ext cx="2106000" cy="1080000"/>
          </a:xfrm>
          <a:prstGeom prst="roundRect">
            <a:avLst>
              <a:gd name="adj" fmla="val 11001"/>
            </a:avLst>
          </a:prstGeom>
          <a:solidFill>
            <a:schemeClr val="accent1"/>
          </a:solidFill>
          <a:ln w="9525">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87782" tIns="43891" rIns="87782" bIns="43891"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650" b="0" i="0" u="none" strike="noStrike" kern="1200" cap="none" spc="0" normalizeH="0" baseline="0" noProof="0" dirty="0">
              <a:ln>
                <a:noFill/>
              </a:ln>
              <a:solidFill>
                <a:srgbClr val="FFFFFF"/>
              </a:solidFill>
              <a:effectLst/>
              <a:uLnTx/>
              <a:uFillTx/>
              <a:cs typeface="+mn-ea"/>
              <a:sym typeface="+mn-lt"/>
            </a:endParaRPr>
          </a:p>
        </p:txBody>
      </p:sp>
      <p:sp>
        <p:nvSpPr>
          <p:cNvPr id="30" name="熊大的PPT宝库42"/>
          <p:cNvSpPr txBox="1"/>
          <p:nvPr/>
        </p:nvSpPr>
        <p:spPr>
          <a:xfrm>
            <a:off x="7550588" y="5490722"/>
            <a:ext cx="1648456" cy="861774"/>
          </a:xfrm>
          <a:prstGeom prst="rect">
            <a:avLst/>
          </a:prstGeom>
          <a:noFill/>
        </p:spPr>
        <p:txBody>
          <a:bodyPr wrap="square" lIns="0" tIns="0" rIns="0" bIns="0">
            <a:spAutoFit/>
          </a:bodyPr>
          <a:lstStyle/>
          <a:p>
            <a:pPr marL="285750" marR="0" lvl="0" indent="-285750" algn="l"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en-US" sz="1400" b="0" i="0" u="none" strike="noStrike" kern="1200" cap="none" spc="0" normalizeH="0" baseline="0" noProof="0" dirty="0">
                <a:ln>
                  <a:noFill/>
                </a:ln>
                <a:solidFill>
                  <a:srgbClr val="FFFFFF"/>
                </a:solidFill>
                <a:effectLst/>
                <a:uLnTx/>
                <a:uFillTx/>
                <a:cs typeface="+mn-ea"/>
                <a:sym typeface="+mn-lt"/>
              </a:rPr>
              <a:t>选择最佳广告位</a:t>
            </a:r>
          </a:p>
          <a:p>
            <a:pPr marL="285750" marR="0" lvl="0" indent="-285750" algn="l"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en-US" sz="1400" b="0" i="0" u="none" strike="noStrike" kern="1200" cap="none" spc="0" normalizeH="0" baseline="0" noProof="0" dirty="0">
                <a:ln>
                  <a:noFill/>
                </a:ln>
                <a:solidFill>
                  <a:srgbClr val="FFFFFF"/>
                </a:solidFill>
                <a:effectLst/>
                <a:uLnTx/>
                <a:uFillTx/>
                <a:cs typeface="+mn-ea"/>
                <a:sym typeface="+mn-lt"/>
              </a:rPr>
              <a:t>调整价格策略</a:t>
            </a:r>
          </a:p>
          <a:p>
            <a:pPr marL="285750" marR="0" lvl="0" indent="-285750" algn="l"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en-US" sz="1400" b="0" i="0" u="none" strike="noStrike" kern="1200" cap="none" spc="0" normalizeH="0" baseline="0" noProof="0" dirty="0">
                <a:ln>
                  <a:noFill/>
                </a:ln>
                <a:solidFill>
                  <a:srgbClr val="FFFFFF"/>
                </a:solidFill>
                <a:effectLst/>
                <a:uLnTx/>
                <a:uFillTx/>
                <a:cs typeface="+mn-ea"/>
                <a:sym typeface="+mn-lt"/>
              </a:rPr>
              <a:t>调整投放实间</a:t>
            </a:r>
          </a:p>
          <a:p>
            <a:pPr marL="285750" marR="0" lvl="0" indent="-285750" algn="l"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en-US" sz="1400" b="0" i="0" u="none" strike="noStrike" kern="1200" cap="none" spc="0" normalizeH="0" baseline="0" noProof="0" dirty="0">
                <a:ln>
                  <a:noFill/>
                </a:ln>
                <a:solidFill>
                  <a:srgbClr val="FFFFFF"/>
                </a:solidFill>
                <a:effectLst/>
                <a:uLnTx/>
                <a:uFillTx/>
                <a:cs typeface="+mn-ea"/>
                <a:sym typeface="+mn-lt"/>
              </a:rPr>
              <a:t>调整定向用户</a:t>
            </a:r>
          </a:p>
        </p:txBody>
      </p:sp>
      <p:sp>
        <p:nvSpPr>
          <p:cNvPr id="27" name="熊大的PPT宝库43"/>
          <p:cNvSpPr/>
          <p:nvPr/>
        </p:nvSpPr>
        <p:spPr>
          <a:xfrm>
            <a:off x="9592899" y="5363609"/>
            <a:ext cx="2106000" cy="1080000"/>
          </a:xfrm>
          <a:prstGeom prst="roundRect">
            <a:avLst>
              <a:gd name="adj" fmla="val 11001"/>
            </a:avLst>
          </a:prstGeom>
          <a:solidFill>
            <a:schemeClr val="accent1">
              <a:lumMod val="20000"/>
              <a:lumOff val="80000"/>
              <a:alpha val="30000"/>
            </a:schemeClr>
          </a:solidFill>
          <a:ln w="19050">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1" name="熊大的PPT宝库44"/>
          <p:cNvSpPr txBox="1"/>
          <p:nvPr/>
        </p:nvSpPr>
        <p:spPr>
          <a:xfrm>
            <a:off x="9905246" y="5598444"/>
            <a:ext cx="1457817" cy="646331"/>
          </a:xfrm>
          <a:prstGeom prst="rect">
            <a:avLst/>
          </a:prstGeom>
          <a:noFill/>
        </p:spPr>
        <p:txBody>
          <a:bodyPr wrap="square" lIns="0" tIns="0" rIns="0" bIns="0">
            <a:spAutoFit/>
          </a:bodyPr>
          <a:lstStyle/>
          <a:p>
            <a:pPr marL="285750" marR="0" lvl="0" indent="-285750" algn="l"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en-US" sz="1400" b="0" i="0" u="none" strike="noStrike" kern="1200" cap="none" spc="0" normalizeH="0" baseline="0" noProof="0" dirty="0">
                <a:ln>
                  <a:noFill/>
                </a:ln>
                <a:solidFill>
                  <a:srgbClr val="000000"/>
                </a:solidFill>
                <a:effectLst/>
                <a:uLnTx/>
                <a:uFillTx/>
                <a:cs typeface="+mn-ea"/>
                <a:sym typeface="+mn-lt"/>
              </a:rPr>
              <a:t>用户接受度</a:t>
            </a:r>
          </a:p>
          <a:p>
            <a:pPr marL="285750" marR="0" lvl="0" indent="-285750" algn="l"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en-US" sz="1400" b="0" i="0" u="none" strike="noStrike" kern="1200" cap="none" spc="0" normalizeH="0" baseline="0" noProof="0" dirty="0">
                <a:ln>
                  <a:noFill/>
                </a:ln>
                <a:solidFill>
                  <a:srgbClr val="000000"/>
                </a:solidFill>
                <a:effectLst/>
                <a:uLnTx/>
                <a:uFillTx/>
                <a:cs typeface="+mn-ea"/>
                <a:sym typeface="+mn-lt"/>
              </a:rPr>
              <a:t>用户满意度</a:t>
            </a:r>
          </a:p>
          <a:p>
            <a:pPr marL="285750" marR="0" lvl="0" indent="-285750" algn="l" defTabSz="457200" rtl="0" eaLnBrk="1" fontAlgn="ctr"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en-US" sz="1400" b="0" i="0" u="none" strike="noStrike" kern="1200" cap="none" spc="0" normalizeH="0" baseline="0" noProof="0" dirty="0">
                <a:ln>
                  <a:noFill/>
                </a:ln>
                <a:solidFill>
                  <a:srgbClr val="000000"/>
                </a:solidFill>
                <a:effectLst/>
                <a:uLnTx/>
                <a:uFillTx/>
                <a:cs typeface="+mn-ea"/>
                <a:sym typeface="+mn-lt"/>
              </a:rPr>
              <a:t>用户消费行为</a:t>
            </a:r>
            <a:endParaRPr kumimoji="0" lang="zh-CN" altLang="zh-CN" sz="1400" b="0" i="0" u="none" strike="noStrike" kern="1200" cap="none" spc="0" normalizeH="0" baseline="0" noProof="0" dirty="0">
              <a:ln>
                <a:noFill/>
              </a:ln>
              <a:solidFill>
                <a:srgbClr val="000000"/>
              </a:solidFill>
              <a:effectLst/>
              <a:uLnTx/>
              <a:uFillTx/>
              <a:cs typeface="+mn-ea"/>
              <a:sym typeface="+mn-lt"/>
            </a:endParaRPr>
          </a:p>
        </p:txBody>
      </p:sp>
      <p:sp>
        <p:nvSpPr>
          <p:cNvPr id="32" name="熊大的PPT宝库45"/>
          <p:cNvSpPr/>
          <p:nvPr/>
        </p:nvSpPr>
        <p:spPr>
          <a:xfrm>
            <a:off x="4830377" y="5837746"/>
            <a:ext cx="180000" cy="180000"/>
          </a:xfrm>
          <a:prstGeom prst="chevron">
            <a:avLst/>
          </a:prstGeom>
          <a:gradFill>
            <a:gsLst>
              <a:gs pos="0">
                <a:schemeClr val="accent1">
                  <a:lumMod val="20000"/>
                  <a:lumOff val="80000"/>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3" name="熊大的PPT宝库46"/>
          <p:cNvSpPr/>
          <p:nvPr/>
        </p:nvSpPr>
        <p:spPr>
          <a:xfrm>
            <a:off x="7120585" y="5837746"/>
            <a:ext cx="180000" cy="180000"/>
          </a:xfrm>
          <a:prstGeom prst="chevron">
            <a:avLst/>
          </a:prstGeom>
          <a:gradFill>
            <a:gsLst>
              <a:gs pos="0">
                <a:schemeClr val="accent1">
                  <a:lumMod val="20000"/>
                  <a:lumOff val="80000"/>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4" name="熊大的PPT宝库47"/>
          <p:cNvSpPr/>
          <p:nvPr/>
        </p:nvSpPr>
        <p:spPr>
          <a:xfrm>
            <a:off x="9410793" y="5837746"/>
            <a:ext cx="180000" cy="180000"/>
          </a:xfrm>
          <a:prstGeom prst="chevron">
            <a:avLst/>
          </a:prstGeom>
          <a:gradFill>
            <a:gsLst>
              <a:gs pos="0">
                <a:schemeClr val="accent1">
                  <a:lumMod val="20000"/>
                  <a:lumOff val="80000"/>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4" name="熊大的PPT宝库49"/>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熊大的PPT宝库1"/>
          <p:cNvSpPr txBox="1"/>
          <p:nvPr/>
        </p:nvSpPr>
        <p:spPr>
          <a:xfrm>
            <a:off x="348830" y="216968"/>
            <a:ext cx="5069016"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百度营销科学</a:t>
            </a:r>
            <a:r>
              <a:rPr kumimoji="0" lang="en-US" altLang="zh-CN" sz="3200" b="0" i="0" u="none" strike="noStrike" kern="1200" cap="none" spc="0" normalizeH="0" baseline="0" noProof="0" dirty="0">
                <a:ln>
                  <a:noFill/>
                </a:ln>
                <a:solidFill>
                  <a:srgbClr val="00329D"/>
                </a:solidFill>
                <a:effectLst/>
                <a:uLnTx/>
                <a:uFillTx/>
                <a:cs typeface="+mn-ea"/>
                <a:sym typeface="+mn-lt"/>
              </a:rPr>
              <a:t>AIA</a:t>
            </a:r>
            <a:r>
              <a:rPr kumimoji="0" lang="zh-CN" altLang="en-US" sz="3200" b="0" i="0" u="none" strike="noStrike" kern="1200" cap="none" spc="0" normalizeH="0" baseline="0" noProof="0" dirty="0">
                <a:ln>
                  <a:noFill/>
                </a:ln>
                <a:solidFill>
                  <a:srgbClr val="00329D"/>
                </a:solidFill>
                <a:effectLst/>
                <a:uLnTx/>
                <a:uFillTx/>
                <a:cs typeface="+mn-ea"/>
                <a:sym typeface="+mn-lt"/>
              </a:rPr>
              <a:t>实践体系</a:t>
            </a:r>
          </a:p>
        </p:txBody>
      </p:sp>
      <p:sp>
        <p:nvSpPr>
          <p:cNvPr id="5" name="熊大的PPT宝库2"/>
          <p:cNvSpPr/>
          <p:nvPr/>
        </p:nvSpPr>
        <p:spPr>
          <a:xfrm>
            <a:off x="710116" y="1222358"/>
            <a:ext cx="10787366" cy="1425592"/>
          </a:xfrm>
          <a:prstGeom prst="roundRect">
            <a:avLst>
              <a:gd name="adj" fmla="val 12285"/>
            </a:avLst>
          </a:prstGeom>
          <a:noFill/>
          <a:ln w="12700" cap="flat" cmpd="sng" algn="ctr">
            <a:solidFill>
              <a:schemeClr val="accent1">
                <a:lumMod val="20000"/>
                <a:lumOff val="8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dirty="0">
              <a:ln>
                <a:noFill/>
              </a:ln>
              <a:solidFill>
                <a:srgbClr val="FEFFFF"/>
              </a:solidFill>
              <a:effectLst/>
              <a:uLnTx/>
              <a:uFillTx/>
              <a:cs typeface="+mn-ea"/>
              <a:sym typeface="+mn-lt"/>
            </a:endParaRPr>
          </a:p>
        </p:txBody>
      </p:sp>
      <p:sp>
        <p:nvSpPr>
          <p:cNvPr id="6" name="熊大的PPT宝库3"/>
          <p:cNvSpPr/>
          <p:nvPr/>
        </p:nvSpPr>
        <p:spPr>
          <a:xfrm>
            <a:off x="1023842" y="1390650"/>
            <a:ext cx="1338358" cy="1085850"/>
          </a:xfrm>
          <a:prstGeom prst="roundRect">
            <a:avLst/>
          </a:prstGeom>
          <a:solidFill>
            <a:schemeClr val="bg1"/>
          </a:solid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9" name="熊大的PPT宝库4"/>
          <p:cNvSpPr txBox="1"/>
          <p:nvPr/>
        </p:nvSpPr>
        <p:spPr>
          <a:xfrm>
            <a:off x="1321145" y="1718132"/>
            <a:ext cx="743752" cy="369332"/>
          </a:xfrm>
          <a:prstGeom prst="rect">
            <a:avLst/>
          </a:prstGeom>
          <a:noFill/>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00329D"/>
                </a:solidFill>
                <a:effectLst/>
                <a:uLnTx/>
                <a:uFillTx/>
                <a:cs typeface="+mn-ea"/>
                <a:sym typeface="+mn-lt"/>
              </a:rPr>
              <a:t>全链</a:t>
            </a:r>
          </a:p>
        </p:txBody>
      </p:sp>
      <p:sp>
        <p:nvSpPr>
          <p:cNvPr id="12" name="熊大的PPT宝库5"/>
          <p:cNvSpPr/>
          <p:nvPr/>
        </p:nvSpPr>
        <p:spPr>
          <a:xfrm>
            <a:off x="710116" y="3021824"/>
            <a:ext cx="10787366" cy="2197875"/>
          </a:xfrm>
          <a:prstGeom prst="roundRect">
            <a:avLst>
              <a:gd name="adj" fmla="val 12285"/>
            </a:avLst>
          </a:prstGeom>
          <a:noFill/>
          <a:ln w="12700" cap="flat" cmpd="sng" algn="ctr">
            <a:solidFill>
              <a:schemeClr val="accent1">
                <a:lumMod val="20000"/>
                <a:lumOff val="8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dirty="0">
              <a:ln>
                <a:noFill/>
              </a:ln>
              <a:solidFill>
                <a:srgbClr val="FEFFFF"/>
              </a:solidFill>
              <a:effectLst/>
              <a:uLnTx/>
              <a:uFillTx/>
              <a:cs typeface="+mn-ea"/>
              <a:sym typeface="+mn-lt"/>
            </a:endParaRPr>
          </a:p>
        </p:txBody>
      </p:sp>
      <p:sp>
        <p:nvSpPr>
          <p:cNvPr id="13" name="熊大的PPT宝库6"/>
          <p:cNvSpPr/>
          <p:nvPr/>
        </p:nvSpPr>
        <p:spPr>
          <a:xfrm>
            <a:off x="1023842" y="3577836"/>
            <a:ext cx="1338358" cy="1085850"/>
          </a:xfrm>
          <a:prstGeom prst="roundRect">
            <a:avLst/>
          </a:prstGeom>
          <a:solidFill>
            <a:schemeClr val="bg1"/>
          </a:solid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4" name="熊大的PPT宝库7"/>
          <p:cNvSpPr txBox="1"/>
          <p:nvPr/>
        </p:nvSpPr>
        <p:spPr>
          <a:xfrm>
            <a:off x="1321145" y="3905318"/>
            <a:ext cx="743752" cy="369332"/>
          </a:xfrm>
          <a:prstGeom prst="rect">
            <a:avLst/>
          </a:prstGeom>
          <a:noFill/>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00329D"/>
                </a:solidFill>
                <a:effectLst/>
                <a:uLnTx/>
                <a:uFillTx/>
                <a:cs typeface="+mn-ea"/>
                <a:sym typeface="+mn-lt"/>
              </a:rPr>
              <a:t>全域</a:t>
            </a:r>
          </a:p>
        </p:txBody>
      </p:sp>
      <p:sp>
        <p:nvSpPr>
          <p:cNvPr id="15" name="熊大的PPT宝库8"/>
          <p:cNvSpPr/>
          <p:nvPr/>
        </p:nvSpPr>
        <p:spPr>
          <a:xfrm>
            <a:off x="2576274" y="1543050"/>
            <a:ext cx="1833872" cy="750207"/>
          </a:xfrm>
          <a:prstGeom prst="roundRect">
            <a:avLst/>
          </a:prstGeom>
          <a:solidFill>
            <a:schemeClr val="accent1"/>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cs typeface="+mn-ea"/>
                <a:sym typeface="+mn-lt"/>
              </a:rPr>
              <a:t>A1 Awareness</a:t>
            </a: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认知阶段</a:t>
            </a:r>
          </a:p>
        </p:txBody>
      </p:sp>
      <p:sp>
        <p:nvSpPr>
          <p:cNvPr id="18" name="熊大的PPT宝库9"/>
          <p:cNvSpPr/>
          <p:nvPr/>
        </p:nvSpPr>
        <p:spPr>
          <a:xfrm>
            <a:off x="4844619" y="1543050"/>
            <a:ext cx="1833872" cy="750207"/>
          </a:xfrm>
          <a:prstGeom prst="roundRect">
            <a:avLst/>
          </a:prstGeom>
          <a:solidFill>
            <a:schemeClr val="accent1"/>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cs typeface="+mn-ea"/>
                <a:sym typeface="+mn-lt"/>
              </a:rPr>
              <a:t>I1 interest</a:t>
            </a: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兴趣阶段</a:t>
            </a:r>
          </a:p>
        </p:txBody>
      </p:sp>
      <p:sp>
        <p:nvSpPr>
          <p:cNvPr id="19" name="熊大的PPT宝库10"/>
          <p:cNvSpPr/>
          <p:nvPr/>
        </p:nvSpPr>
        <p:spPr>
          <a:xfrm>
            <a:off x="7112966" y="1543050"/>
            <a:ext cx="1833872" cy="750207"/>
          </a:xfrm>
          <a:prstGeom prst="roundRect">
            <a:avLst/>
          </a:prstGeom>
          <a:solidFill>
            <a:schemeClr val="accent1"/>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cs typeface="+mn-ea"/>
                <a:sym typeface="+mn-lt"/>
              </a:rPr>
              <a:t>I2 interest</a:t>
            </a: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互动阶段</a:t>
            </a:r>
          </a:p>
        </p:txBody>
      </p:sp>
      <p:sp>
        <p:nvSpPr>
          <p:cNvPr id="20" name="熊大的PPT宝库11"/>
          <p:cNvSpPr/>
          <p:nvPr/>
        </p:nvSpPr>
        <p:spPr>
          <a:xfrm>
            <a:off x="9381312" y="1543050"/>
            <a:ext cx="1833872" cy="750207"/>
          </a:xfrm>
          <a:prstGeom prst="roundRect">
            <a:avLst/>
          </a:prstGeom>
          <a:solidFill>
            <a:schemeClr val="accent1"/>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cs typeface="+mn-ea"/>
                <a:sym typeface="+mn-lt"/>
              </a:rPr>
              <a:t>A2 Action</a:t>
            </a: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行动阶段</a:t>
            </a:r>
          </a:p>
        </p:txBody>
      </p:sp>
      <p:sp>
        <p:nvSpPr>
          <p:cNvPr id="21" name="熊大的PPT宝库12"/>
          <p:cNvSpPr/>
          <p:nvPr/>
        </p:nvSpPr>
        <p:spPr>
          <a:xfrm>
            <a:off x="2529780" y="3715607"/>
            <a:ext cx="1833872" cy="750207"/>
          </a:xfrm>
          <a:prstGeom prst="roundRect">
            <a:avLst/>
          </a:prstGeom>
          <a:solidFill>
            <a:schemeClr val="accent1"/>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百度营销</a:t>
            </a:r>
            <a:endParaRPr kumimoji="0" lang="en-US" altLang="zh-CN" sz="1800" b="0"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观星盘</a:t>
            </a:r>
          </a:p>
        </p:txBody>
      </p:sp>
      <p:sp>
        <p:nvSpPr>
          <p:cNvPr id="22" name="熊大的PPT宝库13"/>
          <p:cNvSpPr/>
          <p:nvPr/>
        </p:nvSpPr>
        <p:spPr>
          <a:xfrm>
            <a:off x="9381312" y="3715607"/>
            <a:ext cx="1833872" cy="750207"/>
          </a:xfrm>
          <a:prstGeom prst="roundRect">
            <a:avLst/>
          </a:prstGeom>
          <a:solidFill>
            <a:schemeClr val="accent1"/>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百度统计</a:t>
            </a:r>
          </a:p>
        </p:txBody>
      </p:sp>
      <p:sp>
        <p:nvSpPr>
          <p:cNvPr id="25" name="熊大的PPT宝库14"/>
          <p:cNvSpPr/>
          <p:nvPr/>
        </p:nvSpPr>
        <p:spPr>
          <a:xfrm>
            <a:off x="5544903" y="3340503"/>
            <a:ext cx="2700670" cy="1562967"/>
          </a:xfrm>
          <a:prstGeom prst="roundRect">
            <a:avLst/>
          </a:prstGeom>
          <a:solidFill>
            <a:schemeClr val="accent1"/>
          </a:solidFill>
          <a:ln w="285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0"/>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FFFFFF"/>
                </a:solidFill>
                <a:effectLst/>
                <a:uLnTx/>
                <a:uFillTx/>
                <a:cs typeface="+mn-ea"/>
                <a:sym typeface="+mn-lt"/>
              </a:rPr>
              <a:t>数据资产</a:t>
            </a:r>
            <a:endParaRPr kumimoji="0" lang="en-US" altLang="zh-CN" sz="2400" b="0"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人群资产 内容资产 阵地资产</a:t>
            </a:r>
          </a:p>
        </p:txBody>
      </p:sp>
      <p:cxnSp>
        <p:nvCxnSpPr>
          <p:cNvPr id="38" name="熊大的PPT宝库15"/>
          <p:cNvCxnSpPr/>
          <p:nvPr/>
        </p:nvCxnSpPr>
        <p:spPr>
          <a:xfrm>
            <a:off x="4483566" y="4073794"/>
            <a:ext cx="951300" cy="0"/>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
        <p:nvSpPr>
          <p:cNvPr id="50" name="熊大的PPT宝库16"/>
          <p:cNvSpPr txBox="1"/>
          <p:nvPr/>
        </p:nvSpPr>
        <p:spPr>
          <a:xfrm>
            <a:off x="4600144" y="3725093"/>
            <a:ext cx="718145" cy="21544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前链分析</a:t>
            </a:r>
          </a:p>
        </p:txBody>
      </p:sp>
      <p:sp>
        <p:nvSpPr>
          <p:cNvPr id="52" name="熊大的PPT宝库17"/>
          <p:cNvSpPr txBox="1"/>
          <p:nvPr/>
        </p:nvSpPr>
        <p:spPr>
          <a:xfrm>
            <a:off x="4420607" y="4197965"/>
            <a:ext cx="1077218" cy="21544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百度域内数据</a:t>
            </a:r>
          </a:p>
        </p:txBody>
      </p:sp>
      <p:sp>
        <p:nvSpPr>
          <p:cNvPr id="54" name="熊大的PPT宝库18"/>
          <p:cNvSpPr txBox="1"/>
          <p:nvPr/>
        </p:nvSpPr>
        <p:spPr>
          <a:xfrm>
            <a:off x="8439980" y="3725093"/>
            <a:ext cx="718145" cy="215444"/>
          </a:xfrm>
          <a:prstGeom prst="rect">
            <a:avLst/>
          </a:prstGeom>
          <a:noFill/>
        </p:spPr>
        <p:txBody>
          <a:bodyPr wrap="none" lIns="0" tIns="0" rIns="0" bIns="0">
            <a:spAutoFit/>
          </a:bodyPr>
          <a:lstStyle>
            <a:defPPr>
              <a:defRPr lang="en-US"/>
            </a:defPPr>
            <a:lvl1pPr>
              <a:defRPr sz="1400" b="1"/>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转化归因</a:t>
            </a:r>
          </a:p>
        </p:txBody>
      </p:sp>
      <p:sp>
        <p:nvSpPr>
          <p:cNvPr id="56" name="熊大的PPT宝库19"/>
          <p:cNvSpPr txBox="1"/>
          <p:nvPr/>
        </p:nvSpPr>
        <p:spPr>
          <a:xfrm>
            <a:off x="8260443" y="4197965"/>
            <a:ext cx="1077218" cy="215444"/>
          </a:xfrm>
          <a:prstGeom prst="rect">
            <a:avLst/>
          </a:prstGeom>
          <a:noFill/>
        </p:spPr>
        <p:txBody>
          <a:bodyPr wrap="none" lIns="0" tIns="0" rIns="0" bIns="0">
            <a:spAutoFit/>
          </a:bodyPr>
          <a:lstStyle>
            <a:defPPr>
              <a:defRPr lang="en-US"/>
            </a:defPPr>
            <a:lvl1pPr>
              <a:defRPr sz="1400" b="1"/>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百度域外数据</a:t>
            </a:r>
          </a:p>
        </p:txBody>
      </p:sp>
      <p:cxnSp>
        <p:nvCxnSpPr>
          <p:cNvPr id="57" name="熊大的PPT宝库20"/>
          <p:cNvCxnSpPr/>
          <p:nvPr/>
        </p:nvCxnSpPr>
        <p:spPr>
          <a:xfrm flipH="1">
            <a:off x="8277052" y="4073794"/>
            <a:ext cx="1044000" cy="0"/>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
        <p:nvSpPr>
          <p:cNvPr id="64" name="熊大的PPT宝库21"/>
          <p:cNvSpPr/>
          <p:nvPr/>
        </p:nvSpPr>
        <p:spPr>
          <a:xfrm rot="5400000">
            <a:off x="4499050" y="1708254"/>
            <a:ext cx="278941" cy="419799"/>
          </a:xfrm>
          <a:prstGeom prst="triangle">
            <a:avLst/>
          </a:prstGeom>
          <a:gradFill>
            <a:gsLst>
              <a:gs pos="0">
                <a:schemeClr val="accent1">
                  <a:lumMod val="20000"/>
                  <a:lumOff val="80000"/>
                </a:schemeClr>
              </a:gs>
              <a:gs pos="100000">
                <a:schemeClr val="accent1"/>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65" name="熊大的PPT宝库22"/>
          <p:cNvSpPr/>
          <p:nvPr/>
        </p:nvSpPr>
        <p:spPr>
          <a:xfrm rot="5400000">
            <a:off x="6767397" y="1708254"/>
            <a:ext cx="278941" cy="419799"/>
          </a:xfrm>
          <a:prstGeom prst="triangle">
            <a:avLst/>
          </a:prstGeom>
          <a:gradFill>
            <a:gsLst>
              <a:gs pos="0">
                <a:schemeClr val="accent1">
                  <a:lumMod val="20000"/>
                  <a:lumOff val="80000"/>
                </a:schemeClr>
              </a:gs>
              <a:gs pos="100000">
                <a:schemeClr val="accent1"/>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66" name="熊大的PPT宝库23"/>
          <p:cNvSpPr/>
          <p:nvPr/>
        </p:nvSpPr>
        <p:spPr>
          <a:xfrm rot="5400000">
            <a:off x="9013466" y="1708254"/>
            <a:ext cx="278941" cy="419799"/>
          </a:xfrm>
          <a:prstGeom prst="triangle">
            <a:avLst/>
          </a:prstGeom>
          <a:gradFill>
            <a:gsLst>
              <a:gs pos="0">
                <a:schemeClr val="accent1">
                  <a:lumMod val="20000"/>
                  <a:lumOff val="80000"/>
                </a:schemeClr>
              </a:gs>
              <a:gs pos="100000">
                <a:schemeClr val="accent1"/>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grpSp>
        <p:nvGrpSpPr>
          <p:cNvPr id="72" name="熊大的PPT宝库24"/>
          <p:cNvGrpSpPr/>
          <p:nvPr/>
        </p:nvGrpSpPr>
        <p:grpSpPr>
          <a:xfrm>
            <a:off x="7112966" y="2647950"/>
            <a:ext cx="555068" cy="735613"/>
            <a:chOff x="7284416" y="2647950"/>
            <a:chExt cx="555068" cy="735613"/>
          </a:xfrm>
        </p:grpSpPr>
        <p:sp>
          <p:nvSpPr>
            <p:cNvPr id="67" name="熊大的PPT宝库24-1"/>
            <p:cNvSpPr/>
            <p:nvPr/>
          </p:nvSpPr>
          <p:spPr>
            <a:xfrm rot="10800000">
              <a:off x="7284416" y="2863978"/>
              <a:ext cx="555068" cy="519585"/>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68" name="熊大的PPT宝库24-2"/>
            <p:cNvSpPr/>
            <p:nvPr/>
          </p:nvSpPr>
          <p:spPr>
            <a:xfrm rot="10800000">
              <a:off x="7284416" y="2647950"/>
              <a:ext cx="555068" cy="520161"/>
            </a:xfrm>
            <a:prstGeom prst="triangle">
              <a:avLst/>
            </a:prstGeom>
            <a:gradFill>
              <a:gsLst>
                <a:gs pos="0">
                  <a:schemeClr val="accent1">
                    <a:lumMod val="20000"/>
                    <a:lumOff val="80000"/>
                  </a:schemeClr>
                </a:gs>
                <a:gs pos="100000">
                  <a:schemeClr val="accent1"/>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grpSp>
      <p:sp>
        <p:nvSpPr>
          <p:cNvPr id="70" name="熊大的PPT宝库25"/>
          <p:cNvSpPr/>
          <p:nvPr/>
        </p:nvSpPr>
        <p:spPr>
          <a:xfrm>
            <a:off x="710116" y="5446844"/>
            <a:ext cx="6185984" cy="948996"/>
          </a:xfrm>
          <a:prstGeom prst="roundRect">
            <a:avLst>
              <a:gd name="adj" fmla="val 12285"/>
            </a:avLst>
          </a:prstGeom>
          <a:noFill/>
          <a:ln w="28575" cap="flat" cmpd="sng" algn="ctr">
            <a:solidFill>
              <a:schemeClr val="accent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400" b="0" i="0" u="none" strike="noStrike" kern="0" cap="none" spc="0" normalizeH="0" baseline="0" noProof="0" dirty="0">
                <a:ln>
                  <a:noFill/>
                </a:ln>
                <a:solidFill>
                  <a:srgbClr val="00329D"/>
                </a:solidFill>
                <a:effectLst/>
                <a:uLnTx/>
                <a:uFillTx/>
                <a:cs typeface="+mn-ea"/>
                <a:sym typeface="+mn-lt"/>
              </a:rPr>
              <a:t>不同场景</a:t>
            </a:r>
            <a:r>
              <a:rPr kumimoji="1" lang="en-US" altLang="zh-CN" sz="2400" b="0" i="0" u="none" strike="noStrike" kern="0" cap="none" spc="0" normalizeH="0" baseline="0" noProof="0" dirty="0">
                <a:ln>
                  <a:noFill/>
                </a:ln>
                <a:solidFill>
                  <a:srgbClr val="00329D"/>
                </a:solidFill>
                <a:effectLst/>
                <a:uLnTx/>
                <a:uFillTx/>
                <a:cs typeface="+mn-ea"/>
                <a:sym typeface="+mn-lt"/>
              </a:rPr>
              <a:t>/</a:t>
            </a:r>
            <a:r>
              <a:rPr kumimoji="1" lang="zh-CN" altLang="en-US" sz="2400" b="0" i="0" u="none" strike="noStrike" kern="0" cap="none" spc="0" normalizeH="0" baseline="0" noProof="0" dirty="0">
                <a:ln>
                  <a:noFill/>
                </a:ln>
                <a:solidFill>
                  <a:srgbClr val="00329D"/>
                </a:solidFill>
                <a:effectLst/>
                <a:uLnTx/>
                <a:uFillTx/>
                <a:cs typeface="+mn-ea"/>
                <a:sym typeface="+mn-lt"/>
              </a:rPr>
              <a:t>阶段 营销策略及产品和服务</a:t>
            </a:r>
          </a:p>
        </p:txBody>
      </p:sp>
      <p:sp>
        <p:nvSpPr>
          <p:cNvPr id="71" name="熊大的PPT宝库26"/>
          <p:cNvSpPr/>
          <p:nvPr/>
        </p:nvSpPr>
        <p:spPr>
          <a:xfrm>
            <a:off x="7721300" y="5446844"/>
            <a:ext cx="3493884" cy="948996"/>
          </a:xfrm>
          <a:prstGeom prst="roundRect">
            <a:avLst/>
          </a:prstGeom>
          <a:solidFill>
            <a:schemeClr val="accent1"/>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FFFFFF"/>
                </a:solidFill>
                <a:effectLst/>
                <a:uLnTx/>
                <a:uFillTx/>
                <a:cs typeface="+mn-ea"/>
                <a:sym typeface="+mn-lt"/>
              </a:rPr>
              <a:t>助力客户增长</a:t>
            </a:r>
          </a:p>
        </p:txBody>
      </p:sp>
      <p:grpSp>
        <p:nvGrpSpPr>
          <p:cNvPr id="73" name="熊大的PPT宝库27"/>
          <p:cNvGrpSpPr/>
          <p:nvPr/>
        </p:nvGrpSpPr>
        <p:grpSpPr>
          <a:xfrm rot="16200000">
            <a:off x="7036766" y="5553535"/>
            <a:ext cx="555068" cy="735613"/>
            <a:chOff x="7284416" y="2647950"/>
            <a:chExt cx="555068" cy="735613"/>
          </a:xfrm>
        </p:grpSpPr>
        <p:sp>
          <p:nvSpPr>
            <p:cNvPr id="74" name="熊大的PPT宝库27-1"/>
            <p:cNvSpPr/>
            <p:nvPr/>
          </p:nvSpPr>
          <p:spPr>
            <a:xfrm rot="10800000">
              <a:off x="7284416" y="2863978"/>
              <a:ext cx="555068" cy="519585"/>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75" name="熊大的PPT宝库27-2"/>
            <p:cNvSpPr/>
            <p:nvPr/>
          </p:nvSpPr>
          <p:spPr>
            <a:xfrm rot="10800000">
              <a:off x="7284416" y="2647950"/>
              <a:ext cx="555068" cy="520161"/>
            </a:xfrm>
            <a:prstGeom prst="triangle">
              <a:avLst/>
            </a:prstGeom>
            <a:gradFill>
              <a:gsLst>
                <a:gs pos="0">
                  <a:schemeClr val="accent1">
                    <a:lumMod val="20000"/>
                    <a:lumOff val="80000"/>
                  </a:schemeClr>
                </a:gs>
                <a:gs pos="100000">
                  <a:schemeClr val="accent1"/>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grpSp>
      <p:sp>
        <p:nvSpPr>
          <p:cNvPr id="80" name="熊大的PPT宝库28"/>
          <p:cNvSpPr/>
          <p:nvPr/>
        </p:nvSpPr>
        <p:spPr>
          <a:xfrm>
            <a:off x="312942" y="1841953"/>
            <a:ext cx="719348" cy="4341504"/>
          </a:xfrm>
          <a:prstGeom prst="curvedRightArrow">
            <a:avLst>
              <a:gd name="adj1" fmla="val 38121"/>
              <a:gd name="adj2" fmla="val 63748"/>
              <a:gd name="adj3" fmla="val 2488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1" name="熊大的PPT宝库29"/>
          <p:cNvSpPr/>
          <p:nvPr/>
        </p:nvSpPr>
        <p:spPr>
          <a:xfrm flipH="1">
            <a:off x="11197018" y="1769785"/>
            <a:ext cx="720000" cy="4341504"/>
          </a:xfrm>
          <a:prstGeom prst="curvedRightArrow">
            <a:avLst>
              <a:gd name="adj1" fmla="val 38121"/>
              <a:gd name="adj2" fmla="val 63748"/>
              <a:gd name="adj3" fmla="val 2488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4" name="熊大的PPT宝库31"/>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熊大的PPT宝库1"/>
          <p:cNvSpPr/>
          <p:nvPr/>
        </p:nvSpPr>
        <p:spPr>
          <a:xfrm rot="5400000" flipH="1" flipV="1">
            <a:off x="4363148" y="1352169"/>
            <a:ext cx="3465705" cy="5558474"/>
          </a:xfrm>
          <a:custGeom>
            <a:avLst/>
            <a:gdLst>
              <a:gd name="connsiteX0" fmla="*/ 1734610 w 1734610"/>
              <a:gd name="connsiteY0" fmla="*/ 3581470 h 3581470"/>
              <a:gd name="connsiteX1" fmla="*/ 1709869 w 1734610"/>
              <a:gd name="connsiteY1" fmla="*/ 3452669 h 3581470"/>
              <a:gd name="connsiteX2" fmla="*/ 159716 w 1734610"/>
              <a:gd name="connsiteY2" fmla="*/ 2339118 h 3581470"/>
              <a:gd name="connsiteX3" fmla="*/ 0 w 1734610"/>
              <a:gd name="connsiteY3" fmla="*/ 2332710 h 3581470"/>
              <a:gd name="connsiteX4" fmla="*/ 0 w 1734610"/>
              <a:gd name="connsiteY4" fmla="*/ 1248760 h 3581470"/>
              <a:gd name="connsiteX5" fmla="*/ 159716 w 1734610"/>
              <a:gd name="connsiteY5" fmla="*/ 1242352 h 3581470"/>
              <a:gd name="connsiteX6" fmla="*/ 1709869 w 1734610"/>
              <a:gd name="connsiteY6" fmla="*/ 128801 h 3581470"/>
              <a:gd name="connsiteX7" fmla="*/ 1734610 w 1734610"/>
              <a:gd name="connsiteY7" fmla="*/ 0 h 3581470"/>
              <a:gd name="connsiteX8" fmla="*/ 1734610 w 1734610"/>
              <a:gd name="connsiteY8" fmla="*/ 3581470 h 358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34610" h="3581470">
                <a:moveTo>
                  <a:pt x="1734610" y="3581470"/>
                </a:moveTo>
                <a:lnTo>
                  <a:pt x="1709869" y="3452669"/>
                </a:lnTo>
                <a:cubicBezTo>
                  <a:pt x="1556900" y="2858720"/>
                  <a:pt x="931793" y="2401417"/>
                  <a:pt x="159716" y="2339118"/>
                </a:cubicBezTo>
                <a:lnTo>
                  <a:pt x="0" y="2332710"/>
                </a:lnTo>
                <a:lnTo>
                  <a:pt x="0" y="1248760"/>
                </a:lnTo>
                <a:lnTo>
                  <a:pt x="159716" y="1242352"/>
                </a:lnTo>
                <a:cubicBezTo>
                  <a:pt x="931793" y="1180053"/>
                  <a:pt x="1556900" y="722750"/>
                  <a:pt x="1709869" y="128801"/>
                </a:cubicBezTo>
                <a:lnTo>
                  <a:pt x="1734610" y="0"/>
                </a:lnTo>
                <a:lnTo>
                  <a:pt x="1734610" y="3581470"/>
                </a:lnTo>
                <a:close/>
              </a:path>
            </a:pathLst>
          </a:custGeom>
          <a:gradFill>
            <a:gsLst>
              <a:gs pos="0">
                <a:schemeClr val="accent1">
                  <a:alpha val="20000"/>
                </a:schemeClr>
              </a:gs>
              <a:gs pos="100000">
                <a:schemeClr val="accent1">
                  <a:alpha val="0"/>
                </a:schemeClr>
              </a:gs>
            </a:gsLst>
            <a:lin ang="0" scaled="0"/>
          </a:gradFill>
          <a:ln>
            <a:noFill/>
          </a:ln>
        </p:spPr>
        <p:style>
          <a:lnRef idx="1">
            <a:schemeClr val="accent1"/>
          </a:lnRef>
          <a:fillRef idx="0">
            <a:schemeClr val="accent1"/>
          </a:fillRef>
          <a:effectRef idx="0">
            <a:schemeClr val="accent1"/>
          </a:effectRef>
          <a:fontRef idx="minor">
            <a:schemeClr val="tx1"/>
          </a:fontRef>
        </p:style>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28" name="熊大的PPT宝库2"/>
          <p:cNvSpPr/>
          <p:nvPr/>
        </p:nvSpPr>
        <p:spPr>
          <a:xfrm>
            <a:off x="1916308" y="3832139"/>
            <a:ext cx="8359384" cy="1134261"/>
          </a:xfrm>
          <a:prstGeom prst="rect">
            <a:avLst/>
          </a:prstGeom>
          <a:gradFill flip="none" rotWithShape="1">
            <a:gsLst>
              <a:gs pos="0">
                <a:schemeClr val="accent1"/>
              </a:gs>
              <a:gs pos="100000">
                <a:schemeClr val="accent1">
                  <a:alpha val="0"/>
                </a:schemeClr>
              </a:gs>
            </a:gsLst>
            <a:lin ang="16200000" scaled="1"/>
            <a:tileRect/>
          </a:gradFill>
          <a:ln>
            <a:noFill/>
          </a:ln>
          <a:scene3d>
            <a:camera prst="perspectiveRelaxedModerately" fov="7200000">
              <a:rot lat="17999998"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0" name="熊大的PPT宝库3"/>
          <p:cNvSpPr/>
          <p:nvPr/>
        </p:nvSpPr>
        <p:spPr>
          <a:xfrm>
            <a:off x="1360714" y="4966163"/>
            <a:ext cx="9470571" cy="1134261"/>
          </a:xfrm>
          <a:prstGeom prst="rect">
            <a:avLst/>
          </a:prstGeom>
          <a:gradFill flip="none" rotWithShape="1">
            <a:gsLst>
              <a:gs pos="0">
                <a:schemeClr val="accent1"/>
              </a:gs>
              <a:gs pos="100000">
                <a:schemeClr val="accent1">
                  <a:alpha val="0"/>
                </a:schemeClr>
              </a:gs>
            </a:gsLst>
            <a:lin ang="16200000" scaled="1"/>
            <a:tileRect/>
          </a:gradFill>
          <a:ln>
            <a:noFill/>
          </a:ln>
          <a:scene3d>
            <a:camera prst="perspectiveRelaxedModerately" fov="7200000">
              <a:rot lat="17999998"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熊大的PPT宝库4"/>
          <p:cNvSpPr txBox="1"/>
          <p:nvPr/>
        </p:nvSpPr>
        <p:spPr>
          <a:xfrm>
            <a:off x="348830" y="216968"/>
            <a:ext cx="5396029"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基于内生 </a:t>
            </a:r>
            <a:r>
              <a:rPr kumimoji="0" lang="en-US" altLang="zh-CN" sz="3200" b="0" i="0" u="none" strike="noStrike" kern="1200" cap="none" spc="0" normalizeH="0" baseline="0" noProof="0" dirty="0">
                <a:ln>
                  <a:noFill/>
                </a:ln>
                <a:solidFill>
                  <a:srgbClr val="00329D"/>
                </a:solidFill>
                <a:effectLst/>
                <a:uLnTx/>
                <a:uFillTx/>
                <a:cs typeface="+mn-ea"/>
                <a:sym typeface="+mn-lt"/>
              </a:rPr>
              <a:t>AI </a:t>
            </a:r>
            <a:r>
              <a:rPr kumimoji="0" lang="zh-CN" altLang="en-US" sz="3200" b="0" i="0" u="none" strike="noStrike" kern="1200" cap="none" spc="0" normalizeH="0" baseline="0" noProof="0" dirty="0">
                <a:ln>
                  <a:noFill/>
                </a:ln>
                <a:solidFill>
                  <a:srgbClr val="00329D"/>
                </a:solidFill>
                <a:effectLst/>
                <a:uLnTx/>
                <a:uFillTx/>
                <a:cs typeface="+mn-ea"/>
                <a:sym typeface="+mn-lt"/>
              </a:rPr>
              <a:t>的移动算网架构</a:t>
            </a:r>
          </a:p>
        </p:txBody>
      </p:sp>
      <p:sp>
        <p:nvSpPr>
          <p:cNvPr id="4" name="熊大的PPT宝库5"/>
          <p:cNvSpPr txBox="1"/>
          <p:nvPr/>
        </p:nvSpPr>
        <p:spPr>
          <a:xfrm>
            <a:off x="323982" y="1118587"/>
            <a:ext cx="11192946" cy="428900"/>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无线算网架构具体包括四层，异构资源层、网络功能层、智能决策层和服务应用层。</a:t>
            </a:r>
          </a:p>
        </p:txBody>
      </p:sp>
      <p:sp>
        <p:nvSpPr>
          <p:cNvPr id="7" name="熊大的PPT宝库6"/>
          <p:cNvSpPr/>
          <p:nvPr/>
        </p:nvSpPr>
        <p:spPr>
          <a:xfrm>
            <a:off x="2199839" y="3547419"/>
            <a:ext cx="7792322" cy="453117"/>
          </a:xfrm>
          <a:prstGeom prst="rect">
            <a:avLst/>
          </a:prstGeom>
          <a:gradFill flip="none" rotWithShape="1">
            <a:gsLst>
              <a:gs pos="0">
                <a:schemeClr val="accent1"/>
              </a:gs>
              <a:gs pos="100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 name="熊大的PPT宝库7"/>
          <p:cNvSpPr/>
          <p:nvPr/>
        </p:nvSpPr>
        <p:spPr>
          <a:xfrm>
            <a:off x="2758639" y="2649323"/>
            <a:ext cx="6660000" cy="1134261"/>
          </a:xfrm>
          <a:prstGeom prst="rect">
            <a:avLst/>
          </a:prstGeom>
          <a:gradFill flip="none" rotWithShape="1">
            <a:gsLst>
              <a:gs pos="0">
                <a:schemeClr val="accent1"/>
              </a:gs>
              <a:gs pos="100000">
                <a:schemeClr val="accent1">
                  <a:alpha val="0"/>
                </a:schemeClr>
              </a:gs>
            </a:gsLst>
            <a:lin ang="16200000" scaled="1"/>
            <a:tileRect/>
          </a:gradFill>
          <a:ln>
            <a:noFill/>
          </a:ln>
          <a:scene3d>
            <a:camera prst="perspectiveRelaxedModerately" fov="7200000">
              <a:rot lat="17999998"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9" name="熊大的PPT宝库8"/>
          <p:cNvSpPr txBox="1"/>
          <p:nvPr/>
        </p:nvSpPr>
        <p:spPr>
          <a:xfrm>
            <a:off x="4849878" y="3588699"/>
            <a:ext cx="2492244" cy="400110"/>
          </a:xfrm>
          <a:prstGeom prst="rect">
            <a:avLst/>
          </a:prstGeom>
          <a:noFill/>
        </p:spPr>
        <p:txBody>
          <a:bodyPr wrap="square">
            <a:spAutoFit/>
          </a:bodyPr>
          <a:lstStyle>
            <a:defPPr>
              <a:defRPr lang="en-US"/>
            </a:defPPr>
            <a:lvl1pPr marR="0" lvl="0" indent="0" algn="ctr" defTabSz="914400" fontAlgn="auto">
              <a:lnSpc>
                <a:spcPct val="100000"/>
              </a:lnSpc>
              <a:spcBef>
                <a:spcPts val="0"/>
              </a:spcBef>
              <a:spcAft>
                <a:spcPts val="0"/>
              </a:spcAft>
              <a:buClrTx/>
              <a:buSzTx/>
              <a:buFontTx/>
              <a:buNone/>
              <a:defRPr kumimoji="0" sz="2000" b="0" i="0" u="none" strike="noStrike" cap="none" spc="0" normalizeH="0" baseline="0">
                <a:ln>
                  <a:noFill/>
                </a:ln>
                <a:solidFill>
                  <a:schemeClr val="bg1"/>
                </a:solidFill>
                <a:effectLst/>
                <a:uLnTx/>
                <a:uFillTx/>
                <a:latin typeface="思源黑体 CN Bold" panose="020B0800000000000000" pitchFamily="34" charset="-122"/>
                <a:ea typeface="思源黑体 CN Bold" panose="020B0800000000000000"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latin typeface="+mn-lt"/>
                <a:ea typeface="+mn-ea"/>
                <a:cs typeface="+mn-ea"/>
                <a:sym typeface="+mn-lt"/>
              </a:rPr>
              <a:t>智能决策层</a:t>
            </a:r>
          </a:p>
        </p:txBody>
      </p:sp>
      <p:sp>
        <p:nvSpPr>
          <p:cNvPr id="27" name="熊大的PPT宝库9"/>
          <p:cNvSpPr/>
          <p:nvPr/>
        </p:nvSpPr>
        <p:spPr>
          <a:xfrm>
            <a:off x="1201477" y="4730235"/>
            <a:ext cx="9789047" cy="453117"/>
          </a:xfrm>
          <a:prstGeom prst="rect">
            <a:avLst/>
          </a:prstGeom>
          <a:gradFill flip="none" rotWithShape="1">
            <a:gsLst>
              <a:gs pos="0">
                <a:schemeClr val="accent1"/>
              </a:gs>
              <a:gs pos="100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9" name="熊大的PPT宝库10"/>
          <p:cNvSpPr txBox="1"/>
          <p:nvPr/>
        </p:nvSpPr>
        <p:spPr>
          <a:xfrm>
            <a:off x="4849878" y="4790565"/>
            <a:ext cx="2492244" cy="400110"/>
          </a:xfrm>
          <a:prstGeom prst="rect">
            <a:avLst/>
          </a:prstGeom>
          <a:noFill/>
        </p:spPr>
        <p:txBody>
          <a:bodyPr wrap="square">
            <a:spAutoFit/>
          </a:bodyPr>
          <a:lstStyle>
            <a:defPPr>
              <a:defRPr lang="en-US"/>
            </a:defPPr>
            <a:lvl1pPr marR="0" lvl="0" indent="0" algn="ctr" defTabSz="914400" fontAlgn="auto">
              <a:lnSpc>
                <a:spcPct val="100000"/>
              </a:lnSpc>
              <a:spcBef>
                <a:spcPts val="0"/>
              </a:spcBef>
              <a:spcAft>
                <a:spcPts val="0"/>
              </a:spcAft>
              <a:buClrTx/>
              <a:buSzTx/>
              <a:buFontTx/>
              <a:buNone/>
              <a:defRPr kumimoji="0" sz="2000" b="0" i="0" u="none" strike="noStrike" cap="none" spc="0" normalizeH="0" baseline="0">
                <a:ln>
                  <a:noFill/>
                </a:ln>
                <a:solidFill>
                  <a:schemeClr val="bg1"/>
                </a:solidFill>
                <a:effectLst/>
                <a:uLnTx/>
                <a:uFillTx/>
                <a:latin typeface="思源黑体 CN Bold" panose="020B0800000000000000" pitchFamily="34" charset="-122"/>
                <a:ea typeface="思源黑体 CN Bold" panose="020B0800000000000000"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latin typeface="+mn-lt"/>
                <a:ea typeface="+mn-ea"/>
                <a:cs typeface="+mn-ea"/>
                <a:sym typeface="+mn-lt"/>
              </a:rPr>
              <a:t>网络功能层</a:t>
            </a:r>
          </a:p>
        </p:txBody>
      </p:sp>
      <p:sp>
        <p:nvSpPr>
          <p:cNvPr id="59" name="熊大的PPT宝库11"/>
          <p:cNvSpPr/>
          <p:nvPr/>
        </p:nvSpPr>
        <p:spPr>
          <a:xfrm>
            <a:off x="550863" y="5864259"/>
            <a:ext cx="11090275" cy="453117"/>
          </a:xfrm>
          <a:prstGeom prst="rect">
            <a:avLst/>
          </a:prstGeom>
          <a:gradFill flip="none" rotWithShape="1">
            <a:gsLst>
              <a:gs pos="0">
                <a:schemeClr val="accent1"/>
              </a:gs>
              <a:gs pos="100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1" name="熊大的PPT宝库12"/>
          <p:cNvSpPr txBox="1"/>
          <p:nvPr/>
        </p:nvSpPr>
        <p:spPr>
          <a:xfrm>
            <a:off x="4858852" y="5902781"/>
            <a:ext cx="249224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cs typeface="+mn-ea"/>
                <a:sym typeface="+mn-lt"/>
              </a:rPr>
              <a:t>异构资源层</a:t>
            </a:r>
          </a:p>
        </p:txBody>
      </p:sp>
      <p:sp>
        <p:nvSpPr>
          <p:cNvPr id="48" name="熊大的PPT宝库13"/>
          <p:cNvSpPr/>
          <p:nvPr/>
        </p:nvSpPr>
        <p:spPr>
          <a:xfrm>
            <a:off x="2367679" y="4353837"/>
            <a:ext cx="1188000" cy="293478"/>
          </a:xfrm>
          <a:prstGeom prst="roundRect">
            <a:avLst>
              <a:gd name="adj" fmla="val 5000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9" name="熊大的PPT宝库14"/>
          <p:cNvSpPr txBox="1"/>
          <p:nvPr/>
        </p:nvSpPr>
        <p:spPr>
          <a:xfrm>
            <a:off x="2564467" y="4408243"/>
            <a:ext cx="794425" cy="184666"/>
          </a:xfrm>
          <a:prstGeom prst="rect">
            <a:avLst/>
          </a:prstGeom>
          <a:noFill/>
          <a:ln>
            <a:noFill/>
          </a:ln>
        </p:spPr>
        <p:txBody>
          <a:bodyPr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通信功能</a:t>
            </a:r>
          </a:p>
        </p:txBody>
      </p:sp>
      <p:sp>
        <p:nvSpPr>
          <p:cNvPr id="140" name="熊大的PPT宝库15"/>
          <p:cNvSpPr/>
          <p:nvPr/>
        </p:nvSpPr>
        <p:spPr>
          <a:xfrm>
            <a:off x="3934840" y="4353837"/>
            <a:ext cx="1188000" cy="293478"/>
          </a:xfrm>
          <a:prstGeom prst="roundRect">
            <a:avLst>
              <a:gd name="adj" fmla="val 5000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1" name="熊大的PPT宝库16"/>
          <p:cNvSpPr txBox="1"/>
          <p:nvPr/>
        </p:nvSpPr>
        <p:spPr>
          <a:xfrm>
            <a:off x="4131628" y="4408243"/>
            <a:ext cx="794425" cy="184666"/>
          </a:xfrm>
          <a:prstGeom prst="rect">
            <a:avLst/>
          </a:prstGeom>
          <a:noFill/>
          <a:ln>
            <a:noFill/>
          </a:ln>
        </p:spPr>
        <p:txBody>
          <a:bodyPr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感知功能</a:t>
            </a:r>
          </a:p>
        </p:txBody>
      </p:sp>
      <p:sp>
        <p:nvSpPr>
          <p:cNvPr id="145" name="熊大的PPT宝库17"/>
          <p:cNvSpPr/>
          <p:nvPr/>
        </p:nvSpPr>
        <p:spPr>
          <a:xfrm>
            <a:off x="5502001" y="4353837"/>
            <a:ext cx="1188000" cy="293478"/>
          </a:xfrm>
          <a:prstGeom prst="roundRect">
            <a:avLst>
              <a:gd name="adj" fmla="val 5000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6" name="熊大的PPT宝库18"/>
          <p:cNvSpPr txBox="1"/>
          <p:nvPr/>
        </p:nvSpPr>
        <p:spPr>
          <a:xfrm>
            <a:off x="5698789" y="4408243"/>
            <a:ext cx="794425" cy="184666"/>
          </a:xfrm>
          <a:prstGeom prst="rect">
            <a:avLst/>
          </a:prstGeom>
          <a:noFill/>
          <a:ln>
            <a:noFill/>
          </a:ln>
        </p:spPr>
        <p:txBody>
          <a:bodyPr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cs typeface="+mn-ea"/>
                <a:sym typeface="+mn-lt"/>
              </a:rPr>
              <a:t>AI</a:t>
            </a:r>
            <a:r>
              <a:rPr kumimoji="0" lang="zh-CN" altLang="en-US" sz="1200" b="0" i="0" u="none" strike="noStrike" kern="1200" cap="none" spc="0" normalizeH="0" baseline="0" noProof="0" dirty="0">
                <a:ln>
                  <a:noFill/>
                </a:ln>
                <a:solidFill>
                  <a:srgbClr val="FFFFFF"/>
                </a:solidFill>
                <a:effectLst/>
                <a:uLnTx/>
                <a:uFillTx/>
                <a:cs typeface="+mn-ea"/>
                <a:sym typeface="+mn-lt"/>
              </a:rPr>
              <a:t>功能</a:t>
            </a:r>
          </a:p>
        </p:txBody>
      </p:sp>
      <p:sp>
        <p:nvSpPr>
          <p:cNvPr id="148" name="熊大的PPT宝库19"/>
          <p:cNvSpPr/>
          <p:nvPr/>
        </p:nvSpPr>
        <p:spPr>
          <a:xfrm>
            <a:off x="7069162" y="4353837"/>
            <a:ext cx="1188000" cy="293478"/>
          </a:xfrm>
          <a:prstGeom prst="roundRect">
            <a:avLst>
              <a:gd name="adj" fmla="val 5000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9" name="熊大的PPT宝库20"/>
          <p:cNvSpPr txBox="1"/>
          <p:nvPr/>
        </p:nvSpPr>
        <p:spPr>
          <a:xfrm>
            <a:off x="7265950" y="4408243"/>
            <a:ext cx="794425" cy="184666"/>
          </a:xfrm>
          <a:prstGeom prst="rect">
            <a:avLst/>
          </a:prstGeom>
          <a:noFill/>
          <a:ln>
            <a:noFill/>
          </a:ln>
        </p:spPr>
        <p:txBody>
          <a:bodyPr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数据功能</a:t>
            </a:r>
          </a:p>
        </p:txBody>
      </p:sp>
      <p:sp>
        <p:nvSpPr>
          <p:cNvPr id="152" name="熊大的PPT宝库21"/>
          <p:cNvSpPr/>
          <p:nvPr/>
        </p:nvSpPr>
        <p:spPr>
          <a:xfrm>
            <a:off x="8636322" y="4353837"/>
            <a:ext cx="1188000" cy="293478"/>
          </a:xfrm>
          <a:prstGeom prst="roundRect">
            <a:avLst>
              <a:gd name="adj" fmla="val 5000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3" name="熊大的PPT宝库22"/>
          <p:cNvSpPr txBox="1"/>
          <p:nvPr/>
        </p:nvSpPr>
        <p:spPr>
          <a:xfrm>
            <a:off x="8833110" y="4408243"/>
            <a:ext cx="794425" cy="184666"/>
          </a:xfrm>
          <a:prstGeom prst="rect">
            <a:avLst/>
          </a:prstGeom>
          <a:noFill/>
          <a:ln>
            <a:noFill/>
          </a:ln>
        </p:spPr>
        <p:txBody>
          <a:bodyPr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安全功能</a:t>
            </a:r>
          </a:p>
        </p:txBody>
      </p:sp>
      <p:sp>
        <p:nvSpPr>
          <p:cNvPr id="155" name="熊大的PPT宝库23"/>
          <p:cNvSpPr txBox="1"/>
          <p:nvPr/>
        </p:nvSpPr>
        <p:spPr>
          <a:xfrm>
            <a:off x="4849878" y="5419598"/>
            <a:ext cx="249224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计算、存储、网络、频谱</a:t>
            </a:r>
          </a:p>
        </p:txBody>
      </p:sp>
      <p:sp>
        <p:nvSpPr>
          <p:cNvPr id="156" name="熊大的PPT宝库24"/>
          <p:cNvSpPr/>
          <p:nvPr/>
        </p:nvSpPr>
        <p:spPr>
          <a:xfrm>
            <a:off x="3041650" y="2390957"/>
            <a:ext cx="6108700" cy="471608"/>
          </a:xfrm>
          <a:prstGeom prst="rect">
            <a:avLst/>
          </a:prstGeom>
          <a:gradFill flip="none" rotWithShape="1">
            <a:gsLst>
              <a:gs pos="0">
                <a:schemeClr val="accent1"/>
              </a:gs>
              <a:gs pos="100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7" name="熊大的PPT宝库25"/>
          <p:cNvSpPr/>
          <p:nvPr/>
        </p:nvSpPr>
        <p:spPr>
          <a:xfrm>
            <a:off x="3463705" y="1531442"/>
            <a:ext cx="5239931" cy="1079423"/>
          </a:xfrm>
          <a:prstGeom prst="rect">
            <a:avLst/>
          </a:prstGeom>
          <a:gradFill flip="none" rotWithShape="1">
            <a:gsLst>
              <a:gs pos="0">
                <a:schemeClr val="accent1"/>
              </a:gs>
              <a:gs pos="100000">
                <a:schemeClr val="accent1">
                  <a:alpha val="0"/>
                </a:schemeClr>
              </a:gs>
            </a:gsLst>
            <a:lin ang="16200000" scaled="1"/>
            <a:tileRect/>
          </a:gradFill>
          <a:ln>
            <a:noFill/>
          </a:ln>
          <a:scene3d>
            <a:camera prst="perspectiveRelaxedModerately" fov="7200000">
              <a:rot lat="17999998"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8" name="熊大的PPT宝库26"/>
          <p:cNvSpPr txBox="1"/>
          <p:nvPr/>
        </p:nvSpPr>
        <p:spPr>
          <a:xfrm>
            <a:off x="4936567" y="2471553"/>
            <a:ext cx="2292194" cy="400110"/>
          </a:xfrm>
          <a:prstGeom prst="rect">
            <a:avLst/>
          </a:prstGeom>
          <a:noFill/>
        </p:spPr>
        <p:txBody>
          <a:bodyPr wrap="square">
            <a:spAutoFit/>
          </a:bodyPr>
          <a:lstStyle>
            <a:defPPr>
              <a:defRPr lang="en-US"/>
            </a:defPPr>
            <a:lvl1pPr marR="0" lvl="0" indent="0" algn="ctr" defTabSz="914400" fontAlgn="auto">
              <a:lnSpc>
                <a:spcPct val="100000"/>
              </a:lnSpc>
              <a:spcBef>
                <a:spcPts val="0"/>
              </a:spcBef>
              <a:spcAft>
                <a:spcPts val="0"/>
              </a:spcAft>
              <a:buClrTx/>
              <a:buSzTx/>
              <a:buFontTx/>
              <a:buNone/>
              <a:defRPr kumimoji="0" sz="2000" b="0" i="0" u="none" strike="noStrike" cap="none" spc="0" normalizeH="0" baseline="0">
                <a:ln>
                  <a:noFill/>
                </a:ln>
                <a:solidFill>
                  <a:schemeClr val="bg1"/>
                </a:solidFill>
                <a:effectLst/>
                <a:uLnTx/>
                <a:uFillTx/>
                <a:latin typeface="思源黑体 CN Bold" panose="020B0800000000000000" pitchFamily="34" charset="-122"/>
                <a:ea typeface="思源黑体 CN Bold" panose="020B0800000000000000"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latin typeface="+mn-lt"/>
                <a:ea typeface="+mn-ea"/>
                <a:cs typeface="+mn-ea"/>
                <a:sym typeface="+mn-lt"/>
              </a:rPr>
              <a:t>服务应用层</a:t>
            </a:r>
          </a:p>
        </p:txBody>
      </p:sp>
      <p:sp>
        <p:nvSpPr>
          <p:cNvPr id="162" name="熊大的PPT宝库27"/>
          <p:cNvSpPr/>
          <p:nvPr/>
        </p:nvSpPr>
        <p:spPr>
          <a:xfrm>
            <a:off x="3155079" y="3185968"/>
            <a:ext cx="1188000" cy="293478"/>
          </a:xfrm>
          <a:prstGeom prst="roundRect">
            <a:avLst>
              <a:gd name="adj" fmla="val 5000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3" name="熊大的PPT宝库28"/>
          <p:cNvSpPr txBox="1"/>
          <p:nvPr/>
        </p:nvSpPr>
        <p:spPr>
          <a:xfrm>
            <a:off x="3351867" y="3240374"/>
            <a:ext cx="794425" cy="184666"/>
          </a:xfrm>
          <a:prstGeom prst="rect">
            <a:avLst/>
          </a:prstGeom>
          <a:noFill/>
          <a:ln>
            <a:noFill/>
          </a:ln>
        </p:spPr>
        <p:txBody>
          <a:bodyPr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智能连接</a:t>
            </a:r>
          </a:p>
        </p:txBody>
      </p:sp>
      <p:sp>
        <p:nvSpPr>
          <p:cNvPr id="164" name="熊大的PPT宝库29"/>
          <p:cNvSpPr/>
          <p:nvPr/>
        </p:nvSpPr>
        <p:spPr>
          <a:xfrm>
            <a:off x="4734940" y="3185968"/>
            <a:ext cx="1188000" cy="293478"/>
          </a:xfrm>
          <a:prstGeom prst="roundRect">
            <a:avLst>
              <a:gd name="adj" fmla="val 5000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5" name="熊大的PPT宝库30"/>
          <p:cNvSpPr txBox="1"/>
          <p:nvPr/>
        </p:nvSpPr>
        <p:spPr>
          <a:xfrm>
            <a:off x="4931728" y="3240374"/>
            <a:ext cx="794425" cy="184666"/>
          </a:xfrm>
          <a:prstGeom prst="rect">
            <a:avLst/>
          </a:prstGeom>
          <a:noFill/>
          <a:ln>
            <a:noFill/>
          </a:ln>
        </p:spPr>
        <p:txBody>
          <a:bodyPr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智能配置</a:t>
            </a:r>
          </a:p>
        </p:txBody>
      </p:sp>
      <p:sp>
        <p:nvSpPr>
          <p:cNvPr id="166" name="熊大的PPT宝库31"/>
          <p:cNvSpPr/>
          <p:nvPr/>
        </p:nvSpPr>
        <p:spPr>
          <a:xfrm>
            <a:off x="6314801" y="3185968"/>
            <a:ext cx="1188000" cy="293478"/>
          </a:xfrm>
          <a:prstGeom prst="roundRect">
            <a:avLst>
              <a:gd name="adj" fmla="val 5000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7" name="熊大的PPT宝库32"/>
          <p:cNvSpPr txBox="1"/>
          <p:nvPr/>
        </p:nvSpPr>
        <p:spPr>
          <a:xfrm>
            <a:off x="6511589" y="3240374"/>
            <a:ext cx="794425" cy="184666"/>
          </a:xfrm>
          <a:prstGeom prst="rect">
            <a:avLst/>
          </a:prstGeom>
          <a:noFill/>
          <a:ln>
            <a:noFill/>
          </a:ln>
        </p:spPr>
        <p:txBody>
          <a:bodyPr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智能编排</a:t>
            </a:r>
          </a:p>
        </p:txBody>
      </p:sp>
      <p:sp>
        <p:nvSpPr>
          <p:cNvPr id="168" name="熊大的PPT宝库33"/>
          <p:cNvSpPr/>
          <p:nvPr/>
        </p:nvSpPr>
        <p:spPr>
          <a:xfrm>
            <a:off x="7843862" y="3185968"/>
            <a:ext cx="1188000" cy="293478"/>
          </a:xfrm>
          <a:prstGeom prst="roundRect">
            <a:avLst>
              <a:gd name="adj" fmla="val 5000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9" name="熊大的PPT宝库34"/>
          <p:cNvSpPr txBox="1"/>
          <p:nvPr/>
        </p:nvSpPr>
        <p:spPr>
          <a:xfrm>
            <a:off x="8040650" y="3240374"/>
            <a:ext cx="794425" cy="184666"/>
          </a:xfrm>
          <a:prstGeom prst="rect">
            <a:avLst/>
          </a:prstGeom>
          <a:noFill/>
          <a:ln>
            <a:noFill/>
          </a:ln>
        </p:spPr>
        <p:txBody>
          <a:bodyPr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智能管理</a:t>
            </a:r>
          </a:p>
        </p:txBody>
      </p:sp>
      <p:sp>
        <p:nvSpPr>
          <p:cNvPr id="197" name="熊大的PPT宝库35"/>
          <p:cNvSpPr/>
          <p:nvPr/>
        </p:nvSpPr>
        <p:spPr>
          <a:xfrm>
            <a:off x="3650379" y="2002934"/>
            <a:ext cx="1188000" cy="293478"/>
          </a:xfrm>
          <a:prstGeom prst="roundRect">
            <a:avLst>
              <a:gd name="adj" fmla="val 5000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8" name="熊大的PPT宝库36"/>
          <p:cNvSpPr txBox="1"/>
          <p:nvPr/>
        </p:nvSpPr>
        <p:spPr>
          <a:xfrm>
            <a:off x="3847167" y="2057340"/>
            <a:ext cx="794425" cy="184666"/>
          </a:xfrm>
          <a:prstGeom prst="rect">
            <a:avLst/>
          </a:prstGeom>
          <a:noFill/>
          <a:ln>
            <a:noFill/>
          </a:ln>
        </p:spPr>
        <p:txBody>
          <a:bodyPr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连接服务</a:t>
            </a:r>
          </a:p>
        </p:txBody>
      </p:sp>
      <p:sp>
        <p:nvSpPr>
          <p:cNvPr id="200" name="熊大的PPT宝库37"/>
          <p:cNvSpPr/>
          <p:nvPr/>
        </p:nvSpPr>
        <p:spPr>
          <a:xfrm>
            <a:off x="4887340" y="2002934"/>
            <a:ext cx="1188000" cy="293478"/>
          </a:xfrm>
          <a:prstGeom prst="roundRect">
            <a:avLst>
              <a:gd name="adj" fmla="val 5000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1" name="熊大的PPT宝库38"/>
          <p:cNvSpPr txBox="1"/>
          <p:nvPr/>
        </p:nvSpPr>
        <p:spPr>
          <a:xfrm>
            <a:off x="5084128" y="2057340"/>
            <a:ext cx="794426" cy="184666"/>
          </a:xfrm>
          <a:prstGeom prst="rect">
            <a:avLst/>
          </a:prstGeom>
          <a:noFill/>
          <a:ln>
            <a:noFill/>
          </a:ln>
        </p:spPr>
        <p:txBody>
          <a:bodyPr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算力服务</a:t>
            </a:r>
          </a:p>
        </p:txBody>
      </p:sp>
      <p:sp>
        <p:nvSpPr>
          <p:cNvPr id="203" name="熊大的PPT宝库39"/>
          <p:cNvSpPr/>
          <p:nvPr/>
        </p:nvSpPr>
        <p:spPr>
          <a:xfrm>
            <a:off x="6124301" y="2002934"/>
            <a:ext cx="1188000" cy="293478"/>
          </a:xfrm>
          <a:prstGeom prst="roundRect">
            <a:avLst>
              <a:gd name="adj" fmla="val 5000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4" name="熊大的PPT宝库40"/>
          <p:cNvSpPr txBox="1"/>
          <p:nvPr/>
        </p:nvSpPr>
        <p:spPr>
          <a:xfrm>
            <a:off x="6321089" y="2057340"/>
            <a:ext cx="794425" cy="184666"/>
          </a:xfrm>
          <a:prstGeom prst="rect">
            <a:avLst/>
          </a:prstGeom>
          <a:noFill/>
          <a:ln>
            <a:noFill/>
          </a:ln>
        </p:spPr>
        <p:txBody>
          <a:bodyPr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功能定制</a:t>
            </a:r>
          </a:p>
        </p:txBody>
      </p:sp>
      <p:sp>
        <p:nvSpPr>
          <p:cNvPr id="206" name="熊大的PPT宝库41"/>
          <p:cNvSpPr/>
          <p:nvPr/>
        </p:nvSpPr>
        <p:spPr>
          <a:xfrm>
            <a:off x="7361262" y="2002934"/>
            <a:ext cx="1188000" cy="293478"/>
          </a:xfrm>
          <a:prstGeom prst="roundRect">
            <a:avLst>
              <a:gd name="adj" fmla="val 5000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7" name="熊大的PPT宝库42"/>
          <p:cNvSpPr txBox="1"/>
          <p:nvPr/>
        </p:nvSpPr>
        <p:spPr>
          <a:xfrm>
            <a:off x="7558050" y="2057340"/>
            <a:ext cx="794425" cy="184666"/>
          </a:xfrm>
          <a:prstGeom prst="rect">
            <a:avLst/>
          </a:prstGeom>
          <a:noFill/>
          <a:ln>
            <a:noFill/>
          </a:ln>
        </p:spPr>
        <p:txBody>
          <a:bodyPr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能力开放</a:t>
            </a:r>
          </a:p>
        </p:txBody>
      </p:sp>
      <p:sp>
        <p:nvSpPr>
          <p:cNvPr id="5" name="熊大的PPT宝库44"/>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熊大的PPT宝库1"/>
          <p:cNvSpPr txBox="1"/>
          <p:nvPr/>
        </p:nvSpPr>
        <p:spPr>
          <a:xfrm>
            <a:off x="348830" y="216968"/>
            <a:ext cx="5844870"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00329D"/>
                </a:solidFill>
                <a:effectLst/>
                <a:uLnTx/>
                <a:uFillTx/>
                <a:cs typeface="+mn-ea"/>
                <a:sym typeface="+mn-lt"/>
              </a:rPr>
              <a:t>AI+</a:t>
            </a:r>
            <a:r>
              <a:rPr kumimoji="0" lang="zh-CN" altLang="en-US" sz="3200" b="0" i="0" u="none" strike="noStrike" kern="1200" cap="none" spc="0" normalizeH="0" baseline="0" noProof="0" dirty="0">
                <a:ln>
                  <a:noFill/>
                </a:ln>
                <a:solidFill>
                  <a:srgbClr val="00329D"/>
                </a:solidFill>
                <a:effectLst/>
                <a:uLnTx/>
                <a:uFillTx/>
                <a:cs typeface="+mn-ea"/>
                <a:sym typeface="+mn-lt"/>
              </a:rPr>
              <a:t>医学影像涵盖范围不断拓展</a:t>
            </a:r>
          </a:p>
        </p:txBody>
      </p:sp>
      <p:sp>
        <p:nvSpPr>
          <p:cNvPr id="127" name="熊大的PPT宝库2"/>
          <p:cNvSpPr/>
          <p:nvPr/>
        </p:nvSpPr>
        <p:spPr>
          <a:xfrm flipH="1">
            <a:off x="434973" y="4009581"/>
            <a:ext cx="11339999" cy="2506415"/>
          </a:xfrm>
          <a:prstGeom prst="roundRect">
            <a:avLst>
              <a:gd name="adj" fmla="val 2258"/>
            </a:avLst>
          </a:prstGeom>
          <a:gradFill>
            <a:gsLst>
              <a:gs pos="0">
                <a:schemeClr val="accent1">
                  <a:lumMod val="5000"/>
                  <a:lumOff val="95000"/>
                </a:schemeClr>
              </a:gs>
              <a:gs pos="100000">
                <a:schemeClr val="accent1">
                  <a:lumMod val="5000"/>
                  <a:lumOff val="95000"/>
                </a:schemeClr>
              </a:gs>
            </a:gsLst>
            <a:lin ang="2700000" scaled="0"/>
          </a:gradFill>
          <a:ln w="9525" cap="flat" cmpd="sng" algn="ctr">
            <a:gradFill>
              <a:gsLst>
                <a:gs pos="0">
                  <a:schemeClr val="accent1">
                    <a:lumMod val="70000"/>
                    <a:lumOff val="3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28" name="熊大的PPT宝库3"/>
          <p:cNvSpPr/>
          <p:nvPr/>
        </p:nvSpPr>
        <p:spPr>
          <a:xfrm>
            <a:off x="2487760" y="4894309"/>
            <a:ext cx="8867099" cy="1422856"/>
          </a:xfrm>
          <a:prstGeom prst="roundRect">
            <a:avLst>
              <a:gd name="adj" fmla="val 317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29" name="熊大的PPT宝库4"/>
          <p:cNvSpPr/>
          <p:nvPr/>
        </p:nvSpPr>
        <p:spPr>
          <a:xfrm>
            <a:off x="2263577" y="5531109"/>
            <a:ext cx="247948" cy="250889"/>
          </a:xfrm>
          <a:prstGeom prst="mathPlus">
            <a:avLst>
              <a:gd name="adj1" fmla="val 16638"/>
            </a:avLst>
          </a:prstGeom>
          <a:gradFill>
            <a:gsLst>
              <a:gs pos="0">
                <a:schemeClr val="accent1"/>
              </a:gs>
              <a:gs pos="100000">
                <a:schemeClr val="accent1"/>
              </a:gs>
            </a:gsLst>
            <a:lin ang="2700000" scaled="0"/>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30" name="熊大的PPT宝库5"/>
          <p:cNvSpPr txBox="1"/>
          <p:nvPr/>
        </p:nvSpPr>
        <p:spPr>
          <a:xfrm>
            <a:off x="3580874" y="5060508"/>
            <a:ext cx="954107" cy="369332"/>
          </a:xfrm>
          <a:prstGeom prst="rect">
            <a:avLst/>
          </a:prstGeom>
          <a:noFill/>
        </p:spPr>
        <p:txBody>
          <a:bodyPr wrap="square">
            <a:spAutoFit/>
          </a:bodyPr>
          <a:lstStyle>
            <a:defPPr>
              <a:defRPr lang="zh-CN"/>
            </a:defPPr>
            <a:lvl1pPr>
              <a:defRPr sz="2000" b="1">
                <a:gradFill>
                  <a:gsLst>
                    <a:gs pos="100000">
                      <a:schemeClr val="accent1"/>
                    </a:gs>
                    <a:gs pos="0">
                      <a:schemeClr val="accent2"/>
                    </a:gs>
                  </a:gsLst>
                  <a:lin ang="2700000" scaled="0"/>
                </a:gra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gradFill>
                  <a:gsLst>
                    <a:gs pos="100000">
                      <a:srgbClr val="00329D"/>
                    </a:gs>
                    <a:gs pos="0">
                      <a:srgbClr val="00329D">
                        <a:lumMod val="60000"/>
                        <a:lumOff val="40000"/>
                      </a:srgbClr>
                    </a:gs>
                  </a:gsLst>
                  <a:lin ang="2700000" scaled="0"/>
                </a:gradFill>
                <a:effectLst/>
                <a:uLnTx/>
                <a:uFillTx/>
                <a:cs typeface="+mn-ea"/>
                <a:sym typeface="+mn-lt"/>
              </a:rPr>
              <a:t>应用层</a:t>
            </a:r>
          </a:p>
        </p:txBody>
      </p:sp>
      <p:sp>
        <p:nvSpPr>
          <p:cNvPr id="132" name="熊大的PPT宝库6"/>
          <p:cNvSpPr/>
          <p:nvPr/>
        </p:nvSpPr>
        <p:spPr>
          <a:xfrm>
            <a:off x="2820767" y="5520115"/>
            <a:ext cx="787009"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546A">
                    <a:lumMod val="75000"/>
                  </a:srgbClr>
                </a:solidFill>
                <a:effectLst/>
                <a:uLnTx/>
                <a:uFillTx/>
                <a:cs typeface="+mn-ea"/>
                <a:sym typeface="+mn-lt"/>
              </a:rPr>
              <a:t>数字规划</a:t>
            </a:r>
          </a:p>
        </p:txBody>
      </p:sp>
      <p:sp>
        <p:nvSpPr>
          <p:cNvPr id="133" name="熊大的PPT宝库7"/>
          <p:cNvSpPr/>
          <p:nvPr/>
        </p:nvSpPr>
        <p:spPr>
          <a:xfrm>
            <a:off x="3664422" y="5520115"/>
            <a:ext cx="787009"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546A">
                    <a:lumMod val="75000"/>
                  </a:srgbClr>
                </a:solidFill>
                <a:effectLst/>
                <a:uLnTx/>
                <a:uFillTx/>
                <a:cs typeface="+mn-ea"/>
                <a:sym typeface="+mn-lt"/>
              </a:rPr>
              <a:t>数字调度</a:t>
            </a:r>
          </a:p>
        </p:txBody>
      </p:sp>
      <p:sp>
        <p:nvSpPr>
          <p:cNvPr id="134" name="熊大的PPT宝库8"/>
          <p:cNvSpPr/>
          <p:nvPr/>
        </p:nvSpPr>
        <p:spPr>
          <a:xfrm>
            <a:off x="4508078" y="5520115"/>
            <a:ext cx="787009"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546A">
                    <a:lumMod val="75000"/>
                  </a:srgbClr>
                </a:solidFill>
                <a:effectLst/>
                <a:uLnTx/>
                <a:uFillTx/>
                <a:cs typeface="+mn-ea"/>
                <a:sym typeface="+mn-lt"/>
              </a:rPr>
              <a:t>数字基建</a:t>
            </a:r>
          </a:p>
        </p:txBody>
      </p:sp>
      <p:sp>
        <p:nvSpPr>
          <p:cNvPr id="135" name="熊大的PPT宝库9"/>
          <p:cNvSpPr/>
          <p:nvPr/>
        </p:nvSpPr>
        <p:spPr>
          <a:xfrm>
            <a:off x="2820767" y="5918969"/>
            <a:ext cx="787009"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546A">
                    <a:lumMod val="75000"/>
                  </a:srgbClr>
                </a:solidFill>
                <a:effectLst/>
                <a:uLnTx/>
                <a:uFillTx/>
                <a:cs typeface="+mn-ea"/>
                <a:sym typeface="+mn-lt"/>
              </a:rPr>
              <a:t>数字营销</a:t>
            </a:r>
          </a:p>
        </p:txBody>
      </p:sp>
      <p:sp>
        <p:nvSpPr>
          <p:cNvPr id="136" name="熊大的PPT宝库10"/>
          <p:cNvSpPr/>
          <p:nvPr/>
        </p:nvSpPr>
        <p:spPr>
          <a:xfrm>
            <a:off x="3664423" y="5918969"/>
            <a:ext cx="787009"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546A">
                    <a:lumMod val="75000"/>
                  </a:srgbClr>
                </a:solidFill>
                <a:effectLst/>
                <a:uLnTx/>
                <a:uFillTx/>
                <a:cs typeface="+mn-ea"/>
                <a:sym typeface="+mn-lt"/>
              </a:rPr>
              <a:t>数字生产</a:t>
            </a:r>
          </a:p>
        </p:txBody>
      </p:sp>
      <p:sp>
        <p:nvSpPr>
          <p:cNvPr id="137" name="熊大的PPT宝库11"/>
          <p:cNvSpPr/>
          <p:nvPr/>
        </p:nvSpPr>
        <p:spPr>
          <a:xfrm>
            <a:off x="4508078" y="5918969"/>
            <a:ext cx="787009"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546A">
                    <a:lumMod val="75000"/>
                  </a:srgbClr>
                </a:solidFill>
                <a:effectLst/>
                <a:uLnTx/>
                <a:uFillTx/>
                <a:cs typeface="+mn-ea"/>
                <a:sym typeface="+mn-lt"/>
              </a:rPr>
              <a:t>数字安监</a:t>
            </a:r>
          </a:p>
        </p:txBody>
      </p:sp>
      <p:sp>
        <p:nvSpPr>
          <p:cNvPr id="138" name="熊大的PPT宝库12"/>
          <p:cNvSpPr txBox="1"/>
          <p:nvPr/>
        </p:nvSpPr>
        <p:spPr>
          <a:xfrm>
            <a:off x="6385830" y="5060508"/>
            <a:ext cx="954107" cy="369332"/>
          </a:xfrm>
          <a:prstGeom prst="rect">
            <a:avLst/>
          </a:prstGeom>
          <a:noFill/>
        </p:spPr>
        <p:txBody>
          <a:bodyPr wrap="square">
            <a:spAutoFit/>
          </a:bodyPr>
          <a:lstStyle>
            <a:defPPr>
              <a:defRPr lang="zh-CN"/>
            </a:defPPr>
            <a:lvl1pPr>
              <a:defRPr sz="2000" b="1">
                <a:gradFill>
                  <a:gsLst>
                    <a:gs pos="100000">
                      <a:schemeClr val="accent1"/>
                    </a:gs>
                    <a:gs pos="0">
                      <a:schemeClr val="accent2"/>
                    </a:gs>
                  </a:gsLst>
                  <a:lin ang="2700000" scaled="0"/>
                </a:gra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gradFill>
                  <a:gsLst>
                    <a:gs pos="100000">
                      <a:srgbClr val="00329D"/>
                    </a:gs>
                    <a:gs pos="0">
                      <a:srgbClr val="00329D">
                        <a:lumMod val="60000"/>
                        <a:lumOff val="40000"/>
                      </a:srgbClr>
                    </a:gs>
                  </a:gsLst>
                  <a:lin ang="2700000" scaled="0"/>
                </a:gradFill>
                <a:effectLst/>
                <a:uLnTx/>
                <a:uFillTx/>
                <a:cs typeface="+mn-ea"/>
                <a:sym typeface="+mn-lt"/>
              </a:rPr>
              <a:t>平台层</a:t>
            </a:r>
          </a:p>
        </p:txBody>
      </p:sp>
      <p:sp>
        <p:nvSpPr>
          <p:cNvPr id="140" name="熊大的PPT宝库13"/>
          <p:cNvSpPr/>
          <p:nvPr/>
        </p:nvSpPr>
        <p:spPr>
          <a:xfrm>
            <a:off x="5738093" y="5522971"/>
            <a:ext cx="819655"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546A">
                    <a:lumMod val="75000"/>
                  </a:srgbClr>
                </a:solidFill>
                <a:effectLst/>
                <a:uLnTx/>
                <a:uFillTx/>
                <a:cs typeface="+mn-ea"/>
                <a:sym typeface="+mn-lt"/>
              </a:rPr>
              <a:t>数据中心</a:t>
            </a:r>
          </a:p>
        </p:txBody>
      </p:sp>
      <p:sp>
        <p:nvSpPr>
          <p:cNvPr id="141" name="熊大的PPT宝库14"/>
          <p:cNvSpPr/>
          <p:nvPr/>
        </p:nvSpPr>
        <p:spPr>
          <a:xfrm>
            <a:off x="6603215" y="5522971"/>
            <a:ext cx="695208"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546A">
                    <a:lumMod val="75000"/>
                  </a:srgbClr>
                </a:solidFill>
                <a:effectLst/>
                <a:uLnTx/>
                <a:uFillTx/>
                <a:cs typeface="+mn-ea"/>
                <a:sym typeface="+mn-lt"/>
              </a:rPr>
              <a:t>物联网</a:t>
            </a:r>
          </a:p>
        </p:txBody>
      </p:sp>
      <p:sp>
        <p:nvSpPr>
          <p:cNvPr id="142" name="熊大的PPT宝库15"/>
          <p:cNvSpPr/>
          <p:nvPr/>
        </p:nvSpPr>
        <p:spPr>
          <a:xfrm>
            <a:off x="6963383" y="5921825"/>
            <a:ext cx="1024291"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546A">
                    <a:lumMod val="75000"/>
                  </a:srgbClr>
                </a:solidFill>
                <a:effectLst/>
                <a:uLnTx/>
                <a:uFillTx/>
                <a:cs typeface="+mn-ea"/>
                <a:sym typeface="+mn-lt"/>
              </a:rPr>
              <a:t>企业级中台</a:t>
            </a:r>
          </a:p>
        </p:txBody>
      </p:sp>
      <p:sp>
        <p:nvSpPr>
          <p:cNvPr id="143" name="熊大的PPT宝库16"/>
          <p:cNvSpPr/>
          <p:nvPr/>
        </p:nvSpPr>
        <p:spPr>
          <a:xfrm>
            <a:off x="5738093" y="5921825"/>
            <a:ext cx="1173165"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546A">
                    <a:lumMod val="75000"/>
                  </a:srgbClr>
                </a:solidFill>
                <a:effectLst/>
                <a:uLnTx/>
                <a:uFillTx/>
                <a:cs typeface="+mn-ea"/>
                <a:sym typeface="+mn-lt"/>
              </a:rPr>
              <a:t>人工智能平台</a:t>
            </a:r>
          </a:p>
        </p:txBody>
      </p:sp>
      <p:sp>
        <p:nvSpPr>
          <p:cNvPr id="144" name="熊大的PPT宝库17"/>
          <p:cNvSpPr/>
          <p:nvPr/>
        </p:nvSpPr>
        <p:spPr>
          <a:xfrm>
            <a:off x="7343892" y="5522971"/>
            <a:ext cx="642500"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546A">
                    <a:lumMod val="75000"/>
                  </a:srgbClr>
                </a:solidFill>
                <a:effectLst/>
                <a:uLnTx/>
                <a:uFillTx/>
                <a:cs typeface="+mn-ea"/>
                <a:sym typeface="+mn-lt"/>
              </a:rPr>
              <a:t>云平台</a:t>
            </a:r>
          </a:p>
        </p:txBody>
      </p:sp>
      <p:sp>
        <p:nvSpPr>
          <p:cNvPr id="145" name="熊大的PPT宝库18"/>
          <p:cNvSpPr txBox="1"/>
          <p:nvPr/>
        </p:nvSpPr>
        <p:spPr>
          <a:xfrm>
            <a:off x="8672957" y="5060508"/>
            <a:ext cx="954107" cy="369332"/>
          </a:xfrm>
          <a:prstGeom prst="rect">
            <a:avLst/>
          </a:prstGeom>
          <a:noFill/>
        </p:spPr>
        <p:txBody>
          <a:bodyPr wrap="square">
            <a:spAutoFit/>
          </a:bodyPr>
          <a:lstStyle>
            <a:defPPr>
              <a:defRPr lang="zh-CN"/>
            </a:defPPr>
            <a:lvl1pPr>
              <a:defRPr sz="2000" b="1">
                <a:gradFill>
                  <a:gsLst>
                    <a:gs pos="100000">
                      <a:schemeClr val="accent1"/>
                    </a:gs>
                    <a:gs pos="0">
                      <a:schemeClr val="accent2"/>
                    </a:gs>
                  </a:gsLst>
                  <a:lin ang="2700000" scaled="0"/>
                </a:gra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gradFill>
                  <a:gsLst>
                    <a:gs pos="100000">
                      <a:srgbClr val="00329D"/>
                    </a:gs>
                    <a:gs pos="0">
                      <a:srgbClr val="00329D">
                        <a:lumMod val="60000"/>
                        <a:lumOff val="40000"/>
                      </a:srgbClr>
                    </a:gs>
                  </a:gsLst>
                  <a:lin ang="2700000" scaled="0"/>
                </a:gradFill>
                <a:effectLst/>
                <a:uLnTx/>
                <a:uFillTx/>
                <a:cs typeface="+mn-ea"/>
                <a:sym typeface="+mn-lt"/>
              </a:rPr>
              <a:t>网络层</a:t>
            </a:r>
          </a:p>
        </p:txBody>
      </p:sp>
      <p:sp>
        <p:nvSpPr>
          <p:cNvPr id="147" name="熊大的PPT宝库19"/>
          <p:cNvSpPr/>
          <p:nvPr/>
        </p:nvSpPr>
        <p:spPr>
          <a:xfrm>
            <a:off x="8468780" y="5542445"/>
            <a:ext cx="541336"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44546A">
                    <a:lumMod val="75000"/>
                  </a:srgbClr>
                </a:solidFill>
                <a:effectLst/>
                <a:uLnTx/>
                <a:uFillTx/>
                <a:cs typeface="+mn-ea"/>
                <a:sym typeface="+mn-lt"/>
              </a:rPr>
              <a:t>5G</a:t>
            </a:r>
          </a:p>
        </p:txBody>
      </p:sp>
      <p:sp>
        <p:nvSpPr>
          <p:cNvPr id="148" name="熊大的PPT宝库20"/>
          <p:cNvSpPr/>
          <p:nvPr/>
        </p:nvSpPr>
        <p:spPr>
          <a:xfrm>
            <a:off x="9289904" y="5941298"/>
            <a:ext cx="541336"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44546A">
                    <a:lumMod val="75000"/>
                  </a:srgbClr>
                </a:solidFill>
                <a:effectLst/>
                <a:uLnTx/>
                <a:uFillTx/>
                <a:cs typeface="+mn-ea"/>
                <a:sym typeface="+mn-lt"/>
              </a:rPr>
              <a:t>IPV6</a:t>
            </a:r>
          </a:p>
        </p:txBody>
      </p:sp>
      <p:sp>
        <p:nvSpPr>
          <p:cNvPr id="149" name="熊大的PPT宝库21"/>
          <p:cNvSpPr/>
          <p:nvPr/>
        </p:nvSpPr>
        <p:spPr>
          <a:xfrm>
            <a:off x="8474658" y="5941298"/>
            <a:ext cx="779259"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546A">
                    <a:lumMod val="75000"/>
                  </a:srgbClr>
                </a:solidFill>
                <a:effectLst/>
                <a:uLnTx/>
                <a:uFillTx/>
                <a:cs typeface="+mn-ea"/>
                <a:sym typeface="+mn-lt"/>
              </a:rPr>
              <a:t>光纤通信</a:t>
            </a:r>
          </a:p>
        </p:txBody>
      </p:sp>
      <p:sp>
        <p:nvSpPr>
          <p:cNvPr id="150" name="熊大的PPT宝库22"/>
          <p:cNvSpPr/>
          <p:nvPr/>
        </p:nvSpPr>
        <p:spPr>
          <a:xfrm>
            <a:off x="9047699" y="5542445"/>
            <a:ext cx="779259"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546A">
                    <a:lumMod val="75000"/>
                  </a:srgbClr>
                </a:solidFill>
                <a:effectLst/>
                <a:uLnTx/>
                <a:uFillTx/>
                <a:cs typeface="+mn-ea"/>
                <a:sym typeface="+mn-lt"/>
              </a:rPr>
              <a:t>电力载波</a:t>
            </a:r>
          </a:p>
        </p:txBody>
      </p:sp>
      <p:sp>
        <p:nvSpPr>
          <p:cNvPr id="151" name="熊大的PPT宝库23"/>
          <p:cNvSpPr txBox="1"/>
          <p:nvPr/>
        </p:nvSpPr>
        <p:spPr>
          <a:xfrm>
            <a:off x="10200706" y="5060508"/>
            <a:ext cx="954107" cy="369332"/>
          </a:xfrm>
          <a:prstGeom prst="rect">
            <a:avLst/>
          </a:prstGeom>
          <a:noFill/>
        </p:spPr>
        <p:txBody>
          <a:bodyPr wrap="square">
            <a:spAutoFit/>
          </a:bodyPr>
          <a:lstStyle>
            <a:defPPr>
              <a:defRPr lang="zh-CN"/>
            </a:defPPr>
            <a:lvl1pPr>
              <a:defRPr sz="2000" b="1">
                <a:gradFill>
                  <a:gsLst>
                    <a:gs pos="100000">
                      <a:schemeClr val="accent1"/>
                    </a:gs>
                    <a:gs pos="0">
                      <a:schemeClr val="accent2"/>
                    </a:gs>
                  </a:gsLst>
                  <a:lin ang="2700000" scaled="0"/>
                </a:gra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gradFill>
                  <a:gsLst>
                    <a:gs pos="100000">
                      <a:srgbClr val="00329D"/>
                    </a:gs>
                    <a:gs pos="0">
                      <a:srgbClr val="00329D">
                        <a:lumMod val="60000"/>
                        <a:lumOff val="40000"/>
                      </a:srgbClr>
                    </a:gs>
                  </a:gsLst>
                  <a:lin ang="2700000" scaled="0"/>
                </a:gradFill>
                <a:effectLst/>
                <a:uLnTx/>
                <a:uFillTx/>
                <a:cs typeface="+mn-ea"/>
                <a:sym typeface="+mn-lt"/>
              </a:rPr>
              <a:t>感知层</a:t>
            </a:r>
          </a:p>
        </p:txBody>
      </p:sp>
      <p:sp>
        <p:nvSpPr>
          <p:cNvPr id="153" name="熊大的PPT宝库24"/>
          <p:cNvSpPr/>
          <p:nvPr/>
        </p:nvSpPr>
        <p:spPr>
          <a:xfrm>
            <a:off x="10210746" y="5909318"/>
            <a:ext cx="934026"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546A">
                    <a:lumMod val="75000"/>
                  </a:srgbClr>
                </a:solidFill>
                <a:effectLst/>
                <a:uLnTx/>
                <a:uFillTx/>
                <a:cs typeface="+mn-ea"/>
                <a:sym typeface="+mn-lt"/>
              </a:rPr>
              <a:t>微型传感器</a:t>
            </a:r>
          </a:p>
        </p:txBody>
      </p:sp>
      <p:sp>
        <p:nvSpPr>
          <p:cNvPr id="154" name="熊大的PPT宝库25"/>
          <p:cNvSpPr/>
          <p:nvPr/>
        </p:nvSpPr>
        <p:spPr>
          <a:xfrm>
            <a:off x="10210746" y="5544126"/>
            <a:ext cx="934026" cy="262554"/>
          </a:xfrm>
          <a:prstGeom prst="roundRect">
            <a:avLst>
              <a:gd name="adj" fmla="val 50000"/>
            </a:avLst>
          </a:prstGeom>
          <a:noFill/>
          <a:ln w="6350" cap="flat" cmpd="sng" algn="ctr">
            <a:gradFill>
              <a:gsLst>
                <a:gs pos="0">
                  <a:schemeClr val="accent1">
                    <a:lumMod val="60000"/>
                    <a:lumOff val="4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546A">
                    <a:lumMod val="75000"/>
                  </a:srgbClr>
                </a:solidFill>
                <a:effectLst/>
                <a:uLnTx/>
                <a:uFillTx/>
                <a:cs typeface="+mn-ea"/>
                <a:sym typeface="+mn-lt"/>
              </a:rPr>
              <a:t>智能终端</a:t>
            </a:r>
          </a:p>
        </p:txBody>
      </p:sp>
      <p:sp>
        <p:nvSpPr>
          <p:cNvPr id="155" name="熊大的PPT宝库26"/>
          <p:cNvSpPr/>
          <p:nvPr/>
        </p:nvSpPr>
        <p:spPr>
          <a:xfrm flipH="1">
            <a:off x="1370506" y="4947983"/>
            <a:ext cx="916586" cy="1406163"/>
          </a:xfrm>
          <a:prstGeom prst="roundRect">
            <a:avLst>
              <a:gd name="adj" fmla="val 743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56" name="熊大的PPT宝库27"/>
          <p:cNvSpPr txBox="1"/>
          <p:nvPr/>
        </p:nvSpPr>
        <p:spPr>
          <a:xfrm>
            <a:off x="1402618" y="5327899"/>
            <a:ext cx="821362" cy="646331"/>
          </a:xfrm>
          <a:prstGeom prst="rect">
            <a:avLst/>
          </a:prstGeom>
          <a:noFill/>
        </p:spPr>
        <p:txBody>
          <a:bodyPr wrap="square" lIns="0" rIns="0">
            <a:spAutoFit/>
          </a:bodyPr>
          <a:lstStyle>
            <a:defPPr>
              <a:defRPr lang="zh-CN"/>
            </a:defPPr>
            <a:lvl1pPr marR="0" lvl="0" indent="0" algn="ctr" fontAlgn="auto">
              <a:lnSpc>
                <a:spcPct val="100000"/>
              </a:lnSpc>
              <a:spcBef>
                <a:spcPts val="0"/>
              </a:spcBef>
              <a:spcAft>
                <a:spcPts val="0"/>
              </a:spcAft>
              <a:buClrTx/>
              <a:buSzTx/>
              <a:buFontTx/>
              <a:buNone/>
              <a:defRPr kumimoji="0" b="1" i="0" u="none" strike="noStrike" cap="none" spc="0" normalizeH="0" baseline="0">
                <a:ln>
                  <a:noFill/>
                </a:ln>
                <a:gradFill>
                  <a:gsLst>
                    <a:gs pos="100000">
                      <a:srgbClr val="00367A"/>
                    </a:gs>
                    <a:gs pos="0">
                      <a:srgbClr val="176CC4"/>
                    </a:gs>
                  </a:gsLst>
                  <a:lin ang="2700000" scaled="0"/>
                </a:gradFill>
                <a:effectLst/>
                <a:uLnTx/>
                <a:uFillTx/>
                <a:latin typeface="Roboto" panose="02000000000000000000"/>
                <a:ea typeface="HarmonyOS Sans SC" panose="00000500000000000000"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gradFill>
                  <a:gsLst>
                    <a:gs pos="100000">
                      <a:srgbClr val="00329D"/>
                    </a:gs>
                    <a:gs pos="0">
                      <a:srgbClr val="00329D">
                        <a:lumMod val="60000"/>
                        <a:lumOff val="40000"/>
                      </a:srgbClr>
                    </a:gs>
                  </a:gsLst>
                  <a:lin ang="2700000" scaled="0"/>
                </a:gradFill>
                <a:effectLst/>
                <a:uLnTx/>
                <a:uFillTx/>
                <a:latin typeface="+mn-lt"/>
                <a:ea typeface="+mn-ea"/>
                <a:cs typeface="+mn-ea"/>
                <a:sym typeface="+mn-lt"/>
              </a:rPr>
              <a:t>AI</a:t>
            </a:r>
            <a:r>
              <a:rPr kumimoji="0" lang="zh-CN" altLang="en-US" sz="1800" b="0" i="0" u="none" strike="noStrike" kern="1200" cap="none" spc="0" normalizeH="0" baseline="0" noProof="0" dirty="0">
                <a:ln>
                  <a:noFill/>
                </a:ln>
                <a:gradFill>
                  <a:gsLst>
                    <a:gs pos="100000">
                      <a:srgbClr val="00329D"/>
                    </a:gs>
                    <a:gs pos="0">
                      <a:srgbClr val="00329D">
                        <a:lumMod val="60000"/>
                        <a:lumOff val="40000"/>
                      </a:srgbClr>
                    </a:gs>
                  </a:gsLst>
                  <a:lin ang="2700000" scaled="0"/>
                </a:gradFill>
                <a:effectLst/>
                <a:uLnTx/>
                <a:uFillTx/>
                <a:latin typeface="+mn-lt"/>
                <a:ea typeface="+mn-ea"/>
                <a:cs typeface="+mn-ea"/>
                <a:sym typeface="+mn-lt"/>
              </a:rPr>
              <a:t>智能</a:t>
            </a:r>
            <a:endParaRPr kumimoji="0" lang="en-US" altLang="zh-CN" sz="1800" b="0" i="0" u="none" strike="noStrike" kern="1200" cap="none" spc="0" normalizeH="0" baseline="0" noProof="0" dirty="0">
              <a:ln>
                <a:noFill/>
              </a:ln>
              <a:gradFill>
                <a:gsLst>
                  <a:gs pos="100000">
                    <a:srgbClr val="00329D"/>
                  </a:gs>
                  <a:gs pos="0">
                    <a:srgbClr val="00329D">
                      <a:lumMod val="60000"/>
                      <a:lumOff val="40000"/>
                    </a:srgbClr>
                  </a:gs>
                </a:gsLst>
                <a:lin ang="2700000" scaled="0"/>
              </a:gradFill>
              <a:effectLst/>
              <a:uLnTx/>
              <a:uFillTx/>
              <a:latin typeface="+mn-lt"/>
              <a:ea typeface="+mn-ea"/>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gradFill>
                  <a:gsLst>
                    <a:gs pos="100000">
                      <a:srgbClr val="00329D"/>
                    </a:gs>
                    <a:gs pos="0">
                      <a:srgbClr val="00329D">
                        <a:lumMod val="60000"/>
                        <a:lumOff val="40000"/>
                      </a:srgbClr>
                    </a:gs>
                  </a:gsLst>
                  <a:lin ang="2700000" scaled="0"/>
                </a:gradFill>
                <a:effectLst/>
                <a:uLnTx/>
                <a:uFillTx/>
                <a:latin typeface="+mn-lt"/>
                <a:ea typeface="+mn-ea"/>
                <a:cs typeface="+mn-ea"/>
                <a:sym typeface="+mn-lt"/>
              </a:rPr>
              <a:t>分析</a:t>
            </a:r>
          </a:p>
        </p:txBody>
      </p:sp>
      <p:cxnSp>
        <p:nvCxnSpPr>
          <p:cNvPr id="157" name="熊大的PPT宝库28"/>
          <p:cNvCxnSpPr/>
          <p:nvPr/>
        </p:nvCxnSpPr>
        <p:spPr>
          <a:xfrm>
            <a:off x="5497540" y="5109895"/>
            <a:ext cx="0" cy="109331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8" name="熊大的PPT宝库29"/>
          <p:cNvCxnSpPr/>
          <p:nvPr/>
        </p:nvCxnSpPr>
        <p:spPr>
          <a:xfrm>
            <a:off x="8164727" y="5109895"/>
            <a:ext cx="0" cy="109331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9" name="熊大的PPT宝库30"/>
          <p:cNvCxnSpPr/>
          <p:nvPr/>
        </p:nvCxnSpPr>
        <p:spPr>
          <a:xfrm>
            <a:off x="10008293" y="5109895"/>
            <a:ext cx="0" cy="109331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0" name="熊大的PPT宝库31"/>
          <p:cNvSpPr/>
          <p:nvPr/>
        </p:nvSpPr>
        <p:spPr>
          <a:xfrm rot="16200000" flipH="1">
            <a:off x="-571792" y="5013174"/>
            <a:ext cx="2506414" cy="499230"/>
          </a:xfrm>
          <a:prstGeom prst="round2SameRect">
            <a:avLst>
              <a:gd name="adj1" fmla="val 14759"/>
              <a:gd name="adj2" fmla="val 0"/>
            </a:avLst>
          </a:prstGeom>
          <a:gradFill flip="none" rotWithShape="0">
            <a:gsLst>
              <a:gs pos="100000">
                <a:schemeClr val="accent1"/>
              </a:gs>
              <a:gs pos="0">
                <a:schemeClr val="accent1"/>
              </a:gs>
            </a:gsLst>
            <a:lin ang="5400000" scaled="1"/>
            <a:tileRect/>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62" name="熊大的PPT宝库32"/>
          <p:cNvSpPr/>
          <p:nvPr/>
        </p:nvSpPr>
        <p:spPr>
          <a:xfrm>
            <a:off x="6447109" y="1225873"/>
            <a:ext cx="5327864" cy="1434727"/>
          </a:xfrm>
          <a:prstGeom prst="roundRect">
            <a:avLst>
              <a:gd name="adj" fmla="val 4114"/>
            </a:avLst>
          </a:prstGeom>
          <a:gradFill>
            <a:gsLst>
              <a:gs pos="0">
                <a:schemeClr val="accent1">
                  <a:lumMod val="5000"/>
                  <a:lumOff val="95000"/>
                </a:schemeClr>
              </a:gs>
              <a:gs pos="100000">
                <a:schemeClr val="accent1">
                  <a:lumMod val="5000"/>
                  <a:lumOff val="95000"/>
                </a:schemeClr>
              </a:gs>
            </a:gsLst>
            <a:lin ang="2700000" scaled="0"/>
          </a:gradFill>
          <a:ln w="9525" cap="flat" cmpd="sng" algn="ctr">
            <a:gradFill>
              <a:gsLst>
                <a:gs pos="0">
                  <a:schemeClr val="accent1">
                    <a:lumMod val="70000"/>
                    <a:lumOff val="3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63" name="熊大的PPT宝库33"/>
          <p:cNvSpPr/>
          <p:nvPr/>
        </p:nvSpPr>
        <p:spPr>
          <a:xfrm>
            <a:off x="1055259" y="1225873"/>
            <a:ext cx="5227638" cy="1434727"/>
          </a:xfrm>
          <a:prstGeom prst="roundRect">
            <a:avLst>
              <a:gd name="adj" fmla="val 4114"/>
            </a:avLst>
          </a:prstGeom>
          <a:gradFill>
            <a:gsLst>
              <a:gs pos="0">
                <a:schemeClr val="accent1">
                  <a:lumMod val="5000"/>
                  <a:lumOff val="95000"/>
                </a:schemeClr>
              </a:gs>
              <a:gs pos="100000">
                <a:schemeClr val="accent1">
                  <a:lumMod val="5000"/>
                  <a:lumOff val="95000"/>
                </a:schemeClr>
              </a:gs>
            </a:gsLst>
            <a:lin ang="2700000" scaled="0"/>
          </a:gradFill>
          <a:ln w="9525" cap="flat" cmpd="sng" algn="ctr">
            <a:gradFill>
              <a:gsLst>
                <a:gs pos="0">
                  <a:schemeClr val="accent1">
                    <a:lumMod val="70000"/>
                    <a:lumOff val="30000"/>
                  </a:schemeClr>
                </a:gs>
                <a:gs pos="100000">
                  <a:schemeClr val="accent1"/>
                </a:gs>
              </a:gsLst>
              <a:lin ang="27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64" name="熊大的PPT宝库34"/>
          <p:cNvSpPr/>
          <p:nvPr/>
        </p:nvSpPr>
        <p:spPr>
          <a:xfrm flipH="1">
            <a:off x="1055259" y="2839591"/>
            <a:ext cx="10732413" cy="990999"/>
          </a:xfrm>
          <a:prstGeom prst="roundRect">
            <a:avLst>
              <a:gd name="adj" fmla="val 7670"/>
            </a:avLst>
          </a:prstGeom>
          <a:gradFill>
            <a:gsLst>
              <a:gs pos="0">
                <a:schemeClr val="accent1"/>
              </a:gs>
              <a:gs pos="100000">
                <a:schemeClr val="accent1"/>
              </a:gs>
            </a:gsLst>
            <a:lin ang="2700000" scaled="0"/>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66" name="熊大的PPT宝库35"/>
          <p:cNvSpPr txBox="1"/>
          <p:nvPr/>
        </p:nvSpPr>
        <p:spPr>
          <a:xfrm>
            <a:off x="7561318" y="1365660"/>
            <a:ext cx="2795588" cy="373717"/>
          </a:xfrm>
          <a:prstGeom prst="rect">
            <a:avLst/>
          </a:prstGeom>
          <a:noFill/>
        </p:spPr>
        <p:txBody>
          <a:bodyPr wrap="square">
            <a:spAutoFit/>
          </a:bodyPr>
          <a:lstStyle>
            <a:defPPr>
              <a:defRPr lang="zh-CN"/>
            </a:defPPr>
            <a:lvl1pPr>
              <a:defRPr sz="2000" b="1">
                <a:gradFill>
                  <a:gsLst>
                    <a:gs pos="100000">
                      <a:schemeClr val="accent1"/>
                    </a:gs>
                    <a:gs pos="0">
                      <a:schemeClr val="accent2"/>
                    </a:gs>
                  </a:gsLst>
                  <a:lin ang="2700000" scaled="0"/>
                </a:gra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329D"/>
                </a:solidFill>
                <a:effectLst/>
                <a:uLnTx/>
                <a:uFillTx/>
                <a:cs typeface="+mn-ea"/>
                <a:sym typeface="+mn-lt"/>
              </a:rPr>
              <a:t>新型诊疗系统主要挑战</a:t>
            </a:r>
          </a:p>
        </p:txBody>
      </p:sp>
      <p:sp>
        <p:nvSpPr>
          <p:cNvPr id="170" name="熊大的PPT宝库36"/>
          <p:cNvSpPr txBox="1"/>
          <p:nvPr/>
        </p:nvSpPr>
        <p:spPr>
          <a:xfrm>
            <a:off x="6564772" y="2223942"/>
            <a:ext cx="1338828" cy="327001"/>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500" b="0" i="0" u="none" strike="noStrike" kern="1200" cap="none" spc="0" normalizeH="0" baseline="0" noProof="0" dirty="0">
                <a:ln>
                  <a:noFill/>
                </a:ln>
                <a:solidFill>
                  <a:srgbClr val="44546A"/>
                </a:solidFill>
                <a:effectLst/>
                <a:uLnTx/>
                <a:uFillTx/>
                <a:cs typeface="+mn-ea"/>
                <a:sym typeface="+mn-lt"/>
              </a:rPr>
              <a:t>早期筛查为主</a:t>
            </a:r>
          </a:p>
        </p:txBody>
      </p:sp>
      <p:sp>
        <p:nvSpPr>
          <p:cNvPr id="171" name="熊大的PPT宝库37"/>
          <p:cNvSpPr txBox="1"/>
          <p:nvPr/>
        </p:nvSpPr>
        <p:spPr>
          <a:xfrm>
            <a:off x="8073776" y="2223942"/>
            <a:ext cx="1915909" cy="32316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500" b="0" i="0" u="none" strike="noStrike" kern="1200" cap="none" spc="0" normalizeH="0" baseline="0" noProof="0" dirty="0">
                <a:ln>
                  <a:noFill/>
                </a:ln>
                <a:solidFill>
                  <a:srgbClr val="44546A"/>
                </a:solidFill>
                <a:effectLst/>
                <a:uLnTx/>
                <a:uFillTx/>
                <a:cs typeface="+mn-ea"/>
                <a:sym typeface="+mn-lt"/>
              </a:rPr>
              <a:t>定性诊断获证产品少</a:t>
            </a:r>
          </a:p>
        </p:txBody>
      </p:sp>
      <p:sp>
        <p:nvSpPr>
          <p:cNvPr id="172" name="熊大的PPT宝库38"/>
          <p:cNvSpPr txBox="1"/>
          <p:nvPr/>
        </p:nvSpPr>
        <p:spPr>
          <a:xfrm>
            <a:off x="10063683" y="2223942"/>
            <a:ext cx="1531188" cy="32316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500" b="0" i="0" u="none" strike="noStrike" kern="1200" cap="none" spc="0" normalizeH="0" baseline="0" noProof="0" dirty="0">
                <a:ln>
                  <a:noFill/>
                </a:ln>
                <a:solidFill>
                  <a:srgbClr val="44546A"/>
                </a:solidFill>
                <a:effectLst/>
                <a:uLnTx/>
                <a:uFillTx/>
                <a:cs typeface="+mn-ea"/>
                <a:sym typeface="+mn-lt"/>
              </a:rPr>
              <a:t>专业医师缺口大</a:t>
            </a:r>
          </a:p>
        </p:txBody>
      </p:sp>
      <p:sp>
        <p:nvSpPr>
          <p:cNvPr id="173" name="熊大的PPT宝库39"/>
          <p:cNvSpPr txBox="1"/>
          <p:nvPr/>
        </p:nvSpPr>
        <p:spPr>
          <a:xfrm>
            <a:off x="5290387" y="3378560"/>
            <a:ext cx="2262158" cy="373717"/>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b="1" i="0" u="none" strike="noStrike" cap="none" spc="0" normalizeH="0" baseline="0">
                <a:ln>
                  <a:noFill/>
                </a:ln>
                <a:gradFill>
                  <a:gsLst>
                    <a:gs pos="100000">
                      <a:srgbClr val="00367A"/>
                    </a:gs>
                    <a:gs pos="0">
                      <a:srgbClr val="176CC4"/>
                    </a:gs>
                  </a:gsLst>
                  <a:lin ang="2700000" scaled="0"/>
                </a:gradFill>
                <a:effectLst/>
                <a:uLnTx/>
                <a:uFillTx/>
                <a:latin typeface="Roboto" panose="02000000000000000000"/>
                <a:ea typeface="HarmonyOS Sans SC" panose="00000500000000000000"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latin typeface="+mn-lt"/>
                <a:ea typeface="+mn-ea"/>
                <a:cs typeface="+mn-ea"/>
                <a:sym typeface="+mn-lt"/>
              </a:rPr>
              <a:t>海量数据接入</a:t>
            </a:r>
          </a:p>
        </p:txBody>
      </p:sp>
      <p:sp>
        <p:nvSpPr>
          <p:cNvPr id="174" name="熊大的PPT宝库40"/>
          <p:cNvSpPr txBox="1"/>
          <p:nvPr/>
        </p:nvSpPr>
        <p:spPr>
          <a:xfrm>
            <a:off x="1963541" y="3378560"/>
            <a:ext cx="2260800" cy="373717"/>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b="1" i="0" u="none" strike="noStrike" cap="none" spc="0" normalizeH="0" baseline="0">
                <a:ln>
                  <a:noFill/>
                </a:ln>
                <a:gradFill>
                  <a:gsLst>
                    <a:gs pos="100000">
                      <a:srgbClr val="00367A"/>
                    </a:gs>
                    <a:gs pos="0">
                      <a:srgbClr val="176CC4"/>
                    </a:gs>
                  </a:gsLst>
                  <a:lin ang="2700000" scaled="0"/>
                </a:gradFill>
                <a:effectLst/>
                <a:uLnTx/>
                <a:uFillTx/>
                <a:latin typeface="Roboto" panose="02000000000000000000"/>
                <a:ea typeface="HarmonyOS Sans SC" panose="00000500000000000000"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latin typeface="+mn-lt"/>
                <a:ea typeface="+mn-ea"/>
                <a:cs typeface="+mn-ea"/>
                <a:sym typeface="+mn-lt"/>
              </a:rPr>
              <a:t>高速实时运算</a:t>
            </a:r>
          </a:p>
        </p:txBody>
      </p:sp>
      <p:sp>
        <p:nvSpPr>
          <p:cNvPr id="175" name="熊大的PPT宝库41"/>
          <p:cNvSpPr txBox="1"/>
          <p:nvPr/>
        </p:nvSpPr>
        <p:spPr>
          <a:xfrm>
            <a:off x="8618591" y="3378560"/>
            <a:ext cx="2260800" cy="373717"/>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b="1" i="0" u="none" strike="noStrike" cap="none" spc="0" normalizeH="0" baseline="0">
                <a:ln>
                  <a:noFill/>
                </a:ln>
                <a:gradFill>
                  <a:gsLst>
                    <a:gs pos="100000">
                      <a:srgbClr val="00367A"/>
                    </a:gs>
                    <a:gs pos="0">
                      <a:srgbClr val="176CC4"/>
                    </a:gs>
                  </a:gsLst>
                  <a:lin ang="2700000" scaled="0"/>
                </a:gradFill>
                <a:effectLst/>
                <a:uLnTx/>
                <a:uFillTx/>
                <a:latin typeface="Roboto" panose="02000000000000000000"/>
                <a:ea typeface="HarmonyOS Sans SC" panose="00000500000000000000"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latin typeface="+mn-lt"/>
                <a:ea typeface="+mn-ea"/>
                <a:cs typeface="+mn-ea"/>
                <a:sym typeface="+mn-lt"/>
              </a:rPr>
              <a:t>丰富应用场景</a:t>
            </a:r>
          </a:p>
        </p:txBody>
      </p:sp>
      <p:sp>
        <p:nvSpPr>
          <p:cNvPr id="177" name="熊大的PPT宝库42"/>
          <p:cNvSpPr/>
          <p:nvPr/>
        </p:nvSpPr>
        <p:spPr>
          <a:xfrm>
            <a:off x="6235555" y="3001212"/>
            <a:ext cx="371822" cy="371826"/>
          </a:xfrm>
          <a:custGeom>
            <a:avLst/>
            <a:gdLst>
              <a:gd name="connsiteX0" fmla="*/ 1520390 w 1547063"/>
              <a:gd name="connsiteY0" fmla="*/ 266735 h 1547080"/>
              <a:gd name="connsiteX1" fmla="*/ 1547063 w 1547063"/>
              <a:gd name="connsiteY1" fmla="*/ 240062 h 1547080"/>
              <a:gd name="connsiteX2" fmla="*/ 1520390 w 1547063"/>
              <a:gd name="connsiteY2" fmla="*/ 213388 h 1547080"/>
              <a:gd name="connsiteX3" fmla="*/ 1387022 w 1547063"/>
              <a:gd name="connsiteY3" fmla="*/ 213388 h 1547080"/>
              <a:gd name="connsiteX4" fmla="*/ 1387022 w 1547063"/>
              <a:gd name="connsiteY4" fmla="*/ 106694 h 1547080"/>
              <a:gd name="connsiteX5" fmla="*/ 1520390 w 1547063"/>
              <a:gd name="connsiteY5" fmla="*/ 106694 h 1547080"/>
              <a:gd name="connsiteX6" fmla="*/ 1547063 w 1547063"/>
              <a:gd name="connsiteY6" fmla="*/ 80021 h 1547080"/>
              <a:gd name="connsiteX7" fmla="*/ 1520390 w 1547063"/>
              <a:gd name="connsiteY7" fmla="*/ 53347 h 1547080"/>
              <a:gd name="connsiteX8" fmla="*/ 1387022 w 1547063"/>
              <a:gd name="connsiteY8" fmla="*/ 53347 h 1547080"/>
              <a:gd name="connsiteX9" fmla="*/ 1387022 w 1547063"/>
              <a:gd name="connsiteY9" fmla="*/ 26674 h 1547080"/>
              <a:gd name="connsiteX10" fmla="*/ 1360349 w 1547063"/>
              <a:gd name="connsiteY10" fmla="*/ 0 h 1547080"/>
              <a:gd name="connsiteX11" fmla="*/ 186715 w 1547063"/>
              <a:gd name="connsiteY11" fmla="*/ 0 h 1547080"/>
              <a:gd name="connsiteX12" fmla="*/ 160041 w 1547063"/>
              <a:gd name="connsiteY12" fmla="*/ 26674 h 1547080"/>
              <a:gd name="connsiteX13" fmla="*/ 160041 w 1547063"/>
              <a:gd name="connsiteY13" fmla="*/ 53347 h 1547080"/>
              <a:gd name="connsiteX14" fmla="*/ 26674 w 1547063"/>
              <a:gd name="connsiteY14" fmla="*/ 53347 h 1547080"/>
              <a:gd name="connsiteX15" fmla="*/ 0 w 1547063"/>
              <a:gd name="connsiteY15" fmla="*/ 80021 h 1547080"/>
              <a:gd name="connsiteX16" fmla="*/ 26674 w 1547063"/>
              <a:gd name="connsiteY16" fmla="*/ 106694 h 1547080"/>
              <a:gd name="connsiteX17" fmla="*/ 160041 w 1547063"/>
              <a:gd name="connsiteY17" fmla="*/ 106694 h 1547080"/>
              <a:gd name="connsiteX18" fmla="*/ 160041 w 1547063"/>
              <a:gd name="connsiteY18" fmla="*/ 213388 h 1547080"/>
              <a:gd name="connsiteX19" fmla="*/ 26674 w 1547063"/>
              <a:gd name="connsiteY19" fmla="*/ 213388 h 1547080"/>
              <a:gd name="connsiteX20" fmla="*/ 0 w 1547063"/>
              <a:gd name="connsiteY20" fmla="*/ 240062 h 1547080"/>
              <a:gd name="connsiteX21" fmla="*/ 26674 w 1547063"/>
              <a:gd name="connsiteY21" fmla="*/ 266735 h 1547080"/>
              <a:gd name="connsiteX22" fmla="*/ 160041 w 1547063"/>
              <a:gd name="connsiteY22" fmla="*/ 266735 h 1547080"/>
              <a:gd name="connsiteX23" fmla="*/ 160041 w 1547063"/>
              <a:gd name="connsiteY23" fmla="*/ 373429 h 1547080"/>
              <a:gd name="connsiteX24" fmla="*/ 26674 w 1547063"/>
              <a:gd name="connsiteY24" fmla="*/ 373429 h 1547080"/>
              <a:gd name="connsiteX25" fmla="*/ 0 w 1547063"/>
              <a:gd name="connsiteY25" fmla="*/ 400103 h 1547080"/>
              <a:gd name="connsiteX26" fmla="*/ 26674 w 1547063"/>
              <a:gd name="connsiteY26" fmla="*/ 426776 h 1547080"/>
              <a:gd name="connsiteX27" fmla="*/ 160041 w 1547063"/>
              <a:gd name="connsiteY27" fmla="*/ 426776 h 1547080"/>
              <a:gd name="connsiteX28" fmla="*/ 160041 w 1547063"/>
              <a:gd name="connsiteY28" fmla="*/ 453450 h 1547080"/>
              <a:gd name="connsiteX29" fmla="*/ 186715 w 1547063"/>
              <a:gd name="connsiteY29" fmla="*/ 480123 h 1547080"/>
              <a:gd name="connsiteX30" fmla="*/ 266735 w 1547063"/>
              <a:gd name="connsiteY30" fmla="*/ 480123 h 1547080"/>
              <a:gd name="connsiteX31" fmla="*/ 266735 w 1547063"/>
              <a:gd name="connsiteY31" fmla="*/ 880226 h 1547080"/>
              <a:gd name="connsiteX32" fmla="*/ 274550 w 1547063"/>
              <a:gd name="connsiteY32" fmla="*/ 899084 h 1547080"/>
              <a:gd name="connsiteX33" fmla="*/ 434591 w 1547063"/>
              <a:gd name="connsiteY33" fmla="*/ 1059125 h 1547080"/>
              <a:gd name="connsiteX34" fmla="*/ 453450 w 1547063"/>
              <a:gd name="connsiteY34" fmla="*/ 1066940 h 1547080"/>
              <a:gd name="connsiteX35" fmla="*/ 533470 w 1547063"/>
              <a:gd name="connsiteY35" fmla="*/ 1066940 h 1547080"/>
              <a:gd name="connsiteX36" fmla="*/ 533470 w 1547063"/>
              <a:gd name="connsiteY36" fmla="*/ 1173634 h 1547080"/>
              <a:gd name="connsiteX37" fmla="*/ 422204 w 1547063"/>
              <a:gd name="connsiteY37" fmla="*/ 1173634 h 1547080"/>
              <a:gd name="connsiteX38" fmla="*/ 320087 w 1547063"/>
              <a:gd name="connsiteY38" fmla="*/ 1124864 h 1547080"/>
              <a:gd name="connsiteX39" fmla="*/ 271316 w 1547063"/>
              <a:gd name="connsiteY39" fmla="*/ 1226981 h 1547080"/>
              <a:gd name="connsiteX40" fmla="*/ 373434 w 1547063"/>
              <a:gd name="connsiteY40" fmla="*/ 1275752 h 1547080"/>
              <a:gd name="connsiteX41" fmla="*/ 422204 w 1547063"/>
              <a:gd name="connsiteY41" fmla="*/ 1226981 h 1547080"/>
              <a:gd name="connsiteX42" fmla="*/ 533470 w 1547063"/>
              <a:gd name="connsiteY42" fmla="*/ 1226981 h 1547080"/>
              <a:gd name="connsiteX43" fmla="*/ 533470 w 1547063"/>
              <a:gd name="connsiteY43" fmla="*/ 1253655 h 1547080"/>
              <a:gd name="connsiteX44" fmla="*/ 560144 w 1547063"/>
              <a:gd name="connsiteY44" fmla="*/ 1280328 h 1547080"/>
              <a:gd name="connsiteX45" fmla="*/ 586817 w 1547063"/>
              <a:gd name="connsiteY45" fmla="*/ 1280328 h 1547080"/>
              <a:gd name="connsiteX46" fmla="*/ 586817 w 1547063"/>
              <a:gd name="connsiteY46" fmla="*/ 1349303 h 1547080"/>
              <a:gd name="connsiteX47" fmla="*/ 549098 w 1547063"/>
              <a:gd name="connsiteY47" fmla="*/ 1387022 h 1547080"/>
              <a:gd name="connsiteX48" fmla="*/ 368857 w 1547063"/>
              <a:gd name="connsiteY48" fmla="*/ 1387022 h 1547080"/>
              <a:gd name="connsiteX49" fmla="*/ 266740 w 1547063"/>
              <a:gd name="connsiteY49" fmla="*/ 1338252 h 1547080"/>
              <a:gd name="connsiteX50" fmla="*/ 217969 w 1547063"/>
              <a:gd name="connsiteY50" fmla="*/ 1440369 h 1547080"/>
              <a:gd name="connsiteX51" fmla="*/ 320087 w 1547063"/>
              <a:gd name="connsiteY51" fmla="*/ 1489140 h 1547080"/>
              <a:gd name="connsiteX52" fmla="*/ 368857 w 1547063"/>
              <a:gd name="connsiteY52" fmla="*/ 1440369 h 1547080"/>
              <a:gd name="connsiteX53" fmla="*/ 560144 w 1547063"/>
              <a:gd name="connsiteY53" fmla="*/ 1440369 h 1547080"/>
              <a:gd name="connsiteX54" fmla="*/ 579002 w 1547063"/>
              <a:gd name="connsiteY54" fmla="*/ 1432554 h 1547080"/>
              <a:gd name="connsiteX55" fmla="*/ 632349 w 1547063"/>
              <a:gd name="connsiteY55" fmla="*/ 1379207 h 1547080"/>
              <a:gd name="connsiteX56" fmla="*/ 640164 w 1547063"/>
              <a:gd name="connsiteY56" fmla="*/ 1360349 h 1547080"/>
              <a:gd name="connsiteX57" fmla="*/ 640164 w 1547063"/>
              <a:gd name="connsiteY57" fmla="*/ 1280328 h 1547080"/>
              <a:gd name="connsiteX58" fmla="*/ 746858 w 1547063"/>
              <a:gd name="connsiteY58" fmla="*/ 1280328 h 1547080"/>
              <a:gd name="connsiteX59" fmla="*/ 746858 w 1547063"/>
              <a:gd name="connsiteY59" fmla="*/ 1391594 h 1547080"/>
              <a:gd name="connsiteX60" fmla="*/ 698088 w 1547063"/>
              <a:gd name="connsiteY60" fmla="*/ 1493711 h 1547080"/>
              <a:gd name="connsiteX61" fmla="*/ 800205 w 1547063"/>
              <a:gd name="connsiteY61" fmla="*/ 1542482 h 1547080"/>
              <a:gd name="connsiteX62" fmla="*/ 848976 w 1547063"/>
              <a:gd name="connsiteY62" fmla="*/ 1440364 h 1547080"/>
              <a:gd name="connsiteX63" fmla="*/ 800205 w 1547063"/>
              <a:gd name="connsiteY63" fmla="*/ 1391594 h 1547080"/>
              <a:gd name="connsiteX64" fmla="*/ 800205 w 1547063"/>
              <a:gd name="connsiteY64" fmla="*/ 1280328 h 1547080"/>
              <a:gd name="connsiteX65" fmla="*/ 906899 w 1547063"/>
              <a:gd name="connsiteY65" fmla="*/ 1280328 h 1547080"/>
              <a:gd name="connsiteX66" fmla="*/ 906899 w 1547063"/>
              <a:gd name="connsiteY66" fmla="*/ 1360349 h 1547080"/>
              <a:gd name="connsiteX67" fmla="*/ 914714 w 1547063"/>
              <a:gd name="connsiteY67" fmla="*/ 1379207 h 1547080"/>
              <a:gd name="connsiteX68" fmla="*/ 968061 w 1547063"/>
              <a:gd name="connsiteY68" fmla="*/ 1432554 h 1547080"/>
              <a:gd name="connsiteX69" fmla="*/ 986920 w 1547063"/>
              <a:gd name="connsiteY69" fmla="*/ 1440369 h 1547080"/>
              <a:gd name="connsiteX70" fmla="*/ 1178193 w 1547063"/>
              <a:gd name="connsiteY70" fmla="*/ 1440369 h 1547080"/>
              <a:gd name="connsiteX71" fmla="*/ 1280310 w 1547063"/>
              <a:gd name="connsiteY71" fmla="*/ 1489140 h 1547080"/>
              <a:gd name="connsiteX72" fmla="*/ 1329081 w 1547063"/>
              <a:gd name="connsiteY72" fmla="*/ 1387022 h 1547080"/>
              <a:gd name="connsiteX73" fmla="*/ 1226963 w 1547063"/>
              <a:gd name="connsiteY73" fmla="*/ 1338252 h 1547080"/>
              <a:gd name="connsiteX74" fmla="*/ 1178193 w 1547063"/>
              <a:gd name="connsiteY74" fmla="*/ 1387022 h 1547080"/>
              <a:gd name="connsiteX75" fmla="*/ 997965 w 1547063"/>
              <a:gd name="connsiteY75" fmla="*/ 1387022 h 1547080"/>
              <a:gd name="connsiteX76" fmla="*/ 960246 w 1547063"/>
              <a:gd name="connsiteY76" fmla="*/ 1349303 h 1547080"/>
              <a:gd name="connsiteX77" fmla="*/ 960246 w 1547063"/>
              <a:gd name="connsiteY77" fmla="*/ 1280328 h 1547080"/>
              <a:gd name="connsiteX78" fmla="*/ 986920 w 1547063"/>
              <a:gd name="connsiteY78" fmla="*/ 1280328 h 1547080"/>
              <a:gd name="connsiteX79" fmla="*/ 1013593 w 1547063"/>
              <a:gd name="connsiteY79" fmla="*/ 1253655 h 1547080"/>
              <a:gd name="connsiteX80" fmla="*/ 1013593 w 1547063"/>
              <a:gd name="connsiteY80" fmla="*/ 1226981 h 1547080"/>
              <a:gd name="connsiteX81" fmla="*/ 1124846 w 1547063"/>
              <a:gd name="connsiteY81" fmla="*/ 1226981 h 1547080"/>
              <a:gd name="connsiteX82" fmla="*/ 1226963 w 1547063"/>
              <a:gd name="connsiteY82" fmla="*/ 1275752 h 1547080"/>
              <a:gd name="connsiteX83" fmla="*/ 1275734 w 1547063"/>
              <a:gd name="connsiteY83" fmla="*/ 1173634 h 1547080"/>
              <a:gd name="connsiteX84" fmla="*/ 1173616 w 1547063"/>
              <a:gd name="connsiteY84" fmla="*/ 1124864 h 1547080"/>
              <a:gd name="connsiteX85" fmla="*/ 1124846 w 1547063"/>
              <a:gd name="connsiteY85" fmla="*/ 1173634 h 1547080"/>
              <a:gd name="connsiteX86" fmla="*/ 1013593 w 1547063"/>
              <a:gd name="connsiteY86" fmla="*/ 1173634 h 1547080"/>
              <a:gd name="connsiteX87" fmla="*/ 1013593 w 1547063"/>
              <a:gd name="connsiteY87" fmla="*/ 1066940 h 1547080"/>
              <a:gd name="connsiteX88" fmla="*/ 1093614 w 1547063"/>
              <a:gd name="connsiteY88" fmla="*/ 1066940 h 1547080"/>
              <a:gd name="connsiteX89" fmla="*/ 1112472 w 1547063"/>
              <a:gd name="connsiteY89" fmla="*/ 1059125 h 1547080"/>
              <a:gd name="connsiteX90" fmla="*/ 1272513 w 1547063"/>
              <a:gd name="connsiteY90" fmla="*/ 899084 h 1547080"/>
              <a:gd name="connsiteX91" fmla="*/ 1280328 w 1547063"/>
              <a:gd name="connsiteY91" fmla="*/ 880226 h 1547080"/>
              <a:gd name="connsiteX92" fmla="*/ 1280328 w 1547063"/>
              <a:gd name="connsiteY92" fmla="*/ 480123 h 1547080"/>
              <a:gd name="connsiteX93" fmla="*/ 1360349 w 1547063"/>
              <a:gd name="connsiteY93" fmla="*/ 480123 h 1547080"/>
              <a:gd name="connsiteX94" fmla="*/ 1387022 w 1547063"/>
              <a:gd name="connsiteY94" fmla="*/ 453450 h 1547080"/>
              <a:gd name="connsiteX95" fmla="*/ 1387022 w 1547063"/>
              <a:gd name="connsiteY95" fmla="*/ 426776 h 1547080"/>
              <a:gd name="connsiteX96" fmla="*/ 1520390 w 1547063"/>
              <a:gd name="connsiteY96" fmla="*/ 426776 h 1547080"/>
              <a:gd name="connsiteX97" fmla="*/ 1547063 w 1547063"/>
              <a:gd name="connsiteY97" fmla="*/ 400103 h 1547080"/>
              <a:gd name="connsiteX98" fmla="*/ 1520390 w 1547063"/>
              <a:gd name="connsiteY98" fmla="*/ 373429 h 1547080"/>
              <a:gd name="connsiteX99" fmla="*/ 1387022 w 1547063"/>
              <a:gd name="connsiteY99" fmla="*/ 373429 h 1547080"/>
              <a:gd name="connsiteX100" fmla="*/ 1387022 w 1547063"/>
              <a:gd name="connsiteY100" fmla="*/ 266735 h 1547080"/>
              <a:gd name="connsiteX101" fmla="*/ 346756 w 1547063"/>
              <a:gd name="connsiteY101" fmla="*/ 1226981 h 1547080"/>
              <a:gd name="connsiteX102" fmla="*/ 320082 w 1547063"/>
              <a:gd name="connsiteY102" fmla="*/ 1200308 h 1547080"/>
              <a:gd name="connsiteX103" fmla="*/ 346756 w 1547063"/>
              <a:gd name="connsiteY103" fmla="*/ 1173634 h 1547080"/>
              <a:gd name="connsiteX104" fmla="*/ 373429 w 1547063"/>
              <a:gd name="connsiteY104" fmla="*/ 1200308 h 1547080"/>
              <a:gd name="connsiteX105" fmla="*/ 346756 w 1547063"/>
              <a:gd name="connsiteY105" fmla="*/ 1226981 h 1547080"/>
              <a:gd name="connsiteX106" fmla="*/ 293409 w 1547063"/>
              <a:gd name="connsiteY106" fmla="*/ 1440369 h 1547080"/>
              <a:gd name="connsiteX107" fmla="*/ 266735 w 1547063"/>
              <a:gd name="connsiteY107" fmla="*/ 1413696 h 1547080"/>
              <a:gd name="connsiteX108" fmla="*/ 293409 w 1547063"/>
              <a:gd name="connsiteY108" fmla="*/ 1387022 h 1547080"/>
              <a:gd name="connsiteX109" fmla="*/ 320082 w 1547063"/>
              <a:gd name="connsiteY109" fmla="*/ 1413696 h 1547080"/>
              <a:gd name="connsiteX110" fmla="*/ 293409 w 1547063"/>
              <a:gd name="connsiteY110" fmla="*/ 1440369 h 1547080"/>
              <a:gd name="connsiteX111" fmla="*/ 773532 w 1547063"/>
              <a:gd name="connsiteY111" fmla="*/ 1493716 h 1547080"/>
              <a:gd name="connsiteX112" fmla="*/ 746858 w 1547063"/>
              <a:gd name="connsiteY112" fmla="*/ 1467043 h 1547080"/>
              <a:gd name="connsiteX113" fmla="*/ 773532 w 1547063"/>
              <a:gd name="connsiteY113" fmla="*/ 1440369 h 1547080"/>
              <a:gd name="connsiteX114" fmla="*/ 800205 w 1547063"/>
              <a:gd name="connsiteY114" fmla="*/ 1467043 h 1547080"/>
              <a:gd name="connsiteX115" fmla="*/ 773532 w 1547063"/>
              <a:gd name="connsiteY115" fmla="*/ 1493716 h 1547080"/>
              <a:gd name="connsiteX116" fmla="*/ 1253655 w 1547063"/>
              <a:gd name="connsiteY116" fmla="*/ 1387022 h 1547080"/>
              <a:gd name="connsiteX117" fmla="*/ 1280328 w 1547063"/>
              <a:gd name="connsiteY117" fmla="*/ 1413696 h 1547080"/>
              <a:gd name="connsiteX118" fmla="*/ 1253655 w 1547063"/>
              <a:gd name="connsiteY118" fmla="*/ 1440369 h 1547080"/>
              <a:gd name="connsiteX119" fmla="*/ 1226981 w 1547063"/>
              <a:gd name="connsiteY119" fmla="*/ 1413696 h 1547080"/>
              <a:gd name="connsiteX120" fmla="*/ 1253655 w 1547063"/>
              <a:gd name="connsiteY120" fmla="*/ 1387022 h 1547080"/>
              <a:gd name="connsiteX121" fmla="*/ 1200308 w 1547063"/>
              <a:gd name="connsiteY121" fmla="*/ 1173634 h 1547080"/>
              <a:gd name="connsiteX122" fmla="*/ 1226981 w 1547063"/>
              <a:gd name="connsiteY122" fmla="*/ 1200308 h 1547080"/>
              <a:gd name="connsiteX123" fmla="*/ 1200308 w 1547063"/>
              <a:gd name="connsiteY123" fmla="*/ 1226981 h 1547080"/>
              <a:gd name="connsiteX124" fmla="*/ 1173634 w 1547063"/>
              <a:gd name="connsiteY124" fmla="*/ 1200308 h 1547080"/>
              <a:gd name="connsiteX125" fmla="*/ 1200308 w 1547063"/>
              <a:gd name="connsiteY125" fmla="*/ 1173634 h 1547080"/>
              <a:gd name="connsiteX126" fmla="*/ 464495 w 1547063"/>
              <a:gd name="connsiteY126" fmla="*/ 1013593 h 1547080"/>
              <a:gd name="connsiteX127" fmla="*/ 320082 w 1547063"/>
              <a:gd name="connsiteY127" fmla="*/ 869180 h 1547080"/>
              <a:gd name="connsiteX128" fmla="*/ 320082 w 1547063"/>
              <a:gd name="connsiteY128" fmla="*/ 480123 h 1547080"/>
              <a:gd name="connsiteX129" fmla="*/ 426776 w 1547063"/>
              <a:gd name="connsiteY129" fmla="*/ 480123 h 1547080"/>
              <a:gd name="connsiteX130" fmla="*/ 426776 w 1547063"/>
              <a:gd name="connsiteY130" fmla="*/ 826879 h 1547080"/>
              <a:gd name="connsiteX131" fmla="*/ 434591 w 1547063"/>
              <a:gd name="connsiteY131" fmla="*/ 845737 h 1547080"/>
              <a:gd name="connsiteX132" fmla="*/ 487938 w 1547063"/>
              <a:gd name="connsiteY132" fmla="*/ 899084 h 1547080"/>
              <a:gd name="connsiteX133" fmla="*/ 506797 w 1547063"/>
              <a:gd name="connsiteY133" fmla="*/ 906899 h 1547080"/>
              <a:gd name="connsiteX134" fmla="*/ 533470 w 1547063"/>
              <a:gd name="connsiteY134" fmla="*/ 906899 h 1547080"/>
              <a:gd name="connsiteX135" fmla="*/ 533470 w 1547063"/>
              <a:gd name="connsiteY135" fmla="*/ 1013593 h 1547080"/>
              <a:gd name="connsiteX136" fmla="*/ 586817 w 1547063"/>
              <a:gd name="connsiteY136" fmla="*/ 480123 h 1547080"/>
              <a:gd name="connsiteX137" fmla="*/ 586817 w 1547063"/>
              <a:gd name="connsiteY137" fmla="*/ 800205 h 1547080"/>
              <a:gd name="connsiteX138" fmla="*/ 560144 w 1547063"/>
              <a:gd name="connsiteY138" fmla="*/ 800205 h 1547080"/>
              <a:gd name="connsiteX139" fmla="*/ 533470 w 1547063"/>
              <a:gd name="connsiteY139" fmla="*/ 826879 h 1547080"/>
              <a:gd name="connsiteX140" fmla="*/ 533470 w 1547063"/>
              <a:gd name="connsiteY140" fmla="*/ 853552 h 1547080"/>
              <a:gd name="connsiteX141" fmla="*/ 517842 w 1547063"/>
              <a:gd name="connsiteY141" fmla="*/ 853552 h 1547080"/>
              <a:gd name="connsiteX142" fmla="*/ 480123 w 1547063"/>
              <a:gd name="connsiteY142" fmla="*/ 815833 h 1547080"/>
              <a:gd name="connsiteX143" fmla="*/ 480123 w 1547063"/>
              <a:gd name="connsiteY143" fmla="*/ 480123 h 1547080"/>
              <a:gd name="connsiteX144" fmla="*/ 746858 w 1547063"/>
              <a:gd name="connsiteY144" fmla="*/ 480123 h 1547080"/>
              <a:gd name="connsiteX145" fmla="*/ 746858 w 1547063"/>
              <a:gd name="connsiteY145" fmla="*/ 800205 h 1547080"/>
              <a:gd name="connsiteX146" fmla="*/ 640164 w 1547063"/>
              <a:gd name="connsiteY146" fmla="*/ 800205 h 1547080"/>
              <a:gd name="connsiteX147" fmla="*/ 640164 w 1547063"/>
              <a:gd name="connsiteY147" fmla="*/ 480123 h 1547080"/>
              <a:gd name="connsiteX148" fmla="*/ 906899 w 1547063"/>
              <a:gd name="connsiteY148" fmla="*/ 480123 h 1547080"/>
              <a:gd name="connsiteX149" fmla="*/ 906899 w 1547063"/>
              <a:gd name="connsiteY149" fmla="*/ 800205 h 1547080"/>
              <a:gd name="connsiteX150" fmla="*/ 800205 w 1547063"/>
              <a:gd name="connsiteY150" fmla="*/ 800205 h 1547080"/>
              <a:gd name="connsiteX151" fmla="*/ 800205 w 1547063"/>
              <a:gd name="connsiteY151" fmla="*/ 480123 h 1547080"/>
              <a:gd name="connsiteX152" fmla="*/ 1066940 w 1547063"/>
              <a:gd name="connsiteY152" fmla="*/ 480123 h 1547080"/>
              <a:gd name="connsiteX153" fmla="*/ 1066940 w 1547063"/>
              <a:gd name="connsiteY153" fmla="*/ 815833 h 1547080"/>
              <a:gd name="connsiteX154" fmla="*/ 1029221 w 1547063"/>
              <a:gd name="connsiteY154" fmla="*/ 853552 h 1547080"/>
              <a:gd name="connsiteX155" fmla="*/ 1013593 w 1547063"/>
              <a:gd name="connsiteY155" fmla="*/ 853552 h 1547080"/>
              <a:gd name="connsiteX156" fmla="*/ 1013593 w 1547063"/>
              <a:gd name="connsiteY156" fmla="*/ 826879 h 1547080"/>
              <a:gd name="connsiteX157" fmla="*/ 986920 w 1547063"/>
              <a:gd name="connsiteY157" fmla="*/ 800205 h 1547080"/>
              <a:gd name="connsiteX158" fmla="*/ 960246 w 1547063"/>
              <a:gd name="connsiteY158" fmla="*/ 800205 h 1547080"/>
              <a:gd name="connsiteX159" fmla="*/ 960246 w 1547063"/>
              <a:gd name="connsiteY159" fmla="*/ 480123 h 1547080"/>
              <a:gd name="connsiteX160" fmla="*/ 960246 w 1547063"/>
              <a:gd name="connsiteY160" fmla="*/ 1226981 h 1547080"/>
              <a:gd name="connsiteX161" fmla="*/ 586817 w 1547063"/>
              <a:gd name="connsiteY161" fmla="*/ 1226981 h 1547080"/>
              <a:gd name="connsiteX162" fmla="*/ 586817 w 1547063"/>
              <a:gd name="connsiteY162" fmla="*/ 853552 h 1547080"/>
              <a:gd name="connsiteX163" fmla="*/ 960246 w 1547063"/>
              <a:gd name="connsiteY163" fmla="*/ 853552 h 1547080"/>
              <a:gd name="connsiteX164" fmla="*/ 1226981 w 1547063"/>
              <a:gd name="connsiteY164" fmla="*/ 869180 h 1547080"/>
              <a:gd name="connsiteX165" fmla="*/ 1082568 w 1547063"/>
              <a:gd name="connsiteY165" fmla="*/ 1013593 h 1547080"/>
              <a:gd name="connsiteX166" fmla="*/ 1013593 w 1547063"/>
              <a:gd name="connsiteY166" fmla="*/ 1013593 h 1547080"/>
              <a:gd name="connsiteX167" fmla="*/ 1013593 w 1547063"/>
              <a:gd name="connsiteY167" fmla="*/ 906899 h 1547080"/>
              <a:gd name="connsiteX168" fmla="*/ 1040267 w 1547063"/>
              <a:gd name="connsiteY168" fmla="*/ 906899 h 1547080"/>
              <a:gd name="connsiteX169" fmla="*/ 1059125 w 1547063"/>
              <a:gd name="connsiteY169" fmla="*/ 899084 h 1547080"/>
              <a:gd name="connsiteX170" fmla="*/ 1112472 w 1547063"/>
              <a:gd name="connsiteY170" fmla="*/ 845737 h 1547080"/>
              <a:gd name="connsiteX171" fmla="*/ 1120287 w 1547063"/>
              <a:gd name="connsiteY171" fmla="*/ 826879 h 1547080"/>
              <a:gd name="connsiteX172" fmla="*/ 1120287 w 1547063"/>
              <a:gd name="connsiteY172" fmla="*/ 480123 h 1547080"/>
              <a:gd name="connsiteX173" fmla="*/ 1226981 w 1547063"/>
              <a:gd name="connsiteY173" fmla="*/ 480123 h 1547080"/>
              <a:gd name="connsiteX174" fmla="*/ 1333675 w 1547063"/>
              <a:gd name="connsiteY174" fmla="*/ 426776 h 1547080"/>
              <a:gd name="connsiteX175" fmla="*/ 213388 w 1547063"/>
              <a:gd name="connsiteY175" fmla="*/ 426776 h 1547080"/>
              <a:gd name="connsiteX176" fmla="*/ 213388 w 1547063"/>
              <a:gd name="connsiteY176" fmla="*/ 53347 h 1547080"/>
              <a:gd name="connsiteX177" fmla="*/ 1333675 w 1547063"/>
              <a:gd name="connsiteY177" fmla="*/ 53347 h 1547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1547063" h="1547080">
                <a:moveTo>
                  <a:pt x="1520390" y="266735"/>
                </a:moveTo>
                <a:cubicBezTo>
                  <a:pt x="1535121" y="266735"/>
                  <a:pt x="1547063" y="254793"/>
                  <a:pt x="1547063" y="240062"/>
                </a:cubicBezTo>
                <a:cubicBezTo>
                  <a:pt x="1547063" y="225330"/>
                  <a:pt x="1535121" y="213388"/>
                  <a:pt x="1520390" y="213388"/>
                </a:cubicBezTo>
                <a:lnTo>
                  <a:pt x="1387022" y="213388"/>
                </a:lnTo>
                <a:lnTo>
                  <a:pt x="1387022" y="106694"/>
                </a:lnTo>
                <a:lnTo>
                  <a:pt x="1520390" y="106694"/>
                </a:lnTo>
                <a:cubicBezTo>
                  <a:pt x="1535121" y="106694"/>
                  <a:pt x="1547063" y="94752"/>
                  <a:pt x="1547063" y="80021"/>
                </a:cubicBezTo>
                <a:cubicBezTo>
                  <a:pt x="1547063" y="65289"/>
                  <a:pt x="1535121" y="53347"/>
                  <a:pt x="1520390" y="53347"/>
                </a:cubicBezTo>
                <a:lnTo>
                  <a:pt x="1387022" y="53347"/>
                </a:lnTo>
                <a:lnTo>
                  <a:pt x="1387022" y="26674"/>
                </a:lnTo>
                <a:cubicBezTo>
                  <a:pt x="1387022" y="11942"/>
                  <a:pt x="1375080" y="0"/>
                  <a:pt x="1360349" y="0"/>
                </a:cubicBezTo>
                <a:lnTo>
                  <a:pt x="186715" y="0"/>
                </a:lnTo>
                <a:cubicBezTo>
                  <a:pt x="171983" y="0"/>
                  <a:pt x="160041" y="11942"/>
                  <a:pt x="160041" y="26674"/>
                </a:cubicBezTo>
                <a:lnTo>
                  <a:pt x="160041" y="53347"/>
                </a:lnTo>
                <a:lnTo>
                  <a:pt x="26674" y="53347"/>
                </a:lnTo>
                <a:cubicBezTo>
                  <a:pt x="11942" y="53347"/>
                  <a:pt x="0" y="65289"/>
                  <a:pt x="0" y="80021"/>
                </a:cubicBezTo>
                <a:cubicBezTo>
                  <a:pt x="0" y="94752"/>
                  <a:pt x="11942" y="106694"/>
                  <a:pt x="26674" y="106694"/>
                </a:cubicBezTo>
                <a:lnTo>
                  <a:pt x="160041" y="106694"/>
                </a:lnTo>
                <a:lnTo>
                  <a:pt x="160041" y="213388"/>
                </a:lnTo>
                <a:lnTo>
                  <a:pt x="26674" y="213388"/>
                </a:lnTo>
                <a:cubicBezTo>
                  <a:pt x="11942" y="213388"/>
                  <a:pt x="0" y="225330"/>
                  <a:pt x="0" y="240062"/>
                </a:cubicBezTo>
                <a:cubicBezTo>
                  <a:pt x="0" y="254793"/>
                  <a:pt x="11942" y="266735"/>
                  <a:pt x="26674" y="266735"/>
                </a:cubicBezTo>
                <a:lnTo>
                  <a:pt x="160041" y="266735"/>
                </a:lnTo>
                <a:lnTo>
                  <a:pt x="160041" y="373429"/>
                </a:lnTo>
                <a:lnTo>
                  <a:pt x="26674" y="373429"/>
                </a:lnTo>
                <a:cubicBezTo>
                  <a:pt x="11942" y="373429"/>
                  <a:pt x="0" y="385371"/>
                  <a:pt x="0" y="400103"/>
                </a:cubicBezTo>
                <a:cubicBezTo>
                  <a:pt x="0" y="414834"/>
                  <a:pt x="11942" y="426776"/>
                  <a:pt x="26674" y="426776"/>
                </a:cubicBezTo>
                <a:lnTo>
                  <a:pt x="160041" y="426776"/>
                </a:lnTo>
                <a:lnTo>
                  <a:pt x="160041" y="453450"/>
                </a:lnTo>
                <a:cubicBezTo>
                  <a:pt x="160041" y="468181"/>
                  <a:pt x="171983" y="480123"/>
                  <a:pt x="186715" y="480123"/>
                </a:cubicBezTo>
                <a:lnTo>
                  <a:pt x="266735" y="480123"/>
                </a:lnTo>
                <a:lnTo>
                  <a:pt x="266735" y="880226"/>
                </a:lnTo>
                <a:cubicBezTo>
                  <a:pt x="266737" y="887299"/>
                  <a:pt x="269548" y="894083"/>
                  <a:pt x="274550" y="899084"/>
                </a:cubicBezTo>
                <a:lnTo>
                  <a:pt x="434591" y="1059125"/>
                </a:lnTo>
                <a:cubicBezTo>
                  <a:pt x="439592" y="1064127"/>
                  <a:pt x="446376" y="1066939"/>
                  <a:pt x="453450" y="1066940"/>
                </a:cubicBezTo>
                <a:lnTo>
                  <a:pt x="533470" y="1066940"/>
                </a:lnTo>
                <a:lnTo>
                  <a:pt x="533470" y="1173634"/>
                </a:lnTo>
                <a:lnTo>
                  <a:pt x="422204" y="1173634"/>
                </a:lnTo>
                <a:cubicBezTo>
                  <a:pt x="407473" y="1131968"/>
                  <a:pt x="361753" y="1110132"/>
                  <a:pt x="320087" y="1124864"/>
                </a:cubicBezTo>
                <a:cubicBezTo>
                  <a:pt x="278420" y="1139595"/>
                  <a:pt x="256585" y="1185315"/>
                  <a:pt x="271316" y="1226981"/>
                </a:cubicBezTo>
                <a:cubicBezTo>
                  <a:pt x="286047" y="1268648"/>
                  <a:pt x="331767" y="1290483"/>
                  <a:pt x="373434" y="1275752"/>
                </a:cubicBezTo>
                <a:cubicBezTo>
                  <a:pt x="396222" y="1267695"/>
                  <a:pt x="414147" y="1249769"/>
                  <a:pt x="422204" y="1226981"/>
                </a:cubicBezTo>
                <a:lnTo>
                  <a:pt x="533470" y="1226981"/>
                </a:lnTo>
                <a:lnTo>
                  <a:pt x="533470" y="1253655"/>
                </a:lnTo>
                <a:cubicBezTo>
                  <a:pt x="533470" y="1268386"/>
                  <a:pt x="545412" y="1280328"/>
                  <a:pt x="560144" y="1280328"/>
                </a:cubicBezTo>
                <a:lnTo>
                  <a:pt x="586817" y="1280328"/>
                </a:lnTo>
                <a:lnTo>
                  <a:pt x="586817" y="1349303"/>
                </a:lnTo>
                <a:lnTo>
                  <a:pt x="549098" y="1387022"/>
                </a:lnTo>
                <a:lnTo>
                  <a:pt x="368857" y="1387022"/>
                </a:lnTo>
                <a:cubicBezTo>
                  <a:pt x="354126" y="1345356"/>
                  <a:pt x="308406" y="1323520"/>
                  <a:pt x="266740" y="1338252"/>
                </a:cubicBezTo>
                <a:cubicBezTo>
                  <a:pt x="225073" y="1352983"/>
                  <a:pt x="203238" y="1398703"/>
                  <a:pt x="217969" y="1440369"/>
                </a:cubicBezTo>
                <a:cubicBezTo>
                  <a:pt x="232700" y="1482036"/>
                  <a:pt x="278420" y="1503871"/>
                  <a:pt x="320087" y="1489140"/>
                </a:cubicBezTo>
                <a:cubicBezTo>
                  <a:pt x="342875" y="1481083"/>
                  <a:pt x="360800" y="1463157"/>
                  <a:pt x="368857" y="1440369"/>
                </a:cubicBezTo>
                <a:lnTo>
                  <a:pt x="560144" y="1440369"/>
                </a:lnTo>
                <a:cubicBezTo>
                  <a:pt x="567217" y="1440368"/>
                  <a:pt x="574001" y="1437556"/>
                  <a:pt x="579002" y="1432554"/>
                </a:cubicBezTo>
                <a:lnTo>
                  <a:pt x="632349" y="1379207"/>
                </a:lnTo>
                <a:cubicBezTo>
                  <a:pt x="637351" y="1374206"/>
                  <a:pt x="640163" y="1367422"/>
                  <a:pt x="640164" y="1360349"/>
                </a:cubicBezTo>
                <a:lnTo>
                  <a:pt x="640164" y="1280328"/>
                </a:lnTo>
                <a:lnTo>
                  <a:pt x="746858" y="1280328"/>
                </a:lnTo>
                <a:lnTo>
                  <a:pt x="746858" y="1391594"/>
                </a:lnTo>
                <a:cubicBezTo>
                  <a:pt x="705191" y="1406325"/>
                  <a:pt x="683356" y="1452045"/>
                  <a:pt x="698088" y="1493711"/>
                </a:cubicBezTo>
                <a:cubicBezTo>
                  <a:pt x="712819" y="1535378"/>
                  <a:pt x="758538" y="1557213"/>
                  <a:pt x="800205" y="1542482"/>
                </a:cubicBezTo>
                <a:cubicBezTo>
                  <a:pt x="841872" y="1527751"/>
                  <a:pt x="863707" y="1482031"/>
                  <a:pt x="848976" y="1440364"/>
                </a:cubicBezTo>
                <a:cubicBezTo>
                  <a:pt x="840919" y="1417576"/>
                  <a:pt x="822993" y="1399651"/>
                  <a:pt x="800205" y="1391594"/>
                </a:cubicBezTo>
                <a:lnTo>
                  <a:pt x="800205" y="1280328"/>
                </a:lnTo>
                <a:lnTo>
                  <a:pt x="906899" y="1280328"/>
                </a:lnTo>
                <a:lnTo>
                  <a:pt x="906899" y="1360349"/>
                </a:lnTo>
                <a:cubicBezTo>
                  <a:pt x="906901" y="1367422"/>
                  <a:pt x="909712" y="1374206"/>
                  <a:pt x="914714" y="1379207"/>
                </a:cubicBezTo>
                <a:lnTo>
                  <a:pt x="968061" y="1432554"/>
                </a:lnTo>
                <a:cubicBezTo>
                  <a:pt x="973061" y="1437558"/>
                  <a:pt x="979845" y="1440370"/>
                  <a:pt x="986920" y="1440369"/>
                </a:cubicBezTo>
                <a:lnTo>
                  <a:pt x="1178193" y="1440369"/>
                </a:lnTo>
                <a:cubicBezTo>
                  <a:pt x="1192924" y="1482036"/>
                  <a:pt x="1238643" y="1503871"/>
                  <a:pt x="1280310" y="1489140"/>
                </a:cubicBezTo>
                <a:cubicBezTo>
                  <a:pt x="1321977" y="1474408"/>
                  <a:pt x="1343812" y="1428689"/>
                  <a:pt x="1329081" y="1387022"/>
                </a:cubicBezTo>
                <a:cubicBezTo>
                  <a:pt x="1314349" y="1345356"/>
                  <a:pt x="1268630" y="1323520"/>
                  <a:pt x="1226963" y="1338252"/>
                </a:cubicBezTo>
                <a:cubicBezTo>
                  <a:pt x="1204175" y="1346308"/>
                  <a:pt x="1186249" y="1364234"/>
                  <a:pt x="1178193" y="1387022"/>
                </a:cubicBezTo>
                <a:lnTo>
                  <a:pt x="997965" y="1387022"/>
                </a:lnTo>
                <a:lnTo>
                  <a:pt x="960246" y="1349303"/>
                </a:lnTo>
                <a:lnTo>
                  <a:pt x="960246" y="1280328"/>
                </a:lnTo>
                <a:lnTo>
                  <a:pt x="986920" y="1280328"/>
                </a:lnTo>
                <a:cubicBezTo>
                  <a:pt x="1001651" y="1280328"/>
                  <a:pt x="1013593" y="1268386"/>
                  <a:pt x="1013593" y="1253655"/>
                </a:cubicBezTo>
                <a:lnTo>
                  <a:pt x="1013593" y="1226981"/>
                </a:lnTo>
                <a:lnTo>
                  <a:pt x="1124846" y="1226981"/>
                </a:lnTo>
                <a:cubicBezTo>
                  <a:pt x="1139577" y="1268648"/>
                  <a:pt x="1185296" y="1290483"/>
                  <a:pt x="1226963" y="1275752"/>
                </a:cubicBezTo>
                <a:cubicBezTo>
                  <a:pt x="1268630" y="1261020"/>
                  <a:pt x="1290465" y="1215301"/>
                  <a:pt x="1275734" y="1173634"/>
                </a:cubicBezTo>
                <a:cubicBezTo>
                  <a:pt x="1261002" y="1131968"/>
                  <a:pt x="1215283" y="1110132"/>
                  <a:pt x="1173616" y="1124864"/>
                </a:cubicBezTo>
                <a:cubicBezTo>
                  <a:pt x="1150828" y="1132920"/>
                  <a:pt x="1132902" y="1150846"/>
                  <a:pt x="1124846" y="1173634"/>
                </a:cubicBezTo>
                <a:lnTo>
                  <a:pt x="1013593" y="1173634"/>
                </a:lnTo>
                <a:lnTo>
                  <a:pt x="1013593" y="1066940"/>
                </a:lnTo>
                <a:lnTo>
                  <a:pt x="1093614" y="1066940"/>
                </a:lnTo>
                <a:cubicBezTo>
                  <a:pt x="1100688" y="1066941"/>
                  <a:pt x="1107472" y="1064129"/>
                  <a:pt x="1112472" y="1059125"/>
                </a:cubicBezTo>
                <a:lnTo>
                  <a:pt x="1272513" y="899084"/>
                </a:lnTo>
                <a:cubicBezTo>
                  <a:pt x="1277515" y="894083"/>
                  <a:pt x="1280327" y="887299"/>
                  <a:pt x="1280328" y="880226"/>
                </a:cubicBezTo>
                <a:lnTo>
                  <a:pt x="1280328" y="480123"/>
                </a:lnTo>
                <a:lnTo>
                  <a:pt x="1360349" y="480123"/>
                </a:lnTo>
                <a:cubicBezTo>
                  <a:pt x="1375080" y="480123"/>
                  <a:pt x="1387022" y="468181"/>
                  <a:pt x="1387022" y="453450"/>
                </a:cubicBezTo>
                <a:lnTo>
                  <a:pt x="1387022" y="426776"/>
                </a:lnTo>
                <a:lnTo>
                  <a:pt x="1520390" y="426776"/>
                </a:lnTo>
                <a:cubicBezTo>
                  <a:pt x="1535121" y="426776"/>
                  <a:pt x="1547063" y="414834"/>
                  <a:pt x="1547063" y="400103"/>
                </a:cubicBezTo>
                <a:cubicBezTo>
                  <a:pt x="1547063" y="385371"/>
                  <a:pt x="1535121" y="373429"/>
                  <a:pt x="1520390" y="373429"/>
                </a:cubicBezTo>
                <a:lnTo>
                  <a:pt x="1387022" y="373429"/>
                </a:lnTo>
                <a:lnTo>
                  <a:pt x="1387022" y="266735"/>
                </a:lnTo>
                <a:close/>
                <a:moveTo>
                  <a:pt x="346756" y="1226981"/>
                </a:moveTo>
                <a:cubicBezTo>
                  <a:pt x="332024" y="1226981"/>
                  <a:pt x="320082" y="1215039"/>
                  <a:pt x="320082" y="1200308"/>
                </a:cubicBezTo>
                <a:cubicBezTo>
                  <a:pt x="320082" y="1185576"/>
                  <a:pt x="332024" y="1173634"/>
                  <a:pt x="346756" y="1173634"/>
                </a:cubicBezTo>
                <a:cubicBezTo>
                  <a:pt x="361487" y="1173634"/>
                  <a:pt x="373429" y="1185576"/>
                  <a:pt x="373429" y="1200308"/>
                </a:cubicBezTo>
                <a:cubicBezTo>
                  <a:pt x="373410" y="1215031"/>
                  <a:pt x="361479" y="1226962"/>
                  <a:pt x="346756" y="1226981"/>
                </a:cubicBezTo>
                <a:close/>
                <a:moveTo>
                  <a:pt x="293409" y="1440369"/>
                </a:moveTo>
                <a:cubicBezTo>
                  <a:pt x="278677" y="1440369"/>
                  <a:pt x="266735" y="1428427"/>
                  <a:pt x="266735" y="1413696"/>
                </a:cubicBezTo>
                <a:cubicBezTo>
                  <a:pt x="266735" y="1398964"/>
                  <a:pt x="278677" y="1387022"/>
                  <a:pt x="293409" y="1387022"/>
                </a:cubicBezTo>
                <a:cubicBezTo>
                  <a:pt x="308140" y="1387022"/>
                  <a:pt x="320082" y="1398964"/>
                  <a:pt x="320082" y="1413696"/>
                </a:cubicBezTo>
                <a:cubicBezTo>
                  <a:pt x="320063" y="1428419"/>
                  <a:pt x="308132" y="1440350"/>
                  <a:pt x="293409" y="1440369"/>
                </a:cubicBezTo>
                <a:close/>
                <a:moveTo>
                  <a:pt x="773532" y="1493716"/>
                </a:moveTo>
                <a:cubicBezTo>
                  <a:pt x="758800" y="1493716"/>
                  <a:pt x="746858" y="1481774"/>
                  <a:pt x="746858" y="1467043"/>
                </a:cubicBezTo>
                <a:cubicBezTo>
                  <a:pt x="746858" y="1452311"/>
                  <a:pt x="758800" y="1440369"/>
                  <a:pt x="773532" y="1440369"/>
                </a:cubicBezTo>
                <a:cubicBezTo>
                  <a:pt x="788263" y="1440369"/>
                  <a:pt x="800205" y="1452311"/>
                  <a:pt x="800205" y="1467043"/>
                </a:cubicBezTo>
                <a:cubicBezTo>
                  <a:pt x="800186" y="1481766"/>
                  <a:pt x="788255" y="1493697"/>
                  <a:pt x="773532" y="1493716"/>
                </a:cubicBezTo>
                <a:close/>
                <a:moveTo>
                  <a:pt x="1253655" y="1387022"/>
                </a:moveTo>
                <a:cubicBezTo>
                  <a:pt x="1268386" y="1387022"/>
                  <a:pt x="1280328" y="1398964"/>
                  <a:pt x="1280328" y="1413696"/>
                </a:cubicBezTo>
                <a:cubicBezTo>
                  <a:pt x="1280328" y="1428427"/>
                  <a:pt x="1268386" y="1440369"/>
                  <a:pt x="1253655" y="1440369"/>
                </a:cubicBezTo>
                <a:cubicBezTo>
                  <a:pt x="1238923" y="1440369"/>
                  <a:pt x="1226981" y="1428427"/>
                  <a:pt x="1226981" y="1413696"/>
                </a:cubicBezTo>
                <a:cubicBezTo>
                  <a:pt x="1226994" y="1398970"/>
                  <a:pt x="1238929" y="1387035"/>
                  <a:pt x="1253655" y="1387022"/>
                </a:cubicBezTo>
                <a:close/>
                <a:moveTo>
                  <a:pt x="1200308" y="1173634"/>
                </a:moveTo>
                <a:cubicBezTo>
                  <a:pt x="1215039" y="1173634"/>
                  <a:pt x="1226981" y="1185576"/>
                  <a:pt x="1226981" y="1200308"/>
                </a:cubicBezTo>
                <a:cubicBezTo>
                  <a:pt x="1226981" y="1215039"/>
                  <a:pt x="1215039" y="1226981"/>
                  <a:pt x="1200308" y="1226981"/>
                </a:cubicBezTo>
                <a:cubicBezTo>
                  <a:pt x="1185576" y="1226981"/>
                  <a:pt x="1173634" y="1215039"/>
                  <a:pt x="1173634" y="1200308"/>
                </a:cubicBezTo>
                <a:cubicBezTo>
                  <a:pt x="1173647" y="1185582"/>
                  <a:pt x="1185582" y="1173647"/>
                  <a:pt x="1200308" y="1173634"/>
                </a:cubicBezTo>
                <a:close/>
                <a:moveTo>
                  <a:pt x="464495" y="1013593"/>
                </a:moveTo>
                <a:lnTo>
                  <a:pt x="320082" y="869180"/>
                </a:lnTo>
                <a:lnTo>
                  <a:pt x="320082" y="480123"/>
                </a:lnTo>
                <a:lnTo>
                  <a:pt x="426776" y="480123"/>
                </a:lnTo>
                <a:lnTo>
                  <a:pt x="426776" y="826879"/>
                </a:lnTo>
                <a:cubicBezTo>
                  <a:pt x="426778" y="833952"/>
                  <a:pt x="429589" y="840736"/>
                  <a:pt x="434591" y="845737"/>
                </a:cubicBezTo>
                <a:lnTo>
                  <a:pt x="487938" y="899084"/>
                </a:lnTo>
                <a:cubicBezTo>
                  <a:pt x="492939" y="904086"/>
                  <a:pt x="499723" y="906898"/>
                  <a:pt x="506797" y="906899"/>
                </a:cubicBezTo>
                <a:lnTo>
                  <a:pt x="533470" y="906899"/>
                </a:lnTo>
                <a:lnTo>
                  <a:pt x="533470" y="1013593"/>
                </a:lnTo>
                <a:close/>
                <a:moveTo>
                  <a:pt x="586817" y="480123"/>
                </a:moveTo>
                <a:lnTo>
                  <a:pt x="586817" y="800205"/>
                </a:lnTo>
                <a:lnTo>
                  <a:pt x="560144" y="800205"/>
                </a:lnTo>
                <a:cubicBezTo>
                  <a:pt x="545412" y="800205"/>
                  <a:pt x="533470" y="812147"/>
                  <a:pt x="533470" y="826879"/>
                </a:cubicBezTo>
                <a:lnTo>
                  <a:pt x="533470" y="853552"/>
                </a:lnTo>
                <a:lnTo>
                  <a:pt x="517842" y="853552"/>
                </a:lnTo>
                <a:lnTo>
                  <a:pt x="480123" y="815833"/>
                </a:lnTo>
                <a:lnTo>
                  <a:pt x="480123" y="480123"/>
                </a:lnTo>
                <a:close/>
                <a:moveTo>
                  <a:pt x="746858" y="480123"/>
                </a:moveTo>
                <a:lnTo>
                  <a:pt x="746858" y="800205"/>
                </a:lnTo>
                <a:lnTo>
                  <a:pt x="640164" y="800205"/>
                </a:lnTo>
                <a:lnTo>
                  <a:pt x="640164" y="480123"/>
                </a:lnTo>
                <a:close/>
                <a:moveTo>
                  <a:pt x="906899" y="480123"/>
                </a:moveTo>
                <a:lnTo>
                  <a:pt x="906899" y="800205"/>
                </a:lnTo>
                <a:lnTo>
                  <a:pt x="800205" y="800205"/>
                </a:lnTo>
                <a:lnTo>
                  <a:pt x="800205" y="480123"/>
                </a:lnTo>
                <a:close/>
                <a:moveTo>
                  <a:pt x="1066940" y="480123"/>
                </a:moveTo>
                <a:lnTo>
                  <a:pt x="1066940" y="815833"/>
                </a:lnTo>
                <a:lnTo>
                  <a:pt x="1029221" y="853552"/>
                </a:lnTo>
                <a:lnTo>
                  <a:pt x="1013593" y="853552"/>
                </a:lnTo>
                <a:lnTo>
                  <a:pt x="1013593" y="826879"/>
                </a:lnTo>
                <a:cubicBezTo>
                  <a:pt x="1013593" y="812147"/>
                  <a:pt x="1001651" y="800205"/>
                  <a:pt x="986920" y="800205"/>
                </a:cubicBezTo>
                <a:lnTo>
                  <a:pt x="960246" y="800205"/>
                </a:lnTo>
                <a:lnTo>
                  <a:pt x="960246" y="480123"/>
                </a:lnTo>
                <a:close/>
                <a:moveTo>
                  <a:pt x="960246" y="1226981"/>
                </a:moveTo>
                <a:lnTo>
                  <a:pt x="586817" y="1226981"/>
                </a:lnTo>
                <a:lnTo>
                  <a:pt x="586817" y="853552"/>
                </a:lnTo>
                <a:lnTo>
                  <a:pt x="960246" y="853552"/>
                </a:lnTo>
                <a:close/>
                <a:moveTo>
                  <a:pt x="1226981" y="869180"/>
                </a:moveTo>
                <a:lnTo>
                  <a:pt x="1082568" y="1013593"/>
                </a:lnTo>
                <a:lnTo>
                  <a:pt x="1013593" y="1013593"/>
                </a:lnTo>
                <a:lnTo>
                  <a:pt x="1013593" y="906899"/>
                </a:lnTo>
                <a:lnTo>
                  <a:pt x="1040267" y="906899"/>
                </a:lnTo>
                <a:cubicBezTo>
                  <a:pt x="1047341" y="906900"/>
                  <a:pt x="1054125" y="904088"/>
                  <a:pt x="1059125" y="899084"/>
                </a:cubicBezTo>
                <a:lnTo>
                  <a:pt x="1112472" y="845737"/>
                </a:lnTo>
                <a:cubicBezTo>
                  <a:pt x="1117474" y="840736"/>
                  <a:pt x="1120286" y="833952"/>
                  <a:pt x="1120287" y="826879"/>
                </a:cubicBezTo>
                <a:lnTo>
                  <a:pt x="1120287" y="480123"/>
                </a:lnTo>
                <a:lnTo>
                  <a:pt x="1226981" y="480123"/>
                </a:lnTo>
                <a:close/>
                <a:moveTo>
                  <a:pt x="1333675" y="426776"/>
                </a:moveTo>
                <a:lnTo>
                  <a:pt x="213388" y="426776"/>
                </a:lnTo>
                <a:lnTo>
                  <a:pt x="213388" y="53347"/>
                </a:lnTo>
                <a:lnTo>
                  <a:pt x="1333675" y="53347"/>
                </a:lnTo>
                <a:close/>
              </a:path>
            </a:pathLst>
          </a:custGeom>
          <a:solidFill>
            <a:schemeClr val="bg1"/>
          </a:solidFill>
          <a:ln w="266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8" name="熊大的PPT宝库43"/>
          <p:cNvSpPr/>
          <p:nvPr/>
        </p:nvSpPr>
        <p:spPr>
          <a:xfrm>
            <a:off x="6389412" y="3026855"/>
            <a:ext cx="38464" cy="12821"/>
          </a:xfrm>
          <a:custGeom>
            <a:avLst/>
            <a:gdLst>
              <a:gd name="connsiteX0" fmla="*/ 133368 w 160041"/>
              <a:gd name="connsiteY0" fmla="*/ 0 h 53347"/>
              <a:gd name="connsiteX1" fmla="*/ 26674 w 160041"/>
              <a:gd name="connsiteY1" fmla="*/ 0 h 53347"/>
              <a:gd name="connsiteX2" fmla="*/ 0 w 160041"/>
              <a:gd name="connsiteY2" fmla="*/ 26674 h 53347"/>
              <a:gd name="connsiteX3" fmla="*/ 26674 w 160041"/>
              <a:gd name="connsiteY3" fmla="*/ 53347 h 53347"/>
              <a:gd name="connsiteX4" fmla="*/ 133368 w 160041"/>
              <a:gd name="connsiteY4" fmla="*/ 53347 h 53347"/>
              <a:gd name="connsiteX5" fmla="*/ 160041 w 160041"/>
              <a:gd name="connsiteY5" fmla="*/ 26674 h 53347"/>
              <a:gd name="connsiteX6" fmla="*/ 133368 w 160041"/>
              <a:gd name="connsiteY6" fmla="*/ 0 h 5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041" h="53347">
                <a:moveTo>
                  <a:pt x="133368" y="0"/>
                </a:moveTo>
                <a:lnTo>
                  <a:pt x="26674" y="0"/>
                </a:lnTo>
                <a:cubicBezTo>
                  <a:pt x="11942" y="0"/>
                  <a:pt x="0" y="11942"/>
                  <a:pt x="0" y="26674"/>
                </a:cubicBezTo>
                <a:cubicBezTo>
                  <a:pt x="0" y="41405"/>
                  <a:pt x="11942" y="53347"/>
                  <a:pt x="26674" y="53347"/>
                </a:cubicBezTo>
                <a:lnTo>
                  <a:pt x="133368" y="53347"/>
                </a:lnTo>
                <a:cubicBezTo>
                  <a:pt x="148099" y="53347"/>
                  <a:pt x="160041" y="41405"/>
                  <a:pt x="160041" y="26674"/>
                </a:cubicBezTo>
                <a:cubicBezTo>
                  <a:pt x="160041" y="11942"/>
                  <a:pt x="148099" y="0"/>
                  <a:pt x="133368" y="0"/>
                </a:cubicBezTo>
                <a:close/>
              </a:path>
            </a:pathLst>
          </a:custGeom>
          <a:solidFill>
            <a:schemeClr val="accent4"/>
          </a:solidFill>
          <a:ln w="266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9" name="熊大的PPT宝库44"/>
          <p:cNvSpPr/>
          <p:nvPr/>
        </p:nvSpPr>
        <p:spPr>
          <a:xfrm>
            <a:off x="6299662" y="3052498"/>
            <a:ext cx="51286" cy="12821"/>
          </a:xfrm>
          <a:custGeom>
            <a:avLst/>
            <a:gdLst>
              <a:gd name="connsiteX0" fmla="*/ 186715 w 213388"/>
              <a:gd name="connsiteY0" fmla="*/ 0 h 53347"/>
              <a:gd name="connsiteX1" fmla="*/ 26674 w 213388"/>
              <a:gd name="connsiteY1" fmla="*/ 0 h 53347"/>
              <a:gd name="connsiteX2" fmla="*/ 0 w 213388"/>
              <a:gd name="connsiteY2" fmla="*/ 26674 h 53347"/>
              <a:gd name="connsiteX3" fmla="*/ 26674 w 213388"/>
              <a:gd name="connsiteY3" fmla="*/ 53347 h 53347"/>
              <a:gd name="connsiteX4" fmla="*/ 186715 w 213388"/>
              <a:gd name="connsiteY4" fmla="*/ 53347 h 53347"/>
              <a:gd name="connsiteX5" fmla="*/ 213388 w 213388"/>
              <a:gd name="connsiteY5" fmla="*/ 26674 h 53347"/>
              <a:gd name="connsiteX6" fmla="*/ 186715 w 213388"/>
              <a:gd name="connsiteY6" fmla="*/ 0 h 5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3388" h="53347">
                <a:moveTo>
                  <a:pt x="186715" y="0"/>
                </a:moveTo>
                <a:lnTo>
                  <a:pt x="26674" y="0"/>
                </a:lnTo>
                <a:cubicBezTo>
                  <a:pt x="11942" y="0"/>
                  <a:pt x="0" y="11942"/>
                  <a:pt x="0" y="26674"/>
                </a:cubicBezTo>
                <a:cubicBezTo>
                  <a:pt x="0" y="41405"/>
                  <a:pt x="11942" y="53347"/>
                  <a:pt x="26674" y="53347"/>
                </a:cubicBezTo>
                <a:lnTo>
                  <a:pt x="186715" y="53347"/>
                </a:lnTo>
                <a:cubicBezTo>
                  <a:pt x="201446" y="53347"/>
                  <a:pt x="213388" y="41405"/>
                  <a:pt x="213388" y="26674"/>
                </a:cubicBezTo>
                <a:cubicBezTo>
                  <a:pt x="213388" y="11942"/>
                  <a:pt x="201446" y="0"/>
                  <a:pt x="186715" y="0"/>
                </a:cubicBezTo>
                <a:close/>
              </a:path>
            </a:pathLst>
          </a:custGeom>
          <a:solidFill>
            <a:schemeClr val="accent4"/>
          </a:solidFill>
          <a:ln w="266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0" name="熊大的PPT宝库45"/>
          <p:cNvSpPr/>
          <p:nvPr/>
        </p:nvSpPr>
        <p:spPr>
          <a:xfrm>
            <a:off x="6299662" y="3026855"/>
            <a:ext cx="76929" cy="12821"/>
          </a:xfrm>
          <a:custGeom>
            <a:avLst/>
            <a:gdLst>
              <a:gd name="connsiteX0" fmla="*/ 293409 w 320082"/>
              <a:gd name="connsiteY0" fmla="*/ 0 h 53347"/>
              <a:gd name="connsiteX1" fmla="*/ 26674 w 320082"/>
              <a:gd name="connsiteY1" fmla="*/ 0 h 53347"/>
              <a:gd name="connsiteX2" fmla="*/ 0 w 320082"/>
              <a:gd name="connsiteY2" fmla="*/ 26674 h 53347"/>
              <a:gd name="connsiteX3" fmla="*/ 26674 w 320082"/>
              <a:gd name="connsiteY3" fmla="*/ 53347 h 53347"/>
              <a:gd name="connsiteX4" fmla="*/ 293409 w 320082"/>
              <a:gd name="connsiteY4" fmla="*/ 53347 h 53347"/>
              <a:gd name="connsiteX5" fmla="*/ 320082 w 320082"/>
              <a:gd name="connsiteY5" fmla="*/ 26674 h 53347"/>
              <a:gd name="connsiteX6" fmla="*/ 293409 w 320082"/>
              <a:gd name="connsiteY6" fmla="*/ 0 h 5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0082" h="53347">
                <a:moveTo>
                  <a:pt x="293409" y="0"/>
                </a:moveTo>
                <a:lnTo>
                  <a:pt x="26674" y="0"/>
                </a:lnTo>
                <a:cubicBezTo>
                  <a:pt x="11942" y="0"/>
                  <a:pt x="0" y="11942"/>
                  <a:pt x="0" y="26674"/>
                </a:cubicBezTo>
                <a:cubicBezTo>
                  <a:pt x="0" y="41405"/>
                  <a:pt x="11942" y="53347"/>
                  <a:pt x="26674" y="53347"/>
                </a:cubicBezTo>
                <a:lnTo>
                  <a:pt x="293409" y="53347"/>
                </a:lnTo>
                <a:cubicBezTo>
                  <a:pt x="308140" y="53347"/>
                  <a:pt x="320082" y="41405"/>
                  <a:pt x="320082" y="26674"/>
                </a:cubicBezTo>
                <a:cubicBezTo>
                  <a:pt x="320082" y="11942"/>
                  <a:pt x="308140" y="0"/>
                  <a:pt x="293409" y="0"/>
                </a:cubicBezTo>
                <a:close/>
              </a:path>
            </a:pathLst>
          </a:custGeom>
          <a:solidFill>
            <a:schemeClr val="accent4"/>
          </a:solidFill>
          <a:ln w="266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1" name="熊大的PPT宝库46"/>
          <p:cNvSpPr/>
          <p:nvPr/>
        </p:nvSpPr>
        <p:spPr>
          <a:xfrm>
            <a:off x="6395823" y="3225587"/>
            <a:ext cx="51286" cy="51286"/>
          </a:xfrm>
          <a:custGeom>
            <a:avLst/>
            <a:gdLst>
              <a:gd name="connsiteX0" fmla="*/ 186715 w 213388"/>
              <a:gd name="connsiteY0" fmla="*/ 0 h 213388"/>
              <a:gd name="connsiteX1" fmla="*/ 26674 w 213388"/>
              <a:gd name="connsiteY1" fmla="*/ 0 h 213388"/>
              <a:gd name="connsiteX2" fmla="*/ 0 w 213388"/>
              <a:gd name="connsiteY2" fmla="*/ 26674 h 213388"/>
              <a:gd name="connsiteX3" fmla="*/ 0 w 213388"/>
              <a:gd name="connsiteY3" fmla="*/ 186715 h 213388"/>
              <a:gd name="connsiteX4" fmla="*/ 26674 w 213388"/>
              <a:gd name="connsiteY4" fmla="*/ 213388 h 213388"/>
              <a:gd name="connsiteX5" fmla="*/ 133368 w 213388"/>
              <a:gd name="connsiteY5" fmla="*/ 213388 h 213388"/>
              <a:gd name="connsiteX6" fmla="*/ 152226 w 213388"/>
              <a:gd name="connsiteY6" fmla="*/ 205573 h 213388"/>
              <a:gd name="connsiteX7" fmla="*/ 205573 w 213388"/>
              <a:gd name="connsiteY7" fmla="*/ 152226 h 213388"/>
              <a:gd name="connsiteX8" fmla="*/ 213388 w 213388"/>
              <a:gd name="connsiteY8" fmla="*/ 133368 h 213388"/>
              <a:gd name="connsiteX9" fmla="*/ 213388 w 213388"/>
              <a:gd name="connsiteY9" fmla="*/ 26674 h 213388"/>
              <a:gd name="connsiteX10" fmla="*/ 186715 w 213388"/>
              <a:gd name="connsiteY10" fmla="*/ 0 h 213388"/>
              <a:gd name="connsiteX11" fmla="*/ 160041 w 213388"/>
              <a:gd name="connsiteY11" fmla="*/ 122322 h 213388"/>
              <a:gd name="connsiteX12" fmla="*/ 122322 w 213388"/>
              <a:gd name="connsiteY12" fmla="*/ 160041 h 213388"/>
              <a:gd name="connsiteX13" fmla="*/ 53347 w 213388"/>
              <a:gd name="connsiteY13" fmla="*/ 160041 h 213388"/>
              <a:gd name="connsiteX14" fmla="*/ 53347 w 213388"/>
              <a:gd name="connsiteY14" fmla="*/ 53347 h 213388"/>
              <a:gd name="connsiteX15" fmla="*/ 160041 w 213388"/>
              <a:gd name="connsiteY15" fmla="*/ 53347 h 213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3388" h="213388">
                <a:moveTo>
                  <a:pt x="186715" y="0"/>
                </a:moveTo>
                <a:lnTo>
                  <a:pt x="26674" y="0"/>
                </a:lnTo>
                <a:cubicBezTo>
                  <a:pt x="11942" y="0"/>
                  <a:pt x="0" y="11942"/>
                  <a:pt x="0" y="26674"/>
                </a:cubicBezTo>
                <a:lnTo>
                  <a:pt x="0" y="186715"/>
                </a:lnTo>
                <a:cubicBezTo>
                  <a:pt x="0" y="201446"/>
                  <a:pt x="11942" y="213388"/>
                  <a:pt x="26674" y="213388"/>
                </a:cubicBezTo>
                <a:lnTo>
                  <a:pt x="133368" y="213388"/>
                </a:lnTo>
                <a:cubicBezTo>
                  <a:pt x="140442" y="213389"/>
                  <a:pt x="147226" y="210577"/>
                  <a:pt x="152226" y="205573"/>
                </a:cubicBezTo>
                <a:lnTo>
                  <a:pt x="205573" y="152226"/>
                </a:lnTo>
                <a:cubicBezTo>
                  <a:pt x="210575" y="147225"/>
                  <a:pt x="213386" y="140441"/>
                  <a:pt x="213388" y="133368"/>
                </a:cubicBezTo>
                <a:lnTo>
                  <a:pt x="213388" y="26674"/>
                </a:lnTo>
                <a:cubicBezTo>
                  <a:pt x="213388" y="11942"/>
                  <a:pt x="201446" y="0"/>
                  <a:pt x="186715" y="0"/>
                </a:cubicBezTo>
                <a:close/>
                <a:moveTo>
                  <a:pt x="160041" y="122322"/>
                </a:moveTo>
                <a:lnTo>
                  <a:pt x="122322" y="160041"/>
                </a:lnTo>
                <a:lnTo>
                  <a:pt x="53347" y="160041"/>
                </a:lnTo>
                <a:lnTo>
                  <a:pt x="53347" y="53347"/>
                </a:lnTo>
                <a:lnTo>
                  <a:pt x="160041" y="53347"/>
                </a:lnTo>
                <a:close/>
              </a:path>
            </a:pathLst>
          </a:custGeom>
          <a:solidFill>
            <a:schemeClr val="accent4"/>
          </a:solidFill>
          <a:ln w="266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3" name="熊大的PPT宝库47"/>
          <p:cNvSpPr/>
          <p:nvPr/>
        </p:nvSpPr>
        <p:spPr>
          <a:xfrm>
            <a:off x="9563080" y="2993867"/>
            <a:ext cx="371822" cy="371859"/>
          </a:xfrm>
          <a:custGeom>
            <a:avLst/>
            <a:gdLst>
              <a:gd name="connsiteX0" fmla="*/ 1573737 w 1600410"/>
              <a:gd name="connsiteY0" fmla="*/ 773532 h 1600569"/>
              <a:gd name="connsiteX1" fmla="*/ 1280328 w 1600410"/>
              <a:gd name="connsiteY1" fmla="*/ 773532 h 1600569"/>
              <a:gd name="connsiteX2" fmla="*/ 1255255 w 1600410"/>
              <a:gd name="connsiteY2" fmla="*/ 791136 h 1600569"/>
              <a:gd name="connsiteX3" fmla="*/ 1154963 w 1600410"/>
              <a:gd name="connsiteY3" fmla="*/ 1066940 h 1600569"/>
              <a:gd name="connsiteX4" fmla="*/ 1040267 w 1600410"/>
              <a:gd name="connsiteY4" fmla="*/ 1066940 h 1600569"/>
              <a:gd name="connsiteX5" fmla="*/ 960246 w 1600410"/>
              <a:gd name="connsiteY5" fmla="*/ 1146961 h 1600569"/>
              <a:gd name="connsiteX6" fmla="*/ 960246 w 1600410"/>
              <a:gd name="connsiteY6" fmla="*/ 1360349 h 1600569"/>
              <a:gd name="connsiteX7" fmla="*/ 53347 w 1600410"/>
              <a:gd name="connsiteY7" fmla="*/ 1360349 h 1600569"/>
              <a:gd name="connsiteX8" fmla="*/ 53347 w 1600410"/>
              <a:gd name="connsiteY8" fmla="*/ 1307002 h 1600569"/>
              <a:gd name="connsiteX9" fmla="*/ 666838 w 1600410"/>
              <a:gd name="connsiteY9" fmla="*/ 1307002 h 1600569"/>
              <a:gd name="connsiteX10" fmla="*/ 693511 w 1600410"/>
              <a:gd name="connsiteY10" fmla="*/ 1280328 h 1600569"/>
              <a:gd name="connsiteX11" fmla="*/ 693511 w 1600410"/>
              <a:gd name="connsiteY11" fmla="*/ 1173634 h 1600569"/>
              <a:gd name="connsiteX12" fmla="*/ 666838 w 1600410"/>
              <a:gd name="connsiteY12" fmla="*/ 1146961 h 1600569"/>
              <a:gd name="connsiteX13" fmla="*/ 373429 w 1600410"/>
              <a:gd name="connsiteY13" fmla="*/ 1146961 h 1600569"/>
              <a:gd name="connsiteX14" fmla="*/ 373429 w 1600410"/>
              <a:gd name="connsiteY14" fmla="*/ 1093614 h 1600569"/>
              <a:gd name="connsiteX15" fmla="*/ 426776 w 1600410"/>
              <a:gd name="connsiteY15" fmla="*/ 1093614 h 1600569"/>
              <a:gd name="connsiteX16" fmla="*/ 453450 w 1600410"/>
              <a:gd name="connsiteY16" fmla="*/ 1066940 h 1600569"/>
              <a:gd name="connsiteX17" fmla="*/ 453450 w 1600410"/>
              <a:gd name="connsiteY17" fmla="*/ 906366 h 1600569"/>
              <a:gd name="connsiteX18" fmla="*/ 693511 w 1600410"/>
              <a:gd name="connsiteY18" fmla="*/ 654301 h 1600569"/>
              <a:gd name="connsiteX19" fmla="*/ 693511 w 1600410"/>
              <a:gd name="connsiteY19" fmla="*/ 384365 h 1600569"/>
              <a:gd name="connsiteX20" fmla="*/ 629228 w 1600410"/>
              <a:gd name="connsiteY20" fmla="*/ 320082 h 1600569"/>
              <a:gd name="connsiteX21" fmla="*/ 613491 w 1600410"/>
              <a:gd name="connsiteY21" fmla="*/ 320082 h 1600569"/>
              <a:gd name="connsiteX22" fmla="*/ 613491 w 1600410"/>
              <a:gd name="connsiteY22" fmla="*/ 80021 h 1600569"/>
              <a:gd name="connsiteX23" fmla="*/ 533470 w 1600410"/>
              <a:gd name="connsiteY23" fmla="*/ 0 h 1600569"/>
              <a:gd name="connsiteX24" fmla="*/ 453450 w 1600410"/>
              <a:gd name="connsiteY24" fmla="*/ 80021 h 1600569"/>
              <a:gd name="connsiteX25" fmla="*/ 453450 w 1600410"/>
              <a:gd name="connsiteY25" fmla="*/ 320082 h 1600569"/>
              <a:gd name="connsiteX26" fmla="*/ 240062 w 1600410"/>
              <a:gd name="connsiteY26" fmla="*/ 320082 h 1600569"/>
              <a:gd name="connsiteX27" fmla="*/ 240062 w 1600410"/>
              <a:gd name="connsiteY27" fmla="*/ 80021 h 1600569"/>
              <a:gd name="connsiteX28" fmla="*/ 160041 w 1600410"/>
              <a:gd name="connsiteY28" fmla="*/ 0 h 1600569"/>
              <a:gd name="connsiteX29" fmla="*/ 80021 w 1600410"/>
              <a:gd name="connsiteY29" fmla="*/ 80021 h 1600569"/>
              <a:gd name="connsiteX30" fmla="*/ 80021 w 1600410"/>
              <a:gd name="connsiteY30" fmla="*/ 320082 h 1600569"/>
              <a:gd name="connsiteX31" fmla="*/ 64283 w 1600410"/>
              <a:gd name="connsiteY31" fmla="*/ 320082 h 1600569"/>
              <a:gd name="connsiteX32" fmla="*/ 0 w 1600410"/>
              <a:gd name="connsiteY32" fmla="*/ 384365 h 1600569"/>
              <a:gd name="connsiteX33" fmla="*/ 0 w 1600410"/>
              <a:gd name="connsiteY33" fmla="*/ 654301 h 1600569"/>
              <a:gd name="connsiteX34" fmla="*/ 240062 w 1600410"/>
              <a:gd name="connsiteY34" fmla="*/ 906366 h 1600569"/>
              <a:gd name="connsiteX35" fmla="*/ 240062 w 1600410"/>
              <a:gd name="connsiteY35" fmla="*/ 1066940 h 1600569"/>
              <a:gd name="connsiteX36" fmla="*/ 266735 w 1600410"/>
              <a:gd name="connsiteY36" fmla="*/ 1093614 h 1600569"/>
              <a:gd name="connsiteX37" fmla="*/ 320082 w 1600410"/>
              <a:gd name="connsiteY37" fmla="*/ 1093614 h 1600569"/>
              <a:gd name="connsiteX38" fmla="*/ 320082 w 1600410"/>
              <a:gd name="connsiteY38" fmla="*/ 1173634 h 1600569"/>
              <a:gd name="connsiteX39" fmla="*/ 346756 w 1600410"/>
              <a:gd name="connsiteY39" fmla="*/ 1200308 h 1600569"/>
              <a:gd name="connsiteX40" fmla="*/ 640164 w 1600410"/>
              <a:gd name="connsiteY40" fmla="*/ 1200308 h 1600569"/>
              <a:gd name="connsiteX41" fmla="*/ 640164 w 1600410"/>
              <a:gd name="connsiteY41" fmla="*/ 1253655 h 1600569"/>
              <a:gd name="connsiteX42" fmla="*/ 26674 w 1600410"/>
              <a:gd name="connsiteY42" fmla="*/ 1253655 h 1600569"/>
              <a:gd name="connsiteX43" fmla="*/ 0 w 1600410"/>
              <a:gd name="connsiteY43" fmla="*/ 1280328 h 1600569"/>
              <a:gd name="connsiteX44" fmla="*/ 0 w 1600410"/>
              <a:gd name="connsiteY44" fmla="*/ 1387022 h 1600569"/>
              <a:gd name="connsiteX45" fmla="*/ 26674 w 1600410"/>
              <a:gd name="connsiteY45" fmla="*/ 1413696 h 1600569"/>
              <a:gd name="connsiteX46" fmla="*/ 960246 w 1600410"/>
              <a:gd name="connsiteY46" fmla="*/ 1413696 h 1600569"/>
              <a:gd name="connsiteX47" fmla="*/ 1040267 w 1600410"/>
              <a:gd name="connsiteY47" fmla="*/ 1493716 h 1600569"/>
              <a:gd name="connsiteX48" fmla="*/ 1202975 w 1600410"/>
              <a:gd name="connsiteY48" fmla="*/ 1493716 h 1600569"/>
              <a:gd name="connsiteX49" fmla="*/ 1360215 w 1600410"/>
              <a:gd name="connsiteY49" fmla="*/ 1597876 h 1600569"/>
              <a:gd name="connsiteX50" fmla="*/ 1464375 w 1600410"/>
              <a:gd name="connsiteY50" fmla="*/ 1493716 h 1600569"/>
              <a:gd name="connsiteX51" fmla="*/ 1573737 w 1600410"/>
              <a:gd name="connsiteY51" fmla="*/ 1493716 h 1600569"/>
              <a:gd name="connsiteX52" fmla="*/ 1600410 w 1600410"/>
              <a:gd name="connsiteY52" fmla="*/ 1467043 h 1600569"/>
              <a:gd name="connsiteX53" fmla="*/ 1600410 w 1600410"/>
              <a:gd name="connsiteY53" fmla="*/ 800205 h 1600569"/>
              <a:gd name="connsiteX54" fmla="*/ 1573737 w 1600410"/>
              <a:gd name="connsiteY54" fmla="*/ 773532 h 1600569"/>
              <a:gd name="connsiteX55" fmla="*/ 506797 w 1600410"/>
              <a:gd name="connsiteY55" fmla="*/ 80021 h 1600569"/>
              <a:gd name="connsiteX56" fmla="*/ 533470 w 1600410"/>
              <a:gd name="connsiteY56" fmla="*/ 53347 h 1600569"/>
              <a:gd name="connsiteX57" fmla="*/ 560144 w 1600410"/>
              <a:gd name="connsiteY57" fmla="*/ 80021 h 1600569"/>
              <a:gd name="connsiteX58" fmla="*/ 560144 w 1600410"/>
              <a:gd name="connsiteY58" fmla="*/ 373429 h 1600569"/>
              <a:gd name="connsiteX59" fmla="*/ 506797 w 1600410"/>
              <a:gd name="connsiteY59" fmla="*/ 373429 h 1600569"/>
              <a:gd name="connsiteX60" fmla="*/ 133368 w 1600410"/>
              <a:gd name="connsiteY60" fmla="*/ 80021 h 1600569"/>
              <a:gd name="connsiteX61" fmla="*/ 160041 w 1600410"/>
              <a:gd name="connsiteY61" fmla="*/ 53347 h 1600569"/>
              <a:gd name="connsiteX62" fmla="*/ 186715 w 1600410"/>
              <a:gd name="connsiteY62" fmla="*/ 80021 h 1600569"/>
              <a:gd name="connsiteX63" fmla="*/ 186715 w 1600410"/>
              <a:gd name="connsiteY63" fmla="*/ 373429 h 1600569"/>
              <a:gd name="connsiteX64" fmla="*/ 133368 w 1600410"/>
              <a:gd name="connsiteY64" fmla="*/ 373429 h 1600569"/>
              <a:gd name="connsiteX65" fmla="*/ 252598 w 1600410"/>
              <a:gd name="connsiteY65" fmla="*/ 853552 h 1600569"/>
              <a:gd name="connsiteX66" fmla="*/ 53347 w 1600410"/>
              <a:gd name="connsiteY66" fmla="*/ 654301 h 1600569"/>
              <a:gd name="connsiteX67" fmla="*/ 53347 w 1600410"/>
              <a:gd name="connsiteY67" fmla="*/ 384365 h 1600569"/>
              <a:gd name="connsiteX68" fmla="*/ 64283 w 1600410"/>
              <a:gd name="connsiteY68" fmla="*/ 373429 h 1600569"/>
              <a:gd name="connsiteX69" fmla="*/ 80021 w 1600410"/>
              <a:gd name="connsiteY69" fmla="*/ 373429 h 1600569"/>
              <a:gd name="connsiteX70" fmla="*/ 80021 w 1600410"/>
              <a:gd name="connsiteY70" fmla="*/ 400103 h 1600569"/>
              <a:gd name="connsiteX71" fmla="*/ 106694 w 1600410"/>
              <a:gd name="connsiteY71" fmla="*/ 426776 h 1600569"/>
              <a:gd name="connsiteX72" fmla="*/ 213388 w 1600410"/>
              <a:gd name="connsiteY72" fmla="*/ 426776 h 1600569"/>
              <a:gd name="connsiteX73" fmla="*/ 240062 w 1600410"/>
              <a:gd name="connsiteY73" fmla="*/ 400103 h 1600569"/>
              <a:gd name="connsiteX74" fmla="*/ 240062 w 1600410"/>
              <a:gd name="connsiteY74" fmla="*/ 373429 h 1600569"/>
              <a:gd name="connsiteX75" fmla="*/ 453450 w 1600410"/>
              <a:gd name="connsiteY75" fmla="*/ 373429 h 1600569"/>
              <a:gd name="connsiteX76" fmla="*/ 453450 w 1600410"/>
              <a:gd name="connsiteY76" fmla="*/ 400103 h 1600569"/>
              <a:gd name="connsiteX77" fmla="*/ 480123 w 1600410"/>
              <a:gd name="connsiteY77" fmla="*/ 426776 h 1600569"/>
              <a:gd name="connsiteX78" fmla="*/ 586817 w 1600410"/>
              <a:gd name="connsiteY78" fmla="*/ 426776 h 1600569"/>
              <a:gd name="connsiteX79" fmla="*/ 613491 w 1600410"/>
              <a:gd name="connsiteY79" fmla="*/ 400103 h 1600569"/>
              <a:gd name="connsiteX80" fmla="*/ 613491 w 1600410"/>
              <a:gd name="connsiteY80" fmla="*/ 373429 h 1600569"/>
              <a:gd name="connsiteX81" fmla="*/ 629228 w 1600410"/>
              <a:gd name="connsiteY81" fmla="*/ 373429 h 1600569"/>
              <a:gd name="connsiteX82" fmla="*/ 640164 w 1600410"/>
              <a:gd name="connsiteY82" fmla="*/ 384365 h 1600569"/>
              <a:gd name="connsiteX83" fmla="*/ 640164 w 1600410"/>
              <a:gd name="connsiteY83" fmla="*/ 654301 h 1600569"/>
              <a:gd name="connsiteX84" fmla="*/ 440913 w 1600410"/>
              <a:gd name="connsiteY84" fmla="*/ 853552 h 1600569"/>
              <a:gd name="connsiteX85" fmla="*/ 293409 w 1600410"/>
              <a:gd name="connsiteY85" fmla="*/ 1040267 h 1600569"/>
              <a:gd name="connsiteX86" fmla="*/ 293409 w 1600410"/>
              <a:gd name="connsiteY86" fmla="*/ 906899 h 1600569"/>
              <a:gd name="connsiteX87" fmla="*/ 400103 w 1600410"/>
              <a:gd name="connsiteY87" fmla="*/ 906899 h 1600569"/>
              <a:gd name="connsiteX88" fmla="*/ 400103 w 1600410"/>
              <a:gd name="connsiteY88" fmla="*/ 1040267 h 1600569"/>
              <a:gd name="connsiteX89" fmla="*/ 1013593 w 1600410"/>
              <a:gd name="connsiteY89" fmla="*/ 1146961 h 1600569"/>
              <a:gd name="connsiteX90" fmla="*/ 1040267 w 1600410"/>
              <a:gd name="connsiteY90" fmla="*/ 1120287 h 1600569"/>
              <a:gd name="connsiteX91" fmla="*/ 1066940 w 1600410"/>
              <a:gd name="connsiteY91" fmla="*/ 1120287 h 1600569"/>
              <a:gd name="connsiteX92" fmla="*/ 1066940 w 1600410"/>
              <a:gd name="connsiteY92" fmla="*/ 1173634 h 1600569"/>
              <a:gd name="connsiteX93" fmla="*/ 1013593 w 1600410"/>
              <a:gd name="connsiteY93" fmla="*/ 1173634 h 1600569"/>
              <a:gd name="connsiteX94" fmla="*/ 1333675 w 1600410"/>
              <a:gd name="connsiteY94" fmla="*/ 1547063 h 1600569"/>
              <a:gd name="connsiteX95" fmla="*/ 1253655 w 1600410"/>
              <a:gd name="connsiteY95" fmla="*/ 1467043 h 1600569"/>
              <a:gd name="connsiteX96" fmla="*/ 1333675 w 1600410"/>
              <a:gd name="connsiteY96" fmla="*/ 1387022 h 1600569"/>
              <a:gd name="connsiteX97" fmla="*/ 1413696 w 1600410"/>
              <a:gd name="connsiteY97" fmla="*/ 1467043 h 1600569"/>
              <a:gd name="connsiteX98" fmla="*/ 1333675 w 1600410"/>
              <a:gd name="connsiteY98" fmla="*/ 1547063 h 1600569"/>
              <a:gd name="connsiteX99" fmla="*/ 1547063 w 1600410"/>
              <a:gd name="connsiteY99" fmla="*/ 1440369 h 1600569"/>
              <a:gd name="connsiteX100" fmla="*/ 1464375 w 1600410"/>
              <a:gd name="connsiteY100" fmla="*/ 1440369 h 1600569"/>
              <a:gd name="connsiteX101" fmla="*/ 1307135 w 1600410"/>
              <a:gd name="connsiteY101" fmla="*/ 1336209 h 1600569"/>
              <a:gd name="connsiteX102" fmla="*/ 1202975 w 1600410"/>
              <a:gd name="connsiteY102" fmla="*/ 1440369 h 1600569"/>
              <a:gd name="connsiteX103" fmla="*/ 1040267 w 1600410"/>
              <a:gd name="connsiteY103" fmla="*/ 1440369 h 1600569"/>
              <a:gd name="connsiteX104" fmla="*/ 1013593 w 1600410"/>
              <a:gd name="connsiteY104" fmla="*/ 1413696 h 1600569"/>
              <a:gd name="connsiteX105" fmla="*/ 1013593 w 1600410"/>
              <a:gd name="connsiteY105" fmla="*/ 1226981 h 1600569"/>
              <a:gd name="connsiteX106" fmla="*/ 1093614 w 1600410"/>
              <a:gd name="connsiteY106" fmla="*/ 1226981 h 1600569"/>
              <a:gd name="connsiteX107" fmla="*/ 1120287 w 1600410"/>
              <a:gd name="connsiteY107" fmla="*/ 1200308 h 1600569"/>
              <a:gd name="connsiteX108" fmla="*/ 1120287 w 1600410"/>
              <a:gd name="connsiteY108" fmla="*/ 1120287 h 1600569"/>
              <a:gd name="connsiteX109" fmla="*/ 1547063 w 1600410"/>
              <a:gd name="connsiteY109" fmla="*/ 1120287 h 1600569"/>
              <a:gd name="connsiteX110" fmla="*/ 1547063 w 1600410"/>
              <a:gd name="connsiteY110" fmla="*/ 1066940 h 1600569"/>
              <a:gd name="connsiteX111" fmla="*/ 1211777 w 1600410"/>
              <a:gd name="connsiteY111" fmla="*/ 1066940 h 1600569"/>
              <a:gd name="connsiteX112" fmla="*/ 1299000 w 1600410"/>
              <a:gd name="connsiteY112" fmla="*/ 826879 h 1600569"/>
              <a:gd name="connsiteX113" fmla="*/ 1547063 w 1600410"/>
              <a:gd name="connsiteY113" fmla="*/ 826879 h 160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1600410" h="1600569">
                <a:moveTo>
                  <a:pt x="1573737" y="773532"/>
                </a:moveTo>
                <a:lnTo>
                  <a:pt x="1280328" y="773532"/>
                </a:lnTo>
                <a:cubicBezTo>
                  <a:pt x="1269078" y="773473"/>
                  <a:pt x="1259020" y="780534"/>
                  <a:pt x="1255255" y="791136"/>
                </a:cubicBezTo>
                <a:lnTo>
                  <a:pt x="1154963" y="1066940"/>
                </a:lnTo>
                <a:lnTo>
                  <a:pt x="1040267" y="1066940"/>
                </a:lnTo>
                <a:cubicBezTo>
                  <a:pt x="996127" y="1067072"/>
                  <a:pt x="960378" y="1102821"/>
                  <a:pt x="960246" y="1146961"/>
                </a:cubicBezTo>
                <a:lnTo>
                  <a:pt x="960246" y="1360349"/>
                </a:lnTo>
                <a:lnTo>
                  <a:pt x="53347" y="1360349"/>
                </a:lnTo>
                <a:lnTo>
                  <a:pt x="53347" y="1307002"/>
                </a:lnTo>
                <a:lnTo>
                  <a:pt x="666838" y="1307002"/>
                </a:lnTo>
                <a:cubicBezTo>
                  <a:pt x="681569" y="1307002"/>
                  <a:pt x="693511" y="1295059"/>
                  <a:pt x="693511" y="1280328"/>
                </a:cubicBezTo>
                <a:lnTo>
                  <a:pt x="693511" y="1173634"/>
                </a:lnTo>
                <a:cubicBezTo>
                  <a:pt x="693511" y="1158903"/>
                  <a:pt x="681569" y="1146961"/>
                  <a:pt x="666838" y="1146961"/>
                </a:cubicBezTo>
                <a:lnTo>
                  <a:pt x="373429" y="1146961"/>
                </a:lnTo>
                <a:lnTo>
                  <a:pt x="373429" y="1093614"/>
                </a:lnTo>
                <a:lnTo>
                  <a:pt x="426776" y="1093614"/>
                </a:lnTo>
                <a:cubicBezTo>
                  <a:pt x="441507" y="1093614"/>
                  <a:pt x="453450" y="1081671"/>
                  <a:pt x="453450" y="1066940"/>
                </a:cubicBezTo>
                <a:lnTo>
                  <a:pt x="453450" y="906366"/>
                </a:lnTo>
                <a:cubicBezTo>
                  <a:pt x="587752" y="899516"/>
                  <a:pt x="693218" y="788778"/>
                  <a:pt x="693511" y="654301"/>
                </a:cubicBezTo>
                <a:lnTo>
                  <a:pt x="693511" y="384365"/>
                </a:lnTo>
                <a:cubicBezTo>
                  <a:pt x="693496" y="348869"/>
                  <a:pt x="664724" y="320097"/>
                  <a:pt x="629228" y="320082"/>
                </a:cubicBezTo>
                <a:lnTo>
                  <a:pt x="613491" y="320082"/>
                </a:lnTo>
                <a:lnTo>
                  <a:pt x="613491" y="80021"/>
                </a:lnTo>
                <a:cubicBezTo>
                  <a:pt x="613491" y="35826"/>
                  <a:pt x="577664" y="0"/>
                  <a:pt x="533470" y="0"/>
                </a:cubicBezTo>
                <a:cubicBezTo>
                  <a:pt x="489276" y="0"/>
                  <a:pt x="453450" y="35826"/>
                  <a:pt x="453450" y="80021"/>
                </a:cubicBezTo>
                <a:lnTo>
                  <a:pt x="453450" y="320082"/>
                </a:lnTo>
                <a:lnTo>
                  <a:pt x="240062" y="320082"/>
                </a:lnTo>
                <a:lnTo>
                  <a:pt x="240062" y="80021"/>
                </a:lnTo>
                <a:cubicBezTo>
                  <a:pt x="240062" y="35826"/>
                  <a:pt x="204235" y="0"/>
                  <a:pt x="160041" y="0"/>
                </a:cubicBezTo>
                <a:cubicBezTo>
                  <a:pt x="115847" y="0"/>
                  <a:pt x="80021" y="35826"/>
                  <a:pt x="80021" y="80021"/>
                </a:cubicBezTo>
                <a:lnTo>
                  <a:pt x="80021" y="320082"/>
                </a:lnTo>
                <a:lnTo>
                  <a:pt x="64283" y="320082"/>
                </a:lnTo>
                <a:cubicBezTo>
                  <a:pt x="28787" y="320097"/>
                  <a:pt x="15" y="348869"/>
                  <a:pt x="0" y="384365"/>
                </a:cubicBezTo>
                <a:lnTo>
                  <a:pt x="0" y="654301"/>
                </a:lnTo>
                <a:cubicBezTo>
                  <a:pt x="293" y="788778"/>
                  <a:pt x="105759" y="899517"/>
                  <a:pt x="240062" y="906366"/>
                </a:cubicBezTo>
                <a:lnTo>
                  <a:pt x="240062" y="1066940"/>
                </a:lnTo>
                <a:cubicBezTo>
                  <a:pt x="240062" y="1081671"/>
                  <a:pt x="252004" y="1093614"/>
                  <a:pt x="266735" y="1093614"/>
                </a:cubicBezTo>
                <a:lnTo>
                  <a:pt x="320082" y="1093614"/>
                </a:lnTo>
                <a:lnTo>
                  <a:pt x="320082" y="1173634"/>
                </a:lnTo>
                <a:cubicBezTo>
                  <a:pt x="320082" y="1188365"/>
                  <a:pt x="332024" y="1200308"/>
                  <a:pt x="346756" y="1200308"/>
                </a:cubicBezTo>
                <a:lnTo>
                  <a:pt x="640164" y="1200308"/>
                </a:lnTo>
                <a:lnTo>
                  <a:pt x="640164" y="1253655"/>
                </a:lnTo>
                <a:lnTo>
                  <a:pt x="26674" y="1253655"/>
                </a:lnTo>
                <a:cubicBezTo>
                  <a:pt x="11942" y="1253655"/>
                  <a:pt x="0" y="1265597"/>
                  <a:pt x="0" y="1280328"/>
                </a:cubicBezTo>
                <a:lnTo>
                  <a:pt x="0" y="1387022"/>
                </a:lnTo>
                <a:cubicBezTo>
                  <a:pt x="0" y="1401753"/>
                  <a:pt x="11942" y="1413696"/>
                  <a:pt x="26674" y="1413696"/>
                </a:cubicBezTo>
                <a:lnTo>
                  <a:pt x="960246" y="1413696"/>
                </a:lnTo>
                <a:cubicBezTo>
                  <a:pt x="960378" y="1457835"/>
                  <a:pt x="996127" y="1493584"/>
                  <a:pt x="1040267" y="1493716"/>
                </a:cubicBezTo>
                <a:lnTo>
                  <a:pt x="1202975" y="1493716"/>
                </a:lnTo>
                <a:cubicBezTo>
                  <a:pt x="1217632" y="1565900"/>
                  <a:pt x="1288031" y="1612534"/>
                  <a:pt x="1360215" y="1597876"/>
                </a:cubicBezTo>
                <a:cubicBezTo>
                  <a:pt x="1412699" y="1587219"/>
                  <a:pt x="1453718" y="1546200"/>
                  <a:pt x="1464375" y="1493716"/>
                </a:cubicBezTo>
                <a:lnTo>
                  <a:pt x="1573737" y="1493716"/>
                </a:lnTo>
                <a:cubicBezTo>
                  <a:pt x="1588468" y="1493716"/>
                  <a:pt x="1600410" y="1481774"/>
                  <a:pt x="1600410" y="1467043"/>
                </a:cubicBezTo>
                <a:lnTo>
                  <a:pt x="1600410" y="800205"/>
                </a:lnTo>
                <a:cubicBezTo>
                  <a:pt x="1600410" y="785474"/>
                  <a:pt x="1588468" y="773532"/>
                  <a:pt x="1573737" y="773532"/>
                </a:cubicBezTo>
                <a:close/>
                <a:moveTo>
                  <a:pt x="506797" y="80021"/>
                </a:moveTo>
                <a:cubicBezTo>
                  <a:pt x="506797" y="65289"/>
                  <a:pt x="518739" y="53347"/>
                  <a:pt x="533470" y="53347"/>
                </a:cubicBezTo>
                <a:cubicBezTo>
                  <a:pt x="548201" y="53347"/>
                  <a:pt x="560144" y="65289"/>
                  <a:pt x="560144" y="80021"/>
                </a:cubicBezTo>
                <a:lnTo>
                  <a:pt x="560144" y="373429"/>
                </a:lnTo>
                <a:lnTo>
                  <a:pt x="506797" y="373429"/>
                </a:lnTo>
                <a:close/>
                <a:moveTo>
                  <a:pt x="133368" y="80021"/>
                </a:moveTo>
                <a:cubicBezTo>
                  <a:pt x="133368" y="65289"/>
                  <a:pt x="145310" y="53347"/>
                  <a:pt x="160041" y="53347"/>
                </a:cubicBezTo>
                <a:cubicBezTo>
                  <a:pt x="174772" y="53347"/>
                  <a:pt x="186715" y="65289"/>
                  <a:pt x="186715" y="80021"/>
                </a:cubicBezTo>
                <a:lnTo>
                  <a:pt x="186715" y="373429"/>
                </a:lnTo>
                <a:lnTo>
                  <a:pt x="133368" y="373429"/>
                </a:lnTo>
                <a:close/>
                <a:moveTo>
                  <a:pt x="252598" y="853552"/>
                </a:moveTo>
                <a:cubicBezTo>
                  <a:pt x="142597" y="853449"/>
                  <a:pt x="53450" y="764302"/>
                  <a:pt x="53347" y="654301"/>
                </a:cubicBezTo>
                <a:lnTo>
                  <a:pt x="53347" y="384365"/>
                </a:lnTo>
                <a:cubicBezTo>
                  <a:pt x="53474" y="378379"/>
                  <a:pt x="58297" y="373556"/>
                  <a:pt x="64283" y="373429"/>
                </a:cubicBezTo>
                <a:lnTo>
                  <a:pt x="80021" y="373429"/>
                </a:lnTo>
                <a:lnTo>
                  <a:pt x="80021" y="400103"/>
                </a:lnTo>
                <a:cubicBezTo>
                  <a:pt x="80021" y="414834"/>
                  <a:pt x="91963" y="426776"/>
                  <a:pt x="106694" y="426776"/>
                </a:cubicBezTo>
                <a:lnTo>
                  <a:pt x="213388" y="426776"/>
                </a:lnTo>
                <a:cubicBezTo>
                  <a:pt x="228119" y="426776"/>
                  <a:pt x="240062" y="414834"/>
                  <a:pt x="240062" y="400103"/>
                </a:cubicBezTo>
                <a:lnTo>
                  <a:pt x="240062" y="373429"/>
                </a:lnTo>
                <a:lnTo>
                  <a:pt x="453450" y="373429"/>
                </a:lnTo>
                <a:lnTo>
                  <a:pt x="453450" y="400103"/>
                </a:lnTo>
                <a:cubicBezTo>
                  <a:pt x="453450" y="414834"/>
                  <a:pt x="465392" y="426776"/>
                  <a:pt x="480123" y="426776"/>
                </a:cubicBezTo>
                <a:lnTo>
                  <a:pt x="586817" y="426776"/>
                </a:lnTo>
                <a:cubicBezTo>
                  <a:pt x="601548" y="426776"/>
                  <a:pt x="613491" y="414834"/>
                  <a:pt x="613491" y="400103"/>
                </a:cubicBezTo>
                <a:lnTo>
                  <a:pt x="613491" y="373429"/>
                </a:lnTo>
                <a:lnTo>
                  <a:pt x="629228" y="373429"/>
                </a:lnTo>
                <a:cubicBezTo>
                  <a:pt x="635214" y="373556"/>
                  <a:pt x="640037" y="378379"/>
                  <a:pt x="640164" y="384365"/>
                </a:cubicBezTo>
                <a:lnTo>
                  <a:pt x="640164" y="654301"/>
                </a:lnTo>
                <a:cubicBezTo>
                  <a:pt x="640061" y="764302"/>
                  <a:pt x="550914" y="853449"/>
                  <a:pt x="440913" y="853552"/>
                </a:cubicBezTo>
                <a:close/>
                <a:moveTo>
                  <a:pt x="293409" y="1040267"/>
                </a:moveTo>
                <a:lnTo>
                  <a:pt x="293409" y="906899"/>
                </a:lnTo>
                <a:lnTo>
                  <a:pt x="400103" y="906899"/>
                </a:lnTo>
                <a:lnTo>
                  <a:pt x="400103" y="1040267"/>
                </a:lnTo>
                <a:close/>
                <a:moveTo>
                  <a:pt x="1013593" y="1146961"/>
                </a:moveTo>
                <a:cubicBezTo>
                  <a:pt x="1013593" y="1132229"/>
                  <a:pt x="1025535" y="1120287"/>
                  <a:pt x="1040267" y="1120287"/>
                </a:cubicBezTo>
                <a:lnTo>
                  <a:pt x="1066940" y="1120287"/>
                </a:lnTo>
                <a:lnTo>
                  <a:pt x="1066940" y="1173634"/>
                </a:lnTo>
                <a:lnTo>
                  <a:pt x="1013593" y="1173634"/>
                </a:lnTo>
                <a:close/>
                <a:moveTo>
                  <a:pt x="1333675" y="1547063"/>
                </a:moveTo>
                <a:cubicBezTo>
                  <a:pt x="1289481" y="1547063"/>
                  <a:pt x="1253655" y="1511237"/>
                  <a:pt x="1253655" y="1467043"/>
                </a:cubicBezTo>
                <a:cubicBezTo>
                  <a:pt x="1253655" y="1422849"/>
                  <a:pt x="1289481" y="1387022"/>
                  <a:pt x="1333675" y="1387022"/>
                </a:cubicBezTo>
                <a:cubicBezTo>
                  <a:pt x="1377869" y="1387022"/>
                  <a:pt x="1413696" y="1422849"/>
                  <a:pt x="1413696" y="1467043"/>
                </a:cubicBezTo>
                <a:cubicBezTo>
                  <a:pt x="1413564" y="1511182"/>
                  <a:pt x="1377814" y="1546931"/>
                  <a:pt x="1333675" y="1547063"/>
                </a:cubicBezTo>
                <a:close/>
                <a:moveTo>
                  <a:pt x="1547063" y="1440369"/>
                </a:moveTo>
                <a:lnTo>
                  <a:pt x="1464375" y="1440369"/>
                </a:lnTo>
                <a:cubicBezTo>
                  <a:pt x="1449718" y="1368185"/>
                  <a:pt x="1379319" y="1321551"/>
                  <a:pt x="1307135" y="1336209"/>
                </a:cubicBezTo>
                <a:cubicBezTo>
                  <a:pt x="1254651" y="1346866"/>
                  <a:pt x="1213632" y="1387885"/>
                  <a:pt x="1202975" y="1440369"/>
                </a:cubicBezTo>
                <a:lnTo>
                  <a:pt x="1040267" y="1440369"/>
                </a:lnTo>
                <a:cubicBezTo>
                  <a:pt x="1025535" y="1440369"/>
                  <a:pt x="1013593" y="1428427"/>
                  <a:pt x="1013593" y="1413696"/>
                </a:cubicBezTo>
                <a:lnTo>
                  <a:pt x="1013593" y="1226981"/>
                </a:lnTo>
                <a:lnTo>
                  <a:pt x="1093614" y="1226981"/>
                </a:lnTo>
                <a:cubicBezTo>
                  <a:pt x="1108345" y="1226981"/>
                  <a:pt x="1120287" y="1215039"/>
                  <a:pt x="1120287" y="1200308"/>
                </a:cubicBezTo>
                <a:lnTo>
                  <a:pt x="1120287" y="1120287"/>
                </a:lnTo>
                <a:lnTo>
                  <a:pt x="1547063" y="1120287"/>
                </a:lnTo>
                <a:close/>
                <a:moveTo>
                  <a:pt x="1547063" y="1066940"/>
                </a:moveTo>
                <a:lnTo>
                  <a:pt x="1211777" y="1066940"/>
                </a:lnTo>
                <a:lnTo>
                  <a:pt x="1299000" y="826879"/>
                </a:lnTo>
                <a:lnTo>
                  <a:pt x="1547063" y="826879"/>
                </a:lnTo>
                <a:close/>
              </a:path>
            </a:pathLst>
          </a:custGeom>
          <a:solidFill>
            <a:schemeClr val="bg1"/>
          </a:solidFill>
          <a:ln w="266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4" name="熊大的PPT宝库48"/>
          <p:cNvSpPr/>
          <p:nvPr/>
        </p:nvSpPr>
        <p:spPr>
          <a:xfrm>
            <a:off x="9564603" y="3079258"/>
            <a:ext cx="56936" cy="91095"/>
          </a:xfrm>
          <a:custGeom>
            <a:avLst/>
            <a:gdLst>
              <a:gd name="connsiteX0" fmla="*/ 106712 w 266763"/>
              <a:gd name="connsiteY0" fmla="*/ 400127 h 426808"/>
              <a:gd name="connsiteX1" fmla="*/ 133378 w 266763"/>
              <a:gd name="connsiteY1" fmla="*/ 426809 h 426808"/>
              <a:gd name="connsiteX2" fmla="*/ 157765 w 266763"/>
              <a:gd name="connsiteY2" fmla="*/ 410957 h 426808"/>
              <a:gd name="connsiteX3" fmla="*/ 264459 w 266763"/>
              <a:gd name="connsiteY3" fmla="*/ 170895 h 426808"/>
              <a:gd name="connsiteX4" fmla="*/ 250913 w 266763"/>
              <a:gd name="connsiteY4" fmla="*/ 135690 h 426808"/>
              <a:gd name="connsiteX5" fmla="*/ 240080 w 266763"/>
              <a:gd name="connsiteY5" fmla="*/ 133392 h 426808"/>
              <a:gd name="connsiteX6" fmla="*/ 160059 w 266763"/>
              <a:gd name="connsiteY6" fmla="*/ 133392 h 426808"/>
              <a:gd name="connsiteX7" fmla="*/ 160059 w 266763"/>
              <a:gd name="connsiteY7" fmla="*/ 26698 h 426808"/>
              <a:gd name="connsiteX8" fmla="*/ 133411 w 266763"/>
              <a:gd name="connsiteY8" fmla="*/ 0 h 426808"/>
              <a:gd name="connsiteX9" fmla="*/ 109513 w 266763"/>
              <a:gd name="connsiteY9" fmla="*/ 14775 h 426808"/>
              <a:gd name="connsiteX10" fmla="*/ 2819 w 266763"/>
              <a:gd name="connsiteY10" fmla="*/ 228163 h 426808"/>
              <a:gd name="connsiteX11" fmla="*/ 14756 w 266763"/>
              <a:gd name="connsiteY11" fmla="*/ 263947 h 426808"/>
              <a:gd name="connsiteX12" fmla="*/ 26692 w 266763"/>
              <a:gd name="connsiteY12" fmla="*/ 266760 h 426808"/>
              <a:gd name="connsiteX13" fmla="*/ 106712 w 266763"/>
              <a:gd name="connsiteY13" fmla="*/ 266760 h 426808"/>
              <a:gd name="connsiteX14" fmla="*/ 69850 w 266763"/>
              <a:gd name="connsiteY14" fmla="*/ 213413 h 426808"/>
              <a:gd name="connsiteX15" fmla="*/ 106712 w 266763"/>
              <a:gd name="connsiteY15" fmla="*/ 139687 h 426808"/>
              <a:gd name="connsiteX16" fmla="*/ 106712 w 266763"/>
              <a:gd name="connsiteY16" fmla="*/ 160066 h 426808"/>
              <a:gd name="connsiteX17" fmla="*/ 133386 w 266763"/>
              <a:gd name="connsiteY17" fmla="*/ 186739 h 426808"/>
              <a:gd name="connsiteX18" fmla="*/ 199029 w 266763"/>
              <a:gd name="connsiteY18" fmla="*/ 186739 h 426808"/>
              <a:gd name="connsiteX19" fmla="*/ 160059 w 266763"/>
              <a:gd name="connsiteY19" fmla="*/ 274442 h 426808"/>
              <a:gd name="connsiteX20" fmla="*/ 160059 w 266763"/>
              <a:gd name="connsiteY20" fmla="*/ 240086 h 426808"/>
              <a:gd name="connsiteX21" fmla="*/ 133386 w 266763"/>
              <a:gd name="connsiteY21" fmla="*/ 213413 h 426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6763" h="426808">
                <a:moveTo>
                  <a:pt x="106712" y="400127"/>
                </a:moveTo>
                <a:cubicBezTo>
                  <a:pt x="106708" y="414859"/>
                  <a:pt x="118647" y="426804"/>
                  <a:pt x="133378" y="426809"/>
                </a:cubicBezTo>
                <a:cubicBezTo>
                  <a:pt x="143926" y="426812"/>
                  <a:pt x="153486" y="420598"/>
                  <a:pt x="157765" y="410957"/>
                </a:cubicBezTo>
                <a:lnTo>
                  <a:pt x="264459" y="170895"/>
                </a:lnTo>
                <a:cubicBezTo>
                  <a:pt x="270440" y="157433"/>
                  <a:pt x="264375" y="141671"/>
                  <a:pt x="250913" y="135690"/>
                </a:cubicBezTo>
                <a:cubicBezTo>
                  <a:pt x="247502" y="134175"/>
                  <a:pt x="243812" y="133392"/>
                  <a:pt x="240080" y="133392"/>
                </a:cubicBezTo>
                <a:lnTo>
                  <a:pt x="160059" y="133392"/>
                </a:lnTo>
                <a:lnTo>
                  <a:pt x="160059" y="26698"/>
                </a:lnTo>
                <a:cubicBezTo>
                  <a:pt x="160073" y="11967"/>
                  <a:pt x="148142" y="14"/>
                  <a:pt x="133411" y="0"/>
                </a:cubicBezTo>
                <a:cubicBezTo>
                  <a:pt x="123286" y="-9"/>
                  <a:pt x="114029" y="5714"/>
                  <a:pt x="109513" y="14775"/>
                </a:cubicBezTo>
                <a:lnTo>
                  <a:pt x="2819" y="228163"/>
                </a:lnTo>
                <a:cubicBezTo>
                  <a:pt x="-3766" y="241341"/>
                  <a:pt x="1579" y="257362"/>
                  <a:pt x="14756" y="263947"/>
                </a:cubicBezTo>
                <a:cubicBezTo>
                  <a:pt x="18462" y="265799"/>
                  <a:pt x="22549" y="266762"/>
                  <a:pt x="26692" y="266760"/>
                </a:cubicBezTo>
                <a:lnTo>
                  <a:pt x="106712" y="266760"/>
                </a:lnTo>
                <a:close/>
                <a:moveTo>
                  <a:pt x="69850" y="213413"/>
                </a:moveTo>
                <a:lnTo>
                  <a:pt x="106712" y="139687"/>
                </a:lnTo>
                <a:lnTo>
                  <a:pt x="106712" y="160066"/>
                </a:lnTo>
                <a:cubicBezTo>
                  <a:pt x="106712" y="174797"/>
                  <a:pt x="118654" y="186739"/>
                  <a:pt x="133386" y="186739"/>
                </a:cubicBezTo>
                <a:lnTo>
                  <a:pt x="199029" y="186739"/>
                </a:lnTo>
                <a:lnTo>
                  <a:pt x="160059" y="274442"/>
                </a:lnTo>
                <a:lnTo>
                  <a:pt x="160059" y="240086"/>
                </a:lnTo>
                <a:cubicBezTo>
                  <a:pt x="160059" y="225355"/>
                  <a:pt x="148117" y="213413"/>
                  <a:pt x="133386" y="213413"/>
                </a:cubicBezTo>
                <a:close/>
              </a:path>
            </a:pathLst>
          </a:custGeom>
          <a:solidFill>
            <a:srgbClr val="FFC000"/>
          </a:solidFill>
          <a:ln w="266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5" name="熊大的PPT宝库49"/>
          <p:cNvSpPr/>
          <p:nvPr/>
        </p:nvSpPr>
        <p:spPr>
          <a:xfrm>
            <a:off x="9798022" y="3301292"/>
            <a:ext cx="11386" cy="11386"/>
          </a:xfrm>
          <a:custGeom>
            <a:avLst/>
            <a:gdLst>
              <a:gd name="connsiteX0" fmla="*/ 0 w 53347"/>
              <a:gd name="connsiteY0" fmla="*/ 0 h 53347"/>
              <a:gd name="connsiteX1" fmla="*/ 53347 w 53347"/>
              <a:gd name="connsiteY1" fmla="*/ 0 h 53347"/>
              <a:gd name="connsiteX2" fmla="*/ 53347 w 53347"/>
              <a:gd name="connsiteY2" fmla="*/ 53347 h 53347"/>
              <a:gd name="connsiteX3" fmla="*/ 0 w 53347"/>
              <a:gd name="connsiteY3" fmla="*/ 53347 h 53347"/>
            </a:gdLst>
            <a:ahLst/>
            <a:cxnLst>
              <a:cxn ang="0">
                <a:pos x="connsiteX0" y="connsiteY0"/>
              </a:cxn>
              <a:cxn ang="0">
                <a:pos x="connsiteX1" y="connsiteY1"/>
              </a:cxn>
              <a:cxn ang="0">
                <a:pos x="connsiteX2" y="connsiteY2"/>
              </a:cxn>
              <a:cxn ang="0">
                <a:pos x="connsiteX3" y="connsiteY3"/>
              </a:cxn>
            </a:cxnLst>
            <a:rect l="l" t="t" r="r" b="b"/>
            <a:pathLst>
              <a:path w="53347" h="53347">
                <a:moveTo>
                  <a:pt x="0" y="0"/>
                </a:moveTo>
                <a:lnTo>
                  <a:pt x="53347" y="0"/>
                </a:lnTo>
                <a:lnTo>
                  <a:pt x="53347" y="53347"/>
                </a:lnTo>
                <a:lnTo>
                  <a:pt x="0" y="53347"/>
                </a:lnTo>
                <a:close/>
              </a:path>
            </a:pathLst>
          </a:custGeom>
          <a:solidFill>
            <a:schemeClr val="bg1"/>
          </a:solidFill>
          <a:ln w="266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6" name="熊大的PPT宝库50"/>
          <p:cNvSpPr/>
          <p:nvPr/>
        </p:nvSpPr>
        <p:spPr>
          <a:xfrm>
            <a:off x="9701240" y="2993868"/>
            <a:ext cx="159405" cy="102475"/>
          </a:xfrm>
          <a:custGeom>
            <a:avLst/>
            <a:gdLst>
              <a:gd name="connsiteX0" fmla="*/ 666838 w 746858"/>
              <a:gd name="connsiteY0" fmla="*/ 0 h 480123"/>
              <a:gd name="connsiteX1" fmla="*/ 80021 w 746858"/>
              <a:gd name="connsiteY1" fmla="*/ 0 h 480123"/>
              <a:gd name="connsiteX2" fmla="*/ 0 w 746858"/>
              <a:gd name="connsiteY2" fmla="*/ 80021 h 480123"/>
              <a:gd name="connsiteX3" fmla="*/ 0 w 746858"/>
              <a:gd name="connsiteY3" fmla="*/ 400103 h 480123"/>
              <a:gd name="connsiteX4" fmla="*/ 80021 w 746858"/>
              <a:gd name="connsiteY4" fmla="*/ 480123 h 480123"/>
              <a:gd name="connsiteX5" fmla="*/ 666838 w 746858"/>
              <a:gd name="connsiteY5" fmla="*/ 480123 h 480123"/>
              <a:gd name="connsiteX6" fmla="*/ 746858 w 746858"/>
              <a:gd name="connsiteY6" fmla="*/ 400103 h 480123"/>
              <a:gd name="connsiteX7" fmla="*/ 746858 w 746858"/>
              <a:gd name="connsiteY7" fmla="*/ 80021 h 480123"/>
              <a:gd name="connsiteX8" fmla="*/ 666838 w 746858"/>
              <a:gd name="connsiteY8" fmla="*/ 0 h 480123"/>
              <a:gd name="connsiteX9" fmla="*/ 693511 w 746858"/>
              <a:gd name="connsiteY9" fmla="*/ 400103 h 480123"/>
              <a:gd name="connsiteX10" fmla="*/ 666838 w 746858"/>
              <a:gd name="connsiteY10" fmla="*/ 426776 h 480123"/>
              <a:gd name="connsiteX11" fmla="*/ 80021 w 746858"/>
              <a:gd name="connsiteY11" fmla="*/ 426776 h 480123"/>
              <a:gd name="connsiteX12" fmla="*/ 53347 w 746858"/>
              <a:gd name="connsiteY12" fmla="*/ 400103 h 480123"/>
              <a:gd name="connsiteX13" fmla="*/ 53347 w 746858"/>
              <a:gd name="connsiteY13" fmla="*/ 80021 h 480123"/>
              <a:gd name="connsiteX14" fmla="*/ 80021 w 746858"/>
              <a:gd name="connsiteY14" fmla="*/ 53347 h 480123"/>
              <a:gd name="connsiteX15" fmla="*/ 666838 w 746858"/>
              <a:gd name="connsiteY15" fmla="*/ 53347 h 480123"/>
              <a:gd name="connsiteX16" fmla="*/ 693511 w 746858"/>
              <a:gd name="connsiteY16" fmla="*/ 80021 h 480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6858" h="480123">
                <a:moveTo>
                  <a:pt x="666838" y="0"/>
                </a:moveTo>
                <a:lnTo>
                  <a:pt x="80021" y="0"/>
                </a:lnTo>
                <a:cubicBezTo>
                  <a:pt x="35826" y="0"/>
                  <a:pt x="0" y="35826"/>
                  <a:pt x="0" y="80021"/>
                </a:cubicBezTo>
                <a:lnTo>
                  <a:pt x="0" y="400103"/>
                </a:lnTo>
                <a:cubicBezTo>
                  <a:pt x="0" y="444297"/>
                  <a:pt x="35826" y="480123"/>
                  <a:pt x="80021" y="480123"/>
                </a:cubicBezTo>
                <a:lnTo>
                  <a:pt x="666838" y="480123"/>
                </a:lnTo>
                <a:cubicBezTo>
                  <a:pt x="711032" y="480123"/>
                  <a:pt x="746858" y="444297"/>
                  <a:pt x="746858" y="400103"/>
                </a:cubicBezTo>
                <a:lnTo>
                  <a:pt x="746858" y="80021"/>
                </a:lnTo>
                <a:cubicBezTo>
                  <a:pt x="746858" y="35826"/>
                  <a:pt x="711032" y="0"/>
                  <a:pt x="666838" y="0"/>
                </a:cubicBezTo>
                <a:close/>
                <a:moveTo>
                  <a:pt x="693511" y="400103"/>
                </a:moveTo>
                <a:cubicBezTo>
                  <a:pt x="693511" y="414834"/>
                  <a:pt x="681569" y="426776"/>
                  <a:pt x="666838" y="426776"/>
                </a:cubicBezTo>
                <a:lnTo>
                  <a:pt x="80021" y="426776"/>
                </a:lnTo>
                <a:cubicBezTo>
                  <a:pt x="65289" y="426776"/>
                  <a:pt x="53347" y="414834"/>
                  <a:pt x="53347" y="400103"/>
                </a:cubicBezTo>
                <a:lnTo>
                  <a:pt x="53347" y="80021"/>
                </a:lnTo>
                <a:cubicBezTo>
                  <a:pt x="53347" y="65289"/>
                  <a:pt x="65289" y="53347"/>
                  <a:pt x="80021" y="53347"/>
                </a:cubicBezTo>
                <a:lnTo>
                  <a:pt x="666838" y="53347"/>
                </a:lnTo>
                <a:cubicBezTo>
                  <a:pt x="681569" y="53347"/>
                  <a:pt x="693511" y="65289"/>
                  <a:pt x="693511" y="80021"/>
                </a:cubicBezTo>
                <a:close/>
              </a:path>
            </a:pathLst>
          </a:custGeom>
          <a:solidFill>
            <a:schemeClr val="bg1"/>
          </a:solidFill>
          <a:ln w="266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7" name="熊大的PPT宝库51"/>
          <p:cNvSpPr/>
          <p:nvPr/>
        </p:nvSpPr>
        <p:spPr>
          <a:xfrm>
            <a:off x="9746784" y="3016640"/>
            <a:ext cx="91089" cy="11386"/>
          </a:xfrm>
          <a:custGeom>
            <a:avLst/>
            <a:gdLst>
              <a:gd name="connsiteX0" fmla="*/ 0 w 426776"/>
              <a:gd name="connsiteY0" fmla="*/ 0 h 53347"/>
              <a:gd name="connsiteX1" fmla="*/ 426776 w 426776"/>
              <a:gd name="connsiteY1" fmla="*/ 0 h 53347"/>
              <a:gd name="connsiteX2" fmla="*/ 426776 w 426776"/>
              <a:gd name="connsiteY2" fmla="*/ 53347 h 53347"/>
              <a:gd name="connsiteX3" fmla="*/ 0 w 426776"/>
              <a:gd name="connsiteY3" fmla="*/ 53347 h 53347"/>
            </a:gdLst>
            <a:ahLst/>
            <a:cxnLst>
              <a:cxn ang="0">
                <a:pos x="connsiteX0" y="connsiteY0"/>
              </a:cxn>
              <a:cxn ang="0">
                <a:pos x="connsiteX1" y="connsiteY1"/>
              </a:cxn>
              <a:cxn ang="0">
                <a:pos x="connsiteX2" y="connsiteY2"/>
              </a:cxn>
              <a:cxn ang="0">
                <a:pos x="connsiteX3" y="connsiteY3"/>
              </a:cxn>
            </a:cxnLst>
            <a:rect l="l" t="t" r="r" b="b"/>
            <a:pathLst>
              <a:path w="426776" h="53347">
                <a:moveTo>
                  <a:pt x="0" y="0"/>
                </a:moveTo>
                <a:lnTo>
                  <a:pt x="426776" y="0"/>
                </a:lnTo>
                <a:lnTo>
                  <a:pt x="426776" y="53347"/>
                </a:lnTo>
                <a:lnTo>
                  <a:pt x="0" y="53347"/>
                </a:lnTo>
                <a:close/>
              </a:path>
            </a:pathLst>
          </a:custGeom>
          <a:solidFill>
            <a:srgbClr val="FFC000"/>
          </a:solidFill>
          <a:ln w="266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8" name="熊大的PPT宝库52"/>
          <p:cNvSpPr/>
          <p:nvPr/>
        </p:nvSpPr>
        <p:spPr>
          <a:xfrm>
            <a:off x="9746784" y="3039412"/>
            <a:ext cx="91089" cy="11386"/>
          </a:xfrm>
          <a:custGeom>
            <a:avLst/>
            <a:gdLst>
              <a:gd name="connsiteX0" fmla="*/ 0 w 426776"/>
              <a:gd name="connsiteY0" fmla="*/ 0 h 53347"/>
              <a:gd name="connsiteX1" fmla="*/ 426776 w 426776"/>
              <a:gd name="connsiteY1" fmla="*/ 0 h 53347"/>
              <a:gd name="connsiteX2" fmla="*/ 426776 w 426776"/>
              <a:gd name="connsiteY2" fmla="*/ 53347 h 53347"/>
              <a:gd name="connsiteX3" fmla="*/ 0 w 426776"/>
              <a:gd name="connsiteY3" fmla="*/ 53347 h 53347"/>
            </a:gdLst>
            <a:ahLst/>
            <a:cxnLst>
              <a:cxn ang="0">
                <a:pos x="connsiteX0" y="connsiteY0"/>
              </a:cxn>
              <a:cxn ang="0">
                <a:pos x="connsiteX1" y="connsiteY1"/>
              </a:cxn>
              <a:cxn ang="0">
                <a:pos x="connsiteX2" y="connsiteY2"/>
              </a:cxn>
              <a:cxn ang="0">
                <a:pos x="connsiteX3" y="connsiteY3"/>
              </a:cxn>
            </a:cxnLst>
            <a:rect l="l" t="t" r="r" b="b"/>
            <a:pathLst>
              <a:path w="426776" h="53347">
                <a:moveTo>
                  <a:pt x="0" y="0"/>
                </a:moveTo>
                <a:lnTo>
                  <a:pt x="426776" y="0"/>
                </a:lnTo>
                <a:lnTo>
                  <a:pt x="426776" y="53347"/>
                </a:lnTo>
                <a:lnTo>
                  <a:pt x="0" y="53347"/>
                </a:lnTo>
                <a:close/>
              </a:path>
            </a:pathLst>
          </a:custGeom>
          <a:solidFill>
            <a:srgbClr val="FFC000"/>
          </a:solidFill>
          <a:ln w="266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9" name="熊大的PPT宝库53"/>
          <p:cNvSpPr/>
          <p:nvPr/>
        </p:nvSpPr>
        <p:spPr>
          <a:xfrm>
            <a:off x="9746784" y="3062184"/>
            <a:ext cx="91089" cy="11386"/>
          </a:xfrm>
          <a:custGeom>
            <a:avLst/>
            <a:gdLst>
              <a:gd name="connsiteX0" fmla="*/ 0 w 426776"/>
              <a:gd name="connsiteY0" fmla="*/ 0 h 53347"/>
              <a:gd name="connsiteX1" fmla="*/ 426776 w 426776"/>
              <a:gd name="connsiteY1" fmla="*/ 0 h 53347"/>
              <a:gd name="connsiteX2" fmla="*/ 426776 w 426776"/>
              <a:gd name="connsiteY2" fmla="*/ 53347 h 53347"/>
              <a:gd name="connsiteX3" fmla="*/ 0 w 426776"/>
              <a:gd name="connsiteY3" fmla="*/ 53347 h 53347"/>
            </a:gdLst>
            <a:ahLst/>
            <a:cxnLst>
              <a:cxn ang="0">
                <a:pos x="connsiteX0" y="connsiteY0"/>
              </a:cxn>
              <a:cxn ang="0">
                <a:pos x="connsiteX1" y="connsiteY1"/>
              </a:cxn>
              <a:cxn ang="0">
                <a:pos x="connsiteX2" y="connsiteY2"/>
              </a:cxn>
              <a:cxn ang="0">
                <a:pos x="connsiteX3" y="connsiteY3"/>
              </a:cxn>
            </a:cxnLst>
            <a:rect l="l" t="t" r="r" b="b"/>
            <a:pathLst>
              <a:path w="426776" h="53347">
                <a:moveTo>
                  <a:pt x="0" y="0"/>
                </a:moveTo>
                <a:lnTo>
                  <a:pt x="426776" y="0"/>
                </a:lnTo>
                <a:lnTo>
                  <a:pt x="426776" y="53347"/>
                </a:lnTo>
                <a:lnTo>
                  <a:pt x="0" y="53347"/>
                </a:lnTo>
                <a:close/>
              </a:path>
            </a:pathLst>
          </a:custGeom>
          <a:solidFill>
            <a:srgbClr val="FFC000"/>
          </a:solidFill>
          <a:ln w="266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90" name="熊大的PPT宝库54"/>
          <p:cNvSpPr/>
          <p:nvPr/>
        </p:nvSpPr>
        <p:spPr>
          <a:xfrm>
            <a:off x="9724012" y="3016640"/>
            <a:ext cx="11386" cy="11386"/>
          </a:xfrm>
          <a:custGeom>
            <a:avLst/>
            <a:gdLst>
              <a:gd name="connsiteX0" fmla="*/ 0 w 53347"/>
              <a:gd name="connsiteY0" fmla="*/ 0 h 53347"/>
              <a:gd name="connsiteX1" fmla="*/ 53347 w 53347"/>
              <a:gd name="connsiteY1" fmla="*/ 0 h 53347"/>
              <a:gd name="connsiteX2" fmla="*/ 53347 w 53347"/>
              <a:gd name="connsiteY2" fmla="*/ 53347 h 53347"/>
              <a:gd name="connsiteX3" fmla="*/ 0 w 53347"/>
              <a:gd name="connsiteY3" fmla="*/ 53347 h 53347"/>
            </a:gdLst>
            <a:ahLst/>
            <a:cxnLst>
              <a:cxn ang="0">
                <a:pos x="connsiteX0" y="connsiteY0"/>
              </a:cxn>
              <a:cxn ang="0">
                <a:pos x="connsiteX1" y="connsiteY1"/>
              </a:cxn>
              <a:cxn ang="0">
                <a:pos x="connsiteX2" y="connsiteY2"/>
              </a:cxn>
              <a:cxn ang="0">
                <a:pos x="connsiteX3" y="connsiteY3"/>
              </a:cxn>
            </a:cxnLst>
            <a:rect l="l" t="t" r="r" b="b"/>
            <a:pathLst>
              <a:path w="53347" h="53347">
                <a:moveTo>
                  <a:pt x="0" y="0"/>
                </a:moveTo>
                <a:lnTo>
                  <a:pt x="53347" y="0"/>
                </a:lnTo>
                <a:lnTo>
                  <a:pt x="53347" y="53347"/>
                </a:lnTo>
                <a:lnTo>
                  <a:pt x="0" y="53347"/>
                </a:lnTo>
                <a:close/>
              </a:path>
            </a:pathLst>
          </a:custGeom>
          <a:solidFill>
            <a:srgbClr val="FFC000"/>
          </a:solidFill>
          <a:ln w="266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91" name="熊大的PPT宝库55"/>
          <p:cNvSpPr/>
          <p:nvPr/>
        </p:nvSpPr>
        <p:spPr>
          <a:xfrm>
            <a:off x="9724012" y="3039412"/>
            <a:ext cx="11386" cy="11386"/>
          </a:xfrm>
          <a:custGeom>
            <a:avLst/>
            <a:gdLst>
              <a:gd name="connsiteX0" fmla="*/ 0 w 53347"/>
              <a:gd name="connsiteY0" fmla="*/ 0 h 53347"/>
              <a:gd name="connsiteX1" fmla="*/ 53347 w 53347"/>
              <a:gd name="connsiteY1" fmla="*/ 0 h 53347"/>
              <a:gd name="connsiteX2" fmla="*/ 53347 w 53347"/>
              <a:gd name="connsiteY2" fmla="*/ 53347 h 53347"/>
              <a:gd name="connsiteX3" fmla="*/ 0 w 53347"/>
              <a:gd name="connsiteY3" fmla="*/ 53347 h 53347"/>
            </a:gdLst>
            <a:ahLst/>
            <a:cxnLst>
              <a:cxn ang="0">
                <a:pos x="connsiteX0" y="connsiteY0"/>
              </a:cxn>
              <a:cxn ang="0">
                <a:pos x="connsiteX1" y="connsiteY1"/>
              </a:cxn>
              <a:cxn ang="0">
                <a:pos x="connsiteX2" y="connsiteY2"/>
              </a:cxn>
              <a:cxn ang="0">
                <a:pos x="connsiteX3" y="connsiteY3"/>
              </a:cxn>
            </a:cxnLst>
            <a:rect l="l" t="t" r="r" b="b"/>
            <a:pathLst>
              <a:path w="53347" h="53347">
                <a:moveTo>
                  <a:pt x="0" y="0"/>
                </a:moveTo>
                <a:lnTo>
                  <a:pt x="53347" y="0"/>
                </a:lnTo>
                <a:lnTo>
                  <a:pt x="53347" y="53347"/>
                </a:lnTo>
                <a:lnTo>
                  <a:pt x="0" y="53347"/>
                </a:lnTo>
                <a:close/>
              </a:path>
            </a:pathLst>
          </a:custGeom>
          <a:solidFill>
            <a:srgbClr val="FFC000"/>
          </a:solidFill>
          <a:ln w="266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92" name="熊大的PPT宝库56"/>
          <p:cNvSpPr/>
          <p:nvPr/>
        </p:nvSpPr>
        <p:spPr>
          <a:xfrm>
            <a:off x="9724012" y="3062184"/>
            <a:ext cx="11386" cy="11386"/>
          </a:xfrm>
          <a:custGeom>
            <a:avLst/>
            <a:gdLst>
              <a:gd name="connsiteX0" fmla="*/ 0 w 53347"/>
              <a:gd name="connsiteY0" fmla="*/ 0 h 53347"/>
              <a:gd name="connsiteX1" fmla="*/ 53347 w 53347"/>
              <a:gd name="connsiteY1" fmla="*/ 0 h 53347"/>
              <a:gd name="connsiteX2" fmla="*/ 53347 w 53347"/>
              <a:gd name="connsiteY2" fmla="*/ 53347 h 53347"/>
              <a:gd name="connsiteX3" fmla="*/ 0 w 53347"/>
              <a:gd name="connsiteY3" fmla="*/ 53347 h 53347"/>
            </a:gdLst>
            <a:ahLst/>
            <a:cxnLst>
              <a:cxn ang="0">
                <a:pos x="connsiteX0" y="connsiteY0"/>
              </a:cxn>
              <a:cxn ang="0">
                <a:pos x="connsiteX1" y="connsiteY1"/>
              </a:cxn>
              <a:cxn ang="0">
                <a:pos x="connsiteX2" y="connsiteY2"/>
              </a:cxn>
              <a:cxn ang="0">
                <a:pos x="connsiteX3" y="connsiteY3"/>
              </a:cxn>
            </a:cxnLst>
            <a:rect l="l" t="t" r="r" b="b"/>
            <a:pathLst>
              <a:path w="53347" h="53347">
                <a:moveTo>
                  <a:pt x="0" y="0"/>
                </a:moveTo>
                <a:lnTo>
                  <a:pt x="53347" y="0"/>
                </a:lnTo>
                <a:lnTo>
                  <a:pt x="53347" y="53347"/>
                </a:lnTo>
                <a:lnTo>
                  <a:pt x="0" y="53347"/>
                </a:lnTo>
                <a:close/>
              </a:path>
            </a:pathLst>
          </a:custGeom>
          <a:solidFill>
            <a:srgbClr val="FFC000"/>
          </a:solidFill>
          <a:ln w="266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94" name="熊大的PPT宝库57"/>
          <p:cNvSpPr/>
          <p:nvPr/>
        </p:nvSpPr>
        <p:spPr>
          <a:xfrm>
            <a:off x="3165643" y="3031231"/>
            <a:ext cx="65391" cy="102858"/>
          </a:xfrm>
          <a:custGeom>
            <a:avLst/>
            <a:gdLst>
              <a:gd name="connsiteX0" fmla="*/ 53502 w 325655"/>
              <a:gd name="connsiteY0" fmla="*/ 312971 h 512246"/>
              <a:gd name="connsiteX1" fmla="*/ 91172 w 325655"/>
              <a:gd name="connsiteY1" fmla="*/ 312971 h 512246"/>
              <a:gd name="connsiteX2" fmla="*/ 43771 w 325655"/>
              <a:gd name="connsiteY2" fmla="*/ 449340 h 512246"/>
              <a:gd name="connsiteX3" fmla="*/ 65366 w 325655"/>
              <a:gd name="connsiteY3" fmla="*/ 506243 h 512246"/>
              <a:gd name="connsiteX4" fmla="*/ 88326 w 325655"/>
              <a:gd name="connsiteY4" fmla="*/ 512246 h 512246"/>
              <a:gd name="connsiteX5" fmla="*/ 124716 w 325655"/>
              <a:gd name="connsiteY5" fmla="*/ 494208 h 512246"/>
              <a:gd name="connsiteX6" fmla="*/ 314375 w 325655"/>
              <a:gd name="connsiteY6" fmla="*/ 257091 h 512246"/>
              <a:gd name="connsiteX7" fmla="*/ 304997 w 325655"/>
              <a:gd name="connsiteY7" fmla="*/ 181989 h 512246"/>
              <a:gd name="connsiteX8" fmla="*/ 272182 w 325655"/>
              <a:gd name="connsiteY8" fmla="*/ 170712 h 512246"/>
              <a:gd name="connsiteX9" fmla="*/ 250046 w 325655"/>
              <a:gd name="connsiteY9" fmla="*/ 170712 h 512246"/>
              <a:gd name="connsiteX10" fmla="*/ 304787 w 325655"/>
              <a:gd name="connsiteY10" fmla="*/ 81857 h 512246"/>
              <a:gd name="connsiteX11" fmla="*/ 287726 w 325655"/>
              <a:gd name="connsiteY11" fmla="*/ 8120 h 512246"/>
              <a:gd name="connsiteX12" fmla="*/ 259350 w 325655"/>
              <a:gd name="connsiteY12" fmla="*/ 1 h 512246"/>
              <a:gd name="connsiteX13" fmla="*/ 135130 w 325655"/>
              <a:gd name="connsiteY13" fmla="*/ 1 h 512246"/>
              <a:gd name="connsiteX14" fmla="*/ 84884 w 325655"/>
              <a:gd name="connsiteY14" fmla="*/ 35111 h 512246"/>
              <a:gd name="connsiteX15" fmla="*/ 2772 w 325655"/>
              <a:gd name="connsiteY15" fmla="*/ 242496 h 512246"/>
              <a:gd name="connsiteX16" fmla="*/ 36575 w 325655"/>
              <a:gd name="connsiteY16" fmla="*/ 310213 h 512246"/>
              <a:gd name="connsiteX17" fmla="*/ 53502 w 325655"/>
              <a:gd name="connsiteY17" fmla="*/ 312971 h 512246"/>
              <a:gd name="connsiteX18" fmla="*/ 137377 w 325655"/>
              <a:gd name="connsiteY18" fmla="*/ 56905 h 512246"/>
              <a:gd name="connsiteX19" fmla="*/ 253318 w 325655"/>
              <a:gd name="connsiteY19" fmla="*/ 56905 h 512246"/>
              <a:gd name="connsiteX20" fmla="*/ 174962 w 325655"/>
              <a:gd name="connsiteY20" fmla="*/ 184255 h 512246"/>
              <a:gd name="connsiteX21" fmla="*/ 184286 w 325655"/>
              <a:gd name="connsiteY21" fmla="*/ 223397 h 512246"/>
              <a:gd name="connsiteX22" fmla="*/ 199117 w 325655"/>
              <a:gd name="connsiteY22" fmla="*/ 227615 h 512246"/>
              <a:gd name="connsiteX23" fmla="*/ 265126 w 325655"/>
              <a:gd name="connsiteY23" fmla="*/ 227615 h 512246"/>
              <a:gd name="connsiteX24" fmla="*/ 116522 w 325655"/>
              <a:gd name="connsiteY24" fmla="*/ 413348 h 512246"/>
              <a:gd name="connsiteX25" fmla="*/ 158033 w 325655"/>
              <a:gd name="connsiteY25" fmla="*/ 293851 h 512246"/>
              <a:gd name="connsiteX26" fmla="*/ 140488 w 325655"/>
              <a:gd name="connsiteY26" fmla="*/ 257641 h 512246"/>
              <a:gd name="connsiteX27" fmla="*/ 131175 w 325655"/>
              <a:gd name="connsiteY27" fmla="*/ 256067 h 512246"/>
              <a:gd name="connsiteX28" fmla="*/ 58481 w 325655"/>
              <a:gd name="connsiteY28" fmla="*/ 256067 h 512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655" h="512246">
                <a:moveTo>
                  <a:pt x="53502" y="312971"/>
                </a:moveTo>
                <a:lnTo>
                  <a:pt x="91172" y="312971"/>
                </a:lnTo>
                <a:lnTo>
                  <a:pt x="43771" y="449340"/>
                </a:lnTo>
                <a:cubicBezTo>
                  <a:pt x="35669" y="471039"/>
                  <a:pt x="44907" y="495382"/>
                  <a:pt x="65366" y="506243"/>
                </a:cubicBezTo>
                <a:cubicBezTo>
                  <a:pt x="72392" y="510146"/>
                  <a:pt x="80289" y="512211"/>
                  <a:pt x="88326" y="512246"/>
                </a:cubicBezTo>
                <a:cubicBezTo>
                  <a:pt x="102597" y="512199"/>
                  <a:pt x="116038" y="505536"/>
                  <a:pt x="124716" y="494208"/>
                </a:cubicBezTo>
                <a:lnTo>
                  <a:pt x="314375" y="257091"/>
                </a:lnTo>
                <a:cubicBezTo>
                  <a:pt x="332525" y="233763"/>
                  <a:pt x="328326" y="200138"/>
                  <a:pt x="304997" y="181989"/>
                </a:cubicBezTo>
                <a:cubicBezTo>
                  <a:pt x="295614" y="174690"/>
                  <a:pt x="284069" y="170722"/>
                  <a:pt x="272182" y="170712"/>
                </a:cubicBezTo>
                <a:lnTo>
                  <a:pt x="250046" y="170712"/>
                </a:lnTo>
                <a:lnTo>
                  <a:pt x="304787" y="81857"/>
                </a:lnTo>
                <a:cubicBezTo>
                  <a:pt x="320438" y="56784"/>
                  <a:pt x="312799" y="23770"/>
                  <a:pt x="287726" y="8120"/>
                </a:cubicBezTo>
                <a:cubicBezTo>
                  <a:pt x="279215" y="2807"/>
                  <a:pt x="269382" y="-6"/>
                  <a:pt x="259350" y="1"/>
                </a:cubicBezTo>
                <a:lnTo>
                  <a:pt x="135130" y="1"/>
                </a:lnTo>
                <a:cubicBezTo>
                  <a:pt x="112621" y="-165"/>
                  <a:pt x="92467" y="13917"/>
                  <a:pt x="84884" y="35111"/>
                </a:cubicBezTo>
                <a:lnTo>
                  <a:pt x="2772" y="242496"/>
                </a:lnTo>
                <a:cubicBezTo>
                  <a:pt x="-6593" y="270530"/>
                  <a:pt x="8541" y="300848"/>
                  <a:pt x="36575" y="310213"/>
                </a:cubicBezTo>
                <a:cubicBezTo>
                  <a:pt x="42032" y="312036"/>
                  <a:pt x="47748" y="312967"/>
                  <a:pt x="53502" y="312971"/>
                </a:cubicBezTo>
                <a:close/>
                <a:moveTo>
                  <a:pt x="137377" y="56905"/>
                </a:moveTo>
                <a:lnTo>
                  <a:pt x="253318" y="56905"/>
                </a:lnTo>
                <a:lnTo>
                  <a:pt x="174962" y="184255"/>
                </a:lnTo>
                <a:cubicBezTo>
                  <a:pt x="166728" y="197638"/>
                  <a:pt x="170903" y="215163"/>
                  <a:pt x="184286" y="223397"/>
                </a:cubicBezTo>
                <a:cubicBezTo>
                  <a:pt x="188747" y="226141"/>
                  <a:pt x="193880" y="227601"/>
                  <a:pt x="199117" y="227615"/>
                </a:cubicBezTo>
                <a:lnTo>
                  <a:pt x="265126" y="227615"/>
                </a:lnTo>
                <a:lnTo>
                  <a:pt x="116522" y="413348"/>
                </a:lnTo>
                <a:lnTo>
                  <a:pt x="158033" y="293851"/>
                </a:lnTo>
                <a:cubicBezTo>
                  <a:pt x="163187" y="279007"/>
                  <a:pt x="155332" y="262795"/>
                  <a:pt x="140488" y="257641"/>
                </a:cubicBezTo>
                <a:cubicBezTo>
                  <a:pt x="137493" y="256601"/>
                  <a:pt x="134345" y="256069"/>
                  <a:pt x="131175" y="256067"/>
                </a:cubicBezTo>
                <a:lnTo>
                  <a:pt x="58481" y="256067"/>
                </a:lnTo>
                <a:close/>
              </a:path>
            </a:pathLst>
          </a:custGeom>
          <a:solidFill>
            <a:srgbClr val="FFC000"/>
          </a:solidFill>
          <a:ln w="284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95" name="熊大的PPT宝库58"/>
          <p:cNvSpPr/>
          <p:nvPr/>
        </p:nvSpPr>
        <p:spPr>
          <a:xfrm>
            <a:off x="2991106" y="3088362"/>
            <a:ext cx="108548" cy="34278"/>
          </a:xfrm>
          <a:custGeom>
            <a:avLst/>
            <a:gdLst>
              <a:gd name="connsiteX0" fmla="*/ 56903 w 540582"/>
              <a:gd name="connsiteY0" fmla="*/ 170710 h 170710"/>
              <a:gd name="connsiteX1" fmla="*/ 483679 w 540582"/>
              <a:gd name="connsiteY1" fmla="*/ 170710 h 170710"/>
              <a:gd name="connsiteX2" fmla="*/ 540583 w 540582"/>
              <a:gd name="connsiteY2" fmla="*/ 113807 h 170710"/>
              <a:gd name="connsiteX3" fmla="*/ 540583 w 540582"/>
              <a:gd name="connsiteY3" fmla="*/ 56903 h 170710"/>
              <a:gd name="connsiteX4" fmla="*/ 483679 w 540582"/>
              <a:gd name="connsiteY4" fmla="*/ 0 h 170710"/>
              <a:gd name="connsiteX5" fmla="*/ 56903 w 540582"/>
              <a:gd name="connsiteY5" fmla="*/ 0 h 170710"/>
              <a:gd name="connsiteX6" fmla="*/ 0 w 540582"/>
              <a:gd name="connsiteY6" fmla="*/ 56903 h 170710"/>
              <a:gd name="connsiteX7" fmla="*/ 0 w 540582"/>
              <a:gd name="connsiteY7" fmla="*/ 113807 h 170710"/>
              <a:gd name="connsiteX8" fmla="*/ 56903 w 540582"/>
              <a:gd name="connsiteY8" fmla="*/ 170710 h 170710"/>
              <a:gd name="connsiteX9" fmla="*/ 56903 w 540582"/>
              <a:gd name="connsiteY9" fmla="*/ 56903 h 170710"/>
              <a:gd name="connsiteX10" fmla="*/ 483679 w 540582"/>
              <a:gd name="connsiteY10" fmla="*/ 56903 h 170710"/>
              <a:gd name="connsiteX11" fmla="*/ 483679 w 540582"/>
              <a:gd name="connsiteY11" fmla="*/ 113807 h 170710"/>
              <a:gd name="connsiteX12" fmla="*/ 56903 w 540582"/>
              <a:gd name="connsiteY12" fmla="*/ 113807 h 17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0582" h="170710">
                <a:moveTo>
                  <a:pt x="56903" y="170710"/>
                </a:moveTo>
                <a:lnTo>
                  <a:pt x="483679" y="170710"/>
                </a:lnTo>
                <a:cubicBezTo>
                  <a:pt x="515106" y="170710"/>
                  <a:pt x="540583" y="145234"/>
                  <a:pt x="540583" y="113807"/>
                </a:cubicBezTo>
                <a:lnTo>
                  <a:pt x="540583" y="56903"/>
                </a:lnTo>
                <a:cubicBezTo>
                  <a:pt x="540583" y="25477"/>
                  <a:pt x="515106" y="0"/>
                  <a:pt x="483679" y="0"/>
                </a:cubicBezTo>
                <a:lnTo>
                  <a:pt x="56903" y="0"/>
                </a:lnTo>
                <a:cubicBezTo>
                  <a:pt x="25477" y="0"/>
                  <a:pt x="0" y="25477"/>
                  <a:pt x="0" y="56903"/>
                </a:cubicBezTo>
                <a:lnTo>
                  <a:pt x="0" y="113807"/>
                </a:lnTo>
                <a:cubicBezTo>
                  <a:pt x="0" y="145234"/>
                  <a:pt x="25477" y="170710"/>
                  <a:pt x="56903" y="170710"/>
                </a:cubicBezTo>
                <a:close/>
                <a:moveTo>
                  <a:pt x="56903" y="56903"/>
                </a:moveTo>
                <a:lnTo>
                  <a:pt x="483679" y="56903"/>
                </a:lnTo>
                <a:lnTo>
                  <a:pt x="483679" y="113807"/>
                </a:lnTo>
                <a:lnTo>
                  <a:pt x="56903" y="113807"/>
                </a:lnTo>
                <a:close/>
              </a:path>
            </a:pathLst>
          </a:custGeom>
          <a:solidFill>
            <a:srgbClr val="FFC000"/>
          </a:solidFill>
          <a:ln w="284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96" name="熊大的PPT宝库59"/>
          <p:cNvSpPr/>
          <p:nvPr/>
        </p:nvSpPr>
        <p:spPr>
          <a:xfrm>
            <a:off x="2991106" y="3145493"/>
            <a:ext cx="142826" cy="34278"/>
          </a:xfrm>
          <a:custGeom>
            <a:avLst/>
            <a:gdLst>
              <a:gd name="connsiteX0" fmla="*/ 56903 w 711293"/>
              <a:gd name="connsiteY0" fmla="*/ 170710 h 170710"/>
              <a:gd name="connsiteX1" fmla="*/ 654390 w 711293"/>
              <a:gd name="connsiteY1" fmla="*/ 170710 h 170710"/>
              <a:gd name="connsiteX2" fmla="*/ 711293 w 711293"/>
              <a:gd name="connsiteY2" fmla="*/ 113807 h 170710"/>
              <a:gd name="connsiteX3" fmla="*/ 711293 w 711293"/>
              <a:gd name="connsiteY3" fmla="*/ 56903 h 170710"/>
              <a:gd name="connsiteX4" fmla="*/ 654390 w 711293"/>
              <a:gd name="connsiteY4" fmla="*/ 0 h 170710"/>
              <a:gd name="connsiteX5" fmla="*/ 56903 w 711293"/>
              <a:gd name="connsiteY5" fmla="*/ 0 h 170710"/>
              <a:gd name="connsiteX6" fmla="*/ 0 w 711293"/>
              <a:gd name="connsiteY6" fmla="*/ 56903 h 170710"/>
              <a:gd name="connsiteX7" fmla="*/ 0 w 711293"/>
              <a:gd name="connsiteY7" fmla="*/ 113807 h 170710"/>
              <a:gd name="connsiteX8" fmla="*/ 56903 w 711293"/>
              <a:gd name="connsiteY8" fmla="*/ 170710 h 170710"/>
              <a:gd name="connsiteX9" fmla="*/ 56903 w 711293"/>
              <a:gd name="connsiteY9" fmla="*/ 56903 h 170710"/>
              <a:gd name="connsiteX10" fmla="*/ 654390 w 711293"/>
              <a:gd name="connsiteY10" fmla="*/ 56903 h 170710"/>
              <a:gd name="connsiteX11" fmla="*/ 654390 w 711293"/>
              <a:gd name="connsiteY11" fmla="*/ 113807 h 170710"/>
              <a:gd name="connsiteX12" fmla="*/ 56903 w 711293"/>
              <a:gd name="connsiteY12" fmla="*/ 113807 h 17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1293" h="170710">
                <a:moveTo>
                  <a:pt x="56903" y="170710"/>
                </a:moveTo>
                <a:lnTo>
                  <a:pt x="654390" y="170710"/>
                </a:lnTo>
                <a:cubicBezTo>
                  <a:pt x="685817" y="170710"/>
                  <a:pt x="711293" y="145234"/>
                  <a:pt x="711293" y="113807"/>
                </a:cubicBezTo>
                <a:lnTo>
                  <a:pt x="711293" y="56903"/>
                </a:lnTo>
                <a:cubicBezTo>
                  <a:pt x="711293" y="25477"/>
                  <a:pt x="685817" y="0"/>
                  <a:pt x="654390" y="0"/>
                </a:cubicBezTo>
                <a:lnTo>
                  <a:pt x="56903" y="0"/>
                </a:lnTo>
                <a:cubicBezTo>
                  <a:pt x="25477" y="0"/>
                  <a:pt x="0" y="25477"/>
                  <a:pt x="0" y="56903"/>
                </a:cubicBezTo>
                <a:lnTo>
                  <a:pt x="0" y="113807"/>
                </a:lnTo>
                <a:cubicBezTo>
                  <a:pt x="0" y="145234"/>
                  <a:pt x="25477" y="170710"/>
                  <a:pt x="56903" y="170710"/>
                </a:cubicBezTo>
                <a:close/>
                <a:moveTo>
                  <a:pt x="56903" y="56903"/>
                </a:moveTo>
                <a:lnTo>
                  <a:pt x="654390" y="56903"/>
                </a:lnTo>
                <a:lnTo>
                  <a:pt x="654390" y="113807"/>
                </a:lnTo>
                <a:lnTo>
                  <a:pt x="56903" y="113807"/>
                </a:lnTo>
                <a:close/>
              </a:path>
            </a:pathLst>
          </a:custGeom>
          <a:solidFill>
            <a:srgbClr val="FFC000"/>
          </a:solidFill>
          <a:ln w="284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grpSp>
        <p:nvGrpSpPr>
          <p:cNvPr id="197" name="熊大的PPT宝库60"/>
          <p:cNvGrpSpPr/>
          <p:nvPr/>
        </p:nvGrpSpPr>
        <p:grpSpPr>
          <a:xfrm>
            <a:off x="2922543" y="3008379"/>
            <a:ext cx="342796" cy="342784"/>
            <a:chOff x="5476488" y="7477370"/>
            <a:chExt cx="1707169" cy="1707104"/>
          </a:xfrm>
          <a:solidFill>
            <a:schemeClr val="bg1"/>
          </a:solidFill>
        </p:grpSpPr>
        <p:sp>
          <p:nvSpPr>
            <p:cNvPr id="199" name="熊大的PPT宝库60-1"/>
            <p:cNvSpPr/>
            <p:nvPr/>
          </p:nvSpPr>
          <p:spPr>
            <a:xfrm>
              <a:off x="6699970" y="8160194"/>
              <a:ext cx="341396" cy="455248"/>
            </a:xfrm>
            <a:custGeom>
              <a:avLst/>
              <a:gdLst>
                <a:gd name="connsiteX0" fmla="*/ 155578 w 341396"/>
                <a:gd name="connsiteY0" fmla="*/ 8866 h 455248"/>
                <a:gd name="connsiteX1" fmla="*/ 112246 w 341396"/>
                <a:gd name="connsiteY1" fmla="*/ 3660 h 455248"/>
                <a:gd name="connsiteX2" fmla="*/ 87379 w 341396"/>
                <a:gd name="connsiteY2" fmla="*/ 37802 h 455248"/>
                <a:gd name="connsiteX3" fmla="*/ 42454 w 341396"/>
                <a:gd name="connsiteY3" fmla="*/ 162990 h 455248"/>
                <a:gd name="connsiteX4" fmla="*/ 4414 w 341396"/>
                <a:gd name="connsiteY4" fmla="*/ 251048 h 455248"/>
                <a:gd name="connsiteX5" fmla="*/ 33947 w 341396"/>
                <a:gd name="connsiteY5" fmla="*/ 388754 h 455248"/>
                <a:gd name="connsiteX6" fmla="*/ 163601 w 341396"/>
                <a:gd name="connsiteY6" fmla="*/ 455104 h 455248"/>
                <a:gd name="connsiteX7" fmla="*/ 170145 w 341396"/>
                <a:gd name="connsiteY7" fmla="*/ 455246 h 455248"/>
                <a:gd name="connsiteX8" fmla="*/ 293199 w 341396"/>
                <a:gd name="connsiteY8" fmla="*/ 406593 h 455248"/>
                <a:gd name="connsiteX9" fmla="*/ 341396 w 341396"/>
                <a:gd name="connsiteY9" fmla="*/ 295262 h 455248"/>
                <a:gd name="connsiteX10" fmla="*/ 155578 w 341396"/>
                <a:gd name="connsiteY10" fmla="*/ 8866 h 455248"/>
                <a:gd name="connsiteX11" fmla="*/ 253679 w 341396"/>
                <a:gd name="connsiteY11" fmla="*/ 365680 h 455248"/>
                <a:gd name="connsiteX12" fmla="*/ 165621 w 341396"/>
                <a:gd name="connsiteY12" fmla="*/ 398342 h 455248"/>
                <a:gd name="connsiteX13" fmla="*/ 79213 w 341396"/>
                <a:gd name="connsiteY13" fmla="*/ 354356 h 455248"/>
                <a:gd name="connsiteX14" fmla="*/ 59781 w 341396"/>
                <a:gd name="connsiteY14" fmla="*/ 264306 h 455248"/>
                <a:gd name="connsiteX15" fmla="*/ 92415 w 341396"/>
                <a:gd name="connsiteY15" fmla="*/ 190332 h 455248"/>
                <a:gd name="connsiteX16" fmla="*/ 140441 w 341396"/>
                <a:gd name="connsiteY16" fmla="*/ 69668 h 455248"/>
                <a:gd name="connsiteX17" fmla="*/ 284493 w 341396"/>
                <a:gd name="connsiteY17" fmla="*/ 295262 h 455248"/>
                <a:gd name="connsiteX18" fmla="*/ 253679 w 341396"/>
                <a:gd name="connsiteY18" fmla="*/ 365680 h 455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1396" h="455248">
                  <a:moveTo>
                    <a:pt x="155578" y="8866"/>
                  </a:moveTo>
                  <a:cubicBezTo>
                    <a:pt x="143181" y="-682"/>
                    <a:pt x="126552" y="-2680"/>
                    <a:pt x="112246" y="3660"/>
                  </a:cubicBezTo>
                  <a:cubicBezTo>
                    <a:pt x="98366" y="9672"/>
                    <a:pt x="88844" y="22746"/>
                    <a:pt x="87379" y="37802"/>
                  </a:cubicBezTo>
                  <a:cubicBezTo>
                    <a:pt x="81753" y="82318"/>
                    <a:pt x="66416" y="125054"/>
                    <a:pt x="42454" y="162990"/>
                  </a:cubicBezTo>
                  <a:cubicBezTo>
                    <a:pt x="25869" y="190496"/>
                    <a:pt x="13073" y="220117"/>
                    <a:pt x="4414" y="251048"/>
                  </a:cubicBezTo>
                  <a:cubicBezTo>
                    <a:pt x="-6952" y="299055"/>
                    <a:pt x="3894" y="349629"/>
                    <a:pt x="33947" y="388754"/>
                  </a:cubicBezTo>
                  <a:cubicBezTo>
                    <a:pt x="64975" y="429259"/>
                    <a:pt x="112599" y="453630"/>
                    <a:pt x="163601" y="455104"/>
                  </a:cubicBezTo>
                  <a:cubicBezTo>
                    <a:pt x="165792" y="455103"/>
                    <a:pt x="167983" y="455246"/>
                    <a:pt x="170145" y="455246"/>
                  </a:cubicBezTo>
                  <a:cubicBezTo>
                    <a:pt x="215900" y="455494"/>
                    <a:pt x="259984" y="438064"/>
                    <a:pt x="293199" y="406593"/>
                  </a:cubicBezTo>
                  <a:cubicBezTo>
                    <a:pt x="323828" y="377646"/>
                    <a:pt x="341249" y="337405"/>
                    <a:pt x="341396" y="295262"/>
                  </a:cubicBezTo>
                  <a:cubicBezTo>
                    <a:pt x="341396" y="165550"/>
                    <a:pt x="211457" y="51743"/>
                    <a:pt x="155578" y="8866"/>
                  </a:cubicBezTo>
                  <a:close/>
                  <a:moveTo>
                    <a:pt x="253679" y="365680"/>
                  </a:moveTo>
                  <a:cubicBezTo>
                    <a:pt x="230015" y="388129"/>
                    <a:pt x="198202" y="399930"/>
                    <a:pt x="165621" y="398342"/>
                  </a:cubicBezTo>
                  <a:cubicBezTo>
                    <a:pt x="131671" y="397413"/>
                    <a:pt x="99941" y="381260"/>
                    <a:pt x="79213" y="354356"/>
                  </a:cubicBezTo>
                  <a:cubicBezTo>
                    <a:pt x="59523" y="328789"/>
                    <a:pt x="52387" y="295718"/>
                    <a:pt x="59781" y="264306"/>
                  </a:cubicBezTo>
                  <a:cubicBezTo>
                    <a:pt x="67353" y="238318"/>
                    <a:pt x="78326" y="213445"/>
                    <a:pt x="92415" y="190332"/>
                  </a:cubicBezTo>
                  <a:cubicBezTo>
                    <a:pt x="115044" y="153071"/>
                    <a:pt x="131277" y="112287"/>
                    <a:pt x="140441" y="69668"/>
                  </a:cubicBezTo>
                  <a:cubicBezTo>
                    <a:pt x="190602" y="111407"/>
                    <a:pt x="284493" y="202253"/>
                    <a:pt x="284493" y="295262"/>
                  </a:cubicBezTo>
                  <a:cubicBezTo>
                    <a:pt x="284284" y="321960"/>
                    <a:pt x="273148" y="347409"/>
                    <a:pt x="253679" y="365680"/>
                  </a:cubicBezTo>
                  <a:close/>
                </a:path>
              </a:pathLst>
            </a:custGeom>
            <a:grpFill/>
            <a:ln w="284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200" name="熊大的PPT宝库60-2"/>
            <p:cNvSpPr/>
            <p:nvPr/>
          </p:nvSpPr>
          <p:spPr>
            <a:xfrm>
              <a:off x="5476488" y="7477370"/>
              <a:ext cx="1707169" cy="1707104"/>
            </a:xfrm>
            <a:custGeom>
              <a:avLst/>
              <a:gdLst>
                <a:gd name="connsiteX0" fmla="*/ 1621782 w 1707169"/>
                <a:gd name="connsiteY0" fmla="*/ 0 h 1707104"/>
                <a:gd name="connsiteX1" fmla="*/ 85388 w 1707169"/>
                <a:gd name="connsiteY1" fmla="*/ 0 h 1707104"/>
                <a:gd name="connsiteX2" fmla="*/ 33 w 1707169"/>
                <a:gd name="connsiteY2" fmla="*/ 90533 h 1707104"/>
                <a:gd name="connsiteX3" fmla="*/ 33 w 1707169"/>
                <a:gd name="connsiteY3" fmla="*/ 1332053 h 1707104"/>
                <a:gd name="connsiteX4" fmla="*/ 85388 w 1707169"/>
                <a:gd name="connsiteY4" fmla="*/ 1422587 h 1707104"/>
                <a:gd name="connsiteX5" fmla="*/ 579936 w 1707169"/>
                <a:gd name="connsiteY5" fmla="*/ 1422587 h 1707104"/>
                <a:gd name="connsiteX6" fmla="*/ 523032 w 1707169"/>
                <a:gd name="connsiteY6" fmla="*/ 1536394 h 1707104"/>
                <a:gd name="connsiteX7" fmla="*/ 426809 w 1707169"/>
                <a:gd name="connsiteY7" fmla="*/ 1536394 h 1707104"/>
                <a:gd name="connsiteX8" fmla="*/ 341454 w 1707169"/>
                <a:gd name="connsiteY8" fmla="*/ 1621749 h 1707104"/>
                <a:gd name="connsiteX9" fmla="*/ 426809 w 1707169"/>
                <a:gd name="connsiteY9" fmla="*/ 1707104 h 1707104"/>
                <a:gd name="connsiteX10" fmla="*/ 1280361 w 1707169"/>
                <a:gd name="connsiteY10" fmla="*/ 1707104 h 1707104"/>
                <a:gd name="connsiteX11" fmla="*/ 1365716 w 1707169"/>
                <a:gd name="connsiteY11" fmla="*/ 1621749 h 1707104"/>
                <a:gd name="connsiteX12" fmla="*/ 1280361 w 1707169"/>
                <a:gd name="connsiteY12" fmla="*/ 1536394 h 1707104"/>
                <a:gd name="connsiteX13" fmla="*/ 1184137 w 1707169"/>
                <a:gd name="connsiteY13" fmla="*/ 1536394 h 1707104"/>
                <a:gd name="connsiteX14" fmla="*/ 1127234 w 1707169"/>
                <a:gd name="connsiteY14" fmla="*/ 1422587 h 1707104"/>
                <a:gd name="connsiteX15" fmla="*/ 1621782 w 1707169"/>
                <a:gd name="connsiteY15" fmla="*/ 1422587 h 1707104"/>
                <a:gd name="connsiteX16" fmla="*/ 1707137 w 1707169"/>
                <a:gd name="connsiteY16" fmla="*/ 1332053 h 1707104"/>
                <a:gd name="connsiteX17" fmla="*/ 1707137 w 1707169"/>
                <a:gd name="connsiteY17" fmla="*/ 90533 h 1707104"/>
                <a:gd name="connsiteX18" fmla="*/ 1621782 w 1707169"/>
                <a:gd name="connsiteY18" fmla="*/ 0 h 1707104"/>
                <a:gd name="connsiteX19" fmla="*/ 85388 w 1707169"/>
                <a:gd name="connsiteY19" fmla="*/ 56903 h 1707104"/>
                <a:gd name="connsiteX20" fmla="*/ 1621782 w 1707169"/>
                <a:gd name="connsiteY20" fmla="*/ 56903 h 1707104"/>
                <a:gd name="connsiteX21" fmla="*/ 1650233 w 1707169"/>
                <a:gd name="connsiteY21" fmla="*/ 90533 h 1707104"/>
                <a:gd name="connsiteX22" fmla="*/ 1650233 w 1707169"/>
                <a:gd name="connsiteY22" fmla="*/ 1194973 h 1707104"/>
                <a:gd name="connsiteX23" fmla="*/ 56936 w 1707169"/>
                <a:gd name="connsiteY23" fmla="*/ 1194973 h 1707104"/>
                <a:gd name="connsiteX24" fmla="*/ 56936 w 1707169"/>
                <a:gd name="connsiteY24" fmla="*/ 90533 h 1707104"/>
                <a:gd name="connsiteX25" fmla="*/ 85388 w 1707169"/>
                <a:gd name="connsiteY25" fmla="*/ 56903 h 1707104"/>
                <a:gd name="connsiteX26" fmla="*/ 1308812 w 1707169"/>
                <a:gd name="connsiteY26" fmla="*/ 1621749 h 1707104"/>
                <a:gd name="connsiteX27" fmla="*/ 1280361 w 1707169"/>
                <a:gd name="connsiteY27" fmla="*/ 1650201 h 1707104"/>
                <a:gd name="connsiteX28" fmla="*/ 426809 w 1707169"/>
                <a:gd name="connsiteY28" fmla="*/ 1650201 h 1707104"/>
                <a:gd name="connsiteX29" fmla="*/ 398357 w 1707169"/>
                <a:gd name="connsiteY29" fmla="*/ 1621749 h 1707104"/>
                <a:gd name="connsiteX30" fmla="*/ 426809 w 1707169"/>
                <a:gd name="connsiteY30" fmla="*/ 1593297 h 1707104"/>
                <a:gd name="connsiteX31" fmla="*/ 1280361 w 1707169"/>
                <a:gd name="connsiteY31" fmla="*/ 1593297 h 1707104"/>
                <a:gd name="connsiteX32" fmla="*/ 1308812 w 1707169"/>
                <a:gd name="connsiteY32" fmla="*/ 1621749 h 1707104"/>
                <a:gd name="connsiteX33" fmla="*/ 1120519 w 1707169"/>
                <a:gd name="connsiteY33" fmla="*/ 1536394 h 1707104"/>
                <a:gd name="connsiteX34" fmla="*/ 586651 w 1707169"/>
                <a:gd name="connsiteY34" fmla="*/ 1536394 h 1707104"/>
                <a:gd name="connsiteX35" fmla="*/ 643554 w 1707169"/>
                <a:gd name="connsiteY35" fmla="*/ 1422587 h 1707104"/>
                <a:gd name="connsiteX36" fmla="*/ 1063615 w 1707169"/>
                <a:gd name="connsiteY36" fmla="*/ 1422587 h 1707104"/>
                <a:gd name="connsiteX37" fmla="*/ 1621782 w 1707169"/>
                <a:gd name="connsiteY37" fmla="*/ 1365683 h 1707104"/>
                <a:gd name="connsiteX38" fmla="*/ 85388 w 1707169"/>
                <a:gd name="connsiteY38" fmla="*/ 1365683 h 1707104"/>
                <a:gd name="connsiteX39" fmla="*/ 56936 w 1707169"/>
                <a:gd name="connsiteY39" fmla="*/ 1332053 h 1707104"/>
                <a:gd name="connsiteX40" fmla="*/ 56936 w 1707169"/>
                <a:gd name="connsiteY40" fmla="*/ 1251876 h 1707104"/>
                <a:gd name="connsiteX41" fmla="*/ 1650233 w 1707169"/>
                <a:gd name="connsiteY41" fmla="*/ 1251876 h 1707104"/>
                <a:gd name="connsiteX42" fmla="*/ 1650233 w 1707169"/>
                <a:gd name="connsiteY42" fmla="*/ 1332053 h 1707104"/>
                <a:gd name="connsiteX43" fmla="*/ 1621782 w 1707169"/>
                <a:gd name="connsiteY43" fmla="*/ 1365683 h 170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707169" h="1707104">
                  <a:moveTo>
                    <a:pt x="1621782" y="0"/>
                  </a:moveTo>
                  <a:lnTo>
                    <a:pt x="85388" y="0"/>
                  </a:lnTo>
                  <a:cubicBezTo>
                    <a:pt x="36871" y="1548"/>
                    <a:pt x="-1276" y="42009"/>
                    <a:pt x="33" y="90533"/>
                  </a:cubicBezTo>
                  <a:lnTo>
                    <a:pt x="33" y="1332053"/>
                  </a:lnTo>
                  <a:cubicBezTo>
                    <a:pt x="-1276" y="1380577"/>
                    <a:pt x="36871" y="1421038"/>
                    <a:pt x="85388" y="1422587"/>
                  </a:cubicBezTo>
                  <a:lnTo>
                    <a:pt x="579936" y="1422587"/>
                  </a:lnTo>
                  <a:lnTo>
                    <a:pt x="523032" y="1536394"/>
                  </a:lnTo>
                  <a:lnTo>
                    <a:pt x="426809" y="1536394"/>
                  </a:lnTo>
                  <a:cubicBezTo>
                    <a:pt x="379668" y="1536394"/>
                    <a:pt x="341454" y="1574609"/>
                    <a:pt x="341454" y="1621749"/>
                  </a:cubicBezTo>
                  <a:cubicBezTo>
                    <a:pt x="341454" y="1668889"/>
                    <a:pt x="379668" y="1707104"/>
                    <a:pt x="426809" y="1707104"/>
                  </a:cubicBezTo>
                  <a:lnTo>
                    <a:pt x="1280361" y="1707104"/>
                  </a:lnTo>
                  <a:cubicBezTo>
                    <a:pt x="1327501" y="1707104"/>
                    <a:pt x="1365716" y="1668889"/>
                    <a:pt x="1365716" y="1621749"/>
                  </a:cubicBezTo>
                  <a:cubicBezTo>
                    <a:pt x="1365716" y="1574609"/>
                    <a:pt x="1327501" y="1536394"/>
                    <a:pt x="1280361" y="1536394"/>
                  </a:cubicBezTo>
                  <a:lnTo>
                    <a:pt x="1184137" y="1536394"/>
                  </a:lnTo>
                  <a:lnTo>
                    <a:pt x="1127234" y="1422587"/>
                  </a:lnTo>
                  <a:lnTo>
                    <a:pt x="1621782" y="1422587"/>
                  </a:lnTo>
                  <a:cubicBezTo>
                    <a:pt x="1670299" y="1421038"/>
                    <a:pt x="1708445" y="1380577"/>
                    <a:pt x="1707137" y="1332053"/>
                  </a:cubicBezTo>
                  <a:lnTo>
                    <a:pt x="1707137" y="90533"/>
                  </a:lnTo>
                  <a:cubicBezTo>
                    <a:pt x="1708445" y="42009"/>
                    <a:pt x="1670299" y="1548"/>
                    <a:pt x="1621782" y="0"/>
                  </a:cubicBezTo>
                  <a:close/>
                  <a:moveTo>
                    <a:pt x="85388" y="56903"/>
                  </a:moveTo>
                  <a:lnTo>
                    <a:pt x="1621782" y="56903"/>
                  </a:lnTo>
                  <a:cubicBezTo>
                    <a:pt x="1638756" y="58657"/>
                    <a:pt x="1651317" y="73503"/>
                    <a:pt x="1650233" y="90533"/>
                  </a:cubicBezTo>
                  <a:lnTo>
                    <a:pt x="1650233" y="1194973"/>
                  </a:lnTo>
                  <a:lnTo>
                    <a:pt x="56936" y="1194973"/>
                  </a:lnTo>
                  <a:lnTo>
                    <a:pt x="56936" y="90533"/>
                  </a:lnTo>
                  <a:cubicBezTo>
                    <a:pt x="55853" y="73503"/>
                    <a:pt x="68413" y="58657"/>
                    <a:pt x="85388" y="56903"/>
                  </a:cubicBezTo>
                  <a:close/>
                  <a:moveTo>
                    <a:pt x="1308812" y="1621749"/>
                  </a:moveTo>
                  <a:cubicBezTo>
                    <a:pt x="1308812" y="1637462"/>
                    <a:pt x="1296074" y="1650201"/>
                    <a:pt x="1280361" y="1650201"/>
                  </a:cubicBezTo>
                  <a:lnTo>
                    <a:pt x="426809" y="1650201"/>
                  </a:lnTo>
                  <a:cubicBezTo>
                    <a:pt x="411095" y="1650201"/>
                    <a:pt x="398357" y="1637462"/>
                    <a:pt x="398357" y="1621749"/>
                  </a:cubicBezTo>
                  <a:cubicBezTo>
                    <a:pt x="398357" y="1606035"/>
                    <a:pt x="411095" y="1593297"/>
                    <a:pt x="426809" y="1593297"/>
                  </a:cubicBezTo>
                  <a:lnTo>
                    <a:pt x="1280361" y="1593297"/>
                  </a:lnTo>
                  <a:cubicBezTo>
                    <a:pt x="1296074" y="1593297"/>
                    <a:pt x="1308812" y="1606035"/>
                    <a:pt x="1308812" y="1621749"/>
                  </a:cubicBezTo>
                  <a:close/>
                  <a:moveTo>
                    <a:pt x="1120519" y="1536394"/>
                  </a:moveTo>
                  <a:lnTo>
                    <a:pt x="586651" y="1536394"/>
                  </a:lnTo>
                  <a:lnTo>
                    <a:pt x="643554" y="1422587"/>
                  </a:lnTo>
                  <a:lnTo>
                    <a:pt x="1063615" y="1422587"/>
                  </a:lnTo>
                  <a:close/>
                  <a:moveTo>
                    <a:pt x="1621782" y="1365683"/>
                  </a:moveTo>
                  <a:lnTo>
                    <a:pt x="85388" y="1365683"/>
                  </a:lnTo>
                  <a:cubicBezTo>
                    <a:pt x="68413" y="1363930"/>
                    <a:pt x="55853" y="1349084"/>
                    <a:pt x="56936" y="1332053"/>
                  </a:cubicBezTo>
                  <a:lnTo>
                    <a:pt x="56936" y="1251876"/>
                  </a:lnTo>
                  <a:lnTo>
                    <a:pt x="1650233" y="1251876"/>
                  </a:lnTo>
                  <a:lnTo>
                    <a:pt x="1650233" y="1332053"/>
                  </a:lnTo>
                  <a:cubicBezTo>
                    <a:pt x="1651317" y="1349084"/>
                    <a:pt x="1638756" y="1363930"/>
                    <a:pt x="1621782" y="1365683"/>
                  </a:cubicBezTo>
                  <a:close/>
                </a:path>
              </a:pathLst>
            </a:custGeom>
            <a:grpFill/>
            <a:ln w="284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201" name="熊大的PPT宝库60-3"/>
            <p:cNvSpPr/>
            <p:nvPr/>
          </p:nvSpPr>
          <p:spPr>
            <a:xfrm>
              <a:off x="5590327" y="7591177"/>
              <a:ext cx="170710" cy="170710"/>
            </a:xfrm>
            <a:custGeom>
              <a:avLst/>
              <a:gdLst>
                <a:gd name="connsiteX0" fmla="*/ 85355 w 170710"/>
                <a:gd name="connsiteY0" fmla="*/ 170710 h 170710"/>
                <a:gd name="connsiteX1" fmla="*/ 170710 w 170710"/>
                <a:gd name="connsiteY1" fmla="*/ 85355 h 170710"/>
                <a:gd name="connsiteX2" fmla="*/ 85355 w 170710"/>
                <a:gd name="connsiteY2" fmla="*/ 0 h 170710"/>
                <a:gd name="connsiteX3" fmla="*/ 0 w 170710"/>
                <a:gd name="connsiteY3" fmla="*/ 85355 h 170710"/>
                <a:gd name="connsiteX4" fmla="*/ 85355 w 170710"/>
                <a:gd name="connsiteY4" fmla="*/ 170710 h 170710"/>
                <a:gd name="connsiteX5" fmla="*/ 85355 w 170710"/>
                <a:gd name="connsiteY5" fmla="*/ 56903 h 170710"/>
                <a:gd name="connsiteX6" fmla="*/ 113807 w 170710"/>
                <a:gd name="connsiteY6" fmla="*/ 85355 h 170710"/>
                <a:gd name="connsiteX7" fmla="*/ 85355 w 170710"/>
                <a:gd name="connsiteY7" fmla="*/ 113807 h 170710"/>
                <a:gd name="connsiteX8" fmla="*/ 56903 w 170710"/>
                <a:gd name="connsiteY8" fmla="*/ 85355 h 170710"/>
                <a:gd name="connsiteX9" fmla="*/ 85355 w 170710"/>
                <a:gd name="connsiteY9" fmla="*/ 56903 h 17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0710" h="170710">
                  <a:moveTo>
                    <a:pt x="85355" y="170710"/>
                  </a:moveTo>
                  <a:cubicBezTo>
                    <a:pt x="132496" y="170710"/>
                    <a:pt x="170710" y="132496"/>
                    <a:pt x="170710" y="85355"/>
                  </a:cubicBezTo>
                  <a:cubicBezTo>
                    <a:pt x="170710" y="38215"/>
                    <a:pt x="132496" y="0"/>
                    <a:pt x="85355" y="0"/>
                  </a:cubicBezTo>
                  <a:cubicBezTo>
                    <a:pt x="38215" y="0"/>
                    <a:pt x="0" y="38215"/>
                    <a:pt x="0" y="85355"/>
                  </a:cubicBezTo>
                  <a:cubicBezTo>
                    <a:pt x="0" y="132496"/>
                    <a:pt x="38215" y="170710"/>
                    <a:pt x="85355" y="170710"/>
                  </a:cubicBezTo>
                  <a:close/>
                  <a:moveTo>
                    <a:pt x="85355" y="56903"/>
                  </a:moveTo>
                  <a:cubicBezTo>
                    <a:pt x="101069" y="56903"/>
                    <a:pt x="113807" y="69642"/>
                    <a:pt x="113807" y="85355"/>
                  </a:cubicBezTo>
                  <a:cubicBezTo>
                    <a:pt x="113807" y="101069"/>
                    <a:pt x="101069" y="113807"/>
                    <a:pt x="85355" y="113807"/>
                  </a:cubicBezTo>
                  <a:cubicBezTo>
                    <a:pt x="69642" y="113807"/>
                    <a:pt x="56903" y="101069"/>
                    <a:pt x="56903" y="85355"/>
                  </a:cubicBezTo>
                  <a:cubicBezTo>
                    <a:pt x="56903" y="69642"/>
                    <a:pt x="69642" y="56903"/>
                    <a:pt x="85355" y="56903"/>
                  </a:cubicBezTo>
                  <a:close/>
                </a:path>
              </a:pathLst>
            </a:custGeom>
            <a:grpFill/>
            <a:ln w="284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202" name="熊大的PPT宝库60-4"/>
            <p:cNvSpPr/>
            <p:nvPr/>
          </p:nvSpPr>
          <p:spPr>
            <a:xfrm>
              <a:off x="5817941" y="7591177"/>
              <a:ext cx="796648" cy="170710"/>
            </a:xfrm>
            <a:custGeom>
              <a:avLst/>
              <a:gdLst>
                <a:gd name="connsiteX0" fmla="*/ 56903 w 796648"/>
                <a:gd name="connsiteY0" fmla="*/ 170710 h 170710"/>
                <a:gd name="connsiteX1" fmla="*/ 739745 w 796648"/>
                <a:gd name="connsiteY1" fmla="*/ 170710 h 170710"/>
                <a:gd name="connsiteX2" fmla="*/ 796649 w 796648"/>
                <a:gd name="connsiteY2" fmla="*/ 113807 h 170710"/>
                <a:gd name="connsiteX3" fmla="*/ 796649 w 796648"/>
                <a:gd name="connsiteY3" fmla="*/ 56903 h 170710"/>
                <a:gd name="connsiteX4" fmla="*/ 739745 w 796648"/>
                <a:gd name="connsiteY4" fmla="*/ 0 h 170710"/>
                <a:gd name="connsiteX5" fmla="*/ 56903 w 796648"/>
                <a:gd name="connsiteY5" fmla="*/ 0 h 170710"/>
                <a:gd name="connsiteX6" fmla="*/ 0 w 796648"/>
                <a:gd name="connsiteY6" fmla="*/ 56903 h 170710"/>
                <a:gd name="connsiteX7" fmla="*/ 0 w 796648"/>
                <a:gd name="connsiteY7" fmla="*/ 113807 h 170710"/>
                <a:gd name="connsiteX8" fmla="*/ 56903 w 796648"/>
                <a:gd name="connsiteY8" fmla="*/ 170710 h 170710"/>
                <a:gd name="connsiteX9" fmla="*/ 56903 w 796648"/>
                <a:gd name="connsiteY9" fmla="*/ 56903 h 170710"/>
                <a:gd name="connsiteX10" fmla="*/ 739745 w 796648"/>
                <a:gd name="connsiteY10" fmla="*/ 56903 h 170710"/>
                <a:gd name="connsiteX11" fmla="*/ 739745 w 796648"/>
                <a:gd name="connsiteY11" fmla="*/ 113807 h 170710"/>
                <a:gd name="connsiteX12" fmla="*/ 56903 w 796648"/>
                <a:gd name="connsiteY12" fmla="*/ 113807 h 17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96648" h="170710">
                  <a:moveTo>
                    <a:pt x="56903" y="170710"/>
                  </a:moveTo>
                  <a:lnTo>
                    <a:pt x="739745" y="170710"/>
                  </a:lnTo>
                  <a:cubicBezTo>
                    <a:pt x="771172" y="170710"/>
                    <a:pt x="796649" y="145234"/>
                    <a:pt x="796649" y="113807"/>
                  </a:cubicBezTo>
                  <a:lnTo>
                    <a:pt x="796649" y="56903"/>
                  </a:lnTo>
                  <a:cubicBezTo>
                    <a:pt x="796649" y="25477"/>
                    <a:pt x="771172" y="0"/>
                    <a:pt x="739745" y="0"/>
                  </a:cubicBezTo>
                  <a:lnTo>
                    <a:pt x="56903" y="0"/>
                  </a:lnTo>
                  <a:cubicBezTo>
                    <a:pt x="25477" y="0"/>
                    <a:pt x="0" y="25477"/>
                    <a:pt x="0" y="56903"/>
                  </a:cubicBezTo>
                  <a:lnTo>
                    <a:pt x="0" y="113807"/>
                  </a:lnTo>
                  <a:cubicBezTo>
                    <a:pt x="0" y="145234"/>
                    <a:pt x="25477" y="170710"/>
                    <a:pt x="56903" y="170710"/>
                  </a:cubicBezTo>
                  <a:close/>
                  <a:moveTo>
                    <a:pt x="56903" y="56903"/>
                  </a:moveTo>
                  <a:lnTo>
                    <a:pt x="739745" y="56903"/>
                  </a:lnTo>
                  <a:lnTo>
                    <a:pt x="739745" y="113807"/>
                  </a:lnTo>
                  <a:lnTo>
                    <a:pt x="56903" y="113807"/>
                  </a:lnTo>
                  <a:close/>
                </a:path>
              </a:pathLst>
            </a:custGeom>
            <a:grpFill/>
            <a:ln w="284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203" name="熊大的PPT宝库60-5"/>
            <p:cNvSpPr/>
            <p:nvPr/>
          </p:nvSpPr>
          <p:spPr>
            <a:xfrm>
              <a:off x="5590327" y="7875695"/>
              <a:ext cx="170710" cy="170710"/>
            </a:xfrm>
            <a:custGeom>
              <a:avLst/>
              <a:gdLst>
                <a:gd name="connsiteX0" fmla="*/ 85355 w 170710"/>
                <a:gd name="connsiteY0" fmla="*/ 170710 h 170710"/>
                <a:gd name="connsiteX1" fmla="*/ 170710 w 170710"/>
                <a:gd name="connsiteY1" fmla="*/ 85355 h 170710"/>
                <a:gd name="connsiteX2" fmla="*/ 85355 w 170710"/>
                <a:gd name="connsiteY2" fmla="*/ 0 h 170710"/>
                <a:gd name="connsiteX3" fmla="*/ 0 w 170710"/>
                <a:gd name="connsiteY3" fmla="*/ 85355 h 170710"/>
                <a:gd name="connsiteX4" fmla="*/ 85355 w 170710"/>
                <a:gd name="connsiteY4" fmla="*/ 170710 h 170710"/>
                <a:gd name="connsiteX5" fmla="*/ 85355 w 170710"/>
                <a:gd name="connsiteY5" fmla="*/ 56903 h 170710"/>
                <a:gd name="connsiteX6" fmla="*/ 113807 w 170710"/>
                <a:gd name="connsiteY6" fmla="*/ 85355 h 170710"/>
                <a:gd name="connsiteX7" fmla="*/ 85355 w 170710"/>
                <a:gd name="connsiteY7" fmla="*/ 113807 h 170710"/>
                <a:gd name="connsiteX8" fmla="*/ 56903 w 170710"/>
                <a:gd name="connsiteY8" fmla="*/ 85355 h 170710"/>
                <a:gd name="connsiteX9" fmla="*/ 85355 w 170710"/>
                <a:gd name="connsiteY9" fmla="*/ 56903 h 17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0710" h="170710">
                  <a:moveTo>
                    <a:pt x="85355" y="170710"/>
                  </a:moveTo>
                  <a:cubicBezTo>
                    <a:pt x="132496" y="170710"/>
                    <a:pt x="170710" y="132496"/>
                    <a:pt x="170710" y="85355"/>
                  </a:cubicBezTo>
                  <a:cubicBezTo>
                    <a:pt x="170710" y="38215"/>
                    <a:pt x="132496" y="0"/>
                    <a:pt x="85355" y="0"/>
                  </a:cubicBezTo>
                  <a:cubicBezTo>
                    <a:pt x="38215" y="0"/>
                    <a:pt x="0" y="38215"/>
                    <a:pt x="0" y="85355"/>
                  </a:cubicBezTo>
                  <a:cubicBezTo>
                    <a:pt x="0" y="132496"/>
                    <a:pt x="38215" y="170710"/>
                    <a:pt x="85355" y="170710"/>
                  </a:cubicBezTo>
                  <a:close/>
                  <a:moveTo>
                    <a:pt x="85355" y="56903"/>
                  </a:moveTo>
                  <a:cubicBezTo>
                    <a:pt x="101069" y="56903"/>
                    <a:pt x="113807" y="69642"/>
                    <a:pt x="113807" y="85355"/>
                  </a:cubicBezTo>
                  <a:cubicBezTo>
                    <a:pt x="113807" y="101069"/>
                    <a:pt x="101069" y="113807"/>
                    <a:pt x="85355" y="113807"/>
                  </a:cubicBezTo>
                  <a:cubicBezTo>
                    <a:pt x="69642" y="113807"/>
                    <a:pt x="56903" y="101069"/>
                    <a:pt x="56903" y="85355"/>
                  </a:cubicBezTo>
                  <a:cubicBezTo>
                    <a:pt x="56903" y="69642"/>
                    <a:pt x="69642" y="56903"/>
                    <a:pt x="85355" y="56903"/>
                  </a:cubicBezTo>
                  <a:close/>
                </a:path>
              </a:pathLst>
            </a:custGeom>
            <a:grpFill/>
            <a:ln w="284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204" name="熊大的PPT宝库60-6"/>
            <p:cNvSpPr/>
            <p:nvPr/>
          </p:nvSpPr>
          <p:spPr>
            <a:xfrm>
              <a:off x="5590327" y="8160212"/>
              <a:ext cx="170710" cy="170710"/>
            </a:xfrm>
            <a:custGeom>
              <a:avLst/>
              <a:gdLst>
                <a:gd name="connsiteX0" fmla="*/ 85355 w 170710"/>
                <a:gd name="connsiteY0" fmla="*/ 170710 h 170710"/>
                <a:gd name="connsiteX1" fmla="*/ 170710 w 170710"/>
                <a:gd name="connsiteY1" fmla="*/ 85355 h 170710"/>
                <a:gd name="connsiteX2" fmla="*/ 85355 w 170710"/>
                <a:gd name="connsiteY2" fmla="*/ 0 h 170710"/>
                <a:gd name="connsiteX3" fmla="*/ 0 w 170710"/>
                <a:gd name="connsiteY3" fmla="*/ 85355 h 170710"/>
                <a:gd name="connsiteX4" fmla="*/ 85355 w 170710"/>
                <a:gd name="connsiteY4" fmla="*/ 170710 h 170710"/>
                <a:gd name="connsiteX5" fmla="*/ 85355 w 170710"/>
                <a:gd name="connsiteY5" fmla="*/ 56903 h 170710"/>
                <a:gd name="connsiteX6" fmla="*/ 113807 w 170710"/>
                <a:gd name="connsiteY6" fmla="*/ 85355 h 170710"/>
                <a:gd name="connsiteX7" fmla="*/ 85355 w 170710"/>
                <a:gd name="connsiteY7" fmla="*/ 113807 h 170710"/>
                <a:gd name="connsiteX8" fmla="*/ 56903 w 170710"/>
                <a:gd name="connsiteY8" fmla="*/ 85355 h 170710"/>
                <a:gd name="connsiteX9" fmla="*/ 85355 w 170710"/>
                <a:gd name="connsiteY9" fmla="*/ 56903 h 17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0710" h="170710">
                  <a:moveTo>
                    <a:pt x="85355" y="170710"/>
                  </a:moveTo>
                  <a:cubicBezTo>
                    <a:pt x="132496" y="170710"/>
                    <a:pt x="170710" y="132496"/>
                    <a:pt x="170710" y="85355"/>
                  </a:cubicBezTo>
                  <a:cubicBezTo>
                    <a:pt x="170710" y="38215"/>
                    <a:pt x="132496" y="0"/>
                    <a:pt x="85355" y="0"/>
                  </a:cubicBezTo>
                  <a:cubicBezTo>
                    <a:pt x="38215" y="0"/>
                    <a:pt x="0" y="38215"/>
                    <a:pt x="0" y="85355"/>
                  </a:cubicBezTo>
                  <a:cubicBezTo>
                    <a:pt x="0" y="132496"/>
                    <a:pt x="38215" y="170710"/>
                    <a:pt x="85355" y="170710"/>
                  </a:cubicBezTo>
                  <a:close/>
                  <a:moveTo>
                    <a:pt x="85355" y="56903"/>
                  </a:moveTo>
                  <a:cubicBezTo>
                    <a:pt x="101069" y="56903"/>
                    <a:pt x="113807" y="69642"/>
                    <a:pt x="113807" y="85355"/>
                  </a:cubicBezTo>
                  <a:cubicBezTo>
                    <a:pt x="113807" y="101069"/>
                    <a:pt x="101069" y="113807"/>
                    <a:pt x="85355" y="113807"/>
                  </a:cubicBezTo>
                  <a:cubicBezTo>
                    <a:pt x="69642" y="113807"/>
                    <a:pt x="56903" y="101069"/>
                    <a:pt x="56903" y="85355"/>
                  </a:cubicBezTo>
                  <a:cubicBezTo>
                    <a:pt x="56903" y="69642"/>
                    <a:pt x="69642" y="56903"/>
                    <a:pt x="85355" y="56903"/>
                  </a:cubicBezTo>
                  <a:close/>
                </a:path>
              </a:pathLst>
            </a:custGeom>
            <a:grpFill/>
            <a:ln w="284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205" name="熊大的PPT宝库60-7"/>
            <p:cNvSpPr/>
            <p:nvPr/>
          </p:nvSpPr>
          <p:spPr>
            <a:xfrm>
              <a:off x="5590327" y="8444729"/>
              <a:ext cx="170710" cy="170710"/>
            </a:xfrm>
            <a:custGeom>
              <a:avLst/>
              <a:gdLst>
                <a:gd name="connsiteX0" fmla="*/ 85355 w 170710"/>
                <a:gd name="connsiteY0" fmla="*/ 170710 h 170710"/>
                <a:gd name="connsiteX1" fmla="*/ 170710 w 170710"/>
                <a:gd name="connsiteY1" fmla="*/ 85355 h 170710"/>
                <a:gd name="connsiteX2" fmla="*/ 85355 w 170710"/>
                <a:gd name="connsiteY2" fmla="*/ 0 h 170710"/>
                <a:gd name="connsiteX3" fmla="*/ 0 w 170710"/>
                <a:gd name="connsiteY3" fmla="*/ 85355 h 170710"/>
                <a:gd name="connsiteX4" fmla="*/ 85355 w 170710"/>
                <a:gd name="connsiteY4" fmla="*/ 170710 h 170710"/>
                <a:gd name="connsiteX5" fmla="*/ 85355 w 170710"/>
                <a:gd name="connsiteY5" fmla="*/ 56903 h 170710"/>
                <a:gd name="connsiteX6" fmla="*/ 113807 w 170710"/>
                <a:gd name="connsiteY6" fmla="*/ 85355 h 170710"/>
                <a:gd name="connsiteX7" fmla="*/ 85355 w 170710"/>
                <a:gd name="connsiteY7" fmla="*/ 113807 h 170710"/>
                <a:gd name="connsiteX8" fmla="*/ 56903 w 170710"/>
                <a:gd name="connsiteY8" fmla="*/ 85355 h 170710"/>
                <a:gd name="connsiteX9" fmla="*/ 85355 w 170710"/>
                <a:gd name="connsiteY9" fmla="*/ 56903 h 17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0710" h="170710">
                  <a:moveTo>
                    <a:pt x="85355" y="170710"/>
                  </a:moveTo>
                  <a:cubicBezTo>
                    <a:pt x="132496" y="170710"/>
                    <a:pt x="170710" y="132496"/>
                    <a:pt x="170710" y="85355"/>
                  </a:cubicBezTo>
                  <a:cubicBezTo>
                    <a:pt x="170710" y="38215"/>
                    <a:pt x="132496" y="0"/>
                    <a:pt x="85355" y="0"/>
                  </a:cubicBezTo>
                  <a:cubicBezTo>
                    <a:pt x="38215" y="0"/>
                    <a:pt x="0" y="38215"/>
                    <a:pt x="0" y="85355"/>
                  </a:cubicBezTo>
                  <a:cubicBezTo>
                    <a:pt x="0" y="132496"/>
                    <a:pt x="38215" y="170710"/>
                    <a:pt x="85355" y="170710"/>
                  </a:cubicBezTo>
                  <a:close/>
                  <a:moveTo>
                    <a:pt x="85355" y="56903"/>
                  </a:moveTo>
                  <a:cubicBezTo>
                    <a:pt x="101069" y="56903"/>
                    <a:pt x="113807" y="69642"/>
                    <a:pt x="113807" y="85355"/>
                  </a:cubicBezTo>
                  <a:cubicBezTo>
                    <a:pt x="113807" y="101069"/>
                    <a:pt x="101069" y="113807"/>
                    <a:pt x="85355" y="113807"/>
                  </a:cubicBezTo>
                  <a:cubicBezTo>
                    <a:pt x="69642" y="113807"/>
                    <a:pt x="56903" y="101069"/>
                    <a:pt x="56903" y="85355"/>
                  </a:cubicBezTo>
                  <a:cubicBezTo>
                    <a:pt x="56903" y="69642"/>
                    <a:pt x="69642" y="56903"/>
                    <a:pt x="85355" y="56903"/>
                  </a:cubicBezTo>
                  <a:close/>
                </a:path>
              </a:pathLst>
            </a:custGeom>
            <a:grpFill/>
            <a:ln w="284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grpSp>
      <p:sp>
        <p:nvSpPr>
          <p:cNvPr id="198" name="熊大的PPT宝库61"/>
          <p:cNvSpPr/>
          <p:nvPr/>
        </p:nvSpPr>
        <p:spPr>
          <a:xfrm>
            <a:off x="2991106" y="3202623"/>
            <a:ext cx="85696" cy="34278"/>
          </a:xfrm>
          <a:custGeom>
            <a:avLst/>
            <a:gdLst>
              <a:gd name="connsiteX0" fmla="*/ 56903 w 426776"/>
              <a:gd name="connsiteY0" fmla="*/ 170710 h 170710"/>
              <a:gd name="connsiteX1" fmla="*/ 369873 w 426776"/>
              <a:gd name="connsiteY1" fmla="*/ 170710 h 170710"/>
              <a:gd name="connsiteX2" fmla="*/ 426776 w 426776"/>
              <a:gd name="connsiteY2" fmla="*/ 113807 h 170710"/>
              <a:gd name="connsiteX3" fmla="*/ 426776 w 426776"/>
              <a:gd name="connsiteY3" fmla="*/ 56903 h 170710"/>
              <a:gd name="connsiteX4" fmla="*/ 369873 w 426776"/>
              <a:gd name="connsiteY4" fmla="*/ 0 h 170710"/>
              <a:gd name="connsiteX5" fmla="*/ 56903 w 426776"/>
              <a:gd name="connsiteY5" fmla="*/ 0 h 170710"/>
              <a:gd name="connsiteX6" fmla="*/ 0 w 426776"/>
              <a:gd name="connsiteY6" fmla="*/ 56903 h 170710"/>
              <a:gd name="connsiteX7" fmla="*/ 0 w 426776"/>
              <a:gd name="connsiteY7" fmla="*/ 113807 h 170710"/>
              <a:gd name="connsiteX8" fmla="*/ 56903 w 426776"/>
              <a:gd name="connsiteY8" fmla="*/ 170710 h 170710"/>
              <a:gd name="connsiteX9" fmla="*/ 56903 w 426776"/>
              <a:gd name="connsiteY9" fmla="*/ 56903 h 170710"/>
              <a:gd name="connsiteX10" fmla="*/ 369873 w 426776"/>
              <a:gd name="connsiteY10" fmla="*/ 56903 h 170710"/>
              <a:gd name="connsiteX11" fmla="*/ 369873 w 426776"/>
              <a:gd name="connsiteY11" fmla="*/ 113807 h 170710"/>
              <a:gd name="connsiteX12" fmla="*/ 56903 w 426776"/>
              <a:gd name="connsiteY12" fmla="*/ 113807 h 17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6776" h="170710">
                <a:moveTo>
                  <a:pt x="56903" y="170710"/>
                </a:moveTo>
                <a:lnTo>
                  <a:pt x="369873" y="170710"/>
                </a:lnTo>
                <a:cubicBezTo>
                  <a:pt x="401299" y="170710"/>
                  <a:pt x="426776" y="145234"/>
                  <a:pt x="426776" y="113807"/>
                </a:cubicBezTo>
                <a:lnTo>
                  <a:pt x="426776" y="56903"/>
                </a:lnTo>
                <a:cubicBezTo>
                  <a:pt x="426776" y="25477"/>
                  <a:pt x="401299" y="0"/>
                  <a:pt x="369873" y="0"/>
                </a:cubicBezTo>
                <a:lnTo>
                  <a:pt x="56903" y="0"/>
                </a:lnTo>
                <a:cubicBezTo>
                  <a:pt x="25477" y="0"/>
                  <a:pt x="0" y="25477"/>
                  <a:pt x="0" y="56903"/>
                </a:cubicBezTo>
                <a:lnTo>
                  <a:pt x="0" y="113807"/>
                </a:lnTo>
                <a:cubicBezTo>
                  <a:pt x="0" y="145234"/>
                  <a:pt x="25477" y="170710"/>
                  <a:pt x="56903" y="170710"/>
                </a:cubicBezTo>
                <a:close/>
                <a:moveTo>
                  <a:pt x="56903" y="56903"/>
                </a:moveTo>
                <a:lnTo>
                  <a:pt x="369873" y="56903"/>
                </a:lnTo>
                <a:lnTo>
                  <a:pt x="369873" y="113807"/>
                </a:lnTo>
                <a:lnTo>
                  <a:pt x="56903" y="113807"/>
                </a:lnTo>
                <a:close/>
              </a:path>
            </a:pathLst>
          </a:custGeom>
          <a:solidFill>
            <a:srgbClr val="FFC000"/>
          </a:solidFill>
          <a:ln w="284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206" name="熊大的PPT宝库62"/>
          <p:cNvSpPr/>
          <p:nvPr/>
        </p:nvSpPr>
        <p:spPr>
          <a:xfrm flipH="1">
            <a:off x="1374710" y="4157594"/>
            <a:ext cx="3200061" cy="636632"/>
          </a:xfrm>
          <a:prstGeom prst="roundRect">
            <a:avLst>
              <a:gd name="adj" fmla="val 7670"/>
            </a:avLst>
          </a:prstGeom>
          <a:gradFill>
            <a:gsLst>
              <a:gs pos="0">
                <a:schemeClr val="accent1">
                  <a:lumMod val="40000"/>
                  <a:lumOff val="60000"/>
                </a:schemeClr>
              </a:gs>
              <a:gs pos="100000">
                <a:schemeClr val="accent1">
                  <a:lumMod val="40000"/>
                  <a:lumOff val="60000"/>
                </a:schemeClr>
              </a:gs>
            </a:gsLst>
            <a:lin ang="2700000" scaled="0"/>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10" name="熊大的PPT宝库63"/>
          <p:cNvSpPr txBox="1"/>
          <p:nvPr/>
        </p:nvSpPr>
        <p:spPr>
          <a:xfrm>
            <a:off x="1894935" y="4291244"/>
            <a:ext cx="2051399" cy="369332"/>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329D"/>
                </a:solidFill>
                <a:effectLst/>
                <a:uLnTx/>
                <a:uFillTx/>
                <a:cs typeface="+mn-ea"/>
                <a:sym typeface="+mn-lt"/>
              </a:rPr>
              <a:t>医院前置节点服务</a:t>
            </a:r>
          </a:p>
        </p:txBody>
      </p:sp>
      <p:sp>
        <p:nvSpPr>
          <p:cNvPr id="207" name="熊大的PPT宝库64"/>
          <p:cNvSpPr/>
          <p:nvPr/>
        </p:nvSpPr>
        <p:spPr>
          <a:xfrm flipH="1">
            <a:off x="4745681" y="4157594"/>
            <a:ext cx="3200060" cy="636632"/>
          </a:xfrm>
          <a:prstGeom prst="roundRect">
            <a:avLst>
              <a:gd name="adj" fmla="val 7670"/>
            </a:avLst>
          </a:prstGeom>
          <a:gradFill>
            <a:gsLst>
              <a:gs pos="0">
                <a:schemeClr val="accent1">
                  <a:lumMod val="40000"/>
                  <a:lumOff val="60000"/>
                </a:schemeClr>
              </a:gs>
              <a:gs pos="100000">
                <a:schemeClr val="accent1">
                  <a:lumMod val="40000"/>
                  <a:lumOff val="60000"/>
                </a:schemeClr>
              </a:gs>
            </a:gsLst>
            <a:lin ang="2700000" scaled="0"/>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20" name="熊大的PPT宝库65"/>
          <p:cNvSpPr txBox="1"/>
          <p:nvPr/>
        </p:nvSpPr>
        <p:spPr>
          <a:xfrm>
            <a:off x="5330049" y="4291244"/>
            <a:ext cx="2031326" cy="369332"/>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329D"/>
                </a:solidFill>
                <a:effectLst/>
                <a:uLnTx/>
                <a:uFillTx/>
                <a:cs typeface="+mn-ea"/>
                <a:sym typeface="+mn-lt"/>
              </a:rPr>
              <a:t>医院前置节点服务</a:t>
            </a:r>
          </a:p>
        </p:txBody>
      </p:sp>
      <p:sp>
        <p:nvSpPr>
          <p:cNvPr id="208" name="熊大的PPT宝库66"/>
          <p:cNvSpPr/>
          <p:nvPr/>
        </p:nvSpPr>
        <p:spPr>
          <a:xfrm flipH="1">
            <a:off x="8154798" y="4157594"/>
            <a:ext cx="3200061" cy="636632"/>
          </a:xfrm>
          <a:prstGeom prst="roundRect">
            <a:avLst>
              <a:gd name="adj" fmla="val 7670"/>
            </a:avLst>
          </a:prstGeom>
          <a:gradFill>
            <a:gsLst>
              <a:gs pos="0">
                <a:schemeClr val="accent1">
                  <a:lumMod val="40000"/>
                  <a:lumOff val="60000"/>
                </a:schemeClr>
              </a:gs>
              <a:gs pos="100000">
                <a:schemeClr val="accent1">
                  <a:lumMod val="40000"/>
                  <a:lumOff val="60000"/>
                </a:schemeClr>
              </a:gs>
            </a:gsLst>
            <a:lin ang="2700000" scaled="0"/>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30" name="熊大的PPT宝库67"/>
          <p:cNvSpPr txBox="1"/>
          <p:nvPr/>
        </p:nvSpPr>
        <p:spPr>
          <a:xfrm>
            <a:off x="9215730" y="4291244"/>
            <a:ext cx="1107996" cy="369332"/>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329D"/>
                </a:solidFill>
                <a:effectLst/>
                <a:uLnTx/>
                <a:uFillTx/>
                <a:cs typeface="+mn-ea"/>
                <a:sym typeface="+mn-lt"/>
              </a:rPr>
              <a:t>开放共享</a:t>
            </a:r>
          </a:p>
        </p:txBody>
      </p:sp>
      <p:sp>
        <p:nvSpPr>
          <p:cNvPr id="310" name="熊大的PPT宝库68"/>
          <p:cNvSpPr/>
          <p:nvPr/>
        </p:nvSpPr>
        <p:spPr>
          <a:xfrm rot="16200000">
            <a:off x="6330685" y="3895346"/>
            <a:ext cx="165604" cy="197811"/>
          </a:xfrm>
          <a:custGeom>
            <a:avLst/>
            <a:gdLst>
              <a:gd name="connsiteX0" fmla="*/ 25717 w 603885"/>
              <a:gd name="connsiteY0" fmla="*/ 668083 h 721328"/>
              <a:gd name="connsiteX1" fmla="*/ 51435 w 603885"/>
              <a:gd name="connsiteY1" fmla="*/ 693801 h 721328"/>
              <a:gd name="connsiteX2" fmla="*/ 25717 w 603885"/>
              <a:gd name="connsiteY2" fmla="*/ 719518 h 721328"/>
              <a:gd name="connsiteX3" fmla="*/ 0 w 603885"/>
              <a:gd name="connsiteY3" fmla="*/ 693801 h 721328"/>
              <a:gd name="connsiteX4" fmla="*/ 25717 w 603885"/>
              <a:gd name="connsiteY4" fmla="*/ 668083 h 721328"/>
              <a:gd name="connsiteX5" fmla="*/ 117157 w 603885"/>
              <a:gd name="connsiteY5" fmla="*/ 667416 h 721328"/>
              <a:gd name="connsiteX6" fmla="*/ 143446 w 603885"/>
              <a:gd name="connsiteY6" fmla="*/ 693705 h 721328"/>
              <a:gd name="connsiteX7" fmla="*/ 117157 w 603885"/>
              <a:gd name="connsiteY7" fmla="*/ 720089 h 721328"/>
              <a:gd name="connsiteX8" fmla="*/ 90773 w 603885"/>
              <a:gd name="connsiteY8" fmla="*/ 693705 h 721328"/>
              <a:gd name="connsiteX9" fmla="*/ 117157 w 603885"/>
              <a:gd name="connsiteY9" fmla="*/ 667416 h 721328"/>
              <a:gd name="connsiteX10" fmla="*/ 208502 w 603885"/>
              <a:gd name="connsiteY10" fmla="*/ 666750 h 721328"/>
              <a:gd name="connsiteX11" fmla="*/ 235458 w 603885"/>
              <a:gd name="connsiteY11" fmla="*/ 693706 h 721328"/>
              <a:gd name="connsiteX12" fmla="*/ 208502 w 603885"/>
              <a:gd name="connsiteY12" fmla="*/ 720662 h 721328"/>
              <a:gd name="connsiteX13" fmla="*/ 181546 w 603885"/>
              <a:gd name="connsiteY13" fmla="*/ 693706 h 721328"/>
              <a:gd name="connsiteX14" fmla="*/ 208502 w 603885"/>
              <a:gd name="connsiteY14" fmla="*/ 666750 h 721328"/>
              <a:gd name="connsiteX15" fmla="*/ 299942 w 603885"/>
              <a:gd name="connsiteY15" fmla="*/ 666083 h 721328"/>
              <a:gd name="connsiteX16" fmla="*/ 327564 w 603885"/>
              <a:gd name="connsiteY16" fmla="*/ 693706 h 721328"/>
              <a:gd name="connsiteX17" fmla="*/ 299942 w 603885"/>
              <a:gd name="connsiteY17" fmla="*/ 721328 h 721328"/>
              <a:gd name="connsiteX18" fmla="*/ 272319 w 603885"/>
              <a:gd name="connsiteY18" fmla="*/ 693706 h 721328"/>
              <a:gd name="connsiteX19" fmla="*/ 299942 w 603885"/>
              <a:gd name="connsiteY19" fmla="*/ 666083 h 721328"/>
              <a:gd name="connsiteX20" fmla="*/ 117157 w 603885"/>
              <a:gd name="connsiteY20" fmla="*/ 556355 h 721328"/>
              <a:gd name="connsiteX21" fmla="*/ 143446 w 603885"/>
              <a:gd name="connsiteY21" fmla="*/ 582644 h 721328"/>
              <a:gd name="connsiteX22" fmla="*/ 117157 w 603885"/>
              <a:gd name="connsiteY22" fmla="*/ 609028 h 721328"/>
              <a:gd name="connsiteX23" fmla="*/ 90773 w 603885"/>
              <a:gd name="connsiteY23" fmla="*/ 582644 h 721328"/>
              <a:gd name="connsiteX24" fmla="*/ 117157 w 603885"/>
              <a:gd name="connsiteY24" fmla="*/ 556355 h 721328"/>
              <a:gd name="connsiteX25" fmla="*/ 208502 w 603885"/>
              <a:gd name="connsiteY25" fmla="*/ 555784 h 721328"/>
              <a:gd name="connsiteX26" fmla="*/ 235458 w 603885"/>
              <a:gd name="connsiteY26" fmla="*/ 582740 h 721328"/>
              <a:gd name="connsiteX27" fmla="*/ 208502 w 603885"/>
              <a:gd name="connsiteY27" fmla="*/ 609695 h 721328"/>
              <a:gd name="connsiteX28" fmla="*/ 181546 w 603885"/>
              <a:gd name="connsiteY28" fmla="*/ 582740 h 721328"/>
              <a:gd name="connsiteX29" fmla="*/ 208502 w 603885"/>
              <a:gd name="connsiteY29" fmla="*/ 555784 h 721328"/>
              <a:gd name="connsiteX30" fmla="*/ 299942 w 603885"/>
              <a:gd name="connsiteY30" fmla="*/ 555117 h 721328"/>
              <a:gd name="connsiteX31" fmla="*/ 327564 w 603885"/>
              <a:gd name="connsiteY31" fmla="*/ 582739 h 721328"/>
              <a:gd name="connsiteX32" fmla="*/ 299942 w 603885"/>
              <a:gd name="connsiteY32" fmla="*/ 610362 h 721328"/>
              <a:gd name="connsiteX33" fmla="*/ 272319 w 603885"/>
              <a:gd name="connsiteY33" fmla="*/ 582739 h 721328"/>
              <a:gd name="connsiteX34" fmla="*/ 299942 w 603885"/>
              <a:gd name="connsiteY34" fmla="*/ 555117 h 721328"/>
              <a:gd name="connsiteX35" fmla="*/ 391382 w 603885"/>
              <a:gd name="connsiteY35" fmla="*/ 554450 h 721328"/>
              <a:gd name="connsiteX36" fmla="*/ 419672 w 603885"/>
              <a:gd name="connsiteY36" fmla="*/ 582739 h 721328"/>
              <a:gd name="connsiteX37" fmla="*/ 391382 w 603885"/>
              <a:gd name="connsiteY37" fmla="*/ 611029 h 721328"/>
              <a:gd name="connsiteX38" fmla="*/ 363093 w 603885"/>
              <a:gd name="connsiteY38" fmla="*/ 582739 h 721328"/>
              <a:gd name="connsiteX39" fmla="*/ 391382 w 603885"/>
              <a:gd name="connsiteY39" fmla="*/ 554450 h 721328"/>
              <a:gd name="connsiteX40" fmla="*/ 208502 w 603885"/>
              <a:gd name="connsiteY40" fmla="*/ 444722 h 721328"/>
              <a:gd name="connsiteX41" fmla="*/ 235458 w 603885"/>
              <a:gd name="connsiteY41" fmla="*/ 471678 h 721328"/>
              <a:gd name="connsiteX42" fmla="*/ 208502 w 603885"/>
              <a:gd name="connsiteY42" fmla="*/ 498634 h 721328"/>
              <a:gd name="connsiteX43" fmla="*/ 181546 w 603885"/>
              <a:gd name="connsiteY43" fmla="*/ 471678 h 721328"/>
              <a:gd name="connsiteX44" fmla="*/ 208502 w 603885"/>
              <a:gd name="connsiteY44" fmla="*/ 444722 h 721328"/>
              <a:gd name="connsiteX45" fmla="*/ 299942 w 603885"/>
              <a:gd name="connsiteY45" fmla="*/ 444055 h 721328"/>
              <a:gd name="connsiteX46" fmla="*/ 327564 w 603885"/>
              <a:gd name="connsiteY46" fmla="*/ 471678 h 721328"/>
              <a:gd name="connsiteX47" fmla="*/ 299942 w 603885"/>
              <a:gd name="connsiteY47" fmla="*/ 499300 h 721328"/>
              <a:gd name="connsiteX48" fmla="*/ 272319 w 603885"/>
              <a:gd name="connsiteY48" fmla="*/ 471678 h 721328"/>
              <a:gd name="connsiteX49" fmla="*/ 299942 w 603885"/>
              <a:gd name="connsiteY49" fmla="*/ 444055 h 721328"/>
              <a:gd name="connsiteX50" fmla="*/ 391382 w 603885"/>
              <a:gd name="connsiteY50" fmla="*/ 443389 h 721328"/>
              <a:gd name="connsiteX51" fmla="*/ 419672 w 603885"/>
              <a:gd name="connsiteY51" fmla="*/ 471678 h 721328"/>
              <a:gd name="connsiteX52" fmla="*/ 391382 w 603885"/>
              <a:gd name="connsiteY52" fmla="*/ 499968 h 721328"/>
              <a:gd name="connsiteX53" fmla="*/ 363093 w 603885"/>
              <a:gd name="connsiteY53" fmla="*/ 471678 h 721328"/>
              <a:gd name="connsiteX54" fmla="*/ 391382 w 603885"/>
              <a:gd name="connsiteY54" fmla="*/ 443389 h 721328"/>
              <a:gd name="connsiteX55" fmla="*/ 482822 w 603885"/>
              <a:gd name="connsiteY55" fmla="*/ 442817 h 721328"/>
              <a:gd name="connsiteX56" fmla="*/ 511778 w 603885"/>
              <a:gd name="connsiteY56" fmla="*/ 471773 h 721328"/>
              <a:gd name="connsiteX57" fmla="*/ 482822 w 603885"/>
              <a:gd name="connsiteY57" fmla="*/ 500729 h 721328"/>
              <a:gd name="connsiteX58" fmla="*/ 453866 w 603885"/>
              <a:gd name="connsiteY58" fmla="*/ 471773 h 721328"/>
              <a:gd name="connsiteX59" fmla="*/ 482822 w 603885"/>
              <a:gd name="connsiteY59" fmla="*/ 442817 h 721328"/>
              <a:gd name="connsiteX60" fmla="*/ 299942 w 603885"/>
              <a:gd name="connsiteY60" fmla="*/ 333089 h 721328"/>
              <a:gd name="connsiteX61" fmla="*/ 327564 w 603885"/>
              <a:gd name="connsiteY61" fmla="*/ 360712 h 721328"/>
              <a:gd name="connsiteX62" fmla="*/ 299942 w 603885"/>
              <a:gd name="connsiteY62" fmla="*/ 388334 h 721328"/>
              <a:gd name="connsiteX63" fmla="*/ 272319 w 603885"/>
              <a:gd name="connsiteY63" fmla="*/ 360712 h 721328"/>
              <a:gd name="connsiteX64" fmla="*/ 299942 w 603885"/>
              <a:gd name="connsiteY64" fmla="*/ 333089 h 721328"/>
              <a:gd name="connsiteX65" fmla="*/ 391382 w 603885"/>
              <a:gd name="connsiteY65" fmla="*/ 332422 h 721328"/>
              <a:gd name="connsiteX66" fmla="*/ 419672 w 603885"/>
              <a:gd name="connsiteY66" fmla="*/ 360711 h 721328"/>
              <a:gd name="connsiteX67" fmla="*/ 391382 w 603885"/>
              <a:gd name="connsiteY67" fmla="*/ 389001 h 721328"/>
              <a:gd name="connsiteX68" fmla="*/ 363093 w 603885"/>
              <a:gd name="connsiteY68" fmla="*/ 360711 h 721328"/>
              <a:gd name="connsiteX69" fmla="*/ 391382 w 603885"/>
              <a:gd name="connsiteY69" fmla="*/ 332422 h 721328"/>
              <a:gd name="connsiteX70" fmla="*/ 482822 w 603885"/>
              <a:gd name="connsiteY70" fmla="*/ 331755 h 721328"/>
              <a:gd name="connsiteX71" fmla="*/ 511778 w 603885"/>
              <a:gd name="connsiteY71" fmla="*/ 360711 h 721328"/>
              <a:gd name="connsiteX72" fmla="*/ 482822 w 603885"/>
              <a:gd name="connsiteY72" fmla="*/ 389667 h 721328"/>
              <a:gd name="connsiteX73" fmla="*/ 453866 w 603885"/>
              <a:gd name="connsiteY73" fmla="*/ 360711 h 721328"/>
              <a:gd name="connsiteX74" fmla="*/ 482822 w 603885"/>
              <a:gd name="connsiteY74" fmla="*/ 331755 h 721328"/>
              <a:gd name="connsiteX75" fmla="*/ 574262 w 603885"/>
              <a:gd name="connsiteY75" fmla="*/ 331089 h 721328"/>
              <a:gd name="connsiteX76" fmla="*/ 603885 w 603885"/>
              <a:gd name="connsiteY76" fmla="*/ 360712 h 721328"/>
              <a:gd name="connsiteX77" fmla="*/ 574262 w 603885"/>
              <a:gd name="connsiteY77" fmla="*/ 390335 h 721328"/>
              <a:gd name="connsiteX78" fmla="*/ 544639 w 603885"/>
              <a:gd name="connsiteY78" fmla="*/ 360712 h 721328"/>
              <a:gd name="connsiteX79" fmla="*/ 574262 w 603885"/>
              <a:gd name="connsiteY79" fmla="*/ 331089 h 721328"/>
              <a:gd name="connsiteX80" fmla="*/ 208502 w 603885"/>
              <a:gd name="connsiteY80" fmla="*/ 222694 h 721328"/>
              <a:gd name="connsiteX81" fmla="*/ 235458 w 603885"/>
              <a:gd name="connsiteY81" fmla="*/ 249650 h 721328"/>
              <a:gd name="connsiteX82" fmla="*/ 208502 w 603885"/>
              <a:gd name="connsiteY82" fmla="*/ 276606 h 721328"/>
              <a:gd name="connsiteX83" fmla="*/ 181546 w 603885"/>
              <a:gd name="connsiteY83" fmla="*/ 249650 h 721328"/>
              <a:gd name="connsiteX84" fmla="*/ 208502 w 603885"/>
              <a:gd name="connsiteY84" fmla="*/ 222694 h 721328"/>
              <a:gd name="connsiteX85" fmla="*/ 299942 w 603885"/>
              <a:gd name="connsiteY85" fmla="*/ 222027 h 721328"/>
              <a:gd name="connsiteX86" fmla="*/ 327564 w 603885"/>
              <a:gd name="connsiteY86" fmla="*/ 249650 h 721328"/>
              <a:gd name="connsiteX87" fmla="*/ 299942 w 603885"/>
              <a:gd name="connsiteY87" fmla="*/ 277272 h 721328"/>
              <a:gd name="connsiteX88" fmla="*/ 272319 w 603885"/>
              <a:gd name="connsiteY88" fmla="*/ 249650 h 721328"/>
              <a:gd name="connsiteX89" fmla="*/ 299942 w 603885"/>
              <a:gd name="connsiteY89" fmla="*/ 222027 h 721328"/>
              <a:gd name="connsiteX90" fmla="*/ 391382 w 603885"/>
              <a:gd name="connsiteY90" fmla="*/ 221361 h 721328"/>
              <a:gd name="connsiteX91" fmla="*/ 419672 w 603885"/>
              <a:gd name="connsiteY91" fmla="*/ 249650 h 721328"/>
              <a:gd name="connsiteX92" fmla="*/ 391382 w 603885"/>
              <a:gd name="connsiteY92" fmla="*/ 277940 h 721328"/>
              <a:gd name="connsiteX93" fmla="*/ 363093 w 603885"/>
              <a:gd name="connsiteY93" fmla="*/ 249650 h 721328"/>
              <a:gd name="connsiteX94" fmla="*/ 391382 w 603885"/>
              <a:gd name="connsiteY94" fmla="*/ 221361 h 721328"/>
              <a:gd name="connsiteX95" fmla="*/ 482822 w 603885"/>
              <a:gd name="connsiteY95" fmla="*/ 220789 h 721328"/>
              <a:gd name="connsiteX96" fmla="*/ 511778 w 603885"/>
              <a:gd name="connsiteY96" fmla="*/ 249745 h 721328"/>
              <a:gd name="connsiteX97" fmla="*/ 482822 w 603885"/>
              <a:gd name="connsiteY97" fmla="*/ 278701 h 721328"/>
              <a:gd name="connsiteX98" fmla="*/ 453866 w 603885"/>
              <a:gd name="connsiteY98" fmla="*/ 249745 h 721328"/>
              <a:gd name="connsiteX99" fmla="*/ 482822 w 603885"/>
              <a:gd name="connsiteY99" fmla="*/ 220789 h 721328"/>
              <a:gd name="connsiteX100" fmla="*/ 117157 w 603885"/>
              <a:gd name="connsiteY100" fmla="*/ 112395 h 721328"/>
              <a:gd name="connsiteX101" fmla="*/ 143446 w 603885"/>
              <a:gd name="connsiteY101" fmla="*/ 138684 h 721328"/>
              <a:gd name="connsiteX102" fmla="*/ 117157 w 603885"/>
              <a:gd name="connsiteY102" fmla="*/ 165068 h 721328"/>
              <a:gd name="connsiteX103" fmla="*/ 90773 w 603885"/>
              <a:gd name="connsiteY103" fmla="*/ 138684 h 721328"/>
              <a:gd name="connsiteX104" fmla="*/ 117157 w 603885"/>
              <a:gd name="connsiteY104" fmla="*/ 112395 h 721328"/>
              <a:gd name="connsiteX105" fmla="*/ 208502 w 603885"/>
              <a:gd name="connsiteY105" fmla="*/ 111728 h 721328"/>
              <a:gd name="connsiteX106" fmla="*/ 235458 w 603885"/>
              <a:gd name="connsiteY106" fmla="*/ 138684 h 721328"/>
              <a:gd name="connsiteX107" fmla="*/ 208502 w 603885"/>
              <a:gd name="connsiteY107" fmla="*/ 165640 h 721328"/>
              <a:gd name="connsiteX108" fmla="*/ 181546 w 603885"/>
              <a:gd name="connsiteY108" fmla="*/ 138684 h 721328"/>
              <a:gd name="connsiteX109" fmla="*/ 208502 w 603885"/>
              <a:gd name="connsiteY109" fmla="*/ 111728 h 721328"/>
              <a:gd name="connsiteX110" fmla="*/ 299942 w 603885"/>
              <a:gd name="connsiteY110" fmla="*/ 111061 h 721328"/>
              <a:gd name="connsiteX111" fmla="*/ 327564 w 603885"/>
              <a:gd name="connsiteY111" fmla="*/ 138683 h 721328"/>
              <a:gd name="connsiteX112" fmla="*/ 299942 w 603885"/>
              <a:gd name="connsiteY112" fmla="*/ 166306 h 721328"/>
              <a:gd name="connsiteX113" fmla="*/ 272319 w 603885"/>
              <a:gd name="connsiteY113" fmla="*/ 138683 h 721328"/>
              <a:gd name="connsiteX114" fmla="*/ 299942 w 603885"/>
              <a:gd name="connsiteY114" fmla="*/ 111061 h 721328"/>
              <a:gd name="connsiteX115" fmla="*/ 391382 w 603885"/>
              <a:gd name="connsiteY115" fmla="*/ 110394 h 721328"/>
              <a:gd name="connsiteX116" fmla="*/ 419672 w 603885"/>
              <a:gd name="connsiteY116" fmla="*/ 138683 h 721328"/>
              <a:gd name="connsiteX117" fmla="*/ 391382 w 603885"/>
              <a:gd name="connsiteY117" fmla="*/ 166973 h 721328"/>
              <a:gd name="connsiteX118" fmla="*/ 363093 w 603885"/>
              <a:gd name="connsiteY118" fmla="*/ 138683 h 721328"/>
              <a:gd name="connsiteX119" fmla="*/ 391382 w 603885"/>
              <a:gd name="connsiteY119" fmla="*/ 110394 h 721328"/>
              <a:gd name="connsiteX120" fmla="*/ 25717 w 603885"/>
              <a:gd name="connsiteY120" fmla="*/ 2000 h 721328"/>
              <a:gd name="connsiteX121" fmla="*/ 51435 w 603885"/>
              <a:gd name="connsiteY121" fmla="*/ 27717 h 721328"/>
              <a:gd name="connsiteX122" fmla="*/ 25717 w 603885"/>
              <a:gd name="connsiteY122" fmla="*/ 53435 h 721328"/>
              <a:gd name="connsiteX123" fmla="*/ 0 w 603885"/>
              <a:gd name="connsiteY123" fmla="*/ 27717 h 721328"/>
              <a:gd name="connsiteX124" fmla="*/ 25717 w 603885"/>
              <a:gd name="connsiteY124" fmla="*/ 2000 h 721328"/>
              <a:gd name="connsiteX125" fmla="*/ 117157 w 603885"/>
              <a:gd name="connsiteY125" fmla="*/ 1333 h 721328"/>
              <a:gd name="connsiteX126" fmla="*/ 143446 w 603885"/>
              <a:gd name="connsiteY126" fmla="*/ 27622 h 721328"/>
              <a:gd name="connsiteX127" fmla="*/ 117157 w 603885"/>
              <a:gd name="connsiteY127" fmla="*/ 54006 h 721328"/>
              <a:gd name="connsiteX128" fmla="*/ 90773 w 603885"/>
              <a:gd name="connsiteY128" fmla="*/ 27622 h 721328"/>
              <a:gd name="connsiteX129" fmla="*/ 117157 w 603885"/>
              <a:gd name="connsiteY129" fmla="*/ 1333 h 721328"/>
              <a:gd name="connsiteX130" fmla="*/ 208502 w 603885"/>
              <a:gd name="connsiteY130" fmla="*/ 666 h 721328"/>
              <a:gd name="connsiteX131" fmla="*/ 235458 w 603885"/>
              <a:gd name="connsiteY131" fmla="*/ 27622 h 721328"/>
              <a:gd name="connsiteX132" fmla="*/ 208502 w 603885"/>
              <a:gd name="connsiteY132" fmla="*/ 54578 h 721328"/>
              <a:gd name="connsiteX133" fmla="*/ 181546 w 603885"/>
              <a:gd name="connsiteY133" fmla="*/ 27622 h 721328"/>
              <a:gd name="connsiteX134" fmla="*/ 208502 w 603885"/>
              <a:gd name="connsiteY134" fmla="*/ 666 h 721328"/>
              <a:gd name="connsiteX135" fmla="*/ 299942 w 603885"/>
              <a:gd name="connsiteY135" fmla="*/ 0 h 721328"/>
              <a:gd name="connsiteX136" fmla="*/ 327564 w 603885"/>
              <a:gd name="connsiteY136" fmla="*/ 27622 h 721328"/>
              <a:gd name="connsiteX137" fmla="*/ 299942 w 603885"/>
              <a:gd name="connsiteY137" fmla="*/ 55245 h 721328"/>
              <a:gd name="connsiteX138" fmla="*/ 272319 w 603885"/>
              <a:gd name="connsiteY138" fmla="*/ 27622 h 721328"/>
              <a:gd name="connsiteX139" fmla="*/ 299942 w 603885"/>
              <a:gd name="connsiteY139" fmla="*/ 0 h 721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603885" h="721328">
                <a:moveTo>
                  <a:pt x="25717" y="668083"/>
                </a:moveTo>
                <a:cubicBezTo>
                  <a:pt x="39910" y="668083"/>
                  <a:pt x="51435" y="679608"/>
                  <a:pt x="51435" y="693801"/>
                </a:cubicBezTo>
                <a:cubicBezTo>
                  <a:pt x="51435" y="707993"/>
                  <a:pt x="39910" y="719518"/>
                  <a:pt x="25717" y="719518"/>
                </a:cubicBezTo>
                <a:cubicBezTo>
                  <a:pt x="11525" y="719518"/>
                  <a:pt x="0" y="707993"/>
                  <a:pt x="0" y="693801"/>
                </a:cubicBezTo>
                <a:cubicBezTo>
                  <a:pt x="0" y="679608"/>
                  <a:pt x="11525" y="668083"/>
                  <a:pt x="25717" y="668083"/>
                </a:cubicBezTo>
                <a:close/>
                <a:moveTo>
                  <a:pt x="117157" y="667416"/>
                </a:moveTo>
                <a:cubicBezTo>
                  <a:pt x="131635" y="667416"/>
                  <a:pt x="143446" y="679227"/>
                  <a:pt x="143446" y="693705"/>
                </a:cubicBezTo>
                <a:cubicBezTo>
                  <a:pt x="143446" y="708278"/>
                  <a:pt x="131635" y="720089"/>
                  <a:pt x="117157" y="720089"/>
                </a:cubicBezTo>
                <a:cubicBezTo>
                  <a:pt x="102584" y="720089"/>
                  <a:pt x="90773" y="708183"/>
                  <a:pt x="90773" y="693705"/>
                </a:cubicBezTo>
                <a:cubicBezTo>
                  <a:pt x="90773" y="679227"/>
                  <a:pt x="102679" y="667416"/>
                  <a:pt x="117157" y="667416"/>
                </a:cubicBezTo>
                <a:close/>
                <a:moveTo>
                  <a:pt x="208502" y="666750"/>
                </a:moveTo>
                <a:cubicBezTo>
                  <a:pt x="223456" y="666750"/>
                  <a:pt x="235553" y="678847"/>
                  <a:pt x="235458" y="693706"/>
                </a:cubicBezTo>
                <a:cubicBezTo>
                  <a:pt x="235458" y="708565"/>
                  <a:pt x="223361" y="720662"/>
                  <a:pt x="208502" y="720662"/>
                </a:cubicBezTo>
                <a:cubicBezTo>
                  <a:pt x="193643" y="720662"/>
                  <a:pt x="181546" y="708565"/>
                  <a:pt x="181546" y="693706"/>
                </a:cubicBezTo>
                <a:cubicBezTo>
                  <a:pt x="181546" y="678847"/>
                  <a:pt x="193643" y="666750"/>
                  <a:pt x="208502" y="666750"/>
                </a:cubicBezTo>
                <a:close/>
                <a:moveTo>
                  <a:pt x="299942" y="666083"/>
                </a:moveTo>
                <a:cubicBezTo>
                  <a:pt x="315182" y="666083"/>
                  <a:pt x="327564" y="678466"/>
                  <a:pt x="327564" y="693706"/>
                </a:cubicBezTo>
                <a:cubicBezTo>
                  <a:pt x="327564" y="708946"/>
                  <a:pt x="315182" y="721328"/>
                  <a:pt x="299942" y="721328"/>
                </a:cubicBezTo>
                <a:cubicBezTo>
                  <a:pt x="284702" y="721328"/>
                  <a:pt x="272319" y="708946"/>
                  <a:pt x="272319" y="693706"/>
                </a:cubicBezTo>
                <a:cubicBezTo>
                  <a:pt x="272319" y="678466"/>
                  <a:pt x="284702" y="666083"/>
                  <a:pt x="299942" y="666083"/>
                </a:cubicBezTo>
                <a:close/>
                <a:moveTo>
                  <a:pt x="117157" y="556355"/>
                </a:moveTo>
                <a:cubicBezTo>
                  <a:pt x="131635" y="556355"/>
                  <a:pt x="143446" y="568166"/>
                  <a:pt x="143446" y="582644"/>
                </a:cubicBezTo>
                <a:cubicBezTo>
                  <a:pt x="143446" y="597217"/>
                  <a:pt x="131635" y="609028"/>
                  <a:pt x="117157" y="609028"/>
                </a:cubicBezTo>
                <a:cubicBezTo>
                  <a:pt x="102584" y="609028"/>
                  <a:pt x="90773" y="597122"/>
                  <a:pt x="90773" y="582644"/>
                </a:cubicBezTo>
                <a:cubicBezTo>
                  <a:pt x="90773" y="568166"/>
                  <a:pt x="102679" y="556355"/>
                  <a:pt x="117157" y="556355"/>
                </a:cubicBezTo>
                <a:close/>
                <a:moveTo>
                  <a:pt x="208502" y="555784"/>
                </a:moveTo>
                <a:cubicBezTo>
                  <a:pt x="223456" y="555784"/>
                  <a:pt x="235553" y="567881"/>
                  <a:pt x="235458" y="582740"/>
                </a:cubicBezTo>
                <a:cubicBezTo>
                  <a:pt x="235458" y="597599"/>
                  <a:pt x="223361" y="609695"/>
                  <a:pt x="208502" y="609695"/>
                </a:cubicBezTo>
                <a:cubicBezTo>
                  <a:pt x="193643" y="609695"/>
                  <a:pt x="181546" y="597599"/>
                  <a:pt x="181546" y="582740"/>
                </a:cubicBezTo>
                <a:cubicBezTo>
                  <a:pt x="181546" y="567881"/>
                  <a:pt x="193643" y="555784"/>
                  <a:pt x="208502" y="555784"/>
                </a:cubicBezTo>
                <a:close/>
                <a:moveTo>
                  <a:pt x="299942" y="555117"/>
                </a:moveTo>
                <a:cubicBezTo>
                  <a:pt x="315182" y="555117"/>
                  <a:pt x="327564" y="567499"/>
                  <a:pt x="327564" y="582739"/>
                </a:cubicBezTo>
                <a:cubicBezTo>
                  <a:pt x="327564" y="597980"/>
                  <a:pt x="315182" y="610362"/>
                  <a:pt x="299942" y="610362"/>
                </a:cubicBezTo>
                <a:cubicBezTo>
                  <a:pt x="284702" y="610362"/>
                  <a:pt x="272319" y="597980"/>
                  <a:pt x="272319" y="582739"/>
                </a:cubicBezTo>
                <a:cubicBezTo>
                  <a:pt x="272319" y="567499"/>
                  <a:pt x="284702" y="555117"/>
                  <a:pt x="299942" y="555117"/>
                </a:cubicBezTo>
                <a:close/>
                <a:moveTo>
                  <a:pt x="391382" y="554450"/>
                </a:moveTo>
                <a:cubicBezTo>
                  <a:pt x="407003" y="554450"/>
                  <a:pt x="419672" y="567118"/>
                  <a:pt x="419672" y="582739"/>
                </a:cubicBezTo>
                <a:cubicBezTo>
                  <a:pt x="419672" y="598360"/>
                  <a:pt x="407003" y="611029"/>
                  <a:pt x="391382" y="611029"/>
                </a:cubicBezTo>
                <a:cubicBezTo>
                  <a:pt x="375761" y="611029"/>
                  <a:pt x="363093" y="598360"/>
                  <a:pt x="363093" y="582739"/>
                </a:cubicBezTo>
                <a:cubicBezTo>
                  <a:pt x="363093" y="567118"/>
                  <a:pt x="375761" y="554450"/>
                  <a:pt x="391382" y="554450"/>
                </a:cubicBezTo>
                <a:close/>
                <a:moveTo>
                  <a:pt x="208502" y="444722"/>
                </a:moveTo>
                <a:cubicBezTo>
                  <a:pt x="223456" y="444722"/>
                  <a:pt x="235553" y="456819"/>
                  <a:pt x="235458" y="471678"/>
                </a:cubicBezTo>
                <a:cubicBezTo>
                  <a:pt x="235458" y="486537"/>
                  <a:pt x="223361" y="498634"/>
                  <a:pt x="208502" y="498634"/>
                </a:cubicBezTo>
                <a:cubicBezTo>
                  <a:pt x="193643" y="498634"/>
                  <a:pt x="181546" y="486537"/>
                  <a:pt x="181546" y="471678"/>
                </a:cubicBezTo>
                <a:cubicBezTo>
                  <a:pt x="181546" y="456819"/>
                  <a:pt x="193643" y="444722"/>
                  <a:pt x="208502" y="444722"/>
                </a:cubicBezTo>
                <a:close/>
                <a:moveTo>
                  <a:pt x="299942" y="444055"/>
                </a:moveTo>
                <a:cubicBezTo>
                  <a:pt x="315182" y="444055"/>
                  <a:pt x="327564" y="456437"/>
                  <a:pt x="327564" y="471678"/>
                </a:cubicBezTo>
                <a:cubicBezTo>
                  <a:pt x="327564" y="486918"/>
                  <a:pt x="315182" y="499300"/>
                  <a:pt x="299942" y="499300"/>
                </a:cubicBezTo>
                <a:cubicBezTo>
                  <a:pt x="284702" y="499300"/>
                  <a:pt x="272319" y="486918"/>
                  <a:pt x="272319" y="471678"/>
                </a:cubicBezTo>
                <a:cubicBezTo>
                  <a:pt x="272319" y="456437"/>
                  <a:pt x="284702" y="444055"/>
                  <a:pt x="299942" y="444055"/>
                </a:cubicBezTo>
                <a:close/>
                <a:moveTo>
                  <a:pt x="391382" y="443389"/>
                </a:moveTo>
                <a:cubicBezTo>
                  <a:pt x="407003" y="443389"/>
                  <a:pt x="419672" y="456153"/>
                  <a:pt x="419672" y="471678"/>
                </a:cubicBezTo>
                <a:cubicBezTo>
                  <a:pt x="419672" y="487299"/>
                  <a:pt x="407003" y="499968"/>
                  <a:pt x="391382" y="499968"/>
                </a:cubicBezTo>
                <a:cubicBezTo>
                  <a:pt x="375761" y="499968"/>
                  <a:pt x="363093" y="487299"/>
                  <a:pt x="363093" y="471678"/>
                </a:cubicBezTo>
                <a:cubicBezTo>
                  <a:pt x="363093" y="456057"/>
                  <a:pt x="375761" y="443389"/>
                  <a:pt x="391382" y="443389"/>
                </a:cubicBezTo>
                <a:close/>
                <a:moveTo>
                  <a:pt x="482822" y="442817"/>
                </a:moveTo>
                <a:cubicBezTo>
                  <a:pt x="498729" y="442817"/>
                  <a:pt x="511778" y="455771"/>
                  <a:pt x="511778" y="471773"/>
                </a:cubicBezTo>
                <a:cubicBezTo>
                  <a:pt x="511778" y="487775"/>
                  <a:pt x="498824" y="500729"/>
                  <a:pt x="482822" y="500729"/>
                </a:cubicBezTo>
                <a:cubicBezTo>
                  <a:pt x="466820" y="500729"/>
                  <a:pt x="453866" y="487775"/>
                  <a:pt x="453866" y="471773"/>
                </a:cubicBezTo>
                <a:cubicBezTo>
                  <a:pt x="453866" y="455771"/>
                  <a:pt x="466820" y="442817"/>
                  <a:pt x="482822" y="442817"/>
                </a:cubicBezTo>
                <a:close/>
                <a:moveTo>
                  <a:pt x="299942" y="333089"/>
                </a:moveTo>
                <a:cubicBezTo>
                  <a:pt x="315182" y="333089"/>
                  <a:pt x="327564" y="345472"/>
                  <a:pt x="327564" y="360712"/>
                </a:cubicBezTo>
                <a:cubicBezTo>
                  <a:pt x="327564" y="375952"/>
                  <a:pt x="315182" y="388334"/>
                  <a:pt x="299942" y="388334"/>
                </a:cubicBezTo>
                <a:cubicBezTo>
                  <a:pt x="284702" y="388334"/>
                  <a:pt x="272319" y="375952"/>
                  <a:pt x="272319" y="360712"/>
                </a:cubicBezTo>
                <a:cubicBezTo>
                  <a:pt x="272319" y="345472"/>
                  <a:pt x="284702" y="333089"/>
                  <a:pt x="299942" y="333089"/>
                </a:cubicBezTo>
                <a:close/>
                <a:moveTo>
                  <a:pt x="391382" y="332422"/>
                </a:moveTo>
                <a:cubicBezTo>
                  <a:pt x="407003" y="332422"/>
                  <a:pt x="419672" y="345090"/>
                  <a:pt x="419672" y="360711"/>
                </a:cubicBezTo>
                <a:cubicBezTo>
                  <a:pt x="419672" y="376332"/>
                  <a:pt x="407003" y="389001"/>
                  <a:pt x="391382" y="389001"/>
                </a:cubicBezTo>
                <a:cubicBezTo>
                  <a:pt x="375761" y="389001"/>
                  <a:pt x="363093" y="376332"/>
                  <a:pt x="363093" y="360711"/>
                </a:cubicBezTo>
                <a:cubicBezTo>
                  <a:pt x="363093" y="345090"/>
                  <a:pt x="375761" y="332422"/>
                  <a:pt x="391382" y="332422"/>
                </a:cubicBezTo>
                <a:close/>
                <a:moveTo>
                  <a:pt x="482822" y="331755"/>
                </a:moveTo>
                <a:cubicBezTo>
                  <a:pt x="498729" y="331755"/>
                  <a:pt x="511778" y="344709"/>
                  <a:pt x="511778" y="360711"/>
                </a:cubicBezTo>
                <a:cubicBezTo>
                  <a:pt x="511778" y="376713"/>
                  <a:pt x="498824" y="389667"/>
                  <a:pt x="482822" y="389667"/>
                </a:cubicBezTo>
                <a:cubicBezTo>
                  <a:pt x="466820" y="389667"/>
                  <a:pt x="453866" y="376713"/>
                  <a:pt x="453866" y="360711"/>
                </a:cubicBezTo>
                <a:cubicBezTo>
                  <a:pt x="453866" y="344709"/>
                  <a:pt x="466820" y="331755"/>
                  <a:pt x="482822" y="331755"/>
                </a:cubicBezTo>
                <a:close/>
                <a:moveTo>
                  <a:pt x="574262" y="331089"/>
                </a:moveTo>
                <a:cubicBezTo>
                  <a:pt x="590549" y="331089"/>
                  <a:pt x="603789" y="344424"/>
                  <a:pt x="603885" y="360712"/>
                </a:cubicBezTo>
                <a:cubicBezTo>
                  <a:pt x="603885" y="377095"/>
                  <a:pt x="590549" y="390335"/>
                  <a:pt x="574262" y="390335"/>
                </a:cubicBezTo>
                <a:cubicBezTo>
                  <a:pt x="557879" y="390335"/>
                  <a:pt x="544639" y="376999"/>
                  <a:pt x="544639" y="360712"/>
                </a:cubicBezTo>
                <a:cubicBezTo>
                  <a:pt x="544639" y="344329"/>
                  <a:pt x="557974" y="331089"/>
                  <a:pt x="574262" y="331089"/>
                </a:cubicBezTo>
                <a:close/>
                <a:moveTo>
                  <a:pt x="208502" y="222694"/>
                </a:moveTo>
                <a:cubicBezTo>
                  <a:pt x="223456" y="222694"/>
                  <a:pt x="235553" y="234791"/>
                  <a:pt x="235458" y="249650"/>
                </a:cubicBezTo>
                <a:cubicBezTo>
                  <a:pt x="235458" y="264509"/>
                  <a:pt x="223361" y="276606"/>
                  <a:pt x="208502" y="276606"/>
                </a:cubicBezTo>
                <a:cubicBezTo>
                  <a:pt x="193643" y="276606"/>
                  <a:pt x="181546" y="264509"/>
                  <a:pt x="181546" y="249650"/>
                </a:cubicBezTo>
                <a:cubicBezTo>
                  <a:pt x="181546" y="234791"/>
                  <a:pt x="193643" y="222694"/>
                  <a:pt x="208502" y="222694"/>
                </a:cubicBezTo>
                <a:close/>
                <a:moveTo>
                  <a:pt x="299942" y="222027"/>
                </a:moveTo>
                <a:cubicBezTo>
                  <a:pt x="315182" y="222027"/>
                  <a:pt x="327564" y="234505"/>
                  <a:pt x="327564" y="249650"/>
                </a:cubicBezTo>
                <a:cubicBezTo>
                  <a:pt x="327564" y="264890"/>
                  <a:pt x="315182" y="277272"/>
                  <a:pt x="299942" y="277272"/>
                </a:cubicBezTo>
                <a:cubicBezTo>
                  <a:pt x="284702" y="277272"/>
                  <a:pt x="272319" y="264890"/>
                  <a:pt x="272319" y="249650"/>
                </a:cubicBezTo>
                <a:cubicBezTo>
                  <a:pt x="272319" y="234410"/>
                  <a:pt x="284702" y="222027"/>
                  <a:pt x="299942" y="222027"/>
                </a:cubicBezTo>
                <a:close/>
                <a:moveTo>
                  <a:pt x="391382" y="221361"/>
                </a:moveTo>
                <a:cubicBezTo>
                  <a:pt x="407003" y="221361"/>
                  <a:pt x="419672" y="234125"/>
                  <a:pt x="419672" y="249650"/>
                </a:cubicBezTo>
                <a:cubicBezTo>
                  <a:pt x="419672" y="265271"/>
                  <a:pt x="407003" y="277940"/>
                  <a:pt x="391382" y="277940"/>
                </a:cubicBezTo>
                <a:cubicBezTo>
                  <a:pt x="375761" y="277940"/>
                  <a:pt x="363093" y="265271"/>
                  <a:pt x="363093" y="249650"/>
                </a:cubicBezTo>
                <a:cubicBezTo>
                  <a:pt x="363093" y="234029"/>
                  <a:pt x="375761" y="221361"/>
                  <a:pt x="391382" y="221361"/>
                </a:cubicBezTo>
                <a:close/>
                <a:moveTo>
                  <a:pt x="482822" y="220789"/>
                </a:moveTo>
                <a:cubicBezTo>
                  <a:pt x="498729" y="220789"/>
                  <a:pt x="511778" y="233743"/>
                  <a:pt x="511778" y="249745"/>
                </a:cubicBezTo>
                <a:cubicBezTo>
                  <a:pt x="511778" y="265747"/>
                  <a:pt x="498824" y="278701"/>
                  <a:pt x="482822" y="278701"/>
                </a:cubicBezTo>
                <a:cubicBezTo>
                  <a:pt x="466820" y="278701"/>
                  <a:pt x="453866" y="265747"/>
                  <a:pt x="453866" y="249745"/>
                </a:cubicBezTo>
                <a:cubicBezTo>
                  <a:pt x="453866" y="233743"/>
                  <a:pt x="466820" y="220789"/>
                  <a:pt x="482822" y="220789"/>
                </a:cubicBezTo>
                <a:close/>
                <a:moveTo>
                  <a:pt x="117157" y="112395"/>
                </a:moveTo>
                <a:cubicBezTo>
                  <a:pt x="131635" y="112395"/>
                  <a:pt x="143446" y="124206"/>
                  <a:pt x="143446" y="138684"/>
                </a:cubicBezTo>
                <a:cubicBezTo>
                  <a:pt x="143446" y="153257"/>
                  <a:pt x="131635" y="165068"/>
                  <a:pt x="117157" y="165068"/>
                </a:cubicBezTo>
                <a:cubicBezTo>
                  <a:pt x="102584" y="165068"/>
                  <a:pt x="90773" y="153162"/>
                  <a:pt x="90773" y="138684"/>
                </a:cubicBezTo>
                <a:cubicBezTo>
                  <a:pt x="90773" y="124206"/>
                  <a:pt x="102679" y="112395"/>
                  <a:pt x="117157" y="112395"/>
                </a:cubicBezTo>
                <a:close/>
                <a:moveTo>
                  <a:pt x="208502" y="111728"/>
                </a:moveTo>
                <a:cubicBezTo>
                  <a:pt x="223456" y="111728"/>
                  <a:pt x="235553" y="123825"/>
                  <a:pt x="235458" y="138684"/>
                </a:cubicBezTo>
                <a:cubicBezTo>
                  <a:pt x="235458" y="153543"/>
                  <a:pt x="223361" y="165640"/>
                  <a:pt x="208502" y="165640"/>
                </a:cubicBezTo>
                <a:cubicBezTo>
                  <a:pt x="193643" y="165640"/>
                  <a:pt x="181546" y="153543"/>
                  <a:pt x="181546" y="138684"/>
                </a:cubicBezTo>
                <a:cubicBezTo>
                  <a:pt x="181546" y="123825"/>
                  <a:pt x="193643" y="111728"/>
                  <a:pt x="208502" y="111728"/>
                </a:cubicBezTo>
                <a:close/>
                <a:moveTo>
                  <a:pt x="299942" y="111061"/>
                </a:moveTo>
                <a:cubicBezTo>
                  <a:pt x="315182" y="111061"/>
                  <a:pt x="327564" y="123443"/>
                  <a:pt x="327564" y="138683"/>
                </a:cubicBezTo>
                <a:cubicBezTo>
                  <a:pt x="327564" y="153924"/>
                  <a:pt x="315182" y="166306"/>
                  <a:pt x="299942" y="166306"/>
                </a:cubicBezTo>
                <a:cubicBezTo>
                  <a:pt x="284702" y="166306"/>
                  <a:pt x="272319" y="153924"/>
                  <a:pt x="272319" y="138683"/>
                </a:cubicBezTo>
                <a:cubicBezTo>
                  <a:pt x="272319" y="123443"/>
                  <a:pt x="284702" y="111061"/>
                  <a:pt x="299942" y="111061"/>
                </a:cubicBezTo>
                <a:close/>
                <a:moveTo>
                  <a:pt x="391382" y="110394"/>
                </a:moveTo>
                <a:cubicBezTo>
                  <a:pt x="407003" y="110394"/>
                  <a:pt x="419672" y="123062"/>
                  <a:pt x="419672" y="138683"/>
                </a:cubicBezTo>
                <a:cubicBezTo>
                  <a:pt x="419672" y="154304"/>
                  <a:pt x="407003" y="166973"/>
                  <a:pt x="391382" y="166973"/>
                </a:cubicBezTo>
                <a:cubicBezTo>
                  <a:pt x="375761" y="166973"/>
                  <a:pt x="363093" y="154304"/>
                  <a:pt x="363093" y="138683"/>
                </a:cubicBezTo>
                <a:cubicBezTo>
                  <a:pt x="363093" y="123062"/>
                  <a:pt x="375761" y="110394"/>
                  <a:pt x="391382" y="110394"/>
                </a:cubicBezTo>
                <a:close/>
                <a:moveTo>
                  <a:pt x="25717" y="2000"/>
                </a:moveTo>
                <a:cubicBezTo>
                  <a:pt x="39910" y="2000"/>
                  <a:pt x="51435" y="13525"/>
                  <a:pt x="51435" y="27717"/>
                </a:cubicBezTo>
                <a:cubicBezTo>
                  <a:pt x="51435" y="41910"/>
                  <a:pt x="39910" y="53435"/>
                  <a:pt x="25717" y="53435"/>
                </a:cubicBezTo>
                <a:cubicBezTo>
                  <a:pt x="11525" y="53435"/>
                  <a:pt x="0" y="41910"/>
                  <a:pt x="0" y="27717"/>
                </a:cubicBezTo>
                <a:cubicBezTo>
                  <a:pt x="0" y="13525"/>
                  <a:pt x="11525" y="2000"/>
                  <a:pt x="25717" y="2000"/>
                </a:cubicBezTo>
                <a:close/>
                <a:moveTo>
                  <a:pt x="117157" y="1333"/>
                </a:moveTo>
                <a:cubicBezTo>
                  <a:pt x="131635" y="1333"/>
                  <a:pt x="143446" y="13144"/>
                  <a:pt x="143446" y="27622"/>
                </a:cubicBezTo>
                <a:cubicBezTo>
                  <a:pt x="143446" y="42195"/>
                  <a:pt x="131635" y="54006"/>
                  <a:pt x="117157" y="54006"/>
                </a:cubicBezTo>
                <a:cubicBezTo>
                  <a:pt x="102584" y="54006"/>
                  <a:pt x="90773" y="42100"/>
                  <a:pt x="90773" y="27622"/>
                </a:cubicBezTo>
                <a:cubicBezTo>
                  <a:pt x="90773" y="13144"/>
                  <a:pt x="102679" y="1333"/>
                  <a:pt x="117157" y="1333"/>
                </a:cubicBezTo>
                <a:close/>
                <a:moveTo>
                  <a:pt x="208502" y="666"/>
                </a:moveTo>
                <a:cubicBezTo>
                  <a:pt x="223456" y="666"/>
                  <a:pt x="235553" y="12763"/>
                  <a:pt x="235458" y="27622"/>
                </a:cubicBezTo>
                <a:cubicBezTo>
                  <a:pt x="235458" y="42481"/>
                  <a:pt x="223361" y="54578"/>
                  <a:pt x="208502" y="54578"/>
                </a:cubicBezTo>
                <a:cubicBezTo>
                  <a:pt x="193643" y="54578"/>
                  <a:pt x="181546" y="42481"/>
                  <a:pt x="181546" y="27622"/>
                </a:cubicBezTo>
                <a:cubicBezTo>
                  <a:pt x="181546" y="12763"/>
                  <a:pt x="193643" y="666"/>
                  <a:pt x="208502" y="666"/>
                </a:cubicBezTo>
                <a:close/>
                <a:moveTo>
                  <a:pt x="299942" y="0"/>
                </a:moveTo>
                <a:cubicBezTo>
                  <a:pt x="315182" y="0"/>
                  <a:pt x="327564" y="12478"/>
                  <a:pt x="327564" y="27622"/>
                </a:cubicBezTo>
                <a:cubicBezTo>
                  <a:pt x="327564" y="42862"/>
                  <a:pt x="315182" y="55245"/>
                  <a:pt x="299942" y="55245"/>
                </a:cubicBezTo>
                <a:cubicBezTo>
                  <a:pt x="284702" y="55245"/>
                  <a:pt x="272319" y="42862"/>
                  <a:pt x="272319" y="27622"/>
                </a:cubicBezTo>
                <a:cubicBezTo>
                  <a:pt x="272319" y="12383"/>
                  <a:pt x="284702" y="0"/>
                  <a:pt x="299942" y="0"/>
                </a:cubicBezTo>
                <a:close/>
              </a:path>
            </a:pathLst>
          </a:custGeom>
          <a:gradFill>
            <a:gsLst>
              <a:gs pos="68000">
                <a:schemeClr val="accent1"/>
              </a:gs>
              <a:gs pos="0">
                <a:schemeClr val="accent1">
                  <a:lumMod val="70000"/>
                  <a:lumOff val="30000"/>
                  <a:alpha val="0"/>
                </a:schemeClr>
              </a:gs>
            </a:gsLst>
            <a:lin ang="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11" name="熊大的PPT宝库69"/>
          <p:cNvSpPr/>
          <p:nvPr/>
        </p:nvSpPr>
        <p:spPr>
          <a:xfrm rot="16200000">
            <a:off x="6316815" y="3729200"/>
            <a:ext cx="193370" cy="261206"/>
          </a:xfrm>
          <a:custGeom>
            <a:avLst/>
            <a:gdLst>
              <a:gd name="connsiteX0" fmla="*/ 30289 w 705136"/>
              <a:gd name="connsiteY0" fmla="*/ 890016 h 952499"/>
              <a:gd name="connsiteX1" fmla="*/ 60579 w 705136"/>
              <a:gd name="connsiteY1" fmla="*/ 920306 h 952499"/>
              <a:gd name="connsiteX2" fmla="*/ 30289 w 705136"/>
              <a:gd name="connsiteY2" fmla="*/ 950595 h 952499"/>
              <a:gd name="connsiteX3" fmla="*/ 0 w 705136"/>
              <a:gd name="connsiteY3" fmla="*/ 920306 h 952499"/>
              <a:gd name="connsiteX4" fmla="*/ 30289 w 705136"/>
              <a:gd name="connsiteY4" fmla="*/ 890016 h 952499"/>
              <a:gd name="connsiteX5" fmla="*/ 121730 w 705136"/>
              <a:gd name="connsiteY5" fmla="*/ 889349 h 952499"/>
              <a:gd name="connsiteX6" fmla="*/ 152591 w 705136"/>
              <a:gd name="connsiteY6" fmla="*/ 920210 h 952499"/>
              <a:gd name="connsiteX7" fmla="*/ 121730 w 705136"/>
              <a:gd name="connsiteY7" fmla="*/ 951166 h 952499"/>
              <a:gd name="connsiteX8" fmla="*/ 90774 w 705136"/>
              <a:gd name="connsiteY8" fmla="*/ 920210 h 952499"/>
              <a:gd name="connsiteX9" fmla="*/ 121730 w 705136"/>
              <a:gd name="connsiteY9" fmla="*/ 889349 h 952499"/>
              <a:gd name="connsiteX10" fmla="*/ 213170 w 705136"/>
              <a:gd name="connsiteY10" fmla="*/ 888682 h 952499"/>
              <a:gd name="connsiteX11" fmla="*/ 244697 w 705136"/>
              <a:gd name="connsiteY11" fmla="*/ 920210 h 952499"/>
              <a:gd name="connsiteX12" fmla="*/ 213170 w 705136"/>
              <a:gd name="connsiteY12" fmla="*/ 951737 h 952499"/>
              <a:gd name="connsiteX13" fmla="*/ 181642 w 705136"/>
              <a:gd name="connsiteY13" fmla="*/ 920210 h 952499"/>
              <a:gd name="connsiteX14" fmla="*/ 213170 w 705136"/>
              <a:gd name="connsiteY14" fmla="*/ 888682 h 952499"/>
              <a:gd name="connsiteX15" fmla="*/ 304610 w 705136"/>
              <a:gd name="connsiteY15" fmla="*/ 888110 h 952499"/>
              <a:gd name="connsiteX16" fmla="*/ 336804 w 705136"/>
              <a:gd name="connsiteY16" fmla="*/ 920305 h 952499"/>
              <a:gd name="connsiteX17" fmla="*/ 304610 w 705136"/>
              <a:gd name="connsiteY17" fmla="*/ 952499 h 952499"/>
              <a:gd name="connsiteX18" fmla="*/ 272415 w 705136"/>
              <a:gd name="connsiteY18" fmla="*/ 920305 h 952499"/>
              <a:gd name="connsiteX19" fmla="*/ 304610 w 705136"/>
              <a:gd name="connsiteY19" fmla="*/ 888110 h 952499"/>
              <a:gd name="connsiteX20" fmla="*/ 121730 w 705136"/>
              <a:gd name="connsiteY20" fmla="*/ 778383 h 952499"/>
              <a:gd name="connsiteX21" fmla="*/ 152591 w 705136"/>
              <a:gd name="connsiteY21" fmla="*/ 809244 h 952499"/>
              <a:gd name="connsiteX22" fmla="*/ 121730 w 705136"/>
              <a:gd name="connsiteY22" fmla="*/ 840200 h 952499"/>
              <a:gd name="connsiteX23" fmla="*/ 90774 w 705136"/>
              <a:gd name="connsiteY23" fmla="*/ 809244 h 952499"/>
              <a:gd name="connsiteX24" fmla="*/ 121730 w 705136"/>
              <a:gd name="connsiteY24" fmla="*/ 778383 h 952499"/>
              <a:gd name="connsiteX25" fmla="*/ 213170 w 705136"/>
              <a:gd name="connsiteY25" fmla="*/ 777716 h 952499"/>
              <a:gd name="connsiteX26" fmla="*/ 244697 w 705136"/>
              <a:gd name="connsiteY26" fmla="*/ 809244 h 952499"/>
              <a:gd name="connsiteX27" fmla="*/ 213170 w 705136"/>
              <a:gd name="connsiteY27" fmla="*/ 840771 h 952499"/>
              <a:gd name="connsiteX28" fmla="*/ 181642 w 705136"/>
              <a:gd name="connsiteY28" fmla="*/ 809244 h 952499"/>
              <a:gd name="connsiteX29" fmla="*/ 213170 w 705136"/>
              <a:gd name="connsiteY29" fmla="*/ 777716 h 952499"/>
              <a:gd name="connsiteX30" fmla="*/ 304610 w 705136"/>
              <a:gd name="connsiteY30" fmla="*/ 777049 h 952499"/>
              <a:gd name="connsiteX31" fmla="*/ 336804 w 705136"/>
              <a:gd name="connsiteY31" fmla="*/ 809243 h 952499"/>
              <a:gd name="connsiteX32" fmla="*/ 304610 w 705136"/>
              <a:gd name="connsiteY32" fmla="*/ 841438 h 952499"/>
              <a:gd name="connsiteX33" fmla="*/ 272415 w 705136"/>
              <a:gd name="connsiteY33" fmla="*/ 809243 h 952499"/>
              <a:gd name="connsiteX34" fmla="*/ 304610 w 705136"/>
              <a:gd name="connsiteY34" fmla="*/ 777049 h 952499"/>
              <a:gd name="connsiteX35" fmla="*/ 396049 w 705136"/>
              <a:gd name="connsiteY35" fmla="*/ 776382 h 952499"/>
              <a:gd name="connsiteX36" fmla="*/ 428911 w 705136"/>
              <a:gd name="connsiteY36" fmla="*/ 809243 h 952499"/>
              <a:gd name="connsiteX37" fmla="*/ 396049 w 705136"/>
              <a:gd name="connsiteY37" fmla="*/ 842105 h 952499"/>
              <a:gd name="connsiteX38" fmla="*/ 363188 w 705136"/>
              <a:gd name="connsiteY38" fmla="*/ 809243 h 952499"/>
              <a:gd name="connsiteX39" fmla="*/ 396049 w 705136"/>
              <a:gd name="connsiteY39" fmla="*/ 776382 h 952499"/>
              <a:gd name="connsiteX40" fmla="*/ 213170 w 705136"/>
              <a:gd name="connsiteY40" fmla="*/ 666750 h 952499"/>
              <a:gd name="connsiteX41" fmla="*/ 244697 w 705136"/>
              <a:gd name="connsiteY41" fmla="*/ 698278 h 952499"/>
              <a:gd name="connsiteX42" fmla="*/ 213170 w 705136"/>
              <a:gd name="connsiteY42" fmla="*/ 729806 h 952499"/>
              <a:gd name="connsiteX43" fmla="*/ 181642 w 705136"/>
              <a:gd name="connsiteY43" fmla="*/ 698278 h 952499"/>
              <a:gd name="connsiteX44" fmla="*/ 213170 w 705136"/>
              <a:gd name="connsiteY44" fmla="*/ 666750 h 952499"/>
              <a:gd name="connsiteX45" fmla="*/ 304610 w 705136"/>
              <a:gd name="connsiteY45" fmla="*/ 666083 h 952499"/>
              <a:gd name="connsiteX46" fmla="*/ 336804 w 705136"/>
              <a:gd name="connsiteY46" fmla="*/ 698277 h 952499"/>
              <a:gd name="connsiteX47" fmla="*/ 304610 w 705136"/>
              <a:gd name="connsiteY47" fmla="*/ 730472 h 952499"/>
              <a:gd name="connsiteX48" fmla="*/ 272415 w 705136"/>
              <a:gd name="connsiteY48" fmla="*/ 698277 h 952499"/>
              <a:gd name="connsiteX49" fmla="*/ 304610 w 705136"/>
              <a:gd name="connsiteY49" fmla="*/ 666083 h 952499"/>
              <a:gd name="connsiteX50" fmla="*/ 396049 w 705136"/>
              <a:gd name="connsiteY50" fmla="*/ 665416 h 952499"/>
              <a:gd name="connsiteX51" fmla="*/ 428911 w 705136"/>
              <a:gd name="connsiteY51" fmla="*/ 698277 h 952499"/>
              <a:gd name="connsiteX52" fmla="*/ 396049 w 705136"/>
              <a:gd name="connsiteY52" fmla="*/ 731139 h 952499"/>
              <a:gd name="connsiteX53" fmla="*/ 363188 w 705136"/>
              <a:gd name="connsiteY53" fmla="*/ 698277 h 952499"/>
              <a:gd name="connsiteX54" fmla="*/ 396049 w 705136"/>
              <a:gd name="connsiteY54" fmla="*/ 665416 h 952499"/>
              <a:gd name="connsiteX55" fmla="*/ 487394 w 705136"/>
              <a:gd name="connsiteY55" fmla="*/ 664749 h 952499"/>
              <a:gd name="connsiteX56" fmla="*/ 520922 w 705136"/>
              <a:gd name="connsiteY56" fmla="*/ 698277 h 952499"/>
              <a:gd name="connsiteX57" fmla="*/ 487394 w 705136"/>
              <a:gd name="connsiteY57" fmla="*/ 731805 h 952499"/>
              <a:gd name="connsiteX58" fmla="*/ 453866 w 705136"/>
              <a:gd name="connsiteY58" fmla="*/ 698277 h 952499"/>
              <a:gd name="connsiteX59" fmla="*/ 487394 w 705136"/>
              <a:gd name="connsiteY59" fmla="*/ 664749 h 952499"/>
              <a:gd name="connsiteX60" fmla="*/ 304610 w 705136"/>
              <a:gd name="connsiteY60" fmla="*/ 555021 h 952499"/>
              <a:gd name="connsiteX61" fmla="*/ 336804 w 705136"/>
              <a:gd name="connsiteY61" fmla="*/ 587216 h 952499"/>
              <a:gd name="connsiteX62" fmla="*/ 304610 w 705136"/>
              <a:gd name="connsiteY62" fmla="*/ 619410 h 952499"/>
              <a:gd name="connsiteX63" fmla="*/ 272415 w 705136"/>
              <a:gd name="connsiteY63" fmla="*/ 587216 h 952499"/>
              <a:gd name="connsiteX64" fmla="*/ 304610 w 705136"/>
              <a:gd name="connsiteY64" fmla="*/ 555021 h 952499"/>
              <a:gd name="connsiteX65" fmla="*/ 396049 w 705136"/>
              <a:gd name="connsiteY65" fmla="*/ 554355 h 952499"/>
              <a:gd name="connsiteX66" fmla="*/ 428911 w 705136"/>
              <a:gd name="connsiteY66" fmla="*/ 587216 h 952499"/>
              <a:gd name="connsiteX67" fmla="*/ 396049 w 705136"/>
              <a:gd name="connsiteY67" fmla="*/ 620077 h 952499"/>
              <a:gd name="connsiteX68" fmla="*/ 363188 w 705136"/>
              <a:gd name="connsiteY68" fmla="*/ 587216 h 952499"/>
              <a:gd name="connsiteX69" fmla="*/ 396049 w 705136"/>
              <a:gd name="connsiteY69" fmla="*/ 554355 h 952499"/>
              <a:gd name="connsiteX70" fmla="*/ 487394 w 705136"/>
              <a:gd name="connsiteY70" fmla="*/ 553783 h 952499"/>
              <a:gd name="connsiteX71" fmla="*/ 520922 w 705136"/>
              <a:gd name="connsiteY71" fmla="*/ 587311 h 952499"/>
              <a:gd name="connsiteX72" fmla="*/ 487394 w 705136"/>
              <a:gd name="connsiteY72" fmla="*/ 620839 h 952499"/>
              <a:gd name="connsiteX73" fmla="*/ 453866 w 705136"/>
              <a:gd name="connsiteY73" fmla="*/ 587311 h 952499"/>
              <a:gd name="connsiteX74" fmla="*/ 487394 w 705136"/>
              <a:gd name="connsiteY74" fmla="*/ 553783 h 952499"/>
              <a:gd name="connsiteX75" fmla="*/ 578835 w 705136"/>
              <a:gd name="connsiteY75" fmla="*/ 553116 h 952499"/>
              <a:gd name="connsiteX76" fmla="*/ 613030 w 705136"/>
              <a:gd name="connsiteY76" fmla="*/ 587311 h 952499"/>
              <a:gd name="connsiteX77" fmla="*/ 578835 w 705136"/>
              <a:gd name="connsiteY77" fmla="*/ 621506 h 952499"/>
              <a:gd name="connsiteX78" fmla="*/ 544640 w 705136"/>
              <a:gd name="connsiteY78" fmla="*/ 587311 h 952499"/>
              <a:gd name="connsiteX79" fmla="*/ 578835 w 705136"/>
              <a:gd name="connsiteY79" fmla="*/ 553116 h 952499"/>
              <a:gd name="connsiteX80" fmla="*/ 396049 w 705136"/>
              <a:gd name="connsiteY80" fmla="*/ 443388 h 952499"/>
              <a:gd name="connsiteX81" fmla="*/ 428911 w 705136"/>
              <a:gd name="connsiteY81" fmla="*/ 476249 h 952499"/>
              <a:gd name="connsiteX82" fmla="*/ 396049 w 705136"/>
              <a:gd name="connsiteY82" fmla="*/ 509111 h 952499"/>
              <a:gd name="connsiteX83" fmla="*/ 363188 w 705136"/>
              <a:gd name="connsiteY83" fmla="*/ 476249 h 952499"/>
              <a:gd name="connsiteX84" fmla="*/ 396049 w 705136"/>
              <a:gd name="connsiteY84" fmla="*/ 443388 h 952499"/>
              <a:gd name="connsiteX85" fmla="*/ 487394 w 705136"/>
              <a:gd name="connsiteY85" fmla="*/ 442721 h 952499"/>
              <a:gd name="connsiteX86" fmla="*/ 520922 w 705136"/>
              <a:gd name="connsiteY86" fmla="*/ 476249 h 952499"/>
              <a:gd name="connsiteX87" fmla="*/ 487394 w 705136"/>
              <a:gd name="connsiteY87" fmla="*/ 509777 h 952499"/>
              <a:gd name="connsiteX88" fmla="*/ 453866 w 705136"/>
              <a:gd name="connsiteY88" fmla="*/ 476249 h 952499"/>
              <a:gd name="connsiteX89" fmla="*/ 487394 w 705136"/>
              <a:gd name="connsiteY89" fmla="*/ 442721 h 952499"/>
              <a:gd name="connsiteX90" fmla="*/ 578835 w 705136"/>
              <a:gd name="connsiteY90" fmla="*/ 442055 h 952499"/>
              <a:gd name="connsiteX91" fmla="*/ 613030 w 705136"/>
              <a:gd name="connsiteY91" fmla="*/ 476250 h 952499"/>
              <a:gd name="connsiteX92" fmla="*/ 578835 w 705136"/>
              <a:gd name="connsiteY92" fmla="*/ 510445 h 952499"/>
              <a:gd name="connsiteX93" fmla="*/ 544640 w 705136"/>
              <a:gd name="connsiteY93" fmla="*/ 476250 h 952499"/>
              <a:gd name="connsiteX94" fmla="*/ 578835 w 705136"/>
              <a:gd name="connsiteY94" fmla="*/ 442055 h 952499"/>
              <a:gd name="connsiteX95" fmla="*/ 670275 w 705136"/>
              <a:gd name="connsiteY95" fmla="*/ 441388 h 952499"/>
              <a:gd name="connsiteX96" fmla="*/ 705136 w 705136"/>
              <a:gd name="connsiteY96" fmla="*/ 476250 h 952499"/>
              <a:gd name="connsiteX97" fmla="*/ 670275 w 705136"/>
              <a:gd name="connsiteY97" fmla="*/ 511111 h 952499"/>
              <a:gd name="connsiteX98" fmla="*/ 635413 w 705136"/>
              <a:gd name="connsiteY98" fmla="*/ 476250 h 952499"/>
              <a:gd name="connsiteX99" fmla="*/ 670275 w 705136"/>
              <a:gd name="connsiteY99" fmla="*/ 441388 h 952499"/>
              <a:gd name="connsiteX100" fmla="*/ 304610 w 705136"/>
              <a:gd name="connsiteY100" fmla="*/ 332993 h 952499"/>
              <a:gd name="connsiteX101" fmla="*/ 336804 w 705136"/>
              <a:gd name="connsiteY101" fmla="*/ 365188 h 952499"/>
              <a:gd name="connsiteX102" fmla="*/ 304610 w 705136"/>
              <a:gd name="connsiteY102" fmla="*/ 397382 h 952499"/>
              <a:gd name="connsiteX103" fmla="*/ 272415 w 705136"/>
              <a:gd name="connsiteY103" fmla="*/ 365188 h 952499"/>
              <a:gd name="connsiteX104" fmla="*/ 304610 w 705136"/>
              <a:gd name="connsiteY104" fmla="*/ 332993 h 952499"/>
              <a:gd name="connsiteX105" fmla="*/ 396049 w 705136"/>
              <a:gd name="connsiteY105" fmla="*/ 332327 h 952499"/>
              <a:gd name="connsiteX106" fmla="*/ 428911 w 705136"/>
              <a:gd name="connsiteY106" fmla="*/ 365188 h 952499"/>
              <a:gd name="connsiteX107" fmla="*/ 396049 w 705136"/>
              <a:gd name="connsiteY107" fmla="*/ 398050 h 952499"/>
              <a:gd name="connsiteX108" fmla="*/ 363188 w 705136"/>
              <a:gd name="connsiteY108" fmla="*/ 365188 h 952499"/>
              <a:gd name="connsiteX109" fmla="*/ 396049 w 705136"/>
              <a:gd name="connsiteY109" fmla="*/ 332327 h 952499"/>
              <a:gd name="connsiteX110" fmla="*/ 487394 w 705136"/>
              <a:gd name="connsiteY110" fmla="*/ 331755 h 952499"/>
              <a:gd name="connsiteX111" fmla="*/ 520922 w 705136"/>
              <a:gd name="connsiteY111" fmla="*/ 365283 h 952499"/>
              <a:gd name="connsiteX112" fmla="*/ 487394 w 705136"/>
              <a:gd name="connsiteY112" fmla="*/ 398811 h 952499"/>
              <a:gd name="connsiteX113" fmla="*/ 453866 w 705136"/>
              <a:gd name="connsiteY113" fmla="*/ 365283 h 952499"/>
              <a:gd name="connsiteX114" fmla="*/ 487394 w 705136"/>
              <a:gd name="connsiteY114" fmla="*/ 331755 h 952499"/>
              <a:gd name="connsiteX115" fmla="*/ 578835 w 705136"/>
              <a:gd name="connsiteY115" fmla="*/ 331088 h 952499"/>
              <a:gd name="connsiteX116" fmla="*/ 613030 w 705136"/>
              <a:gd name="connsiteY116" fmla="*/ 365283 h 952499"/>
              <a:gd name="connsiteX117" fmla="*/ 578835 w 705136"/>
              <a:gd name="connsiteY117" fmla="*/ 399478 h 952499"/>
              <a:gd name="connsiteX118" fmla="*/ 544640 w 705136"/>
              <a:gd name="connsiteY118" fmla="*/ 365283 h 952499"/>
              <a:gd name="connsiteX119" fmla="*/ 578835 w 705136"/>
              <a:gd name="connsiteY119" fmla="*/ 331088 h 952499"/>
              <a:gd name="connsiteX120" fmla="*/ 213170 w 705136"/>
              <a:gd name="connsiteY120" fmla="*/ 222694 h 952499"/>
              <a:gd name="connsiteX121" fmla="*/ 244697 w 705136"/>
              <a:gd name="connsiteY121" fmla="*/ 254222 h 952499"/>
              <a:gd name="connsiteX122" fmla="*/ 213170 w 705136"/>
              <a:gd name="connsiteY122" fmla="*/ 285750 h 952499"/>
              <a:gd name="connsiteX123" fmla="*/ 181642 w 705136"/>
              <a:gd name="connsiteY123" fmla="*/ 254222 h 952499"/>
              <a:gd name="connsiteX124" fmla="*/ 213170 w 705136"/>
              <a:gd name="connsiteY124" fmla="*/ 222694 h 952499"/>
              <a:gd name="connsiteX125" fmla="*/ 304610 w 705136"/>
              <a:gd name="connsiteY125" fmla="*/ 222027 h 952499"/>
              <a:gd name="connsiteX126" fmla="*/ 336804 w 705136"/>
              <a:gd name="connsiteY126" fmla="*/ 254222 h 952499"/>
              <a:gd name="connsiteX127" fmla="*/ 304610 w 705136"/>
              <a:gd name="connsiteY127" fmla="*/ 286416 h 952499"/>
              <a:gd name="connsiteX128" fmla="*/ 272415 w 705136"/>
              <a:gd name="connsiteY128" fmla="*/ 254222 h 952499"/>
              <a:gd name="connsiteX129" fmla="*/ 304610 w 705136"/>
              <a:gd name="connsiteY129" fmla="*/ 222027 h 952499"/>
              <a:gd name="connsiteX130" fmla="*/ 396049 w 705136"/>
              <a:gd name="connsiteY130" fmla="*/ 221360 h 952499"/>
              <a:gd name="connsiteX131" fmla="*/ 428911 w 705136"/>
              <a:gd name="connsiteY131" fmla="*/ 254221 h 952499"/>
              <a:gd name="connsiteX132" fmla="*/ 396049 w 705136"/>
              <a:gd name="connsiteY132" fmla="*/ 287083 h 952499"/>
              <a:gd name="connsiteX133" fmla="*/ 363188 w 705136"/>
              <a:gd name="connsiteY133" fmla="*/ 254221 h 952499"/>
              <a:gd name="connsiteX134" fmla="*/ 396049 w 705136"/>
              <a:gd name="connsiteY134" fmla="*/ 221360 h 952499"/>
              <a:gd name="connsiteX135" fmla="*/ 487394 w 705136"/>
              <a:gd name="connsiteY135" fmla="*/ 220694 h 952499"/>
              <a:gd name="connsiteX136" fmla="*/ 520922 w 705136"/>
              <a:gd name="connsiteY136" fmla="*/ 254222 h 952499"/>
              <a:gd name="connsiteX137" fmla="*/ 487394 w 705136"/>
              <a:gd name="connsiteY137" fmla="*/ 287750 h 952499"/>
              <a:gd name="connsiteX138" fmla="*/ 453866 w 705136"/>
              <a:gd name="connsiteY138" fmla="*/ 254222 h 952499"/>
              <a:gd name="connsiteX139" fmla="*/ 487394 w 705136"/>
              <a:gd name="connsiteY139" fmla="*/ 220694 h 952499"/>
              <a:gd name="connsiteX140" fmla="*/ 121730 w 705136"/>
              <a:gd name="connsiteY140" fmla="*/ 112299 h 952499"/>
              <a:gd name="connsiteX141" fmla="*/ 152591 w 705136"/>
              <a:gd name="connsiteY141" fmla="*/ 143160 h 952499"/>
              <a:gd name="connsiteX142" fmla="*/ 121730 w 705136"/>
              <a:gd name="connsiteY142" fmla="*/ 174116 h 952499"/>
              <a:gd name="connsiteX143" fmla="*/ 90774 w 705136"/>
              <a:gd name="connsiteY143" fmla="*/ 143160 h 952499"/>
              <a:gd name="connsiteX144" fmla="*/ 121730 w 705136"/>
              <a:gd name="connsiteY144" fmla="*/ 112299 h 952499"/>
              <a:gd name="connsiteX145" fmla="*/ 213170 w 705136"/>
              <a:gd name="connsiteY145" fmla="*/ 111633 h 952499"/>
              <a:gd name="connsiteX146" fmla="*/ 244697 w 705136"/>
              <a:gd name="connsiteY146" fmla="*/ 143161 h 952499"/>
              <a:gd name="connsiteX147" fmla="*/ 213170 w 705136"/>
              <a:gd name="connsiteY147" fmla="*/ 174689 h 952499"/>
              <a:gd name="connsiteX148" fmla="*/ 181642 w 705136"/>
              <a:gd name="connsiteY148" fmla="*/ 143161 h 952499"/>
              <a:gd name="connsiteX149" fmla="*/ 213170 w 705136"/>
              <a:gd name="connsiteY149" fmla="*/ 111633 h 952499"/>
              <a:gd name="connsiteX150" fmla="*/ 304610 w 705136"/>
              <a:gd name="connsiteY150" fmla="*/ 110966 h 952499"/>
              <a:gd name="connsiteX151" fmla="*/ 336804 w 705136"/>
              <a:gd name="connsiteY151" fmla="*/ 143161 h 952499"/>
              <a:gd name="connsiteX152" fmla="*/ 304610 w 705136"/>
              <a:gd name="connsiteY152" fmla="*/ 175355 h 952499"/>
              <a:gd name="connsiteX153" fmla="*/ 272415 w 705136"/>
              <a:gd name="connsiteY153" fmla="*/ 143161 h 952499"/>
              <a:gd name="connsiteX154" fmla="*/ 304610 w 705136"/>
              <a:gd name="connsiteY154" fmla="*/ 110966 h 952499"/>
              <a:gd name="connsiteX155" fmla="*/ 396049 w 705136"/>
              <a:gd name="connsiteY155" fmla="*/ 110394 h 952499"/>
              <a:gd name="connsiteX156" fmla="*/ 428911 w 705136"/>
              <a:gd name="connsiteY156" fmla="*/ 143255 h 952499"/>
              <a:gd name="connsiteX157" fmla="*/ 396049 w 705136"/>
              <a:gd name="connsiteY157" fmla="*/ 176117 h 952499"/>
              <a:gd name="connsiteX158" fmla="*/ 363188 w 705136"/>
              <a:gd name="connsiteY158" fmla="*/ 143255 h 952499"/>
              <a:gd name="connsiteX159" fmla="*/ 396049 w 705136"/>
              <a:gd name="connsiteY159" fmla="*/ 110394 h 952499"/>
              <a:gd name="connsiteX160" fmla="*/ 30289 w 705136"/>
              <a:gd name="connsiteY160" fmla="*/ 2000 h 952499"/>
              <a:gd name="connsiteX161" fmla="*/ 60579 w 705136"/>
              <a:gd name="connsiteY161" fmla="*/ 32290 h 952499"/>
              <a:gd name="connsiteX162" fmla="*/ 30289 w 705136"/>
              <a:gd name="connsiteY162" fmla="*/ 62579 h 952499"/>
              <a:gd name="connsiteX163" fmla="*/ 0 w 705136"/>
              <a:gd name="connsiteY163" fmla="*/ 32290 h 952499"/>
              <a:gd name="connsiteX164" fmla="*/ 30289 w 705136"/>
              <a:gd name="connsiteY164" fmla="*/ 2000 h 952499"/>
              <a:gd name="connsiteX165" fmla="*/ 121730 w 705136"/>
              <a:gd name="connsiteY165" fmla="*/ 1333 h 952499"/>
              <a:gd name="connsiteX166" fmla="*/ 152591 w 705136"/>
              <a:gd name="connsiteY166" fmla="*/ 32194 h 952499"/>
              <a:gd name="connsiteX167" fmla="*/ 121730 w 705136"/>
              <a:gd name="connsiteY167" fmla="*/ 63150 h 952499"/>
              <a:gd name="connsiteX168" fmla="*/ 90774 w 705136"/>
              <a:gd name="connsiteY168" fmla="*/ 32194 h 952499"/>
              <a:gd name="connsiteX169" fmla="*/ 121730 w 705136"/>
              <a:gd name="connsiteY169" fmla="*/ 1333 h 952499"/>
              <a:gd name="connsiteX170" fmla="*/ 213170 w 705136"/>
              <a:gd name="connsiteY170" fmla="*/ 666 h 952499"/>
              <a:gd name="connsiteX171" fmla="*/ 244697 w 705136"/>
              <a:gd name="connsiteY171" fmla="*/ 32194 h 952499"/>
              <a:gd name="connsiteX172" fmla="*/ 213170 w 705136"/>
              <a:gd name="connsiteY172" fmla="*/ 63722 h 952499"/>
              <a:gd name="connsiteX173" fmla="*/ 181642 w 705136"/>
              <a:gd name="connsiteY173" fmla="*/ 32194 h 952499"/>
              <a:gd name="connsiteX174" fmla="*/ 213170 w 705136"/>
              <a:gd name="connsiteY174" fmla="*/ 666 h 952499"/>
              <a:gd name="connsiteX175" fmla="*/ 304610 w 705136"/>
              <a:gd name="connsiteY175" fmla="*/ 0 h 952499"/>
              <a:gd name="connsiteX176" fmla="*/ 336804 w 705136"/>
              <a:gd name="connsiteY176" fmla="*/ 32195 h 952499"/>
              <a:gd name="connsiteX177" fmla="*/ 304610 w 705136"/>
              <a:gd name="connsiteY177" fmla="*/ 64389 h 952499"/>
              <a:gd name="connsiteX178" fmla="*/ 272415 w 705136"/>
              <a:gd name="connsiteY178" fmla="*/ 32195 h 952499"/>
              <a:gd name="connsiteX179" fmla="*/ 304610 w 705136"/>
              <a:gd name="connsiteY179" fmla="*/ 0 h 952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Lst>
            <a:rect l="l" t="t" r="r" b="b"/>
            <a:pathLst>
              <a:path w="705136" h="952499">
                <a:moveTo>
                  <a:pt x="30289" y="890016"/>
                </a:moveTo>
                <a:cubicBezTo>
                  <a:pt x="46958" y="890016"/>
                  <a:pt x="60579" y="903637"/>
                  <a:pt x="60579" y="920306"/>
                </a:cubicBezTo>
                <a:cubicBezTo>
                  <a:pt x="60579" y="937069"/>
                  <a:pt x="46958" y="950595"/>
                  <a:pt x="30289" y="950595"/>
                </a:cubicBezTo>
                <a:cubicBezTo>
                  <a:pt x="13621" y="950595"/>
                  <a:pt x="0" y="936974"/>
                  <a:pt x="0" y="920306"/>
                </a:cubicBezTo>
                <a:cubicBezTo>
                  <a:pt x="0" y="903541"/>
                  <a:pt x="13621" y="890016"/>
                  <a:pt x="30289" y="890016"/>
                </a:cubicBezTo>
                <a:close/>
                <a:moveTo>
                  <a:pt x="121730" y="889349"/>
                </a:moveTo>
                <a:cubicBezTo>
                  <a:pt x="138780" y="889349"/>
                  <a:pt x="152687" y="903255"/>
                  <a:pt x="152591" y="920210"/>
                </a:cubicBezTo>
                <a:cubicBezTo>
                  <a:pt x="152591" y="937260"/>
                  <a:pt x="138780" y="951166"/>
                  <a:pt x="121730" y="951166"/>
                </a:cubicBezTo>
                <a:cubicBezTo>
                  <a:pt x="104680" y="951166"/>
                  <a:pt x="90774" y="937260"/>
                  <a:pt x="90774" y="920210"/>
                </a:cubicBezTo>
                <a:cubicBezTo>
                  <a:pt x="90774" y="903255"/>
                  <a:pt x="104680" y="889349"/>
                  <a:pt x="121730" y="889349"/>
                </a:cubicBezTo>
                <a:close/>
                <a:moveTo>
                  <a:pt x="213170" y="888682"/>
                </a:moveTo>
                <a:cubicBezTo>
                  <a:pt x="230600" y="888682"/>
                  <a:pt x="244697" y="902874"/>
                  <a:pt x="244697" y="920210"/>
                </a:cubicBezTo>
                <a:cubicBezTo>
                  <a:pt x="244697" y="937545"/>
                  <a:pt x="230600" y="951737"/>
                  <a:pt x="213170" y="951737"/>
                </a:cubicBezTo>
                <a:cubicBezTo>
                  <a:pt x="195834" y="951737"/>
                  <a:pt x="181642" y="937640"/>
                  <a:pt x="181642" y="920210"/>
                </a:cubicBezTo>
                <a:cubicBezTo>
                  <a:pt x="181642" y="902874"/>
                  <a:pt x="195739" y="888682"/>
                  <a:pt x="213170" y="888682"/>
                </a:cubicBezTo>
                <a:close/>
                <a:moveTo>
                  <a:pt x="304610" y="888110"/>
                </a:moveTo>
                <a:cubicBezTo>
                  <a:pt x="322326" y="888110"/>
                  <a:pt x="336804" y="902493"/>
                  <a:pt x="336804" y="920305"/>
                </a:cubicBezTo>
                <a:cubicBezTo>
                  <a:pt x="336804" y="938021"/>
                  <a:pt x="322326" y="952499"/>
                  <a:pt x="304610" y="952499"/>
                </a:cubicBezTo>
                <a:cubicBezTo>
                  <a:pt x="286893" y="952499"/>
                  <a:pt x="272415" y="938116"/>
                  <a:pt x="272415" y="920305"/>
                </a:cubicBezTo>
                <a:cubicBezTo>
                  <a:pt x="272415" y="902588"/>
                  <a:pt x="286798" y="888110"/>
                  <a:pt x="304610" y="888110"/>
                </a:cubicBezTo>
                <a:close/>
                <a:moveTo>
                  <a:pt x="121730" y="778383"/>
                </a:moveTo>
                <a:cubicBezTo>
                  <a:pt x="138780" y="778383"/>
                  <a:pt x="152687" y="792194"/>
                  <a:pt x="152591" y="809244"/>
                </a:cubicBezTo>
                <a:cubicBezTo>
                  <a:pt x="152591" y="826294"/>
                  <a:pt x="138780" y="840200"/>
                  <a:pt x="121730" y="840200"/>
                </a:cubicBezTo>
                <a:cubicBezTo>
                  <a:pt x="104680" y="840200"/>
                  <a:pt x="90774" y="826294"/>
                  <a:pt x="90774" y="809244"/>
                </a:cubicBezTo>
                <a:cubicBezTo>
                  <a:pt x="90774" y="792289"/>
                  <a:pt x="104680" y="778383"/>
                  <a:pt x="121730" y="778383"/>
                </a:cubicBezTo>
                <a:close/>
                <a:moveTo>
                  <a:pt x="213170" y="777716"/>
                </a:moveTo>
                <a:cubicBezTo>
                  <a:pt x="230600" y="777716"/>
                  <a:pt x="244697" y="791908"/>
                  <a:pt x="244697" y="809244"/>
                </a:cubicBezTo>
                <a:cubicBezTo>
                  <a:pt x="244697" y="826579"/>
                  <a:pt x="230600" y="840771"/>
                  <a:pt x="213170" y="840771"/>
                </a:cubicBezTo>
                <a:cubicBezTo>
                  <a:pt x="195834" y="840771"/>
                  <a:pt x="181642" y="826674"/>
                  <a:pt x="181642" y="809244"/>
                </a:cubicBezTo>
                <a:cubicBezTo>
                  <a:pt x="181642" y="791908"/>
                  <a:pt x="195739" y="777716"/>
                  <a:pt x="213170" y="777716"/>
                </a:cubicBezTo>
                <a:close/>
                <a:moveTo>
                  <a:pt x="304610" y="777049"/>
                </a:moveTo>
                <a:cubicBezTo>
                  <a:pt x="322326" y="777049"/>
                  <a:pt x="336804" y="791527"/>
                  <a:pt x="336804" y="809243"/>
                </a:cubicBezTo>
                <a:cubicBezTo>
                  <a:pt x="336804" y="826960"/>
                  <a:pt x="322326" y="841438"/>
                  <a:pt x="304610" y="841438"/>
                </a:cubicBezTo>
                <a:cubicBezTo>
                  <a:pt x="286893" y="841438"/>
                  <a:pt x="272415" y="827055"/>
                  <a:pt x="272415" y="809243"/>
                </a:cubicBezTo>
                <a:cubicBezTo>
                  <a:pt x="272415" y="791527"/>
                  <a:pt x="286798" y="777049"/>
                  <a:pt x="304610" y="777049"/>
                </a:cubicBezTo>
                <a:close/>
                <a:moveTo>
                  <a:pt x="396049" y="776382"/>
                </a:moveTo>
                <a:cubicBezTo>
                  <a:pt x="414147" y="776382"/>
                  <a:pt x="428815" y="791146"/>
                  <a:pt x="428911" y="809243"/>
                </a:cubicBezTo>
                <a:cubicBezTo>
                  <a:pt x="428911" y="827341"/>
                  <a:pt x="414147" y="842105"/>
                  <a:pt x="396049" y="842105"/>
                </a:cubicBezTo>
                <a:cubicBezTo>
                  <a:pt x="377952" y="842105"/>
                  <a:pt x="363188" y="827341"/>
                  <a:pt x="363188" y="809243"/>
                </a:cubicBezTo>
                <a:cubicBezTo>
                  <a:pt x="363188" y="791146"/>
                  <a:pt x="377952" y="776382"/>
                  <a:pt x="396049" y="776382"/>
                </a:cubicBezTo>
                <a:close/>
                <a:moveTo>
                  <a:pt x="213170" y="666750"/>
                </a:moveTo>
                <a:cubicBezTo>
                  <a:pt x="230600" y="666750"/>
                  <a:pt x="244697" y="680847"/>
                  <a:pt x="244697" y="698278"/>
                </a:cubicBezTo>
                <a:cubicBezTo>
                  <a:pt x="244697" y="715613"/>
                  <a:pt x="230600" y="729806"/>
                  <a:pt x="213170" y="729806"/>
                </a:cubicBezTo>
                <a:cubicBezTo>
                  <a:pt x="195834" y="729806"/>
                  <a:pt x="181642" y="715708"/>
                  <a:pt x="181642" y="698278"/>
                </a:cubicBezTo>
                <a:cubicBezTo>
                  <a:pt x="181642" y="680942"/>
                  <a:pt x="195739" y="666750"/>
                  <a:pt x="213170" y="666750"/>
                </a:cubicBezTo>
                <a:close/>
                <a:moveTo>
                  <a:pt x="304610" y="666083"/>
                </a:moveTo>
                <a:cubicBezTo>
                  <a:pt x="322326" y="666083"/>
                  <a:pt x="336804" y="680466"/>
                  <a:pt x="336804" y="698277"/>
                </a:cubicBezTo>
                <a:cubicBezTo>
                  <a:pt x="336804" y="715994"/>
                  <a:pt x="322326" y="730472"/>
                  <a:pt x="304610" y="730472"/>
                </a:cubicBezTo>
                <a:cubicBezTo>
                  <a:pt x="286893" y="730472"/>
                  <a:pt x="272415" y="716089"/>
                  <a:pt x="272415" y="698277"/>
                </a:cubicBezTo>
                <a:cubicBezTo>
                  <a:pt x="272415" y="680561"/>
                  <a:pt x="286798" y="666083"/>
                  <a:pt x="304610" y="666083"/>
                </a:cubicBezTo>
                <a:close/>
                <a:moveTo>
                  <a:pt x="396049" y="665416"/>
                </a:moveTo>
                <a:cubicBezTo>
                  <a:pt x="414147" y="665416"/>
                  <a:pt x="428815" y="680180"/>
                  <a:pt x="428911" y="698277"/>
                </a:cubicBezTo>
                <a:cubicBezTo>
                  <a:pt x="428911" y="716375"/>
                  <a:pt x="414147" y="731139"/>
                  <a:pt x="396049" y="731139"/>
                </a:cubicBezTo>
                <a:cubicBezTo>
                  <a:pt x="377952" y="731139"/>
                  <a:pt x="363188" y="716375"/>
                  <a:pt x="363188" y="698277"/>
                </a:cubicBezTo>
                <a:cubicBezTo>
                  <a:pt x="363188" y="680180"/>
                  <a:pt x="377952" y="665416"/>
                  <a:pt x="396049" y="665416"/>
                </a:cubicBezTo>
                <a:close/>
                <a:moveTo>
                  <a:pt x="487394" y="664749"/>
                </a:moveTo>
                <a:cubicBezTo>
                  <a:pt x="505873" y="664749"/>
                  <a:pt x="520922" y="679799"/>
                  <a:pt x="520922" y="698277"/>
                </a:cubicBezTo>
                <a:cubicBezTo>
                  <a:pt x="520922" y="716755"/>
                  <a:pt x="505873" y="731805"/>
                  <a:pt x="487394" y="731805"/>
                </a:cubicBezTo>
                <a:cubicBezTo>
                  <a:pt x="468916" y="731805"/>
                  <a:pt x="453866" y="716755"/>
                  <a:pt x="453866" y="698277"/>
                </a:cubicBezTo>
                <a:cubicBezTo>
                  <a:pt x="453866" y="679799"/>
                  <a:pt x="468916" y="664749"/>
                  <a:pt x="487394" y="664749"/>
                </a:cubicBezTo>
                <a:close/>
                <a:moveTo>
                  <a:pt x="304610" y="555021"/>
                </a:moveTo>
                <a:cubicBezTo>
                  <a:pt x="322326" y="555021"/>
                  <a:pt x="336804" y="569499"/>
                  <a:pt x="336804" y="587216"/>
                </a:cubicBezTo>
                <a:cubicBezTo>
                  <a:pt x="336804" y="604932"/>
                  <a:pt x="322326" y="619410"/>
                  <a:pt x="304610" y="619410"/>
                </a:cubicBezTo>
                <a:cubicBezTo>
                  <a:pt x="286893" y="619410"/>
                  <a:pt x="272415" y="605027"/>
                  <a:pt x="272415" y="587216"/>
                </a:cubicBezTo>
                <a:cubicBezTo>
                  <a:pt x="272415" y="569499"/>
                  <a:pt x="286798" y="555021"/>
                  <a:pt x="304610" y="555021"/>
                </a:cubicBezTo>
                <a:close/>
                <a:moveTo>
                  <a:pt x="396049" y="554355"/>
                </a:moveTo>
                <a:cubicBezTo>
                  <a:pt x="414147" y="554355"/>
                  <a:pt x="428815" y="569119"/>
                  <a:pt x="428911" y="587216"/>
                </a:cubicBezTo>
                <a:cubicBezTo>
                  <a:pt x="428911" y="605314"/>
                  <a:pt x="414147" y="620077"/>
                  <a:pt x="396049" y="620077"/>
                </a:cubicBezTo>
                <a:cubicBezTo>
                  <a:pt x="377952" y="620077"/>
                  <a:pt x="363188" y="605314"/>
                  <a:pt x="363188" y="587216"/>
                </a:cubicBezTo>
                <a:cubicBezTo>
                  <a:pt x="363188" y="569119"/>
                  <a:pt x="377952" y="554355"/>
                  <a:pt x="396049" y="554355"/>
                </a:cubicBezTo>
                <a:close/>
                <a:moveTo>
                  <a:pt x="487394" y="553783"/>
                </a:moveTo>
                <a:cubicBezTo>
                  <a:pt x="505873" y="553783"/>
                  <a:pt x="520922" y="568737"/>
                  <a:pt x="520922" y="587311"/>
                </a:cubicBezTo>
                <a:cubicBezTo>
                  <a:pt x="520922" y="605789"/>
                  <a:pt x="505873" y="620839"/>
                  <a:pt x="487394" y="620839"/>
                </a:cubicBezTo>
                <a:cubicBezTo>
                  <a:pt x="468916" y="620839"/>
                  <a:pt x="453866" y="605789"/>
                  <a:pt x="453866" y="587311"/>
                </a:cubicBezTo>
                <a:cubicBezTo>
                  <a:pt x="453866" y="568833"/>
                  <a:pt x="468916" y="553783"/>
                  <a:pt x="487394" y="553783"/>
                </a:cubicBezTo>
                <a:close/>
                <a:moveTo>
                  <a:pt x="578835" y="553116"/>
                </a:moveTo>
                <a:cubicBezTo>
                  <a:pt x="597694" y="553116"/>
                  <a:pt x="613030" y="568451"/>
                  <a:pt x="613030" y="587311"/>
                </a:cubicBezTo>
                <a:cubicBezTo>
                  <a:pt x="613030" y="606170"/>
                  <a:pt x="597694" y="621506"/>
                  <a:pt x="578835" y="621506"/>
                </a:cubicBezTo>
                <a:cubicBezTo>
                  <a:pt x="559975" y="621506"/>
                  <a:pt x="544640" y="606170"/>
                  <a:pt x="544640" y="587311"/>
                </a:cubicBezTo>
                <a:cubicBezTo>
                  <a:pt x="544640" y="568451"/>
                  <a:pt x="559975" y="553116"/>
                  <a:pt x="578835" y="553116"/>
                </a:cubicBezTo>
                <a:close/>
                <a:moveTo>
                  <a:pt x="396049" y="443388"/>
                </a:moveTo>
                <a:cubicBezTo>
                  <a:pt x="414147" y="443388"/>
                  <a:pt x="428815" y="458152"/>
                  <a:pt x="428911" y="476249"/>
                </a:cubicBezTo>
                <a:cubicBezTo>
                  <a:pt x="428911" y="494347"/>
                  <a:pt x="414147" y="509111"/>
                  <a:pt x="396049" y="509111"/>
                </a:cubicBezTo>
                <a:cubicBezTo>
                  <a:pt x="377952" y="509111"/>
                  <a:pt x="363188" y="494347"/>
                  <a:pt x="363188" y="476249"/>
                </a:cubicBezTo>
                <a:cubicBezTo>
                  <a:pt x="363188" y="458152"/>
                  <a:pt x="377952" y="443388"/>
                  <a:pt x="396049" y="443388"/>
                </a:cubicBezTo>
                <a:close/>
                <a:moveTo>
                  <a:pt x="487394" y="442721"/>
                </a:moveTo>
                <a:cubicBezTo>
                  <a:pt x="505873" y="442721"/>
                  <a:pt x="520922" y="457771"/>
                  <a:pt x="520922" y="476249"/>
                </a:cubicBezTo>
                <a:cubicBezTo>
                  <a:pt x="520922" y="494727"/>
                  <a:pt x="505873" y="509777"/>
                  <a:pt x="487394" y="509777"/>
                </a:cubicBezTo>
                <a:cubicBezTo>
                  <a:pt x="468916" y="509777"/>
                  <a:pt x="453866" y="494727"/>
                  <a:pt x="453866" y="476249"/>
                </a:cubicBezTo>
                <a:cubicBezTo>
                  <a:pt x="453866" y="457771"/>
                  <a:pt x="468916" y="442721"/>
                  <a:pt x="487394" y="442721"/>
                </a:cubicBezTo>
                <a:close/>
                <a:moveTo>
                  <a:pt x="578835" y="442055"/>
                </a:moveTo>
                <a:cubicBezTo>
                  <a:pt x="597694" y="442055"/>
                  <a:pt x="613030" y="457390"/>
                  <a:pt x="613030" y="476250"/>
                </a:cubicBezTo>
                <a:cubicBezTo>
                  <a:pt x="613030" y="495109"/>
                  <a:pt x="597694" y="510445"/>
                  <a:pt x="578835" y="510445"/>
                </a:cubicBezTo>
                <a:cubicBezTo>
                  <a:pt x="559975" y="510445"/>
                  <a:pt x="544640" y="495109"/>
                  <a:pt x="544640" y="476250"/>
                </a:cubicBezTo>
                <a:cubicBezTo>
                  <a:pt x="544640" y="457390"/>
                  <a:pt x="559975" y="442055"/>
                  <a:pt x="578835" y="442055"/>
                </a:cubicBezTo>
                <a:close/>
                <a:moveTo>
                  <a:pt x="670275" y="441388"/>
                </a:moveTo>
                <a:cubicBezTo>
                  <a:pt x="689420" y="441388"/>
                  <a:pt x="705041" y="457009"/>
                  <a:pt x="705136" y="476250"/>
                </a:cubicBezTo>
                <a:cubicBezTo>
                  <a:pt x="705136" y="495490"/>
                  <a:pt x="689515" y="511111"/>
                  <a:pt x="670275" y="511111"/>
                </a:cubicBezTo>
                <a:cubicBezTo>
                  <a:pt x="651034" y="511111"/>
                  <a:pt x="635413" y="495490"/>
                  <a:pt x="635413" y="476250"/>
                </a:cubicBezTo>
                <a:cubicBezTo>
                  <a:pt x="635413" y="457009"/>
                  <a:pt x="651034" y="441388"/>
                  <a:pt x="670275" y="441388"/>
                </a:cubicBezTo>
                <a:close/>
                <a:moveTo>
                  <a:pt x="304610" y="332993"/>
                </a:moveTo>
                <a:cubicBezTo>
                  <a:pt x="322326" y="332993"/>
                  <a:pt x="336804" y="347471"/>
                  <a:pt x="336804" y="365188"/>
                </a:cubicBezTo>
                <a:cubicBezTo>
                  <a:pt x="336804" y="382904"/>
                  <a:pt x="322326" y="397382"/>
                  <a:pt x="304610" y="397382"/>
                </a:cubicBezTo>
                <a:cubicBezTo>
                  <a:pt x="286893" y="397382"/>
                  <a:pt x="272415" y="382999"/>
                  <a:pt x="272415" y="365188"/>
                </a:cubicBezTo>
                <a:cubicBezTo>
                  <a:pt x="272415" y="347471"/>
                  <a:pt x="286798" y="332993"/>
                  <a:pt x="304610" y="332993"/>
                </a:cubicBezTo>
                <a:close/>
                <a:moveTo>
                  <a:pt x="396049" y="332327"/>
                </a:moveTo>
                <a:cubicBezTo>
                  <a:pt x="414147" y="332327"/>
                  <a:pt x="428815" y="347091"/>
                  <a:pt x="428911" y="365188"/>
                </a:cubicBezTo>
                <a:cubicBezTo>
                  <a:pt x="428911" y="383286"/>
                  <a:pt x="414147" y="398050"/>
                  <a:pt x="396049" y="398050"/>
                </a:cubicBezTo>
                <a:cubicBezTo>
                  <a:pt x="377952" y="398050"/>
                  <a:pt x="363188" y="383286"/>
                  <a:pt x="363188" y="365188"/>
                </a:cubicBezTo>
                <a:cubicBezTo>
                  <a:pt x="363188" y="347091"/>
                  <a:pt x="377952" y="332327"/>
                  <a:pt x="396049" y="332327"/>
                </a:cubicBezTo>
                <a:close/>
                <a:moveTo>
                  <a:pt x="487394" y="331755"/>
                </a:moveTo>
                <a:cubicBezTo>
                  <a:pt x="505873" y="331755"/>
                  <a:pt x="520922" y="346804"/>
                  <a:pt x="520922" y="365283"/>
                </a:cubicBezTo>
                <a:cubicBezTo>
                  <a:pt x="520922" y="383761"/>
                  <a:pt x="505873" y="398811"/>
                  <a:pt x="487394" y="398811"/>
                </a:cubicBezTo>
                <a:cubicBezTo>
                  <a:pt x="468916" y="398811"/>
                  <a:pt x="453866" y="383761"/>
                  <a:pt x="453866" y="365283"/>
                </a:cubicBezTo>
                <a:cubicBezTo>
                  <a:pt x="453866" y="346804"/>
                  <a:pt x="468916" y="331755"/>
                  <a:pt x="487394" y="331755"/>
                </a:cubicBezTo>
                <a:close/>
                <a:moveTo>
                  <a:pt x="578835" y="331088"/>
                </a:moveTo>
                <a:cubicBezTo>
                  <a:pt x="597694" y="331088"/>
                  <a:pt x="613030" y="346423"/>
                  <a:pt x="613030" y="365283"/>
                </a:cubicBezTo>
                <a:cubicBezTo>
                  <a:pt x="613030" y="384142"/>
                  <a:pt x="597694" y="399478"/>
                  <a:pt x="578835" y="399478"/>
                </a:cubicBezTo>
                <a:cubicBezTo>
                  <a:pt x="559975" y="399478"/>
                  <a:pt x="544640" y="384142"/>
                  <a:pt x="544640" y="365283"/>
                </a:cubicBezTo>
                <a:cubicBezTo>
                  <a:pt x="544640" y="346423"/>
                  <a:pt x="559975" y="331088"/>
                  <a:pt x="578835" y="331088"/>
                </a:cubicBezTo>
                <a:close/>
                <a:moveTo>
                  <a:pt x="213170" y="222694"/>
                </a:moveTo>
                <a:cubicBezTo>
                  <a:pt x="230600" y="222694"/>
                  <a:pt x="244697" y="236791"/>
                  <a:pt x="244697" y="254222"/>
                </a:cubicBezTo>
                <a:cubicBezTo>
                  <a:pt x="244697" y="271557"/>
                  <a:pt x="230600" y="285750"/>
                  <a:pt x="213170" y="285750"/>
                </a:cubicBezTo>
                <a:cubicBezTo>
                  <a:pt x="195834" y="285750"/>
                  <a:pt x="181642" y="271653"/>
                  <a:pt x="181642" y="254222"/>
                </a:cubicBezTo>
                <a:cubicBezTo>
                  <a:pt x="181642" y="236886"/>
                  <a:pt x="195739" y="222694"/>
                  <a:pt x="213170" y="222694"/>
                </a:cubicBezTo>
                <a:close/>
                <a:moveTo>
                  <a:pt x="304610" y="222027"/>
                </a:moveTo>
                <a:cubicBezTo>
                  <a:pt x="322326" y="222027"/>
                  <a:pt x="336804" y="236505"/>
                  <a:pt x="336804" y="254222"/>
                </a:cubicBezTo>
                <a:cubicBezTo>
                  <a:pt x="336804" y="271938"/>
                  <a:pt x="322326" y="286416"/>
                  <a:pt x="304610" y="286416"/>
                </a:cubicBezTo>
                <a:cubicBezTo>
                  <a:pt x="286893" y="286416"/>
                  <a:pt x="272415" y="272033"/>
                  <a:pt x="272415" y="254222"/>
                </a:cubicBezTo>
                <a:cubicBezTo>
                  <a:pt x="272415" y="236505"/>
                  <a:pt x="286798" y="222027"/>
                  <a:pt x="304610" y="222027"/>
                </a:cubicBezTo>
                <a:close/>
                <a:moveTo>
                  <a:pt x="396049" y="221360"/>
                </a:moveTo>
                <a:cubicBezTo>
                  <a:pt x="414147" y="221360"/>
                  <a:pt x="428815" y="236124"/>
                  <a:pt x="428911" y="254221"/>
                </a:cubicBezTo>
                <a:cubicBezTo>
                  <a:pt x="428911" y="272319"/>
                  <a:pt x="414147" y="287083"/>
                  <a:pt x="396049" y="287083"/>
                </a:cubicBezTo>
                <a:cubicBezTo>
                  <a:pt x="377952" y="287083"/>
                  <a:pt x="363188" y="272319"/>
                  <a:pt x="363188" y="254221"/>
                </a:cubicBezTo>
                <a:cubicBezTo>
                  <a:pt x="363188" y="236124"/>
                  <a:pt x="377952" y="221360"/>
                  <a:pt x="396049" y="221360"/>
                </a:cubicBezTo>
                <a:close/>
                <a:moveTo>
                  <a:pt x="487394" y="220694"/>
                </a:moveTo>
                <a:cubicBezTo>
                  <a:pt x="505873" y="220694"/>
                  <a:pt x="520922" y="235743"/>
                  <a:pt x="520922" y="254222"/>
                </a:cubicBezTo>
                <a:cubicBezTo>
                  <a:pt x="520922" y="272700"/>
                  <a:pt x="505873" y="287750"/>
                  <a:pt x="487394" y="287750"/>
                </a:cubicBezTo>
                <a:cubicBezTo>
                  <a:pt x="468916" y="287750"/>
                  <a:pt x="453866" y="272700"/>
                  <a:pt x="453866" y="254222"/>
                </a:cubicBezTo>
                <a:cubicBezTo>
                  <a:pt x="453866" y="235743"/>
                  <a:pt x="468916" y="220694"/>
                  <a:pt x="487394" y="220694"/>
                </a:cubicBezTo>
                <a:close/>
                <a:moveTo>
                  <a:pt x="121730" y="112299"/>
                </a:moveTo>
                <a:cubicBezTo>
                  <a:pt x="138780" y="112299"/>
                  <a:pt x="152687" y="126206"/>
                  <a:pt x="152591" y="143160"/>
                </a:cubicBezTo>
                <a:cubicBezTo>
                  <a:pt x="152591" y="160210"/>
                  <a:pt x="138780" y="174116"/>
                  <a:pt x="121730" y="174116"/>
                </a:cubicBezTo>
                <a:cubicBezTo>
                  <a:pt x="104680" y="174116"/>
                  <a:pt x="90774" y="160210"/>
                  <a:pt x="90774" y="143160"/>
                </a:cubicBezTo>
                <a:cubicBezTo>
                  <a:pt x="90774" y="126206"/>
                  <a:pt x="104680" y="112299"/>
                  <a:pt x="121730" y="112299"/>
                </a:cubicBezTo>
                <a:close/>
                <a:moveTo>
                  <a:pt x="213170" y="111633"/>
                </a:moveTo>
                <a:cubicBezTo>
                  <a:pt x="230600" y="111633"/>
                  <a:pt x="244697" y="125825"/>
                  <a:pt x="244697" y="143161"/>
                </a:cubicBezTo>
                <a:cubicBezTo>
                  <a:pt x="244697" y="160496"/>
                  <a:pt x="230600" y="174689"/>
                  <a:pt x="213170" y="174689"/>
                </a:cubicBezTo>
                <a:cubicBezTo>
                  <a:pt x="195834" y="174689"/>
                  <a:pt x="181642" y="160592"/>
                  <a:pt x="181642" y="143161"/>
                </a:cubicBezTo>
                <a:cubicBezTo>
                  <a:pt x="181642" y="125825"/>
                  <a:pt x="195739" y="111633"/>
                  <a:pt x="213170" y="111633"/>
                </a:cubicBezTo>
                <a:close/>
                <a:moveTo>
                  <a:pt x="304610" y="110966"/>
                </a:moveTo>
                <a:cubicBezTo>
                  <a:pt x="322326" y="110966"/>
                  <a:pt x="336804" y="125444"/>
                  <a:pt x="336804" y="143161"/>
                </a:cubicBezTo>
                <a:cubicBezTo>
                  <a:pt x="336804" y="160877"/>
                  <a:pt x="322326" y="175355"/>
                  <a:pt x="304610" y="175355"/>
                </a:cubicBezTo>
                <a:cubicBezTo>
                  <a:pt x="286893" y="175355"/>
                  <a:pt x="272415" y="160972"/>
                  <a:pt x="272415" y="143161"/>
                </a:cubicBezTo>
                <a:cubicBezTo>
                  <a:pt x="272415" y="125444"/>
                  <a:pt x="286798" y="110966"/>
                  <a:pt x="304610" y="110966"/>
                </a:cubicBezTo>
                <a:close/>
                <a:moveTo>
                  <a:pt x="396049" y="110394"/>
                </a:moveTo>
                <a:cubicBezTo>
                  <a:pt x="414147" y="110394"/>
                  <a:pt x="428815" y="125063"/>
                  <a:pt x="428911" y="143255"/>
                </a:cubicBezTo>
                <a:cubicBezTo>
                  <a:pt x="428911" y="161353"/>
                  <a:pt x="414147" y="176117"/>
                  <a:pt x="396049" y="176117"/>
                </a:cubicBezTo>
                <a:cubicBezTo>
                  <a:pt x="377952" y="176117"/>
                  <a:pt x="363188" y="161353"/>
                  <a:pt x="363188" y="143255"/>
                </a:cubicBezTo>
                <a:cubicBezTo>
                  <a:pt x="363188" y="125158"/>
                  <a:pt x="377952" y="110394"/>
                  <a:pt x="396049" y="110394"/>
                </a:cubicBezTo>
                <a:close/>
                <a:moveTo>
                  <a:pt x="30289" y="2000"/>
                </a:moveTo>
                <a:cubicBezTo>
                  <a:pt x="46958" y="2000"/>
                  <a:pt x="60579" y="15526"/>
                  <a:pt x="60579" y="32290"/>
                </a:cubicBezTo>
                <a:cubicBezTo>
                  <a:pt x="60579" y="48958"/>
                  <a:pt x="46958" y="62579"/>
                  <a:pt x="30289" y="62579"/>
                </a:cubicBezTo>
                <a:cubicBezTo>
                  <a:pt x="13621" y="62579"/>
                  <a:pt x="0" y="48958"/>
                  <a:pt x="0" y="32290"/>
                </a:cubicBezTo>
                <a:cubicBezTo>
                  <a:pt x="0" y="15621"/>
                  <a:pt x="13621" y="2000"/>
                  <a:pt x="30289" y="2000"/>
                </a:cubicBezTo>
                <a:close/>
                <a:moveTo>
                  <a:pt x="121730" y="1333"/>
                </a:moveTo>
                <a:cubicBezTo>
                  <a:pt x="138780" y="1333"/>
                  <a:pt x="152687" y="15144"/>
                  <a:pt x="152591" y="32194"/>
                </a:cubicBezTo>
                <a:cubicBezTo>
                  <a:pt x="152591" y="49244"/>
                  <a:pt x="138780" y="63150"/>
                  <a:pt x="121730" y="63150"/>
                </a:cubicBezTo>
                <a:cubicBezTo>
                  <a:pt x="104680" y="63150"/>
                  <a:pt x="90774" y="49244"/>
                  <a:pt x="90774" y="32194"/>
                </a:cubicBezTo>
                <a:cubicBezTo>
                  <a:pt x="90774" y="15240"/>
                  <a:pt x="104680" y="1333"/>
                  <a:pt x="121730" y="1333"/>
                </a:cubicBezTo>
                <a:close/>
                <a:moveTo>
                  <a:pt x="213170" y="666"/>
                </a:moveTo>
                <a:cubicBezTo>
                  <a:pt x="230600" y="666"/>
                  <a:pt x="244697" y="14858"/>
                  <a:pt x="244697" y="32194"/>
                </a:cubicBezTo>
                <a:cubicBezTo>
                  <a:pt x="244697" y="49529"/>
                  <a:pt x="230600" y="63722"/>
                  <a:pt x="213170" y="63722"/>
                </a:cubicBezTo>
                <a:cubicBezTo>
                  <a:pt x="195834" y="63722"/>
                  <a:pt x="181642" y="49625"/>
                  <a:pt x="181642" y="32194"/>
                </a:cubicBezTo>
                <a:cubicBezTo>
                  <a:pt x="181642" y="14858"/>
                  <a:pt x="195739" y="666"/>
                  <a:pt x="213170" y="666"/>
                </a:cubicBezTo>
                <a:close/>
                <a:moveTo>
                  <a:pt x="304610" y="0"/>
                </a:moveTo>
                <a:cubicBezTo>
                  <a:pt x="322326" y="0"/>
                  <a:pt x="336804" y="14478"/>
                  <a:pt x="336804" y="32195"/>
                </a:cubicBezTo>
                <a:cubicBezTo>
                  <a:pt x="336804" y="49911"/>
                  <a:pt x="322326" y="64389"/>
                  <a:pt x="304610" y="64389"/>
                </a:cubicBezTo>
                <a:cubicBezTo>
                  <a:pt x="286893" y="64389"/>
                  <a:pt x="272415" y="50006"/>
                  <a:pt x="272415" y="32195"/>
                </a:cubicBezTo>
                <a:cubicBezTo>
                  <a:pt x="272415" y="14478"/>
                  <a:pt x="286798" y="0"/>
                  <a:pt x="304610" y="0"/>
                </a:cubicBezTo>
                <a:close/>
              </a:path>
            </a:pathLst>
          </a:custGeom>
          <a:gradFill>
            <a:gsLst>
              <a:gs pos="68000">
                <a:schemeClr val="accent1"/>
              </a:gs>
              <a:gs pos="0">
                <a:schemeClr val="accent1">
                  <a:lumMod val="70000"/>
                  <a:lumOff val="30000"/>
                  <a:alpha val="0"/>
                </a:schemeClr>
              </a:gs>
            </a:gsLst>
            <a:lin ang="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13" name="熊大的PPT宝库70"/>
          <p:cNvSpPr/>
          <p:nvPr/>
        </p:nvSpPr>
        <p:spPr>
          <a:xfrm rot="16200000">
            <a:off x="6305285" y="2725356"/>
            <a:ext cx="165604" cy="197811"/>
          </a:xfrm>
          <a:custGeom>
            <a:avLst/>
            <a:gdLst>
              <a:gd name="connsiteX0" fmla="*/ 25717 w 603885"/>
              <a:gd name="connsiteY0" fmla="*/ 668083 h 721328"/>
              <a:gd name="connsiteX1" fmla="*/ 51435 w 603885"/>
              <a:gd name="connsiteY1" fmla="*/ 693801 h 721328"/>
              <a:gd name="connsiteX2" fmla="*/ 25717 w 603885"/>
              <a:gd name="connsiteY2" fmla="*/ 719518 h 721328"/>
              <a:gd name="connsiteX3" fmla="*/ 0 w 603885"/>
              <a:gd name="connsiteY3" fmla="*/ 693801 h 721328"/>
              <a:gd name="connsiteX4" fmla="*/ 25717 w 603885"/>
              <a:gd name="connsiteY4" fmla="*/ 668083 h 721328"/>
              <a:gd name="connsiteX5" fmla="*/ 117157 w 603885"/>
              <a:gd name="connsiteY5" fmla="*/ 667416 h 721328"/>
              <a:gd name="connsiteX6" fmla="*/ 143446 w 603885"/>
              <a:gd name="connsiteY6" fmla="*/ 693705 h 721328"/>
              <a:gd name="connsiteX7" fmla="*/ 117157 w 603885"/>
              <a:gd name="connsiteY7" fmla="*/ 720089 h 721328"/>
              <a:gd name="connsiteX8" fmla="*/ 90773 w 603885"/>
              <a:gd name="connsiteY8" fmla="*/ 693705 h 721328"/>
              <a:gd name="connsiteX9" fmla="*/ 117157 w 603885"/>
              <a:gd name="connsiteY9" fmla="*/ 667416 h 721328"/>
              <a:gd name="connsiteX10" fmla="*/ 208502 w 603885"/>
              <a:gd name="connsiteY10" fmla="*/ 666750 h 721328"/>
              <a:gd name="connsiteX11" fmla="*/ 235458 w 603885"/>
              <a:gd name="connsiteY11" fmla="*/ 693706 h 721328"/>
              <a:gd name="connsiteX12" fmla="*/ 208502 w 603885"/>
              <a:gd name="connsiteY12" fmla="*/ 720662 h 721328"/>
              <a:gd name="connsiteX13" fmla="*/ 181546 w 603885"/>
              <a:gd name="connsiteY13" fmla="*/ 693706 h 721328"/>
              <a:gd name="connsiteX14" fmla="*/ 208502 w 603885"/>
              <a:gd name="connsiteY14" fmla="*/ 666750 h 721328"/>
              <a:gd name="connsiteX15" fmla="*/ 299942 w 603885"/>
              <a:gd name="connsiteY15" fmla="*/ 666083 h 721328"/>
              <a:gd name="connsiteX16" fmla="*/ 327564 w 603885"/>
              <a:gd name="connsiteY16" fmla="*/ 693706 h 721328"/>
              <a:gd name="connsiteX17" fmla="*/ 299942 w 603885"/>
              <a:gd name="connsiteY17" fmla="*/ 721328 h 721328"/>
              <a:gd name="connsiteX18" fmla="*/ 272319 w 603885"/>
              <a:gd name="connsiteY18" fmla="*/ 693706 h 721328"/>
              <a:gd name="connsiteX19" fmla="*/ 299942 w 603885"/>
              <a:gd name="connsiteY19" fmla="*/ 666083 h 721328"/>
              <a:gd name="connsiteX20" fmla="*/ 117157 w 603885"/>
              <a:gd name="connsiteY20" fmla="*/ 556355 h 721328"/>
              <a:gd name="connsiteX21" fmla="*/ 143446 w 603885"/>
              <a:gd name="connsiteY21" fmla="*/ 582644 h 721328"/>
              <a:gd name="connsiteX22" fmla="*/ 117157 w 603885"/>
              <a:gd name="connsiteY22" fmla="*/ 609028 h 721328"/>
              <a:gd name="connsiteX23" fmla="*/ 90773 w 603885"/>
              <a:gd name="connsiteY23" fmla="*/ 582644 h 721328"/>
              <a:gd name="connsiteX24" fmla="*/ 117157 w 603885"/>
              <a:gd name="connsiteY24" fmla="*/ 556355 h 721328"/>
              <a:gd name="connsiteX25" fmla="*/ 208502 w 603885"/>
              <a:gd name="connsiteY25" fmla="*/ 555784 h 721328"/>
              <a:gd name="connsiteX26" fmla="*/ 235458 w 603885"/>
              <a:gd name="connsiteY26" fmla="*/ 582740 h 721328"/>
              <a:gd name="connsiteX27" fmla="*/ 208502 w 603885"/>
              <a:gd name="connsiteY27" fmla="*/ 609695 h 721328"/>
              <a:gd name="connsiteX28" fmla="*/ 181546 w 603885"/>
              <a:gd name="connsiteY28" fmla="*/ 582740 h 721328"/>
              <a:gd name="connsiteX29" fmla="*/ 208502 w 603885"/>
              <a:gd name="connsiteY29" fmla="*/ 555784 h 721328"/>
              <a:gd name="connsiteX30" fmla="*/ 299942 w 603885"/>
              <a:gd name="connsiteY30" fmla="*/ 555117 h 721328"/>
              <a:gd name="connsiteX31" fmla="*/ 327564 w 603885"/>
              <a:gd name="connsiteY31" fmla="*/ 582739 h 721328"/>
              <a:gd name="connsiteX32" fmla="*/ 299942 w 603885"/>
              <a:gd name="connsiteY32" fmla="*/ 610362 h 721328"/>
              <a:gd name="connsiteX33" fmla="*/ 272319 w 603885"/>
              <a:gd name="connsiteY33" fmla="*/ 582739 h 721328"/>
              <a:gd name="connsiteX34" fmla="*/ 299942 w 603885"/>
              <a:gd name="connsiteY34" fmla="*/ 555117 h 721328"/>
              <a:gd name="connsiteX35" fmla="*/ 391382 w 603885"/>
              <a:gd name="connsiteY35" fmla="*/ 554450 h 721328"/>
              <a:gd name="connsiteX36" fmla="*/ 419672 w 603885"/>
              <a:gd name="connsiteY36" fmla="*/ 582739 h 721328"/>
              <a:gd name="connsiteX37" fmla="*/ 391382 w 603885"/>
              <a:gd name="connsiteY37" fmla="*/ 611029 h 721328"/>
              <a:gd name="connsiteX38" fmla="*/ 363093 w 603885"/>
              <a:gd name="connsiteY38" fmla="*/ 582739 h 721328"/>
              <a:gd name="connsiteX39" fmla="*/ 391382 w 603885"/>
              <a:gd name="connsiteY39" fmla="*/ 554450 h 721328"/>
              <a:gd name="connsiteX40" fmla="*/ 208502 w 603885"/>
              <a:gd name="connsiteY40" fmla="*/ 444722 h 721328"/>
              <a:gd name="connsiteX41" fmla="*/ 235458 w 603885"/>
              <a:gd name="connsiteY41" fmla="*/ 471678 h 721328"/>
              <a:gd name="connsiteX42" fmla="*/ 208502 w 603885"/>
              <a:gd name="connsiteY42" fmla="*/ 498634 h 721328"/>
              <a:gd name="connsiteX43" fmla="*/ 181546 w 603885"/>
              <a:gd name="connsiteY43" fmla="*/ 471678 h 721328"/>
              <a:gd name="connsiteX44" fmla="*/ 208502 w 603885"/>
              <a:gd name="connsiteY44" fmla="*/ 444722 h 721328"/>
              <a:gd name="connsiteX45" fmla="*/ 299942 w 603885"/>
              <a:gd name="connsiteY45" fmla="*/ 444055 h 721328"/>
              <a:gd name="connsiteX46" fmla="*/ 327564 w 603885"/>
              <a:gd name="connsiteY46" fmla="*/ 471678 h 721328"/>
              <a:gd name="connsiteX47" fmla="*/ 299942 w 603885"/>
              <a:gd name="connsiteY47" fmla="*/ 499300 h 721328"/>
              <a:gd name="connsiteX48" fmla="*/ 272319 w 603885"/>
              <a:gd name="connsiteY48" fmla="*/ 471678 h 721328"/>
              <a:gd name="connsiteX49" fmla="*/ 299942 w 603885"/>
              <a:gd name="connsiteY49" fmla="*/ 444055 h 721328"/>
              <a:gd name="connsiteX50" fmla="*/ 391382 w 603885"/>
              <a:gd name="connsiteY50" fmla="*/ 443389 h 721328"/>
              <a:gd name="connsiteX51" fmla="*/ 419672 w 603885"/>
              <a:gd name="connsiteY51" fmla="*/ 471678 h 721328"/>
              <a:gd name="connsiteX52" fmla="*/ 391382 w 603885"/>
              <a:gd name="connsiteY52" fmla="*/ 499968 h 721328"/>
              <a:gd name="connsiteX53" fmla="*/ 363093 w 603885"/>
              <a:gd name="connsiteY53" fmla="*/ 471678 h 721328"/>
              <a:gd name="connsiteX54" fmla="*/ 391382 w 603885"/>
              <a:gd name="connsiteY54" fmla="*/ 443389 h 721328"/>
              <a:gd name="connsiteX55" fmla="*/ 482822 w 603885"/>
              <a:gd name="connsiteY55" fmla="*/ 442817 h 721328"/>
              <a:gd name="connsiteX56" fmla="*/ 511778 w 603885"/>
              <a:gd name="connsiteY56" fmla="*/ 471773 h 721328"/>
              <a:gd name="connsiteX57" fmla="*/ 482822 w 603885"/>
              <a:gd name="connsiteY57" fmla="*/ 500729 h 721328"/>
              <a:gd name="connsiteX58" fmla="*/ 453866 w 603885"/>
              <a:gd name="connsiteY58" fmla="*/ 471773 h 721328"/>
              <a:gd name="connsiteX59" fmla="*/ 482822 w 603885"/>
              <a:gd name="connsiteY59" fmla="*/ 442817 h 721328"/>
              <a:gd name="connsiteX60" fmla="*/ 299942 w 603885"/>
              <a:gd name="connsiteY60" fmla="*/ 333089 h 721328"/>
              <a:gd name="connsiteX61" fmla="*/ 327564 w 603885"/>
              <a:gd name="connsiteY61" fmla="*/ 360712 h 721328"/>
              <a:gd name="connsiteX62" fmla="*/ 299942 w 603885"/>
              <a:gd name="connsiteY62" fmla="*/ 388334 h 721328"/>
              <a:gd name="connsiteX63" fmla="*/ 272319 w 603885"/>
              <a:gd name="connsiteY63" fmla="*/ 360712 h 721328"/>
              <a:gd name="connsiteX64" fmla="*/ 299942 w 603885"/>
              <a:gd name="connsiteY64" fmla="*/ 333089 h 721328"/>
              <a:gd name="connsiteX65" fmla="*/ 391382 w 603885"/>
              <a:gd name="connsiteY65" fmla="*/ 332422 h 721328"/>
              <a:gd name="connsiteX66" fmla="*/ 419672 w 603885"/>
              <a:gd name="connsiteY66" fmla="*/ 360711 h 721328"/>
              <a:gd name="connsiteX67" fmla="*/ 391382 w 603885"/>
              <a:gd name="connsiteY67" fmla="*/ 389001 h 721328"/>
              <a:gd name="connsiteX68" fmla="*/ 363093 w 603885"/>
              <a:gd name="connsiteY68" fmla="*/ 360711 h 721328"/>
              <a:gd name="connsiteX69" fmla="*/ 391382 w 603885"/>
              <a:gd name="connsiteY69" fmla="*/ 332422 h 721328"/>
              <a:gd name="connsiteX70" fmla="*/ 482822 w 603885"/>
              <a:gd name="connsiteY70" fmla="*/ 331755 h 721328"/>
              <a:gd name="connsiteX71" fmla="*/ 511778 w 603885"/>
              <a:gd name="connsiteY71" fmla="*/ 360711 h 721328"/>
              <a:gd name="connsiteX72" fmla="*/ 482822 w 603885"/>
              <a:gd name="connsiteY72" fmla="*/ 389667 h 721328"/>
              <a:gd name="connsiteX73" fmla="*/ 453866 w 603885"/>
              <a:gd name="connsiteY73" fmla="*/ 360711 h 721328"/>
              <a:gd name="connsiteX74" fmla="*/ 482822 w 603885"/>
              <a:gd name="connsiteY74" fmla="*/ 331755 h 721328"/>
              <a:gd name="connsiteX75" fmla="*/ 574262 w 603885"/>
              <a:gd name="connsiteY75" fmla="*/ 331089 h 721328"/>
              <a:gd name="connsiteX76" fmla="*/ 603885 w 603885"/>
              <a:gd name="connsiteY76" fmla="*/ 360712 h 721328"/>
              <a:gd name="connsiteX77" fmla="*/ 574262 w 603885"/>
              <a:gd name="connsiteY77" fmla="*/ 390335 h 721328"/>
              <a:gd name="connsiteX78" fmla="*/ 544639 w 603885"/>
              <a:gd name="connsiteY78" fmla="*/ 360712 h 721328"/>
              <a:gd name="connsiteX79" fmla="*/ 574262 w 603885"/>
              <a:gd name="connsiteY79" fmla="*/ 331089 h 721328"/>
              <a:gd name="connsiteX80" fmla="*/ 208502 w 603885"/>
              <a:gd name="connsiteY80" fmla="*/ 222694 h 721328"/>
              <a:gd name="connsiteX81" fmla="*/ 235458 w 603885"/>
              <a:gd name="connsiteY81" fmla="*/ 249650 h 721328"/>
              <a:gd name="connsiteX82" fmla="*/ 208502 w 603885"/>
              <a:gd name="connsiteY82" fmla="*/ 276606 h 721328"/>
              <a:gd name="connsiteX83" fmla="*/ 181546 w 603885"/>
              <a:gd name="connsiteY83" fmla="*/ 249650 h 721328"/>
              <a:gd name="connsiteX84" fmla="*/ 208502 w 603885"/>
              <a:gd name="connsiteY84" fmla="*/ 222694 h 721328"/>
              <a:gd name="connsiteX85" fmla="*/ 299942 w 603885"/>
              <a:gd name="connsiteY85" fmla="*/ 222027 h 721328"/>
              <a:gd name="connsiteX86" fmla="*/ 327564 w 603885"/>
              <a:gd name="connsiteY86" fmla="*/ 249650 h 721328"/>
              <a:gd name="connsiteX87" fmla="*/ 299942 w 603885"/>
              <a:gd name="connsiteY87" fmla="*/ 277272 h 721328"/>
              <a:gd name="connsiteX88" fmla="*/ 272319 w 603885"/>
              <a:gd name="connsiteY88" fmla="*/ 249650 h 721328"/>
              <a:gd name="connsiteX89" fmla="*/ 299942 w 603885"/>
              <a:gd name="connsiteY89" fmla="*/ 222027 h 721328"/>
              <a:gd name="connsiteX90" fmla="*/ 391382 w 603885"/>
              <a:gd name="connsiteY90" fmla="*/ 221361 h 721328"/>
              <a:gd name="connsiteX91" fmla="*/ 419672 w 603885"/>
              <a:gd name="connsiteY91" fmla="*/ 249650 h 721328"/>
              <a:gd name="connsiteX92" fmla="*/ 391382 w 603885"/>
              <a:gd name="connsiteY92" fmla="*/ 277940 h 721328"/>
              <a:gd name="connsiteX93" fmla="*/ 363093 w 603885"/>
              <a:gd name="connsiteY93" fmla="*/ 249650 h 721328"/>
              <a:gd name="connsiteX94" fmla="*/ 391382 w 603885"/>
              <a:gd name="connsiteY94" fmla="*/ 221361 h 721328"/>
              <a:gd name="connsiteX95" fmla="*/ 482822 w 603885"/>
              <a:gd name="connsiteY95" fmla="*/ 220789 h 721328"/>
              <a:gd name="connsiteX96" fmla="*/ 511778 w 603885"/>
              <a:gd name="connsiteY96" fmla="*/ 249745 h 721328"/>
              <a:gd name="connsiteX97" fmla="*/ 482822 w 603885"/>
              <a:gd name="connsiteY97" fmla="*/ 278701 h 721328"/>
              <a:gd name="connsiteX98" fmla="*/ 453866 w 603885"/>
              <a:gd name="connsiteY98" fmla="*/ 249745 h 721328"/>
              <a:gd name="connsiteX99" fmla="*/ 482822 w 603885"/>
              <a:gd name="connsiteY99" fmla="*/ 220789 h 721328"/>
              <a:gd name="connsiteX100" fmla="*/ 117157 w 603885"/>
              <a:gd name="connsiteY100" fmla="*/ 112395 h 721328"/>
              <a:gd name="connsiteX101" fmla="*/ 143446 w 603885"/>
              <a:gd name="connsiteY101" fmla="*/ 138684 h 721328"/>
              <a:gd name="connsiteX102" fmla="*/ 117157 w 603885"/>
              <a:gd name="connsiteY102" fmla="*/ 165068 h 721328"/>
              <a:gd name="connsiteX103" fmla="*/ 90773 w 603885"/>
              <a:gd name="connsiteY103" fmla="*/ 138684 h 721328"/>
              <a:gd name="connsiteX104" fmla="*/ 117157 w 603885"/>
              <a:gd name="connsiteY104" fmla="*/ 112395 h 721328"/>
              <a:gd name="connsiteX105" fmla="*/ 208502 w 603885"/>
              <a:gd name="connsiteY105" fmla="*/ 111728 h 721328"/>
              <a:gd name="connsiteX106" fmla="*/ 235458 w 603885"/>
              <a:gd name="connsiteY106" fmla="*/ 138684 h 721328"/>
              <a:gd name="connsiteX107" fmla="*/ 208502 w 603885"/>
              <a:gd name="connsiteY107" fmla="*/ 165640 h 721328"/>
              <a:gd name="connsiteX108" fmla="*/ 181546 w 603885"/>
              <a:gd name="connsiteY108" fmla="*/ 138684 h 721328"/>
              <a:gd name="connsiteX109" fmla="*/ 208502 w 603885"/>
              <a:gd name="connsiteY109" fmla="*/ 111728 h 721328"/>
              <a:gd name="connsiteX110" fmla="*/ 299942 w 603885"/>
              <a:gd name="connsiteY110" fmla="*/ 111061 h 721328"/>
              <a:gd name="connsiteX111" fmla="*/ 327564 w 603885"/>
              <a:gd name="connsiteY111" fmla="*/ 138683 h 721328"/>
              <a:gd name="connsiteX112" fmla="*/ 299942 w 603885"/>
              <a:gd name="connsiteY112" fmla="*/ 166306 h 721328"/>
              <a:gd name="connsiteX113" fmla="*/ 272319 w 603885"/>
              <a:gd name="connsiteY113" fmla="*/ 138683 h 721328"/>
              <a:gd name="connsiteX114" fmla="*/ 299942 w 603885"/>
              <a:gd name="connsiteY114" fmla="*/ 111061 h 721328"/>
              <a:gd name="connsiteX115" fmla="*/ 391382 w 603885"/>
              <a:gd name="connsiteY115" fmla="*/ 110394 h 721328"/>
              <a:gd name="connsiteX116" fmla="*/ 419672 w 603885"/>
              <a:gd name="connsiteY116" fmla="*/ 138683 h 721328"/>
              <a:gd name="connsiteX117" fmla="*/ 391382 w 603885"/>
              <a:gd name="connsiteY117" fmla="*/ 166973 h 721328"/>
              <a:gd name="connsiteX118" fmla="*/ 363093 w 603885"/>
              <a:gd name="connsiteY118" fmla="*/ 138683 h 721328"/>
              <a:gd name="connsiteX119" fmla="*/ 391382 w 603885"/>
              <a:gd name="connsiteY119" fmla="*/ 110394 h 721328"/>
              <a:gd name="connsiteX120" fmla="*/ 25717 w 603885"/>
              <a:gd name="connsiteY120" fmla="*/ 2000 h 721328"/>
              <a:gd name="connsiteX121" fmla="*/ 51435 w 603885"/>
              <a:gd name="connsiteY121" fmla="*/ 27717 h 721328"/>
              <a:gd name="connsiteX122" fmla="*/ 25717 w 603885"/>
              <a:gd name="connsiteY122" fmla="*/ 53435 h 721328"/>
              <a:gd name="connsiteX123" fmla="*/ 0 w 603885"/>
              <a:gd name="connsiteY123" fmla="*/ 27717 h 721328"/>
              <a:gd name="connsiteX124" fmla="*/ 25717 w 603885"/>
              <a:gd name="connsiteY124" fmla="*/ 2000 h 721328"/>
              <a:gd name="connsiteX125" fmla="*/ 117157 w 603885"/>
              <a:gd name="connsiteY125" fmla="*/ 1333 h 721328"/>
              <a:gd name="connsiteX126" fmla="*/ 143446 w 603885"/>
              <a:gd name="connsiteY126" fmla="*/ 27622 h 721328"/>
              <a:gd name="connsiteX127" fmla="*/ 117157 w 603885"/>
              <a:gd name="connsiteY127" fmla="*/ 54006 h 721328"/>
              <a:gd name="connsiteX128" fmla="*/ 90773 w 603885"/>
              <a:gd name="connsiteY128" fmla="*/ 27622 h 721328"/>
              <a:gd name="connsiteX129" fmla="*/ 117157 w 603885"/>
              <a:gd name="connsiteY129" fmla="*/ 1333 h 721328"/>
              <a:gd name="connsiteX130" fmla="*/ 208502 w 603885"/>
              <a:gd name="connsiteY130" fmla="*/ 666 h 721328"/>
              <a:gd name="connsiteX131" fmla="*/ 235458 w 603885"/>
              <a:gd name="connsiteY131" fmla="*/ 27622 h 721328"/>
              <a:gd name="connsiteX132" fmla="*/ 208502 w 603885"/>
              <a:gd name="connsiteY132" fmla="*/ 54578 h 721328"/>
              <a:gd name="connsiteX133" fmla="*/ 181546 w 603885"/>
              <a:gd name="connsiteY133" fmla="*/ 27622 h 721328"/>
              <a:gd name="connsiteX134" fmla="*/ 208502 w 603885"/>
              <a:gd name="connsiteY134" fmla="*/ 666 h 721328"/>
              <a:gd name="connsiteX135" fmla="*/ 299942 w 603885"/>
              <a:gd name="connsiteY135" fmla="*/ 0 h 721328"/>
              <a:gd name="connsiteX136" fmla="*/ 327564 w 603885"/>
              <a:gd name="connsiteY136" fmla="*/ 27622 h 721328"/>
              <a:gd name="connsiteX137" fmla="*/ 299942 w 603885"/>
              <a:gd name="connsiteY137" fmla="*/ 55245 h 721328"/>
              <a:gd name="connsiteX138" fmla="*/ 272319 w 603885"/>
              <a:gd name="connsiteY138" fmla="*/ 27622 h 721328"/>
              <a:gd name="connsiteX139" fmla="*/ 299942 w 603885"/>
              <a:gd name="connsiteY139" fmla="*/ 0 h 721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603885" h="721328">
                <a:moveTo>
                  <a:pt x="25717" y="668083"/>
                </a:moveTo>
                <a:cubicBezTo>
                  <a:pt x="39910" y="668083"/>
                  <a:pt x="51435" y="679608"/>
                  <a:pt x="51435" y="693801"/>
                </a:cubicBezTo>
                <a:cubicBezTo>
                  <a:pt x="51435" y="707993"/>
                  <a:pt x="39910" y="719518"/>
                  <a:pt x="25717" y="719518"/>
                </a:cubicBezTo>
                <a:cubicBezTo>
                  <a:pt x="11525" y="719518"/>
                  <a:pt x="0" y="707993"/>
                  <a:pt x="0" y="693801"/>
                </a:cubicBezTo>
                <a:cubicBezTo>
                  <a:pt x="0" y="679608"/>
                  <a:pt x="11525" y="668083"/>
                  <a:pt x="25717" y="668083"/>
                </a:cubicBezTo>
                <a:close/>
                <a:moveTo>
                  <a:pt x="117157" y="667416"/>
                </a:moveTo>
                <a:cubicBezTo>
                  <a:pt x="131635" y="667416"/>
                  <a:pt x="143446" y="679227"/>
                  <a:pt x="143446" y="693705"/>
                </a:cubicBezTo>
                <a:cubicBezTo>
                  <a:pt x="143446" y="708278"/>
                  <a:pt x="131635" y="720089"/>
                  <a:pt x="117157" y="720089"/>
                </a:cubicBezTo>
                <a:cubicBezTo>
                  <a:pt x="102584" y="720089"/>
                  <a:pt x="90773" y="708183"/>
                  <a:pt x="90773" y="693705"/>
                </a:cubicBezTo>
                <a:cubicBezTo>
                  <a:pt x="90773" y="679227"/>
                  <a:pt x="102679" y="667416"/>
                  <a:pt x="117157" y="667416"/>
                </a:cubicBezTo>
                <a:close/>
                <a:moveTo>
                  <a:pt x="208502" y="666750"/>
                </a:moveTo>
                <a:cubicBezTo>
                  <a:pt x="223456" y="666750"/>
                  <a:pt x="235553" y="678847"/>
                  <a:pt x="235458" y="693706"/>
                </a:cubicBezTo>
                <a:cubicBezTo>
                  <a:pt x="235458" y="708565"/>
                  <a:pt x="223361" y="720662"/>
                  <a:pt x="208502" y="720662"/>
                </a:cubicBezTo>
                <a:cubicBezTo>
                  <a:pt x="193643" y="720662"/>
                  <a:pt x="181546" y="708565"/>
                  <a:pt x="181546" y="693706"/>
                </a:cubicBezTo>
                <a:cubicBezTo>
                  <a:pt x="181546" y="678847"/>
                  <a:pt x="193643" y="666750"/>
                  <a:pt x="208502" y="666750"/>
                </a:cubicBezTo>
                <a:close/>
                <a:moveTo>
                  <a:pt x="299942" y="666083"/>
                </a:moveTo>
                <a:cubicBezTo>
                  <a:pt x="315182" y="666083"/>
                  <a:pt x="327564" y="678466"/>
                  <a:pt x="327564" y="693706"/>
                </a:cubicBezTo>
                <a:cubicBezTo>
                  <a:pt x="327564" y="708946"/>
                  <a:pt x="315182" y="721328"/>
                  <a:pt x="299942" y="721328"/>
                </a:cubicBezTo>
                <a:cubicBezTo>
                  <a:pt x="284702" y="721328"/>
                  <a:pt x="272319" y="708946"/>
                  <a:pt x="272319" y="693706"/>
                </a:cubicBezTo>
                <a:cubicBezTo>
                  <a:pt x="272319" y="678466"/>
                  <a:pt x="284702" y="666083"/>
                  <a:pt x="299942" y="666083"/>
                </a:cubicBezTo>
                <a:close/>
                <a:moveTo>
                  <a:pt x="117157" y="556355"/>
                </a:moveTo>
                <a:cubicBezTo>
                  <a:pt x="131635" y="556355"/>
                  <a:pt x="143446" y="568166"/>
                  <a:pt x="143446" y="582644"/>
                </a:cubicBezTo>
                <a:cubicBezTo>
                  <a:pt x="143446" y="597217"/>
                  <a:pt x="131635" y="609028"/>
                  <a:pt x="117157" y="609028"/>
                </a:cubicBezTo>
                <a:cubicBezTo>
                  <a:pt x="102584" y="609028"/>
                  <a:pt x="90773" y="597122"/>
                  <a:pt x="90773" y="582644"/>
                </a:cubicBezTo>
                <a:cubicBezTo>
                  <a:pt x="90773" y="568166"/>
                  <a:pt x="102679" y="556355"/>
                  <a:pt x="117157" y="556355"/>
                </a:cubicBezTo>
                <a:close/>
                <a:moveTo>
                  <a:pt x="208502" y="555784"/>
                </a:moveTo>
                <a:cubicBezTo>
                  <a:pt x="223456" y="555784"/>
                  <a:pt x="235553" y="567881"/>
                  <a:pt x="235458" y="582740"/>
                </a:cubicBezTo>
                <a:cubicBezTo>
                  <a:pt x="235458" y="597599"/>
                  <a:pt x="223361" y="609695"/>
                  <a:pt x="208502" y="609695"/>
                </a:cubicBezTo>
                <a:cubicBezTo>
                  <a:pt x="193643" y="609695"/>
                  <a:pt x="181546" y="597599"/>
                  <a:pt x="181546" y="582740"/>
                </a:cubicBezTo>
                <a:cubicBezTo>
                  <a:pt x="181546" y="567881"/>
                  <a:pt x="193643" y="555784"/>
                  <a:pt x="208502" y="555784"/>
                </a:cubicBezTo>
                <a:close/>
                <a:moveTo>
                  <a:pt x="299942" y="555117"/>
                </a:moveTo>
                <a:cubicBezTo>
                  <a:pt x="315182" y="555117"/>
                  <a:pt x="327564" y="567499"/>
                  <a:pt x="327564" y="582739"/>
                </a:cubicBezTo>
                <a:cubicBezTo>
                  <a:pt x="327564" y="597980"/>
                  <a:pt x="315182" y="610362"/>
                  <a:pt x="299942" y="610362"/>
                </a:cubicBezTo>
                <a:cubicBezTo>
                  <a:pt x="284702" y="610362"/>
                  <a:pt x="272319" y="597980"/>
                  <a:pt x="272319" y="582739"/>
                </a:cubicBezTo>
                <a:cubicBezTo>
                  <a:pt x="272319" y="567499"/>
                  <a:pt x="284702" y="555117"/>
                  <a:pt x="299942" y="555117"/>
                </a:cubicBezTo>
                <a:close/>
                <a:moveTo>
                  <a:pt x="391382" y="554450"/>
                </a:moveTo>
                <a:cubicBezTo>
                  <a:pt x="407003" y="554450"/>
                  <a:pt x="419672" y="567118"/>
                  <a:pt x="419672" y="582739"/>
                </a:cubicBezTo>
                <a:cubicBezTo>
                  <a:pt x="419672" y="598360"/>
                  <a:pt x="407003" y="611029"/>
                  <a:pt x="391382" y="611029"/>
                </a:cubicBezTo>
                <a:cubicBezTo>
                  <a:pt x="375761" y="611029"/>
                  <a:pt x="363093" y="598360"/>
                  <a:pt x="363093" y="582739"/>
                </a:cubicBezTo>
                <a:cubicBezTo>
                  <a:pt x="363093" y="567118"/>
                  <a:pt x="375761" y="554450"/>
                  <a:pt x="391382" y="554450"/>
                </a:cubicBezTo>
                <a:close/>
                <a:moveTo>
                  <a:pt x="208502" y="444722"/>
                </a:moveTo>
                <a:cubicBezTo>
                  <a:pt x="223456" y="444722"/>
                  <a:pt x="235553" y="456819"/>
                  <a:pt x="235458" y="471678"/>
                </a:cubicBezTo>
                <a:cubicBezTo>
                  <a:pt x="235458" y="486537"/>
                  <a:pt x="223361" y="498634"/>
                  <a:pt x="208502" y="498634"/>
                </a:cubicBezTo>
                <a:cubicBezTo>
                  <a:pt x="193643" y="498634"/>
                  <a:pt x="181546" y="486537"/>
                  <a:pt x="181546" y="471678"/>
                </a:cubicBezTo>
                <a:cubicBezTo>
                  <a:pt x="181546" y="456819"/>
                  <a:pt x="193643" y="444722"/>
                  <a:pt x="208502" y="444722"/>
                </a:cubicBezTo>
                <a:close/>
                <a:moveTo>
                  <a:pt x="299942" y="444055"/>
                </a:moveTo>
                <a:cubicBezTo>
                  <a:pt x="315182" y="444055"/>
                  <a:pt x="327564" y="456437"/>
                  <a:pt x="327564" y="471678"/>
                </a:cubicBezTo>
                <a:cubicBezTo>
                  <a:pt x="327564" y="486918"/>
                  <a:pt x="315182" y="499300"/>
                  <a:pt x="299942" y="499300"/>
                </a:cubicBezTo>
                <a:cubicBezTo>
                  <a:pt x="284702" y="499300"/>
                  <a:pt x="272319" y="486918"/>
                  <a:pt x="272319" y="471678"/>
                </a:cubicBezTo>
                <a:cubicBezTo>
                  <a:pt x="272319" y="456437"/>
                  <a:pt x="284702" y="444055"/>
                  <a:pt x="299942" y="444055"/>
                </a:cubicBezTo>
                <a:close/>
                <a:moveTo>
                  <a:pt x="391382" y="443389"/>
                </a:moveTo>
                <a:cubicBezTo>
                  <a:pt x="407003" y="443389"/>
                  <a:pt x="419672" y="456153"/>
                  <a:pt x="419672" y="471678"/>
                </a:cubicBezTo>
                <a:cubicBezTo>
                  <a:pt x="419672" y="487299"/>
                  <a:pt x="407003" y="499968"/>
                  <a:pt x="391382" y="499968"/>
                </a:cubicBezTo>
                <a:cubicBezTo>
                  <a:pt x="375761" y="499968"/>
                  <a:pt x="363093" y="487299"/>
                  <a:pt x="363093" y="471678"/>
                </a:cubicBezTo>
                <a:cubicBezTo>
                  <a:pt x="363093" y="456057"/>
                  <a:pt x="375761" y="443389"/>
                  <a:pt x="391382" y="443389"/>
                </a:cubicBezTo>
                <a:close/>
                <a:moveTo>
                  <a:pt x="482822" y="442817"/>
                </a:moveTo>
                <a:cubicBezTo>
                  <a:pt x="498729" y="442817"/>
                  <a:pt x="511778" y="455771"/>
                  <a:pt x="511778" y="471773"/>
                </a:cubicBezTo>
                <a:cubicBezTo>
                  <a:pt x="511778" y="487775"/>
                  <a:pt x="498824" y="500729"/>
                  <a:pt x="482822" y="500729"/>
                </a:cubicBezTo>
                <a:cubicBezTo>
                  <a:pt x="466820" y="500729"/>
                  <a:pt x="453866" y="487775"/>
                  <a:pt x="453866" y="471773"/>
                </a:cubicBezTo>
                <a:cubicBezTo>
                  <a:pt x="453866" y="455771"/>
                  <a:pt x="466820" y="442817"/>
                  <a:pt x="482822" y="442817"/>
                </a:cubicBezTo>
                <a:close/>
                <a:moveTo>
                  <a:pt x="299942" y="333089"/>
                </a:moveTo>
                <a:cubicBezTo>
                  <a:pt x="315182" y="333089"/>
                  <a:pt x="327564" y="345472"/>
                  <a:pt x="327564" y="360712"/>
                </a:cubicBezTo>
                <a:cubicBezTo>
                  <a:pt x="327564" y="375952"/>
                  <a:pt x="315182" y="388334"/>
                  <a:pt x="299942" y="388334"/>
                </a:cubicBezTo>
                <a:cubicBezTo>
                  <a:pt x="284702" y="388334"/>
                  <a:pt x="272319" y="375952"/>
                  <a:pt x="272319" y="360712"/>
                </a:cubicBezTo>
                <a:cubicBezTo>
                  <a:pt x="272319" y="345472"/>
                  <a:pt x="284702" y="333089"/>
                  <a:pt x="299942" y="333089"/>
                </a:cubicBezTo>
                <a:close/>
                <a:moveTo>
                  <a:pt x="391382" y="332422"/>
                </a:moveTo>
                <a:cubicBezTo>
                  <a:pt x="407003" y="332422"/>
                  <a:pt x="419672" y="345090"/>
                  <a:pt x="419672" y="360711"/>
                </a:cubicBezTo>
                <a:cubicBezTo>
                  <a:pt x="419672" y="376332"/>
                  <a:pt x="407003" y="389001"/>
                  <a:pt x="391382" y="389001"/>
                </a:cubicBezTo>
                <a:cubicBezTo>
                  <a:pt x="375761" y="389001"/>
                  <a:pt x="363093" y="376332"/>
                  <a:pt x="363093" y="360711"/>
                </a:cubicBezTo>
                <a:cubicBezTo>
                  <a:pt x="363093" y="345090"/>
                  <a:pt x="375761" y="332422"/>
                  <a:pt x="391382" y="332422"/>
                </a:cubicBezTo>
                <a:close/>
                <a:moveTo>
                  <a:pt x="482822" y="331755"/>
                </a:moveTo>
                <a:cubicBezTo>
                  <a:pt x="498729" y="331755"/>
                  <a:pt x="511778" y="344709"/>
                  <a:pt x="511778" y="360711"/>
                </a:cubicBezTo>
                <a:cubicBezTo>
                  <a:pt x="511778" y="376713"/>
                  <a:pt x="498824" y="389667"/>
                  <a:pt x="482822" y="389667"/>
                </a:cubicBezTo>
                <a:cubicBezTo>
                  <a:pt x="466820" y="389667"/>
                  <a:pt x="453866" y="376713"/>
                  <a:pt x="453866" y="360711"/>
                </a:cubicBezTo>
                <a:cubicBezTo>
                  <a:pt x="453866" y="344709"/>
                  <a:pt x="466820" y="331755"/>
                  <a:pt x="482822" y="331755"/>
                </a:cubicBezTo>
                <a:close/>
                <a:moveTo>
                  <a:pt x="574262" y="331089"/>
                </a:moveTo>
                <a:cubicBezTo>
                  <a:pt x="590549" y="331089"/>
                  <a:pt x="603789" y="344424"/>
                  <a:pt x="603885" y="360712"/>
                </a:cubicBezTo>
                <a:cubicBezTo>
                  <a:pt x="603885" y="377095"/>
                  <a:pt x="590549" y="390335"/>
                  <a:pt x="574262" y="390335"/>
                </a:cubicBezTo>
                <a:cubicBezTo>
                  <a:pt x="557879" y="390335"/>
                  <a:pt x="544639" y="376999"/>
                  <a:pt x="544639" y="360712"/>
                </a:cubicBezTo>
                <a:cubicBezTo>
                  <a:pt x="544639" y="344329"/>
                  <a:pt x="557974" y="331089"/>
                  <a:pt x="574262" y="331089"/>
                </a:cubicBezTo>
                <a:close/>
                <a:moveTo>
                  <a:pt x="208502" y="222694"/>
                </a:moveTo>
                <a:cubicBezTo>
                  <a:pt x="223456" y="222694"/>
                  <a:pt x="235553" y="234791"/>
                  <a:pt x="235458" y="249650"/>
                </a:cubicBezTo>
                <a:cubicBezTo>
                  <a:pt x="235458" y="264509"/>
                  <a:pt x="223361" y="276606"/>
                  <a:pt x="208502" y="276606"/>
                </a:cubicBezTo>
                <a:cubicBezTo>
                  <a:pt x="193643" y="276606"/>
                  <a:pt x="181546" y="264509"/>
                  <a:pt x="181546" y="249650"/>
                </a:cubicBezTo>
                <a:cubicBezTo>
                  <a:pt x="181546" y="234791"/>
                  <a:pt x="193643" y="222694"/>
                  <a:pt x="208502" y="222694"/>
                </a:cubicBezTo>
                <a:close/>
                <a:moveTo>
                  <a:pt x="299942" y="222027"/>
                </a:moveTo>
                <a:cubicBezTo>
                  <a:pt x="315182" y="222027"/>
                  <a:pt x="327564" y="234505"/>
                  <a:pt x="327564" y="249650"/>
                </a:cubicBezTo>
                <a:cubicBezTo>
                  <a:pt x="327564" y="264890"/>
                  <a:pt x="315182" y="277272"/>
                  <a:pt x="299942" y="277272"/>
                </a:cubicBezTo>
                <a:cubicBezTo>
                  <a:pt x="284702" y="277272"/>
                  <a:pt x="272319" y="264890"/>
                  <a:pt x="272319" y="249650"/>
                </a:cubicBezTo>
                <a:cubicBezTo>
                  <a:pt x="272319" y="234410"/>
                  <a:pt x="284702" y="222027"/>
                  <a:pt x="299942" y="222027"/>
                </a:cubicBezTo>
                <a:close/>
                <a:moveTo>
                  <a:pt x="391382" y="221361"/>
                </a:moveTo>
                <a:cubicBezTo>
                  <a:pt x="407003" y="221361"/>
                  <a:pt x="419672" y="234125"/>
                  <a:pt x="419672" y="249650"/>
                </a:cubicBezTo>
                <a:cubicBezTo>
                  <a:pt x="419672" y="265271"/>
                  <a:pt x="407003" y="277940"/>
                  <a:pt x="391382" y="277940"/>
                </a:cubicBezTo>
                <a:cubicBezTo>
                  <a:pt x="375761" y="277940"/>
                  <a:pt x="363093" y="265271"/>
                  <a:pt x="363093" y="249650"/>
                </a:cubicBezTo>
                <a:cubicBezTo>
                  <a:pt x="363093" y="234029"/>
                  <a:pt x="375761" y="221361"/>
                  <a:pt x="391382" y="221361"/>
                </a:cubicBezTo>
                <a:close/>
                <a:moveTo>
                  <a:pt x="482822" y="220789"/>
                </a:moveTo>
                <a:cubicBezTo>
                  <a:pt x="498729" y="220789"/>
                  <a:pt x="511778" y="233743"/>
                  <a:pt x="511778" y="249745"/>
                </a:cubicBezTo>
                <a:cubicBezTo>
                  <a:pt x="511778" y="265747"/>
                  <a:pt x="498824" y="278701"/>
                  <a:pt x="482822" y="278701"/>
                </a:cubicBezTo>
                <a:cubicBezTo>
                  <a:pt x="466820" y="278701"/>
                  <a:pt x="453866" y="265747"/>
                  <a:pt x="453866" y="249745"/>
                </a:cubicBezTo>
                <a:cubicBezTo>
                  <a:pt x="453866" y="233743"/>
                  <a:pt x="466820" y="220789"/>
                  <a:pt x="482822" y="220789"/>
                </a:cubicBezTo>
                <a:close/>
                <a:moveTo>
                  <a:pt x="117157" y="112395"/>
                </a:moveTo>
                <a:cubicBezTo>
                  <a:pt x="131635" y="112395"/>
                  <a:pt x="143446" y="124206"/>
                  <a:pt x="143446" y="138684"/>
                </a:cubicBezTo>
                <a:cubicBezTo>
                  <a:pt x="143446" y="153257"/>
                  <a:pt x="131635" y="165068"/>
                  <a:pt x="117157" y="165068"/>
                </a:cubicBezTo>
                <a:cubicBezTo>
                  <a:pt x="102584" y="165068"/>
                  <a:pt x="90773" y="153162"/>
                  <a:pt x="90773" y="138684"/>
                </a:cubicBezTo>
                <a:cubicBezTo>
                  <a:pt x="90773" y="124206"/>
                  <a:pt x="102679" y="112395"/>
                  <a:pt x="117157" y="112395"/>
                </a:cubicBezTo>
                <a:close/>
                <a:moveTo>
                  <a:pt x="208502" y="111728"/>
                </a:moveTo>
                <a:cubicBezTo>
                  <a:pt x="223456" y="111728"/>
                  <a:pt x="235553" y="123825"/>
                  <a:pt x="235458" y="138684"/>
                </a:cubicBezTo>
                <a:cubicBezTo>
                  <a:pt x="235458" y="153543"/>
                  <a:pt x="223361" y="165640"/>
                  <a:pt x="208502" y="165640"/>
                </a:cubicBezTo>
                <a:cubicBezTo>
                  <a:pt x="193643" y="165640"/>
                  <a:pt x="181546" y="153543"/>
                  <a:pt x="181546" y="138684"/>
                </a:cubicBezTo>
                <a:cubicBezTo>
                  <a:pt x="181546" y="123825"/>
                  <a:pt x="193643" y="111728"/>
                  <a:pt x="208502" y="111728"/>
                </a:cubicBezTo>
                <a:close/>
                <a:moveTo>
                  <a:pt x="299942" y="111061"/>
                </a:moveTo>
                <a:cubicBezTo>
                  <a:pt x="315182" y="111061"/>
                  <a:pt x="327564" y="123443"/>
                  <a:pt x="327564" y="138683"/>
                </a:cubicBezTo>
                <a:cubicBezTo>
                  <a:pt x="327564" y="153924"/>
                  <a:pt x="315182" y="166306"/>
                  <a:pt x="299942" y="166306"/>
                </a:cubicBezTo>
                <a:cubicBezTo>
                  <a:pt x="284702" y="166306"/>
                  <a:pt x="272319" y="153924"/>
                  <a:pt x="272319" y="138683"/>
                </a:cubicBezTo>
                <a:cubicBezTo>
                  <a:pt x="272319" y="123443"/>
                  <a:pt x="284702" y="111061"/>
                  <a:pt x="299942" y="111061"/>
                </a:cubicBezTo>
                <a:close/>
                <a:moveTo>
                  <a:pt x="391382" y="110394"/>
                </a:moveTo>
                <a:cubicBezTo>
                  <a:pt x="407003" y="110394"/>
                  <a:pt x="419672" y="123062"/>
                  <a:pt x="419672" y="138683"/>
                </a:cubicBezTo>
                <a:cubicBezTo>
                  <a:pt x="419672" y="154304"/>
                  <a:pt x="407003" y="166973"/>
                  <a:pt x="391382" y="166973"/>
                </a:cubicBezTo>
                <a:cubicBezTo>
                  <a:pt x="375761" y="166973"/>
                  <a:pt x="363093" y="154304"/>
                  <a:pt x="363093" y="138683"/>
                </a:cubicBezTo>
                <a:cubicBezTo>
                  <a:pt x="363093" y="123062"/>
                  <a:pt x="375761" y="110394"/>
                  <a:pt x="391382" y="110394"/>
                </a:cubicBezTo>
                <a:close/>
                <a:moveTo>
                  <a:pt x="25717" y="2000"/>
                </a:moveTo>
                <a:cubicBezTo>
                  <a:pt x="39910" y="2000"/>
                  <a:pt x="51435" y="13525"/>
                  <a:pt x="51435" y="27717"/>
                </a:cubicBezTo>
                <a:cubicBezTo>
                  <a:pt x="51435" y="41910"/>
                  <a:pt x="39910" y="53435"/>
                  <a:pt x="25717" y="53435"/>
                </a:cubicBezTo>
                <a:cubicBezTo>
                  <a:pt x="11525" y="53435"/>
                  <a:pt x="0" y="41910"/>
                  <a:pt x="0" y="27717"/>
                </a:cubicBezTo>
                <a:cubicBezTo>
                  <a:pt x="0" y="13525"/>
                  <a:pt x="11525" y="2000"/>
                  <a:pt x="25717" y="2000"/>
                </a:cubicBezTo>
                <a:close/>
                <a:moveTo>
                  <a:pt x="117157" y="1333"/>
                </a:moveTo>
                <a:cubicBezTo>
                  <a:pt x="131635" y="1333"/>
                  <a:pt x="143446" y="13144"/>
                  <a:pt x="143446" y="27622"/>
                </a:cubicBezTo>
                <a:cubicBezTo>
                  <a:pt x="143446" y="42195"/>
                  <a:pt x="131635" y="54006"/>
                  <a:pt x="117157" y="54006"/>
                </a:cubicBezTo>
                <a:cubicBezTo>
                  <a:pt x="102584" y="54006"/>
                  <a:pt x="90773" y="42100"/>
                  <a:pt x="90773" y="27622"/>
                </a:cubicBezTo>
                <a:cubicBezTo>
                  <a:pt x="90773" y="13144"/>
                  <a:pt x="102679" y="1333"/>
                  <a:pt x="117157" y="1333"/>
                </a:cubicBezTo>
                <a:close/>
                <a:moveTo>
                  <a:pt x="208502" y="666"/>
                </a:moveTo>
                <a:cubicBezTo>
                  <a:pt x="223456" y="666"/>
                  <a:pt x="235553" y="12763"/>
                  <a:pt x="235458" y="27622"/>
                </a:cubicBezTo>
                <a:cubicBezTo>
                  <a:pt x="235458" y="42481"/>
                  <a:pt x="223361" y="54578"/>
                  <a:pt x="208502" y="54578"/>
                </a:cubicBezTo>
                <a:cubicBezTo>
                  <a:pt x="193643" y="54578"/>
                  <a:pt x="181546" y="42481"/>
                  <a:pt x="181546" y="27622"/>
                </a:cubicBezTo>
                <a:cubicBezTo>
                  <a:pt x="181546" y="12763"/>
                  <a:pt x="193643" y="666"/>
                  <a:pt x="208502" y="666"/>
                </a:cubicBezTo>
                <a:close/>
                <a:moveTo>
                  <a:pt x="299942" y="0"/>
                </a:moveTo>
                <a:cubicBezTo>
                  <a:pt x="315182" y="0"/>
                  <a:pt x="327564" y="12478"/>
                  <a:pt x="327564" y="27622"/>
                </a:cubicBezTo>
                <a:cubicBezTo>
                  <a:pt x="327564" y="42862"/>
                  <a:pt x="315182" y="55245"/>
                  <a:pt x="299942" y="55245"/>
                </a:cubicBezTo>
                <a:cubicBezTo>
                  <a:pt x="284702" y="55245"/>
                  <a:pt x="272319" y="42862"/>
                  <a:pt x="272319" y="27622"/>
                </a:cubicBezTo>
                <a:cubicBezTo>
                  <a:pt x="272319" y="12383"/>
                  <a:pt x="284702" y="0"/>
                  <a:pt x="299942" y="0"/>
                </a:cubicBezTo>
                <a:close/>
              </a:path>
            </a:pathLst>
          </a:custGeom>
          <a:gradFill>
            <a:gsLst>
              <a:gs pos="68000">
                <a:schemeClr val="accent1"/>
              </a:gs>
              <a:gs pos="0">
                <a:schemeClr val="accent1">
                  <a:lumMod val="70000"/>
                  <a:lumOff val="30000"/>
                  <a:alpha val="0"/>
                </a:schemeClr>
              </a:gs>
            </a:gsLst>
            <a:lin ang="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14" name="熊大的PPT宝库71"/>
          <p:cNvSpPr/>
          <p:nvPr/>
        </p:nvSpPr>
        <p:spPr>
          <a:xfrm rot="16200000">
            <a:off x="6291415" y="2559210"/>
            <a:ext cx="193370" cy="261206"/>
          </a:xfrm>
          <a:custGeom>
            <a:avLst/>
            <a:gdLst>
              <a:gd name="connsiteX0" fmla="*/ 30289 w 705136"/>
              <a:gd name="connsiteY0" fmla="*/ 890016 h 952499"/>
              <a:gd name="connsiteX1" fmla="*/ 60579 w 705136"/>
              <a:gd name="connsiteY1" fmla="*/ 920306 h 952499"/>
              <a:gd name="connsiteX2" fmla="*/ 30289 w 705136"/>
              <a:gd name="connsiteY2" fmla="*/ 950595 h 952499"/>
              <a:gd name="connsiteX3" fmla="*/ 0 w 705136"/>
              <a:gd name="connsiteY3" fmla="*/ 920306 h 952499"/>
              <a:gd name="connsiteX4" fmla="*/ 30289 w 705136"/>
              <a:gd name="connsiteY4" fmla="*/ 890016 h 952499"/>
              <a:gd name="connsiteX5" fmla="*/ 121730 w 705136"/>
              <a:gd name="connsiteY5" fmla="*/ 889349 h 952499"/>
              <a:gd name="connsiteX6" fmla="*/ 152591 w 705136"/>
              <a:gd name="connsiteY6" fmla="*/ 920210 h 952499"/>
              <a:gd name="connsiteX7" fmla="*/ 121730 w 705136"/>
              <a:gd name="connsiteY7" fmla="*/ 951166 h 952499"/>
              <a:gd name="connsiteX8" fmla="*/ 90774 w 705136"/>
              <a:gd name="connsiteY8" fmla="*/ 920210 h 952499"/>
              <a:gd name="connsiteX9" fmla="*/ 121730 w 705136"/>
              <a:gd name="connsiteY9" fmla="*/ 889349 h 952499"/>
              <a:gd name="connsiteX10" fmla="*/ 213170 w 705136"/>
              <a:gd name="connsiteY10" fmla="*/ 888682 h 952499"/>
              <a:gd name="connsiteX11" fmla="*/ 244697 w 705136"/>
              <a:gd name="connsiteY11" fmla="*/ 920210 h 952499"/>
              <a:gd name="connsiteX12" fmla="*/ 213170 w 705136"/>
              <a:gd name="connsiteY12" fmla="*/ 951737 h 952499"/>
              <a:gd name="connsiteX13" fmla="*/ 181642 w 705136"/>
              <a:gd name="connsiteY13" fmla="*/ 920210 h 952499"/>
              <a:gd name="connsiteX14" fmla="*/ 213170 w 705136"/>
              <a:gd name="connsiteY14" fmla="*/ 888682 h 952499"/>
              <a:gd name="connsiteX15" fmla="*/ 304610 w 705136"/>
              <a:gd name="connsiteY15" fmla="*/ 888110 h 952499"/>
              <a:gd name="connsiteX16" fmla="*/ 336804 w 705136"/>
              <a:gd name="connsiteY16" fmla="*/ 920305 h 952499"/>
              <a:gd name="connsiteX17" fmla="*/ 304610 w 705136"/>
              <a:gd name="connsiteY17" fmla="*/ 952499 h 952499"/>
              <a:gd name="connsiteX18" fmla="*/ 272415 w 705136"/>
              <a:gd name="connsiteY18" fmla="*/ 920305 h 952499"/>
              <a:gd name="connsiteX19" fmla="*/ 304610 w 705136"/>
              <a:gd name="connsiteY19" fmla="*/ 888110 h 952499"/>
              <a:gd name="connsiteX20" fmla="*/ 121730 w 705136"/>
              <a:gd name="connsiteY20" fmla="*/ 778383 h 952499"/>
              <a:gd name="connsiteX21" fmla="*/ 152591 w 705136"/>
              <a:gd name="connsiteY21" fmla="*/ 809244 h 952499"/>
              <a:gd name="connsiteX22" fmla="*/ 121730 w 705136"/>
              <a:gd name="connsiteY22" fmla="*/ 840200 h 952499"/>
              <a:gd name="connsiteX23" fmla="*/ 90774 w 705136"/>
              <a:gd name="connsiteY23" fmla="*/ 809244 h 952499"/>
              <a:gd name="connsiteX24" fmla="*/ 121730 w 705136"/>
              <a:gd name="connsiteY24" fmla="*/ 778383 h 952499"/>
              <a:gd name="connsiteX25" fmla="*/ 213170 w 705136"/>
              <a:gd name="connsiteY25" fmla="*/ 777716 h 952499"/>
              <a:gd name="connsiteX26" fmla="*/ 244697 w 705136"/>
              <a:gd name="connsiteY26" fmla="*/ 809244 h 952499"/>
              <a:gd name="connsiteX27" fmla="*/ 213170 w 705136"/>
              <a:gd name="connsiteY27" fmla="*/ 840771 h 952499"/>
              <a:gd name="connsiteX28" fmla="*/ 181642 w 705136"/>
              <a:gd name="connsiteY28" fmla="*/ 809244 h 952499"/>
              <a:gd name="connsiteX29" fmla="*/ 213170 w 705136"/>
              <a:gd name="connsiteY29" fmla="*/ 777716 h 952499"/>
              <a:gd name="connsiteX30" fmla="*/ 304610 w 705136"/>
              <a:gd name="connsiteY30" fmla="*/ 777049 h 952499"/>
              <a:gd name="connsiteX31" fmla="*/ 336804 w 705136"/>
              <a:gd name="connsiteY31" fmla="*/ 809243 h 952499"/>
              <a:gd name="connsiteX32" fmla="*/ 304610 w 705136"/>
              <a:gd name="connsiteY32" fmla="*/ 841438 h 952499"/>
              <a:gd name="connsiteX33" fmla="*/ 272415 w 705136"/>
              <a:gd name="connsiteY33" fmla="*/ 809243 h 952499"/>
              <a:gd name="connsiteX34" fmla="*/ 304610 w 705136"/>
              <a:gd name="connsiteY34" fmla="*/ 777049 h 952499"/>
              <a:gd name="connsiteX35" fmla="*/ 396049 w 705136"/>
              <a:gd name="connsiteY35" fmla="*/ 776382 h 952499"/>
              <a:gd name="connsiteX36" fmla="*/ 428911 w 705136"/>
              <a:gd name="connsiteY36" fmla="*/ 809243 h 952499"/>
              <a:gd name="connsiteX37" fmla="*/ 396049 w 705136"/>
              <a:gd name="connsiteY37" fmla="*/ 842105 h 952499"/>
              <a:gd name="connsiteX38" fmla="*/ 363188 w 705136"/>
              <a:gd name="connsiteY38" fmla="*/ 809243 h 952499"/>
              <a:gd name="connsiteX39" fmla="*/ 396049 w 705136"/>
              <a:gd name="connsiteY39" fmla="*/ 776382 h 952499"/>
              <a:gd name="connsiteX40" fmla="*/ 213170 w 705136"/>
              <a:gd name="connsiteY40" fmla="*/ 666750 h 952499"/>
              <a:gd name="connsiteX41" fmla="*/ 244697 w 705136"/>
              <a:gd name="connsiteY41" fmla="*/ 698278 h 952499"/>
              <a:gd name="connsiteX42" fmla="*/ 213170 w 705136"/>
              <a:gd name="connsiteY42" fmla="*/ 729806 h 952499"/>
              <a:gd name="connsiteX43" fmla="*/ 181642 w 705136"/>
              <a:gd name="connsiteY43" fmla="*/ 698278 h 952499"/>
              <a:gd name="connsiteX44" fmla="*/ 213170 w 705136"/>
              <a:gd name="connsiteY44" fmla="*/ 666750 h 952499"/>
              <a:gd name="connsiteX45" fmla="*/ 304610 w 705136"/>
              <a:gd name="connsiteY45" fmla="*/ 666083 h 952499"/>
              <a:gd name="connsiteX46" fmla="*/ 336804 w 705136"/>
              <a:gd name="connsiteY46" fmla="*/ 698277 h 952499"/>
              <a:gd name="connsiteX47" fmla="*/ 304610 w 705136"/>
              <a:gd name="connsiteY47" fmla="*/ 730472 h 952499"/>
              <a:gd name="connsiteX48" fmla="*/ 272415 w 705136"/>
              <a:gd name="connsiteY48" fmla="*/ 698277 h 952499"/>
              <a:gd name="connsiteX49" fmla="*/ 304610 w 705136"/>
              <a:gd name="connsiteY49" fmla="*/ 666083 h 952499"/>
              <a:gd name="connsiteX50" fmla="*/ 396049 w 705136"/>
              <a:gd name="connsiteY50" fmla="*/ 665416 h 952499"/>
              <a:gd name="connsiteX51" fmla="*/ 428911 w 705136"/>
              <a:gd name="connsiteY51" fmla="*/ 698277 h 952499"/>
              <a:gd name="connsiteX52" fmla="*/ 396049 w 705136"/>
              <a:gd name="connsiteY52" fmla="*/ 731139 h 952499"/>
              <a:gd name="connsiteX53" fmla="*/ 363188 w 705136"/>
              <a:gd name="connsiteY53" fmla="*/ 698277 h 952499"/>
              <a:gd name="connsiteX54" fmla="*/ 396049 w 705136"/>
              <a:gd name="connsiteY54" fmla="*/ 665416 h 952499"/>
              <a:gd name="connsiteX55" fmla="*/ 487394 w 705136"/>
              <a:gd name="connsiteY55" fmla="*/ 664749 h 952499"/>
              <a:gd name="connsiteX56" fmla="*/ 520922 w 705136"/>
              <a:gd name="connsiteY56" fmla="*/ 698277 h 952499"/>
              <a:gd name="connsiteX57" fmla="*/ 487394 w 705136"/>
              <a:gd name="connsiteY57" fmla="*/ 731805 h 952499"/>
              <a:gd name="connsiteX58" fmla="*/ 453866 w 705136"/>
              <a:gd name="connsiteY58" fmla="*/ 698277 h 952499"/>
              <a:gd name="connsiteX59" fmla="*/ 487394 w 705136"/>
              <a:gd name="connsiteY59" fmla="*/ 664749 h 952499"/>
              <a:gd name="connsiteX60" fmla="*/ 304610 w 705136"/>
              <a:gd name="connsiteY60" fmla="*/ 555021 h 952499"/>
              <a:gd name="connsiteX61" fmla="*/ 336804 w 705136"/>
              <a:gd name="connsiteY61" fmla="*/ 587216 h 952499"/>
              <a:gd name="connsiteX62" fmla="*/ 304610 w 705136"/>
              <a:gd name="connsiteY62" fmla="*/ 619410 h 952499"/>
              <a:gd name="connsiteX63" fmla="*/ 272415 w 705136"/>
              <a:gd name="connsiteY63" fmla="*/ 587216 h 952499"/>
              <a:gd name="connsiteX64" fmla="*/ 304610 w 705136"/>
              <a:gd name="connsiteY64" fmla="*/ 555021 h 952499"/>
              <a:gd name="connsiteX65" fmla="*/ 396049 w 705136"/>
              <a:gd name="connsiteY65" fmla="*/ 554355 h 952499"/>
              <a:gd name="connsiteX66" fmla="*/ 428911 w 705136"/>
              <a:gd name="connsiteY66" fmla="*/ 587216 h 952499"/>
              <a:gd name="connsiteX67" fmla="*/ 396049 w 705136"/>
              <a:gd name="connsiteY67" fmla="*/ 620077 h 952499"/>
              <a:gd name="connsiteX68" fmla="*/ 363188 w 705136"/>
              <a:gd name="connsiteY68" fmla="*/ 587216 h 952499"/>
              <a:gd name="connsiteX69" fmla="*/ 396049 w 705136"/>
              <a:gd name="connsiteY69" fmla="*/ 554355 h 952499"/>
              <a:gd name="connsiteX70" fmla="*/ 487394 w 705136"/>
              <a:gd name="connsiteY70" fmla="*/ 553783 h 952499"/>
              <a:gd name="connsiteX71" fmla="*/ 520922 w 705136"/>
              <a:gd name="connsiteY71" fmla="*/ 587311 h 952499"/>
              <a:gd name="connsiteX72" fmla="*/ 487394 w 705136"/>
              <a:gd name="connsiteY72" fmla="*/ 620839 h 952499"/>
              <a:gd name="connsiteX73" fmla="*/ 453866 w 705136"/>
              <a:gd name="connsiteY73" fmla="*/ 587311 h 952499"/>
              <a:gd name="connsiteX74" fmla="*/ 487394 w 705136"/>
              <a:gd name="connsiteY74" fmla="*/ 553783 h 952499"/>
              <a:gd name="connsiteX75" fmla="*/ 578835 w 705136"/>
              <a:gd name="connsiteY75" fmla="*/ 553116 h 952499"/>
              <a:gd name="connsiteX76" fmla="*/ 613030 w 705136"/>
              <a:gd name="connsiteY76" fmla="*/ 587311 h 952499"/>
              <a:gd name="connsiteX77" fmla="*/ 578835 w 705136"/>
              <a:gd name="connsiteY77" fmla="*/ 621506 h 952499"/>
              <a:gd name="connsiteX78" fmla="*/ 544640 w 705136"/>
              <a:gd name="connsiteY78" fmla="*/ 587311 h 952499"/>
              <a:gd name="connsiteX79" fmla="*/ 578835 w 705136"/>
              <a:gd name="connsiteY79" fmla="*/ 553116 h 952499"/>
              <a:gd name="connsiteX80" fmla="*/ 396049 w 705136"/>
              <a:gd name="connsiteY80" fmla="*/ 443388 h 952499"/>
              <a:gd name="connsiteX81" fmla="*/ 428911 w 705136"/>
              <a:gd name="connsiteY81" fmla="*/ 476249 h 952499"/>
              <a:gd name="connsiteX82" fmla="*/ 396049 w 705136"/>
              <a:gd name="connsiteY82" fmla="*/ 509111 h 952499"/>
              <a:gd name="connsiteX83" fmla="*/ 363188 w 705136"/>
              <a:gd name="connsiteY83" fmla="*/ 476249 h 952499"/>
              <a:gd name="connsiteX84" fmla="*/ 396049 w 705136"/>
              <a:gd name="connsiteY84" fmla="*/ 443388 h 952499"/>
              <a:gd name="connsiteX85" fmla="*/ 487394 w 705136"/>
              <a:gd name="connsiteY85" fmla="*/ 442721 h 952499"/>
              <a:gd name="connsiteX86" fmla="*/ 520922 w 705136"/>
              <a:gd name="connsiteY86" fmla="*/ 476249 h 952499"/>
              <a:gd name="connsiteX87" fmla="*/ 487394 w 705136"/>
              <a:gd name="connsiteY87" fmla="*/ 509777 h 952499"/>
              <a:gd name="connsiteX88" fmla="*/ 453866 w 705136"/>
              <a:gd name="connsiteY88" fmla="*/ 476249 h 952499"/>
              <a:gd name="connsiteX89" fmla="*/ 487394 w 705136"/>
              <a:gd name="connsiteY89" fmla="*/ 442721 h 952499"/>
              <a:gd name="connsiteX90" fmla="*/ 578835 w 705136"/>
              <a:gd name="connsiteY90" fmla="*/ 442055 h 952499"/>
              <a:gd name="connsiteX91" fmla="*/ 613030 w 705136"/>
              <a:gd name="connsiteY91" fmla="*/ 476250 h 952499"/>
              <a:gd name="connsiteX92" fmla="*/ 578835 w 705136"/>
              <a:gd name="connsiteY92" fmla="*/ 510445 h 952499"/>
              <a:gd name="connsiteX93" fmla="*/ 544640 w 705136"/>
              <a:gd name="connsiteY93" fmla="*/ 476250 h 952499"/>
              <a:gd name="connsiteX94" fmla="*/ 578835 w 705136"/>
              <a:gd name="connsiteY94" fmla="*/ 442055 h 952499"/>
              <a:gd name="connsiteX95" fmla="*/ 670275 w 705136"/>
              <a:gd name="connsiteY95" fmla="*/ 441388 h 952499"/>
              <a:gd name="connsiteX96" fmla="*/ 705136 w 705136"/>
              <a:gd name="connsiteY96" fmla="*/ 476250 h 952499"/>
              <a:gd name="connsiteX97" fmla="*/ 670275 w 705136"/>
              <a:gd name="connsiteY97" fmla="*/ 511111 h 952499"/>
              <a:gd name="connsiteX98" fmla="*/ 635413 w 705136"/>
              <a:gd name="connsiteY98" fmla="*/ 476250 h 952499"/>
              <a:gd name="connsiteX99" fmla="*/ 670275 w 705136"/>
              <a:gd name="connsiteY99" fmla="*/ 441388 h 952499"/>
              <a:gd name="connsiteX100" fmla="*/ 304610 w 705136"/>
              <a:gd name="connsiteY100" fmla="*/ 332993 h 952499"/>
              <a:gd name="connsiteX101" fmla="*/ 336804 w 705136"/>
              <a:gd name="connsiteY101" fmla="*/ 365188 h 952499"/>
              <a:gd name="connsiteX102" fmla="*/ 304610 w 705136"/>
              <a:gd name="connsiteY102" fmla="*/ 397382 h 952499"/>
              <a:gd name="connsiteX103" fmla="*/ 272415 w 705136"/>
              <a:gd name="connsiteY103" fmla="*/ 365188 h 952499"/>
              <a:gd name="connsiteX104" fmla="*/ 304610 w 705136"/>
              <a:gd name="connsiteY104" fmla="*/ 332993 h 952499"/>
              <a:gd name="connsiteX105" fmla="*/ 396049 w 705136"/>
              <a:gd name="connsiteY105" fmla="*/ 332327 h 952499"/>
              <a:gd name="connsiteX106" fmla="*/ 428911 w 705136"/>
              <a:gd name="connsiteY106" fmla="*/ 365188 h 952499"/>
              <a:gd name="connsiteX107" fmla="*/ 396049 w 705136"/>
              <a:gd name="connsiteY107" fmla="*/ 398050 h 952499"/>
              <a:gd name="connsiteX108" fmla="*/ 363188 w 705136"/>
              <a:gd name="connsiteY108" fmla="*/ 365188 h 952499"/>
              <a:gd name="connsiteX109" fmla="*/ 396049 w 705136"/>
              <a:gd name="connsiteY109" fmla="*/ 332327 h 952499"/>
              <a:gd name="connsiteX110" fmla="*/ 487394 w 705136"/>
              <a:gd name="connsiteY110" fmla="*/ 331755 h 952499"/>
              <a:gd name="connsiteX111" fmla="*/ 520922 w 705136"/>
              <a:gd name="connsiteY111" fmla="*/ 365283 h 952499"/>
              <a:gd name="connsiteX112" fmla="*/ 487394 w 705136"/>
              <a:gd name="connsiteY112" fmla="*/ 398811 h 952499"/>
              <a:gd name="connsiteX113" fmla="*/ 453866 w 705136"/>
              <a:gd name="connsiteY113" fmla="*/ 365283 h 952499"/>
              <a:gd name="connsiteX114" fmla="*/ 487394 w 705136"/>
              <a:gd name="connsiteY114" fmla="*/ 331755 h 952499"/>
              <a:gd name="connsiteX115" fmla="*/ 578835 w 705136"/>
              <a:gd name="connsiteY115" fmla="*/ 331088 h 952499"/>
              <a:gd name="connsiteX116" fmla="*/ 613030 w 705136"/>
              <a:gd name="connsiteY116" fmla="*/ 365283 h 952499"/>
              <a:gd name="connsiteX117" fmla="*/ 578835 w 705136"/>
              <a:gd name="connsiteY117" fmla="*/ 399478 h 952499"/>
              <a:gd name="connsiteX118" fmla="*/ 544640 w 705136"/>
              <a:gd name="connsiteY118" fmla="*/ 365283 h 952499"/>
              <a:gd name="connsiteX119" fmla="*/ 578835 w 705136"/>
              <a:gd name="connsiteY119" fmla="*/ 331088 h 952499"/>
              <a:gd name="connsiteX120" fmla="*/ 213170 w 705136"/>
              <a:gd name="connsiteY120" fmla="*/ 222694 h 952499"/>
              <a:gd name="connsiteX121" fmla="*/ 244697 w 705136"/>
              <a:gd name="connsiteY121" fmla="*/ 254222 h 952499"/>
              <a:gd name="connsiteX122" fmla="*/ 213170 w 705136"/>
              <a:gd name="connsiteY122" fmla="*/ 285750 h 952499"/>
              <a:gd name="connsiteX123" fmla="*/ 181642 w 705136"/>
              <a:gd name="connsiteY123" fmla="*/ 254222 h 952499"/>
              <a:gd name="connsiteX124" fmla="*/ 213170 w 705136"/>
              <a:gd name="connsiteY124" fmla="*/ 222694 h 952499"/>
              <a:gd name="connsiteX125" fmla="*/ 304610 w 705136"/>
              <a:gd name="connsiteY125" fmla="*/ 222027 h 952499"/>
              <a:gd name="connsiteX126" fmla="*/ 336804 w 705136"/>
              <a:gd name="connsiteY126" fmla="*/ 254222 h 952499"/>
              <a:gd name="connsiteX127" fmla="*/ 304610 w 705136"/>
              <a:gd name="connsiteY127" fmla="*/ 286416 h 952499"/>
              <a:gd name="connsiteX128" fmla="*/ 272415 w 705136"/>
              <a:gd name="connsiteY128" fmla="*/ 254222 h 952499"/>
              <a:gd name="connsiteX129" fmla="*/ 304610 w 705136"/>
              <a:gd name="connsiteY129" fmla="*/ 222027 h 952499"/>
              <a:gd name="connsiteX130" fmla="*/ 396049 w 705136"/>
              <a:gd name="connsiteY130" fmla="*/ 221360 h 952499"/>
              <a:gd name="connsiteX131" fmla="*/ 428911 w 705136"/>
              <a:gd name="connsiteY131" fmla="*/ 254221 h 952499"/>
              <a:gd name="connsiteX132" fmla="*/ 396049 w 705136"/>
              <a:gd name="connsiteY132" fmla="*/ 287083 h 952499"/>
              <a:gd name="connsiteX133" fmla="*/ 363188 w 705136"/>
              <a:gd name="connsiteY133" fmla="*/ 254221 h 952499"/>
              <a:gd name="connsiteX134" fmla="*/ 396049 w 705136"/>
              <a:gd name="connsiteY134" fmla="*/ 221360 h 952499"/>
              <a:gd name="connsiteX135" fmla="*/ 487394 w 705136"/>
              <a:gd name="connsiteY135" fmla="*/ 220694 h 952499"/>
              <a:gd name="connsiteX136" fmla="*/ 520922 w 705136"/>
              <a:gd name="connsiteY136" fmla="*/ 254222 h 952499"/>
              <a:gd name="connsiteX137" fmla="*/ 487394 w 705136"/>
              <a:gd name="connsiteY137" fmla="*/ 287750 h 952499"/>
              <a:gd name="connsiteX138" fmla="*/ 453866 w 705136"/>
              <a:gd name="connsiteY138" fmla="*/ 254222 h 952499"/>
              <a:gd name="connsiteX139" fmla="*/ 487394 w 705136"/>
              <a:gd name="connsiteY139" fmla="*/ 220694 h 952499"/>
              <a:gd name="connsiteX140" fmla="*/ 121730 w 705136"/>
              <a:gd name="connsiteY140" fmla="*/ 112299 h 952499"/>
              <a:gd name="connsiteX141" fmla="*/ 152591 w 705136"/>
              <a:gd name="connsiteY141" fmla="*/ 143160 h 952499"/>
              <a:gd name="connsiteX142" fmla="*/ 121730 w 705136"/>
              <a:gd name="connsiteY142" fmla="*/ 174116 h 952499"/>
              <a:gd name="connsiteX143" fmla="*/ 90774 w 705136"/>
              <a:gd name="connsiteY143" fmla="*/ 143160 h 952499"/>
              <a:gd name="connsiteX144" fmla="*/ 121730 w 705136"/>
              <a:gd name="connsiteY144" fmla="*/ 112299 h 952499"/>
              <a:gd name="connsiteX145" fmla="*/ 213170 w 705136"/>
              <a:gd name="connsiteY145" fmla="*/ 111633 h 952499"/>
              <a:gd name="connsiteX146" fmla="*/ 244697 w 705136"/>
              <a:gd name="connsiteY146" fmla="*/ 143161 h 952499"/>
              <a:gd name="connsiteX147" fmla="*/ 213170 w 705136"/>
              <a:gd name="connsiteY147" fmla="*/ 174689 h 952499"/>
              <a:gd name="connsiteX148" fmla="*/ 181642 w 705136"/>
              <a:gd name="connsiteY148" fmla="*/ 143161 h 952499"/>
              <a:gd name="connsiteX149" fmla="*/ 213170 w 705136"/>
              <a:gd name="connsiteY149" fmla="*/ 111633 h 952499"/>
              <a:gd name="connsiteX150" fmla="*/ 304610 w 705136"/>
              <a:gd name="connsiteY150" fmla="*/ 110966 h 952499"/>
              <a:gd name="connsiteX151" fmla="*/ 336804 w 705136"/>
              <a:gd name="connsiteY151" fmla="*/ 143161 h 952499"/>
              <a:gd name="connsiteX152" fmla="*/ 304610 w 705136"/>
              <a:gd name="connsiteY152" fmla="*/ 175355 h 952499"/>
              <a:gd name="connsiteX153" fmla="*/ 272415 w 705136"/>
              <a:gd name="connsiteY153" fmla="*/ 143161 h 952499"/>
              <a:gd name="connsiteX154" fmla="*/ 304610 w 705136"/>
              <a:gd name="connsiteY154" fmla="*/ 110966 h 952499"/>
              <a:gd name="connsiteX155" fmla="*/ 396049 w 705136"/>
              <a:gd name="connsiteY155" fmla="*/ 110394 h 952499"/>
              <a:gd name="connsiteX156" fmla="*/ 428911 w 705136"/>
              <a:gd name="connsiteY156" fmla="*/ 143255 h 952499"/>
              <a:gd name="connsiteX157" fmla="*/ 396049 w 705136"/>
              <a:gd name="connsiteY157" fmla="*/ 176117 h 952499"/>
              <a:gd name="connsiteX158" fmla="*/ 363188 w 705136"/>
              <a:gd name="connsiteY158" fmla="*/ 143255 h 952499"/>
              <a:gd name="connsiteX159" fmla="*/ 396049 w 705136"/>
              <a:gd name="connsiteY159" fmla="*/ 110394 h 952499"/>
              <a:gd name="connsiteX160" fmla="*/ 30289 w 705136"/>
              <a:gd name="connsiteY160" fmla="*/ 2000 h 952499"/>
              <a:gd name="connsiteX161" fmla="*/ 60579 w 705136"/>
              <a:gd name="connsiteY161" fmla="*/ 32290 h 952499"/>
              <a:gd name="connsiteX162" fmla="*/ 30289 w 705136"/>
              <a:gd name="connsiteY162" fmla="*/ 62579 h 952499"/>
              <a:gd name="connsiteX163" fmla="*/ 0 w 705136"/>
              <a:gd name="connsiteY163" fmla="*/ 32290 h 952499"/>
              <a:gd name="connsiteX164" fmla="*/ 30289 w 705136"/>
              <a:gd name="connsiteY164" fmla="*/ 2000 h 952499"/>
              <a:gd name="connsiteX165" fmla="*/ 121730 w 705136"/>
              <a:gd name="connsiteY165" fmla="*/ 1333 h 952499"/>
              <a:gd name="connsiteX166" fmla="*/ 152591 w 705136"/>
              <a:gd name="connsiteY166" fmla="*/ 32194 h 952499"/>
              <a:gd name="connsiteX167" fmla="*/ 121730 w 705136"/>
              <a:gd name="connsiteY167" fmla="*/ 63150 h 952499"/>
              <a:gd name="connsiteX168" fmla="*/ 90774 w 705136"/>
              <a:gd name="connsiteY168" fmla="*/ 32194 h 952499"/>
              <a:gd name="connsiteX169" fmla="*/ 121730 w 705136"/>
              <a:gd name="connsiteY169" fmla="*/ 1333 h 952499"/>
              <a:gd name="connsiteX170" fmla="*/ 213170 w 705136"/>
              <a:gd name="connsiteY170" fmla="*/ 666 h 952499"/>
              <a:gd name="connsiteX171" fmla="*/ 244697 w 705136"/>
              <a:gd name="connsiteY171" fmla="*/ 32194 h 952499"/>
              <a:gd name="connsiteX172" fmla="*/ 213170 w 705136"/>
              <a:gd name="connsiteY172" fmla="*/ 63722 h 952499"/>
              <a:gd name="connsiteX173" fmla="*/ 181642 w 705136"/>
              <a:gd name="connsiteY173" fmla="*/ 32194 h 952499"/>
              <a:gd name="connsiteX174" fmla="*/ 213170 w 705136"/>
              <a:gd name="connsiteY174" fmla="*/ 666 h 952499"/>
              <a:gd name="connsiteX175" fmla="*/ 304610 w 705136"/>
              <a:gd name="connsiteY175" fmla="*/ 0 h 952499"/>
              <a:gd name="connsiteX176" fmla="*/ 336804 w 705136"/>
              <a:gd name="connsiteY176" fmla="*/ 32195 h 952499"/>
              <a:gd name="connsiteX177" fmla="*/ 304610 w 705136"/>
              <a:gd name="connsiteY177" fmla="*/ 64389 h 952499"/>
              <a:gd name="connsiteX178" fmla="*/ 272415 w 705136"/>
              <a:gd name="connsiteY178" fmla="*/ 32195 h 952499"/>
              <a:gd name="connsiteX179" fmla="*/ 304610 w 705136"/>
              <a:gd name="connsiteY179" fmla="*/ 0 h 952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Lst>
            <a:rect l="l" t="t" r="r" b="b"/>
            <a:pathLst>
              <a:path w="705136" h="952499">
                <a:moveTo>
                  <a:pt x="30289" y="890016"/>
                </a:moveTo>
                <a:cubicBezTo>
                  <a:pt x="46958" y="890016"/>
                  <a:pt x="60579" y="903637"/>
                  <a:pt x="60579" y="920306"/>
                </a:cubicBezTo>
                <a:cubicBezTo>
                  <a:pt x="60579" y="937069"/>
                  <a:pt x="46958" y="950595"/>
                  <a:pt x="30289" y="950595"/>
                </a:cubicBezTo>
                <a:cubicBezTo>
                  <a:pt x="13621" y="950595"/>
                  <a:pt x="0" y="936974"/>
                  <a:pt x="0" y="920306"/>
                </a:cubicBezTo>
                <a:cubicBezTo>
                  <a:pt x="0" y="903541"/>
                  <a:pt x="13621" y="890016"/>
                  <a:pt x="30289" y="890016"/>
                </a:cubicBezTo>
                <a:close/>
                <a:moveTo>
                  <a:pt x="121730" y="889349"/>
                </a:moveTo>
                <a:cubicBezTo>
                  <a:pt x="138780" y="889349"/>
                  <a:pt x="152687" y="903255"/>
                  <a:pt x="152591" y="920210"/>
                </a:cubicBezTo>
                <a:cubicBezTo>
                  <a:pt x="152591" y="937260"/>
                  <a:pt x="138780" y="951166"/>
                  <a:pt x="121730" y="951166"/>
                </a:cubicBezTo>
                <a:cubicBezTo>
                  <a:pt x="104680" y="951166"/>
                  <a:pt x="90774" y="937260"/>
                  <a:pt x="90774" y="920210"/>
                </a:cubicBezTo>
                <a:cubicBezTo>
                  <a:pt x="90774" y="903255"/>
                  <a:pt x="104680" y="889349"/>
                  <a:pt x="121730" y="889349"/>
                </a:cubicBezTo>
                <a:close/>
                <a:moveTo>
                  <a:pt x="213170" y="888682"/>
                </a:moveTo>
                <a:cubicBezTo>
                  <a:pt x="230600" y="888682"/>
                  <a:pt x="244697" y="902874"/>
                  <a:pt x="244697" y="920210"/>
                </a:cubicBezTo>
                <a:cubicBezTo>
                  <a:pt x="244697" y="937545"/>
                  <a:pt x="230600" y="951737"/>
                  <a:pt x="213170" y="951737"/>
                </a:cubicBezTo>
                <a:cubicBezTo>
                  <a:pt x="195834" y="951737"/>
                  <a:pt x="181642" y="937640"/>
                  <a:pt x="181642" y="920210"/>
                </a:cubicBezTo>
                <a:cubicBezTo>
                  <a:pt x="181642" y="902874"/>
                  <a:pt x="195739" y="888682"/>
                  <a:pt x="213170" y="888682"/>
                </a:cubicBezTo>
                <a:close/>
                <a:moveTo>
                  <a:pt x="304610" y="888110"/>
                </a:moveTo>
                <a:cubicBezTo>
                  <a:pt x="322326" y="888110"/>
                  <a:pt x="336804" y="902493"/>
                  <a:pt x="336804" y="920305"/>
                </a:cubicBezTo>
                <a:cubicBezTo>
                  <a:pt x="336804" y="938021"/>
                  <a:pt x="322326" y="952499"/>
                  <a:pt x="304610" y="952499"/>
                </a:cubicBezTo>
                <a:cubicBezTo>
                  <a:pt x="286893" y="952499"/>
                  <a:pt x="272415" y="938116"/>
                  <a:pt x="272415" y="920305"/>
                </a:cubicBezTo>
                <a:cubicBezTo>
                  <a:pt x="272415" y="902588"/>
                  <a:pt x="286798" y="888110"/>
                  <a:pt x="304610" y="888110"/>
                </a:cubicBezTo>
                <a:close/>
                <a:moveTo>
                  <a:pt x="121730" y="778383"/>
                </a:moveTo>
                <a:cubicBezTo>
                  <a:pt x="138780" y="778383"/>
                  <a:pt x="152687" y="792194"/>
                  <a:pt x="152591" y="809244"/>
                </a:cubicBezTo>
                <a:cubicBezTo>
                  <a:pt x="152591" y="826294"/>
                  <a:pt x="138780" y="840200"/>
                  <a:pt x="121730" y="840200"/>
                </a:cubicBezTo>
                <a:cubicBezTo>
                  <a:pt x="104680" y="840200"/>
                  <a:pt x="90774" y="826294"/>
                  <a:pt x="90774" y="809244"/>
                </a:cubicBezTo>
                <a:cubicBezTo>
                  <a:pt x="90774" y="792289"/>
                  <a:pt x="104680" y="778383"/>
                  <a:pt x="121730" y="778383"/>
                </a:cubicBezTo>
                <a:close/>
                <a:moveTo>
                  <a:pt x="213170" y="777716"/>
                </a:moveTo>
                <a:cubicBezTo>
                  <a:pt x="230600" y="777716"/>
                  <a:pt x="244697" y="791908"/>
                  <a:pt x="244697" y="809244"/>
                </a:cubicBezTo>
                <a:cubicBezTo>
                  <a:pt x="244697" y="826579"/>
                  <a:pt x="230600" y="840771"/>
                  <a:pt x="213170" y="840771"/>
                </a:cubicBezTo>
                <a:cubicBezTo>
                  <a:pt x="195834" y="840771"/>
                  <a:pt x="181642" y="826674"/>
                  <a:pt x="181642" y="809244"/>
                </a:cubicBezTo>
                <a:cubicBezTo>
                  <a:pt x="181642" y="791908"/>
                  <a:pt x="195739" y="777716"/>
                  <a:pt x="213170" y="777716"/>
                </a:cubicBezTo>
                <a:close/>
                <a:moveTo>
                  <a:pt x="304610" y="777049"/>
                </a:moveTo>
                <a:cubicBezTo>
                  <a:pt x="322326" y="777049"/>
                  <a:pt x="336804" y="791527"/>
                  <a:pt x="336804" y="809243"/>
                </a:cubicBezTo>
                <a:cubicBezTo>
                  <a:pt x="336804" y="826960"/>
                  <a:pt x="322326" y="841438"/>
                  <a:pt x="304610" y="841438"/>
                </a:cubicBezTo>
                <a:cubicBezTo>
                  <a:pt x="286893" y="841438"/>
                  <a:pt x="272415" y="827055"/>
                  <a:pt x="272415" y="809243"/>
                </a:cubicBezTo>
                <a:cubicBezTo>
                  <a:pt x="272415" y="791527"/>
                  <a:pt x="286798" y="777049"/>
                  <a:pt x="304610" y="777049"/>
                </a:cubicBezTo>
                <a:close/>
                <a:moveTo>
                  <a:pt x="396049" y="776382"/>
                </a:moveTo>
                <a:cubicBezTo>
                  <a:pt x="414147" y="776382"/>
                  <a:pt x="428815" y="791146"/>
                  <a:pt x="428911" y="809243"/>
                </a:cubicBezTo>
                <a:cubicBezTo>
                  <a:pt x="428911" y="827341"/>
                  <a:pt x="414147" y="842105"/>
                  <a:pt x="396049" y="842105"/>
                </a:cubicBezTo>
                <a:cubicBezTo>
                  <a:pt x="377952" y="842105"/>
                  <a:pt x="363188" y="827341"/>
                  <a:pt x="363188" y="809243"/>
                </a:cubicBezTo>
                <a:cubicBezTo>
                  <a:pt x="363188" y="791146"/>
                  <a:pt x="377952" y="776382"/>
                  <a:pt x="396049" y="776382"/>
                </a:cubicBezTo>
                <a:close/>
                <a:moveTo>
                  <a:pt x="213170" y="666750"/>
                </a:moveTo>
                <a:cubicBezTo>
                  <a:pt x="230600" y="666750"/>
                  <a:pt x="244697" y="680847"/>
                  <a:pt x="244697" y="698278"/>
                </a:cubicBezTo>
                <a:cubicBezTo>
                  <a:pt x="244697" y="715613"/>
                  <a:pt x="230600" y="729806"/>
                  <a:pt x="213170" y="729806"/>
                </a:cubicBezTo>
                <a:cubicBezTo>
                  <a:pt x="195834" y="729806"/>
                  <a:pt x="181642" y="715708"/>
                  <a:pt x="181642" y="698278"/>
                </a:cubicBezTo>
                <a:cubicBezTo>
                  <a:pt x="181642" y="680942"/>
                  <a:pt x="195739" y="666750"/>
                  <a:pt x="213170" y="666750"/>
                </a:cubicBezTo>
                <a:close/>
                <a:moveTo>
                  <a:pt x="304610" y="666083"/>
                </a:moveTo>
                <a:cubicBezTo>
                  <a:pt x="322326" y="666083"/>
                  <a:pt x="336804" y="680466"/>
                  <a:pt x="336804" y="698277"/>
                </a:cubicBezTo>
                <a:cubicBezTo>
                  <a:pt x="336804" y="715994"/>
                  <a:pt x="322326" y="730472"/>
                  <a:pt x="304610" y="730472"/>
                </a:cubicBezTo>
                <a:cubicBezTo>
                  <a:pt x="286893" y="730472"/>
                  <a:pt x="272415" y="716089"/>
                  <a:pt x="272415" y="698277"/>
                </a:cubicBezTo>
                <a:cubicBezTo>
                  <a:pt x="272415" y="680561"/>
                  <a:pt x="286798" y="666083"/>
                  <a:pt x="304610" y="666083"/>
                </a:cubicBezTo>
                <a:close/>
                <a:moveTo>
                  <a:pt x="396049" y="665416"/>
                </a:moveTo>
                <a:cubicBezTo>
                  <a:pt x="414147" y="665416"/>
                  <a:pt x="428815" y="680180"/>
                  <a:pt x="428911" y="698277"/>
                </a:cubicBezTo>
                <a:cubicBezTo>
                  <a:pt x="428911" y="716375"/>
                  <a:pt x="414147" y="731139"/>
                  <a:pt x="396049" y="731139"/>
                </a:cubicBezTo>
                <a:cubicBezTo>
                  <a:pt x="377952" y="731139"/>
                  <a:pt x="363188" y="716375"/>
                  <a:pt x="363188" y="698277"/>
                </a:cubicBezTo>
                <a:cubicBezTo>
                  <a:pt x="363188" y="680180"/>
                  <a:pt x="377952" y="665416"/>
                  <a:pt x="396049" y="665416"/>
                </a:cubicBezTo>
                <a:close/>
                <a:moveTo>
                  <a:pt x="487394" y="664749"/>
                </a:moveTo>
                <a:cubicBezTo>
                  <a:pt x="505873" y="664749"/>
                  <a:pt x="520922" y="679799"/>
                  <a:pt x="520922" y="698277"/>
                </a:cubicBezTo>
                <a:cubicBezTo>
                  <a:pt x="520922" y="716755"/>
                  <a:pt x="505873" y="731805"/>
                  <a:pt x="487394" y="731805"/>
                </a:cubicBezTo>
                <a:cubicBezTo>
                  <a:pt x="468916" y="731805"/>
                  <a:pt x="453866" y="716755"/>
                  <a:pt x="453866" y="698277"/>
                </a:cubicBezTo>
                <a:cubicBezTo>
                  <a:pt x="453866" y="679799"/>
                  <a:pt x="468916" y="664749"/>
                  <a:pt x="487394" y="664749"/>
                </a:cubicBezTo>
                <a:close/>
                <a:moveTo>
                  <a:pt x="304610" y="555021"/>
                </a:moveTo>
                <a:cubicBezTo>
                  <a:pt x="322326" y="555021"/>
                  <a:pt x="336804" y="569499"/>
                  <a:pt x="336804" y="587216"/>
                </a:cubicBezTo>
                <a:cubicBezTo>
                  <a:pt x="336804" y="604932"/>
                  <a:pt x="322326" y="619410"/>
                  <a:pt x="304610" y="619410"/>
                </a:cubicBezTo>
                <a:cubicBezTo>
                  <a:pt x="286893" y="619410"/>
                  <a:pt x="272415" y="605027"/>
                  <a:pt x="272415" y="587216"/>
                </a:cubicBezTo>
                <a:cubicBezTo>
                  <a:pt x="272415" y="569499"/>
                  <a:pt x="286798" y="555021"/>
                  <a:pt x="304610" y="555021"/>
                </a:cubicBezTo>
                <a:close/>
                <a:moveTo>
                  <a:pt x="396049" y="554355"/>
                </a:moveTo>
                <a:cubicBezTo>
                  <a:pt x="414147" y="554355"/>
                  <a:pt x="428815" y="569119"/>
                  <a:pt x="428911" y="587216"/>
                </a:cubicBezTo>
                <a:cubicBezTo>
                  <a:pt x="428911" y="605314"/>
                  <a:pt x="414147" y="620077"/>
                  <a:pt x="396049" y="620077"/>
                </a:cubicBezTo>
                <a:cubicBezTo>
                  <a:pt x="377952" y="620077"/>
                  <a:pt x="363188" y="605314"/>
                  <a:pt x="363188" y="587216"/>
                </a:cubicBezTo>
                <a:cubicBezTo>
                  <a:pt x="363188" y="569119"/>
                  <a:pt x="377952" y="554355"/>
                  <a:pt x="396049" y="554355"/>
                </a:cubicBezTo>
                <a:close/>
                <a:moveTo>
                  <a:pt x="487394" y="553783"/>
                </a:moveTo>
                <a:cubicBezTo>
                  <a:pt x="505873" y="553783"/>
                  <a:pt x="520922" y="568737"/>
                  <a:pt x="520922" y="587311"/>
                </a:cubicBezTo>
                <a:cubicBezTo>
                  <a:pt x="520922" y="605789"/>
                  <a:pt x="505873" y="620839"/>
                  <a:pt x="487394" y="620839"/>
                </a:cubicBezTo>
                <a:cubicBezTo>
                  <a:pt x="468916" y="620839"/>
                  <a:pt x="453866" y="605789"/>
                  <a:pt x="453866" y="587311"/>
                </a:cubicBezTo>
                <a:cubicBezTo>
                  <a:pt x="453866" y="568833"/>
                  <a:pt x="468916" y="553783"/>
                  <a:pt x="487394" y="553783"/>
                </a:cubicBezTo>
                <a:close/>
                <a:moveTo>
                  <a:pt x="578835" y="553116"/>
                </a:moveTo>
                <a:cubicBezTo>
                  <a:pt x="597694" y="553116"/>
                  <a:pt x="613030" y="568451"/>
                  <a:pt x="613030" y="587311"/>
                </a:cubicBezTo>
                <a:cubicBezTo>
                  <a:pt x="613030" y="606170"/>
                  <a:pt x="597694" y="621506"/>
                  <a:pt x="578835" y="621506"/>
                </a:cubicBezTo>
                <a:cubicBezTo>
                  <a:pt x="559975" y="621506"/>
                  <a:pt x="544640" y="606170"/>
                  <a:pt x="544640" y="587311"/>
                </a:cubicBezTo>
                <a:cubicBezTo>
                  <a:pt x="544640" y="568451"/>
                  <a:pt x="559975" y="553116"/>
                  <a:pt x="578835" y="553116"/>
                </a:cubicBezTo>
                <a:close/>
                <a:moveTo>
                  <a:pt x="396049" y="443388"/>
                </a:moveTo>
                <a:cubicBezTo>
                  <a:pt x="414147" y="443388"/>
                  <a:pt x="428815" y="458152"/>
                  <a:pt x="428911" y="476249"/>
                </a:cubicBezTo>
                <a:cubicBezTo>
                  <a:pt x="428911" y="494347"/>
                  <a:pt x="414147" y="509111"/>
                  <a:pt x="396049" y="509111"/>
                </a:cubicBezTo>
                <a:cubicBezTo>
                  <a:pt x="377952" y="509111"/>
                  <a:pt x="363188" y="494347"/>
                  <a:pt x="363188" y="476249"/>
                </a:cubicBezTo>
                <a:cubicBezTo>
                  <a:pt x="363188" y="458152"/>
                  <a:pt x="377952" y="443388"/>
                  <a:pt x="396049" y="443388"/>
                </a:cubicBezTo>
                <a:close/>
                <a:moveTo>
                  <a:pt x="487394" y="442721"/>
                </a:moveTo>
                <a:cubicBezTo>
                  <a:pt x="505873" y="442721"/>
                  <a:pt x="520922" y="457771"/>
                  <a:pt x="520922" y="476249"/>
                </a:cubicBezTo>
                <a:cubicBezTo>
                  <a:pt x="520922" y="494727"/>
                  <a:pt x="505873" y="509777"/>
                  <a:pt x="487394" y="509777"/>
                </a:cubicBezTo>
                <a:cubicBezTo>
                  <a:pt x="468916" y="509777"/>
                  <a:pt x="453866" y="494727"/>
                  <a:pt x="453866" y="476249"/>
                </a:cubicBezTo>
                <a:cubicBezTo>
                  <a:pt x="453866" y="457771"/>
                  <a:pt x="468916" y="442721"/>
                  <a:pt x="487394" y="442721"/>
                </a:cubicBezTo>
                <a:close/>
                <a:moveTo>
                  <a:pt x="578835" y="442055"/>
                </a:moveTo>
                <a:cubicBezTo>
                  <a:pt x="597694" y="442055"/>
                  <a:pt x="613030" y="457390"/>
                  <a:pt x="613030" y="476250"/>
                </a:cubicBezTo>
                <a:cubicBezTo>
                  <a:pt x="613030" y="495109"/>
                  <a:pt x="597694" y="510445"/>
                  <a:pt x="578835" y="510445"/>
                </a:cubicBezTo>
                <a:cubicBezTo>
                  <a:pt x="559975" y="510445"/>
                  <a:pt x="544640" y="495109"/>
                  <a:pt x="544640" y="476250"/>
                </a:cubicBezTo>
                <a:cubicBezTo>
                  <a:pt x="544640" y="457390"/>
                  <a:pt x="559975" y="442055"/>
                  <a:pt x="578835" y="442055"/>
                </a:cubicBezTo>
                <a:close/>
                <a:moveTo>
                  <a:pt x="670275" y="441388"/>
                </a:moveTo>
                <a:cubicBezTo>
                  <a:pt x="689420" y="441388"/>
                  <a:pt x="705041" y="457009"/>
                  <a:pt x="705136" y="476250"/>
                </a:cubicBezTo>
                <a:cubicBezTo>
                  <a:pt x="705136" y="495490"/>
                  <a:pt x="689515" y="511111"/>
                  <a:pt x="670275" y="511111"/>
                </a:cubicBezTo>
                <a:cubicBezTo>
                  <a:pt x="651034" y="511111"/>
                  <a:pt x="635413" y="495490"/>
                  <a:pt x="635413" y="476250"/>
                </a:cubicBezTo>
                <a:cubicBezTo>
                  <a:pt x="635413" y="457009"/>
                  <a:pt x="651034" y="441388"/>
                  <a:pt x="670275" y="441388"/>
                </a:cubicBezTo>
                <a:close/>
                <a:moveTo>
                  <a:pt x="304610" y="332993"/>
                </a:moveTo>
                <a:cubicBezTo>
                  <a:pt x="322326" y="332993"/>
                  <a:pt x="336804" y="347471"/>
                  <a:pt x="336804" y="365188"/>
                </a:cubicBezTo>
                <a:cubicBezTo>
                  <a:pt x="336804" y="382904"/>
                  <a:pt x="322326" y="397382"/>
                  <a:pt x="304610" y="397382"/>
                </a:cubicBezTo>
                <a:cubicBezTo>
                  <a:pt x="286893" y="397382"/>
                  <a:pt x="272415" y="382999"/>
                  <a:pt x="272415" y="365188"/>
                </a:cubicBezTo>
                <a:cubicBezTo>
                  <a:pt x="272415" y="347471"/>
                  <a:pt x="286798" y="332993"/>
                  <a:pt x="304610" y="332993"/>
                </a:cubicBezTo>
                <a:close/>
                <a:moveTo>
                  <a:pt x="396049" y="332327"/>
                </a:moveTo>
                <a:cubicBezTo>
                  <a:pt x="414147" y="332327"/>
                  <a:pt x="428815" y="347091"/>
                  <a:pt x="428911" y="365188"/>
                </a:cubicBezTo>
                <a:cubicBezTo>
                  <a:pt x="428911" y="383286"/>
                  <a:pt x="414147" y="398050"/>
                  <a:pt x="396049" y="398050"/>
                </a:cubicBezTo>
                <a:cubicBezTo>
                  <a:pt x="377952" y="398050"/>
                  <a:pt x="363188" y="383286"/>
                  <a:pt x="363188" y="365188"/>
                </a:cubicBezTo>
                <a:cubicBezTo>
                  <a:pt x="363188" y="347091"/>
                  <a:pt x="377952" y="332327"/>
                  <a:pt x="396049" y="332327"/>
                </a:cubicBezTo>
                <a:close/>
                <a:moveTo>
                  <a:pt x="487394" y="331755"/>
                </a:moveTo>
                <a:cubicBezTo>
                  <a:pt x="505873" y="331755"/>
                  <a:pt x="520922" y="346804"/>
                  <a:pt x="520922" y="365283"/>
                </a:cubicBezTo>
                <a:cubicBezTo>
                  <a:pt x="520922" y="383761"/>
                  <a:pt x="505873" y="398811"/>
                  <a:pt x="487394" y="398811"/>
                </a:cubicBezTo>
                <a:cubicBezTo>
                  <a:pt x="468916" y="398811"/>
                  <a:pt x="453866" y="383761"/>
                  <a:pt x="453866" y="365283"/>
                </a:cubicBezTo>
                <a:cubicBezTo>
                  <a:pt x="453866" y="346804"/>
                  <a:pt x="468916" y="331755"/>
                  <a:pt x="487394" y="331755"/>
                </a:cubicBezTo>
                <a:close/>
                <a:moveTo>
                  <a:pt x="578835" y="331088"/>
                </a:moveTo>
                <a:cubicBezTo>
                  <a:pt x="597694" y="331088"/>
                  <a:pt x="613030" y="346423"/>
                  <a:pt x="613030" y="365283"/>
                </a:cubicBezTo>
                <a:cubicBezTo>
                  <a:pt x="613030" y="384142"/>
                  <a:pt x="597694" y="399478"/>
                  <a:pt x="578835" y="399478"/>
                </a:cubicBezTo>
                <a:cubicBezTo>
                  <a:pt x="559975" y="399478"/>
                  <a:pt x="544640" y="384142"/>
                  <a:pt x="544640" y="365283"/>
                </a:cubicBezTo>
                <a:cubicBezTo>
                  <a:pt x="544640" y="346423"/>
                  <a:pt x="559975" y="331088"/>
                  <a:pt x="578835" y="331088"/>
                </a:cubicBezTo>
                <a:close/>
                <a:moveTo>
                  <a:pt x="213170" y="222694"/>
                </a:moveTo>
                <a:cubicBezTo>
                  <a:pt x="230600" y="222694"/>
                  <a:pt x="244697" y="236791"/>
                  <a:pt x="244697" y="254222"/>
                </a:cubicBezTo>
                <a:cubicBezTo>
                  <a:pt x="244697" y="271557"/>
                  <a:pt x="230600" y="285750"/>
                  <a:pt x="213170" y="285750"/>
                </a:cubicBezTo>
                <a:cubicBezTo>
                  <a:pt x="195834" y="285750"/>
                  <a:pt x="181642" y="271653"/>
                  <a:pt x="181642" y="254222"/>
                </a:cubicBezTo>
                <a:cubicBezTo>
                  <a:pt x="181642" y="236886"/>
                  <a:pt x="195739" y="222694"/>
                  <a:pt x="213170" y="222694"/>
                </a:cubicBezTo>
                <a:close/>
                <a:moveTo>
                  <a:pt x="304610" y="222027"/>
                </a:moveTo>
                <a:cubicBezTo>
                  <a:pt x="322326" y="222027"/>
                  <a:pt x="336804" y="236505"/>
                  <a:pt x="336804" y="254222"/>
                </a:cubicBezTo>
                <a:cubicBezTo>
                  <a:pt x="336804" y="271938"/>
                  <a:pt x="322326" y="286416"/>
                  <a:pt x="304610" y="286416"/>
                </a:cubicBezTo>
                <a:cubicBezTo>
                  <a:pt x="286893" y="286416"/>
                  <a:pt x="272415" y="272033"/>
                  <a:pt x="272415" y="254222"/>
                </a:cubicBezTo>
                <a:cubicBezTo>
                  <a:pt x="272415" y="236505"/>
                  <a:pt x="286798" y="222027"/>
                  <a:pt x="304610" y="222027"/>
                </a:cubicBezTo>
                <a:close/>
                <a:moveTo>
                  <a:pt x="396049" y="221360"/>
                </a:moveTo>
                <a:cubicBezTo>
                  <a:pt x="414147" y="221360"/>
                  <a:pt x="428815" y="236124"/>
                  <a:pt x="428911" y="254221"/>
                </a:cubicBezTo>
                <a:cubicBezTo>
                  <a:pt x="428911" y="272319"/>
                  <a:pt x="414147" y="287083"/>
                  <a:pt x="396049" y="287083"/>
                </a:cubicBezTo>
                <a:cubicBezTo>
                  <a:pt x="377952" y="287083"/>
                  <a:pt x="363188" y="272319"/>
                  <a:pt x="363188" y="254221"/>
                </a:cubicBezTo>
                <a:cubicBezTo>
                  <a:pt x="363188" y="236124"/>
                  <a:pt x="377952" y="221360"/>
                  <a:pt x="396049" y="221360"/>
                </a:cubicBezTo>
                <a:close/>
                <a:moveTo>
                  <a:pt x="487394" y="220694"/>
                </a:moveTo>
                <a:cubicBezTo>
                  <a:pt x="505873" y="220694"/>
                  <a:pt x="520922" y="235743"/>
                  <a:pt x="520922" y="254222"/>
                </a:cubicBezTo>
                <a:cubicBezTo>
                  <a:pt x="520922" y="272700"/>
                  <a:pt x="505873" y="287750"/>
                  <a:pt x="487394" y="287750"/>
                </a:cubicBezTo>
                <a:cubicBezTo>
                  <a:pt x="468916" y="287750"/>
                  <a:pt x="453866" y="272700"/>
                  <a:pt x="453866" y="254222"/>
                </a:cubicBezTo>
                <a:cubicBezTo>
                  <a:pt x="453866" y="235743"/>
                  <a:pt x="468916" y="220694"/>
                  <a:pt x="487394" y="220694"/>
                </a:cubicBezTo>
                <a:close/>
                <a:moveTo>
                  <a:pt x="121730" y="112299"/>
                </a:moveTo>
                <a:cubicBezTo>
                  <a:pt x="138780" y="112299"/>
                  <a:pt x="152687" y="126206"/>
                  <a:pt x="152591" y="143160"/>
                </a:cubicBezTo>
                <a:cubicBezTo>
                  <a:pt x="152591" y="160210"/>
                  <a:pt x="138780" y="174116"/>
                  <a:pt x="121730" y="174116"/>
                </a:cubicBezTo>
                <a:cubicBezTo>
                  <a:pt x="104680" y="174116"/>
                  <a:pt x="90774" y="160210"/>
                  <a:pt x="90774" y="143160"/>
                </a:cubicBezTo>
                <a:cubicBezTo>
                  <a:pt x="90774" y="126206"/>
                  <a:pt x="104680" y="112299"/>
                  <a:pt x="121730" y="112299"/>
                </a:cubicBezTo>
                <a:close/>
                <a:moveTo>
                  <a:pt x="213170" y="111633"/>
                </a:moveTo>
                <a:cubicBezTo>
                  <a:pt x="230600" y="111633"/>
                  <a:pt x="244697" y="125825"/>
                  <a:pt x="244697" y="143161"/>
                </a:cubicBezTo>
                <a:cubicBezTo>
                  <a:pt x="244697" y="160496"/>
                  <a:pt x="230600" y="174689"/>
                  <a:pt x="213170" y="174689"/>
                </a:cubicBezTo>
                <a:cubicBezTo>
                  <a:pt x="195834" y="174689"/>
                  <a:pt x="181642" y="160592"/>
                  <a:pt x="181642" y="143161"/>
                </a:cubicBezTo>
                <a:cubicBezTo>
                  <a:pt x="181642" y="125825"/>
                  <a:pt x="195739" y="111633"/>
                  <a:pt x="213170" y="111633"/>
                </a:cubicBezTo>
                <a:close/>
                <a:moveTo>
                  <a:pt x="304610" y="110966"/>
                </a:moveTo>
                <a:cubicBezTo>
                  <a:pt x="322326" y="110966"/>
                  <a:pt x="336804" y="125444"/>
                  <a:pt x="336804" y="143161"/>
                </a:cubicBezTo>
                <a:cubicBezTo>
                  <a:pt x="336804" y="160877"/>
                  <a:pt x="322326" y="175355"/>
                  <a:pt x="304610" y="175355"/>
                </a:cubicBezTo>
                <a:cubicBezTo>
                  <a:pt x="286893" y="175355"/>
                  <a:pt x="272415" y="160972"/>
                  <a:pt x="272415" y="143161"/>
                </a:cubicBezTo>
                <a:cubicBezTo>
                  <a:pt x="272415" y="125444"/>
                  <a:pt x="286798" y="110966"/>
                  <a:pt x="304610" y="110966"/>
                </a:cubicBezTo>
                <a:close/>
                <a:moveTo>
                  <a:pt x="396049" y="110394"/>
                </a:moveTo>
                <a:cubicBezTo>
                  <a:pt x="414147" y="110394"/>
                  <a:pt x="428815" y="125063"/>
                  <a:pt x="428911" y="143255"/>
                </a:cubicBezTo>
                <a:cubicBezTo>
                  <a:pt x="428911" y="161353"/>
                  <a:pt x="414147" y="176117"/>
                  <a:pt x="396049" y="176117"/>
                </a:cubicBezTo>
                <a:cubicBezTo>
                  <a:pt x="377952" y="176117"/>
                  <a:pt x="363188" y="161353"/>
                  <a:pt x="363188" y="143255"/>
                </a:cubicBezTo>
                <a:cubicBezTo>
                  <a:pt x="363188" y="125158"/>
                  <a:pt x="377952" y="110394"/>
                  <a:pt x="396049" y="110394"/>
                </a:cubicBezTo>
                <a:close/>
                <a:moveTo>
                  <a:pt x="30289" y="2000"/>
                </a:moveTo>
                <a:cubicBezTo>
                  <a:pt x="46958" y="2000"/>
                  <a:pt x="60579" y="15526"/>
                  <a:pt x="60579" y="32290"/>
                </a:cubicBezTo>
                <a:cubicBezTo>
                  <a:pt x="60579" y="48958"/>
                  <a:pt x="46958" y="62579"/>
                  <a:pt x="30289" y="62579"/>
                </a:cubicBezTo>
                <a:cubicBezTo>
                  <a:pt x="13621" y="62579"/>
                  <a:pt x="0" y="48958"/>
                  <a:pt x="0" y="32290"/>
                </a:cubicBezTo>
                <a:cubicBezTo>
                  <a:pt x="0" y="15621"/>
                  <a:pt x="13621" y="2000"/>
                  <a:pt x="30289" y="2000"/>
                </a:cubicBezTo>
                <a:close/>
                <a:moveTo>
                  <a:pt x="121730" y="1333"/>
                </a:moveTo>
                <a:cubicBezTo>
                  <a:pt x="138780" y="1333"/>
                  <a:pt x="152687" y="15144"/>
                  <a:pt x="152591" y="32194"/>
                </a:cubicBezTo>
                <a:cubicBezTo>
                  <a:pt x="152591" y="49244"/>
                  <a:pt x="138780" y="63150"/>
                  <a:pt x="121730" y="63150"/>
                </a:cubicBezTo>
                <a:cubicBezTo>
                  <a:pt x="104680" y="63150"/>
                  <a:pt x="90774" y="49244"/>
                  <a:pt x="90774" y="32194"/>
                </a:cubicBezTo>
                <a:cubicBezTo>
                  <a:pt x="90774" y="15240"/>
                  <a:pt x="104680" y="1333"/>
                  <a:pt x="121730" y="1333"/>
                </a:cubicBezTo>
                <a:close/>
                <a:moveTo>
                  <a:pt x="213170" y="666"/>
                </a:moveTo>
                <a:cubicBezTo>
                  <a:pt x="230600" y="666"/>
                  <a:pt x="244697" y="14858"/>
                  <a:pt x="244697" y="32194"/>
                </a:cubicBezTo>
                <a:cubicBezTo>
                  <a:pt x="244697" y="49529"/>
                  <a:pt x="230600" y="63722"/>
                  <a:pt x="213170" y="63722"/>
                </a:cubicBezTo>
                <a:cubicBezTo>
                  <a:pt x="195834" y="63722"/>
                  <a:pt x="181642" y="49625"/>
                  <a:pt x="181642" y="32194"/>
                </a:cubicBezTo>
                <a:cubicBezTo>
                  <a:pt x="181642" y="14858"/>
                  <a:pt x="195739" y="666"/>
                  <a:pt x="213170" y="666"/>
                </a:cubicBezTo>
                <a:close/>
                <a:moveTo>
                  <a:pt x="304610" y="0"/>
                </a:moveTo>
                <a:cubicBezTo>
                  <a:pt x="322326" y="0"/>
                  <a:pt x="336804" y="14478"/>
                  <a:pt x="336804" y="32195"/>
                </a:cubicBezTo>
                <a:cubicBezTo>
                  <a:pt x="336804" y="49911"/>
                  <a:pt x="322326" y="64389"/>
                  <a:pt x="304610" y="64389"/>
                </a:cubicBezTo>
                <a:cubicBezTo>
                  <a:pt x="286893" y="64389"/>
                  <a:pt x="272415" y="50006"/>
                  <a:pt x="272415" y="32195"/>
                </a:cubicBezTo>
                <a:cubicBezTo>
                  <a:pt x="272415" y="14478"/>
                  <a:pt x="286798" y="0"/>
                  <a:pt x="304610" y="0"/>
                </a:cubicBezTo>
                <a:close/>
              </a:path>
            </a:pathLst>
          </a:custGeom>
          <a:gradFill>
            <a:gsLst>
              <a:gs pos="68000">
                <a:schemeClr val="accent1"/>
              </a:gs>
              <a:gs pos="0">
                <a:schemeClr val="accent1">
                  <a:lumMod val="70000"/>
                  <a:lumOff val="30000"/>
                  <a:alpha val="0"/>
                </a:schemeClr>
              </a:gs>
            </a:gsLst>
            <a:lin ang="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16" name="熊大的PPT宝库72"/>
          <p:cNvSpPr/>
          <p:nvPr/>
        </p:nvSpPr>
        <p:spPr>
          <a:xfrm rot="16200000">
            <a:off x="9684919" y="2725356"/>
            <a:ext cx="165604" cy="197811"/>
          </a:xfrm>
          <a:custGeom>
            <a:avLst/>
            <a:gdLst>
              <a:gd name="connsiteX0" fmla="*/ 25717 w 603885"/>
              <a:gd name="connsiteY0" fmla="*/ 668083 h 721328"/>
              <a:gd name="connsiteX1" fmla="*/ 51435 w 603885"/>
              <a:gd name="connsiteY1" fmla="*/ 693801 h 721328"/>
              <a:gd name="connsiteX2" fmla="*/ 25717 w 603885"/>
              <a:gd name="connsiteY2" fmla="*/ 719518 h 721328"/>
              <a:gd name="connsiteX3" fmla="*/ 0 w 603885"/>
              <a:gd name="connsiteY3" fmla="*/ 693801 h 721328"/>
              <a:gd name="connsiteX4" fmla="*/ 25717 w 603885"/>
              <a:gd name="connsiteY4" fmla="*/ 668083 h 721328"/>
              <a:gd name="connsiteX5" fmla="*/ 117157 w 603885"/>
              <a:gd name="connsiteY5" fmla="*/ 667416 h 721328"/>
              <a:gd name="connsiteX6" fmla="*/ 143446 w 603885"/>
              <a:gd name="connsiteY6" fmla="*/ 693705 h 721328"/>
              <a:gd name="connsiteX7" fmla="*/ 117157 w 603885"/>
              <a:gd name="connsiteY7" fmla="*/ 720089 h 721328"/>
              <a:gd name="connsiteX8" fmla="*/ 90773 w 603885"/>
              <a:gd name="connsiteY8" fmla="*/ 693705 h 721328"/>
              <a:gd name="connsiteX9" fmla="*/ 117157 w 603885"/>
              <a:gd name="connsiteY9" fmla="*/ 667416 h 721328"/>
              <a:gd name="connsiteX10" fmla="*/ 208502 w 603885"/>
              <a:gd name="connsiteY10" fmla="*/ 666750 h 721328"/>
              <a:gd name="connsiteX11" fmla="*/ 235458 w 603885"/>
              <a:gd name="connsiteY11" fmla="*/ 693706 h 721328"/>
              <a:gd name="connsiteX12" fmla="*/ 208502 w 603885"/>
              <a:gd name="connsiteY12" fmla="*/ 720662 h 721328"/>
              <a:gd name="connsiteX13" fmla="*/ 181546 w 603885"/>
              <a:gd name="connsiteY13" fmla="*/ 693706 h 721328"/>
              <a:gd name="connsiteX14" fmla="*/ 208502 w 603885"/>
              <a:gd name="connsiteY14" fmla="*/ 666750 h 721328"/>
              <a:gd name="connsiteX15" fmla="*/ 299942 w 603885"/>
              <a:gd name="connsiteY15" fmla="*/ 666083 h 721328"/>
              <a:gd name="connsiteX16" fmla="*/ 327564 w 603885"/>
              <a:gd name="connsiteY16" fmla="*/ 693706 h 721328"/>
              <a:gd name="connsiteX17" fmla="*/ 299942 w 603885"/>
              <a:gd name="connsiteY17" fmla="*/ 721328 h 721328"/>
              <a:gd name="connsiteX18" fmla="*/ 272319 w 603885"/>
              <a:gd name="connsiteY18" fmla="*/ 693706 h 721328"/>
              <a:gd name="connsiteX19" fmla="*/ 299942 w 603885"/>
              <a:gd name="connsiteY19" fmla="*/ 666083 h 721328"/>
              <a:gd name="connsiteX20" fmla="*/ 117157 w 603885"/>
              <a:gd name="connsiteY20" fmla="*/ 556355 h 721328"/>
              <a:gd name="connsiteX21" fmla="*/ 143446 w 603885"/>
              <a:gd name="connsiteY21" fmla="*/ 582644 h 721328"/>
              <a:gd name="connsiteX22" fmla="*/ 117157 w 603885"/>
              <a:gd name="connsiteY22" fmla="*/ 609028 h 721328"/>
              <a:gd name="connsiteX23" fmla="*/ 90773 w 603885"/>
              <a:gd name="connsiteY23" fmla="*/ 582644 h 721328"/>
              <a:gd name="connsiteX24" fmla="*/ 117157 w 603885"/>
              <a:gd name="connsiteY24" fmla="*/ 556355 h 721328"/>
              <a:gd name="connsiteX25" fmla="*/ 208502 w 603885"/>
              <a:gd name="connsiteY25" fmla="*/ 555784 h 721328"/>
              <a:gd name="connsiteX26" fmla="*/ 235458 w 603885"/>
              <a:gd name="connsiteY26" fmla="*/ 582740 h 721328"/>
              <a:gd name="connsiteX27" fmla="*/ 208502 w 603885"/>
              <a:gd name="connsiteY27" fmla="*/ 609695 h 721328"/>
              <a:gd name="connsiteX28" fmla="*/ 181546 w 603885"/>
              <a:gd name="connsiteY28" fmla="*/ 582740 h 721328"/>
              <a:gd name="connsiteX29" fmla="*/ 208502 w 603885"/>
              <a:gd name="connsiteY29" fmla="*/ 555784 h 721328"/>
              <a:gd name="connsiteX30" fmla="*/ 299942 w 603885"/>
              <a:gd name="connsiteY30" fmla="*/ 555117 h 721328"/>
              <a:gd name="connsiteX31" fmla="*/ 327564 w 603885"/>
              <a:gd name="connsiteY31" fmla="*/ 582739 h 721328"/>
              <a:gd name="connsiteX32" fmla="*/ 299942 w 603885"/>
              <a:gd name="connsiteY32" fmla="*/ 610362 h 721328"/>
              <a:gd name="connsiteX33" fmla="*/ 272319 w 603885"/>
              <a:gd name="connsiteY33" fmla="*/ 582739 h 721328"/>
              <a:gd name="connsiteX34" fmla="*/ 299942 w 603885"/>
              <a:gd name="connsiteY34" fmla="*/ 555117 h 721328"/>
              <a:gd name="connsiteX35" fmla="*/ 391382 w 603885"/>
              <a:gd name="connsiteY35" fmla="*/ 554450 h 721328"/>
              <a:gd name="connsiteX36" fmla="*/ 419672 w 603885"/>
              <a:gd name="connsiteY36" fmla="*/ 582739 h 721328"/>
              <a:gd name="connsiteX37" fmla="*/ 391382 w 603885"/>
              <a:gd name="connsiteY37" fmla="*/ 611029 h 721328"/>
              <a:gd name="connsiteX38" fmla="*/ 363093 w 603885"/>
              <a:gd name="connsiteY38" fmla="*/ 582739 h 721328"/>
              <a:gd name="connsiteX39" fmla="*/ 391382 w 603885"/>
              <a:gd name="connsiteY39" fmla="*/ 554450 h 721328"/>
              <a:gd name="connsiteX40" fmla="*/ 208502 w 603885"/>
              <a:gd name="connsiteY40" fmla="*/ 444722 h 721328"/>
              <a:gd name="connsiteX41" fmla="*/ 235458 w 603885"/>
              <a:gd name="connsiteY41" fmla="*/ 471678 h 721328"/>
              <a:gd name="connsiteX42" fmla="*/ 208502 w 603885"/>
              <a:gd name="connsiteY42" fmla="*/ 498634 h 721328"/>
              <a:gd name="connsiteX43" fmla="*/ 181546 w 603885"/>
              <a:gd name="connsiteY43" fmla="*/ 471678 h 721328"/>
              <a:gd name="connsiteX44" fmla="*/ 208502 w 603885"/>
              <a:gd name="connsiteY44" fmla="*/ 444722 h 721328"/>
              <a:gd name="connsiteX45" fmla="*/ 299942 w 603885"/>
              <a:gd name="connsiteY45" fmla="*/ 444055 h 721328"/>
              <a:gd name="connsiteX46" fmla="*/ 327564 w 603885"/>
              <a:gd name="connsiteY46" fmla="*/ 471678 h 721328"/>
              <a:gd name="connsiteX47" fmla="*/ 299942 w 603885"/>
              <a:gd name="connsiteY47" fmla="*/ 499300 h 721328"/>
              <a:gd name="connsiteX48" fmla="*/ 272319 w 603885"/>
              <a:gd name="connsiteY48" fmla="*/ 471678 h 721328"/>
              <a:gd name="connsiteX49" fmla="*/ 299942 w 603885"/>
              <a:gd name="connsiteY49" fmla="*/ 444055 h 721328"/>
              <a:gd name="connsiteX50" fmla="*/ 391382 w 603885"/>
              <a:gd name="connsiteY50" fmla="*/ 443389 h 721328"/>
              <a:gd name="connsiteX51" fmla="*/ 419672 w 603885"/>
              <a:gd name="connsiteY51" fmla="*/ 471678 h 721328"/>
              <a:gd name="connsiteX52" fmla="*/ 391382 w 603885"/>
              <a:gd name="connsiteY52" fmla="*/ 499968 h 721328"/>
              <a:gd name="connsiteX53" fmla="*/ 363093 w 603885"/>
              <a:gd name="connsiteY53" fmla="*/ 471678 h 721328"/>
              <a:gd name="connsiteX54" fmla="*/ 391382 w 603885"/>
              <a:gd name="connsiteY54" fmla="*/ 443389 h 721328"/>
              <a:gd name="connsiteX55" fmla="*/ 482822 w 603885"/>
              <a:gd name="connsiteY55" fmla="*/ 442817 h 721328"/>
              <a:gd name="connsiteX56" fmla="*/ 511778 w 603885"/>
              <a:gd name="connsiteY56" fmla="*/ 471773 h 721328"/>
              <a:gd name="connsiteX57" fmla="*/ 482822 w 603885"/>
              <a:gd name="connsiteY57" fmla="*/ 500729 h 721328"/>
              <a:gd name="connsiteX58" fmla="*/ 453866 w 603885"/>
              <a:gd name="connsiteY58" fmla="*/ 471773 h 721328"/>
              <a:gd name="connsiteX59" fmla="*/ 482822 w 603885"/>
              <a:gd name="connsiteY59" fmla="*/ 442817 h 721328"/>
              <a:gd name="connsiteX60" fmla="*/ 299942 w 603885"/>
              <a:gd name="connsiteY60" fmla="*/ 333089 h 721328"/>
              <a:gd name="connsiteX61" fmla="*/ 327564 w 603885"/>
              <a:gd name="connsiteY61" fmla="*/ 360712 h 721328"/>
              <a:gd name="connsiteX62" fmla="*/ 299942 w 603885"/>
              <a:gd name="connsiteY62" fmla="*/ 388334 h 721328"/>
              <a:gd name="connsiteX63" fmla="*/ 272319 w 603885"/>
              <a:gd name="connsiteY63" fmla="*/ 360712 h 721328"/>
              <a:gd name="connsiteX64" fmla="*/ 299942 w 603885"/>
              <a:gd name="connsiteY64" fmla="*/ 333089 h 721328"/>
              <a:gd name="connsiteX65" fmla="*/ 391382 w 603885"/>
              <a:gd name="connsiteY65" fmla="*/ 332422 h 721328"/>
              <a:gd name="connsiteX66" fmla="*/ 419672 w 603885"/>
              <a:gd name="connsiteY66" fmla="*/ 360711 h 721328"/>
              <a:gd name="connsiteX67" fmla="*/ 391382 w 603885"/>
              <a:gd name="connsiteY67" fmla="*/ 389001 h 721328"/>
              <a:gd name="connsiteX68" fmla="*/ 363093 w 603885"/>
              <a:gd name="connsiteY68" fmla="*/ 360711 h 721328"/>
              <a:gd name="connsiteX69" fmla="*/ 391382 w 603885"/>
              <a:gd name="connsiteY69" fmla="*/ 332422 h 721328"/>
              <a:gd name="connsiteX70" fmla="*/ 482822 w 603885"/>
              <a:gd name="connsiteY70" fmla="*/ 331755 h 721328"/>
              <a:gd name="connsiteX71" fmla="*/ 511778 w 603885"/>
              <a:gd name="connsiteY71" fmla="*/ 360711 h 721328"/>
              <a:gd name="connsiteX72" fmla="*/ 482822 w 603885"/>
              <a:gd name="connsiteY72" fmla="*/ 389667 h 721328"/>
              <a:gd name="connsiteX73" fmla="*/ 453866 w 603885"/>
              <a:gd name="connsiteY73" fmla="*/ 360711 h 721328"/>
              <a:gd name="connsiteX74" fmla="*/ 482822 w 603885"/>
              <a:gd name="connsiteY74" fmla="*/ 331755 h 721328"/>
              <a:gd name="connsiteX75" fmla="*/ 574262 w 603885"/>
              <a:gd name="connsiteY75" fmla="*/ 331089 h 721328"/>
              <a:gd name="connsiteX76" fmla="*/ 603885 w 603885"/>
              <a:gd name="connsiteY76" fmla="*/ 360712 h 721328"/>
              <a:gd name="connsiteX77" fmla="*/ 574262 w 603885"/>
              <a:gd name="connsiteY77" fmla="*/ 390335 h 721328"/>
              <a:gd name="connsiteX78" fmla="*/ 544639 w 603885"/>
              <a:gd name="connsiteY78" fmla="*/ 360712 h 721328"/>
              <a:gd name="connsiteX79" fmla="*/ 574262 w 603885"/>
              <a:gd name="connsiteY79" fmla="*/ 331089 h 721328"/>
              <a:gd name="connsiteX80" fmla="*/ 208502 w 603885"/>
              <a:gd name="connsiteY80" fmla="*/ 222694 h 721328"/>
              <a:gd name="connsiteX81" fmla="*/ 235458 w 603885"/>
              <a:gd name="connsiteY81" fmla="*/ 249650 h 721328"/>
              <a:gd name="connsiteX82" fmla="*/ 208502 w 603885"/>
              <a:gd name="connsiteY82" fmla="*/ 276606 h 721328"/>
              <a:gd name="connsiteX83" fmla="*/ 181546 w 603885"/>
              <a:gd name="connsiteY83" fmla="*/ 249650 h 721328"/>
              <a:gd name="connsiteX84" fmla="*/ 208502 w 603885"/>
              <a:gd name="connsiteY84" fmla="*/ 222694 h 721328"/>
              <a:gd name="connsiteX85" fmla="*/ 299942 w 603885"/>
              <a:gd name="connsiteY85" fmla="*/ 222027 h 721328"/>
              <a:gd name="connsiteX86" fmla="*/ 327564 w 603885"/>
              <a:gd name="connsiteY86" fmla="*/ 249650 h 721328"/>
              <a:gd name="connsiteX87" fmla="*/ 299942 w 603885"/>
              <a:gd name="connsiteY87" fmla="*/ 277272 h 721328"/>
              <a:gd name="connsiteX88" fmla="*/ 272319 w 603885"/>
              <a:gd name="connsiteY88" fmla="*/ 249650 h 721328"/>
              <a:gd name="connsiteX89" fmla="*/ 299942 w 603885"/>
              <a:gd name="connsiteY89" fmla="*/ 222027 h 721328"/>
              <a:gd name="connsiteX90" fmla="*/ 391382 w 603885"/>
              <a:gd name="connsiteY90" fmla="*/ 221361 h 721328"/>
              <a:gd name="connsiteX91" fmla="*/ 419672 w 603885"/>
              <a:gd name="connsiteY91" fmla="*/ 249650 h 721328"/>
              <a:gd name="connsiteX92" fmla="*/ 391382 w 603885"/>
              <a:gd name="connsiteY92" fmla="*/ 277940 h 721328"/>
              <a:gd name="connsiteX93" fmla="*/ 363093 w 603885"/>
              <a:gd name="connsiteY93" fmla="*/ 249650 h 721328"/>
              <a:gd name="connsiteX94" fmla="*/ 391382 w 603885"/>
              <a:gd name="connsiteY94" fmla="*/ 221361 h 721328"/>
              <a:gd name="connsiteX95" fmla="*/ 482822 w 603885"/>
              <a:gd name="connsiteY95" fmla="*/ 220789 h 721328"/>
              <a:gd name="connsiteX96" fmla="*/ 511778 w 603885"/>
              <a:gd name="connsiteY96" fmla="*/ 249745 h 721328"/>
              <a:gd name="connsiteX97" fmla="*/ 482822 w 603885"/>
              <a:gd name="connsiteY97" fmla="*/ 278701 h 721328"/>
              <a:gd name="connsiteX98" fmla="*/ 453866 w 603885"/>
              <a:gd name="connsiteY98" fmla="*/ 249745 h 721328"/>
              <a:gd name="connsiteX99" fmla="*/ 482822 w 603885"/>
              <a:gd name="connsiteY99" fmla="*/ 220789 h 721328"/>
              <a:gd name="connsiteX100" fmla="*/ 117157 w 603885"/>
              <a:gd name="connsiteY100" fmla="*/ 112395 h 721328"/>
              <a:gd name="connsiteX101" fmla="*/ 143446 w 603885"/>
              <a:gd name="connsiteY101" fmla="*/ 138684 h 721328"/>
              <a:gd name="connsiteX102" fmla="*/ 117157 w 603885"/>
              <a:gd name="connsiteY102" fmla="*/ 165068 h 721328"/>
              <a:gd name="connsiteX103" fmla="*/ 90773 w 603885"/>
              <a:gd name="connsiteY103" fmla="*/ 138684 h 721328"/>
              <a:gd name="connsiteX104" fmla="*/ 117157 w 603885"/>
              <a:gd name="connsiteY104" fmla="*/ 112395 h 721328"/>
              <a:gd name="connsiteX105" fmla="*/ 208502 w 603885"/>
              <a:gd name="connsiteY105" fmla="*/ 111728 h 721328"/>
              <a:gd name="connsiteX106" fmla="*/ 235458 w 603885"/>
              <a:gd name="connsiteY106" fmla="*/ 138684 h 721328"/>
              <a:gd name="connsiteX107" fmla="*/ 208502 w 603885"/>
              <a:gd name="connsiteY107" fmla="*/ 165640 h 721328"/>
              <a:gd name="connsiteX108" fmla="*/ 181546 w 603885"/>
              <a:gd name="connsiteY108" fmla="*/ 138684 h 721328"/>
              <a:gd name="connsiteX109" fmla="*/ 208502 w 603885"/>
              <a:gd name="connsiteY109" fmla="*/ 111728 h 721328"/>
              <a:gd name="connsiteX110" fmla="*/ 299942 w 603885"/>
              <a:gd name="connsiteY110" fmla="*/ 111061 h 721328"/>
              <a:gd name="connsiteX111" fmla="*/ 327564 w 603885"/>
              <a:gd name="connsiteY111" fmla="*/ 138683 h 721328"/>
              <a:gd name="connsiteX112" fmla="*/ 299942 w 603885"/>
              <a:gd name="connsiteY112" fmla="*/ 166306 h 721328"/>
              <a:gd name="connsiteX113" fmla="*/ 272319 w 603885"/>
              <a:gd name="connsiteY113" fmla="*/ 138683 h 721328"/>
              <a:gd name="connsiteX114" fmla="*/ 299942 w 603885"/>
              <a:gd name="connsiteY114" fmla="*/ 111061 h 721328"/>
              <a:gd name="connsiteX115" fmla="*/ 391382 w 603885"/>
              <a:gd name="connsiteY115" fmla="*/ 110394 h 721328"/>
              <a:gd name="connsiteX116" fmla="*/ 419672 w 603885"/>
              <a:gd name="connsiteY116" fmla="*/ 138683 h 721328"/>
              <a:gd name="connsiteX117" fmla="*/ 391382 w 603885"/>
              <a:gd name="connsiteY117" fmla="*/ 166973 h 721328"/>
              <a:gd name="connsiteX118" fmla="*/ 363093 w 603885"/>
              <a:gd name="connsiteY118" fmla="*/ 138683 h 721328"/>
              <a:gd name="connsiteX119" fmla="*/ 391382 w 603885"/>
              <a:gd name="connsiteY119" fmla="*/ 110394 h 721328"/>
              <a:gd name="connsiteX120" fmla="*/ 25717 w 603885"/>
              <a:gd name="connsiteY120" fmla="*/ 2000 h 721328"/>
              <a:gd name="connsiteX121" fmla="*/ 51435 w 603885"/>
              <a:gd name="connsiteY121" fmla="*/ 27717 h 721328"/>
              <a:gd name="connsiteX122" fmla="*/ 25717 w 603885"/>
              <a:gd name="connsiteY122" fmla="*/ 53435 h 721328"/>
              <a:gd name="connsiteX123" fmla="*/ 0 w 603885"/>
              <a:gd name="connsiteY123" fmla="*/ 27717 h 721328"/>
              <a:gd name="connsiteX124" fmla="*/ 25717 w 603885"/>
              <a:gd name="connsiteY124" fmla="*/ 2000 h 721328"/>
              <a:gd name="connsiteX125" fmla="*/ 117157 w 603885"/>
              <a:gd name="connsiteY125" fmla="*/ 1333 h 721328"/>
              <a:gd name="connsiteX126" fmla="*/ 143446 w 603885"/>
              <a:gd name="connsiteY126" fmla="*/ 27622 h 721328"/>
              <a:gd name="connsiteX127" fmla="*/ 117157 w 603885"/>
              <a:gd name="connsiteY127" fmla="*/ 54006 h 721328"/>
              <a:gd name="connsiteX128" fmla="*/ 90773 w 603885"/>
              <a:gd name="connsiteY128" fmla="*/ 27622 h 721328"/>
              <a:gd name="connsiteX129" fmla="*/ 117157 w 603885"/>
              <a:gd name="connsiteY129" fmla="*/ 1333 h 721328"/>
              <a:gd name="connsiteX130" fmla="*/ 208502 w 603885"/>
              <a:gd name="connsiteY130" fmla="*/ 666 h 721328"/>
              <a:gd name="connsiteX131" fmla="*/ 235458 w 603885"/>
              <a:gd name="connsiteY131" fmla="*/ 27622 h 721328"/>
              <a:gd name="connsiteX132" fmla="*/ 208502 w 603885"/>
              <a:gd name="connsiteY132" fmla="*/ 54578 h 721328"/>
              <a:gd name="connsiteX133" fmla="*/ 181546 w 603885"/>
              <a:gd name="connsiteY133" fmla="*/ 27622 h 721328"/>
              <a:gd name="connsiteX134" fmla="*/ 208502 w 603885"/>
              <a:gd name="connsiteY134" fmla="*/ 666 h 721328"/>
              <a:gd name="connsiteX135" fmla="*/ 299942 w 603885"/>
              <a:gd name="connsiteY135" fmla="*/ 0 h 721328"/>
              <a:gd name="connsiteX136" fmla="*/ 327564 w 603885"/>
              <a:gd name="connsiteY136" fmla="*/ 27622 h 721328"/>
              <a:gd name="connsiteX137" fmla="*/ 299942 w 603885"/>
              <a:gd name="connsiteY137" fmla="*/ 55245 h 721328"/>
              <a:gd name="connsiteX138" fmla="*/ 272319 w 603885"/>
              <a:gd name="connsiteY138" fmla="*/ 27622 h 721328"/>
              <a:gd name="connsiteX139" fmla="*/ 299942 w 603885"/>
              <a:gd name="connsiteY139" fmla="*/ 0 h 721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603885" h="721328">
                <a:moveTo>
                  <a:pt x="25717" y="668083"/>
                </a:moveTo>
                <a:cubicBezTo>
                  <a:pt x="39910" y="668083"/>
                  <a:pt x="51435" y="679608"/>
                  <a:pt x="51435" y="693801"/>
                </a:cubicBezTo>
                <a:cubicBezTo>
                  <a:pt x="51435" y="707993"/>
                  <a:pt x="39910" y="719518"/>
                  <a:pt x="25717" y="719518"/>
                </a:cubicBezTo>
                <a:cubicBezTo>
                  <a:pt x="11525" y="719518"/>
                  <a:pt x="0" y="707993"/>
                  <a:pt x="0" y="693801"/>
                </a:cubicBezTo>
                <a:cubicBezTo>
                  <a:pt x="0" y="679608"/>
                  <a:pt x="11525" y="668083"/>
                  <a:pt x="25717" y="668083"/>
                </a:cubicBezTo>
                <a:close/>
                <a:moveTo>
                  <a:pt x="117157" y="667416"/>
                </a:moveTo>
                <a:cubicBezTo>
                  <a:pt x="131635" y="667416"/>
                  <a:pt x="143446" y="679227"/>
                  <a:pt x="143446" y="693705"/>
                </a:cubicBezTo>
                <a:cubicBezTo>
                  <a:pt x="143446" y="708278"/>
                  <a:pt x="131635" y="720089"/>
                  <a:pt x="117157" y="720089"/>
                </a:cubicBezTo>
                <a:cubicBezTo>
                  <a:pt x="102584" y="720089"/>
                  <a:pt x="90773" y="708183"/>
                  <a:pt x="90773" y="693705"/>
                </a:cubicBezTo>
                <a:cubicBezTo>
                  <a:pt x="90773" y="679227"/>
                  <a:pt x="102679" y="667416"/>
                  <a:pt x="117157" y="667416"/>
                </a:cubicBezTo>
                <a:close/>
                <a:moveTo>
                  <a:pt x="208502" y="666750"/>
                </a:moveTo>
                <a:cubicBezTo>
                  <a:pt x="223456" y="666750"/>
                  <a:pt x="235553" y="678847"/>
                  <a:pt x="235458" y="693706"/>
                </a:cubicBezTo>
                <a:cubicBezTo>
                  <a:pt x="235458" y="708565"/>
                  <a:pt x="223361" y="720662"/>
                  <a:pt x="208502" y="720662"/>
                </a:cubicBezTo>
                <a:cubicBezTo>
                  <a:pt x="193643" y="720662"/>
                  <a:pt x="181546" y="708565"/>
                  <a:pt x="181546" y="693706"/>
                </a:cubicBezTo>
                <a:cubicBezTo>
                  <a:pt x="181546" y="678847"/>
                  <a:pt x="193643" y="666750"/>
                  <a:pt x="208502" y="666750"/>
                </a:cubicBezTo>
                <a:close/>
                <a:moveTo>
                  <a:pt x="299942" y="666083"/>
                </a:moveTo>
                <a:cubicBezTo>
                  <a:pt x="315182" y="666083"/>
                  <a:pt x="327564" y="678466"/>
                  <a:pt x="327564" y="693706"/>
                </a:cubicBezTo>
                <a:cubicBezTo>
                  <a:pt x="327564" y="708946"/>
                  <a:pt x="315182" y="721328"/>
                  <a:pt x="299942" y="721328"/>
                </a:cubicBezTo>
                <a:cubicBezTo>
                  <a:pt x="284702" y="721328"/>
                  <a:pt x="272319" y="708946"/>
                  <a:pt x="272319" y="693706"/>
                </a:cubicBezTo>
                <a:cubicBezTo>
                  <a:pt x="272319" y="678466"/>
                  <a:pt x="284702" y="666083"/>
                  <a:pt x="299942" y="666083"/>
                </a:cubicBezTo>
                <a:close/>
                <a:moveTo>
                  <a:pt x="117157" y="556355"/>
                </a:moveTo>
                <a:cubicBezTo>
                  <a:pt x="131635" y="556355"/>
                  <a:pt x="143446" y="568166"/>
                  <a:pt x="143446" y="582644"/>
                </a:cubicBezTo>
                <a:cubicBezTo>
                  <a:pt x="143446" y="597217"/>
                  <a:pt x="131635" y="609028"/>
                  <a:pt x="117157" y="609028"/>
                </a:cubicBezTo>
                <a:cubicBezTo>
                  <a:pt x="102584" y="609028"/>
                  <a:pt x="90773" y="597122"/>
                  <a:pt x="90773" y="582644"/>
                </a:cubicBezTo>
                <a:cubicBezTo>
                  <a:pt x="90773" y="568166"/>
                  <a:pt x="102679" y="556355"/>
                  <a:pt x="117157" y="556355"/>
                </a:cubicBezTo>
                <a:close/>
                <a:moveTo>
                  <a:pt x="208502" y="555784"/>
                </a:moveTo>
                <a:cubicBezTo>
                  <a:pt x="223456" y="555784"/>
                  <a:pt x="235553" y="567881"/>
                  <a:pt x="235458" y="582740"/>
                </a:cubicBezTo>
                <a:cubicBezTo>
                  <a:pt x="235458" y="597599"/>
                  <a:pt x="223361" y="609695"/>
                  <a:pt x="208502" y="609695"/>
                </a:cubicBezTo>
                <a:cubicBezTo>
                  <a:pt x="193643" y="609695"/>
                  <a:pt x="181546" y="597599"/>
                  <a:pt x="181546" y="582740"/>
                </a:cubicBezTo>
                <a:cubicBezTo>
                  <a:pt x="181546" y="567881"/>
                  <a:pt x="193643" y="555784"/>
                  <a:pt x="208502" y="555784"/>
                </a:cubicBezTo>
                <a:close/>
                <a:moveTo>
                  <a:pt x="299942" y="555117"/>
                </a:moveTo>
                <a:cubicBezTo>
                  <a:pt x="315182" y="555117"/>
                  <a:pt x="327564" y="567499"/>
                  <a:pt x="327564" y="582739"/>
                </a:cubicBezTo>
                <a:cubicBezTo>
                  <a:pt x="327564" y="597980"/>
                  <a:pt x="315182" y="610362"/>
                  <a:pt x="299942" y="610362"/>
                </a:cubicBezTo>
                <a:cubicBezTo>
                  <a:pt x="284702" y="610362"/>
                  <a:pt x="272319" y="597980"/>
                  <a:pt x="272319" y="582739"/>
                </a:cubicBezTo>
                <a:cubicBezTo>
                  <a:pt x="272319" y="567499"/>
                  <a:pt x="284702" y="555117"/>
                  <a:pt x="299942" y="555117"/>
                </a:cubicBezTo>
                <a:close/>
                <a:moveTo>
                  <a:pt x="391382" y="554450"/>
                </a:moveTo>
                <a:cubicBezTo>
                  <a:pt x="407003" y="554450"/>
                  <a:pt x="419672" y="567118"/>
                  <a:pt x="419672" y="582739"/>
                </a:cubicBezTo>
                <a:cubicBezTo>
                  <a:pt x="419672" y="598360"/>
                  <a:pt x="407003" y="611029"/>
                  <a:pt x="391382" y="611029"/>
                </a:cubicBezTo>
                <a:cubicBezTo>
                  <a:pt x="375761" y="611029"/>
                  <a:pt x="363093" y="598360"/>
                  <a:pt x="363093" y="582739"/>
                </a:cubicBezTo>
                <a:cubicBezTo>
                  <a:pt x="363093" y="567118"/>
                  <a:pt x="375761" y="554450"/>
                  <a:pt x="391382" y="554450"/>
                </a:cubicBezTo>
                <a:close/>
                <a:moveTo>
                  <a:pt x="208502" y="444722"/>
                </a:moveTo>
                <a:cubicBezTo>
                  <a:pt x="223456" y="444722"/>
                  <a:pt x="235553" y="456819"/>
                  <a:pt x="235458" y="471678"/>
                </a:cubicBezTo>
                <a:cubicBezTo>
                  <a:pt x="235458" y="486537"/>
                  <a:pt x="223361" y="498634"/>
                  <a:pt x="208502" y="498634"/>
                </a:cubicBezTo>
                <a:cubicBezTo>
                  <a:pt x="193643" y="498634"/>
                  <a:pt x="181546" y="486537"/>
                  <a:pt x="181546" y="471678"/>
                </a:cubicBezTo>
                <a:cubicBezTo>
                  <a:pt x="181546" y="456819"/>
                  <a:pt x="193643" y="444722"/>
                  <a:pt x="208502" y="444722"/>
                </a:cubicBezTo>
                <a:close/>
                <a:moveTo>
                  <a:pt x="299942" y="444055"/>
                </a:moveTo>
                <a:cubicBezTo>
                  <a:pt x="315182" y="444055"/>
                  <a:pt x="327564" y="456437"/>
                  <a:pt x="327564" y="471678"/>
                </a:cubicBezTo>
                <a:cubicBezTo>
                  <a:pt x="327564" y="486918"/>
                  <a:pt x="315182" y="499300"/>
                  <a:pt x="299942" y="499300"/>
                </a:cubicBezTo>
                <a:cubicBezTo>
                  <a:pt x="284702" y="499300"/>
                  <a:pt x="272319" y="486918"/>
                  <a:pt x="272319" y="471678"/>
                </a:cubicBezTo>
                <a:cubicBezTo>
                  <a:pt x="272319" y="456437"/>
                  <a:pt x="284702" y="444055"/>
                  <a:pt x="299942" y="444055"/>
                </a:cubicBezTo>
                <a:close/>
                <a:moveTo>
                  <a:pt x="391382" y="443389"/>
                </a:moveTo>
                <a:cubicBezTo>
                  <a:pt x="407003" y="443389"/>
                  <a:pt x="419672" y="456153"/>
                  <a:pt x="419672" y="471678"/>
                </a:cubicBezTo>
                <a:cubicBezTo>
                  <a:pt x="419672" y="487299"/>
                  <a:pt x="407003" y="499968"/>
                  <a:pt x="391382" y="499968"/>
                </a:cubicBezTo>
                <a:cubicBezTo>
                  <a:pt x="375761" y="499968"/>
                  <a:pt x="363093" y="487299"/>
                  <a:pt x="363093" y="471678"/>
                </a:cubicBezTo>
                <a:cubicBezTo>
                  <a:pt x="363093" y="456057"/>
                  <a:pt x="375761" y="443389"/>
                  <a:pt x="391382" y="443389"/>
                </a:cubicBezTo>
                <a:close/>
                <a:moveTo>
                  <a:pt x="482822" y="442817"/>
                </a:moveTo>
                <a:cubicBezTo>
                  <a:pt x="498729" y="442817"/>
                  <a:pt x="511778" y="455771"/>
                  <a:pt x="511778" y="471773"/>
                </a:cubicBezTo>
                <a:cubicBezTo>
                  <a:pt x="511778" y="487775"/>
                  <a:pt x="498824" y="500729"/>
                  <a:pt x="482822" y="500729"/>
                </a:cubicBezTo>
                <a:cubicBezTo>
                  <a:pt x="466820" y="500729"/>
                  <a:pt x="453866" y="487775"/>
                  <a:pt x="453866" y="471773"/>
                </a:cubicBezTo>
                <a:cubicBezTo>
                  <a:pt x="453866" y="455771"/>
                  <a:pt x="466820" y="442817"/>
                  <a:pt x="482822" y="442817"/>
                </a:cubicBezTo>
                <a:close/>
                <a:moveTo>
                  <a:pt x="299942" y="333089"/>
                </a:moveTo>
                <a:cubicBezTo>
                  <a:pt x="315182" y="333089"/>
                  <a:pt x="327564" y="345472"/>
                  <a:pt x="327564" y="360712"/>
                </a:cubicBezTo>
                <a:cubicBezTo>
                  <a:pt x="327564" y="375952"/>
                  <a:pt x="315182" y="388334"/>
                  <a:pt x="299942" y="388334"/>
                </a:cubicBezTo>
                <a:cubicBezTo>
                  <a:pt x="284702" y="388334"/>
                  <a:pt x="272319" y="375952"/>
                  <a:pt x="272319" y="360712"/>
                </a:cubicBezTo>
                <a:cubicBezTo>
                  <a:pt x="272319" y="345472"/>
                  <a:pt x="284702" y="333089"/>
                  <a:pt x="299942" y="333089"/>
                </a:cubicBezTo>
                <a:close/>
                <a:moveTo>
                  <a:pt x="391382" y="332422"/>
                </a:moveTo>
                <a:cubicBezTo>
                  <a:pt x="407003" y="332422"/>
                  <a:pt x="419672" y="345090"/>
                  <a:pt x="419672" y="360711"/>
                </a:cubicBezTo>
                <a:cubicBezTo>
                  <a:pt x="419672" y="376332"/>
                  <a:pt x="407003" y="389001"/>
                  <a:pt x="391382" y="389001"/>
                </a:cubicBezTo>
                <a:cubicBezTo>
                  <a:pt x="375761" y="389001"/>
                  <a:pt x="363093" y="376332"/>
                  <a:pt x="363093" y="360711"/>
                </a:cubicBezTo>
                <a:cubicBezTo>
                  <a:pt x="363093" y="345090"/>
                  <a:pt x="375761" y="332422"/>
                  <a:pt x="391382" y="332422"/>
                </a:cubicBezTo>
                <a:close/>
                <a:moveTo>
                  <a:pt x="482822" y="331755"/>
                </a:moveTo>
                <a:cubicBezTo>
                  <a:pt x="498729" y="331755"/>
                  <a:pt x="511778" y="344709"/>
                  <a:pt x="511778" y="360711"/>
                </a:cubicBezTo>
                <a:cubicBezTo>
                  <a:pt x="511778" y="376713"/>
                  <a:pt x="498824" y="389667"/>
                  <a:pt x="482822" y="389667"/>
                </a:cubicBezTo>
                <a:cubicBezTo>
                  <a:pt x="466820" y="389667"/>
                  <a:pt x="453866" y="376713"/>
                  <a:pt x="453866" y="360711"/>
                </a:cubicBezTo>
                <a:cubicBezTo>
                  <a:pt x="453866" y="344709"/>
                  <a:pt x="466820" y="331755"/>
                  <a:pt x="482822" y="331755"/>
                </a:cubicBezTo>
                <a:close/>
                <a:moveTo>
                  <a:pt x="574262" y="331089"/>
                </a:moveTo>
                <a:cubicBezTo>
                  <a:pt x="590549" y="331089"/>
                  <a:pt x="603789" y="344424"/>
                  <a:pt x="603885" y="360712"/>
                </a:cubicBezTo>
                <a:cubicBezTo>
                  <a:pt x="603885" y="377095"/>
                  <a:pt x="590549" y="390335"/>
                  <a:pt x="574262" y="390335"/>
                </a:cubicBezTo>
                <a:cubicBezTo>
                  <a:pt x="557879" y="390335"/>
                  <a:pt x="544639" y="376999"/>
                  <a:pt x="544639" y="360712"/>
                </a:cubicBezTo>
                <a:cubicBezTo>
                  <a:pt x="544639" y="344329"/>
                  <a:pt x="557974" y="331089"/>
                  <a:pt x="574262" y="331089"/>
                </a:cubicBezTo>
                <a:close/>
                <a:moveTo>
                  <a:pt x="208502" y="222694"/>
                </a:moveTo>
                <a:cubicBezTo>
                  <a:pt x="223456" y="222694"/>
                  <a:pt x="235553" y="234791"/>
                  <a:pt x="235458" y="249650"/>
                </a:cubicBezTo>
                <a:cubicBezTo>
                  <a:pt x="235458" y="264509"/>
                  <a:pt x="223361" y="276606"/>
                  <a:pt x="208502" y="276606"/>
                </a:cubicBezTo>
                <a:cubicBezTo>
                  <a:pt x="193643" y="276606"/>
                  <a:pt x="181546" y="264509"/>
                  <a:pt x="181546" y="249650"/>
                </a:cubicBezTo>
                <a:cubicBezTo>
                  <a:pt x="181546" y="234791"/>
                  <a:pt x="193643" y="222694"/>
                  <a:pt x="208502" y="222694"/>
                </a:cubicBezTo>
                <a:close/>
                <a:moveTo>
                  <a:pt x="299942" y="222027"/>
                </a:moveTo>
                <a:cubicBezTo>
                  <a:pt x="315182" y="222027"/>
                  <a:pt x="327564" y="234505"/>
                  <a:pt x="327564" y="249650"/>
                </a:cubicBezTo>
                <a:cubicBezTo>
                  <a:pt x="327564" y="264890"/>
                  <a:pt x="315182" y="277272"/>
                  <a:pt x="299942" y="277272"/>
                </a:cubicBezTo>
                <a:cubicBezTo>
                  <a:pt x="284702" y="277272"/>
                  <a:pt x="272319" y="264890"/>
                  <a:pt x="272319" y="249650"/>
                </a:cubicBezTo>
                <a:cubicBezTo>
                  <a:pt x="272319" y="234410"/>
                  <a:pt x="284702" y="222027"/>
                  <a:pt x="299942" y="222027"/>
                </a:cubicBezTo>
                <a:close/>
                <a:moveTo>
                  <a:pt x="391382" y="221361"/>
                </a:moveTo>
                <a:cubicBezTo>
                  <a:pt x="407003" y="221361"/>
                  <a:pt x="419672" y="234125"/>
                  <a:pt x="419672" y="249650"/>
                </a:cubicBezTo>
                <a:cubicBezTo>
                  <a:pt x="419672" y="265271"/>
                  <a:pt x="407003" y="277940"/>
                  <a:pt x="391382" y="277940"/>
                </a:cubicBezTo>
                <a:cubicBezTo>
                  <a:pt x="375761" y="277940"/>
                  <a:pt x="363093" y="265271"/>
                  <a:pt x="363093" y="249650"/>
                </a:cubicBezTo>
                <a:cubicBezTo>
                  <a:pt x="363093" y="234029"/>
                  <a:pt x="375761" y="221361"/>
                  <a:pt x="391382" y="221361"/>
                </a:cubicBezTo>
                <a:close/>
                <a:moveTo>
                  <a:pt x="482822" y="220789"/>
                </a:moveTo>
                <a:cubicBezTo>
                  <a:pt x="498729" y="220789"/>
                  <a:pt x="511778" y="233743"/>
                  <a:pt x="511778" y="249745"/>
                </a:cubicBezTo>
                <a:cubicBezTo>
                  <a:pt x="511778" y="265747"/>
                  <a:pt x="498824" y="278701"/>
                  <a:pt x="482822" y="278701"/>
                </a:cubicBezTo>
                <a:cubicBezTo>
                  <a:pt x="466820" y="278701"/>
                  <a:pt x="453866" y="265747"/>
                  <a:pt x="453866" y="249745"/>
                </a:cubicBezTo>
                <a:cubicBezTo>
                  <a:pt x="453866" y="233743"/>
                  <a:pt x="466820" y="220789"/>
                  <a:pt x="482822" y="220789"/>
                </a:cubicBezTo>
                <a:close/>
                <a:moveTo>
                  <a:pt x="117157" y="112395"/>
                </a:moveTo>
                <a:cubicBezTo>
                  <a:pt x="131635" y="112395"/>
                  <a:pt x="143446" y="124206"/>
                  <a:pt x="143446" y="138684"/>
                </a:cubicBezTo>
                <a:cubicBezTo>
                  <a:pt x="143446" y="153257"/>
                  <a:pt x="131635" y="165068"/>
                  <a:pt x="117157" y="165068"/>
                </a:cubicBezTo>
                <a:cubicBezTo>
                  <a:pt x="102584" y="165068"/>
                  <a:pt x="90773" y="153162"/>
                  <a:pt x="90773" y="138684"/>
                </a:cubicBezTo>
                <a:cubicBezTo>
                  <a:pt x="90773" y="124206"/>
                  <a:pt x="102679" y="112395"/>
                  <a:pt x="117157" y="112395"/>
                </a:cubicBezTo>
                <a:close/>
                <a:moveTo>
                  <a:pt x="208502" y="111728"/>
                </a:moveTo>
                <a:cubicBezTo>
                  <a:pt x="223456" y="111728"/>
                  <a:pt x="235553" y="123825"/>
                  <a:pt x="235458" y="138684"/>
                </a:cubicBezTo>
                <a:cubicBezTo>
                  <a:pt x="235458" y="153543"/>
                  <a:pt x="223361" y="165640"/>
                  <a:pt x="208502" y="165640"/>
                </a:cubicBezTo>
                <a:cubicBezTo>
                  <a:pt x="193643" y="165640"/>
                  <a:pt x="181546" y="153543"/>
                  <a:pt x="181546" y="138684"/>
                </a:cubicBezTo>
                <a:cubicBezTo>
                  <a:pt x="181546" y="123825"/>
                  <a:pt x="193643" y="111728"/>
                  <a:pt x="208502" y="111728"/>
                </a:cubicBezTo>
                <a:close/>
                <a:moveTo>
                  <a:pt x="299942" y="111061"/>
                </a:moveTo>
                <a:cubicBezTo>
                  <a:pt x="315182" y="111061"/>
                  <a:pt x="327564" y="123443"/>
                  <a:pt x="327564" y="138683"/>
                </a:cubicBezTo>
                <a:cubicBezTo>
                  <a:pt x="327564" y="153924"/>
                  <a:pt x="315182" y="166306"/>
                  <a:pt x="299942" y="166306"/>
                </a:cubicBezTo>
                <a:cubicBezTo>
                  <a:pt x="284702" y="166306"/>
                  <a:pt x="272319" y="153924"/>
                  <a:pt x="272319" y="138683"/>
                </a:cubicBezTo>
                <a:cubicBezTo>
                  <a:pt x="272319" y="123443"/>
                  <a:pt x="284702" y="111061"/>
                  <a:pt x="299942" y="111061"/>
                </a:cubicBezTo>
                <a:close/>
                <a:moveTo>
                  <a:pt x="391382" y="110394"/>
                </a:moveTo>
                <a:cubicBezTo>
                  <a:pt x="407003" y="110394"/>
                  <a:pt x="419672" y="123062"/>
                  <a:pt x="419672" y="138683"/>
                </a:cubicBezTo>
                <a:cubicBezTo>
                  <a:pt x="419672" y="154304"/>
                  <a:pt x="407003" y="166973"/>
                  <a:pt x="391382" y="166973"/>
                </a:cubicBezTo>
                <a:cubicBezTo>
                  <a:pt x="375761" y="166973"/>
                  <a:pt x="363093" y="154304"/>
                  <a:pt x="363093" y="138683"/>
                </a:cubicBezTo>
                <a:cubicBezTo>
                  <a:pt x="363093" y="123062"/>
                  <a:pt x="375761" y="110394"/>
                  <a:pt x="391382" y="110394"/>
                </a:cubicBezTo>
                <a:close/>
                <a:moveTo>
                  <a:pt x="25717" y="2000"/>
                </a:moveTo>
                <a:cubicBezTo>
                  <a:pt x="39910" y="2000"/>
                  <a:pt x="51435" y="13525"/>
                  <a:pt x="51435" y="27717"/>
                </a:cubicBezTo>
                <a:cubicBezTo>
                  <a:pt x="51435" y="41910"/>
                  <a:pt x="39910" y="53435"/>
                  <a:pt x="25717" y="53435"/>
                </a:cubicBezTo>
                <a:cubicBezTo>
                  <a:pt x="11525" y="53435"/>
                  <a:pt x="0" y="41910"/>
                  <a:pt x="0" y="27717"/>
                </a:cubicBezTo>
                <a:cubicBezTo>
                  <a:pt x="0" y="13525"/>
                  <a:pt x="11525" y="2000"/>
                  <a:pt x="25717" y="2000"/>
                </a:cubicBezTo>
                <a:close/>
                <a:moveTo>
                  <a:pt x="117157" y="1333"/>
                </a:moveTo>
                <a:cubicBezTo>
                  <a:pt x="131635" y="1333"/>
                  <a:pt x="143446" y="13144"/>
                  <a:pt x="143446" y="27622"/>
                </a:cubicBezTo>
                <a:cubicBezTo>
                  <a:pt x="143446" y="42195"/>
                  <a:pt x="131635" y="54006"/>
                  <a:pt x="117157" y="54006"/>
                </a:cubicBezTo>
                <a:cubicBezTo>
                  <a:pt x="102584" y="54006"/>
                  <a:pt x="90773" y="42100"/>
                  <a:pt x="90773" y="27622"/>
                </a:cubicBezTo>
                <a:cubicBezTo>
                  <a:pt x="90773" y="13144"/>
                  <a:pt x="102679" y="1333"/>
                  <a:pt x="117157" y="1333"/>
                </a:cubicBezTo>
                <a:close/>
                <a:moveTo>
                  <a:pt x="208502" y="666"/>
                </a:moveTo>
                <a:cubicBezTo>
                  <a:pt x="223456" y="666"/>
                  <a:pt x="235553" y="12763"/>
                  <a:pt x="235458" y="27622"/>
                </a:cubicBezTo>
                <a:cubicBezTo>
                  <a:pt x="235458" y="42481"/>
                  <a:pt x="223361" y="54578"/>
                  <a:pt x="208502" y="54578"/>
                </a:cubicBezTo>
                <a:cubicBezTo>
                  <a:pt x="193643" y="54578"/>
                  <a:pt x="181546" y="42481"/>
                  <a:pt x="181546" y="27622"/>
                </a:cubicBezTo>
                <a:cubicBezTo>
                  <a:pt x="181546" y="12763"/>
                  <a:pt x="193643" y="666"/>
                  <a:pt x="208502" y="666"/>
                </a:cubicBezTo>
                <a:close/>
                <a:moveTo>
                  <a:pt x="299942" y="0"/>
                </a:moveTo>
                <a:cubicBezTo>
                  <a:pt x="315182" y="0"/>
                  <a:pt x="327564" y="12478"/>
                  <a:pt x="327564" y="27622"/>
                </a:cubicBezTo>
                <a:cubicBezTo>
                  <a:pt x="327564" y="42862"/>
                  <a:pt x="315182" y="55245"/>
                  <a:pt x="299942" y="55245"/>
                </a:cubicBezTo>
                <a:cubicBezTo>
                  <a:pt x="284702" y="55245"/>
                  <a:pt x="272319" y="42862"/>
                  <a:pt x="272319" y="27622"/>
                </a:cubicBezTo>
                <a:cubicBezTo>
                  <a:pt x="272319" y="12383"/>
                  <a:pt x="284702" y="0"/>
                  <a:pt x="299942" y="0"/>
                </a:cubicBezTo>
                <a:close/>
              </a:path>
            </a:pathLst>
          </a:custGeom>
          <a:gradFill>
            <a:gsLst>
              <a:gs pos="68000">
                <a:schemeClr val="accent1"/>
              </a:gs>
              <a:gs pos="0">
                <a:schemeClr val="accent1">
                  <a:lumMod val="70000"/>
                  <a:lumOff val="30000"/>
                  <a:alpha val="0"/>
                </a:schemeClr>
              </a:gs>
            </a:gsLst>
            <a:lin ang="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17" name="熊大的PPT宝库73"/>
          <p:cNvSpPr/>
          <p:nvPr/>
        </p:nvSpPr>
        <p:spPr>
          <a:xfrm rot="16200000">
            <a:off x="9671049" y="2559210"/>
            <a:ext cx="193370" cy="261206"/>
          </a:xfrm>
          <a:custGeom>
            <a:avLst/>
            <a:gdLst>
              <a:gd name="connsiteX0" fmla="*/ 30289 w 705136"/>
              <a:gd name="connsiteY0" fmla="*/ 890016 h 952499"/>
              <a:gd name="connsiteX1" fmla="*/ 60579 w 705136"/>
              <a:gd name="connsiteY1" fmla="*/ 920306 h 952499"/>
              <a:gd name="connsiteX2" fmla="*/ 30289 w 705136"/>
              <a:gd name="connsiteY2" fmla="*/ 950595 h 952499"/>
              <a:gd name="connsiteX3" fmla="*/ 0 w 705136"/>
              <a:gd name="connsiteY3" fmla="*/ 920306 h 952499"/>
              <a:gd name="connsiteX4" fmla="*/ 30289 w 705136"/>
              <a:gd name="connsiteY4" fmla="*/ 890016 h 952499"/>
              <a:gd name="connsiteX5" fmla="*/ 121730 w 705136"/>
              <a:gd name="connsiteY5" fmla="*/ 889349 h 952499"/>
              <a:gd name="connsiteX6" fmla="*/ 152591 w 705136"/>
              <a:gd name="connsiteY6" fmla="*/ 920210 h 952499"/>
              <a:gd name="connsiteX7" fmla="*/ 121730 w 705136"/>
              <a:gd name="connsiteY7" fmla="*/ 951166 h 952499"/>
              <a:gd name="connsiteX8" fmla="*/ 90774 w 705136"/>
              <a:gd name="connsiteY8" fmla="*/ 920210 h 952499"/>
              <a:gd name="connsiteX9" fmla="*/ 121730 w 705136"/>
              <a:gd name="connsiteY9" fmla="*/ 889349 h 952499"/>
              <a:gd name="connsiteX10" fmla="*/ 213170 w 705136"/>
              <a:gd name="connsiteY10" fmla="*/ 888682 h 952499"/>
              <a:gd name="connsiteX11" fmla="*/ 244697 w 705136"/>
              <a:gd name="connsiteY11" fmla="*/ 920210 h 952499"/>
              <a:gd name="connsiteX12" fmla="*/ 213170 w 705136"/>
              <a:gd name="connsiteY12" fmla="*/ 951737 h 952499"/>
              <a:gd name="connsiteX13" fmla="*/ 181642 w 705136"/>
              <a:gd name="connsiteY13" fmla="*/ 920210 h 952499"/>
              <a:gd name="connsiteX14" fmla="*/ 213170 w 705136"/>
              <a:gd name="connsiteY14" fmla="*/ 888682 h 952499"/>
              <a:gd name="connsiteX15" fmla="*/ 304610 w 705136"/>
              <a:gd name="connsiteY15" fmla="*/ 888110 h 952499"/>
              <a:gd name="connsiteX16" fmla="*/ 336804 w 705136"/>
              <a:gd name="connsiteY16" fmla="*/ 920305 h 952499"/>
              <a:gd name="connsiteX17" fmla="*/ 304610 w 705136"/>
              <a:gd name="connsiteY17" fmla="*/ 952499 h 952499"/>
              <a:gd name="connsiteX18" fmla="*/ 272415 w 705136"/>
              <a:gd name="connsiteY18" fmla="*/ 920305 h 952499"/>
              <a:gd name="connsiteX19" fmla="*/ 304610 w 705136"/>
              <a:gd name="connsiteY19" fmla="*/ 888110 h 952499"/>
              <a:gd name="connsiteX20" fmla="*/ 121730 w 705136"/>
              <a:gd name="connsiteY20" fmla="*/ 778383 h 952499"/>
              <a:gd name="connsiteX21" fmla="*/ 152591 w 705136"/>
              <a:gd name="connsiteY21" fmla="*/ 809244 h 952499"/>
              <a:gd name="connsiteX22" fmla="*/ 121730 w 705136"/>
              <a:gd name="connsiteY22" fmla="*/ 840200 h 952499"/>
              <a:gd name="connsiteX23" fmla="*/ 90774 w 705136"/>
              <a:gd name="connsiteY23" fmla="*/ 809244 h 952499"/>
              <a:gd name="connsiteX24" fmla="*/ 121730 w 705136"/>
              <a:gd name="connsiteY24" fmla="*/ 778383 h 952499"/>
              <a:gd name="connsiteX25" fmla="*/ 213170 w 705136"/>
              <a:gd name="connsiteY25" fmla="*/ 777716 h 952499"/>
              <a:gd name="connsiteX26" fmla="*/ 244697 w 705136"/>
              <a:gd name="connsiteY26" fmla="*/ 809244 h 952499"/>
              <a:gd name="connsiteX27" fmla="*/ 213170 w 705136"/>
              <a:gd name="connsiteY27" fmla="*/ 840771 h 952499"/>
              <a:gd name="connsiteX28" fmla="*/ 181642 w 705136"/>
              <a:gd name="connsiteY28" fmla="*/ 809244 h 952499"/>
              <a:gd name="connsiteX29" fmla="*/ 213170 w 705136"/>
              <a:gd name="connsiteY29" fmla="*/ 777716 h 952499"/>
              <a:gd name="connsiteX30" fmla="*/ 304610 w 705136"/>
              <a:gd name="connsiteY30" fmla="*/ 777049 h 952499"/>
              <a:gd name="connsiteX31" fmla="*/ 336804 w 705136"/>
              <a:gd name="connsiteY31" fmla="*/ 809243 h 952499"/>
              <a:gd name="connsiteX32" fmla="*/ 304610 w 705136"/>
              <a:gd name="connsiteY32" fmla="*/ 841438 h 952499"/>
              <a:gd name="connsiteX33" fmla="*/ 272415 w 705136"/>
              <a:gd name="connsiteY33" fmla="*/ 809243 h 952499"/>
              <a:gd name="connsiteX34" fmla="*/ 304610 w 705136"/>
              <a:gd name="connsiteY34" fmla="*/ 777049 h 952499"/>
              <a:gd name="connsiteX35" fmla="*/ 396049 w 705136"/>
              <a:gd name="connsiteY35" fmla="*/ 776382 h 952499"/>
              <a:gd name="connsiteX36" fmla="*/ 428911 w 705136"/>
              <a:gd name="connsiteY36" fmla="*/ 809243 h 952499"/>
              <a:gd name="connsiteX37" fmla="*/ 396049 w 705136"/>
              <a:gd name="connsiteY37" fmla="*/ 842105 h 952499"/>
              <a:gd name="connsiteX38" fmla="*/ 363188 w 705136"/>
              <a:gd name="connsiteY38" fmla="*/ 809243 h 952499"/>
              <a:gd name="connsiteX39" fmla="*/ 396049 w 705136"/>
              <a:gd name="connsiteY39" fmla="*/ 776382 h 952499"/>
              <a:gd name="connsiteX40" fmla="*/ 213170 w 705136"/>
              <a:gd name="connsiteY40" fmla="*/ 666750 h 952499"/>
              <a:gd name="connsiteX41" fmla="*/ 244697 w 705136"/>
              <a:gd name="connsiteY41" fmla="*/ 698278 h 952499"/>
              <a:gd name="connsiteX42" fmla="*/ 213170 w 705136"/>
              <a:gd name="connsiteY42" fmla="*/ 729806 h 952499"/>
              <a:gd name="connsiteX43" fmla="*/ 181642 w 705136"/>
              <a:gd name="connsiteY43" fmla="*/ 698278 h 952499"/>
              <a:gd name="connsiteX44" fmla="*/ 213170 w 705136"/>
              <a:gd name="connsiteY44" fmla="*/ 666750 h 952499"/>
              <a:gd name="connsiteX45" fmla="*/ 304610 w 705136"/>
              <a:gd name="connsiteY45" fmla="*/ 666083 h 952499"/>
              <a:gd name="connsiteX46" fmla="*/ 336804 w 705136"/>
              <a:gd name="connsiteY46" fmla="*/ 698277 h 952499"/>
              <a:gd name="connsiteX47" fmla="*/ 304610 w 705136"/>
              <a:gd name="connsiteY47" fmla="*/ 730472 h 952499"/>
              <a:gd name="connsiteX48" fmla="*/ 272415 w 705136"/>
              <a:gd name="connsiteY48" fmla="*/ 698277 h 952499"/>
              <a:gd name="connsiteX49" fmla="*/ 304610 w 705136"/>
              <a:gd name="connsiteY49" fmla="*/ 666083 h 952499"/>
              <a:gd name="connsiteX50" fmla="*/ 396049 w 705136"/>
              <a:gd name="connsiteY50" fmla="*/ 665416 h 952499"/>
              <a:gd name="connsiteX51" fmla="*/ 428911 w 705136"/>
              <a:gd name="connsiteY51" fmla="*/ 698277 h 952499"/>
              <a:gd name="connsiteX52" fmla="*/ 396049 w 705136"/>
              <a:gd name="connsiteY52" fmla="*/ 731139 h 952499"/>
              <a:gd name="connsiteX53" fmla="*/ 363188 w 705136"/>
              <a:gd name="connsiteY53" fmla="*/ 698277 h 952499"/>
              <a:gd name="connsiteX54" fmla="*/ 396049 w 705136"/>
              <a:gd name="connsiteY54" fmla="*/ 665416 h 952499"/>
              <a:gd name="connsiteX55" fmla="*/ 487394 w 705136"/>
              <a:gd name="connsiteY55" fmla="*/ 664749 h 952499"/>
              <a:gd name="connsiteX56" fmla="*/ 520922 w 705136"/>
              <a:gd name="connsiteY56" fmla="*/ 698277 h 952499"/>
              <a:gd name="connsiteX57" fmla="*/ 487394 w 705136"/>
              <a:gd name="connsiteY57" fmla="*/ 731805 h 952499"/>
              <a:gd name="connsiteX58" fmla="*/ 453866 w 705136"/>
              <a:gd name="connsiteY58" fmla="*/ 698277 h 952499"/>
              <a:gd name="connsiteX59" fmla="*/ 487394 w 705136"/>
              <a:gd name="connsiteY59" fmla="*/ 664749 h 952499"/>
              <a:gd name="connsiteX60" fmla="*/ 304610 w 705136"/>
              <a:gd name="connsiteY60" fmla="*/ 555021 h 952499"/>
              <a:gd name="connsiteX61" fmla="*/ 336804 w 705136"/>
              <a:gd name="connsiteY61" fmla="*/ 587216 h 952499"/>
              <a:gd name="connsiteX62" fmla="*/ 304610 w 705136"/>
              <a:gd name="connsiteY62" fmla="*/ 619410 h 952499"/>
              <a:gd name="connsiteX63" fmla="*/ 272415 w 705136"/>
              <a:gd name="connsiteY63" fmla="*/ 587216 h 952499"/>
              <a:gd name="connsiteX64" fmla="*/ 304610 w 705136"/>
              <a:gd name="connsiteY64" fmla="*/ 555021 h 952499"/>
              <a:gd name="connsiteX65" fmla="*/ 396049 w 705136"/>
              <a:gd name="connsiteY65" fmla="*/ 554355 h 952499"/>
              <a:gd name="connsiteX66" fmla="*/ 428911 w 705136"/>
              <a:gd name="connsiteY66" fmla="*/ 587216 h 952499"/>
              <a:gd name="connsiteX67" fmla="*/ 396049 w 705136"/>
              <a:gd name="connsiteY67" fmla="*/ 620077 h 952499"/>
              <a:gd name="connsiteX68" fmla="*/ 363188 w 705136"/>
              <a:gd name="connsiteY68" fmla="*/ 587216 h 952499"/>
              <a:gd name="connsiteX69" fmla="*/ 396049 w 705136"/>
              <a:gd name="connsiteY69" fmla="*/ 554355 h 952499"/>
              <a:gd name="connsiteX70" fmla="*/ 487394 w 705136"/>
              <a:gd name="connsiteY70" fmla="*/ 553783 h 952499"/>
              <a:gd name="connsiteX71" fmla="*/ 520922 w 705136"/>
              <a:gd name="connsiteY71" fmla="*/ 587311 h 952499"/>
              <a:gd name="connsiteX72" fmla="*/ 487394 w 705136"/>
              <a:gd name="connsiteY72" fmla="*/ 620839 h 952499"/>
              <a:gd name="connsiteX73" fmla="*/ 453866 w 705136"/>
              <a:gd name="connsiteY73" fmla="*/ 587311 h 952499"/>
              <a:gd name="connsiteX74" fmla="*/ 487394 w 705136"/>
              <a:gd name="connsiteY74" fmla="*/ 553783 h 952499"/>
              <a:gd name="connsiteX75" fmla="*/ 578835 w 705136"/>
              <a:gd name="connsiteY75" fmla="*/ 553116 h 952499"/>
              <a:gd name="connsiteX76" fmla="*/ 613030 w 705136"/>
              <a:gd name="connsiteY76" fmla="*/ 587311 h 952499"/>
              <a:gd name="connsiteX77" fmla="*/ 578835 w 705136"/>
              <a:gd name="connsiteY77" fmla="*/ 621506 h 952499"/>
              <a:gd name="connsiteX78" fmla="*/ 544640 w 705136"/>
              <a:gd name="connsiteY78" fmla="*/ 587311 h 952499"/>
              <a:gd name="connsiteX79" fmla="*/ 578835 w 705136"/>
              <a:gd name="connsiteY79" fmla="*/ 553116 h 952499"/>
              <a:gd name="connsiteX80" fmla="*/ 396049 w 705136"/>
              <a:gd name="connsiteY80" fmla="*/ 443388 h 952499"/>
              <a:gd name="connsiteX81" fmla="*/ 428911 w 705136"/>
              <a:gd name="connsiteY81" fmla="*/ 476249 h 952499"/>
              <a:gd name="connsiteX82" fmla="*/ 396049 w 705136"/>
              <a:gd name="connsiteY82" fmla="*/ 509111 h 952499"/>
              <a:gd name="connsiteX83" fmla="*/ 363188 w 705136"/>
              <a:gd name="connsiteY83" fmla="*/ 476249 h 952499"/>
              <a:gd name="connsiteX84" fmla="*/ 396049 w 705136"/>
              <a:gd name="connsiteY84" fmla="*/ 443388 h 952499"/>
              <a:gd name="connsiteX85" fmla="*/ 487394 w 705136"/>
              <a:gd name="connsiteY85" fmla="*/ 442721 h 952499"/>
              <a:gd name="connsiteX86" fmla="*/ 520922 w 705136"/>
              <a:gd name="connsiteY86" fmla="*/ 476249 h 952499"/>
              <a:gd name="connsiteX87" fmla="*/ 487394 w 705136"/>
              <a:gd name="connsiteY87" fmla="*/ 509777 h 952499"/>
              <a:gd name="connsiteX88" fmla="*/ 453866 w 705136"/>
              <a:gd name="connsiteY88" fmla="*/ 476249 h 952499"/>
              <a:gd name="connsiteX89" fmla="*/ 487394 w 705136"/>
              <a:gd name="connsiteY89" fmla="*/ 442721 h 952499"/>
              <a:gd name="connsiteX90" fmla="*/ 578835 w 705136"/>
              <a:gd name="connsiteY90" fmla="*/ 442055 h 952499"/>
              <a:gd name="connsiteX91" fmla="*/ 613030 w 705136"/>
              <a:gd name="connsiteY91" fmla="*/ 476250 h 952499"/>
              <a:gd name="connsiteX92" fmla="*/ 578835 w 705136"/>
              <a:gd name="connsiteY92" fmla="*/ 510445 h 952499"/>
              <a:gd name="connsiteX93" fmla="*/ 544640 w 705136"/>
              <a:gd name="connsiteY93" fmla="*/ 476250 h 952499"/>
              <a:gd name="connsiteX94" fmla="*/ 578835 w 705136"/>
              <a:gd name="connsiteY94" fmla="*/ 442055 h 952499"/>
              <a:gd name="connsiteX95" fmla="*/ 670275 w 705136"/>
              <a:gd name="connsiteY95" fmla="*/ 441388 h 952499"/>
              <a:gd name="connsiteX96" fmla="*/ 705136 w 705136"/>
              <a:gd name="connsiteY96" fmla="*/ 476250 h 952499"/>
              <a:gd name="connsiteX97" fmla="*/ 670275 w 705136"/>
              <a:gd name="connsiteY97" fmla="*/ 511111 h 952499"/>
              <a:gd name="connsiteX98" fmla="*/ 635413 w 705136"/>
              <a:gd name="connsiteY98" fmla="*/ 476250 h 952499"/>
              <a:gd name="connsiteX99" fmla="*/ 670275 w 705136"/>
              <a:gd name="connsiteY99" fmla="*/ 441388 h 952499"/>
              <a:gd name="connsiteX100" fmla="*/ 304610 w 705136"/>
              <a:gd name="connsiteY100" fmla="*/ 332993 h 952499"/>
              <a:gd name="connsiteX101" fmla="*/ 336804 w 705136"/>
              <a:gd name="connsiteY101" fmla="*/ 365188 h 952499"/>
              <a:gd name="connsiteX102" fmla="*/ 304610 w 705136"/>
              <a:gd name="connsiteY102" fmla="*/ 397382 h 952499"/>
              <a:gd name="connsiteX103" fmla="*/ 272415 w 705136"/>
              <a:gd name="connsiteY103" fmla="*/ 365188 h 952499"/>
              <a:gd name="connsiteX104" fmla="*/ 304610 w 705136"/>
              <a:gd name="connsiteY104" fmla="*/ 332993 h 952499"/>
              <a:gd name="connsiteX105" fmla="*/ 396049 w 705136"/>
              <a:gd name="connsiteY105" fmla="*/ 332327 h 952499"/>
              <a:gd name="connsiteX106" fmla="*/ 428911 w 705136"/>
              <a:gd name="connsiteY106" fmla="*/ 365188 h 952499"/>
              <a:gd name="connsiteX107" fmla="*/ 396049 w 705136"/>
              <a:gd name="connsiteY107" fmla="*/ 398050 h 952499"/>
              <a:gd name="connsiteX108" fmla="*/ 363188 w 705136"/>
              <a:gd name="connsiteY108" fmla="*/ 365188 h 952499"/>
              <a:gd name="connsiteX109" fmla="*/ 396049 w 705136"/>
              <a:gd name="connsiteY109" fmla="*/ 332327 h 952499"/>
              <a:gd name="connsiteX110" fmla="*/ 487394 w 705136"/>
              <a:gd name="connsiteY110" fmla="*/ 331755 h 952499"/>
              <a:gd name="connsiteX111" fmla="*/ 520922 w 705136"/>
              <a:gd name="connsiteY111" fmla="*/ 365283 h 952499"/>
              <a:gd name="connsiteX112" fmla="*/ 487394 w 705136"/>
              <a:gd name="connsiteY112" fmla="*/ 398811 h 952499"/>
              <a:gd name="connsiteX113" fmla="*/ 453866 w 705136"/>
              <a:gd name="connsiteY113" fmla="*/ 365283 h 952499"/>
              <a:gd name="connsiteX114" fmla="*/ 487394 w 705136"/>
              <a:gd name="connsiteY114" fmla="*/ 331755 h 952499"/>
              <a:gd name="connsiteX115" fmla="*/ 578835 w 705136"/>
              <a:gd name="connsiteY115" fmla="*/ 331088 h 952499"/>
              <a:gd name="connsiteX116" fmla="*/ 613030 w 705136"/>
              <a:gd name="connsiteY116" fmla="*/ 365283 h 952499"/>
              <a:gd name="connsiteX117" fmla="*/ 578835 w 705136"/>
              <a:gd name="connsiteY117" fmla="*/ 399478 h 952499"/>
              <a:gd name="connsiteX118" fmla="*/ 544640 w 705136"/>
              <a:gd name="connsiteY118" fmla="*/ 365283 h 952499"/>
              <a:gd name="connsiteX119" fmla="*/ 578835 w 705136"/>
              <a:gd name="connsiteY119" fmla="*/ 331088 h 952499"/>
              <a:gd name="connsiteX120" fmla="*/ 213170 w 705136"/>
              <a:gd name="connsiteY120" fmla="*/ 222694 h 952499"/>
              <a:gd name="connsiteX121" fmla="*/ 244697 w 705136"/>
              <a:gd name="connsiteY121" fmla="*/ 254222 h 952499"/>
              <a:gd name="connsiteX122" fmla="*/ 213170 w 705136"/>
              <a:gd name="connsiteY122" fmla="*/ 285750 h 952499"/>
              <a:gd name="connsiteX123" fmla="*/ 181642 w 705136"/>
              <a:gd name="connsiteY123" fmla="*/ 254222 h 952499"/>
              <a:gd name="connsiteX124" fmla="*/ 213170 w 705136"/>
              <a:gd name="connsiteY124" fmla="*/ 222694 h 952499"/>
              <a:gd name="connsiteX125" fmla="*/ 304610 w 705136"/>
              <a:gd name="connsiteY125" fmla="*/ 222027 h 952499"/>
              <a:gd name="connsiteX126" fmla="*/ 336804 w 705136"/>
              <a:gd name="connsiteY126" fmla="*/ 254222 h 952499"/>
              <a:gd name="connsiteX127" fmla="*/ 304610 w 705136"/>
              <a:gd name="connsiteY127" fmla="*/ 286416 h 952499"/>
              <a:gd name="connsiteX128" fmla="*/ 272415 w 705136"/>
              <a:gd name="connsiteY128" fmla="*/ 254222 h 952499"/>
              <a:gd name="connsiteX129" fmla="*/ 304610 w 705136"/>
              <a:gd name="connsiteY129" fmla="*/ 222027 h 952499"/>
              <a:gd name="connsiteX130" fmla="*/ 396049 w 705136"/>
              <a:gd name="connsiteY130" fmla="*/ 221360 h 952499"/>
              <a:gd name="connsiteX131" fmla="*/ 428911 w 705136"/>
              <a:gd name="connsiteY131" fmla="*/ 254221 h 952499"/>
              <a:gd name="connsiteX132" fmla="*/ 396049 w 705136"/>
              <a:gd name="connsiteY132" fmla="*/ 287083 h 952499"/>
              <a:gd name="connsiteX133" fmla="*/ 363188 w 705136"/>
              <a:gd name="connsiteY133" fmla="*/ 254221 h 952499"/>
              <a:gd name="connsiteX134" fmla="*/ 396049 w 705136"/>
              <a:gd name="connsiteY134" fmla="*/ 221360 h 952499"/>
              <a:gd name="connsiteX135" fmla="*/ 487394 w 705136"/>
              <a:gd name="connsiteY135" fmla="*/ 220694 h 952499"/>
              <a:gd name="connsiteX136" fmla="*/ 520922 w 705136"/>
              <a:gd name="connsiteY136" fmla="*/ 254222 h 952499"/>
              <a:gd name="connsiteX137" fmla="*/ 487394 w 705136"/>
              <a:gd name="connsiteY137" fmla="*/ 287750 h 952499"/>
              <a:gd name="connsiteX138" fmla="*/ 453866 w 705136"/>
              <a:gd name="connsiteY138" fmla="*/ 254222 h 952499"/>
              <a:gd name="connsiteX139" fmla="*/ 487394 w 705136"/>
              <a:gd name="connsiteY139" fmla="*/ 220694 h 952499"/>
              <a:gd name="connsiteX140" fmla="*/ 121730 w 705136"/>
              <a:gd name="connsiteY140" fmla="*/ 112299 h 952499"/>
              <a:gd name="connsiteX141" fmla="*/ 152591 w 705136"/>
              <a:gd name="connsiteY141" fmla="*/ 143160 h 952499"/>
              <a:gd name="connsiteX142" fmla="*/ 121730 w 705136"/>
              <a:gd name="connsiteY142" fmla="*/ 174116 h 952499"/>
              <a:gd name="connsiteX143" fmla="*/ 90774 w 705136"/>
              <a:gd name="connsiteY143" fmla="*/ 143160 h 952499"/>
              <a:gd name="connsiteX144" fmla="*/ 121730 w 705136"/>
              <a:gd name="connsiteY144" fmla="*/ 112299 h 952499"/>
              <a:gd name="connsiteX145" fmla="*/ 213170 w 705136"/>
              <a:gd name="connsiteY145" fmla="*/ 111633 h 952499"/>
              <a:gd name="connsiteX146" fmla="*/ 244697 w 705136"/>
              <a:gd name="connsiteY146" fmla="*/ 143161 h 952499"/>
              <a:gd name="connsiteX147" fmla="*/ 213170 w 705136"/>
              <a:gd name="connsiteY147" fmla="*/ 174689 h 952499"/>
              <a:gd name="connsiteX148" fmla="*/ 181642 w 705136"/>
              <a:gd name="connsiteY148" fmla="*/ 143161 h 952499"/>
              <a:gd name="connsiteX149" fmla="*/ 213170 w 705136"/>
              <a:gd name="connsiteY149" fmla="*/ 111633 h 952499"/>
              <a:gd name="connsiteX150" fmla="*/ 304610 w 705136"/>
              <a:gd name="connsiteY150" fmla="*/ 110966 h 952499"/>
              <a:gd name="connsiteX151" fmla="*/ 336804 w 705136"/>
              <a:gd name="connsiteY151" fmla="*/ 143161 h 952499"/>
              <a:gd name="connsiteX152" fmla="*/ 304610 w 705136"/>
              <a:gd name="connsiteY152" fmla="*/ 175355 h 952499"/>
              <a:gd name="connsiteX153" fmla="*/ 272415 w 705136"/>
              <a:gd name="connsiteY153" fmla="*/ 143161 h 952499"/>
              <a:gd name="connsiteX154" fmla="*/ 304610 w 705136"/>
              <a:gd name="connsiteY154" fmla="*/ 110966 h 952499"/>
              <a:gd name="connsiteX155" fmla="*/ 396049 w 705136"/>
              <a:gd name="connsiteY155" fmla="*/ 110394 h 952499"/>
              <a:gd name="connsiteX156" fmla="*/ 428911 w 705136"/>
              <a:gd name="connsiteY156" fmla="*/ 143255 h 952499"/>
              <a:gd name="connsiteX157" fmla="*/ 396049 w 705136"/>
              <a:gd name="connsiteY157" fmla="*/ 176117 h 952499"/>
              <a:gd name="connsiteX158" fmla="*/ 363188 w 705136"/>
              <a:gd name="connsiteY158" fmla="*/ 143255 h 952499"/>
              <a:gd name="connsiteX159" fmla="*/ 396049 w 705136"/>
              <a:gd name="connsiteY159" fmla="*/ 110394 h 952499"/>
              <a:gd name="connsiteX160" fmla="*/ 30289 w 705136"/>
              <a:gd name="connsiteY160" fmla="*/ 2000 h 952499"/>
              <a:gd name="connsiteX161" fmla="*/ 60579 w 705136"/>
              <a:gd name="connsiteY161" fmla="*/ 32290 h 952499"/>
              <a:gd name="connsiteX162" fmla="*/ 30289 w 705136"/>
              <a:gd name="connsiteY162" fmla="*/ 62579 h 952499"/>
              <a:gd name="connsiteX163" fmla="*/ 0 w 705136"/>
              <a:gd name="connsiteY163" fmla="*/ 32290 h 952499"/>
              <a:gd name="connsiteX164" fmla="*/ 30289 w 705136"/>
              <a:gd name="connsiteY164" fmla="*/ 2000 h 952499"/>
              <a:gd name="connsiteX165" fmla="*/ 121730 w 705136"/>
              <a:gd name="connsiteY165" fmla="*/ 1333 h 952499"/>
              <a:gd name="connsiteX166" fmla="*/ 152591 w 705136"/>
              <a:gd name="connsiteY166" fmla="*/ 32194 h 952499"/>
              <a:gd name="connsiteX167" fmla="*/ 121730 w 705136"/>
              <a:gd name="connsiteY167" fmla="*/ 63150 h 952499"/>
              <a:gd name="connsiteX168" fmla="*/ 90774 w 705136"/>
              <a:gd name="connsiteY168" fmla="*/ 32194 h 952499"/>
              <a:gd name="connsiteX169" fmla="*/ 121730 w 705136"/>
              <a:gd name="connsiteY169" fmla="*/ 1333 h 952499"/>
              <a:gd name="connsiteX170" fmla="*/ 213170 w 705136"/>
              <a:gd name="connsiteY170" fmla="*/ 666 h 952499"/>
              <a:gd name="connsiteX171" fmla="*/ 244697 w 705136"/>
              <a:gd name="connsiteY171" fmla="*/ 32194 h 952499"/>
              <a:gd name="connsiteX172" fmla="*/ 213170 w 705136"/>
              <a:gd name="connsiteY172" fmla="*/ 63722 h 952499"/>
              <a:gd name="connsiteX173" fmla="*/ 181642 w 705136"/>
              <a:gd name="connsiteY173" fmla="*/ 32194 h 952499"/>
              <a:gd name="connsiteX174" fmla="*/ 213170 w 705136"/>
              <a:gd name="connsiteY174" fmla="*/ 666 h 952499"/>
              <a:gd name="connsiteX175" fmla="*/ 304610 w 705136"/>
              <a:gd name="connsiteY175" fmla="*/ 0 h 952499"/>
              <a:gd name="connsiteX176" fmla="*/ 336804 w 705136"/>
              <a:gd name="connsiteY176" fmla="*/ 32195 h 952499"/>
              <a:gd name="connsiteX177" fmla="*/ 304610 w 705136"/>
              <a:gd name="connsiteY177" fmla="*/ 64389 h 952499"/>
              <a:gd name="connsiteX178" fmla="*/ 272415 w 705136"/>
              <a:gd name="connsiteY178" fmla="*/ 32195 h 952499"/>
              <a:gd name="connsiteX179" fmla="*/ 304610 w 705136"/>
              <a:gd name="connsiteY179" fmla="*/ 0 h 952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Lst>
            <a:rect l="l" t="t" r="r" b="b"/>
            <a:pathLst>
              <a:path w="705136" h="952499">
                <a:moveTo>
                  <a:pt x="30289" y="890016"/>
                </a:moveTo>
                <a:cubicBezTo>
                  <a:pt x="46958" y="890016"/>
                  <a:pt x="60579" y="903637"/>
                  <a:pt x="60579" y="920306"/>
                </a:cubicBezTo>
                <a:cubicBezTo>
                  <a:pt x="60579" y="937069"/>
                  <a:pt x="46958" y="950595"/>
                  <a:pt x="30289" y="950595"/>
                </a:cubicBezTo>
                <a:cubicBezTo>
                  <a:pt x="13621" y="950595"/>
                  <a:pt x="0" y="936974"/>
                  <a:pt x="0" y="920306"/>
                </a:cubicBezTo>
                <a:cubicBezTo>
                  <a:pt x="0" y="903541"/>
                  <a:pt x="13621" y="890016"/>
                  <a:pt x="30289" y="890016"/>
                </a:cubicBezTo>
                <a:close/>
                <a:moveTo>
                  <a:pt x="121730" y="889349"/>
                </a:moveTo>
                <a:cubicBezTo>
                  <a:pt x="138780" y="889349"/>
                  <a:pt x="152687" y="903255"/>
                  <a:pt x="152591" y="920210"/>
                </a:cubicBezTo>
                <a:cubicBezTo>
                  <a:pt x="152591" y="937260"/>
                  <a:pt x="138780" y="951166"/>
                  <a:pt x="121730" y="951166"/>
                </a:cubicBezTo>
                <a:cubicBezTo>
                  <a:pt x="104680" y="951166"/>
                  <a:pt x="90774" y="937260"/>
                  <a:pt x="90774" y="920210"/>
                </a:cubicBezTo>
                <a:cubicBezTo>
                  <a:pt x="90774" y="903255"/>
                  <a:pt x="104680" y="889349"/>
                  <a:pt x="121730" y="889349"/>
                </a:cubicBezTo>
                <a:close/>
                <a:moveTo>
                  <a:pt x="213170" y="888682"/>
                </a:moveTo>
                <a:cubicBezTo>
                  <a:pt x="230600" y="888682"/>
                  <a:pt x="244697" y="902874"/>
                  <a:pt x="244697" y="920210"/>
                </a:cubicBezTo>
                <a:cubicBezTo>
                  <a:pt x="244697" y="937545"/>
                  <a:pt x="230600" y="951737"/>
                  <a:pt x="213170" y="951737"/>
                </a:cubicBezTo>
                <a:cubicBezTo>
                  <a:pt x="195834" y="951737"/>
                  <a:pt x="181642" y="937640"/>
                  <a:pt x="181642" y="920210"/>
                </a:cubicBezTo>
                <a:cubicBezTo>
                  <a:pt x="181642" y="902874"/>
                  <a:pt x="195739" y="888682"/>
                  <a:pt x="213170" y="888682"/>
                </a:cubicBezTo>
                <a:close/>
                <a:moveTo>
                  <a:pt x="304610" y="888110"/>
                </a:moveTo>
                <a:cubicBezTo>
                  <a:pt x="322326" y="888110"/>
                  <a:pt x="336804" y="902493"/>
                  <a:pt x="336804" y="920305"/>
                </a:cubicBezTo>
                <a:cubicBezTo>
                  <a:pt x="336804" y="938021"/>
                  <a:pt x="322326" y="952499"/>
                  <a:pt x="304610" y="952499"/>
                </a:cubicBezTo>
                <a:cubicBezTo>
                  <a:pt x="286893" y="952499"/>
                  <a:pt x="272415" y="938116"/>
                  <a:pt x="272415" y="920305"/>
                </a:cubicBezTo>
                <a:cubicBezTo>
                  <a:pt x="272415" y="902588"/>
                  <a:pt x="286798" y="888110"/>
                  <a:pt x="304610" y="888110"/>
                </a:cubicBezTo>
                <a:close/>
                <a:moveTo>
                  <a:pt x="121730" y="778383"/>
                </a:moveTo>
                <a:cubicBezTo>
                  <a:pt x="138780" y="778383"/>
                  <a:pt x="152687" y="792194"/>
                  <a:pt x="152591" y="809244"/>
                </a:cubicBezTo>
                <a:cubicBezTo>
                  <a:pt x="152591" y="826294"/>
                  <a:pt x="138780" y="840200"/>
                  <a:pt x="121730" y="840200"/>
                </a:cubicBezTo>
                <a:cubicBezTo>
                  <a:pt x="104680" y="840200"/>
                  <a:pt x="90774" y="826294"/>
                  <a:pt x="90774" y="809244"/>
                </a:cubicBezTo>
                <a:cubicBezTo>
                  <a:pt x="90774" y="792289"/>
                  <a:pt x="104680" y="778383"/>
                  <a:pt x="121730" y="778383"/>
                </a:cubicBezTo>
                <a:close/>
                <a:moveTo>
                  <a:pt x="213170" y="777716"/>
                </a:moveTo>
                <a:cubicBezTo>
                  <a:pt x="230600" y="777716"/>
                  <a:pt x="244697" y="791908"/>
                  <a:pt x="244697" y="809244"/>
                </a:cubicBezTo>
                <a:cubicBezTo>
                  <a:pt x="244697" y="826579"/>
                  <a:pt x="230600" y="840771"/>
                  <a:pt x="213170" y="840771"/>
                </a:cubicBezTo>
                <a:cubicBezTo>
                  <a:pt x="195834" y="840771"/>
                  <a:pt x="181642" y="826674"/>
                  <a:pt x="181642" y="809244"/>
                </a:cubicBezTo>
                <a:cubicBezTo>
                  <a:pt x="181642" y="791908"/>
                  <a:pt x="195739" y="777716"/>
                  <a:pt x="213170" y="777716"/>
                </a:cubicBezTo>
                <a:close/>
                <a:moveTo>
                  <a:pt x="304610" y="777049"/>
                </a:moveTo>
                <a:cubicBezTo>
                  <a:pt x="322326" y="777049"/>
                  <a:pt x="336804" y="791527"/>
                  <a:pt x="336804" y="809243"/>
                </a:cubicBezTo>
                <a:cubicBezTo>
                  <a:pt x="336804" y="826960"/>
                  <a:pt x="322326" y="841438"/>
                  <a:pt x="304610" y="841438"/>
                </a:cubicBezTo>
                <a:cubicBezTo>
                  <a:pt x="286893" y="841438"/>
                  <a:pt x="272415" y="827055"/>
                  <a:pt x="272415" y="809243"/>
                </a:cubicBezTo>
                <a:cubicBezTo>
                  <a:pt x="272415" y="791527"/>
                  <a:pt x="286798" y="777049"/>
                  <a:pt x="304610" y="777049"/>
                </a:cubicBezTo>
                <a:close/>
                <a:moveTo>
                  <a:pt x="396049" y="776382"/>
                </a:moveTo>
                <a:cubicBezTo>
                  <a:pt x="414147" y="776382"/>
                  <a:pt x="428815" y="791146"/>
                  <a:pt x="428911" y="809243"/>
                </a:cubicBezTo>
                <a:cubicBezTo>
                  <a:pt x="428911" y="827341"/>
                  <a:pt x="414147" y="842105"/>
                  <a:pt x="396049" y="842105"/>
                </a:cubicBezTo>
                <a:cubicBezTo>
                  <a:pt x="377952" y="842105"/>
                  <a:pt x="363188" y="827341"/>
                  <a:pt x="363188" y="809243"/>
                </a:cubicBezTo>
                <a:cubicBezTo>
                  <a:pt x="363188" y="791146"/>
                  <a:pt x="377952" y="776382"/>
                  <a:pt x="396049" y="776382"/>
                </a:cubicBezTo>
                <a:close/>
                <a:moveTo>
                  <a:pt x="213170" y="666750"/>
                </a:moveTo>
                <a:cubicBezTo>
                  <a:pt x="230600" y="666750"/>
                  <a:pt x="244697" y="680847"/>
                  <a:pt x="244697" y="698278"/>
                </a:cubicBezTo>
                <a:cubicBezTo>
                  <a:pt x="244697" y="715613"/>
                  <a:pt x="230600" y="729806"/>
                  <a:pt x="213170" y="729806"/>
                </a:cubicBezTo>
                <a:cubicBezTo>
                  <a:pt x="195834" y="729806"/>
                  <a:pt x="181642" y="715708"/>
                  <a:pt x="181642" y="698278"/>
                </a:cubicBezTo>
                <a:cubicBezTo>
                  <a:pt x="181642" y="680942"/>
                  <a:pt x="195739" y="666750"/>
                  <a:pt x="213170" y="666750"/>
                </a:cubicBezTo>
                <a:close/>
                <a:moveTo>
                  <a:pt x="304610" y="666083"/>
                </a:moveTo>
                <a:cubicBezTo>
                  <a:pt x="322326" y="666083"/>
                  <a:pt x="336804" y="680466"/>
                  <a:pt x="336804" y="698277"/>
                </a:cubicBezTo>
                <a:cubicBezTo>
                  <a:pt x="336804" y="715994"/>
                  <a:pt x="322326" y="730472"/>
                  <a:pt x="304610" y="730472"/>
                </a:cubicBezTo>
                <a:cubicBezTo>
                  <a:pt x="286893" y="730472"/>
                  <a:pt x="272415" y="716089"/>
                  <a:pt x="272415" y="698277"/>
                </a:cubicBezTo>
                <a:cubicBezTo>
                  <a:pt x="272415" y="680561"/>
                  <a:pt x="286798" y="666083"/>
                  <a:pt x="304610" y="666083"/>
                </a:cubicBezTo>
                <a:close/>
                <a:moveTo>
                  <a:pt x="396049" y="665416"/>
                </a:moveTo>
                <a:cubicBezTo>
                  <a:pt x="414147" y="665416"/>
                  <a:pt x="428815" y="680180"/>
                  <a:pt x="428911" y="698277"/>
                </a:cubicBezTo>
                <a:cubicBezTo>
                  <a:pt x="428911" y="716375"/>
                  <a:pt x="414147" y="731139"/>
                  <a:pt x="396049" y="731139"/>
                </a:cubicBezTo>
                <a:cubicBezTo>
                  <a:pt x="377952" y="731139"/>
                  <a:pt x="363188" y="716375"/>
                  <a:pt x="363188" y="698277"/>
                </a:cubicBezTo>
                <a:cubicBezTo>
                  <a:pt x="363188" y="680180"/>
                  <a:pt x="377952" y="665416"/>
                  <a:pt x="396049" y="665416"/>
                </a:cubicBezTo>
                <a:close/>
                <a:moveTo>
                  <a:pt x="487394" y="664749"/>
                </a:moveTo>
                <a:cubicBezTo>
                  <a:pt x="505873" y="664749"/>
                  <a:pt x="520922" y="679799"/>
                  <a:pt x="520922" y="698277"/>
                </a:cubicBezTo>
                <a:cubicBezTo>
                  <a:pt x="520922" y="716755"/>
                  <a:pt x="505873" y="731805"/>
                  <a:pt x="487394" y="731805"/>
                </a:cubicBezTo>
                <a:cubicBezTo>
                  <a:pt x="468916" y="731805"/>
                  <a:pt x="453866" y="716755"/>
                  <a:pt x="453866" y="698277"/>
                </a:cubicBezTo>
                <a:cubicBezTo>
                  <a:pt x="453866" y="679799"/>
                  <a:pt x="468916" y="664749"/>
                  <a:pt x="487394" y="664749"/>
                </a:cubicBezTo>
                <a:close/>
                <a:moveTo>
                  <a:pt x="304610" y="555021"/>
                </a:moveTo>
                <a:cubicBezTo>
                  <a:pt x="322326" y="555021"/>
                  <a:pt x="336804" y="569499"/>
                  <a:pt x="336804" y="587216"/>
                </a:cubicBezTo>
                <a:cubicBezTo>
                  <a:pt x="336804" y="604932"/>
                  <a:pt x="322326" y="619410"/>
                  <a:pt x="304610" y="619410"/>
                </a:cubicBezTo>
                <a:cubicBezTo>
                  <a:pt x="286893" y="619410"/>
                  <a:pt x="272415" y="605027"/>
                  <a:pt x="272415" y="587216"/>
                </a:cubicBezTo>
                <a:cubicBezTo>
                  <a:pt x="272415" y="569499"/>
                  <a:pt x="286798" y="555021"/>
                  <a:pt x="304610" y="555021"/>
                </a:cubicBezTo>
                <a:close/>
                <a:moveTo>
                  <a:pt x="396049" y="554355"/>
                </a:moveTo>
                <a:cubicBezTo>
                  <a:pt x="414147" y="554355"/>
                  <a:pt x="428815" y="569119"/>
                  <a:pt x="428911" y="587216"/>
                </a:cubicBezTo>
                <a:cubicBezTo>
                  <a:pt x="428911" y="605314"/>
                  <a:pt x="414147" y="620077"/>
                  <a:pt x="396049" y="620077"/>
                </a:cubicBezTo>
                <a:cubicBezTo>
                  <a:pt x="377952" y="620077"/>
                  <a:pt x="363188" y="605314"/>
                  <a:pt x="363188" y="587216"/>
                </a:cubicBezTo>
                <a:cubicBezTo>
                  <a:pt x="363188" y="569119"/>
                  <a:pt x="377952" y="554355"/>
                  <a:pt x="396049" y="554355"/>
                </a:cubicBezTo>
                <a:close/>
                <a:moveTo>
                  <a:pt x="487394" y="553783"/>
                </a:moveTo>
                <a:cubicBezTo>
                  <a:pt x="505873" y="553783"/>
                  <a:pt x="520922" y="568737"/>
                  <a:pt x="520922" y="587311"/>
                </a:cubicBezTo>
                <a:cubicBezTo>
                  <a:pt x="520922" y="605789"/>
                  <a:pt x="505873" y="620839"/>
                  <a:pt x="487394" y="620839"/>
                </a:cubicBezTo>
                <a:cubicBezTo>
                  <a:pt x="468916" y="620839"/>
                  <a:pt x="453866" y="605789"/>
                  <a:pt x="453866" y="587311"/>
                </a:cubicBezTo>
                <a:cubicBezTo>
                  <a:pt x="453866" y="568833"/>
                  <a:pt x="468916" y="553783"/>
                  <a:pt x="487394" y="553783"/>
                </a:cubicBezTo>
                <a:close/>
                <a:moveTo>
                  <a:pt x="578835" y="553116"/>
                </a:moveTo>
                <a:cubicBezTo>
                  <a:pt x="597694" y="553116"/>
                  <a:pt x="613030" y="568451"/>
                  <a:pt x="613030" y="587311"/>
                </a:cubicBezTo>
                <a:cubicBezTo>
                  <a:pt x="613030" y="606170"/>
                  <a:pt x="597694" y="621506"/>
                  <a:pt x="578835" y="621506"/>
                </a:cubicBezTo>
                <a:cubicBezTo>
                  <a:pt x="559975" y="621506"/>
                  <a:pt x="544640" y="606170"/>
                  <a:pt x="544640" y="587311"/>
                </a:cubicBezTo>
                <a:cubicBezTo>
                  <a:pt x="544640" y="568451"/>
                  <a:pt x="559975" y="553116"/>
                  <a:pt x="578835" y="553116"/>
                </a:cubicBezTo>
                <a:close/>
                <a:moveTo>
                  <a:pt x="396049" y="443388"/>
                </a:moveTo>
                <a:cubicBezTo>
                  <a:pt x="414147" y="443388"/>
                  <a:pt x="428815" y="458152"/>
                  <a:pt x="428911" y="476249"/>
                </a:cubicBezTo>
                <a:cubicBezTo>
                  <a:pt x="428911" y="494347"/>
                  <a:pt x="414147" y="509111"/>
                  <a:pt x="396049" y="509111"/>
                </a:cubicBezTo>
                <a:cubicBezTo>
                  <a:pt x="377952" y="509111"/>
                  <a:pt x="363188" y="494347"/>
                  <a:pt x="363188" y="476249"/>
                </a:cubicBezTo>
                <a:cubicBezTo>
                  <a:pt x="363188" y="458152"/>
                  <a:pt x="377952" y="443388"/>
                  <a:pt x="396049" y="443388"/>
                </a:cubicBezTo>
                <a:close/>
                <a:moveTo>
                  <a:pt x="487394" y="442721"/>
                </a:moveTo>
                <a:cubicBezTo>
                  <a:pt x="505873" y="442721"/>
                  <a:pt x="520922" y="457771"/>
                  <a:pt x="520922" y="476249"/>
                </a:cubicBezTo>
                <a:cubicBezTo>
                  <a:pt x="520922" y="494727"/>
                  <a:pt x="505873" y="509777"/>
                  <a:pt x="487394" y="509777"/>
                </a:cubicBezTo>
                <a:cubicBezTo>
                  <a:pt x="468916" y="509777"/>
                  <a:pt x="453866" y="494727"/>
                  <a:pt x="453866" y="476249"/>
                </a:cubicBezTo>
                <a:cubicBezTo>
                  <a:pt x="453866" y="457771"/>
                  <a:pt x="468916" y="442721"/>
                  <a:pt x="487394" y="442721"/>
                </a:cubicBezTo>
                <a:close/>
                <a:moveTo>
                  <a:pt x="578835" y="442055"/>
                </a:moveTo>
                <a:cubicBezTo>
                  <a:pt x="597694" y="442055"/>
                  <a:pt x="613030" y="457390"/>
                  <a:pt x="613030" y="476250"/>
                </a:cubicBezTo>
                <a:cubicBezTo>
                  <a:pt x="613030" y="495109"/>
                  <a:pt x="597694" y="510445"/>
                  <a:pt x="578835" y="510445"/>
                </a:cubicBezTo>
                <a:cubicBezTo>
                  <a:pt x="559975" y="510445"/>
                  <a:pt x="544640" y="495109"/>
                  <a:pt x="544640" y="476250"/>
                </a:cubicBezTo>
                <a:cubicBezTo>
                  <a:pt x="544640" y="457390"/>
                  <a:pt x="559975" y="442055"/>
                  <a:pt x="578835" y="442055"/>
                </a:cubicBezTo>
                <a:close/>
                <a:moveTo>
                  <a:pt x="670275" y="441388"/>
                </a:moveTo>
                <a:cubicBezTo>
                  <a:pt x="689420" y="441388"/>
                  <a:pt x="705041" y="457009"/>
                  <a:pt x="705136" y="476250"/>
                </a:cubicBezTo>
                <a:cubicBezTo>
                  <a:pt x="705136" y="495490"/>
                  <a:pt x="689515" y="511111"/>
                  <a:pt x="670275" y="511111"/>
                </a:cubicBezTo>
                <a:cubicBezTo>
                  <a:pt x="651034" y="511111"/>
                  <a:pt x="635413" y="495490"/>
                  <a:pt x="635413" y="476250"/>
                </a:cubicBezTo>
                <a:cubicBezTo>
                  <a:pt x="635413" y="457009"/>
                  <a:pt x="651034" y="441388"/>
                  <a:pt x="670275" y="441388"/>
                </a:cubicBezTo>
                <a:close/>
                <a:moveTo>
                  <a:pt x="304610" y="332993"/>
                </a:moveTo>
                <a:cubicBezTo>
                  <a:pt x="322326" y="332993"/>
                  <a:pt x="336804" y="347471"/>
                  <a:pt x="336804" y="365188"/>
                </a:cubicBezTo>
                <a:cubicBezTo>
                  <a:pt x="336804" y="382904"/>
                  <a:pt x="322326" y="397382"/>
                  <a:pt x="304610" y="397382"/>
                </a:cubicBezTo>
                <a:cubicBezTo>
                  <a:pt x="286893" y="397382"/>
                  <a:pt x="272415" y="382999"/>
                  <a:pt x="272415" y="365188"/>
                </a:cubicBezTo>
                <a:cubicBezTo>
                  <a:pt x="272415" y="347471"/>
                  <a:pt x="286798" y="332993"/>
                  <a:pt x="304610" y="332993"/>
                </a:cubicBezTo>
                <a:close/>
                <a:moveTo>
                  <a:pt x="396049" y="332327"/>
                </a:moveTo>
                <a:cubicBezTo>
                  <a:pt x="414147" y="332327"/>
                  <a:pt x="428815" y="347091"/>
                  <a:pt x="428911" y="365188"/>
                </a:cubicBezTo>
                <a:cubicBezTo>
                  <a:pt x="428911" y="383286"/>
                  <a:pt x="414147" y="398050"/>
                  <a:pt x="396049" y="398050"/>
                </a:cubicBezTo>
                <a:cubicBezTo>
                  <a:pt x="377952" y="398050"/>
                  <a:pt x="363188" y="383286"/>
                  <a:pt x="363188" y="365188"/>
                </a:cubicBezTo>
                <a:cubicBezTo>
                  <a:pt x="363188" y="347091"/>
                  <a:pt x="377952" y="332327"/>
                  <a:pt x="396049" y="332327"/>
                </a:cubicBezTo>
                <a:close/>
                <a:moveTo>
                  <a:pt x="487394" y="331755"/>
                </a:moveTo>
                <a:cubicBezTo>
                  <a:pt x="505873" y="331755"/>
                  <a:pt x="520922" y="346804"/>
                  <a:pt x="520922" y="365283"/>
                </a:cubicBezTo>
                <a:cubicBezTo>
                  <a:pt x="520922" y="383761"/>
                  <a:pt x="505873" y="398811"/>
                  <a:pt x="487394" y="398811"/>
                </a:cubicBezTo>
                <a:cubicBezTo>
                  <a:pt x="468916" y="398811"/>
                  <a:pt x="453866" y="383761"/>
                  <a:pt x="453866" y="365283"/>
                </a:cubicBezTo>
                <a:cubicBezTo>
                  <a:pt x="453866" y="346804"/>
                  <a:pt x="468916" y="331755"/>
                  <a:pt x="487394" y="331755"/>
                </a:cubicBezTo>
                <a:close/>
                <a:moveTo>
                  <a:pt x="578835" y="331088"/>
                </a:moveTo>
                <a:cubicBezTo>
                  <a:pt x="597694" y="331088"/>
                  <a:pt x="613030" y="346423"/>
                  <a:pt x="613030" y="365283"/>
                </a:cubicBezTo>
                <a:cubicBezTo>
                  <a:pt x="613030" y="384142"/>
                  <a:pt x="597694" y="399478"/>
                  <a:pt x="578835" y="399478"/>
                </a:cubicBezTo>
                <a:cubicBezTo>
                  <a:pt x="559975" y="399478"/>
                  <a:pt x="544640" y="384142"/>
                  <a:pt x="544640" y="365283"/>
                </a:cubicBezTo>
                <a:cubicBezTo>
                  <a:pt x="544640" y="346423"/>
                  <a:pt x="559975" y="331088"/>
                  <a:pt x="578835" y="331088"/>
                </a:cubicBezTo>
                <a:close/>
                <a:moveTo>
                  <a:pt x="213170" y="222694"/>
                </a:moveTo>
                <a:cubicBezTo>
                  <a:pt x="230600" y="222694"/>
                  <a:pt x="244697" y="236791"/>
                  <a:pt x="244697" y="254222"/>
                </a:cubicBezTo>
                <a:cubicBezTo>
                  <a:pt x="244697" y="271557"/>
                  <a:pt x="230600" y="285750"/>
                  <a:pt x="213170" y="285750"/>
                </a:cubicBezTo>
                <a:cubicBezTo>
                  <a:pt x="195834" y="285750"/>
                  <a:pt x="181642" y="271653"/>
                  <a:pt x="181642" y="254222"/>
                </a:cubicBezTo>
                <a:cubicBezTo>
                  <a:pt x="181642" y="236886"/>
                  <a:pt x="195739" y="222694"/>
                  <a:pt x="213170" y="222694"/>
                </a:cubicBezTo>
                <a:close/>
                <a:moveTo>
                  <a:pt x="304610" y="222027"/>
                </a:moveTo>
                <a:cubicBezTo>
                  <a:pt x="322326" y="222027"/>
                  <a:pt x="336804" y="236505"/>
                  <a:pt x="336804" y="254222"/>
                </a:cubicBezTo>
                <a:cubicBezTo>
                  <a:pt x="336804" y="271938"/>
                  <a:pt x="322326" y="286416"/>
                  <a:pt x="304610" y="286416"/>
                </a:cubicBezTo>
                <a:cubicBezTo>
                  <a:pt x="286893" y="286416"/>
                  <a:pt x="272415" y="272033"/>
                  <a:pt x="272415" y="254222"/>
                </a:cubicBezTo>
                <a:cubicBezTo>
                  <a:pt x="272415" y="236505"/>
                  <a:pt x="286798" y="222027"/>
                  <a:pt x="304610" y="222027"/>
                </a:cubicBezTo>
                <a:close/>
                <a:moveTo>
                  <a:pt x="396049" y="221360"/>
                </a:moveTo>
                <a:cubicBezTo>
                  <a:pt x="414147" y="221360"/>
                  <a:pt x="428815" y="236124"/>
                  <a:pt x="428911" y="254221"/>
                </a:cubicBezTo>
                <a:cubicBezTo>
                  <a:pt x="428911" y="272319"/>
                  <a:pt x="414147" y="287083"/>
                  <a:pt x="396049" y="287083"/>
                </a:cubicBezTo>
                <a:cubicBezTo>
                  <a:pt x="377952" y="287083"/>
                  <a:pt x="363188" y="272319"/>
                  <a:pt x="363188" y="254221"/>
                </a:cubicBezTo>
                <a:cubicBezTo>
                  <a:pt x="363188" y="236124"/>
                  <a:pt x="377952" y="221360"/>
                  <a:pt x="396049" y="221360"/>
                </a:cubicBezTo>
                <a:close/>
                <a:moveTo>
                  <a:pt x="487394" y="220694"/>
                </a:moveTo>
                <a:cubicBezTo>
                  <a:pt x="505873" y="220694"/>
                  <a:pt x="520922" y="235743"/>
                  <a:pt x="520922" y="254222"/>
                </a:cubicBezTo>
                <a:cubicBezTo>
                  <a:pt x="520922" y="272700"/>
                  <a:pt x="505873" y="287750"/>
                  <a:pt x="487394" y="287750"/>
                </a:cubicBezTo>
                <a:cubicBezTo>
                  <a:pt x="468916" y="287750"/>
                  <a:pt x="453866" y="272700"/>
                  <a:pt x="453866" y="254222"/>
                </a:cubicBezTo>
                <a:cubicBezTo>
                  <a:pt x="453866" y="235743"/>
                  <a:pt x="468916" y="220694"/>
                  <a:pt x="487394" y="220694"/>
                </a:cubicBezTo>
                <a:close/>
                <a:moveTo>
                  <a:pt x="121730" y="112299"/>
                </a:moveTo>
                <a:cubicBezTo>
                  <a:pt x="138780" y="112299"/>
                  <a:pt x="152687" y="126206"/>
                  <a:pt x="152591" y="143160"/>
                </a:cubicBezTo>
                <a:cubicBezTo>
                  <a:pt x="152591" y="160210"/>
                  <a:pt x="138780" y="174116"/>
                  <a:pt x="121730" y="174116"/>
                </a:cubicBezTo>
                <a:cubicBezTo>
                  <a:pt x="104680" y="174116"/>
                  <a:pt x="90774" y="160210"/>
                  <a:pt x="90774" y="143160"/>
                </a:cubicBezTo>
                <a:cubicBezTo>
                  <a:pt x="90774" y="126206"/>
                  <a:pt x="104680" y="112299"/>
                  <a:pt x="121730" y="112299"/>
                </a:cubicBezTo>
                <a:close/>
                <a:moveTo>
                  <a:pt x="213170" y="111633"/>
                </a:moveTo>
                <a:cubicBezTo>
                  <a:pt x="230600" y="111633"/>
                  <a:pt x="244697" y="125825"/>
                  <a:pt x="244697" y="143161"/>
                </a:cubicBezTo>
                <a:cubicBezTo>
                  <a:pt x="244697" y="160496"/>
                  <a:pt x="230600" y="174689"/>
                  <a:pt x="213170" y="174689"/>
                </a:cubicBezTo>
                <a:cubicBezTo>
                  <a:pt x="195834" y="174689"/>
                  <a:pt x="181642" y="160592"/>
                  <a:pt x="181642" y="143161"/>
                </a:cubicBezTo>
                <a:cubicBezTo>
                  <a:pt x="181642" y="125825"/>
                  <a:pt x="195739" y="111633"/>
                  <a:pt x="213170" y="111633"/>
                </a:cubicBezTo>
                <a:close/>
                <a:moveTo>
                  <a:pt x="304610" y="110966"/>
                </a:moveTo>
                <a:cubicBezTo>
                  <a:pt x="322326" y="110966"/>
                  <a:pt x="336804" y="125444"/>
                  <a:pt x="336804" y="143161"/>
                </a:cubicBezTo>
                <a:cubicBezTo>
                  <a:pt x="336804" y="160877"/>
                  <a:pt x="322326" y="175355"/>
                  <a:pt x="304610" y="175355"/>
                </a:cubicBezTo>
                <a:cubicBezTo>
                  <a:pt x="286893" y="175355"/>
                  <a:pt x="272415" y="160972"/>
                  <a:pt x="272415" y="143161"/>
                </a:cubicBezTo>
                <a:cubicBezTo>
                  <a:pt x="272415" y="125444"/>
                  <a:pt x="286798" y="110966"/>
                  <a:pt x="304610" y="110966"/>
                </a:cubicBezTo>
                <a:close/>
                <a:moveTo>
                  <a:pt x="396049" y="110394"/>
                </a:moveTo>
                <a:cubicBezTo>
                  <a:pt x="414147" y="110394"/>
                  <a:pt x="428815" y="125063"/>
                  <a:pt x="428911" y="143255"/>
                </a:cubicBezTo>
                <a:cubicBezTo>
                  <a:pt x="428911" y="161353"/>
                  <a:pt x="414147" y="176117"/>
                  <a:pt x="396049" y="176117"/>
                </a:cubicBezTo>
                <a:cubicBezTo>
                  <a:pt x="377952" y="176117"/>
                  <a:pt x="363188" y="161353"/>
                  <a:pt x="363188" y="143255"/>
                </a:cubicBezTo>
                <a:cubicBezTo>
                  <a:pt x="363188" y="125158"/>
                  <a:pt x="377952" y="110394"/>
                  <a:pt x="396049" y="110394"/>
                </a:cubicBezTo>
                <a:close/>
                <a:moveTo>
                  <a:pt x="30289" y="2000"/>
                </a:moveTo>
                <a:cubicBezTo>
                  <a:pt x="46958" y="2000"/>
                  <a:pt x="60579" y="15526"/>
                  <a:pt x="60579" y="32290"/>
                </a:cubicBezTo>
                <a:cubicBezTo>
                  <a:pt x="60579" y="48958"/>
                  <a:pt x="46958" y="62579"/>
                  <a:pt x="30289" y="62579"/>
                </a:cubicBezTo>
                <a:cubicBezTo>
                  <a:pt x="13621" y="62579"/>
                  <a:pt x="0" y="48958"/>
                  <a:pt x="0" y="32290"/>
                </a:cubicBezTo>
                <a:cubicBezTo>
                  <a:pt x="0" y="15621"/>
                  <a:pt x="13621" y="2000"/>
                  <a:pt x="30289" y="2000"/>
                </a:cubicBezTo>
                <a:close/>
                <a:moveTo>
                  <a:pt x="121730" y="1333"/>
                </a:moveTo>
                <a:cubicBezTo>
                  <a:pt x="138780" y="1333"/>
                  <a:pt x="152687" y="15144"/>
                  <a:pt x="152591" y="32194"/>
                </a:cubicBezTo>
                <a:cubicBezTo>
                  <a:pt x="152591" y="49244"/>
                  <a:pt x="138780" y="63150"/>
                  <a:pt x="121730" y="63150"/>
                </a:cubicBezTo>
                <a:cubicBezTo>
                  <a:pt x="104680" y="63150"/>
                  <a:pt x="90774" y="49244"/>
                  <a:pt x="90774" y="32194"/>
                </a:cubicBezTo>
                <a:cubicBezTo>
                  <a:pt x="90774" y="15240"/>
                  <a:pt x="104680" y="1333"/>
                  <a:pt x="121730" y="1333"/>
                </a:cubicBezTo>
                <a:close/>
                <a:moveTo>
                  <a:pt x="213170" y="666"/>
                </a:moveTo>
                <a:cubicBezTo>
                  <a:pt x="230600" y="666"/>
                  <a:pt x="244697" y="14858"/>
                  <a:pt x="244697" y="32194"/>
                </a:cubicBezTo>
                <a:cubicBezTo>
                  <a:pt x="244697" y="49529"/>
                  <a:pt x="230600" y="63722"/>
                  <a:pt x="213170" y="63722"/>
                </a:cubicBezTo>
                <a:cubicBezTo>
                  <a:pt x="195834" y="63722"/>
                  <a:pt x="181642" y="49625"/>
                  <a:pt x="181642" y="32194"/>
                </a:cubicBezTo>
                <a:cubicBezTo>
                  <a:pt x="181642" y="14858"/>
                  <a:pt x="195739" y="666"/>
                  <a:pt x="213170" y="666"/>
                </a:cubicBezTo>
                <a:close/>
                <a:moveTo>
                  <a:pt x="304610" y="0"/>
                </a:moveTo>
                <a:cubicBezTo>
                  <a:pt x="322326" y="0"/>
                  <a:pt x="336804" y="14478"/>
                  <a:pt x="336804" y="32195"/>
                </a:cubicBezTo>
                <a:cubicBezTo>
                  <a:pt x="336804" y="49911"/>
                  <a:pt x="322326" y="64389"/>
                  <a:pt x="304610" y="64389"/>
                </a:cubicBezTo>
                <a:cubicBezTo>
                  <a:pt x="286893" y="64389"/>
                  <a:pt x="272415" y="50006"/>
                  <a:pt x="272415" y="32195"/>
                </a:cubicBezTo>
                <a:cubicBezTo>
                  <a:pt x="272415" y="14478"/>
                  <a:pt x="286798" y="0"/>
                  <a:pt x="304610" y="0"/>
                </a:cubicBezTo>
                <a:close/>
              </a:path>
            </a:pathLst>
          </a:custGeom>
          <a:gradFill>
            <a:gsLst>
              <a:gs pos="68000">
                <a:schemeClr val="accent1"/>
              </a:gs>
              <a:gs pos="0">
                <a:schemeClr val="accent1">
                  <a:lumMod val="70000"/>
                  <a:lumOff val="30000"/>
                  <a:alpha val="0"/>
                </a:schemeClr>
              </a:gs>
            </a:gsLst>
            <a:lin ang="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19" name="熊大的PPT宝库74"/>
          <p:cNvSpPr/>
          <p:nvPr/>
        </p:nvSpPr>
        <p:spPr>
          <a:xfrm rot="16200000">
            <a:off x="3029869" y="2725356"/>
            <a:ext cx="165604" cy="197811"/>
          </a:xfrm>
          <a:custGeom>
            <a:avLst/>
            <a:gdLst>
              <a:gd name="connsiteX0" fmla="*/ 25717 w 603885"/>
              <a:gd name="connsiteY0" fmla="*/ 668083 h 721328"/>
              <a:gd name="connsiteX1" fmla="*/ 51435 w 603885"/>
              <a:gd name="connsiteY1" fmla="*/ 693801 h 721328"/>
              <a:gd name="connsiteX2" fmla="*/ 25717 w 603885"/>
              <a:gd name="connsiteY2" fmla="*/ 719518 h 721328"/>
              <a:gd name="connsiteX3" fmla="*/ 0 w 603885"/>
              <a:gd name="connsiteY3" fmla="*/ 693801 h 721328"/>
              <a:gd name="connsiteX4" fmla="*/ 25717 w 603885"/>
              <a:gd name="connsiteY4" fmla="*/ 668083 h 721328"/>
              <a:gd name="connsiteX5" fmla="*/ 117157 w 603885"/>
              <a:gd name="connsiteY5" fmla="*/ 667416 h 721328"/>
              <a:gd name="connsiteX6" fmla="*/ 143446 w 603885"/>
              <a:gd name="connsiteY6" fmla="*/ 693705 h 721328"/>
              <a:gd name="connsiteX7" fmla="*/ 117157 w 603885"/>
              <a:gd name="connsiteY7" fmla="*/ 720089 h 721328"/>
              <a:gd name="connsiteX8" fmla="*/ 90773 w 603885"/>
              <a:gd name="connsiteY8" fmla="*/ 693705 h 721328"/>
              <a:gd name="connsiteX9" fmla="*/ 117157 w 603885"/>
              <a:gd name="connsiteY9" fmla="*/ 667416 h 721328"/>
              <a:gd name="connsiteX10" fmla="*/ 208502 w 603885"/>
              <a:gd name="connsiteY10" fmla="*/ 666750 h 721328"/>
              <a:gd name="connsiteX11" fmla="*/ 235458 w 603885"/>
              <a:gd name="connsiteY11" fmla="*/ 693706 h 721328"/>
              <a:gd name="connsiteX12" fmla="*/ 208502 w 603885"/>
              <a:gd name="connsiteY12" fmla="*/ 720662 h 721328"/>
              <a:gd name="connsiteX13" fmla="*/ 181546 w 603885"/>
              <a:gd name="connsiteY13" fmla="*/ 693706 h 721328"/>
              <a:gd name="connsiteX14" fmla="*/ 208502 w 603885"/>
              <a:gd name="connsiteY14" fmla="*/ 666750 h 721328"/>
              <a:gd name="connsiteX15" fmla="*/ 299942 w 603885"/>
              <a:gd name="connsiteY15" fmla="*/ 666083 h 721328"/>
              <a:gd name="connsiteX16" fmla="*/ 327564 w 603885"/>
              <a:gd name="connsiteY16" fmla="*/ 693706 h 721328"/>
              <a:gd name="connsiteX17" fmla="*/ 299942 w 603885"/>
              <a:gd name="connsiteY17" fmla="*/ 721328 h 721328"/>
              <a:gd name="connsiteX18" fmla="*/ 272319 w 603885"/>
              <a:gd name="connsiteY18" fmla="*/ 693706 h 721328"/>
              <a:gd name="connsiteX19" fmla="*/ 299942 w 603885"/>
              <a:gd name="connsiteY19" fmla="*/ 666083 h 721328"/>
              <a:gd name="connsiteX20" fmla="*/ 117157 w 603885"/>
              <a:gd name="connsiteY20" fmla="*/ 556355 h 721328"/>
              <a:gd name="connsiteX21" fmla="*/ 143446 w 603885"/>
              <a:gd name="connsiteY21" fmla="*/ 582644 h 721328"/>
              <a:gd name="connsiteX22" fmla="*/ 117157 w 603885"/>
              <a:gd name="connsiteY22" fmla="*/ 609028 h 721328"/>
              <a:gd name="connsiteX23" fmla="*/ 90773 w 603885"/>
              <a:gd name="connsiteY23" fmla="*/ 582644 h 721328"/>
              <a:gd name="connsiteX24" fmla="*/ 117157 w 603885"/>
              <a:gd name="connsiteY24" fmla="*/ 556355 h 721328"/>
              <a:gd name="connsiteX25" fmla="*/ 208502 w 603885"/>
              <a:gd name="connsiteY25" fmla="*/ 555784 h 721328"/>
              <a:gd name="connsiteX26" fmla="*/ 235458 w 603885"/>
              <a:gd name="connsiteY26" fmla="*/ 582740 h 721328"/>
              <a:gd name="connsiteX27" fmla="*/ 208502 w 603885"/>
              <a:gd name="connsiteY27" fmla="*/ 609695 h 721328"/>
              <a:gd name="connsiteX28" fmla="*/ 181546 w 603885"/>
              <a:gd name="connsiteY28" fmla="*/ 582740 h 721328"/>
              <a:gd name="connsiteX29" fmla="*/ 208502 w 603885"/>
              <a:gd name="connsiteY29" fmla="*/ 555784 h 721328"/>
              <a:gd name="connsiteX30" fmla="*/ 299942 w 603885"/>
              <a:gd name="connsiteY30" fmla="*/ 555117 h 721328"/>
              <a:gd name="connsiteX31" fmla="*/ 327564 w 603885"/>
              <a:gd name="connsiteY31" fmla="*/ 582739 h 721328"/>
              <a:gd name="connsiteX32" fmla="*/ 299942 w 603885"/>
              <a:gd name="connsiteY32" fmla="*/ 610362 h 721328"/>
              <a:gd name="connsiteX33" fmla="*/ 272319 w 603885"/>
              <a:gd name="connsiteY33" fmla="*/ 582739 h 721328"/>
              <a:gd name="connsiteX34" fmla="*/ 299942 w 603885"/>
              <a:gd name="connsiteY34" fmla="*/ 555117 h 721328"/>
              <a:gd name="connsiteX35" fmla="*/ 391382 w 603885"/>
              <a:gd name="connsiteY35" fmla="*/ 554450 h 721328"/>
              <a:gd name="connsiteX36" fmla="*/ 419672 w 603885"/>
              <a:gd name="connsiteY36" fmla="*/ 582739 h 721328"/>
              <a:gd name="connsiteX37" fmla="*/ 391382 w 603885"/>
              <a:gd name="connsiteY37" fmla="*/ 611029 h 721328"/>
              <a:gd name="connsiteX38" fmla="*/ 363093 w 603885"/>
              <a:gd name="connsiteY38" fmla="*/ 582739 h 721328"/>
              <a:gd name="connsiteX39" fmla="*/ 391382 w 603885"/>
              <a:gd name="connsiteY39" fmla="*/ 554450 h 721328"/>
              <a:gd name="connsiteX40" fmla="*/ 208502 w 603885"/>
              <a:gd name="connsiteY40" fmla="*/ 444722 h 721328"/>
              <a:gd name="connsiteX41" fmla="*/ 235458 w 603885"/>
              <a:gd name="connsiteY41" fmla="*/ 471678 h 721328"/>
              <a:gd name="connsiteX42" fmla="*/ 208502 w 603885"/>
              <a:gd name="connsiteY42" fmla="*/ 498634 h 721328"/>
              <a:gd name="connsiteX43" fmla="*/ 181546 w 603885"/>
              <a:gd name="connsiteY43" fmla="*/ 471678 h 721328"/>
              <a:gd name="connsiteX44" fmla="*/ 208502 w 603885"/>
              <a:gd name="connsiteY44" fmla="*/ 444722 h 721328"/>
              <a:gd name="connsiteX45" fmla="*/ 299942 w 603885"/>
              <a:gd name="connsiteY45" fmla="*/ 444055 h 721328"/>
              <a:gd name="connsiteX46" fmla="*/ 327564 w 603885"/>
              <a:gd name="connsiteY46" fmla="*/ 471678 h 721328"/>
              <a:gd name="connsiteX47" fmla="*/ 299942 w 603885"/>
              <a:gd name="connsiteY47" fmla="*/ 499300 h 721328"/>
              <a:gd name="connsiteX48" fmla="*/ 272319 w 603885"/>
              <a:gd name="connsiteY48" fmla="*/ 471678 h 721328"/>
              <a:gd name="connsiteX49" fmla="*/ 299942 w 603885"/>
              <a:gd name="connsiteY49" fmla="*/ 444055 h 721328"/>
              <a:gd name="connsiteX50" fmla="*/ 391382 w 603885"/>
              <a:gd name="connsiteY50" fmla="*/ 443389 h 721328"/>
              <a:gd name="connsiteX51" fmla="*/ 419672 w 603885"/>
              <a:gd name="connsiteY51" fmla="*/ 471678 h 721328"/>
              <a:gd name="connsiteX52" fmla="*/ 391382 w 603885"/>
              <a:gd name="connsiteY52" fmla="*/ 499968 h 721328"/>
              <a:gd name="connsiteX53" fmla="*/ 363093 w 603885"/>
              <a:gd name="connsiteY53" fmla="*/ 471678 h 721328"/>
              <a:gd name="connsiteX54" fmla="*/ 391382 w 603885"/>
              <a:gd name="connsiteY54" fmla="*/ 443389 h 721328"/>
              <a:gd name="connsiteX55" fmla="*/ 482822 w 603885"/>
              <a:gd name="connsiteY55" fmla="*/ 442817 h 721328"/>
              <a:gd name="connsiteX56" fmla="*/ 511778 w 603885"/>
              <a:gd name="connsiteY56" fmla="*/ 471773 h 721328"/>
              <a:gd name="connsiteX57" fmla="*/ 482822 w 603885"/>
              <a:gd name="connsiteY57" fmla="*/ 500729 h 721328"/>
              <a:gd name="connsiteX58" fmla="*/ 453866 w 603885"/>
              <a:gd name="connsiteY58" fmla="*/ 471773 h 721328"/>
              <a:gd name="connsiteX59" fmla="*/ 482822 w 603885"/>
              <a:gd name="connsiteY59" fmla="*/ 442817 h 721328"/>
              <a:gd name="connsiteX60" fmla="*/ 299942 w 603885"/>
              <a:gd name="connsiteY60" fmla="*/ 333089 h 721328"/>
              <a:gd name="connsiteX61" fmla="*/ 327564 w 603885"/>
              <a:gd name="connsiteY61" fmla="*/ 360712 h 721328"/>
              <a:gd name="connsiteX62" fmla="*/ 299942 w 603885"/>
              <a:gd name="connsiteY62" fmla="*/ 388334 h 721328"/>
              <a:gd name="connsiteX63" fmla="*/ 272319 w 603885"/>
              <a:gd name="connsiteY63" fmla="*/ 360712 h 721328"/>
              <a:gd name="connsiteX64" fmla="*/ 299942 w 603885"/>
              <a:gd name="connsiteY64" fmla="*/ 333089 h 721328"/>
              <a:gd name="connsiteX65" fmla="*/ 391382 w 603885"/>
              <a:gd name="connsiteY65" fmla="*/ 332422 h 721328"/>
              <a:gd name="connsiteX66" fmla="*/ 419672 w 603885"/>
              <a:gd name="connsiteY66" fmla="*/ 360711 h 721328"/>
              <a:gd name="connsiteX67" fmla="*/ 391382 w 603885"/>
              <a:gd name="connsiteY67" fmla="*/ 389001 h 721328"/>
              <a:gd name="connsiteX68" fmla="*/ 363093 w 603885"/>
              <a:gd name="connsiteY68" fmla="*/ 360711 h 721328"/>
              <a:gd name="connsiteX69" fmla="*/ 391382 w 603885"/>
              <a:gd name="connsiteY69" fmla="*/ 332422 h 721328"/>
              <a:gd name="connsiteX70" fmla="*/ 482822 w 603885"/>
              <a:gd name="connsiteY70" fmla="*/ 331755 h 721328"/>
              <a:gd name="connsiteX71" fmla="*/ 511778 w 603885"/>
              <a:gd name="connsiteY71" fmla="*/ 360711 h 721328"/>
              <a:gd name="connsiteX72" fmla="*/ 482822 w 603885"/>
              <a:gd name="connsiteY72" fmla="*/ 389667 h 721328"/>
              <a:gd name="connsiteX73" fmla="*/ 453866 w 603885"/>
              <a:gd name="connsiteY73" fmla="*/ 360711 h 721328"/>
              <a:gd name="connsiteX74" fmla="*/ 482822 w 603885"/>
              <a:gd name="connsiteY74" fmla="*/ 331755 h 721328"/>
              <a:gd name="connsiteX75" fmla="*/ 574262 w 603885"/>
              <a:gd name="connsiteY75" fmla="*/ 331089 h 721328"/>
              <a:gd name="connsiteX76" fmla="*/ 603885 w 603885"/>
              <a:gd name="connsiteY76" fmla="*/ 360712 h 721328"/>
              <a:gd name="connsiteX77" fmla="*/ 574262 w 603885"/>
              <a:gd name="connsiteY77" fmla="*/ 390335 h 721328"/>
              <a:gd name="connsiteX78" fmla="*/ 544639 w 603885"/>
              <a:gd name="connsiteY78" fmla="*/ 360712 h 721328"/>
              <a:gd name="connsiteX79" fmla="*/ 574262 w 603885"/>
              <a:gd name="connsiteY79" fmla="*/ 331089 h 721328"/>
              <a:gd name="connsiteX80" fmla="*/ 208502 w 603885"/>
              <a:gd name="connsiteY80" fmla="*/ 222694 h 721328"/>
              <a:gd name="connsiteX81" fmla="*/ 235458 w 603885"/>
              <a:gd name="connsiteY81" fmla="*/ 249650 h 721328"/>
              <a:gd name="connsiteX82" fmla="*/ 208502 w 603885"/>
              <a:gd name="connsiteY82" fmla="*/ 276606 h 721328"/>
              <a:gd name="connsiteX83" fmla="*/ 181546 w 603885"/>
              <a:gd name="connsiteY83" fmla="*/ 249650 h 721328"/>
              <a:gd name="connsiteX84" fmla="*/ 208502 w 603885"/>
              <a:gd name="connsiteY84" fmla="*/ 222694 h 721328"/>
              <a:gd name="connsiteX85" fmla="*/ 299942 w 603885"/>
              <a:gd name="connsiteY85" fmla="*/ 222027 h 721328"/>
              <a:gd name="connsiteX86" fmla="*/ 327564 w 603885"/>
              <a:gd name="connsiteY86" fmla="*/ 249650 h 721328"/>
              <a:gd name="connsiteX87" fmla="*/ 299942 w 603885"/>
              <a:gd name="connsiteY87" fmla="*/ 277272 h 721328"/>
              <a:gd name="connsiteX88" fmla="*/ 272319 w 603885"/>
              <a:gd name="connsiteY88" fmla="*/ 249650 h 721328"/>
              <a:gd name="connsiteX89" fmla="*/ 299942 w 603885"/>
              <a:gd name="connsiteY89" fmla="*/ 222027 h 721328"/>
              <a:gd name="connsiteX90" fmla="*/ 391382 w 603885"/>
              <a:gd name="connsiteY90" fmla="*/ 221361 h 721328"/>
              <a:gd name="connsiteX91" fmla="*/ 419672 w 603885"/>
              <a:gd name="connsiteY91" fmla="*/ 249650 h 721328"/>
              <a:gd name="connsiteX92" fmla="*/ 391382 w 603885"/>
              <a:gd name="connsiteY92" fmla="*/ 277940 h 721328"/>
              <a:gd name="connsiteX93" fmla="*/ 363093 w 603885"/>
              <a:gd name="connsiteY93" fmla="*/ 249650 h 721328"/>
              <a:gd name="connsiteX94" fmla="*/ 391382 w 603885"/>
              <a:gd name="connsiteY94" fmla="*/ 221361 h 721328"/>
              <a:gd name="connsiteX95" fmla="*/ 482822 w 603885"/>
              <a:gd name="connsiteY95" fmla="*/ 220789 h 721328"/>
              <a:gd name="connsiteX96" fmla="*/ 511778 w 603885"/>
              <a:gd name="connsiteY96" fmla="*/ 249745 h 721328"/>
              <a:gd name="connsiteX97" fmla="*/ 482822 w 603885"/>
              <a:gd name="connsiteY97" fmla="*/ 278701 h 721328"/>
              <a:gd name="connsiteX98" fmla="*/ 453866 w 603885"/>
              <a:gd name="connsiteY98" fmla="*/ 249745 h 721328"/>
              <a:gd name="connsiteX99" fmla="*/ 482822 w 603885"/>
              <a:gd name="connsiteY99" fmla="*/ 220789 h 721328"/>
              <a:gd name="connsiteX100" fmla="*/ 117157 w 603885"/>
              <a:gd name="connsiteY100" fmla="*/ 112395 h 721328"/>
              <a:gd name="connsiteX101" fmla="*/ 143446 w 603885"/>
              <a:gd name="connsiteY101" fmla="*/ 138684 h 721328"/>
              <a:gd name="connsiteX102" fmla="*/ 117157 w 603885"/>
              <a:gd name="connsiteY102" fmla="*/ 165068 h 721328"/>
              <a:gd name="connsiteX103" fmla="*/ 90773 w 603885"/>
              <a:gd name="connsiteY103" fmla="*/ 138684 h 721328"/>
              <a:gd name="connsiteX104" fmla="*/ 117157 w 603885"/>
              <a:gd name="connsiteY104" fmla="*/ 112395 h 721328"/>
              <a:gd name="connsiteX105" fmla="*/ 208502 w 603885"/>
              <a:gd name="connsiteY105" fmla="*/ 111728 h 721328"/>
              <a:gd name="connsiteX106" fmla="*/ 235458 w 603885"/>
              <a:gd name="connsiteY106" fmla="*/ 138684 h 721328"/>
              <a:gd name="connsiteX107" fmla="*/ 208502 w 603885"/>
              <a:gd name="connsiteY107" fmla="*/ 165640 h 721328"/>
              <a:gd name="connsiteX108" fmla="*/ 181546 w 603885"/>
              <a:gd name="connsiteY108" fmla="*/ 138684 h 721328"/>
              <a:gd name="connsiteX109" fmla="*/ 208502 w 603885"/>
              <a:gd name="connsiteY109" fmla="*/ 111728 h 721328"/>
              <a:gd name="connsiteX110" fmla="*/ 299942 w 603885"/>
              <a:gd name="connsiteY110" fmla="*/ 111061 h 721328"/>
              <a:gd name="connsiteX111" fmla="*/ 327564 w 603885"/>
              <a:gd name="connsiteY111" fmla="*/ 138683 h 721328"/>
              <a:gd name="connsiteX112" fmla="*/ 299942 w 603885"/>
              <a:gd name="connsiteY112" fmla="*/ 166306 h 721328"/>
              <a:gd name="connsiteX113" fmla="*/ 272319 w 603885"/>
              <a:gd name="connsiteY113" fmla="*/ 138683 h 721328"/>
              <a:gd name="connsiteX114" fmla="*/ 299942 w 603885"/>
              <a:gd name="connsiteY114" fmla="*/ 111061 h 721328"/>
              <a:gd name="connsiteX115" fmla="*/ 391382 w 603885"/>
              <a:gd name="connsiteY115" fmla="*/ 110394 h 721328"/>
              <a:gd name="connsiteX116" fmla="*/ 419672 w 603885"/>
              <a:gd name="connsiteY116" fmla="*/ 138683 h 721328"/>
              <a:gd name="connsiteX117" fmla="*/ 391382 w 603885"/>
              <a:gd name="connsiteY117" fmla="*/ 166973 h 721328"/>
              <a:gd name="connsiteX118" fmla="*/ 363093 w 603885"/>
              <a:gd name="connsiteY118" fmla="*/ 138683 h 721328"/>
              <a:gd name="connsiteX119" fmla="*/ 391382 w 603885"/>
              <a:gd name="connsiteY119" fmla="*/ 110394 h 721328"/>
              <a:gd name="connsiteX120" fmla="*/ 25717 w 603885"/>
              <a:gd name="connsiteY120" fmla="*/ 2000 h 721328"/>
              <a:gd name="connsiteX121" fmla="*/ 51435 w 603885"/>
              <a:gd name="connsiteY121" fmla="*/ 27717 h 721328"/>
              <a:gd name="connsiteX122" fmla="*/ 25717 w 603885"/>
              <a:gd name="connsiteY122" fmla="*/ 53435 h 721328"/>
              <a:gd name="connsiteX123" fmla="*/ 0 w 603885"/>
              <a:gd name="connsiteY123" fmla="*/ 27717 h 721328"/>
              <a:gd name="connsiteX124" fmla="*/ 25717 w 603885"/>
              <a:gd name="connsiteY124" fmla="*/ 2000 h 721328"/>
              <a:gd name="connsiteX125" fmla="*/ 117157 w 603885"/>
              <a:gd name="connsiteY125" fmla="*/ 1333 h 721328"/>
              <a:gd name="connsiteX126" fmla="*/ 143446 w 603885"/>
              <a:gd name="connsiteY126" fmla="*/ 27622 h 721328"/>
              <a:gd name="connsiteX127" fmla="*/ 117157 w 603885"/>
              <a:gd name="connsiteY127" fmla="*/ 54006 h 721328"/>
              <a:gd name="connsiteX128" fmla="*/ 90773 w 603885"/>
              <a:gd name="connsiteY128" fmla="*/ 27622 h 721328"/>
              <a:gd name="connsiteX129" fmla="*/ 117157 w 603885"/>
              <a:gd name="connsiteY129" fmla="*/ 1333 h 721328"/>
              <a:gd name="connsiteX130" fmla="*/ 208502 w 603885"/>
              <a:gd name="connsiteY130" fmla="*/ 666 h 721328"/>
              <a:gd name="connsiteX131" fmla="*/ 235458 w 603885"/>
              <a:gd name="connsiteY131" fmla="*/ 27622 h 721328"/>
              <a:gd name="connsiteX132" fmla="*/ 208502 w 603885"/>
              <a:gd name="connsiteY132" fmla="*/ 54578 h 721328"/>
              <a:gd name="connsiteX133" fmla="*/ 181546 w 603885"/>
              <a:gd name="connsiteY133" fmla="*/ 27622 h 721328"/>
              <a:gd name="connsiteX134" fmla="*/ 208502 w 603885"/>
              <a:gd name="connsiteY134" fmla="*/ 666 h 721328"/>
              <a:gd name="connsiteX135" fmla="*/ 299942 w 603885"/>
              <a:gd name="connsiteY135" fmla="*/ 0 h 721328"/>
              <a:gd name="connsiteX136" fmla="*/ 327564 w 603885"/>
              <a:gd name="connsiteY136" fmla="*/ 27622 h 721328"/>
              <a:gd name="connsiteX137" fmla="*/ 299942 w 603885"/>
              <a:gd name="connsiteY137" fmla="*/ 55245 h 721328"/>
              <a:gd name="connsiteX138" fmla="*/ 272319 w 603885"/>
              <a:gd name="connsiteY138" fmla="*/ 27622 h 721328"/>
              <a:gd name="connsiteX139" fmla="*/ 299942 w 603885"/>
              <a:gd name="connsiteY139" fmla="*/ 0 h 721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603885" h="721328">
                <a:moveTo>
                  <a:pt x="25717" y="668083"/>
                </a:moveTo>
                <a:cubicBezTo>
                  <a:pt x="39910" y="668083"/>
                  <a:pt x="51435" y="679608"/>
                  <a:pt x="51435" y="693801"/>
                </a:cubicBezTo>
                <a:cubicBezTo>
                  <a:pt x="51435" y="707993"/>
                  <a:pt x="39910" y="719518"/>
                  <a:pt x="25717" y="719518"/>
                </a:cubicBezTo>
                <a:cubicBezTo>
                  <a:pt x="11525" y="719518"/>
                  <a:pt x="0" y="707993"/>
                  <a:pt x="0" y="693801"/>
                </a:cubicBezTo>
                <a:cubicBezTo>
                  <a:pt x="0" y="679608"/>
                  <a:pt x="11525" y="668083"/>
                  <a:pt x="25717" y="668083"/>
                </a:cubicBezTo>
                <a:close/>
                <a:moveTo>
                  <a:pt x="117157" y="667416"/>
                </a:moveTo>
                <a:cubicBezTo>
                  <a:pt x="131635" y="667416"/>
                  <a:pt x="143446" y="679227"/>
                  <a:pt x="143446" y="693705"/>
                </a:cubicBezTo>
                <a:cubicBezTo>
                  <a:pt x="143446" y="708278"/>
                  <a:pt x="131635" y="720089"/>
                  <a:pt x="117157" y="720089"/>
                </a:cubicBezTo>
                <a:cubicBezTo>
                  <a:pt x="102584" y="720089"/>
                  <a:pt x="90773" y="708183"/>
                  <a:pt x="90773" y="693705"/>
                </a:cubicBezTo>
                <a:cubicBezTo>
                  <a:pt x="90773" y="679227"/>
                  <a:pt x="102679" y="667416"/>
                  <a:pt x="117157" y="667416"/>
                </a:cubicBezTo>
                <a:close/>
                <a:moveTo>
                  <a:pt x="208502" y="666750"/>
                </a:moveTo>
                <a:cubicBezTo>
                  <a:pt x="223456" y="666750"/>
                  <a:pt x="235553" y="678847"/>
                  <a:pt x="235458" y="693706"/>
                </a:cubicBezTo>
                <a:cubicBezTo>
                  <a:pt x="235458" y="708565"/>
                  <a:pt x="223361" y="720662"/>
                  <a:pt x="208502" y="720662"/>
                </a:cubicBezTo>
                <a:cubicBezTo>
                  <a:pt x="193643" y="720662"/>
                  <a:pt x="181546" y="708565"/>
                  <a:pt x="181546" y="693706"/>
                </a:cubicBezTo>
                <a:cubicBezTo>
                  <a:pt x="181546" y="678847"/>
                  <a:pt x="193643" y="666750"/>
                  <a:pt x="208502" y="666750"/>
                </a:cubicBezTo>
                <a:close/>
                <a:moveTo>
                  <a:pt x="299942" y="666083"/>
                </a:moveTo>
                <a:cubicBezTo>
                  <a:pt x="315182" y="666083"/>
                  <a:pt x="327564" y="678466"/>
                  <a:pt x="327564" y="693706"/>
                </a:cubicBezTo>
                <a:cubicBezTo>
                  <a:pt x="327564" y="708946"/>
                  <a:pt x="315182" y="721328"/>
                  <a:pt x="299942" y="721328"/>
                </a:cubicBezTo>
                <a:cubicBezTo>
                  <a:pt x="284702" y="721328"/>
                  <a:pt x="272319" y="708946"/>
                  <a:pt x="272319" y="693706"/>
                </a:cubicBezTo>
                <a:cubicBezTo>
                  <a:pt x="272319" y="678466"/>
                  <a:pt x="284702" y="666083"/>
                  <a:pt x="299942" y="666083"/>
                </a:cubicBezTo>
                <a:close/>
                <a:moveTo>
                  <a:pt x="117157" y="556355"/>
                </a:moveTo>
                <a:cubicBezTo>
                  <a:pt x="131635" y="556355"/>
                  <a:pt x="143446" y="568166"/>
                  <a:pt x="143446" y="582644"/>
                </a:cubicBezTo>
                <a:cubicBezTo>
                  <a:pt x="143446" y="597217"/>
                  <a:pt x="131635" y="609028"/>
                  <a:pt x="117157" y="609028"/>
                </a:cubicBezTo>
                <a:cubicBezTo>
                  <a:pt x="102584" y="609028"/>
                  <a:pt x="90773" y="597122"/>
                  <a:pt x="90773" y="582644"/>
                </a:cubicBezTo>
                <a:cubicBezTo>
                  <a:pt x="90773" y="568166"/>
                  <a:pt x="102679" y="556355"/>
                  <a:pt x="117157" y="556355"/>
                </a:cubicBezTo>
                <a:close/>
                <a:moveTo>
                  <a:pt x="208502" y="555784"/>
                </a:moveTo>
                <a:cubicBezTo>
                  <a:pt x="223456" y="555784"/>
                  <a:pt x="235553" y="567881"/>
                  <a:pt x="235458" y="582740"/>
                </a:cubicBezTo>
                <a:cubicBezTo>
                  <a:pt x="235458" y="597599"/>
                  <a:pt x="223361" y="609695"/>
                  <a:pt x="208502" y="609695"/>
                </a:cubicBezTo>
                <a:cubicBezTo>
                  <a:pt x="193643" y="609695"/>
                  <a:pt x="181546" y="597599"/>
                  <a:pt x="181546" y="582740"/>
                </a:cubicBezTo>
                <a:cubicBezTo>
                  <a:pt x="181546" y="567881"/>
                  <a:pt x="193643" y="555784"/>
                  <a:pt x="208502" y="555784"/>
                </a:cubicBezTo>
                <a:close/>
                <a:moveTo>
                  <a:pt x="299942" y="555117"/>
                </a:moveTo>
                <a:cubicBezTo>
                  <a:pt x="315182" y="555117"/>
                  <a:pt x="327564" y="567499"/>
                  <a:pt x="327564" y="582739"/>
                </a:cubicBezTo>
                <a:cubicBezTo>
                  <a:pt x="327564" y="597980"/>
                  <a:pt x="315182" y="610362"/>
                  <a:pt x="299942" y="610362"/>
                </a:cubicBezTo>
                <a:cubicBezTo>
                  <a:pt x="284702" y="610362"/>
                  <a:pt x="272319" y="597980"/>
                  <a:pt x="272319" y="582739"/>
                </a:cubicBezTo>
                <a:cubicBezTo>
                  <a:pt x="272319" y="567499"/>
                  <a:pt x="284702" y="555117"/>
                  <a:pt x="299942" y="555117"/>
                </a:cubicBezTo>
                <a:close/>
                <a:moveTo>
                  <a:pt x="391382" y="554450"/>
                </a:moveTo>
                <a:cubicBezTo>
                  <a:pt x="407003" y="554450"/>
                  <a:pt x="419672" y="567118"/>
                  <a:pt x="419672" y="582739"/>
                </a:cubicBezTo>
                <a:cubicBezTo>
                  <a:pt x="419672" y="598360"/>
                  <a:pt x="407003" y="611029"/>
                  <a:pt x="391382" y="611029"/>
                </a:cubicBezTo>
                <a:cubicBezTo>
                  <a:pt x="375761" y="611029"/>
                  <a:pt x="363093" y="598360"/>
                  <a:pt x="363093" y="582739"/>
                </a:cubicBezTo>
                <a:cubicBezTo>
                  <a:pt x="363093" y="567118"/>
                  <a:pt x="375761" y="554450"/>
                  <a:pt x="391382" y="554450"/>
                </a:cubicBezTo>
                <a:close/>
                <a:moveTo>
                  <a:pt x="208502" y="444722"/>
                </a:moveTo>
                <a:cubicBezTo>
                  <a:pt x="223456" y="444722"/>
                  <a:pt x="235553" y="456819"/>
                  <a:pt x="235458" y="471678"/>
                </a:cubicBezTo>
                <a:cubicBezTo>
                  <a:pt x="235458" y="486537"/>
                  <a:pt x="223361" y="498634"/>
                  <a:pt x="208502" y="498634"/>
                </a:cubicBezTo>
                <a:cubicBezTo>
                  <a:pt x="193643" y="498634"/>
                  <a:pt x="181546" y="486537"/>
                  <a:pt x="181546" y="471678"/>
                </a:cubicBezTo>
                <a:cubicBezTo>
                  <a:pt x="181546" y="456819"/>
                  <a:pt x="193643" y="444722"/>
                  <a:pt x="208502" y="444722"/>
                </a:cubicBezTo>
                <a:close/>
                <a:moveTo>
                  <a:pt x="299942" y="444055"/>
                </a:moveTo>
                <a:cubicBezTo>
                  <a:pt x="315182" y="444055"/>
                  <a:pt x="327564" y="456437"/>
                  <a:pt x="327564" y="471678"/>
                </a:cubicBezTo>
                <a:cubicBezTo>
                  <a:pt x="327564" y="486918"/>
                  <a:pt x="315182" y="499300"/>
                  <a:pt x="299942" y="499300"/>
                </a:cubicBezTo>
                <a:cubicBezTo>
                  <a:pt x="284702" y="499300"/>
                  <a:pt x="272319" y="486918"/>
                  <a:pt x="272319" y="471678"/>
                </a:cubicBezTo>
                <a:cubicBezTo>
                  <a:pt x="272319" y="456437"/>
                  <a:pt x="284702" y="444055"/>
                  <a:pt x="299942" y="444055"/>
                </a:cubicBezTo>
                <a:close/>
                <a:moveTo>
                  <a:pt x="391382" y="443389"/>
                </a:moveTo>
                <a:cubicBezTo>
                  <a:pt x="407003" y="443389"/>
                  <a:pt x="419672" y="456153"/>
                  <a:pt x="419672" y="471678"/>
                </a:cubicBezTo>
                <a:cubicBezTo>
                  <a:pt x="419672" y="487299"/>
                  <a:pt x="407003" y="499968"/>
                  <a:pt x="391382" y="499968"/>
                </a:cubicBezTo>
                <a:cubicBezTo>
                  <a:pt x="375761" y="499968"/>
                  <a:pt x="363093" y="487299"/>
                  <a:pt x="363093" y="471678"/>
                </a:cubicBezTo>
                <a:cubicBezTo>
                  <a:pt x="363093" y="456057"/>
                  <a:pt x="375761" y="443389"/>
                  <a:pt x="391382" y="443389"/>
                </a:cubicBezTo>
                <a:close/>
                <a:moveTo>
                  <a:pt x="482822" y="442817"/>
                </a:moveTo>
                <a:cubicBezTo>
                  <a:pt x="498729" y="442817"/>
                  <a:pt x="511778" y="455771"/>
                  <a:pt x="511778" y="471773"/>
                </a:cubicBezTo>
                <a:cubicBezTo>
                  <a:pt x="511778" y="487775"/>
                  <a:pt x="498824" y="500729"/>
                  <a:pt x="482822" y="500729"/>
                </a:cubicBezTo>
                <a:cubicBezTo>
                  <a:pt x="466820" y="500729"/>
                  <a:pt x="453866" y="487775"/>
                  <a:pt x="453866" y="471773"/>
                </a:cubicBezTo>
                <a:cubicBezTo>
                  <a:pt x="453866" y="455771"/>
                  <a:pt x="466820" y="442817"/>
                  <a:pt x="482822" y="442817"/>
                </a:cubicBezTo>
                <a:close/>
                <a:moveTo>
                  <a:pt x="299942" y="333089"/>
                </a:moveTo>
                <a:cubicBezTo>
                  <a:pt x="315182" y="333089"/>
                  <a:pt x="327564" y="345472"/>
                  <a:pt x="327564" y="360712"/>
                </a:cubicBezTo>
                <a:cubicBezTo>
                  <a:pt x="327564" y="375952"/>
                  <a:pt x="315182" y="388334"/>
                  <a:pt x="299942" y="388334"/>
                </a:cubicBezTo>
                <a:cubicBezTo>
                  <a:pt x="284702" y="388334"/>
                  <a:pt x="272319" y="375952"/>
                  <a:pt x="272319" y="360712"/>
                </a:cubicBezTo>
                <a:cubicBezTo>
                  <a:pt x="272319" y="345472"/>
                  <a:pt x="284702" y="333089"/>
                  <a:pt x="299942" y="333089"/>
                </a:cubicBezTo>
                <a:close/>
                <a:moveTo>
                  <a:pt x="391382" y="332422"/>
                </a:moveTo>
                <a:cubicBezTo>
                  <a:pt x="407003" y="332422"/>
                  <a:pt x="419672" y="345090"/>
                  <a:pt x="419672" y="360711"/>
                </a:cubicBezTo>
                <a:cubicBezTo>
                  <a:pt x="419672" y="376332"/>
                  <a:pt x="407003" y="389001"/>
                  <a:pt x="391382" y="389001"/>
                </a:cubicBezTo>
                <a:cubicBezTo>
                  <a:pt x="375761" y="389001"/>
                  <a:pt x="363093" y="376332"/>
                  <a:pt x="363093" y="360711"/>
                </a:cubicBezTo>
                <a:cubicBezTo>
                  <a:pt x="363093" y="345090"/>
                  <a:pt x="375761" y="332422"/>
                  <a:pt x="391382" y="332422"/>
                </a:cubicBezTo>
                <a:close/>
                <a:moveTo>
                  <a:pt x="482822" y="331755"/>
                </a:moveTo>
                <a:cubicBezTo>
                  <a:pt x="498729" y="331755"/>
                  <a:pt x="511778" y="344709"/>
                  <a:pt x="511778" y="360711"/>
                </a:cubicBezTo>
                <a:cubicBezTo>
                  <a:pt x="511778" y="376713"/>
                  <a:pt x="498824" y="389667"/>
                  <a:pt x="482822" y="389667"/>
                </a:cubicBezTo>
                <a:cubicBezTo>
                  <a:pt x="466820" y="389667"/>
                  <a:pt x="453866" y="376713"/>
                  <a:pt x="453866" y="360711"/>
                </a:cubicBezTo>
                <a:cubicBezTo>
                  <a:pt x="453866" y="344709"/>
                  <a:pt x="466820" y="331755"/>
                  <a:pt x="482822" y="331755"/>
                </a:cubicBezTo>
                <a:close/>
                <a:moveTo>
                  <a:pt x="574262" y="331089"/>
                </a:moveTo>
                <a:cubicBezTo>
                  <a:pt x="590549" y="331089"/>
                  <a:pt x="603789" y="344424"/>
                  <a:pt x="603885" y="360712"/>
                </a:cubicBezTo>
                <a:cubicBezTo>
                  <a:pt x="603885" y="377095"/>
                  <a:pt x="590549" y="390335"/>
                  <a:pt x="574262" y="390335"/>
                </a:cubicBezTo>
                <a:cubicBezTo>
                  <a:pt x="557879" y="390335"/>
                  <a:pt x="544639" y="376999"/>
                  <a:pt x="544639" y="360712"/>
                </a:cubicBezTo>
                <a:cubicBezTo>
                  <a:pt x="544639" y="344329"/>
                  <a:pt x="557974" y="331089"/>
                  <a:pt x="574262" y="331089"/>
                </a:cubicBezTo>
                <a:close/>
                <a:moveTo>
                  <a:pt x="208502" y="222694"/>
                </a:moveTo>
                <a:cubicBezTo>
                  <a:pt x="223456" y="222694"/>
                  <a:pt x="235553" y="234791"/>
                  <a:pt x="235458" y="249650"/>
                </a:cubicBezTo>
                <a:cubicBezTo>
                  <a:pt x="235458" y="264509"/>
                  <a:pt x="223361" y="276606"/>
                  <a:pt x="208502" y="276606"/>
                </a:cubicBezTo>
                <a:cubicBezTo>
                  <a:pt x="193643" y="276606"/>
                  <a:pt x="181546" y="264509"/>
                  <a:pt x="181546" y="249650"/>
                </a:cubicBezTo>
                <a:cubicBezTo>
                  <a:pt x="181546" y="234791"/>
                  <a:pt x="193643" y="222694"/>
                  <a:pt x="208502" y="222694"/>
                </a:cubicBezTo>
                <a:close/>
                <a:moveTo>
                  <a:pt x="299942" y="222027"/>
                </a:moveTo>
                <a:cubicBezTo>
                  <a:pt x="315182" y="222027"/>
                  <a:pt x="327564" y="234505"/>
                  <a:pt x="327564" y="249650"/>
                </a:cubicBezTo>
                <a:cubicBezTo>
                  <a:pt x="327564" y="264890"/>
                  <a:pt x="315182" y="277272"/>
                  <a:pt x="299942" y="277272"/>
                </a:cubicBezTo>
                <a:cubicBezTo>
                  <a:pt x="284702" y="277272"/>
                  <a:pt x="272319" y="264890"/>
                  <a:pt x="272319" y="249650"/>
                </a:cubicBezTo>
                <a:cubicBezTo>
                  <a:pt x="272319" y="234410"/>
                  <a:pt x="284702" y="222027"/>
                  <a:pt x="299942" y="222027"/>
                </a:cubicBezTo>
                <a:close/>
                <a:moveTo>
                  <a:pt x="391382" y="221361"/>
                </a:moveTo>
                <a:cubicBezTo>
                  <a:pt x="407003" y="221361"/>
                  <a:pt x="419672" y="234125"/>
                  <a:pt x="419672" y="249650"/>
                </a:cubicBezTo>
                <a:cubicBezTo>
                  <a:pt x="419672" y="265271"/>
                  <a:pt x="407003" y="277940"/>
                  <a:pt x="391382" y="277940"/>
                </a:cubicBezTo>
                <a:cubicBezTo>
                  <a:pt x="375761" y="277940"/>
                  <a:pt x="363093" y="265271"/>
                  <a:pt x="363093" y="249650"/>
                </a:cubicBezTo>
                <a:cubicBezTo>
                  <a:pt x="363093" y="234029"/>
                  <a:pt x="375761" y="221361"/>
                  <a:pt x="391382" y="221361"/>
                </a:cubicBezTo>
                <a:close/>
                <a:moveTo>
                  <a:pt x="482822" y="220789"/>
                </a:moveTo>
                <a:cubicBezTo>
                  <a:pt x="498729" y="220789"/>
                  <a:pt x="511778" y="233743"/>
                  <a:pt x="511778" y="249745"/>
                </a:cubicBezTo>
                <a:cubicBezTo>
                  <a:pt x="511778" y="265747"/>
                  <a:pt x="498824" y="278701"/>
                  <a:pt x="482822" y="278701"/>
                </a:cubicBezTo>
                <a:cubicBezTo>
                  <a:pt x="466820" y="278701"/>
                  <a:pt x="453866" y="265747"/>
                  <a:pt x="453866" y="249745"/>
                </a:cubicBezTo>
                <a:cubicBezTo>
                  <a:pt x="453866" y="233743"/>
                  <a:pt x="466820" y="220789"/>
                  <a:pt x="482822" y="220789"/>
                </a:cubicBezTo>
                <a:close/>
                <a:moveTo>
                  <a:pt x="117157" y="112395"/>
                </a:moveTo>
                <a:cubicBezTo>
                  <a:pt x="131635" y="112395"/>
                  <a:pt x="143446" y="124206"/>
                  <a:pt x="143446" y="138684"/>
                </a:cubicBezTo>
                <a:cubicBezTo>
                  <a:pt x="143446" y="153257"/>
                  <a:pt x="131635" y="165068"/>
                  <a:pt x="117157" y="165068"/>
                </a:cubicBezTo>
                <a:cubicBezTo>
                  <a:pt x="102584" y="165068"/>
                  <a:pt x="90773" y="153162"/>
                  <a:pt x="90773" y="138684"/>
                </a:cubicBezTo>
                <a:cubicBezTo>
                  <a:pt x="90773" y="124206"/>
                  <a:pt x="102679" y="112395"/>
                  <a:pt x="117157" y="112395"/>
                </a:cubicBezTo>
                <a:close/>
                <a:moveTo>
                  <a:pt x="208502" y="111728"/>
                </a:moveTo>
                <a:cubicBezTo>
                  <a:pt x="223456" y="111728"/>
                  <a:pt x="235553" y="123825"/>
                  <a:pt x="235458" y="138684"/>
                </a:cubicBezTo>
                <a:cubicBezTo>
                  <a:pt x="235458" y="153543"/>
                  <a:pt x="223361" y="165640"/>
                  <a:pt x="208502" y="165640"/>
                </a:cubicBezTo>
                <a:cubicBezTo>
                  <a:pt x="193643" y="165640"/>
                  <a:pt x="181546" y="153543"/>
                  <a:pt x="181546" y="138684"/>
                </a:cubicBezTo>
                <a:cubicBezTo>
                  <a:pt x="181546" y="123825"/>
                  <a:pt x="193643" y="111728"/>
                  <a:pt x="208502" y="111728"/>
                </a:cubicBezTo>
                <a:close/>
                <a:moveTo>
                  <a:pt x="299942" y="111061"/>
                </a:moveTo>
                <a:cubicBezTo>
                  <a:pt x="315182" y="111061"/>
                  <a:pt x="327564" y="123443"/>
                  <a:pt x="327564" y="138683"/>
                </a:cubicBezTo>
                <a:cubicBezTo>
                  <a:pt x="327564" y="153924"/>
                  <a:pt x="315182" y="166306"/>
                  <a:pt x="299942" y="166306"/>
                </a:cubicBezTo>
                <a:cubicBezTo>
                  <a:pt x="284702" y="166306"/>
                  <a:pt x="272319" y="153924"/>
                  <a:pt x="272319" y="138683"/>
                </a:cubicBezTo>
                <a:cubicBezTo>
                  <a:pt x="272319" y="123443"/>
                  <a:pt x="284702" y="111061"/>
                  <a:pt x="299942" y="111061"/>
                </a:cubicBezTo>
                <a:close/>
                <a:moveTo>
                  <a:pt x="391382" y="110394"/>
                </a:moveTo>
                <a:cubicBezTo>
                  <a:pt x="407003" y="110394"/>
                  <a:pt x="419672" y="123062"/>
                  <a:pt x="419672" y="138683"/>
                </a:cubicBezTo>
                <a:cubicBezTo>
                  <a:pt x="419672" y="154304"/>
                  <a:pt x="407003" y="166973"/>
                  <a:pt x="391382" y="166973"/>
                </a:cubicBezTo>
                <a:cubicBezTo>
                  <a:pt x="375761" y="166973"/>
                  <a:pt x="363093" y="154304"/>
                  <a:pt x="363093" y="138683"/>
                </a:cubicBezTo>
                <a:cubicBezTo>
                  <a:pt x="363093" y="123062"/>
                  <a:pt x="375761" y="110394"/>
                  <a:pt x="391382" y="110394"/>
                </a:cubicBezTo>
                <a:close/>
                <a:moveTo>
                  <a:pt x="25717" y="2000"/>
                </a:moveTo>
                <a:cubicBezTo>
                  <a:pt x="39910" y="2000"/>
                  <a:pt x="51435" y="13525"/>
                  <a:pt x="51435" y="27717"/>
                </a:cubicBezTo>
                <a:cubicBezTo>
                  <a:pt x="51435" y="41910"/>
                  <a:pt x="39910" y="53435"/>
                  <a:pt x="25717" y="53435"/>
                </a:cubicBezTo>
                <a:cubicBezTo>
                  <a:pt x="11525" y="53435"/>
                  <a:pt x="0" y="41910"/>
                  <a:pt x="0" y="27717"/>
                </a:cubicBezTo>
                <a:cubicBezTo>
                  <a:pt x="0" y="13525"/>
                  <a:pt x="11525" y="2000"/>
                  <a:pt x="25717" y="2000"/>
                </a:cubicBezTo>
                <a:close/>
                <a:moveTo>
                  <a:pt x="117157" y="1333"/>
                </a:moveTo>
                <a:cubicBezTo>
                  <a:pt x="131635" y="1333"/>
                  <a:pt x="143446" y="13144"/>
                  <a:pt x="143446" y="27622"/>
                </a:cubicBezTo>
                <a:cubicBezTo>
                  <a:pt x="143446" y="42195"/>
                  <a:pt x="131635" y="54006"/>
                  <a:pt x="117157" y="54006"/>
                </a:cubicBezTo>
                <a:cubicBezTo>
                  <a:pt x="102584" y="54006"/>
                  <a:pt x="90773" y="42100"/>
                  <a:pt x="90773" y="27622"/>
                </a:cubicBezTo>
                <a:cubicBezTo>
                  <a:pt x="90773" y="13144"/>
                  <a:pt x="102679" y="1333"/>
                  <a:pt x="117157" y="1333"/>
                </a:cubicBezTo>
                <a:close/>
                <a:moveTo>
                  <a:pt x="208502" y="666"/>
                </a:moveTo>
                <a:cubicBezTo>
                  <a:pt x="223456" y="666"/>
                  <a:pt x="235553" y="12763"/>
                  <a:pt x="235458" y="27622"/>
                </a:cubicBezTo>
                <a:cubicBezTo>
                  <a:pt x="235458" y="42481"/>
                  <a:pt x="223361" y="54578"/>
                  <a:pt x="208502" y="54578"/>
                </a:cubicBezTo>
                <a:cubicBezTo>
                  <a:pt x="193643" y="54578"/>
                  <a:pt x="181546" y="42481"/>
                  <a:pt x="181546" y="27622"/>
                </a:cubicBezTo>
                <a:cubicBezTo>
                  <a:pt x="181546" y="12763"/>
                  <a:pt x="193643" y="666"/>
                  <a:pt x="208502" y="666"/>
                </a:cubicBezTo>
                <a:close/>
                <a:moveTo>
                  <a:pt x="299942" y="0"/>
                </a:moveTo>
                <a:cubicBezTo>
                  <a:pt x="315182" y="0"/>
                  <a:pt x="327564" y="12478"/>
                  <a:pt x="327564" y="27622"/>
                </a:cubicBezTo>
                <a:cubicBezTo>
                  <a:pt x="327564" y="42862"/>
                  <a:pt x="315182" y="55245"/>
                  <a:pt x="299942" y="55245"/>
                </a:cubicBezTo>
                <a:cubicBezTo>
                  <a:pt x="284702" y="55245"/>
                  <a:pt x="272319" y="42862"/>
                  <a:pt x="272319" y="27622"/>
                </a:cubicBezTo>
                <a:cubicBezTo>
                  <a:pt x="272319" y="12383"/>
                  <a:pt x="284702" y="0"/>
                  <a:pt x="299942" y="0"/>
                </a:cubicBezTo>
                <a:close/>
              </a:path>
            </a:pathLst>
          </a:custGeom>
          <a:gradFill>
            <a:gsLst>
              <a:gs pos="68000">
                <a:schemeClr val="accent1"/>
              </a:gs>
              <a:gs pos="0">
                <a:schemeClr val="accent1">
                  <a:lumMod val="70000"/>
                  <a:lumOff val="30000"/>
                  <a:alpha val="0"/>
                </a:schemeClr>
              </a:gs>
            </a:gsLst>
            <a:lin ang="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20" name="熊大的PPT宝库75"/>
          <p:cNvSpPr/>
          <p:nvPr/>
        </p:nvSpPr>
        <p:spPr>
          <a:xfrm rot="16200000">
            <a:off x="3015999" y="2559210"/>
            <a:ext cx="193370" cy="261206"/>
          </a:xfrm>
          <a:custGeom>
            <a:avLst/>
            <a:gdLst>
              <a:gd name="connsiteX0" fmla="*/ 30289 w 705136"/>
              <a:gd name="connsiteY0" fmla="*/ 890016 h 952499"/>
              <a:gd name="connsiteX1" fmla="*/ 60579 w 705136"/>
              <a:gd name="connsiteY1" fmla="*/ 920306 h 952499"/>
              <a:gd name="connsiteX2" fmla="*/ 30289 w 705136"/>
              <a:gd name="connsiteY2" fmla="*/ 950595 h 952499"/>
              <a:gd name="connsiteX3" fmla="*/ 0 w 705136"/>
              <a:gd name="connsiteY3" fmla="*/ 920306 h 952499"/>
              <a:gd name="connsiteX4" fmla="*/ 30289 w 705136"/>
              <a:gd name="connsiteY4" fmla="*/ 890016 h 952499"/>
              <a:gd name="connsiteX5" fmla="*/ 121730 w 705136"/>
              <a:gd name="connsiteY5" fmla="*/ 889349 h 952499"/>
              <a:gd name="connsiteX6" fmla="*/ 152591 w 705136"/>
              <a:gd name="connsiteY6" fmla="*/ 920210 h 952499"/>
              <a:gd name="connsiteX7" fmla="*/ 121730 w 705136"/>
              <a:gd name="connsiteY7" fmla="*/ 951166 h 952499"/>
              <a:gd name="connsiteX8" fmla="*/ 90774 w 705136"/>
              <a:gd name="connsiteY8" fmla="*/ 920210 h 952499"/>
              <a:gd name="connsiteX9" fmla="*/ 121730 w 705136"/>
              <a:gd name="connsiteY9" fmla="*/ 889349 h 952499"/>
              <a:gd name="connsiteX10" fmla="*/ 213170 w 705136"/>
              <a:gd name="connsiteY10" fmla="*/ 888682 h 952499"/>
              <a:gd name="connsiteX11" fmla="*/ 244697 w 705136"/>
              <a:gd name="connsiteY11" fmla="*/ 920210 h 952499"/>
              <a:gd name="connsiteX12" fmla="*/ 213170 w 705136"/>
              <a:gd name="connsiteY12" fmla="*/ 951737 h 952499"/>
              <a:gd name="connsiteX13" fmla="*/ 181642 w 705136"/>
              <a:gd name="connsiteY13" fmla="*/ 920210 h 952499"/>
              <a:gd name="connsiteX14" fmla="*/ 213170 w 705136"/>
              <a:gd name="connsiteY14" fmla="*/ 888682 h 952499"/>
              <a:gd name="connsiteX15" fmla="*/ 304610 w 705136"/>
              <a:gd name="connsiteY15" fmla="*/ 888110 h 952499"/>
              <a:gd name="connsiteX16" fmla="*/ 336804 w 705136"/>
              <a:gd name="connsiteY16" fmla="*/ 920305 h 952499"/>
              <a:gd name="connsiteX17" fmla="*/ 304610 w 705136"/>
              <a:gd name="connsiteY17" fmla="*/ 952499 h 952499"/>
              <a:gd name="connsiteX18" fmla="*/ 272415 w 705136"/>
              <a:gd name="connsiteY18" fmla="*/ 920305 h 952499"/>
              <a:gd name="connsiteX19" fmla="*/ 304610 w 705136"/>
              <a:gd name="connsiteY19" fmla="*/ 888110 h 952499"/>
              <a:gd name="connsiteX20" fmla="*/ 121730 w 705136"/>
              <a:gd name="connsiteY20" fmla="*/ 778383 h 952499"/>
              <a:gd name="connsiteX21" fmla="*/ 152591 w 705136"/>
              <a:gd name="connsiteY21" fmla="*/ 809244 h 952499"/>
              <a:gd name="connsiteX22" fmla="*/ 121730 w 705136"/>
              <a:gd name="connsiteY22" fmla="*/ 840200 h 952499"/>
              <a:gd name="connsiteX23" fmla="*/ 90774 w 705136"/>
              <a:gd name="connsiteY23" fmla="*/ 809244 h 952499"/>
              <a:gd name="connsiteX24" fmla="*/ 121730 w 705136"/>
              <a:gd name="connsiteY24" fmla="*/ 778383 h 952499"/>
              <a:gd name="connsiteX25" fmla="*/ 213170 w 705136"/>
              <a:gd name="connsiteY25" fmla="*/ 777716 h 952499"/>
              <a:gd name="connsiteX26" fmla="*/ 244697 w 705136"/>
              <a:gd name="connsiteY26" fmla="*/ 809244 h 952499"/>
              <a:gd name="connsiteX27" fmla="*/ 213170 w 705136"/>
              <a:gd name="connsiteY27" fmla="*/ 840771 h 952499"/>
              <a:gd name="connsiteX28" fmla="*/ 181642 w 705136"/>
              <a:gd name="connsiteY28" fmla="*/ 809244 h 952499"/>
              <a:gd name="connsiteX29" fmla="*/ 213170 w 705136"/>
              <a:gd name="connsiteY29" fmla="*/ 777716 h 952499"/>
              <a:gd name="connsiteX30" fmla="*/ 304610 w 705136"/>
              <a:gd name="connsiteY30" fmla="*/ 777049 h 952499"/>
              <a:gd name="connsiteX31" fmla="*/ 336804 w 705136"/>
              <a:gd name="connsiteY31" fmla="*/ 809243 h 952499"/>
              <a:gd name="connsiteX32" fmla="*/ 304610 w 705136"/>
              <a:gd name="connsiteY32" fmla="*/ 841438 h 952499"/>
              <a:gd name="connsiteX33" fmla="*/ 272415 w 705136"/>
              <a:gd name="connsiteY33" fmla="*/ 809243 h 952499"/>
              <a:gd name="connsiteX34" fmla="*/ 304610 w 705136"/>
              <a:gd name="connsiteY34" fmla="*/ 777049 h 952499"/>
              <a:gd name="connsiteX35" fmla="*/ 396049 w 705136"/>
              <a:gd name="connsiteY35" fmla="*/ 776382 h 952499"/>
              <a:gd name="connsiteX36" fmla="*/ 428911 w 705136"/>
              <a:gd name="connsiteY36" fmla="*/ 809243 h 952499"/>
              <a:gd name="connsiteX37" fmla="*/ 396049 w 705136"/>
              <a:gd name="connsiteY37" fmla="*/ 842105 h 952499"/>
              <a:gd name="connsiteX38" fmla="*/ 363188 w 705136"/>
              <a:gd name="connsiteY38" fmla="*/ 809243 h 952499"/>
              <a:gd name="connsiteX39" fmla="*/ 396049 w 705136"/>
              <a:gd name="connsiteY39" fmla="*/ 776382 h 952499"/>
              <a:gd name="connsiteX40" fmla="*/ 213170 w 705136"/>
              <a:gd name="connsiteY40" fmla="*/ 666750 h 952499"/>
              <a:gd name="connsiteX41" fmla="*/ 244697 w 705136"/>
              <a:gd name="connsiteY41" fmla="*/ 698278 h 952499"/>
              <a:gd name="connsiteX42" fmla="*/ 213170 w 705136"/>
              <a:gd name="connsiteY42" fmla="*/ 729806 h 952499"/>
              <a:gd name="connsiteX43" fmla="*/ 181642 w 705136"/>
              <a:gd name="connsiteY43" fmla="*/ 698278 h 952499"/>
              <a:gd name="connsiteX44" fmla="*/ 213170 w 705136"/>
              <a:gd name="connsiteY44" fmla="*/ 666750 h 952499"/>
              <a:gd name="connsiteX45" fmla="*/ 304610 w 705136"/>
              <a:gd name="connsiteY45" fmla="*/ 666083 h 952499"/>
              <a:gd name="connsiteX46" fmla="*/ 336804 w 705136"/>
              <a:gd name="connsiteY46" fmla="*/ 698277 h 952499"/>
              <a:gd name="connsiteX47" fmla="*/ 304610 w 705136"/>
              <a:gd name="connsiteY47" fmla="*/ 730472 h 952499"/>
              <a:gd name="connsiteX48" fmla="*/ 272415 w 705136"/>
              <a:gd name="connsiteY48" fmla="*/ 698277 h 952499"/>
              <a:gd name="connsiteX49" fmla="*/ 304610 w 705136"/>
              <a:gd name="connsiteY49" fmla="*/ 666083 h 952499"/>
              <a:gd name="connsiteX50" fmla="*/ 396049 w 705136"/>
              <a:gd name="connsiteY50" fmla="*/ 665416 h 952499"/>
              <a:gd name="connsiteX51" fmla="*/ 428911 w 705136"/>
              <a:gd name="connsiteY51" fmla="*/ 698277 h 952499"/>
              <a:gd name="connsiteX52" fmla="*/ 396049 w 705136"/>
              <a:gd name="connsiteY52" fmla="*/ 731139 h 952499"/>
              <a:gd name="connsiteX53" fmla="*/ 363188 w 705136"/>
              <a:gd name="connsiteY53" fmla="*/ 698277 h 952499"/>
              <a:gd name="connsiteX54" fmla="*/ 396049 w 705136"/>
              <a:gd name="connsiteY54" fmla="*/ 665416 h 952499"/>
              <a:gd name="connsiteX55" fmla="*/ 487394 w 705136"/>
              <a:gd name="connsiteY55" fmla="*/ 664749 h 952499"/>
              <a:gd name="connsiteX56" fmla="*/ 520922 w 705136"/>
              <a:gd name="connsiteY56" fmla="*/ 698277 h 952499"/>
              <a:gd name="connsiteX57" fmla="*/ 487394 w 705136"/>
              <a:gd name="connsiteY57" fmla="*/ 731805 h 952499"/>
              <a:gd name="connsiteX58" fmla="*/ 453866 w 705136"/>
              <a:gd name="connsiteY58" fmla="*/ 698277 h 952499"/>
              <a:gd name="connsiteX59" fmla="*/ 487394 w 705136"/>
              <a:gd name="connsiteY59" fmla="*/ 664749 h 952499"/>
              <a:gd name="connsiteX60" fmla="*/ 304610 w 705136"/>
              <a:gd name="connsiteY60" fmla="*/ 555021 h 952499"/>
              <a:gd name="connsiteX61" fmla="*/ 336804 w 705136"/>
              <a:gd name="connsiteY61" fmla="*/ 587216 h 952499"/>
              <a:gd name="connsiteX62" fmla="*/ 304610 w 705136"/>
              <a:gd name="connsiteY62" fmla="*/ 619410 h 952499"/>
              <a:gd name="connsiteX63" fmla="*/ 272415 w 705136"/>
              <a:gd name="connsiteY63" fmla="*/ 587216 h 952499"/>
              <a:gd name="connsiteX64" fmla="*/ 304610 w 705136"/>
              <a:gd name="connsiteY64" fmla="*/ 555021 h 952499"/>
              <a:gd name="connsiteX65" fmla="*/ 396049 w 705136"/>
              <a:gd name="connsiteY65" fmla="*/ 554355 h 952499"/>
              <a:gd name="connsiteX66" fmla="*/ 428911 w 705136"/>
              <a:gd name="connsiteY66" fmla="*/ 587216 h 952499"/>
              <a:gd name="connsiteX67" fmla="*/ 396049 w 705136"/>
              <a:gd name="connsiteY67" fmla="*/ 620077 h 952499"/>
              <a:gd name="connsiteX68" fmla="*/ 363188 w 705136"/>
              <a:gd name="connsiteY68" fmla="*/ 587216 h 952499"/>
              <a:gd name="connsiteX69" fmla="*/ 396049 w 705136"/>
              <a:gd name="connsiteY69" fmla="*/ 554355 h 952499"/>
              <a:gd name="connsiteX70" fmla="*/ 487394 w 705136"/>
              <a:gd name="connsiteY70" fmla="*/ 553783 h 952499"/>
              <a:gd name="connsiteX71" fmla="*/ 520922 w 705136"/>
              <a:gd name="connsiteY71" fmla="*/ 587311 h 952499"/>
              <a:gd name="connsiteX72" fmla="*/ 487394 w 705136"/>
              <a:gd name="connsiteY72" fmla="*/ 620839 h 952499"/>
              <a:gd name="connsiteX73" fmla="*/ 453866 w 705136"/>
              <a:gd name="connsiteY73" fmla="*/ 587311 h 952499"/>
              <a:gd name="connsiteX74" fmla="*/ 487394 w 705136"/>
              <a:gd name="connsiteY74" fmla="*/ 553783 h 952499"/>
              <a:gd name="connsiteX75" fmla="*/ 578835 w 705136"/>
              <a:gd name="connsiteY75" fmla="*/ 553116 h 952499"/>
              <a:gd name="connsiteX76" fmla="*/ 613030 w 705136"/>
              <a:gd name="connsiteY76" fmla="*/ 587311 h 952499"/>
              <a:gd name="connsiteX77" fmla="*/ 578835 w 705136"/>
              <a:gd name="connsiteY77" fmla="*/ 621506 h 952499"/>
              <a:gd name="connsiteX78" fmla="*/ 544640 w 705136"/>
              <a:gd name="connsiteY78" fmla="*/ 587311 h 952499"/>
              <a:gd name="connsiteX79" fmla="*/ 578835 w 705136"/>
              <a:gd name="connsiteY79" fmla="*/ 553116 h 952499"/>
              <a:gd name="connsiteX80" fmla="*/ 396049 w 705136"/>
              <a:gd name="connsiteY80" fmla="*/ 443388 h 952499"/>
              <a:gd name="connsiteX81" fmla="*/ 428911 w 705136"/>
              <a:gd name="connsiteY81" fmla="*/ 476249 h 952499"/>
              <a:gd name="connsiteX82" fmla="*/ 396049 w 705136"/>
              <a:gd name="connsiteY82" fmla="*/ 509111 h 952499"/>
              <a:gd name="connsiteX83" fmla="*/ 363188 w 705136"/>
              <a:gd name="connsiteY83" fmla="*/ 476249 h 952499"/>
              <a:gd name="connsiteX84" fmla="*/ 396049 w 705136"/>
              <a:gd name="connsiteY84" fmla="*/ 443388 h 952499"/>
              <a:gd name="connsiteX85" fmla="*/ 487394 w 705136"/>
              <a:gd name="connsiteY85" fmla="*/ 442721 h 952499"/>
              <a:gd name="connsiteX86" fmla="*/ 520922 w 705136"/>
              <a:gd name="connsiteY86" fmla="*/ 476249 h 952499"/>
              <a:gd name="connsiteX87" fmla="*/ 487394 w 705136"/>
              <a:gd name="connsiteY87" fmla="*/ 509777 h 952499"/>
              <a:gd name="connsiteX88" fmla="*/ 453866 w 705136"/>
              <a:gd name="connsiteY88" fmla="*/ 476249 h 952499"/>
              <a:gd name="connsiteX89" fmla="*/ 487394 w 705136"/>
              <a:gd name="connsiteY89" fmla="*/ 442721 h 952499"/>
              <a:gd name="connsiteX90" fmla="*/ 578835 w 705136"/>
              <a:gd name="connsiteY90" fmla="*/ 442055 h 952499"/>
              <a:gd name="connsiteX91" fmla="*/ 613030 w 705136"/>
              <a:gd name="connsiteY91" fmla="*/ 476250 h 952499"/>
              <a:gd name="connsiteX92" fmla="*/ 578835 w 705136"/>
              <a:gd name="connsiteY92" fmla="*/ 510445 h 952499"/>
              <a:gd name="connsiteX93" fmla="*/ 544640 w 705136"/>
              <a:gd name="connsiteY93" fmla="*/ 476250 h 952499"/>
              <a:gd name="connsiteX94" fmla="*/ 578835 w 705136"/>
              <a:gd name="connsiteY94" fmla="*/ 442055 h 952499"/>
              <a:gd name="connsiteX95" fmla="*/ 670275 w 705136"/>
              <a:gd name="connsiteY95" fmla="*/ 441388 h 952499"/>
              <a:gd name="connsiteX96" fmla="*/ 705136 w 705136"/>
              <a:gd name="connsiteY96" fmla="*/ 476250 h 952499"/>
              <a:gd name="connsiteX97" fmla="*/ 670275 w 705136"/>
              <a:gd name="connsiteY97" fmla="*/ 511111 h 952499"/>
              <a:gd name="connsiteX98" fmla="*/ 635413 w 705136"/>
              <a:gd name="connsiteY98" fmla="*/ 476250 h 952499"/>
              <a:gd name="connsiteX99" fmla="*/ 670275 w 705136"/>
              <a:gd name="connsiteY99" fmla="*/ 441388 h 952499"/>
              <a:gd name="connsiteX100" fmla="*/ 304610 w 705136"/>
              <a:gd name="connsiteY100" fmla="*/ 332993 h 952499"/>
              <a:gd name="connsiteX101" fmla="*/ 336804 w 705136"/>
              <a:gd name="connsiteY101" fmla="*/ 365188 h 952499"/>
              <a:gd name="connsiteX102" fmla="*/ 304610 w 705136"/>
              <a:gd name="connsiteY102" fmla="*/ 397382 h 952499"/>
              <a:gd name="connsiteX103" fmla="*/ 272415 w 705136"/>
              <a:gd name="connsiteY103" fmla="*/ 365188 h 952499"/>
              <a:gd name="connsiteX104" fmla="*/ 304610 w 705136"/>
              <a:gd name="connsiteY104" fmla="*/ 332993 h 952499"/>
              <a:gd name="connsiteX105" fmla="*/ 396049 w 705136"/>
              <a:gd name="connsiteY105" fmla="*/ 332327 h 952499"/>
              <a:gd name="connsiteX106" fmla="*/ 428911 w 705136"/>
              <a:gd name="connsiteY106" fmla="*/ 365188 h 952499"/>
              <a:gd name="connsiteX107" fmla="*/ 396049 w 705136"/>
              <a:gd name="connsiteY107" fmla="*/ 398050 h 952499"/>
              <a:gd name="connsiteX108" fmla="*/ 363188 w 705136"/>
              <a:gd name="connsiteY108" fmla="*/ 365188 h 952499"/>
              <a:gd name="connsiteX109" fmla="*/ 396049 w 705136"/>
              <a:gd name="connsiteY109" fmla="*/ 332327 h 952499"/>
              <a:gd name="connsiteX110" fmla="*/ 487394 w 705136"/>
              <a:gd name="connsiteY110" fmla="*/ 331755 h 952499"/>
              <a:gd name="connsiteX111" fmla="*/ 520922 w 705136"/>
              <a:gd name="connsiteY111" fmla="*/ 365283 h 952499"/>
              <a:gd name="connsiteX112" fmla="*/ 487394 w 705136"/>
              <a:gd name="connsiteY112" fmla="*/ 398811 h 952499"/>
              <a:gd name="connsiteX113" fmla="*/ 453866 w 705136"/>
              <a:gd name="connsiteY113" fmla="*/ 365283 h 952499"/>
              <a:gd name="connsiteX114" fmla="*/ 487394 w 705136"/>
              <a:gd name="connsiteY114" fmla="*/ 331755 h 952499"/>
              <a:gd name="connsiteX115" fmla="*/ 578835 w 705136"/>
              <a:gd name="connsiteY115" fmla="*/ 331088 h 952499"/>
              <a:gd name="connsiteX116" fmla="*/ 613030 w 705136"/>
              <a:gd name="connsiteY116" fmla="*/ 365283 h 952499"/>
              <a:gd name="connsiteX117" fmla="*/ 578835 w 705136"/>
              <a:gd name="connsiteY117" fmla="*/ 399478 h 952499"/>
              <a:gd name="connsiteX118" fmla="*/ 544640 w 705136"/>
              <a:gd name="connsiteY118" fmla="*/ 365283 h 952499"/>
              <a:gd name="connsiteX119" fmla="*/ 578835 w 705136"/>
              <a:gd name="connsiteY119" fmla="*/ 331088 h 952499"/>
              <a:gd name="connsiteX120" fmla="*/ 213170 w 705136"/>
              <a:gd name="connsiteY120" fmla="*/ 222694 h 952499"/>
              <a:gd name="connsiteX121" fmla="*/ 244697 w 705136"/>
              <a:gd name="connsiteY121" fmla="*/ 254222 h 952499"/>
              <a:gd name="connsiteX122" fmla="*/ 213170 w 705136"/>
              <a:gd name="connsiteY122" fmla="*/ 285750 h 952499"/>
              <a:gd name="connsiteX123" fmla="*/ 181642 w 705136"/>
              <a:gd name="connsiteY123" fmla="*/ 254222 h 952499"/>
              <a:gd name="connsiteX124" fmla="*/ 213170 w 705136"/>
              <a:gd name="connsiteY124" fmla="*/ 222694 h 952499"/>
              <a:gd name="connsiteX125" fmla="*/ 304610 w 705136"/>
              <a:gd name="connsiteY125" fmla="*/ 222027 h 952499"/>
              <a:gd name="connsiteX126" fmla="*/ 336804 w 705136"/>
              <a:gd name="connsiteY126" fmla="*/ 254222 h 952499"/>
              <a:gd name="connsiteX127" fmla="*/ 304610 w 705136"/>
              <a:gd name="connsiteY127" fmla="*/ 286416 h 952499"/>
              <a:gd name="connsiteX128" fmla="*/ 272415 w 705136"/>
              <a:gd name="connsiteY128" fmla="*/ 254222 h 952499"/>
              <a:gd name="connsiteX129" fmla="*/ 304610 w 705136"/>
              <a:gd name="connsiteY129" fmla="*/ 222027 h 952499"/>
              <a:gd name="connsiteX130" fmla="*/ 396049 w 705136"/>
              <a:gd name="connsiteY130" fmla="*/ 221360 h 952499"/>
              <a:gd name="connsiteX131" fmla="*/ 428911 w 705136"/>
              <a:gd name="connsiteY131" fmla="*/ 254221 h 952499"/>
              <a:gd name="connsiteX132" fmla="*/ 396049 w 705136"/>
              <a:gd name="connsiteY132" fmla="*/ 287083 h 952499"/>
              <a:gd name="connsiteX133" fmla="*/ 363188 w 705136"/>
              <a:gd name="connsiteY133" fmla="*/ 254221 h 952499"/>
              <a:gd name="connsiteX134" fmla="*/ 396049 w 705136"/>
              <a:gd name="connsiteY134" fmla="*/ 221360 h 952499"/>
              <a:gd name="connsiteX135" fmla="*/ 487394 w 705136"/>
              <a:gd name="connsiteY135" fmla="*/ 220694 h 952499"/>
              <a:gd name="connsiteX136" fmla="*/ 520922 w 705136"/>
              <a:gd name="connsiteY136" fmla="*/ 254222 h 952499"/>
              <a:gd name="connsiteX137" fmla="*/ 487394 w 705136"/>
              <a:gd name="connsiteY137" fmla="*/ 287750 h 952499"/>
              <a:gd name="connsiteX138" fmla="*/ 453866 w 705136"/>
              <a:gd name="connsiteY138" fmla="*/ 254222 h 952499"/>
              <a:gd name="connsiteX139" fmla="*/ 487394 w 705136"/>
              <a:gd name="connsiteY139" fmla="*/ 220694 h 952499"/>
              <a:gd name="connsiteX140" fmla="*/ 121730 w 705136"/>
              <a:gd name="connsiteY140" fmla="*/ 112299 h 952499"/>
              <a:gd name="connsiteX141" fmla="*/ 152591 w 705136"/>
              <a:gd name="connsiteY141" fmla="*/ 143160 h 952499"/>
              <a:gd name="connsiteX142" fmla="*/ 121730 w 705136"/>
              <a:gd name="connsiteY142" fmla="*/ 174116 h 952499"/>
              <a:gd name="connsiteX143" fmla="*/ 90774 w 705136"/>
              <a:gd name="connsiteY143" fmla="*/ 143160 h 952499"/>
              <a:gd name="connsiteX144" fmla="*/ 121730 w 705136"/>
              <a:gd name="connsiteY144" fmla="*/ 112299 h 952499"/>
              <a:gd name="connsiteX145" fmla="*/ 213170 w 705136"/>
              <a:gd name="connsiteY145" fmla="*/ 111633 h 952499"/>
              <a:gd name="connsiteX146" fmla="*/ 244697 w 705136"/>
              <a:gd name="connsiteY146" fmla="*/ 143161 h 952499"/>
              <a:gd name="connsiteX147" fmla="*/ 213170 w 705136"/>
              <a:gd name="connsiteY147" fmla="*/ 174689 h 952499"/>
              <a:gd name="connsiteX148" fmla="*/ 181642 w 705136"/>
              <a:gd name="connsiteY148" fmla="*/ 143161 h 952499"/>
              <a:gd name="connsiteX149" fmla="*/ 213170 w 705136"/>
              <a:gd name="connsiteY149" fmla="*/ 111633 h 952499"/>
              <a:gd name="connsiteX150" fmla="*/ 304610 w 705136"/>
              <a:gd name="connsiteY150" fmla="*/ 110966 h 952499"/>
              <a:gd name="connsiteX151" fmla="*/ 336804 w 705136"/>
              <a:gd name="connsiteY151" fmla="*/ 143161 h 952499"/>
              <a:gd name="connsiteX152" fmla="*/ 304610 w 705136"/>
              <a:gd name="connsiteY152" fmla="*/ 175355 h 952499"/>
              <a:gd name="connsiteX153" fmla="*/ 272415 w 705136"/>
              <a:gd name="connsiteY153" fmla="*/ 143161 h 952499"/>
              <a:gd name="connsiteX154" fmla="*/ 304610 w 705136"/>
              <a:gd name="connsiteY154" fmla="*/ 110966 h 952499"/>
              <a:gd name="connsiteX155" fmla="*/ 396049 w 705136"/>
              <a:gd name="connsiteY155" fmla="*/ 110394 h 952499"/>
              <a:gd name="connsiteX156" fmla="*/ 428911 w 705136"/>
              <a:gd name="connsiteY156" fmla="*/ 143255 h 952499"/>
              <a:gd name="connsiteX157" fmla="*/ 396049 w 705136"/>
              <a:gd name="connsiteY157" fmla="*/ 176117 h 952499"/>
              <a:gd name="connsiteX158" fmla="*/ 363188 w 705136"/>
              <a:gd name="connsiteY158" fmla="*/ 143255 h 952499"/>
              <a:gd name="connsiteX159" fmla="*/ 396049 w 705136"/>
              <a:gd name="connsiteY159" fmla="*/ 110394 h 952499"/>
              <a:gd name="connsiteX160" fmla="*/ 30289 w 705136"/>
              <a:gd name="connsiteY160" fmla="*/ 2000 h 952499"/>
              <a:gd name="connsiteX161" fmla="*/ 60579 w 705136"/>
              <a:gd name="connsiteY161" fmla="*/ 32290 h 952499"/>
              <a:gd name="connsiteX162" fmla="*/ 30289 w 705136"/>
              <a:gd name="connsiteY162" fmla="*/ 62579 h 952499"/>
              <a:gd name="connsiteX163" fmla="*/ 0 w 705136"/>
              <a:gd name="connsiteY163" fmla="*/ 32290 h 952499"/>
              <a:gd name="connsiteX164" fmla="*/ 30289 w 705136"/>
              <a:gd name="connsiteY164" fmla="*/ 2000 h 952499"/>
              <a:gd name="connsiteX165" fmla="*/ 121730 w 705136"/>
              <a:gd name="connsiteY165" fmla="*/ 1333 h 952499"/>
              <a:gd name="connsiteX166" fmla="*/ 152591 w 705136"/>
              <a:gd name="connsiteY166" fmla="*/ 32194 h 952499"/>
              <a:gd name="connsiteX167" fmla="*/ 121730 w 705136"/>
              <a:gd name="connsiteY167" fmla="*/ 63150 h 952499"/>
              <a:gd name="connsiteX168" fmla="*/ 90774 w 705136"/>
              <a:gd name="connsiteY168" fmla="*/ 32194 h 952499"/>
              <a:gd name="connsiteX169" fmla="*/ 121730 w 705136"/>
              <a:gd name="connsiteY169" fmla="*/ 1333 h 952499"/>
              <a:gd name="connsiteX170" fmla="*/ 213170 w 705136"/>
              <a:gd name="connsiteY170" fmla="*/ 666 h 952499"/>
              <a:gd name="connsiteX171" fmla="*/ 244697 w 705136"/>
              <a:gd name="connsiteY171" fmla="*/ 32194 h 952499"/>
              <a:gd name="connsiteX172" fmla="*/ 213170 w 705136"/>
              <a:gd name="connsiteY172" fmla="*/ 63722 h 952499"/>
              <a:gd name="connsiteX173" fmla="*/ 181642 w 705136"/>
              <a:gd name="connsiteY173" fmla="*/ 32194 h 952499"/>
              <a:gd name="connsiteX174" fmla="*/ 213170 w 705136"/>
              <a:gd name="connsiteY174" fmla="*/ 666 h 952499"/>
              <a:gd name="connsiteX175" fmla="*/ 304610 w 705136"/>
              <a:gd name="connsiteY175" fmla="*/ 0 h 952499"/>
              <a:gd name="connsiteX176" fmla="*/ 336804 w 705136"/>
              <a:gd name="connsiteY176" fmla="*/ 32195 h 952499"/>
              <a:gd name="connsiteX177" fmla="*/ 304610 w 705136"/>
              <a:gd name="connsiteY177" fmla="*/ 64389 h 952499"/>
              <a:gd name="connsiteX178" fmla="*/ 272415 w 705136"/>
              <a:gd name="connsiteY178" fmla="*/ 32195 h 952499"/>
              <a:gd name="connsiteX179" fmla="*/ 304610 w 705136"/>
              <a:gd name="connsiteY179" fmla="*/ 0 h 952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Lst>
            <a:rect l="l" t="t" r="r" b="b"/>
            <a:pathLst>
              <a:path w="705136" h="952499">
                <a:moveTo>
                  <a:pt x="30289" y="890016"/>
                </a:moveTo>
                <a:cubicBezTo>
                  <a:pt x="46958" y="890016"/>
                  <a:pt x="60579" y="903637"/>
                  <a:pt x="60579" y="920306"/>
                </a:cubicBezTo>
                <a:cubicBezTo>
                  <a:pt x="60579" y="937069"/>
                  <a:pt x="46958" y="950595"/>
                  <a:pt x="30289" y="950595"/>
                </a:cubicBezTo>
                <a:cubicBezTo>
                  <a:pt x="13621" y="950595"/>
                  <a:pt x="0" y="936974"/>
                  <a:pt x="0" y="920306"/>
                </a:cubicBezTo>
                <a:cubicBezTo>
                  <a:pt x="0" y="903541"/>
                  <a:pt x="13621" y="890016"/>
                  <a:pt x="30289" y="890016"/>
                </a:cubicBezTo>
                <a:close/>
                <a:moveTo>
                  <a:pt x="121730" y="889349"/>
                </a:moveTo>
                <a:cubicBezTo>
                  <a:pt x="138780" y="889349"/>
                  <a:pt x="152687" y="903255"/>
                  <a:pt x="152591" y="920210"/>
                </a:cubicBezTo>
                <a:cubicBezTo>
                  <a:pt x="152591" y="937260"/>
                  <a:pt x="138780" y="951166"/>
                  <a:pt x="121730" y="951166"/>
                </a:cubicBezTo>
                <a:cubicBezTo>
                  <a:pt x="104680" y="951166"/>
                  <a:pt x="90774" y="937260"/>
                  <a:pt x="90774" y="920210"/>
                </a:cubicBezTo>
                <a:cubicBezTo>
                  <a:pt x="90774" y="903255"/>
                  <a:pt x="104680" y="889349"/>
                  <a:pt x="121730" y="889349"/>
                </a:cubicBezTo>
                <a:close/>
                <a:moveTo>
                  <a:pt x="213170" y="888682"/>
                </a:moveTo>
                <a:cubicBezTo>
                  <a:pt x="230600" y="888682"/>
                  <a:pt x="244697" y="902874"/>
                  <a:pt x="244697" y="920210"/>
                </a:cubicBezTo>
                <a:cubicBezTo>
                  <a:pt x="244697" y="937545"/>
                  <a:pt x="230600" y="951737"/>
                  <a:pt x="213170" y="951737"/>
                </a:cubicBezTo>
                <a:cubicBezTo>
                  <a:pt x="195834" y="951737"/>
                  <a:pt x="181642" y="937640"/>
                  <a:pt x="181642" y="920210"/>
                </a:cubicBezTo>
                <a:cubicBezTo>
                  <a:pt x="181642" y="902874"/>
                  <a:pt x="195739" y="888682"/>
                  <a:pt x="213170" y="888682"/>
                </a:cubicBezTo>
                <a:close/>
                <a:moveTo>
                  <a:pt x="304610" y="888110"/>
                </a:moveTo>
                <a:cubicBezTo>
                  <a:pt x="322326" y="888110"/>
                  <a:pt x="336804" y="902493"/>
                  <a:pt x="336804" y="920305"/>
                </a:cubicBezTo>
                <a:cubicBezTo>
                  <a:pt x="336804" y="938021"/>
                  <a:pt x="322326" y="952499"/>
                  <a:pt x="304610" y="952499"/>
                </a:cubicBezTo>
                <a:cubicBezTo>
                  <a:pt x="286893" y="952499"/>
                  <a:pt x="272415" y="938116"/>
                  <a:pt x="272415" y="920305"/>
                </a:cubicBezTo>
                <a:cubicBezTo>
                  <a:pt x="272415" y="902588"/>
                  <a:pt x="286798" y="888110"/>
                  <a:pt x="304610" y="888110"/>
                </a:cubicBezTo>
                <a:close/>
                <a:moveTo>
                  <a:pt x="121730" y="778383"/>
                </a:moveTo>
                <a:cubicBezTo>
                  <a:pt x="138780" y="778383"/>
                  <a:pt x="152687" y="792194"/>
                  <a:pt x="152591" y="809244"/>
                </a:cubicBezTo>
                <a:cubicBezTo>
                  <a:pt x="152591" y="826294"/>
                  <a:pt x="138780" y="840200"/>
                  <a:pt x="121730" y="840200"/>
                </a:cubicBezTo>
                <a:cubicBezTo>
                  <a:pt x="104680" y="840200"/>
                  <a:pt x="90774" y="826294"/>
                  <a:pt x="90774" y="809244"/>
                </a:cubicBezTo>
                <a:cubicBezTo>
                  <a:pt x="90774" y="792289"/>
                  <a:pt x="104680" y="778383"/>
                  <a:pt x="121730" y="778383"/>
                </a:cubicBezTo>
                <a:close/>
                <a:moveTo>
                  <a:pt x="213170" y="777716"/>
                </a:moveTo>
                <a:cubicBezTo>
                  <a:pt x="230600" y="777716"/>
                  <a:pt x="244697" y="791908"/>
                  <a:pt x="244697" y="809244"/>
                </a:cubicBezTo>
                <a:cubicBezTo>
                  <a:pt x="244697" y="826579"/>
                  <a:pt x="230600" y="840771"/>
                  <a:pt x="213170" y="840771"/>
                </a:cubicBezTo>
                <a:cubicBezTo>
                  <a:pt x="195834" y="840771"/>
                  <a:pt x="181642" y="826674"/>
                  <a:pt x="181642" y="809244"/>
                </a:cubicBezTo>
                <a:cubicBezTo>
                  <a:pt x="181642" y="791908"/>
                  <a:pt x="195739" y="777716"/>
                  <a:pt x="213170" y="777716"/>
                </a:cubicBezTo>
                <a:close/>
                <a:moveTo>
                  <a:pt x="304610" y="777049"/>
                </a:moveTo>
                <a:cubicBezTo>
                  <a:pt x="322326" y="777049"/>
                  <a:pt x="336804" y="791527"/>
                  <a:pt x="336804" y="809243"/>
                </a:cubicBezTo>
                <a:cubicBezTo>
                  <a:pt x="336804" y="826960"/>
                  <a:pt x="322326" y="841438"/>
                  <a:pt x="304610" y="841438"/>
                </a:cubicBezTo>
                <a:cubicBezTo>
                  <a:pt x="286893" y="841438"/>
                  <a:pt x="272415" y="827055"/>
                  <a:pt x="272415" y="809243"/>
                </a:cubicBezTo>
                <a:cubicBezTo>
                  <a:pt x="272415" y="791527"/>
                  <a:pt x="286798" y="777049"/>
                  <a:pt x="304610" y="777049"/>
                </a:cubicBezTo>
                <a:close/>
                <a:moveTo>
                  <a:pt x="396049" y="776382"/>
                </a:moveTo>
                <a:cubicBezTo>
                  <a:pt x="414147" y="776382"/>
                  <a:pt x="428815" y="791146"/>
                  <a:pt x="428911" y="809243"/>
                </a:cubicBezTo>
                <a:cubicBezTo>
                  <a:pt x="428911" y="827341"/>
                  <a:pt x="414147" y="842105"/>
                  <a:pt x="396049" y="842105"/>
                </a:cubicBezTo>
                <a:cubicBezTo>
                  <a:pt x="377952" y="842105"/>
                  <a:pt x="363188" y="827341"/>
                  <a:pt x="363188" y="809243"/>
                </a:cubicBezTo>
                <a:cubicBezTo>
                  <a:pt x="363188" y="791146"/>
                  <a:pt x="377952" y="776382"/>
                  <a:pt x="396049" y="776382"/>
                </a:cubicBezTo>
                <a:close/>
                <a:moveTo>
                  <a:pt x="213170" y="666750"/>
                </a:moveTo>
                <a:cubicBezTo>
                  <a:pt x="230600" y="666750"/>
                  <a:pt x="244697" y="680847"/>
                  <a:pt x="244697" y="698278"/>
                </a:cubicBezTo>
                <a:cubicBezTo>
                  <a:pt x="244697" y="715613"/>
                  <a:pt x="230600" y="729806"/>
                  <a:pt x="213170" y="729806"/>
                </a:cubicBezTo>
                <a:cubicBezTo>
                  <a:pt x="195834" y="729806"/>
                  <a:pt x="181642" y="715708"/>
                  <a:pt x="181642" y="698278"/>
                </a:cubicBezTo>
                <a:cubicBezTo>
                  <a:pt x="181642" y="680942"/>
                  <a:pt x="195739" y="666750"/>
                  <a:pt x="213170" y="666750"/>
                </a:cubicBezTo>
                <a:close/>
                <a:moveTo>
                  <a:pt x="304610" y="666083"/>
                </a:moveTo>
                <a:cubicBezTo>
                  <a:pt x="322326" y="666083"/>
                  <a:pt x="336804" y="680466"/>
                  <a:pt x="336804" y="698277"/>
                </a:cubicBezTo>
                <a:cubicBezTo>
                  <a:pt x="336804" y="715994"/>
                  <a:pt x="322326" y="730472"/>
                  <a:pt x="304610" y="730472"/>
                </a:cubicBezTo>
                <a:cubicBezTo>
                  <a:pt x="286893" y="730472"/>
                  <a:pt x="272415" y="716089"/>
                  <a:pt x="272415" y="698277"/>
                </a:cubicBezTo>
                <a:cubicBezTo>
                  <a:pt x="272415" y="680561"/>
                  <a:pt x="286798" y="666083"/>
                  <a:pt x="304610" y="666083"/>
                </a:cubicBezTo>
                <a:close/>
                <a:moveTo>
                  <a:pt x="396049" y="665416"/>
                </a:moveTo>
                <a:cubicBezTo>
                  <a:pt x="414147" y="665416"/>
                  <a:pt x="428815" y="680180"/>
                  <a:pt x="428911" y="698277"/>
                </a:cubicBezTo>
                <a:cubicBezTo>
                  <a:pt x="428911" y="716375"/>
                  <a:pt x="414147" y="731139"/>
                  <a:pt x="396049" y="731139"/>
                </a:cubicBezTo>
                <a:cubicBezTo>
                  <a:pt x="377952" y="731139"/>
                  <a:pt x="363188" y="716375"/>
                  <a:pt x="363188" y="698277"/>
                </a:cubicBezTo>
                <a:cubicBezTo>
                  <a:pt x="363188" y="680180"/>
                  <a:pt x="377952" y="665416"/>
                  <a:pt x="396049" y="665416"/>
                </a:cubicBezTo>
                <a:close/>
                <a:moveTo>
                  <a:pt x="487394" y="664749"/>
                </a:moveTo>
                <a:cubicBezTo>
                  <a:pt x="505873" y="664749"/>
                  <a:pt x="520922" y="679799"/>
                  <a:pt x="520922" y="698277"/>
                </a:cubicBezTo>
                <a:cubicBezTo>
                  <a:pt x="520922" y="716755"/>
                  <a:pt x="505873" y="731805"/>
                  <a:pt x="487394" y="731805"/>
                </a:cubicBezTo>
                <a:cubicBezTo>
                  <a:pt x="468916" y="731805"/>
                  <a:pt x="453866" y="716755"/>
                  <a:pt x="453866" y="698277"/>
                </a:cubicBezTo>
                <a:cubicBezTo>
                  <a:pt x="453866" y="679799"/>
                  <a:pt x="468916" y="664749"/>
                  <a:pt x="487394" y="664749"/>
                </a:cubicBezTo>
                <a:close/>
                <a:moveTo>
                  <a:pt x="304610" y="555021"/>
                </a:moveTo>
                <a:cubicBezTo>
                  <a:pt x="322326" y="555021"/>
                  <a:pt x="336804" y="569499"/>
                  <a:pt x="336804" y="587216"/>
                </a:cubicBezTo>
                <a:cubicBezTo>
                  <a:pt x="336804" y="604932"/>
                  <a:pt x="322326" y="619410"/>
                  <a:pt x="304610" y="619410"/>
                </a:cubicBezTo>
                <a:cubicBezTo>
                  <a:pt x="286893" y="619410"/>
                  <a:pt x="272415" y="605027"/>
                  <a:pt x="272415" y="587216"/>
                </a:cubicBezTo>
                <a:cubicBezTo>
                  <a:pt x="272415" y="569499"/>
                  <a:pt x="286798" y="555021"/>
                  <a:pt x="304610" y="555021"/>
                </a:cubicBezTo>
                <a:close/>
                <a:moveTo>
                  <a:pt x="396049" y="554355"/>
                </a:moveTo>
                <a:cubicBezTo>
                  <a:pt x="414147" y="554355"/>
                  <a:pt x="428815" y="569119"/>
                  <a:pt x="428911" y="587216"/>
                </a:cubicBezTo>
                <a:cubicBezTo>
                  <a:pt x="428911" y="605314"/>
                  <a:pt x="414147" y="620077"/>
                  <a:pt x="396049" y="620077"/>
                </a:cubicBezTo>
                <a:cubicBezTo>
                  <a:pt x="377952" y="620077"/>
                  <a:pt x="363188" y="605314"/>
                  <a:pt x="363188" y="587216"/>
                </a:cubicBezTo>
                <a:cubicBezTo>
                  <a:pt x="363188" y="569119"/>
                  <a:pt x="377952" y="554355"/>
                  <a:pt x="396049" y="554355"/>
                </a:cubicBezTo>
                <a:close/>
                <a:moveTo>
                  <a:pt x="487394" y="553783"/>
                </a:moveTo>
                <a:cubicBezTo>
                  <a:pt x="505873" y="553783"/>
                  <a:pt x="520922" y="568737"/>
                  <a:pt x="520922" y="587311"/>
                </a:cubicBezTo>
                <a:cubicBezTo>
                  <a:pt x="520922" y="605789"/>
                  <a:pt x="505873" y="620839"/>
                  <a:pt x="487394" y="620839"/>
                </a:cubicBezTo>
                <a:cubicBezTo>
                  <a:pt x="468916" y="620839"/>
                  <a:pt x="453866" y="605789"/>
                  <a:pt x="453866" y="587311"/>
                </a:cubicBezTo>
                <a:cubicBezTo>
                  <a:pt x="453866" y="568833"/>
                  <a:pt x="468916" y="553783"/>
                  <a:pt x="487394" y="553783"/>
                </a:cubicBezTo>
                <a:close/>
                <a:moveTo>
                  <a:pt x="578835" y="553116"/>
                </a:moveTo>
                <a:cubicBezTo>
                  <a:pt x="597694" y="553116"/>
                  <a:pt x="613030" y="568451"/>
                  <a:pt x="613030" y="587311"/>
                </a:cubicBezTo>
                <a:cubicBezTo>
                  <a:pt x="613030" y="606170"/>
                  <a:pt x="597694" y="621506"/>
                  <a:pt x="578835" y="621506"/>
                </a:cubicBezTo>
                <a:cubicBezTo>
                  <a:pt x="559975" y="621506"/>
                  <a:pt x="544640" y="606170"/>
                  <a:pt x="544640" y="587311"/>
                </a:cubicBezTo>
                <a:cubicBezTo>
                  <a:pt x="544640" y="568451"/>
                  <a:pt x="559975" y="553116"/>
                  <a:pt x="578835" y="553116"/>
                </a:cubicBezTo>
                <a:close/>
                <a:moveTo>
                  <a:pt x="396049" y="443388"/>
                </a:moveTo>
                <a:cubicBezTo>
                  <a:pt x="414147" y="443388"/>
                  <a:pt x="428815" y="458152"/>
                  <a:pt x="428911" y="476249"/>
                </a:cubicBezTo>
                <a:cubicBezTo>
                  <a:pt x="428911" y="494347"/>
                  <a:pt x="414147" y="509111"/>
                  <a:pt x="396049" y="509111"/>
                </a:cubicBezTo>
                <a:cubicBezTo>
                  <a:pt x="377952" y="509111"/>
                  <a:pt x="363188" y="494347"/>
                  <a:pt x="363188" y="476249"/>
                </a:cubicBezTo>
                <a:cubicBezTo>
                  <a:pt x="363188" y="458152"/>
                  <a:pt x="377952" y="443388"/>
                  <a:pt x="396049" y="443388"/>
                </a:cubicBezTo>
                <a:close/>
                <a:moveTo>
                  <a:pt x="487394" y="442721"/>
                </a:moveTo>
                <a:cubicBezTo>
                  <a:pt x="505873" y="442721"/>
                  <a:pt x="520922" y="457771"/>
                  <a:pt x="520922" y="476249"/>
                </a:cubicBezTo>
                <a:cubicBezTo>
                  <a:pt x="520922" y="494727"/>
                  <a:pt x="505873" y="509777"/>
                  <a:pt x="487394" y="509777"/>
                </a:cubicBezTo>
                <a:cubicBezTo>
                  <a:pt x="468916" y="509777"/>
                  <a:pt x="453866" y="494727"/>
                  <a:pt x="453866" y="476249"/>
                </a:cubicBezTo>
                <a:cubicBezTo>
                  <a:pt x="453866" y="457771"/>
                  <a:pt x="468916" y="442721"/>
                  <a:pt x="487394" y="442721"/>
                </a:cubicBezTo>
                <a:close/>
                <a:moveTo>
                  <a:pt x="578835" y="442055"/>
                </a:moveTo>
                <a:cubicBezTo>
                  <a:pt x="597694" y="442055"/>
                  <a:pt x="613030" y="457390"/>
                  <a:pt x="613030" y="476250"/>
                </a:cubicBezTo>
                <a:cubicBezTo>
                  <a:pt x="613030" y="495109"/>
                  <a:pt x="597694" y="510445"/>
                  <a:pt x="578835" y="510445"/>
                </a:cubicBezTo>
                <a:cubicBezTo>
                  <a:pt x="559975" y="510445"/>
                  <a:pt x="544640" y="495109"/>
                  <a:pt x="544640" y="476250"/>
                </a:cubicBezTo>
                <a:cubicBezTo>
                  <a:pt x="544640" y="457390"/>
                  <a:pt x="559975" y="442055"/>
                  <a:pt x="578835" y="442055"/>
                </a:cubicBezTo>
                <a:close/>
                <a:moveTo>
                  <a:pt x="670275" y="441388"/>
                </a:moveTo>
                <a:cubicBezTo>
                  <a:pt x="689420" y="441388"/>
                  <a:pt x="705041" y="457009"/>
                  <a:pt x="705136" y="476250"/>
                </a:cubicBezTo>
                <a:cubicBezTo>
                  <a:pt x="705136" y="495490"/>
                  <a:pt x="689515" y="511111"/>
                  <a:pt x="670275" y="511111"/>
                </a:cubicBezTo>
                <a:cubicBezTo>
                  <a:pt x="651034" y="511111"/>
                  <a:pt x="635413" y="495490"/>
                  <a:pt x="635413" y="476250"/>
                </a:cubicBezTo>
                <a:cubicBezTo>
                  <a:pt x="635413" y="457009"/>
                  <a:pt x="651034" y="441388"/>
                  <a:pt x="670275" y="441388"/>
                </a:cubicBezTo>
                <a:close/>
                <a:moveTo>
                  <a:pt x="304610" y="332993"/>
                </a:moveTo>
                <a:cubicBezTo>
                  <a:pt x="322326" y="332993"/>
                  <a:pt x="336804" y="347471"/>
                  <a:pt x="336804" y="365188"/>
                </a:cubicBezTo>
                <a:cubicBezTo>
                  <a:pt x="336804" y="382904"/>
                  <a:pt x="322326" y="397382"/>
                  <a:pt x="304610" y="397382"/>
                </a:cubicBezTo>
                <a:cubicBezTo>
                  <a:pt x="286893" y="397382"/>
                  <a:pt x="272415" y="382999"/>
                  <a:pt x="272415" y="365188"/>
                </a:cubicBezTo>
                <a:cubicBezTo>
                  <a:pt x="272415" y="347471"/>
                  <a:pt x="286798" y="332993"/>
                  <a:pt x="304610" y="332993"/>
                </a:cubicBezTo>
                <a:close/>
                <a:moveTo>
                  <a:pt x="396049" y="332327"/>
                </a:moveTo>
                <a:cubicBezTo>
                  <a:pt x="414147" y="332327"/>
                  <a:pt x="428815" y="347091"/>
                  <a:pt x="428911" y="365188"/>
                </a:cubicBezTo>
                <a:cubicBezTo>
                  <a:pt x="428911" y="383286"/>
                  <a:pt x="414147" y="398050"/>
                  <a:pt x="396049" y="398050"/>
                </a:cubicBezTo>
                <a:cubicBezTo>
                  <a:pt x="377952" y="398050"/>
                  <a:pt x="363188" y="383286"/>
                  <a:pt x="363188" y="365188"/>
                </a:cubicBezTo>
                <a:cubicBezTo>
                  <a:pt x="363188" y="347091"/>
                  <a:pt x="377952" y="332327"/>
                  <a:pt x="396049" y="332327"/>
                </a:cubicBezTo>
                <a:close/>
                <a:moveTo>
                  <a:pt x="487394" y="331755"/>
                </a:moveTo>
                <a:cubicBezTo>
                  <a:pt x="505873" y="331755"/>
                  <a:pt x="520922" y="346804"/>
                  <a:pt x="520922" y="365283"/>
                </a:cubicBezTo>
                <a:cubicBezTo>
                  <a:pt x="520922" y="383761"/>
                  <a:pt x="505873" y="398811"/>
                  <a:pt x="487394" y="398811"/>
                </a:cubicBezTo>
                <a:cubicBezTo>
                  <a:pt x="468916" y="398811"/>
                  <a:pt x="453866" y="383761"/>
                  <a:pt x="453866" y="365283"/>
                </a:cubicBezTo>
                <a:cubicBezTo>
                  <a:pt x="453866" y="346804"/>
                  <a:pt x="468916" y="331755"/>
                  <a:pt x="487394" y="331755"/>
                </a:cubicBezTo>
                <a:close/>
                <a:moveTo>
                  <a:pt x="578835" y="331088"/>
                </a:moveTo>
                <a:cubicBezTo>
                  <a:pt x="597694" y="331088"/>
                  <a:pt x="613030" y="346423"/>
                  <a:pt x="613030" y="365283"/>
                </a:cubicBezTo>
                <a:cubicBezTo>
                  <a:pt x="613030" y="384142"/>
                  <a:pt x="597694" y="399478"/>
                  <a:pt x="578835" y="399478"/>
                </a:cubicBezTo>
                <a:cubicBezTo>
                  <a:pt x="559975" y="399478"/>
                  <a:pt x="544640" y="384142"/>
                  <a:pt x="544640" y="365283"/>
                </a:cubicBezTo>
                <a:cubicBezTo>
                  <a:pt x="544640" y="346423"/>
                  <a:pt x="559975" y="331088"/>
                  <a:pt x="578835" y="331088"/>
                </a:cubicBezTo>
                <a:close/>
                <a:moveTo>
                  <a:pt x="213170" y="222694"/>
                </a:moveTo>
                <a:cubicBezTo>
                  <a:pt x="230600" y="222694"/>
                  <a:pt x="244697" y="236791"/>
                  <a:pt x="244697" y="254222"/>
                </a:cubicBezTo>
                <a:cubicBezTo>
                  <a:pt x="244697" y="271557"/>
                  <a:pt x="230600" y="285750"/>
                  <a:pt x="213170" y="285750"/>
                </a:cubicBezTo>
                <a:cubicBezTo>
                  <a:pt x="195834" y="285750"/>
                  <a:pt x="181642" y="271653"/>
                  <a:pt x="181642" y="254222"/>
                </a:cubicBezTo>
                <a:cubicBezTo>
                  <a:pt x="181642" y="236886"/>
                  <a:pt x="195739" y="222694"/>
                  <a:pt x="213170" y="222694"/>
                </a:cubicBezTo>
                <a:close/>
                <a:moveTo>
                  <a:pt x="304610" y="222027"/>
                </a:moveTo>
                <a:cubicBezTo>
                  <a:pt x="322326" y="222027"/>
                  <a:pt x="336804" y="236505"/>
                  <a:pt x="336804" y="254222"/>
                </a:cubicBezTo>
                <a:cubicBezTo>
                  <a:pt x="336804" y="271938"/>
                  <a:pt x="322326" y="286416"/>
                  <a:pt x="304610" y="286416"/>
                </a:cubicBezTo>
                <a:cubicBezTo>
                  <a:pt x="286893" y="286416"/>
                  <a:pt x="272415" y="272033"/>
                  <a:pt x="272415" y="254222"/>
                </a:cubicBezTo>
                <a:cubicBezTo>
                  <a:pt x="272415" y="236505"/>
                  <a:pt x="286798" y="222027"/>
                  <a:pt x="304610" y="222027"/>
                </a:cubicBezTo>
                <a:close/>
                <a:moveTo>
                  <a:pt x="396049" y="221360"/>
                </a:moveTo>
                <a:cubicBezTo>
                  <a:pt x="414147" y="221360"/>
                  <a:pt x="428815" y="236124"/>
                  <a:pt x="428911" y="254221"/>
                </a:cubicBezTo>
                <a:cubicBezTo>
                  <a:pt x="428911" y="272319"/>
                  <a:pt x="414147" y="287083"/>
                  <a:pt x="396049" y="287083"/>
                </a:cubicBezTo>
                <a:cubicBezTo>
                  <a:pt x="377952" y="287083"/>
                  <a:pt x="363188" y="272319"/>
                  <a:pt x="363188" y="254221"/>
                </a:cubicBezTo>
                <a:cubicBezTo>
                  <a:pt x="363188" y="236124"/>
                  <a:pt x="377952" y="221360"/>
                  <a:pt x="396049" y="221360"/>
                </a:cubicBezTo>
                <a:close/>
                <a:moveTo>
                  <a:pt x="487394" y="220694"/>
                </a:moveTo>
                <a:cubicBezTo>
                  <a:pt x="505873" y="220694"/>
                  <a:pt x="520922" y="235743"/>
                  <a:pt x="520922" y="254222"/>
                </a:cubicBezTo>
                <a:cubicBezTo>
                  <a:pt x="520922" y="272700"/>
                  <a:pt x="505873" y="287750"/>
                  <a:pt x="487394" y="287750"/>
                </a:cubicBezTo>
                <a:cubicBezTo>
                  <a:pt x="468916" y="287750"/>
                  <a:pt x="453866" y="272700"/>
                  <a:pt x="453866" y="254222"/>
                </a:cubicBezTo>
                <a:cubicBezTo>
                  <a:pt x="453866" y="235743"/>
                  <a:pt x="468916" y="220694"/>
                  <a:pt x="487394" y="220694"/>
                </a:cubicBezTo>
                <a:close/>
                <a:moveTo>
                  <a:pt x="121730" y="112299"/>
                </a:moveTo>
                <a:cubicBezTo>
                  <a:pt x="138780" y="112299"/>
                  <a:pt x="152687" y="126206"/>
                  <a:pt x="152591" y="143160"/>
                </a:cubicBezTo>
                <a:cubicBezTo>
                  <a:pt x="152591" y="160210"/>
                  <a:pt x="138780" y="174116"/>
                  <a:pt x="121730" y="174116"/>
                </a:cubicBezTo>
                <a:cubicBezTo>
                  <a:pt x="104680" y="174116"/>
                  <a:pt x="90774" y="160210"/>
                  <a:pt x="90774" y="143160"/>
                </a:cubicBezTo>
                <a:cubicBezTo>
                  <a:pt x="90774" y="126206"/>
                  <a:pt x="104680" y="112299"/>
                  <a:pt x="121730" y="112299"/>
                </a:cubicBezTo>
                <a:close/>
                <a:moveTo>
                  <a:pt x="213170" y="111633"/>
                </a:moveTo>
                <a:cubicBezTo>
                  <a:pt x="230600" y="111633"/>
                  <a:pt x="244697" y="125825"/>
                  <a:pt x="244697" y="143161"/>
                </a:cubicBezTo>
                <a:cubicBezTo>
                  <a:pt x="244697" y="160496"/>
                  <a:pt x="230600" y="174689"/>
                  <a:pt x="213170" y="174689"/>
                </a:cubicBezTo>
                <a:cubicBezTo>
                  <a:pt x="195834" y="174689"/>
                  <a:pt x="181642" y="160592"/>
                  <a:pt x="181642" y="143161"/>
                </a:cubicBezTo>
                <a:cubicBezTo>
                  <a:pt x="181642" y="125825"/>
                  <a:pt x="195739" y="111633"/>
                  <a:pt x="213170" y="111633"/>
                </a:cubicBezTo>
                <a:close/>
                <a:moveTo>
                  <a:pt x="304610" y="110966"/>
                </a:moveTo>
                <a:cubicBezTo>
                  <a:pt x="322326" y="110966"/>
                  <a:pt x="336804" y="125444"/>
                  <a:pt x="336804" y="143161"/>
                </a:cubicBezTo>
                <a:cubicBezTo>
                  <a:pt x="336804" y="160877"/>
                  <a:pt x="322326" y="175355"/>
                  <a:pt x="304610" y="175355"/>
                </a:cubicBezTo>
                <a:cubicBezTo>
                  <a:pt x="286893" y="175355"/>
                  <a:pt x="272415" y="160972"/>
                  <a:pt x="272415" y="143161"/>
                </a:cubicBezTo>
                <a:cubicBezTo>
                  <a:pt x="272415" y="125444"/>
                  <a:pt x="286798" y="110966"/>
                  <a:pt x="304610" y="110966"/>
                </a:cubicBezTo>
                <a:close/>
                <a:moveTo>
                  <a:pt x="396049" y="110394"/>
                </a:moveTo>
                <a:cubicBezTo>
                  <a:pt x="414147" y="110394"/>
                  <a:pt x="428815" y="125063"/>
                  <a:pt x="428911" y="143255"/>
                </a:cubicBezTo>
                <a:cubicBezTo>
                  <a:pt x="428911" y="161353"/>
                  <a:pt x="414147" y="176117"/>
                  <a:pt x="396049" y="176117"/>
                </a:cubicBezTo>
                <a:cubicBezTo>
                  <a:pt x="377952" y="176117"/>
                  <a:pt x="363188" y="161353"/>
                  <a:pt x="363188" y="143255"/>
                </a:cubicBezTo>
                <a:cubicBezTo>
                  <a:pt x="363188" y="125158"/>
                  <a:pt x="377952" y="110394"/>
                  <a:pt x="396049" y="110394"/>
                </a:cubicBezTo>
                <a:close/>
                <a:moveTo>
                  <a:pt x="30289" y="2000"/>
                </a:moveTo>
                <a:cubicBezTo>
                  <a:pt x="46958" y="2000"/>
                  <a:pt x="60579" y="15526"/>
                  <a:pt x="60579" y="32290"/>
                </a:cubicBezTo>
                <a:cubicBezTo>
                  <a:pt x="60579" y="48958"/>
                  <a:pt x="46958" y="62579"/>
                  <a:pt x="30289" y="62579"/>
                </a:cubicBezTo>
                <a:cubicBezTo>
                  <a:pt x="13621" y="62579"/>
                  <a:pt x="0" y="48958"/>
                  <a:pt x="0" y="32290"/>
                </a:cubicBezTo>
                <a:cubicBezTo>
                  <a:pt x="0" y="15621"/>
                  <a:pt x="13621" y="2000"/>
                  <a:pt x="30289" y="2000"/>
                </a:cubicBezTo>
                <a:close/>
                <a:moveTo>
                  <a:pt x="121730" y="1333"/>
                </a:moveTo>
                <a:cubicBezTo>
                  <a:pt x="138780" y="1333"/>
                  <a:pt x="152687" y="15144"/>
                  <a:pt x="152591" y="32194"/>
                </a:cubicBezTo>
                <a:cubicBezTo>
                  <a:pt x="152591" y="49244"/>
                  <a:pt x="138780" y="63150"/>
                  <a:pt x="121730" y="63150"/>
                </a:cubicBezTo>
                <a:cubicBezTo>
                  <a:pt x="104680" y="63150"/>
                  <a:pt x="90774" y="49244"/>
                  <a:pt x="90774" y="32194"/>
                </a:cubicBezTo>
                <a:cubicBezTo>
                  <a:pt x="90774" y="15240"/>
                  <a:pt x="104680" y="1333"/>
                  <a:pt x="121730" y="1333"/>
                </a:cubicBezTo>
                <a:close/>
                <a:moveTo>
                  <a:pt x="213170" y="666"/>
                </a:moveTo>
                <a:cubicBezTo>
                  <a:pt x="230600" y="666"/>
                  <a:pt x="244697" y="14858"/>
                  <a:pt x="244697" y="32194"/>
                </a:cubicBezTo>
                <a:cubicBezTo>
                  <a:pt x="244697" y="49529"/>
                  <a:pt x="230600" y="63722"/>
                  <a:pt x="213170" y="63722"/>
                </a:cubicBezTo>
                <a:cubicBezTo>
                  <a:pt x="195834" y="63722"/>
                  <a:pt x="181642" y="49625"/>
                  <a:pt x="181642" y="32194"/>
                </a:cubicBezTo>
                <a:cubicBezTo>
                  <a:pt x="181642" y="14858"/>
                  <a:pt x="195739" y="666"/>
                  <a:pt x="213170" y="666"/>
                </a:cubicBezTo>
                <a:close/>
                <a:moveTo>
                  <a:pt x="304610" y="0"/>
                </a:moveTo>
                <a:cubicBezTo>
                  <a:pt x="322326" y="0"/>
                  <a:pt x="336804" y="14478"/>
                  <a:pt x="336804" y="32195"/>
                </a:cubicBezTo>
                <a:cubicBezTo>
                  <a:pt x="336804" y="49911"/>
                  <a:pt x="322326" y="64389"/>
                  <a:pt x="304610" y="64389"/>
                </a:cubicBezTo>
                <a:cubicBezTo>
                  <a:pt x="286893" y="64389"/>
                  <a:pt x="272415" y="50006"/>
                  <a:pt x="272415" y="32195"/>
                </a:cubicBezTo>
                <a:cubicBezTo>
                  <a:pt x="272415" y="14478"/>
                  <a:pt x="286798" y="0"/>
                  <a:pt x="304610" y="0"/>
                </a:cubicBezTo>
                <a:close/>
              </a:path>
            </a:pathLst>
          </a:custGeom>
          <a:gradFill>
            <a:gsLst>
              <a:gs pos="68000">
                <a:schemeClr val="accent1"/>
              </a:gs>
              <a:gs pos="0">
                <a:schemeClr val="accent1">
                  <a:lumMod val="70000"/>
                  <a:lumOff val="30000"/>
                  <a:alpha val="0"/>
                </a:schemeClr>
              </a:gs>
            </a:gsLst>
            <a:lin ang="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22" name="熊大的PPT宝库76"/>
          <p:cNvSpPr/>
          <p:nvPr/>
        </p:nvSpPr>
        <p:spPr>
          <a:xfrm rot="16200000">
            <a:off x="9659519" y="3895345"/>
            <a:ext cx="165604" cy="197811"/>
          </a:xfrm>
          <a:custGeom>
            <a:avLst/>
            <a:gdLst>
              <a:gd name="connsiteX0" fmla="*/ 25717 w 603885"/>
              <a:gd name="connsiteY0" fmla="*/ 668083 h 721328"/>
              <a:gd name="connsiteX1" fmla="*/ 51435 w 603885"/>
              <a:gd name="connsiteY1" fmla="*/ 693801 h 721328"/>
              <a:gd name="connsiteX2" fmla="*/ 25717 w 603885"/>
              <a:gd name="connsiteY2" fmla="*/ 719518 h 721328"/>
              <a:gd name="connsiteX3" fmla="*/ 0 w 603885"/>
              <a:gd name="connsiteY3" fmla="*/ 693801 h 721328"/>
              <a:gd name="connsiteX4" fmla="*/ 25717 w 603885"/>
              <a:gd name="connsiteY4" fmla="*/ 668083 h 721328"/>
              <a:gd name="connsiteX5" fmla="*/ 117157 w 603885"/>
              <a:gd name="connsiteY5" fmla="*/ 667416 h 721328"/>
              <a:gd name="connsiteX6" fmla="*/ 143446 w 603885"/>
              <a:gd name="connsiteY6" fmla="*/ 693705 h 721328"/>
              <a:gd name="connsiteX7" fmla="*/ 117157 w 603885"/>
              <a:gd name="connsiteY7" fmla="*/ 720089 h 721328"/>
              <a:gd name="connsiteX8" fmla="*/ 90773 w 603885"/>
              <a:gd name="connsiteY8" fmla="*/ 693705 h 721328"/>
              <a:gd name="connsiteX9" fmla="*/ 117157 w 603885"/>
              <a:gd name="connsiteY9" fmla="*/ 667416 h 721328"/>
              <a:gd name="connsiteX10" fmla="*/ 208502 w 603885"/>
              <a:gd name="connsiteY10" fmla="*/ 666750 h 721328"/>
              <a:gd name="connsiteX11" fmla="*/ 235458 w 603885"/>
              <a:gd name="connsiteY11" fmla="*/ 693706 h 721328"/>
              <a:gd name="connsiteX12" fmla="*/ 208502 w 603885"/>
              <a:gd name="connsiteY12" fmla="*/ 720662 h 721328"/>
              <a:gd name="connsiteX13" fmla="*/ 181546 w 603885"/>
              <a:gd name="connsiteY13" fmla="*/ 693706 h 721328"/>
              <a:gd name="connsiteX14" fmla="*/ 208502 w 603885"/>
              <a:gd name="connsiteY14" fmla="*/ 666750 h 721328"/>
              <a:gd name="connsiteX15" fmla="*/ 299942 w 603885"/>
              <a:gd name="connsiteY15" fmla="*/ 666083 h 721328"/>
              <a:gd name="connsiteX16" fmla="*/ 327564 w 603885"/>
              <a:gd name="connsiteY16" fmla="*/ 693706 h 721328"/>
              <a:gd name="connsiteX17" fmla="*/ 299942 w 603885"/>
              <a:gd name="connsiteY17" fmla="*/ 721328 h 721328"/>
              <a:gd name="connsiteX18" fmla="*/ 272319 w 603885"/>
              <a:gd name="connsiteY18" fmla="*/ 693706 h 721328"/>
              <a:gd name="connsiteX19" fmla="*/ 299942 w 603885"/>
              <a:gd name="connsiteY19" fmla="*/ 666083 h 721328"/>
              <a:gd name="connsiteX20" fmla="*/ 117157 w 603885"/>
              <a:gd name="connsiteY20" fmla="*/ 556355 h 721328"/>
              <a:gd name="connsiteX21" fmla="*/ 143446 w 603885"/>
              <a:gd name="connsiteY21" fmla="*/ 582644 h 721328"/>
              <a:gd name="connsiteX22" fmla="*/ 117157 w 603885"/>
              <a:gd name="connsiteY22" fmla="*/ 609028 h 721328"/>
              <a:gd name="connsiteX23" fmla="*/ 90773 w 603885"/>
              <a:gd name="connsiteY23" fmla="*/ 582644 h 721328"/>
              <a:gd name="connsiteX24" fmla="*/ 117157 w 603885"/>
              <a:gd name="connsiteY24" fmla="*/ 556355 h 721328"/>
              <a:gd name="connsiteX25" fmla="*/ 208502 w 603885"/>
              <a:gd name="connsiteY25" fmla="*/ 555784 h 721328"/>
              <a:gd name="connsiteX26" fmla="*/ 235458 w 603885"/>
              <a:gd name="connsiteY26" fmla="*/ 582740 h 721328"/>
              <a:gd name="connsiteX27" fmla="*/ 208502 w 603885"/>
              <a:gd name="connsiteY27" fmla="*/ 609695 h 721328"/>
              <a:gd name="connsiteX28" fmla="*/ 181546 w 603885"/>
              <a:gd name="connsiteY28" fmla="*/ 582740 h 721328"/>
              <a:gd name="connsiteX29" fmla="*/ 208502 w 603885"/>
              <a:gd name="connsiteY29" fmla="*/ 555784 h 721328"/>
              <a:gd name="connsiteX30" fmla="*/ 299942 w 603885"/>
              <a:gd name="connsiteY30" fmla="*/ 555117 h 721328"/>
              <a:gd name="connsiteX31" fmla="*/ 327564 w 603885"/>
              <a:gd name="connsiteY31" fmla="*/ 582739 h 721328"/>
              <a:gd name="connsiteX32" fmla="*/ 299942 w 603885"/>
              <a:gd name="connsiteY32" fmla="*/ 610362 h 721328"/>
              <a:gd name="connsiteX33" fmla="*/ 272319 w 603885"/>
              <a:gd name="connsiteY33" fmla="*/ 582739 h 721328"/>
              <a:gd name="connsiteX34" fmla="*/ 299942 w 603885"/>
              <a:gd name="connsiteY34" fmla="*/ 555117 h 721328"/>
              <a:gd name="connsiteX35" fmla="*/ 391382 w 603885"/>
              <a:gd name="connsiteY35" fmla="*/ 554450 h 721328"/>
              <a:gd name="connsiteX36" fmla="*/ 419672 w 603885"/>
              <a:gd name="connsiteY36" fmla="*/ 582739 h 721328"/>
              <a:gd name="connsiteX37" fmla="*/ 391382 w 603885"/>
              <a:gd name="connsiteY37" fmla="*/ 611029 h 721328"/>
              <a:gd name="connsiteX38" fmla="*/ 363093 w 603885"/>
              <a:gd name="connsiteY38" fmla="*/ 582739 h 721328"/>
              <a:gd name="connsiteX39" fmla="*/ 391382 w 603885"/>
              <a:gd name="connsiteY39" fmla="*/ 554450 h 721328"/>
              <a:gd name="connsiteX40" fmla="*/ 208502 w 603885"/>
              <a:gd name="connsiteY40" fmla="*/ 444722 h 721328"/>
              <a:gd name="connsiteX41" fmla="*/ 235458 w 603885"/>
              <a:gd name="connsiteY41" fmla="*/ 471678 h 721328"/>
              <a:gd name="connsiteX42" fmla="*/ 208502 w 603885"/>
              <a:gd name="connsiteY42" fmla="*/ 498634 h 721328"/>
              <a:gd name="connsiteX43" fmla="*/ 181546 w 603885"/>
              <a:gd name="connsiteY43" fmla="*/ 471678 h 721328"/>
              <a:gd name="connsiteX44" fmla="*/ 208502 w 603885"/>
              <a:gd name="connsiteY44" fmla="*/ 444722 h 721328"/>
              <a:gd name="connsiteX45" fmla="*/ 299942 w 603885"/>
              <a:gd name="connsiteY45" fmla="*/ 444055 h 721328"/>
              <a:gd name="connsiteX46" fmla="*/ 327564 w 603885"/>
              <a:gd name="connsiteY46" fmla="*/ 471678 h 721328"/>
              <a:gd name="connsiteX47" fmla="*/ 299942 w 603885"/>
              <a:gd name="connsiteY47" fmla="*/ 499300 h 721328"/>
              <a:gd name="connsiteX48" fmla="*/ 272319 w 603885"/>
              <a:gd name="connsiteY48" fmla="*/ 471678 h 721328"/>
              <a:gd name="connsiteX49" fmla="*/ 299942 w 603885"/>
              <a:gd name="connsiteY49" fmla="*/ 444055 h 721328"/>
              <a:gd name="connsiteX50" fmla="*/ 391382 w 603885"/>
              <a:gd name="connsiteY50" fmla="*/ 443389 h 721328"/>
              <a:gd name="connsiteX51" fmla="*/ 419672 w 603885"/>
              <a:gd name="connsiteY51" fmla="*/ 471678 h 721328"/>
              <a:gd name="connsiteX52" fmla="*/ 391382 w 603885"/>
              <a:gd name="connsiteY52" fmla="*/ 499968 h 721328"/>
              <a:gd name="connsiteX53" fmla="*/ 363093 w 603885"/>
              <a:gd name="connsiteY53" fmla="*/ 471678 h 721328"/>
              <a:gd name="connsiteX54" fmla="*/ 391382 w 603885"/>
              <a:gd name="connsiteY54" fmla="*/ 443389 h 721328"/>
              <a:gd name="connsiteX55" fmla="*/ 482822 w 603885"/>
              <a:gd name="connsiteY55" fmla="*/ 442817 h 721328"/>
              <a:gd name="connsiteX56" fmla="*/ 511778 w 603885"/>
              <a:gd name="connsiteY56" fmla="*/ 471773 h 721328"/>
              <a:gd name="connsiteX57" fmla="*/ 482822 w 603885"/>
              <a:gd name="connsiteY57" fmla="*/ 500729 h 721328"/>
              <a:gd name="connsiteX58" fmla="*/ 453866 w 603885"/>
              <a:gd name="connsiteY58" fmla="*/ 471773 h 721328"/>
              <a:gd name="connsiteX59" fmla="*/ 482822 w 603885"/>
              <a:gd name="connsiteY59" fmla="*/ 442817 h 721328"/>
              <a:gd name="connsiteX60" fmla="*/ 299942 w 603885"/>
              <a:gd name="connsiteY60" fmla="*/ 333089 h 721328"/>
              <a:gd name="connsiteX61" fmla="*/ 327564 w 603885"/>
              <a:gd name="connsiteY61" fmla="*/ 360712 h 721328"/>
              <a:gd name="connsiteX62" fmla="*/ 299942 w 603885"/>
              <a:gd name="connsiteY62" fmla="*/ 388334 h 721328"/>
              <a:gd name="connsiteX63" fmla="*/ 272319 w 603885"/>
              <a:gd name="connsiteY63" fmla="*/ 360712 h 721328"/>
              <a:gd name="connsiteX64" fmla="*/ 299942 w 603885"/>
              <a:gd name="connsiteY64" fmla="*/ 333089 h 721328"/>
              <a:gd name="connsiteX65" fmla="*/ 391382 w 603885"/>
              <a:gd name="connsiteY65" fmla="*/ 332422 h 721328"/>
              <a:gd name="connsiteX66" fmla="*/ 419672 w 603885"/>
              <a:gd name="connsiteY66" fmla="*/ 360711 h 721328"/>
              <a:gd name="connsiteX67" fmla="*/ 391382 w 603885"/>
              <a:gd name="connsiteY67" fmla="*/ 389001 h 721328"/>
              <a:gd name="connsiteX68" fmla="*/ 363093 w 603885"/>
              <a:gd name="connsiteY68" fmla="*/ 360711 h 721328"/>
              <a:gd name="connsiteX69" fmla="*/ 391382 w 603885"/>
              <a:gd name="connsiteY69" fmla="*/ 332422 h 721328"/>
              <a:gd name="connsiteX70" fmla="*/ 482822 w 603885"/>
              <a:gd name="connsiteY70" fmla="*/ 331755 h 721328"/>
              <a:gd name="connsiteX71" fmla="*/ 511778 w 603885"/>
              <a:gd name="connsiteY71" fmla="*/ 360711 h 721328"/>
              <a:gd name="connsiteX72" fmla="*/ 482822 w 603885"/>
              <a:gd name="connsiteY72" fmla="*/ 389667 h 721328"/>
              <a:gd name="connsiteX73" fmla="*/ 453866 w 603885"/>
              <a:gd name="connsiteY73" fmla="*/ 360711 h 721328"/>
              <a:gd name="connsiteX74" fmla="*/ 482822 w 603885"/>
              <a:gd name="connsiteY74" fmla="*/ 331755 h 721328"/>
              <a:gd name="connsiteX75" fmla="*/ 574262 w 603885"/>
              <a:gd name="connsiteY75" fmla="*/ 331089 h 721328"/>
              <a:gd name="connsiteX76" fmla="*/ 603885 w 603885"/>
              <a:gd name="connsiteY76" fmla="*/ 360712 h 721328"/>
              <a:gd name="connsiteX77" fmla="*/ 574262 w 603885"/>
              <a:gd name="connsiteY77" fmla="*/ 390335 h 721328"/>
              <a:gd name="connsiteX78" fmla="*/ 544639 w 603885"/>
              <a:gd name="connsiteY78" fmla="*/ 360712 h 721328"/>
              <a:gd name="connsiteX79" fmla="*/ 574262 w 603885"/>
              <a:gd name="connsiteY79" fmla="*/ 331089 h 721328"/>
              <a:gd name="connsiteX80" fmla="*/ 208502 w 603885"/>
              <a:gd name="connsiteY80" fmla="*/ 222694 h 721328"/>
              <a:gd name="connsiteX81" fmla="*/ 235458 w 603885"/>
              <a:gd name="connsiteY81" fmla="*/ 249650 h 721328"/>
              <a:gd name="connsiteX82" fmla="*/ 208502 w 603885"/>
              <a:gd name="connsiteY82" fmla="*/ 276606 h 721328"/>
              <a:gd name="connsiteX83" fmla="*/ 181546 w 603885"/>
              <a:gd name="connsiteY83" fmla="*/ 249650 h 721328"/>
              <a:gd name="connsiteX84" fmla="*/ 208502 w 603885"/>
              <a:gd name="connsiteY84" fmla="*/ 222694 h 721328"/>
              <a:gd name="connsiteX85" fmla="*/ 299942 w 603885"/>
              <a:gd name="connsiteY85" fmla="*/ 222027 h 721328"/>
              <a:gd name="connsiteX86" fmla="*/ 327564 w 603885"/>
              <a:gd name="connsiteY86" fmla="*/ 249650 h 721328"/>
              <a:gd name="connsiteX87" fmla="*/ 299942 w 603885"/>
              <a:gd name="connsiteY87" fmla="*/ 277272 h 721328"/>
              <a:gd name="connsiteX88" fmla="*/ 272319 w 603885"/>
              <a:gd name="connsiteY88" fmla="*/ 249650 h 721328"/>
              <a:gd name="connsiteX89" fmla="*/ 299942 w 603885"/>
              <a:gd name="connsiteY89" fmla="*/ 222027 h 721328"/>
              <a:gd name="connsiteX90" fmla="*/ 391382 w 603885"/>
              <a:gd name="connsiteY90" fmla="*/ 221361 h 721328"/>
              <a:gd name="connsiteX91" fmla="*/ 419672 w 603885"/>
              <a:gd name="connsiteY91" fmla="*/ 249650 h 721328"/>
              <a:gd name="connsiteX92" fmla="*/ 391382 w 603885"/>
              <a:gd name="connsiteY92" fmla="*/ 277940 h 721328"/>
              <a:gd name="connsiteX93" fmla="*/ 363093 w 603885"/>
              <a:gd name="connsiteY93" fmla="*/ 249650 h 721328"/>
              <a:gd name="connsiteX94" fmla="*/ 391382 w 603885"/>
              <a:gd name="connsiteY94" fmla="*/ 221361 h 721328"/>
              <a:gd name="connsiteX95" fmla="*/ 482822 w 603885"/>
              <a:gd name="connsiteY95" fmla="*/ 220789 h 721328"/>
              <a:gd name="connsiteX96" fmla="*/ 511778 w 603885"/>
              <a:gd name="connsiteY96" fmla="*/ 249745 h 721328"/>
              <a:gd name="connsiteX97" fmla="*/ 482822 w 603885"/>
              <a:gd name="connsiteY97" fmla="*/ 278701 h 721328"/>
              <a:gd name="connsiteX98" fmla="*/ 453866 w 603885"/>
              <a:gd name="connsiteY98" fmla="*/ 249745 h 721328"/>
              <a:gd name="connsiteX99" fmla="*/ 482822 w 603885"/>
              <a:gd name="connsiteY99" fmla="*/ 220789 h 721328"/>
              <a:gd name="connsiteX100" fmla="*/ 117157 w 603885"/>
              <a:gd name="connsiteY100" fmla="*/ 112395 h 721328"/>
              <a:gd name="connsiteX101" fmla="*/ 143446 w 603885"/>
              <a:gd name="connsiteY101" fmla="*/ 138684 h 721328"/>
              <a:gd name="connsiteX102" fmla="*/ 117157 w 603885"/>
              <a:gd name="connsiteY102" fmla="*/ 165068 h 721328"/>
              <a:gd name="connsiteX103" fmla="*/ 90773 w 603885"/>
              <a:gd name="connsiteY103" fmla="*/ 138684 h 721328"/>
              <a:gd name="connsiteX104" fmla="*/ 117157 w 603885"/>
              <a:gd name="connsiteY104" fmla="*/ 112395 h 721328"/>
              <a:gd name="connsiteX105" fmla="*/ 208502 w 603885"/>
              <a:gd name="connsiteY105" fmla="*/ 111728 h 721328"/>
              <a:gd name="connsiteX106" fmla="*/ 235458 w 603885"/>
              <a:gd name="connsiteY106" fmla="*/ 138684 h 721328"/>
              <a:gd name="connsiteX107" fmla="*/ 208502 w 603885"/>
              <a:gd name="connsiteY107" fmla="*/ 165640 h 721328"/>
              <a:gd name="connsiteX108" fmla="*/ 181546 w 603885"/>
              <a:gd name="connsiteY108" fmla="*/ 138684 h 721328"/>
              <a:gd name="connsiteX109" fmla="*/ 208502 w 603885"/>
              <a:gd name="connsiteY109" fmla="*/ 111728 h 721328"/>
              <a:gd name="connsiteX110" fmla="*/ 299942 w 603885"/>
              <a:gd name="connsiteY110" fmla="*/ 111061 h 721328"/>
              <a:gd name="connsiteX111" fmla="*/ 327564 w 603885"/>
              <a:gd name="connsiteY111" fmla="*/ 138683 h 721328"/>
              <a:gd name="connsiteX112" fmla="*/ 299942 w 603885"/>
              <a:gd name="connsiteY112" fmla="*/ 166306 h 721328"/>
              <a:gd name="connsiteX113" fmla="*/ 272319 w 603885"/>
              <a:gd name="connsiteY113" fmla="*/ 138683 h 721328"/>
              <a:gd name="connsiteX114" fmla="*/ 299942 w 603885"/>
              <a:gd name="connsiteY114" fmla="*/ 111061 h 721328"/>
              <a:gd name="connsiteX115" fmla="*/ 391382 w 603885"/>
              <a:gd name="connsiteY115" fmla="*/ 110394 h 721328"/>
              <a:gd name="connsiteX116" fmla="*/ 419672 w 603885"/>
              <a:gd name="connsiteY116" fmla="*/ 138683 h 721328"/>
              <a:gd name="connsiteX117" fmla="*/ 391382 w 603885"/>
              <a:gd name="connsiteY117" fmla="*/ 166973 h 721328"/>
              <a:gd name="connsiteX118" fmla="*/ 363093 w 603885"/>
              <a:gd name="connsiteY118" fmla="*/ 138683 h 721328"/>
              <a:gd name="connsiteX119" fmla="*/ 391382 w 603885"/>
              <a:gd name="connsiteY119" fmla="*/ 110394 h 721328"/>
              <a:gd name="connsiteX120" fmla="*/ 25717 w 603885"/>
              <a:gd name="connsiteY120" fmla="*/ 2000 h 721328"/>
              <a:gd name="connsiteX121" fmla="*/ 51435 w 603885"/>
              <a:gd name="connsiteY121" fmla="*/ 27717 h 721328"/>
              <a:gd name="connsiteX122" fmla="*/ 25717 w 603885"/>
              <a:gd name="connsiteY122" fmla="*/ 53435 h 721328"/>
              <a:gd name="connsiteX123" fmla="*/ 0 w 603885"/>
              <a:gd name="connsiteY123" fmla="*/ 27717 h 721328"/>
              <a:gd name="connsiteX124" fmla="*/ 25717 w 603885"/>
              <a:gd name="connsiteY124" fmla="*/ 2000 h 721328"/>
              <a:gd name="connsiteX125" fmla="*/ 117157 w 603885"/>
              <a:gd name="connsiteY125" fmla="*/ 1333 h 721328"/>
              <a:gd name="connsiteX126" fmla="*/ 143446 w 603885"/>
              <a:gd name="connsiteY126" fmla="*/ 27622 h 721328"/>
              <a:gd name="connsiteX127" fmla="*/ 117157 w 603885"/>
              <a:gd name="connsiteY127" fmla="*/ 54006 h 721328"/>
              <a:gd name="connsiteX128" fmla="*/ 90773 w 603885"/>
              <a:gd name="connsiteY128" fmla="*/ 27622 h 721328"/>
              <a:gd name="connsiteX129" fmla="*/ 117157 w 603885"/>
              <a:gd name="connsiteY129" fmla="*/ 1333 h 721328"/>
              <a:gd name="connsiteX130" fmla="*/ 208502 w 603885"/>
              <a:gd name="connsiteY130" fmla="*/ 666 h 721328"/>
              <a:gd name="connsiteX131" fmla="*/ 235458 w 603885"/>
              <a:gd name="connsiteY131" fmla="*/ 27622 h 721328"/>
              <a:gd name="connsiteX132" fmla="*/ 208502 w 603885"/>
              <a:gd name="connsiteY132" fmla="*/ 54578 h 721328"/>
              <a:gd name="connsiteX133" fmla="*/ 181546 w 603885"/>
              <a:gd name="connsiteY133" fmla="*/ 27622 h 721328"/>
              <a:gd name="connsiteX134" fmla="*/ 208502 w 603885"/>
              <a:gd name="connsiteY134" fmla="*/ 666 h 721328"/>
              <a:gd name="connsiteX135" fmla="*/ 299942 w 603885"/>
              <a:gd name="connsiteY135" fmla="*/ 0 h 721328"/>
              <a:gd name="connsiteX136" fmla="*/ 327564 w 603885"/>
              <a:gd name="connsiteY136" fmla="*/ 27622 h 721328"/>
              <a:gd name="connsiteX137" fmla="*/ 299942 w 603885"/>
              <a:gd name="connsiteY137" fmla="*/ 55245 h 721328"/>
              <a:gd name="connsiteX138" fmla="*/ 272319 w 603885"/>
              <a:gd name="connsiteY138" fmla="*/ 27622 h 721328"/>
              <a:gd name="connsiteX139" fmla="*/ 299942 w 603885"/>
              <a:gd name="connsiteY139" fmla="*/ 0 h 721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603885" h="721328">
                <a:moveTo>
                  <a:pt x="25717" y="668083"/>
                </a:moveTo>
                <a:cubicBezTo>
                  <a:pt x="39910" y="668083"/>
                  <a:pt x="51435" y="679608"/>
                  <a:pt x="51435" y="693801"/>
                </a:cubicBezTo>
                <a:cubicBezTo>
                  <a:pt x="51435" y="707993"/>
                  <a:pt x="39910" y="719518"/>
                  <a:pt x="25717" y="719518"/>
                </a:cubicBezTo>
                <a:cubicBezTo>
                  <a:pt x="11525" y="719518"/>
                  <a:pt x="0" y="707993"/>
                  <a:pt x="0" y="693801"/>
                </a:cubicBezTo>
                <a:cubicBezTo>
                  <a:pt x="0" y="679608"/>
                  <a:pt x="11525" y="668083"/>
                  <a:pt x="25717" y="668083"/>
                </a:cubicBezTo>
                <a:close/>
                <a:moveTo>
                  <a:pt x="117157" y="667416"/>
                </a:moveTo>
                <a:cubicBezTo>
                  <a:pt x="131635" y="667416"/>
                  <a:pt x="143446" y="679227"/>
                  <a:pt x="143446" y="693705"/>
                </a:cubicBezTo>
                <a:cubicBezTo>
                  <a:pt x="143446" y="708278"/>
                  <a:pt x="131635" y="720089"/>
                  <a:pt x="117157" y="720089"/>
                </a:cubicBezTo>
                <a:cubicBezTo>
                  <a:pt x="102584" y="720089"/>
                  <a:pt x="90773" y="708183"/>
                  <a:pt x="90773" y="693705"/>
                </a:cubicBezTo>
                <a:cubicBezTo>
                  <a:pt x="90773" y="679227"/>
                  <a:pt x="102679" y="667416"/>
                  <a:pt x="117157" y="667416"/>
                </a:cubicBezTo>
                <a:close/>
                <a:moveTo>
                  <a:pt x="208502" y="666750"/>
                </a:moveTo>
                <a:cubicBezTo>
                  <a:pt x="223456" y="666750"/>
                  <a:pt x="235553" y="678847"/>
                  <a:pt x="235458" y="693706"/>
                </a:cubicBezTo>
                <a:cubicBezTo>
                  <a:pt x="235458" y="708565"/>
                  <a:pt x="223361" y="720662"/>
                  <a:pt x="208502" y="720662"/>
                </a:cubicBezTo>
                <a:cubicBezTo>
                  <a:pt x="193643" y="720662"/>
                  <a:pt x="181546" y="708565"/>
                  <a:pt x="181546" y="693706"/>
                </a:cubicBezTo>
                <a:cubicBezTo>
                  <a:pt x="181546" y="678847"/>
                  <a:pt x="193643" y="666750"/>
                  <a:pt x="208502" y="666750"/>
                </a:cubicBezTo>
                <a:close/>
                <a:moveTo>
                  <a:pt x="299942" y="666083"/>
                </a:moveTo>
                <a:cubicBezTo>
                  <a:pt x="315182" y="666083"/>
                  <a:pt x="327564" y="678466"/>
                  <a:pt x="327564" y="693706"/>
                </a:cubicBezTo>
                <a:cubicBezTo>
                  <a:pt x="327564" y="708946"/>
                  <a:pt x="315182" y="721328"/>
                  <a:pt x="299942" y="721328"/>
                </a:cubicBezTo>
                <a:cubicBezTo>
                  <a:pt x="284702" y="721328"/>
                  <a:pt x="272319" y="708946"/>
                  <a:pt x="272319" y="693706"/>
                </a:cubicBezTo>
                <a:cubicBezTo>
                  <a:pt x="272319" y="678466"/>
                  <a:pt x="284702" y="666083"/>
                  <a:pt x="299942" y="666083"/>
                </a:cubicBezTo>
                <a:close/>
                <a:moveTo>
                  <a:pt x="117157" y="556355"/>
                </a:moveTo>
                <a:cubicBezTo>
                  <a:pt x="131635" y="556355"/>
                  <a:pt x="143446" y="568166"/>
                  <a:pt x="143446" y="582644"/>
                </a:cubicBezTo>
                <a:cubicBezTo>
                  <a:pt x="143446" y="597217"/>
                  <a:pt x="131635" y="609028"/>
                  <a:pt x="117157" y="609028"/>
                </a:cubicBezTo>
                <a:cubicBezTo>
                  <a:pt x="102584" y="609028"/>
                  <a:pt x="90773" y="597122"/>
                  <a:pt x="90773" y="582644"/>
                </a:cubicBezTo>
                <a:cubicBezTo>
                  <a:pt x="90773" y="568166"/>
                  <a:pt x="102679" y="556355"/>
                  <a:pt x="117157" y="556355"/>
                </a:cubicBezTo>
                <a:close/>
                <a:moveTo>
                  <a:pt x="208502" y="555784"/>
                </a:moveTo>
                <a:cubicBezTo>
                  <a:pt x="223456" y="555784"/>
                  <a:pt x="235553" y="567881"/>
                  <a:pt x="235458" y="582740"/>
                </a:cubicBezTo>
                <a:cubicBezTo>
                  <a:pt x="235458" y="597599"/>
                  <a:pt x="223361" y="609695"/>
                  <a:pt x="208502" y="609695"/>
                </a:cubicBezTo>
                <a:cubicBezTo>
                  <a:pt x="193643" y="609695"/>
                  <a:pt x="181546" y="597599"/>
                  <a:pt x="181546" y="582740"/>
                </a:cubicBezTo>
                <a:cubicBezTo>
                  <a:pt x="181546" y="567881"/>
                  <a:pt x="193643" y="555784"/>
                  <a:pt x="208502" y="555784"/>
                </a:cubicBezTo>
                <a:close/>
                <a:moveTo>
                  <a:pt x="299942" y="555117"/>
                </a:moveTo>
                <a:cubicBezTo>
                  <a:pt x="315182" y="555117"/>
                  <a:pt x="327564" y="567499"/>
                  <a:pt x="327564" y="582739"/>
                </a:cubicBezTo>
                <a:cubicBezTo>
                  <a:pt x="327564" y="597980"/>
                  <a:pt x="315182" y="610362"/>
                  <a:pt x="299942" y="610362"/>
                </a:cubicBezTo>
                <a:cubicBezTo>
                  <a:pt x="284702" y="610362"/>
                  <a:pt x="272319" y="597980"/>
                  <a:pt x="272319" y="582739"/>
                </a:cubicBezTo>
                <a:cubicBezTo>
                  <a:pt x="272319" y="567499"/>
                  <a:pt x="284702" y="555117"/>
                  <a:pt x="299942" y="555117"/>
                </a:cubicBezTo>
                <a:close/>
                <a:moveTo>
                  <a:pt x="391382" y="554450"/>
                </a:moveTo>
                <a:cubicBezTo>
                  <a:pt x="407003" y="554450"/>
                  <a:pt x="419672" y="567118"/>
                  <a:pt x="419672" y="582739"/>
                </a:cubicBezTo>
                <a:cubicBezTo>
                  <a:pt x="419672" y="598360"/>
                  <a:pt x="407003" y="611029"/>
                  <a:pt x="391382" y="611029"/>
                </a:cubicBezTo>
                <a:cubicBezTo>
                  <a:pt x="375761" y="611029"/>
                  <a:pt x="363093" y="598360"/>
                  <a:pt x="363093" y="582739"/>
                </a:cubicBezTo>
                <a:cubicBezTo>
                  <a:pt x="363093" y="567118"/>
                  <a:pt x="375761" y="554450"/>
                  <a:pt x="391382" y="554450"/>
                </a:cubicBezTo>
                <a:close/>
                <a:moveTo>
                  <a:pt x="208502" y="444722"/>
                </a:moveTo>
                <a:cubicBezTo>
                  <a:pt x="223456" y="444722"/>
                  <a:pt x="235553" y="456819"/>
                  <a:pt x="235458" y="471678"/>
                </a:cubicBezTo>
                <a:cubicBezTo>
                  <a:pt x="235458" y="486537"/>
                  <a:pt x="223361" y="498634"/>
                  <a:pt x="208502" y="498634"/>
                </a:cubicBezTo>
                <a:cubicBezTo>
                  <a:pt x="193643" y="498634"/>
                  <a:pt x="181546" y="486537"/>
                  <a:pt x="181546" y="471678"/>
                </a:cubicBezTo>
                <a:cubicBezTo>
                  <a:pt x="181546" y="456819"/>
                  <a:pt x="193643" y="444722"/>
                  <a:pt x="208502" y="444722"/>
                </a:cubicBezTo>
                <a:close/>
                <a:moveTo>
                  <a:pt x="299942" y="444055"/>
                </a:moveTo>
                <a:cubicBezTo>
                  <a:pt x="315182" y="444055"/>
                  <a:pt x="327564" y="456437"/>
                  <a:pt x="327564" y="471678"/>
                </a:cubicBezTo>
                <a:cubicBezTo>
                  <a:pt x="327564" y="486918"/>
                  <a:pt x="315182" y="499300"/>
                  <a:pt x="299942" y="499300"/>
                </a:cubicBezTo>
                <a:cubicBezTo>
                  <a:pt x="284702" y="499300"/>
                  <a:pt x="272319" y="486918"/>
                  <a:pt x="272319" y="471678"/>
                </a:cubicBezTo>
                <a:cubicBezTo>
                  <a:pt x="272319" y="456437"/>
                  <a:pt x="284702" y="444055"/>
                  <a:pt x="299942" y="444055"/>
                </a:cubicBezTo>
                <a:close/>
                <a:moveTo>
                  <a:pt x="391382" y="443389"/>
                </a:moveTo>
                <a:cubicBezTo>
                  <a:pt x="407003" y="443389"/>
                  <a:pt x="419672" y="456153"/>
                  <a:pt x="419672" y="471678"/>
                </a:cubicBezTo>
                <a:cubicBezTo>
                  <a:pt x="419672" y="487299"/>
                  <a:pt x="407003" y="499968"/>
                  <a:pt x="391382" y="499968"/>
                </a:cubicBezTo>
                <a:cubicBezTo>
                  <a:pt x="375761" y="499968"/>
                  <a:pt x="363093" y="487299"/>
                  <a:pt x="363093" y="471678"/>
                </a:cubicBezTo>
                <a:cubicBezTo>
                  <a:pt x="363093" y="456057"/>
                  <a:pt x="375761" y="443389"/>
                  <a:pt x="391382" y="443389"/>
                </a:cubicBezTo>
                <a:close/>
                <a:moveTo>
                  <a:pt x="482822" y="442817"/>
                </a:moveTo>
                <a:cubicBezTo>
                  <a:pt x="498729" y="442817"/>
                  <a:pt x="511778" y="455771"/>
                  <a:pt x="511778" y="471773"/>
                </a:cubicBezTo>
                <a:cubicBezTo>
                  <a:pt x="511778" y="487775"/>
                  <a:pt x="498824" y="500729"/>
                  <a:pt x="482822" y="500729"/>
                </a:cubicBezTo>
                <a:cubicBezTo>
                  <a:pt x="466820" y="500729"/>
                  <a:pt x="453866" y="487775"/>
                  <a:pt x="453866" y="471773"/>
                </a:cubicBezTo>
                <a:cubicBezTo>
                  <a:pt x="453866" y="455771"/>
                  <a:pt x="466820" y="442817"/>
                  <a:pt x="482822" y="442817"/>
                </a:cubicBezTo>
                <a:close/>
                <a:moveTo>
                  <a:pt x="299942" y="333089"/>
                </a:moveTo>
                <a:cubicBezTo>
                  <a:pt x="315182" y="333089"/>
                  <a:pt x="327564" y="345472"/>
                  <a:pt x="327564" y="360712"/>
                </a:cubicBezTo>
                <a:cubicBezTo>
                  <a:pt x="327564" y="375952"/>
                  <a:pt x="315182" y="388334"/>
                  <a:pt x="299942" y="388334"/>
                </a:cubicBezTo>
                <a:cubicBezTo>
                  <a:pt x="284702" y="388334"/>
                  <a:pt x="272319" y="375952"/>
                  <a:pt x="272319" y="360712"/>
                </a:cubicBezTo>
                <a:cubicBezTo>
                  <a:pt x="272319" y="345472"/>
                  <a:pt x="284702" y="333089"/>
                  <a:pt x="299942" y="333089"/>
                </a:cubicBezTo>
                <a:close/>
                <a:moveTo>
                  <a:pt x="391382" y="332422"/>
                </a:moveTo>
                <a:cubicBezTo>
                  <a:pt x="407003" y="332422"/>
                  <a:pt x="419672" y="345090"/>
                  <a:pt x="419672" y="360711"/>
                </a:cubicBezTo>
                <a:cubicBezTo>
                  <a:pt x="419672" y="376332"/>
                  <a:pt x="407003" y="389001"/>
                  <a:pt x="391382" y="389001"/>
                </a:cubicBezTo>
                <a:cubicBezTo>
                  <a:pt x="375761" y="389001"/>
                  <a:pt x="363093" y="376332"/>
                  <a:pt x="363093" y="360711"/>
                </a:cubicBezTo>
                <a:cubicBezTo>
                  <a:pt x="363093" y="345090"/>
                  <a:pt x="375761" y="332422"/>
                  <a:pt x="391382" y="332422"/>
                </a:cubicBezTo>
                <a:close/>
                <a:moveTo>
                  <a:pt x="482822" y="331755"/>
                </a:moveTo>
                <a:cubicBezTo>
                  <a:pt x="498729" y="331755"/>
                  <a:pt x="511778" y="344709"/>
                  <a:pt x="511778" y="360711"/>
                </a:cubicBezTo>
                <a:cubicBezTo>
                  <a:pt x="511778" y="376713"/>
                  <a:pt x="498824" y="389667"/>
                  <a:pt x="482822" y="389667"/>
                </a:cubicBezTo>
                <a:cubicBezTo>
                  <a:pt x="466820" y="389667"/>
                  <a:pt x="453866" y="376713"/>
                  <a:pt x="453866" y="360711"/>
                </a:cubicBezTo>
                <a:cubicBezTo>
                  <a:pt x="453866" y="344709"/>
                  <a:pt x="466820" y="331755"/>
                  <a:pt x="482822" y="331755"/>
                </a:cubicBezTo>
                <a:close/>
                <a:moveTo>
                  <a:pt x="574262" y="331089"/>
                </a:moveTo>
                <a:cubicBezTo>
                  <a:pt x="590549" y="331089"/>
                  <a:pt x="603789" y="344424"/>
                  <a:pt x="603885" y="360712"/>
                </a:cubicBezTo>
                <a:cubicBezTo>
                  <a:pt x="603885" y="377095"/>
                  <a:pt x="590549" y="390335"/>
                  <a:pt x="574262" y="390335"/>
                </a:cubicBezTo>
                <a:cubicBezTo>
                  <a:pt x="557879" y="390335"/>
                  <a:pt x="544639" y="376999"/>
                  <a:pt x="544639" y="360712"/>
                </a:cubicBezTo>
                <a:cubicBezTo>
                  <a:pt x="544639" y="344329"/>
                  <a:pt x="557974" y="331089"/>
                  <a:pt x="574262" y="331089"/>
                </a:cubicBezTo>
                <a:close/>
                <a:moveTo>
                  <a:pt x="208502" y="222694"/>
                </a:moveTo>
                <a:cubicBezTo>
                  <a:pt x="223456" y="222694"/>
                  <a:pt x="235553" y="234791"/>
                  <a:pt x="235458" y="249650"/>
                </a:cubicBezTo>
                <a:cubicBezTo>
                  <a:pt x="235458" y="264509"/>
                  <a:pt x="223361" y="276606"/>
                  <a:pt x="208502" y="276606"/>
                </a:cubicBezTo>
                <a:cubicBezTo>
                  <a:pt x="193643" y="276606"/>
                  <a:pt x="181546" y="264509"/>
                  <a:pt x="181546" y="249650"/>
                </a:cubicBezTo>
                <a:cubicBezTo>
                  <a:pt x="181546" y="234791"/>
                  <a:pt x="193643" y="222694"/>
                  <a:pt x="208502" y="222694"/>
                </a:cubicBezTo>
                <a:close/>
                <a:moveTo>
                  <a:pt x="299942" y="222027"/>
                </a:moveTo>
                <a:cubicBezTo>
                  <a:pt x="315182" y="222027"/>
                  <a:pt x="327564" y="234505"/>
                  <a:pt x="327564" y="249650"/>
                </a:cubicBezTo>
                <a:cubicBezTo>
                  <a:pt x="327564" y="264890"/>
                  <a:pt x="315182" y="277272"/>
                  <a:pt x="299942" y="277272"/>
                </a:cubicBezTo>
                <a:cubicBezTo>
                  <a:pt x="284702" y="277272"/>
                  <a:pt x="272319" y="264890"/>
                  <a:pt x="272319" y="249650"/>
                </a:cubicBezTo>
                <a:cubicBezTo>
                  <a:pt x="272319" y="234410"/>
                  <a:pt x="284702" y="222027"/>
                  <a:pt x="299942" y="222027"/>
                </a:cubicBezTo>
                <a:close/>
                <a:moveTo>
                  <a:pt x="391382" y="221361"/>
                </a:moveTo>
                <a:cubicBezTo>
                  <a:pt x="407003" y="221361"/>
                  <a:pt x="419672" y="234125"/>
                  <a:pt x="419672" y="249650"/>
                </a:cubicBezTo>
                <a:cubicBezTo>
                  <a:pt x="419672" y="265271"/>
                  <a:pt x="407003" y="277940"/>
                  <a:pt x="391382" y="277940"/>
                </a:cubicBezTo>
                <a:cubicBezTo>
                  <a:pt x="375761" y="277940"/>
                  <a:pt x="363093" y="265271"/>
                  <a:pt x="363093" y="249650"/>
                </a:cubicBezTo>
                <a:cubicBezTo>
                  <a:pt x="363093" y="234029"/>
                  <a:pt x="375761" y="221361"/>
                  <a:pt x="391382" y="221361"/>
                </a:cubicBezTo>
                <a:close/>
                <a:moveTo>
                  <a:pt x="482822" y="220789"/>
                </a:moveTo>
                <a:cubicBezTo>
                  <a:pt x="498729" y="220789"/>
                  <a:pt x="511778" y="233743"/>
                  <a:pt x="511778" y="249745"/>
                </a:cubicBezTo>
                <a:cubicBezTo>
                  <a:pt x="511778" y="265747"/>
                  <a:pt x="498824" y="278701"/>
                  <a:pt x="482822" y="278701"/>
                </a:cubicBezTo>
                <a:cubicBezTo>
                  <a:pt x="466820" y="278701"/>
                  <a:pt x="453866" y="265747"/>
                  <a:pt x="453866" y="249745"/>
                </a:cubicBezTo>
                <a:cubicBezTo>
                  <a:pt x="453866" y="233743"/>
                  <a:pt x="466820" y="220789"/>
                  <a:pt x="482822" y="220789"/>
                </a:cubicBezTo>
                <a:close/>
                <a:moveTo>
                  <a:pt x="117157" y="112395"/>
                </a:moveTo>
                <a:cubicBezTo>
                  <a:pt x="131635" y="112395"/>
                  <a:pt x="143446" y="124206"/>
                  <a:pt x="143446" y="138684"/>
                </a:cubicBezTo>
                <a:cubicBezTo>
                  <a:pt x="143446" y="153257"/>
                  <a:pt x="131635" y="165068"/>
                  <a:pt x="117157" y="165068"/>
                </a:cubicBezTo>
                <a:cubicBezTo>
                  <a:pt x="102584" y="165068"/>
                  <a:pt x="90773" y="153162"/>
                  <a:pt x="90773" y="138684"/>
                </a:cubicBezTo>
                <a:cubicBezTo>
                  <a:pt x="90773" y="124206"/>
                  <a:pt x="102679" y="112395"/>
                  <a:pt x="117157" y="112395"/>
                </a:cubicBezTo>
                <a:close/>
                <a:moveTo>
                  <a:pt x="208502" y="111728"/>
                </a:moveTo>
                <a:cubicBezTo>
                  <a:pt x="223456" y="111728"/>
                  <a:pt x="235553" y="123825"/>
                  <a:pt x="235458" y="138684"/>
                </a:cubicBezTo>
                <a:cubicBezTo>
                  <a:pt x="235458" y="153543"/>
                  <a:pt x="223361" y="165640"/>
                  <a:pt x="208502" y="165640"/>
                </a:cubicBezTo>
                <a:cubicBezTo>
                  <a:pt x="193643" y="165640"/>
                  <a:pt x="181546" y="153543"/>
                  <a:pt x="181546" y="138684"/>
                </a:cubicBezTo>
                <a:cubicBezTo>
                  <a:pt x="181546" y="123825"/>
                  <a:pt x="193643" y="111728"/>
                  <a:pt x="208502" y="111728"/>
                </a:cubicBezTo>
                <a:close/>
                <a:moveTo>
                  <a:pt x="299942" y="111061"/>
                </a:moveTo>
                <a:cubicBezTo>
                  <a:pt x="315182" y="111061"/>
                  <a:pt x="327564" y="123443"/>
                  <a:pt x="327564" y="138683"/>
                </a:cubicBezTo>
                <a:cubicBezTo>
                  <a:pt x="327564" y="153924"/>
                  <a:pt x="315182" y="166306"/>
                  <a:pt x="299942" y="166306"/>
                </a:cubicBezTo>
                <a:cubicBezTo>
                  <a:pt x="284702" y="166306"/>
                  <a:pt x="272319" y="153924"/>
                  <a:pt x="272319" y="138683"/>
                </a:cubicBezTo>
                <a:cubicBezTo>
                  <a:pt x="272319" y="123443"/>
                  <a:pt x="284702" y="111061"/>
                  <a:pt x="299942" y="111061"/>
                </a:cubicBezTo>
                <a:close/>
                <a:moveTo>
                  <a:pt x="391382" y="110394"/>
                </a:moveTo>
                <a:cubicBezTo>
                  <a:pt x="407003" y="110394"/>
                  <a:pt x="419672" y="123062"/>
                  <a:pt x="419672" y="138683"/>
                </a:cubicBezTo>
                <a:cubicBezTo>
                  <a:pt x="419672" y="154304"/>
                  <a:pt x="407003" y="166973"/>
                  <a:pt x="391382" y="166973"/>
                </a:cubicBezTo>
                <a:cubicBezTo>
                  <a:pt x="375761" y="166973"/>
                  <a:pt x="363093" y="154304"/>
                  <a:pt x="363093" y="138683"/>
                </a:cubicBezTo>
                <a:cubicBezTo>
                  <a:pt x="363093" y="123062"/>
                  <a:pt x="375761" y="110394"/>
                  <a:pt x="391382" y="110394"/>
                </a:cubicBezTo>
                <a:close/>
                <a:moveTo>
                  <a:pt x="25717" y="2000"/>
                </a:moveTo>
                <a:cubicBezTo>
                  <a:pt x="39910" y="2000"/>
                  <a:pt x="51435" y="13525"/>
                  <a:pt x="51435" y="27717"/>
                </a:cubicBezTo>
                <a:cubicBezTo>
                  <a:pt x="51435" y="41910"/>
                  <a:pt x="39910" y="53435"/>
                  <a:pt x="25717" y="53435"/>
                </a:cubicBezTo>
                <a:cubicBezTo>
                  <a:pt x="11525" y="53435"/>
                  <a:pt x="0" y="41910"/>
                  <a:pt x="0" y="27717"/>
                </a:cubicBezTo>
                <a:cubicBezTo>
                  <a:pt x="0" y="13525"/>
                  <a:pt x="11525" y="2000"/>
                  <a:pt x="25717" y="2000"/>
                </a:cubicBezTo>
                <a:close/>
                <a:moveTo>
                  <a:pt x="117157" y="1333"/>
                </a:moveTo>
                <a:cubicBezTo>
                  <a:pt x="131635" y="1333"/>
                  <a:pt x="143446" y="13144"/>
                  <a:pt x="143446" y="27622"/>
                </a:cubicBezTo>
                <a:cubicBezTo>
                  <a:pt x="143446" y="42195"/>
                  <a:pt x="131635" y="54006"/>
                  <a:pt x="117157" y="54006"/>
                </a:cubicBezTo>
                <a:cubicBezTo>
                  <a:pt x="102584" y="54006"/>
                  <a:pt x="90773" y="42100"/>
                  <a:pt x="90773" y="27622"/>
                </a:cubicBezTo>
                <a:cubicBezTo>
                  <a:pt x="90773" y="13144"/>
                  <a:pt x="102679" y="1333"/>
                  <a:pt x="117157" y="1333"/>
                </a:cubicBezTo>
                <a:close/>
                <a:moveTo>
                  <a:pt x="208502" y="666"/>
                </a:moveTo>
                <a:cubicBezTo>
                  <a:pt x="223456" y="666"/>
                  <a:pt x="235553" y="12763"/>
                  <a:pt x="235458" y="27622"/>
                </a:cubicBezTo>
                <a:cubicBezTo>
                  <a:pt x="235458" y="42481"/>
                  <a:pt x="223361" y="54578"/>
                  <a:pt x="208502" y="54578"/>
                </a:cubicBezTo>
                <a:cubicBezTo>
                  <a:pt x="193643" y="54578"/>
                  <a:pt x="181546" y="42481"/>
                  <a:pt x="181546" y="27622"/>
                </a:cubicBezTo>
                <a:cubicBezTo>
                  <a:pt x="181546" y="12763"/>
                  <a:pt x="193643" y="666"/>
                  <a:pt x="208502" y="666"/>
                </a:cubicBezTo>
                <a:close/>
                <a:moveTo>
                  <a:pt x="299942" y="0"/>
                </a:moveTo>
                <a:cubicBezTo>
                  <a:pt x="315182" y="0"/>
                  <a:pt x="327564" y="12478"/>
                  <a:pt x="327564" y="27622"/>
                </a:cubicBezTo>
                <a:cubicBezTo>
                  <a:pt x="327564" y="42862"/>
                  <a:pt x="315182" y="55245"/>
                  <a:pt x="299942" y="55245"/>
                </a:cubicBezTo>
                <a:cubicBezTo>
                  <a:pt x="284702" y="55245"/>
                  <a:pt x="272319" y="42862"/>
                  <a:pt x="272319" y="27622"/>
                </a:cubicBezTo>
                <a:cubicBezTo>
                  <a:pt x="272319" y="12383"/>
                  <a:pt x="284702" y="0"/>
                  <a:pt x="299942" y="0"/>
                </a:cubicBezTo>
                <a:close/>
              </a:path>
            </a:pathLst>
          </a:custGeom>
          <a:gradFill>
            <a:gsLst>
              <a:gs pos="68000">
                <a:schemeClr val="accent1"/>
              </a:gs>
              <a:gs pos="0">
                <a:schemeClr val="accent1">
                  <a:lumMod val="70000"/>
                  <a:lumOff val="30000"/>
                  <a:alpha val="0"/>
                </a:schemeClr>
              </a:gs>
            </a:gsLst>
            <a:lin ang="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23" name="熊大的PPT宝库77"/>
          <p:cNvSpPr/>
          <p:nvPr/>
        </p:nvSpPr>
        <p:spPr>
          <a:xfrm rot="16200000">
            <a:off x="9645649" y="3729199"/>
            <a:ext cx="193370" cy="261206"/>
          </a:xfrm>
          <a:custGeom>
            <a:avLst/>
            <a:gdLst>
              <a:gd name="connsiteX0" fmla="*/ 30289 w 705136"/>
              <a:gd name="connsiteY0" fmla="*/ 890016 h 952499"/>
              <a:gd name="connsiteX1" fmla="*/ 60579 w 705136"/>
              <a:gd name="connsiteY1" fmla="*/ 920306 h 952499"/>
              <a:gd name="connsiteX2" fmla="*/ 30289 w 705136"/>
              <a:gd name="connsiteY2" fmla="*/ 950595 h 952499"/>
              <a:gd name="connsiteX3" fmla="*/ 0 w 705136"/>
              <a:gd name="connsiteY3" fmla="*/ 920306 h 952499"/>
              <a:gd name="connsiteX4" fmla="*/ 30289 w 705136"/>
              <a:gd name="connsiteY4" fmla="*/ 890016 h 952499"/>
              <a:gd name="connsiteX5" fmla="*/ 121730 w 705136"/>
              <a:gd name="connsiteY5" fmla="*/ 889349 h 952499"/>
              <a:gd name="connsiteX6" fmla="*/ 152591 w 705136"/>
              <a:gd name="connsiteY6" fmla="*/ 920210 h 952499"/>
              <a:gd name="connsiteX7" fmla="*/ 121730 w 705136"/>
              <a:gd name="connsiteY7" fmla="*/ 951166 h 952499"/>
              <a:gd name="connsiteX8" fmla="*/ 90774 w 705136"/>
              <a:gd name="connsiteY8" fmla="*/ 920210 h 952499"/>
              <a:gd name="connsiteX9" fmla="*/ 121730 w 705136"/>
              <a:gd name="connsiteY9" fmla="*/ 889349 h 952499"/>
              <a:gd name="connsiteX10" fmla="*/ 213170 w 705136"/>
              <a:gd name="connsiteY10" fmla="*/ 888682 h 952499"/>
              <a:gd name="connsiteX11" fmla="*/ 244697 w 705136"/>
              <a:gd name="connsiteY11" fmla="*/ 920210 h 952499"/>
              <a:gd name="connsiteX12" fmla="*/ 213170 w 705136"/>
              <a:gd name="connsiteY12" fmla="*/ 951737 h 952499"/>
              <a:gd name="connsiteX13" fmla="*/ 181642 w 705136"/>
              <a:gd name="connsiteY13" fmla="*/ 920210 h 952499"/>
              <a:gd name="connsiteX14" fmla="*/ 213170 w 705136"/>
              <a:gd name="connsiteY14" fmla="*/ 888682 h 952499"/>
              <a:gd name="connsiteX15" fmla="*/ 304610 w 705136"/>
              <a:gd name="connsiteY15" fmla="*/ 888110 h 952499"/>
              <a:gd name="connsiteX16" fmla="*/ 336804 w 705136"/>
              <a:gd name="connsiteY16" fmla="*/ 920305 h 952499"/>
              <a:gd name="connsiteX17" fmla="*/ 304610 w 705136"/>
              <a:gd name="connsiteY17" fmla="*/ 952499 h 952499"/>
              <a:gd name="connsiteX18" fmla="*/ 272415 w 705136"/>
              <a:gd name="connsiteY18" fmla="*/ 920305 h 952499"/>
              <a:gd name="connsiteX19" fmla="*/ 304610 w 705136"/>
              <a:gd name="connsiteY19" fmla="*/ 888110 h 952499"/>
              <a:gd name="connsiteX20" fmla="*/ 121730 w 705136"/>
              <a:gd name="connsiteY20" fmla="*/ 778383 h 952499"/>
              <a:gd name="connsiteX21" fmla="*/ 152591 w 705136"/>
              <a:gd name="connsiteY21" fmla="*/ 809244 h 952499"/>
              <a:gd name="connsiteX22" fmla="*/ 121730 w 705136"/>
              <a:gd name="connsiteY22" fmla="*/ 840200 h 952499"/>
              <a:gd name="connsiteX23" fmla="*/ 90774 w 705136"/>
              <a:gd name="connsiteY23" fmla="*/ 809244 h 952499"/>
              <a:gd name="connsiteX24" fmla="*/ 121730 w 705136"/>
              <a:gd name="connsiteY24" fmla="*/ 778383 h 952499"/>
              <a:gd name="connsiteX25" fmla="*/ 213170 w 705136"/>
              <a:gd name="connsiteY25" fmla="*/ 777716 h 952499"/>
              <a:gd name="connsiteX26" fmla="*/ 244697 w 705136"/>
              <a:gd name="connsiteY26" fmla="*/ 809244 h 952499"/>
              <a:gd name="connsiteX27" fmla="*/ 213170 w 705136"/>
              <a:gd name="connsiteY27" fmla="*/ 840771 h 952499"/>
              <a:gd name="connsiteX28" fmla="*/ 181642 w 705136"/>
              <a:gd name="connsiteY28" fmla="*/ 809244 h 952499"/>
              <a:gd name="connsiteX29" fmla="*/ 213170 w 705136"/>
              <a:gd name="connsiteY29" fmla="*/ 777716 h 952499"/>
              <a:gd name="connsiteX30" fmla="*/ 304610 w 705136"/>
              <a:gd name="connsiteY30" fmla="*/ 777049 h 952499"/>
              <a:gd name="connsiteX31" fmla="*/ 336804 w 705136"/>
              <a:gd name="connsiteY31" fmla="*/ 809243 h 952499"/>
              <a:gd name="connsiteX32" fmla="*/ 304610 w 705136"/>
              <a:gd name="connsiteY32" fmla="*/ 841438 h 952499"/>
              <a:gd name="connsiteX33" fmla="*/ 272415 w 705136"/>
              <a:gd name="connsiteY33" fmla="*/ 809243 h 952499"/>
              <a:gd name="connsiteX34" fmla="*/ 304610 w 705136"/>
              <a:gd name="connsiteY34" fmla="*/ 777049 h 952499"/>
              <a:gd name="connsiteX35" fmla="*/ 396049 w 705136"/>
              <a:gd name="connsiteY35" fmla="*/ 776382 h 952499"/>
              <a:gd name="connsiteX36" fmla="*/ 428911 w 705136"/>
              <a:gd name="connsiteY36" fmla="*/ 809243 h 952499"/>
              <a:gd name="connsiteX37" fmla="*/ 396049 w 705136"/>
              <a:gd name="connsiteY37" fmla="*/ 842105 h 952499"/>
              <a:gd name="connsiteX38" fmla="*/ 363188 w 705136"/>
              <a:gd name="connsiteY38" fmla="*/ 809243 h 952499"/>
              <a:gd name="connsiteX39" fmla="*/ 396049 w 705136"/>
              <a:gd name="connsiteY39" fmla="*/ 776382 h 952499"/>
              <a:gd name="connsiteX40" fmla="*/ 213170 w 705136"/>
              <a:gd name="connsiteY40" fmla="*/ 666750 h 952499"/>
              <a:gd name="connsiteX41" fmla="*/ 244697 w 705136"/>
              <a:gd name="connsiteY41" fmla="*/ 698278 h 952499"/>
              <a:gd name="connsiteX42" fmla="*/ 213170 w 705136"/>
              <a:gd name="connsiteY42" fmla="*/ 729806 h 952499"/>
              <a:gd name="connsiteX43" fmla="*/ 181642 w 705136"/>
              <a:gd name="connsiteY43" fmla="*/ 698278 h 952499"/>
              <a:gd name="connsiteX44" fmla="*/ 213170 w 705136"/>
              <a:gd name="connsiteY44" fmla="*/ 666750 h 952499"/>
              <a:gd name="connsiteX45" fmla="*/ 304610 w 705136"/>
              <a:gd name="connsiteY45" fmla="*/ 666083 h 952499"/>
              <a:gd name="connsiteX46" fmla="*/ 336804 w 705136"/>
              <a:gd name="connsiteY46" fmla="*/ 698277 h 952499"/>
              <a:gd name="connsiteX47" fmla="*/ 304610 w 705136"/>
              <a:gd name="connsiteY47" fmla="*/ 730472 h 952499"/>
              <a:gd name="connsiteX48" fmla="*/ 272415 w 705136"/>
              <a:gd name="connsiteY48" fmla="*/ 698277 h 952499"/>
              <a:gd name="connsiteX49" fmla="*/ 304610 w 705136"/>
              <a:gd name="connsiteY49" fmla="*/ 666083 h 952499"/>
              <a:gd name="connsiteX50" fmla="*/ 396049 w 705136"/>
              <a:gd name="connsiteY50" fmla="*/ 665416 h 952499"/>
              <a:gd name="connsiteX51" fmla="*/ 428911 w 705136"/>
              <a:gd name="connsiteY51" fmla="*/ 698277 h 952499"/>
              <a:gd name="connsiteX52" fmla="*/ 396049 w 705136"/>
              <a:gd name="connsiteY52" fmla="*/ 731139 h 952499"/>
              <a:gd name="connsiteX53" fmla="*/ 363188 w 705136"/>
              <a:gd name="connsiteY53" fmla="*/ 698277 h 952499"/>
              <a:gd name="connsiteX54" fmla="*/ 396049 w 705136"/>
              <a:gd name="connsiteY54" fmla="*/ 665416 h 952499"/>
              <a:gd name="connsiteX55" fmla="*/ 487394 w 705136"/>
              <a:gd name="connsiteY55" fmla="*/ 664749 h 952499"/>
              <a:gd name="connsiteX56" fmla="*/ 520922 w 705136"/>
              <a:gd name="connsiteY56" fmla="*/ 698277 h 952499"/>
              <a:gd name="connsiteX57" fmla="*/ 487394 w 705136"/>
              <a:gd name="connsiteY57" fmla="*/ 731805 h 952499"/>
              <a:gd name="connsiteX58" fmla="*/ 453866 w 705136"/>
              <a:gd name="connsiteY58" fmla="*/ 698277 h 952499"/>
              <a:gd name="connsiteX59" fmla="*/ 487394 w 705136"/>
              <a:gd name="connsiteY59" fmla="*/ 664749 h 952499"/>
              <a:gd name="connsiteX60" fmla="*/ 304610 w 705136"/>
              <a:gd name="connsiteY60" fmla="*/ 555021 h 952499"/>
              <a:gd name="connsiteX61" fmla="*/ 336804 w 705136"/>
              <a:gd name="connsiteY61" fmla="*/ 587216 h 952499"/>
              <a:gd name="connsiteX62" fmla="*/ 304610 w 705136"/>
              <a:gd name="connsiteY62" fmla="*/ 619410 h 952499"/>
              <a:gd name="connsiteX63" fmla="*/ 272415 w 705136"/>
              <a:gd name="connsiteY63" fmla="*/ 587216 h 952499"/>
              <a:gd name="connsiteX64" fmla="*/ 304610 w 705136"/>
              <a:gd name="connsiteY64" fmla="*/ 555021 h 952499"/>
              <a:gd name="connsiteX65" fmla="*/ 396049 w 705136"/>
              <a:gd name="connsiteY65" fmla="*/ 554355 h 952499"/>
              <a:gd name="connsiteX66" fmla="*/ 428911 w 705136"/>
              <a:gd name="connsiteY66" fmla="*/ 587216 h 952499"/>
              <a:gd name="connsiteX67" fmla="*/ 396049 w 705136"/>
              <a:gd name="connsiteY67" fmla="*/ 620077 h 952499"/>
              <a:gd name="connsiteX68" fmla="*/ 363188 w 705136"/>
              <a:gd name="connsiteY68" fmla="*/ 587216 h 952499"/>
              <a:gd name="connsiteX69" fmla="*/ 396049 w 705136"/>
              <a:gd name="connsiteY69" fmla="*/ 554355 h 952499"/>
              <a:gd name="connsiteX70" fmla="*/ 487394 w 705136"/>
              <a:gd name="connsiteY70" fmla="*/ 553783 h 952499"/>
              <a:gd name="connsiteX71" fmla="*/ 520922 w 705136"/>
              <a:gd name="connsiteY71" fmla="*/ 587311 h 952499"/>
              <a:gd name="connsiteX72" fmla="*/ 487394 w 705136"/>
              <a:gd name="connsiteY72" fmla="*/ 620839 h 952499"/>
              <a:gd name="connsiteX73" fmla="*/ 453866 w 705136"/>
              <a:gd name="connsiteY73" fmla="*/ 587311 h 952499"/>
              <a:gd name="connsiteX74" fmla="*/ 487394 w 705136"/>
              <a:gd name="connsiteY74" fmla="*/ 553783 h 952499"/>
              <a:gd name="connsiteX75" fmla="*/ 578835 w 705136"/>
              <a:gd name="connsiteY75" fmla="*/ 553116 h 952499"/>
              <a:gd name="connsiteX76" fmla="*/ 613030 w 705136"/>
              <a:gd name="connsiteY76" fmla="*/ 587311 h 952499"/>
              <a:gd name="connsiteX77" fmla="*/ 578835 w 705136"/>
              <a:gd name="connsiteY77" fmla="*/ 621506 h 952499"/>
              <a:gd name="connsiteX78" fmla="*/ 544640 w 705136"/>
              <a:gd name="connsiteY78" fmla="*/ 587311 h 952499"/>
              <a:gd name="connsiteX79" fmla="*/ 578835 w 705136"/>
              <a:gd name="connsiteY79" fmla="*/ 553116 h 952499"/>
              <a:gd name="connsiteX80" fmla="*/ 396049 w 705136"/>
              <a:gd name="connsiteY80" fmla="*/ 443388 h 952499"/>
              <a:gd name="connsiteX81" fmla="*/ 428911 w 705136"/>
              <a:gd name="connsiteY81" fmla="*/ 476249 h 952499"/>
              <a:gd name="connsiteX82" fmla="*/ 396049 w 705136"/>
              <a:gd name="connsiteY82" fmla="*/ 509111 h 952499"/>
              <a:gd name="connsiteX83" fmla="*/ 363188 w 705136"/>
              <a:gd name="connsiteY83" fmla="*/ 476249 h 952499"/>
              <a:gd name="connsiteX84" fmla="*/ 396049 w 705136"/>
              <a:gd name="connsiteY84" fmla="*/ 443388 h 952499"/>
              <a:gd name="connsiteX85" fmla="*/ 487394 w 705136"/>
              <a:gd name="connsiteY85" fmla="*/ 442721 h 952499"/>
              <a:gd name="connsiteX86" fmla="*/ 520922 w 705136"/>
              <a:gd name="connsiteY86" fmla="*/ 476249 h 952499"/>
              <a:gd name="connsiteX87" fmla="*/ 487394 w 705136"/>
              <a:gd name="connsiteY87" fmla="*/ 509777 h 952499"/>
              <a:gd name="connsiteX88" fmla="*/ 453866 w 705136"/>
              <a:gd name="connsiteY88" fmla="*/ 476249 h 952499"/>
              <a:gd name="connsiteX89" fmla="*/ 487394 w 705136"/>
              <a:gd name="connsiteY89" fmla="*/ 442721 h 952499"/>
              <a:gd name="connsiteX90" fmla="*/ 578835 w 705136"/>
              <a:gd name="connsiteY90" fmla="*/ 442055 h 952499"/>
              <a:gd name="connsiteX91" fmla="*/ 613030 w 705136"/>
              <a:gd name="connsiteY91" fmla="*/ 476250 h 952499"/>
              <a:gd name="connsiteX92" fmla="*/ 578835 w 705136"/>
              <a:gd name="connsiteY92" fmla="*/ 510445 h 952499"/>
              <a:gd name="connsiteX93" fmla="*/ 544640 w 705136"/>
              <a:gd name="connsiteY93" fmla="*/ 476250 h 952499"/>
              <a:gd name="connsiteX94" fmla="*/ 578835 w 705136"/>
              <a:gd name="connsiteY94" fmla="*/ 442055 h 952499"/>
              <a:gd name="connsiteX95" fmla="*/ 670275 w 705136"/>
              <a:gd name="connsiteY95" fmla="*/ 441388 h 952499"/>
              <a:gd name="connsiteX96" fmla="*/ 705136 w 705136"/>
              <a:gd name="connsiteY96" fmla="*/ 476250 h 952499"/>
              <a:gd name="connsiteX97" fmla="*/ 670275 w 705136"/>
              <a:gd name="connsiteY97" fmla="*/ 511111 h 952499"/>
              <a:gd name="connsiteX98" fmla="*/ 635413 w 705136"/>
              <a:gd name="connsiteY98" fmla="*/ 476250 h 952499"/>
              <a:gd name="connsiteX99" fmla="*/ 670275 w 705136"/>
              <a:gd name="connsiteY99" fmla="*/ 441388 h 952499"/>
              <a:gd name="connsiteX100" fmla="*/ 304610 w 705136"/>
              <a:gd name="connsiteY100" fmla="*/ 332993 h 952499"/>
              <a:gd name="connsiteX101" fmla="*/ 336804 w 705136"/>
              <a:gd name="connsiteY101" fmla="*/ 365188 h 952499"/>
              <a:gd name="connsiteX102" fmla="*/ 304610 w 705136"/>
              <a:gd name="connsiteY102" fmla="*/ 397382 h 952499"/>
              <a:gd name="connsiteX103" fmla="*/ 272415 w 705136"/>
              <a:gd name="connsiteY103" fmla="*/ 365188 h 952499"/>
              <a:gd name="connsiteX104" fmla="*/ 304610 w 705136"/>
              <a:gd name="connsiteY104" fmla="*/ 332993 h 952499"/>
              <a:gd name="connsiteX105" fmla="*/ 396049 w 705136"/>
              <a:gd name="connsiteY105" fmla="*/ 332327 h 952499"/>
              <a:gd name="connsiteX106" fmla="*/ 428911 w 705136"/>
              <a:gd name="connsiteY106" fmla="*/ 365188 h 952499"/>
              <a:gd name="connsiteX107" fmla="*/ 396049 w 705136"/>
              <a:gd name="connsiteY107" fmla="*/ 398050 h 952499"/>
              <a:gd name="connsiteX108" fmla="*/ 363188 w 705136"/>
              <a:gd name="connsiteY108" fmla="*/ 365188 h 952499"/>
              <a:gd name="connsiteX109" fmla="*/ 396049 w 705136"/>
              <a:gd name="connsiteY109" fmla="*/ 332327 h 952499"/>
              <a:gd name="connsiteX110" fmla="*/ 487394 w 705136"/>
              <a:gd name="connsiteY110" fmla="*/ 331755 h 952499"/>
              <a:gd name="connsiteX111" fmla="*/ 520922 w 705136"/>
              <a:gd name="connsiteY111" fmla="*/ 365283 h 952499"/>
              <a:gd name="connsiteX112" fmla="*/ 487394 w 705136"/>
              <a:gd name="connsiteY112" fmla="*/ 398811 h 952499"/>
              <a:gd name="connsiteX113" fmla="*/ 453866 w 705136"/>
              <a:gd name="connsiteY113" fmla="*/ 365283 h 952499"/>
              <a:gd name="connsiteX114" fmla="*/ 487394 w 705136"/>
              <a:gd name="connsiteY114" fmla="*/ 331755 h 952499"/>
              <a:gd name="connsiteX115" fmla="*/ 578835 w 705136"/>
              <a:gd name="connsiteY115" fmla="*/ 331088 h 952499"/>
              <a:gd name="connsiteX116" fmla="*/ 613030 w 705136"/>
              <a:gd name="connsiteY116" fmla="*/ 365283 h 952499"/>
              <a:gd name="connsiteX117" fmla="*/ 578835 w 705136"/>
              <a:gd name="connsiteY117" fmla="*/ 399478 h 952499"/>
              <a:gd name="connsiteX118" fmla="*/ 544640 w 705136"/>
              <a:gd name="connsiteY118" fmla="*/ 365283 h 952499"/>
              <a:gd name="connsiteX119" fmla="*/ 578835 w 705136"/>
              <a:gd name="connsiteY119" fmla="*/ 331088 h 952499"/>
              <a:gd name="connsiteX120" fmla="*/ 213170 w 705136"/>
              <a:gd name="connsiteY120" fmla="*/ 222694 h 952499"/>
              <a:gd name="connsiteX121" fmla="*/ 244697 w 705136"/>
              <a:gd name="connsiteY121" fmla="*/ 254222 h 952499"/>
              <a:gd name="connsiteX122" fmla="*/ 213170 w 705136"/>
              <a:gd name="connsiteY122" fmla="*/ 285750 h 952499"/>
              <a:gd name="connsiteX123" fmla="*/ 181642 w 705136"/>
              <a:gd name="connsiteY123" fmla="*/ 254222 h 952499"/>
              <a:gd name="connsiteX124" fmla="*/ 213170 w 705136"/>
              <a:gd name="connsiteY124" fmla="*/ 222694 h 952499"/>
              <a:gd name="connsiteX125" fmla="*/ 304610 w 705136"/>
              <a:gd name="connsiteY125" fmla="*/ 222027 h 952499"/>
              <a:gd name="connsiteX126" fmla="*/ 336804 w 705136"/>
              <a:gd name="connsiteY126" fmla="*/ 254222 h 952499"/>
              <a:gd name="connsiteX127" fmla="*/ 304610 w 705136"/>
              <a:gd name="connsiteY127" fmla="*/ 286416 h 952499"/>
              <a:gd name="connsiteX128" fmla="*/ 272415 w 705136"/>
              <a:gd name="connsiteY128" fmla="*/ 254222 h 952499"/>
              <a:gd name="connsiteX129" fmla="*/ 304610 w 705136"/>
              <a:gd name="connsiteY129" fmla="*/ 222027 h 952499"/>
              <a:gd name="connsiteX130" fmla="*/ 396049 w 705136"/>
              <a:gd name="connsiteY130" fmla="*/ 221360 h 952499"/>
              <a:gd name="connsiteX131" fmla="*/ 428911 w 705136"/>
              <a:gd name="connsiteY131" fmla="*/ 254221 h 952499"/>
              <a:gd name="connsiteX132" fmla="*/ 396049 w 705136"/>
              <a:gd name="connsiteY132" fmla="*/ 287083 h 952499"/>
              <a:gd name="connsiteX133" fmla="*/ 363188 w 705136"/>
              <a:gd name="connsiteY133" fmla="*/ 254221 h 952499"/>
              <a:gd name="connsiteX134" fmla="*/ 396049 w 705136"/>
              <a:gd name="connsiteY134" fmla="*/ 221360 h 952499"/>
              <a:gd name="connsiteX135" fmla="*/ 487394 w 705136"/>
              <a:gd name="connsiteY135" fmla="*/ 220694 h 952499"/>
              <a:gd name="connsiteX136" fmla="*/ 520922 w 705136"/>
              <a:gd name="connsiteY136" fmla="*/ 254222 h 952499"/>
              <a:gd name="connsiteX137" fmla="*/ 487394 w 705136"/>
              <a:gd name="connsiteY137" fmla="*/ 287750 h 952499"/>
              <a:gd name="connsiteX138" fmla="*/ 453866 w 705136"/>
              <a:gd name="connsiteY138" fmla="*/ 254222 h 952499"/>
              <a:gd name="connsiteX139" fmla="*/ 487394 w 705136"/>
              <a:gd name="connsiteY139" fmla="*/ 220694 h 952499"/>
              <a:gd name="connsiteX140" fmla="*/ 121730 w 705136"/>
              <a:gd name="connsiteY140" fmla="*/ 112299 h 952499"/>
              <a:gd name="connsiteX141" fmla="*/ 152591 w 705136"/>
              <a:gd name="connsiteY141" fmla="*/ 143160 h 952499"/>
              <a:gd name="connsiteX142" fmla="*/ 121730 w 705136"/>
              <a:gd name="connsiteY142" fmla="*/ 174116 h 952499"/>
              <a:gd name="connsiteX143" fmla="*/ 90774 w 705136"/>
              <a:gd name="connsiteY143" fmla="*/ 143160 h 952499"/>
              <a:gd name="connsiteX144" fmla="*/ 121730 w 705136"/>
              <a:gd name="connsiteY144" fmla="*/ 112299 h 952499"/>
              <a:gd name="connsiteX145" fmla="*/ 213170 w 705136"/>
              <a:gd name="connsiteY145" fmla="*/ 111633 h 952499"/>
              <a:gd name="connsiteX146" fmla="*/ 244697 w 705136"/>
              <a:gd name="connsiteY146" fmla="*/ 143161 h 952499"/>
              <a:gd name="connsiteX147" fmla="*/ 213170 w 705136"/>
              <a:gd name="connsiteY147" fmla="*/ 174689 h 952499"/>
              <a:gd name="connsiteX148" fmla="*/ 181642 w 705136"/>
              <a:gd name="connsiteY148" fmla="*/ 143161 h 952499"/>
              <a:gd name="connsiteX149" fmla="*/ 213170 w 705136"/>
              <a:gd name="connsiteY149" fmla="*/ 111633 h 952499"/>
              <a:gd name="connsiteX150" fmla="*/ 304610 w 705136"/>
              <a:gd name="connsiteY150" fmla="*/ 110966 h 952499"/>
              <a:gd name="connsiteX151" fmla="*/ 336804 w 705136"/>
              <a:gd name="connsiteY151" fmla="*/ 143161 h 952499"/>
              <a:gd name="connsiteX152" fmla="*/ 304610 w 705136"/>
              <a:gd name="connsiteY152" fmla="*/ 175355 h 952499"/>
              <a:gd name="connsiteX153" fmla="*/ 272415 w 705136"/>
              <a:gd name="connsiteY153" fmla="*/ 143161 h 952499"/>
              <a:gd name="connsiteX154" fmla="*/ 304610 w 705136"/>
              <a:gd name="connsiteY154" fmla="*/ 110966 h 952499"/>
              <a:gd name="connsiteX155" fmla="*/ 396049 w 705136"/>
              <a:gd name="connsiteY155" fmla="*/ 110394 h 952499"/>
              <a:gd name="connsiteX156" fmla="*/ 428911 w 705136"/>
              <a:gd name="connsiteY156" fmla="*/ 143255 h 952499"/>
              <a:gd name="connsiteX157" fmla="*/ 396049 w 705136"/>
              <a:gd name="connsiteY157" fmla="*/ 176117 h 952499"/>
              <a:gd name="connsiteX158" fmla="*/ 363188 w 705136"/>
              <a:gd name="connsiteY158" fmla="*/ 143255 h 952499"/>
              <a:gd name="connsiteX159" fmla="*/ 396049 w 705136"/>
              <a:gd name="connsiteY159" fmla="*/ 110394 h 952499"/>
              <a:gd name="connsiteX160" fmla="*/ 30289 w 705136"/>
              <a:gd name="connsiteY160" fmla="*/ 2000 h 952499"/>
              <a:gd name="connsiteX161" fmla="*/ 60579 w 705136"/>
              <a:gd name="connsiteY161" fmla="*/ 32290 h 952499"/>
              <a:gd name="connsiteX162" fmla="*/ 30289 w 705136"/>
              <a:gd name="connsiteY162" fmla="*/ 62579 h 952499"/>
              <a:gd name="connsiteX163" fmla="*/ 0 w 705136"/>
              <a:gd name="connsiteY163" fmla="*/ 32290 h 952499"/>
              <a:gd name="connsiteX164" fmla="*/ 30289 w 705136"/>
              <a:gd name="connsiteY164" fmla="*/ 2000 h 952499"/>
              <a:gd name="connsiteX165" fmla="*/ 121730 w 705136"/>
              <a:gd name="connsiteY165" fmla="*/ 1333 h 952499"/>
              <a:gd name="connsiteX166" fmla="*/ 152591 w 705136"/>
              <a:gd name="connsiteY166" fmla="*/ 32194 h 952499"/>
              <a:gd name="connsiteX167" fmla="*/ 121730 w 705136"/>
              <a:gd name="connsiteY167" fmla="*/ 63150 h 952499"/>
              <a:gd name="connsiteX168" fmla="*/ 90774 w 705136"/>
              <a:gd name="connsiteY168" fmla="*/ 32194 h 952499"/>
              <a:gd name="connsiteX169" fmla="*/ 121730 w 705136"/>
              <a:gd name="connsiteY169" fmla="*/ 1333 h 952499"/>
              <a:gd name="connsiteX170" fmla="*/ 213170 w 705136"/>
              <a:gd name="connsiteY170" fmla="*/ 666 h 952499"/>
              <a:gd name="connsiteX171" fmla="*/ 244697 w 705136"/>
              <a:gd name="connsiteY171" fmla="*/ 32194 h 952499"/>
              <a:gd name="connsiteX172" fmla="*/ 213170 w 705136"/>
              <a:gd name="connsiteY172" fmla="*/ 63722 h 952499"/>
              <a:gd name="connsiteX173" fmla="*/ 181642 w 705136"/>
              <a:gd name="connsiteY173" fmla="*/ 32194 h 952499"/>
              <a:gd name="connsiteX174" fmla="*/ 213170 w 705136"/>
              <a:gd name="connsiteY174" fmla="*/ 666 h 952499"/>
              <a:gd name="connsiteX175" fmla="*/ 304610 w 705136"/>
              <a:gd name="connsiteY175" fmla="*/ 0 h 952499"/>
              <a:gd name="connsiteX176" fmla="*/ 336804 w 705136"/>
              <a:gd name="connsiteY176" fmla="*/ 32195 h 952499"/>
              <a:gd name="connsiteX177" fmla="*/ 304610 w 705136"/>
              <a:gd name="connsiteY177" fmla="*/ 64389 h 952499"/>
              <a:gd name="connsiteX178" fmla="*/ 272415 w 705136"/>
              <a:gd name="connsiteY178" fmla="*/ 32195 h 952499"/>
              <a:gd name="connsiteX179" fmla="*/ 304610 w 705136"/>
              <a:gd name="connsiteY179" fmla="*/ 0 h 952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Lst>
            <a:rect l="l" t="t" r="r" b="b"/>
            <a:pathLst>
              <a:path w="705136" h="952499">
                <a:moveTo>
                  <a:pt x="30289" y="890016"/>
                </a:moveTo>
                <a:cubicBezTo>
                  <a:pt x="46958" y="890016"/>
                  <a:pt x="60579" y="903637"/>
                  <a:pt x="60579" y="920306"/>
                </a:cubicBezTo>
                <a:cubicBezTo>
                  <a:pt x="60579" y="937069"/>
                  <a:pt x="46958" y="950595"/>
                  <a:pt x="30289" y="950595"/>
                </a:cubicBezTo>
                <a:cubicBezTo>
                  <a:pt x="13621" y="950595"/>
                  <a:pt x="0" y="936974"/>
                  <a:pt x="0" y="920306"/>
                </a:cubicBezTo>
                <a:cubicBezTo>
                  <a:pt x="0" y="903541"/>
                  <a:pt x="13621" y="890016"/>
                  <a:pt x="30289" y="890016"/>
                </a:cubicBezTo>
                <a:close/>
                <a:moveTo>
                  <a:pt x="121730" y="889349"/>
                </a:moveTo>
                <a:cubicBezTo>
                  <a:pt x="138780" y="889349"/>
                  <a:pt x="152687" y="903255"/>
                  <a:pt x="152591" y="920210"/>
                </a:cubicBezTo>
                <a:cubicBezTo>
                  <a:pt x="152591" y="937260"/>
                  <a:pt x="138780" y="951166"/>
                  <a:pt x="121730" y="951166"/>
                </a:cubicBezTo>
                <a:cubicBezTo>
                  <a:pt x="104680" y="951166"/>
                  <a:pt x="90774" y="937260"/>
                  <a:pt x="90774" y="920210"/>
                </a:cubicBezTo>
                <a:cubicBezTo>
                  <a:pt x="90774" y="903255"/>
                  <a:pt x="104680" y="889349"/>
                  <a:pt x="121730" y="889349"/>
                </a:cubicBezTo>
                <a:close/>
                <a:moveTo>
                  <a:pt x="213170" y="888682"/>
                </a:moveTo>
                <a:cubicBezTo>
                  <a:pt x="230600" y="888682"/>
                  <a:pt x="244697" y="902874"/>
                  <a:pt x="244697" y="920210"/>
                </a:cubicBezTo>
                <a:cubicBezTo>
                  <a:pt x="244697" y="937545"/>
                  <a:pt x="230600" y="951737"/>
                  <a:pt x="213170" y="951737"/>
                </a:cubicBezTo>
                <a:cubicBezTo>
                  <a:pt x="195834" y="951737"/>
                  <a:pt x="181642" y="937640"/>
                  <a:pt x="181642" y="920210"/>
                </a:cubicBezTo>
                <a:cubicBezTo>
                  <a:pt x="181642" y="902874"/>
                  <a:pt x="195739" y="888682"/>
                  <a:pt x="213170" y="888682"/>
                </a:cubicBezTo>
                <a:close/>
                <a:moveTo>
                  <a:pt x="304610" y="888110"/>
                </a:moveTo>
                <a:cubicBezTo>
                  <a:pt x="322326" y="888110"/>
                  <a:pt x="336804" y="902493"/>
                  <a:pt x="336804" y="920305"/>
                </a:cubicBezTo>
                <a:cubicBezTo>
                  <a:pt x="336804" y="938021"/>
                  <a:pt x="322326" y="952499"/>
                  <a:pt x="304610" y="952499"/>
                </a:cubicBezTo>
                <a:cubicBezTo>
                  <a:pt x="286893" y="952499"/>
                  <a:pt x="272415" y="938116"/>
                  <a:pt x="272415" y="920305"/>
                </a:cubicBezTo>
                <a:cubicBezTo>
                  <a:pt x="272415" y="902588"/>
                  <a:pt x="286798" y="888110"/>
                  <a:pt x="304610" y="888110"/>
                </a:cubicBezTo>
                <a:close/>
                <a:moveTo>
                  <a:pt x="121730" y="778383"/>
                </a:moveTo>
                <a:cubicBezTo>
                  <a:pt x="138780" y="778383"/>
                  <a:pt x="152687" y="792194"/>
                  <a:pt x="152591" y="809244"/>
                </a:cubicBezTo>
                <a:cubicBezTo>
                  <a:pt x="152591" y="826294"/>
                  <a:pt x="138780" y="840200"/>
                  <a:pt x="121730" y="840200"/>
                </a:cubicBezTo>
                <a:cubicBezTo>
                  <a:pt x="104680" y="840200"/>
                  <a:pt x="90774" y="826294"/>
                  <a:pt x="90774" y="809244"/>
                </a:cubicBezTo>
                <a:cubicBezTo>
                  <a:pt x="90774" y="792289"/>
                  <a:pt x="104680" y="778383"/>
                  <a:pt x="121730" y="778383"/>
                </a:cubicBezTo>
                <a:close/>
                <a:moveTo>
                  <a:pt x="213170" y="777716"/>
                </a:moveTo>
                <a:cubicBezTo>
                  <a:pt x="230600" y="777716"/>
                  <a:pt x="244697" y="791908"/>
                  <a:pt x="244697" y="809244"/>
                </a:cubicBezTo>
                <a:cubicBezTo>
                  <a:pt x="244697" y="826579"/>
                  <a:pt x="230600" y="840771"/>
                  <a:pt x="213170" y="840771"/>
                </a:cubicBezTo>
                <a:cubicBezTo>
                  <a:pt x="195834" y="840771"/>
                  <a:pt x="181642" y="826674"/>
                  <a:pt x="181642" y="809244"/>
                </a:cubicBezTo>
                <a:cubicBezTo>
                  <a:pt x="181642" y="791908"/>
                  <a:pt x="195739" y="777716"/>
                  <a:pt x="213170" y="777716"/>
                </a:cubicBezTo>
                <a:close/>
                <a:moveTo>
                  <a:pt x="304610" y="777049"/>
                </a:moveTo>
                <a:cubicBezTo>
                  <a:pt x="322326" y="777049"/>
                  <a:pt x="336804" y="791527"/>
                  <a:pt x="336804" y="809243"/>
                </a:cubicBezTo>
                <a:cubicBezTo>
                  <a:pt x="336804" y="826960"/>
                  <a:pt x="322326" y="841438"/>
                  <a:pt x="304610" y="841438"/>
                </a:cubicBezTo>
                <a:cubicBezTo>
                  <a:pt x="286893" y="841438"/>
                  <a:pt x="272415" y="827055"/>
                  <a:pt x="272415" y="809243"/>
                </a:cubicBezTo>
                <a:cubicBezTo>
                  <a:pt x="272415" y="791527"/>
                  <a:pt x="286798" y="777049"/>
                  <a:pt x="304610" y="777049"/>
                </a:cubicBezTo>
                <a:close/>
                <a:moveTo>
                  <a:pt x="396049" y="776382"/>
                </a:moveTo>
                <a:cubicBezTo>
                  <a:pt x="414147" y="776382"/>
                  <a:pt x="428815" y="791146"/>
                  <a:pt x="428911" y="809243"/>
                </a:cubicBezTo>
                <a:cubicBezTo>
                  <a:pt x="428911" y="827341"/>
                  <a:pt x="414147" y="842105"/>
                  <a:pt x="396049" y="842105"/>
                </a:cubicBezTo>
                <a:cubicBezTo>
                  <a:pt x="377952" y="842105"/>
                  <a:pt x="363188" y="827341"/>
                  <a:pt x="363188" y="809243"/>
                </a:cubicBezTo>
                <a:cubicBezTo>
                  <a:pt x="363188" y="791146"/>
                  <a:pt x="377952" y="776382"/>
                  <a:pt x="396049" y="776382"/>
                </a:cubicBezTo>
                <a:close/>
                <a:moveTo>
                  <a:pt x="213170" y="666750"/>
                </a:moveTo>
                <a:cubicBezTo>
                  <a:pt x="230600" y="666750"/>
                  <a:pt x="244697" y="680847"/>
                  <a:pt x="244697" y="698278"/>
                </a:cubicBezTo>
                <a:cubicBezTo>
                  <a:pt x="244697" y="715613"/>
                  <a:pt x="230600" y="729806"/>
                  <a:pt x="213170" y="729806"/>
                </a:cubicBezTo>
                <a:cubicBezTo>
                  <a:pt x="195834" y="729806"/>
                  <a:pt x="181642" y="715708"/>
                  <a:pt x="181642" y="698278"/>
                </a:cubicBezTo>
                <a:cubicBezTo>
                  <a:pt x="181642" y="680942"/>
                  <a:pt x="195739" y="666750"/>
                  <a:pt x="213170" y="666750"/>
                </a:cubicBezTo>
                <a:close/>
                <a:moveTo>
                  <a:pt x="304610" y="666083"/>
                </a:moveTo>
                <a:cubicBezTo>
                  <a:pt x="322326" y="666083"/>
                  <a:pt x="336804" y="680466"/>
                  <a:pt x="336804" y="698277"/>
                </a:cubicBezTo>
                <a:cubicBezTo>
                  <a:pt x="336804" y="715994"/>
                  <a:pt x="322326" y="730472"/>
                  <a:pt x="304610" y="730472"/>
                </a:cubicBezTo>
                <a:cubicBezTo>
                  <a:pt x="286893" y="730472"/>
                  <a:pt x="272415" y="716089"/>
                  <a:pt x="272415" y="698277"/>
                </a:cubicBezTo>
                <a:cubicBezTo>
                  <a:pt x="272415" y="680561"/>
                  <a:pt x="286798" y="666083"/>
                  <a:pt x="304610" y="666083"/>
                </a:cubicBezTo>
                <a:close/>
                <a:moveTo>
                  <a:pt x="396049" y="665416"/>
                </a:moveTo>
                <a:cubicBezTo>
                  <a:pt x="414147" y="665416"/>
                  <a:pt x="428815" y="680180"/>
                  <a:pt x="428911" y="698277"/>
                </a:cubicBezTo>
                <a:cubicBezTo>
                  <a:pt x="428911" y="716375"/>
                  <a:pt x="414147" y="731139"/>
                  <a:pt x="396049" y="731139"/>
                </a:cubicBezTo>
                <a:cubicBezTo>
                  <a:pt x="377952" y="731139"/>
                  <a:pt x="363188" y="716375"/>
                  <a:pt x="363188" y="698277"/>
                </a:cubicBezTo>
                <a:cubicBezTo>
                  <a:pt x="363188" y="680180"/>
                  <a:pt x="377952" y="665416"/>
                  <a:pt x="396049" y="665416"/>
                </a:cubicBezTo>
                <a:close/>
                <a:moveTo>
                  <a:pt x="487394" y="664749"/>
                </a:moveTo>
                <a:cubicBezTo>
                  <a:pt x="505873" y="664749"/>
                  <a:pt x="520922" y="679799"/>
                  <a:pt x="520922" y="698277"/>
                </a:cubicBezTo>
                <a:cubicBezTo>
                  <a:pt x="520922" y="716755"/>
                  <a:pt x="505873" y="731805"/>
                  <a:pt x="487394" y="731805"/>
                </a:cubicBezTo>
                <a:cubicBezTo>
                  <a:pt x="468916" y="731805"/>
                  <a:pt x="453866" y="716755"/>
                  <a:pt x="453866" y="698277"/>
                </a:cubicBezTo>
                <a:cubicBezTo>
                  <a:pt x="453866" y="679799"/>
                  <a:pt x="468916" y="664749"/>
                  <a:pt x="487394" y="664749"/>
                </a:cubicBezTo>
                <a:close/>
                <a:moveTo>
                  <a:pt x="304610" y="555021"/>
                </a:moveTo>
                <a:cubicBezTo>
                  <a:pt x="322326" y="555021"/>
                  <a:pt x="336804" y="569499"/>
                  <a:pt x="336804" y="587216"/>
                </a:cubicBezTo>
                <a:cubicBezTo>
                  <a:pt x="336804" y="604932"/>
                  <a:pt x="322326" y="619410"/>
                  <a:pt x="304610" y="619410"/>
                </a:cubicBezTo>
                <a:cubicBezTo>
                  <a:pt x="286893" y="619410"/>
                  <a:pt x="272415" y="605027"/>
                  <a:pt x="272415" y="587216"/>
                </a:cubicBezTo>
                <a:cubicBezTo>
                  <a:pt x="272415" y="569499"/>
                  <a:pt x="286798" y="555021"/>
                  <a:pt x="304610" y="555021"/>
                </a:cubicBezTo>
                <a:close/>
                <a:moveTo>
                  <a:pt x="396049" y="554355"/>
                </a:moveTo>
                <a:cubicBezTo>
                  <a:pt x="414147" y="554355"/>
                  <a:pt x="428815" y="569119"/>
                  <a:pt x="428911" y="587216"/>
                </a:cubicBezTo>
                <a:cubicBezTo>
                  <a:pt x="428911" y="605314"/>
                  <a:pt x="414147" y="620077"/>
                  <a:pt x="396049" y="620077"/>
                </a:cubicBezTo>
                <a:cubicBezTo>
                  <a:pt x="377952" y="620077"/>
                  <a:pt x="363188" y="605314"/>
                  <a:pt x="363188" y="587216"/>
                </a:cubicBezTo>
                <a:cubicBezTo>
                  <a:pt x="363188" y="569119"/>
                  <a:pt x="377952" y="554355"/>
                  <a:pt x="396049" y="554355"/>
                </a:cubicBezTo>
                <a:close/>
                <a:moveTo>
                  <a:pt x="487394" y="553783"/>
                </a:moveTo>
                <a:cubicBezTo>
                  <a:pt x="505873" y="553783"/>
                  <a:pt x="520922" y="568737"/>
                  <a:pt x="520922" y="587311"/>
                </a:cubicBezTo>
                <a:cubicBezTo>
                  <a:pt x="520922" y="605789"/>
                  <a:pt x="505873" y="620839"/>
                  <a:pt x="487394" y="620839"/>
                </a:cubicBezTo>
                <a:cubicBezTo>
                  <a:pt x="468916" y="620839"/>
                  <a:pt x="453866" y="605789"/>
                  <a:pt x="453866" y="587311"/>
                </a:cubicBezTo>
                <a:cubicBezTo>
                  <a:pt x="453866" y="568833"/>
                  <a:pt x="468916" y="553783"/>
                  <a:pt x="487394" y="553783"/>
                </a:cubicBezTo>
                <a:close/>
                <a:moveTo>
                  <a:pt x="578835" y="553116"/>
                </a:moveTo>
                <a:cubicBezTo>
                  <a:pt x="597694" y="553116"/>
                  <a:pt x="613030" y="568451"/>
                  <a:pt x="613030" y="587311"/>
                </a:cubicBezTo>
                <a:cubicBezTo>
                  <a:pt x="613030" y="606170"/>
                  <a:pt x="597694" y="621506"/>
                  <a:pt x="578835" y="621506"/>
                </a:cubicBezTo>
                <a:cubicBezTo>
                  <a:pt x="559975" y="621506"/>
                  <a:pt x="544640" y="606170"/>
                  <a:pt x="544640" y="587311"/>
                </a:cubicBezTo>
                <a:cubicBezTo>
                  <a:pt x="544640" y="568451"/>
                  <a:pt x="559975" y="553116"/>
                  <a:pt x="578835" y="553116"/>
                </a:cubicBezTo>
                <a:close/>
                <a:moveTo>
                  <a:pt x="396049" y="443388"/>
                </a:moveTo>
                <a:cubicBezTo>
                  <a:pt x="414147" y="443388"/>
                  <a:pt x="428815" y="458152"/>
                  <a:pt x="428911" y="476249"/>
                </a:cubicBezTo>
                <a:cubicBezTo>
                  <a:pt x="428911" y="494347"/>
                  <a:pt x="414147" y="509111"/>
                  <a:pt x="396049" y="509111"/>
                </a:cubicBezTo>
                <a:cubicBezTo>
                  <a:pt x="377952" y="509111"/>
                  <a:pt x="363188" y="494347"/>
                  <a:pt x="363188" y="476249"/>
                </a:cubicBezTo>
                <a:cubicBezTo>
                  <a:pt x="363188" y="458152"/>
                  <a:pt x="377952" y="443388"/>
                  <a:pt x="396049" y="443388"/>
                </a:cubicBezTo>
                <a:close/>
                <a:moveTo>
                  <a:pt x="487394" y="442721"/>
                </a:moveTo>
                <a:cubicBezTo>
                  <a:pt x="505873" y="442721"/>
                  <a:pt x="520922" y="457771"/>
                  <a:pt x="520922" y="476249"/>
                </a:cubicBezTo>
                <a:cubicBezTo>
                  <a:pt x="520922" y="494727"/>
                  <a:pt x="505873" y="509777"/>
                  <a:pt x="487394" y="509777"/>
                </a:cubicBezTo>
                <a:cubicBezTo>
                  <a:pt x="468916" y="509777"/>
                  <a:pt x="453866" y="494727"/>
                  <a:pt x="453866" y="476249"/>
                </a:cubicBezTo>
                <a:cubicBezTo>
                  <a:pt x="453866" y="457771"/>
                  <a:pt x="468916" y="442721"/>
                  <a:pt x="487394" y="442721"/>
                </a:cubicBezTo>
                <a:close/>
                <a:moveTo>
                  <a:pt x="578835" y="442055"/>
                </a:moveTo>
                <a:cubicBezTo>
                  <a:pt x="597694" y="442055"/>
                  <a:pt x="613030" y="457390"/>
                  <a:pt x="613030" y="476250"/>
                </a:cubicBezTo>
                <a:cubicBezTo>
                  <a:pt x="613030" y="495109"/>
                  <a:pt x="597694" y="510445"/>
                  <a:pt x="578835" y="510445"/>
                </a:cubicBezTo>
                <a:cubicBezTo>
                  <a:pt x="559975" y="510445"/>
                  <a:pt x="544640" y="495109"/>
                  <a:pt x="544640" y="476250"/>
                </a:cubicBezTo>
                <a:cubicBezTo>
                  <a:pt x="544640" y="457390"/>
                  <a:pt x="559975" y="442055"/>
                  <a:pt x="578835" y="442055"/>
                </a:cubicBezTo>
                <a:close/>
                <a:moveTo>
                  <a:pt x="670275" y="441388"/>
                </a:moveTo>
                <a:cubicBezTo>
                  <a:pt x="689420" y="441388"/>
                  <a:pt x="705041" y="457009"/>
                  <a:pt x="705136" y="476250"/>
                </a:cubicBezTo>
                <a:cubicBezTo>
                  <a:pt x="705136" y="495490"/>
                  <a:pt x="689515" y="511111"/>
                  <a:pt x="670275" y="511111"/>
                </a:cubicBezTo>
                <a:cubicBezTo>
                  <a:pt x="651034" y="511111"/>
                  <a:pt x="635413" y="495490"/>
                  <a:pt x="635413" y="476250"/>
                </a:cubicBezTo>
                <a:cubicBezTo>
                  <a:pt x="635413" y="457009"/>
                  <a:pt x="651034" y="441388"/>
                  <a:pt x="670275" y="441388"/>
                </a:cubicBezTo>
                <a:close/>
                <a:moveTo>
                  <a:pt x="304610" y="332993"/>
                </a:moveTo>
                <a:cubicBezTo>
                  <a:pt x="322326" y="332993"/>
                  <a:pt x="336804" y="347471"/>
                  <a:pt x="336804" y="365188"/>
                </a:cubicBezTo>
                <a:cubicBezTo>
                  <a:pt x="336804" y="382904"/>
                  <a:pt x="322326" y="397382"/>
                  <a:pt x="304610" y="397382"/>
                </a:cubicBezTo>
                <a:cubicBezTo>
                  <a:pt x="286893" y="397382"/>
                  <a:pt x="272415" y="382999"/>
                  <a:pt x="272415" y="365188"/>
                </a:cubicBezTo>
                <a:cubicBezTo>
                  <a:pt x="272415" y="347471"/>
                  <a:pt x="286798" y="332993"/>
                  <a:pt x="304610" y="332993"/>
                </a:cubicBezTo>
                <a:close/>
                <a:moveTo>
                  <a:pt x="396049" y="332327"/>
                </a:moveTo>
                <a:cubicBezTo>
                  <a:pt x="414147" y="332327"/>
                  <a:pt x="428815" y="347091"/>
                  <a:pt x="428911" y="365188"/>
                </a:cubicBezTo>
                <a:cubicBezTo>
                  <a:pt x="428911" y="383286"/>
                  <a:pt x="414147" y="398050"/>
                  <a:pt x="396049" y="398050"/>
                </a:cubicBezTo>
                <a:cubicBezTo>
                  <a:pt x="377952" y="398050"/>
                  <a:pt x="363188" y="383286"/>
                  <a:pt x="363188" y="365188"/>
                </a:cubicBezTo>
                <a:cubicBezTo>
                  <a:pt x="363188" y="347091"/>
                  <a:pt x="377952" y="332327"/>
                  <a:pt x="396049" y="332327"/>
                </a:cubicBezTo>
                <a:close/>
                <a:moveTo>
                  <a:pt x="487394" y="331755"/>
                </a:moveTo>
                <a:cubicBezTo>
                  <a:pt x="505873" y="331755"/>
                  <a:pt x="520922" y="346804"/>
                  <a:pt x="520922" y="365283"/>
                </a:cubicBezTo>
                <a:cubicBezTo>
                  <a:pt x="520922" y="383761"/>
                  <a:pt x="505873" y="398811"/>
                  <a:pt x="487394" y="398811"/>
                </a:cubicBezTo>
                <a:cubicBezTo>
                  <a:pt x="468916" y="398811"/>
                  <a:pt x="453866" y="383761"/>
                  <a:pt x="453866" y="365283"/>
                </a:cubicBezTo>
                <a:cubicBezTo>
                  <a:pt x="453866" y="346804"/>
                  <a:pt x="468916" y="331755"/>
                  <a:pt x="487394" y="331755"/>
                </a:cubicBezTo>
                <a:close/>
                <a:moveTo>
                  <a:pt x="578835" y="331088"/>
                </a:moveTo>
                <a:cubicBezTo>
                  <a:pt x="597694" y="331088"/>
                  <a:pt x="613030" y="346423"/>
                  <a:pt x="613030" y="365283"/>
                </a:cubicBezTo>
                <a:cubicBezTo>
                  <a:pt x="613030" y="384142"/>
                  <a:pt x="597694" y="399478"/>
                  <a:pt x="578835" y="399478"/>
                </a:cubicBezTo>
                <a:cubicBezTo>
                  <a:pt x="559975" y="399478"/>
                  <a:pt x="544640" y="384142"/>
                  <a:pt x="544640" y="365283"/>
                </a:cubicBezTo>
                <a:cubicBezTo>
                  <a:pt x="544640" y="346423"/>
                  <a:pt x="559975" y="331088"/>
                  <a:pt x="578835" y="331088"/>
                </a:cubicBezTo>
                <a:close/>
                <a:moveTo>
                  <a:pt x="213170" y="222694"/>
                </a:moveTo>
                <a:cubicBezTo>
                  <a:pt x="230600" y="222694"/>
                  <a:pt x="244697" y="236791"/>
                  <a:pt x="244697" y="254222"/>
                </a:cubicBezTo>
                <a:cubicBezTo>
                  <a:pt x="244697" y="271557"/>
                  <a:pt x="230600" y="285750"/>
                  <a:pt x="213170" y="285750"/>
                </a:cubicBezTo>
                <a:cubicBezTo>
                  <a:pt x="195834" y="285750"/>
                  <a:pt x="181642" y="271653"/>
                  <a:pt x="181642" y="254222"/>
                </a:cubicBezTo>
                <a:cubicBezTo>
                  <a:pt x="181642" y="236886"/>
                  <a:pt x="195739" y="222694"/>
                  <a:pt x="213170" y="222694"/>
                </a:cubicBezTo>
                <a:close/>
                <a:moveTo>
                  <a:pt x="304610" y="222027"/>
                </a:moveTo>
                <a:cubicBezTo>
                  <a:pt x="322326" y="222027"/>
                  <a:pt x="336804" y="236505"/>
                  <a:pt x="336804" y="254222"/>
                </a:cubicBezTo>
                <a:cubicBezTo>
                  <a:pt x="336804" y="271938"/>
                  <a:pt x="322326" y="286416"/>
                  <a:pt x="304610" y="286416"/>
                </a:cubicBezTo>
                <a:cubicBezTo>
                  <a:pt x="286893" y="286416"/>
                  <a:pt x="272415" y="272033"/>
                  <a:pt x="272415" y="254222"/>
                </a:cubicBezTo>
                <a:cubicBezTo>
                  <a:pt x="272415" y="236505"/>
                  <a:pt x="286798" y="222027"/>
                  <a:pt x="304610" y="222027"/>
                </a:cubicBezTo>
                <a:close/>
                <a:moveTo>
                  <a:pt x="396049" y="221360"/>
                </a:moveTo>
                <a:cubicBezTo>
                  <a:pt x="414147" y="221360"/>
                  <a:pt x="428815" y="236124"/>
                  <a:pt x="428911" y="254221"/>
                </a:cubicBezTo>
                <a:cubicBezTo>
                  <a:pt x="428911" y="272319"/>
                  <a:pt x="414147" y="287083"/>
                  <a:pt x="396049" y="287083"/>
                </a:cubicBezTo>
                <a:cubicBezTo>
                  <a:pt x="377952" y="287083"/>
                  <a:pt x="363188" y="272319"/>
                  <a:pt x="363188" y="254221"/>
                </a:cubicBezTo>
                <a:cubicBezTo>
                  <a:pt x="363188" y="236124"/>
                  <a:pt x="377952" y="221360"/>
                  <a:pt x="396049" y="221360"/>
                </a:cubicBezTo>
                <a:close/>
                <a:moveTo>
                  <a:pt x="487394" y="220694"/>
                </a:moveTo>
                <a:cubicBezTo>
                  <a:pt x="505873" y="220694"/>
                  <a:pt x="520922" y="235743"/>
                  <a:pt x="520922" y="254222"/>
                </a:cubicBezTo>
                <a:cubicBezTo>
                  <a:pt x="520922" y="272700"/>
                  <a:pt x="505873" y="287750"/>
                  <a:pt x="487394" y="287750"/>
                </a:cubicBezTo>
                <a:cubicBezTo>
                  <a:pt x="468916" y="287750"/>
                  <a:pt x="453866" y="272700"/>
                  <a:pt x="453866" y="254222"/>
                </a:cubicBezTo>
                <a:cubicBezTo>
                  <a:pt x="453866" y="235743"/>
                  <a:pt x="468916" y="220694"/>
                  <a:pt x="487394" y="220694"/>
                </a:cubicBezTo>
                <a:close/>
                <a:moveTo>
                  <a:pt x="121730" y="112299"/>
                </a:moveTo>
                <a:cubicBezTo>
                  <a:pt x="138780" y="112299"/>
                  <a:pt x="152687" y="126206"/>
                  <a:pt x="152591" y="143160"/>
                </a:cubicBezTo>
                <a:cubicBezTo>
                  <a:pt x="152591" y="160210"/>
                  <a:pt x="138780" y="174116"/>
                  <a:pt x="121730" y="174116"/>
                </a:cubicBezTo>
                <a:cubicBezTo>
                  <a:pt x="104680" y="174116"/>
                  <a:pt x="90774" y="160210"/>
                  <a:pt x="90774" y="143160"/>
                </a:cubicBezTo>
                <a:cubicBezTo>
                  <a:pt x="90774" y="126206"/>
                  <a:pt x="104680" y="112299"/>
                  <a:pt x="121730" y="112299"/>
                </a:cubicBezTo>
                <a:close/>
                <a:moveTo>
                  <a:pt x="213170" y="111633"/>
                </a:moveTo>
                <a:cubicBezTo>
                  <a:pt x="230600" y="111633"/>
                  <a:pt x="244697" y="125825"/>
                  <a:pt x="244697" y="143161"/>
                </a:cubicBezTo>
                <a:cubicBezTo>
                  <a:pt x="244697" y="160496"/>
                  <a:pt x="230600" y="174689"/>
                  <a:pt x="213170" y="174689"/>
                </a:cubicBezTo>
                <a:cubicBezTo>
                  <a:pt x="195834" y="174689"/>
                  <a:pt x="181642" y="160592"/>
                  <a:pt x="181642" y="143161"/>
                </a:cubicBezTo>
                <a:cubicBezTo>
                  <a:pt x="181642" y="125825"/>
                  <a:pt x="195739" y="111633"/>
                  <a:pt x="213170" y="111633"/>
                </a:cubicBezTo>
                <a:close/>
                <a:moveTo>
                  <a:pt x="304610" y="110966"/>
                </a:moveTo>
                <a:cubicBezTo>
                  <a:pt x="322326" y="110966"/>
                  <a:pt x="336804" y="125444"/>
                  <a:pt x="336804" y="143161"/>
                </a:cubicBezTo>
                <a:cubicBezTo>
                  <a:pt x="336804" y="160877"/>
                  <a:pt x="322326" y="175355"/>
                  <a:pt x="304610" y="175355"/>
                </a:cubicBezTo>
                <a:cubicBezTo>
                  <a:pt x="286893" y="175355"/>
                  <a:pt x="272415" y="160972"/>
                  <a:pt x="272415" y="143161"/>
                </a:cubicBezTo>
                <a:cubicBezTo>
                  <a:pt x="272415" y="125444"/>
                  <a:pt x="286798" y="110966"/>
                  <a:pt x="304610" y="110966"/>
                </a:cubicBezTo>
                <a:close/>
                <a:moveTo>
                  <a:pt x="396049" y="110394"/>
                </a:moveTo>
                <a:cubicBezTo>
                  <a:pt x="414147" y="110394"/>
                  <a:pt x="428815" y="125063"/>
                  <a:pt x="428911" y="143255"/>
                </a:cubicBezTo>
                <a:cubicBezTo>
                  <a:pt x="428911" y="161353"/>
                  <a:pt x="414147" y="176117"/>
                  <a:pt x="396049" y="176117"/>
                </a:cubicBezTo>
                <a:cubicBezTo>
                  <a:pt x="377952" y="176117"/>
                  <a:pt x="363188" y="161353"/>
                  <a:pt x="363188" y="143255"/>
                </a:cubicBezTo>
                <a:cubicBezTo>
                  <a:pt x="363188" y="125158"/>
                  <a:pt x="377952" y="110394"/>
                  <a:pt x="396049" y="110394"/>
                </a:cubicBezTo>
                <a:close/>
                <a:moveTo>
                  <a:pt x="30289" y="2000"/>
                </a:moveTo>
                <a:cubicBezTo>
                  <a:pt x="46958" y="2000"/>
                  <a:pt x="60579" y="15526"/>
                  <a:pt x="60579" y="32290"/>
                </a:cubicBezTo>
                <a:cubicBezTo>
                  <a:pt x="60579" y="48958"/>
                  <a:pt x="46958" y="62579"/>
                  <a:pt x="30289" y="62579"/>
                </a:cubicBezTo>
                <a:cubicBezTo>
                  <a:pt x="13621" y="62579"/>
                  <a:pt x="0" y="48958"/>
                  <a:pt x="0" y="32290"/>
                </a:cubicBezTo>
                <a:cubicBezTo>
                  <a:pt x="0" y="15621"/>
                  <a:pt x="13621" y="2000"/>
                  <a:pt x="30289" y="2000"/>
                </a:cubicBezTo>
                <a:close/>
                <a:moveTo>
                  <a:pt x="121730" y="1333"/>
                </a:moveTo>
                <a:cubicBezTo>
                  <a:pt x="138780" y="1333"/>
                  <a:pt x="152687" y="15144"/>
                  <a:pt x="152591" y="32194"/>
                </a:cubicBezTo>
                <a:cubicBezTo>
                  <a:pt x="152591" y="49244"/>
                  <a:pt x="138780" y="63150"/>
                  <a:pt x="121730" y="63150"/>
                </a:cubicBezTo>
                <a:cubicBezTo>
                  <a:pt x="104680" y="63150"/>
                  <a:pt x="90774" y="49244"/>
                  <a:pt x="90774" y="32194"/>
                </a:cubicBezTo>
                <a:cubicBezTo>
                  <a:pt x="90774" y="15240"/>
                  <a:pt x="104680" y="1333"/>
                  <a:pt x="121730" y="1333"/>
                </a:cubicBezTo>
                <a:close/>
                <a:moveTo>
                  <a:pt x="213170" y="666"/>
                </a:moveTo>
                <a:cubicBezTo>
                  <a:pt x="230600" y="666"/>
                  <a:pt x="244697" y="14858"/>
                  <a:pt x="244697" y="32194"/>
                </a:cubicBezTo>
                <a:cubicBezTo>
                  <a:pt x="244697" y="49529"/>
                  <a:pt x="230600" y="63722"/>
                  <a:pt x="213170" y="63722"/>
                </a:cubicBezTo>
                <a:cubicBezTo>
                  <a:pt x="195834" y="63722"/>
                  <a:pt x="181642" y="49625"/>
                  <a:pt x="181642" y="32194"/>
                </a:cubicBezTo>
                <a:cubicBezTo>
                  <a:pt x="181642" y="14858"/>
                  <a:pt x="195739" y="666"/>
                  <a:pt x="213170" y="666"/>
                </a:cubicBezTo>
                <a:close/>
                <a:moveTo>
                  <a:pt x="304610" y="0"/>
                </a:moveTo>
                <a:cubicBezTo>
                  <a:pt x="322326" y="0"/>
                  <a:pt x="336804" y="14478"/>
                  <a:pt x="336804" y="32195"/>
                </a:cubicBezTo>
                <a:cubicBezTo>
                  <a:pt x="336804" y="49911"/>
                  <a:pt x="322326" y="64389"/>
                  <a:pt x="304610" y="64389"/>
                </a:cubicBezTo>
                <a:cubicBezTo>
                  <a:pt x="286893" y="64389"/>
                  <a:pt x="272415" y="50006"/>
                  <a:pt x="272415" y="32195"/>
                </a:cubicBezTo>
                <a:cubicBezTo>
                  <a:pt x="272415" y="14478"/>
                  <a:pt x="286798" y="0"/>
                  <a:pt x="304610" y="0"/>
                </a:cubicBezTo>
                <a:close/>
              </a:path>
            </a:pathLst>
          </a:custGeom>
          <a:gradFill>
            <a:gsLst>
              <a:gs pos="68000">
                <a:schemeClr val="accent1"/>
              </a:gs>
              <a:gs pos="0">
                <a:schemeClr val="accent1">
                  <a:lumMod val="70000"/>
                  <a:lumOff val="30000"/>
                  <a:alpha val="0"/>
                </a:schemeClr>
              </a:gs>
            </a:gsLst>
            <a:lin ang="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25" name="熊大的PPT宝库78"/>
          <p:cNvSpPr/>
          <p:nvPr/>
        </p:nvSpPr>
        <p:spPr>
          <a:xfrm rot="16200000">
            <a:off x="3004469" y="3895345"/>
            <a:ext cx="165604" cy="197811"/>
          </a:xfrm>
          <a:custGeom>
            <a:avLst/>
            <a:gdLst>
              <a:gd name="connsiteX0" fmla="*/ 25717 w 603885"/>
              <a:gd name="connsiteY0" fmla="*/ 668083 h 721328"/>
              <a:gd name="connsiteX1" fmla="*/ 51435 w 603885"/>
              <a:gd name="connsiteY1" fmla="*/ 693801 h 721328"/>
              <a:gd name="connsiteX2" fmla="*/ 25717 w 603885"/>
              <a:gd name="connsiteY2" fmla="*/ 719518 h 721328"/>
              <a:gd name="connsiteX3" fmla="*/ 0 w 603885"/>
              <a:gd name="connsiteY3" fmla="*/ 693801 h 721328"/>
              <a:gd name="connsiteX4" fmla="*/ 25717 w 603885"/>
              <a:gd name="connsiteY4" fmla="*/ 668083 h 721328"/>
              <a:gd name="connsiteX5" fmla="*/ 117157 w 603885"/>
              <a:gd name="connsiteY5" fmla="*/ 667416 h 721328"/>
              <a:gd name="connsiteX6" fmla="*/ 143446 w 603885"/>
              <a:gd name="connsiteY6" fmla="*/ 693705 h 721328"/>
              <a:gd name="connsiteX7" fmla="*/ 117157 w 603885"/>
              <a:gd name="connsiteY7" fmla="*/ 720089 h 721328"/>
              <a:gd name="connsiteX8" fmla="*/ 90773 w 603885"/>
              <a:gd name="connsiteY8" fmla="*/ 693705 h 721328"/>
              <a:gd name="connsiteX9" fmla="*/ 117157 w 603885"/>
              <a:gd name="connsiteY9" fmla="*/ 667416 h 721328"/>
              <a:gd name="connsiteX10" fmla="*/ 208502 w 603885"/>
              <a:gd name="connsiteY10" fmla="*/ 666750 h 721328"/>
              <a:gd name="connsiteX11" fmla="*/ 235458 w 603885"/>
              <a:gd name="connsiteY11" fmla="*/ 693706 h 721328"/>
              <a:gd name="connsiteX12" fmla="*/ 208502 w 603885"/>
              <a:gd name="connsiteY12" fmla="*/ 720662 h 721328"/>
              <a:gd name="connsiteX13" fmla="*/ 181546 w 603885"/>
              <a:gd name="connsiteY13" fmla="*/ 693706 h 721328"/>
              <a:gd name="connsiteX14" fmla="*/ 208502 w 603885"/>
              <a:gd name="connsiteY14" fmla="*/ 666750 h 721328"/>
              <a:gd name="connsiteX15" fmla="*/ 299942 w 603885"/>
              <a:gd name="connsiteY15" fmla="*/ 666083 h 721328"/>
              <a:gd name="connsiteX16" fmla="*/ 327564 w 603885"/>
              <a:gd name="connsiteY16" fmla="*/ 693706 h 721328"/>
              <a:gd name="connsiteX17" fmla="*/ 299942 w 603885"/>
              <a:gd name="connsiteY17" fmla="*/ 721328 h 721328"/>
              <a:gd name="connsiteX18" fmla="*/ 272319 w 603885"/>
              <a:gd name="connsiteY18" fmla="*/ 693706 h 721328"/>
              <a:gd name="connsiteX19" fmla="*/ 299942 w 603885"/>
              <a:gd name="connsiteY19" fmla="*/ 666083 h 721328"/>
              <a:gd name="connsiteX20" fmla="*/ 117157 w 603885"/>
              <a:gd name="connsiteY20" fmla="*/ 556355 h 721328"/>
              <a:gd name="connsiteX21" fmla="*/ 143446 w 603885"/>
              <a:gd name="connsiteY21" fmla="*/ 582644 h 721328"/>
              <a:gd name="connsiteX22" fmla="*/ 117157 w 603885"/>
              <a:gd name="connsiteY22" fmla="*/ 609028 h 721328"/>
              <a:gd name="connsiteX23" fmla="*/ 90773 w 603885"/>
              <a:gd name="connsiteY23" fmla="*/ 582644 h 721328"/>
              <a:gd name="connsiteX24" fmla="*/ 117157 w 603885"/>
              <a:gd name="connsiteY24" fmla="*/ 556355 h 721328"/>
              <a:gd name="connsiteX25" fmla="*/ 208502 w 603885"/>
              <a:gd name="connsiteY25" fmla="*/ 555784 h 721328"/>
              <a:gd name="connsiteX26" fmla="*/ 235458 w 603885"/>
              <a:gd name="connsiteY26" fmla="*/ 582740 h 721328"/>
              <a:gd name="connsiteX27" fmla="*/ 208502 w 603885"/>
              <a:gd name="connsiteY27" fmla="*/ 609695 h 721328"/>
              <a:gd name="connsiteX28" fmla="*/ 181546 w 603885"/>
              <a:gd name="connsiteY28" fmla="*/ 582740 h 721328"/>
              <a:gd name="connsiteX29" fmla="*/ 208502 w 603885"/>
              <a:gd name="connsiteY29" fmla="*/ 555784 h 721328"/>
              <a:gd name="connsiteX30" fmla="*/ 299942 w 603885"/>
              <a:gd name="connsiteY30" fmla="*/ 555117 h 721328"/>
              <a:gd name="connsiteX31" fmla="*/ 327564 w 603885"/>
              <a:gd name="connsiteY31" fmla="*/ 582739 h 721328"/>
              <a:gd name="connsiteX32" fmla="*/ 299942 w 603885"/>
              <a:gd name="connsiteY32" fmla="*/ 610362 h 721328"/>
              <a:gd name="connsiteX33" fmla="*/ 272319 w 603885"/>
              <a:gd name="connsiteY33" fmla="*/ 582739 h 721328"/>
              <a:gd name="connsiteX34" fmla="*/ 299942 w 603885"/>
              <a:gd name="connsiteY34" fmla="*/ 555117 h 721328"/>
              <a:gd name="connsiteX35" fmla="*/ 391382 w 603885"/>
              <a:gd name="connsiteY35" fmla="*/ 554450 h 721328"/>
              <a:gd name="connsiteX36" fmla="*/ 419672 w 603885"/>
              <a:gd name="connsiteY36" fmla="*/ 582739 h 721328"/>
              <a:gd name="connsiteX37" fmla="*/ 391382 w 603885"/>
              <a:gd name="connsiteY37" fmla="*/ 611029 h 721328"/>
              <a:gd name="connsiteX38" fmla="*/ 363093 w 603885"/>
              <a:gd name="connsiteY38" fmla="*/ 582739 h 721328"/>
              <a:gd name="connsiteX39" fmla="*/ 391382 w 603885"/>
              <a:gd name="connsiteY39" fmla="*/ 554450 h 721328"/>
              <a:gd name="connsiteX40" fmla="*/ 208502 w 603885"/>
              <a:gd name="connsiteY40" fmla="*/ 444722 h 721328"/>
              <a:gd name="connsiteX41" fmla="*/ 235458 w 603885"/>
              <a:gd name="connsiteY41" fmla="*/ 471678 h 721328"/>
              <a:gd name="connsiteX42" fmla="*/ 208502 w 603885"/>
              <a:gd name="connsiteY42" fmla="*/ 498634 h 721328"/>
              <a:gd name="connsiteX43" fmla="*/ 181546 w 603885"/>
              <a:gd name="connsiteY43" fmla="*/ 471678 h 721328"/>
              <a:gd name="connsiteX44" fmla="*/ 208502 w 603885"/>
              <a:gd name="connsiteY44" fmla="*/ 444722 h 721328"/>
              <a:gd name="connsiteX45" fmla="*/ 299942 w 603885"/>
              <a:gd name="connsiteY45" fmla="*/ 444055 h 721328"/>
              <a:gd name="connsiteX46" fmla="*/ 327564 w 603885"/>
              <a:gd name="connsiteY46" fmla="*/ 471678 h 721328"/>
              <a:gd name="connsiteX47" fmla="*/ 299942 w 603885"/>
              <a:gd name="connsiteY47" fmla="*/ 499300 h 721328"/>
              <a:gd name="connsiteX48" fmla="*/ 272319 w 603885"/>
              <a:gd name="connsiteY48" fmla="*/ 471678 h 721328"/>
              <a:gd name="connsiteX49" fmla="*/ 299942 w 603885"/>
              <a:gd name="connsiteY49" fmla="*/ 444055 h 721328"/>
              <a:gd name="connsiteX50" fmla="*/ 391382 w 603885"/>
              <a:gd name="connsiteY50" fmla="*/ 443389 h 721328"/>
              <a:gd name="connsiteX51" fmla="*/ 419672 w 603885"/>
              <a:gd name="connsiteY51" fmla="*/ 471678 h 721328"/>
              <a:gd name="connsiteX52" fmla="*/ 391382 w 603885"/>
              <a:gd name="connsiteY52" fmla="*/ 499968 h 721328"/>
              <a:gd name="connsiteX53" fmla="*/ 363093 w 603885"/>
              <a:gd name="connsiteY53" fmla="*/ 471678 h 721328"/>
              <a:gd name="connsiteX54" fmla="*/ 391382 w 603885"/>
              <a:gd name="connsiteY54" fmla="*/ 443389 h 721328"/>
              <a:gd name="connsiteX55" fmla="*/ 482822 w 603885"/>
              <a:gd name="connsiteY55" fmla="*/ 442817 h 721328"/>
              <a:gd name="connsiteX56" fmla="*/ 511778 w 603885"/>
              <a:gd name="connsiteY56" fmla="*/ 471773 h 721328"/>
              <a:gd name="connsiteX57" fmla="*/ 482822 w 603885"/>
              <a:gd name="connsiteY57" fmla="*/ 500729 h 721328"/>
              <a:gd name="connsiteX58" fmla="*/ 453866 w 603885"/>
              <a:gd name="connsiteY58" fmla="*/ 471773 h 721328"/>
              <a:gd name="connsiteX59" fmla="*/ 482822 w 603885"/>
              <a:gd name="connsiteY59" fmla="*/ 442817 h 721328"/>
              <a:gd name="connsiteX60" fmla="*/ 299942 w 603885"/>
              <a:gd name="connsiteY60" fmla="*/ 333089 h 721328"/>
              <a:gd name="connsiteX61" fmla="*/ 327564 w 603885"/>
              <a:gd name="connsiteY61" fmla="*/ 360712 h 721328"/>
              <a:gd name="connsiteX62" fmla="*/ 299942 w 603885"/>
              <a:gd name="connsiteY62" fmla="*/ 388334 h 721328"/>
              <a:gd name="connsiteX63" fmla="*/ 272319 w 603885"/>
              <a:gd name="connsiteY63" fmla="*/ 360712 h 721328"/>
              <a:gd name="connsiteX64" fmla="*/ 299942 w 603885"/>
              <a:gd name="connsiteY64" fmla="*/ 333089 h 721328"/>
              <a:gd name="connsiteX65" fmla="*/ 391382 w 603885"/>
              <a:gd name="connsiteY65" fmla="*/ 332422 h 721328"/>
              <a:gd name="connsiteX66" fmla="*/ 419672 w 603885"/>
              <a:gd name="connsiteY66" fmla="*/ 360711 h 721328"/>
              <a:gd name="connsiteX67" fmla="*/ 391382 w 603885"/>
              <a:gd name="connsiteY67" fmla="*/ 389001 h 721328"/>
              <a:gd name="connsiteX68" fmla="*/ 363093 w 603885"/>
              <a:gd name="connsiteY68" fmla="*/ 360711 h 721328"/>
              <a:gd name="connsiteX69" fmla="*/ 391382 w 603885"/>
              <a:gd name="connsiteY69" fmla="*/ 332422 h 721328"/>
              <a:gd name="connsiteX70" fmla="*/ 482822 w 603885"/>
              <a:gd name="connsiteY70" fmla="*/ 331755 h 721328"/>
              <a:gd name="connsiteX71" fmla="*/ 511778 w 603885"/>
              <a:gd name="connsiteY71" fmla="*/ 360711 h 721328"/>
              <a:gd name="connsiteX72" fmla="*/ 482822 w 603885"/>
              <a:gd name="connsiteY72" fmla="*/ 389667 h 721328"/>
              <a:gd name="connsiteX73" fmla="*/ 453866 w 603885"/>
              <a:gd name="connsiteY73" fmla="*/ 360711 h 721328"/>
              <a:gd name="connsiteX74" fmla="*/ 482822 w 603885"/>
              <a:gd name="connsiteY74" fmla="*/ 331755 h 721328"/>
              <a:gd name="connsiteX75" fmla="*/ 574262 w 603885"/>
              <a:gd name="connsiteY75" fmla="*/ 331089 h 721328"/>
              <a:gd name="connsiteX76" fmla="*/ 603885 w 603885"/>
              <a:gd name="connsiteY76" fmla="*/ 360712 h 721328"/>
              <a:gd name="connsiteX77" fmla="*/ 574262 w 603885"/>
              <a:gd name="connsiteY77" fmla="*/ 390335 h 721328"/>
              <a:gd name="connsiteX78" fmla="*/ 544639 w 603885"/>
              <a:gd name="connsiteY78" fmla="*/ 360712 h 721328"/>
              <a:gd name="connsiteX79" fmla="*/ 574262 w 603885"/>
              <a:gd name="connsiteY79" fmla="*/ 331089 h 721328"/>
              <a:gd name="connsiteX80" fmla="*/ 208502 w 603885"/>
              <a:gd name="connsiteY80" fmla="*/ 222694 h 721328"/>
              <a:gd name="connsiteX81" fmla="*/ 235458 w 603885"/>
              <a:gd name="connsiteY81" fmla="*/ 249650 h 721328"/>
              <a:gd name="connsiteX82" fmla="*/ 208502 w 603885"/>
              <a:gd name="connsiteY82" fmla="*/ 276606 h 721328"/>
              <a:gd name="connsiteX83" fmla="*/ 181546 w 603885"/>
              <a:gd name="connsiteY83" fmla="*/ 249650 h 721328"/>
              <a:gd name="connsiteX84" fmla="*/ 208502 w 603885"/>
              <a:gd name="connsiteY84" fmla="*/ 222694 h 721328"/>
              <a:gd name="connsiteX85" fmla="*/ 299942 w 603885"/>
              <a:gd name="connsiteY85" fmla="*/ 222027 h 721328"/>
              <a:gd name="connsiteX86" fmla="*/ 327564 w 603885"/>
              <a:gd name="connsiteY86" fmla="*/ 249650 h 721328"/>
              <a:gd name="connsiteX87" fmla="*/ 299942 w 603885"/>
              <a:gd name="connsiteY87" fmla="*/ 277272 h 721328"/>
              <a:gd name="connsiteX88" fmla="*/ 272319 w 603885"/>
              <a:gd name="connsiteY88" fmla="*/ 249650 h 721328"/>
              <a:gd name="connsiteX89" fmla="*/ 299942 w 603885"/>
              <a:gd name="connsiteY89" fmla="*/ 222027 h 721328"/>
              <a:gd name="connsiteX90" fmla="*/ 391382 w 603885"/>
              <a:gd name="connsiteY90" fmla="*/ 221361 h 721328"/>
              <a:gd name="connsiteX91" fmla="*/ 419672 w 603885"/>
              <a:gd name="connsiteY91" fmla="*/ 249650 h 721328"/>
              <a:gd name="connsiteX92" fmla="*/ 391382 w 603885"/>
              <a:gd name="connsiteY92" fmla="*/ 277940 h 721328"/>
              <a:gd name="connsiteX93" fmla="*/ 363093 w 603885"/>
              <a:gd name="connsiteY93" fmla="*/ 249650 h 721328"/>
              <a:gd name="connsiteX94" fmla="*/ 391382 w 603885"/>
              <a:gd name="connsiteY94" fmla="*/ 221361 h 721328"/>
              <a:gd name="connsiteX95" fmla="*/ 482822 w 603885"/>
              <a:gd name="connsiteY95" fmla="*/ 220789 h 721328"/>
              <a:gd name="connsiteX96" fmla="*/ 511778 w 603885"/>
              <a:gd name="connsiteY96" fmla="*/ 249745 h 721328"/>
              <a:gd name="connsiteX97" fmla="*/ 482822 w 603885"/>
              <a:gd name="connsiteY97" fmla="*/ 278701 h 721328"/>
              <a:gd name="connsiteX98" fmla="*/ 453866 w 603885"/>
              <a:gd name="connsiteY98" fmla="*/ 249745 h 721328"/>
              <a:gd name="connsiteX99" fmla="*/ 482822 w 603885"/>
              <a:gd name="connsiteY99" fmla="*/ 220789 h 721328"/>
              <a:gd name="connsiteX100" fmla="*/ 117157 w 603885"/>
              <a:gd name="connsiteY100" fmla="*/ 112395 h 721328"/>
              <a:gd name="connsiteX101" fmla="*/ 143446 w 603885"/>
              <a:gd name="connsiteY101" fmla="*/ 138684 h 721328"/>
              <a:gd name="connsiteX102" fmla="*/ 117157 w 603885"/>
              <a:gd name="connsiteY102" fmla="*/ 165068 h 721328"/>
              <a:gd name="connsiteX103" fmla="*/ 90773 w 603885"/>
              <a:gd name="connsiteY103" fmla="*/ 138684 h 721328"/>
              <a:gd name="connsiteX104" fmla="*/ 117157 w 603885"/>
              <a:gd name="connsiteY104" fmla="*/ 112395 h 721328"/>
              <a:gd name="connsiteX105" fmla="*/ 208502 w 603885"/>
              <a:gd name="connsiteY105" fmla="*/ 111728 h 721328"/>
              <a:gd name="connsiteX106" fmla="*/ 235458 w 603885"/>
              <a:gd name="connsiteY106" fmla="*/ 138684 h 721328"/>
              <a:gd name="connsiteX107" fmla="*/ 208502 w 603885"/>
              <a:gd name="connsiteY107" fmla="*/ 165640 h 721328"/>
              <a:gd name="connsiteX108" fmla="*/ 181546 w 603885"/>
              <a:gd name="connsiteY108" fmla="*/ 138684 h 721328"/>
              <a:gd name="connsiteX109" fmla="*/ 208502 w 603885"/>
              <a:gd name="connsiteY109" fmla="*/ 111728 h 721328"/>
              <a:gd name="connsiteX110" fmla="*/ 299942 w 603885"/>
              <a:gd name="connsiteY110" fmla="*/ 111061 h 721328"/>
              <a:gd name="connsiteX111" fmla="*/ 327564 w 603885"/>
              <a:gd name="connsiteY111" fmla="*/ 138683 h 721328"/>
              <a:gd name="connsiteX112" fmla="*/ 299942 w 603885"/>
              <a:gd name="connsiteY112" fmla="*/ 166306 h 721328"/>
              <a:gd name="connsiteX113" fmla="*/ 272319 w 603885"/>
              <a:gd name="connsiteY113" fmla="*/ 138683 h 721328"/>
              <a:gd name="connsiteX114" fmla="*/ 299942 w 603885"/>
              <a:gd name="connsiteY114" fmla="*/ 111061 h 721328"/>
              <a:gd name="connsiteX115" fmla="*/ 391382 w 603885"/>
              <a:gd name="connsiteY115" fmla="*/ 110394 h 721328"/>
              <a:gd name="connsiteX116" fmla="*/ 419672 w 603885"/>
              <a:gd name="connsiteY116" fmla="*/ 138683 h 721328"/>
              <a:gd name="connsiteX117" fmla="*/ 391382 w 603885"/>
              <a:gd name="connsiteY117" fmla="*/ 166973 h 721328"/>
              <a:gd name="connsiteX118" fmla="*/ 363093 w 603885"/>
              <a:gd name="connsiteY118" fmla="*/ 138683 h 721328"/>
              <a:gd name="connsiteX119" fmla="*/ 391382 w 603885"/>
              <a:gd name="connsiteY119" fmla="*/ 110394 h 721328"/>
              <a:gd name="connsiteX120" fmla="*/ 25717 w 603885"/>
              <a:gd name="connsiteY120" fmla="*/ 2000 h 721328"/>
              <a:gd name="connsiteX121" fmla="*/ 51435 w 603885"/>
              <a:gd name="connsiteY121" fmla="*/ 27717 h 721328"/>
              <a:gd name="connsiteX122" fmla="*/ 25717 w 603885"/>
              <a:gd name="connsiteY122" fmla="*/ 53435 h 721328"/>
              <a:gd name="connsiteX123" fmla="*/ 0 w 603885"/>
              <a:gd name="connsiteY123" fmla="*/ 27717 h 721328"/>
              <a:gd name="connsiteX124" fmla="*/ 25717 w 603885"/>
              <a:gd name="connsiteY124" fmla="*/ 2000 h 721328"/>
              <a:gd name="connsiteX125" fmla="*/ 117157 w 603885"/>
              <a:gd name="connsiteY125" fmla="*/ 1333 h 721328"/>
              <a:gd name="connsiteX126" fmla="*/ 143446 w 603885"/>
              <a:gd name="connsiteY126" fmla="*/ 27622 h 721328"/>
              <a:gd name="connsiteX127" fmla="*/ 117157 w 603885"/>
              <a:gd name="connsiteY127" fmla="*/ 54006 h 721328"/>
              <a:gd name="connsiteX128" fmla="*/ 90773 w 603885"/>
              <a:gd name="connsiteY128" fmla="*/ 27622 h 721328"/>
              <a:gd name="connsiteX129" fmla="*/ 117157 w 603885"/>
              <a:gd name="connsiteY129" fmla="*/ 1333 h 721328"/>
              <a:gd name="connsiteX130" fmla="*/ 208502 w 603885"/>
              <a:gd name="connsiteY130" fmla="*/ 666 h 721328"/>
              <a:gd name="connsiteX131" fmla="*/ 235458 w 603885"/>
              <a:gd name="connsiteY131" fmla="*/ 27622 h 721328"/>
              <a:gd name="connsiteX132" fmla="*/ 208502 w 603885"/>
              <a:gd name="connsiteY132" fmla="*/ 54578 h 721328"/>
              <a:gd name="connsiteX133" fmla="*/ 181546 w 603885"/>
              <a:gd name="connsiteY133" fmla="*/ 27622 h 721328"/>
              <a:gd name="connsiteX134" fmla="*/ 208502 w 603885"/>
              <a:gd name="connsiteY134" fmla="*/ 666 h 721328"/>
              <a:gd name="connsiteX135" fmla="*/ 299942 w 603885"/>
              <a:gd name="connsiteY135" fmla="*/ 0 h 721328"/>
              <a:gd name="connsiteX136" fmla="*/ 327564 w 603885"/>
              <a:gd name="connsiteY136" fmla="*/ 27622 h 721328"/>
              <a:gd name="connsiteX137" fmla="*/ 299942 w 603885"/>
              <a:gd name="connsiteY137" fmla="*/ 55245 h 721328"/>
              <a:gd name="connsiteX138" fmla="*/ 272319 w 603885"/>
              <a:gd name="connsiteY138" fmla="*/ 27622 h 721328"/>
              <a:gd name="connsiteX139" fmla="*/ 299942 w 603885"/>
              <a:gd name="connsiteY139" fmla="*/ 0 h 721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603885" h="721328">
                <a:moveTo>
                  <a:pt x="25717" y="668083"/>
                </a:moveTo>
                <a:cubicBezTo>
                  <a:pt x="39910" y="668083"/>
                  <a:pt x="51435" y="679608"/>
                  <a:pt x="51435" y="693801"/>
                </a:cubicBezTo>
                <a:cubicBezTo>
                  <a:pt x="51435" y="707993"/>
                  <a:pt x="39910" y="719518"/>
                  <a:pt x="25717" y="719518"/>
                </a:cubicBezTo>
                <a:cubicBezTo>
                  <a:pt x="11525" y="719518"/>
                  <a:pt x="0" y="707993"/>
                  <a:pt x="0" y="693801"/>
                </a:cubicBezTo>
                <a:cubicBezTo>
                  <a:pt x="0" y="679608"/>
                  <a:pt x="11525" y="668083"/>
                  <a:pt x="25717" y="668083"/>
                </a:cubicBezTo>
                <a:close/>
                <a:moveTo>
                  <a:pt x="117157" y="667416"/>
                </a:moveTo>
                <a:cubicBezTo>
                  <a:pt x="131635" y="667416"/>
                  <a:pt x="143446" y="679227"/>
                  <a:pt x="143446" y="693705"/>
                </a:cubicBezTo>
                <a:cubicBezTo>
                  <a:pt x="143446" y="708278"/>
                  <a:pt x="131635" y="720089"/>
                  <a:pt x="117157" y="720089"/>
                </a:cubicBezTo>
                <a:cubicBezTo>
                  <a:pt x="102584" y="720089"/>
                  <a:pt x="90773" y="708183"/>
                  <a:pt x="90773" y="693705"/>
                </a:cubicBezTo>
                <a:cubicBezTo>
                  <a:pt x="90773" y="679227"/>
                  <a:pt x="102679" y="667416"/>
                  <a:pt x="117157" y="667416"/>
                </a:cubicBezTo>
                <a:close/>
                <a:moveTo>
                  <a:pt x="208502" y="666750"/>
                </a:moveTo>
                <a:cubicBezTo>
                  <a:pt x="223456" y="666750"/>
                  <a:pt x="235553" y="678847"/>
                  <a:pt x="235458" y="693706"/>
                </a:cubicBezTo>
                <a:cubicBezTo>
                  <a:pt x="235458" y="708565"/>
                  <a:pt x="223361" y="720662"/>
                  <a:pt x="208502" y="720662"/>
                </a:cubicBezTo>
                <a:cubicBezTo>
                  <a:pt x="193643" y="720662"/>
                  <a:pt x="181546" y="708565"/>
                  <a:pt x="181546" y="693706"/>
                </a:cubicBezTo>
                <a:cubicBezTo>
                  <a:pt x="181546" y="678847"/>
                  <a:pt x="193643" y="666750"/>
                  <a:pt x="208502" y="666750"/>
                </a:cubicBezTo>
                <a:close/>
                <a:moveTo>
                  <a:pt x="299942" y="666083"/>
                </a:moveTo>
                <a:cubicBezTo>
                  <a:pt x="315182" y="666083"/>
                  <a:pt x="327564" y="678466"/>
                  <a:pt x="327564" y="693706"/>
                </a:cubicBezTo>
                <a:cubicBezTo>
                  <a:pt x="327564" y="708946"/>
                  <a:pt x="315182" y="721328"/>
                  <a:pt x="299942" y="721328"/>
                </a:cubicBezTo>
                <a:cubicBezTo>
                  <a:pt x="284702" y="721328"/>
                  <a:pt x="272319" y="708946"/>
                  <a:pt x="272319" y="693706"/>
                </a:cubicBezTo>
                <a:cubicBezTo>
                  <a:pt x="272319" y="678466"/>
                  <a:pt x="284702" y="666083"/>
                  <a:pt x="299942" y="666083"/>
                </a:cubicBezTo>
                <a:close/>
                <a:moveTo>
                  <a:pt x="117157" y="556355"/>
                </a:moveTo>
                <a:cubicBezTo>
                  <a:pt x="131635" y="556355"/>
                  <a:pt x="143446" y="568166"/>
                  <a:pt x="143446" y="582644"/>
                </a:cubicBezTo>
                <a:cubicBezTo>
                  <a:pt x="143446" y="597217"/>
                  <a:pt x="131635" y="609028"/>
                  <a:pt x="117157" y="609028"/>
                </a:cubicBezTo>
                <a:cubicBezTo>
                  <a:pt x="102584" y="609028"/>
                  <a:pt x="90773" y="597122"/>
                  <a:pt x="90773" y="582644"/>
                </a:cubicBezTo>
                <a:cubicBezTo>
                  <a:pt x="90773" y="568166"/>
                  <a:pt x="102679" y="556355"/>
                  <a:pt x="117157" y="556355"/>
                </a:cubicBezTo>
                <a:close/>
                <a:moveTo>
                  <a:pt x="208502" y="555784"/>
                </a:moveTo>
                <a:cubicBezTo>
                  <a:pt x="223456" y="555784"/>
                  <a:pt x="235553" y="567881"/>
                  <a:pt x="235458" y="582740"/>
                </a:cubicBezTo>
                <a:cubicBezTo>
                  <a:pt x="235458" y="597599"/>
                  <a:pt x="223361" y="609695"/>
                  <a:pt x="208502" y="609695"/>
                </a:cubicBezTo>
                <a:cubicBezTo>
                  <a:pt x="193643" y="609695"/>
                  <a:pt x="181546" y="597599"/>
                  <a:pt x="181546" y="582740"/>
                </a:cubicBezTo>
                <a:cubicBezTo>
                  <a:pt x="181546" y="567881"/>
                  <a:pt x="193643" y="555784"/>
                  <a:pt x="208502" y="555784"/>
                </a:cubicBezTo>
                <a:close/>
                <a:moveTo>
                  <a:pt x="299942" y="555117"/>
                </a:moveTo>
                <a:cubicBezTo>
                  <a:pt x="315182" y="555117"/>
                  <a:pt x="327564" y="567499"/>
                  <a:pt x="327564" y="582739"/>
                </a:cubicBezTo>
                <a:cubicBezTo>
                  <a:pt x="327564" y="597980"/>
                  <a:pt x="315182" y="610362"/>
                  <a:pt x="299942" y="610362"/>
                </a:cubicBezTo>
                <a:cubicBezTo>
                  <a:pt x="284702" y="610362"/>
                  <a:pt x="272319" y="597980"/>
                  <a:pt x="272319" y="582739"/>
                </a:cubicBezTo>
                <a:cubicBezTo>
                  <a:pt x="272319" y="567499"/>
                  <a:pt x="284702" y="555117"/>
                  <a:pt x="299942" y="555117"/>
                </a:cubicBezTo>
                <a:close/>
                <a:moveTo>
                  <a:pt x="391382" y="554450"/>
                </a:moveTo>
                <a:cubicBezTo>
                  <a:pt x="407003" y="554450"/>
                  <a:pt x="419672" y="567118"/>
                  <a:pt x="419672" y="582739"/>
                </a:cubicBezTo>
                <a:cubicBezTo>
                  <a:pt x="419672" y="598360"/>
                  <a:pt x="407003" y="611029"/>
                  <a:pt x="391382" y="611029"/>
                </a:cubicBezTo>
                <a:cubicBezTo>
                  <a:pt x="375761" y="611029"/>
                  <a:pt x="363093" y="598360"/>
                  <a:pt x="363093" y="582739"/>
                </a:cubicBezTo>
                <a:cubicBezTo>
                  <a:pt x="363093" y="567118"/>
                  <a:pt x="375761" y="554450"/>
                  <a:pt x="391382" y="554450"/>
                </a:cubicBezTo>
                <a:close/>
                <a:moveTo>
                  <a:pt x="208502" y="444722"/>
                </a:moveTo>
                <a:cubicBezTo>
                  <a:pt x="223456" y="444722"/>
                  <a:pt x="235553" y="456819"/>
                  <a:pt x="235458" y="471678"/>
                </a:cubicBezTo>
                <a:cubicBezTo>
                  <a:pt x="235458" y="486537"/>
                  <a:pt x="223361" y="498634"/>
                  <a:pt x="208502" y="498634"/>
                </a:cubicBezTo>
                <a:cubicBezTo>
                  <a:pt x="193643" y="498634"/>
                  <a:pt x="181546" y="486537"/>
                  <a:pt x="181546" y="471678"/>
                </a:cubicBezTo>
                <a:cubicBezTo>
                  <a:pt x="181546" y="456819"/>
                  <a:pt x="193643" y="444722"/>
                  <a:pt x="208502" y="444722"/>
                </a:cubicBezTo>
                <a:close/>
                <a:moveTo>
                  <a:pt x="299942" y="444055"/>
                </a:moveTo>
                <a:cubicBezTo>
                  <a:pt x="315182" y="444055"/>
                  <a:pt x="327564" y="456437"/>
                  <a:pt x="327564" y="471678"/>
                </a:cubicBezTo>
                <a:cubicBezTo>
                  <a:pt x="327564" y="486918"/>
                  <a:pt x="315182" y="499300"/>
                  <a:pt x="299942" y="499300"/>
                </a:cubicBezTo>
                <a:cubicBezTo>
                  <a:pt x="284702" y="499300"/>
                  <a:pt x="272319" y="486918"/>
                  <a:pt x="272319" y="471678"/>
                </a:cubicBezTo>
                <a:cubicBezTo>
                  <a:pt x="272319" y="456437"/>
                  <a:pt x="284702" y="444055"/>
                  <a:pt x="299942" y="444055"/>
                </a:cubicBezTo>
                <a:close/>
                <a:moveTo>
                  <a:pt x="391382" y="443389"/>
                </a:moveTo>
                <a:cubicBezTo>
                  <a:pt x="407003" y="443389"/>
                  <a:pt x="419672" y="456153"/>
                  <a:pt x="419672" y="471678"/>
                </a:cubicBezTo>
                <a:cubicBezTo>
                  <a:pt x="419672" y="487299"/>
                  <a:pt x="407003" y="499968"/>
                  <a:pt x="391382" y="499968"/>
                </a:cubicBezTo>
                <a:cubicBezTo>
                  <a:pt x="375761" y="499968"/>
                  <a:pt x="363093" y="487299"/>
                  <a:pt x="363093" y="471678"/>
                </a:cubicBezTo>
                <a:cubicBezTo>
                  <a:pt x="363093" y="456057"/>
                  <a:pt x="375761" y="443389"/>
                  <a:pt x="391382" y="443389"/>
                </a:cubicBezTo>
                <a:close/>
                <a:moveTo>
                  <a:pt x="482822" y="442817"/>
                </a:moveTo>
                <a:cubicBezTo>
                  <a:pt x="498729" y="442817"/>
                  <a:pt x="511778" y="455771"/>
                  <a:pt x="511778" y="471773"/>
                </a:cubicBezTo>
                <a:cubicBezTo>
                  <a:pt x="511778" y="487775"/>
                  <a:pt x="498824" y="500729"/>
                  <a:pt x="482822" y="500729"/>
                </a:cubicBezTo>
                <a:cubicBezTo>
                  <a:pt x="466820" y="500729"/>
                  <a:pt x="453866" y="487775"/>
                  <a:pt x="453866" y="471773"/>
                </a:cubicBezTo>
                <a:cubicBezTo>
                  <a:pt x="453866" y="455771"/>
                  <a:pt x="466820" y="442817"/>
                  <a:pt x="482822" y="442817"/>
                </a:cubicBezTo>
                <a:close/>
                <a:moveTo>
                  <a:pt x="299942" y="333089"/>
                </a:moveTo>
                <a:cubicBezTo>
                  <a:pt x="315182" y="333089"/>
                  <a:pt x="327564" y="345472"/>
                  <a:pt x="327564" y="360712"/>
                </a:cubicBezTo>
                <a:cubicBezTo>
                  <a:pt x="327564" y="375952"/>
                  <a:pt x="315182" y="388334"/>
                  <a:pt x="299942" y="388334"/>
                </a:cubicBezTo>
                <a:cubicBezTo>
                  <a:pt x="284702" y="388334"/>
                  <a:pt x="272319" y="375952"/>
                  <a:pt x="272319" y="360712"/>
                </a:cubicBezTo>
                <a:cubicBezTo>
                  <a:pt x="272319" y="345472"/>
                  <a:pt x="284702" y="333089"/>
                  <a:pt x="299942" y="333089"/>
                </a:cubicBezTo>
                <a:close/>
                <a:moveTo>
                  <a:pt x="391382" y="332422"/>
                </a:moveTo>
                <a:cubicBezTo>
                  <a:pt x="407003" y="332422"/>
                  <a:pt x="419672" y="345090"/>
                  <a:pt x="419672" y="360711"/>
                </a:cubicBezTo>
                <a:cubicBezTo>
                  <a:pt x="419672" y="376332"/>
                  <a:pt x="407003" y="389001"/>
                  <a:pt x="391382" y="389001"/>
                </a:cubicBezTo>
                <a:cubicBezTo>
                  <a:pt x="375761" y="389001"/>
                  <a:pt x="363093" y="376332"/>
                  <a:pt x="363093" y="360711"/>
                </a:cubicBezTo>
                <a:cubicBezTo>
                  <a:pt x="363093" y="345090"/>
                  <a:pt x="375761" y="332422"/>
                  <a:pt x="391382" y="332422"/>
                </a:cubicBezTo>
                <a:close/>
                <a:moveTo>
                  <a:pt x="482822" y="331755"/>
                </a:moveTo>
                <a:cubicBezTo>
                  <a:pt x="498729" y="331755"/>
                  <a:pt x="511778" y="344709"/>
                  <a:pt x="511778" y="360711"/>
                </a:cubicBezTo>
                <a:cubicBezTo>
                  <a:pt x="511778" y="376713"/>
                  <a:pt x="498824" y="389667"/>
                  <a:pt x="482822" y="389667"/>
                </a:cubicBezTo>
                <a:cubicBezTo>
                  <a:pt x="466820" y="389667"/>
                  <a:pt x="453866" y="376713"/>
                  <a:pt x="453866" y="360711"/>
                </a:cubicBezTo>
                <a:cubicBezTo>
                  <a:pt x="453866" y="344709"/>
                  <a:pt x="466820" y="331755"/>
                  <a:pt x="482822" y="331755"/>
                </a:cubicBezTo>
                <a:close/>
                <a:moveTo>
                  <a:pt x="574262" y="331089"/>
                </a:moveTo>
                <a:cubicBezTo>
                  <a:pt x="590549" y="331089"/>
                  <a:pt x="603789" y="344424"/>
                  <a:pt x="603885" y="360712"/>
                </a:cubicBezTo>
                <a:cubicBezTo>
                  <a:pt x="603885" y="377095"/>
                  <a:pt x="590549" y="390335"/>
                  <a:pt x="574262" y="390335"/>
                </a:cubicBezTo>
                <a:cubicBezTo>
                  <a:pt x="557879" y="390335"/>
                  <a:pt x="544639" y="376999"/>
                  <a:pt x="544639" y="360712"/>
                </a:cubicBezTo>
                <a:cubicBezTo>
                  <a:pt x="544639" y="344329"/>
                  <a:pt x="557974" y="331089"/>
                  <a:pt x="574262" y="331089"/>
                </a:cubicBezTo>
                <a:close/>
                <a:moveTo>
                  <a:pt x="208502" y="222694"/>
                </a:moveTo>
                <a:cubicBezTo>
                  <a:pt x="223456" y="222694"/>
                  <a:pt x="235553" y="234791"/>
                  <a:pt x="235458" y="249650"/>
                </a:cubicBezTo>
                <a:cubicBezTo>
                  <a:pt x="235458" y="264509"/>
                  <a:pt x="223361" y="276606"/>
                  <a:pt x="208502" y="276606"/>
                </a:cubicBezTo>
                <a:cubicBezTo>
                  <a:pt x="193643" y="276606"/>
                  <a:pt x="181546" y="264509"/>
                  <a:pt x="181546" y="249650"/>
                </a:cubicBezTo>
                <a:cubicBezTo>
                  <a:pt x="181546" y="234791"/>
                  <a:pt x="193643" y="222694"/>
                  <a:pt x="208502" y="222694"/>
                </a:cubicBezTo>
                <a:close/>
                <a:moveTo>
                  <a:pt x="299942" y="222027"/>
                </a:moveTo>
                <a:cubicBezTo>
                  <a:pt x="315182" y="222027"/>
                  <a:pt x="327564" y="234505"/>
                  <a:pt x="327564" y="249650"/>
                </a:cubicBezTo>
                <a:cubicBezTo>
                  <a:pt x="327564" y="264890"/>
                  <a:pt x="315182" y="277272"/>
                  <a:pt x="299942" y="277272"/>
                </a:cubicBezTo>
                <a:cubicBezTo>
                  <a:pt x="284702" y="277272"/>
                  <a:pt x="272319" y="264890"/>
                  <a:pt x="272319" y="249650"/>
                </a:cubicBezTo>
                <a:cubicBezTo>
                  <a:pt x="272319" y="234410"/>
                  <a:pt x="284702" y="222027"/>
                  <a:pt x="299942" y="222027"/>
                </a:cubicBezTo>
                <a:close/>
                <a:moveTo>
                  <a:pt x="391382" y="221361"/>
                </a:moveTo>
                <a:cubicBezTo>
                  <a:pt x="407003" y="221361"/>
                  <a:pt x="419672" y="234125"/>
                  <a:pt x="419672" y="249650"/>
                </a:cubicBezTo>
                <a:cubicBezTo>
                  <a:pt x="419672" y="265271"/>
                  <a:pt x="407003" y="277940"/>
                  <a:pt x="391382" y="277940"/>
                </a:cubicBezTo>
                <a:cubicBezTo>
                  <a:pt x="375761" y="277940"/>
                  <a:pt x="363093" y="265271"/>
                  <a:pt x="363093" y="249650"/>
                </a:cubicBezTo>
                <a:cubicBezTo>
                  <a:pt x="363093" y="234029"/>
                  <a:pt x="375761" y="221361"/>
                  <a:pt x="391382" y="221361"/>
                </a:cubicBezTo>
                <a:close/>
                <a:moveTo>
                  <a:pt x="482822" y="220789"/>
                </a:moveTo>
                <a:cubicBezTo>
                  <a:pt x="498729" y="220789"/>
                  <a:pt x="511778" y="233743"/>
                  <a:pt x="511778" y="249745"/>
                </a:cubicBezTo>
                <a:cubicBezTo>
                  <a:pt x="511778" y="265747"/>
                  <a:pt x="498824" y="278701"/>
                  <a:pt x="482822" y="278701"/>
                </a:cubicBezTo>
                <a:cubicBezTo>
                  <a:pt x="466820" y="278701"/>
                  <a:pt x="453866" y="265747"/>
                  <a:pt x="453866" y="249745"/>
                </a:cubicBezTo>
                <a:cubicBezTo>
                  <a:pt x="453866" y="233743"/>
                  <a:pt x="466820" y="220789"/>
                  <a:pt x="482822" y="220789"/>
                </a:cubicBezTo>
                <a:close/>
                <a:moveTo>
                  <a:pt x="117157" y="112395"/>
                </a:moveTo>
                <a:cubicBezTo>
                  <a:pt x="131635" y="112395"/>
                  <a:pt x="143446" y="124206"/>
                  <a:pt x="143446" y="138684"/>
                </a:cubicBezTo>
                <a:cubicBezTo>
                  <a:pt x="143446" y="153257"/>
                  <a:pt x="131635" y="165068"/>
                  <a:pt x="117157" y="165068"/>
                </a:cubicBezTo>
                <a:cubicBezTo>
                  <a:pt x="102584" y="165068"/>
                  <a:pt x="90773" y="153162"/>
                  <a:pt x="90773" y="138684"/>
                </a:cubicBezTo>
                <a:cubicBezTo>
                  <a:pt x="90773" y="124206"/>
                  <a:pt x="102679" y="112395"/>
                  <a:pt x="117157" y="112395"/>
                </a:cubicBezTo>
                <a:close/>
                <a:moveTo>
                  <a:pt x="208502" y="111728"/>
                </a:moveTo>
                <a:cubicBezTo>
                  <a:pt x="223456" y="111728"/>
                  <a:pt x="235553" y="123825"/>
                  <a:pt x="235458" y="138684"/>
                </a:cubicBezTo>
                <a:cubicBezTo>
                  <a:pt x="235458" y="153543"/>
                  <a:pt x="223361" y="165640"/>
                  <a:pt x="208502" y="165640"/>
                </a:cubicBezTo>
                <a:cubicBezTo>
                  <a:pt x="193643" y="165640"/>
                  <a:pt x="181546" y="153543"/>
                  <a:pt x="181546" y="138684"/>
                </a:cubicBezTo>
                <a:cubicBezTo>
                  <a:pt x="181546" y="123825"/>
                  <a:pt x="193643" y="111728"/>
                  <a:pt x="208502" y="111728"/>
                </a:cubicBezTo>
                <a:close/>
                <a:moveTo>
                  <a:pt x="299942" y="111061"/>
                </a:moveTo>
                <a:cubicBezTo>
                  <a:pt x="315182" y="111061"/>
                  <a:pt x="327564" y="123443"/>
                  <a:pt x="327564" y="138683"/>
                </a:cubicBezTo>
                <a:cubicBezTo>
                  <a:pt x="327564" y="153924"/>
                  <a:pt x="315182" y="166306"/>
                  <a:pt x="299942" y="166306"/>
                </a:cubicBezTo>
                <a:cubicBezTo>
                  <a:pt x="284702" y="166306"/>
                  <a:pt x="272319" y="153924"/>
                  <a:pt x="272319" y="138683"/>
                </a:cubicBezTo>
                <a:cubicBezTo>
                  <a:pt x="272319" y="123443"/>
                  <a:pt x="284702" y="111061"/>
                  <a:pt x="299942" y="111061"/>
                </a:cubicBezTo>
                <a:close/>
                <a:moveTo>
                  <a:pt x="391382" y="110394"/>
                </a:moveTo>
                <a:cubicBezTo>
                  <a:pt x="407003" y="110394"/>
                  <a:pt x="419672" y="123062"/>
                  <a:pt x="419672" y="138683"/>
                </a:cubicBezTo>
                <a:cubicBezTo>
                  <a:pt x="419672" y="154304"/>
                  <a:pt x="407003" y="166973"/>
                  <a:pt x="391382" y="166973"/>
                </a:cubicBezTo>
                <a:cubicBezTo>
                  <a:pt x="375761" y="166973"/>
                  <a:pt x="363093" y="154304"/>
                  <a:pt x="363093" y="138683"/>
                </a:cubicBezTo>
                <a:cubicBezTo>
                  <a:pt x="363093" y="123062"/>
                  <a:pt x="375761" y="110394"/>
                  <a:pt x="391382" y="110394"/>
                </a:cubicBezTo>
                <a:close/>
                <a:moveTo>
                  <a:pt x="25717" y="2000"/>
                </a:moveTo>
                <a:cubicBezTo>
                  <a:pt x="39910" y="2000"/>
                  <a:pt x="51435" y="13525"/>
                  <a:pt x="51435" y="27717"/>
                </a:cubicBezTo>
                <a:cubicBezTo>
                  <a:pt x="51435" y="41910"/>
                  <a:pt x="39910" y="53435"/>
                  <a:pt x="25717" y="53435"/>
                </a:cubicBezTo>
                <a:cubicBezTo>
                  <a:pt x="11525" y="53435"/>
                  <a:pt x="0" y="41910"/>
                  <a:pt x="0" y="27717"/>
                </a:cubicBezTo>
                <a:cubicBezTo>
                  <a:pt x="0" y="13525"/>
                  <a:pt x="11525" y="2000"/>
                  <a:pt x="25717" y="2000"/>
                </a:cubicBezTo>
                <a:close/>
                <a:moveTo>
                  <a:pt x="117157" y="1333"/>
                </a:moveTo>
                <a:cubicBezTo>
                  <a:pt x="131635" y="1333"/>
                  <a:pt x="143446" y="13144"/>
                  <a:pt x="143446" y="27622"/>
                </a:cubicBezTo>
                <a:cubicBezTo>
                  <a:pt x="143446" y="42195"/>
                  <a:pt x="131635" y="54006"/>
                  <a:pt x="117157" y="54006"/>
                </a:cubicBezTo>
                <a:cubicBezTo>
                  <a:pt x="102584" y="54006"/>
                  <a:pt x="90773" y="42100"/>
                  <a:pt x="90773" y="27622"/>
                </a:cubicBezTo>
                <a:cubicBezTo>
                  <a:pt x="90773" y="13144"/>
                  <a:pt x="102679" y="1333"/>
                  <a:pt x="117157" y="1333"/>
                </a:cubicBezTo>
                <a:close/>
                <a:moveTo>
                  <a:pt x="208502" y="666"/>
                </a:moveTo>
                <a:cubicBezTo>
                  <a:pt x="223456" y="666"/>
                  <a:pt x="235553" y="12763"/>
                  <a:pt x="235458" y="27622"/>
                </a:cubicBezTo>
                <a:cubicBezTo>
                  <a:pt x="235458" y="42481"/>
                  <a:pt x="223361" y="54578"/>
                  <a:pt x="208502" y="54578"/>
                </a:cubicBezTo>
                <a:cubicBezTo>
                  <a:pt x="193643" y="54578"/>
                  <a:pt x="181546" y="42481"/>
                  <a:pt x="181546" y="27622"/>
                </a:cubicBezTo>
                <a:cubicBezTo>
                  <a:pt x="181546" y="12763"/>
                  <a:pt x="193643" y="666"/>
                  <a:pt x="208502" y="666"/>
                </a:cubicBezTo>
                <a:close/>
                <a:moveTo>
                  <a:pt x="299942" y="0"/>
                </a:moveTo>
                <a:cubicBezTo>
                  <a:pt x="315182" y="0"/>
                  <a:pt x="327564" y="12478"/>
                  <a:pt x="327564" y="27622"/>
                </a:cubicBezTo>
                <a:cubicBezTo>
                  <a:pt x="327564" y="42862"/>
                  <a:pt x="315182" y="55245"/>
                  <a:pt x="299942" y="55245"/>
                </a:cubicBezTo>
                <a:cubicBezTo>
                  <a:pt x="284702" y="55245"/>
                  <a:pt x="272319" y="42862"/>
                  <a:pt x="272319" y="27622"/>
                </a:cubicBezTo>
                <a:cubicBezTo>
                  <a:pt x="272319" y="12383"/>
                  <a:pt x="284702" y="0"/>
                  <a:pt x="299942" y="0"/>
                </a:cubicBezTo>
                <a:close/>
              </a:path>
            </a:pathLst>
          </a:custGeom>
          <a:gradFill>
            <a:gsLst>
              <a:gs pos="68000">
                <a:schemeClr val="accent1"/>
              </a:gs>
              <a:gs pos="0">
                <a:schemeClr val="accent1">
                  <a:lumMod val="70000"/>
                  <a:lumOff val="30000"/>
                  <a:alpha val="0"/>
                </a:schemeClr>
              </a:gs>
            </a:gsLst>
            <a:lin ang="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26" name="熊大的PPT宝库79"/>
          <p:cNvSpPr/>
          <p:nvPr/>
        </p:nvSpPr>
        <p:spPr>
          <a:xfrm rot="16200000">
            <a:off x="2990599" y="3729199"/>
            <a:ext cx="193370" cy="261206"/>
          </a:xfrm>
          <a:custGeom>
            <a:avLst/>
            <a:gdLst>
              <a:gd name="connsiteX0" fmla="*/ 30289 w 705136"/>
              <a:gd name="connsiteY0" fmla="*/ 890016 h 952499"/>
              <a:gd name="connsiteX1" fmla="*/ 60579 w 705136"/>
              <a:gd name="connsiteY1" fmla="*/ 920306 h 952499"/>
              <a:gd name="connsiteX2" fmla="*/ 30289 w 705136"/>
              <a:gd name="connsiteY2" fmla="*/ 950595 h 952499"/>
              <a:gd name="connsiteX3" fmla="*/ 0 w 705136"/>
              <a:gd name="connsiteY3" fmla="*/ 920306 h 952499"/>
              <a:gd name="connsiteX4" fmla="*/ 30289 w 705136"/>
              <a:gd name="connsiteY4" fmla="*/ 890016 h 952499"/>
              <a:gd name="connsiteX5" fmla="*/ 121730 w 705136"/>
              <a:gd name="connsiteY5" fmla="*/ 889349 h 952499"/>
              <a:gd name="connsiteX6" fmla="*/ 152591 w 705136"/>
              <a:gd name="connsiteY6" fmla="*/ 920210 h 952499"/>
              <a:gd name="connsiteX7" fmla="*/ 121730 w 705136"/>
              <a:gd name="connsiteY7" fmla="*/ 951166 h 952499"/>
              <a:gd name="connsiteX8" fmla="*/ 90774 w 705136"/>
              <a:gd name="connsiteY8" fmla="*/ 920210 h 952499"/>
              <a:gd name="connsiteX9" fmla="*/ 121730 w 705136"/>
              <a:gd name="connsiteY9" fmla="*/ 889349 h 952499"/>
              <a:gd name="connsiteX10" fmla="*/ 213170 w 705136"/>
              <a:gd name="connsiteY10" fmla="*/ 888682 h 952499"/>
              <a:gd name="connsiteX11" fmla="*/ 244697 w 705136"/>
              <a:gd name="connsiteY11" fmla="*/ 920210 h 952499"/>
              <a:gd name="connsiteX12" fmla="*/ 213170 w 705136"/>
              <a:gd name="connsiteY12" fmla="*/ 951737 h 952499"/>
              <a:gd name="connsiteX13" fmla="*/ 181642 w 705136"/>
              <a:gd name="connsiteY13" fmla="*/ 920210 h 952499"/>
              <a:gd name="connsiteX14" fmla="*/ 213170 w 705136"/>
              <a:gd name="connsiteY14" fmla="*/ 888682 h 952499"/>
              <a:gd name="connsiteX15" fmla="*/ 304610 w 705136"/>
              <a:gd name="connsiteY15" fmla="*/ 888110 h 952499"/>
              <a:gd name="connsiteX16" fmla="*/ 336804 w 705136"/>
              <a:gd name="connsiteY16" fmla="*/ 920305 h 952499"/>
              <a:gd name="connsiteX17" fmla="*/ 304610 w 705136"/>
              <a:gd name="connsiteY17" fmla="*/ 952499 h 952499"/>
              <a:gd name="connsiteX18" fmla="*/ 272415 w 705136"/>
              <a:gd name="connsiteY18" fmla="*/ 920305 h 952499"/>
              <a:gd name="connsiteX19" fmla="*/ 304610 w 705136"/>
              <a:gd name="connsiteY19" fmla="*/ 888110 h 952499"/>
              <a:gd name="connsiteX20" fmla="*/ 121730 w 705136"/>
              <a:gd name="connsiteY20" fmla="*/ 778383 h 952499"/>
              <a:gd name="connsiteX21" fmla="*/ 152591 w 705136"/>
              <a:gd name="connsiteY21" fmla="*/ 809244 h 952499"/>
              <a:gd name="connsiteX22" fmla="*/ 121730 w 705136"/>
              <a:gd name="connsiteY22" fmla="*/ 840200 h 952499"/>
              <a:gd name="connsiteX23" fmla="*/ 90774 w 705136"/>
              <a:gd name="connsiteY23" fmla="*/ 809244 h 952499"/>
              <a:gd name="connsiteX24" fmla="*/ 121730 w 705136"/>
              <a:gd name="connsiteY24" fmla="*/ 778383 h 952499"/>
              <a:gd name="connsiteX25" fmla="*/ 213170 w 705136"/>
              <a:gd name="connsiteY25" fmla="*/ 777716 h 952499"/>
              <a:gd name="connsiteX26" fmla="*/ 244697 w 705136"/>
              <a:gd name="connsiteY26" fmla="*/ 809244 h 952499"/>
              <a:gd name="connsiteX27" fmla="*/ 213170 w 705136"/>
              <a:gd name="connsiteY27" fmla="*/ 840771 h 952499"/>
              <a:gd name="connsiteX28" fmla="*/ 181642 w 705136"/>
              <a:gd name="connsiteY28" fmla="*/ 809244 h 952499"/>
              <a:gd name="connsiteX29" fmla="*/ 213170 w 705136"/>
              <a:gd name="connsiteY29" fmla="*/ 777716 h 952499"/>
              <a:gd name="connsiteX30" fmla="*/ 304610 w 705136"/>
              <a:gd name="connsiteY30" fmla="*/ 777049 h 952499"/>
              <a:gd name="connsiteX31" fmla="*/ 336804 w 705136"/>
              <a:gd name="connsiteY31" fmla="*/ 809243 h 952499"/>
              <a:gd name="connsiteX32" fmla="*/ 304610 w 705136"/>
              <a:gd name="connsiteY32" fmla="*/ 841438 h 952499"/>
              <a:gd name="connsiteX33" fmla="*/ 272415 w 705136"/>
              <a:gd name="connsiteY33" fmla="*/ 809243 h 952499"/>
              <a:gd name="connsiteX34" fmla="*/ 304610 w 705136"/>
              <a:gd name="connsiteY34" fmla="*/ 777049 h 952499"/>
              <a:gd name="connsiteX35" fmla="*/ 396049 w 705136"/>
              <a:gd name="connsiteY35" fmla="*/ 776382 h 952499"/>
              <a:gd name="connsiteX36" fmla="*/ 428911 w 705136"/>
              <a:gd name="connsiteY36" fmla="*/ 809243 h 952499"/>
              <a:gd name="connsiteX37" fmla="*/ 396049 w 705136"/>
              <a:gd name="connsiteY37" fmla="*/ 842105 h 952499"/>
              <a:gd name="connsiteX38" fmla="*/ 363188 w 705136"/>
              <a:gd name="connsiteY38" fmla="*/ 809243 h 952499"/>
              <a:gd name="connsiteX39" fmla="*/ 396049 w 705136"/>
              <a:gd name="connsiteY39" fmla="*/ 776382 h 952499"/>
              <a:gd name="connsiteX40" fmla="*/ 213170 w 705136"/>
              <a:gd name="connsiteY40" fmla="*/ 666750 h 952499"/>
              <a:gd name="connsiteX41" fmla="*/ 244697 w 705136"/>
              <a:gd name="connsiteY41" fmla="*/ 698278 h 952499"/>
              <a:gd name="connsiteX42" fmla="*/ 213170 w 705136"/>
              <a:gd name="connsiteY42" fmla="*/ 729806 h 952499"/>
              <a:gd name="connsiteX43" fmla="*/ 181642 w 705136"/>
              <a:gd name="connsiteY43" fmla="*/ 698278 h 952499"/>
              <a:gd name="connsiteX44" fmla="*/ 213170 w 705136"/>
              <a:gd name="connsiteY44" fmla="*/ 666750 h 952499"/>
              <a:gd name="connsiteX45" fmla="*/ 304610 w 705136"/>
              <a:gd name="connsiteY45" fmla="*/ 666083 h 952499"/>
              <a:gd name="connsiteX46" fmla="*/ 336804 w 705136"/>
              <a:gd name="connsiteY46" fmla="*/ 698277 h 952499"/>
              <a:gd name="connsiteX47" fmla="*/ 304610 w 705136"/>
              <a:gd name="connsiteY47" fmla="*/ 730472 h 952499"/>
              <a:gd name="connsiteX48" fmla="*/ 272415 w 705136"/>
              <a:gd name="connsiteY48" fmla="*/ 698277 h 952499"/>
              <a:gd name="connsiteX49" fmla="*/ 304610 w 705136"/>
              <a:gd name="connsiteY49" fmla="*/ 666083 h 952499"/>
              <a:gd name="connsiteX50" fmla="*/ 396049 w 705136"/>
              <a:gd name="connsiteY50" fmla="*/ 665416 h 952499"/>
              <a:gd name="connsiteX51" fmla="*/ 428911 w 705136"/>
              <a:gd name="connsiteY51" fmla="*/ 698277 h 952499"/>
              <a:gd name="connsiteX52" fmla="*/ 396049 w 705136"/>
              <a:gd name="connsiteY52" fmla="*/ 731139 h 952499"/>
              <a:gd name="connsiteX53" fmla="*/ 363188 w 705136"/>
              <a:gd name="connsiteY53" fmla="*/ 698277 h 952499"/>
              <a:gd name="connsiteX54" fmla="*/ 396049 w 705136"/>
              <a:gd name="connsiteY54" fmla="*/ 665416 h 952499"/>
              <a:gd name="connsiteX55" fmla="*/ 487394 w 705136"/>
              <a:gd name="connsiteY55" fmla="*/ 664749 h 952499"/>
              <a:gd name="connsiteX56" fmla="*/ 520922 w 705136"/>
              <a:gd name="connsiteY56" fmla="*/ 698277 h 952499"/>
              <a:gd name="connsiteX57" fmla="*/ 487394 w 705136"/>
              <a:gd name="connsiteY57" fmla="*/ 731805 h 952499"/>
              <a:gd name="connsiteX58" fmla="*/ 453866 w 705136"/>
              <a:gd name="connsiteY58" fmla="*/ 698277 h 952499"/>
              <a:gd name="connsiteX59" fmla="*/ 487394 w 705136"/>
              <a:gd name="connsiteY59" fmla="*/ 664749 h 952499"/>
              <a:gd name="connsiteX60" fmla="*/ 304610 w 705136"/>
              <a:gd name="connsiteY60" fmla="*/ 555021 h 952499"/>
              <a:gd name="connsiteX61" fmla="*/ 336804 w 705136"/>
              <a:gd name="connsiteY61" fmla="*/ 587216 h 952499"/>
              <a:gd name="connsiteX62" fmla="*/ 304610 w 705136"/>
              <a:gd name="connsiteY62" fmla="*/ 619410 h 952499"/>
              <a:gd name="connsiteX63" fmla="*/ 272415 w 705136"/>
              <a:gd name="connsiteY63" fmla="*/ 587216 h 952499"/>
              <a:gd name="connsiteX64" fmla="*/ 304610 w 705136"/>
              <a:gd name="connsiteY64" fmla="*/ 555021 h 952499"/>
              <a:gd name="connsiteX65" fmla="*/ 396049 w 705136"/>
              <a:gd name="connsiteY65" fmla="*/ 554355 h 952499"/>
              <a:gd name="connsiteX66" fmla="*/ 428911 w 705136"/>
              <a:gd name="connsiteY66" fmla="*/ 587216 h 952499"/>
              <a:gd name="connsiteX67" fmla="*/ 396049 w 705136"/>
              <a:gd name="connsiteY67" fmla="*/ 620077 h 952499"/>
              <a:gd name="connsiteX68" fmla="*/ 363188 w 705136"/>
              <a:gd name="connsiteY68" fmla="*/ 587216 h 952499"/>
              <a:gd name="connsiteX69" fmla="*/ 396049 w 705136"/>
              <a:gd name="connsiteY69" fmla="*/ 554355 h 952499"/>
              <a:gd name="connsiteX70" fmla="*/ 487394 w 705136"/>
              <a:gd name="connsiteY70" fmla="*/ 553783 h 952499"/>
              <a:gd name="connsiteX71" fmla="*/ 520922 w 705136"/>
              <a:gd name="connsiteY71" fmla="*/ 587311 h 952499"/>
              <a:gd name="connsiteX72" fmla="*/ 487394 w 705136"/>
              <a:gd name="connsiteY72" fmla="*/ 620839 h 952499"/>
              <a:gd name="connsiteX73" fmla="*/ 453866 w 705136"/>
              <a:gd name="connsiteY73" fmla="*/ 587311 h 952499"/>
              <a:gd name="connsiteX74" fmla="*/ 487394 w 705136"/>
              <a:gd name="connsiteY74" fmla="*/ 553783 h 952499"/>
              <a:gd name="connsiteX75" fmla="*/ 578835 w 705136"/>
              <a:gd name="connsiteY75" fmla="*/ 553116 h 952499"/>
              <a:gd name="connsiteX76" fmla="*/ 613030 w 705136"/>
              <a:gd name="connsiteY76" fmla="*/ 587311 h 952499"/>
              <a:gd name="connsiteX77" fmla="*/ 578835 w 705136"/>
              <a:gd name="connsiteY77" fmla="*/ 621506 h 952499"/>
              <a:gd name="connsiteX78" fmla="*/ 544640 w 705136"/>
              <a:gd name="connsiteY78" fmla="*/ 587311 h 952499"/>
              <a:gd name="connsiteX79" fmla="*/ 578835 w 705136"/>
              <a:gd name="connsiteY79" fmla="*/ 553116 h 952499"/>
              <a:gd name="connsiteX80" fmla="*/ 396049 w 705136"/>
              <a:gd name="connsiteY80" fmla="*/ 443388 h 952499"/>
              <a:gd name="connsiteX81" fmla="*/ 428911 w 705136"/>
              <a:gd name="connsiteY81" fmla="*/ 476249 h 952499"/>
              <a:gd name="connsiteX82" fmla="*/ 396049 w 705136"/>
              <a:gd name="connsiteY82" fmla="*/ 509111 h 952499"/>
              <a:gd name="connsiteX83" fmla="*/ 363188 w 705136"/>
              <a:gd name="connsiteY83" fmla="*/ 476249 h 952499"/>
              <a:gd name="connsiteX84" fmla="*/ 396049 w 705136"/>
              <a:gd name="connsiteY84" fmla="*/ 443388 h 952499"/>
              <a:gd name="connsiteX85" fmla="*/ 487394 w 705136"/>
              <a:gd name="connsiteY85" fmla="*/ 442721 h 952499"/>
              <a:gd name="connsiteX86" fmla="*/ 520922 w 705136"/>
              <a:gd name="connsiteY86" fmla="*/ 476249 h 952499"/>
              <a:gd name="connsiteX87" fmla="*/ 487394 w 705136"/>
              <a:gd name="connsiteY87" fmla="*/ 509777 h 952499"/>
              <a:gd name="connsiteX88" fmla="*/ 453866 w 705136"/>
              <a:gd name="connsiteY88" fmla="*/ 476249 h 952499"/>
              <a:gd name="connsiteX89" fmla="*/ 487394 w 705136"/>
              <a:gd name="connsiteY89" fmla="*/ 442721 h 952499"/>
              <a:gd name="connsiteX90" fmla="*/ 578835 w 705136"/>
              <a:gd name="connsiteY90" fmla="*/ 442055 h 952499"/>
              <a:gd name="connsiteX91" fmla="*/ 613030 w 705136"/>
              <a:gd name="connsiteY91" fmla="*/ 476250 h 952499"/>
              <a:gd name="connsiteX92" fmla="*/ 578835 w 705136"/>
              <a:gd name="connsiteY92" fmla="*/ 510445 h 952499"/>
              <a:gd name="connsiteX93" fmla="*/ 544640 w 705136"/>
              <a:gd name="connsiteY93" fmla="*/ 476250 h 952499"/>
              <a:gd name="connsiteX94" fmla="*/ 578835 w 705136"/>
              <a:gd name="connsiteY94" fmla="*/ 442055 h 952499"/>
              <a:gd name="connsiteX95" fmla="*/ 670275 w 705136"/>
              <a:gd name="connsiteY95" fmla="*/ 441388 h 952499"/>
              <a:gd name="connsiteX96" fmla="*/ 705136 w 705136"/>
              <a:gd name="connsiteY96" fmla="*/ 476250 h 952499"/>
              <a:gd name="connsiteX97" fmla="*/ 670275 w 705136"/>
              <a:gd name="connsiteY97" fmla="*/ 511111 h 952499"/>
              <a:gd name="connsiteX98" fmla="*/ 635413 w 705136"/>
              <a:gd name="connsiteY98" fmla="*/ 476250 h 952499"/>
              <a:gd name="connsiteX99" fmla="*/ 670275 w 705136"/>
              <a:gd name="connsiteY99" fmla="*/ 441388 h 952499"/>
              <a:gd name="connsiteX100" fmla="*/ 304610 w 705136"/>
              <a:gd name="connsiteY100" fmla="*/ 332993 h 952499"/>
              <a:gd name="connsiteX101" fmla="*/ 336804 w 705136"/>
              <a:gd name="connsiteY101" fmla="*/ 365188 h 952499"/>
              <a:gd name="connsiteX102" fmla="*/ 304610 w 705136"/>
              <a:gd name="connsiteY102" fmla="*/ 397382 h 952499"/>
              <a:gd name="connsiteX103" fmla="*/ 272415 w 705136"/>
              <a:gd name="connsiteY103" fmla="*/ 365188 h 952499"/>
              <a:gd name="connsiteX104" fmla="*/ 304610 w 705136"/>
              <a:gd name="connsiteY104" fmla="*/ 332993 h 952499"/>
              <a:gd name="connsiteX105" fmla="*/ 396049 w 705136"/>
              <a:gd name="connsiteY105" fmla="*/ 332327 h 952499"/>
              <a:gd name="connsiteX106" fmla="*/ 428911 w 705136"/>
              <a:gd name="connsiteY106" fmla="*/ 365188 h 952499"/>
              <a:gd name="connsiteX107" fmla="*/ 396049 w 705136"/>
              <a:gd name="connsiteY107" fmla="*/ 398050 h 952499"/>
              <a:gd name="connsiteX108" fmla="*/ 363188 w 705136"/>
              <a:gd name="connsiteY108" fmla="*/ 365188 h 952499"/>
              <a:gd name="connsiteX109" fmla="*/ 396049 w 705136"/>
              <a:gd name="connsiteY109" fmla="*/ 332327 h 952499"/>
              <a:gd name="connsiteX110" fmla="*/ 487394 w 705136"/>
              <a:gd name="connsiteY110" fmla="*/ 331755 h 952499"/>
              <a:gd name="connsiteX111" fmla="*/ 520922 w 705136"/>
              <a:gd name="connsiteY111" fmla="*/ 365283 h 952499"/>
              <a:gd name="connsiteX112" fmla="*/ 487394 w 705136"/>
              <a:gd name="connsiteY112" fmla="*/ 398811 h 952499"/>
              <a:gd name="connsiteX113" fmla="*/ 453866 w 705136"/>
              <a:gd name="connsiteY113" fmla="*/ 365283 h 952499"/>
              <a:gd name="connsiteX114" fmla="*/ 487394 w 705136"/>
              <a:gd name="connsiteY114" fmla="*/ 331755 h 952499"/>
              <a:gd name="connsiteX115" fmla="*/ 578835 w 705136"/>
              <a:gd name="connsiteY115" fmla="*/ 331088 h 952499"/>
              <a:gd name="connsiteX116" fmla="*/ 613030 w 705136"/>
              <a:gd name="connsiteY116" fmla="*/ 365283 h 952499"/>
              <a:gd name="connsiteX117" fmla="*/ 578835 w 705136"/>
              <a:gd name="connsiteY117" fmla="*/ 399478 h 952499"/>
              <a:gd name="connsiteX118" fmla="*/ 544640 w 705136"/>
              <a:gd name="connsiteY118" fmla="*/ 365283 h 952499"/>
              <a:gd name="connsiteX119" fmla="*/ 578835 w 705136"/>
              <a:gd name="connsiteY119" fmla="*/ 331088 h 952499"/>
              <a:gd name="connsiteX120" fmla="*/ 213170 w 705136"/>
              <a:gd name="connsiteY120" fmla="*/ 222694 h 952499"/>
              <a:gd name="connsiteX121" fmla="*/ 244697 w 705136"/>
              <a:gd name="connsiteY121" fmla="*/ 254222 h 952499"/>
              <a:gd name="connsiteX122" fmla="*/ 213170 w 705136"/>
              <a:gd name="connsiteY122" fmla="*/ 285750 h 952499"/>
              <a:gd name="connsiteX123" fmla="*/ 181642 w 705136"/>
              <a:gd name="connsiteY123" fmla="*/ 254222 h 952499"/>
              <a:gd name="connsiteX124" fmla="*/ 213170 w 705136"/>
              <a:gd name="connsiteY124" fmla="*/ 222694 h 952499"/>
              <a:gd name="connsiteX125" fmla="*/ 304610 w 705136"/>
              <a:gd name="connsiteY125" fmla="*/ 222027 h 952499"/>
              <a:gd name="connsiteX126" fmla="*/ 336804 w 705136"/>
              <a:gd name="connsiteY126" fmla="*/ 254222 h 952499"/>
              <a:gd name="connsiteX127" fmla="*/ 304610 w 705136"/>
              <a:gd name="connsiteY127" fmla="*/ 286416 h 952499"/>
              <a:gd name="connsiteX128" fmla="*/ 272415 w 705136"/>
              <a:gd name="connsiteY128" fmla="*/ 254222 h 952499"/>
              <a:gd name="connsiteX129" fmla="*/ 304610 w 705136"/>
              <a:gd name="connsiteY129" fmla="*/ 222027 h 952499"/>
              <a:gd name="connsiteX130" fmla="*/ 396049 w 705136"/>
              <a:gd name="connsiteY130" fmla="*/ 221360 h 952499"/>
              <a:gd name="connsiteX131" fmla="*/ 428911 w 705136"/>
              <a:gd name="connsiteY131" fmla="*/ 254221 h 952499"/>
              <a:gd name="connsiteX132" fmla="*/ 396049 w 705136"/>
              <a:gd name="connsiteY132" fmla="*/ 287083 h 952499"/>
              <a:gd name="connsiteX133" fmla="*/ 363188 w 705136"/>
              <a:gd name="connsiteY133" fmla="*/ 254221 h 952499"/>
              <a:gd name="connsiteX134" fmla="*/ 396049 w 705136"/>
              <a:gd name="connsiteY134" fmla="*/ 221360 h 952499"/>
              <a:gd name="connsiteX135" fmla="*/ 487394 w 705136"/>
              <a:gd name="connsiteY135" fmla="*/ 220694 h 952499"/>
              <a:gd name="connsiteX136" fmla="*/ 520922 w 705136"/>
              <a:gd name="connsiteY136" fmla="*/ 254222 h 952499"/>
              <a:gd name="connsiteX137" fmla="*/ 487394 w 705136"/>
              <a:gd name="connsiteY137" fmla="*/ 287750 h 952499"/>
              <a:gd name="connsiteX138" fmla="*/ 453866 w 705136"/>
              <a:gd name="connsiteY138" fmla="*/ 254222 h 952499"/>
              <a:gd name="connsiteX139" fmla="*/ 487394 w 705136"/>
              <a:gd name="connsiteY139" fmla="*/ 220694 h 952499"/>
              <a:gd name="connsiteX140" fmla="*/ 121730 w 705136"/>
              <a:gd name="connsiteY140" fmla="*/ 112299 h 952499"/>
              <a:gd name="connsiteX141" fmla="*/ 152591 w 705136"/>
              <a:gd name="connsiteY141" fmla="*/ 143160 h 952499"/>
              <a:gd name="connsiteX142" fmla="*/ 121730 w 705136"/>
              <a:gd name="connsiteY142" fmla="*/ 174116 h 952499"/>
              <a:gd name="connsiteX143" fmla="*/ 90774 w 705136"/>
              <a:gd name="connsiteY143" fmla="*/ 143160 h 952499"/>
              <a:gd name="connsiteX144" fmla="*/ 121730 w 705136"/>
              <a:gd name="connsiteY144" fmla="*/ 112299 h 952499"/>
              <a:gd name="connsiteX145" fmla="*/ 213170 w 705136"/>
              <a:gd name="connsiteY145" fmla="*/ 111633 h 952499"/>
              <a:gd name="connsiteX146" fmla="*/ 244697 w 705136"/>
              <a:gd name="connsiteY146" fmla="*/ 143161 h 952499"/>
              <a:gd name="connsiteX147" fmla="*/ 213170 w 705136"/>
              <a:gd name="connsiteY147" fmla="*/ 174689 h 952499"/>
              <a:gd name="connsiteX148" fmla="*/ 181642 w 705136"/>
              <a:gd name="connsiteY148" fmla="*/ 143161 h 952499"/>
              <a:gd name="connsiteX149" fmla="*/ 213170 w 705136"/>
              <a:gd name="connsiteY149" fmla="*/ 111633 h 952499"/>
              <a:gd name="connsiteX150" fmla="*/ 304610 w 705136"/>
              <a:gd name="connsiteY150" fmla="*/ 110966 h 952499"/>
              <a:gd name="connsiteX151" fmla="*/ 336804 w 705136"/>
              <a:gd name="connsiteY151" fmla="*/ 143161 h 952499"/>
              <a:gd name="connsiteX152" fmla="*/ 304610 w 705136"/>
              <a:gd name="connsiteY152" fmla="*/ 175355 h 952499"/>
              <a:gd name="connsiteX153" fmla="*/ 272415 w 705136"/>
              <a:gd name="connsiteY153" fmla="*/ 143161 h 952499"/>
              <a:gd name="connsiteX154" fmla="*/ 304610 w 705136"/>
              <a:gd name="connsiteY154" fmla="*/ 110966 h 952499"/>
              <a:gd name="connsiteX155" fmla="*/ 396049 w 705136"/>
              <a:gd name="connsiteY155" fmla="*/ 110394 h 952499"/>
              <a:gd name="connsiteX156" fmla="*/ 428911 w 705136"/>
              <a:gd name="connsiteY156" fmla="*/ 143255 h 952499"/>
              <a:gd name="connsiteX157" fmla="*/ 396049 w 705136"/>
              <a:gd name="connsiteY157" fmla="*/ 176117 h 952499"/>
              <a:gd name="connsiteX158" fmla="*/ 363188 w 705136"/>
              <a:gd name="connsiteY158" fmla="*/ 143255 h 952499"/>
              <a:gd name="connsiteX159" fmla="*/ 396049 w 705136"/>
              <a:gd name="connsiteY159" fmla="*/ 110394 h 952499"/>
              <a:gd name="connsiteX160" fmla="*/ 30289 w 705136"/>
              <a:gd name="connsiteY160" fmla="*/ 2000 h 952499"/>
              <a:gd name="connsiteX161" fmla="*/ 60579 w 705136"/>
              <a:gd name="connsiteY161" fmla="*/ 32290 h 952499"/>
              <a:gd name="connsiteX162" fmla="*/ 30289 w 705136"/>
              <a:gd name="connsiteY162" fmla="*/ 62579 h 952499"/>
              <a:gd name="connsiteX163" fmla="*/ 0 w 705136"/>
              <a:gd name="connsiteY163" fmla="*/ 32290 h 952499"/>
              <a:gd name="connsiteX164" fmla="*/ 30289 w 705136"/>
              <a:gd name="connsiteY164" fmla="*/ 2000 h 952499"/>
              <a:gd name="connsiteX165" fmla="*/ 121730 w 705136"/>
              <a:gd name="connsiteY165" fmla="*/ 1333 h 952499"/>
              <a:gd name="connsiteX166" fmla="*/ 152591 w 705136"/>
              <a:gd name="connsiteY166" fmla="*/ 32194 h 952499"/>
              <a:gd name="connsiteX167" fmla="*/ 121730 w 705136"/>
              <a:gd name="connsiteY167" fmla="*/ 63150 h 952499"/>
              <a:gd name="connsiteX168" fmla="*/ 90774 w 705136"/>
              <a:gd name="connsiteY168" fmla="*/ 32194 h 952499"/>
              <a:gd name="connsiteX169" fmla="*/ 121730 w 705136"/>
              <a:gd name="connsiteY169" fmla="*/ 1333 h 952499"/>
              <a:gd name="connsiteX170" fmla="*/ 213170 w 705136"/>
              <a:gd name="connsiteY170" fmla="*/ 666 h 952499"/>
              <a:gd name="connsiteX171" fmla="*/ 244697 w 705136"/>
              <a:gd name="connsiteY171" fmla="*/ 32194 h 952499"/>
              <a:gd name="connsiteX172" fmla="*/ 213170 w 705136"/>
              <a:gd name="connsiteY172" fmla="*/ 63722 h 952499"/>
              <a:gd name="connsiteX173" fmla="*/ 181642 w 705136"/>
              <a:gd name="connsiteY173" fmla="*/ 32194 h 952499"/>
              <a:gd name="connsiteX174" fmla="*/ 213170 w 705136"/>
              <a:gd name="connsiteY174" fmla="*/ 666 h 952499"/>
              <a:gd name="connsiteX175" fmla="*/ 304610 w 705136"/>
              <a:gd name="connsiteY175" fmla="*/ 0 h 952499"/>
              <a:gd name="connsiteX176" fmla="*/ 336804 w 705136"/>
              <a:gd name="connsiteY176" fmla="*/ 32195 h 952499"/>
              <a:gd name="connsiteX177" fmla="*/ 304610 w 705136"/>
              <a:gd name="connsiteY177" fmla="*/ 64389 h 952499"/>
              <a:gd name="connsiteX178" fmla="*/ 272415 w 705136"/>
              <a:gd name="connsiteY178" fmla="*/ 32195 h 952499"/>
              <a:gd name="connsiteX179" fmla="*/ 304610 w 705136"/>
              <a:gd name="connsiteY179" fmla="*/ 0 h 952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Lst>
            <a:rect l="l" t="t" r="r" b="b"/>
            <a:pathLst>
              <a:path w="705136" h="952499">
                <a:moveTo>
                  <a:pt x="30289" y="890016"/>
                </a:moveTo>
                <a:cubicBezTo>
                  <a:pt x="46958" y="890016"/>
                  <a:pt x="60579" y="903637"/>
                  <a:pt x="60579" y="920306"/>
                </a:cubicBezTo>
                <a:cubicBezTo>
                  <a:pt x="60579" y="937069"/>
                  <a:pt x="46958" y="950595"/>
                  <a:pt x="30289" y="950595"/>
                </a:cubicBezTo>
                <a:cubicBezTo>
                  <a:pt x="13621" y="950595"/>
                  <a:pt x="0" y="936974"/>
                  <a:pt x="0" y="920306"/>
                </a:cubicBezTo>
                <a:cubicBezTo>
                  <a:pt x="0" y="903541"/>
                  <a:pt x="13621" y="890016"/>
                  <a:pt x="30289" y="890016"/>
                </a:cubicBezTo>
                <a:close/>
                <a:moveTo>
                  <a:pt x="121730" y="889349"/>
                </a:moveTo>
                <a:cubicBezTo>
                  <a:pt x="138780" y="889349"/>
                  <a:pt x="152687" y="903255"/>
                  <a:pt x="152591" y="920210"/>
                </a:cubicBezTo>
                <a:cubicBezTo>
                  <a:pt x="152591" y="937260"/>
                  <a:pt x="138780" y="951166"/>
                  <a:pt x="121730" y="951166"/>
                </a:cubicBezTo>
                <a:cubicBezTo>
                  <a:pt x="104680" y="951166"/>
                  <a:pt x="90774" y="937260"/>
                  <a:pt x="90774" y="920210"/>
                </a:cubicBezTo>
                <a:cubicBezTo>
                  <a:pt x="90774" y="903255"/>
                  <a:pt x="104680" y="889349"/>
                  <a:pt x="121730" y="889349"/>
                </a:cubicBezTo>
                <a:close/>
                <a:moveTo>
                  <a:pt x="213170" y="888682"/>
                </a:moveTo>
                <a:cubicBezTo>
                  <a:pt x="230600" y="888682"/>
                  <a:pt x="244697" y="902874"/>
                  <a:pt x="244697" y="920210"/>
                </a:cubicBezTo>
                <a:cubicBezTo>
                  <a:pt x="244697" y="937545"/>
                  <a:pt x="230600" y="951737"/>
                  <a:pt x="213170" y="951737"/>
                </a:cubicBezTo>
                <a:cubicBezTo>
                  <a:pt x="195834" y="951737"/>
                  <a:pt x="181642" y="937640"/>
                  <a:pt x="181642" y="920210"/>
                </a:cubicBezTo>
                <a:cubicBezTo>
                  <a:pt x="181642" y="902874"/>
                  <a:pt x="195739" y="888682"/>
                  <a:pt x="213170" y="888682"/>
                </a:cubicBezTo>
                <a:close/>
                <a:moveTo>
                  <a:pt x="304610" y="888110"/>
                </a:moveTo>
                <a:cubicBezTo>
                  <a:pt x="322326" y="888110"/>
                  <a:pt x="336804" y="902493"/>
                  <a:pt x="336804" y="920305"/>
                </a:cubicBezTo>
                <a:cubicBezTo>
                  <a:pt x="336804" y="938021"/>
                  <a:pt x="322326" y="952499"/>
                  <a:pt x="304610" y="952499"/>
                </a:cubicBezTo>
                <a:cubicBezTo>
                  <a:pt x="286893" y="952499"/>
                  <a:pt x="272415" y="938116"/>
                  <a:pt x="272415" y="920305"/>
                </a:cubicBezTo>
                <a:cubicBezTo>
                  <a:pt x="272415" y="902588"/>
                  <a:pt x="286798" y="888110"/>
                  <a:pt x="304610" y="888110"/>
                </a:cubicBezTo>
                <a:close/>
                <a:moveTo>
                  <a:pt x="121730" y="778383"/>
                </a:moveTo>
                <a:cubicBezTo>
                  <a:pt x="138780" y="778383"/>
                  <a:pt x="152687" y="792194"/>
                  <a:pt x="152591" y="809244"/>
                </a:cubicBezTo>
                <a:cubicBezTo>
                  <a:pt x="152591" y="826294"/>
                  <a:pt x="138780" y="840200"/>
                  <a:pt x="121730" y="840200"/>
                </a:cubicBezTo>
                <a:cubicBezTo>
                  <a:pt x="104680" y="840200"/>
                  <a:pt x="90774" y="826294"/>
                  <a:pt x="90774" y="809244"/>
                </a:cubicBezTo>
                <a:cubicBezTo>
                  <a:pt x="90774" y="792289"/>
                  <a:pt x="104680" y="778383"/>
                  <a:pt x="121730" y="778383"/>
                </a:cubicBezTo>
                <a:close/>
                <a:moveTo>
                  <a:pt x="213170" y="777716"/>
                </a:moveTo>
                <a:cubicBezTo>
                  <a:pt x="230600" y="777716"/>
                  <a:pt x="244697" y="791908"/>
                  <a:pt x="244697" y="809244"/>
                </a:cubicBezTo>
                <a:cubicBezTo>
                  <a:pt x="244697" y="826579"/>
                  <a:pt x="230600" y="840771"/>
                  <a:pt x="213170" y="840771"/>
                </a:cubicBezTo>
                <a:cubicBezTo>
                  <a:pt x="195834" y="840771"/>
                  <a:pt x="181642" y="826674"/>
                  <a:pt x="181642" y="809244"/>
                </a:cubicBezTo>
                <a:cubicBezTo>
                  <a:pt x="181642" y="791908"/>
                  <a:pt x="195739" y="777716"/>
                  <a:pt x="213170" y="777716"/>
                </a:cubicBezTo>
                <a:close/>
                <a:moveTo>
                  <a:pt x="304610" y="777049"/>
                </a:moveTo>
                <a:cubicBezTo>
                  <a:pt x="322326" y="777049"/>
                  <a:pt x="336804" y="791527"/>
                  <a:pt x="336804" y="809243"/>
                </a:cubicBezTo>
                <a:cubicBezTo>
                  <a:pt x="336804" y="826960"/>
                  <a:pt x="322326" y="841438"/>
                  <a:pt x="304610" y="841438"/>
                </a:cubicBezTo>
                <a:cubicBezTo>
                  <a:pt x="286893" y="841438"/>
                  <a:pt x="272415" y="827055"/>
                  <a:pt x="272415" y="809243"/>
                </a:cubicBezTo>
                <a:cubicBezTo>
                  <a:pt x="272415" y="791527"/>
                  <a:pt x="286798" y="777049"/>
                  <a:pt x="304610" y="777049"/>
                </a:cubicBezTo>
                <a:close/>
                <a:moveTo>
                  <a:pt x="396049" y="776382"/>
                </a:moveTo>
                <a:cubicBezTo>
                  <a:pt x="414147" y="776382"/>
                  <a:pt x="428815" y="791146"/>
                  <a:pt x="428911" y="809243"/>
                </a:cubicBezTo>
                <a:cubicBezTo>
                  <a:pt x="428911" y="827341"/>
                  <a:pt x="414147" y="842105"/>
                  <a:pt x="396049" y="842105"/>
                </a:cubicBezTo>
                <a:cubicBezTo>
                  <a:pt x="377952" y="842105"/>
                  <a:pt x="363188" y="827341"/>
                  <a:pt x="363188" y="809243"/>
                </a:cubicBezTo>
                <a:cubicBezTo>
                  <a:pt x="363188" y="791146"/>
                  <a:pt x="377952" y="776382"/>
                  <a:pt x="396049" y="776382"/>
                </a:cubicBezTo>
                <a:close/>
                <a:moveTo>
                  <a:pt x="213170" y="666750"/>
                </a:moveTo>
                <a:cubicBezTo>
                  <a:pt x="230600" y="666750"/>
                  <a:pt x="244697" y="680847"/>
                  <a:pt x="244697" y="698278"/>
                </a:cubicBezTo>
                <a:cubicBezTo>
                  <a:pt x="244697" y="715613"/>
                  <a:pt x="230600" y="729806"/>
                  <a:pt x="213170" y="729806"/>
                </a:cubicBezTo>
                <a:cubicBezTo>
                  <a:pt x="195834" y="729806"/>
                  <a:pt x="181642" y="715708"/>
                  <a:pt x="181642" y="698278"/>
                </a:cubicBezTo>
                <a:cubicBezTo>
                  <a:pt x="181642" y="680942"/>
                  <a:pt x="195739" y="666750"/>
                  <a:pt x="213170" y="666750"/>
                </a:cubicBezTo>
                <a:close/>
                <a:moveTo>
                  <a:pt x="304610" y="666083"/>
                </a:moveTo>
                <a:cubicBezTo>
                  <a:pt x="322326" y="666083"/>
                  <a:pt x="336804" y="680466"/>
                  <a:pt x="336804" y="698277"/>
                </a:cubicBezTo>
                <a:cubicBezTo>
                  <a:pt x="336804" y="715994"/>
                  <a:pt x="322326" y="730472"/>
                  <a:pt x="304610" y="730472"/>
                </a:cubicBezTo>
                <a:cubicBezTo>
                  <a:pt x="286893" y="730472"/>
                  <a:pt x="272415" y="716089"/>
                  <a:pt x="272415" y="698277"/>
                </a:cubicBezTo>
                <a:cubicBezTo>
                  <a:pt x="272415" y="680561"/>
                  <a:pt x="286798" y="666083"/>
                  <a:pt x="304610" y="666083"/>
                </a:cubicBezTo>
                <a:close/>
                <a:moveTo>
                  <a:pt x="396049" y="665416"/>
                </a:moveTo>
                <a:cubicBezTo>
                  <a:pt x="414147" y="665416"/>
                  <a:pt x="428815" y="680180"/>
                  <a:pt x="428911" y="698277"/>
                </a:cubicBezTo>
                <a:cubicBezTo>
                  <a:pt x="428911" y="716375"/>
                  <a:pt x="414147" y="731139"/>
                  <a:pt x="396049" y="731139"/>
                </a:cubicBezTo>
                <a:cubicBezTo>
                  <a:pt x="377952" y="731139"/>
                  <a:pt x="363188" y="716375"/>
                  <a:pt x="363188" y="698277"/>
                </a:cubicBezTo>
                <a:cubicBezTo>
                  <a:pt x="363188" y="680180"/>
                  <a:pt x="377952" y="665416"/>
                  <a:pt x="396049" y="665416"/>
                </a:cubicBezTo>
                <a:close/>
                <a:moveTo>
                  <a:pt x="487394" y="664749"/>
                </a:moveTo>
                <a:cubicBezTo>
                  <a:pt x="505873" y="664749"/>
                  <a:pt x="520922" y="679799"/>
                  <a:pt x="520922" y="698277"/>
                </a:cubicBezTo>
                <a:cubicBezTo>
                  <a:pt x="520922" y="716755"/>
                  <a:pt x="505873" y="731805"/>
                  <a:pt x="487394" y="731805"/>
                </a:cubicBezTo>
                <a:cubicBezTo>
                  <a:pt x="468916" y="731805"/>
                  <a:pt x="453866" y="716755"/>
                  <a:pt x="453866" y="698277"/>
                </a:cubicBezTo>
                <a:cubicBezTo>
                  <a:pt x="453866" y="679799"/>
                  <a:pt x="468916" y="664749"/>
                  <a:pt x="487394" y="664749"/>
                </a:cubicBezTo>
                <a:close/>
                <a:moveTo>
                  <a:pt x="304610" y="555021"/>
                </a:moveTo>
                <a:cubicBezTo>
                  <a:pt x="322326" y="555021"/>
                  <a:pt x="336804" y="569499"/>
                  <a:pt x="336804" y="587216"/>
                </a:cubicBezTo>
                <a:cubicBezTo>
                  <a:pt x="336804" y="604932"/>
                  <a:pt x="322326" y="619410"/>
                  <a:pt x="304610" y="619410"/>
                </a:cubicBezTo>
                <a:cubicBezTo>
                  <a:pt x="286893" y="619410"/>
                  <a:pt x="272415" y="605027"/>
                  <a:pt x="272415" y="587216"/>
                </a:cubicBezTo>
                <a:cubicBezTo>
                  <a:pt x="272415" y="569499"/>
                  <a:pt x="286798" y="555021"/>
                  <a:pt x="304610" y="555021"/>
                </a:cubicBezTo>
                <a:close/>
                <a:moveTo>
                  <a:pt x="396049" y="554355"/>
                </a:moveTo>
                <a:cubicBezTo>
                  <a:pt x="414147" y="554355"/>
                  <a:pt x="428815" y="569119"/>
                  <a:pt x="428911" y="587216"/>
                </a:cubicBezTo>
                <a:cubicBezTo>
                  <a:pt x="428911" y="605314"/>
                  <a:pt x="414147" y="620077"/>
                  <a:pt x="396049" y="620077"/>
                </a:cubicBezTo>
                <a:cubicBezTo>
                  <a:pt x="377952" y="620077"/>
                  <a:pt x="363188" y="605314"/>
                  <a:pt x="363188" y="587216"/>
                </a:cubicBezTo>
                <a:cubicBezTo>
                  <a:pt x="363188" y="569119"/>
                  <a:pt x="377952" y="554355"/>
                  <a:pt x="396049" y="554355"/>
                </a:cubicBezTo>
                <a:close/>
                <a:moveTo>
                  <a:pt x="487394" y="553783"/>
                </a:moveTo>
                <a:cubicBezTo>
                  <a:pt x="505873" y="553783"/>
                  <a:pt x="520922" y="568737"/>
                  <a:pt x="520922" y="587311"/>
                </a:cubicBezTo>
                <a:cubicBezTo>
                  <a:pt x="520922" y="605789"/>
                  <a:pt x="505873" y="620839"/>
                  <a:pt x="487394" y="620839"/>
                </a:cubicBezTo>
                <a:cubicBezTo>
                  <a:pt x="468916" y="620839"/>
                  <a:pt x="453866" y="605789"/>
                  <a:pt x="453866" y="587311"/>
                </a:cubicBezTo>
                <a:cubicBezTo>
                  <a:pt x="453866" y="568833"/>
                  <a:pt x="468916" y="553783"/>
                  <a:pt x="487394" y="553783"/>
                </a:cubicBezTo>
                <a:close/>
                <a:moveTo>
                  <a:pt x="578835" y="553116"/>
                </a:moveTo>
                <a:cubicBezTo>
                  <a:pt x="597694" y="553116"/>
                  <a:pt x="613030" y="568451"/>
                  <a:pt x="613030" y="587311"/>
                </a:cubicBezTo>
                <a:cubicBezTo>
                  <a:pt x="613030" y="606170"/>
                  <a:pt x="597694" y="621506"/>
                  <a:pt x="578835" y="621506"/>
                </a:cubicBezTo>
                <a:cubicBezTo>
                  <a:pt x="559975" y="621506"/>
                  <a:pt x="544640" y="606170"/>
                  <a:pt x="544640" y="587311"/>
                </a:cubicBezTo>
                <a:cubicBezTo>
                  <a:pt x="544640" y="568451"/>
                  <a:pt x="559975" y="553116"/>
                  <a:pt x="578835" y="553116"/>
                </a:cubicBezTo>
                <a:close/>
                <a:moveTo>
                  <a:pt x="396049" y="443388"/>
                </a:moveTo>
                <a:cubicBezTo>
                  <a:pt x="414147" y="443388"/>
                  <a:pt x="428815" y="458152"/>
                  <a:pt x="428911" y="476249"/>
                </a:cubicBezTo>
                <a:cubicBezTo>
                  <a:pt x="428911" y="494347"/>
                  <a:pt x="414147" y="509111"/>
                  <a:pt x="396049" y="509111"/>
                </a:cubicBezTo>
                <a:cubicBezTo>
                  <a:pt x="377952" y="509111"/>
                  <a:pt x="363188" y="494347"/>
                  <a:pt x="363188" y="476249"/>
                </a:cubicBezTo>
                <a:cubicBezTo>
                  <a:pt x="363188" y="458152"/>
                  <a:pt x="377952" y="443388"/>
                  <a:pt x="396049" y="443388"/>
                </a:cubicBezTo>
                <a:close/>
                <a:moveTo>
                  <a:pt x="487394" y="442721"/>
                </a:moveTo>
                <a:cubicBezTo>
                  <a:pt x="505873" y="442721"/>
                  <a:pt x="520922" y="457771"/>
                  <a:pt x="520922" y="476249"/>
                </a:cubicBezTo>
                <a:cubicBezTo>
                  <a:pt x="520922" y="494727"/>
                  <a:pt x="505873" y="509777"/>
                  <a:pt x="487394" y="509777"/>
                </a:cubicBezTo>
                <a:cubicBezTo>
                  <a:pt x="468916" y="509777"/>
                  <a:pt x="453866" y="494727"/>
                  <a:pt x="453866" y="476249"/>
                </a:cubicBezTo>
                <a:cubicBezTo>
                  <a:pt x="453866" y="457771"/>
                  <a:pt x="468916" y="442721"/>
                  <a:pt x="487394" y="442721"/>
                </a:cubicBezTo>
                <a:close/>
                <a:moveTo>
                  <a:pt x="578835" y="442055"/>
                </a:moveTo>
                <a:cubicBezTo>
                  <a:pt x="597694" y="442055"/>
                  <a:pt x="613030" y="457390"/>
                  <a:pt x="613030" y="476250"/>
                </a:cubicBezTo>
                <a:cubicBezTo>
                  <a:pt x="613030" y="495109"/>
                  <a:pt x="597694" y="510445"/>
                  <a:pt x="578835" y="510445"/>
                </a:cubicBezTo>
                <a:cubicBezTo>
                  <a:pt x="559975" y="510445"/>
                  <a:pt x="544640" y="495109"/>
                  <a:pt x="544640" y="476250"/>
                </a:cubicBezTo>
                <a:cubicBezTo>
                  <a:pt x="544640" y="457390"/>
                  <a:pt x="559975" y="442055"/>
                  <a:pt x="578835" y="442055"/>
                </a:cubicBezTo>
                <a:close/>
                <a:moveTo>
                  <a:pt x="670275" y="441388"/>
                </a:moveTo>
                <a:cubicBezTo>
                  <a:pt x="689420" y="441388"/>
                  <a:pt x="705041" y="457009"/>
                  <a:pt x="705136" y="476250"/>
                </a:cubicBezTo>
                <a:cubicBezTo>
                  <a:pt x="705136" y="495490"/>
                  <a:pt x="689515" y="511111"/>
                  <a:pt x="670275" y="511111"/>
                </a:cubicBezTo>
                <a:cubicBezTo>
                  <a:pt x="651034" y="511111"/>
                  <a:pt x="635413" y="495490"/>
                  <a:pt x="635413" y="476250"/>
                </a:cubicBezTo>
                <a:cubicBezTo>
                  <a:pt x="635413" y="457009"/>
                  <a:pt x="651034" y="441388"/>
                  <a:pt x="670275" y="441388"/>
                </a:cubicBezTo>
                <a:close/>
                <a:moveTo>
                  <a:pt x="304610" y="332993"/>
                </a:moveTo>
                <a:cubicBezTo>
                  <a:pt x="322326" y="332993"/>
                  <a:pt x="336804" y="347471"/>
                  <a:pt x="336804" y="365188"/>
                </a:cubicBezTo>
                <a:cubicBezTo>
                  <a:pt x="336804" y="382904"/>
                  <a:pt x="322326" y="397382"/>
                  <a:pt x="304610" y="397382"/>
                </a:cubicBezTo>
                <a:cubicBezTo>
                  <a:pt x="286893" y="397382"/>
                  <a:pt x="272415" y="382999"/>
                  <a:pt x="272415" y="365188"/>
                </a:cubicBezTo>
                <a:cubicBezTo>
                  <a:pt x="272415" y="347471"/>
                  <a:pt x="286798" y="332993"/>
                  <a:pt x="304610" y="332993"/>
                </a:cubicBezTo>
                <a:close/>
                <a:moveTo>
                  <a:pt x="396049" y="332327"/>
                </a:moveTo>
                <a:cubicBezTo>
                  <a:pt x="414147" y="332327"/>
                  <a:pt x="428815" y="347091"/>
                  <a:pt x="428911" y="365188"/>
                </a:cubicBezTo>
                <a:cubicBezTo>
                  <a:pt x="428911" y="383286"/>
                  <a:pt x="414147" y="398050"/>
                  <a:pt x="396049" y="398050"/>
                </a:cubicBezTo>
                <a:cubicBezTo>
                  <a:pt x="377952" y="398050"/>
                  <a:pt x="363188" y="383286"/>
                  <a:pt x="363188" y="365188"/>
                </a:cubicBezTo>
                <a:cubicBezTo>
                  <a:pt x="363188" y="347091"/>
                  <a:pt x="377952" y="332327"/>
                  <a:pt x="396049" y="332327"/>
                </a:cubicBezTo>
                <a:close/>
                <a:moveTo>
                  <a:pt x="487394" y="331755"/>
                </a:moveTo>
                <a:cubicBezTo>
                  <a:pt x="505873" y="331755"/>
                  <a:pt x="520922" y="346804"/>
                  <a:pt x="520922" y="365283"/>
                </a:cubicBezTo>
                <a:cubicBezTo>
                  <a:pt x="520922" y="383761"/>
                  <a:pt x="505873" y="398811"/>
                  <a:pt x="487394" y="398811"/>
                </a:cubicBezTo>
                <a:cubicBezTo>
                  <a:pt x="468916" y="398811"/>
                  <a:pt x="453866" y="383761"/>
                  <a:pt x="453866" y="365283"/>
                </a:cubicBezTo>
                <a:cubicBezTo>
                  <a:pt x="453866" y="346804"/>
                  <a:pt x="468916" y="331755"/>
                  <a:pt x="487394" y="331755"/>
                </a:cubicBezTo>
                <a:close/>
                <a:moveTo>
                  <a:pt x="578835" y="331088"/>
                </a:moveTo>
                <a:cubicBezTo>
                  <a:pt x="597694" y="331088"/>
                  <a:pt x="613030" y="346423"/>
                  <a:pt x="613030" y="365283"/>
                </a:cubicBezTo>
                <a:cubicBezTo>
                  <a:pt x="613030" y="384142"/>
                  <a:pt x="597694" y="399478"/>
                  <a:pt x="578835" y="399478"/>
                </a:cubicBezTo>
                <a:cubicBezTo>
                  <a:pt x="559975" y="399478"/>
                  <a:pt x="544640" y="384142"/>
                  <a:pt x="544640" y="365283"/>
                </a:cubicBezTo>
                <a:cubicBezTo>
                  <a:pt x="544640" y="346423"/>
                  <a:pt x="559975" y="331088"/>
                  <a:pt x="578835" y="331088"/>
                </a:cubicBezTo>
                <a:close/>
                <a:moveTo>
                  <a:pt x="213170" y="222694"/>
                </a:moveTo>
                <a:cubicBezTo>
                  <a:pt x="230600" y="222694"/>
                  <a:pt x="244697" y="236791"/>
                  <a:pt x="244697" y="254222"/>
                </a:cubicBezTo>
                <a:cubicBezTo>
                  <a:pt x="244697" y="271557"/>
                  <a:pt x="230600" y="285750"/>
                  <a:pt x="213170" y="285750"/>
                </a:cubicBezTo>
                <a:cubicBezTo>
                  <a:pt x="195834" y="285750"/>
                  <a:pt x="181642" y="271653"/>
                  <a:pt x="181642" y="254222"/>
                </a:cubicBezTo>
                <a:cubicBezTo>
                  <a:pt x="181642" y="236886"/>
                  <a:pt x="195739" y="222694"/>
                  <a:pt x="213170" y="222694"/>
                </a:cubicBezTo>
                <a:close/>
                <a:moveTo>
                  <a:pt x="304610" y="222027"/>
                </a:moveTo>
                <a:cubicBezTo>
                  <a:pt x="322326" y="222027"/>
                  <a:pt x="336804" y="236505"/>
                  <a:pt x="336804" y="254222"/>
                </a:cubicBezTo>
                <a:cubicBezTo>
                  <a:pt x="336804" y="271938"/>
                  <a:pt x="322326" y="286416"/>
                  <a:pt x="304610" y="286416"/>
                </a:cubicBezTo>
                <a:cubicBezTo>
                  <a:pt x="286893" y="286416"/>
                  <a:pt x="272415" y="272033"/>
                  <a:pt x="272415" y="254222"/>
                </a:cubicBezTo>
                <a:cubicBezTo>
                  <a:pt x="272415" y="236505"/>
                  <a:pt x="286798" y="222027"/>
                  <a:pt x="304610" y="222027"/>
                </a:cubicBezTo>
                <a:close/>
                <a:moveTo>
                  <a:pt x="396049" y="221360"/>
                </a:moveTo>
                <a:cubicBezTo>
                  <a:pt x="414147" y="221360"/>
                  <a:pt x="428815" y="236124"/>
                  <a:pt x="428911" y="254221"/>
                </a:cubicBezTo>
                <a:cubicBezTo>
                  <a:pt x="428911" y="272319"/>
                  <a:pt x="414147" y="287083"/>
                  <a:pt x="396049" y="287083"/>
                </a:cubicBezTo>
                <a:cubicBezTo>
                  <a:pt x="377952" y="287083"/>
                  <a:pt x="363188" y="272319"/>
                  <a:pt x="363188" y="254221"/>
                </a:cubicBezTo>
                <a:cubicBezTo>
                  <a:pt x="363188" y="236124"/>
                  <a:pt x="377952" y="221360"/>
                  <a:pt x="396049" y="221360"/>
                </a:cubicBezTo>
                <a:close/>
                <a:moveTo>
                  <a:pt x="487394" y="220694"/>
                </a:moveTo>
                <a:cubicBezTo>
                  <a:pt x="505873" y="220694"/>
                  <a:pt x="520922" y="235743"/>
                  <a:pt x="520922" y="254222"/>
                </a:cubicBezTo>
                <a:cubicBezTo>
                  <a:pt x="520922" y="272700"/>
                  <a:pt x="505873" y="287750"/>
                  <a:pt x="487394" y="287750"/>
                </a:cubicBezTo>
                <a:cubicBezTo>
                  <a:pt x="468916" y="287750"/>
                  <a:pt x="453866" y="272700"/>
                  <a:pt x="453866" y="254222"/>
                </a:cubicBezTo>
                <a:cubicBezTo>
                  <a:pt x="453866" y="235743"/>
                  <a:pt x="468916" y="220694"/>
                  <a:pt x="487394" y="220694"/>
                </a:cubicBezTo>
                <a:close/>
                <a:moveTo>
                  <a:pt x="121730" y="112299"/>
                </a:moveTo>
                <a:cubicBezTo>
                  <a:pt x="138780" y="112299"/>
                  <a:pt x="152687" y="126206"/>
                  <a:pt x="152591" y="143160"/>
                </a:cubicBezTo>
                <a:cubicBezTo>
                  <a:pt x="152591" y="160210"/>
                  <a:pt x="138780" y="174116"/>
                  <a:pt x="121730" y="174116"/>
                </a:cubicBezTo>
                <a:cubicBezTo>
                  <a:pt x="104680" y="174116"/>
                  <a:pt x="90774" y="160210"/>
                  <a:pt x="90774" y="143160"/>
                </a:cubicBezTo>
                <a:cubicBezTo>
                  <a:pt x="90774" y="126206"/>
                  <a:pt x="104680" y="112299"/>
                  <a:pt x="121730" y="112299"/>
                </a:cubicBezTo>
                <a:close/>
                <a:moveTo>
                  <a:pt x="213170" y="111633"/>
                </a:moveTo>
                <a:cubicBezTo>
                  <a:pt x="230600" y="111633"/>
                  <a:pt x="244697" y="125825"/>
                  <a:pt x="244697" y="143161"/>
                </a:cubicBezTo>
                <a:cubicBezTo>
                  <a:pt x="244697" y="160496"/>
                  <a:pt x="230600" y="174689"/>
                  <a:pt x="213170" y="174689"/>
                </a:cubicBezTo>
                <a:cubicBezTo>
                  <a:pt x="195834" y="174689"/>
                  <a:pt x="181642" y="160592"/>
                  <a:pt x="181642" y="143161"/>
                </a:cubicBezTo>
                <a:cubicBezTo>
                  <a:pt x="181642" y="125825"/>
                  <a:pt x="195739" y="111633"/>
                  <a:pt x="213170" y="111633"/>
                </a:cubicBezTo>
                <a:close/>
                <a:moveTo>
                  <a:pt x="304610" y="110966"/>
                </a:moveTo>
                <a:cubicBezTo>
                  <a:pt x="322326" y="110966"/>
                  <a:pt x="336804" y="125444"/>
                  <a:pt x="336804" y="143161"/>
                </a:cubicBezTo>
                <a:cubicBezTo>
                  <a:pt x="336804" y="160877"/>
                  <a:pt x="322326" y="175355"/>
                  <a:pt x="304610" y="175355"/>
                </a:cubicBezTo>
                <a:cubicBezTo>
                  <a:pt x="286893" y="175355"/>
                  <a:pt x="272415" y="160972"/>
                  <a:pt x="272415" y="143161"/>
                </a:cubicBezTo>
                <a:cubicBezTo>
                  <a:pt x="272415" y="125444"/>
                  <a:pt x="286798" y="110966"/>
                  <a:pt x="304610" y="110966"/>
                </a:cubicBezTo>
                <a:close/>
                <a:moveTo>
                  <a:pt x="396049" y="110394"/>
                </a:moveTo>
                <a:cubicBezTo>
                  <a:pt x="414147" y="110394"/>
                  <a:pt x="428815" y="125063"/>
                  <a:pt x="428911" y="143255"/>
                </a:cubicBezTo>
                <a:cubicBezTo>
                  <a:pt x="428911" y="161353"/>
                  <a:pt x="414147" y="176117"/>
                  <a:pt x="396049" y="176117"/>
                </a:cubicBezTo>
                <a:cubicBezTo>
                  <a:pt x="377952" y="176117"/>
                  <a:pt x="363188" y="161353"/>
                  <a:pt x="363188" y="143255"/>
                </a:cubicBezTo>
                <a:cubicBezTo>
                  <a:pt x="363188" y="125158"/>
                  <a:pt x="377952" y="110394"/>
                  <a:pt x="396049" y="110394"/>
                </a:cubicBezTo>
                <a:close/>
                <a:moveTo>
                  <a:pt x="30289" y="2000"/>
                </a:moveTo>
                <a:cubicBezTo>
                  <a:pt x="46958" y="2000"/>
                  <a:pt x="60579" y="15526"/>
                  <a:pt x="60579" y="32290"/>
                </a:cubicBezTo>
                <a:cubicBezTo>
                  <a:pt x="60579" y="48958"/>
                  <a:pt x="46958" y="62579"/>
                  <a:pt x="30289" y="62579"/>
                </a:cubicBezTo>
                <a:cubicBezTo>
                  <a:pt x="13621" y="62579"/>
                  <a:pt x="0" y="48958"/>
                  <a:pt x="0" y="32290"/>
                </a:cubicBezTo>
                <a:cubicBezTo>
                  <a:pt x="0" y="15621"/>
                  <a:pt x="13621" y="2000"/>
                  <a:pt x="30289" y="2000"/>
                </a:cubicBezTo>
                <a:close/>
                <a:moveTo>
                  <a:pt x="121730" y="1333"/>
                </a:moveTo>
                <a:cubicBezTo>
                  <a:pt x="138780" y="1333"/>
                  <a:pt x="152687" y="15144"/>
                  <a:pt x="152591" y="32194"/>
                </a:cubicBezTo>
                <a:cubicBezTo>
                  <a:pt x="152591" y="49244"/>
                  <a:pt x="138780" y="63150"/>
                  <a:pt x="121730" y="63150"/>
                </a:cubicBezTo>
                <a:cubicBezTo>
                  <a:pt x="104680" y="63150"/>
                  <a:pt x="90774" y="49244"/>
                  <a:pt x="90774" y="32194"/>
                </a:cubicBezTo>
                <a:cubicBezTo>
                  <a:pt x="90774" y="15240"/>
                  <a:pt x="104680" y="1333"/>
                  <a:pt x="121730" y="1333"/>
                </a:cubicBezTo>
                <a:close/>
                <a:moveTo>
                  <a:pt x="213170" y="666"/>
                </a:moveTo>
                <a:cubicBezTo>
                  <a:pt x="230600" y="666"/>
                  <a:pt x="244697" y="14858"/>
                  <a:pt x="244697" y="32194"/>
                </a:cubicBezTo>
                <a:cubicBezTo>
                  <a:pt x="244697" y="49529"/>
                  <a:pt x="230600" y="63722"/>
                  <a:pt x="213170" y="63722"/>
                </a:cubicBezTo>
                <a:cubicBezTo>
                  <a:pt x="195834" y="63722"/>
                  <a:pt x="181642" y="49625"/>
                  <a:pt x="181642" y="32194"/>
                </a:cubicBezTo>
                <a:cubicBezTo>
                  <a:pt x="181642" y="14858"/>
                  <a:pt x="195739" y="666"/>
                  <a:pt x="213170" y="666"/>
                </a:cubicBezTo>
                <a:close/>
                <a:moveTo>
                  <a:pt x="304610" y="0"/>
                </a:moveTo>
                <a:cubicBezTo>
                  <a:pt x="322326" y="0"/>
                  <a:pt x="336804" y="14478"/>
                  <a:pt x="336804" y="32195"/>
                </a:cubicBezTo>
                <a:cubicBezTo>
                  <a:pt x="336804" y="49911"/>
                  <a:pt x="322326" y="64389"/>
                  <a:pt x="304610" y="64389"/>
                </a:cubicBezTo>
                <a:cubicBezTo>
                  <a:pt x="286893" y="64389"/>
                  <a:pt x="272415" y="50006"/>
                  <a:pt x="272415" y="32195"/>
                </a:cubicBezTo>
                <a:cubicBezTo>
                  <a:pt x="272415" y="14478"/>
                  <a:pt x="286798" y="0"/>
                  <a:pt x="304610" y="0"/>
                </a:cubicBezTo>
                <a:close/>
              </a:path>
            </a:pathLst>
          </a:custGeom>
          <a:gradFill>
            <a:gsLst>
              <a:gs pos="68000">
                <a:schemeClr val="accent1"/>
              </a:gs>
              <a:gs pos="0">
                <a:schemeClr val="accent1">
                  <a:lumMod val="70000"/>
                  <a:lumOff val="30000"/>
                  <a:alpha val="0"/>
                </a:schemeClr>
              </a:gs>
            </a:gsLst>
            <a:lin ang="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4" name="熊大的PPT宝库80"/>
          <p:cNvSpPr/>
          <p:nvPr/>
        </p:nvSpPr>
        <p:spPr>
          <a:xfrm rot="16200000" flipH="1">
            <a:off x="193774" y="3085475"/>
            <a:ext cx="991000" cy="499230"/>
          </a:xfrm>
          <a:prstGeom prst="round2SameRect">
            <a:avLst>
              <a:gd name="adj1" fmla="val 14759"/>
              <a:gd name="adj2" fmla="val 0"/>
            </a:avLst>
          </a:prstGeom>
          <a:gradFill flip="none" rotWithShape="0">
            <a:gsLst>
              <a:gs pos="100000">
                <a:schemeClr val="accent1"/>
              </a:gs>
              <a:gs pos="0">
                <a:schemeClr val="accent1"/>
              </a:gs>
            </a:gsLst>
            <a:lin ang="5400000" scaled="1"/>
            <a:tileRect/>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7" name="熊大的PPT宝库81"/>
          <p:cNvSpPr>
            <a:spLocks noEditPoints="1"/>
          </p:cNvSpPr>
          <p:nvPr/>
        </p:nvSpPr>
        <p:spPr bwMode="auto">
          <a:xfrm>
            <a:off x="10672908" y="1913865"/>
            <a:ext cx="312738" cy="287337"/>
          </a:xfrm>
          <a:custGeom>
            <a:avLst/>
            <a:gdLst>
              <a:gd name="T0" fmla="*/ 94 w 192"/>
              <a:gd name="T1" fmla="*/ 120 h 176"/>
              <a:gd name="T2" fmla="*/ 76 w 192"/>
              <a:gd name="T3" fmla="*/ 110 h 176"/>
              <a:gd name="T4" fmla="*/ 73 w 192"/>
              <a:gd name="T5" fmla="*/ 107 h 176"/>
              <a:gd name="T6" fmla="*/ 77 w 192"/>
              <a:gd name="T7" fmla="*/ 101 h 176"/>
              <a:gd name="T8" fmla="*/ 84 w 192"/>
              <a:gd name="T9" fmla="*/ 84 h 176"/>
              <a:gd name="T10" fmla="*/ 66 w 192"/>
              <a:gd name="T11" fmla="*/ 68 h 176"/>
              <a:gd name="T12" fmla="*/ 48 w 192"/>
              <a:gd name="T13" fmla="*/ 84 h 176"/>
              <a:gd name="T14" fmla="*/ 55 w 192"/>
              <a:gd name="T15" fmla="*/ 102 h 176"/>
              <a:gd name="T16" fmla="*/ 59 w 192"/>
              <a:gd name="T17" fmla="*/ 107 h 176"/>
              <a:gd name="T18" fmla="*/ 56 w 192"/>
              <a:gd name="T19" fmla="*/ 111 h 176"/>
              <a:gd name="T20" fmla="*/ 38 w 192"/>
              <a:gd name="T21" fmla="*/ 120 h 176"/>
              <a:gd name="T22" fmla="*/ 36 w 192"/>
              <a:gd name="T23" fmla="*/ 126 h 176"/>
              <a:gd name="T24" fmla="*/ 36 w 192"/>
              <a:gd name="T25" fmla="*/ 134 h 176"/>
              <a:gd name="T26" fmla="*/ 42 w 192"/>
              <a:gd name="T27" fmla="*/ 140 h 176"/>
              <a:gd name="T28" fmla="*/ 90 w 192"/>
              <a:gd name="T29" fmla="*/ 140 h 176"/>
              <a:gd name="T30" fmla="*/ 96 w 192"/>
              <a:gd name="T31" fmla="*/ 134 h 176"/>
              <a:gd name="T32" fmla="*/ 96 w 192"/>
              <a:gd name="T33" fmla="*/ 126 h 176"/>
              <a:gd name="T34" fmla="*/ 94 w 192"/>
              <a:gd name="T35" fmla="*/ 120 h 176"/>
              <a:gd name="T36" fmla="*/ 142 w 192"/>
              <a:gd name="T37" fmla="*/ 76 h 176"/>
              <a:gd name="T38" fmla="*/ 122 w 192"/>
              <a:gd name="T39" fmla="*/ 76 h 176"/>
              <a:gd name="T40" fmla="*/ 112 w 192"/>
              <a:gd name="T41" fmla="*/ 86 h 176"/>
              <a:gd name="T42" fmla="*/ 122 w 192"/>
              <a:gd name="T43" fmla="*/ 96 h 176"/>
              <a:gd name="T44" fmla="*/ 142 w 192"/>
              <a:gd name="T45" fmla="*/ 96 h 176"/>
              <a:gd name="T46" fmla="*/ 152 w 192"/>
              <a:gd name="T47" fmla="*/ 86 h 176"/>
              <a:gd name="T48" fmla="*/ 142 w 192"/>
              <a:gd name="T49" fmla="*/ 76 h 176"/>
              <a:gd name="T50" fmla="*/ 142 w 192"/>
              <a:gd name="T51" fmla="*/ 112 h 176"/>
              <a:gd name="T52" fmla="*/ 122 w 192"/>
              <a:gd name="T53" fmla="*/ 112 h 176"/>
              <a:gd name="T54" fmla="*/ 112 w 192"/>
              <a:gd name="T55" fmla="*/ 122 h 176"/>
              <a:gd name="T56" fmla="*/ 122 w 192"/>
              <a:gd name="T57" fmla="*/ 132 h 176"/>
              <a:gd name="T58" fmla="*/ 142 w 192"/>
              <a:gd name="T59" fmla="*/ 132 h 176"/>
              <a:gd name="T60" fmla="*/ 152 w 192"/>
              <a:gd name="T61" fmla="*/ 122 h 176"/>
              <a:gd name="T62" fmla="*/ 142 w 192"/>
              <a:gd name="T63" fmla="*/ 112 h 176"/>
              <a:gd name="T64" fmla="*/ 0 w 192"/>
              <a:gd name="T65" fmla="*/ 160 h 176"/>
              <a:gd name="T66" fmla="*/ 16 w 192"/>
              <a:gd name="T67" fmla="*/ 176 h 176"/>
              <a:gd name="T68" fmla="*/ 176 w 192"/>
              <a:gd name="T69" fmla="*/ 176 h 176"/>
              <a:gd name="T70" fmla="*/ 192 w 192"/>
              <a:gd name="T71" fmla="*/ 160 h 176"/>
              <a:gd name="T72" fmla="*/ 192 w 192"/>
              <a:gd name="T73" fmla="*/ 32 h 176"/>
              <a:gd name="T74" fmla="*/ 176 w 192"/>
              <a:gd name="T75" fmla="*/ 16 h 176"/>
              <a:gd name="T76" fmla="*/ 128 w 192"/>
              <a:gd name="T77" fmla="*/ 16 h 176"/>
              <a:gd name="T78" fmla="*/ 128 w 192"/>
              <a:gd name="T79" fmla="*/ 9 h 176"/>
              <a:gd name="T80" fmla="*/ 119 w 192"/>
              <a:gd name="T81" fmla="*/ 0 h 176"/>
              <a:gd name="T82" fmla="*/ 73 w 192"/>
              <a:gd name="T83" fmla="*/ 0 h 176"/>
              <a:gd name="T84" fmla="*/ 64 w 192"/>
              <a:gd name="T85" fmla="*/ 9 h 176"/>
              <a:gd name="T86" fmla="*/ 64 w 192"/>
              <a:gd name="T87" fmla="*/ 16 h 176"/>
              <a:gd name="T88" fmla="*/ 16 w 192"/>
              <a:gd name="T89" fmla="*/ 16 h 176"/>
              <a:gd name="T90" fmla="*/ 0 w 192"/>
              <a:gd name="T91" fmla="*/ 32 h 176"/>
              <a:gd name="T92" fmla="*/ 0 w 192"/>
              <a:gd name="T93" fmla="*/ 160 h 176"/>
              <a:gd name="T94" fmla="*/ 29 w 192"/>
              <a:gd name="T95" fmla="*/ 36 h 176"/>
              <a:gd name="T96" fmla="*/ 64 w 192"/>
              <a:gd name="T97" fmla="*/ 36 h 176"/>
              <a:gd name="T98" fmla="*/ 64 w 192"/>
              <a:gd name="T99" fmla="*/ 43 h 176"/>
              <a:gd name="T100" fmla="*/ 73 w 192"/>
              <a:gd name="T101" fmla="*/ 52 h 176"/>
              <a:gd name="T102" fmla="*/ 119 w 192"/>
              <a:gd name="T103" fmla="*/ 52 h 176"/>
              <a:gd name="T104" fmla="*/ 128 w 192"/>
              <a:gd name="T105" fmla="*/ 43 h 176"/>
              <a:gd name="T106" fmla="*/ 128 w 192"/>
              <a:gd name="T107" fmla="*/ 36 h 176"/>
              <a:gd name="T108" fmla="*/ 163 w 192"/>
              <a:gd name="T109" fmla="*/ 36 h 176"/>
              <a:gd name="T110" fmla="*/ 172 w 192"/>
              <a:gd name="T111" fmla="*/ 45 h 176"/>
              <a:gd name="T112" fmla="*/ 172 w 192"/>
              <a:gd name="T113" fmla="*/ 147 h 176"/>
              <a:gd name="T114" fmla="*/ 163 w 192"/>
              <a:gd name="T115" fmla="*/ 156 h 176"/>
              <a:gd name="T116" fmla="*/ 29 w 192"/>
              <a:gd name="T117" fmla="*/ 156 h 176"/>
              <a:gd name="T118" fmla="*/ 20 w 192"/>
              <a:gd name="T119" fmla="*/ 147 h 176"/>
              <a:gd name="T120" fmla="*/ 20 w 192"/>
              <a:gd name="T121" fmla="*/ 45 h 176"/>
              <a:gd name="T122" fmla="*/ 29 w 192"/>
              <a:gd name="T123" fmla="*/ 3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92" h="176">
                <a:moveTo>
                  <a:pt x="94" y="120"/>
                </a:moveTo>
                <a:cubicBezTo>
                  <a:pt x="90" y="114"/>
                  <a:pt x="86" y="111"/>
                  <a:pt x="76" y="110"/>
                </a:cubicBezTo>
                <a:cubicBezTo>
                  <a:pt x="74" y="110"/>
                  <a:pt x="73" y="109"/>
                  <a:pt x="73" y="107"/>
                </a:cubicBezTo>
                <a:cubicBezTo>
                  <a:pt x="73" y="105"/>
                  <a:pt x="77" y="102"/>
                  <a:pt x="77" y="101"/>
                </a:cubicBezTo>
                <a:cubicBezTo>
                  <a:pt x="82" y="97"/>
                  <a:pt x="84" y="90"/>
                  <a:pt x="84" y="84"/>
                </a:cubicBezTo>
                <a:cubicBezTo>
                  <a:pt x="84" y="75"/>
                  <a:pt x="76" y="68"/>
                  <a:pt x="66" y="68"/>
                </a:cubicBezTo>
                <a:cubicBezTo>
                  <a:pt x="56" y="68"/>
                  <a:pt x="48" y="75"/>
                  <a:pt x="48" y="84"/>
                </a:cubicBezTo>
                <a:cubicBezTo>
                  <a:pt x="48" y="90"/>
                  <a:pt x="50" y="97"/>
                  <a:pt x="55" y="102"/>
                </a:cubicBezTo>
                <a:cubicBezTo>
                  <a:pt x="55" y="102"/>
                  <a:pt x="59" y="105"/>
                  <a:pt x="59" y="107"/>
                </a:cubicBezTo>
                <a:cubicBezTo>
                  <a:pt x="59" y="109"/>
                  <a:pt x="58" y="110"/>
                  <a:pt x="56" y="111"/>
                </a:cubicBezTo>
                <a:cubicBezTo>
                  <a:pt x="46" y="111"/>
                  <a:pt x="42" y="114"/>
                  <a:pt x="38" y="120"/>
                </a:cubicBezTo>
                <a:cubicBezTo>
                  <a:pt x="37" y="122"/>
                  <a:pt x="36" y="125"/>
                  <a:pt x="36" y="126"/>
                </a:cubicBezTo>
                <a:cubicBezTo>
                  <a:pt x="36" y="134"/>
                  <a:pt x="36" y="134"/>
                  <a:pt x="36" y="134"/>
                </a:cubicBezTo>
                <a:cubicBezTo>
                  <a:pt x="36" y="137"/>
                  <a:pt x="39" y="140"/>
                  <a:pt x="42" y="140"/>
                </a:cubicBezTo>
                <a:cubicBezTo>
                  <a:pt x="90" y="140"/>
                  <a:pt x="90" y="140"/>
                  <a:pt x="90" y="140"/>
                </a:cubicBezTo>
                <a:cubicBezTo>
                  <a:pt x="93" y="140"/>
                  <a:pt x="96" y="137"/>
                  <a:pt x="96" y="134"/>
                </a:cubicBezTo>
                <a:cubicBezTo>
                  <a:pt x="96" y="126"/>
                  <a:pt x="96" y="126"/>
                  <a:pt x="96" y="126"/>
                </a:cubicBezTo>
                <a:cubicBezTo>
                  <a:pt x="96" y="125"/>
                  <a:pt x="95" y="122"/>
                  <a:pt x="94" y="120"/>
                </a:cubicBezTo>
                <a:close/>
                <a:moveTo>
                  <a:pt x="142" y="76"/>
                </a:moveTo>
                <a:cubicBezTo>
                  <a:pt x="122" y="76"/>
                  <a:pt x="122" y="76"/>
                  <a:pt x="122" y="76"/>
                </a:cubicBezTo>
                <a:cubicBezTo>
                  <a:pt x="116" y="76"/>
                  <a:pt x="112" y="80"/>
                  <a:pt x="112" y="86"/>
                </a:cubicBezTo>
                <a:cubicBezTo>
                  <a:pt x="112" y="92"/>
                  <a:pt x="116" y="96"/>
                  <a:pt x="122" y="96"/>
                </a:cubicBezTo>
                <a:cubicBezTo>
                  <a:pt x="142" y="96"/>
                  <a:pt x="142" y="96"/>
                  <a:pt x="142" y="96"/>
                </a:cubicBezTo>
                <a:cubicBezTo>
                  <a:pt x="148" y="96"/>
                  <a:pt x="152" y="92"/>
                  <a:pt x="152" y="86"/>
                </a:cubicBezTo>
                <a:cubicBezTo>
                  <a:pt x="152" y="80"/>
                  <a:pt x="148" y="76"/>
                  <a:pt x="142" y="76"/>
                </a:cubicBezTo>
                <a:close/>
                <a:moveTo>
                  <a:pt x="142" y="112"/>
                </a:moveTo>
                <a:cubicBezTo>
                  <a:pt x="122" y="112"/>
                  <a:pt x="122" y="112"/>
                  <a:pt x="122" y="112"/>
                </a:cubicBezTo>
                <a:cubicBezTo>
                  <a:pt x="116" y="112"/>
                  <a:pt x="112" y="116"/>
                  <a:pt x="112" y="122"/>
                </a:cubicBezTo>
                <a:cubicBezTo>
                  <a:pt x="112" y="128"/>
                  <a:pt x="116" y="132"/>
                  <a:pt x="122" y="132"/>
                </a:cubicBezTo>
                <a:cubicBezTo>
                  <a:pt x="142" y="132"/>
                  <a:pt x="142" y="132"/>
                  <a:pt x="142" y="132"/>
                </a:cubicBezTo>
                <a:cubicBezTo>
                  <a:pt x="148" y="132"/>
                  <a:pt x="152" y="128"/>
                  <a:pt x="152" y="122"/>
                </a:cubicBezTo>
                <a:cubicBezTo>
                  <a:pt x="152" y="116"/>
                  <a:pt x="148" y="112"/>
                  <a:pt x="142" y="112"/>
                </a:cubicBezTo>
                <a:close/>
                <a:moveTo>
                  <a:pt x="0" y="160"/>
                </a:moveTo>
                <a:cubicBezTo>
                  <a:pt x="0" y="169"/>
                  <a:pt x="7" y="176"/>
                  <a:pt x="16" y="176"/>
                </a:cubicBezTo>
                <a:cubicBezTo>
                  <a:pt x="176" y="176"/>
                  <a:pt x="176" y="176"/>
                  <a:pt x="176" y="176"/>
                </a:cubicBezTo>
                <a:cubicBezTo>
                  <a:pt x="185" y="176"/>
                  <a:pt x="192" y="169"/>
                  <a:pt x="192" y="160"/>
                </a:cubicBezTo>
                <a:cubicBezTo>
                  <a:pt x="192" y="32"/>
                  <a:pt x="192" y="32"/>
                  <a:pt x="192" y="32"/>
                </a:cubicBezTo>
                <a:cubicBezTo>
                  <a:pt x="192" y="23"/>
                  <a:pt x="185" y="16"/>
                  <a:pt x="176" y="16"/>
                </a:cubicBezTo>
                <a:cubicBezTo>
                  <a:pt x="128" y="16"/>
                  <a:pt x="128" y="16"/>
                  <a:pt x="128" y="16"/>
                </a:cubicBezTo>
                <a:cubicBezTo>
                  <a:pt x="128" y="9"/>
                  <a:pt x="128" y="9"/>
                  <a:pt x="128" y="9"/>
                </a:cubicBezTo>
                <a:cubicBezTo>
                  <a:pt x="128" y="4"/>
                  <a:pt x="124" y="0"/>
                  <a:pt x="119" y="0"/>
                </a:cubicBezTo>
                <a:cubicBezTo>
                  <a:pt x="73" y="0"/>
                  <a:pt x="73" y="0"/>
                  <a:pt x="73" y="0"/>
                </a:cubicBezTo>
                <a:cubicBezTo>
                  <a:pt x="68" y="0"/>
                  <a:pt x="64" y="4"/>
                  <a:pt x="64" y="9"/>
                </a:cubicBezTo>
                <a:cubicBezTo>
                  <a:pt x="64" y="16"/>
                  <a:pt x="64" y="16"/>
                  <a:pt x="64" y="16"/>
                </a:cubicBezTo>
                <a:cubicBezTo>
                  <a:pt x="16" y="16"/>
                  <a:pt x="16" y="16"/>
                  <a:pt x="16" y="16"/>
                </a:cubicBezTo>
                <a:cubicBezTo>
                  <a:pt x="7" y="16"/>
                  <a:pt x="0" y="23"/>
                  <a:pt x="0" y="32"/>
                </a:cubicBezTo>
                <a:lnTo>
                  <a:pt x="0" y="160"/>
                </a:lnTo>
                <a:close/>
                <a:moveTo>
                  <a:pt x="29" y="36"/>
                </a:moveTo>
                <a:cubicBezTo>
                  <a:pt x="64" y="36"/>
                  <a:pt x="64" y="36"/>
                  <a:pt x="64" y="36"/>
                </a:cubicBezTo>
                <a:cubicBezTo>
                  <a:pt x="64" y="43"/>
                  <a:pt x="64" y="43"/>
                  <a:pt x="64" y="43"/>
                </a:cubicBezTo>
                <a:cubicBezTo>
                  <a:pt x="64" y="48"/>
                  <a:pt x="68" y="52"/>
                  <a:pt x="73" y="52"/>
                </a:cubicBezTo>
                <a:cubicBezTo>
                  <a:pt x="119" y="52"/>
                  <a:pt x="119" y="52"/>
                  <a:pt x="119" y="52"/>
                </a:cubicBezTo>
                <a:cubicBezTo>
                  <a:pt x="124" y="52"/>
                  <a:pt x="128" y="48"/>
                  <a:pt x="128" y="43"/>
                </a:cubicBezTo>
                <a:cubicBezTo>
                  <a:pt x="128" y="36"/>
                  <a:pt x="128" y="36"/>
                  <a:pt x="128" y="36"/>
                </a:cubicBezTo>
                <a:cubicBezTo>
                  <a:pt x="163" y="36"/>
                  <a:pt x="163" y="36"/>
                  <a:pt x="163" y="36"/>
                </a:cubicBezTo>
                <a:cubicBezTo>
                  <a:pt x="168" y="36"/>
                  <a:pt x="172" y="40"/>
                  <a:pt x="172" y="45"/>
                </a:cubicBezTo>
                <a:cubicBezTo>
                  <a:pt x="172" y="147"/>
                  <a:pt x="172" y="147"/>
                  <a:pt x="172" y="147"/>
                </a:cubicBezTo>
                <a:cubicBezTo>
                  <a:pt x="172" y="152"/>
                  <a:pt x="168" y="156"/>
                  <a:pt x="163" y="156"/>
                </a:cubicBezTo>
                <a:cubicBezTo>
                  <a:pt x="29" y="156"/>
                  <a:pt x="29" y="156"/>
                  <a:pt x="29" y="156"/>
                </a:cubicBezTo>
                <a:cubicBezTo>
                  <a:pt x="24" y="156"/>
                  <a:pt x="20" y="152"/>
                  <a:pt x="20" y="147"/>
                </a:cubicBezTo>
                <a:cubicBezTo>
                  <a:pt x="20" y="45"/>
                  <a:pt x="20" y="45"/>
                  <a:pt x="20" y="45"/>
                </a:cubicBezTo>
                <a:cubicBezTo>
                  <a:pt x="20" y="40"/>
                  <a:pt x="24" y="36"/>
                  <a:pt x="29" y="36"/>
                </a:cubicBezTo>
                <a:close/>
              </a:path>
            </a:pathLst>
          </a:custGeom>
          <a:gradFill>
            <a:gsLst>
              <a:gs pos="0">
                <a:schemeClr val="accent1">
                  <a:lumMod val="20000"/>
                  <a:lumOff val="80000"/>
                </a:schemeClr>
              </a:gs>
              <a:gs pos="100000">
                <a:schemeClr val="accent1"/>
              </a:gs>
            </a:gsLst>
            <a:lin ang="2700000" scaled="0"/>
          </a:gra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 name="熊大的PPT宝库82"/>
          <p:cNvSpPr>
            <a:spLocks noEditPoints="1"/>
          </p:cNvSpPr>
          <p:nvPr/>
        </p:nvSpPr>
        <p:spPr bwMode="auto">
          <a:xfrm>
            <a:off x="8873774" y="1885290"/>
            <a:ext cx="315913" cy="315912"/>
          </a:xfrm>
          <a:custGeom>
            <a:avLst/>
            <a:gdLst>
              <a:gd name="T0" fmla="*/ 138 w 194"/>
              <a:gd name="T1" fmla="*/ 46 h 194"/>
              <a:gd name="T2" fmla="*/ 148 w 194"/>
              <a:gd name="T3" fmla="*/ 56 h 194"/>
              <a:gd name="T4" fmla="*/ 158 w 194"/>
              <a:gd name="T5" fmla="*/ 46 h 194"/>
              <a:gd name="T6" fmla="*/ 148 w 194"/>
              <a:gd name="T7" fmla="*/ 36 h 194"/>
              <a:gd name="T8" fmla="*/ 138 w 194"/>
              <a:gd name="T9" fmla="*/ 46 h 194"/>
              <a:gd name="T10" fmla="*/ 68 w 194"/>
              <a:gd name="T11" fmla="*/ 187 h 194"/>
              <a:gd name="T12" fmla="*/ 90 w 194"/>
              <a:gd name="T13" fmla="*/ 187 h 194"/>
              <a:gd name="T14" fmla="*/ 188 w 194"/>
              <a:gd name="T15" fmla="*/ 90 h 194"/>
              <a:gd name="T16" fmla="*/ 194 w 194"/>
              <a:gd name="T17" fmla="*/ 76 h 194"/>
              <a:gd name="T18" fmla="*/ 194 w 194"/>
              <a:gd name="T19" fmla="*/ 20 h 194"/>
              <a:gd name="T20" fmla="*/ 174 w 194"/>
              <a:gd name="T21" fmla="*/ 0 h 194"/>
              <a:gd name="T22" fmla="*/ 118 w 194"/>
              <a:gd name="T23" fmla="*/ 0 h 194"/>
              <a:gd name="T24" fmla="*/ 104 w 194"/>
              <a:gd name="T25" fmla="*/ 6 h 194"/>
              <a:gd name="T26" fmla="*/ 7 w 194"/>
              <a:gd name="T27" fmla="*/ 104 h 194"/>
              <a:gd name="T28" fmla="*/ 7 w 194"/>
              <a:gd name="T29" fmla="*/ 126 h 194"/>
              <a:gd name="T30" fmla="*/ 68 w 194"/>
              <a:gd name="T31" fmla="*/ 187 h 194"/>
              <a:gd name="T32" fmla="*/ 122 w 194"/>
              <a:gd name="T33" fmla="*/ 46 h 194"/>
              <a:gd name="T34" fmla="*/ 148 w 194"/>
              <a:gd name="T35" fmla="*/ 20 h 194"/>
              <a:gd name="T36" fmla="*/ 174 w 194"/>
              <a:gd name="T37" fmla="*/ 46 h 194"/>
              <a:gd name="T38" fmla="*/ 148 w 194"/>
              <a:gd name="T39" fmla="*/ 72 h 194"/>
              <a:gd name="T40" fmla="*/ 122 w 194"/>
              <a:gd name="T41" fmla="*/ 46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4" h="194">
                <a:moveTo>
                  <a:pt x="138" y="46"/>
                </a:moveTo>
                <a:cubicBezTo>
                  <a:pt x="138" y="52"/>
                  <a:pt x="142" y="56"/>
                  <a:pt x="148" y="56"/>
                </a:cubicBezTo>
                <a:cubicBezTo>
                  <a:pt x="154" y="56"/>
                  <a:pt x="158" y="52"/>
                  <a:pt x="158" y="46"/>
                </a:cubicBezTo>
                <a:cubicBezTo>
                  <a:pt x="158" y="40"/>
                  <a:pt x="154" y="36"/>
                  <a:pt x="148" y="36"/>
                </a:cubicBezTo>
                <a:cubicBezTo>
                  <a:pt x="142" y="36"/>
                  <a:pt x="138" y="40"/>
                  <a:pt x="138" y="46"/>
                </a:cubicBezTo>
                <a:close/>
                <a:moveTo>
                  <a:pt x="68" y="187"/>
                </a:moveTo>
                <a:cubicBezTo>
                  <a:pt x="74" y="194"/>
                  <a:pt x="84" y="194"/>
                  <a:pt x="90" y="187"/>
                </a:cubicBezTo>
                <a:cubicBezTo>
                  <a:pt x="188" y="90"/>
                  <a:pt x="188" y="90"/>
                  <a:pt x="188" y="90"/>
                </a:cubicBezTo>
                <a:cubicBezTo>
                  <a:pt x="192" y="86"/>
                  <a:pt x="194" y="81"/>
                  <a:pt x="194" y="76"/>
                </a:cubicBezTo>
                <a:cubicBezTo>
                  <a:pt x="194" y="20"/>
                  <a:pt x="194" y="20"/>
                  <a:pt x="194" y="20"/>
                </a:cubicBezTo>
                <a:cubicBezTo>
                  <a:pt x="194" y="9"/>
                  <a:pt x="185" y="0"/>
                  <a:pt x="174" y="0"/>
                </a:cubicBezTo>
                <a:cubicBezTo>
                  <a:pt x="118" y="0"/>
                  <a:pt x="118" y="0"/>
                  <a:pt x="118" y="0"/>
                </a:cubicBezTo>
                <a:cubicBezTo>
                  <a:pt x="113" y="0"/>
                  <a:pt x="108" y="2"/>
                  <a:pt x="104" y="6"/>
                </a:cubicBezTo>
                <a:cubicBezTo>
                  <a:pt x="7" y="104"/>
                  <a:pt x="7" y="104"/>
                  <a:pt x="7" y="104"/>
                </a:cubicBezTo>
                <a:cubicBezTo>
                  <a:pt x="0" y="110"/>
                  <a:pt x="0" y="120"/>
                  <a:pt x="7" y="126"/>
                </a:cubicBezTo>
                <a:lnTo>
                  <a:pt x="68" y="187"/>
                </a:lnTo>
                <a:close/>
                <a:moveTo>
                  <a:pt x="122" y="46"/>
                </a:moveTo>
                <a:cubicBezTo>
                  <a:pt x="122" y="32"/>
                  <a:pt x="134" y="20"/>
                  <a:pt x="148" y="20"/>
                </a:cubicBezTo>
                <a:cubicBezTo>
                  <a:pt x="162" y="20"/>
                  <a:pt x="174" y="32"/>
                  <a:pt x="174" y="46"/>
                </a:cubicBezTo>
                <a:cubicBezTo>
                  <a:pt x="174" y="60"/>
                  <a:pt x="162" y="72"/>
                  <a:pt x="148" y="72"/>
                </a:cubicBezTo>
                <a:cubicBezTo>
                  <a:pt x="134" y="72"/>
                  <a:pt x="122" y="60"/>
                  <a:pt x="122" y="46"/>
                </a:cubicBezTo>
                <a:close/>
              </a:path>
            </a:pathLst>
          </a:custGeom>
          <a:gradFill>
            <a:gsLst>
              <a:gs pos="0">
                <a:schemeClr val="accent1">
                  <a:lumMod val="20000"/>
                  <a:lumOff val="80000"/>
                </a:schemeClr>
              </a:gs>
              <a:gs pos="100000">
                <a:schemeClr val="accent1"/>
              </a:gs>
            </a:gsLst>
            <a:lin ang="2700000" scaled="0"/>
          </a:gra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black"/>
              </a:solidFill>
              <a:effectLst/>
              <a:uLnTx/>
              <a:uFillTx/>
              <a:cs typeface="+mn-ea"/>
              <a:sym typeface="+mn-lt"/>
            </a:endParaRPr>
          </a:p>
        </p:txBody>
      </p:sp>
      <p:sp>
        <p:nvSpPr>
          <p:cNvPr id="165" name="熊大的PPT宝库83"/>
          <p:cNvSpPr txBox="1"/>
          <p:nvPr/>
        </p:nvSpPr>
        <p:spPr>
          <a:xfrm>
            <a:off x="1874149" y="1365660"/>
            <a:ext cx="3381054" cy="369332"/>
          </a:xfrm>
          <a:prstGeom prst="rect">
            <a:avLst/>
          </a:prstGeom>
          <a:noFill/>
        </p:spPr>
        <p:txBody>
          <a:bodyPr wrap="none">
            <a:spAutoFit/>
          </a:bodyPr>
          <a:lstStyle>
            <a:defPPr>
              <a:defRPr lang="zh-CN"/>
            </a:defPPr>
            <a:lvl1pPr marR="0" lvl="0" indent="0" algn="ctr" fontAlgn="auto">
              <a:lnSpc>
                <a:spcPct val="100000"/>
              </a:lnSpc>
              <a:spcBef>
                <a:spcPts val="0"/>
              </a:spcBef>
              <a:spcAft>
                <a:spcPts val="0"/>
              </a:spcAft>
              <a:buClrTx/>
              <a:buSzTx/>
              <a:buFontTx/>
              <a:buNone/>
              <a:defRPr kumimoji="0" b="1" i="0" u="none" strike="noStrike" cap="none" spc="0" normalizeH="0" baseline="0">
                <a:ln>
                  <a:noFill/>
                </a:ln>
                <a:gradFill>
                  <a:gsLst>
                    <a:gs pos="100000">
                      <a:srgbClr val="00367A"/>
                    </a:gs>
                    <a:gs pos="0">
                      <a:srgbClr val="176CC4"/>
                    </a:gs>
                  </a:gsLst>
                  <a:lin ang="2700000" scaled="0"/>
                </a:gradFill>
                <a:effectLst/>
                <a:uLnTx/>
                <a:uFillTx/>
                <a:latin typeface="Roboto" panose="02000000000000000000"/>
                <a:ea typeface="HarmonyOS Sans SC" panose="00000500000000000000"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329D"/>
                </a:solidFill>
                <a:effectLst/>
                <a:uLnTx/>
                <a:uFillTx/>
                <a:latin typeface="+mn-lt"/>
                <a:ea typeface="+mn-ea"/>
                <a:cs typeface="+mn-ea"/>
                <a:sym typeface="+mn-lt"/>
              </a:rPr>
              <a:t>AI+</a:t>
            </a:r>
            <a:r>
              <a:rPr kumimoji="0" lang="zh-CN" altLang="en-US" sz="1800" b="0" i="0" u="none" strike="noStrike" kern="1200" cap="none" spc="0" normalizeH="0" baseline="0" noProof="0" dirty="0">
                <a:ln>
                  <a:noFill/>
                </a:ln>
                <a:solidFill>
                  <a:srgbClr val="00329D"/>
                </a:solidFill>
                <a:effectLst/>
                <a:uLnTx/>
                <a:uFillTx/>
                <a:latin typeface="+mn-lt"/>
                <a:ea typeface="+mn-ea"/>
                <a:cs typeface="+mn-ea"/>
                <a:sym typeface="+mn-lt"/>
              </a:rPr>
              <a:t>医学影像新型诊疗系统形态</a:t>
            </a:r>
          </a:p>
        </p:txBody>
      </p:sp>
      <p:sp>
        <p:nvSpPr>
          <p:cNvPr id="167" name="熊大的PPT宝库84"/>
          <p:cNvSpPr txBox="1"/>
          <p:nvPr/>
        </p:nvSpPr>
        <p:spPr>
          <a:xfrm>
            <a:off x="1103166" y="2221737"/>
            <a:ext cx="1531188" cy="32316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500" b="0" i="0" u="none" strike="noStrike" kern="1200" cap="none" spc="0" normalizeH="0" baseline="0" noProof="0" dirty="0">
                <a:ln>
                  <a:noFill/>
                </a:ln>
                <a:solidFill>
                  <a:srgbClr val="44546A"/>
                </a:solidFill>
                <a:effectLst/>
                <a:uLnTx/>
                <a:uFillTx/>
                <a:cs typeface="+mn-ea"/>
                <a:sym typeface="+mn-lt"/>
              </a:rPr>
              <a:t>影像数据易获取</a:t>
            </a:r>
          </a:p>
        </p:txBody>
      </p:sp>
      <p:sp>
        <p:nvSpPr>
          <p:cNvPr id="168" name="熊大的PPT宝库85"/>
          <p:cNvSpPr txBox="1"/>
          <p:nvPr/>
        </p:nvSpPr>
        <p:spPr>
          <a:xfrm>
            <a:off x="2799082" y="2221737"/>
            <a:ext cx="1531188" cy="32316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500" b="0" i="0" u="none" strike="noStrike" kern="1200" cap="none" spc="0" normalizeH="0" baseline="0" noProof="0" dirty="0">
                <a:ln>
                  <a:noFill/>
                </a:ln>
                <a:solidFill>
                  <a:srgbClr val="44546A"/>
                </a:solidFill>
                <a:effectLst/>
                <a:uLnTx/>
                <a:uFillTx/>
                <a:cs typeface="+mn-ea"/>
                <a:sym typeface="+mn-lt"/>
              </a:rPr>
              <a:t>影像数据易处理</a:t>
            </a:r>
          </a:p>
        </p:txBody>
      </p:sp>
      <p:sp>
        <p:nvSpPr>
          <p:cNvPr id="169" name="熊大的PPT宝库86"/>
          <p:cNvSpPr txBox="1"/>
          <p:nvPr/>
        </p:nvSpPr>
        <p:spPr>
          <a:xfrm>
            <a:off x="4386511" y="2226147"/>
            <a:ext cx="1723549" cy="32316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500" b="0" i="0" u="none" strike="noStrike" kern="1200" cap="none" spc="0" normalizeH="0" baseline="0" noProof="0" dirty="0">
                <a:ln>
                  <a:noFill/>
                </a:ln>
                <a:solidFill>
                  <a:srgbClr val="44546A"/>
                </a:solidFill>
                <a:effectLst/>
                <a:uLnTx/>
                <a:uFillTx/>
                <a:cs typeface="+mn-ea"/>
                <a:sym typeface="+mn-lt"/>
              </a:rPr>
              <a:t>提升服务品质效率</a:t>
            </a:r>
          </a:p>
        </p:txBody>
      </p:sp>
      <p:sp>
        <p:nvSpPr>
          <p:cNvPr id="5" name="熊大的PPT宝库87"/>
          <p:cNvSpPr>
            <a:spLocks noEditPoints="1"/>
          </p:cNvSpPr>
          <p:nvPr/>
        </p:nvSpPr>
        <p:spPr bwMode="auto">
          <a:xfrm>
            <a:off x="3411482" y="1894815"/>
            <a:ext cx="306388" cy="306387"/>
          </a:xfrm>
          <a:custGeom>
            <a:avLst/>
            <a:gdLst>
              <a:gd name="T0" fmla="*/ 84 w 188"/>
              <a:gd name="T1" fmla="*/ 10 h 188"/>
              <a:gd name="T2" fmla="*/ 68 w 188"/>
              <a:gd name="T3" fmla="*/ 29 h 188"/>
              <a:gd name="T4" fmla="*/ 47 w 188"/>
              <a:gd name="T5" fmla="*/ 13 h 188"/>
              <a:gd name="T6" fmla="*/ 51 w 188"/>
              <a:gd name="T7" fmla="*/ 39 h 188"/>
              <a:gd name="T8" fmla="*/ 26 w 188"/>
              <a:gd name="T9" fmla="*/ 43 h 188"/>
              <a:gd name="T10" fmla="*/ 16 w 188"/>
              <a:gd name="T11" fmla="*/ 61 h 188"/>
              <a:gd name="T12" fmla="*/ 25 w 188"/>
              <a:gd name="T13" fmla="*/ 84 h 188"/>
              <a:gd name="T14" fmla="*/ 0 w 188"/>
              <a:gd name="T15" fmla="*/ 94 h 188"/>
              <a:gd name="T16" fmla="*/ 25 w 188"/>
              <a:gd name="T17" fmla="*/ 104 h 188"/>
              <a:gd name="T18" fmla="*/ 16 w 188"/>
              <a:gd name="T19" fmla="*/ 127 h 188"/>
              <a:gd name="T20" fmla="*/ 26 w 188"/>
              <a:gd name="T21" fmla="*/ 145 h 188"/>
              <a:gd name="T22" fmla="*/ 51 w 188"/>
              <a:gd name="T23" fmla="*/ 149 h 188"/>
              <a:gd name="T24" fmla="*/ 47 w 188"/>
              <a:gd name="T25" fmla="*/ 175 h 188"/>
              <a:gd name="T26" fmla="*/ 68 w 188"/>
              <a:gd name="T27" fmla="*/ 159 h 188"/>
              <a:gd name="T28" fmla="*/ 84 w 188"/>
              <a:gd name="T29" fmla="*/ 178 h 188"/>
              <a:gd name="T30" fmla="*/ 104 w 188"/>
              <a:gd name="T31" fmla="*/ 178 h 188"/>
              <a:gd name="T32" fmla="*/ 120 w 188"/>
              <a:gd name="T33" fmla="*/ 159 h 188"/>
              <a:gd name="T34" fmla="*/ 141 w 188"/>
              <a:gd name="T35" fmla="*/ 175 h 188"/>
              <a:gd name="T36" fmla="*/ 137 w 188"/>
              <a:gd name="T37" fmla="*/ 149 h 188"/>
              <a:gd name="T38" fmla="*/ 162 w 188"/>
              <a:gd name="T39" fmla="*/ 145 h 188"/>
              <a:gd name="T40" fmla="*/ 172 w 188"/>
              <a:gd name="T41" fmla="*/ 127 h 188"/>
              <a:gd name="T42" fmla="*/ 163 w 188"/>
              <a:gd name="T43" fmla="*/ 104 h 188"/>
              <a:gd name="T44" fmla="*/ 188 w 188"/>
              <a:gd name="T45" fmla="*/ 94 h 188"/>
              <a:gd name="T46" fmla="*/ 163 w 188"/>
              <a:gd name="T47" fmla="*/ 84 h 188"/>
              <a:gd name="T48" fmla="*/ 172 w 188"/>
              <a:gd name="T49" fmla="*/ 61 h 188"/>
              <a:gd name="T50" fmla="*/ 162 w 188"/>
              <a:gd name="T51" fmla="*/ 43 h 188"/>
              <a:gd name="T52" fmla="*/ 137 w 188"/>
              <a:gd name="T53" fmla="*/ 39 h 188"/>
              <a:gd name="T54" fmla="*/ 141 w 188"/>
              <a:gd name="T55" fmla="*/ 13 h 188"/>
              <a:gd name="T56" fmla="*/ 120 w 188"/>
              <a:gd name="T57" fmla="*/ 29 h 188"/>
              <a:gd name="T58" fmla="*/ 104 w 188"/>
              <a:gd name="T59" fmla="*/ 10 h 188"/>
              <a:gd name="T60" fmla="*/ 68 w 188"/>
              <a:gd name="T61" fmla="*/ 116 h 188"/>
              <a:gd name="T62" fmla="*/ 108 w 188"/>
              <a:gd name="T63" fmla="*/ 116 h 188"/>
              <a:gd name="T64" fmla="*/ 68 w 188"/>
              <a:gd name="T65" fmla="*/ 116 h 188"/>
              <a:gd name="T66" fmla="*/ 122 w 188"/>
              <a:gd name="T67" fmla="*/ 64 h 188"/>
              <a:gd name="T68" fmla="*/ 122 w 188"/>
              <a:gd name="T69" fmla="*/ 92 h 188"/>
              <a:gd name="T70" fmla="*/ 76 w 188"/>
              <a:gd name="T71" fmla="*/ 58 h 188"/>
              <a:gd name="T72" fmla="*/ 96 w 188"/>
              <a:gd name="T73" fmla="*/ 58 h 188"/>
              <a:gd name="T74" fmla="*/ 76 w 188"/>
              <a:gd name="T75" fmla="*/ 58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8" h="188">
                <a:moveTo>
                  <a:pt x="94" y="0"/>
                </a:moveTo>
                <a:cubicBezTo>
                  <a:pt x="88" y="0"/>
                  <a:pt x="84" y="4"/>
                  <a:pt x="84" y="10"/>
                </a:cubicBezTo>
                <a:cubicBezTo>
                  <a:pt x="84" y="25"/>
                  <a:pt x="84" y="25"/>
                  <a:pt x="84" y="25"/>
                </a:cubicBezTo>
                <a:cubicBezTo>
                  <a:pt x="78" y="25"/>
                  <a:pt x="73" y="27"/>
                  <a:pt x="68" y="29"/>
                </a:cubicBezTo>
                <a:cubicBezTo>
                  <a:pt x="61" y="16"/>
                  <a:pt x="61" y="16"/>
                  <a:pt x="61" y="16"/>
                </a:cubicBezTo>
                <a:cubicBezTo>
                  <a:pt x="58" y="11"/>
                  <a:pt x="52" y="10"/>
                  <a:pt x="47" y="13"/>
                </a:cubicBezTo>
                <a:cubicBezTo>
                  <a:pt x="42" y="15"/>
                  <a:pt x="41" y="21"/>
                  <a:pt x="43" y="26"/>
                </a:cubicBezTo>
                <a:cubicBezTo>
                  <a:pt x="51" y="39"/>
                  <a:pt x="51" y="39"/>
                  <a:pt x="51" y="39"/>
                </a:cubicBezTo>
                <a:cubicBezTo>
                  <a:pt x="46" y="42"/>
                  <a:pt x="42" y="46"/>
                  <a:pt x="39" y="51"/>
                </a:cubicBezTo>
                <a:cubicBezTo>
                  <a:pt x="26" y="43"/>
                  <a:pt x="26" y="43"/>
                  <a:pt x="26" y="43"/>
                </a:cubicBezTo>
                <a:cubicBezTo>
                  <a:pt x="21" y="41"/>
                  <a:pt x="15" y="42"/>
                  <a:pt x="13" y="47"/>
                </a:cubicBezTo>
                <a:cubicBezTo>
                  <a:pt x="10" y="52"/>
                  <a:pt x="11" y="58"/>
                  <a:pt x="16" y="61"/>
                </a:cubicBezTo>
                <a:cubicBezTo>
                  <a:pt x="29" y="68"/>
                  <a:pt x="29" y="68"/>
                  <a:pt x="29" y="68"/>
                </a:cubicBezTo>
                <a:cubicBezTo>
                  <a:pt x="27" y="73"/>
                  <a:pt x="25" y="78"/>
                  <a:pt x="25" y="84"/>
                </a:cubicBezTo>
                <a:cubicBezTo>
                  <a:pt x="10" y="84"/>
                  <a:pt x="10" y="84"/>
                  <a:pt x="10" y="84"/>
                </a:cubicBezTo>
                <a:cubicBezTo>
                  <a:pt x="4" y="84"/>
                  <a:pt x="0" y="88"/>
                  <a:pt x="0" y="94"/>
                </a:cubicBezTo>
                <a:cubicBezTo>
                  <a:pt x="0" y="100"/>
                  <a:pt x="4" y="104"/>
                  <a:pt x="10" y="104"/>
                </a:cubicBezTo>
                <a:cubicBezTo>
                  <a:pt x="25" y="104"/>
                  <a:pt x="25" y="104"/>
                  <a:pt x="25" y="104"/>
                </a:cubicBezTo>
                <a:cubicBezTo>
                  <a:pt x="25" y="110"/>
                  <a:pt x="27" y="115"/>
                  <a:pt x="29" y="120"/>
                </a:cubicBezTo>
                <a:cubicBezTo>
                  <a:pt x="16" y="127"/>
                  <a:pt x="16" y="127"/>
                  <a:pt x="16" y="127"/>
                </a:cubicBezTo>
                <a:cubicBezTo>
                  <a:pt x="11" y="130"/>
                  <a:pt x="10" y="136"/>
                  <a:pt x="13" y="141"/>
                </a:cubicBezTo>
                <a:cubicBezTo>
                  <a:pt x="15" y="146"/>
                  <a:pt x="21" y="147"/>
                  <a:pt x="26" y="145"/>
                </a:cubicBezTo>
                <a:cubicBezTo>
                  <a:pt x="39" y="137"/>
                  <a:pt x="39" y="137"/>
                  <a:pt x="39" y="137"/>
                </a:cubicBezTo>
                <a:cubicBezTo>
                  <a:pt x="42" y="142"/>
                  <a:pt x="46" y="146"/>
                  <a:pt x="51" y="149"/>
                </a:cubicBezTo>
                <a:cubicBezTo>
                  <a:pt x="43" y="162"/>
                  <a:pt x="43" y="162"/>
                  <a:pt x="43" y="162"/>
                </a:cubicBezTo>
                <a:cubicBezTo>
                  <a:pt x="41" y="167"/>
                  <a:pt x="42" y="173"/>
                  <a:pt x="47" y="175"/>
                </a:cubicBezTo>
                <a:cubicBezTo>
                  <a:pt x="52" y="178"/>
                  <a:pt x="58" y="177"/>
                  <a:pt x="61" y="172"/>
                </a:cubicBezTo>
                <a:cubicBezTo>
                  <a:pt x="68" y="159"/>
                  <a:pt x="68" y="159"/>
                  <a:pt x="68" y="159"/>
                </a:cubicBezTo>
                <a:cubicBezTo>
                  <a:pt x="73" y="161"/>
                  <a:pt x="78" y="163"/>
                  <a:pt x="84" y="163"/>
                </a:cubicBezTo>
                <a:cubicBezTo>
                  <a:pt x="84" y="178"/>
                  <a:pt x="84" y="178"/>
                  <a:pt x="84" y="178"/>
                </a:cubicBezTo>
                <a:cubicBezTo>
                  <a:pt x="84" y="184"/>
                  <a:pt x="88" y="188"/>
                  <a:pt x="94" y="188"/>
                </a:cubicBezTo>
                <a:cubicBezTo>
                  <a:pt x="100" y="188"/>
                  <a:pt x="104" y="184"/>
                  <a:pt x="104" y="178"/>
                </a:cubicBezTo>
                <a:cubicBezTo>
                  <a:pt x="104" y="163"/>
                  <a:pt x="104" y="163"/>
                  <a:pt x="104" y="163"/>
                </a:cubicBezTo>
                <a:cubicBezTo>
                  <a:pt x="110" y="163"/>
                  <a:pt x="115" y="161"/>
                  <a:pt x="120" y="159"/>
                </a:cubicBezTo>
                <a:cubicBezTo>
                  <a:pt x="127" y="172"/>
                  <a:pt x="127" y="172"/>
                  <a:pt x="127" y="172"/>
                </a:cubicBezTo>
                <a:cubicBezTo>
                  <a:pt x="130" y="177"/>
                  <a:pt x="136" y="178"/>
                  <a:pt x="141" y="175"/>
                </a:cubicBezTo>
                <a:cubicBezTo>
                  <a:pt x="146" y="173"/>
                  <a:pt x="147" y="167"/>
                  <a:pt x="145" y="162"/>
                </a:cubicBezTo>
                <a:cubicBezTo>
                  <a:pt x="137" y="149"/>
                  <a:pt x="137" y="149"/>
                  <a:pt x="137" y="149"/>
                </a:cubicBezTo>
                <a:cubicBezTo>
                  <a:pt x="142" y="146"/>
                  <a:pt x="146" y="142"/>
                  <a:pt x="149" y="137"/>
                </a:cubicBezTo>
                <a:cubicBezTo>
                  <a:pt x="162" y="145"/>
                  <a:pt x="162" y="145"/>
                  <a:pt x="162" y="145"/>
                </a:cubicBezTo>
                <a:cubicBezTo>
                  <a:pt x="167" y="147"/>
                  <a:pt x="173" y="146"/>
                  <a:pt x="175" y="141"/>
                </a:cubicBezTo>
                <a:cubicBezTo>
                  <a:pt x="178" y="136"/>
                  <a:pt x="177" y="130"/>
                  <a:pt x="172" y="127"/>
                </a:cubicBezTo>
                <a:cubicBezTo>
                  <a:pt x="159" y="120"/>
                  <a:pt x="159" y="120"/>
                  <a:pt x="159" y="120"/>
                </a:cubicBezTo>
                <a:cubicBezTo>
                  <a:pt x="161" y="115"/>
                  <a:pt x="163" y="110"/>
                  <a:pt x="163" y="104"/>
                </a:cubicBezTo>
                <a:cubicBezTo>
                  <a:pt x="178" y="104"/>
                  <a:pt x="178" y="104"/>
                  <a:pt x="178" y="104"/>
                </a:cubicBezTo>
                <a:cubicBezTo>
                  <a:pt x="184" y="104"/>
                  <a:pt x="188" y="100"/>
                  <a:pt x="188" y="94"/>
                </a:cubicBezTo>
                <a:cubicBezTo>
                  <a:pt x="188" y="88"/>
                  <a:pt x="184" y="84"/>
                  <a:pt x="178" y="84"/>
                </a:cubicBezTo>
                <a:cubicBezTo>
                  <a:pt x="163" y="84"/>
                  <a:pt x="163" y="84"/>
                  <a:pt x="163" y="84"/>
                </a:cubicBezTo>
                <a:cubicBezTo>
                  <a:pt x="163" y="78"/>
                  <a:pt x="161" y="73"/>
                  <a:pt x="159" y="68"/>
                </a:cubicBezTo>
                <a:cubicBezTo>
                  <a:pt x="172" y="61"/>
                  <a:pt x="172" y="61"/>
                  <a:pt x="172" y="61"/>
                </a:cubicBezTo>
                <a:cubicBezTo>
                  <a:pt x="177" y="58"/>
                  <a:pt x="178" y="52"/>
                  <a:pt x="175" y="47"/>
                </a:cubicBezTo>
                <a:cubicBezTo>
                  <a:pt x="173" y="42"/>
                  <a:pt x="167" y="41"/>
                  <a:pt x="162" y="43"/>
                </a:cubicBezTo>
                <a:cubicBezTo>
                  <a:pt x="149" y="51"/>
                  <a:pt x="149" y="51"/>
                  <a:pt x="149" y="51"/>
                </a:cubicBezTo>
                <a:cubicBezTo>
                  <a:pt x="146" y="46"/>
                  <a:pt x="142" y="42"/>
                  <a:pt x="137" y="39"/>
                </a:cubicBezTo>
                <a:cubicBezTo>
                  <a:pt x="145" y="26"/>
                  <a:pt x="145" y="26"/>
                  <a:pt x="145" y="26"/>
                </a:cubicBezTo>
                <a:cubicBezTo>
                  <a:pt x="147" y="21"/>
                  <a:pt x="146" y="15"/>
                  <a:pt x="141" y="13"/>
                </a:cubicBezTo>
                <a:cubicBezTo>
                  <a:pt x="136" y="10"/>
                  <a:pt x="130" y="11"/>
                  <a:pt x="127" y="16"/>
                </a:cubicBezTo>
                <a:cubicBezTo>
                  <a:pt x="120" y="29"/>
                  <a:pt x="120" y="29"/>
                  <a:pt x="120" y="29"/>
                </a:cubicBezTo>
                <a:cubicBezTo>
                  <a:pt x="115" y="27"/>
                  <a:pt x="110" y="25"/>
                  <a:pt x="104" y="25"/>
                </a:cubicBezTo>
                <a:cubicBezTo>
                  <a:pt x="104" y="10"/>
                  <a:pt x="104" y="10"/>
                  <a:pt x="104" y="10"/>
                </a:cubicBezTo>
                <a:cubicBezTo>
                  <a:pt x="104" y="4"/>
                  <a:pt x="100" y="0"/>
                  <a:pt x="94" y="0"/>
                </a:cubicBezTo>
                <a:close/>
                <a:moveTo>
                  <a:pt x="68" y="116"/>
                </a:moveTo>
                <a:cubicBezTo>
                  <a:pt x="68" y="105"/>
                  <a:pt x="77" y="96"/>
                  <a:pt x="88" y="96"/>
                </a:cubicBezTo>
                <a:cubicBezTo>
                  <a:pt x="99" y="96"/>
                  <a:pt x="108" y="105"/>
                  <a:pt x="108" y="116"/>
                </a:cubicBezTo>
                <a:cubicBezTo>
                  <a:pt x="108" y="127"/>
                  <a:pt x="99" y="136"/>
                  <a:pt x="88" y="136"/>
                </a:cubicBezTo>
                <a:cubicBezTo>
                  <a:pt x="77" y="136"/>
                  <a:pt x="68" y="127"/>
                  <a:pt x="68" y="116"/>
                </a:cubicBezTo>
                <a:close/>
                <a:moveTo>
                  <a:pt x="108" y="78"/>
                </a:moveTo>
                <a:cubicBezTo>
                  <a:pt x="108" y="70"/>
                  <a:pt x="114" y="64"/>
                  <a:pt x="122" y="64"/>
                </a:cubicBezTo>
                <a:cubicBezTo>
                  <a:pt x="130" y="64"/>
                  <a:pt x="136" y="70"/>
                  <a:pt x="136" y="78"/>
                </a:cubicBezTo>
                <a:cubicBezTo>
                  <a:pt x="136" y="86"/>
                  <a:pt x="130" y="92"/>
                  <a:pt x="122" y="92"/>
                </a:cubicBezTo>
                <a:cubicBezTo>
                  <a:pt x="114" y="92"/>
                  <a:pt x="108" y="86"/>
                  <a:pt x="108" y="78"/>
                </a:cubicBezTo>
                <a:close/>
                <a:moveTo>
                  <a:pt x="76" y="58"/>
                </a:moveTo>
                <a:cubicBezTo>
                  <a:pt x="76" y="52"/>
                  <a:pt x="80" y="48"/>
                  <a:pt x="86" y="48"/>
                </a:cubicBezTo>
                <a:cubicBezTo>
                  <a:pt x="92" y="48"/>
                  <a:pt x="96" y="52"/>
                  <a:pt x="96" y="58"/>
                </a:cubicBezTo>
                <a:cubicBezTo>
                  <a:pt x="96" y="64"/>
                  <a:pt x="92" y="68"/>
                  <a:pt x="86" y="68"/>
                </a:cubicBezTo>
                <a:cubicBezTo>
                  <a:pt x="80" y="68"/>
                  <a:pt x="76" y="64"/>
                  <a:pt x="76" y="58"/>
                </a:cubicBezTo>
                <a:close/>
              </a:path>
            </a:pathLst>
          </a:custGeom>
          <a:gradFill>
            <a:gsLst>
              <a:gs pos="0">
                <a:schemeClr val="accent1">
                  <a:lumMod val="20000"/>
                  <a:lumOff val="80000"/>
                </a:schemeClr>
              </a:gs>
              <a:gs pos="100000">
                <a:schemeClr val="accent1"/>
              </a:gs>
            </a:gsLst>
            <a:lin ang="2700000" scaled="0"/>
          </a:gra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6" name="熊大的PPT宝库88"/>
          <p:cNvSpPr>
            <a:spLocks noEditPoints="1"/>
          </p:cNvSpPr>
          <p:nvPr/>
        </p:nvSpPr>
        <p:spPr bwMode="auto">
          <a:xfrm>
            <a:off x="5134779" y="1890052"/>
            <a:ext cx="227013" cy="311150"/>
          </a:xfrm>
          <a:custGeom>
            <a:avLst/>
            <a:gdLst>
              <a:gd name="T0" fmla="*/ 0 w 140"/>
              <a:gd name="T1" fmla="*/ 66 h 192"/>
              <a:gd name="T2" fmla="*/ 60 w 140"/>
              <a:gd name="T3" fmla="*/ 135 h 192"/>
              <a:gd name="T4" fmla="*/ 60 w 140"/>
              <a:gd name="T5" fmla="*/ 164 h 192"/>
              <a:gd name="T6" fmla="*/ 52 w 140"/>
              <a:gd name="T7" fmla="*/ 172 h 192"/>
              <a:gd name="T8" fmla="*/ 30 w 140"/>
              <a:gd name="T9" fmla="*/ 172 h 192"/>
              <a:gd name="T10" fmla="*/ 20 w 140"/>
              <a:gd name="T11" fmla="*/ 182 h 192"/>
              <a:gd name="T12" fmla="*/ 30 w 140"/>
              <a:gd name="T13" fmla="*/ 192 h 192"/>
              <a:gd name="T14" fmla="*/ 110 w 140"/>
              <a:gd name="T15" fmla="*/ 192 h 192"/>
              <a:gd name="T16" fmla="*/ 120 w 140"/>
              <a:gd name="T17" fmla="*/ 182 h 192"/>
              <a:gd name="T18" fmla="*/ 110 w 140"/>
              <a:gd name="T19" fmla="*/ 172 h 192"/>
              <a:gd name="T20" fmla="*/ 88 w 140"/>
              <a:gd name="T21" fmla="*/ 172 h 192"/>
              <a:gd name="T22" fmla="*/ 80 w 140"/>
              <a:gd name="T23" fmla="*/ 164 h 192"/>
              <a:gd name="T24" fmla="*/ 80 w 140"/>
              <a:gd name="T25" fmla="*/ 135 h 192"/>
              <a:gd name="T26" fmla="*/ 140 w 140"/>
              <a:gd name="T27" fmla="*/ 66 h 192"/>
              <a:gd name="T28" fmla="*/ 140 w 140"/>
              <a:gd name="T29" fmla="*/ 16 h 192"/>
              <a:gd name="T30" fmla="*/ 124 w 140"/>
              <a:gd name="T31" fmla="*/ 0 h 192"/>
              <a:gd name="T32" fmla="*/ 16 w 140"/>
              <a:gd name="T33" fmla="*/ 0 h 192"/>
              <a:gd name="T34" fmla="*/ 0 w 140"/>
              <a:gd name="T35" fmla="*/ 16 h 192"/>
              <a:gd name="T36" fmla="*/ 0 w 140"/>
              <a:gd name="T37" fmla="*/ 66 h 192"/>
              <a:gd name="T38" fmla="*/ 29 w 140"/>
              <a:gd name="T39" fmla="*/ 20 h 192"/>
              <a:gd name="T40" fmla="*/ 111 w 140"/>
              <a:gd name="T41" fmla="*/ 20 h 192"/>
              <a:gd name="T42" fmla="*/ 120 w 140"/>
              <a:gd name="T43" fmla="*/ 29 h 192"/>
              <a:gd name="T44" fmla="*/ 120 w 140"/>
              <a:gd name="T45" fmla="*/ 51 h 192"/>
              <a:gd name="T46" fmla="*/ 111 w 140"/>
              <a:gd name="T47" fmla="*/ 60 h 192"/>
              <a:gd name="T48" fmla="*/ 29 w 140"/>
              <a:gd name="T49" fmla="*/ 60 h 192"/>
              <a:gd name="T50" fmla="*/ 20 w 140"/>
              <a:gd name="T51" fmla="*/ 51 h 192"/>
              <a:gd name="T52" fmla="*/ 20 w 140"/>
              <a:gd name="T53" fmla="*/ 29 h 192"/>
              <a:gd name="T54" fmla="*/ 29 w 140"/>
              <a:gd name="T55" fmla="*/ 2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0" h="192">
                <a:moveTo>
                  <a:pt x="0" y="66"/>
                </a:moveTo>
                <a:cubicBezTo>
                  <a:pt x="0" y="101"/>
                  <a:pt x="26" y="130"/>
                  <a:pt x="60" y="135"/>
                </a:cubicBezTo>
                <a:cubicBezTo>
                  <a:pt x="60" y="164"/>
                  <a:pt x="60" y="164"/>
                  <a:pt x="60" y="164"/>
                </a:cubicBezTo>
                <a:cubicBezTo>
                  <a:pt x="60" y="168"/>
                  <a:pt x="56" y="172"/>
                  <a:pt x="52" y="172"/>
                </a:cubicBezTo>
                <a:cubicBezTo>
                  <a:pt x="30" y="172"/>
                  <a:pt x="30" y="172"/>
                  <a:pt x="30" y="172"/>
                </a:cubicBezTo>
                <a:cubicBezTo>
                  <a:pt x="24" y="172"/>
                  <a:pt x="20" y="176"/>
                  <a:pt x="20" y="182"/>
                </a:cubicBezTo>
                <a:cubicBezTo>
                  <a:pt x="20" y="188"/>
                  <a:pt x="24" y="192"/>
                  <a:pt x="30" y="192"/>
                </a:cubicBezTo>
                <a:cubicBezTo>
                  <a:pt x="110" y="192"/>
                  <a:pt x="110" y="192"/>
                  <a:pt x="110" y="192"/>
                </a:cubicBezTo>
                <a:cubicBezTo>
                  <a:pt x="116" y="192"/>
                  <a:pt x="120" y="188"/>
                  <a:pt x="120" y="182"/>
                </a:cubicBezTo>
                <a:cubicBezTo>
                  <a:pt x="120" y="176"/>
                  <a:pt x="116" y="172"/>
                  <a:pt x="110" y="172"/>
                </a:cubicBezTo>
                <a:cubicBezTo>
                  <a:pt x="88" y="172"/>
                  <a:pt x="88" y="172"/>
                  <a:pt x="88" y="172"/>
                </a:cubicBezTo>
                <a:cubicBezTo>
                  <a:pt x="84" y="172"/>
                  <a:pt x="80" y="168"/>
                  <a:pt x="80" y="164"/>
                </a:cubicBezTo>
                <a:cubicBezTo>
                  <a:pt x="80" y="135"/>
                  <a:pt x="80" y="135"/>
                  <a:pt x="80" y="135"/>
                </a:cubicBezTo>
                <a:cubicBezTo>
                  <a:pt x="114" y="130"/>
                  <a:pt x="140" y="101"/>
                  <a:pt x="140" y="66"/>
                </a:cubicBezTo>
                <a:cubicBezTo>
                  <a:pt x="140" y="16"/>
                  <a:pt x="140" y="16"/>
                  <a:pt x="140" y="16"/>
                </a:cubicBezTo>
                <a:cubicBezTo>
                  <a:pt x="140" y="7"/>
                  <a:pt x="133" y="0"/>
                  <a:pt x="124" y="0"/>
                </a:cubicBezTo>
                <a:cubicBezTo>
                  <a:pt x="16" y="0"/>
                  <a:pt x="16" y="0"/>
                  <a:pt x="16" y="0"/>
                </a:cubicBezTo>
                <a:cubicBezTo>
                  <a:pt x="7" y="0"/>
                  <a:pt x="0" y="7"/>
                  <a:pt x="0" y="16"/>
                </a:cubicBezTo>
                <a:lnTo>
                  <a:pt x="0" y="66"/>
                </a:lnTo>
                <a:close/>
                <a:moveTo>
                  <a:pt x="29" y="20"/>
                </a:moveTo>
                <a:cubicBezTo>
                  <a:pt x="111" y="20"/>
                  <a:pt x="111" y="20"/>
                  <a:pt x="111" y="20"/>
                </a:cubicBezTo>
                <a:cubicBezTo>
                  <a:pt x="116" y="20"/>
                  <a:pt x="120" y="24"/>
                  <a:pt x="120" y="29"/>
                </a:cubicBezTo>
                <a:cubicBezTo>
                  <a:pt x="120" y="51"/>
                  <a:pt x="120" y="51"/>
                  <a:pt x="120" y="51"/>
                </a:cubicBezTo>
                <a:cubicBezTo>
                  <a:pt x="120" y="56"/>
                  <a:pt x="116" y="60"/>
                  <a:pt x="111" y="60"/>
                </a:cubicBezTo>
                <a:cubicBezTo>
                  <a:pt x="29" y="60"/>
                  <a:pt x="29" y="60"/>
                  <a:pt x="29" y="60"/>
                </a:cubicBezTo>
                <a:cubicBezTo>
                  <a:pt x="24" y="60"/>
                  <a:pt x="20" y="56"/>
                  <a:pt x="20" y="51"/>
                </a:cubicBezTo>
                <a:cubicBezTo>
                  <a:pt x="20" y="29"/>
                  <a:pt x="20" y="29"/>
                  <a:pt x="20" y="29"/>
                </a:cubicBezTo>
                <a:cubicBezTo>
                  <a:pt x="20" y="24"/>
                  <a:pt x="24" y="20"/>
                  <a:pt x="29" y="20"/>
                </a:cubicBezTo>
                <a:close/>
              </a:path>
            </a:pathLst>
          </a:custGeom>
          <a:gradFill>
            <a:gsLst>
              <a:gs pos="0">
                <a:schemeClr val="accent1">
                  <a:lumMod val="20000"/>
                  <a:lumOff val="80000"/>
                </a:schemeClr>
              </a:gs>
              <a:gs pos="100000">
                <a:schemeClr val="accent1"/>
              </a:gs>
            </a:gsLst>
            <a:lin ang="2700000" scaled="0"/>
          </a:gra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 name="熊大的PPT宝库89"/>
          <p:cNvSpPr>
            <a:spLocks noEditPoints="1"/>
          </p:cNvSpPr>
          <p:nvPr/>
        </p:nvSpPr>
        <p:spPr bwMode="auto">
          <a:xfrm>
            <a:off x="1709216" y="1883702"/>
            <a:ext cx="319088" cy="317500"/>
          </a:xfrm>
          <a:custGeom>
            <a:avLst/>
            <a:gdLst>
              <a:gd name="T0" fmla="*/ 24 w 196"/>
              <a:gd name="T1" fmla="*/ 83 h 196"/>
              <a:gd name="T2" fmla="*/ 17 w 196"/>
              <a:gd name="T3" fmla="*/ 98 h 196"/>
              <a:gd name="T4" fmla="*/ 2 w 196"/>
              <a:gd name="T5" fmla="*/ 170 h 196"/>
              <a:gd name="T6" fmla="*/ 26 w 196"/>
              <a:gd name="T7" fmla="*/ 194 h 196"/>
              <a:gd name="T8" fmla="*/ 98 w 196"/>
              <a:gd name="T9" fmla="*/ 179 h 196"/>
              <a:gd name="T10" fmla="*/ 113 w 196"/>
              <a:gd name="T11" fmla="*/ 172 h 196"/>
              <a:gd name="T12" fmla="*/ 189 w 196"/>
              <a:gd name="T13" fmla="*/ 96 h 196"/>
              <a:gd name="T14" fmla="*/ 189 w 196"/>
              <a:gd name="T15" fmla="*/ 73 h 196"/>
              <a:gd name="T16" fmla="*/ 123 w 196"/>
              <a:gd name="T17" fmla="*/ 7 h 196"/>
              <a:gd name="T18" fmla="*/ 100 w 196"/>
              <a:gd name="T19" fmla="*/ 7 h 196"/>
              <a:gd name="T20" fmla="*/ 24 w 196"/>
              <a:gd name="T21" fmla="*/ 83 h 196"/>
              <a:gd name="T22" fmla="*/ 98 w 196"/>
              <a:gd name="T23" fmla="*/ 160 h 196"/>
              <a:gd name="T24" fmla="*/ 60 w 196"/>
              <a:gd name="T25" fmla="*/ 167 h 196"/>
              <a:gd name="T26" fmla="*/ 29 w 196"/>
              <a:gd name="T27" fmla="*/ 136 h 196"/>
              <a:gd name="T28" fmla="*/ 36 w 196"/>
              <a:gd name="T29" fmla="*/ 99 h 196"/>
              <a:gd name="T30" fmla="*/ 92 w 196"/>
              <a:gd name="T31" fmla="*/ 43 h 196"/>
              <a:gd name="T32" fmla="*/ 103 w 196"/>
              <a:gd name="T33" fmla="*/ 43 h 196"/>
              <a:gd name="T34" fmla="*/ 103 w 196"/>
              <a:gd name="T35" fmla="*/ 54 h 196"/>
              <a:gd name="T36" fmla="*/ 52 w 196"/>
              <a:gd name="T37" fmla="*/ 105 h 196"/>
              <a:gd name="T38" fmla="*/ 52 w 196"/>
              <a:gd name="T39" fmla="*/ 119 h 196"/>
              <a:gd name="T40" fmla="*/ 66 w 196"/>
              <a:gd name="T41" fmla="*/ 119 h 196"/>
              <a:gd name="T42" fmla="*/ 117 w 196"/>
              <a:gd name="T43" fmla="*/ 68 h 196"/>
              <a:gd name="T44" fmla="*/ 128 w 196"/>
              <a:gd name="T45" fmla="*/ 68 h 196"/>
              <a:gd name="T46" fmla="*/ 128 w 196"/>
              <a:gd name="T47" fmla="*/ 79 h 196"/>
              <a:gd name="T48" fmla="*/ 77 w 196"/>
              <a:gd name="T49" fmla="*/ 131 h 196"/>
              <a:gd name="T50" fmla="*/ 77 w 196"/>
              <a:gd name="T51" fmla="*/ 144 h 196"/>
              <a:gd name="T52" fmla="*/ 91 w 196"/>
              <a:gd name="T53" fmla="*/ 144 h 196"/>
              <a:gd name="T54" fmla="*/ 142 w 196"/>
              <a:gd name="T55" fmla="*/ 93 h 196"/>
              <a:gd name="T56" fmla="*/ 153 w 196"/>
              <a:gd name="T57" fmla="*/ 93 h 196"/>
              <a:gd name="T58" fmla="*/ 153 w 196"/>
              <a:gd name="T59" fmla="*/ 104 h 196"/>
              <a:gd name="T60" fmla="*/ 98 w 196"/>
              <a:gd name="T61" fmla="*/ 16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96" h="196">
                <a:moveTo>
                  <a:pt x="24" y="83"/>
                </a:moveTo>
                <a:cubicBezTo>
                  <a:pt x="20" y="87"/>
                  <a:pt x="18" y="92"/>
                  <a:pt x="17" y="98"/>
                </a:cubicBezTo>
                <a:cubicBezTo>
                  <a:pt x="2" y="170"/>
                  <a:pt x="2" y="170"/>
                  <a:pt x="2" y="170"/>
                </a:cubicBezTo>
                <a:cubicBezTo>
                  <a:pt x="0" y="183"/>
                  <a:pt x="13" y="196"/>
                  <a:pt x="26" y="194"/>
                </a:cubicBezTo>
                <a:cubicBezTo>
                  <a:pt x="98" y="179"/>
                  <a:pt x="98" y="179"/>
                  <a:pt x="98" y="179"/>
                </a:cubicBezTo>
                <a:cubicBezTo>
                  <a:pt x="103" y="178"/>
                  <a:pt x="109" y="176"/>
                  <a:pt x="113" y="172"/>
                </a:cubicBezTo>
                <a:cubicBezTo>
                  <a:pt x="189" y="96"/>
                  <a:pt x="189" y="96"/>
                  <a:pt x="189" y="96"/>
                </a:cubicBezTo>
                <a:cubicBezTo>
                  <a:pt x="196" y="90"/>
                  <a:pt x="196" y="80"/>
                  <a:pt x="189" y="73"/>
                </a:cubicBezTo>
                <a:cubicBezTo>
                  <a:pt x="123" y="7"/>
                  <a:pt x="123" y="7"/>
                  <a:pt x="123" y="7"/>
                </a:cubicBezTo>
                <a:cubicBezTo>
                  <a:pt x="116" y="0"/>
                  <a:pt x="107" y="0"/>
                  <a:pt x="100" y="7"/>
                </a:cubicBezTo>
                <a:lnTo>
                  <a:pt x="24" y="83"/>
                </a:lnTo>
                <a:close/>
                <a:moveTo>
                  <a:pt x="98" y="160"/>
                </a:moveTo>
                <a:cubicBezTo>
                  <a:pt x="60" y="167"/>
                  <a:pt x="60" y="167"/>
                  <a:pt x="60" y="167"/>
                </a:cubicBezTo>
                <a:cubicBezTo>
                  <a:pt x="29" y="136"/>
                  <a:pt x="29" y="136"/>
                  <a:pt x="29" y="136"/>
                </a:cubicBezTo>
                <a:cubicBezTo>
                  <a:pt x="36" y="99"/>
                  <a:pt x="36" y="99"/>
                  <a:pt x="36" y="99"/>
                </a:cubicBezTo>
                <a:cubicBezTo>
                  <a:pt x="92" y="43"/>
                  <a:pt x="92" y="43"/>
                  <a:pt x="92" y="43"/>
                </a:cubicBezTo>
                <a:cubicBezTo>
                  <a:pt x="95" y="40"/>
                  <a:pt x="100" y="40"/>
                  <a:pt x="103" y="43"/>
                </a:cubicBezTo>
                <a:cubicBezTo>
                  <a:pt x="106" y="46"/>
                  <a:pt x="106" y="51"/>
                  <a:pt x="103" y="54"/>
                </a:cubicBezTo>
                <a:cubicBezTo>
                  <a:pt x="52" y="105"/>
                  <a:pt x="52" y="105"/>
                  <a:pt x="52" y="105"/>
                </a:cubicBezTo>
                <a:cubicBezTo>
                  <a:pt x="48" y="109"/>
                  <a:pt x="48" y="116"/>
                  <a:pt x="52" y="119"/>
                </a:cubicBezTo>
                <a:cubicBezTo>
                  <a:pt x="56" y="123"/>
                  <a:pt x="62" y="123"/>
                  <a:pt x="66" y="119"/>
                </a:cubicBezTo>
                <a:cubicBezTo>
                  <a:pt x="117" y="68"/>
                  <a:pt x="117" y="68"/>
                  <a:pt x="117" y="68"/>
                </a:cubicBezTo>
                <a:cubicBezTo>
                  <a:pt x="120" y="65"/>
                  <a:pt x="125" y="65"/>
                  <a:pt x="128" y="68"/>
                </a:cubicBezTo>
                <a:cubicBezTo>
                  <a:pt x="131" y="71"/>
                  <a:pt x="131" y="76"/>
                  <a:pt x="128" y="79"/>
                </a:cubicBezTo>
                <a:cubicBezTo>
                  <a:pt x="77" y="131"/>
                  <a:pt x="77" y="131"/>
                  <a:pt x="77" y="131"/>
                </a:cubicBezTo>
                <a:cubicBezTo>
                  <a:pt x="73" y="134"/>
                  <a:pt x="73" y="141"/>
                  <a:pt x="77" y="144"/>
                </a:cubicBezTo>
                <a:cubicBezTo>
                  <a:pt x="81" y="148"/>
                  <a:pt x="87" y="148"/>
                  <a:pt x="91" y="144"/>
                </a:cubicBezTo>
                <a:cubicBezTo>
                  <a:pt x="142" y="93"/>
                  <a:pt x="142" y="93"/>
                  <a:pt x="142" y="93"/>
                </a:cubicBezTo>
                <a:cubicBezTo>
                  <a:pt x="145" y="90"/>
                  <a:pt x="150" y="90"/>
                  <a:pt x="153" y="93"/>
                </a:cubicBezTo>
                <a:cubicBezTo>
                  <a:pt x="156" y="96"/>
                  <a:pt x="156" y="101"/>
                  <a:pt x="153" y="104"/>
                </a:cubicBezTo>
                <a:lnTo>
                  <a:pt x="98" y="160"/>
                </a:lnTo>
                <a:close/>
              </a:path>
            </a:pathLst>
          </a:custGeom>
          <a:gradFill>
            <a:gsLst>
              <a:gs pos="0">
                <a:schemeClr val="accent1">
                  <a:lumMod val="20000"/>
                  <a:lumOff val="80000"/>
                </a:schemeClr>
              </a:gs>
              <a:gs pos="100000">
                <a:schemeClr val="accent1"/>
              </a:gs>
            </a:gsLst>
            <a:lin ang="2700000" scaled="0"/>
          </a:gra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0" name="熊大的PPT宝库90"/>
          <p:cNvSpPr>
            <a:spLocks noEditPoints="1"/>
          </p:cNvSpPr>
          <p:nvPr/>
        </p:nvSpPr>
        <p:spPr bwMode="auto">
          <a:xfrm>
            <a:off x="7077817" y="1888465"/>
            <a:ext cx="312738" cy="312737"/>
          </a:xfrm>
          <a:custGeom>
            <a:avLst/>
            <a:gdLst>
              <a:gd name="T0" fmla="*/ 0 w 192"/>
              <a:gd name="T1" fmla="*/ 176 h 192"/>
              <a:gd name="T2" fmla="*/ 16 w 192"/>
              <a:gd name="T3" fmla="*/ 192 h 192"/>
              <a:gd name="T4" fmla="*/ 176 w 192"/>
              <a:gd name="T5" fmla="*/ 192 h 192"/>
              <a:gd name="T6" fmla="*/ 192 w 192"/>
              <a:gd name="T7" fmla="*/ 176 h 192"/>
              <a:gd name="T8" fmla="*/ 192 w 192"/>
              <a:gd name="T9" fmla="*/ 56 h 192"/>
              <a:gd name="T10" fmla="*/ 176 w 192"/>
              <a:gd name="T11" fmla="*/ 40 h 192"/>
              <a:gd name="T12" fmla="*/ 144 w 192"/>
              <a:gd name="T13" fmla="*/ 40 h 192"/>
              <a:gd name="T14" fmla="*/ 144 w 192"/>
              <a:gd name="T15" fmla="*/ 16 h 192"/>
              <a:gd name="T16" fmla="*/ 128 w 192"/>
              <a:gd name="T17" fmla="*/ 0 h 192"/>
              <a:gd name="T18" fmla="*/ 64 w 192"/>
              <a:gd name="T19" fmla="*/ 0 h 192"/>
              <a:gd name="T20" fmla="*/ 48 w 192"/>
              <a:gd name="T21" fmla="*/ 16 h 192"/>
              <a:gd name="T22" fmla="*/ 48 w 192"/>
              <a:gd name="T23" fmla="*/ 40 h 192"/>
              <a:gd name="T24" fmla="*/ 16 w 192"/>
              <a:gd name="T25" fmla="*/ 40 h 192"/>
              <a:gd name="T26" fmla="*/ 0 w 192"/>
              <a:gd name="T27" fmla="*/ 56 h 192"/>
              <a:gd name="T28" fmla="*/ 0 w 192"/>
              <a:gd name="T29" fmla="*/ 176 h 192"/>
              <a:gd name="T30" fmla="*/ 124 w 192"/>
              <a:gd name="T31" fmla="*/ 40 h 192"/>
              <a:gd name="T32" fmla="*/ 68 w 192"/>
              <a:gd name="T33" fmla="*/ 40 h 192"/>
              <a:gd name="T34" fmla="*/ 68 w 192"/>
              <a:gd name="T35" fmla="*/ 29 h 192"/>
              <a:gd name="T36" fmla="*/ 77 w 192"/>
              <a:gd name="T37" fmla="*/ 20 h 192"/>
              <a:gd name="T38" fmla="*/ 115 w 192"/>
              <a:gd name="T39" fmla="*/ 20 h 192"/>
              <a:gd name="T40" fmla="*/ 124 w 192"/>
              <a:gd name="T41" fmla="*/ 29 h 192"/>
              <a:gd name="T42" fmla="*/ 124 w 192"/>
              <a:gd name="T43" fmla="*/ 40 h 192"/>
              <a:gd name="T44" fmla="*/ 57 w 192"/>
              <a:gd name="T45" fmla="*/ 96 h 192"/>
              <a:gd name="T46" fmla="*/ 76 w 192"/>
              <a:gd name="T47" fmla="*/ 96 h 192"/>
              <a:gd name="T48" fmla="*/ 76 w 192"/>
              <a:gd name="T49" fmla="*/ 77 h 192"/>
              <a:gd name="T50" fmla="*/ 85 w 192"/>
              <a:gd name="T51" fmla="*/ 68 h 192"/>
              <a:gd name="T52" fmla="*/ 107 w 192"/>
              <a:gd name="T53" fmla="*/ 68 h 192"/>
              <a:gd name="T54" fmla="*/ 116 w 192"/>
              <a:gd name="T55" fmla="*/ 77 h 192"/>
              <a:gd name="T56" fmla="*/ 116 w 192"/>
              <a:gd name="T57" fmla="*/ 96 h 192"/>
              <a:gd name="T58" fmla="*/ 135 w 192"/>
              <a:gd name="T59" fmla="*/ 96 h 192"/>
              <a:gd name="T60" fmla="*/ 144 w 192"/>
              <a:gd name="T61" fmla="*/ 105 h 192"/>
              <a:gd name="T62" fmla="*/ 144 w 192"/>
              <a:gd name="T63" fmla="*/ 127 h 192"/>
              <a:gd name="T64" fmla="*/ 135 w 192"/>
              <a:gd name="T65" fmla="*/ 136 h 192"/>
              <a:gd name="T66" fmla="*/ 116 w 192"/>
              <a:gd name="T67" fmla="*/ 136 h 192"/>
              <a:gd name="T68" fmla="*/ 116 w 192"/>
              <a:gd name="T69" fmla="*/ 155 h 192"/>
              <a:gd name="T70" fmla="*/ 107 w 192"/>
              <a:gd name="T71" fmla="*/ 164 h 192"/>
              <a:gd name="T72" fmla="*/ 85 w 192"/>
              <a:gd name="T73" fmla="*/ 164 h 192"/>
              <a:gd name="T74" fmla="*/ 76 w 192"/>
              <a:gd name="T75" fmla="*/ 155 h 192"/>
              <a:gd name="T76" fmla="*/ 76 w 192"/>
              <a:gd name="T77" fmla="*/ 136 h 192"/>
              <a:gd name="T78" fmla="*/ 57 w 192"/>
              <a:gd name="T79" fmla="*/ 136 h 192"/>
              <a:gd name="T80" fmla="*/ 48 w 192"/>
              <a:gd name="T81" fmla="*/ 127 h 192"/>
              <a:gd name="T82" fmla="*/ 48 w 192"/>
              <a:gd name="T83" fmla="*/ 105 h 192"/>
              <a:gd name="T84" fmla="*/ 57 w 192"/>
              <a:gd name="T8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2" h="192">
                <a:moveTo>
                  <a:pt x="0" y="176"/>
                </a:moveTo>
                <a:cubicBezTo>
                  <a:pt x="0" y="185"/>
                  <a:pt x="7" y="192"/>
                  <a:pt x="16" y="192"/>
                </a:cubicBezTo>
                <a:cubicBezTo>
                  <a:pt x="176" y="192"/>
                  <a:pt x="176" y="192"/>
                  <a:pt x="176" y="192"/>
                </a:cubicBezTo>
                <a:cubicBezTo>
                  <a:pt x="185" y="192"/>
                  <a:pt x="192" y="185"/>
                  <a:pt x="192" y="176"/>
                </a:cubicBezTo>
                <a:cubicBezTo>
                  <a:pt x="192" y="56"/>
                  <a:pt x="192" y="56"/>
                  <a:pt x="192" y="56"/>
                </a:cubicBezTo>
                <a:cubicBezTo>
                  <a:pt x="192" y="47"/>
                  <a:pt x="185" y="40"/>
                  <a:pt x="176" y="40"/>
                </a:cubicBezTo>
                <a:cubicBezTo>
                  <a:pt x="144" y="40"/>
                  <a:pt x="144" y="40"/>
                  <a:pt x="144" y="40"/>
                </a:cubicBezTo>
                <a:cubicBezTo>
                  <a:pt x="144" y="16"/>
                  <a:pt x="144" y="16"/>
                  <a:pt x="144" y="16"/>
                </a:cubicBezTo>
                <a:cubicBezTo>
                  <a:pt x="144" y="7"/>
                  <a:pt x="137" y="0"/>
                  <a:pt x="128" y="0"/>
                </a:cubicBezTo>
                <a:cubicBezTo>
                  <a:pt x="64" y="0"/>
                  <a:pt x="64" y="0"/>
                  <a:pt x="64" y="0"/>
                </a:cubicBezTo>
                <a:cubicBezTo>
                  <a:pt x="55" y="0"/>
                  <a:pt x="48" y="7"/>
                  <a:pt x="48" y="16"/>
                </a:cubicBezTo>
                <a:cubicBezTo>
                  <a:pt x="48" y="40"/>
                  <a:pt x="48" y="40"/>
                  <a:pt x="48" y="40"/>
                </a:cubicBezTo>
                <a:cubicBezTo>
                  <a:pt x="16" y="40"/>
                  <a:pt x="16" y="40"/>
                  <a:pt x="16" y="40"/>
                </a:cubicBezTo>
                <a:cubicBezTo>
                  <a:pt x="7" y="40"/>
                  <a:pt x="0" y="47"/>
                  <a:pt x="0" y="56"/>
                </a:cubicBezTo>
                <a:lnTo>
                  <a:pt x="0" y="176"/>
                </a:lnTo>
                <a:close/>
                <a:moveTo>
                  <a:pt x="124" y="40"/>
                </a:moveTo>
                <a:cubicBezTo>
                  <a:pt x="68" y="40"/>
                  <a:pt x="68" y="40"/>
                  <a:pt x="68" y="40"/>
                </a:cubicBezTo>
                <a:cubicBezTo>
                  <a:pt x="68" y="29"/>
                  <a:pt x="68" y="29"/>
                  <a:pt x="68" y="29"/>
                </a:cubicBezTo>
                <a:cubicBezTo>
                  <a:pt x="68" y="24"/>
                  <a:pt x="72" y="20"/>
                  <a:pt x="77" y="20"/>
                </a:cubicBezTo>
                <a:cubicBezTo>
                  <a:pt x="115" y="20"/>
                  <a:pt x="115" y="20"/>
                  <a:pt x="115" y="20"/>
                </a:cubicBezTo>
                <a:cubicBezTo>
                  <a:pt x="120" y="20"/>
                  <a:pt x="124" y="24"/>
                  <a:pt x="124" y="29"/>
                </a:cubicBezTo>
                <a:lnTo>
                  <a:pt x="124" y="40"/>
                </a:lnTo>
                <a:close/>
                <a:moveTo>
                  <a:pt x="57" y="96"/>
                </a:moveTo>
                <a:cubicBezTo>
                  <a:pt x="76" y="96"/>
                  <a:pt x="76" y="96"/>
                  <a:pt x="76" y="96"/>
                </a:cubicBezTo>
                <a:cubicBezTo>
                  <a:pt x="76" y="77"/>
                  <a:pt x="76" y="77"/>
                  <a:pt x="76" y="77"/>
                </a:cubicBezTo>
                <a:cubicBezTo>
                  <a:pt x="76" y="72"/>
                  <a:pt x="80" y="68"/>
                  <a:pt x="85" y="68"/>
                </a:cubicBezTo>
                <a:cubicBezTo>
                  <a:pt x="107" y="68"/>
                  <a:pt x="107" y="68"/>
                  <a:pt x="107" y="68"/>
                </a:cubicBezTo>
                <a:cubicBezTo>
                  <a:pt x="112" y="68"/>
                  <a:pt x="116" y="72"/>
                  <a:pt x="116" y="77"/>
                </a:cubicBezTo>
                <a:cubicBezTo>
                  <a:pt x="116" y="96"/>
                  <a:pt x="116" y="96"/>
                  <a:pt x="116" y="96"/>
                </a:cubicBezTo>
                <a:cubicBezTo>
                  <a:pt x="135" y="96"/>
                  <a:pt x="135" y="96"/>
                  <a:pt x="135" y="96"/>
                </a:cubicBezTo>
                <a:cubicBezTo>
                  <a:pt x="140" y="96"/>
                  <a:pt x="144" y="100"/>
                  <a:pt x="144" y="105"/>
                </a:cubicBezTo>
                <a:cubicBezTo>
                  <a:pt x="144" y="127"/>
                  <a:pt x="144" y="127"/>
                  <a:pt x="144" y="127"/>
                </a:cubicBezTo>
                <a:cubicBezTo>
                  <a:pt x="144" y="132"/>
                  <a:pt x="140" y="136"/>
                  <a:pt x="135" y="136"/>
                </a:cubicBezTo>
                <a:cubicBezTo>
                  <a:pt x="116" y="136"/>
                  <a:pt x="116" y="136"/>
                  <a:pt x="116" y="136"/>
                </a:cubicBezTo>
                <a:cubicBezTo>
                  <a:pt x="116" y="155"/>
                  <a:pt x="116" y="155"/>
                  <a:pt x="116" y="155"/>
                </a:cubicBezTo>
                <a:cubicBezTo>
                  <a:pt x="116" y="160"/>
                  <a:pt x="112" y="164"/>
                  <a:pt x="107" y="164"/>
                </a:cubicBezTo>
                <a:cubicBezTo>
                  <a:pt x="85" y="164"/>
                  <a:pt x="85" y="164"/>
                  <a:pt x="85" y="164"/>
                </a:cubicBezTo>
                <a:cubicBezTo>
                  <a:pt x="80" y="164"/>
                  <a:pt x="76" y="160"/>
                  <a:pt x="76" y="155"/>
                </a:cubicBezTo>
                <a:cubicBezTo>
                  <a:pt x="76" y="136"/>
                  <a:pt x="76" y="136"/>
                  <a:pt x="76" y="136"/>
                </a:cubicBezTo>
                <a:cubicBezTo>
                  <a:pt x="57" y="136"/>
                  <a:pt x="57" y="136"/>
                  <a:pt x="57" y="136"/>
                </a:cubicBezTo>
                <a:cubicBezTo>
                  <a:pt x="52" y="136"/>
                  <a:pt x="48" y="132"/>
                  <a:pt x="48" y="127"/>
                </a:cubicBezTo>
                <a:cubicBezTo>
                  <a:pt x="48" y="105"/>
                  <a:pt x="48" y="105"/>
                  <a:pt x="48" y="105"/>
                </a:cubicBezTo>
                <a:cubicBezTo>
                  <a:pt x="48" y="100"/>
                  <a:pt x="52" y="96"/>
                  <a:pt x="57" y="96"/>
                </a:cubicBezTo>
                <a:close/>
              </a:path>
            </a:pathLst>
          </a:custGeom>
          <a:gradFill>
            <a:gsLst>
              <a:gs pos="0">
                <a:schemeClr val="accent1">
                  <a:lumMod val="20000"/>
                  <a:lumOff val="80000"/>
                </a:schemeClr>
              </a:gs>
              <a:gs pos="100000">
                <a:schemeClr val="accent1"/>
              </a:gs>
            </a:gsLst>
            <a:lin ang="2700000" scaled="0"/>
          </a:gra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1" name="熊大的PPT宝库91"/>
          <p:cNvSpPr txBox="1"/>
          <p:nvPr/>
        </p:nvSpPr>
        <p:spPr>
          <a:xfrm>
            <a:off x="543330" y="2965736"/>
            <a:ext cx="276999" cy="692497"/>
          </a:xfrm>
          <a:prstGeom prst="rect">
            <a:avLst/>
          </a:prstGeom>
          <a:noFill/>
        </p:spPr>
        <p:txBody>
          <a:bodyPr vert="eaVert" wrap="none" lIns="0" tIns="0" rIns="0" bIns="0">
            <a:spAutoFit/>
          </a:bodyPr>
          <a:lstStyle>
            <a:defPPr>
              <a:defRPr lang="zh-CN"/>
            </a:defPPr>
            <a:lvl1pPr>
              <a:defRPr sz="2000" b="1">
                <a:gradFill>
                  <a:gsLst>
                    <a:gs pos="100000">
                      <a:schemeClr val="accent1"/>
                    </a:gs>
                    <a:gs pos="0">
                      <a:schemeClr val="accent2"/>
                    </a:gs>
                  </a:gsLst>
                  <a:lin ang="2700000" scaled="0"/>
                </a:gra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服务层</a:t>
            </a:r>
          </a:p>
        </p:txBody>
      </p:sp>
      <p:sp>
        <p:nvSpPr>
          <p:cNvPr id="19" name="熊大的PPT宝库92"/>
          <p:cNvSpPr/>
          <p:nvPr/>
        </p:nvSpPr>
        <p:spPr>
          <a:xfrm rot="16200000" flipH="1">
            <a:off x="-28090" y="1693621"/>
            <a:ext cx="1434727" cy="499230"/>
          </a:xfrm>
          <a:prstGeom prst="round2SameRect">
            <a:avLst>
              <a:gd name="adj1" fmla="val 14759"/>
              <a:gd name="adj2" fmla="val 0"/>
            </a:avLst>
          </a:prstGeom>
          <a:gradFill flip="none" rotWithShape="0">
            <a:gsLst>
              <a:gs pos="100000">
                <a:schemeClr val="accent1"/>
              </a:gs>
              <a:gs pos="0">
                <a:schemeClr val="accent1"/>
              </a:gs>
            </a:gsLst>
            <a:lin ang="5400000" scaled="1"/>
            <a:tileRect/>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0" name="熊大的PPT宝库93"/>
          <p:cNvSpPr txBox="1"/>
          <p:nvPr/>
        </p:nvSpPr>
        <p:spPr>
          <a:xfrm>
            <a:off x="543330" y="4685708"/>
            <a:ext cx="276999" cy="1154162"/>
          </a:xfrm>
          <a:prstGeom prst="rect">
            <a:avLst/>
          </a:prstGeom>
          <a:noFill/>
        </p:spPr>
        <p:txBody>
          <a:bodyPr vert="eaVert" wrap="none" lIns="0" tIns="0" rIns="0" bIns="0">
            <a:spAutoFit/>
          </a:bodyPr>
          <a:lstStyle>
            <a:defPPr>
              <a:defRPr lang="zh-CN"/>
            </a:defPPr>
            <a:lvl1pPr>
              <a:defRPr sz="2000" b="1">
                <a:gradFill>
                  <a:gsLst>
                    <a:gs pos="100000">
                      <a:schemeClr val="accent1"/>
                    </a:gs>
                    <a:gs pos="0">
                      <a:schemeClr val="accent2"/>
                    </a:gs>
                  </a:gsLst>
                  <a:lin ang="2700000" scaled="0"/>
                </a:gra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数据交换层</a:t>
            </a:r>
          </a:p>
        </p:txBody>
      </p:sp>
      <p:sp>
        <p:nvSpPr>
          <p:cNvPr id="21" name="熊大的PPT宝库94"/>
          <p:cNvSpPr txBox="1"/>
          <p:nvPr/>
        </p:nvSpPr>
        <p:spPr>
          <a:xfrm>
            <a:off x="543330" y="1551065"/>
            <a:ext cx="276999" cy="692497"/>
          </a:xfrm>
          <a:prstGeom prst="rect">
            <a:avLst/>
          </a:prstGeom>
          <a:noFill/>
        </p:spPr>
        <p:txBody>
          <a:bodyPr vert="eaVert" wrap="none" lIns="0" tIns="0" rIns="0" bIns="0">
            <a:spAutoFit/>
          </a:bodyPr>
          <a:lstStyle>
            <a:defPPr>
              <a:defRPr lang="zh-CN"/>
            </a:defPPr>
            <a:lvl1pPr>
              <a:defRPr sz="2000" b="1">
                <a:gradFill>
                  <a:gsLst>
                    <a:gs pos="100000">
                      <a:schemeClr val="accent1"/>
                    </a:gs>
                    <a:gs pos="0">
                      <a:schemeClr val="accent2"/>
                    </a:gs>
                  </a:gsLst>
                  <a:lin ang="2700000" scaled="0"/>
                </a:gra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应用层</a:t>
            </a:r>
          </a:p>
        </p:txBody>
      </p:sp>
      <p:sp>
        <p:nvSpPr>
          <p:cNvPr id="12" name="熊大的PPT宝库96"/>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熊大的PPT宝库1"/>
          <p:cNvSpPr txBox="1"/>
          <p:nvPr/>
        </p:nvSpPr>
        <p:spPr>
          <a:xfrm>
            <a:off x="348830" y="216968"/>
            <a:ext cx="3877985"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产业大模型生命周期</a:t>
            </a:r>
          </a:p>
        </p:txBody>
      </p:sp>
      <p:sp>
        <p:nvSpPr>
          <p:cNvPr id="3" name="熊大的PPT宝库2"/>
          <p:cNvSpPr/>
          <p:nvPr/>
        </p:nvSpPr>
        <p:spPr>
          <a:xfrm>
            <a:off x="2646968" y="1744508"/>
            <a:ext cx="9130570" cy="1338701"/>
          </a:xfrm>
          <a:prstGeom prst="roundRect">
            <a:avLst>
              <a:gd name="adj" fmla="val 0"/>
            </a:avLst>
          </a:prstGeom>
          <a:gradFill>
            <a:gsLst>
              <a:gs pos="11000">
                <a:schemeClr val="accent1">
                  <a:lumMod val="20000"/>
                  <a:lumOff val="80000"/>
                  <a:alpha val="0"/>
                </a:schemeClr>
              </a:gs>
              <a:gs pos="100000">
                <a:schemeClr val="accent1">
                  <a:lumMod val="10000"/>
                  <a:lumOff val="90000"/>
                </a:schemeClr>
              </a:gs>
            </a:gsLst>
            <a:lin ang="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4" name="熊大的PPT宝库3"/>
          <p:cNvSpPr/>
          <p:nvPr/>
        </p:nvSpPr>
        <p:spPr>
          <a:xfrm flipV="1">
            <a:off x="11705538" y="1744508"/>
            <a:ext cx="72000" cy="1338701"/>
          </a:xfrm>
          <a:prstGeom prst="roundRect">
            <a:avLst>
              <a:gd name="adj" fmla="val 0"/>
            </a:avLst>
          </a:prstGeom>
          <a:gradFill>
            <a:gsLst>
              <a:gs pos="0">
                <a:schemeClr val="accent1">
                  <a:alpha val="67000"/>
                </a:schemeClr>
              </a:gs>
              <a:gs pos="78000">
                <a:schemeClr val="accent1"/>
              </a:gs>
            </a:gsLst>
            <a:lin ang="5400000" scaled="0"/>
          </a:gradFill>
          <a:ln w="9525"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5" name="熊大的PPT宝库4"/>
          <p:cNvSpPr/>
          <p:nvPr/>
        </p:nvSpPr>
        <p:spPr>
          <a:xfrm>
            <a:off x="2645505" y="3183819"/>
            <a:ext cx="9130570" cy="1338701"/>
          </a:xfrm>
          <a:prstGeom prst="roundRect">
            <a:avLst>
              <a:gd name="adj" fmla="val 0"/>
            </a:avLst>
          </a:prstGeom>
          <a:gradFill>
            <a:gsLst>
              <a:gs pos="11000">
                <a:schemeClr val="accent1">
                  <a:lumMod val="20000"/>
                  <a:lumOff val="80000"/>
                  <a:alpha val="0"/>
                </a:schemeClr>
              </a:gs>
              <a:gs pos="100000">
                <a:schemeClr val="accent1">
                  <a:lumMod val="10000"/>
                  <a:lumOff val="90000"/>
                </a:schemeClr>
              </a:gs>
            </a:gsLst>
            <a:lin ang="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6" name="熊大的PPT宝库5"/>
          <p:cNvSpPr/>
          <p:nvPr/>
        </p:nvSpPr>
        <p:spPr>
          <a:xfrm flipV="1">
            <a:off x="11705538" y="3183819"/>
            <a:ext cx="72000" cy="1338701"/>
          </a:xfrm>
          <a:prstGeom prst="roundRect">
            <a:avLst>
              <a:gd name="adj" fmla="val 0"/>
            </a:avLst>
          </a:prstGeom>
          <a:gradFill>
            <a:gsLst>
              <a:gs pos="0">
                <a:schemeClr val="accent1">
                  <a:alpha val="67000"/>
                </a:schemeClr>
              </a:gs>
              <a:gs pos="78000">
                <a:schemeClr val="accent1"/>
              </a:gs>
            </a:gsLst>
            <a:lin ang="5400000" scaled="0"/>
          </a:gradFill>
          <a:ln w="9525"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7" name="熊大的PPT宝库6"/>
          <p:cNvSpPr/>
          <p:nvPr/>
        </p:nvSpPr>
        <p:spPr>
          <a:xfrm>
            <a:off x="2645505" y="4623129"/>
            <a:ext cx="9130570" cy="1338701"/>
          </a:xfrm>
          <a:prstGeom prst="roundRect">
            <a:avLst>
              <a:gd name="adj" fmla="val 0"/>
            </a:avLst>
          </a:prstGeom>
          <a:gradFill>
            <a:gsLst>
              <a:gs pos="11000">
                <a:schemeClr val="accent1">
                  <a:lumMod val="20000"/>
                  <a:lumOff val="80000"/>
                  <a:alpha val="0"/>
                </a:schemeClr>
              </a:gs>
              <a:gs pos="100000">
                <a:schemeClr val="accent1">
                  <a:lumMod val="10000"/>
                  <a:lumOff val="90000"/>
                </a:schemeClr>
              </a:gs>
            </a:gsLst>
            <a:lin ang="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 name="熊大的PPT宝库7"/>
          <p:cNvSpPr/>
          <p:nvPr/>
        </p:nvSpPr>
        <p:spPr>
          <a:xfrm flipV="1">
            <a:off x="11705538" y="4623129"/>
            <a:ext cx="72000" cy="1338701"/>
          </a:xfrm>
          <a:prstGeom prst="roundRect">
            <a:avLst>
              <a:gd name="adj" fmla="val 0"/>
            </a:avLst>
          </a:prstGeom>
          <a:gradFill>
            <a:gsLst>
              <a:gs pos="0">
                <a:schemeClr val="accent1">
                  <a:alpha val="67000"/>
                </a:schemeClr>
              </a:gs>
              <a:gs pos="78000">
                <a:schemeClr val="accent1"/>
              </a:gs>
            </a:gsLst>
            <a:lin ang="5400000" scaled="0"/>
          </a:gradFill>
          <a:ln w="9525"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0" name="熊大的PPT宝库8"/>
          <p:cNvSpPr/>
          <p:nvPr/>
        </p:nvSpPr>
        <p:spPr bwMode="auto">
          <a:xfrm>
            <a:off x="2778498" y="1529047"/>
            <a:ext cx="2143675" cy="2252098"/>
          </a:xfrm>
          <a:custGeom>
            <a:avLst/>
            <a:gdLst>
              <a:gd name="T0" fmla="*/ 0 w 5763"/>
              <a:gd name="T1" fmla="*/ 0 h 6059"/>
              <a:gd name="T2" fmla="*/ 5763 w 5763"/>
              <a:gd name="T3" fmla="*/ 4186 h 6059"/>
              <a:gd name="T4" fmla="*/ 0 w 5763"/>
              <a:gd name="T5" fmla="*/ 6059 h 6059"/>
              <a:gd name="T6" fmla="*/ 0 w 5763"/>
              <a:gd name="T7" fmla="*/ 0 h 6059"/>
            </a:gdLst>
            <a:ahLst/>
            <a:cxnLst>
              <a:cxn ang="0">
                <a:pos x="T0" y="T1"/>
              </a:cxn>
              <a:cxn ang="0">
                <a:pos x="T2" y="T3"/>
              </a:cxn>
              <a:cxn ang="0">
                <a:pos x="T4" y="T5"/>
              </a:cxn>
              <a:cxn ang="0">
                <a:pos x="T6" y="T7"/>
              </a:cxn>
            </a:cxnLst>
            <a:rect l="0" t="0" r="r" b="b"/>
            <a:pathLst>
              <a:path w="5763" h="6059">
                <a:moveTo>
                  <a:pt x="0" y="0"/>
                </a:moveTo>
                <a:cubicBezTo>
                  <a:pt x="2625" y="0"/>
                  <a:pt x="4952" y="1690"/>
                  <a:pt x="5763" y="4186"/>
                </a:cubicBezTo>
                <a:lnTo>
                  <a:pt x="0" y="6059"/>
                </a:lnTo>
                <a:lnTo>
                  <a:pt x="0" y="0"/>
                </a:lnTo>
                <a:close/>
              </a:path>
            </a:pathLst>
          </a:custGeom>
          <a:gradFill flip="none" rotWithShape="1">
            <a:gsLst>
              <a:gs pos="0">
                <a:schemeClr val="accent1">
                  <a:alpha val="0"/>
                </a:schemeClr>
              </a:gs>
              <a:gs pos="70000">
                <a:schemeClr val="accent1"/>
              </a:gs>
            </a:gsLst>
            <a:lin ang="2700000" scaled="1"/>
            <a:tileRect/>
          </a:grad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1" name="熊大的PPT宝库9"/>
          <p:cNvSpPr/>
          <p:nvPr/>
        </p:nvSpPr>
        <p:spPr bwMode="auto">
          <a:xfrm>
            <a:off x="2778498" y="3085690"/>
            <a:ext cx="2444161" cy="2518508"/>
          </a:xfrm>
          <a:custGeom>
            <a:avLst/>
            <a:gdLst>
              <a:gd name="T0" fmla="*/ 5763 w 6574"/>
              <a:gd name="T1" fmla="*/ 0 h 6775"/>
              <a:gd name="T2" fmla="*/ 3562 w 6574"/>
              <a:gd name="T3" fmla="*/ 6775 h 6775"/>
              <a:gd name="T4" fmla="*/ 0 w 6574"/>
              <a:gd name="T5" fmla="*/ 1873 h 6775"/>
              <a:gd name="T6" fmla="*/ 5763 w 6574"/>
              <a:gd name="T7" fmla="*/ 0 h 6775"/>
            </a:gdLst>
            <a:ahLst/>
            <a:cxnLst>
              <a:cxn ang="0">
                <a:pos x="T0" y="T1"/>
              </a:cxn>
              <a:cxn ang="0">
                <a:pos x="T2" y="T3"/>
              </a:cxn>
              <a:cxn ang="0">
                <a:pos x="T4" y="T5"/>
              </a:cxn>
              <a:cxn ang="0">
                <a:pos x="T6" y="T7"/>
              </a:cxn>
            </a:cxnLst>
            <a:rect l="0" t="0" r="r" b="b"/>
            <a:pathLst>
              <a:path w="6574" h="6775">
                <a:moveTo>
                  <a:pt x="5763" y="0"/>
                </a:moveTo>
                <a:cubicBezTo>
                  <a:pt x="6574" y="2497"/>
                  <a:pt x="5686" y="5232"/>
                  <a:pt x="3562" y="6775"/>
                </a:cubicBezTo>
                <a:lnTo>
                  <a:pt x="0" y="1873"/>
                </a:lnTo>
                <a:lnTo>
                  <a:pt x="5763" y="0"/>
                </a:lnTo>
                <a:close/>
              </a:path>
            </a:pathLst>
          </a:custGeom>
          <a:gradFill flip="none" rotWithShape="1">
            <a:gsLst>
              <a:gs pos="0">
                <a:schemeClr val="accent1">
                  <a:alpha val="0"/>
                </a:schemeClr>
              </a:gs>
              <a:gs pos="70000">
                <a:schemeClr val="accent1"/>
              </a:gs>
            </a:gsLst>
            <a:lin ang="5400000" scaled="0"/>
            <a:tileRect/>
          </a:grad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2" name="熊大的PPT宝库10"/>
          <p:cNvSpPr/>
          <p:nvPr/>
        </p:nvSpPr>
        <p:spPr bwMode="auto">
          <a:xfrm>
            <a:off x="1454191" y="3781145"/>
            <a:ext cx="2648616" cy="2396146"/>
          </a:xfrm>
          <a:custGeom>
            <a:avLst/>
            <a:gdLst>
              <a:gd name="T0" fmla="*/ 14245 w 14245"/>
              <a:gd name="T1" fmla="*/ 9804 h 12890"/>
              <a:gd name="T2" fmla="*/ 0 w 14245"/>
              <a:gd name="T3" fmla="*/ 9804 h 12890"/>
              <a:gd name="T4" fmla="*/ 7122 w 14245"/>
              <a:gd name="T5" fmla="*/ 0 h 12890"/>
              <a:gd name="T6" fmla="*/ 14245 w 14245"/>
              <a:gd name="T7" fmla="*/ 9804 h 12890"/>
            </a:gdLst>
            <a:ahLst/>
            <a:cxnLst>
              <a:cxn ang="0">
                <a:pos x="T0" y="T1"/>
              </a:cxn>
              <a:cxn ang="0">
                <a:pos x="T2" y="T3"/>
              </a:cxn>
              <a:cxn ang="0">
                <a:pos x="T4" y="T5"/>
              </a:cxn>
              <a:cxn ang="0">
                <a:pos x="T6" y="T7"/>
              </a:cxn>
            </a:cxnLst>
            <a:rect l="0" t="0" r="r" b="b"/>
            <a:pathLst>
              <a:path w="14245" h="12890">
                <a:moveTo>
                  <a:pt x="14245" y="9804"/>
                </a:moveTo>
                <a:cubicBezTo>
                  <a:pt x="9998" y="12890"/>
                  <a:pt x="4247" y="12890"/>
                  <a:pt x="0" y="9804"/>
                </a:cubicBezTo>
                <a:lnTo>
                  <a:pt x="7122" y="0"/>
                </a:lnTo>
                <a:lnTo>
                  <a:pt x="14245" y="9804"/>
                </a:lnTo>
                <a:close/>
              </a:path>
            </a:pathLst>
          </a:custGeom>
          <a:gradFill flip="none" rotWithShape="1">
            <a:gsLst>
              <a:gs pos="0">
                <a:schemeClr val="accent1">
                  <a:alpha val="0"/>
                </a:schemeClr>
              </a:gs>
              <a:gs pos="70000">
                <a:schemeClr val="accent1"/>
              </a:gs>
            </a:gsLst>
            <a:lin ang="10200000" scaled="0"/>
            <a:tileRect/>
          </a:grad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3" name="熊大的PPT宝库11"/>
          <p:cNvSpPr/>
          <p:nvPr/>
        </p:nvSpPr>
        <p:spPr bwMode="auto">
          <a:xfrm>
            <a:off x="334337" y="3085690"/>
            <a:ext cx="2444161" cy="2518508"/>
          </a:xfrm>
          <a:custGeom>
            <a:avLst/>
            <a:gdLst>
              <a:gd name="T0" fmla="*/ 6025 w 13147"/>
              <a:gd name="T1" fmla="*/ 13549 h 13549"/>
              <a:gd name="T2" fmla="*/ 1622 w 13147"/>
              <a:gd name="T3" fmla="*/ 0 h 13549"/>
              <a:gd name="T4" fmla="*/ 13147 w 13147"/>
              <a:gd name="T5" fmla="*/ 3745 h 13549"/>
              <a:gd name="T6" fmla="*/ 6025 w 13147"/>
              <a:gd name="T7" fmla="*/ 13549 h 13549"/>
            </a:gdLst>
            <a:ahLst/>
            <a:cxnLst>
              <a:cxn ang="0">
                <a:pos x="T0" y="T1"/>
              </a:cxn>
              <a:cxn ang="0">
                <a:pos x="T2" y="T3"/>
              </a:cxn>
              <a:cxn ang="0">
                <a:pos x="T4" y="T5"/>
              </a:cxn>
              <a:cxn ang="0">
                <a:pos x="T6" y="T7"/>
              </a:cxn>
            </a:cxnLst>
            <a:rect l="0" t="0" r="r" b="b"/>
            <a:pathLst>
              <a:path w="13147" h="13549">
                <a:moveTo>
                  <a:pt x="6025" y="13549"/>
                </a:moveTo>
                <a:cubicBezTo>
                  <a:pt x="1777" y="10463"/>
                  <a:pt x="0" y="4993"/>
                  <a:pt x="1622" y="0"/>
                </a:cubicBezTo>
                <a:lnTo>
                  <a:pt x="13147" y="3745"/>
                </a:lnTo>
                <a:lnTo>
                  <a:pt x="6025" y="13549"/>
                </a:lnTo>
                <a:close/>
              </a:path>
            </a:pathLst>
          </a:custGeom>
          <a:gradFill flip="none" rotWithShape="1">
            <a:gsLst>
              <a:gs pos="0">
                <a:schemeClr val="accent1">
                  <a:alpha val="0"/>
                </a:schemeClr>
              </a:gs>
              <a:gs pos="70000">
                <a:schemeClr val="accent1"/>
              </a:gs>
            </a:gsLst>
            <a:lin ang="13680000" scaled="0"/>
            <a:tileRect/>
          </a:grad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4" name="熊大的PPT宝库12"/>
          <p:cNvSpPr/>
          <p:nvPr/>
        </p:nvSpPr>
        <p:spPr bwMode="auto">
          <a:xfrm>
            <a:off x="636373" y="1529047"/>
            <a:ext cx="2142126" cy="2252098"/>
          </a:xfrm>
          <a:custGeom>
            <a:avLst/>
            <a:gdLst>
              <a:gd name="T0" fmla="*/ 0 w 11525"/>
              <a:gd name="T1" fmla="*/ 8373 h 12118"/>
              <a:gd name="T2" fmla="*/ 11525 w 11525"/>
              <a:gd name="T3" fmla="*/ 0 h 12118"/>
              <a:gd name="T4" fmla="*/ 11525 w 11525"/>
              <a:gd name="T5" fmla="*/ 12118 h 12118"/>
              <a:gd name="T6" fmla="*/ 0 w 11525"/>
              <a:gd name="T7" fmla="*/ 8373 h 12118"/>
            </a:gdLst>
            <a:ahLst/>
            <a:cxnLst>
              <a:cxn ang="0">
                <a:pos x="T0" y="T1"/>
              </a:cxn>
              <a:cxn ang="0">
                <a:pos x="T2" y="T3"/>
              </a:cxn>
              <a:cxn ang="0">
                <a:pos x="T4" y="T5"/>
              </a:cxn>
              <a:cxn ang="0">
                <a:pos x="T6" y="T7"/>
              </a:cxn>
            </a:cxnLst>
            <a:rect l="0" t="0" r="r" b="b"/>
            <a:pathLst>
              <a:path w="11525" h="12118">
                <a:moveTo>
                  <a:pt x="0" y="8373"/>
                </a:moveTo>
                <a:cubicBezTo>
                  <a:pt x="1623" y="3380"/>
                  <a:pt x="6276" y="0"/>
                  <a:pt x="11525" y="0"/>
                </a:cubicBezTo>
                <a:lnTo>
                  <a:pt x="11525" y="12118"/>
                </a:lnTo>
                <a:lnTo>
                  <a:pt x="0" y="8373"/>
                </a:lnTo>
                <a:close/>
              </a:path>
            </a:pathLst>
          </a:custGeom>
          <a:gradFill flip="none" rotWithShape="1">
            <a:gsLst>
              <a:gs pos="0">
                <a:schemeClr val="accent1">
                  <a:alpha val="0"/>
                </a:schemeClr>
              </a:gs>
              <a:gs pos="70000">
                <a:schemeClr val="accent1"/>
              </a:gs>
            </a:gsLst>
            <a:lin ang="19800000" scaled="0"/>
            <a:tileRect/>
          </a:grad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 name="熊大的PPT宝库13"/>
          <p:cNvSpPr/>
          <p:nvPr>
            <p:custDataLst>
              <p:tags r:id="rId2"/>
            </p:custDataLst>
          </p:nvPr>
        </p:nvSpPr>
        <p:spPr>
          <a:xfrm>
            <a:off x="1870946" y="2945619"/>
            <a:ext cx="1815105" cy="1815101"/>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6" name="熊大的PPT宝库14"/>
          <p:cNvSpPr txBox="1"/>
          <p:nvPr/>
        </p:nvSpPr>
        <p:spPr>
          <a:xfrm>
            <a:off x="2035997" y="3395163"/>
            <a:ext cx="1484905" cy="83099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00329D"/>
                </a:solidFill>
                <a:effectLst/>
                <a:uLnTx/>
                <a:uFillTx/>
                <a:cs typeface="+mn-ea"/>
                <a:sym typeface="+mn-lt"/>
              </a:rPr>
              <a:t>产业</a:t>
            </a:r>
            <a:endParaRPr kumimoji="0" lang="en-US" altLang="zh-CN" sz="24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00329D"/>
                </a:solidFill>
                <a:effectLst/>
                <a:uLnTx/>
                <a:uFillTx/>
                <a:cs typeface="+mn-ea"/>
                <a:sym typeface="+mn-lt"/>
              </a:rPr>
              <a:t>生命周期</a:t>
            </a:r>
          </a:p>
        </p:txBody>
      </p:sp>
      <p:sp>
        <p:nvSpPr>
          <p:cNvPr id="17" name="熊大的PPT宝库15"/>
          <p:cNvSpPr txBox="1"/>
          <p:nvPr/>
        </p:nvSpPr>
        <p:spPr>
          <a:xfrm>
            <a:off x="1115413" y="2600333"/>
            <a:ext cx="1357230" cy="3693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项目总结</a:t>
            </a:r>
          </a:p>
        </p:txBody>
      </p:sp>
      <p:sp>
        <p:nvSpPr>
          <p:cNvPr id="18" name="熊大的PPT宝库16"/>
          <p:cNvSpPr txBox="1"/>
          <p:nvPr/>
        </p:nvSpPr>
        <p:spPr>
          <a:xfrm>
            <a:off x="737798" y="4443846"/>
            <a:ext cx="1357230" cy="3693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项目结算</a:t>
            </a:r>
          </a:p>
        </p:txBody>
      </p:sp>
      <p:sp>
        <p:nvSpPr>
          <p:cNvPr id="19" name="熊大的PPT宝库17"/>
          <p:cNvSpPr txBox="1"/>
          <p:nvPr/>
        </p:nvSpPr>
        <p:spPr>
          <a:xfrm>
            <a:off x="3116613" y="2600333"/>
            <a:ext cx="1271797" cy="3693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项目引入</a:t>
            </a:r>
          </a:p>
        </p:txBody>
      </p:sp>
      <p:sp>
        <p:nvSpPr>
          <p:cNvPr id="20" name="熊大的PPT宝库18"/>
          <p:cNvSpPr txBox="1"/>
          <p:nvPr/>
        </p:nvSpPr>
        <p:spPr>
          <a:xfrm>
            <a:off x="2066961" y="5413682"/>
            <a:ext cx="1357230" cy="3693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项目管理</a:t>
            </a:r>
          </a:p>
        </p:txBody>
      </p:sp>
      <p:sp>
        <p:nvSpPr>
          <p:cNvPr id="21" name="熊大的PPT宝库19"/>
          <p:cNvSpPr txBox="1"/>
          <p:nvPr/>
        </p:nvSpPr>
        <p:spPr>
          <a:xfrm>
            <a:off x="3517665" y="4443846"/>
            <a:ext cx="1357230" cy="36933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项目协同</a:t>
            </a:r>
          </a:p>
        </p:txBody>
      </p:sp>
      <p:sp>
        <p:nvSpPr>
          <p:cNvPr id="22" name="熊大的PPT宝库20"/>
          <p:cNvSpPr txBox="1"/>
          <p:nvPr/>
        </p:nvSpPr>
        <p:spPr>
          <a:xfrm>
            <a:off x="7067729" y="3389553"/>
            <a:ext cx="4487898" cy="964431"/>
          </a:xfrm>
          <a:prstGeom prst="rect">
            <a:avLst/>
          </a:prstGeom>
          <a:noFill/>
        </p:spPr>
        <p:txBody>
          <a:bodyPr wrap="square">
            <a:spAutoFit/>
          </a:bodyPr>
          <a:lstStyle/>
          <a:p>
            <a:pPr marL="0" marR="0" lvl="0" indent="0" algn="l" defTabSz="4572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在业务项目的全生命周期过程中提供业务能力与技术支撑，帮助合作伙伴在全周期当中以激昂的状态砥砺奋进</a:t>
            </a:r>
          </a:p>
        </p:txBody>
      </p:sp>
      <p:sp>
        <p:nvSpPr>
          <p:cNvPr id="23" name="熊大的PPT宝库21"/>
          <p:cNvSpPr txBox="1"/>
          <p:nvPr/>
        </p:nvSpPr>
        <p:spPr>
          <a:xfrm>
            <a:off x="5843864" y="2059915"/>
            <a:ext cx="948344" cy="707886"/>
          </a:xfrm>
          <a:prstGeom prst="rect">
            <a:avLst/>
          </a:prstGeom>
        </p:spPr>
        <p:txBody>
          <a:bodyPr wrap="square" rtlCol="0">
            <a:spAutoFit/>
          </a:bodyPr>
          <a:lstStyle>
            <a:defPPr>
              <a:defRPr lang="zh-CN"/>
            </a:defPPr>
            <a:lvl1pPr>
              <a:defRPr sz="2000" b="1">
                <a:gradFill>
                  <a:gsLst>
                    <a:gs pos="97000">
                      <a:schemeClr val="accent1"/>
                    </a:gs>
                    <a:gs pos="0">
                      <a:schemeClr val="accent2"/>
                    </a:gs>
                  </a:gsLst>
                  <a:lin ang="2700000" scaled="0"/>
                </a:gradFill>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gradFill>
                  <a:gsLst>
                    <a:gs pos="97000">
                      <a:srgbClr val="00329D"/>
                    </a:gs>
                    <a:gs pos="0">
                      <a:srgbClr val="00329D"/>
                    </a:gs>
                  </a:gsLst>
                  <a:lin ang="2700000" scaled="0"/>
                </a:gradFill>
                <a:effectLst/>
                <a:uLnTx/>
                <a:uFillTx/>
                <a:cs typeface="+mn-ea"/>
                <a:sym typeface="+mn-lt"/>
              </a:rPr>
              <a:t>功能</a:t>
            </a:r>
            <a:endParaRPr kumimoji="0" lang="en-US" altLang="zh-CN" sz="2000" b="0" i="0" u="none" strike="noStrike" kern="1200" cap="none" spc="0" normalizeH="0" baseline="0" noProof="0" dirty="0">
              <a:ln>
                <a:noFill/>
              </a:ln>
              <a:gradFill>
                <a:gsLst>
                  <a:gs pos="97000">
                    <a:srgbClr val="00329D"/>
                  </a:gs>
                  <a:gs pos="0">
                    <a:srgbClr val="00329D"/>
                  </a:gs>
                </a:gsLst>
                <a:lin ang="2700000" scaled="0"/>
              </a:gra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gradFill>
                  <a:gsLst>
                    <a:gs pos="97000">
                      <a:srgbClr val="00329D"/>
                    </a:gs>
                    <a:gs pos="0">
                      <a:srgbClr val="00329D"/>
                    </a:gs>
                  </a:gsLst>
                  <a:lin ang="2700000" scaled="0"/>
                </a:gradFill>
                <a:effectLst/>
                <a:uLnTx/>
                <a:uFillTx/>
                <a:cs typeface="+mn-ea"/>
                <a:sym typeface="+mn-lt"/>
              </a:rPr>
              <a:t>全覆盖</a:t>
            </a:r>
          </a:p>
        </p:txBody>
      </p:sp>
      <p:sp>
        <p:nvSpPr>
          <p:cNvPr id="24" name="熊大的PPT宝库22"/>
          <p:cNvSpPr txBox="1"/>
          <p:nvPr/>
        </p:nvSpPr>
        <p:spPr>
          <a:xfrm>
            <a:off x="5843864" y="3499226"/>
            <a:ext cx="948344" cy="707886"/>
          </a:xfrm>
          <a:prstGeom prst="rect">
            <a:avLst/>
          </a:prstGeom>
        </p:spPr>
        <p:txBody>
          <a:bodyPr wrap="square" rtlCol="0">
            <a:spAutoFit/>
          </a:bodyPr>
          <a:lstStyle>
            <a:defPPr>
              <a:defRPr lang="zh-CN"/>
            </a:defPPr>
            <a:lvl1pPr>
              <a:defRPr sz="2000" b="1">
                <a:gradFill>
                  <a:gsLst>
                    <a:gs pos="97000">
                      <a:schemeClr val="accent1"/>
                    </a:gs>
                    <a:gs pos="0">
                      <a:schemeClr val="accent2"/>
                    </a:gs>
                  </a:gsLst>
                  <a:lin ang="2700000" scaled="0"/>
                </a:gradFill>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gradFill>
                  <a:gsLst>
                    <a:gs pos="97000">
                      <a:srgbClr val="00329D"/>
                    </a:gs>
                    <a:gs pos="0">
                      <a:srgbClr val="00329D"/>
                    </a:gs>
                  </a:gsLst>
                  <a:lin ang="2700000" scaled="0"/>
                </a:gradFill>
                <a:effectLst/>
                <a:uLnTx/>
                <a:uFillTx/>
                <a:cs typeface="+mn-ea"/>
                <a:sym typeface="+mn-lt"/>
              </a:rPr>
              <a:t>业务</a:t>
            </a:r>
            <a:endParaRPr kumimoji="0" lang="en-US" altLang="zh-CN" sz="2000" b="0" i="0" u="none" strike="noStrike" kern="1200" cap="none" spc="0" normalizeH="0" baseline="0" noProof="0" dirty="0">
              <a:ln>
                <a:noFill/>
              </a:ln>
              <a:gradFill>
                <a:gsLst>
                  <a:gs pos="97000">
                    <a:srgbClr val="00329D"/>
                  </a:gs>
                  <a:gs pos="0">
                    <a:srgbClr val="00329D"/>
                  </a:gs>
                </a:gsLst>
                <a:lin ang="2700000" scaled="0"/>
              </a:gra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gradFill>
                  <a:gsLst>
                    <a:gs pos="97000">
                      <a:srgbClr val="00329D"/>
                    </a:gs>
                    <a:gs pos="0">
                      <a:srgbClr val="00329D"/>
                    </a:gs>
                  </a:gsLst>
                  <a:lin ang="2700000" scaled="0"/>
                </a:gradFill>
                <a:effectLst/>
                <a:uLnTx/>
                <a:uFillTx/>
                <a:cs typeface="+mn-ea"/>
                <a:sym typeface="+mn-lt"/>
              </a:rPr>
              <a:t>全覆盖</a:t>
            </a:r>
          </a:p>
        </p:txBody>
      </p:sp>
      <p:sp>
        <p:nvSpPr>
          <p:cNvPr id="25" name="熊大的PPT宝库23"/>
          <p:cNvSpPr txBox="1"/>
          <p:nvPr/>
        </p:nvSpPr>
        <p:spPr>
          <a:xfrm>
            <a:off x="5843864" y="4938536"/>
            <a:ext cx="948344" cy="707886"/>
          </a:xfrm>
          <a:prstGeom prst="rect">
            <a:avLst/>
          </a:prstGeom>
        </p:spPr>
        <p:txBody>
          <a:bodyPr wrap="square" rtlCol="0">
            <a:spAutoFit/>
          </a:bodyPr>
          <a:lstStyle>
            <a:defPPr>
              <a:defRPr lang="zh-CN"/>
            </a:defPPr>
            <a:lvl1pPr>
              <a:defRPr sz="2000" b="1">
                <a:gradFill>
                  <a:gsLst>
                    <a:gs pos="97000">
                      <a:schemeClr val="accent1"/>
                    </a:gs>
                    <a:gs pos="0">
                      <a:schemeClr val="accent2"/>
                    </a:gs>
                  </a:gsLst>
                  <a:lin ang="2700000" scaled="0"/>
                </a:gradFill>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gradFill>
                  <a:gsLst>
                    <a:gs pos="97000">
                      <a:srgbClr val="00329D"/>
                    </a:gs>
                    <a:gs pos="0">
                      <a:srgbClr val="00329D"/>
                    </a:gs>
                  </a:gsLst>
                  <a:lin ang="2700000" scaled="0"/>
                </a:gradFill>
                <a:effectLst/>
                <a:uLnTx/>
                <a:uFillTx/>
                <a:cs typeface="+mn-ea"/>
                <a:sym typeface="+mn-lt"/>
              </a:rPr>
              <a:t>数据</a:t>
            </a:r>
            <a:endParaRPr kumimoji="0" lang="en-US" altLang="zh-CN" sz="2000" b="0" i="0" u="none" strike="noStrike" kern="1200" cap="none" spc="0" normalizeH="0" baseline="0" noProof="0" dirty="0">
              <a:ln>
                <a:noFill/>
              </a:ln>
              <a:gradFill>
                <a:gsLst>
                  <a:gs pos="97000">
                    <a:srgbClr val="00329D"/>
                  </a:gs>
                  <a:gs pos="0">
                    <a:srgbClr val="00329D"/>
                  </a:gs>
                </a:gsLst>
                <a:lin ang="2700000" scaled="0"/>
              </a:gra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gradFill>
                  <a:gsLst>
                    <a:gs pos="97000">
                      <a:srgbClr val="00329D"/>
                    </a:gs>
                    <a:gs pos="0">
                      <a:srgbClr val="00329D"/>
                    </a:gs>
                  </a:gsLst>
                  <a:lin ang="2700000" scaled="0"/>
                </a:gradFill>
                <a:effectLst/>
                <a:uLnTx/>
                <a:uFillTx/>
                <a:cs typeface="+mn-ea"/>
                <a:sym typeface="+mn-lt"/>
              </a:rPr>
              <a:t>全覆盖</a:t>
            </a:r>
          </a:p>
        </p:txBody>
      </p:sp>
      <p:sp>
        <p:nvSpPr>
          <p:cNvPr id="26" name="熊大的PPT宝库24"/>
          <p:cNvSpPr/>
          <p:nvPr/>
        </p:nvSpPr>
        <p:spPr>
          <a:xfrm>
            <a:off x="3926939" y="4046884"/>
            <a:ext cx="411012" cy="308130"/>
          </a:xfrm>
          <a:custGeom>
            <a:avLst/>
            <a:gdLst>
              <a:gd name="connsiteX0" fmla="*/ 127473 w 576405"/>
              <a:gd name="connsiteY0" fmla="*/ 301859 h 432124"/>
              <a:gd name="connsiteX1" fmla="*/ 126793 w 576405"/>
              <a:gd name="connsiteY1" fmla="*/ 325606 h 432124"/>
              <a:gd name="connsiteX2" fmla="*/ 208323 w 576405"/>
              <a:gd name="connsiteY2" fmla="*/ 404307 h 432124"/>
              <a:gd name="connsiteX3" fmla="*/ 244333 w 576405"/>
              <a:gd name="connsiteY3" fmla="*/ 407021 h 432124"/>
              <a:gd name="connsiteX4" fmla="*/ 193376 w 576405"/>
              <a:gd name="connsiteY4" fmla="*/ 82716 h 432124"/>
              <a:gd name="connsiteX5" fmla="*/ 88066 w 576405"/>
              <a:gd name="connsiteY5" fmla="*/ 191270 h 432124"/>
              <a:gd name="connsiteX6" fmla="*/ 85349 w 576405"/>
              <a:gd name="connsiteY6" fmla="*/ 202804 h 432124"/>
              <a:gd name="connsiteX7" fmla="*/ 101655 w 576405"/>
              <a:gd name="connsiteY7" fmla="*/ 247582 h 432124"/>
              <a:gd name="connsiteX8" fmla="*/ 110487 w 576405"/>
              <a:gd name="connsiteY8" fmla="*/ 261152 h 432124"/>
              <a:gd name="connsiteX9" fmla="*/ 268792 w 576405"/>
              <a:gd name="connsiteY9" fmla="*/ 405664 h 432124"/>
              <a:gd name="connsiteX10" fmla="*/ 299366 w 576405"/>
              <a:gd name="connsiteY10" fmla="*/ 413127 h 432124"/>
              <a:gd name="connsiteX11" fmla="*/ 318389 w 576405"/>
              <a:gd name="connsiteY11" fmla="*/ 407021 h 432124"/>
              <a:gd name="connsiteX12" fmla="*/ 226668 w 576405"/>
              <a:gd name="connsiteY12" fmla="*/ 325606 h 432124"/>
              <a:gd name="connsiteX13" fmla="*/ 225988 w 576405"/>
              <a:gd name="connsiteY13" fmla="*/ 312715 h 432124"/>
              <a:gd name="connsiteX14" fmla="*/ 238897 w 576405"/>
              <a:gd name="connsiteY14" fmla="*/ 312036 h 432124"/>
              <a:gd name="connsiteX15" fmla="*/ 334016 w 576405"/>
              <a:gd name="connsiteY15" fmla="*/ 396166 h 432124"/>
              <a:gd name="connsiteX16" fmla="*/ 335375 w 576405"/>
              <a:gd name="connsiteY16" fmla="*/ 398879 h 432124"/>
              <a:gd name="connsiteX17" fmla="*/ 357796 w 576405"/>
              <a:gd name="connsiteY17" fmla="*/ 383275 h 432124"/>
              <a:gd name="connsiteX18" fmla="*/ 258600 w 576405"/>
              <a:gd name="connsiteY18" fmla="*/ 293718 h 432124"/>
              <a:gd name="connsiteX19" fmla="*/ 257921 w 576405"/>
              <a:gd name="connsiteY19" fmla="*/ 280827 h 432124"/>
              <a:gd name="connsiteX20" fmla="*/ 270151 w 576405"/>
              <a:gd name="connsiteY20" fmla="*/ 280149 h 432124"/>
              <a:gd name="connsiteX21" fmla="*/ 370705 w 576405"/>
              <a:gd name="connsiteY21" fmla="*/ 370384 h 432124"/>
              <a:gd name="connsiteX22" fmla="*/ 387011 w 576405"/>
              <a:gd name="connsiteY22" fmla="*/ 347995 h 432124"/>
              <a:gd name="connsiteX23" fmla="*/ 384972 w 576405"/>
              <a:gd name="connsiteY23" fmla="*/ 346638 h 432124"/>
              <a:gd name="connsiteX24" fmla="*/ 289854 w 576405"/>
              <a:gd name="connsiteY24" fmla="*/ 262509 h 432124"/>
              <a:gd name="connsiteX25" fmla="*/ 289174 w 576405"/>
              <a:gd name="connsiteY25" fmla="*/ 249618 h 432124"/>
              <a:gd name="connsiteX26" fmla="*/ 302083 w 576405"/>
              <a:gd name="connsiteY26" fmla="*/ 248939 h 432124"/>
              <a:gd name="connsiteX27" fmla="*/ 395164 w 576405"/>
              <a:gd name="connsiteY27" fmla="*/ 331033 h 432124"/>
              <a:gd name="connsiteX28" fmla="*/ 403317 w 576405"/>
              <a:gd name="connsiteY28" fmla="*/ 306609 h 432124"/>
              <a:gd name="connsiteX29" fmla="*/ 393805 w 576405"/>
              <a:gd name="connsiteY29" fmla="*/ 272686 h 432124"/>
              <a:gd name="connsiteX30" fmla="*/ 325183 w 576405"/>
              <a:gd name="connsiteY30" fmla="*/ 210946 h 432124"/>
              <a:gd name="connsiteX31" fmla="*/ 321786 w 576405"/>
              <a:gd name="connsiteY31" fmla="*/ 209589 h 432124"/>
              <a:gd name="connsiteX32" fmla="*/ 273548 w 576405"/>
              <a:gd name="connsiteY32" fmla="*/ 165489 h 432124"/>
              <a:gd name="connsiteX33" fmla="*/ 273548 w 576405"/>
              <a:gd name="connsiteY33" fmla="*/ 152598 h 432124"/>
              <a:gd name="connsiteX34" fmla="*/ 285777 w 576405"/>
              <a:gd name="connsiteY34" fmla="*/ 151919 h 432124"/>
              <a:gd name="connsiteX35" fmla="*/ 329260 w 576405"/>
              <a:gd name="connsiteY35" fmla="*/ 190592 h 432124"/>
              <a:gd name="connsiteX36" fmla="*/ 336734 w 576405"/>
              <a:gd name="connsiteY36" fmla="*/ 185843 h 432124"/>
              <a:gd name="connsiteX37" fmla="*/ 348963 w 576405"/>
              <a:gd name="connsiteY37" fmla="*/ 164810 h 432124"/>
              <a:gd name="connsiteX38" fmla="*/ 340810 w 576405"/>
              <a:gd name="connsiteY38" fmla="*/ 142421 h 432124"/>
              <a:gd name="connsiteX39" fmla="*/ 309557 w 576405"/>
              <a:gd name="connsiteY39" fmla="*/ 112569 h 432124"/>
              <a:gd name="connsiteX40" fmla="*/ 293930 w 576405"/>
              <a:gd name="connsiteY40" fmla="*/ 103749 h 432124"/>
              <a:gd name="connsiteX41" fmla="*/ 382934 w 576405"/>
              <a:gd name="connsiteY41" fmla="*/ 82038 h 432124"/>
              <a:gd name="connsiteX42" fmla="*/ 314313 w 576405"/>
              <a:gd name="connsiteY42" fmla="*/ 92893 h 432124"/>
              <a:gd name="connsiteX43" fmla="*/ 322466 w 576405"/>
              <a:gd name="connsiteY43" fmla="*/ 99678 h 432124"/>
              <a:gd name="connsiteX44" fmla="*/ 353719 w 576405"/>
              <a:gd name="connsiteY44" fmla="*/ 129530 h 432124"/>
              <a:gd name="connsiteX45" fmla="*/ 367307 w 576405"/>
              <a:gd name="connsiteY45" fmla="*/ 166846 h 432124"/>
              <a:gd name="connsiteX46" fmla="*/ 346925 w 576405"/>
              <a:gd name="connsiteY46" fmla="*/ 200769 h 432124"/>
              <a:gd name="connsiteX47" fmla="*/ 342848 w 576405"/>
              <a:gd name="connsiteY47" fmla="*/ 203483 h 432124"/>
              <a:gd name="connsiteX48" fmla="*/ 406034 w 576405"/>
              <a:gd name="connsiteY48" fmla="*/ 259116 h 432124"/>
              <a:gd name="connsiteX49" fmla="*/ 421661 w 576405"/>
              <a:gd name="connsiteY49" fmla="*/ 288290 h 432124"/>
              <a:gd name="connsiteX50" fmla="*/ 456991 w 576405"/>
              <a:gd name="connsiteY50" fmla="*/ 244869 h 432124"/>
              <a:gd name="connsiteX51" fmla="*/ 458350 w 576405"/>
              <a:gd name="connsiteY51" fmla="*/ 242833 h 432124"/>
              <a:gd name="connsiteX52" fmla="*/ 486206 w 576405"/>
              <a:gd name="connsiteY52" fmla="*/ 202804 h 432124"/>
              <a:gd name="connsiteX53" fmla="*/ 485526 w 576405"/>
              <a:gd name="connsiteY53" fmla="*/ 187878 h 432124"/>
              <a:gd name="connsiteX54" fmla="*/ 192697 w 576405"/>
              <a:gd name="connsiteY54" fmla="*/ 63719 h 432124"/>
              <a:gd name="connsiteX55" fmla="*/ 275586 w 576405"/>
              <a:gd name="connsiteY55" fmla="*/ 81359 h 432124"/>
              <a:gd name="connsiteX56" fmla="*/ 278983 w 576405"/>
              <a:gd name="connsiteY56" fmla="*/ 80003 h 432124"/>
              <a:gd name="connsiteX57" fmla="*/ 384293 w 576405"/>
              <a:gd name="connsiteY57" fmla="*/ 63719 h 432124"/>
              <a:gd name="connsiteX58" fmla="*/ 392446 w 576405"/>
              <a:gd name="connsiteY58" fmla="*/ 66433 h 432124"/>
              <a:gd name="connsiteX59" fmla="*/ 498435 w 576405"/>
              <a:gd name="connsiteY59" fmla="*/ 175666 h 432124"/>
              <a:gd name="connsiteX60" fmla="*/ 501153 w 576405"/>
              <a:gd name="connsiteY60" fmla="*/ 212981 h 432124"/>
              <a:gd name="connsiteX61" fmla="*/ 473297 w 576405"/>
              <a:gd name="connsiteY61" fmla="*/ 253010 h 432124"/>
              <a:gd name="connsiteX62" fmla="*/ 471259 w 576405"/>
              <a:gd name="connsiteY62" fmla="*/ 256402 h 432124"/>
              <a:gd name="connsiteX63" fmla="*/ 425058 w 576405"/>
              <a:gd name="connsiteY63" fmla="*/ 314072 h 432124"/>
              <a:gd name="connsiteX64" fmla="*/ 419623 w 576405"/>
              <a:gd name="connsiteY64" fmla="*/ 316786 h 432124"/>
              <a:gd name="connsiteX65" fmla="*/ 304121 w 576405"/>
              <a:gd name="connsiteY65" fmla="*/ 430089 h 432124"/>
              <a:gd name="connsiteX66" fmla="*/ 290533 w 576405"/>
              <a:gd name="connsiteY66" fmla="*/ 432124 h 432124"/>
              <a:gd name="connsiteX67" fmla="*/ 262677 w 576405"/>
              <a:gd name="connsiteY67" fmla="*/ 423304 h 432124"/>
              <a:gd name="connsiteX68" fmla="*/ 234141 w 576405"/>
              <a:gd name="connsiteY68" fmla="*/ 426018 h 432124"/>
              <a:gd name="connsiteX69" fmla="*/ 203567 w 576405"/>
              <a:gd name="connsiteY69" fmla="*/ 421947 h 432124"/>
              <a:gd name="connsiteX70" fmla="*/ 109128 w 576405"/>
              <a:gd name="connsiteY70" fmla="*/ 329676 h 432124"/>
              <a:gd name="connsiteX71" fmla="*/ 113205 w 576405"/>
              <a:gd name="connsiteY71" fmla="*/ 288290 h 432124"/>
              <a:gd name="connsiteX72" fmla="*/ 98258 w 576405"/>
              <a:gd name="connsiteY72" fmla="*/ 274721 h 432124"/>
              <a:gd name="connsiteX73" fmla="*/ 83990 w 576405"/>
              <a:gd name="connsiteY73" fmla="*/ 253689 h 432124"/>
              <a:gd name="connsiteX74" fmla="*/ 68363 w 576405"/>
              <a:gd name="connsiteY74" fmla="*/ 208910 h 432124"/>
              <a:gd name="connsiteX75" fmla="*/ 75157 w 576405"/>
              <a:gd name="connsiteY75" fmla="*/ 178379 h 432124"/>
              <a:gd name="connsiteX76" fmla="*/ 183864 w 576405"/>
              <a:gd name="connsiteY76" fmla="*/ 66433 h 432124"/>
              <a:gd name="connsiteX77" fmla="*/ 192697 w 576405"/>
              <a:gd name="connsiteY77" fmla="*/ 63719 h 432124"/>
              <a:gd name="connsiteX78" fmla="*/ 451604 w 576405"/>
              <a:gd name="connsiteY78" fmla="*/ 22392 h 432124"/>
              <a:gd name="connsiteX79" fmla="*/ 421040 w 576405"/>
              <a:gd name="connsiteY79" fmla="*/ 52927 h 432124"/>
              <a:gd name="connsiteX80" fmla="*/ 523598 w 576405"/>
              <a:gd name="connsiteY80" fmla="*/ 155387 h 432124"/>
              <a:gd name="connsiteX81" fmla="*/ 554162 w 576405"/>
              <a:gd name="connsiteY81" fmla="*/ 124852 h 432124"/>
              <a:gd name="connsiteX82" fmla="*/ 125386 w 576405"/>
              <a:gd name="connsiteY82" fmla="*/ 22392 h 432124"/>
              <a:gd name="connsiteX83" fmla="*/ 22086 w 576405"/>
              <a:gd name="connsiteY83" fmla="*/ 124852 h 432124"/>
              <a:gd name="connsiteX84" fmla="*/ 52669 w 576405"/>
              <a:gd name="connsiteY84" fmla="*/ 155387 h 432124"/>
              <a:gd name="connsiteX85" fmla="*/ 155968 w 576405"/>
              <a:gd name="connsiteY85" fmla="*/ 52927 h 432124"/>
              <a:gd name="connsiteX86" fmla="*/ 451604 w 576405"/>
              <a:gd name="connsiteY86" fmla="*/ 0 h 432124"/>
              <a:gd name="connsiteX87" fmla="*/ 457717 w 576405"/>
              <a:gd name="connsiteY87" fmla="*/ 2714 h 432124"/>
              <a:gd name="connsiteX88" fmla="*/ 573858 w 576405"/>
              <a:gd name="connsiteY88" fmla="*/ 118746 h 432124"/>
              <a:gd name="connsiteX89" fmla="*/ 573858 w 576405"/>
              <a:gd name="connsiteY89" fmla="*/ 130959 h 432124"/>
              <a:gd name="connsiteX90" fmla="*/ 530390 w 576405"/>
              <a:gd name="connsiteY90" fmla="*/ 175065 h 432124"/>
              <a:gd name="connsiteX91" fmla="*/ 523598 w 576405"/>
              <a:gd name="connsiteY91" fmla="*/ 177779 h 432124"/>
              <a:gd name="connsiteX92" fmla="*/ 517485 w 576405"/>
              <a:gd name="connsiteY92" fmla="*/ 175065 h 432124"/>
              <a:gd name="connsiteX93" fmla="*/ 401344 w 576405"/>
              <a:gd name="connsiteY93" fmla="*/ 59033 h 432124"/>
              <a:gd name="connsiteX94" fmla="*/ 401344 w 576405"/>
              <a:gd name="connsiteY94" fmla="*/ 46820 h 432124"/>
              <a:gd name="connsiteX95" fmla="*/ 444812 w 576405"/>
              <a:gd name="connsiteY95" fmla="*/ 2714 h 432124"/>
              <a:gd name="connsiteX96" fmla="*/ 451604 w 576405"/>
              <a:gd name="connsiteY96" fmla="*/ 0 h 432124"/>
              <a:gd name="connsiteX97" fmla="*/ 125386 w 576405"/>
              <a:gd name="connsiteY97" fmla="*/ 0 h 432124"/>
              <a:gd name="connsiteX98" fmla="*/ 131502 w 576405"/>
              <a:gd name="connsiteY98" fmla="*/ 2714 h 432124"/>
              <a:gd name="connsiteX99" fmla="*/ 174997 w 576405"/>
              <a:gd name="connsiteY99" fmla="*/ 46820 h 432124"/>
              <a:gd name="connsiteX100" fmla="*/ 174997 w 576405"/>
              <a:gd name="connsiteY100" fmla="*/ 59033 h 432124"/>
              <a:gd name="connsiteX101" fmla="*/ 59465 w 576405"/>
              <a:gd name="connsiteY101" fmla="*/ 175065 h 432124"/>
              <a:gd name="connsiteX102" fmla="*/ 52669 w 576405"/>
              <a:gd name="connsiteY102" fmla="*/ 177779 h 432124"/>
              <a:gd name="connsiteX103" fmla="*/ 46552 w 576405"/>
              <a:gd name="connsiteY103" fmla="*/ 175065 h 432124"/>
              <a:gd name="connsiteX104" fmla="*/ 3058 w 576405"/>
              <a:gd name="connsiteY104" fmla="*/ 130959 h 432124"/>
              <a:gd name="connsiteX105" fmla="*/ 3058 w 576405"/>
              <a:gd name="connsiteY105" fmla="*/ 118746 h 432124"/>
              <a:gd name="connsiteX106" fmla="*/ 118590 w 576405"/>
              <a:gd name="connsiteY106" fmla="*/ 2714 h 432124"/>
              <a:gd name="connsiteX107" fmla="*/ 125386 w 576405"/>
              <a:gd name="connsiteY107" fmla="*/ 0 h 43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576405" h="432124">
                <a:moveTo>
                  <a:pt x="127473" y="301859"/>
                </a:moveTo>
                <a:cubicBezTo>
                  <a:pt x="126114" y="307287"/>
                  <a:pt x="124755" y="316786"/>
                  <a:pt x="126793" y="325606"/>
                </a:cubicBezTo>
                <a:cubicBezTo>
                  <a:pt x="136984" y="366992"/>
                  <a:pt x="162123" y="391416"/>
                  <a:pt x="208323" y="404307"/>
                </a:cubicBezTo>
                <a:cubicBezTo>
                  <a:pt x="220553" y="407699"/>
                  <a:pt x="233462" y="408378"/>
                  <a:pt x="244333" y="407021"/>
                </a:cubicBezTo>
                <a:close/>
                <a:moveTo>
                  <a:pt x="193376" y="82716"/>
                </a:moveTo>
                <a:lnTo>
                  <a:pt x="88066" y="191270"/>
                </a:lnTo>
                <a:cubicBezTo>
                  <a:pt x="85349" y="193984"/>
                  <a:pt x="83990" y="198733"/>
                  <a:pt x="85349" y="202804"/>
                </a:cubicBezTo>
                <a:lnTo>
                  <a:pt x="101655" y="247582"/>
                </a:lnTo>
                <a:cubicBezTo>
                  <a:pt x="103013" y="253010"/>
                  <a:pt x="106411" y="257081"/>
                  <a:pt x="110487" y="261152"/>
                </a:cubicBezTo>
                <a:lnTo>
                  <a:pt x="268792" y="405664"/>
                </a:lnTo>
                <a:cubicBezTo>
                  <a:pt x="276945" y="413127"/>
                  <a:pt x="288495" y="415841"/>
                  <a:pt x="299366" y="413127"/>
                </a:cubicBezTo>
                <a:cubicBezTo>
                  <a:pt x="306160" y="411092"/>
                  <a:pt x="312274" y="409056"/>
                  <a:pt x="318389" y="407021"/>
                </a:cubicBezTo>
                <a:lnTo>
                  <a:pt x="226668" y="325606"/>
                </a:lnTo>
                <a:cubicBezTo>
                  <a:pt x="222591" y="322213"/>
                  <a:pt x="222591" y="316786"/>
                  <a:pt x="225988" y="312715"/>
                </a:cubicBezTo>
                <a:cubicBezTo>
                  <a:pt x="229385" y="308644"/>
                  <a:pt x="234821" y="308644"/>
                  <a:pt x="238897" y="312036"/>
                </a:cubicBezTo>
                <a:lnTo>
                  <a:pt x="334016" y="396166"/>
                </a:lnTo>
                <a:cubicBezTo>
                  <a:pt x="334695" y="396844"/>
                  <a:pt x="335375" y="398201"/>
                  <a:pt x="335375" y="398879"/>
                </a:cubicBezTo>
                <a:cubicBezTo>
                  <a:pt x="343528" y="394130"/>
                  <a:pt x="351001" y="389381"/>
                  <a:pt x="357796" y="383275"/>
                </a:cubicBezTo>
                <a:lnTo>
                  <a:pt x="258600" y="293718"/>
                </a:lnTo>
                <a:cubicBezTo>
                  <a:pt x="254524" y="290326"/>
                  <a:pt x="254524" y="284898"/>
                  <a:pt x="257921" y="280827"/>
                </a:cubicBezTo>
                <a:cubicBezTo>
                  <a:pt x="261318" y="277435"/>
                  <a:pt x="266753" y="276756"/>
                  <a:pt x="270151" y="280149"/>
                </a:cubicBezTo>
                <a:lnTo>
                  <a:pt x="370705" y="370384"/>
                </a:lnTo>
                <a:cubicBezTo>
                  <a:pt x="376819" y="363599"/>
                  <a:pt x="382255" y="356136"/>
                  <a:pt x="387011" y="347995"/>
                </a:cubicBezTo>
                <a:cubicBezTo>
                  <a:pt x="386331" y="347316"/>
                  <a:pt x="385652" y="347316"/>
                  <a:pt x="384972" y="346638"/>
                </a:cubicBezTo>
                <a:lnTo>
                  <a:pt x="289854" y="262509"/>
                </a:lnTo>
                <a:cubicBezTo>
                  <a:pt x="286457" y="259116"/>
                  <a:pt x="285777" y="253010"/>
                  <a:pt x="289174" y="249618"/>
                </a:cubicBezTo>
                <a:cubicBezTo>
                  <a:pt x="292571" y="245547"/>
                  <a:pt x="298007" y="245547"/>
                  <a:pt x="302083" y="248939"/>
                </a:cubicBezTo>
                <a:lnTo>
                  <a:pt x="395164" y="331033"/>
                </a:lnTo>
                <a:cubicBezTo>
                  <a:pt x="398561" y="323570"/>
                  <a:pt x="401278" y="315429"/>
                  <a:pt x="403317" y="306609"/>
                </a:cubicBezTo>
                <a:cubicBezTo>
                  <a:pt x="406714" y="294396"/>
                  <a:pt x="403317" y="281506"/>
                  <a:pt x="393805" y="272686"/>
                </a:cubicBezTo>
                <a:cubicBezTo>
                  <a:pt x="376140" y="257081"/>
                  <a:pt x="348963" y="232656"/>
                  <a:pt x="325183" y="210946"/>
                </a:cubicBezTo>
                <a:cubicBezTo>
                  <a:pt x="323825" y="210946"/>
                  <a:pt x="322466" y="210267"/>
                  <a:pt x="321786" y="209589"/>
                </a:cubicBezTo>
                <a:lnTo>
                  <a:pt x="273548" y="165489"/>
                </a:lnTo>
                <a:cubicBezTo>
                  <a:pt x="270151" y="162096"/>
                  <a:pt x="270151" y="156669"/>
                  <a:pt x="273548" y="152598"/>
                </a:cubicBezTo>
                <a:cubicBezTo>
                  <a:pt x="276265" y="149206"/>
                  <a:pt x="282380" y="148527"/>
                  <a:pt x="285777" y="151919"/>
                </a:cubicBezTo>
                <a:cubicBezTo>
                  <a:pt x="285777" y="151919"/>
                  <a:pt x="305480" y="169559"/>
                  <a:pt x="329260" y="190592"/>
                </a:cubicBezTo>
                <a:lnTo>
                  <a:pt x="336734" y="185843"/>
                </a:lnTo>
                <a:cubicBezTo>
                  <a:pt x="344207" y="181093"/>
                  <a:pt x="348284" y="173630"/>
                  <a:pt x="348963" y="164810"/>
                </a:cubicBezTo>
                <a:cubicBezTo>
                  <a:pt x="350322" y="156669"/>
                  <a:pt x="346925" y="148527"/>
                  <a:pt x="340810" y="142421"/>
                </a:cubicBezTo>
                <a:lnTo>
                  <a:pt x="309557" y="112569"/>
                </a:lnTo>
                <a:cubicBezTo>
                  <a:pt x="305480" y="108498"/>
                  <a:pt x="300045" y="105106"/>
                  <a:pt x="293930" y="103749"/>
                </a:cubicBezTo>
                <a:close/>
                <a:moveTo>
                  <a:pt x="382934" y="82038"/>
                </a:moveTo>
                <a:lnTo>
                  <a:pt x="314313" y="92893"/>
                </a:lnTo>
                <a:cubicBezTo>
                  <a:pt x="317030" y="94929"/>
                  <a:pt x="319748" y="96964"/>
                  <a:pt x="322466" y="99678"/>
                </a:cubicBezTo>
                <a:lnTo>
                  <a:pt x="353719" y="129530"/>
                </a:lnTo>
                <a:cubicBezTo>
                  <a:pt x="363910" y="139707"/>
                  <a:pt x="368666" y="152598"/>
                  <a:pt x="367307" y="166846"/>
                </a:cubicBezTo>
                <a:cubicBezTo>
                  <a:pt x="365949" y="180415"/>
                  <a:pt x="358475" y="193306"/>
                  <a:pt x="346925" y="200769"/>
                </a:cubicBezTo>
                <a:lnTo>
                  <a:pt x="342848" y="203483"/>
                </a:lnTo>
                <a:cubicBezTo>
                  <a:pt x="365949" y="223158"/>
                  <a:pt x="389728" y="244869"/>
                  <a:pt x="406034" y="259116"/>
                </a:cubicBezTo>
                <a:cubicBezTo>
                  <a:pt x="414187" y="267258"/>
                  <a:pt x="420302" y="277435"/>
                  <a:pt x="421661" y="288290"/>
                </a:cubicBezTo>
                <a:lnTo>
                  <a:pt x="456991" y="244869"/>
                </a:lnTo>
                <a:cubicBezTo>
                  <a:pt x="457670" y="244190"/>
                  <a:pt x="458350" y="243512"/>
                  <a:pt x="458350" y="242833"/>
                </a:cubicBezTo>
                <a:lnTo>
                  <a:pt x="486206" y="202804"/>
                </a:lnTo>
                <a:cubicBezTo>
                  <a:pt x="489603" y="198055"/>
                  <a:pt x="488923" y="191949"/>
                  <a:pt x="485526" y="187878"/>
                </a:cubicBezTo>
                <a:close/>
                <a:moveTo>
                  <a:pt x="192697" y="63719"/>
                </a:moveTo>
                <a:lnTo>
                  <a:pt x="275586" y="81359"/>
                </a:lnTo>
                <a:cubicBezTo>
                  <a:pt x="276265" y="80681"/>
                  <a:pt x="277624" y="80681"/>
                  <a:pt x="278983" y="80003"/>
                </a:cubicBezTo>
                <a:lnTo>
                  <a:pt x="384293" y="63719"/>
                </a:lnTo>
                <a:cubicBezTo>
                  <a:pt x="387690" y="63041"/>
                  <a:pt x="390408" y="64398"/>
                  <a:pt x="392446" y="66433"/>
                </a:cubicBezTo>
                <a:lnTo>
                  <a:pt x="498435" y="175666"/>
                </a:lnTo>
                <a:cubicBezTo>
                  <a:pt x="507947" y="185843"/>
                  <a:pt x="509306" y="201447"/>
                  <a:pt x="501153" y="212981"/>
                </a:cubicBezTo>
                <a:lnTo>
                  <a:pt x="473297" y="253010"/>
                </a:lnTo>
                <a:cubicBezTo>
                  <a:pt x="472617" y="254367"/>
                  <a:pt x="471938" y="255046"/>
                  <a:pt x="471259" y="256402"/>
                </a:cubicBezTo>
                <a:lnTo>
                  <a:pt x="425058" y="314072"/>
                </a:lnTo>
                <a:cubicBezTo>
                  <a:pt x="423699" y="315429"/>
                  <a:pt x="421661" y="316786"/>
                  <a:pt x="419623" y="316786"/>
                </a:cubicBezTo>
                <a:cubicBezTo>
                  <a:pt x="401278" y="376490"/>
                  <a:pt x="362551" y="414484"/>
                  <a:pt x="304121" y="430089"/>
                </a:cubicBezTo>
                <a:cubicBezTo>
                  <a:pt x="299366" y="431446"/>
                  <a:pt x="295289" y="432124"/>
                  <a:pt x="290533" y="432124"/>
                </a:cubicBezTo>
                <a:cubicBezTo>
                  <a:pt x="281021" y="432124"/>
                  <a:pt x="270830" y="428732"/>
                  <a:pt x="262677" y="423304"/>
                </a:cubicBezTo>
                <a:cubicBezTo>
                  <a:pt x="257242" y="423982"/>
                  <a:pt x="246371" y="426018"/>
                  <a:pt x="234141" y="426018"/>
                </a:cubicBezTo>
                <a:cubicBezTo>
                  <a:pt x="224629" y="426018"/>
                  <a:pt x="213759" y="424661"/>
                  <a:pt x="203567" y="421947"/>
                </a:cubicBezTo>
                <a:cubicBezTo>
                  <a:pt x="150573" y="407021"/>
                  <a:pt x="120678" y="377847"/>
                  <a:pt x="109128" y="329676"/>
                </a:cubicBezTo>
                <a:cubicBezTo>
                  <a:pt x="105052" y="311358"/>
                  <a:pt x="110487" y="294396"/>
                  <a:pt x="113205" y="288290"/>
                </a:cubicBezTo>
                <a:lnTo>
                  <a:pt x="98258" y="274721"/>
                </a:lnTo>
                <a:cubicBezTo>
                  <a:pt x="91463" y="268615"/>
                  <a:pt x="86707" y="261830"/>
                  <a:pt x="83990" y="253689"/>
                </a:cubicBezTo>
                <a:lnTo>
                  <a:pt x="68363" y="208910"/>
                </a:lnTo>
                <a:cubicBezTo>
                  <a:pt x="64966" y="198055"/>
                  <a:pt x="67684" y="186521"/>
                  <a:pt x="75157" y="178379"/>
                </a:cubicBezTo>
                <a:lnTo>
                  <a:pt x="183864" y="66433"/>
                </a:lnTo>
                <a:cubicBezTo>
                  <a:pt x="185903" y="64398"/>
                  <a:pt x="189300" y="63041"/>
                  <a:pt x="192697" y="63719"/>
                </a:cubicBezTo>
                <a:close/>
                <a:moveTo>
                  <a:pt x="451604" y="22392"/>
                </a:moveTo>
                <a:lnTo>
                  <a:pt x="421040" y="52927"/>
                </a:lnTo>
                <a:lnTo>
                  <a:pt x="523598" y="155387"/>
                </a:lnTo>
                <a:lnTo>
                  <a:pt x="554162" y="124852"/>
                </a:lnTo>
                <a:close/>
                <a:moveTo>
                  <a:pt x="125386" y="22392"/>
                </a:moveTo>
                <a:lnTo>
                  <a:pt x="22086" y="124852"/>
                </a:lnTo>
                <a:lnTo>
                  <a:pt x="52669" y="155387"/>
                </a:lnTo>
                <a:lnTo>
                  <a:pt x="155968" y="52927"/>
                </a:lnTo>
                <a:close/>
                <a:moveTo>
                  <a:pt x="451604" y="0"/>
                </a:moveTo>
                <a:cubicBezTo>
                  <a:pt x="453642" y="0"/>
                  <a:pt x="456358" y="1357"/>
                  <a:pt x="457717" y="2714"/>
                </a:cubicBezTo>
                <a:lnTo>
                  <a:pt x="573858" y="118746"/>
                </a:lnTo>
                <a:cubicBezTo>
                  <a:pt x="577254" y="122138"/>
                  <a:pt x="577254" y="127567"/>
                  <a:pt x="573858" y="130959"/>
                </a:cubicBezTo>
                <a:lnTo>
                  <a:pt x="530390" y="175065"/>
                </a:lnTo>
                <a:cubicBezTo>
                  <a:pt x="528352" y="176422"/>
                  <a:pt x="526315" y="177779"/>
                  <a:pt x="523598" y="177779"/>
                </a:cubicBezTo>
                <a:cubicBezTo>
                  <a:pt x="521560" y="177779"/>
                  <a:pt x="518844" y="176422"/>
                  <a:pt x="517485" y="175065"/>
                </a:cubicBezTo>
                <a:lnTo>
                  <a:pt x="401344" y="59033"/>
                </a:lnTo>
                <a:cubicBezTo>
                  <a:pt x="397948" y="55641"/>
                  <a:pt x="397948" y="50212"/>
                  <a:pt x="401344" y="46820"/>
                </a:cubicBezTo>
                <a:lnTo>
                  <a:pt x="444812" y="2714"/>
                </a:lnTo>
                <a:cubicBezTo>
                  <a:pt x="446850" y="1357"/>
                  <a:pt x="448887" y="0"/>
                  <a:pt x="451604" y="0"/>
                </a:cubicBezTo>
                <a:close/>
                <a:moveTo>
                  <a:pt x="125386" y="0"/>
                </a:moveTo>
                <a:cubicBezTo>
                  <a:pt x="127425" y="0"/>
                  <a:pt x="129464" y="1357"/>
                  <a:pt x="131502" y="2714"/>
                </a:cubicBezTo>
                <a:lnTo>
                  <a:pt x="174997" y="46820"/>
                </a:lnTo>
                <a:cubicBezTo>
                  <a:pt x="178395" y="50212"/>
                  <a:pt x="178395" y="55641"/>
                  <a:pt x="174997" y="59033"/>
                </a:cubicBezTo>
                <a:lnTo>
                  <a:pt x="59465" y="175065"/>
                </a:lnTo>
                <a:cubicBezTo>
                  <a:pt x="57426" y="176422"/>
                  <a:pt x="55387" y="177779"/>
                  <a:pt x="52669" y="177779"/>
                </a:cubicBezTo>
                <a:cubicBezTo>
                  <a:pt x="50630" y="177779"/>
                  <a:pt x="47911" y="176422"/>
                  <a:pt x="46552" y="175065"/>
                </a:cubicBezTo>
                <a:lnTo>
                  <a:pt x="3058" y="130959"/>
                </a:lnTo>
                <a:cubicBezTo>
                  <a:pt x="-1020" y="127567"/>
                  <a:pt x="-1020" y="122138"/>
                  <a:pt x="3058" y="118746"/>
                </a:cubicBezTo>
                <a:lnTo>
                  <a:pt x="118590" y="2714"/>
                </a:lnTo>
                <a:cubicBezTo>
                  <a:pt x="120629" y="1357"/>
                  <a:pt x="122668" y="0"/>
                  <a:pt x="12538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7" name="熊大的PPT宝库25"/>
          <p:cNvSpPr/>
          <p:nvPr/>
        </p:nvSpPr>
        <p:spPr>
          <a:xfrm>
            <a:off x="3613780" y="2218266"/>
            <a:ext cx="277463" cy="317941"/>
          </a:xfrm>
          <a:custGeom>
            <a:avLst/>
            <a:gdLst>
              <a:gd name="connsiteX0" fmla="*/ 80851 w 440648"/>
              <a:gd name="connsiteY0" fmla="*/ 409540 h 608991"/>
              <a:gd name="connsiteX1" fmla="*/ 359789 w 440648"/>
              <a:gd name="connsiteY1" fmla="*/ 409540 h 608991"/>
              <a:gd name="connsiteX2" fmla="*/ 375315 w 440648"/>
              <a:gd name="connsiteY2" fmla="*/ 424922 h 608991"/>
              <a:gd name="connsiteX3" fmla="*/ 359837 w 440648"/>
              <a:gd name="connsiteY3" fmla="*/ 440351 h 608991"/>
              <a:gd name="connsiteX4" fmla="*/ 80851 w 440648"/>
              <a:gd name="connsiteY4" fmla="*/ 440351 h 608991"/>
              <a:gd name="connsiteX5" fmla="*/ 65373 w 440648"/>
              <a:gd name="connsiteY5" fmla="*/ 424922 h 608991"/>
              <a:gd name="connsiteX6" fmla="*/ 80851 w 440648"/>
              <a:gd name="connsiteY6" fmla="*/ 409540 h 608991"/>
              <a:gd name="connsiteX7" fmla="*/ 80851 w 440648"/>
              <a:gd name="connsiteY7" fmla="*/ 311773 h 608991"/>
              <a:gd name="connsiteX8" fmla="*/ 359789 w 440648"/>
              <a:gd name="connsiteY8" fmla="*/ 311773 h 608991"/>
              <a:gd name="connsiteX9" fmla="*/ 375315 w 440648"/>
              <a:gd name="connsiteY9" fmla="*/ 327155 h 608991"/>
              <a:gd name="connsiteX10" fmla="*/ 359837 w 440648"/>
              <a:gd name="connsiteY10" fmla="*/ 342680 h 608991"/>
              <a:gd name="connsiteX11" fmla="*/ 80851 w 440648"/>
              <a:gd name="connsiteY11" fmla="*/ 342680 h 608991"/>
              <a:gd name="connsiteX12" fmla="*/ 65373 w 440648"/>
              <a:gd name="connsiteY12" fmla="*/ 327298 h 608991"/>
              <a:gd name="connsiteX13" fmla="*/ 80851 w 440648"/>
              <a:gd name="connsiteY13" fmla="*/ 311773 h 608991"/>
              <a:gd name="connsiteX14" fmla="*/ 80851 w 440648"/>
              <a:gd name="connsiteY14" fmla="*/ 214197 h 608991"/>
              <a:gd name="connsiteX15" fmla="*/ 359789 w 440648"/>
              <a:gd name="connsiteY15" fmla="*/ 214197 h 608991"/>
              <a:gd name="connsiteX16" fmla="*/ 375315 w 440648"/>
              <a:gd name="connsiteY16" fmla="*/ 229578 h 608991"/>
              <a:gd name="connsiteX17" fmla="*/ 359837 w 440648"/>
              <a:gd name="connsiteY17" fmla="*/ 244960 h 608991"/>
              <a:gd name="connsiteX18" fmla="*/ 80851 w 440648"/>
              <a:gd name="connsiteY18" fmla="*/ 244960 h 608991"/>
              <a:gd name="connsiteX19" fmla="*/ 65373 w 440648"/>
              <a:gd name="connsiteY19" fmla="*/ 229578 h 608991"/>
              <a:gd name="connsiteX20" fmla="*/ 80851 w 440648"/>
              <a:gd name="connsiteY20" fmla="*/ 214197 h 608991"/>
              <a:gd name="connsiteX21" fmla="*/ 304116 w 440648"/>
              <a:gd name="connsiteY21" fmla="*/ 50712 h 608991"/>
              <a:gd name="connsiteX22" fmla="*/ 394888 w 440648"/>
              <a:gd name="connsiteY22" fmla="*/ 153575 h 608991"/>
              <a:gd name="connsiteX23" fmla="*/ 392745 w 440648"/>
              <a:gd name="connsiteY23" fmla="*/ 159289 h 608991"/>
              <a:gd name="connsiteX24" fmla="*/ 311355 w 440648"/>
              <a:gd name="connsiteY24" fmla="*/ 161146 h 608991"/>
              <a:gd name="connsiteX25" fmla="*/ 297115 w 440648"/>
              <a:gd name="connsiteY25" fmla="*/ 139479 h 608991"/>
              <a:gd name="connsiteX26" fmla="*/ 298401 w 440648"/>
              <a:gd name="connsiteY26" fmla="*/ 51569 h 608991"/>
              <a:gd name="connsiteX27" fmla="*/ 304116 w 440648"/>
              <a:gd name="connsiteY27" fmla="*/ 50712 h 608991"/>
              <a:gd name="connsiteX28" fmla="*/ 71814 w 440648"/>
              <a:gd name="connsiteY28" fmla="*/ 32621 h 608991"/>
              <a:gd name="connsiteX29" fmla="*/ 32621 w 440648"/>
              <a:gd name="connsiteY29" fmla="*/ 71671 h 608991"/>
              <a:gd name="connsiteX30" fmla="*/ 32621 w 440648"/>
              <a:gd name="connsiteY30" fmla="*/ 537368 h 608991"/>
              <a:gd name="connsiteX31" fmla="*/ 71814 w 440648"/>
              <a:gd name="connsiteY31" fmla="*/ 576465 h 608991"/>
              <a:gd name="connsiteX32" fmla="*/ 368691 w 440648"/>
              <a:gd name="connsiteY32" fmla="*/ 576465 h 608991"/>
              <a:gd name="connsiteX33" fmla="*/ 407884 w 440648"/>
              <a:gd name="connsiteY33" fmla="*/ 537368 h 608991"/>
              <a:gd name="connsiteX34" fmla="*/ 407884 w 440648"/>
              <a:gd name="connsiteY34" fmla="*/ 156153 h 608991"/>
              <a:gd name="connsiteX35" fmla="*/ 403503 w 440648"/>
              <a:gd name="connsiteY35" fmla="*/ 144676 h 608991"/>
              <a:gd name="connsiteX36" fmla="*/ 305687 w 440648"/>
              <a:gd name="connsiteY36" fmla="*/ 35812 h 608991"/>
              <a:gd name="connsiteX37" fmla="*/ 298401 w 440648"/>
              <a:gd name="connsiteY37" fmla="*/ 32621 h 608991"/>
              <a:gd name="connsiteX38" fmla="*/ 71814 w 440648"/>
              <a:gd name="connsiteY38" fmla="*/ 0 h 608991"/>
              <a:gd name="connsiteX39" fmla="*/ 298448 w 440648"/>
              <a:gd name="connsiteY39" fmla="*/ 0 h 608991"/>
              <a:gd name="connsiteX40" fmla="*/ 330069 w 440648"/>
              <a:gd name="connsiteY40" fmla="*/ 14049 h 608991"/>
              <a:gd name="connsiteX41" fmla="*/ 427885 w 440648"/>
              <a:gd name="connsiteY41" fmla="*/ 122865 h 608991"/>
              <a:gd name="connsiteX42" fmla="*/ 440648 w 440648"/>
              <a:gd name="connsiteY42" fmla="*/ 156153 h 608991"/>
              <a:gd name="connsiteX43" fmla="*/ 440648 w 440648"/>
              <a:gd name="connsiteY43" fmla="*/ 537320 h 608991"/>
              <a:gd name="connsiteX44" fmla="*/ 440553 w 440648"/>
              <a:gd name="connsiteY44" fmla="*/ 537320 h 608991"/>
              <a:gd name="connsiteX45" fmla="*/ 368691 w 440648"/>
              <a:gd name="connsiteY45" fmla="*/ 608991 h 608991"/>
              <a:gd name="connsiteX46" fmla="*/ 71814 w 440648"/>
              <a:gd name="connsiteY46" fmla="*/ 608991 h 608991"/>
              <a:gd name="connsiteX47" fmla="*/ 0 w 440648"/>
              <a:gd name="connsiteY47" fmla="*/ 537320 h 608991"/>
              <a:gd name="connsiteX48" fmla="*/ 0 w 440648"/>
              <a:gd name="connsiteY48" fmla="*/ 71671 h 608991"/>
              <a:gd name="connsiteX49" fmla="*/ 71814 w 440648"/>
              <a:gd name="connsiteY49" fmla="*/ 0 h 60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440648" h="608991">
                <a:moveTo>
                  <a:pt x="80851" y="409540"/>
                </a:moveTo>
                <a:lnTo>
                  <a:pt x="359789" y="409540"/>
                </a:lnTo>
                <a:cubicBezTo>
                  <a:pt x="368362" y="409540"/>
                  <a:pt x="375267" y="416445"/>
                  <a:pt x="375315" y="424922"/>
                </a:cubicBezTo>
                <a:cubicBezTo>
                  <a:pt x="375315" y="433446"/>
                  <a:pt x="368409" y="440351"/>
                  <a:pt x="359837" y="440351"/>
                </a:cubicBezTo>
                <a:lnTo>
                  <a:pt x="80851" y="440351"/>
                </a:lnTo>
                <a:cubicBezTo>
                  <a:pt x="72279" y="440351"/>
                  <a:pt x="65373" y="433494"/>
                  <a:pt x="65373" y="424922"/>
                </a:cubicBezTo>
                <a:cubicBezTo>
                  <a:pt x="65373" y="416445"/>
                  <a:pt x="72279" y="409540"/>
                  <a:pt x="80851" y="409540"/>
                </a:cubicBezTo>
                <a:close/>
                <a:moveTo>
                  <a:pt x="80851" y="311773"/>
                </a:moveTo>
                <a:lnTo>
                  <a:pt x="359789" y="311773"/>
                </a:lnTo>
                <a:cubicBezTo>
                  <a:pt x="368362" y="311773"/>
                  <a:pt x="375267" y="318678"/>
                  <a:pt x="375315" y="327155"/>
                </a:cubicBezTo>
                <a:cubicBezTo>
                  <a:pt x="375315" y="335727"/>
                  <a:pt x="368409" y="342680"/>
                  <a:pt x="359837" y="342680"/>
                </a:cubicBezTo>
                <a:lnTo>
                  <a:pt x="80851" y="342680"/>
                </a:lnTo>
                <a:cubicBezTo>
                  <a:pt x="72279" y="342680"/>
                  <a:pt x="65373" y="335870"/>
                  <a:pt x="65373" y="327298"/>
                </a:cubicBezTo>
                <a:cubicBezTo>
                  <a:pt x="65373" y="318726"/>
                  <a:pt x="72279" y="311773"/>
                  <a:pt x="80851" y="311773"/>
                </a:cubicBezTo>
                <a:close/>
                <a:moveTo>
                  <a:pt x="80851" y="214197"/>
                </a:moveTo>
                <a:lnTo>
                  <a:pt x="359789" y="214197"/>
                </a:lnTo>
                <a:cubicBezTo>
                  <a:pt x="368362" y="214197"/>
                  <a:pt x="375315" y="221054"/>
                  <a:pt x="375315" y="229578"/>
                </a:cubicBezTo>
                <a:cubicBezTo>
                  <a:pt x="375315" y="238103"/>
                  <a:pt x="368409" y="244960"/>
                  <a:pt x="359837" y="244960"/>
                </a:cubicBezTo>
                <a:lnTo>
                  <a:pt x="80851" y="244960"/>
                </a:lnTo>
                <a:cubicBezTo>
                  <a:pt x="72279" y="244960"/>
                  <a:pt x="65373" y="238103"/>
                  <a:pt x="65373" y="229578"/>
                </a:cubicBezTo>
                <a:cubicBezTo>
                  <a:pt x="65373" y="221054"/>
                  <a:pt x="72279" y="214197"/>
                  <a:pt x="80851" y="214197"/>
                </a:cubicBezTo>
                <a:close/>
                <a:moveTo>
                  <a:pt x="304116" y="50712"/>
                </a:moveTo>
                <a:lnTo>
                  <a:pt x="394888" y="153575"/>
                </a:lnTo>
                <a:cubicBezTo>
                  <a:pt x="396603" y="155718"/>
                  <a:pt x="395412" y="158908"/>
                  <a:pt x="392745" y="159289"/>
                </a:cubicBezTo>
                <a:lnTo>
                  <a:pt x="311355" y="161146"/>
                </a:lnTo>
                <a:cubicBezTo>
                  <a:pt x="298306" y="161146"/>
                  <a:pt x="297115" y="151336"/>
                  <a:pt x="297115" y="139479"/>
                </a:cubicBezTo>
                <a:lnTo>
                  <a:pt x="298401" y="51569"/>
                </a:lnTo>
                <a:cubicBezTo>
                  <a:pt x="299401" y="49331"/>
                  <a:pt x="302449" y="48807"/>
                  <a:pt x="304116" y="50712"/>
                </a:cubicBezTo>
                <a:close/>
                <a:moveTo>
                  <a:pt x="71814" y="32621"/>
                </a:moveTo>
                <a:cubicBezTo>
                  <a:pt x="50194" y="32621"/>
                  <a:pt x="32621" y="50099"/>
                  <a:pt x="32621" y="71671"/>
                </a:cubicBezTo>
                <a:lnTo>
                  <a:pt x="32621" y="537368"/>
                </a:lnTo>
                <a:cubicBezTo>
                  <a:pt x="32621" y="558940"/>
                  <a:pt x="50241" y="576465"/>
                  <a:pt x="71814" y="576465"/>
                </a:cubicBezTo>
                <a:lnTo>
                  <a:pt x="368691" y="576465"/>
                </a:lnTo>
                <a:cubicBezTo>
                  <a:pt x="390359" y="576465"/>
                  <a:pt x="407884" y="558988"/>
                  <a:pt x="407884" y="537368"/>
                </a:cubicBezTo>
                <a:lnTo>
                  <a:pt x="407884" y="156153"/>
                </a:lnTo>
                <a:cubicBezTo>
                  <a:pt x="407884" y="151915"/>
                  <a:pt x="406360" y="147724"/>
                  <a:pt x="403503" y="144676"/>
                </a:cubicBezTo>
                <a:lnTo>
                  <a:pt x="305687" y="35812"/>
                </a:lnTo>
                <a:cubicBezTo>
                  <a:pt x="303830" y="33812"/>
                  <a:pt x="301163" y="32621"/>
                  <a:pt x="298401" y="32621"/>
                </a:cubicBezTo>
                <a:close/>
                <a:moveTo>
                  <a:pt x="71814" y="0"/>
                </a:moveTo>
                <a:lnTo>
                  <a:pt x="298448" y="0"/>
                </a:lnTo>
                <a:cubicBezTo>
                  <a:pt x="310544" y="0"/>
                  <a:pt x="321878" y="5143"/>
                  <a:pt x="330069" y="14049"/>
                </a:cubicBezTo>
                <a:lnTo>
                  <a:pt x="427885" y="122865"/>
                </a:lnTo>
                <a:cubicBezTo>
                  <a:pt x="436124" y="132104"/>
                  <a:pt x="440600" y="143819"/>
                  <a:pt x="440648" y="156153"/>
                </a:cubicBezTo>
                <a:lnTo>
                  <a:pt x="440648" y="537320"/>
                </a:lnTo>
                <a:lnTo>
                  <a:pt x="440553" y="537320"/>
                </a:lnTo>
                <a:cubicBezTo>
                  <a:pt x="440553" y="576751"/>
                  <a:pt x="408313" y="608991"/>
                  <a:pt x="368691" y="608991"/>
                </a:cubicBezTo>
                <a:lnTo>
                  <a:pt x="71814" y="608991"/>
                </a:lnTo>
                <a:cubicBezTo>
                  <a:pt x="32288" y="608991"/>
                  <a:pt x="0" y="576894"/>
                  <a:pt x="0" y="537320"/>
                </a:cubicBezTo>
                <a:lnTo>
                  <a:pt x="0" y="71671"/>
                </a:lnTo>
                <a:cubicBezTo>
                  <a:pt x="0" y="32240"/>
                  <a:pt x="32240" y="0"/>
                  <a:pt x="7181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8" name="熊大的PPT宝库26"/>
          <p:cNvSpPr/>
          <p:nvPr/>
        </p:nvSpPr>
        <p:spPr>
          <a:xfrm>
            <a:off x="2608210" y="5056050"/>
            <a:ext cx="328756" cy="317876"/>
          </a:xfrm>
          <a:custGeom>
            <a:avLst/>
            <a:gdLst>
              <a:gd name="T0" fmla="*/ 4468 w 7617"/>
              <a:gd name="T1" fmla="*/ 3634 h 7362"/>
              <a:gd name="T2" fmla="*/ 5375 w 7617"/>
              <a:gd name="T3" fmla="*/ 1975 h 7362"/>
              <a:gd name="T4" fmla="*/ 2518 w 7617"/>
              <a:gd name="T5" fmla="*/ 3741 h 7362"/>
              <a:gd name="T6" fmla="*/ 408 w 7617"/>
              <a:gd name="T7" fmla="*/ 7024 h 7362"/>
              <a:gd name="T8" fmla="*/ 4900 w 7617"/>
              <a:gd name="T9" fmla="*/ 3974 h 7362"/>
              <a:gd name="T10" fmla="*/ 4968 w 7617"/>
              <a:gd name="T11" fmla="*/ 1975 h 7362"/>
              <a:gd name="T12" fmla="*/ 6113 w 7617"/>
              <a:gd name="T13" fmla="*/ 7362 h 7362"/>
              <a:gd name="T14" fmla="*/ 5374 w 7617"/>
              <a:gd name="T15" fmla="*/ 6952 h 7362"/>
              <a:gd name="T16" fmla="*/ 4588 w 7617"/>
              <a:gd name="T17" fmla="*/ 6165 h 7362"/>
              <a:gd name="T18" fmla="*/ 4193 w 7617"/>
              <a:gd name="T19" fmla="*/ 5313 h 7362"/>
              <a:gd name="T20" fmla="*/ 4792 w 7617"/>
              <a:gd name="T21" fmla="*/ 4780 h 7362"/>
              <a:gd name="T22" fmla="*/ 5333 w 7617"/>
              <a:gd name="T23" fmla="*/ 4011 h 7362"/>
              <a:gd name="T24" fmla="*/ 6405 w 7617"/>
              <a:gd name="T25" fmla="*/ 4346 h 7362"/>
              <a:gd name="T26" fmla="*/ 7192 w 7617"/>
              <a:gd name="T27" fmla="*/ 5133 h 7362"/>
              <a:gd name="T28" fmla="*/ 7587 w 7617"/>
              <a:gd name="T29" fmla="*/ 5985 h 7362"/>
              <a:gd name="T30" fmla="*/ 6880 w 7617"/>
              <a:gd name="T31" fmla="*/ 6639 h 7362"/>
              <a:gd name="T32" fmla="*/ 6447 w 7617"/>
              <a:gd name="T33" fmla="*/ 7287 h 7362"/>
              <a:gd name="T34" fmla="*/ 5314 w 7617"/>
              <a:gd name="T35" fmla="*/ 6632 h 7362"/>
              <a:gd name="T36" fmla="*/ 5899 w 7617"/>
              <a:gd name="T37" fmla="*/ 6787 h 7362"/>
              <a:gd name="T38" fmla="*/ 5944 w 7617"/>
              <a:gd name="T39" fmla="*/ 6964 h 7362"/>
              <a:gd name="T40" fmla="*/ 6379 w 7617"/>
              <a:gd name="T41" fmla="*/ 7029 h 7362"/>
              <a:gd name="T42" fmla="*/ 6498 w 7617"/>
              <a:gd name="T43" fmla="*/ 6796 h 7362"/>
              <a:gd name="T44" fmla="*/ 6533 w 7617"/>
              <a:gd name="T45" fmla="*/ 6584 h 7362"/>
              <a:gd name="T46" fmla="*/ 6880 w 7617"/>
              <a:gd name="T47" fmla="*/ 6212 h 7362"/>
              <a:gd name="T48" fmla="*/ 7057 w 7617"/>
              <a:gd name="T49" fmla="*/ 6262 h 7362"/>
              <a:gd name="T50" fmla="*/ 7313 w 7617"/>
              <a:gd name="T51" fmla="*/ 5785 h 7362"/>
              <a:gd name="T52" fmla="*/ 7123 w 7617"/>
              <a:gd name="T53" fmla="*/ 5680 h 7362"/>
              <a:gd name="T54" fmla="*/ 6915 w 7617"/>
              <a:gd name="T55" fmla="*/ 5160 h 7362"/>
              <a:gd name="T56" fmla="*/ 6992 w 7617"/>
              <a:gd name="T57" fmla="*/ 4960 h 7362"/>
              <a:gd name="T58" fmla="*/ 6844 w 7617"/>
              <a:gd name="T59" fmla="*/ 4538 h 7362"/>
              <a:gd name="T60" fmla="*/ 6535 w 7617"/>
              <a:gd name="T61" fmla="*/ 4599 h 7362"/>
              <a:gd name="T62" fmla="*/ 5980 w 7617"/>
              <a:gd name="T63" fmla="*/ 4522 h 7362"/>
              <a:gd name="T64" fmla="*/ 5845 w 7617"/>
              <a:gd name="T65" fmla="*/ 4357 h 7362"/>
              <a:gd name="T66" fmla="*/ 5405 w 7617"/>
              <a:gd name="T67" fmla="*/ 4273 h 7362"/>
              <a:gd name="T68" fmla="*/ 5287 w 7617"/>
              <a:gd name="T69" fmla="*/ 4507 h 7362"/>
              <a:gd name="T70" fmla="*/ 5252 w 7617"/>
              <a:gd name="T71" fmla="*/ 4718 h 7362"/>
              <a:gd name="T72" fmla="*/ 4904 w 7617"/>
              <a:gd name="T73" fmla="*/ 5090 h 7362"/>
              <a:gd name="T74" fmla="*/ 4729 w 7617"/>
              <a:gd name="T75" fmla="*/ 5040 h 7362"/>
              <a:gd name="T76" fmla="*/ 4455 w 7617"/>
              <a:gd name="T77" fmla="*/ 5384 h 7362"/>
              <a:gd name="T78" fmla="*/ 4598 w 7617"/>
              <a:gd name="T79" fmla="*/ 5604 h 7362"/>
              <a:gd name="T80" fmla="*/ 4764 w 7617"/>
              <a:gd name="T81" fmla="*/ 5740 h 7362"/>
              <a:gd name="T82" fmla="*/ 4842 w 7617"/>
              <a:gd name="T83" fmla="*/ 6295 h 7362"/>
              <a:gd name="T84" fmla="*/ 4780 w 7617"/>
              <a:gd name="T85" fmla="*/ 6603 h 7362"/>
              <a:gd name="T86" fmla="*/ 5203 w 7617"/>
              <a:gd name="T87" fmla="*/ 6750 h 7362"/>
              <a:gd name="T88" fmla="*/ 5890 w 7617"/>
              <a:gd name="T89" fmla="*/ 6453 h 7362"/>
              <a:gd name="T90" fmla="*/ 6459 w 7617"/>
              <a:gd name="T91" fmla="*/ 5082 h 7362"/>
              <a:gd name="T92" fmla="*/ 5890 w 7617"/>
              <a:gd name="T93" fmla="*/ 5114 h 7362"/>
              <a:gd name="T94" fmla="*/ 6269 w 7617"/>
              <a:gd name="T95" fmla="*/ 6030 h 7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617" h="7362">
                <a:moveTo>
                  <a:pt x="4900" y="3974"/>
                </a:moveTo>
                <a:cubicBezTo>
                  <a:pt x="4704" y="3877"/>
                  <a:pt x="4498" y="3798"/>
                  <a:pt x="4283" y="3740"/>
                </a:cubicBezTo>
                <a:cubicBezTo>
                  <a:pt x="4347" y="3708"/>
                  <a:pt x="4410" y="3676"/>
                  <a:pt x="4468" y="3634"/>
                </a:cubicBezTo>
                <a:cubicBezTo>
                  <a:pt x="4563" y="3565"/>
                  <a:pt x="4752" y="3400"/>
                  <a:pt x="4825" y="3330"/>
                </a:cubicBezTo>
                <a:cubicBezTo>
                  <a:pt x="4884" y="3274"/>
                  <a:pt x="4998" y="3134"/>
                  <a:pt x="4998" y="3134"/>
                </a:cubicBezTo>
                <a:cubicBezTo>
                  <a:pt x="5235" y="2808"/>
                  <a:pt x="5375" y="2408"/>
                  <a:pt x="5375" y="1975"/>
                </a:cubicBezTo>
                <a:cubicBezTo>
                  <a:pt x="5375" y="931"/>
                  <a:pt x="4558" y="0"/>
                  <a:pt x="3400" y="0"/>
                </a:cubicBezTo>
                <a:cubicBezTo>
                  <a:pt x="2311" y="0"/>
                  <a:pt x="1425" y="886"/>
                  <a:pt x="1425" y="1975"/>
                </a:cubicBezTo>
                <a:cubicBezTo>
                  <a:pt x="1425" y="2746"/>
                  <a:pt x="1870" y="3416"/>
                  <a:pt x="2518" y="3741"/>
                </a:cubicBezTo>
                <a:cubicBezTo>
                  <a:pt x="1069" y="4132"/>
                  <a:pt x="0" y="5455"/>
                  <a:pt x="0" y="7024"/>
                </a:cubicBezTo>
                <a:cubicBezTo>
                  <a:pt x="0" y="7137"/>
                  <a:pt x="91" y="7228"/>
                  <a:pt x="204" y="7228"/>
                </a:cubicBezTo>
                <a:cubicBezTo>
                  <a:pt x="316" y="7228"/>
                  <a:pt x="408" y="7137"/>
                  <a:pt x="408" y="7024"/>
                </a:cubicBezTo>
                <a:cubicBezTo>
                  <a:pt x="408" y="5374"/>
                  <a:pt x="1750" y="4032"/>
                  <a:pt x="3400" y="4032"/>
                </a:cubicBezTo>
                <a:cubicBezTo>
                  <a:pt x="3843" y="4032"/>
                  <a:pt x="4264" y="4129"/>
                  <a:pt x="4641" y="4303"/>
                </a:cubicBezTo>
                <a:cubicBezTo>
                  <a:pt x="4718" y="4184"/>
                  <a:pt x="4804" y="4075"/>
                  <a:pt x="4900" y="3974"/>
                </a:cubicBezTo>
                <a:close/>
                <a:moveTo>
                  <a:pt x="1833" y="1975"/>
                </a:moveTo>
                <a:cubicBezTo>
                  <a:pt x="1833" y="1110"/>
                  <a:pt x="2537" y="408"/>
                  <a:pt x="3400" y="408"/>
                </a:cubicBezTo>
                <a:cubicBezTo>
                  <a:pt x="4264" y="408"/>
                  <a:pt x="4968" y="1111"/>
                  <a:pt x="4968" y="1975"/>
                </a:cubicBezTo>
                <a:cubicBezTo>
                  <a:pt x="4968" y="2840"/>
                  <a:pt x="4264" y="3543"/>
                  <a:pt x="3400" y="3543"/>
                </a:cubicBezTo>
                <a:cubicBezTo>
                  <a:pt x="2536" y="3543"/>
                  <a:pt x="1833" y="2839"/>
                  <a:pt x="1833" y="1975"/>
                </a:cubicBezTo>
                <a:close/>
                <a:moveTo>
                  <a:pt x="6113" y="7362"/>
                </a:moveTo>
                <a:cubicBezTo>
                  <a:pt x="6037" y="7362"/>
                  <a:pt x="5960" y="7342"/>
                  <a:pt x="5891" y="7302"/>
                </a:cubicBezTo>
                <a:cubicBezTo>
                  <a:pt x="5789" y="7243"/>
                  <a:pt x="5716" y="7148"/>
                  <a:pt x="5685" y="7034"/>
                </a:cubicBezTo>
                <a:cubicBezTo>
                  <a:pt x="5578" y="7019"/>
                  <a:pt x="5474" y="6990"/>
                  <a:pt x="5374" y="6952"/>
                </a:cubicBezTo>
                <a:cubicBezTo>
                  <a:pt x="5202" y="7123"/>
                  <a:pt x="4921" y="7123"/>
                  <a:pt x="4750" y="6950"/>
                </a:cubicBezTo>
                <a:lnTo>
                  <a:pt x="4589" y="6789"/>
                </a:lnTo>
                <a:cubicBezTo>
                  <a:pt x="4417" y="6617"/>
                  <a:pt x="4417" y="6338"/>
                  <a:pt x="4588" y="6165"/>
                </a:cubicBezTo>
                <a:cubicBezTo>
                  <a:pt x="4548" y="6065"/>
                  <a:pt x="4520" y="5960"/>
                  <a:pt x="4505" y="5854"/>
                </a:cubicBezTo>
                <a:cubicBezTo>
                  <a:pt x="4391" y="5823"/>
                  <a:pt x="4298" y="5750"/>
                  <a:pt x="4238" y="5648"/>
                </a:cubicBezTo>
                <a:cubicBezTo>
                  <a:pt x="4179" y="5545"/>
                  <a:pt x="4163" y="5427"/>
                  <a:pt x="4193" y="5313"/>
                </a:cubicBezTo>
                <a:lnTo>
                  <a:pt x="4252" y="5093"/>
                </a:lnTo>
                <a:cubicBezTo>
                  <a:pt x="4281" y="4979"/>
                  <a:pt x="4355" y="4884"/>
                  <a:pt x="4458" y="4825"/>
                </a:cubicBezTo>
                <a:cubicBezTo>
                  <a:pt x="4560" y="4767"/>
                  <a:pt x="4678" y="4750"/>
                  <a:pt x="4792" y="4780"/>
                </a:cubicBezTo>
                <a:cubicBezTo>
                  <a:pt x="4825" y="4738"/>
                  <a:pt x="4862" y="4697"/>
                  <a:pt x="4899" y="4659"/>
                </a:cubicBezTo>
                <a:cubicBezTo>
                  <a:pt x="4937" y="4622"/>
                  <a:pt x="4978" y="4585"/>
                  <a:pt x="5020" y="4552"/>
                </a:cubicBezTo>
                <a:cubicBezTo>
                  <a:pt x="4959" y="4317"/>
                  <a:pt x="5099" y="4075"/>
                  <a:pt x="5333" y="4011"/>
                </a:cubicBezTo>
                <a:lnTo>
                  <a:pt x="5553" y="3953"/>
                </a:lnTo>
                <a:cubicBezTo>
                  <a:pt x="5788" y="3890"/>
                  <a:pt x="6030" y="4029"/>
                  <a:pt x="6094" y="4264"/>
                </a:cubicBezTo>
                <a:cubicBezTo>
                  <a:pt x="6202" y="4279"/>
                  <a:pt x="6305" y="4308"/>
                  <a:pt x="6405" y="4346"/>
                </a:cubicBezTo>
                <a:cubicBezTo>
                  <a:pt x="6578" y="4175"/>
                  <a:pt x="6858" y="4175"/>
                  <a:pt x="7029" y="4348"/>
                </a:cubicBezTo>
                <a:lnTo>
                  <a:pt x="7190" y="4509"/>
                </a:lnTo>
                <a:cubicBezTo>
                  <a:pt x="7363" y="4681"/>
                  <a:pt x="7363" y="4960"/>
                  <a:pt x="7192" y="5133"/>
                </a:cubicBezTo>
                <a:cubicBezTo>
                  <a:pt x="7232" y="5233"/>
                  <a:pt x="7259" y="5338"/>
                  <a:pt x="7274" y="5444"/>
                </a:cubicBezTo>
                <a:cubicBezTo>
                  <a:pt x="7388" y="5475"/>
                  <a:pt x="7482" y="5548"/>
                  <a:pt x="7542" y="5650"/>
                </a:cubicBezTo>
                <a:cubicBezTo>
                  <a:pt x="7600" y="5753"/>
                  <a:pt x="7617" y="5871"/>
                  <a:pt x="7587" y="5985"/>
                </a:cubicBezTo>
                <a:lnTo>
                  <a:pt x="7528" y="6205"/>
                </a:lnTo>
                <a:cubicBezTo>
                  <a:pt x="7465" y="6440"/>
                  <a:pt x="7223" y="6580"/>
                  <a:pt x="6988" y="6518"/>
                </a:cubicBezTo>
                <a:cubicBezTo>
                  <a:pt x="6954" y="6560"/>
                  <a:pt x="6918" y="6600"/>
                  <a:pt x="6880" y="6639"/>
                </a:cubicBezTo>
                <a:cubicBezTo>
                  <a:pt x="6843" y="6678"/>
                  <a:pt x="6802" y="6713"/>
                  <a:pt x="6759" y="6746"/>
                </a:cubicBezTo>
                <a:cubicBezTo>
                  <a:pt x="6789" y="6860"/>
                  <a:pt x="6773" y="6978"/>
                  <a:pt x="6714" y="7080"/>
                </a:cubicBezTo>
                <a:cubicBezTo>
                  <a:pt x="6655" y="7183"/>
                  <a:pt x="6559" y="7257"/>
                  <a:pt x="6447" y="7287"/>
                </a:cubicBezTo>
                <a:lnTo>
                  <a:pt x="6227" y="7345"/>
                </a:lnTo>
                <a:cubicBezTo>
                  <a:pt x="6189" y="7357"/>
                  <a:pt x="6150" y="7362"/>
                  <a:pt x="6113" y="7362"/>
                </a:cubicBezTo>
                <a:close/>
                <a:moveTo>
                  <a:pt x="5314" y="6632"/>
                </a:moveTo>
                <a:lnTo>
                  <a:pt x="5402" y="6673"/>
                </a:lnTo>
                <a:cubicBezTo>
                  <a:pt x="5528" y="6733"/>
                  <a:pt x="5662" y="6769"/>
                  <a:pt x="5803" y="6779"/>
                </a:cubicBezTo>
                <a:lnTo>
                  <a:pt x="5899" y="6787"/>
                </a:lnTo>
                <a:lnTo>
                  <a:pt x="5922" y="6880"/>
                </a:lnTo>
                <a:cubicBezTo>
                  <a:pt x="5927" y="6900"/>
                  <a:pt x="5933" y="6923"/>
                  <a:pt x="5939" y="6945"/>
                </a:cubicBezTo>
                <a:lnTo>
                  <a:pt x="5944" y="6964"/>
                </a:lnTo>
                <a:cubicBezTo>
                  <a:pt x="5957" y="7009"/>
                  <a:pt x="5985" y="7047"/>
                  <a:pt x="6027" y="7070"/>
                </a:cubicBezTo>
                <a:cubicBezTo>
                  <a:pt x="6068" y="7094"/>
                  <a:pt x="6114" y="7100"/>
                  <a:pt x="6159" y="7088"/>
                </a:cubicBezTo>
                <a:lnTo>
                  <a:pt x="6379" y="7029"/>
                </a:lnTo>
                <a:cubicBezTo>
                  <a:pt x="6424" y="7017"/>
                  <a:pt x="6462" y="6988"/>
                  <a:pt x="6485" y="6946"/>
                </a:cubicBezTo>
                <a:cubicBezTo>
                  <a:pt x="6509" y="6905"/>
                  <a:pt x="6515" y="6859"/>
                  <a:pt x="6503" y="6814"/>
                </a:cubicBezTo>
                <a:lnTo>
                  <a:pt x="6498" y="6796"/>
                </a:lnTo>
                <a:cubicBezTo>
                  <a:pt x="6492" y="6774"/>
                  <a:pt x="6485" y="6751"/>
                  <a:pt x="6480" y="6731"/>
                </a:cubicBezTo>
                <a:lnTo>
                  <a:pt x="6453" y="6639"/>
                </a:lnTo>
                <a:lnTo>
                  <a:pt x="6533" y="6584"/>
                </a:lnTo>
                <a:cubicBezTo>
                  <a:pt x="6590" y="6544"/>
                  <a:pt x="6645" y="6499"/>
                  <a:pt x="6693" y="6451"/>
                </a:cubicBezTo>
                <a:cubicBezTo>
                  <a:pt x="6741" y="6403"/>
                  <a:pt x="6787" y="6349"/>
                  <a:pt x="6825" y="6292"/>
                </a:cubicBezTo>
                <a:lnTo>
                  <a:pt x="6880" y="6212"/>
                </a:lnTo>
                <a:lnTo>
                  <a:pt x="6973" y="6239"/>
                </a:lnTo>
                <a:cubicBezTo>
                  <a:pt x="6993" y="6245"/>
                  <a:pt x="7014" y="6250"/>
                  <a:pt x="7037" y="6257"/>
                </a:cubicBezTo>
                <a:lnTo>
                  <a:pt x="7057" y="6262"/>
                </a:lnTo>
                <a:cubicBezTo>
                  <a:pt x="7150" y="6287"/>
                  <a:pt x="7247" y="6232"/>
                  <a:pt x="7272" y="6138"/>
                </a:cubicBezTo>
                <a:lnTo>
                  <a:pt x="7330" y="5918"/>
                </a:lnTo>
                <a:cubicBezTo>
                  <a:pt x="7343" y="5873"/>
                  <a:pt x="7337" y="5825"/>
                  <a:pt x="7313" y="5785"/>
                </a:cubicBezTo>
                <a:cubicBezTo>
                  <a:pt x="7289" y="5744"/>
                  <a:pt x="7252" y="5715"/>
                  <a:pt x="7207" y="5703"/>
                </a:cubicBezTo>
                <a:lnTo>
                  <a:pt x="7188" y="5698"/>
                </a:lnTo>
                <a:cubicBezTo>
                  <a:pt x="7165" y="5692"/>
                  <a:pt x="7143" y="5685"/>
                  <a:pt x="7123" y="5680"/>
                </a:cubicBezTo>
                <a:lnTo>
                  <a:pt x="7029" y="5658"/>
                </a:lnTo>
                <a:lnTo>
                  <a:pt x="7022" y="5562"/>
                </a:lnTo>
                <a:cubicBezTo>
                  <a:pt x="7010" y="5421"/>
                  <a:pt x="6975" y="5286"/>
                  <a:pt x="6915" y="5160"/>
                </a:cubicBezTo>
                <a:lnTo>
                  <a:pt x="6874" y="5073"/>
                </a:lnTo>
                <a:lnTo>
                  <a:pt x="6944" y="5007"/>
                </a:lnTo>
                <a:cubicBezTo>
                  <a:pt x="6959" y="4991"/>
                  <a:pt x="6975" y="4977"/>
                  <a:pt x="6992" y="4960"/>
                </a:cubicBezTo>
                <a:lnTo>
                  <a:pt x="7005" y="4946"/>
                </a:lnTo>
                <a:cubicBezTo>
                  <a:pt x="7074" y="4878"/>
                  <a:pt x="7074" y="4766"/>
                  <a:pt x="7005" y="4699"/>
                </a:cubicBezTo>
                <a:lnTo>
                  <a:pt x="6844" y="4538"/>
                </a:lnTo>
                <a:cubicBezTo>
                  <a:pt x="6775" y="4469"/>
                  <a:pt x="6664" y="4469"/>
                  <a:pt x="6597" y="4538"/>
                </a:cubicBezTo>
                <a:lnTo>
                  <a:pt x="6583" y="4552"/>
                </a:lnTo>
                <a:lnTo>
                  <a:pt x="6535" y="4599"/>
                </a:lnTo>
                <a:lnTo>
                  <a:pt x="6469" y="4669"/>
                </a:lnTo>
                <a:lnTo>
                  <a:pt x="6382" y="4628"/>
                </a:lnTo>
                <a:cubicBezTo>
                  <a:pt x="6255" y="4568"/>
                  <a:pt x="6120" y="4532"/>
                  <a:pt x="5980" y="4522"/>
                </a:cubicBezTo>
                <a:lnTo>
                  <a:pt x="5884" y="4514"/>
                </a:lnTo>
                <a:lnTo>
                  <a:pt x="5862" y="4420"/>
                </a:lnTo>
                <a:cubicBezTo>
                  <a:pt x="5857" y="4400"/>
                  <a:pt x="5850" y="4379"/>
                  <a:pt x="5845" y="4357"/>
                </a:cubicBezTo>
                <a:lnTo>
                  <a:pt x="5840" y="4338"/>
                </a:lnTo>
                <a:cubicBezTo>
                  <a:pt x="5815" y="4244"/>
                  <a:pt x="5719" y="4189"/>
                  <a:pt x="5625" y="4214"/>
                </a:cubicBezTo>
                <a:lnTo>
                  <a:pt x="5405" y="4273"/>
                </a:lnTo>
                <a:cubicBezTo>
                  <a:pt x="5360" y="4285"/>
                  <a:pt x="5323" y="4314"/>
                  <a:pt x="5299" y="4355"/>
                </a:cubicBezTo>
                <a:cubicBezTo>
                  <a:pt x="5275" y="4397"/>
                  <a:pt x="5269" y="4443"/>
                  <a:pt x="5282" y="4488"/>
                </a:cubicBezTo>
                <a:lnTo>
                  <a:pt x="5287" y="4507"/>
                </a:lnTo>
                <a:cubicBezTo>
                  <a:pt x="5293" y="4529"/>
                  <a:pt x="5298" y="4550"/>
                  <a:pt x="5304" y="4570"/>
                </a:cubicBezTo>
                <a:lnTo>
                  <a:pt x="5332" y="4663"/>
                </a:lnTo>
                <a:lnTo>
                  <a:pt x="5252" y="4718"/>
                </a:lnTo>
                <a:cubicBezTo>
                  <a:pt x="5194" y="4758"/>
                  <a:pt x="5139" y="4803"/>
                  <a:pt x="5092" y="4850"/>
                </a:cubicBezTo>
                <a:cubicBezTo>
                  <a:pt x="5043" y="4899"/>
                  <a:pt x="4998" y="4953"/>
                  <a:pt x="4959" y="5010"/>
                </a:cubicBezTo>
                <a:lnTo>
                  <a:pt x="4904" y="5090"/>
                </a:lnTo>
                <a:lnTo>
                  <a:pt x="4812" y="5063"/>
                </a:lnTo>
                <a:cubicBezTo>
                  <a:pt x="4792" y="5057"/>
                  <a:pt x="4770" y="5052"/>
                  <a:pt x="4748" y="5045"/>
                </a:cubicBezTo>
                <a:lnTo>
                  <a:pt x="4729" y="5040"/>
                </a:lnTo>
                <a:cubicBezTo>
                  <a:pt x="4684" y="5028"/>
                  <a:pt x="4637" y="5034"/>
                  <a:pt x="4597" y="5058"/>
                </a:cubicBezTo>
                <a:cubicBezTo>
                  <a:pt x="4555" y="5082"/>
                  <a:pt x="4527" y="5119"/>
                  <a:pt x="4514" y="5164"/>
                </a:cubicBezTo>
                <a:lnTo>
                  <a:pt x="4455" y="5384"/>
                </a:lnTo>
                <a:cubicBezTo>
                  <a:pt x="4443" y="5429"/>
                  <a:pt x="4449" y="5477"/>
                  <a:pt x="4473" y="5517"/>
                </a:cubicBezTo>
                <a:cubicBezTo>
                  <a:pt x="4497" y="5557"/>
                  <a:pt x="4534" y="5587"/>
                  <a:pt x="4579" y="5599"/>
                </a:cubicBezTo>
                <a:lnTo>
                  <a:pt x="4598" y="5604"/>
                </a:lnTo>
                <a:cubicBezTo>
                  <a:pt x="4620" y="5610"/>
                  <a:pt x="4643" y="5617"/>
                  <a:pt x="4663" y="5622"/>
                </a:cubicBezTo>
                <a:lnTo>
                  <a:pt x="4757" y="5644"/>
                </a:lnTo>
                <a:lnTo>
                  <a:pt x="4764" y="5740"/>
                </a:lnTo>
                <a:cubicBezTo>
                  <a:pt x="4775" y="5880"/>
                  <a:pt x="4810" y="6015"/>
                  <a:pt x="4870" y="6142"/>
                </a:cubicBezTo>
                <a:lnTo>
                  <a:pt x="4912" y="6229"/>
                </a:lnTo>
                <a:lnTo>
                  <a:pt x="4842" y="6295"/>
                </a:lnTo>
                <a:cubicBezTo>
                  <a:pt x="4827" y="6310"/>
                  <a:pt x="4810" y="6325"/>
                  <a:pt x="4794" y="6342"/>
                </a:cubicBezTo>
                <a:lnTo>
                  <a:pt x="4780" y="6355"/>
                </a:lnTo>
                <a:cubicBezTo>
                  <a:pt x="4712" y="6424"/>
                  <a:pt x="4712" y="6535"/>
                  <a:pt x="4780" y="6603"/>
                </a:cubicBezTo>
                <a:lnTo>
                  <a:pt x="4942" y="6764"/>
                </a:lnTo>
                <a:cubicBezTo>
                  <a:pt x="5010" y="6833"/>
                  <a:pt x="5122" y="6833"/>
                  <a:pt x="5189" y="6764"/>
                </a:cubicBezTo>
                <a:lnTo>
                  <a:pt x="5203" y="6750"/>
                </a:lnTo>
                <a:cubicBezTo>
                  <a:pt x="5219" y="6734"/>
                  <a:pt x="5235" y="6719"/>
                  <a:pt x="5249" y="6703"/>
                </a:cubicBezTo>
                <a:lnTo>
                  <a:pt x="5314" y="6632"/>
                </a:lnTo>
                <a:close/>
                <a:moveTo>
                  <a:pt x="5890" y="6453"/>
                </a:moveTo>
                <a:cubicBezTo>
                  <a:pt x="5684" y="6453"/>
                  <a:pt x="5479" y="6374"/>
                  <a:pt x="5323" y="6218"/>
                </a:cubicBezTo>
                <a:cubicBezTo>
                  <a:pt x="5009" y="5904"/>
                  <a:pt x="5009" y="5395"/>
                  <a:pt x="5323" y="5082"/>
                </a:cubicBezTo>
                <a:cubicBezTo>
                  <a:pt x="5637" y="4768"/>
                  <a:pt x="6145" y="4768"/>
                  <a:pt x="6459" y="5082"/>
                </a:cubicBezTo>
                <a:cubicBezTo>
                  <a:pt x="6773" y="5395"/>
                  <a:pt x="6773" y="5904"/>
                  <a:pt x="6459" y="6218"/>
                </a:cubicBezTo>
                <a:cubicBezTo>
                  <a:pt x="6302" y="6374"/>
                  <a:pt x="6095" y="6453"/>
                  <a:pt x="5890" y="6453"/>
                </a:cubicBezTo>
                <a:close/>
                <a:moveTo>
                  <a:pt x="5890" y="5114"/>
                </a:moveTo>
                <a:cubicBezTo>
                  <a:pt x="5753" y="5114"/>
                  <a:pt x="5615" y="5167"/>
                  <a:pt x="5510" y="5272"/>
                </a:cubicBezTo>
                <a:cubicBezTo>
                  <a:pt x="5302" y="5480"/>
                  <a:pt x="5302" y="5822"/>
                  <a:pt x="5510" y="6030"/>
                </a:cubicBezTo>
                <a:cubicBezTo>
                  <a:pt x="5719" y="6239"/>
                  <a:pt x="6060" y="6239"/>
                  <a:pt x="6269" y="6030"/>
                </a:cubicBezTo>
                <a:cubicBezTo>
                  <a:pt x="6478" y="5822"/>
                  <a:pt x="6478" y="5480"/>
                  <a:pt x="6269" y="5272"/>
                </a:cubicBezTo>
                <a:cubicBezTo>
                  <a:pt x="6165" y="5167"/>
                  <a:pt x="6028" y="5114"/>
                  <a:pt x="5890" y="511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9" name="熊大的PPT宝库27"/>
          <p:cNvSpPr/>
          <p:nvPr/>
        </p:nvSpPr>
        <p:spPr>
          <a:xfrm>
            <a:off x="1216450" y="4046884"/>
            <a:ext cx="342338" cy="308131"/>
          </a:xfrm>
          <a:custGeom>
            <a:avLst/>
            <a:gdLst>
              <a:gd name="T0" fmla="*/ 800 w 12800"/>
              <a:gd name="T1" fmla="*/ 2454 h 11520"/>
              <a:gd name="T2" fmla="*/ 0 w 12800"/>
              <a:gd name="T3" fmla="*/ 10720 h 11520"/>
              <a:gd name="T4" fmla="*/ 12000 w 12800"/>
              <a:gd name="T5" fmla="*/ 11520 h 11520"/>
              <a:gd name="T6" fmla="*/ 12800 w 12800"/>
              <a:gd name="T7" fmla="*/ 3254 h 11520"/>
              <a:gd name="T8" fmla="*/ 12267 w 12800"/>
              <a:gd name="T9" fmla="*/ 10720 h 11520"/>
              <a:gd name="T10" fmla="*/ 800 w 12800"/>
              <a:gd name="T11" fmla="*/ 10987 h 11520"/>
              <a:gd name="T12" fmla="*/ 533 w 12800"/>
              <a:gd name="T13" fmla="*/ 3254 h 11520"/>
              <a:gd name="T14" fmla="*/ 12000 w 12800"/>
              <a:gd name="T15" fmla="*/ 2987 h 11520"/>
              <a:gd name="T16" fmla="*/ 12267 w 12800"/>
              <a:gd name="T17" fmla="*/ 10720 h 11520"/>
              <a:gd name="T18" fmla="*/ 10400 w 12800"/>
              <a:gd name="T19" fmla="*/ 1920 h 11520"/>
              <a:gd name="T20" fmla="*/ 10400 w 12800"/>
              <a:gd name="T21" fmla="*/ 1387 h 11520"/>
              <a:gd name="T22" fmla="*/ 2133 w 12800"/>
              <a:gd name="T23" fmla="*/ 1654 h 11520"/>
              <a:gd name="T24" fmla="*/ 3520 w 12800"/>
              <a:gd name="T25" fmla="*/ 640 h 11520"/>
              <a:gd name="T26" fmla="*/ 9627 w 12800"/>
              <a:gd name="T27" fmla="*/ 320 h 11520"/>
              <a:gd name="T28" fmla="*/ 3520 w 12800"/>
              <a:gd name="T29" fmla="*/ 0 h 11520"/>
              <a:gd name="T30" fmla="*/ 3520 w 12800"/>
              <a:gd name="T31" fmla="*/ 640 h 11520"/>
              <a:gd name="T32" fmla="*/ 7973 w 12800"/>
              <a:gd name="T33" fmla="*/ 4454 h 11520"/>
              <a:gd name="T34" fmla="*/ 6400 w 12800"/>
              <a:gd name="T35" fmla="*/ 6294 h 11520"/>
              <a:gd name="T36" fmla="*/ 4827 w 12800"/>
              <a:gd name="T37" fmla="*/ 4454 h 11520"/>
              <a:gd name="T38" fmla="*/ 4373 w 12800"/>
              <a:gd name="T39" fmla="*/ 5334 h 11520"/>
              <a:gd name="T40" fmla="*/ 4693 w 12800"/>
              <a:gd name="T41" fmla="*/ 6694 h 11520"/>
              <a:gd name="T42" fmla="*/ 4693 w 12800"/>
              <a:gd name="T43" fmla="*/ 7334 h 11520"/>
              <a:gd name="T44" fmla="*/ 5813 w 12800"/>
              <a:gd name="T45" fmla="*/ 7840 h 11520"/>
              <a:gd name="T46" fmla="*/ 4347 w 12800"/>
              <a:gd name="T47" fmla="*/ 8160 h 11520"/>
              <a:gd name="T48" fmla="*/ 5813 w 12800"/>
              <a:gd name="T49" fmla="*/ 8480 h 11520"/>
              <a:gd name="T50" fmla="*/ 6373 w 12800"/>
              <a:gd name="T51" fmla="*/ 9920 h 11520"/>
              <a:gd name="T52" fmla="*/ 6933 w 12800"/>
              <a:gd name="T53" fmla="*/ 8480 h 11520"/>
              <a:gd name="T54" fmla="*/ 8400 w 12800"/>
              <a:gd name="T55" fmla="*/ 8160 h 11520"/>
              <a:gd name="T56" fmla="*/ 6933 w 12800"/>
              <a:gd name="T57" fmla="*/ 7840 h 11520"/>
              <a:gd name="T58" fmla="*/ 8053 w 12800"/>
              <a:gd name="T59" fmla="*/ 7334 h 11520"/>
              <a:gd name="T60" fmla="*/ 8053 w 12800"/>
              <a:gd name="T61" fmla="*/ 6694 h 11520"/>
              <a:gd name="T62" fmla="*/ 8373 w 12800"/>
              <a:gd name="T63" fmla="*/ 5334 h 11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800" h="11520">
                <a:moveTo>
                  <a:pt x="12000" y="2454"/>
                </a:moveTo>
                <a:lnTo>
                  <a:pt x="800" y="2454"/>
                </a:lnTo>
                <a:cubicBezTo>
                  <a:pt x="347" y="2454"/>
                  <a:pt x="0" y="2800"/>
                  <a:pt x="0" y="3254"/>
                </a:cubicBezTo>
                <a:lnTo>
                  <a:pt x="0" y="10720"/>
                </a:lnTo>
                <a:cubicBezTo>
                  <a:pt x="0" y="11174"/>
                  <a:pt x="347" y="11520"/>
                  <a:pt x="800" y="11520"/>
                </a:cubicBezTo>
                <a:lnTo>
                  <a:pt x="12000" y="11520"/>
                </a:lnTo>
                <a:cubicBezTo>
                  <a:pt x="12453" y="11520"/>
                  <a:pt x="12800" y="11174"/>
                  <a:pt x="12800" y="10720"/>
                </a:cubicBezTo>
                <a:lnTo>
                  <a:pt x="12800" y="3254"/>
                </a:lnTo>
                <a:cubicBezTo>
                  <a:pt x="12800" y="2800"/>
                  <a:pt x="12453" y="2454"/>
                  <a:pt x="12000" y="2454"/>
                </a:cubicBezTo>
                <a:close/>
                <a:moveTo>
                  <a:pt x="12267" y="10720"/>
                </a:moveTo>
                <a:cubicBezTo>
                  <a:pt x="12267" y="10880"/>
                  <a:pt x="12160" y="10987"/>
                  <a:pt x="12000" y="10987"/>
                </a:cubicBezTo>
                <a:lnTo>
                  <a:pt x="800" y="10987"/>
                </a:lnTo>
                <a:cubicBezTo>
                  <a:pt x="640" y="10987"/>
                  <a:pt x="533" y="10880"/>
                  <a:pt x="533" y="10720"/>
                </a:cubicBezTo>
                <a:lnTo>
                  <a:pt x="533" y="3254"/>
                </a:lnTo>
                <a:cubicBezTo>
                  <a:pt x="533" y="3094"/>
                  <a:pt x="640" y="2987"/>
                  <a:pt x="800" y="2987"/>
                </a:cubicBezTo>
                <a:lnTo>
                  <a:pt x="12000" y="2987"/>
                </a:lnTo>
                <a:cubicBezTo>
                  <a:pt x="12160" y="2987"/>
                  <a:pt x="12267" y="3094"/>
                  <a:pt x="12267" y="3254"/>
                </a:cubicBezTo>
                <a:lnTo>
                  <a:pt x="12267" y="10720"/>
                </a:lnTo>
                <a:close/>
                <a:moveTo>
                  <a:pt x="2400" y="1920"/>
                </a:moveTo>
                <a:lnTo>
                  <a:pt x="10400" y="1920"/>
                </a:lnTo>
                <a:cubicBezTo>
                  <a:pt x="10533" y="1920"/>
                  <a:pt x="10667" y="1787"/>
                  <a:pt x="10667" y="1654"/>
                </a:cubicBezTo>
                <a:cubicBezTo>
                  <a:pt x="10667" y="1520"/>
                  <a:pt x="10560" y="1387"/>
                  <a:pt x="10400" y="1387"/>
                </a:cubicBezTo>
                <a:lnTo>
                  <a:pt x="2400" y="1387"/>
                </a:lnTo>
                <a:cubicBezTo>
                  <a:pt x="2267" y="1387"/>
                  <a:pt x="2133" y="1520"/>
                  <a:pt x="2133" y="1654"/>
                </a:cubicBezTo>
                <a:cubicBezTo>
                  <a:pt x="2133" y="1787"/>
                  <a:pt x="2267" y="1920"/>
                  <a:pt x="2400" y="1920"/>
                </a:cubicBezTo>
                <a:close/>
                <a:moveTo>
                  <a:pt x="3520" y="640"/>
                </a:moveTo>
                <a:lnTo>
                  <a:pt x="9307" y="640"/>
                </a:lnTo>
                <a:cubicBezTo>
                  <a:pt x="9467" y="640"/>
                  <a:pt x="9627" y="507"/>
                  <a:pt x="9627" y="320"/>
                </a:cubicBezTo>
                <a:cubicBezTo>
                  <a:pt x="9627" y="160"/>
                  <a:pt x="9493" y="0"/>
                  <a:pt x="9307" y="0"/>
                </a:cubicBezTo>
                <a:lnTo>
                  <a:pt x="3520" y="0"/>
                </a:lnTo>
                <a:cubicBezTo>
                  <a:pt x="3360" y="0"/>
                  <a:pt x="3200" y="134"/>
                  <a:pt x="3200" y="320"/>
                </a:cubicBezTo>
                <a:cubicBezTo>
                  <a:pt x="3200" y="480"/>
                  <a:pt x="3333" y="640"/>
                  <a:pt x="3520" y="640"/>
                </a:cubicBezTo>
                <a:close/>
                <a:moveTo>
                  <a:pt x="8533" y="5014"/>
                </a:moveTo>
                <a:cubicBezTo>
                  <a:pt x="8480" y="4667"/>
                  <a:pt x="8293" y="4480"/>
                  <a:pt x="7973" y="4454"/>
                </a:cubicBezTo>
                <a:cubicBezTo>
                  <a:pt x="7787" y="4480"/>
                  <a:pt x="7627" y="4560"/>
                  <a:pt x="7520" y="4694"/>
                </a:cubicBezTo>
                <a:lnTo>
                  <a:pt x="6400" y="6294"/>
                </a:lnTo>
                <a:lnTo>
                  <a:pt x="5280" y="4694"/>
                </a:lnTo>
                <a:cubicBezTo>
                  <a:pt x="5173" y="4560"/>
                  <a:pt x="5040" y="4480"/>
                  <a:pt x="4827" y="4454"/>
                </a:cubicBezTo>
                <a:cubicBezTo>
                  <a:pt x="4480" y="4507"/>
                  <a:pt x="4293" y="4694"/>
                  <a:pt x="4267" y="5014"/>
                </a:cubicBezTo>
                <a:cubicBezTo>
                  <a:pt x="4267" y="5120"/>
                  <a:pt x="4293" y="5254"/>
                  <a:pt x="4373" y="5334"/>
                </a:cubicBezTo>
                <a:lnTo>
                  <a:pt x="5333" y="6694"/>
                </a:lnTo>
                <a:lnTo>
                  <a:pt x="4693" y="6694"/>
                </a:lnTo>
                <a:cubicBezTo>
                  <a:pt x="4480" y="6720"/>
                  <a:pt x="4347" y="6827"/>
                  <a:pt x="4347" y="7014"/>
                </a:cubicBezTo>
                <a:cubicBezTo>
                  <a:pt x="4373" y="7200"/>
                  <a:pt x="4480" y="7334"/>
                  <a:pt x="4693" y="7334"/>
                </a:cubicBezTo>
                <a:lnTo>
                  <a:pt x="5813" y="7334"/>
                </a:lnTo>
                <a:lnTo>
                  <a:pt x="5813" y="7840"/>
                </a:lnTo>
                <a:lnTo>
                  <a:pt x="4693" y="7840"/>
                </a:lnTo>
                <a:cubicBezTo>
                  <a:pt x="4480" y="7867"/>
                  <a:pt x="4347" y="7974"/>
                  <a:pt x="4347" y="8160"/>
                </a:cubicBezTo>
                <a:cubicBezTo>
                  <a:pt x="4373" y="8347"/>
                  <a:pt x="4480" y="8480"/>
                  <a:pt x="4693" y="8480"/>
                </a:cubicBezTo>
                <a:lnTo>
                  <a:pt x="5813" y="8480"/>
                </a:lnTo>
                <a:lnTo>
                  <a:pt x="5813" y="9414"/>
                </a:lnTo>
                <a:cubicBezTo>
                  <a:pt x="5840" y="9760"/>
                  <a:pt x="6027" y="9920"/>
                  <a:pt x="6373" y="9920"/>
                </a:cubicBezTo>
                <a:cubicBezTo>
                  <a:pt x="6720" y="9920"/>
                  <a:pt x="6933" y="9760"/>
                  <a:pt x="6933" y="9414"/>
                </a:cubicBezTo>
                <a:lnTo>
                  <a:pt x="6933" y="8480"/>
                </a:lnTo>
                <a:lnTo>
                  <a:pt x="8053" y="8480"/>
                </a:lnTo>
                <a:cubicBezTo>
                  <a:pt x="8267" y="8454"/>
                  <a:pt x="8400" y="8347"/>
                  <a:pt x="8400" y="8160"/>
                </a:cubicBezTo>
                <a:cubicBezTo>
                  <a:pt x="8373" y="7974"/>
                  <a:pt x="8267" y="7840"/>
                  <a:pt x="8053" y="7840"/>
                </a:cubicBezTo>
                <a:lnTo>
                  <a:pt x="6933" y="7840"/>
                </a:lnTo>
                <a:lnTo>
                  <a:pt x="6933" y="7334"/>
                </a:lnTo>
                <a:lnTo>
                  <a:pt x="8053" y="7334"/>
                </a:lnTo>
                <a:cubicBezTo>
                  <a:pt x="8267" y="7307"/>
                  <a:pt x="8400" y="7200"/>
                  <a:pt x="8400" y="7014"/>
                </a:cubicBezTo>
                <a:cubicBezTo>
                  <a:pt x="8373" y="6827"/>
                  <a:pt x="8267" y="6694"/>
                  <a:pt x="8053" y="6694"/>
                </a:cubicBezTo>
                <a:lnTo>
                  <a:pt x="7413" y="6694"/>
                </a:lnTo>
                <a:lnTo>
                  <a:pt x="8373" y="5334"/>
                </a:lnTo>
                <a:cubicBezTo>
                  <a:pt x="8480" y="5254"/>
                  <a:pt x="8533" y="5147"/>
                  <a:pt x="8533" y="501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98" name="熊大的PPT宝库28"/>
          <p:cNvSpPr/>
          <p:nvPr/>
        </p:nvSpPr>
        <p:spPr>
          <a:xfrm>
            <a:off x="1640041" y="2223624"/>
            <a:ext cx="307975" cy="307224"/>
          </a:xfrm>
          <a:custGeom>
            <a:avLst/>
            <a:gdLst>
              <a:gd name="T0" fmla="*/ 12630 w 12833"/>
              <a:gd name="T1" fmla="*/ 64 h 12800"/>
              <a:gd name="T2" fmla="*/ 12413 w 12833"/>
              <a:gd name="T3" fmla="*/ 0 h 12800"/>
              <a:gd name="T4" fmla="*/ 12191 w 12833"/>
              <a:gd name="T5" fmla="*/ 67 h 12800"/>
              <a:gd name="T6" fmla="*/ 191 w 12833"/>
              <a:gd name="T7" fmla="*/ 8067 h 12800"/>
              <a:gd name="T8" fmla="*/ 16 w 12833"/>
              <a:gd name="T9" fmla="*/ 8441 h 12800"/>
              <a:gd name="T10" fmla="*/ 265 w 12833"/>
              <a:gd name="T11" fmla="*/ 8771 h 12800"/>
              <a:gd name="T12" fmla="*/ 3394 w 12833"/>
              <a:gd name="T13" fmla="*/ 10023 h 12800"/>
              <a:gd name="T14" fmla="*/ 4866 w 12833"/>
              <a:gd name="T15" fmla="*/ 12598 h 12800"/>
              <a:gd name="T16" fmla="*/ 5209 w 12833"/>
              <a:gd name="T17" fmla="*/ 12800 h 12800"/>
              <a:gd name="T18" fmla="*/ 5213 w 12833"/>
              <a:gd name="T19" fmla="*/ 12800 h 12800"/>
              <a:gd name="T20" fmla="*/ 5556 w 12833"/>
              <a:gd name="T21" fmla="*/ 12606 h 12800"/>
              <a:gd name="T22" fmla="*/ 6387 w 12833"/>
              <a:gd name="T23" fmla="*/ 11220 h 12800"/>
              <a:gd name="T24" fmla="*/ 10264 w 12833"/>
              <a:gd name="T25" fmla="*/ 12771 h 12800"/>
              <a:gd name="T26" fmla="*/ 10413 w 12833"/>
              <a:gd name="T27" fmla="*/ 12800 h 12800"/>
              <a:gd name="T28" fmla="*/ 10609 w 12833"/>
              <a:gd name="T29" fmla="*/ 12748 h 12800"/>
              <a:gd name="T30" fmla="*/ 10807 w 12833"/>
              <a:gd name="T31" fmla="*/ 12465 h 12800"/>
              <a:gd name="T32" fmla="*/ 12807 w 12833"/>
              <a:gd name="T33" fmla="*/ 466 h 12800"/>
              <a:gd name="T34" fmla="*/ 12630 w 12833"/>
              <a:gd name="T35" fmla="*/ 64 h 12800"/>
              <a:gd name="T36" fmla="*/ 1268 w 12833"/>
              <a:gd name="T37" fmla="*/ 8311 h 12800"/>
              <a:gd name="T38" fmla="*/ 10537 w 12833"/>
              <a:gd name="T39" fmla="*/ 2130 h 12800"/>
              <a:gd name="T40" fmla="*/ 3797 w 12833"/>
              <a:gd name="T41" fmla="*/ 9345 h 12800"/>
              <a:gd name="T42" fmla="*/ 3691 w 12833"/>
              <a:gd name="T43" fmla="*/ 9280 h 12800"/>
              <a:gd name="T44" fmla="*/ 1268 w 12833"/>
              <a:gd name="T45" fmla="*/ 8311 h 12800"/>
              <a:gd name="T46" fmla="*/ 4089 w 12833"/>
              <a:gd name="T47" fmla="*/ 9626 h 12800"/>
              <a:gd name="T48" fmla="*/ 4086 w 12833"/>
              <a:gd name="T49" fmla="*/ 9622 h 12800"/>
              <a:gd name="T50" fmla="*/ 11663 w 12833"/>
              <a:gd name="T51" fmla="*/ 1512 h 12800"/>
              <a:gd name="T52" fmla="*/ 5203 w 12833"/>
              <a:gd name="T53" fmla="*/ 11577 h 12800"/>
              <a:gd name="T54" fmla="*/ 4089 w 12833"/>
              <a:gd name="T55" fmla="*/ 9626 h 12800"/>
              <a:gd name="T56" fmla="*/ 10100 w 12833"/>
              <a:gd name="T57" fmla="*/ 11843 h 12800"/>
              <a:gd name="T58" fmla="*/ 6683 w 12833"/>
              <a:gd name="T59" fmla="*/ 10477 h 12800"/>
              <a:gd name="T60" fmla="*/ 6434 w 12833"/>
              <a:gd name="T61" fmla="*/ 10429 h 12800"/>
              <a:gd name="T62" fmla="*/ 11695 w 12833"/>
              <a:gd name="T63" fmla="*/ 2274 h 12800"/>
              <a:gd name="T64" fmla="*/ 10100 w 12833"/>
              <a:gd name="T65" fmla="*/ 11843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833" h="12800">
                <a:moveTo>
                  <a:pt x="12630" y="64"/>
                </a:moveTo>
                <a:cubicBezTo>
                  <a:pt x="12564" y="21"/>
                  <a:pt x="12488" y="0"/>
                  <a:pt x="12413" y="0"/>
                </a:cubicBezTo>
                <a:cubicBezTo>
                  <a:pt x="12336" y="0"/>
                  <a:pt x="12258" y="22"/>
                  <a:pt x="12191" y="67"/>
                </a:cubicBezTo>
                <a:lnTo>
                  <a:pt x="191" y="8067"/>
                </a:lnTo>
                <a:cubicBezTo>
                  <a:pt x="68" y="8149"/>
                  <a:pt x="0" y="8293"/>
                  <a:pt x="16" y="8441"/>
                </a:cubicBezTo>
                <a:cubicBezTo>
                  <a:pt x="31" y="8589"/>
                  <a:pt x="127" y="8717"/>
                  <a:pt x="265" y="8771"/>
                </a:cubicBezTo>
                <a:lnTo>
                  <a:pt x="3394" y="10023"/>
                </a:lnTo>
                <a:lnTo>
                  <a:pt x="4866" y="12598"/>
                </a:lnTo>
                <a:cubicBezTo>
                  <a:pt x="4936" y="12722"/>
                  <a:pt x="5067" y="12798"/>
                  <a:pt x="5209" y="12800"/>
                </a:cubicBezTo>
                <a:lnTo>
                  <a:pt x="5213" y="12800"/>
                </a:lnTo>
                <a:cubicBezTo>
                  <a:pt x="5353" y="12800"/>
                  <a:pt x="5484" y="12726"/>
                  <a:pt x="5556" y="12606"/>
                </a:cubicBezTo>
                <a:lnTo>
                  <a:pt x="6387" y="11220"/>
                </a:lnTo>
                <a:lnTo>
                  <a:pt x="10264" y="12771"/>
                </a:lnTo>
                <a:cubicBezTo>
                  <a:pt x="10312" y="12790"/>
                  <a:pt x="10362" y="12800"/>
                  <a:pt x="10413" y="12800"/>
                </a:cubicBezTo>
                <a:cubicBezTo>
                  <a:pt x="10481" y="12800"/>
                  <a:pt x="10548" y="12782"/>
                  <a:pt x="10609" y="12748"/>
                </a:cubicBezTo>
                <a:cubicBezTo>
                  <a:pt x="10714" y="12689"/>
                  <a:pt x="10787" y="12585"/>
                  <a:pt x="10807" y="12465"/>
                </a:cubicBezTo>
                <a:lnTo>
                  <a:pt x="12807" y="466"/>
                </a:lnTo>
                <a:cubicBezTo>
                  <a:pt x="12833" y="308"/>
                  <a:pt x="12764" y="151"/>
                  <a:pt x="12630" y="64"/>
                </a:cubicBezTo>
                <a:close/>
                <a:moveTo>
                  <a:pt x="1268" y="8311"/>
                </a:moveTo>
                <a:lnTo>
                  <a:pt x="10537" y="2130"/>
                </a:lnTo>
                <a:lnTo>
                  <a:pt x="3797" y="9345"/>
                </a:lnTo>
                <a:cubicBezTo>
                  <a:pt x="3762" y="9324"/>
                  <a:pt x="3730" y="9296"/>
                  <a:pt x="3691" y="9280"/>
                </a:cubicBezTo>
                <a:lnTo>
                  <a:pt x="1268" y="8311"/>
                </a:lnTo>
                <a:close/>
                <a:moveTo>
                  <a:pt x="4089" y="9626"/>
                </a:moveTo>
                <a:cubicBezTo>
                  <a:pt x="4088" y="9624"/>
                  <a:pt x="4087" y="9624"/>
                  <a:pt x="4086" y="9622"/>
                </a:cubicBezTo>
                <a:lnTo>
                  <a:pt x="11663" y="1512"/>
                </a:lnTo>
                <a:lnTo>
                  <a:pt x="5203" y="11577"/>
                </a:lnTo>
                <a:lnTo>
                  <a:pt x="4089" y="9626"/>
                </a:lnTo>
                <a:close/>
                <a:moveTo>
                  <a:pt x="10100" y="11843"/>
                </a:moveTo>
                <a:lnTo>
                  <a:pt x="6683" y="10477"/>
                </a:lnTo>
                <a:cubicBezTo>
                  <a:pt x="6602" y="10445"/>
                  <a:pt x="6518" y="10434"/>
                  <a:pt x="6434" y="10429"/>
                </a:cubicBezTo>
                <a:lnTo>
                  <a:pt x="11695" y="2274"/>
                </a:lnTo>
                <a:lnTo>
                  <a:pt x="10100" y="1184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grpSp>
        <p:nvGrpSpPr>
          <p:cNvPr id="32" name="熊大的PPT宝库29"/>
          <p:cNvGrpSpPr/>
          <p:nvPr/>
        </p:nvGrpSpPr>
        <p:grpSpPr>
          <a:xfrm>
            <a:off x="7067730" y="2003203"/>
            <a:ext cx="1192215" cy="363372"/>
            <a:chOff x="7225812" y="1926758"/>
            <a:chExt cx="1079381" cy="315161"/>
          </a:xfrm>
        </p:grpSpPr>
        <p:sp>
          <p:nvSpPr>
            <p:cNvPr id="48" name="熊大的PPT宝库29-1"/>
            <p:cNvSpPr/>
            <p:nvPr/>
          </p:nvSpPr>
          <p:spPr>
            <a:xfrm>
              <a:off x="7225812" y="1926758"/>
              <a:ext cx="1079381" cy="315161"/>
            </a:xfrm>
            <a:prstGeom prst="roundRect">
              <a:avLst>
                <a:gd name="adj" fmla="val 50000"/>
              </a:avLst>
            </a:prstGeom>
            <a:gradFill>
              <a:gsLst>
                <a:gs pos="0">
                  <a:schemeClr val="accent1">
                    <a:lumMod val="0"/>
                    <a:lumOff val="100000"/>
                  </a:schemeClr>
                </a:gs>
                <a:gs pos="100000">
                  <a:schemeClr val="accent1">
                    <a:lumMod val="5000"/>
                    <a:lumOff val="95000"/>
                  </a:schemeClr>
                </a:gs>
              </a:gsLst>
              <a:lin ang="2700000" scaled="1"/>
            </a:gradFill>
            <a:ln w="9525">
              <a:gradFill>
                <a:gsLst>
                  <a:gs pos="53000">
                    <a:schemeClr val="accent1">
                      <a:lumMod val="5000"/>
                      <a:lumOff val="95000"/>
                    </a:schemeClr>
                  </a:gs>
                  <a:gs pos="17000">
                    <a:schemeClr val="accent1">
                      <a:lumMod val="20000"/>
                      <a:lumOff val="80000"/>
                    </a:schemeClr>
                  </a:gs>
                  <a:gs pos="90000">
                    <a:schemeClr val="accent1">
                      <a:lumMod val="20000"/>
                      <a:lumOff val="80000"/>
                    </a:schemeClr>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9" name="熊大的PPT宝库29-2"/>
            <p:cNvSpPr txBox="1"/>
            <p:nvPr/>
          </p:nvSpPr>
          <p:spPr>
            <a:xfrm>
              <a:off x="7291968" y="1944194"/>
              <a:ext cx="947068" cy="280289"/>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500" b="0" i="0" u="none" strike="noStrike" kern="1200" cap="none" spc="0" normalizeH="0" baseline="0" noProof="0" dirty="0">
                  <a:ln>
                    <a:noFill/>
                  </a:ln>
                  <a:solidFill>
                    <a:srgbClr val="00329D">
                      <a:lumMod val="50000"/>
                    </a:srgbClr>
                  </a:solidFill>
                  <a:effectLst/>
                  <a:uLnTx/>
                  <a:uFillTx/>
                  <a:cs typeface="+mn-ea"/>
                  <a:sym typeface="+mn-lt"/>
                </a:rPr>
                <a:t>资质申报</a:t>
              </a:r>
            </a:p>
          </p:txBody>
        </p:sp>
      </p:grpSp>
      <p:grpSp>
        <p:nvGrpSpPr>
          <p:cNvPr id="33" name="熊大的PPT宝库30"/>
          <p:cNvGrpSpPr/>
          <p:nvPr/>
        </p:nvGrpSpPr>
        <p:grpSpPr>
          <a:xfrm>
            <a:off x="8515284" y="2003203"/>
            <a:ext cx="1526629" cy="363372"/>
            <a:chOff x="8433379" y="1926758"/>
            <a:chExt cx="1382145" cy="315161"/>
          </a:xfrm>
        </p:grpSpPr>
        <p:sp>
          <p:nvSpPr>
            <p:cNvPr id="46" name="熊大的PPT宝库30-1"/>
            <p:cNvSpPr/>
            <p:nvPr/>
          </p:nvSpPr>
          <p:spPr>
            <a:xfrm>
              <a:off x="8433379" y="1926758"/>
              <a:ext cx="1382145" cy="315161"/>
            </a:xfrm>
            <a:prstGeom prst="roundRect">
              <a:avLst>
                <a:gd name="adj" fmla="val 50000"/>
              </a:avLst>
            </a:prstGeom>
            <a:gradFill>
              <a:gsLst>
                <a:gs pos="0">
                  <a:schemeClr val="accent1">
                    <a:lumMod val="0"/>
                    <a:lumOff val="100000"/>
                  </a:schemeClr>
                </a:gs>
                <a:gs pos="100000">
                  <a:schemeClr val="accent1">
                    <a:lumMod val="5000"/>
                    <a:lumOff val="95000"/>
                  </a:schemeClr>
                </a:gs>
              </a:gsLst>
              <a:lin ang="2700000" scaled="1"/>
            </a:gradFill>
            <a:ln w="9525">
              <a:gradFill>
                <a:gsLst>
                  <a:gs pos="53000">
                    <a:schemeClr val="accent1">
                      <a:lumMod val="5000"/>
                      <a:lumOff val="95000"/>
                    </a:schemeClr>
                  </a:gs>
                  <a:gs pos="17000">
                    <a:schemeClr val="accent1">
                      <a:lumMod val="20000"/>
                      <a:lumOff val="80000"/>
                    </a:schemeClr>
                  </a:gs>
                  <a:gs pos="90000">
                    <a:schemeClr val="accent1">
                      <a:lumMod val="20000"/>
                      <a:lumOff val="80000"/>
                    </a:schemeClr>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7" name="熊大的PPT宝库30-2"/>
            <p:cNvSpPr txBox="1"/>
            <p:nvPr/>
          </p:nvSpPr>
          <p:spPr>
            <a:xfrm>
              <a:off x="8476176" y="1944194"/>
              <a:ext cx="1296550" cy="280289"/>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500" b="0" i="0" u="none" strike="noStrike" kern="1200" cap="none" spc="0" normalizeH="0" baseline="0" noProof="0" dirty="0">
                  <a:ln>
                    <a:noFill/>
                  </a:ln>
                  <a:solidFill>
                    <a:srgbClr val="00329D">
                      <a:lumMod val="50000"/>
                    </a:srgbClr>
                  </a:solidFill>
                  <a:effectLst/>
                  <a:uLnTx/>
                  <a:uFillTx/>
                  <a:cs typeface="+mn-ea"/>
                  <a:sym typeface="+mn-lt"/>
                </a:rPr>
                <a:t>考核规则管理</a:t>
              </a:r>
            </a:p>
          </p:txBody>
        </p:sp>
      </p:grpSp>
      <p:grpSp>
        <p:nvGrpSpPr>
          <p:cNvPr id="34" name="熊大的PPT宝库31"/>
          <p:cNvGrpSpPr/>
          <p:nvPr/>
        </p:nvGrpSpPr>
        <p:grpSpPr>
          <a:xfrm>
            <a:off x="10271851" y="2003203"/>
            <a:ext cx="1192215" cy="363372"/>
            <a:chOff x="10009290" y="1926758"/>
            <a:chExt cx="1079381" cy="315161"/>
          </a:xfrm>
        </p:grpSpPr>
        <p:sp>
          <p:nvSpPr>
            <p:cNvPr id="44" name="熊大的PPT宝库31-1"/>
            <p:cNvSpPr/>
            <p:nvPr/>
          </p:nvSpPr>
          <p:spPr>
            <a:xfrm>
              <a:off x="10009290" y="1926758"/>
              <a:ext cx="1079381" cy="315161"/>
            </a:xfrm>
            <a:prstGeom prst="roundRect">
              <a:avLst>
                <a:gd name="adj" fmla="val 50000"/>
              </a:avLst>
            </a:prstGeom>
            <a:gradFill>
              <a:gsLst>
                <a:gs pos="0">
                  <a:schemeClr val="accent1">
                    <a:lumMod val="0"/>
                    <a:lumOff val="100000"/>
                  </a:schemeClr>
                </a:gs>
                <a:gs pos="100000">
                  <a:schemeClr val="accent1">
                    <a:lumMod val="5000"/>
                    <a:lumOff val="95000"/>
                  </a:schemeClr>
                </a:gs>
              </a:gsLst>
              <a:lin ang="2700000" scaled="1"/>
            </a:gradFill>
            <a:ln w="6350">
              <a:gradFill>
                <a:gsLst>
                  <a:gs pos="53000">
                    <a:schemeClr val="accent1">
                      <a:lumMod val="5000"/>
                      <a:lumOff val="95000"/>
                    </a:schemeClr>
                  </a:gs>
                  <a:gs pos="17000">
                    <a:schemeClr val="accent1">
                      <a:lumMod val="20000"/>
                      <a:lumOff val="80000"/>
                    </a:schemeClr>
                  </a:gs>
                  <a:gs pos="90000">
                    <a:schemeClr val="accent1">
                      <a:lumMod val="20000"/>
                      <a:lumOff val="80000"/>
                    </a:schemeClr>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5" name="熊大的PPT宝库31-2"/>
            <p:cNvSpPr txBox="1"/>
            <p:nvPr/>
          </p:nvSpPr>
          <p:spPr>
            <a:xfrm>
              <a:off x="10075446" y="1944194"/>
              <a:ext cx="947068" cy="280289"/>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500" b="0" i="0" u="none" strike="noStrike" kern="1200" cap="none" spc="0" normalizeH="0" baseline="0" noProof="0" dirty="0">
                  <a:ln>
                    <a:noFill/>
                  </a:ln>
                  <a:solidFill>
                    <a:srgbClr val="00329D">
                      <a:lumMod val="50000"/>
                    </a:srgbClr>
                  </a:solidFill>
                  <a:effectLst/>
                  <a:uLnTx/>
                  <a:uFillTx/>
                  <a:cs typeface="+mn-ea"/>
                  <a:sym typeface="+mn-lt"/>
                </a:rPr>
                <a:t>项目合作</a:t>
              </a:r>
            </a:p>
          </p:txBody>
        </p:sp>
      </p:grpSp>
      <p:grpSp>
        <p:nvGrpSpPr>
          <p:cNvPr id="35" name="熊大的PPT宝库32"/>
          <p:cNvGrpSpPr/>
          <p:nvPr/>
        </p:nvGrpSpPr>
        <p:grpSpPr>
          <a:xfrm>
            <a:off x="7067730" y="2461141"/>
            <a:ext cx="1192215" cy="363372"/>
            <a:chOff x="7225812" y="1926758"/>
            <a:chExt cx="1079381" cy="315161"/>
          </a:xfrm>
        </p:grpSpPr>
        <p:sp>
          <p:nvSpPr>
            <p:cNvPr id="42" name="熊大的PPT宝库32-1"/>
            <p:cNvSpPr/>
            <p:nvPr/>
          </p:nvSpPr>
          <p:spPr>
            <a:xfrm>
              <a:off x="7225812" y="1926758"/>
              <a:ext cx="1079381" cy="315161"/>
            </a:xfrm>
            <a:prstGeom prst="roundRect">
              <a:avLst>
                <a:gd name="adj" fmla="val 50000"/>
              </a:avLst>
            </a:prstGeom>
            <a:gradFill>
              <a:gsLst>
                <a:gs pos="0">
                  <a:schemeClr val="accent1">
                    <a:lumMod val="0"/>
                    <a:lumOff val="100000"/>
                  </a:schemeClr>
                </a:gs>
                <a:gs pos="100000">
                  <a:schemeClr val="accent1">
                    <a:lumMod val="5000"/>
                    <a:lumOff val="95000"/>
                  </a:schemeClr>
                </a:gs>
              </a:gsLst>
              <a:lin ang="2700000" scaled="1"/>
            </a:gradFill>
            <a:ln w="9525">
              <a:gradFill>
                <a:gsLst>
                  <a:gs pos="53000">
                    <a:schemeClr val="accent1">
                      <a:lumMod val="5000"/>
                      <a:lumOff val="95000"/>
                    </a:schemeClr>
                  </a:gs>
                  <a:gs pos="17000">
                    <a:schemeClr val="accent1">
                      <a:lumMod val="20000"/>
                      <a:lumOff val="80000"/>
                    </a:schemeClr>
                  </a:gs>
                  <a:gs pos="90000">
                    <a:schemeClr val="accent1">
                      <a:lumMod val="20000"/>
                      <a:lumOff val="80000"/>
                    </a:schemeClr>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3" name="熊大的PPT宝库32-2"/>
            <p:cNvSpPr txBox="1"/>
            <p:nvPr/>
          </p:nvSpPr>
          <p:spPr>
            <a:xfrm>
              <a:off x="7291968" y="1944194"/>
              <a:ext cx="947068" cy="280289"/>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500" b="0" i="0" u="none" strike="noStrike" kern="1200" cap="none" spc="0" normalizeH="0" baseline="0" noProof="0" dirty="0">
                  <a:ln>
                    <a:noFill/>
                  </a:ln>
                  <a:solidFill>
                    <a:srgbClr val="00329D">
                      <a:lumMod val="50000"/>
                    </a:srgbClr>
                  </a:solidFill>
                  <a:effectLst/>
                  <a:uLnTx/>
                  <a:uFillTx/>
                  <a:cs typeface="+mn-ea"/>
                  <a:sym typeface="+mn-lt"/>
                </a:rPr>
                <a:t>合作变更</a:t>
              </a:r>
            </a:p>
          </p:txBody>
        </p:sp>
      </p:grpSp>
      <p:grpSp>
        <p:nvGrpSpPr>
          <p:cNvPr id="36" name="熊大的PPT宝库33"/>
          <p:cNvGrpSpPr/>
          <p:nvPr/>
        </p:nvGrpSpPr>
        <p:grpSpPr>
          <a:xfrm>
            <a:off x="8515284" y="2461141"/>
            <a:ext cx="1526629" cy="363372"/>
            <a:chOff x="8433379" y="1926758"/>
            <a:chExt cx="1382145" cy="315161"/>
          </a:xfrm>
        </p:grpSpPr>
        <p:sp>
          <p:nvSpPr>
            <p:cNvPr id="40" name="熊大的PPT宝库33-1"/>
            <p:cNvSpPr/>
            <p:nvPr/>
          </p:nvSpPr>
          <p:spPr>
            <a:xfrm>
              <a:off x="8433379" y="1926758"/>
              <a:ext cx="1382145" cy="315161"/>
            </a:xfrm>
            <a:prstGeom prst="roundRect">
              <a:avLst>
                <a:gd name="adj" fmla="val 50000"/>
              </a:avLst>
            </a:prstGeom>
            <a:gradFill>
              <a:gsLst>
                <a:gs pos="0">
                  <a:schemeClr val="accent1">
                    <a:lumMod val="0"/>
                    <a:lumOff val="100000"/>
                  </a:schemeClr>
                </a:gs>
                <a:gs pos="100000">
                  <a:schemeClr val="accent1">
                    <a:lumMod val="5000"/>
                    <a:lumOff val="95000"/>
                  </a:schemeClr>
                </a:gs>
              </a:gsLst>
              <a:lin ang="2700000" scaled="1"/>
            </a:gradFill>
            <a:ln w="9525">
              <a:gradFill>
                <a:gsLst>
                  <a:gs pos="53000">
                    <a:schemeClr val="accent1">
                      <a:lumMod val="5000"/>
                      <a:lumOff val="95000"/>
                    </a:schemeClr>
                  </a:gs>
                  <a:gs pos="17000">
                    <a:schemeClr val="accent1">
                      <a:lumMod val="20000"/>
                      <a:lumOff val="80000"/>
                    </a:schemeClr>
                  </a:gs>
                  <a:gs pos="90000">
                    <a:schemeClr val="accent1">
                      <a:lumMod val="20000"/>
                      <a:lumOff val="80000"/>
                    </a:schemeClr>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41" name="熊大的PPT宝库33-2"/>
            <p:cNvSpPr txBox="1"/>
            <p:nvPr/>
          </p:nvSpPr>
          <p:spPr>
            <a:xfrm>
              <a:off x="8476176" y="1944194"/>
              <a:ext cx="1296550" cy="280289"/>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500" b="0" i="0" u="none" strike="noStrike" kern="1200" cap="none" spc="0" normalizeH="0" baseline="0" noProof="0" dirty="0">
                  <a:ln>
                    <a:noFill/>
                  </a:ln>
                  <a:solidFill>
                    <a:srgbClr val="00329D">
                      <a:lumMod val="50000"/>
                    </a:srgbClr>
                  </a:solidFill>
                  <a:effectLst/>
                  <a:uLnTx/>
                  <a:uFillTx/>
                  <a:cs typeface="+mn-ea"/>
                  <a:sym typeface="+mn-lt"/>
                </a:rPr>
                <a:t>投诉违规管理</a:t>
              </a:r>
            </a:p>
          </p:txBody>
        </p:sp>
      </p:grpSp>
      <p:grpSp>
        <p:nvGrpSpPr>
          <p:cNvPr id="37" name="熊大的PPT宝库34"/>
          <p:cNvGrpSpPr/>
          <p:nvPr/>
        </p:nvGrpSpPr>
        <p:grpSpPr>
          <a:xfrm>
            <a:off x="10271851" y="2461141"/>
            <a:ext cx="1192215" cy="363372"/>
            <a:chOff x="10009290" y="1926758"/>
            <a:chExt cx="1079381" cy="315161"/>
          </a:xfrm>
        </p:grpSpPr>
        <p:sp>
          <p:nvSpPr>
            <p:cNvPr id="38" name="熊大的PPT宝库34-1"/>
            <p:cNvSpPr/>
            <p:nvPr/>
          </p:nvSpPr>
          <p:spPr>
            <a:xfrm>
              <a:off x="10009290" y="1926758"/>
              <a:ext cx="1079381" cy="315161"/>
            </a:xfrm>
            <a:prstGeom prst="roundRect">
              <a:avLst>
                <a:gd name="adj" fmla="val 50000"/>
              </a:avLst>
            </a:prstGeom>
            <a:gradFill>
              <a:gsLst>
                <a:gs pos="0">
                  <a:schemeClr val="accent1">
                    <a:lumMod val="0"/>
                    <a:lumOff val="100000"/>
                  </a:schemeClr>
                </a:gs>
                <a:gs pos="100000">
                  <a:schemeClr val="accent1">
                    <a:lumMod val="5000"/>
                    <a:lumOff val="95000"/>
                  </a:schemeClr>
                </a:gs>
              </a:gsLst>
              <a:lin ang="2700000" scaled="1"/>
            </a:gradFill>
            <a:ln w="9525">
              <a:gradFill>
                <a:gsLst>
                  <a:gs pos="53000">
                    <a:schemeClr val="accent1">
                      <a:lumMod val="5000"/>
                      <a:lumOff val="95000"/>
                    </a:schemeClr>
                  </a:gs>
                  <a:gs pos="17000">
                    <a:schemeClr val="accent1">
                      <a:lumMod val="20000"/>
                      <a:lumOff val="80000"/>
                    </a:schemeClr>
                  </a:gs>
                  <a:gs pos="90000">
                    <a:schemeClr val="accent1">
                      <a:lumMod val="20000"/>
                      <a:lumOff val="80000"/>
                    </a:schemeClr>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9" name="熊大的PPT宝库34-2"/>
            <p:cNvSpPr txBox="1"/>
            <p:nvPr/>
          </p:nvSpPr>
          <p:spPr>
            <a:xfrm>
              <a:off x="10032696" y="1944195"/>
              <a:ext cx="1032568" cy="280288"/>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500" b="0" i="0" u="none" strike="noStrike" kern="1200" cap="none" spc="0" normalizeH="0" baseline="0" noProof="0" dirty="0">
                  <a:ln>
                    <a:noFill/>
                  </a:ln>
                  <a:solidFill>
                    <a:srgbClr val="00329D">
                      <a:lumMod val="50000"/>
                    </a:srgbClr>
                  </a:solidFill>
                  <a:effectLst/>
                  <a:uLnTx/>
                  <a:uFillTx/>
                  <a:cs typeface="+mn-ea"/>
                  <a:sym typeface="+mn-lt"/>
                </a:rPr>
                <a:t>结算单核对</a:t>
              </a:r>
            </a:p>
          </p:txBody>
        </p:sp>
      </p:grpSp>
      <p:sp>
        <p:nvSpPr>
          <p:cNvPr id="51" name="熊大的PPT宝库35"/>
          <p:cNvSpPr/>
          <p:nvPr/>
        </p:nvSpPr>
        <p:spPr>
          <a:xfrm>
            <a:off x="7182029" y="4765779"/>
            <a:ext cx="1162432" cy="1063639"/>
          </a:xfrm>
          <a:prstGeom prst="roundRect">
            <a:avLst>
              <a:gd name="adj" fmla="val 3421"/>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2" name="熊大的PPT宝库36"/>
          <p:cNvSpPr/>
          <p:nvPr/>
        </p:nvSpPr>
        <p:spPr>
          <a:xfrm>
            <a:off x="7182029" y="4765779"/>
            <a:ext cx="1162432" cy="318078"/>
          </a:xfrm>
          <a:prstGeom prst="roundRect">
            <a:avLst>
              <a:gd name="adj" fmla="val 10322"/>
            </a:avLst>
          </a:prstGeom>
          <a:gradFill>
            <a:gsLst>
              <a:gs pos="0">
                <a:schemeClr val="accent1">
                  <a:lumMod val="75000"/>
                </a:schemeClr>
              </a:gs>
              <a:gs pos="100000">
                <a:schemeClr val="accent1"/>
              </a:gs>
            </a:gsLst>
            <a:lin ang="2700000" scaled="0"/>
          </a:gradFill>
          <a:ln w="9525" cap="flat">
            <a:noFill/>
            <a:prstDash val="solid"/>
            <a:miter/>
          </a:ln>
          <a:effectLst>
            <a:outerShdw blurRad="50800" dist="25400" dir="5400000" algn="t" rotWithShape="0">
              <a:schemeClr val="accent1">
                <a:lumMod val="50000"/>
                <a:alpha val="2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53" name="熊大的PPT宝库37"/>
          <p:cNvSpPr txBox="1"/>
          <p:nvPr/>
        </p:nvSpPr>
        <p:spPr>
          <a:xfrm>
            <a:off x="7234853" y="4755541"/>
            <a:ext cx="1056783" cy="338554"/>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资料分类</a:t>
            </a:r>
          </a:p>
        </p:txBody>
      </p:sp>
      <p:sp>
        <p:nvSpPr>
          <p:cNvPr id="54" name="熊大的PPT宝库38"/>
          <p:cNvSpPr txBox="1"/>
          <p:nvPr/>
        </p:nvSpPr>
        <p:spPr>
          <a:xfrm>
            <a:off x="7285136" y="5458625"/>
            <a:ext cx="956219"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lumMod val="75000"/>
                    <a:lumOff val="25000"/>
                  </a:srgbClr>
                </a:solidFill>
                <a:effectLst/>
                <a:uLnTx/>
                <a:uFillTx/>
                <a:cs typeface="+mn-ea"/>
                <a:sym typeface="+mn-lt"/>
              </a:rPr>
              <a:t>方便归集</a:t>
            </a:r>
          </a:p>
        </p:txBody>
      </p:sp>
      <p:sp>
        <p:nvSpPr>
          <p:cNvPr id="55" name="熊大的PPT宝库39"/>
          <p:cNvSpPr txBox="1"/>
          <p:nvPr/>
        </p:nvSpPr>
        <p:spPr>
          <a:xfrm>
            <a:off x="7285136" y="5113232"/>
            <a:ext cx="956219"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lumMod val="75000"/>
                    <a:lumOff val="25000"/>
                  </a:srgbClr>
                </a:solidFill>
                <a:effectLst/>
                <a:uLnTx/>
                <a:uFillTx/>
                <a:cs typeface="+mn-ea"/>
                <a:sym typeface="+mn-lt"/>
              </a:rPr>
              <a:t>利于填写</a:t>
            </a:r>
          </a:p>
        </p:txBody>
      </p:sp>
      <p:sp>
        <p:nvSpPr>
          <p:cNvPr id="57" name="熊大的PPT宝库40"/>
          <p:cNvSpPr/>
          <p:nvPr/>
        </p:nvSpPr>
        <p:spPr>
          <a:xfrm>
            <a:off x="8719862" y="4765779"/>
            <a:ext cx="1162432" cy="1063639"/>
          </a:xfrm>
          <a:prstGeom prst="roundRect">
            <a:avLst>
              <a:gd name="adj" fmla="val 3421"/>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8" name="熊大的PPT宝库41"/>
          <p:cNvSpPr/>
          <p:nvPr/>
        </p:nvSpPr>
        <p:spPr>
          <a:xfrm>
            <a:off x="8719862" y="4765779"/>
            <a:ext cx="1162432" cy="318078"/>
          </a:xfrm>
          <a:prstGeom prst="roundRect">
            <a:avLst>
              <a:gd name="adj" fmla="val 10322"/>
            </a:avLst>
          </a:prstGeom>
          <a:gradFill>
            <a:gsLst>
              <a:gs pos="0">
                <a:schemeClr val="accent1">
                  <a:lumMod val="75000"/>
                </a:schemeClr>
              </a:gs>
              <a:gs pos="100000">
                <a:schemeClr val="accent1"/>
              </a:gs>
            </a:gsLst>
            <a:lin ang="2700000" scaled="0"/>
          </a:gradFill>
          <a:ln w="9525" cap="flat">
            <a:noFill/>
            <a:prstDash val="solid"/>
            <a:miter/>
          </a:ln>
          <a:effectLst>
            <a:outerShdw blurRad="50800" dist="25400" dir="5400000" algn="t" rotWithShape="0">
              <a:schemeClr val="accent1">
                <a:lumMod val="50000"/>
                <a:alpha val="2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59" name="熊大的PPT宝库42"/>
          <p:cNvSpPr txBox="1"/>
          <p:nvPr/>
        </p:nvSpPr>
        <p:spPr>
          <a:xfrm>
            <a:off x="8772686" y="4755541"/>
            <a:ext cx="1056783" cy="338554"/>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信息汇集</a:t>
            </a:r>
          </a:p>
        </p:txBody>
      </p:sp>
      <p:sp>
        <p:nvSpPr>
          <p:cNvPr id="60" name="熊大的PPT宝库43"/>
          <p:cNvSpPr txBox="1"/>
          <p:nvPr/>
        </p:nvSpPr>
        <p:spPr>
          <a:xfrm>
            <a:off x="8822969" y="5458625"/>
            <a:ext cx="956219"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lumMod val="75000"/>
                    <a:lumOff val="25000"/>
                  </a:srgbClr>
                </a:solidFill>
                <a:effectLst/>
                <a:uLnTx/>
                <a:uFillTx/>
                <a:cs typeface="+mn-ea"/>
                <a:sym typeface="+mn-lt"/>
              </a:rPr>
              <a:t>关键指标</a:t>
            </a:r>
          </a:p>
        </p:txBody>
      </p:sp>
      <p:sp>
        <p:nvSpPr>
          <p:cNvPr id="61" name="熊大的PPT宝库44"/>
          <p:cNvSpPr txBox="1"/>
          <p:nvPr/>
        </p:nvSpPr>
        <p:spPr>
          <a:xfrm>
            <a:off x="8822969" y="5113232"/>
            <a:ext cx="956219"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lumMod val="75000"/>
                    <a:lumOff val="25000"/>
                  </a:srgbClr>
                </a:solidFill>
                <a:effectLst/>
                <a:uLnTx/>
                <a:uFillTx/>
                <a:cs typeface="+mn-ea"/>
                <a:sym typeface="+mn-lt"/>
              </a:rPr>
              <a:t>层层汇集</a:t>
            </a:r>
          </a:p>
        </p:txBody>
      </p:sp>
      <p:sp>
        <p:nvSpPr>
          <p:cNvPr id="63" name="熊大的PPT宝库45"/>
          <p:cNvSpPr/>
          <p:nvPr/>
        </p:nvSpPr>
        <p:spPr>
          <a:xfrm>
            <a:off x="10257695" y="4765779"/>
            <a:ext cx="1162432" cy="1063639"/>
          </a:xfrm>
          <a:prstGeom prst="roundRect">
            <a:avLst>
              <a:gd name="adj" fmla="val 3421"/>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64" name="熊大的PPT宝库46"/>
          <p:cNvSpPr/>
          <p:nvPr/>
        </p:nvSpPr>
        <p:spPr>
          <a:xfrm>
            <a:off x="10257695" y="4765779"/>
            <a:ext cx="1162432" cy="318078"/>
          </a:xfrm>
          <a:prstGeom prst="roundRect">
            <a:avLst>
              <a:gd name="adj" fmla="val 10322"/>
            </a:avLst>
          </a:prstGeom>
          <a:gradFill>
            <a:gsLst>
              <a:gs pos="0">
                <a:schemeClr val="accent1">
                  <a:lumMod val="75000"/>
                </a:schemeClr>
              </a:gs>
              <a:gs pos="100000">
                <a:schemeClr val="accent1"/>
              </a:gs>
            </a:gsLst>
            <a:lin ang="2700000" scaled="0"/>
          </a:gradFill>
          <a:ln w="9525" cap="flat">
            <a:noFill/>
            <a:prstDash val="solid"/>
            <a:miter/>
          </a:ln>
          <a:effectLst>
            <a:outerShdw blurRad="50800" dist="25400" dir="5400000" algn="t" rotWithShape="0">
              <a:schemeClr val="accent1">
                <a:lumMod val="50000"/>
                <a:alpha val="2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65" name="熊大的PPT宝库47"/>
          <p:cNvSpPr txBox="1"/>
          <p:nvPr/>
        </p:nvSpPr>
        <p:spPr>
          <a:xfrm>
            <a:off x="10310519" y="4755541"/>
            <a:ext cx="1056783" cy="338554"/>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依据详实</a:t>
            </a:r>
          </a:p>
        </p:txBody>
      </p:sp>
      <p:sp>
        <p:nvSpPr>
          <p:cNvPr id="66" name="熊大的PPT宝库48"/>
          <p:cNvSpPr txBox="1"/>
          <p:nvPr/>
        </p:nvSpPr>
        <p:spPr>
          <a:xfrm>
            <a:off x="10360802" y="5458625"/>
            <a:ext cx="956219"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lumMod val="75000"/>
                    <a:lumOff val="25000"/>
                  </a:srgbClr>
                </a:solidFill>
                <a:effectLst/>
                <a:uLnTx/>
                <a:uFillTx/>
                <a:cs typeface="+mn-ea"/>
                <a:sym typeface="+mn-lt"/>
              </a:rPr>
              <a:t>提升体验</a:t>
            </a:r>
          </a:p>
        </p:txBody>
      </p:sp>
      <p:sp>
        <p:nvSpPr>
          <p:cNvPr id="67" name="熊大的PPT宝库49"/>
          <p:cNvSpPr txBox="1"/>
          <p:nvPr/>
        </p:nvSpPr>
        <p:spPr>
          <a:xfrm>
            <a:off x="10360802" y="5113232"/>
            <a:ext cx="956219"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lumMod val="75000"/>
                    <a:lumOff val="25000"/>
                  </a:srgbClr>
                </a:solidFill>
                <a:effectLst/>
                <a:uLnTx/>
                <a:uFillTx/>
                <a:cs typeface="+mn-ea"/>
                <a:sym typeface="+mn-lt"/>
              </a:rPr>
              <a:t>数据精准</a:t>
            </a:r>
          </a:p>
        </p:txBody>
      </p:sp>
      <p:grpSp>
        <p:nvGrpSpPr>
          <p:cNvPr id="68" name="熊大的PPT宝库50"/>
          <p:cNvGrpSpPr/>
          <p:nvPr/>
        </p:nvGrpSpPr>
        <p:grpSpPr>
          <a:xfrm>
            <a:off x="5020936" y="5156916"/>
            <a:ext cx="487937" cy="271126"/>
            <a:chOff x="4856673" y="5108015"/>
            <a:chExt cx="487937" cy="271126"/>
          </a:xfrm>
          <a:gradFill>
            <a:gsLst>
              <a:gs pos="0">
                <a:schemeClr val="accent1">
                  <a:lumMod val="60000"/>
                  <a:lumOff val="40000"/>
                  <a:alpha val="0"/>
                </a:schemeClr>
              </a:gs>
              <a:gs pos="100000">
                <a:schemeClr val="accent1"/>
              </a:gs>
            </a:gsLst>
            <a:lin ang="0" scaled="0"/>
          </a:gradFill>
        </p:grpSpPr>
        <p:grpSp>
          <p:nvGrpSpPr>
            <p:cNvPr id="69" name="图形 6"/>
            <p:cNvGrpSpPr/>
            <p:nvPr/>
          </p:nvGrpSpPr>
          <p:grpSpPr>
            <a:xfrm>
              <a:off x="4856673" y="5108015"/>
              <a:ext cx="189077" cy="271126"/>
              <a:chOff x="4856673" y="5108015"/>
              <a:chExt cx="189077" cy="271126"/>
            </a:xfrm>
            <a:grpFill/>
          </p:grpSpPr>
          <p:sp>
            <p:nvSpPr>
              <p:cNvPr id="100" name="熊大的PPT宝库50-1"/>
              <p:cNvSpPr/>
              <p:nvPr/>
            </p:nvSpPr>
            <p:spPr>
              <a:xfrm>
                <a:off x="489594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01" name="熊大的PPT宝库50-2"/>
              <p:cNvSpPr/>
              <p:nvPr/>
            </p:nvSpPr>
            <p:spPr>
              <a:xfrm>
                <a:off x="4935167"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02" name="熊大的PPT宝库50-3"/>
              <p:cNvSpPr/>
              <p:nvPr/>
            </p:nvSpPr>
            <p:spPr>
              <a:xfrm>
                <a:off x="4856698" y="534347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03" name="熊大的PPT宝库50-4"/>
              <p:cNvSpPr/>
              <p:nvPr/>
            </p:nvSpPr>
            <p:spPr>
              <a:xfrm>
                <a:off x="489594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04" name="熊大的PPT宝库50-5"/>
              <p:cNvSpPr/>
              <p:nvPr/>
            </p:nvSpPr>
            <p:spPr>
              <a:xfrm>
                <a:off x="4856673" y="5108015"/>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44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184" y="32114"/>
                      <a:pt x="0" y="24930"/>
                      <a:pt x="0" y="16044"/>
                    </a:cubicBezTo>
                    <a:cubicBezTo>
                      <a:pt x="0" y="7184"/>
                      <a:pt x="7184" y="0"/>
                      <a:pt x="16044"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05" name="熊大的PPT宝库50-6"/>
              <p:cNvSpPr/>
              <p:nvPr/>
            </p:nvSpPr>
            <p:spPr>
              <a:xfrm>
                <a:off x="489594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06" name="熊大的PPT宝库50-7"/>
              <p:cNvSpPr/>
              <p:nvPr/>
            </p:nvSpPr>
            <p:spPr>
              <a:xfrm>
                <a:off x="4935167"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07" name="熊大的PPT宝库50-8"/>
              <p:cNvSpPr/>
              <p:nvPr/>
            </p:nvSpPr>
            <p:spPr>
              <a:xfrm>
                <a:off x="4935167"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08" name="熊大的PPT宝库50-9"/>
              <p:cNvSpPr/>
              <p:nvPr/>
            </p:nvSpPr>
            <p:spPr>
              <a:xfrm>
                <a:off x="489594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09" name="熊大的PPT宝库50-10"/>
              <p:cNvSpPr/>
              <p:nvPr/>
            </p:nvSpPr>
            <p:spPr>
              <a:xfrm>
                <a:off x="4935167"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3" y="32089"/>
                      <a:pt x="0" y="24905"/>
                      <a:pt x="0" y="16044"/>
                    </a:cubicBezTo>
                    <a:cubicBezTo>
                      <a:pt x="0" y="7183"/>
                      <a:pt x="7183" y="0"/>
                      <a:pt x="16044" y="0"/>
                    </a:cubicBezTo>
                    <a:cubicBezTo>
                      <a:pt x="24905" y="0"/>
                      <a:pt x="32089" y="7183"/>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10" name="熊大的PPT宝库50-11"/>
              <p:cNvSpPr/>
              <p:nvPr/>
            </p:nvSpPr>
            <p:spPr>
              <a:xfrm>
                <a:off x="4974414"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11" name="熊大的PPT宝库50-12"/>
              <p:cNvSpPr/>
              <p:nvPr/>
            </p:nvSpPr>
            <p:spPr>
              <a:xfrm>
                <a:off x="4974414"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12" name="熊大的PPT宝库50-13"/>
              <p:cNvSpPr/>
              <p:nvPr/>
            </p:nvSpPr>
            <p:spPr>
              <a:xfrm>
                <a:off x="5013637" y="5229311"/>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13" name="熊大的PPT宝库50-14"/>
              <p:cNvSpPr/>
              <p:nvPr/>
            </p:nvSpPr>
            <p:spPr>
              <a:xfrm>
                <a:off x="4974414"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grpSp>
        <p:grpSp>
          <p:nvGrpSpPr>
            <p:cNvPr id="70" name="图形 6"/>
            <p:cNvGrpSpPr/>
            <p:nvPr/>
          </p:nvGrpSpPr>
          <p:grpSpPr>
            <a:xfrm>
              <a:off x="5001822" y="5108015"/>
              <a:ext cx="189077" cy="271126"/>
              <a:chOff x="5001822" y="5108015"/>
              <a:chExt cx="189077" cy="271126"/>
            </a:xfrm>
            <a:grpFill/>
          </p:grpSpPr>
          <p:sp>
            <p:nvSpPr>
              <p:cNvPr id="86" name="熊大的PPT宝库50-15"/>
              <p:cNvSpPr/>
              <p:nvPr/>
            </p:nvSpPr>
            <p:spPr>
              <a:xfrm>
                <a:off x="504109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7" name="熊大的PPT宝库50-16"/>
              <p:cNvSpPr/>
              <p:nvPr/>
            </p:nvSpPr>
            <p:spPr>
              <a:xfrm>
                <a:off x="5080342"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8" name="熊大的PPT宝库50-17"/>
              <p:cNvSpPr/>
              <p:nvPr/>
            </p:nvSpPr>
            <p:spPr>
              <a:xfrm>
                <a:off x="5001822" y="5343473"/>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9" name="熊大的PPT宝库50-18"/>
              <p:cNvSpPr/>
              <p:nvPr/>
            </p:nvSpPr>
            <p:spPr>
              <a:xfrm>
                <a:off x="504109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0" name="熊大的PPT宝库50-19"/>
              <p:cNvSpPr/>
              <p:nvPr/>
            </p:nvSpPr>
            <p:spPr>
              <a:xfrm>
                <a:off x="5001822" y="5108015"/>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1" name="熊大的PPT宝库50-20"/>
              <p:cNvSpPr/>
              <p:nvPr/>
            </p:nvSpPr>
            <p:spPr>
              <a:xfrm>
                <a:off x="504109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2" name="熊大的PPT宝库50-21"/>
              <p:cNvSpPr/>
              <p:nvPr/>
            </p:nvSpPr>
            <p:spPr>
              <a:xfrm>
                <a:off x="5080342"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3" name="熊大的PPT宝库50-22"/>
              <p:cNvSpPr/>
              <p:nvPr/>
            </p:nvSpPr>
            <p:spPr>
              <a:xfrm>
                <a:off x="5080342"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4" name="熊大的PPT宝库50-23"/>
              <p:cNvSpPr/>
              <p:nvPr/>
            </p:nvSpPr>
            <p:spPr>
              <a:xfrm>
                <a:off x="504109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5" name="熊大的PPT宝库50-24"/>
              <p:cNvSpPr/>
              <p:nvPr/>
            </p:nvSpPr>
            <p:spPr>
              <a:xfrm>
                <a:off x="5080342"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6" name="熊大的PPT宝库50-25"/>
              <p:cNvSpPr/>
              <p:nvPr/>
            </p:nvSpPr>
            <p:spPr>
              <a:xfrm>
                <a:off x="5119589"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7" name="熊大的PPT宝库50-26"/>
              <p:cNvSpPr/>
              <p:nvPr/>
            </p:nvSpPr>
            <p:spPr>
              <a:xfrm>
                <a:off x="5119589"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8" name="熊大的PPT宝库50-27"/>
              <p:cNvSpPr/>
              <p:nvPr/>
            </p:nvSpPr>
            <p:spPr>
              <a:xfrm>
                <a:off x="5158811"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9" name="熊大的PPT宝库50-28"/>
              <p:cNvSpPr/>
              <p:nvPr/>
            </p:nvSpPr>
            <p:spPr>
              <a:xfrm>
                <a:off x="5119589"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grpSp>
        <p:grpSp>
          <p:nvGrpSpPr>
            <p:cNvPr id="71" name="图形 6"/>
            <p:cNvGrpSpPr/>
            <p:nvPr/>
          </p:nvGrpSpPr>
          <p:grpSpPr>
            <a:xfrm>
              <a:off x="5155558" y="5108015"/>
              <a:ext cx="189052" cy="271126"/>
              <a:chOff x="5155558" y="5108015"/>
              <a:chExt cx="189052" cy="271126"/>
            </a:xfrm>
            <a:grpFill/>
          </p:grpSpPr>
          <p:sp>
            <p:nvSpPr>
              <p:cNvPr id="72" name="熊大的PPT宝库50-29"/>
              <p:cNvSpPr/>
              <p:nvPr/>
            </p:nvSpPr>
            <p:spPr>
              <a:xfrm>
                <a:off x="519480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73" name="熊大的PPT宝库50-30"/>
              <p:cNvSpPr/>
              <p:nvPr/>
            </p:nvSpPr>
            <p:spPr>
              <a:xfrm>
                <a:off x="5234027"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74" name="熊大的PPT宝库50-31"/>
              <p:cNvSpPr/>
              <p:nvPr/>
            </p:nvSpPr>
            <p:spPr>
              <a:xfrm>
                <a:off x="5155558" y="534347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75" name="熊大的PPT宝库50-32"/>
              <p:cNvSpPr/>
              <p:nvPr/>
            </p:nvSpPr>
            <p:spPr>
              <a:xfrm>
                <a:off x="519480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76" name="熊大的PPT宝库50-33"/>
              <p:cNvSpPr/>
              <p:nvPr/>
            </p:nvSpPr>
            <p:spPr>
              <a:xfrm>
                <a:off x="5155558" y="510801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77" name="熊大的PPT宝库50-34"/>
              <p:cNvSpPr/>
              <p:nvPr/>
            </p:nvSpPr>
            <p:spPr>
              <a:xfrm>
                <a:off x="519480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78" name="熊大的PPT宝库50-35"/>
              <p:cNvSpPr/>
              <p:nvPr/>
            </p:nvSpPr>
            <p:spPr>
              <a:xfrm>
                <a:off x="5234027"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79" name="熊大的PPT宝库50-36"/>
              <p:cNvSpPr/>
              <p:nvPr/>
            </p:nvSpPr>
            <p:spPr>
              <a:xfrm>
                <a:off x="5234027"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0" name="熊大的PPT宝库50-37"/>
              <p:cNvSpPr/>
              <p:nvPr/>
            </p:nvSpPr>
            <p:spPr>
              <a:xfrm>
                <a:off x="519480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1" name="熊大的PPT宝库50-38"/>
              <p:cNvSpPr/>
              <p:nvPr/>
            </p:nvSpPr>
            <p:spPr>
              <a:xfrm>
                <a:off x="5234027"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2" name="熊大的PPT宝库50-39"/>
              <p:cNvSpPr/>
              <p:nvPr/>
            </p:nvSpPr>
            <p:spPr>
              <a:xfrm>
                <a:off x="5273274"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3" name="熊大的PPT宝库50-40"/>
              <p:cNvSpPr/>
              <p:nvPr/>
            </p:nvSpPr>
            <p:spPr>
              <a:xfrm>
                <a:off x="5273274"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4" name="熊大的PPT宝库50-41"/>
              <p:cNvSpPr/>
              <p:nvPr/>
            </p:nvSpPr>
            <p:spPr>
              <a:xfrm>
                <a:off x="5312522"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5" name="熊大的PPT宝库50-42"/>
              <p:cNvSpPr/>
              <p:nvPr/>
            </p:nvSpPr>
            <p:spPr>
              <a:xfrm>
                <a:off x="5273274"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grpSp>
      </p:grpSp>
      <p:grpSp>
        <p:nvGrpSpPr>
          <p:cNvPr id="114" name="熊大的PPT宝库51"/>
          <p:cNvGrpSpPr/>
          <p:nvPr/>
        </p:nvGrpSpPr>
        <p:grpSpPr>
          <a:xfrm>
            <a:off x="5020936" y="2278295"/>
            <a:ext cx="487937" cy="271126"/>
            <a:chOff x="4856673" y="5108015"/>
            <a:chExt cx="487937" cy="271126"/>
          </a:xfrm>
          <a:gradFill>
            <a:gsLst>
              <a:gs pos="0">
                <a:schemeClr val="accent1">
                  <a:lumMod val="60000"/>
                  <a:lumOff val="40000"/>
                  <a:alpha val="0"/>
                </a:schemeClr>
              </a:gs>
              <a:gs pos="100000">
                <a:schemeClr val="accent1"/>
              </a:gs>
            </a:gsLst>
            <a:lin ang="0" scaled="0"/>
          </a:gradFill>
        </p:grpSpPr>
        <p:grpSp>
          <p:nvGrpSpPr>
            <p:cNvPr id="115" name="图形 6"/>
            <p:cNvGrpSpPr/>
            <p:nvPr/>
          </p:nvGrpSpPr>
          <p:grpSpPr>
            <a:xfrm>
              <a:off x="4856673" y="5108015"/>
              <a:ext cx="189077" cy="271126"/>
              <a:chOff x="4856673" y="5108015"/>
              <a:chExt cx="189077" cy="271126"/>
            </a:xfrm>
            <a:grpFill/>
          </p:grpSpPr>
          <p:sp>
            <p:nvSpPr>
              <p:cNvPr id="146" name="熊大的PPT宝库51-1"/>
              <p:cNvSpPr/>
              <p:nvPr/>
            </p:nvSpPr>
            <p:spPr>
              <a:xfrm>
                <a:off x="489594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47" name="熊大的PPT宝库51-2"/>
              <p:cNvSpPr/>
              <p:nvPr/>
            </p:nvSpPr>
            <p:spPr>
              <a:xfrm>
                <a:off x="4935167"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48" name="熊大的PPT宝库51-3"/>
              <p:cNvSpPr/>
              <p:nvPr/>
            </p:nvSpPr>
            <p:spPr>
              <a:xfrm>
                <a:off x="4856698" y="534347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49" name="熊大的PPT宝库51-4"/>
              <p:cNvSpPr/>
              <p:nvPr/>
            </p:nvSpPr>
            <p:spPr>
              <a:xfrm>
                <a:off x="489594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0" name="熊大的PPT宝库51-5"/>
              <p:cNvSpPr/>
              <p:nvPr/>
            </p:nvSpPr>
            <p:spPr>
              <a:xfrm>
                <a:off x="4856673" y="5108015"/>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44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184" y="32114"/>
                      <a:pt x="0" y="24930"/>
                      <a:pt x="0" y="16044"/>
                    </a:cubicBezTo>
                    <a:cubicBezTo>
                      <a:pt x="0" y="7184"/>
                      <a:pt x="7184" y="0"/>
                      <a:pt x="16044"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1" name="熊大的PPT宝库51-6"/>
              <p:cNvSpPr/>
              <p:nvPr/>
            </p:nvSpPr>
            <p:spPr>
              <a:xfrm>
                <a:off x="489594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2" name="熊大的PPT宝库51-7"/>
              <p:cNvSpPr/>
              <p:nvPr/>
            </p:nvSpPr>
            <p:spPr>
              <a:xfrm>
                <a:off x="4935167"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3" name="熊大的PPT宝库51-8"/>
              <p:cNvSpPr/>
              <p:nvPr/>
            </p:nvSpPr>
            <p:spPr>
              <a:xfrm>
                <a:off x="4935167"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4" name="熊大的PPT宝库51-9"/>
              <p:cNvSpPr/>
              <p:nvPr/>
            </p:nvSpPr>
            <p:spPr>
              <a:xfrm>
                <a:off x="489594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5" name="熊大的PPT宝库51-10"/>
              <p:cNvSpPr/>
              <p:nvPr/>
            </p:nvSpPr>
            <p:spPr>
              <a:xfrm>
                <a:off x="4935167"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3" y="32089"/>
                      <a:pt x="0" y="24905"/>
                      <a:pt x="0" y="16044"/>
                    </a:cubicBezTo>
                    <a:cubicBezTo>
                      <a:pt x="0" y="7183"/>
                      <a:pt x="7183" y="0"/>
                      <a:pt x="16044" y="0"/>
                    </a:cubicBezTo>
                    <a:cubicBezTo>
                      <a:pt x="24905" y="0"/>
                      <a:pt x="32089" y="7183"/>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6" name="熊大的PPT宝库51-11"/>
              <p:cNvSpPr/>
              <p:nvPr/>
            </p:nvSpPr>
            <p:spPr>
              <a:xfrm>
                <a:off x="4974414"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7" name="熊大的PPT宝库51-12"/>
              <p:cNvSpPr/>
              <p:nvPr/>
            </p:nvSpPr>
            <p:spPr>
              <a:xfrm>
                <a:off x="4974414"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8" name="熊大的PPT宝库51-13"/>
              <p:cNvSpPr/>
              <p:nvPr/>
            </p:nvSpPr>
            <p:spPr>
              <a:xfrm>
                <a:off x="5013637" y="5229311"/>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9" name="熊大的PPT宝库51-14"/>
              <p:cNvSpPr/>
              <p:nvPr/>
            </p:nvSpPr>
            <p:spPr>
              <a:xfrm>
                <a:off x="4974414"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grpSp>
        <p:grpSp>
          <p:nvGrpSpPr>
            <p:cNvPr id="116" name="图形 6"/>
            <p:cNvGrpSpPr/>
            <p:nvPr/>
          </p:nvGrpSpPr>
          <p:grpSpPr>
            <a:xfrm>
              <a:off x="5001822" y="5108015"/>
              <a:ext cx="189077" cy="271126"/>
              <a:chOff x="5001822" y="5108015"/>
              <a:chExt cx="189077" cy="271126"/>
            </a:xfrm>
            <a:grpFill/>
          </p:grpSpPr>
          <p:sp>
            <p:nvSpPr>
              <p:cNvPr id="132" name="熊大的PPT宝库51-15"/>
              <p:cNvSpPr/>
              <p:nvPr/>
            </p:nvSpPr>
            <p:spPr>
              <a:xfrm>
                <a:off x="504109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33" name="熊大的PPT宝库51-16"/>
              <p:cNvSpPr/>
              <p:nvPr/>
            </p:nvSpPr>
            <p:spPr>
              <a:xfrm>
                <a:off x="5080342"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34" name="熊大的PPT宝库51-17"/>
              <p:cNvSpPr/>
              <p:nvPr/>
            </p:nvSpPr>
            <p:spPr>
              <a:xfrm>
                <a:off x="5001822" y="5343473"/>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35" name="熊大的PPT宝库51-18"/>
              <p:cNvSpPr/>
              <p:nvPr/>
            </p:nvSpPr>
            <p:spPr>
              <a:xfrm>
                <a:off x="504109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36" name="熊大的PPT宝库51-19"/>
              <p:cNvSpPr/>
              <p:nvPr/>
            </p:nvSpPr>
            <p:spPr>
              <a:xfrm>
                <a:off x="5001822" y="5108015"/>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37" name="熊大的PPT宝库51-20"/>
              <p:cNvSpPr/>
              <p:nvPr/>
            </p:nvSpPr>
            <p:spPr>
              <a:xfrm>
                <a:off x="504109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38" name="熊大的PPT宝库51-21"/>
              <p:cNvSpPr/>
              <p:nvPr/>
            </p:nvSpPr>
            <p:spPr>
              <a:xfrm>
                <a:off x="5080342"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39" name="熊大的PPT宝库51-22"/>
              <p:cNvSpPr/>
              <p:nvPr/>
            </p:nvSpPr>
            <p:spPr>
              <a:xfrm>
                <a:off x="5080342"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40" name="熊大的PPT宝库51-23"/>
              <p:cNvSpPr/>
              <p:nvPr/>
            </p:nvSpPr>
            <p:spPr>
              <a:xfrm>
                <a:off x="504109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41" name="熊大的PPT宝库51-24"/>
              <p:cNvSpPr/>
              <p:nvPr/>
            </p:nvSpPr>
            <p:spPr>
              <a:xfrm>
                <a:off x="5080342"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42" name="熊大的PPT宝库51-25"/>
              <p:cNvSpPr/>
              <p:nvPr/>
            </p:nvSpPr>
            <p:spPr>
              <a:xfrm>
                <a:off x="5119589"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43" name="熊大的PPT宝库51-26"/>
              <p:cNvSpPr/>
              <p:nvPr/>
            </p:nvSpPr>
            <p:spPr>
              <a:xfrm>
                <a:off x="5119589"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44" name="熊大的PPT宝库51-27"/>
              <p:cNvSpPr/>
              <p:nvPr/>
            </p:nvSpPr>
            <p:spPr>
              <a:xfrm>
                <a:off x="5158811"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45" name="熊大的PPT宝库51-28"/>
              <p:cNvSpPr/>
              <p:nvPr/>
            </p:nvSpPr>
            <p:spPr>
              <a:xfrm>
                <a:off x="5119589"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grpSp>
        <p:grpSp>
          <p:nvGrpSpPr>
            <p:cNvPr id="117" name="图形 6"/>
            <p:cNvGrpSpPr/>
            <p:nvPr/>
          </p:nvGrpSpPr>
          <p:grpSpPr>
            <a:xfrm>
              <a:off x="5155558" y="5108015"/>
              <a:ext cx="189052" cy="271126"/>
              <a:chOff x="5155558" y="5108015"/>
              <a:chExt cx="189052" cy="271126"/>
            </a:xfrm>
            <a:grpFill/>
          </p:grpSpPr>
          <p:sp>
            <p:nvSpPr>
              <p:cNvPr id="118" name="熊大的PPT宝库51-29"/>
              <p:cNvSpPr/>
              <p:nvPr/>
            </p:nvSpPr>
            <p:spPr>
              <a:xfrm>
                <a:off x="519480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19" name="熊大的PPT宝库51-30"/>
              <p:cNvSpPr/>
              <p:nvPr/>
            </p:nvSpPr>
            <p:spPr>
              <a:xfrm>
                <a:off x="5234027"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20" name="熊大的PPT宝库51-31"/>
              <p:cNvSpPr/>
              <p:nvPr/>
            </p:nvSpPr>
            <p:spPr>
              <a:xfrm>
                <a:off x="5155558" y="534347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21" name="熊大的PPT宝库51-32"/>
              <p:cNvSpPr/>
              <p:nvPr/>
            </p:nvSpPr>
            <p:spPr>
              <a:xfrm>
                <a:off x="519480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22" name="熊大的PPT宝库51-33"/>
              <p:cNvSpPr/>
              <p:nvPr/>
            </p:nvSpPr>
            <p:spPr>
              <a:xfrm>
                <a:off x="5155558" y="510801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23" name="熊大的PPT宝库51-34"/>
              <p:cNvSpPr/>
              <p:nvPr/>
            </p:nvSpPr>
            <p:spPr>
              <a:xfrm>
                <a:off x="519480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24" name="熊大的PPT宝库51-35"/>
              <p:cNvSpPr/>
              <p:nvPr/>
            </p:nvSpPr>
            <p:spPr>
              <a:xfrm>
                <a:off x="5234027"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25" name="熊大的PPT宝库51-36"/>
              <p:cNvSpPr/>
              <p:nvPr/>
            </p:nvSpPr>
            <p:spPr>
              <a:xfrm>
                <a:off x="5234027"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26" name="熊大的PPT宝库51-37"/>
              <p:cNvSpPr/>
              <p:nvPr/>
            </p:nvSpPr>
            <p:spPr>
              <a:xfrm>
                <a:off x="519480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27" name="熊大的PPT宝库51-38"/>
              <p:cNvSpPr/>
              <p:nvPr/>
            </p:nvSpPr>
            <p:spPr>
              <a:xfrm>
                <a:off x="5234027"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28" name="熊大的PPT宝库51-39"/>
              <p:cNvSpPr/>
              <p:nvPr/>
            </p:nvSpPr>
            <p:spPr>
              <a:xfrm>
                <a:off x="5273274"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29" name="熊大的PPT宝库51-40"/>
              <p:cNvSpPr/>
              <p:nvPr/>
            </p:nvSpPr>
            <p:spPr>
              <a:xfrm>
                <a:off x="5273274"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30" name="熊大的PPT宝库51-41"/>
              <p:cNvSpPr/>
              <p:nvPr/>
            </p:nvSpPr>
            <p:spPr>
              <a:xfrm>
                <a:off x="5312522"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31" name="熊大的PPT宝库51-42"/>
              <p:cNvSpPr/>
              <p:nvPr/>
            </p:nvSpPr>
            <p:spPr>
              <a:xfrm>
                <a:off x="5273274"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grpSp>
      </p:grpSp>
      <p:grpSp>
        <p:nvGrpSpPr>
          <p:cNvPr id="160" name="熊大的PPT宝库52"/>
          <p:cNvGrpSpPr/>
          <p:nvPr/>
        </p:nvGrpSpPr>
        <p:grpSpPr>
          <a:xfrm>
            <a:off x="5305391" y="3717606"/>
            <a:ext cx="342788" cy="271126"/>
            <a:chOff x="9815868" y="815512"/>
            <a:chExt cx="342788" cy="271126"/>
          </a:xfrm>
          <a:gradFill>
            <a:gsLst>
              <a:gs pos="0">
                <a:schemeClr val="accent1">
                  <a:lumMod val="60000"/>
                  <a:lumOff val="40000"/>
                  <a:alpha val="0"/>
                </a:schemeClr>
              </a:gs>
              <a:gs pos="100000">
                <a:schemeClr val="accent1"/>
              </a:gs>
            </a:gsLst>
            <a:lin ang="0" scaled="0"/>
          </a:gradFill>
        </p:grpSpPr>
        <p:grpSp>
          <p:nvGrpSpPr>
            <p:cNvPr id="161" name="图形 6"/>
            <p:cNvGrpSpPr/>
            <p:nvPr/>
          </p:nvGrpSpPr>
          <p:grpSpPr>
            <a:xfrm>
              <a:off x="9815868" y="815512"/>
              <a:ext cx="189077" cy="271126"/>
              <a:chOff x="5001822" y="5108015"/>
              <a:chExt cx="189077" cy="271126"/>
            </a:xfrm>
            <a:grpFill/>
          </p:grpSpPr>
          <p:sp>
            <p:nvSpPr>
              <p:cNvPr id="177" name="熊大的PPT宝库52-1"/>
              <p:cNvSpPr/>
              <p:nvPr/>
            </p:nvSpPr>
            <p:spPr>
              <a:xfrm>
                <a:off x="504109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8" name="熊大的PPT宝库52-2"/>
              <p:cNvSpPr/>
              <p:nvPr/>
            </p:nvSpPr>
            <p:spPr>
              <a:xfrm>
                <a:off x="5080342"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9" name="熊大的PPT宝库52-3"/>
              <p:cNvSpPr/>
              <p:nvPr/>
            </p:nvSpPr>
            <p:spPr>
              <a:xfrm>
                <a:off x="5001822" y="5343473"/>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0" name="熊大的PPT宝库52-4"/>
              <p:cNvSpPr/>
              <p:nvPr/>
            </p:nvSpPr>
            <p:spPr>
              <a:xfrm>
                <a:off x="504109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1" name="熊大的PPT宝库52-5"/>
              <p:cNvSpPr/>
              <p:nvPr/>
            </p:nvSpPr>
            <p:spPr>
              <a:xfrm>
                <a:off x="5001822" y="5108015"/>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2" name="熊大的PPT宝库52-6"/>
              <p:cNvSpPr/>
              <p:nvPr/>
            </p:nvSpPr>
            <p:spPr>
              <a:xfrm>
                <a:off x="504109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3" name="熊大的PPT宝库52-7"/>
              <p:cNvSpPr/>
              <p:nvPr/>
            </p:nvSpPr>
            <p:spPr>
              <a:xfrm>
                <a:off x="5080342"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4" name="熊大的PPT宝库52-8"/>
              <p:cNvSpPr/>
              <p:nvPr/>
            </p:nvSpPr>
            <p:spPr>
              <a:xfrm>
                <a:off x="5080342"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5" name="熊大的PPT宝库52-9"/>
              <p:cNvSpPr/>
              <p:nvPr/>
            </p:nvSpPr>
            <p:spPr>
              <a:xfrm>
                <a:off x="504109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6" name="熊大的PPT宝库52-10"/>
              <p:cNvSpPr/>
              <p:nvPr/>
            </p:nvSpPr>
            <p:spPr>
              <a:xfrm>
                <a:off x="5080342"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7" name="熊大的PPT宝库52-11"/>
              <p:cNvSpPr/>
              <p:nvPr/>
            </p:nvSpPr>
            <p:spPr>
              <a:xfrm>
                <a:off x="5119589"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8" name="熊大的PPT宝库52-12"/>
              <p:cNvSpPr/>
              <p:nvPr/>
            </p:nvSpPr>
            <p:spPr>
              <a:xfrm>
                <a:off x="5119589"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9" name="熊大的PPT宝库52-13"/>
              <p:cNvSpPr/>
              <p:nvPr/>
            </p:nvSpPr>
            <p:spPr>
              <a:xfrm>
                <a:off x="5158811"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90" name="熊大的PPT宝库52-14"/>
              <p:cNvSpPr/>
              <p:nvPr/>
            </p:nvSpPr>
            <p:spPr>
              <a:xfrm>
                <a:off x="5119589"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grpSp>
        <p:grpSp>
          <p:nvGrpSpPr>
            <p:cNvPr id="162" name="图形 6"/>
            <p:cNvGrpSpPr/>
            <p:nvPr/>
          </p:nvGrpSpPr>
          <p:grpSpPr>
            <a:xfrm>
              <a:off x="9969604" y="815512"/>
              <a:ext cx="189052" cy="271126"/>
              <a:chOff x="5155558" y="5108015"/>
              <a:chExt cx="189052" cy="271126"/>
            </a:xfrm>
            <a:grpFill/>
          </p:grpSpPr>
          <p:sp>
            <p:nvSpPr>
              <p:cNvPr id="163" name="熊大的PPT宝库52-15"/>
              <p:cNvSpPr/>
              <p:nvPr/>
            </p:nvSpPr>
            <p:spPr>
              <a:xfrm>
                <a:off x="519480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4" name="熊大的PPT宝库52-16"/>
              <p:cNvSpPr/>
              <p:nvPr/>
            </p:nvSpPr>
            <p:spPr>
              <a:xfrm>
                <a:off x="5234027"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5" name="熊大的PPT宝库52-17"/>
              <p:cNvSpPr/>
              <p:nvPr/>
            </p:nvSpPr>
            <p:spPr>
              <a:xfrm>
                <a:off x="5155558" y="534347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6" name="熊大的PPT宝库52-18"/>
              <p:cNvSpPr/>
              <p:nvPr/>
            </p:nvSpPr>
            <p:spPr>
              <a:xfrm>
                <a:off x="519480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7" name="熊大的PPT宝库52-19"/>
              <p:cNvSpPr/>
              <p:nvPr/>
            </p:nvSpPr>
            <p:spPr>
              <a:xfrm>
                <a:off x="5155558" y="510801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8" name="熊大的PPT宝库52-20"/>
              <p:cNvSpPr/>
              <p:nvPr/>
            </p:nvSpPr>
            <p:spPr>
              <a:xfrm>
                <a:off x="519480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9" name="熊大的PPT宝库52-21"/>
              <p:cNvSpPr/>
              <p:nvPr/>
            </p:nvSpPr>
            <p:spPr>
              <a:xfrm>
                <a:off x="5234027"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0" name="熊大的PPT宝库52-22"/>
              <p:cNvSpPr/>
              <p:nvPr/>
            </p:nvSpPr>
            <p:spPr>
              <a:xfrm>
                <a:off x="5234027"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1" name="熊大的PPT宝库52-23"/>
              <p:cNvSpPr/>
              <p:nvPr/>
            </p:nvSpPr>
            <p:spPr>
              <a:xfrm>
                <a:off x="519480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2" name="熊大的PPT宝库52-24"/>
              <p:cNvSpPr/>
              <p:nvPr/>
            </p:nvSpPr>
            <p:spPr>
              <a:xfrm>
                <a:off x="5234027"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3" name="熊大的PPT宝库52-25"/>
              <p:cNvSpPr/>
              <p:nvPr/>
            </p:nvSpPr>
            <p:spPr>
              <a:xfrm>
                <a:off x="5273274"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4" name="熊大的PPT宝库52-26"/>
              <p:cNvSpPr/>
              <p:nvPr/>
            </p:nvSpPr>
            <p:spPr>
              <a:xfrm>
                <a:off x="5273274"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5" name="熊大的PPT宝库52-27"/>
              <p:cNvSpPr/>
              <p:nvPr/>
            </p:nvSpPr>
            <p:spPr>
              <a:xfrm>
                <a:off x="5312522"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6" name="熊大的PPT宝库52-28"/>
              <p:cNvSpPr/>
              <p:nvPr/>
            </p:nvSpPr>
            <p:spPr>
              <a:xfrm>
                <a:off x="5273274"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grpSp>
      </p:grpSp>
      <p:sp>
        <p:nvSpPr>
          <p:cNvPr id="191" name="熊大的PPT宝库53"/>
          <p:cNvSpPr/>
          <p:nvPr/>
        </p:nvSpPr>
        <p:spPr>
          <a:xfrm>
            <a:off x="360178" y="1370012"/>
            <a:ext cx="4833146" cy="4832916"/>
          </a:xfrm>
          <a:prstGeom prst="arc">
            <a:avLst>
              <a:gd name="adj1" fmla="val 11593593"/>
              <a:gd name="adj2" fmla="val 18310700"/>
            </a:avLst>
          </a:prstGeom>
          <a:ln w="22225">
            <a:gradFill>
              <a:gsLst>
                <a:gs pos="78000">
                  <a:schemeClr val="accent1">
                    <a:alpha val="0"/>
                  </a:schemeClr>
                </a:gs>
                <a:gs pos="0">
                  <a:schemeClr val="accent1"/>
                </a:gs>
              </a:gsLst>
              <a:lin ang="5400000" scaled="1"/>
            </a:gra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92" name="熊大的PPT宝库54"/>
          <p:cNvSpPr/>
          <p:nvPr/>
        </p:nvSpPr>
        <p:spPr>
          <a:xfrm>
            <a:off x="360177" y="1370012"/>
            <a:ext cx="4833147" cy="4832916"/>
          </a:xfrm>
          <a:prstGeom prst="arc">
            <a:avLst>
              <a:gd name="adj1" fmla="val 3911624"/>
              <a:gd name="adj2" fmla="val 11079053"/>
            </a:avLst>
          </a:prstGeom>
          <a:ln w="22225">
            <a:gradFill>
              <a:gsLst>
                <a:gs pos="100000">
                  <a:schemeClr val="accent1">
                    <a:alpha val="0"/>
                  </a:schemeClr>
                </a:gs>
                <a:gs pos="0">
                  <a:schemeClr val="accent1"/>
                </a:gs>
              </a:gsLst>
              <a:lin ang="0" scaled="0"/>
            </a:gra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93" name="熊大的PPT宝库55"/>
          <p:cNvSpPr/>
          <p:nvPr/>
        </p:nvSpPr>
        <p:spPr>
          <a:xfrm>
            <a:off x="360178" y="1370012"/>
            <a:ext cx="4833146" cy="4832916"/>
          </a:xfrm>
          <a:prstGeom prst="arc">
            <a:avLst>
              <a:gd name="adj1" fmla="val 18205935"/>
              <a:gd name="adj2" fmla="val 3544533"/>
            </a:avLst>
          </a:prstGeom>
          <a:ln w="22225">
            <a:gradFill>
              <a:gsLst>
                <a:gs pos="100000">
                  <a:schemeClr val="accent1"/>
                </a:gs>
                <a:gs pos="10000">
                  <a:schemeClr val="accent1">
                    <a:alpha val="0"/>
                  </a:schemeClr>
                </a:gs>
              </a:gsLst>
              <a:lin ang="5400000" scaled="1"/>
            </a:gra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0" name="熊大的PPT宝库57"/>
          <p:cNvSpPr/>
          <p:nvPr>
            <p:custDataLst>
              <p:tags r:id="rId3"/>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熊大的PPT宝库1"/>
          <p:cNvSpPr txBox="1"/>
          <p:nvPr/>
        </p:nvSpPr>
        <p:spPr>
          <a:xfrm>
            <a:off x="348830" y="216968"/>
            <a:ext cx="3877985"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新产品推广活动策划</a:t>
            </a:r>
          </a:p>
        </p:txBody>
      </p:sp>
      <p:sp>
        <p:nvSpPr>
          <p:cNvPr id="3" name="熊大的PPT宝库2"/>
          <p:cNvSpPr/>
          <p:nvPr/>
        </p:nvSpPr>
        <p:spPr>
          <a:xfrm>
            <a:off x="442913" y="1460500"/>
            <a:ext cx="11306175" cy="558800"/>
          </a:xfrm>
          <a:custGeom>
            <a:avLst/>
            <a:gdLst>
              <a:gd name="connsiteX0" fmla="*/ 0 w 10922000"/>
              <a:gd name="connsiteY0" fmla="*/ 0 h 558800"/>
              <a:gd name="connsiteX1" fmla="*/ 10922000 w 10922000"/>
              <a:gd name="connsiteY1" fmla="*/ 0 h 558800"/>
              <a:gd name="connsiteX2" fmla="*/ 10922000 w 10922000"/>
              <a:gd name="connsiteY2" fmla="*/ 558800 h 558800"/>
              <a:gd name="connsiteX3" fmla="*/ 0 w 10922000"/>
              <a:gd name="connsiteY3" fmla="*/ 558800 h 558800"/>
            </a:gdLst>
            <a:ahLst/>
            <a:cxnLst>
              <a:cxn ang="0">
                <a:pos x="connsiteX0" y="connsiteY0"/>
              </a:cxn>
              <a:cxn ang="0">
                <a:pos x="connsiteX1" y="connsiteY1"/>
              </a:cxn>
              <a:cxn ang="0">
                <a:pos x="connsiteX2" y="connsiteY2"/>
              </a:cxn>
              <a:cxn ang="0">
                <a:pos x="connsiteX3" y="connsiteY3"/>
              </a:cxn>
            </a:cxnLst>
            <a:rect l="l" t="t" r="r" b="b"/>
            <a:pathLst>
              <a:path w="10922000" h="558800">
                <a:moveTo>
                  <a:pt x="0" y="0"/>
                </a:moveTo>
                <a:lnTo>
                  <a:pt x="10922000" y="0"/>
                </a:lnTo>
                <a:lnTo>
                  <a:pt x="10922000" y="558800"/>
                </a:lnTo>
                <a:lnTo>
                  <a:pt x="0" y="558800"/>
                </a:lnTo>
                <a:close/>
              </a:path>
            </a:pathLst>
          </a:custGeom>
          <a:solidFill>
            <a:schemeClr val="accent1">
              <a:lumMod val="20000"/>
              <a:lumOff val="80000"/>
              <a:alpha val="2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4" name="熊大的PPT宝库3"/>
          <p:cNvSpPr/>
          <p:nvPr/>
        </p:nvSpPr>
        <p:spPr>
          <a:xfrm>
            <a:off x="442913" y="2114550"/>
            <a:ext cx="11306173" cy="342900"/>
          </a:xfrm>
          <a:custGeom>
            <a:avLst/>
            <a:gdLst>
              <a:gd name="connsiteX0" fmla="*/ 0 w 10922000"/>
              <a:gd name="connsiteY0" fmla="*/ 0 h 342900"/>
              <a:gd name="connsiteX1" fmla="*/ 10922000 w 10922000"/>
              <a:gd name="connsiteY1" fmla="*/ 0 h 342900"/>
              <a:gd name="connsiteX2" fmla="*/ 10922000 w 10922000"/>
              <a:gd name="connsiteY2" fmla="*/ 342900 h 342900"/>
              <a:gd name="connsiteX3" fmla="*/ 0 w 10922000"/>
              <a:gd name="connsiteY3" fmla="*/ 342900 h 342900"/>
            </a:gdLst>
            <a:ahLst/>
            <a:cxnLst>
              <a:cxn ang="0">
                <a:pos x="connsiteX0" y="connsiteY0"/>
              </a:cxn>
              <a:cxn ang="0">
                <a:pos x="connsiteX1" y="connsiteY1"/>
              </a:cxn>
              <a:cxn ang="0">
                <a:pos x="connsiteX2" y="connsiteY2"/>
              </a:cxn>
              <a:cxn ang="0">
                <a:pos x="connsiteX3" y="connsiteY3"/>
              </a:cxn>
            </a:cxnLst>
            <a:rect l="l" t="t" r="r" b="b"/>
            <a:pathLst>
              <a:path w="10922000" h="342900">
                <a:moveTo>
                  <a:pt x="0" y="0"/>
                </a:moveTo>
                <a:lnTo>
                  <a:pt x="10922000" y="0"/>
                </a:lnTo>
                <a:lnTo>
                  <a:pt x="10922000" y="342900"/>
                </a:lnTo>
                <a:lnTo>
                  <a:pt x="0" y="342900"/>
                </a:lnTo>
                <a:close/>
              </a:path>
            </a:pathLst>
          </a:custGeom>
          <a:solidFill>
            <a:schemeClr val="accent1">
              <a:lumMod val="20000"/>
              <a:lumOff val="80000"/>
              <a:alpha val="2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5" name="熊大的PPT宝库4"/>
          <p:cNvSpPr/>
          <p:nvPr/>
        </p:nvSpPr>
        <p:spPr>
          <a:xfrm>
            <a:off x="442913" y="2552700"/>
            <a:ext cx="11306175" cy="342900"/>
          </a:xfrm>
          <a:custGeom>
            <a:avLst/>
            <a:gdLst>
              <a:gd name="connsiteX0" fmla="*/ 0 w 10922000"/>
              <a:gd name="connsiteY0" fmla="*/ 0 h 342900"/>
              <a:gd name="connsiteX1" fmla="*/ 10922000 w 10922000"/>
              <a:gd name="connsiteY1" fmla="*/ 0 h 342900"/>
              <a:gd name="connsiteX2" fmla="*/ 10922000 w 10922000"/>
              <a:gd name="connsiteY2" fmla="*/ 342900 h 342900"/>
              <a:gd name="connsiteX3" fmla="*/ 0 w 10922000"/>
              <a:gd name="connsiteY3" fmla="*/ 342900 h 342900"/>
            </a:gdLst>
            <a:ahLst/>
            <a:cxnLst>
              <a:cxn ang="0">
                <a:pos x="connsiteX0" y="connsiteY0"/>
              </a:cxn>
              <a:cxn ang="0">
                <a:pos x="connsiteX1" y="connsiteY1"/>
              </a:cxn>
              <a:cxn ang="0">
                <a:pos x="connsiteX2" y="connsiteY2"/>
              </a:cxn>
              <a:cxn ang="0">
                <a:pos x="connsiteX3" y="connsiteY3"/>
              </a:cxn>
            </a:cxnLst>
            <a:rect l="l" t="t" r="r" b="b"/>
            <a:pathLst>
              <a:path w="10922000" h="342900">
                <a:moveTo>
                  <a:pt x="0" y="0"/>
                </a:moveTo>
                <a:lnTo>
                  <a:pt x="10922000" y="0"/>
                </a:lnTo>
                <a:lnTo>
                  <a:pt x="10922000" y="342900"/>
                </a:lnTo>
                <a:lnTo>
                  <a:pt x="0" y="342900"/>
                </a:lnTo>
                <a:close/>
              </a:path>
            </a:pathLst>
          </a:custGeom>
          <a:solidFill>
            <a:schemeClr val="accent1">
              <a:lumMod val="20000"/>
              <a:lumOff val="80000"/>
              <a:alpha val="2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6" name="熊大的PPT宝库5"/>
          <p:cNvSpPr/>
          <p:nvPr/>
        </p:nvSpPr>
        <p:spPr>
          <a:xfrm>
            <a:off x="442913" y="3016250"/>
            <a:ext cx="11306175" cy="749300"/>
          </a:xfrm>
          <a:custGeom>
            <a:avLst/>
            <a:gdLst>
              <a:gd name="connsiteX0" fmla="*/ 0 w 10922000"/>
              <a:gd name="connsiteY0" fmla="*/ 0 h 749300"/>
              <a:gd name="connsiteX1" fmla="*/ 10922000 w 10922000"/>
              <a:gd name="connsiteY1" fmla="*/ 0 h 749300"/>
              <a:gd name="connsiteX2" fmla="*/ 10922000 w 10922000"/>
              <a:gd name="connsiteY2" fmla="*/ 749300 h 749300"/>
              <a:gd name="connsiteX3" fmla="*/ 0 w 10922000"/>
              <a:gd name="connsiteY3" fmla="*/ 749300 h 749300"/>
            </a:gdLst>
            <a:ahLst/>
            <a:cxnLst>
              <a:cxn ang="0">
                <a:pos x="connsiteX0" y="connsiteY0"/>
              </a:cxn>
              <a:cxn ang="0">
                <a:pos x="connsiteX1" y="connsiteY1"/>
              </a:cxn>
              <a:cxn ang="0">
                <a:pos x="connsiteX2" y="connsiteY2"/>
              </a:cxn>
              <a:cxn ang="0">
                <a:pos x="connsiteX3" y="connsiteY3"/>
              </a:cxn>
            </a:cxnLst>
            <a:rect l="l" t="t" r="r" b="b"/>
            <a:pathLst>
              <a:path w="10922000" h="749300">
                <a:moveTo>
                  <a:pt x="0" y="0"/>
                </a:moveTo>
                <a:lnTo>
                  <a:pt x="10922000" y="0"/>
                </a:lnTo>
                <a:lnTo>
                  <a:pt x="10922000" y="749300"/>
                </a:lnTo>
                <a:lnTo>
                  <a:pt x="0" y="749300"/>
                </a:lnTo>
                <a:close/>
              </a:path>
            </a:pathLst>
          </a:custGeom>
          <a:solidFill>
            <a:schemeClr val="accent1">
              <a:lumMod val="20000"/>
              <a:lumOff val="80000"/>
              <a:alpha val="2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7" name="熊大的PPT宝库6"/>
          <p:cNvSpPr/>
          <p:nvPr/>
        </p:nvSpPr>
        <p:spPr>
          <a:xfrm>
            <a:off x="442913" y="3854450"/>
            <a:ext cx="11306175" cy="933450"/>
          </a:xfrm>
          <a:custGeom>
            <a:avLst/>
            <a:gdLst>
              <a:gd name="connsiteX0" fmla="*/ 0 w 10922000"/>
              <a:gd name="connsiteY0" fmla="*/ 0 h 933450"/>
              <a:gd name="connsiteX1" fmla="*/ 10922000 w 10922000"/>
              <a:gd name="connsiteY1" fmla="*/ 0 h 933450"/>
              <a:gd name="connsiteX2" fmla="*/ 10922000 w 10922000"/>
              <a:gd name="connsiteY2" fmla="*/ 933450 h 933450"/>
              <a:gd name="connsiteX3" fmla="*/ 0 w 10922000"/>
              <a:gd name="connsiteY3" fmla="*/ 933450 h 933450"/>
            </a:gdLst>
            <a:ahLst/>
            <a:cxnLst>
              <a:cxn ang="0">
                <a:pos x="connsiteX0" y="connsiteY0"/>
              </a:cxn>
              <a:cxn ang="0">
                <a:pos x="connsiteX1" y="connsiteY1"/>
              </a:cxn>
              <a:cxn ang="0">
                <a:pos x="connsiteX2" y="connsiteY2"/>
              </a:cxn>
              <a:cxn ang="0">
                <a:pos x="connsiteX3" y="connsiteY3"/>
              </a:cxn>
            </a:cxnLst>
            <a:rect l="l" t="t" r="r" b="b"/>
            <a:pathLst>
              <a:path w="10922000" h="933450">
                <a:moveTo>
                  <a:pt x="0" y="0"/>
                </a:moveTo>
                <a:lnTo>
                  <a:pt x="10922000" y="0"/>
                </a:lnTo>
                <a:lnTo>
                  <a:pt x="10922000" y="933450"/>
                </a:lnTo>
                <a:lnTo>
                  <a:pt x="0" y="933450"/>
                </a:lnTo>
                <a:close/>
              </a:path>
            </a:pathLst>
          </a:custGeom>
          <a:solidFill>
            <a:schemeClr val="accent1">
              <a:lumMod val="20000"/>
              <a:lumOff val="80000"/>
              <a:alpha val="2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8" name="熊大的PPT宝库7"/>
          <p:cNvSpPr/>
          <p:nvPr/>
        </p:nvSpPr>
        <p:spPr>
          <a:xfrm>
            <a:off x="442913" y="4895850"/>
            <a:ext cx="11306175" cy="749300"/>
          </a:xfrm>
          <a:custGeom>
            <a:avLst/>
            <a:gdLst>
              <a:gd name="connsiteX0" fmla="*/ 0 w 10922000"/>
              <a:gd name="connsiteY0" fmla="*/ 0 h 749300"/>
              <a:gd name="connsiteX1" fmla="*/ 10922000 w 10922000"/>
              <a:gd name="connsiteY1" fmla="*/ 0 h 749300"/>
              <a:gd name="connsiteX2" fmla="*/ 10922000 w 10922000"/>
              <a:gd name="connsiteY2" fmla="*/ 749300 h 749300"/>
              <a:gd name="connsiteX3" fmla="*/ 0 w 10922000"/>
              <a:gd name="connsiteY3" fmla="*/ 749300 h 749300"/>
            </a:gdLst>
            <a:ahLst/>
            <a:cxnLst>
              <a:cxn ang="0">
                <a:pos x="connsiteX0" y="connsiteY0"/>
              </a:cxn>
              <a:cxn ang="0">
                <a:pos x="connsiteX1" y="connsiteY1"/>
              </a:cxn>
              <a:cxn ang="0">
                <a:pos x="connsiteX2" y="connsiteY2"/>
              </a:cxn>
              <a:cxn ang="0">
                <a:pos x="connsiteX3" y="connsiteY3"/>
              </a:cxn>
            </a:cxnLst>
            <a:rect l="l" t="t" r="r" b="b"/>
            <a:pathLst>
              <a:path w="10922000" h="749300">
                <a:moveTo>
                  <a:pt x="0" y="0"/>
                </a:moveTo>
                <a:lnTo>
                  <a:pt x="10922000" y="0"/>
                </a:lnTo>
                <a:lnTo>
                  <a:pt x="10922000" y="749300"/>
                </a:lnTo>
                <a:lnTo>
                  <a:pt x="0" y="749300"/>
                </a:lnTo>
                <a:close/>
              </a:path>
            </a:pathLst>
          </a:custGeom>
          <a:solidFill>
            <a:schemeClr val="accent1">
              <a:lumMod val="20000"/>
              <a:lumOff val="80000"/>
              <a:alpha val="2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9" name="熊大的PPT宝库8"/>
          <p:cNvSpPr/>
          <p:nvPr/>
        </p:nvSpPr>
        <p:spPr>
          <a:xfrm>
            <a:off x="442913" y="5752837"/>
            <a:ext cx="11306175" cy="469900"/>
          </a:xfrm>
          <a:custGeom>
            <a:avLst/>
            <a:gdLst>
              <a:gd name="connsiteX0" fmla="*/ 0 w 10922000"/>
              <a:gd name="connsiteY0" fmla="*/ 0 h 469900"/>
              <a:gd name="connsiteX1" fmla="*/ 10922000 w 10922000"/>
              <a:gd name="connsiteY1" fmla="*/ 0 h 469900"/>
              <a:gd name="connsiteX2" fmla="*/ 10922000 w 10922000"/>
              <a:gd name="connsiteY2" fmla="*/ 469900 h 469900"/>
              <a:gd name="connsiteX3" fmla="*/ 0 w 10922000"/>
              <a:gd name="connsiteY3" fmla="*/ 469900 h 469900"/>
            </a:gdLst>
            <a:ahLst/>
            <a:cxnLst>
              <a:cxn ang="0">
                <a:pos x="connsiteX0" y="connsiteY0"/>
              </a:cxn>
              <a:cxn ang="0">
                <a:pos x="connsiteX1" y="connsiteY1"/>
              </a:cxn>
              <a:cxn ang="0">
                <a:pos x="connsiteX2" y="connsiteY2"/>
              </a:cxn>
              <a:cxn ang="0">
                <a:pos x="connsiteX3" y="connsiteY3"/>
              </a:cxn>
            </a:cxnLst>
            <a:rect l="l" t="t" r="r" b="b"/>
            <a:pathLst>
              <a:path w="10922000" h="469900">
                <a:moveTo>
                  <a:pt x="0" y="0"/>
                </a:moveTo>
                <a:lnTo>
                  <a:pt x="10922000" y="0"/>
                </a:lnTo>
                <a:lnTo>
                  <a:pt x="10922000" y="469900"/>
                </a:lnTo>
                <a:lnTo>
                  <a:pt x="0" y="469900"/>
                </a:lnTo>
                <a:close/>
              </a:path>
            </a:pathLst>
          </a:custGeom>
          <a:solidFill>
            <a:schemeClr val="accent1">
              <a:lumMod val="20000"/>
              <a:lumOff val="80000"/>
              <a:alpha val="2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0" name="熊大的PPT宝库9"/>
          <p:cNvSpPr/>
          <p:nvPr/>
        </p:nvSpPr>
        <p:spPr>
          <a:xfrm>
            <a:off x="442913" y="1460500"/>
            <a:ext cx="11306175" cy="558800"/>
          </a:xfrm>
          <a:custGeom>
            <a:avLst/>
            <a:gdLst>
              <a:gd name="connsiteX0" fmla="*/ 0 w 10922000"/>
              <a:gd name="connsiteY0" fmla="*/ 0 h 558800"/>
              <a:gd name="connsiteX1" fmla="*/ 10922000 w 10922000"/>
              <a:gd name="connsiteY1" fmla="*/ 0 h 558800"/>
              <a:gd name="connsiteX2" fmla="*/ 10922000 w 10922000"/>
              <a:gd name="connsiteY2" fmla="*/ 558800 h 558800"/>
              <a:gd name="connsiteX3" fmla="*/ 0 w 10922000"/>
              <a:gd name="connsiteY3" fmla="*/ 558800 h 558800"/>
            </a:gdLst>
            <a:ahLst/>
            <a:cxnLst>
              <a:cxn ang="0">
                <a:pos x="connsiteX0" y="connsiteY0"/>
              </a:cxn>
              <a:cxn ang="0">
                <a:pos x="connsiteX1" y="connsiteY1"/>
              </a:cxn>
              <a:cxn ang="0">
                <a:pos x="connsiteX2" y="connsiteY2"/>
              </a:cxn>
              <a:cxn ang="0">
                <a:pos x="connsiteX3" y="connsiteY3"/>
              </a:cxn>
            </a:cxnLst>
            <a:rect l="l" t="t" r="r" b="b"/>
            <a:pathLst>
              <a:path w="10922000" h="558800">
                <a:moveTo>
                  <a:pt x="0" y="0"/>
                </a:moveTo>
                <a:lnTo>
                  <a:pt x="10922000" y="0"/>
                </a:lnTo>
                <a:moveTo>
                  <a:pt x="10922000" y="558800"/>
                </a:moveTo>
                <a:lnTo>
                  <a:pt x="0" y="558800"/>
                </a:lnTo>
              </a:path>
            </a:pathLst>
          </a:custGeom>
          <a:noFill/>
          <a:ln w="12700" cap="flat">
            <a:solidFill>
              <a:schemeClr val="accent1">
                <a:lumMod val="75000"/>
                <a:alpha val="20000"/>
              </a:schemeClr>
            </a:solidFill>
            <a:custDash>
              <a:ds d="300000" sp="300000"/>
            </a:custDash>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1" name="熊大的PPT宝库10"/>
          <p:cNvSpPr/>
          <p:nvPr/>
        </p:nvSpPr>
        <p:spPr>
          <a:xfrm>
            <a:off x="442913" y="2114550"/>
            <a:ext cx="11306175" cy="342900"/>
          </a:xfrm>
          <a:custGeom>
            <a:avLst/>
            <a:gdLst>
              <a:gd name="connsiteX0" fmla="*/ 0 w 10922000"/>
              <a:gd name="connsiteY0" fmla="*/ 0 h 342900"/>
              <a:gd name="connsiteX1" fmla="*/ 10922000 w 10922000"/>
              <a:gd name="connsiteY1" fmla="*/ 0 h 342900"/>
              <a:gd name="connsiteX2" fmla="*/ 10922000 w 10922000"/>
              <a:gd name="connsiteY2" fmla="*/ 342900 h 342900"/>
              <a:gd name="connsiteX3" fmla="*/ 0 w 10922000"/>
              <a:gd name="connsiteY3" fmla="*/ 342900 h 342900"/>
            </a:gdLst>
            <a:ahLst/>
            <a:cxnLst>
              <a:cxn ang="0">
                <a:pos x="connsiteX0" y="connsiteY0"/>
              </a:cxn>
              <a:cxn ang="0">
                <a:pos x="connsiteX1" y="connsiteY1"/>
              </a:cxn>
              <a:cxn ang="0">
                <a:pos x="connsiteX2" y="connsiteY2"/>
              </a:cxn>
              <a:cxn ang="0">
                <a:pos x="connsiteX3" y="connsiteY3"/>
              </a:cxn>
            </a:cxnLst>
            <a:rect l="l" t="t" r="r" b="b"/>
            <a:pathLst>
              <a:path w="10922000" h="342900">
                <a:moveTo>
                  <a:pt x="0" y="0"/>
                </a:moveTo>
                <a:lnTo>
                  <a:pt x="10922000" y="0"/>
                </a:lnTo>
                <a:moveTo>
                  <a:pt x="10922000" y="342900"/>
                </a:moveTo>
                <a:lnTo>
                  <a:pt x="0" y="342900"/>
                </a:lnTo>
              </a:path>
            </a:pathLst>
          </a:custGeom>
          <a:noFill/>
          <a:ln w="12700" cap="flat">
            <a:solidFill>
              <a:schemeClr val="accent1">
                <a:lumMod val="75000"/>
                <a:alpha val="20000"/>
              </a:schemeClr>
            </a:solidFill>
            <a:custDash>
              <a:ds d="300000" sp="300000"/>
            </a:custDash>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2" name="熊大的PPT宝库11"/>
          <p:cNvSpPr/>
          <p:nvPr/>
        </p:nvSpPr>
        <p:spPr>
          <a:xfrm>
            <a:off x="442913" y="2552700"/>
            <a:ext cx="11306175" cy="342900"/>
          </a:xfrm>
          <a:custGeom>
            <a:avLst/>
            <a:gdLst>
              <a:gd name="connsiteX0" fmla="*/ 0 w 10922000"/>
              <a:gd name="connsiteY0" fmla="*/ 0 h 342900"/>
              <a:gd name="connsiteX1" fmla="*/ 10922000 w 10922000"/>
              <a:gd name="connsiteY1" fmla="*/ 0 h 342900"/>
              <a:gd name="connsiteX2" fmla="*/ 10922000 w 10922000"/>
              <a:gd name="connsiteY2" fmla="*/ 342900 h 342900"/>
              <a:gd name="connsiteX3" fmla="*/ 0 w 10922000"/>
              <a:gd name="connsiteY3" fmla="*/ 342900 h 342900"/>
            </a:gdLst>
            <a:ahLst/>
            <a:cxnLst>
              <a:cxn ang="0">
                <a:pos x="connsiteX0" y="connsiteY0"/>
              </a:cxn>
              <a:cxn ang="0">
                <a:pos x="connsiteX1" y="connsiteY1"/>
              </a:cxn>
              <a:cxn ang="0">
                <a:pos x="connsiteX2" y="connsiteY2"/>
              </a:cxn>
              <a:cxn ang="0">
                <a:pos x="connsiteX3" y="connsiteY3"/>
              </a:cxn>
            </a:cxnLst>
            <a:rect l="l" t="t" r="r" b="b"/>
            <a:pathLst>
              <a:path w="10922000" h="342900">
                <a:moveTo>
                  <a:pt x="0" y="0"/>
                </a:moveTo>
                <a:lnTo>
                  <a:pt x="10922000" y="0"/>
                </a:lnTo>
                <a:moveTo>
                  <a:pt x="10922000" y="342900"/>
                </a:moveTo>
                <a:lnTo>
                  <a:pt x="0" y="342900"/>
                </a:lnTo>
              </a:path>
            </a:pathLst>
          </a:custGeom>
          <a:noFill/>
          <a:ln w="12700" cap="flat">
            <a:solidFill>
              <a:schemeClr val="accent1">
                <a:lumMod val="75000"/>
                <a:alpha val="20000"/>
              </a:schemeClr>
            </a:solidFill>
            <a:custDash>
              <a:ds d="300000" sp="300000"/>
            </a:custDash>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3" name="熊大的PPT宝库12"/>
          <p:cNvSpPr/>
          <p:nvPr/>
        </p:nvSpPr>
        <p:spPr>
          <a:xfrm>
            <a:off x="442913" y="3016250"/>
            <a:ext cx="11306175" cy="749300"/>
          </a:xfrm>
          <a:custGeom>
            <a:avLst/>
            <a:gdLst>
              <a:gd name="connsiteX0" fmla="*/ 0 w 10922000"/>
              <a:gd name="connsiteY0" fmla="*/ 0 h 749300"/>
              <a:gd name="connsiteX1" fmla="*/ 10922000 w 10922000"/>
              <a:gd name="connsiteY1" fmla="*/ 0 h 749300"/>
              <a:gd name="connsiteX2" fmla="*/ 10922000 w 10922000"/>
              <a:gd name="connsiteY2" fmla="*/ 749300 h 749300"/>
              <a:gd name="connsiteX3" fmla="*/ 0 w 10922000"/>
              <a:gd name="connsiteY3" fmla="*/ 749300 h 749300"/>
            </a:gdLst>
            <a:ahLst/>
            <a:cxnLst>
              <a:cxn ang="0">
                <a:pos x="connsiteX0" y="connsiteY0"/>
              </a:cxn>
              <a:cxn ang="0">
                <a:pos x="connsiteX1" y="connsiteY1"/>
              </a:cxn>
              <a:cxn ang="0">
                <a:pos x="connsiteX2" y="connsiteY2"/>
              </a:cxn>
              <a:cxn ang="0">
                <a:pos x="connsiteX3" y="connsiteY3"/>
              </a:cxn>
            </a:cxnLst>
            <a:rect l="l" t="t" r="r" b="b"/>
            <a:pathLst>
              <a:path w="10922000" h="749300">
                <a:moveTo>
                  <a:pt x="0" y="0"/>
                </a:moveTo>
                <a:lnTo>
                  <a:pt x="10922000" y="0"/>
                </a:lnTo>
                <a:moveTo>
                  <a:pt x="10922000" y="749300"/>
                </a:moveTo>
                <a:lnTo>
                  <a:pt x="0" y="749300"/>
                </a:lnTo>
              </a:path>
            </a:pathLst>
          </a:custGeom>
          <a:noFill/>
          <a:ln w="12700" cap="flat">
            <a:solidFill>
              <a:schemeClr val="accent1">
                <a:lumMod val="75000"/>
                <a:alpha val="20000"/>
              </a:schemeClr>
            </a:solidFill>
            <a:custDash>
              <a:ds d="300000" sp="300000"/>
            </a:custDash>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4" name="熊大的PPT宝库13"/>
          <p:cNvSpPr/>
          <p:nvPr/>
        </p:nvSpPr>
        <p:spPr>
          <a:xfrm>
            <a:off x="442913" y="3854450"/>
            <a:ext cx="11306175" cy="933450"/>
          </a:xfrm>
          <a:custGeom>
            <a:avLst/>
            <a:gdLst>
              <a:gd name="connsiteX0" fmla="*/ 0 w 10922000"/>
              <a:gd name="connsiteY0" fmla="*/ 0 h 933450"/>
              <a:gd name="connsiteX1" fmla="*/ 10922000 w 10922000"/>
              <a:gd name="connsiteY1" fmla="*/ 0 h 933450"/>
              <a:gd name="connsiteX2" fmla="*/ 10922000 w 10922000"/>
              <a:gd name="connsiteY2" fmla="*/ 933450 h 933450"/>
              <a:gd name="connsiteX3" fmla="*/ 0 w 10922000"/>
              <a:gd name="connsiteY3" fmla="*/ 933450 h 933450"/>
            </a:gdLst>
            <a:ahLst/>
            <a:cxnLst>
              <a:cxn ang="0">
                <a:pos x="connsiteX0" y="connsiteY0"/>
              </a:cxn>
              <a:cxn ang="0">
                <a:pos x="connsiteX1" y="connsiteY1"/>
              </a:cxn>
              <a:cxn ang="0">
                <a:pos x="connsiteX2" y="connsiteY2"/>
              </a:cxn>
              <a:cxn ang="0">
                <a:pos x="connsiteX3" y="connsiteY3"/>
              </a:cxn>
            </a:cxnLst>
            <a:rect l="l" t="t" r="r" b="b"/>
            <a:pathLst>
              <a:path w="10922000" h="933450">
                <a:moveTo>
                  <a:pt x="0" y="0"/>
                </a:moveTo>
                <a:lnTo>
                  <a:pt x="10922000" y="0"/>
                </a:lnTo>
                <a:moveTo>
                  <a:pt x="10922000" y="933450"/>
                </a:moveTo>
                <a:lnTo>
                  <a:pt x="0" y="933450"/>
                </a:lnTo>
              </a:path>
            </a:pathLst>
          </a:custGeom>
          <a:noFill/>
          <a:ln w="12700" cap="flat">
            <a:solidFill>
              <a:schemeClr val="accent1">
                <a:lumMod val="75000"/>
                <a:alpha val="20000"/>
              </a:schemeClr>
            </a:solidFill>
            <a:custDash>
              <a:ds d="300000" sp="300000"/>
            </a:custDash>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5" name="熊大的PPT宝库14"/>
          <p:cNvSpPr/>
          <p:nvPr/>
        </p:nvSpPr>
        <p:spPr>
          <a:xfrm>
            <a:off x="442913" y="4895850"/>
            <a:ext cx="11306175" cy="749300"/>
          </a:xfrm>
          <a:custGeom>
            <a:avLst/>
            <a:gdLst>
              <a:gd name="connsiteX0" fmla="*/ 0 w 10922000"/>
              <a:gd name="connsiteY0" fmla="*/ 0 h 749300"/>
              <a:gd name="connsiteX1" fmla="*/ 10922000 w 10922000"/>
              <a:gd name="connsiteY1" fmla="*/ 0 h 749300"/>
              <a:gd name="connsiteX2" fmla="*/ 10922000 w 10922000"/>
              <a:gd name="connsiteY2" fmla="*/ 749300 h 749300"/>
              <a:gd name="connsiteX3" fmla="*/ 0 w 10922000"/>
              <a:gd name="connsiteY3" fmla="*/ 749300 h 749300"/>
            </a:gdLst>
            <a:ahLst/>
            <a:cxnLst>
              <a:cxn ang="0">
                <a:pos x="connsiteX0" y="connsiteY0"/>
              </a:cxn>
              <a:cxn ang="0">
                <a:pos x="connsiteX1" y="connsiteY1"/>
              </a:cxn>
              <a:cxn ang="0">
                <a:pos x="connsiteX2" y="connsiteY2"/>
              </a:cxn>
              <a:cxn ang="0">
                <a:pos x="connsiteX3" y="connsiteY3"/>
              </a:cxn>
            </a:cxnLst>
            <a:rect l="l" t="t" r="r" b="b"/>
            <a:pathLst>
              <a:path w="10922000" h="749300">
                <a:moveTo>
                  <a:pt x="0" y="0"/>
                </a:moveTo>
                <a:lnTo>
                  <a:pt x="10922000" y="0"/>
                </a:lnTo>
                <a:moveTo>
                  <a:pt x="10922000" y="749300"/>
                </a:moveTo>
                <a:lnTo>
                  <a:pt x="0" y="749300"/>
                </a:lnTo>
              </a:path>
            </a:pathLst>
          </a:custGeom>
          <a:noFill/>
          <a:ln w="12700" cap="flat">
            <a:solidFill>
              <a:schemeClr val="accent1">
                <a:lumMod val="75000"/>
                <a:alpha val="20000"/>
              </a:schemeClr>
            </a:solidFill>
            <a:custDash>
              <a:ds d="300000" sp="300000"/>
            </a:custDash>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6" name="熊大的PPT宝库15"/>
          <p:cNvSpPr/>
          <p:nvPr/>
        </p:nvSpPr>
        <p:spPr>
          <a:xfrm>
            <a:off x="442913" y="5753100"/>
            <a:ext cx="11306175" cy="469900"/>
          </a:xfrm>
          <a:custGeom>
            <a:avLst/>
            <a:gdLst>
              <a:gd name="connsiteX0" fmla="*/ 0 w 10922000"/>
              <a:gd name="connsiteY0" fmla="*/ 0 h 469900"/>
              <a:gd name="connsiteX1" fmla="*/ 10922000 w 10922000"/>
              <a:gd name="connsiteY1" fmla="*/ 0 h 469900"/>
              <a:gd name="connsiteX2" fmla="*/ 10922000 w 10922000"/>
              <a:gd name="connsiteY2" fmla="*/ 469900 h 469900"/>
              <a:gd name="connsiteX3" fmla="*/ 0 w 10922000"/>
              <a:gd name="connsiteY3" fmla="*/ 469900 h 469900"/>
            </a:gdLst>
            <a:ahLst/>
            <a:cxnLst>
              <a:cxn ang="0">
                <a:pos x="connsiteX0" y="connsiteY0"/>
              </a:cxn>
              <a:cxn ang="0">
                <a:pos x="connsiteX1" y="connsiteY1"/>
              </a:cxn>
              <a:cxn ang="0">
                <a:pos x="connsiteX2" y="connsiteY2"/>
              </a:cxn>
              <a:cxn ang="0">
                <a:pos x="connsiteX3" y="connsiteY3"/>
              </a:cxn>
            </a:cxnLst>
            <a:rect l="l" t="t" r="r" b="b"/>
            <a:pathLst>
              <a:path w="10922000" h="469900">
                <a:moveTo>
                  <a:pt x="0" y="0"/>
                </a:moveTo>
                <a:lnTo>
                  <a:pt x="10922000" y="0"/>
                </a:lnTo>
                <a:moveTo>
                  <a:pt x="10922000" y="469900"/>
                </a:moveTo>
                <a:lnTo>
                  <a:pt x="0" y="469900"/>
                </a:lnTo>
              </a:path>
            </a:pathLst>
          </a:custGeom>
          <a:noFill/>
          <a:ln w="12700" cap="flat">
            <a:solidFill>
              <a:schemeClr val="accent1">
                <a:lumMod val="75000"/>
                <a:alpha val="20000"/>
              </a:schemeClr>
            </a:solidFill>
            <a:custDash>
              <a:ds d="300000" sp="300000"/>
            </a:custDash>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7" name="熊大的PPT宝库16"/>
          <p:cNvSpPr/>
          <p:nvPr/>
        </p:nvSpPr>
        <p:spPr>
          <a:xfrm>
            <a:off x="958850" y="1320800"/>
            <a:ext cx="1720850" cy="5067300"/>
          </a:xfrm>
          <a:custGeom>
            <a:avLst/>
            <a:gdLst>
              <a:gd name="connsiteX0" fmla="*/ 0 w 1720850"/>
              <a:gd name="connsiteY0" fmla="*/ 0 h 5067300"/>
              <a:gd name="connsiteX1" fmla="*/ 0 w 1720850"/>
              <a:gd name="connsiteY1" fmla="*/ 5067300 h 5067300"/>
              <a:gd name="connsiteX2" fmla="*/ 1720850 w 1720850"/>
              <a:gd name="connsiteY2" fmla="*/ 0 h 5067300"/>
              <a:gd name="connsiteX3" fmla="*/ 1720850 w 1720850"/>
              <a:gd name="connsiteY3" fmla="*/ 5067300 h 5067300"/>
            </a:gdLst>
            <a:ahLst/>
            <a:cxnLst>
              <a:cxn ang="0">
                <a:pos x="connsiteX0" y="connsiteY0"/>
              </a:cxn>
              <a:cxn ang="0">
                <a:pos x="connsiteX1" y="connsiteY1"/>
              </a:cxn>
              <a:cxn ang="0">
                <a:pos x="connsiteX2" y="connsiteY2"/>
              </a:cxn>
              <a:cxn ang="0">
                <a:pos x="connsiteX3" y="connsiteY3"/>
              </a:cxn>
            </a:cxnLst>
            <a:rect l="l" t="t" r="r" b="b"/>
            <a:pathLst>
              <a:path w="1720850" h="5067300">
                <a:moveTo>
                  <a:pt x="0" y="0"/>
                </a:moveTo>
                <a:lnTo>
                  <a:pt x="0" y="5067300"/>
                </a:lnTo>
                <a:moveTo>
                  <a:pt x="1720850" y="0"/>
                </a:moveTo>
                <a:lnTo>
                  <a:pt x="1720850" y="5067300"/>
                </a:lnTo>
              </a:path>
            </a:pathLst>
          </a:custGeom>
          <a:solidFill>
            <a:schemeClr val="accent1">
              <a:lumMod val="20000"/>
              <a:lumOff val="80000"/>
              <a:alpha val="20000"/>
            </a:schemeClr>
          </a:solidFill>
          <a:ln w="12700" cap="flat">
            <a:solidFill>
              <a:schemeClr val="accent1">
                <a:lumMod val="75000"/>
                <a:alpha val="20000"/>
              </a:schemeClr>
            </a:solidFill>
            <a:custDash>
              <a:ds d="300000" sp="300000"/>
            </a:custDash>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8" name="熊大的PPT宝库17"/>
          <p:cNvSpPr/>
          <p:nvPr/>
        </p:nvSpPr>
        <p:spPr>
          <a:xfrm>
            <a:off x="10445750" y="1320800"/>
            <a:ext cx="736600" cy="5067300"/>
          </a:xfrm>
          <a:custGeom>
            <a:avLst/>
            <a:gdLst>
              <a:gd name="connsiteX0" fmla="*/ 0 w 736600"/>
              <a:gd name="connsiteY0" fmla="*/ 0 h 5067300"/>
              <a:gd name="connsiteX1" fmla="*/ 0 w 736600"/>
              <a:gd name="connsiteY1" fmla="*/ 5067300 h 5067300"/>
              <a:gd name="connsiteX2" fmla="*/ 736600 w 736600"/>
              <a:gd name="connsiteY2" fmla="*/ 0 h 5067300"/>
              <a:gd name="connsiteX3" fmla="*/ 736600 w 736600"/>
              <a:gd name="connsiteY3" fmla="*/ 5067300 h 5067300"/>
            </a:gdLst>
            <a:ahLst/>
            <a:cxnLst>
              <a:cxn ang="0">
                <a:pos x="connsiteX0" y="connsiteY0"/>
              </a:cxn>
              <a:cxn ang="0">
                <a:pos x="connsiteX1" y="connsiteY1"/>
              </a:cxn>
              <a:cxn ang="0">
                <a:pos x="connsiteX2" y="connsiteY2"/>
              </a:cxn>
              <a:cxn ang="0">
                <a:pos x="connsiteX3" y="connsiteY3"/>
              </a:cxn>
            </a:cxnLst>
            <a:rect l="l" t="t" r="r" b="b"/>
            <a:pathLst>
              <a:path w="736600" h="5067300">
                <a:moveTo>
                  <a:pt x="0" y="0"/>
                </a:moveTo>
                <a:lnTo>
                  <a:pt x="0" y="5067300"/>
                </a:lnTo>
                <a:moveTo>
                  <a:pt x="736600" y="0"/>
                </a:moveTo>
                <a:lnTo>
                  <a:pt x="736600" y="5067300"/>
                </a:lnTo>
              </a:path>
            </a:pathLst>
          </a:custGeom>
          <a:noFill/>
          <a:ln w="12700" cap="flat">
            <a:solidFill>
              <a:schemeClr val="accent1">
                <a:lumMod val="75000"/>
                <a:alpha val="20000"/>
              </a:schemeClr>
            </a:solidFill>
            <a:custDash>
              <a:ds d="300000" sp="300000"/>
            </a:custDash>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9" name="熊大的PPT宝库18"/>
          <p:cNvSpPr/>
          <p:nvPr/>
        </p:nvSpPr>
        <p:spPr>
          <a:xfrm>
            <a:off x="2679700" y="1466850"/>
            <a:ext cx="7766050" cy="552450"/>
          </a:xfrm>
          <a:prstGeom prst="roundRect">
            <a:avLst/>
          </a:prstGeom>
          <a:solidFill>
            <a:schemeClr val="accent1"/>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20" name="熊大的PPT宝库19"/>
          <p:cNvSpPr/>
          <p:nvPr/>
        </p:nvSpPr>
        <p:spPr>
          <a:xfrm>
            <a:off x="2679700" y="2114550"/>
            <a:ext cx="2457450" cy="342900"/>
          </a:xfrm>
          <a:prstGeom prst="roundRect">
            <a:avLst/>
          </a:prstGeom>
          <a:solidFill>
            <a:schemeClr val="accent1">
              <a:lumMod val="20000"/>
              <a:lumOff val="8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21" name="熊大的PPT宝库20"/>
          <p:cNvSpPr/>
          <p:nvPr/>
        </p:nvSpPr>
        <p:spPr>
          <a:xfrm>
            <a:off x="2682875" y="2555875"/>
            <a:ext cx="2451100" cy="336550"/>
          </a:xfrm>
          <a:prstGeom prst="roundRect">
            <a:avLst/>
          </a:prstGeom>
          <a:solidFill>
            <a:srgbClr val="FBFBFB"/>
          </a:solidFill>
          <a:ln w="6350" cap="flat">
            <a:solidFill>
              <a:schemeClr val="accent1"/>
            </a:solid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22" name="熊大的PPT宝库21"/>
          <p:cNvSpPr/>
          <p:nvPr/>
        </p:nvSpPr>
        <p:spPr>
          <a:xfrm>
            <a:off x="2679700" y="5753100"/>
            <a:ext cx="2476500" cy="469900"/>
          </a:xfrm>
          <a:prstGeom prst="roundRect">
            <a:avLst/>
          </a:prstGeom>
          <a:gradFill>
            <a:gsLst>
              <a:gs pos="0">
                <a:schemeClr val="accent1">
                  <a:lumMod val="40000"/>
                  <a:lumOff val="60000"/>
                  <a:alpha val="50000"/>
                </a:schemeClr>
              </a:gs>
              <a:gs pos="50000">
                <a:schemeClr val="accent1">
                  <a:lumMod val="40000"/>
                  <a:lumOff val="60000"/>
                </a:schemeClr>
              </a:gs>
              <a:gs pos="100000">
                <a:schemeClr val="accent1">
                  <a:lumMod val="40000"/>
                  <a:lumOff val="60000"/>
                  <a:alpha val="50000"/>
                </a:schemeClr>
              </a:gs>
            </a:gsLst>
            <a:lin ang="3828623"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23" name="熊大的PPT宝库22"/>
          <p:cNvSpPr/>
          <p:nvPr/>
        </p:nvSpPr>
        <p:spPr>
          <a:xfrm>
            <a:off x="5321300" y="5753100"/>
            <a:ext cx="2470150" cy="469900"/>
          </a:xfrm>
          <a:prstGeom prst="roundRect">
            <a:avLst/>
          </a:prstGeom>
          <a:gradFill>
            <a:gsLst>
              <a:gs pos="0">
                <a:schemeClr val="accent1">
                  <a:lumMod val="40000"/>
                  <a:lumOff val="60000"/>
                  <a:alpha val="50000"/>
                </a:schemeClr>
              </a:gs>
              <a:gs pos="50000">
                <a:schemeClr val="accent1">
                  <a:lumMod val="40000"/>
                  <a:lumOff val="60000"/>
                </a:schemeClr>
              </a:gs>
              <a:gs pos="100000">
                <a:schemeClr val="accent1">
                  <a:lumMod val="40000"/>
                  <a:lumOff val="60000"/>
                  <a:alpha val="50000"/>
                </a:schemeClr>
              </a:gs>
            </a:gsLst>
            <a:lin ang="3825181"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24" name="熊大的PPT宝库23"/>
          <p:cNvSpPr/>
          <p:nvPr/>
        </p:nvSpPr>
        <p:spPr>
          <a:xfrm>
            <a:off x="7969250" y="5753100"/>
            <a:ext cx="2476500" cy="469900"/>
          </a:xfrm>
          <a:prstGeom prst="roundRect">
            <a:avLst/>
          </a:prstGeom>
          <a:gradFill>
            <a:gsLst>
              <a:gs pos="0">
                <a:schemeClr val="accent1">
                  <a:lumMod val="40000"/>
                  <a:lumOff val="60000"/>
                  <a:alpha val="50000"/>
                </a:schemeClr>
              </a:gs>
              <a:gs pos="50000">
                <a:schemeClr val="accent1">
                  <a:lumMod val="40000"/>
                  <a:lumOff val="60000"/>
                </a:schemeClr>
              </a:gs>
              <a:gs pos="100000">
                <a:schemeClr val="accent1">
                  <a:lumMod val="40000"/>
                  <a:lumOff val="60000"/>
                  <a:alpha val="50000"/>
                </a:schemeClr>
              </a:gs>
            </a:gsLst>
            <a:lin ang="3828549"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25" name="熊大的PPT宝库24"/>
          <p:cNvSpPr/>
          <p:nvPr/>
        </p:nvSpPr>
        <p:spPr>
          <a:xfrm>
            <a:off x="5321300" y="2114550"/>
            <a:ext cx="2470150" cy="342900"/>
          </a:xfrm>
          <a:prstGeom prst="roundRect">
            <a:avLst/>
          </a:prstGeom>
          <a:solidFill>
            <a:schemeClr val="accent1">
              <a:lumMod val="20000"/>
              <a:lumOff val="8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dirty="0">
              <a:ln>
                <a:noFill/>
              </a:ln>
              <a:solidFill>
                <a:srgbClr val="000000"/>
              </a:solidFill>
              <a:effectLst/>
              <a:uLnTx/>
              <a:uFillTx/>
              <a:cs typeface="+mn-ea"/>
              <a:sym typeface="+mn-lt"/>
            </a:endParaRPr>
          </a:p>
        </p:txBody>
      </p:sp>
      <p:sp>
        <p:nvSpPr>
          <p:cNvPr id="26" name="熊大的PPT宝库25"/>
          <p:cNvSpPr/>
          <p:nvPr/>
        </p:nvSpPr>
        <p:spPr>
          <a:xfrm>
            <a:off x="5324475" y="2555875"/>
            <a:ext cx="2463800" cy="336550"/>
          </a:xfrm>
          <a:prstGeom prst="roundRect">
            <a:avLst/>
          </a:prstGeom>
          <a:solidFill>
            <a:srgbClr val="FBFBFB"/>
          </a:solidFill>
          <a:ln w="6350" cap="flat">
            <a:solidFill>
              <a:schemeClr val="accent1"/>
            </a:solid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dirty="0">
              <a:ln>
                <a:noFill/>
              </a:ln>
              <a:solidFill>
                <a:srgbClr val="000000"/>
              </a:solidFill>
              <a:effectLst/>
              <a:uLnTx/>
              <a:uFillTx/>
              <a:cs typeface="+mn-ea"/>
              <a:sym typeface="+mn-lt"/>
            </a:endParaRPr>
          </a:p>
        </p:txBody>
      </p:sp>
      <p:sp>
        <p:nvSpPr>
          <p:cNvPr id="27" name="熊大的PPT宝库26"/>
          <p:cNvSpPr/>
          <p:nvPr/>
        </p:nvSpPr>
        <p:spPr>
          <a:xfrm>
            <a:off x="7969250" y="2114550"/>
            <a:ext cx="2476500" cy="342900"/>
          </a:xfrm>
          <a:prstGeom prst="roundRect">
            <a:avLst/>
          </a:prstGeom>
          <a:solidFill>
            <a:schemeClr val="accent1">
              <a:lumMod val="20000"/>
              <a:lumOff val="8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28" name="熊大的PPT宝库27"/>
          <p:cNvSpPr/>
          <p:nvPr/>
        </p:nvSpPr>
        <p:spPr>
          <a:xfrm>
            <a:off x="7972425" y="2555875"/>
            <a:ext cx="2470150" cy="336550"/>
          </a:xfrm>
          <a:prstGeom prst="roundRect">
            <a:avLst/>
          </a:prstGeom>
          <a:solidFill>
            <a:srgbClr val="FBFBFB"/>
          </a:solidFill>
          <a:ln w="6350" cap="flat">
            <a:solidFill>
              <a:schemeClr val="accent1"/>
            </a:solid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29" name="熊大的PPT宝库28"/>
          <p:cNvSpPr/>
          <p:nvPr/>
        </p:nvSpPr>
        <p:spPr>
          <a:xfrm>
            <a:off x="3224798" y="3155950"/>
            <a:ext cx="1945655" cy="298450"/>
          </a:xfrm>
          <a:prstGeom prst="roundRect">
            <a:avLst>
              <a:gd name="adj" fmla="val 50000"/>
            </a:avLst>
          </a:prstGeom>
          <a:solidFill>
            <a:schemeClr val="accent1"/>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30" name="熊大的PPT宝库29"/>
          <p:cNvSpPr/>
          <p:nvPr/>
        </p:nvSpPr>
        <p:spPr>
          <a:xfrm>
            <a:off x="5752952" y="3155950"/>
            <a:ext cx="1945654" cy="298450"/>
          </a:xfrm>
          <a:prstGeom prst="roundRect">
            <a:avLst>
              <a:gd name="adj" fmla="val 50000"/>
            </a:avLst>
          </a:prstGeom>
          <a:solidFill>
            <a:schemeClr val="accent1"/>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31" name="熊大的PPT宝库30"/>
          <p:cNvSpPr/>
          <p:nvPr/>
        </p:nvSpPr>
        <p:spPr>
          <a:xfrm>
            <a:off x="8191130" y="3155950"/>
            <a:ext cx="1947600" cy="298450"/>
          </a:xfrm>
          <a:prstGeom prst="roundRect">
            <a:avLst>
              <a:gd name="adj" fmla="val 50000"/>
            </a:avLst>
          </a:prstGeom>
          <a:solidFill>
            <a:schemeClr val="accent1"/>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33" name="熊大的PPT宝库31"/>
          <p:cNvSpPr/>
          <p:nvPr/>
        </p:nvSpPr>
        <p:spPr>
          <a:xfrm>
            <a:off x="4222750" y="4546600"/>
            <a:ext cx="4895850" cy="44450"/>
          </a:xfrm>
          <a:custGeom>
            <a:avLst/>
            <a:gdLst>
              <a:gd name="connsiteX0" fmla="*/ 0 w 4895850"/>
              <a:gd name="connsiteY0" fmla="*/ 0 h 44450"/>
              <a:gd name="connsiteX1" fmla="*/ 4895850 w 4895850"/>
              <a:gd name="connsiteY1" fmla="*/ 0 h 44450"/>
              <a:gd name="connsiteX2" fmla="*/ 4895850 w 4895850"/>
              <a:gd name="connsiteY2" fmla="*/ 44450 h 44450"/>
              <a:gd name="connsiteX3" fmla="*/ 0 w 4895850"/>
              <a:gd name="connsiteY3" fmla="*/ 44450 h 44450"/>
            </a:gdLst>
            <a:ahLst/>
            <a:cxnLst>
              <a:cxn ang="0">
                <a:pos x="connsiteX0" y="connsiteY0"/>
              </a:cxn>
              <a:cxn ang="0">
                <a:pos x="connsiteX1" y="connsiteY1"/>
              </a:cxn>
              <a:cxn ang="0">
                <a:pos x="connsiteX2" y="connsiteY2"/>
              </a:cxn>
              <a:cxn ang="0">
                <a:pos x="connsiteX3" y="connsiteY3"/>
              </a:cxn>
            </a:cxnLst>
            <a:rect l="l" t="t" r="r" b="b"/>
            <a:pathLst>
              <a:path w="4895850" h="44450">
                <a:moveTo>
                  <a:pt x="0" y="0"/>
                </a:moveTo>
                <a:lnTo>
                  <a:pt x="4895850" y="0"/>
                </a:lnTo>
                <a:lnTo>
                  <a:pt x="4895850" y="44450"/>
                </a:lnTo>
                <a:lnTo>
                  <a:pt x="0" y="44450"/>
                </a:lnTo>
                <a:close/>
              </a:path>
            </a:pathLst>
          </a:custGeom>
          <a:solidFill>
            <a:schemeClr val="accent1">
              <a:lumMod val="40000"/>
              <a:lumOff val="6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34" name="熊大的PPT宝库32"/>
          <p:cNvSpPr/>
          <p:nvPr/>
        </p:nvSpPr>
        <p:spPr>
          <a:xfrm>
            <a:off x="4127500" y="4495800"/>
            <a:ext cx="139700" cy="139700"/>
          </a:xfrm>
          <a:custGeom>
            <a:avLst/>
            <a:gdLst>
              <a:gd name="connsiteX0" fmla="*/ 139700 w 139700"/>
              <a:gd name="connsiteY0" fmla="*/ 69850 h 139700"/>
              <a:gd name="connsiteX1" fmla="*/ 69850 w 139700"/>
              <a:gd name="connsiteY1" fmla="*/ 139700 h 139700"/>
              <a:gd name="connsiteX2" fmla="*/ 0 w 139700"/>
              <a:gd name="connsiteY2" fmla="*/ 69850 h 139700"/>
              <a:gd name="connsiteX3" fmla="*/ 69850 w 139700"/>
              <a:gd name="connsiteY3" fmla="*/ 0 h 139700"/>
              <a:gd name="connsiteX4" fmla="*/ 139700 w 139700"/>
              <a:gd name="connsiteY4" fmla="*/ 69850 h 139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700" h="139700">
                <a:moveTo>
                  <a:pt x="139700" y="69850"/>
                </a:moveTo>
                <a:cubicBezTo>
                  <a:pt x="139700" y="108427"/>
                  <a:pt x="108427" y="139700"/>
                  <a:pt x="69850" y="139700"/>
                </a:cubicBezTo>
                <a:cubicBezTo>
                  <a:pt x="31273" y="139700"/>
                  <a:pt x="0" y="108427"/>
                  <a:pt x="0" y="69850"/>
                </a:cubicBezTo>
                <a:cubicBezTo>
                  <a:pt x="0" y="31273"/>
                  <a:pt x="31273" y="0"/>
                  <a:pt x="69850" y="0"/>
                </a:cubicBezTo>
                <a:cubicBezTo>
                  <a:pt x="108427" y="0"/>
                  <a:pt x="139700" y="31273"/>
                  <a:pt x="139700" y="69850"/>
                </a:cubicBezTo>
                <a:close/>
              </a:path>
            </a:pathLst>
          </a:custGeom>
          <a:solidFill>
            <a:schemeClr val="accent1">
              <a:lumMod val="75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35" name="熊大的PPT宝库33"/>
          <p:cNvSpPr/>
          <p:nvPr/>
        </p:nvSpPr>
        <p:spPr>
          <a:xfrm>
            <a:off x="6604000" y="4502150"/>
            <a:ext cx="139700" cy="139700"/>
          </a:xfrm>
          <a:custGeom>
            <a:avLst/>
            <a:gdLst>
              <a:gd name="connsiteX0" fmla="*/ 139700 w 139700"/>
              <a:gd name="connsiteY0" fmla="*/ 69850 h 139700"/>
              <a:gd name="connsiteX1" fmla="*/ 69850 w 139700"/>
              <a:gd name="connsiteY1" fmla="*/ 139700 h 139700"/>
              <a:gd name="connsiteX2" fmla="*/ 0 w 139700"/>
              <a:gd name="connsiteY2" fmla="*/ 69850 h 139700"/>
              <a:gd name="connsiteX3" fmla="*/ 69850 w 139700"/>
              <a:gd name="connsiteY3" fmla="*/ 0 h 139700"/>
              <a:gd name="connsiteX4" fmla="*/ 139700 w 139700"/>
              <a:gd name="connsiteY4" fmla="*/ 69850 h 139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700" h="139700">
                <a:moveTo>
                  <a:pt x="139700" y="69850"/>
                </a:moveTo>
                <a:cubicBezTo>
                  <a:pt x="139700" y="108427"/>
                  <a:pt x="108427" y="139700"/>
                  <a:pt x="69850" y="139700"/>
                </a:cubicBezTo>
                <a:cubicBezTo>
                  <a:pt x="31273" y="139700"/>
                  <a:pt x="0" y="108427"/>
                  <a:pt x="0" y="69850"/>
                </a:cubicBezTo>
                <a:cubicBezTo>
                  <a:pt x="0" y="31273"/>
                  <a:pt x="31273" y="0"/>
                  <a:pt x="69850" y="0"/>
                </a:cubicBezTo>
                <a:cubicBezTo>
                  <a:pt x="108427" y="0"/>
                  <a:pt x="139700" y="31273"/>
                  <a:pt x="139700" y="69850"/>
                </a:cubicBezTo>
                <a:close/>
              </a:path>
            </a:pathLst>
          </a:custGeom>
          <a:solidFill>
            <a:schemeClr val="accent1">
              <a:lumMod val="75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36" name="熊大的PPT宝库34"/>
          <p:cNvSpPr/>
          <p:nvPr/>
        </p:nvSpPr>
        <p:spPr>
          <a:xfrm>
            <a:off x="9093200" y="4502150"/>
            <a:ext cx="139700" cy="139700"/>
          </a:xfrm>
          <a:custGeom>
            <a:avLst/>
            <a:gdLst>
              <a:gd name="connsiteX0" fmla="*/ 139700 w 139700"/>
              <a:gd name="connsiteY0" fmla="*/ 69850 h 139700"/>
              <a:gd name="connsiteX1" fmla="*/ 69850 w 139700"/>
              <a:gd name="connsiteY1" fmla="*/ 139700 h 139700"/>
              <a:gd name="connsiteX2" fmla="*/ 0 w 139700"/>
              <a:gd name="connsiteY2" fmla="*/ 69850 h 139700"/>
              <a:gd name="connsiteX3" fmla="*/ 69850 w 139700"/>
              <a:gd name="connsiteY3" fmla="*/ 0 h 139700"/>
              <a:gd name="connsiteX4" fmla="*/ 139700 w 139700"/>
              <a:gd name="connsiteY4" fmla="*/ 69850 h 139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700" h="139700">
                <a:moveTo>
                  <a:pt x="139700" y="69850"/>
                </a:moveTo>
                <a:cubicBezTo>
                  <a:pt x="139700" y="108427"/>
                  <a:pt x="108427" y="139700"/>
                  <a:pt x="69850" y="139700"/>
                </a:cubicBezTo>
                <a:cubicBezTo>
                  <a:pt x="31273" y="139700"/>
                  <a:pt x="0" y="108427"/>
                  <a:pt x="0" y="69850"/>
                </a:cubicBezTo>
                <a:cubicBezTo>
                  <a:pt x="0" y="31273"/>
                  <a:pt x="31273" y="0"/>
                  <a:pt x="69850" y="0"/>
                </a:cubicBezTo>
                <a:cubicBezTo>
                  <a:pt x="108427" y="0"/>
                  <a:pt x="139700" y="31273"/>
                  <a:pt x="139700" y="69850"/>
                </a:cubicBezTo>
                <a:close/>
              </a:path>
            </a:pathLst>
          </a:custGeom>
          <a:solidFill>
            <a:schemeClr val="accent1">
              <a:lumMod val="75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39" name="熊大的PPT宝库35"/>
          <p:cNvSpPr/>
          <p:nvPr/>
        </p:nvSpPr>
        <p:spPr>
          <a:xfrm>
            <a:off x="3841674" y="5076825"/>
            <a:ext cx="5686613" cy="405538"/>
          </a:xfrm>
          <a:prstGeom prst="roundRect">
            <a:avLst>
              <a:gd name="adj" fmla="val 50000"/>
            </a:avLst>
          </a:prstGeom>
          <a:solidFill>
            <a:schemeClr val="accent1">
              <a:alpha val="7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329D">
                  <a:lumMod val="60000"/>
                  <a:lumOff val="40000"/>
                </a:srgbClr>
              </a:solidFill>
              <a:effectLst/>
              <a:uLnTx/>
              <a:uFillTx/>
              <a:cs typeface="+mn-ea"/>
              <a:sym typeface="+mn-lt"/>
            </a:endParaRPr>
          </a:p>
        </p:txBody>
      </p:sp>
      <p:sp>
        <p:nvSpPr>
          <p:cNvPr id="41" name="熊大的PPT宝库36"/>
          <p:cNvSpPr/>
          <p:nvPr/>
        </p:nvSpPr>
        <p:spPr>
          <a:xfrm>
            <a:off x="6527786" y="3552825"/>
            <a:ext cx="395986" cy="104775"/>
          </a:xfrm>
          <a:custGeom>
            <a:avLst/>
            <a:gdLst>
              <a:gd name="connsiteX0" fmla="*/ 197993 w 395986"/>
              <a:gd name="connsiteY0" fmla="*/ 104775 h 104775"/>
              <a:gd name="connsiteX1" fmla="*/ 395987 w 395986"/>
              <a:gd name="connsiteY1" fmla="*/ 0 h 104775"/>
              <a:gd name="connsiteX2" fmla="*/ 0 w 395986"/>
              <a:gd name="connsiteY2" fmla="*/ 0 h 104775"/>
              <a:gd name="connsiteX3" fmla="*/ 197993 w 395986"/>
              <a:gd name="connsiteY3" fmla="*/ 104775 h 104775"/>
            </a:gdLst>
            <a:ahLst/>
            <a:cxnLst>
              <a:cxn ang="0">
                <a:pos x="connsiteX0" y="connsiteY0"/>
              </a:cxn>
              <a:cxn ang="0">
                <a:pos x="connsiteX1" y="connsiteY1"/>
              </a:cxn>
              <a:cxn ang="0">
                <a:pos x="connsiteX2" y="connsiteY2"/>
              </a:cxn>
              <a:cxn ang="0">
                <a:pos x="connsiteX3" y="connsiteY3"/>
              </a:cxn>
            </a:cxnLst>
            <a:rect l="l" t="t" r="r" b="b"/>
            <a:pathLst>
              <a:path w="395986" h="104775">
                <a:moveTo>
                  <a:pt x="197993" y="104775"/>
                </a:moveTo>
                <a:lnTo>
                  <a:pt x="395987" y="0"/>
                </a:lnTo>
                <a:lnTo>
                  <a:pt x="0" y="0"/>
                </a:lnTo>
                <a:lnTo>
                  <a:pt x="197993" y="104775"/>
                </a:lnTo>
                <a:close/>
              </a:path>
            </a:pathLst>
          </a:custGeom>
          <a:gradFill>
            <a:gsLst>
              <a:gs pos="0">
                <a:schemeClr val="accent1"/>
              </a:gs>
              <a:gs pos="74055">
                <a:schemeClr val="accent1">
                  <a:lumMod val="60000"/>
                  <a:lumOff val="40000"/>
                  <a:alpha val="0"/>
                </a:schemeClr>
              </a:gs>
            </a:gsLst>
            <a:lin ang="16200000"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42" name="熊大的PPT宝库37"/>
          <p:cNvSpPr/>
          <p:nvPr/>
        </p:nvSpPr>
        <p:spPr>
          <a:xfrm>
            <a:off x="3999652" y="3552825"/>
            <a:ext cx="395947" cy="104775"/>
          </a:xfrm>
          <a:custGeom>
            <a:avLst/>
            <a:gdLst>
              <a:gd name="connsiteX0" fmla="*/ 197974 w 395947"/>
              <a:gd name="connsiteY0" fmla="*/ 104775 h 104775"/>
              <a:gd name="connsiteX1" fmla="*/ 395948 w 395947"/>
              <a:gd name="connsiteY1" fmla="*/ 0 h 104775"/>
              <a:gd name="connsiteX2" fmla="*/ 0 w 395947"/>
              <a:gd name="connsiteY2" fmla="*/ 0 h 104775"/>
              <a:gd name="connsiteX3" fmla="*/ 197974 w 395947"/>
              <a:gd name="connsiteY3" fmla="*/ 104775 h 104775"/>
            </a:gdLst>
            <a:ahLst/>
            <a:cxnLst>
              <a:cxn ang="0">
                <a:pos x="connsiteX0" y="connsiteY0"/>
              </a:cxn>
              <a:cxn ang="0">
                <a:pos x="connsiteX1" y="connsiteY1"/>
              </a:cxn>
              <a:cxn ang="0">
                <a:pos x="connsiteX2" y="connsiteY2"/>
              </a:cxn>
              <a:cxn ang="0">
                <a:pos x="connsiteX3" y="connsiteY3"/>
              </a:cxn>
            </a:cxnLst>
            <a:rect l="l" t="t" r="r" b="b"/>
            <a:pathLst>
              <a:path w="395947" h="104775">
                <a:moveTo>
                  <a:pt x="197974" y="104775"/>
                </a:moveTo>
                <a:lnTo>
                  <a:pt x="395948" y="0"/>
                </a:lnTo>
                <a:lnTo>
                  <a:pt x="0" y="0"/>
                </a:lnTo>
                <a:lnTo>
                  <a:pt x="197974" y="104775"/>
                </a:lnTo>
                <a:close/>
              </a:path>
            </a:pathLst>
          </a:custGeom>
          <a:gradFill>
            <a:gsLst>
              <a:gs pos="0">
                <a:schemeClr val="accent1"/>
              </a:gs>
              <a:gs pos="74055">
                <a:schemeClr val="accent1">
                  <a:lumMod val="60000"/>
                  <a:lumOff val="40000"/>
                  <a:alpha val="0"/>
                </a:schemeClr>
              </a:gs>
            </a:gsLst>
            <a:lin ang="16200000"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43" name="熊大的PPT宝库38"/>
          <p:cNvSpPr/>
          <p:nvPr/>
        </p:nvSpPr>
        <p:spPr>
          <a:xfrm>
            <a:off x="8966937" y="3552825"/>
            <a:ext cx="395986" cy="104775"/>
          </a:xfrm>
          <a:custGeom>
            <a:avLst/>
            <a:gdLst>
              <a:gd name="connsiteX0" fmla="*/ 197993 w 395986"/>
              <a:gd name="connsiteY0" fmla="*/ 104775 h 104775"/>
              <a:gd name="connsiteX1" fmla="*/ 395987 w 395986"/>
              <a:gd name="connsiteY1" fmla="*/ 0 h 104775"/>
              <a:gd name="connsiteX2" fmla="*/ 0 w 395986"/>
              <a:gd name="connsiteY2" fmla="*/ 0 h 104775"/>
              <a:gd name="connsiteX3" fmla="*/ 197993 w 395986"/>
              <a:gd name="connsiteY3" fmla="*/ 104775 h 104775"/>
            </a:gdLst>
            <a:ahLst/>
            <a:cxnLst>
              <a:cxn ang="0">
                <a:pos x="connsiteX0" y="connsiteY0"/>
              </a:cxn>
              <a:cxn ang="0">
                <a:pos x="connsiteX1" y="connsiteY1"/>
              </a:cxn>
              <a:cxn ang="0">
                <a:pos x="connsiteX2" y="connsiteY2"/>
              </a:cxn>
              <a:cxn ang="0">
                <a:pos x="connsiteX3" y="connsiteY3"/>
              </a:cxn>
            </a:cxnLst>
            <a:rect l="l" t="t" r="r" b="b"/>
            <a:pathLst>
              <a:path w="395986" h="104775">
                <a:moveTo>
                  <a:pt x="197993" y="104775"/>
                </a:moveTo>
                <a:lnTo>
                  <a:pt x="395987" y="0"/>
                </a:lnTo>
                <a:lnTo>
                  <a:pt x="0" y="0"/>
                </a:lnTo>
                <a:lnTo>
                  <a:pt x="197993" y="104775"/>
                </a:lnTo>
                <a:close/>
              </a:path>
            </a:pathLst>
          </a:custGeom>
          <a:gradFill>
            <a:gsLst>
              <a:gs pos="0">
                <a:schemeClr val="accent1"/>
              </a:gs>
              <a:gs pos="74055">
                <a:schemeClr val="accent1">
                  <a:lumMod val="60000"/>
                  <a:lumOff val="40000"/>
                  <a:alpha val="0"/>
                </a:schemeClr>
              </a:gs>
            </a:gsLst>
            <a:lin ang="16200000"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44" name="熊大的PPT宝库39"/>
          <p:cNvSpPr txBox="1"/>
          <p:nvPr/>
        </p:nvSpPr>
        <p:spPr>
          <a:xfrm>
            <a:off x="1425579" y="1608992"/>
            <a:ext cx="800219"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41A34"/>
                </a:solidFill>
                <a:effectLst/>
                <a:uLnTx/>
                <a:uFillTx/>
                <a:cs typeface="+mn-ea"/>
                <a:sym typeface="+mn-lt"/>
              </a:rPr>
              <a:t>预设目标</a:t>
            </a:r>
            <a:endParaRPr kumimoji="0" lang="en-US" sz="1200" b="0" i="0" u="none" strike="noStrike" kern="1200" cap="none" spc="0" normalizeH="0" baseline="0" noProof="0" dirty="0">
              <a:ln>
                <a:noFill/>
              </a:ln>
              <a:solidFill>
                <a:srgbClr val="141A34"/>
              </a:solidFill>
              <a:effectLst/>
              <a:uLnTx/>
              <a:uFillTx/>
              <a:cs typeface="+mn-ea"/>
              <a:sym typeface="+mn-lt"/>
            </a:endParaRPr>
          </a:p>
        </p:txBody>
      </p:sp>
      <p:sp>
        <p:nvSpPr>
          <p:cNvPr id="45" name="熊大的PPT宝库40"/>
          <p:cNvSpPr txBox="1"/>
          <p:nvPr/>
        </p:nvSpPr>
        <p:spPr>
          <a:xfrm>
            <a:off x="1425579" y="2140515"/>
            <a:ext cx="800219"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41A34"/>
                </a:solidFill>
                <a:effectLst/>
                <a:uLnTx/>
                <a:uFillTx/>
                <a:cs typeface="+mn-ea"/>
                <a:sym typeface="+mn-lt"/>
              </a:rPr>
              <a:t>客户视角</a:t>
            </a:r>
            <a:endParaRPr kumimoji="0" lang="en-US" sz="1200" b="0" i="0" u="none" strike="noStrike" kern="1200" cap="none" spc="0" normalizeH="0" baseline="0" noProof="0" dirty="0">
              <a:ln>
                <a:noFill/>
              </a:ln>
              <a:solidFill>
                <a:srgbClr val="141A34"/>
              </a:solidFill>
              <a:effectLst/>
              <a:uLnTx/>
              <a:uFillTx/>
              <a:cs typeface="+mn-ea"/>
              <a:sym typeface="+mn-lt"/>
            </a:endParaRPr>
          </a:p>
        </p:txBody>
      </p:sp>
      <p:sp>
        <p:nvSpPr>
          <p:cNvPr id="46" name="熊大的PPT宝库41"/>
          <p:cNvSpPr txBox="1"/>
          <p:nvPr/>
        </p:nvSpPr>
        <p:spPr>
          <a:xfrm>
            <a:off x="1425578" y="2578664"/>
            <a:ext cx="800219"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41A34"/>
                </a:solidFill>
                <a:effectLst/>
                <a:uLnTx/>
                <a:uFillTx/>
                <a:cs typeface="+mn-ea"/>
                <a:sym typeface="+mn-lt"/>
              </a:rPr>
              <a:t>推广结构</a:t>
            </a:r>
            <a:endParaRPr kumimoji="0" lang="en-US" sz="1200" b="0" i="0" u="none" strike="noStrike" kern="1200" cap="none" spc="0" normalizeH="0" baseline="0" noProof="0" dirty="0">
              <a:ln>
                <a:noFill/>
              </a:ln>
              <a:solidFill>
                <a:srgbClr val="141A34"/>
              </a:solidFill>
              <a:effectLst/>
              <a:uLnTx/>
              <a:uFillTx/>
              <a:cs typeface="+mn-ea"/>
              <a:sym typeface="+mn-lt"/>
            </a:endParaRPr>
          </a:p>
        </p:txBody>
      </p:sp>
      <p:sp>
        <p:nvSpPr>
          <p:cNvPr id="47" name="熊大的PPT宝库42"/>
          <p:cNvSpPr txBox="1"/>
          <p:nvPr/>
        </p:nvSpPr>
        <p:spPr>
          <a:xfrm>
            <a:off x="1195548" y="3154935"/>
            <a:ext cx="1260281"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41A34"/>
                </a:solidFill>
                <a:effectLst/>
                <a:uLnTx/>
                <a:uFillTx/>
                <a:cs typeface="+mn-ea"/>
                <a:sym typeface="+mn-lt"/>
              </a:rPr>
              <a:t>背景及意义包装</a:t>
            </a:r>
            <a:endParaRPr kumimoji="0" lang="en-US" sz="1200" b="0" i="0" u="none" strike="noStrike" kern="1200" cap="none" spc="0" normalizeH="0" baseline="0" noProof="0" dirty="0">
              <a:ln>
                <a:noFill/>
              </a:ln>
              <a:solidFill>
                <a:srgbClr val="141A34"/>
              </a:solidFill>
              <a:effectLst/>
              <a:uLnTx/>
              <a:uFillTx/>
              <a:cs typeface="+mn-ea"/>
              <a:sym typeface="+mn-lt"/>
            </a:endParaRPr>
          </a:p>
        </p:txBody>
      </p:sp>
      <p:sp>
        <p:nvSpPr>
          <p:cNvPr id="48" name="熊大的PPT宝库43"/>
          <p:cNvSpPr txBox="1"/>
          <p:nvPr/>
        </p:nvSpPr>
        <p:spPr>
          <a:xfrm>
            <a:off x="1425578" y="5850663"/>
            <a:ext cx="800219"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41A34"/>
                </a:solidFill>
                <a:effectLst/>
                <a:uLnTx/>
                <a:uFillTx/>
                <a:cs typeface="+mn-ea"/>
                <a:sym typeface="+mn-lt"/>
              </a:rPr>
              <a:t>预期效果</a:t>
            </a:r>
            <a:endParaRPr kumimoji="0" lang="en-US" sz="1200" b="0" i="0" u="none" strike="noStrike" kern="1200" cap="none" spc="0" normalizeH="0" baseline="0" noProof="0" dirty="0">
              <a:ln>
                <a:noFill/>
              </a:ln>
              <a:solidFill>
                <a:srgbClr val="141A34"/>
              </a:solidFill>
              <a:effectLst/>
              <a:uLnTx/>
              <a:uFillTx/>
              <a:cs typeface="+mn-ea"/>
              <a:sym typeface="+mn-lt"/>
            </a:endParaRPr>
          </a:p>
        </p:txBody>
      </p:sp>
      <p:sp>
        <p:nvSpPr>
          <p:cNvPr id="49" name="熊大的PPT宝库44"/>
          <p:cNvSpPr txBox="1"/>
          <p:nvPr/>
        </p:nvSpPr>
        <p:spPr>
          <a:xfrm>
            <a:off x="1502522" y="3397426"/>
            <a:ext cx="646331" cy="2308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lumMod val="50000"/>
                  </a:srgbClr>
                </a:solidFill>
                <a:effectLst/>
                <a:uLnTx/>
                <a:uFillTx/>
                <a:cs typeface="+mn-ea"/>
                <a:sym typeface="+mn-lt"/>
              </a:rPr>
              <a:t>视觉层面</a:t>
            </a:r>
            <a:endParaRPr kumimoji="0" lang="en-US" sz="900" b="0" i="0" u="none" strike="noStrike" kern="1200" cap="none" spc="0" normalizeH="0" baseline="0" noProof="0" dirty="0">
              <a:ln>
                <a:noFill/>
              </a:ln>
              <a:solidFill>
                <a:srgbClr val="FFFFFF">
                  <a:lumMod val="50000"/>
                </a:srgbClr>
              </a:solidFill>
              <a:effectLst/>
              <a:uLnTx/>
              <a:uFillTx/>
              <a:cs typeface="+mn-ea"/>
              <a:sym typeface="+mn-lt"/>
            </a:endParaRPr>
          </a:p>
        </p:txBody>
      </p:sp>
      <p:sp>
        <p:nvSpPr>
          <p:cNvPr id="50" name="熊大的PPT宝库45"/>
          <p:cNvSpPr txBox="1"/>
          <p:nvPr/>
        </p:nvSpPr>
        <p:spPr>
          <a:xfrm>
            <a:off x="1348634" y="4087254"/>
            <a:ext cx="954107"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41A34"/>
                </a:solidFill>
                <a:effectLst/>
                <a:uLnTx/>
                <a:uFillTx/>
                <a:cs typeface="+mn-ea"/>
                <a:sym typeface="+mn-lt"/>
              </a:rPr>
              <a:t>内容力增强</a:t>
            </a:r>
            <a:endParaRPr kumimoji="0" lang="en-US" sz="1200" b="0" i="0" u="none" strike="noStrike" kern="1200" cap="none" spc="0" normalizeH="0" baseline="0" noProof="0" dirty="0">
              <a:ln>
                <a:noFill/>
              </a:ln>
              <a:solidFill>
                <a:srgbClr val="141A34"/>
              </a:solidFill>
              <a:effectLst/>
              <a:uLnTx/>
              <a:uFillTx/>
              <a:cs typeface="+mn-ea"/>
              <a:sym typeface="+mn-lt"/>
            </a:endParaRPr>
          </a:p>
        </p:txBody>
      </p:sp>
      <p:sp>
        <p:nvSpPr>
          <p:cNvPr id="51" name="熊大的PPT宝库46"/>
          <p:cNvSpPr txBox="1"/>
          <p:nvPr/>
        </p:nvSpPr>
        <p:spPr>
          <a:xfrm>
            <a:off x="1502522" y="4329745"/>
            <a:ext cx="646331" cy="2308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lumMod val="50000"/>
                  </a:srgbClr>
                </a:solidFill>
                <a:effectLst/>
                <a:uLnTx/>
                <a:uFillTx/>
                <a:cs typeface="+mn-ea"/>
                <a:sym typeface="+mn-lt"/>
              </a:rPr>
              <a:t>逻辑层面</a:t>
            </a:r>
            <a:endParaRPr kumimoji="0" lang="en-US" sz="900" b="0" i="0" u="none" strike="noStrike" kern="1200" cap="none" spc="0" normalizeH="0" baseline="0" noProof="0" dirty="0">
              <a:ln>
                <a:noFill/>
              </a:ln>
              <a:solidFill>
                <a:srgbClr val="FFFFFF">
                  <a:lumMod val="50000"/>
                </a:srgbClr>
              </a:solidFill>
              <a:effectLst/>
              <a:uLnTx/>
              <a:uFillTx/>
              <a:cs typeface="+mn-ea"/>
              <a:sym typeface="+mn-lt"/>
            </a:endParaRPr>
          </a:p>
        </p:txBody>
      </p:sp>
      <p:sp>
        <p:nvSpPr>
          <p:cNvPr id="52" name="熊大的PPT宝库47"/>
          <p:cNvSpPr txBox="1"/>
          <p:nvPr/>
        </p:nvSpPr>
        <p:spPr>
          <a:xfrm>
            <a:off x="1194750" y="5037615"/>
            <a:ext cx="1261884"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41A34"/>
                </a:solidFill>
                <a:effectLst/>
                <a:uLnTx/>
                <a:uFillTx/>
                <a:cs typeface="+mn-ea"/>
                <a:sym typeface="+mn-lt"/>
              </a:rPr>
              <a:t>体验感与参与感</a:t>
            </a:r>
            <a:endParaRPr kumimoji="0" lang="en-US" sz="1200" b="0" i="0" u="none" strike="noStrike" kern="1200" cap="none" spc="0" normalizeH="0" baseline="0" noProof="0" dirty="0">
              <a:ln>
                <a:noFill/>
              </a:ln>
              <a:solidFill>
                <a:srgbClr val="141A34"/>
              </a:solidFill>
              <a:effectLst/>
              <a:uLnTx/>
              <a:uFillTx/>
              <a:cs typeface="+mn-ea"/>
              <a:sym typeface="+mn-lt"/>
            </a:endParaRPr>
          </a:p>
        </p:txBody>
      </p:sp>
      <p:sp>
        <p:nvSpPr>
          <p:cNvPr id="53" name="熊大的PPT宝库48"/>
          <p:cNvSpPr txBox="1"/>
          <p:nvPr/>
        </p:nvSpPr>
        <p:spPr>
          <a:xfrm>
            <a:off x="1502522" y="5280106"/>
            <a:ext cx="646331" cy="2308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lumMod val="50000"/>
                  </a:srgbClr>
                </a:solidFill>
                <a:effectLst/>
                <a:uLnTx/>
                <a:uFillTx/>
                <a:cs typeface="+mn-ea"/>
                <a:sym typeface="+mn-lt"/>
              </a:rPr>
              <a:t>体感层面</a:t>
            </a:r>
            <a:endParaRPr kumimoji="0" lang="en-US" sz="900" b="0" i="0" u="none" strike="noStrike" kern="1200" cap="none" spc="0" normalizeH="0" baseline="0" noProof="0" dirty="0">
              <a:ln>
                <a:noFill/>
              </a:ln>
              <a:solidFill>
                <a:srgbClr val="FFFFFF">
                  <a:lumMod val="50000"/>
                </a:srgbClr>
              </a:solidFill>
              <a:effectLst/>
              <a:uLnTx/>
              <a:uFillTx/>
              <a:cs typeface="+mn-ea"/>
              <a:sym typeface="+mn-lt"/>
            </a:endParaRPr>
          </a:p>
        </p:txBody>
      </p:sp>
      <p:sp>
        <p:nvSpPr>
          <p:cNvPr id="54" name="熊大的PPT宝库49"/>
          <p:cNvSpPr txBox="1"/>
          <p:nvPr/>
        </p:nvSpPr>
        <p:spPr>
          <a:xfrm>
            <a:off x="2831361" y="1608992"/>
            <a:ext cx="3236785"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用产品背景与意义让更多用户感到价值</a:t>
            </a:r>
            <a:endParaRPr kumimoji="0" lang="en-US" sz="1400" b="0" i="0" u="none" strike="noStrike" kern="1200" cap="none" spc="0" normalizeH="0" baseline="0" noProof="0" dirty="0">
              <a:ln>
                <a:noFill/>
              </a:ln>
              <a:solidFill>
                <a:srgbClr val="FFFFFF"/>
              </a:solidFill>
              <a:effectLst/>
              <a:uLnTx/>
              <a:uFillTx/>
              <a:cs typeface="+mn-ea"/>
              <a:sym typeface="+mn-lt"/>
            </a:endParaRPr>
          </a:p>
        </p:txBody>
      </p:sp>
      <p:sp>
        <p:nvSpPr>
          <p:cNvPr id="55" name="熊大的PPT宝库50"/>
          <p:cNvSpPr txBox="1"/>
          <p:nvPr/>
        </p:nvSpPr>
        <p:spPr>
          <a:xfrm>
            <a:off x="6926518" y="1608992"/>
            <a:ext cx="2698176"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从客户心理变化完成认购并支付</a:t>
            </a:r>
            <a:endParaRPr kumimoji="0" lang="en-US" sz="1400" b="0" i="0" u="none" strike="noStrike" kern="1200" cap="none" spc="0" normalizeH="0" baseline="0" noProof="0" dirty="0">
              <a:ln>
                <a:noFill/>
              </a:ln>
              <a:solidFill>
                <a:srgbClr val="FFFFFF"/>
              </a:solidFill>
              <a:effectLst/>
              <a:uLnTx/>
              <a:uFillTx/>
              <a:cs typeface="+mn-ea"/>
              <a:sym typeface="+mn-lt"/>
            </a:endParaRPr>
          </a:p>
        </p:txBody>
      </p:sp>
      <p:sp>
        <p:nvSpPr>
          <p:cNvPr id="57" name="熊大的PPT宝库51"/>
          <p:cNvSpPr txBox="1"/>
          <p:nvPr/>
        </p:nvSpPr>
        <p:spPr>
          <a:xfrm>
            <a:off x="3636557" y="2131076"/>
            <a:ext cx="543739"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cs typeface="+mn-ea"/>
                <a:sym typeface="+mn-lt"/>
              </a:rPr>
              <a:t>知晓</a:t>
            </a:r>
            <a:endParaRPr kumimoji="0" lang="en-US" sz="1400" b="0" i="0" u="none" strike="noStrike" kern="1200" cap="none" spc="0" normalizeH="0" baseline="0" noProof="0" dirty="0">
              <a:ln>
                <a:noFill/>
              </a:ln>
              <a:solidFill>
                <a:srgbClr val="00329D"/>
              </a:solidFill>
              <a:effectLst/>
              <a:uLnTx/>
              <a:uFillTx/>
              <a:cs typeface="+mn-ea"/>
              <a:sym typeface="+mn-lt"/>
            </a:endParaRPr>
          </a:p>
        </p:txBody>
      </p:sp>
      <p:sp>
        <p:nvSpPr>
          <p:cNvPr id="59" name="熊大的PPT宝库52"/>
          <p:cNvSpPr txBox="1"/>
          <p:nvPr/>
        </p:nvSpPr>
        <p:spPr>
          <a:xfrm>
            <a:off x="6284506" y="2131076"/>
            <a:ext cx="543739"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cs typeface="+mn-ea"/>
                <a:sym typeface="+mn-lt"/>
              </a:rPr>
              <a:t>心动</a:t>
            </a:r>
            <a:endParaRPr kumimoji="0" lang="en-US" sz="1400" b="0" i="0" u="none" strike="noStrike" kern="1200" cap="none" spc="0" normalizeH="0" baseline="0" noProof="0" dirty="0">
              <a:ln>
                <a:noFill/>
              </a:ln>
              <a:solidFill>
                <a:srgbClr val="00329D"/>
              </a:solidFill>
              <a:effectLst/>
              <a:uLnTx/>
              <a:uFillTx/>
              <a:cs typeface="+mn-ea"/>
              <a:sym typeface="+mn-lt"/>
            </a:endParaRPr>
          </a:p>
        </p:txBody>
      </p:sp>
      <p:sp>
        <p:nvSpPr>
          <p:cNvPr id="61" name="熊大的PPT宝库53"/>
          <p:cNvSpPr txBox="1"/>
          <p:nvPr/>
        </p:nvSpPr>
        <p:spPr>
          <a:xfrm>
            <a:off x="8756101" y="2131076"/>
            <a:ext cx="902811"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cs typeface="+mn-ea"/>
                <a:sym typeface="+mn-lt"/>
              </a:rPr>
              <a:t>购买行为</a:t>
            </a:r>
            <a:endParaRPr kumimoji="0" lang="en-US" sz="1400" b="0" i="0" u="none" strike="noStrike" kern="1200" cap="none" spc="0" normalizeH="0" baseline="0" noProof="0" dirty="0">
              <a:ln>
                <a:noFill/>
              </a:ln>
              <a:solidFill>
                <a:srgbClr val="00329D"/>
              </a:solidFill>
              <a:effectLst/>
              <a:uLnTx/>
              <a:uFillTx/>
              <a:cs typeface="+mn-ea"/>
              <a:sym typeface="+mn-lt"/>
            </a:endParaRPr>
          </a:p>
        </p:txBody>
      </p:sp>
      <p:sp>
        <p:nvSpPr>
          <p:cNvPr id="63" name="熊大的PPT宝库54"/>
          <p:cNvSpPr txBox="1"/>
          <p:nvPr/>
        </p:nvSpPr>
        <p:spPr>
          <a:xfrm>
            <a:off x="3457019" y="2597824"/>
            <a:ext cx="902812"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公司介绍</a:t>
            </a:r>
            <a:endParaRPr kumimoji="0" lang="en-US" sz="1400" b="0" i="0" u="none" strike="noStrike" kern="1200" cap="none" spc="0" normalizeH="0" baseline="0" noProof="0" dirty="0">
              <a:ln>
                <a:noFill/>
              </a:ln>
              <a:solidFill>
                <a:srgbClr val="000000"/>
              </a:solidFill>
              <a:effectLst/>
              <a:uLnTx/>
              <a:uFillTx/>
              <a:cs typeface="+mn-ea"/>
              <a:sym typeface="+mn-lt"/>
            </a:endParaRPr>
          </a:p>
        </p:txBody>
      </p:sp>
      <p:sp>
        <p:nvSpPr>
          <p:cNvPr id="65" name="熊大的PPT宝库55"/>
          <p:cNvSpPr txBox="1"/>
          <p:nvPr/>
        </p:nvSpPr>
        <p:spPr>
          <a:xfrm>
            <a:off x="6104969" y="2597824"/>
            <a:ext cx="902811"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产品介绍</a:t>
            </a:r>
            <a:endParaRPr kumimoji="0" lang="en-US" sz="1400" b="0" i="0" u="none" strike="noStrike" kern="1200" cap="none" spc="0" normalizeH="0" baseline="0" noProof="0" dirty="0">
              <a:ln>
                <a:noFill/>
              </a:ln>
              <a:solidFill>
                <a:srgbClr val="000000"/>
              </a:solidFill>
              <a:effectLst/>
              <a:uLnTx/>
              <a:uFillTx/>
              <a:cs typeface="+mn-ea"/>
              <a:sym typeface="+mn-lt"/>
            </a:endParaRPr>
          </a:p>
        </p:txBody>
      </p:sp>
      <p:sp>
        <p:nvSpPr>
          <p:cNvPr id="67" name="熊大的PPT宝库56"/>
          <p:cNvSpPr txBox="1"/>
          <p:nvPr/>
        </p:nvSpPr>
        <p:spPr>
          <a:xfrm>
            <a:off x="8756095" y="2597824"/>
            <a:ext cx="902811"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服务介绍</a:t>
            </a:r>
            <a:endParaRPr kumimoji="0" lang="en-US" sz="1400" b="0" i="0" u="none" strike="noStrike" kern="1200" cap="none" spc="0" normalizeH="0" baseline="0" noProof="0" dirty="0">
              <a:ln>
                <a:noFill/>
              </a:ln>
              <a:solidFill>
                <a:srgbClr val="000000"/>
              </a:solidFill>
              <a:effectLst/>
              <a:uLnTx/>
              <a:uFillTx/>
              <a:cs typeface="+mn-ea"/>
              <a:sym typeface="+mn-lt"/>
            </a:endParaRPr>
          </a:p>
        </p:txBody>
      </p:sp>
      <p:sp>
        <p:nvSpPr>
          <p:cNvPr id="68" name="熊大的PPT宝库57"/>
          <p:cNvSpPr txBox="1"/>
          <p:nvPr/>
        </p:nvSpPr>
        <p:spPr>
          <a:xfrm>
            <a:off x="3701335" y="3178217"/>
            <a:ext cx="992580" cy="253916"/>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FFFFFF"/>
                </a:solidFill>
                <a:effectLst/>
                <a:uLnTx/>
                <a:uFillTx/>
                <a:cs typeface="+mn-ea"/>
                <a:sym typeface="+mn-lt"/>
              </a:rPr>
              <a:t>产品推出意义</a:t>
            </a:r>
            <a:endParaRPr kumimoji="0" lang="en-US" sz="1050" b="0" i="0" u="none" strike="noStrike" kern="1200" cap="none" spc="0" normalizeH="0" baseline="0" noProof="0" dirty="0">
              <a:ln>
                <a:noFill/>
              </a:ln>
              <a:solidFill>
                <a:srgbClr val="FFFFFF"/>
              </a:solidFill>
              <a:effectLst/>
              <a:uLnTx/>
              <a:uFillTx/>
              <a:cs typeface="+mn-ea"/>
              <a:sym typeface="+mn-lt"/>
            </a:endParaRPr>
          </a:p>
        </p:txBody>
      </p:sp>
      <p:sp>
        <p:nvSpPr>
          <p:cNvPr id="69" name="熊大的PPT宝库58"/>
          <p:cNvSpPr txBox="1"/>
          <p:nvPr/>
        </p:nvSpPr>
        <p:spPr>
          <a:xfrm>
            <a:off x="6229489" y="3178217"/>
            <a:ext cx="992580" cy="253916"/>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FFFFFF"/>
                </a:solidFill>
                <a:effectLst/>
                <a:uLnTx/>
                <a:uFillTx/>
                <a:cs typeface="+mn-ea"/>
                <a:sym typeface="+mn-lt"/>
              </a:rPr>
              <a:t>展现产品价值</a:t>
            </a:r>
            <a:endParaRPr kumimoji="0" lang="en-US" altLang="zh-CN" sz="1050" b="0" i="0" u="none" strike="noStrike" kern="1200" cap="none" spc="0" normalizeH="0" baseline="0" noProof="0" dirty="0">
              <a:ln>
                <a:noFill/>
              </a:ln>
              <a:solidFill>
                <a:srgbClr val="FFFFFF"/>
              </a:solidFill>
              <a:effectLst/>
              <a:uLnTx/>
              <a:uFillTx/>
              <a:cs typeface="+mn-ea"/>
              <a:sym typeface="+mn-lt"/>
            </a:endParaRPr>
          </a:p>
        </p:txBody>
      </p:sp>
      <p:sp>
        <p:nvSpPr>
          <p:cNvPr id="70" name="熊大的PPT宝库59"/>
          <p:cNvSpPr txBox="1"/>
          <p:nvPr/>
        </p:nvSpPr>
        <p:spPr>
          <a:xfrm>
            <a:off x="8735966" y="3178217"/>
            <a:ext cx="857928" cy="253916"/>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FFFFFF"/>
                </a:solidFill>
                <a:effectLst/>
                <a:uLnTx/>
                <a:uFillTx/>
                <a:cs typeface="+mn-ea"/>
                <a:sym typeface="+mn-lt"/>
              </a:rPr>
              <a:t>购买的意义</a:t>
            </a:r>
            <a:endParaRPr kumimoji="0" lang="en-US" sz="1050" b="0" i="0" u="none" strike="noStrike" kern="1200" cap="none" spc="0" normalizeH="0" baseline="0" noProof="0" dirty="0">
              <a:ln>
                <a:noFill/>
              </a:ln>
              <a:solidFill>
                <a:srgbClr val="FFFFFF"/>
              </a:solidFill>
              <a:effectLst/>
              <a:uLnTx/>
              <a:uFillTx/>
              <a:cs typeface="+mn-ea"/>
              <a:sym typeface="+mn-lt"/>
            </a:endParaRPr>
          </a:p>
        </p:txBody>
      </p:sp>
      <p:sp>
        <p:nvSpPr>
          <p:cNvPr id="71" name="熊大的PPT宝库60"/>
          <p:cNvSpPr txBox="1"/>
          <p:nvPr/>
        </p:nvSpPr>
        <p:spPr>
          <a:xfrm>
            <a:off x="3822887" y="3938830"/>
            <a:ext cx="748924" cy="261610"/>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吸睛开篇</a:t>
            </a:r>
            <a:endParaRPr kumimoji="0" lang="en-US" sz="1100" b="0" i="0" u="none" strike="noStrike" kern="1200" cap="none" spc="0" normalizeH="0" baseline="0" noProof="0" dirty="0">
              <a:ln>
                <a:noFill/>
              </a:ln>
              <a:solidFill>
                <a:srgbClr val="000000"/>
              </a:solidFill>
              <a:effectLst/>
              <a:uLnTx/>
              <a:uFillTx/>
              <a:cs typeface="+mn-ea"/>
              <a:sym typeface="+mn-lt"/>
            </a:endParaRPr>
          </a:p>
        </p:txBody>
      </p:sp>
      <p:sp>
        <p:nvSpPr>
          <p:cNvPr id="72" name="熊大的PPT宝库61"/>
          <p:cNvSpPr txBox="1"/>
          <p:nvPr/>
        </p:nvSpPr>
        <p:spPr>
          <a:xfrm>
            <a:off x="3893419" y="4136172"/>
            <a:ext cx="607860" cy="261610"/>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000000"/>
                </a:solidFill>
                <a:effectLst/>
                <a:uLnTx/>
                <a:uFillTx/>
                <a:cs typeface="+mn-ea"/>
                <a:sym typeface="+mn-lt"/>
              </a:rPr>
              <a:t>1-30m</a:t>
            </a:r>
            <a:endParaRPr kumimoji="0" lang="en-US" sz="1100" b="0" i="0" u="none" strike="noStrike" kern="1200" cap="none" spc="0" normalizeH="0" baseline="0" noProof="0" dirty="0">
              <a:ln>
                <a:noFill/>
              </a:ln>
              <a:solidFill>
                <a:srgbClr val="000000"/>
              </a:solidFill>
              <a:effectLst/>
              <a:uLnTx/>
              <a:uFillTx/>
              <a:cs typeface="+mn-ea"/>
              <a:sym typeface="+mn-lt"/>
            </a:endParaRPr>
          </a:p>
        </p:txBody>
      </p:sp>
      <p:sp>
        <p:nvSpPr>
          <p:cNvPr id="73" name="熊大的PPT宝库62"/>
          <p:cNvSpPr txBox="1"/>
          <p:nvPr/>
        </p:nvSpPr>
        <p:spPr>
          <a:xfrm>
            <a:off x="6340645" y="3938830"/>
            <a:ext cx="748924" cy="261610"/>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高能叙事</a:t>
            </a:r>
            <a:endParaRPr kumimoji="0" lang="en-US" sz="1100" b="0" i="0" u="none" strike="noStrike" kern="1200" cap="none" spc="0" normalizeH="0" baseline="0" noProof="0" dirty="0">
              <a:ln>
                <a:noFill/>
              </a:ln>
              <a:solidFill>
                <a:srgbClr val="000000"/>
              </a:solidFill>
              <a:effectLst/>
              <a:uLnTx/>
              <a:uFillTx/>
              <a:cs typeface="+mn-ea"/>
              <a:sym typeface="+mn-lt"/>
            </a:endParaRPr>
          </a:p>
        </p:txBody>
      </p:sp>
      <p:sp>
        <p:nvSpPr>
          <p:cNvPr id="74" name="熊大的PPT宝库63"/>
          <p:cNvSpPr txBox="1"/>
          <p:nvPr/>
        </p:nvSpPr>
        <p:spPr>
          <a:xfrm>
            <a:off x="6371102" y="4136172"/>
            <a:ext cx="688010" cy="261610"/>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000000"/>
                </a:solidFill>
                <a:effectLst/>
                <a:uLnTx/>
                <a:uFillTx/>
                <a:cs typeface="+mn-ea"/>
                <a:sym typeface="+mn-lt"/>
              </a:rPr>
              <a:t>30-60m</a:t>
            </a:r>
            <a:endParaRPr kumimoji="0" lang="en-US" sz="1100" b="0" i="0" u="none" strike="noStrike" kern="1200" cap="none" spc="0" normalizeH="0" baseline="0" noProof="0" dirty="0">
              <a:ln>
                <a:noFill/>
              </a:ln>
              <a:solidFill>
                <a:srgbClr val="000000"/>
              </a:solidFill>
              <a:effectLst/>
              <a:uLnTx/>
              <a:uFillTx/>
              <a:cs typeface="+mn-ea"/>
              <a:sym typeface="+mn-lt"/>
            </a:endParaRPr>
          </a:p>
        </p:txBody>
      </p:sp>
      <p:sp>
        <p:nvSpPr>
          <p:cNvPr id="75" name="熊大的PPT宝库64"/>
          <p:cNvSpPr txBox="1"/>
          <p:nvPr/>
        </p:nvSpPr>
        <p:spPr>
          <a:xfrm>
            <a:off x="8785360" y="3938830"/>
            <a:ext cx="748924" cy="261610"/>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强力号召</a:t>
            </a:r>
            <a:endParaRPr kumimoji="0" lang="en-US" sz="1100" b="0" i="0" u="none" strike="noStrike" kern="1200" cap="none" spc="0" normalizeH="0" baseline="0" noProof="0" dirty="0">
              <a:ln>
                <a:noFill/>
              </a:ln>
              <a:solidFill>
                <a:srgbClr val="000000"/>
              </a:solidFill>
              <a:effectLst/>
              <a:uLnTx/>
              <a:uFillTx/>
              <a:cs typeface="+mn-ea"/>
              <a:sym typeface="+mn-lt"/>
            </a:endParaRPr>
          </a:p>
        </p:txBody>
      </p:sp>
      <p:sp>
        <p:nvSpPr>
          <p:cNvPr id="76" name="熊大的PPT宝库65"/>
          <p:cNvSpPr txBox="1"/>
          <p:nvPr/>
        </p:nvSpPr>
        <p:spPr>
          <a:xfrm>
            <a:off x="8815817" y="4136172"/>
            <a:ext cx="688010" cy="261610"/>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000000"/>
                </a:solidFill>
                <a:effectLst/>
                <a:uLnTx/>
                <a:uFillTx/>
                <a:cs typeface="+mn-ea"/>
                <a:sym typeface="+mn-lt"/>
              </a:rPr>
              <a:t>60-80m</a:t>
            </a:r>
            <a:endParaRPr kumimoji="0" lang="en-US" sz="1100" b="0" i="0" u="none" strike="noStrike" kern="1200" cap="none" spc="0" normalizeH="0" baseline="0" noProof="0" dirty="0">
              <a:ln>
                <a:noFill/>
              </a:ln>
              <a:solidFill>
                <a:srgbClr val="000000"/>
              </a:solidFill>
              <a:effectLst/>
              <a:uLnTx/>
              <a:uFillTx/>
              <a:cs typeface="+mn-ea"/>
              <a:sym typeface="+mn-lt"/>
            </a:endParaRPr>
          </a:p>
        </p:txBody>
      </p:sp>
      <p:sp>
        <p:nvSpPr>
          <p:cNvPr id="77" name="熊大的PPT宝库66"/>
          <p:cNvSpPr txBox="1"/>
          <p:nvPr/>
        </p:nvSpPr>
        <p:spPr>
          <a:xfrm>
            <a:off x="3962921" y="5125706"/>
            <a:ext cx="5444119"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循序渐进 在转化的零界点利用附加服务与附赠礼品等推动客户购买</a:t>
            </a:r>
            <a:endParaRPr kumimoji="0" lang="en-US" sz="1400" b="0" i="0" u="none" strike="noStrike" kern="1200" cap="none" spc="0" normalizeH="0" baseline="0" noProof="0" dirty="0">
              <a:ln>
                <a:noFill/>
              </a:ln>
              <a:solidFill>
                <a:srgbClr val="FFFFFF"/>
              </a:solidFill>
              <a:effectLst/>
              <a:uLnTx/>
              <a:uFillTx/>
              <a:cs typeface="+mn-ea"/>
              <a:sym typeface="+mn-lt"/>
            </a:endParaRPr>
          </a:p>
        </p:txBody>
      </p:sp>
      <p:sp>
        <p:nvSpPr>
          <p:cNvPr id="78" name="熊大的PPT宝库67"/>
          <p:cNvSpPr txBox="1"/>
          <p:nvPr/>
        </p:nvSpPr>
        <p:spPr>
          <a:xfrm>
            <a:off x="2927940" y="5861092"/>
            <a:ext cx="1980030"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结合最新时事带入节奏</a:t>
            </a:r>
            <a:endParaRPr kumimoji="0" lang="en-US" sz="1400" b="0" i="0" u="none" strike="noStrike" kern="1200" cap="none" spc="0" normalizeH="0" baseline="0" noProof="0" dirty="0">
              <a:ln>
                <a:noFill/>
              </a:ln>
              <a:solidFill>
                <a:srgbClr val="FFFFFF"/>
              </a:solidFill>
              <a:effectLst/>
              <a:uLnTx/>
              <a:uFillTx/>
              <a:cs typeface="+mn-ea"/>
              <a:sym typeface="+mn-lt"/>
            </a:endParaRPr>
          </a:p>
        </p:txBody>
      </p:sp>
      <p:sp>
        <p:nvSpPr>
          <p:cNvPr id="79" name="熊大的PPT宝库68"/>
          <p:cNvSpPr txBox="1"/>
          <p:nvPr/>
        </p:nvSpPr>
        <p:spPr>
          <a:xfrm>
            <a:off x="5476599" y="5861092"/>
            <a:ext cx="2159566"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通过真实案例引起同理心</a:t>
            </a:r>
            <a:endParaRPr kumimoji="0" lang="en-US" sz="1400" b="0" i="0" u="none" strike="noStrike" kern="1200" cap="none" spc="0" normalizeH="0" baseline="0" noProof="0" dirty="0">
              <a:ln>
                <a:noFill/>
              </a:ln>
              <a:solidFill>
                <a:srgbClr val="FFFFFF"/>
              </a:solidFill>
              <a:effectLst/>
              <a:uLnTx/>
              <a:uFillTx/>
              <a:cs typeface="+mn-ea"/>
              <a:sym typeface="+mn-lt"/>
            </a:endParaRPr>
          </a:p>
        </p:txBody>
      </p:sp>
      <p:sp>
        <p:nvSpPr>
          <p:cNvPr id="80" name="熊大的PPT宝库69"/>
          <p:cNvSpPr txBox="1"/>
          <p:nvPr/>
        </p:nvSpPr>
        <p:spPr>
          <a:xfrm>
            <a:off x="8217491" y="5861092"/>
            <a:ext cx="1980030"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展示目的吸引客户行动</a:t>
            </a:r>
            <a:endParaRPr kumimoji="0" lang="en-US" sz="1400" b="0" i="0" u="none" strike="noStrike" kern="1200" cap="none" spc="0" normalizeH="0" baseline="0" noProof="0" dirty="0">
              <a:ln>
                <a:noFill/>
              </a:ln>
              <a:solidFill>
                <a:srgbClr val="FFFFFF"/>
              </a:solidFill>
              <a:effectLst/>
              <a:uLnTx/>
              <a:uFillTx/>
              <a:cs typeface="+mn-ea"/>
              <a:sym typeface="+mn-lt"/>
            </a:endParaRPr>
          </a:p>
        </p:txBody>
      </p:sp>
      <p:sp>
        <p:nvSpPr>
          <p:cNvPr id="37" name="熊大的PPT宝库71"/>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熊大的PPT宝库1"/>
          <p:cNvSpPr/>
          <p:nvPr/>
        </p:nvSpPr>
        <p:spPr>
          <a:xfrm>
            <a:off x="9484993" y="5187950"/>
            <a:ext cx="1923687" cy="1035050"/>
          </a:xfrm>
          <a:prstGeom prst="roundRect">
            <a:avLst>
              <a:gd name="adj" fmla="val 4401"/>
            </a:avLst>
          </a:prstGeom>
          <a:solidFill>
            <a:srgbClr val="F5F8FF">
              <a:alpha val="50000"/>
            </a:srgbClr>
          </a:solidFill>
          <a:ln w="6350" cap="flat">
            <a:solidFill>
              <a:schemeClr val="accent1">
                <a:lumMod val="60000"/>
                <a:lumOff val="40000"/>
                <a:alpha val="50000"/>
              </a:schemeClr>
            </a:solidFill>
            <a:custDash>
              <a:ds d="300000" sp="300000"/>
            </a:custDash>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09" name="熊大的PPT宝库2"/>
          <p:cNvSpPr/>
          <p:nvPr/>
        </p:nvSpPr>
        <p:spPr>
          <a:xfrm>
            <a:off x="796925" y="5187950"/>
            <a:ext cx="1923687" cy="1035050"/>
          </a:xfrm>
          <a:prstGeom prst="roundRect">
            <a:avLst>
              <a:gd name="adj" fmla="val 4401"/>
            </a:avLst>
          </a:prstGeom>
          <a:solidFill>
            <a:srgbClr val="F5F8FF">
              <a:alpha val="50000"/>
            </a:srgbClr>
          </a:solidFill>
          <a:ln w="6350" cap="flat">
            <a:solidFill>
              <a:schemeClr val="accent1">
                <a:lumMod val="60000"/>
                <a:lumOff val="40000"/>
                <a:alpha val="50000"/>
              </a:schemeClr>
            </a:solidFill>
            <a:custDash>
              <a:ds d="300000" sp="300000"/>
            </a:custDash>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3" name="熊大的PPT宝库3"/>
          <p:cNvSpPr/>
          <p:nvPr/>
        </p:nvSpPr>
        <p:spPr>
          <a:xfrm>
            <a:off x="796925" y="1220843"/>
            <a:ext cx="10598150" cy="3811532"/>
          </a:xfrm>
          <a:prstGeom prst="roundRect">
            <a:avLst>
              <a:gd name="adj" fmla="val 4401"/>
            </a:avLst>
          </a:prstGeom>
          <a:solidFill>
            <a:srgbClr val="F5F8FF">
              <a:alpha val="50000"/>
            </a:srgbClr>
          </a:solidFill>
          <a:ln w="6350" cap="flat">
            <a:solidFill>
              <a:schemeClr val="accent1">
                <a:lumMod val="60000"/>
                <a:lumOff val="40000"/>
                <a:alpha val="50000"/>
              </a:schemeClr>
            </a:solidFill>
            <a:custDash>
              <a:ds d="300000" sp="300000"/>
            </a:custDash>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88" name="熊大的PPT宝库4"/>
          <p:cNvSpPr/>
          <p:nvPr/>
        </p:nvSpPr>
        <p:spPr>
          <a:xfrm>
            <a:off x="9177684" y="2220654"/>
            <a:ext cx="1934816" cy="2423618"/>
          </a:xfrm>
          <a:prstGeom prst="roundRect">
            <a:avLst>
              <a:gd name="adj" fmla="val 5104"/>
            </a:avLst>
          </a:prstGeom>
          <a:solidFill>
            <a:srgbClr val="FFFFFF"/>
          </a:solidFill>
          <a:ln w="6350" cap="flat">
            <a:solidFill>
              <a:schemeClr val="bg1">
                <a:lumMod val="85000"/>
              </a:schemeClr>
            </a:solidFill>
            <a:prstDash val="solid"/>
            <a:miter/>
          </a:ln>
          <a:effectLst>
            <a:outerShdw blurRad="609600" sx="102000" sy="102000" algn="ctr" rotWithShape="0">
              <a:prstClr val="black">
                <a:alpha val="5000"/>
              </a:prstClr>
            </a:outerShdw>
          </a:effectLst>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7" name="熊大的PPT宝库5"/>
          <p:cNvSpPr/>
          <p:nvPr/>
        </p:nvSpPr>
        <p:spPr>
          <a:xfrm>
            <a:off x="1080834" y="2220654"/>
            <a:ext cx="1934816" cy="2423618"/>
          </a:xfrm>
          <a:prstGeom prst="roundRect">
            <a:avLst>
              <a:gd name="adj" fmla="val 5104"/>
            </a:avLst>
          </a:prstGeom>
          <a:solidFill>
            <a:srgbClr val="FFFFFF"/>
          </a:solidFill>
          <a:ln w="6350" cap="flat">
            <a:solidFill>
              <a:schemeClr val="bg1">
                <a:lumMod val="85000"/>
              </a:schemeClr>
            </a:solidFill>
            <a:prstDash val="solid"/>
            <a:miter/>
          </a:ln>
          <a:effectLst>
            <a:outerShdw blurRad="609600" sx="102000" sy="102000" algn="ctr" rotWithShape="0">
              <a:prstClr val="black">
                <a:alpha val="5000"/>
              </a:prstClr>
            </a:outerShdw>
          </a:effectLst>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2" name="熊大的PPT宝库6"/>
          <p:cNvSpPr/>
          <p:nvPr/>
        </p:nvSpPr>
        <p:spPr>
          <a:xfrm>
            <a:off x="9464898" y="2605957"/>
            <a:ext cx="1440000" cy="316029"/>
          </a:xfrm>
          <a:prstGeom prst="roundRect">
            <a:avLst>
              <a:gd name="adj" fmla="val 50000"/>
            </a:avLst>
          </a:prstGeom>
          <a:solidFill>
            <a:schemeClr val="accent1">
              <a:lumMod val="20000"/>
              <a:lumOff val="80000"/>
            </a:schemeClr>
          </a:solidFill>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93" name="熊大的PPT宝库7"/>
          <p:cNvSpPr/>
          <p:nvPr/>
        </p:nvSpPr>
        <p:spPr>
          <a:xfrm>
            <a:off x="9464898" y="2993606"/>
            <a:ext cx="1440000" cy="316029"/>
          </a:xfrm>
          <a:prstGeom prst="roundRect">
            <a:avLst>
              <a:gd name="adj" fmla="val 50000"/>
            </a:avLst>
          </a:prstGeom>
          <a:solidFill>
            <a:schemeClr val="accent1">
              <a:lumMod val="20000"/>
              <a:lumOff val="80000"/>
            </a:schemeClr>
          </a:solidFill>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94" name="熊大的PPT宝库8"/>
          <p:cNvSpPr/>
          <p:nvPr/>
        </p:nvSpPr>
        <p:spPr>
          <a:xfrm>
            <a:off x="9464898" y="3381255"/>
            <a:ext cx="1440000" cy="316029"/>
          </a:xfrm>
          <a:prstGeom prst="roundRect">
            <a:avLst>
              <a:gd name="adj" fmla="val 50000"/>
            </a:avLst>
          </a:prstGeom>
          <a:solidFill>
            <a:schemeClr val="accent1">
              <a:lumMod val="20000"/>
              <a:lumOff val="80000"/>
            </a:schemeClr>
          </a:solidFill>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95" name="熊大的PPT宝库9"/>
          <p:cNvSpPr/>
          <p:nvPr/>
        </p:nvSpPr>
        <p:spPr>
          <a:xfrm>
            <a:off x="9464898" y="3768904"/>
            <a:ext cx="1440000" cy="316029"/>
          </a:xfrm>
          <a:prstGeom prst="roundRect">
            <a:avLst>
              <a:gd name="adj" fmla="val 50000"/>
            </a:avLst>
          </a:prstGeom>
          <a:solidFill>
            <a:schemeClr val="accent1">
              <a:lumMod val="20000"/>
              <a:lumOff val="80000"/>
            </a:schemeClr>
          </a:solidFill>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96" name="熊大的PPT宝库10"/>
          <p:cNvSpPr/>
          <p:nvPr/>
        </p:nvSpPr>
        <p:spPr>
          <a:xfrm>
            <a:off x="9464898" y="4156553"/>
            <a:ext cx="1440000" cy="316029"/>
          </a:xfrm>
          <a:prstGeom prst="roundRect">
            <a:avLst>
              <a:gd name="adj" fmla="val 50000"/>
            </a:avLst>
          </a:prstGeom>
          <a:solidFill>
            <a:schemeClr val="accent1">
              <a:lumMod val="20000"/>
              <a:lumOff val="80000"/>
            </a:schemeClr>
          </a:solidFill>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2" name="熊大的PPT宝库11"/>
          <p:cNvSpPr txBox="1"/>
          <p:nvPr/>
        </p:nvSpPr>
        <p:spPr>
          <a:xfrm>
            <a:off x="348830" y="216968"/>
            <a:ext cx="3467616"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客户与平台的关系</a:t>
            </a:r>
          </a:p>
        </p:txBody>
      </p:sp>
      <p:sp>
        <p:nvSpPr>
          <p:cNvPr id="4" name="熊大的PPT宝库12"/>
          <p:cNvSpPr/>
          <p:nvPr/>
        </p:nvSpPr>
        <p:spPr>
          <a:xfrm>
            <a:off x="4081386" y="2544762"/>
            <a:ext cx="485933" cy="280988"/>
          </a:xfrm>
          <a:custGeom>
            <a:avLst/>
            <a:gdLst>
              <a:gd name="connsiteX0" fmla="*/ 242964 w 485933"/>
              <a:gd name="connsiteY0" fmla="*/ 128588 h 128587"/>
              <a:gd name="connsiteX1" fmla="*/ 485934 w 485933"/>
              <a:gd name="connsiteY1" fmla="*/ 0 h 128587"/>
              <a:gd name="connsiteX2" fmla="*/ 0 w 485933"/>
              <a:gd name="connsiteY2" fmla="*/ 0 h 128587"/>
              <a:gd name="connsiteX3" fmla="*/ 242964 w 485933"/>
              <a:gd name="connsiteY3" fmla="*/ 128588 h 128587"/>
            </a:gdLst>
            <a:ahLst/>
            <a:cxnLst>
              <a:cxn ang="0">
                <a:pos x="connsiteX0" y="connsiteY0"/>
              </a:cxn>
              <a:cxn ang="0">
                <a:pos x="connsiteX1" y="connsiteY1"/>
              </a:cxn>
              <a:cxn ang="0">
                <a:pos x="connsiteX2" y="connsiteY2"/>
              </a:cxn>
              <a:cxn ang="0">
                <a:pos x="connsiteX3" y="connsiteY3"/>
              </a:cxn>
            </a:cxnLst>
            <a:rect l="l" t="t" r="r" b="b"/>
            <a:pathLst>
              <a:path w="485933" h="128587">
                <a:moveTo>
                  <a:pt x="242964" y="128588"/>
                </a:moveTo>
                <a:lnTo>
                  <a:pt x="485934" y="0"/>
                </a:lnTo>
                <a:lnTo>
                  <a:pt x="0" y="0"/>
                </a:lnTo>
                <a:lnTo>
                  <a:pt x="242964" y="128588"/>
                </a:lnTo>
                <a:close/>
              </a:path>
            </a:pathLst>
          </a:custGeom>
          <a:gradFill>
            <a:gsLst>
              <a:gs pos="0">
                <a:schemeClr val="accent1">
                  <a:lumMod val="75000"/>
                </a:schemeClr>
              </a:gs>
              <a:gs pos="74055">
                <a:schemeClr val="accent1">
                  <a:lumMod val="60000"/>
                  <a:lumOff val="40000"/>
                  <a:alpha val="0"/>
                </a:schemeClr>
              </a:gs>
            </a:gsLst>
            <a:lin ang="16200000"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5" name="熊大的PPT宝库13"/>
          <p:cNvSpPr/>
          <p:nvPr/>
        </p:nvSpPr>
        <p:spPr>
          <a:xfrm>
            <a:off x="5847835" y="2544762"/>
            <a:ext cx="485933" cy="280988"/>
          </a:xfrm>
          <a:custGeom>
            <a:avLst/>
            <a:gdLst>
              <a:gd name="connsiteX0" fmla="*/ 242970 w 485933"/>
              <a:gd name="connsiteY0" fmla="*/ 128588 h 128587"/>
              <a:gd name="connsiteX1" fmla="*/ 485934 w 485933"/>
              <a:gd name="connsiteY1" fmla="*/ 0 h 128587"/>
              <a:gd name="connsiteX2" fmla="*/ 0 w 485933"/>
              <a:gd name="connsiteY2" fmla="*/ 0 h 128587"/>
              <a:gd name="connsiteX3" fmla="*/ 242970 w 485933"/>
              <a:gd name="connsiteY3" fmla="*/ 128588 h 128587"/>
            </a:gdLst>
            <a:ahLst/>
            <a:cxnLst>
              <a:cxn ang="0">
                <a:pos x="connsiteX0" y="connsiteY0"/>
              </a:cxn>
              <a:cxn ang="0">
                <a:pos x="connsiteX1" y="connsiteY1"/>
              </a:cxn>
              <a:cxn ang="0">
                <a:pos x="connsiteX2" y="connsiteY2"/>
              </a:cxn>
              <a:cxn ang="0">
                <a:pos x="connsiteX3" y="connsiteY3"/>
              </a:cxn>
            </a:cxnLst>
            <a:rect l="l" t="t" r="r" b="b"/>
            <a:pathLst>
              <a:path w="485933" h="128587">
                <a:moveTo>
                  <a:pt x="242970" y="128588"/>
                </a:moveTo>
                <a:lnTo>
                  <a:pt x="485934" y="0"/>
                </a:lnTo>
                <a:lnTo>
                  <a:pt x="0" y="0"/>
                </a:lnTo>
                <a:lnTo>
                  <a:pt x="242970" y="128588"/>
                </a:lnTo>
                <a:close/>
              </a:path>
            </a:pathLst>
          </a:custGeom>
          <a:gradFill>
            <a:gsLst>
              <a:gs pos="0">
                <a:schemeClr val="accent1">
                  <a:lumMod val="75000"/>
                </a:schemeClr>
              </a:gs>
              <a:gs pos="74055">
                <a:schemeClr val="accent1">
                  <a:lumMod val="60000"/>
                  <a:lumOff val="40000"/>
                  <a:alpha val="0"/>
                </a:schemeClr>
              </a:gs>
            </a:gsLst>
            <a:lin ang="16200000"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6" name="熊大的PPT宝库14"/>
          <p:cNvSpPr/>
          <p:nvPr/>
        </p:nvSpPr>
        <p:spPr>
          <a:xfrm>
            <a:off x="7613142" y="2544762"/>
            <a:ext cx="485901" cy="280988"/>
          </a:xfrm>
          <a:custGeom>
            <a:avLst/>
            <a:gdLst>
              <a:gd name="connsiteX0" fmla="*/ 242951 w 485901"/>
              <a:gd name="connsiteY0" fmla="*/ 128588 h 128587"/>
              <a:gd name="connsiteX1" fmla="*/ 485901 w 485901"/>
              <a:gd name="connsiteY1" fmla="*/ 0 h 128587"/>
              <a:gd name="connsiteX2" fmla="*/ 0 w 485901"/>
              <a:gd name="connsiteY2" fmla="*/ 0 h 128587"/>
              <a:gd name="connsiteX3" fmla="*/ 242951 w 485901"/>
              <a:gd name="connsiteY3" fmla="*/ 128588 h 128587"/>
            </a:gdLst>
            <a:ahLst/>
            <a:cxnLst>
              <a:cxn ang="0">
                <a:pos x="connsiteX0" y="connsiteY0"/>
              </a:cxn>
              <a:cxn ang="0">
                <a:pos x="connsiteX1" y="connsiteY1"/>
              </a:cxn>
              <a:cxn ang="0">
                <a:pos x="connsiteX2" y="connsiteY2"/>
              </a:cxn>
              <a:cxn ang="0">
                <a:pos x="connsiteX3" y="connsiteY3"/>
              </a:cxn>
            </a:cxnLst>
            <a:rect l="l" t="t" r="r" b="b"/>
            <a:pathLst>
              <a:path w="485901" h="128587">
                <a:moveTo>
                  <a:pt x="242951" y="128588"/>
                </a:moveTo>
                <a:lnTo>
                  <a:pt x="485901" y="0"/>
                </a:lnTo>
                <a:lnTo>
                  <a:pt x="0" y="0"/>
                </a:lnTo>
                <a:lnTo>
                  <a:pt x="242951" y="128588"/>
                </a:lnTo>
                <a:close/>
              </a:path>
            </a:pathLst>
          </a:custGeom>
          <a:gradFill>
            <a:gsLst>
              <a:gs pos="0">
                <a:schemeClr val="accent1">
                  <a:lumMod val="75000"/>
                </a:schemeClr>
              </a:gs>
              <a:gs pos="74055">
                <a:schemeClr val="accent1">
                  <a:lumMod val="60000"/>
                  <a:lumOff val="40000"/>
                  <a:alpha val="0"/>
                </a:schemeClr>
              </a:gs>
            </a:gsLst>
            <a:lin ang="16200000"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82" name="熊大的PPT宝库15"/>
          <p:cNvSpPr/>
          <p:nvPr/>
        </p:nvSpPr>
        <p:spPr>
          <a:xfrm>
            <a:off x="1386493" y="2593257"/>
            <a:ext cx="1296000" cy="316029"/>
          </a:xfrm>
          <a:prstGeom prst="roundRect">
            <a:avLst>
              <a:gd name="adj" fmla="val 50000"/>
            </a:avLst>
          </a:prstGeom>
          <a:solidFill>
            <a:schemeClr val="accent1">
              <a:lumMod val="20000"/>
              <a:lumOff val="80000"/>
            </a:schemeClr>
          </a:solidFill>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9" name="熊大的PPT宝库16"/>
          <p:cNvSpPr/>
          <p:nvPr/>
        </p:nvSpPr>
        <p:spPr>
          <a:xfrm>
            <a:off x="1079500" y="1936750"/>
            <a:ext cx="1943100" cy="488950"/>
          </a:xfrm>
          <a:custGeom>
            <a:avLst/>
            <a:gdLst>
              <a:gd name="connsiteX0" fmla="*/ 0 w 1943100"/>
              <a:gd name="connsiteY0" fmla="*/ 146050 h 488950"/>
              <a:gd name="connsiteX1" fmla="*/ 146050 w 1943100"/>
              <a:gd name="connsiteY1" fmla="*/ 0 h 488950"/>
              <a:gd name="connsiteX2" fmla="*/ 1797050 w 1943100"/>
              <a:gd name="connsiteY2" fmla="*/ 0 h 488950"/>
              <a:gd name="connsiteX3" fmla="*/ 1943100 w 1943100"/>
              <a:gd name="connsiteY3" fmla="*/ 146050 h 488950"/>
              <a:gd name="connsiteX4" fmla="*/ 1943100 w 1943100"/>
              <a:gd name="connsiteY4" fmla="*/ 438150 h 488950"/>
              <a:gd name="connsiteX5" fmla="*/ 1892300 w 1943100"/>
              <a:gd name="connsiteY5" fmla="*/ 488950 h 488950"/>
              <a:gd name="connsiteX6" fmla="*/ 50800 w 1943100"/>
              <a:gd name="connsiteY6" fmla="*/ 488950 h 488950"/>
              <a:gd name="connsiteX7" fmla="*/ 0 w 1943100"/>
              <a:gd name="connsiteY7" fmla="*/ 438150 h 488950"/>
              <a:gd name="connsiteX8" fmla="*/ 0 w 1943100"/>
              <a:gd name="connsiteY8" fmla="*/ 146050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3100" h="488950">
                <a:moveTo>
                  <a:pt x="0" y="146050"/>
                </a:moveTo>
                <a:cubicBezTo>
                  <a:pt x="0" y="65386"/>
                  <a:pt x="65386" y="0"/>
                  <a:pt x="146050" y="0"/>
                </a:cubicBezTo>
                <a:lnTo>
                  <a:pt x="1797050" y="0"/>
                </a:lnTo>
                <a:cubicBezTo>
                  <a:pt x="1877714" y="0"/>
                  <a:pt x="1943100" y="65386"/>
                  <a:pt x="1943100" y="146050"/>
                </a:cubicBezTo>
                <a:lnTo>
                  <a:pt x="1943100" y="438150"/>
                </a:lnTo>
                <a:cubicBezTo>
                  <a:pt x="1943100" y="466204"/>
                  <a:pt x="1920354" y="488950"/>
                  <a:pt x="1892300" y="488950"/>
                </a:cubicBezTo>
                <a:lnTo>
                  <a:pt x="50800" y="488950"/>
                </a:lnTo>
                <a:cubicBezTo>
                  <a:pt x="22746" y="488950"/>
                  <a:pt x="0" y="466204"/>
                  <a:pt x="0" y="438150"/>
                </a:cubicBezTo>
                <a:lnTo>
                  <a:pt x="0" y="146050"/>
                </a:lnTo>
                <a:close/>
              </a:path>
            </a:pathLst>
          </a:custGeom>
          <a:solidFill>
            <a:schemeClr val="accent1">
              <a:alpha val="7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0" name="熊大的PPT宝库17"/>
          <p:cNvSpPr/>
          <p:nvPr/>
        </p:nvSpPr>
        <p:spPr>
          <a:xfrm>
            <a:off x="9169400" y="1936750"/>
            <a:ext cx="1943100" cy="488950"/>
          </a:xfrm>
          <a:custGeom>
            <a:avLst/>
            <a:gdLst>
              <a:gd name="connsiteX0" fmla="*/ 0 w 1943100"/>
              <a:gd name="connsiteY0" fmla="*/ 133350 h 488950"/>
              <a:gd name="connsiteX1" fmla="*/ 133350 w 1943100"/>
              <a:gd name="connsiteY1" fmla="*/ 0 h 488950"/>
              <a:gd name="connsiteX2" fmla="*/ 1809750 w 1943100"/>
              <a:gd name="connsiteY2" fmla="*/ 0 h 488950"/>
              <a:gd name="connsiteX3" fmla="*/ 1943100 w 1943100"/>
              <a:gd name="connsiteY3" fmla="*/ 133350 h 488950"/>
              <a:gd name="connsiteX4" fmla="*/ 1943100 w 1943100"/>
              <a:gd name="connsiteY4" fmla="*/ 438150 h 488950"/>
              <a:gd name="connsiteX5" fmla="*/ 1892300 w 1943100"/>
              <a:gd name="connsiteY5" fmla="*/ 488950 h 488950"/>
              <a:gd name="connsiteX6" fmla="*/ 50800 w 1943100"/>
              <a:gd name="connsiteY6" fmla="*/ 488950 h 488950"/>
              <a:gd name="connsiteX7" fmla="*/ 0 w 1943100"/>
              <a:gd name="connsiteY7" fmla="*/ 438150 h 488950"/>
              <a:gd name="connsiteX8" fmla="*/ 0 w 1943100"/>
              <a:gd name="connsiteY8" fmla="*/ 133350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3100" h="488950">
                <a:moveTo>
                  <a:pt x="0" y="133350"/>
                </a:moveTo>
                <a:cubicBezTo>
                  <a:pt x="0" y="59703"/>
                  <a:pt x="59690" y="0"/>
                  <a:pt x="133350" y="0"/>
                </a:cubicBezTo>
                <a:lnTo>
                  <a:pt x="1809750" y="0"/>
                </a:lnTo>
                <a:cubicBezTo>
                  <a:pt x="1883410" y="0"/>
                  <a:pt x="1943100" y="59703"/>
                  <a:pt x="1943100" y="133350"/>
                </a:cubicBezTo>
                <a:lnTo>
                  <a:pt x="1943100" y="438150"/>
                </a:lnTo>
                <a:cubicBezTo>
                  <a:pt x="1943100" y="466204"/>
                  <a:pt x="1920367" y="488950"/>
                  <a:pt x="1892300" y="488950"/>
                </a:cubicBezTo>
                <a:lnTo>
                  <a:pt x="50800" y="488950"/>
                </a:lnTo>
                <a:cubicBezTo>
                  <a:pt x="22733" y="488950"/>
                  <a:pt x="0" y="466204"/>
                  <a:pt x="0" y="438150"/>
                </a:cubicBezTo>
                <a:lnTo>
                  <a:pt x="0" y="133350"/>
                </a:lnTo>
                <a:close/>
              </a:path>
            </a:pathLst>
          </a:custGeom>
          <a:solidFill>
            <a:schemeClr val="accent1">
              <a:alpha val="7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1" name="熊大的PPT宝库18"/>
          <p:cNvSpPr/>
          <p:nvPr/>
        </p:nvSpPr>
        <p:spPr>
          <a:xfrm>
            <a:off x="3505200" y="1447800"/>
            <a:ext cx="5175250" cy="908050"/>
          </a:xfrm>
          <a:prstGeom prst="roundRect">
            <a:avLst>
              <a:gd name="adj" fmla="val 13559"/>
            </a:avLst>
          </a:prstGeom>
          <a:solidFill>
            <a:schemeClr val="accent1"/>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2" name="熊大的PPT宝库19"/>
          <p:cNvSpPr/>
          <p:nvPr/>
        </p:nvSpPr>
        <p:spPr>
          <a:xfrm>
            <a:off x="3511550" y="3054350"/>
            <a:ext cx="1631950" cy="1708150"/>
          </a:xfrm>
          <a:prstGeom prst="roundRect">
            <a:avLst>
              <a:gd name="adj" fmla="val 9058"/>
            </a:avLst>
          </a:prstGeom>
          <a:solidFill>
            <a:srgbClr val="FFFFFF"/>
          </a:solidFill>
          <a:ln w="6350" cap="flat">
            <a:noFill/>
            <a:prstDash val="solid"/>
            <a:miter/>
          </a:ln>
          <a:effectLst>
            <a:outerShdw blurRad="342900" sx="102000" sy="102000" algn="ctr" rotWithShape="0">
              <a:schemeClr val="accent1">
                <a:lumMod val="60000"/>
                <a:lumOff val="40000"/>
                <a:alpha val="17000"/>
              </a:schemeClr>
            </a:outerShdw>
          </a:effectLst>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3" name="熊大的PPT宝库20"/>
          <p:cNvSpPr/>
          <p:nvPr/>
        </p:nvSpPr>
        <p:spPr>
          <a:xfrm>
            <a:off x="5276850" y="3054350"/>
            <a:ext cx="1631950" cy="1708150"/>
          </a:xfrm>
          <a:prstGeom prst="roundRect">
            <a:avLst>
              <a:gd name="adj" fmla="val 8366"/>
            </a:avLst>
          </a:prstGeom>
          <a:solidFill>
            <a:srgbClr val="FFFFFF"/>
          </a:solidFill>
          <a:ln w="6350" cap="flat">
            <a:noFill/>
            <a:prstDash val="solid"/>
            <a:miter/>
          </a:ln>
          <a:effectLst>
            <a:outerShdw blurRad="342900" sx="102000" sy="102000" algn="ctr" rotWithShape="0">
              <a:schemeClr val="accent1">
                <a:lumMod val="60000"/>
                <a:lumOff val="40000"/>
                <a:alpha val="17000"/>
              </a:schemeClr>
            </a:outerShdw>
          </a:effectLst>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4" name="熊大的PPT宝库21"/>
          <p:cNvSpPr/>
          <p:nvPr/>
        </p:nvSpPr>
        <p:spPr>
          <a:xfrm>
            <a:off x="7048500" y="3054350"/>
            <a:ext cx="1631950" cy="1708150"/>
          </a:xfrm>
          <a:prstGeom prst="roundRect">
            <a:avLst>
              <a:gd name="adj" fmla="val 6291"/>
            </a:avLst>
          </a:prstGeom>
          <a:solidFill>
            <a:srgbClr val="FFFFFF"/>
          </a:solidFill>
          <a:ln w="6350" cap="flat">
            <a:noFill/>
            <a:prstDash val="solid"/>
            <a:miter/>
          </a:ln>
          <a:effectLst>
            <a:outerShdw blurRad="342900" sx="102000" sy="102000" algn="ctr" rotWithShape="0">
              <a:schemeClr val="accent1">
                <a:lumMod val="60000"/>
                <a:lumOff val="40000"/>
                <a:alpha val="17000"/>
              </a:schemeClr>
            </a:outerShdw>
          </a:effectLst>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7" name="熊大的PPT宝库22"/>
          <p:cNvSpPr/>
          <p:nvPr/>
        </p:nvSpPr>
        <p:spPr>
          <a:xfrm>
            <a:off x="3263900" y="5181600"/>
            <a:ext cx="5657850" cy="1041400"/>
          </a:xfrm>
          <a:prstGeom prst="roundRect">
            <a:avLst>
              <a:gd name="adj" fmla="val 11789"/>
            </a:avLst>
          </a:prstGeom>
          <a:solidFill>
            <a:schemeClr val="bg1">
              <a:lumMod val="75000"/>
              <a:alpha val="5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8" name="熊大的PPT宝库23"/>
          <p:cNvSpPr/>
          <p:nvPr/>
        </p:nvSpPr>
        <p:spPr>
          <a:xfrm>
            <a:off x="5148262" y="5536895"/>
            <a:ext cx="128587" cy="324459"/>
          </a:xfrm>
          <a:custGeom>
            <a:avLst/>
            <a:gdLst>
              <a:gd name="connsiteX0" fmla="*/ 128588 w 128587"/>
              <a:gd name="connsiteY0" fmla="*/ 162230 h 324459"/>
              <a:gd name="connsiteX1" fmla="*/ 0 w 128587"/>
              <a:gd name="connsiteY1" fmla="*/ 0 h 324459"/>
              <a:gd name="connsiteX2" fmla="*/ 0 w 128587"/>
              <a:gd name="connsiteY2" fmla="*/ 324459 h 324459"/>
              <a:gd name="connsiteX3" fmla="*/ 128588 w 128587"/>
              <a:gd name="connsiteY3" fmla="*/ 162230 h 324459"/>
            </a:gdLst>
            <a:ahLst/>
            <a:cxnLst>
              <a:cxn ang="0">
                <a:pos x="connsiteX0" y="connsiteY0"/>
              </a:cxn>
              <a:cxn ang="0">
                <a:pos x="connsiteX1" y="connsiteY1"/>
              </a:cxn>
              <a:cxn ang="0">
                <a:pos x="connsiteX2" y="connsiteY2"/>
              </a:cxn>
              <a:cxn ang="0">
                <a:pos x="connsiteX3" y="connsiteY3"/>
              </a:cxn>
            </a:cxnLst>
            <a:rect l="l" t="t" r="r" b="b"/>
            <a:pathLst>
              <a:path w="128587" h="324459">
                <a:moveTo>
                  <a:pt x="128588" y="162230"/>
                </a:moveTo>
                <a:lnTo>
                  <a:pt x="0" y="0"/>
                </a:lnTo>
                <a:lnTo>
                  <a:pt x="0" y="324459"/>
                </a:lnTo>
                <a:lnTo>
                  <a:pt x="128588" y="162230"/>
                </a:lnTo>
                <a:close/>
              </a:path>
            </a:pathLst>
          </a:custGeom>
          <a:gradFill>
            <a:gsLst>
              <a:gs pos="0">
                <a:srgbClr val="FFFFFF"/>
              </a:gs>
              <a:gs pos="74055">
                <a:srgbClr val="FFFFFF">
                  <a:alpha val="0"/>
                </a:srgbClr>
              </a:gs>
            </a:gsLst>
            <a:lin ang="10800000"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9" name="熊大的PPT宝库24"/>
          <p:cNvSpPr/>
          <p:nvPr/>
        </p:nvSpPr>
        <p:spPr>
          <a:xfrm>
            <a:off x="5059362" y="5536895"/>
            <a:ext cx="128587" cy="324459"/>
          </a:xfrm>
          <a:custGeom>
            <a:avLst/>
            <a:gdLst>
              <a:gd name="connsiteX0" fmla="*/ 128588 w 128587"/>
              <a:gd name="connsiteY0" fmla="*/ 162230 h 324459"/>
              <a:gd name="connsiteX1" fmla="*/ 0 w 128587"/>
              <a:gd name="connsiteY1" fmla="*/ 0 h 324459"/>
              <a:gd name="connsiteX2" fmla="*/ 0 w 128587"/>
              <a:gd name="connsiteY2" fmla="*/ 324459 h 324459"/>
              <a:gd name="connsiteX3" fmla="*/ 128588 w 128587"/>
              <a:gd name="connsiteY3" fmla="*/ 162230 h 324459"/>
            </a:gdLst>
            <a:ahLst/>
            <a:cxnLst>
              <a:cxn ang="0">
                <a:pos x="connsiteX0" y="connsiteY0"/>
              </a:cxn>
              <a:cxn ang="0">
                <a:pos x="connsiteX1" y="connsiteY1"/>
              </a:cxn>
              <a:cxn ang="0">
                <a:pos x="connsiteX2" y="connsiteY2"/>
              </a:cxn>
              <a:cxn ang="0">
                <a:pos x="connsiteX3" y="connsiteY3"/>
              </a:cxn>
            </a:cxnLst>
            <a:rect l="l" t="t" r="r" b="b"/>
            <a:pathLst>
              <a:path w="128587" h="324459">
                <a:moveTo>
                  <a:pt x="128588" y="162230"/>
                </a:moveTo>
                <a:lnTo>
                  <a:pt x="0" y="0"/>
                </a:lnTo>
                <a:lnTo>
                  <a:pt x="0" y="324459"/>
                </a:lnTo>
                <a:lnTo>
                  <a:pt x="128588" y="162230"/>
                </a:lnTo>
                <a:close/>
              </a:path>
            </a:pathLst>
          </a:custGeom>
          <a:gradFill>
            <a:gsLst>
              <a:gs pos="0">
                <a:srgbClr val="FFFFFF"/>
              </a:gs>
              <a:gs pos="74055">
                <a:srgbClr val="FFFFFF">
                  <a:alpha val="0"/>
                </a:srgbClr>
              </a:gs>
            </a:gsLst>
            <a:lin ang="10800000"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20" name="熊大的PPT宝库25"/>
          <p:cNvSpPr/>
          <p:nvPr/>
        </p:nvSpPr>
        <p:spPr>
          <a:xfrm>
            <a:off x="7040562" y="5536895"/>
            <a:ext cx="128587" cy="324459"/>
          </a:xfrm>
          <a:custGeom>
            <a:avLst/>
            <a:gdLst>
              <a:gd name="connsiteX0" fmla="*/ 128588 w 128587"/>
              <a:gd name="connsiteY0" fmla="*/ 162230 h 324459"/>
              <a:gd name="connsiteX1" fmla="*/ 0 w 128587"/>
              <a:gd name="connsiteY1" fmla="*/ 0 h 324459"/>
              <a:gd name="connsiteX2" fmla="*/ 0 w 128587"/>
              <a:gd name="connsiteY2" fmla="*/ 324459 h 324459"/>
              <a:gd name="connsiteX3" fmla="*/ 128588 w 128587"/>
              <a:gd name="connsiteY3" fmla="*/ 162230 h 324459"/>
            </a:gdLst>
            <a:ahLst/>
            <a:cxnLst>
              <a:cxn ang="0">
                <a:pos x="connsiteX0" y="connsiteY0"/>
              </a:cxn>
              <a:cxn ang="0">
                <a:pos x="connsiteX1" y="connsiteY1"/>
              </a:cxn>
              <a:cxn ang="0">
                <a:pos x="connsiteX2" y="connsiteY2"/>
              </a:cxn>
              <a:cxn ang="0">
                <a:pos x="connsiteX3" y="connsiteY3"/>
              </a:cxn>
            </a:cxnLst>
            <a:rect l="l" t="t" r="r" b="b"/>
            <a:pathLst>
              <a:path w="128587" h="324459">
                <a:moveTo>
                  <a:pt x="128588" y="162230"/>
                </a:moveTo>
                <a:lnTo>
                  <a:pt x="0" y="0"/>
                </a:lnTo>
                <a:lnTo>
                  <a:pt x="0" y="324459"/>
                </a:lnTo>
                <a:lnTo>
                  <a:pt x="128588" y="162230"/>
                </a:lnTo>
                <a:close/>
              </a:path>
            </a:pathLst>
          </a:custGeom>
          <a:gradFill>
            <a:gsLst>
              <a:gs pos="0">
                <a:srgbClr val="FFFFFF"/>
              </a:gs>
              <a:gs pos="74055">
                <a:srgbClr val="FFFFFF">
                  <a:alpha val="0"/>
                </a:srgbClr>
              </a:gs>
            </a:gsLst>
            <a:lin ang="10800000"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21" name="熊大的PPT宝库26"/>
          <p:cNvSpPr/>
          <p:nvPr/>
        </p:nvSpPr>
        <p:spPr>
          <a:xfrm>
            <a:off x="6951662" y="5536895"/>
            <a:ext cx="128587" cy="324459"/>
          </a:xfrm>
          <a:custGeom>
            <a:avLst/>
            <a:gdLst>
              <a:gd name="connsiteX0" fmla="*/ 128588 w 128587"/>
              <a:gd name="connsiteY0" fmla="*/ 162230 h 324459"/>
              <a:gd name="connsiteX1" fmla="*/ 0 w 128587"/>
              <a:gd name="connsiteY1" fmla="*/ 0 h 324459"/>
              <a:gd name="connsiteX2" fmla="*/ 0 w 128587"/>
              <a:gd name="connsiteY2" fmla="*/ 324459 h 324459"/>
              <a:gd name="connsiteX3" fmla="*/ 128588 w 128587"/>
              <a:gd name="connsiteY3" fmla="*/ 162230 h 324459"/>
            </a:gdLst>
            <a:ahLst/>
            <a:cxnLst>
              <a:cxn ang="0">
                <a:pos x="connsiteX0" y="connsiteY0"/>
              </a:cxn>
              <a:cxn ang="0">
                <a:pos x="connsiteX1" y="connsiteY1"/>
              </a:cxn>
              <a:cxn ang="0">
                <a:pos x="connsiteX2" y="connsiteY2"/>
              </a:cxn>
              <a:cxn ang="0">
                <a:pos x="connsiteX3" y="connsiteY3"/>
              </a:cxn>
            </a:cxnLst>
            <a:rect l="l" t="t" r="r" b="b"/>
            <a:pathLst>
              <a:path w="128587" h="324459">
                <a:moveTo>
                  <a:pt x="128588" y="162230"/>
                </a:moveTo>
                <a:lnTo>
                  <a:pt x="0" y="0"/>
                </a:lnTo>
                <a:lnTo>
                  <a:pt x="0" y="324459"/>
                </a:lnTo>
                <a:lnTo>
                  <a:pt x="128588" y="162230"/>
                </a:lnTo>
                <a:close/>
              </a:path>
            </a:pathLst>
          </a:custGeom>
          <a:gradFill>
            <a:gsLst>
              <a:gs pos="0">
                <a:srgbClr val="FFFFFF"/>
              </a:gs>
              <a:gs pos="74055">
                <a:srgbClr val="FFFFFF">
                  <a:alpha val="0"/>
                </a:srgbClr>
              </a:gs>
            </a:gsLst>
            <a:lin ang="10800000"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22" name="熊大的PPT宝库27"/>
          <p:cNvSpPr/>
          <p:nvPr/>
        </p:nvSpPr>
        <p:spPr>
          <a:xfrm>
            <a:off x="1497933" y="5045075"/>
            <a:ext cx="483933" cy="295275"/>
          </a:xfrm>
          <a:custGeom>
            <a:avLst/>
            <a:gdLst>
              <a:gd name="connsiteX0" fmla="*/ 241967 w 483933"/>
              <a:gd name="connsiteY0" fmla="*/ 295275 h 295275"/>
              <a:gd name="connsiteX1" fmla="*/ 483934 w 483933"/>
              <a:gd name="connsiteY1" fmla="*/ 0 h 295275"/>
              <a:gd name="connsiteX2" fmla="*/ 0 w 483933"/>
              <a:gd name="connsiteY2" fmla="*/ 0 h 295275"/>
              <a:gd name="connsiteX3" fmla="*/ 241967 w 483933"/>
              <a:gd name="connsiteY3" fmla="*/ 295275 h 295275"/>
            </a:gdLst>
            <a:ahLst/>
            <a:cxnLst>
              <a:cxn ang="0">
                <a:pos x="connsiteX0" y="connsiteY0"/>
              </a:cxn>
              <a:cxn ang="0">
                <a:pos x="connsiteX1" y="connsiteY1"/>
              </a:cxn>
              <a:cxn ang="0">
                <a:pos x="connsiteX2" y="connsiteY2"/>
              </a:cxn>
              <a:cxn ang="0">
                <a:pos x="connsiteX3" y="connsiteY3"/>
              </a:cxn>
            </a:cxnLst>
            <a:rect l="l" t="t" r="r" b="b"/>
            <a:pathLst>
              <a:path w="483933" h="295275">
                <a:moveTo>
                  <a:pt x="241967" y="295275"/>
                </a:moveTo>
                <a:lnTo>
                  <a:pt x="483934" y="0"/>
                </a:lnTo>
                <a:lnTo>
                  <a:pt x="0" y="0"/>
                </a:lnTo>
                <a:lnTo>
                  <a:pt x="241967" y="295275"/>
                </a:lnTo>
                <a:close/>
              </a:path>
            </a:pathLst>
          </a:custGeom>
          <a:gradFill>
            <a:gsLst>
              <a:gs pos="0">
                <a:schemeClr val="accent1">
                  <a:lumMod val="75000"/>
                </a:schemeClr>
              </a:gs>
              <a:gs pos="74055">
                <a:schemeClr val="accent1">
                  <a:lumMod val="60000"/>
                  <a:lumOff val="40000"/>
                  <a:alpha val="0"/>
                </a:schemeClr>
              </a:gs>
            </a:gsLst>
            <a:lin ang="16200000"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23" name="熊大的PPT宝库28"/>
          <p:cNvSpPr/>
          <p:nvPr/>
        </p:nvSpPr>
        <p:spPr>
          <a:xfrm>
            <a:off x="10241851" y="5045075"/>
            <a:ext cx="483996" cy="295275"/>
          </a:xfrm>
          <a:custGeom>
            <a:avLst/>
            <a:gdLst>
              <a:gd name="connsiteX0" fmla="*/ 241998 w 483996"/>
              <a:gd name="connsiteY0" fmla="*/ 295275 h 295275"/>
              <a:gd name="connsiteX1" fmla="*/ 483997 w 483996"/>
              <a:gd name="connsiteY1" fmla="*/ 0 h 295275"/>
              <a:gd name="connsiteX2" fmla="*/ 0 w 483996"/>
              <a:gd name="connsiteY2" fmla="*/ 0 h 295275"/>
              <a:gd name="connsiteX3" fmla="*/ 241998 w 483996"/>
              <a:gd name="connsiteY3" fmla="*/ 295275 h 295275"/>
            </a:gdLst>
            <a:ahLst/>
            <a:cxnLst>
              <a:cxn ang="0">
                <a:pos x="connsiteX0" y="connsiteY0"/>
              </a:cxn>
              <a:cxn ang="0">
                <a:pos x="connsiteX1" y="connsiteY1"/>
              </a:cxn>
              <a:cxn ang="0">
                <a:pos x="connsiteX2" y="connsiteY2"/>
              </a:cxn>
              <a:cxn ang="0">
                <a:pos x="connsiteX3" y="connsiteY3"/>
              </a:cxn>
            </a:cxnLst>
            <a:rect l="l" t="t" r="r" b="b"/>
            <a:pathLst>
              <a:path w="483996" h="295275">
                <a:moveTo>
                  <a:pt x="241998" y="295275"/>
                </a:moveTo>
                <a:lnTo>
                  <a:pt x="483997" y="0"/>
                </a:lnTo>
                <a:lnTo>
                  <a:pt x="0" y="0"/>
                </a:lnTo>
                <a:lnTo>
                  <a:pt x="241998" y="295275"/>
                </a:lnTo>
                <a:close/>
              </a:path>
            </a:pathLst>
          </a:custGeom>
          <a:gradFill>
            <a:gsLst>
              <a:gs pos="0">
                <a:schemeClr val="accent1">
                  <a:lumMod val="75000"/>
                </a:schemeClr>
              </a:gs>
              <a:gs pos="74055">
                <a:schemeClr val="accent1">
                  <a:lumMod val="60000"/>
                  <a:lumOff val="40000"/>
                  <a:alpha val="0"/>
                </a:schemeClr>
              </a:gs>
            </a:gsLst>
            <a:lin ang="16200000"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24" name="熊大的PPT宝库29"/>
          <p:cNvSpPr txBox="1"/>
          <p:nvPr/>
        </p:nvSpPr>
        <p:spPr>
          <a:xfrm>
            <a:off x="1497051" y="1996559"/>
            <a:ext cx="1107996"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潜在客户</a:t>
            </a: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6" name="熊大的PPT宝库30"/>
          <p:cNvSpPr txBox="1"/>
          <p:nvPr/>
        </p:nvSpPr>
        <p:spPr>
          <a:xfrm>
            <a:off x="9579028" y="1996559"/>
            <a:ext cx="1107996"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平台内容</a:t>
            </a: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8" name="熊大的PPT宝库31"/>
          <p:cNvSpPr txBox="1"/>
          <p:nvPr/>
        </p:nvSpPr>
        <p:spPr>
          <a:xfrm>
            <a:off x="4384671" y="1584249"/>
            <a:ext cx="3416320"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公司与员工客户产生触达的手段</a:t>
            </a: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9" name="熊大的PPT宝库32"/>
          <p:cNvSpPr txBox="1"/>
          <p:nvPr/>
        </p:nvSpPr>
        <p:spPr>
          <a:xfrm>
            <a:off x="3780526" y="1974590"/>
            <a:ext cx="800219"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内容宣发</a:t>
            </a:r>
            <a:endParaRPr kumimoji="0" lang="en-US" sz="1200" b="0" i="0" u="none" strike="noStrike" kern="1200" cap="none" spc="0" normalizeH="0" baseline="0" noProof="0" dirty="0">
              <a:ln>
                <a:noFill/>
              </a:ln>
              <a:solidFill>
                <a:srgbClr val="FFFFFF"/>
              </a:solidFill>
              <a:effectLst/>
              <a:uLnTx/>
              <a:uFillTx/>
              <a:cs typeface="+mn-ea"/>
              <a:sym typeface="+mn-lt"/>
            </a:endParaRPr>
          </a:p>
        </p:txBody>
      </p:sp>
      <p:sp>
        <p:nvSpPr>
          <p:cNvPr id="30" name="熊大的PPT宝库33"/>
          <p:cNvSpPr txBox="1"/>
          <p:nvPr/>
        </p:nvSpPr>
        <p:spPr>
          <a:xfrm>
            <a:off x="4545405" y="1974590"/>
            <a:ext cx="800219"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活动营销</a:t>
            </a:r>
            <a:endParaRPr kumimoji="0" lang="en-US" sz="1200" b="0" i="0" u="none" strike="noStrike" kern="1200" cap="none" spc="0" normalizeH="0" baseline="0" noProof="0" dirty="0">
              <a:ln>
                <a:noFill/>
              </a:ln>
              <a:solidFill>
                <a:srgbClr val="FFFFFF"/>
              </a:solidFill>
              <a:effectLst/>
              <a:uLnTx/>
              <a:uFillTx/>
              <a:cs typeface="+mn-ea"/>
              <a:sym typeface="+mn-lt"/>
            </a:endParaRPr>
          </a:p>
        </p:txBody>
      </p:sp>
      <p:sp>
        <p:nvSpPr>
          <p:cNvPr id="31" name="熊大的PPT宝库34"/>
          <p:cNvSpPr txBox="1"/>
          <p:nvPr/>
        </p:nvSpPr>
        <p:spPr>
          <a:xfrm>
            <a:off x="5310282" y="1974590"/>
            <a:ext cx="800219"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游戏玩法</a:t>
            </a:r>
            <a:endParaRPr kumimoji="0" lang="en-US" sz="1200" b="0" i="0" u="none" strike="noStrike" kern="1200" cap="none" spc="0" normalizeH="0" baseline="0" noProof="0" dirty="0">
              <a:ln>
                <a:noFill/>
              </a:ln>
              <a:solidFill>
                <a:srgbClr val="FFFFFF"/>
              </a:solidFill>
              <a:effectLst/>
              <a:uLnTx/>
              <a:uFillTx/>
              <a:cs typeface="+mn-ea"/>
              <a:sym typeface="+mn-lt"/>
            </a:endParaRPr>
          </a:p>
        </p:txBody>
      </p:sp>
      <p:sp>
        <p:nvSpPr>
          <p:cNvPr id="32" name="熊大的PPT宝库35"/>
          <p:cNvSpPr txBox="1"/>
          <p:nvPr/>
        </p:nvSpPr>
        <p:spPr>
          <a:xfrm>
            <a:off x="6075159" y="1974590"/>
            <a:ext cx="800219"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权益引导</a:t>
            </a:r>
            <a:endParaRPr kumimoji="0" lang="en-US" sz="1200" b="0" i="0" u="none" strike="noStrike" kern="1200" cap="none" spc="0" normalizeH="0" baseline="0" noProof="0" dirty="0">
              <a:ln>
                <a:noFill/>
              </a:ln>
              <a:solidFill>
                <a:srgbClr val="FFFFFF"/>
              </a:solidFill>
              <a:effectLst/>
              <a:uLnTx/>
              <a:uFillTx/>
              <a:cs typeface="+mn-ea"/>
              <a:sym typeface="+mn-lt"/>
            </a:endParaRPr>
          </a:p>
        </p:txBody>
      </p:sp>
      <p:sp>
        <p:nvSpPr>
          <p:cNvPr id="33" name="熊大的PPT宝库36"/>
          <p:cNvSpPr txBox="1"/>
          <p:nvPr/>
        </p:nvSpPr>
        <p:spPr>
          <a:xfrm>
            <a:off x="6840033" y="1974590"/>
            <a:ext cx="800219"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广告投放</a:t>
            </a:r>
            <a:endParaRPr kumimoji="0" lang="en-US" sz="1200" b="0" i="0" u="none" strike="noStrike" kern="1200" cap="none" spc="0" normalizeH="0" baseline="0" noProof="0" dirty="0">
              <a:ln>
                <a:noFill/>
              </a:ln>
              <a:solidFill>
                <a:srgbClr val="FFFFFF"/>
              </a:solidFill>
              <a:effectLst/>
              <a:uLnTx/>
              <a:uFillTx/>
              <a:cs typeface="+mn-ea"/>
              <a:sym typeface="+mn-lt"/>
            </a:endParaRPr>
          </a:p>
        </p:txBody>
      </p:sp>
      <p:sp>
        <p:nvSpPr>
          <p:cNvPr id="34" name="熊大的PPT宝库37"/>
          <p:cNvSpPr txBox="1"/>
          <p:nvPr/>
        </p:nvSpPr>
        <p:spPr>
          <a:xfrm>
            <a:off x="7604909" y="1974590"/>
            <a:ext cx="800219"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渠道合作</a:t>
            </a:r>
            <a:endParaRPr kumimoji="0" lang="en-US" sz="1200" b="0" i="0" u="none" strike="noStrike" kern="1200" cap="none" spc="0" normalizeH="0" baseline="0" noProof="0" dirty="0">
              <a:ln>
                <a:noFill/>
              </a:ln>
              <a:solidFill>
                <a:srgbClr val="FFFFFF"/>
              </a:solidFill>
              <a:effectLst/>
              <a:uLnTx/>
              <a:uFillTx/>
              <a:cs typeface="+mn-ea"/>
              <a:sym typeface="+mn-lt"/>
            </a:endParaRPr>
          </a:p>
        </p:txBody>
      </p:sp>
      <p:sp>
        <p:nvSpPr>
          <p:cNvPr id="36" name="熊大的PPT宝库38"/>
          <p:cNvSpPr txBox="1"/>
          <p:nvPr/>
        </p:nvSpPr>
        <p:spPr>
          <a:xfrm>
            <a:off x="3876121" y="3233714"/>
            <a:ext cx="902811"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cs typeface="+mn-ea"/>
                <a:sym typeface="+mn-lt"/>
              </a:rPr>
              <a:t>私人场景</a:t>
            </a:r>
            <a:endParaRPr kumimoji="0" lang="en-US" sz="1400" b="0" i="0" u="none" strike="noStrike" kern="1200" cap="none" spc="0" normalizeH="0" baseline="0" noProof="0" dirty="0">
              <a:ln>
                <a:noFill/>
              </a:ln>
              <a:solidFill>
                <a:srgbClr val="00329D"/>
              </a:solidFill>
              <a:effectLst/>
              <a:uLnTx/>
              <a:uFillTx/>
              <a:cs typeface="+mn-ea"/>
              <a:sym typeface="+mn-lt"/>
            </a:endParaRPr>
          </a:p>
        </p:txBody>
      </p:sp>
      <p:sp>
        <p:nvSpPr>
          <p:cNvPr id="38" name="熊大的PPT宝库39"/>
          <p:cNvSpPr txBox="1"/>
          <p:nvPr/>
        </p:nvSpPr>
        <p:spPr>
          <a:xfrm>
            <a:off x="5641420" y="3233714"/>
            <a:ext cx="902811"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cs typeface="+mn-ea"/>
                <a:sym typeface="+mn-lt"/>
              </a:rPr>
              <a:t>公共场景</a:t>
            </a:r>
            <a:endParaRPr kumimoji="0" lang="en-US" sz="1400" b="0" i="0" u="none" strike="noStrike" kern="1200" cap="none" spc="0" normalizeH="0" baseline="0" noProof="0" dirty="0">
              <a:ln>
                <a:noFill/>
              </a:ln>
              <a:solidFill>
                <a:srgbClr val="00329D"/>
              </a:solidFill>
              <a:effectLst/>
              <a:uLnTx/>
              <a:uFillTx/>
              <a:cs typeface="+mn-ea"/>
              <a:sym typeface="+mn-lt"/>
            </a:endParaRPr>
          </a:p>
        </p:txBody>
      </p:sp>
      <p:sp>
        <p:nvSpPr>
          <p:cNvPr id="40" name="熊大的PPT宝库40"/>
          <p:cNvSpPr txBox="1"/>
          <p:nvPr/>
        </p:nvSpPr>
        <p:spPr>
          <a:xfrm>
            <a:off x="7400407" y="3233714"/>
            <a:ext cx="928139" cy="30777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cs typeface="+mn-ea"/>
                <a:sym typeface="+mn-lt"/>
              </a:rPr>
              <a:t>商业场景</a:t>
            </a:r>
            <a:endParaRPr kumimoji="0" lang="en-US" sz="1400" b="0" i="0" u="none" strike="noStrike" kern="1200" cap="none" spc="0" normalizeH="0" baseline="0" noProof="0" dirty="0">
              <a:ln>
                <a:noFill/>
              </a:ln>
              <a:solidFill>
                <a:srgbClr val="00329D"/>
              </a:solidFill>
              <a:effectLst/>
              <a:uLnTx/>
              <a:uFillTx/>
              <a:cs typeface="+mn-ea"/>
              <a:sym typeface="+mn-lt"/>
            </a:endParaRPr>
          </a:p>
        </p:txBody>
      </p:sp>
      <p:sp>
        <p:nvSpPr>
          <p:cNvPr id="41" name="熊大的PPT宝库41"/>
          <p:cNvSpPr txBox="1"/>
          <p:nvPr/>
        </p:nvSpPr>
        <p:spPr>
          <a:xfrm>
            <a:off x="979591" y="5409471"/>
            <a:ext cx="1569660" cy="646331"/>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激发客户</a:t>
            </a:r>
            <a:endParaRPr kumimoji="0" lang="en-US" altLang="zh-CN" sz="18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产生购买行为</a:t>
            </a: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42" name="熊大的PPT宝库42"/>
          <p:cNvSpPr txBox="1"/>
          <p:nvPr/>
        </p:nvSpPr>
        <p:spPr>
          <a:xfrm>
            <a:off x="9699018" y="5409471"/>
            <a:ext cx="1569661" cy="646331"/>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提炼曝光</a:t>
            </a:r>
            <a:endParaRPr kumimoji="0" lang="en-US" altLang="zh-CN" sz="18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内容价值优势</a:t>
            </a: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44" name="熊大的PPT宝库43"/>
          <p:cNvSpPr txBox="1"/>
          <p:nvPr/>
        </p:nvSpPr>
        <p:spPr>
          <a:xfrm>
            <a:off x="3925923" y="5359702"/>
            <a:ext cx="595036" cy="338554"/>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触达</a:t>
            </a:r>
            <a:endParaRPr kumimoji="0" lang="en-US" sz="1600" b="0" i="0" u="none" strike="noStrike" kern="1200" cap="none" spc="0" normalizeH="0" baseline="0" noProof="0" dirty="0">
              <a:ln>
                <a:noFill/>
              </a:ln>
              <a:solidFill>
                <a:srgbClr val="000000"/>
              </a:solidFill>
              <a:effectLst/>
              <a:uLnTx/>
              <a:uFillTx/>
              <a:cs typeface="+mn-ea"/>
              <a:sym typeface="+mn-lt"/>
            </a:endParaRPr>
          </a:p>
        </p:txBody>
      </p:sp>
      <p:sp>
        <p:nvSpPr>
          <p:cNvPr id="46" name="熊大的PPT宝库44"/>
          <p:cNvSpPr txBox="1"/>
          <p:nvPr/>
        </p:nvSpPr>
        <p:spPr>
          <a:xfrm>
            <a:off x="5784579" y="5359702"/>
            <a:ext cx="595036" cy="338554"/>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吸引</a:t>
            </a:r>
            <a:endParaRPr kumimoji="0" lang="en-US" sz="1600" b="0" i="0" u="none" strike="noStrike" kern="1200" cap="none" spc="0" normalizeH="0" baseline="0" noProof="0" dirty="0">
              <a:ln>
                <a:noFill/>
              </a:ln>
              <a:solidFill>
                <a:srgbClr val="000000"/>
              </a:solidFill>
              <a:effectLst/>
              <a:uLnTx/>
              <a:uFillTx/>
              <a:cs typeface="+mn-ea"/>
              <a:sym typeface="+mn-lt"/>
            </a:endParaRPr>
          </a:p>
        </p:txBody>
      </p:sp>
      <p:sp>
        <p:nvSpPr>
          <p:cNvPr id="48" name="熊大的PPT宝库45"/>
          <p:cNvSpPr txBox="1"/>
          <p:nvPr/>
        </p:nvSpPr>
        <p:spPr>
          <a:xfrm>
            <a:off x="7613142" y="5359702"/>
            <a:ext cx="595036" cy="338554"/>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转化</a:t>
            </a:r>
            <a:endParaRPr kumimoji="0" lang="en-US" sz="1600" b="0" i="0" u="none" strike="noStrike" kern="1200" cap="none" spc="0" normalizeH="0" baseline="0" noProof="0" dirty="0">
              <a:ln>
                <a:noFill/>
              </a:ln>
              <a:solidFill>
                <a:srgbClr val="000000"/>
              </a:solidFill>
              <a:effectLst/>
              <a:uLnTx/>
              <a:uFillTx/>
              <a:cs typeface="+mn-ea"/>
              <a:sym typeface="+mn-lt"/>
            </a:endParaRPr>
          </a:p>
        </p:txBody>
      </p:sp>
      <p:sp>
        <p:nvSpPr>
          <p:cNvPr id="49" name="熊大的PPT宝库46"/>
          <p:cNvSpPr txBox="1"/>
          <p:nvPr/>
        </p:nvSpPr>
        <p:spPr>
          <a:xfrm>
            <a:off x="1743276" y="2591761"/>
            <a:ext cx="615553" cy="252441"/>
          </a:xfrm>
          <a:prstGeom prst="rect">
            <a:avLst/>
          </a:prstGeom>
          <a:noFill/>
        </p:spPr>
        <p:txBody>
          <a:bodyPr wrap="none" lIns="0" tIns="0" rIns="0" bIns="0" rtlCol="0" anchor="ctr" anchorCtr="0">
            <a:sp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既往客户</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54" name="熊大的PPT宝库47"/>
          <p:cNvSpPr txBox="1"/>
          <p:nvPr/>
        </p:nvSpPr>
        <p:spPr>
          <a:xfrm>
            <a:off x="9646289" y="2593159"/>
            <a:ext cx="1077218" cy="252441"/>
          </a:xfrm>
          <a:prstGeom prst="rect">
            <a:avLst/>
          </a:prstGeom>
          <a:noFill/>
        </p:spPr>
        <p:txBody>
          <a:bodyPr wrap="none" lIns="0" tIns="0" rIns="0" bIns="0" rtlCol="0" anchor="ctr" anchorCtr="0">
            <a:sp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小型产品说明会</a:t>
            </a:r>
            <a:endParaRPr kumimoji="0" lang="en-US" altLang="zh-CN" sz="1200" b="0" i="0" u="none" strike="noStrike" kern="1200" cap="none" spc="0" normalizeH="0" baseline="0" noProof="0" dirty="0">
              <a:ln>
                <a:noFill/>
              </a:ln>
              <a:solidFill>
                <a:srgbClr val="000000"/>
              </a:solidFill>
              <a:effectLst/>
              <a:uLnTx/>
              <a:uFillTx/>
              <a:cs typeface="+mn-ea"/>
              <a:sym typeface="+mn-lt"/>
            </a:endParaRPr>
          </a:p>
        </p:txBody>
      </p:sp>
      <p:sp>
        <p:nvSpPr>
          <p:cNvPr id="55" name="熊大的PPT宝库48"/>
          <p:cNvSpPr txBox="1"/>
          <p:nvPr/>
        </p:nvSpPr>
        <p:spPr>
          <a:xfrm>
            <a:off x="9954066" y="2980808"/>
            <a:ext cx="461665" cy="252441"/>
          </a:xfrm>
          <a:prstGeom prst="rect">
            <a:avLst/>
          </a:prstGeom>
          <a:noFill/>
        </p:spPr>
        <p:txBody>
          <a:bodyPr wrap="none" lIns="0" tIns="0" rIns="0" bIns="0" rtlCol="0" anchor="ctr" anchorCtr="0">
            <a:sp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品酒会</a:t>
            </a:r>
            <a:endParaRPr kumimoji="0" lang="en-US" altLang="zh-CN" sz="1200" b="0" i="0" u="none" strike="noStrike" kern="1200" cap="none" spc="0" normalizeH="0" baseline="0" noProof="0" dirty="0">
              <a:ln>
                <a:noFill/>
              </a:ln>
              <a:solidFill>
                <a:srgbClr val="000000"/>
              </a:solidFill>
              <a:effectLst/>
              <a:uLnTx/>
              <a:uFillTx/>
              <a:cs typeface="+mn-ea"/>
              <a:sym typeface="+mn-lt"/>
            </a:endParaRPr>
          </a:p>
        </p:txBody>
      </p:sp>
      <p:sp>
        <p:nvSpPr>
          <p:cNvPr id="56" name="熊大的PPT宝库49"/>
          <p:cNvSpPr txBox="1"/>
          <p:nvPr/>
        </p:nvSpPr>
        <p:spPr>
          <a:xfrm>
            <a:off x="9646289" y="3368457"/>
            <a:ext cx="1077218" cy="252441"/>
          </a:xfrm>
          <a:prstGeom prst="rect">
            <a:avLst/>
          </a:prstGeom>
          <a:noFill/>
        </p:spPr>
        <p:txBody>
          <a:bodyPr wrap="none" lIns="0" tIns="0" rIns="0" bIns="0" rtlCol="0" anchor="ctr" anchorCtr="0">
            <a:sp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客户权益介绍会</a:t>
            </a:r>
            <a:endParaRPr kumimoji="0" lang="en-US" altLang="zh-CN" sz="1200" b="0" i="0" u="none" strike="noStrike" kern="1200" cap="none" spc="0" normalizeH="0" baseline="0" noProof="0" dirty="0">
              <a:ln>
                <a:noFill/>
              </a:ln>
              <a:solidFill>
                <a:srgbClr val="000000"/>
              </a:solidFill>
              <a:effectLst/>
              <a:uLnTx/>
              <a:uFillTx/>
              <a:cs typeface="+mn-ea"/>
              <a:sym typeface="+mn-lt"/>
            </a:endParaRPr>
          </a:p>
        </p:txBody>
      </p:sp>
      <p:sp>
        <p:nvSpPr>
          <p:cNvPr id="57" name="熊大的PPT宝库50"/>
          <p:cNvSpPr txBox="1"/>
          <p:nvPr/>
        </p:nvSpPr>
        <p:spPr>
          <a:xfrm>
            <a:off x="9646289" y="3756106"/>
            <a:ext cx="1077218" cy="252441"/>
          </a:xfrm>
          <a:prstGeom prst="rect">
            <a:avLst/>
          </a:prstGeom>
          <a:noFill/>
        </p:spPr>
        <p:txBody>
          <a:bodyPr wrap="none" lIns="0" tIns="0" rIns="0" bIns="0" rtlCol="0" anchor="ctr" anchorCtr="0">
            <a:sp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客户服务宣导会</a:t>
            </a:r>
            <a:endParaRPr kumimoji="0" lang="en-US" altLang="zh-CN" sz="1200" b="0" i="0" u="none" strike="noStrike" kern="1200" cap="none" spc="0" normalizeH="0" baseline="0" noProof="0" dirty="0">
              <a:ln>
                <a:noFill/>
              </a:ln>
              <a:solidFill>
                <a:srgbClr val="000000"/>
              </a:solidFill>
              <a:effectLst/>
              <a:uLnTx/>
              <a:uFillTx/>
              <a:cs typeface="+mn-ea"/>
              <a:sym typeface="+mn-lt"/>
            </a:endParaRPr>
          </a:p>
        </p:txBody>
      </p:sp>
      <p:sp>
        <p:nvSpPr>
          <p:cNvPr id="59" name="熊大的PPT宝库51"/>
          <p:cNvSpPr txBox="1"/>
          <p:nvPr/>
        </p:nvSpPr>
        <p:spPr>
          <a:xfrm>
            <a:off x="4024561" y="3580644"/>
            <a:ext cx="538609" cy="196657"/>
          </a:xfrm>
          <a:prstGeom prst="rect">
            <a:avLst/>
          </a:prstGeom>
          <a:noFill/>
        </p:spPr>
        <p:txBody>
          <a:bodyPr wrap="none" lIns="0" tIns="0" rIns="0" bIns="0" rtlCol="0">
            <a:sp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家庭私宴</a:t>
            </a:r>
            <a:endParaRPr kumimoji="0" lang="en-US" sz="1050" b="0" i="0" u="none" strike="noStrike" kern="1200" cap="none" spc="0" normalizeH="0" baseline="0" noProof="0" dirty="0">
              <a:ln>
                <a:noFill/>
              </a:ln>
              <a:solidFill>
                <a:srgbClr val="000000"/>
              </a:solidFill>
              <a:effectLst/>
              <a:uLnTx/>
              <a:uFillTx/>
              <a:cs typeface="+mn-ea"/>
              <a:sym typeface="+mn-lt"/>
            </a:endParaRPr>
          </a:p>
        </p:txBody>
      </p:sp>
      <p:sp>
        <p:nvSpPr>
          <p:cNvPr id="60" name="熊大的PPT宝库52"/>
          <p:cNvSpPr txBox="1"/>
          <p:nvPr/>
        </p:nvSpPr>
        <p:spPr>
          <a:xfrm>
            <a:off x="4024560" y="3869634"/>
            <a:ext cx="538609" cy="196657"/>
          </a:xfrm>
          <a:prstGeom prst="rect">
            <a:avLst/>
          </a:prstGeom>
          <a:noFill/>
        </p:spPr>
        <p:txBody>
          <a:bodyPr wrap="none" lIns="0" tIns="0" rIns="0" bIns="0" rtlCol="0">
            <a:sp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朋友聚餐</a:t>
            </a:r>
            <a:endParaRPr kumimoji="0" lang="en-US" sz="1050" b="0" i="0" u="none" strike="noStrike" kern="1200" cap="none" spc="0" normalizeH="0" baseline="0" noProof="0" dirty="0">
              <a:ln>
                <a:noFill/>
              </a:ln>
              <a:solidFill>
                <a:srgbClr val="000000"/>
              </a:solidFill>
              <a:effectLst/>
              <a:uLnTx/>
              <a:uFillTx/>
              <a:cs typeface="+mn-ea"/>
              <a:sym typeface="+mn-lt"/>
            </a:endParaRPr>
          </a:p>
        </p:txBody>
      </p:sp>
      <p:sp>
        <p:nvSpPr>
          <p:cNvPr id="61" name="熊大的PPT宝库53"/>
          <p:cNvSpPr txBox="1"/>
          <p:nvPr/>
        </p:nvSpPr>
        <p:spPr>
          <a:xfrm>
            <a:off x="4024561" y="4158624"/>
            <a:ext cx="538609" cy="196657"/>
          </a:xfrm>
          <a:prstGeom prst="rect">
            <a:avLst/>
          </a:prstGeom>
          <a:noFill/>
        </p:spPr>
        <p:txBody>
          <a:bodyPr wrap="none" lIns="0" tIns="0" rIns="0" bIns="0" rtlCol="0">
            <a:sp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个人交际</a:t>
            </a:r>
            <a:endParaRPr kumimoji="0" lang="en-US" sz="1050" b="0" i="0" u="none" strike="noStrike" kern="1200" cap="none" spc="0" normalizeH="0" baseline="0" noProof="0" dirty="0">
              <a:ln>
                <a:noFill/>
              </a:ln>
              <a:solidFill>
                <a:srgbClr val="000000"/>
              </a:solidFill>
              <a:effectLst/>
              <a:uLnTx/>
              <a:uFillTx/>
              <a:cs typeface="+mn-ea"/>
              <a:sym typeface="+mn-lt"/>
            </a:endParaRPr>
          </a:p>
        </p:txBody>
      </p:sp>
      <p:sp>
        <p:nvSpPr>
          <p:cNvPr id="62" name="熊大的PPT宝库54"/>
          <p:cNvSpPr txBox="1"/>
          <p:nvPr/>
        </p:nvSpPr>
        <p:spPr>
          <a:xfrm>
            <a:off x="4024561" y="4447614"/>
            <a:ext cx="538609" cy="196657"/>
          </a:xfrm>
          <a:prstGeom prst="rect">
            <a:avLst/>
          </a:prstGeom>
          <a:noFill/>
        </p:spPr>
        <p:txBody>
          <a:bodyPr wrap="none" lIns="0" tIns="0" rIns="0" bIns="0" rtlCol="0">
            <a:sp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社交平台</a:t>
            </a:r>
            <a:endParaRPr kumimoji="0" lang="en-US" sz="1050" b="0" i="0" u="none" strike="noStrike" kern="1200" cap="none" spc="0" normalizeH="0" baseline="0" noProof="0" dirty="0">
              <a:ln>
                <a:noFill/>
              </a:ln>
              <a:solidFill>
                <a:srgbClr val="000000"/>
              </a:solidFill>
              <a:effectLst/>
              <a:uLnTx/>
              <a:uFillTx/>
              <a:cs typeface="+mn-ea"/>
              <a:sym typeface="+mn-lt"/>
            </a:endParaRPr>
          </a:p>
        </p:txBody>
      </p:sp>
      <p:sp>
        <p:nvSpPr>
          <p:cNvPr id="64" name="熊大的PPT宝库55"/>
          <p:cNvSpPr txBox="1"/>
          <p:nvPr/>
        </p:nvSpPr>
        <p:spPr>
          <a:xfrm>
            <a:off x="5823520" y="3580644"/>
            <a:ext cx="538609" cy="196657"/>
          </a:xfrm>
          <a:prstGeom prst="rect">
            <a:avLst/>
          </a:prstGeom>
          <a:noFill/>
        </p:spPr>
        <p:txBody>
          <a:bodyPr wrap="none" lIns="0" tIns="0" rIns="0" bIns="0" rtlCol="0">
            <a:sp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公司平台</a:t>
            </a:r>
            <a:endParaRPr kumimoji="0" lang="en-US" sz="1050" b="0" i="0" u="none" strike="noStrike" kern="1200" cap="none" spc="0" normalizeH="0" baseline="0" noProof="0" dirty="0">
              <a:ln>
                <a:noFill/>
              </a:ln>
              <a:solidFill>
                <a:srgbClr val="000000"/>
              </a:solidFill>
              <a:effectLst/>
              <a:uLnTx/>
              <a:uFillTx/>
              <a:cs typeface="+mn-ea"/>
              <a:sym typeface="+mn-lt"/>
            </a:endParaRPr>
          </a:p>
        </p:txBody>
      </p:sp>
      <p:sp>
        <p:nvSpPr>
          <p:cNvPr id="65" name="熊大的PPT宝库56"/>
          <p:cNvSpPr txBox="1"/>
          <p:nvPr/>
        </p:nvSpPr>
        <p:spPr>
          <a:xfrm>
            <a:off x="5823521" y="3869634"/>
            <a:ext cx="538609" cy="196657"/>
          </a:xfrm>
          <a:prstGeom prst="rect">
            <a:avLst/>
          </a:prstGeom>
          <a:noFill/>
        </p:spPr>
        <p:txBody>
          <a:bodyPr wrap="none" lIns="0" tIns="0" rIns="0" bIns="0" rtlCol="0">
            <a:sp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社群营销</a:t>
            </a:r>
            <a:endParaRPr kumimoji="0" lang="en-US" sz="1050" b="0" i="0" u="none" strike="noStrike" kern="1200" cap="none" spc="0" normalizeH="0" baseline="0" noProof="0" dirty="0">
              <a:ln>
                <a:noFill/>
              </a:ln>
              <a:solidFill>
                <a:srgbClr val="000000"/>
              </a:solidFill>
              <a:effectLst/>
              <a:uLnTx/>
              <a:uFillTx/>
              <a:cs typeface="+mn-ea"/>
              <a:sym typeface="+mn-lt"/>
            </a:endParaRPr>
          </a:p>
        </p:txBody>
      </p:sp>
      <p:sp>
        <p:nvSpPr>
          <p:cNvPr id="66" name="熊大的PPT宝库57"/>
          <p:cNvSpPr txBox="1"/>
          <p:nvPr/>
        </p:nvSpPr>
        <p:spPr>
          <a:xfrm>
            <a:off x="5823521" y="4158624"/>
            <a:ext cx="538609" cy="196657"/>
          </a:xfrm>
          <a:prstGeom prst="rect">
            <a:avLst/>
          </a:prstGeom>
          <a:noFill/>
        </p:spPr>
        <p:txBody>
          <a:bodyPr wrap="none" lIns="0" tIns="0" rIns="0" bIns="0" rtlCol="0">
            <a:sp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好友介绍</a:t>
            </a:r>
            <a:endParaRPr kumimoji="0" lang="en-US" sz="1050" b="0" i="0" u="none" strike="noStrike" kern="1200" cap="none" spc="0" normalizeH="0" baseline="0" noProof="0" dirty="0">
              <a:ln>
                <a:noFill/>
              </a:ln>
              <a:solidFill>
                <a:srgbClr val="000000"/>
              </a:solidFill>
              <a:effectLst/>
              <a:uLnTx/>
              <a:uFillTx/>
              <a:cs typeface="+mn-ea"/>
              <a:sym typeface="+mn-lt"/>
            </a:endParaRPr>
          </a:p>
        </p:txBody>
      </p:sp>
      <p:sp>
        <p:nvSpPr>
          <p:cNvPr id="67" name="熊大的PPT宝库58"/>
          <p:cNvSpPr txBox="1"/>
          <p:nvPr/>
        </p:nvSpPr>
        <p:spPr>
          <a:xfrm>
            <a:off x="5890846" y="4447614"/>
            <a:ext cx="403958" cy="195695"/>
          </a:xfrm>
          <a:prstGeom prst="rect">
            <a:avLst/>
          </a:prstGeom>
          <a:noFill/>
        </p:spPr>
        <p:txBody>
          <a:bodyPr wrap="none" lIns="0" tIns="0" rIns="0" bIns="0" rtlCol="0">
            <a:sp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个人</a:t>
            </a:r>
            <a:r>
              <a:rPr kumimoji="0" lang="en-US" altLang="zh-CN" sz="1050" b="0" i="0" u="none" strike="noStrike" kern="1200" cap="none" spc="0" normalizeH="0" baseline="0" noProof="0" dirty="0">
                <a:ln>
                  <a:noFill/>
                </a:ln>
                <a:solidFill>
                  <a:srgbClr val="000000"/>
                </a:solidFill>
                <a:effectLst/>
                <a:uLnTx/>
                <a:uFillTx/>
                <a:cs typeface="+mn-ea"/>
                <a:sym typeface="+mn-lt"/>
              </a:rPr>
              <a:t>IP</a:t>
            </a:r>
            <a:endParaRPr kumimoji="0" lang="en-US" sz="1050" b="0" i="0" u="none" strike="noStrike" kern="1200" cap="none" spc="0" normalizeH="0" baseline="0" noProof="0" dirty="0">
              <a:ln>
                <a:noFill/>
              </a:ln>
              <a:solidFill>
                <a:srgbClr val="000000"/>
              </a:solidFill>
              <a:effectLst/>
              <a:uLnTx/>
              <a:uFillTx/>
              <a:cs typeface="+mn-ea"/>
              <a:sym typeface="+mn-lt"/>
            </a:endParaRPr>
          </a:p>
        </p:txBody>
      </p:sp>
      <p:sp>
        <p:nvSpPr>
          <p:cNvPr id="69" name="熊大的PPT宝库59"/>
          <p:cNvSpPr txBox="1"/>
          <p:nvPr/>
        </p:nvSpPr>
        <p:spPr>
          <a:xfrm>
            <a:off x="7527846" y="3580644"/>
            <a:ext cx="673261" cy="196657"/>
          </a:xfrm>
          <a:prstGeom prst="rect">
            <a:avLst/>
          </a:prstGeom>
          <a:noFill/>
        </p:spPr>
        <p:txBody>
          <a:bodyPr wrap="none" lIns="0" tIns="0" rIns="0" bIns="0" rtlCol="0">
            <a:sp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信息流广告</a:t>
            </a:r>
            <a:endParaRPr kumimoji="0" lang="en-US" sz="1050" b="0" i="0" u="none" strike="noStrike" kern="1200" cap="none" spc="0" normalizeH="0" baseline="0" noProof="0" dirty="0">
              <a:ln>
                <a:noFill/>
              </a:ln>
              <a:solidFill>
                <a:srgbClr val="000000"/>
              </a:solidFill>
              <a:effectLst/>
              <a:uLnTx/>
              <a:uFillTx/>
              <a:cs typeface="+mn-ea"/>
              <a:sym typeface="+mn-lt"/>
            </a:endParaRPr>
          </a:p>
        </p:txBody>
      </p:sp>
      <p:sp>
        <p:nvSpPr>
          <p:cNvPr id="70" name="熊大的PPT宝库60"/>
          <p:cNvSpPr txBox="1"/>
          <p:nvPr/>
        </p:nvSpPr>
        <p:spPr>
          <a:xfrm>
            <a:off x="7592768" y="3869634"/>
            <a:ext cx="543418" cy="195695"/>
          </a:xfrm>
          <a:prstGeom prst="rect">
            <a:avLst/>
          </a:prstGeom>
          <a:noFill/>
        </p:spPr>
        <p:txBody>
          <a:bodyPr wrap="none" lIns="0" tIns="0" rIns="0" bIns="0" rtlCol="0">
            <a:sp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en-US" sz="1050" b="0" i="0" u="none" strike="noStrike" kern="1200" cap="none" spc="0" normalizeH="0" baseline="0" noProof="0" dirty="0">
                <a:ln>
                  <a:noFill/>
                </a:ln>
                <a:solidFill>
                  <a:srgbClr val="000000"/>
                </a:solidFill>
                <a:effectLst/>
                <a:uLnTx/>
                <a:uFillTx/>
                <a:cs typeface="+mn-ea"/>
                <a:sym typeface="+mn-lt"/>
              </a:rPr>
              <a:t>KOL</a:t>
            </a:r>
            <a:r>
              <a:rPr kumimoji="0" lang="zh-CN" altLang="en-US" sz="1050" b="0" i="0" u="none" strike="noStrike" kern="1200" cap="none" spc="0" normalizeH="0" baseline="0" noProof="0" dirty="0">
                <a:ln>
                  <a:noFill/>
                </a:ln>
                <a:solidFill>
                  <a:srgbClr val="000000"/>
                </a:solidFill>
                <a:effectLst/>
                <a:uLnTx/>
                <a:uFillTx/>
                <a:cs typeface="+mn-ea"/>
                <a:sym typeface="+mn-lt"/>
              </a:rPr>
              <a:t>投放</a:t>
            </a:r>
            <a:endParaRPr kumimoji="0" lang="en-US" sz="1050" b="0" i="0" u="none" strike="noStrike" kern="1200" cap="none" spc="0" normalizeH="0" baseline="0" noProof="0" dirty="0">
              <a:ln>
                <a:noFill/>
              </a:ln>
              <a:solidFill>
                <a:srgbClr val="000000"/>
              </a:solidFill>
              <a:effectLst/>
              <a:uLnTx/>
              <a:uFillTx/>
              <a:cs typeface="+mn-ea"/>
              <a:sym typeface="+mn-lt"/>
            </a:endParaRPr>
          </a:p>
        </p:txBody>
      </p:sp>
      <p:sp>
        <p:nvSpPr>
          <p:cNvPr id="71" name="熊大的PPT宝库61"/>
          <p:cNvSpPr txBox="1"/>
          <p:nvPr/>
        </p:nvSpPr>
        <p:spPr>
          <a:xfrm>
            <a:off x="7595172" y="4158624"/>
            <a:ext cx="538609" cy="196657"/>
          </a:xfrm>
          <a:prstGeom prst="rect">
            <a:avLst/>
          </a:prstGeom>
          <a:noFill/>
        </p:spPr>
        <p:txBody>
          <a:bodyPr wrap="none" lIns="0" tIns="0" rIns="0" bIns="0" rtlCol="0">
            <a:sp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搜索广告</a:t>
            </a:r>
            <a:endParaRPr kumimoji="0" lang="en-US" sz="1050" b="0" i="0" u="none" strike="noStrike" kern="1200" cap="none" spc="0" normalizeH="0" baseline="0" noProof="0" dirty="0">
              <a:ln>
                <a:noFill/>
              </a:ln>
              <a:solidFill>
                <a:srgbClr val="000000"/>
              </a:solidFill>
              <a:effectLst/>
              <a:uLnTx/>
              <a:uFillTx/>
              <a:cs typeface="+mn-ea"/>
              <a:sym typeface="+mn-lt"/>
            </a:endParaRPr>
          </a:p>
        </p:txBody>
      </p:sp>
      <p:sp>
        <p:nvSpPr>
          <p:cNvPr id="72" name="熊大的PPT宝库62"/>
          <p:cNvSpPr txBox="1"/>
          <p:nvPr/>
        </p:nvSpPr>
        <p:spPr>
          <a:xfrm>
            <a:off x="7595172" y="4447614"/>
            <a:ext cx="538609" cy="196657"/>
          </a:xfrm>
          <a:prstGeom prst="rect">
            <a:avLst/>
          </a:prstGeom>
          <a:noFill/>
        </p:spPr>
        <p:txBody>
          <a:bodyPr wrap="none" lIns="0" tIns="0" rIns="0" bIns="0" rtlCol="0">
            <a:sp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异业合作</a:t>
            </a:r>
            <a:endParaRPr kumimoji="0" lang="en-US" sz="1050" b="0" i="0" u="none" strike="noStrike" kern="1200" cap="none" spc="0" normalizeH="0" baseline="0" noProof="0" dirty="0">
              <a:ln>
                <a:noFill/>
              </a:ln>
              <a:solidFill>
                <a:srgbClr val="000000"/>
              </a:solidFill>
              <a:effectLst/>
              <a:uLnTx/>
              <a:uFillTx/>
              <a:cs typeface="+mn-ea"/>
              <a:sym typeface="+mn-lt"/>
            </a:endParaRPr>
          </a:p>
        </p:txBody>
      </p:sp>
      <p:sp>
        <p:nvSpPr>
          <p:cNvPr id="74" name="熊大的PPT宝库63"/>
          <p:cNvSpPr txBox="1"/>
          <p:nvPr/>
        </p:nvSpPr>
        <p:spPr>
          <a:xfrm>
            <a:off x="5678144" y="5756996"/>
            <a:ext cx="807913" cy="323165"/>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价值刺激</a:t>
            </a:r>
            <a:endParaRPr kumimoji="0" lang="en-US" altLang="zh-CN" sz="105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促进行动意愿</a:t>
            </a:r>
            <a:endParaRPr kumimoji="0" lang="en-US" altLang="zh-CN" sz="1050" b="0" i="0" u="none" strike="noStrike" kern="1200" cap="none" spc="0" normalizeH="0" baseline="0" noProof="0" dirty="0">
              <a:ln>
                <a:noFill/>
              </a:ln>
              <a:solidFill>
                <a:srgbClr val="000000"/>
              </a:solidFill>
              <a:effectLst/>
              <a:uLnTx/>
              <a:uFillTx/>
              <a:cs typeface="+mn-ea"/>
              <a:sym typeface="+mn-lt"/>
            </a:endParaRPr>
          </a:p>
        </p:txBody>
      </p:sp>
      <p:sp>
        <p:nvSpPr>
          <p:cNvPr id="76" name="熊大的PPT宝库64"/>
          <p:cNvSpPr txBox="1"/>
          <p:nvPr/>
        </p:nvSpPr>
        <p:spPr>
          <a:xfrm>
            <a:off x="3819488" y="5756996"/>
            <a:ext cx="807913" cy="323165"/>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利用内容</a:t>
            </a:r>
            <a:endParaRPr kumimoji="0" lang="en-US" altLang="zh-CN" sz="105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产生购买关系</a:t>
            </a:r>
            <a:endParaRPr kumimoji="0" lang="en-US" altLang="zh-CN" sz="1050" b="0" i="0" u="none" strike="noStrike" kern="1200" cap="none" spc="0" normalizeH="0" baseline="0" noProof="0" dirty="0">
              <a:ln>
                <a:noFill/>
              </a:ln>
              <a:solidFill>
                <a:srgbClr val="000000"/>
              </a:solidFill>
              <a:effectLst/>
              <a:uLnTx/>
              <a:uFillTx/>
              <a:cs typeface="+mn-ea"/>
              <a:sym typeface="+mn-lt"/>
            </a:endParaRPr>
          </a:p>
        </p:txBody>
      </p:sp>
      <p:sp>
        <p:nvSpPr>
          <p:cNvPr id="78" name="熊大的PPT宝库65"/>
          <p:cNvSpPr txBox="1"/>
          <p:nvPr/>
        </p:nvSpPr>
        <p:spPr>
          <a:xfrm>
            <a:off x="7506706" y="5756996"/>
            <a:ext cx="807913" cy="323165"/>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产生内容</a:t>
            </a:r>
            <a:endParaRPr kumimoji="0" lang="en-US" altLang="zh-CN" sz="105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提升消费转化</a:t>
            </a:r>
            <a:endParaRPr kumimoji="0" lang="en-US" altLang="zh-CN" sz="1050" b="0" i="0" u="none" strike="noStrike" kern="1200" cap="none" spc="0" normalizeH="0" baseline="0" noProof="0" dirty="0">
              <a:ln>
                <a:noFill/>
              </a:ln>
              <a:solidFill>
                <a:srgbClr val="000000"/>
              </a:solidFill>
              <a:effectLst/>
              <a:uLnTx/>
              <a:uFillTx/>
              <a:cs typeface="+mn-ea"/>
              <a:sym typeface="+mn-lt"/>
            </a:endParaRPr>
          </a:p>
        </p:txBody>
      </p:sp>
      <p:sp>
        <p:nvSpPr>
          <p:cNvPr id="83" name="熊大的PPT宝库66"/>
          <p:cNvSpPr/>
          <p:nvPr/>
        </p:nvSpPr>
        <p:spPr>
          <a:xfrm>
            <a:off x="1386493" y="2980906"/>
            <a:ext cx="1296000" cy="316029"/>
          </a:xfrm>
          <a:prstGeom prst="roundRect">
            <a:avLst>
              <a:gd name="adj" fmla="val 50000"/>
            </a:avLst>
          </a:prstGeom>
          <a:solidFill>
            <a:schemeClr val="accent1">
              <a:lumMod val="20000"/>
              <a:lumOff val="80000"/>
            </a:schemeClr>
          </a:solidFill>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84" name="熊大的PPT宝库67"/>
          <p:cNvSpPr/>
          <p:nvPr/>
        </p:nvSpPr>
        <p:spPr>
          <a:xfrm>
            <a:off x="1386493" y="3368555"/>
            <a:ext cx="1296000" cy="316029"/>
          </a:xfrm>
          <a:prstGeom prst="roundRect">
            <a:avLst>
              <a:gd name="adj" fmla="val 50000"/>
            </a:avLst>
          </a:prstGeom>
          <a:solidFill>
            <a:schemeClr val="accent1">
              <a:lumMod val="20000"/>
              <a:lumOff val="80000"/>
            </a:schemeClr>
          </a:solidFill>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85" name="熊大的PPT宝库68"/>
          <p:cNvSpPr/>
          <p:nvPr/>
        </p:nvSpPr>
        <p:spPr>
          <a:xfrm>
            <a:off x="1386493" y="3756204"/>
            <a:ext cx="1296000" cy="316029"/>
          </a:xfrm>
          <a:prstGeom prst="roundRect">
            <a:avLst>
              <a:gd name="adj" fmla="val 50000"/>
            </a:avLst>
          </a:prstGeom>
          <a:solidFill>
            <a:schemeClr val="accent1">
              <a:lumMod val="20000"/>
              <a:lumOff val="80000"/>
            </a:schemeClr>
          </a:solidFill>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86" name="熊大的PPT宝库69"/>
          <p:cNvSpPr/>
          <p:nvPr/>
        </p:nvSpPr>
        <p:spPr>
          <a:xfrm>
            <a:off x="1386493" y="4143853"/>
            <a:ext cx="1296000" cy="316029"/>
          </a:xfrm>
          <a:prstGeom prst="roundRect">
            <a:avLst>
              <a:gd name="adj" fmla="val 50000"/>
            </a:avLst>
          </a:prstGeom>
          <a:solidFill>
            <a:schemeClr val="accent1">
              <a:lumMod val="20000"/>
              <a:lumOff val="80000"/>
            </a:schemeClr>
          </a:solidFill>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50" name="熊大的PPT宝库70"/>
          <p:cNvSpPr txBox="1"/>
          <p:nvPr/>
        </p:nvSpPr>
        <p:spPr>
          <a:xfrm>
            <a:off x="1743276" y="3007020"/>
            <a:ext cx="615553" cy="252441"/>
          </a:xfrm>
          <a:prstGeom prst="rect">
            <a:avLst/>
          </a:prstGeom>
          <a:noFill/>
        </p:spPr>
        <p:txBody>
          <a:bodyPr wrap="none" lIns="0" tIns="0" rIns="0" bIns="0" rtlCol="0" anchor="ctr" anchorCtr="0">
            <a:sp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沉睡客户</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51" name="熊大的PPT宝库71"/>
          <p:cNvSpPr txBox="1"/>
          <p:nvPr/>
        </p:nvSpPr>
        <p:spPr>
          <a:xfrm>
            <a:off x="1743276" y="3394669"/>
            <a:ext cx="615553" cy="252441"/>
          </a:xfrm>
          <a:prstGeom prst="rect">
            <a:avLst/>
          </a:prstGeom>
          <a:noFill/>
        </p:spPr>
        <p:txBody>
          <a:bodyPr wrap="none" lIns="0" tIns="0" rIns="0" bIns="0" rtlCol="0" anchor="ctr" anchorCtr="0">
            <a:sp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渠道客户</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52" name="熊大的PPT宝库72"/>
          <p:cNvSpPr txBox="1"/>
          <p:nvPr/>
        </p:nvSpPr>
        <p:spPr>
          <a:xfrm>
            <a:off x="1666332" y="3782318"/>
            <a:ext cx="769441" cy="252441"/>
          </a:xfrm>
          <a:prstGeom prst="rect">
            <a:avLst/>
          </a:prstGeom>
          <a:noFill/>
        </p:spPr>
        <p:txBody>
          <a:bodyPr wrap="none" lIns="0" tIns="0" rIns="0" bIns="0" rtlCol="0" anchor="ctr" anchorCtr="0">
            <a:sp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转介绍客户</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53" name="熊大的PPT宝库73"/>
          <p:cNvSpPr txBox="1"/>
          <p:nvPr/>
        </p:nvSpPr>
        <p:spPr>
          <a:xfrm>
            <a:off x="1666334" y="4169967"/>
            <a:ext cx="769442" cy="252441"/>
          </a:xfrm>
          <a:prstGeom prst="rect">
            <a:avLst/>
          </a:prstGeom>
          <a:noFill/>
        </p:spPr>
        <p:txBody>
          <a:bodyPr wrap="none" lIns="0" tIns="0" rIns="0" bIns="0" rtlCol="0" anchor="ctr" anchorCtr="0">
            <a:sp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新开发客户</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89" name="熊大的PPT宝库74"/>
          <p:cNvSpPr/>
          <p:nvPr/>
        </p:nvSpPr>
        <p:spPr>
          <a:xfrm rot="16200000">
            <a:off x="3015052" y="3405812"/>
            <a:ext cx="485933" cy="128587"/>
          </a:xfrm>
          <a:custGeom>
            <a:avLst/>
            <a:gdLst>
              <a:gd name="connsiteX0" fmla="*/ 242964 w 485933"/>
              <a:gd name="connsiteY0" fmla="*/ 128588 h 128587"/>
              <a:gd name="connsiteX1" fmla="*/ 485934 w 485933"/>
              <a:gd name="connsiteY1" fmla="*/ 0 h 128587"/>
              <a:gd name="connsiteX2" fmla="*/ 0 w 485933"/>
              <a:gd name="connsiteY2" fmla="*/ 0 h 128587"/>
              <a:gd name="connsiteX3" fmla="*/ 242964 w 485933"/>
              <a:gd name="connsiteY3" fmla="*/ 128588 h 128587"/>
            </a:gdLst>
            <a:ahLst/>
            <a:cxnLst>
              <a:cxn ang="0">
                <a:pos x="connsiteX0" y="connsiteY0"/>
              </a:cxn>
              <a:cxn ang="0">
                <a:pos x="connsiteX1" y="connsiteY1"/>
              </a:cxn>
              <a:cxn ang="0">
                <a:pos x="connsiteX2" y="connsiteY2"/>
              </a:cxn>
              <a:cxn ang="0">
                <a:pos x="connsiteX3" y="connsiteY3"/>
              </a:cxn>
            </a:cxnLst>
            <a:rect l="l" t="t" r="r" b="b"/>
            <a:pathLst>
              <a:path w="485933" h="128587">
                <a:moveTo>
                  <a:pt x="242964" y="128588"/>
                </a:moveTo>
                <a:lnTo>
                  <a:pt x="485934" y="0"/>
                </a:lnTo>
                <a:lnTo>
                  <a:pt x="0" y="0"/>
                </a:lnTo>
                <a:lnTo>
                  <a:pt x="242964" y="128588"/>
                </a:lnTo>
                <a:close/>
              </a:path>
            </a:pathLst>
          </a:custGeom>
          <a:gradFill>
            <a:gsLst>
              <a:gs pos="0">
                <a:schemeClr val="accent1">
                  <a:lumMod val="75000"/>
                </a:schemeClr>
              </a:gs>
              <a:gs pos="74055">
                <a:schemeClr val="accent1">
                  <a:lumMod val="60000"/>
                  <a:lumOff val="40000"/>
                  <a:alpha val="0"/>
                </a:schemeClr>
              </a:gs>
            </a:gsLst>
            <a:lin ang="16200000"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90" name="熊大的PPT宝库75"/>
          <p:cNvSpPr/>
          <p:nvPr/>
        </p:nvSpPr>
        <p:spPr>
          <a:xfrm rot="5400000">
            <a:off x="8727013" y="3405795"/>
            <a:ext cx="485901" cy="128587"/>
          </a:xfrm>
          <a:custGeom>
            <a:avLst/>
            <a:gdLst>
              <a:gd name="connsiteX0" fmla="*/ 242951 w 485901"/>
              <a:gd name="connsiteY0" fmla="*/ 128588 h 128587"/>
              <a:gd name="connsiteX1" fmla="*/ 485901 w 485901"/>
              <a:gd name="connsiteY1" fmla="*/ 0 h 128587"/>
              <a:gd name="connsiteX2" fmla="*/ 0 w 485901"/>
              <a:gd name="connsiteY2" fmla="*/ 0 h 128587"/>
              <a:gd name="connsiteX3" fmla="*/ 242951 w 485901"/>
              <a:gd name="connsiteY3" fmla="*/ 128588 h 128587"/>
            </a:gdLst>
            <a:ahLst/>
            <a:cxnLst>
              <a:cxn ang="0">
                <a:pos x="connsiteX0" y="connsiteY0"/>
              </a:cxn>
              <a:cxn ang="0">
                <a:pos x="connsiteX1" y="connsiteY1"/>
              </a:cxn>
              <a:cxn ang="0">
                <a:pos x="connsiteX2" y="connsiteY2"/>
              </a:cxn>
              <a:cxn ang="0">
                <a:pos x="connsiteX3" y="connsiteY3"/>
              </a:cxn>
            </a:cxnLst>
            <a:rect l="l" t="t" r="r" b="b"/>
            <a:pathLst>
              <a:path w="485901" h="128587">
                <a:moveTo>
                  <a:pt x="242951" y="128588"/>
                </a:moveTo>
                <a:lnTo>
                  <a:pt x="485901" y="0"/>
                </a:lnTo>
                <a:lnTo>
                  <a:pt x="0" y="0"/>
                </a:lnTo>
                <a:lnTo>
                  <a:pt x="242951" y="128588"/>
                </a:lnTo>
                <a:close/>
              </a:path>
            </a:pathLst>
          </a:custGeom>
          <a:gradFill>
            <a:gsLst>
              <a:gs pos="0">
                <a:schemeClr val="accent1">
                  <a:lumMod val="75000"/>
                </a:schemeClr>
              </a:gs>
              <a:gs pos="74055">
                <a:schemeClr val="accent1">
                  <a:lumMod val="60000"/>
                  <a:lumOff val="40000"/>
                  <a:alpha val="0"/>
                </a:schemeClr>
              </a:gs>
            </a:gsLst>
            <a:lin ang="16200000"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91" name="熊大的PPT宝库76"/>
          <p:cNvSpPr txBox="1"/>
          <p:nvPr/>
        </p:nvSpPr>
        <p:spPr>
          <a:xfrm>
            <a:off x="9800178" y="4144544"/>
            <a:ext cx="769441" cy="252441"/>
          </a:xfrm>
          <a:prstGeom prst="rect">
            <a:avLst/>
          </a:prstGeom>
          <a:noFill/>
        </p:spPr>
        <p:txBody>
          <a:bodyPr wrap="none" lIns="0" tIns="0" rIns="0" bIns="0" rtlCol="0" anchor="ctr" anchorCtr="0">
            <a:sp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高端权益会</a:t>
            </a:r>
            <a:endParaRPr kumimoji="0" lang="en-US" altLang="zh-CN" sz="1200" b="0" i="0" u="none" strike="noStrike" kern="1200" cap="none" spc="0" normalizeH="0" baseline="0" noProof="0" dirty="0">
              <a:ln>
                <a:noFill/>
              </a:ln>
              <a:solidFill>
                <a:srgbClr val="000000"/>
              </a:solidFill>
              <a:effectLst/>
              <a:uLnTx/>
              <a:uFillTx/>
              <a:cs typeface="+mn-ea"/>
              <a:sym typeface="+mn-lt"/>
            </a:endParaRPr>
          </a:p>
        </p:txBody>
      </p:sp>
      <p:sp>
        <p:nvSpPr>
          <p:cNvPr id="97" name="熊大的PPT宝库77"/>
          <p:cNvSpPr/>
          <p:nvPr/>
        </p:nvSpPr>
        <p:spPr>
          <a:xfrm>
            <a:off x="3780091" y="3582409"/>
            <a:ext cx="1080000" cy="316029"/>
          </a:xfrm>
          <a:prstGeom prst="roundRect">
            <a:avLst>
              <a:gd name="adj" fmla="val 50000"/>
            </a:avLst>
          </a:prstGeom>
          <a:noFill/>
          <a:ln>
            <a:solidFill>
              <a:schemeClr val="accent1">
                <a:lumMod val="40000"/>
                <a:lumOff val="60000"/>
              </a:schemeClr>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98" name="熊大的PPT宝库78"/>
          <p:cNvSpPr/>
          <p:nvPr/>
        </p:nvSpPr>
        <p:spPr>
          <a:xfrm>
            <a:off x="3780091" y="3867855"/>
            <a:ext cx="1080000" cy="316029"/>
          </a:xfrm>
          <a:prstGeom prst="roundRect">
            <a:avLst>
              <a:gd name="adj" fmla="val 50000"/>
            </a:avLst>
          </a:prstGeom>
          <a:noFill/>
          <a:ln>
            <a:solidFill>
              <a:schemeClr val="accent1">
                <a:lumMod val="40000"/>
                <a:lumOff val="60000"/>
              </a:schemeClr>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99" name="熊大的PPT宝库79"/>
          <p:cNvSpPr/>
          <p:nvPr/>
        </p:nvSpPr>
        <p:spPr>
          <a:xfrm>
            <a:off x="3780091" y="4153301"/>
            <a:ext cx="1080000" cy="316029"/>
          </a:xfrm>
          <a:prstGeom prst="roundRect">
            <a:avLst>
              <a:gd name="adj" fmla="val 50000"/>
            </a:avLst>
          </a:prstGeom>
          <a:noFill/>
          <a:ln>
            <a:solidFill>
              <a:schemeClr val="accent1">
                <a:lumMod val="40000"/>
                <a:lumOff val="60000"/>
              </a:schemeClr>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100" name="熊大的PPT宝库80"/>
          <p:cNvSpPr/>
          <p:nvPr/>
        </p:nvSpPr>
        <p:spPr>
          <a:xfrm>
            <a:off x="3780091" y="4438746"/>
            <a:ext cx="1080000" cy="316029"/>
          </a:xfrm>
          <a:prstGeom prst="roundRect">
            <a:avLst>
              <a:gd name="adj" fmla="val 50000"/>
            </a:avLst>
          </a:prstGeom>
          <a:noFill/>
          <a:ln>
            <a:solidFill>
              <a:schemeClr val="accent1">
                <a:lumMod val="40000"/>
                <a:lumOff val="60000"/>
              </a:schemeClr>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101" name="熊大的PPT宝库81"/>
          <p:cNvSpPr/>
          <p:nvPr/>
        </p:nvSpPr>
        <p:spPr>
          <a:xfrm>
            <a:off x="5552825" y="3582409"/>
            <a:ext cx="1080000" cy="316029"/>
          </a:xfrm>
          <a:prstGeom prst="roundRect">
            <a:avLst>
              <a:gd name="adj" fmla="val 50000"/>
            </a:avLst>
          </a:prstGeom>
          <a:noFill/>
          <a:ln>
            <a:solidFill>
              <a:schemeClr val="accent1">
                <a:lumMod val="40000"/>
                <a:lumOff val="60000"/>
              </a:schemeClr>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102" name="熊大的PPT宝库82"/>
          <p:cNvSpPr/>
          <p:nvPr/>
        </p:nvSpPr>
        <p:spPr>
          <a:xfrm>
            <a:off x="5552825" y="3867855"/>
            <a:ext cx="1080000" cy="316029"/>
          </a:xfrm>
          <a:prstGeom prst="roundRect">
            <a:avLst>
              <a:gd name="adj" fmla="val 50000"/>
            </a:avLst>
          </a:prstGeom>
          <a:noFill/>
          <a:ln>
            <a:solidFill>
              <a:schemeClr val="accent1">
                <a:lumMod val="40000"/>
                <a:lumOff val="60000"/>
              </a:schemeClr>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103" name="熊大的PPT宝库83"/>
          <p:cNvSpPr/>
          <p:nvPr/>
        </p:nvSpPr>
        <p:spPr>
          <a:xfrm>
            <a:off x="5552825" y="4153301"/>
            <a:ext cx="1080000" cy="316029"/>
          </a:xfrm>
          <a:prstGeom prst="roundRect">
            <a:avLst>
              <a:gd name="adj" fmla="val 50000"/>
            </a:avLst>
          </a:prstGeom>
          <a:noFill/>
          <a:ln>
            <a:solidFill>
              <a:schemeClr val="accent1">
                <a:lumMod val="40000"/>
                <a:lumOff val="60000"/>
              </a:schemeClr>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104" name="熊大的PPT宝库84"/>
          <p:cNvSpPr/>
          <p:nvPr/>
        </p:nvSpPr>
        <p:spPr>
          <a:xfrm>
            <a:off x="5552825" y="4438746"/>
            <a:ext cx="1080000" cy="316029"/>
          </a:xfrm>
          <a:prstGeom prst="roundRect">
            <a:avLst>
              <a:gd name="adj" fmla="val 50000"/>
            </a:avLst>
          </a:prstGeom>
          <a:noFill/>
          <a:ln>
            <a:solidFill>
              <a:schemeClr val="accent1">
                <a:lumMod val="40000"/>
                <a:lumOff val="60000"/>
              </a:schemeClr>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105" name="熊大的PPT宝库85"/>
          <p:cNvSpPr/>
          <p:nvPr/>
        </p:nvSpPr>
        <p:spPr>
          <a:xfrm>
            <a:off x="7318125" y="3582409"/>
            <a:ext cx="1080000" cy="316029"/>
          </a:xfrm>
          <a:prstGeom prst="roundRect">
            <a:avLst>
              <a:gd name="adj" fmla="val 50000"/>
            </a:avLst>
          </a:prstGeom>
          <a:noFill/>
          <a:ln>
            <a:solidFill>
              <a:schemeClr val="accent1">
                <a:lumMod val="40000"/>
                <a:lumOff val="60000"/>
              </a:schemeClr>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106" name="熊大的PPT宝库86"/>
          <p:cNvSpPr/>
          <p:nvPr/>
        </p:nvSpPr>
        <p:spPr>
          <a:xfrm>
            <a:off x="7318125" y="3867855"/>
            <a:ext cx="1080000" cy="316029"/>
          </a:xfrm>
          <a:prstGeom prst="roundRect">
            <a:avLst>
              <a:gd name="adj" fmla="val 50000"/>
            </a:avLst>
          </a:prstGeom>
          <a:noFill/>
          <a:ln>
            <a:solidFill>
              <a:schemeClr val="accent1">
                <a:lumMod val="40000"/>
                <a:lumOff val="60000"/>
              </a:schemeClr>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107" name="熊大的PPT宝库87"/>
          <p:cNvSpPr/>
          <p:nvPr/>
        </p:nvSpPr>
        <p:spPr>
          <a:xfrm>
            <a:off x="7318125" y="4153301"/>
            <a:ext cx="1080000" cy="316029"/>
          </a:xfrm>
          <a:prstGeom prst="roundRect">
            <a:avLst>
              <a:gd name="adj" fmla="val 50000"/>
            </a:avLst>
          </a:prstGeom>
          <a:noFill/>
          <a:ln>
            <a:solidFill>
              <a:schemeClr val="accent1">
                <a:lumMod val="40000"/>
                <a:lumOff val="60000"/>
              </a:schemeClr>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108" name="熊大的PPT宝库88"/>
          <p:cNvSpPr/>
          <p:nvPr/>
        </p:nvSpPr>
        <p:spPr>
          <a:xfrm>
            <a:off x="7318125" y="4438746"/>
            <a:ext cx="1080000" cy="316029"/>
          </a:xfrm>
          <a:prstGeom prst="roundRect">
            <a:avLst>
              <a:gd name="adj" fmla="val 50000"/>
            </a:avLst>
          </a:prstGeom>
          <a:noFill/>
          <a:ln>
            <a:solidFill>
              <a:schemeClr val="accent1">
                <a:lumMod val="40000"/>
                <a:lumOff val="60000"/>
              </a:schemeClr>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111" name="熊大的PPT宝库89"/>
          <p:cNvSpPr/>
          <p:nvPr/>
        </p:nvSpPr>
        <p:spPr>
          <a:xfrm rot="16200000">
            <a:off x="2748352" y="5627734"/>
            <a:ext cx="485933" cy="128587"/>
          </a:xfrm>
          <a:custGeom>
            <a:avLst/>
            <a:gdLst>
              <a:gd name="connsiteX0" fmla="*/ 242964 w 485933"/>
              <a:gd name="connsiteY0" fmla="*/ 128588 h 128587"/>
              <a:gd name="connsiteX1" fmla="*/ 485934 w 485933"/>
              <a:gd name="connsiteY1" fmla="*/ 0 h 128587"/>
              <a:gd name="connsiteX2" fmla="*/ 0 w 485933"/>
              <a:gd name="connsiteY2" fmla="*/ 0 h 128587"/>
              <a:gd name="connsiteX3" fmla="*/ 242964 w 485933"/>
              <a:gd name="connsiteY3" fmla="*/ 128588 h 128587"/>
            </a:gdLst>
            <a:ahLst/>
            <a:cxnLst>
              <a:cxn ang="0">
                <a:pos x="connsiteX0" y="connsiteY0"/>
              </a:cxn>
              <a:cxn ang="0">
                <a:pos x="connsiteX1" y="connsiteY1"/>
              </a:cxn>
              <a:cxn ang="0">
                <a:pos x="connsiteX2" y="connsiteY2"/>
              </a:cxn>
              <a:cxn ang="0">
                <a:pos x="connsiteX3" y="connsiteY3"/>
              </a:cxn>
            </a:cxnLst>
            <a:rect l="l" t="t" r="r" b="b"/>
            <a:pathLst>
              <a:path w="485933" h="128587">
                <a:moveTo>
                  <a:pt x="242964" y="128588"/>
                </a:moveTo>
                <a:lnTo>
                  <a:pt x="485934" y="0"/>
                </a:lnTo>
                <a:lnTo>
                  <a:pt x="0" y="0"/>
                </a:lnTo>
                <a:lnTo>
                  <a:pt x="242964" y="128588"/>
                </a:lnTo>
                <a:close/>
              </a:path>
            </a:pathLst>
          </a:custGeom>
          <a:gradFill>
            <a:gsLst>
              <a:gs pos="0">
                <a:schemeClr val="accent1">
                  <a:lumMod val="75000"/>
                </a:schemeClr>
              </a:gs>
              <a:gs pos="74055">
                <a:schemeClr val="accent1">
                  <a:lumMod val="60000"/>
                  <a:lumOff val="40000"/>
                  <a:alpha val="0"/>
                </a:schemeClr>
              </a:gs>
            </a:gsLst>
            <a:lin ang="16200000"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12" name="熊大的PPT宝库90"/>
          <p:cNvSpPr/>
          <p:nvPr/>
        </p:nvSpPr>
        <p:spPr>
          <a:xfrm rot="5400000">
            <a:off x="8981013" y="5627717"/>
            <a:ext cx="485901" cy="128587"/>
          </a:xfrm>
          <a:custGeom>
            <a:avLst/>
            <a:gdLst>
              <a:gd name="connsiteX0" fmla="*/ 242951 w 485901"/>
              <a:gd name="connsiteY0" fmla="*/ 128588 h 128587"/>
              <a:gd name="connsiteX1" fmla="*/ 485901 w 485901"/>
              <a:gd name="connsiteY1" fmla="*/ 0 h 128587"/>
              <a:gd name="connsiteX2" fmla="*/ 0 w 485901"/>
              <a:gd name="connsiteY2" fmla="*/ 0 h 128587"/>
              <a:gd name="connsiteX3" fmla="*/ 242951 w 485901"/>
              <a:gd name="connsiteY3" fmla="*/ 128588 h 128587"/>
            </a:gdLst>
            <a:ahLst/>
            <a:cxnLst>
              <a:cxn ang="0">
                <a:pos x="connsiteX0" y="connsiteY0"/>
              </a:cxn>
              <a:cxn ang="0">
                <a:pos x="connsiteX1" y="connsiteY1"/>
              </a:cxn>
              <a:cxn ang="0">
                <a:pos x="connsiteX2" y="connsiteY2"/>
              </a:cxn>
              <a:cxn ang="0">
                <a:pos x="connsiteX3" y="connsiteY3"/>
              </a:cxn>
            </a:cxnLst>
            <a:rect l="l" t="t" r="r" b="b"/>
            <a:pathLst>
              <a:path w="485901" h="128587">
                <a:moveTo>
                  <a:pt x="242951" y="128588"/>
                </a:moveTo>
                <a:lnTo>
                  <a:pt x="485901" y="0"/>
                </a:lnTo>
                <a:lnTo>
                  <a:pt x="0" y="0"/>
                </a:lnTo>
                <a:lnTo>
                  <a:pt x="242951" y="128588"/>
                </a:lnTo>
                <a:close/>
              </a:path>
            </a:pathLst>
          </a:custGeom>
          <a:gradFill>
            <a:gsLst>
              <a:gs pos="0">
                <a:schemeClr val="accent1">
                  <a:lumMod val="75000"/>
                </a:schemeClr>
              </a:gs>
              <a:gs pos="74055">
                <a:schemeClr val="accent1">
                  <a:lumMod val="60000"/>
                  <a:lumOff val="40000"/>
                  <a:alpha val="0"/>
                </a:schemeClr>
              </a:gs>
            </a:gsLst>
            <a:lin ang="16200000" scaled="1"/>
          </a:gra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8" name="熊大的PPT宝库92"/>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熊大的PPT宝库1"/>
          <p:cNvSpPr/>
          <p:nvPr/>
        </p:nvSpPr>
        <p:spPr>
          <a:xfrm>
            <a:off x="393320" y="5052896"/>
            <a:ext cx="1772555" cy="1224000"/>
          </a:xfrm>
          <a:prstGeom prst="roundRect">
            <a:avLst>
              <a:gd name="adj" fmla="val 11001"/>
            </a:avLst>
          </a:prstGeom>
          <a:solidFill>
            <a:schemeClr val="accent1">
              <a:lumMod val="20000"/>
              <a:lumOff val="80000"/>
              <a:alpha val="30000"/>
            </a:schemeClr>
          </a:solidFill>
          <a:ln w="19050">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70" name="熊大的PPT宝库2"/>
          <p:cNvSpPr/>
          <p:nvPr/>
        </p:nvSpPr>
        <p:spPr>
          <a:xfrm>
            <a:off x="389702" y="3214209"/>
            <a:ext cx="1772555" cy="1224000"/>
          </a:xfrm>
          <a:prstGeom prst="roundRect">
            <a:avLst>
              <a:gd name="adj" fmla="val 11001"/>
            </a:avLst>
          </a:prstGeom>
          <a:solidFill>
            <a:schemeClr val="accent1"/>
          </a:solidFill>
          <a:ln w="9525">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87782" tIns="43891" rIns="87782" bIns="43891"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650" b="0" i="0" u="none" strike="noStrike" kern="1200" cap="none" spc="0" normalizeH="0" baseline="0" noProof="0" dirty="0">
              <a:ln>
                <a:noFill/>
              </a:ln>
              <a:solidFill>
                <a:srgbClr val="FFFFFF"/>
              </a:solidFill>
              <a:effectLst/>
              <a:uLnTx/>
              <a:uFillTx/>
              <a:cs typeface="+mn-ea"/>
              <a:sym typeface="+mn-lt"/>
            </a:endParaRPr>
          </a:p>
        </p:txBody>
      </p:sp>
      <p:sp>
        <p:nvSpPr>
          <p:cNvPr id="69" name="熊大的PPT宝库3"/>
          <p:cNvSpPr/>
          <p:nvPr/>
        </p:nvSpPr>
        <p:spPr>
          <a:xfrm>
            <a:off x="393066" y="1523646"/>
            <a:ext cx="1772555" cy="1224000"/>
          </a:xfrm>
          <a:prstGeom prst="roundRect">
            <a:avLst>
              <a:gd name="adj" fmla="val 11001"/>
            </a:avLst>
          </a:prstGeom>
          <a:solidFill>
            <a:schemeClr val="accent1">
              <a:lumMod val="20000"/>
              <a:lumOff val="80000"/>
              <a:alpha val="30000"/>
            </a:schemeClr>
          </a:solidFill>
          <a:ln w="19050">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grpSp>
        <p:nvGrpSpPr>
          <p:cNvPr id="2" name="熊大的PPT宝库4"/>
          <p:cNvGrpSpPr/>
          <p:nvPr/>
        </p:nvGrpSpPr>
        <p:grpSpPr>
          <a:xfrm flipV="1">
            <a:off x="3926184" y="4763521"/>
            <a:ext cx="4339633" cy="910026"/>
            <a:chOff x="3757866" y="2106923"/>
            <a:chExt cx="4479302" cy="725964"/>
          </a:xfrm>
        </p:grpSpPr>
        <p:sp>
          <p:nvSpPr>
            <p:cNvPr id="3" name="熊大的PPT宝库4-1"/>
            <p:cNvSpPr/>
            <p:nvPr/>
          </p:nvSpPr>
          <p:spPr>
            <a:xfrm>
              <a:off x="4867464" y="2106923"/>
              <a:ext cx="2318911" cy="358841"/>
            </a:xfrm>
            <a:prstGeom prst="rect">
              <a:avLst/>
            </a:prstGeom>
            <a:gradFill>
              <a:gsLst>
                <a:gs pos="100000">
                  <a:schemeClr val="accent1"/>
                </a:gs>
                <a:gs pos="29000">
                  <a:schemeClr val="accent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4" name="熊大的PPT宝库4-2"/>
            <p:cNvSpPr/>
            <p:nvPr/>
          </p:nvSpPr>
          <p:spPr>
            <a:xfrm>
              <a:off x="3757866" y="2188577"/>
              <a:ext cx="2037837" cy="62343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5" name="熊大的PPT宝库4-3"/>
            <p:cNvSpPr/>
            <p:nvPr/>
          </p:nvSpPr>
          <p:spPr>
            <a:xfrm>
              <a:off x="6231127" y="2209451"/>
              <a:ext cx="2006041" cy="62343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grpSp>
      <p:grpSp>
        <p:nvGrpSpPr>
          <p:cNvPr id="6" name="熊大的PPT宝库5"/>
          <p:cNvGrpSpPr/>
          <p:nvPr/>
        </p:nvGrpSpPr>
        <p:grpSpPr>
          <a:xfrm>
            <a:off x="3963809" y="2257198"/>
            <a:ext cx="4264383" cy="703328"/>
            <a:chOff x="3835538" y="2106923"/>
            <a:chExt cx="4401630" cy="725964"/>
          </a:xfrm>
        </p:grpSpPr>
        <p:sp>
          <p:nvSpPr>
            <p:cNvPr id="7" name="熊大的PPT宝库5-1"/>
            <p:cNvSpPr/>
            <p:nvPr/>
          </p:nvSpPr>
          <p:spPr>
            <a:xfrm>
              <a:off x="4867464" y="2106923"/>
              <a:ext cx="2318911" cy="358841"/>
            </a:xfrm>
            <a:prstGeom prst="rect">
              <a:avLst/>
            </a:prstGeom>
            <a:gradFill>
              <a:gsLst>
                <a:gs pos="100000">
                  <a:schemeClr val="accent1"/>
                </a:gs>
                <a:gs pos="29000">
                  <a:schemeClr val="accent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8" name="熊大的PPT宝库5-2"/>
            <p:cNvSpPr/>
            <p:nvPr/>
          </p:nvSpPr>
          <p:spPr>
            <a:xfrm>
              <a:off x="3835538" y="2209451"/>
              <a:ext cx="2037836" cy="62343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9" name="熊大的PPT宝库5-3"/>
            <p:cNvSpPr/>
            <p:nvPr/>
          </p:nvSpPr>
          <p:spPr>
            <a:xfrm>
              <a:off x="6231127" y="2209451"/>
              <a:ext cx="2006041" cy="62343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grpSp>
      <p:sp>
        <p:nvSpPr>
          <p:cNvPr id="13" name="熊大的PPT宝库6"/>
          <p:cNvSpPr/>
          <p:nvPr/>
        </p:nvSpPr>
        <p:spPr>
          <a:xfrm>
            <a:off x="2770909" y="1658057"/>
            <a:ext cx="6650182" cy="4412003"/>
          </a:xfrm>
          <a:prstGeom prst="roundRect">
            <a:avLst>
              <a:gd name="adj" fmla="val 50000"/>
            </a:avLst>
          </a:prstGeom>
          <a:noFill/>
          <a:ln w="177800">
            <a:gradFill>
              <a:gsLst>
                <a:gs pos="15000">
                  <a:schemeClr val="accent1"/>
                </a:gs>
                <a:gs pos="70000">
                  <a:schemeClr val="accent1">
                    <a:alpha val="0"/>
                  </a:schemeClr>
                </a:gs>
                <a:gs pos="30000">
                  <a:schemeClr val="accent1">
                    <a:alpha val="0"/>
                  </a:schemeClr>
                </a:gs>
                <a:gs pos="85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5" name="熊大的PPT宝库7"/>
          <p:cNvSpPr/>
          <p:nvPr/>
        </p:nvSpPr>
        <p:spPr>
          <a:xfrm>
            <a:off x="3710475" y="5680158"/>
            <a:ext cx="4771051" cy="699216"/>
          </a:xfrm>
          <a:prstGeom prst="roundRect">
            <a:avLst>
              <a:gd name="adj" fmla="val 50000"/>
            </a:avLst>
          </a:prstGeom>
          <a:solidFill>
            <a:schemeClr val="accent1">
              <a:lumMod val="20000"/>
              <a:lumOff val="80000"/>
            </a:scheme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0" name="熊大的PPT宝库8"/>
          <p:cNvSpPr/>
          <p:nvPr/>
        </p:nvSpPr>
        <p:spPr>
          <a:xfrm>
            <a:off x="3638276" y="2604850"/>
            <a:ext cx="4915449" cy="2546929"/>
          </a:xfrm>
          <a:prstGeom prst="roundRect">
            <a:avLst>
              <a:gd name="adj" fmla="val 50000"/>
            </a:avLst>
          </a:prstGeom>
          <a:solidFill>
            <a:schemeClr val="bg1"/>
          </a:solidFill>
          <a:ln>
            <a:noFill/>
          </a:ln>
          <a:effectLst>
            <a:outerShdw blurRad="495300" sx="102000" sy="102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1" name="熊大的PPT宝库9"/>
          <p:cNvSpPr/>
          <p:nvPr/>
        </p:nvSpPr>
        <p:spPr>
          <a:xfrm>
            <a:off x="3892594" y="2818997"/>
            <a:ext cx="2118635" cy="211863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2" name="熊大的PPT宝库10"/>
          <p:cNvSpPr/>
          <p:nvPr/>
        </p:nvSpPr>
        <p:spPr>
          <a:xfrm>
            <a:off x="6180774" y="2818997"/>
            <a:ext cx="2118635" cy="211863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5" name="熊大的PPT宝库11"/>
          <p:cNvSpPr txBox="1"/>
          <p:nvPr/>
        </p:nvSpPr>
        <p:spPr>
          <a:xfrm>
            <a:off x="3897009" y="3637856"/>
            <a:ext cx="2109808" cy="461665"/>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FFFFFF"/>
                </a:solidFill>
                <a:effectLst/>
                <a:uLnTx/>
                <a:uFillTx/>
                <a:cs typeface="+mn-ea"/>
                <a:sym typeface="+mn-lt"/>
              </a:rPr>
              <a:t>物流企业现状</a:t>
            </a:r>
            <a:endParaRPr kumimoji="0" lang="en-US" sz="2400" b="0" i="0" u="none" strike="noStrike" kern="1200" cap="none" spc="0" normalizeH="0" baseline="0" noProof="0" dirty="0">
              <a:ln>
                <a:noFill/>
              </a:ln>
              <a:solidFill>
                <a:srgbClr val="FFFFFF"/>
              </a:solidFill>
              <a:effectLst/>
              <a:uLnTx/>
              <a:uFillTx/>
              <a:cs typeface="+mn-ea"/>
              <a:sym typeface="+mn-lt"/>
            </a:endParaRPr>
          </a:p>
        </p:txBody>
      </p:sp>
      <p:sp>
        <p:nvSpPr>
          <p:cNvPr id="28" name="熊大的PPT宝库12"/>
          <p:cNvSpPr txBox="1"/>
          <p:nvPr/>
        </p:nvSpPr>
        <p:spPr>
          <a:xfrm>
            <a:off x="6224428" y="3624001"/>
            <a:ext cx="2031326" cy="461665"/>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FFFFFF"/>
                </a:solidFill>
                <a:effectLst/>
                <a:uLnTx/>
                <a:uFillTx/>
                <a:cs typeface="+mn-ea"/>
                <a:sym typeface="+mn-lt"/>
              </a:rPr>
              <a:t>智能生态物流</a:t>
            </a:r>
            <a:endParaRPr kumimoji="0" lang="en-US" sz="2400" b="0" i="0" u="none" strike="noStrike" kern="1200" cap="none" spc="0" normalizeH="0" baseline="0" noProof="0" dirty="0">
              <a:ln>
                <a:noFill/>
              </a:ln>
              <a:solidFill>
                <a:srgbClr val="FFFFFF"/>
              </a:solidFill>
              <a:effectLst/>
              <a:uLnTx/>
              <a:uFillTx/>
              <a:cs typeface="+mn-ea"/>
              <a:sym typeface="+mn-lt"/>
            </a:endParaRPr>
          </a:p>
        </p:txBody>
      </p:sp>
      <p:sp>
        <p:nvSpPr>
          <p:cNvPr id="30" name="熊大的PPT宝库13"/>
          <p:cNvSpPr txBox="1"/>
          <p:nvPr/>
        </p:nvSpPr>
        <p:spPr>
          <a:xfrm>
            <a:off x="2482172" y="3019780"/>
            <a:ext cx="1005403" cy="338554"/>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传统决策</a:t>
            </a:r>
            <a:endParaRPr kumimoji="0" lang="en-US" sz="1600" b="0" i="0" u="none" strike="noStrike" kern="1200" cap="none" spc="0" normalizeH="0" baseline="0" noProof="0" dirty="0">
              <a:ln>
                <a:noFill/>
              </a:ln>
              <a:solidFill>
                <a:srgbClr val="000000"/>
              </a:solidFill>
              <a:effectLst/>
              <a:uLnTx/>
              <a:uFillTx/>
              <a:cs typeface="+mn-ea"/>
              <a:sym typeface="+mn-lt"/>
            </a:endParaRPr>
          </a:p>
        </p:txBody>
      </p:sp>
      <p:sp>
        <p:nvSpPr>
          <p:cNvPr id="31" name="熊大的PPT宝库14"/>
          <p:cNvSpPr txBox="1"/>
          <p:nvPr/>
        </p:nvSpPr>
        <p:spPr>
          <a:xfrm>
            <a:off x="433343" y="1597037"/>
            <a:ext cx="1692000" cy="1077218"/>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传统的人工 决策和单一的运营模式难以应对日益复杂供应链网络</a:t>
            </a:r>
            <a:endParaRPr kumimoji="0" lang="en-US" sz="1600" b="0" i="0" u="none" strike="noStrike" kern="1200" cap="none" spc="0" normalizeH="0" baseline="0" noProof="0" dirty="0">
              <a:ln>
                <a:noFill/>
              </a:ln>
              <a:solidFill>
                <a:srgbClr val="000000">
                  <a:alpha val="70000"/>
                </a:srgbClr>
              </a:solidFill>
              <a:effectLst/>
              <a:uLnTx/>
              <a:uFillTx/>
              <a:cs typeface="+mn-ea"/>
              <a:sym typeface="+mn-lt"/>
            </a:endParaRPr>
          </a:p>
        </p:txBody>
      </p:sp>
      <p:sp>
        <p:nvSpPr>
          <p:cNvPr id="32" name="熊大的PPT宝库15"/>
          <p:cNvSpPr txBox="1"/>
          <p:nvPr/>
        </p:nvSpPr>
        <p:spPr>
          <a:xfrm>
            <a:off x="2482171" y="3687549"/>
            <a:ext cx="1005403" cy="338554"/>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成本提升</a:t>
            </a:r>
            <a:endParaRPr kumimoji="0" lang="en-US" sz="1600" b="0" i="0" u="none" strike="noStrike" kern="1200" cap="none" spc="0" normalizeH="0" baseline="0" noProof="0" dirty="0">
              <a:ln>
                <a:noFill/>
              </a:ln>
              <a:solidFill>
                <a:srgbClr val="000000"/>
              </a:solidFill>
              <a:effectLst/>
              <a:uLnTx/>
              <a:uFillTx/>
              <a:cs typeface="+mn-ea"/>
              <a:sym typeface="+mn-lt"/>
            </a:endParaRPr>
          </a:p>
        </p:txBody>
      </p:sp>
      <p:sp>
        <p:nvSpPr>
          <p:cNvPr id="33" name="熊大的PPT宝库16"/>
          <p:cNvSpPr txBox="1"/>
          <p:nvPr/>
        </p:nvSpPr>
        <p:spPr>
          <a:xfrm>
            <a:off x="392812" y="3287600"/>
            <a:ext cx="1692000" cy="738664"/>
          </a:xfrm>
          <a:prstGeom prst="rect">
            <a:avLst/>
          </a:prstGeom>
          <a:noFill/>
        </p:spPr>
        <p:txBody>
          <a:bodyPr wrap="square" rtlCol="0">
            <a:spAutoFit/>
          </a:bodyPr>
          <a:lstStyle>
            <a:defPPr>
              <a:defRPr lang="en-US"/>
            </a:defPPr>
            <a:lvl1pPr algn="just">
              <a:lnSpc>
                <a:spcPct val="130000"/>
              </a:lnSpc>
              <a:defRPr sz="1600">
                <a:solidFill>
                  <a:schemeClr val="tx1">
                    <a:alpha val="70000"/>
                  </a:schemeClr>
                </a:solidFill>
                <a:latin typeface="+mj-ea"/>
                <a:ea typeface="+mj-ea"/>
              </a:defRPr>
            </a:lvl1p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latin typeface="+mn-lt"/>
                <a:ea typeface="+mn-ea"/>
                <a:cs typeface="+mn-ea"/>
                <a:sym typeface="+mn-lt"/>
              </a:rPr>
              <a:t>全球经济压力加大、地缘政治风险持续、物流运输成本上涨</a:t>
            </a:r>
            <a:endParaRPr kumimoji="0" lang="en-US" sz="1400" b="0" i="0" u="none" strike="noStrike" kern="1200" cap="none" spc="0" normalizeH="0" baseline="0" noProof="0" dirty="0">
              <a:ln>
                <a:noFill/>
              </a:ln>
              <a:solidFill>
                <a:srgbClr val="FFFFFF"/>
              </a:solidFill>
              <a:effectLst/>
              <a:uLnTx/>
              <a:uFillTx/>
              <a:latin typeface="+mn-lt"/>
              <a:ea typeface="+mn-ea"/>
              <a:cs typeface="+mn-ea"/>
              <a:sym typeface="+mn-lt"/>
            </a:endParaRPr>
          </a:p>
        </p:txBody>
      </p:sp>
      <p:sp>
        <p:nvSpPr>
          <p:cNvPr id="34" name="熊大的PPT宝库17"/>
          <p:cNvSpPr txBox="1"/>
          <p:nvPr/>
        </p:nvSpPr>
        <p:spPr>
          <a:xfrm>
            <a:off x="2369848" y="4360919"/>
            <a:ext cx="1210588" cy="338554"/>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可持续发展</a:t>
            </a:r>
            <a:endParaRPr kumimoji="0" lang="en-US" sz="1600" b="0" i="0" u="none" strike="noStrike" kern="1200" cap="none" spc="0" normalizeH="0" baseline="0" noProof="0" dirty="0">
              <a:ln>
                <a:noFill/>
              </a:ln>
              <a:solidFill>
                <a:srgbClr val="000000"/>
              </a:solidFill>
              <a:effectLst/>
              <a:uLnTx/>
              <a:uFillTx/>
              <a:cs typeface="+mn-ea"/>
              <a:sym typeface="+mn-lt"/>
            </a:endParaRPr>
          </a:p>
        </p:txBody>
      </p:sp>
      <p:sp>
        <p:nvSpPr>
          <p:cNvPr id="35" name="熊大的PPT宝库18"/>
          <p:cNvSpPr txBox="1"/>
          <p:nvPr/>
        </p:nvSpPr>
        <p:spPr>
          <a:xfrm>
            <a:off x="392812" y="5126287"/>
            <a:ext cx="1692000" cy="1077218"/>
          </a:xfrm>
          <a:prstGeom prst="rect">
            <a:avLst/>
          </a:prstGeom>
          <a:noFill/>
        </p:spPr>
        <p:txBody>
          <a:bodyPr wrap="square" rtlCol="0">
            <a:spAutoFit/>
          </a:bodyPr>
          <a:lstStyle>
            <a:defPPr>
              <a:defRPr lang="en-US"/>
            </a:defPPr>
            <a:lvl1pPr algn="just">
              <a:lnSpc>
                <a:spcPct val="130000"/>
              </a:lnSpc>
              <a:defRPr sz="1600">
                <a:solidFill>
                  <a:schemeClr val="tx1">
                    <a:alpha val="70000"/>
                  </a:schemeClr>
                </a:solidFill>
                <a:latin typeface="+mj-ea"/>
                <a:ea typeface="+mj-ea"/>
              </a:defRPr>
            </a:lvl1p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alpha val="70000"/>
                  </a:srgbClr>
                </a:solidFill>
                <a:effectLst/>
                <a:uLnTx/>
                <a:uFillTx/>
                <a:latin typeface="+mn-lt"/>
                <a:ea typeface="+mn-ea"/>
                <a:cs typeface="+mn-ea"/>
                <a:sym typeface="+mn-lt"/>
              </a:rPr>
              <a:t>绿色低碳发展列为重要战略，低碳是时代发展的趋势与政策要求</a:t>
            </a:r>
          </a:p>
        </p:txBody>
      </p:sp>
      <p:sp>
        <p:nvSpPr>
          <p:cNvPr id="36" name="熊大的PPT宝库19"/>
          <p:cNvSpPr txBox="1"/>
          <p:nvPr/>
        </p:nvSpPr>
        <p:spPr>
          <a:xfrm>
            <a:off x="8813593" y="3023907"/>
            <a:ext cx="1005403" cy="338554"/>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智能决策</a:t>
            </a:r>
            <a:endParaRPr kumimoji="0" lang="en-US" sz="1600" b="0" i="0" u="none" strike="noStrike" kern="1200" cap="none" spc="0" normalizeH="0" baseline="0" noProof="0" dirty="0">
              <a:ln>
                <a:noFill/>
              </a:ln>
              <a:solidFill>
                <a:srgbClr val="000000"/>
              </a:solidFill>
              <a:effectLst/>
              <a:uLnTx/>
              <a:uFillTx/>
              <a:cs typeface="+mn-ea"/>
              <a:sym typeface="+mn-lt"/>
            </a:endParaRPr>
          </a:p>
        </p:txBody>
      </p:sp>
      <p:sp>
        <p:nvSpPr>
          <p:cNvPr id="37" name="熊大的PPT宝库20"/>
          <p:cNvSpPr txBox="1"/>
          <p:nvPr/>
        </p:nvSpPr>
        <p:spPr>
          <a:xfrm>
            <a:off x="8813589" y="3687549"/>
            <a:ext cx="1005403" cy="338554"/>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智能服务</a:t>
            </a:r>
            <a:endParaRPr kumimoji="0" lang="en-US" sz="1600" b="0" i="0" u="none" strike="noStrike" kern="1200" cap="none" spc="0" normalizeH="0" baseline="0" noProof="0" dirty="0">
              <a:ln>
                <a:noFill/>
              </a:ln>
              <a:solidFill>
                <a:srgbClr val="000000"/>
              </a:solidFill>
              <a:effectLst/>
              <a:uLnTx/>
              <a:uFillTx/>
              <a:cs typeface="+mn-ea"/>
              <a:sym typeface="+mn-lt"/>
            </a:endParaRPr>
          </a:p>
        </p:txBody>
      </p:sp>
      <p:sp>
        <p:nvSpPr>
          <p:cNvPr id="38" name="熊大的PPT宝库21"/>
          <p:cNvSpPr txBox="1"/>
          <p:nvPr/>
        </p:nvSpPr>
        <p:spPr>
          <a:xfrm>
            <a:off x="8813592" y="4380375"/>
            <a:ext cx="1005403" cy="338554"/>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迭代优化</a:t>
            </a:r>
            <a:endParaRPr kumimoji="0" lang="en-US" sz="1600" b="0" i="0" u="none" strike="noStrike" kern="1200" cap="none" spc="0" normalizeH="0" baseline="0" noProof="0" dirty="0">
              <a:ln>
                <a:noFill/>
              </a:ln>
              <a:solidFill>
                <a:srgbClr val="000000"/>
              </a:solidFill>
              <a:effectLst/>
              <a:uLnTx/>
              <a:uFillTx/>
              <a:cs typeface="+mn-ea"/>
              <a:sym typeface="+mn-lt"/>
            </a:endParaRPr>
          </a:p>
        </p:txBody>
      </p:sp>
      <p:grpSp>
        <p:nvGrpSpPr>
          <p:cNvPr id="64" name="熊大的PPT宝库22"/>
          <p:cNvGrpSpPr/>
          <p:nvPr/>
        </p:nvGrpSpPr>
        <p:grpSpPr>
          <a:xfrm>
            <a:off x="3950320" y="5793210"/>
            <a:ext cx="1332000" cy="468000"/>
            <a:chOff x="3463937" y="5702646"/>
            <a:chExt cx="1332000" cy="468000"/>
          </a:xfrm>
        </p:grpSpPr>
        <p:sp>
          <p:nvSpPr>
            <p:cNvPr id="21" name="熊大的PPT宝库22-1"/>
            <p:cNvSpPr/>
            <p:nvPr/>
          </p:nvSpPr>
          <p:spPr>
            <a:xfrm>
              <a:off x="3463937" y="5702646"/>
              <a:ext cx="1332000" cy="468000"/>
            </a:xfrm>
            <a:prstGeom prst="roundRect">
              <a:avLst>
                <a:gd name="adj" fmla="val 50000"/>
              </a:avLst>
            </a:prstGeom>
            <a:solidFill>
              <a:schemeClr val="bg1"/>
            </a:solidFill>
            <a:ln>
              <a:noFill/>
            </a:ln>
            <a:effectLst>
              <a:outerShdw blurRad="127000" sx="102000" sy="102000" algn="ctr"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FFFFFF"/>
                </a:solidFill>
                <a:effectLst/>
                <a:uLnTx/>
                <a:uFillTx/>
                <a:cs typeface="+mn-ea"/>
                <a:sym typeface="+mn-lt"/>
              </a:endParaRPr>
            </a:p>
          </p:txBody>
        </p:sp>
        <p:sp>
          <p:nvSpPr>
            <p:cNvPr id="42" name="熊大的PPT宝库22-2"/>
            <p:cNvSpPr txBox="1"/>
            <p:nvPr/>
          </p:nvSpPr>
          <p:spPr>
            <a:xfrm>
              <a:off x="3477792" y="5798147"/>
              <a:ext cx="1297160"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参与主体规模大</a:t>
              </a:r>
              <a:endParaRPr kumimoji="0" lang="en-US" sz="1200" b="0" i="0" u="none" strike="noStrike" kern="1200" cap="none" spc="0" normalizeH="0" baseline="0" noProof="0" dirty="0">
                <a:ln>
                  <a:noFill/>
                </a:ln>
                <a:solidFill>
                  <a:srgbClr val="000000"/>
                </a:solidFill>
                <a:effectLst/>
                <a:uLnTx/>
                <a:uFillTx/>
                <a:cs typeface="+mn-ea"/>
                <a:sym typeface="+mn-lt"/>
              </a:endParaRPr>
            </a:p>
          </p:txBody>
        </p:sp>
      </p:grpSp>
      <p:grpSp>
        <p:nvGrpSpPr>
          <p:cNvPr id="63" name="熊大的PPT宝库23"/>
          <p:cNvGrpSpPr/>
          <p:nvPr/>
        </p:nvGrpSpPr>
        <p:grpSpPr>
          <a:xfrm>
            <a:off x="5436426" y="5787512"/>
            <a:ext cx="1332000" cy="468000"/>
            <a:chOff x="5456786" y="5748619"/>
            <a:chExt cx="1332000" cy="468000"/>
          </a:xfrm>
        </p:grpSpPr>
        <p:sp>
          <p:nvSpPr>
            <p:cNvPr id="22" name="熊大的PPT宝库23-1"/>
            <p:cNvSpPr/>
            <p:nvPr/>
          </p:nvSpPr>
          <p:spPr>
            <a:xfrm>
              <a:off x="5456786" y="5748619"/>
              <a:ext cx="1332000" cy="468000"/>
            </a:xfrm>
            <a:prstGeom prst="roundRect">
              <a:avLst>
                <a:gd name="adj" fmla="val 50000"/>
              </a:avLst>
            </a:prstGeom>
            <a:solidFill>
              <a:schemeClr val="bg1"/>
            </a:solidFill>
            <a:ln>
              <a:noFill/>
            </a:ln>
            <a:effectLst>
              <a:outerShdw blurRad="127000" sx="102000" sy="102000" algn="ctr"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FFFFFF"/>
                </a:solidFill>
                <a:effectLst/>
                <a:uLnTx/>
                <a:uFillTx/>
                <a:cs typeface="+mn-ea"/>
                <a:sym typeface="+mn-lt"/>
              </a:endParaRPr>
            </a:p>
          </p:txBody>
        </p:sp>
        <p:sp>
          <p:nvSpPr>
            <p:cNvPr id="43" name="熊大的PPT宝库23-2"/>
            <p:cNvSpPr txBox="1"/>
            <p:nvPr/>
          </p:nvSpPr>
          <p:spPr>
            <a:xfrm>
              <a:off x="5638765" y="5844668"/>
              <a:ext cx="1050077"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多样化需求</a:t>
              </a:r>
              <a:endParaRPr kumimoji="0" lang="en-US" sz="1200" b="0" i="0" u="none" strike="noStrike" kern="1200" cap="none" spc="0" normalizeH="0" baseline="0" noProof="0" dirty="0">
                <a:ln>
                  <a:noFill/>
                </a:ln>
                <a:solidFill>
                  <a:srgbClr val="000000"/>
                </a:solidFill>
                <a:effectLst/>
                <a:uLnTx/>
                <a:uFillTx/>
                <a:cs typeface="+mn-ea"/>
                <a:sym typeface="+mn-lt"/>
              </a:endParaRPr>
            </a:p>
          </p:txBody>
        </p:sp>
      </p:grpSp>
      <p:grpSp>
        <p:nvGrpSpPr>
          <p:cNvPr id="62" name="熊大的PPT宝库24"/>
          <p:cNvGrpSpPr/>
          <p:nvPr/>
        </p:nvGrpSpPr>
        <p:grpSpPr>
          <a:xfrm>
            <a:off x="6922531" y="5793210"/>
            <a:ext cx="1332000" cy="468000"/>
            <a:chOff x="7126813" y="5637567"/>
            <a:chExt cx="1332000" cy="468000"/>
          </a:xfrm>
        </p:grpSpPr>
        <p:sp>
          <p:nvSpPr>
            <p:cNvPr id="23" name="熊大的PPT宝库24-1"/>
            <p:cNvSpPr/>
            <p:nvPr/>
          </p:nvSpPr>
          <p:spPr>
            <a:xfrm>
              <a:off x="7126813" y="5637567"/>
              <a:ext cx="1332000" cy="468000"/>
            </a:xfrm>
            <a:prstGeom prst="roundRect">
              <a:avLst>
                <a:gd name="adj" fmla="val 50000"/>
              </a:avLst>
            </a:prstGeom>
            <a:solidFill>
              <a:schemeClr val="bg1"/>
            </a:solidFill>
            <a:ln>
              <a:noFill/>
            </a:ln>
            <a:effectLst>
              <a:outerShdw blurRad="127000" sx="102000" sy="102000" algn="ctr"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dirty="0">
                <a:ln>
                  <a:noFill/>
                </a:ln>
                <a:solidFill>
                  <a:srgbClr val="FFFFFF"/>
                </a:solidFill>
                <a:effectLst/>
                <a:uLnTx/>
                <a:uFillTx/>
                <a:cs typeface="+mn-ea"/>
                <a:sym typeface="+mn-lt"/>
              </a:endParaRPr>
            </a:p>
          </p:txBody>
        </p:sp>
        <p:sp>
          <p:nvSpPr>
            <p:cNvPr id="44" name="熊大的PPT宝库24-2"/>
            <p:cNvSpPr txBox="1"/>
            <p:nvPr/>
          </p:nvSpPr>
          <p:spPr>
            <a:xfrm>
              <a:off x="7161876" y="5733068"/>
              <a:ext cx="1261884"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生态体系不完善</a:t>
              </a:r>
              <a:endParaRPr kumimoji="0" lang="en-US" altLang="zh-CN" sz="1200" b="0" i="0" u="none" strike="noStrike" kern="1200" cap="none" spc="0" normalizeH="0" baseline="0" noProof="0" dirty="0">
                <a:ln>
                  <a:noFill/>
                </a:ln>
                <a:solidFill>
                  <a:srgbClr val="000000"/>
                </a:solidFill>
                <a:effectLst/>
                <a:uLnTx/>
                <a:uFillTx/>
                <a:cs typeface="+mn-ea"/>
                <a:sym typeface="+mn-lt"/>
              </a:endParaRPr>
            </a:p>
          </p:txBody>
        </p:sp>
      </p:grpSp>
      <p:sp>
        <p:nvSpPr>
          <p:cNvPr id="14" name="熊大的PPT宝库25"/>
          <p:cNvSpPr/>
          <p:nvPr/>
        </p:nvSpPr>
        <p:spPr>
          <a:xfrm>
            <a:off x="4000394" y="1181072"/>
            <a:ext cx="4191212" cy="971164"/>
          </a:xfrm>
          <a:prstGeom prst="roundRect">
            <a:avLst>
              <a:gd name="adj" fmla="val 50000"/>
            </a:avLst>
          </a:prstGeom>
          <a:solidFill>
            <a:schemeClr val="accent1">
              <a:lumMod val="20000"/>
              <a:lumOff val="80000"/>
            </a:scheme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6" name="熊大的PPT宝库26"/>
          <p:cNvSpPr/>
          <p:nvPr/>
        </p:nvSpPr>
        <p:spPr>
          <a:xfrm>
            <a:off x="4215990" y="1264038"/>
            <a:ext cx="805232" cy="805232"/>
          </a:xfrm>
          <a:prstGeom prst="ellipse">
            <a:avLst/>
          </a:prstGeom>
          <a:solidFill>
            <a:schemeClr val="bg1"/>
          </a:solidFill>
          <a:ln>
            <a:noFill/>
          </a:ln>
          <a:effectLst>
            <a:outerShdw blurRad="127000" sx="102000" sy="102000" algn="ctr"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7" name="熊大的PPT宝库27"/>
          <p:cNvSpPr/>
          <p:nvPr/>
        </p:nvSpPr>
        <p:spPr>
          <a:xfrm>
            <a:off x="7202179" y="1264038"/>
            <a:ext cx="805232" cy="805232"/>
          </a:xfrm>
          <a:prstGeom prst="ellipse">
            <a:avLst/>
          </a:prstGeom>
          <a:solidFill>
            <a:schemeClr val="bg1"/>
          </a:solidFill>
          <a:ln>
            <a:noFill/>
          </a:ln>
          <a:effectLst>
            <a:outerShdw blurRad="127000" sx="102000" sy="102000" algn="ctr"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8" name="熊大的PPT宝库28"/>
          <p:cNvSpPr/>
          <p:nvPr/>
        </p:nvSpPr>
        <p:spPr>
          <a:xfrm>
            <a:off x="6206783" y="1264038"/>
            <a:ext cx="805232" cy="805232"/>
          </a:xfrm>
          <a:prstGeom prst="ellipse">
            <a:avLst/>
          </a:prstGeom>
          <a:solidFill>
            <a:schemeClr val="bg1"/>
          </a:solidFill>
          <a:ln>
            <a:noFill/>
          </a:ln>
          <a:effectLst>
            <a:outerShdw blurRad="127000" sx="102000" sy="102000" algn="ctr"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9" name="熊大的PPT宝库29"/>
          <p:cNvSpPr/>
          <p:nvPr/>
        </p:nvSpPr>
        <p:spPr>
          <a:xfrm>
            <a:off x="5211386" y="1264038"/>
            <a:ext cx="805232" cy="805232"/>
          </a:xfrm>
          <a:prstGeom prst="ellipse">
            <a:avLst/>
          </a:prstGeom>
          <a:solidFill>
            <a:schemeClr val="bg1"/>
          </a:solidFill>
          <a:ln>
            <a:noFill/>
          </a:ln>
          <a:effectLst>
            <a:outerShdw blurRad="127000" sx="102000" sy="102000" algn="ctr" rotWithShape="0">
              <a:schemeClr val="tx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45" name="熊大的PPT宝库30"/>
          <p:cNvSpPr txBox="1"/>
          <p:nvPr/>
        </p:nvSpPr>
        <p:spPr>
          <a:xfrm>
            <a:off x="4430745" y="1558932"/>
            <a:ext cx="375720" cy="215444"/>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流通</a:t>
            </a:r>
            <a:endParaRPr kumimoji="0" lang="en-US" sz="1400" b="0" i="0" u="none" strike="noStrike" kern="1200" cap="none" spc="0" normalizeH="0" baseline="0" noProof="0" dirty="0">
              <a:ln>
                <a:noFill/>
              </a:ln>
              <a:solidFill>
                <a:srgbClr val="000000"/>
              </a:solidFill>
              <a:effectLst/>
              <a:uLnTx/>
              <a:uFillTx/>
              <a:cs typeface="+mn-ea"/>
              <a:sym typeface="+mn-lt"/>
            </a:endParaRPr>
          </a:p>
        </p:txBody>
      </p:sp>
      <p:sp>
        <p:nvSpPr>
          <p:cNvPr id="46" name="熊大的PPT宝库31"/>
          <p:cNvSpPr txBox="1"/>
          <p:nvPr/>
        </p:nvSpPr>
        <p:spPr>
          <a:xfrm>
            <a:off x="5426142" y="1558932"/>
            <a:ext cx="375720" cy="215444"/>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分配</a:t>
            </a:r>
            <a:endParaRPr kumimoji="0" lang="en-US" sz="1400" b="0" i="0" u="none" strike="noStrike" kern="1200" cap="none" spc="0" normalizeH="0" baseline="0" noProof="0" dirty="0">
              <a:ln>
                <a:noFill/>
              </a:ln>
              <a:solidFill>
                <a:srgbClr val="000000"/>
              </a:solidFill>
              <a:effectLst/>
              <a:uLnTx/>
              <a:uFillTx/>
              <a:cs typeface="+mn-ea"/>
              <a:sym typeface="+mn-lt"/>
            </a:endParaRPr>
          </a:p>
        </p:txBody>
      </p:sp>
      <p:sp>
        <p:nvSpPr>
          <p:cNvPr id="47" name="熊大的PPT宝库32"/>
          <p:cNvSpPr txBox="1"/>
          <p:nvPr/>
        </p:nvSpPr>
        <p:spPr>
          <a:xfrm>
            <a:off x="6421539" y="1558932"/>
            <a:ext cx="375720" cy="215444"/>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消费</a:t>
            </a:r>
            <a:endParaRPr kumimoji="0" lang="en-US" sz="1400" b="0" i="0" u="none" strike="noStrike" kern="1200" cap="none" spc="0" normalizeH="0" baseline="0" noProof="0" dirty="0">
              <a:ln>
                <a:noFill/>
              </a:ln>
              <a:solidFill>
                <a:srgbClr val="000000"/>
              </a:solidFill>
              <a:effectLst/>
              <a:uLnTx/>
              <a:uFillTx/>
              <a:cs typeface="+mn-ea"/>
              <a:sym typeface="+mn-lt"/>
            </a:endParaRPr>
          </a:p>
        </p:txBody>
      </p:sp>
      <p:sp>
        <p:nvSpPr>
          <p:cNvPr id="48" name="熊大的PPT宝库33"/>
          <p:cNvSpPr txBox="1"/>
          <p:nvPr/>
        </p:nvSpPr>
        <p:spPr>
          <a:xfrm>
            <a:off x="7416935" y="1558932"/>
            <a:ext cx="375720" cy="215444"/>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生产</a:t>
            </a:r>
            <a:endParaRPr kumimoji="0" lang="en-US" sz="1400" b="0" i="0" u="none" strike="noStrike" kern="1200" cap="none" spc="0" normalizeH="0" baseline="0" noProof="0" dirty="0">
              <a:ln>
                <a:noFill/>
              </a:ln>
              <a:solidFill>
                <a:srgbClr val="000000"/>
              </a:solidFill>
              <a:effectLst/>
              <a:uLnTx/>
              <a:uFillTx/>
              <a:cs typeface="+mn-ea"/>
              <a:sym typeface="+mn-lt"/>
            </a:endParaRPr>
          </a:p>
        </p:txBody>
      </p:sp>
      <p:sp>
        <p:nvSpPr>
          <p:cNvPr id="49" name="熊大的PPT宝库34"/>
          <p:cNvSpPr txBox="1"/>
          <p:nvPr/>
        </p:nvSpPr>
        <p:spPr>
          <a:xfrm>
            <a:off x="348830" y="216968"/>
            <a:ext cx="3467616"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数智化供应链平台</a:t>
            </a:r>
          </a:p>
        </p:txBody>
      </p:sp>
      <p:sp>
        <p:nvSpPr>
          <p:cNvPr id="66" name="熊大的PPT宝库35"/>
          <p:cNvSpPr/>
          <p:nvPr/>
        </p:nvSpPr>
        <p:spPr>
          <a:xfrm>
            <a:off x="2292938" y="3006628"/>
            <a:ext cx="1332000" cy="360000"/>
          </a:xfrm>
          <a:prstGeom prst="roundRect">
            <a:avLst>
              <a:gd name="adj" fmla="val 50000"/>
            </a:avLst>
          </a:prstGeom>
          <a:noFill/>
          <a:ln w="635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7" name="熊大的PPT宝库36"/>
          <p:cNvSpPr/>
          <p:nvPr/>
        </p:nvSpPr>
        <p:spPr>
          <a:xfrm>
            <a:off x="2292938" y="3671538"/>
            <a:ext cx="1332000" cy="360000"/>
          </a:xfrm>
          <a:prstGeom prst="roundRect">
            <a:avLst>
              <a:gd name="adj" fmla="val 50000"/>
            </a:avLst>
          </a:prstGeom>
          <a:noFill/>
          <a:ln w="635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8" name="熊大的PPT宝库37"/>
          <p:cNvSpPr/>
          <p:nvPr/>
        </p:nvSpPr>
        <p:spPr>
          <a:xfrm>
            <a:off x="2292938" y="4366806"/>
            <a:ext cx="1332000" cy="360000"/>
          </a:xfrm>
          <a:prstGeom prst="roundRect">
            <a:avLst>
              <a:gd name="adj" fmla="val 50000"/>
            </a:avLst>
          </a:prstGeom>
          <a:noFill/>
          <a:ln w="635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74" name="熊大的PPT宝库38"/>
          <p:cNvSpPr/>
          <p:nvPr/>
        </p:nvSpPr>
        <p:spPr>
          <a:xfrm>
            <a:off x="8635384" y="3006628"/>
            <a:ext cx="1332000" cy="360000"/>
          </a:xfrm>
          <a:prstGeom prst="roundRect">
            <a:avLst>
              <a:gd name="adj" fmla="val 50000"/>
            </a:avLst>
          </a:prstGeom>
          <a:noFill/>
          <a:ln w="635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75" name="熊大的PPT宝库39"/>
          <p:cNvSpPr/>
          <p:nvPr/>
        </p:nvSpPr>
        <p:spPr>
          <a:xfrm>
            <a:off x="8635384" y="3671538"/>
            <a:ext cx="1332000" cy="360000"/>
          </a:xfrm>
          <a:prstGeom prst="roundRect">
            <a:avLst>
              <a:gd name="adj" fmla="val 50000"/>
            </a:avLst>
          </a:prstGeom>
          <a:noFill/>
          <a:ln w="635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76" name="熊大的PPT宝库40"/>
          <p:cNvSpPr/>
          <p:nvPr/>
        </p:nvSpPr>
        <p:spPr>
          <a:xfrm>
            <a:off x="8635384" y="4366806"/>
            <a:ext cx="1332000" cy="360000"/>
          </a:xfrm>
          <a:prstGeom prst="roundRect">
            <a:avLst>
              <a:gd name="adj" fmla="val 50000"/>
            </a:avLst>
          </a:prstGeom>
          <a:noFill/>
          <a:ln w="635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80" name="熊大的PPT宝库41"/>
          <p:cNvSpPr/>
          <p:nvPr/>
        </p:nvSpPr>
        <p:spPr>
          <a:xfrm>
            <a:off x="10019936" y="5080606"/>
            <a:ext cx="1772555" cy="1224000"/>
          </a:xfrm>
          <a:prstGeom prst="roundRect">
            <a:avLst>
              <a:gd name="adj" fmla="val 11001"/>
            </a:avLst>
          </a:prstGeom>
          <a:solidFill>
            <a:schemeClr val="accent1">
              <a:lumMod val="20000"/>
              <a:lumOff val="80000"/>
              <a:alpha val="30000"/>
            </a:schemeClr>
          </a:solidFill>
          <a:ln w="19050">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81" name="熊大的PPT宝库42"/>
          <p:cNvSpPr/>
          <p:nvPr/>
        </p:nvSpPr>
        <p:spPr>
          <a:xfrm>
            <a:off x="10016318" y="3214209"/>
            <a:ext cx="1772555" cy="1224000"/>
          </a:xfrm>
          <a:prstGeom prst="roundRect">
            <a:avLst>
              <a:gd name="adj" fmla="val 11001"/>
            </a:avLst>
          </a:prstGeom>
          <a:solidFill>
            <a:schemeClr val="accent1"/>
          </a:solidFill>
          <a:ln w="9525">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87782" tIns="43891" rIns="87782" bIns="43891"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650" b="0" i="0" u="none" strike="noStrike" kern="1200" cap="none" spc="0" normalizeH="0" baseline="0" noProof="0" dirty="0">
              <a:ln>
                <a:noFill/>
              </a:ln>
              <a:solidFill>
                <a:srgbClr val="FFFFFF"/>
              </a:solidFill>
              <a:effectLst/>
              <a:uLnTx/>
              <a:uFillTx/>
              <a:cs typeface="+mn-ea"/>
              <a:sym typeface="+mn-lt"/>
            </a:endParaRPr>
          </a:p>
        </p:txBody>
      </p:sp>
      <p:sp>
        <p:nvSpPr>
          <p:cNvPr id="82" name="熊大的PPT宝库43"/>
          <p:cNvSpPr/>
          <p:nvPr/>
        </p:nvSpPr>
        <p:spPr>
          <a:xfrm>
            <a:off x="10019682" y="1523646"/>
            <a:ext cx="1772555" cy="1224000"/>
          </a:xfrm>
          <a:prstGeom prst="roundRect">
            <a:avLst>
              <a:gd name="adj" fmla="val 11001"/>
            </a:avLst>
          </a:prstGeom>
          <a:solidFill>
            <a:schemeClr val="accent1">
              <a:lumMod val="20000"/>
              <a:lumOff val="80000"/>
              <a:alpha val="30000"/>
            </a:schemeClr>
          </a:solidFill>
          <a:ln w="19050">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83" name="熊大的PPT宝库44"/>
          <p:cNvSpPr txBox="1"/>
          <p:nvPr/>
        </p:nvSpPr>
        <p:spPr>
          <a:xfrm>
            <a:off x="10059959" y="1597037"/>
            <a:ext cx="1692000" cy="1077218"/>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alpha val="70000"/>
                  </a:srgbClr>
                </a:solidFill>
                <a:effectLst/>
                <a:uLnTx/>
                <a:uFillTx/>
                <a:cs typeface="+mn-ea"/>
                <a:sym typeface="+mn-lt"/>
              </a:rPr>
              <a:t>物流介入业务过程，基于大数据需求预测、智能选品备货分仓</a:t>
            </a:r>
          </a:p>
        </p:txBody>
      </p:sp>
      <p:sp>
        <p:nvSpPr>
          <p:cNvPr id="84" name="熊大的PPT宝库45"/>
          <p:cNvSpPr txBox="1"/>
          <p:nvPr/>
        </p:nvSpPr>
        <p:spPr>
          <a:xfrm>
            <a:off x="10019428" y="3287600"/>
            <a:ext cx="1692000" cy="1077218"/>
          </a:xfrm>
          <a:prstGeom prst="rect">
            <a:avLst/>
          </a:prstGeom>
          <a:noFill/>
        </p:spPr>
        <p:txBody>
          <a:bodyPr wrap="square" rtlCol="0">
            <a:spAutoFit/>
          </a:bodyPr>
          <a:lstStyle>
            <a:defPPr>
              <a:defRPr lang="en-US"/>
            </a:defPPr>
            <a:lvl1pPr algn="just">
              <a:lnSpc>
                <a:spcPct val="130000"/>
              </a:lnSpc>
              <a:defRPr sz="1600">
                <a:solidFill>
                  <a:schemeClr val="tx1">
                    <a:alpha val="70000"/>
                  </a:schemeClr>
                </a:solidFill>
                <a:latin typeface="+mj-ea"/>
                <a:ea typeface="+mj-ea"/>
              </a:defRPr>
            </a:lvl1p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latin typeface="+mn-lt"/>
                <a:ea typeface="+mn-ea"/>
                <a:cs typeface="+mn-ea"/>
                <a:sym typeface="+mn-lt"/>
              </a:rPr>
              <a:t>从需求端拉动生态供应链资源，提高服务精准和水平，降低空载</a:t>
            </a:r>
            <a:endParaRPr kumimoji="0" lang="en-US" sz="1600" b="0" i="0" u="none" strike="noStrike" kern="1200" cap="none" spc="0" normalizeH="0" baseline="0" noProof="0" dirty="0">
              <a:ln>
                <a:noFill/>
              </a:ln>
              <a:solidFill>
                <a:srgbClr val="FFFFFF"/>
              </a:solidFill>
              <a:effectLst/>
              <a:uLnTx/>
              <a:uFillTx/>
              <a:latin typeface="+mn-lt"/>
              <a:ea typeface="+mn-ea"/>
              <a:cs typeface="+mn-ea"/>
              <a:sym typeface="+mn-lt"/>
            </a:endParaRPr>
          </a:p>
        </p:txBody>
      </p:sp>
      <p:sp>
        <p:nvSpPr>
          <p:cNvPr id="85" name="熊大的PPT宝库46"/>
          <p:cNvSpPr txBox="1"/>
          <p:nvPr/>
        </p:nvSpPr>
        <p:spPr>
          <a:xfrm>
            <a:off x="10019428" y="5153997"/>
            <a:ext cx="1692000" cy="1077218"/>
          </a:xfrm>
          <a:prstGeom prst="rect">
            <a:avLst/>
          </a:prstGeom>
          <a:noFill/>
        </p:spPr>
        <p:txBody>
          <a:bodyPr wrap="square" rtlCol="0">
            <a:spAutoFit/>
          </a:bodyPr>
          <a:lstStyle>
            <a:defPPr>
              <a:defRPr lang="en-US"/>
            </a:defPPr>
            <a:lvl1pPr algn="just">
              <a:lnSpc>
                <a:spcPct val="130000"/>
              </a:lnSpc>
              <a:defRPr sz="1600">
                <a:solidFill>
                  <a:schemeClr val="tx1">
                    <a:alpha val="70000"/>
                  </a:schemeClr>
                </a:solidFill>
                <a:latin typeface="+mj-ea"/>
                <a:ea typeface="+mj-ea"/>
              </a:defRPr>
            </a:lvl1p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alpha val="70000"/>
                  </a:srgbClr>
                </a:solidFill>
                <a:effectLst/>
                <a:uLnTx/>
                <a:uFillTx/>
                <a:latin typeface="+mn-lt"/>
                <a:ea typeface="+mn-ea"/>
                <a:cs typeface="+mn-ea"/>
                <a:sym typeface="+mn-lt"/>
              </a:rPr>
              <a:t>数据积累形成备货分仓、路径优化、订单路由规则不断迭代优化</a:t>
            </a:r>
          </a:p>
        </p:txBody>
      </p:sp>
      <p:sp>
        <p:nvSpPr>
          <p:cNvPr id="24" name="熊大的PPT宝库48"/>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熊大的PPT宝库1"/>
          <p:cNvSpPr txBox="1"/>
          <p:nvPr/>
        </p:nvSpPr>
        <p:spPr>
          <a:xfrm>
            <a:off x="348830" y="216968"/>
            <a:ext cx="4288353"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优化基础助力企业发展</a:t>
            </a:r>
          </a:p>
        </p:txBody>
      </p:sp>
      <p:sp>
        <p:nvSpPr>
          <p:cNvPr id="50" name="熊大的PPT宝库2"/>
          <p:cNvSpPr/>
          <p:nvPr/>
        </p:nvSpPr>
        <p:spPr>
          <a:xfrm>
            <a:off x="4281714" y="2275034"/>
            <a:ext cx="7097486" cy="4031523"/>
          </a:xfrm>
          <a:prstGeom prst="roundRect">
            <a:avLst>
              <a:gd name="adj" fmla="val 2511"/>
            </a:avLst>
          </a:prstGeom>
          <a:solidFill>
            <a:schemeClr val="bg1">
              <a:lumMod val="95000"/>
            </a:schemeClr>
          </a:solidFill>
          <a:ln w="9525">
            <a:solidFill>
              <a:schemeClr val="bg1">
                <a:lumMod val="85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51" name="熊大的PPT宝库3"/>
          <p:cNvSpPr/>
          <p:nvPr/>
        </p:nvSpPr>
        <p:spPr>
          <a:xfrm>
            <a:off x="4920299" y="4306288"/>
            <a:ext cx="2783840" cy="1541958"/>
          </a:xfrm>
          <a:custGeom>
            <a:avLst/>
            <a:gdLst>
              <a:gd name="connsiteX0" fmla="*/ 44636 w 2783840"/>
              <a:gd name="connsiteY0" fmla="*/ 0 h 1541958"/>
              <a:gd name="connsiteX1" fmla="*/ 2739204 w 2783840"/>
              <a:gd name="connsiteY1" fmla="*/ 0 h 1541958"/>
              <a:gd name="connsiteX2" fmla="*/ 2783840 w 2783840"/>
              <a:gd name="connsiteY2" fmla="*/ 44636 h 1541958"/>
              <a:gd name="connsiteX3" fmla="*/ 2783840 w 2783840"/>
              <a:gd name="connsiteY3" fmla="*/ 685792 h 1541958"/>
              <a:gd name="connsiteX4" fmla="*/ 2739204 w 2783840"/>
              <a:gd name="connsiteY4" fmla="*/ 730428 h 1541958"/>
              <a:gd name="connsiteX5" fmla="*/ 929644 w 2783840"/>
              <a:gd name="connsiteY5" fmla="*/ 730428 h 1541958"/>
              <a:gd name="connsiteX6" fmla="*/ 929644 w 2783840"/>
              <a:gd name="connsiteY6" fmla="*/ 811530 h 1541958"/>
              <a:gd name="connsiteX7" fmla="*/ 2739204 w 2783840"/>
              <a:gd name="connsiteY7" fmla="*/ 811530 h 1541958"/>
              <a:gd name="connsiteX8" fmla="*/ 2783840 w 2783840"/>
              <a:gd name="connsiteY8" fmla="*/ 856166 h 1541958"/>
              <a:gd name="connsiteX9" fmla="*/ 2783840 w 2783840"/>
              <a:gd name="connsiteY9" fmla="*/ 1497322 h 1541958"/>
              <a:gd name="connsiteX10" fmla="*/ 2739204 w 2783840"/>
              <a:gd name="connsiteY10" fmla="*/ 1541958 h 1541958"/>
              <a:gd name="connsiteX11" fmla="*/ 44636 w 2783840"/>
              <a:gd name="connsiteY11" fmla="*/ 1541958 h 1541958"/>
              <a:gd name="connsiteX12" fmla="*/ 0 w 2783840"/>
              <a:gd name="connsiteY12" fmla="*/ 1497322 h 1541958"/>
              <a:gd name="connsiteX13" fmla="*/ 0 w 2783840"/>
              <a:gd name="connsiteY13" fmla="*/ 1351207 h 1541958"/>
              <a:gd name="connsiteX14" fmla="*/ 0 w 2783840"/>
              <a:gd name="connsiteY14" fmla="*/ 856166 h 1541958"/>
              <a:gd name="connsiteX15" fmla="*/ 0 w 2783840"/>
              <a:gd name="connsiteY15" fmla="*/ 685792 h 1541958"/>
              <a:gd name="connsiteX16" fmla="*/ 0 w 2783840"/>
              <a:gd name="connsiteY16" fmla="*/ 189790 h 1541958"/>
              <a:gd name="connsiteX17" fmla="*/ 0 w 2783840"/>
              <a:gd name="connsiteY17" fmla="*/ 44636 h 1541958"/>
              <a:gd name="connsiteX18" fmla="*/ 44636 w 2783840"/>
              <a:gd name="connsiteY18" fmla="*/ 0 h 1541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783840" h="1541958">
                <a:moveTo>
                  <a:pt x="44636" y="0"/>
                </a:moveTo>
                <a:lnTo>
                  <a:pt x="2739204" y="0"/>
                </a:lnTo>
                <a:cubicBezTo>
                  <a:pt x="2763856" y="0"/>
                  <a:pt x="2783840" y="19984"/>
                  <a:pt x="2783840" y="44636"/>
                </a:cubicBezTo>
                <a:lnTo>
                  <a:pt x="2783840" y="685792"/>
                </a:lnTo>
                <a:cubicBezTo>
                  <a:pt x="2783840" y="710444"/>
                  <a:pt x="2763856" y="730428"/>
                  <a:pt x="2739204" y="730428"/>
                </a:cubicBezTo>
                <a:lnTo>
                  <a:pt x="929644" y="730428"/>
                </a:lnTo>
                <a:lnTo>
                  <a:pt x="929644" y="811530"/>
                </a:lnTo>
                <a:lnTo>
                  <a:pt x="2739204" y="811530"/>
                </a:lnTo>
                <a:cubicBezTo>
                  <a:pt x="2763856" y="811530"/>
                  <a:pt x="2783840" y="831514"/>
                  <a:pt x="2783840" y="856166"/>
                </a:cubicBezTo>
                <a:lnTo>
                  <a:pt x="2783840" y="1497322"/>
                </a:lnTo>
                <a:cubicBezTo>
                  <a:pt x="2783840" y="1521974"/>
                  <a:pt x="2763856" y="1541958"/>
                  <a:pt x="2739204" y="1541958"/>
                </a:cubicBezTo>
                <a:lnTo>
                  <a:pt x="44636" y="1541958"/>
                </a:lnTo>
                <a:cubicBezTo>
                  <a:pt x="19984" y="1541958"/>
                  <a:pt x="0" y="1521974"/>
                  <a:pt x="0" y="1497322"/>
                </a:cubicBezTo>
                <a:lnTo>
                  <a:pt x="0" y="1351207"/>
                </a:lnTo>
                <a:lnTo>
                  <a:pt x="0" y="856166"/>
                </a:lnTo>
                <a:lnTo>
                  <a:pt x="0" y="685792"/>
                </a:lnTo>
                <a:lnTo>
                  <a:pt x="0" y="189790"/>
                </a:lnTo>
                <a:lnTo>
                  <a:pt x="0" y="44636"/>
                </a:lnTo>
                <a:cubicBezTo>
                  <a:pt x="0" y="19984"/>
                  <a:pt x="19984" y="0"/>
                  <a:pt x="4463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52" name="熊大的PPT宝库4"/>
          <p:cNvSpPr txBox="1"/>
          <p:nvPr/>
        </p:nvSpPr>
        <p:spPr>
          <a:xfrm>
            <a:off x="654685" y="1256989"/>
            <a:ext cx="10724515" cy="430887"/>
          </a:xfrm>
          <a:prstGeom prst="rect">
            <a:avLst/>
          </a:prstGeom>
          <a:noFill/>
          <a:effectLst/>
        </p:spPr>
        <p:txBody>
          <a:bodyPr wrap="square" lIns="0" tIns="0" rIns="0" bIns="0" rtlCol="0">
            <a:spAutoFit/>
          </a:bodyPr>
          <a:lstStyle>
            <a:defPPr>
              <a:defRPr lang="en-US"/>
            </a:defPPr>
            <a:lvl1pPr>
              <a:defRPr sz="2500">
                <a:gradFill>
                  <a:gsLst>
                    <a:gs pos="0">
                      <a:schemeClr val="bg2">
                        <a:lumMod val="50000"/>
                      </a:schemeClr>
                    </a:gs>
                    <a:gs pos="100000">
                      <a:schemeClr val="tx1"/>
                    </a:gs>
                  </a:gsLst>
                  <a:lin ang="5400000" scaled="0"/>
                </a:gradFill>
                <a:effectLst>
                  <a:outerShdw blurRad="254000" sx="102000" sy="102000" algn="ctr" rotWithShape="0">
                    <a:prstClr val="black">
                      <a:alpha val="20000"/>
                    </a:prstClr>
                  </a:outerShdw>
                </a:effectLst>
                <a:latin typeface="+mj-ea"/>
                <a:ea typeface="+mj-ea"/>
              </a:defRPr>
            </a:lvl1p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latin typeface="+mn-lt"/>
                <a:ea typeface="+mn-ea"/>
                <a:cs typeface="+mn-ea"/>
                <a:sym typeface="+mn-lt"/>
              </a:rPr>
              <a:t>新的一轮客户使用评价即将袭来，各部门都将参与到全球化的浪潮之中，加大力度完善企业基础设施建设成为跨境供应链物流企业增强市场竞争力的必然选择</a:t>
            </a:r>
            <a:endParaRPr kumimoji="0" lang="en-US" sz="1400" b="0" i="0" u="none" strike="noStrike" kern="1200" cap="none" spc="0" normalizeH="0" baseline="0" noProof="0" dirty="0">
              <a:ln>
                <a:noFill/>
              </a:ln>
              <a:solidFill>
                <a:srgbClr val="00329D"/>
              </a:solidFill>
              <a:effectLst/>
              <a:uLnTx/>
              <a:uFillTx/>
              <a:latin typeface="+mn-lt"/>
              <a:ea typeface="+mn-ea"/>
              <a:cs typeface="+mn-ea"/>
              <a:sym typeface="+mn-lt"/>
            </a:endParaRPr>
          </a:p>
        </p:txBody>
      </p:sp>
      <p:sp>
        <p:nvSpPr>
          <p:cNvPr id="54" name="熊大的PPT宝库5"/>
          <p:cNvSpPr/>
          <p:nvPr/>
        </p:nvSpPr>
        <p:spPr>
          <a:xfrm>
            <a:off x="654685" y="2260338"/>
            <a:ext cx="2783840" cy="4046220"/>
          </a:xfrm>
          <a:prstGeom prst="roundRect">
            <a:avLst>
              <a:gd name="adj" fmla="val 229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55" name="熊大的PPT宝库6"/>
          <p:cNvSpPr/>
          <p:nvPr/>
        </p:nvSpPr>
        <p:spPr>
          <a:xfrm>
            <a:off x="699770" y="3075678"/>
            <a:ext cx="2693670" cy="3181350"/>
          </a:xfrm>
          <a:custGeom>
            <a:avLst/>
            <a:gdLst>
              <a:gd name="connsiteX0" fmla="*/ 0 w 2693670"/>
              <a:gd name="connsiteY0" fmla="*/ 0 h 3181350"/>
              <a:gd name="connsiteX1" fmla="*/ 2693670 w 2693670"/>
              <a:gd name="connsiteY1" fmla="*/ 0 h 3181350"/>
              <a:gd name="connsiteX2" fmla="*/ 2693670 w 2693670"/>
              <a:gd name="connsiteY2" fmla="*/ 3119476 h 3181350"/>
              <a:gd name="connsiteX3" fmla="*/ 2631796 w 2693670"/>
              <a:gd name="connsiteY3" fmla="*/ 3181350 h 3181350"/>
              <a:gd name="connsiteX4" fmla="*/ 61874 w 2693670"/>
              <a:gd name="connsiteY4" fmla="*/ 3181350 h 3181350"/>
              <a:gd name="connsiteX5" fmla="*/ 0 w 2693670"/>
              <a:gd name="connsiteY5" fmla="*/ 3119476 h 318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3670" h="3181350">
                <a:moveTo>
                  <a:pt x="0" y="0"/>
                </a:moveTo>
                <a:lnTo>
                  <a:pt x="2693670" y="0"/>
                </a:lnTo>
                <a:lnTo>
                  <a:pt x="2693670" y="3119476"/>
                </a:lnTo>
                <a:cubicBezTo>
                  <a:pt x="2693670" y="3153648"/>
                  <a:pt x="2665968" y="3181350"/>
                  <a:pt x="2631796" y="3181350"/>
                </a:cubicBezTo>
                <a:lnTo>
                  <a:pt x="61874" y="3181350"/>
                </a:lnTo>
                <a:cubicBezTo>
                  <a:pt x="27702" y="3181350"/>
                  <a:pt x="0" y="3153648"/>
                  <a:pt x="0" y="311947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56" name="熊大的PPT宝库7"/>
          <p:cNvSpPr/>
          <p:nvPr/>
        </p:nvSpPr>
        <p:spPr>
          <a:xfrm>
            <a:off x="4920299" y="2614648"/>
            <a:ext cx="2783840" cy="799008"/>
          </a:xfrm>
          <a:prstGeom prst="roundRect">
            <a:avLst>
              <a:gd name="adj" fmla="val 611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57" name="熊大的PPT宝库8"/>
          <p:cNvSpPr/>
          <p:nvPr/>
        </p:nvSpPr>
        <p:spPr>
          <a:xfrm>
            <a:off x="4920299" y="3494758"/>
            <a:ext cx="2783840" cy="730428"/>
          </a:xfrm>
          <a:prstGeom prst="roundRect">
            <a:avLst>
              <a:gd name="adj" fmla="val 611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58" name="熊大的PPT宝库9"/>
          <p:cNvSpPr/>
          <p:nvPr/>
        </p:nvSpPr>
        <p:spPr>
          <a:xfrm>
            <a:off x="5849943" y="3518818"/>
            <a:ext cx="1828480" cy="681284"/>
          </a:xfrm>
          <a:custGeom>
            <a:avLst/>
            <a:gdLst>
              <a:gd name="connsiteX0" fmla="*/ 0 w 1860869"/>
              <a:gd name="connsiteY0" fmla="*/ 0 h 693352"/>
              <a:gd name="connsiteX1" fmla="*/ 1818498 w 1860869"/>
              <a:gd name="connsiteY1" fmla="*/ 0 h 693352"/>
              <a:gd name="connsiteX2" fmla="*/ 1860869 w 1860869"/>
              <a:gd name="connsiteY2" fmla="*/ 42371 h 693352"/>
              <a:gd name="connsiteX3" fmla="*/ 1860869 w 1860869"/>
              <a:gd name="connsiteY3" fmla="*/ 650981 h 693352"/>
              <a:gd name="connsiteX4" fmla="*/ 1818498 w 1860869"/>
              <a:gd name="connsiteY4" fmla="*/ 693352 h 693352"/>
              <a:gd name="connsiteX5" fmla="*/ 0 w 1860869"/>
              <a:gd name="connsiteY5" fmla="*/ 693352 h 693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0869" h="693352">
                <a:moveTo>
                  <a:pt x="0" y="0"/>
                </a:moveTo>
                <a:lnTo>
                  <a:pt x="1818498" y="0"/>
                </a:lnTo>
                <a:cubicBezTo>
                  <a:pt x="1841899" y="0"/>
                  <a:pt x="1860869" y="18970"/>
                  <a:pt x="1860869" y="42371"/>
                </a:cubicBezTo>
                <a:lnTo>
                  <a:pt x="1860869" y="650981"/>
                </a:lnTo>
                <a:cubicBezTo>
                  <a:pt x="1860869" y="674382"/>
                  <a:pt x="1841899" y="693352"/>
                  <a:pt x="1818498" y="693352"/>
                </a:cubicBezTo>
                <a:lnTo>
                  <a:pt x="0" y="69335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59" name="熊大的PPT宝库10"/>
          <p:cNvSpPr/>
          <p:nvPr/>
        </p:nvSpPr>
        <p:spPr>
          <a:xfrm>
            <a:off x="5849943" y="4330348"/>
            <a:ext cx="1828480" cy="681284"/>
          </a:xfrm>
          <a:custGeom>
            <a:avLst/>
            <a:gdLst>
              <a:gd name="connsiteX0" fmla="*/ 0 w 1860869"/>
              <a:gd name="connsiteY0" fmla="*/ 0 h 693352"/>
              <a:gd name="connsiteX1" fmla="*/ 1818498 w 1860869"/>
              <a:gd name="connsiteY1" fmla="*/ 0 h 693352"/>
              <a:gd name="connsiteX2" fmla="*/ 1860869 w 1860869"/>
              <a:gd name="connsiteY2" fmla="*/ 42371 h 693352"/>
              <a:gd name="connsiteX3" fmla="*/ 1860869 w 1860869"/>
              <a:gd name="connsiteY3" fmla="*/ 650981 h 693352"/>
              <a:gd name="connsiteX4" fmla="*/ 1818498 w 1860869"/>
              <a:gd name="connsiteY4" fmla="*/ 693352 h 693352"/>
              <a:gd name="connsiteX5" fmla="*/ 0 w 1860869"/>
              <a:gd name="connsiteY5" fmla="*/ 693352 h 693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0869" h="693352">
                <a:moveTo>
                  <a:pt x="0" y="0"/>
                </a:moveTo>
                <a:lnTo>
                  <a:pt x="1818498" y="0"/>
                </a:lnTo>
                <a:cubicBezTo>
                  <a:pt x="1841899" y="0"/>
                  <a:pt x="1860869" y="18970"/>
                  <a:pt x="1860869" y="42371"/>
                </a:cubicBezTo>
                <a:lnTo>
                  <a:pt x="1860869" y="650981"/>
                </a:lnTo>
                <a:cubicBezTo>
                  <a:pt x="1860869" y="674382"/>
                  <a:pt x="1841899" y="693352"/>
                  <a:pt x="1818498" y="693352"/>
                </a:cubicBezTo>
                <a:lnTo>
                  <a:pt x="0" y="69335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0" name="熊大的PPT宝库11"/>
          <p:cNvSpPr/>
          <p:nvPr/>
        </p:nvSpPr>
        <p:spPr>
          <a:xfrm>
            <a:off x="5849943" y="5141878"/>
            <a:ext cx="1828480" cy="681284"/>
          </a:xfrm>
          <a:custGeom>
            <a:avLst/>
            <a:gdLst>
              <a:gd name="connsiteX0" fmla="*/ 0 w 1860869"/>
              <a:gd name="connsiteY0" fmla="*/ 0 h 693352"/>
              <a:gd name="connsiteX1" fmla="*/ 1818498 w 1860869"/>
              <a:gd name="connsiteY1" fmla="*/ 0 h 693352"/>
              <a:gd name="connsiteX2" fmla="*/ 1860869 w 1860869"/>
              <a:gd name="connsiteY2" fmla="*/ 42371 h 693352"/>
              <a:gd name="connsiteX3" fmla="*/ 1860869 w 1860869"/>
              <a:gd name="connsiteY3" fmla="*/ 650981 h 693352"/>
              <a:gd name="connsiteX4" fmla="*/ 1818498 w 1860869"/>
              <a:gd name="connsiteY4" fmla="*/ 693352 h 693352"/>
              <a:gd name="connsiteX5" fmla="*/ 0 w 1860869"/>
              <a:gd name="connsiteY5" fmla="*/ 693352 h 693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0869" h="693352">
                <a:moveTo>
                  <a:pt x="0" y="0"/>
                </a:moveTo>
                <a:lnTo>
                  <a:pt x="1818498" y="0"/>
                </a:lnTo>
                <a:cubicBezTo>
                  <a:pt x="1841899" y="0"/>
                  <a:pt x="1860869" y="18970"/>
                  <a:pt x="1860869" y="42371"/>
                </a:cubicBezTo>
                <a:lnTo>
                  <a:pt x="1860869" y="650981"/>
                </a:lnTo>
                <a:cubicBezTo>
                  <a:pt x="1860869" y="674382"/>
                  <a:pt x="1841899" y="693352"/>
                  <a:pt x="1818498" y="693352"/>
                </a:cubicBezTo>
                <a:lnTo>
                  <a:pt x="0" y="69335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1" name="熊大的PPT宝库12"/>
          <p:cNvSpPr/>
          <p:nvPr/>
        </p:nvSpPr>
        <p:spPr>
          <a:xfrm>
            <a:off x="8612223" y="2614647"/>
            <a:ext cx="944014" cy="944014"/>
          </a:xfrm>
          <a:prstGeom prst="ellipse">
            <a:avLst/>
          </a:prstGeom>
          <a:solidFill>
            <a:schemeClr val="bg1">
              <a:lumMod val="75000"/>
            </a:schemeClr>
          </a:solidFill>
          <a:ln>
            <a:noFill/>
          </a:ln>
          <a:effectLst>
            <a:outerShdw blurRad="1905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3" name="熊大的PPT宝库13"/>
          <p:cNvSpPr/>
          <p:nvPr/>
        </p:nvSpPr>
        <p:spPr>
          <a:xfrm>
            <a:off x="8603273" y="3750394"/>
            <a:ext cx="961912" cy="961911"/>
          </a:xfrm>
          <a:prstGeom prst="ellipse">
            <a:avLst/>
          </a:prstGeom>
          <a:gradFill>
            <a:gsLst>
              <a:gs pos="0">
                <a:schemeClr val="accent1">
                  <a:lumMod val="40000"/>
                  <a:lumOff val="60000"/>
                </a:schemeClr>
              </a:gs>
              <a:gs pos="100000">
                <a:schemeClr val="accent1">
                  <a:lumMod val="60000"/>
                  <a:lumOff val="40000"/>
                </a:schemeClr>
              </a:gs>
            </a:gsLst>
            <a:lin ang="2700000" scaled="0"/>
          </a:gradFill>
          <a:ln>
            <a:noFill/>
          </a:ln>
          <a:effectLst>
            <a:outerShdw blurRad="190500" dist="381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4" name="熊大的PPT宝库14"/>
          <p:cNvSpPr/>
          <p:nvPr/>
        </p:nvSpPr>
        <p:spPr>
          <a:xfrm>
            <a:off x="8555178" y="3702299"/>
            <a:ext cx="1058104" cy="1058103"/>
          </a:xfrm>
          <a:prstGeom prst="ellipse">
            <a:avLst/>
          </a:prstGeom>
          <a:noFill/>
          <a:ln w="6350">
            <a:solidFill>
              <a:schemeClr val="tx1">
                <a:alpha val="2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6" name="熊大的PPT宝库15"/>
          <p:cNvSpPr/>
          <p:nvPr/>
        </p:nvSpPr>
        <p:spPr>
          <a:xfrm>
            <a:off x="8603273" y="4952136"/>
            <a:ext cx="961912" cy="961911"/>
          </a:xfrm>
          <a:prstGeom prst="ellipse">
            <a:avLst/>
          </a:prstGeom>
          <a:gradFill>
            <a:gsLst>
              <a:gs pos="0">
                <a:schemeClr val="accent1">
                  <a:lumMod val="40000"/>
                  <a:lumOff val="60000"/>
                </a:schemeClr>
              </a:gs>
              <a:gs pos="100000">
                <a:schemeClr val="accent1">
                  <a:lumMod val="60000"/>
                  <a:lumOff val="40000"/>
                </a:schemeClr>
              </a:gs>
            </a:gsLst>
            <a:lin ang="2700000" scaled="0"/>
          </a:gradFill>
          <a:ln>
            <a:noFill/>
          </a:ln>
          <a:effectLst>
            <a:outerShdw blurRad="190500" dist="381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7" name="熊大的PPT宝库16"/>
          <p:cNvSpPr/>
          <p:nvPr/>
        </p:nvSpPr>
        <p:spPr>
          <a:xfrm>
            <a:off x="8555178" y="4904041"/>
            <a:ext cx="1058104" cy="1058103"/>
          </a:xfrm>
          <a:prstGeom prst="ellipse">
            <a:avLst/>
          </a:prstGeom>
          <a:noFill/>
          <a:ln w="6350">
            <a:solidFill>
              <a:schemeClr val="tx1">
                <a:alpha val="2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8" name="熊大的PPT宝库17"/>
          <p:cNvSpPr/>
          <p:nvPr/>
        </p:nvSpPr>
        <p:spPr>
          <a:xfrm>
            <a:off x="9985828" y="2810012"/>
            <a:ext cx="1216253" cy="553284"/>
          </a:xfrm>
          <a:prstGeom prst="roundRect">
            <a:avLst>
              <a:gd name="adj" fmla="val 6111"/>
            </a:avLst>
          </a:prstGeom>
          <a:solidFill>
            <a:schemeClr val="bg1"/>
          </a:solidFill>
          <a:ln w="6350">
            <a:solidFill>
              <a:schemeClr val="accent1"/>
            </a:solidFill>
            <a:prstDash val="dash"/>
          </a:ln>
          <a:effectLst>
            <a:outerShdw blurRad="254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9" name="熊大的PPT宝库18"/>
          <p:cNvSpPr/>
          <p:nvPr/>
        </p:nvSpPr>
        <p:spPr>
          <a:xfrm>
            <a:off x="9985828" y="3954708"/>
            <a:ext cx="1216253" cy="553284"/>
          </a:xfrm>
          <a:prstGeom prst="roundRect">
            <a:avLst>
              <a:gd name="adj" fmla="val 6111"/>
            </a:avLst>
          </a:prstGeom>
          <a:solidFill>
            <a:schemeClr val="bg1"/>
          </a:solidFill>
          <a:ln w="6350">
            <a:solidFill>
              <a:schemeClr val="accent1"/>
            </a:solidFill>
            <a:prstDash val="dash"/>
          </a:ln>
          <a:effectLst>
            <a:outerShdw blurRad="254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70" name="熊大的PPT宝库19"/>
          <p:cNvSpPr/>
          <p:nvPr/>
        </p:nvSpPr>
        <p:spPr>
          <a:xfrm>
            <a:off x="9985828" y="5156450"/>
            <a:ext cx="1216253" cy="553284"/>
          </a:xfrm>
          <a:prstGeom prst="roundRect">
            <a:avLst>
              <a:gd name="adj" fmla="val 6111"/>
            </a:avLst>
          </a:prstGeom>
          <a:solidFill>
            <a:schemeClr val="bg1"/>
          </a:solidFill>
          <a:ln w="6350">
            <a:solidFill>
              <a:schemeClr val="accent1"/>
            </a:solidFill>
            <a:prstDash val="dash"/>
          </a:ln>
          <a:effectLst>
            <a:outerShdw blurRad="254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71" name="熊大的PPT宝库20"/>
          <p:cNvSpPr/>
          <p:nvPr/>
        </p:nvSpPr>
        <p:spPr>
          <a:xfrm rot="5400000">
            <a:off x="3188928" y="4008947"/>
            <a:ext cx="1357712" cy="432481"/>
          </a:xfrm>
          <a:prstGeom prst="triangle">
            <a:avLst/>
          </a:prstGeom>
          <a:gradFill>
            <a:gsLst>
              <a:gs pos="100000">
                <a:schemeClr val="accent1">
                  <a:alpha val="0"/>
                </a:schemeClr>
              </a:gs>
              <a:gs pos="16000">
                <a:schemeClr val="accent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72" name="熊大的PPT宝库21"/>
          <p:cNvSpPr txBox="1"/>
          <p:nvPr/>
        </p:nvSpPr>
        <p:spPr>
          <a:xfrm>
            <a:off x="563793" y="1890521"/>
            <a:ext cx="1082348"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全能保现状</a:t>
            </a:r>
            <a:endParaRPr kumimoji="0" lang="en-US" sz="1400" b="0" i="0" u="none" strike="noStrike" kern="1200" cap="none" spc="0" normalizeH="0" baseline="0" noProof="0" dirty="0">
              <a:ln>
                <a:noFill/>
              </a:ln>
              <a:solidFill>
                <a:srgbClr val="000000"/>
              </a:solidFill>
              <a:effectLst/>
              <a:uLnTx/>
              <a:uFillTx/>
              <a:cs typeface="+mn-ea"/>
              <a:sym typeface="+mn-lt"/>
            </a:endParaRPr>
          </a:p>
        </p:txBody>
      </p:sp>
      <p:sp>
        <p:nvSpPr>
          <p:cNvPr id="74" name="熊大的PPT宝库22"/>
          <p:cNvSpPr txBox="1"/>
          <p:nvPr/>
        </p:nvSpPr>
        <p:spPr>
          <a:xfrm>
            <a:off x="791143" y="2370314"/>
            <a:ext cx="397552" cy="668966"/>
          </a:xfrm>
          <a:prstGeom prst="rect">
            <a:avLst/>
          </a:prstGeom>
          <a:noFill/>
        </p:spPr>
        <p:txBody>
          <a:bodyPr wrap="square" rtlCol="0">
            <a:spAutoFit/>
          </a:bodyPr>
          <a:lstStyle/>
          <a:p>
            <a:pPr marL="0" marR="0" lvl="0" indent="0" algn="l" defTabSz="4572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问</a:t>
            </a:r>
            <a:endParaRPr kumimoji="0" lang="en-US" altLang="zh-CN" sz="1600" b="0" i="0" u="none" strike="noStrike" kern="1200" cap="none" spc="0" normalizeH="0" baseline="0" noProof="0" dirty="0">
              <a:ln>
                <a:noFill/>
              </a:ln>
              <a:solidFill>
                <a:srgbClr val="FFFFFF"/>
              </a:solidFill>
              <a:effectLst/>
              <a:uLnTx/>
              <a:uFillTx/>
              <a:cs typeface="+mn-ea"/>
              <a:sym typeface="+mn-lt"/>
            </a:endParaRPr>
          </a:p>
          <a:p>
            <a:pPr marL="0" marR="0" lvl="0" indent="0" algn="l" defTabSz="4572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题</a:t>
            </a:r>
            <a:endParaRPr kumimoji="0" lang="en-US" sz="1600" b="0" i="0" u="none" strike="noStrike" kern="1200" cap="none" spc="0" normalizeH="0" baseline="0" noProof="0" dirty="0">
              <a:ln>
                <a:noFill/>
              </a:ln>
              <a:solidFill>
                <a:srgbClr val="FFFFFF"/>
              </a:solidFill>
              <a:effectLst/>
              <a:uLnTx/>
              <a:uFillTx/>
              <a:cs typeface="+mn-ea"/>
              <a:sym typeface="+mn-lt"/>
            </a:endParaRPr>
          </a:p>
        </p:txBody>
      </p:sp>
      <p:sp>
        <p:nvSpPr>
          <p:cNvPr id="75" name="熊大的PPT宝库23"/>
          <p:cNvSpPr txBox="1"/>
          <p:nvPr/>
        </p:nvSpPr>
        <p:spPr>
          <a:xfrm>
            <a:off x="1130570" y="2435121"/>
            <a:ext cx="2146291"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alpha val="70000"/>
                  </a:srgbClr>
                </a:solidFill>
                <a:effectLst/>
                <a:uLnTx/>
                <a:uFillTx/>
                <a:cs typeface="+mn-ea"/>
                <a:sym typeface="+mn-lt"/>
              </a:rPr>
              <a:t>缺失大规模行为数据指标</a:t>
            </a:r>
            <a:endParaRPr kumimoji="0" lang="en-US" sz="1200" b="0" i="0" u="none" strike="noStrike" kern="1200" cap="none" spc="0" normalizeH="0" baseline="0" noProof="0" dirty="0">
              <a:ln>
                <a:noFill/>
              </a:ln>
              <a:solidFill>
                <a:srgbClr val="FFFFFF">
                  <a:alpha val="70000"/>
                </a:srgbClr>
              </a:solidFill>
              <a:effectLst/>
              <a:uLnTx/>
              <a:uFillTx/>
              <a:cs typeface="+mn-ea"/>
              <a:sym typeface="+mn-lt"/>
            </a:endParaRPr>
          </a:p>
        </p:txBody>
      </p:sp>
      <p:sp>
        <p:nvSpPr>
          <p:cNvPr id="76" name="熊大的PPT宝库24"/>
          <p:cNvSpPr txBox="1"/>
          <p:nvPr/>
        </p:nvSpPr>
        <p:spPr>
          <a:xfrm>
            <a:off x="808903" y="3288729"/>
            <a:ext cx="1818978"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00329D"/>
                </a:solidFill>
                <a:effectLst/>
                <a:uLnTx/>
                <a:uFillTx/>
                <a:cs typeface="+mn-ea"/>
                <a:sym typeface="+mn-lt"/>
              </a:rPr>
              <a:t>态度数据</a:t>
            </a:r>
            <a:endParaRPr kumimoji="0" lang="en-US" sz="2400" b="0" i="0" u="none" strike="noStrike" kern="1200" cap="none" spc="0" normalizeH="0" baseline="0" noProof="0" dirty="0">
              <a:ln>
                <a:noFill/>
              </a:ln>
              <a:solidFill>
                <a:srgbClr val="00329D"/>
              </a:solidFill>
              <a:effectLst/>
              <a:uLnTx/>
              <a:uFillTx/>
              <a:cs typeface="+mn-ea"/>
              <a:sym typeface="+mn-lt"/>
            </a:endParaRPr>
          </a:p>
        </p:txBody>
      </p:sp>
      <p:sp>
        <p:nvSpPr>
          <p:cNvPr id="77" name="熊大的PPT宝库25"/>
          <p:cNvSpPr txBox="1"/>
          <p:nvPr/>
        </p:nvSpPr>
        <p:spPr>
          <a:xfrm>
            <a:off x="820097" y="3854620"/>
            <a:ext cx="898295"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满意度</a:t>
            </a:r>
            <a:endParaRPr kumimoji="0" lang="en-US" sz="1400" b="0" i="0" u="none" strike="noStrike" kern="1200" cap="none" spc="0" normalizeH="0" baseline="0" noProof="0" dirty="0">
              <a:ln>
                <a:noFill/>
              </a:ln>
              <a:solidFill>
                <a:srgbClr val="000000"/>
              </a:solidFill>
              <a:effectLst/>
              <a:uLnTx/>
              <a:uFillTx/>
              <a:cs typeface="+mn-ea"/>
              <a:sym typeface="+mn-lt"/>
            </a:endParaRPr>
          </a:p>
        </p:txBody>
      </p:sp>
      <p:cxnSp>
        <p:nvCxnSpPr>
          <p:cNvPr id="78" name="熊大的PPT宝库26"/>
          <p:cNvCxnSpPr/>
          <p:nvPr/>
        </p:nvCxnSpPr>
        <p:spPr>
          <a:xfrm>
            <a:off x="930243" y="3750394"/>
            <a:ext cx="2232724" cy="0"/>
          </a:xfrm>
          <a:prstGeom prst="line">
            <a:avLst/>
          </a:prstGeom>
          <a:ln w="15875">
            <a:solidFill>
              <a:schemeClr val="accent1">
                <a:lumMod val="40000"/>
                <a:lumOff val="60000"/>
                <a:alpha val="60000"/>
              </a:schemeClr>
            </a:solidFill>
          </a:ln>
        </p:spPr>
        <p:style>
          <a:lnRef idx="1">
            <a:schemeClr val="accent1"/>
          </a:lnRef>
          <a:fillRef idx="0">
            <a:schemeClr val="accent1"/>
          </a:fillRef>
          <a:effectRef idx="0">
            <a:schemeClr val="accent1"/>
          </a:effectRef>
          <a:fontRef idx="minor">
            <a:schemeClr val="tx1"/>
          </a:fontRef>
        </p:style>
      </p:cxnSp>
      <p:sp>
        <p:nvSpPr>
          <p:cNvPr id="79" name="熊大的PPT宝库27"/>
          <p:cNvSpPr txBox="1"/>
          <p:nvPr/>
        </p:nvSpPr>
        <p:spPr>
          <a:xfrm>
            <a:off x="820097" y="4178889"/>
            <a:ext cx="1507895"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小规模</a:t>
            </a:r>
            <a:r>
              <a:rPr kumimoji="0" lang="en-US" altLang="zh-CN" sz="1000" b="0" i="0" u="none" strike="noStrike" kern="1200" cap="none" spc="0" normalizeH="0" baseline="0" noProof="0" dirty="0">
                <a:ln>
                  <a:noFill/>
                </a:ln>
                <a:solidFill>
                  <a:srgbClr val="000000"/>
                </a:solidFill>
                <a:effectLst/>
                <a:uLnTx/>
                <a:uFillTx/>
                <a:cs typeface="+mn-ea"/>
                <a:sym typeface="+mn-lt"/>
              </a:rPr>
              <a:t>&gt;</a:t>
            </a:r>
            <a:r>
              <a:rPr kumimoji="0" lang="zh-CN" altLang="en-US" sz="1000" b="0" i="0" u="none" strike="noStrike" kern="1200" cap="none" spc="0" normalizeH="0" baseline="0" noProof="0" dirty="0">
                <a:ln>
                  <a:noFill/>
                </a:ln>
                <a:solidFill>
                  <a:srgbClr val="000000"/>
                </a:solidFill>
                <a:effectLst/>
                <a:uLnTx/>
                <a:uFillTx/>
                <a:cs typeface="+mn-ea"/>
                <a:sym typeface="+mn-lt"/>
              </a:rPr>
              <a:t>大规模</a:t>
            </a:r>
            <a:endParaRPr kumimoji="0" lang="en-US" sz="1000" b="0" i="0" u="none" strike="noStrike" kern="1200" cap="none" spc="0" normalizeH="0" baseline="0" noProof="0" dirty="0">
              <a:ln>
                <a:noFill/>
              </a:ln>
              <a:solidFill>
                <a:srgbClr val="000000"/>
              </a:solidFill>
              <a:effectLst/>
              <a:uLnTx/>
              <a:uFillTx/>
              <a:cs typeface="+mn-ea"/>
              <a:sym typeface="+mn-lt"/>
            </a:endParaRPr>
          </a:p>
        </p:txBody>
      </p:sp>
      <p:sp>
        <p:nvSpPr>
          <p:cNvPr id="80" name="熊大的PPT宝库28"/>
          <p:cNvSpPr txBox="1"/>
          <p:nvPr/>
        </p:nvSpPr>
        <p:spPr>
          <a:xfrm>
            <a:off x="808903" y="4749862"/>
            <a:ext cx="1818978"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00329D"/>
                </a:solidFill>
                <a:effectLst/>
                <a:uLnTx/>
                <a:uFillTx/>
                <a:cs typeface="+mn-ea"/>
                <a:sym typeface="+mn-lt"/>
              </a:rPr>
              <a:t>行为数据</a:t>
            </a:r>
            <a:endParaRPr kumimoji="0" lang="en-US" sz="2400" b="0" i="0" u="none" strike="noStrike" kern="1200" cap="none" spc="0" normalizeH="0" baseline="0" noProof="0" dirty="0">
              <a:ln>
                <a:noFill/>
              </a:ln>
              <a:solidFill>
                <a:srgbClr val="00329D"/>
              </a:solidFill>
              <a:effectLst/>
              <a:uLnTx/>
              <a:uFillTx/>
              <a:cs typeface="+mn-ea"/>
              <a:sym typeface="+mn-lt"/>
            </a:endParaRPr>
          </a:p>
        </p:txBody>
      </p:sp>
      <p:sp>
        <p:nvSpPr>
          <p:cNvPr id="81" name="熊大的PPT宝库29"/>
          <p:cNvSpPr txBox="1"/>
          <p:nvPr/>
        </p:nvSpPr>
        <p:spPr>
          <a:xfrm>
            <a:off x="820097" y="5315753"/>
            <a:ext cx="2438360"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有效性</a:t>
            </a:r>
            <a:r>
              <a:rPr kumimoji="0" lang="en-US" altLang="zh-CN" sz="1400" b="0" i="0" u="none" strike="noStrike" kern="1200" cap="none" spc="0" normalizeH="0" baseline="0" noProof="0" dirty="0">
                <a:ln>
                  <a:noFill/>
                </a:ln>
                <a:solidFill>
                  <a:srgbClr val="000000"/>
                </a:solidFill>
                <a:effectLst/>
                <a:uLnTx/>
                <a:uFillTx/>
                <a:cs typeface="+mn-ea"/>
                <a:sym typeface="+mn-lt"/>
              </a:rPr>
              <a:t>:</a:t>
            </a:r>
            <a:r>
              <a:rPr kumimoji="0" lang="zh-CN" altLang="en-US" sz="1400" b="0" i="0" u="none" strike="noStrike" kern="1200" cap="none" spc="0" normalizeH="0" baseline="0" noProof="0" dirty="0">
                <a:ln>
                  <a:noFill/>
                </a:ln>
                <a:solidFill>
                  <a:srgbClr val="000000"/>
                </a:solidFill>
                <a:effectLst/>
                <a:uLnTx/>
                <a:uFillTx/>
                <a:cs typeface="+mn-ea"/>
                <a:sym typeface="+mn-lt"/>
              </a:rPr>
              <a:t>任务完成率、错误率</a:t>
            </a:r>
            <a:endParaRPr kumimoji="0" lang="en-US" sz="1400" b="0" i="0" u="none" strike="noStrike" kern="1200" cap="none" spc="0" normalizeH="0" baseline="0" noProof="0" dirty="0">
              <a:ln>
                <a:noFill/>
              </a:ln>
              <a:solidFill>
                <a:srgbClr val="000000"/>
              </a:solidFill>
              <a:effectLst/>
              <a:uLnTx/>
              <a:uFillTx/>
              <a:cs typeface="+mn-ea"/>
              <a:sym typeface="+mn-lt"/>
            </a:endParaRPr>
          </a:p>
        </p:txBody>
      </p:sp>
      <p:cxnSp>
        <p:nvCxnSpPr>
          <p:cNvPr id="82" name="熊大的PPT宝库30"/>
          <p:cNvCxnSpPr/>
          <p:nvPr/>
        </p:nvCxnSpPr>
        <p:spPr>
          <a:xfrm>
            <a:off x="930243" y="5211527"/>
            <a:ext cx="2232724" cy="0"/>
          </a:xfrm>
          <a:prstGeom prst="line">
            <a:avLst/>
          </a:prstGeom>
          <a:ln w="15875">
            <a:solidFill>
              <a:schemeClr val="accent1">
                <a:lumMod val="40000"/>
                <a:lumOff val="60000"/>
                <a:alpha val="60000"/>
              </a:schemeClr>
            </a:solidFill>
          </a:ln>
        </p:spPr>
        <p:style>
          <a:lnRef idx="1">
            <a:schemeClr val="accent1"/>
          </a:lnRef>
          <a:fillRef idx="0">
            <a:schemeClr val="accent1"/>
          </a:fillRef>
          <a:effectRef idx="0">
            <a:schemeClr val="accent1"/>
          </a:effectRef>
          <a:fontRef idx="minor">
            <a:schemeClr val="tx1"/>
          </a:fontRef>
        </p:style>
      </p:cxnSp>
      <p:sp>
        <p:nvSpPr>
          <p:cNvPr id="83" name="熊大的PPT宝库31"/>
          <p:cNvSpPr txBox="1"/>
          <p:nvPr/>
        </p:nvSpPr>
        <p:spPr>
          <a:xfrm>
            <a:off x="820097" y="5899047"/>
            <a:ext cx="1507895"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小规模</a:t>
            </a:r>
            <a:endParaRPr kumimoji="0" lang="en-US" sz="1000" b="0" i="0" u="none" strike="noStrike" kern="1200" cap="none" spc="0" normalizeH="0" baseline="0" noProof="0" dirty="0">
              <a:ln>
                <a:noFill/>
              </a:ln>
              <a:solidFill>
                <a:srgbClr val="000000"/>
              </a:solidFill>
              <a:effectLst/>
              <a:uLnTx/>
              <a:uFillTx/>
              <a:cs typeface="+mn-ea"/>
              <a:sym typeface="+mn-lt"/>
            </a:endParaRPr>
          </a:p>
        </p:txBody>
      </p:sp>
      <p:sp>
        <p:nvSpPr>
          <p:cNvPr id="84" name="熊大的PPT宝库32"/>
          <p:cNvSpPr txBox="1"/>
          <p:nvPr/>
        </p:nvSpPr>
        <p:spPr>
          <a:xfrm>
            <a:off x="820097" y="5596701"/>
            <a:ext cx="2438360"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效率</a:t>
            </a:r>
            <a:r>
              <a:rPr kumimoji="0" lang="en-US" altLang="zh-CN" sz="1400" b="0" i="0" u="none" strike="noStrike" kern="1200" cap="none" spc="0" normalizeH="0" baseline="0" noProof="0" dirty="0">
                <a:ln>
                  <a:noFill/>
                </a:ln>
                <a:solidFill>
                  <a:srgbClr val="000000"/>
                </a:solidFill>
                <a:effectLst/>
                <a:uLnTx/>
                <a:uFillTx/>
                <a:cs typeface="+mn-ea"/>
                <a:sym typeface="+mn-lt"/>
              </a:rPr>
              <a:t>:</a:t>
            </a:r>
            <a:r>
              <a:rPr kumimoji="0" lang="zh-CN" altLang="en-US" sz="1400" b="0" i="0" u="none" strike="noStrike" kern="1200" cap="none" spc="0" normalizeH="0" baseline="0" noProof="0" dirty="0">
                <a:ln>
                  <a:noFill/>
                </a:ln>
                <a:solidFill>
                  <a:srgbClr val="000000"/>
                </a:solidFill>
                <a:effectLst/>
                <a:uLnTx/>
                <a:uFillTx/>
                <a:cs typeface="+mn-ea"/>
                <a:sym typeface="+mn-lt"/>
              </a:rPr>
              <a:t>工作时长</a:t>
            </a:r>
            <a:endParaRPr kumimoji="0" lang="en-US" sz="1400" b="0" i="0" u="none" strike="noStrike" kern="1200" cap="none" spc="0" normalizeH="0" baseline="0" noProof="0" dirty="0">
              <a:ln>
                <a:noFill/>
              </a:ln>
              <a:solidFill>
                <a:srgbClr val="000000"/>
              </a:solidFill>
              <a:effectLst/>
              <a:uLnTx/>
              <a:uFillTx/>
              <a:cs typeface="+mn-ea"/>
              <a:sym typeface="+mn-lt"/>
            </a:endParaRPr>
          </a:p>
        </p:txBody>
      </p:sp>
      <p:sp>
        <p:nvSpPr>
          <p:cNvPr id="85" name="熊大的PPT宝库33"/>
          <p:cNvSpPr txBox="1"/>
          <p:nvPr/>
        </p:nvSpPr>
        <p:spPr>
          <a:xfrm>
            <a:off x="4946016" y="2679669"/>
            <a:ext cx="2732408" cy="668966"/>
          </a:xfrm>
          <a:prstGeom prst="rect">
            <a:avLst/>
          </a:prstGeom>
          <a:noFill/>
        </p:spPr>
        <p:txBody>
          <a:bodyPr wrap="square" rtlCol="0">
            <a:spAutoFit/>
          </a:body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定义指标</a:t>
            </a:r>
            <a:endParaRPr kumimoji="0" lang="en-US" altLang="zh-CN" sz="1600" b="0"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cs typeface="+mn-ea"/>
                <a:sym typeface="+mn-lt"/>
              </a:rPr>
              <a:t>《</a:t>
            </a:r>
            <a:r>
              <a:rPr kumimoji="0" lang="zh-CN" altLang="en-US" sz="1600" b="0" i="0" u="none" strike="noStrike" kern="1200" cap="none" spc="0" normalizeH="0" baseline="0" noProof="0" dirty="0">
                <a:ln>
                  <a:noFill/>
                </a:ln>
                <a:solidFill>
                  <a:srgbClr val="FFFFFF"/>
                </a:solidFill>
                <a:effectLst/>
                <a:uLnTx/>
                <a:uFillTx/>
                <a:cs typeface="+mn-ea"/>
                <a:sym typeface="+mn-lt"/>
              </a:rPr>
              <a:t>建立以用户为中心</a:t>
            </a:r>
            <a:r>
              <a:rPr kumimoji="0" lang="en-US" altLang="zh-CN" sz="1600" b="0" i="0" u="none" strike="noStrike" kern="1200" cap="none" spc="0" normalizeH="0" baseline="0" noProof="0" dirty="0">
                <a:ln>
                  <a:noFill/>
                </a:ln>
                <a:solidFill>
                  <a:srgbClr val="FFFFFF"/>
                </a:solidFill>
                <a:effectLst/>
                <a:uLnTx/>
                <a:uFillTx/>
                <a:cs typeface="+mn-ea"/>
                <a:sym typeface="+mn-lt"/>
              </a:rPr>
              <a:t>》</a:t>
            </a:r>
            <a:endParaRPr kumimoji="0" lang="en-US" sz="1600" b="0" i="0" u="none" strike="noStrike" kern="1200" cap="none" spc="0" normalizeH="0" baseline="0" noProof="0" dirty="0">
              <a:ln>
                <a:noFill/>
              </a:ln>
              <a:solidFill>
                <a:srgbClr val="FFFFFF"/>
              </a:solidFill>
              <a:effectLst/>
              <a:uLnTx/>
              <a:uFillTx/>
              <a:cs typeface="+mn-ea"/>
              <a:sym typeface="+mn-lt"/>
            </a:endParaRPr>
          </a:p>
        </p:txBody>
      </p:sp>
      <p:sp>
        <p:nvSpPr>
          <p:cNvPr id="86" name="熊大的PPT宝库34"/>
          <p:cNvSpPr txBox="1"/>
          <p:nvPr/>
        </p:nvSpPr>
        <p:spPr>
          <a:xfrm>
            <a:off x="1130570" y="2733742"/>
            <a:ext cx="2146291"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alpha val="70000"/>
                  </a:srgbClr>
                </a:solidFill>
                <a:effectLst/>
                <a:uLnTx/>
                <a:uFillTx/>
                <a:cs typeface="+mn-ea"/>
                <a:sym typeface="+mn-lt"/>
              </a:rPr>
              <a:t>APP</a:t>
            </a:r>
            <a:r>
              <a:rPr kumimoji="0" lang="zh-CN" altLang="en-US" sz="1200" b="0" i="0" u="none" strike="noStrike" kern="1200" cap="none" spc="0" normalizeH="0" baseline="0" noProof="0" dirty="0">
                <a:ln>
                  <a:noFill/>
                </a:ln>
                <a:solidFill>
                  <a:srgbClr val="FFFFFF">
                    <a:alpha val="70000"/>
                  </a:srgbClr>
                </a:solidFill>
                <a:effectLst/>
                <a:uLnTx/>
                <a:uFillTx/>
                <a:cs typeface="+mn-ea"/>
                <a:sym typeface="+mn-lt"/>
              </a:rPr>
              <a:t>生成不是以客户为中心</a:t>
            </a:r>
            <a:endParaRPr kumimoji="0" lang="en-US" sz="1200" b="0" i="0" u="none" strike="noStrike" kern="1200" cap="none" spc="0" normalizeH="0" baseline="0" noProof="0" dirty="0">
              <a:ln>
                <a:noFill/>
              </a:ln>
              <a:solidFill>
                <a:srgbClr val="FFFFFF">
                  <a:alpha val="70000"/>
                </a:srgbClr>
              </a:solidFill>
              <a:effectLst/>
              <a:uLnTx/>
              <a:uFillTx/>
              <a:cs typeface="+mn-ea"/>
              <a:sym typeface="+mn-lt"/>
            </a:endParaRPr>
          </a:p>
        </p:txBody>
      </p:sp>
      <p:sp>
        <p:nvSpPr>
          <p:cNvPr id="87" name="熊大的PPT宝库35"/>
          <p:cNvSpPr txBox="1"/>
          <p:nvPr/>
        </p:nvSpPr>
        <p:spPr>
          <a:xfrm>
            <a:off x="4961955" y="3609009"/>
            <a:ext cx="851038" cy="524824"/>
          </a:xfrm>
          <a:prstGeom prst="rect">
            <a:avLst/>
          </a:prstGeom>
          <a:noFill/>
        </p:spPr>
        <p:txBody>
          <a:bodyPr wrap="square" rtlCol="0">
            <a:spAutoFit/>
          </a:body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员工</a:t>
            </a:r>
            <a:endParaRPr kumimoji="0" lang="en-US" altLang="zh-CN" sz="1200" b="0"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调研</a:t>
            </a:r>
            <a:endParaRPr kumimoji="0" lang="en-US" sz="1200" b="0" i="0" u="none" strike="noStrike" kern="1200" cap="none" spc="0" normalizeH="0" baseline="0" noProof="0" dirty="0">
              <a:ln>
                <a:noFill/>
              </a:ln>
              <a:solidFill>
                <a:srgbClr val="FFFFFF"/>
              </a:solidFill>
              <a:effectLst/>
              <a:uLnTx/>
              <a:uFillTx/>
              <a:cs typeface="+mn-ea"/>
              <a:sym typeface="+mn-lt"/>
            </a:endParaRPr>
          </a:p>
        </p:txBody>
      </p:sp>
      <p:sp>
        <p:nvSpPr>
          <p:cNvPr id="88" name="熊大的PPT宝库36"/>
          <p:cNvSpPr txBox="1"/>
          <p:nvPr/>
        </p:nvSpPr>
        <p:spPr>
          <a:xfrm>
            <a:off x="4961955" y="4814855"/>
            <a:ext cx="851038" cy="524824"/>
          </a:xfrm>
          <a:prstGeom prst="rect">
            <a:avLst/>
          </a:prstGeom>
          <a:noFill/>
        </p:spPr>
        <p:txBody>
          <a:bodyPr wrap="square" rtlCol="0">
            <a:spAutoFit/>
          </a:body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客户</a:t>
            </a:r>
            <a:endParaRPr kumimoji="0" lang="en-US" altLang="zh-CN" sz="1200" b="0"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调研</a:t>
            </a:r>
            <a:endParaRPr kumimoji="0" lang="en-US" sz="1200" b="0" i="0" u="none" strike="noStrike" kern="1200" cap="none" spc="0" normalizeH="0" baseline="0" noProof="0" dirty="0">
              <a:ln>
                <a:noFill/>
              </a:ln>
              <a:solidFill>
                <a:srgbClr val="FFFFFF"/>
              </a:solidFill>
              <a:effectLst/>
              <a:uLnTx/>
              <a:uFillTx/>
              <a:cs typeface="+mn-ea"/>
              <a:sym typeface="+mn-lt"/>
            </a:endParaRPr>
          </a:p>
        </p:txBody>
      </p:sp>
      <p:sp>
        <p:nvSpPr>
          <p:cNvPr id="89" name="熊大的PPT宝库37"/>
          <p:cNvSpPr txBox="1"/>
          <p:nvPr/>
        </p:nvSpPr>
        <p:spPr>
          <a:xfrm>
            <a:off x="5960178" y="3720961"/>
            <a:ext cx="1616597"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关键业务</a:t>
            </a:r>
            <a:r>
              <a:rPr kumimoji="0" lang="en-US" altLang="zh-CN" sz="1200" b="0" i="0" u="none" strike="noStrike" kern="1200" cap="none" spc="0" normalizeH="0" baseline="0" noProof="0" dirty="0">
                <a:ln>
                  <a:noFill/>
                </a:ln>
                <a:solidFill>
                  <a:srgbClr val="000000"/>
                </a:solidFill>
                <a:effectLst/>
                <a:uLnTx/>
                <a:uFillTx/>
                <a:cs typeface="+mn-ea"/>
                <a:sym typeface="+mn-lt"/>
              </a:rPr>
              <a:t>+</a:t>
            </a:r>
            <a:r>
              <a:rPr kumimoji="0" lang="zh-CN" altLang="en-US" sz="1200" b="0" i="0" u="none" strike="noStrike" kern="1200" cap="none" spc="0" normalizeH="0" baseline="0" noProof="0" dirty="0">
                <a:ln>
                  <a:noFill/>
                </a:ln>
                <a:solidFill>
                  <a:srgbClr val="000000"/>
                </a:solidFill>
                <a:effectLst/>
                <a:uLnTx/>
                <a:uFillTx/>
                <a:cs typeface="+mn-ea"/>
                <a:sym typeface="+mn-lt"/>
              </a:rPr>
              <a:t>用户目标</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90" name="熊大的PPT宝库38"/>
          <p:cNvSpPr txBox="1"/>
          <p:nvPr/>
        </p:nvSpPr>
        <p:spPr>
          <a:xfrm>
            <a:off x="5960178" y="4461260"/>
            <a:ext cx="1743961"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可用性研究</a:t>
            </a:r>
            <a:r>
              <a:rPr kumimoji="0" lang="en-US" altLang="zh-CN" sz="1200" b="0" i="0" u="none" strike="noStrike" kern="1200" cap="none" spc="0" normalizeH="0" baseline="0" noProof="0" dirty="0">
                <a:ln>
                  <a:noFill/>
                </a:ln>
                <a:solidFill>
                  <a:srgbClr val="000000"/>
                </a:solidFill>
                <a:effectLst/>
                <a:uLnTx/>
                <a:uFillTx/>
                <a:cs typeface="+mn-ea"/>
                <a:sym typeface="+mn-lt"/>
              </a:rPr>
              <a:t>+</a:t>
            </a:r>
            <a:r>
              <a:rPr kumimoji="0" lang="zh-CN" altLang="en-US" sz="1200" b="0" i="0" u="none" strike="noStrike" kern="1200" cap="none" spc="0" normalizeH="0" baseline="0" noProof="0" dirty="0">
                <a:ln>
                  <a:noFill/>
                </a:ln>
                <a:solidFill>
                  <a:srgbClr val="000000"/>
                </a:solidFill>
                <a:effectLst/>
                <a:uLnTx/>
                <a:uFillTx/>
                <a:cs typeface="+mn-ea"/>
                <a:sym typeface="+mn-lt"/>
              </a:rPr>
              <a:t>现场研究</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91" name="熊大的PPT宝库39"/>
          <p:cNvSpPr txBox="1"/>
          <p:nvPr/>
        </p:nvSpPr>
        <p:spPr>
          <a:xfrm>
            <a:off x="5960178" y="5261731"/>
            <a:ext cx="1616597"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态度数据</a:t>
            </a:r>
            <a:r>
              <a:rPr kumimoji="0" lang="en-US" altLang="zh-CN" sz="1200" b="0" i="0" u="none" strike="noStrike" kern="1200" cap="none" spc="0" normalizeH="0" baseline="0" noProof="0" dirty="0">
                <a:ln>
                  <a:noFill/>
                </a:ln>
                <a:solidFill>
                  <a:srgbClr val="000000"/>
                </a:solidFill>
                <a:effectLst/>
                <a:uLnTx/>
                <a:uFillTx/>
                <a:cs typeface="+mn-ea"/>
                <a:sym typeface="+mn-lt"/>
              </a:rPr>
              <a:t>+</a:t>
            </a:r>
            <a:r>
              <a:rPr kumimoji="0" lang="zh-CN" altLang="en-US" sz="1200" b="0" i="0" u="none" strike="noStrike" kern="1200" cap="none" spc="0" normalizeH="0" baseline="0" noProof="0" dirty="0">
                <a:ln>
                  <a:noFill/>
                </a:ln>
                <a:solidFill>
                  <a:srgbClr val="000000"/>
                </a:solidFill>
                <a:effectLst/>
                <a:uLnTx/>
                <a:uFillTx/>
                <a:cs typeface="+mn-ea"/>
                <a:sym typeface="+mn-lt"/>
              </a:rPr>
              <a:t>行为数据</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92" name="熊大的PPT宝库40"/>
          <p:cNvSpPr txBox="1"/>
          <p:nvPr/>
        </p:nvSpPr>
        <p:spPr>
          <a:xfrm>
            <a:off x="5960178" y="4700300"/>
            <a:ext cx="1616597"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大量使用、用户 </a:t>
            </a:r>
            <a:endParaRPr kumimoji="0" lang="en-US" sz="1000" b="0" i="0" u="none" strike="noStrike" kern="1200" cap="none" spc="0" normalizeH="0" baseline="0" noProof="0" dirty="0">
              <a:ln>
                <a:noFill/>
              </a:ln>
              <a:solidFill>
                <a:srgbClr val="000000"/>
              </a:solidFill>
              <a:effectLst/>
              <a:uLnTx/>
              <a:uFillTx/>
              <a:cs typeface="+mn-ea"/>
              <a:sym typeface="+mn-lt"/>
            </a:endParaRPr>
          </a:p>
        </p:txBody>
      </p:sp>
      <p:sp>
        <p:nvSpPr>
          <p:cNvPr id="93" name="熊大的PPT宝库41"/>
          <p:cNvSpPr txBox="1"/>
          <p:nvPr/>
        </p:nvSpPr>
        <p:spPr>
          <a:xfrm>
            <a:off x="5960178" y="5496721"/>
            <a:ext cx="1616597"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实用反馈</a:t>
            </a:r>
            <a:endParaRPr kumimoji="0" lang="en-US" sz="1000" b="0" i="0" u="none" strike="noStrike" kern="1200" cap="none" spc="0" normalizeH="0" baseline="0" noProof="0" dirty="0">
              <a:ln>
                <a:noFill/>
              </a:ln>
              <a:solidFill>
                <a:srgbClr val="000000"/>
              </a:solidFill>
              <a:effectLst/>
              <a:uLnTx/>
              <a:uFillTx/>
              <a:cs typeface="+mn-ea"/>
              <a:sym typeface="+mn-lt"/>
            </a:endParaRPr>
          </a:p>
        </p:txBody>
      </p:sp>
      <p:sp>
        <p:nvSpPr>
          <p:cNvPr id="94" name="熊大的PPT宝库42"/>
          <p:cNvSpPr txBox="1"/>
          <p:nvPr/>
        </p:nvSpPr>
        <p:spPr>
          <a:xfrm>
            <a:off x="8673860" y="2944493"/>
            <a:ext cx="820738" cy="246221"/>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技术评估</a:t>
            </a:r>
            <a:endParaRPr kumimoji="0" lang="en-US" altLang="zh-CN" sz="1600" b="0" i="0" u="none" strike="noStrike" kern="1200" cap="none" spc="0" normalizeH="0" baseline="0" noProof="0" dirty="0">
              <a:ln>
                <a:noFill/>
              </a:ln>
              <a:solidFill>
                <a:srgbClr val="FFFFFF"/>
              </a:solidFill>
              <a:effectLst/>
              <a:uLnTx/>
              <a:uFillTx/>
              <a:cs typeface="+mn-ea"/>
              <a:sym typeface="+mn-lt"/>
            </a:endParaRPr>
          </a:p>
        </p:txBody>
      </p:sp>
      <p:sp>
        <p:nvSpPr>
          <p:cNvPr id="96" name="熊大的PPT宝库43"/>
          <p:cNvSpPr txBox="1"/>
          <p:nvPr/>
        </p:nvSpPr>
        <p:spPr>
          <a:xfrm>
            <a:off x="8691792" y="4108239"/>
            <a:ext cx="820738" cy="246221"/>
          </a:xfrm>
          <a:prstGeom prst="rect">
            <a:avLst/>
          </a:prstGeom>
          <a:noFill/>
        </p:spPr>
        <p:txBody>
          <a:bodyPr wrap="none" lIns="0" tIns="0" rIns="0" bIns="0" rtlCol="0">
            <a:spAutoFit/>
          </a:bodyPr>
          <a:lstStyle>
            <a:defPPr>
              <a:defRPr lang="en-US"/>
            </a:defPPr>
            <a:lvl1pPr algn="ctr">
              <a:defRPr sz="1600">
                <a:solidFill>
                  <a:schemeClr val="bg1"/>
                </a:solidFill>
                <a:latin typeface="+mj-ea"/>
                <a:ea typeface="+mj-ea"/>
                <a:cs typeface="OPPOSans B" panose="00020600040101010101" pitchFamily="18" charset="-122"/>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latin typeface="+mn-lt"/>
                <a:ea typeface="+mn-ea"/>
                <a:cs typeface="+mn-ea"/>
                <a:sym typeface="+mn-lt"/>
              </a:rPr>
              <a:t>员工评估</a:t>
            </a:r>
            <a:endParaRPr kumimoji="0" lang="en-US" altLang="zh-CN" sz="1600" b="0" i="0" u="none" strike="noStrike" kern="1200" cap="none" spc="0" normalizeH="0" baseline="0" noProof="0" dirty="0">
              <a:ln>
                <a:noFill/>
              </a:ln>
              <a:solidFill>
                <a:srgbClr val="FFFFFF"/>
              </a:solidFill>
              <a:effectLst/>
              <a:uLnTx/>
              <a:uFillTx/>
              <a:latin typeface="+mn-lt"/>
              <a:ea typeface="+mn-ea"/>
              <a:cs typeface="+mn-ea"/>
              <a:sym typeface="+mn-lt"/>
            </a:endParaRPr>
          </a:p>
        </p:txBody>
      </p:sp>
      <p:sp>
        <p:nvSpPr>
          <p:cNvPr id="98" name="熊大的PPT宝库44"/>
          <p:cNvSpPr txBox="1"/>
          <p:nvPr/>
        </p:nvSpPr>
        <p:spPr>
          <a:xfrm>
            <a:off x="8675761" y="5309981"/>
            <a:ext cx="852799" cy="246221"/>
          </a:xfrm>
          <a:prstGeom prst="rect">
            <a:avLst/>
          </a:prstGeom>
          <a:noFill/>
        </p:spPr>
        <p:txBody>
          <a:bodyPr wrap="none" lIns="0" tIns="0" rIns="0" bIns="0" rtlCol="0">
            <a:spAutoFit/>
          </a:bodyPr>
          <a:lstStyle>
            <a:defPPr>
              <a:defRPr lang="en-US"/>
            </a:defPPr>
            <a:lvl1pPr algn="ctr">
              <a:defRPr sz="1600">
                <a:solidFill>
                  <a:schemeClr val="bg1"/>
                </a:solidFill>
                <a:latin typeface="+mj-ea"/>
                <a:ea typeface="+mj-ea"/>
                <a:cs typeface="OPPOSans B" panose="00020600040101010101" pitchFamily="18" charset="-122"/>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latin typeface="+mn-lt"/>
                <a:ea typeface="+mn-ea"/>
                <a:cs typeface="+mn-ea"/>
                <a:sym typeface="+mn-lt"/>
              </a:rPr>
              <a:t>基础评估</a:t>
            </a:r>
            <a:endParaRPr kumimoji="0" lang="en-US" altLang="zh-CN" sz="1600" b="0" i="0" u="none" strike="noStrike" kern="1200" cap="none" spc="0" normalizeH="0" baseline="0" noProof="0" dirty="0">
              <a:ln>
                <a:noFill/>
              </a:ln>
              <a:solidFill>
                <a:srgbClr val="FFFFFF"/>
              </a:solidFill>
              <a:effectLst/>
              <a:uLnTx/>
              <a:uFillTx/>
              <a:latin typeface="+mn-lt"/>
              <a:ea typeface="+mn-ea"/>
              <a:cs typeface="+mn-ea"/>
              <a:sym typeface="+mn-lt"/>
            </a:endParaRPr>
          </a:p>
        </p:txBody>
      </p:sp>
      <p:sp>
        <p:nvSpPr>
          <p:cNvPr id="100" name="熊大的PPT宝库45"/>
          <p:cNvSpPr txBox="1"/>
          <p:nvPr/>
        </p:nvSpPr>
        <p:spPr>
          <a:xfrm>
            <a:off x="10078130" y="2870823"/>
            <a:ext cx="1068841" cy="452688"/>
          </a:xfrm>
          <a:prstGeom prst="rect">
            <a:avLst/>
          </a:prstGeom>
          <a:noFill/>
        </p:spPr>
        <p:txBody>
          <a:bodyPr wrap="square" rtlCol="0">
            <a:spAutoFit/>
          </a:bodyPr>
          <a:lstStyle/>
          <a:p>
            <a:pPr marL="0" marR="0" lvl="0" indent="0" algn="l"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基于商业和技术的产品评估</a:t>
            </a:r>
            <a:endParaRPr kumimoji="0" lang="en-US" sz="1000" b="0" i="0" u="none" strike="noStrike" kern="1200" cap="none" spc="0" normalizeH="0" baseline="0" noProof="0" dirty="0">
              <a:ln>
                <a:noFill/>
              </a:ln>
              <a:solidFill>
                <a:srgbClr val="000000"/>
              </a:solidFill>
              <a:effectLst/>
              <a:uLnTx/>
              <a:uFillTx/>
              <a:cs typeface="+mn-ea"/>
              <a:sym typeface="+mn-lt"/>
            </a:endParaRPr>
          </a:p>
        </p:txBody>
      </p:sp>
      <p:sp>
        <p:nvSpPr>
          <p:cNvPr id="101" name="熊大的PPT宝库46"/>
          <p:cNvSpPr txBox="1"/>
          <p:nvPr/>
        </p:nvSpPr>
        <p:spPr>
          <a:xfrm>
            <a:off x="10078130" y="3997960"/>
            <a:ext cx="1068841" cy="452688"/>
          </a:xfrm>
          <a:prstGeom prst="rect">
            <a:avLst/>
          </a:prstGeom>
          <a:noFill/>
        </p:spPr>
        <p:txBody>
          <a:bodyPr wrap="square" rtlCol="0">
            <a:spAutoFit/>
          </a:bodyPr>
          <a:lstStyle/>
          <a:p>
            <a:pPr marL="0" marR="0" lvl="0" indent="0" algn="l"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基于用户为中心的产品评估</a:t>
            </a:r>
            <a:endParaRPr kumimoji="0" lang="en-US" sz="1000" b="0" i="0" u="none" strike="noStrike" kern="1200" cap="none" spc="0" normalizeH="0" baseline="0" noProof="0" dirty="0">
              <a:ln>
                <a:noFill/>
              </a:ln>
              <a:solidFill>
                <a:srgbClr val="000000"/>
              </a:solidFill>
              <a:effectLst/>
              <a:uLnTx/>
              <a:uFillTx/>
              <a:cs typeface="+mn-ea"/>
              <a:sym typeface="+mn-lt"/>
            </a:endParaRPr>
          </a:p>
        </p:txBody>
      </p:sp>
      <p:sp>
        <p:nvSpPr>
          <p:cNvPr id="102" name="熊大的PPT宝库47"/>
          <p:cNvSpPr txBox="1"/>
          <p:nvPr/>
        </p:nvSpPr>
        <p:spPr>
          <a:xfrm>
            <a:off x="10078130" y="5213648"/>
            <a:ext cx="1068841" cy="452688"/>
          </a:xfrm>
          <a:prstGeom prst="rect">
            <a:avLst/>
          </a:prstGeom>
          <a:noFill/>
        </p:spPr>
        <p:txBody>
          <a:bodyPr wrap="square" rtlCol="0">
            <a:spAutoFit/>
          </a:bodyPr>
          <a:lstStyle/>
          <a:p>
            <a:pPr marL="0" marR="0" lvl="0" indent="0" algn="l"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基于度量维度进行指标推进</a:t>
            </a:r>
            <a:endParaRPr kumimoji="0" lang="en-US" sz="1000" b="0" i="0" u="none" strike="noStrike" kern="1200" cap="none" spc="0" normalizeH="0" baseline="0" noProof="0" dirty="0">
              <a:ln>
                <a:noFill/>
              </a:ln>
              <a:solidFill>
                <a:srgbClr val="000000"/>
              </a:solidFill>
              <a:effectLst/>
              <a:uLnTx/>
              <a:uFillTx/>
              <a:cs typeface="+mn-ea"/>
              <a:sym typeface="+mn-lt"/>
            </a:endParaRPr>
          </a:p>
        </p:txBody>
      </p:sp>
      <p:sp>
        <p:nvSpPr>
          <p:cNvPr id="103" name="熊大的PPT宝库48"/>
          <p:cNvSpPr txBox="1"/>
          <p:nvPr/>
        </p:nvSpPr>
        <p:spPr>
          <a:xfrm>
            <a:off x="3436522" y="4998844"/>
            <a:ext cx="693872"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优化问题</a:t>
            </a:r>
            <a:endParaRPr kumimoji="0" lang="en-US" sz="800" b="0" i="0" u="none" strike="noStrike" kern="1200" cap="none" spc="0" normalizeH="0" baseline="0" noProof="0" dirty="0">
              <a:ln>
                <a:noFill/>
              </a:ln>
              <a:solidFill>
                <a:srgbClr val="000000"/>
              </a:solidFill>
              <a:effectLst/>
              <a:uLnTx/>
              <a:uFillTx/>
              <a:cs typeface="+mn-ea"/>
              <a:sym typeface="+mn-lt"/>
            </a:endParaRPr>
          </a:p>
        </p:txBody>
      </p:sp>
      <p:cxnSp>
        <p:nvCxnSpPr>
          <p:cNvPr id="104" name="熊大的PPT宝库49"/>
          <p:cNvCxnSpPr/>
          <p:nvPr/>
        </p:nvCxnSpPr>
        <p:spPr>
          <a:xfrm flipV="1">
            <a:off x="4764740" y="3609009"/>
            <a:ext cx="0" cy="2033465"/>
          </a:xfrm>
          <a:prstGeom prst="line">
            <a:avLst/>
          </a:prstGeom>
          <a:ln>
            <a:gradFill>
              <a:gsLst>
                <a:gs pos="0">
                  <a:schemeClr val="accent1">
                    <a:alpha val="0"/>
                  </a:schemeClr>
                </a:gs>
                <a:gs pos="100000">
                  <a:schemeClr val="accent1"/>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sp>
        <p:nvSpPr>
          <p:cNvPr id="105" name="熊大的PPT宝库50"/>
          <p:cNvSpPr txBox="1"/>
          <p:nvPr/>
        </p:nvSpPr>
        <p:spPr>
          <a:xfrm>
            <a:off x="4404185" y="3967516"/>
            <a:ext cx="397552" cy="1259897"/>
          </a:xfrm>
          <a:prstGeom prst="rect">
            <a:avLst/>
          </a:prstGeom>
          <a:noFill/>
        </p:spPr>
        <p:txBody>
          <a:bodyPr wrap="square" rtlCol="0">
            <a:spAutoFit/>
          </a:bodyPr>
          <a:lstStyle/>
          <a:p>
            <a:pPr marL="0" marR="0" lvl="0" indent="0" algn="l" defTabSz="4572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队伍建设</a:t>
            </a:r>
            <a:endParaRPr kumimoji="0" lang="en-US" sz="1600" b="0" i="0" u="none" strike="noStrike" kern="1200" cap="none" spc="0" normalizeH="0" baseline="0" noProof="0" dirty="0">
              <a:ln>
                <a:noFill/>
              </a:ln>
              <a:solidFill>
                <a:srgbClr val="000000"/>
              </a:solidFill>
              <a:effectLst/>
              <a:uLnTx/>
              <a:uFillTx/>
              <a:cs typeface="+mn-ea"/>
              <a:sym typeface="+mn-lt"/>
            </a:endParaRPr>
          </a:p>
        </p:txBody>
      </p:sp>
      <p:sp>
        <p:nvSpPr>
          <p:cNvPr id="106" name="熊大的PPT宝库51"/>
          <p:cNvSpPr/>
          <p:nvPr/>
        </p:nvSpPr>
        <p:spPr>
          <a:xfrm>
            <a:off x="7696200" y="2925818"/>
            <a:ext cx="869950" cy="1346200"/>
          </a:xfrm>
          <a:custGeom>
            <a:avLst/>
            <a:gdLst>
              <a:gd name="connsiteX0" fmla="*/ 0 w 869950"/>
              <a:gd name="connsiteY0" fmla="*/ 0 h 1346200"/>
              <a:gd name="connsiteX1" fmla="*/ 469900 w 869950"/>
              <a:gd name="connsiteY1" fmla="*/ 0 h 1346200"/>
              <a:gd name="connsiteX2" fmla="*/ 469900 w 869950"/>
              <a:gd name="connsiteY2" fmla="*/ 1346200 h 1346200"/>
              <a:gd name="connsiteX3" fmla="*/ 869950 w 869950"/>
              <a:gd name="connsiteY3" fmla="*/ 1346200 h 1346200"/>
            </a:gdLst>
            <a:ahLst/>
            <a:cxnLst>
              <a:cxn ang="0">
                <a:pos x="connsiteX0" y="connsiteY0"/>
              </a:cxn>
              <a:cxn ang="0">
                <a:pos x="connsiteX1" y="connsiteY1"/>
              </a:cxn>
              <a:cxn ang="0">
                <a:pos x="connsiteX2" y="connsiteY2"/>
              </a:cxn>
              <a:cxn ang="0">
                <a:pos x="connsiteX3" y="connsiteY3"/>
              </a:cxn>
            </a:cxnLst>
            <a:rect l="l" t="t" r="r" b="b"/>
            <a:pathLst>
              <a:path w="869950" h="1346200">
                <a:moveTo>
                  <a:pt x="0" y="0"/>
                </a:moveTo>
                <a:lnTo>
                  <a:pt x="469900" y="0"/>
                </a:lnTo>
                <a:lnTo>
                  <a:pt x="469900" y="1346200"/>
                </a:lnTo>
                <a:lnTo>
                  <a:pt x="869950" y="1346200"/>
                </a:lnTo>
              </a:path>
            </a:pathLst>
          </a:custGeom>
          <a:noFill/>
          <a:ln w="6350">
            <a:solidFill>
              <a:schemeClr val="accent1"/>
            </a:solidFill>
            <a:prstDash val="dash"/>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07" name="熊大的PPT宝库52"/>
          <p:cNvSpPr/>
          <p:nvPr/>
        </p:nvSpPr>
        <p:spPr>
          <a:xfrm>
            <a:off x="7696200" y="3122668"/>
            <a:ext cx="927100" cy="2349500"/>
          </a:xfrm>
          <a:custGeom>
            <a:avLst/>
            <a:gdLst>
              <a:gd name="connsiteX0" fmla="*/ 0 w 927100"/>
              <a:gd name="connsiteY0" fmla="*/ 0 h 2349500"/>
              <a:gd name="connsiteX1" fmla="*/ 355600 w 927100"/>
              <a:gd name="connsiteY1" fmla="*/ 0 h 2349500"/>
              <a:gd name="connsiteX2" fmla="*/ 355600 w 927100"/>
              <a:gd name="connsiteY2" fmla="*/ 2349500 h 2349500"/>
              <a:gd name="connsiteX3" fmla="*/ 927100 w 927100"/>
              <a:gd name="connsiteY3" fmla="*/ 2349500 h 2349500"/>
            </a:gdLst>
            <a:ahLst/>
            <a:cxnLst>
              <a:cxn ang="0">
                <a:pos x="connsiteX0" y="connsiteY0"/>
              </a:cxn>
              <a:cxn ang="0">
                <a:pos x="connsiteX1" y="connsiteY1"/>
              </a:cxn>
              <a:cxn ang="0">
                <a:pos x="connsiteX2" y="connsiteY2"/>
              </a:cxn>
              <a:cxn ang="0">
                <a:pos x="connsiteX3" y="connsiteY3"/>
              </a:cxn>
            </a:cxnLst>
            <a:rect l="l" t="t" r="r" b="b"/>
            <a:pathLst>
              <a:path w="927100" h="2349500">
                <a:moveTo>
                  <a:pt x="0" y="0"/>
                </a:moveTo>
                <a:lnTo>
                  <a:pt x="355600" y="0"/>
                </a:lnTo>
                <a:lnTo>
                  <a:pt x="355600" y="2349500"/>
                </a:lnTo>
                <a:lnTo>
                  <a:pt x="927100" y="2349500"/>
                </a:lnTo>
              </a:path>
            </a:pathLst>
          </a:custGeom>
          <a:noFill/>
          <a:ln w="6350">
            <a:solidFill>
              <a:schemeClr val="accent1"/>
            </a:solidFill>
            <a:prstDash val="dash"/>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cxnSp>
        <p:nvCxnSpPr>
          <p:cNvPr id="108" name="熊大的PPT宝库53"/>
          <p:cNvCxnSpPr>
            <a:stCxn id="61" idx="4"/>
          </p:cNvCxnSpPr>
          <p:nvPr/>
        </p:nvCxnSpPr>
        <p:spPr>
          <a:xfrm>
            <a:off x="9084230" y="3558661"/>
            <a:ext cx="0" cy="150463"/>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109" name="熊大的PPT宝库54"/>
          <p:cNvCxnSpPr/>
          <p:nvPr/>
        </p:nvCxnSpPr>
        <p:spPr>
          <a:xfrm>
            <a:off x="9004855" y="4764103"/>
            <a:ext cx="0" cy="150463"/>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110" name="熊大的PPT宝库55"/>
          <p:cNvCxnSpPr/>
          <p:nvPr/>
        </p:nvCxnSpPr>
        <p:spPr>
          <a:xfrm flipV="1">
            <a:off x="9154080" y="4764103"/>
            <a:ext cx="0" cy="150463"/>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111" name="熊大的PPT宝库56"/>
          <p:cNvCxnSpPr/>
          <p:nvPr/>
        </p:nvCxnSpPr>
        <p:spPr>
          <a:xfrm>
            <a:off x="9556237" y="3086654"/>
            <a:ext cx="429591" cy="0"/>
          </a:xfrm>
          <a:prstGeom prst="line">
            <a:avLst/>
          </a:prstGeom>
          <a:noFill/>
          <a:ln w="6350">
            <a:solidFill>
              <a:schemeClr val="accent1"/>
            </a:solidFill>
            <a:prstDash val="dash"/>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cxnSp>
      <p:cxnSp>
        <p:nvCxnSpPr>
          <p:cNvPr id="112" name="熊大的PPT宝库57"/>
          <p:cNvCxnSpPr/>
          <p:nvPr/>
        </p:nvCxnSpPr>
        <p:spPr>
          <a:xfrm>
            <a:off x="9613282" y="4245529"/>
            <a:ext cx="372546" cy="0"/>
          </a:xfrm>
          <a:prstGeom prst="line">
            <a:avLst/>
          </a:prstGeom>
          <a:noFill/>
          <a:ln w="6350">
            <a:solidFill>
              <a:schemeClr val="accent1"/>
            </a:solidFill>
            <a:prstDash val="dash"/>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cxnSp>
      <p:cxnSp>
        <p:nvCxnSpPr>
          <p:cNvPr id="113" name="熊大的PPT宝库58"/>
          <p:cNvCxnSpPr/>
          <p:nvPr/>
        </p:nvCxnSpPr>
        <p:spPr>
          <a:xfrm>
            <a:off x="9613282" y="5462202"/>
            <a:ext cx="372546" cy="0"/>
          </a:xfrm>
          <a:prstGeom prst="line">
            <a:avLst/>
          </a:prstGeom>
          <a:noFill/>
          <a:ln w="6350">
            <a:solidFill>
              <a:schemeClr val="accent1"/>
            </a:solidFill>
            <a:prstDash val="dash"/>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cxnSp>
      <p:sp>
        <p:nvSpPr>
          <p:cNvPr id="114" name="熊大的PPT宝库59"/>
          <p:cNvSpPr txBox="1"/>
          <p:nvPr/>
        </p:nvSpPr>
        <p:spPr>
          <a:xfrm>
            <a:off x="4217425" y="1890521"/>
            <a:ext cx="1286211"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问题优化</a:t>
            </a:r>
            <a:endParaRPr kumimoji="0" lang="en-US" sz="1400" b="0" i="0" u="none" strike="noStrike" kern="1200" cap="none" spc="0" normalizeH="0" baseline="0" noProof="0" dirty="0">
              <a:ln>
                <a:noFill/>
              </a:ln>
              <a:solidFill>
                <a:srgbClr val="000000"/>
              </a:solidFill>
              <a:effectLst/>
              <a:uLnTx/>
              <a:uFillTx/>
              <a:cs typeface="+mn-ea"/>
              <a:sym typeface="+mn-lt"/>
            </a:endParaRPr>
          </a:p>
        </p:txBody>
      </p:sp>
      <p:sp>
        <p:nvSpPr>
          <p:cNvPr id="3" name="熊大的PPT宝库61"/>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熊大的PPT宝库1"/>
          <p:cNvSpPr txBox="1"/>
          <p:nvPr/>
        </p:nvSpPr>
        <p:spPr>
          <a:xfrm>
            <a:off x="348830" y="216968"/>
            <a:ext cx="469872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新型工业互联网体系架构</a:t>
            </a:r>
          </a:p>
        </p:txBody>
      </p:sp>
      <p:sp>
        <p:nvSpPr>
          <p:cNvPr id="62" name="熊大的PPT宝库2"/>
          <p:cNvSpPr/>
          <p:nvPr/>
        </p:nvSpPr>
        <p:spPr>
          <a:xfrm>
            <a:off x="1450352" y="1854651"/>
            <a:ext cx="1375918" cy="839563"/>
          </a:xfrm>
          <a:custGeom>
            <a:avLst/>
            <a:gdLst>
              <a:gd name="connsiteX0" fmla="*/ 252036 w 1481946"/>
              <a:gd name="connsiteY0" fmla="*/ 0 h 943560"/>
              <a:gd name="connsiteX1" fmla="*/ 1229910 w 1481946"/>
              <a:gd name="connsiteY1" fmla="*/ 0 h 943560"/>
              <a:gd name="connsiteX2" fmla="*/ 1481946 w 1481946"/>
              <a:gd name="connsiteY2" fmla="*/ 943560 h 943560"/>
              <a:gd name="connsiteX3" fmla="*/ 0 w 1481946"/>
              <a:gd name="connsiteY3" fmla="*/ 943560 h 943560"/>
              <a:gd name="connsiteX4" fmla="*/ 252036 w 1481946"/>
              <a:gd name="connsiteY4" fmla="*/ 0 h 943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1946" h="943560">
                <a:moveTo>
                  <a:pt x="252036" y="0"/>
                </a:moveTo>
                <a:lnTo>
                  <a:pt x="1229910" y="0"/>
                </a:lnTo>
                <a:lnTo>
                  <a:pt x="1481946" y="943560"/>
                </a:lnTo>
                <a:lnTo>
                  <a:pt x="0" y="943560"/>
                </a:lnTo>
                <a:lnTo>
                  <a:pt x="252036" y="0"/>
                </a:lnTo>
                <a:close/>
              </a:path>
            </a:pathLst>
          </a:custGeom>
          <a:solidFill>
            <a:schemeClr val="accent1">
              <a:alpha val="60000"/>
            </a:schemeClr>
          </a:solidFill>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9" name="熊大的PPT宝库3"/>
          <p:cNvSpPr/>
          <p:nvPr/>
        </p:nvSpPr>
        <p:spPr>
          <a:xfrm>
            <a:off x="1198492" y="2758278"/>
            <a:ext cx="1879638" cy="839563"/>
          </a:xfrm>
          <a:custGeom>
            <a:avLst/>
            <a:gdLst>
              <a:gd name="connsiteX0" fmla="*/ 252036 w 2024482"/>
              <a:gd name="connsiteY0" fmla="*/ 0 h 943560"/>
              <a:gd name="connsiteX1" fmla="*/ 1772446 w 2024482"/>
              <a:gd name="connsiteY1" fmla="*/ 0 h 943560"/>
              <a:gd name="connsiteX2" fmla="*/ 2024482 w 2024482"/>
              <a:gd name="connsiteY2" fmla="*/ 943560 h 943560"/>
              <a:gd name="connsiteX3" fmla="*/ 0 w 2024482"/>
              <a:gd name="connsiteY3" fmla="*/ 943560 h 943560"/>
              <a:gd name="connsiteX4" fmla="*/ 252036 w 2024482"/>
              <a:gd name="connsiteY4" fmla="*/ 0 h 943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4482" h="943560">
                <a:moveTo>
                  <a:pt x="252036" y="0"/>
                </a:moveTo>
                <a:lnTo>
                  <a:pt x="1772446" y="0"/>
                </a:lnTo>
                <a:lnTo>
                  <a:pt x="2024482" y="943560"/>
                </a:lnTo>
                <a:lnTo>
                  <a:pt x="0" y="943560"/>
                </a:lnTo>
                <a:lnTo>
                  <a:pt x="252036" y="0"/>
                </a:lnTo>
                <a:close/>
              </a:path>
            </a:pathLst>
          </a:custGeom>
          <a:solidFill>
            <a:schemeClr val="accent1">
              <a:alpha val="70000"/>
            </a:schemeClr>
          </a:solidFill>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6" name="熊大的PPT宝库4"/>
          <p:cNvSpPr/>
          <p:nvPr/>
        </p:nvSpPr>
        <p:spPr>
          <a:xfrm>
            <a:off x="946632" y="3661905"/>
            <a:ext cx="2383357" cy="839563"/>
          </a:xfrm>
          <a:custGeom>
            <a:avLst/>
            <a:gdLst>
              <a:gd name="connsiteX0" fmla="*/ 252036 w 2567018"/>
              <a:gd name="connsiteY0" fmla="*/ 0 h 943560"/>
              <a:gd name="connsiteX1" fmla="*/ 2314982 w 2567018"/>
              <a:gd name="connsiteY1" fmla="*/ 0 h 943560"/>
              <a:gd name="connsiteX2" fmla="*/ 2567018 w 2567018"/>
              <a:gd name="connsiteY2" fmla="*/ 943560 h 943560"/>
              <a:gd name="connsiteX3" fmla="*/ 0 w 2567018"/>
              <a:gd name="connsiteY3" fmla="*/ 943560 h 943560"/>
              <a:gd name="connsiteX4" fmla="*/ 252036 w 2567018"/>
              <a:gd name="connsiteY4" fmla="*/ 0 h 943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7018" h="943560">
                <a:moveTo>
                  <a:pt x="252036" y="0"/>
                </a:moveTo>
                <a:lnTo>
                  <a:pt x="2314982" y="0"/>
                </a:lnTo>
                <a:lnTo>
                  <a:pt x="2567018" y="943560"/>
                </a:lnTo>
                <a:lnTo>
                  <a:pt x="0" y="943560"/>
                </a:lnTo>
                <a:lnTo>
                  <a:pt x="252036" y="0"/>
                </a:lnTo>
                <a:close/>
              </a:path>
            </a:pathLst>
          </a:custGeom>
          <a:solidFill>
            <a:schemeClr val="accent1">
              <a:alpha val="80000"/>
            </a:schemeClr>
          </a:solidFill>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3" name="熊大的PPT宝库5"/>
          <p:cNvSpPr/>
          <p:nvPr/>
        </p:nvSpPr>
        <p:spPr>
          <a:xfrm>
            <a:off x="694773" y="4565532"/>
            <a:ext cx="2887077" cy="839563"/>
          </a:xfrm>
          <a:custGeom>
            <a:avLst/>
            <a:gdLst>
              <a:gd name="connsiteX0" fmla="*/ 252036 w 3109554"/>
              <a:gd name="connsiteY0" fmla="*/ 0 h 943560"/>
              <a:gd name="connsiteX1" fmla="*/ 2857518 w 3109554"/>
              <a:gd name="connsiteY1" fmla="*/ 0 h 943560"/>
              <a:gd name="connsiteX2" fmla="*/ 3109554 w 3109554"/>
              <a:gd name="connsiteY2" fmla="*/ 943560 h 943560"/>
              <a:gd name="connsiteX3" fmla="*/ 0 w 3109554"/>
              <a:gd name="connsiteY3" fmla="*/ 943560 h 943560"/>
              <a:gd name="connsiteX4" fmla="*/ 252036 w 3109554"/>
              <a:gd name="connsiteY4" fmla="*/ 0 h 943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9554" h="943560">
                <a:moveTo>
                  <a:pt x="252036" y="0"/>
                </a:moveTo>
                <a:lnTo>
                  <a:pt x="2857518" y="0"/>
                </a:lnTo>
                <a:lnTo>
                  <a:pt x="3109554" y="943560"/>
                </a:lnTo>
                <a:lnTo>
                  <a:pt x="0" y="943560"/>
                </a:lnTo>
                <a:lnTo>
                  <a:pt x="252036" y="0"/>
                </a:lnTo>
                <a:close/>
              </a:path>
            </a:pathLst>
          </a:custGeom>
          <a:solidFill>
            <a:schemeClr val="accent1">
              <a:alpha val="90000"/>
            </a:schemeClr>
          </a:solidFill>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8" name="熊大的PPT宝库6"/>
          <p:cNvSpPr/>
          <p:nvPr/>
        </p:nvSpPr>
        <p:spPr>
          <a:xfrm>
            <a:off x="442913" y="5469159"/>
            <a:ext cx="3390796" cy="839565"/>
          </a:xfrm>
          <a:custGeom>
            <a:avLst/>
            <a:gdLst>
              <a:gd name="connsiteX0" fmla="*/ 252036 w 3652090"/>
              <a:gd name="connsiteY0" fmla="*/ 0 h 943562"/>
              <a:gd name="connsiteX1" fmla="*/ 3400054 w 3652090"/>
              <a:gd name="connsiteY1" fmla="*/ 0 h 943562"/>
              <a:gd name="connsiteX2" fmla="*/ 3652090 w 3652090"/>
              <a:gd name="connsiteY2" fmla="*/ 943562 h 943562"/>
              <a:gd name="connsiteX3" fmla="*/ 0 w 3652090"/>
              <a:gd name="connsiteY3" fmla="*/ 943562 h 943562"/>
              <a:gd name="connsiteX4" fmla="*/ 252036 w 3652090"/>
              <a:gd name="connsiteY4" fmla="*/ 0 h 943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2090" h="943562">
                <a:moveTo>
                  <a:pt x="252036" y="0"/>
                </a:moveTo>
                <a:lnTo>
                  <a:pt x="3400054" y="0"/>
                </a:lnTo>
                <a:lnTo>
                  <a:pt x="3652090" y="943562"/>
                </a:lnTo>
                <a:lnTo>
                  <a:pt x="0" y="943562"/>
                </a:lnTo>
                <a:lnTo>
                  <a:pt x="252036" y="0"/>
                </a:lnTo>
                <a:close/>
              </a:path>
            </a:pathLst>
          </a:custGeom>
          <a:solidFill>
            <a:schemeClr val="accent1"/>
          </a:solidFill>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2" name="熊大的PPT宝库7"/>
          <p:cNvSpPr/>
          <p:nvPr/>
        </p:nvSpPr>
        <p:spPr>
          <a:xfrm rot="16200000">
            <a:off x="2808955" y="3179403"/>
            <a:ext cx="2969292" cy="1693520"/>
          </a:xfrm>
          <a:prstGeom prst="trapezoid">
            <a:avLst>
              <a:gd name="adj" fmla="val 46084"/>
            </a:avLst>
          </a:prstGeom>
          <a:gradFill>
            <a:gsLst>
              <a:gs pos="15000">
                <a:schemeClr val="accent1">
                  <a:lumMod val="20000"/>
                  <a:lumOff val="80000"/>
                  <a:alpha val="25000"/>
                </a:schemeClr>
              </a:gs>
              <a:gs pos="0">
                <a:schemeClr val="accent1">
                  <a:lumMod val="20000"/>
                  <a:lumOff val="80000"/>
                  <a:alpha val="0"/>
                </a:schemeClr>
              </a:gs>
              <a:gs pos="100000">
                <a:schemeClr val="accent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73" name="熊大的PPT宝库8"/>
          <p:cNvSpPr/>
          <p:nvPr/>
        </p:nvSpPr>
        <p:spPr>
          <a:xfrm rot="16200000">
            <a:off x="3034174" y="3364916"/>
            <a:ext cx="2167775" cy="1322492"/>
          </a:xfrm>
          <a:prstGeom prst="trapezoid">
            <a:avLst>
              <a:gd name="adj" fmla="val 60489"/>
            </a:avLst>
          </a:prstGeom>
          <a:gradFill>
            <a:gsLst>
              <a:gs pos="15000">
                <a:schemeClr val="accent1">
                  <a:lumMod val="20000"/>
                  <a:lumOff val="80000"/>
                  <a:alpha val="25000"/>
                </a:schemeClr>
              </a:gs>
              <a:gs pos="0">
                <a:schemeClr val="accent1">
                  <a:lumMod val="20000"/>
                  <a:lumOff val="80000"/>
                  <a:alpha val="0"/>
                </a:schemeClr>
              </a:gs>
              <a:gs pos="100000">
                <a:schemeClr val="accent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74" name="熊大的PPT宝库9"/>
          <p:cNvSpPr txBox="1"/>
          <p:nvPr/>
        </p:nvSpPr>
        <p:spPr>
          <a:xfrm>
            <a:off x="3887228" y="3887662"/>
            <a:ext cx="461665" cy="276999"/>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329D"/>
                </a:solidFill>
                <a:effectLst/>
                <a:uLnTx/>
                <a:uFillTx/>
                <a:cs typeface="+mn-ea"/>
                <a:sym typeface="+mn-lt"/>
              </a:rPr>
              <a:t>演进</a:t>
            </a:r>
          </a:p>
        </p:txBody>
      </p:sp>
      <p:sp>
        <p:nvSpPr>
          <p:cNvPr id="75" name="熊大的PPT宝库10"/>
          <p:cNvSpPr/>
          <p:nvPr/>
        </p:nvSpPr>
        <p:spPr>
          <a:xfrm>
            <a:off x="4923683" y="1823978"/>
            <a:ext cx="777625" cy="839563"/>
          </a:xfrm>
          <a:prstGeom prst="roundRect">
            <a:avLst>
              <a:gd name="adj" fmla="val 18085"/>
            </a:avLst>
          </a:prstGeom>
          <a:solidFill>
            <a:schemeClr val="accent1"/>
          </a:solidFill>
          <a:ln w="6350" cap="flat">
            <a:noFill/>
            <a:prstDash val="solid"/>
            <a:miter/>
          </a:ln>
        </p:spPr>
        <p:txBody>
          <a:bodyPr wrap="non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76" name="熊大的PPT宝库11"/>
          <p:cNvSpPr txBox="1"/>
          <p:nvPr/>
        </p:nvSpPr>
        <p:spPr>
          <a:xfrm>
            <a:off x="5138571" y="2059093"/>
            <a:ext cx="347852" cy="369332"/>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cs typeface="+mn-ea"/>
                <a:sym typeface="+mn-lt"/>
              </a:rPr>
              <a:t>L4</a:t>
            </a:r>
            <a:endParaRPr kumimoji="0" lang="en-US" sz="2400" b="0" i="0" u="none" strike="noStrike" kern="1200" cap="none" spc="0" normalizeH="0" baseline="0" noProof="0" dirty="0">
              <a:ln>
                <a:noFill/>
              </a:ln>
              <a:solidFill>
                <a:srgbClr val="FFFFFF"/>
              </a:solidFill>
              <a:effectLst/>
              <a:uLnTx/>
              <a:uFillTx/>
              <a:cs typeface="+mn-ea"/>
              <a:sym typeface="+mn-lt"/>
            </a:endParaRPr>
          </a:p>
        </p:txBody>
      </p:sp>
      <p:sp>
        <p:nvSpPr>
          <p:cNvPr id="77" name="熊大的PPT宝库12"/>
          <p:cNvSpPr/>
          <p:nvPr/>
        </p:nvSpPr>
        <p:spPr>
          <a:xfrm>
            <a:off x="4923683" y="2741555"/>
            <a:ext cx="777624" cy="839563"/>
          </a:xfrm>
          <a:prstGeom prst="roundRect">
            <a:avLst>
              <a:gd name="adj" fmla="val 18085"/>
            </a:avLst>
          </a:prstGeom>
          <a:solidFill>
            <a:schemeClr val="accent1"/>
          </a:solidFill>
          <a:ln w="6350" cap="flat">
            <a:noFill/>
            <a:prstDash val="solid"/>
            <a:miter/>
          </a:ln>
        </p:spPr>
        <p:txBody>
          <a:bodyPr wrap="non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78" name="熊大的PPT宝库13"/>
          <p:cNvSpPr txBox="1"/>
          <p:nvPr/>
        </p:nvSpPr>
        <p:spPr>
          <a:xfrm>
            <a:off x="5138571" y="2976670"/>
            <a:ext cx="347852" cy="369332"/>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cs typeface="+mn-ea"/>
                <a:sym typeface="+mn-lt"/>
              </a:rPr>
              <a:t>L3</a:t>
            </a:r>
            <a:endParaRPr kumimoji="0" lang="en-US" sz="2400" b="0" i="0" u="none" strike="noStrike" kern="1200" cap="none" spc="0" normalizeH="0" baseline="0" noProof="0" dirty="0">
              <a:ln>
                <a:noFill/>
              </a:ln>
              <a:solidFill>
                <a:srgbClr val="FFFFFF"/>
              </a:solidFill>
              <a:effectLst/>
              <a:uLnTx/>
              <a:uFillTx/>
              <a:cs typeface="+mn-ea"/>
              <a:sym typeface="+mn-lt"/>
            </a:endParaRPr>
          </a:p>
        </p:txBody>
      </p:sp>
      <p:sp>
        <p:nvSpPr>
          <p:cNvPr id="79" name="熊大的PPT宝库14"/>
          <p:cNvSpPr/>
          <p:nvPr/>
        </p:nvSpPr>
        <p:spPr>
          <a:xfrm>
            <a:off x="4923683" y="4576709"/>
            <a:ext cx="777624" cy="839563"/>
          </a:xfrm>
          <a:prstGeom prst="roundRect">
            <a:avLst>
              <a:gd name="adj" fmla="val 18085"/>
            </a:avLst>
          </a:prstGeom>
          <a:solidFill>
            <a:schemeClr val="accent1"/>
          </a:solidFill>
          <a:ln w="6350" cap="flat">
            <a:noFill/>
            <a:prstDash val="solid"/>
            <a:miter/>
          </a:ln>
        </p:spPr>
        <p:txBody>
          <a:bodyPr wrap="non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80" name="熊大的PPT宝库15"/>
          <p:cNvSpPr txBox="1"/>
          <p:nvPr/>
        </p:nvSpPr>
        <p:spPr>
          <a:xfrm>
            <a:off x="5138570" y="4811824"/>
            <a:ext cx="347852" cy="369332"/>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cs typeface="+mn-ea"/>
                <a:sym typeface="+mn-lt"/>
              </a:rPr>
              <a:t>L1</a:t>
            </a:r>
            <a:endParaRPr kumimoji="0" lang="en-US" sz="2400" b="0" i="0" u="none" strike="noStrike" kern="1200" cap="none" spc="0" normalizeH="0" baseline="0" noProof="0" dirty="0">
              <a:ln>
                <a:noFill/>
              </a:ln>
              <a:solidFill>
                <a:srgbClr val="FFFFFF"/>
              </a:solidFill>
              <a:effectLst/>
              <a:uLnTx/>
              <a:uFillTx/>
              <a:cs typeface="+mn-ea"/>
              <a:sym typeface="+mn-lt"/>
            </a:endParaRPr>
          </a:p>
        </p:txBody>
      </p:sp>
      <p:sp>
        <p:nvSpPr>
          <p:cNvPr id="81" name="熊大的PPT宝库16"/>
          <p:cNvSpPr/>
          <p:nvPr/>
        </p:nvSpPr>
        <p:spPr>
          <a:xfrm>
            <a:off x="4923683" y="3659132"/>
            <a:ext cx="777624" cy="839563"/>
          </a:xfrm>
          <a:prstGeom prst="roundRect">
            <a:avLst>
              <a:gd name="adj" fmla="val 18085"/>
            </a:avLst>
          </a:prstGeom>
          <a:solidFill>
            <a:schemeClr val="accent1"/>
          </a:solidFill>
          <a:ln w="6350" cap="flat">
            <a:noFill/>
            <a:prstDash val="solid"/>
            <a:miter/>
          </a:ln>
        </p:spPr>
        <p:txBody>
          <a:bodyPr wrap="non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82" name="熊大的PPT宝库17"/>
          <p:cNvSpPr txBox="1"/>
          <p:nvPr/>
        </p:nvSpPr>
        <p:spPr>
          <a:xfrm>
            <a:off x="5138571" y="3894247"/>
            <a:ext cx="347852" cy="369332"/>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cs typeface="+mn-ea"/>
                <a:sym typeface="+mn-lt"/>
              </a:rPr>
              <a:t>L2</a:t>
            </a:r>
            <a:endParaRPr kumimoji="0" lang="en-US" sz="2400" b="0" i="0" u="none" strike="noStrike" kern="1200" cap="none" spc="0" normalizeH="0" baseline="0" noProof="0" dirty="0">
              <a:ln>
                <a:noFill/>
              </a:ln>
              <a:solidFill>
                <a:srgbClr val="FFFFFF"/>
              </a:solidFill>
              <a:effectLst/>
              <a:uLnTx/>
              <a:uFillTx/>
              <a:cs typeface="+mn-ea"/>
              <a:sym typeface="+mn-lt"/>
            </a:endParaRPr>
          </a:p>
        </p:txBody>
      </p:sp>
      <p:sp>
        <p:nvSpPr>
          <p:cNvPr id="83" name="熊大的PPT宝库18"/>
          <p:cNvSpPr/>
          <p:nvPr/>
        </p:nvSpPr>
        <p:spPr>
          <a:xfrm>
            <a:off x="4923683" y="5494284"/>
            <a:ext cx="777624" cy="839563"/>
          </a:xfrm>
          <a:prstGeom prst="roundRect">
            <a:avLst>
              <a:gd name="adj" fmla="val 18085"/>
            </a:avLst>
          </a:prstGeom>
          <a:solidFill>
            <a:schemeClr val="accent1"/>
          </a:solidFill>
          <a:ln w="6350" cap="flat">
            <a:noFill/>
            <a:prstDash val="solid"/>
            <a:miter/>
          </a:ln>
        </p:spPr>
        <p:txBody>
          <a:bodyPr wrap="non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84" name="熊大的PPT宝库19"/>
          <p:cNvSpPr txBox="1"/>
          <p:nvPr/>
        </p:nvSpPr>
        <p:spPr>
          <a:xfrm>
            <a:off x="5138571" y="5729399"/>
            <a:ext cx="347852" cy="369332"/>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cs typeface="+mn-ea"/>
                <a:sym typeface="+mn-lt"/>
              </a:rPr>
              <a:t>L0</a:t>
            </a:r>
            <a:endParaRPr kumimoji="0" lang="en-US" sz="2400" b="0" i="0" u="none" strike="noStrike" kern="1200" cap="none" spc="0" normalizeH="0" baseline="0" noProof="0" dirty="0">
              <a:ln>
                <a:noFill/>
              </a:ln>
              <a:solidFill>
                <a:srgbClr val="FFFFFF"/>
              </a:solidFill>
              <a:effectLst/>
              <a:uLnTx/>
              <a:uFillTx/>
              <a:cs typeface="+mn-ea"/>
              <a:sym typeface="+mn-lt"/>
            </a:endParaRPr>
          </a:p>
        </p:txBody>
      </p:sp>
      <p:sp>
        <p:nvSpPr>
          <p:cNvPr id="106" name="熊大的PPT宝库20"/>
          <p:cNvSpPr/>
          <p:nvPr/>
        </p:nvSpPr>
        <p:spPr>
          <a:xfrm>
            <a:off x="5920151" y="1854650"/>
            <a:ext cx="937847" cy="1676744"/>
          </a:xfrm>
          <a:prstGeom prst="roundRect">
            <a:avLst>
              <a:gd name="adj" fmla="val 8240"/>
            </a:avLst>
          </a:prstGeom>
          <a:noFill/>
          <a:ln w="19050">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07" name="熊大的PPT宝库21"/>
          <p:cNvSpPr/>
          <p:nvPr/>
        </p:nvSpPr>
        <p:spPr>
          <a:xfrm>
            <a:off x="5920151" y="3659132"/>
            <a:ext cx="937847" cy="1745962"/>
          </a:xfrm>
          <a:prstGeom prst="roundRect">
            <a:avLst>
              <a:gd name="adj" fmla="val 8240"/>
            </a:avLst>
          </a:prstGeom>
          <a:noFill/>
          <a:ln w="19050">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08" name="熊大的PPT宝库22"/>
          <p:cNvSpPr/>
          <p:nvPr/>
        </p:nvSpPr>
        <p:spPr>
          <a:xfrm>
            <a:off x="5920151" y="5510809"/>
            <a:ext cx="937847" cy="823037"/>
          </a:xfrm>
          <a:prstGeom prst="roundRect">
            <a:avLst>
              <a:gd name="adj" fmla="val 8121"/>
            </a:avLst>
          </a:prstGeom>
          <a:noFill/>
          <a:ln w="19050">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09" name="熊大的PPT宝库23"/>
          <p:cNvSpPr txBox="1"/>
          <p:nvPr/>
        </p:nvSpPr>
        <p:spPr>
          <a:xfrm>
            <a:off x="6102556" y="5645328"/>
            <a:ext cx="573036" cy="553998"/>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工业装备</a:t>
            </a: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10" name="熊大的PPT宝库24"/>
          <p:cNvSpPr txBox="1"/>
          <p:nvPr/>
        </p:nvSpPr>
        <p:spPr>
          <a:xfrm>
            <a:off x="5984977" y="4221696"/>
            <a:ext cx="808195" cy="553998"/>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工业</a:t>
            </a:r>
            <a:endParaRPr kumimoji="0" lang="en-US" altLang="zh-CN" sz="18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自动化</a:t>
            </a: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11" name="熊大的PPT宝库25"/>
          <p:cNvSpPr txBox="1"/>
          <p:nvPr/>
        </p:nvSpPr>
        <p:spPr>
          <a:xfrm>
            <a:off x="5984977" y="2450701"/>
            <a:ext cx="808195" cy="553998"/>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工业</a:t>
            </a:r>
            <a:endParaRPr kumimoji="0" lang="en-US" altLang="zh-CN" sz="18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软件</a:t>
            </a: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18" name="熊大的PPT宝库26"/>
          <p:cNvSpPr txBox="1"/>
          <p:nvPr/>
        </p:nvSpPr>
        <p:spPr>
          <a:xfrm>
            <a:off x="1685813" y="2045546"/>
            <a:ext cx="897682" cy="215444"/>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经营研发层</a:t>
            </a:r>
          </a:p>
        </p:txBody>
      </p:sp>
      <p:sp>
        <p:nvSpPr>
          <p:cNvPr id="119" name="熊大的PPT宝库27"/>
          <p:cNvSpPr txBox="1"/>
          <p:nvPr/>
        </p:nvSpPr>
        <p:spPr>
          <a:xfrm>
            <a:off x="1639214" y="2327507"/>
            <a:ext cx="998671" cy="184666"/>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cs typeface="+mn-ea"/>
                <a:sym typeface="+mn-lt"/>
              </a:rPr>
              <a:t>ERP/CAXIPLM</a:t>
            </a:r>
            <a:endParaRPr kumimoji="0"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121" name="熊大的PPT宝库28"/>
          <p:cNvSpPr txBox="1"/>
          <p:nvPr/>
        </p:nvSpPr>
        <p:spPr>
          <a:xfrm>
            <a:off x="1685813" y="2917662"/>
            <a:ext cx="897682" cy="215444"/>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生产管理层</a:t>
            </a:r>
          </a:p>
        </p:txBody>
      </p:sp>
      <p:sp>
        <p:nvSpPr>
          <p:cNvPr id="122" name="熊大的PPT宝库29"/>
          <p:cNvSpPr txBox="1"/>
          <p:nvPr/>
        </p:nvSpPr>
        <p:spPr>
          <a:xfrm>
            <a:off x="1620780" y="3201658"/>
            <a:ext cx="1033681" cy="184666"/>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cs typeface="+mn-ea"/>
                <a:sym typeface="+mn-lt"/>
              </a:rPr>
              <a:t>MESIAPSIQMS</a:t>
            </a:r>
            <a:endParaRPr kumimoji="0"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124" name="熊大的PPT宝库30"/>
          <p:cNvSpPr txBox="1"/>
          <p:nvPr/>
        </p:nvSpPr>
        <p:spPr>
          <a:xfrm>
            <a:off x="1685813" y="3856045"/>
            <a:ext cx="897682" cy="215444"/>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过程监控层</a:t>
            </a:r>
          </a:p>
        </p:txBody>
      </p:sp>
      <p:sp>
        <p:nvSpPr>
          <p:cNvPr id="125" name="熊大的PPT宝库31"/>
          <p:cNvSpPr txBox="1"/>
          <p:nvPr/>
        </p:nvSpPr>
        <p:spPr>
          <a:xfrm>
            <a:off x="1684483" y="4124449"/>
            <a:ext cx="869469" cy="184666"/>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cs typeface="+mn-ea"/>
                <a:sym typeface="+mn-lt"/>
              </a:rPr>
              <a:t>SCADAVHMI</a:t>
            </a:r>
            <a:endParaRPr kumimoji="0"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127" name="熊大的PPT宝库32"/>
          <p:cNvSpPr txBox="1"/>
          <p:nvPr/>
        </p:nvSpPr>
        <p:spPr>
          <a:xfrm>
            <a:off x="1685813" y="4754388"/>
            <a:ext cx="897682" cy="215444"/>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现场控制层</a:t>
            </a:r>
          </a:p>
        </p:txBody>
      </p:sp>
      <p:sp>
        <p:nvSpPr>
          <p:cNvPr id="128" name="熊大的PPT宝库33"/>
          <p:cNvSpPr txBox="1"/>
          <p:nvPr/>
        </p:nvSpPr>
        <p:spPr>
          <a:xfrm>
            <a:off x="1814006" y="5027783"/>
            <a:ext cx="636136" cy="184666"/>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cs typeface="+mn-ea"/>
                <a:sym typeface="+mn-lt"/>
              </a:rPr>
              <a:t>DCS/PLC</a:t>
            </a:r>
            <a:endParaRPr kumimoji="0"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130" name="熊大的PPT宝库34"/>
          <p:cNvSpPr txBox="1"/>
          <p:nvPr/>
        </p:nvSpPr>
        <p:spPr>
          <a:xfrm>
            <a:off x="1685813" y="5600516"/>
            <a:ext cx="897682" cy="215444"/>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现场装备层</a:t>
            </a:r>
          </a:p>
        </p:txBody>
      </p:sp>
      <p:sp>
        <p:nvSpPr>
          <p:cNvPr id="131" name="熊大的PPT宝库35"/>
          <p:cNvSpPr txBox="1"/>
          <p:nvPr/>
        </p:nvSpPr>
        <p:spPr>
          <a:xfrm>
            <a:off x="1603948" y="5882477"/>
            <a:ext cx="1038746" cy="184666"/>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感知器</a:t>
            </a:r>
            <a:r>
              <a:rPr kumimoji="0" lang="en-US" altLang="zh-CN" sz="1200" b="0" i="0" u="none" strike="noStrike" kern="1200" cap="none" spc="0" normalizeH="0" baseline="0" noProof="0" dirty="0">
                <a:ln>
                  <a:noFill/>
                </a:ln>
                <a:solidFill>
                  <a:srgbClr val="FFFFFF"/>
                </a:solidFill>
                <a:effectLst/>
                <a:uLnTx/>
                <a:uFillTx/>
                <a:cs typeface="+mn-ea"/>
                <a:sym typeface="+mn-lt"/>
              </a:rPr>
              <a:t>&amp;</a:t>
            </a:r>
            <a:r>
              <a:rPr kumimoji="0" lang="zh-CN" altLang="en-US" sz="1200" b="0" i="0" u="none" strike="noStrike" kern="1200" cap="none" spc="0" normalizeH="0" baseline="0" noProof="0" dirty="0">
                <a:ln>
                  <a:noFill/>
                </a:ln>
                <a:solidFill>
                  <a:srgbClr val="FFFFFF"/>
                </a:solidFill>
                <a:effectLst/>
                <a:uLnTx/>
                <a:uFillTx/>
                <a:cs typeface="+mn-ea"/>
                <a:sym typeface="+mn-lt"/>
              </a:rPr>
              <a:t>执行器</a:t>
            </a:r>
          </a:p>
        </p:txBody>
      </p:sp>
      <p:sp>
        <p:nvSpPr>
          <p:cNvPr id="133" name="熊大的PPT宝库36"/>
          <p:cNvSpPr txBox="1"/>
          <p:nvPr/>
        </p:nvSpPr>
        <p:spPr>
          <a:xfrm>
            <a:off x="7720193" y="1089933"/>
            <a:ext cx="3385542" cy="369332"/>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00329D"/>
                </a:solidFill>
                <a:effectLst/>
                <a:uLnTx/>
                <a:uFillTx/>
                <a:cs typeface="+mn-ea"/>
                <a:sym typeface="+mn-lt"/>
              </a:rPr>
              <a:t>新型工业互联网体系架构</a:t>
            </a:r>
          </a:p>
        </p:txBody>
      </p:sp>
      <p:sp>
        <p:nvSpPr>
          <p:cNvPr id="135" name="熊大的PPT宝库37"/>
          <p:cNvSpPr txBox="1"/>
          <p:nvPr/>
        </p:nvSpPr>
        <p:spPr>
          <a:xfrm>
            <a:off x="917423" y="1089933"/>
            <a:ext cx="2462213" cy="369332"/>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00329D"/>
                </a:solidFill>
                <a:effectLst/>
                <a:uLnTx/>
                <a:uFillTx/>
                <a:cs typeface="+mn-ea"/>
                <a:sym typeface="+mn-lt"/>
              </a:rPr>
              <a:t>传统工业系统架构</a:t>
            </a:r>
          </a:p>
        </p:txBody>
      </p:sp>
      <p:sp>
        <p:nvSpPr>
          <p:cNvPr id="136" name="熊大的PPT宝库38"/>
          <p:cNvSpPr txBox="1"/>
          <p:nvPr/>
        </p:nvSpPr>
        <p:spPr>
          <a:xfrm>
            <a:off x="1525401" y="1509100"/>
            <a:ext cx="1195840" cy="276999"/>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cs typeface="+mn-ea"/>
                <a:sym typeface="+mn-lt"/>
              </a:rPr>
              <a:t>(ISA95</a:t>
            </a:r>
            <a:r>
              <a:rPr kumimoji="0" lang="zh-CN" altLang="en-US" sz="1800" b="0" i="0" u="none" strike="noStrike" kern="1200" cap="none" spc="0" normalizeH="0" baseline="0" noProof="0" dirty="0">
                <a:ln>
                  <a:noFill/>
                </a:ln>
                <a:solidFill>
                  <a:srgbClr val="000000"/>
                </a:solidFill>
                <a:effectLst/>
                <a:uLnTx/>
                <a:uFillTx/>
                <a:cs typeface="+mn-ea"/>
                <a:sym typeface="+mn-lt"/>
              </a:rPr>
              <a:t>架构</a:t>
            </a:r>
            <a:r>
              <a:rPr kumimoji="0" lang="en-US" altLang="zh-CN" sz="1800" b="0" i="0" u="none" strike="noStrike" kern="1200" cap="none" spc="0" normalizeH="0" baseline="0" noProof="0" dirty="0">
                <a:ln>
                  <a:noFill/>
                </a:ln>
                <a:solidFill>
                  <a:srgbClr val="000000"/>
                </a:solidFill>
                <a:effectLst/>
                <a:uLnTx/>
                <a:uFillTx/>
                <a:cs typeface="+mn-ea"/>
                <a:sym typeface="+mn-lt"/>
              </a:rPr>
              <a:t>)</a:t>
            </a: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37" name="熊大的PPT宝库39"/>
          <p:cNvSpPr/>
          <p:nvPr/>
        </p:nvSpPr>
        <p:spPr>
          <a:xfrm>
            <a:off x="7076841" y="1854650"/>
            <a:ext cx="4672247" cy="720000"/>
          </a:xfrm>
          <a:prstGeom prst="roundRect">
            <a:avLst>
              <a:gd name="adj" fmla="val 7247"/>
            </a:avLst>
          </a:prstGeom>
          <a:solidFill>
            <a:schemeClr val="accent1">
              <a:lumMod val="20000"/>
              <a:lumOff val="80000"/>
              <a:alpha val="30000"/>
            </a:schemeClr>
          </a:solid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38" name="熊大的PPT宝库40"/>
          <p:cNvSpPr txBox="1"/>
          <p:nvPr/>
        </p:nvSpPr>
        <p:spPr>
          <a:xfrm>
            <a:off x="8597036" y="1940979"/>
            <a:ext cx="1631857" cy="276999"/>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工业软件与</a:t>
            </a:r>
            <a:r>
              <a:rPr kumimoji="0" lang="en-US" altLang="zh-CN" sz="1800" b="0" i="0" u="none" strike="noStrike" kern="1200" cap="none" spc="0" normalizeH="0" baseline="0" noProof="0" dirty="0">
                <a:ln>
                  <a:noFill/>
                </a:ln>
                <a:solidFill>
                  <a:srgbClr val="000000"/>
                </a:solidFill>
                <a:effectLst/>
                <a:uLnTx/>
                <a:uFillTx/>
                <a:cs typeface="+mn-ea"/>
                <a:sym typeface="+mn-lt"/>
              </a:rPr>
              <a:t>APP</a:t>
            </a: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39" name="熊大的PPT宝库41"/>
          <p:cNvSpPr txBox="1"/>
          <p:nvPr/>
        </p:nvSpPr>
        <p:spPr>
          <a:xfrm>
            <a:off x="7258528" y="2205084"/>
            <a:ext cx="4308872" cy="215444"/>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研发设计、生产控制、业务管理、工艺优化、智能质检</a:t>
            </a:r>
          </a:p>
        </p:txBody>
      </p:sp>
      <p:sp>
        <p:nvSpPr>
          <p:cNvPr id="140" name="熊大的PPT宝库42"/>
          <p:cNvSpPr/>
          <p:nvPr/>
        </p:nvSpPr>
        <p:spPr>
          <a:xfrm>
            <a:off x="7076841" y="2648608"/>
            <a:ext cx="4672247" cy="1230569"/>
          </a:xfrm>
          <a:prstGeom prst="roundRect">
            <a:avLst>
              <a:gd name="adj" fmla="val 6605"/>
            </a:avLst>
          </a:prstGeom>
          <a:solidFill>
            <a:schemeClr val="accent1">
              <a:lumMod val="20000"/>
              <a:lumOff val="80000"/>
              <a:alpha val="30000"/>
            </a:schemeClr>
          </a:solid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41" name="熊大的PPT宝库43"/>
          <p:cNvSpPr txBox="1"/>
          <p:nvPr/>
        </p:nvSpPr>
        <p:spPr>
          <a:xfrm>
            <a:off x="8489635" y="2720282"/>
            <a:ext cx="1846659" cy="276999"/>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工业互联网云平台</a:t>
            </a:r>
          </a:p>
        </p:txBody>
      </p:sp>
      <p:sp>
        <p:nvSpPr>
          <p:cNvPr id="142" name="熊大的PPT宝库44"/>
          <p:cNvSpPr txBox="1"/>
          <p:nvPr/>
        </p:nvSpPr>
        <p:spPr>
          <a:xfrm>
            <a:off x="7348296" y="3056051"/>
            <a:ext cx="4129336" cy="215444"/>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统一数据、机理模型库、工业知识库、开发组件库等</a:t>
            </a:r>
          </a:p>
        </p:txBody>
      </p:sp>
      <p:sp>
        <p:nvSpPr>
          <p:cNvPr id="144" name="熊大的PPT宝库45"/>
          <p:cNvSpPr/>
          <p:nvPr/>
        </p:nvSpPr>
        <p:spPr>
          <a:xfrm>
            <a:off x="8602964" y="3370319"/>
            <a:ext cx="1620000" cy="520697"/>
          </a:xfrm>
          <a:prstGeom prst="flowChartMagneticDisk">
            <a:avLst/>
          </a:prstGeom>
          <a:solidFill>
            <a:schemeClr val="accent1"/>
          </a:solidFill>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47" name="熊大的PPT宝库46"/>
          <p:cNvSpPr/>
          <p:nvPr/>
        </p:nvSpPr>
        <p:spPr>
          <a:xfrm>
            <a:off x="8602980" y="3331845"/>
            <a:ext cx="1619885" cy="199390"/>
          </a:xfrm>
          <a:prstGeom prst="ellipse">
            <a:avLst/>
          </a:prstGeom>
          <a:solidFill>
            <a:schemeClr val="accent1">
              <a:lumMod val="20000"/>
              <a:lumOff val="80000"/>
            </a:schemeClr>
          </a:solidFill>
          <a:ln>
            <a:solidFill>
              <a:schemeClr val="accent1">
                <a:lumMod val="20000"/>
                <a:lumOff val="80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48" name="熊大的PPT宝库47"/>
          <p:cNvSpPr txBox="1"/>
          <p:nvPr/>
        </p:nvSpPr>
        <p:spPr>
          <a:xfrm>
            <a:off x="9105188" y="3623308"/>
            <a:ext cx="615553" cy="184666"/>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数据融合</a:t>
            </a:r>
          </a:p>
        </p:txBody>
      </p:sp>
      <p:sp>
        <p:nvSpPr>
          <p:cNvPr id="153" name="熊大的PPT宝库48"/>
          <p:cNvSpPr/>
          <p:nvPr/>
        </p:nvSpPr>
        <p:spPr>
          <a:xfrm>
            <a:off x="7076841" y="3951328"/>
            <a:ext cx="4672247" cy="720000"/>
          </a:xfrm>
          <a:prstGeom prst="roundRect">
            <a:avLst>
              <a:gd name="adj" fmla="val 7247"/>
            </a:avLst>
          </a:prstGeom>
          <a:solidFill>
            <a:schemeClr val="accent1">
              <a:lumMod val="20000"/>
              <a:lumOff val="80000"/>
              <a:alpha val="30000"/>
            </a:schemeClr>
          </a:solid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54" name="熊大的PPT宝库49"/>
          <p:cNvSpPr txBox="1"/>
          <p:nvPr/>
        </p:nvSpPr>
        <p:spPr>
          <a:xfrm>
            <a:off x="8951299" y="4075757"/>
            <a:ext cx="923330" cy="276999"/>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边缘计算</a:t>
            </a:r>
          </a:p>
        </p:txBody>
      </p:sp>
      <p:sp>
        <p:nvSpPr>
          <p:cNvPr id="155" name="熊大的PPT宝库50"/>
          <p:cNvSpPr txBox="1"/>
          <p:nvPr/>
        </p:nvSpPr>
        <p:spPr>
          <a:xfrm>
            <a:off x="8569785" y="4411526"/>
            <a:ext cx="1686359" cy="215444"/>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计算、存储、</a:t>
            </a:r>
            <a:r>
              <a:rPr kumimoji="0" lang="en-US" altLang="zh-CN" sz="1400" b="0" i="0" u="none" strike="noStrike" kern="1200" cap="none" spc="0" normalizeH="0" baseline="0" noProof="0" dirty="0">
                <a:ln>
                  <a:noFill/>
                </a:ln>
                <a:solidFill>
                  <a:srgbClr val="000000"/>
                </a:solidFill>
                <a:effectLst/>
                <a:uLnTx/>
                <a:uFillTx/>
                <a:cs typeface="+mn-ea"/>
                <a:sym typeface="+mn-lt"/>
              </a:rPr>
              <a:t>OS</a:t>
            </a:r>
            <a:r>
              <a:rPr kumimoji="0" lang="zh-CN" altLang="en-US" sz="1400" b="0" i="0" u="none" strike="noStrike" kern="1200" cap="none" spc="0" normalizeH="0" baseline="0" noProof="0" dirty="0">
                <a:ln>
                  <a:noFill/>
                </a:ln>
                <a:solidFill>
                  <a:srgbClr val="000000"/>
                </a:solidFill>
                <a:effectLst/>
                <a:uLnTx/>
                <a:uFillTx/>
                <a:cs typeface="+mn-ea"/>
                <a:sym typeface="+mn-lt"/>
              </a:rPr>
              <a:t>、</a:t>
            </a:r>
            <a:r>
              <a:rPr kumimoji="0" lang="en-US" altLang="zh-CN" sz="1400" b="0" i="0" u="none" strike="noStrike" kern="1200" cap="none" spc="0" normalizeH="0" baseline="0" noProof="0" dirty="0">
                <a:ln>
                  <a:noFill/>
                </a:ln>
                <a:solidFill>
                  <a:srgbClr val="000000"/>
                </a:solidFill>
                <a:effectLst/>
                <a:uLnTx/>
                <a:uFillTx/>
                <a:cs typeface="+mn-ea"/>
                <a:sym typeface="+mn-lt"/>
              </a:rPr>
              <a:t>AI</a:t>
            </a: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6" name="熊大的PPT宝库51"/>
          <p:cNvSpPr/>
          <p:nvPr/>
        </p:nvSpPr>
        <p:spPr>
          <a:xfrm>
            <a:off x="6990835" y="2449258"/>
            <a:ext cx="324000" cy="324000"/>
          </a:xfrm>
          <a:prstGeom prst="roundRect">
            <a:avLst>
              <a:gd name="adj" fmla="val 18085"/>
            </a:avLst>
          </a:prstGeom>
          <a:solidFill>
            <a:schemeClr val="accent1"/>
          </a:solidFill>
          <a:ln w="6350" cap="flat">
            <a:noFill/>
            <a:prstDash val="solid"/>
            <a:miter/>
          </a:ln>
        </p:spPr>
        <p:txBody>
          <a:bodyPr wrap="non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57" name="熊大的PPT宝库52"/>
          <p:cNvSpPr txBox="1"/>
          <p:nvPr/>
        </p:nvSpPr>
        <p:spPr>
          <a:xfrm>
            <a:off x="7048143" y="2485899"/>
            <a:ext cx="205184" cy="246221"/>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云</a:t>
            </a:r>
            <a:endParaRPr kumimoji="0" lang="en-US" sz="1600" b="0" i="0" u="none" strike="noStrike" kern="1200" cap="none" spc="0" normalizeH="0" baseline="0" noProof="0" dirty="0">
              <a:ln>
                <a:noFill/>
              </a:ln>
              <a:solidFill>
                <a:srgbClr val="FFFFFF"/>
              </a:solidFill>
              <a:effectLst/>
              <a:uLnTx/>
              <a:uFillTx/>
              <a:cs typeface="+mn-ea"/>
              <a:sym typeface="+mn-lt"/>
            </a:endParaRPr>
          </a:p>
        </p:txBody>
      </p:sp>
      <p:sp>
        <p:nvSpPr>
          <p:cNvPr id="158" name="熊大的PPT宝库53"/>
          <p:cNvSpPr/>
          <p:nvPr/>
        </p:nvSpPr>
        <p:spPr>
          <a:xfrm>
            <a:off x="6990835" y="4163975"/>
            <a:ext cx="324000" cy="324000"/>
          </a:xfrm>
          <a:prstGeom prst="roundRect">
            <a:avLst>
              <a:gd name="adj" fmla="val 18085"/>
            </a:avLst>
          </a:prstGeom>
          <a:solidFill>
            <a:schemeClr val="accent1"/>
          </a:solidFill>
          <a:ln w="6350" cap="flat">
            <a:noFill/>
            <a:prstDash val="solid"/>
            <a:miter/>
          </a:ln>
        </p:spPr>
        <p:txBody>
          <a:bodyPr wrap="non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srgbClr val="000000"/>
              </a:solidFill>
              <a:effectLst/>
              <a:uLnTx/>
              <a:uFillTx/>
              <a:cs typeface="+mn-ea"/>
              <a:sym typeface="+mn-lt"/>
            </a:endParaRPr>
          </a:p>
        </p:txBody>
      </p:sp>
      <p:sp>
        <p:nvSpPr>
          <p:cNvPr id="159" name="熊大的PPT宝库54"/>
          <p:cNvSpPr txBox="1"/>
          <p:nvPr/>
        </p:nvSpPr>
        <p:spPr>
          <a:xfrm>
            <a:off x="7050243" y="4202865"/>
            <a:ext cx="205184" cy="246221"/>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边</a:t>
            </a:r>
            <a:endParaRPr kumimoji="0" lang="en-US" sz="1600" b="0" i="0" u="none" strike="noStrike" kern="1200" cap="none" spc="0" normalizeH="0" baseline="0" noProof="0" dirty="0">
              <a:ln>
                <a:noFill/>
              </a:ln>
              <a:solidFill>
                <a:srgbClr val="FFFFFF"/>
              </a:solidFill>
              <a:effectLst/>
              <a:uLnTx/>
              <a:uFillTx/>
              <a:cs typeface="+mn-ea"/>
              <a:sym typeface="+mn-lt"/>
            </a:endParaRPr>
          </a:p>
        </p:txBody>
      </p:sp>
      <p:sp>
        <p:nvSpPr>
          <p:cNvPr id="160" name="熊大的PPT宝库55"/>
          <p:cNvSpPr/>
          <p:nvPr/>
        </p:nvSpPr>
        <p:spPr>
          <a:xfrm>
            <a:off x="8158803" y="4764680"/>
            <a:ext cx="2523712" cy="720000"/>
          </a:xfrm>
          <a:prstGeom prst="roundRect">
            <a:avLst>
              <a:gd name="adj" fmla="val 7247"/>
            </a:avLst>
          </a:prstGeom>
          <a:solidFill>
            <a:schemeClr val="accent1">
              <a:lumMod val="20000"/>
              <a:lumOff val="80000"/>
              <a:alpha val="30000"/>
            </a:schemeClr>
          </a:solid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61" name="熊大的PPT宝库56"/>
          <p:cNvSpPr txBox="1"/>
          <p:nvPr/>
        </p:nvSpPr>
        <p:spPr>
          <a:xfrm>
            <a:off x="8612746" y="4889109"/>
            <a:ext cx="1615827" cy="276999"/>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工业控制与感知</a:t>
            </a:r>
          </a:p>
        </p:txBody>
      </p:sp>
      <p:sp>
        <p:nvSpPr>
          <p:cNvPr id="162" name="熊大的PPT宝库57"/>
          <p:cNvSpPr txBox="1"/>
          <p:nvPr/>
        </p:nvSpPr>
        <p:spPr>
          <a:xfrm>
            <a:off x="8433209" y="5224878"/>
            <a:ext cx="1974900" cy="215444"/>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工控、传感、数采、视觉</a:t>
            </a:r>
          </a:p>
        </p:txBody>
      </p:sp>
      <p:sp>
        <p:nvSpPr>
          <p:cNvPr id="164" name="熊大的PPT宝库58"/>
          <p:cNvSpPr/>
          <p:nvPr/>
        </p:nvSpPr>
        <p:spPr>
          <a:xfrm>
            <a:off x="8158803" y="5592783"/>
            <a:ext cx="2523712" cy="720000"/>
          </a:xfrm>
          <a:prstGeom prst="roundRect">
            <a:avLst>
              <a:gd name="adj" fmla="val 7247"/>
            </a:avLst>
          </a:prstGeom>
          <a:solidFill>
            <a:schemeClr val="accent1">
              <a:lumMod val="20000"/>
              <a:lumOff val="80000"/>
              <a:alpha val="30000"/>
            </a:schemeClr>
          </a:solid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65" name="熊大的PPT宝库59"/>
          <p:cNvSpPr txBox="1"/>
          <p:nvPr/>
        </p:nvSpPr>
        <p:spPr>
          <a:xfrm>
            <a:off x="8612746" y="5717212"/>
            <a:ext cx="1615827" cy="276999"/>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工业数字化装备</a:t>
            </a:r>
          </a:p>
        </p:txBody>
      </p:sp>
      <p:sp>
        <p:nvSpPr>
          <p:cNvPr id="166" name="熊大的PPT宝库60"/>
          <p:cNvSpPr txBox="1"/>
          <p:nvPr/>
        </p:nvSpPr>
        <p:spPr>
          <a:xfrm>
            <a:off x="8343441" y="6052981"/>
            <a:ext cx="2154436" cy="215444"/>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通用、专用装备，仪器仪表</a:t>
            </a:r>
          </a:p>
        </p:txBody>
      </p:sp>
      <p:sp>
        <p:nvSpPr>
          <p:cNvPr id="167" name="熊大的PPT宝库61"/>
          <p:cNvSpPr/>
          <p:nvPr/>
        </p:nvSpPr>
        <p:spPr>
          <a:xfrm>
            <a:off x="7067578" y="4764680"/>
            <a:ext cx="1011885" cy="1569166"/>
          </a:xfrm>
          <a:prstGeom prst="roundRect">
            <a:avLst>
              <a:gd name="adj" fmla="val 7247"/>
            </a:avLst>
          </a:prstGeom>
          <a:solidFill>
            <a:schemeClr val="accent1">
              <a:lumMod val="20000"/>
              <a:lumOff val="80000"/>
              <a:alpha val="30000"/>
            </a:schemeClr>
          </a:solid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68" name="熊大的PPT宝库62"/>
          <p:cNvSpPr txBox="1"/>
          <p:nvPr/>
        </p:nvSpPr>
        <p:spPr>
          <a:xfrm>
            <a:off x="7258528" y="5126777"/>
            <a:ext cx="633901" cy="1107996"/>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工业互联网网绪</a:t>
            </a:r>
          </a:p>
        </p:txBody>
      </p:sp>
      <p:sp>
        <p:nvSpPr>
          <p:cNvPr id="169" name="熊大的PPT宝库63"/>
          <p:cNvSpPr/>
          <p:nvPr/>
        </p:nvSpPr>
        <p:spPr>
          <a:xfrm>
            <a:off x="10757769" y="4764680"/>
            <a:ext cx="1011885" cy="1569166"/>
          </a:xfrm>
          <a:prstGeom prst="roundRect">
            <a:avLst>
              <a:gd name="adj" fmla="val 7247"/>
            </a:avLst>
          </a:prstGeom>
          <a:solidFill>
            <a:schemeClr val="accent1">
              <a:lumMod val="20000"/>
              <a:lumOff val="80000"/>
              <a:alpha val="30000"/>
            </a:schemeClr>
          </a:solid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70" name="熊大的PPT宝库64"/>
          <p:cNvSpPr txBox="1"/>
          <p:nvPr/>
        </p:nvSpPr>
        <p:spPr>
          <a:xfrm>
            <a:off x="10946761" y="5063277"/>
            <a:ext cx="633901" cy="1107996"/>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工业互联网安全</a:t>
            </a:r>
          </a:p>
        </p:txBody>
      </p:sp>
      <p:sp>
        <p:nvSpPr>
          <p:cNvPr id="171" name="熊大的PPT宝库65"/>
          <p:cNvSpPr/>
          <p:nvPr/>
        </p:nvSpPr>
        <p:spPr>
          <a:xfrm>
            <a:off x="7375520" y="4671758"/>
            <a:ext cx="324000" cy="324000"/>
          </a:xfrm>
          <a:prstGeom prst="roundRect">
            <a:avLst>
              <a:gd name="adj" fmla="val 18085"/>
            </a:avLst>
          </a:prstGeom>
          <a:solidFill>
            <a:schemeClr val="accent1"/>
          </a:solidFill>
          <a:ln w="6350" cap="flat">
            <a:noFill/>
            <a:prstDash val="solid"/>
            <a:miter/>
          </a:ln>
        </p:spPr>
        <p:txBody>
          <a:bodyPr wrap="non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72" name="熊大的PPT宝库66"/>
          <p:cNvSpPr txBox="1"/>
          <p:nvPr/>
        </p:nvSpPr>
        <p:spPr>
          <a:xfrm>
            <a:off x="7434928" y="4710648"/>
            <a:ext cx="205184" cy="246221"/>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网</a:t>
            </a:r>
            <a:endParaRPr kumimoji="0" lang="en-US" sz="1600" b="0" i="0" u="none" strike="noStrike" kern="1200" cap="none" spc="0" normalizeH="0" baseline="0" noProof="0" dirty="0">
              <a:ln>
                <a:noFill/>
              </a:ln>
              <a:solidFill>
                <a:srgbClr val="FFFFFF"/>
              </a:solidFill>
              <a:effectLst/>
              <a:uLnTx/>
              <a:uFillTx/>
              <a:cs typeface="+mn-ea"/>
              <a:sym typeface="+mn-lt"/>
            </a:endParaRPr>
          </a:p>
        </p:txBody>
      </p:sp>
      <p:sp>
        <p:nvSpPr>
          <p:cNvPr id="173" name="熊大的PPT宝库67"/>
          <p:cNvSpPr/>
          <p:nvPr/>
        </p:nvSpPr>
        <p:spPr>
          <a:xfrm>
            <a:off x="8087990" y="5748243"/>
            <a:ext cx="324000" cy="324000"/>
          </a:xfrm>
          <a:prstGeom prst="roundRect">
            <a:avLst>
              <a:gd name="adj" fmla="val 18085"/>
            </a:avLst>
          </a:prstGeom>
          <a:solidFill>
            <a:schemeClr val="accent1"/>
          </a:solidFill>
          <a:ln w="6350" cap="flat">
            <a:noFill/>
            <a:prstDash val="solid"/>
            <a:miter/>
          </a:ln>
        </p:spPr>
        <p:txBody>
          <a:bodyPr wrap="non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srgbClr val="000000"/>
              </a:solidFill>
              <a:effectLst/>
              <a:uLnTx/>
              <a:uFillTx/>
              <a:cs typeface="+mn-ea"/>
              <a:sym typeface="+mn-lt"/>
            </a:endParaRPr>
          </a:p>
        </p:txBody>
      </p:sp>
      <p:sp>
        <p:nvSpPr>
          <p:cNvPr id="174" name="熊大的PPT宝库68"/>
          <p:cNvSpPr txBox="1"/>
          <p:nvPr/>
        </p:nvSpPr>
        <p:spPr>
          <a:xfrm>
            <a:off x="8147398" y="5787133"/>
            <a:ext cx="205184" cy="246221"/>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端</a:t>
            </a:r>
            <a:endParaRPr kumimoji="0" lang="en-US" sz="1600" b="0" i="0" u="none" strike="noStrike" kern="1200" cap="none" spc="0" normalizeH="0" baseline="0" noProof="0" dirty="0">
              <a:ln>
                <a:noFill/>
              </a:ln>
              <a:solidFill>
                <a:srgbClr val="FFFFFF"/>
              </a:solidFill>
              <a:effectLst/>
              <a:uLnTx/>
              <a:uFillTx/>
              <a:cs typeface="+mn-ea"/>
              <a:sym typeface="+mn-lt"/>
            </a:endParaRPr>
          </a:p>
        </p:txBody>
      </p:sp>
      <p:sp>
        <p:nvSpPr>
          <p:cNvPr id="177" name="熊大的PPT宝库69"/>
          <p:cNvSpPr/>
          <p:nvPr/>
        </p:nvSpPr>
        <p:spPr>
          <a:xfrm>
            <a:off x="11101711" y="4671758"/>
            <a:ext cx="324000" cy="324000"/>
          </a:xfrm>
          <a:prstGeom prst="roundRect">
            <a:avLst>
              <a:gd name="adj" fmla="val 18085"/>
            </a:avLst>
          </a:prstGeom>
          <a:solidFill>
            <a:schemeClr val="accent1"/>
          </a:solidFill>
          <a:ln w="6350" cap="flat">
            <a:noFill/>
            <a:prstDash val="solid"/>
            <a:miter/>
          </a:ln>
        </p:spPr>
        <p:txBody>
          <a:bodyPr wrap="non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178" name="熊大的PPT宝库70"/>
          <p:cNvSpPr txBox="1"/>
          <p:nvPr/>
        </p:nvSpPr>
        <p:spPr>
          <a:xfrm>
            <a:off x="11161119" y="4710648"/>
            <a:ext cx="205184" cy="246221"/>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安</a:t>
            </a:r>
            <a:endParaRPr kumimoji="0" lang="en-US" sz="1600" b="0" i="0" u="none" strike="noStrike" kern="1200" cap="none" spc="0" normalizeH="0" baseline="0" noProof="0" dirty="0">
              <a:ln>
                <a:noFill/>
              </a:ln>
              <a:solidFill>
                <a:srgbClr val="FFFFFF"/>
              </a:solidFill>
              <a:effectLst/>
              <a:uLnTx/>
              <a:uFillTx/>
              <a:cs typeface="+mn-ea"/>
              <a:sym typeface="+mn-lt"/>
            </a:endParaRPr>
          </a:p>
        </p:txBody>
      </p:sp>
      <p:sp>
        <p:nvSpPr>
          <p:cNvPr id="3" name="熊大的PPT宝库72"/>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9" name="熊大的PPT宝库1"/>
          <p:cNvGrpSpPr/>
          <p:nvPr/>
        </p:nvGrpSpPr>
        <p:grpSpPr>
          <a:xfrm>
            <a:off x="3069078" y="871007"/>
            <a:ext cx="7452189" cy="2669222"/>
            <a:chOff x="1306553" y="7401200"/>
            <a:chExt cx="10048568" cy="4837661"/>
          </a:xfrm>
        </p:grpSpPr>
        <p:sp>
          <p:nvSpPr>
            <p:cNvPr id="254" name="熊大的PPT宝库1-1"/>
            <p:cNvSpPr/>
            <p:nvPr/>
          </p:nvSpPr>
          <p:spPr>
            <a:xfrm>
              <a:off x="1306553" y="7714131"/>
              <a:ext cx="2892665" cy="2241492"/>
            </a:xfrm>
            <a:custGeom>
              <a:avLst/>
              <a:gdLst/>
              <a:ahLst/>
              <a:cxnLst>
                <a:cxn ang="0">
                  <a:pos x="wd2" y="hd2"/>
                </a:cxn>
                <a:cxn ang="5400000">
                  <a:pos x="wd2" y="hd2"/>
                </a:cxn>
                <a:cxn ang="10800000">
                  <a:pos x="wd2" y="hd2"/>
                </a:cxn>
                <a:cxn ang="16200000">
                  <a:pos x="wd2" y="hd2"/>
                </a:cxn>
              </a:cxnLst>
              <a:rect l="0" t="0" r="r" b="b"/>
              <a:pathLst>
                <a:path w="21600" h="21600" extrusionOk="0">
                  <a:moveTo>
                    <a:pt x="3471" y="862"/>
                  </a:moveTo>
                  <a:lnTo>
                    <a:pt x="3355" y="857"/>
                  </a:lnTo>
                  <a:lnTo>
                    <a:pt x="3271" y="882"/>
                  </a:lnTo>
                  <a:lnTo>
                    <a:pt x="3183" y="953"/>
                  </a:lnTo>
                  <a:lnTo>
                    <a:pt x="3184" y="1042"/>
                  </a:lnTo>
                  <a:lnTo>
                    <a:pt x="3333" y="1224"/>
                  </a:lnTo>
                  <a:lnTo>
                    <a:pt x="3405" y="1341"/>
                  </a:lnTo>
                  <a:lnTo>
                    <a:pt x="3390" y="1464"/>
                  </a:lnTo>
                  <a:lnTo>
                    <a:pt x="3242" y="1537"/>
                  </a:lnTo>
                  <a:lnTo>
                    <a:pt x="3142" y="1593"/>
                  </a:lnTo>
                  <a:lnTo>
                    <a:pt x="3051" y="1629"/>
                  </a:lnTo>
                  <a:lnTo>
                    <a:pt x="2932" y="1629"/>
                  </a:lnTo>
                  <a:lnTo>
                    <a:pt x="2859" y="1585"/>
                  </a:lnTo>
                  <a:lnTo>
                    <a:pt x="2789" y="1563"/>
                  </a:lnTo>
                  <a:lnTo>
                    <a:pt x="2709" y="1563"/>
                  </a:lnTo>
                  <a:lnTo>
                    <a:pt x="2538" y="1534"/>
                  </a:lnTo>
                  <a:lnTo>
                    <a:pt x="2466" y="1563"/>
                  </a:lnTo>
                  <a:lnTo>
                    <a:pt x="2365" y="1607"/>
                  </a:lnTo>
                  <a:lnTo>
                    <a:pt x="2298" y="1641"/>
                  </a:lnTo>
                  <a:lnTo>
                    <a:pt x="2170" y="1699"/>
                  </a:lnTo>
                  <a:lnTo>
                    <a:pt x="2067" y="1750"/>
                  </a:lnTo>
                  <a:lnTo>
                    <a:pt x="1990" y="1821"/>
                  </a:lnTo>
                  <a:lnTo>
                    <a:pt x="1951" y="1874"/>
                  </a:lnTo>
                  <a:lnTo>
                    <a:pt x="1983" y="1939"/>
                  </a:lnTo>
                  <a:lnTo>
                    <a:pt x="2111" y="2002"/>
                  </a:lnTo>
                  <a:lnTo>
                    <a:pt x="2233" y="2014"/>
                  </a:lnTo>
                  <a:lnTo>
                    <a:pt x="2276" y="2084"/>
                  </a:lnTo>
                  <a:lnTo>
                    <a:pt x="2346" y="2091"/>
                  </a:lnTo>
                  <a:lnTo>
                    <a:pt x="2437" y="2062"/>
                  </a:lnTo>
                  <a:lnTo>
                    <a:pt x="2540" y="1999"/>
                  </a:lnTo>
                  <a:lnTo>
                    <a:pt x="2612" y="1957"/>
                  </a:lnTo>
                  <a:lnTo>
                    <a:pt x="2743" y="1921"/>
                  </a:lnTo>
                  <a:lnTo>
                    <a:pt x="2857" y="1964"/>
                  </a:lnTo>
                  <a:lnTo>
                    <a:pt x="2857" y="2077"/>
                  </a:lnTo>
                  <a:lnTo>
                    <a:pt x="2787" y="2146"/>
                  </a:lnTo>
                  <a:lnTo>
                    <a:pt x="2684" y="2233"/>
                  </a:lnTo>
                  <a:lnTo>
                    <a:pt x="2588" y="2379"/>
                  </a:lnTo>
                  <a:lnTo>
                    <a:pt x="2406" y="2517"/>
                  </a:lnTo>
                  <a:lnTo>
                    <a:pt x="2207" y="2539"/>
                  </a:lnTo>
                  <a:lnTo>
                    <a:pt x="1909" y="2568"/>
                  </a:lnTo>
                  <a:lnTo>
                    <a:pt x="1651" y="2627"/>
                  </a:lnTo>
                  <a:lnTo>
                    <a:pt x="1469" y="2721"/>
                  </a:lnTo>
                  <a:lnTo>
                    <a:pt x="1322" y="2843"/>
                  </a:lnTo>
                  <a:lnTo>
                    <a:pt x="1251" y="2882"/>
                  </a:lnTo>
                  <a:lnTo>
                    <a:pt x="1186" y="3000"/>
                  </a:lnTo>
                  <a:lnTo>
                    <a:pt x="1231" y="3090"/>
                  </a:lnTo>
                  <a:lnTo>
                    <a:pt x="1253" y="3243"/>
                  </a:lnTo>
                  <a:lnTo>
                    <a:pt x="1206" y="3386"/>
                  </a:lnTo>
                  <a:lnTo>
                    <a:pt x="1138" y="3503"/>
                  </a:lnTo>
                  <a:lnTo>
                    <a:pt x="1047" y="3568"/>
                  </a:lnTo>
                  <a:lnTo>
                    <a:pt x="990" y="3598"/>
                  </a:lnTo>
                  <a:lnTo>
                    <a:pt x="895" y="3671"/>
                  </a:lnTo>
                  <a:lnTo>
                    <a:pt x="846" y="3748"/>
                  </a:lnTo>
                  <a:lnTo>
                    <a:pt x="900" y="3817"/>
                  </a:lnTo>
                  <a:lnTo>
                    <a:pt x="1049" y="3874"/>
                  </a:lnTo>
                  <a:lnTo>
                    <a:pt x="1159" y="3952"/>
                  </a:lnTo>
                  <a:lnTo>
                    <a:pt x="1272" y="3905"/>
                  </a:lnTo>
                  <a:lnTo>
                    <a:pt x="1375" y="3811"/>
                  </a:lnTo>
                  <a:lnTo>
                    <a:pt x="1500" y="3789"/>
                  </a:lnTo>
                  <a:lnTo>
                    <a:pt x="1562" y="3898"/>
                  </a:lnTo>
                  <a:lnTo>
                    <a:pt x="1479" y="4034"/>
                  </a:lnTo>
                  <a:lnTo>
                    <a:pt x="1276" y="4180"/>
                  </a:lnTo>
                  <a:lnTo>
                    <a:pt x="967" y="4357"/>
                  </a:lnTo>
                  <a:lnTo>
                    <a:pt x="603" y="4579"/>
                  </a:lnTo>
                  <a:lnTo>
                    <a:pt x="227" y="4739"/>
                  </a:lnTo>
                  <a:lnTo>
                    <a:pt x="77" y="4776"/>
                  </a:lnTo>
                  <a:lnTo>
                    <a:pt x="0" y="4852"/>
                  </a:lnTo>
                  <a:lnTo>
                    <a:pt x="90" y="4896"/>
                  </a:lnTo>
                  <a:lnTo>
                    <a:pt x="253" y="4896"/>
                  </a:lnTo>
                  <a:lnTo>
                    <a:pt x="574" y="4762"/>
                  </a:lnTo>
                  <a:lnTo>
                    <a:pt x="1090" y="4512"/>
                  </a:lnTo>
                  <a:lnTo>
                    <a:pt x="1721" y="4146"/>
                  </a:lnTo>
                  <a:lnTo>
                    <a:pt x="1947" y="4061"/>
                  </a:lnTo>
                  <a:lnTo>
                    <a:pt x="2151" y="4010"/>
                  </a:lnTo>
                  <a:lnTo>
                    <a:pt x="2424" y="3876"/>
                  </a:lnTo>
                  <a:lnTo>
                    <a:pt x="2669" y="3694"/>
                  </a:lnTo>
                  <a:lnTo>
                    <a:pt x="2845" y="3589"/>
                  </a:lnTo>
                  <a:lnTo>
                    <a:pt x="3007" y="3485"/>
                  </a:lnTo>
                  <a:lnTo>
                    <a:pt x="3144" y="3448"/>
                  </a:lnTo>
                  <a:lnTo>
                    <a:pt x="3223" y="3477"/>
                  </a:lnTo>
                  <a:lnTo>
                    <a:pt x="3316" y="3526"/>
                  </a:lnTo>
                  <a:lnTo>
                    <a:pt x="3468" y="3467"/>
                  </a:lnTo>
                  <a:lnTo>
                    <a:pt x="3802" y="3365"/>
                  </a:lnTo>
                  <a:lnTo>
                    <a:pt x="3944" y="3233"/>
                  </a:lnTo>
                  <a:lnTo>
                    <a:pt x="4086" y="3138"/>
                  </a:lnTo>
                  <a:lnTo>
                    <a:pt x="4204" y="3181"/>
                  </a:lnTo>
                  <a:lnTo>
                    <a:pt x="4397" y="3244"/>
                  </a:lnTo>
                  <a:lnTo>
                    <a:pt x="4521" y="3281"/>
                  </a:lnTo>
                  <a:lnTo>
                    <a:pt x="4639" y="3339"/>
                  </a:lnTo>
                  <a:lnTo>
                    <a:pt x="4775" y="3368"/>
                  </a:lnTo>
                  <a:lnTo>
                    <a:pt x="4854" y="3425"/>
                  </a:lnTo>
                  <a:lnTo>
                    <a:pt x="5019" y="3462"/>
                  </a:lnTo>
                  <a:lnTo>
                    <a:pt x="5175" y="3517"/>
                  </a:lnTo>
                  <a:lnTo>
                    <a:pt x="5355" y="3539"/>
                  </a:lnTo>
                  <a:lnTo>
                    <a:pt x="5417" y="3626"/>
                  </a:lnTo>
                  <a:lnTo>
                    <a:pt x="5565" y="3719"/>
                  </a:lnTo>
                  <a:lnTo>
                    <a:pt x="5597" y="3852"/>
                  </a:lnTo>
                  <a:lnTo>
                    <a:pt x="5745" y="3981"/>
                  </a:lnTo>
                  <a:lnTo>
                    <a:pt x="5908" y="3981"/>
                  </a:lnTo>
                  <a:lnTo>
                    <a:pt x="6085" y="4147"/>
                  </a:lnTo>
                  <a:lnTo>
                    <a:pt x="6174" y="4375"/>
                  </a:lnTo>
                  <a:lnTo>
                    <a:pt x="6176" y="4532"/>
                  </a:lnTo>
                  <a:lnTo>
                    <a:pt x="6104" y="4646"/>
                  </a:lnTo>
                  <a:lnTo>
                    <a:pt x="6105" y="4760"/>
                  </a:lnTo>
                  <a:lnTo>
                    <a:pt x="6133" y="4859"/>
                  </a:lnTo>
                  <a:lnTo>
                    <a:pt x="6182" y="4992"/>
                  </a:lnTo>
                  <a:lnTo>
                    <a:pt x="6142" y="5132"/>
                  </a:lnTo>
                  <a:lnTo>
                    <a:pt x="6087" y="5256"/>
                  </a:lnTo>
                  <a:lnTo>
                    <a:pt x="6047" y="5423"/>
                  </a:lnTo>
                  <a:lnTo>
                    <a:pt x="5980" y="5547"/>
                  </a:lnTo>
                  <a:lnTo>
                    <a:pt x="5974" y="5648"/>
                  </a:lnTo>
                  <a:lnTo>
                    <a:pt x="5991" y="5729"/>
                  </a:lnTo>
                  <a:lnTo>
                    <a:pt x="6063" y="5807"/>
                  </a:lnTo>
                  <a:lnTo>
                    <a:pt x="6052" y="5953"/>
                  </a:lnTo>
                  <a:lnTo>
                    <a:pt x="5940" y="6067"/>
                  </a:lnTo>
                  <a:lnTo>
                    <a:pt x="5904" y="6154"/>
                  </a:lnTo>
                  <a:lnTo>
                    <a:pt x="5939" y="6241"/>
                  </a:lnTo>
                  <a:lnTo>
                    <a:pt x="6058" y="6365"/>
                  </a:lnTo>
                  <a:lnTo>
                    <a:pt x="6223" y="6556"/>
                  </a:lnTo>
                  <a:lnTo>
                    <a:pt x="6343" y="6699"/>
                  </a:lnTo>
                  <a:lnTo>
                    <a:pt x="6434" y="6845"/>
                  </a:lnTo>
                  <a:lnTo>
                    <a:pt x="6500" y="7107"/>
                  </a:lnTo>
                  <a:lnTo>
                    <a:pt x="6489" y="7297"/>
                  </a:lnTo>
                  <a:lnTo>
                    <a:pt x="6460" y="7435"/>
                  </a:lnTo>
                  <a:lnTo>
                    <a:pt x="6404" y="7536"/>
                  </a:lnTo>
                  <a:lnTo>
                    <a:pt x="6347" y="7646"/>
                  </a:lnTo>
                  <a:lnTo>
                    <a:pt x="6233" y="7774"/>
                  </a:lnTo>
                  <a:lnTo>
                    <a:pt x="6155" y="7825"/>
                  </a:lnTo>
                  <a:lnTo>
                    <a:pt x="6116" y="7774"/>
                  </a:lnTo>
                  <a:lnTo>
                    <a:pt x="6099" y="7686"/>
                  </a:lnTo>
                  <a:lnTo>
                    <a:pt x="6184" y="7556"/>
                  </a:lnTo>
                  <a:lnTo>
                    <a:pt x="6118" y="7534"/>
                  </a:lnTo>
                  <a:lnTo>
                    <a:pt x="5937" y="7519"/>
                  </a:lnTo>
                  <a:lnTo>
                    <a:pt x="5869" y="7534"/>
                  </a:lnTo>
                  <a:lnTo>
                    <a:pt x="5847" y="7626"/>
                  </a:lnTo>
                  <a:lnTo>
                    <a:pt x="5773" y="7891"/>
                  </a:lnTo>
                  <a:lnTo>
                    <a:pt x="5640" y="8226"/>
                  </a:lnTo>
                  <a:lnTo>
                    <a:pt x="5551" y="8409"/>
                  </a:lnTo>
                  <a:lnTo>
                    <a:pt x="5477" y="8496"/>
                  </a:lnTo>
                  <a:lnTo>
                    <a:pt x="5437" y="8605"/>
                  </a:lnTo>
                  <a:lnTo>
                    <a:pt x="5358" y="8684"/>
                  </a:lnTo>
                  <a:lnTo>
                    <a:pt x="5286" y="8789"/>
                  </a:lnTo>
                  <a:lnTo>
                    <a:pt x="5207" y="8896"/>
                  </a:lnTo>
                  <a:lnTo>
                    <a:pt x="5129" y="8983"/>
                  </a:lnTo>
                  <a:lnTo>
                    <a:pt x="5067" y="9121"/>
                  </a:lnTo>
                  <a:lnTo>
                    <a:pt x="4998" y="9301"/>
                  </a:lnTo>
                  <a:lnTo>
                    <a:pt x="4938" y="9544"/>
                  </a:lnTo>
                  <a:lnTo>
                    <a:pt x="4887" y="9705"/>
                  </a:lnTo>
                  <a:lnTo>
                    <a:pt x="4728" y="9947"/>
                  </a:lnTo>
                  <a:lnTo>
                    <a:pt x="4614" y="10032"/>
                  </a:lnTo>
                  <a:lnTo>
                    <a:pt x="4588" y="10124"/>
                  </a:lnTo>
                  <a:lnTo>
                    <a:pt x="4607" y="10221"/>
                  </a:lnTo>
                  <a:lnTo>
                    <a:pt x="4667" y="10298"/>
                  </a:lnTo>
                  <a:lnTo>
                    <a:pt x="4646" y="10400"/>
                  </a:lnTo>
                  <a:lnTo>
                    <a:pt x="4578" y="10466"/>
                  </a:lnTo>
                  <a:lnTo>
                    <a:pt x="4533" y="10596"/>
                  </a:lnTo>
                  <a:lnTo>
                    <a:pt x="4533" y="10730"/>
                  </a:lnTo>
                  <a:lnTo>
                    <a:pt x="4564" y="10866"/>
                  </a:lnTo>
                  <a:lnTo>
                    <a:pt x="4615" y="10975"/>
                  </a:lnTo>
                  <a:lnTo>
                    <a:pt x="4687" y="11050"/>
                  </a:lnTo>
                  <a:lnTo>
                    <a:pt x="4672" y="11124"/>
                  </a:lnTo>
                  <a:lnTo>
                    <a:pt x="4602" y="11167"/>
                  </a:lnTo>
                  <a:lnTo>
                    <a:pt x="4575" y="11232"/>
                  </a:lnTo>
                  <a:lnTo>
                    <a:pt x="4638" y="11310"/>
                  </a:lnTo>
                  <a:lnTo>
                    <a:pt x="4658" y="11489"/>
                  </a:lnTo>
                  <a:lnTo>
                    <a:pt x="4708" y="11732"/>
                  </a:lnTo>
                  <a:lnTo>
                    <a:pt x="4757" y="12031"/>
                  </a:lnTo>
                  <a:lnTo>
                    <a:pt x="4809" y="12198"/>
                  </a:lnTo>
                  <a:lnTo>
                    <a:pt x="4889" y="12242"/>
                  </a:lnTo>
                  <a:lnTo>
                    <a:pt x="4983" y="12307"/>
                  </a:lnTo>
                  <a:lnTo>
                    <a:pt x="5074" y="12365"/>
                  </a:lnTo>
                  <a:lnTo>
                    <a:pt x="5182" y="12551"/>
                  </a:lnTo>
                  <a:lnTo>
                    <a:pt x="5257" y="12784"/>
                  </a:lnTo>
                  <a:lnTo>
                    <a:pt x="5291" y="13051"/>
                  </a:lnTo>
                  <a:lnTo>
                    <a:pt x="5251" y="13252"/>
                  </a:lnTo>
                  <a:lnTo>
                    <a:pt x="5228" y="13427"/>
                  </a:lnTo>
                  <a:lnTo>
                    <a:pt x="5243" y="13556"/>
                  </a:lnTo>
                  <a:lnTo>
                    <a:pt x="5361" y="13731"/>
                  </a:lnTo>
                  <a:lnTo>
                    <a:pt x="5475" y="14018"/>
                  </a:lnTo>
                  <a:lnTo>
                    <a:pt x="5549" y="14237"/>
                  </a:lnTo>
                  <a:lnTo>
                    <a:pt x="5534" y="14380"/>
                  </a:lnTo>
                  <a:lnTo>
                    <a:pt x="5455" y="14489"/>
                  </a:lnTo>
                  <a:lnTo>
                    <a:pt x="5444" y="14620"/>
                  </a:lnTo>
                  <a:lnTo>
                    <a:pt x="5538" y="14705"/>
                  </a:lnTo>
                  <a:lnTo>
                    <a:pt x="5553" y="14790"/>
                  </a:lnTo>
                  <a:lnTo>
                    <a:pt x="5597" y="14873"/>
                  </a:lnTo>
                  <a:lnTo>
                    <a:pt x="5705" y="14957"/>
                  </a:lnTo>
                  <a:lnTo>
                    <a:pt x="5832" y="15137"/>
                  </a:lnTo>
                  <a:lnTo>
                    <a:pt x="5849" y="15280"/>
                  </a:lnTo>
                  <a:lnTo>
                    <a:pt x="5806" y="15409"/>
                  </a:lnTo>
                  <a:lnTo>
                    <a:pt x="5785" y="15479"/>
                  </a:lnTo>
                  <a:lnTo>
                    <a:pt x="5785" y="15568"/>
                  </a:lnTo>
                  <a:lnTo>
                    <a:pt x="5876" y="15690"/>
                  </a:lnTo>
                  <a:lnTo>
                    <a:pt x="5983" y="15842"/>
                  </a:lnTo>
                  <a:lnTo>
                    <a:pt x="6074" y="15973"/>
                  </a:lnTo>
                  <a:lnTo>
                    <a:pt x="6165" y="16095"/>
                  </a:lnTo>
                  <a:lnTo>
                    <a:pt x="6241" y="16141"/>
                  </a:lnTo>
                  <a:lnTo>
                    <a:pt x="6223" y="16045"/>
                  </a:lnTo>
                  <a:lnTo>
                    <a:pt x="6167" y="15916"/>
                  </a:lnTo>
                  <a:lnTo>
                    <a:pt x="6083" y="15746"/>
                  </a:lnTo>
                  <a:lnTo>
                    <a:pt x="6049" y="15645"/>
                  </a:lnTo>
                  <a:lnTo>
                    <a:pt x="6033" y="15535"/>
                  </a:lnTo>
                  <a:lnTo>
                    <a:pt x="6033" y="15389"/>
                  </a:lnTo>
                  <a:lnTo>
                    <a:pt x="6006" y="15260"/>
                  </a:lnTo>
                  <a:lnTo>
                    <a:pt x="5944" y="15173"/>
                  </a:lnTo>
                  <a:lnTo>
                    <a:pt x="5928" y="15052"/>
                  </a:lnTo>
                  <a:lnTo>
                    <a:pt x="5923" y="14877"/>
                  </a:lnTo>
                  <a:lnTo>
                    <a:pt x="5917" y="14782"/>
                  </a:lnTo>
                  <a:lnTo>
                    <a:pt x="5826" y="14534"/>
                  </a:lnTo>
                  <a:lnTo>
                    <a:pt x="5720" y="14254"/>
                  </a:lnTo>
                  <a:lnTo>
                    <a:pt x="5646" y="13909"/>
                  </a:lnTo>
                  <a:lnTo>
                    <a:pt x="5549" y="13654"/>
                  </a:lnTo>
                  <a:lnTo>
                    <a:pt x="5538" y="13489"/>
                  </a:lnTo>
                  <a:lnTo>
                    <a:pt x="5583" y="13314"/>
                  </a:lnTo>
                  <a:lnTo>
                    <a:pt x="5657" y="13214"/>
                  </a:lnTo>
                  <a:lnTo>
                    <a:pt x="5739" y="13178"/>
                  </a:lnTo>
                  <a:lnTo>
                    <a:pt x="5837" y="13204"/>
                  </a:lnTo>
                  <a:lnTo>
                    <a:pt x="6002" y="13298"/>
                  </a:lnTo>
                  <a:lnTo>
                    <a:pt x="6041" y="13466"/>
                  </a:lnTo>
                  <a:lnTo>
                    <a:pt x="6021" y="13669"/>
                  </a:lnTo>
                  <a:lnTo>
                    <a:pt x="6083" y="13842"/>
                  </a:lnTo>
                  <a:lnTo>
                    <a:pt x="6123" y="14044"/>
                  </a:lnTo>
                  <a:lnTo>
                    <a:pt x="6214" y="14248"/>
                  </a:lnTo>
                  <a:lnTo>
                    <a:pt x="6284" y="14430"/>
                  </a:lnTo>
                  <a:lnTo>
                    <a:pt x="6364" y="14595"/>
                  </a:lnTo>
                  <a:lnTo>
                    <a:pt x="6436" y="14724"/>
                  </a:lnTo>
                  <a:lnTo>
                    <a:pt x="6560" y="14862"/>
                  </a:lnTo>
                  <a:lnTo>
                    <a:pt x="6578" y="15043"/>
                  </a:lnTo>
                  <a:lnTo>
                    <a:pt x="6534" y="15102"/>
                  </a:lnTo>
                  <a:lnTo>
                    <a:pt x="6506" y="15225"/>
                  </a:lnTo>
                  <a:lnTo>
                    <a:pt x="6626" y="15313"/>
                  </a:lnTo>
                  <a:lnTo>
                    <a:pt x="6758" y="15490"/>
                  </a:lnTo>
                  <a:lnTo>
                    <a:pt x="6832" y="15660"/>
                  </a:lnTo>
                  <a:lnTo>
                    <a:pt x="6946" y="15755"/>
                  </a:lnTo>
                  <a:lnTo>
                    <a:pt x="7001" y="15932"/>
                  </a:lnTo>
                  <a:lnTo>
                    <a:pt x="7069" y="16078"/>
                  </a:lnTo>
                  <a:lnTo>
                    <a:pt x="7141" y="16216"/>
                  </a:lnTo>
                  <a:lnTo>
                    <a:pt x="7193" y="16447"/>
                  </a:lnTo>
                  <a:lnTo>
                    <a:pt x="7230" y="16668"/>
                  </a:lnTo>
                  <a:lnTo>
                    <a:pt x="7224" y="16870"/>
                  </a:lnTo>
                  <a:lnTo>
                    <a:pt x="7174" y="17029"/>
                  </a:lnTo>
                  <a:lnTo>
                    <a:pt x="7125" y="17173"/>
                  </a:lnTo>
                  <a:lnTo>
                    <a:pt x="7142" y="17291"/>
                  </a:lnTo>
                  <a:lnTo>
                    <a:pt x="7204" y="17363"/>
                  </a:lnTo>
                  <a:lnTo>
                    <a:pt x="7292" y="17443"/>
                  </a:lnTo>
                  <a:lnTo>
                    <a:pt x="7417" y="17611"/>
                  </a:lnTo>
                  <a:lnTo>
                    <a:pt x="7500" y="17756"/>
                  </a:lnTo>
                  <a:lnTo>
                    <a:pt x="7591" y="17820"/>
                  </a:lnTo>
                  <a:lnTo>
                    <a:pt x="7800" y="17893"/>
                  </a:lnTo>
                  <a:lnTo>
                    <a:pt x="7925" y="18009"/>
                  </a:lnTo>
                  <a:lnTo>
                    <a:pt x="8090" y="18111"/>
                  </a:lnTo>
                  <a:lnTo>
                    <a:pt x="8241" y="18220"/>
                  </a:lnTo>
                  <a:lnTo>
                    <a:pt x="8372" y="18315"/>
                  </a:lnTo>
                  <a:lnTo>
                    <a:pt x="8507" y="18400"/>
                  </a:lnTo>
                  <a:lnTo>
                    <a:pt x="8706" y="18516"/>
                  </a:lnTo>
                  <a:lnTo>
                    <a:pt x="8842" y="18596"/>
                  </a:lnTo>
                  <a:lnTo>
                    <a:pt x="8943" y="18660"/>
                  </a:lnTo>
                  <a:lnTo>
                    <a:pt x="9047" y="18713"/>
                  </a:lnTo>
                  <a:lnTo>
                    <a:pt x="9142" y="18769"/>
                  </a:lnTo>
                  <a:lnTo>
                    <a:pt x="9212" y="18725"/>
                  </a:lnTo>
                  <a:lnTo>
                    <a:pt x="9284" y="18698"/>
                  </a:lnTo>
                  <a:lnTo>
                    <a:pt x="9443" y="18618"/>
                  </a:lnTo>
                  <a:lnTo>
                    <a:pt x="9551" y="18567"/>
                  </a:lnTo>
                  <a:lnTo>
                    <a:pt x="9694" y="18567"/>
                  </a:lnTo>
                  <a:lnTo>
                    <a:pt x="9830" y="18670"/>
                  </a:lnTo>
                  <a:lnTo>
                    <a:pt x="10001" y="18799"/>
                  </a:lnTo>
                  <a:lnTo>
                    <a:pt x="10103" y="18897"/>
                  </a:lnTo>
                  <a:lnTo>
                    <a:pt x="10183" y="19065"/>
                  </a:lnTo>
                  <a:lnTo>
                    <a:pt x="10280" y="19194"/>
                  </a:lnTo>
                  <a:lnTo>
                    <a:pt x="10399" y="19279"/>
                  </a:lnTo>
                  <a:lnTo>
                    <a:pt x="10524" y="19345"/>
                  </a:lnTo>
                  <a:lnTo>
                    <a:pt x="10621" y="19420"/>
                  </a:lnTo>
                  <a:lnTo>
                    <a:pt x="10755" y="19493"/>
                  </a:lnTo>
                  <a:lnTo>
                    <a:pt x="10877" y="19578"/>
                  </a:lnTo>
                  <a:lnTo>
                    <a:pt x="11002" y="19607"/>
                  </a:lnTo>
                  <a:lnTo>
                    <a:pt x="11156" y="19612"/>
                  </a:lnTo>
                  <a:lnTo>
                    <a:pt x="11241" y="19532"/>
                  </a:lnTo>
                  <a:lnTo>
                    <a:pt x="11335" y="19547"/>
                  </a:lnTo>
                  <a:lnTo>
                    <a:pt x="11364" y="19707"/>
                  </a:lnTo>
                  <a:lnTo>
                    <a:pt x="11392" y="19855"/>
                  </a:lnTo>
                  <a:lnTo>
                    <a:pt x="11426" y="19991"/>
                  </a:lnTo>
                  <a:lnTo>
                    <a:pt x="11500" y="20114"/>
                  </a:lnTo>
                  <a:lnTo>
                    <a:pt x="11589" y="20243"/>
                  </a:lnTo>
                  <a:lnTo>
                    <a:pt x="11653" y="20382"/>
                  </a:lnTo>
                  <a:lnTo>
                    <a:pt x="11664" y="20506"/>
                  </a:lnTo>
                  <a:lnTo>
                    <a:pt x="11682" y="20676"/>
                  </a:lnTo>
                  <a:lnTo>
                    <a:pt x="11772" y="20819"/>
                  </a:lnTo>
                  <a:lnTo>
                    <a:pt x="11902" y="20848"/>
                  </a:lnTo>
                  <a:lnTo>
                    <a:pt x="12025" y="20953"/>
                  </a:lnTo>
                  <a:lnTo>
                    <a:pt x="12094" y="21084"/>
                  </a:lnTo>
                  <a:lnTo>
                    <a:pt x="12179" y="21177"/>
                  </a:lnTo>
                  <a:lnTo>
                    <a:pt x="12295" y="21296"/>
                  </a:lnTo>
                  <a:lnTo>
                    <a:pt x="12435" y="21310"/>
                  </a:lnTo>
                  <a:lnTo>
                    <a:pt x="12549" y="21391"/>
                  </a:lnTo>
                  <a:lnTo>
                    <a:pt x="12667" y="21461"/>
                  </a:lnTo>
                  <a:lnTo>
                    <a:pt x="12729" y="21510"/>
                  </a:lnTo>
                  <a:lnTo>
                    <a:pt x="12864" y="21571"/>
                  </a:lnTo>
                  <a:lnTo>
                    <a:pt x="12989" y="21600"/>
                  </a:lnTo>
                  <a:lnTo>
                    <a:pt x="13033" y="21529"/>
                  </a:lnTo>
                  <a:lnTo>
                    <a:pt x="12995" y="21406"/>
                  </a:lnTo>
                  <a:lnTo>
                    <a:pt x="13103" y="21304"/>
                  </a:lnTo>
                  <a:lnTo>
                    <a:pt x="13183" y="21223"/>
                  </a:lnTo>
                  <a:lnTo>
                    <a:pt x="13268" y="21158"/>
                  </a:lnTo>
                  <a:lnTo>
                    <a:pt x="13213" y="21056"/>
                  </a:lnTo>
                  <a:lnTo>
                    <a:pt x="13081" y="21093"/>
                  </a:lnTo>
                  <a:lnTo>
                    <a:pt x="12971" y="21149"/>
                  </a:lnTo>
                  <a:lnTo>
                    <a:pt x="12887" y="21241"/>
                  </a:lnTo>
                  <a:lnTo>
                    <a:pt x="12803" y="21285"/>
                  </a:lnTo>
                  <a:lnTo>
                    <a:pt x="12762" y="21202"/>
                  </a:lnTo>
                  <a:lnTo>
                    <a:pt x="12656" y="21154"/>
                  </a:lnTo>
                  <a:lnTo>
                    <a:pt x="12537" y="21095"/>
                  </a:lnTo>
                  <a:lnTo>
                    <a:pt x="12412" y="20986"/>
                  </a:lnTo>
                  <a:lnTo>
                    <a:pt x="12350" y="20797"/>
                  </a:lnTo>
                  <a:lnTo>
                    <a:pt x="12262" y="20656"/>
                  </a:lnTo>
                  <a:lnTo>
                    <a:pt x="12209" y="20570"/>
                  </a:lnTo>
                  <a:lnTo>
                    <a:pt x="12187" y="20410"/>
                  </a:lnTo>
                  <a:lnTo>
                    <a:pt x="12198" y="20249"/>
                  </a:lnTo>
                  <a:lnTo>
                    <a:pt x="12225" y="20028"/>
                  </a:lnTo>
                  <a:lnTo>
                    <a:pt x="12236" y="19853"/>
                  </a:lnTo>
                  <a:lnTo>
                    <a:pt x="12264" y="19692"/>
                  </a:lnTo>
                  <a:lnTo>
                    <a:pt x="12287" y="19534"/>
                  </a:lnTo>
                  <a:lnTo>
                    <a:pt x="12302" y="19376"/>
                  </a:lnTo>
                  <a:lnTo>
                    <a:pt x="12330" y="19230"/>
                  </a:lnTo>
                  <a:lnTo>
                    <a:pt x="12364" y="19073"/>
                  </a:lnTo>
                  <a:lnTo>
                    <a:pt x="12324" y="18924"/>
                  </a:lnTo>
                  <a:lnTo>
                    <a:pt x="12279" y="18783"/>
                  </a:lnTo>
                  <a:lnTo>
                    <a:pt x="12107" y="18728"/>
                  </a:lnTo>
                  <a:lnTo>
                    <a:pt x="11924" y="18714"/>
                  </a:lnTo>
                  <a:lnTo>
                    <a:pt x="11751" y="18714"/>
                  </a:lnTo>
                  <a:lnTo>
                    <a:pt x="11628" y="18765"/>
                  </a:lnTo>
                  <a:lnTo>
                    <a:pt x="11406" y="18816"/>
                  </a:lnTo>
                  <a:lnTo>
                    <a:pt x="11165" y="18816"/>
                  </a:lnTo>
                  <a:lnTo>
                    <a:pt x="11133" y="18658"/>
                  </a:lnTo>
                  <a:lnTo>
                    <a:pt x="11154" y="18467"/>
                  </a:lnTo>
                  <a:lnTo>
                    <a:pt x="11237" y="18145"/>
                  </a:lnTo>
                  <a:lnTo>
                    <a:pt x="11347" y="17912"/>
                  </a:lnTo>
                  <a:lnTo>
                    <a:pt x="11460" y="17663"/>
                  </a:lnTo>
                  <a:lnTo>
                    <a:pt x="11505" y="17483"/>
                  </a:lnTo>
                  <a:lnTo>
                    <a:pt x="11604" y="17196"/>
                  </a:lnTo>
                  <a:lnTo>
                    <a:pt x="11683" y="17024"/>
                  </a:lnTo>
                  <a:lnTo>
                    <a:pt x="11689" y="16887"/>
                  </a:lnTo>
                  <a:lnTo>
                    <a:pt x="11632" y="16817"/>
                  </a:lnTo>
                  <a:lnTo>
                    <a:pt x="11551" y="16802"/>
                  </a:lnTo>
                  <a:lnTo>
                    <a:pt x="11477" y="16780"/>
                  </a:lnTo>
                  <a:lnTo>
                    <a:pt x="11365" y="16780"/>
                  </a:lnTo>
                  <a:lnTo>
                    <a:pt x="11234" y="16802"/>
                  </a:lnTo>
                  <a:lnTo>
                    <a:pt x="11104" y="16839"/>
                  </a:lnTo>
                  <a:lnTo>
                    <a:pt x="11028" y="16887"/>
                  </a:lnTo>
                  <a:lnTo>
                    <a:pt x="10924" y="16956"/>
                  </a:lnTo>
                  <a:lnTo>
                    <a:pt x="10890" y="17029"/>
                  </a:lnTo>
                  <a:lnTo>
                    <a:pt x="10884" y="17157"/>
                  </a:lnTo>
                  <a:lnTo>
                    <a:pt x="10833" y="17347"/>
                  </a:lnTo>
                  <a:lnTo>
                    <a:pt x="10751" y="17509"/>
                  </a:lnTo>
                  <a:lnTo>
                    <a:pt x="10649" y="17596"/>
                  </a:lnTo>
                  <a:lnTo>
                    <a:pt x="10454" y="17759"/>
                  </a:lnTo>
                  <a:lnTo>
                    <a:pt x="10312" y="17818"/>
                  </a:lnTo>
                  <a:lnTo>
                    <a:pt x="10135" y="17898"/>
                  </a:lnTo>
                  <a:lnTo>
                    <a:pt x="9999" y="17898"/>
                  </a:lnTo>
                  <a:lnTo>
                    <a:pt x="9792" y="17879"/>
                  </a:lnTo>
                  <a:lnTo>
                    <a:pt x="9606" y="17831"/>
                  </a:lnTo>
                  <a:lnTo>
                    <a:pt x="9447" y="17654"/>
                  </a:lnTo>
                  <a:lnTo>
                    <a:pt x="9334" y="17487"/>
                  </a:lnTo>
                  <a:lnTo>
                    <a:pt x="9279" y="17285"/>
                  </a:lnTo>
                  <a:lnTo>
                    <a:pt x="9196" y="16914"/>
                  </a:lnTo>
                  <a:lnTo>
                    <a:pt x="9146" y="16624"/>
                  </a:lnTo>
                  <a:lnTo>
                    <a:pt x="9129" y="16345"/>
                  </a:lnTo>
                  <a:lnTo>
                    <a:pt x="9167" y="16032"/>
                  </a:lnTo>
                  <a:lnTo>
                    <a:pt x="9286" y="15655"/>
                  </a:lnTo>
                  <a:lnTo>
                    <a:pt x="9383" y="15401"/>
                  </a:lnTo>
                  <a:lnTo>
                    <a:pt x="9400" y="15183"/>
                  </a:lnTo>
                  <a:lnTo>
                    <a:pt x="9406" y="14977"/>
                  </a:lnTo>
                  <a:lnTo>
                    <a:pt x="9444" y="14790"/>
                  </a:lnTo>
                  <a:lnTo>
                    <a:pt x="9506" y="14595"/>
                  </a:lnTo>
                  <a:lnTo>
                    <a:pt x="9635" y="14457"/>
                  </a:lnTo>
                  <a:lnTo>
                    <a:pt x="9806" y="14284"/>
                  </a:lnTo>
                  <a:lnTo>
                    <a:pt x="10189" y="14050"/>
                  </a:lnTo>
                  <a:lnTo>
                    <a:pt x="10354" y="13911"/>
                  </a:lnTo>
                  <a:lnTo>
                    <a:pt x="10480" y="13836"/>
                  </a:lnTo>
                  <a:lnTo>
                    <a:pt x="10603" y="13720"/>
                  </a:lnTo>
                  <a:lnTo>
                    <a:pt x="10739" y="13684"/>
                  </a:lnTo>
                  <a:lnTo>
                    <a:pt x="10870" y="13684"/>
                  </a:lnTo>
                  <a:lnTo>
                    <a:pt x="10993" y="13742"/>
                  </a:lnTo>
                  <a:lnTo>
                    <a:pt x="11150" y="13886"/>
                  </a:lnTo>
                  <a:lnTo>
                    <a:pt x="11296" y="13993"/>
                  </a:lnTo>
                  <a:lnTo>
                    <a:pt x="11413" y="14043"/>
                  </a:lnTo>
                  <a:lnTo>
                    <a:pt x="11504" y="14043"/>
                  </a:lnTo>
                  <a:lnTo>
                    <a:pt x="11606" y="13970"/>
                  </a:lnTo>
                  <a:lnTo>
                    <a:pt x="11711" y="13735"/>
                  </a:lnTo>
                  <a:lnTo>
                    <a:pt x="11875" y="13611"/>
                  </a:lnTo>
                  <a:lnTo>
                    <a:pt x="12014" y="13548"/>
                  </a:lnTo>
                  <a:lnTo>
                    <a:pt x="12178" y="13504"/>
                  </a:lnTo>
                  <a:lnTo>
                    <a:pt x="12297" y="13548"/>
                  </a:lnTo>
                  <a:lnTo>
                    <a:pt x="12373" y="13646"/>
                  </a:lnTo>
                  <a:lnTo>
                    <a:pt x="12497" y="13704"/>
                  </a:lnTo>
                  <a:lnTo>
                    <a:pt x="12604" y="13781"/>
                  </a:lnTo>
                  <a:lnTo>
                    <a:pt x="12701" y="13812"/>
                  </a:lnTo>
                  <a:lnTo>
                    <a:pt x="12778" y="13740"/>
                  </a:lnTo>
                  <a:lnTo>
                    <a:pt x="12875" y="13710"/>
                  </a:lnTo>
                  <a:lnTo>
                    <a:pt x="12998" y="13746"/>
                  </a:lnTo>
                  <a:lnTo>
                    <a:pt x="13081" y="13890"/>
                  </a:lnTo>
                  <a:lnTo>
                    <a:pt x="13168" y="13996"/>
                  </a:lnTo>
                  <a:lnTo>
                    <a:pt x="13228" y="14124"/>
                  </a:lnTo>
                  <a:lnTo>
                    <a:pt x="13245" y="14260"/>
                  </a:lnTo>
                  <a:lnTo>
                    <a:pt x="13188" y="14382"/>
                  </a:lnTo>
                  <a:lnTo>
                    <a:pt x="13150" y="14515"/>
                  </a:lnTo>
                  <a:lnTo>
                    <a:pt x="13150" y="14661"/>
                  </a:lnTo>
                  <a:lnTo>
                    <a:pt x="13213" y="14744"/>
                  </a:lnTo>
                  <a:lnTo>
                    <a:pt x="13265" y="14853"/>
                  </a:lnTo>
                  <a:lnTo>
                    <a:pt x="13283" y="15108"/>
                  </a:lnTo>
                  <a:lnTo>
                    <a:pt x="13334" y="15290"/>
                  </a:lnTo>
                  <a:lnTo>
                    <a:pt x="13452" y="15424"/>
                  </a:lnTo>
                  <a:lnTo>
                    <a:pt x="13548" y="15365"/>
                  </a:lnTo>
                  <a:lnTo>
                    <a:pt x="13603" y="15222"/>
                  </a:lnTo>
                  <a:lnTo>
                    <a:pt x="13654" y="15037"/>
                  </a:lnTo>
                  <a:lnTo>
                    <a:pt x="13654" y="14814"/>
                  </a:lnTo>
                  <a:lnTo>
                    <a:pt x="13681" y="14602"/>
                  </a:lnTo>
                  <a:lnTo>
                    <a:pt x="13650" y="14293"/>
                  </a:lnTo>
                  <a:lnTo>
                    <a:pt x="13616" y="14170"/>
                  </a:lnTo>
                  <a:lnTo>
                    <a:pt x="13599" y="13973"/>
                  </a:lnTo>
                  <a:lnTo>
                    <a:pt x="13582" y="13688"/>
                  </a:lnTo>
                  <a:lnTo>
                    <a:pt x="13593" y="13506"/>
                  </a:lnTo>
                  <a:lnTo>
                    <a:pt x="13658" y="13353"/>
                  </a:lnTo>
                  <a:lnTo>
                    <a:pt x="13728" y="13200"/>
                  </a:lnTo>
                  <a:lnTo>
                    <a:pt x="13825" y="13091"/>
                  </a:lnTo>
                  <a:lnTo>
                    <a:pt x="13927" y="12967"/>
                  </a:lnTo>
                  <a:lnTo>
                    <a:pt x="14218" y="12701"/>
                  </a:lnTo>
                  <a:lnTo>
                    <a:pt x="14326" y="12563"/>
                  </a:lnTo>
                  <a:lnTo>
                    <a:pt x="14453" y="12468"/>
                  </a:lnTo>
                  <a:lnTo>
                    <a:pt x="14577" y="12404"/>
                  </a:lnTo>
                  <a:lnTo>
                    <a:pt x="14723" y="12341"/>
                  </a:lnTo>
                  <a:lnTo>
                    <a:pt x="14852" y="12246"/>
                  </a:lnTo>
                  <a:lnTo>
                    <a:pt x="14935" y="12127"/>
                  </a:lnTo>
                  <a:lnTo>
                    <a:pt x="15055" y="12032"/>
                  </a:lnTo>
                  <a:lnTo>
                    <a:pt x="15152" y="11945"/>
                  </a:lnTo>
                  <a:lnTo>
                    <a:pt x="15263" y="11753"/>
                  </a:lnTo>
                  <a:lnTo>
                    <a:pt x="15280" y="11595"/>
                  </a:lnTo>
                  <a:lnTo>
                    <a:pt x="15303" y="11434"/>
                  </a:lnTo>
                  <a:lnTo>
                    <a:pt x="15281" y="11276"/>
                  </a:lnTo>
                  <a:lnTo>
                    <a:pt x="15281" y="11116"/>
                  </a:lnTo>
                  <a:lnTo>
                    <a:pt x="15303" y="10934"/>
                  </a:lnTo>
                  <a:lnTo>
                    <a:pt x="15389" y="10761"/>
                  </a:lnTo>
                  <a:lnTo>
                    <a:pt x="15482" y="10761"/>
                  </a:lnTo>
                  <a:lnTo>
                    <a:pt x="15499" y="10880"/>
                  </a:lnTo>
                  <a:lnTo>
                    <a:pt x="15546" y="11021"/>
                  </a:lnTo>
                  <a:lnTo>
                    <a:pt x="15614" y="10967"/>
                  </a:lnTo>
                  <a:lnTo>
                    <a:pt x="15535" y="10727"/>
                  </a:lnTo>
                  <a:lnTo>
                    <a:pt x="15650" y="10569"/>
                  </a:lnTo>
                  <a:lnTo>
                    <a:pt x="15762" y="10432"/>
                  </a:lnTo>
                  <a:lnTo>
                    <a:pt x="16024" y="10381"/>
                  </a:lnTo>
                  <a:lnTo>
                    <a:pt x="16117" y="10289"/>
                  </a:lnTo>
                  <a:lnTo>
                    <a:pt x="16183" y="10120"/>
                  </a:lnTo>
                  <a:lnTo>
                    <a:pt x="16253" y="10035"/>
                  </a:lnTo>
                  <a:lnTo>
                    <a:pt x="16440" y="9841"/>
                  </a:lnTo>
                  <a:lnTo>
                    <a:pt x="16600" y="9797"/>
                  </a:lnTo>
                  <a:lnTo>
                    <a:pt x="16827" y="9761"/>
                  </a:lnTo>
                  <a:lnTo>
                    <a:pt x="16975" y="9680"/>
                  </a:lnTo>
                  <a:lnTo>
                    <a:pt x="17100" y="9613"/>
                  </a:lnTo>
                  <a:lnTo>
                    <a:pt x="17191" y="9547"/>
                  </a:lnTo>
                  <a:lnTo>
                    <a:pt x="17242" y="9250"/>
                  </a:lnTo>
                  <a:lnTo>
                    <a:pt x="17356" y="9134"/>
                  </a:lnTo>
                  <a:lnTo>
                    <a:pt x="17482" y="9045"/>
                  </a:lnTo>
                  <a:lnTo>
                    <a:pt x="17579" y="8965"/>
                  </a:lnTo>
                  <a:lnTo>
                    <a:pt x="17788" y="8827"/>
                  </a:lnTo>
                  <a:lnTo>
                    <a:pt x="17966" y="8684"/>
                  </a:lnTo>
                  <a:lnTo>
                    <a:pt x="18192" y="8613"/>
                  </a:lnTo>
                  <a:lnTo>
                    <a:pt x="18339" y="8516"/>
                  </a:lnTo>
                  <a:lnTo>
                    <a:pt x="18489" y="8428"/>
                  </a:lnTo>
                  <a:lnTo>
                    <a:pt x="18633" y="8365"/>
                  </a:lnTo>
                  <a:lnTo>
                    <a:pt x="18762" y="8309"/>
                  </a:lnTo>
                  <a:lnTo>
                    <a:pt x="18913" y="8309"/>
                  </a:lnTo>
                  <a:lnTo>
                    <a:pt x="19010" y="8350"/>
                  </a:lnTo>
                  <a:lnTo>
                    <a:pt x="19016" y="8472"/>
                  </a:lnTo>
                  <a:lnTo>
                    <a:pt x="18873" y="8513"/>
                  </a:lnTo>
                  <a:lnTo>
                    <a:pt x="18706" y="8635"/>
                  </a:lnTo>
                  <a:lnTo>
                    <a:pt x="18595" y="8691"/>
                  </a:lnTo>
                  <a:lnTo>
                    <a:pt x="18495" y="8751"/>
                  </a:lnTo>
                  <a:lnTo>
                    <a:pt x="18450" y="8839"/>
                  </a:lnTo>
                  <a:lnTo>
                    <a:pt x="18511" y="8931"/>
                  </a:lnTo>
                  <a:lnTo>
                    <a:pt x="18611" y="8931"/>
                  </a:lnTo>
                  <a:lnTo>
                    <a:pt x="18791" y="8827"/>
                  </a:lnTo>
                  <a:lnTo>
                    <a:pt x="18930" y="8727"/>
                  </a:lnTo>
                  <a:lnTo>
                    <a:pt x="19074" y="8650"/>
                  </a:lnTo>
                  <a:lnTo>
                    <a:pt x="19244" y="8635"/>
                  </a:lnTo>
                  <a:cubicBezTo>
                    <a:pt x="19290" y="8619"/>
                    <a:pt x="19335" y="8600"/>
                    <a:pt x="19379" y="8579"/>
                  </a:cubicBezTo>
                  <a:cubicBezTo>
                    <a:pt x="19434" y="8553"/>
                    <a:pt x="19488" y="8523"/>
                    <a:pt x="19541" y="8489"/>
                  </a:cubicBezTo>
                  <a:lnTo>
                    <a:pt x="19653" y="8409"/>
                  </a:lnTo>
                  <a:lnTo>
                    <a:pt x="19869" y="8294"/>
                  </a:lnTo>
                  <a:lnTo>
                    <a:pt x="19833" y="8195"/>
                  </a:lnTo>
                  <a:lnTo>
                    <a:pt x="19698" y="8202"/>
                  </a:lnTo>
                  <a:lnTo>
                    <a:pt x="19554" y="8292"/>
                  </a:lnTo>
                  <a:lnTo>
                    <a:pt x="19488" y="8314"/>
                  </a:lnTo>
                  <a:lnTo>
                    <a:pt x="19341" y="8314"/>
                  </a:lnTo>
                  <a:lnTo>
                    <a:pt x="19174" y="8207"/>
                  </a:lnTo>
                  <a:lnTo>
                    <a:pt x="18993" y="8112"/>
                  </a:lnTo>
                  <a:lnTo>
                    <a:pt x="18933" y="7978"/>
                  </a:lnTo>
                  <a:lnTo>
                    <a:pt x="18938" y="7840"/>
                  </a:lnTo>
                  <a:lnTo>
                    <a:pt x="18944" y="7690"/>
                  </a:lnTo>
                  <a:lnTo>
                    <a:pt x="19006" y="7610"/>
                  </a:lnTo>
                  <a:lnTo>
                    <a:pt x="19140" y="7428"/>
                  </a:lnTo>
                  <a:lnTo>
                    <a:pt x="19187" y="7345"/>
                  </a:lnTo>
                  <a:lnTo>
                    <a:pt x="19237" y="7180"/>
                  </a:lnTo>
                  <a:lnTo>
                    <a:pt x="19106" y="7144"/>
                  </a:lnTo>
                  <a:lnTo>
                    <a:pt x="18892" y="7163"/>
                  </a:lnTo>
                  <a:lnTo>
                    <a:pt x="18659" y="7228"/>
                  </a:lnTo>
                  <a:lnTo>
                    <a:pt x="18407" y="7344"/>
                  </a:lnTo>
                  <a:lnTo>
                    <a:pt x="18286" y="7459"/>
                  </a:lnTo>
                  <a:lnTo>
                    <a:pt x="18115" y="7495"/>
                  </a:lnTo>
                  <a:lnTo>
                    <a:pt x="18053" y="7522"/>
                  </a:lnTo>
                  <a:lnTo>
                    <a:pt x="17997" y="7406"/>
                  </a:lnTo>
                  <a:lnTo>
                    <a:pt x="18048" y="7304"/>
                  </a:lnTo>
                  <a:lnTo>
                    <a:pt x="18150" y="7238"/>
                  </a:lnTo>
                  <a:lnTo>
                    <a:pt x="18577" y="7007"/>
                  </a:lnTo>
                  <a:lnTo>
                    <a:pt x="18765" y="6862"/>
                  </a:lnTo>
                  <a:cubicBezTo>
                    <a:pt x="18809" y="6831"/>
                    <a:pt x="18854" y="6805"/>
                    <a:pt x="18901" y="6781"/>
                  </a:cubicBezTo>
                  <a:cubicBezTo>
                    <a:pt x="18965" y="6749"/>
                    <a:pt x="19031" y="6724"/>
                    <a:pt x="19098" y="6706"/>
                  </a:cubicBezTo>
                  <a:lnTo>
                    <a:pt x="19233" y="6665"/>
                  </a:lnTo>
                  <a:lnTo>
                    <a:pt x="19413" y="6636"/>
                  </a:lnTo>
                  <a:lnTo>
                    <a:pt x="19652" y="6658"/>
                  </a:lnTo>
                  <a:lnTo>
                    <a:pt x="19921" y="6687"/>
                  </a:lnTo>
                  <a:lnTo>
                    <a:pt x="20075" y="6660"/>
                  </a:lnTo>
                  <a:lnTo>
                    <a:pt x="20242" y="6618"/>
                  </a:lnTo>
                  <a:lnTo>
                    <a:pt x="20490" y="6615"/>
                  </a:lnTo>
                  <a:lnTo>
                    <a:pt x="20803" y="6477"/>
                  </a:lnTo>
                  <a:lnTo>
                    <a:pt x="20930" y="6409"/>
                  </a:lnTo>
                  <a:cubicBezTo>
                    <a:pt x="20988" y="6390"/>
                    <a:pt x="21045" y="6366"/>
                    <a:pt x="21099" y="6336"/>
                  </a:cubicBezTo>
                  <a:cubicBezTo>
                    <a:pt x="21140" y="6313"/>
                    <a:pt x="21179" y="6288"/>
                    <a:pt x="21217" y="6260"/>
                  </a:cubicBezTo>
                  <a:lnTo>
                    <a:pt x="21276" y="6209"/>
                  </a:lnTo>
                  <a:lnTo>
                    <a:pt x="21373" y="6131"/>
                  </a:lnTo>
                  <a:cubicBezTo>
                    <a:pt x="21397" y="6115"/>
                    <a:pt x="21420" y="6096"/>
                    <a:pt x="21441" y="6073"/>
                  </a:cubicBezTo>
                  <a:cubicBezTo>
                    <a:pt x="21471" y="6042"/>
                    <a:pt x="21497" y="6005"/>
                    <a:pt x="21518" y="5964"/>
                  </a:cubicBezTo>
                  <a:lnTo>
                    <a:pt x="21583" y="5842"/>
                  </a:lnTo>
                  <a:lnTo>
                    <a:pt x="21600" y="5716"/>
                  </a:lnTo>
                  <a:lnTo>
                    <a:pt x="21594" y="5645"/>
                  </a:lnTo>
                  <a:lnTo>
                    <a:pt x="21471" y="5526"/>
                  </a:lnTo>
                  <a:lnTo>
                    <a:pt x="21403" y="5467"/>
                  </a:lnTo>
                  <a:lnTo>
                    <a:pt x="21327" y="5446"/>
                  </a:lnTo>
                  <a:lnTo>
                    <a:pt x="21196" y="5446"/>
                  </a:lnTo>
                  <a:lnTo>
                    <a:pt x="21091" y="5453"/>
                  </a:lnTo>
                  <a:lnTo>
                    <a:pt x="20995" y="5547"/>
                  </a:lnTo>
                  <a:lnTo>
                    <a:pt x="20900" y="5567"/>
                  </a:lnTo>
                  <a:lnTo>
                    <a:pt x="20828" y="5523"/>
                  </a:lnTo>
                  <a:lnTo>
                    <a:pt x="20828" y="5416"/>
                  </a:lnTo>
                  <a:cubicBezTo>
                    <a:pt x="20860" y="5376"/>
                    <a:pt x="20896" y="5339"/>
                    <a:pt x="20934" y="5307"/>
                  </a:cubicBezTo>
                  <a:cubicBezTo>
                    <a:pt x="20959" y="5286"/>
                    <a:pt x="20985" y="5266"/>
                    <a:pt x="21011" y="5249"/>
                  </a:cubicBezTo>
                  <a:lnTo>
                    <a:pt x="20920" y="5120"/>
                  </a:lnTo>
                  <a:lnTo>
                    <a:pt x="20871" y="4942"/>
                  </a:lnTo>
                  <a:lnTo>
                    <a:pt x="20814" y="4814"/>
                  </a:lnTo>
                  <a:lnTo>
                    <a:pt x="20734" y="4712"/>
                  </a:lnTo>
                  <a:lnTo>
                    <a:pt x="20746" y="4563"/>
                  </a:lnTo>
                  <a:lnTo>
                    <a:pt x="20846" y="4476"/>
                  </a:lnTo>
                  <a:lnTo>
                    <a:pt x="20856" y="4345"/>
                  </a:lnTo>
                  <a:lnTo>
                    <a:pt x="20833" y="4183"/>
                  </a:lnTo>
                  <a:lnTo>
                    <a:pt x="20762" y="4113"/>
                  </a:lnTo>
                  <a:lnTo>
                    <a:pt x="20722" y="4001"/>
                  </a:lnTo>
                  <a:cubicBezTo>
                    <a:pt x="20752" y="3980"/>
                    <a:pt x="20776" y="3947"/>
                    <a:pt x="20790" y="3907"/>
                  </a:cubicBezTo>
                  <a:cubicBezTo>
                    <a:pt x="20808" y="3857"/>
                    <a:pt x="20810" y="3800"/>
                    <a:pt x="20796" y="3749"/>
                  </a:cubicBezTo>
                  <a:lnTo>
                    <a:pt x="20745" y="3647"/>
                  </a:lnTo>
                  <a:lnTo>
                    <a:pt x="20720" y="3537"/>
                  </a:lnTo>
                  <a:lnTo>
                    <a:pt x="20625" y="3493"/>
                  </a:lnTo>
                  <a:lnTo>
                    <a:pt x="20528" y="3632"/>
                  </a:lnTo>
                  <a:lnTo>
                    <a:pt x="20392" y="3756"/>
                  </a:lnTo>
                  <a:lnTo>
                    <a:pt x="20250" y="3892"/>
                  </a:lnTo>
                  <a:lnTo>
                    <a:pt x="20115" y="4018"/>
                  </a:lnTo>
                  <a:lnTo>
                    <a:pt x="19946" y="4098"/>
                  </a:lnTo>
                  <a:lnTo>
                    <a:pt x="19822" y="4091"/>
                  </a:lnTo>
                  <a:lnTo>
                    <a:pt x="19744" y="4074"/>
                  </a:lnTo>
                  <a:lnTo>
                    <a:pt x="19649" y="3952"/>
                  </a:lnTo>
                  <a:lnTo>
                    <a:pt x="19564" y="3858"/>
                  </a:lnTo>
                  <a:lnTo>
                    <a:pt x="19617" y="3705"/>
                  </a:lnTo>
                  <a:lnTo>
                    <a:pt x="19691" y="3562"/>
                  </a:lnTo>
                  <a:lnTo>
                    <a:pt x="19670" y="3362"/>
                  </a:lnTo>
                  <a:lnTo>
                    <a:pt x="19615" y="3265"/>
                  </a:lnTo>
                  <a:lnTo>
                    <a:pt x="19484" y="3118"/>
                  </a:lnTo>
                  <a:lnTo>
                    <a:pt x="19382" y="3053"/>
                  </a:lnTo>
                  <a:lnTo>
                    <a:pt x="19268" y="2958"/>
                  </a:lnTo>
                  <a:lnTo>
                    <a:pt x="19145" y="2912"/>
                  </a:lnTo>
                  <a:lnTo>
                    <a:pt x="19014" y="2919"/>
                  </a:lnTo>
                  <a:lnTo>
                    <a:pt x="18924" y="2834"/>
                  </a:lnTo>
                  <a:lnTo>
                    <a:pt x="18793" y="2819"/>
                  </a:lnTo>
                  <a:lnTo>
                    <a:pt x="18658" y="2819"/>
                  </a:lnTo>
                  <a:lnTo>
                    <a:pt x="18524" y="2863"/>
                  </a:lnTo>
                  <a:lnTo>
                    <a:pt x="18416" y="2934"/>
                  </a:lnTo>
                  <a:lnTo>
                    <a:pt x="18334" y="2997"/>
                  </a:lnTo>
                  <a:lnTo>
                    <a:pt x="18277" y="3133"/>
                  </a:lnTo>
                  <a:lnTo>
                    <a:pt x="18228" y="3344"/>
                  </a:lnTo>
                  <a:lnTo>
                    <a:pt x="18114" y="3556"/>
                  </a:lnTo>
                  <a:lnTo>
                    <a:pt x="18057" y="3665"/>
                  </a:lnTo>
                  <a:lnTo>
                    <a:pt x="17966" y="3765"/>
                  </a:lnTo>
                  <a:lnTo>
                    <a:pt x="17864" y="3806"/>
                  </a:lnTo>
                  <a:lnTo>
                    <a:pt x="17813" y="3908"/>
                  </a:lnTo>
                  <a:lnTo>
                    <a:pt x="17790" y="3988"/>
                  </a:lnTo>
                  <a:lnTo>
                    <a:pt x="17790" y="4105"/>
                  </a:lnTo>
                  <a:lnTo>
                    <a:pt x="17807" y="4220"/>
                  </a:lnTo>
                  <a:lnTo>
                    <a:pt x="17813" y="4330"/>
                  </a:lnTo>
                  <a:lnTo>
                    <a:pt x="17807" y="4419"/>
                  </a:lnTo>
                  <a:lnTo>
                    <a:pt x="17727" y="4570"/>
                  </a:lnTo>
                  <a:lnTo>
                    <a:pt x="17608" y="4723"/>
                  </a:lnTo>
                  <a:lnTo>
                    <a:pt x="17570" y="4807"/>
                  </a:lnTo>
                  <a:lnTo>
                    <a:pt x="17479" y="4941"/>
                  </a:lnTo>
                  <a:lnTo>
                    <a:pt x="17394" y="5028"/>
                  </a:lnTo>
                  <a:lnTo>
                    <a:pt x="17345" y="5072"/>
                  </a:lnTo>
                  <a:lnTo>
                    <a:pt x="17172" y="5175"/>
                  </a:lnTo>
                  <a:lnTo>
                    <a:pt x="17093" y="5197"/>
                  </a:lnTo>
                  <a:lnTo>
                    <a:pt x="16951" y="5269"/>
                  </a:lnTo>
                  <a:lnTo>
                    <a:pt x="16873" y="5378"/>
                  </a:lnTo>
                  <a:lnTo>
                    <a:pt x="16811" y="5487"/>
                  </a:lnTo>
                  <a:lnTo>
                    <a:pt x="16771" y="5592"/>
                  </a:lnTo>
                  <a:lnTo>
                    <a:pt x="16743" y="5750"/>
                  </a:lnTo>
                  <a:lnTo>
                    <a:pt x="16726" y="5871"/>
                  </a:lnTo>
                  <a:lnTo>
                    <a:pt x="16709" y="5944"/>
                  </a:lnTo>
                  <a:lnTo>
                    <a:pt x="16652" y="6076"/>
                  </a:lnTo>
                  <a:lnTo>
                    <a:pt x="16601" y="6191"/>
                  </a:lnTo>
                  <a:lnTo>
                    <a:pt x="16482" y="6279"/>
                  </a:lnTo>
                  <a:lnTo>
                    <a:pt x="16345" y="6351"/>
                  </a:lnTo>
                  <a:lnTo>
                    <a:pt x="16220" y="6410"/>
                  </a:lnTo>
                  <a:lnTo>
                    <a:pt x="16108" y="6417"/>
                  </a:lnTo>
                  <a:lnTo>
                    <a:pt x="16026" y="6249"/>
                  </a:lnTo>
                  <a:lnTo>
                    <a:pt x="15965" y="6129"/>
                  </a:lnTo>
                  <a:lnTo>
                    <a:pt x="15948" y="6014"/>
                  </a:lnTo>
                  <a:lnTo>
                    <a:pt x="15982" y="5833"/>
                  </a:lnTo>
                  <a:lnTo>
                    <a:pt x="16056" y="5667"/>
                  </a:lnTo>
                  <a:lnTo>
                    <a:pt x="16079" y="5551"/>
                  </a:lnTo>
                  <a:lnTo>
                    <a:pt x="16130" y="5398"/>
                  </a:lnTo>
                  <a:lnTo>
                    <a:pt x="16168" y="5299"/>
                  </a:lnTo>
                  <a:lnTo>
                    <a:pt x="16158" y="5212"/>
                  </a:lnTo>
                  <a:lnTo>
                    <a:pt x="16120" y="5149"/>
                  </a:lnTo>
                  <a:lnTo>
                    <a:pt x="16044" y="5134"/>
                  </a:lnTo>
                  <a:lnTo>
                    <a:pt x="15842" y="5066"/>
                  </a:lnTo>
                  <a:lnTo>
                    <a:pt x="15649" y="5016"/>
                  </a:lnTo>
                  <a:lnTo>
                    <a:pt x="15519" y="4899"/>
                  </a:lnTo>
                  <a:lnTo>
                    <a:pt x="15428" y="4807"/>
                  </a:lnTo>
                  <a:lnTo>
                    <a:pt x="15295" y="4703"/>
                  </a:lnTo>
                  <a:lnTo>
                    <a:pt x="15101" y="4615"/>
                  </a:lnTo>
                  <a:lnTo>
                    <a:pt x="15030" y="4608"/>
                  </a:lnTo>
                  <a:lnTo>
                    <a:pt x="14853" y="4596"/>
                  </a:lnTo>
                  <a:lnTo>
                    <a:pt x="14711" y="4533"/>
                  </a:lnTo>
                  <a:lnTo>
                    <a:pt x="14656" y="4441"/>
                  </a:lnTo>
                  <a:lnTo>
                    <a:pt x="14613" y="4335"/>
                  </a:lnTo>
                  <a:lnTo>
                    <a:pt x="14581" y="4174"/>
                  </a:lnTo>
                  <a:lnTo>
                    <a:pt x="14534" y="4070"/>
                  </a:lnTo>
                  <a:lnTo>
                    <a:pt x="14451" y="4048"/>
                  </a:lnTo>
                  <a:lnTo>
                    <a:pt x="14384" y="3982"/>
                  </a:lnTo>
                  <a:lnTo>
                    <a:pt x="14380" y="3875"/>
                  </a:lnTo>
                  <a:lnTo>
                    <a:pt x="14437" y="3743"/>
                  </a:lnTo>
                  <a:lnTo>
                    <a:pt x="14496" y="3639"/>
                  </a:lnTo>
                  <a:lnTo>
                    <a:pt x="14589" y="3529"/>
                  </a:lnTo>
                  <a:lnTo>
                    <a:pt x="14644" y="3420"/>
                  </a:lnTo>
                  <a:lnTo>
                    <a:pt x="14712" y="3355"/>
                  </a:lnTo>
                  <a:lnTo>
                    <a:pt x="14846" y="3290"/>
                  </a:lnTo>
                  <a:lnTo>
                    <a:pt x="14960" y="3224"/>
                  </a:lnTo>
                  <a:lnTo>
                    <a:pt x="15117" y="3068"/>
                  </a:lnTo>
                  <a:lnTo>
                    <a:pt x="15265" y="2971"/>
                  </a:lnTo>
                  <a:lnTo>
                    <a:pt x="15367" y="2891"/>
                  </a:lnTo>
                  <a:lnTo>
                    <a:pt x="15479" y="2833"/>
                  </a:lnTo>
                  <a:lnTo>
                    <a:pt x="15627" y="2760"/>
                  </a:lnTo>
                  <a:lnTo>
                    <a:pt x="15801" y="2672"/>
                  </a:lnTo>
                  <a:lnTo>
                    <a:pt x="15902" y="2616"/>
                  </a:lnTo>
                  <a:lnTo>
                    <a:pt x="15953" y="2544"/>
                  </a:lnTo>
                  <a:lnTo>
                    <a:pt x="15902" y="2480"/>
                  </a:lnTo>
                  <a:lnTo>
                    <a:pt x="15942" y="2320"/>
                  </a:lnTo>
                  <a:lnTo>
                    <a:pt x="16029" y="2276"/>
                  </a:lnTo>
                  <a:lnTo>
                    <a:pt x="16111" y="2336"/>
                  </a:lnTo>
                  <a:lnTo>
                    <a:pt x="16338" y="2329"/>
                  </a:lnTo>
                  <a:lnTo>
                    <a:pt x="16515" y="2242"/>
                  </a:lnTo>
                  <a:lnTo>
                    <a:pt x="16662" y="2213"/>
                  </a:lnTo>
                  <a:lnTo>
                    <a:pt x="16803" y="2154"/>
                  </a:lnTo>
                  <a:lnTo>
                    <a:pt x="16958" y="2088"/>
                  </a:lnTo>
                  <a:lnTo>
                    <a:pt x="16928" y="1994"/>
                  </a:lnTo>
                  <a:lnTo>
                    <a:pt x="16828" y="1852"/>
                  </a:lnTo>
                  <a:lnTo>
                    <a:pt x="16746" y="1775"/>
                  </a:lnTo>
                  <a:lnTo>
                    <a:pt x="16786" y="1685"/>
                  </a:lnTo>
                  <a:lnTo>
                    <a:pt x="16894" y="1649"/>
                  </a:lnTo>
                  <a:lnTo>
                    <a:pt x="17022" y="1728"/>
                  </a:lnTo>
                  <a:cubicBezTo>
                    <a:pt x="17065" y="1745"/>
                    <a:pt x="17109" y="1754"/>
                    <a:pt x="17154" y="1754"/>
                  </a:cubicBezTo>
                  <a:cubicBezTo>
                    <a:pt x="17193" y="1754"/>
                    <a:pt x="17232" y="1748"/>
                    <a:pt x="17270" y="1735"/>
                  </a:cubicBezTo>
                  <a:lnTo>
                    <a:pt x="17369" y="1675"/>
                  </a:lnTo>
                  <a:lnTo>
                    <a:pt x="17463" y="1580"/>
                  </a:lnTo>
                  <a:lnTo>
                    <a:pt x="17617" y="1551"/>
                  </a:lnTo>
                  <a:lnTo>
                    <a:pt x="17797" y="1546"/>
                  </a:lnTo>
                  <a:lnTo>
                    <a:pt x="17945" y="1517"/>
                  </a:lnTo>
                  <a:cubicBezTo>
                    <a:pt x="18025" y="1530"/>
                    <a:pt x="18106" y="1530"/>
                    <a:pt x="18186" y="1517"/>
                  </a:cubicBezTo>
                  <a:cubicBezTo>
                    <a:pt x="18230" y="1510"/>
                    <a:pt x="18274" y="1499"/>
                    <a:pt x="18316" y="1480"/>
                  </a:cubicBezTo>
                  <a:cubicBezTo>
                    <a:pt x="18379" y="1453"/>
                    <a:pt x="18437" y="1411"/>
                    <a:pt x="18487" y="1357"/>
                  </a:cubicBezTo>
                  <a:lnTo>
                    <a:pt x="18576" y="1269"/>
                  </a:lnTo>
                  <a:lnTo>
                    <a:pt x="18679" y="1133"/>
                  </a:lnTo>
                  <a:lnTo>
                    <a:pt x="18740" y="1033"/>
                  </a:lnTo>
                  <a:lnTo>
                    <a:pt x="18827" y="887"/>
                  </a:lnTo>
                  <a:lnTo>
                    <a:pt x="18865" y="773"/>
                  </a:lnTo>
                  <a:lnTo>
                    <a:pt x="18842" y="683"/>
                  </a:lnTo>
                  <a:lnTo>
                    <a:pt x="18706" y="662"/>
                  </a:lnTo>
                  <a:lnTo>
                    <a:pt x="18611" y="642"/>
                  </a:lnTo>
                  <a:lnTo>
                    <a:pt x="18371" y="642"/>
                  </a:lnTo>
                  <a:lnTo>
                    <a:pt x="18303" y="678"/>
                  </a:lnTo>
                  <a:lnTo>
                    <a:pt x="18196" y="812"/>
                  </a:lnTo>
                  <a:lnTo>
                    <a:pt x="18035" y="1029"/>
                  </a:lnTo>
                  <a:lnTo>
                    <a:pt x="17939" y="1072"/>
                  </a:lnTo>
                  <a:lnTo>
                    <a:pt x="17774" y="1203"/>
                  </a:lnTo>
                  <a:lnTo>
                    <a:pt x="17708" y="1283"/>
                  </a:lnTo>
                  <a:lnTo>
                    <a:pt x="17630" y="1324"/>
                  </a:lnTo>
                  <a:lnTo>
                    <a:pt x="17575" y="1297"/>
                  </a:lnTo>
                  <a:lnTo>
                    <a:pt x="17456" y="1210"/>
                  </a:lnTo>
                  <a:lnTo>
                    <a:pt x="17478" y="1123"/>
                  </a:lnTo>
                  <a:lnTo>
                    <a:pt x="17579" y="987"/>
                  </a:lnTo>
                  <a:lnTo>
                    <a:pt x="17620" y="848"/>
                  </a:lnTo>
                  <a:lnTo>
                    <a:pt x="17580" y="746"/>
                  </a:lnTo>
                  <a:lnTo>
                    <a:pt x="17480" y="713"/>
                  </a:lnTo>
                  <a:lnTo>
                    <a:pt x="17389" y="669"/>
                  </a:lnTo>
                  <a:lnTo>
                    <a:pt x="17377" y="770"/>
                  </a:lnTo>
                  <a:lnTo>
                    <a:pt x="17275" y="843"/>
                  </a:lnTo>
                  <a:lnTo>
                    <a:pt x="17223" y="719"/>
                  </a:lnTo>
                  <a:lnTo>
                    <a:pt x="17188" y="550"/>
                  </a:lnTo>
                  <a:lnTo>
                    <a:pt x="17158" y="474"/>
                  </a:lnTo>
                  <a:lnTo>
                    <a:pt x="17158" y="393"/>
                  </a:lnTo>
                  <a:lnTo>
                    <a:pt x="17262" y="250"/>
                  </a:lnTo>
                  <a:lnTo>
                    <a:pt x="17279" y="137"/>
                  </a:lnTo>
                  <a:lnTo>
                    <a:pt x="17211" y="42"/>
                  </a:lnTo>
                  <a:lnTo>
                    <a:pt x="17121" y="0"/>
                  </a:lnTo>
                  <a:lnTo>
                    <a:pt x="16997" y="69"/>
                  </a:lnTo>
                  <a:lnTo>
                    <a:pt x="16878" y="193"/>
                  </a:lnTo>
                  <a:lnTo>
                    <a:pt x="16739" y="264"/>
                  </a:lnTo>
                  <a:lnTo>
                    <a:pt x="16601" y="308"/>
                  </a:lnTo>
                  <a:lnTo>
                    <a:pt x="16495" y="385"/>
                  </a:lnTo>
                  <a:lnTo>
                    <a:pt x="16478" y="478"/>
                  </a:lnTo>
                  <a:lnTo>
                    <a:pt x="16580" y="499"/>
                  </a:lnTo>
                  <a:lnTo>
                    <a:pt x="16696" y="652"/>
                  </a:lnTo>
                  <a:lnTo>
                    <a:pt x="16774" y="698"/>
                  </a:lnTo>
                  <a:lnTo>
                    <a:pt x="16711" y="834"/>
                  </a:lnTo>
                  <a:lnTo>
                    <a:pt x="16611" y="914"/>
                  </a:lnTo>
                  <a:lnTo>
                    <a:pt x="16484" y="970"/>
                  </a:lnTo>
                  <a:lnTo>
                    <a:pt x="16336" y="992"/>
                  </a:lnTo>
                  <a:lnTo>
                    <a:pt x="16211" y="1072"/>
                  </a:lnTo>
                  <a:lnTo>
                    <a:pt x="16065" y="1208"/>
                  </a:lnTo>
                  <a:lnTo>
                    <a:pt x="15938" y="1300"/>
                  </a:lnTo>
                  <a:lnTo>
                    <a:pt x="15900" y="1403"/>
                  </a:lnTo>
                  <a:lnTo>
                    <a:pt x="15840" y="1405"/>
                  </a:lnTo>
                  <a:lnTo>
                    <a:pt x="15806" y="1296"/>
                  </a:lnTo>
                  <a:lnTo>
                    <a:pt x="15726" y="1252"/>
                  </a:lnTo>
                  <a:lnTo>
                    <a:pt x="15631" y="1267"/>
                  </a:lnTo>
                  <a:lnTo>
                    <a:pt x="15605" y="1192"/>
                  </a:lnTo>
                  <a:cubicBezTo>
                    <a:pt x="15584" y="1165"/>
                    <a:pt x="15559" y="1144"/>
                    <a:pt x="15531" y="1131"/>
                  </a:cubicBezTo>
                  <a:cubicBezTo>
                    <a:pt x="15512" y="1122"/>
                    <a:pt x="15491" y="1117"/>
                    <a:pt x="15471" y="1117"/>
                  </a:cubicBezTo>
                  <a:lnTo>
                    <a:pt x="15344" y="1117"/>
                  </a:lnTo>
                  <a:lnTo>
                    <a:pt x="15199" y="1177"/>
                  </a:lnTo>
                  <a:lnTo>
                    <a:pt x="15108" y="1170"/>
                  </a:lnTo>
                  <a:lnTo>
                    <a:pt x="14956" y="1162"/>
                  </a:lnTo>
                  <a:lnTo>
                    <a:pt x="14865" y="1119"/>
                  </a:lnTo>
                  <a:cubicBezTo>
                    <a:pt x="14833" y="1105"/>
                    <a:pt x="14801" y="1091"/>
                    <a:pt x="14769" y="1075"/>
                  </a:cubicBezTo>
                  <a:cubicBezTo>
                    <a:pt x="14722" y="1053"/>
                    <a:pt x="14676" y="1028"/>
                    <a:pt x="14628" y="1010"/>
                  </a:cubicBezTo>
                  <a:cubicBezTo>
                    <a:pt x="14586" y="993"/>
                    <a:pt x="14542" y="981"/>
                    <a:pt x="14498" y="973"/>
                  </a:cubicBezTo>
                  <a:lnTo>
                    <a:pt x="14362" y="995"/>
                  </a:lnTo>
                  <a:lnTo>
                    <a:pt x="14227" y="1051"/>
                  </a:lnTo>
                  <a:lnTo>
                    <a:pt x="14126" y="1073"/>
                  </a:lnTo>
                  <a:lnTo>
                    <a:pt x="14007" y="1095"/>
                  </a:lnTo>
                  <a:lnTo>
                    <a:pt x="13915" y="1160"/>
                  </a:lnTo>
                  <a:lnTo>
                    <a:pt x="13864" y="1223"/>
                  </a:lnTo>
                  <a:lnTo>
                    <a:pt x="13791" y="1318"/>
                  </a:lnTo>
                  <a:cubicBezTo>
                    <a:pt x="13779" y="1341"/>
                    <a:pt x="13766" y="1364"/>
                    <a:pt x="13753" y="1386"/>
                  </a:cubicBezTo>
                  <a:cubicBezTo>
                    <a:pt x="13728" y="1427"/>
                    <a:pt x="13701" y="1467"/>
                    <a:pt x="13670" y="1500"/>
                  </a:cubicBezTo>
                  <a:cubicBezTo>
                    <a:pt x="13638" y="1533"/>
                    <a:pt x="13603" y="1560"/>
                    <a:pt x="13565" y="1580"/>
                  </a:cubicBezTo>
                  <a:lnTo>
                    <a:pt x="13469" y="1480"/>
                  </a:lnTo>
                  <a:lnTo>
                    <a:pt x="13459" y="1310"/>
                  </a:lnTo>
                  <a:lnTo>
                    <a:pt x="13425" y="1176"/>
                  </a:lnTo>
                  <a:lnTo>
                    <a:pt x="13378" y="1120"/>
                  </a:lnTo>
                  <a:lnTo>
                    <a:pt x="13268" y="1101"/>
                  </a:lnTo>
                  <a:lnTo>
                    <a:pt x="13148" y="1115"/>
                  </a:lnTo>
                  <a:lnTo>
                    <a:pt x="13089" y="1183"/>
                  </a:lnTo>
                  <a:lnTo>
                    <a:pt x="13018" y="1183"/>
                  </a:lnTo>
                  <a:lnTo>
                    <a:pt x="12818" y="1192"/>
                  </a:lnTo>
                  <a:lnTo>
                    <a:pt x="12642" y="1192"/>
                  </a:lnTo>
                  <a:lnTo>
                    <a:pt x="12500" y="1104"/>
                  </a:lnTo>
                  <a:lnTo>
                    <a:pt x="12494" y="1027"/>
                  </a:lnTo>
                  <a:lnTo>
                    <a:pt x="12560" y="956"/>
                  </a:lnTo>
                  <a:lnTo>
                    <a:pt x="12650" y="915"/>
                  </a:lnTo>
                  <a:lnTo>
                    <a:pt x="12674" y="840"/>
                  </a:lnTo>
                  <a:lnTo>
                    <a:pt x="12555" y="840"/>
                  </a:lnTo>
                  <a:lnTo>
                    <a:pt x="12364" y="876"/>
                  </a:lnTo>
                  <a:lnTo>
                    <a:pt x="12266" y="825"/>
                  </a:lnTo>
                  <a:lnTo>
                    <a:pt x="12129" y="723"/>
                  </a:lnTo>
                  <a:lnTo>
                    <a:pt x="11999" y="650"/>
                  </a:lnTo>
                  <a:lnTo>
                    <a:pt x="11913" y="614"/>
                  </a:lnTo>
                  <a:lnTo>
                    <a:pt x="11760" y="572"/>
                  </a:lnTo>
                  <a:lnTo>
                    <a:pt x="11642" y="550"/>
                  </a:lnTo>
                  <a:lnTo>
                    <a:pt x="11514" y="550"/>
                  </a:lnTo>
                  <a:lnTo>
                    <a:pt x="11415" y="558"/>
                  </a:lnTo>
                  <a:lnTo>
                    <a:pt x="11319" y="601"/>
                  </a:lnTo>
                  <a:lnTo>
                    <a:pt x="11143" y="637"/>
                  </a:lnTo>
                  <a:lnTo>
                    <a:pt x="11018" y="616"/>
                  </a:lnTo>
                  <a:lnTo>
                    <a:pt x="10847" y="514"/>
                  </a:lnTo>
                  <a:lnTo>
                    <a:pt x="10762" y="449"/>
                  </a:lnTo>
                  <a:lnTo>
                    <a:pt x="10681" y="458"/>
                  </a:lnTo>
                  <a:lnTo>
                    <a:pt x="10573" y="509"/>
                  </a:lnTo>
                  <a:lnTo>
                    <a:pt x="10499" y="546"/>
                  </a:lnTo>
                  <a:lnTo>
                    <a:pt x="10376" y="524"/>
                  </a:lnTo>
                  <a:lnTo>
                    <a:pt x="10291" y="502"/>
                  </a:lnTo>
                  <a:lnTo>
                    <a:pt x="10121" y="517"/>
                  </a:lnTo>
                  <a:lnTo>
                    <a:pt x="9918" y="575"/>
                  </a:lnTo>
                  <a:lnTo>
                    <a:pt x="9714" y="655"/>
                  </a:lnTo>
                  <a:lnTo>
                    <a:pt x="9448" y="747"/>
                  </a:lnTo>
                  <a:lnTo>
                    <a:pt x="9329" y="769"/>
                  </a:lnTo>
                  <a:lnTo>
                    <a:pt x="8951" y="819"/>
                  </a:lnTo>
                  <a:lnTo>
                    <a:pt x="8616" y="776"/>
                  </a:lnTo>
                  <a:lnTo>
                    <a:pt x="8127" y="613"/>
                  </a:lnTo>
                  <a:lnTo>
                    <a:pt x="7941" y="509"/>
                  </a:lnTo>
                  <a:lnTo>
                    <a:pt x="7648" y="483"/>
                  </a:lnTo>
                  <a:lnTo>
                    <a:pt x="7075" y="407"/>
                  </a:lnTo>
                  <a:lnTo>
                    <a:pt x="6936" y="356"/>
                  </a:lnTo>
                  <a:lnTo>
                    <a:pt x="6817" y="290"/>
                  </a:lnTo>
                  <a:lnTo>
                    <a:pt x="6682" y="254"/>
                  </a:lnTo>
                  <a:lnTo>
                    <a:pt x="6466" y="217"/>
                  </a:lnTo>
                  <a:lnTo>
                    <a:pt x="6284" y="195"/>
                  </a:lnTo>
                  <a:lnTo>
                    <a:pt x="6126" y="188"/>
                  </a:lnTo>
                  <a:lnTo>
                    <a:pt x="5969" y="188"/>
                  </a:lnTo>
                  <a:lnTo>
                    <a:pt x="5690" y="225"/>
                  </a:lnTo>
                  <a:lnTo>
                    <a:pt x="5320" y="268"/>
                  </a:lnTo>
                  <a:lnTo>
                    <a:pt x="5074" y="361"/>
                  </a:lnTo>
                  <a:lnTo>
                    <a:pt x="4688" y="433"/>
                  </a:lnTo>
                  <a:lnTo>
                    <a:pt x="4586" y="477"/>
                  </a:lnTo>
                  <a:lnTo>
                    <a:pt x="4348" y="572"/>
                  </a:lnTo>
                  <a:lnTo>
                    <a:pt x="4054" y="701"/>
                  </a:lnTo>
                  <a:lnTo>
                    <a:pt x="3823" y="793"/>
                  </a:lnTo>
                  <a:lnTo>
                    <a:pt x="3588" y="866"/>
                  </a:lnTo>
                  <a:lnTo>
                    <a:pt x="3471" y="862"/>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55" name="熊大的PPT宝库1-2"/>
            <p:cNvSpPr/>
            <p:nvPr/>
          </p:nvSpPr>
          <p:spPr>
            <a:xfrm>
              <a:off x="2894482" y="7627453"/>
              <a:ext cx="486286" cy="175323"/>
            </a:xfrm>
            <a:custGeom>
              <a:avLst/>
              <a:gdLst/>
              <a:ahLst/>
              <a:cxnLst>
                <a:cxn ang="0">
                  <a:pos x="wd2" y="hd2"/>
                </a:cxn>
                <a:cxn ang="5400000">
                  <a:pos x="wd2" y="hd2"/>
                </a:cxn>
                <a:cxn ang="10800000">
                  <a:pos x="wd2" y="hd2"/>
                </a:cxn>
                <a:cxn ang="16200000">
                  <a:pos x="wd2" y="hd2"/>
                </a:cxn>
              </a:cxnLst>
              <a:rect l="0" t="0" r="r" b="b"/>
              <a:pathLst>
                <a:path w="21600" h="21600" extrusionOk="0">
                  <a:moveTo>
                    <a:pt x="5634" y="1167"/>
                  </a:moveTo>
                  <a:lnTo>
                    <a:pt x="4811" y="2252"/>
                  </a:lnTo>
                  <a:lnTo>
                    <a:pt x="2967" y="4498"/>
                  </a:lnTo>
                  <a:lnTo>
                    <a:pt x="1963" y="5618"/>
                  </a:lnTo>
                  <a:lnTo>
                    <a:pt x="576" y="7014"/>
                  </a:lnTo>
                  <a:lnTo>
                    <a:pt x="80" y="8227"/>
                  </a:lnTo>
                  <a:lnTo>
                    <a:pt x="0" y="9312"/>
                  </a:lnTo>
                  <a:lnTo>
                    <a:pt x="451" y="10588"/>
                  </a:lnTo>
                  <a:lnTo>
                    <a:pt x="1016" y="11735"/>
                  </a:lnTo>
                  <a:cubicBezTo>
                    <a:pt x="1189" y="11851"/>
                    <a:pt x="1367" y="11914"/>
                    <a:pt x="1545" y="11921"/>
                  </a:cubicBezTo>
                  <a:cubicBezTo>
                    <a:pt x="2101" y="11944"/>
                    <a:pt x="2642" y="11441"/>
                    <a:pt x="3079" y="10495"/>
                  </a:cubicBezTo>
                  <a:lnTo>
                    <a:pt x="3970" y="9406"/>
                  </a:lnTo>
                  <a:lnTo>
                    <a:pt x="5427" y="8286"/>
                  </a:lnTo>
                  <a:lnTo>
                    <a:pt x="6330" y="8286"/>
                  </a:lnTo>
                  <a:lnTo>
                    <a:pt x="7392" y="10183"/>
                  </a:lnTo>
                  <a:lnTo>
                    <a:pt x="7965" y="10836"/>
                  </a:lnTo>
                  <a:lnTo>
                    <a:pt x="7774" y="11797"/>
                  </a:lnTo>
                  <a:lnTo>
                    <a:pt x="7111" y="12073"/>
                  </a:lnTo>
                  <a:cubicBezTo>
                    <a:pt x="6813" y="12042"/>
                    <a:pt x="6516" y="12011"/>
                    <a:pt x="6219" y="11980"/>
                  </a:cubicBezTo>
                  <a:cubicBezTo>
                    <a:pt x="5914" y="11948"/>
                    <a:pt x="5609" y="11917"/>
                    <a:pt x="5304" y="11886"/>
                  </a:cubicBezTo>
                  <a:lnTo>
                    <a:pt x="5201" y="13473"/>
                  </a:lnTo>
                  <a:lnTo>
                    <a:pt x="6409" y="14126"/>
                  </a:lnTo>
                  <a:cubicBezTo>
                    <a:pt x="6963" y="14051"/>
                    <a:pt x="7516" y="13958"/>
                    <a:pt x="8069" y="13846"/>
                  </a:cubicBezTo>
                  <a:cubicBezTo>
                    <a:pt x="8714" y="13716"/>
                    <a:pt x="9358" y="13560"/>
                    <a:pt x="10001" y="13380"/>
                  </a:cubicBezTo>
                  <a:lnTo>
                    <a:pt x="10642" y="15239"/>
                  </a:lnTo>
                  <a:lnTo>
                    <a:pt x="9896" y="15981"/>
                  </a:lnTo>
                  <a:cubicBezTo>
                    <a:pt x="9546" y="16191"/>
                    <a:pt x="9192" y="16347"/>
                    <a:pt x="8836" y="16448"/>
                  </a:cubicBezTo>
                  <a:cubicBezTo>
                    <a:pt x="7951" y="16697"/>
                    <a:pt x="7059" y="16604"/>
                    <a:pt x="6183" y="16172"/>
                  </a:cubicBezTo>
                  <a:lnTo>
                    <a:pt x="4831" y="16172"/>
                  </a:lnTo>
                  <a:lnTo>
                    <a:pt x="4764" y="17467"/>
                  </a:lnTo>
                  <a:lnTo>
                    <a:pt x="5860" y="18555"/>
                  </a:lnTo>
                  <a:lnTo>
                    <a:pt x="7450" y="19951"/>
                  </a:lnTo>
                  <a:lnTo>
                    <a:pt x="9207" y="21320"/>
                  </a:lnTo>
                  <a:lnTo>
                    <a:pt x="10369" y="21600"/>
                  </a:lnTo>
                  <a:lnTo>
                    <a:pt x="11950" y="21507"/>
                  </a:lnTo>
                  <a:lnTo>
                    <a:pt x="13656" y="20231"/>
                  </a:lnTo>
                  <a:cubicBezTo>
                    <a:pt x="13887" y="19682"/>
                    <a:pt x="14168" y="19316"/>
                    <a:pt x="14469" y="19174"/>
                  </a:cubicBezTo>
                  <a:cubicBezTo>
                    <a:pt x="14818" y="19009"/>
                    <a:pt x="15172" y="19150"/>
                    <a:pt x="15519" y="19329"/>
                  </a:cubicBezTo>
                  <a:cubicBezTo>
                    <a:pt x="15975" y="19564"/>
                    <a:pt x="16427" y="19863"/>
                    <a:pt x="16872" y="20224"/>
                  </a:cubicBezTo>
                  <a:lnTo>
                    <a:pt x="18689" y="19850"/>
                  </a:lnTo>
                  <a:lnTo>
                    <a:pt x="20146" y="18544"/>
                  </a:lnTo>
                  <a:lnTo>
                    <a:pt x="21195" y="17237"/>
                  </a:lnTo>
                  <a:lnTo>
                    <a:pt x="21600" y="15873"/>
                  </a:lnTo>
                  <a:lnTo>
                    <a:pt x="21374" y="15130"/>
                  </a:lnTo>
                  <a:cubicBezTo>
                    <a:pt x="21049" y="15131"/>
                    <a:pt x="20734" y="14814"/>
                    <a:pt x="20486" y="14235"/>
                  </a:cubicBezTo>
                  <a:cubicBezTo>
                    <a:pt x="20325" y="13859"/>
                    <a:pt x="20198" y="13383"/>
                    <a:pt x="20115" y="12847"/>
                  </a:cubicBezTo>
                  <a:cubicBezTo>
                    <a:pt x="20094" y="12509"/>
                    <a:pt x="20094" y="12163"/>
                    <a:pt x="20115" y="11824"/>
                  </a:cubicBezTo>
                  <a:cubicBezTo>
                    <a:pt x="20168" y="10953"/>
                    <a:pt x="20353" y="10185"/>
                    <a:pt x="20623" y="9709"/>
                  </a:cubicBezTo>
                  <a:lnTo>
                    <a:pt x="21199" y="6443"/>
                  </a:lnTo>
                  <a:lnTo>
                    <a:pt x="21301" y="5513"/>
                  </a:lnTo>
                  <a:cubicBezTo>
                    <a:pt x="21336" y="5080"/>
                    <a:pt x="21268" y="4633"/>
                    <a:pt x="21131" y="4397"/>
                  </a:cubicBezTo>
                  <a:cubicBezTo>
                    <a:pt x="20903" y="4004"/>
                    <a:pt x="20627" y="4349"/>
                    <a:pt x="20376" y="4646"/>
                  </a:cubicBezTo>
                  <a:cubicBezTo>
                    <a:pt x="20058" y="5024"/>
                    <a:pt x="19716" y="5284"/>
                    <a:pt x="19439" y="5860"/>
                  </a:cubicBezTo>
                  <a:cubicBezTo>
                    <a:pt x="19169" y="6418"/>
                    <a:pt x="18986" y="7219"/>
                    <a:pt x="18761" y="7909"/>
                  </a:cubicBezTo>
                  <a:cubicBezTo>
                    <a:pt x="18530" y="8617"/>
                    <a:pt x="18255" y="9207"/>
                    <a:pt x="17949" y="9651"/>
                  </a:cubicBezTo>
                  <a:lnTo>
                    <a:pt x="17192" y="8997"/>
                  </a:lnTo>
                  <a:cubicBezTo>
                    <a:pt x="17245" y="8451"/>
                    <a:pt x="17264" y="7885"/>
                    <a:pt x="17249" y="7321"/>
                  </a:cubicBezTo>
                  <a:cubicBezTo>
                    <a:pt x="17234" y="6788"/>
                    <a:pt x="17188" y="6264"/>
                    <a:pt x="17113" y="5770"/>
                  </a:cubicBezTo>
                  <a:lnTo>
                    <a:pt x="16235" y="5863"/>
                  </a:lnTo>
                  <a:lnTo>
                    <a:pt x="15637" y="7539"/>
                  </a:lnTo>
                  <a:lnTo>
                    <a:pt x="14936" y="7349"/>
                  </a:lnTo>
                  <a:lnTo>
                    <a:pt x="14394" y="6820"/>
                  </a:lnTo>
                  <a:lnTo>
                    <a:pt x="13160" y="5925"/>
                  </a:lnTo>
                  <a:lnTo>
                    <a:pt x="12891" y="4996"/>
                  </a:lnTo>
                  <a:lnTo>
                    <a:pt x="12371" y="3658"/>
                  </a:lnTo>
                  <a:lnTo>
                    <a:pt x="11460" y="2356"/>
                  </a:lnTo>
                  <a:lnTo>
                    <a:pt x="10150" y="1298"/>
                  </a:lnTo>
                  <a:lnTo>
                    <a:pt x="9103" y="649"/>
                  </a:lnTo>
                  <a:lnTo>
                    <a:pt x="8371" y="2"/>
                  </a:lnTo>
                  <a:lnTo>
                    <a:pt x="7461" y="0"/>
                  </a:lnTo>
                  <a:lnTo>
                    <a:pt x="6933" y="376"/>
                  </a:lnTo>
                  <a:lnTo>
                    <a:pt x="5634" y="1167"/>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56" name="熊大的PPT宝库1-3"/>
            <p:cNvSpPr/>
            <p:nvPr/>
          </p:nvSpPr>
          <p:spPr>
            <a:xfrm>
              <a:off x="3419212" y="7769208"/>
              <a:ext cx="84303" cy="41888"/>
            </a:xfrm>
            <a:custGeom>
              <a:avLst/>
              <a:gdLst/>
              <a:ahLst/>
              <a:cxnLst>
                <a:cxn ang="0">
                  <a:pos x="wd2" y="hd2"/>
                </a:cxn>
                <a:cxn ang="5400000">
                  <a:pos x="wd2" y="hd2"/>
                </a:cxn>
                <a:cxn ang="10800000">
                  <a:pos x="wd2" y="hd2"/>
                </a:cxn>
                <a:cxn ang="16200000">
                  <a:pos x="wd2" y="hd2"/>
                </a:cxn>
              </a:cxnLst>
              <a:rect l="0" t="0" r="r" b="b"/>
              <a:pathLst>
                <a:path w="21600" h="21600" extrusionOk="0">
                  <a:moveTo>
                    <a:pt x="10670" y="2473"/>
                  </a:moveTo>
                  <a:lnTo>
                    <a:pt x="5361" y="4164"/>
                  </a:lnTo>
                  <a:lnTo>
                    <a:pt x="2017" y="7047"/>
                  </a:lnTo>
                  <a:lnTo>
                    <a:pt x="0" y="10954"/>
                  </a:lnTo>
                  <a:lnTo>
                    <a:pt x="2552" y="17693"/>
                  </a:lnTo>
                  <a:lnTo>
                    <a:pt x="5850" y="21600"/>
                  </a:lnTo>
                  <a:cubicBezTo>
                    <a:pt x="7389" y="21202"/>
                    <a:pt x="8897" y="20415"/>
                    <a:pt x="10337" y="19256"/>
                  </a:cubicBezTo>
                  <a:cubicBezTo>
                    <a:pt x="12339" y="17645"/>
                    <a:pt x="14178" y="15341"/>
                    <a:pt x="16135" y="13527"/>
                  </a:cubicBezTo>
                  <a:cubicBezTo>
                    <a:pt x="17883" y="11907"/>
                    <a:pt x="19716" y="10684"/>
                    <a:pt x="21600" y="9880"/>
                  </a:cubicBezTo>
                  <a:lnTo>
                    <a:pt x="21014" y="4151"/>
                  </a:lnTo>
                  <a:lnTo>
                    <a:pt x="17112" y="2719"/>
                  </a:lnTo>
                  <a:lnTo>
                    <a:pt x="14661" y="0"/>
                  </a:lnTo>
                  <a:lnTo>
                    <a:pt x="10670" y="2473"/>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57" name="熊大的PPT宝库1-4"/>
            <p:cNvSpPr/>
            <p:nvPr/>
          </p:nvSpPr>
          <p:spPr>
            <a:xfrm>
              <a:off x="3450425" y="7638382"/>
              <a:ext cx="150776" cy="76940"/>
            </a:xfrm>
            <a:custGeom>
              <a:avLst/>
              <a:gdLst/>
              <a:ahLst/>
              <a:cxnLst>
                <a:cxn ang="0">
                  <a:pos x="wd2" y="hd2"/>
                </a:cxn>
                <a:cxn ang="5400000">
                  <a:pos x="wd2" y="hd2"/>
                </a:cxn>
                <a:cxn ang="10800000">
                  <a:pos x="wd2" y="hd2"/>
                </a:cxn>
                <a:cxn ang="16200000">
                  <a:pos x="wd2" y="hd2"/>
                </a:cxn>
              </a:cxnLst>
              <a:rect l="0" t="0" r="r" b="b"/>
              <a:pathLst>
                <a:path w="21600" h="21600" extrusionOk="0">
                  <a:moveTo>
                    <a:pt x="9855" y="8070"/>
                  </a:moveTo>
                  <a:lnTo>
                    <a:pt x="7801" y="11552"/>
                  </a:lnTo>
                  <a:lnTo>
                    <a:pt x="5516" y="10656"/>
                  </a:lnTo>
                  <a:lnTo>
                    <a:pt x="2915" y="8883"/>
                  </a:lnTo>
                  <a:lnTo>
                    <a:pt x="484" y="9938"/>
                  </a:lnTo>
                  <a:lnTo>
                    <a:pt x="0" y="12339"/>
                  </a:lnTo>
                  <a:lnTo>
                    <a:pt x="2322" y="13819"/>
                  </a:lnTo>
                  <a:lnTo>
                    <a:pt x="4989" y="16372"/>
                  </a:lnTo>
                  <a:lnTo>
                    <a:pt x="6259" y="21600"/>
                  </a:lnTo>
                  <a:lnTo>
                    <a:pt x="8764" y="21166"/>
                  </a:lnTo>
                  <a:lnTo>
                    <a:pt x="11419" y="18835"/>
                  </a:lnTo>
                  <a:lnTo>
                    <a:pt x="13595" y="17559"/>
                  </a:lnTo>
                  <a:lnTo>
                    <a:pt x="16209" y="16717"/>
                  </a:lnTo>
                  <a:lnTo>
                    <a:pt x="18103" y="12039"/>
                  </a:lnTo>
                  <a:lnTo>
                    <a:pt x="18868" y="8289"/>
                  </a:lnTo>
                  <a:lnTo>
                    <a:pt x="21600" y="2573"/>
                  </a:lnTo>
                  <a:lnTo>
                    <a:pt x="21345" y="797"/>
                  </a:lnTo>
                  <a:lnTo>
                    <a:pt x="19965" y="0"/>
                  </a:lnTo>
                  <a:lnTo>
                    <a:pt x="18121" y="1761"/>
                  </a:lnTo>
                  <a:lnTo>
                    <a:pt x="15430" y="3083"/>
                  </a:lnTo>
                  <a:cubicBezTo>
                    <a:pt x="14909" y="2790"/>
                    <a:pt x="14357" y="2790"/>
                    <a:pt x="13836" y="3083"/>
                  </a:cubicBezTo>
                  <a:cubicBezTo>
                    <a:pt x="13246" y="3416"/>
                    <a:pt x="12725" y="4109"/>
                    <a:pt x="12352" y="5060"/>
                  </a:cubicBezTo>
                  <a:lnTo>
                    <a:pt x="9855" y="807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58" name="熊大的PPT宝库1-5"/>
            <p:cNvSpPr/>
            <p:nvPr/>
          </p:nvSpPr>
          <p:spPr>
            <a:xfrm>
              <a:off x="3612609" y="7637914"/>
              <a:ext cx="117289" cy="51262"/>
            </a:xfrm>
            <a:custGeom>
              <a:avLst/>
              <a:gdLst/>
              <a:ahLst/>
              <a:cxnLst>
                <a:cxn ang="0">
                  <a:pos x="wd2" y="hd2"/>
                </a:cxn>
                <a:cxn ang="5400000">
                  <a:pos x="wd2" y="hd2"/>
                </a:cxn>
                <a:cxn ang="10800000">
                  <a:pos x="wd2" y="hd2"/>
                </a:cxn>
                <a:cxn ang="16200000">
                  <a:pos x="wd2" y="hd2"/>
                </a:cxn>
              </a:cxnLst>
              <a:rect l="0" t="0" r="r" b="b"/>
              <a:pathLst>
                <a:path w="21600" h="21600" extrusionOk="0">
                  <a:moveTo>
                    <a:pt x="16283" y="0"/>
                  </a:moveTo>
                  <a:lnTo>
                    <a:pt x="11928" y="3126"/>
                  </a:lnTo>
                  <a:lnTo>
                    <a:pt x="8108" y="3244"/>
                  </a:lnTo>
                  <a:lnTo>
                    <a:pt x="5428" y="5147"/>
                  </a:lnTo>
                  <a:lnTo>
                    <a:pt x="1745" y="9615"/>
                  </a:lnTo>
                  <a:lnTo>
                    <a:pt x="0" y="15547"/>
                  </a:lnTo>
                  <a:lnTo>
                    <a:pt x="588" y="20642"/>
                  </a:lnTo>
                  <a:lnTo>
                    <a:pt x="3255" y="21600"/>
                  </a:lnTo>
                  <a:lnTo>
                    <a:pt x="5550" y="17130"/>
                  </a:lnTo>
                  <a:lnTo>
                    <a:pt x="11731" y="15960"/>
                  </a:lnTo>
                  <a:lnTo>
                    <a:pt x="16226" y="17237"/>
                  </a:lnTo>
                  <a:lnTo>
                    <a:pt x="19914" y="14058"/>
                  </a:lnTo>
                  <a:lnTo>
                    <a:pt x="21459" y="10547"/>
                  </a:lnTo>
                  <a:lnTo>
                    <a:pt x="21600" y="3750"/>
                  </a:lnTo>
                  <a:lnTo>
                    <a:pt x="20248" y="1848"/>
                  </a:lnTo>
                  <a:lnTo>
                    <a:pt x="16283"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59" name="熊大的PPT宝库1-6"/>
            <p:cNvSpPr/>
            <p:nvPr/>
          </p:nvSpPr>
          <p:spPr>
            <a:xfrm>
              <a:off x="3772177" y="7572077"/>
              <a:ext cx="289161" cy="66258"/>
            </a:xfrm>
            <a:custGeom>
              <a:avLst/>
              <a:gdLst/>
              <a:ahLst/>
              <a:cxnLst>
                <a:cxn ang="0">
                  <a:pos x="wd2" y="hd2"/>
                </a:cxn>
                <a:cxn ang="5400000">
                  <a:pos x="wd2" y="hd2"/>
                </a:cxn>
                <a:cxn ang="10800000">
                  <a:pos x="wd2" y="hd2"/>
                </a:cxn>
                <a:cxn ang="16200000">
                  <a:pos x="wd2" y="hd2"/>
                </a:cxn>
              </a:cxnLst>
              <a:rect l="0" t="0" r="r" b="b"/>
              <a:pathLst>
                <a:path w="21600" h="21600" extrusionOk="0">
                  <a:moveTo>
                    <a:pt x="3838" y="93"/>
                  </a:moveTo>
                  <a:lnTo>
                    <a:pt x="2736" y="1503"/>
                  </a:lnTo>
                  <a:lnTo>
                    <a:pt x="1623" y="3591"/>
                  </a:lnTo>
                  <a:lnTo>
                    <a:pt x="622" y="6051"/>
                  </a:lnTo>
                  <a:lnTo>
                    <a:pt x="0" y="11309"/>
                  </a:lnTo>
                  <a:cubicBezTo>
                    <a:pt x="23" y="12625"/>
                    <a:pt x="147" y="13870"/>
                    <a:pt x="350" y="14850"/>
                  </a:cubicBezTo>
                  <a:cubicBezTo>
                    <a:pt x="1005" y="17999"/>
                    <a:pt x="2162" y="17761"/>
                    <a:pt x="2744" y="14356"/>
                  </a:cubicBezTo>
                  <a:lnTo>
                    <a:pt x="5745" y="14109"/>
                  </a:lnTo>
                  <a:lnTo>
                    <a:pt x="6941" y="15344"/>
                  </a:lnTo>
                  <a:lnTo>
                    <a:pt x="7732" y="17545"/>
                  </a:lnTo>
                  <a:lnTo>
                    <a:pt x="11998" y="18080"/>
                  </a:lnTo>
                  <a:lnTo>
                    <a:pt x="14484" y="17092"/>
                  </a:lnTo>
                  <a:lnTo>
                    <a:pt x="15087" y="21600"/>
                  </a:lnTo>
                  <a:lnTo>
                    <a:pt x="16550" y="21600"/>
                  </a:lnTo>
                  <a:lnTo>
                    <a:pt x="17231" y="19140"/>
                  </a:lnTo>
                  <a:lnTo>
                    <a:pt x="18865" y="15518"/>
                  </a:lnTo>
                  <a:lnTo>
                    <a:pt x="20308" y="14036"/>
                  </a:lnTo>
                  <a:lnTo>
                    <a:pt x="21600" y="11412"/>
                  </a:lnTo>
                  <a:cubicBezTo>
                    <a:pt x="21334" y="10787"/>
                    <a:pt x="21058" y="10251"/>
                    <a:pt x="20774" y="9806"/>
                  </a:cubicBezTo>
                  <a:cubicBezTo>
                    <a:pt x="20288" y="9047"/>
                    <a:pt x="19783" y="8563"/>
                    <a:pt x="19275" y="8160"/>
                  </a:cubicBezTo>
                  <a:cubicBezTo>
                    <a:pt x="18598" y="7622"/>
                    <a:pt x="17913" y="7228"/>
                    <a:pt x="17224" y="7172"/>
                  </a:cubicBezTo>
                  <a:cubicBezTo>
                    <a:pt x="16485" y="7113"/>
                    <a:pt x="15746" y="7444"/>
                    <a:pt x="15026" y="8160"/>
                  </a:cubicBezTo>
                  <a:lnTo>
                    <a:pt x="12369" y="8407"/>
                  </a:lnTo>
                  <a:lnTo>
                    <a:pt x="10911" y="9394"/>
                  </a:lnTo>
                  <a:lnTo>
                    <a:pt x="8883" y="10619"/>
                  </a:lnTo>
                  <a:lnTo>
                    <a:pt x="7915" y="8232"/>
                  </a:lnTo>
                  <a:lnTo>
                    <a:pt x="5806" y="3786"/>
                  </a:lnTo>
                  <a:lnTo>
                    <a:pt x="5241" y="0"/>
                  </a:lnTo>
                  <a:lnTo>
                    <a:pt x="3838" y="93"/>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60" name="熊大的PPT宝库1-7"/>
            <p:cNvSpPr/>
            <p:nvPr/>
          </p:nvSpPr>
          <p:spPr>
            <a:xfrm>
              <a:off x="3907817" y="7401200"/>
              <a:ext cx="662519" cy="187834"/>
            </a:xfrm>
            <a:custGeom>
              <a:avLst/>
              <a:gdLst/>
              <a:ahLst/>
              <a:cxnLst>
                <a:cxn ang="0">
                  <a:pos x="wd2" y="hd2"/>
                </a:cxn>
                <a:cxn ang="5400000">
                  <a:pos x="wd2" y="hd2"/>
                </a:cxn>
                <a:cxn ang="10800000">
                  <a:pos x="wd2" y="hd2"/>
                </a:cxn>
                <a:cxn ang="16200000">
                  <a:pos x="wd2" y="hd2"/>
                </a:cxn>
              </a:cxnLst>
              <a:rect l="0" t="0" r="r" b="b"/>
              <a:pathLst>
                <a:path w="21600" h="21600" extrusionOk="0">
                  <a:moveTo>
                    <a:pt x="5561" y="13378"/>
                  </a:moveTo>
                  <a:lnTo>
                    <a:pt x="5088" y="13526"/>
                  </a:lnTo>
                  <a:lnTo>
                    <a:pt x="4669" y="12962"/>
                  </a:lnTo>
                  <a:lnTo>
                    <a:pt x="4219" y="12959"/>
                  </a:lnTo>
                  <a:lnTo>
                    <a:pt x="3753" y="12614"/>
                  </a:lnTo>
                  <a:lnTo>
                    <a:pt x="3243" y="12700"/>
                  </a:lnTo>
                  <a:lnTo>
                    <a:pt x="3001" y="13654"/>
                  </a:lnTo>
                  <a:lnTo>
                    <a:pt x="3447" y="14348"/>
                  </a:lnTo>
                  <a:lnTo>
                    <a:pt x="4117" y="13825"/>
                  </a:lnTo>
                  <a:lnTo>
                    <a:pt x="4612" y="14954"/>
                  </a:lnTo>
                  <a:lnTo>
                    <a:pt x="4247" y="16144"/>
                  </a:lnTo>
                  <a:lnTo>
                    <a:pt x="3401" y="16493"/>
                  </a:lnTo>
                  <a:lnTo>
                    <a:pt x="3037" y="17070"/>
                  </a:lnTo>
                  <a:lnTo>
                    <a:pt x="2338" y="17502"/>
                  </a:lnTo>
                  <a:lnTo>
                    <a:pt x="1089" y="17154"/>
                  </a:lnTo>
                  <a:lnTo>
                    <a:pt x="368" y="16144"/>
                  </a:lnTo>
                  <a:lnTo>
                    <a:pt x="0" y="16754"/>
                  </a:lnTo>
                  <a:lnTo>
                    <a:pt x="473" y="17680"/>
                  </a:lnTo>
                  <a:lnTo>
                    <a:pt x="1410" y="19248"/>
                  </a:lnTo>
                  <a:cubicBezTo>
                    <a:pt x="1564" y="19437"/>
                    <a:pt x="1722" y="19583"/>
                    <a:pt x="1882" y="19684"/>
                  </a:cubicBezTo>
                  <a:cubicBezTo>
                    <a:pt x="2315" y="19954"/>
                    <a:pt x="2758" y="19895"/>
                    <a:pt x="3184" y="19509"/>
                  </a:cubicBezTo>
                  <a:lnTo>
                    <a:pt x="4003" y="18899"/>
                  </a:lnTo>
                  <a:lnTo>
                    <a:pt x="4865" y="19684"/>
                  </a:lnTo>
                  <a:lnTo>
                    <a:pt x="5810" y="21600"/>
                  </a:lnTo>
                  <a:lnTo>
                    <a:pt x="6299" y="20087"/>
                  </a:lnTo>
                  <a:cubicBezTo>
                    <a:pt x="6564" y="19546"/>
                    <a:pt x="6838" y="19061"/>
                    <a:pt x="7119" y="18634"/>
                  </a:cubicBezTo>
                  <a:cubicBezTo>
                    <a:pt x="7498" y="18061"/>
                    <a:pt x="7889" y="17595"/>
                    <a:pt x="8288" y="17241"/>
                  </a:cubicBezTo>
                  <a:lnTo>
                    <a:pt x="8943" y="16573"/>
                  </a:lnTo>
                  <a:cubicBezTo>
                    <a:pt x="9325" y="16367"/>
                    <a:pt x="9696" y="15967"/>
                    <a:pt x="10045" y="15386"/>
                  </a:cubicBezTo>
                  <a:cubicBezTo>
                    <a:pt x="10339" y="14896"/>
                    <a:pt x="10614" y="14282"/>
                    <a:pt x="10865" y="13557"/>
                  </a:cubicBezTo>
                  <a:lnTo>
                    <a:pt x="11910" y="11553"/>
                  </a:lnTo>
                  <a:lnTo>
                    <a:pt x="12755" y="10329"/>
                  </a:lnTo>
                  <a:lnTo>
                    <a:pt x="14123" y="9460"/>
                  </a:lnTo>
                  <a:lnTo>
                    <a:pt x="15016" y="8853"/>
                  </a:lnTo>
                  <a:lnTo>
                    <a:pt x="16306" y="7600"/>
                  </a:lnTo>
                  <a:lnTo>
                    <a:pt x="17582" y="6587"/>
                  </a:lnTo>
                  <a:lnTo>
                    <a:pt x="19014" y="5139"/>
                  </a:lnTo>
                  <a:lnTo>
                    <a:pt x="20556" y="3047"/>
                  </a:lnTo>
                  <a:lnTo>
                    <a:pt x="21202" y="1453"/>
                  </a:lnTo>
                  <a:lnTo>
                    <a:pt x="21600" y="174"/>
                  </a:lnTo>
                  <a:lnTo>
                    <a:pt x="21294" y="0"/>
                  </a:lnTo>
                  <a:lnTo>
                    <a:pt x="20633" y="10"/>
                  </a:lnTo>
                  <a:lnTo>
                    <a:pt x="19151" y="1139"/>
                  </a:lnTo>
                  <a:cubicBezTo>
                    <a:pt x="18849" y="1367"/>
                    <a:pt x="18545" y="1570"/>
                    <a:pt x="18239" y="1749"/>
                  </a:cubicBezTo>
                  <a:cubicBezTo>
                    <a:pt x="17545" y="2156"/>
                    <a:pt x="16846" y="2436"/>
                    <a:pt x="16143" y="2588"/>
                  </a:cubicBezTo>
                  <a:lnTo>
                    <a:pt x="14478" y="2326"/>
                  </a:lnTo>
                  <a:lnTo>
                    <a:pt x="13302" y="2239"/>
                  </a:lnTo>
                  <a:lnTo>
                    <a:pt x="12681" y="2239"/>
                  </a:lnTo>
                  <a:lnTo>
                    <a:pt x="11912" y="2497"/>
                  </a:lnTo>
                  <a:lnTo>
                    <a:pt x="10970" y="2932"/>
                  </a:lnTo>
                  <a:cubicBezTo>
                    <a:pt x="10552" y="3620"/>
                    <a:pt x="10097" y="3995"/>
                    <a:pt x="9635" y="4036"/>
                  </a:cubicBezTo>
                  <a:cubicBezTo>
                    <a:pt x="9179" y="4076"/>
                    <a:pt x="8728" y="3788"/>
                    <a:pt x="8276" y="3600"/>
                  </a:cubicBezTo>
                  <a:cubicBezTo>
                    <a:pt x="7888" y="3439"/>
                    <a:pt x="7498" y="3352"/>
                    <a:pt x="7108" y="3339"/>
                  </a:cubicBezTo>
                  <a:lnTo>
                    <a:pt x="6305" y="3339"/>
                  </a:lnTo>
                  <a:lnTo>
                    <a:pt x="5909" y="3945"/>
                  </a:lnTo>
                  <a:lnTo>
                    <a:pt x="6356" y="4864"/>
                  </a:lnTo>
                  <a:lnTo>
                    <a:pt x="6967" y="5096"/>
                  </a:lnTo>
                  <a:cubicBezTo>
                    <a:pt x="7229" y="5258"/>
                    <a:pt x="7491" y="5403"/>
                    <a:pt x="7755" y="5531"/>
                  </a:cubicBezTo>
                  <a:cubicBezTo>
                    <a:pt x="8151" y="5725"/>
                    <a:pt x="8549" y="5880"/>
                    <a:pt x="8948" y="5996"/>
                  </a:cubicBezTo>
                  <a:cubicBezTo>
                    <a:pt x="9130" y="6050"/>
                    <a:pt x="9312" y="6050"/>
                    <a:pt x="9493" y="5996"/>
                  </a:cubicBezTo>
                  <a:cubicBezTo>
                    <a:pt x="9721" y="5928"/>
                    <a:pt x="9946" y="5776"/>
                    <a:pt x="10171" y="5648"/>
                  </a:cubicBezTo>
                  <a:cubicBezTo>
                    <a:pt x="10400" y="5517"/>
                    <a:pt x="10629" y="5411"/>
                    <a:pt x="10859" y="5328"/>
                  </a:cubicBezTo>
                  <a:lnTo>
                    <a:pt x="11646" y="6374"/>
                  </a:lnTo>
                  <a:lnTo>
                    <a:pt x="11398" y="7992"/>
                  </a:lnTo>
                  <a:lnTo>
                    <a:pt x="10289" y="8686"/>
                  </a:lnTo>
                  <a:cubicBezTo>
                    <a:pt x="9973" y="8994"/>
                    <a:pt x="9649" y="9198"/>
                    <a:pt x="9321" y="9296"/>
                  </a:cubicBezTo>
                  <a:cubicBezTo>
                    <a:pt x="8943" y="9409"/>
                    <a:pt x="8562" y="9380"/>
                    <a:pt x="8186" y="9209"/>
                  </a:cubicBezTo>
                  <a:lnTo>
                    <a:pt x="7166" y="9034"/>
                  </a:lnTo>
                  <a:cubicBezTo>
                    <a:pt x="6949" y="8622"/>
                    <a:pt x="6715" y="8329"/>
                    <a:pt x="6473" y="8167"/>
                  </a:cubicBezTo>
                  <a:cubicBezTo>
                    <a:pt x="6175" y="7967"/>
                    <a:pt x="5868" y="7967"/>
                    <a:pt x="5570" y="8167"/>
                  </a:cubicBezTo>
                  <a:lnTo>
                    <a:pt x="4985" y="8744"/>
                  </a:lnTo>
                  <a:lnTo>
                    <a:pt x="5399" y="10189"/>
                  </a:lnTo>
                  <a:lnTo>
                    <a:pt x="5614" y="11056"/>
                  </a:lnTo>
                  <a:lnTo>
                    <a:pt x="5762" y="12595"/>
                  </a:lnTo>
                  <a:lnTo>
                    <a:pt x="5561" y="13378"/>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61" name="熊大的PPT宝库1-8"/>
            <p:cNvSpPr/>
            <p:nvPr/>
          </p:nvSpPr>
          <p:spPr>
            <a:xfrm>
              <a:off x="4306922" y="7406729"/>
              <a:ext cx="1290276" cy="661440"/>
            </a:xfrm>
            <a:custGeom>
              <a:avLst/>
              <a:gdLst/>
              <a:ahLst/>
              <a:cxnLst>
                <a:cxn ang="0">
                  <a:pos x="wd2" y="hd2"/>
                </a:cxn>
                <a:cxn ang="5400000">
                  <a:pos x="wd2" y="hd2"/>
                </a:cxn>
                <a:cxn ang="10800000">
                  <a:pos x="wd2" y="hd2"/>
                </a:cxn>
                <a:cxn ang="16200000">
                  <a:pos x="wd2" y="hd2"/>
                </a:cxn>
              </a:cxnLst>
              <a:rect l="0" t="0" r="r" b="b"/>
              <a:pathLst>
                <a:path w="21600" h="21600" extrusionOk="0">
                  <a:moveTo>
                    <a:pt x="4570" y="1596"/>
                  </a:moveTo>
                  <a:lnTo>
                    <a:pt x="3927" y="2113"/>
                  </a:lnTo>
                  <a:lnTo>
                    <a:pt x="2963" y="3015"/>
                  </a:lnTo>
                  <a:lnTo>
                    <a:pt x="2197" y="3378"/>
                  </a:lnTo>
                  <a:cubicBezTo>
                    <a:pt x="1959" y="3423"/>
                    <a:pt x="1720" y="3456"/>
                    <a:pt x="1481" y="3477"/>
                  </a:cubicBezTo>
                  <a:cubicBezTo>
                    <a:pt x="1325" y="3490"/>
                    <a:pt x="1168" y="3498"/>
                    <a:pt x="1012" y="3501"/>
                  </a:cubicBezTo>
                  <a:lnTo>
                    <a:pt x="480" y="3625"/>
                  </a:lnTo>
                  <a:lnTo>
                    <a:pt x="0" y="4046"/>
                  </a:lnTo>
                  <a:lnTo>
                    <a:pt x="205" y="4266"/>
                  </a:lnTo>
                  <a:lnTo>
                    <a:pt x="192" y="4578"/>
                  </a:lnTo>
                  <a:lnTo>
                    <a:pt x="145" y="4873"/>
                  </a:lnTo>
                  <a:lnTo>
                    <a:pt x="366" y="5235"/>
                  </a:lnTo>
                  <a:cubicBezTo>
                    <a:pt x="483" y="5325"/>
                    <a:pt x="606" y="5381"/>
                    <a:pt x="731" y="5399"/>
                  </a:cubicBezTo>
                  <a:cubicBezTo>
                    <a:pt x="871" y="5420"/>
                    <a:pt x="1012" y="5394"/>
                    <a:pt x="1152" y="5399"/>
                  </a:cubicBezTo>
                  <a:cubicBezTo>
                    <a:pt x="1276" y="5404"/>
                    <a:pt x="1400" y="5432"/>
                    <a:pt x="1522" y="5399"/>
                  </a:cubicBezTo>
                  <a:cubicBezTo>
                    <a:pt x="1649" y="5365"/>
                    <a:pt x="1769" y="5267"/>
                    <a:pt x="1892" y="5202"/>
                  </a:cubicBezTo>
                  <a:cubicBezTo>
                    <a:pt x="2058" y="5116"/>
                    <a:pt x="2231" y="5090"/>
                    <a:pt x="2402" y="5128"/>
                  </a:cubicBezTo>
                  <a:lnTo>
                    <a:pt x="2767" y="5276"/>
                  </a:lnTo>
                  <a:cubicBezTo>
                    <a:pt x="2900" y="5352"/>
                    <a:pt x="3033" y="5420"/>
                    <a:pt x="3167" y="5482"/>
                  </a:cubicBezTo>
                  <a:cubicBezTo>
                    <a:pt x="3243" y="5518"/>
                    <a:pt x="3319" y="5551"/>
                    <a:pt x="3395" y="5581"/>
                  </a:cubicBezTo>
                  <a:lnTo>
                    <a:pt x="3650" y="5902"/>
                  </a:lnTo>
                  <a:lnTo>
                    <a:pt x="4020" y="6514"/>
                  </a:lnTo>
                  <a:lnTo>
                    <a:pt x="4415" y="7659"/>
                  </a:lnTo>
                  <a:lnTo>
                    <a:pt x="4440" y="8450"/>
                  </a:lnTo>
                  <a:lnTo>
                    <a:pt x="4352" y="9024"/>
                  </a:lnTo>
                  <a:lnTo>
                    <a:pt x="4531" y="9485"/>
                  </a:lnTo>
                  <a:lnTo>
                    <a:pt x="4876" y="9749"/>
                  </a:lnTo>
                  <a:lnTo>
                    <a:pt x="5054" y="10490"/>
                  </a:lnTo>
                  <a:lnTo>
                    <a:pt x="5054" y="11980"/>
                  </a:lnTo>
                  <a:lnTo>
                    <a:pt x="4876" y="12838"/>
                  </a:lnTo>
                  <a:lnTo>
                    <a:pt x="4638" y="13183"/>
                  </a:lnTo>
                  <a:lnTo>
                    <a:pt x="3903" y="13807"/>
                  </a:lnTo>
                  <a:lnTo>
                    <a:pt x="3525" y="14343"/>
                  </a:lnTo>
                  <a:lnTo>
                    <a:pt x="3368" y="15002"/>
                  </a:lnTo>
                  <a:lnTo>
                    <a:pt x="3321" y="15677"/>
                  </a:lnTo>
                  <a:cubicBezTo>
                    <a:pt x="3404" y="15780"/>
                    <a:pt x="3470" y="15925"/>
                    <a:pt x="3512" y="16096"/>
                  </a:cubicBezTo>
                  <a:cubicBezTo>
                    <a:pt x="3580" y="16367"/>
                    <a:pt x="3585" y="16682"/>
                    <a:pt x="3525" y="16960"/>
                  </a:cubicBezTo>
                  <a:lnTo>
                    <a:pt x="3385" y="17619"/>
                  </a:lnTo>
                  <a:lnTo>
                    <a:pt x="3351" y="18130"/>
                  </a:lnTo>
                  <a:lnTo>
                    <a:pt x="3444" y="18881"/>
                  </a:lnTo>
                  <a:lnTo>
                    <a:pt x="3708" y="19400"/>
                  </a:lnTo>
                  <a:lnTo>
                    <a:pt x="4236" y="20174"/>
                  </a:lnTo>
                  <a:lnTo>
                    <a:pt x="4376" y="20719"/>
                  </a:lnTo>
                  <a:lnTo>
                    <a:pt x="4670" y="21057"/>
                  </a:lnTo>
                  <a:lnTo>
                    <a:pt x="4900" y="21337"/>
                  </a:lnTo>
                  <a:lnTo>
                    <a:pt x="5157" y="21600"/>
                  </a:lnTo>
                  <a:lnTo>
                    <a:pt x="5715" y="21600"/>
                  </a:lnTo>
                  <a:lnTo>
                    <a:pt x="6033" y="21031"/>
                  </a:lnTo>
                  <a:lnTo>
                    <a:pt x="6548" y="20355"/>
                  </a:lnTo>
                  <a:lnTo>
                    <a:pt x="6705" y="19796"/>
                  </a:lnTo>
                  <a:lnTo>
                    <a:pt x="6910" y="19062"/>
                  </a:lnTo>
                  <a:lnTo>
                    <a:pt x="7139" y="18519"/>
                  </a:lnTo>
                  <a:lnTo>
                    <a:pt x="7301" y="17868"/>
                  </a:lnTo>
                  <a:lnTo>
                    <a:pt x="7390" y="17406"/>
                  </a:lnTo>
                  <a:lnTo>
                    <a:pt x="7761" y="16591"/>
                  </a:lnTo>
                  <a:cubicBezTo>
                    <a:pt x="7873" y="16404"/>
                    <a:pt x="7997" y="16246"/>
                    <a:pt x="8131" y="16121"/>
                  </a:cubicBezTo>
                  <a:cubicBezTo>
                    <a:pt x="8328" y="15937"/>
                    <a:pt x="8542" y="15828"/>
                    <a:pt x="8761" y="15801"/>
                  </a:cubicBezTo>
                  <a:lnTo>
                    <a:pt x="9305" y="15727"/>
                  </a:lnTo>
                  <a:cubicBezTo>
                    <a:pt x="9405" y="15710"/>
                    <a:pt x="9504" y="15685"/>
                    <a:pt x="9603" y="15652"/>
                  </a:cubicBezTo>
                  <a:cubicBezTo>
                    <a:pt x="9812" y="15583"/>
                    <a:pt x="10017" y="15478"/>
                    <a:pt x="10216" y="15339"/>
                  </a:cubicBezTo>
                  <a:cubicBezTo>
                    <a:pt x="10289" y="15303"/>
                    <a:pt x="10361" y="15262"/>
                    <a:pt x="10433" y="15215"/>
                  </a:cubicBezTo>
                  <a:cubicBezTo>
                    <a:pt x="10645" y="15077"/>
                    <a:pt x="10849" y="14891"/>
                    <a:pt x="11040" y="14663"/>
                  </a:cubicBezTo>
                  <a:lnTo>
                    <a:pt x="11355" y="14177"/>
                  </a:lnTo>
                  <a:lnTo>
                    <a:pt x="11891" y="13522"/>
                  </a:lnTo>
                  <a:lnTo>
                    <a:pt x="12235" y="13078"/>
                  </a:lnTo>
                  <a:lnTo>
                    <a:pt x="12847" y="13004"/>
                  </a:lnTo>
                  <a:lnTo>
                    <a:pt x="13102" y="13144"/>
                  </a:lnTo>
                  <a:lnTo>
                    <a:pt x="13519" y="13218"/>
                  </a:lnTo>
                  <a:lnTo>
                    <a:pt x="13829" y="13053"/>
                  </a:lnTo>
                  <a:lnTo>
                    <a:pt x="14271" y="12814"/>
                  </a:lnTo>
                  <a:lnTo>
                    <a:pt x="14663" y="12566"/>
                  </a:lnTo>
                  <a:lnTo>
                    <a:pt x="15084" y="12467"/>
                  </a:lnTo>
                  <a:lnTo>
                    <a:pt x="15497" y="12402"/>
                  </a:lnTo>
                  <a:lnTo>
                    <a:pt x="15854" y="12327"/>
                  </a:lnTo>
                  <a:lnTo>
                    <a:pt x="16108" y="12327"/>
                  </a:lnTo>
                  <a:lnTo>
                    <a:pt x="16138" y="11701"/>
                  </a:lnTo>
                  <a:lnTo>
                    <a:pt x="15849" y="11379"/>
                  </a:lnTo>
                  <a:cubicBezTo>
                    <a:pt x="15736" y="11393"/>
                    <a:pt x="15622" y="11407"/>
                    <a:pt x="15509" y="11420"/>
                  </a:cubicBezTo>
                  <a:cubicBezTo>
                    <a:pt x="15303" y="11445"/>
                    <a:pt x="15098" y="11470"/>
                    <a:pt x="14892" y="11494"/>
                  </a:cubicBezTo>
                  <a:lnTo>
                    <a:pt x="14740" y="11123"/>
                  </a:lnTo>
                  <a:cubicBezTo>
                    <a:pt x="14769" y="10919"/>
                    <a:pt x="14851" y="10760"/>
                    <a:pt x="14956" y="10703"/>
                  </a:cubicBezTo>
                  <a:cubicBezTo>
                    <a:pt x="15099" y="10626"/>
                    <a:pt x="15250" y="10749"/>
                    <a:pt x="15322" y="11000"/>
                  </a:cubicBezTo>
                  <a:cubicBezTo>
                    <a:pt x="15374" y="10900"/>
                    <a:pt x="15405" y="10769"/>
                    <a:pt x="15412" y="10629"/>
                  </a:cubicBezTo>
                  <a:cubicBezTo>
                    <a:pt x="15424" y="10350"/>
                    <a:pt x="15341" y="10089"/>
                    <a:pt x="15207" y="9985"/>
                  </a:cubicBezTo>
                  <a:lnTo>
                    <a:pt x="15493" y="9515"/>
                  </a:lnTo>
                  <a:cubicBezTo>
                    <a:pt x="15637" y="9640"/>
                    <a:pt x="15768" y="9813"/>
                    <a:pt x="15880" y="10027"/>
                  </a:cubicBezTo>
                  <a:cubicBezTo>
                    <a:pt x="15998" y="10251"/>
                    <a:pt x="16093" y="10517"/>
                    <a:pt x="16160" y="10810"/>
                  </a:cubicBezTo>
                  <a:lnTo>
                    <a:pt x="16658" y="11082"/>
                  </a:lnTo>
                  <a:lnTo>
                    <a:pt x="16895" y="10959"/>
                  </a:lnTo>
                  <a:lnTo>
                    <a:pt x="17018" y="10515"/>
                  </a:lnTo>
                  <a:lnTo>
                    <a:pt x="16294" y="9855"/>
                  </a:lnTo>
                  <a:lnTo>
                    <a:pt x="16103" y="9419"/>
                  </a:lnTo>
                  <a:lnTo>
                    <a:pt x="15695" y="8999"/>
                  </a:lnTo>
                  <a:lnTo>
                    <a:pt x="15487" y="8406"/>
                  </a:lnTo>
                  <a:lnTo>
                    <a:pt x="15870" y="8134"/>
                  </a:lnTo>
                  <a:lnTo>
                    <a:pt x="16533" y="8547"/>
                  </a:lnTo>
                  <a:cubicBezTo>
                    <a:pt x="16596" y="8499"/>
                    <a:pt x="16659" y="8450"/>
                    <a:pt x="16721" y="8398"/>
                  </a:cubicBezTo>
                  <a:cubicBezTo>
                    <a:pt x="16929" y="8224"/>
                    <a:pt x="17132" y="8026"/>
                    <a:pt x="17328" y="7805"/>
                  </a:cubicBezTo>
                  <a:lnTo>
                    <a:pt x="17788" y="7319"/>
                  </a:lnTo>
                  <a:lnTo>
                    <a:pt x="18210" y="6429"/>
                  </a:lnTo>
                  <a:lnTo>
                    <a:pt x="18235" y="5884"/>
                  </a:lnTo>
                  <a:cubicBezTo>
                    <a:pt x="18303" y="5655"/>
                    <a:pt x="18399" y="5463"/>
                    <a:pt x="18515" y="5325"/>
                  </a:cubicBezTo>
                  <a:cubicBezTo>
                    <a:pt x="18632" y="5186"/>
                    <a:pt x="18765" y="5106"/>
                    <a:pt x="18902" y="5094"/>
                  </a:cubicBezTo>
                  <a:lnTo>
                    <a:pt x="18902" y="4509"/>
                  </a:lnTo>
                  <a:lnTo>
                    <a:pt x="18817" y="4263"/>
                  </a:lnTo>
                  <a:lnTo>
                    <a:pt x="18746" y="3869"/>
                  </a:lnTo>
                  <a:lnTo>
                    <a:pt x="18880" y="3190"/>
                  </a:lnTo>
                  <a:lnTo>
                    <a:pt x="19186" y="2499"/>
                  </a:lnTo>
                  <a:lnTo>
                    <a:pt x="19696" y="2178"/>
                  </a:lnTo>
                  <a:lnTo>
                    <a:pt x="20121" y="2202"/>
                  </a:lnTo>
                  <a:lnTo>
                    <a:pt x="20414" y="1856"/>
                  </a:lnTo>
                  <a:lnTo>
                    <a:pt x="21001" y="1881"/>
                  </a:lnTo>
                  <a:cubicBezTo>
                    <a:pt x="21065" y="1886"/>
                    <a:pt x="21130" y="1860"/>
                    <a:pt x="21188" y="1807"/>
                  </a:cubicBezTo>
                  <a:cubicBezTo>
                    <a:pt x="21269" y="1732"/>
                    <a:pt x="21335" y="1607"/>
                    <a:pt x="21375" y="1452"/>
                  </a:cubicBezTo>
                  <a:lnTo>
                    <a:pt x="21591" y="1348"/>
                  </a:lnTo>
                  <a:lnTo>
                    <a:pt x="21600" y="1011"/>
                  </a:lnTo>
                  <a:lnTo>
                    <a:pt x="21150" y="975"/>
                  </a:lnTo>
                  <a:cubicBezTo>
                    <a:pt x="20995" y="1003"/>
                    <a:pt x="20843" y="1062"/>
                    <a:pt x="20694" y="1151"/>
                  </a:cubicBezTo>
                  <a:cubicBezTo>
                    <a:pt x="20557" y="1233"/>
                    <a:pt x="20423" y="1342"/>
                    <a:pt x="20282" y="1390"/>
                  </a:cubicBezTo>
                  <a:cubicBezTo>
                    <a:pt x="20093" y="1454"/>
                    <a:pt x="19900" y="1411"/>
                    <a:pt x="19724" y="1265"/>
                  </a:cubicBezTo>
                  <a:cubicBezTo>
                    <a:pt x="19577" y="1262"/>
                    <a:pt x="19430" y="1212"/>
                    <a:pt x="19291" y="1117"/>
                  </a:cubicBezTo>
                  <a:cubicBezTo>
                    <a:pt x="19095" y="983"/>
                    <a:pt x="18917" y="763"/>
                    <a:pt x="18772" y="474"/>
                  </a:cubicBezTo>
                  <a:lnTo>
                    <a:pt x="18083" y="0"/>
                  </a:lnTo>
                  <a:lnTo>
                    <a:pt x="16508" y="3"/>
                  </a:lnTo>
                  <a:lnTo>
                    <a:pt x="15693" y="275"/>
                  </a:lnTo>
                  <a:lnTo>
                    <a:pt x="14944" y="531"/>
                  </a:lnTo>
                  <a:lnTo>
                    <a:pt x="14463" y="291"/>
                  </a:lnTo>
                  <a:lnTo>
                    <a:pt x="13875" y="143"/>
                  </a:lnTo>
                  <a:lnTo>
                    <a:pt x="13340" y="291"/>
                  </a:lnTo>
                  <a:lnTo>
                    <a:pt x="12195" y="653"/>
                  </a:lnTo>
                  <a:lnTo>
                    <a:pt x="10633" y="1133"/>
                  </a:lnTo>
                  <a:lnTo>
                    <a:pt x="9702" y="1133"/>
                  </a:lnTo>
                  <a:lnTo>
                    <a:pt x="8978" y="1388"/>
                  </a:lnTo>
                  <a:lnTo>
                    <a:pt x="8396" y="1388"/>
                  </a:lnTo>
                  <a:lnTo>
                    <a:pt x="7809" y="1141"/>
                  </a:lnTo>
                  <a:lnTo>
                    <a:pt x="7009" y="1092"/>
                  </a:lnTo>
                  <a:lnTo>
                    <a:pt x="6559" y="1002"/>
                  </a:lnTo>
                  <a:lnTo>
                    <a:pt x="5776" y="1002"/>
                  </a:lnTo>
                  <a:lnTo>
                    <a:pt x="5285" y="1142"/>
                  </a:lnTo>
                  <a:lnTo>
                    <a:pt x="4570" y="1596"/>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62" name="熊大的PPT宝库1-9"/>
            <p:cNvSpPr/>
            <p:nvPr/>
          </p:nvSpPr>
          <p:spPr>
            <a:xfrm>
              <a:off x="3714497" y="7648703"/>
              <a:ext cx="530890" cy="368947"/>
            </a:xfrm>
            <a:custGeom>
              <a:avLst/>
              <a:gdLst/>
              <a:ahLst/>
              <a:cxnLst>
                <a:cxn ang="0">
                  <a:pos x="wd2" y="hd2"/>
                </a:cxn>
                <a:cxn ang="5400000">
                  <a:pos x="wd2" y="hd2"/>
                </a:cxn>
                <a:cxn ang="10800000">
                  <a:pos x="wd2" y="hd2"/>
                </a:cxn>
                <a:cxn ang="16200000">
                  <a:pos x="wd2" y="hd2"/>
                </a:cxn>
              </a:cxnLst>
              <a:rect l="0" t="0" r="r" b="b"/>
              <a:pathLst>
                <a:path w="21600" h="21600" extrusionOk="0">
                  <a:moveTo>
                    <a:pt x="8021" y="593"/>
                  </a:moveTo>
                  <a:lnTo>
                    <a:pt x="7339" y="943"/>
                  </a:lnTo>
                  <a:lnTo>
                    <a:pt x="6138" y="1776"/>
                  </a:lnTo>
                  <a:lnTo>
                    <a:pt x="5808" y="2763"/>
                  </a:lnTo>
                  <a:lnTo>
                    <a:pt x="5092" y="3323"/>
                  </a:lnTo>
                  <a:cubicBezTo>
                    <a:pt x="4981" y="3552"/>
                    <a:pt x="4794" y="3681"/>
                    <a:pt x="4600" y="3663"/>
                  </a:cubicBezTo>
                  <a:cubicBezTo>
                    <a:pt x="4347" y="3639"/>
                    <a:pt x="4136" y="3380"/>
                    <a:pt x="4082" y="3027"/>
                  </a:cubicBezTo>
                  <a:lnTo>
                    <a:pt x="4399" y="1979"/>
                  </a:lnTo>
                  <a:lnTo>
                    <a:pt x="5690" y="798"/>
                  </a:lnTo>
                  <a:lnTo>
                    <a:pt x="5100" y="0"/>
                  </a:lnTo>
                  <a:cubicBezTo>
                    <a:pt x="4899" y="133"/>
                    <a:pt x="4693" y="250"/>
                    <a:pt x="4483" y="350"/>
                  </a:cubicBezTo>
                  <a:cubicBezTo>
                    <a:pt x="4069" y="547"/>
                    <a:pt x="3640" y="676"/>
                    <a:pt x="3206" y="735"/>
                  </a:cubicBezTo>
                  <a:lnTo>
                    <a:pt x="2729" y="1223"/>
                  </a:lnTo>
                  <a:lnTo>
                    <a:pt x="1867" y="1975"/>
                  </a:lnTo>
                  <a:lnTo>
                    <a:pt x="1287" y="3024"/>
                  </a:lnTo>
                  <a:lnTo>
                    <a:pt x="765" y="3246"/>
                  </a:lnTo>
                  <a:lnTo>
                    <a:pt x="240" y="4131"/>
                  </a:lnTo>
                  <a:lnTo>
                    <a:pt x="0" y="4706"/>
                  </a:lnTo>
                  <a:lnTo>
                    <a:pt x="488" y="5355"/>
                  </a:lnTo>
                  <a:lnTo>
                    <a:pt x="1157" y="5843"/>
                  </a:lnTo>
                  <a:lnTo>
                    <a:pt x="1737" y="6153"/>
                  </a:lnTo>
                  <a:lnTo>
                    <a:pt x="2377" y="6286"/>
                  </a:lnTo>
                  <a:lnTo>
                    <a:pt x="3276" y="6064"/>
                  </a:lnTo>
                  <a:lnTo>
                    <a:pt x="4259" y="5754"/>
                  </a:lnTo>
                  <a:lnTo>
                    <a:pt x="5354" y="6094"/>
                  </a:lnTo>
                  <a:lnTo>
                    <a:pt x="6511" y="6183"/>
                  </a:lnTo>
                  <a:lnTo>
                    <a:pt x="7184" y="6626"/>
                  </a:lnTo>
                  <a:cubicBezTo>
                    <a:pt x="7405" y="6541"/>
                    <a:pt x="7623" y="6437"/>
                    <a:pt x="7835" y="6316"/>
                  </a:cubicBezTo>
                  <a:cubicBezTo>
                    <a:pt x="8220" y="6096"/>
                    <a:pt x="8587" y="5819"/>
                    <a:pt x="8931" y="5490"/>
                  </a:cubicBezTo>
                  <a:lnTo>
                    <a:pt x="9355" y="5312"/>
                  </a:lnTo>
                  <a:lnTo>
                    <a:pt x="9932" y="5575"/>
                  </a:lnTo>
                  <a:lnTo>
                    <a:pt x="10644" y="6240"/>
                  </a:lnTo>
                  <a:lnTo>
                    <a:pt x="11141" y="6846"/>
                  </a:lnTo>
                  <a:lnTo>
                    <a:pt x="12060" y="7539"/>
                  </a:lnTo>
                  <a:lnTo>
                    <a:pt x="12619" y="8736"/>
                  </a:lnTo>
                  <a:lnTo>
                    <a:pt x="13095" y="10006"/>
                  </a:lnTo>
                  <a:lnTo>
                    <a:pt x="13435" y="11054"/>
                  </a:lnTo>
                  <a:lnTo>
                    <a:pt x="14056" y="11586"/>
                  </a:lnTo>
                  <a:lnTo>
                    <a:pt x="14914" y="12148"/>
                  </a:lnTo>
                  <a:lnTo>
                    <a:pt x="14833" y="12869"/>
                  </a:lnTo>
                  <a:lnTo>
                    <a:pt x="14379" y="13177"/>
                  </a:lnTo>
                  <a:lnTo>
                    <a:pt x="13740" y="13602"/>
                  </a:lnTo>
                  <a:lnTo>
                    <a:pt x="12986" y="13647"/>
                  </a:lnTo>
                  <a:lnTo>
                    <a:pt x="12638" y="13264"/>
                  </a:lnTo>
                  <a:lnTo>
                    <a:pt x="11587" y="13042"/>
                  </a:lnTo>
                  <a:lnTo>
                    <a:pt x="10513" y="13484"/>
                  </a:lnTo>
                  <a:lnTo>
                    <a:pt x="9841" y="14502"/>
                  </a:lnTo>
                  <a:lnTo>
                    <a:pt x="9564" y="15162"/>
                  </a:lnTo>
                  <a:lnTo>
                    <a:pt x="9078" y="15545"/>
                  </a:lnTo>
                  <a:lnTo>
                    <a:pt x="7809" y="15678"/>
                  </a:lnTo>
                  <a:lnTo>
                    <a:pt x="6983" y="15367"/>
                  </a:lnTo>
                  <a:lnTo>
                    <a:pt x="6084" y="15147"/>
                  </a:lnTo>
                  <a:lnTo>
                    <a:pt x="5096" y="15369"/>
                  </a:lnTo>
                  <a:lnTo>
                    <a:pt x="4413" y="16019"/>
                  </a:lnTo>
                  <a:lnTo>
                    <a:pt x="5045" y="16668"/>
                  </a:lnTo>
                  <a:lnTo>
                    <a:pt x="6285" y="16934"/>
                  </a:lnTo>
                  <a:lnTo>
                    <a:pt x="7287" y="16420"/>
                  </a:lnTo>
                  <a:lnTo>
                    <a:pt x="8059" y="16243"/>
                  </a:lnTo>
                  <a:lnTo>
                    <a:pt x="9091" y="16300"/>
                  </a:lnTo>
                  <a:lnTo>
                    <a:pt x="9462" y="16921"/>
                  </a:lnTo>
                  <a:lnTo>
                    <a:pt x="9564" y="17355"/>
                  </a:lnTo>
                  <a:lnTo>
                    <a:pt x="9891" y="18150"/>
                  </a:lnTo>
                  <a:lnTo>
                    <a:pt x="10014" y="18797"/>
                  </a:lnTo>
                  <a:lnTo>
                    <a:pt x="10439" y="19327"/>
                  </a:lnTo>
                  <a:lnTo>
                    <a:pt x="10902" y="19443"/>
                  </a:lnTo>
                  <a:lnTo>
                    <a:pt x="12019" y="20417"/>
                  </a:lnTo>
                  <a:lnTo>
                    <a:pt x="12722" y="21245"/>
                  </a:lnTo>
                  <a:lnTo>
                    <a:pt x="14241" y="21600"/>
                  </a:lnTo>
                  <a:lnTo>
                    <a:pt x="14643" y="21336"/>
                  </a:lnTo>
                  <a:lnTo>
                    <a:pt x="15294" y="20804"/>
                  </a:lnTo>
                  <a:cubicBezTo>
                    <a:pt x="15170" y="20619"/>
                    <a:pt x="15023" y="20469"/>
                    <a:pt x="14861" y="20360"/>
                  </a:cubicBezTo>
                  <a:cubicBezTo>
                    <a:pt x="14623" y="20200"/>
                    <a:pt x="14358" y="20132"/>
                    <a:pt x="14128" y="19948"/>
                  </a:cubicBezTo>
                  <a:cubicBezTo>
                    <a:pt x="13879" y="19749"/>
                    <a:pt x="13688" y="19429"/>
                    <a:pt x="13590" y="19046"/>
                  </a:cubicBezTo>
                  <a:lnTo>
                    <a:pt x="13158" y="18532"/>
                  </a:lnTo>
                  <a:lnTo>
                    <a:pt x="13427" y="18017"/>
                  </a:lnTo>
                  <a:lnTo>
                    <a:pt x="14110" y="18105"/>
                  </a:lnTo>
                  <a:lnTo>
                    <a:pt x="14793" y="18460"/>
                  </a:lnTo>
                  <a:lnTo>
                    <a:pt x="15377" y="18697"/>
                  </a:lnTo>
                  <a:lnTo>
                    <a:pt x="15778" y="19005"/>
                  </a:lnTo>
                  <a:lnTo>
                    <a:pt x="16295" y="19094"/>
                  </a:lnTo>
                  <a:lnTo>
                    <a:pt x="16532" y="18785"/>
                  </a:lnTo>
                  <a:lnTo>
                    <a:pt x="16863" y="17974"/>
                  </a:lnTo>
                  <a:lnTo>
                    <a:pt x="16832" y="16720"/>
                  </a:lnTo>
                  <a:lnTo>
                    <a:pt x="16410" y="15436"/>
                  </a:lnTo>
                  <a:lnTo>
                    <a:pt x="16038" y="14519"/>
                  </a:lnTo>
                  <a:lnTo>
                    <a:pt x="16348" y="13987"/>
                  </a:lnTo>
                  <a:lnTo>
                    <a:pt x="17092" y="13263"/>
                  </a:lnTo>
                  <a:lnTo>
                    <a:pt x="17959" y="13751"/>
                  </a:lnTo>
                  <a:cubicBezTo>
                    <a:pt x="18224" y="13919"/>
                    <a:pt x="18489" y="14087"/>
                    <a:pt x="18755" y="14253"/>
                  </a:cubicBezTo>
                  <a:cubicBezTo>
                    <a:pt x="19010" y="14412"/>
                    <a:pt x="19265" y="14570"/>
                    <a:pt x="19521" y="14726"/>
                  </a:cubicBezTo>
                  <a:lnTo>
                    <a:pt x="20059" y="14800"/>
                  </a:lnTo>
                  <a:cubicBezTo>
                    <a:pt x="20261" y="14738"/>
                    <a:pt x="20456" y="14633"/>
                    <a:pt x="20638" y="14490"/>
                  </a:cubicBezTo>
                  <a:cubicBezTo>
                    <a:pt x="21053" y="14162"/>
                    <a:pt x="21380" y="13647"/>
                    <a:pt x="21569" y="13026"/>
                  </a:cubicBezTo>
                  <a:lnTo>
                    <a:pt x="21600" y="12364"/>
                  </a:lnTo>
                  <a:lnTo>
                    <a:pt x="20876" y="11537"/>
                  </a:lnTo>
                  <a:lnTo>
                    <a:pt x="20172" y="11271"/>
                  </a:lnTo>
                  <a:cubicBezTo>
                    <a:pt x="19977" y="10989"/>
                    <a:pt x="19782" y="10709"/>
                    <a:pt x="19585" y="10430"/>
                  </a:cubicBezTo>
                  <a:cubicBezTo>
                    <a:pt x="19314" y="10044"/>
                    <a:pt x="19041" y="9659"/>
                    <a:pt x="18768" y="9277"/>
                  </a:cubicBezTo>
                  <a:lnTo>
                    <a:pt x="18552" y="8352"/>
                  </a:lnTo>
                  <a:lnTo>
                    <a:pt x="18707" y="7850"/>
                  </a:lnTo>
                  <a:lnTo>
                    <a:pt x="18707" y="7053"/>
                  </a:lnTo>
                  <a:lnTo>
                    <a:pt x="18460" y="6506"/>
                  </a:lnTo>
                  <a:lnTo>
                    <a:pt x="17665" y="6018"/>
                  </a:lnTo>
                  <a:lnTo>
                    <a:pt x="16139" y="5357"/>
                  </a:lnTo>
                  <a:lnTo>
                    <a:pt x="15519" y="4734"/>
                  </a:lnTo>
                  <a:lnTo>
                    <a:pt x="14962" y="3542"/>
                  </a:lnTo>
                  <a:lnTo>
                    <a:pt x="14662" y="2965"/>
                  </a:lnTo>
                  <a:lnTo>
                    <a:pt x="14176" y="2226"/>
                  </a:lnTo>
                  <a:lnTo>
                    <a:pt x="13369" y="2581"/>
                  </a:lnTo>
                  <a:lnTo>
                    <a:pt x="12408" y="3126"/>
                  </a:lnTo>
                  <a:lnTo>
                    <a:pt x="11913" y="2771"/>
                  </a:lnTo>
                  <a:cubicBezTo>
                    <a:pt x="11698" y="2567"/>
                    <a:pt x="11484" y="2360"/>
                    <a:pt x="11271" y="2150"/>
                  </a:cubicBezTo>
                  <a:cubicBezTo>
                    <a:pt x="11036" y="1918"/>
                    <a:pt x="10801" y="1682"/>
                    <a:pt x="10569" y="1443"/>
                  </a:cubicBezTo>
                  <a:lnTo>
                    <a:pt x="9607" y="777"/>
                  </a:lnTo>
                  <a:lnTo>
                    <a:pt x="9009" y="497"/>
                  </a:lnTo>
                  <a:lnTo>
                    <a:pt x="8021" y="593"/>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63" name="熊大的PPT宝库1-10"/>
            <p:cNvSpPr/>
            <p:nvPr/>
          </p:nvSpPr>
          <p:spPr>
            <a:xfrm>
              <a:off x="3602815" y="7908832"/>
              <a:ext cx="134323" cy="63225"/>
            </a:xfrm>
            <a:custGeom>
              <a:avLst/>
              <a:gdLst/>
              <a:ahLst/>
              <a:cxnLst>
                <a:cxn ang="0">
                  <a:pos x="wd2" y="hd2"/>
                </a:cxn>
                <a:cxn ang="5400000">
                  <a:pos x="wd2" y="hd2"/>
                </a:cxn>
                <a:cxn ang="10800000">
                  <a:pos x="wd2" y="hd2"/>
                </a:cxn>
                <a:cxn ang="16200000">
                  <a:pos x="wd2" y="hd2"/>
                </a:cxn>
              </a:cxnLst>
              <a:rect l="0" t="0" r="r" b="b"/>
              <a:pathLst>
                <a:path w="21486" h="21600" extrusionOk="0">
                  <a:moveTo>
                    <a:pt x="14288" y="2825"/>
                  </a:moveTo>
                  <a:lnTo>
                    <a:pt x="10337" y="0"/>
                  </a:lnTo>
                  <a:lnTo>
                    <a:pt x="6944" y="635"/>
                  </a:lnTo>
                  <a:lnTo>
                    <a:pt x="4261" y="5531"/>
                  </a:lnTo>
                  <a:lnTo>
                    <a:pt x="923" y="10880"/>
                  </a:lnTo>
                  <a:lnTo>
                    <a:pt x="0" y="13544"/>
                  </a:lnTo>
                  <a:lnTo>
                    <a:pt x="505" y="17480"/>
                  </a:lnTo>
                  <a:lnTo>
                    <a:pt x="3926" y="18763"/>
                  </a:lnTo>
                  <a:lnTo>
                    <a:pt x="6234" y="16694"/>
                  </a:lnTo>
                  <a:lnTo>
                    <a:pt x="9366" y="14882"/>
                  </a:lnTo>
                  <a:cubicBezTo>
                    <a:pt x="10482" y="14254"/>
                    <a:pt x="11657" y="14254"/>
                    <a:pt x="12773" y="14882"/>
                  </a:cubicBezTo>
                  <a:cubicBezTo>
                    <a:pt x="14008" y="15576"/>
                    <a:pt x="15124" y="17010"/>
                    <a:pt x="15986" y="19012"/>
                  </a:cubicBezTo>
                  <a:lnTo>
                    <a:pt x="19647" y="21600"/>
                  </a:lnTo>
                  <a:cubicBezTo>
                    <a:pt x="20643" y="20974"/>
                    <a:pt x="21364" y="19135"/>
                    <a:pt x="21472" y="16942"/>
                  </a:cubicBezTo>
                  <a:cubicBezTo>
                    <a:pt x="21600" y="14339"/>
                    <a:pt x="20855" y="11900"/>
                    <a:pt x="19682" y="11085"/>
                  </a:cubicBezTo>
                  <a:lnTo>
                    <a:pt x="16154" y="7063"/>
                  </a:lnTo>
                  <a:lnTo>
                    <a:pt x="14288" y="2825"/>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64" name="熊大的PPT宝库1-11"/>
            <p:cNvSpPr/>
            <p:nvPr/>
          </p:nvSpPr>
          <p:spPr>
            <a:xfrm>
              <a:off x="4033056" y="8386646"/>
              <a:ext cx="191559" cy="152338"/>
            </a:xfrm>
            <a:custGeom>
              <a:avLst/>
              <a:gdLst/>
              <a:ahLst/>
              <a:cxnLst>
                <a:cxn ang="0">
                  <a:pos x="wd2" y="hd2"/>
                </a:cxn>
                <a:cxn ang="5400000">
                  <a:pos x="wd2" y="hd2"/>
                </a:cxn>
                <a:cxn ang="10800000">
                  <a:pos x="wd2" y="hd2"/>
                </a:cxn>
                <a:cxn ang="16200000">
                  <a:pos x="wd2" y="hd2"/>
                </a:cxn>
              </a:cxnLst>
              <a:rect l="0" t="0" r="r" b="b"/>
              <a:pathLst>
                <a:path w="21600" h="21600" extrusionOk="0">
                  <a:moveTo>
                    <a:pt x="13617" y="713"/>
                  </a:moveTo>
                  <a:lnTo>
                    <a:pt x="12158" y="1430"/>
                  </a:lnTo>
                  <a:lnTo>
                    <a:pt x="10460" y="3510"/>
                  </a:lnTo>
                  <a:lnTo>
                    <a:pt x="9735" y="5219"/>
                  </a:lnTo>
                  <a:lnTo>
                    <a:pt x="8711" y="7368"/>
                  </a:lnTo>
                  <a:lnTo>
                    <a:pt x="6506" y="9587"/>
                  </a:lnTo>
                  <a:lnTo>
                    <a:pt x="4116" y="10124"/>
                  </a:lnTo>
                  <a:lnTo>
                    <a:pt x="3238" y="12590"/>
                  </a:lnTo>
                  <a:lnTo>
                    <a:pt x="2264" y="14703"/>
                  </a:lnTo>
                  <a:lnTo>
                    <a:pt x="112" y="15347"/>
                  </a:lnTo>
                  <a:lnTo>
                    <a:pt x="0" y="16883"/>
                  </a:lnTo>
                  <a:lnTo>
                    <a:pt x="2956" y="16668"/>
                  </a:lnTo>
                  <a:lnTo>
                    <a:pt x="4669" y="16668"/>
                  </a:lnTo>
                  <a:lnTo>
                    <a:pt x="6963" y="17384"/>
                  </a:lnTo>
                  <a:lnTo>
                    <a:pt x="8339" y="17778"/>
                  </a:lnTo>
                  <a:lnTo>
                    <a:pt x="7794" y="19707"/>
                  </a:lnTo>
                  <a:lnTo>
                    <a:pt x="8250" y="21600"/>
                  </a:lnTo>
                  <a:lnTo>
                    <a:pt x="9877" y="20459"/>
                  </a:lnTo>
                  <a:lnTo>
                    <a:pt x="9307" y="17997"/>
                  </a:lnTo>
                  <a:lnTo>
                    <a:pt x="11744" y="17389"/>
                  </a:lnTo>
                  <a:lnTo>
                    <a:pt x="13751" y="17389"/>
                  </a:lnTo>
                  <a:lnTo>
                    <a:pt x="15873" y="16529"/>
                  </a:lnTo>
                  <a:lnTo>
                    <a:pt x="18822" y="16207"/>
                  </a:lnTo>
                  <a:lnTo>
                    <a:pt x="20342" y="15240"/>
                  </a:lnTo>
                  <a:lnTo>
                    <a:pt x="21600" y="14632"/>
                  </a:lnTo>
                  <a:lnTo>
                    <a:pt x="18847" y="11235"/>
                  </a:lnTo>
                  <a:lnTo>
                    <a:pt x="17711" y="9945"/>
                  </a:lnTo>
                  <a:lnTo>
                    <a:pt x="15740" y="9095"/>
                  </a:lnTo>
                  <a:lnTo>
                    <a:pt x="13625" y="8379"/>
                  </a:lnTo>
                  <a:lnTo>
                    <a:pt x="12948" y="7206"/>
                  </a:lnTo>
                  <a:cubicBezTo>
                    <a:pt x="12674" y="6625"/>
                    <a:pt x="12582" y="5938"/>
                    <a:pt x="12690" y="5277"/>
                  </a:cubicBezTo>
                  <a:cubicBezTo>
                    <a:pt x="12841" y="4349"/>
                    <a:pt x="13359" y="3580"/>
                    <a:pt x="14066" y="3237"/>
                  </a:cubicBezTo>
                  <a:cubicBezTo>
                    <a:pt x="14497" y="2942"/>
                    <a:pt x="14876" y="2541"/>
                    <a:pt x="15181" y="2059"/>
                  </a:cubicBezTo>
                  <a:cubicBezTo>
                    <a:pt x="15444" y="1642"/>
                    <a:pt x="15646" y="1171"/>
                    <a:pt x="15779" y="667"/>
                  </a:cubicBezTo>
                  <a:lnTo>
                    <a:pt x="15098" y="0"/>
                  </a:lnTo>
                  <a:lnTo>
                    <a:pt x="13617" y="713"/>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65" name="熊大的PPT宝库1-12"/>
            <p:cNvSpPr/>
            <p:nvPr/>
          </p:nvSpPr>
          <p:spPr>
            <a:xfrm>
              <a:off x="3678557" y="9023953"/>
              <a:ext cx="43114" cy="31522"/>
            </a:xfrm>
            <a:custGeom>
              <a:avLst/>
              <a:gdLst/>
              <a:ahLst/>
              <a:cxnLst>
                <a:cxn ang="0">
                  <a:pos x="wd2" y="hd2"/>
                </a:cxn>
                <a:cxn ang="5400000">
                  <a:pos x="wd2" y="hd2"/>
                </a:cxn>
                <a:cxn ang="10800000">
                  <a:pos x="wd2" y="hd2"/>
                </a:cxn>
                <a:cxn ang="16200000">
                  <a:pos x="wd2" y="hd2"/>
                </a:cxn>
              </a:cxnLst>
              <a:rect l="0" t="0" r="r" b="b"/>
              <a:pathLst>
                <a:path w="21600" h="21600" extrusionOk="0">
                  <a:moveTo>
                    <a:pt x="9449" y="0"/>
                  </a:moveTo>
                  <a:lnTo>
                    <a:pt x="4511" y="2596"/>
                  </a:lnTo>
                  <a:lnTo>
                    <a:pt x="0" y="15912"/>
                  </a:lnTo>
                  <a:lnTo>
                    <a:pt x="12679" y="21600"/>
                  </a:lnTo>
                  <a:lnTo>
                    <a:pt x="21600" y="12688"/>
                  </a:lnTo>
                  <a:lnTo>
                    <a:pt x="9449"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66" name="熊大的PPT宝库1-13"/>
            <p:cNvSpPr/>
            <p:nvPr/>
          </p:nvSpPr>
          <p:spPr>
            <a:xfrm>
              <a:off x="2956679" y="9392852"/>
              <a:ext cx="336007" cy="120179"/>
            </a:xfrm>
            <a:custGeom>
              <a:avLst/>
              <a:gdLst/>
              <a:ahLst/>
              <a:cxnLst>
                <a:cxn ang="0">
                  <a:pos x="wd2" y="hd2"/>
                </a:cxn>
                <a:cxn ang="5400000">
                  <a:pos x="wd2" y="hd2"/>
                </a:cxn>
                <a:cxn ang="10800000">
                  <a:pos x="wd2" y="hd2"/>
                </a:cxn>
                <a:cxn ang="16200000">
                  <a:pos x="wd2" y="hd2"/>
                </a:cxn>
              </a:cxnLst>
              <a:rect l="0" t="0" r="r" b="b"/>
              <a:pathLst>
                <a:path w="21600" h="21424" extrusionOk="0">
                  <a:moveTo>
                    <a:pt x="6693" y="0"/>
                  </a:moveTo>
                  <a:lnTo>
                    <a:pt x="3994" y="298"/>
                  </a:lnTo>
                  <a:lnTo>
                    <a:pt x="1905" y="1849"/>
                  </a:lnTo>
                  <a:lnTo>
                    <a:pt x="0" y="4685"/>
                  </a:lnTo>
                  <a:lnTo>
                    <a:pt x="3" y="8050"/>
                  </a:lnTo>
                  <a:lnTo>
                    <a:pt x="2136" y="6609"/>
                  </a:lnTo>
                  <a:lnTo>
                    <a:pt x="5761" y="4730"/>
                  </a:lnTo>
                  <a:lnTo>
                    <a:pt x="7958" y="6075"/>
                  </a:lnTo>
                  <a:lnTo>
                    <a:pt x="10066" y="8095"/>
                  </a:lnTo>
                  <a:lnTo>
                    <a:pt x="12698" y="10886"/>
                  </a:lnTo>
                  <a:lnTo>
                    <a:pt x="13431" y="13491"/>
                  </a:lnTo>
                  <a:lnTo>
                    <a:pt x="13576" y="16728"/>
                  </a:lnTo>
                  <a:lnTo>
                    <a:pt x="13202" y="18838"/>
                  </a:lnTo>
                  <a:lnTo>
                    <a:pt x="14379" y="19732"/>
                  </a:lnTo>
                  <a:lnTo>
                    <a:pt x="15587" y="19372"/>
                  </a:lnTo>
                  <a:lnTo>
                    <a:pt x="17041" y="19372"/>
                  </a:lnTo>
                  <a:lnTo>
                    <a:pt x="17973" y="20722"/>
                  </a:lnTo>
                  <a:cubicBezTo>
                    <a:pt x="18362" y="21404"/>
                    <a:pt x="18837" y="21600"/>
                    <a:pt x="19281" y="21263"/>
                  </a:cubicBezTo>
                  <a:cubicBezTo>
                    <a:pt x="19538" y="21068"/>
                    <a:pt x="19773" y="20698"/>
                    <a:pt x="19965" y="20188"/>
                  </a:cubicBezTo>
                  <a:lnTo>
                    <a:pt x="20995" y="19018"/>
                  </a:lnTo>
                  <a:lnTo>
                    <a:pt x="21584" y="18883"/>
                  </a:lnTo>
                  <a:lnTo>
                    <a:pt x="21600" y="16502"/>
                  </a:lnTo>
                  <a:lnTo>
                    <a:pt x="20145" y="14116"/>
                  </a:lnTo>
                  <a:cubicBezTo>
                    <a:pt x="19497" y="13439"/>
                    <a:pt x="18849" y="12764"/>
                    <a:pt x="18200" y="12091"/>
                  </a:cubicBezTo>
                  <a:cubicBezTo>
                    <a:pt x="17606" y="11474"/>
                    <a:pt x="17013" y="10859"/>
                    <a:pt x="16418" y="10245"/>
                  </a:cubicBezTo>
                  <a:lnTo>
                    <a:pt x="14034" y="5974"/>
                  </a:lnTo>
                  <a:lnTo>
                    <a:pt x="11880" y="2378"/>
                  </a:lnTo>
                  <a:lnTo>
                    <a:pt x="9839" y="1348"/>
                  </a:lnTo>
                  <a:lnTo>
                    <a:pt x="8476" y="678"/>
                  </a:lnTo>
                  <a:lnTo>
                    <a:pt x="6693"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67" name="熊大的PPT宝库1-14"/>
            <p:cNvSpPr/>
            <p:nvPr/>
          </p:nvSpPr>
          <p:spPr>
            <a:xfrm>
              <a:off x="3249470" y="9514507"/>
              <a:ext cx="222454" cy="69578"/>
            </a:xfrm>
            <a:custGeom>
              <a:avLst/>
              <a:gdLst/>
              <a:ahLst/>
              <a:cxnLst>
                <a:cxn ang="0">
                  <a:pos x="wd2" y="hd2"/>
                </a:cxn>
                <a:cxn ang="5400000">
                  <a:pos x="wd2" y="hd2"/>
                </a:cxn>
                <a:cxn ang="10800000">
                  <a:pos x="wd2" y="hd2"/>
                </a:cxn>
                <a:cxn ang="16200000">
                  <a:pos x="wd2" y="hd2"/>
                </a:cxn>
              </a:cxnLst>
              <a:rect l="0" t="0" r="r" b="b"/>
              <a:pathLst>
                <a:path w="21600" h="21321" extrusionOk="0">
                  <a:moveTo>
                    <a:pt x="8080" y="2346"/>
                  </a:moveTo>
                  <a:lnTo>
                    <a:pt x="7608" y="5248"/>
                  </a:lnTo>
                  <a:lnTo>
                    <a:pt x="9192" y="9941"/>
                  </a:lnTo>
                  <a:lnTo>
                    <a:pt x="8133" y="13268"/>
                  </a:lnTo>
                  <a:lnTo>
                    <a:pt x="6167" y="13491"/>
                  </a:lnTo>
                  <a:cubicBezTo>
                    <a:pt x="5337" y="12924"/>
                    <a:pt x="4494" y="12536"/>
                    <a:pt x="3646" y="12331"/>
                  </a:cubicBezTo>
                  <a:cubicBezTo>
                    <a:pt x="2705" y="12103"/>
                    <a:pt x="1759" y="12099"/>
                    <a:pt x="817" y="12321"/>
                  </a:cubicBezTo>
                  <a:lnTo>
                    <a:pt x="0" y="15310"/>
                  </a:lnTo>
                  <a:lnTo>
                    <a:pt x="1925" y="18019"/>
                  </a:lnTo>
                  <a:lnTo>
                    <a:pt x="4070" y="18251"/>
                  </a:lnTo>
                  <a:lnTo>
                    <a:pt x="5845" y="19877"/>
                  </a:lnTo>
                  <a:lnTo>
                    <a:pt x="7598" y="18329"/>
                  </a:lnTo>
                  <a:lnTo>
                    <a:pt x="9746" y="17400"/>
                  </a:lnTo>
                  <a:cubicBezTo>
                    <a:pt x="10130" y="18713"/>
                    <a:pt x="10602" y="19744"/>
                    <a:pt x="11128" y="20417"/>
                  </a:cubicBezTo>
                  <a:cubicBezTo>
                    <a:pt x="11927" y="21440"/>
                    <a:pt x="12812" y="21600"/>
                    <a:pt x="13644" y="20872"/>
                  </a:cubicBezTo>
                  <a:cubicBezTo>
                    <a:pt x="14104" y="19420"/>
                    <a:pt x="14627" y="18174"/>
                    <a:pt x="15196" y="17168"/>
                  </a:cubicBezTo>
                  <a:cubicBezTo>
                    <a:pt x="15866" y="15984"/>
                    <a:pt x="16591" y="15148"/>
                    <a:pt x="17341" y="14614"/>
                  </a:cubicBezTo>
                  <a:cubicBezTo>
                    <a:pt x="18005" y="14141"/>
                    <a:pt x="18684" y="13907"/>
                    <a:pt x="19365" y="13918"/>
                  </a:cubicBezTo>
                  <a:lnTo>
                    <a:pt x="20717" y="13841"/>
                  </a:lnTo>
                  <a:lnTo>
                    <a:pt x="21600" y="12215"/>
                  </a:lnTo>
                  <a:lnTo>
                    <a:pt x="21378" y="8984"/>
                  </a:lnTo>
                  <a:lnTo>
                    <a:pt x="19406" y="7282"/>
                  </a:lnTo>
                  <a:lnTo>
                    <a:pt x="18248" y="4350"/>
                  </a:lnTo>
                  <a:lnTo>
                    <a:pt x="15434" y="1333"/>
                  </a:lnTo>
                  <a:lnTo>
                    <a:pt x="12671" y="459"/>
                  </a:lnTo>
                  <a:lnTo>
                    <a:pt x="10801" y="0"/>
                  </a:lnTo>
                  <a:lnTo>
                    <a:pt x="9496" y="697"/>
                  </a:lnTo>
                  <a:lnTo>
                    <a:pt x="8080" y="2346"/>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68" name="熊大的PPT宝库1-15"/>
            <p:cNvSpPr/>
            <p:nvPr/>
          </p:nvSpPr>
          <p:spPr>
            <a:xfrm>
              <a:off x="3129870" y="9555655"/>
              <a:ext cx="72795" cy="30633"/>
            </a:xfrm>
            <a:custGeom>
              <a:avLst/>
              <a:gdLst/>
              <a:ahLst/>
              <a:cxnLst>
                <a:cxn ang="0">
                  <a:pos x="wd2" y="hd2"/>
                </a:cxn>
                <a:cxn ang="5400000">
                  <a:pos x="wd2" y="hd2"/>
                </a:cxn>
                <a:cxn ang="10800000">
                  <a:pos x="wd2" y="hd2"/>
                </a:cxn>
                <a:cxn ang="16200000">
                  <a:pos x="wd2" y="hd2"/>
                </a:cxn>
              </a:cxnLst>
              <a:rect l="0" t="0" r="r" b="b"/>
              <a:pathLst>
                <a:path w="21600" h="21600" extrusionOk="0">
                  <a:moveTo>
                    <a:pt x="9960" y="778"/>
                  </a:moveTo>
                  <a:lnTo>
                    <a:pt x="5952" y="0"/>
                  </a:lnTo>
                  <a:lnTo>
                    <a:pt x="0" y="4529"/>
                  </a:lnTo>
                  <a:lnTo>
                    <a:pt x="4023" y="14144"/>
                  </a:lnTo>
                  <a:lnTo>
                    <a:pt x="9924" y="18396"/>
                  </a:lnTo>
                  <a:lnTo>
                    <a:pt x="16715" y="21600"/>
                  </a:lnTo>
                  <a:lnTo>
                    <a:pt x="21157" y="18240"/>
                  </a:lnTo>
                  <a:lnTo>
                    <a:pt x="21600" y="11139"/>
                  </a:lnTo>
                  <a:lnTo>
                    <a:pt x="17129" y="5862"/>
                  </a:lnTo>
                  <a:lnTo>
                    <a:pt x="14054" y="2835"/>
                  </a:lnTo>
                  <a:lnTo>
                    <a:pt x="9960" y="778"/>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69" name="熊大的PPT宝库1-16"/>
            <p:cNvSpPr/>
            <p:nvPr/>
          </p:nvSpPr>
          <p:spPr>
            <a:xfrm>
              <a:off x="3505872" y="9554580"/>
              <a:ext cx="56091" cy="29497"/>
            </a:xfrm>
            <a:custGeom>
              <a:avLst/>
              <a:gdLst/>
              <a:ahLst/>
              <a:cxnLst>
                <a:cxn ang="0">
                  <a:pos x="wd2" y="hd2"/>
                </a:cxn>
                <a:cxn ang="5400000">
                  <a:pos x="wd2" y="hd2"/>
                </a:cxn>
                <a:cxn ang="10800000">
                  <a:pos x="wd2" y="hd2"/>
                </a:cxn>
                <a:cxn ang="16200000">
                  <a:pos x="wd2" y="hd2"/>
                </a:cxn>
              </a:cxnLst>
              <a:rect l="0" t="0" r="r" b="b"/>
              <a:pathLst>
                <a:path w="21600" h="21600" extrusionOk="0">
                  <a:moveTo>
                    <a:pt x="12717" y="0"/>
                  </a:moveTo>
                  <a:lnTo>
                    <a:pt x="6904" y="785"/>
                  </a:lnTo>
                  <a:lnTo>
                    <a:pt x="2619" y="2158"/>
                  </a:lnTo>
                  <a:lnTo>
                    <a:pt x="0" y="9325"/>
                  </a:lnTo>
                  <a:lnTo>
                    <a:pt x="1145" y="14597"/>
                  </a:lnTo>
                  <a:cubicBezTo>
                    <a:pt x="2957" y="16107"/>
                    <a:pt x="4818" y="17397"/>
                    <a:pt x="6717" y="18458"/>
                  </a:cubicBezTo>
                  <a:cubicBezTo>
                    <a:pt x="9466" y="19994"/>
                    <a:pt x="12285" y="21046"/>
                    <a:pt x="15138" y="21600"/>
                  </a:cubicBezTo>
                  <a:lnTo>
                    <a:pt x="21600" y="11985"/>
                  </a:lnTo>
                  <a:lnTo>
                    <a:pt x="18686" y="4286"/>
                  </a:lnTo>
                  <a:lnTo>
                    <a:pt x="12717"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70" name="熊大的PPT宝库1-17"/>
            <p:cNvSpPr/>
            <p:nvPr/>
          </p:nvSpPr>
          <p:spPr>
            <a:xfrm>
              <a:off x="3334752" y="9397642"/>
              <a:ext cx="48677" cy="29627"/>
            </a:xfrm>
            <a:custGeom>
              <a:avLst/>
              <a:gdLst/>
              <a:ahLst/>
              <a:cxnLst>
                <a:cxn ang="0">
                  <a:pos x="wd2" y="hd2"/>
                </a:cxn>
                <a:cxn ang="5400000">
                  <a:pos x="wd2" y="hd2"/>
                </a:cxn>
                <a:cxn ang="10800000">
                  <a:pos x="wd2" y="hd2"/>
                </a:cxn>
                <a:cxn ang="16200000">
                  <a:pos x="wd2" y="hd2"/>
                </a:cxn>
              </a:cxnLst>
              <a:rect l="0" t="0" r="r" b="b"/>
              <a:pathLst>
                <a:path w="21600" h="21600" extrusionOk="0">
                  <a:moveTo>
                    <a:pt x="10591" y="2096"/>
                  </a:moveTo>
                  <a:lnTo>
                    <a:pt x="5726" y="2074"/>
                  </a:lnTo>
                  <a:lnTo>
                    <a:pt x="0" y="12257"/>
                  </a:lnTo>
                  <a:lnTo>
                    <a:pt x="3941" y="21600"/>
                  </a:lnTo>
                  <a:lnTo>
                    <a:pt x="9231" y="16101"/>
                  </a:lnTo>
                  <a:lnTo>
                    <a:pt x="15549" y="13362"/>
                  </a:lnTo>
                  <a:lnTo>
                    <a:pt x="21600" y="7815"/>
                  </a:lnTo>
                  <a:lnTo>
                    <a:pt x="20020" y="727"/>
                  </a:lnTo>
                  <a:lnTo>
                    <a:pt x="15874" y="0"/>
                  </a:lnTo>
                  <a:lnTo>
                    <a:pt x="10591" y="2096"/>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71" name="熊大的PPT宝库1-18"/>
            <p:cNvSpPr/>
            <p:nvPr/>
          </p:nvSpPr>
          <p:spPr>
            <a:xfrm>
              <a:off x="3275039" y="9427378"/>
              <a:ext cx="39982" cy="19197"/>
            </a:xfrm>
            <a:custGeom>
              <a:avLst/>
              <a:gdLst/>
              <a:ahLst/>
              <a:cxnLst>
                <a:cxn ang="0">
                  <a:pos x="wd2" y="hd2"/>
                </a:cxn>
                <a:cxn ang="5400000">
                  <a:pos x="wd2" y="hd2"/>
                </a:cxn>
                <a:cxn ang="10800000">
                  <a:pos x="wd2" y="hd2"/>
                </a:cxn>
                <a:cxn ang="16200000">
                  <a:pos x="wd2" y="hd2"/>
                </a:cxn>
              </a:cxnLst>
              <a:rect l="0" t="0" r="r" b="b"/>
              <a:pathLst>
                <a:path w="21600" h="21600" extrusionOk="0">
                  <a:moveTo>
                    <a:pt x="13268" y="0"/>
                  </a:moveTo>
                  <a:lnTo>
                    <a:pt x="6280" y="4263"/>
                  </a:lnTo>
                  <a:lnTo>
                    <a:pt x="0" y="14496"/>
                  </a:lnTo>
                  <a:lnTo>
                    <a:pt x="4170" y="17941"/>
                  </a:lnTo>
                  <a:lnTo>
                    <a:pt x="13786" y="19078"/>
                  </a:lnTo>
                  <a:lnTo>
                    <a:pt x="21583" y="21600"/>
                  </a:lnTo>
                  <a:lnTo>
                    <a:pt x="21600" y="6005"/>
                  </a:lnTo>
                  <a:lnTo>
                    <a:pt x="13268"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72" name="熊大的PPT宝库1-19"/>
            <p:cNvSpPr/>
            <p:nvPr/>
          </p:nvSpPr>
          <p:spPr>
            <a:xfrm>
              <a:off x="3170218" y="9295030"/>
              <a:ext cx="28333" cy="52676"/>
            </a:xfrm>
            <a:custGeom>
              <a:avLst/>
              <a:gdLst/>
              <a:ahLst/>
              <a:cxnLst>
                <a:cxn ang="0">
                  <a:pos x="wd2" y="hd2"/>
                </a:cxn>
                <a:cxn ang="5400000">
                  <a:pos x="wd2" y="hd2"/>
                </a:cxn>
                <a:cxn ang="10800000">
                  <a:pos x="wd2" y="hd2"/>
                </a:cxn>
                <a:cxn ang="16200000">
                  <a:pos x="wd2" y="hd2"/>
                </a:cxn>
              </a:cxnLst>
              <a:rect l="0" t="0" r="r" b="b"/>
              <a:pathLst>
                <a:path w="21600" h="21600" extrusionOk="0">
                  <a:moveTo>
                    <a:pt x="6366" y="0"/>
                  </a:moveTo>
                  <a:lnTo>
                    <a:pt x="15" y="2162"/>
                  </a:lnTo>
                  <a:lnTo>
                    <a:pt x="9987" y="9811"/>
                  </a:lnTo>
                  <a:lnTo>
                    <a:pt x="0" y="12733"/>
                  </a:lnTo>
                  <a:lnTo>
                    <a:pt x="12126" y="20150"/>
                  </a:lnTo>
                  <a:lnTo>
                    <a:pt x="19276" y="21600"/>
                  </a:lnTo>
                  <a:lnTo>
                    <a:pt x="21600" y="16009"/>
                  </a:lnTo>
                  <a:lnTo>
                    <a:pt x="14089" y="12940"/>
                  </a:lnTo>
                  <a:lnTo>
                    <a:pt x="16973" y="9329"/>
                  </a:lnTo>
                  <a:lnTo>
                    <a:pt x="16973" y="1873"/>
                  </a:lnTo>
                  <a:lnTo>
                    <a:pt x="6366"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73" name="熊大的PPT宝库1-20"/>
            <p:cNvSpPr/>
            <p:nvPr/>
          </p:nvSpPr>
          <p:spPr>
            <a:xfrm>
              <a:off x="3172554" y="9245947"/>
              <a:ext cx="33856" cy="34429"/>
            </a:xfrm>
            <a:custGeom>
              <a:avLst/>
              <a:gdLst/>
              <a:ahLst/>
              <a:cxnLst>
                <a:cxn ang="0">
                  <a:pos x="wd2" y="hd2"/>
                </a:cxn>
                <a:cxn ang="5400000">
                  <a:pos x="wd2" y="hd2"/>
                </a:cxn>
                <a:cxn ang="10800000">
                  <a:pos x="wd2" y="hd2"/>
                </a:cxn>
                <a:cxn ang="16200000">
                  <a:pos x="wd2" y="hd2"/>
                </a:cxn>
              </a:cxnLst>
              <a:rect l="0" t="0" r="r" b="b"/>
              <a:pathLst>
                <a:path w="21600" h="21600" extrusionOk="0">
                  <a:moveTo>
                    <a:pt x="2939" y="3032"/>
                  </a:moveTo>
                  <a:lnTo>
                    <a:pt x="13971" y="0"/>
                  </a:lnTo>
                  <a:lnTo>
                    <a:pt x="21600" y="3050"/>
                  </a:lnTo>
                  <a:lnTo>
                    <a:pt x="17401" y="7736"/>
                  </a:lnTo>
                  <a:lnTo>
                    <a:pt x="11620" y="11520"/>
                  </a:lnTo>
                  <a:lnTo>
                    <a:pt x="10649" y="17817"/>
                  </a:lnTo>
                  <a:lnTo>
                    <a:pt x="3854" y="21600"/>
                  </a:lnTo>
                  <a:lnTo>
                    <a:pt x="0" y="19243"/>
                  </a:lnTo>
                  <a:lnTo>
                    <a:pt x="2779" y="14669"/>
                  </a:lnTo>
                  <a:lnTo>
                    <a:pt x="6081" y="9182"/>
                  </a:lnTo>
                  <a:lnTo>
                    <a:pt x="2939" y="3032"/>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74" name="熊大的PPT宝库1-21"/>
            <p:cNvSpPr/>
            <p:nvPr/>
          </p:nvSpPr>
          <p:spPr>
            <a:xfrm>
              <a:off x="3218404" y="9247525"/>
              <a:ext cx="25228" cy="36298"/>
            </a:xfrm>
            <a:custGeom>
              <a:avLst/>
              <a:gdLst/>
              <a:ahLst/>
              <a:cxnLst>
                <a:cxn ang="0">
                  <a:pos x="wd2" y="hd2"/>
                </a:cxn>
                <a:cxn ang="5400000">
                  <a:pos x="wd2" y="hd2"/>
                </a:cxn>
                <a:cxn ang="10800000">
                  <a:pos x="wd2" y="hd2"/>
                </a:cxn>
                <a:cxn ang="16200000">
                  <a:pos x="wd2" y="hd2"/>
                </a:cxn>
              </a:cxnLst>
              <a:rect l="0" t="0" r="r" b="b"/>
              <a:pathLst>
                <a:path w="21600" h="21600" extrusionOk="0">
                  <a:moveTo>
                    <a:pt x="9070" y="0"/>
                  </a:moveTo>
                  <a:lnTo>
                    <a:pt x="14242" y="3737"/>
                  </a:lnTo>
                  <a:lnTo>
                    <a:pt x="21600" y="9259"/>
                  </a:lnTo>
                  <a:lnTo>
                    <a:pt x="18987" y="16321"/>
                  </a:lnTo>
                  <a:lnTo>
                    <a:pt x="8344" y="21600"/>
                  </a:lnTo>
                  <a:lnTo>
                    <a:pt x="5690" y="16490"/>
                  </a:lnTo>
                  <a:lnTo>
                    <a:pt x="2563" y="11082"/>
                  </a:lnTo>
                  <a:lnTo>
                    <a:pt x="0" y="2684"/>
                  </a:lnTo>
                  <a:lnTo>
                    <a:pt x="9070"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75" name="熊大的PPT宝库1-22"/>
            <p:cNvSpPr/>
            <p:nvPr/>
          </p:nvSpPr>
          <p:spPr>
            <a:xfrm>
              <a:off x="3194789" y="9288412"/>
              <a:ext cx="28911" cy="16360"/>
            </a:xfrm>
            <a:custGeom>
              <a:avLst/>
              <a:gdLst/>
              <a:ahLst/>
              <a:cxnLst>
                <a:cxn ang="0">
                  <a:pos x="wd2" y="hd2"/>
                </a:cxn>
                <a:cxn ang="5400000">
                  <a:pos x="wd2" y="hd2"/>
                </a:cxn>
                <a:cxn ang="10800000">
                  <a:pos x="wd2" y="hd2"/>
                </a:cxn>
                <a:cxn ang="16200000">
                  <a:pos x="wd2" y="hd2"/>
                </a:cxn>
              </a:cxnLst>
              <a:rect l="0" t="0" r="r" b="b"/>
              <a:pathLst>
                <a:path w="21600" h="21600" extrusionOk="0">
                  <a:moveTo>
                    <a:pt x="6041" y="0"/>
                  </a:moveTo>
                  <a:lnTo>
                    <a:pt x="13043" y="2762"/>
                  </a:lnTo>
                  <a:lnTo>
                    <a:pt x="21600" y="12283"/>
                  </a:lnTo>
                  <a:lnTo>
                    <a:pt x="16470" y="21600"/>
                  </a:lnTo>
                  <a:lnTo>
                    <a:pt x="5285" y="18232"/>
                  </a:lnTo>
                  <a:lnTo>
                    <a:pt x="0" y="10410"/>
                  </a:lnTo>
                  <a:lnTo>
                    <a:pt x="6041"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76" name="熊大的PPT宝库1-23"/>
            <p:cNvSpPr/>
            <p:nvPr/>
          </p:nvSpPr>
          <p:spPr>
            <a:xfrm>
              <a:off x="3264654" y="9338234"/>
              <a:ext cx="16360" cy="24826"/>
            </a:xfrm>
            <a:custGeom>
              <a:avLst/>
              <a:gdLst/>
              <a:ahLst/>
              <a:cxnLst>
                <a:cxn ang="0">
                  <a:pos x="wd2" y="hd2"/>
                </a:cxn>
                <a:cxn ang="5400000">
                  <a:pos x="wd2" y="hd2"/>
                </a:cxn>
                <a:cxn ang="10800000">
                  <a:pos x="wd2" y="hd2"/>
                </a:cxn>
                <a:cxn ang="16200000">
                  <a:pos x="wd2" y="hd2"/>
                </a:cxn>
              </a:cxnLst>
              <a:rect l="0" t="0" r="r" b="b"/>
              <a:pathLst>
                <a:path w="21600" h="21600" extrusionOk="0">
                  <a:moveTo>
                    <a:pt x="11704" y="0"/>
                  </a:moveTo>
                  <a:lnTo>
                    <a:pt x="0" y="5659"/>
                  </a:lnTo>
                  <a:lnTo>
                    <a:pt x="2963" y="18412"/>
                  </a:lnTo>
                  <a:lnTo>
                    <a:pt x="21600" y="21600"/>
                  </a:lnTo>
                  <a:lnTo>
                    <a:pt x="21600" y="6494"/>
                  </a:lnTo>
                  <a:lnTo>
                    <a:pt x="11704"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77" name="熊大的PPT宝库1-24"/>
            <p:cNvSpPr/>
            <p:nvPr/>
          </p:nvSpPr>
          <p:spPr>
            <a:xfrm>
              <a:off x="3268991" y="9377847"/>
              <a:ext cx="25012" cy="16370"/>
            </a:xfrm>
            <a:custGeom>
              <a:avLst/>
              <a:gdLst/>
              <a:ahLst/>
              <a:cxnLst>
                <a:cxn ang="0">
                  <a:pos x="wd2" y="hd2"/>
                </a:cxn>
                <a:cxn ang="5400000">
                  <a:pos x="wd2" y="hd2"/>
                </a:cxn>
                <a:cxn ang="10800000">
                  <a:pos x="wd2" y="hd2"/>
                </a:cxn>
                <a:cxn ang="16200000">
                  <a:pos x="wd2" y="hd2"/>
                </a:cxn>
              </a:cxnLst>
              <a:rect l="0" t="0" r="r" b="b"/>
              <a:pathLst>
                <a:path w="21600" h="21600" extrusionOk="0">
                  <a:moveTo>
                    <a:pt x="17341" y="1756"/>
                  </a:moveTo>
                  <a:lnTo>
                    <a:pt x="5869" y="0"/>
                  </a:lnTo>
                  <a:lnTo>
                    <a:pt x="0" y="5101"/>
                  </a:lnTo>
                  <a:lnTo>
                    <a:pt x="11023" y="21600"/>
                  </a:lnTo>
                  <a:lnTo>
                    <a:pt x="21600" y="19642"/>
                  </a:lnTo>
                  <a:lnTo>
                    <a:pt x="17341" y="1756"/>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78" name="熊大的PPT宝库1-25"/>
            <p:cNvSpPr/>
            <p:nvPr/>
          </p:nvSpPr>
          <p:spPr>
            <a:xfrm>
              <a:off x="3020215" y="9513076"/>
              <a:ext cx="31691" cy="21151"/>
            </a:xfrm>
            <a:custGeom>
              <a:avLst/>
              <a:gdLst/>
              <a:ahLst/>
              <a:cxnLst>
                <a:cxn ang="0">
                  <a:pos x="wd2" y="hd2"/>
                </a:cxn>
                <a:cxn ang="5400000">
                  <a:pos x="wd2" y="hd2"/>
                </a:cxn>
                <a:cxn ang="10800000">
                  <a:pos x="wd2" y="hd2"/>
                </a:cxn>
                <a:cxn ang="16200000">
                  <a:pos x="wd2" y="hd2"/>
                </a:cxn>
              </a:cxnLst>
              <a:rect l="0" t="0" r="r" b="b"/>
              <a:pathLst>
                <a:path w="21600" h="21600" extrusionOk="0">
                  <a:moveTo>
                    <a:pt x="3640" y="1640"/>
                  </a:moveTo>
                  <a:lnTo>
                    <a:pt x="0" y="7796"/>
                  </a:lnTo>
                  <a:lnTo>
                    <a:pt x="2602" y="18763"/>
                  </a:lnTo>
                  <a:lnTo>
                    <a:pt x="14365" y="21600"/>
                  </a:lnTo>
                  <a:lnTo>
                    <a:pt x="21600" y="10799"/>
                  </a:lnTo>
                  <a:lnTo>
                    <a:pt x="12284" y="0"/>
                  </a:lnTo>
                  <a:lnTo>
                    <a:pt x="3640" y="164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79" name="熊大的PPT宝库1-26"/>
            <p:cNvSpPr/>
            <p:nvPr/>
          </p:nvSpPr>
          <p:spPr>
            <a:xfrm>
              <a:off x="3579104" y="9548169"/>
              <a:ext cx="33620" cy="20352"/>
            </a:xfrm>
            <a:custGeom>
              <a:avLst/>
              <a:gdLst/>
              <a:ahLst/>
              <a:cxnLst>
                <a:cxn ang="0">
                  <a:pos x="wd2" y="hd2"/>
                </a:cxn>
                <a:cxn ang="5400000">
                  <a:pos x="wd2" y="hd2"/>
                </a:cxn>
                <a:cxn ang="10800000">
                  <a:pos x="wd2" y="hd2"/>
                </a:cxn>
                <a:cxn ang="16200000">
                  <a:pos x="wd2" y="hd2"/>
                </a:cxn>
              </a:cxnLst>
              <a:rect l="0" t="0" r="r" b="b"/>
              <a:pathLst>
                <a:path w="21600" h="21600" extrusionOk="0">
                  <a:moveTo>
                    <a:pt x="13908" y="0"/>
                  </a:moveTo>
                  <a:lnTo>
                    <a:pt x="4923" y="5629"/>
                  </a:lnTo>
                  <a:lnTo>
                    <a:pt x="0" y="15233"/>
                  </a:lnTo>
                  <a:lnTo>
                    <a:pt x="11838" y="21600"/>
                  </a:lnTo>
                  <a:lnTo>
                    <a:pt x="21600" y="13561"/>
                  </a:lnTo>
                  <a:lnTo>
                    <a:pt x="13908"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80" name="熊大的PPT宝库1-27"/>
            <p:cNvSpPr/>
            <p:nvPr/>
          </p:nvSpPr>
          <p:spPr>
            <a:xfrm>
              <a:off x="3566478" y="9579736"/>
              <a:ext cx="28455" cy="19036"/>
            </a:xfrm>
            <a:custGeom>
              <a:avLst/>
              <a:gdLst/>
              <a:ahLst/>
              <a:cxnLst>
                <a:cxn ang="0">
                  <a:pos x="wd2" y="hd2"/>
                </a:cxn>
                <a:cxn ang="5400000">
                  <a:pos x="wd2" y="hd2"/>
                </a:cxn>
                <a:cxn ang="10800000">
                  <a:pos x="wd2" y="hd2"/>
                </a:cxn>
                <a:cxn ang="16200000">
                  <a:pos x="wd2" y="hd2"/>
                </a:cxn>
              </a:cxnLst>
              <a:rect l="0" t="0" r="r" b="b"/>
              <a:pathLst>
                <a:path w="21600" h="21600" extrusionOk="0">
                  <a:moveTo>
                    <a:pt x="9631" y="0"/>
                  </a:moveTo>
                  <a:lnTo>
                    <a:pt x="0" y="4044"/>
                  </a:lnTo>
                  <a:lnTo>
                    <a:pt x="1813" y="14722"/>
                  </a:lnTo>
                  <a:lnTo>
                    <a:pt x="18125" y="21600"/>
                  </a:lnTo>
                  <a:lnTo>
                    <a:pt x="21600" y="6160"/>
                  </a:lnTo>
                  <a:lnTo>
                    <a:pt x="9631"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81" name="熊大的PPT宝库1-28"/>
            <p:cNvSpPr/>
            <p:nvPr/>
          </p:nvSpPr>
          <p:spPr>
            <a:xfrm>
              <a:off x="3628158" y="9601858"/>
              <a:ext cx="35832" cy="22889"/>
            </a:xfrm>
            <a:custGeom>
              <a:avLst/>
              <a:gdLst/>
              <a:ahLst/>
              <a:cxnLst>
                <a:cxn ang="0">
                  <a:pos x="wd2" y="hd2"/>
                </a:cxn>
                <a:cxn ang="5400000">
                  <a:pos x="wd2" y="hd2"/>
                </a:cxn>
                <a:cxn ang="10800000">
                  <a:pos x="wd2" y="hd2"/>
                </a:cxn>
                <a:cxn ang="16200000">
                  <a:pos x="wd2" y="hd2"/>
                </a:cxn>
              </a:cxnLst>
              <a:rect l="0" t="0" r="r" b="b"/>
              <a:pathLst>
                <a:path w="21600" h="21600" extrusionOk="0">
                  <a:moveTo>
                    <a:pt x="11523" y="6376"/>
                  </a:moveTo>
                  <a:lnTo>
                    <a:pt x="4204" y="0"/>
                  </a:lnTo>
                  <a:lnTo>
                    <a:pt x="0" y="8047"/>
                  </a:lnTo>
                  <a:lnTo>
                    <a:pt x="10142" y="21600"/>
                  </a:lnTo>
                  <a:lnTo>
                    <a:pt x="18861" y="21123"/>
                  </a:lnTo>
                  <a:lnTo>
                    <a:pt x="21600" y="13528"/>
                  </a:lnTo>
                  <a:lnTo>
                    <a:pt x="16408" y="10012"/>
                  </a:lnTo>
                  <a:lnTo>
                    <a:pt x="11523" y="6376"/>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82" name="熊大的PPT宝库1-29"/>
            <p:cNvSpPr/>
            <p:nvPr/>
          </p:nvSpPr>
          <p:spPr>
            <a:xfrm>
              <a:off x="3669077" y="9584213"/>
              <a:ext cx="22284" cy="23522"/>
            </a:xfrm>
            <a:custGeom>
              <a:avLst/>
              <a:gdLst/>
              <a:ahLst/>
              <a:cxnLst>
                <a:cxn ang="0">
                  <a:pos x="wd2" y="hd2"/>
                </a:cxn>
                <a:cxn ang="5400000">
                  <a:pos x="wd2" y="hd2"/>
                </a:cxn>
                <a:cxn ang="10800000">
                  <a:pos x="wd2" y="hd2"/>
                </a:cxn>
                <a:cxn ang="16200000">
                  <a:pos x="wd2" y="hd2"/>
                </a:cxn>
              </a:cxnLst>
              <a:rect l="0" t="0" r="r" b="b"/>
              <a:pathLst>
                <a:path w="21600" h="21600" extrusionOk="0">
                  <a:moveTo>
                    <a:pt x="6626" y="0"/>
                  </a:moveTo>
                  <a:lnTo>
                    <a:pt x="20027" y="3450"/>
                  </a:lnTo>
                  <a:lnTo>
                    <a:pt x="21600" y="15366"/>
                  </a:lnTo>
                  <a:lnTo>
                    <a:pt x="15221" y="21600"/>
                  </a:lnTo>
                  <a:lnTo>
                    <a:pt x="10567" y="15424"/>
                  </a:lnTo>
                  <a:lnTo>
                    <a:pt x="0" y="9425"/>
                  </a:lnTo>
                  <a:lnTo>
                    <a:pt x="6626"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83" name="熊大的PPT宝库1-30"/>
            <p:cNvSpPr/>
            <p:nvPr/>
          </p:nvSpPr>
          <p:spPr>
            <a:xfrm>
              <a:off x="3621644" y="9555125"/>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4009"/>
                  </a:lnTo>
                  <a:lnTo>
                    <a:pt x="4094" y="21600"/>
                  </a:lnTo>
                  <a:lnTo>
                    <a:pt x="19333" y="19457"/>
                  </a:lnTo>
                  <a:lnTo>
                    <a:pt x="21600"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84" name="熊大的PPT宝库1-31"/>
            <p:cNvSpPr/>
            <p:nvPr/>
          </p:nvSpPr>
          <p:spPr>
            <a:xfrm>
              <a:off x="3706166" y="9586324"/>
              <a:ext cx="25215" cy="23805"/>
            </a:xfrm>
            <a:custGeom>
              <a:avLst/>
              <a:gdLst/>
              <a:ahLst/>
              <a:cxnLst>
                <a:cxn ang="0">
                  <a:pos x="wd2" y="hd2"/>
                </a:cxn>
                <a:cxn ang="5400000">
                  <a:pos x="wd2" y="hd2"/>
                </a:cxn>
                <a:cxn ang="10800000">
                  <a:pos x="wd2" y="hd2"/>
                </a:cxn>
                <a:cxn ang="16200000">
                  <a:pos x="wd2" y="hd2"/>
                </a:cxn>
              </a:cxnLst>
              <a:rect l="0" t="0" r="r" b="b"/>
              <a:pathLst>
                <a:path w="21600" h="21600" extrusionOk="0">
                  <a:moveTo>
                    <a:pt x="4658" y="0"/>
                  </a:moveTo>
                  <a:lnTo>
                    <a:pt x="0" y="6332"/>
                  </a:lnTo>
                  <a:lnTo>
                    <a:pt x="2862" y="20225"/>
                  </a:lnTo>
                  <a:lnTo>
                    <a:pt x="16398" y="21600"/>
                  </a:lnTo>
                  <a:lnTo>
                    <a:pt x="21600" y="13406"/>
                  </a:lnTo>
                  <a:lnTo>
                    <a:pt x="12259" y="9052"/>
                  </a:lnTo>
                  <a:lnTo>
                    <a:pt x="4658"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85" name="熊大的PPT宝库1-32"/>
            <p:cNvSpPr/>
            <p:nvPr/>
          </p:nvSpPr>
          <p:spPr>
            <a:xfrm>
              <a:off x="3679383" y="9624818"/>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12399" y="0"/>
                  </a:moveTo>
                  <a:lnTo>
                    <a:pt x="0" y="5671"/>
                  </a:lnTo>
                  <a:lnTo>
                    <a:pt x="2675" y="21600"/>
                  </a:lnTo>
                  <a:lnTo>
                    <a:pt x="21600" y="16063"/>
                  </a:lnTo>
                  <a:lnTo>
                    <a:pt x="12399"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86" name="熊大的PPT宝库1-33"/>
            <p:cNvSpPr/>
            <p:nvPr/>
          </p:nvSpPr>
          <p:spPr>
            <a:xfrm>
              <a:off x="3709673" y="9626578"/>
              <a:ext cx="20827" cy="33622"/>
            </a:xfrm>
            <a:custGeom>
              <a:avLst/>
              <a:gdLst/>
              <a:ahLst/>
              <a:cxnLst>
                <a:cxn ang="0">
                  <a:pos x="wd2" y="hd2"/>
                </a:cxn>
                <a:cxn ang="5400000">
                  <a:pos x="wd2" y="hd2"/>
                </a:cxn>
                <a:cxn ang="10800000">
                  <a:pos x="wd2" y="hd2"/>
                </a:cxn>
                <a:cxn ang="16200000">
                  <a:pos x="wd2" y="hd2"/>
                </a:cxn>
              </a:cxnLst>
              <a:rect l="0" t="0" r="r" b="b"/>
              <a:pathLst>
                <a:path w="21600" h="21600" extrusionOk="0">
                  <a:moveTo>
                    <a:pt x="5991" y="1945"/>
                  </a:moveTo>
                  <a:lnTo>
                    <a:pt x="1244" y="7766"/>
                  </a:lnTo>
                  <a:lnTo>
                    <a:pt x="0" y="16103"/>
                  </a:lnTo>
                  <a:lnTo>
                    <a:pt x="7919" y="21600"/>
                  </a:lnTo>
                  <a:lnTo>
                    <a:pt x="15566" y="13365"/>
                  </a:lnTo>
                  <a:lnTo>
                    <a:pt x="21600" y="6755"/>
                  </a:lnTo>
                  <a:lnTo>
                    <a:pt x="18962" y="0"/>
                  </a:lnTo>
                  <a:lnTo>
                    <a:pt x="5991" y="1945"/>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87" name="熊大的PPT宝库1-34"/>
            <p:cNvSpPr/>
            <p:nvPr/>
          </p:nvSpPr>
          <p:spPr>
            <a:xfrm>
              <a:off x="3721297" y="9665710"/>
              <a:ext cx="18556" cy="17467"/>
            </a:xfrm>
            <a:custGeom>
              <a:avLst/>
              <a:gdLst/>
              <a:ahLst/>
              <a:cxnLst>
                <a:cxn ang="0">
                  <a:pos x="wd2" y="hd2"/>
                </a:cxn>
                <a:cxn ang="5400000">
                  <a:pos x="wd2" y="hd2"/>
                </a:cxn>
                <a:cxn ang="10800000">
                  <a:pos x="wd2" y="hd2"/>
                </a:cxn>
                <a:cxn ang="16200000">
                  <a:pos x="wd2" y="hd2"/>
                </a:cxn>
              </a:cxnLst>
              <a:rect l="0" t="0" r="r" b="b"/>
              <a:pathLst>
                <a:path w="21600" h="21600" extrusionOk="0">
                  <a:moveTo>
                    <a:pt x="14469" y="0"/>
                  </a:moveTo>
                  <a:lnTo>
                    <a:pt x="4293" y="1913"/>
                  </a:lnTo>
                  <a:lnTo>
                    <a:pt x="0" y="13206"/>
                  </a:lnTo>
                  <a:lnTo>
                    <a:pt x="8574" y="21600"/>
                  </a:lnTo>
                  <a:lnTo>
                    <a:pt x="21600" y="15041"/>
                  </a:lnTo>
                  <a:lnTo>
                    <a:pt x="14469"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88" name="熊大的PPT宝库1-35"/>
            <p:cNvSpPr/>
            <p:nvPr/>
          </p:nvSpPr>
          <p:spPr>
            <a:xfrm>
              <a:off x="3436580" y="9765107"/>
              <a:ext cx="24821" cy="34310"/>
            </a:xfrm>
            <a:custGeom>
              <a:avLst/>
              <a:gdLst/>
              <a:ahLst/>
              <a:cxnLst>
                <a:cxn ang="0">
                  <a:pos x="wd2" y="hd2"/>
                </a:cxn>
                <a:cxn ang="5400000">
                  <a:pos x="wd2" y="hd2"/>
                </a:cxn>
                <a:cxn ang="10800000">
                  <a:pos x="wd2" y="hd2"/>
                </a:cxn>
                <a:cxn ang="16200000">
                  <a:pos x="wd2" y="hd2"/>
                </a:cxn>
              </a:cxnLst>
              <a:rect l="0" t="0" r="r" b="b"/>
              <a:pathLst>
                <a:path w="21600" h="21600" extrusionOk="0">
                  <a:moveTo>
                    <a:pt x="5948" y="0"/>
                  </a:moveTo>
                  <a:lnTo>
                    <a:pt x="0" y="7133"/>
                  </a:lnTo>
                  <a:lnTo>
                    <a:pt x="2568" y="12598"/>
                  </a:lnTo>
                  <a:lnTo>
                    <a:pt x="10534" y="21600"/>
                  </a:lnTo>
                  <a:lnTo>
                    <a:pt x="21600" y="16991"/>
                  </a:lnTo>
                  <a:lnTo>
                    <a:pt x="13411" y="4789"/>
                  </a:lnTo>
                  <a:lnTo>
                    <a:pt x="5948"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89" name="熊大的PPT宝库1-36"/>
            <p:cNvSpPr/>
            <p:nvPr/>
          </p:nvSpPr>
          <p:spPr>
            <a:xfrm>
              <a:off x="3398599" y="9763120"/>
              <a:ext cx="17550" cy="29518"/>
            </a:xfrm>
            <a:custGeom>
              <a:avLst/>
              <a:gdLst/>
              <a:ahLst/>
              <a:cxnLst>
                <a:cxn ang="0">
                  <a:pos x="wd2" y="hd2"/>
                </a:cxn>
                <a:cxn ang="5400000">
                  <a:pos x="wd2" y="hd2"/>
                </a:cxn>
                <a:cxn ang="10800000">
                  <a:pos x="wd2" y="hd2"/>
                </a:cxn>
                <a:cxn ang="16200000">
                  <a:pos x="wd2" y="hd2"/>
                </a:cxn>
              </a:cxnLst>
              <a:rect l="0" t="0" r="r" b="b"/>
              <a:pathLst>
                <a:path w="21600" h="21600" extrusionOk="0">
                  <a:moveTo>
                    <a:pt x="2385" y="0"/>
                  </a:moveTo>
                  <a:lnTo>
                    <a:pt x="0" y="5129"/>
                  </a:lnTo>
                  <a:lnTo>
                    <a:pt x="434" y="19428"/>
                  </a:lnTo>
                  <a:lnTo>
                    <a:pt x="19135" y="21600"/>
                  </a:lnTo>
                  <a:lnTo>
                    <a:pt x="21600" y="14762"/>
                  </a:lnTo>
                  <a:lnTo>
                    <a:pt x="16043" y="5916"/>
                  </a:lnTo>
                  <a:lnTo>
                    <a:pt x="2385"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90" name="熊大的PPT宝库1-37"/>
            <p:cNvSpPr/>
            <p:nvPr/>
          </p:nvSpPr>
          <p:spPr>
            <a:xfrm>
              <a:off x="3734107" y="9697282"/>
              <a:ext cx="20061" cy="18682"/>
            </a:xfrm>
            <a:custGeom>
              <a:avLst/>
              <a:gdLst/>
              <a:ahLst/>
              <a:cxnLst>
                <a:cxn ang="0">
                  <a:pos x="wd2" y="hd2"/>
                </a:cxn>
                <a:cxn ang="5400000">
                  <a:pos x="wd2" y="hd2"/>
                </a:cxn>
                <a:cxn ang="10800000">
                  <a:pos x="wd2" y="hd2"/>
                </a:cxn>
                <a:cxn ang="16200000">
                  <a:pos x="wd2" y="hd2"/>
                </a:cxn>
              </a:cxnLst>
              <a:rect l="0" t="0" r="r" b="b"/>
              <a:pathLst>
                <a:path w="21600" h="21600" extrusionOk="0">
                  <a:moveTo>
                    <a:pt x="8114" y="0"/>
                  </a:moveTo>
                  <a:lnTo>
                    <a:pt x="0" y="7264"/>
                  </a:lnTo>
                  <a:lnTo>
                    <a:pt x="3469" y="21600"/>
                  </a:lnTo>
                  <a:lnTo>
                    <a:pt x="16705" y="21600"/>
                  </a:lnTo>
                  <a:lnTo>
                    <a:pt x="21600" y="6746"/>
                  </a:lnTo>
                  <a:lnTo>
                    <a:pt x="8114"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91" name="熊大的PPT宝库1-38"/>
            <p:cNvSpPr/>
            <p:nvPr/>
          </p:nvSpPr>
          <p:spPr>
            <a:xfrm>
              <a:off x="3712027" y="9727236"/>
              <a:ext cx="16360" cy="23674"/>
            </a:xfrm>
            <a:custGeom>
              <a:avLst/>
              <a:gdLst/>
              <a:ahLst/>
              <a:cxnLst>
                <a:cxn ang="0">
                  <a:pos x="wd2" y="hd2"/>
                </a:cxn>
                <a:cxn ang="5400000">
                  <a:pos x="wd2" y="hd2"/>
                </a:cxn>
                <a:cxn ang="10800000">
                  <a:pos x="wd2" y="hd2"/>
                </a:cxn>
                <a:cxn ang="16200000">
                  <a:pos x="wd2" y="hd2"/>
                </a:cxn>
              </a:cxnLst>
              <a:rect l="0" t="0" r="r" b="b"/>
              <a:pathLst>
                <a:path w="21600" h="21600" extrusionOk="0">
                  <a:moveTo>
                    <a:pt x="7562" y="0"/>
                  </a:moveTo>
                  <a:lnTo>
                    <a:pt x="0" y="10629"/>
                  </a:lnTo>
                  <a:lnTo>
                    <a:pt x="15829" y="21600"/>
                  </a:lnTo>
                  <a:lnTo>
                    <a:pt x="21600" y="10397"/>
                  </a:lnTo>
                  <a:lnTo>
                    <a:pt x="7562"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92" name="熊大的PPT宝库1-39"/>
            <p:cNvSpPr/>
            <p:nvPr/>
          </p:nvSpPr>
          <p:spPr>
            <a:xfrm>
              <a:off x="3698064" y="9757510"/>
              <a:ext cx="16360" cy="18373"/>
            </a:xfrm>
            <a:custGeom>
              <a:avLst/>
              <a:gdLst/>
              <a:ahLst/>
              <a:cxnLst>
                <a:cxn ang="0">
                  <a:pos x="wd2" y="hd2"/>
                </a:cxn>
                <a:cxn ang="5400000">
                  <a:pos x="wd2" y="hd2"/>
                </a:cxn>
                <a:cxn ang="10800000">
                  <a:pos x="wd2" y="hd2"/>
                </a:cxn>
                <a:cxn ang="16200000">
                  <a:pos x="wd2" y="hd2"/>
                </a:cxn>
              </a:cxnLst>
              <a:rect l="0" t="0" r="r" b="b"/>
              <a:pathLst>
                <a:path w="21600" h="21600" extrusionOk="0">
                  <a:moveTo>
                    <a:pt x="5327" y="736"/>
                  </a:moveTo>
                  <a:lnTo>
                    <a:pt x="0" y="9568"/>
                  </a:lnTo>
                  <a:lnTo>
                    <a:pt x="5961" y="21600"/>
                  </a:lnTo>
                  <a:lnTo>
                    <a:pt x="20526" y="21266"/>
                  </a:lnTo>
                  <a:lnTo>
                    <a:pt x="21600" y="0"/>
                  </a:lnTo>
                  <a:lnTo>
                    <a:pt x="5327" y="736"/>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93" name="熊大的PPT宝库1-40"/>
            <p:cNvSpPr/>
            <p:nvPr/>
          </p:nvSpPr>
          <p:spPr>
            <a:xfrm>
              <a:off x="3677923" y="9792638"/>
              <a:ext cx="16360" cy="22038"/>
            </a:xfrm>
            <a:custGeom>
              <a:avLst/>
              <a:gdLst/>
              <a:ahLst/>
              <a:cxnLst>
                <a:cxn ang="0">
                  <a:pos x="wd2" y="hd2"/>
                </a:cxn>
                <a:cxn ang="5400000">
                  <a:pos x="wd2" y="hd2"/>
                </a:cxn>
                <a:cxn ang="10800000">
                  <a:pos x="wd2" y="hd2"/>
                </a:cxn>
                <a:cxn ang="16200000">
                  <a:pos x="wd2" y="hd2"/>
                </a:cxn>
              </a:cxnLst>
              <a:rect l="0" t="0" r="r" b="b"/>
              <a:pathLst>
                <a:path w="21600" h="21600" extrusionOk="0">
                  <a:moveTo>
                    <a:pt x="11127" y="0"/>
                  </a:moveTo>
                  <a:lnTo>
                    <a:pt x="0" y="9654"/>
                  </a:lnTo>
                  <a:lnTo>
                    <a:pt x="3308" y="20145"/>
                  </a:lnTo>
                  <a:lnTo>
                    <a:pt x="16235" y="21600"/>
                  </a:lnTo>
                  <a:lnTo>
                    <a:pt x="21600" y="6811"/>
                  </a:lnTo>
                  <a:lnTo>
                    <a:pt x="11127"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94" name="熊大的PPT宝库1-41"/>
            <p:cNvSpPr/>
            <p:nvPr/>
          </p:nvSpPr>
          <p:spPr>
            <a:xfrm>
              <a:off x="3664496" y="9843264"/>
              <a:ext cx="39165" cy="38527"/>
            </a:xfrm>
            <a:custGeom>
              <a:avLst/>
              <a:gdLst/>
              <a:ahLst/>
              <a:cxnLst>
                <a:cxn ang="0">
                  <a:pos x="wd2" y="hd2"/>
                </a:cxn>
                <a:cxn ang="5400000">
                  <a:pos x="wd2" y="hd2"/>
                </a:cxn>
                <a:cxn ang="10800000">
                  <a:pos x="wd2" y="hd2"/>
                </a:cxn>
                <a:cxn ang="16200000">
                  <a:pos x="wd2" y="hd2"/>
                </a:cxn>
              </a:cxnLst>
              <a:rect l="0" t="0" r="r" b="b"/>
              <a:pathLst>
                <a:path w="21600" h="21600" extrusionOk="0">
                  <a:moveTo>
                    <a:pt x="14904" y="867"/>
                  </a:moveTo>
                  <a:lnTo>
                    <a:pt x="8331" y="0"/>
                  </a:lnTo>
                  <a:lnTo>
                    <a:pt x="2816" y="2733"/>
                  </a:lnTo>
                  <a:lnTo>
                    <a:pt x="6666" y="6397"/>
                  </a:lnTo>
                  <a:lnTo>
                    <a:pt x="2928" y="11440"/>
                  </a:lnTo>
                  <a:lnTo>
                    <a:pt x="0" y="16520"/>
                  </a:lnTo>
                  <a:lnTo>
                    <a:pt x="4665" y="21600"/>
                  </a:lnTo>
                  <a:lnTo>
                    <a:pt x="15744" y="21600"/>
                  </a:lnTo>
                  <a:lnTo>
                    <a:pt x="16989" y="14679"/>
                  </a:lnTo>
                  <a:lnTo>
                    <a:pt x="17830" y="9194"/>
                  </a:lnTo>
                  <a:lnTo>
                    <a:pt x="21600" y="3831"/>
                  </a:lnTo>
                  <a:lnTo>
                    <a:pt x="19513" y="592"/>
                  </a:lnTo>
                  <a:lnTo>
                    <a:pt x="14904" y="867"/>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95" name="熊大的PPT宝库1-42"/>
            <p:cNvSpPr/>
            <p:nvPr/>
          </p:nvSpPr>
          <p:spPr>
            <a:xfrm>
              <a:off x="3776525" y="9745609"/>
              <a:ext cx="25710" cy="21915"/>
            </a:xfrm>
            <a:custGeom>
              <a:avLst/>
              <a:gdLst/>
              <a:ahLst/>
              <a:cxnLst>
                <a:cxn ang="0">
                  <a:pos x="wd2" y="hd2"/>
                </a:cxn>
                <a:cxn ang="5400000">
                  <a:pos x="wd2" y="hd2"/>
                </a:cxn>
                <a:cxn ang="10800000">
                  <a:pos x="wd2" y="hd2"/>
                </a:cxn>
                <a:cxn ang="16200000">
                  <a:pos x="wd2" y="hd2"/>
                </a:cxn>
              </a:cxnLst>
              <a:rect l="0" t="0" r="r" b="b"/>
              <a:pathLst>
                <a:path w="21600" h="21600" extrusionOk="0">
                  <a:moveTo>
                    <a:pt x="6204" y="0"/>
                  </a:moveTo>
                  <a:lnTo>
                    <a:pt x="385" y="10265"/>
                  </a:lnTo>
                  <a:lnTo>
                    <a:pt x="0" y="20853"/>
                  </a:lnTo>
                  <a:lnTo>
                    <a:pt x="13483" y="21600"/>
                  </a:lnTo>
                  <a:lnTo>
                    <a:pt x="21600" y="18646"/>
                  </a:lnTo>
                  <a:lnTo>
                    <a:pt x="9663" y="9934"/>
                  </a:lnTo>
                  <a:lnTo>
                    <a:pt x="6204"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96" name="熊大的PPT宝库1-43"/>
            <p:cNvSpPr/>
            <p:nvPr/>
          </p:nvSpPr>
          <p:spPr>
            <a:xfrm>
              <a:off x="3705425" y="9816895"/>
              <a:ext cx="21475" cy="16360"/>
            </a:xfrm>
            <a:custGeom>
              <a:avLst/>
              <a:gdLst/>
              <a:ahLst/>
              <a:cxnLst>
                <a:cxn ang="0">
                  <a:pos x="wd2" y="hd2"/>
                </a:cxn>
                <a:cxn ang="5400000">
                  <a:pos x="wd2" y="hd2"/>
                </a:cxn>
                <a:cxn ang="10800000">
                  <a:pos x="wd2" y="hd2"/>
                </a:cxn>
                <a:cxn ang="16200000">
                  <a:pos x="wd2" y="hd2"/>
                </a:cxn>
              </a:cxnLst>
              <a:rect l="0" t="0" r="r" b="b"/>
              <a:pathLst>
                <a:path w="21600" h="21600" extrusionOk="0">
                  <a:moveTo>
                    <a:pt x="17020" y="3205"/>
                  </a:moveTo>
                  <a:lnTo>
                    <a:pt x="7333" y="0"/>
                  </a:lnTo>
                  <a:lnTo>
                    <a:pt x="0" y="8914"/>
                  </a:lnTo>
                  <a:lnTo>
                    <a:pt x="4730" y="21600"/>
                  </a:lnTo>
                  <a:lnTo>
                    <a:pt x="21600" y="21600"/>
                  </a:lnTo>
                  <a:lnTo>
                    <a:pt x="17020" y="3205"/>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97" name="熊大的PPT宝库1-44"/>
            <p:cNvSpPr/>
            <p:nvPr/>
          </p:nvSpPr>
          <p:spPr>
            <a:xfrm>
              <a:off x="2060763" y="8398284"/>
              <a:ext cx="83204" cy="74274"/>
            </a:xfrm>
            <a:custGeom>
              <a:avLst/>
              <a:gdLst/>
              <a:ahLst/>
              <a:cxnLst>
                <a:cxn ang="0">
                  <a:pos x="wd2" y="hd2"/>
                </a:cxn>
                <a:cxn ang="5400000">
                  <a:pos x="wd2" y="hd2"/>
                </a:cxn>
                <a:cxn ang="10800000">
                  <a:pos x="wd2" y="hd2"/>
                </a:cxn>
                <a:cxn ang="16200000">
                  <a:pos x="wd2" y="hd2"/>
                </a:cxn>
              </a:cxnLst>
              <a:rect l="0" t="0" r="r" b="b"/>
              <a:pathLst>
                <a:path w="21600" h="21600" extrusionOk="0">
                  <a:moveTo>
                    <a:pt x="6117" y="146"/>
                  </a:moveTo>
                  <a:lnTo>
                    <a:pt x="3502" y="1771"/>
                  </a:lnTo>
                  <a:lnTo>
                    <a:pt x="0" y="2955"/>
                  </a:lnTo>
                  <a:lnTo>
                    <a:pt x="708" y="6398"/>
                  </a:lnTo>
                  <a:lnTo>
                    <a:pt x="4312" y="9886"/>
                  </a:lnTo>
                  <a:lnTo>
                    <a:pt x="5691" y="13614"/>
                  </a:lnTo>
                  <a:lnTo>
                    <a:pt x="8851" y="16257"/>
                  </a:lnTo>
                  <a:lnTo>
                    <a:pt x="10889" y="16698"/>
                  </a:lnTo>
                  <a:lnTo>
                    <a:pt x="13588" y="19994"/>
                  </a:lnTo>
                  <a:lnTo>
                    <a:pt x="16096" y="21600"/>
                  </a:lnTo>
                  <a:lnTo>
                    <a:pt x="19232" y="21600"/>
                  </a:lnTo>
                  <a:lnTo>
                    <a:pt x="21394" y="20279"/>
                  </a:lnTo>
                  <a:lnTo>
                    <a:pt x="21600" y="17056"/>
                  </a:lnTo>
                  <a:lnTo>
                    <a:pt x="19554" y="13017"/>
                  </a:lnTo>
                  <a:lnTo>
                    <a:pt x="19158" y="10006"/>
                  </a:lnTo>
                  <a:lnTo>
                    <a:pt x="17375" y="5389"/>
                  </a:lnTo>
                  <a:lnTo>
                    <a:pt x="14075" y="5389"/>
                  </a:lnTo>
                  <a:lnTo>
                    <a:pt x="11979" y="3782"/>
                  </a:lnTo>
                  <a:lnTo>
                    <a:pt x="10857" y="1891"/>
                  </a:lnTo>
                  <a:lnTo>
                    <a:pt x="8909" y="0"/>
                  </a:lnTo>
                  <a:lnTo>
                    <a:pt x="6117" y="146"/>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98" name="熊大的PPT宝库1-45"/>
            <p:cNvSpPr/>
            <p:nvPr/>
          </p:nvSpPr>
          <p:spPr>
            <a:xfrm>
              <a:off x="2058160" y="8210681"/>
              <a:ext cx="44228" cy="48802"/>
            </a:xfrm>
            <a:custGeom>
              <a:avLst/>
              <a:gdLst/>
              <a:ahLst/>
              <a:cxnLst>
                <a:cxn ang="0">
                  <a:pos x="wd2" y="hd2"/>
                </a:cxn>
                <a:cxn ang="5400000">
                  <a:pos x="wd2" y="hd2"/>
                </a:cxn>
                <a:cxn ang="10800000">
                  <a:pos x="wd2" y="hd2"/>
                </a:cxn>
                <a:cxn ang="16200000">
                  <a:pos x="wd2" y="hd2"/>
                </a:cxn>
              </a:cxnLst>
              <a:rect l="0" t="0" r="r" b="b"/>
              <a:pathLst>
                <a:path w="21600" h="21600" extrusionOk="0">
                  <a:moveTo>
                    <a:pt x="16460" y="0"/>
                  </a:moveTo>
                  <a:lnTo>
                    <a:pt x="9924" y="1900"/>
                  </a:lnTo>
                  <a:lnTo>
                    <a:pt x="4018" y="6719"/>
                  </a:lnTo>
                  <a:lnTo>
                    <a:pt x="0" y="11386"/>
                  </a:lnTo>
                  <a:lnTo>
                    <a:pt x="7069" y="14725"/>
                  </a:lnTo>
                  <a:lnTo>
                    <a:pt x="9537" y="18288"/>
                  </a:lnTo>
                  <a:lnTo>
                    <a:pt x="13341" y="21600"/>
                  </a:lnTo>
                  <a:lnTo>
                    <a:pt x="16742" y="19182"/>
                  </a:lnTo>
                  <a:lnTo>
                    <a:pt x="14522" y="13942"/>
                  </a:lnTo>
                  <a:lnTo>
                    <a:pt x="18621" y="10604"/>
                  </a:lnTo>
                  <a:lnTo>
                    <a:pt x="21600" y="4903"/>
                  </a:lnTo>
                  <a:lnTo>
                    <a:pt x="16460"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299" name="熊大的PPT宝库1-46"/>
            <p:cNvSpPr/>
            <p:nvPr/>
          </p:nvSpPr>
          <p:spPr>
            <a:xfrm>
              <a:off x="2054081" y="8154812"/>
              <a:ext cx="28061" cy="42326"/>
            </a:xfrm>
            <a:custGeom>
              <a:avLst/>
              <a:gdLst/>
              <a:ahLst/>
              <a:cxnLst>
                <a:cxn ang="0">
                  <a:pos x="wd2" y="hd2"/>
                </a:cxn>
                <a:cxn ang="5400000">
                  <a:pos x="wd2" y="hd2"/>
                </a:cxn>
                <a:cxn ang="10800000">
                  <a:pos x="wd2" y="hd2"/>
                </a:cxn>
                <a:cxn ang="16200000">
                  <a:pos x="wd2" y="hd2"/>
                </a:cxn>
              </a:cxnLst>
              <a:rect l="0" t="0" r="r" b="b"/>
              <a:pathLst>
                <a:path w="21600" h="21600" extrusionOk="0">
                  <a:moveTo>
                    <a:pt x="15900" y="0"/>
                  </a:moveTo>
                  <a:lnTo>
                    <a:pt x="5701" y="4155"/>
                  </a:lnTo>
                  <a:lnTo>
                    <a:pt x="0" y="9292"/>
                  </a:lnTo>
                  <a:lnTo>
                    <a:pt x="3627" y="15800"/>
                  </a:lnTo>
                  <a:lnTo>
                    <a:pt x="11688" y="21600"/>
                  </a:lnTo>
                  <a:lnTo>
                    <a:pt x="13818" y="14011"/>
                  </a:lnTo>
                  <a:lnTo>
                    <a:pt x="14405" y="8116"/>
                  </a:lnTo>
                  <a:lnTo>
                    <a:pt x="21600" y="3749"/>
                  </a:lnTo>
                  <a:lnTo>
                    <a:pt x="15900"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00" name="熊大的PPT宝库1-47"/>
            <p:cNvSpPr/>
            <p:nvPr/>
          </p:nvSpPr>
          <p:spPr>
            <a:xfrm>
              <a:off x="2091011" y="8174763"/>
              <a:ext cx="16360" cy="18569"/>
            </a:xfrm>
            <a:custGeom>
              <a:avLst/>
              <a:gdLst/>
              <a:ahLst/>
              <a:cxnLst>
                <a:cxn ang="0">
                  <a:pos x="wd2" y="hd2"/>
                </a:cxn>
                <a:cxn ang="5400000">
                  <a:pos x="wd2" y="hd2"/>
                </a:cxn>
                <a:cxn ang="10800000">
                  <a:pos x="wd2" y="hd2"/>
                </a:cxn>
                <a:cxn ang="16200000">
                  <a:pos x="wd2" y="hd2"/>
                </a:cxn>
              </a:cxnLst>
              <a:rect l="0" t="0" r="r" b="b"/>
              <a:pathLst>
                <a:path w="21600" h="21600" extrusionOk="0">
                  <a:moveTo>
                    <a:pt x="6929" y="0"/>
                  </a:moveTo>
                  <a:lnTo>
                    <a:pt x="0" y="10904"/>
                  </a:lnTo>
                  <a:lnTo>
                    <a:pt x="10299" y="21600"/>
                  </a:lnTo>
                  <a:lnTo>
                    <a:pt x="21600" y="13776"/>
                  </a:lnTo>
                  <a:lnTo>
                    <a:pt x="19395" y="5259"/>
                  </a:lnTo>
                  <a:lnTo>
                    <a:pt x="6929"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01" name="熊大的PPT宝库1-48"/>
            <p:cNvSpPr/>
            <p:nvPr/>
          </p:nvSpPr>
          <p:spPr>
            <a:xfrm>
              <a:off x="1530944" y="8141736"/>
              <a:ext cx="91303" cy="42936"/>
            </a:xfrm>
            <a:custGeom>
              <a:avLst/>
              <a:gdLst/>
              <a:ahLst/>
              <a:cxnLst>
                <a:cxn ang="0">
                  <a:pos x="wd2" y="hd2"/>
                </a:cxn>
                <a:cxn ang="5400000">
                  <a:pos x="wd2" y="hd2"/>
                </a:cxn>
                <a:cxn ang="10800000">
                  <a:pos x="wd2" y="hd2"/>
                </a:cxn>
                <a:cxn ang="16200000">
                  <a:pos x="wd2" y="hd2"/>
                </a:cxn>
              </a:cxnLst>
              <a:rect l="0" t="0" r="r" b="b"/>
              <a:pathLst>
                <a:path w="21600" h="21600" extrusionOk="0">
                  <a:moveTo>
                    <a:pt x="17537" y="2831"/>
                  </a:moveTo>
                  <a:lnTo>
                    <a:pt x="10161" y="8024"/>
                  </a:lnTo>
                  <a:lnTo>
                    <a:pt x="5271" y="9340"/>
                  </a:lnTo>
                  <a:lnTo>
                    <a:pt x="1171" y="14295"/>
                  </a:lnTo>
                  <a:lnTo>
                    <a:pt x="0" y="19330"/>
                  </a:lnTo>
                  <a:lnTo>
                    <a:pt x="3343" y="21600"/>
                  </a:lnTo>
                  <a:lnTo>
                    <a:pt x="5268" y="16011"/>
                  </a:lnTo>
                  <a:lnTo>
                    <a:pt x="8817" y="15249"/>
                  </a:lnTo>
                  <a:lnTo>
                    <a:pt x="11276" y="14486"/>
                  </a:lnTo>
                  <a:lnTo>
                    <a:pt x="14517" y="13724"/>
                  </a:lnTo>
                  <a:lnTo>
                    <a:pt x="18179" y="13089"/>
                  </a:lnTo>
                  <a:lnTo>
                    <a:pt x="21239" y="5467"/>
                  </a:lnTo>
                  <a:lnTo>
                    <a:pt x="21600" y="162"/>
                  </a:lnTo>
                  <a:lnTo>
                    <a:pt x="19638" y="0"/>
                  </a:lnTo>
                  <a:lnTo>
                    <a:pt x="17537" y="2831"/>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02" name="熊大的PPT宝库1-49"/>
            <p:cNvSpPr/>
            <p:nvPr/>
          </p:nvSpPr>
          <p:spPr>
            <a:xfrm>
              <a:off x="3012413" y="9788311"/>
              <a:ext cx="1575803" cy="2366543"/>
            </a:xfrm>
            <a:custGeom>
              <a:avLst/>
              <a:gdLst/>
              <a:ahLst/>
              <a:cxnLst>
                <a:cxn ang="0">
                  <a:pos x="wd2" y="hd2"/>
                </a:cxn>
                <a:cxn ang="5400000">
                  <a:pos x="wd2" y="hd2"/>
                </a:cxn>
                <a:cxn ang="10800000">
                  <a:pos x="wd2" y="hd2"/>
                </a:cxn>
                <a:cxn ang="16200000">
                  <a:pos x="wd2" y="hd2"/>
                </a:cxn>
              </a:cxnLst>
              <a:rect l="0" t="0" r="r" b="b"/>
              <a:pathLst>
                <a:path w="21600" h="21600" extrusionOk="0">
                  <a:moveTo>
                    <a:pt x="869" y="1016"/>
                  </a:moveTo>
                  <a:lnTo>
                    <a:pt x="1153" y="974"/>
                  </a:lnTo>
                  <a:lnTo>
                    <a:pt x="1415" y="1017"/>
                  </a:lnTo>
                  <a:lnTo>
                    <a:pt x="1706" y="1125"/>
                  </a:lnTo>
                  <a:lnTo>
                    <a:pt x="1964" y="1238"/>
                  </a:lnTo>
                  <a:lnTo>
                    <a:pt x="2173" y="1355"/>
                  </a:lnTo>
                  <a:lnTo>
                    <a:pt x="2350" y="1292"/>
                  </a:lnTo>
                  <a:lnTo>
                    <a:pt x="2416" y="1193"/>
                  </a:lnTo>
                  <a:lnTo>
                    <a:pt x="2643" y="1138"/>
                  </a:lnTo>
                  <a:lnTo>
                    <a:pt x="2768" y="931"/>
                  </a:lnTo>
                  <a:lnTo>
                    <a:pt x="2901" y="758"/>
                  </a:lnTo>
                  <a:lnTo>
                    <a:pt x="3075" y="584"/>
                  </a:lnTo>
                  <a:lnTo>
                    <a:pt x="3218" y="492"/>
                  </a:lnTo>
                  <a:lnTo>
                    <a:pt x="3455" y="405"/>
                  </a:lnTo>
                  <a:lnTo>
                    <a:pt x="3796" y="405"/>
                  </a:lnTo>
                  <a:lnTo>
                    <a:pt x="4006" y="344"/>
                  </a:lnTo>
                  <a:lnTo>
                    <a:pt x="4155" y="198"/>
                  </a:lnTo>
                  <a:lnTo>
                    <a:pt x="4308" y="101"/>
                  </a:lnTo>
                  <a:lnTo>
                    <a:pt x="4423" y="34"/>
                  </a:lnTo>
                  <a:lnTo>
                    <a:pt x="4684" y="0"/>
                  </a:lnTo>
                  <a:lnTo>
                    <a:pt x="4809" y="15"/>
                  </a:lnTo>
                  <a:lnTo>
                    <a:pt x="4798" y="104"/>
                  </a:lnTo>
                  <a:lnTo>
                    <a:pt x="4656" y="173"/>
                  </a:lnTo>
                  <a:lnTo>
                    <a:pt x="4518" y="268"/>
                  </a:lnTo>
                  <a:lnTo>
                    <a:pt x="4466" y="385"/>
                  </a:lnTo>
                  <a:lnTo>
                    <a:pt x="4483" y="636"/>
                  </a:lnTo>
                  <a:lnTo>
                    <a:pt x="4421" y="753"/>
                  </a:lnTo>
                  <a:lnTo>
                    <a:pt x="4365" y="838"/>
                  </a:lnTo>
                  <a:lnTo>
                    <a:pt x="4375" y="962"/>
                  </a:lnTo>
                  <a:lnTo>
                    <a:pt x="4434" y="1080"/>
                  </a:lnTo>
                  <a:lnTo>
                    <a:pt x="4626" y="1121"/>
                  </a:lnTo>
                  <a:lnTo>
                    <a:pt x="4821" y="1077"/>
                  </a:lnTo>
                  <a:lnTo>
                    <a:pt x="4911" y="964"/>
                  </a:lnTo>
                  <a:lnTo>
                    <a:pt x="5012" y="863"/>
                  </a:lnTo>
                  <a:lnTo>
                    <a:pt x="5002" y="773"/>
                  </a:lnTo>
                  <a:lnTo>
                    <a:pt x="4888" y="691"/>
                  </a:lnTo>
                  <a:lnTo>
                    <a:pt x="4815" y="594"/>
                  </a:lnTo>
                  <a:cubicBezTo>
                    <a:pt x="4810" y="569"/>
                    <a:pt x="4818" y="543"/>
                    <a:pt x="4835" y="521"/>
                  </a:cubicBezTo>
                  <a:cubicBezTo>
                    <a:pt x="4864" y="484"/>
                    <a:pt x="4917" y="459"/>
                    <a:pt x="4977" y="452"/>
                  </a:cubicBezTo>
                  <a:lnTo>
                    <a:pt x="5179" y="365"/>
                  </a:lnTo>
                  <a:lnTo>
                    <a:pt x="5325" y="234"/>
                  </a:lnTo>
                  <a:lnTo>
                    <a:pt x="5398" y="181"/>
                  </a:lnTo>
                  <a:lnTo>
                    <a:pt x="5513" y="174"/>
                  </a:lnTo>
                  <a:lnTo>
                    <a:pt x="5658" y="180"/>
                  </a:lnTo>
                  <a:lnTo>
                    <a:pt x="5845" y="279"/>
                  </a:lnTo>
                  <a:lnTo>
                    <a:pt x="6023" y="369"/>
                  </a:lnTo>
                  <a:lnTo>
                    <a:pt x="6158" y="486"/>
                  </a:lnTo>
                  <a:lnTo>
                    <a:pt x="6252" y="563"/>
                  </a:lnTo>
                  <a:lnTo>
                    <a:pt x="6423" y="602"/>
                  </a:lnTo>
                  <a:lnTo>
                    <a:pt x="6760" y="602"/>
                  </a:lnTo>
                  <a:lnTo>
                    <a:pt x="6916" y="629"/>
                  </a:lnTo>
                  <a:lnTo>
                    <a:pt x="7159" y="658"/>
                  </a:lnTo>
                  <a:lnTo>
                    <a:pt x="7344" y="698"/>
                  </a:lnTo>
                  <a:lnTo>
                    <a:pt x="7500" y="785"/>
                  </a:lnTo>
                  <a:lnTo>
                    <a:pt x="7792" y="799"/>
                  </a:lnTo>
                  <a:lnTo>
                    <a:pt x="7945" y="725"/>
                  </a:lnTo>
                  <a:lnTo>
                    <a:pt x="8130" y="720"/>
                  </a:lnTo>
                  <a:lnTo>
                    <a:pt x="8343" y="741"/>
                  </a:lnTo>
                  <a:lnTo>
                    <a:pt x="8508" y="799"/>
                  </a:lnTo>
                  <a:lnTo>
                    <a:pt x="8764" y="882"/>
                  </a:lnTo>
                  <a:lnTo>
                    <a:pt x="9015" y="958"/>
                  </a:lnTo>
                  <a:lnTo>
                    <a:pt x="9502" y="1062"/>
                  </a:lnTo>
                  <a:lnTo>
                    <a:pt x="9816" y="1193"/>
                  </a:lnTo>
                  <a:lnTo>
                    <a:pt x="9920" y="1317"/>
                  </a:lnTo>
                  <a:lnTo>
                    <a:pt x="10065" y="1399"/>
                  </a:lnTo>
                  <a:lnTo>
                    <a:pt x="10187" y="1473"/>
                  </a:lnTo>
                  <a:lnTo>
                    <a:pt x="10298" y="1576"/>
                  </a:lnTo>
                  <a:lnTo>
                    <a:pt x="10339" y="1679"/>
                  </a:lnTo>
                  <a:lnTo>
                    <a:pt x="10420" y="1769"/>
                  </a:lnTo>
                  <a:lnTo>
                    <a:pt x="10606" y="1887"/>
                  </a:lnTo>
                  <a:lnTo>
                    <a:pt x="10818" y="2000"/>
                  </a:lnTo>
                  <a:lnTo>
                    <a:pt x="11131" y="2123"/>
                  </a:lnTo>
                  <a:lnTo>
                    <a:pt x="11378" y="2178"/>
                  </a:lnTo>
                  <a:lnTo>
                    <a:pt x="11636" y="2243"/>
                  </a:lnTo>
                  <a:lnTo>
                    <a:pt x="11855" y="2243"/>
                  </a:lnTo>
                  <a:lnTo>
                    <a:pt x="11990" y="2181"/>
                  </a:lnTo>
                  <a:lnTo>
                    <a:pt x="12151" y="2160"/>
                  </a:lnTo>
                  <a:lnTo>
                    <a:pt x="12356" y="2167"/>
                  </a:lnTo>
                  <a:lnTo>
                    <a:pt x="12575" y="2208"/>
                  </a:lnTo>
                  <a:lnTo>
                    <a:pt x="12707" y="2236"/>
                  </a:lnTo>
                  <a:lnTo>
                    <a:pt x="12850" y="2254"/>
                  </a:lnTo>
                  <a:lnTo>
                    <a:pt x="12964" y="2298"/>
                  </a:lnTo>
                  <a:lnTo>
                    <a:pt x="13152" y="2421"/>
                  </a:lnTo>
                  <a:lnTo>
                    <a:pt x="13358" y="2525"/>
                  </a:lnTo>
                  <a:lnTo>
                    <a:pt x="13524" y="2594"/>
                  </a:lnTo>
                  <a:lnTo>
                    <a:pt x="13666" y="2651"/>
                  </a:lnTo>
                  <a:lnTo>
                    <a:pt x="13833" y="2742"/>
                  </a:lnTo>
                  <a:lnTo>
                    <a:pt x="13864" y="2891"/>
                  </a:lnTo>
                  <a:lnTo>
                    <a:pt x="13944" y="3025"/>
                  </a:lnTo>
                  <a:lnTo>
                    <a:pt x="14059" y="3126"/>
                  </a:lnTo>
                  <a:lnTo>
                    <a:pt x="14069" y="3246"/>
                  </a:lnTo>
                  <a:lnTo>
                    <a:pt x="14069" y="3383"/>
                  </a:lnTo>
                  <a:lnTo>
                    <a:pt x="14132" y="3485"/>
                  </a:lnTo>
                  <a:lnTo>
                    <a:pt x="14251" y="3544"/>
                  </a:lnTo>
                  <a:lnTo>
                    <a:pt x="14376" y="3565"/>
                  </a:lnTo>
                  <a:lnTo>
                    <a:pt x="14376" y="3654"/>
                  </a:lnTo>
                  <a:lnTo>
                    <a:pt x="14240" y="3723"/>
                  </a:lnTo>
                  <a:lnTo>
                    <a:pt x="14147" y="3806"/>
                  </a:lnTo>
                  <a:lnTo>
                    <a:pt x="14084" y="3898"/>
                  </a:lnTo>
                  <a:lnTo>
                    <a:pt x="14021" y="4015"/>
                  </a:lnTo>
                  <a:lnTo>
                    <a:pt x="13892" y="4050"/>
                  </a:lnTo>
                  <a:lnTo>
                    <a:pt x="13746" y="4071"/>
                  </a:lnTo>
                  <a:lnTo>
                    <a:pt x="13369" y="4317"/>
                  </a:lnTo>
                  <a:lnTo>
                    <a:pt x="13296" y="4414"/>
                  </a:lnTo>
                  <a:lnTo>
                    <a:pt x="13244" y="4544"/>
                  </a:lnTo>
                  <a:lnTo>
                    <a:pt x="13401" y="4640"/>
                  </a:lnTo>
                  <a:lnTo>
                    <a:pt x="13638" y="4623"/>
                  </a:lnTo>
                  <a:lnTo>
                    <a:pt x="13801" y="4475"/>
                  </a:lnTo>
                  <a:lnTo>
                    <a:pt x="14058" y="4319"/>
                  </a:lnTo>
                  <a:lnTo>
                    <a:pt x="14233" y="4211"/>
                  </a:lnTo>
                  <a:lnTo>
                    <a:pt x="14406" y="4124"/>
                  </a:lnTo>
                  <a:lnTo>
                    <a:pt x="14601" y="4061"/>
                  </a:lnTo>
                  <a:lnTo>
                    <a:pt x="14824" y="4068"/>
                  </a:lnTo>
                  <a:lnTo>
                    <a:pt x="14950" y="4135"/>
                  </a:lnTo>
                  <a:lnTo>
                    <a:pt x="15054" y="4245"/>
                  </a:lnTo>
                  <a:lnTo>
                    <a:pt x="15054" y="4370"/>
                  </a:lnTo>
                  <a:lnTo>
                    <a:pt x="14772" y="4500"/>
                  </a:lnTo>
                  <a:lnTo>
                    <a:pt x="14706" y="4615"/>
                  </a:lnTo>
                  <a:lnTo>
                    <a:pt x="14561" y="4643"/>
                  </a:lnTo>
                  <a:lnTo>
                    <a:pt x="14369" y="4636"/>
                  </a:lnTo>
                  <a:lnTo>
                    <a:pt x="14297" y="4713"/>
                  </a:lnTo>
                  <a:lnTo>
                    <a:pt x="14537" y="4754"/>
                  </a:lnTo>
                  <a:lnTo>
                    <a:pt x="14713" y="4770"/>
                  </a:lnTo>
                  <a:lnTo>
                    <a:pt x="14862" y="4841"/>
                  </a:lnTo>
                  <a:lnTo>
                    <a:pt x="15018" y="4770"/>
                  </a:lnTo>
                  <a:lnTo>
                    <a:pt x="15209" y="4692"/>
                  </a:lnTo>
                  <a:lnTo>
                    <a:pt x="15341" y="4566"/>
                  </a:lnTo>
                  <a:lnTo>
                    <a:pt x="15491" y="4466"/>
                  </a:lnTo>
                  <a:lnTo>
                    <a:pt x="15585" y="4369"/>
                  </a:lnTo>
                  <a:lnTo>
                    <a:pt x="15846" y="4342"/>
                  </a:lnTo>
                  <a:lnTo>
                    <a:pt x="16125" y="4370"/>
                  </a:lnTo>
                  <a:lnTo>
                    <a:pt x="16397" y="4508"/>
                  </a:lnTo>
                  <a:lnTo>
                    <a:pt x="16564" y="4666"/>
                  </a:lnTo>
                  <a:lnTo>
                    <a:pt x="16723" y="4714"/>
                  </a:lnTo>
                  <a:lnTo>
                    <a:pt x="16844" y="4787"/>
                  </a:lnTo>
                  <a:lnTo>
                    <a:pt x="16817" y="4904"/>
                  </a:lnTo>
                  <a:lnTo>
                    <a:pt x="16751" y="4982"/>
                  </a:lnTo>
                  <a:lnTo>
                    <a:pt x="16751" y="5058"/>
                  </a:lnTo>
                  <a:lnTo>
                    <a:pt x="16949" y="5154"/>
                  </a:lnTo>
                  <a:lnTo>
                    <a:pt x="17116" y="5085"/>
                  </a:lnTo>
                  <a:lnTo>
                    <a:pt x="17332" y="5023"/>
                  </a:lnTo>
                  <a:lnTo>
                    <a:pt x="17569" y="4982"/>
                  </a:lnTo>
                  <a:lnTo>
                    <a:pt x="17746" y="4988"/>
                  </a:lnTo>
                  <a:lnTo>
                    <a:pt x="18122" y="5071"/>
                  </a:lnTo>
                  <a:lnTo>
                    <a:pt x="18476" y="5071"/>
                  </a:lnTo>
                  <a:lnTo>
                    <a:pt x="18914" y="5085"/>
                  </a:lnTo>
                  <a:lnTo>
                    <a:pt x="19226" y="5085"/>
                  </a:lnTo>
                  <a:lnTo>
                    <a:pt x="19337" y="5145"/>
                  </a:lnTo>
                  <a:lnTo>
                    <a:pt x="19417" y="5245"/>
                  </a:lnTo>
                  <a:lnTo>
                    <a:pt x="19501" y="5384"/>
                  </a:lnTo>
                  <a:lnTo>
                    <a:pt x="19761" y="5515"/>
                  </a:lnTo>
                  <a:lnTo>
                    <a:pt x="20054" y="5632"/>
                  </a:lnTo>
                  <a:lnTo>
                    <a:pt x="20337" y="5763"/>
                  </a:lnTo>
                  <a:lnTo>
                    <a:pt x="20783" y="5818"/>
                  </a:lnTo>
                  <a:lnTo>
                    <a:pt x="21128" y="5832"/>
                  </a:lnTo>
                  <a:lnTo>
                    <a:pt x="21292" y="5922"/>
                  </a:lnTo>
                  <a:lnTo>
                    <a:pt x="21413" y="6000"/>
                  </a:lnTo>
                  <a:lnTo>
                    <a:pt x="21423" y="6110"/>
                  </a:lnTo>
                  <a:lnTo>
                    <a:pt x="21496" y="6233"/>
                  </a:lnTo>
                  <a:lnTo>
                    <a:pt x="21548" y="6335"/>
                  </a:lnTo>
                  <a:lnTo>
                    <a:pt x="21600" y="6459"/>
                  </a:lnTo>
                  <a:lnTo>
                    <a:pt x="21558" y="6567"/>
                  </a:lnTo>
                  <a:lnTo>
                    <a:pt x="21548" y="6744"/>
                  </a:lnTo>
                  <a:lnTo>
                    <a:pt x="21416" y="6872"/>
                  </a:lnTo>
                  <a:lnTo>
                    <a:pt x="21374" y="6999"/>
                  </a:lnTo>
                  <a:lnTo>
                    <a:pt x="21263" y="7141"/>
                  </a:lnTo>
                  <a:lnTo>
                    <a:pt x="20928" y="7257"/>
                  </a:lnTo>
                  <a:lnTo>
                    <a:pt x="20782" y="7498"/>
                  </a:lnTo>
                  <a:lnTo>
                    <a:pt x="20646" y="7643"/>
                  </a:lnTo>
                  <a:lnTo>
                    <a:pt x="20531" y="7747"/>
                  </a:lnTo>
                  <a:lnTo>
                    <a:pt x="20344" y="7910"/>
                  </a:lnTo>
                  <a:lnTo>
                    <a:pt x="20222" y="8109"/>
                  </a:lnTo>
                  <a:lnTo>
                    <a:pt x="19916" y="8196"/>
                  </a:lnTo>
                  <a:lnTo>
                    <a:pt x="19700" y="8360"/>
                  </a:lnTo>
                  <a:lnTo>
                    <a:pt x="19631" y="8498"/>
                  </a:lnTo>
                  <a:lnTo>
                    <a:pt x="19615" y="8867"/>
                  </a:lnTo>
                  <a:lnTo>
                    <a:pt x="19688" y="9089"/>
                  </a:lnTo>
                  <a:lnTo>
                    <a:pt x="19688" y="9302"/>
                  </a:lnTo>
                  <a:lnTo>
                    <a:pt x="19705" y="9546"/>
                  </a:lnTo>
                  <a:lnTo>
                    <a:pt x="19653" y="9772"/>
                  </a:lnTo>
                  <a:lnTo>
                    <a:pt x="19612" y="9950"/>
                  </a:lnTo>
                  <a:lnTo>
                    <a:pt x="19580" y="10104"/>
                  </a:lnTo>
                  <a:lnTo>
                    <a:pt x="19559" y="10281"/>
                  </a:lnTo>
                  <a:lnTo>
                    <a:pt x="19465" y="10449"/>
                  </a:lnTo>
                  <a:lnTo>
                    <a:pt x="19444" y="10661"/>
                  </a:lnTo>
                  <a:lnTo>
                    <a:pt x="19392" y="10797"/>
                  </a:lnTo>
                  <a:lnTo>
                    <a:pt x="19322" y="10935"/>
                  </a:lnTo>
                  <a:lnTo>
                    <a:pt x="19169" y="11064"/>
                  </a:lnTo>
                  <a:lnTo>
                    <a:pt x="19033" y="11278"/>
                  </a:lnTo>
                  <a:lnTo>
                    <a:pt x="18939" y="11393"/>
                  </a:lnTo>
                  <a:lnTo>
                    <a:pt x="18834" y="11511"/>
                  </a:lnTo>
                  <a:lnTo>
                    <a:pt x="18562" y="11665"/>
                  </a:lnTo>
                  <a:lnTo>
                    <a:pt x="18374" y="11762"/>
                  </a:lnTo>
                  <a:lnTo>
                    <a:pt x="18204" y="11755"/>
                  </a:lnTo>
                  <a:lnTo>
                    <a:pt x="18048" y="11735"/>
                  </a:lnTo>
                  <a:lnTo>
                    <a:pt x="17899" y="11638"/>
                  </a:lnTo>
                  <a:lnTo>
                    <a:pt x="17642" y="11707"/>
                  </a:lnTo>
                  <a:lnTo>
                    <a:pt x="17486" y="11796"/>
                  </a:lnTo>
                  <a:lnTo>
                    <a:pt x="17287" y="11941"/>
                  </a:lnTo>
                  <a:lnTo>
                    <a:pt x="17134" y="11969"/>
                  </a:lnTo>
                  <a:lnTo>
                    <a:pt x="16834" y="12015"/>
                  </a:lnTo>
                  <a:lnTo>
                    <a:pt x="16534" y="12077"/>
                  </a:lnTo>
                  <a:lnTo>
                    <a:pt x="16336" y="12167"/>
                  </a:lnTo>
                  <a:lnTo>
                    <a:pt x="16253" y="12270"/>
                  </a:lnTo>
                  <a:lnTo>
                    <a:pt x="16183" y="12325"/>
                  </a:lnTo>
                  <a:lnTo>
                    <a:pt x="16027" y="12380"/>
                  </a:lnTo>
                  <a:lnTo>
                    <a:pt x="15916" y="12449"/>
                  </a:lnTo>
                  <a:lnTo>
                    <a:pt x="15804" y="12518"/>
                  </a:lnTo>
                  <a:lnTo>
                    <a:pt x="15752" y="12629"/>
                  </a:lnTo>
                  <a:lnTo>
                    <a:pt x="15825" y="12724"/>
                  </a:lnTo>
                  <a:lnTo>
                    <a:pt x="15951" y="12849"/>
                  </a:lnTo>
                  <a:lnTo>
                    <a:pt x="15961" y="13008"/>
                  </a:lnTo>
                  <a:lnTo>
                    <a:pt x="15909" y="13192"/>
                  </a:lnTo>
                  <a:cubicBezTo>
                    <a:pt x="15880" y="13228"/>
                    <a:pt x="15856" y="13266"/>
                    <a:pt x="15840" y="13305"/>
                  </a:cubicBezTo>
                  <a:cubicBezTo>
                    <a:pt x="15812" y="13369"/>
                    <a:pt x="15801" y="13436"/>
                    <a:pt x="15809" y="13503"/>
                  </a:cubicBezTo>
                  <a:lnTo>
                    <a:pt x="15600" y="13652"/>
                  </a:lnTo>
                  <a:lnTo>
                    <a:pt x="15506" y="13742"/>
                  </a:lnTo>
                  <a:lnTo>
                    <a:pt x="15464" y="13846"/>
                  </a:lnTo>
                  <a:cubicBezTo>
                    <a:pt x="15464" y="13877"/>
                    <a:pt x="15464" y="13909"/>
                    <a:pt x="15464" y="13940"/>
                  </a:cubicBezTo>
                  <a:cubicBezTo>
                    <a:pt x="15464" y="13981"/>
                    <a:pt x="15464" y="14022"/>
                    <a:pt x="15464" y="14062"/>
                  </a:cubicBezTo>
                  <a:lnTo>
                    <a:pt x="15412" y="14177"/>
                  </a:lnTo>
                  <a:lnTo>
                    <a:pt x="15183" y="14308"/>
                  </a:lnTo>
                  <a:lnTo>
                    <a:pt x="15048" y="14443"/>
                  </a:lnTo>
                  <a:lnTo>
                    <a:pt x="14923" y="14578"/>
                  </a:lnTo>
                  <a:lnTo>
                    <a:pt x="14840" y="14707"/>
                  </a:lnTo>
                  <a:lnTo>
                    <a:pt x="14760" y="14868"/>
                  </a:lnTo>
                  <a:cubicBezTo>
                    <a:pt x="14740" y="14913"/>
                    <a:pt x="14716" y="14957"/>
                    <a:pt x="14687" y="14999"/>
                  </a:cubicBezTo>
                  <a:cubicBezTo>
                    <a:pt x="14660" y="15040"/>
                    <a:pt x="14629" y="15079"/>
                    <a:pt x="14593" y="15116"/>
                  </a:cubicBezTo>
                  <a:cubicBezTo>
                    <a:pt x="14565" y="15141"/>
                    <a:pt x="14538" y="15167"/>
                    <a:pt x="14510" y="15192"/>
                  </a:cubicBezTo>
                  <a:cubicBezTo>
                    <a:pt x="14469" y="15230"/>
                    <a:pt x="14429" y="15268"/>
                    <a:pt x="14390" y="15307"/>
                  </a:cubicBezTo>
                  <a:lnTo>
                    <a:pt x="14233" y="15431"/>
                  </a:lnTo>
                  <a:lnTo>
                    <a:pt x="14123" y="15518"/>
                  </a:lnTo>
                  <a:lnTo>
                    <a:pt x="13872" y="15628"/>
                  </a:lnTo>
                  <a:lnTo>
                    <a:pt x="13685" y="15663"/>
                  </a:lnTo>
                  <a:lnTo>
                    <a:pt x="13323" y="15670"/>
                  </a:lnTo>
                  <a:cubicBezTo>
                    <a:pt x="13286" y="15642"/>
                    <a:pt x="13245" y="15616"/>
                    <a:pt x="13201" y="15594"/>
                  </a:cubicBezTo>
                  <a:cubicBezTo>
                    <a:pt x="13122" y="15553"/>
                    <a:pt x="13034" y="15521"/>
                    <a:pt x="12939" y="15499"/>
                  </a:cubicBezTo>
                  <a:cubicBezTo>
                    <a:pt x="12851" y="15484"/>
                    <a:pt x="12764" y="15467"/>
                    <a:pt x="12678" y="15446"/>
                  </a:cubicBezTo>
                  <a:cubicBezTo>
                    <a:pt x="12585" y="15424"/>
                    <a:pt x="12495" y="15399"/>
                    <a:pt x="12406" y="15370"/>
                  </a:cubicBezTo>
                  <a:lnTo>
                    <a:pt x="12194" y="15426"/>
                  </a:lnTo>
                  <a:lnTo>
                    <a:pt x="12131" y="15541"/>
                  </a:lnTo>
                  <a:lnTo>
                    <a:pt x="12255" y="15615"/>
                  </a:lnTo>
                  <a:lnTo>
                    <a:pt x="12467" y="15700"/>
                  </a:lnTo>
                  <a:lnTo>
                    <a:pt x="12582" y="15762"/>
                  </a:lnTo>
                  <a:lnTo>
                    <a:pt x="12768" y="15886"/>
                  </a:lnTo>
                  <a:lnTo>
                    <a:pt x="12977" y="16065"/>
                  </a:lnTo>
                  <a:lnTo>
                    <a:pt x="13103" y="16201"/>
                  </a:lnTo>
                  <a:lnTo>
                    <a:pt x="13155" y="16372"/>
                  </a:lnTo>
                  <a:lnTo>
                    <a:pt x="13166" y="16545"/>
                  </a:lnTo>
                  <a:lnTo>
                    <a:pt x="13065" y="16676"/>
                  </a:lnTo>
                  <a:lnTo>
                    <a:pt x="12951" y="16779"/>
                  </a:lnTo>
                  <a:lnTo>
                    <a:pt x="12787" y="16862"/>
                  </a:lnTo>
                  <a:lnTo>
                    <a:pt x="12505" y="16924"/>
                  </a:lnTo>
                  <a:lnTo>
                    <a:pt x="12122" y="16970"/>
                  </a:lnTo>
                  <a:lnTo>
                    <a:pt x="11913" y="16977"/>
                  </a:lnTo>
                  <a:lnTo>
                    <a:pt x="11733" y="16982"/>
                  </a:lnTo>
                  <a:lnTo>
                    <a:pt x="11430" y="16982"/>
                  </a:lnTo>
                  <a:lnTo>
                    <a:pt x="11263" y="17044"/>
                  </a:lnTo>
                  <a:lnTo>
                    <a:pt x="11232" y="17116"/>
                  </a:lnTo>
                  <a:lnTo>
                    <a:pt x="11252" y="17235"/>
                  </a:lnTo>
                  <a:lnTo>
                    <a:pt x="11325" y="17332"/>
                  </a:lnTo>
                  <a:lnTo>
                    <a:pt x="11412" y="17380"/>
                  </a:lnTo>
                  <a:lnTo>
                    <a:pt x="11444" y="17498"/>
                  </a:lnTo>
                  <a:lnTo>
                    <a:pt x="11382" y="17567"/>
                  </a:lnTo>
                  <a:cubicBezTo>
                    <a:pt x="11322" y="17599"/>
                    <a:pt x="11279" y="17642"/>
                    <a:pt x="11257" y="17691"/>
                  </a:cubicBezTo>
                  <a:cubicBezTo>
                    <a:pt x="11240" y="17729"/>
                    <a:pt x="11236" y="17769"/>
                    <a:pt x="11246" y="17808"/>
                  </a:cubicBezTo>
                  <a:lnTo>
                    <a:pt x="11037" y="17802"/>
                  </a:lnTo>
                  <a:lnTo>
                    <a:pt x="10881" y="17726"/>
                  </a:lnTo>
                  <a:lnTo>
                    <a:pt x="10631" y="17622"/>
                  </a:lnTo>
                  <a:lnTo>
                    <a:pt x="10349" y="17581"/>
                  </a:lnTo>
                  <a:lnTo>
                    <a:pt x="10141" y="17677"/>
                  </a:lnTo>
                  <a:lnTo>
                    <a:pt x="10273" y="17815"/>
                  </a:lnTo>
                  <a:cubicBezTo>
                    <a:pt x="10359" y="17814"/>
                    <a:pt x="10437" y="17847"/>
                    <a:pt x="10472" y="17898"/>
                  </a:cubicBezTo>
                  <a:cubicBezTo>
                    <a:pt x="10504" y="17944"/>
                    <a:pt x="10496" y="17997"/>
                    <a:pt x="10451" y="18038"/>
                  </a:cubicBezTo>
                  <a:lnTo>
                    <a:pt x="10493" y="18142"/>
                  </a:lnTo>
                  <a:cubicBezTo>
                    <a:pt x="10535" y="18167"/>
                    <a:pt x="10583" y="18187"/>
                    <a:pt x="10636" y="18201"/>
                  </a:cubicBezTo>
                  <a:cubicBezTo>
                    <a:pt x="10678" y="18213"/>
                    <a:pt x="10723" y="18220"/>
                    <a:pt x="10768" y="18222"/>
                  </a:cubicBezTo>
                  <a:cubicBezTo>
                    <a:pt x="10824" y="18185"/>
                    <a:pt x="10918" y="18194"/>
                    <a:pt x="10956" y="18240"/>
                  </a:cubicBezTo>
                  <a:cubicBezTo>
                    <a:pt x="10983" y="18272"/>
                    <a:pt x="10969" y="18313"/>
                    <a:pt x="10925" y="18335"/>
                  </a:cubicBezTo>
                  <a:lnTo>
                    <a:pt x="10783" y="18390"/>
                  </a:lnTo>
                  <a:lnTo>
                    <a:pt x="10605" y="18448"/>
                  </a:lnTo>
                  <a:lnTo>
                    <a:pt x="10615" y="18589"/>
                  </a:lnTo>
                  <a:lnTo>
                    <a:pt x="10663" y="18651"/>
                  </a:lnTo>
                  <a:lnTo>
                    <a:pt x="10698" y="18740"/>
                  </a:lnTo>
                  <a:lnTo>
                    <a:pt x="10479" y="18860"/>
                  </a:lnTo>
                  <a:lnTo>
                    <a:pt x="10374" y="19045"/>
                  </a:lnTo>
                  <a:lnTo>
                    <a:pt x="10259" y="19180"/>
                  </a:lnTo>
                  <a:lnTo>
                    <a:pt x="10218" y="19263"/>
                  </a:lnTo>
                  <a:lnTo>
                    <a:pt x="10283" y="19367"/>
                  </a:lnTo>
                  <a:lnTo>
                    <a:pt x="10350" y="19544"/>
                  </a:lnTo>
                  <a:lnTo>
                    <a:pt x="10506" y="19579"/>
                  </a:lnTo>
                  <a:lnTo>
                    <a:pt x="10637" y="19689"/>
                  </a:lnTo>
                  <a:lnTo>
                    <a:pt x="10913" y="19767"/>
                  </a:lnTo>
                  <a:lnTo>
                    <a:pt x="11066" y="19942"/>
                  </a:lnTo>
                  <a:lnTo>
                    <a:pt x="11076" y="20069"/>
                  </a:lnTo>
                  <a:lnTo>
                    <a:pt x="10982" y="20241"/>
                  </a:lnTo>
                  <a:lnTo>
                    <a:pt x="10888" y="20363"/>
                  </a:lnTo>
                  <a:lnTo>
                    <a:pt x="10794" y="20527"/>
                  </a:lnTo>
                  <a:cubicBezTo>
                    <a:pt x="10712" y="20573"/>
                    <a:pt x="10646" y="20631"/>
                    <a:pt x="10600" y="20695"/>
                  </a:cubicBezTo>
                  <a:cubicBezTo>
                    <a:pt x="10553" y="20760"/>
                    <a:pt x="10528" y="20830"/>
                    <a:pt x="10526" y="20902"/>
                  </a:cubicBezTo>
                  <a:lnTo>
                    <a:pt x="10613" y="21051"/>
                  </a:lnTo>
                  <a:lnTo>
                    <a:pt x="10773" y="21173"/>
                  </a:lnTo>
                  <a:lnTo>
                    <a:pt x="10846" y="21254"/>
                  </a:lnTo>
                  <a:lnTo>
                    <a:pt x="10766" y="21359"/>
                  </a:lnTo>
                  <a:lnTo>
                    <a:pt x="10536" y="21440"/>
                  </a:lnTo>
                  <a:lnTo>
                    <a:pt x="10441" y="21536"/>
                  </a:lnTo>
                  <a:lnTo>
                    <a:pt x="10363" y="21600"/>
                  </a:lnTo>
                  <a:lnTo>
                    <a:pt x="10225" y="21595"/>
                  </a:lnTo>
                  <a:lnTo>
                    <a:pt x="9866" y="21480"/>
                  </a:lnTo>
                  <a:lnTo>
                    <a:pt x="9668" y="21506"/>
                  </a:lnTo>
                  <a:lnTo>
                    <a:pt x="9418" y="21531"/>
                  </a:lnTo>
                  <a:cubicBezTo>
                    <a:pt x="9428" y="21473"/>
                    <a:pt x="9417" y="21413"/>
                    <a:pt x="9386" y="21358"/>
                  </a:cubicBezTo>
                  <a:cubicBezTo>
                    <a:pt x="9350" y="21293"/>
                    <a:pt x="9286" y="21235"/>
                    <a:pt x="9202" y="21193"/>
                  </a:cubicBezTo>
                  <a:lnTo>
                    <a:pt x="8951" y="21172"/>
                  </a:lnTo>
                  <a:lnTo>
                    <a:pt x="8767" y="21096"/>
                  </a:lnTo>
                  <a:lnTo>
                    <a:pt x="8767" y="20966"/>
                  </a:lnTo>
                  <a:lnTo>
                    <a:pt x="8683" y="20814"/>
                  </a:lnTo>
                  <a:cubicBezTo>
                    <a:pt x="8625" y="20767"/>
                    <a:pt x="8560" y="20724"/>
                    <a:pt x="8489" y="20687"/>
                  </a:cubicBezTo>
                  <a:cubicBezTo>
                    <a:pt x="8402" y="20641"/>
                    <a:pt x="8307" y="20603"/>
                    <a:pt x="8206" y="20574"/>
                  </a:cubicBezTo>
                  <a:lnTo>
                    <a:pt x="8185" y="20340"/>
                  </a:lnTo>
                  <a:lnTo>
                    <a:pt x="8175" y="20091"/>
                  </a:lnTo>
                  <a:cubicBezTo>
                    <a:pt x="8118" y="20014"/>
                    <a:pt x="8052" y="19940"/>
                    <a:pt x="7977" y="19870"/>
                  </a:cubicBezTo>
                  <a:cubicBezTo>
                    <a:pt x="7874" y="19775"/>
                    <a:pt x="7755" y="19687"/>
                    <a:pt x="7622" y="19610"/>
                  </a:cubicBezTo>
                  <a:lnTo>
                    <a:pt x="7320" y="19591"/>
                  </a:lnTo>
                  <a:lnTo>
                    <a:pt x="7269" y="19491"/>
                  </a:lnTo>
                  <a:lnTo>
                    <a:pt x="7463" y="19422"/>
                  </a:lnTo>
                  <a:lnTo>
                    <a:pt x="7664" y="19293"/>
                  </a:lnTo>
                  <a:lnTo>
                    <a:pt x="7747" y="19155"/>
                  </a:lnTo>
                  <a:lnTo>
                    <a:pt x="7862" y="18947"/>
                  </a:lnTo>
                  <a:cubicBezTo>
                    <a:pt x="7859" y="18904"/>
                    <a:pt x="7841" y="18862"/>
                    <a:pt x="7810" y="18823"/>
                  </a:cubicBezTo>
                  <a:cubicBezTo>
                    <a:pt x="7763" y="18763"/>
                    <a:pt x="7687" y="18715"/>
                    <a:pt x="7594" y="18687"/>
                  </a:cubicBezTo>
                  <a:lnTo>
                    <a:pt x="7373" y="18531"/>
                  </a:lnTo>
                  <a:lnTo>
                    <a:pt x="7344" y="18427"/>
                  </a:lnTo>
                  <a:lnTo>
                    <a:pt x="7439" y="18291"/>
                  </a:lnTo>
                  <a:lnTo>
                    <a:pt x="7386" y="18128"/>
                  </a:lnTo>
                  <a:lnTo>
                    <a:pt x="7191" y="18036"/>
                  </a:lnTo>
                  <a:lnTo>
                    <a:pt x="6944" y="17872"/>
                  </a:lnTo>
                  <a:lnTo>
                    <a:pt x="6714" y="17722"/>
                  </a:lnTo>
                  <a:lnTo>
                    <a:pt x="6595" y="17655"/>
                  </a:lnTo>
                  <a:lnTo>
                    <a:pt x="6560" y="17485"/>
                  </a:lnTo>
                  <a:lnTo>
                    <a:pt x="6414" y="17372"/>
                  </a:lnTo>
                  <a:lnTo>
                    <a:pt x="6518" y="17199"/>
                  </a:lnTo>
                  <a:cubicBezTo>
                    <a:pt x="6570" y="17154"/>
                    <a:pt x="6593" y="17097"/>
                    <a:pt x="6581" y="17041"/>
                  </a:cubicBezTo>
                  <a:cubicBezTo>
                    <a:pt x="6561" y="16948"/>
                    <a:pt x="6457" y="16874"/>
                    <a:pt x="6320" y="16854"/>
                  </a:cubicBezTo>
                  <a:cubicBezTo>
                    <a:pt x="6272" y="16815"/>
                    <a:pt x="6237" y="16771"/>
                    <a:pt x="6215" y="16723"/>
                  </a:cubicBezTo>
                  <a:cubicBezTo>
                    <a:pt x="6159" y="16596"/>
                    <a:pt x="6202" y="16460"/>
                    <a:pt x="6330" y="16359"/>
                  </a:cubicBezTo>
                  <a:lnTo>
                    <a:pt x="6341" y="16207"/>
                  </a:lnTo>
                  <a:lnTo>
                    <a:pt x="6351" y="16005"/>
                  </a:lnTo>
                  <a:lnTo>
                    <a:pt x="6382" y="15534"/>
                  </a:lnTo>
                  <a:lnTo>
                    <a:pt x="6330" y="14960"/>
                  </a:lnTo>
                  <a:lnTo>
                    <a:pt x="6125" y="14624"/>
                  </a:lnTo>
                  <a:lnTo>
                    <a:pt x="6027" y="14310"/>
                  </a:lnTo>
                  <a:lnTo>
                    <a:pt x="5975" y="14131"/>
                  </a:lnTo>
                  <a:lnTo>
                    <a:pt x="5925" y="13492"/>
                  </a:lnTo>
                  <a:lnTo>
                    <a:pt x="5925" y="13243"/>
                  </a:lnTo>
                  <a:lnTo>
                    <a:pt x="6020" y="13001"/>
                  </a:lnTo>
                  <a:lnTo>
                    <a:pt x="6020" y="12755"/>
                  </a:lnTo>
                  <a:lnTo>
                    <a:pt x="5988" y="12469"/>
                  </a:lnTo>
                  <a:lnTo>
                    <a:pt x="5842" y="12317"/>
                  </a:lnTo>
                  <a:lnTo>
                    <a:pt x="5852" y="12041"/>
                  </a:lnTo>
                  <a:lnTo>
                    <a:pt x="5936" y="11755"/>
                  </a:lnTo>
                  <a:cubicBezTo>
                    <a:pt x="5963" y="11665"/>
                    <a:pt x="5977" y="11573"/>
                    <a:pt x="5978" y="11481"/>
                  </a:cubicBezTo>
                  <a:cubicBezTo>
                    <a:pt x="5979" y="11396"/>
                    <a:pt x="5968" y="11310"/>
                    <a:pt x="5946" y="11226"/>
                  </a:cubicBezTo>
                  <a:cubicBezTo>
                    <a:pt x="5920" y="11122"/>
                    <a:pt x="5877" y="11021"/>
                    <a:pt x="5817" y="10924"/>
                  </a:cubicBezTo>
                  <a:lnTo>
                    <a:pt x="5790" y="10657"/>
                  </a:lnTo>
                  <a:lnTo>
                    <a:pt x="5779" y="10588"/>
                  </a:lnTo>
                  <a:lnTo>
                    <a:pt x="5509" y="10273"/>
                  </a:lnTo>
                  <a:lnTo>
                    <a:pt x="5325" y="10025"/>
                  </a:lnTo>
                  <a:lnTo>
                    <a:pt x="5081" y="9901"/>
                  </a:lnTo>
                  <a:lnTo>
                    <a:pt x="4781" y="9783"/>
                  </a:lnTo>
                  <a:lnTo>
                    <a:pt x="4531" y="9611"/>
                  </a:lnTo>
                  <a:lnTo>
                    <a:pt x="4066" y="9506"/>
                  </a:lnTo>
                  <a:lnTo>
                    <a:pt x="3850" y="9416"/>
                  </a:lnTo>
                  <a:lnTo>
                    <a:pt x="3285" y="9256"/>
                  </a:lnTo>
                  <a:lnTo>
                    <a:pt x="3020" y="9164"/>
                  </a:lnTo>
                  <a:lnTo>
                    <a:pt x="2895" y="8913"/>
                  </a:lnTo>
                  <a:lnTo>
                    <a:pt x="2752" y="8757"/>
                  </a:lnTo>
                  <a:lnTo>
                    <a:pt x="2626" y="8512"/>
                  </a:lnTo>
                  <a:lnTo>
                    <a:pt x="2494" y="8355"/>
                  </a:lnTo>
                  <a:lnTo>
                    <a:pt x="2330" y="8219"/>
                  </a:lnTo>
                  <a:lnTo>
                    <a:pt x="2088" y="8047"/>
                  </a:lnTo>
                  <a:lnTo>
                    <a:pt x="1976" y="7929"/>
                  </a:lnTo>
                  <a:lnTo>
                    <a:pt x="1868" y="7775"/>
                  </a:lnTo>
                  <a:lnTo>
                    <a:pt x="1712" y="7713"/>
                  </a:lnTo>
                  <a:lnTo>
                    <a:pt x="1653" y="7630"/>
                  </a:lnTo>
                  <a:lnTo>
                    <a:pt x="1559" y="7481"/>
                  </a:lnTo>
                  <a:lnTo>
                    <a:pt x="1499" y="7363"/>
                  </a:lnTo>
                  <a:lnTo>
                    <a:pt x="1332" y="7016"/>
                  </a:lnTo>
                  <a:lnTo>
                    <a:pt x="1207" y="6813"/>
                  </a:lnTo>
                  <a:lnTo>
                    <a:pt x="1072" y="6654"/>
                  </a:lnTo>
                  <a:lnTo>
                    <a:pt x="958" y="6495"/>
                  </a:lnTo>
                  <a:lnTo>
                    <a:pt x="875" y="6420"/>
                  </a:lnTo>
                  <a:lnTo>
                    <a:pt x="683" y="6358"/>
                  </a:lnTo>
                  <a:lnTo>
                    <a:pt x="577" y="6210"/>
                  </a:lnTo>
                  <a:lnTo>
                    <a:pt x="392" y="6183"/>
                  </a:lnTo>
                  <a:lnTo>
                    <a:pt x="270" y="6084"/>
                  </a:lnTo>
                  <a:lnTo>
                    <a:pt x="131" y="5971"/>
                  </a:lnTo>
                  <a:lnTo>
                    <a:pt x="79" y="5813"/>
                  </a:lnTo>
                  <a:lnTo>
                    <a:pt x="38" y="5703"/>
                  </a:lnTo>
                  <a:lnTo>
                    <a:pt x="0" y="5602"/>
                  </a:lnTo>
                  <a:lnTo>
                    <a:pt x="115" y="5491"/>
                  </a:lnTo>
                  <a:lnTo>
                    <a:pt x="268" y="5348"/>
                  </a:lnTo>
                  <a:lnTo>
                    <a:pt x="330" y="5224"/>
                  </a:lnTo>
                  <a:lnTo>
                    <a:pt x="413" y="5153"/>
                  </a:lnTo>
                  <a:lnTo>
                    <a:pt x="602" y="5033"/>
                  </a:lnTo>
                  <a:lnTo>
                    <a:pt x="653" y="4916"/>
                  </a:lnTo>
                  <a:lnTo>
                    <a:pt x="542" y="4875"/>
                  </a:lnTo>
                  <a:lnTo>
                    <a:pt x="350" y="4849"/>
                  </a:lnTo>
                  <a:lnTo>
                    <a:pt x="233" y="4810"/>
                  </a:lnTo>
                  <a:lnTo>
                    <a:pt x="173" y="4693"/>
                  </a:lnTo>
                  <a:lnTo>
                    <a:pt x="132" y="4589"/>
                  </a:lnTo>
                  <a:lnTo>
                    <a:pt x="236" y="4435"/>
                  </a:lnTo>
                  <a:lnTo>
                    <a:pt x="363" y="4279"/>
                  </a:lnTo>
                  <a:lnTo>
                    <a:pt x="464" y="4141"/>
                  </a:lnTo>
                  <a:lnTo>
                    <a:pt x="722" y="3881"/>
                  </a:lnTo>
                  <a:lnTo>
                    <a:pt x="837" y="3725"/>
                  </a:lnTo>
                  <a:lnTo>
                    <a:pt x="878" y="3658"/>
                  </a:lnTo>
                  <a:lnTo>
                    <a:pt x="1105" y="3567"/>
                  </a:lnTo>
                  <a:lnTo>
                    <a:pt x="1275" y="3479"/>
                  </a:lnTo>
                  <a:lnTo>
                    <a:pt x="1338" y="3385"/>
                  </a:lnTo>
                  <a:lnTo>
                    <a:pt x="1359" y="3295"/>
                  </a:lnTo>
                  <a:lnTo>
                    <a:pt x="1523" y="3201"/>
                  </a:lnTo>
                  <a:lnTo>
                    <a:pt x="1707" y="3072"/>
                  </a:lnTo>
                  <a:cubicBezTo>
                    <a:pt x="1704" y="3016"/>
                    <a:pt x="1711" y="2960"/>
                    <a:pt x="1728" y="2906"/>
                  </a:cubicBezTo>
                  <a:cubicBezTo>
                    <a:pt x="1757" y="2814"/>
                    <a:pt x="1814" y="2727"/>
                    <a:pt x="1896" y="2650"/>
                  </a:cubicBezTo>
                  <a:cubicBezTo>
                    <a:pt x="1934" y="2572"/>
                    <a:pt x="1938" y="2488"/>
                    <a:pt x="1906" y="2408"/>
                  </a:cubicBezTo>
                  <a:cubicBezTo>
                    <a:pt x="1883" y="2352"/>
                    <a:pt x="1843" y="2298"/>
                    <a:pt x="1815" y="2242"/>
                  </a:cubicBezTo>
                  <a:cubicBezTo>
                    <a:pt x="1790" y="2191"/>
                    <a:pt x="1776" y="2138"/>
                    <a:pt x="1774" y="2083"/>
                  </a:cubicBezTo>
                  <a:lnTo>
                    <a:pt x="1774" y="1918"/>
                  </a:lnTo>
                  <a:lnTo>
                    <a:pt x="1753" y="1808"/>
                  </a:lnTo>
                  <a:lnTo>
                    <a:pt x="1638" y="1656"/>
                  </a:lnTo>
                  <a:lnTo>
                    <a:pt x="1493" y="1546"/>
                  </a:lnTo>
                  <a:lnTo>
                    <a:pt x="1587" y="1443"/>
                  </a:lnTo>
                  <a:lnTo>
                    <a:pt x="1656" y="1310"/>
                  </a:lnTo>
                  <a:lnTo>
                    <a:pt x="1459" y="1199"/>
                  </a:lnTo>
                  <a:lnTo>
                    <a:pt x="1280" y="1115"/>
                  </a:lnTo>
                  <a:lnTo>
                    <a:pt x="1083" y="1076"/>
                  </a:lnTo>
                  <a:lnTo>
                    <a:pt x="968" y="1103"/>
                  </a:lnTo>
                  <a:lnTo>
                    <a:pt x="869" y="1016"/>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03" name="熊大的PPT宝库1-50"/>
            <p:cNvSpPr/>
            <p:nvPr/>
          </p:nvSpPr>
          <p:spPr>
            <a:xfrm>
              <a:off x="3794258" y="12149019"/>
              <a:ext cx="176422" cy="89842"/>
            </a:xfrm>
            <a:custGeom>
              <a:avLst/>
              <a:gdLst/>
              <a:ahLst/>
              <a:cxnLst>
                <a:cxn ang="0">
                  <a:pos x="wd2" y="hd2"/>
                </a:cxn>
                <a:cxn ang="5400000">
                  <a:pos x="wd2" y="hd2"/>
                </a:cxn>
                <a:cxn ang="10800000">
                  <a:pos x="wd2" y="hd2"/>
                </a:cxn>
                <a:cxn ang="16200000">
                  <a:pos x="wd2" y="hd2"/>
                </a:cxn>
              </a:cxnLst>
              <a:rect l="0" t="0" r="r" b="b"/>
              <a:pathLst>
                <a:path w="21600" h="21600" extrusionOk="0">
                  <a:moveTo>
                    <a:pt x="7225" y="3547"/>
                  </a:moveTo>
                  <a:lnTo>
                    <a:pt x="5676" y="1626"/>
                  </a:lnTo>
                  <a:lnTo>
                    <a:pt x="3209" y="0"/>
                  </a:lnTo>
                  <a:lnTo>
                    <a:pt x="1176" y="1709"/>
                  </a:lnTo>
                  <a:lnTo>
                    <a:pt x="993" y="6809"/>
                  </a:lnTo>
                  <a:lnTo>
                    <a:pt x="0" y="9230"/>
                  </a:lnTo>
                  <a:lnTo>
                    <a:pt x="146" y="11719"/>
                  </a:lnTo>
                  <a:lnTo>
                    <a:pt x="1232" y="14861"/>
                  </a:lnTo>
                  <a:lnTo>
                    <a:pt x="2757" y="16925"/>
                  </a:lnTo>
                  <a:lnTo>
                    <a:pt x="4617" y="16204"/>
                  </a:lnTo>
                  <a:lnTo>
                    <a:pt x="6205" y="18329"/>
                  </a:lnTo>
                  <a:lnTo>
                    <a:pt x="6765" y="21054"/>
                  </a:lnTo>
                  <a:lnTo>
                    <a:pt x="9338" y="21600"/>
                  </a:lnTo>
                  <a:lnTo>
                    <a:pt x="10638" y="20386"/>
                  </a:lnTo>
                  <a:lnTo>
                    <a:pt x="12868" y="19239"/>
                  </a:lnTo>
                  <a:cubicBezTo>
                    <a:pt x="13384" y="19258"/>
                    <a:pt x="13900" y="19258"/>
                    <a:pt x="14416" y="19239"/>
                  </a:cubicBezTo>
                  <a:cubicBezTo>
                    <a:pt x="15695" y="19193"/>
                    <a:pt x="16971" y="19031"/>
                    <a:pt x="18242" y="18754"/>
                  </a:cubicBezTo>
                  <a:lnTo>
                    <a:pt x="20946" y="19118"/>
                  </a:lnTo>
                  <a:lnTo>
                    <a:pt x="21600" y="16751"/>
                  </a:lnTo>
                  <a:lnTo>
                    <a:pt x="17600" y="16751"/>
                  </a:lnTo>
                  <a:lnTo>
                    <a:pt x="14802" y="15172"/>
                  </a:lnTo>
                  <a:lnTo>
                    <a:pt x="13214" y="10808"/>
                  </a:lnTo>
                  <a:lnTo>
                    <a:pt x="11408" y="9230"/>
                  </a:lnTo>
                  <a:lnTo>
                    <a:pt x="9731" y="7773"/>
                  </a:lnTo>
                  <a:lnTo>
                    <a:pt x="9139" y="5420"/>
                  </a:lnTo>
                  <a:lnTo>
                    <a:pt x="7225" y="3547"/>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04" name="熊大的PPT宝库1-51"/>
            <p:cNvSpPr/>
            <p:nvPr/>
          </p:nvSpPr>
          <p:spPr>
            <a:xfrm>
              <a:off x="4003479" y="12091127"/>
              <a:ext cx="110098" cy="46701"/>
            </a:xfrm>
            <a:custGeom>
              <a:avLst/>
              <a:gdLst/>
              <a:ahLst/>
              <a:cxnLst>
                <a:cxn ang="0">
                  <a:pos x="wd2" y="hd2"/>
                </a:cxn>
                <a:cxn ang="5400000">
                  <a:pos x="wd2" y="hd2"/>
                </a:cxn>
                <a:cxn ang="10800000">
                  <a:pos x="wd2" y="hd2"/>
                </a:cxn>
                <a:cxn ang="16200000">
                  <a:pos x="wd2" y="hd2"/>
                </a:cxn>
              </a:cxnLst>
              <a:rect l="0" t="0" r="r" b="b"/>
              <a:pathLst>
                <a:path w="21600" h="21600" extrusionOk="0">
                  <a:moveTo>
                    <a:pt x="8319" y="0"/>
                  </a:moveTo>
                  <a:lnTo>
                    <a:pt x="5026" y="117"/>
                  </a:lnTo>
                  <a:cubicBezTo>
                    <a:pt x="4484" y="789"/>
                    <a:pt x="3941" y="1461"/>
                    <a:pt x="3399" y="2133"/>
                  </a:cubicBezTo>
                  <a:cubicBezTo>
                    <a:pt x="2857" y="2805"/>
                    <a:pt x="2314" y="3476"/>
                    <a:pt x="1772" y="4148"/>
                  </a:cubicBezTo>
                  <a:lnTo>
                    <a:pt x="4542" y="6577"/>
                  </a:lnTo>
                  <a:lnTo>
                    <a:pt x="3392" y="10753"/>
                  </a:lnTo>
                  <a:lnTo>
                    <a:pt x="0" y="11818"/>
                  </a:lnTo>
                  <a:lnTo>
                    <a:pt x="1581" y="16345"/>
                  </a:lnTo>
                  <a:lnTo>
                    <a:pt x="4913" y="16345"/>
                  </a:lnTo>
                  <a:lnTo>
                    <a:pt x="7757" y="19148"/>
                  </a:lnTo>
                  <a:lnTo>
                    <a:pt x="10993" y="21600"/>
                  </a:lnTo>
                  <a:lnTo>
                    <a:pt x="14223" y="19761"/>
                  </a:lnTo>
                  <a:lnTo>
                    <a:pt x="14972" y="14169"/>
                  </a:lnTo>
                  <a:lnTo>
                    <a:pt x="18108" y="8928"/>
                  </a:lnTo>
                  <a:lnTo>
                    <a:pt x="21600" y="7876"/>
                  </a:lnTo>
                  <a:lnTo>
                    <a:pt x="21600" y="3101"/>
                  </a:lnTo>
                  <a:lnTo>
                    <a:pt x="19411" y="1378"/>
                  </a:lnTo>
                  <a:lnTo>
                    <a:pt x="17621" y="692"/>
                  </a:lnTo>
                  <a:lnTo>
                    <a:pt x="12533" y="2093"/>
                  </a:lnTo>
                  <a:lnTo>
                    <a:pt x="10949" y="1393"/>
                  </a:lnTo>
                  <a:lnTo>
                    <a:pt x="8319"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05" name="熊大的PPT宝库1-52"/>
            <p:cNvSpPr/>
            <p:nvPr/>
          </p:nvSpPr>
          <p:spPr>
            <a:xfrm>
              <a:off x="5186542" y="8883037"/>
              <a:ext cx="2278812" cy="2612773"/>
            </a:xfrm>
            <a:custGeom>
              <a:avLst/>
              <a:gdLst/>
              <a:ahLst/>
              <a:cxnLst>
                <a:cxn ang="0">
                  <a:pos x="wd2" y="hd2"/>
                </a:cxn>
                <a:cxn ang="5400000">
                  <a:pos x="wd2" y="hd2"/>
                </a:cxn>
                <a:cxn ang="10800000">
                  <a:pos x="wd2" y="hd2"/>
                </a:cxn>
                <a:cxn ang="16200000">
                  <a:pos x="wd2" y="hd2"/>
                </a:cxn>
              </a:cxnLst>
              <a:rect l="0" t="0" r="r" b="b"/>
              <a:pathLst>
                <a:path w="21600" h="21600" extrusionOk="0">
                  <a:moveTo>
                    <a:pt x="11905" y="1298"/>
                  </a:moveTo>
                  <a:lnTo>
                    <a:pt x="11748" y="1386"/>
                  </a:lnTo>
                  <a:lnTo>
                    <a:pt x="11649" y="1501"/>
                  </a:lnTo>
                  <a:lnTo>
                    <a:pt x="11657" y="1629"/>
                  </a:lnTo>
                  <a:lnTo>
                    <a:pt x="11744" y="1704"/>
                  </a:lnTo>
                  <a:lnTo>
                    <a:pt x="11765" y="1791"/>
                  </a:lnTo>
                  <a:lnTo>
                    <a:pt x="11622" y="1915"/>
                  </a:lnTo>
                  <a:lnTo>
                    <a:pt x="11470" y="2059"/>
                  </a:lnTo>
                  <a:lnTo>
                    <a:pt x="11326" y="2096"/>
                  </a:lnTo>
                  <a:lnTo>
                    <a:pt x="11204" y="2078"/>
                  </a:lnTo>
                  <a:lnTo>
                    <a:pt x="10972" y="2003"/>
                  </a:lnTo>
                  <a:lnTo>
                    <a:pt x="10824" y="1959"/>
                  </a:lnTo>
                  <a:lnTo>
                    <a:pt x="10659" y="1903"/>
                  </a:lnTo>
                  <a:lnTo>
                    <a:pt x="10370" y="1872"/>
                  </a:lnTo>
                  <a:lnTo>
                    <a:pt x="10297" y="1768"/>
                  </a:lnTo>
                  <a:lnTo>
                    <a:pt x="10194" y="1639"/>
                  </a:lnTo>
                  <a:lnTo>
                    <a:pt x="10095" y="1497"/>
                  </a:lnTo>
                  <a:lnTo>
                    <a:pt x="9893" y="1403"/>
                  </a:lnTo>
                  <a:lnTo>
                    <a:pt x="9738" y="1384"/>
                  </a:lnTo>
                  <a:lnTo>
                    <a:pt x="9487" y="1311"/>
                  </a:lnTo>
                  <a:lnTo>
                    <a:pt x="9256" y="1311"/>
                  </a:lnTo>
                  <a:lnTo>
                    <a:pt x="9130" y="1305"/>
                  </a:lnTo>
                  <a:lnTo>
                    <a:pt x="9053" y="1242"/>
                  </a:lnTo>
                  <a:lnTo>
                    <a:pt x="8911" y="1116"/>
                  </a:lnTo>
                  <a:lnTo>
                    <a:pt x="8694" y="947"/>
                  </a:lnTo>
                  <a:lnTo>
                    <a:pt x="8636" y="849"/>
                  </a:lnTo>
                  <a:lnTo>
                    <a:pt x="8687" y="761"/>
                  </a:lnTo>
                  <a:lnTo>
                    <a:pt x="8783" y="636"/>
                  </a:lnTo>
                  <a:lnTo>
                    <a:pt x="8776" y="548"/>
                  </a:lnTo>
                  <a:lnTo>
                    <a:pt x="8704" y="440"/>
                  </a:lnTo>
                  <a:lnTo>
                    <a:pt x="8651" y="369"/>
                  </a:lnTo>
                  <a:lnTo>
                    <a:pt x="8694" y="263"/>
                  </a:lnTo>
                  <a:lnTo>
                    <a:pt x="8750" y="213"/>
                  </a:lnTo>
                  <a:lnTo>
                    <a:pt x="8706" y="120"/>
                  </a:lnTo>
                  <a:lnTo>
                    <a:pt x="8574" y="53"/>
                  </a:lnTo>
                  <a:lnTo>
                    <a:pt x="8473" y="0"/>
                  </a:lnTo>
                  <a:lnTo>
                    <a:pt x="8301" y="31"/>
                  </a:lnTo>
                  <a:lnTo>
                    <a:pt x="8038" y="123"/>
                  </a:lnTo>
                  <a:lnTo>
                    <a:pt x="7831" y="167"/>
                  </a:lnTo>
                  <a:lnTo>
                    <a:pt x="7542" y="204"/>
                  </a:lnTo>
                  <a:lnTo>
                    <a:pt x="7323" y="198"/>
                  </a:lnTo>
                  <a:lnTo>
                    <a:pt x="7098" y="173"/>
                  </a:lnTo>
                  <a:lnTo>
                    <a:pt x="6861" y="167"/>
                  </a:lnTo>
                  <a:lnTo>
                    <a:pt x="6735" y="117"/>
                  </a:lnTo>
                  <a:lnTo>
                    <a:pt x="6538" y="97"/>
                  </a:lnTo>
                  <a:lnTo>
                    <a:pt x="6405" y="145"/>
                  </a:lnTo>
                  <a:lnTo>
                    <a:pt x="6221" y="214"/>
                  </a:lnTo>
                  <a:lnTo>
                    <a:pt x="6040" y="224"/>
                  </a:lnTo>
                  <a:lnTo>
                    <a:pt x="5774" y="295"/>
                  </a:lnTo>
                  <a:lnTo>
                    <a:pt x="5503" y="389"/>
                  </a:lnTo>
                  <a:lnTo>
                    <a:pt x="5346" y="481"/>
                  </a:lnTo>
                  <a:lnTo>
                    <a:pt x="5159" y="600"/>
                  </a:lnTo>
                  <a:lnTo>
                    <a:pt x="4994" y="675"/>
                  </a:lnTo>
                  <a:cubicBezTo>
                    <a:pt x="4958" y="685"/>
                    <a:pt x="4920" y="693"/>
                    <a:pt x="4883" y="698"/>
                  </a:cubicBezTo>
                  <a:cubicBezTo>
                    <a:pt x="4849" y="702"/>
                    <a:pt x="4815" y="704"/>
                    <a:pt x="4781" y="704"/>
                  </a:cubicBezTo>
                  <a:lnTo>
                    <a:pt x="4638" y="679"/>
                  </a:lnTo>
                  <a:lnTo>
                    <a:pt x="4547" y="675"/>
                  </a:lnTo>
                  <a:lnTo>
                    <a:pt x="4417" y="656"/>
                  </a:lnTo>
                  <a:lnTo>
                    <a:pt x="4244" y="637"/>
                  </a:lnTo>
                  <a:lnTo>
                    <a:pt x="4107" y="562"/>
                  </a:lnTo>
                  <a:lnTo>
                    <a:pt x="3988" y="482"/>
                  </a:lnTo>
                  <a:lnTo>
                    <a:pt x="3873" y="464"/>
                  </a:lnTo>
                  <a:lnTo>
                    <a:pt x="3807" y="533"/>
                  </a:lnTo>
                  <a:lnTo>
                    <a:pt x="3751" y="608"/>
                  </a:lnTo>
                  <a:lnTo>
                    <a:pt x="3646" y="730"/>
                  </a:lnTo>
                  <a:lnTo>
                    <a:pt x="3580" y="822"/>
                  </a:lnTo>
                  <a:lnTo>
                    <a:pt x="3480" y="939"/>
                  </a:lnTo>
                  <a:lnTo>
                    <a:pt x="3212" y="1058"/>
                  </a:lnTo>
                  <a:lnTo>
                    <a:pt x="2961" y="1162"/>
                  </a:lnTo>
                  <a:lnTo>
                    <a:pt x="2882" y="1237"/>
                  </a:lnTo>
                  <a:lnTo>
                    <a:pt x="2746" y="1325"/>
                  </a:lnTo>
                  <a:lnTo>
                    <a:pt x="2704" y="1430"/>
                  </a:lnTo>
                  <a:lnTo>
                    <a:pt x="2576" y="1610"/>
                  </a:lnTo>
                  <a:lnTo>
                    <a:pt x="2532" y="1707"/>
                  </a:lnTo>
                  <a:lnTo>
                    <a:pt x="2566" y="1826"/>
                  </a:lnTo>
                  <a:lnTo>
                    <a:pt x="2573" y="1918"/>
                  </a:lnTo>
                  <a:lnTo>
                    <a:pt x="2559" y="2012"/>
                  </a:lnTo>
                  <a:lnTo>
                    <a:pt x="2544" y="2114"/>
                  </a:lnTo>
                  <a:lnTo>
                    <a:pt x="2436" y="2195"/>
                  </a:lnTo>
                  <a:lnTo>
                    <a:pt x="2269" y="2330"/>
                  </a:lnTo>
                  <a:lnTo>
                    <a:pt x="2091" y="2512"/>
                  </a:lnTo>
                  <a:lnTo>
                    <a:pt x="1925" y="2605"/>
                  </a:lnTo>
                  <a:lnTo>
                    <a:pt x="1797" y="2653"/>
                  </a:lnTo>
                  <a:lnTo>
                    <a:pt x="1647" y="2722"/>
                  </a:lnTo>
                  <a:lnTo>
                    <a:pt x="1528" y="2808"/>
                  </a:lnTo>
                  <a:lnTo>
                    <a:pt x="1447" y="2931"/>
                  </a:lnTo>
                  <a:lnTo>
                    <a:pt x="1332" y="3038"/>
                  </a:lnTo>
                  <a:lnTo>
                    <a:pt x="1173" y="3213"/>
                  </a:lnTo>
                  <a:lnTo>
                    <a:pt x="1030" y="3388"/>
                  </a:lnTo>
                  <a:lnTo>
                    <a:pt x="1001" y="3475"/>
                  </a:lnTo>
                  <a:lnTo>
                    <a:pt x="951" y="3585"/>
                  </a:lnTo>
                  <a:lnTo>
                    <a:pt x="845" y="3723"/>
                  </a:lnTo>
                  <a:lnTo>
                    <a:pt x="700" y="3911"/>
                  </a:lnTo>
                  <a:lnTo>
                    <a:pt x="650" y="4048"/>
                  </a:lnTo>
                  <a:lnTo>
                    <a:pt x="448" y="4221"/>
                  </a:lnTo>
                  <a:lnTo>
                    <a:pt x="410" y="4305"/>
                  </a:lnTo>
                  <a:lnTo>
                    <a:pt x="349" y="4386"/>
                  </a:lnTo>
                  <a:lnTo>
                    <a:pt x="269" y="4455"/>
                  </a:lnTo>
                  <a:lnTo>
                    <a:pt x="232" y="4555"/>
                  </a:lnTo>
                  <a:lnTo>
                    <a:pt x="226" y="4651"/>
                  </a:lnTo>
                  <a:lnTo>
                    <a:pt x="176" y="4751"/>
                  </a:lnTo>
                  <a:lnTo>
                    <a:pt x="156" y="4813"/>
                  </a:lnTo>
                  <a:lnTo>
                    <a:pt x="163" y="4888"/>
                  </a:lnTo>
                  <a:lnTo>
                    <a:pt x="220" y="5002"/>
                  </a:lnTo>
                  <a:lnTo>
                    <a:pt x="292" y="5121"/>
                  </a:lnTo>
                  <a:lnTo>
                    <a:pt x="355" y="5258"/>
                  </a:lnTo>
                  <a:lnTo>
                    <a:pt x="369" y="5453"/>
                  </a:lnTo>
                  <a:lnTo>
                    <a:pt x="413" y="5578"/>
                  </a:lnTo>
                  <a:lnTo>
                    <a:pt x="477" y="5695"/>
                  </a:lnTo>
                  <a:lnTo>
                    <a:pt x="477" y="5825"/>
                  </a:lnTo>
                  <a:lnTo>
                    <a:pt x="441" y="5944"/>
                  </a:lnTo>
                  <a:lnTo>
                    <a:pt x="405" y="6019"/>
                  </a:lnTo>
                  <a:lnTo>
                    <a:pt x="391" y="6138"/>
                  </a:lnTo>
                  <a:lnTo>
                    <a:pt x="355" y="6250"/>
                  </a:lnTo>
                  <a:lnTo>
                    <a:pt x="307" y="6323"/>
                  </a:lnTo>
                  <a:lnTo>
                    <a:pt x="280" y="6392"/>
                  </a:lnTo>
                  <a:lnTo>
                    <a:pt x="215" y="6459"/>
                  </a:lnTo>
                  <a:lnTo>
                    <a:pt x="80" y="6545"/>
                  </a:lnTo>
                  <a:lnTo>
                    <a:pt x="0" y="6592"/>
                  </a:lnTo>
                  <a:lnTo>
                    <a:pt x="0" y="6680"/>
                  </a:lnTo>
                  <a:lnTo>
                    <a:pt x="74" y="6761"/>
                  </a:lnTo>
                  <a:lnTo>
                    <a:pt x="110" y="6891"/>
                  </a:lnTo>
                  <a:lnTo>
                    <a:pt x="117" y="7009"/>
                  </a:lnTo>
                  <a:lnTo>
                    <a:pt x="117" y="7138"/>
                  </a:lnTo>
                  <a:lnTo>
                    <a:pt x="61" y="7213"/>
                  </a:lnTo>
                  <a:lnTo>
                    <a:pt x="54" y="7299"/>
                  </a:lnTo>
                  <a:lnTo>
                    <a:pt x="185" y="7447"/>
                  </a:lnTo>
                  <a:lnTo>
                    <a:pt x="278" y="7578"/>
                  </a:lnTo>
                  <a:lnTo>
                    <a:pt x="459" y="7641"/>
                  </a:lnTo>
                  <a:lnTo>
                    <a:pt x="564" y="7676"/>
                  </a:lnTo>
                  <a:lnTo>
                    <a:pt x="670" y="7805"/>
                  </a:lnTo>
                  <a:lnTo>
                    <a:pt x="779" y="7951"/>
                  </a:lnTo>
                  <a:lnTo>
                    <a:pt x="880" y="8070"/>
                  </a:lnTo>
                  <a:lnTo>
                    <a:pt x="1010" y="8216"/>
                  </a:lnTo>
                  <a:lnTo>
                    <a:pt x="1152" y="8321"/>
                  </a:lnTo>
                  <a:lnTo>
                    <a:pt x="1238" y="8546"/>
                  </a:lnTo>
                  <a:lnTo>
                    <a:pt x="1195" y="8652"/>
                  </a:lnTo>
                  <a:lnTo>
                    <a:pt x="1275" y="8822"/>
                  </a:lnTo>
                  <a:lnTo>
                    <a:pt x="1378" y="8876"/>
                  </a:lnTo>
                  <a:lnTo>
                    <a:pt x="1513" y="8970"/>
                  </a:lnTo>
                  <a:lnTo>
                    <a:pt x="1679" y="9195"/>
                  </a:lnTo>
                  <a:lnTo>
                    <a:pt x="1843" y="9284"/>
                  </a:lnTo>
                  <a:lnTo>
                    <a:pt x="1963" y="9393"/>
                  </a:lnTo>
                  <a:lnTo>
                    <a:pt x="2026" y="9468"/>
                  </a:lnTo>
                  <a:lnTo>
                    <a:pt x="2137" y="9480"/>
                  </a:lnTo>
                  <a:lnTo>
                    <a:pt x="2185" y="9549"/>
                  </a:lnTo>
                  <a:lnTo>
                    <a:pt x="2387" y="9655"/>
                  </a:lnTo>
                  <a:lnTo>
                    <a:pt x="2546" y="9722"/>
                  </a:lnTo>
                  <a:lnTo>
                    <a:pt x="2676" y="9747"/>
                  </a:lnTo>
                  <a:lnTo>
                    <a:pt x="2864" y="9801"/>
                  </a:lnTo>
                  <a:lnTo>
                    <a:pt x="3059" y="9868"/>
                  </a:lnTo>
                  <a:lnTo>
                    <a:pt x="3321" y="9803"/>
                  </a:lnTo>
                  <a:lnTo>
                    <a:pt x="3355" y="9741"/>
                  </a:lnTo>
                  <a:lnTo>
                    <a:pt x="3514" y="9656"/>
                  </a:lnTo>
                  <a:lnTo>
                    <a:pt x="3671" y="9656"/>
                  </a:lnTo>
                  <a:lnTo>
                    <a:pt x="3834" y="9668"/>
                  </a:lnTo>
                  <a:lnTo>
                    <a:pt x="3928" y="9618"/>
                  </a:lnTo>
                  <a:lnTo>
                    <a:pt x="4065" y="9568"/>
                  </a:lnTo>
                  <a:lnTo>
                    <a:pt x="4183" y="9562"/>
                  </a:lnTo>
                  <a:lnTo>
                    <a:pt x="4264" y="9614"/>
                  </a:lnTo>
                  <a:lnTo>
                    <a:pt x="4399" y="9656"/>
                  </a:lnTo>
                  <a:lnTo>
                    <a:pt x="4491" y="9685"/>
                  </a:lnTo>
                  <a:lnTo>
                    <a:pt x="4570" y="9697"/>
                  </a:lnTo>
                  <a:lnTo>
                    <a:pt x="4741" y="9672"/>
                  </a:lnTo>
                  <a:lnTo>
                    <a:pt x="4835" y="9629"/>
                  </a:lnTo>
                  <a:lnTo>
                    <a:pt x="5049" y="9541"/>
                  </a:lnTo>
                  <a:lnTo>
                    <a:pt x="5236" y="9504"/>
                  </a:lnTo>
                  <a:lnTo>
                    <a:pt x="5409" y="9560"/>
                  </a:lnTo>
                  <a:lnTo>
                    <a:pt x="5568" y="9456"/>
                  </a:lnTo>
                  <a:lnTo>
                    <a:pt x="5900" y="9362"/>
                  </a:lnTo>
                  <a:lnTo>
                    <a:pt x="6211" y="9231"/>
                  </a:lnTo>
                  <a:lnTo>
                    <a:pt x="6387" y="9206"/>
                  </a:lnTo>
                  <a:lnTo>
                    <a:pt x="6552" y="9212"/>
                  </a:lnTo>
                  <a:lnTo>
                    <a:pt x="6746" y="9256"/>
                  </a:lnTo>
                  <a:lnTo>
                    <a:pt x="6865" y="9309"/>
                  </a:lnTo>
                  <a:lnTo>
                    <a:pt x="6951" y="9353"/>
                  </a:lnTo>
                  <a:lnTo>
                    <a:pt x="7023" y="9409"/>
                  </a:lnTo>
                  <a:lnTo>
                    <a:pt x="7103" y="9497"/>
                  </a:lnTo>
                  <a:lnTo>
                    <a:pt x="7134" y="9626"/>
                  </a:lnTo>
                  <a:lnTo>
                    <a:pt x="7148" y="9713"/>
                  </a:lnTo>
                  <a:lnTo>
                    <a:pt x="7170" y="9786"/>
                  </a:lnTo>
                  <a:lnTo>
                    <a:pt x="7298" y="9829"/>
                  </a:lnTo>
                  <a:lnTo>
                    <a:pt x="7435" y="9842"/>
                  </a:lnTo>
                  <a:lnTo>
                    <a:pt x="7584" y="9786"/>
                  </a:lnTo>
                  <a:lnTo>
                    <a:pt x="7980" y="9786"/>
                  </a:lnTo>
                  <a:lnTo>
                    <a:pt x="8202" y="9831"/>
                  </a:lnTo>
                  <a:lnTo>
                    <a:pt x="8289" y="9968"/>
                  </a:lnTo>
                  <a:lnTo>
                    <a:pt x="8455" y="10087"/>
                  </a:lnTo>
                  <a:lnTo>
                    <a:pt x="8491" y="10175"/>
                  </a:lnTo>
                  <a:lnTo>
                    <a:pt x="8498" y="10323"/>
                  </a:lnTo>
                  <a:lnTo>
                    <a:pt x="8534" y="10455"/>
                  </a:lnTo>
                  <a:lnTo>
                    <a:pt x="8534" y="10567"/>
                  </a:lnTo>
                  <a:lnTo>
                    <a:pt x="8486" y="10709"/>
                  </a:lnTo>
                  <a:lnTo>
                    <a:pt x="8438" y="10877"/>
                  </a:lnTo>
                  <a:lnTo>
                    <a:pt x="8421" y="11008"/>
                  </a:lnTo>
                  <a:lnTo>
                    <a:pt x="8356" y="11171"/>
                  </a:lnTo>
                  <a:lnTo>
                    <a:pt x="8236" y="11348"/>
                  </a:lnTo>
                  <a:lnTo>
                    <a:pt x="8272" y="11458"/>
                  </a:lnTo>
                  <a:lnTo>
                    <a:pt x="8279" y="11545"/>
                  </a:lnTo>
                  <a:lnTo>
                    <a:pt x="8322" y="11649"/>
                  </a:lnTo>
                  <a:lnTo>
                    <a:pt x="8387" y="11749"/>
                  </a:lnTo>
                  <a:lnTo>
                    <a:pt x="8437" y="11849"/>
                  </a:lnTo>
                  <a:lnTo>
                    <a:pt x="8567" y="11936"/>
                  </a:lnTo>
                  <a:lnTo>
                    <a:pt x="8726" y="12086"/>
                  </a:lnTo>
                  <a:lnTo>
                    <a:pt x="8935" y="12257"/>
                  </a:lnTo>
                  <a:lnTo>
                    <a:pt x="9193" y="12538"/>
                  </a:lnTo>
                  <a:lnTo>
                    <a:pt x="9222" y="12667"/>
                  </a:lnTo>
                  <a:lnTo>
                    <a:pt x="9215" y="12761"/>
                  </a:lnTo>
                  <a:lnTo>
                    <a:pt x="9229" y="12888"/>
                  </a:lnTo>
                  <a:lnTo>
                    <a:pt x="9266" y="13018"/>
                  </a:lnTo>
                  <a:lnTo>
                    <a:pt x="9302" y="13097"/>
                  </a:lnTo>
                  <a:lnTo>
                    <a:pt x="9403" y="13235"/>
                  </a:lnTo>
                  <a:lnTo>
                    <a:pt x="9453" y="13316"/>
                  </a:lnTo>
                  <a:lnTo>
                    <a:pt x="9566" y="13451"/>
                  </a:lnTo>
                  <a:lnTo>
                    <a:pt x="9766" y="13633"/>
                  </a:lnTo>
                  <a:lnTo>
                    <a:pt x="9692" y="13770"/>
                  </a:lnTo>
                  <a:lnTo>
                    <a:pt x="9591" y="13864"/>
                  </a:lnTo>
                  <a:lnTo>
                    <a:pt x="9591" y="13962"/>
                  </a:lnTo>
                  <a:lnTo>
                    <a:pt x="9620" y="14068"/>
                  </a:lnTo>
                  <a:lnTo>
                    <a:pt x="9710" y="14197"/>
                  </a:lnTo>
                  <a:lnTo>
                    <a:pt x="9780" y="14370"/>
                  </a:lnTo>
                  <a:lnTo>
                    <a:pt x="9795" y="14482"/>
                  </a:lnTo>
                  <a:lnTo>
                    <a:pt x="9802" y="14588"/>
                  </a:lnTo>
                  <a:lnTo>
                    <a:pt x="9775" y="14690"/>
                  </a:lnTo>
                  <a:lnTo>
                    <a:pt x="9739" y="14790"/>
                  </a:lnTo>
                  <a:lnTo>
                    <a:pt x="9667" y="14915"/>
                  </a:lnTo>
                  <a:lnTo>
                    <a:pt x="9609" y="15021"/>
                  </a:lnTo>
                  <a:lnTo>
                    <a:pt x="9530" y="15132"/>
                  </a:lnTo>
                  <a:lnTo>
                    <a:pt x="9479" y="15276"/>
                  </a:lnTo>
                  <a:lnTo>
                    <a:pt x="9395" y="15443"/>
                  </a:lnTo>
                  <a:lnTo>
                    <a:pt x="9345" y="15586"/>
                  </a:lnTo>
                  <a:lnTo>
                    <a:pt x="9275" y="15726"/>
                  </a:lnTo>
                  <a:lnTo>
                    <a:pt x="9162" y="15929"/>
                  </a:lnTo>
                  <a:lnTo>
                    <a:pt x="9125" y="16060"/>
                  </a:lnTo>
                  <a:lnTo>
                    <a:pt x="9118" y="16204"/>
                  </a:lnTo>
                  <a:lnTo>
                    <a:pt x="9133" y="16366"/>
                  </a:lnTo>
                  <a:lnTo>
                    <a:pt x="9145" y="16558"/>
                  </a:lnTo>
                  <a:lnTo>
                    <a:pt x="9224" y="16671"/>
                  </a:lnTo>
                  <a:lnTo>
                    <a:pt x="9275" y="16808"/>
                  </a:lnTo>
                  <a:lnTo>
                    <a:pt x="9364" y="16942"/>
                  </a:lnTo>
                  <a:lnTo>
                    <a:pt x="9448" y="17105"/>
                  </a:lnTo>
                  <a:lnTo>
                    <a:pt x="9540" y="17211"/>
                  </a:lnTo>
                  <a:lnTo>
                    <a:pt x="9663" y="17399"/>
                  </a:lnTo>
                  <a:lnTo>
                    <a:pt x="9739" y="17522"/>
                  </a:lnTo>
                  <a:lnTo>
                    <a:pt x="9826" y="17703"/>
                  </a:lnTo>
                  <a:lnTo>
                    <a:pt x="9978" y="17846"/>
                  </a:lnTo>
                  <a:lnTo>
                    <a:pt x="9978" y="17984"/>
                  </a:lnTo>
                  <a:lnTo>
                    <a:pt x="10014" y="18084"/>
                  </a:lnTo>
                  <a:lnTo>
                    <a:pt x="10050" y="18240"/>
                  </a:lnTo>
                  <a:lnTo>
                    <a:pt x="10081" y="18371"/>
                  </a:lnTo>
                  <a:lnTo>
                    <a:pt x="10146" y="18518"/>
                  </a:lnTo>
                  <a:lnTo>
                    <a:pt x="10197" y="18674"/>
                  </a:lnTo>
                  <a:lnTo>
                    <a:pt x="10223" y="18828"/>
                  </a:lnTo>
                  <a:lnTo>
                    <a:pt x="10173" y="18905"/>
                  </a:lnTo>
                  <a:cubicBezTo>
                    <a:pt x="10161" y="18932"/>
                    <a:pt x="10154" y="18960"/>
                    <a:pt x="10154" y="18989"/>
                  </a:cubicBezTo>
                  <a:cubicBezTo>
                    <a:pt x="10153" y="19050"/>
                    <a:pt x="10179" y="19109"/>
                    <a:pt x="10226" y="19154"/>
                  </a:cubicBezTo>
                  <a:lnTo>
                    <a:pt x="10226" y="19319"/>
                  </a:lnTo>
                  <a:lnTo>
                    <a:pt x="10198" y="19438"/>
                  </a:lnTo>
                  <a:lnTo>
                    <a:pt x="10205" y="19569"/>
                  </a:lnTo>
                  <a:lnTo>
                    <a:pt x="10335" y="19657"/>
                  </a:lnTo>
                  <a:cubicBezTo>
                    <a:pt x="10390" y="19680"/>
                    <a:pt x="10437" y="19714"/>
                    <a:pt x="10472" y="19757"/>
                  </a:cubicBezTo>
                  <a:cubicBezTo>
                    <a:pt x="10520" y="19816"/>
                    <a:pt x="10543" y="19887"/>
                    <a:pt x="10537" y="19959"/>
                  </a:cubicBezTo>
                  <a:cubicBezTo>
                    <a:pt x="10582" y="19972"/>
                    <a:pt x="10624" y="19991"/>
                    <a:pt x="10662" y="20015"/>
                  </a:cubicBezTo>
                  <a:cubicBezTo>
                    <a:pt x="10709" y="20045"/>
                    <a:pt x="10748" y="20083"/>
                    <a:pt x="10778" y="20126"/>
                  </a:cubicBezTo>
                  <a:lnTo>
                    <a:pt x="10833" y="20258"/>
                  </a:lnTo>
                  <a:lnTo>
                    <a:pt x="10886" y="20443"/>
                  </a:lnTo>
                  <a:lnTo>
                    <a:pt x="10987" y="20518"/>
                  </a:lnTo>
                  <a:lnTo>
                    <a:pt x="11146" y="20643"/>
                  </a:lnTo>
                  <a:lnTo>
                    <a:pt x="11228" y="20767"/>
                  </a:lnTo>
                  <a:lnTo>
                    <a:pt x="11192" y="20929"/>
                  </a:lnTo>
                  <a:lnTo>
                    <a:pt x="11116" y="20979"/>
                  </a:lnTo>
                  <a:lnTo>
                    <a:pt x="11094" y="21129"/>
                  </a:lnTo>
                  <a:lnTo>
                    <a:pt x="11138" y="21216"/>
                  </a:lnTo>
                  <a:lnTo>
                    <a:pt x="11232" y="21323"/>
                  </a:lnTo>
                  <a:lnTo>
                    <a:pt x="11296" y="21404"/>
                  </a:lnTo>
                  <a:lnTo>
                    <a:pt x="11398" y="21485"/>
                  </a:lnTo>
                  <a:lnTo>
                    <a:pt x="11510" y="21554"/>
                  </a:lnTo>
                  <a:lnTo>
                    <a:pt x="11611" y="21600"/>
                  </a:lnTo>
                  <a:lnTo>
                    <a:pt x="11710" y="21587"/>
                  </a:lnTo>
                  <a:lnTo>
                    <a:pt x="11885" y="21519"/>
                  </a:lnTo>
                  <a:lnTo>
                    <a:pt x="12056" y="21494"/>
                  </a:lnTo>
                  <a:lnTo>
                    <a:pt x="12201" y="21481"/>
                  </a:lnTo>
                  <a:lnTo>
                    <a:pt x="12338" y="21418"/>
                  </a:lnTo>
                  <a:lnTo>
                    <a:pt x="12439" y="21389"/>
                  </a:lnTo>
                  <a:lnTo>
                    <a:pt x="12576" y="21408"/>
                  </a:lnTo>
                  <a:lnTo>
                    <a:pt x="12739" y="21426"/>
                  </a:lnTo>
                  <a:lnTo>
                    <a:pt x="12983" y="21499"/>
                  </a:lnTo>
                  <a:lnTo>
                    <a:pt x="13082" y="21535"/>
                  </a:lnTo>
                  <a:lnTo>
                    <a:pt x="13262" y="21478"/>
                  </a:lnTo>
                  <a:lnTo>
                    <a:pt x="13457" y="21372"/>
                  </a:lnTo>
                  <a:lnTo>
                    <a:pt x="13645" y="21293"/>
                  </a:lnTo>
                  <a:lnTo>
                    <a:pt x="13855" y="21184"/>
                  </a:lnTo>
                  <a:lnTo>
                    <a:pt x="13917" y="21124"/>
                  </a:lnTo>
                  <a:lnTo>
                    <a:pt x="14020" y="21112"/>
                  </a:lnTo>
                  <a:lnTo>
                    <a:pt x="14140" y="20918"/>
                  </a:lnTo>
                  <a:lnTo>
                    <a:pt x="14308" y="20841"/>
                  </a:lnTo>
                  <a:lnTo>
                    <a:pt x="14496" y="20735"/>
                  </a:lnTo>
                  <a:lnTo>
                    <a:pt x="14532" y="20631"/>
                  </a:lnTo>
                  <a:cubicBezTo>
                    <a:pt x="14523" y="20597"/>
                    <a:pt x="14526" y="20563"/>
                    <a:pt x="14539" y="20531"/>
                  </a:cubicBezTo>
                  <a:cubicBezTo>
                    <a:pt x="14575" y="20440"/>
                    <a:pt x="14682" y="20384"/>
                    <a:pt x="14791" y="20399"/>
                  </a:cubicBezTo>
                  <a:lnTo>
                    <a:pt x="14996" y="20260"/>
                  </a:lnTo>
                  <a:lnTo>
                    <a:pt x="15107" y="20110"/>
                  </a:lnTo>
                  <a:lnTo>
                    <a:pt x="15150" y="19997"/>
                  </a:lnTo>
                  <a:lnTo>
                    <a:pt x="15186" y="19891"/>
                  </a:lnTo>
                  <a:lnTo>
                    <a:pt x="15369" y="19792"/>
                  </a:lnTo>
                  <a:lnTo>
                    <a:pt x="15454" y="19676"/>
                  </a:lnTo>
                  <a:lnTo>
                    <a:pt x="15576" y="19632"/>
                  </a:lnTo>
                  <a:lnTo>
                    <a:pt x="15638" y="19549"/>
                  </a:lnTo>
                  <a:lnTo>
                    <a:pt x="15609" y="19482"/>
                  </a:lnTo>
                  <a:lnTo>
                    <a:pt x="15554" y="19391"/>
                  </a:lnTo>
                  <a:lnTo>
                    <a:pt x="15540" y="19247"/>
                  </a:lnTo>
                  <a:lnTo>
                    <a:pt x="15594" y="18994"/>
                  </a:lnTo>
                  <a:lnTo>
                    <a:pt x="15680" y="18888"/>
                  </a:lnTo>
                  <a:lnTo>
                    <a:pt x="15783" y="18803"/>
                  </a:lnTo>
                  <a:lnTo>
                    <a:pt x="16108" y="18703"/>
                  </a:lnTo>
                  <a:lnTo>
                    <a:pt x="16294" y="18563"/>
                  </a:lnTo>
                  <a:lnTo>
                    <a:pt x="16356" y="18482"/>
                  </a:lnTo>
                  <a:lnTo>
                    <a:pt x="16450" y="18419"/>
                  </a:lnTo>
                  <a:lnTo>
                    <a:pt x="16505" y="18325"/>
                  </a:lnTo>
                  <a:lnTo>
                    <a:pt x="16541" y="18156"/>
                  </a:lnTo>
                  <a:lnTo>
                    <a:pt x="16548" y="18043"/>
                  </a:lnTo>
                  <a:lnTo>
                    <a:pt x="16548" y="17943"/>
                  </a:lnTo>
                  <a:lnTo>
                    <a:pt x="16457" y="17826"/>
                  </a:lnTo>
                  <a:lnTo>
                    <a:pt x="16334" y="17670"/>
                  </a:lnTo>
                  <a:lnTo>
                    <a:pt x="16240" y="17538"/>
                  </a:lnTo>
                  <a:lnTo>
                    <a:pt x="16254" y="17449"/>
                  </a:lnTo>
                  <a:lnTo>
                    <a:pt x="16304" y="17342"/>
                  </a:lnTo>
                  <a:lnTo>
                    <a:pt x="16369" y="17186"/>
                  </a:lnTo>
                  <a:lnTo>
                    <a:pt x="16451" y="17084"/>
                  </a:lnTo>
                  <a:lnTo>
                    <a:pt x="16585" y="16986"/>
                  </a:lnTo>
                  <a:lnTo>
                    <a:pt x="16672" y="16904"/>
                  </a:lnTo>
                  <a:lnTo>
                    <a:pt x="16819" y="16806"/>
                  </a:lnTo>
                  <a:lnTo>
                    <a:pt x="16908" y="16667"/>
                  </a:lnTo>
                  <a:lnTo>
                    <a:pt x="17014" y="16561"/>
                  </a:lnTo>
                  <a:lnTo>
                    <a:pt x="17093" y="16492"/>
                  </a:lnTo>
                  <a:lnTo>
                    <a:pt x="17208" y="16417"/>
                  </a:lnTo>
                  <a:lnTo>
                    <a:pt x="17512" y="16298"/>
                  </a:lnTo>
                  <a:lnTo>
                    <a:pt x="17764" y="16173"/>
                  </a:lnTo>
                  <a:lnTo>
                    <a:pt x="17834" y="16130"/>
                  </a:lnTo>
                  <a:lnTo>
                    <a:pt x="18026" y="15990"/>
                  </a:lnTo>
                  <a:cubicBezTo>
                    <a:pt x="18082" y="15956"/>
                    <a:pt x="18127" y="15911"/>
                    <a:pt x="18157" y="15859"/>
                  </a:cubicBezTo>
                  <a:cubicBezTo>
                    <a:pt x="18188" y="15803"/>
                    <a:pt x="18203" y="15741"/>
                    <a:pt x="18198" y="15679"/>
                  </a:cubicBezTo>
                  <a:lnTo>
                    <a:pt x="18246" y="15583"/>
                  </a:lnTo>
                  <a:lnTo>
                    <a:pt x="18366" y="15487"/>
                  </a:lnTo>
                  <a:lnTo>
                    <a:pt x="18345" y="15404"/>
                  </a:lnTo>
                  <a:lnTo>
                    <a:pt x="18243" y="15335"/>
                  </a:lnTo>
                  <a:lnTo>
                    <a:pt x="18279" y="15179"/>
                  </a:lnTo>
                  <a:lnTo>
                    <a:pt x="18265" y="15022"/>
                  </a:lnTo>
                  <a:lnTo>
                    <a:pt x="18188" y="14962"/>
                  </a:lnTo>
                  <a:cubicBezTo>
                    <a:pt x="18199" y="14916"/>
                    <a:pt x="18210" y="14869"/>
                    <a:pt x="18222" y="14823"/>
                  </a:cubicBezTo>
                  <a:cubicBezTo>
                    <a:pt x="18246" y="14730"/>
                    <a:pt x="18271" y="14638"/>
                    <a:pt x="18299" y="14547"/>
                  </a:cubicBezTo>
                  <a:lnTo>
                    <a:pt x="18285" y="14483"/>
                  </a:lnTo>
                  <a:lnTo>
                    <a:pt x="18215" y="14353"/>
                  </a:lnTo>
                  <a:lnTo>
                    <a:pt x="18136" y="14247"/>
                  </a:lnTo>
                  <a:lnTo>
                    <a:pt x="18078" y="14173"/>
                  </a:lnTo>
                  <a:lnTo>
                    <a:pt x="18002" y="14079"/>
                  </a:lnTo>
                  <a:lnTo>
                    <a:pt x="17843" y="13717"/>
                  </a:lnTo>
                  <a:lnTo>
                    <a:pt x="17758" y="13550"/>
                  </a:lnTo>
                  <a:lnTo>
                    <a:pt x="17758" y="13409"/>
                  </a:lnTo>
                  <a:lnTo>
                    <a:pt x="17751" y="13334"/>
                  </a:lnTo>
                  <a:lnTo>
                    <a:pt x="17751" y="13215"/>
                  </a:lnTo>
                  <a:lnTo>
                    <a:pt x="17758" y="13096"/>
                  </a:lnTo>
                  <a:lnTo>
                    <a:pt x="17763" y="12990"/>
                  </a:lnTo>
                  <a:lnTo>
                    <a:pt x="17785" y="12871"/>
                  </a:lnTo>
                  <a:lnTo>
                    <a:pt x="17806" y="12777"/>
                  </a:lnTo>
                  <a:lnTo>
                    <a:pt x="17847" y="12656"/>
                  </a:lnTo>
                  <a:lnTo>
                    <a:pt x="17869" y="12508"/>
                  </a:lnTo>
                  <a:lnTo>
                    <a:pt x="17948" y="12397"/>
                  </a:lnTo>
                  <a:lnTo>
                    <a:pt x="17975" y="12341"/>
                  </a:lnTo>
                  <a:lnTo>
                    <a:pt x="18025" y="12266"/>
                  </a:lnTo>
                  <a:lnTo>
                    <a:pt x="18119" y="12160"/>
                  </a:lnTo>
                  <a:lnTo>
                    <a:pt x="18213" y="12103"/>
                  </a:lnTo>
                  <a:lnTo>
                    <a:pt x="18266" y="11989"/>
                  </a:lnTo>
                  <a:lnTo>
                    <a:pt x="18374" y="11916"/>
                  </a:lnTo>
                  <a:lnTo>
                    <a:pt x="18483" y="11840"/>
                  </a:lnTo>
                  <a:lnTo>
                    <a:pt x="18706" y="11666"/>
                  </a:lnTo>
                  <a:lnTo>
                    <a:pt x="18844" y="11494"/>
                  </a:lnTo>
                  <a:lnTo>
                    <a:pt x="18938" y="11331"/>
                  </a:lnTo>
                  <a:lnTo>
                    <a:pt x="19010" y="11281"/>
                  </a:lnTo>
                  <a:lnTo>
                    <a:pt x="19096" y="11194"/>
                  </a:lnTo>
                  <a:lnTo>
                    <a:pt x="19175" y="11131"/>
                  </a:lnTo>
                  <a:lnTo>
                    <a:pt x="19282" y="10996"/>
                  </a:lnTo>
                  <a:lnTo>
                    <a:pt x="19324" y="10940"/>
                  </a:lnTo>
                  <a:lnTo>
                    <a:pt x="19389" y="10872"/>
                  </a:lnTo>
                  <a:lnTo>
                    <a:pt x="19524" y="10799"/>
                  </a:lnTo>
                  <a:cubicBezTo>
                    <a:pt x="19560" y="10778"/>
                    <a:pt x="19596" y="10758"/>
                    <a:pt x="19632" y="10738"/>
                  </a:cubicBezTo>
                  <a:cubicBezTo>
                    <a:pt x="19704" y="10698"/>
                    <a:pt x="19777" y="10660"/>
                    <a:pt x="19849" y="10621"/>
                  </a:cubicBezTo>
                  <a:lnTo>
                    <a:pt x="20001" y="10465"/>
                  </a:lnTo>
                  <a:lnTo>
                    <a:pt x="20044" y="10396"/>
                  </a:lnTo>
                  <a:lnTo>
                    <a:pt x="20145" y="10315"/>
                  </a:lnTo>
                  <a:lnTo>
                    <a:pt x="20246" y="10299"/>
                  </a:lnTo>
                  <a:lnTo>
                    <a:pt x="20366" y="10226"/>
                  </a:lnTo>
                  <a:cubicBezTo>
                    <a:pt x="20392" y="10200"/>
                    <a:pt x="20416" y="10173"/>
                    <a:pt x="20438" y="10144"/>
                  </a:cubicBezTo>
                  <a:cubicBezTo>
                    <a:pt x="20479" y="10093"/>
                    <a:pt x="20513" y="10038"/>
                    <a:pt x="20540" y="9980"/>
                  </a:cubicBezTo>
                  <a:lnTo>
                    <a:pt x="20669" y="9713"/>
                  </a:lnTo>
                  <a:lnTo>
                    <a:pt x="20763" y="9627"/>
                  </a:lnTo>
                  <a:lnTo>
                    <a:pt x="20850" y="9427"/>
                  </a:lnTo>
                  <a:lnTo>
                    <a:pt x="21053" y="9218"/>
                  </a:lnTo>
                  <a:lnTo>
                    <a:pt x="21106" y="9101"/>
                  </a:lnTo>
                  <a:lnTo>
                    <a:pt x="21207" y="8920"/>
                  </a:lnTo>
                  <a:lnTo>
                    <a:pt x="21270" y="8773"/>
                  </a:lnTo>
                  <a:lnTo>
                    <a:pt x="21345" y="8665"/>
                  </a:lnTo>
                  <a:lnTo>
                    <a:pt x="21410" y="8525"/>
                  </a:lnTo>
                  <a:lnTo>
                    <a:pt x="21516" y="8371"/>
                  </a:lnTo>
                  <a:lnTo>
                    <a:pt x="21542" y="8283"/>
                  </a:lnTo>
                  <a:lnTo>
                    <a:pt x="21600" y="8133"/>
                  </a:lnTo>
                  <a:lnTo>
                    <a:pt x="21600" y="8003"/>
                  </a:lnTo>
                  <a:lnTo>
                    <a:pt x="21549" y="7866"/>
                  </a:lnTo>
                  <a:lnTo>
                    <a:pt x="21537" y="7747"/>
                  </a:lnTo>
                  <a:lnTo>
                    <a:pt x="21528" y="7674"/>
                  </a:lnTo>
                  <a:lnTo>
                    <a:pt x="21417" y="7699"/>
                  </a:lnTo>
                  <a:lnTo>
                    <a:pt x="21251" y="7784"/>
                  </a:lnTo>
                  <a:lnTo>
                    <a:pt x="20953" y="7845"/>
                  </a:lnTo>
                  <a:lnTo>
                    <a:pt x="20707" y="7931"/>
                  </a:lnTo>
                  <a:lnTo>
                    <a:pt x="20477" y="7987"/>
                  </a:lnTo>
                  <a:lnTo>
                    <a:pt x="20226" y="8018"/>
                  </a:lnTo>
                  <a:lnTo>
                    <a:pt x="19987" y="8056"/>
                  </a:lnTo>
                  <a:lnTo>
                    <a:pt x="19901" y="8080"/>
                  </a:lnTo>
                  <a:lnTo>
                    <a:pt x="19803" y="8110"/>
                  </a:lnTo>
                  <a:lnTo>
                    <a:pt x="19721" y="8116"/>
                  </a:lnTo>
                  <a:lnTo>
                    <a:pt x="19490" y="8053"/>
                  </a:lnTo>
                  <a:cubicBezTo>
                    <a:pt x="19444" y="8038"/>
                    <a:pt x="19398" y="8022"/>
                    <a:pt x="19353" y="8003"/>
                  </a:cubicBezTo>
                  <a:cubicBezTo>
                    <a:pt x="19301" y="7982"/>
                    <a:pt x="19251" y="7959"/>
                    <a:pt x="19202" y="7934"/>
                  </a:cubicBezTo>
                  <a:lnTo>
                    <a:pt x="19144" y="7826"/>
                  </a:lnTo>
                  <a:lnTo>
                    <a:pt x="19151" y="7733"/>
                  </a:lnTo>
                  <a:lnTo>
                    <a:pt x="19091" y="7614"/>
                  </a:lnTo>
                  <a:lnTo>
                    <a:pt x="19062" y="7518"/>
                  </a:lnTo>
                  <a:lnTo>
                    <a:pt x="19033" y="7385"/>
                  </a:lnTo>
                  <a:lnTo>
                    <a:pt x="18862" y="7343"/>
                  </a:lnTo>
                  <a:lnTo>
                    <a:pt x="18805" y="7243"/>
                  </a:lnTo>
                  <a:lnTo>
                    <a:pt x="18783" y="7166"/>
                  </a:lnTo>
                  <a:lnTo>
                    <a:pt x="18632" y="7073"/>
                  </a:lnTo>
                  <a:lnTo>
                    <a:pt x="18605" y="6906"/>
                  </a:lnTo>
                  <a:lnTo>
                    <a:pt x="18519" y="6897"/>
                  </a:lnTo>
                  <a:cubicBezTo>
                    <a:pt x="18492" y="6901"/>
                    <a:pt x="18465" y="6899"/>
                    <a:pt x="18439" y="6891"/>
                  </a:cubicBezTo>
                  <a:cubicBezTo>
                    <a:pt x="18366" y="6870"/>
                    <a:pt x="18317" y="6810"/>
                    <a:pt x="18316" y="6743"/>
                  </a:cubicBezTo>
                  <a:cubicBezTo>
                    <a:pt x="18302" y="6716"/>
                    <a:pt x="18283" y="6691"/>
                    <a:pt x="18261" y="6668"/>
                  </a:cubicBezTo>
                  <a:cubicBezTo>
                    <a:pt x="18230" y="6636"/>
                    <a:pt x="18191" y="6609"/>
                    <a:pt x="18148" y="6589"/>
                  </a:cubicBezTo>
                  <a:lnTo>
                    <a:pt x="18030" y="6579"/>
                  </a:lnTo>
                  <a:lnTo>
                    <a:pt x="17871" y="6463"/>
                  </a:lnTo>
                  <a:lnTo>
                    <a:pt x="17771" y="6355"/>
                  </a:lnTo>
                  <a:lnTo>
                    <a:pt x="17792" y="6247"/>
                  </a:lnTo>
                  <a:lnTo>
                    <a:pt x="17721" y="6185"/>
                  </a:lnTo>
                  <a:lnTo>
                    <a:pt x="17713" y="6087"/>
                  </a:lnTo>
                  <a:lnTo>
                    <a:pt x="17711" y="6006"/>
                  </a:lnTo>
                  <a:lnTo>
                    <a:pt x="17530" y="5908"/>
                  </a:lnTo>
                  <a:lnTo>
                    <a:pt x="17460" y="5774"/>
                  </a:lnTo>
                  <a:lnTo>
                    <a:pt x="17402" y="5680"/>
                  </a:lnTo>
                  <a:lnTo>
                    <a:pt x="17258" y="5530"/>
                  </a:lnTo>
                  <a:lnTo>
                    <a:pt x="17183" y="5451"/>
                  </a:lnTo>
                  <a:lnTo>
                    <a:pt x="17082" y="5351"/>
                  </a:lnTo>
                  <a:lnTo>
                    <a:pt x="17048" y="5222"/>
                  </a:lnTo>
                  <a:lnTo>
                    <a:pt x="17048" y="5089"/>
                  </a:lnTo>
                  <a:cubicBezTo>
                    <a:pt x="17065" y="5018"/>
                    <a:pt x="17060" y="4945"/>
                    <a:pt x="17034" y="4876"/>
                  </a:cubicBezTo>
                  <a:cubicBezTo>
                    <a:pt x="17013" y="4820"/>
                    <a:pt x="16978" y="4769"/>
                    <a:pt x="16933" y="4726"/>
                  </a:cubicBezTo>
                  <a:lnTo>
                    <a:pt x="16889" y="4630"/>
                  </a:lnTo>
                  <a:lnTo>
                    <a:pt x="16775" y="4458"/>
                  </a:lnTo>
                  <a:lnTo>
                    <a:pt x="16501" y="4341"/>
                  </a:lnTo>
                  <a:lnTo>
                    <a:pt x="16472" y="4199"/>
                  </a:lnTo>
                  <a:cubicBezTo>
                    <a:pt x="16470" y="4140"/>
                    <a:pt x="16461" y="4082"/>
                    <a:pt x="16443" y="4024"/>
                  </a:cubicBezTo>
                  <a:cubicBezTo>
                    <a:pt x="16425" y="3965"/>
                    <a:pt x="16398" y="3909"/>
                    <a:pt x="16363" y="3855"/>
                  </a:cubicBezTo>
                  <a:lnTo>
                    <a:pt x="16291" y="3674"/>
                  </a:lnTo>
                  <a:cubicBezTo>
                    <a:pt x="16289" y="3647"/>
                    <a:pt x="16285" y="3621"/>
                    <a:pt x="16277" y="3595"/>
                  </a:cubicBezTo>
                  <a:cubicBezTo>
                    <a:pt x="16256" y="3522"/>
                    <a:pt x="16213" y="3455"/>
                    <a:pt x="16154" y="3401"/>
                  </a:cubicBezTo>
                  <a:lnTo>
                    <a:pt x="16039" y="3250"/>
                  </a:lnTo>
                  <a:lnTo>
                    <a:pt x="15769" y="2894"/>
                  </a:lnTo>
                  <a:lnTo>
                    <a:pt x="15611" y="2670"/>
                  </a:lnTo>
                  <a:lnTo>
                    <a:pt x="15517" y="2564"/>
                  </a:lnTo>
                  <a:lnTo>
                    <a:pt x="15445" y="2442"/>
                  </a:lnTo>
                  <a:lnTo>
                    <a:pt x="15435" y="2351"/>
                  </a:lnTo>
                  <a:lnTo>
                    <a:pt x="15507" y="2268"/>
                  </a:lnTo>
                  <a:lnTo>
                    <a:pt x="15557" y="2174"/>
                  </a:lnTo>
                  <a:lnTo>
                    <a:pt x="15579" y="2095"/>
                  </a:lnTo>
                  <a:lnTo>
                    <a:pt x="15476" y="1983"/>
                  </a:lnTo>
                  <a:lnTo>
                    <a:pt x="15276" y="1854"/>
                  </a:lnTo>
                  <a:lnTo>
                    <a:pt x="15163" y="1798"/>
                  </a:lnTo>
                  <a:lnTo>
                    <a:pt x="15004" y="1798"/>
                  </a:lnTo>
                  <a:lnTo>
                    <a:pt x="14882" y="1810"/>
                  </a:lnTo>
                  <a:lnTo>
                    <a:pt x="14680" y="1867"/>
                  </a:lnTo>
                  <a:lnTo>
                    <a:pt x="14502" y="1898"/>
                  </a:lnTo>
                  <a:lnTo>
                    <a:pt x="14335" y="1902"/>
                  </a:lnTo>
                  <a:lnTo>
                    <a:pt x="14156" y="1858"/>
                  </a:lnTo>
                  <a:lnTo>
                    <a:pt x="13954" y="1827"/>
                  </a:lnTo>
                  <a:lnTo>
                    <a:pt x="13826" y="1795"/>
                  </a:lnTo>
                  <a:lnTo>
                    <a:pt x="13650" y="1741"/>
                  </a:lnTo>
                  <a:lnTo>
                    <a:pt x="13521" y="1716"/>
                  </a:lnTo>
                  <a:lnTo>
                    <a:pt x="13389" y="1716"/>
                  </a:lnTo>
                  <a:lnTo>
                    <a:pt x="13240" y="1681"/>
                  </a:lnTo>
                  <a:lnTo>
                    <a:pt x="13103" y="1668"/>
                  </a:lnTo>
                  <a:lnTo>
                    <a:pt x="12934" y="1606"/>
                  </a:lnTo>
                  <a:lnTo>
                    <a:pt x="12749" y="1481"/>
                  </a:lnTo>
                  <a:lnTo>
                    <a:pt x="12590" y="1418"/>
                  </a:lnTo>
                  <a:lnTo>
                    <a:pt x="12457" y="1374"/>
                  </a:lnTo>
                  <a:lnTo>
                    <a:pt x="12308" y="1331"/>
                  </a:lnTo>
                  <a:lnTo>
                    <a:pt x="12072" y="1318"/>
                  </a:lnTo>
                  <a:lnTo>
                    <a:pt x="11905" y="1298"/>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06" name="熊大的PPT宝库1-53"/>
            <p:cNvSpPr/>
            <p:nvPr/>
          </p:nvSpPr>
          <p:spPr>
            <a:xfrm>
              <a:off x="7627799" y="10417368"/>
              <a:ext cx="22472" cy="27321"/>
            </a:xfrm>
            <a:custGeom>
              <a:avLst/>
              <a:gdLst/>
              <a:ahLst/>
              <a:cxnLst>
                <a:cxn ang="0">
                  <a:pos x="wd2" y="hd2"/>
                </a:cxn>
                <a:cxn ang="5400000">
                  <a:pos x="wd2" y="hd2"/>
                </a:cxn>
                <a:cxn ang="10800000">
                  <a:pos x="wd2" y="hd2"/>
                </a:cxn>
                <a:cxn ang="16200000">
                  <a:pos x="wd2" y="hd2"/>
                </a:cxn>
              </a:cxnLst>
              <a:rect l="0" t="0" r="r" b="b"/>
              <a:pathLst>
                <a:path w="21600" h="21600" extrusionOk="0">
                  <a:moveTo>
                    <a:pt x="6326" y="0"/>
                  </a:moveTo>
                  <a:lnTo>
                    <a:pt x="0" y="9333"/>
                  </a:lnTo>
                  <a:lnTo>
                    <a:pt x="1832" y="16236"/>
                  </a:lnTo>
                  <a:lnTo>
                    <a:pt x="15030" y="21600"/>
                  </a:lnTo>
                  <a:lnTo>
                    <a:pt x="21600" y="15013"/>
                  </a:lnTo>
                  <a:lnTo>
                    <a:pt x="21600" y="3233"/>
                  </a:lnTo>
                  <a:lnTo>
                    <a:pt x="6326"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07" name="熊大的PPT宝库1-54"/>
            <p:cNvSpPr/>
            <p:nvPr/>
          </p:nvSpPr>
          <p:spPr>
            <a:xfrm>
              <a:off x="7185539" y="10692378"/>
              <a:ext cx="248466" cy="475742"/>
            </a:xfrm>
            <a:custGeom>
              <a:avLst/>
              <a:gdLst/>
              <a:ahLst/>
              <a:cxnLst>
                <a:cxn ang="0">
                  <a:pos x="wd2" y="hd2"/>
                </a:cxn>
                <a:cxn ang="5400000">
                  <a:pos x="wd2" y="hd2"/>
                </a:cxn>
                <a:cxn ang="10800000">
                  <a:pos x="wd2" y="hd2"/>
                </a:cxn>
                <a:cxn ang="16200000">
                  <a:pos x="wd2" y="hd2"/>
                </a:cxn>
              </a:cxnLst>
              <a:rect l="0" t="0" r="r" b="b"/>
              <a:pathLst>
                <a:path w="21600" h="21600" extrusionOk="0">
                  <a:moveTo>
                    <a:pt x="18696" y="0"/>
                  </a:moveTo>
                  <a:lnTo>
                    <a:pt x="19918" y="733"/>
                  </a:lnTo>
                  <a:lnTo>
                    <a:pt x="20738" y="1839"/>
                  </a:lnTo>
                  <a:lnTo>
                    <a:pt x="21268" y="2687"/>
                  </a:lnTo>
                  <a:lnTo>
                    <a:pt x="21600" y="3981"/>
                  </a:lnTo>
                  <a:lnTo>
                    <a:pt x="20826" y="5023"/>
                  </a:lnTo>
                  <a:cubicBezTo>
                    <a:pt x="20609" y="5376"/>
                    <a:pt x="20366" y="5724"/>
                    <a:pt x="20097" y="6066"/>
                  </a:cubicBezTo>
                  <a:cubicBezTo>
                    <a:pt x="19662" y="6621"/>
                    <a:pt x="19160" y="7160"/>
                    <a:pt x="18594" y="7681"/>
                  </a:cubicBezTo>
                  <a:lnTo>
                    <a:pt x="17802" y="9136"/>
                  </a:lnTo>
                  <a:lnTo>
                    <a:pt x="17031" y="10592"/>
                  </a:lnTo>
                  <a:cubicBezTo>
                    <a:pt x="16764" y="10920"/>
                    <a:pt x="16499" y="11249"/>
                    <a:pt x="16235" y="11578"/>
                  </a:cubicBezTo>
                  <a:cubicBezTo>
                    <a:pt x="15888" y="12012"/>
                    <a:pt x="15544" y="12446"/>
                    <a:pt x="15203" y="12881"/>
                  </a:cubicBezTo>
                  <a:lnTo>
                    <a:pt x="14606" y="13728"/>
                  </a:lnTo>
                  <a:lnTo>
                    <a:pt x="14010" y="14760"/>
                  </a:lnTo>
                  <a:lnTo>
                    <a:pt x="13215" y="16308"/>
                  </a:lnTo>
                  <a:lnTo>
                    <a:pt x="12950" y="17339"/>
                  </a:lnTo>
                  <a:lnTo>
                    <a:pt x="12553" y="18473"/>
                  </a:lnTo>
                  <a:lnTo>
                    <a:pt x="11359" y="19536"/>
                  </a:lnTo>
                  <a:lnTo>
                    <a:pt x="10161" y="20327"/>
                  </a:lnTo>
                  <a:lnTo>
                    <a:pt x="8567" y="20671"/>
                  </a:lnTo>
                  <a:lnTo>
                    <a:pt x="6435" y="21394"/>
                  </a:lnTo>
                  <a:lnTo>
                    <a:pt x="5446" y="21600"/>
                  </a:lnTo>
                  <a:cubicBezTo>
                    <a:pt x="4959" y="21573"/>
                    <a:pt x="4489" y="21491"/>
                    <a:pt x="4070" y="21359"/>
                  </a:cubicBezTo>
                  <a:cubicBezTo>
                    <a:pt x="3557" y="21198"/>
                    <a:pt x="3137" y="20969"/>
                    <a:pt x="2852" y="20696"/>
                  </a:cubicBezTo>
                  <a:cubicBezTo>
                    <a:pt x="2444" y="20653"/>
                    <a:pt x="2063" y="20558"/>
                    <a:pt x="1743" y="20420"/>
                  </a:cubicBezTo>
                  <a:cubicBezTo>
                    <a:pt x="1252" y="20209"/>
                    <a:pt x="932" y="19911"/>
                    <a:pt x="844" y="19584"/>
                  </a:cubicBezTo>
                  <a:cubicBezTo>
                    <a:pt x="905" y="19197"/>
                    <a:pt x="866" y="18807"/>
                    <a:pt x="730" y="18426"/>
                  </a:cubicBezTo>
                  <a:cubicBezTo>
                    <a:pt x="598" y="18058"/>
                    <a:pt x="376" y="17701"/>
                    <a:pt x="69" y="17362"/>
                  </a:cubicBezTo>
                  <a:lnTo>
                    <a:pt x="0" y="16892"/>
                  </a:lnTo>
                  <a:lnTo>
                    <a:pt x="534" y="16137"/>
                  </a:lnTo>
                  <a:lnTo>
                    <a:pt x="1656" y="15246"/>
                  </a:lnTo>
                  <a:lnTo>
                    <a:pt x="2695" y="14432"/>
                  </a:lnTo>
                  <a:lnTo>
                    <a:pt x="3422" y="13745"/>
                  </a:lnTo>
                  <a:lnTo>
                    <a:pt x="4350" y="12713"/>
                  </a:lnTo>
                  <a:cubicBezTo>
                    <a:pt x="4439" y="12532"/>
                    <a:pt x="4506" y="12348"/>
                    <a:pt x="4549" y="12163"/>
                  </a:cubicBezTo>
                  <a:cubicBezTo>
                    <a:pt x="4652" y="11728"/>
                    <a:pt x="4630" y="11288"/>
                    <a:pt x="4483" y="10857"/>
                  </a:cubicBezTo>
                  <a:lnTo>
                    <a:pt x="3687" y="9791"/>
                  </a:lnTo>
                  <a:cubicBezTo>
                    <a:pt x="3616" y="9483"/>
                    <a:pt x="3616" y="9171"/>
                    <a:pt x="3687" y="8862"/>
                  </a:cubicBezTo>
                  <a:cubicBezTo>
                    <a:pt x="3777" y="8475"/>
                    <a:pt x="3978" y="8097"/>
                    <a:pt x="4284" y="7740"/>
                  </a:cubicBezTo>
                  <a:lnTo>
                    <a:pt x="4594" y="6756"/>
                  </a:lnTo>
                  <a:lnTo>
                    <a:pt x="5588" y="5967"/>
                  </a:lnTo>
                  <a:cubicBezTo>
                    <a:pt x="5955" y="5974"/>
                    <a:pt x="6322" y="5974"/>
                    <a:pt x="6688" y="5967"/>
                  </a:cubicBezTo>
                  <a:cubicBezTo>
                    <a:pt x="7526" y="5953"/>
                    <a:pt x="8361" y="5907"/>
                    <a:pt x="9186" y="5830"/>
                  </a:cubicBezTo>
                  <a:lnTo>
                    <a:pt x="11131" y="5176"/>
                  </a:lnTo>
                  <a:lnTo>
                    <a:pt x="12454" y="4236"/>
                  </a:lnTo>
                  <a:cubicBezTo>
                    <a:pt x="12687" y="3853"/>
                    <a:pt x="13251" y="3548"/>
                    <a:pt x="13980" y="3411"/>
                  </a:cubicBezTo>
                  <a:cubicBezTo>
                    <a:pt x="14318" y="3347"/>
                    <a:pt x="14680" y="3324"/>
                    <a:pt x="15038" y="3342"/>
                  </a:cubicBezTo>
                  <a:cubicBezTo>
                    <a:pt x="15356" y="3221"/>
                    <a:pt x="15665" y="3095"/>
                    <a:pt x="15966" y="2964"/>
                  </a:cubicBezTo>
                  <a:cubicBezTo>
                    <a:pt x="16733" y="2629"/>
                    <a:pt x="17443" y="2261"/>
                    <a:pt x="18088" y="1863"/>
                  </a:cubicBezTo>
                  <a:lnTo>
                    <a:pt x="18685" y="866"/>
                  </a:lnTo>
                  <a:lnTo>
                    <a:pt x="18354" y="341"/>
                  </a:lnTo>
                  <a:lnTo>
                    <a:pt x="18696"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08" name="熊大的PPT宝库1-55"/>
            <p:cNvSpPr/>
            <p:nvPr/>
          </p:nvSpPr>
          <p:spPr>
            <a:xfrm>
              <a:off x="7250714" y="10735984"/>
              <a:ext cx="16360" cy="25666"/>
            </a:xfrm>
            <a:custGeom>
              <a:avLst/>
              <a:gdLst/>
              <a:ahLst/>
              <a:cxnLst>
                <a:cxn ang="0">
                  <a:pos x="wd2" y="hd2"/>
                </a:cxn>
                <a:cxn ang="5400000">
                  <a:pos x="wd2" y="hd2"/>
                </a:cxn>
                <a:cxn ang="10800000">
                  <a:pos x="wd2" y="hd2"/>
                </a:cxn>
                <a:cxn ang="16200000">
                  <a:pos x="wd2" y="hd2"/>
                </a:cxn>
              </a:cxnLst>
              <a:rect l="0" t="0" r="r" b="b"/>
              <a:pathLst>
                <a:path w="21600" h="21600" extrusionOk="0">
                  <a:moveTo>
                    <a:pt x="18802" y="0"/>
                  </a:moveTo>
                  <a:lnTo>
                    <a:pt x="4813" y="1913"/>
                  </a:lnTo>
                  <a:lnTo>
                    <a:pt x="0" y="12064"/>
                  </a:lnTo>
                  <a:lnTo>
                    <a:pt x="5083" y="21600"/>
                  </a:lnTo>
                  <a:lnTo>
                    <a:pt x="21600" y="9513"/>
                  </a:lnTo>
                  <a:lnTo>
                    <a:pt x="18802"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09" name="熊大的PPT宝库1-56"/>
            <p:cNvSpPr/>
            <p:nvPr/>
          </p:nvSpPr>
          <p:spPr>
            <a:xfrm>
              <a:off x="7225018" y="10696447"/>
              <a:ext cx="21071" cy="20646"/>
            </a:xfrm>
            <a:custGeom>
              <a:avLst/>
              <a:gdLst/>
              <a:ahLst/>
              <a:cxnLst>
                <a:cxn ang="0">
                  <a:pos x="wd2" y="hd2"/>
                </a:cxn>
                <a:cxn ang="5400000">
                  <a:pos x="wd2" y="hd2"/>
                </a:cxn>
                <a:cxn ang="10800000">
                  <a:pos x="wd2" y="hd2"/>
                </a:cxn>
                <a:cxn ang="16200000">
                  <a:pos x="wd2" y="hd2"/>
                </a:cxn>
              </a:cxnLst>
              <a:rect l="0" t="0" r="r" b="b"/>
              <a:pathLst>
                <a:path w="21600" h="21600" extrusionOk="0">
                  <a:moveTo>
                    <a:pt x="18128" y="8886"/>
                  </a:moveTo>
                  <a:lnTo>
                    <a:pt x="8318" y="0"/>
                  </a:lnTo>
                  <a:lnTo>
                    <a:pt x="0" y="6625"/>
                  </a:lnTo>
                  <a:lnTo>
                    <a:pt x="9071" y="16880"/>
                  </a:lnTo>
                  <a:lnTo>
                    <a:pt x="21600" y="21600"/>
                  </a:lnTo>
                  <a:lnTo>
                    <a:pt x="18128" y="8886"/>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10" name="熊大的PPT宝库1-57"/>
            <p:cNvSpPr/>
            <p:nvPr/>
          </p:nvSpPr>
          <p:spPr>
            <a:xfrm>
              <a:off x="7199443" y="10709457"/>
              <a:ext cx="20339" cy="16639"/>
            </a:xfrm>
            <a:custGeom>
              <a:avLst/>
              <a:gdLst/>
              <a:ahLst/>
              <a:cxnLst>
                <a:cxn ang="0">
                  <a:pos x="wd2" y="hd2"/>
                </a:cxn>
                <a:cxn ang="5400000">
                  <a:pos x="wd2" y="hd2"/>
                </a:cxn>
                <a:cxn ang="10800000">
                  <a:pos x="wd2" y="hd2"/>
                </a:cxn>
                <a:cxn ang="16200000">
                  <a:pos x="wd2" y="hd2"/>
                </a:cxn>
              </a:cxnLst>
              <a:rect l="0" t="0" r="r" b="b"/>
              <a:pathLst>
                <a:path w="21600" h="21600" extrusionOk="0">
                  <a:moveTo>
                    <a:pt x="7800" y="0"/>
                  </a:moveTo>
                  <a:lnTo>
                    <a:pt x="0" y="2623"/>
                  </a:lnTo>
                  <a:lnTo>
                    <a:pt x="9524" y="21600"/>
                  </a:lnTo>
                  <a:lnTo>
                    <a:pt x="21600" y="20616"/>
                  </a:lnTo>
                  <a:lnTo>
                    <a:pt x="19979" y="3243"/>
                  </a:lnTo>
                  <a:lnTo>
                    <a:pt x="7800"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11" name="熊大的PPT宝库1-58"/>
            <p:cNvSpPr/>
            <p:nvPr/>
          </p:nvSpPr>
          <p:spPr>
            <a:xfrm>
              <a:off x="7180971" y="10669121"/>
              <a:ext cx="16360" cy="24039"/>
            </a:xfrm>
            <a:custGeom>
              <a:avLst/>
              <a:gdLst/>
              <a:ahLst/>
              <a:cxnLst>
                <a:cxn ang="0">
                  <a:pos x="wd2" y="hd2"/>
                </a:cxn>
                <a:cxn ang="5400000">
                  <a:pos x="wd2" y="hd2"/>
                </a:cxn>
                <a:cxn ang="10800000">
                  <a:pos x="wd2" y="hd2"/>
                </a:cxn>
                <a:cxn ang="16200000">
                  <a:pos x="wd2" y="hd2"/>
                </a:cxn>
              </a:cxnLst>
              <a:rect l="0" t="0" r="r" b="b"/>
              <a:pathLst>
                <a:path w="21600" h="21600" extrusionOk="0">
                  <a:moveTo>
                    <a:pt x="13062" y="0"/>
                  </a:moveTo>
                  <a:lnTo>
                    <a:pt x="3048" y="6808"/>
                  </a:lnTo>
                  <a:lnTo>
                    <a:pt x="0" y="16890"/>
                  </a:lnTo>
                  <a:lnTo>
                    <a:pt x="17411" y="21600"/>
                  </a:lnTo>
                  <a:lnTo>
                    <a:pt x="21600" y="12326"/>
                  </a:lnTo>
                  <a:lnTo>
                    <a:pt x="13062"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12" name="熊大的PPT宝库1-59"/>
            <p:cNvSpPr/>
            <p:nvPr/>
          </p:nvSpPr>
          <p:spPr>
            <a:xfrm>
              <a:off x="7590686" y="10984984"/>
              <a:ext cx="26760" cy="35791"/>
            </a:xfrm>
            <a:custGeom>
              <a:avLst/>
              <a:gdLst/>
              <a:ahLst/>
              <a:cxnLst>
                <a:cxn ang="0">
                  <a:pos x="wd2" y="hd2"/>
                </a:cxn>
                <a:cxn ang="5400000">
                  <a:pos x="wd2" y="hd2"/>
                </a:cxn>
                <a:cxn ang="10800000">
                  <a:pos x="wd2" y="hd2"/>
                </a:cxn>
                <a:cxn ang="16200000">
                  <a:pos x="wd2" y="hd2"/>
                </a:cxn>
              </a:cxnLst>
              <a:rect l="0" t="0" r="r" b="b"/>
              <a:pathLst>
                <a:path w="21600" h="21600" extrusionOk="0">
                  <a:moveTo>
                    <a:pt x="9532" y="0"/>
                  </a:moveTo>
                  <a:lnTo>
                    <a:pt x="1397" y="5278"/>
                  </a:lnTo>
                  <a:lnTo>
                    <a:pt x="0" y="13559"/>
                  </a:lnTo>
                  <a:lnTo>
                    <a:pt x="6822" y="21600"/>
                  </a:lnTo>
                  <a:lnTo>
                    <a:pt x="21600" y="17485"/>
                  </a:lnTo>
                  <a:lnTo>
                    <a:pt x="21600" y="7445"/>
                  </a:lnTo>
                  <a:lnTo>
                    <a:pt x="9532"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13" name="熊大的PPT宝库1-60"/>
            <p:cNvSpPr/>
            <p:nvPr/>
          </p:nvSpPr>
          <p:spPr>
            <a:xfrm>
              <a:off x="7653652" y="10957432"/>
              <a:ext cx="16360" cy="23507"/>
            </a:xfrm>
            <a:custGeom>
              <a:avLst/>
              <a:gdLst/>
              <a:ahLst/>
              <a:cxnLst>
                <a:cxn ang="0">
                  <a:pos x="wd2" y="hd2"/>
                </a:cxn>
                <a:cxn ang="5400000">
                  <a:pos x="wd2" y="hd2"/>
                </a:cxn>
                <a:cxn ang="10800000">
                  <a:pos x="wd2" y="hd2"/>
                </a:cxn>
                <a:cxn ang="16200000">
                  <a:pos x="wd2" y="hd2"/>
                </a:cxn>
              </a:cxnLst>
              <a:rect l="0" t="0" r="r" b="b"/>
              <a:pathLst>
                <a:path w="21600" h="21600" extrusionOk="0">
                  <a:moveTo>
                    <a:pt x="17956" y="0"/>
                  </a:moveTo>
                  <a:lnTo>
                    <a:pt x="1750" y="4177"/>
                  </a:lnTo>
                  <a:lnTo>
                    <a:pt x="0" y="18148"/>
                  </a:lnTo>
                  <a:lnTo>
                    <a:pt x="21600" y="21600"/>
                  </a:lnTo>
                  <a:lnTo>
                    <a:pt x="21555" y="10257"/>
                  </a:lnTo>
                  <a:lnTo>
                    <a:pt x="17956"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14" name="熊大的PPT宝库1-61"/>
            <p:cNvSpPr/>
            <p:nvPr/>
          </p:nvSpPr>
          <p:spPr>
            <a:xfrm>
              <a:off x="5557605" y="10810705"/>
              <a:ext cx="31865" cy="30264"/>
            </a:xfrm>
            <a:custGeom>
              <a:avLst/>
              <a:gdLst/>
              <a:ahLst/>
              <a:cxnLst>
                <a:cxn ang="0">
                  <a:pos x="wd2" y="hd2"/>
                </a:cxn>
                <a:cxn ang="5400000">
                  <a:pos x="wd2" y="hd2"/>
                </a:cxn>
                <a:cxn ang="10800000">
                  <a:pos x="wd2" y="hd2"/>
                </a:cxn>
                <a:cxn ang="16200000">
                  <a:pos x="wd2" y="hd2"/>
                </a:cxn>
              </a:cxnLst>
              <a:rect l="0" t="0" r="r" b="b"/>
              <a:pathLst>
                <a:path w="21600" h="21600" extrusionOk="0">
                  <a:moveTo>
                    <a:pt x="9397" y="0"/>
                  </a:moveTo>
                  <a:lnTo>
                    <a:pt x="0" y="19826"/>
                  </a:lnTo>
                  <a:lnTo>
                    <a:pt x="21600" y="21600"/>
                  </a:lnTo>
                  <a:lnTo>
                    <a:pt x="9397"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15" name="熊大的PPT宝库1-62"/>
            <p:cNvSpPr/>
            <p:nvPr/>
          </p:nvSpPr>
          <p:spPr>
            <a:xfrm>
              <a:off x="5959496" y="10196869"/>
              <a:ext cx="23245" cy="21346"/>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4824" y="4121"/>
                  </a:lnTo>
                  <a:lnTo>
                    <a:pt x="0" y="11667"/>
                  </a:lnTo>
                  <a:lnTo>
                    <a:pt x="9389" y="21600"/>
                  </a:lnTo>
                  <a:lnTo>
                    <a:pt x="20674" y="10869"/>
                  </a:lnTo>
                  <a:lnTo>
                    <a:pt x="21600"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16" name="熊大的PPT宝库1-63"/>
            <p:cNvSpPr/>
            <p:nvPr/>
          </p:nvSpPr>
          <p:spPr>
            <a:xfrm>
              <a:off x="6032687" y="10103370"/>
              <a:ext cx="20701" cy="16360"/>
            </a:xfrm>
            <a:custGeom>
              <a:avLst/>
              <a:gdLst/>
              <a:ahLst/>
              <a:cxnLst>
                <a:cxn ang="0">
                  <a:pos x="wd2" y="hd2"/>
                </a:cxn>
                <a:cxn ang="5400000">
                  <a:pos x="wd2" y="hd2"/>
                </a:cxn>
                <a:cxn ang="10800000">
                  <a:pos x="wd2" y="hd2"/>
                </a:cxn>
                <a:cxn ang="16200000">
                  <a:pos x="wd2" y="hd2"/>
                </a:cxn>
              </a:cxnLst>
              <a:rect l="0" t="0" r="r" b="b"/>
              <a:pathLst>
                <a:path w="21600" h="21600" extrusionOk="0">
                  <a:moveTo>
                    <a:pt x="11047" y="0"/>
                  </a:moveTo>
                  <a:lnTo>
                    <a:pt x="0" y="5982"/>
                  </a:lnTo>
                  <a:lnTo>
                    <a:pt x="2019" y="20443"/>
                  </a:lnTo>
                  <a:lnTo>
                    <a:pt x="15499" y="21600"/>
                  </a:lnTo>
                  <a:lnTo>
                    <a:pt x="21600" y="4412"/>
                  </a:lnTo>
                  <a:lnTo>
                    <a:pt x="11047"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17" name="熊大的PPT宝库1-64"/>
            <p:cNvSpPr/>
            <p:nvPr/>
          </p:nvSpPr>
          <p:spPr>
            <a:xfrm>
              <a:off x="6005930" y="10161184"/>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7211" y="0"/>
                  </a:moveTo>
                  <a:lnTo>
                    <a:pt x="0" y="9014"/>
                  </a:lnTo>
                  <a:lnTo>
                    <a:pt x="7385" y="21600"/>
                  </a:lnTo>
                  <a:lnTo>
                    <a:pt x="21600" y="12069"/>
                  </a:lnTo>
                  <a:lnTo>
                    <a:pt x="17567" y="1769"/>
                  </a:lnTo>
                  <a:lnTo>
                    <a:pt x="7211"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18" name="熊大的PPT宝库1-65"/>
            <p:cNvSpPr/>
            <p:nvPr/>
          </p:nvSpPr>
          <p:spPr>
            <a:xfrm>
              <a:off x="4979636" y="9669577"/>
              <a:ext cx="23569" cy="20839"/>
            </a:xfrm>
            <a:custGeom>
              <a:avLst/>
              <a:gdLst/>
              <a:ahLst/>
              <a:cxnLst>
                <a:cxn ang="0">
                  <a:pos x="wd2" y="hd2"/>
                </a:cxn>
                <a:cxn ang="5400000">
                  <a:pos x="wd2" y="hd2"/>
                </a:cxn>
                <a:cxn ang="10800000">
                  <a:pos x="wd2" y="hd2"/>
                </a:cxn>
                <a:cxn ang="16200000">
                  <a:pos x="wd2" y="hd2"/>
                </a:cxn>
              </a:cxnLst>
              <a:rect l="0" t="0" r="r" b="b"/>
              <a:pathLst>
                <a:path w="21600" h="21600" extrusionOk="0">
                  <a:moveTo>
                    <a:pt x="18240" y="3109"/>
                  </a:moveTo>
                  <a:lnTo>
                    <a:pt x="7082" y="0"/>
                  </a:lnTo>
                  <a:lnTo>
                    <a:pt x="0" y="4651"/>
                  </a:lnTo>
                  <a:lnTo>
                    <a:pt x="2157" y="15611"/>
                  </a:lnTo>
                  <a:lnTo>
                    <a:pt x="14637" y="21600"/>
                  </a:lnTo>
                  <a:lnTo>
                    <a:pt x="21600" y="17214"/>
                  </a:lnTo>
                  <a:lnTo>
                    <a:pt x="18240" y="3109"/>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19" name="熊大的PPT宝库1-66"/>
            <p:cNvSpPr/>
            <p:nvPr/>
          </p:nvSpPr>
          <p:spPr>
            <a:xfrm>
              <a:off x="4953125" y="9673744"/>
              <a:ext cx="18421" cy="17929"/>
            </a:xfrm>
            <a:custGeom>
              <a:avLst/>
              <a:gdLst/>
              <a:ahLst/>
              <a:cxnLst>
                <a:cxn ang="0">
                  <a:pos x="wd2" y="hd2"/>
                </a:cxn>
                <a:cxn ang="5400000">
                  <a:pos x="wd2" y="hd2"/>
                </a:cxn>
                <a:cxn ang="10800000">
                  <a:pos x="wd2" y="hd2"/>
                </a:cxn>
                <a:cxn ang="16200000">
                  <a:pos x="wd2" y="hd2"/>
                </a:cxn>
              </a:cxnLst>
              <a:rect l="0" t="0" r="r" b="b"/>
              <a:pathLst>
                <a:path w="21600" h="21600" extrusionOk="0">
                  <a:moveTo>
                    <a:pt x="10002" y="0"/>
                  </a:moveTo>
                  <a:lnTo>
                    <a:pt x="2249" y="4561"/>
                  </a:lnTo>
                  <a:lnTo>
                    <a:pt x="0" y="15210"/>
                  </a:lnTo>
                  <a:lnTo>
                    <a:pt x="16269" y="21600"/>
                  </a:lnTo>
                  <a:lnTo>
                    <a:pt x="21600" y="9771"/>
                  </a:lnTo>
                  <a:lnTo>
                    <a:pt x="10002"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20" name="熊大的PPT宝库1-67"/>
            <p:cNvSpPr/>
            <p:nvPr/>
          </p:nvSpPr>
          <p:spPr>
            <a:xfrm>
              <a:off x="4946376" y="9632381"/>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15567" y="0"/>
                  </a:moveTo>
                  <a:lnTo>
                    <a:pt x="0" y="5790"/>
                  </a:lnTo>
                  <a:lnTo>
                    <a:pt x="269" y="21257"/>
                  </a:lnTo>
                  <a:lnTo>
                    <a:pt x="21600" y="21600"/>
                  </a:lnTo>
                  <a:lnTo>
                    <a:pt x="15567"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21" name="熊大的PPT宝库1-68"/>
            <p:cNvSpPr/>
            <p:nvPr/>
          </p:nvSpPr>
          <p:spPr>
            <a:xfrm>
              <a:off x="4988441" y="9634297"/>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788" y="13213"/>
                  </a:lnTo>
                  <a:lnTo>
                    <a:pt x="15312" y="21600"/>
                  </a:lnTo>
                  <a:lnTo>
                    <a:pt x="21600" y="1906"/>
                  </a:lnTo>
                  <a:lnTo>
                    <a:pt x="0"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22" name="熊大的PPT宝库1-69"/>
            <p:cNvSpPr/>
            <p:nvPr/>
          </p:nvSpPr>
          <p:spPr>
            <a:xfrm>
              <a:off x="4899456" y="9600886"/>
              <a:ext cx="16360" cy="22098"/>
            </a:xfrm>
            <a:custGeom>
              <a:avLst/>
              <a:gdLst/>
              <a:ahLst/>
              <a:cxnLst>
                <a:cxn ang="0">
                  <a:pos x="wd2" y="hd2"/>
                </a:cxn>
                <a:cxn ang="5400000">
                  <a:pos x="wd2" y="hd2"/>
                </a:cxn>
                <a:cxn ang="10800000">
                  <a:pos x="wd2" y="hd2"/>
                </a:cxn>
                <a:cxn ang="16200000">
                  <a:pos x="wd2" y="hd2"/>
                </a:cxn>
              </a:cxnLst>
              <a:rect l="0" t="0" r="r" b="b"/>
              <a:pathLst>
                <a:path w="21600" h="21600" extrusionOk="0">
                  <a:moveTo>
                    <a:pt x="0" y="3742"/>
                  </a:moveTo>
                  <a:lnTo>
                    <a:pt x="4329" y="14327"/>
                  </a:lnTo>
                  <a:lnTo>
                    <a:pt x="16819" y="21600"/>
                  </a:lnTo>
                  <a:lnTo>
                    <a:pt x="21600" y="10493"/>
                  </a:lnTo>
                  <a:lnTo>
                    <a:pt x="13195" y="0"/>
                  </a:lnTo>
                  <a:lnTo>
                    <a:pt x="0" y="3742"/>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23" name="熊大的PPT宝库1-70"/>
            <p:cNvSpPr/>
            <p:nvPr/>
          </p:nvSpPr>
          <p:spPr>
            <a:xfrm>
              <a:off x="6589852" y="7539534"/>
              <a:ext cx="4055030" cy="2652259"/>
            </a:xfrm>
            <a:custGeom>
              <a:avLst/>
              <a:gdLst/>
              <a:ahLst/>
              <a:cxnLst>
                <a:cxn ang="0">
                  <a:pos x="wd2" y="hd2"/>
                </a:cxn>
                <a:cxn ang="5400000">
                  <a:pos x="wd2" y="hd2"/>
                </a:cxn>
                <a:cxn ang="10800000">
                  <a:pos x="wd2" y="hd2"/>
                </a:cxn>
                <a:cxn ang="16200000">
                  <a:pos x="wd2" y="hd2"/>
                </a:cxn>
              </a:cxnLst>
              <a:rect l="0" t="0" r="r" b="b"/>
              <a:pathLst>
                <a:path w="21600" h="21600" extrusionOk="0">
                  <a:moveTo>
                    <a:pt x="3888" y="10223"/>
                  </a:moveTo>
                  <a:lnTo>
                    <a:pt x="3759" y="10132"/>
                  </a:lnTo>
                  <a:lnTo>
                    <a:pt x="3569" y="10003"/>
                  </a:lnTo>
                  <a:lnTo>
                    <a:pt x="3374" y="9884"/>
                  </a:lnTo>
                  <a:lnTo>
                    <a:pt x="3246" y="9786"/>
                  </a:lnTo>
                  <a:lnTo>
                    <a:pt x="3076" y="9629"/>
                  </a:lnTo>
                  <a:lnTo>
                    <a:pt x="2911" y="9493"/>
                  </a:lnTo>
                  <a:lnTo>
                    <a:pt x="2761" y="9429"/>
                  </a:lnTo>
                  <a:lnTo>
                    <a:pt x="2496" y="9413"/>
                  </a:lnTo>
                  <a:lnTo>
                    <a:pt x="2488" y="9536"/>
                  </a:lnTo>
                  <a:lnTo>
                    <a:pt x="2488" y="9685"/>
                  </a:lnTo>
                  <a:lnTo>
                    <a:pt x="2440" y="9710"/>
                  </a:lnTo>
                  <a:lnTo>
                    <a:pt x="2438" y="9806"/>
                  </a:lnTo>
                  <a:lnTo>
                    <a:pt x="2404" y="9868"/>
                  </a:lnTo>
                  <a:lnTo>
                    <a:pt x="2281" y="9898"/>
                  </a:lnTo>
                  <a:lnTo>
                    <a:pt x="2204" y="9935"/>
                  </a:lnTo>
                  <a:lnTo>
                    <a:pt x="2136" y="9972"/>
                  </a:lnTo>
                  <a:lnTo>
                    <a:pt x="2027" y="9972"/>
                  </a:lnTo>
                  <a:lnTo>
                    <a:pt x="2002" y="9923"/>
                  </a:lnTo>
                  <a:lnTo>
                    <a:pt x="1910" y="9911"/>
                  </a:lnTo>
                  <a:lnTo>
                    <a:pt x="1838" y="9882"/>
                  </a:lnTo>
                  <a:lnTo>
                    <a:pt x="1737" y="9753"/>
                  </a:lnTo>
                  <a:lnTo>
                    <a:pt x="1662" y="9674"/>
                  </a:lnTo>
                  <a:lnTo>
                    <a:pt x="1566" y="9632"/>
                  </a:lnTo>
                  <a:lnTo>
                    <a:pt x="1456" y="9632"/>
                  </a:lnTo>
                  <a:lnTo>
                    <a:pt x="1311" y="9556"/>
                  </a:lnTo>
                  <a:lnTo>
                    <a:pt x="1142" y="9550"/>
                  </a:lnTo>
                  <a:lnTo>
                    <a:pt x="1029" y="9601"/>
                  </a:lnTo>
                  <a:lnTo>
                    <a:pt x="892" y="9755"/>
                  </a:lnTo>
                  <a:lnTo>
                    <a:pt x="746" y="9853"/>
                  </a:lnTo>
                  <a:lnTo>
                    <a:pt x="686" y="9775"/>
                  </a:lnTo>
                  <a:lnTo>
                    <a:pt x="637" y="9781"/>
                  </a:lnTo>
                  <a:lnTo>
                    <a:pt x="517" y="9840"/>
                  </a:lnTo>
                  <a:lnTo>
                    <a:pt x="497" y="9942"/>
                  </a:lnTo>
                  <a:lnTo>
                    <a:pt x="434" y="10016"/>
                  </a:lnTo>
                  <a:lnTo>
                    <a:pt x="372" y="10094"/>
                  </a:lnTo>
                  <a:lnTo>
                    <a:pt x="333" y="10172"/>
                  </a:lnTo>
                  <a:lnTo>
                    <a:pt x="266" y="10168"/>
                  </a:lnTo>
                  <a:lnTo>
                    <a:pt x="217" y="10086"/>
                  </a:lnTo>
                  <a:lnTo>
                    <a:pt x="134" y="10086"/>
                  </a:lnTo>
                  <a:lnTo>
                    <a:pt x="77" y="10159"/>
                  </a:lnTo>
                  <a:lnTo>
                    <a:pt x="17" y="10178"/>
                  </a:lnTo>
                  <a:lnTo>
                    <a:pt x="0" y="10303"/>
                  </a:lnTo>
                  <a:lnTo>
                    <a:pt x="78" y="10326"/>
                  </a:lnTo>
                  <a:lnTo>
                    <a:pt x="133" y="10326"/>
                  </a:lnTo>
                  <a:lnTo>
                    <a:pt x="213" y="10443"/>
                  </a:lnTo>
                  <a:lnTo>
                    <a:pt x="190" y="10662"/>
                  </a:lnTo>
                  <a:lnTo>
                    <a:pt x="231" y="10788"/>
                  </a:lnTo>
                  <a:lnTo>
                    <a:pt x="262" y="10847"/>
                  </a:lnTo>
                  <a:lnTo>
                    <a:pt x="282" y="10968"/>
                  </a:lnTo>
                  <a:lnTo>
                    <a:pt x="337" y="11040"/>
                  </a:lnTo>
                  <a:lnTo>
                    <a:pt x="424" y="11071"/>
                  </a:lnTo>
                  <a:lnTo>
                    <a:pt x="465" y="11186"/>
                  </a:lnTo>
                  <a:lnTo>
                    <a:pt x="540" y="11180"/>
                  </a:lnTo>
                  <a:lnTo>
                    <a:pt x="596" y="11201"/>
                  </a:lnTo>
                  <a:lnTo>
                    <a:pt x="645" y="11223"/>
                  </a:lnTo>
                  <a:lnTo>
                    <a:pt x="735" y="11198"/>
                  </a:lnTo>
                  <a:lnTo>
                    <a:pt x="776" y="11089"/>
                  </a:lnTo>
                  <a:lnTo>
                    <a:pt x="857" y="11047"/>
                  </a:lnTo>
                  <a:lnTo>
                    <a:pt x="954" y="11071"/>
                  </a:lnTo>
                  <a:lnTo>
                    <a:pt x="993" y="11139"/>
                  </a:lnTo>
                  <a:lnTo>
                    <a:pt x="1119" y="11238"/>
                  </a:lnTo>
                  <a:lnTo>
                    <a:pt x="1269" y="11219"/>
                  </a:lnTo>
                  <a:lnTo>
                    <a:pt x="1313" y="11207"/>
                  </a:lnTo>
                  <a:lnTo>
                    <a:pt x="1390" y="11119"/>
                  </a:lnTo>
                  <a:lnTo>
                    <a:pt x="1486" y="11040"/>
                  </a:lnTo>
                  <a:lnTo>
                    <a:pt x="1581" y="11016"/>
                  </a:lnTo>
                  <a:lnTo>
                    <a:pt x="1654" y="11065"/>
                  </a:lnTo>
                  <a:lnTo>
                    <a:pt x="1739" y="11096"/>
                  </a:lnTo>
                  <a:lnTo>
                    <a:pt x="1739" y="11260"/>
                  </a:lnTo>
                  <a:lnTo>
                    <a:pt x="1702" y="11340"/>
                  </a:lnTo>
                  <a:lnTo>
                    <a:pt x="1719" y="11558"/>
                  </a:lnTo>
                  <a:lnTo>
                    <a:pt x="1711" y="11714"/>
                  </a:lnTo>
                  <a:lnTo>
                    <a:pt x="1701" y="11890"/>
                  </a:lnTo>
                  <a:lnTo>
                    <a:pt x="1645" y="12051"/>
                  </a:lnTo>
                  <a:lnTo>
                    <a:pt x="1657" y="12205"/>
                  </a:lnTo>
                  <a:cubicBezTo>
                    <a:pt x="1663" y="12254"/>
                    <a:pt x="1664" y="12305"/>
                    <a:pt x="1661" y="12355"/>
                  </a:cubicBezTo>
                  <a:cubicBezTo>
                    <a:pt x="1657" y="12420"/>
                    <a:pt x="1645" y="12483"/>
                    <a:pt x="1626" y="12542"/>
                  </a:cubicBezTo>
                  <a:lnTo>
                    <a:pt x="1585" y="12622"/>
                  </a:lnTo>
                  <a:lnTo>
                    <a:pt x="1546" y="12708"/>
                  </a:lnTo>
                  <a:lnTo>
                    <a:pt x="1479" y="12732"/>
                  </a:lnTo>
                  <a:lnTo>
                    <a:pt x="1386" y="12744"/>
                  </a:lnTo>
                  <a:lnTo>
                    <a:pt x="1285" y="12855"/>
                  </a:lnTo>
                  <a:lnTo>
                    <a:pt x="1201" y="12825"/>
                  </a:lnTo>
                  <a:lnTo>
                    <a:pt x="1164" y="12855"/>
                  </a:lnTo>
                  <a:lnTo>
                    <a:pt x="1228" y="12954"/>
                  </a:lnTo>
                  <a:lnTo>
                    <a:pt x="1263" y="13016"/>
                  </a:lnTo>
                  <a:lnTo>
                    <a:pt x="1239" y="13122"/>
                  </a:lnTo>
                  <a:lnTo>
                    <a:pt x="1307" y="13243"/>
                  </a:lnTo>
                  <a:lnTo>
                    <a:pt x="1359" y="13286"/>
                  </a:lnTo>
                  <a:lnTo>
                    <a:pt x="1408" y="13345"/>
                  </a:lnTo>
                  <a:lnTo>
                    <a:pt x="1404" y="13429"/>
                  </a:lnTo>
                  <a:lnTo>
                    <a:pt x="1404" y="13509"/>
                  </a:lnTo>
                  <a:lnTo>
                    <a:pt x="1481" y="13572"/>
                  </a:lnTo>
                  <a:lnTo>
                    <a:pt x="1558" y="13731"/>
                  </a:lnTo>
                  <a:lnTo>
                    <a:pt x="1602" y="13657"/>
                  </a:lnTo>
                  <a:lnTo>
                    <a:pt x="1602" y="13398"/>
                  </a:lnTo>
                  <a:lnTo>
                    <a:pt x="1659" y="13331"/>
                  </a:lnTo>
                  <a:lnTo>
                    <a:pt x="1705" y="13420"/>
                  </a:lnTo>
                  <a:lnTo>
                    <a:pt x="1741" y="13555"/>
                  </a:lnTo>
                  <a:lnTo>
                    <a:pt x="1778" y="13837"/>
                  </a:lnTo>
                  <a:lnTo>
                    <a:pt x="1857" y="13946"/>
                  </a:lnTo>
                  <a:lnTo>
                    <a:pt x="1897" y="14113"/>
                  </a:lnTo>
                  <a:lnTo>
                    <a:pt x="1945" y="14215"/>
                  </a:lnTo>
                  <a:lnTo>
                    <a:pt x="1995" y="14373"/>
                  </a:lnTo>
                  <a:lnTo>
                    <a:pt x="2107" y="14477"/>
                  </a:lnTo>
                  <a:lnTo>
                    <a:pt x="2161" y="14557"/>
                  </a:lnTo>
                  <a:lnTo>
                    <a:pt x="2205" y="14753"/>
                  </a:lnTo>
                  <a:lnTo>
                    <a:pt x="2226" y="14836"/>
                  </a:lnTo>
                  <a:lnTo>
                    <a:pt x="2263" y="14879"/>
                  </a:lnTo>
                  <a:lnTo>
                    <a:pt x="2376" y="14996"/>
                  </a:lnTo>
                  <a:cubicBezTo>
                    <a:pt x="2426" y="15014"/>
                    <a:pt x="2466" y="15070"/>
                    <a:pt x="2482" y="15144"/>
                  </a:cubicBezTo>
                  <a:cubicBezTo>
                    <a:pt x="2497" y="15214"/>
                    <a:pt x="2488" y="15290"/>
                    <a:pt x="2459" y="15348"/>
                  </a:cubicBezTo>
                  <a:lnTo>
                    <a:pt x="2471" y="15538"/>
                  </a:lnTo>
                  <a:lnTo>
                    <a:pt x="2507" y="15643"/>
                  </a:lnTo>
                  <a:lnTo>
                    <a:pt x="2572" y="15815"/>
                  </a:lnTo>
                  <a:lnTo>
                    <a:pt x="2569" y="15885"/>
                  </a:lnTo>
                  <a:lnTo>
                    <a:pt x="2642" y="16007"/>
                  </a:lnTo>
                  <a:lnTo>
                    <a:pt x="2642" y="16132"/>
                  </a:lnTo>
                  <a:lnTo>
                    <a:pt x="2752" y="16182"/>
                  </a:lnTo>
                  <a:lnTo>
                    <a:pt x="2832" y="16227"/>
                  </a:lnTo>
                  <a:lnTo>
                    <a:pt x="2913" y="16387"/>
                  </a:lnTo>
                  <a:lnTo>
                    <a:pt x="2927" y="16529"/>
                  </a:lnTo>
                  <a:lnTo>
                    <a:pt x="2966" y="16723"/>
                  </a:lnTo>
                  <a:lnTo>
                    <a:pt x="3043" y="16785"/>
                  </a:lnTo>
                  <a:lnTo>
                    <a:pt x="3087" y="16846"/>
                  </a:lnTo>
                  <a:lnTo>
                    <a:pt x="3139" y="16957"/>
                  </a:lnTo>
                  <a:lnTo>
                    <a:pt x="3191" y="17089"/>
                  </a:lnTo>
                  <a:lnTo>
                    <a:pt x="3118" y="17304"/>
                  </a:lnTo>
                  <a:lnTo>
                    <a:pt x="3139" y="17419"/>
                  </a:lnTo>
                  <a:lnTo>
                    <a:pt x="3194" y="17508"/>
                  </a:lnTo>
                  <a:lnTo>
                    <a:pt x="3227" y="17680"/>
                  </a:lnTo>
                  <a:lnTo>
                    <a:pt x="3227" y="17814"/>
                  </a:lnTo>
                  <a:lnTo>
                    <a:pt x="3293" y="17911"/>
                  </a:lnTo>
                  <a:lnTo>
                    <a:pt x="3336" y="18030"/>
                  </a:lnTo>
                  <a:lnTo>
                    <a:pt x="3409" y="18178"/>
                  </a:lnTo>
                  <a:lnTo>
                    <a:pt x="3565" y="18190"/>
                  </a:lnTo>
                  <a:lnTo>
                    <a:pt x="3748" y="18135"/>
                  </a:lnTo>
                  <a:lnTo>
                    <a:pt x="3935" y="18014"/>
                  </a:lnTo>
                  <a:lnTo>
                    <a:pt x="4073" y="17896"/>
                  </a:lnTo>
                  <a:lnTo>
                    <a:pt x="4184" y="17812"/>
                  </a:lnTo>
                  <a:cubicBezTo>
                    <a:pt x="4199" y="17796"/>
                    <a:pt x="4214" y="17780"/>
                    <a:pt x="4230" y="17765"/>
                  </a:cubicBezTo>
                  <a:cubicBezTo>
                    <a:pt x="4287" y="17711"/>
                    <a:pt x="4350" y="17669"/>
                    <a:pt x="4415" y="17640"/>
                  </a:cubicBezTo>
                  <a:lnTo>
                    <a:pt x="4544" y="17598"/>
                  </a:lnTo>
                  <a:lnTo>
                    <a:pt x="4658" y="17456"/>
                  </a:lnTo>
                  <a:lnTo>
                    <a:pt x="4758" y="17382"/>
                  </a:lnTo>
                  <a:lnTo>
                    <a:pt x="4839" y="17253"/>
                  </a:lnTo>
                  <a:lnTo>
                    <a:pt x="4875" y="17128"/>
                  </a:lnTo>
                  <a:lnTo>
                    <a:pt x="4961" y="17019"/>
                  </a:lnTo>
                  <a:cubicBezTo>
                    <a:pt x="4995" y="16986"/>
                    <a:pt x="5032" y="16960"/>
                    <a:pt x="5070" y="16941"/>
                  </a:cubicBezTo>
                  <a:cubicBezTo>
                    <a:pt x="5110" y="16921"/>
                    <a:pt x="5151" y="16908"/>
                    <a:pt x="5192" y="16903"/>
                  </a:cubicBezTo>
                  <a:cubicBezTo>
                    <a:pt x="5225" y="16899"/>
                    <a:pt x="5257" y="16887"/>
                    <a:pt x="5288" y="16869"/>
                  </a:cubicBezTo>
                  <a:cubicBezTo>
                    <a:pt x="5328" y="16844"/>
                    <a:pt x="5365" y="16809"/>
                    <a:pt x="5396" y="16764"/>
                  </a:cubicBezTo>
                  <a:lnTo>
                    <a:pt x="5451" y="16651"/>
                  </a:lnTo>
                  <a:lnTo>
                    <a:pt x="5538" y="16468"/>
                  </a:lnTo>
                  <a:lnTo>
                    <a:pt x="5657" y="16322"/>
                  </a:lnTo>
                  <a:cubicBezTo>
                    <a:pt x="5670" y="16286"/>
                    <a:pt x="5682" y="16249"/>
                    <a:pt x="5694" y="16212"/>
                  </a:cubicBezTo>
                  <a:cubicBezTo>
                    <a:pt x="5710" y="16157"/>
                    <a:pt x="5726" y="16102"/>
                    <a:pt x="5740" y="16045"/>
                  </a:cubicBezTo>
                  <a:lnTo>
                    <a:pt x="5776" y="15879"/>
                  </a:lnTo>
                  <a:cubicBezTo>
                    <a:pt x="5808" y="15838"/>
                    <a:pt x="5839" y="15797"/>
                    <a:pt x="5869" y="15756"/>
                  </a:cubicBezTo>
                  <a:cubicBezTo>
                    <a:pt x="5901" y="15713"/>
                    <a:pt x="5933" y="15670"/>
                    <a:pt x="5964" y="15626"/>
                  </a:cubicBezTo>
                  <a:lnTo>
                    <a:pt x="6029" y="15553"/>
                  </a:lnTo>
                  <a:lnTo>
                    <a:pt x="6063" y="15485"/>
                  </a:lnTo>
                  <a:lnTo>
                    <a:pt x="6063" y="15401"/>
                  </a:lnTo>
                  <a:lnTo>
                    <a:pt x="5965" y="15268"/>
                  </a:lnTo>
                  <a:lnTo>
                    <a:pt x="5871" y="15159"/>
                  </a:lnTo>
                  <a:lnTo>
                    <a:pt x="5830" y="15003"/>
                  </a:lnTo>
                  <a:lnTo>
                    <a:pt x="5748" y="14940"/>
                  </a:lnTo>
                  <a:lnTo>
                    <a:pt x="5631" y="14861"/>
                  </a:lnTo>
                  <a:lnTo>
                    <a:pt x="5505" y="14786"/>
                  </a:lnTo>
                  <a:lnTo>
                    <a:pt x="5437" y="14638"/>
                  </a:lnTo>
                  <a:lnTo>
                    <a:pt x="5414" y="14547"/>
                  </a:lnTo>
                  <a:lnTo>
                    <a:pt x="5434" y="14455"/>
                  </a:lnTo>
                  <a:lnTo>
                    <a:pt x="5487" y="14377"/>
                  </a:lnTo>
                  <a:lnTo>
                    <a:pt x="5436" y="14294"/>
                  </a:lnTo>
                  <a:lnTo>
                    <a:pt x="5436" y="14214"/>
                  </a:lnTo>
                  <a:lnTo>
                    <a:pt x="5394" y="14183"/>
                  </a:lnTo>
                  <a:lnTo>
                    <a:pt x="5375" y="14243"/>
                  </a:lnTo>
                  <a:lnTo>
                    <a:pt x="5340" y="14329"/>
                  </a:lnTo>
                  <a:lnTo>
                    <a:pt x="5256" y="14499"/>
                  </a:lnTo>
                  <a:lnTo>
                    <a:pt x="5091" y="14727"/>
                  </a:lnTo>
                  <a:lnTo>
                    <a:pt x="5056" y="14801"/>
                  </a:lnTo>
                  <a:lnTo>
                    <a:pt x="4994" y="14801"/>
                  </a:lnTo>
                  <a:lnTo>
                    <a:pt x="4947" y="14807"/>
                  </a:lnTo>
                  <a:lnTo>
                    <a:pt x="4906" y="14856"/>
                  </a:lnTo>
                  <a:lnTo>
                    <a:pt x="4740" y="14875"/>
                  </a:lnTo>
                  <a:lnTo>
                    <a:pt x="4692" y="14807"/>
                  </a:lnTo>
                  <a:lnTo>
                    <a:pt x="4634" y="14766"/>
                  </a:lnTo>
                  <a:lnTo>
                    <a:pt x="4581" y="14679"/>
                  </a:lnTo>
                  <a:lnTo>
                    <a:pt x="4674" y="14568"/>
                  </a:lnTo>
                  <a:lnTo>
                    <a:pt x="4648" y="14475"/>
                  </a:lnTo>
                  <a:lnTo>
                    <a:pt x="4550" y="14438"/>
                  </a:lnTo>
                  <a:lnTo>
                    <a:pt x="4562" y="14367"/>
                  </a:lnTo>
                  <a:lnTo>
                    <a:pt x="4522" y="14348"/>
                  </a:lnTo>
                  <a:lnTo>
                    <a:pt x="4490" y="14410"/>
                  </a:lnTo>
                  <a:lnTo>
                    <a:pt x="4462" y="14502"/>
                  </a:lnTo>
                  <a:lnTo>
                    <a:pt x="4337" y="14533"/>
                  </a:lnTo>
                  <a:cubicBezTo>
                    <a:pt x="4331" y="14498"/>
                    <a:pt x="4323" y="14463"/>
                    <a:pt x="4314" y="14428"/>
                  </a:cubicBezTo>
                  <a:cubicBezTo>
                    <a:pt x="4298" y="14362"/>
                    <a:pt x="4278" y="14299"/>
                    <a:pt x="4255" y="14237"/>
                  </a:cubicBezTo>
                  <a:lnTo>
                    <a:pt x="4234" y="14018"/>
                  </a:lnTo>
                  <a:lnTo>
                    <a:pt x="4191" y="13904"/>
                  </a:lnTo>
                  <a:lnTo>
                    <a:pt x="4136" y="13783"/>
                  </a:lnTo>
                  <a:lnTo>
                    <a:pt x="4036" y="13581"/>
                  </a:lnTo>
                  <a:lnTo>
                    <a:pt x="3967" y="13457"/>
                  </a:lnTo>
                  <a:lnTo>
                    <a:pt x="3917" y="13357"/>
                  </a:lnTo>
                  <a:lnTo>
                    <a:pt x="3910" y="13265"/>
                  </a:lnTo>
                  <a:lnTo>
                    <a:pt x="3970" y="13125"/>
                  </a:lnTo>
                  <a:lnTo>
                    <a:pt x="3985" y="13013"/>
                  </a:lnTo>
                  <a:lnTo>
                    <a:pt x="4029" y="12939"/>
                  </a:lnTo>
                  <a:lnTo>
                    <a:pt x="4100" y="12939"/>
                  </a:lnTo>
                  <a:lnTo>
                    <a:pt x="4187" y="12956"/>
                  </a:lnTo>
                  <a:lnTo>
                    <a:pt x="4248" y="13017"/>
                  </a:lnTo>
                  <a:lnTo>
                    <a:pt x="4344" y="13091"/>
                  </a:lnTo>
                  <a:lnTo>
                    <a:pt x="4365" y="13162"/>
                  </a:lnTo>
                  <a:lnTo>
                    <a:pt x="4421" y="13266"/>
                  </a:lnTo>
                  <a:cubicBezTo>
                    <a:pt x="4450" y="13317"/>
                    <a:pt x="4470" y="13379"/>
                    <a:pt x="4479" y="13445"/>
                  </a:cubicBezTo>
                  <a:cubicBezTo>
                    <a:pt x="4485" y="13493"/>
                    <a:pt x="4485" y="13543"/>
                    <a:pt x="4479" y="13591"/>
                  </a:cubicBezTo>
                  <a:lnTo>
                    <a:pt x="4511" y="13696"/>
                  </a:lnTo>
                  <a:lnTo>
                    <a:pt x="4660" y="13788"/>
                  </a:lnTo>
                  <a:lnTo>
                    <a:pt x="4794" y="13899"/>
                  </a:lnTo>
                  <a:lnTo>
                    <a:pt x="4994" y="14024"/>
                  </a:lnTo>
                  <a:lnTo>
                    <a:pt x="5100" y="14092"/>
                  </a:lnTo>
                  <a:lnTo>
                    <a:pt x="5224" y="14082"/>
                  </a:lnTo>
                  <a:lnTo>
                    <a:pt x="5261" y="14033"/>
                  </a:lnTo>
                  <a:lnTo>
                    <a:pt x="5374" y="13959"/>
                  </a:lnTo>
                  <a:lnTo>
                    <a:pt x="5431" y="13947"/>
                  </a:lnTo>
                  <a:lnTo>
                    <a:pt x="5522" y="14062"/>
                  </a:lnTo>
                  <a:cubicBezTo>
                    <a:pt x="5537" y="14073"/>
                    <a:pt x="5550" y="14086"/>
                    <a:pt x="5562" y="14103"/>
                  </a:cubicBezTo>
                  <a:cubicBezTo>
                    <a:pt x="5586" y="14136"/>
                    <a:pt x="5605" y="14180"/>
                    <a:pt x="5614" y="14228"/>
                  </a:cubicBezTo>
                  <a:lnTo>
                    <a:pt x="5643" y="14331"/>
                  </a:lnTo>
                  <a:lnTo>
                    <a:pt x="5698" y="14433"/>
                  </a:lnTo>
                  <a:lnTo>
                    <a:pt x="5848" y="14477"/>
                  </a:lnTo>
                  <a:lnTo>
                    <a:pt x="6003" y="14470"/>
                  </a:lnTo>
                  <a:cubicBezTo>
                    <a:pt x="6040" y="14472"/>
                    <a:pt x="6077" y="14481"/>
                    <a:pt x="6112" y="14497"/>
                  </a:cubicBezTo>
                  <a:cubicBezTo>
                    <a:pt x="6145" y="14512"/>
                    <a:pt x="6176" y="14533"/>
                    <a:pt x="6206" y="14559"/>
                  </a:cubicBezTo>
                  <a:lnTo>
                    <a:pt x="6303" y="14547"/>
                  </a:lnTo>
                  <a:lnTo>
                    <a:pt x="6419" y="14487"/>
                  </a:lnTo>
                  <a:lnTo>
                    <a:pt x="6603" y="14487"/>
                  </a:lnTo>
                  <a:lnTo>
                    <a:pt x="6724" y="14567"/>
                  </a:lnTo>
                  <a:lnTo>
                    <a:pt x="6879" y="14555"/>
                  </a:lnTo>
                  <a:lnTo>
                    <a:pt x="6977" y="14489"/>
                  </a:lnTo>
                  <a:lnTo>
                    <a:pt x="7070" y="14403"/>
                  </a:lnTo>
                  <a:lnTo>
                    <a:pt x="7147" y="14409"/>
                  </a:lnTo>
                  <a:lnTo>
                    <a:pt x="7209" y="14502"/>
                  </a:lnTo>
                  <a:lnTo>
                    <a:pt x="7315" y="14543"/>
                  </a:lnTo>
                  <a:lnTo>
                    <a:pt x="7340" y="14604"/>
                  </a:lnTo>
                  <a:lnTo>
                    <a:pt x="7368" y="14721"/>
                  </a:lnTo>
                  <a:lnTo>
                    <a:pt x="7407" y="14857"/>
                  </a:lnTo>
                  <a:lnTo>
                    <a:pt x="7550" y="14913"/>
                  </a:lnTo>
                  <a:lnTo>
                    <a:pt x="7601" y="14995"/>
                  </a:lnTo>
                  <a:lnTo>
                    <a:pt x="7666" y="15131"/>
                  </a:lnTo>
                  <a:lnTo>
                    <a:pt x="7730" y="15227"/>
                  </a:lnTo>
                  <a:lnTo>
                    <a:pt x="7824" y="15221"/>
                  </a:lnTo>
                  <a:lnTo>
                    <a:pt x="7928" y="15166"/>
                  </a:lnTo>
                  <a:lnTo>
                    <a:pt x="7948" y="15245"/>
                  </a:lnTo>
                  <a:lnTo>
                    <a:pt x="7920" y="15356"/>
                  </a:lnTo>
                  <a:lnTo>
                    <a:pt x="7861" y="15391"/>
                  </a:lnTo>
                  <a:lnTo>
                    <a:pt x="7781" y="15366"/>
                  </a:lnTo>
                  <a:lnTo>
                    <a:pt x="7730" y="15391"/>
                  </a:lnTo>
                  <a:lnTo>
                    <a:pt x="7758" y="15489"/>
                  </a:lnTo>
                  <a:lnTo>
                    <a:pt x="7847" y="15538"/>
                  </a:lnTo>
                  <a:lnTo>
                    <a:pt x="7873" y="15682"/>
                  </a:lnTo>
                  <a:lnTo>
                    <a:pt x="7941" y="15770"/>
                  </a:lnTo>
                  <a:lnTo>
                    <a:pt x="8042" y="15801"/>
                  </a:lnTo>
                  <a:lnTo>
                    <a:pt x="8140" y="15801"/>
                  </a:lnTo>
                  <a:lnTo>
                    <a:pt x="8215" y="15735"/>
                  </a:lnTo>
                  <a:lnTo>
                    <a:pt x="8215" y="15647"/>
                  </a:lnTo>
                  <a:lnTo>
                    <a:pt x="8207" y="15558"/>
                  </a:lnTo>
                  <a:lnTo>
                    <a:pt x="8244" y="15441"/>
                  </a:lnTo>
                  <a:cubicBezTo>
                    <a:pt x="8257" y="15421"/>
                    <a:pt x="8274" y="15406"/>
                    <a:pt x="8293" y="15398"/>
                  </a:cubicBezTo>
                  <a:cubicBezTo>
                    <a:pt x="8324" y="15385"/>
                    <a:pt x="8357" y="15392"/>
                    <a:pt x="8385" y="15417"/>
                  </a:cubicBezTo>
                  <a:lnTo>
                    <a:pt x="8429" y="15521"/>
                  </a:lnTo>
                  <a:lnTo>
                    <a:pt x="8417" y="15693"/>
                  </a:lnTo>
                  <a:lnTo>
                    <a:pt x="8397" y="15792"/>
                  </a:lnTo>
                  <a:lnTo>
                    <a:pt x="8386" y="15933"/>
                  </a:lnTo>
                  <a:lnTo>
                    <a:pt x="8386" y="16079"/>
                  </a:lnTo>
                  <a:lnTo>
                    <a:pt x="8398" y="16182"/>
                  </a:lnTo>
                  <a:lnTo>
                    <a:pt x="8473" y="16441"/>
                  </a:lnTo>
                  <a:lnTo>
                    <a:pt x="8502" y="16728"/>
                  </a:lnTo>
                  <a:lnTo>
                    <a:pt x="8510" y="16868"/>
                  </a:lnTo>
                  <a:lnTo>
                    <a:pt x="8607" y="17022"/>
                  </a:lnTo>
                  <a:lnTo>
                    <a:pt x="8663" y="17133"/>
                  </a:lnTo>
                  <a:lnTo>
                    <a:pt x="8679" y="17303"/>
                  </a:lnTo>
                  <a:lnTo>
                    <a:pt x="8703" y="17418"/>
                  </a:lnTo>
                  <a:lnTo>
                    <a:pt x="8759" y="17603"/>
                  </a:lnTo>
                  <a:lnTo>
                    <a:pt x="8799" y="17688"/>
                  </a:lnTo>
                  <a:lnTo>
                    <a:pt x="8858" y="17815"/>
                  </a:lnTo>
                  <a:lnTo>
                    <a:pt x="8894" y="17957"/>
                  </a:lnTo>
                  <a:lnTo>
                    <a:pt x="8919" y="18076"/>
                  </a:lnTo>
                  <a:lnTo>
                    <a:pt x="8963" y="18226"/>
                  </a:lnTo>
                  <a:lnTo>
                    <a:pt x="9034" y="18456"/>
                  </a:lnTo>
                  <a:lnTo>
                    <a:pt x="9088" y="18673"/>
                  </a:lnTo>
                  <a:lnTo>
                    <a:pt x="9120" y="18766"/>
                  </a:lnTo>
                  <a:lnTo>
                    <a:pt x="9157" y="18876"/>
                  </a:lnTo>
                  <a:lnTo>
                    <a:pt x="9165" y="18992"/>
                  </a:lnTo>
                  <a:lnTo>
                    <a:pt x="9224" y="19229"/>
                  </a:lnTo>
                  <a:lnTo>
                    <a:pt x="9265" y="19340"/>
                  </a:lnTo>
                  <a:lnTo>
                    <a:pt x="9335" y="19401"/>
                  </a:lnTo>
                  <a:lnTo>
                    <a:pt x="9398" y="19455"/>
                  </a:lnTo>
                  <a:lnTo>
                    <a:pt x="9435" y="19534"/>
                  </a:lnTo>
                  <a:lnTo>
                    <a:pt x="9499" y="19529"/>
                  </a:lnTo>
                  <a:cubicBezTo>
                    <a:pt x="9505" y="19494"/>
                    <a:pt x="9512" y="19459"/>
                    <a:pt x="9519" y="19424"/>
                  </a:cubicBezTo>
                  <a:cubicBezTo>
                    <a:pt x="9525" y="19391"/>
                    <a:pt x="9532" y="19357"/>
                    <a:pt x="9539" y="19324"/>
                  </a:cubicBezTo>
                  <a:cubicBezTo>
                    <a:pt x="9570" y="19289"/>
                    <a:pt x="9599" y="19249"/>
                    <a:pt x="9625" y="19204"/>
                  </a:cubicBezTo>
                  <a:cubicBezTo>
                    <a:pt x="9647" y="19167"/>
                    <a:pt x="9667" y="19127"/>
                    <a:pt x="9684" y="19085"/>
                  </a:cubicBezTo>
                  <a:cubicBezTo>
                    <a:pt x="9697" y="19045"/>
                    <a:pt x="9711" y="19006"/>
                    <a:pt x="9726" y="18966"/>
                  </a:cubicBezTo>
                  <a:cubicBezTo>
                    <a:pt x="9741" y="18924"/>
                    <a:pt x="9756" y="18882"/>
                    <a:pt x="9772" y="18841"/>
                  </a:cubicBezTo>
                  <a:cubicBezTo>
                    <a:pt x="9774" y="18775"/>
                    <a:pt x="9777" y="18710"/>
                    <a:pt x="9780" y="18644"/>
                  </a:cubicBezTo>
                  <a:cubicBezTo>
                    <a:pt x="9783" y="18560"/>
                    <a:pt x="9787" y="18477"/>
                    <a:pt x="9791" y="18393"/>
                  </a:cubicBezTo>
                  <a:lnTo>
                    <a:pt x="9799" y="18288"/>
                  </a:lnTo>
                  <a:cubicBezTo>
                    <a:pt x="9805" y="18246"/>
                    <a:pt x="9812" y="18203"/>
                    <a:pt x="9819" y="18161"/>
                  </a:cubicBezTo>
                  <a:cubicBezTo>
                    <a:pt x="9829" y="18099"/>
                    <a:pt x="9840" y="18037"/>
                    <a:pt x="9852" y="17976"/>
                  </a:cubicBezTo>
                  <a:lnTo>
                    <a:pt x="9839" y="17816"/>
                  </a:lnTo>
                  <a:lnTo>
                    <a:pt x="9791" y="17643"/>
                  </a:lnTo>
                  <a:lnTo>
                    <a:pt x="9831" y="17391"/>
                  </a:lnTo>
                  <a:lnTo>
                    <a:pt x="9876" y="17301"/>
                  </a:lnTo>
                  <a:lnTo>
                    <a:pt x="10002" y="17165"/>
                  </a:lnTo>
                  <a:lnTo>
                    <a:pt x="10132" y="17023"/>
                  </a:lnTo>
                  <a:lnTo>
                    <a:pt x="10237" y="16902"/>
                  </a:lnTo>
                  <a:lnTo>
                    <a:pt x="10262" y="16723"/>
                  </a:lnTo>
                  <a:lnTo>
                    <a:pt x="10286" y="16610"/>
                  </a:lnTo>
                  <a:lnTo>
                    <a:pt x="10412" y="16555"/>
                  </a:lnTo>
                  <a:lnTo>
                    <a:pt x="10492" y="16493"/>
                  </a:lnTo>
                  <a:lnTo>
                    <a:pt x="10549" y="16327"/>
                  </a:lnTo>
                  <a:cubicBezTo>
                    <a:pt x="10554" y="16271"/>
                    <a:pt x="10568" y="16218"/>
                    <a:pt x="10590" y="16173"/>
                  </a:cubicBezTo>
                  <a:cubicBezTo>
                    <a:pt x="10626" y="16098"/>
                    <a:pt x="10680" y="16049"/>
                    <a:pt x="10740" y="16037"/>
                  </a:cubicBezTo>
                  <a:lnTo>
                    <a:pt x="10874" y="15975"/>
                  </a:lnTo>
                  <a:lnTo>
                    <a:pt x="10909" y="15840"/>
                  </a:lnTo>
                  <a:lnTo>
                    <a:pt x="10885" y="15717"/>
                  </a:lnTo>
                  <a:lnTo>
                    <a:pt x="10892" y="15606"/>
                  </a:lnTo>
                  <a:lnTo>
                    <a:pt x="11030" y="15483"/>
                  </a:lnTo>
                  <a:lnTo>
                    <a:pt x="11172" y="15422"/>
                  </a:lnTo>
                  <a:lnTo>
                    <a:pt x="11283" y="15422"/>
                  </a:lnTo>
                  <a:lnTo>
                    <a:pt x="11432" y="15358"/>
                  </a:lnTo>
                  <a:cubicBezTo>
                    <a:pt x="11441" y="15314"/>
                    <a:pt x="11462" y="15277"/>
                    <a:pt x="11490" y="15257"/>
                  </a:cubicBezTo>
                  <a:cubicBezTo>
                    <a:pt x="11517" y="15237"/>
                    <a:pt x="11549" y="15235"/>
                    <a:pt x="11578" y="15251"/>
                  </a:cubicBezTo>
                  <a:lnTo>
                    <a:pt x="11664" y="15279"/>
                  </a:lnTo>
                  <a:cubicBezTo>
                    <a:pt x="11683" y="15305"/>
                    <a:pt x="11699" y="15334"/>
                    <a:pt x="11713" y="15365"/>
                  </a:cubicBezTo>
                  <a:cubicBezTo>
                    <a:pt x="11732" y="15408"/>
                    <a:pt x="11745" y="15456"/>
                    <a:pt x="11753" y="15507"/>
                  </a:cubicBezTo>
                  <a:lnTo>
                    <a:pt x="11800" y="15701"/>
                  </a:lnTo>
                  <a:lnTo>
                    <a:pt x="11828" y="15833"/>
                  </a:lnTo>
                  <a:cubicBezTo>
                    <a:pt x="11839" y="15860"/>
                    <a:pt x="11854" y="15883"/>
                    <a:pt x="11872" y="15899"/>
                  </a:cubicBezTo>
                  <a:cubicBezTo>
                    <a:pt x="11906" y="15927"/>
                    <a:pt x="11947" y="15931"/>
                    <a:pt x="11982" y="15909"/>
                  </a:cubicBezTo>
                  <a:lnTo>
                    <a:pt x="12043" y="15981"/>
                  </a:lnTo>
                  <a:lnTo>
                    <a:pt x="12197" y="16141"/>
                  </a:lnTo>
                  <a:cubicBezTo>
                    <a:pt x="12217" y="16216"/>
                    <a:pt x="12238" y="16289"/>
                    <a:pt x="12262" y="16361"/>
                  </a:cubicBezTo>
                  <a:cubicBezTo>
                    <a:pt x="12295" y="16459"/>
                    <a:pt x="12331" y="16555"/>
                    <a:pt x="12368" y="16650"/>
                  </a:cubicBezTo>
                  <a:cubicBezTo>
                    <a:pt x="12386" y="16699"/>
                    <a:pt x="12405" y="16748"/>
                    <a:pt x="12423" y="16798"/>
                  </a:cubicBezTo>
                  <a:lnTo>
                    <a:pt x="12395" y="16894"/>
                  </a:lnTo>
                  <a:lnTo>
                    <a:pt x="12331" y="16954"/>
                  </a:lnTo>
                  <a:lnTo>
                    <a:pt x="12335" y="17094"/>
                  </a:lnTo>
                  <a:cubicBezTo>
                    <a:pt x="12355" y="17119"/>
                    <a:pt x="12375" y="17144"/>
                    <a:pt x="12396" y="17168"/>
                  </a:cubicBezTo>
                  <a:cubicBezTo>
                    <a:pt x="12423" y="17200"/>
                    <a:pt x="12450" y="17230"/>
                    <a:pt x="12478" y="17260"/>
                  </a:cubicBezTo>
                  <a:lnTo>
                    <a:pt x="12575" y="17255"/>
                  </a:lnTo>
                  <a:lnTo>
                    <a:pt x="12636" y="17120"/>
                  </a:lnTo>
                  <a:lnTo>
                    <a:pt x="12693" y="16980"/>
                  </a:lnTo>
                  <a:lnTo>
                    <a:pt x="12800" y="16904"/>
                  </a:lnTo>
                  <a:lnTo>
                    <a:pt x="12877" y="17115"/>
                  </a:lnTo>
                  <a:lnTo>
                    <a:pt x="12945" y="17317"/>
                  </a:lnTo>
                  <a:lnTo>
                    <a:pt x="12957" y="17518"/>
                  </a:lnTo>
                  <a:lnTo>
                    <a:pt x="13008" y="17691"/>
                  </a:lnTo>
                  <a:lnTo>
                    <a:pt x="13054" y="17855"/>
                  </a:lnTo>
                  <a:lnTo>
                    <a:pt x="13127" y="18014"/>
                  </a:lnTo>
                  <a:lnTo>
                    <a:pt x="13171" y="18203"/>
                  </a:lnTo>
                  <a:lnTo>
                    <a:pt x="13183" y="18371"/>
                  </a:lnTo>
                  <a:lnTo>
                    <a:pt x="13148" y="18675"/>
                  </a:lnTo>
                  <a:lnTo>
                    <a:pt x="13144" y="18870"/>
                  </a:lnTo>
                  <a:lnTo>
                    <a:pt x="13159" y="19080"/>
                  </a:lnTo>
                  <a:lnTo>
                    <a:pt x="13159" y="19174"/>
                  </a:lnTo>
                  <a:lnTo>
                    <a:pt x="13117" y="19238"/>
                  </a:lnTo>
                  <a:lnTo>
                    <a:pt x="13113" y="19347"/>
                  </a:lnTo>
                  <a:lnTo>
                    <a:pt x="13125" y="19507"/>
                  </a:lnTo>
                  <a:lnTo>
                    <a:pt x="13186" y="19549"/>
                  </a:lnTo>
                  <a:cubicBezTo>
                    <a:pt x="13215" y="19555"/>
                    <a:pt x="13242" y="19574"/>
                    <a:pt x="13263" y="19604"/>
                  </a:cubicBezTo>
                  <a:cubicBezTo>
                    <a:pt x="13285" y="19635"/>
                    <a:pt x="13300" y="19676"/>
                    <a:pt x="13306" y="19721"/>
                  </a:cubicBezTo>
                  <a:lnTo>
                    <a:pt x="13420" y="19817"/>
                  </a:lnTo>
                  <a:lnTo>
                    <a:pt x="13492" y="19981"/>
                  </a:lnTo>
                  <a:lnTo>
                    <a:pt x="13536" y="20099"/>
                  </a:lnTo>
                  <a:lnTo>
                    <a:pt x="13550" y="20266"/>
                  </a:lnTo>
                  <a:lnTo>
                    <a:pt x="13596" y="20554"/>
                  </a:lnTo>
                  <a:lnTo>
                    <a:pt x="13625" y="20775"/>
                  </a:lnTo>
                  <a:lnTo>
                    <a:pt x="13682" y="20923"/>
                  </a:lnTo>
                  <a:lnTo>
                    <a:pt x="13714" y="21021"/>
                  </a:lnTo>
                  <a:lnTo>
                    <a:pt x="13772" y="21189"/>
                  </a:lnTo>
                  <a:lnTo>
                    <a:pt x="13829" y="21220"/>
                  </a:lnTo>
                  <a:lnTo>
                    <a:pt x="13914" y="21327"/>
                  </a:lnTo>
                  <a:lnTo>
                    <a:pt x="13982" y="21385"/>
                  </a:lnTo>
                  <a:lnTo>
                    <a:pt x="14071" y="21477"/>
                  </a:lnTo>
                  <a:lnTo>
                    <a:pt x="14136" y="21600"/>
                  </a:lnTo>
                  <a:lnTo>
                    <a:pt x="14168" y="21558"/>
                  </a:lnTo>
                  <a:lnTo>
                    <a:pt x="14144" y="21461"/>
                  </a:lnTo>
                  <a:lnTo>
                    <a:pt x="14220" y="21456"/>
                  </a:lnTo>
                  <a:lnTo>
                    <a:pt x="14242" y="21376"/>
                  </a:lnTo>
                  <a:lnTo>
                    <a:pt x="14195" y="21227"/>
                  </a:lnTo>
                  <a:lnTo>
                    <a:pt x="14149" y="21028"/>
                  </a:lnTo>
                  <a:lnTo>
                    <a:pt x="14121" y="20856"/>
                  </a:lnTo>
                  <a:lnTo>
                    <a:pt x="14064" y="20706"/>
                  </a:lnTo>
                  <a:cubicBezTo>
                    <a:pt x="14060" y="20650"/>
                    <a:pt x="14051" y="20596"/>
                    <a:pt x="14037" y="20544"/>
                  </a:cubicBezTo>
                  <a:cubicBezTo>
                    <a:pt x="14023" y="20489"/>
                    <a:pt x="14004" y="20437"/>
                    <a:pt x="13980" y="20389"/>
                  </a:cubicBezTo>
                  <a:lnTo>
                    <a:pt x="13916" y="20256"/>
                  </a:lnTo>
                  <a:lnTo>
                    <a:pt x="13796" y="20153"/>
                  </a:lnTo>
                  <a:lnTo>
                    <a:pt x="13711" y="20030"/>
                  </a:lnTo>
                  <a:lnTo>
                    <a:pt x="13609" y="19920"/>
                  </a:lnTo>
                  <a:cubicBezTo>
                    <a:pt x="13556" y="19920"/>
                    <a:pt x="13507" y="19872"/>
                    <a:pt x="13485" y="19798"/>
                  </a:cubicBezTo>
                  <a:cubicBezTo>
                    <a:pt x="13470" y="19751"/>
                    <a:pt x="13469" y="19697"/>
                    <a:pt x="13481" y="19648"/>
                  </a:cubicBezTo>
                  <a:lnTo>
                    <a:pt x="13460" y="19495"/>
                  </a:lnTo>
                  <a:lnTo>
                    <a:pt x="13452" y="19396"/>
                  </a:lnTo>
                  <a:lnTo>
                    <a:pt x="13387" y="19310"/>
                  </a:lnTo>
                  <a:lnTo>
                    <a:pt x="13305" y="19191"/>
                  </a:lnTo>
                  <a:lnTo>
                    <a:pt x="13276" y="19059"/>
                  </a:lnTo>
                  <a:cubicBezTo>
                    <a:pt x="13277" y="19012"/>
                    <a:pt x="13280" y="18965"/>
                    <a:pt x="13285" y="18918"/>
                  </a:cubicBezTo>
                  <a:cubicBezTo>
                    <a:pt x="13292" y="18843"/>
                    <a:pt x="13304" y="18769"/>
                    <a:pt x="13320" y="18698"/>
                  </a:cubicBezTo>
                  <a:lnTo>
                    <a:pt x="13344" y="18550"/>
                  </a:lnTo>
                  <a:lnTo>
                    <a:pt x="13373" y="18396"/>
                  </a:lnTo>
                  <a:lnTo>
                    <a:pt x="13344" y="18289"/>
                  </a:lnTo>
                  <a:lnTo>
                    <a:pt x="13320" y="18141"/>
                  </a:lnTo>
                  <a:lnTo>
                    <a:pt x="13317" y="18024"/>
                  </a:lnTo>
                  <a:lnTo>
                    <a:pt x="13378" y="17962"/>
                  </a:lnTo>
                  <a:lnTo>
                    <a:pt x="13468" y="17956"/>
                  </a:lnTo>
                  <a:lnTo>
                    <a:pt x="13512" y="18073"/>
                  </a:lnTo>
                  <a:lnTo>
                    <a:pt x="13562" y="18139"/>
                  </a:lnTo>
                  <a:lnTo>
                    <a:pt x="13671" y="18279"/>
                  </a:lnTo>
                  <a:lnTo>
                    <a:pt x="13730" y="18310"/>
                  </a:lnTo>
                  <a:lnTo>
                    <a:pt x="13812" y="18382"/>
                  </a:lnTo>
                  <a:lnTo>
                    <a:pt x="13875" y="18423"/>
                  </a:lnTo>
                  <a:lnTo>
                    <a:pt x="13920" y="18490"/>
                  </a:lnTo>
                  <a:lnTo>
                    <a:pt x="13956" y="18648"/>
                  </a:lnTo>
                  <a:lnTo>
                    <a:pt x="14008" y="18743"/>
                  </a:lnTo>
                  <a:lnTo>
                    <a:pt x="14063" y="18771"/>
                  </a:lnTo>
                  <a:lnTo>
                    <a:pt x="14091" y="18862"/>
                  </a:lnTo>
                  <a:lnTo>
                    <a:pt x="14107" y="18940"/>
                  </a:lnTo>
                  <a:lnTo>
                    <a:pt x="14172" y="18933"/>
                  </a:lnTo>
                  <a:lnTo>
                    <a:pt x="14221" y="18872"/>
                  </a:lnTo>
                  <a:lnTo>
                    <a:pt x="14260" y="18826"/>
                  </a:lnTo>
                  <a:lnTo>
                    <a:pt x="14320" y="18833"/>
                  </a:lnTo>
                  <a:lnTo>
                    <a:pt x="14345" y="18921"/>
                  </a:lnTo>
                  <a:lnTo>
                    <a:pt x="14360" y="19056"/>
                  </a:lnTo>
                  <a:lnTo>
                    <a:pt x="14331" y="19130"/>
                  </a:lnTo>
                  <a:lnTo>
                    <a:pt x="14319" y="19343"/>
                  </a:lnTo>
                  <a:lnTo>
                    <a:pt x="14412" y="19408"/>
                  </a:lnTo>
                  <a:lnTo>
                    <a:pt x="14456" y="19286"/>
                  </a:lnTo>
                  <a:lnTo>
                    <a:pt x="14548" y="19241"/>
                  </a:lnTo>
                  <a:lnTo>
                    <a:pt x="14577" y="19051"/>
                  </a:lnTo>
                  <a:lnTo>
                    <a:pt x="14624" y="18944"/>
                  </a:lnTo>
                  <a:lnTo>
                    <a:pt x="14784" y="18882"/>
                  </a:lnTo>
                  <a:lnTo>
                    <a:pt x="14859" y="18791"/>
                  </a:lnTo>
                  <a:lnTo>
                    <a:pt x="15001" y="18675"/>
                  </a:lnTo>
                  <a:lnTo>
                    <a:pt x="15018" y="18428"/>
                  </a:lnTo>
                  <a:cubicBezTo>
                    <a:pt x="15027" y="18358"/>
                    <a:pt x="15029" y="18286"/>
                    <a:pt x="15026" y="18214"/>
                  </a:cubicBezTo>
                  <a:cubicBezTo>
                    <a:pt x="15023" y="18158"/>
                    <a:pt x="15016" y="18102"/>
                    <a:pt x="15005" y="18048"/>
                  </a:cubicBezTo>
                  <a:lnTo>
                    <a:pt x="14951" y="17795"/>
                  </a:lnTo>
                  <a:lnTo>
                    <a:pt x="14866" y="17561"/>
                  </a:lnTo>
                  <a:lnTo>
                    <a:pt x="14850" y="17352"/>
                  </a:lnTo>
                  <a:lnTo>
                    <a:pt x="14784" y="17141"/>
                  </a:lnTo>
                  <a:lnTo>
                    <a:pt x="14703" y="17036"/>
                  </a:lnTo>
                  <a:lnTo>
                    <a:pt x="14574" y="16931"/>
                  </a:lnTo>
                  <a:lnTo>
                    <a:pt x="14515" y="16866"/>
                  </a:lnTo>
                  <a:lnTo>
                    <a:pt x="14356" y="16669"/>
                  </a:lnTo>
                  <a:lnTo>
                    <a:pt x="14313" y="16504"/>
                  </a:lnTo>
                  <a:lnTo>
                    <a:pt x="14270" y="16280"/>
                  </a:lnTo>
                  <a:lnTo>
                    <a:pt x="14249" y="16054"/>
                  </a:lnTo>
                  <a:lnTo>
                    <a:pt x="14249" y="15855"/>
                  </a:lnTo>
                  <a:lnTo>
                    <a:pt x="14310" y="15701"/>
                  </a:lnTo>
                  <a:lnTo>
                    <a:pt x="14404" y="15603"/>
                  </a:lnTo>
                  <a:lnTo>
                    <a:pt x="14539" y="15572"/>
                  </a:lnTo>
                  <a:lnTo>
                    <a:pt x="14646" y="15529"/>
                  </a:lnTo>
                  <a:lnTo>
                    <a:pt x="14709" y="15498"/>
                  </a:lnTo>
                  <a:lnTo>
                    <a:pt x="14801" y="15566"/>
                  </a:lnTo>
                  <a:lnTo>
                    <a:pt x="14849" y="15613"/>
                  </a:lnTo>
                  <a:lnTo>
                    <a:pt x="14905" y="15711"/>
                  </a:lnTo>
                  <a:lnTo>
                    <a:pt x="14913" y="15816"/>
                  </a:lnTo>
                  <a:lnTo>
                    <a:pt x="14978" y="15932"/>
                  </a:lnTo>
                  <a:lnTo>
                    <a:pt x="15034" y="15903"/>
                  </a:lnTo>
                  <a:lnTo>
                    <a:pt x="15067" y="15749"/>
                  </a:lnTo>
                  <a:lnTo>
                    <a:pt x="15119" y="15621"/>
                  </a:lnTo>
                  <a:lnTo>
                    <a:pt x="15197" y="15541"/>
                  </a:lnTo>
                  <a:lnTo>
                    <a:pt x="15236" y="15492"/>
                  </a:lnTo>
                  <a:lnTo>
                    <a:pt x="15356" y="15426"/>
                  </a:lnTo>
                  <a:lnTo>
                    <a:pt x="15409" y="15420"/>
                  </a:lnTo>
                  <a:lnTo>
                    <a:pt x="15506" y="15420"/>
                  </a:lnTo>
                  <a:cubicBezTo>
                    <a:pt x="15541" y="15410"/>
                    <a:pt x="15576" y="15402"/>
                    <a:pt x="15611" y="15395"/>
                  </a:cubicBezTo>
                  <a:cubicBezTo>
                    <a:pt x="15656" y="15387"/>
                    <a:pt x="15702" y="15382"/>
                    <a:pt x="15748" y="15381"/>
                  </a:cubicBezTo>
                  <a:lnTo>
                    <a:pt x="15797" y="15264"/>
                  </a:lnTo>
                  <a:lnTo>
                    <a:pt x="15824" y="15215"/>
                  </a:lnTo>
                  <a:lnTo>
                    <a:pt x="15922" y="15247"/>
                  </a:lnTo>
                  <a:lnTo>
                    <a:pt x="16095" y="15132"/>
                  </a:lnTo>
                  <a:lnTo>
                    <a:pt x="16192" y="15009"/>
                  </a:lnTo>
                  <a:lnTo>
                    <a:pt x="16270" y="14854"/>
                  </a:lnTo>
                  <a:lnTo>
                    <a:pt x="16310" y="14737"/>
                  </a:lnTo>
                  <a:lnTo>
                    <a:pt x="16407" y="14620"/>
                  </a:lnTo>
                  <a:lnTo>
                    <a:pt x="16439" y="14464"/>
                  </a:lnTo>
                  <a:lnTo>
                    <a:pt x="16441" y="14274"/>
                  </a:lnTo>
                  <a:lnTo>
                    <a:pt x="16474" y="14063"/>
                  </a:lnTo>
                  <a:lnTo>
                    <a:pt x="16523" y="13908"/>
                  </a:lnTo>
                  <a:cubicBezTo>
                    <a:pt x="16537" y="13860"/>
                    <a:pt x="16549" y="13811"/>
                    <a:pt x="16559" y="13760"/>
                  </a:cubicBezTo>
                  <a:cubicBezTo>
                    <a:pt x="16573" y="13694"/>
                    <a:pt x="16583" y="13626"/>
                    <a:pt x="16590" y="13557"/>
                  </a:cubicBezTo>
                  <a:lnTo>
                    <a:pt x="16618" y="13434"/>
                  </a:lnTo>
                  <a:lnTo>
                    <a:pt x="16612" y="13238"/>
                  </a:lnTo>
                  <a:lnTo>
                    <a:pt x="16579" y="13087"/>
                  </a:lnTo>
                  <a:lnTo>
                    <a:pt x="16463" y="13118"/>
                  </a:lnTo>
                  <a:lnTo>
                    <a:pt x="16401" y="13023"/>
                  </a:lnTo>
                  <a:lnTo>
                    <a:pt x="16404" y="12902"/>
                  </a:lnTo>
                  <a:lnTo>
                    <a:pt x="16500" y="12877"/>
                  </a:lnTo>
                  <a:lnTo>
                    <a:pt x="16499" y="12711"/>
                  </a:lnTo>
                  <a:lnTo>
                    <a:pt x="16452" y="12608"/>
                  </a:lnTo>
                  <a:lnTo>
                    <a:pt x="16290" y="12516"/>
                  </a:lnTo>
                  <a:lnTo>
                    <a:pt x="16202" y="12414"/>
                  </a:lnTo>
                  <a:lnTo>
                    <a:pt x="16127" y="12274"/>
                  </a:lnTo>
                  <a:lnTo>
                    <a:pt x="16079" y="12031"/>
                  </a:lnTo>
                  <a:lnTo>
                    <a:pt x="16006" y="11871"/>
                  </a:lnTo>
                  <a:lnTo>
                    <a:pt x="15922" y="11816"/>
                  </a:lnTo>
                  <a:lnTo>
                    <a:pt x="15808" y="11687"/>
                  </a:lnTo>
                  <a:lnTo>
                    <a:pt x="15821" y="11475"/>
                  </a:lnTo>
                  <a:lnTo>
                    <a:pt x="15861" y="11346"/>
                  </a:lnTo>
                  <a:lnTo>
                    <a:pt x="15955" y="11253"/>
                  </a:lnTo>
                  <a:lnTo>
                    <a:pt x="16048" y="11167"/>
                  </a:lnTo>
                  <a:lnTo>
                    <a:pt x="16158" y="11093"/>
                  </a:lnTo>
                  <a:lnTo>
                    <a:pt x="16213" y="11001"/>
                  </a:lnTo>
                  <a:lnTo>
                    <a:pt x="16121" y="10906"/>
                  </a:lnTo>
                  <a:lnTo>
                    <a:pt x="16057" y="10878"/>
                  </a:lnTo>
                  <a:lnTo>
                    <a:pt x="15876" y="10796"/>
                  </a:lnTo>
                  <a:lnTo>
                    <a:pt x="15787" y="10913"/>
                  </a:lnTo>
                  <a:lnTo>
                    <a:pt x="15726" y="10986"/>
                  </a:lnTo>
                  <a:lnTo>
                    <a:pt x="15616" y="10898"/>
                  </a:lnTo>
                  <a:lnTo>
                    <a:pt x="15572" y="10814"/>
                  </a:lnTo>
                  <a:lnTo>
                    <a:pt x="15466" y="10773"/>
                  </a:lnTo>
                  <a:lnTo>
                    <a:pt x="15240" y="10656"/>
                  </a:lnTo>
                  <a:lnTo>
                    <a:pt x="15246" y="10486"/>
                  </a:lnTo>
                  <a:lnTo>
                    <a:pt x="15242" y="10361"/>
                  </a:lnTo>
                  <a:lnTo>
                    <a:pt x="15301" y="10324"/>
                  </a:lnTo>
                  <a:lnTo>
                    <a:pt x="15407" y="10336"/>
                  </a:lnTo>
                  <a:lnTo>
                    <a:pt x="15531" y="10149"/>
                  </a:lnTo>
                  <a:lnTo>
                    <a:pt x="15564" y="10015"/>
                  </a:lnTo>
                  <a:lnTo>
                    <a:pt x="15631" y="9837"/>
                  </a:lnTo>
                  <a:lnTo>
                    <a:pt x="15707" y="9806"/>
                  </a:lnTo>
                  <a:lnTo>
                    <a:pt x="15791" y="9837"/>
                  </a:lnTo>
                  <a:lnTo>
                    <a:pt x="15841" y="9943"/>
                  </a:lnTo>
                  <a:lnTo>
                    <a:pt x="15848" y="10050"/>
                  </a:lnTo>
                  <a:lnTo>
                    <a:pt x="15863" y="10231"/>
                  </a:lnTo>
                  <a:lnTo>
                    <a:pt x="15907" y="10340"/>
                  </a:lnTo>
                  <a:lnTo>
                    <a:pt x="15948" y="10401"/>
                  </a:lnTo>
                  <a:lnTo>
                    <a:pt x="16001" y="10382"/>
                  </a:lnTo>
                  <a:lnTo>
                    <a:pt x="16072" y="10288"/>
                  </a:lnTo>
                  <a:lnTo>
                    <a:pt x="16148" y="10200"/>
                  </a:lnTo>
                  <a:lnTo>
                    <a:pt x="16274" y="10150"/>
                  </a:lnTo>
                  <a:lnTo>
                    <a:pt x="16333" y="10181"/>
                  </a:lnTo>
                  <a:lnTo>
                    <a:pt x="16409" y="10234"/>
                  </a:lnTo>
                  <a:lnTo>
                    <a:pt x="16525" y="10312"/>
                  </a:lnTo>
                  <a:lnTo>
                    <a:pt x="16590" y="10442"/>
                  </a:lnTo>
                  <a:lnTo>
                    <a:pt x="16527" y="10497"/>
                  </a:lnTo>
                  <a:lnTo>
                    <a:pt x="16523" y="10644"/>
                  </a:lnTo>
                  <a:lnTo>
                    <a:pt x="16588" y="10729"/>
                  </a:lnTo>
                  <a:lnTo>
                    <a:pt x="16695" y="10722"/>
                  </a:lnTo>
                  <a:lnTo>
                    <a:pt x="16853" y="10809"/>
                  </a:lnTo>
                  <a:lnTo>
                    <a:pt x="16926" y="10987"/>
                  </a:lnTo>
                  <a:lnTo>
                    <a:pt x="16986" y="11078"/>
                  </a:lnTo>
                  <a:lnTo>
                    <a:pt x="17010" y="11232"/>
                  </a:lnTo>
                  <a:lnTo>
                    <a:pt x="17031" y="11349"/>
                  </a:lnTo>
                  <a:lnTo>
                    <a:pt x="17059" y="11498"/>
                  </a:lnTo>
                  <a:lnTo>
                    <a:pt x="17071" y="11651"/>
                  </a:lnTo>
                  <a:lnTo>
                    <a:pt x="17130" y="11766"/>
                  </a:lnTo>
                  <a:lnTo>
                    <a:pt x="17195" y="11815"/>
                  </a:lnTo>
                  <a:lnTo>
                    <a:pt x="17296" y="11702"/>
                  </a:lnTo>
                  <a:lnTo>
                    <a:pt x="17415" y="11614"/>
                  </a:lnTo>
                  <a:lnTo>
                    <a:pt x="17496" y="11558"/>
                  </a:lnTo>
                  <a:lnTo>
                    <a:pt x="17559" y="11499"/>
                  </a:lnTo>
                  <a:cubicBezTo>
                    <a:pt x="17562" y="11433"/>
                    <a:pt x="17556" y="11367"/>
                    <a:pt x="17540" y="11306"/>
                  </a:cubicBezTo>
                  <a:cubicBezTo>
                    <a:pt x="17525" y="11249"/>
                    <a:pt x="17502" y="11197"/>
                    <a:pt x="17473" y="11154"/>
                  </a:cubicBezTo>
                  <a:lnTo>
                    <a:pt x="17400" y="10964"/>
                  </a:lnTo>
                  <a:lnTo>
                    <a:pt x="17298" y="10799"/>
                  </a:lnTo>
                  <a:lnTo>
                    <a:pt x="17248" y="10793"/>
                  </a:lnTo>
                  <a:lnTo>
                    <a:pt x="17072" y="10623"/>
                  </a:lnTo>
                  <a:lnTo>
                    <a:pt x="16989" y="10544"/>
                  </a:lnTo>
                  <a:lnTo>
                    <a:pt x="16900" y="10423"/>
                  </a:lnTo>
                  <a:lnTo>
                    <a:pt x="16820" y="10351"/>
                  </a:lnTo>
                  <a:lnTo>
                    <a:pt x="16820" y="10220"/>
                  </a:lnTo>
                  <a:lnTo>
                    <a:pt x="16933" y="10133"/>
                  </a:lnTo>
                  <a:lnTo>
                    <a:pt x="17068" y="10029"/>
                  </a:lnTo>
                  <a:lnTo>
                    <a:pt x="17083" y="9914"/>
                  </a:lnTo>
                  <a:lnTo>
                    <a:pt x="17049" y="9761"/>
                  </a:lnTo>
                  <a:lnTo>
                    <a:pt x="16957" y="9770"/>
                  </a:lnTo>
                  <a:cubicBezTo>
                    <a:pt x="16942" y="9699"/>
                    <a:pt x="16956" y="9621"/>
                    <a:pt x="16992" y="9571"/>
                  </a:cubicBezTo>
                  <a:cubicBezTo>
                    <a:pt x="17020" y="9533"/>
                    <a:pt x="17058" y="9517"/>
                    <a:pt x="17095" y="9528"/>
                  </a:cubicBezTo>
                  <a:cubicBezTo>
                    <a:pt x="17106" y="9498"/>
                    <a:pt x="17116" y="9467"/>
                    <a:pt x="17123" y="9435"/>
                  </a:cubicBezTo>
                  <a:cubicBezTo>
                    <a:pt x="17139" y="9373"/>
                    <a:pt x="17147" y="9308"/>
                    <a:pt x="17149" y="9242"/>
                  </a:cubicBezTo>
                  <a:lnTo>
                    <a:pt x="17174" y="9110"/>
                  </a:lnTo>
                  <a:lnTo>
                    <a:pt x="17248" y="9178"/>
                  </a:lnTo>
                  <a:lnTo>
                    <a:pt x="17347" y="9270"/>
                  </a:lnTo>
                  <a:lnTo>
                    <a:pt x="17392" y="9297"/>
                  </a:lnTo>
                  <a:lnTo>
                    <a:pt x="17514" y="9286"/>
                  </a:lnTo>
                  <a:lnTo>
                    <a:pt x="17568" y="9177"/>
                  </a:lnTo>
                  <a:cubicBezTo>
                    <a:pt x="17590" y="9119"/>
                    <a:pt x="17610" y="9059"/>
                    <a:pt x="17626" y="8997"/>
                  </a:cubicBezTo>
                  <a:cubicBezTo>
                    <a:pt x="17641" y="8944"/>
                    <a:pt x="17653" y="8890"/>
                    <a:pt x="17663" y="8835"/>
                  </a:cubicBezTo>
                  <a:lnTo>
                    <a:pt x="17709" y="8691"/>
                  </a:lnTo>
                  <a:lnTo>
                    <a:pt x="17732" y="8540"/>
                  </a:lnTo>
                  <a:lnTo>
                    <a:pt x="17783" y="8406"/>
                  </a:lnTo>
                  <a:lnTo>
                    <a:pt x="17835" y="8208"/>
                  </a:lnTo>
                  <a:lnTo>
                    <a:pt x="17770" y="8060"/>
                  </a:lnTo>
                  <a:lnTo>
                    <a:pt x="17770" y="7890"/>
                  </a:lnTo>
                  <a:lnTo>
                    <a:pt x="17823" y="7767"/>
                  </a:lnTo>
                  <a:lnTo>
                    <a:pt x="17830" y="7600"/>
                  </a:lnTo>
                  <a:cubicBezTo>
                    <a:pt x="17813" y="7554"/>
                    <a:pt x="17796" y="7509"/>
                    <a:pt x="17778" y="7463"/>
                  </a:cubicBezTo>
                  <a:cubicBezTo>
                    <a:pt x="17763" y="7423"/>
                    <a:pt x="17747" y="7384"/>
                    <a:pt x="17735" y="7341"/>
                  </a:cubicBezTo>
                  <a:cubicBezTo>
                    <a:pt x="17715" y="7271"/>
                    <a:pt x="17705" y="7195"/>
                    <a:pt x="17707" y="7119"/>
                  </a:cubicBezTo>
                  <a:lnTo>
                    <a:pt x="17634" y="7044"/>
                  </a:lnTo>
                  <a:lnTo>
                    <a:pt x="17580" y="7052"/>
                  </a:lnTo>
                  <a:lnTo>
                    <a:pt x="17503" y="6849"/>
                  </a:lnTo>
                  <a:lnTo>
                    <a:pt x="17459" y="6758"/>
                  </a:lnTo>
                  <a:lnTo>
                    <a:pt x="17435" y="6611"/>
                  </a:lnTo>
                  <a:lnTo>
                    <a:pt x="17373" y="6495"/>
                  </a:lnTo>
                  <a:lnTo>
                    <a:pt x="17240" y="6324"/>
                  </a:lnTo>
                  <a:lnTo>
                    <a:pt x="17132" y="6263"/>
                  </a:lnTo>
                  <a:lnTo>
                    <a:pt x="17059" y="6103"/>
                  </a:lnTo>
                  <a:lnTo>
                    <a:pt x="16962" y="6028"/>
                  </a:lnTo>
                  <a:lnTo>
                    <a:pt x="16881" y="6047"/>
                  </a:lnTo>
                  <a:lnTo>
                    <a:pt x="16783" y="6115"/>
                  </a:lnTo>
                  <a:lnTo>
                    <a:pt x="16687" y="6140"/>
                  </a:lnTo>
                  <a:lnTo>
                    <a:pt x="16607" y="6103"/>
                  </a:lnTo>
                  <a:lnTo>
                    <a:pt x="16460" y="6072"/>
                  </a:lnTo>
                  <a:lnTo>
                    <a:pt x="16403" y="6004"/>
                  </a:lnTo>
                  <a:lnTo>
                    <a:pt x="16326" y="5924"/>
                  </a:lnTo>
                  <a:lnTo>
                    <a:pt x="16206" y="5924"/>
                  </a:lnTo>
                  <a:lnTo>
                    <a:pt x="16146" y="5807"/>
                  </a:lnTo>
                  <a:lnTo>
                    <a:pt x="16226" y="5720"/>
                  </a:lnTo>
                  <a:lnTo>
                    <a:pt x="16275" y="5634"/>
                  </a:lnTo>
                  <a:lnTo>
                    <a:pt x="16349" y="5282"/>
                  </a:lnTo>
                  <a:lnTo>
                    <a:pt x="16330" y="5106"/>
                  </a:lnTo>
                  <a:lnTo>
                    <a:pt x="16362" y="4989"/>
                  </a:lnTo>
                  <a:lnTo>
                    <a:pt x="16434" y="4856"/>
                  </a:lnTo>
                  <a:lnTo>
                    <a:pt x="16537" y="4743"/>
                  </a:lnTo>
                  <a:lnTo>
                    <a:pt x="16606" y="4658"/>
                  </a:lnTo>
                  <a:lnTo>
                    <a:pt x="16694" y="4611"/>
                  </a:lnTo>
                  <a:lnTo>
                    <a:pt x="16817" y="4582"/>
                  </a:lnTo>
                  <a:lnTo>
                    <a:pt x="16917" y="4582"/>
                  </a:lnTo>
                  <a:lnTo>
                    <a:pt x="17020" y="4619"/>
                  </a:lnTo>
                  <a:lnTo>
                    <a:pt x="17129" y="4632"/>
                  </a:lnTo>
                  <a:lnTo>
                    <a:pt x="17261" y="4626"/>
                  </a:lnTo>
                  <a:lnTo>
                    <a:pt x="17398" y="4558"/>
                  </a:lnTo>
                  <a:lnTo>
                    <a:pt x="17471" y="4527"/>
                  </a:lnTo>
                  <a:lnTo>
                    <a:pt x="17580" y="4490"/>
                  </a:lnTo>
                  <a:lnTo>
                    <a:pt x="17633" y="4527"/>
                  </a:lnTo>
                  <a:lnTo>
                    <a:pt x="17686" y="4607"/>
                  </a:lnTo>
                  <a:lnTo>
                    <a:pt x="17787" y="4674"/>
                  </a:lnTo>
                  <a:lnTo>
                    <a:pt x="17836" y="4724"/>
                  </a:lnTo>
                  <a:lnTo>
                    <a:pt x="17952" y="4730"/>
                  </a:lnTo>
                  <a:lnTo>
                    <a:pt x="18081" y="4644"/>
                  </a:lnTo>
                  <a:lnTo>
                    <a:pt x="18189" y="4625"/>
                  </a:lnTo>
                  <a:lnTo>
                    <a:pt x="18143" y="4366"/>
                  </a:lnTo>
                  <a:cubicBezTo>
                    <a:pt x="18105" y="4367"/>
                    <a:pt x="18070" y="4330"/>
                    <a:pt x="18058" y="4274"/>
                  </a:cubicBezTo>
                  <a:cubicBezTo>
                    <a:pt x="18044" y="4208"/>
                    <a:pt x="18064" y="4136"/>
                    <a:pt x="18106" y="4107"/>
                  </a:cubicBezTo>
                  <a:cubicBezTo>
                    <a:pt x="18105" y="4044"/>
                    <a:pt x="18122" y="3983"/>
                    <a:pt x="18153" y="3941"/>
                  </a:cubicBezTo>
                  <a:cubicBezTo>
                    <a:pt x="18184" y="3898"/>
                    <a:pt x="18225" y="3878"/>
                    <a:pt x="18266" y="3886"/>
                  </a:cubicBezTo>
                  <a:lnTo>
                    <a:pt x="18388" y="3912"/>
                  </a:lnTo>
                  <a:lnTo>
                    <a:pt x="18433" y="3986"/>
                  </a:lnTo>
                  <a:lnTo>
                    <a:pt x="18561" y="3941"/>
                  </a:lnTo>
                  <a:lnTo>
                    <a:pt x="18622" y="4058"/>
                  </a:lnTo>
                  <a:lnTo>
                    <a:pt x="18642" y="4156"/>
                  </a:lnTo>
                  <a:lnTo>
                    <a:pt x="18742" y="4173"/>
                  </a:lnTo>
                  <a:lnTo>
                    <a:pt x="18819" y="4105"/>
                  </a:lnTo>
                  <a:lnTo>
                    <a:pt x="18815" y="3967"/>
                  </a:lnTo>
                  <a:lnTo>
                    <a:pt x="18815" y="3844"/>
                  </a:lnTo>
                  <a:lnTo>
                    <a:pt x="18867" y="3773"/>
                  </a:lnTo>
                  <a:lnTo>
                    <a:pt x="18940" y="3726"/>
                  </a:lnTo>
                  <a:lnTo>
                    <a:pt x="19014" y="3739"/>
                  </a:lnTo>
                  <a:lnTo>
                    <a:pt x="19059" y="3881"/>
                  </a:lnTo>
                  <a:lnTo>
                    <a:pt x="19100" y="4056"/>
                  </a:lnTo>
                  <a:lnTo>
                    <a:pt x="19170" y="4183"/>
                  </a:lnTo>
                  <a:lnTo>
                    <a:pt x="19186" y="4282"/>
                  </a:lnTo>
                  <a:lnTo>
                    <a:pt x="19098" y="4430"/>
                  </a:lnTo>
                  <a:lnTo>
                    <a:pt x="19067" y="4607"/>
                  </a:lnTo>
                  <a:lnTo>
                    <a:pt x="19096" y="4814"/>
                  </a:lnTo>
                  <a:lnTo>
                    <a:pt x="19031" y="4991"/>
                  </a:lnTo>
                  <a:lnTo>
                    <a:pt x="18966" y="5108"/>
                  </a:lnTo>
                  <a:cubicBezTo>
                    <a:pt x="18954" y="5143"/>
                    <a:pt x="18950" y="5183"/>
                    <a:pt x="18953" y="5223"/>
                  </a:cubicBezTo>
                  <a:cubicBezTo>
                    <a:pt x="18962" y="5311"/>
                    <a:pt x="19008" y="5380"/>
                    <a:pt x="19066" y="5393"/>
                  </a:cubicBezTo>
                  <a:lnTo>
                    <a:pt x="19082" y="5556"/>
                  </a:lnTo>
                  <a:lnTo>
                    <a:pt x="19157" y="5665"/>
                  </a:lnTo>
                  <a:lnTo>
                    <a:pt x="19206" y="5747"/>
                  </a:lnTo>
                  <a:lnTo>
                    <a:pt x="19243" y="5909"/>
                  </a:lnTo>
                  <a:lnTo>
                    <a:pt x="19298" y="5952"/>
                  </a:lnTo>
                  <a:lnTo>
                    <a:pt x="19402" y="6100"/>
                  </a:lnTo>
                  <a:lnTo>
                    <a:pt x="19470" y="6174"/>
                  </a:lnTo>
                  <a:lnTo>
                    <a:pt x="19527" y="6193"/>
                  </a:lnTo>
                  <a:lnTo>
                    <a:pt x="19531" y="6369"/>
                  </a:lnTo>
                  <a:lnTo>
                    <a:pt x="19624" y="6357"/>
                  </a:lnTo>
                  <a:lnTo>
                    <a:pt x="19673" y="6369"/>
                  </a:lnTo>
                  <a:lnTo>
                    <a:pt x="19721" y="6499"/>
                  </a:lnTo>
                  <a:lnTo>
                    <a:pt x="19782" y="6579"/>
                  </a:lnTo>
                  <a:lnTo>
                    <a:pt x="19822" y="6747"/>
                  </a:lnTo>
                  <a:lnTo>
                    <a:pt x="19922" y="6825"/>
                  </a:lnTo>
                  <a:lnTo>
                    <a:pt x="19989" y="6912"/>
                  </a:lnTo>
                  <a:lnTo>
                    <a:pt x="20047" y="6840"/>
                  </a:lnTo>
                  <a:lnTo>
                    <a:pt x="20095" y="6770"/>
                  </a:lnTo>
                  <a:lnTo>
                    <a:pt x="20141" y="6776"/>
                  </a:lnTo>
                  <a:lnTo>
                    <a:pt x="20122" y="6661"/>
                  </a:lnTo>
                  <a:cubicBezTo>
                    <a:pt x="20096" y="6629"/>
                    <a:pt x="20076" y="6588"/>
                    <a:pt x="20063" y="6541"/>
                  </a:cubicBezTo>
                  <a:cubicBezTo>
                    <a:pt x="20048" y="6486"/>
                    <a:pt x="20044" y="6426"/>
                    <a:pt x="20051" y="6368"/>
                  </a:cubicBezTo>
                  <a:lnTo>
                    <a:pt x="20097" y="6333"/>
                  </a:lnTo>
                  <a:lnTo>
                    <a:pt x="20060" y="6229"/>
                  </a:lnTo>
                  <a:lnTo>
                    <a:pt x="20028" y="6130"/>
                  </a:lnTo>
                  <a:cubicBezTo>
                    <a:pt x="20017" y="6102"/>
                    <a:pt x="20015" y="6068"/>
                    <a:pt x="20024" y="6038"/>
                  </a:cubicBezTo>
                  <a:cubicBezTo>
                    <a:pt x="20032" y="6008"/>
                    <a:pt x="20050" y="5987"/>
                    <a:pt x="20071" y="5981"/>
                  </a:cubicBezTo>
                  <a:lnTo>
                    <a:pt x="20148" y="5952"/>
                  </a:lnTo>
                  <a:lnTo>
                    <a:pt x="20116" y="5824"/>
                  </a:lnTo>
                  <a:lnTo>
                    <a:pt x="20073" y="5726"/>
                  </a:lnTo>
                  <a:lnTo>
                    <a:pt x="20027" y="5675"/>
                  </a:lnTo>
                  <a:lnTo>
                    <a:pt x="19988" y="5459"/>
                  </a:lnTo>
                  <a:lnTo>
                    <a:pt x="19971" y="5357"/>
                  </a:lnTo>
                  <a:lnTo>
                    <a:pt x="19889" y="5276"/>
                  </a:lnTo>
                  <a:cubicBezTo>
                    <a:pt x="19848" y="5275"/>
                    <a:pt x="19809" y="5248"/>
                    <a:pt x="19781" y="5203"/>
                  </a:cubicBezTo>
                  <a:cubicBezTo>
                    <a:pt x="19758" y="5165"/>
                    <a:pt x="19743" y="5118"/>
                    <a:pt x="19740" y="5067"/>
                  </a:cubicBezTo>
                  <a:lnTo>
                    <a:pt x="19649" y="5030"/>
                  </a:lnTo>
                  <a:lnTo>
                    <a:pt x="19552" y="5065"/>
                  </a:lnTo>
                  <a:lnTo>
                    <a:pt x="19499" y="4954"/>
                  </a:lnTo>
                  <a:lnTo>
                    <a:pt x="19530" y="4815"/>
                  </a:lnTo>
                  <a:lnTo>
                    <a:pt x="19474" y="4739"/>
                  </a:lnTo>
                  <a:lnTo>
                    <a:pt x="19445" y="4653"/>
                  </a:lnTo>
                  <a:lnTo>
                    <a:pt x="19429" y="4566"/>
                  </a:lnTo>
                  <a:lnTo>
                    <a:pt x="19532" y="4463"/>
                  </a:lnTo>
                  <a:lnTo>
                    <a:pt x="19674" y="4445"/>
                  </a:lnTo>
                  <a:lnTo>
                    <a:pt x="19757" y="4410"/>
                  </a:lnTo>
                  <a:lnTo>
                    <a:pt x="19810" y="4391"/>
                  </a:lnTo>
                  <a:lnTo>
                    <a:pt x="19862" y="4330"/>
                  </a:lnTo>
                  <a:lnTo>
                    <a:pt x="19913" y="4237"/>
                  </a:lnTo>
                  <a:lnTo>
                    <a:pt x="19960" y="4135"/>
                  </a:lnTo>
                  <a:lnTo>
                    <a:pt x="20017" y="4135"/>
                  </a:lnTo>
                  <a:lnTo>
                    <a:pt x="20052" y="4258"/>
                  </a:lnTo>
                  <a:lnTo>
                    <a:pt x="20103" y="4307"/>
                  </a:lnTo>
                  <a:lnTo>
                    <a:pt x="20167" y="4360"/>
                  </a:lnTo>
                  <a:lnTo>
                    <a:pt x="20240" y="4360"/>
                  </a:lnTo>
                  <a:lnTo>
                    <a:pt x="20330" y="4258"/>
                  </a:lnTo>
                  <a:lnTo>
                    <a:pt x="20441" y="4155"/>
                  </a:lnTo>
                  <a:lnTo>
                    <a:pt x="20460" y="4007"/>
                  </a:lnTo>
                  <a:lnTo>
                    <a:pt x="20532" y="3897"/>
                  </a:lnTo>
                  <a:lnTo>
                    <a:pt x="20647" y="3796"/>
                  </a:lnTo>
                  <a:lnTo>
                    <a:pt x="20690" y="3796"/>
                  </a:lnTo>
                  <a:lnTo>
                    <a:pt x="20798" y="3815"/>
                  </a:lnTo>
                  <a:lnTo>
                    <a:pt x="20974" y="3825"/>
                  </a:lnTo>
                  <a:lnTo>
                    <a:pt x="21043" y="3689"/>
                  </a:lnTo>
                  <a:lnTo>
                    <a:pt x="20828" y="3616"/>
                  </a:lnTo>
                  <a:lnTo>
                    <a:pt x="20699" y="3488"/>
                  </a:lnTo>
                  <a:cubicBezTo>
                    <a:pt x="20651" y="3440"/>
                    <a:pt x="20598" y="3408"/>
                    <a:pt x="20541" y="3395"/>
                  </a:cubicBezTo>
                  <a:cubicBezTo>
                    <a:pt x="20487" y="3382"/>
                    <a:pt x="20431" y="3387"/>
                    <a:pt x="20377" y="3369"/>
                  </a:cubicBezTo>
                  <a:cubicBezTo>
                    <a:pt x="20319" y="3349"/>
                    <a:pt x="20265" y="3304"/>
                    <a:pt x="20223" y="3239"/>
                  </a:cubicBezTo>
                  <a:lnTo>
                    <a:pt x="20154" y="3103"/>
                  </a:lnTo>
                  <a:lnTo>
                    <a:pt x="20236" y="3024"/>
                  </a:lnTo>
                  <a:lnTo>
                    <a:pt x="20355" y="3107"/>
                  </a:lnTo>
                  <a:lnTo>
                    <a:pt x="20443" y="3134"/>
                  </a:lnTo>
                  <a:lnTo>
                    <a:pt x="20540" y="3140"/>
                  </a:lnTo>
                  <a:lnTo>
                    <a:pt x="20552" y="3056"/>
                  </a:lnTo>
                  <a:lnTo>
                    <a:pt x="20456" y="2990"/>
                  </a:lnTo>
                  <a:lnTo>
                    <a:pt x="20365" y="2851"/>
                  </a:lnTo>
                  <a:lnTo>
                    <a:pt x="20463" y="2783"/>
                  </a:lnTo>
                  <a:lnTo>
                    <a:pt x="20569" y="2870"/>
                  </a:lnTo>
                  <a:lnTo>
                    <a:pt x="20686" y="2876"/>
                  </a:lnTo>
                  <a:lnTo>
                    <a:pt x="20806" y="2925"/>
                  </a:lnTo>
                  <a:lnTo>
                    <a:pt x="20940" y="2947"/>
                  </a:lnTo>
                  <a:lnTo>
                    <a:pt x="21026" y="2924"/>
                  </a:lnTo>
                  <a:lnTo>
                    <a:pt x="21094" y="3032"/>
                  </a:lnTo>
                  <a:lnTo>
                    <a:pt x="21270" y="3145"/>
                  </a:lnTo>
                  <a:lnTo>
                    <a:pt x="21423" y="3219"/>
                  </a:lnTo>
                  <a:lnTo>
                    <a:pt x="21566" y="3127"/>
                  </a:lnTo>
                  <a:lnTo>
                    <a:pt x="21600" y="3078"/>
                  </a:lnTo>
                  <a:lnTo>
                    <a:pt x="21527" y="3010"/>
                  </a:lnTo>
                  <a:lnTo>
                    <a:pt x="21426" y="2891"/>
                  </a:lnTo>
                  <a:lnTo>
                    <a:pt x="21301" y="2737"/>
                  </a:lnTo>
                  <a:lnTo>
                    <a:pt x="21190" y="2630"/>
                  </a:lnTo>
                  <a:lnTo>
                    <a:pt x="21119" y="2630"/>
                  </a:lnTo>
                  <a:lnTo>
                    <a:pt x="21030" y="2636"/>
                  </a:lnTo>
                  <a:lnTo>
                    <a:pt x="20974" y="2686"/>
                  </a:lnTo>
                  <a:lnTo>
                    <a:pt x="20878" y="2770"/>
                  </a:lnTo>
                  <a:lnTo>
                    <a:pt x="20770" y="2686"/>
                  </a:lnTo>
                  <a:lnTo>
                    <a:pt x="20722" y="2588"/>
                  </a:lnTo>
                  <a:lnTo>
                    <a:pt x="20543" y="2472"/>
                  </a:lnTo>
                  <a:lnTo>
                    <a:pt x="20456" y="2425"/>
                  </a:lnTo>
                  <a:lnTo>
                    <a:pt x="20307" y="2425"/>
                  </a:lnTo>
                  <a:lnTo>
                    <a:pt x="20202" y="2382"/>
                  </a:lnTo>
                  <a:lnTo>
                    <a:pt x="20089" y="2339"/>
                  </a:lnTo>
                  <a:lnTo>
                    <a:pt x="19926" y="2311"/>
                  </a:lnTo>
                  <a:lnTo>
                    <a:pt x="19800" y="2213"/>
                  </a:lnTo>
                  <a:lnTo>
                    <a:pt x="19643" y="2083"/>
                  </a:lnTo>
                  <a:lnTo>
                    <a:pt x="19551" y="2052"/>
                  </a:lnTo>
                  <a:lnTo>
                    <a:pt x="19315" y="2034"/>
                  </a:lnTo>
                  <a:lnTo>
                    <a:pt x="19215" y="1997"/>
                  </a:lnTo>
                  <a:lnTo>
                    <a:pt x="19122" y="1921"/>
                  </a:lnTo>
                  <a:lnTo>
                    <a:pt x="18920" y="1933"/>
                  </a:lnTo>
                  <a:lnTo>
                    <a:pt x="18735" y="1921"/>
                  </a:lnTo>
                  <a:lnTo>
                    <a:pt x="18590" y="1909"/>
                  </a:lnTo>
                  <a:lnTo>
                    <a:pt x="18496" y="1822"/>
                  </a:lnTo>
                  <a:lnTo>
                    <a:pt x="18364" y="1797"/>
                  </a:lnTo>
                  <a:lnTo>
                    <a:pt x="18239" y="1810"/>
                  </a:lnTo>
                  <a:lnTo>
                    <a:pt x="18137" y="1829"/>
                  </a:lnTo>
                  <a:lnTo>
                    <a:pt x="18157" y="1902"/>
                  </a:lnTo>
                  <a:lnTo>
                    <a:pt x="18248" y="1991"/>
                  </a:lnTo>
                  <a:lnTo>
                    <a:pt x="18296" y="2120"/>
                  </a:lnTo>
                  <a:lnTo>
                    <a:pt x="18233" y="2151"/>
                  </a:lnTo>
                  <a:lnTo>
                    <a:pt x="18148" y="2110"/>
                  </a:lnTo>
                  <a:lnTo>
                    <a:pt x="18025" y="2036"/>
                  </a:lnTo>
                  <a:lnTo>
                    <a:pt x="17903" y="1987"/>
                  </a:lnTo>
                  <a:lnTo>
                    <a:pt x="17710" y="1891"/>
                  </a:lnTo>
                  <a:lnTo>
                    <a:pt x="17551" y="1878"/>
                  </a:lnTo>
                  <a:lnTo>
                    <a:pt x="17370" y="1915"/>
                  </a:lnTo>
                  <a:lnTo>
                    <a:pt x="17038" y="1989"/>
                  </a:lnTo>
                  <a:lnTo>
                    <a:pt x="16827" y="1926"/>
                  </a:lnTo>
                  <a:lnTo>
                    <a:pt x="16722" y="1858"/>
                  </a:lnTo>
                  <a:lnTo>
                    <a:pt x="16565" y="1799"/>
                  </a:lnTo>
                  <a:lnTo>
                    <a:pt x="16503" y="1709"/>
                  </a:lnTo>
                  <a:lnTo>
                    <a:pt x="16417" y="1665"/>
                  </a:lnTo>
                  <a:lnTo>
                    <a:pt x="16350" y="1665"/>
                  </a:lnTo>
                  <a:lnTo>
                    <a:pt x="16180" y="1702"/>
                  </a:lnTo>
                  <a:lnTo>
                    <a:pt x="15880" y="1706"/>
                  </a:lnTo>
                  <a:lnTo>
                    <a:pt x="15742" y="1620"/>
                  </a:lnTo>
                  <a:lnTo>
                    <a:pt x="15543" y="1620"/>
                  </a:lnTo>
                  <a:lnTo>
                    <a:pt x="15307" y="1595"/>
                  </a:lnTo>
                  <a:lnTo>
                    <a:pt x="15157" y="1620"/>
                  </a:lnTo>
                  <a:lnTo>
                    <a:pt x="15047" y="1501"/>
                  </a:lnTo>
                  <a:lnTo>
                    <a:pt x="14881" y="1420"/>
                  </a:lnTo>
                  <a:lnTo>
                    <a:pt x="14763" y="1303"/>
                  </a:lnTo>
                  <a:lnTo>
                    <a:pt x="14679" y="1266"/>
                  </a:lnTo>
                  <a:lnTo>
                    <a:pt x="14635" y="1352"/>
                  </a:lnTo>
                  <a:lnTo>
                    <a:pt x="14550" y="1352"/>
                  </a:lnTo>
                  <a:lnTo>
                    <a:pt x="14462" y="1297"/>
                  </a:lnTo>
                  <a:lnTo>
                    <a:pt x="14166" y="1211"/>
                  </a:lnTo>
                  <a:lnTo>
                    <a:pt x="14073" y="1169"/>
                  </a:lnTo>
                  <a:lnTo>
                    <a:pt x="13945" y="1162"/>
                  </a:lnTo>
                  <a:lnTo>
                    <a:pt x="13813" y="1181"/>
                  </a:lnTo>
                  <a:lnTo>
                    <a:pt x="13627" y="1224"/>
                  </a:lnTo>
                  <a:lnTo>
                    <a:pt x="13667" y="1317"/>
                  </a:lnTo>
                  <a:lnTo>
                    <a:pt x="13749" y="1403"/>
                  </a:lnTo>
                  <a:lnTo>
                    <a:pt x="13692" y="1507"/>
                  </a:lnTo>
                  <a:lnTo>
                    <a:pt x="13597" y="1536"/>
                  </a:lnTo>
                  <a:lnTo>
                    <a:pt x="13538" y="1628"/>
                  </a:lnTo>
                  <a:lnTo>
                    <a:pt x="13428" y="1659"/>
                  </a:lnTo>
                  <a:lnTo>
                    <a:pt x="13358" y="1560"/>
                  </a:lnTo>
                  <a:lnTo>
                    <a:pt x="13216" y="1548"/>
                  </a:lnTo>
                  <a:lnTo>
                    <a:pt x="13131" y="1566"/>
                  </a:lnTo>
                  <a:lnTo>
                    <a:pt x="13104" y="1505"/>
                  </a:lnTo>
                  <a:lnTo>
                    <a:pt x="12982" y="1530"/>
                  </a:lnTo>
                  <a:lnTo>
                    <a:pt x="12917" y="1609"/>
                  </a:lnTo>
                  <a:lnTo>
                    <a:pt x="12808" y="1661"/>
                  </a:lnTo>
                  <a:lnTo>
                    <a:pt x="12730" y="1716"/>
                  </a:lnTo>
                  <a:lnTo>
                    <a:pt x="12648" y="1673"/>
                  </a:lnTo>
                  <a:lnTo>
                    <a:pt x="12554" y="1612"/>
                  </a:lnTo>
                  <a:lnTo>
                    <a:pt x="12432" y="1501"/>
                  </a:lnTo>
                  <a:lnTo>
                    <a:pt x="12362" y="1435"/>
                  </a:lnTo>
                  <a:lnTo>
                    <a:pt x="12252" y="1303"/>
                  </a:lnTo>
                  <a:lnTo>
                    <a:pt x="12198" y="1196"/>
                  </a:lnTo>
                  <a:lnTo>
                    <a:pt x="12065" y="1147"/>
                  </a:lnTo>
                  <a:lnTo>
                    <a:pt x="11907" y="1091"/>
                  </a:lnTo>
                  <a:lnTo>
                    <a:pt x="11807" y="1027"/>
                  </a:lnTo>
                  <a:lnTo>
                    <a:pt x="11650" y="1040"/>
                  </a:lnTo>
                  <a:lnTo>
                    <a:pt x="11476" y="1046"/>
                  </a:lnTo>
                  <a:lnTo>
                    <a:pt x="11319" y="1107"/>
                  </a:lnTo>
                  <a:lnTo>
                    <a:pt x="11161" y="1175"/>
                  </a:lnTo>
                  <a:lnTo>
                    <a:pt x="11102" y="1212"/>
                  </a:lnTo>
                  <a:lnTo>
                    <a:pt x="10997" y="1157"/>
                  </a:lnTo>
                  <a:lnTo>
                    <a:pt x="10925" y="1085"/>
                  </a:lnTo>
                  <a:lnTo>
                    <a:pt x="10818" y="1062"/>
                  </a:lnTo>
                  <a:lnTo>
                    <a:pt x="10706" y="1005"/>
                  </a:lnTo>
                  <a:lnTo>
                    <a:pt x="10635" y="986"/>
                  </a:lnTo>
                  <a:lnTo>
                    <a:pt x="10534" y="1017"/>
                  </a:lnTo>
                  <a:lnTo>
                    <a:pt x="10460" y="1067"/>
                  </a:lnTo>
                  <a:lnTo>
                    <a:pt x="10390" y="1116"/>
                  </a:lnTo>
                  <a:lnTo>
                    <a:pt x="10258" y="1109"/>
                  </a:lnTo>
                  <a:lnTo>
                    <a:pt x="10185" y="1048"/>
                  </a:lnTo>
                  <a:lnTo>
                    <a:pt x="10067" y="999"/>
                  </a:lnTo>
                  <a:lnTo>
                    <a:pt x="10001" y="925"/>
                  </a:lnTo>
                  <a:lnTo>
                    <a:pt x="9915" y="908"/>
                  </a:lnTo>
                  <a:lnTo>
                    <a:pt x="9859" y="933"/>
                  </a:lnTo>
                  <a:lnTo>
                    <a:pt x="9750" y="999"/>
                  </a:lnTo>
                  <a:lnTo>
                    <a:pt x="9570" y="1077"/>
                  </a:lnTo>
                  <a:lnTo>
                    <a:pt x="9446" y="1137"/>
                  </a:lnTo>
                  <a:lnTo>
                    <a:pt x="9279" y="1137"/>
                  </a:lnTo>
                  <a:lnTo>
                    <a:pt x="9295" y="1014"/>
                  </a:lnTo>
                  <a:lnTo>
                    <a:pt x="9310" y="961"/>
                  </a:lnTo>
                  <a:lnTo>
                    <a:pt x="9378" y="871"/>
                  </a:lnTo>
                  <a:lnTo>
                    <a:pt x="9505" y="792"/>
                  </a:lnTo>
                  <a:lnTo>
                    <a:pt x="9585" y="731"/>
                  </a:lnTo>
                  <a:lnTo>
                    <a:pt x="9656" y="672"/>
                  </a:lnTo>
                  <a:lnTo>
                    <a:pt x="9727" y="607"/>
                  </a:lnTo>
                  <a:lnTo>
                    <a:pt x="9742" y="445"/>
                  </a:lnTo>
                  <a:lnTo>
                    <a:pt x="9582" y="412"/>
                  </a:lnTo>
                  <a:cubicBezTo>
                    <a:pt x="9560" y="371"/>
                    <a:pt x="9533" y="339"/>
                    <a:pt x="9502" y="316"/>
                  </a:cubicBezTo>
                  <a:cubicBezTo>
                    <a:pt x="9454" y="281"/>
                    <a:pt x="9400" y="272"/>
                    <a:pt x="9348" y="291"/>
                  </a:cubicBezTo>
                  <a:lnTo>
                    <a:pt x="9271" y="259"/>
                  </a:lnTo>
                  <a:lnTo>
                    <a:pt x="9024" y="240"/>
                  </a:lnTo>
                  <a:lnTo>
                    <a:pt x="8961" y="296"/>
                  </a:lnTo>
                  <a:lnTo>
                    <a:pt x="8878" y="321"/>
                  </a:lnTo>
                  <a:lnTo>
                    <a:pt x="8778" y="327"/>
                  </a:lnTo>
                  <a:lnTo>
                    <a:pt x="8669" y="321"/>
                  </a:lnTo>
                  <a:lnTo>
                    <a:pt x="8552" y="169"/>
                  </a:lnTo>
                  <a:lnTo>
                    <a:pt x="8382" y="61"/>
                  </a:lnTo>
                  <a:lnTo>
                    <a:pt x="8181" y="0"/>
                  </a:lnTo>
                  <a:lnTo>
                    <a:pt x="8118" y="111"/>
                  </a:lnTo>
                  <a:cubicBezTo>
                    <a:pt x="8095" y="146"/>
                    <a:pt x="8072" y="181"/>
                    <a:pt x="8049" y="216"/>
                  </a:cubicBezTo>
                  <a:cubicBezTo>
                    <a:pt x="8019" y="259"/>
                    <a:pt x="7990" y="302"/>
                    <a:pt x="7960" y="345"/>
                  </a:cubicBezTo>
                  <a:lnTo>
                    <a:pt x="7855" y="476"/>
                  </a:lnTo>
                  <a:lnTo>
                    <a:pt x="7722" y="482"/>
                  </a:lnTo>
                  <a:lnTo>
                    <a:pt x="7658" y="400"/>
                  </a:lnTo>
                  <a:lnTo>
                    <a:pt x="7484" y="373"/>
                  </a:lnTo>
                  <a:lnTo>
                    <a:pt x="7361" y="362"/>
                  </a:lnTo>
                  <a:lnTo>
                    <a:pt x="7275" y="430"/>
                  </a:lnTo>
                  <a:lnTo>
                    <a:pt x="7161" y="486"/>
                  </a:lnTo>
                  <a:lnTo>
                    <a:pt x="7012" y="523"/>
                  </a:lnTo>
                  <a:lnTo>
                    <a:pt x="6838" y="560"/>
                  </a:lnTo>
                  <a:lnTo>
                    <a:pt x="6726" y="578"/>
                  </a:lnTo>
                  <a:lnTo>
                    <a:pt x="6715" y="666"/>
                  </a:lnTo>
                  <a:lnTo>
                    <a:pt x="6751" y="734"/>
                  </a:lnTo>
                  <a:lnTo>
                    <a:pt x="6843" y="832"/>
                  </a:lnTo>
                  <a:lnTo>
                    <a:pt x="6786" y="906"/>
                  </a:lnTo>
                  <a:lnTo>
                    <a:pt x="6718" y="930"/>
                  </a:lnTo>
                  <a:lnTo>
                    <a:pt x="6637" y="973"/>
                  </a:lnTo>
                  <a:lnTo>
                    <a:pt x="6556" y="924"/>
                  </a:lnTo>
                  <a:lnTo>
                    <a:pt x="6471" y="887"/>
                  </a:lnTo>
                  <a:lnTo>
                    <a:pt x="6350" y="943"/>
                  </a:lnTo>
                  <a:lnTo>
                    <a:pt x="6279" y="996"/>
                  </a:lnTo>
                  <a:lnTo>
                    <a:pt x="6206" y="1051"/>
                  </a:lnTo>
                  <a:lnTo>
                    <a:pt x="6149" y="1132"/>
                  </a:lnTo>
                  <a:lnTo>
                    <a:pt x="6064" y="1205"/>
                  </a:lnTo>
                  <a:lnTo>
                    <a:pt x="5960" y="1295"/>
                  </a:lnTo>
                  <a:lnTo>
                    <a:pt x="5892" y="1351"/>
                  </a:lnTo>
                  <a:lnTo>
                    <a:pt x="5816" y="1400"/>
                  </a:lnTo>
                  <a:lnTo>
                    <a:pt x="5722" y="1449"/>
                  </a:lnTo>
                  <a:lnTo>
                    <a:pt x="5637" y="1449"/>
                  </a:lnTo>
                  <a:lnTo>
                    <a:pt x="5595" y="1413"/>
                  </a:lnTo>
                  <a:lnTo>
                    <a:pt x="5495" y="1413"/>
                  </a:lnTo>
                  <a:lnTo>
                    <a:pt x="5468" y="1536"/>
                  </a:lnTo>
                  <a:lnTo>
                    <a:pt x="5511" y="1683"/>
                  </a:lnTo>
                  <a:lnTo>
                    <a:pt x="5628" y="1858"/>
                  </a:lnTo>
                  <a:lnTo>
                    <a:pt x="5664" y="1907"/>
                  </a:lnTo>
                  <a:lnTo>
                    <a:pt x="5767" y="1929"/>
                  </a:lnTo>
                  <a:lnTo>
                    <a:pt x="5876" y="2075"/>
                  </a:lnTo>
                  <a:lnTo>
                    <a:pt x="5864" y="2215"/>
                  </a:lnTo>
                  <a:lnTo>
                    <a:pt x="5905" y="2289"/>
                  </a:lnTo>
                  <a:lnTo>
                    <a:pt x="5866" y="2477"/>
                  </a:lnTo>
                  <a:lnTo>
                    <a:pt x="5797" y="2656"/>
                  </a:lnTo>
                  <a:lnTo>
                    <a:pt x="5709" y="2755"/>
                  </a:lnTo>
                  <a:lnTo>
                    <a:pt x="5587" y="2810"/>
                  </a:lnTo>
                  <a:lnTo>
                    <a:pt x="5482" y="2822"/>
                  </a:lnTo>
                  <a:cubicBezTo>
                    <a:pt x="5453" y="2798"/>
                    <a:pt x="5444" y="2741"/>
                    <a:pt x="5463" y="2699"/>
                  </a:cubicBezTo>
                  <a:cubicBezTo>
                    <a:pt x="5481" y="2659"/>
                    <a:pt x="5516" y="2653"/>
                    <a:pt x="5544" y="2631"/>
                  </a:cubicBezTo>
                  <a:cubicBezTo>
                    <a:pt x="5592" y="2593"/>
                    <a:pt x="5617" y="2510"/>
                    <a:pt x="5603" y="2430"/>
                  </a:cubicBezTo>
                  <a:lnTo>
                    <a:pt x="5557" y="2208"/>
                  </a:lnTo>
                  <a:lnTo>
                    <a:pt x="5456" y="2066"/>
                  </a:lnTo>
                  <a:lnTo>
                    <a:pt x="5369" y="1842"/>
                  </a:lnTo>
                  <a:lnTo>
                    <a:pt x="5304" y="1651"/>
                  </a:lnTo>
                  <a:lnTo>
                    <a:pt x="5239" y="1515"/>
                  </a:lnTo>
                  <a:lnTo>
                    <a:pt x="5182" y="1355"/>
                  </a:lnTo>
                  <a:lnTo>
                    <a:pt x="5074" y="1252"/>
                  </a:lnTo>
                  <a:lnTo>
                    <a:pt x="4913" y="1178"/>
                  </a:lnTo>
                  <a:lnTo>
                    <a:pt x="4747" y="1246"/>
                  </a:lnTo>
                  <a:lnTo>
                    <a:pt x="4613" y="1388"/>
                  </a:lnTo>
                  <a:lnTo>
                    <a:pt x="4609" y="1523"/>
                  </a:lnTo>
                  <a:lnTo>
                    <a:pt x="4654" y="1702"/>
                  </a:lnTo>
                  <a:lnTo>
                    <a:pt x="4727" y="1825"/>
                  </a:lnTo>
                  <a:lnTo>
                    <a:pt x="4848" y="1874"/>
                  </a:lnTo>
                  <a:lnTo>
                    <a:pt x="4946" y="1942"/>
                  </a:lnTo>
                  <a:lnTo>
                    <a:pt x="5024" y="2032"/>
                  </a:lnTo>
                  <a:lnTo>
                    <a:pt x="5089" y="2143"/>
                  </a:lnTo>
                  <a:lnTo>
                    <a:pt x="5077" y="2241"/>
                  </a:lnTo>
                  <a:lnTo>
                    <a:pt x="4981" y="2276"/>
                  </a:lnTo>
                  <a:lnTo>
                    <a:pt x="4947" y="2348"/>
                  </a:lnTo>
                  <a:lnTo>
                    <a:pt x="4872" y="2286"/>
                  </a:lnTo>
                  <a:lnTo>
                    <a:pt x="4788" y="2194"/>
                  </a:lnTo>
                  <a:lnTo>
                    <a:pt x="4710" y="2163"/>
                  </a:lnTo>
                  <a:lnTo>
                    <a:pt x="4603" y="2151"/>
                  </a:lnTo>
                  <a:lnTo>
                    <a:pt x="4678" y="2284"/>
                  </a:lnTo>
                  <a:lnTo>
                    <a:pt x="4754" y="2363"/>
                  </a:lnTo>
                  <a:lnTo>
                    <a:pt x="4735" y="2522"/>
                  </a:lnTo>
                  <a:lnTo>
                    <a:pt x="4571" y="2643"/>
                  </a:lnTo>
                  <a:lnTo>
                    <a:pt x="4490" y="2738"/>
                  </a:lnTo>
                  <a:lnTo>
                    <a:pt x="4323" y="2820"/>
                  </a:lnTo>
                  <a:lnTo>
                    <a:pt x="4189" y="2900"/>
                  </a:lnTo>
                  <a:lnTo>
                    <a:pt x="4168" y="3010"/>
                  </a:lnTo>
                  <a:lnTo>
                    <a:pt x="4176" y="3166"/>
                  </a:lnTo>
                  <a:lnTo>
                    <a:pt x="4263" y="3589"/>
                  </a:lnTo>
                  <a:lnTo>
                    <a:pt x="4302" y="3809"/>
                  </a:lnTo>
                  <a:lnTo>
                    <a:pt x="4391" y="3967"/>
                  </a:lnTo>
                  <a:lnTo>
                    <a:pt x="4410" y="4139"/>
                  </a:lnTo>
                  <a:lnTo>
                    <a:pt x="4418" y="4379"/>
                  </a:lnTo>
                  <a:lnTo>
                    <a:pt x="4441" y="4560"/>
                  </a:lnTo>
                  <a:lnTo>
                    <a:pt x="4437" y="4864"/>
                  </a:lnTo>
                  <a:lnTo>
                    <a:pt x="4527" y="4941"/>
                  </a:lnTo>
                  <a:lnTo>
                    <a:pt x="4567" y="5097"/>
                  </a:lnTo>
                  <a:lnTo>
                    <a:pt x="4635" y="5183"/>
                  </a:lnTo>
                  <a:lnTo>
                    <a:pt x="4651" y="5256"/>
                  </a:lnTo>
                  <a:lnTo>
                    <a:pt x="4626" y="5367"/>
                  </a:lnTo>
                  <a:lnTo>
                    <a:pt x="4576" y="5443"/>
                  </a:lnTo>
                  <a:lnTo>
                    <a:pt x="4445" y="5463"/>
                  </a:lnTo>
                  <a:lnTo>
                    <a:pt x="4316" y="5596"/>
                  </a:lnTo>
                  <a:lnTo>
                    <a:pt x="4406" y="5724"/>
                  </a:lnTo>
                  <a:lnTo>
                    <a:pt x="4387" y="5836"/>
                  </a:lnTo>
                  <a:lnTo>
                    <a:pt x="4594" y="6114"/>
                  </a:lnTo>
                  <a:lnTo>
                    <a:pt x="4754" y="6030"/>
                  </a:lnTo>
                  <a:lnTo>
                    <a:pt x="4789" y="5840"/>
                  </a:lnTo>
                  <a:lnTo>
                    <a:pt x="4841" y="5803"/>
                  </a:lnTo>
                  <a:lnTo>
                    <a:pt x="4948" y="5879"/>
                  </a:lnTo>
                  <a:lnTo>
                    <a:pt x="5006" y="6012"/>
                  </a:lnTo>
                  <a:lnTo>
                    <a:pt x="4972" y="6178"/>
                  </a:lnTo>
                  <a:lnTo>
                    <a:pt x="4922" y="6262"/>
                  </a:lnTo>
                  <a:lnTo>
                    <a:pt x="4935" y="6389"/>
                  </a:lnTo>
                  <a:lnTo>
                    <a:pt x="4975" y="6457"/>
                  </a:lnTo>
                  <a:lnTo>
                    <a:pt x="4930" y="6525"/>
                  </a:lnTo>
                  <a:lnTo>
                    <a:pt x="4941" y="6684"/>
                  </a:lnTo>
                  <a:lnTo>
                    <a:pt x="4896" y="6822"/>
                  </a:lnTo>
                  <a:lnTo>
                    <a:pt x="4856" y="6858"/>
                  </a:lnTo>
                  <a:lnTo>
                    <a:pt x="4492" y="6703"/>
                  </a:lnTo>
                  <a:lnTo>
                    <a:pt x="4399" y="6602"/>
                  </a:lnTo>
                  <a:lnTo>
                    <a:pt x="4252" y="6584"/>
                  </a:lnTo>
                  <a:lnTo>
                    <a:pt x="4068" y="6730"/>
                  </a:lnTo>
                  <a:lnTo>
                    <a:pt x="3743" y="6603"/>
                  </a:lnTo>
                  <a:lnTo>
                    <a:pt x="3618" y="6656"/>
                  </a:lnTo>
                  <a:lnTo>
                    <a:pt x="3600" y="6823"/>
                  </a:lnTo>
                  <a:lnTo>
                    <a:pt x="3636" y="7187"/>
                  </a:lnTo>
                  <a:lnTo>
                    <a:pt x="3748" y="7239"/>
                  </a:lnTo>
                  <a:lnTo>
                    <a:pt x="3825" y="7347"/>
                  </a:lnTo>
                  <a:lnTo>
                    <a:pt x="3825" y="7604"/>
                  </a:lnTo>
                  <a:lnTo>
                    <a:pt x="3887" y="7855"/>
                  </a:lnTo>
                  <a:lnTo>
                    <a:pt x="3979" y="8012"/>
                  </a:lnTo>
                  <a:lnTo>
                    <a:pt x="4086" y="8093"/>
                  </a:lnTo>
                  <a:lnTo>
                    <a:pt x="4220" y="8136"/>
                  </a:lnTo>
                  <a:lnTo>
                    <a:pt x="4293" y="8263"/>
                  </a:lnTo>
                  <a:lnTo>
                    <a:pt x="4293" y="8394"/>
                  </a:lnTo>
                  <a:lnTo>
                    <a:pt x="4366" y="8540"/>
                  </a:lnTo>
                  <a:lnTo>
                    <a:pt x="4383" y="8629"/>
                  </a:lnTo>
                  <a:lnTo>
                    <a:pt x="4299" y="8664"/>
                  </a:lnTo>
                  <a:lnTo>
                    <a:pt x="4172" y="8604"/>
                  </a:lnTo>
                  <a:lnTo>
                    <a:pt x="4026" y="8653"/>
                  </a:lnTo>
                  <a:lnTo>
                    <a:pt x="3937" y="8795"/>
                  </a:lnTo>
                  <a:lnTo>
                    <a:pt x="3868" y="9042"/>
                  </a:lnTo>
                  <a:lnTo>
                    <a:pt x="4014" y="9200"/>
                  </a:lnTo>
                  <a:lnTo>
                    <a:pt x="4153" y="9272"/>
                  </a:lnTo>
                  <a:lnTo>
                    <a:pt x="4317" y="9447"/>
                  </a:lnTo>
                  <a:lnTo>
                    <a:pt x="4379" y="9595"/>
                  </a:lnTo>
                  <a:lnTo>
                    <a:pt x="4500" y="9504"/>
                  </a:lnTo>
                  <a:lnTo>
                    <a:pt x="4590" y="9545"/>
                  </a:lnTo>
                  <a:lnTo>
                    <a:pt x="4620" y="9647"/>
                  </a:lnTo>
                  <a:lnTo>
                    <a:pt x="4729" y="9807"/>
                  </a:lnTo>
                  <a:lnTo>
                    <a:pt x="4703" y="9934"/>
                  </a:lnTo>
                  <a:lnTo>
                    <a:pt x="4589" y="10028"/>
                  </a:lnTo>
                  <a:lnTo>
                    <a:pt x="4485" y="9905"/>
                  </a:lnTo>
                  <a:lnTo>
                    <a:pt x="4398" y="9948"/>
                  </a:lnTo>
                  <a:lnTo>
                    <a:pt x="4460" y="10099"/>
                  </a:lnTo>
                  <a:lnTo>
                    <a:pt x="4558" y="10237"/>
                  </a:lnTo>
                  <a:lnTo>
                    <a:pt x="4639" y="10407"/>
                  </a:lnTo>
                  <a:lnTo>
                    <a:pt x="4716" y="10732"/>
                  </a:lnTo>
                  <a:lnTo>
                    <a:pt x="4705" y="10997"/>
                  </a:lnTo>
                  <a:lnTo>
                    <a:pt x="4587" y="11154"/>
                  </a:lnTo>
                  <a:lnTo>
                    <a:pt x="4430" y="11160"/>
                  </a:lnTo>
                  <a:lnTo>
                    <a:pt x="4375" y="11281"/>
                  </a:lnTo>
                  <a:lnTo>
                    <a:pt x="4289" y="11156"/>
                  </a:lnTo>
                  <a:cubicBezTo>
                    <a:pt x="4252" y="11136"/>
                    <a:pt x="4216" y="11114"/>
                    <a:pt x="4180" y="11088"/>
                  </a:cubicBezTo>
                  <a:cubicBezTo>
                    <a:pt x="4134" y="11055"/>
                    <a:pt x="4089" y="11017"/>
                    <a:pt x="4044" y="10979"/>
                  </a:cubicBezTo>
                  <a:cubicBezTo>
                    <a:pt x="3984" y="10930"/>
                    <a:pt x="3923" y="10882"/>
                    <a:pt x="3862" y="10835"/>
                  </a:cubicBezTo>
                  <a:lnTo>
                    <a:pt x="3803" y="10661"/>
                  </a:lnTo>
                  <a:lnTo>
                    <a:pt x="3784" y="10495"/>
                  </a:lnTo>
                  <a:lnTo>
                    <a:pt x="3841" y="10339"/>
                  </a:lnTo>
                  <a:lnTo>
                    <a:pt x="3888" y="10223"/>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24" name="熊大的PPT宝库1-71"/>
            <p:cNvSpPr/>
            <p:nvPr/>
          </p:nvSpPr>
          <p:spPr>
            <a:xfrm>
              <a:off x="7793225" y="7464435"/>
              <a:ext cx="328933" cy="89526"/>
            </a:xfrm>
            <a:custGeom>
              <a:avLst/>
              <a:gdLst/>
              <a:ahLst/>
              <a:cxnLst>
                <a:cxn ang="0">
                  <a:pos x="wd2" y="hd2"/>
                </a:cxn>
                <a:cxn ang="5400000">
                  <a:pos x="wd2" y="hd2"/>
                </a:cxn>
                <a:cxn ang="10800000">
                  <a:pos x="wd2" y="hd2"/>
                </a:cxn>
                <a:cxn ang="16200000">
                  <a:pos x="wd2" y="hd2"/>
                </a:cxn>
              </a:cxnLst>
              <a:rect l="0" t="0" r="r" b="b"/>
              <a:pathLst>
                <a:path w="21600" h="21600" extrusionOk="0">
                  <a:moveTo>
                    <a:pt x="7778" y="6595"/>
                  </a:moveTo>
                  <a:lnTo>
                    <a:pt x="10446" y="7621"/>
                  </a:lnTo>
                  <a:lnTo>
                    <a:pt x="11913" y="8186"/>
                  </a:lnTo>
                  <a:lnTo>
                    <a:pt x="12620" y="11749"/>
                  </a:lnTo>
                  <a:lnTo>
                    <a:pt x="14481" y="12643"/>
                  </a:lnTo>
                  <a:lnTo>
                    <a:pt x="16772" y="11668"/>
                  </a:lnTo>
                  <a:lnTo>
                    <a:pt x="18486" y="11668"/>
                  </a:lnTo>
                  <a:lnTo>
                    <a:pt x="20801" y="12156"/>
                  </a:lnTo>
                  <a:lnTo>
                    <a:pt x="21600" y="13283"/>
                  </a:lnTo>
                  <a:lnTo>
                    <a:pt x="19933" y="15944"/>
                  </a:lnTo>
                  <a:lnTo>
                    <a:pt x="17089" y="15944"/>
                  </a:lnTo>
                  <a:lnTo>
                    <a:pt x="16332" y="19345"/>
                  </a:lnTo>
                  <a:lnTo>
                    <a:pt x="16001" y="21600"/>
                  </a:lnTo>
                  <a:lnTo>
                    <a:pt x="14718" y="20625"/>
                  </a:lnTo>
                  <a:lnTo>
                    <a:pt x="14985" y="16005"/>
                  </a:lnTo>
                  <a:lnTo>
                    <a:pt x="13115" y="14553"/>
                  </a:lnTo>
                  <a:lnTo>
                    <a:pt x="9998" y="14309"/>
                  </a:lnTo>
                  <a:lnTo>
                    <a:pt x="8554" y="13334"/>
                  </a:lnTo>
                  <a:lnTo>
                    <a:pt x="6375" y="9273"/>
                  </a:lnTo>
                  <a:lnTo>
                    <a:pt x="4455" y="10004"/>
                  </a:lnTo>
                  <a:lnTo>
                    <a:pt x="647" y="10490"/>
                  </a:lnTo>
                  <a:lnTo>
                    <a:pt x="0" y="7648"/>
                  </a:lnTo>
                  <a:lnTo>
                    <a:pt x="1373" y="1494"/>
                  </a:lnTo>
                  <a:lnTo>
                    <a:pt x="2843" y="0"/>
                  </a:lnTo>
                  <a:lnTo>
                    <a:pt x="5108" y="1491"/>
                  </a:lnTo>
                  <a:lnTo>
                    <a:pt x="5617" y="3189"/>
                  </a:lnTo>
                  <a:lnTo>
                    <a:pt x="6572" y="5128"/>
                  </a:lnTo>
                  <a:lnTo>
                    <a:pt x="7778" y="6595"/>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25" name="熊大的PPT宝库1-72"/>
            <p:cNvSpPr/>
            <p:nvPr/>
          </p:nvSpPr>
          <p:spPr>
            <a:xfrm>
              <a:off x="9863490" y="8301951"/>
              <a:ext cx="217835" cy="255740"/>
            </a:xfrm>
            <a:custGeom>
              <a:avLst/>
              <a:gdLst/>
              <a:ahLst/>
              <a:cxnLst>
                <a:cxn ang="0">
                  <a:pos x="wd2" y="hd2"/>
                </a:cxn>
                <a:cxn ang="5400000">
                  <a:pos x="wd2" y="hd2"/>
                </a:cxn>
                <a:cxn ang="10800000">
                  <a:pos x="wd2" y="hd2"/>
                </a:cxn>
                <a:cxn ang="16200000">
                  <a:pos x="wd2" y="hd2"/>
                </a:cxn>
              </a:cxnLst>
              <a:rect l="0" t="0" r="r" b="b"/>
              <a:pathLst>
                <a:path w="21600" h="21600" extrusionOk="0">
                  <a:moveTo>
                    <a:pt x="918" y="306"/>
                  </a:moveTo>
                  <a:lnTo>
                    <a:pt x="2649" y="0"/>
                  </a:lnTo>
                  <a:lnTo>
                    <a:pt x="4359" y="1473"/>
                  </a:lnTo>
                  <a:lnTo>
                    <a:pt x="4763" y="2920"/>
                  </a:lnTo>
                  <a:lnTo>
                    <a:pt x="5532" y="4452"/>
                  </a:lnTo>
                  <a:lnTo>
                    <a:pt x="7347" y="6386"/>
                  </a:lnTo>
                  <a:lnTo>
                    <a:pt x="9263" y="7065"/>
                  </a:lnTo>
                  <a:lnTo>
                    <a:pt x="12200" y="8654"/>
                  </a:lnTo>
                  <a:lnTo>
                    <a:pt x="15159" y="10100"/>
                  </a:lnTo>
                  <a:lnTo>
                    <a:pt x="16566" y="11032"/>
                  </a:lnTo>
                  <a:lnTo>
                    <a:pt x="17268" y="12134"/>
                  </a:lnTo>
                  <a:lnTo>
                    <a:pt x="17470" y="13346"/>
                  </a:lnTo>
                  <a:lnTo>
                    <a:pt x="16028" y="13005"/>
                  </a:lnTo>
                  <a:lnTo>
                    <a:pt x="14423" y="13403"/>
                  </a:lnTo>
                  <a:lnTo>
                    <a:pt x="14629" y="14594"/>
                  </a:lnTo>
                  <a:lnTo>
                    <a:pt x="16612" y="15959"/>
                  </a:lnTo>
                  <a:lnTo>
                    <a:pt x="18226" y="17825"/>
                  </a:lnTo>
                  <a:lnTo>
                    <a:pt x="20991" y="20121"/>
                  </a:lnTo>
                  <a:lnTo>
                    <a:pt x="21600" y="21600"/>
                  </a:lnTo>
                  <a:lnTo>
                    <a:pt x="18856" y="21600"/>
                  </a:lnTo>
                  <a:lnTo>
                    <a:pt x="16692" y="20075"/>
                  </a:lnTo>
                  <a:cubicBezTo>
                    <a:pt x="16027" y="19637"/>
                    <a:pt x="15479" y="19086"/>
                    <a:pt x="15082" y="18458"/>
                  </a:cubicBezTo>
                  <a:cubicBezTo>
                    <a:pt x="14796" y="18005"/>
                    <a:pt x="14594" y="17518"/>
                    <a:pt x="14481" y="17014"/>
                  </a:cubicBezTo>
                  <a:lnTo>
                    <a:pt x="13271" y="15138"/>
                  </a:lnTo>
                  <a:lnTo>
                    <a:pt x="12262" y="13005"/>
                  </a:lnTo>
                  <a:lnTo>
                    <a:pt x="10884" y="11071"/>
                  </a:lnTo>
                  <a:lnTo>
                    <a:pt x="9077" y="9201"/>
                  </a:lnTo>
                  <a:lnTo>
                    <a:pt x="7270" y="7413"/>
                  </a:lnTo>
                  <a:lnTo>
                    <a:pt x="5169" y="6059"/>
                  </a:lnTo>
                  <a:lnTo>
                    <a:pt x="4097" y="4751"/>
                  </a:lnTo>
                  <a:lnTo>
                    <a:pt x="2685" y="3332"/>
                  </a:lnTo>
                  <a:lnTo>
                    <a:pt x="0" y="1690"/>
                  </a:lnTo>
                  <a:lnTo>
                    <a:pt x="918" y="306"/>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26" name="熊大的PPT宝库1-73"/>
            <p:cNvSpPr/>
            <p:nvPr/>
          </p:nvSpPr>
          <p:spPr>
            <a:xfrm>
              <a:off x="10069719" y="8590228"/>
              <a:ext cx="152671" cy="145223"/>
            </a:xfrm>
            <a:custGeom>
              <a:avLst/>
              <a:gdLst/>
              <a:ahLst/>
              <a:cxnLst>
                <a:cxn ang="0">
                  <a:pos x="wd2" y="hd2"/>
                </a:cxn>
                <a:cxn ang="5400000">
                  <a:pos x="wd2" y="hd2"/>
                </a:cxn>
                <a:cxn ang="10800000">
                  <a:pos x="wd2" y="hd2"/>
                </a:cxn>
                <a:cxn ang="16200000">
                  <a:pos x="wd2" y="hd2"/>
                </a:cxn>
              </a:cxnLst>
              <a:rect l="0" t="0" r="r" b="b"/>
              <a:pathLst>
                <a:path w="21600" h="21600" extrusionOk="0">
                  <a:moveTo>
                    <a:pt x="1216" y="0"/>
                  </a:moveTo>
                  <a:lnTo>
                    <a:pt x="3327" y="2686"/>
                  </a:lnTo>
                  <a:lnTo>
                    <a:pt x="5129" y="3465"/>
                  </a:lnTo>
                  <a:lnTo>
                    <a:pt x="5987" y="5412"/>
                  </a:lnTo>
                  <a:lnTo>
                    <a:pt x="8960" y="8066"/>
                  </a:lnTo>
                  <a:lnTo>
                    <a:pt x="13176" y="8066"/>
                  </a:lnTo>
                  <a:lnTo>
                    <a:pt x="16240" y="8060"/>
                  </a:lnTo>
                  <a:lnTo>
                    <a:pt x="20071" y="9506"/>
                  </a:lnTo>
                  <a:lnTo>
                    <a:pt x="21600" y="11754"/>
                  </a:lnTo>
                  <a:lnTo>
                    <a:pt x="18242" y="13299"/>
                  </a:lnTo>
                  <a:lnTo>
                    <a:pt x="16138" y="13894"/>
                  </a:lnTo>
                  <a:lnTo>
                    <a:pt x="16857" y="17337"/>
                  </a:lnTo>
                  <a:lnTo>
                    <a:pt x="14039" y="17181"/>
                  </a:lnTo>
                  <a:lnTo>
                    <a:pt x="12762" y="16136"/>
                  </a:lnTo>
                  <a:cubicBezTo>
                    <a:pt x="11828" y="15985"/>
                    <a:pt x="10901" y="15786"/>
                    <a:pt x="9986" y="15541"/>
                  </a:cubicBezTo>
                  <a:cubicBezTo>
                    <a:pt x="9104" y="15304"/>
                    <a:pt x="8234" y="15024"/>
                    <a:pt x="7377" y="14702"/>
                  </a:cubicBezTo>
                  <a:lnTo>
                    <a:pt x="5842" y="15002"/>
                  </a:lnTo>
                  <a:lnTo>
                    <a:pt x="5992" y="19096"/>
                  </a:lnTo>
                  <a:lnTo>
                    <a:pt x="4895" y="21600"/>
                  </a:lnTo>
                  <a:lnTo>
                    <a:pt x="2646" y="18495"/>
                  </a:lnTo>
                  <a:lnTo>
                    <a:pt x="2215" y="16698"/>
                  </a:lnTo>
                  <a:lnTo>
                    <a:pt x="499" y="14902"/>
                  </a:lnTo>
                  <a:lnTo>
                    <a:pt x="34" y="12773"/>
                  </a:lnTo>
                  <a:cubicBezTo>
                    <a:pt x="789" y="12296"/>
                    <a:pt x="1459" y="11687"/>
                    <a:pt x="2015" y="10971"/>
                  </a:cubicBezTo>
                  <a:cubicBezTo>
                    <a:pt x="2581" y="10241"/>
                    <a:pt x="3020" y="9412"/>
                    <a:pt x="3310" y="8523"/>
                  </a:cubicBezTo>
                  <a:lnTo>
                    <a:pt x="1535" y="5374"/>
                  </a:lnTo>
                  <a:lnTo>
                    <a:pt x="0" y="3428"/>
                  </a:lnTo>
                  <a:lnTo>
                    <a:pt x="1216"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27" name="熊大的PPT宝库1-74"/>
            <p:cNvSpPr/>
            <p:nvPr/>
          </p:nvSpPr>
          <p:spPr>
            <a:xfrm>
              <a:off x="9951175" y="8745694"/>
              <a:ext cx="274646" cy="265853"/>
            </a:xfrm>
            <a:custGeom>
              <a:avLst/>
              <a:gdLst/>
              <a:ahLst/>
              <a:cxnLst>
                <a:cxn ang="0">
                  <a:pos x="wd2" y="hd2"/>
                </a:cxn>
                <a:cxn ang="5400000">
                  <a:pos x="wd2" y="hd2"/>
                </a:cxn>
                <a:cxn ang="10800000">
                  <a:pos x="wd2" y="hd2"/>
                </a:cxn>
                <a:cxn ang="16200000">
                  <a:pos x="wd2" y="hd2"/>
                </a:cxn>
              </a:cxnLst>
              <a:rect l="0" t="0" r="r" b="b"/>
              <a:pathLst>
                <a:path w="21600" h="21600" extrusionOk="0">
                  <a:moveTo>
                    <a:pt x="14831" y="0"/>
                  </a:moveTo>
                  <a:lnTo>
                    <a:pt x="16152" y="752"/>
                  </a:lnTo>
                  <a:lnTo>
                    <a:pt x="17169" y="1568"/>
                  </a:lnTo>
                  <a:lnTo>
                    <a:pt x="18839" y="1893"/>
                  </a:lnTo>
                  <a:lnTo>
                    <a:pt x="18839" y="3442"/>
                  </a:lnTo>
                  <a:lnTo>
                    <a:pt x="19262" y="4642"/>
                  </a:lnTo>
                  <a:lnTo>
                    <a:pt x="19979" y="5617"/>
                  </a:lnTo>
                  <a:lnTo>
                    <a:pt x="19182" y="6899"/>
                  </a:lnTo>
                  <a:lnTo>
                    <a:pt x="19182" y="8099"/>
                  </a:lnTo>
                  <a:lnTo>
                    <a:pt x="19662" y="9375"/>
                  </a:lnTo>
                  <a:lnTo>
                    <a:pt x="20216" y="10435"/>
                  </a:lnTo>
                  <a:lnTo>
                    <a:pt x="20594" y="11892"/>
                  </a:lnTo>
                  <a:lnTo>
                    <a:pt x="21520" y="13554"/>
                  </a:lnTo>
                  <a:lnTo>
                    <a:pt x="21600" y="15848"/>
                  </a:lnTo>
                  <a:lnTo>
                    <a:pt x="20167" y="17076"/>
                  </a:lnTo>
                  <a:lnTo>
                    <a:pt x="18837" y="17726"/>
                  </a:lnTo>
                  <a:lnTo>
                    <a:pt x="16684" y="18109"/>
                  </a:lnTo>
                  <a:lnTo>
                    <a:pt x="15274" y="18188"/>
                  </a:lnTo>
                  <a:lnTo>
                    <a:pt x="13867" y="18430"/>
                  </a:lnTo>
                  <a:lnTo>
                    <a:pt x="13462" y="19798"/>
                  </a:lnTo>
                  <a:lnTo>
                    <a:pt x="13164" y="20810"/>
                  </a:lnTo>
                  <a:lnTo>
                    <a:pt x="12474" y="21600"/>
                  </a:lnTo>
                  <a:lnTo>
                    <a:pt x="11162" y="19907"/>
                  </a:lnTo>
                  <a:lnTo>
                    <a:pt x="10416" y="19251"/>
                  </a:lnTo>
                  <a:lnTo>
                    <a:pt x="7383" y="19114"/>
                  </a:lnTo>
                  <a:lnTo>
                    <a:pt x="4329" y="19388"/>
                  </a:lnTo>
                  <a:lnTo>
                    <a:pt x="1907" y="20174"/>
                  </a:lnTo>
                  <a:lnTo>
                    <a:pt x="0" y="18923"/>
                  </a:lnTo>
                  <a:lnTo>
                    <a:pt x="1177" y="17804"/>
                  </a:lnTo>
                  <a:lnTo>
                    <a:pt x="2674" y="17668"/>
                  </a:lnTo>
                  <a:lnTo>
                    <a:pt x="3680" y="16334"/>
                  </a:lnTo>
                  <a:lnTo>
                    <a:pt x="4960" y="15541"/>
                  </a:lnTo>
                  <a:lnTo>
                    <a:pt x="6637" y="16033"/>
                  </a:lnTo>
                  <a:lnTo>
                    <a:pt x="8203" y="16279"/>
                  </a:lnTo>
                  <a:lnTo>
                    <a:pt x="9693" y="15161"/>
                  </a:lnTo>
                  <a:lnTo>
                    <a:pt x="10727" y="14180"/>
                  </a:lnTo>
                  <a:lnTo>
                    <a:pt x="13446" y="12244"/>
                  </a:lnTo>
                  <a:lnTo>
                    <a:pt x="14243" y="11348"/>
                  </a:lnTo>
                  <a:lnTo>
                    <a:pt x="16242" y="10719"/>
                  </a:lnTo>
                  <a:lnTo>
                    <a:pt x="16482" y="9003"/>
                  </a:lnTo>
                  <a:lnTo>
                    <a:pt x="16482" y="7470"/>
                  </a:lnTo>
                  <a:lnTo>
                    <a:pt x="14963" y="5446"/>
                  </a:lnTo>
                  <a:lnTo>
                    <a:pt x="14030" y="3313"/>
                  </a:lnTo>
                  <a:lnTo>
                    <a:pt x="13976" y="2082"/>
                  </a:lnTo>
                  <a:lnTo>
                    <a:pt x="13500" y="1100"/>
                  </a:lnTo>
                  <a:lnTo>
                    <a:pt x="14831"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28" name="熊大的PPT宝库1-75"/>
            <p:cNvSpPr/>
            <p:nvPr/>
          </p:nvSpPr>
          <p:spPr>
            <a:xfrm>
              <a:off x="10008733" y="9003895"/>
              <a:ext cx="47636" cy="42571"/>
            </a:xfrm>
            <a:custGeom>
              <a:avLst/>
              <a:gdLst/>
              <a:ahLst/>
              <a:cxnLst>
                <a:cxn ang="0">
                  <a:pos x="wd2" y="hd2"/>
                </a:cxn>
                <a:cxn ang="5400000">
                  <a:pos x="wd2" y="hd2"/>
                </a:cxn>
                <a:cxn ang="10800000">
                  <a:pos x="wd2" y="hd2"/>
                </a:cxn>
                <a:cxn ang="16200000">
                  <a:pos x="wd2" y="hd2"/>
                </a:cxn>
              </a:cxnLst>
              <a:rect l="0" t="0" r="r" b="b"/>
              <a:pathLst>
                <a:path w="21600" h="21600" extrusionOk="0">
                  <a:moveTo>
                    <a:pt x="15130" y="2820"/>
                  </a:moveTo>
                  <a:lnTo>
                    <a:pt x="3175" y="0"/>
                  </a:lnTo>
                  <a:lnTo>
                    <a:pt x="0" y="4621"/>
                  </a:lnTo>
                  <a:lnTo>
                    <a:pt x="4230" y="10217"/>
                  </a:lnTo>
                  <a:lnTo>
                    <a:pt x="4401" y="19722"/>
                  </a:lnTo>
                  <a:lnTo>
                    <a:pt x="14203" y="21600"/>
                  </a:lnTo>
                  <a:lnTo>
                    <a:pt x="18813" y="14767"/>
                  </a:lnTo>
                  <a:lnTo>
                    <a:pt x="21600" y="929"/>
                  </a:lnTo>
                  <a:lnTo>
                    <a:pt x="15130" y="282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29" name="熊大的PPT宝库1-76"/>
            <p:cNvSpPr/>
            <p:nvPr/>
          </p:nvSpPr>
          <p:spPr>
            <a:xfrm>
              <a:off x="9938359" y="9012525"/>
              <a:ext cx="58652" cy="83042"/>
            </a:xfrm>
            <a:custGeom>
              <a:avLst/>
              <a:gdLst/>
              <a:ahLst/>
              <a:cxnLst>
                <a:cxn ang="0">
                  <a:pos x="wd2" y="hd2"/>
                </a:cxn>
                <a:cxn ang="5400000">
                  <a:pos x="wd2" y="hd2"/>
                </a:cxn>
                <a:cxn ang="10800000">
                  <a:pos x="wd2" y="hd2"/>
                </a:cxn>
                <a:cxn ang="16200000">
                  <a:pos x="wd2" y="hd2"/>
                </a:cxn>
              </a:cxnLst>
              <a:rect l="0" t="0" r="r" b="b"/>
              <a:pathLst>
                <a:path w="21600" h="21600" extrusionOk="0">
                  <a:moveTo>
                    <a:pt x="5179" y="0"/>
                  </a:moveTo>
                  <a:lnTo>
                    <a:pt x="10237" y="2528"/>
                  </a:lnTo>
                  <a:lnTo>
                    <a:pt x="16136" y="4696"/>
                  </a:lnTo>
                  <a:lnTo>
                    <a:pt x="19977" y="6514"/>
                  </a:lnTo>
                  <a:lnTo>
                    <a:pt x="19602" y="11221"/>
                  </a:lnTo>
                  <a:lnTo>
                    <a:pt x="20976" y="14878"/>
                  </a:lnTo>
                  <a:lnTo>
                    <a:pt x="21600" y="19246"/>
                  </a:lnTo>
                  <a:lnTo>
                    <a:pt x="18618" y="21600"/>
                  </a:lnTo>
                  <a:lnTo>
                    <a:pt x="11299" y="20100"/>
                  </a:lnTo>
                  <a:lnTo>
                    <a:pt x="11672" y="15196"/>
                  </a:lnTo>
                  <a:lnTo>
                    <a:pt x="4821" y="10992"/>
                  </a:lnTo>
                  <a:lnTo>
                    <a:pt x="1366" y="8562"/>
                  </a:lnTo>
                  <a:lnTo>
                    <a:pt x="0" y="4533"/>
                  </a:lnTo>
                  <a:lnTo>
                    <a:pt x="5179"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30" name="熊大的PPT宝库1-77"/>
            <p:cNvSpPr/>
            <p:nvPr/>
          </p:nvSpPr>
          <p:spPr>
            <a:xfrm>
              <a:off x="9713261" y="9316920"/>
              <a:ext cx="55804" cy="107550"/>
            </a:xfrm>
            <a:custGeom>
              <a:avLst/>
              <a:gdLst/>
              <a:ahLst/>
              <a:cxnLst>
                <a:cxn ang="0">
                  <a:pos x="wd2" y="hd2"/>
                </a:cxn>
                <a:cxn ang="5400000">
                  <a:pos x="wd2" y="hd2"/>
                </a:cxn>
                <a:cxn ang="10800000">
                  <a:pos x="wd2" y="hd2"/>
                </a:cxn>
                <a:cxn ang="16200000">
                  <a:pos x="wd2" y="hd2"/>
                </a:cxn>
              </a:cxnLst>
              <a:rect l="0" t="0" r="r" b="b"/>
              <a:pathLst>
                <a:path w="21570" h="21600" extrusionOk="0">
                  <a:moveTo>
                    <a:pt x="10688" y="0"/>
                  </a:moveTo>
                  <a:lnTo>
                    <a:pt x="7165" y="3027"/>
                  </a:lnTo>
                  <a:lnTo>
                    <a:pt x="5618" y="8797"/>
                  </a:lnTo>
                  <a:lnTo>
                    <a:pt x="0" y="12556"/>
                  </a:lnTo>
                  <a:lnTo>
                    <a:pt x="2313" y="15996"/>
                  </a:lnTo>
                  <a:lnTo>
                    <a:pt x="6119" y="18152"/>
                  </a:lnTo>
                  <a:lnTo>
                    <a:pt x="12017" y="21600"/>
                  </a:lnTo>
                  <a:lnTo>
                    <a:pt x="18421" y="20856"/>
                  </a:lnTo>
                  <a:lnTo>
                    <a:pt x="19994" y="15920"/>
                  </a:lnTo>
                  <a:lnTo>
                    <a:pt x="19601" y="12480"/>
                  </a:lnTo>
                  <a:cubicBezTo>
                    <a:pt x="20082" y="11316"/>
                    <a:pt x="20475" y="10143"/>
                    <a:pt x="20780" y="8963"/>
                  </a:cubicBezTo>
                  <a:cubicBezTo>
                    <a:pt x="21337" y="6812"/>
                    <a:pt x="21600" y="4643"/>
                    <a:pt x="21567" y="2472"/>
                  </a:cubicBezTo>
                  <a:lnTo>
                    <a:pt x="10688"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31" name="熊大的PPT宝库1-78"/>
            <p:cNvSpPr/>
            <p:nvPr/>
          </p:nvSpPr>
          <p:spPr>
            <a:xfrm>
              <a:off x="9370122" y="9513544"/>
              <a:ext cx="61216" cy="64164"/>
            </a:xfrm>
            <a:custGeom>
              <a:avLst/>
              <a:gdLst/>
              <a:ahLst/>
              <a:cxnLst>
                <a:cxn ang="0">
                  <a:pos x="wd2" y="hd2"/>
                </a:cxn>
                <a:cxn ang="5400000">
                  <a:pos x="wd2" y="hd2"/>
                </a:cxn>
                <a:cxn ang="10800000">
                  <a:pos x="wd2" y="hd2"/>
                </a:cxn>
                <a:cxn ang="16200000">
                  <a:pos x="wd2" y="hd2"/>
                </a:cxn>
              </a:cxnLst>
              <a:rect l="0" t="0" r="r" b="b"/>
              <a:pathLst>
                <a:path w="21600" h="21600" extrusionOk="0">
                  <a:moveTo>
                    <a:pt x="20237" y="806"/>
                  </a:moveTo>
                  <a:lnTo>
                    <a:pt x="13014" y="0"/>
                  </a:lnTo>
                  <a:lnTo>
                    <a:pt x="4311" y="2387"/>
                  </a:lnTo>
                  <a:lnTo>
                    <a:pt x="1595" y="5661"/>
                  </a:lnTo>
                  <a:lnTo>
                    <a:pt x="0" y="10054"/>
                  </a:lnTo>
                  <a:lnTo>
                    <a:pt x="1800" y="15494"/>
                  </a:lnTo>
                  <a:lnTo>
                    <a:pt x="5016" y="21600"/>
                  </a:lnTo>
                  <a:lnTo>
                    <a:pt x="11327" y="20806"/>
                  </a:lnTo>
                  <a:lnTo>
                    <a:pt x="13480" y="14360"/>
                  </a:lnTo>
                  <a:lnTo>
                    <a:pt x="21600" y="6554"/>
                  </a:lnTo>
                  <a:lnTo>
                    <a:pt x="20237" y="806"/>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32" name="熊大的PPT宝库1-79"/>
            <p:cNvSpPr/>
            <p:nvPr/>
          </p:nvSpPr>
          <p:spPr>
            <a:xfrm>
              <a:off x="9752094" y="9557646"/>
              <a:ext cx="158867" cy="207893"/>
            </a:xfrm>
            <a:custGeom>
              <a:avLst/>
              <a:gdLst/>
              <a:ahLst/>
              <a:cxnLst>
                <a:cxn ang="0">
                  <a:pos x="wd2" y="hd2"/>
                </a:cxn>
                <a:cxn ang="5400000">
                  <a:pos x="wd2" y="hd2"/>
                </a:cxn>
                <a:cxn ang="10800000">
                  <a:pos x="wd2" y="hd2"/>
                </a:cxn>
                <a:cxn ang="16200000">
                  <a:pos x="wd2" y="hd2"/>
                </a:cxn>
              </a:cxnLst>
              <a:rect l="0" t="0" r="r" b="b"/>
              <a:pathLst>
                <a:path w="21600" h="21600" extrusionOk="0">
                  <a:moveTo>
                    <a:pt x="6205" y="214"/>
                  </a:moveTo>
                  <a:lnTo>
                    <a:pt x="2995" y="0"/>
                  </a:lnTo>
                  <a:lnTo>
                    <a:pt x="2584" y="2552"/>
                  </a:lnTo>
                  <a:lnTo>
                    <a:pt x="3044" y="4581"/>
                  </a:lnTo>
                  <a:lnTo>
                    <a:pt x="2030" y="7340"/>
                  </a:lnTo>
                  <a:lnTo>
                    <a:pt x="0" y="9509"/>
                  </a:lnTo>
                  <a:cubicBezTo>
                    <a:pt x="160" y="10395"/>
                    <a:pt x="581" y="11243"/>
                    <a:pt x="1232" y="11988"/>
                  </a:cubicBezTo>
                  <a:cubicBezTo>
                    <a:pt x="2023" y="12895"/>
                    <a:pt x="3124" y="13621"/>
                    <a:pt x="4418" y="14087"/>
                  </a:cubicBezTo>
                  <a:lnTo>
                    <a:pt x="5236" y="15133"/>
                  </a:lnTo>
                  <a:lnTo>
                    <a:pt x="7310" y="17966"/>
                  </a:lnTo>
                  <a:lnTo>
                    <a:pt x="8555" y="18981"/>
                  </a:lnTo>
                  <a:lnTo>
                    <a:pt x="11367" y="20065"/>
                  </a:lnTo>
                  <a:lnTo>
                    <a:pt x="14409" y="20170"/>
                  </a:lnTo>
                  <a:lnTo>
                    <a:pt x="16201" y="20275"/>
                  </a:lnTo>
                  <a:lnTo>
                    <a:pt x="18690" y="21010"/>
                  </a:lnTo>
                  <a:lnTo>
                    <a:pt x="21410" y="21600"/>
                  </a:lnTo>
                  <a:lnTo>
                    <a:pt x="21600" y="19654"/>
                  </a:lnTo>
                  <a:lnTo>
                    <a:pt x="20730" y="18749"/>
                  </a:lnTo>
                  <a:lnTo>
                    <a:pt x="19543" y="17743"/>
                  </a:lnTo>
                  <a:lnTo>
                    <a:pt x="15953" y="18233"/>
                  </a:lnTo>
                  <a:cubicBezTo>
                    <a:pt x="15448" y="18445"/>
                    <a:pt x="14862" y="18519"/>
                    <a:pt x="14294" y="18443"/>
                  </a:cubicBezTo>
                  <a:cubicBezTo>
                    <a:pt x="13070" y="18278"/>
                    <a:pt x="12157" y="17495"/>
                    <a:pt x="12093" y="16553"/>
                  </a:cubicBezTo>
                  <a:lnTo>
                    <a:pt x="9471" y="15298"/>
                  </a:lnTo>
                  <a:lnTo>
                    <a:pt x="8693" y="14218"/>
                  </a:lnTo>
                  <a:lnTo>
                    <a:pt x="8601" y="12924"/>
                  </a:lnTo>
                  <a:cubicBezTo>
                    <a:pt x="9108" y="12238"/>
                    <a:pt x="9615" y="11551"/>
                    <a:pt x="10122" y="10864"/>
                  </a:cubicBezTo>
                  <a:cubicBezTo>
                    <a:pt x="10531" y="10309"/>
                    <a:pt x="10940" y="9754"/>
                    <a:pt x="11349" y="9198"/>
                  </a:cubicBezTo>
                  <a:lnTo>
                    <a:pt x="11759" y="7593"/>
                  </a:lnTo>
                  <a:lnTo>
                    <a:pt x="9915" y="5459"/>
                  </a:lnTo>
                  <a:lnTo>
                    <a:pt x="8117" y="3260"/>
                  </a:lnTo>
                  <a:lnTo>
                    <a:pt x="6205" y="214"/>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33" name="熊大的PPT宝库1-80"/>
            <p:cNvSpPr/>
            <p:nvPr/>
          </p:nvSpPr>
          <p:spPr>
            <a:xfrm>
              <a:off x="9688441" y="9839741"/>
              <a:ext cx="89307" cy="96995"/>
            </a:xfrm>
            <a:custGeom>
              <a:avLst/>
              <a:gdLst/>
              <a:ahLst/>
              <a:cxnLst>
                <a:cxn ang="0">
                  <a:pos x="wd2" y="hd2"/>
                </a:cxn>
                <a:cxn ang="5400000">
                  <a:pos x="wd2" y="hd2"/>
                </a:cxn>
                <a:cxn ang="10800000">
                  <a:pos x="wd2" y="hd2"/>
                </a:cxn>
                <a:cxn ang="16200000">
                  <a:pos x="wd2" y="hd2"/>
                </a:cxn>
              </a:cxnLst>
              <a:rect l="0" t="0" r="r" b="b"/>
              <a:pathLst>
                <a:path w="20505" h="19908" extrusionOk="0">
                  <a:moveTo>
                    <a:pt x="17580" y="0"/>
                  </a:moveTo>
                  <a:lnTo>
                    <a:pt x="14738" y="1728"/>
                  </a:lnTo>
                  <a:lnTo>
                    <a:pt x="10679" y="5098"/>
                  </a:lnTo>
                  <a:lnTo>
                    <a:pt x="8216" y="7569"/>
                  </a:lnTo>
                  <a:lnTo>
                    <a:pt x="8222" y="12060"/>
                  </a:lnTo>
                  <a:lnTo>
                    <a:pt x="5046" y="14125"/>
                  </a:lnTo>
                  <a:cubicBezTo>
                    <a:pt x="3326" y="12967"/>
                    <a:pt x="832" y="13677"/>
                    <a:pt x="191" y="15507"/>
                  </a:cubicBezTo>
                  <a:cubicBezTo>
                    <a:pt x="-1095" y="19179"/>
                    <a:pt x="4427" y="21600"/>
                    <a:pt x="6929" y="18462"/>
                  </a:cubicBezTo>
                  <a:lnTo>
                    <a:pt x="10638" y="16258"/>
                  </a:lnTo>
                  <a:lnTo>
                    <a:pt x="12739" y="13426"/>
                  </a:lnTo>
                  <a:lnTo>
                    <a:pt x="14530" y="11490"/>
                  </a:lnTo>
                  <a:lnTo>
                    <a:pt x="18733" y="6592"/>
                  </a:lnTo>
                  <a:lnTo>
                    <a:pt x="20505" y="1980"/>
                  </a:lnTo>
                  <a:lnTo>
                    <a:pt x="17580"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34" name="熊大的PPT宝库1-81"/>
            <p:cNvSpPr/>
            <p:nvPr/>
          </p:nvSpPr>
          <p:spPr>
            <a:xfrm>
              <a:off x="9788736" y="9758263"/>
              <a:ext cx="41967" cy="41633"/>
            </a:xfrm>
            <a:custGeom>
              <a:avLst/>
              <a:gdLst/>
              <a:ahLst/>
              <a:cxnLst>
                <a:cxn ang="0">
                  <a:pos x="wd2" y="hd2"/>
                </a:cxn>
                <a:cxn ang="5400000">
                  <a:pos x="wd2" y="hd2"/>
                </a:cxn>
                <a:cxn ang="10800000">
                  <a:pos x="wd2" y="hd2"/>
                </a:cxn>
                <a:cxn ang="16200000">
                  <a:pos x="wd2" y="hd2"/>
                </a:cxn>
              </a:cxnLst>
              <a:rect l="0" t="0" r="r" b="b"/>
              <a:pathLst>
                <a:path w="21600" h="21600" extrusionOk="0">
                  <a:moveTo>
                    <a:pt x="5824" y="0"/>
                  </a:moveTo>
                  <a:lnTo>
                    <a:pt x="0" y="3997"/>
                  </a:lnTo>
                  <a:lnTo>
                    <a:pt x="7260" y="15507"/>
                  </a:lnTo>
                  <a:lnTo>
                    <a:pt x="11327" y="21600"/>
                  </a:lnTo>
                  <a:lnTo>
                    <a:pt x="21600" y="21076"/>
                  </a:lnTo>
                  <a:lnTo>
                    <a:pt x="15668" y="7101"/>
                  </a:lnTo>
                  <a:lnTo>
                    <a:pt x="5824"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35" name="熊大的PPT宝库1-82"/>
            <p:cNvSpPr/>
            <p:nvPr/>
          </p:nvSpPr>
          <p:spPr>
            <a:xfrm>
              <a:off x="9924941" y="9789707"/>
              <a:ext cx="70568" cy="49078"/>
            </a:xfrm>
            <a:custGeom>
              <a:avLst/>
              <a:gdLst/>
              <a:ahLst/>
              <a:cxnLst>
                <a:cxn ang="0">
                  <a:pos x="wd2" y="hd2"/>
                </a:cxn>
                <a:cxn ang="5400000">
                  <a:pos x="wd2" y="hd2"/>
                </a:cxn>
                <a:cxn ang="10800000">
                  <a:pos x="wd2" y="hd2"/>
                </a:cxn>
                <a:cxn ang="16200000">
                  <a:pos x="wd2" y="hd2"/>
                </a:cxn>
              </a:cxnLst>
              <a:rect l="0" t="0" r="r" b="b"/>
              <a:pathLst>
                <a:path w="21600" h="21600" extrusionOk="0">
                  <a:moveTo>
                    <a:pt x="3112" y="90"/>
                  </a:moveTo>
                  <a:lnTo>
                    <a:pt x="0" y="1424"/>
                  </a:lnTo>
                  <a:lnTo>
                    <a:pt x="3236" y="8466"/>
                  </a:lnTo>
                  <a:lnTo>
                    <a:pt x="8121" y="17785"/>
                  </a:lnTo>
                  <a:lnTo>
                    <a:pt x="13518" y="21155"/>
                  </a:lnTo>
                  <a:lnTo>
                    <a:pt x="21600" y="21600"/>
                  </a:lnTo>
                  <a:lnTo>
                    <a:pt x="17669" y="11727"/>
                  </a:lnTo>
                  <a:lnTo>
                    <a:pt x="14063" y="7299"/>
                  </a:lnTo>
                  <a:lnTo>
                    <a:pt x="10768" y="6411"/>
                  </a:lnTo>
                  <a:lnTo>
                    <a:pt x="7589" y="0"/>
                  </a:lnTo>
                  <a:lnTo>
                    <a:pt x="3112" y="9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36" name="熊大的PPT宝库1-83"/>
            <p:cNvSpPr/>
            <p:nvPr/>
          </p:nvSpPr>
          <p:spPr>
            <a:xfrm>
              <a:off x="9880948" y="9719615"/>
              <a:ext cx="19467" cy="25344"/>
            </a:xfrm>
            <a:custGeom>
              <a:avLst/>
              <a:gdLst/>
              <a:ahLst/>
              <a:cxnLst>
                <a:cxn ang="0">
                  <a:pos x="wd2" y="hd2"/>
                </a:cxn>
                <a:cxn ang="5400000">
                  <a:pos x="wd2" y="hd2"/>
                </a:cxn>
                <a:cxn ang="10800000">
                  <a:pos x="wd2" y="hd2"/>
                </a:cxn>
                <a:cxn ang="16200000">
                  <a:pos x="wd2" y="hd2"/>
                </a:cxn>
              </a:cxnLst>
              <a:rect l="0" t="0" r="r" b="b"/>
              <a:pathLst>
                <a:path w="21600" h="21600" extrusionOk="0">
                  <a:moveTo>
                    <a:pt x="20404" y="4234"/>
                  </a:moveTo>
                  <a:lnTo>
                    <a:pt x="5083" y="0"/>
                  </a:lnTo>
                  <a:lnTo>
                    <a:pt x="0" y="11342"/>
                  </a:lnTo>
                  <a:lnTo>
                    <a:pt x="21600" y="21600"/>
                  </a:lnTo>
                  <a:lnTo>
                    <a:pt x="20404" y="4234"/>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37" name="熊大的PPT宝库1-84"/>
            <p:cNvSpPr/>
            <p:nvPr/>
          </p:nvSpPr>
          <p:spPr>
            <a:xfrm>
              <a:off x="9829728" y="9808680"/>
              <a:ext cx="47691" cy="48989"/>
            </a:xfrm>
            <a:custGeom>
              <a:avLst/>
              <a:gdLst/>
              <a:ahLst/>
              <a:cxnLst>
                <a:cxn ang="0">
                  <a:pos x="wd2" y="hd2"/>
                </a:cxn>
                <a:cxn ang="5400000">
                  <a:pos x="wd2" y="hd2"/>
                </a:cxn>
                <a:cxn ang="10800000">
                  <a:pos x="wd2" y="hd2"/>
                </a:cxn>
                <a:cxn ang="16200000">
                  <a:pos x="wd2" y="hd2"/>
                </a:cxn>
              </a:cxnLst>
              <a:rect l="0" t="0" r="r" b="b"/>
              <a:pathLst>
                <a:path w="21600" h="21600" extrusionOk="0">
                  <a:moveTo>
                    <a:pt x="9899" y="3302"/>
                  </a:moveTo>
                  <a:cubicBezTo>
                    <a:pt x="9224" y="3989"/>
                    <a:pt x="8549" y="4676"/>
                    <a:pt x="7875" y="5363"/>
                  </a:cubicBezTo>
                  <a:cubicBezTo>
                    <a:pt x="7200" y="6049"/>
                    <a:pt x="6525" y="6736"/>
                    <a:pt x="5850" y="7423"/>
                  </a:cubicBezTo>
                  <a:lnTo>
                    <a:pt x="0" y="13749"/>
                  </a:lnTo>
                  <a:lnTo>
                    <a:pt x="5955" y="20264"/>
                  </a:lnTo>
                  <a:lnTo>
                    <a:pt x="13153" y="21600"/>
                  </a:lnTo>
                  <a:lnTo>
                    <a:pt x="16685" y="18073"/>
                  </a:lnTo>
                  <a:lnTo>
                    <a:pt x="16244" y="11856"/>
                  </a:lnTo>
                  <a:lnTo>
                    <a:pt x="21600" y="2243"/>
                  </a:lnTo>
                  <a:lnTo>
                    <a:pt x="15783" y="0"/>
                  </a:lnTo>
                  <a:lnTo>
                    <a:pt x="9899" y="3302"/>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38" name="熊大的PPT宝库1-85"/>
            <p:cNvSpPr/>
            <p:nvPr/>
          </p:nvSpPr>
          <p:spPr>
            <a:xfrm>
              <a:off x="9867230" y="9860693"/>
              <a:ext cx="37284" cy="54904"/>
            </a:xfrm>
            <a:custGeom>
              <a:avLst/>
              <a:gdLst/>
              <a:ahLst/>
              <a:cxnLst>
                <a:cxn ang="0">
                  <a:pos x="wd2" y="hd2"/>
                </a:cxn>
                <a:cxn ang="5400000">
                  <a:pos x="wd2" y="hd2"/>
                </a:cxn>
                <a:cxn ang="10800000">
                  <a:pos x="wd2" y="hd2"/>
                </a:cxn>
                <a:cxn ang="16200000">
                  <a:pos x="wd2" y="hd2"/>
                </a:cxn>
              </a:cxnLst>
              <a:rect l="0" t="0" r="r" b="b"/>
              <a:pathLst>
                <a:path w="21600" h="21600" extrusionOk="0">
                  <a:moveTo>
                    <a:pt x="7580" y="0"/>
                  </a:moveTo>
                  <a:lnTo>
                    <a:pt x="5492" y="4637"/>
                  </a:lnTo>
                  <a:lnTo>
                    <a:pt x="0" y="9562"/>
                  </a:lnTo>
                  <a:lnTo>
                    <a:pt x="532" y="14978"/>
                  </a:lnTo>
                  <a:lnTo>
                    <a:pt x="5198" y="17362"/>
                  </a:lnTo>
                  <a:lnTo>
                    <a:pt x="8142" y="21600"/>
                  </a:lnTo>
                  <a:lnTo>
                    <a:pt x="17499" y="19994"/>
                  </a:lnTo>
                  <a:lnTo>
                    <a:pt x="17499" y="13520"/>
                  </a:lnTo>
                  <a:lnTo>
                    <a:pt x="21600" y="9579"/>
                  </a:lnTo>
                  <a:lnTo>
                    <a:pt x="19856" y="4413"/>
                  </a:lnTo>
                  <a:lnTo>
                    <a:pt x="14429" y="2161"/>
                  </a:lnTo>
                  <a:lnTo>
                    <a:pt x="7580"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39" name="熊大的PPT宝库1-86"/>
            <p:cNvSpPr/>
            <p:nvPr/>
          </p:nvSpPr>
          <p:spPr>
            <a:xfrm>
              <a:off x="9916502" y="9831908"/>
              <a:ext cx="29941" cy="51005"/>
            </a:xfrm>
            <a:custGeom>
              <a:avLst/>
              <a:gdLst/>
              <a:ahLst/>
              <a:cxnLst>
                <a:cxn ang="0">
                  <a:pos x="wd2" y="hd2"/>
                </a:cxn>
                <a:cxn ang="5400000">
                  <a:pos x="wd2" y="hd2"/>
                </a:cxn>
                <a:cxn ang="10800000">
                  <a:pos x="wd2" y="hd2"/>
                </a:cxn>
                <a:cxn ang="16200000">
                  <a:pos x="wd2" y="hd2"/>
                </a:cxn>
              </a:cxnLst>
              <a:rect l="0" t="0" r="r" b="b"/>
              <a:pathLst>
                <a:path w="21600" h="21600" extrusionOk="0">
                  <a:moveTo>
                    <a:pt x="10374" y="2282"/>
                  </a:moveTo>
                  <a:lnTo>
                    <a:pt x="2301" y="0"/>
                  </a:lnTo>
                  <a:lnTo>
                    <a:pt x="0" y="4114"/>
                  </a:lnTo>
                  <a:lnTo>
                    <a:pt x="8942" y="8249"/>
                  </a:lnTo>
                  <a:lnTo>
                    <a:pt x="10410" y="16662"/>
                  </a:lnTo>
                  <a:lnTo>
                    <a:pt x="13285" y="21600"/>
                  </a:lnTo>
                  <a:lnTo>
                    <a:pt x="21600" y="19354"/>
                  </a:lnTo>
                  <a:lnTo>
                    <a:pt x="20132" y="10993"/>
                  </a:lnTo>
                  <a:lnTo>
                    <a:pt x="10374" y="2282"/>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40" name="熊大的PPT宝库1-87"/>
            <p:cNvSpPr/>
            <p:nvPr/>
          </p:nvSpPr>
          <p:spPr>
            <a:xfrm>
              <a:off x="9863420" y="9880395"/>
              <a:ext cx="162677" cy="158780"/>
            </a:xfrm>
            <a:custGeom>
              <a:avLst/>
              <a:gdLst/>
              <a:ahLst/>
              <a:cxnLst>
                <a:cxn ang="0">
                  <a:pos x="wd2" y="hd2"/>
                </a:cxn>
                <a:cxn ang="5400000">
                  <a:pos x="wd2" y="hd2"/>
                </a:cxn>
                <a:cxn ang="10800000">
                  <a:pos x="wd2" y="hd2"/>
                </a:cxn>
                <a:cxn ang="16200000">
                  <a:pos x="wd2" y="hd2"/>
                </a:cxn>
              </a:cxnLst>
              <a:rect l="0" t="0" r="r" b="b"/>
              <a:pathLst>
                <a:path w="21246" h="21600" extrusionOk="0">
                  <a:moveTo>
                    <a:pt x="15618" y="0"/>
                  </a:moveTo>
                  <a:lnTo>
                    <a:pt x="14068" y="137"/>
                  </a:lnTo>
                  <a:lnTo>
                    <a:pt x="13901" y="3471"/>
                  </a:lnTo>
                  <a:lnTo>
                    <a:pt x="11653" y="5499"/>
                  </a:lnTo>
                  <a:lnTo>
                    <a:pt x="9433" y="7154"/>
                  </a:lnTo>
                  <a:lnTo>
                    <a:pt x="8019" y="8935"/>
                  </a:lnTo>
                  <a:lnTo>
                    <a:pt x="6129" y="8803"/>
                  </a:lnTo>
                  <a:lnTo>
                    <a:pt x="4020" y="7291"/>
                  </a:lnTo>
                  <a:lnTo>
                    <a:pt x="1658" y="8253"/>
                  </a:lnTo>
                  <a:lnTo>
                    <a:pt x="1029" y="10864"/>
                  </a:lnTo>
                  <a:lnTo>
                    <a:pt x="0" y="12771"/>
                  </a:lnTo>
                  <a:lnTo>
                    <a:pt x="3621" y="12908"/>
                  </a:lnTo>
                  <a:lnTo>
                    <a:pt x="5425" y="10801"/>
                  </a:lnTo>
                  <a:lnTo>
                    <a:pt x="6970" y="11345"/>
                  </a:lnTo>
                  <a:lnTo>
                    <a:pt x="8696" y="13544"/>
                  </a:lnTo>
                  <a:lnTo>
                    <a:pt x="8696" y="16286"/>
                  </a:lnTo>
                  <a:lnTo>
                    <a:pt x="10584" y="19825"/>
                  </a:lnTo>
                  <a:lnTo>
                    <a:pt x="11691" y="21600"/>
                  </a:lnTo>
                  <a:lnTo>
                    <a:pt x="13329" y="20592"/>
                  </a:lnTo>
                  <a:lnTo>
                    <a:pt x="14785" y="19539"/>
                  </a:lnTo>
                  <a:lnTo>
                    <a:pt x="16955" y="20226"/>
                  </a:lnTo>
                  <a:lnTo>
                    <a:pt x="17088" y="18955"/>
                  </a:lnTo>
                  <a:lnTo>
                    <a:pt x="14658" y="17037"/>
                  </a:lnTo>
                  <a:lnTo>
                    <a:pt x="14525" y="14747"/>
                  </a:lnTo>
                  <a:lnTo>
                    <a:pt x="15986" y="13831"/>
                  </a:lnTo>
                  <a:lnTo>
                    <a:pt x="18372" y="14380"/>
                  </a:lnTo>
                  <a:lnTo>
                    <a:pt x="18632" y="17071"/>
                  </a:lnTo>
                  <a:cubicBezTo>
                    <a:pt x="19138" y="17458"/>
                    <a:pt x="19818" y="17494"/>
                    <a:pt x="20359" y="17163"/>
                  </a:cubicBezTo>
                  <a:cubicBezTo>
                    <a:pt x="21600" y="16403"/>
                    <a:pt x="21524" y="14520"/>
                    <a:pt x="20226" y="13871"/>
                  </a:cubicBezTo>
                  <a:cubicBezTo>
                    <a:pt x="19707" y="12622"/>
                    <a:pt x="19161" y="11385"/>
                    <a:pt x="18588" y="10161"/>
                  </a:cubicBezTo>
                  <a:cubicBezTo>
                    <a:pt x="18105" y="9128"/>
                    <a:pt x="17603" y="8105"/>
                    <a:pt x="17082" y="7092"/>
                  </a:cubicBezTo>
                  <a:lnTo>
                    <a:pt x="16551" y="3382"/>
                  </a:lnTo>
                  <a:lnTo>
                    <a:pt x="15618"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41" name="熊大的PPT宝库1-88"/>
            <p:cNvSpPr/>
            <p:nvPr/>
          </p:nvSpPr>
          <p:spPr>
            <a:xfrm>
              <a:off x="9422588" y="9997070"/>
              <a:ext cx="329761" cy="381201"/>
            </a:xfrm>
            <a:custGeom>
              <a:avLst/>
              <a:gdLst/>
              <a:ahLst/>
              <a:cxnLst>
                <a:cxn ang="0">
                  <a:pos x="wd2" y="hd2"/>
                </a:cxn>
                <a:cxn ang="5400000">
                  <a:pos x="wd2" y="hd2"/>
                </a:cxn>
                <a:cxn ang="10800000">
                  <a:pos x="wd2" y="hd2"/>
                </a:cxn>
                <a:cxn ang="16200000">
                  <a:pos x="wd2" y="hd2"/>
                </a:cxn>
              </a:cxnLst>
              <a:rect l="0" t="0" r="r" b="b"/>
              <a:pathLst>
                <a:path w="21600" h="21600" extrusionOk="0">
                  <a:moveTo>
                    <a:pt x="17693" y="182"/>
                  </a:moveTo>
                  <a:lnTo>
                    <a:pt x="19070" y="0"/>
                  </a:lnTo>
                  <a:lnTo>
                    <a:pt x="20340" y="1335"/>
                  </a:lnTo>
                  <a:lnTo>
                    <a:pt x="21003" y="2362"/>
                  </a:lnTo>
                  <a:lnTo>
                    <a:pt x="21600" y="2990"/>
                  </a:lnTo>
                  <a:lnTo>
                    <a:pt x="21001" y="3848"/>
                  </a:lnTo>
                  <a:lnTo>
                    <a:pt x="20512" y="4459"/>
                  </a:lnTo>
                  <a:lnTo>
                    <a:pt x="19915" y="5222"/>
                  </a:lnTo>
                  <a:lnTo>
                    <a:pt x="19382" y="6290"/>
                  </a:lnTo>
                  <a:lnTo>
                    <a:pt x="19382" y="7432"/>
                  </a:lnTo>
                  <a:lnTo>
                    <a:pt x="19626" y="8233"/>
                  </a:lnTo>
                  <a:lnTo>
                    <a:pt x="20490" y="9318"/>
                  </a:lnTo>
                  <a:lnTo>
                    <a:pt x="21464" y="10423"/>
                  </a:lnTo>
                  <a:lnTo>
                    <a:pt x="21531" y="12044"/>
                  </a:lnTo>
                  <a:lnTo>
                    <a:pt x="19671" y="12598"/>
                  </a:lnTo>
                  <a:lnTo>
                    <a:pt x="19271" y="13509"/>
                  </a:lnTo>
                  <a:lnTo>
                    <a:pt x="19427" y="14768"/>
                  </a:lnTo>
                  <a:lnTo>
                    <a:pt x="18783" y="15910"/>
                  </a:lnTo>
                  <a:lnTo>
                    <a:pt x="18030" y="16900"/>
                  </a:lnTo>
                  <a:lnTo>
                    <a:pt x="16831" y="17925"/>
                  </a:lnTo>
                  <a:lnTo>
                    <a:pt x="16378" y="19125"/>
                  </a:lnTo>
                  <a:lnTo>
                    <a:pt x="15584" y="20935"/>
                  </a:lnTo>
                  <a:lnTo>
                    <a:pt x="14482" y="21600"/>
                  </a:lnTo>
                  <a:lnTo>
                    <a:pt x="13585" y="21028"/>
                  </a:lnTo>
                  <a:lnTo>
                    <a:pt x="12212" y="20589"/>
                  </a:lnTo>
                  <a:lnTo>
                    <a:pt x="11498" y="20436"/>
                  </a:lnTo>
                  <a:lnTo>
                    <a:pt x="10252" y="20665"/>
                  </a:lnTo>
                  <a:lnTo>
                    <a:pt x="9540" y="20665"/>
                  </a:lnTo>
                  <a:lnTo>
                    <a:pt x="7603" y="20436"/>
                  </a:lnTo>
                  <a:lnTo>
                    <a:pt x="6274" y="20172"/>
                  </a:lnTo>
                  <a:lnTo>
                    <a:pt x="4280" y="19885"/>
                  </a:lnTo>
                  <a:lnTo>
                    <a:pt x="3374" y="19375"/>
                  </a:lnTo>
                  <a:lnTo>
                    <a:pt x="2783" y="17734"/>
                  </a:lnTo>
                  <a:lnTo>
                    <a:pt x="1530" y="16227"/>
                  </a:lnTo>
                  <a:cubicBezTo>
                    <a:pt x="1300" y="15735"/>
                    <a:pt x="1078" y="15241"/>
                    <a:pt x="863" y="14744"/>
                  </a:cubicBezTo>
                  <a:cubicBezTo>
                    <a:pt x="560" y="14044"/>
                    <a:pt x="273" y="13340"/>
                    <a:pt x="0" y="12631"/>
                  </a:cubicBezTo>
                  <a:lnTo>
                    <a:pt x="197" y="11603"/>
                  </a:lnTo>
                  <a:lnTo>
                    <a:pt x="1259" y="10406"/>
                  </a:lnTo>
                  <a:lnTo>
                    <a:pt x="2436" y="9948"/>
                  </a:lnTo>
                  <a:lnTo>
                    <a:pt x="2902" y="10864"/>
                  </a:lnTo>
                  <a:lnTo>
                    <a:pt x="3946" y="11529"/>
                  </a:lnTo>
                  <a:lnTo>
                    <a:pt x="4323" y="10976"/>
                  </a:lnTo>
                  <a:lnTo>
                    <a:pt x="4723" y="9946"/>
                  </a:lnTo>
                  <a:lnTo>
                    <a:pt x="5431" y="9223"/>
                  </a:lnTo>
                  <a:lnTo>
                    <a:pt x="6230" y="8765"/>
                  </a:lnTo>
                  <a:lnTo>
                    <a:pt x="7338" y="8307"/>
                  </a:lnTo>
                  <a:lnTo>
                    <a:pt x="8604" y="7735"/>
                  </a:lnTo>
                  <a:lnTo>
                    <a:pt x="9378" y="7184"/>
                  </a:lnTo>
                  <a:lnTo>
                    <a:pt x="10242" y="5586"/>
                  </a:lnTo>
                  <a:lnTo>
                    <a:pt x="10927" y="5033"/>
                  </a:lnTo>
                  <a:lnTo>
                    <a:pt x="11838" y="4480"/>
                  </a:lnTo>
                  <a:lnTo>
                    <a:pt x="12570" y="4251"/>
                  </a:lnTo>
                  <a:lnTo>
                    <a:pt x="13392" y="4041"/>
                  </a:lnTo>
                  <a:lnTo>
                    <a:pt x="14386" y="3302"/>
                  </a:lnTo>
                  <a:lnTo>
                    <a:pt x="15319" y="2405"/>
                  </a:lnTo>
                  <a:lnTo>
                    <a:pt x="16229" y="1451"/>
                  </a:lnTo>
                  <a:lnTo>
                    <a:pt x="17693" y="182"/>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42" name="熊大的PPT宝库1-89"/>
            <p:cNvSpPr/>
            <p:nvPr/>
          </p:nvSpPr>
          <p:spPr>
            <a:xfrm>
              <a:off x="9753787" y="10180696"/>
              <a:ext cx="221080" cy="264412"/>
            </a:xfrm>
            <a:custGeom>
              <a:avLst/>
              <a:gdLst/>
              <a:ahLst/>
              <a:cxnLst>
                <a:cxn ang="0">
                  <a:pos x="wd2" y="hd2"/>
                </a:cxn>
                <a:cxn ang="5400000">
                  <a:pos x="wd2" y="hd2"/>
                </a:cxn>
                <a:cxn ang="10800000">
                  <a:pos x="wd2" y="hd2"/>
                </a:cxn>
                <a:cxn ang="16200000">
                  <a:pos x="wd2" y="hd2"/>
                </a:cxn>
              </a:cxnLst>
              <a:rect l="0" t="0" r="r" b="b"/>
              <a:pathLst>
                <a:path w="21600" h="21600" extrusionOk="0">
                  <a:moveTo>
                    <a:pt x="21600" y="10"/>
                  </a:moveTo>
                  <a:lnTo>
                    <a:pt x="19302" y="0"/>
                  </a:lnTo>
                  <a:lnTo>
                    <a:pt x="18507" y="1508"/>
                  </a:lnTo>
                  <a:lnTo>
                    <a:pt x="16888" y="2495"/>
                  </a:lnTo>
                  <a:lnTo>
                    <a:pt x="15588" y="2660"/>
                  </a:lnTo>
                  <a:lnTo>
                    <a:pt x="14223" y="1866"/>
                  </a:lnTo>
                  <a:lnTo>
                    <a:pt x="11000" y="1783"/>
                  </a:lnTo>
                  <a:lnTo>
                    <a:pt x="9523" y="1673"/>
                  </a:lnTo>
                  <a:lnTo>
                    <a:pt x="7078" y="1838"/>
                  </a:lnTo>
                  <a:lnTo>
                    <a:pt x="3910" y="2828"/>
                  </a:lnTo>
                  <a:lnTo>
                    <a:pt x="3328" y="4063"/>
                  </a:lnTo>
                  <a:lnTo>
                    <a:pt x="3249" y="6070"/>
                  </a:lnTo>
                  <a:lnTo>
                    <a:pt x="3252" y="8298"/>
                  </a:lnTo>
                  <a:lnTo>
                    <a:pt x="3450" y="9618"/>
                  </a:lnTo>
                  <a:lnTo>
                    <a:pt x="3152" y="10719"/>
                  </a:lnTo>
                  <a:lnTo>
                    <a:pt x="1267" y="12420"/>
                  </a:lnTo>
                  <a:lnTo>
                    <a:pt x="0" y="14236"/>
                  </a:lnTo>
                  <a:lnTo>
                    <a:pt x="998" y="16436"/>
                  </a:lnTo>
                  <a:lnTo>
                    <a:pt x="1891" y="17340"/>
                  </a:lnTo>
                  <a:lnTo>
                    <a:pt x="2289" y="18739"/>
                  </a:lnTo>
                  <a:lnTo>
                    <a:pt x="1593" y="20390"/>
                  </a:lnTo>
                  <a:lnTo>
                    <a:pt x="2388" y="21600"/>
                  </a:lnTo>
                  <a:lnTo>
                    <a:pt x="4442" y="21352"/>
                  </a:lnTo>
                  <a:lnTo>
                    <a:pt x="5237" y="19733"/>
                  </a:lnTo>
                  <a:lnTo>
                    <a:pt x="4342" y="17643"/>
                  </a:lnTo>
                  <a:lnTo>
                    <a:pt x="3945" y="16161"/>
                  </a:lnTo>
                  <a:cubicBezTo>
                    <a:pt x="4074" y="15650"/>
                    <a:pt x="4347" y="15172"/>
                    <a:pt x="4740" y="14765"/>
                  </a:cubicBezTo>
                  <a:cubicBezTo>
                    <a:pt x="5266" y="14220"/>
                    <a:pt x="5984" y="13826"/>
                    <a:pt x="6793" y="13637"/>
                  </a:cubicBezTo>
                  <a:lnTo>
                    <a:pt x="8040" y="13310"/>
                  </a:lnTo>
                  <a:lnTo>
                    <a:pt x="8802" y="14576"/>
                  </a:lnTo>
                  <a:lnTo>
                    <a:pt x="8802" y="16635"/>
                  </a:lnTo>
                  <a:cubicBezTo>
                    <a:pt x="9210" y="17046"/>
                    <a:pt x="9677" y="17415"/>
                    <a:pt x="10193" y="17732"/>
                  </a:cubicBezTo>
                  <a:cubicBezTo>
                    <a:pt x="10742" y="18070"/>
                    <a:pt x="11342" y="18347"/>
                    <a:pt x="11978" y="18557"/>
                  </a:cubicBezTo>
                  <a:cubicBezTo>
                    <a:pt x="12325" y="18437"/>
                    <a:pt x="12624" y="18237"/>
                    <a:pt x="12839" y="17979"/>
                  </a:cubicBezTo>
                  <a:cubicBezTo>
                    <a:pt x="13328" y="17393"/>
                    <a:pt x="13328" y="16616"/>
                    <a:pt x="12839" y="16030"/>
                  </a:cubicBezTo>
                  <a:lnTo>
                    <a:pt x="12209" y="14548"/>
                  </a:lnTo>
                  <a:cubicBezTo>
                    <a:pt x="11711" y="14198"/>
                    <a:pt x="11335" y="13743"/>
                    <a:pt x="11120" y="13231"/>
                  </a:cubicBezTo>
                  <a:cubicBezTo>
                    <a:pt x="10817" y="12506"/>
                    <a:pt x="10852" y="11712"/>
                    <a:pt x="11220" y="11007"/>
                  </a:cubicBezTo>
                  <a:lnTo>
                    <a:pt x="12512" y="9934"/>
                  </a:lnTo>
                  <a:lnTo>
                    <a:pt x="14201" y="9109"/>
                  </a:lnTo>
                  <a:lnTo>
                    <a:pt x="15352" y="8700"/>
                  </a:lnTo>
                  <a:lnTo>
                    <a:pt x="14756" y="7572"/>
                  </a:lnTo>
                  <a:lnTo>
                    <a:pt x="12081" y="7903"/>
                  </a:lnTo>
                  <a:lnTo>
                    <a:pt x="8450" y="9109"/>
                  </a:lnTo>
                  <a:cubicBezTo>
                    <a:pt x="7962" y="9001"/>
                    <a:pt x="7496" y="8834"/>
                    <a:pt x="7067" y="8614"/>
                  </a:cubicBezTo>
                  <a:cubicBezTo>
                    <a:pt x="6290" y="8217"/>
                    <a:pt x="5653" y="7659"/>
                    <a:pt x="5216" y="6995"/>
                  </a:cubicBezTo>
                  <a:cubicBezTo>
                    <a:pt x="5085" y="6422"/>
                    <a:pt x="5085" y="5835"/>
                    <a:pt x="5216" y="5262"/>
                  </a:cubicBezTo>
                  <a:cubicBezTo>
                    <a:pt x="5343" y="4707"/>
                    <a:pt x="5600" y="4165"/>
                    <a:pt x="6106" y="3787"/>
                  </a:cubicBezTo>
                  <a:cubicBezTo>
                    <a:pt x="6720" y="3329"/>
                    <a:pt x="7565" y="3206"/>
                    <a:pt x="8388" y="3154"/>
                  </a:cubicBezTo>
                  <a:cubicBezTo>
                    <a:pt x="9337" y="3095"/>
                    <a:pt x="10291" y="3113"/>
                    <a:pt x="11236" y="3209"/>
                  </a:cubicBezTo>
                  <a:lnTo>
                    <a:pt x="12594" y="3347"/>
                  </a:lnTo>
                  <a:lnTo>
                    <a:pt x="13886" y="3787"/>
                  </a:lnTo>
                  <a:lnTo>
                    <a:pt x="15045" y="4475"/>
                  </a:lnTo>
                  <a:lnTo>
                    <a:pt x="16900" y="4695"/>
                  </a:lnTo>
                  <a:cubicBezTo>
                    <a:pt x="17689" y="4733"/>
                    <a:pt x="18466" y="4527"/>
                    <a:pt x="19083" y="4117"/>
                  </a:cubicBezTo>
                  <a:cubicBezTo>
                    <a:pt x="19535" y="3816"/>
                    <a:pt x="19878" y="3418"/>
                    <a:pt x="20076" y="2965"/>
                  </a:cubicBezTo>
                  <a:lnTo>
                    <a:pt x="21434" y="1511"/>
                  </a:lnTo>
                  <a:lnTo>
                    <a:pt x="21600" y="1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43" name="熊大的PPT宝库1-90"/>
            <p:cNvSpPr/>
            <p:nvPr/>
          </p:nvSpPr>
          <p:spPr>
            <a:xfrm>
              <a:off x="10051187" y="10147696"/>
              <a:ext cx="41001" cy="103795"/>
            </a:xfrm>
            <a:custGeom>
              <a:avLst/>
              <a:gdLst/>
              <a:ahLst/>
              <a:cxnLst>
                <a:cxn ang="0">
                  <a:pos x="wd2" y="hd2"/>
                </a:cxn>
                <a:cxn ang="5400000">
                  <a:pos x="wd2" y="hd2"/>
                </a:cxn>
                <a:cxn ang="10800000">
                  <a:pos x="wd2" y="hd2"/>
                </a:cxn>
                <a:cxn ang="16200000">
                  <a:pos x="wd2" y="hd2"/>
                </a:cxn>
              </a:cxnLst>
              <a:rect l="0" t="0" r="r" b="b"/>
              <a:pathLst>
                <a:path w="21600" h="21600" extrusionOk="0">
                  <a:moveTo>
                    <a:pt x="17255" y="0"/>
                  </a:moveTo>
                  <a:lnTo>
                    <a:pt x="9754" y="981"/>
                  </a:lnTo>
                  <a:lnTo>
                    <a:pt x="6086" y="3566"/>
                  </a:lnTo>
                  <a:lnTo>
                    <a:pt x="1417" y="5861"/>
                  </a:lnTo>
                  <a:lnTo>
                    <a:pt x="4076" y="9434"/>
                  </a:lnTo>
                  <a:lnTo>
                    <a:pt x="6254" y="12097"/>
                  </a:lnTo>
                  <a:lnTo>
                    <a:pt x="3575" y="14050"/>
                  </a:lnTo>
                  <a:lnTo>
                    <a:pt x="383" y="15872"/>
                  </a:lnTo>
                  <a:lnTo>
                    <a:pt x="0" y="19016"/>
                  </a:lnTo>
                  <a:lnTo>
                    <a:pt x="9298" y="21600"/>
                  </a:lnTo>
                  <a:lnTo>
                    <a:pt x="16777" y="20549"/>
                  </a:lnTo>
                  <a:lnTo>
                    <a:pt x="17849" y="16774"/>
                  </a:lnTo>
                  <a:lnTo>
                    <a:pt x="17849" y="12999"/>
                  </a:lnTo>
                  <a:lnTo>
                    <a:pt x="14300" y="9426"/>
                  </a:lnTo>
                  <a:lnTo>
                    <a:pt x="11643" y="6290"/>
                  </a:lnTo>
                  <a:lnTo>
                    <a:pt x="13250" y="4118"/>
                  </a:lnTo>
                  <a:lnTo>
                    <a:pt x="21600" y="2454"/>
                  </a:lnTo>
                  <a:lnTo>
                    <a:pt x="17255"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44" name="熊大的PPT宝库1-91"/>
            <p:cNvSpPr/>
            <p:nvPr/>
          </p:nvSpPr>
          <p:spPr>
            <a:xfrm>
              <a:off x="10069274" y="10338114"/>
              <a:ext cx="82580" cy="37553"/>
            </a:xfrm>
            <a:custGeom>
              <a:avLst/>
              <a:gdLst/>
              <a:ahLst/>
              <a:cxnLst>
                <a:cxn ang="0">
                  <a:pos x="wd2" y="hd2"/>
                </a:cxn>
                <a:cxn ang="5400000">
                  <a:pos x="wd2" y="hd2"/>
                </a:cxn>
                <a:cxn ang="10800000">
                  <a:pos x="wd2" y="hd2"/>
                </a:cxn>
                <a:cxn ang="16200000">
                  <a:pos x="wd2" y="hd2"/>
                </a:cxn>
              </a:cxnLst>
              <a:rect l="0" t="0" r="r" b="b"/>
              <a:pathLst>
                <a:path w="21500" h="19363" extrusionOk="0">
                  <a:moveTo>
                    <a:pt x="5683" y="318"/>
                  </a:moveTo>
                  <a:lnTo>
                    <a:pt x="1027" y="1360"/>
                  </a:lnTo>
                  <a:lnTo>
                    <a:pt x="0" y="7059"/>
                  </a:lnTo>
                  <a:lnTo>
                    <a:pt x="2914" y="13850"/>
                  </a:lnTo>
                  <a:lnTo>
                    <a:pt x="8729" y="12808"/>
                  </a:lnTo>
                  <a:lnTo>
                    <a:pt x="9876" y="18864"/>
                  </a:lnTo>
                  <a:lnTo>
                    <a:pt x="14356" y="19363"/>
                  </a:lnTo>
                  <a:cubicBezTo>
                    <a:pt x="15680" y="17818"/>
                    <a:pt x="17000" y="16262"/>
                    <a:pt x="18317" y="14697"/>
                  </a:cubicBezTo>
                  <a:cubicBezTo>
                    <a:pt x="19936" y="12772"/>
                    <a:pt x="21600" y="10321"/>
                    <a:pt x="21495" y="6712"/>
                  </a:cubicBezTo>
                  <a:cubicBezTo>
                    <a:pt x="21234" y="-2237"/>
                    <a:pt x="14529" y="-2237"/>
                    <a:pt x="14268" y="6712"/>
                  </a:cubicBezTo>
                  <a:lnTo>
                    <a:pt x="10052" y="5498"/>
                  </a:lnTo>
                  <a:lnTo>
                    <a:pt x="5683" y="318"/>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45" name="熊大的PPT宝库1-92"/>
            <p:cNvSpPr/>
            <p:nvPr/>
          </p:nvSpPr>
          <p:spPr>
            <a:xfrm>
              <a:off x="9899115" y="10541371"/>
              <a:ext cx="133525" cy="80961"/>
            </a:xfrm>
            <a:custGeom>
              <a:avLst/>
              <a:gdLst/>
              <a:ahLst/>
              <a:cxnLst>
                <a:cxn ang="0">
                  <a:pos x="wd2" y="hd2"/>
                </a:cxn>
                <a:cxn ang="5400000">
                  <a:pos x="wd2" y="hd2"/>
                </a:cxn>
                <a:cxn ang="10800000">
                  <a:pos x="wd2" y="hd2"/>
                </a:cxn>
                <a:cxn ang="16200000">
                  <a:pos x="wd2" y="hd2"/>
                </a:cxn>
              </a:cxnLst>
              <a:rect l="0" t="0" r="r" b="b"/>
              <a:pathLst>
                <a:path w="21600" h="21600" extrusionOk="0">
                  <a:moveTo>
                    <a:pt x="14152" y="0"/>
                  </a:moveTo>
                  <a:lnTo>
                    <a:pt x="10628" y="460"/>
                  </a:lnTo>
                  <a:lnTo>
                    <a:pt x="7726" y="4319"/>
                  </a:lnTo>
                  <a:lnTo>
                    <a:pt x="5627" y="8451"/>
                  </a:lnTo>
                  <a:lnTo>
                    <a:pt x="4174" y="14357"/>
                  </a:lnTo>
                  <a:lnTo>
                    <a:pt x="1935" y="16154"/>
                  </a:lnTo>
                  <a:lnTo>
                    <a:pt x="0" y="18468"/>
                  </a:lnTo>
                  <a:lnTo>
                    <a:pt x="1106" y="21600"/>
                  </a:lnTo>
                  <a:lnTo>
                    <a:pt x="6381" y="17839"/>
                  </a:lnTo>
                  <a:lnTo>
                    <a:pt x="8410" y="9597"/>
                  </a:lnTo>
                  <a:lnTo>
                    <a:pt x="11042" y="7530"/>
                  </a:lnTo>
                  <a:lnTo>
                    <a:pt x="13668" y="8597"/>
                  </a:lnTo>
                  <a:lnTo>
                    <a:pt x="17384" y="8597"/>
                  </a:lnTo>
                  <a:lnTo>
                    <a:pt x="21600" y="6531"/>
                  </a:lnTo>
                  <a:lnTo>
                    <a:pt x="19790" y="883"/>
                  </a:lnTo>
                  <a:lnTo>
                    <a:pt x="16677" y="3399"/>
                  </a:lnTo>
                  <a:lnTo>
                    <a:pt x="14152"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46" name="熊大的PPT宝库1-93"/>
            <p:cNvSpPr/>
            <p:nvPr/>
          </p:nvSpPr>
          <p:spPr>
            <a:xfrm>
              <a:off x="9792121" y="10533001"/>
              <a:ext cx="90437" cy="43332"/>
            </a:xfrm>
            <a:custGeom>
              <a:avLst/>
              <a:gdLst/>
              <a:ahLst/>
              <a:cxnLst>
                <a:cxn ang="0">
                  <a:pos x="wd2" y="hd2"/>
                </a:cxn>
                <a:cxn ang="5400000">
                  <a:pos x="wd2" y="hd2"/>
                </a:cxn>
                <a:cxn ang="10800000">
                  <a:pos x="wd2" y="hd2"/>
                </a:cxn>
                <a:cxn ang="16200000">
                  <a:pos x="wd2" y="hd2"/>
                </a:cxn>
              </a:cxnLst>
              <a:rect l="0" t="0" r="r" b="b"/>
              <a:pathLst>
                <a:path w="20127" h="20202" extrusionOk="0">
                  <a:moveTo>
                    <a:pt x="8120" y="1413"/>
                  </a:moveTo>
                  <a:lnTo>
                    <a:pt x="2989" y="0"/>
                  </a:lnTo>
                  <a:lnTo>
                    <a:pt x="0" y="4386"/>
                  </a:lnTo>
                  <a:lnTo>
                    <a:pt x="2074" y="13178"/>
                  </a:lnTo>
                  <a:lnTo>
                    <a:pt x="6156" y="20202"/>
                  </a:lnTo>
                  <a:lnTo>
                    <a:pt x="9392" y="20202"/>
                  </a:lnTo>
                  <a:cubicBezTo>
                    <a:pt x="9507" y="17730"/>
                    <a:pt x="10179" y="15518"/>
                    <a:pt x="11202" y="14238"/>
                  </a:cubicBezTo>
                  <a:cubicBezTo>
                    <a:pt x="12897" y="12117"/>
                    <a:pt x="14975" y="13081"/>
                    <a:pt x="16937" y="12982"/>
                  </a:cubicBezTo>
                  <a:cubicBezTo>
                    <a:pt x="17858" y="12935"/>
                    <a:pt x="18816" y="12577"/>
                    <a:pt x="19418" y="11137"/>
                  </a:cubicBezTo>
                  <a:cubicBezTo>
                    <a:pt x="21600" y="5910"/>
                    <a:pt x="18293" y="-1398"/>
                    <a:pt x="15654" y="2817"/>
                  </a:cubicBezTo>
                  <a:lnTo>
                    <a:pt x="11513" y="7369"/>
                  </a:lnTo>
                  <a:lnTo>
                    <a:pt x="8120" y="1413"/>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47" name="熊大的PPT宝库1-94"/>
            <p:cNvSpPr/>
            <p:nvPr/>
          </p:nvSpPr>
          <p:spPr>
            <a:xfrm>
              <a:off x="9664322" y="10541869"/>
              <a:ext cx="74217" cy="35014"/>
            </a:xfrm>
            <a:custGeom>
              <a:avLst/>
              <a:gdLst/>
              <a:ahLst/>
              <a:cxnLst>
                <a:cxn ang="0">
                  <a:pos x="wd2" y="hd2"/>
                </a:cxn>
                <a:cxn ang="5400000">
                  <a:pos x="wd2" y="hd2"/>
                </a:cxn>
                <a:cxn ang="10800000">
                  <a:pos x="wd2" y="hd2"/>
                </a:cxn>
                <a:cxn ang="16200000">
                  <a:pos x="wd2" y="hd2"/>
                </a:cxn>
              </a:cxnLst>
              <a:rect l="0" t="0" r="r" b="b"/>
              <a:pathLst>
                <a:path w="21600" h="21600" extrusionOk="0">
                  <a:moveTo>
                    <a:pt x="11859" y="1149"/>
                  </a:moveTo>
                  <a:lnTo>
                    <a:pt x="16794" y="1980"/>
                  </a:lnTo>
                  <a:lnTo>
                    <a:pt x="20811" y="5943"/>
                  </a:lnTo>
                  <a:lnTo>
                    <a:pt x="21600" y="15447"/>
                  </a:lnTo>
                  <a:lnTo>
                    <a:pt x="15100" y="14824"/>
                  </a:lnTo>
                  <a:lnTo>
                    <a:pt x="10412" y="21600"/>
                  </a:lnTo>
                  <a:lnTo>
                    <a:pt x="4161" y="15786"/>
                  </a:lnTo>
                  <a:lnTo>
                    <a:pt x="0" y="8515"/>
                  </a:lnTo>
                  <a:lnTo>
                    <a:pt x="3564" y="3114"/>
                  </a:lnTo>
                  <a:lnTo>
                    <a:pt x="8770" y="0"/>
                  </a:lnTo>
                  <a:lnTo>
                    <a:pt x="11859" y="1149"/>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48" name="熊大的PPT宝库1-95"/>
            <p:cNvSpPr/>
            <p:nvPr/>
          </p:nvSpPr>
          <p:spPr>
            <a:xfrm>
              <a:off x="9754905" y="10581892"/>
              <a:ext cx="55095" cy="31317"/>
            </a:xfrm>
            <a:custGeom>
              <a:avLst/>
              <a:gdLst/>
              <a:ahLst/>
              <a:cxnLst>
                <a:cxn ang="0">
                  <a:pos x="wd2" y="hd2"/>
                </a:cxn>
                <a:cxn ang="5400000">
                  <a:pos x="wd2" y="hd2"/>
                </a:cxn>
                <a:cxn ang="10800000">
                  <a:pos x="wd2" y="hd2"/>
                </a:cxn>
                <a:cxn ang="16200000">
                  <a:pos x="wd2" y="hd2"/>
                </a:cxn>
              </a:cxnLst>
              <a:rect l="0" t="0" r="r" b="b"/>
              <a:pathLst>
                <a:path w="21600" h="21600" extrusionOk="0">
                  <a:moveTo>
                    <a:pt x="7893" y="1028"/>
                  </a:moveTo>
                  <a:lnTo>
                    <a:pt x="16832" y="971"/>
                  </a:lnTo>
                  <a:lnTo>
                    <a:pt x="20420" y="11208"/>
                  </a:lnTo>
                  <a:lnTo>
                    <a:pt x="21600" y="21600"/>
                  </a:lnTo>
                  <a:lnTo>
                    <a:pt x="16982" y="18870"/>
                  </a:lnTo>
                  <a:lnTo>
                    <a:pt x="11664" y="14489"/>
                  </a:lnTo>
                  <a:lnTo>
                    <a:pt x="5019" y="13095"/>
                  </a:lnTo>
                  <a:lnTo>
                    <a:pt x="0" y="8275"/>
                  </a:lnTo>
                  <a:lnTo>
                    <a:pt x="451" y="0"/>
                  </a:lnTo>
                  <a:lnTo>
                    <a:pt x="7893" y="1028"/>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49" name="熊大的PPT宝库1-96"/>
            <p:cNvSpPr/>
            <p:nvPr/>
          </p:nvSpPr>
          <p:spPr>
            <a:xfrm>
              <a:off x="9302570" y="10458765"/>
              <a:ext cx="331335" cy="94555"/>
            </a:xfrm>
            <a:custGeom>
              <a:avLst/>
              <a:gdLst/>
              <a:ahLst/>
              <a:cxnLst>
                <a:cxn ang="0">
                  <a:pos x="wd2" y="hd2"/>
                </a:cxn>
                <a:cxn ang="5400000">
                  <a:pos x="wd2" y="hd2"/>
                </a:cxn>
                <a:cxn ang="10800000">
                  <a:pos x="wd2" y="hd2"/>
                </a:cxn>
                <a:cxn ang="16200000">
                  <a:pos x="wd2" y="hd2"/>
                </a:cxn>
              </a:cxnLst>
              <a:rect l="0" t="0" r="r" b="b"/>
              <a:pathLst>
                <a:path w="21600" h="21600" extrusionOk="0">
                  <a:moveTo>
                    <a:pt x="3462" y="0"/>
                  </a:moveTo>
                  <a:lnTo>
                    <a:pt x="5763" y="1193"/>
                  </a:lnTo>
                  <a:lnTo>
                    <a:pt x="7140" y="6505"/>
                  </a:lnTo>
                  <a:lnTo>
                    <a:pt x="8532" y="9504"/>
                  </a:lnTo>
                  <a:lnTo>
                    <a:pt x="10248" y="8812"/>
                  </a:lnTo>
                  <a:lnTo>
                    <a:pt x="11883" y="6582"/>
                  </a:lnTo>
                  <a:lnTo>
                    <a:pt x="13403" y="5274"/>
                  </a:lnTo>
                  <a:lnTo>
                    <a:pt x="14790" y="7803"/>
                  </a:lnTo>
                  <a:lnTo>
                    <a:pt x="15917" y="11562"/>
                  </a:lnTo>
                  <a:lnTo>
                    <a:pt x="17221" y="12706"/>
                  </a:lnTo>
                  <a:lnTo>
                    <a:pt x="18945" y="12706"/>
                  </a:lnTo>
                  <a:lnTo>
                    <a:pt x="21465" y="16859"/>
                  </a:lnTo>
                  <a:lnTo>
                    <a:pt x="21600" y="19533"/>
                  </a:lnTo>
                  <a:lnTo>
                    <a:pt x="21006" y="21369"/>
                  </a:lnTo>
                  <a:lnTo>
                    <a:pt x="19970" y="21600"/>
                  </a:lnTo>
                  <a:lnTo>
                    <a:pt x="18003" y="19138"/>
                  </a:lnTo>
                  <a:lnTo>
                    <a:pt x="15022" y="18215"/>
                  </a:lnTo>
                  <a:lnTo>
                    <a:pt x="11204" y="18215"/>
                  </a:lnTo>
                  <a:lnTo>
                    <a:pt x="9900" y="15985"/>
                  </a:lnTo>
                  <a:lnTo>
                    <a:pt x="8817" y="13601"/>
                  </a:lnTo>
                  <a:lnTo>
                    <a:pt x="7759" y="13380"/>
                  </a:lnTo>
                  <a:lnTo>
                    <a:pt x="6457" y="15686"/>
                  </a:lnTo>
                  <a:cubicBezTo>
                    <a:pt x="6016" y="15792"/>
                    <a:pt x="5574" y="15767"/>
                    <a:pt x="5134" y="15610"/>
                  </a:cubicBezTo>
                  <a:cubicBezTo>
                    <a:pt x="4240" y="15293"/>
                    <a:pt x="3369" y="14440"/>
                    <a:pt x="2559" y="13091"/>
                  </a:cubicBezTo>
                  <a:cubicBezTo>
                    <a:pt x="2427" y="12283"/>
                    <a:pt x="2248" y="11576"/>
                    <a:pt x="2036" y="11014"/>
                  </a:cubicBezTo>
                  <a:cubicBezTo>
                    <a:pt x="1623" y="9923"/>
                    <a:pt x="1105" y="9427"/>
                    <a:pt x="590" y="9629"/>
                  </a:cubicBezTo>
                  <a:lnTo>
                    <a:pt x="0" y="6938"/>
                  </a:lnTo>
                  <a:lnTo>
                    <a:pt x="743" y="3332"/>
                  </a:lnTo>
                  <a:lnTo>
                    <a:pt x="1495" y="2410"/>
                  </a:lnTo>
                  <a:lnTo>
                    <a:pt x="3462"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50" name="熊大的PPT宝库1-97"/>
            <p:cNvSpPr/>
            <p:nvPr/>
          </p:nvSpPr>
          <p:spPr>
            <a:xfrm>
              <a:off x="8974650" y="10035500"/>
              <a:ext cx="352969" cy="414364"/>
            </a:xfrm>
            <a:custGeom>
              <a:avLst/>
              <a:gdLst/>
              <a:ahLst/>
              <a:cxnLst>
                <a:cxn ang="0">
                  <a:pos x="wd2" y="hd2"/>
                </a:cxn>
                <a:cxn ang="5400000">
                  <a:pos x="wd2" y="hd2"/>
                </a:cxn>
                <a:cxn ang="10800000">
                  <a:pos x="wd2" y="hd2"/>
                </a:cxn>
                <a:cxn ang="16200000">
                  <a:pos x="wd2" y="hd2"/>
                </a:cxn>
              </a:cxnLst>
              <a:rect l="0" t="0" r="r" b="b"/>
              <a:pathLst>
                <a:path w="21600" h="21600" extrusionOk="0">
                  <a:moveTo>
                    <a:pt x="0" y="184"/>
                  </a:moveTo>
                  <a:lnTo>
                    <a:pt x="993" y="0"/>
                  </a:lnTo>
                  <a:lnTo>
                    <a:pt x="1986" y="598"/>
                  </a:lnTo>
                  <a:lnTo>
                    <a:pt x="2816" y="1157"/>
                  </a:lnTo>
                  <a:lnTo>
                    <a:pt x="4289" y="1420"/>
                  </a:lnTo>
                  <a:lnTo>
                    <a:pt x="5451" y="2210"/>
                  </a:lnTo>
                  <a:lnTo>
                    <a:pt x="5555" y="3015"/>
                  </a:lnTo>
                  <a:lnTo>
                    <a:pt x="6776" y="3171"/>
                  </a:lnTo>
                  <a:lnTo>
                    <a:pt x="7274" y="4172"/>
                  </a:lnTo>
                  <a:lnTo>
                    <a:pt x="7521" y="5067"/>
                  </a:lnTo>
                  <a:lnTo>
                    <a:pt x="8703" y="5646"/>
                  </a:lnTo>
                  <a:lnTo>
                    <a:pt x="10010" y="6313"/>
                  </a:lnTo>
                  <a:lnTo>
                    <a:pt x="11379" y="7204"/>
                  </a:lnTo>
                  <a:lnTo>
                    <a:pt x="13037" y="8026"/>
                  </a:lnTo>
                  <a:lnTo>
                    <a:pt x="14033" y="8799"/>
                  </a:lnTo>
                  <a:lnTo>
                    <a:pt x="14551" y="9185"/>
                  </a:lnTo>
                  <a:lnTo>
                    <a:pt x="15132" y="9746"/>
                  </a:lnTo>
                  <a:lnTo>
                    <a:pt x="15630" y="10424"/>
                  </a:lnTo>
                  <a:lnTo>
                    <a:pt x="15570" y="11405"/>
                  </a:lnTo>
                  <a:lnTo>
                    <a:pt x="15570" y="12087"/>
                  </a:lnTo>
                  <a:lnTo>
                    <a:pt x="16649" y="12471"/>
                  </a:lnTo>
                  <a:lnTo>
                    <a:pt x="17617" y="13079"/>
                  </a:lnTo>
                  <a:lnTo>
                    <a:pt x="17866" y="14746"/>
                  </a:lnTo>
                  <a:lnTo>
                    <a:pt x="19276" y="15306"/>
                  </a:lnTo>
                  <a:lnTo>
                    <a:pt x="20065" y="16197"/>
                  </a:lnTo>
                  <a:lnTo>
                    <a:pt x="20874" y="16512"/>
                  </a:lnTo>
                  <a:lnTo>
                    <a:pt x="21247" y="17881"/>
                  </a:lnTo>
                  <a:lnTo>
                    <a:pt x="21600" y="18880"/>
                  </a:lnTo>
                  <a:lnTo>
                    <a:pt x="20980" y="20073"/>
                  </a:lnTo>
                  <a:lnTo>
                    <a:pt x="19738" y="21284"/>
                  </a:lnTo>
                  <a:lnTo>
                    <a:pt x="18825" y="21600"/>
                  </a:lnTo>
                  <a:lnTo>
                    <a:pt x="17920" y="20918"/>
                  </a:lnTo>
                  <a:lnTo>
                    <a:pt x="16761" y="20657"/>
                  </a:lnTo>
                  <a:lnTo>
                    <a:pt x="16221" y="20130"/>
                  </a:lnTo>
                  <a:lnTo>
                    <a:pt x="15871" y="19375"/>
                  </a:lnTo>
                  <a:lnTo>
                    <a:pt x="14730" y="18518"/>
                  </a:lnTo>
                  <a:lnTo>
                    <a:pt x="12845" y="16958"/>
                  </a:lnTo>
                  <a:cubicBezTo>
                    <a:pt x="12017" y="16567"/>
                    <a:pt x="11468" y="15860"/>
                    <a:pt x="11372" y="15062"/>
                  </a:cubicBezTo>
                  <a:cubicBezTo>
                    <a:pt x="11299" y="14464"/>
                    <a:pt x="11495" y="13846"/>
                    <a:pt x="11270" y="13272"/>
                  </a:cubicBezTo>
                  <a:cubicBezTo>
                    <a:pt x="11040" y="12683"/>
                    <a:pt x="10437" y="12286"/>
                    <a:pt x="9880" y="11886"/>
                  </a:cubicBezTo>
                  <a:cubicBezTo>
                    <a:pt x="9302" y="11470"/>
                    <a:pt x="8755" y="11024"/>
                    <a:pt x="8241" y="10552"/>
                  </a:cubicBezTo>
                  <a:lnTo>
                    <a:pt x="7806" y="8674"/>
                  </a:lnTo>
                  <a:lnTo>
                    <a:pt x="6997" y="7096"/>
                  </a:lnTo>
                  <a:lnTo>
                    <a:pt x="5321" y="5752"/>
                  </a:lnTo>
                  <a:lnTo>
                    <a:pt x="3277" y="4023"/>
                  </a:lnTo>
                  <a:lnTo>
                    <a:pt x="2077" y="3410"/>
                  </a:lnTo>
                  <a:lnTo>
                    <a:pt x="505" y="1818"/>
                  </a:lnTo>
                  <a:lnTo>
                    <a:pt x="256" y="1168"/>
                  </a:lnTo>
                  <a:lnTo>
                    <a:pt x="0" y="184"/>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51" name="熊大的PPT宝库1-98"/>
            <p:cNvSpPr/>
            <p:nvPr/>
          </p:nvSpPr>
          <p:spPr>
            <a:xfrm>
              <a:off x="8434066" y="9896574"/>
              <a:ext cx="76119" cy="114668"/>
            </a:xfrm>
            <a:custGeom>
              <a:avLst/>
              <a:gdLst/>
              <a:ahLst/>
              <a:cxnLst>
                <a:cxn ang="0">
                  <a:pos x="wd2" y="hd2"/>
                </a:cxn>
                <a:cxn ang="5400000">
                  <a:pos x="wd2" y="hd2"/>
                </a:cxn>
                <a:cxn ang="10800000">
                  <a:pos x="wd2" y="hd2"/>
                </a:cxn>
                <a:cxn ang="16200000">
                  <a:pos x="wd2" y="hd2"/>
                </a:cxn>
              </a:cxnLst>
              <a:rect l="0" t="0" r="r" b="b"/>
              <a:pathLst>
                <a:path w="21600" h="21600" extrusionOk="0">
                  <a:moveTo>
                    <a:pt x="4600" y="0"/>
                  </a:moveTo>
                  <a:lnTo>
                    <a:pt x="8713" y="182"/>
                  </a:lnTo>
                  <a:lnTo>
                    <a:pt x="10921" y="4429"/>
                  </a:lnTo>
                  <a:lnTo>
                    <a:pt x="14685" y="8044"/>
                  </a:lnTo>
                  <a:lnTo>
                    <a:pt x="18425" y="9946"/>
                  </a:lnTo>
                  <a:lnTo>
                    <a:pt x="21600" y="14767"/>
                  </a:lnTo>
                  <a:lnTo>
                    <a:pt x="19964" y="17676"/>
                  </a:lnTo>
                  <a:lnTo>
                    <a:pt x="13230" y="21600"/>
                  </a:lnTo>
                  <a:lnTo>
                    <a:pt x="5665" y="20649"/>
                  </a:lnTo>
                  <a:lnTo>
                    <a:pt x="3657" y="18389"/>
                  </a:lnTo>
                  <a:lnTo>
                    <a:pt x="2585" y="13196"/>
                  </a:lnTo>
                  <a:lnTo>
                    <a:pt x="0" y="7869"/>
                  </a:lnTo>
                  <a:lnTo>
                    <a:pt x="285" y="4698"/>
                  </a:lnTo>
                  <a:lnTo>
                    <a:pt x="4600"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52" name="熊大的PPT宝库1-99"/>
            <p:cNvSpPr/>
            <p:nvPr/>
          </p:nvSpPr>
          <p:spPr>
            <a:xfrm>
              <a:off x="8192061" y="10021819"/>
              <a:ext cx="20203" cy="24844"/>
            </a:xfrm>
            <a:custGeom>
              <a:avLst/>
              <a:gdLst/>
              <a:ahLst/>
              <a:cxnLst>
                <a:cxn ang="0">
                  <a:pos x="wd2" y="hd2"/>
                </a:cxn>
                <a:cxn ang="5400000">
                  <a:pos x="wd2" y="hd2"/>
                </a:cxn>
                <a:cxn ang="10800000">
                  <a:pos x="wd2" y="hd2"/>
                </a:cxn>
                <a:cxn ang="16200000">
                  <a:pos x="wd2" y="hd2"/>
                </a:cxn>
              </a:cxnLst>
              <a:rect l="0" t="0" r="r" b="b"/>
              <a:pathLst>
                <a:path w="21600" h="21600" extrusionOk="0">
                  <a:moveTo>
                    <a:pt x="8606" y="3000"/>
                  </a:moveTo>
                  <a:lnTo>
                    <a:pt x="21600" y="0"/>
                  </a:lnTo>
                  <a:lnTo>
                    <a:pt x="18445" y="10511"/>
                  </a:lnTo>
                  <a:lnTo>
                    <a:pt x="15227" y="21600"/>
                  </a:lnTo>
                  <a:lnTo>
                    <a:pt x="0" y="20686"/>
                  </a:lnTo>
                  <a:lnTo>
                    <a:pt x="8606" y="300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53" name="熊大的PPT宝库1-100"/>
            <p:cNvSpPr/>
            <p:nvPr/>
          </p:nvSpPr>
          <p:spPr>
            <a:xfrm>
              <a:off x="8188702" y="10071227"/>
              <a:ext cx="21543" cy="20151"/>
            </a:xfrm>
            <a:custGeom>
              <a:avLst/>
              <a:gdLst/>
              <a:ahLst/>
              <a:cxnLst>
                <a:cxn ang="0">
                  <a:pos x="wd2" y="hd2"/>
                </a:cxn>
                <a:cxn ang="5400000">
                  <a:pos x="wd2" y="hd2"/>
                </a:cxn>
                <a:cxn ang="10800000">
                  <a:pos x="wd2" y="hd2"/>
                </a:cxn>
                <a:cxn ang="16200000">
                  <a:pos x="wd2" y="hd2"/>
                </a:cxn>
              </a:cxnLst>
              <a:rect l="0" t="0" r="r" b="b"/>
              <a:pathLst>
                <a:path w="21600" h="21600" extrusionOk="0">
                  <a:moveTo>
                    <a:pt x="10494" y="0"/>
                  </a:moveTo>
                  <a:lnTo>
                    <a:pt x="0" y="8708"/>
                  </a:lnTo>
                  <a:lnTo>
                    <a:pt x="11400" y="21600"/>
                  </a:lnTo>
                  <a:lnTo>
                    <a:pt x="21600" y="9737"/>
                  </a:lnTo>
                  <a:lnTo>
                    <a:pt x="10494"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54" name="熊大的PPT宝库1-101"/>
            <p:cNvSpPr/>
            <p:nvPr/>
          </p:nvSpPr>
          <p:spPr>
            <a:xfrm>
              <a:off x="8166472" y="9990882"/>
              <a:ext cx="18834" cy="20358"/>
            </a:xfrm>
            <a:custGeom>
              <a:avLst/>
              <a:gdLst/>
              <a:ahLst/>
              <a:cxnLst>
                <a:cxn ang="0">
                  <a:pos x="wd2" y="hd2"/>
                </a:cxn>
                <a:cxn ang="5400000">
                  <a:pos x="wd2" y="hd2"/>
                </a:cxn>
                <a:cxn ang="10800000">
                  <a:pos x="wd2" y="hd2"/>
                </a:cxn>
                <a:cxn ang="16200000">
                  <a:pos x="wd2" y="hd2"/>
                </a:cxn>
              </a:cxnLst>
              <a:rect l="0" t="0" r="r" b="b"/>
              <a:pathLst>
                <a:path w="21600" h="21600" extrusionOk="0">
                  <a:moveTo>
                    <a:pt x="11886" y="0"/>
                  </a:moveTo>
                  <a:lnTo>
                    <a:pt x="0" y="12052"/>
                  </a:lnTo>
                  <a:lnTo>
                    <a:pt x="10759" y="21600"/>
                  </a:lnTo>
                  <a:lnTo>
                    <a:pt x="21600" y="9540"/>
                  </a:lnTo>
                  <a:lnTo>
                    <a:pt x="11886"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55" name="熊大的PPT宝库1-102"/>
            <p:cNvSpPr/>
            <p:nvPr/>
          </p:nvSpPr>
          <p:spPr>
            <a:xfrm>
              <a:off x="7406051" y="9260961"/>
              <a:ext cx="22347" cy="31175"/>
            </a:xfrm>
            <a:custGeom>
              <a:avLst/>
              <a:gdLst/>
              <a:ahLst/>
              <a:cxnLst>
                <a:cxn ang="0">
                  <a:pos x="wd2" y="hd2"/>
                </a:cxn>
                <a:cxn ang="5400000">
                  <a:pos x="wd2" y="hd2"/>
                </a:cxn>
                <a:cxn ang="10800000">
                  <a:pos x="wd2" y="hd2"/>
                </a:cxn>
                <a:cxn ang="16200000">
                  <a:pos x="wd2" y="hd2"/>
                </a:cxn>
              </a:cxnLst>
              <a:rect l="0" t="0" r="r" b="b"/>
              <a:pathLst>
                <a:path w="21600" h="21600" extrusionOk="0">
                  <a:moveTo>
                    <a:pt x="18226" y="0"/>
                  </a:moveTo>
                  <a:lnTo>
                    <a:pt x="0" y="6738"/>
                  </a:lnTo>
                  <a:lnTo>
                    <a:pt x="6059" y="21600"/>
                  </a:lnTo>
                  <a:lnTo>
                    <a:pt x="21600" y="18596"/>
                  </a:lnTo>
                  <a:lnTo>
                    <a:pt x="18226"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56" name="熊大的PPT宝库1-103"/>
            <p:cNvSpPr/>
            <p:nvPr/>
          </p:nvSpPr>
          <p:spPr>
            <a:xfrm>
              <a:off x="6796121" y="8939503"/>
              <a:ext cx="67222" cy="44468"/>
            </a:xfrm>
            <a:custGeom>
              <a:avLst/>
              <a:gdLst/>
              <a:ahLst/>
              <a:cxnLst>
                <a:cxn ang="0">
                  <a:pos x="wd2" y="hd2"/>
                </a:cxn>
                <a:cxn ang="5400000">
                  <a:pos x="wd2" y="hd2"/>
                </a:cxn>
                <a:cxn ang="10800000">
                  <a:pos x="wd2" y="hd2"/>
                </a:cxn>
                <a:cxn ang="16200000">
                  <a:pos x="wd2" y="hd2"/>
                </a:cxn>
              </a:cxnLst>
              <a:rect l="0" t="0" r="r" b="b"/>
              <a:pathLst>
                <a:path w="21600" h="21600" extrusionOk="0">
                  <a:moveTo>
                    <a:pt x="16119" y="0"/>
                  </a:moveTo>
                  <a:lnTo>
                    <a:pt x="12851" y="4376"/>
                  </a:lnTo>
                  <a:lnTo>
                    <a:pt x="8517" y="6430"/>
                  </a:lnTo>
                  <a:lnTo>
                    <a:pt x="671" y="5939"/>
                  </a:lnTo>
                  <a:lnTo>
                    <a:pt x="0" y="12809"/>
                  </a:lnTo>
                  <a:lnTo>
                    <a:pt x="3338" y="16202"/>
                  </a:lnTo>
                  <a:lnTo>
                    <a:pt x="10189" y="21600"/>
                  </a:lnTo>
                  <a:lnTo>
                    <a:pt x="13007" y="15425"/>
                  </a:lnTo>
                  <a:lnTo>
                    <a:pt x="16167" y="10356"/>
                  </a:lnTo>
                  <a:lnTo>
                    <a:pt x="19327" y="7105"/>
                  </a:lnTo>
                  <a:lnTo>
                    <a:pt x="21600" y="1381"/>
                  </a:lnTo>
                  <a:lnTo>
                    <a:pt x="16119"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57" name="熊大的PPT宝库1-104"/>
            <p:cNvSpPr/>
            <p:nvPr/>
          </p:nvSpPr>
          <p:spPr>
            <a:xfrm>
              <a:off x="5489924" y="7739788"/>
              <a:ext cx="2042366" cy="1189722"/>
            </a:xfrm>
            <a:custGeom>
              <a:avLst/>
              <a:gdLst/>
              <a:ahLst/>
              <a:cxnLst>
                <a:cxn ang="0">
                  <a:pos x="wd2" y="hd2"/>
                </a:cxn>
                <a:cxn ang="5400000">
                  <a:pos x="wd2" y="hd2"/>
                </a:cxn>
                <a:cxn ang="10800000">
                  <a:pos x="wd2" y="hd2"/>
                </a:cxn>
                <a:cxn ang="16200000">
                  <a:pos x="wd2" y="hd2"/>
                </a:cxn>
              </a:cxnLst>
              <a:rect l="0" t="0" r="r" b="b"/>
              <a:pathLst>
                <a:path w="21600" h="21600" extrusionOk="0">
                  <a:moveTo>
                    <a:pt x="20807" y="1150"/>
                  </a:moveTo>
                  <a:lnTo>
                    <a:pt x="20140" y="892"/>
                  </a:lnTo>
                  <a:lnTo>
                    <a:pt x="19827" y="747"/>
                  </a:lnTo>
                  <a:lnTo>
                    <a:pt x="19506" y="542"/>
                  </a:lnTo>
                  <a:lnTo>
                    <a:pt x="19194" y="459"/>
                  </a:lnTo>
                  <a:lnTo>
                    <a:pt x="18976" y="267"/>
                  </a:lnTo>
                  <a:lnTo>
                    <a:pt x="18803" y="212"/>
                  </a:lnTo>
                  <a:lnTo>
                    <a:pt x="18690" y="293"/>
                  </a:lnTo>
                  <a:lnTo>
                    <a:pt x="18482" y="457"/>
                  </a:lnTo>
                  <a:lnTo>
                    <a:pt x="18589" y="626"/>
                  </a:lnTo>
                  <a:lnTo>
                    <a:pt x="18799" y="626"/>
                  </a:lnTo>
                  <a:lnTo>
                    <a:pt x="18944" y="749"/>
                  </a:lnTo>
                  <a:lnTo>
                    <a:pt x="19057" y="799"/>
                  </a:lnTo>
                  <a:lnTo>
                    <a:pt x="19162" y="663"/>
                  </a:lnTo>
                  <a:lnTo>
                    <a:pt x="19282" y="649"/>
                  </a:lnTo>
                  <a:lnTo>
                    <a:pt x="19425" y="814"/>
                  </a:lnTo>
                  <a:lnTo>
                    <a:pt x="19336" y="1164"/>
                  </a:lnTo>
                  <a:lnTo>
                    <a:pt x="19232" y="1314"/>
                  </a:lnTo>
                  <a:lnTo>
                    <a:pt x="19042" y="1149"/>
                  </a:lnTo>
                  <a:lnTo>
                    <a:pt x="18875" y="1149"/>
                  </a:lnTo>
                  <a:lnTo>
                    <a:pt x="18733" y="1250"/>
                  </a:lnTo>
                  <a:lnTo>
                    <a:pt x="18426" y="1346"/>
                  </a:lnTo>
                  <a:lnTo>
                    <a:pt x="18234" y="1428"/>
                  </a:lnTo>
                  <a:lnTo>
                    <a:pt x="18001" y="1483"/>
                  </a:lnTo>
                  <a:lnTo>
                    <a:pt x="17885" y="1455"/>
                  </a:lnTo>
                  <a:lnTo>
                    <a:pt x="17764" y="1282"/>
                  </a:lnTo>
                  <a:lnTo>
                    <a:pt x="17591" y="1204"/>
                  </a:lnTo>
                  <a:lnTo>
                    <a:pt x="17472" y="1218"/>
                  </a:lnTo>
                  <a:lnTo>
                    <a:pt x="17205" y="1314"/>
                  </a:lnTo>
                  <a:lnTo>
                    <a:pt x="16942" y="1479"/>
                  </a:lnTo>
                  <a:lnTo>
                    <a:pt x="16671" y="1671"/>
                  </a:lnTo>
                  <a:lnTo>
                    <a:pt x="16451" y="1882"/>
                  </a:lnTo>
                  <a:lnTo>
                    <a:pt x="16191" y="2147"/>
                  </a:lnTo>
                  <a:lnTo>
                    <a:pt x="16038" y="2203"/>
                  </a:lnTo>
                  <a:lnTo>
                    <a:pt x="15932" y="2029"/>
                  </a:lnTo>
                  <a:lnTo>
                    <a:pt x="15829" y="1988"/>
                  </a:lnTo>
                  <a:lnTo>
                    <a:pt x="15732" y="1892"/>
                  </a:lnTo>
                  <a:lnTo>
                    <a:pt x="15762" y="1710"/>
                  </a:lnTo>
                  <a:lnTo>
                    <a:pt x="15657" y="1417"/>
                  </a:lnTo>
                  <a:lnTo>
                    <a:pt x="15517" y="1390"/>
                  </a:lnTo>
                  <a:lnTo>
                    <a:pt x="15378" y="1390"/>
                  </a:lnTo>
                  <a:lnTo>
                    <a:pt x="15253" y="1481"/>
                  </a:lnTo>
                  <a:lnTo>
                    <a:pt x="15278" y="1641"/>
                  </a:lnTo>
                  <a:lnTo>
                    <a:pt x="15392" y="1819"/>
                  </a:lnTo>
                  <a:lnTo>
                    <a:pt x="15384" y="1998"/>
                  </a:lnTo>
                  <a:lnTo>
                    <a:pt x="15457" y="2135"/>
                  </a:lnTo>
                  <a:lnTo>
                    <a:pt x="15449" y="2313"/>
                  </a:lnTo>
                  <a:lnTo>
                    <a:pt x="15372" y="2418"/>
                  </a:lnTo>
                  <a:lnTo>
                    <a:pt x="15165" y="2528"/>
                  </a:lnTo>
                  <a:lnTo>
                    <a:pt x="14864" y="2652"/>
                  </a:lnTo>
                  <a:lnTo>
                    <a:pt x="14558" y="2802"/>
                  </a:lnTo>
                  <a:lnTo>
                    <a:pt x="14501" y="2964"/>
                  </a:lnTo>
                  <a:lnTo>
                    <a:pt x="14580" y="3129"/>
                  </a:lnTo>
                  <a:lnTo>
                    <a:pt x="14535" y="3260"/>
                  </a:lnTo>
                  <a:lnTo>
                    <a:pt x="14301" y="3357"/>
                  </a:lnTo>
                  <a:lnTo>
                    <a:pt x="14167" y="3571"/>
                  </a:lnTo>
                  <a:lnTo>
                    <a:pt x="14002" y="3383"/>
                  </a:lnTo>
                  <a:lnTo>
                    <a:pt x="13882" y="3233"/>
                  </a:lnTo>
                  <a:lnTo>
                    <a:pt x="13736" y="3151"/>
                  </a:lnTo>
                  <a:lnTo>
                    <a:pt x="13601" y="3165"/>
                  </a:lnTo>
                  <a:lnTo>
                    <a:pt x="13544" y="3303"/>
                  </a:lnTo>
                  <a:lnTo>
                    <a:pt x="13684" y="3412"/>
                  </a:lnTo>
                  <a:lnTo>
                    <a:pt x="13810" y="3412"/>
                  </a:lnTo>
                  <a:lnTo>
                    <a:pt x="13898" y="3509"/>
                  </a:lnTo>
                  <a:lnTo>
                    <a:pt x="13968" y="3600"/>
                  </a:lnTo>
                  <a:lnTo>
                    <a:pt x="14044" y="3723"/>
                  </a:lnTo>
                  <a:lnTo>
                    <a:pt x="13921" y="3938"/>
                  </a:lnTo>
                  <a:lnTo>
                    <a:pt x="13743" y="3952"/>
                  </a:lnTo>
                  <a:lnTo>
                    <a:pt x="13682" y="4102"/>
                  </a:lnTo>
                  <a:lnTo>
                    <a:pt x="13545" y="4125"/>
                  </a:lnTo>
                  <a:lnTo>
                    <a:pt x="13425" y="3918"/>
                  </a:lnTo>
                  <a:lnTo>
                    <a:pt x="13296" y="3768"/>
                  </a:lnTo>
                  <a:lnTo>
                    <a:pt x="13175" y="3714"/>
                  </a:lnTo>
                  <a:lnTo>
                    <a:pt x="13055" y="3663"/>
                  </a:lnTo>
                  <a:lnTo>
                    <a:pt x="12975" y="3430"/>
                  </a:lnTo>
                  <a:lnTo>
                    <a:pt x="12892" y="3238"/>
                  </a:lnTo>
                  <a:lnTo>
                    <a:pt x="12851" y="3047"/>
                  </a:lnTo>
                  <a:lnTo>
                    <a:pt x="12766" y="2877"/>
                  </a:lnTo>
                  <a:lnTo>
                    <a:pt x="12599" y="2739"/>
                  </a:lnTo>
                  <a:lnTo>
                    <a:pt x="12494" y="2631"/>
                  </a:lnTo>
                  <a:lnTo>
                    <a:pt x="12368" y="2420"/>
                  </a:lnTo>
                  <a:lnTo>
                    <a:pt x="12304" y="2245"/>
                  </a:lnTo>
                  <a:lnTo>
                    <a:pt x="12377" y="2017"/>
                  </a:lnTo>
                  <a:lnTo>
                    <a:pt x="12699" y="2003"/>
                  </a:lnTo>
                  <a:cubicBezTo>
                    <a:pt x="12738" y="2035"/>
                    <a:pt x="12777" y="2063"/>
                    <a:pt x="12817" y="2090"/>
                  </a:cubicBezTo>
                  <a:cubicBezTo>
                    <a:pt x="12952" y="2178"/>
                    <a:pt x="13094" y="2236"/>
                    <a:pt x="13239" y="2259"/>
                  </a:cubicBezTo>
                  <a:lnTo>
                    <a:pt x="13399" y="2479"/>
                  </a:lnTo>
                  <a:lnTo>
                    <a:pt x="13603" y="2506"/>
                  </a:lnTo>
                  <a:lnTo>
                    <a:pt x="13797" y="2506"/>
                  </a:lnTo>
                  <a:cubicBezTo>
                    <a:pt x="13873" y="2506"/>
                    <a:pt x="13949" y="2506"/>
                    <a:pt x="14025" y="2506"/>
                  </a:cubicBezTo>
                  <a:cubicBezTo>
                    <a:pt x="14058" y="2506"/>
                    <a:pt x="14090" y="2506"/>
                    <a:pt x="14122" y="2506"/>
                  </a:cubicBezTo>
                  <a:lnTo>
                    <a:pt x="14251" y="2356"/>
                  </a:lnTo>
                  <a:lnTo>
                    <a:pt x="14347" y="2302"/>
                  </a:lnTo>
                  <a:lnTo>
                    <a:pt x="14484" y="2237"/>
                  </a:lnTo>
                  <a:lnTo>
                    <a:pt x="14616" y="2210"/>
                  </a:lnTo>
                  <a:lnTo>
                    <a:pt x="14613" y="2040"/>
                  </a:lnTo>
                  <a:lnTo>
                    <a:pt x="14460" y="1889"/>
                  </a:lnTo>
                  <a:lnTo>
                    <a:pt x="14355" y="1605"/>
                  </a:lnTo>
                  <a:cubicBezTo>
                    <a:pt x="14271" y="1573"/>
                    <a:pt x="14188" y="1533"/>
                    <a:pt x="14107" y="1486"/>
                  </a:cubicBezTo>
                  <a:cubicBezTo>
                    <a:pt x="14008" y="1428"/>
                    <a:pt x="13911" y="1359"/>
                    <a:pt x="13817" y="1279"/>
                  </a:cubicBezTo>
                  <a:lnTo>
                    <a:pt x="13451" y="1078"/>
                  </a:lnTo>
                  <a:lnTo>
                    <a:pt x="13212" y="945"/>
                  </a:lnTo>
                  <a:lnTo>
                    <a:pt x="12842" y="766"/>
                  </a:lnTo>
                  <a:lnTo>
                    <a:pt x="12603" y="849"/>
                  </a:lnTo>
                  <a:lnTo>
                    <a:pt x="12436" y="968"/>
                  </a:lnTo>
                  <a:lnTo>
                    <a:pt x="12291" y="899"/>
                  </a:lnTo>
                  <a:lnTo>
                    <a:pt x="12112" y="639"/>
                  </a:lnTo>
                  <a:lnTo>
                    <a:pt x="11879" y="402"/>
                  </a:lnTo>
                  <a:lnTo>
                    <a:pt x="11669" y="320"/>
                  </a:lnTo>
                  <a:lnTo>
                    <a:pt x="11486" y="252"/>
                  </a:lnTo>
                  <a:lnTo>
                    <a:pt x="11279" y="156"/>
                  </a:lnTo>
                  <a:lnTo>
                    <a:pt x="11086" y="73"/>
                  </a:lnTo>
                  <a:lnTo>
                    <a:pt x="10931" y="18"/>
                  </a:lnTo>
                  <a:lnTo>
                    <a:pt x="10715" y="114"/>
                  </a:lnTo>
                  <a:lnTo>
                    <a:pt x="10556" y="192"/>
                  </a:lnTo>
                  <a:lnTo>
                    <a:pt x="10395" y="137"/>
                  </a:lnTo>
                  <a:lnTo>
                    <a:pt x="10285" y="82"/>
                  </a:lnTo>
                  <a:lnTo>
                    <a:pt x="10146" y="27"/>
                  </a:lnTo>
                  <a:lnTo>
                    <a:pt x="10010" y="0"/>
                  </a:lnTo>
                  <a:lnTo>
                    <a:pt x="9706" y="83"/>
                  </a:lnTo>
                  <a:lnTo>
                    <a:pt x="9387" y="184"/>
                  </a:lnTo>
                  <a:lnTo>
                    <a:pt x="8981" y="564"/>
                  </a:lnTo>
                  <a:lnTo>
                    <a:pt x="8797" y="728"/>
                  </a:lnTo>
                  <a:lnTo>
                    <a:pt x="8584" y="783"/>
                  </a:lnTo>
                  <a:lnTo>
                    <a:pt x="8320" y="915"/>
                  </a:lnTo>
                  <a:lnTo>
                    <a:pt x="8160" y="996"/>
                  </a:lnTo>
                  <a:lnTo>
                    <a:pt x="7967" y="1147"/>
                  </a:lnTo>
                  <a:lnTo>
                    <a:pt x="7886" y="1297"/>
                  </a:lnTo>
                  <a:lnTo>
                    <a:pt x="7888" y="1470"/>
                  </a:lnTo>
                  <a:lnTo>
                    <a:pt x="7855" y="1675"/>
                  </a:lnTo>
                  <a:lnTo>
                    <a:pt x="7776" y="1784"/>
                  </a:lnTo>
                  <a:lnTo>
                    <a:pt x="7655" y="1839"/>
                  </a:lnTo>
                  <a:lnTo>
                    <a:pt x="7530" y="1894"/>
                  </a:lnTo>
                  <a:lnTo>
                    <a:pt x="7376" y="2183"/>
                  </a:lnTo>
                  <a:lnTo>
                    <a:pt x="7276" y="2430"/>
                  </a:lnTo>
                  <a:lnTo>
                    <a:pt x="7123" y="2673"/>
                  </a:lnTo>
                  <a:lnTo>
                    <a:pt x="7099" y="2824"/>
                  </a:lnTo>
                  <a:lnTo>
                    <a:pt x="7051" y="3056"/>
                  </a:lnTo>
                  <a:lnTo>
                    <a:pt x="6924" y="3316"/>
                  </a:lnTo>
                  <a:lnTo>
                    <a:pt x="6795" y="3550"/>
                  </a:lnTo>
                  <a:lnTo>
                    <a:pt x="6610" y="3688"/>
                  </a:lnTo>
                  <a:lnTo>
                    <a:pt x="6375" y="3930"/>
                  </a:lnTo>
                  <a:lnTo>
                    <a:pt x="6295" y="4053"/>
                  </a:lnTo>
                  <a:lnTo>
                    <a:pt x="6207" y="4241"/>
                  </a:lnTo>
                  <a:lnTo>
                    <a:pt x="6072" y="4323"/>
                  </a:lnTo>
                  <a:lnTo>
                    <a:pt x="5796" y="4429"/>
                  </a:lnTo>
                  <a:lnTo>
                    <a:pt x="5615" y="4524"/>
                  </a:lnTo>
                  <a:lnTo>
                    <a:pt x="5511" y="4647"/>
                  </a:lnTo>
                  <a:lnTo>
                    <a:pt x="5386" y="4780"/>
                  </a:lnTo>
                  <a:lnTo>
                    <a:pt x="5249" y="4999"/>
                  </a:lnTo>
                  <a:lnTo>
                    <a:pt x="5158" y="5155"/>
                  </a:lnTo>
                  <a:lnTo>
                    <a:pt x="5088" y="5329"/>
                  </a:lnTo>
                  <a:lnTo>
                    <a:pt x="5065" y="5480"/>
                  </a:lnTo>
                  <a:lnTo>
                    <a:pt x="5065" y="5754"/>
                  </a:lnTo>
                  <a:lnTo>
                    <a:pt x="5089" y="5900"/>
                  </a:lnTo>
                  <a:lnTo>
                    <a:pt x="5118" y="6123"/>
                  </a:lnTo>
                  <a:lnTo>
                    <a:pt x="5094" y="6315"/>
                  </a:lnTo>
                  <a:lnTo>
                    <a:pt x="5118" y="6590"/>
                  </a:lnTo>
                  <a:lnTo>
                    <a:pt x="5312" y="6948"/>
                  </a:lnTo>
                  <a:lnTo>
                    <a:pt x="5497" y="7278"/>
                  </a:lnTo>
                  <a:lnTo>
                    <a:pt x="5698" y="7360"/>
                  </a:lnTo>
                  <a:lnTo>
                    <a:pt x="6010" y="7347"/>
                  </a:lnTo>
                  <a:lnTo>
                    <a:pt x="6179" y="7123"/>
                  </a:lnTo>
                  <a:lnTo>
                    <a:pt x="6421" y="6806"/>
                  </a:lnTo>
                  <a:lnTo>
                    <a:pt x="6673" y="6770"/>
                  </a:lnTo>
                  <a:lnTo>
                    <a:pt x="6722" y="7029"/>
                  </a:lnTo>
                  <a:lnTo>
                    <a:pt x="6859" y="7341"/>
                  </a:lnTo>
                  <a:lnTo>
                    <a:pt x="6923" y="7657"/>
                  </a:lnTo>
                  <a:lnTo>
                    <a:pt x="7026" y="7817"/>
                  </a:lnTo>
                  <a:lnTo>
                    <a:pt x="7026" y="8065"/>
                  </a:lnTo>
                  <a:lnTo>
                    <a:pt x="7034" y="8312"/>
                  </a:lnTo>
                  <a:lnTo>
                    <a:pt x="7120" y="8458"/>
                  </a:lnTo>
                  <a:lnTo>
                    <a:pt x="7192" y="8650"/>
                  </a:lnTo>
                  <a:lnTo>
                    <a:pt x="7493" y="8925"/>
                  </a:lnTo>
                  <a:lnTo>
                    <a:pt x="7581" y="8833"/>
                  </a:lnTo>
                  <a:lnTo>
                    <a:pt x="7850" y="8512"/>
                  </a:lnTo>
                  <a:lnTo>
                    <a:pt x="7962" y="8471"/>
                  </a:lnTo>
                  <a:lnTo>
                    <a:pt x="8086" y="8224"/>
                  </a:lnTo>
                  <a:lnTo>
                    <a:pt x="8142" y="7954"/>
                  </a:lnTo>
                  <a:lnTo>
                    <a:pt x="8118" y="7546"/>
                  </a:lnTo>
                  <a:lnTo>
                    <a:pt x="8183" y="7331"/>
                  </a:lnTo>
                  <a:lnTo>
                    <a:pt x="8408" y="7069"/>
                  </a:lnTo>
                  <a:lnTo>
                    <a:pt x="8596" y="6868"/>
                  </a:lnTo>
                  <a:lnTo>
                    <a:pt x="8782" y="6652"/>
                  </a:lnTo>
                  <a:lnTo>
                    <a:pt x="8870" y="6378"/>
                  </a:lnTo>
                  <a:lnTo>
                    <a:pt x="8870" y="6199"/>
                  </a:lnTo>
                  <a:lnTo>
                    <a:pt x="8675" y="6099"/>
                  </a:lnTo>
                  <a:lnTo>
                    <a:pt x="8400" y="5782"/>
                  </a:lnTo>
                  <a:cubicBezTo>
                    <a:pt x="8345" y="5725"/>
                    <a:pt x="8303" y="5638"/>
                    <a:pt x="8280" y="5535"/>
                  </a:cubicBezTo>
                  <a:cubicBezTo>
                    <a:pt x="8253" y="5415"/>
                    <a:pt x="8255" y="5284"/>
                    <a:pt x="8280" y="5163"/>
                  </a:cubicBezTo>
                  <a:cubicBezTo>
                    <a:pt x="8308" y="5024"/>
                    <a:pt x="8366" y="4907"/>
                    <a:pt x="8441" y="4834"/>
                  </a:cubicBezTo>
                  <a:cubicBezTo>
                    <a:pt x="8456" y="4723"/>
                    <a:pt x="8474" y="4613"/>
                    <a:pt x="8494" y="4505"/>
                  </a:cubicBezTo>
                  <a:cubicBezTo>
                    <a:pt x="8510" y="4424"/>
                    <a:pt x="8527" y="4342"/>
                    <a:pt x="8558" y="4276"/>
                  </a:cubicBezTo>
                  <a:cubicBezTo>
                    <a:pt x="8643" y="4100"/>
                    <a:pt x="8795" y="4075"/>
                    <a:pt x="8897" y="4221"/>
                  </a:cubicBezTo>
                  <a:cubicBezTo>
                    <a:pt x="8958" y="4155"/>
                    <a:pt x="9013" y="4077"/>
                    <a:pt x="9061" y="3987"/>
                  </a:cubicBezTo>
                  <a:cubicBezTo>
                    <a:pt x="9136" y="3848"/>
                    <a:pt x="9193" y="3684"/>
                    <a:pt x="9260" y="3534"/>
                  </a:cubicBezTo>
                  <a:cubicBezTo>
                    <a:pt x="9306" y="3430"/>
                    <a:pt x="9356" y="3332"/>
                    <a:pt x="9405" y="3232"/>
                  </a:cubicBezTo>
                  <a:cubicBezTo>
                    <a:pt x="9452" y="3137"/>
                    <a:pt x="9497" y="3041"/>
                    <a:pt x="9542" y="2943"/>
                  </a:cubicBezTo>
                  <a:lnTo>
                    <a:pt x="9832" y="2723"/>
                  </a:lnTo>
                  <a:lnTo>
                    <a:pt x="9993" y="2545"/>
                  </a:lnTo>
                  <a:lnTo>
                    <a:pt x="10111" y="2705"/>
                  </a:lnTo>
                  <a:lnTo>
                    <a:pt x="10183" y="2884"/>
                  </a:lnTo>
                  <a:lnTo>
                    <a:pt x="10183" y="3144"/>
                  </a:lnTo>
                  <a:lnTo>
                    <a:pt x="10098" y="3332"/>
                  </a:lnTo>
                  <a:lnTo>
                    <a:pt x="10098" y="3689"/>
                  </a:lnTo>
                  <a:lnTo>
                    <a:pt x="10082" y="3859"/>
                  </a:lnTo>
                  <a:lnTo>
                    <a:pt x="9930" y="3957"/>
                  </a:lnTo>
                  <a:lnTo>
                    <a:pt x="9906" y="4204"/>
                  </a:lnTo>
                  <a:lnTo>
                    <a:pt x="9849" y="4492"/>
                  </a:lnTo>
                  <a:lnTo>
                    <a:pt x="9683" y="4633"/>
                  </a:lnTo>
                  <a:lnTo>
                    <a:pt x="9586" y="4780"/>
                  </a:lnTo>
                  <a:lnTo>
                    <a:pt x="9482" y="5082"/>
                  </a:lnTo>
                  <a:lnTo>
                    <a:pt x="9514" y="5403"/>
                  </a:lnTo>
                  <a:lnTo>
                    <a:pt x="9716" y="5586"/>
                  </a:lnTo>
                  <a:cubicBezTo>
                    <a:pt x="9796" y="5549"/>
                    <a:pt x="9881" y="5586"/>
                    <a:pt x="9941" y="5682"/>
                  </a:cubicBezTo>
                  <a:cubicBezTo>
                    <a:pt x="9990" y="5760"/>
                    <a:pt x="10017" y="5871"/>
                    <a:pt x="10065" y="5951"/>
                  </a:cubicBezTo>
                  <a:cubicBezTo>
                    <a:pt x="10132" y="6062"/>
                    <a:pt x="10229" y="6103"/>
                    <a:pt x="10318" y="6056"/>
                  </a:cubicBezTo>
                  <a:lnTo>
                    <a:pt x="10508" y="6070"/>
                  </a:lnTo>
                  <a:lnTo>
                    <a:pt x="10731" y="6002"/>
                  </a:lnTo>
                  <a:lnTo>
                    <a:pt x="10946" y="5851"/>
                  </a:lnTo>
                  <a:lnTo>
                    <a:pt x="11105" y="5786"/>
                  </a:lnTo>
                  <a:lnTo>
                    <a:pt x="11391" y="5848"/>
                  </a:lnTo>
                  <a:lnTo>
                    <a:pt x="11503" y="6039"/>
                  </a:lnTo>
                  <a:lnTo>
                    <a:pt x="11785" y="6094"/>
                  </a:lnTo>
                  <a:lnTo>
                    <a:pt x="11854" y="6226"/>
                  </a:lnTo>
                  <a:lnTo>
                    <a:pt x="11801" y="6390"/>
                  </a:lnTo>
                  <a:lnTo>
                    <a:pt x="11600" y="6542"/>
                  </a:lnTo>
                  <a:lnTo>
                    <a:pt x="11427" y="6730"/>
                  </a:lnTo>
                  <a:lnTo>
                    <a:pt x="11242" y="6739"/>
                  </a:lnTo>
                  <a:lnTo>
                    <a:pt x="11084" y="6698"/>
                  </a:lnTo>
                  <a:lnTo>
                    <a:pt x="10942" y="6629"/>
                  </a:lnTo>
                  <a:lnTo>
                    <a:pt x="10752" y="6588"/>
                  </a:lnTo>
                  <a:lnTo>
                    <a:pt x="10578" y="6629"/>
                  </a:lnTo>
                  <a:lnTo>
                    <a:pt x="10435" y="6670"/>
                  </a:lnTo>
                  <a:lnTo>
                    <a:pt x="10291" y="6748"/>
                  </a:lnTo>
                  <a:lnTo>
                    <a:pt x="10218" y="6936"/>
                  </a:lnTo>
                  <a:lnTo>
                    <a:pt x="10315" y="7045"/>
                  </a:lnTo>
                  <a:lnTo>
                    <a:pt x="10580" y="7535"/>
                  </a:lnTo>
                  <a:lnTo>
                    <a:pt x="10580" y="7737"/>
                  </a:lnTo>
                  <a:lnTo>
                    <a:pt x="10500" y="7925"/>
                  </a:lnTo>
                  <a:lnTo>
                    <a:pt x="10333" y="8021"/>
                  </a:lnTo>
                  <a:lnTo>
                    <a:pt x="10285" y="8145"/>
                  </a:lnTo>
                  <a:lnTo>
                    <a:pt x="10181" y="8076"/>
                  </a:lnTo>
                  <a:lnTo>
                    <a:pt x="10133" y="7815"/>
                  </a:lnTo>
                  <a:lnTo>
                    <a:pt x="10012" y="7706"/>
                  </a:lnTo>
                  <a:lnTo>
                    <a:pt x="9771" y="7733"/>
                  </a:lnTo>
                  <a:lnTo>
                    <a:pt x="9701" y="7811"/>
                  </a:lnTo>
                  <a:lnTo>
                    <a:pt x="9701" y="8017"/>
                  </a:lnTo>
                  <a:lnTo>
                    <a:pt x="9581" y="8163"/>
                  </a:lnTo>
                  <a:lnTo>
                    <a:pt x="9597" y="8488"/>
                  </a:lnTo>
                  <a:lnTo>
                    <a:pt x="9637" y="8686"/>
                  </a:lnTo>
                  <a:lnTo>
                    <a:pt x="9693" y="8944"/>
                  </a:lnTo>
                  <a:lnTo>
                    <a:pt x="9588" y="9131"/>
                  </a:lnTo>
                  <a:lnTo>
                    <a:pt x="9435" y="9310"/>
                  </a:lnTo>
                  <a:lnTo>
                    <a:pt x="9298" y="9530"/>
                  </a:lnTo>
                  <a:lnTo>
                    <a:pt x="9180" y="9627"/>
                  </a:lnTo>
                  <a:lnTo>
                    <a:pt x="9092" y="9735"/>
                  </a:lnTo>
                  <a:lnTo>
                    <a:pt x="8983" y="9736"/>
                  </a:lnTo>
                  <a:cubicBezTo>
                    <a:pt x="8962" y="9703"/>
                    <a:pt x="8942" y="9671"/>
                    <a:pt x="8921" y="9640"/>
                  </a:cubicBezTo>
                  <a:cubicBezTo>
                    <a:pt x="8891" y="9595"/>
                    <a:pt x="8861" y="9551"/>
                    <a:pt x="8830" y="9508"/>
                  </a:cubicBezTo>
                  <a:lnTo>
                    <a:pt x="8564" y="9467"/>
                  </a:lnTo>
                  <a:lnTo>
                    <a:pt x="8300" y="9659"/>
                  </a:lnTo>
                  <a:lnTo>
                    <a:pt x="7986" y="9865"/>
                  </a:lnTo>
                  <a:lnTo>
                    <a:pt x="7905" y="9974"/>
                  </a:lnTo>
                  <a:lnTo>
                    <a:pt x="7739" y="10070"/>
                  </a:lnTo>
                  <a:lnTo>
                    <a:pt x="7634" y="10001"/>
                  </a:lnTo>
                  <a:lnTo>
                    <a:pt x="7465" y="9864"/>
                  </a:lnTo>
                  <a:lnTo>
                    <a:pt x="7314" y="9781"/>
                  </a:lnTo>
                  <a:lnTo>
                    <a:pt x="7226" y="9644"/>
                  </a:lnTo>
                  <a:lnTo>
                    <a:pt x="7149" y="9740"/>
                  </a:lnTo>
                  <a:lnTo>
                    <a:pt x="6975" y="9746"/>
                  </a:lnTo>
                  <a:lnTo>
                    <a:pt x="6769" y="9966"/>
                  </a:lnTo>
                  <a:lnTo>
                    <a:pt x="6586" y="9828"/>
                  </a:lnTo>
                  <a:lnTo>
                    <a:pt x="6498" y="9655"/>
                  </a:lnTo>
                  <a:lnTo>
                    <a:pt x="6359" y="9499"/>
                  </a:lnTo>
                  <a:lnTo>
                    <a:pt x="6246" y="9210"/>
                  </a:lnTo>
                  <a:lnTo>
                    <a:pt x="6332" y="9059"/>
                  </a:lnTo>
                  <a:lnTo>
                    <a:pt x="6468" y="9059"/>
                  </a:lnTo>
                  <a:lnTo>
                    <a:pt x="6436" y="9269"/>
                  </a:lnTo>
                  <a:lnTo>
                    <a:pt x="6594" y="9356"/>
                  </a:lnTo>
                  <a:lnTo>
                    <a:pt x="6642" y="9122"/>
                  </a:lnTo>
                  <a:lnTo>
                    <a:pt x="6779" y="9264"/>
                  </a:lnTo>
                  <a:lnTo>
                    <a:pt x="6939" y="9386"/>
                  </a:lnTo>
                  <a:lnTo>
                    <a:pt x="7020" y="9181"/>
                  </a:lnTo>
                  <a:lnTo>
                    <a:pt x="7095" y="8939"/>
                  </a:lnTo>
                  <a:lnTo>
                    <a:pt x="7009" y="8646"/>
                  </a:lnTo>
                  <a:lnTo>
                    <a:pt x="6883" y="8491"/>
                  </a:lnTo>
                  <a:lnTo>
                    <a:pt x="6741" y="8555"/>
                  </a:lnTo>
                  <a:lnTo>
                    <a:pt x="6645" y="8802"/>
                  </a:lnTo>
                  <a:lnTo>
                    <a:pt x="6668" y="8966"/>
                  </a:lnTo>
                  <a:lnTo>
                    <a:pt x="6572" y="8980"/>
                  </a:lnTo>
                  <a:lnTo>
                    <a:pt x="6524" y="8733"/>
                  </a:lnTo>
                  <a:lnTo>
                    <a:pt x="6425" y="8870"/>
                  </a:lnTo>
                  <a:lnTo>
                    <a:pt x="6282" y="8896"/>
                  </a:lnTo>
                  <a:lnTo>
                    <a:pt x="6298" y="8622"/>
                  </a:lnTo>
                  <a:lnTo>
                    <a:pt x="6338" y="8473"/>
                  </a:lnTo>
                  <a:lnTo>
                    <a:pt x="6394" y="8309"/>
                  </a:lnTo>
                  <a:lnTo>
                    <a:pt x="6394" y="7953"/>
                  </a:lnTo>
                  <a:lnTo>
                    <a:pt x="6380" y="7651"/>
                  </a:lnTo>
                  <a:lnTo>
                    <a:pt x="6254" y="7719"/>
                  </a:lnTo>
                  <a:lnTo>
                    <a:pt x="6189" y="7989"/>
                  </a:lnTo>
                  <a:lnTo>
                    <a:pt x="6096" y="8126"/>
                  </a:lnTo>
                  <a:lnTo>
                    <a:pt x="5932" y="8300"/>
                  </a:lnTo>
                  <a:lnTo>
                    <a:pt x="5836" y="8520"/>
                  </a:lnTo>
                  <a:lnTo>
                    <a:pt x="5819" y="8717"/>
                  </a:lnTo>
                  <a:lnTo>
                    <a:pt x="5921" y="8917"/>
                  </a:lnTo>
                  <a:lnTo>
                    <a:pt x="5974" y="9081"/>
                  </a:lnTo>
                  <a:lnTo>
                    <a:pt x="5934" y="9324"/>
                  </a:lnTo>
                  <a:lnTo>
                    <a:pt x="6004" y="9512"/>
                  </a:lnTo>
                  <a:lnTo>
                    <a:pt x="6235" y="9416"/>
                  </a:lnTo>
                  <a:lnTo>
                    <a:pt x="6253" y="9581"/>
                  </a:lnTo>
                  <a:lnTo>
                    <a:pt x="6088" y="9704"/>
                  </a:lnTo>
                  <a:lnTo>
                    <a:pt x="6016" y="9787"/>
                  </a:lnTo>
                  <a:lnTo>
                    <a:pt x="5983" y="10057"/>
                  </a:lnTo>
                  <a:lnTo>
                    <a:pt x="5865" y="10144"/>
                  </a:lnTo>
                  <a:lnTo>
                    <a:pt x="5664" y="10172"/>
                  </a:lnTo>
                  <a:lnTo>
                    <a:pt x="5506" y="10172"/>
                  </a:lnTo>
                  <a:lnTo>
                    <a:pt x="5370" y="10240"/>
                  </a:lnTo>
                  <a:lnTo>
                    <a:pt x="5273" y="10337"/>
                  </a:lnTo>
                  <a:lnTo>
                    <a:pt x="5101" y="10364"/>
                  </a:lnTo>
                  <a:lnTo>
                    <a:pt x="5002" y="10364"/>
                  </a:lnTo>
                  <a:lnTo>
                    <a:pt x="4982" y="10538"/>
                  </a:lnTo>
                  <a:lnTo>
                    <a:pt x="4867" y="10739"/>
                  </a:lnTo>
                  <a:lnTo>
                    <a:pt x="4738" y="10945"/>
                  </a:lnTo>
                  <a:lnTo>
                    <a:pt x="4563" y="11169"/>
                  </a:lnTo>
                  <a:lnTo>
                    <a:pt x="4385" y="11316"/>
                  </a:lnTo>
                  <a:lnTo>
                    <a:pt x="4328" y="11463"/>
                  </a:lnTo>
                  <a:lnTo>
                    <a:pt x="4152" y="11706"/>
                  </a:lnTo>
                  <a:lnTo>
                    <a:pt x="4065" y="11719"/>
                  </a:lnTo>
                  <a:lnTo>
                    <a:pt x="3934" y="11751"/>
                  </a:lnTo>
                  <a:lnTo>
                    <a:pt x="3849" y="11911"/>
                  </a:lnTo>
                  <a:lnTo>
                    <a:pt x="3781" y="12158"/>
                  </a:lnTo>
                  <a:lnTo>
                    <a:pt x="3725" y="12255"/>
                  </a:lnTo>
                  <a:lnTo>
                    <a:pt x="3603" y="12585"/>
                  </a:lnTo>
                  <a:lnTo>
                    <a:pt x="3316" y="12676"/>
                  </a:lnTo>
                  <a:lnTo>
                    <a:pt x="3265" y="12951"/>
                  </a:lnTo>
                  <a:lnTo>
                    <a:pt x="3134" y="12987"/>
                  </a:lnTo>
                  <a:lnTo>
                    <a:pt x="3035" y="12919"/>
                  </a:lnTo>
                  <a:lnTo>
                    <a:pt x="2939" y="12754"/>
                  </a:lnTo>
                  <a:cubicBezTo>
                    <a:pt x="2886" y="12812"/>
                    <a:pt x="2837" y="12876"/>
                    <a:pt x="2790" y="12947"/>
                  </a:cubicBezTo>
                  <a:cubicBezTo>
                    <a:pt x="2744" y="13015"/>
                    <a:pt x="2702" y="13088"/>
                    <a:pt x="2663" y="13166"/>
                  </a:cubicBezTo>
                  <a:lnTo>
                    <a:pt x="2511" y="13235"/>
                  </a:lnTo>
                  <a:lnTo>
                    <a:pt x="2334" y="13327"/>
                  </a:lnTo>
                  <a:lnTo>
                    <a:pt x="2256" y="13258"/>
                  </a:lnTo>
                  <a:lnTo>
                    <a:pt x="2079" y="13176"/>
                  </a:lnTo>
                  <a:lnTo>
                    <a:pt x="1886" y="13313"/>
                  </a:lnTo>
                  <a:lnTo>
                    <a:pt x="1701" y="13451"/>
                  </a:lnTo>
                  <a:lnTo>
                    <a:pt x="1776" y="13589"/>
                  </a:lnTo>
                  <a:lnTo>
                    <a:pt x="1890" y="13693"/>
                  </a:lnTo>
                  <a:lnTo>
                    <a:pt x="2105" y="13776"/>
                  </a:lnTo>
                  <a:lnTo>
                    <a:pt x="2379" y="13955"/>
                  </a:lnTo>
                  <a:lnTo>
                    <a:pt x="2554" y="14129"/>
                  </a:lnTo>
                  <a:lnTo>
                    <a:pt x="2659" y="14413"/>
                  </a:lnTo>
                  <a:lnTo>
                    <a:pt x="2704" y="14587"/>
                  </a:lnTo>
                  <a:lnTo>
                    <a:pt x="2768" y="14861"/>
                  </a:lnTo>
                  <a:lnTo>
                    <a:pt x="2792" y="15475"/>
                  </a:lnTo>
                  <a:lnTo>
                    <a:pt x="2771" y="15814"/>
                  </a:lnTo>
                  <a:cubicBezTo>
                    <a:pt x="2745" y="15996"/>
                    <a:pt x="2708" y="16172"/>
                    <a:pt x="2661" y="16341"/>
                  </a:cubicBezTo>
                  <a:cubicBezTo>
                    <a:pt x="2629" y="16460"/>
                    <a:pt x="2591" y="16574"/>
                    <a:pt x="2549" y="16684"/>
                  </a:cubicBezTo>
                  <a:lnTo>
                    <a:pt x="2342" y="16817"/>
                  </a:lnTo>
                  <a:lnTo>
                    <a:pt x="2030" y="16830"/>
                  </a:lnTo>
                  <a:lnTo>
                    <a:pt x="1856" y="16830"/>
                  </a:lnTo>
                  <a:lnTo>
                    <a:pt x="1549" y="16804"/>
                  </a:lnTo>
                  <a:lnTo>
                    <a:pt x="1329" y="16707"/>
                  </a:lnTo>
                  <a:lnTo>
                    <a:pt x="970" y="16537"/>
                  </a:lnTo>
                  <a:lnTo>
                    <a:pt x="739" y="16469"/>
                  </a:lnTo>
                  <a:lnTo>
                    <a:pt x="478" y="16547"/>
                  </a:lnTo>
                  <a:lnTo>
                    <a:pt x="293" y="16647"/>
                  </a:lnTo>
                  <a:lnTo>
                    <a:pt x="164" y="17042"/>
                  </a:lnTo>
                  <a:lnTo>
                    <a:pt x="199" y="17371"/>
                  </a:lnTo>
                  <a:lnTo>
                    <a:pt x="231" y="17765"/>
                  </a:lnTo>
                  <a:lnTo>
                    <a:pt x="199" y="18217"/>
                  </a:lnTo>
                  <a:lnTo>
                    <a:pt x="86" y="18602"/>
                  </a:lnTo>
                  <a:lnTo>
                    <a:pt x="24" y="19028"/>
                  </a:lnTo>
                  <a:lnTo>
                    <a:pt x="0" y="19390"/>
                  </a:lnTo>
                  <a:lnTo>
                    <a:pt x="32" y="19623"/>
                  </a:lnTo>
                  <a:lnTo>
                    <a:pt x="105" y="19880"/>
                  </a:lnTo>
                  <a:lnTo>
                    <a:pt x="97" y="20137"/>
                  </a:lnTo>
                  <a:lnTo>
                    <a:pt x="40" y="20343"/>
                  </a:lnTo>
                  <a:lnTo>
                    <a:pt x="81" y="20612"/>
                  </a:lnTo>
                  <a:lnTo>
                    <a:pt x="245" y="20708"/>
                  </a:lnTo>
                  <a:lnTo>
                    <a:pt x="417" y="20644"/>
                  </a:lnTo>
                  <a:lnTo>
                    <a:pt x="624" y="20794"/>
                  </a:lnTo>
                  <a:lnTo>
                    <a:pt x="693" y="20881"/>
                  </a:lnTo>
                  <a:lnTo>
                    <a:pt x="1007" y="21211"/>
                  </a:lnTo>
                  <a:lnTo>
                    <a:pt x="1064" y="21408"/>
                  </a:lnTo>
                  <a:lnTo>
                    <a:pt x="1160" y="21436"/>
                  </a:lnTo>
                  <a:lnTo>
                    <a:pt x="1241" y="21600"/>
                  </a:lnTo>
                  <a:lnTo>
                    <a:pt x="1286" y="21437"/>
                  </a:lnTo>
                  <a:lnTo>
                    <a:pt x="1286" y="21236"/>
                  </a:lnTo>
                  <a:lnTo>
                    <a:pt x="1358" y="21119"/>
                  </a:lnTo>
                  <a:lnTo>
                    <a:pt x="1562" y="21092"/>
                  </a:lnTo>
                  <a:lnTo>
                    <a:pt x="1667" y="21105"/>
                  </a:lnTo>
                  <a:cubicBezTo>
                    <a:pt x="1731" y="21119"/>
                    <a:pt x="1796" y="21128"/>
                    <a:pt x="1860" y="21133"/>
                  </a:cubicBezTo>
                  <a:cubicBezTo>
                    <a:pt x="1936" y="21139"/>
                    <a:pt x="2011" y="21139"/>
                    <a:pt x="2086" y="21133"/>
                  </a:cubicBezTo>
                  <a:lnTo>
                    <a:pt x="2247" y="21051"/>
                  </a:lnTo>
                  <a:lnTo>
                    <a:pt x="2333" y="20941"/>
                  </a:lnTo>
                  <a:lnTo>
                    <a:pt x="2422" y="20693"/>
                  </a:lnTo>
                  <a:lnTo>
                    <a:pt x="2519" y="20556"/>
                  </a:lnTo>
                  <a:lnTo>
                    <a:pt x="2655" y="20387"/>
                  </a:lnTo>
                  <a:lnTo>
                    <a:pt x="2784" y="20214"/>
                  </a:lnTo>
                  <a:lnTo>
                    <a:pt x="2897" y="20063"/>
                  </a:lnTo>
                  <a:lnTo>
                    <a:pt x="2921" y="19885"/>
                  </a:lnTo>
                  <a:lnTo>
                    <a:pt x="2921" y="19541"/>
                  </a:lnTo>
                  <a:lnTo>
                    <a:pt x="2969" y="19349"/>
                  </a:lnTo>
                  <a:lnTo>
                    <a:pt x="3039" y="19161"/>
                  </a:lnTo>
                  <a:lnTo>
                    <a:pt x="3241" y="18748"/>
                  </a:lnTo>
                  <a:lnTo>
                    <a:pt x="3257" y="18515"/>
                  </a:lnTo>
                  <a:cubicBezTo>
                    <a:pt x="3267" y="18464"/>
                    <a:pt x="3283" y="18417"/>
                    <a:pt x="3305" y="18379"/>
                  </a:cubicBezTo>
                  <a:cubicBezTo>
                    <a:pt x="3367" y="18269"/>
                    <a:pt x="3459" y="18240"/>
                    <a:pt x="3541" y="18187"/>
                  </a:cubicBezTo>
                  <a:cubicBezTo>
                    <a:pt x="3616" y="18139"/>
                    <a:pt x="3685" y="18071"/>
                    <a:pt x="3745" y="17985"/>
                  </a:cubicBezTo>
                  <a:lnTo>
                    <a:pt x="3923" y="17728"/>
                  </a:lnTo>
                  <a:lnTo>
                    <a:pt x="4081" y="17581"/>
                  </a:lnTo>
                  <a:lnTo>
                    <a:pt x="4167" y="17554"/>
                  </a:lnTo>
                  <a:lnTo>
                    <a:pt x="4059" y="17247"/>
                  </a:lnTo>
                  <a:lnTo>
                    <a:pt x="3955" y="17261"/>
                  </a:lnTo>
                  <a:lnTo>
                    <a:pt x="3938" y="16973"/>
                  </a:lnTo>
                  <a:lnTo>
                    <a:pt x="4118" y="16859"/>
                  </a:lnTo>
                  <a:lnTo>
                    <a:pt x="4354" y="16726"/>
                  </a:lnTo>
                  <a:lnTo>
                    <a:pt x="4432" y="16658"/>
                  </a:lnTo>
                  <a:lnTo>
                    <a:pt x="4620" y="16554"/>
                  </a:lnTo>
                  <a:lnTo>
                    <a:pt x="4738" y="16663"/>
                  </a:lnTo>
                  <a:lnTo>
                    <a:pt x="4945" y="16842"/>
                  </a:lnTo>
                  <a:lnTo>
                    <a:pt x="5057" y="16801"/>
                  </a:lnTo>
                  <a:lnTo>
                    <a:pt x="5270" y="16614"/>
                  </a:lnTo>
                  <a:cubicBezTo>
                    <a:pt x="5348" y="16588"/>
                    <a:pt x="5424" y="16547"/>
                    <a:pt x="5495" y="16490"/>
                  </a:cubicBezTo>
                  <a:cubicBezTo>
                    <a:pt x="5582" y="16422"/>
                    <a:pt x="5661" y="16332"/>
                    <a:pt x="5732" y="16224"/>
                  </a:cubicBezTo>
                  <a:lnTo>
                    <a:pt x="5896" y="16096"/>
                  </a:lnTo>
                  <a:lnTo>
                    <a:pt x="6009" y="16027"/>
                  </a:lnTo>
                  <a:lnTo>
                    <a:pt x="6185" y="15959"/>
                  </a:lnTo>
                  <a:lnTo>
                    <a:pt x="6336" y="16187"/>
                  </a:lnTo>
                  <a:lnTo>
                    <a:pt x="6513" y="16558"/>
                  </a:lnTo>
                  <a:lnTo>
                    <a:pt x="6478" y="16957"/>
                  </a:lnTo>
                  <a:lnTo>
                    <a:pt x="6566" y="17191"/>
                  </a:lnTo>
                  <a:cubicBezTo>
                    <a:pt x="6627" y="17266"/>
                    <a:pt x="6693" y="17327"/>
                    <a:pt x="6762" y="17374"/>
                  </a:cubicBezTo>
                  <a:cubicBezTo>
                    <a:pt x="6828" y="17418"/>
                    <a:pt x="6896" y="17449"/>
                    <a:pt x="6961" y="17493"/>
                  </a:cubicBezTo>
                  <a:cubicBezTo>
                    <a:pt x="7076" y="17571"/>
                    <a:pt x="7181" y="17688"/>
                    <a:pt x="7268" y="17837"/>
                  </a:cubicBezTo>
                  <a:lnTo>
                    <a:pt x="7381" y="17960"/>
                  </a:lnTo>
                  <a:lnTo>
                    <a:pt x="7502" y="18097"/>
                  </a:lnTo>
                  <a:lnTo>
                    <a:pt x="7652" y="18230"/>
                  </a:lnTo>
                  <a:lnTo>
                    <a:pt x="7765" y="18312"/>
                  </a:lnTo>
                  <a:lnTo>
                    <a:pt x="7950" y="18500"/>
                  </a:lnTo>
                  <a:lnTo>
                    <a:pt x="8004" y="18619"/>
                  </a:lnTo>
                  <a:lnTo>
                    <a:pt x="8122" y="18894"/>
                  </a:lnTo>
                  <a:lnTo>
                    <a:pt x="8273" y="19251"/>
                  </a:lnTo>
                  <a:lnTo>
                    <a:pt x="8399" y="19535"/>
                  </a:lnTo>
                  <a:lnTo>
                    <a:pt x="8203" y="19705"/>
                  </a:lnTo>
                  <a:lnTo>
                    <a:pt x="8232" y="19896"/>
                  </a:lnTo>
                  <a:lnTo>
                    <a:pt x="8184" y="20192"/>
                  </a:lnTo>
                  <a:lnTo>
                    <a:pt x="8313" y="20256"/>
                  </a:lnTo>
                  <a:lnTo>
                    <a:pt x="8369" y="20092"/>
                  </a:lnTo>
                  <a:lnTo>
                    <a:pt x="8471" y="19927"/>
                  </a:lnTo>
                  <a:lnTo>
                    <a:pt x="8584" y="19703"/>
                  </a:lnTo>
                  <a:lnTo>
                    <a:pt x="8621" y="19542"/>
                  </a:lnTo>
                  <a:lnTo>
                    <a:pt x="8570" y="19314"/>
                  </a:lnTo>
                  <a:lnTo>
                    <a:pt x="8522" y="19090"/>
                  </a:lnTo>
                  <a:lnTo>
                    <a:pt x="8493" y="18927"/>
                  </a:lnTo>
                  <a:lnTo>
                    <a:pt x="8573" y="18716"/>
                  </a:lnTo>
                  <a:lnTo>
                    <a:pt x="8735" y="18702"/>
                  </a:lnTo>
                  <a:lnTo>
                    <a:pt x="8831" y="18752"/>
                  </a:lnTo>
                  <a:lnTo>
                    <a:pt x="8888" y="18876"/>
                  </a:lnTo>
                  <a:lnTo>
                    <a:pt x="9070" y="18944"/>
                  </a:lnTo>
                  <a:lnTo>
                    <a:pt x="9159" y="18880"/>
                  </a:lnTo>
                  <a:lnTo>
                    <a:pt x="9054" y="18697"/>
                  </a:lnTo>
                  <a:lnTo>
                    <a:pt x="8898" y="18523"/>
                  </a:lnTo>
                  <a:lnTo>
                    <a:pt x="8594" y="18261"/>
                  </a:lnTo>
                  <a:lnTo>
                    <a:pt x="8368" y="18041"/>
                  </a:lnTo>
                  <a:lnTo>
                    <a:pt x="8097" y="17835"/>
                  </a:lnTo>
                  <a:lnTo>
                    <a:pt x="7917" y="17422"/>
                  </a:lnTo>
                  <a:lnTo>
                    <a:pt x="7716" y="17353"/>
                  </a:lnTo>
                  <a:lnTo>
                    <a:pt x="7485" y="16964"/>
                  </a:lnTo>
                  <a:lnTo>
                    <a:pt x="7541" y="16565"/>
                  </a:lnTo>
                  <a:lnTo>
                    <a:pt x="7398" y="16378"/>
                  </a:lnTo>
                  <a:lnTo>
                    <a:pt x="7222" y="16240"/>
                  </a:lnTo>
                  <a:lnTo>
                    <a:pt x="6975" y="15938"/>
                  </a:lnTo>
                  <a:lnTo>
                    <a:pt x="6974" y="15498"/>
                  </a:lnTo>
                  <a:lnTo>
                    <a:pt x="7213" y="15265"/>
                  </a:lnTo>
                  <a:lnTo>
                    <a:pt x="7388" y="15320"/>
                  </a:lnTo>
                  <a:lnTo>
                    <a:pt x="7527" y="15712"/>
                  </a:lnTo>
                  <a:lnTo>
                    <a:pt x="7790" y="15919"/>
                  </a:lnTo>
                  <a:cubicBezTo>
                    <a:pt x="7896" y="15936"/>
                    <a:pt x="7997" y="15992"/>
                    <a:pt x="8089" y="16084"/>
                  </a:cubicBezTo>
                  <a:cubicBezTo>
                    <a:pt x="8148" y="16143"/>
                    <a:pt x="8203" y="16217"/>
                    <a:pt x="8250" y="16304"/>
                  </a:cubicBezTo>
                  <a:lnTo>
                    <a:pt x="8390" y="16623"/>
                  </a:lnTo>
                  <a:lnTo>
                    <a:pt x="8497" y="16783"/>
                  </a:lnTo>
                  <a:lnTo>
                    <a:pt x="8659" y="16893"/>
                  </a:lnTo>
                  <a:cubicBezTo>
                    <a:pt x="8718" y="16911"/>
                    <a:pt x="8777" y="16939"/>
                    <a:pt x="8833" y="16975"/>
                  </a:cubicBezTo>
                  <a:cubicBezTo>
                    <a:pt x="8886" y="17009"/>
                    <a:pt x="8937" y="17050"/>
                    <a:pt x="8986" y="17098"/>
                  </a:cubicBezTo>
                  <a:lnTo>
                    <a:pt x="9201" y="17368"/>
                  </a:lnTo>
                  <a:lnTo>
                    <a:pt x="9367" y="17642"/>
                  </a:lnTo>
                  <a:lnTo>
                    <a:pt x="9448" y="18069"/>
                  </a:lnTo>
                  <a:lnTo>
                    <a:pt x="9472" y="18476"/>
                  </a:lnTo>
                  <a:lnTo>
                    <a:pt x="9480" y="18860"/>
                  </a:lnTo>
                  <a:lnTo>
                    <a:pt x="9606" y="19231"/>
                  </a:lnTo>
                  <a:lnTo>
                    <a:pt x="9708" y="19433"/>
                  </a:lnTo>
                  <a:lnTo>
                    <a:pt x="9931" y="19550"/>
                  </a:lnTo>
                  <a:lnTo>
                    <a:pt x="10097" y="19631"/>
                  </a:lnTo>
                  <a:lnTo>
                    <a:pt x="10223" y="19645"/>
                  </a:lnTo>
                  <a:lnTo>
                    <a:pt x="10379" y="19791"/>
                  </a:lnTo>
                  <a:lnTo>
                    <a:pt x="10473" y="19924"/>
                  </a:lnTo>
                  <a:lnTo>
                    <a:pt x="10384" y="20183"/>
                  </a:lnTo>
                  <a:lnTo>
                    <a:pt x="10159" y="20128"/>
                  </a:lnTo>
                  <a:lnTo>
                    <a:pt x="10073" y="20243"/>
                  </a:lnTo>
                  <a:lnTo>
                    <a:pt x="10193" y="20472"/>
                  </a:lnTo>
                  <a:lnTo>
                    <a:pt x="10266" y="20815"/>
                  </a:lnTo>
                  <a:cubicBezTo>
                    <a:pt x="10273" y="20912"/>
                    <a:pt x="10304" y="20999"/>
                    <a:pt x="10352" y="21053"/>
                  </a:cubicBezTo>
                  <a:cubicBezTo>
                    <a:pt x="10384" y="21090"/>
                    <a:pt x="10423" y="21109"/>
                    <a:pt x="10462" y="21108"/>
                  </a:cubicBezTo>
                  <a:lnTo>
                    <a:pt x="10696" y="20998"/>
                  </a:lnTo>
                  <a:lnTo>
                    <a:pt x="10712" y="20701"/>
                  </a:lnTo>
                  <a:cubicBezTo>
                    <a:pt x="10707" y="20596"/>
                    <a:pt x="10707" y="20491"/>
                    <a:pt x="10712" y="20387"/>
                  </a:cubicBezTo>
                  <a:cubicBezTo>
                    <a:pt x="10716" y="20296"/>
                    <a:pt x="10724" y="20206"/>
                    <a:pt x="10736" y="20117"/>
                  </a:cubicBezTo>
                  <a:cubicBezTo>
                    <a:pt x="10735" y="20034"/>
                    <a:pt x="10727" y="19953"/>
                    <a:pt x="10712" y="19874"/>
                  </a:cubicBezTo>
                  <a:cubicBezTo>
                    <a:pt x="10684" y="19724"/>
                    <a:pt x="10633" y="19589"/>
                    <a:pt x="10564" y="19484"/>
                  </a:cubicBezTo>
                  <a:lnTo>
                    <a:pt x="10443" y="19117"/>
                  </a:lnTo>
                  <a:cubicBezTo>
                    <a:pt x="10405" y="19035"/>
                    <a:pt x="10398" y="18922"/>
                    <a:pt x="10427" y="18829"/>
                  </a:cubicBezTo>
                  <a:cubicBezTo>
                    <a:pt x="10451" y="18751"/>
                    <a:pt x="10497" y="18700"/>
                    <a:pt x="10548" y="18692"/>
                  </a:cubicBezTo>
                  <a:lnTo>
                    <a:pt x="10680" y="18705"/>
                  </a:lnTo>
                  <a:lnTo>
                    <a:pt x="10811" y="18765"/>
                  </a:lnTo>
                  <a:lnTo>
                    <a:pt x="10929" y="18911"/>
                  </a:lnTo>
                  <a:lnTo>
                    <a:pt x="10953" y="18597"/>
                  </a:lnTo>
                  <a:lnTo>
                    <a:pt x="11025" y="18391"/>
                  </a:lnTo>
                  <a:lnTo>
                    <a:pt x="11310" y="18336"/>
                  </a:lnTo>
                  <a:lnTo>
                    <a:pt x="11533" y="18336"/>
                  </a:lnTo>
                  <a:lnTo>
                    <a:pt x="11766" y="18570"/>
                  </a:lnTo>
                  <a:lnTo>
                    <a:pt x="11991" y="18469"/>
                  </a:lnTo>
                  <a:lnTo>
                    <a:pt x="12104" y="18400"/>
                  </a:lnTo>
                  <a:lnTo>
                    <a:pt x="12392" y="18317"/>
                  </a:lnTo>
                  <a:lnTo>
                    <a:pt x="12469" y="18171"/>
                  </a:lnTo>
                  <a:cubicBezTo>
                    <a:pt x="12441" y="18118"/>
                    <a:pt x="12413" y="18066"/>
                    <a:pt x="12383" y="18015"/>
                  </a:cubicBezTo>
                  <a:cubicBezTo>
                    <a:pt x="12320" y="17907"/>
                    <a:pt x="12252" y="17806"/>
                    <a:pt x="12181" y="17713"/>
                  </a:cubicBezTo>
                  <a:cubicBezTo>
                    <a:pt x="12169" y="17590"/>
                    <a:pt x="12166" y="17465"/>
                    <a:pt x="12173" y="17342"/>
                  </a:cubicBezTo>
                  <a:cubicBezTo>
                    <a:pt x="12182" y="17201"/>
                    <a:pt x="12204" y="17063"/>
                    <a:pt x="12238" y="16934"/>
                  </a:cubicBezTo>
                  <a:lnTo>
                    <a:pt x="12262" y="16700"/>
                  </a:lnTo>
                  <a:lnTo>
                    <a:pt x="12383" y="16233"/>
                  </a:lnTo>
                  <a:lnTo>
                    <a:pt x="12447" y="15904"/>
                  </a:lnTo>
                  <a:lnTo>
                    <a:pt x="12552" y="15455"/>
                  </a:lnTo>
                  <a:lnTo>
                    <a:pt x="12671" y="15194"/>
                  </a:lnTo>
                  <a:lnTo>
                    <a:pt x="12888" y="14822"/>
                  </a:lnTo>
                  <a:lnTo>
                    <a:pt x="13179" y="14607"/>
                  </a:lnTo>
                  <a:lnTo>
                    <a:pt x="13407" y="14414"/>
                  </a:lnTo>
                  <a:lnTo>
                    <a:pt x="13485" y="14588"/>
                  </a:lnTo>
                  <a:lnTo>
                    <a:pt x="13485" y="14898"/>
                  </a:lnTo>
                  <a:lnTo>
                    <a:pt x="13692" y="14926"/>
                  </a:lnTo>
                  <a:lnTo>
                    <a:pt x="13794" y="15008"/>
                  </a:lnTo>
                  <a:lnTo>
                    <a:pt x="13842" y="15254"/>
                  </a:lnTo>
                  <a:lnTo>
                    <a:pt x="13659" y="15264"/>
                  </a:lnTo>
                  <a:lnTo>
                    <a:pt x="13643" y="15414"/>
                  </a:lnTo>
                  <a:lnTo>
                    <a:pt x="13845" y="15703"/>
                  </a:lnTo>
                  <a:lnTo>
                    <a:pt x="13960" y="15946"/>
                  </a:lnTo>
                  <a:lnTo>
                    <a:pt x="14162" y="15979"/>
                  </a:lnTo>
                  <a:lnTo>
                    <a:pt x="14250" y="15857"/>
                  </a:lnTo>
                  <a:lnTo>
                    <a:pt x="14403" y="15678"/>
                  </a:lnTo>
                  <a:lnTo>
                    <a:pt x="14752" y="15546"/>
                  </a:lnTo>
                  <a:lnTo>
                    <a:pt x="14728" y="15315"/>
                  </a:lnTo>
                  <a:lnTo>
                    <a:pt x="14639" y="15250"/>
                  </a:lnTo>
                  <a:lnTo>
                    <a:pt x="14489" y="15305"/>
                  </a:lnTo>
                  <a:cubicBezTo>
                    <a:pt x="14437" y="15251"/>
                    <a:pt x="14386" y="15193"/>
                    <a:pt x="14336" y="15132"/>
                  </a:cubicBezTo>
                  <a:cubicBezTo>
                    <a:pt x="14301" y="15088"/>
                    <a:pt x="14266" y="15042"/>
                    <a:pt x="14232" y="14994"/>
                  </a:cubicBezTo>
                  <a:lnTo>
                    <a:pt x="14288" y="14817"/>
                  </a:lnTo>
                  <a:lnTo>
                    <a:pt x="14447" y="14721"/>
                  </a:lnTo>
                  <a:lnTo>
                    <a:pt x="14613" y="14569"/>
                  </a:lnTo>
                  <a:lnTo>
                    <a:pt x="14824" y="14382"/>
                  </a:lnTo>
                  <a:lnTo>
                    <a:pt x="14966" y="14231"/>
                  </a:lnTo>
                  <a:lnTo>
                    <a:pt x="15155" y="14089"/>
                  </a:lnTo>
                  <a:lnTo>
                    <a:pt x="15299" y="14048"/>
                  </a:lnTo>
                  <a:lnTo>
                    <a:pt x="15474" y="14204"/>
                  </a:lnTo>
                  <a:lnTo>
                    <a:pt x="15391" y="14386"/>
                  </a:lnTo>
                  <a:lnTo>
                    <a:pt x="15273" y="14666"/>
                  </a:lnTo>
                  <a:lnTo>
                    <a:pt x="15265" y="14990"/>
                  </a:lnTo>
                  <a:lnTo>
                    <a:pt x="15230" y="15325"/>
                  </a:lnTo>
                  <a:lnTo>
                    <a:pt x="15118" y="15517"/>
                  </a:lnTo>
                  <a:lnTo>
                    <a:pt x="15096" y="15705"/>
                  </a:lnTo>
                  <a:lnTo>
                    <a:pt x="15233" y="15800"/>
                  </a:lnTo>
                  <a:cubicBezTo>
                    <a:pt x="15284" y="15813"/>
                    <a:pt x="15335" y="15836"/>
                    <a:pt x="15383" y="15869"/>
                  </a:cubicBezTo>
                  <a:cubicBezTo>
                    <a:pt x="15456" y="15919"/>
                    <a:pt x="15524" y="15992"/>
                    <a:pt x="15582" y="16084"/>
                  </a:cubicBezTo>
                  <a:lnTo>
                    <a:pt x="15792" y="16341"/>
                  </a:lnTo>
                  <a:lnTo>
                    <a:pt x="16009" y="16409"/>
                  </a:lnTo>
                  <a:lnTo>
                    <a:pt x="16163" y="16684"/>
                  </a:lnTo>
                  <a:lnTo>
                    <a:pt x="16364" y="16863"/>
                  </a:lnTo>
                  <a:lnTo>
                    <a:pt x="16519" y="17063"/>
                  </a:lnTo>
                  <a:lnTo>
                    <a:pt x="16602" y="17384"/>
                  </a:lnTo>
                  <a:lnTo>
                    <a:pt x="16900" y="17421"/>
                  </a:lnTo>
                  <a:lnTo>
                    <a:pt x="17231" y="17499"/>
                  </a:lnTo>
                  <a:lnTo>
                    <a:pt x="17545" y="17705"/>
                  </a:lnTo>
                  <a:lnTo>
                    <a:pt x="17840" y="17980"/>
                  </a:lnTo>
                  <a:lnTo>
                    <a:pt x="18090" y="18259"/>
                  </a:lnTo>
                  <a:lnTo>
                    <a:pt x="18475" y="18575"/>
                  </a:lnTo>
                  <a:lnTo>
                    <a:pt x="18792" y="18777"/>
                  </a:lnTo>
                  <a:lnTo>
                    <a:pt x="19129" y="19050"/>
                  </a:lnTo>
                  <a:lnTo>
                    <a:pt x="19351" y="19182"/>
                  </a:lnTo>
                  <a:lnTo>
                    <a:pt x="19359" y="18839"/>
                  </a:lnTo>
                  <a:lnTo>
                    <a:pt x="19201" y="18353"/>
                  </a:lnTo>
                  <a:lnTo>
                    <a:pt x="19056" y="17804"/>
                  </a:lnTo>
                  <a:lnTo>
                    <a:pt x="18836" y="17575"/>
                  </a:lnTo>
                  <a:lnTo>
                    <a:pt x="18691" y="17287"/>
                  </a:lnTo>
                  <a:lnTo>
                    <a:pt x="18580" y="17027"/>
                  </a:lnTo>
                  <a:lnTo>
                    <a:pt x="18437" y="16793"/>
                  </a:lnTo>
                  <a:lnTo>
                    <a:pt x="18437" y="16531"/>
                  </a:lnTo>
                  <a:lnTo>
                    <a:pt x="18220" y="16330"/>
                  </a:lnTo>
                  <a:lnTo>
                    <a:pt x="18064" y="15973"/>
                  </a:lnTo>
                  <a:lnTo>
                    <a:pt x="18247" y="15607"/>
                  </a:lnTo>
                  <a:lnTo>
                    <a:pt x="18424" y="15318"/>
                  </a:lnTo>
                  <a:lnTo>
                    <a:pt x="18655" y="15304"/>
                  </a:lnTo>
                  <a:lnTo>
                    <a:pt x="18759" y="15057"/>
                  </a:lnTo>
                  <a:cubicBezTo>
                    <a:pt x="18777" y="14995"/>
                    <a:pt x="18799" y="14935"/>
                    <a:pt x="18824" y="14880"/>
                  </a:cubicBezTo>
                  <a:cubicBezTo>
                    <a:pt x="18871" y="14776"/>
                    <a:pt x="18929" y="14689"/>
                    <a:pt x="18996" y="14623"/>
                  </a:cubicBezTo>
                  <a:lnTo>
                    <a:pt x="19321" y="14418"/>
                  </a:lnTo>
                  <a:lnTo>
                    <a:pt x="19622" y="14295"/>
                  </a:lnTo>
                  <a:lnTo>
                    <a:pt x="19459" y="13998"/>
                  </a:lnTo>
                  <a:lnTo>
                    <a:pt x="19352" y="13728"/>
                  </a:lnTo>
                  <a:lnTo>
                    <a:pt x="19263" y="13311"/>
                  </a:lnTo>
                  <a:lnTo>
                    <a:pt x="19263" y="12674"/>
                  </a:lnTo>
                  <a:lnTo>
                    <a:pt x="19094" y="12413"/>
                  </a:lnTo>
                  <a:lnTo>
                    <a:pt x="18905" y="12303"/>
                  </a:lnTo>
                  <a:lnTo>
                    <a:pt x="18825" y="11587"/>
                  </a:lnTo>
                  <a:lnTo>
                    <a:pt x="18825" y="11300"/>
                  </a:lnTo>
                  <a:lnTo>
                    <a:pt x="19026" y="11176"/>
                  </a:lnTo>
                  <a:lnTo>
                    <a:pt x="19153" y="11204"/>
                  </a:lnTo>
                  <a:lnTo>
                    <a:pt x="19685" y="11492"/>
                  </a:lnTo>
                  <a:lnTo>
                    <a:pt x="19916" y="11286"/>
                  </a:lnTo>
                  <a:lnTo>
                    <a:pt x="20085" y="11176"/>
                  </a:lnTo>
                  <a:lnTo>
                    <a:pt x="20330" y="11204"/>
                  </a:lnTo>
                  <a:lnTo>
                    <a:pt x="20504" y="11392"/>
                  </a:lnTo>
                  <a:lnTo>
                    <a:pt x="20892" y="11571"/>
                  </a:lnTo>
                  <a:lnTo>
                    <a:pt x="21279" y="11763"/>
                  </a:lnTo>
                  <a:lnTo>
                    <a:pt x="21416" y="11557"/>
                  </a:lnTo>
                  <a:lnTo>
                    <a:pt x="21488" y="11250"/>
                  </a:lnTo>
                  <a:lnTo>
                    <a:pt x="21480" y="10939"/>
                  </a:lnTo>
                  <a:lnTo>
                    <a:pt x="21585" y="10788"/>
                  </a:lnTo>
                  <a:lnTo>
                    <a:pt x="21472" y="10615"/>
                  </a:lnTo>
                  <a:lnTo>
                    <a:pt x="21445" y="10409"/>
                  </a:lnTo>
                  <a:lnTo>
                    <a:pt x="21539" y="10161"/>
                  </a:lnTo>
                  <a:lnTo>
                    <a:pt x="21600" y="9773"/>
                  </a:lnTo>
                  <a:lnTo>
                    <a:pt x="21449" y="9398"/>
                  </a:lnTo>
                  <a:lnTo>
                    <a:pt x="21248" y="9192"/>
                  </a:lnTo>
                  <a:lnTo>
                    <a:pt x="21117" y="9270"/>
                  </a:lnTo>
                  <a:lnTo>
                    <a:pt x="21077" y="9513"/>
                  </a:lnTo>
                  <a:lnTo>
                    <a:pt x="21021" y="9718"/>
                  </a:lnTo>
                  <a:lnTo>
                    <a:pt x="20909" y="9814"/>
                  </a:lnTo>
                  <a:lnTo>
                    <a:pt x="20756" y="9882"/>
                  </a:lnTo>
                  <a:lnTo>
                    <a:pt x="20592" y="9662"/>
                  </a:lnTo>
                  <a:lnTo>
                    <a:pt x="20385" y="9355"/>
                  </a:lnTo>
                  <a:lnTo>
                    <a:pt x="20422" y="9122"/>
                  </a:lnTo>
                  <a:lnTo>
                    <a:pt x="20264" y="8894"/>
                  </a:lnTo>
                  <a:lnTo>
                    <a:pt x="20434" y="8637"/>
                  </a:lnTo>
                  <a:lnTo>
                    <a:pt x="20710" y="8587"/>
                  </a:lnTo>
                  <a:lnTo>
                    <a:pt x="20858" y="8416"/>
                  </a:lnTo>
                  <a:lnTo>
                    <a:pt x="20898" y="8128"/>
                  </a:lnTo>
                  <a:lnTo>
                    <a:pt x="20858" y="7798"/>
                  </a:lnTo>
                  <a:lnTo>
                    <a:pt x="20732" y="7675"/>
                  </a:lnTo>
                  <a:lnTo>
                    <a:pt x="20644" y="7355"/>
                  </a:lnTo>
                  <a:lnTo>
                    <a:pt x="20491" y="7121"/>
                  </a:lnTo>
                  <a:lnTo>
                    <a:pt x="20507" y="6709"/>
                  </a:lnTo>
                  <a:lnTo>
                    <a:pt x="20499" y="6365"/>
                  </a:lnTo>
                  <a:lnTo>
                    <a:pt x="20459" y="5985"/>
                  </a:lnTo>
                  <a:lnTo>
                    <a:pt x="20451" y="5531"/>
                  </a:lnTo>
                  <a:lnTo>
                    <a:pt x="20370" y="5106"/>
                  </a:lnTo>
                  <a:lnTo>
                    <a:pt x="20231" y="4810"/>
                  </a:lnTo>
                  <a:lnTo>
                    <a:pt x="20145" y="4182"/>
                  </a:lnTo>
                  <a:lnTo>
                    <a:pt x="20065" y="3716"/>
                  </a:lnTo>
                  <a:lnTo>
                    <a:pt x="19979" y="3404"/>
                  </a:lnTo>
                  <a:lnTo>
                    <a:pt x="19963" y="3062"/>
                  </a:lnTo>
                  <a:lnTo>
                    <a:pt x="20091" y="2842"/>
                  </a:lnTo>
                  <a:lnTo>
                    <a:pt x="20317" y="2737"/>
                  </a:lnTo>
                  <a:lnTo>
                    <a:pt x="20570" y="2546"/>
                  </a:lnTo>
                  <a:lnTo>
                    <a:pt x="20683" y="2340"/>
                  </a:lnTo>
                  <a:lnTo>
                    <a:pt x="20965" y="2162"/>
                  </a:lnTo>
                  <a:lnTo>
                    <a:pt x="21059" y="2043"/>
                  </a:lnTo>
                  <a:lnTo>
                    <a:pt x="21076" y="1814"/>
                  </a:lnTo>
                  <a:lnTo>
                    <a:pt x="21092" y="1581"/>
                  </a:lnTo>
                  <a:lnTo>
                    <a:pt x="20928" y="1371"/>
                  </a:lnTo>
                  <a:lnTo>
                    <a:pt x="20807" y="115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58" name="熊大的PPT宝库1-105"/>
            <p:cNvSpPr/>
            <p:nvPr/>
          </p:nvSpPr>
          <p:spPr>
            <a:xfrm>
              <a:off x="7107771" y="7580522"/>
              <a:ext cx="308560" cy="179738"/>
            </a:xfrm>
            <a:custGeom>
              <a:avLst/>
              <a:gdLst/>
              <a:ahLst/>
              <a:cxnLst>
                <a:cxn ang="0">
                  <a:pos x="wd2" y="hd2"/>
                </a:cxn>
                <a:cxn ang="5400000">
                  <a:pos x="wd2" y="hd2"/>
                </a:cxn>
                <a:cxn ang="10800000">
                  <a:pos x="wd2" y="hd2"/>
                </a:cxn>
                <a:cxn ang="16200000">
                  <a:pos x="wd2" y="hd2"/>
                </a:cxn>
              </a:cxnLst>
              <a:rect l="0" t="0" r="r" b="b"/>
              <a:pathLst>
                <a:path w="21600" h="21600" extrusionOk="0">
                  <a:moveTo>
                    <a:pt x="4445" y="7866"/>
                  </a:moveTo>
                  <a:lnTo>
                    <a:pt x="3880" y="8515"/>
                  </a:lnTo>
                  <a:lnTo>
                    <a:pt x="2778" y="8369"/>
                  </a:lnTo>
                  <a:lnTo>
                    <a:pt x="2178" y="9461"/>
                  </a:lnTo>
                  <a:lnTo>
                    <a:pt x="3120" y="10277"/>
                  </a:lnTo>
                  <a:lnTo>
                    <a:pt x="3156" y="12185"/>
                  </a:lnTo>
                  <a:lnTo>
                    <a:pt x="2430" y="12337"/>
                  </a:lnTo>
                  <a:lnTo>
                    <a:pt x="1278" y="11885"/>
                  </a:lnTo>
                  <a:lnTo>
                    <a:pt x="769" y="12613"/>
                  </a:lnTo>
                  <a:lnTo>
                    <a:pt x="566" y="13516"/>
                  </a:lnTo>
                  <a:lnTo>
                    <a:pt x="1354" y="13873"/>
                  </a:lnTo>
                  <a:lnTo>
                    <a:pt x="1463" y="14966"/>
                  </a:lnTo>
                  <a:lnTo>
                    <a:pt x="698" y="15754"/>
                  </a:lnTo>
                  <a:lnTo>
                    <a:pt x="273" y="16479"/>
                  </a:lnTo>
                  <a:lnTo>
                    <a:pt x="0" y="18023"/>
                  </a:lnTo>
                  <a:lnTo>
                    <a:pt x="841" y="18266"/>
                  </a:lnTo>
                  <a:lnTo>
                    <a:pt x="2336" y="18448"/>
                  </a:lnTo>
                  <a:lnTo>
                    <a:pt x="3297" y="19783"/>
                  </a:lnTo>
                  <a:lnTo>
                    <a:pt x="3987" y="20416"/>
                  </a:lnTo>
                  <a:lnTo>
                    <a:pt x="5126" y="21509"/>
                  </a:lnTo>
                  <a:lnTo>
                    <a:pt x="6761" y="21418"/>
                  </a:lnTo>
                  <a:lnTo>
                    <a:pt x="8539" y="21600"/>
                  </a:lnTo>
                  <a:lnTo>
                    <a:pt x="8021" y="19297"/>
                  </a:lnTo>
                  <a:lnTo>
                    <a:pt x="6548" y="18235"/>
                  </a:lnTo>
                  <a:lnTo>
                    <a:pt x="6499" y="15428"/>
                  </a:lnTo>
                  <a:lnTo>
                    <a:pt x="6997" y="13668"/>
                  </a:lnTo>
                  <a:lnTo>
                    <a:pt x="8012" y="10664"/>
                  </a:lnTo>
                  <a:lnTo>
                    <a:pt x="8386" y="8570"/>
                  </a:lnTo>
                  <a:lnTo>
                    <a:pt x="9594" y="6965"/>
                  </a:lnTo>
                  <a:lnTo>
                    <a:pt x="10818" y="7328"/>
                  </a:lnTo>
                  <a:lnTo>
                    <a:pt x="12132" y="6430"/>
                  </a:lnTo>
                  <a:lnTo>
                    <a:pt x="13272" y="5308"/>
                  </a:lnTo>
                  <a:lnTo>
                    <a:pt x="14533" y="4941"/>
                  </a:lnTo>
                  <a:lnTo>
                    <a:pt x="16291" y="4582"/>
                  </a:lnTo>
                  <a:cubicBezTo>
                    <a:pt x="16608" y="4821"/>
                    <a:pt x="16969" y="4821"/>
                    <a:pt x="17286" y="4583"/>
                  </a:cubicBezTo>
                  <a:cubicBezTo>
                    <a:pt x="17607" y="4341"/>
                    <a:pt x="17852" y="3877"/>
                    <a:pt x="17960" y="3308"/>
                  </a:cubicBezTo>
                  <a:lnTo>
                    <a:pt x="19113" y="3551"/>
                  </a:lnTo>
                  <a:lnTo>
                    <a:pt x="19985" y="3581"/>
                  </a:lnTo>
                  <a:lnTo>
                    <a:pt x="20338" y="2523"/>
                  </a:lnTo>
                  <a:lnTo>
                    <a:pt x="21351" y="2592"/>
                  </a:lnTo>
                  <a:lnTo>
                    <a:pt x="21600" y="1704"/>
                  </a:lnTo>
                  <a:lnTo>
                    <a:pt x="20641" y="1406"/>
                  </a:lnTo>
                  <a:lnTo>
                    <a:pt x="20071" y="705"/>
                  </a:lnTo>
                  <a:lnTo>
                    <a:pt x="18972" y="0"/>
                  </a:lnTo>
                  <a:lnTo>
                    <a:pt x="18514" y="430"/>
                  </a:lnTo>
                  <a:lnTo>
                    <a:pt x="18354" y="1523"/>
                  </a:lnTo>
                  <a:lnTo>
                    <a:pt x="17731" y="802"/>
                  </a:lnTo>
                  <a:lnTo>
                    <a:pt x="16469" y="984"/>
                  </a:lnTo>
                  <a:lnTo>
                    <a:pt x="15528" y="1617"/>
                  </a:lnTo>
                  <a:lnTo>
                    <a:pt x="14947" y="2494"/>
                  </a:lnTo>
                  <a:lnTo>
                    <a:pt x="13721" y="2312"/>
                  </a:lnTo>
                  <a:lnTo>
                    <a:pt x="11020" y="2130"/>
                  </a:lnTo>
                  <a:lnTo>
                    <a:pt x="9792" y="2039"/>
                  </a:lnTo>
                  <a:lnTo>
                    <a:pt x="8352" y="2392"/>
                  </a:lnTo>
                  <a:lnTo>
                    <a:pt x="7818" y="3025"/>
                  </a:lnTo>
                  <a:lnTo>
                    <a:pt x="6699" y="4565"/>
                  </a:lnTo>
                  <a:lnTo>
                    <a:pt x="5633" y="4656"/>
                  </a:lnTo>
                  <a:lnTo>
                    <a:pt x="4834" y="5829"/>
                  </a:lnTo>
                  <a:lnTo>
                    <a:pt x="4445" y="7866"/>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59" name="熊大的PPT宝库1-106"/>
            <p:cNvSpPr/>
            <p:nvPr/>
          </p:nvSpPr>
          <p:spPr>
            <a:xfrm>
              <a:off x="6104214" y="7479978"/>
              <a:ext cx="358160" cy="136980"/>
            </a:xfrm>
            <a:custGeom>
              <a:avLst/>
              <a:gdLst/>
              <a:ahLst/>
              <a:cxnLst>
                <a:cxn ang="0">
                  <a:pos x="wd2" y="hd2"/>
                </a:cxn>
                <a:cxn ang="5400000">
                  <a:pos x="wd2" y="hd2"/>
                </a:cxn>
                <a:cxn ang="10800000">
                  <a:pos x="wd2" y="hd2"/>
                </a:cxn>
                <a:cxn ang="16200000">
                  <a:pos x="wd2" y="hd2"/>
                </a:cxn>
              </a:cxnLst>
              <a:rect l="0" t="0" r="r" b="b"/>
              <a:pathLst>
                <a:path w="21600" h="21600" extrusionOk="0">
                  <a:moveTo>
                    <a:pt x="21036" y="2810"/>
                  </a:moveTo>
                  <a:lnTo>
                    <a:pt x="18126" y="2696"/>
                  </a:lnTo>
                  <a:lnTo>
                    <a:pt x="15876" y="2514"/>
                  </a:lnTo>
                  <a:lnTo>
                    <a:pt x="14560" y="2399"/>
                  </a:lnTo>
                  <a:lnTo>
                    <a:pt x="13964" y="607"/>
                  </a:lnTo>
                  <a:lnTo>
                    <a:pt x="13265" y="0"/>
                  </a:lnTo>
                  <a:lnTo>
                    <a:pt x="13209" y="2844"/>
                  </a:lnTo>
                  <a:lnTo>
                    <a:pt x="12490" y="2839"/>
                  </a:lnTo>
                  <a:lnTo>
                    <a:pt x="12105" y="3909"/>
                  </a:lnTo>
                  <a:lnTo>
                    <a:pt x="12121" y="6612"/>
                  </a:lnTo>
                  <a:lnTo>
                    <a:pt x="11757" y="7673"/>
                  </a:lnTo>
                  <a:lnTo>
                    <a:pt x="11102" y="6284"/>
                  </a:lnTo>
                  <a:lnTo>
                    <a:pt x="11237" y="3700"/>
                  </a:lnTo>
                  <a:lnTo>
                    <a:pt x="10419" y="2546"/>
                  </a:lnTo>
                  <a:lnTo>
                    <a:pt x="9953" y="4134"/>
                  </a:lnTo>
                  <a:lnTo>
                    <a:pt x="9148" y="5886"/>
                  </a:lnTo>
                  <a:lnTo>
                    <a:pt x="7705" y="5408"/>
                  </a:lnTo>
                  <a:lnTo>
                    <a:pt x="6697" y="5288"/>
                  </a:lnTo>
                  <a:lnTo>
                    <a:pt x="6009" y="4218"/>
                  </a:lnTo>
                  <a:lnTo>
                    <a:pt x="5379" y="3745"/>
                  </a:lnTo>
                  <a:lnTo>
                    <a:pt x="2617" y="4347"/>
                  </a:lnTo>
                  <a:lnTo>
                    <a:pt x="1144" y="3636"/>
                  </a:lnTo>
                  <a:lnTo>
                    <a:pt x="135" y="4591"/>
                  </a:lnTo>
                  <a:lnTo>
                    <a:pt x="0" y="6851"/>
                  </a:lnTo>
                  <a:lnTo>
                    <a:pt x="1109" y="8265"/>
                  </a:lnTo>
                  <a:lnTo>
                    <a:pt x="1858" y="9728"/>
                  </a:lnTo>
                  <a:lnTo>
                    <a:pt x="2773" y="10918"/>
                  </a:lnTo>
                  <a:lnTo>
                    <a:pt x="3798" y="10560"/>
                  </a:lnTo>
                  <a:lnTo>
                    <a:pt x="4488" y="11864"/>
                  </a:lnTo>
                  <a:lnTo>
                    <a:pt x="5238" y="12297"/>
                  </a:lnTo>
                  <a:lnTo>
                    <a:pt x="5238" y="9037"/>
                  </a:lnTo>
                  <a:lnTo>
                    <a:pt x="6816" y="8599"/>
                  </a:lnTo>
                  <a:lnTo>
                    <a:pt x="6769" y="11506"/>
                  </a:lnTo>
                  <a:lnTo>
                    <a:pt x="6906" y="13288"/>
                  </a:lnTo>
                  <a:lnTo>
                    <a:pt x="4182" y="13367"/>
                  </a:lnTo>
                  <a:lnTo>
                    <a:pt x="4105" y="14562"/>
                  </a:lnTo>
                  <a:lnTo>
                    <a:pt x="4611" y="15358"/>
                  </a:lnTo>
                  <a:lnTo>
                    <a:pt x="5606" y="16747"/>
                  </a:lnTo>
                  <a:lnTo>
                    <a:pt x="7302" y="19415"/>
                  </a:lnTo>
                  <a:lnTo>
                    <a:pt x="8040" y="21600"/>
                  </a:lnTo>
                  <a:lnTo>
                    <a:pt x="8822" y="21485"/>
                  </a:lnTo>
                  <a:lnTo>
                    <a:pt x="9465" y="18116"/>
                  </a:lnTo>
                  <a:lnTo>
                    <a:pt x="9649" y="15258"/>
                  </a:lnTo>
                  <a:lnTo>
                    <a:pt x="10369" y="13745"/>
                  </a:lnTo>
                  <a:lnTo>
                    <a:pt x="11287" y="14343"/>
                  </a:lnTo>
                  <a:lnTo>
                    <a:pt x="11640" y="11993"/>
                  </a:lnTo>
                  <a:lnTo>
                    <a:pt x="11640" y="9136"/>
                  </a:lnTo>
                  <a:lnTo>
                    <a:pt x="13126" y="8703"/>
                  </a:lnTo>
                  <a:lnTo>
                    <a:pt x="14029" y="10490"/>
                  </a:lnTo>
                  <a:lnTo>
                    <a:pt x="14715" y="12003"/>
                  </a:lnTo>
                  <a:lnTo>
                    <a:pt x="14303" y="13193"/>
                  </a:lnTo>
                  <a:lnTo>
                    <a:pt x="13891" y="14507"/>
                  </a:lnTo>
                  <a:lnTo>
                    <a:pt x="14441" y="16856"/>
                  </a:lnTo>
                  <a:lnTo>
                    <a:pt x="15346" y="16264"/>
                  </a:lnTo>
                  <a:lnTo>
                    <a:pt x="15759" y="14472"/>
                  </a:lnTo>
                  <a:lnTo>
                    <a:pt x="16864" y="14472"/>
                  </a:lnTo>
                  <a:lnTo>
                    <a:pt x="17370" y="15303"/>
                  </a:lnTo>
                  <a:lnTo>
                    <a:pt x="17732" y="17409"/>
                  </a:lnTo>
                  <a:lnTo>
                    <a:pt x="18407" y="16692"/>
                  </a:lnTo>
                  <a:lnTo>
                    <a:pt x="19503" y="15398"/>
                  </a:lnTo>
                  <a:lnTo>
                    <a:pt x="18539" y="14208"/>
                  </a:lnTo>
                  <a:lnTo>
                    <a:pt x="18004" y="13969"/>
                  </a:lnTo>
                  <a:lnTo>
                    <a:pt x="17870" y="12460"/>
                  </a:lnTo>
                  <a:lnTo>
                    <a:pt x="17136" y="11630"/>
                  </a:lnTo>
                  <a:lnTo>
                    <a:pt x="15759" y="11037"/>
                  </a:lnTo>
                  <a:lnTo>
                    <a:pt x="14891" y="9608"/>
                  </a:lnTo>
                  <a:lnTo>
                    <a:pt x="14017" y="8334"/>
                  </a:lnTo>
                  <a:lnTo>
                    <a:pt x="13655" y="7742"/>
                  </a:lnTo>
                  <a:lnTo>
                    <a:pt x="13563" y="5253"/>
                  </a:lnTo>
                  <a:lnTo>
                    <a:pt x="14253" y="4895"/>
                  </a:lnTo>
                  <a:lnTo>
                    <a:pt x="14864" y="7105"/>
                  </a:lnTo>
                  <a:lnTo>
                    <a:pt x="16948" y="7941"/>
                  </a:lnTo>
                  <a:lnTo>
                    <a:pt x="18002" y="8891"/>
                  </a:lnTo>
                  <a:lnTo>
                    <a:pt x="19472" y="7458"/>
                  </a:lnTo>
                  <a:lnTo>
                    <a:pt x="20699" y="6542"/>
                  </a:lnTo>
                  <a:lnTo>
                    <a:pt x="21374" y="4805"/>
                  </a:lnTo>
                  <a:lnTo>
                    <a:pt x="21600" y="3028"/>
                  </a:lnTo>
                  <a:lnTo>
                    <a:pt x="21036" y="281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60" name="熊大的PPT宝库1-107"/>
            <p:cNvSpPr/>
            <p:nvPr/>
          </p:nvSpPr>
          <p:spPr>
            <a:xfrm>
              <a:off x="5250997" y="7883280"/>
              <a:ext cx="228706" cy="93668"/>
            </a:xfrm>
            <a:custGeom>
              <a:avLst/>
              <a:gdLst/>
              <a:ahLst/>
              <a:cxnLst>
                <a:cxn ang="0">
                  <a:pos x="wd2" y="hd2"/>
                </a:cxn>
                <a:cxn ang="5400000">
                  <a:pos x="wd2" y="hd2"/>
                </a:cxn>
                <a:cxn ang="10800000">
                  <a:pos x="wd2" y="hd2"/>
                </a:cxn>
                <a:cxn ang="16200000">
                  <a:pos x="wd2" y="hd2"/>
                </a:cxn>
              </a:cxnLst>
              <a:rect l="0" t="0" r="r" b="b"/>
              <a:pathLst>
                <a:path w="21600" h="21600" extrusionOk="0">
                  <a:moveTo>
                    <a:pt x="17441" y="270"/>
                  </a:moveTo>
                  <a:lnTo>
                    <a:pt x="15742" y="0"/>
                  </a:lnTo>
                  <a:lnTo>
                    <a:pt x="14405" y="1481"/>
                  </a:lnTo>
                  <a:lnTo>
                    <a:pt x="12187" y="4101"/>
                  </a:lnTo>
                  <a:lnTo>
                    <a:pt x="10897" y="4101"/>
                  </a:lnTo>
                  <a:lnTo>
                    <a:pt x="8628" y="1546"/>
                  </a:lnTo>
                  <a:lnTo>
                    <a:pt x="6724" y="2070"/>
                  </a:lnTo>
                  <a:lnTo>
                    <a:pt x="5296" y="4167"/>
                  </a:lnTo>
                  <a:lnTo>
                    <a:pt x="1948" y="7428"/>
                  </a:lnTo>
                  <a:lnTo>
                    <a:pt x="1232" y="7428"/>
                  </a:lnTo>
                  <a:lnTo>
                    <a:pt x="0" y="9510"/>
                  </a:lnTo>
                  <a:lnTo>
                    <a:pt x="92" y="13288"/>
                  </a:lnTo>
                  <a:lnTo>
                    <a:pt x="773" y="15544"/>
                  </a:lnTo>
                  <a:lnTo>
                    <a:pt x="2067" y="12989"/>
                  </a:lnTo>
                  <a:lnTo>
                    <a:pt x="3646" y="15959"/>
                  </a:lnTo>
                  <a:cubicBezTo>
                    <a:pt x="4278" y="16734"/>
                    <a:pt x="4893" y="17587"/>
                    <a:pt x="5489" y="18514"/>
                  </a:cubicBezTo>
                  <a:cubicBezTo>
                    <a:pt x="6102" y="19467"/>
                    <a:pt x="6694" y="20497"/>
                    <a:pt x="7263" y="21600"/>
                  </a:cubicBezTo>
                  <a:lnTo>
                    <a:pt x="8821" y="21600"/>
                  </a:lnTo>
                  <a:lnTo>
                    <a:pt x="10787" y="16890"/>
                  </a:lnTo>
                  <a:lnTo>
                    <a:pt x="12583" y="16890"/>
                  </a:lnTo>
                  <a:lnTo>
                    <a:pt x="15533" y="16716"/>
                  </a:lnTo>
                  <a:lnTo>
                    <a:pt x="17142" y="13513"/>
                  </a:lnTo>
                  <a:lnTo>
                    <a:pt x="18721" y="10914"/>
                  </a:lnTo>
                  <a:lnTo>
                    <a:pt x="20955" y="10041"/>
                  </a:lnTo>
                  <a:lnTo>
                    <a:pt x="21600" y="8323"/>
                  </a:lnTo>
                  <a:lnTo>
                    <a:pt x="20688" y="4902"/>
                  </a:lnTo>
                  <a:lnTo>
                    <a:pt x="19658" y="3045"/>
                  </a:lnTo>
                  <a:lnTo>
                    <a:pt x="18823" y="1655"/>
                  </a:lnTo>
                  <a:lnTo>
                    <a:pt x="17441" y="27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61" name="熊大的PPT宝库1-108"/>
            <p:cNvSpPr/>
            <p:nvPr/>
          </p:nvSpPr>
          <p:spPr>
            <a:xfrm>
              <a:off x="5649739" y="7755159"/>
              <a:ext cx="41288" cy="20045"/>
            </a:xfrm>
            <a:custGeom>
              <a:avLst/>
              <a:gdLst/>
              <a:ahLst/>
              <a:cxnLst>
                <a:cxn ang="0">
                  <a:pos x="wd2" y="hd2"/>
                </a:cxn>
                <a:cxn ang="5400000">
                  <a:pos x="wd2" y="hd2"/>
                </a:cxn>
                <a:cxn ang="10800000">
                  <a:pos x="wd2" y="hd2"/>
                </a:cxn>
                <a:cxn ang="16200000">
                  <a:pos x="wd2" y="hd2"/>
                </a:cxn>
              </a:cxnLst>
              <a:rect l="0" t="0" r="r" b="b"/>
              <a:pathLst>
                <a:path w="21600" h="21600" extrusionOk="0">
                  <a:moveTo>
                    <a:pt x="15176" y="0"/>
                  </a:moveTo>
                  <a:lnTo>
                    <a:pt x="10983" y="4657"/>
                  </a:lnTo>
                  <a:lnTo>
                    <a:pt x="5919" y="4185"/>
                  </a:lnTo>
                  <a:lnTo>
                    <a:pt x="0" y="5818"/>
                  </a:lnTo>
                  <a:lnTo>
                    <a:pt x="17" y="18606"/>
                  </a:lnTo>
                  <a:lnTo>
                    <a:pt x="11091" y="21600"/>
                  </a:lnTo>
                  <a:lnTo>
                    <a:pt x="21600" y="16735"/>
                  </a:lnTo>
                  <a:lnTo>
                    <a:pt x="21483" y="2347"/>
                  </a:lnTo>
                  <a:lnTo>
                    <a:pt x="15176"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62" name="熊大的PPT宝库1-109"/>
            <p:cNvSpPr/>
            <p:nvPr/>
          </p:nvSpPr>
          <p:spPr>
            <a:xfrm>
              <a:off x="5661295" y="7991759"/>
              <a:ext cx="35170" cy="22995"/>
            </a:xfrm>
            <a:custGeom>
              <a:avLst/>
              <a:gdLst/>
              <a:ahLst/>
              <a:cxnLst>
                <a:cxn ang="0">
                  <a:pos x="wd2" y="hd2"/>
                </a:cxn>
                <a:cxn ang="5400000">
                  <a:pos x="wd2" y="hd2"/>
                </a:cxn>
                <a:cxn ang="10800000">
                  <a:pos x="wd2" y="hd2"/>
                </a:cxn>
                <a:cxn ang="16200000">
                  <a:pos x="wd2" y="hd2"/>
                </a:cxn>
              </a:cxnLst>
              <a:rect l="0" t="0" r="r" b="b"/>
              <a:pathLst>
                <a:path w="21600" h="21600" extrusionOk="0">
                  <a:moveTo>
                    <a:pt x="9779" y="0"/>
                  </a:moveTo>
                  <a:lnTo>
                    <a:pt x="0" y="1898"/>
                  </a:lnTo>
                  <a:lnTo>
                    <a:pt x="497" y="14515"/>
                  </a:lnTo>
                  <a:lnTo>
                    <a:pt x="10043" y="15938"/>
                  </a:lnTo>
                  <a:lnTo>
                    <a:pt x="21600" y="21600"/>
                  </a:lnTo>
                  <a:lnTo>
                    <a:pt x="18457" y="5083"/>
                  </a:lnTo>
                  <a:lnTo>
                    <a:pt x="9779"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63" name="熊大的PPT宝库1-110"/>
            <p:cNvSpPr/>
            <p:nvPr/>
          </p:nvSpPr>
          <p:spPr>
            <a:xfrm>
              <a:off x="5665258" y="8017237"/>
              <a:ext cx="21346" cy="16360"/>
            </a:xfrm>
            <a:custGeom>
              <a:avLst/>
              <a:gdLst/>
              <a:ahLst/>
              <a:cxnLst>
                <a:cxn ang="0">
                  <a:pos x="wd2" y="hd2"/>
                </a:cxn>
                <a:cxn ang="5400000">
                  <a:pos x="wd2" y="hd2"/>
                </a:cxn>
                <a:cxn ang="10800000">
                  <a:pos x="wd2" y="hd2"/>
                </a:cxn>
                <a:cxn ang="16200000">
                  <a:pos x="wd2" y="hd2"/>
                </a:cxn>
              </a:cxnLst>
              <a:rect l="0" t="0" r="r" b="b"/>
              <a:pathLst>
                <a:path w="21600" h="21600" extrusionOk="0">
                  <a:moveTo>
                    <a:pt x="12170" y="2345"/>
                  </a:moveTo>
                  <a:lnTo>
                    <a:pt x="2749" y="0"/>
                  </a:lnTo>
                  <a:lnTo>
                    <a:pt x="0" y="17437"/>
                  </a:lnTo>
                  <a:lnTo>
                    <a:pt x="16227" y="21600"/>
                  </a:lnTo>
                  <a:lnTo>
                    <a:pt x="21600" y="10871"/>
                  </a:lnTo>
                  <a:lnTo>
                    <a:pt x="12170" y="2345"/>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64" name="熊大的PPT宝库1-111"/>
            <p:cNvSpPr/>
            <p:nvPr/>
          </p:nvSpPr>
          <p:spPr>
            <a:xfrm>
              <a:off x="5511403" y="8244103"/>
              <a:ext cx="141495" cy="136887"/>
            </a:xfrm>
            <a:custGeom>
              <a:avLst/>
              <a:gdLst/>
              <a:ahLst/>
              <a:cxnLst>
                <a:cxn ang="0">
                  <a:pos x="wd2" y="hd2"/>
                </a:cxn>
                <a:cxn ang="5400000">
                  <a:pos x="wd2" y="hd2"/>
                </a:cxn>
                <a:cxn ang="10800000">
                  <a:pos x="wd2" y="hd2"/>
                </a:cxn>
                <a:cxn ang="16200000">
                  <a:pos x="wd2" y="hd2"/>
                </a:cxn>
              </a:cxnLst>
              <a:rect l="0" t="0" r="r" b="b"/>
              <a:pathLst>
                <a:path w="21600" h="21600" extrusionOk="0">
                  <a:moveTo>
                    <a:pt x="15382" y="115"/>
                  </a:moveTo>
                  <a:lnTo>
                    <a:pt x="11359" y="0"/>
                  </a:lnTo>
                  <a:lnTo>
                    <a:pt x="9153" y="2568"/>
                  </a:lnTo>
                  <a:lnTo>
                    <a:pt x="6986" y="4361"/>
                  </a:lnTo>
                  <a:lnTo>
                    <a:pt x="4456" y="4002"/>
                  </a:lnTo>
                  <a:lnTo>
                    <a:pt x="1440" y="5073"/>
                  </a:lnTo>
                  <a:lnTo>
                    <a:pt x="1800" y="7574"/>
                  </a:lnTo>
                  <a:lnTo>
                    <a:pt x="3652" y="8406"/>
                  </a:lnTo>
                  <a:lnTo>
                    <a:pt x="4457" y="9915"/>
                  </a:lnTo>
                  <a:lnTo>
                    <a:pt x="3642" y="11583"/>
                  </a:lnTo>
                  <a:lnTo>
                    <a:pt x="2953" y="12535"/>
                  </a:lnTo>
                  <a:lnTo>
                    <a:pt x="2371" y="14995"/>
                  </a:lnTo>
                  <a:lnTo>
                    <a:pt x="42" y="15588"/>
                  </a:lnTo>
                  <a:lnTo>
                    <a:pt x="0" y="17102"/>
                  </a:lnTo>
                  <a:lnTo>
                    <a:pt x="974" y="18138"/>
                  </a:lnTo>
                  <a:lnTo>
                    <a:pt x="1672" y="20768"/>
                  </a:lnTo>
                  <a:lnTo>
                    <a:pt x="3483" y="21600"/>
                  </a:lnTo>
                  <a:lnTo>
                    <a:pt x="5773" y="20165"/>
                  </a:lnTo>
                  <a:lnTo>
                    <a:pt x="8334" y="18253"/>
                  </a:lnTo>
                  <a:lnTo>
                    <a:pt x="10697" y="17097"/>
                  </a:lnTo>
                  <a:cubicBezTo>
                    <a:pt x="11878" y="17476"/>
                    <a:pt x="13148" y="17434"/>
                    <a:pt x="14302" y="16978"/>
                  </a:cubicBezTo>
                  <a:cubicBezTo>
                    <a:pt x="14998" y="16703"/>
                    <a:pt x="15630" y="16284"/>
                    <a:pt x="16161" y="15748"/>
                  </a:cubicBezTo>
                  <a:cubicBezTo>
                    <a:pt x="16616" y="15267"/>
                    <a:pt x="16972" y="14698"/>
                    <a:pt x="17209" y="14074"/>
                  </a:cubicBezTo>
                  <a:cubicBezTo>
                    <a:pt x="17751" y="12641"/>
                    <a:pt x="17639" y="11035"/>
                    <a:pt x="16903" y="9696"/>
                  </a:cubicBezTo>
                  <a:lnTo>
                    <a:pt x="17252" y="7434"/>
                  </a:lnTo>
                  <a:lnTo>
                    <a:pt x="18650" y="5686"/>
                  </a:lnTo>
                  <a:lnTo>
                    <a:pt x="20358" y="4730"/>
                  </a:lnTo>
                  <a:lnTo>
                    <a:pt x="21600" y="2658"/>
                  </a:lnTo>
                  <a:lnTo>
                    <a:pt x="19703" y="870"/>
                  </a:lnTo>
                  <a:lnTo>
                    <a:pt x="16922" y="162"/>
                  </a:lnTo>
                  <a:lnTo>
                    <a:pt x="15382" y="115"/>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65" name="熊大的PPT宝库1-112"/>
            <p:cNvSpPr/>
            <p:nvPr/>
          </p:nvSpPr>
          <p:spPr>
            <a:xfrm>
              <a:off x="5641993" y="8147176"/>
              <a:ext cx="206900" cy="271619"/>
            </a:xfrm>
            <a:custGeom>
              <a:avLst/>
              <a:gdLst/>
              <a:ahLst/>
              <a:cxnLst>
                <a:cxn ang="0">
                  <a:pos x="wd2" y="hd2"/>
                </a:cxn>
                <a:cxn ang="5400000">
                  <a:pos x="wd2" y="hd2"/>
                </a:cxn>
                <a:cxn ang="10800000">
                  <a:pos x="wd2" y="hd2"/>
                </a:cxn>
                <a:cxn ang="16200000">
                  <a:pos x="wd2" y="hd2"/>
                </a:cxn>
              </a:cxnLst>
              <a:rect l="0" t="0" r="r" b="b"/>
              <a:pathLst>
                <a:path w="21600" h="21600" extrusionOk="0">
                  <a:moveTo>
                    <a:pt x="6288" y="0"/>
                  </a:moveTo>
                  <a:lnTo>
                    <a:pt x="5027" y="806"/>
                  </a:lnTo>
                  <a:lnTo>
                    <a:pt x="3705" y="828"/>
                  </a:lnTo>
                  <a:lnTo>
                    <a:pt x="3047" y="1789"/>
                  </a:lnTo>
                  <a:lnTo>
                    <a:pt x="3106" y="2665"/>
                  </a:lnTo>
                  <a:lnTo>
                    <a:pt x="2104" y="3622"/>
                  </a:lnTo>
                  <a:lnTo>
                    <a:pt x="2256" y="4561"/>
                  </a:lnTo>
                  <a:lnTo>
                    <a:pt x="3288" y="5341"/>
                  </a:lnTo>
                  <a:lnTo>
                    <a:pt x="4241" y="6303"/>
                  </a:lnTo>
                  <a:lnTo>
                    <a:pt x="3288" y="6900"/>
                  </a:lnTo>
                  <a:lnTo>
                    <a:pt x="3129" y="7663"/>
                  </a:lnTo>
                  <a:cubicBezTo>
                    <a:pt x="3378" y="7883"/>
                    <a:pt x="3663" y="8077"/>
                    <a:pt x="3979" y="8241"/>
                  </a:cubicBezTo>
                  <a:cubicBezTo>
                    <a:pt x="4404" y="8461"/>
                    <a:pt x="4878" y="8624"/>
                    <a:pt x="5379" y="8720"/>
                  </a:cubicBezTo>
                  <a:lnTo>
                    <a:pt x="6013" y="7816"/>
                  </a:lnTo>
                  <a:lnTo>
                    <a:pt x="7340" y="7877"/>
                  </a:lnTo>
                  <a:lnTo>
                    <a:pt x="8475" y="8655"/>
                  </a:lnTo>
                  <a:lnTo>
                    <a:pt x="8475" y="9799"/>
                  </a:lnTo>
                  <a:cubicBezTo>
                    <a:pt x="8649" y="10161"/>
                    <a:pt x="8756" y="10540"/>
                    <a:pt x="8794" y="10924"/>
                  </a:cubicBezTo>
                  <a:cubicBezTo>
                    <a:pt x="8852" y="11516"/>
                    <a:pt x="8744" y="12110"/>
                    <a:pt x="8478" y="12668"/>
                  </a:cubicBezTo>
                  <a:lnTo>
                    <a:pt x="6756" y="12970"/>
                  </a:lnTo>
                  <a:lnTo>
                    <a:pt x="5830" y="13030"/>
                  </a:lnTo>
                  <a:lnTo>
                    <a:pt x="3796" y="13504"/>
                  </a:lnTo>
                  <a:lnTo>
                    <a:pt x="3975" y="14368"/>
                  </a:lnTo>
                  <a:lnTo>
                    <a:pt x="4901" y="14529"/>
                  </a:lnTo>
                  <a:lnTo>
                    <a:pt x="4662" y="15465"/>
                  </a:lnTo>
                  <a:lnTo>
                    <a:pt x="3020" y="15884"/>
                  </a:lnTo>
                  <a:lnTo>
                    <a:pt x="2091" y="16123"/>
                  </a:lnTo>
                  <a:lnTo>
                    <a:pt x="3022" y="16841"/>
                  </a:lnTo>
                  <a:lnTo>
                    <a:pt x="4564" y="17538"/>
                  </a:lnTo>
                  <a:lnTo>
                    <a:pt x="5725" y="17538"/>
                  </a:lnTo>
                  <a:lnTo>
                    <a:pt x="8134" y="17880"/>
                  </a:lnTo>
                  <a:lnTo>
                    <a:pt x="8426" y="18623"/>
                  </a:lnTo>
                  <a:lnTo>
                    <a:pt x="7232" y="19258"/>
                  </a:lnTo>
                  <a:lnTo>
                    <a:pt x="4232" y="19559"/>
                  </a:lnTo>
                  <a:lnTo>
                    <a:pt x="2642" y="20099"/>
                  </a:lnTo>
                  <a:lnTo>
                    <a:pt x="735" y="20340"/>
                  </a:lnTo>
                  <a:lnTo>
                    <a:pt x="0" y="21060"/>
                  </a:lnTo>
                  <a:lnTo>
                    <a:pt x="502" y="21600"/>
                  </a:lnTo>
                  <a:lnTo>
                    <a:pt x="2782" y="21359"/>
                  </a:lnTo>
                  <a:cubicBezTo>
                    <a:pt x="3310" y="21133"/>
                    <a:pt x="3861" y="20938"/>
                    <a:pt x="4428" y="20777"/>
                  </a:cubicBezTo>
                  <a:cubicBezTo>
                    <a:pt x="5234" y="20547"/>
                    <a:pt x="6071" y="20386"/>
                    <a:pt x="6924" y="20295"/>
                  </a:cubicBezTo>
                  <a:lnTo>
                    <a:pt x="8622" y="20174"/>
                  </a:lnTo>
                  <a:lnTo>
                    <a:pt x="11277" y="19873"/>
                  </a:lnTo>
                  <a:lnTo>
                    <a:pt x="12657" y="19753"/>
                  </a:lnTo>
                  <a:lnTo>
                    <a:pt x="14884" y="19050"/>
                  </a:lnTo>
                  <a:lnTo>
                    <a:pt x="16583" y="19391"/>
                  </a:lnTo>
                  <a:lnTo>
                    <a:pt x="19689" y="19030"/>
                  </a:lnTo>
                  <a:lnTo>
                    <a:pt x="18335" y="18548"/>
                  </a:lnTo>
                  <a:lnTo>
                    <a:pt x="16662" y="17767"/>
                  </a:lnTo>
                  <a:lnTo>
                    <a:pt x="21520" y="16502"/>
                  </a:lnTo>
                  <a:lnTo>
                    <a:pt x="21600" y="15842"/>
                  </a:lnTo>
                  <a:lnTo>
                    <a:pt x="21042" y="14238"/>
                  </a:lnTo>
                  <a:lnTo>
                    <a:pt x="19695" y="14120"/>
                  </a:lnTo>
                  <a:lnTo>
                    <a:pt x="18773" y="15157"/>
                  </a:lnTo>
                  <a:lnTo>
                    <a:pt x="16954" y="14916"/>
                  </a:lnTo>
                  <a:cubicBezTo>
                    <a:pt x="16658" y="14546"/>
                    <a:pt x="16446" y="14141"/>
                    <a:pt x="16327" y="13718"/>
                  </a:cubicBezTo>
                  <a:cubicBezTo>
                    <a:pt x="16175" y="13182"/>
                    <a:pt x="16175" y="12628"/>
                    <a:pt x="16327" y="12092"/>
                  </a:cubicBezTo>
                  <a:cubicBezTo>
                    <a:pt x="16208" y="11609"/>
                    <a:pt x="15994" y="11142"/>
                    <a:pt x="15690" y="10709"/>
                  </a:cubicBezTo>
                  <a:cubicBezTo>
                    <a:pt x="15360" y="10238"/>
                    <a:pt x="14929" y="9811"/>
                    <a:pt x="14416" y="9446"/>
                  </a:cubicBezTo>
                  <a:lnTo>
                    <a:pt x="13327" y="7779"/>
                  </a:lnTo>
                  <a:lnTo>
                    <a:pt x="10543" y="6097"/>
                  </a:lnTo>
                  <a:lnTo>
                    <a:pt x="8818" y="6097"/>
                  </a:lnTo>
                  <a:lnTo>
                    <a:pt x="7603" y="5799"/>
                  </a:lnTo>
                  <a:cubicBezTo>
                    <a:pt x="7249" y="5554"/>
                    <a:pt x="7071" y="5196"/>
                    <a:pt x="7125" y="4835"/>
                  </a:cubicBezTo>
                  <a:cubicBezTo>
                    <a:pt x="7216" y="4226"/>
                    <a:pt x="7901" y="3767"/>
                    <a:pt x="8711" y="3773"/>
                  </a:cubicBezTo>
                  <a:lnTo>
                    <a:pt x="10301" y="2689"/>
                  </a:lnTo>
                  <a:lnTo>
                    <a:pt x="8469" y="2151"/>
                  </a:lnTo>
                  <a:lnTo>
                    <a:pt x="6346" y="1730"/>
                  </a:lnTo>
                  <a:lnTo>
                    <a:pt x="6979" y="1072"/>
                  </a:lnTo>
                  <a:lnTo>
                    <a:pt x="7431" y="111"/>
                  </a:lnTo>
                  <a:lnTo>
                    <a:pt x="6288"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66" name="熊大的PPT宝库1-113"/>
            <p:cNvSpPr/>
            <p:nvPr/>
          </p:nvSpPr>
          <p:spPr>
            <a:xfrm>
              <a:off x="5674446" y="8266981"/>
              <a:ext cx="16360" cy="21150"/>
            </a:xfrm>
            <a:custGeom>
              <a:avLst/>
              <a:gdLst/>
              <a:ahLst/>
              <a:cxnLst>
                <a:cxn ang="0">
                  <a:pos x="wd2" y="hd2"/>
                </a:cxn>
                <a:cxn ang="5400000">
                  <a:pos x="wd2" y="hd2"/>
                </a:cxn>
                <a:cxn ang="10800000">
                  <a:pos x="wd2" y="hd2"/>
                </a:cxn>
                <a:cxn ang="16200000">
                  <a:pos x="wd2" y="hd2"/>
                </a:cxn>
              </a:cxnLst>
              <a:rect l="0" t="0" r="r" b="b"/>
              <a:pathLst>
                <a:path w="21600" h="21600" extrusionOk="0">
                  <a:moveTo>
                    <a:pt x="4405" y="858"/>
                  </a:moveTo>
                  <a:lnTo>
                    <a:pt x="0" y="8854"/>
                  </a:lnTo>
                  <a:lnTo>
                    <a:pt x="5633" y="18505"/>
                  </a:lnTo>
                  <a:lnTo>
                    <a:pt x="16548" y="21600"/>
                  </a:lnTo>
                  <a:lnTo>
                    <a:pt x="21600" y="10060"/>
                  </a:lnTo>
                  <a:lnTo>
                    <a:pt x="18861" y="0"/>
                  </a:lnTo>
                  <a:lnTo>
                    <a:pt x="4405" y="858"/>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67" name="熊大的PPT宝库1-114"/>
            <p:cNvSpPr/>
            <p:nvPr/>
          </p:nvSpPr>
          <p:spPr>
            <a:xfrm>
              <a:off x="5696066" y="8435084"/>
              <a:ext cx="17764" cy="16360"/>
            </a:xfrm>
            <a:custGeom>
              <a:avLst/>
              <a:gdLst/>
              <a:ahLst/>
              <a:cxnLst>
                <a:cxn ang="0">
                  <a:pos x="wd2" y="hd2"/>
                </a:cxn>
                <a:cxn ang="5400000">
                  <a:pos x="wd2" y="hd2"/>
                </a:cxn>
                <a:cxn ang="10800000">
                  <a:pos x="wd2" y="hd2"/>
                </a:cxn>
                <a:cxn ang="16200000">
                  <a:pos x="wd2" y="hd2"/>
                </a:cxn>
              </a:cxnLst>
              <a:rect l="0" t="0" r="r" b="b"/>
              <a:pathLst>
                <a:path w="21600" h="21600" extrusionOk="0">
                  <a:moveTo>
                    <a:pt x="13214" y="0"/>
                  </a:moveTo>
                  <a:lnTo>
                    <a:pt x="0" y="6137"/>
                  </a:lnTo>
                  <a:lnTo>
                    <a:pt x="4727" y="21600"/>
                  </a:lnTo>
                  <a:lnTo>
                    <a:pt x="21600" y="12940"/>
                  </a:lnTo>
                  <a:lnTo>
                    <a:pt x="13214"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68" name="熊大的PPT宝库1-115"/>
            <p:cNvSpPr/>
            <p:nvPr/>
          </p:nvSpPr>
          <p:spPr>
            <a:xfrm>
              <a:off x="5721466" y="8440637"/>
              <a:ext cx="16360" cy="1636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4630" y="1789"/>
                  </a:lnTo>
                  <a:lnTo>
                    <a:pt x="0" y="17575"/>
                  </a:lnTo>
                  <a:lnTo>
                    <a:pt x="16425" y="21600"/>
                  </a:lnTo>
                  <a:lnTo>
                    <a:pt x="21600"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69" name="熊大的PPT宝库1-116"/>
            <p:cNvSpPr/>
            <p:nvPr/>
          </p:nvSpPr>
          <p:spPr>
            <a:xfrm>
              <a:off x="5839840" y="8771302"/>
              <a:ext cx="39478" cy="45925"/>
            </a:xfrm>
            <a:custGeom>
              <a:avLst/>
              <a:gdLst/>
              <a:ahLst/>
              <a:cxnLst>
                <a:cxn ang="0">
                  <a:pos x="wd2" y="hd2"/>
                </a:cxn>
                <a:cxn ang="5400000">
                  <a:pos x="wd2" y="hd2"/>
                </a:cxn>
                <a:cxn ang="10800000">
                  <a:pos x="wd2" y="hd2"/>
                </a:cxn>
                <a:cxn ang="16200000">
                  <a:pos x="wd2" y="hd2"/>
                </a:cxn>
              </a:cxnLst>
              <a:rect l="0" t="0" r="r" b="b"/>
              <a:pathLst>
                <a:path w="20245" h="21188" extrusionOk="0">
                  <a:moveTo>
                    <a:pt x="11664" y="4816"/>
                  </a:moveTo>
                  <a:lnTo>
                    <a:pt x="9025" y="9331"/>
                  </a:lnTo>
                  <a:lnTo>
                    <a:pt x="6223" y="14637"/>
                  </a:lnTo>
                  <a:lnTo>
                    <a:pt x="0" y="13938"/>
                  </a:lnTo>
                  <a:lnTo>
                    <a:pt x="635" y="18481"/>
                  </a:lnTo>
                  <a:lnTo>
                    <a:pt x="7824" y="19865"/>
                  </a:lnTo>
                  <a:cubicBezTo>
                    <a:pt x="10049" y="21332"/>
                    <a:pt x="12992" y="21600"/>
                    <a:pt x="15502" y="20564"/>
                  </a:cubicBezTo>
                  <a:cubicBezTo>
                    <a:pt x="19950" y="18729"/>
                    <a:pt x="21600" y="13831"/>
                    <a:pt x="19023" y="10107"/>
                  </a:cubicBezTo>
                  <a:lnTo>
                    <a:pt x="19415" y="0"/>
                  </a:lnTo>
                  <a:lnTo>
                    <a:pt x="11664" y="4816"/>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70" name="熊大的PPT宝库1-117"/>
            <p:cNvSpPr/>
            <p:nvPr/>
          </p:nvSpPr>
          <p:spPr>
            <a:xfrm>
              <a:off x="6047994" y="8673032"/>
              <a:ext cx="32675" cy="52401"/>
            </a:xfrm>
            <a:custGeom>
              <a:avLst/>
              <a:gdLst/>
              <a:ahLst/>
              <a:cxnLst>
                <a:cxn ang="0">
                  <a:pos x="wd2" y="hd2"/>
                </a:cxn>
                <a:cxn ang="5400000">
                  <a:pos x="wd2" y="hd2"/>
                </a:cxn>
                <a:cxn ang="10800000">
                  <a:pos x="wd2" y="hd2"/>
                </a:cxn>
                <a:cxn ang="16200000">
                  <a:pos x="wd2" y="hd2"/>
                </a:cxn>
              </a:cxnLst>
              <a:rect l="0" t="0" r="r" b="b"/>
              <a:pathLst>
                <a:path w="21600" h="21600" extrusionOk="0">
                  <a:moveTo>
                    <a:pt x="13661" y="1731"/>
                  </a:moveTo>
                  <a:lnTo>
                    <a:pt x="11853" y="5894"/>
                  </a:lnTo>
                  <a:lnTo>
                    <a:pt x="4206" y="5101"/>
                  </a:lnTo>
                  <a:lnTo>
                    <a:pt x="0" y="9460"/>
                  </a:lnTo>
                  <a:lnTo>
                    <a:pt x="168" y="14442"/>
                  </a:lnTo>
                  <a:cubicBezTo>
                    <a:pt x="2798" y="15061"/>
                    <a:pt x="5194" y="16010"/>
                    <a:pt x="7206" y="17228"/>
                  </a:cubicBezTo>
                  <a:cubicBezTo>
                    <a:pt x="9251" y="18466"/>
                    <a:pt x="10854" y="19955"/>
                    <a:pt x="11913" y="21600"/>
                  </a:cubicBezTo>
                  <a:lnTo>
                    <a:pt x="21600" y="20338"/>
                  </a:lnTo>
                  <a:lnTo>
                    <a:pt x="21600" y="12245"/>
                  </a:lnTo>
                  <a:lnTo>
                    <a:pt x="20591" y="5088"/>
                  </a:lnTo>
                  <a:lnTo>
                    <a:pt x="18069" y="0"/>
                  </a:lnTo>
                  <a:lnTo>
                    <a:pt x="13661" y="1731"/>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71" name="熊大的PPT宝库1-118"/>
            <p:cNvSpPr/>
            <p:nvPr/>
          </p:nvSpPr>
          <p:spPr>
            <a:xfrm>
              <a:off x="6035231" y="8744651"/>
              <a:ext cx="44328" cy="77472"/>
            </a:xfrm>
            <a:custGeom>
              <a:avLst/>
              <a:gdLst/>
              <a:ahLst/>
              <a:cxnLst>
                <a:cxn ang="0">
                  <a:pos x="wd2" y="hd2"/>
                </a:cxn>
                <a:cxn ang="5400000">
                  <a:pos x="wd2" y="hd2"/>
                </a:cxn>
                <a:cxn ang="10800000">
                  <a:pos x="wd2" y="hd2"/>
                </a:cxn>
                <a:cxn ang="16200000">
                  <a:pos x="wd2" y="hd2"/>
                </a:cxn>
              </a:cxnLst>
              <a:rect l="0" t="0" r="r" b="b"/>
              <a:pathLst>
                <a:path w="21055" h="21324" extrusionOk="0">
                  <a:moveTo>
                    <a:pt x="8993" y="0"/>
                  </a:moveTo>
                  <a:lnTo>
                    <a:pt x="4720" y="2328"/>
                  </a:lnTo>
                  <a:lnTo>
                    <a:pt x="264" y="4061"/>
                  </a:lnTo>
                  <a:lnTo>
                    <a:pt x="0" y="7596"/>
                  </a:lnTo>
                  <a:lnTo>
                    <a:pt x="4908" y="9951"/>
                  </a:lnTo>
                  <a:lnTo>
                    <a:pt x="4908" y="14304"/>
                  </a:lnTo>
                  <a:lnTo>
                    <a:pt x="7308" y="16172"/>
                  </a:lnTo>
                  <a:lnTo>
                    <a:pt x="8380" y="19699"/>
                  </a:lnTo>
                  <a:cubicBezTo>
                    <a:pt x="8501" y="20496"/>
                    <a:pt x="9534" y="21148"/>
                    <a:pt x="10902" y="21289"/>
                  </a:cubicBezTo>
                  <a:cubicBezTo>
                    <a:pt x="13902" y="21600"/>
                    <a:pt x="16165" y="19752"/>
                    <a:pt x="14647" y="18231"/>
                  </a:cubicBezTo>
                  <a:lnTo>
                    <a:pt x="18270" y="17605"/>
                  </a:lnTo>
                  <a:cubicBezTo>
                    <a:pt x="19422" y="16417"/>
                    <a:pt x="20233" y="15129"/>
                    <a:pt x="20671" y="13792"/>
                  </a:cubicBezTo>
                  <a:cubicBezTo>
                    <a:pt x="21600" y="10953"/>
                    <a:pt x="20834" y="8017"/>
                    <a:pt x="18496" y="5460"/>
                  </a:cubicBezTo>
                  <a:lnTo>
                    <a:pt x="18149" y="907"/>
                  </a:lnTo>
                  <a:lnTo>
                    <a:pt x="8993"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72" name="熊大的PPT宝库1-119"/>
            <p:cNvSpPr/>
            <p:nvPr/>
          </p:nvSpPr>
          <p:spPr>
            <a:xfrm>
              <a:off x="6170458" y="8848999"/>
              <a:ext cx="87464" cy="46959"/>
            </a:xfrm>
            <a:custGeom>
              <a:avLst/>
              <a:gdLst/>
              <a:ahLst/>
              <a:cxnLst>
                <a:cxn ang="0">
                  <a:pos x="wd2" y="hd2"/>
                </a:cxn>
                <a:cxn ang="5400000">
                  <a:pos x="wd2" y="hd2"/>
                </a:cxn>
                <a:cxn ang="10800000">
                  <a:pos x="wd2" y="hd2"/>
                </a:cxn>
                <a:cxn ang="16200000">
                  <a:pos x="wd2" y="hd2"/>
                </a:cxn>
              </a:cxnLst>
              <a:rect l="0" t="0" r="r" b="b"/>
              <a:pathLst>
                <a:path w="21600" h="21334" extrusionOk="0">
                  <a:moveTo>
                    <a:pt x="7882" y="0"/>
                  </a:moveTo>
                  <a:lnTo>
                    <a:pt x="5685" y="3441"/>
                  </a:lnTo>
                  <a:lnTo>
                    <a:pt x="1488" y="2877"/>
                  </a:lnTo>
                  <a:lnTo>
                    <a:pt x="0" y="5287"/>
                  </a:lnTo>
                  <a:lnTo>
                    <a:pt x="2117" y="8371"/>
                  </a:lnTo>
                  <a:lnTo>
                    <a:pt x="8892" y="11123"/>
                  </a:lnTo>
                  <a:lnTo>
                    <a:pt x="13224" y="15942"/>
                  </a:lnTo>
                  <a:lnTo>
                    <a:pt x="17549" y="21334"/>
                  </a:lnTo>
                  <a:lnTo>
                    <a:pt x="19418" y="15125"/>
                  </a:lnTo>
                  <a:lnTo>
                    <a:pt x="19418" y="11123"/>
                  </a:lnTo>
                  <a:lnTo>
                    <a:pt x="21600" y="5502"/>
                  </a:lnTo>
                  <a:cubicBezTo>
                    <a:pt x="21188" y="3626"/>
                    <a:pt x="20374" y="2139"/>
                    <a:pt x="19348" y="1386"/>
                  </a:cubicBezTo>
                  <a:cubicBezTo>
                    <a:pt x="17095" y="-266"/>
                    <a:pt x="14537" y="1740"/>
                    <a:pt x="13641" y="5861"/>
                  </a:cubicBezTo>
                  <a:lnTo>
                    <a:pt x="11263" y="1414"/>
                  </a:lnTo>
                  <a:lnTo>
                    <a:pt x="7882"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73" name="熊大的PPT宝库1-120"/>
            <p:cNvSpPr/>
            <p:nvPr/>
          </p:nvSpPr>
          <p:spPr>
            <a:xfrm>
              <a:off x="6211993" y="8922352"/>
              <a:ext cx="19383" cy="16966"/>
            </a:xfrm>
            <a:custGeom>
              <a:avLst/>
              <a:gdLst/>
              <a:ahLst/>
              <a:cxnLst>
                <a:cxn ang="0">
                  <a:pos x="wd2" y="hd2"/>
                </a:cxn>
                <a:cxn ang="5400000">
                  <a:pos x="wd2" y="hd2"/>
                </a:cxn>
                <a:cxn ang="10800000">
                  <a:pos x="wd2" y="hd2"/>
                </a:cxn>
                <a:cxn ang="16200000">
                  <a:pos x="wd2" y="hd2"/>
                </a:cxn>
              </a:cxnLst>
              <a:rect l="0" t="0" r="r" b="b"/>
              <a:pathLst>
                <a:path w="21600" h="21600" extrusionOk="0">
                  <a:moveTo>
                    <a:pt x="15774" y="1048"/>
                  </a:moveTo>
                  <a:lnTo>
                    <a:pt x="1426" y="0"/>
                  </a:lnTo>
                  <a:lnTo>
                    <a:pt x="0" y="17702"/>
                  </a:lnTo>
                  <a:lnTo>
                    <a:pt x="21600" y="21600"/>
                  </a:lnTo>
                  <a:lnTo>
                    <a:pt x="15774" y="1048"/>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74" name="熊大的PPT宝库1-121"/>
            <p:cNvSpPr/>
            <p:nvPr/>
          </p:nvSpPr>
          <p:spPr>
            <a:xfrm>
              <a:off x="6512690" y="8938839"/>
              <a:ext cx="97332" cy="33679"/>
            </a:xfrm>
            <a:custGeom>
              <a:avLst/>
              <a:gdLst/>
              <a:ahLst/>
              <a:cxnLst>
                <a:cxn ang="0">
                  <a:pos x="wd2" y="hd2"/>
                </a:cxn>
                <a:cxn ang="5400000">
                  <a:pos x="wd2" y="hd2"/>
                </a:cxn>
                <a:cxn ang="10800000">
                  <a:pos x="wd2" y="hd2"/>
                </a:cxn>
                <a:cxn ang="16200000">
                  <a:pos x="wd2" y="hd2"/>
                </a:cxn>
              </a:cxnLst>
              <a:rect l="0" t="0" r="r" b="b"/>
              <a:pathLst>
                <a:path w="21565" h="19779" extrusionOk="0">
                  <a:moveTo>
                    <a:pt x="12434" y="4397"/>
                  </a:moveTo>
                  <a:lnTo>
                    <a:pt x="7006" y="2044"/>
                  </a:lnTo>
                  <a:lnTo>
                    <a:pt x="3364" y="1828"/>
                  </a:lnTo>
                  <a:cubicBezTo>
                    <a:pt x="2241" y="-1757"/>
                    <a:pt x="29" y="279"/>
                    <a:pt x="0" y="4926"/>
                  </a:cubicBezTo>
                  <a:cubicBezTo>
                    <a:pt x="-35" y="10379"/>
                    <a:pt x="2718" y="12346"/>
                    <a:pt x="3736" y="7595"/>
                  </a:cubicBezTo>
                  <a:lnTo>
                    <a:pt x="6269" y="12491"/>
                  </a:lnTo>
                  <a:lnTo>
                    <a:pt x="8797" y="17829"/>
                  </a:lnTo>
                  <a:cubicBezTo>
                    <a:pt x="10237" y="18722"/>
                    <a:pt x="11702" y="19311"/>
                    <a:pt x="13178" y="19590"/>
                  </a:cubicBezTo>
                  <a:cubicBezTo>
                    <a:pt x="14509" y="19843"/>
                    <a:pt x="15846" y="19843"/>
                    <a:pt x="17178" y="19590"/>
                  </a:cubicBezTo>
                  <a:lnTo>
                    <a:pt x="21565" y="16031"/>
                  </a:lnTo>
                  <a:lnTo>
                    <a:pt x="21234" y="9358"/>
                  </a:lnTo>
                  <a:cubicBezTo>
                    <a:pt x="20150" y="10055"/>
                    <a:pt x="19031" y="10305"/>
                    <a:pt x="17917" y="10099"/>
                  </a:cubicBezTo>
                  <a:cubicBezTo>
                    <a:pt x="16919" y="9915"/>
                    <a:pt x="15935" y="9366"/>
                    <a:pt x="14995" y="8468"/>
                  </a:cubicBezTo>
                  <a:lnTo>
                    <a:pt x="12434" y="4397"/>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75" name="熊大的PPT宝库1-122"/>
            <p:cNvSpPr/>
            <p:nvPr/>
          </p:nvSpPr>
          <p:spPr>
            <a:xfrm>
              <a:off x="6340470" y="8065144"/>
              <a:ext cx="32397" cy="27552"/>
            </a:xfrm>
            <a:custGeom>
              <a:avLst/>
              <a:gdLst/>
              <a:ahLst/>
              <a:cxnLst>
                <a:cxn ang="0">
                  <a:pos x="wd2" y="hd2"/>
                </a:cxn>
                <a:cxn ang="5400000">
                  <a:pos x="wd2" y="hd2"/>
                </a:cxn>
                <a:cxn ang="10800000">
                  <a:pos x="wd2" y="hd2"/>
                </a:cxn>
                <a:cxn ang="16200000">
                  <a:pos x="wd2" y="hd2"/>
                </a:cxn>
              </a:cxnLst>
              <a:rect l="0" t="0" r="r" b="b"/>
              <a:pathLst>
                <a:path w="20495" h="21600" extrusionOk="0">
                  <a:moveTo>
                    <a:pt x="13981" y="0"/>
                  </a:moveTo>
                  <a:lnTo>
                    <a:pt x="5719" y="857"/>
                  </a:lnTo>
                  <a:lnTo>
                    <a:pt x="0" y="11369"/>
                  </a:lnTo>
                  <a:lnTo>
                    <a:pt x="5962" y="17640"/>
                  </a:lnTo>
                  <a:lnTo>
                    <a:pt x="14301" y="21600"/>
                  </a:lnTo>
                  <a:cubicBezTo>
                    <a:pt x="17054" y="20527"/>
                    <a:pt x="19207" y="17865"/>
                    <a:pt x="20066" y="14472"/>
                  </a:cubicBezTo>
                  <a:cubicBezTo>
                    <a:pt x="21600" y="8411"/>
                    <a:pt x="18887" y="1959"/>
                    <a:pt x="13981" y="0"/>
                  </a:cubicBez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76" name="熊大的PPT宝库1-123"/>
            <p:cNvSpPr/>
            <p:nvPr/>
          </p:nvSpPr>
          <p:spPr>
            <a:xfrm>
              <a:off x="9451334" y="10654519"/>
              <a:ext cx="1322325" cy="1010305"/>
            </a:xfrm>
            <a:custGeom>
              <a:avLst/>
              <a:gdLst/>
              <a:ahLst/>
              <a:cxnLst>
                <a:cxn ang="0">
                  <a:pos x="wd2" y="hd2"/>
                </a:cxn>
                <a:cxn ang="5400000">
                  <a:pos x="wd2" y="hd2"/>
                </a:cxn>
                <a:cxn ang="10800000">
                  <a:pos x="wd2" y="hd2"/>
                </a:cxn>
                <a:cxn ang="16200000">
                  <a:pos x="wd2" y="hd2"/>
                </a:cxn>
              </a:cxnLst>
              <a:rect l="0" t="0" r="r" b="b"/>
              <a:pathLst>
                <a:path w="21600" h="21587" extrusionOk="0">
                  <a:moveTo>
                    <a:pt x="5954" y="5356"/>
                  </a:moveTo>
                  <a:lnTo>
                    <a:pt x="5796" y="5869"/>
                  </a:lnTo>
                  <a:lnTo>
                    <a:pt x="5503" y="6311"/>
                  </a:lnTo>
                  <a:lnTo>
                    <a:pt x="5365" y="6483"/>
                  </a:lnTo>
                  <a:lnTo>
                    <a:pt x="5082" y="6656"/>
                  </a:lnTo>
                  <a:lnTo>
                    <a:pt x="4719" y="6834"/>
                  </a:lnTo>
                  <a:lnTo>
                    <a:pt x="4278" y="6893"/>
                  </a:lnTo>
                  <a:lnTo>
                    <a:pt x="3867" y="6963"/>
                  </a:lnTo>
                  <a:lnTo>
                    <a:pt x="3605" y="7152"/>
                  </a:lnTo>
                  <a:lnTo>
                    <a:pt x="3201" y="7421"/>
                  </a:lnTo>
                  <a:lnTo>
                    <a:pt x="2840" y="7616"/>
                  </a:lnTo>
                  <a:lnTo>
                    <a:pt x="2159" y="7891"/>
                  </a:lnTo>
                  <a:lnTo>
                    <a:pt x="1627" y="8085"/>
                  </a:lnTo>
                  <a:lnTo>
                    <a:pt x="1116" y="8295"/>
                  </a:lnTo>
                  <a:lnTo>
                    <a:pt x="1025" y="8677"/>
                  </a:lnTo>
                  <a:lnTo>
                    <a:pt x="980" y="8983"/>
                  </a:lnTo>
                  <a:lnTo>
                    <a:pt x="880" y="9313"/>
                  </a:lnTo>
                  <a:lnTo>
                    <a:pt x="718" y="9572"/>
                  </a:lnTo>
                  <a:lnTo>
                    <a:pt x="742" y="9911"/>
                  </a:lnTo>
                  <a:lnTo>
                    <a:pt x="766" y="10200"/>
                  </a:lnTo>
                  <a:lnTo>
                    <a:pt x="887" y="10459"/>
                  </a:lnTo>
                  <a:lnTo>
                    <a:pt x="982" y="10658"/>
                  </a:lnTo>
                  <a:lnTo>
                    <a:pt x="945" y="10981"/>
                  </a:lnTo>
                  <a:lnTo>
                    <a:pt x="804" y="11271"/>
                  </a:lnTo>
                  <a:lnTo>
                    <a:pt x="643" y="11837"/>
                  </a:lnTo>
                  <a:lnTo>
                    <a:pt x="607" y="12409"/>
                  </a:lnTo>
                  <a:lnTo>
                    <a:pt x="619" y="12825"/>
                  </a:lnTo>
                  <a:lnTo>
                    <a:pt x="619" y="14159"/>
                  </a:lnTo>
                  <a:lnTo>
                    <a:pt x="657" y="14449"/>
                  </a:lnTo>
                  <a:lnTo>
                    <a:pt x="756" y="14821"/>
                  </a:lnTo>
                  <a:lnTo>
                    <a:pt x="756" y="15123"/>
                  </a:lnTo>
                  <a:lnTo>
                    <a:pt x="806" y="15510"/>
                  </a:lnTo>
                  <a:lnTo>
                    <a:pt x="856" y="15799"/>
                  </a:lnTo>
                  <a:lnTo>
                    <a:pt x="756" y="16171"/>
                  </a:lnTo>
                  <a:lnTo>
                    <a:pt x="620" y="16478"/>
                  </a:lnTo>
                  <a:lnTo>
                    <a:pt x="546" y="16734"/>
                  </a:lnTo>
                  <a:lnTo>
                    <a:pt x="484" y="17052"/>
                  </a:lnTo>
                  <a:lnTo>
                    <a:pt x="393" y="17251"/>
                  </a:lnTo>
                  <a:lnTo>
                    <a:pt x="218" y="17348"/>
                  </a:lnTo>
                  <a:lnTo>
                    <a:pt x="0" y="17440"/>
                  </a:lnTo>
                  <a:lnTo>
                    <a:pt x="75" y="17639"/>
                  </a:lnTo>
                  <a:lnTo>
                    <a:pt x="148" y="17822"/>
                  </a:lnTo>
                  <a:lnTo>
                    <a:pt x="409" y="18166"/>
                  </a:lnTo>
                  <a:lnTo>
                    <a:pt x="717" y="18165"/>
                  </a:lnTo>
                  <a:lnTo>
                    <a:pt x="954" y="18364"/>
                  </a:lnTo>
                  <a:lnTo>
                    <a:pt x="1202" y="18316"/>
                  </a:lnTo>
                  <a:lnTo>
                    <a:pt x="1439" y="18047"/>
                  </a:lnTo>
                  <a:lnTo>
                    <a:pt x="1767" y="17901"/>
                  </a:lnTo>
                  <a:lnTo>
                    <a:pt x="2169" y="17804"/>
                  </a:lnTo>
                  <a:lnTo>
                    <a:pt x="2597" y="17535"/>
                  </a:lnTo>
                  <a:lnTo>
                    <a:pt x="2792" y="17454"/>
                  </a:lnTo>
                  <a:lnTo>
                    <a:pt x="3078" y="17389"/>
                  </a:lnTo>
                  <a:lnTo>
                    <a:pt x="3572" y="17373"/>
                  </a:lnTo>
                  <a:lnTo>
                    <a:pt x="3783" y="17308"/>
                  </a:lnTo>
                  <a:lnTo>
                    <a:pt x="4016" y="17260"/>
                  </a:lnTo>
                  <a:lnTo>
                    <a:pt x="4277" y="17211"/>
                  </a:lnTo>
                  <a:cubicBezTo>
                    <a:pt x="4368" y="17227"/>
                    <a:pt x="4461" y="17227"/>
                    <a:pt x="4552" y="17211"/>
                  </a:cubicBezTo>
                  <a:cubicBezTo>
                    <a:pt x="4646" y="17194"/>
                    <a:pt x="4738" y="17159"/>
                    <a:pt x="4825" y="17108"/>
                  </a:cubicBezTo>
                  <a:lnTo>
                    <a:pt x="5149" y="16802"/>
                  </a:lnTo>
                  <a:lnTo>
                    <a:pt x="5410" y="16608"/>
                  </a:lnTo>
                  <a:lnTo>
                    <a:pt x="5793" y="16451"/>
                  </a:lnTo>
                  <a:lnTo>
                    <a:pt x="6066" y="16339"/>
                  </a:lnTo>
                  <a:lnTo>
                    <a:pt x="6419" y="16236"/>
                  </a:lnTo>
                  <a:lnTo>
                    <a:pt x="7073" y="16033"/>
                  </a:lnTo>
                  <a:lnTo>
                    <a:pt x="7555" y="15812"/>
                  </a:lnTo>
                  <a:lnTo>
                    <a:pt x="7812" y="15893"/>
                  </a:lnTo>
                  <a:lnTo>
                    <a:pt x="8156" y="15925"/>
                  </a:lnTo>
                  <a:lnTo>
                    <a:pt x="8413" y="15764"/>
                  </a:lnTo>
                  <a:cubicBezTo>
                    <a:pt x="8514" y="15721"/>
                    <a:pt x="8618" y="15693"/>
                    <a:pt x="8724" y="15683"/>
                  </a:cubicBezTo>
                  <a:cubicBezTo>
                    <a:pt x="8850" y="15670"/>
                    <a:pt x="8977" y="15680"/>
                    <a:pt x="9101" y="15714"/>
                  </a:cubicBezTo>
                  <a:lnTo>
                    <a:pt x="9309" y="15811"/>
                  </a:lnTo>
                  <a:lnTo>
                    <a:pt x="9665" y="16129"/>
                  </a:lnTo>
                  <a:lnTo>
                    <a:pt x="9802" y="16323"/>
                  </a:lnTo>
                  <a:lnTo>
                    <a:pt x="10014" y="16431"/>
                  </a:lnTo>
                  <a:cubicBezTo>
                    <a:pt x="10054" y="16535"/>
                    <a:pt x="10087" y="16643"/>
                    <a:pt x="10112" y="16754"/>
                  </a:cubicBezTo>
                  <a:cubicBezTo>
                    <a:pt x="10146" y="16901"/>
                    <a:pt x="10167" y="17052"/>
                    <a:pt x="10174" y="17205"/>
                  </a:cubicBezTo>
                  <a:lnTo>
                    <a:pt x="10302" y="17344"/>
                  </a:lnTo>
                  <a:lnTo>
                    <a:pt x="10401" y="17554"/>
                  </a:lnTo>
                  <a:lnTo>
                    <a:pt x="10451" y="17811"/>
                  </a:lnTo>
                  <a:lnTo>
                    <a:pt x="10476" y="18064"/>
                  </a:lnTo>
                  <a:lnTo>
                    <a:pt x="10688" y="18145"/>
                  </a:lnTo>
                  <a:lnTo>
                    <a:pt x="10787" y="17837"/>
                  </a:lnTo>
                  <a:lnTo>
                    <a:pt x="10899" y="17643"/>
                  </a:lnTo>
                  <a:lnTo>
                    <a:pt x="11281" y="17568"/>
                  </a:lnTo>
                  <a:lnTo>
                    <a:pt x="11514" y="17330"/>
                  </a:lnTo>
                  <a:lnTo>
                    <a:pt x="11659" y="16996"/>
                  </a:lnTo>
                  <a:lnTo>
                    <a:pt x="11759" y="16727"/>
                  </a:lnTo>
                  <a:lnTo>
                    <a:pt x="11983" y="16727"/>
                  </a:lnTo>
                  <a:lnTo>
                    <a:pt x="12102" y="16986"/>
                  </a:lnTo>
                  <a:lnTo>
                    <a:pt x="12069" y="17282"/>
                  </a:lnTo>
                  <a:lnTo>
                    <a:pt x="11874" y="17524"/>
                  </a:lnTo>
                  <a:lnTo>
                    <a:pt x="11654" y="17767"/>
                  </a:lnTo>
                  <a:lnTo>
                    <a:pt x="11510" y="17972"/>
                  </a:lnTo>
                  <a:lnTo>
                    <a:pt x="11473" y="18225"/>
                  </a:lnTo>
                  <a:lnTo>
                    <a:pt x="11274" y="18418"/>
                  </a:lnTo>
                  <a:lnTo>
                    <a:pt x="11125" y="18467"/>
                  </a:lnTo>
                  <a:lnTo>
                    <a:pt x="11188" y="18634"/>
                  </a:lnTo>
                  <a:lnTo>
                    <a:pt x="11336" y="18634"/>
                  </a:lnTo>
                  <a:lnTo>
                    <a:pt x="11507" y="18537"/>
                  </a:lnTo>
                  <a:lnTo>
                    <a:pt x="11648" y="18208"/>
                  </a:lnTo>
                  <a:lnTo>
                    <a:pt x="11859" y="17966"/>
                  </a:lnTo>
                  <a:lnTo>
                    <a:pt x="11982" y="17997"/>
                  </a:lnTo>
                  <a:lnTo>
                    <a:pt x="12028" y="18234"/>
                  </a:lnTo>
                  <a:lnTo>
                    <a:pt x="12003" y="18557"/>
                  </a:lnTo>
                  <a:lnTo>
                    <a:pt x="11990" y="18719"/>
                  </a:lnTo>
                  <a:lnTo>
                    <a:pt x="12143" y="18913"/>
                  </a:lnTo>
                  <a:lnTo>
                    <a:pt x="12243" y="19251"/>
                  </a:lnTo>
                  <a:lnTo>
                    <a:pt x="12130" y="19639"/>
                  </a:lnTo>
                  <a:lnTo>
                    <a:pt x="12031" y="19855"/>
                  </a:lnTo>
                  <a:lnTo>
                    <a:pt x="11944" y="20096"/>
                  </a:lnTo>
                  <a:lnTo>
                    <a:pt x="12193" y="20469"/>
                  </a:lnTo>
                  <a:lnTo>
                    <a:pt x="12600" y="20760"/>
                  </a:lnTo>
                  <a:lnTo>
                    <a:pt x="12912" y="21094"/>
                  </a:lnTo>
                  <a:lnTo>
                    <a:pt x="13119" y="21142"/>
                  </a:lnTo>
                  <a:lnTo>
                    <a:pt x="13372" y="21202"/>
                  </a:lnTo>
                  <a:cubicBezTo>
                    <a:pt x="13427" y="21195"/>
                    <a:pt x="13481" y="21173"/>
                    <a:pt x="13529" y="21138"/>
                  </a:cubicBezTo>
                  <a:cubicBezTo>
                    <a:pt x="13608" y="21080"/>
                    <a:pt x="13669" y="20988"/>
                    <a:pt x="13703" y="20879"/>
                  </a:cubicBezTo>
                  <a:lnTo>
                    <a:pt x="13911" y="20820"/>
                  </a:lnTo>
                  <a:lnTo>
                    <a:pt x="14131" y="20831"/>
                  </a:lnTo>
                  <a:lnTo>
                    <a:pt x="14366" y="21000"/>
                  </a:lnTo>
                  <a:lnTo>
                    <a:pt x="14503" y="21323"/>
                  </a:lnTo>
                  <a:cubicBezTo>
                    <a:pt x="14516" y="21451"/>
                    <a:pt x="14589" y="21554"/>
                    <a:pt x="14686" y="21581"/>
                  </a:cubicBezTo>
                  <a:cubicBezTo>
                    <a:pt x="14755" y="21600"/>
                    <a:pt x="14827" y="21576"/>
                    <a:pt x="14881" y="21516"/>
                  </a:cubicBezTo>
                  <a:lnTo>
                    <a:pt x="15117" y="21042"/>
                  </a:lnTo>
                  <a:cubicBezTo>
                    <a:pt x="15153" y="20962"/>
                    <a:pt x="15199" y="20891"/>
                    <a:pt x="15254" y="20832"/>
                  </a:cubicBezTo>
                  <a:cubicBezTo>
                    <a:pt x="15361" y="20715"/>
                    <a:pt x="15495" y="20649"/>
                    <a:pt x="15635" y="20643"/>
                  </a:cubicBezTo>
                  <a:lnTo>
                    <a:pt x="15896" y="20578"/>
                  </a:lnTo>
                  <a:lnTo>
                    <a:pt x="16108" y="20578"/>
                  </a:lnTo>
                  <a:lnTo>
                    <a:pt x="16320" y="20708"/>
                  </a:lnTo>
                  <a:cubicBezTo>
                    <a:pt x="16368" y="20765"/>
                    <a:pt x="16429" y="20799"/>
                    <a:pt x="16494" y="20805"/>
                  </a:cubicBezTo>
                  <a:cubicBezTo>
                    <a:pt x="16587" y="20814"/>
                    <a:pt x="16677" y="20766"/>
                    <a:pt x="16739" y="20676"/>
                  </a:cubicBezTo>
                  <a:lnTo>
                    <a:pt x="16988" y="20110"/>
                  </a:lnTo>
                  <a:lnTo>
                    <a:pt x="17250" y="19592"/>
                  </a:lnTo>
                  <a:cubicBezTo>
                    <a:pt x="17331" y="19471"/>
                    <a:pt x="17410" y="19347"/>
                    <a:pt x="17487" y="19220"/>
                  </a:cubicBezTo>
                  <a:cubicBezTo>
                    <a:pt x="17562" y="19095"/>
                    <a:pt x="17636" y="18967"/>
                    <a:pt x="17707" y="18837"/>
                  </a:cubicBezTo>
                  <a:lnTo>
                    <a:pt x="18063" y="18805"/>
                  </a:lnTo>
                  <a:lnTo>
                    <a:pt x="18151" y="18627"/>
                  </a:lnTo>
                  <a:lnTo>
                    <a:pt x="18358" y="18341"/>
                  </a:lnTo>
                  <a:lnTo>
                    <a:pt x="18454" y="18136"/>
                  </a:lnTo>
                  <a:lnTo>
                    <a:pt x="18691" y="17893"/>
                  </a:lnTo>
                  <a:cubicBezTo>
                    <a:pt x="18717" y="17817"/>
                    <a:pt x="18736" y="17738"/>
                    <a:pt x="18748" y="17656"/>
                  </a:cubicBezTo>
                  <a:cubicBezTo>
                    <a:pt x="18765" y="17543"/>
                    <a:pt x="18767" y="17423"/>
                    <a:pt x="18810" y="17321"/>
                  </a:cubicBezTo>
                  <a:cubicBezTo>
                    <a:pt x="18860" y="17203"/>
                    <a:pt x="18955" y="17129"/>
                    <a:pt x="19059" y="17127"/>
                  </a:cubicBezTo>
                  <a:lnTo>
                    <a:pt x="19413" y="16924"/>
                  </a:lnTo>
                  <a:lnTo>
                    <a:pt x="19787" y="16655"/>
                  </a:lnTo>
                  <a:lnTo>
                    <a:pt x="19874" y="16445"/>
                  </a:lnTo>
                  <a:lnTo>
                    <a:pt x="20023" y="16251"/>
                  </a:lnTo>
                  <a:lnTo>
                    <a:pt x="20285" y="15880"/>
                  </a:lnTo>
                  <a:lnTo>
                    <a:pt x="20451" y="15642"/>
                  </a:lnTo>
                  <a:lnTo>
                    <a:pt x="20476" y="15370"/>
                  </a:lnTo>
                  <a:cubicBezTo>
                    <a:pt x="20512" y="15250"/>
                    <a:pt x="20553" y="15133"/>
                    <a:pt x="20601" y="15020"/>
                  </a:cubicBezTo>
                  <a:cubicBezTo>
                    <a:pt x="20671" y="14852"/>
                    <a:pt x="20753" y="14693"/>
                    <a:pt x="20846" y="14545"/>
                  </a:cubicBezTo>
                  <a:cubicBezTo>
                    <a:pt x="20913" y="14433"/>
                    <a:pt x="20979" y="14320"/>
                    <a:pt x="21045" y="14206"/>
                  </a:cubicBezTo>
                  <a:cubicBezTo>
                    <a:pt x="21111" y="14091"/>
                    <a:pt x="21176" y="13976"/>
                    <a:pt x="21240" y="13860"/>
                  </a:cubicBezTo>
                  <a:cubicBezTo>
                    <a:pt x="21281" y="13719"/>
                    <a:pt x="21310" y="13572"/>
                    <a:pt x="21327" y="13423"/>
                  </a:cubicBezTo>
                  <a:cubicBezTo>
                    <a:pt x="21345" y="13266"/>
                    <a:pt x="21349" y="13107"/>
                    <a:pt x="21340" y="12948"/>
                  </a:cubicBezTo>
                  <a:lnTo>
                    <a:pt x="21550" y="12563"/>
                  </a:lnTo>
                  <a:cubicBezTo>
                    <a:pt x="21536" y="12461"/>
                    <a:pt x="21532" y="12358"/>
                    <a:pt x="21538" y="12255"/>
                  </a:cubicBezTo>
                  <a:cubicBezTo>
                    <a:pt x="21545" y="12135"/>
                    <a:pt x="21566" y="12016"/>
                    <a:pt x="21600" y="11904"/>
                  </a:cubicBezTo>
                  <a:lnTo>
                    <a:pt x="21600" y="11340"/>
                  </a:lnTo>
                  <a:lnTo>
                    <a:pt x="21538" y="11038"/>
                  </a:lnTo>
                  <a:lnTo>
                    <a:pt x="21389" y="10617"/>
                  </a:lnTo>
                  <a:lnTo>
                    <a:pt x="21281" y="10240"/>
                  </a:lnTo>
                  <a:lnTo>
                    <a:pt x="21028" y="9986"/>
                  </a:lnTo>
                  <a:lnTo>
                    <a:pt x="20791" y="9581"/>
                  </a:lnTo>
                  <a:lnTo>
                    <a:pt x="20733" y="9333"/>
                  </a:lnTo>
                  <a:lnTo>
                    <a:pt x="20397" y="8721"/>
                  </a:lnTo>
                  <a:lnTo>
                    <a:pt x="20297" y="8091"/>
                  </a:lnTo>
                  <a:lnTo>
                    <a:pt x="20106" y="7525"/>
                  </a:lnTo>
                  <a:lnTo>
                    <a:pt x="19820" y="6996"/>
                  </a:lnTo>
                  <a:lnTo>
                    <a:pt x="19620" y="6527"/>
                  </a:lnTo>
                  <a:lnTo>
                    <a:pt x="19210" y="6155"/>
                  </a:lnTo>
                  <a:lnTo>
                    <a:pt x="18886" y="5767"/>
                  </a:lnTo>
                  <a:cubicBezTo>
                    <a:pt x="18800" y="5685"/>
                    <a:pt x="18761" y="5544"/>
                    <a:pt x="18786" y="5410"/>
                  </a:cubicBezTo>
                  <a:cubicBezTo>
                    <a:pt x="18811" y="5280"/>
                    <a:pt x="18892" y="5181"/>
                    <a:pt x="18994" y="5157"/>
                  </a:cubicBezTo>
                  <a:lnTo>
                    <a:pt x="19055" y="4833"/>
                  </a:lnTo>
                  <a:lnTo>
                    <a:pt x="19055" y="4472"/>
                  </a:lnTo>
                  <a:lnTo>
                    <a:pt x="19217" y="4028"/>
                  </a:lnTo>
                  <a:lnTo>
                    <a:pt x="19027" y="3743"/>
                  </a:lnTo>
                  <a:lnTo>
                    <a:pt x="18969" y="3459"/>
                  </a:lnTo>
                  <a:lnTo>
                    <a:pt x="18936" y="3040"/>
                  </a:lnTo>
                  <a:lnTo>
                    <a:pt x="18737" y="2634"/>
                  </a:lnTo>
                  <a:lnTo>
                    <a:pt x="18500" y="2250"/>
                  </a:lnTo>
                  <a:lnTo>
                    <a:pt x="18264" y="1878"/>
                  </a:lnTo>
                  <a:cubicBezTo>
                    <a:pt x="18190" y="1776"/>
                    <a:pt x="18127" y="1662"/>
                    <a:pt x="18077" y="1539"/>
                  </a:cubicBezTo>
                  <a:cubicBezTo>
                    <a:pt x="17997" y="1344"/>
                    <a:pt x="17951" y="1129"/>
                    <a:pt x="17940" y="908"/>
                  </a:cubicBezTo>
                  <a:lnTo>
                    <a:pt x="17870" y="312"/>
                  </a:lnTo>
                  <a:lnTo>
                    <a:pt x="17679" y="0"/>
                  </a:lnTo>
                  <a:lnTo>
                    <a:pt x="17497" y="117"/>
                  </a:lnTo>
                  <a:lnTo>
                    <a:pt x="17298" y="441"/>
                  </a:lnTo>
                  <a:lnTo>
                    <a:pt x="17198" y="989"/>
                  </a:lnTo>
                  <a:lnTo>
                    <a:pt x="17173" y="1475"/>
                  </a:lnTo>
                  <a:lnTo>
                    <a:pt x="17090" y="1927"/>
                  </a:lnTo>
                  <a:lnTo>
                    <a:pt x="17016" y="2271"/>
                  </a:lnTo>
                  <a:lnTo>
                    <a:pt x="17003" y="2864"/>
                  </a:lnTo>
                  <a:lnTo>
                    <a:pt x="17016" y="3290"/>
                  </a:lnTo>
                  <a:cubicBezTo>
                    <a:pt x="16998" y="3361"/>
                    <a:pt x="16974" y="3430"/>
                    <a:pt x="16945" y="3495"/>
                  </a:cubicBezTo>
                  <a:cubicBezTo>
                    <a:pt x="16886" y="3627"/>
                    <a:pt x="16805" y="3742"/>
                    <a:pt x="16709" y="3829"/>
                  </a:cubicBezTo>
                  <a:lnTo>
                    <a:pt x="16476" y="4223"/>
                  </a:lnTo>
                  <a:lnTo>
                    <a:pt x="16090" y="4596"/>
                  </a:lnTo>
                  <a:lnTo>
                    <a:pt x="16028" y="4804"/>
                  </a:lnTo>
                  <a:lnTo>
                    <a:pt x="15868" y="4980"/>
                  </a:lnTo>
                  <a:lnTo>
                    <a:pt x="15471" y="4872"/>
                  </a:lnTo>
                  <a:lnTo>
                    <a:pt x="15263" y="4420"/>
                  </a:lnTo>
                  <a:lnTo>
                    <a:pt x="14941" y="4258"/>
                  </a:lnTo>
                  <a:lnTo>
                    <a:pt x="14663" y="4053"/>
                  </a:lnTo>
                  <a:lnTo>
                    <a:pt x="14476" y="3794"/>
                  </a:lnTo>
                  <a:lnTo>
                    <a:pt x="14089" y="3470"/>
                  </a:lnTo>
                  <a:lnTo>
                    <a:pt x="13749" y="3330"/>
                  </a:lnTo>
                  <a:lnTo>
                    <a:pt x="13637" y="2925"/>
                  </a:lnTo>
                  <a:lnTo>
                    <a:pt x="13637" y="2180"/>
                  </a:lnTo>
                  <a:lnTo>
                    <a:pt x="13757" y="1862"/>
                  </a:lnTo>
                  <a:lnTo>
                    <a:pt x="13894" y="1668"/>
                  </a:lnTo>
                  <a:lnTo>
                    <a:pt x="14093" y="1328"/>
                  </a:lnTo>
                  <a:lnTo>
                    <a:pt x="14301" y="1036"/>
                  </a:lnTo>
                  <a:lnTo>
                    <a:pt x="14077" y="799"/>
                  </a:lnTo>
                  <a:lnTo>
                    <a:pt x="13671" y="626"/>
                  </a:lnTo>
                  <a:lnTo>
                    <a:pt x="13551" y="529"/>
                  </a:lnTo>
                  <a:lnTo>
                    <a:pt x="12919" y="457"/>
                  </a:lnTo>
                  <a:lnTo>
                    <a:pt x="12492" y="155"/>
                  </a:lnTo>
                  <a:lnTo>
                    <a:pt x="12131" y="495"/>
                  </a:lnTo>
                  <a:lnTo>
                    <a:pt x="11861" y="716"/>
                  </a:lnTo>
                  <a:lnTo>
                    <a:pt x="11605" y="888"/>
                  </a:lnTo>
                  <a:lnTo>
                    <a:pt x="11058" y="1017"/>
                  </a:lnTo>
                  <a:lnTo>
                    <a:pt x="10851" y="1226"/>
                  </a:lnTo>
                  <a:lnTo>
                    <a:pt x="10702" y="1608"/>
                  </a:lnTo>
                  <a:lnTo>
                    <a:pt x="10603" y="1737"/>
                  </a:lnTo>
                  <a:lnTo>
                    <a:pt x="10416" y="1964"/>
                  </a:lnTo>
                  <a:lnTo>
                    <a:pt x="10428" y="2286"/>
                  </a:lnTo>
                  <a:lnTo>
                    <a:pt x="10594" y="2561"/>
                  </a:lnTo>
                  <a:lnTo>
                    <a:pt x="10478" y="2739"/>
                  </a:lnTo>
                  <a:lnTo>
                    <a:pt x="10159" y="3090"/>
                  </a:lnTo>
                  <a:cubicBezTo>
                    <a:pt x="10067" y="3086"/>
                    <a:pt x="9978" y="3052"/>
                    <a:pt x="9899" y="2993"/>
                  </a:cubicBezTo>
                  <a:cubicBezTo>
                    <a:pt x="9767" y="2894"/>
                    <a:pt x="9671" y="2731"/>
                    <a:pt x="9633" y="2540"/>
                  </a:cubicBezTo>
                  <a:lnTo>
                    <a:pt x="9197" y="2329"/>
                  </a:lnTo>
                  <a:cubicBezTo>
                    <a:pt x="9181" y="2199"/>
                    <a:pt x="9118" y="2087"/>
                    <a:pt x="9027" y="2027"/>
                  </a:cubicBezTo>
                  <a:cubicBezTo>
                    <a:pt x="8838" y="1903"/>
                    <a:pt x="8608" y="2025"/>
                    <a:pt x="8541" y="2286"/>
                  </a:cubicBezTo>
                  <a:lnTo>
                    <a:pt x="8250" y="2599"/>
                  </a:lnTo>
                  <a:cubicBezTo>
                    <a:pt x="8194" y="2686"/>
                    <a:pt x="8137" y="2772"/>
                    <a:pt x="8080" y="2857"/>
                  </a:cubicBezTo>
                  <a:cubicBezTo>
                    <a:pt x="7985" y="2999"/>
                    <a:pt x="7888" y="3139"/>
                    <a:pt x="7790" y="3277"/>
                  </a:cubicBezTo>
                  <a:lnTo>
                    <a:pt x="7467" y="3599"/>
                  </a:lnTo>
                  <a:lnTo>
                    <a:pt x="7293" y="3739"/>
                  </a:lnTo>
                  <a:lnTo>
                    <a:pt x="6986" y="3783"/>
                  </a:lnTo>
                  <a:lnTo>
                    <a:pt x="6987" y="4025"/>
                  </a:lnTo>
                  <a:lnTo>
                    <a:pt x="7057" y="4165"/>
                  </a:lnTo>
                  <a:lnTo>
                    <a:pt x="7119" y="4374"/>
                  </a:lnTo>
                  <a:lnTo>
                    <a:pt x="7007" y="4628"/>
                  </a:lnTo>
                  <a:cubicBezTo>
                    <a:pt x="7006" y="4750"/>
                    <a:pt x="6931" y="4851"/>
                    <a:pt x="6836" y="4854"/>
                  </a:cubicBezTo>
                  <a:cubicBezTo>
                    <a:pt x="6738" y="4858"/>
                    <a:pt x="6655" y="4756"/>
                    <a:pt x="6654" y="4628"/>
                  </a:cubicBezTo>
                  <a:lnTo>
                    <a:pt x="6421" y="4466"/>
                  </a:lnTo>
                  <a:lnTo>
                    <a:pt x="6280" y="4719"/>
                  </a:lnTo>
                  <a:lnTo>
                    <a:pt x="6160" y="4924"/>
                  </a:lnTo>
                  <a:lnTo>
                    <a:pt x="5954" y="5356"/>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77" name="熊大的PPT宝库1-124"/>
            <p:cNvSpPr/>
            <p:nvPr/>
          </p:nvSpPr>
          <p:spPr>
            <a:xfrm>
              <a:off x="10240860" y="11725181"/>
              <a:ext cx="123850" cy="102464"/>
            </a:xfrm>
            <a:custGeom>
              <a:avLst/>
              <a:gdLst/>
              <a:ahLst/>
              <a:cxnLst>
                <a:cxn ang="0">
                  <a:pos x="wd2" y="hd2"/>
                </a:cxn>
                <a:cxn ang="5400000">
                  <a:pos x="wd2" y="hd2"/>
                </a:cxn>
                <a:cxn ang="10800000">
                  <a:pos x="wd2" y="hd2"/>
                </a:cxn>
                <a:cxn ang="16200000">
                  <a:pos x="wd2" y="hd2"/>
                </a:cxn>
              </a:cxnLst>
              <a:rect l="0" t="0" r="r" b="b"/>
              <a:pathLst>
                <a:path w="21600" h="21600" extrusionOk="0">
                  <a:moveTo>
                    <a:pt x="2734" y="1038"/>
                  </a:moveTo>
                  <a:lnTo>
                    <a:pt x="5578" y="0"/>
                  </a:lnTo>
                  <a:lnTo>
                    <a:pt x="6344" y="2077"/>
                  </a:lnTo>
                  <a:lnTo>
                    <a:pt x="8057" y="3507"/>
                  </a:lnTo>
                  <a:lnTo>
                    <a:pt x="11245" y="5736"/>
                  </a:lnTo>
                  <a:lnTo>
                    <a:pt x="13944" y="4944"/>
                  </a:lnTo>
                  <a:lnTo>
                    <a:pt x="15669" y="2555"/>
                  </a:lnTo>
                  <a:lnTo>
                    <a:pt x="17659" y="2290"/>
                  </a:lnTo>
                  <a:lnTo>
                    <a:pt x="20048" y="2290"/>
                  </a:lnTo>
                  <a:lnTo>
                    <a:pt x="21600" y="3886"/>
                  </a:lnTo>
                  <a:lnTo>
                    <a:pt x="21073" y="6102"/>
                  </a:lnTo>
                  <a:lnTo>
                    <a:pt x="19449" y="6901"/>
                  </a:lnTo>
                  <a:lnTo>
                    <a:pt x="18263" y="8165"/>
                  </a:lnTo>
                  <a:lnTo>
                    <a:pt x="18130" y="10554"/>
                  </a:lnTo>
                  <a:lnTo>
                    <a:pt x="16494" y="13003"/>
                  </a:lnTo>
                  <a:lnTo>
                    <a:pt x="14149" y="14540"/>
                  </a:lnTo>
                  <a:lnTo>
                    <a:pt x="10318" y="16118"/>
                  </a:lnTo>
                  <a:lnTo>
                    <a:pt x="8234" y="17714"/>
                  </a:lnTo>
                  <a:lnTo>
                    <a:pt x="6954" y="19365"/>
                  </a:lnTo>
                  <a:lnTo>
                    <a:pt x="6111" y="21121"/>
                  </a:lnTo>
                  <a:lnTo>
                    <a:pt x="4171" y="21600"/>
                  </a:lnTo>
                  <a:lnTo>
                    <a:pt x="3062" y="19311"/>
                  </a:lnTo>
                  <a:lnTo>
                    <a:pt x="1521" y="19311"/>
                  </a:lnTo>
                  <a:lnTo>
                    <a:pt x="0" y="19258"/>
                  </a:lnTo>
                  <a:lnTo>
                    <a:pt x="667" y="16130"/>
                  </a:lnTo>
                  <a:lnTo>
                    <a:pt x="2456" y="13422"/>
                  </a:lnTo>
                  <a:lnTo>
                    <a:pt x="2806" y="11838"/>
                  </a:lnTo>
                  <a:lnTo>
                    <a:pt x="2673" y="8557"/>
                  </a:lnTo>
                  <a:lnTo>
                    <a:pt x="2673" y="6056"/>
                  </a:lnTo>
                  <a:lnTo>
                    <a:pt x="2190" y="4678"/>
                  </a:lnTo>
                  <a:lnTo>
                    <a:pt x="2734" y="1038"/>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78" name="熊大的PPT宝库1-125"/>
            <p:cNvSpPr/>
            <p:nvPr/>
          </p:nvSpPr>
          <p:spPr>
            <a:xfrm>
              <a:off x="10807192" y="11719123"/>
              <a:ext cx="336841" cy="210563"/>
            </a:xfrm>
            <a:custGeom>
              <a:avLst/>
              <a:gdLst/>
              <a:ahLst/>
              <a:cxnLst>
                <a:cxn ang="0">
                  <a:pos x="wd2" y="hd2"/>
                </a:cxn>
                <a:cxn ang="5400000">
                  <a:pos x="wd2" y="hd2"/>
                </a:cxn>
                <a:cxn ang="10800000">
                  <a:pos x="wd2" y="hd2"/>
                </a:cxn>
                <a:cxn ang="16200000">
                  <a:pos x="wd2" y="hd2"/>
                </a:cxn>
              </a:cxnLst>
              <a:rect l="0" t="0" r="r" b="b"/>
              <a:pathLst>
                <a:path w="21600" h="21544" extrusionOk="0">
                  <a:moveTo>
                    <a:pt x="2147" y="16913"/>
                  </a:moveTo>
                  <a:lnTo>
                    <a:pt x="1380" y="17278"/>
                  </a:lnTo>
                  <a:lnTo>
                    <a:pt x="508" y="19015"/>
                  </a:lnTo>
                  <a:lnTo>
                    <a:pt x="0" y="20356"/>
                  </a:lnTo>
                  <a:lnTo>
                    <a:pt x="1241" y="21466"/>
                  </a:lnTo>
                  <a:lnTo>
                    <a:pt x="2749" y="21544"/>
                  </a:lnTo>
                  <a:lnTo>
                    <a:pt x="5044" y="21466"/>
                  </a:lnTo>
                  <a:lnTo>
                    <a:pt x="6332" y="20691"/>
                  </a:lnTo>
                  <a:lnTo>
                    <a:pt x="8044" y="18990"/>
                  </a:lnTo>
                  <a:lnTo>
                    <a:pt x="9316" y="17905"/>
                  </a:lnTo>
                  <a:lnTo>
                    <a:pt x="10246" y="16587"/>
                  </a:lnTo>
                  <a:lnTo>
                    <a:pt x="11501" y="14151"/>
                  </a:lnTo>
                  <a:cubicBezTo>
                    <a:pt x="11635" y="13828"/>
                    <a:pt x="11800" y="13540"/>
                    <a:pt x="11990" y="13298"/>
                  </a:cubicBezTo>
                  <a:cubicBezTo>
                    <a:pt x="12464" y="12694"/>
                    <a:pt x="13064" y="12399"/>
                    <a:pt x="13670" y="12472"/>
                  </a:cubicBezTo>
                  <a:lnTo>
                    <a:pt x="14548" y="12562"/>
                  </a:lnTo>
                  <a:lnTo>
                    <a:pt x="15233" y="12097"/>
                  </a:lnTo>
                  <a:lnTo>
                    <a:pt x="15961" y="11558"/>
                  </a:lnTo>
                  <a:lnTo>
                    <a:pt x="16010" y="10246"/>
                  </a:lnTo>
                  <a:lnTo>
                    <a:pt x="17004" y="9130"/>
                  </a:lnTo>
                  <a:lnTo>
                    <a:pt x="18541" y="7346"/>
                  </a:lnTo>
                  <a:lnTo>
                    <a:pt x="20577" y="6490"/>
                  </a:lnTo>
                  <a:lnTo>
                    <a:pt x="21600" y="5415"/>
                  </a:lnTo>
                  <a:lnTo>
                    <a:pt x="21600" y="4405"/>
                  </a:lnTo>
                  <a:lnTo>
                    <a:pt x="21306" y="2773"/>
                  </a:lnTo>
                  <a:lnTo>
                    <a:pt x="20866" y="1007"/>
                  </a:lnTo>
                  <a:cubicBezTo>
                    <a:pt x="20843" y="468"/>
                    <a:pt x="20572" y="40"/>
                    <a:pt x="20232" y="3"/>
                  </a:cubicBezTo>
                  <a:cubicBezTo>
                    <a:pt x="19700" y="-56"/>
                    <a:pt x="19304" y="769"/>
                    <a:pt x="19482" y="1565"/>
                  </a:cubicBezTo>
                  <a:lnTo>
                    <a:pt x="18669" y="2426"/>
                  </a:lnTo>
                  <a:lnTo>
                    <a:pt x="17564" y="3640"/>
                  </a:lnTo>
                  <a:lnTo>
                    <a:pt x="17108" y="4363"/>
                  </a:lnTo>
                  <a:cubicBezTo>
                    <a:pt x="16812" y="4575"/>
                    <a:pt x="16538" y="4853"/>
                    <a:pt x="16293" y="5190"/>
                  </a:cubicBezTo>
                  <a:cubicBezTo>
                    <a:pt x="15810" y="5854"/>
                    <a:pt x="15457" y="6721"/>
                    <a:pt x="14988" y="7408"/>
                  </a:cubicBezTo>
                  <a:cubicBezTo>
                    <a:pt x="14591" y="7991"/>
                    <a:pt x="14119" y="8431"/>
                    <a:pt x="13604" y="8700"/>
                  </a:cubicBezTo>
                  <a:lnTo>
                    <a:pt x="11698" y="9704"/>
                  </a:lnTo>
                  <a:lnTo>
                    <a:pt x="9302" y="11254"/>
                  </a:lnTo>
                  <a:cubicBezTo>
                    <a:pt x="8906" y="11491"/>
                    <a:pt x="8515" y="11748"/>
                    <a:pt x="8130" y="12026"/>
                  </a:cubicBezTo>
                  <a:cubicBezTo>
                    <a:pt x="7579" y="12424"/>
                    <a:pt x="7040" y="12864"/>
                    <a:pt x="6515" y="13344"/>
                  </a:cubicBezTo>
                  <a:cubicBezTo>
                    <a:pt x="6085" y="13632"/>
                    <a:pt x="5652" y="13908"/>
                    <a:pt x="5215" y="14170"/>
                  </a:cubicBezTo>
                  <a:cubicBezTo>
                    <a:pt x="4730" y="14462"/>
                    <a:pt x="4240" y="14738"/>
                    <a:pt x="3748" y="14997"/>
                  </a:cubicBezTo>
                  <a:lnTo>
                    <a:pt x="2147" y="16913"/>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79" name="熊大的PPT宝库1-126"/>
            <p:cNvSpPr/>
            <p:nvPr/>
          </p:nvSpPr>
          <p:spPr>
            <a:xfrm>
              <a:off x="11190346" y="11509449"/>
              <a:ext cx="164775" cy="251094"/>
            </a:xfrm>
            <a:custGeom>
              <a:avLst/>
              <a:gdLst/>
              <a:ahLst/>
              <a:cxnLst>
                <a:cxn ang="0">
                  <a:pos x="wd2" y="hd2"/>
                </a:cxn>
                <a:cxn ang="5400000">
                  <a:pos x="wd2" y="hd2"/>
                </a:cxn>
                <a:cxn ang="10800000">
                  <a:pos x="wd2" y="hd2"/>
                </a:cxn>
                <a:cxn ang="16200000">
                  <a:pos x="wd2" y="hd2"/>
                </a:cxn>
              </a:cxnLst>
              <a:rect l="0" t="0" r="r" b="b"/>
              <a:pathLst>
                <a:path w="21600" h="21600" extrusionOk="0">
                  <a:moveTo>
                    <a:pt x="13019" y="321"/>
                  </a:moveTo>
                  <a:lnTo>
                    <a:pt x="11636" y="0"/>
                  </a:lnTo>
                  <a:lnTo>
                    <a:pt x="11352" y="2568"/>
                  </a:lnTo>
                  <a:lnTo>
                    <a:pt x="11383" y="3806"/>
                  </a:lnTo>
                  <a:lnTo>
                    <a:pt x="12079" y="5151"/>
                  </a:lnTo>
                  <a:lnTo>
                    <a:pt x="12375" y="6967"/>
                  </a:lnTo>
                  <a:cubicBezTo>
                    <a:pt x="12672" y="7601"/>
                    <a:pt x="12637" y="8281"/>
                    <a:pt x="12275" y="8900"/>
                  </a:cubicBezTo>
                  <a:cubicBezTo>
                    <a:pt x="12047" y="9291"/>
                    <a:pt x="11695" y="9645"/>
                    <a:pt x="11242" y="9941"/>
                  </a:cubicBezTo>
                  <a:lnTo>
                    <a:pt x="10432" y="11157"/>
                  </a:lnTo>
                  <a:lnTo>
                    <a:pt x="7384" y="11982"/>
                  </a:lnTo>
                  <a:lnTo>
                    <a:pt x="4025" y="12743"/>
                  </a:lnTo>
                  <a:lnTo>
                    <a:pt x="2560" y="14347"/>
                  </a:lnTo>
                  <a:lnTo>
                    <a:pt x="2552" y="16107"/>
                  </a:lnTo>
                  <a:lnTo>
                    <a:pt x="3355" y="17541"/>
                  </a:lnTo>
                  <a:lnTo>
                    <a:pt x="1955" y="19191"/>
                  </a:lnTo>
                  <a:lnTo>
                    <a:pt x="116" y="19974"/>
                  </a:lnTo>
                  <a:lnTo>
                    <a:pt x="0" y="20821"/>
                  </a:lnTo>
                  <a:lnTo>
                    <a:pt x="1421" y="21600"/>
                  </a:lnTo>
                  <a:lnTo>
                    <a:pt x="3317" y="20948"/>
                  </a:lnTo>
                  <a:lnTo>
                    <a:pt x="5646" y="19126"/>
                  </a:lnTo>
                  <a:cubicBezTo>
                    <a:pt x="6124" y="18808"/>
                    <a:pt x="6661" y="18530"/>
                    <a:pt x="7246" y="18301"/>
                  </a:cubicBezTo>
                  <a:cubicBezTo>
                    <a:pt x="7999" y="18006"/>
                    <a:pt x="8821" y="17793"/>
                    <a:pt x="9679" y="17671"/>
                  </a:cubicBezTo>
                  <a:cubicBezTo>
                    <a:pt x="10238" y="17511"/>
                    <a:pt x="10792" y="17345"/>
                    <a:pt x="11342" y="17174"/>
                  </a:cubicBezTo>
                  <a:cubicBezTo>
                    <a:pt x="12241" y="16894"/>
                    <a:pt x="13139" y="16593"/>
                    <a:pt x="13842" y="16131"/>
                  </a:cubicBezTo>
                  <a:cubicBezTo>
                    <a:pt x="14311" y="15823"/>
                    <a:pt x="14674" y="15454"/>
                    <a:pt x="14908" y="15048"/>
                  </a:cubicBezTo>
                  <a:cubicBezTo>
                    <a:pt x="15071" y="14768"/>
                    <a:pt x="15345" y="14521"/>
                    <a:pt x="15704" y="14334"/>
                  </a:cubicBezTo>
                  <a:cubicBezTo>
                    <a:pt x="16529" y="13904"/>
                    <a:pt x="17653" y="13847"/>
                    <a:pt x="18567" y="13508"/>
                  </a:cubicBezTo>
                  <a:cubicBezTo>
                    <a:pt x="19153" y="13291"/>
                    <a:pt x="19628" y="12966"/>
                    <a:pt x="19933" y="12574"/>
                  </a:cubicBezTo>
                  <a:lnTo>
                    <a:pt x="21100" y="11358"/>
                  </a:lnTo>
                  <a:lnTo>
                    <a:pt x="21600" y="10578"/>
                  </a:lnTo>
                  <a:lnTo>
                    <a:pt x="19804" y="10386"/>
                  </a:lnTo>
                  <a:lnTo>
                    <a:pt x="18624" y="10060"/>
                  </a:lnTo>
                  <a:lnTo>
                    <a:pt x="17125" y="9017"/>
                  </a:lnTo>
                  <a:lnTo>
                    <a:pt x="14529" y="7584"/>
                  </a:lnTo>
                  <a:cubicBezTo>
                    <a:pt x="14314" y="7294"/>
                    <a:pt x="14124" y="6997"/>
                    <a:pt x="13962" y="6693"/>
                  </a:cubicBezTo>
                  <a:cubicBezTo>
                    <a:pt x="13643" y="6095"/>
                    <a:pt x="13431" y="5476"/>
                    <a:pt x="13329" y="4847"/>
                  </a:cubicBezTo>
                  <a:lnTo>
                    <a:pt x="14325" y="3524"/>
                  </a:lnTo>
                  <a:lnTo>
                    <a:pt x="14325" y="1808"/>
                  </a:lnTo>
                  <a:lnTo>
                    <a:pt x="13019" y="321"/>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80" name="熊大的PPT宝库1-127"/>
            <p:cNvSpPr/>
            <p:nvPr/>
          </p:nvSpPr>
          <p:spPr>
            <a:xfrm>
              <a:off x="11202249" y="11286537"/>
              <a:ext cx="16360" cy="28333"/>
            </a:xfrm>
            <a:custGeom>
              <a:avLst/>
              <a:gdLst/>
              <a:ahLst/>
              <a:cxnLst>
                <a:cxn ang="0">
                  <a:pos x="wd2" y="hd2"/>
                </a:cxn>
                <a:cxn ang="5400000">
                  <a:pos x="wd2" y="hd2"/>
                </a:cxn>
                <a:cxn ang="10800000">
                  <a:pos x="wd2" y="hd2"/>
                </a:cxn>
                <a:cxn ang="16200000">
                  <a:pos x="wd2" y="hd2"/>
                </a:cxn>
              </a:cxnLst>
              <a:rect l="0" t="0" r="r" b="b"/>
              <a:pathLst>
                <a:path w="21600" h="21600" extrusionOk="0">
                  <a:moveTo>
                    <a:pt x="7518" y="240"/>
                  </a:moveTo>
                  <a:lnTo>
                    <a:pt x="21579" y="0"/>
                  </a:lnTo>
                  <a:lnTo>
                    <a:pt x="21600" y="11228"/>
                  </a:lnTo>
                  <a:lnTo>
                    <a:pt x="15549" y="21600"/>
                  </a:lnTo>
                  <a:lnTo>
                    <a:pt x="2290" y="19891"/>
                  </a:lnTo>
                  <a:lnTo>
                    <a:pt x="0" y="10674"/>
                  </a:lnTo>
                  <a:lnTo>
                    <a:pt x="7518" y="24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81" name="熊大的PPT宝库1-128"/>
            <p:cNvSpPr/>
            <p:nvPr/>
          </p:nvSpPr>
          <p:spPr>
            <a:xfrm>
              <a:off x="11166707" y="10931337"/>
              <a:ext cx="105002" cy="129954"/>
            </a:xfrm>
            <a:custGeom>
              <a:avLst/>
              <a:gdLst/>
              <a:ahLst/>
              <a:cxnLst>
                <a:cxn ang="0">
                  <a:pos x="wd2" y="hd2"/>
                </a:cxn>
                <a:cxn ang="5400000">
                  <a:pos x="wd2" y="hd2"/>
                </a:cxn>
                <a:cxn ang="10800000">
                  <a:pos x="wd2" y="hd2"/>
                </a:cxn>
                <a:cxn ang="16200000">
                  <a:pos x="wd2" y="hd2"/>
                </a:cxn>
              </a:cxnLst>
              <a:rect l="0" t="0" r="r" b="b"/>
              <a:pathLst>
                <a:path w="21600" h="21600" extrusionOk="0">
                  <a:moveTo>
                    <a:pt x="2266" y="0"/>
                  </a:moveTo>
                  <a:lnTo>
                    <a:pt x="5698" y="3526"/>
                  </a:lnTo>
                  <a:lnTo>
                    <a:pt x="8576" y="7970"/>
                  </a:lnTo>
                  <a:lnTo>
                    <a:pt x="9046" y="10950"/>
                  </a:lnTo>
                  <a:lnTo>
                    <a:pt x="12812" y="12581"/>
                  </a:lnTo>
                  <a:lnTo>
                    <a:pt x="16578" y="14974"/>
                  </a:lnTo>
                  <a:lnTo>
                    <a:pt x="21600" y="18247"/>
                  </a:lnTo>
                  <a:lnTo>
                    <a:pt x="21286" y="21600"/>
                  </a:lnTo>
                  <a:lnTo>
                    <a:pt x="18775" y="21264"/>
                  </a:lnTo>
                  <a:lnTo>
                    <a:pt x="14754" y="16779"/>
                  </a:lnTo>
                  <a:lnTo>
                    <a:pt x="12093" y="15393"/>
                  </a:lnTo>
                  <a:cubicBezTo>
                    <a:pt x="11092" y="15033"/>
                    <a:pt x="10116" y="14628"/>
                    <a:pt x="9170" y="14182"/>
                  </a:cubicBezTo>
                  <a:cubicBezTo>
                    <a:pt x="8123" y="13687"/>
                    <a:pt x="7114" y="13142"/>
                    <a:pt x="6149" y="12550"/>
                  </a:cubicBezTo>
                  <a:lnTo>
                    <a:pt x="5208" y="9024"/>
                  </a:lnTo>
                  <a:lnTo>
                    <a:pt x="3272" y="6968"/>
                  </a:lnTo>
                  <a:lnTo>
                    <a:pt x="467" y="3584"/>
                  </a:lnTo>
                  <a:lnTo>
                    <a:pt x="0" y="1873"/>
                  </a:lnTo>
                  <a:lnTo>
                    <a:pt x="2266"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82" name="熊大的PPT宝库1-129"/>
            <p:cNvSpPr/>
            <p:nvPr/>
          </p:nvSpPr>
          <p:spPr>
            <a:xfrm>
              <a:off x="11313590" y="10790208"/>
              <a:ext cx="37595" cy="63302"/>
            </a:xfrm>
            <a:custGeom>
              <a:avLst/>
              <a:gdLst/>
              <a:ahLst/>
              <a:cxnLst>
                <a:cxn ang="0">
                  <a:pos x="wd2" y="hd2"/>
                </a:cxn>
                <a:cxn ang="5400000">
                  <a:pos x="wd2" y="hd2"/>
                </a:cxn>
                <a:cxn ang="10800000">
                  <a:pos x="wd2" y="hd2"/>
                </a:cxn>
                <a:cxn ang="16200000">
                  <a:pos x="wd2" y="hd2"/>
                </a:cxn>
              </a:cxnLst>
              <a:rect l="0" t="0" r="r" b="b"/>
              <a:pathLst>
                <a:path w="21600" h="21600" extrusionOk="0">
                  <a:moveTo>
                    <a:pt x="4384" y="0"/>
                  </a:moveTo>
                  <a:lnTo>
                    <a:pt x="0" y="6366"/>
                  </a:lnTo>
                  <a:lnTo>
                    <a:pt x="4998" y="11561"/>
                  </a:lnTo>
                  <a:lnTo>
                    <a:pt x="9054" y="12853"/>
                  </a:lnTo>
                  <a:lnTo>
                    <a:pt x="11974" y="16462"/>
                  </a:lnTo>
                  <a:lnTo>
                    <a:pt x="18532" y="21600"/>
                  </a:lnTo>
                  <a:lnTo>
                    <a:pt x="21600" y="18003"/>
                  </a:lnTo>
                  <a:lnTo>
                    <a:pt x="19408" y="13360"/>
                  </a:lnTo>
                  <a:lnTo>
                    <a:pt x="14184" y="10517"/>
                  </a:lnTo>
                  <a:lnTo>
                    <a:pt x="9965" y="6822"/>
                  </a:lnTo>
                  <a:lnTo>
                    <a:pt x="9528" y="3503"/>
                  </a:lnTo>
                  <a:lnTo>
                    <a:pt x="4384"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83" name="熊大的PPT宝库1-130"/>
            <p:cNvSpPr/>
            <p:nvPr/>
          </p:nvSpPr>
          <p:spPr>
            <a:xfrm>
              <a:off x="10928933" y="10437376"/>
              <a:ext cx="45740" cy="64407"/>
            </a:xfrm>
            <a:custGeom>
              <a:avLst/>
              <a:gdLst/>
              <a:ahLst/>
              <a:cxnLst>
                <a:cxn ang="0">
                  <a:pos x="wd2" y="hd2"/>
                </a:cxn>
                <a:cxn ang="5400000">
                  <a:pos x="wd2" y="hd2"/>
                </a:cxn>
                <a:cxn ang="10800000">
                  <a:pos x="wd2" y="hd2"/>
                </a:cxn>
                <a:cxn ang="16200000">
                  <a:pos x="wd2" y="hd2"/>
                </a:cxn>
              </a:cxnLst>
              <a:rect l="0" t="0" r="r" b="b"/>
              <a:pathLst>
                <a:path w="21600" h="21600" extrusionOk="0">
                  <a:moveTo>
                    <a:pt x="4335" y="0"/>
                  </a:moveTo>
                  <a:lnTo>
                    <a:pt x="8612" y="423"/>
                  </a:lnTo>
                  <a:lnTo>
                    <a:pt x="9548" y="10168"/>
                  </a:lnTo>
                  <a:lnTo>
                    <a:pt x="15069" y="14477"/>
                  </a:lnTo>
                  <a:lnTo>
                    <a:pt x="21600" y="16858"/>
                  </a:lnTo>
                  <a:lnTo>
                    <a:pt x="19199" y="21600"/>
                  </a:lnTo>
                  <a:lnTo>
                    <a:pt x="11398" y="20763"/>
                  </a:lnTo>
                  <a:lnTo>
                    <a:pt x="5755" y="17207"/>
                  </a:lnTo>
                  <a:lnTo>
                    <a:pt x="9" y="12157"/>
                  </a:lnTo>
                  <a:lnTo>
                    <a:pt x="0" y="6578"/>
                  </a:lnTo>
                  <a:lnTo>
                    <a:pt x="4335"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84" name="熊大的PPT宝库1-131"/>
            <p:cNvSpPr/>
            <p:nvPr/>
          </p:nvSpPr>
          <p:spPr>
            <a:xfrm>
              <a:off x="10989506" y="10486871"/>
              <a:ext cx="45601" cy="39490"/>
            </a:xfrm>
            <a:custGeom>
              <a:avLst/>
              <a:gdLst/>
              <a:ahLst/>
              <a:cxnLst>
                <a:cxn ang="0">
                  <a:pos x="wd2" y="hd2"/>
                </a:cxn>
                <a:cxn ang="5400000">
                  <a:pos x="wd2" y="hd2"/>
                </a:cxn>
                <a:cxn ang="10800000">
                  <a:pos x="wd2" y="hd2"/>
                </a:cxn>
                <a:cxn ang="16200000">
                  <a:pos x="wd2" y="hd2"/>
                </a:cxn>
              </a:cxnLst>
              <a:rect l="0" t="0" r="r" b="b"/>
              <a:pathLst>
                <a:path w="21600" h="21600" extrusionOk="0">
                  <a:moveTo>
                    <a:pt x="7085" y="0"/>
                  </a:moveTo>
                  <a:lnTo>
                    <a:pt x="17293" y="9046"/>
                  </a:lnTo>
                  <a:lnTo>
                    <a:pt x="21600" y="14848"/>
                  </a:lnTo>
                  <a:lnTo>
                    <a:pt x="21013" y="21600"/>
                  </a:lnTo>
                  <a:lnTo>
                    <a:pt x="12837" y="18854"/>
                  </a:lnTo>
                  <a:lnTo>
                    <a:pt x="5986" y="12225"/>
                  </a:lnTo>
                  <a:lnTo>
                    <a:pt x="0" y="7390"/>
                  </a:lnTo>
                  <a:lnTo>
                    <a:pt x="7085"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85" name="熊大的PPT宝库1-132"/>
            <p:cNvSpPr/>
            <p:nvPr/>
          </p:nvSpPr>
          <p:spPr>
            <a:xfrm>
              <a:off x="11008609" y="10540150"/>
              <a:ext cx="37288" cy="38949"/>
            </a:xfrm>
            <a:custGeom>
              <a:avLst/>
              <a:gdLst/>
              <a:ahLst/>
              <a:cxnLst>
                <a:cxn ang="0">
                  <a:pos x="wd2" y="hd2"/>
                </a:cxn>
                <a:cxn ang="5400000">
                  <a:pos x="wd2" y="hd2"/>
                </a:cxn>
                <a:cxn ang="10800000">
                  <a:pos x="wd2" y="hd2"/>
                </a:cxn>
                <a:cxn ang="16200000">
                  <a:pos x="wd2" y="hd2"/>
                </a:cxn>
              </a:cxnLst>
              <a:rect l="0" t="0" r="r" b="b"/>
              <a:pathLst>
                <a:path w="21600" h="21600" extrusionOk="0">
                  <a:moveTo>
                    <a:pt x="6399" y="0"/>
                  </a:moveTo>
                  <a:lnTo>
                    <a:pt x="12290" y="1855"/>
                  </a:lnTo>
                  <a:lnTo>
                    <a:pt x="12799" y="9871"/>
                  </a:lnTo>
                  <a:lnTo>
                    <a:pt x="15725" y="15036"/>
                  </a:lnTo>
                  <a:lnTo>
                    <a:pt x="21600" y="16577"/>
                  </a:lnTo>
                  <a:lnTo>
                    <a:pt x="18230" y="21600"/>
                  </a:lnTo>
                  <a:lnTo>
                    <a:pt x="12781" y="19919"/>
                  </a:lnTo>
                  <a:cubicBezTo>
                    <a:pt x="10763" y="19240"/>
                    <a:pt x="9023" y="17972"/>
                    <a:pt x="7808" y="16297"/>
                  </a:cubicBezTo>
                  <a:cubicBezTo>
                    <a:pt x="6475" y="14458"/>
                    <a:pt x="5850" y="12237"/>
                    <a:pt x="6040" y="10011"/>
                  </a:cubicBezTo>
                  <a:lnTo>
                    <a:pt x="0" y="5671"/>
                  </a:lnTo>
                  <a:lnTo>
                    <a:pt x="6399"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86" name="熊大的PPT宝库1-133"/>
            <p:cNvSpPr/>
            <p:nvPr/>
          </p:nvSpPr>
          <p:spPr>
            <a:xfrm>
              <a:off x="11054826" y="10522600"/>
              <a:ext cx="46739" cy="42114"/>
            </a:xfrm>
            <a:custGeom>
              <a:avLst/>
              <a:gdLst/>
              <a:ahLst/>
              <a:cxnLst>
                <a:cxn ang="0">
                  <a:pos x="wd2" y="hd2"/>
                </a:cxn>
                <a:cxn ang="5400000">
                  <a:pos x="wd2" y="hd2"/>
                </a:cxn>
                <a:cxn ang="10800000">
                  <a:pos x="wd2" y="hd2"/>
                </a:cxn>
                <a:cxn ang="16200000">
                  <a:pos x="wd2" y="hd2"/>
                </a:cxn>
              </a:cxnLst>
              <a:rect l="0" t="0" r="r" b="b"/>
              <a:pathLst>
                <a:path w="21600" h="21600" extrusionOk="0">
                  <a:moveTo>
                    <a:pt x="4105" y="0"/>
                  </a:moveTo>
                  <a:lnTo>
                    <a:pt x="8950" y="5326"/>
                  </a:lnTo>
                  <a:lnTo>
                    <a:pt x="16429" y="10105"/>
                  </a:lnTo>
                  <a:lnTo>
                    <a:pt x="21247" y="15787"/>
                  </a:lnTo>
                  <a:lnTo>
                    <a:pt x="21600" y="21227"/>
                  </a:lnTo>
                  <a:lnTo>
                    <a:pt x="14814" y="21600"/>
                  </a:lnTo>
                  <a:lnTo>
                    <a:pt x="10715" y="19268"/>
                  </a:lnTo>
                  <a:lnTo>
                    <a:pt x="6249" y="13959"/>
                  </a:lnTo>
                  <a:lnTo>
                    <a:pt x="3576" y="9700"/>
                  </a:lnTo>
                  <a:lnTo>
                    <a:pt x="25" y="6121"/>
                  </a:lnTo>
                  <a:lnTo>
                    <a:pt x="0" y="1589"/>
                  </a:lnTo>
                  <a:lnTo>
                    <a:pt x="4105"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87" name="熊大的PPT宝库1-134"/>
            <p:cNvSpPr/>
            <p:nvPr/>
          </p:nvSpPr>
          <p:spPr>
            <a:xfrm>
              <a:off x="11078985" y="10587190"/>
              <a:ext cx="37473" cy="23925"/>
            </a:xfrm>
            <a:custGeom>
              <a:avLst/>
              <a:gdLst/>
              <a:ahLst/>
              <a:cxnLst>
                <a:cxn ang="0">
                  <a:pos x="wd2" y="hd2"/>
                </a:cxn>
                <a:cxn ang="5400000">
                  <a:pos x="wd2" y="hd2"/>
                </a:cxn>
                <a:cxn ang="10800000">
                  <a:pos x="wd2" y="hd2"/>
                </a:cxn>
                <a:cxn ang="16200000">
                  <a:pos x="wd2" y="hd2"/>
                </a:cxn>
              </a:cxnLst>
              <a:rect l="0" t="0" r="r" b="b"/>
              <a:pathLst>
                <a:path w="21600" h="21600" extrusionOk="0">
                  <a:moveTo>
                    <a:pt x="8649" y="530"/>
                  </a:moveTo>
                  <a:lnTo>
                    <a:pt x="13099" y="8995"/>
                  </a:lnTo>
                  <a:lnTo>
                    <a:pt x="21600" y="8519"/>
                  </a:lnTo>
                  <a:lnTo>
                    <a:pt x="21600" y="17555"/>
                  </a:lnTo>
                  <a:lnTo>
                    <a:pt x="15901" y="21600"/>
                  </a:lnTo>
                  <a:lnTo>
                    <a:pt x="8481" y="18211"/>
                  </a:lnTo>
                  <a:lnTo>
                    <a:pt x="1799" y="7978"/>
                  </a:lnTo>
                  <a:lnTo>
                    <a:pt x="0" y="0"/>
                  </a:lnTo>
                  <a:lnTo>
                    <a:pt x="8649" y="53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88" name="熊大的PPT宝库1-135"/>
            <p:cNvSpPr/>
            <p:nvPr/>
          </p:nvSpPr>
          <p:spPr>
            <a:xfrm>
              <a:off x="11123739" y="10552715"/>
              <a:ext cx="27449" cy="54123"/>
            </a:xfrm>
            <a:custGeom>
              <a:avLst/>
              <a:gdLst/>
              <a:ahLst/>
              <a:cxnLst>
                <a:cxn ang="0">
                  <a:pos x="wd2" y="hd2"/>
                </a:cxn>
                <a:cxn ang="5400000">
                  <a:pos x="wd2" y="hd2"/>
                </a:cxn>
                <a:cxn ang="10800000">
                  <a:pos x="wd2" y="hd2"/>
                </a:cxn>
                <a:cxn ang="16200000">
                  <a:pos x="wd2" y="hd2"/>
                </a:cxn>
              </a:cxnLst>
              <a:rect l="0" t="0" r="r" b="b"/>
              <a:pathLst>
                <a:path w="21600" h="21600" extrusionOk="0">
                  <a:moveTo>
                    <a:pt x="4203" y="0"/>
                  </a:moveTo>
                  <a:lnTo>
                    <a:pt x="0" y="4749"/>
                  </a:lnTo>
                  <a:lnTo>
                    <a:pt x="263" y="12857"/>
                  </a:lnTo>
                  <a:lnTo>
                    <a:pt x="8018" y="13953"/>
                  </a:lnTo>
                  <a:lnTo>
                    <a:pt x="8018" y="17984"/>
                  </a:lnTo>
                  <a:lnTo>
                    <a:pt x="13422" y="21600"/>
                  </a:lnTo>
                  <a:lnTo>
                    <a:pt x="21600" y="17064"/>
                  </a:lnTo>
                  <a:lnTo>
                    <a:pt x="14422" y="12038"/>
                  </a:lnTo>
                  <a:lnTo>
                    <a:pt x="7443" y="8221"/>
                  </a:lnTo>
                  <a:lnTo>
                    <a:pt x="4203"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89" name="熊大的PPT宝库1-136"/>
            <p:cNvSpPr/>
            <p:nvPr/>
          </p:nvSpPr>
          <p:spPr>
            <a:xfrm>
              <a:off x="11138679" y="10625185"/>
              <a:ext cx="24415" cy="2107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703" y="9868"/>
                  </a:lnTo>
                  <a:lnTo>
                    <a:pt x="12853" y="21600"/>
                  </a:lnTo>
                  <a:lnTo>
                    <a:pt x="21600" y="16680"/>
                  </a:lnTo>
                  <a:lnTo>
                    <a:pt x="12403" y="144"/>
                  </a:lnTo>
                  <a:lnTo>
                    <a:pt x="0"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90" name="熊大的PPT宝库1-137"/>
            <p:cNvSpPr/>
            <p:nvPr/>
          </p:nvSpPr>
          <p:spPr>
            <a:xfrm>
              <a:off x="10822960" y="10335281"/>
              <a:ext cx="87031" cy="76197"/>
            </a:xfrm>
            <a:custGeom>
              <a:avLst/>
              <a:gdLst/>
              <a:ahLst/>
              <a:cxnLst>
                <a:cxn ang="0">
                  <a:pos x="wd2" y="hd2"/>
                </a:cxn>
                <a:cxn ang="5400000">
                  <a:pos x="wd2" y="hd2"/>
                </a:cxn>
                <a:cxn ang="10800000">
                  <a:pos x="wd2" y="hd2"/>
                </a:cxn>
                <a:cxn ang="16200000">
                  <a:pos x="wd2" y="hd2"/>
                </a:cxn>
              </a:cxnLst>
              <a:rect l="0" t="0" r="r" b="b"/>
              <a:pathLst>
                <a:path w="21600" h="21600" extrusionOk="0">
                  <a:moveTo>
                    <a:pt x="560" y="0"/>
                  </a:moveTo>
                  <a:lnTo>
                    <a:pt x="0" y="2479"/>
                  </a:lnTo>
                  <a:lnTo>
                    <a:pt x="4688" y="4518"/>
                  </a:lnTo>
                  <a:lnTo>
                    <a:pt x="9042" y="7739"/>
                  </a:lnTo>
                  <a:lnTo>
                    <a:pt x="12639" y="11175"/>
                  </a:lnTo>
                  <a:lnTo>
                    <a:pt x="16173" y="15327"/>
                  </a:lnTo>
                  <a:lnTo>
                    <a:pt x="17687" y="21385"/>
                  </a:lnTo>
                  <a:lnTo>
                    <a:pt x="21600" y="21600"/>
                  </a:lnTo>
                  <a:lnTo>
                    <a:pt x="19336" y="12589"/>
                  </a:lnTo>
                  <a:lnTo>
                    <a:pt x="12733" y="8079"/>
                  </a:lnTo>
                  <a:lnTo>
                    <a:pt x="7069" y="2791"/>
                  </a:lnTo>
                  <a:lnTo>
                    <a:pt x="3732" y="804"/>
                  </a:lnTo>
                  <a:lnTo>
                    <a:pt x="560"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91" name="熊大的PPT宝库1-138"/>
            <p:cNvSpPr/>
            <p:nvPr/>
          </p:nvSpPr>
          <p:spPr>
            <a:xfrm>
              <a:off x="10763733" y="10391352"/>
              <a:ext cx="115414" cy="92661"/>
            </a:xfrm>
            <a:custGeom>
              <a:avLst/>
              <a:gdLst/>
              <a:ahLst/>
              <a:cxnLst>
                <a:cxn ang="0">
                  <a:pos x="wd2" y="hd2"/>
                </a:cxn>
                <a:cxn ang="5400000">
                  <a:pos x="wd2" y="hd2"/>
                </a:cxn>
                <a:cxn ang="10800000">
                  <a:pos x="wd2" y="hd2"/>
                </a:cxn>
                <a:cxn ang="16200000">
                  <a:pos x="wd2" y="hd2"/>
                </a:cxn>
              </a:cxnLst>
              <a:rect l="0" t="0" r="r" b="b"/>
              <a:pathLst>
                <a:path w="21600" h="21600" extrusionOk="0">
                  <a:moveTo>
                    <a:pt x="18234" y="5118"/>
                  </a:moveTo>
                  <a:lnTo>
                    <a:pt x="15276" y="8929"/>
                  </a:lnTo>
                  <a:lnTo>
                    <a:pt x="12042" y="12689"/>
                  </a:lnTo>
                  <a:lnTo>
                    <a:pt x="9529" y="13918"/>
                  </a:lnTo>
                  <a:lnTo>
                    <a:pt x="6129" y="13388"/>
                  </a:lnTo>
                  <a:lnTo>
                    <a:pt x="4458" y="14970"/>
                  </a:lnTo>
                  <a:lnTo>
                    <a:pt x="2410" y="14970"/>
                  </a:lnTo>
                  <a:lnTo>
                    <a:pt x="0" y="15500"/>
                  </a:lnTo>
                  <a:lnTo>
                    <a:pt x="1862" y="17604"/>
                  </a:lnTo>
                  <a:lnTo>
                    <a:pt x="4420" y="17781"/>
                  </a:lnTo>
                  <a:lnTo>
                    <a:pt x="6466" y="21431"/>
                  </a:lnTo>
                  <a:lnTo>
                    <a:pt x="8263" y="21600"/>
                  </a:lnTo>
                  <a:lnTo>
                    <a:pt x="9828" y="19488"/>
                  </a:lnTo>
                  <a:lnTo>
                    <a:pt x="11671" y="17906"/>
                  </a:lnTo>
                  <a:lnTo>
                    <a:pt x="15657" y="16508"/>
                  </a:lnTo>
                  <a:lnTo>
                    <a:pt x="18364" y="13167"/>
                  </a:lnTo>
                  <a:lnTo>
                    <a:pt x="19934" y="9988"/>
                  </a:lnTo>
                  <a:lnTo>
                    <a:pt x="21457" y="7288"/>
                  </a:lnTo>
                  <a:lnTo>
                    <a:pt x="21600" y="3285"/>
                  </a:lnTo>
                  <a:lnTo>
                    <a:pt x="19702" y="0"/>
                  </a:lnTo>
                  <a:lnTo>
                    <a:pt x="19131" y="2158"/>
                  </a:lnTo>
                  <a:lnTo>
                    <a:pt x="18234" y="5118"/>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92" name="熊大的PPT宝库1-139"/>
            <p:cNvSpPr/>
            <p:nvPr/>
          </p:nvSpPr>
          <p:spPr>
            <a:xfrm>
              <a:off x="10172757" y="10259407"/>
              <a:ext cx="657773" cy="388722"/>
            </a:xfrm>
            <a:custGeom>
              <a:avLst/>
              <a:gdLst/>
              <a:ahLst/>
              <a:cxnLst>
                <a:cxn ang="0">
                  <a:pos x="wd2" y="hd2"/>
                </a:cxn>
                <a:cxn ang="5400000">
                  <a:pos x="wd2" y="hd2"/>
                </a:cxn>
                <a:cxn ang="10800000">
                  <a:pos x="wd2" y="hd2"/>
                </a:cxn>
                <a:cxn ang="16200000">
                  <a:pos x="wd2" y="hd2"/>
                </a:cxn>
              </a:cxnLst>
              <a:rect l="0" t="0" r="r" b="b"/>
              <a:pathLst>
                <a:path w="21600" h="21600" extrusionOk="0">
                  <a:moveTo>
                    <a:pt x="339" y="1069"/>
                  </a:moveTo>
                  <a:lnTo>
                    <a:pt x="1040" y="903"/>
                  </a:lnTo>
                  <a:lnTo>
                    <a:pt x="1266" y="12"/>
                  </a:lnTo>
                  <a:lnTo>
                    <a:pt x="2016" y="0"/>
                  </a:lnTo>
                  <a:lnTo>
                    <a:pt x="2684" y="12"/>
                  </a:lnTo>
                  <a:lnTo>
                    <a:pt x="2808" y="1131"/>
                  </a:lnTo>
                  <a:lnTo>
                    <a:pt x="3150" y="1972"/>
                  </a:lnTo>
                  <a:lnTo>
                    <a:pt x="3342" y="2473"/>
                  </a:lnTo>
                  <a:lnTo>
                    <a:pt x="3192" y="3510"/>
                  </a:lnTo>
                  <a:lnTo>
                    <a:pt x="3218" y="4141"/>
                  </a:lnTo>
                  <a:lnTo>
                    <a:pt x="3692" y="4939"/>
                  </a:lnTo>
                  <a:lnTo>
                    <a:pt x="4067" y="5627"/>
                  </a:lnTo>
                  <a:lnTo>
                    <a:pt x="4526" y="6342"/>
                  </a:lnTo>
                  <a:cubicBezTo>
                    <a:pt x="4633" y="6179"/>
                    <a:pt x="4728" y="5996"/>
                    <a:pt x="4809" y="5795"/>
                  </a:cubicBezTo>
                  <a:cubicBezTo>
                    <a:pt x="4941" y="5469"/>
                    <a:pt x="5034" y="5102"/>
                    <a:pt x="5083" y="4716"/>
                  </a:cubicBezTo>
                  <a:lnTo>
                    <a:pt x="5451" y="4478"/>
                  </a:lnTo>
                  <a:lnTo>
                    <a:pt x="6119" y="3931"/>
                  </a:lnTo>
                  <a:lnTo>
                    <a:pt x="6668" y="3385"/>
                  </a:lnTo>
                  <a:lnTo>
                    <a:pt x="7068" y="2838"/>
                  </a:lnTo>
                  <a:lnTo>
                    <a:pt x="7444" y="2122"/>
                  </a:lnTo>
                  <a:lnTo>
                    <a:pt x="8137" y="2122"/>
                  </a:lnTo>
                  <a:cubicBezTo>
                    <a:pt x="8213" y="2262"/>
                    <a:pt x="8288" y="2402"/>
                    <a:pt x="8362" y="2543"/>
                  </a:cubicBezTo>
                  <a:cubicBezTo>
                    <a:pt x="8481" y="2766"/>
                    <a:pt x="8597" y="2991"/>
                    <a:pt x="8713" y="3217"/>
                  </a:cubicBezTo>
                  <a:lnTo>
                    <a:pt x="9356" y="3708"/>
                  </a:lnTo>
                  <a:lnTo>
                    <a:pt x="10017" y="3953"/>
                  </a:lnTo>
                  <a:lnTo>
                    <a:pt x="10667" y="4583"/>
                  </a:lnTo>
                  <a:lnTo>
                    <a:pt x="11719" y="5004"/>
                  </a:lnTo>
                  <a:lnTo>
                    <a:pt x="12420" y="5579"/>
                  </a:lnTo>
                  <a:lnTo>
                    <a:pt x="13814" y="6239"/>
                  </a:lnTo>
                  <a:lnTo>
                    <a:pt x="14716" y="7388"/>
                  </a:lnTo>
                  <a:lnTo>
                    <a:pt x="15776" y="8749"/>
                  </a:lnTo>
                  <a:lnTo>
                    <a:pt x="16728" y="9464"/>
                  </a:lnTo>
                  <a:lnTo>
                    <a:pt x="17354" y="9911"/>
                  </a:lnTo>
                  <a:lnTo>
                    <a:pt x="17855" y="11325"/>
                  </a:lnTo>
                  <a:lnTo>
                    <a:pt x="18106" y="12349"/>
                  </a:lnTo>
                  <a:lnTo>
                    <a:pt x="17539" y="12799"/>
                  </a:lnTo>
                  <a:lnTo>
                    <a:pt x="17349" y="13484"/>
                  </a:lnTo>
                  <a:lnTo>
                    <a:pt x="17608" y="14382"/>
                  </a:lnTo>
                  <a:lnTo>
                    <a:pt x="18326" y="15070"/>
                  </a:lnTo>
                  <a:lnTo>
                    <a:pt x="18350" y="15982"/>
                  </a:lnTo>
                  <a:lnTo>
                    <a:pt x="18350" y="16933"/>
                  </a:lnTo>
                  <a:lnTo>
                    <a:pt x="18733" y="17701"/>
                  </a:lnTo>
                  <a:lnTo>
                    <a:pt x="19484" y="18246"/>
                  </a:lnTo>
                  <a:lnTo>
                    <a:pt x="20127" y="18373"/>
                  </a:lnTo>
                  <a:lnTo>
                    <a:pt x="20650" y="19209"/>
                  </a:lnTo>
                  <a:lnTo>
                    <a:pt x="21276" y="20051"/>
                  </a:lnTo>
                  <a:lnTo>
                    <a:pt x="21600" y="21054"/>
                  </a:lnTo>
                  <a:lnTo>
                    <a:pt x="21500" y="21600"/>
                  </a:lnTo>
                  <a:lnTo>
                    <a:pt x="20623" y="21026"/>
                  </a:lnTo>
                  <a:lnTo>
                    <a:pt x="20131" y="20705"/>
                  </a:lnTo>
                  <a:lnTo>
                    <a:pt x="19072" y="20663"/>
                  </a:lnTo>
                  <a:lnTo>
                    <a:pt x="18170" y="20158"/>
                  </a:lnTo>
                  <a:lnTo>
                    <a:pt x="17728" y="19485"/>
                  </a:lnTo>
                  <a:lnTo>
                    <a:pt x="17478" y="18967"/>
                  </a:lnTo>
                  <a:lnTo>
                    <a:pt x="17228" y="17746"/>
                  </a:lnTo>
                  <a:lnTo>
                    <a:pt x="16877" y="16708"/>
                  </a:lnTo>
                  <a:lnTo>
                    <a:pt x="16402" y="15951"/>
                  </a:lnTo>
                  <a:lnTo>
                    <a:pt x="15525" y="14954"/>
                  </a:lnTo>
                  <a:lnTo>
                    <a:pt x="14876" y="14284"/>
                  </a:lnTo>
                  <a:lnTo>
                    <a:pt x="14242" y="14284"/>
                  </a:lnTo>
                  <a:lnTo>
                    <a:pt x="13699" y="15489"/>
                  </a:lnTo>
                  <a:cubicBezTo>
                    <a:pt x="13655" y="15662"/>
                    <a:pt x="13604" y="15830"/>
                    <a:pt x="13549" y="15993"/>
                  </a:cubicBezTo>
                  <a:cubicBezTo>
                    <a:pt x="13430" y="16338"/>
                    <a:pt x="13287" y="16658"/>
                    <a:pt x="13123" y="16945"/>
                  </a:cubicBezTo>
                  <a:lnTo>
                    <a:pt x="12398" y="17785"/>
                  </a:lnTo>
                  <a:lnTo>
                    <a:pt x="11380" y="17196"/>
                  </a:lnTo>
                  <a:lnTo>
                    <a:pt x="10929" y="17070"/>
                  </a:lnTo>
                  <a:cubicBezTo>
                    <a:pt x="10778" y="17231"/>
                    <a:pt x="10588" y="17247"/>
                    <a:pt x="10429" y="17112"/>
                  </a:cubicBezTo>
                  <a:cubicBezTo>
                    <a:pt x="10275" y="16981"/>
                    <a:pt x="10172" y="16728"/>
                    <a:pt x="10154" y="16440"/>
                  </a:cubicBezTo>
                  <a:lnTo>
                    <a:pt x="9620" y="15752"/>
                  </a:lnTo>
                  <a:lnTo>
                    <a:pt x="9169" y="15416"/>
                  </a:lnTo>
                  <a:lnTo>
                    <a:pt x="8374" y="15500"/>
                  </a:lnTo>
                  <a:lnTo>
                    <a:pt x="7783" y="15624"/>
                  </a:lnTo>
                  <a:lnTo>
                    <a:pt x="7609" y="15133"/>
                  </a:lnTo>
                  <a:lnTo>
                    <a:pt x="7084" y="15175"/>
                  </a:lnTo>
                  <a:lnTo>
                    <a:pt x="7283" y="14463"/>
                  </a:lnTo>
                  <a:lnTo>
                    <a:pt x="7684" y="14295"/>
                  </a:lnTo>
                  <a:lnTo>
                    <a:pt x="8067" y="13793"/>
                  </a:lnTo>
                  <a:lnTo>
                    <a:pt x="8425" y="13260"/>
                  </a:lnTo>
                  <a:lnTo>
                    <a:pt x="8424" y="12101"/>
                  </a:lnTo>
                  <a:lnTo>
                    <a:pt x="7998" y="10796"/>
                  </a:lnTo>
                  <a:cubicBezTo>
                    <a:pt x="7914" y="10491"/>
                    <a:pt x="7805" y="10208"/>
                    <a:pt x="7672" y="9955"/>
                  </a:cubicBezTo>
                  <a:cubicBezTo>
                    <a:pt x="7487" y="9602"/>
                    <a:pt x="7262" y="9316"/>
                    <a:pt x="7013" y="9100"/>
                  </a:cubicBezTo>
                  <a:cubicBezTo>
                    <a:pt x="6627" y="8764"/>
                    <a:pt x="6195" y="8604"/>
                    <a:pt x="5760" y="8637"/>
                  </a:cubicBezTo>
                  <a:lnTo>
                    <a:pt x="5460" y="7993"/>
                  </a:lnTo>
                  <a:lnTo>
                    <a:pt x="4992" y="7628"/>
                  </a:lnTo>
                  <a:lnTo>
                    <a:pt x="4219" y="6874"/>
                  </a:lnTo>
                  <a:cubicBezTo>
                    <a:pt x="4009" y="6592"/>
                    <a:pt x="3763" y="6395"/>
                    <a:pt x="3501" y="6299"/>
                  </a:cubicBezTo>
                  <a:cubicBezTo>
                    <a:pt x="3254" y="6207"/>
                    <a:pt x="2997" y="6207"/>
                    <a:pt x="2750" y="6299"/>
                  </a:cubicBezTo>
                  <a:lnTo>
                    <a:pt x="2183" y="6425"/>
                  </a:lnTo>
                  <a:lnTo>
                    <a:pt x="1674" y="5792"/>
                  </a:lnTo>
                  <a:lnTo>
                    <a:pt x="1674" y="4994"/>
                  </a:lnTo>
                  <a:lnTo>
                    <a:pt x="2200" y="4420"/>
                  </a:lnTo>
                  <a:lnTo>
                    <a:pt x="2400" y="3664"/>
                  </a:lnTo>
                  <a:lnTo>
                    <a:pt x="2125" y="3120"/>
                  </a:lnTo>
                  <a:lnTo>
                    <a:pt x="1524" y="2615"/>
                  </a:lnTo>
                  <a:lnTo>
                    <a:pt x="566" y="2138"/>
                  </a:lnTo>
                  <a:lnTo>
                    <a:pt x="0" y="1619"/>
                  </a:lnTo>
                  <a:lnTo>
                    <a:pt x="54" y="1017"/>
                  </a:lnTo>
                  <a:lnTo>
                    <a:pt x="339" y="1069"/>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93" name="熊大的PPT宝库1-140"/>
            <p:cNvSpPr/>
            <p:nvPr/>
          </p:nvSpPr>
          <p:spPr>
            <a:xfrm>
              <a:off x="10265311" y="9943988"/>
              <a:ext cx="18322" cy="22808"/>
            </a:xfrm>
            <a:custGeom>
              <a:avLst/>
              <a:gdLst/>
              <a:ahLst/>
              <a:cxnLst>
                <a:cxn ang="0">
                  <a:pos x="wd2" y="hd2"/>
                </a:cxn>
                <a:cxn ang="5400000">
                  <a:pos x="wd2" y="hd2"/>
                </a:cxn>
                <a:cxn ang="10800000">
                  <a:pos x="wd2" y="hd2"/>
                </a:cxn>
                <a:cxn ang="16200000">
                  <a:pos x="wd2" y="hd2"/>
                </a:cxn>
              </a:cxnLst>
              <a:rect l="0" t="0" r="r" b="b"/>
              <a:pathLst>
                <a:path w="21600" h="21600" extrusionOk="0">
                  <a:moveTo>
                    <a:pt x="11034" y="0"/>
                  </a:moveTo>
                  <a:lnTo>
                    <a:pt x="0" y="3883"/>
                  </a:lnTo>
                  <a:lnTo>
                    <a:pt x="4598" y="21600"/>
                  </a:lnTo>
                  <a:lnTo>
                    <a:pt x="21600" y="15889"/>
                  </a:lnTo>
                  <a:lnTo>
                    <a:pt x="21600" y="4677"/>
                  </a:lnTo>
                  <a:lnTo>
                    <a:pt x="11034"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94" name="熊大的PPT宝库1-141"/>
            <p:cNvSpPr/>
            <p:nvPr/>
          </p:nvSpPr>
          <p:spPr>
            <a:xfrm>
              <a:off x="10586630" y="9630666"/>
              <a:ext cx="16360" cy="21873"/>
            </a:xfrm>
            <a:custGeom>
              <a:avLst/>
              <a:gdLst/>
              <a:ahLst/>
              <a:cxnLst>
                <a:cxn ang="0">
                  <a:pos x="wd2" y="hd2"/>
                </a:cxn>
                <a:cxn ang="5400000">
                  <a:pos x="wd2" y="hd2"/>
                </a:cxn>
                <a:cxn ang="10800000">
                  <a:pos x="wd2" y="hd2"/>
                </a:cxn>
                <a:cxn ang="16200000">
                  <a:pos x="wd2" y="hd2"/>
                </a:cxn>
              </a:cxnLst>
              <a:rect l="0" t="0" r="r" b="b"/>
              <a:pathLst>
                <a:path w="21600" h="21600" extrusionOk="0">
                  <a:moveTo>
                    <a:pt x="11547" y="0"/>
                  </a:moveTo>
                  <a:lnTo>
                    <a:pt x="2757" y="5238"/>
                  </a:lnTo>
                  <a:lnTo>
                    <a:pt x="0" y="18231"/>
                  </a:lnTo>
                  <a:lnTo>
                    <a:pt x="17487" y="21600"/>
                  </a:lnTo>
                  <a:lnTo>
                    <a:pt x="21600" y="12744"/>
                  </a:lnTo>
                  <a:lnTo>
                    <a:pt x="11547"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95" name="熊大的PPT宝库1-142"/>
            <p:cNvSpPr/>
            <p:nvPr/>
          </p:nvSpPr>
          <p:spPr>
            <a:xfrm>
              <a:off x="10560361" y="9707051"/>
              <a:ext cx="18349" cy="31158"/>
            </a:xfrm>
            <a:custGeom>
              <a:avLst/>
              <a:gdLst/>
              <a:ahLst/>
              <a:cxnLst>
                <a:cxn ang="0">
                  <a:pos x="wd2" y="hd2"/>
                </a:cxn>
                <a:cxn ang="5400000">
                  <a:pos x="wd2" y="hd2"/>
                </a:cxn>
                <a:cxn ang="10800000">
                  <a:pos x="wd2" y="hd2"/>
                </a:cxn>
                <a:cxn ang="16200000">
                  <a:pos x="wd2" y="hd2"/>
                </a:cxn>
              </a:cxnLst>
              <a:rect l="0" t="0" r="r" b="b"/>
              <a:pathLst>
                <a:path w="21600" h="21600" extrusionOk="0">
                  <a:moveTo>
                    <a:pt x="5652" y="0"/>
                  </a:moveTo>
                  <a:lnTo>
                    <a:pt x="0" y="4334"/>
                  </a:lnTo>
                  <a:lnTo>
                    <a:pt x="342" y="20725"/>
                  </a:lnTo>
                  <a:lnTo>
                    <a:pt x="18905" y="21600"/>
                  </a:lnTo>
                  <a:lnTo>
                    <a:pt x="21600" y="4465"/>
                  </a:lnTo>
                  <a:lnTo>
                    <a:pt x="5652"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396" name="熊大的PPT宝库1-143"/>
            <p:cNvSpPr/>
            <p:nvPr/>
          </p:nvSpPr>
          <p:spPr>
            <a:xfrm>
              <a:off x="11065574" y="9963287"/>
              <a:ext cx="19066" cy="2893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7350"/>
                  </a:lnTo>
                  <a:lnTo>
                    <a:pt x="7288" y="21600"/>
                  </a:lnTo>
                  <a:lnTo>
                    <a:pt x="0" y="0"/>
                  </a:lnTo>
                  <a:close/>
                </a:path>
              </a:pathLst>
            </a:custGeom>
            <a:solidFill>
              <a:schemeClr val="bg1">
                <a:lumMod val="85000"/>
                <a:alpha val="18000"/>
              </a:schemeClr>
            </a:solidFill>
            <a:ln w="25400" cap="flat">
              <a:solidFill>
                <a:srgbClr val="FFFFFF">
                  <a:alpha val="0"/>
                </a:srgbClr>
              </a:solidFill>
              <a:prstDash val="solid"/>
              <a:miter lim="4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grpSp>
      <p:sp>
        <p:nvSpPr>
          <p:cNvPr id="49" name="熊大的PPT宝库2"/>
          <p:cNvSpPr txBox="1"/>
          <p:nvPr/>
        </p:nvSpPr>
        <p:spPr>
          <a:xfrm>
            <a:off x="348830" y="216968"/>
            <a:ext cx="4288353"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品牌变革升级框架搭建</a:t>
            </a:r>
          </a:p>
        </p:txBody>
      </p:sp>
      <p:sp>
        <p:nvSpPr>
          <p:cNvPr id="3" name="熊大的PPT宝库4"/>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
        <p:nvSpPr>
          <p:cNvPr id="205" name="熊大的PPT宝库5"/>
          <p:cNvSpPr/>
          <p:nvPr/>
        </p:nvSpPr>
        <p:spPr>
          <a:xfrm>
            <a:off x="586301" y="5337703"/>
            <a:ext cx="1058754" cy="1130400"/>
          </a:xfrm>
          <a:prstGeom prst="roundRect">
            <a:avLst>
              <a:gd name="adj" fmla="val 5871"/>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04" name="熊大的PPT宝库6"/>
          <p:cNvSpPr/>
          <p:nvPr/>
        </p:nvSpPr>
        <p:spPr>
          <a:xfrm>
            <a:off x="586301" y="3743082"/>
            <a:ext cx="1058754" cy="1382837"/>
          </a:xfrm>
          <a:prstGeom prst="roundRect">
            <a:avLst>
              <a:gd name="adj" fmla="val 7071"/>
            </a:avLst>
          </a:prstGeom>
          <a:solidFill>
            <a:schemeClr val="accent1">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03" name="熊大的PPT宝库7"/>
          <p:cNvSpPr/>
          <p:nvPr/>
        </p:nvSpPr>
        <p:spPr>
          <a:xfrm>
            <a:off x="586301" y="1016720"/>
            <a:ext cx="1058754" cy="2619142"/>
          </a:xfrm>
          <a:prstGeom prst="roundRect">
            <a:avLst>
              <a:gd name="adj" fmla="val 707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grpSp>
        <p:nvGrpSpPr>
          <p:cNvPr id="135" name="熊大的PPT宝库8"/>
          <p:cNvGrpSpPr/>
          <p:nvPr/>
        </p:nvGrpSpPr>
        <p:grpSpPr>
          <a:xfrm>
            <a:off x="1874596" y="1017036"/>
            <a:ext cx="9731103" cy="2628001"/>
            <a:chOff x="2017986" y="1139868"/>
            <a:chExt cx="9731103" cy="2628001"/>
          </a:xfrm>
        </p:grpSpPr>
        <p:sp>
          <p:nvSpPr>
            <p:cNvPr id="110" name="熊大的PPT宝库8-1"/>
            <p:cNvSpPr/>
            <p:nvPr/>
          </p:nvSpPr>
          <p:spPr>
            <a:xfrm>
              <a:off x="2017986" y="1139868"/>
              <a:ext cx="1222822" cy="1879462"/>
            </a:xfrm>
            <a:custGeom>
              <a:avLst/>
              <a:gdLst>
                <a:gd name="connsiteX0" fmla="*/ 180352 w 1222822"/>
                <a:gd name="connsiteY0" fmla="*/ 0 h 1879462"/>
                <a:gd name="connsiteX1" fmla="*/ 1076729 w 1222822"/>
                <a:gd name="connsiteY1" fmla="*/ 0 h 1879462"/>
                <a:gd name="connsiteX2" fmla="*/ 1222822 w 1222822"/>
                <a:gd name="connsiteY2" fmla="*/ 145080 h 1879462"/>
                <a:gd name="connsiteX3" fmla="*/ 1085085 w 1222822"/>
                <a:gd name="connsiteY3" fmla="*/ 283779 h 1879462"/>
                <a:gd name="connsiteX4" fmla="*/ 431240 w 1222822"/>
                <a:gd name="connsiteY4" fmla="*/ 283779 h 1879462"/>
                <a:gd name="connsiteX5" fmla="*/ 290417 w 1222822"/>
                <a:gd name="connsiteY5" fmla="*/ 444451 h 1879462"/>
                <a:gd name="connsiteX6" fmla="*/ 290417 w 1222822"/>
                <a:gd name="connsiteY6" fmla="*/ 1872712 h 1879462"/>
                <a:gd name="connsiteX7" fmla="*/ 149594 w 1222822"/>
                <a:gd name="connsiteY7" fmla="*/ 1730905 h 1879462"/>
                <a:gd name="connsiteX8" fmla="*/ 0 w 1222822"/>
                <a:gd name="connsiteY8" fmla="*/ 1879462 h 1879462"/>
                <a:gd name="connsiteX9" fmla="*/ 0 w 1222822"/>
                <a:gd name="connsiteY9" fmla="*/ 205772 h 1879462"/>
                <a:gd name="connsiteX10" fmla="*/ 180352 w 1222822"/>
                <a:gd name="connsiteY10" fmla="*/ 0 h 1879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2822" h="1879462">
                  <a:moveTo>
                    <a:pt x="180352" y="0"/>
                  </a:moveTo>
                  <a:lnTo>
                    <a:pt x="1076729" y="0"/>
                  </a:lnTo>
                  <a:lnTo>
                    <a:pt x="1222822" y="145080"/>
                  </a:lnTo>
                  <a:lnTo>
                    <a:pt x="1085085" y="283779"/>
                  </a:lnTo>
                  <a:lnTo>
                    <a:pt x="431240" y="283779"/>
                  </a:lnTo>
                  <a:cubicBezTo>
                    <a:pt x="353465" y="283779"/>
                    <a:pt x="290417" y="355714"/>
                    <a:pt x="290417" y="444451"/>
                  </a:cubicBezTo>
                  <a:lnTo>
                    <a:pt x="290417" y="1872712"/>
                  </a:lnTo>
                  <a:lnTo>
                    <a:pt x="149594" y="1730905"/>
                  </a:lnTo>
                  <a:lnTo>
                    <a:pt x="0" y="1879462"/>
                  </a:lnTo>
                  <a:lnTo>
                    <a:pt x="0" y="205772"/>
                  </a:lnTo>
                  <a:cubicBezTo>
                    <a:pt x="0" y="92127"/>
                    <a:pt x="80746" y="0"/>
                    <a:pt x="180352" y="0"/>
                  </a:cubicBezTo>
                  <a:close/>
                </a:path>
              </a:pathLst>
            </a:custGeom>
            <a:solidFill>
              <a:schemeClr val="accent1"/>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9" name="熊大的PPT宝库8-2"/>
            <p:cNvSpPr/>
            <p:nvPr/>
          </p:nvSpPr>
          <p:spPr>
            <a:xfrm>
              <a:off x="3223223" y="1139869"/>
              <a:ext cx="3356026" cy="283779"/>
            </a:xfrm>
            <a:custGeom>
              <a:avLst/>
              <a:gdLst>
                <a:gd name="connsiteX0" fmla="*/ 0 w 3356026"/>
                <a:gd name="connsiteY0" fmla="*/ 0 h 283779"/>
                <a:gd name="connsiteX1" fmla="*/ 3209932 w 3356026"/>
                <a:gd name="connsiteY1" fmla="*/ 0 h 283779"/>
                <a:gd name="connsiteX2" fmla="*/ 3356026 w 3356026"/>
                <a:gd name="connsiteY2" fmla="*/ 145081 h 283779"/>
                <a:gd name="connsiteX3" fmla="*/ 3218290 w 3356026"/>
                <a:gd name="connsiteY3" fmla="*/ 283779 h 283779"/>
                <a:gd name="connsiteX4" fmla="*/ 7464 w 3356026"/>
                <a:gd name="connsiteY4" fmla="*/ 283779 h 283779"/>
                <a:gd name="connsiteX5" fmla="*/ 145644 w 3356026"/>
                <a:gd name="connsiteY5" fmla="*/ 144634 h 283779"/>
                <a:gd name="connsiteX6" fmla="*/ 0 w 3356026"/>
                <a:gd name="connsiteY6" fmla="*/ 0 h 283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6026" h="283779">
                  <a:moveTo>
                    <a:pt x="0" y="0"/>
                  </a:moveTo>
                  <a:lnTo>
                    <a:pt x="3209932" y="0"/>
                  </a:lnTo>
                  <a:lnTo>
                    <a:pt x="3356026" y="145081"/>
                  </a:lnTo>
                  <a:lnTo>
                    <a:pt x="3218290" y="283779"/>
                  </a:lnTo>
                  <a:lnTo>
                    <a:pt x="7464" y="283779"/>
                  </a:lnTo>
                  <a:lnTo>
                    <a:pt x="145644" y="144634"/>
                  </a:lnTo>
                  <a:lnTo>
                    <a:pt x="0" y="0"/>
                  </a:lnTo>
                  <a:close/>
                </a:path>
              </a:pathLst>
            </a:custGeom>
            <a:solidFill>
              <a:schemeClr val="accent1"/>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8" name="熊大的PPT宝库8-3"/>
            <p:cNvSpPr/>
            <p:nvPr/>
          </p:nvSpPr>
          <p:spPr>
            <a:xfrm>
              <a:off x="6561663" y="1139869"/>
              <a:ext cx="2963813" cy="283779"/>
            </a:xfrm>
            <a:custGeom>
              <a:avLst/>
              <a:gdLst>
                <a:gd name="connsiteX0" fmla="*/ 0 w 2963813"/>
                <a:gd name="connsiteY0" fmla="*/ 0 h 283779"/>
                <a:gd name="connsiteX1" fmla="*/ 2817718 w 2963813"/>
                <a:gd name="connsiteY1" fmla="*/ 0 h 283779"/>
                <a:gd name="connsiteX2" fmla="*/ 2963813 w 2963813"/>
                <a:gd name="connsiteY2" fmla="*/ 145081 h 283779"/>
                <a:gd name="connsiteX3" fmla="*/ 2826077 w 2963813"/>
                <a:gd name="connsiteY3" fmla="*/ 283779 h 283779"/>
                <a:gd name="connsiteX4" fmla="*/ 7466 w 2963813"/>
                <a:gd name="connsiteY4" fmla="*/ 283779 h 283779"/>
                <a:gd name="connsiteX5" fmla="*/ 145645 w 2963813"/>
                <a:gd name="connsiteY5" fmla="*/ 144635 h 283779"/>
                <a:gd name="connsiteX6" fmla="*/ 0 w 2963813"/>
                <a:gd name="connsiteY6" fmla="*/ 0 h 283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3813" h="283779">
                  <a:moveTo>
                    <a:pt x="0" y="0"/>
                  </a:moveTo>
                  <a:lnTo>
                    <a:pt x="2817718" y="0"/>
                  </a:lnTo>
                  <a:lnTo>
                    <a:pt x="2963813" y="145081"/>
                  </a:lnTo>
                  <a:lnTo>
                    <a:pt x="2826077" y="283779"/>
                  </a:lnTo>
                  <a:lnTo>
                    <a:pt x="7466" y="283779"/>
                  </a:lnTo>
                  <a:lnTo>
                    <a:pt x="145645" y="144635"/>
                  </a:lnTo>
                  <a:lnTo>
                    <a:pt x="0" y="0"/>
                  </a:lnTo>
                  <a:close/>
                </a:path>
              </a:pathLst>
            </a:custGeom>
            <a:solidFill>
              <a:schemeClr val="accent1"/>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7" name="熊大的PPT宝库8-4"/>
            <p:cNvSpPr/>
            <p:nvPr/>
          </p:nvSpPr>
          <p:spPr>
            <a:xfrm>
              <a:off x="9507890" y="1139869"/>
              <a:ext cx="2241199" cy="1755235"/>
            </a:xfrm>
            <a:custGeom>
              <a:avLst/>
              <a:gdLst>
                <a:gd name="connsiteX0" fmla="*/ 0 w 2241199"/>
                <a:gd name="connsiteY0" fmla="*/ 0 h 1755235"/>
                <a:gd name="connsiteX1" fmla="*/ 2060848 w 2241199"/>
                <a:gd name="connsiteY1" fmla="*/ 0 h 1755235"/>
                <a:gd name="connsiteX2" fmla="*/ 2241199 w 2241199"/>
                <a:gd name="connsiteY2" fmla="*/ 205772 h 1755235"/>
                <a:gd name="connsiteX3" fmla="*/ 2241199 w 2241199"/>
                <a:gd name="connsiteY3" fmla="*/ 1610330 h 1755235"/>
                <a:gd name="connsiteX4" fmla="*/ 2095282 w 2241199"/>
                <a:gd name="connsiteY4" fmla="*/ 1755235 h 1755235"/>
                <a:gd name="connsiteX5" fmla="*/ 1950782 w 2241199"/>
                <a:gd name="connsiteY5" fmla="*/ 1609726 h 1755235"/>
                <a:gd name="connsiteX6" fmla="*/ 1950782 w 2241199"/>
                <a:gd name="connsiteY6" fmla="*/ 444451 h 1755235"/>
                <a:gd name="connsiteX7" fmla="*/ 1809959 w 2241199"/>
                <a:gd name="connsiteY7" fmla="*/ 283779 h 1755235"/>
                <a:gd name="connsiteX8" fmla="*/ 7466 w 2241199"/>
                <a:gd name="connsiteY8" fmla="*/ 283779 h 1755235"/>
                <a:gd name="connsiteX9" fmla="*/ 145645 w 2241199"/>
                <a:gd name="connsiteY9" fmla="*/ 144635 h 1755235"/>
                <a:gd name="connsiteX10" fmla="*/ 0 w 2241199"/>
                <a:gd name="connsiteY10" fmla="*/ 0 h 175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1199" h="1755235">
                  <a:moveTo>
                    <a:pt x="0" y="0"/>
                  </a:moveTo>
                  <a:lnTo>
                    <a:pt x="2060848" y="0"/>
                  </a:lnTo>
                  <a:cubicBezTo>
                    <a:pt x="2160453" y="0"/>
                    <a:pt x="2241199" y="92127"/>
                    <a:pt x="2241199" y="205772"/>
                  </a:cubicBezTo>
                  <a:lnTo>
                    <a:pt x="2241199" y="1610330"/>
                  </a:lnTo>
                  <a:lnTo>
                    <a:pt x="2095282" y="1755235"/>
                  </a:lnTo>
                  <a:lnTo>
                    <a:pt x="1950782" y="1609726"/>
                  </a:lnTo>
                  <a:lnTo>
                    <a:pt x="1950782" y="444451"/>
                  </a:lnTo>
                  <a:cubicBezTo>
                    <a:pt x="1950782" y="355714"/>
                    <a:pt x="1887734" y="283779"/>
                    <a:pt x="1809959" y="283779"/>
                  </a:cubicBezTo>
                  <a:lnTo>
                    <a:pt x="7466" y="283779"/>
                  </a:lnTo>
                  <a:lnTo>
                    <a:pt x="145645" y="144635"/>
                  </a:lnTo>
                  <a:lnTo>
                    <a:pt x="0" y="0"/>
                  </a:lnTo>
                  <a:close/>
                </a:path>
              </a:pathLst>
            </a:custGeom>
            <a:solidFill>
              <a:schemeClr val="accent1"/>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7" name="熊大的PPT宝库8-5"/>
            <p:cNvSpPr/>
            <p:nvPr/>
          </p:nvSpPr>
          <p:spPr>
            <a:xfrm>
              <a:off x="8299874" y="2877814"/>
              <a:ext cx="3449215" cy="890054"/>
            </a:xfrm>
            <a:custGeom>
              <a:avLst/>
              <a:gdLst>
                <a:gd name="connsiteX0" fmla="*/ 3449215 w 3449215"/>
                <a:gd name="connsiteY0" fmla="*/ 0 h 890054"/>
                <a:gd name="connsiteX1" fmla="*/ 3449215 w 3449215"/>
                <a:gd name="connsiteY1" fmla="*/ 684282 h 890054"/>
                <a:gd name="connsiteX2" fmla="*/ 3268864 w 3449215"/>
                <a:gd name="connsiteY2" fmla="*/ 890054 h 890054"/>
                <a:gd name="connsiteX3" fmla="*/ 142680 w 3449215"/>
                <a:gd name="connsiteY3" fmla="*/ 890054 h 890054"/>
                <a:gd name="connsiteX4" fmla="*/ 0 w 3449215"/>
                <a:gd name="connsiteY4" fmla="*/ 746377 h 890054"/>
                <a:gd name="connsiteX5" fmla="*/ 149581 w 3449215"/>
                <a:gd name="connsiteY5" fmla="*/ 597833 h 890054"/>
                <a:gd name="connsiteX6" fmla="*/ 3017975 w 3449215"/>
                <a:gd name="connsiteY6" fmla="*/ 597833 h 890054"/>
                <a:gd name="connsiteX7" fmla="*/ 3158798 w 3449215"/>
                <a:gd name="connsiteY7" fmla="*/ 437161 h 890054"/>
                <a:gd name="connsiteX8" fmla="*/ 3158798 w 3449215"/>
                <a:gd name="connsiteY8" fmla="*/ 288 h 890054"/>
                <a:gd name="connsiteX9" fmla="*/ 3302852 w 3449215"/>
                <a:gd name="connsiteY9" fmla="*/ 145348 h 890054"/>
                <a:gd name="connsiteX10" fmla="*/ 3449215 w 3449215"/>
                <a:gd name="connsiteY10" fmla="*/ 0 h 890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49215" h="890054">
                  <a:moveTo>
                    <a:pt x="3449215" y="0"/>
                  </a:moveTo>
                  <a:lnTo>
                    <a:pt x="3449215" y="684282"/>
                  </a:lnTo>
                  <a:cubicBezTo>
                    <a:pt x="3449215" y="797927"/>
                    <a:pt x="3368469" y="890054"/>
                    <a:pt x="3268864" y="890054"/>
                  </a:cubicBezTo>
                  <a:lnTo>
                    <a:pt x="142680" y="890054"/>
                  </a:lnTo>
                  <a:lnTo>
                    <a:pt x="0" y="746377"/>
                  </a:lnTo>
                  <a:lnTo>
                    <a:pt x="149581" y="597833"/>
                  </a:lnTo>
                  <a:lnTo>
                    <a:pt x="3017975" y="597833"/>
                  </a:lnTo>
                  <a:cubicBezTo>
                    <a:pt x="3095750" y="597833"/>
                    <a:pt x="3158798" y="525898"/>
                    <a:pt x="3158798" y="437161"/>
                  </a:cubicBezTo>
                  <a:lnTo>
                    <a:pt x="3158798" y="288"/>
                  </a:lnTo>
                  <a:lnTo>
                    <a:pt x="3302852" y="145348"/>
                  </a:lnTo>
                  <a:lnTo>
                    <a:pt x="3449215" y="0"/>
                  </a:lnTo>
                  <a:close/>
                </a:path>
              </a:pathLst>
            </a:custGeom>
            <a:solidFill>
              <a:schemeClr val="accent1"/>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6" name="熊大的PPT宝库8-6"/>
            <p:cNvSpPr/>
            <p:nvPr/>
          </p:nvSpPr>
          <p:spPr>
            <a:xfrm>
              <a:off x="2017986" y="2998834"/>
              <a:ext cx="2850347" cy="769035"/>
            </a:xfrm>
            <a:custGeom>
              <a:avLst/>
              <a:gdLst>
                <a:gd name="connsiteX0" fmla="*/ 149148 w 2850347"/>
                <a:gd name="connsiteY0" fmla="*/ 0 h 769035"/>
                <a:gd name="connsiteX1" fmla="*/ 290417 w 2850347"/>
                <a:gd name="connsiteY1" fmla="*/ 142255 h 769035"/>
                <a:gd name="connsiteX2" fmla="*/ 290417 w 2850347"/>
                <a:gd name="connsiteY2" fmla="*/ 316142 h 769035"/>
                <a:gd name="connsiteX3" fmla="*/ 431240 w 2850347"/>
                <a:gd name="connsiteY3" fmla="*/ 476814 h 769035"/>
                <a:gd name="connsiteX4" fmla="*/ 2850347 w 2850347"/>
                <a:gd name="connsiteY4" fmla="*/ 476814 h 769035"/>
                <a:gd name="connsiteX5" fmla="*/ 2701215 w 2850347"/>
                <a:gd name="connsiteY5" fmla="*/ 624912 h 769035"/>
                <a:gd name="connsiteX6" fmla="*/ 2844338 w 2850347"/>
                <a:gd name="connsiteY6" fmla="*/ 769035 h 769035"/>
                <a:gd name="connsiteX7" fmla="*/ 180352 w 2850347"/>
                <a:gd name="connsiteY7" fmla="*/ 769035 h 769035"/>
                <a:gd name="connsiteX8" fmla="*/ 0 w 2850347"/>
                <a:gd name="connsiteY8" fmla="*/ 563263 h 769035"/>
                <a:gd name="connsiteX9" fmla="*/ 0 w 2850347"/>
                <a:gd name="connsiteY9" fmla="*/ 148114 h 769035"/>
                <a:gd name="connsiteX10" fmla="*/ 149148 w 2850347"/>
                <a:gd name="connsiteY10" fmla="*/ 0 h 769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50347" h="769035">
                  <a:moveTo>
                    <a:pt x="149148" y="0"/>
                  </a:moveTo>
                  <a:lnTo>
                    <a:pt x="290417" y="142255"/>
                  </a:lnTo>
                  <a:lnTo>
                    <a:pt x="290417" y="316142"/>
                  </a:lnTo>
                  <a:cubicBezTo>
                    <a:pt x="290417" y="404879"/>
                    <a:pt x="353465" y="476814"/>
                    <a:pt x="431240" y="476814"/>
                  </a:cubicBezTo>
                  <a:lnTo>
                    <a:pt x="2850347" y="476814"/>
                  </a:lnTo>
                  <a:lnTo>
                    <a:pt x="2701215" y="624912"/>
                  </a:lnTo>
                  <a:lnTo>
                    <a:pt x="2844338" y="769035"/>
                  </a:lnTo>
                  <a:lnTo>
                    <a:pt x="180352" y="769035"/>
                  </a:lnTo>
                  <a:cubicBezTo>
                    <a:pt x="80746" y="769035"/>
                    <a:pt x="0" y="676908"/>
                    <a:pt x="0" y="563263"/>
                  </a:cubicBezTo>
                  <a:lnTo>
                    <a:pt x="0" y="148114"/>
                  </a:lnTo>
                  <a:lnTo>
                    <a:pt x="149148" y="0"/>
                  </a:lnTo>
                  <a:close/>
                </a:path>
              </a:pathLst>
            </a:custGeom>
            <a:solidFill>
              <a:schemeClr val="accent1"/>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1" name="熊大的PPT宝库8-7"/>
            <p:cNvSpPr/>
            <p:nvPr/>
          </p:nvSpPr>
          <p:spPr>
            <a:xfrm>
              <a:off x="4847260" y="3475648"/>
              <a:ext cx="3473687" cy="292221"/>
            </a:xfrm>
            <a:custGeom>
              <a:avLst/>
              <a:gdLst>
                <a:gd name="connsiteX0" fmla="*/ 149581 w 3473687"/>
                <a:gd name="connsiteY0" fmla="*/ 0 h 292221"/>
                <a:gd name="connsiteX1" fmla="*/ 3473687 w 3473687"/>
                <a:gd name="connsiteY1" fmla="*/ 0 h 292221"/>
                <a:gd name="connsiteX2" fmla="*/ 3324555 w 3473687"/>
                <a:gd name="connsiteY2" fmla="*/ 148098 h 292221"/>
                <a:gd name="connsiteX3" fmla="*/ 3467678 w 3473687"/>
                <a:gd name="connsiteY3" fmla="*/ 292221 h 292221"/>
                <a:gd name="connsiteX4" fmla="*/ 142680 w 3473687"/>
                <a:gd name="connsiteY4" fmla="*/ 292221 h 292221"/>
                <a:gd name="connsiteX5" fmla="*/ 0 w 3473687"/>
                <a:gd name="connsiteY5" fmla="*/ 148544 h 292221"/>
                <a:gd name="connsiteX6" fmla="*/ 149581 w 3473687"/>
                <a:gd name="connsiteY6" fmla="*/ 0 h 292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73687" h="292221">
                  <a:moveTo>
                    <a:pt x="149581" y="0"/>
                  </a:moveTo>
                  <a:lnTo>
                    <a:pt x="3473687" y="0"/>
                  </a:lnTo>
                  <a:lnTo>
                    <a:pt x="3324555" y="148098"/>
                  </a:lnTo>
                  <a:lnTo>
                    <a:pt x="3467678" y="292221"/>
                  </a:lnTo>
                  <a:lnTo>
                    <a:pt x="142680" y="292221"/>
                  </a:lnTo>
                  <a:lnTo>
                    <a:pt x="0" y="148544"/>
                  </a:lnTo>
                  <a:lnTo>
                    <a:pt x="149581" y="0"/>
                  </a:lnTo>
                  <a:close/>
                </a:path>
              </a:pathLst>
            </a:custGeom>
            <a:solidFill>
              <a:schemeClr val="accent1"/>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6" name="熊大的PPT宝库8-8"/>
            <p:cNvSpPr txBox="1"/>
            <p:nvPr/>
          </p:nvSpPr>
          <p:spPr>
            <a:xfrm>
              <a:off x="4490867" y="1167005"/>
              <a:ext cx="820738" cy="246221"/>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客户互动</a:t>
              </a:r>
            </a:p>
          </p:txBody>
        </p:sp>
        <p:sp>
          <p:nvSpPr>
            <p:cNvPr id="127" name="熊大的PPT宝库8-9"/>
            <p:cNvSpPr txBox="1"/>
            <p:nvPr/>
          </p:nvSpPr>
          <p:spPr>
            <a:xfrm>
              <a:off x="7774373" y="1167005"/>
              <a:ext cx="410369" cy="246221"/>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研发</a:t>
              </a:r>
            </a:p>
          </p:txBody>
        </p:sp>
        <p:sp>
          <p:nvSpPr>
            <p:cNvPr id="128" name="熊大的PPT宝库8-10"/>
            <p:cNvSpPr txBox="1"/>
            <p:nvPr/>
          </p:nvSpPr>
          <p:spPr>
            <a:xfrm>
              <a:off x="3144667" y="3512473"/>
              <a:ext cx="410369" cy="246221"/>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仓储</a:t>
              </a:r>
            </a:p>
          </p:txBody>
        </p:sp>
        <p:sp>
          <p:nvSpPr>
            <p:cNvPr id="129" name="熊大的PPT宝库8-11"/>
            <p:cNvSpPr txBox="1"/>
            <p:nvPr/>
          </p:nvSpPr>
          <p:spPr>
            <a:xfrm>
              <a:off x="6573313" y="3512473"/>
              <a:ext cx="410369" cy="246221"/>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制造</a:t>
              </a:r>
            </a:p>
          </p:txBody>
        </p:sp>
        <p:sp>
          <p:nvSpPr>
            <p:cNvPr id="130" name="熊大的PPT宝库8-12"/>
            <p:cNvSpPr txBox="1"/>
            <p:nvPr/>
          </p:nvSpPr>
          <p:spPr>
            <a:xfrm>
              <a:off x="9840751" y="3512473"/>
              <a:ext cx="410369" cy="246221"/>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采购</a:t>
              </a:r>
            </a:p>
          </p:txBody>
        </p:sp>
        <p:sp>
          <p:nvSpPr>
            <p:cNvPr id="132" name="熊大的PPT宝库8-13"/>
            <p:cNvSpPr txBox="1"/>
            <p:nvPr/>
          </p:nvSpPr>
          <p:spPr>
            <a:xfrm>
              <a:off x="11506832" y="1766343"/>
              <a:ext cx="227320" cy="492443"/>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计划</a:t>
              </a:r>
            </a:p>
          </p:txBody>
        </p:sp>
        <p:sp>
          <p:nvSpPr>
            <p:cNvPr id="133" name="熊大的PPT宝库8-14"/>
            <p:cNvSpPr txBox="1"/>
            <p:nvPr/>
          </p:nvSpPr>
          <p:spPr>
            <a:xfrm>
              <a:off x="2065652" y="1766343"/>
              <a:ext cx="227320" cy="492443"/>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货运</a:t>
              </a:r>
            </a:p>
          </p:txBody>
        </p:sp>
      </p:grpSp>
      <p:sp>
        <p:nvSpPr>
          <p:cNvPr id="134" name="熊大的PPT宝库9"/>
          <p:cNvSpPr txBox="1"/>
          <p:nvPr/>
        </p:nvSpPr>
        <p:spPr>
          <a:xfrm>
            <a:off x="4226639" y="2131146"/>
            <a:ext cx="5027017" cy="430887"/>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00329D"/>
                </a:solidFill>
                <a:effectLst/>
                <a:uLnTx/>
                <a:uFillTx/>
                <a:cs typeface="+mn-ea"/>
                <a:sym typeface="+mn-lt"/>
              </a:rPr>
              <a:t>新零售下的智慧化供应链全流程</a:t>
            </a:r>
          </a:p>
        </p:txBody>
      </p:sp>
      <p:cxnSp>
        <p:nvCxnSpPr>
          <p:cNvPr id="137" name="熊大的PPT宝库10"/>
          <p:cNvCxnSpPr/>
          <p:nvPr/>
        </p:nvCxnSpPr>
        <p:spPr>
          <a:xfrm>
            <a:off x="4255555" y="2083336"/>
            <a:ext cx="493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8" name="熊大的PPT宝库11"/>
          <p:cNvCxnSpPr/>
          <p:nvPr/>
        </p:nvCxnSpPr>
        <p:spPr>
          <a:xfrm>
            <a:off x="4255555" y="2609842"/>
            <a:ext cx="4932000" cy="0"/>
          </a:xfrm>
          <a:prstGeom prst="line">
            <a:avLst/>
          </a:prstGeom>
        </p:spPr>
        <p:style>
          <a:lnRef idx="1">
            <a:schemeClr val="accent1"/>
          </a:lnRef>
          <a:fillRef idx="0">
            <a:schemeClr val="accent1"/>
          </a:fillRef>
          <a:effectRef idx="0">
            <a:schemeClr val="accent1"/>
          </a:effectRef>
          <a:fontRef idx="minor">
            <a:schemeClr val="tx1"/>
          </a:fontRef>
        </p:style>
      </p:cxnSp>
      <p:sp>
        <p:nvSpPr>
          <p:cNvPr id="139" name="熊大的PPT宝库12"/>
          <p:cNvSpPr/>
          <p:nvPr/>
        </p:nvSpPr>
        <p:spPr>
          <a:xfrm>
            <a:off x="4522164" y="1378736"/>
            <a:ext cx="462298" cy="609685"/>
          </a:xfrm>
          <a:custGeom>
            <a:avLst/>
            <a:gdLst>
              <a:gd name="connsiteX0" fmla="*/ 121763 h 600884"/>
              <a:gd name="connsiteY0" fmla="*/ 121763 h 600884"/>
              <a:gd name="connsiteX1" fmla="*/ 121763 h 600884"/>
              <a:gd name="connsiteY1" fmla="*/ 121763 h 600884"/>
              <a:gd name="connsiteX2" fmla="*/ 121763 h 600884"/>
              <a:gd name="connsiteY2" fmla="*/ 121763 h 600884"/>
              <a:gd name="connsiteX3" fmla="*/ 121763 h 600884"/>
              <a:gd name="connsiteY3" fmla="*/ 121763 h 600884"/>
              <a:gd name="connsiteX4" fmla="*/ 121763 h 600884"/>
              <a:gd name="connsiteY4" fmla="*/ 121763 h 600884"/>
              <a:gd name="connsiteX5" fmla="*/ 121763 h 600884"/>
              <a:gd name="connsiteY5" fmla="*/ 121763 h 600884"/>
              <a:gd name="connsiteX6" fmla="*/ 121763 h 600884"/>
              <a:gd name="connsiteY6" fmla="*/ 121763 h 600884"/>
              <a:gd name="connsiteX7" fmla="*/ 121763 h 600884"/>
              <a:gd name="connsiteY7" fmla="*/ 121763 h 600884"/>
              <a:gd name="connsiteX8" fmla="*/ 121763 h 600884"/>
              <a:gd name="connsiteY8" fmla="*/ 121763 h 600884"/>
              <a:gd name="connsiteX9" fmla="*/ 121763 h 600884"/>
              <a:gd name="connsiteY9" fmla="*/ 121763 h 600884"/>
              <a:gd name="connsiteX10" fmla="*/ 121763 h 600884"/>
              <a:gd name="connsiteY10" fmla="*/ 121763 h 600884"/>
              <a:gd name="connsiteX11" fmla="*/ 121763 h 600884"/>
              <a:gd name="connsiteY11" fmla="*/ 121763 h 600884"/>
              <a:gd name="connsiteX12" fmla="*/ 121763 h 600884"/>
              <a:gd name="connsiteY12" fmla="*/ 121763 h 600884"/>
              <a:gd name="connsiteX13" fmla="*/ 121763 h 600884"/>
              <a:gd name="connsiteY13" fmla="*/ 121763 h 600884"/>
              <a:gd name="connsiteX14" fmla="*/ 121763 h 600884"/>
              <a:gd name="connsiteY14" fmla="*/ 121763 h 600884"/>
              <a:gd name="connsiteX15" fmla="*/ 121763 h 600884"/>
              <a:gd name="connsiteY15" fmla="*/ 121763 h 600884"/>
              <a:gd name="connsiteX16" fmla="*/ 121763 h 600884"/>
              <a:gd name="connsiteY16" fmla="*/ 121763 h 600884"/>
              <a:gd name="connsiteX17" fmla="*/ 121763 h 600884"/>
              <a:gd name="connsiteY17" fmla="*/ 121763 h 600884"/>
              <a:gd name="connsiteX18" fmla="*/ 121763 h 600884"/>
              <a:gd name="connsiteY18" fmla="*/ 121763 h 600884"/>
              <a:gd name="connsiteX19" fmla="*/ 121763 h 600884"/>
              <a:gd name="connsiteY19" fmla="*/ 121763 h 600884"/>
              <a:gd name="connsiteX20" fmla="*/ 121763 h 600884"/>
              <a:gd name="connsiteY20" fmla="*/ 121763 h 600884"/>
              <a:gd name="connsiteX21" fmla="*/ 121763 h 600884"/>
              <a:gd name="connsiteY21" fmla="*/ 121763 h 600884"/>
              <a:gd name="connsiteX22" fmla="*/ 121763 h 600884"/>
              <a:gd name="connsiteY22" fmla="*/ 121763 h 600884"/>
              <a:gd name="connsiteX23" fmla="*/ 121763 h 600884"/>
              <a:gd name="connsiteY23" fmla="*/ 121763 h 600884"/>
              <a:gd name="connsiteX24" fmla="*/ 121763 h 600884"/>
              <a:gd name="connsiteY24" fmla="*/ 121763 h 600884"/>
              <a:gd name="connsiteX25" fmla="*/ 121763 h 600884"/>
              <a:gd name="connsiteY25" fmla="*/ 121763 h 600884"/>
              <a:gd name="connsiteX26" fmla="*/ 121763 h 600884"/>
              <a:gd name="connsiteY26" fmla="*/ 121763 h 600884"/>
              <a:gd name="connsiteX27" fmla="*/ 121763 h 600884"/>
              <a:gd name="connsiteY27" fmla="*/ 121763 h 600884"/>
              <a:gd name="connsiteX28" fmla="*/ 121763 h 600884"/>
              <a:gd name="connsiteY28" fmla="*/ 121763 h 600884"/>
              <a:gd name="connsiteX29" fmla="*/ 121763 h 600884"/>
              <a:gd name="connsiteY29" fmla="*/ 121763 h 600884"/>
              <a:gd name="connsiteX30" fmla="*/ 121763 h 600884"/>
              <a:gd name="connsiteY30" fmla="*/ 121763 h 600884"/>
              <a:gd name="connsiteX31" fmla="*/ 121763 h 600884"/>
              <a:gd name="connsiteY31" fmla="*/ 121763 h 600884"/>
              <a:gd name="connsiteX32" fmla="*/ 121763 h 600884"/>
              <a:gd name="connsiteY32" fmla="*/ 121763 h 600884"/>
              <a:gd name="connsiteX33" fmla="*/ 121763 h 600884"/>
              <a:gd name="connsiteY33" fmla="*/ 121763 h 600884"/>
              <a:gd name="connsiteX34" fmla="*/ 121763 h 600884"/>
              <a:gd name="connsiteY34" fmla="*/ 121763 h 600884"/>
              <a:gd name="connsiteX35" fmla="*/ 121763 h 600884"/>
              <a:gd name="connsiteY35" fmla="*/ 121763 h 600884"/>
              <a:gd name="connsiteX36" fmla="*/ 121763 h 600884"/>
              <a:gd name="connsiteY36" fmla="*/ 121763 h 600884"/>
              <a:gd name="connsiteX37" fmla="*/ 121763 h 600884"/>
              <a:gd name="connsiteY37" fmla="*/ 121763 h 600884"/>
              <a:gd name="connsiteX38" fmla="*/ 121763 h 600884"/>
              <a:gd name="connsiteY38" fmla="*/ 121763 h 600884"/>
              <a:gd name="connsiteX39" fmla="*/ 121763 h 600884"/>
              <a:gd name="connsiteY39" fmla="*/ 121763 h 600884"/>
              <a:gd name="connsiteX40" fmla="*/ 121763 h 600884"/>
              <a:gd name="connsiteY40" fmla="*/ 121763 h 600884"/>
              <a:gd name="connsiteX41" fmla="*/ 121763 h 600884"/>
              <a:gd name="connsiteY41" fmla="*/ 121763 h 600884"/>
              <a:gd name="connsiteX42" fmla="*/ 121763 h 600884"/>
              <a:gd name="connsiteY42" fmla="*/ 121763 h 600884"/>
              <a:gd name="connsiteX43" fmla="*/ 121763 h 600884"/>
              <a:gd name="connsiteY43" fmla="*/ 121763 h 600884"/>
              <a:gd name="connsiteX44" fmla="*/ 121763 h 600884"/>
              <a:gd name="connsiteY44" fmla="*/ 121763 h 600884"/>
              <a:gd name="connsiteX45" fmla="*/ 121763 h 600884"/>
              <a:gd name="connsiteY45" fmla="*/ 121763 h 600884"/>
              <a:gd name="connsiteX46" fmla="*/ 121763 h 600884"/>
              <a:gd name="connsiteY46" fmla="*/ 121763 h 600884"/>
              <a:gd name="connsiteX47" fmla="*/ 121763 h 600884"/>
              <a:gd name="connsiteY47" fmla="*/ 121763 h 600884"/>
              <a:gd name="connsiteX48" fmla="*/ 121763 h 600884"/>
              <a:gd name="connsiteY48" fmla="*/ 121763 h 600884"/>
              <a:gd name="connsiteX49" fmla="*/ 121763 h 600884"/>
              <a:gd name="connsiteY49" fmla="*/ 121763 h 600884"/>
              <a:gd name="connsiteX50" fmla="*/ 121763 h 600884"/>
              <a:gd name="connsiteY50" fmla="*/ 121763 h 600884"/>
              <a:gd name="connsiteX51" fmla="*/ 121763 h 600884"/>
              <a:gd name="connsiteY51" fmla="*/ 121763 h 600884"/>
              <a:gd name="connsiteX52" fmla="*/ 121763 h 600884"/>
              <a:gd name="connsiteY52" fmla="*/ 121763 h 600884"/>
              <a:gd name="connsiteX53" fmla="*/ 121763 h 600884"/>
              <a:gd name="connsiteY53" fmla="*/ 121763 h 600884"/>
              <a:gd name="connsiteX54" fmla="*/ 121763 h 600884"/>
              <a:gd name="connsiteY54" fmla="*/ 121763 h 600884"/>
              <a:gd name="connsiteX55" fmla="*/ 121763 h 600884"/>
              <a:gd name="connsiteY55" fmla="*/ 121763 h 600884"/>
              <a:gd name="connsiteX56" fmla="*/ 121763 h 600884"/>
              <a:gd name="connsiteY56" fmla="*/ 121763 h 600884"/>
              <a:gd name="connsiteX57" fmla="*/ 121763 h 600884"/>
              <a:gd name="connsiteY57" fmla="*/ 121763 h 600884"/>
              <a:gd name="connsiteX58" fmla="*/ 121763 h 600884"/>
              <a:gd name="connsiteY58" fmla="*/ 121763 h 600884"/>
              <a:gd name="connsiteX59" fmla="*/ 121763 h 600884"/>
              <a:gd name="connsiteY59" fmla="*/ 121763 h 600884"/>
              <a:gd name="connsiteX60" fmla="*/ 121763 h 600884"/>
              <a:gd name="connsiteY60" fmla="*/ 121763 h 600884"/>
              <a:gd name="connsiteX61" fmla="*/ 121763 h 600884"/>
              <a:gd name="connsiteY61" fmla="*/ 121763 h 600884"/>
              <a:gd name="connsiteX62" fmla="*/ 121763 h 600884"/>
              <a:gd name="connsiteY62" fmla="*/ 121763 h 600884"/>
              <a:gd name="connsiteX63" fmla="*/ 121763 h 600884"/>
              <a:gd name="connsiteY63" fmla="*/ 121763 h 600884"/>
              <a:gd name="connsiteX64" fmla="*/ 121763 h 600884"/>
              <a:gd name="connsiteY64" fmla="*/ 121763 h 600884"/>
              <a:gd name="connsiteX65" fmla="*/ 121763 h 600884"/>
              <a:gd name="connsiteY65" fmla="*/ 121763 h 600884"/>
              <a:gd name="connsiteX66" fmla="*/ 121763 h 600884"/>
              <a:gd name="connsiteY66" fmla="*/ 121763 h 600884"/>
              <a:gd name="connsiteX67" fmla="*/ 121763 h 600884"/>
              <a:gd name="connsiteY67" fmla="*/ 121763 h 600884"/>
              <a:gd name="connsiteX68" fmla="*/ 121763 h 600884"/>
              <a:gd name="connsiteY68" fmla="*/ 121763 h 600884"/>
              <a:gd name="connsiteX69" fmla="*/ 121763 h 600884"/>
              <a:gd name="connsiteY69" fmla="*/ 121763 h 600884"/>
              <a:gd name="connsiteX70" fmla="*/ 121763 h 600884"/>
              <a:gd name="connsiteY70" fmla="*/ 121763 h 600884"/>
              <a:gd name="connsiteX71" fmla="*/ 121763 h 600884"/>
              <a:gd name="connsiteY71" fmla="*/ 121763 h 600884"/>
              <a:gd name="connsiteX72" fmla="*/ 121763 h 600884"/>
              <a:gd name="connsiteY72" fmla="*/ 121763 h 600884"/>
              <a:gd name="connsiteX73" fmla="*/ 121763 h 600884"/>
              <a:gd name="connsiteY73" fmla="*/ 121763 h 600884"/>
              <a:gd name="connsiteX74" fmla="*/ 121763 h 600884"/>
              <a:gd name="connsiteY74" fmla="*/ 121763 h 600884"/>
              <a:gd name="connsiteX75" fmla="*/ 121763 h 600884"/>
              <a:gd name="connsiteY75" fmla="*/ 121763 h 600884"/>
              <a:gd name="connsiteX76" fmla="*/ 121763 h 600884"/>
              <a:gd name="connsiteY76" fmla="*/ 121763 h 600884"/>
              <a:gd name="connsiteX77" fmla="*/ 121763 h 600884"/>
              <a:gd name="connsiteY77" fmla="*/ 121763 h 600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458393" h="604534">
                <a:moveTo>
                  <a:pt x="165673" y="134610"/>
                </a:moveTo>
                <a:cubicBezTo>
                  <a:pt x="148721" y="134610"/>
                  <a:pt x="134850" y="148459"/>
                  <a:pt x="134850" y="165387"/>
                </a:cubicBezTo>
                <a:lnTo>
                  <a:pt x="134850" y="517974"/>
                </a:lnTo>
                <a:cubicBezTo>
                  <a:pt x="134850" y="555099"/>
                  <a:pt x="165095" y="585299"/>
                  <a:pt x="202275" y="585299"/>
                </a:cubicBezTo>
                <a:lnTo>
                  <a:pt x="371704" y="585299"/>
                </a:lnTo>
                <a:cubicBezTo>
                  <a:pt x="408884" y="585299"/>
                  <a:pt x="439129" y="555099"/>
                  <a:pt x="439129" y="517974"/>
                </a:cubicBezTo>
                <a:lnTo>
                  <a:pt x="439129" y="341103"/>
                </a:lnTo>
                <a:cubicBezTo>
                  <a:pt x="439129" y="324176"/>
                  <a:pt x="425355" y="310327"/>
                  <a:pt x="408403" y="310327"/>
                </a:cubicBezTo>
                <a:cubicBezTo>
                  <a:pt x="391354" y="310327"/>
                  <a:pt x="377580" y="324176"/>
                  <a:pt x="377580" y="341103"/>
                </a:cubicBezTo>
                <a:lnTo>
                  <a:pt x="377580" y="360339"/>
                </a:lnTo>
                <a:cubicBezTo>
                  <a:pt x="377580" y="365629"/>
                  <a:pt x="373245" y="369957"/>
                  <a:pt x="367948" y="369957"/>
                </a:cubicBezTo>
                <a:cubicBezTo>
                  <a:pt x="362554" y="369957"/>
                  <a:pt x="358316" y="365629"/>
                  <a:pt x="358316" y="360339"/>
                </a:cubicBezTo>
                <a:lnTo>
                  <a:pt x="358316" y="341103"/>
                </a:lnTo>
                <a:cubicBezTo>
                  <a:pt x="358316" y="324176"/>
                  <a:pt x="344445" y="310327"/>
                  <a:pt x="327493" y="310327"/>
                </a:cubicBezTo>
                <a:cubicBezTo>
                  <a:pt x="310444" y="310327"/>
                  <a:pt x="296670" y="324176"/>
                  <a:pt x="296670" y="341103"/>
                </a:cubicBezTo>
                <a:lnTo>
                  <a:pt x="296670" y="360339"/>
                </a:lnTo>
                <a:cubicBezTo>
                  <a:pt x="296670" y="365629"/>
                  <a:pt x="292336" y="369957"/>
                  <a:pt x="287038" y="369957"/>
                </a:cubicBezTo>
                <a:cubicBezTo>
                  <a:pt x="281740" y="369957"/>
                  <a:pt x="277406" y="365629"/>
                  <a:pt x="277406" y="360339"/>
                </a:cubicBezTo>
                <a:lnTo>
                  <a:pt x="277406" y="341103"/>
                </a:lnTo>
                <a:cubicBezTo>
                  <a:pt x="277406" y="324176"/>
                  <a:pt x="263536" y="310327"/>
                  <a:pt x="246583" y="310327"/>
                </a:cubicBezTo>
                <a:cubicBezTo>
                  <a:pt x="229630" y="310327"/>
                  <a:pt x="215760" y="324176"/>
                  <a:pt x="215760" y="341103"/>
                </a:cubicBezTo>
                <a:lnTo>
                  <a:pt x="215760" y="360339"/>
                </a:lnTo>
                <a:cubicBezTo>
                  <a:pt x="215760" y="365629"/>
                  <a:pt x="211426" y="369957"/>
                  <a:pt x="206128" y="369957"/>
                </a:cubicBezTo>
                <a:cubicBezTo>
                  <a:pt x="200830" y="369957"/>
                  <a:pt x="196496" y="365629"/>
                  <a:pt x="196496" y="360339"/>
                </a:cubicBezTo>
                <a:lnTo>
                  <a:pt x="196496" y="165387"/>
                </a:lnTo>
                <a:cubicBezTo>
                  <a:pt x="196496" y="148459"/>
                  <a:pt x="182722" y="134610"/>
                  <a:pt x="165673" y="134610"/>
                </a:cubicBezTo>
                <a:close/>
                <a:moveTo>
                  <a:pt x="165673" y="115374"/>
                </a:moveTo>
                <a:cubicBezTo>
                  <a:pt x="193317" y="115374"/>
                  <a:pt x="215760" y="137784"/>
                  <a:pt x="215760" y="165387"/>
                </a:cubicBezTo>
                <a:lnTo>
                  <a:pt x="215760" y="301767"/>
                </a:lnTo>
                <a:cubicBezTo>
                  <a:pt x="224237" y="295130"/>
                  <a:pt x="234928" y="291091"/>
                  <a:pt x="246583" y="291091"/>
                </a:cubicBezTo>
                <a:cubicBezTo>
                  <a:pt x="263150" y="291091"/>
                  <a:pt x="277887" y="299266"/>
                  <a:pt x="287038" y="311673"/>
                </a:cubicBezTo>
                <a:cubicBezTo>
                  <a:pt x="296188" y="299266"/>
                  <a:pt x="310829" y="291091"/>
                  <a:pt x="327493" y="291091"/>
                </a:cubicBezTo>
                <a:cubicBezTo>
                  <a:pt x="344060" y="291091"/>
                  <a:pt x="358797" y="299266"/>
                  <a:pt x="367948" y="311673"/>
                </a:cubicBezTo>
                <a:cubicBezTo>
                  <a:pt x="377002" y="299266"/>
                  <a:pt x="391739" y="291091"/>
                  <a:pt x="408403" y="291091"/>
                </a:cubicBezTo>
                <a:cubicBezTo>
                  <a:pt x="435950" y="291091"/>
                  <a:pt x="458393" y="313597"/>
                  <a:pt x="458393" y="341103"/>
                </a:cubicBezTo>
                <a:lnTo>
                  <a:pt x="458393" y="517974"/>
                </a:lnTo>
                <a:cubicBezTo>
                  <a:pt x="458393" y="565678"/>
                  <a:pt x="419576" y="604534"/>
                  <a:pt x="371704" y="604534"/>
                </a:cubicBezTo>
                <a:lnTo>
                  <a:pt x="202275" y="604534"/>
                </a:lnTo>
                <a:cubicBezTo>
                  <a:pt x="154500" y="604534"/>
                  <a:pt x="115586" y="565678"/>
                  <a:pt x="115586" y="517974"/>
                </a:cubicBezTo>
                <a:lnTo>
                  <a:pt x="115586" y="165387"/>
                </a:lnTo>
                <a:cubicBezTo>
                  <a:pt x="115586" y="137784"/>
                  <a:pt x="138029" y="115374"/>
                  <a:pt x="165673" y="115374"/>
                </a:cubicBezTo>
                <a:close/>
                <a:moveTo>
                  <a:pt x="48542" y="62122"/>
                </a:moveTo>
                <a:cubicBezTo>
                  <a:pt x="52684" y="65391"/>
                  <a:pt x="53454" y="71450"/>
                  <a:pt x="50180" y="75585"/>
                </a:cubicBezTo>
                <a:cubicBezTo>
                  <a:pt x="29954" y="101453"/>
                  <a:pt x="19263" y="132514"/>
                  <a:pt x="19263" y="165402"/>
                </a:cubicBezTo>
                <a:cubicBezTo>
                  <a:pt x="19263" y="216946"/>
                  <a:pt x="47001" y="265316"/>
                  <a:pt x="91595" y="291473"/>
                </a:cubicBezTo>
                <a:cubicBezTo>
                  <a:pt x="96219" y="294165"/>
                  <a:pt x="97663" y="300031"/>
                  <a:pt x="94966" y="304647"/>
                </a:cubicBezTo>
                <a:cubicBezTo>
                  <a:pt x="93233" y="307724"/>
                  <a:pt x="89958" y="309359"/>
                  <a:pt x="86683" y="309359"/>
                </a:cubicBezTo>
                <a:cubicBezTo>
                  <a:pt x="85046" y="309359"/>
                  <a:pt x="83312" y="308975"/>
                  <a:pt x="81868" y="308013"/>
                </a:cubicBezTo>
                <a:cubicBezTo>
                  <a:pt x="57403" y="293685"/>
                  <a:pt x="36888" y="273202"/>
                  <a:pt x="22537" y="248776"/>
                </a:cubicBezTo>
                <a:cubicBezTo>
                  <a:pt x="7801" y="223581"/>
                  <a:pt x="0" y="194732"/>
                  <a:pt x="0" y="165402"/>
                </a:cubicBezTo>
                <a:cubicBezTo>
                  <a:pt x="0" y="128186"/>
                  <a:pt x="12135" y="93087"/>
                  <a:pt x="34962" y="63757"/>
                </a:cubicBezTo>
                <a:cubicBezTo>
                  <a:pt x="38237" y="59622"/>
                  <a:pt x="44304" y="58852"/>
                  <a:pt x="48542" y="62122"/>
                </a:cubicBezTo>
                <a:close/>
                <a:moveTo>
                  <a:pt x="165688" y="57723"/>
                </a:moveTo>
                <a:cubicBezTo>
                  <a:pt x="225222" y="57723"/>
                  <a:pt x="273582" y="105988"/>
                  <a:pt x="273582" y="165406"/>
                </a:cubicBezTo>
                <a:cubicBezTo>
                  <a:pt x="273582" y="188674"/>
                  <a:pt x="266261" y="210787"/>
                  <a:pt x="252389" y="229439"/>
                </a:cubicBezTo>
                <a:cubicBezTo>
                  <a:pt x="249306" y="233670"/>
                  <a:pt x="243237" y="234631"/>
                  <a:pt x="238998" y="231458"/>
                </a:cubicBezTo>
                <a:cubicBezTo>
                  <a:pt x="234663" y="228286"/>
                  <a:pt x="233796" y="222228"/>
                  <a:pt x="236975" y="217998"/>
                </a:cubicBezTo>
                <a:cubicBezTo>
                  <a:pt x="248343" y="202711"/>
                  <a:pt x="254315" y="184539"/>
                  <a:pt x="254315" y="165406"/>
                </a:cubicBezTo>
                <a:cubicBezTo>
                  <a:pt x="254315" y="116661"/>
                  <a:pt x="214529" y="76952"/>
                  <a:pt x="165688" y="76952"/>
                </a:cubicBezTo>
                <a:cubicBezTo>
                  <a:pt x="116846" y="76952"/>
                  <a:pt x="77060" y="116661"/>
                  <a:pt x="77060" y="165406"/>
                </a:cubicBezTo>
                <a:cubicBezTo>
                  <a:pt x="77060" y="184539"/>
                  <a:pt x="83129" y="202711"/>
                  <a:pt x="94497" y="217998"/>
                </a:cubicBezTo>
                <a:cubicBezTo>
                  <a:pt x="97579" y="222228"/>
                  <a:pt x="96712" y="228286"/>
                  <a:pt x="92474" y="231458"/>
                </a:cubicBezTo>
                <a:cubicBezTo>
                  <a:pt x="90740" y="232708"/>
                  <a:pt x="88717" y="233285"/>
                  <a:pt x="86694" y="233285"/>
                </a:cubicBezTo>
                <a:cubicBezTo>
                  <a:pt x="83804" y="233285"/>
                  <a:pt x="80913" y="231939"/>
                  <a:pt x="78987" y="229439"/>
                </a:cubicBezTo>
                <a:cubicBezTo>
                  <a:pt x="65115" y="210787"/>
                  <a:pt x="57793" y="188674"/>
                  <a:pt x="57793" y="165406"/>
                </a:cubicBezTo>
                <a:cubicBezTo>
                  <a:pt x="57793" y="105988"/>
                  <a:pt x="106249" y="57723"/>
                  <a:pt x="165688" y="57723"/>
                </a:cubicBezTo>
                <a:close/>
                <a:moveTo>
                  <a:pt x="165684" y="0"/>
                </a:moveTo>
                <a:cubicBezTo>
                  <a:pt x="257065" y="0"/>
                  <a:pt x="331305" y="74245"/>
                  <a:pt x="331305" y="165417"/>
                </a:cubicBezTo>
                <a:cubicBezTo>
                  <a:pt x="331305" y="206675"/>
                  <a:pt x="315995" y="246202"/>
                  <a:pt x="288167" y="276689"/>
                </a:cubicBezTo>
                <a:cubicBezTo>
                  <a:pt x="286337" y="278804"/>
                  <a:pt x="283737" y="279862"/>
                  <a:pt x="281041" y="279862"/>
                </a:cubicBezTo>
                <a:cubicBezTo>
                  <a:pt x="278730" y="279862"/>
                  <a:pt x="276419" y="278997"/>
                  <a:pt x="274590" y="277362"/>
                </a:cubicBezTo>
                <a:cubicBezTo>
                  <a:pt x="270642" y="273803"/>
                  <a:pt x="270353" y="267744"/>
                  <a:pt x="273916" y="263801"/>
                </a:cubicBezTo>
                <a:cubicBezTo>
                  <a:pt x="298566" y="236777"/>
                  <a:pt x="312047" y="201866"/>
                  <a:pt x="312047" y="165417"/>
                </a:cubicBezTo>
                <a:cubicBezTo>
                  <a:pt x="312047" y="84824"/>
                  <a:pt x="246376" y="19235"/>
                  <a:pt x="165684" y="19235"/>
                </a:cubicBezTo>
                <a:cubicBezTo>
                  <a:pt x="132752" y="19235"/>
                  <a:pt x="101650" y="29910"/>
                  <a:pt x="75748" y="50106"/>
                </a:cubicBezTo>
                <a:cubicBezTo>
                  <a:pt x="71607" y="53376"/>
                  <a:pt x="65541" y="52607"/>
                  <a:pt x="62267" y="48375"/>
                </a:cubicBezTo>
                <a:cubicBezTo>
                  <a:pt x="58993" y="44240"/>
                  <a:pt x="59764" y="38181"/>
                  <a:pt x="63904" y="34911"/>
                </a:cubicBezTo>
                <a:cubicBezTo>
                  <a:pt x="93273" y="12118"/>
                  <a:pt x="128419" y="0"/>
                  <a:pt x="16568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41" name="熊大的PPT宝库13"/>
          <p:cNvSpPr/>
          <p:nvPr/>
        </p:nvSpPr>
        <p:spPr>
          <a:xfrm>
            <a:off x="7575288" y="1378400"/>
            <a:ext cx="521037" cy="520252"/>
          </a:xfrm>
          <a:custGeom>
            <a:avLst/>
            <a:gdLst>
              <a:gd name="connsiteX0" fmla="*/ 88489 w 609614"/>
              <a:gd name="connsiteY0" fmla="*/ 540043 h 608697"/>
              <a:gd name="connsiteX1" fmla="*/ 58993 w 609614"/>
              <a:gd name="connsiteY1" fmla="*/ 569493 h 608697"/>
              <a:gd name="connsiteX2" fmla="*/ 58993 w 609614"/>
              <a:gd name="connsiteY2" fmla="*/ 582377 h 608697"/>
              <a:gd name="connsiteX3" fmla="*/ 88489 w 609614"/>
              <a:gd name="connsiteY3" fmla="*/ 589095 h 608697"/>
              <a:gd name="connsiteX4" fmla="*/ 117985 w 609614"/>
              <a:gd name="connsiteY4" fmla="*/ 582377 h 608697"/>
              <a:gd name="connsiteX5" fmla="*/ 117985 w 609614"/>
              <a:gd name="connsiteY5" fmla="*/ 569493 h 608697"/>
              <a:gd name="connsiteX6" fmla="*/ 88489 w 609614"/>
              <a:gd name="connsiteY6" fmla="*/ 540043 h 608697"/>
              <a:gd name="connsiteX7" fmla="*/ 88489 w 609614"/>
              <a:gd name="connsiteY7" fmla="*/ 481145 h 608697"/>
              <a:gd name="connsiteX8" fmla="*/ 68855 w 609614"/>
              <a:gd name="connsiteY8" fmla="*/ 500747 h 608697"/>
              <a:gd name="connsiteX9" fmla="*/ 88489 w 609614"/>
              <a:gd name="connsiteY9" fmla="*/ 520349 h 608697"/>
              <a:gd name="connsiteX10" fmla="*/ 108123 w 609614"/>
              <a:gd name="connsiteY10" fmla="*/ 500747 h 608697"/>
              <a:gd name="connsiteX11" fmla="*/ 88489 w 609614"/>
              <a:gd name="connsiteY11" fmla="*/ 481145 h 608697"/>
              <a:gd name="connsiteX12" fmla="*/ 88489 w 609614"/>
              <a:gd name="connsiteY12" fmla="*/ 451695 h 608697"/>
              <a:gd name="connsiteX13" fmla="*/ 19633 w 609614"/>
              <a:gd name="connsiteY13" fmla="*/ 520349 h 608697"/>
              <a:gd name="connsiteX14" fmla="*/ 39451 w 609614"/>
              <a:gd name="connsiteY14" fmla="*/ 568480 h 608697"/>
              <a:gd name="connsiteX15" fmla="*/ 61021 w 609614"/>
              <a:gd name="connsiteY15" fmla="*/ 528816 h 608697"/>
              <a:gd name="connsiteX16" fmla="*/ 49130 w 609614"/>
              <a:gd name="connsiteY16" fmla="*/ 500747 h 608697"/>
              <a:gd name="connsiteX17" fmla="*/ 88489 w 609614"/>
              <a:gd name="connsiteY17" fmla="*/ 461451 h 608697"/>
              <a:gd name="connsiteX18" fmla="*/ 127848 w 609614"/>
              <a:gd name="connsiteY18" fmla="*/ 500747 h 608697"/>
              <a:gd name="connsiteX19" fmla="*/ 115957 w 609614"/>
              <a:gd name="connsiteY19" fmla="*/ 528816 h 608697"/>
              <a:gd name="connsiteX20" fmla="*/ 137527 w 609614"/>
              <a:gd name="connsiteY20" fmla="*/ 568480 h 608697"/>
              <a:gd name="connsiteX21" fmla="*/ 157345 w 609614"/>
              <a:gd name="connsiteY21" fmla="*/ 520349 h 608697"/>
              <a:gd name="connsiteX22" fmla="*/ 88489 w 609614"/>
              <a:gd name="connsiteY22" fmla="*/ 451695 h 608697"/>
              <a:gd name="connsiteX23" fmla="*/ 486735 w 609614"/>
              <a:gd name="connsiteY23" fmla="*/ 440991 h 608697"/>
              <a:gd name="connsiteX24" fmla="*/ 441658 w 609614"/>
              <a:gd name="connsiteY24" fmla="*/ 486001 h 608697"/>
              <a:gd name="connsiteX25" fmla="*/ 535592 w 609614"/>
              <a:gd name="connsiteY25" fmla="*/ 579795 h 608697"/>
              <a:gd name="connsiteX26" fmla="*/ 558084 w 609614"/>
              <a:gd name="connsiteY26" fmla="*/ 589092 h 608697"/>
              <a:gd name="connsiteX27" fmla="*/ 589979 w 609614"/>
              <a:gd name="connsiteY27" fmla="*/ 557244 h 608697"/>
              <a:gd name="connsiteX28" fmla="*/ 580669 w 609614"/>
              <a:gd name="connsiteY28" fmla="*/ 534785 h 608697"/>
              <a:gd name="connsiteX29" fmla="*/ 88489 w 609614"/>
              <a:gd name="connsiteY29" fmla="*/ 432001 h 608697"/>
              <a:gd name="connsiteX30" fmla="*/ 176978 w 609614"/>
              <a:gd name="connsiteY30" fmla="*/ 520349 h 608697"/>
              <a:gd name="connsiteX31" fmla="*/ 88489 w 609614"/>
              <a:gd name="connsiteY31" fmla="*/ 608697 h 608697"/>
              <a:gd name="connsiteX32" fmla="*/ 0 w 609614"/>
              <a:gd name="connsiteY32" fmla="*/ 520349 h 608697"/>
              <a:gd name="connsiteX33" fmla="*/ 88489 w 609614"/>
              <a:gd name="connsiteY33" fmla="*/ 432001 h 608697"/>
              <a:gd name="connsiteX34" fmla="*/ 457421 w 609614"/>
              <a:gd name="connsiteY34" fmla="*/ 411720 h 608697"/>
              <a:gd name="connsiteX35" fmla="*/ 412344 w 609614"/>
              <a:gd name="connsiteY35" fmla="*/ 456731 h 608697"/>
              <a:gd name="connsiteX36" fmla="*/ 427739 w 609614"/>
              <a:gd name="connsiteY36" fmla="*/ 472102 h 608697"/>
              <a:gd name="connsiteX37" fmla="*/ 472816 w 609614"/>
              <a:gd name="connsiteY37" fmla="*/ 427092 h 608697"/>
              <a:gd name="connsiteX38" fmla="*/ 216322 w 609614"/>
              <a:gd name="connsiteY38" fmla="*/ 304403 h 608697"/>
              <a:gd name="connsiteX39" fmla="*/ 216322 w 609614"/>
              <a:gd name="connsiteY39" fmla="*/ 333857 h 608697"/>
              <a:gd name="connsiteX40" fmla="*/ 235957 w 609614"/>
              <a:gd name="connsiteY40" fmla="*/ 333857 h 608697"/>
              <a:gd name="connsiteX41" fmla="*/ 235957 w 609614"/>
              <a:gd name="connsiteY41" fmla="*/ 304403 h 608697"/>
              <a:gd name="connsiteX42" fmla="*/ 471709 w 609614"/>
              <a:gd name="connsiteY42" fmla="*/ 299609 h 608697"/>
              <a:gd name="connsiteX43" fmla="*/ 452259 w 609614"/>
              <a:gd name="connsiteY43" fmla="*/ 302831 h 608697"/>
              <a:gd name="connsiteX44" fmla="*/ 452351 w 609614"/>
              <a:gd name="connsiteY44" fmla="*/ 304396 h 608697"/>
              <a:gd name="connsiteX45" fmla="*/ 304860 w 609614"/>
              <a:gd name="connsiteY45" fmla="*/ 451668 h 608697"/>
              <a:gd name="connsiteX46" fmla="*/ 159027 w 609614"/>
              <a:gd name="connsiteY46" fmla="*/ 325474 h 608697"/>
              <a:gd name="connsiteX47" fmla="*/ 139669 w 609614"/>
              <a:gd name="connsiteY47" fmla="*/ 328696 h 608697"/>
              <a:gd name="connsiteX48" fmla="*/ 304860 w 609614"/>
              <a:gd name="connsiteY48" fmla="*/ 471274 h 608697"/>
              <a:gd name="connsiteX49" fmla="*/ 471986 w 609614"/>
              <a:gd name="connsiteY49" fmla="*/ 304396 h 608697"/>
              <a:gd name="connsiteX50" fmla="*/ 471709 w 609614"/>
              <a:gd name="connsiteY50" fmla="*/ 299609 h 608697"/>
              <a:gd name="connsiteX51" fmla="*/ 373586 w 609614"/>
              <a:gd name="connsiteY51" fmla="*/ 265100 h 608697"/>
              <a:gd name="connsiteX52" fmla="*/ 373586 w 609614"/>
              <a:gd name="connsiteY52" fmla="*/ 333857 h 608697"/>
              <a:gd name="connsiteX53" fmla="*/ 393313 w 609614"/>
              <a:gd name="connsiteY53" fmla="*/ 333857 h 608697"/>
              <a:gd name="connsiteX54" fmla="*/ 393313 w 609614"/>
              <a:gd name="connsiteY54" fmla="*/ 265100 h 608697"/>
              <a:gd name="connsiteX55" fmla="*/ 294954 w 609614"/>
              <a:gd name="connsiteY55" fmla="*/ 225798 h 608697"/>
              <a:gd name="connsiteX56" fmla="*/ 294954 w 609614"/>
              <a:gd name="connsiteY56" fmla="*/ 333857 h 608697"/>
              <a:gd name="connsiteX57" fmla="*/ 314589 w 609614"/>
              <a:gd name="connsiteY57" fmla="*/ 333857 h 608697"/>
              <a:gd name="connsiteX58" fmla="*/ 314589 w 609614"/>
              <a:gd name="connsiteY58" fmla="*/ 225798 h 608697"/>
              <a:gd name="connsiteX59" fmla="*/ 275319 w 609614"/>
              <a:gd name="connsiteY59" fmla="*/ 206192 h 608697"/>
              <a:gd name="connsiteX60" fmla="*/ 334316 w 609614"/>
              <a:gd name="connsiteY60" fmla="*/ 206192 h 608697"/>
              <a:gd name="connsiteX61" fmla="*/ 334316 w 609614"/>
              <a:gd name="connsiteY61" fmla="*/ 333857 h 608697"/>
              <a:gd name="connsiteX62" fmla="*/ 353951 w 609614"/>
              <a:gd name="connsiteY62" fmla="*/ 333857 h 608697"/>
              <a:gd name="connsiteX63" fmla="*/ 353951 w 609614"/>
              <a:gd name="connsiteY63" fmla="*/ 245495 h 608697"/>
              <a:gd name="connsiteX64" fmla="*/ 412948 w 609614"/>
              <a:gd name="connsiteY64" fmla="*/ 245495 h 608697"/>
              <a:gd name="connsiteX65" fmla="*/ 412948 w 609614"/>
              <a:gd name="connsiteY65" fmla="*/ 333857 h 608697"/>
              <a:gd name="connsiteX66" fmla="*/ 412948 w 609614"/>
              <a:gd name="connsiteY66" fmla="*/ 343614 h 608697"/>
              <a:gd name="connsiteX67" fmla="*/ 412948 w 609614"/>
              <a:gd name="connsiteY67" fmla="*/ 353462 h 608697"/>
              <a:gd name="connsiteX68" fmla="*/ 196595 w 609614"/>
              <a:gd name="connsiteY68" fmla="*/ 353462 h 608697"/>
              <a:gd name="connsiteX69" fmla="*/ 196595 w 609614"/>
              <a:gd name="connsiteY69" fmla="*/ 343614 h 608697"/>
              <a:gd name="connsiteX70" fmla="*/ 196595 w 609614"/>
              <a:gd name="connsiteY70" fmla="*/ 333857 h 608697"/>
              <a:gd name="connsiteX71" fmla="*/ 196595 w 609614"/>
              <a:gd name="connsiteY71" fmla="*/ 284706 h 608697"/>
              <a:gd name="connsiteX72" fmla="*/ 255592 w 609614"/>
              <a:gd name="connsiteY72" fmla="*/ 284706 h 608697"/>
              <a:gd name="connsiteX73" fmla="*/ 255592 w 609614"/>
              <a:gd name="connsiteY73" fmla="*/ 333857 h 608697"/>
              <a:gd name="connsiteX74" fmla="*/ 275319 w 609614"/>
              <a:gd name="connsiteY74" fmla="*/ 333857 h 608697"/>
              <a:gd name="connsiteX75" fmla="*/ 304860 w 609614"/>
              <a:gd name="connsiteY75" fmla="*/ 176728 h 608697"/>
              <a:gd name="connsiteX76" fmla="*/ 177003 w 609614"/>
              <a:gd name="connsiteY76" fmla="*/ 304396 h 608697"/>
              <a:gd name="connsiteX77" fmla="*/ 304860 w 609614"/>
              <a:gd name="connsiteY77" fmla="*/ 431970 h 608697"/>
              <a:gd name="connsiteX78" fmla="*/ 432624 w 609614"/>
              <a:gd name="connsiteY78" fmla="*/ 304396 h 608697"/>
              <a:gd name="connsiteX79" fmla="*/ 304860 w 609614"/>
              <a:gd name="connsiteY79" fmla="*/ 176728 h 608697"/>
              <a:gd name="connsiteX80" fmla="*/ 280431 w 609614"/>
              <a:gd name="connsiteY80" fmla="*/ 139450 h 608697"/>
              <a:gd name="connsiteX81" fmla="*/ 137641 w 609614"/>
              <a:gd name="connsiteY81" fmla="*/ 304396 h 608697"/>
              <a:gd name="connsiteX82" fmla="*/ 137918 w 609614"/>
              <a:gd name="connsiteY82" fmla="*/ 309090 h 608697"/>
              <a:gd name="connsiteX83" fmla="*/ 157460 w 609614"/>
              <a:gd name="connsiteY83" fmla="*/ 305868 h 608697"/>
              <a:gd name="connsiteX84" fmla="*/ 157368 w 609614"/>
              <a:gd name="connsiteY84" fmla="*/ 304396 h 608697"/>
              <a:gd name="connsiteX85" fmla="*/ 283658 w 609614"/>
              <a:gd name="connsiteY85" fmla="*/ 158780 h 608697"/>
              <a:gd name="connsiteX86" fmla="*/ 304860 w 609614"/>
              <a:gd name="connsiteY86" fmla="*/ 137425 h 608697"/>
              <a:gd name="connsiteX87" fmla="*/ 300066 w 609614"/>
              <a:gd name="connsiteY87" fmla="*/ 137701 h 608697"/>
              <a:gd name="connsiteX88" fmla="*/ 303293 w 609614"/>
              <a:gd name="connsiteY88" fmla="*/ 157215 h 608697"/>
              <a:gd name="connsiteX89" fmla="*/ 304860 w 609614"/>
              <a:gd name="connsiteY89" fmla="*/ 157123 h 608697"/>
              <a:gd name="connsiteX90" fmla="*/ 450600 w 609614"/>
              <a:gd name="connsiteY90" fmla="*/ 283225 h 608697"/>
              <a:gd name="connsiteX91" fmla="*/ 469958 w 609614"/>
              <a:gd name="connsiteY91" fmla="*/ 280004 h 608697"/>
              <a:gd name="connsiteX92" fmla="*/ 304860 w 609614"/>
              <a:gd name="connsiteY92" fmla="*/ 137425 h 608697"/>
              <a:gd name="connsiteX93" fmla="*/ 521125 w 609614"/>
              <a:gd name="connsiteY93" fmla="*/ 107950 h 608697"/>
              <a:gd name="connsiteX94" fmla="*/ 491629 w 609614"/>
              <a:gd name="connsiteY94" fmla="*/ 137399 h 608697"/>
              <a:gd name="connsiteX95" fmla="*/ 491629 w 609614"/>
              <a:gd name="connsiteY95" fmla="*/ 150375 h 608697"/>
              <a:gd name="connsiteX96" fmla="*/ 521125 w 609614"/>
              <a:gd name="connsiteY96" fmla="*/ 157094 h 608697"/>
              <a:gd name="connsiteX97" fmla="*/ 550621 w 609614"/>
              <a:gd name="connsiteY97" fmla="*/ 150375 h 608697"/>
              <a:gd name="connsiteX98" fmla="*/ 550621 w 609614"/>
              <a:gd name="connsiteY98" fmla="*/ 137399 h 608697"/>
              <a:gd name="connsiteX99" fmla="*/ 521125 w 609614"/>
              <a:gd name="connsiteY99" fmla="*/ 107950 h 608697"/>
              <a:gd name="connsiteX100" fmla="*/ 88489 w 609614"/>
              <a:gd name="connsiteY100" fmla="*/ 107950 h 608697"/>
              <a:gd name="connsiteX101" fmla="*/ 58993 w 609614"/>
              <a:gd name="connsiteY101" fmla="*/ 137399 h 608697"/>
              <a:gd name="connsiteX102" fmla="*/ 58993 w 609614"/>
              <a:gd name="connsiteY102" fmla="*/ 150375 h 608697"/>
              <a:gd name="connsiteX103" fmla="*/ 88489 w 609614"/>
              <a:gd name="connsiteY103" fmla="*/ 157094 h 608697"/>
              <a:gd name="connsiteX104" fmla="*/ 117985 w 609614"/>
              <a:gd name="connsiteY104" fmla="*/ 150375 h 608697"/>
              <a:gd name="connsiteX105" fmla="*/ 117985 w 609614"/>
              <a:gd name="connsiteY105" fmla="*/ 137399 h 608697"/>
              <a:gd name="connsiteX106" fmla="*/ 88489 w 609614"/>
              <a:gd name="connsiteY106" fmla="*/ 107950 h 608697"/>
              <a:gd name="connsiteX107" fmla="*/ 521125 w 609614"/>
              <a:gd name="connsiteY107" fmla="*/ 49051 h 608697"/>
              <a:gd name="connsiteX108" fmla="*/ 501491 w 609614"/>
              <a:gd name="connsiteY108" fmla="*/ 68746 h 608697"/>
              <a:gd name="connsiteX109" fmla="*/ 521125 w 609614"/>
              <a:gd name="connsiteY109" fmla="*/ 88348 h 608697"/>
              <a:gd name="connsiteX110" fmla="*/ 540851 w 609614"/>
              <a:gd name="connsiteY110" fmla="*/ 68746 h 608697"/>
              <a:gd name="connsiteX111" fmla="*/ 521125 w 609614"/>
              <a:gd name="connsiteY111" fmla="*/ 49051 h 608697"/>
              <a:gd name="connsiteX112" fmla="*/ 88489 w 609614"/>
              <a:gd name="connsiteY112" fmla="*/ 49051 h 608697"/>
              <a:gd name="connsiteX113" fmla="*/ 68855 w 609614"/>
              <a:gd name="connsiteY113" fmla="*/ 68746 h 608697"/>
              <a:gd name="connsiteX114" fmla="*/ 88489 w 609614"/>
              <a:gd name="connsiteY114" fmla="*/ 88348 h 608697"/>
              <a:gd name="connsiteX115" fmla="*/ 108123 w 609614"/>
              <a:gd name="connsiteY115" fmla="*/ 68746 h 608697"/>
              <a:gd name="connsiteX116" fmla="*/ 88489 w 609614"/>
              <a:gd name="connsiteY116" fmla="*/ 49051 h 608697"/>
              <a:gd name="connsiteX117" fmla="*/ 196638 w 609614"/>
              <a:gd name="connsiteY117" fmla="*/ 39305 h 608697"/>
              <a:gd name="connsiteX118" fmla="*/ 296563 w 609614"/>
              <a:gd name="connsiteY118" fmla="*/ 118280 h 608697"/>
              <a:gd name="connsiteX119" fmla="*/ 304860 w 609614"/>
              <a:gd name="connsiteY119" fmla="*/ 117819 h 608697"/>
              <a:gd name="connsiteX120" fmla="*/ 489316 w 609614"/>
              <a:gd name="connsiteY120" fmla="*/ 276414 h 608697"/>
              <a:gd name="connsiteX121" fmla="*/ 550617 w 609614"/>
              <a:gd name="connsiteY121" fmla="*/ 196334 h 608697"/>
              <a:gd name="connsiteX122" fmla="*/ 570344 w 609614"/>
              <a:gd name="connsiteY122" fmla="*/ 196334 h 608697"/>
              <a:gd name="connsiteX123" fmla="*/ 491252 w 609614"/>
              <a:gd name="connsiteY123" fmla="*/ 296112 h 608697"/>
              <a:gd name="connsiteX124" fmla="*/ 491621 w 609614"/>
              <a:gd name="connsiteY124" fmla="*/ 304396 h 608697"/>
              <a:gd name="connsiteX125" fmla="*/ 468207 w 609614"/>
              <a:gd name="connsiteY125" fmla="*/ 394692 h 608697"/>
              <a:gd name="connsiteX126" fmla="*/ 486735 w 609614"/>
              <a:gd name="connsiteY126" fmla="*/ 413193 h 608697"/>
              <a:gd name="connsiteX127" fmla="*/ 504342 w 609614"/>
              <a:gd name="connsiteY127" fmla="*/ 395612 h 608697"/>
              <a:gd name="connsiteX128" fmla="*/ 518261 w 609614"/>
              <a:gd name="connsiteY128" fmla="*/ 409511 h 608697"/>
              <a:gd name="connsiteX129" fmla="*/ 500655 w 609614"/>
              <a:gd name="connsiteY129" fmla="*/ 427092 h 608697"/>
              <a:gd name="connsiteX130" fmla="*/ 594588 w 609614"/>
              <a:gd name="connsiteY130" fmla="*/ 520886 h 608697"/>
              <a:gd name="connsiteX131" fmla="*/ 609614 w 609614"/>
              <a:gd name="connsiteY131" fmla="*/ 557244 h 608697"/>
              <a:gd name="connsiteX132" fmla="*/ 558084 w 609614"/>
              <a:gd name="connsiteY132" fmla="*/ 608697 h 608697"/>
              <a:gd name="connsiteX133" fmla="*/ 521672 w 609614"/>
              <a:gd name="connsiteY133" fmla="*/ 593694 h 608697"/>
              <a:gd name="connsiteX134" fmla="*/ 427739 w 609614"/>
              <a:gd name="connsiteY134" fmla="*/ 499900 h 608697"/>
              <a:gd name="connsiteX135" fmla="*/ 410132 w 609614"/>
              <a:gd name="connsiteY135" fmla="*/ 517480 h 608697"/>
              <a:gd name="connsiteX136" fmla="*/ 396212 w 609614"/>
              <a:gd name="connsiteY136" fmla="*/ 503582 h 608697"/>
              <a:gd name="connsiteX137" fmla="*/ 413819 w 609614"/>
              <a:gd name="connsiteY137" fmla="*/ 486001 h 608697"/>
              <a:gd name="connsiteX138" fmla="*/ 395290 w 609614"/>
              <a:gd name="connsiteY138" fmla="*/ 467500 h 608697"/>
              <a:gd name="connsiteX139" fmla="*/ 304860 w 609614"/>
              <a:gd name="connsiteY139" fmla="*/ 490879 h 608697"/>
              <a:gd name="connsiteX140" fmla="*/ 120311 w 609614"/>
              <a:gd name="connsiteY140" fmla="*/ 332377 h 608697"/>
              <a:gd name="connsiteX141" fmla="*/ 59010 w 609614"/>
              <a:gd name="connsiteY141" fmla="*/ 412365 h 608697"/>
              <a:gd name="connsiteX142" fmla="*/ 39375 w 609614"/>
              <a:gd name="connsiteY142" fmla="*/ 412365 h 608697"/>
              <a:gd name="connsiteX143" fmla="*/ 118467 w 609614"/>
              <a:gd name="connsiteY143" fmla="*/ 312680 h 608697"/>
              <a:gd name="connsiteX144" fmla="*/ 118006 w 609614"/>
              <a:gd name="connsiteY144" fmla="*/ 304396 h 608697"/>
              <a:gd name="connsiteX145" fmla="*/ 276836 w 609614"/>
              <a:gd name="connsiteY145" fmla="*/ 120120 h 608697"/>
              <a:gd name="connsiteX146" fmla="*/ 196638 w 609614"/>
              <a:gd name="connsiteY146" fmla="*/ 58910 h 608697"/>
              <a:gd name="connsiteX147" fmla="*/ 521125 w 609614"/>
              <a:gd name="connsiteY147" fmla="*/ 19602 h 608697"/>
              <a:gd name="connsiteX148" fmla="*/ 452362 w 609614"/>
              <a:gd name="connsiteY148" fmla="*/ 88348 h 608697"/>
              <a:gd name="connsiteX149" fmla="*/ 472087 w 609614"/>
              <a:gd name="connsiteY149" fmla="*/ 136479 h 608697"/>
              <a:gd name="connsiteX150" fmla="*/ 493657 w 609614"/>
              <a:gd name="connsiteY150" fmla="*/ 96722 h 608697"/>
              <a:gd name="connsiteX151" fmla="*/ 481858 w 609614"/>
              <a:gd name="connsiteY151" fmla="*/ 68746 h 608697"/>
              <a:gd name="connsiteX152" fmla="*/ 521125 w 609614"/>
              <a:gd name="connsiteY152" fmla="*/ 29449 h 608697"/>
              <a:gd name="connsiteX153" fmla="*/ 560484 w 609614"/>
              <a:gd name="connsiteY153" fmla="*/ 68746 h 608697"/>
              <a:gd name="connsiteX154" fmla="*/ 548593 w 609614"/>
              <a:gd name="connsiteY154" fmla="*/ 96722 h 608697"/>
              <a:gd name="connsiteX155" fmla="*/ 570255 w 609614"/>
              <a:gd name="connsiteY155" fmla="*/ 136479 h 608697"/>
              <a:gd name="connsiteX156" fmla="*/ 589981 w 609614"/>
              <a:gd name="connsiteY156" fmla="*/ 88348 h 608697"/>
              <a:gd name="connsiteX157" fmla="*/ 521125 w 609614"/>
              <a:gd name="connsiteY157" fmla="*/ 19602 h 608697"/>
              <a:gd name="connsiteX158" fmla="*/ 88489 w 609614"/>
              <a:gd name="connsiteY158" fmla="*/ 19602 h 608697"/>
              <a:gd name="connsiteX159" fmla="*/ 19633 w 609614"/>
              <a:gd name="connsiteY159" fmla="*/ 88348 h 608697"/>
              <a:gd name="connsiteX160" fmla="*/ 39451 w 609614"/>
              <a:gd name="connsiteY160" fmla="*/ 136479 h 608697"/>
              <a:gd name="connsiteX161" fmla="*/ 61021 w 609614"/>
              <a:gd name="connsiteY161" fmla="*/ 96722 h 608697"/>
              <a:gd name="connsiteX162" fmla="*/ 49130 w 609614"/>
              <a:gd name="connsiteY162" fmla="*/ 68746 h 608697"/>
              <a:gd name="connsiteX163" fmla="*/ 88489 w 609614"/>
              <a:gd name="connsiteY163" fmla="*/ 29449 h 608697"/>
              <a:gd name="connsiteX164" fmla="*/ 127848 w 609614"/>
              <a:gd name="connsiteY164" fmla="*/ 68746 h 608697"/>
              <a:gd name="connsiteX165" fmla="*/ 115957 w 609614"/>
              <a:gd name="connsiteY165" fmla="*/ 96722 h 608697"/>
              <a:gd name="connsiteX166" fmla="*/ 137527 w 609614"/>
              <a:gd name="connsiteY166" fmla="*/ 136479 h 608697"/>
              <a:gd name="connsiteX167" fmla="*/ 157345 w 609614"/>
              <a:gd name="connsiteY167" fmla="*/ 88348 h 608697"/>
              <a:gd name="connsiteX168" fmla="*/ 88489 w 609614"/>
              <a:gd name="connsiteY168" fmla="*/ 19602 h 608697"/>
              <a:gd name="connsiteX169" fmla="*/ 521125 w 609614"/>
              <a:gd name="connsiteY169" fmla="*/ 0 h 608697"/>
              <a:gd name="connsiteX170" fmla="*/ 609614 w 609614"/>
              <a:gd name="connsiteY170" fmla="*/ 88348 h 608697"/>
              <a:gd name="connsiteX171" fmla="*/ 521125 w 609614"/>
              <a:gd name="connsiteY171" fmla="*/ 176696 h 608697"/>
              <a:gd name="connsiteX172" fmla="*/ 432636 w 609614"/>
              <a:gd name="connsiteY172" fmla="*/ 88348 h 608697"/>
              <a:gd name="connsiteX173" fmla="*/ 521125 w 609614"/>
              <a:gd name="connsiteY173" fmla="*/ 0 h 608697"/>
              <a:gd name="connsiteX174" fmla="*/ 88489 w 609614"/>
              <a:gd name="connsiteY174" fmla="*/ 0 h 608697"/>
              <a:gd name="connsiteX175" fmla="*/ 176978 w 609614"/>
              <a:gd name="connsiteY175" fmla="*/ 88348 h 608697"/>
              <a:gd name="connsiteX176" fmla="*/ 88489 w 609614"/>
              <a:gd name="connsiteY176" fmla="*/ 176696 h 608697"/>
              <a:gd name="connsiteX177" fmla="*/ 0 w 609614"/>
              <a:gd name="connsiteY177" fmla="*/ 88348 h 608697"/>
              <a:gd name="connsiteX178" fmla="*/ 88489 w 609614"/>
              <a:gd name="connsiteY178" fmla="*/ 0 h 60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609614" h="608697">
                <a:moveTo>
                  <a:pt x="88489" y="540043"/>
                </a:moveTo>
                <a:cubicBezTo>
                  <a:pt x="72266" y="540043"/>
                  <a:pt x="58993" y="553204"/>
                  <a:pt x="58993" y="569493"/>
                </a:cubicBezTo>
                <a:lnTo>
                  <a:pt x="58993" y="582377"/>
                </a:lnTo>
                <a:cubicBezTo>
                  <a:pt x="67934" y="586610"/>
                  <a:pt x="77889" y="589095"/>
                  <a:pt x="88489" y="589095"/>
                </a:cubicBezTo>
                <a:cubicBezTo>
                  <a:pt x="99089" y="589095"/>
                  <a:pt x="109044" y="586610"/>
                  <a:pt x="117985" y="582377"/>
                </a:cubicBezTo>
                <a:lnTo>
                  <a:pt x="117985" y="569493"/>
                </a:lnTo>
                <a:cubicBezTo>
                  <a:pt x="117985" y="553204"/>
                  <a:pt x="104712" y="540043"/>
                  <a:pt x="88489" y="540043"/>
                </a:cubicBezTo>
                <a:close/>
                <a:moveTo>
                  <a:pt x="88489" y="481145"/>
                </a:moveTo>
                <a:cubicBezTo>
                  <a:pt x="77612" y="481145"/>
                  <a:pt x="68855" y="489888"/>
                  <a:pt x="68855" y="500747"/>
                </a:cubicBezTo>
                <a:cubicBezTo>
                  <a:pt x="68855" y="511606"/>
                  <a:pt x="77612" y="520349"/>
                  <a:pt x="88489" y="520349"/>
                </a:cubicBezTo>
                <a:cubicBezTo>
                  <a:pt x="99366" y="520349"/>
                  <a:pt x="108123" y="511606"/>
                  <a:pt x="108123" y="500747"/>
                </a:cubicBezTo>
                <a:cubicBezTo>
                  <a:pt x="108123" y="489888"/>
                  <a:pt x="99366" y="481145"/>
                  <a:pt x="88489" y="481145"/>
                </a:cubicBezTo>
                <a:close/>
                <a:moveTo>
                  <a:pt x="88489" y="451695"/>
                </a:moveTo>
                <a:cubicBezTo>
                  <a:pt x="50512" y="451695"/>
                  <a:pt x="19633" y="482525"/>
                  <a:pt x="19633" y="520349"/>
                </a:cubicBezTo>
                <a:cubicBezTo>
                  <a:pt x="19633" y="539123"/>
                  <a:pt x="27192" y="556057"/>
                  <a:pt x="39451" y="568480"/>
                </a:cubicBezTo>
                <a:cubicBezTo>
                  <a:pt x="39728" y="552007"/>
                  <a:pt x="48208" y="537467"/>
                  <a:pt x="61021" y="528816"/>
                </a:cubicBezTo>
                <a:cubicBezTo>
                  <a:pt x="53739" y="521638"/>
                  <a:pt x="49130" y="511699"/>
                  <a:pt x="49130" y="500747"/>
                </a:cubicBezTo>
                <a:cubicBezTo>
                  <a:pt x="49130" y="479120"/>
                  <a:pt x="66828" y="461451"/>
                  <a:pt x="88489" y="461451"/>
                </a:cubicBezTo>
                <a:cubicBezTo>
                  <a:pt x="110150" y="461451"/>
                  <a:pt x="127848" y="479120"/>
                  <a:pt x="127848" y="500747"/>
                </a:cubicBezTo>
                <a:cubicBezTo>
                  <a:pt x="127848" y="511699"/>
                  <a:pt x="123239" y="521638"/>
                  <a:pt x="115957" y="528816"/>
                </a:cubicBezTo>
                <a:cubicBezTo>
                  <a:pt x="128770" y="537467"/>
                  <a:pt x="137250" y="552007"/>
                  <a:pt x="137527" y="568480"/>
                </a:cubicBezTo>
                <a:cubicBezTo>
                  <a:pt x="149786" y="556057"/>
                  <a:pt x="157345" y="539123"/>
                  <a:pt x="157345" y="520349"/>
                </a:cubicBezTo>
                <a:cubicBezTo>
                  <a:pt x="157345" y="482525"/>
                  <a:pt x="126466" y="451695"/>
                  <a:pt x="88489" y="451695"/>
                </a:cubicBezTo>
                <a:close/>
                <a:moveTo>
                  <a:pt x="486735" y="440991"/>
                </a:moveTo>
                <a:lnTo>
                  <a:pt x="441658" y="486001"/>
                </a:lnTo>
                <a:lnTo>
                  <a:pt x="535592" y="579795"/>
                </a:lnTo>
                <a:cubicBezTo>
                  <a:pt x="541584" y="585778"/>
                  <a:pt x="549603" y="589092"/>
                  <a:pt x="558084" y="589092"/>
                </a:cubicBezTo>
                <a:cubicBezTo>
                  <a:pt x="575691" y="589092"/>
                  <a:pt x="589979" y="574825"/>
                  <a:pt x="589979" y="557244"/>
                </a:cubicBezTo>
                <a:cubicBezTo>
                  <a:pt x="589979" y="548776"/>
                  <a:pt x="586661" y="540768"/>
                  <a:pt x="580669" y="534785"/>
                </a:cubicBezTo>
                <a:close/>
                <a:moveTo>
                  <a:pt x="88489" y="432001"/>
                </a:moveTo>
                <a:cubicBezTo>
                  <a:pt x="137250" y="432001"/>
                  <a:pt x="176978" y="471666"/>
                  <a:pt x="176978" y="520349"/>
                </a:cubicBezTo>
                <a:cubicBezTo>
                  <a:pt x="176978" y="569125"/>
                  <a:pt x="137250" y="608697"/>
                  <a:pt x="88489" y="608697"/>
                </a:cubicBezTo>
                <a:cubicBezTo>
                  <a:pt x="39728" y="608697"/>
                  <a:pt x="0" y="569125"/>
                  <a:pt x="0" y="520349"/>
                </a:cubicBezTo>
                <a:cubicBezTo>
                  <a:pt x="0" y="471666"/>
                  <a:pt x="39728" y="432001"/>
                  <a:pt x="88489" y="432001"/>
                </a:cubicBezTo>
                <a:close/>
                <a:moveTo>
                  <a:pt x="457421" y="411720"/>
                </a:moveTo>
                <a:cubicBezTo>
                  <a:pt x="445069" y="429117"/>
                  <a:pt x="429767" y="444396"/>
                  <a:pt x="412344" y="456731"/>
                </a:cubicBezTo>
                <a:lnTo>
                  <a:pt x="427739" y="472102"/>
                </a:lnTo>
                <a:lnTo>
                  <a:pt x="472816" y="427092"/>
                </a:lnTo>
                <a:close/>
                <a:moveTo>
                  <a:pt x="216322" y="304403"/>
                </a:moveTo>
                <a:lnTo>
                  <a:pt x="216322" y="333857"/>
                </a:lnTo>
                <a:lnTo>
                  <a:pt x="235957" y="333857"/>
                </a:lnTo>
                <a:lnTo>
                  <a:pt x="235957" y="304403"/>
                </a:lnTo>
                <a:close/>
                <a:moveTo>
                  <a:pt x="471709" y="299609"/>
                </a:moveTo>
                <a:lnTo>
                  <a:pt x="452259" y="302831"/>
                </a:lnTo>
                <a:cubicBezTo>
                  <a:pt x="452259" y="303383"/>
                  <a:pt x="452351" y="303843"/>
                  <a:pt x="452351" y="304396"/>
                </a:cubicBezTo>
                <a:cubicBezTo>
                  <a:pt x="452351" y="385580"/>
                  <a:pt x="386164" y="451668"/>
                  <a:pt x="304860" y="451668"/>
                </a:cubicBezTo>
                <a:cubicBezTo>
                  <a:pt x="230745" y="451668"/>
                  <a:pt x="169352" y="396717"/>
                  <a:pt x="159027" y="325474"/>
                </a:cubicBezTo>
                <a:lnTo>
                  <a:pt x="139669" y="328696"/>
                </a:lnTo>
                <a:cubicBezTo>
                  <a:pt x="151561" y="409235"/>
                  <a:pt x="220974" y="471274"/>
                  <a:pt x="304860" y="471274"/>
                </a:cubicBezTo>
                <a:cubicBezTo>
                  <a:pt x="397042" y="471274"/>
                  <a:pt x="471986" y="396441"/>
                  <a:pt x="471986" y="304396"/>
                </a:cubicBezTo>
                <a:cubicBezTo>
                  <a:pt x="471986" y="302739"/>
                  <a:pt x="471802" y="301266"/>
                  <a:pt x="471709" y="299609"/>
                </a:cubicBezTo>
                <a:close/>
                <a:moveTo>
                  <a:pt x="373586" y="265100"/>
                </a:moveTo>
                <a:lnTo>
                  <a:pt x="373586" y="333857"/>
                </a:lnTo>
                <a:lnTo>
                  <a:pt x="393313" y="333857"/>
                </a:lnTo>
                <a:lnTo>
                  <a:pt x="393313" y="265100"/>
                </a:lnTo>
                <a:close/>
                <a:moveTo>
                  <a:pt x="294954" y="225798"/>
                </a:moveTo>
                <a:lnTo>
                  <a:pt x="294954" y="333857"/>
                </a:lnTo>
                <a:lnTo>
                  <a:pt x="314589" y="333857"/>
                </a:lnTo>
                <a:lnTo>
                  <a:pt x="314589" y="225798"/>
                </a:lnTo>
                <a:close/>
                <a:moveTo>
                  <a:pt x="275319" y="206192"/>
                </a:moveTo>
                <a:lnTo>
                  <a:pt x="334316" y="206192"/>
                </a:lnTo>
                <a:lnTo>
                  <a:pt x="334316" y="333857"/>
                </a:lnTo>
                <a:lnTo>
                  <a:pt x="353951" y="333857"/>
                </a:lnTo>
                <a:lnTo>
                  <a:pt x="353951" y="245495"/>
                </a:lnTo>
                <a:lnTo>
                  <a:pt x="412948" y="245495"/>
                </a:lnTo>
                <a:lnTo>
                  <a:pt x="412948" y="333857"/>
                </a:lnTo>
                <a:lnTo>
                  <a:pt x="412948" y="343614"/>
                </a:lnTo>
                <a:lnTo>
                  <a:pt x="412948" y="353462"/>
                </a:lnTo>
                <a:lnTo>
                  <a:pt x="196595" y="353462"/>
                </a:lnTo>
                <a:lnTo>
                  <a:pt x="196595" y="343614"/>
                </a:lnTo>
                <a:lnTo>
                  <a:pt x="196595" y="333857"/>
                </a:lnTo>
                <a:lnTo>
                  <a:pt x="196595" y="284706"/>
                </a:lnTo>
                <a:lnTo>
                  <a:pt x="255592" y="284706"/>
                </a:lnTo>
                <a:lnTo>
                  <a:pt x="255592" y="333857"/>
                </a:lnTo>
                <a:lnTo>
                  <a:pt x="275319" y="333857"/>
                </a:lnTo>
                <a:close/>
                <a:moveTo>
                  <a:pt x="304860" y="176728"/>
                </a:moveTo>
                <a:cubicBezTo>
                  <a:pt x="234340" y="176728"/>
                  <a:pt x="177003" y="233981"/>
                  <a:pt x="177003" y="304396"/>
                </a:cubicBezTo>
                <a:cubicBezTo>
                  <a:pt x="177003" y="374718"/>
                  <a:pt x="234340" y="431970"/>
                  <a:pt x="304860" y="431970"/>
                </a:cubicBezTo>
                <a:cubicBezTo>
                  <a:pt x="375287" y="431970"/>
                  <a:pt x="432624" y="374718"/>
                  <a:pt x="432624" y="304396"/>
                </a:cubicBezTo>
                <a:cubicBezTo>
                  <a:pt x="432624" y="233981"/>
                  <a:pt x="375287" y="176728"/>
                  <a:pt x="304860" y="176728"/>
                </a:cubicBezTo>
                <a:close/>
                <a:moveTo>
                  <a:pt x="280431" y="139450"/>
                </a:moveTo>
                <a:cubicBezTo>
                  <a:pt x="199772" y="151324"/>
                  <a:pt x="137641" y="220634"/>
                  <a:pt x="137641" y="304396"/>
                </a:cubicBezTo>
                <a:cubicBezTo>
                  <a:pt x="137641" y="305960"/>
                  <a:pt x="137826" y="307525"/>
                  <a:pt x="137918" y="309090"/>
                </a:cubicBezTo>
                <a:lnTo>
                  <a:pt x="157460" y="305868"/>
                </a:lnTo>
                <a:cubicBezTo>
                  <a:pt x="157368" y="305316"/>
                  <a:pt x="157368" y="304856"/>
                  <a:pt x="157368" y="304396"/>
                </a:cubicBezTo>
                <a:cubicBezTo>
                  <a:pt x="157368" y="230391"/>
                  <a:pt x="212309" y="169089"/>
                  <a:pt x="283658" y="158780"/>
                </a:cubicBezTo>
                <a:close/>
                <a:moveTo>
                  <a:pt x="304860" y="137425"/>
                </a:moveTo>
                <a:cubicBezTo>
                  <a:pt x="303200" y="137425"/>
                  <a:pt x="301725" y="137609"/>
                  <a:pt x="300066" y="137701"/>
                </a:cubicBezTo>
                <a:lnTo>
                  <a:pt x="303293" y="157215"/>
                </a:lnTo>
                <a:cubicBezTo>
                  <a:pt x="303846" y="157123"/>
                  <a:pt x="304307" y="157123"/>
                  <a:pt x="304860" y="157123"/>
                </a:cubicBezTo>
                <a:cubicBezTo>
                  <a:pt x="378974" y="157123"/>
                  <a:pt x="440275" y="211982"/>
                  <a:pt x="450600" y="283225"/>
                </a:cubicBezTo>
                <a:lnTo>
                  <a:pt x="469958" y="280004"/>
                </a:lnTo>
                <a:cubicBezTo>
                  <a:pt x="458159" y="199464"/>
                  <a:pt x="388745" y="137425"/>
                  <a:pt x="304860" y="137425"/>
                </a:cubicBezTo>
                <a:close/>
                <a:moveTo>
                  <a:pt x="521125" y="107950"/>
                </a:moveTo>
                <a:cubicBezTo>
                  <a:pt x="504902" y="107950"/>
                  <a:pt x="491629" y="121202"/>
                  <a:pt x="491629" y="137399"/>
                </a:cubicBezTo>
                <a:lnTo>
                  <a:pt x="491629" y="150375"/>
                </a:lnTo>
                <a:cubicBezTo>
                  <a:pt x="500662" y="154609"/>
                  <a:pt x="510617" y="157094"/>
                  <a:pt x="521125" y="157094"/>
                </a:cubicBezTo>
                <a:cubicBezTo>
                  <a:pt x="531725" y="157094"/>
                  <a:pt x="541680" y="154609"/>
                  <a:pt x="550621" y="150375"/>
                </a:cubicBezTo>
                <a:lnTo>
                  <a:pt x="550621" y="137399"/>
                </a:lnTo>
                <a:cubicBezTo>
                  <a:pt x="550621" y="121202"/>
                  <a:pt x="537440" y="107950"/>
                  <a:pt x="521125" y="107950"/>
                </a:cubicBezTo>
                <a:close/>
                <a:moveTo>
                  <a:pt x="88489" y="107950"/>
                </a:moveTo>
                <a:cubicBezTo>
                  <a:pt x="72266" y="107950"/>
                  <a:pt x="58993" y="121202"/>
                  <a:pt x="58993" y="137399"/>
                </a:cubicBezTo>
                <a:lnTo>
                  <a:pt x="58993" y="150375"/>
                </a:lnTo>
                <a:cubicBezTo>
                  <a:pt x="67934" y="154609"/>
                  <a:pt x="77889" y="157094"/>
                  <a:pt x="88489" y="157094"/>
                </a:cubicBezTo>
                <a:cubicBezTo>
                  <a:pt x="99089" y="157094"/>
                  <a:pt x="109044" y="154609"/>
                  <a:pt x="117985" y="150375"/>
                </a:cubicBezTo>
                <a:lnTo>
                  <a:pt x="117985" y="137399"/>
                </a:lnTo>
                <a:cubicBezTo>
                  <a:pt x="117985" y="121202"/>
                  <a:pt x="104712" y="107950"/>
                  <a:pt x="88489" y="107950"/>
                </a:cubicBezTo>
                <a:close/>
                <a:moveTo>
                  <a:pt x="521125" y="49051"/>
                </a:moveTo>
                <a:cubicBezTo>
                  <a:pt x="510340" y="49051"/>
                  <a:pt x="501491" y="57886"/>
                  <a:pt x="501491" y="68746"/>
                </a:cubicBezTo>
                <a:cubicBezTo>
                  <a:pt x="501491" y="79513"/>
                  <a:pt x="510340" y="88348"/>
                  <a:pt x="521125" y="88348"/>
                </a:cubicBezTo>
                <a:cubicBezTo>
                  <a:pt x="532002" y="88348"/>
                  <a:pt x="540851" y="79513"/>
                  <a:pt x="540851" y="68746"/>
                </a:cubicBezTo>
                <a:cubicBezTo>
                  <a:pt x="540851" y="57886"/>
                  <a:pt x="532002" y="49051"/>
                  <a:pt x="521125" y="49051"/>
                </a:cubicBezTo>
                <a:close/>
                <a:moveTo>
                  <a:pt x="88489" y="49051"/>
                </a:moveTo>
                <a:cubicBezTo>
                  <a:pt x="77612" y="49051"/>
                  <a:pt x="68855" y="57886"/>
                  <a:pt x="68855" y="68746"/>
                </a:cubicBezTo>
                <a:cubicBezTo>
                  <a:pt x="68855" y="79513"/>
                  <a:pt x="77612" y="88348"/>
                  <a:pt x="88489" y="88348"/>
                </a:cubicBezTo>
                <a:cubicBezTo>
                  <a:pt x="99366" y="88348"/>
                  <a:pt x="108123" y="79513"/>
                  <a:pt x="108123" y="68746"/>
                </a:cubicBezTo>
                <a:cubicBezTo>
                  <a:pt x="108123" y="57886"/>
                  <a:pt x="99366" y="49051"/>
                  <a:pt x="88489" y="49051"/>
                </a:cubicBezTo>
                <a:close/>
                <a:moveTo>
                  <a:pt x="196638" y="39305"/>
                </a:moveTo>
                <a:cubicBezTo>
                  <a:pt x="244757" y="39305"/>
                  <a:pt x="285686" y="72073"/>
                  <a:pt x="296563" y="118280"/>
                </a:cubicBezTo>
                <a:cubicBezTo>
                  <a:pt x="299329" y="118095"/>
                  <a:pt x="302002" y="117819"/>
                  <a:pt x="304860" y="117819"/>
                </a:cubicBezTo>
                <a:cubicBezTo>
                  <a:pt x="398332" y="117819"/>
                  <a:pt x="475673" y="186761"/>
                  <a:pt x="489316" y="276414"/>
                </a:cubicBezTo>
                <a:cubicBezTo>
                  <a:pt x="525267" y="266749"/>
                  <a:pt x="550617" y="234257"/>
                  <a:pt x="550617" y="196334"/>
                </a:cubicBezTo>
                <a:lnTo>
                  <a:pt x="570344" y="196334"/>
                </a:lnTo>
                <a:cubicBezTo>
                  <a:pt x="570344" y="244382"/>
                  <a:pt x="537435" y="285250"/>
                  <a:pt x="491252" y="296112"/>
                </a:cubicBezTo>
                <a:cubicBezTo>
                  <a:pt x="491344" y="298873"/>
                  <a:pt x="491621" y="301542"/>
                  <a:pt x="491621" y="304396"/>
                </a:cubicBezTo>
                <a:cubicBezTo>
                  <a:pt x="491621" y="337164"/>
                  <a:pt x="483048" y="367907"/>
                  <a:pt x="468207" y="394692"/>
                </a:cubicBezTo>
                <a:lnTo>
                  <a:pt x="486735" y="413193"/>
                </a:lnTo>
                <a:lnTo>
                  <a:pt x="504342" y="395612"/>
                </a:lnTo>
                <a:lnTo>
                  <a:pt x="518261" y="409511"/>
                </a:lnTo>
                <a:lnTo>
                  <a:pt x="500655" y="427092"/>
                </a:lnTo>
                <a:lnTo>
                  <a:pt x="594588" y="520886"/>
                </a:lnTo>
                <a:cubicBezTo>
                  <a:pt x="604267" y="530551"/>
                  <a:pt x="609614" y="543529"/>
                  <a:pt x="609614" y="557244"/>
                </a:cubicBezTo>
                <a:cubicBezTo>
                  <a:pt x="609614" y="585594"/>
                  <a:pt x="586476" y="608697"/>
                  <a:pt x="558084" y="608697"/>
                </a:cubicBezTo>
                <a:cubicBezTo>
                  <a:pt x="544349" y="608697"/>
                  <a:pt x="531351" y="603359"/>
                  <a:pt x="521672" y="593694"/>
                </a:cubicBezTo>
                <a:lnTo>
                  <a:pt x="427739" y="499900"/>
                </a:lnTo>
                <a:lnTo>
                  <a:pt x="410132" y="517480"/>
                </a:lnTo>
                <a:lnTo>
                  <a:pt x="396212" y="503582"/>
                </a:lnTo>
                <a:lnTo>
                  <a:pt x="413819" y="486001"/>
                </a:lnTo>
                <a:lnTo>
                  <a:pt x="395290" y="467500"/>
                </a:lnTo>
                <a:cubicBezTo>
                  <a:pt x="368465" y="482319"/>
                  <a:pt x="337677" y="490879"/>
                  <a:pt x="304860" y="490879"/>
                </a:cubicBezTo>
                <a:cubicBezTo>
                  <a:pt x="211387" y="490879"/>
                  <a:pt x="133954" y="421937"/>
                  <a:pt x="120311" y="332377"/>
                </a:cubicBezTo>
                <a:cubicBezTo>
                  <a:pt x="84360" y="342042"/>
                  <a:pt x="59010" y="374442"/>
                  <a:pt x="59010" y="412365"/>
                </a:cubicBezTo>
                <a:lnTo>
                  <a:pt x="39375" y="412365"/>
                </a:lnTo>
                <a:cubicBezTo>
                  <a:pt x="39375" y="364317"/>
                  <a:pt x="72192" y="323541"/>
                  <a:pt x="118467" y="312680"/>
                </a:cubicBezTo>
                <a:cubicBezTo>
                  <a:pt x="118283" y="309918"/>
                  <a:pt x="118006" y="307157"/>
                  <a:pt x="118006" y="304396"/>
                </a:cubicBezTo>
                <a:cubicBezTo>
                  <a:pt x="118006" y="211062"/>
                  <a:pt x="187051" y="133743"/>
                  <a:pt x="276836" y="120120"/>
                </a:cubicBezTo>
                <a:cubicBezTo>
                  <a:pt x="267157" y="84223"/>
                  <a:pt x="234617" y="58910"/>
                  <a:pt x="196638" y="58910"/>
                </a:cubicBezTo>
                <a:close/>
                <a:moveTo>
                  <a:pt x="521125" y="19602"/>
                </a:moveTo>
                <a:cubicBezTo>
                  <a:pt x="483241" y="19602"/>
                  <a:pt x="452362" y="50432"/>
                  <a:pt x="452362" y="88348"/>
                </a:cubicBezTo>
                <a:cubicBezTo>
                  <a:pt x="452362" y="107030"/>
                  <a:pt x="459920" y="124055"/>
                  <a:pt x="472087" y="136479"/>
                </a:cubicBezTo>
                <a:cubicBezTo>
                  <a:pt x="472456" y="119914"/>
                  <a:pt x="480844" y="105373"/>
                  <a:pt x="493657" y="96722"/>
                </a:cubicBezTo>
                <a:cubicBezTo>
                  <a:pt x="486375" y="89636"/>
                  <a:pt x="481858" y="79697"/>
                  <a:pt x="481858" y="68746"/>
                </a:cubicBezTo>
                <a:cubicBezTo>
                  <a:pt x="481858" y="47027"/>
                  <a:pt x="499464" y="29449"/>
                  <a:pt x="521125" y="29449"/>
                </a:cubicBezTo>
                <a:cubicBezTo>
                  <a:pt x="542879" y="29449"/>
                  <a:pt x="560484" y="47027"/>
                  <a:pt x="560484" y="68746"/>
                </a:cubicBezTo>
                <a:cubicBezTo>
                  <a:pt x="560484" y="79697"/>
                  <a:pt x="555968" y="89636"/>
                  <a:pt x="548593" y="96722"/>
                </a:cubicBezTo>
                <a:cubicBezTo>
                  <a:pt x="561406" y="105373"/>
                  <a:pt x="569886" y="119914"/>
                  <a:pt x="570255" y="136479"/>
                </a:cubicBezTo>
                <a:cubicBezTo>
                  <a:pt x="582422" y="124055"/>
                  <a:pt x="589981" y="107030"/>
                  <a:pt x="589981" y="88348"/>
                </a:cubicBezTo>
                <a:cubicBezTo>
                  <a:pt x="589981" y="50432"/>
                  <a:pt x="559102" y="19602"/>
                  <a:pt x="521125" y="19602"/>
                </a:cubicBezTo>
                <a:close/>
                <a:moveTo>
                  <a:pt x="88489" y="19602"/>
                </a:moveTo>
                <a:cubicBezTo>
                  <a:pt x="50512" y="19602"/>
                  <a:pt x="19633" y="50432"/>
                  <a:pt x="19633" y="88348"/>
                </a:cubicBezTo>
                <a:cubicBezTo>
                  <a:pt x="19633" y="107030"/>
                  <a:pt x="27192" y="124055"/>
                  <a:pt x="39451" y="136479"/>
                </a:cubicBezTo>
                <a:cubicBezTo>
                  <a:pt x="39728" y="119914"/>
                  <a:pt x="48208" y="105373"/>
                  <a:pt x="61021" y="96722"/>
                </a:cubicBezTo>
                <a:cubicBezTo>
                  <a:pt x="53739" y="89636"/>
                  <a:pt x="49130" y="79697"/>
                  <a:pt x="49130" y="68746"/>
                </a:cubicBezTo>
                <a:cubicBezTo>
                  <a:pt x="49130" y="47027"/>
                  <a:pt x="66828" y="29449"/>
                  <a:pt x="88489" y="29449"/>
                </a:cubicBezTo>
                <a:cubicBezTo>
                  <a:pt x="110150" y="29449"/>
                  <a:pt x="127848" y="47027"/>
                  <a:pt x="127848" y="68746"/>
                </a:cubicBezTo>
                <a:cubicBezTo>
                  <a:pt x="127848" y="79697"/>
                  <a:pt x="123239" y="89636"/>
                  <a:pt x="115957" y="96722"/>
                </a:cubicBezTo>
                <a:cubicBezTo>
                  <a:pt x="128770" y="105373"/>
                  <a:pt x="137250" y="119914"/>
                  <a:pt x="137527" y="136479"/>
                </a:cubicBezTo>
                <a:cubicBezTo>
                  <a:pt x="149786" y="124055"/>
                  <a:pt x="157345" y="107030"/>
                  <a:pt x="157345" y="88348"/>
                </a:cubicBezTo>
                <a:cubicBezTo>
                  <a:pt x="157345" y="50432"/>
                  <a:pt x="126466" y="19602"/>
                  <a:pt x="88489" y="19602"/>
                </a:cubicBezTo>
                <a:close/>
                <a:moveTo>
                  <a:pt x="521125" y="0"/>
                </a:moveTo>
                <a:cubicBezTo>
                  <a:pt x="569978" y="0"/>
                  <a:pt x="609614" y="39664"/>
                  <a:pt x="609614" y="88348"/>
                </a:cubicBezTo>
                <a:cubicBezTo>
                  <a:pt x="609614" y="137031"/>
                  <a:pt x="569978" y="176696"/>
                  <a:pt x="521125" y="176696"/>
                </a:cubicBezTo>
                <a:cubicBezTo>
                  <a:pt x="472364" y="176696"/>
                  <a:pt x="432636" y="137031"/>
                  <a:pt x="432636" y="88348"/>
                </a:cubicBezTo>
                <a:cubicBezTo>
                  <a:pt x="432636" y="39664"/>
                  <a:pt x="472364" y="0"/>
                  <a:pt x="521125" y="0"/>
                </a:cubicBezTo>
                <a:close/>
                <a:moveTo>
                  <a:pt x="88489" y="0"/>
                </a:moveTo>
                <a:cubicBezTo>
                  <a:pt x="137250" y="0"/>
                  <a:pt x="176978" y="39664"/>
                  <a:pt x="176978" y="88348"/>
                </a:cubicBezTo>
                <a:cubicBezTo>
                  <a:pt x="176978" y="137031"/>
                  <a:pt x="137250" y="176696"/>
                  <a:pt x="88489" y="176696"/>
                </a:cubicBezTo>
                <a:cubicBezTo>
                  <a:pt x="39728" y="176696"/>
                  <a:pt x="0" y="137031"/>
                  <a:pt x="0" y="88348"/>
                </a:cubicBezTo>
                <a:cubicBezTo>
                  <a:pt x="0" y="39664"/>
                  <a:pt x="39728" y="0"/>
                  <a:pt x="88489"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42" name="熊大的PPT宝库14"/>
          <p:cNvSpPr/>
          <p:nvPr/>
        </p:nvSpPr>
        <p:spPr>
          <a:xfrm>
            <a:off x="10680389" y="2072727"/>
            <a:ext cx="479743" cy="609685"/>
          </a:xfrm>
          <a:custGeom>
            <a:avLst/>
            <a:gdLst>
              <a:gd name="connsiteX0" fmla="*/ 207917 w 401364"/>
              <a:gd name="connsiteY0" fmla="*/ 473415 h 510076"/>
              <a:gd name="connsiteX1" fmla="*/ 200679 w 401364"/>
              <a:gd name="connsiteY1" fmla="*/ 494371 h 510076"/>
              <a:gd name="connsiteX2" fmla="*/ 215299 w 401364"/>
              <a:gd name="connsiteY2" fmla="*/ 494371 h 510076"/>
              <a:gd name="connsiteX3" fmla="*/ 137864 w 401364"/>
              <a:gd name="connsiteY3" fmla="*/ 472558 h 510076"/>
              <a:gd name="connsiteX4" fmla="*/ 137864 w 401364"/>
              <a:gd name="connsiteY4" fmla="*/ 489370 h 510076"/>
              <a:gd name="connsiteX5" fmla="*/ 142912 w 401364"/>
              <a:gd name="connsiteY5" fmla="*/ 489370 h 510076"/>
              <a:gd name="connsiteX6" fmla="*/ 147103 w 401364"/>
              <a:gd name="connsiteY6" fmla="*/ 488751 h 510076"/>
              <a:gd name="connsiteX7" fmla="*/ 149865 w 401364"/>
              <a:gd name="connsiteY7" fmla="*/ 486941 h 510076"/>
              <a:gd name="connsiteX8" fmla="*/ 151579 w 401364"/>
              <a:gd name="connsiteY8" fmla="*/ 484131 h 510076"/>
              <a:gd name="connsiteX9" fmla="*/ 152246 w 401364"/>
              <a:gd name="connsiteY9" fmla="*/ 480702 h 510076"/>
              <a:gd name="connsiteX10" fmla="*/ 151246 w 401364"/>
              <a:gd name="connsiteY10" fmla="*/ 476415 h 510076"/>
              <a:gd name="connsiteX11" fmla="*/ 148912 w 401364"/>
              <a:gd name="connsiteY11" fmla="*/ 473844 h 510076"/>
              <a:gd name="connsiteX12" fmla="*/ 145960 w 401364"/>
              <a:gd name="connsiteY12" fmla="*/ 472748 h 510076"/>
              <a:gd name="connsiteX13" fmla="*/ 143007 w 401364"/>
              <a:gd name="connsiteY13" fmla="*/ 472558 h 510076"/>
              <a:gd name="connsiteX14" fmla="*/ 167866 w 401364"/>
              <a:gd name="connsiteY14" fmla="*/ 467938 h 510076"/>
              <a:gd name="connsiteX15" fmla="*/ 169200 w 401364"/>
              <a:gd name="connsiteY15" fmla="*/ 467938 h 510076"/>
              <a:gd name="connsiteX16" fmla="*/ 170533 w 401364"/>
              <a:gd name="connsiteY16" fmla="*/ 467938 h 510076"/>
              <a:gd name="connsiteX17" fmla="*/ 171391 w 401364"/>
              <a:gd name="connsiteY17" fmla="*/ 468128 h 510076"/>
              <a:gd name="connsiteX18" fmla="*/ 171867 w 401364"/>
              <a:gd name="connsiteY18" fmla="*/ 468414 h 510076"/>
              <a:gd name="connsiteX19" fmla="*/ 171867 w 401364"/>
              <a:gd name="connsiteY19" fmla="*/ 468890 h 510076"/>
              <a:gd name="connsiteX20" fmla="*/ 171867 w 401364"/>
              <a:gd name="connsiteY20" fmla="*/ 505182 h 510076"/>
              <a:gd name="connsiteX21" fmla="*/ 186916 w 401364"/>
              <a:gd name="connsiteY21" fmla="*/ 505182 h 510076"/>
              <a:gd name="connsiteX22" fmla="*/ 187440 w 401364"/>
              <a:gd name="connsiteY22" fmla="*/ 505182 h 510076"/>
              <a:gd name="connsiteX23" fmla="*/ 187773 w 401364"/>
              <a:gd name="connsiteY23" fmla="*/ 505659 h 510076"/>
              <a:gd name="connsiteX24" fmla="*/ 187963 w 401364"/>
              <a:gd name="connsiteY24" fmla="*/ 506373 h 510076"/>
              <a:gd name="connsiteX25" fmla="*/ 188392 w 401364"/>
              <a:gd name="connsiteY25" fmla="*/ 507516 h 510076"/>
              <a:gd name="connsiteX26" fmla="*/ 188392 w 401364"/>
              <a:gd name="connsiteY26" fmla="*/ 508564 h 510076"/>
              <a:gd name="connsiteX27" fmla="*/ 188202 w 401364"/>
              <a:gd name="connsiteY27" fmla="*/ 509326 h 510076"/>
              <a:gd name="connsiteX28" fmla="*/ 187821 w 401364"/>
              <a:gd name="connsiteY28" fmla="*/ 509755 h 510076"/>
              <a:gd name="connsiteX29" fmla="*/ 187297 w 401364"/>
              <a:gd name="connsiteY29" fmla="*/ 509945 h 510076"/>
              <a:gd name="connsiteX30" fmla="*/ 168628 w 401364"/>
              <a:gd name="connsiteY30" fmla="*/ 509945 h 510076"/>
              <a:gd name="connsiteX31" fmla="*/ 167200 w 401364"/>
              <a:gd name="connsiteY31" fmla="*/ 509421 h 510076"/>
              <a:gd name="connsiteX32" fmla="*/ 166533 w 401364"/>
              <a:gd name="connsiteY32" fmla="*/ 507659 h 510076"/>
              <a:gd name="connsiteX33" fmla="*/ 166533 w 401364"/>
              <a:gd name="connsiteY33" fmla="*/ 468890 h 510076"/>
              <a:gd name="connsiteX34" fmla="*/ 166533 w 401364"/>
              <a:gd name="connsiteY34" fmla="*/ 468414 h 510076"/>
              <a:gd name="connsiteX35" fmla="*/ 166962 w 401364"/>
              <a:gd name="connsiteY35" fmla="*/ 468128 h 510076"/>
              <a:gd name="connsiteX36" fmla="*/ 134483 w 401364"/>
              <a:gd name="connsiteY36" fmla="*/ 467890 h 510076"/>
              <a:gd name="connsiteX37" fmla="*/ 146103 w 401364"/>
              <a:gd name="connsiteY37" fmla="*/ 467890 h 510076"/>
              <a:gd name="connsiteX38" fmla="*/ 149055 w 401364"/>
              <a:gd name="connsiteY38" fmla="*/ 468414 h 510076"/>
              <a:gd name="connsiteX39" fmla="*/ 152532 w 401364"/>
              <a:gd name="connsiteY39" fmla="*/ 469795 h 510076"/>
              <a:gd name="connsiteX40" fmla="*/ 155532 w 401364"/>
              <a:gd name="connsiteY40" fmla="*/ 472319 h 510076"/>
              <a:gd name="connsiteX41" fmla="*/ 157437 w 401364"/>
              <a:gd name="connsiteY41" fmla="*/ 475749 h 510076"/>
              <a:gd name="connsiteX42" fmla="*/ 158104 w 401364"/>
              <a:gd name="connsiteY42" fmla="*/ 480226 h 510076"/>
              <a:gd name="connsiteX43" fmla="*/ 157056 w 401364"/>
              <a:gd name="connsiteY43" fmla="*/ 485941 h 510076"/>
              <a:gd name="connsiteX44" fmla="*/ 154056 w 401364"/>
              <a:gd name="connsiteY44" fmla="*/ 490227 h 510076"/>
              <a:gd name="connsiteX45" fmla="*/ 149341 w 401364"/>
              <a:gd name="connsiteY45" fmla="*/ 492990 h 510076"/>
              <a:gd name="connsiteX46" fmla="*/ 142626 w 401364"/>
              <a:gd name="connsiteY46" fmla="*/ 493942 h 510076"/>
              <a:gd name="connsiteX47" fmla="*/ 137864 w 401364"/>
              <a:gd name="connsiteY47" fmla="*/ 493942 h 510076"/>
              <a:gd name="connsiteX48" fmla="*/ 137864 w 401364"/>
              <a:gd name="connsiteY48" fmla="*/ 509088 h 510076"/>
              <a:gd name="connsiteX49" fmla="*/ 137721 w 401364"/>
              <a:gd name="connsiteY49" fmla="*/ 509564 h 510076"/>
              <a:gd name="connsiteX50" fmla="*/ 137292 w 401364"/>
              <a:gd name="connsiteY50" fmla="*/ 509850 h 510076"/>
              <a:gd name="connsiteX51" fmla="*/ 136435 w 401364"/>
              <a:gd name="connsiteY51" fmla="*/ 510041 h 510076"/>
              <a:gd name="connsiteX52" fmla="*/ 135102 w 401364"/>
              <a:gd name="connsiteY52" fmla="*/ 510041 h 510076"/>
              <a:gd name="connsiteX53" fmla="*/ 133721 w 401364"/>
              <a:gd name="connsiteY53" fmla="*/ 510041 h 510076"/>
              <a:gd name="connsiteX54" fmla="*/ 132863 w 401364"/>
              <a:gd name="connsiteY54" fmla="*/ 509850 h 510076"/>
              <a:gd name="connsiteX55" fmla="*/ 132435 w 401364"/>
              <a:gd name="connsiteY55" fmla="*/ 509564 h 510076"/>
              <a:gd name="connsiteX56" fmla="*/ 132292 w 401364"/>
              <a:gd name="connsiteY56" fmla="*/ 509088 h 510076"/>
              <a:gd name="connsiteX57" fmla="*/ 132292 w 401364"/>
              <a:gd name="connsiteY57" fmla="*/ 470319 h 510076"/>
              <a:gd name="connsiteX58" fmla="*/ 132959 w 401364"/>
              <a:gd name="connsiteY58" fmla="*/ 468462 h 510076"/>
              <a:gd name="connsiteX59" fmla="*/ 134483 w 401364"/>
              <a:gd name="connsiteY59" fmla="*/ 467890 h 510076"/>
              <a:gd name="connsiteX60" fmla="*/ 206632 w 401364"/>
              <a:gd name="connsiteY60" fmla="*/ 467795 h 510076"/>
              <a:gd name="connsiteX61" fmla="*/ 209918 w 401364"/>
              <a:gd name="connsiteY61" fmla="*/ 467795 h 510076"/>
              <a:gd name="connsiteX62" fmla="*/ 211061 w 401364"/>
              <a:gd name="connsiteY62" fmla="*/ 467985 h 510076"/>
              <a:gd name="connsiteX63" fmla="*/ 211680 w 401364"/>
              <a:gd name="connsiteY63" fmla="*/ 468319 h 510076"/>
              <a:gd name="connsiteX64" fmla="*/ 212061 w 401364"/>
              <a:gd name="connsiteY64" fmla="*/ 468938 h 510076"/>
              <a:gd name="connsiteX65" fmla="*/ 226014 w 401364"/>
              <a:gd name="connsiteY65" fmla="*/ 507945 h 510076"/>
              <a:gd name="connsiteX66" fmla="*/ 226300 w 401364"/>
              <a:gd name="connsiteY66" fmla="*/ 509088 h 510076"/>
              <a:gd name="connsiteX67" fmla="*/ 226062 w 401364"/>
              <a:gd name="connsiteY67" fmla="*/ 509755 h 510076"/>
              <a:gd name="connsiteX68" fmla="*/ 225205 w 401364"/>
              <a:gd name="connsiteY68" fmla="*/ 510041 h 510076"/>
              <a:gd name="connsiteX69" fmla="*/ 223585 w 401364"/>
              <a:gd name="connsiteY69" fmla="*/ 510041 h 510076"/>
              <a:gd name="connsiteX70" fmla="*/ 221966 w 401364"/>
              <a:gd name="connsiteY70" fmla="*/ 510041 h 510076"/>
              <a:gd name="connsiteX71" fmla="*/ 221061 w 401364"/>
              <a:gd name="connsiteY71" fmla="*/ 509898 h 510076"/>
              <a:gd name="connsiteX72" fmla="*/ 220633 w 401364"/>
              <a:gd name="connsiteY72" fmla="*/ 509564 h 510076"/>
              <a:gd name="connsiteX73" fmla="*/ 220347 w 401364"/>
              <a:gd name="connsiteY73" fmla="*/ 509088 h 510076"/>
              <a:gd name="connsiteX74" fmla="*/ 216728 w 401364"/>
              <a:gd name="connsiteY74" fmla="*/ 498848 h 510076"/>
              <a:gd name="connsiteX75" fmla="*/ 199250 w 401364"/>
              <a:gd name="connsiteY75" fmla="*/ 498848 h 510076"/>
              <a:gd name="connsiteX76" fmla="*/ 195821 w 401364"/>
              <a:gd name="connsiteY76" fmla="*/ 508945 h 510076"/>
              <a:gd name="connsiteX77" fmla="*/ 195583 w 401364"/>
              <a:gd name="connsiteY77" fmla="*/ 509469 h 510076"/>
              <a:gd name="connsiteX78" fmla="*/ 195107 w 401364"/>
              <a:gd name="connsiteY78" fmla="*/ 509802 h 510076"/>
              <a:gd name="connsiteX79" fmla="*/ 194250 w 401364"/>
              <a:gd name="connsiteY79" fmla="*/ 510041 h 510076"/>
              <a:gd name="connsiteX80" fmla="*/ 192726 w 401364"/>
              <a:gd name="connsiteY80" fmla="*/ 510041 h 510076"/>
              <a:gd name="connsiteX81" fmla="*/ 191202 w 401364"/>
              <a:gd name="connsiteY81" fmla="*/ 510041 h 510076"/>
              <a:gd name="connsiteX82" fmla="*/ 190345 w 401364"/>
              <a:gd name="connsiteY82" fmla="*/ 509707 h 510076"/>
              <a:gd name="connsiteX83" fmla="*/ 190154 w 401364"/>
              <a:gd name="connsiteY83" fmla="*/ 509040 h 510076"/>
              <a:gd name="connsiteX84" fmla="*/ 190392 w 401364"/>
              <a:gd name="connsiteY84" fmla="*/ 507897 h 510076"/>
              <a:gd name="connsiteX85" fmla="*/ 204631 w 401364"/>
              <a:gd name="connsiteY85" fmla="*/ 468890 h 510076"/>
              <a:gd name="connsiteX86" fmla="*/ 204965 w 401364"/>
              <a:gd name="connsiteY86" fmla="*/ 468319 h 510076"/>
              <a:gd name="connsiteX87" fmla="*/ 205536 w 401364"/>
              <a:gd name="connsiteY87" fmla="*/ 467985 h 510076"/>
              <a:gd name="connsiteX88" fmla="*/ 206632 w 401364"/>
              <a:gd name="connsiteY88" fmla="*/ 467795 h 510076"/>
              <a:gd name="connsiteX89" fmla="*/ 260636 w 401364"/>
              <a:gd name="connsiteY89" fmla="*/ 467747 h 510076"/>
              <a:gd name="connsiteX90" fmla="*/ 263303 w 401364"/>
              <a:gd name="connsiteY90" fmla="*/ 467747 h 510076"/>
              <a:gd name="connsiteX91" fmla="*/ 264160 w 401364"/>
              <a:gd name="connsiteY91" fmla="*/ 467985 h 510076"/>
              <a:gd name="connsiteX92" fmla="*/ 264589 w 401364"/>
              <a:gd name="connsiteY92" fmla="*/ 468319 h 510076"/>
              <a:gd name="connsiteX93" fmla="*/ 264732 w 401364"/>
              <a:gd name="connsiteY93" fmla="*/ 468747 h 510076"/>
              <a:gd name="connsiteX94" fmla="*/ 264779 w 401364"/>
              <a:gd name="connsiteY94" fmla="*/ 507659 h 510076"/>
              <a:gd name="connsiteX95" fmla="*/ 264541 w 401364"/>
              <a:gd name="connsiteY95" fmla="*/ 508707 h 510076"/>
              <a:gd name="connsiteX96" fmla="*/ 263970 w 401364"/>
              <a:gd name="connsiteY96" fmla="*/ 509469 h 510076"/>
              <a:gd name="connsiteX97" fmla="*/ 263208 w 401364"/>
              <a:gd name="connsiteY97" fmla="*/ 509898 h 510076"/>
              <a:gd name="connsiteX98" fmla="*/ 262303 w 401364"/>
              <a:gd name="connsiteY98" fmla="*/ 509898 h 510076"/>
              <a:gd name="connsiteX99" fmla="*/ 260493 w 401364"/>
              <a:gd name="connsiteY99" fmla="*/ 509898 h 510076"/>
              <a:gd name="connsiteX100" fmla="*/ 258969 w 401364"/>
              <a:gd name="connsiteY100" fmla="*/ 509755 h 510076"/>
              <a:gd name="connsiteX101" fmla="*/ 257684 w 401364"/>
              <a:gd name="connsiteY101" fmla="*/ 509088 h 510076"/>
              <a:gd name="connsiteX102" fmla="*/ 256493 w 401364"/>
              <a:gd name="connsiteY102" fmla="*/ 507802 h 510076"/>
              <a:gd name="connsiteX103" fmla="*/ 255255 w 401364"/>
              <a:gd name="connsiteY103" fmla="*/ 505706 h 510076"/>
              <a:gd name="connsiteX104" fmla="*/ 242492 w 401364"/>
              <a:gd name="connsiteY104" fmla="*/ 481845 h 510076"/>
              <a:gd name="connsiteX105" fmla="*/ 240444 w 401364"/>
              <a:gd name="connsiteY105" fmla="*/ 477987 h 510076"/>
              <a:gd name="connsiteX106" fmla="*/ 238539 w 401364"/>
              <a:gd name="connsiteY106" fmla="*/ 474034 h 510076"/>
              <a:gd name="connsiteX107" fmla="*/ 238539 w 401364"/>
              <a:gd name="connsiteY107" fmla="*/ 508945 h 510076"/>
              <a:gd name="connsiteX108" fmla="*/ 238396 w 401364"/>
              <a:gd name="connsiteY108" fmla="*/ 509421 h 510076"/>
              <a:gd name="connsiteX109" fmla="*/ 237968 w 401364"/>
              <a:gd name="connsiteY109" fmla="*/ 509755 h 510076"/>
              <a:gd name="connsiteX110" fmla="*/ 237110 w 401364"/>
              <a:gd name="connsiteY110" fmla="*/ 509945 h 510076"/>
              <a:gd name="connsiteX111" fmla="*/ 234348 w 401364"/>
              <a:gd name="connsiteY111" fmla="*/ 509945 h 510076"/>
              <a:gd name="connsiteX112" fmla="*/ 233491 w 401364"/>
              <a:gd name="connsiteY112" fmla="*/ 509755 h 510076"/>
              <a:gd name="connsiteX113" fmla="*/ 233062 w 401364"/>
              <a:gd name="connsiteY113" fmla="*/ 509421 h 510076"/>
              <a:gd name="connsiteX114" fmla="*/ 232920 w 401364"/>
              <a:gd name="connsiteY114" fmla="*/ 508945 h 510076"/>
              <a:gd name="connsiteX115" fmla="*/ 232920 w 401364"/>
              <a:gd name="connsiteY115" fmla="*/ 470176 h 510076"/>
              <a:gd name="connsiteX116" fmla="*/ 233634 w 401364"/>
              <a:gd name="connsiteY116" fmla="*/ 468319 h 510076"/>
              <a:gd name="connsiteX117" fmla="*/ 235253 w 401364"/>
              <a:gd name="connsiteY117" fmla="*/ 467795 h 510076"/>
              <a:gd name="connsiteX118" fmla="*/ 238015 w 401364"/>
              <a:gd name="connsiteY118" fmla="*/ 467795 h 510076"/>
              <a:gd name="connsiteX119" fmla="*/ 239634 w 401364"/>
              <a:gd name="connsiteY119" fmla="*/ 467938 h 510076"/>
              <a:gd name="connsiteX120" fmla="*/ 240825 w 401364"/>
              <a:gd name="connsiteY120" fmla="*/ 468509 h 510076"/>
              <a:gd name="connsiteX121" fmla="*/ 241825 w 401364"/>
              <a:gd name="connsiteY121" fmla="*/ 469509 h 510076"/>
              <a:gd name="connsiteX122" fmla="*/ 242825 w 401364"/>
              <a:gd name="connsiteY122" fmla="*/ 471176 h 510076"/>
              <a:gd name="connsiteX123" fmla="*/ 252683 w 401364"/>
              <a:gd name="connsiteY123" fmla="*/ 489656 h 510076"/>
              <a:gd name="connsiteX124" fmla="*/ 254445 w 401364"/>
              <a:gd name="connsiteY124" fmla="*/ 492942 h 510076"/>
              <a:gd name="connsiteX125" fmla="*/ 256064 w 401364"/>
              <a:gd name="connsiteY125" fmla="*/ 496086 h 510076"/>
              <a:gd name="connsiteX126" fmla="*/ 257636 w 401364"/>
              <a:gd name="connsiteY126" fmla="*/ 499181 h 510076"/>
              <a:gd name="connsiteX127" fmla="*/ 259160 w 401364"/>
              <a:gd name="connsiteY127" fmla="*/ 502230 h 510076"/>
              <a:gd name="connsiteX128" fmla="*/ 259160 w 401364"/>
              <a:gd name="connsiteY128" fmla="*/ 496848 h 510076"/>
              <a:gd name="connsiteX129" fmla="*/ 259160 w 401364"/>
              <a:gd name="connsiteY129" fmla="*/ 468747 h 510076"/>
              <a:gd name="connsiteX130" fmla="*/ 259303 w 401364"/>
              <a:gd name="connsiteY130" fmla="*/ 468319 h 510076"/>
              <a:gd name="connsiteX131" fmla="*/ 259731 w 401364"/>
              <a:gd name="connsiteY131" fmla="*/ 467985 h 510076"/>
              <a:gd name="connsiteX132" fmla="*/ 260636 w 401364"/>
              <a:gd name="connsiteY132" fmla="*/ 467747 h 510076"/>
              <a:gd name="connsiteX133" fmla="*/ 50117 w 401364"/>
              <a:gd name="connsiteY133" fmla="*/ 388910 h 510076"/>
              <a:gd name="connsiteX134" fmla="*/ 215662 w 401364"/>
              <a:gd name="connsiteY134" fmla="*/ 388910 h 510076"/>
              <a:gd name="connsiteX135" fmla="*/ 215662 w 401364"/>
              <a:gd name="connsiteY135" fmla="*/ 393056 h 510076"/>
              <a:gd name="connsiteX136" fmla="*/ 219852 w 401364"/>
              <a:gd name="connsiteY136" fmla="*/ 397151 h 510076"/>
              <a:gd name="connsiteX137" fmla="*/ 223994 w 401364"/>
              <a:gd name="connsiteY137" fmla="*/ 393056 h 510076"/>
              <a:gd name="connsiteX138" fmla="*/ 223994 w 401364"/>
              <a:gd name="connsiteY138" fmla="*/ 393018 h 510076"/>
              <a:gd name="connsiteX139" fmla="*/ 224030 w 401364"/>
              <a:gd name="connsiteY139" fmla="*/ 393054 h 510076"/>
              <a:gd name="connsiteX140" fmla="*/ 219887 w 401364"/>
              <a:gd name="connsiteY140" fmla="*/ 397198 h 510076"/>
              <a:gd name="connsiteX141" fmla="*/ 45807 w 401364"/>
              <a:gd name="connsiteY141" fmla="*/ 397198 h 510076"/>
              <a:gd name="connsiteX142" fmla="*/ 41664 w 401364"/>
              <a:gd name="connsiteY142" fmla="*/ 393054 h 510076"/>
              <a:gd name="connsiteX143" fmla="*/ 41700 w 401364"/>
              <a:gd name="connsiteY143" fmla="*/ 393018 h 510076"/>
              <a:gd name="connsiteX144" fmla="*/ 45832 w 401364"/>
              <a:gd name="connsiteY144" fmla="*/ 397151 h 510076"/>
              <a:gd name="connsiteX145" fmla="*/ 50117 w 401364"/>
              <a:gd name="connsiteY145" fmla="*/ 393056 h 510076"/>
              <a:gd name="connsiteX146" fmla="*/ 215662 w 401364"/>
              <a:gd name="connsiteY146" fmla="*/ 371703 h 510076"/>
              <a:gd name="connsiteX147" fmla="*/ 223994 w 401364"/>
              <a:gd name="connsiteY147" fmla="*/ 371703 h 510076"/>
              <a:gd name="connsiteX148" fmla="*/ 223994 w 401364"/>
              <a:gd name="connsiteY148" fmla="*/ 393018 h 510076"/>
              <a:gd name="connsiteX149" fmla="*/ 219887 w 401364"/>
              <a:gd name="connsiteY149" fmla="*/ 388910 h 510076"/>
              <a:gd name="connsiteX150" fmla="*/ 215662 w 401364"/>
              <a:gd name="connsiteY150" fmla="*/ 388910 h 510076"/>
              <a:gd name="connsiteX151" fmla="*/ 218918 w 401364"/>
              <a:gd name="connsiteY151" fmla="*/ 363419 h 510076"/>
              <a:gd name="connsiteX152" fmla="*/ 221261 w 401364"/>
              <a:gd name="connsiteY152" fmla="*/ 363419 h 510076"/>
              <a:gd name="connsiteX153" fmla="*/ 223994 w 401364"/>
              <a:gd name="connsiteY153" fmla="*/ 366153 h 510076"/>
              <a:gd name="connsiteX154" fmla="*/ 223994 w 401364"/>
              <a:gd name="connsiteY154" fmla="*/ 369369 h 510076"/>
              <a:gd name="connsiteX155" fmla="*/ 223062 w 401364"/>
              <a:gd name="connsiteY155" fmla="*/ 370301 h 510076"/>
              <a:gd name="connsiteX156" fmla="*/ 218918 w 401364"/>
              <a:gd name="connsiteY156" fmla="*/ 366158 h 510076"/>
              <a:gd name="connsiteX157" fmla="*/ 218918 w 401364"/>
              <a:gd name="connsiteY157" fmla="*/ 362934 h 510076"/>
              <a:gd name="connsiteX158" fmla="*/ 218918 w 401364"/>
              <a:gd name="connsiteY158" fmla="*/ 363419 h 510076"/>
              <a:gd name="connsiteX159" fmla="*/ 218428 w 401364"/>
              <a:gd name="connsiteY159" fmla="*/ 363419 h 510076"/>
              <a:gd name="connsiteX160" fmla="*/ 380456 w 401364"/>
              <a:gd name="connsiteY160" fmla="*/ 350917 h 510076"/>
              <a:gd name="connsiteX161" fmla="*/ 384599 w 401364"/>
              <a:gd name="connsiteY161" fmla="*/ 355108 h 510076"/>
              <a:gd name="connsiteX162" fmla="*/ 384599 w 401364"/>
              <a:gd name="connsiteY162" fmla="*/ 363419 h 510076"/>
              <a:gd name="connsiteX163" fmla="*/ 376265 w 401364"/>
              <a:gd name="connsiteY163" fmla="*/ 363419 h 510076"/>
              <a:gd name="connsiteX164" fmla="*/ 376265 w 401364"/>
              <a:gd name="connsiteY164" fmla="*/ 355108 h 510076"/>
              <a:gd name="connsiteX165" fmla="*/ 380456 w 401364"/>
              <a:gd name="connsiteY165" fmla="*/ 350917 h 510076"/>
              <a:gd name="connsiteX166" fmla="*/ 360788 w 401364"/>
              <a:gd name="connsiteY166" fmla="*/ 350917 h 510076"/>
              <a:gd name="connsiteX167" fmla="*/ 364931 w 401364"/>
              <a:gd name="connsiteY167" fmla="*/ 355108 h 510076"/>
              <a:gd name="connsiteX168" fmla="*/ 364931 w 401364"/>
              <a:gd name="connsiteY168" fmla="*/ 363419 h 510076"/>
              <a:gd name="connsiteX169" fmla="*/ 356644 w 401364"/>
              <a:gd name="connsiteY169" fmla="*/ 363419 h 510076"/>
              <a:gd name="connsiteX170" fmla="*/ 356644 w 401364"/>
              <a:gd name="connsiteY170" fmla="*/ 355108 h 510076"/>
              <a:gd name="connsiteX171" fmla="*/ 360788 w 401364"/>
              <a:gd name="connsiteY171" fmla="*/ 350917 h 510076"/>
              <a:gd name="connsiteX172" fmla="*/ 341072 w 401364"/>
              <a:gd name="connsiteY172" fmla="*/ 350917 h 510076"/>
              <a:gd name="connsiteX173" fmla="*/ 345263 w 401364"/>
              <a:gd name="connsiteY173" fmla="*/ 355108 h 510076"/>
              <a:gd name="connsiteX174" fmla="*/ 345263 w 401364"/>
              <a:gd name="connsiteY174" fmla="*/ 363419 h 510076"/>
              <a:gd name="connsiteX175" fmla="*/ 336928 w 401364"/>
              <a:gd name="connsiteY175" fmla="*/ 363419 h 510076"/>
              <a:gd name="connsiteX176" fmla="*/ 336928 w 401364"/>
              <a:gd name="connsiteY176" fmla="*/ 355108 h 510076"/>
              <a:gd name="connsiteX177" fmla="*/ 341072 w 401364"/>
              <a:gd name="connsiteY177" fmla="*/ 350917 h 510076"/>
              <a:gd name="connsiteX178" fmla="*/ 321403 w 401364"/>
              <a:gd name="connsiteY178" fmla="*/ 350917 h 510076"/>
              <a:gd name="connsiteX179" fmla="*/ 325594 w 401364"/>
              <a:gd name="connsiteY179" fmla="*/ 355108 h 510076"/>
              <a:gd name="connsiteX180" fmla="*/ 325594 w 401364"/>
              <a:gd name="connsiteY180" fmla="*/ 363419 h 510076"/>
              <a:gd name="connsiteX181" fmla="*/ 317260 w 401364"/>
              <a:gd name="connsiteY181" fmla="*/ 363419 h 510076"/>
              <a:gd name="connsiteX182" fmla="*/ 317260 w 401364"/>
              <a:gd name="connsiteY182" fmla="*/ 355108 h 510076"/>
              <a:gd name="connsiteX183" fmla="*/ 321403 w 401364"/>
              <a:gd name="connsiteY183" fmla="*/ 350917 h 510076"/>
              <a:gd name="connsiteX184" fmla="*/ 301735 w 401364"/>
              <a:gd name="connsiteY184" fmla="*/ 350917 h 510076"/>
              <a:gd name="connsiteX185" fmla="*/ 305878 w 401364"/>
              <a:gd name="connsiteY185" fmla="*/ 355108 h 510076"/>
              <a:gd name="connsiteX186" fmla="*/ 305878 w 401364"/>
              <a:gd name="connsiteY186" fmla="*/ 363419 h 510076"/>
              <a:gd name="connsiteX187" fmla="*/ 297592 w 401364"/>
              <a:gd name="connsiteY187" fmla="*/ 363419 h 510076"/>
              <a:gd name="connsiteX188" fmla="*/ 297592 w 401364"/>
              <a:gd name="connsiteY188" fmla="*/ 355108 h 510076"/>
              <a:gd name="connsiteX189" fmla="*/ 301735 w 401364"/>
              <a:gd name="connsiteY189" fmla="*/ 350917 h 510076"/>
              <a:gd name="connsiteX190" fmla="*/ 282162 w 401364"/>
              <a:gd name="connsiteY190" fmla="*/ 350917 h 510076"/>
              <a:gd name="connsiteX191" fmla="*/ 286305 w 401364"/>
              <a:gd name="connsiteY191" fmla="*/ 355108 h 510076"/>
              <a:gd name="connsiteX192" fmla="*/ 286305 w 401364"/>
              <a:gd name="connsiteY192" fmla="*/ 363419 h 510076"/>
              <a:gd name="connsiteX193" fmla="*/ 278019 w 401364"/>
              <a:gd name="connsiteY193" fmla="*/ 363419 h 510076"/>
              <a:gd name="connsiteX194" fmla="*/ 278019 w 401364"/>
              <a:gd name="connsiteY194" fmla="*/ 355108 h 510076"/>
              <a:gd name="connsiteX195" fmla="*/ 282162 w 401364"/>
              <a:gd name="connsiteY195" fmla="*/ 350917 h 510076"/>
              <a:gd name="connsiteX196" fmla="*/ 262398 w 401364"/>
              <a:gd name="connsiteY196" fmla="*/ 350917 h 510076"/>
              <a:gd name="connsiteX197" fmla="*/ 266589 w 401364"/>
              <a:gd name="connsiteY197" fmla="*/ 355108 h 510076"/>
              <a:gd name="connsiteX198" fmla="*/ 266589 w 401364"/>
              <a:gd name="connsiteY198" fmla="*/ 363419 h 510076"/>
              <a:gd name="connsiteX199" fmla="*/ 258255 w 401364"/>
              <a:gd name="connsiteY199" fmla="*/ 363419 h 510076"/>
              <a:gd name="connsiteX200" fmla="*/ 258255 w 401364"/>
              <a:gd name="connsiteY200" fmla="*/ 355108 h 510076"/>
              <a:gd name="connsiteX201" fmla="*/ 262398 w 401364"/>
              <a:gd name="connsiteY201" fmla="*/ 350917 h 510076"/>
              <a:gd name="connsiteX202" fmla="*/ 242730 w 401364"/>
              <a:gd name="connsiteY202" fmla="*/ 350917 h 510076"/>
              <a:gd name="connsiteX203" fmla="*/ 246873 w 401364"/>
              <a:gd name="connsiteY203" fmla="*/ 355108 h 510076"/>
              <a:gd name="connsiteX204" fmla="*/ 246873 w 401364"/>
              <a:gd name="connsiteY204" fmla="*/ 363419 h 510076"/>
              <a:gd name="connsiteX205" fmla="*/ 238587 w 401364"/>
              <a:gd name="connsiteY205" fmla="*/ 363419 h 510076"/>
              <a:gd name="connsiteX206" fmla="*/ 238587 w 401364"/>
              <a:gd name="connsiteY206" fmla="*/ 355108 h 510076"/>
              <a:gd name="connsiteX207" fmla="*/ 242730 w 401364"/>
              <a:gd name="connsiteY207" fmla="*/ 350917 h 510076"/>
              <a:gd name="connsiteX208" fmla="*/ 223062 w 401364"/>
              <a:gd name="connsiteY208" fmla="*/ 350917 h 510076"/>
              <a:gd name="connsiteX209" fmla="*/ 227205 w 401364"/>
              <a:gd name="connsiteY209" fmla="*/ 355108 h 510076"/>
              <a:gd name="connsiteX210" fmla="*/ 227205 w 401364"/>
              <a:gd name="connsiteY210" fmla="*/ 363419 h 510076"/>
              <a:gd name="connsiteX211" fmla="*/ 221261 w 401364"/>
              <a:gd name="connsiteY211" fmla="*/ 363419 h 510076"/>
              <a:gd name="connsiteX212" fmla="*/ 219852 w 401364"/>
              <a:gd name="connsiteY212" fmla="*/ 362010 h 510076"/>
              <a:gd name="connsiteX213" fmla="*/ 218918 w 401364"/>
              <a:gd name="connsiteY213" fmla="*/ 362934 h 510076"/>
              <a:gd name="connsiteX214" fmla="*/ 218918 w 401364"/>
              <a:gd name="connsiteY214" fmla="*/ 355108 h 510076"/>
              <a:gd name="connsiteX215" fmla="*/ 223062 w 401364"/>
              <a:gd name="connsiteY215" fmla="*/ 350917 h 510076"/>
              <a:gd name="connsiteX216" fmla="*/ 203393 w 401364"/>
              <a:gd name="connsiteY216" fmla="*/ 350917 h 510076"/>
              <a:gd name="connsiteX217" fmla="*/ 207536 w 401364"/>
              <a:gd name="connsiteY217" fmla="*/ 355108 h 510076"/>
              <a:gd name="connsiteX218" fmla="*/ 207536 w 401364"/>
              <a:gd name="connsiteY218" fmla="*/ 363419 h 510076"/>
              <a:gd name="connsiteX219" fmla="*/ 199202 w 401364"/>
              <a:gd name="connsiteY219" fmla="*/ 363419 h 510076"/>
              <a:gd name="connsiteX220" fmla="*/ 199202 w 401364"/>
              <a:gd name="connsiteY220" fmla="*/ 355108 h 510076"/>
              <a:gd name="connsiteX221" fmla="*/ 203393 w 401364"/>
              <a:gd name="connsiteY221" fmla="*/ 350917 h 510076"/>
              <a:gd name="connsiteX222" fmla="*/ 183725 w 401364"/>
              <a:gd name="connsiteY222" fmla="*/ 350917 h 510076"/>
              <a:gd name="connsiteX223" fmla="*/ 187868 w 401364"/>
              <a:gd name="connsiteY223" fmla="*/ 355108 h 510076"/>
              <a:gd name="connsiteX224" fmla="*/ 187868 w 401364"/>
              <a:gd name="connsiteY224" fmla="*/ 363419 h 510076"/>
              <a:gd name="connsiteX225" fmla="*/ 179534 w 401364"/>
              <a:gd name="connsiteY225" fmla="*/ 363419 h 510076"/>
              <a:gd name="connsiteX226" fmla="*/ 179534 w 401364"/>
              <a:gd name="connsiteY226" fmla="*/ 355108 h 510076"/>
              <a:gd name="connsiteX227" fmla="*/ 183725 w 401364"/>
              <a:gd name="connsiteY227" fmla="*/ 350917 h 510076"/>
              <a:gd name="connsiteX228" fmla="*/ 164057 w 401364"/>
              <a:gd name="connsiteY228" fmla="*/ 350917 h 510076"/>
              <a:gd name="connsiteX229" fmla="*/ 168200 w 401364"/>
              <a:gd name="connsiteY229" fmla="*/ 355108 h 510076"/>
              <a:gd name="connsiteX230" fmla="*/ 168200 w 401364"/>
              <a:gd name="connsiteY230" fmla="*/ 363419 h 510076"/>
              <a:gd name="connsiteX231" fmla="*/ 159913 w 401364"/>
              <a:gd name="connsiteY231" fmla="*/ 363419 h 510076"/>
              <a:gd name="connsiteX232" fmla="*/ 159913 w 401364"/>
              <a:gd name="connsiteY232" fmla="*/ 355108 h 510076"/>
              <a:gd name="connsiteX233" fmla="*/ 164057 w 401364"/>
              <a:gd name="connsiteY233" fmla="*/ 350917 h 510076"/>
              <a:gd name="connsiteX234" fmla="*/ 144341 w 401364"/>
              <a:gd name="connsiteY234" fmla="*/ 350917 h 510076"/>
              <a:gd name="connsiteX235" fmla="*/ 148531 w 401364"/>
              <a:gd name="connsiteY235" fmla="*/ 355108 h 510076"/>
              <a:gd name="connsiteX236" fmla="*/ 148531 w 401364"/>
              <a:gd name="connsiteY236" fmla="*/ 363419 h 510076"/>
              <a:gd name="connsiteX237" fmla="*/ 140197 w 401364"/>
              <a:gd name="connsiteY237" fmla="*/ 363419 h 510076"/>
              <a:gd name="connsiteX238" fmla="*/ 140197 w 401364"/>
              <a:gd name="connsiteY238" fmla="*/ 355108 h 510076"/>
              <a:gd name="connsiteX239" fmla="*/ 144341 w 401364"/>
              <a:gd name="connsiteY239" fmla="*/ 350917 h 510076"/>
              <a:gd name="connsiteX240" fmla="*/ 69477 w 401364"/>
              <a:gd name="connsiteY240" fmla="*/ 342820 h 510076"/>
              <a:gd name="connsiteX241" fmla="*/ 97146 w 401364"/>
              <a:gd name="connsiteY241" fmla="*/ 342820 h 510076"/>
              <a:gd name="connsiteX242" fmla="*/ 101337 w 401364"/>
              <a:gd name="connsiteY242" fmla="*/ 346964 h 510076"/>
              <a:gd name="connsiteX243" fmla="*/ 97146 w 401364"/>
              <a:gd name="connsiteY243" fmla="*/ 351107 h 510076"/>
              <a:gd name="connsiteX244" fmla="*/ 69477 w 401364"/>
              <a:gd name="connsiteY244" fmla="*/ 351107 h 510076"/>
              <a:gd name="connsiteX245" fmla="*/ 65334 w 401364"/>
              <a:gd name="connsiteY245" fmla="*/ 346964 h 510076"/>
              <a:gd name="connsiteX246" fmla="*/ 69477 w 401364"/>
              <a:gd name="connsiteY246" fmla="*/ 342820 h 510076"/>
              <a:gd name="connsiteX247" fmla="*/ 69477 w 401364"/>
              <a:gd name="connsiteY247" fmla="*/ 302670 h 510076"/>
              <a:gd name="connsiteX248" fmla="*/ 97146 w 401364"/>
              <a:gd name="connsiteY248" fmla="*/ 302670 h 510076"/>
              <a:gd name="connsiteX249" fmla="*/ 101337 w 401364"/>
              <a:gd name="connsiteY249" fmla="*/ 306861 h 510076"/>
              <a:gd name="connsiteX250" fmla="*/ 97146 w 401364"/>
              <a:gd name="connsiteY250" fmla="*/ 311005 h 510076"/>
              <a:gd name="connsiteX251" fmla="*/ 69477 w 401364"/>
              <a:gd name="connsiteY251" fmla="*/ 311005 h 510076"/>
              <a:gd name="connsiteX252" fmla="*/ 65334 w 401364"/>
              <a:gd name="connsiteY252" fmla="*/ 306861 h 510076"/>
              <a:gd name="connsiteX253" fmla="*/ 69477 w 401364"/>
              <a:gd name="connsiteY253" fmla="*/ 302670 h 510076"/>
              <a:gd name="connsiteX254" fmla="*/ 164485 w 401364"/>
              <a:gd name="connsiteY254" fmla="*/ 295145 h 510076"/>
              <a:gd name="connsiteX255" fmla="*/ 164485 w 401364"/>
              <a:gd name="connsiteY255" fmla="*/ 307433 h 510076"/>
              <a:gd name="connsiteX256" fmla="*/ 275780 w 401364"/>
              <a:gd name="connsiteY256" fmla="*/ 307433 h 510076"/>
              <a:gd name="connsiteX257" fmla="*/ 275780 w 401364"/>
              <a:gd name="connsiteY257" fmla="*/ 295145 h 510076"/>
              <a:gd name="connsiteX258" fmla="*/ 160294 w 401364"/>
              <a:gd name="connsiteY258" fmla="*/ 286810 h 510076"/>
              <a:gd name="connsiteX259" fmla="*/ 279924 w 401364"/>
              <a:gd name="connsiteY259" fmla="*/ 286810 h 510076"/>
              <a:gd name="connsiteX260" fmla="*/ 284114 w 401364"/>
              <a:gd name="connsiteY260" fmla="*/ 290954 h 510076"/>
              <a:gd name="connsiteX261" fmla="*/ 284114 w 401364"/>
              <a:gd name="connsiteY261" fmla="*/ 311576 h 510076"/>
              <a:gd name="connsiteX262" fmla="*/ 279924 w 401364"/>
              <a:gd name="connsiteY262" fmla="*/ 315720 h 510076"/>
              <a:gd name="connsiteX263" fmla="*/ 160294 w 401364"/>
              <a:gd name="connsiteY263" fmla="*/ 315720 h 510076"/>
              <a:gd name="connsiteX264" fmla="*/ 156151 w 401364"/>
              <a:gd name="connsiteY264" fmla="*/ 311576 h 510076"/>
              <a:gd name="connsiteX265" fmla="*/ 156151 w 401364"/>
              <a:gd name="connsiteY265" fmla="*/ 290954 h 510076"/>
              <a:gd name="connsiteX266" fmla="*/ 160294 w 401364"/>
              <a:gd name="connsiteY266" fmla="*/ 286810 h 510076"/>
              <a:gd name="connsiteX267" fmla="*/ 346215 w 401364"/>
              <a:gd name="connsiteY267" fmla="*/ 283238 h 510076"/>
              <a:gd name="connsiteX268" fmla="*/ 348882 w 401364"/>
              <a:gd name="connsiteY268" fmla="*/ 288525 h 510076"/>
              <a:gd name="connsiteX269" fmla="*/ 338548 w 401364"/>
              <a:gd name="connsiteY269" fmla="*/ 320483 h 510076"/>
              <a:gd name="connsiteX270" fmla="*/ 334785 w 401364"/>
              <a:gd name="connsiteY270" fmla="*/ 323245 h 510076"/>
              <a:gd name="connsiteX271" fmla="*/ 334595 w 401364"/>
              <a:gd name="connsiteY271" fmla="*/ 323340 h 510076"/>
              <a:gd name="connsiteX272" fmla="*/ 330785 w 401364"/>
              <a:gd name="connsiteY272" fmla="*/ 320864 h 510076"/>
              <a:gd name="connsiteX273" fmla="*/ 320451 w 401364"/>
              <a:gd name="connsiteY273" fmla="*/ 297431 h 510076"/>
              <a:gd name="connsiteX274" fmla="*/ 322546 w 401364"/>
              <a:gd name="connsiteY274" fmla="*/ 291954 h 510076"/>
              <a:gd name="connsiteX275" fmla="*/ 328023 w 401364"/>
              <a:gd name="connsiteY275" fmla="*/ 294049 h 510076"/>
              <a:gd name="connsiteX276" fmla="*/ 333976 w 401364"/>
              <a:gd name="connsiteY276" fmla="*/ 307528 h 510076"/>
              <a:gd name="connsiteX277" fmla="*/ 340929 w 401364"/>
              <a:gd name="connsiteY277" fmla="*/ 285953 h 510076"/>
              <a:gd name="connsiteX278" fmla="*/ 346215 w 401364"/>
              <a:gd name="connsiteY278" fmla="*/ 283238 h 510076"/>
              <a:gd name="connsiteX279" fmla="*/ 334619 w 401364"/>
              <a:gd name="connsiteY279" fmla="*/ 276224 h 510076"/>
              <a:gd name="connsiteX280" fmla="*/ 309756 w 401364"/>
              <a:gd name="connsiteY280" fmla="*/ 292844 h 510076"/>
              <a:gd name="connsiteX281" fmla="*/ 315567 w 401364"/>
              <a:gd name="connsiteY281" fmla="*/ 322181 h 510076"/>
              <a:gd name="connsiteX282" fmla="*/ 344908 w 401364"/>
              <a:gd name="connsiteY282" fmla="*/ 328039 h 510076"/>
              <a:gd name="connsiteX283" fmla="*/ 361531 w 401364"/>
              <a:gd name="connsiteY283" fmla="*/ 303131 h 510076"/>
              <a:gd name="connsiteX284" fmla="*/ 334619 w 401364"/>
              <a:gd name="connsiteY284" fmla="*/ 276224 h 510076"/>
              <a:gd name="connsiteX285" fmla="*/ 327725 w 401364"/>
              <a:gd name="connsiteY285" fmla="*/ 268610 h 510076"/>
              <a:gd name="connsiteX286" fmla="*/ 348099 w 401364"/>
              <a:gd name="connsiteY286" fmla="*/ 270604 h 510076"/>
              <a:gd name="connsiteX287" fmla="*/ 369819 w 401364"/>
              <a:gd name="connsiteY287" fmla="*/ 303131 h 510076"/>
              <a:gd name="connsiteX288" fmla="*/ 334619 w 401364"/>
              <a:gd name="connsiteY288" fmla="*/ 338373 h 510076"/>
              <a:gd name="connsiteX289" fmla="*/ 302039 w 401364"/>
              <a:gd name="connsiteY289" fmla="*/ 316657 h 510076"/>
              <a:gd name="connsiteX290" fmla="*/ 309708 w 401364"/>
              <a:gd name="connsiteY290" fmla="*/ 278224 h 510076"/>
              <a:gd name="connsiteX291" fmla="*/ 327725 w 401364"/>
              <a:gd name="connsiteY291" fmla="*/ 268610 h 510076"/>
              <a:gd name="connsiteX292" fmla="*/ 69477 w 401364"/>
              <a:gd name="connsiteY292" fmla="*/ 262567 h 510076"/>
              <a:gd name="connsiteX293" fmla="*/ 97146 w 401364"/>
              <a:gd name="connsiteY293" fmla="*/ 262567 h 510076"/>
              <a:gd name="connsiteX294" fmla="*/ 101337 w 401364"/>
              <a:gd name="connsiteY294" fmla="*/ 266711 h 510076"/>
              <a:gd name="connsiteX295" fmla="*/ 97146 w 401364"/>
              <a:gd name="connsiteY295" fmla="*/ 270855 h 510076"/>
              <a:gd name="connsiteX296" fmla="*/ 69477 w 401364"/>
              <a:gd name="connsiteY296" fmla="*/ 270855 h 510076"/>
              <a:gd name="connsiteX297" fmla="*/ 65334 w 401364"/>
              <a:gd name="connsiteY297" fmla="*/ 266711 h 510076"/>
              <a:gd name="connsiteX298" fmla="*/ 69477 w 401364"/>
              <a:gd name="connsiteY298" fmla="*/ 262567 h 510076"/>
              <a:gd name="connsiteX299" fmla="*/ 69477 w 401364"/>
              <a:gd name="connsiteY299" fmla="*/ 222417 h 510076"/>
              <a:gd name="connsiteX300" fmla="*/ 97146 w 401364"/>
              <a:gd name="connsiteY300" fmla="*/ 222417 h 510076"/>
              <a:gd name="connsiteX301" fmla="*/ 101337 w 401364"/>
              <a:gd name="connsiteY301" fmla="*/ 226561 h 510076"/>
              <a:gd name="connsiteX302" fmla="*/ 97146 w 401364"/>
              <a:gd name="connsiteY302" fmla="*/ 230705 h 510076"/>
              <a:gd name="connsiteX303" fmla="*/ 69477 w 401364"/>
              <a:gd name="connsiteY303" fmla="*/ 230705 h 510076"/>
              <a:gd name="connsiteX304" fmla="*/ 65334 w 401364"/>
              <a:gd name="connsiteY304" fmla="*/ 226561 h 510076"/>
              <a:gd name="connsiteX305" fmla="*/ 69477 w 401364"/>
              <a:gd name="connsiteY305" fmla="*/ 222417 h 510076"/>
              <a:gd name="connsiteX306" fmla="*/ 164199 w 401364"/>
              <a:gd name="connsiteY306" fmla="*/ 209463 h 510076"/>
              <a:gd name="connsiteX307" fmla="*/ 164199 w 401364"/>
              <a:gd name="connsiteY307" fmla="*/ 221798 h 510076"/>
              <a:gd name="connsiteX308" fmla="*/ 275495 w 401364"/>
              <a:gd name="connsiteY308" fmla="*/ 221798 h 510076"/>
              <a:gd name="connsiteX309" fmla="*/ 275495 w 401364"/>
              <a:gd name="connsiteY309" fmla="*/ 209463 h 510076"/>
              <a:gd name="connsiteX310" fmla="*/ 160056 w 401364"/>
              <a:gd name="connsiteY310" fmla="*/ 201175 h 510076"/>
              <a:gd name="connsiteX311" fmla="*/ 279686 w 401364"/>
              <a:gd name="connsiteY311" fmla="*/ 201175 h 510076"/>
              <a:gd name="connsiteX312" fmla="*/ 283829 w 401364"/>
              <a:gd name="connsiteY312" fmla="*/ 205319 h 510076"/>
              <a:gd name="connsiteX313" fmla="*/ 283829 w 401364"/>
              <a:gd name="connsiteY313" fmla="*/ 225942 h 510076"/>
              <a:gd name="connsiteX314" fmla="*/ 279686 w 401364"/>
              <a:gd name="connsiteY314" fmla="*/ 230085 h 510076"/>
              <a:gd name="connsiteX315" fmla="*/ 160056 w 401364"/>
              <a:gd name="connsiteY315" fmla="*/ 230085 h 510076"/>
              <a:gd name="connsiteX316" fmla="*/ 155913 w 401364"/>
              <a:gd name="connsiteY316" fmla="*/ 225942 h 510076"/>
              <a:gd name="connsiteX317" fmla="*/ 155913 w 401364"/>
              <a:gd name="connsiteY317" fmla="*/ 205319 h 510076"/>
              <a:gd name="connsiteX318" fmla="*/ 160056 w 401364"/>
              <a:gd name="connsiteY318" fmla="*/ 201175 h 510076"/>
              <a:gd name="connsiteX319" fmla="*/ 346242 w 401364"/>
              <a:gd name="connsiteY319" fmla="*/ 195643 h 510076"/>
              <a:gd name="connsiteX320" fmla="*/ 348909 w 401364"/>
              <a:gd name="connsiteY320" fmla="*/ 200882 h 510076"/>
              <a:gd name="connsiteX321" fmla="*/ 338573 w 401364"/>
              <a:gd name="connsiteY321" fmla="*/ 232838 h 510076"/>
              <a:gd name="connsiteX322" fmla="*/ 334810 w 401364"/>
              <a:gd name="connsiteY322" fmla="*/ 235600 h 510076"/>
              <a:gd name="connsiteX323" fmla="*/ 334619 w 401364"/>
              <a:gd name="connsiteY323" fmla="*/ 235743 h 510076"/>
              <a:gd name="connsiteX324" fmla="*/ 330809 w 401364"/>
              <a:gd name="connsiteY324" fmla="*/ 233219 h 510076"/>
              <a:gd name="connsiteX325" fmla="*/ 320473 w 401364"/>
              <a:gd name="connsiteY325" fmla="*/ 209788 h 510076"/>
              <a:gd name="connsiteX326" fmla="*/ 322569 w 401364"/>
              <a:gd name="connsiteY326" fmla="*/ 204311 h 510076"/>
              <a:gd name="connsiteX327" fmla="*/ 328046 w 401364"/>
              <a:gd name="connsiteY327" fmla="*/ 206407 h 510076"/>
              <a:gd name="connsiteX328" fmla="*/ 334000 w 401364"/>
              <a:gd name="connsiteY328" fmla="*/ 219884 h 510076"/>
              <a:gd name="connsiteX329" fmla="*/ 340954 w 401364"/>
              <a:gd name="connsiteY329" fmla="*/ 198310 h 510076"/>
              <a:gd name="connsiteX330" fmla="*/ 346242 w 401364"/>
              <a:gd name="connsiteY330" fmla="*/ 195643 h 510076"/>
              <a:gd name="connsiteX331" fmla="*/ 334618 w 401364"/>
              <a:gd name="connsiteY331" fmla="*/ 188752 h 510076"/>
              <a:gd name="connsiteX332" fmla="*/ 309707 w 401364"/>
              <a:gd name="connsiteY332" fmla="*/ 205379 h 510076"/>
              <a:gd name="connsiteX333" fmla="*/ 315566 w 401364"/>
              <a:gd name="connsiteY333" fmla="*/ 234726 h 510076"/>
              <a:gd name="connsiteX334" fmla="*/ 344907 w 401364"/>
              <a:gd name="connsiteY334" fmla="*/ 240539 h 510076"/>
              <a:gd name="connsiteX335" fmla="*/ 361530 w 401364"/>
              <a:gd name="connsiteY335" fmla="*/ 215622 h 510076"/>
              <a:gd name="connsiteX336" fmla="*/ 334618 w 401364"/>
              <a:gd name="connsiteY336" fmla="*/ 188752 h 510076"/>
              <a:gd name="connsiteX337" fmla="*/ 69477 w 401364"/>
              <a:gd name="connsiteY337" fmla="*/ 182267 h 510076"/>
              <a:gd name="connsiteX338" fmla="*/ 97146 w 401364"/>
              <a:gd name="connsiteY338" fmla="*/ 182267 h 510076"/>
              <a:gd name="connsiteX339" fmla="*/ 101337 w 401364"/>
              <a:gd name="connsiteY339" fmla="*/ 186411 h 510076"/>
              <a:gd name="connsiteX340" fmla="*/ 97146 w 401364"/>
              <a:gd name="connsiteY340" fmla="*/ 190555 h 510076"/>
              <a:gd name="connsiteX341" fmla="*/ 69477 w 401364"/>
              <a:gd name="connsiteY341" fmla="*/ 190555 h 510076"/>
              <a:gd name="connsiteX342" fmla="*/ 65334 w 401364"/>
              <a:gd name="connsiteY342" fmla="*/ 186411 h 510076"/>
              <a:gd name="connsiteX343" fmla="*/ 69477 w 401364"/>
              <a:gd name="connsiteY343" fmla="*/ 182267 h 510076"/>
              <a:gd name="connsiteX344" fmla="*/ 327724 w 401364"/>
              <a:gd name="connsiteY344" fmla="*/ 181069 h 510076"/>
              <a:gd name="connsiteX345" fmla="*/ 348098 w 401364"/>
              <a:gd name="connsiteY345" fmla="*/ 183082 h 510076"/>
              <a:gd name="connsiteX346" fmla="*/ 369818 w 401364"/>
              <a:gd name="connsiteY346" fmla="*/ 215622 h 510076"/>
              <a:gd name="connsiteX347" fmla="*/ 334618 w 401364"/>
              <a:gd name="connsiteY347" fmla="*/ 250877 h 510076"/>
              <a:gd name="connsiteX348" fmla="*/ 302038 w 401364"/>
              <a:gd name="connsiteY348" fmla="*/ 229105 h 510076"/>
              <a:gd name="connsiteX349" fmla="*/ 309707 w 401364"/>
              <a:gd name="connsiteY349" fmla="*/ 190705 h 510076"/>
              <a:gd name="connsiteX350" fmla="*/ 327724 w 401364"/>
              <a:gd name="connsiteY350" fmla="*/ 181069 h 510076"/>
              <a:gd name="connsiteX351" fmla="*/ 69477 w 401364"/>
              <a:gd name="connsiteY351" fmla="*/ 142117 h 510076"/>
              <a:gd name="connsiteX352" fmla="*/ 97146 w 401364"/>
              <a:gd name="connsiteY352" fmla="*/ 142117 h 510076"/>
              <a:gd name="connsiteX353" fmla="*/ 101337 w 401364"/>
              <a:gd name="connsiteY353" fmla="*/ 146308 h 510076"/>
              <a:gd name="connsiteX354" fmla="*/ 97146 w 401364"/>
              <a:gd name="connsiteY354" fmla="*/ 150452 h 510076"/>
              <a:gd name="connsiteX355" fmla="*/ 69477 w 401364"/>
              <a:gd name="connsiteY355" fmla="*/ 150452 h 510076"/>
              <a:gd name="connsiteX356" fmla="*/ 65334 w 401364"/>
              <a:gd name="connsiteY356" fmla="*/ 146308 h 510076"/>
              <a:gd name="connsiteX357" fmla="*/ 69477 w 401364"/>
              <a:gd name="connsiteY357" fmla="*/ 142117 h 510076"/>
              <a:gd name="connsiteX358" fmla="*/ 163961 w 401364"/>
              <a:gd name="connsiteY358" fmla="*/ 123828 h 510076"/>
              <a:gd name="connsiteX359" fmla="*/ 163961 w 401364"/>
              <a:gd name="connsiteY359" fmla="*/ 136116 h 510076"/>
              <a:gd name="connsiteX360" fmla="*/ 275257 w 401364"/>
              <a:gd name="connsiteY360" fmla="*/ 136116 h 510076"/>
              <a:gd name="connsiteX361" fmla="*/ 275257 w 401364"/>
              <a:gd name="connsiteY361" fmla="*/ 123828 h 510076"/>
              <a:gd name="connsiteX362" fmla="*/ 159818 w 401364"/>
              <a:gd name="connsiteY362" fmla="*/ 115541 h 510076"/>
              <a:gd name="connsiteX363" fmla="*/ 279400 w 401364"/>
              <a:gd name="connsiteY363" fmla="*/ 115541 h 510076"/>
              <a:gd name="connsiteX364" fmla="*/ 283543 w 401364"/>
              <a:gd name="connsiteY364" fmla="*/ 119685 h 510076"/>
              <a:gd name="connsiteX365" fmla="*/ 283543 w 401364"/>
              <a:gd name="connsiteY365" fmla="*/ 140260 h 510076"/>
              <a:gd name="connsiteX366" fmla="*/ 279400 w 401364"/>
              <a:gd name="connsiteY366" fmla="*/ 144451 h 510076"/>
              <a:gd name="connsiteX367" fmla="*/ 159818 w 401364"/>
              <a:gd name="connsiteY367" fmla="*/ 144451 h 510076"/>
              <a:gd name="connsiteX368" fmla="*/ 155675 w 401364"/>
              <a:gd name="connsiteY368" fmla="*/ 140260 h 510076"/>
              <a:gd name="connsiteX369" fmla="*/ 155675 w 401364"/>
              <a:gd name="connsiteY369" fmla="*/ 119685 h 510076"/>
              <a:gd name="connsiteX370" fmla="*/ 159818 w 401364"/>
              <a:gd name="connsiteY370" fmla="*/ 115541 h 510076"/>
              <a:gd name="connsiteX371" fmla="*/ 346241 w 401364"/>
              <a:gd name="connsiteY371" fmla="*/ 108141 h 510076"/>
              <a:gd name="connsiteX372" fmla="*/ 348908 w 401364"/>
              <a:gd name="connsiteY372" fmla="*/ 113382 h 510076"/>
              <a:gd name="connsiteX373" fmla="*/ 338572 w 401364"/>
              <a:gd name="connsiteY373" fmla="*/ 145350 h 510076"/>
              <a:gd name="connsiteX374" fmla="*/ 334809 w 401364"/>
              <a:gd name="connsiteY374" fmla="*/ 148113 h 510076"/>
              <a:gd name="connsiteX375" fmla="*/ 334618 w 401364"/>
              <a:gd name="connsiteY375" fmla="*/ 148208 h 510076"/>
              <a:gd name="connsiteX376" fmla="*/ 330808 w 401364"/>
              <a:gd name="connsiteY376" fmla="*/ 145683 h 510076"/>
              <a:gd name="connsiteX377" fmla="*/ 320472 w 401364"/>
              <a:gd name="connsiteY377" fmla="*/ 122243 h 510076"/>
              <a:gd name="connsiteX378" fmla="*/ 322615 w 401364"/>
              <a:gd name="connsiteY378" fmla="*/ 116764 h 510076"/>
              <a:gd name="connsiteX379" fmla="*/ 328045 w 401364"/>
              <a:gd name="connsiteY379" fmla="*/ 118908 h 510076"/>
              <a:gd name="connsiteX380" fmla="*/ 333999 w 401364"/>
              <a:gd name="connsiteY380" fmla="*/ 132391 h 510076"/>
              <a:gd name="connsiteX381" fmla="*/ 340953 w 401364"/>
              <a:gd name="connsiteY381" fmla="*/ 110809 h 510076"/>
              <a:gd name="connsiteX382" fmla="*/ 346241 w 401364"/>
              <a:gd name="connsiteY382" fmla="*/ 108141 h 510076"/>
              <a:gd name="connsiteX383" fmla="*/ 69477 w 401364"/>
              <a:gd name="connsiteY383" fmla="*/ 102015 h 510076"/>
              <a:gd name="connsiteX384" fmla="*/ 97146 w 401364"/>
              <a:gd name="connsiteY384" fmla="*/ 102015 h 510076"/>
              <a:gd name="connsiteX385" fmla="*/ 101337 w 401364"/>
              <a:gd name="connsiteY385" fmla="*/ 106158 h 510076"/>
              <a:gd name="connsiteX386" fmla="*/ 97146 w 401364"/>
              <a:gd name="connsiteY386" fmla="*/ 110302 h 510076"/>
              <a:gd name="connsiteX387" fmla="*/ 69477 w 401364"/>
              <a:gd name="connsiteY387" fmla="*/ 110302 h 510076"/>
              <a:gd name="connsiteX388" fmla="*/ 65334 w 401364"/>
              <a:gd name="connsiteY388" fmla="*/ 106158 h 510076"/>
              <a:gd name="connsiteX389" fmla="*/ 69477 w 401364"/>
              <a:gd name="connsiteY389" fmla="*/ 102015 h 510076"/>
              <a:gd name="connsiteX390" fmla="*/ 334621 w 401364"/>
              <a:gd name="connsiteY390" fmla="*/ 101073 h 510076"/>
              <a:gd name="connsiteX391" fmla="*/ 309760 w 401364"/>
              <a:gd name="connsiteY391" fmla="*/ 117697 h 510076"/>
              <a:gd name="connsiteX392" fmla="*/ 315570 w 401364"/>
              <a:gd name="connsiteY392" fmla="*/ 147038 h 510076"/>
              <a:gd name="connsiteX393" fmla="*/ 344909 w 401364"/>
              <a:gd name="connsiteY393" fmla="*/ 152849 h 510076"/>
              <a:gd name="connsiteX394" fmla="*/ 361531 w 401364"/>
              <a:gd name="connsiteY394" fmla="*/ 127985 h 510076"/>
              <a:gd name="connsiteX395" fmla="*/ 334621 w 401364"/>
              <a:gd name="connsiteY395" fmla="*/ 101073 h 510076"/>
              <a:gd name="connsiteX396" fmla="*/ 327727 w 401364"/>
              <a:gd name="connsiteY396" fmla="*/ 93422 h 510076"/>
              <a:gd name="connsiteX397" fmla="*/ 348100 w 401364"/>
              <a:gd name="connsiteY397" fmla="*/ 95453 h 510076"/>
              <a:gd name="connsiteX398" fmla="*/ 369818 w 401364"/>
              <a:gd name="connsiteY398" fmla="*/ 127985 h 510076"/>
              <a:gd name="connsiteX399" fmla="*/ 334621 w 401364"/>
              <a:gd name="connsiteY399" fmla="*/ 163232 h 510076"/>
              <a:gd name="connsiteX400" fmla="*/ 302044 w 401364"/>
              <a:gd name="connsiteY400" fmla="*/ 141465 h 510076"/>
              <a:gd name="connsiteX401" fmla="*/ 309712 w 401364"/>
              <a:gd name="connsiteY401" fmla="*/ 103074 h 510076"/>
              <a:gd name="connsiteX402" fmla="*/ 327727 w 401364"/>
              <a:gd name="connsiteY402" fmla="*/ 93422 h 510076"/>
              <a:gd name="connsiteX403" fmla="*/ 167383 w 401364"/>
              <a:gd name="connsiteY403" fmla="*/ 62738 h 510076"/>
              <a:gd name="connsiteX404" fmla="*/ 131088 w 401364"/>
              <a:gd name="connsiteY404" fmla="*/ 99042 h 510076"/>
              <a:gd name="connsiteX405" fmla="*/ 167383 w 401364"/>
              <a:gd name="connsiteY405" fmla="*/ 99042 h 510076"/>
              <a:gd name="connsiteX406" fmla="*/ 69477 w 401364"/>
              <a:gd name="connsiteY406" fmla="*/ 61865 h 510076"/>
              <a:gd name="connsiteX407" fmla="*/ 97146 w 401364"/>
              <a:gd name="connsiteY407" fmla="*/ 61865 h 510076"/>
              <a:gd name="connsiteX408" fmla="*/ 101337 w 401364"/>
              <a:gd name="connsiteY408" fmla="*/ 66008 h 510076"/>
              <a:gd name="connsiteX409" fmla="*/ 97146 w 401364"/>
              <a:gd name="connsiteY409" fmla="*/ 70200 h 510076"/>
              <a:gd name="connsiteX410" fmla="*/ 69477 w 401364"/>
              <a:gd name="connsiteY410" fmla="*/ 70200 h 510076"/>
              <a:gd name="connsiteX411" fmla="*/ 65334 w 401364"/>
              <a:gd name="connsiteY411" fmla="*/ 66008 h 510076"/>
              <a:gd name="connsiteX412" fmla="*/ 69477 w 401364"/>
              <a:gd name="connsiteY412" fmla="*/ 61865 h 510076"/>
              <a:gd name="connsiteX413" fmla="*/ 372170 w 401364"/>
              <a:gd name="connsiteY413" fmla="*/ 56940 h 510076"/>
              <a:gd name="connsiteX414" fmla="*/ 380456 w 401364"/>
              <a:gd name="connsiteY414" fmla="*/ 56940 h 510076"/>
              <a:gd name="connsiteX415" fmla="*/ 380456 w 401364"/>
              <a:gd name="connsiteY415" fmla="*/ 66008 h 510076"/>
              <a:gd name="connsiteX416" fmla="*/ 376313 w 401364"/>
              <a:gd name="connsiteY416" fmla="*/ 70200 h 510076"/>
              <a:gd name="connsiteX417" fmla="*/ 372170 w 401364"/>
              <a:gd name="connsiteY417" fmla="*/ 66008 h 510076"/>
              <a:gd name="connsiteX418" fmla="*/ 352406 w 401364"/>
              <a:gd name="connsiteY418" fmla="*/ 56940 h 510076"/>
              <a:gd name="connsiteX419" fmla="*/ 360740 w 401364"/>
              <a:gd name="connsiteY419" fmla="*/ 56940 h 510076"/>
              <a:gd name="connsiteX420" fmla="*/ 360740 w 401364"/>
              <a:gd name="connsiteY420" fmla="*/ 66008 h 510076"/>
              <a:gd name="connsiteX421" fmla="*/ 356549 w 401364"/>
              <a:gd name="connsiteY421" fmla="*/ 70200 h 510076"/>
              <a:gd name="connsiteX422" fmla="*/ 352406 w 401364"/>
              <a:gd name="connsiteY422" fmla="*/ 66008 h 510076"/>
              <a:gd name="connsiteX423" fmla="*/ 332738 w 401364"/>
              <a:gd name="connsiteY423" fmla="*/ 56940 h 510076"/>
              <a:gd name="connsiteX424" fmla="*/ 341072 w 401364"/>
              <a:gd name="connsiteY424" fmla="*/ 56940 h 510076"/>
              <a:gd name="connsiteX425" fmla="*/ 341072 w 401364"/>
              <a:gd name="connsiteY425" fmla="*/ 66008 h 510076"/>
              <a:gd name="connsiteX426" fmla="*/ 336928 w 401364"/>
              <a:gd name="connsiteY426" fmla="*/ 70200 h 510076"/>
              <a:gd name="connsiteX427" fmla="*/ 332738 w 401364"/>
              <a:gd name="connsiteY427" fmla="*/ 66008 h 510076"/>
              <a:gd name="connsiteX428" fmla="*/ 313069 w 401364"/>
              <a:gd name="connsiteY428" fmla="*/ 56940 h 510076"/>
              <a:gd name="connsiteX429" fmla="*/ 321356 w 401364"/>
              <a:gd name="connsiteY429" fmla="*/ 56940 h 510076"/>
              <a:gd name="connsiteX430" fmla="*/ 321356 w 401364"/>
              <a:gd name="connsiteY430" fmla="*/ 66008 h 510076"/>
              <a:gd name="connsiteX431" fmla="*/ 317213 w 401364"/>
              <a:gd name="connsiteY431" fmla="*/ 70200 h 510076"/>
              <a:gd name="connsiteX432" fmla="*/ 313069 w 401364"/>
              <a:gd name="connsiteY432" fmla="*/ 66008 h 510076"/>
              <a:gd name="connsiteX433" fmla="*/ 293401 w 401364"/>
              <a:gd name="connsiteY433" fmla="*/ 56940 h 510076"/>
              <a:gd name="connsiteX434" fmla="*/ 301687 w 401364"/>
              <a:gd name="connsiteY434" fmla="*/ 56940 h 510076"/>
              <a:gd name="connsiteX435" fmla="*/ 301687 w 401364"/>
              <a:gd name="connsiteY435" fmla="*/ 66008 h 510076"/>
              <a:gd name="connsiteX436" fmla="*/ 297544 w 401364"/>
              <a:gd name="connsiteY436" fmla="*/ 70200 h 510076"/>
              <a:gd name="connsiteX437" fmla="*/ 293401 w 401364"/>
              <a:gd name="connsiteY437" fmla="*/ 66008 h 510076"/>
              <a:gd name="connsiteX438" fmla="*/ 273733 w 401364"/>
              <a:gd name="connsiteY438" fmla="*/ 56940 h 510076"/>
              <a:gd name="connsiteX439" fmla="*/ 282019 w 401364"/>
              <a:gd name="connsiteY439" fmla="*/ 56940 h 510076"/>
              <a:gd name="connsiteX440" fmla="*/ 282019 w 401364"/>
              <a:gd name="connsiteY440" fmla="*/ 66008 h 510076"/>
              <a:gd name="connsiteX441" fmla="*/ 277876 w 401364"/>
              <a:gd name="connsiteY441" fmla="*/ 70200 h 510076"/>
              <a:gd name="connsiteX442" fmla="*/ 273733 w 401364"/>
              <a:gd name="connsiteY442" fmla="*/ 66008 h 510076"/>
              <a:gd name="connsiteX443" fmla="*/ 254064 w 401364"/>
              <a:gd name="connsiteY443" fmla="*/ 56940 h 510076"/>
              <a:gd name="connsiteX444" fmla="*/ 262351 w 401364"/>
              <a:gd name="connsiteY444" fmla="*/ 56940 h 510076"/>
              <a:gd name="connsiteX445" fmla="*/ 262351 w 401364"/>
              <a:gd name="connsiteY445" fmla="*/ 66008 h 510076"/>
              <a:gd name="connsiteX446" fmla="*/ 258207 w 401364"/>
              <a:gd name="connsiteY446" fmla="*/ 70200 h 510076"/>
              <a:gd name="connsiteX447" fmla="*/ 254064 w 401364"/>
              <a:gd name="connsiteY447" fmla="*/ 66008 h 510076"/>
              <a:gd name="connsiteX448" fmla="*/ 234396 w 401364"/>
              <a:gd name="connsiteY448" fmla="*/ 56940 h 510076"/>
              <a:gd name="connsiteX449" fmla="*/ 242682 w 401364"/>
              <a:gd name="connsiteY449" fmla="*/ 56940 h 510076"/>
              <a:gd name="connsiteX450" fmla="*/ 242682 w 401364"/>
              <a:gd name="connsiteY450" fmla="*/ 66008 h 510076"/>
              <a:gd name="connsiteX451" fmla="*/ 238539 w 401364"/>
              <a:gd name="connsiteY451" fmla="*/ 70200 h 510076"/>
              <a:gd name="connsiteX452" fmla="*/ 234396 w 401364"/>
              <a:gd name="connsiteY452" fmla="*/ 66008 h 510076"/>
              <a:gd name="connsiteX453" fmla="*/ 214680 w 401364"/>
              <a:gd name="connsiteY453" fmla="*/ 56940 h 510076"/>
              <a:gd name="connsiteX454" fmla="*/ 223014 w 401364"/>
              <a:gd name="connsiteY454" fmla="*/ 56940 h 510076"/>
              <a:gd name="connsiteX455" fmla="*/ 223014 w 401364"/>
              <a:gd name="connsiteY455" fmla="*/ 66008 h 510076"/>
              <a:gd name="connsiteX456" fmla="*/ 218871 w 401364"/>
              <a:gd name="connsiteY456" fmla="*/ 70200 h 510076"/>
              <a:gd name="connsiteX457" fmla="*/ 214680 w 401364"/>
              <a:gd name="connsiteY457" fmla="*/ 66008 h 510076"/>
              <a:gd name="connsiteX458" fmla="*/ 194916 w 401364"/>
              <a:gd name="connsiteY458" fmla="*/ 56940 h 510076"/>
              <a:gd name="connsiteX459" fmla="*/ 203250 w 401364"/>
              <a:gd name="connsiteY459" fmla="*/ 56940 h 510076"/>
              <a:gd name="connsiteX460" fmla="*/ 203250 w 401364"/>
              <a:gd name="connsiteY460" fmla="*/ 66008 h 510076"/>
              <a:gd name="connsiteX461" fmla="*/ 199060 w 401364"/>
              <a:gd name="connsiteY461" fmla="*/ 70200 h 510076"/>
              <a:gd name="connsiteX462" fmla="*/ 194916 w 401364"/>
              <a:gd name="connsiteY462" fmla="*/ 66008 h 510076"/>
              <a:gd name="connsiteX463" fmla="*/ 218871 w 401364"/>
              <a:gd name="connsiteY463" fmla="*/ 50815 h 510076"/>
              <a:gd name="connsiteX464" fmla="*/ 222407 w 401364"/>
              <a:gd name="connsiteY464" fmla="*/ 54352 h 510076"/>
              <a:gd name="connsiteX465" fmla="*/ 219852 w 401364"/>
              <a:gd name="connsiteY465" fmla="*/ 56937 h 510076"/>
              <a:gd name="connsiteX466" fmla="*/ 216286 w 401364"/>
              <a:gd name="connsiteY466" fmla="*/ 53370 h 510076"/>
              <a:gd name="connsiteX467" fmla="*/ 171024 w 401364"/>
              <a:gd name="connsiteY467" fmla="*/ 49156 h 510076"/>
              <a:gd name="connsiteX468" fmla="*/ 167430 w 401364"/>
              <a:gd name="connsiteY468" fmla="*/ 52750 h 510076"/>
              <a:gd name="connsiteX469" fmla="*/ 167430 w 401364"/>
              <a:gd name="connsiteY469" fmla="*/ 99077 h 510076"/>
              <a:gd name="connsiteX470" fmla="*/ 121100 w 401364"/>
              <a:gd name="connsiteY470" fmla="*/ 99077 h 510076"/>
              <a:gd name="connsiteX471" fmla="*/ 117662 w 401364"/>
              <a:gd name="connsiteY471" fmla="*/ 102515 h 510076"/>
              <a:gd name="connsiteX472" fmla="*/ 118132 w 401364"/>
              <a:gd name="connsiteY472" fmla="*/ 100280 h 510076"/>
              <a:gd name="connsiteX473" fmla="*/ 168622 w 401364"/>
              <a:gd name="connsiteY473" fmla="*/ 49637 h 510076"/>
              <a:gd name="connsiteX474" fmla="*/ 223994 w 401364"/>
              <a:gd name="connsiteY474" fmla="*/ 48608 h 510076"/>
              <a:gd name="connsiteX475" fmla="*/ 397222 w 401364"/>
              <a:gd name="connsiteY475" fmla="*/ 48608 h 510076"/>
              <a:gd name="connsiteX476" fmla="*/ 401364 w 401364"/>
              <a:gd name="connsiteY476" fmla="*/ 52750 h 510076"/>
              <a:gd name="connsiteX477" fmla="*/ 401364 w 401364"/>
              <a:gd name="connsiteY477" fmla="*/ 367561 h 510076"/>
              <a:gd name="connsiteX478" fmla="*/ 397222 w 401364"/>
              <a:gd name="connsiteY478" fmla="*/ 371703 h 510076"/>
              <a:gd name="connsiteX479" fmla="*/ 223994 w 401364"/>
              <a:gd name="connsiteY479" fmla="*/ 371703 h 510076"/>
              <a:gd name="connsiteX480" fmla="*/ 223994 w 401364"/>
              <a:gd name="connsiteY480" fmla="*/ 369369 h 510076"/>
              <a:gd name="connsiteX481" fmla="*/ 227205 w 401364"/>
              <a:gd name="connsiteY481" fmla="*/ 366158 h 510076"/>
              <a:gd name="connsiteX482" fmla="*/ 227205 w 401364"/>
              <a:gd name="connsiteY482" fmla="*/ 363419 h 510076"/>
              <a:gd name="connsiteX483" fmla="*/ 238587 w 401364"/>
              <a:gd name="connsiteY483" fmla="*/ 363419 h 510076"/>
              <a:gd name="connsiteX484" fmla="*/ 238587 w 401364"/>
              <a:gd name="connsiteY484" fmla="*/ 366158 h 510076"/>
              <a:gd name="connsiteX485" fmla="*/ 242730 w 401364"/>
              <a:gd name="connsiteY485" fmla="*/ 370301 h 510076"/>
              <a:gd name="connsiteX486" fmla="*/ 246873 w 401364"/>
              <a:gd name="connsiteY486" fmla="*/ 366158 h 510076"/>
              <a:gd name="connsiteX487" fmla="*/ 246873 w 401364"/>
              <a:gd name="connsiteY487" fmla="*/ 363419 h 510076"/>
              <a:gd name="connsiteX488" fmla="*/ 258255 w 401364"/>
              <a:gd name="connsiteY488" fmla="*/ 363419 h 510076"/>
              <a:gd name="connsiteX489" fmla="*/ 258255 w 401364"/>
              <a:gd name="connsiteY489" fmla="*/ 366158 h 510076"/>
              <a:gd name="connsiteX490" fmla="*/ 262398 w 401364"/>
              <a:gd name="connsiteY490" fmla="*/ 370301 h 510076"/>
              <a:gd name="connsiteX491" fmla="*/ 266589 w 401364"/>
              <a:gd name="connsiteY491" fmla="*/ 366158 h 510076"/>
              <a:gd name="connsiteX492" fmla="*/ 266589 w 401364"/>
              <a:gd name="connsiteY492" fmla="*/ 363419 h 510076"/>
              <a:gd name="connsiteX493" fmla="*/ 278019 w 401364"/>
              <a:gd name="connsiteY493" fmla="*/ 363419 h 510076"/>
              <a:gd name="connsiteX494" fmla="*/ 278019 w 401364"/>
              <a:gd name="connsiteY494" fmla="*/ 366158 h 510076"/>
              <a:gd name="connsiteX495" fmla="*/ 282162 w 401364"/>
              <a:gd name="connsiteY495" fmla="*/ 370301 h 510076"/>
              <a:gd name="connsiteX496" fmla="*/ 286305 w 401364"/>
              <a:gd name="connsiteY496" fmla="*/ 366158 h 510076"/>
              <a:gd name="connsiteX497" fmla="*/ 286305 w 401364"/>
              <a:gd name="connsiteY497" fmla="*/ 363419 h 510076"/>
              <a:gd name="connsiteX498" fmla="*/ 297592 w 401364"/>
              <a:gd name="connsiteY498" fmla="*/ 363419 h 510076"/>
              <a:gd name="connsiteX499" fmla="*/ 297592 w 401364"/>
              <a:gd name="connsiteY499" fmla="*/ 366158 h 510076"/>
              <a:gd name="connsiteX500" fmla="*/ 301735 w 401364"/>
              <a:gd name="connsiteY500" fmla="*/ 370301 h 510076"/>
              <a:gd name="connsiteX501" fmla="*/ 305878 w 401364"/>
              <a:gd name="connsiteY501" fmla="*/ 366158 h 510076"/>
              <a:gd name="connsiteX502" fmla="*/ 305878 w 401364"/>
              <a:gd name="connsiteY502" fmla="*/ 363419 h 510076"/>
              <a:gd name="connsiteX503" fmla="*/ 317260 w 401364"/>
              <a:gd name="connsiteY503" fmla="*/ 363419 h 510076"/>
              <a:gd name="connsiteX504" fmla="*/ 317260 w 401364"/>
              <a:gd name="connsiteY504" fmla="*/ 366158 h 510076"/>
              <a:gd name="connsiteX505" fmla="*/ 321403 w 401364"/>
              <a:gd name="connsiteY505" fmla="*/ 370301 h 510076"/>
              <a:gd name="connsiteX506" fmla="*/ 325594 w 401364"/>
              <a:gd name="connsiteY506" fmla="*/ 366158 h 510076"/>
              <a:gd name="connsiteX507" fmla="*/ 325594 w 401364"/>
              <a:gd name="connsiteY507" fmla="*/ 363419 h 510076"/>
              <a:gd name="connsiteX508" fmla="*/ 336928 w 401364"/>
              <a:gd name="connsiteY508" fmla="*/ 363419 h 510076"/>
              <a:gd name="connsiteX509" fmla="*/ 336928 w 401364"/>
              <a:gd name="connsiteY509" fmla="*/ 366158 h 510076"/>
              <a:gd name="connsiteX510" fmla="*/ 341072 w 401364"/>
              <a:gd name="connsiteY510" fmla="*/ 370301 h 510076"/>
              <a:gd name="connsiteX511" fmla="*/ 345263 w 401364"/>
              <a:gd name="connsiteY511" fmla="*/ 366158 h 510076"/>
              <a:gd name="connsiteX512" fmla="*/ 345263 w 401364"/>
              <a:gd name="connsiteY512" fmla="*/ 363419 h 510076"/>
              <a:gd name="connsiteX513" fmla="*/ 356644 w 401364"/>
              <a:gd name="connsiteY513" fmla="*/ 363419 h 510076"/>
              <a:gd name="connsiteX514" fmla="*/ 356644 w 401364"/>
              <a:gd name="connsiteY514" fmla="*/ 366158 h 510076"/>
              <a:gd name="connsiteX515" fmla="*/ 360788 w 401364"/>
              <a:gd name="connsiteY515" fmla="*/ 370301 h 510076"/>
              <a:gd name="connsiteX516" fmla="*/ 364931 w 401364"/>
              <a:gd name="connsiteY516" fmla="*/ 366158 h 510076"/>
              <a:gd name="connsiteX517" fmla="*/ 364931 w 401364"/>
              <a:gd name="connsiteY517" fmla="*/ 363419 h 510076"/>
              <a:gd name="connsiteX518" fmla="*/ 376265 w 401364"/>
              <a:gd name="connsiteY518" fmla="*/ 363419 h 510076"/>
              <a:gd name="connsiteX519" fmla="*/ 376265 w 401364"/>
              <a:gd name="connsiteY519" fmla="*/ 366158 h 510076"/>
              <a:gd name="connsiteX520" fmla="*/ 380456 w 401364"/>
              <a:gd name="connsiteY520" fmla="*/ 370301 h 510076"/>
              <a:gd name="connsiteX521" fmla="*/ 384599 w 401364"/>
              <a:gd name="connsiteY521" fmla="*/ 366158 h 510076"/>
              <a:gd name="connsiteX522" fmla="*/ 384599 w 401364"/>
              <a:gd name="connsiteY522" fmla="*/ 363419 h 510076"/>
              <a:gd name="connsiteX523" fmla="*/ 393079 w 401364"/>
              <a:gd name="connsiteY523" fmla="*/ 363419 h 510076"/>
              <a:gd name="connsiteX524" fmla="*/ 393079 w 401364"/>
              <a:gd name="connsiteY524" fmla="*/ 56940 h 510076"/>
              <a:gd name="connsiteX525" fmla="*/ 380456 w 401364"/>
              <a:gd name="connsiteY525" fmla="*/ 56940 h 510076"/>
              <a:gd name="connsiteX526" fmla="*/ 380456 w 401364"/>
              <a:gd name="connsiteY526" fmla="*/ 54959 h 510076"/>
              <a:gd name="connsiteX527" fmla="*/ 376313 w 401364"/>
              <a:gd name="connsiteY527" fmla="*/ 50815 h 510076"/>
              <a:gd name="connsiteX528" fmla="*/ 372170 w 401364"/>
              <a:gd name="connsiteY528" fmla="*/ 54959 h 510076"/>
              <a:gd name="connsiteX529" fmla="*/ 372170 w 401364"/>
              <a:gd name="connsiteY529" fmla="*/ 56940 h 510076"/>
              <a:gd name="connsiteX530" fmla="*/ 360740 w 401364"/>
              <a:gd name="connsiteY530" fmla="*/ 56940 h 510076"/>
              <a:gd name="connsiteX531" fmla="*/ 360740 w 401364"/>
              <a:gd name="connsiteY531" fmla="*/ 54959 h 510076"/>
              <a:gd name="connsiteX532" fmla="*/ 356549 w 401364"/>
              <a:gd name="connsiteY532" fmla="*/ 50815 h 510076"/>
              <a:gd name="connsiteX533" fmla="*/ 352406 w 401364"/>
              <a:gd name="connsiteY533" fmla="*/ 54959 h 510076"/>
              <a:gd name="connsiteX534" fmla="*/ 352406 w 401364"/>
              <a:gd name="connsiteY534" fmla="*/ 56940 h 510076"/>
              <a:gd name="connsiteX535" fmla="*/ 341072 w 401364"/>
              <a:gd name="connsiteY535" fmla="*/ 56940 h 510076"/>
              <a:gd name="connsiteX536" fmla="*/ 341072 w 401364"/>
              <a:gd name="connsiteY536" fmla="*/ 54959 h 510076"/>
              <a:gd name="connsiteX537" fmla="*/ 336928 w 401364"/>
              <a:gd name="connsiteY537" fmla="*/ 50815 h 510076"/>
              <a:gd name="connsiteX538" fmla="*/ 332738 w 401364"/>
              <a:gd name="connsiteY538" fmla="*/ 54959 h 510076"/>
              <a:gd name="connsiteX539" fmla="*/ 332738 w 401364"/>
              <a:gd name="connsiteY539" fmla="*/ 56940 h 510076"/>
              <a:gd name="connsiteX540" fmla="*/ 321356 w 401364"/>
              <a:gd name="connsiteY540" fmla="*/ 56940 h 510076"/>
              <a:gd name="connsiteX541" fmla="*/ 321356 w 401364"/>
              <a:gd name="connsiteY541" fmla="*/ 54959 h 510076"/>
              <a:gd name="connsiteX542" fmla="*/ 317213 w 401364"/>
              <a:gd name="connsiteY542" fmla="*/ 50815 h 510076"/>
              <a:gd name="connsiteX543" fmla="*/ 313069 w 401364"/>
              <a:gd name="connsiteY543" fmla="*/ 54959 h 510076"/>
              <a:gd name="connsiteX544" fmla="*/ 313069 w 401364"/>
              <a:gd name="connsiteY544" fmla="*/ 56940 h 510076"/>
              <a:gd name="connsiteX545" fmla="*/ 301687 w 401364"/>
              <a:gd name="connsiteY545" fmla="*/ 56940 h 510076"/>
              <a:gd name="connsiteX546" fmla="*/ 301687 w 401364"/>
              <a:gd name="connsiteY546" fmla="*/ 54959 h 510076"/>
              <a:gd name="connsiteX547" fmla="*/ 297544 w 401364"/>
              <a:gd name="connsiteY547" fmla="*/ 50815 h 510076"/>
              <a:gd name="connsiteX548" fmla="*/ 293401 w 401364"/>
              <a:gd name="connsiteY548" fmla="*/ 54959 h 510076"/>
              <a:gd name="connsiteX549" fmla="*/ 293401 w 401364"/>
              <a:gd name="connsiteY549" fmla="*/ 56940 h 510076"/>
              <a:gd name="connsiteX550" fmla="*/ 282019 w 401364"/>
              <a:gd name="connsiteY550" fmla="*/ 56940 h 510076"/>
              <a:gd name="connsiteX551" fmla="*/ 282019 w 401364"/>
              <a:gd name="connsiteY551" fmla="*/ 54959 h 510076"/>
              <a:gd name="connsiteX552" fmla="*/ 277876 w 401364"/>
              <a:gd name="connsiteY552" fmla="*/ 50815 h 510076"/>
              <a:gd name="connsiteX553" fmla="*/ 273733 w 401364"/>
              <a:gd name="connsiteY553" fmla="*/ 54959 h 510076"/>
              <a:gd name="connsiteX554" fmla="*/ 273733 w 401364"/>
              <a:gd name="connsiteY554" fmla="*/ 56940 h 510076"/>
              <a:gd name="connsiteX555" fmla="*/ 262351 w 401364"/>
              <a:gd name="connsiteY555" fmla="*/ 56940 h 510076"/>
              <a:gd name="connsiteX556" fmla="*/ 262351 w 401364"/>
              <a:gd name="connsiteY556" fmla="*/ 54959 h 510076"/>
              <a:gd name="connsiteX557" fmla="*/ 258207 w 401364"/>
              <a:gd name="connsiteY557" fmla="*/ 50815 h 510076"/>
              <a:gd name="connsiteX558" fmla="*/ 254064 w 401364"/>
              <a:gd name="connsiteY558" fmla="*/ 54959 h 510076"/>
              <a:gd name="connsiteX559" fmla="*/ 254064 w 401364"/>
              <a:gd name="connsiteY559" fmla="*/ 56940 h 510076"/>
              <a:gd name="connsiteX560" fmla="*/ 242682 w 401364"/>
              <a:gd name="connsiteY560" fmla="*/ 56940 h 510076"/>
              <a:gd name="connsiteX561" fmla="*/ 242682 w 401364"/>
              <a:gd name="connsiteY561" fmla="*/ 54959 h 510076"/>
              <a:gd name="connsiteX562" fmla="*/ 238539 w 401364"/>
              <a:gd name="connsiteY562" fmla="*/ 50815 h 510076"/>
              <a:gd name="connsiteX563" fmla="*/ 234396 w 401364"/>
              <a:gd name="connsiteY563" fmla="*/ 54959 h 510076"/>
              <a:gd name="connsiteX564" fmla="*/ 234396 w 401364"/>
              <a:gd name="connsiteY564" fmla="*/ 56940 h 510076"/>
              <a:gd name="connsiteX565" fmla="*/ 223014 w 401364"/>
              <a:gd name="connsiteY565" fmla="*/ 56940 h 510076"/>
              <a:gd name="connsiteX566" fmla="*/ 223014 w 401364"/>
              <a:gd name="connsiteY566" fmla="*/ 54959 h 510076"/>
              <a:gd name="connsiteX567" fmla="*/ 222407 w 401364"/>
              <a:gd name="connsiteY567" fmla="*/ 54352 h 510076"/>
              <a:gd name="connsiteX568" fmla="*/ 223994 w 401364"/>
              <a:gd name="connsiteY568" fmla="*/ 52747 h 510076"/>
              <a:gd name="connsiteX569" fmla="*/ 171572 w 401364"/>
              <a:gd name="connsiteY569" fmla="*/ 48608 h 510076"/>
              <a:gd name="connsiteX570" fmla="*/ 215662 w 401364"/>
              <a:gd name="connsiteY570" fmla="*/ 48608 h 510076"/>
              <a:gd name="connsiteX571" fmla="*/ 215662 w 401364"/>
              <a:gd name="connsiteY571" fmla="*/ 52747 h 510076"/>
              <a:gd name="connsiteX572" fmla="*/ 216286 w 401364"/>
              <a:gd name="connsiteY572" fmla="*/ 53370 h 510076"/>
              <a:gd name="connsiteX573" fmla="*/ 214680 w 401364"/>
              <a:gd name="connsiteY573" fmla="*/ 54959 h 510076"/>
              <a:gd name="connsiteX574" fmla="*/ 214680 w 401364"/>
              <a:gd name="connsiteY574" fmla="*/ 56940 h 510076"/>
              <a:gd name="connsiteX575" fmla="*/ 203250 w 401364"/>
              <a:gd name="connsiteY575" fmla="*/ 56940 h 510076"/>
              <a:gd name="connsiteX576" fmla="*/ 203250 w 401364"/>
              <a:gd name="connsiteY576" fmla="*/ 54959 h 510076"/>
              <a:gd name="connsiteX577" fmla="*/ 199060 w 401364"/>
              <a:gd name="connsiteY577" fmla="*/ 50815 h 510076"/>
              <a:gd name="connsiteX578" fmla="*/ 194916 w 401364"/>
              <a:gd name="connsiteY578" fmla="*/ 54959 h 510076"/>
              <a:gd name="connsiteX579" fmla="*/ 194916 w 401364"/>
              <a:gd name="connsiteY579" fmla="*/ 56940 h 510076"/>
              <a:gd name="connsiteX580" fmla="*/ 175762 w 401364"/>
              <a:gd name="connsiteY580" fmla="*/ 56940 h 510076"/>
              <a:gd name="connsiteX581" fmla="*/ 175762 w 401364"/>
              <a:gd name="connsiteY581" fmla="*/ 103219 h 510076"/>
              <a:gd name="connsiteX582" fmla="*/ 171572 w 401364"/>
              <a:gd name="connsiteY582" fmla="*/ 107409 h 510076"/>
              <a:gd name="connsiteX583" fmla="*/ 125290 w 401364"/>
              <a:gd name="connsiteY583" fmla="*/ 107409 h 510076"/>
              <a:gd name="connsiteX584" fmla="*/ 125290 w 401364"/>
              <a:gd name="connsiteY584" fmla="*/ 363419 h 510076"/>
              <a:gd name="connsiteX585" fmla="*/ 140197 w 401364"/>
              <a:gd name="connsiteY585" fmla="*/ 363419 h 510076"/>
              <a:gd name="connsiteX586" fmla="*/ 140197 w 401364"/>
              <a:gd name="connsiteY586" fmla="*/ 366158 h 510076"/>
              <a:gd name="connsiteX587" fmla="*/ 144341 w 401364"/>
              <a:gd name="connsiteY587" fmla="*/ 370301 h 510076"/>
              <a:gd name="connsiteX588" fmla="*/ 148531 w 401364"/>
              <a:gd name="connsiteY588" fmla="*/ 366158 h 510076"/>
              <a:gd name="connsiteX589" fmla="*/ 148531 w 401364"/>
              <a:gd name="connsiteY589" fmla="*/ 363419 h 510076"/>
              <a:gd name="connsiteX590" fmla="*/ 159913 w 401364"/>
              <a:gd name="connsiteY590" fmla="*/ 363419 h 510076"/>
              <a:gd name="connsiteX591" fmla="*/ 159913 w 401364"/>
              <a:gd name="connsiteY591" fmla="*/ 366158 h 510076"/>
              <a:gd name="connsiteX592" fmla="*/ 164057 w 401364"/>
              <a:gd name="connsiteY592" fmla="*/ 370301 h 510076"/>
              <a:gd name="connsiteX593" fmla="*/ 168200 w 401364"/>
              <a:gd name="connsiteY593" fmla="*/ 366158 h 510076"/>
              <a:gd name="connsiteX594" fmla="*/ 168200 w 401364"/>
              <a:gd name="connsiteY594" fmla="*/ 363419 h 510076"/>
              <a:gd name="connsiteX595" fmla="*/ 179534 w 401364"/>
              <a:gd name="connsiteY595" fmla="*/ 363419 h 510076"/>
              <a:gd name="connsiteX596" fmla="*/ 179534 w 401364"/>
              <a:gd name="connsiteY596" fmla="*/ 366158 h 510076"/>
              <a:gd name="connsiteX597" fmla="*/ 183725 w 401364"/>
              <a:gd name="connsiteY597" fmla="*/ 370301 h 510076"/>
              <a:gd name="connsiteX598" fmla="*/ 187868 w 401364"/>
              <a:gd name="connsiteY598" fmla="*/ 366158 h 510076"/>
              <a:gd name="connsiteX599" fmla="*/ 187868 w 401364"/>
              <a:gd name="connsiteY599" fmla="*/ 363419 h 510076"/>
              <a:gd name="connsiteX600" fmla="*/ 199202 w 401364"/>
              <a:gd name="connsiteY600" fmla="*/ 363419 h 510076"/>
              <a:gd name="connsiteX601" fmla="*/ 199202 w 401364"/>
              <a:gd name="connsiteY601" fmla="*/ 366158 h 510076"/>
              <a:gd name="connsiteX602" fmla="*/ 203393 w 401364"/>
              <a:gd name="connsiteY602" fmla="*/ 370301 h 510076"/>
              <a:gd name="connsiteX603" fmla="*/ 207536 w 401364"/>
              <a:gd name="connsiteY603" fmla="*/ 366158 h 510076"/>
              <a:gd name="connsiteX604" fmla="*/ 207536 w 401364"/>
              <a:gd name="connsiteY604" fmla="*/ 363419 h 510076"/>
              <a:gd name="connsiteX605" fmla="*/ 218428 w 401364"/>
              <a:gd name="connsiteY605" fmla="*/ 363419 h 510076"/>
              <a:gd name="connsiteX606" fmla="*/ 215662 w 401364"/>
              <a:gd name="connsiteY606" fmla="*/ 366153 h 510076"/>
              <a:gd name="connsiteX607" fmla="*/ 215662 w 401364"/>
              <a:gd name="connsiteY607" fmla="*/ 371703 h 510076"/>
              <a:gd name="connsiteX608" fmla="*/ 121100 w 401364"/>
              <a:gd name="connsiteY608" fmla="*/ 371703 h 510076"/>
              <a:gd name="connsiteX609" fmla="*/ 116957 w 401364"/>
              <a:gd name="connsiteY609" fmla="*/ 367561 h 510076"/>
              <a:gd name="connsiteX610" fmla="*/ 116957 w 401364"/>
              <a:gd name="connsiteY610" fmla="*/ 103219 h 510076"/>
              <a:gd name="connsiteX611" fmla="*/ 117662 w 401364"/>
              <a:gd name="connsiteY611" fmla="*/ 102515 h 510076"/>
              <a:gd name="connsiteX612" fmla="*/ 117179 w 401364"/>
              <a:gd name="connsiteY612" fmla="*/ 104806 h 510076"/>
              <a:gd name="connsiteX613" fmla="*/ 121038 w 401364"/>
              <a:gd name="connsiteY613" fmla="*/ 107379 h 510076"/>
              <a:gd name="connsiteX614" fmla="*/ 171527 w 401364"/>
              <a:gd name="connsiteY614" fmla="*/ 107379 h 510076"/>
              <a:gd name="connsiteX615" fmla="*/ 175719 w 401364"/>
              <a:gd name="connsiteY615" fmla="*/ 103186 h 510076"/>
              <a:gd name="connsiteX616" fmla="*/ 175719 w 401364"/>
              <a:gd name="connsiteY616" fmla="*/ 52590 h 510076"/>
              <a:gd name="connsiteX617" fmla="*/ 173147 w 401364"/>
              <a:gd name="connsiteY617" fmla="*/ 48731 h 510076"/>
              <a:gd name="connsiteX618" fmla="*/ 171024 w 401364"/>
              <a:gd name="connsiteY618" fmla="*/ 49156 h 510076"/>
              <a:gd name="connsiteX619" fmla="*/ 196155 w 401364"/>
              <a:gd name="connsiteY619" fmla="*/ 18190 h 510076"/>
              <a:gd name="connsiteX620" fmla="*/ 202012 w 401364"/>
              <a:gd name="connsiteY620" fmla="*/ 18190 h 510076"/>
              <a:gd name="connsiteX621" fmla="*/ 203250 w 401364"/>
              <a:gd name="connsiteY621" fmla="*/ 21143 h 510076"/>
              <a:gd name="connsiteX622" fmla="*/ 202012 w 401364"/>
              <a:gd name="connsiteY622" fmla="*/ 24096 h 510076"/>
              <a:gd name="connsiteX623" fmla="*/ 199060 w 401364"/>
              <a:gd name="connsiteY623" fmla="*/ 25287 h 510076"/>
              <a:gd name="connsiteX624" fmla="*/ 197488 w 401364"/>
              <a:gd name="connsiteY624" fmla="*/ 24953 h 510076"/>
              <a:gd name="connsiteX625" fmla="*/ 196155 w 401364"/>
              <a:gd name="connsiteY625" fmla="*/ 24096 h 510076"/>
              <a:gd name="connsiteX626" fmla="*/ 194916 w 401364"/>
              <a:gd name="connsiteY626" fmla="*/ 21143 h 510076"/>
              <a:gd name="connsiteX627" fmla="*/ 196155 w 401364"/>
              <a:gd name="connsiteY627" fmla="*/ 18190 h 510076"/>
              <a:gd name="connsiteX628" fmla="*/ 64572 w 401364"/>
              <a:gd name="connsiteY628" fmla="*/ 17285 h 510076"/>
              <a:gd name="connsiteX629" fmla="*/ 67763 w 401364"/>
              <a:gd name="connsiteY629" fmla="*/ 17285 h 510076"/>
              <a:gd name="connsiteX630" fmla="*/ 68477 w 401364"/>
              <a:gd name="connsiteY630" fmla="*/ 17666 h 510076"/>
              <a:gd name="connsiteX631" fmla="*/ 69096 w 401364"/>
              <a:gd name="connsiteY631" fmla="*/ 18190 h 510076"/>
              <a:gd name="connsiteX632" fmla="*/ 70287 w 401364"/>
              <a:gd name="connsiteY632" fmla="*/ 21143 h 510076"/>
              <a:gd name="connsiteX633" fmla="*/ 68906 w 401364"/>
              <a:gd name="connsiteY633" fmla="*/ 24096 h 510076"/>
              <a:gd name="connsiteX634" fmla="*/ 67572 w 401364"/>
              <a:gd name="connsiteY634" fmla="*/ 24953 h 510076"/>
              <a:gd name="connsiteX635" fmla="*/ 66143 w 401364"/>
              <a:gd name="connsiteY635" fmla="*/ 25287 h 510076"/>
              <a:gd name="connsiteX636" fmla="*/ 62000 w 401364"/>
              <a:gd name="connsiteY636" fmla="*/ 21143 h 510076"/>
              <a:gd name="connsiteX637" fmla="*/ 62334 w 401364"/>
              <a:gd name="connsiteY637" fmla="*/ 19524 h 510076"/>
              <a:gd name="connsiteX638" fmla="*/ 62715 w 401364"/>
              <a:gd name="connsiteY638" fmla="*/ 18809 h 510076"/>
              <a:gd name="connsiteX639" fmla="*/ 63238 w 401364"/>
              <a:gd name="connsiteY639" fmla="*/ 18190 h 510076"/>
              <a:gd name="connsiteX640" fmla="*/ 63858 w 401364"/>
              <a:gd name="connsiteY640" fmla="*/ 17666 h 510076"/>
              <a:gd name="connsiteX641" fmla="*/ 165866 w 401364"/>
              <a:gd name="connsiteY641" fmla="*/ 17000 h 510076"/>
              <a:gd name="connsiteX642" fmla="*/ 170009 w 401364"/>
              <a:gd name="connsiteY642" fmla="*/ 21143 h 510076"/>
              <a:gd name="connsiteX643" fmla="*/ 165866 w 401364"/>
              <a:gd name="connsiteY643" fmla="*/ 25287 h 510076"/>
              <a:gd name="connsiteX644" fmla="*/ 161675 w 401364"/>
              <a:gd name="connsiteY644" fmla="*/ 21143 h 510076"/>
              <a:gd name="connsiteX645" fmla="*/ 165866 w 401364"/>
              <a:gd name="connsiteY645" fmla="*/ 17000 h 510076"/>
              <a:gd name="connsiteX646" fmla="*/ 132625 w 401364"/>
              <a:gd name="connsiteY646" fmla="*/ 17000 h 510076"/>
              <a:gd name="connsiteX647" fmla="*/ 136769 w 401364"/>
              <a:gd name="connsiteY647" fmla="*/ 21143 h 510076"/>
              <a:gd name="connsiteX648" fmla="*/ 132625 w 401364"/>
              <a:gd name="connsiteY648" fmla="*/ 25287 h 510076"/>
              <a:gd name="connsiteX649" fmla="*/ 128434 w 401364"/>
              <a:gd name="connsiteY649" fmla="*/ 21143 h 510076"/>
              <a:gd name="connsiteX650" fmla="*/ 128482 w 401364"/>
              <a:gd name="connsiteY650" fmla="*/ 21143 h 510076"/>
              <a:gd name="connsiteX651" fmla="*/ 132625 w 401364"/>
              <a:gd name="connsiteY651" fmla="*/ 17000 h 510076"/>
              <a:gd name="connsiteX652" fmla="*/ 99384 w 401364"/>
              <a:gd name="connsiteY652" fmla="*/ 17000 h 510076"/>
              <a:gd name="connsiteX653" fmla="*/ 103528 w 401364"/>
              <a:gd name="connsiteY653" fmla="*/ 21143 h 510076"/>
              <a:gd name="connsiteX654" fmla="*/ 99384 w 401364"/>
              <a:gd name="connsiteY654" fmla="*/ 25287 h 510076"/>
              <a:gd name="connsiteX655" fmla="*/ 95146 w 401364"/>
              <a:gd name="connsiteY655" fmla="*/ 21143 h 510076"/>
              <a:gd name="connsiteX656" fmla="*/ 95241 w 401364"/>
              <a:gd name="connsiteY656" fmla="*/ 21143 h 510076"/>
              <a:gd name="connsiteX657" fmla="*/ 99384 w 401364"/>
              <a:gd name="connsiteY657" fmla="*/ 17000 h 510076"/>
              <a:gd name="connsiteX658" fmla="*/ 25022 w 401364"/>
              <a:gd name="connsiteY658" fmla="*/ 8282 h 510076"/>
              <a:gd name="connsiteX659" fmla="*/ 36790 w 401364"/>
              <a:gd name="connsiteY659" fmla="*/ 13173 h 510076"/>
              <a:gd name="connsiteX660" fmla="*/ 41437 w 401364"/>
              <a:gd name="connsiteY660" fmla="*/ 24423 h 510076"/>
              <a:gd name="connsiteX661" fmla="*/ 36631 w 401364"/>
              <a:gd name="connsiteY661" fmla="*/ 13672 h 510076"/>
              <a:gd name="connsiteX662" fmla="*/ 25073 w 401364"/>
              <a:gd name="connsiteY662" fmla="*/ 9178 h 510076"/>
              <a:gd name="connsiteX663" fmla="*/ 24425 w 401364"/>
              <a:gd name="connsiteY663" fmla="*/ 8530 h 510076"/>
              <a:gd name="connsiteX664" fmla="*/ 27187 w 401364"/>
              <a:gd name="connsiteY664" fmla="*/ 897 h 510076"/>
              <a:gd name="connsiteX665" fmla="*/ 194570 w 401364"/>
              <a:gd name="connsiteY665" fmla="*/ 1226 h 510076"/>
              <a:gd name="connsiteX666" fmla="*/ 223994 w 401364"/>
              <a:gd name="connsiteY666" fmla="*/ 29605 h 510076"/>
              <a:gd name="connsiteX667" fmla="*/ 223994 w 401364"/>
              <a:gd name="connsiteY667" fmla="*/ 48608 h 510076"/>
              <a:gd name="connsiteX668" fmla="*/ 215662 w 401364"/>
              <a:gd name="connsiteY668" fmla="*/ 48608 h 510076"/>
              <a:gd name="connsiteX669" fmla="*/ 215662 w 401364"/>
              <a:gd name="connsiteY669" fmla="*/ 29605 h 510076"/>
              <a:gd name="connsiteX670" fmla="*/ 194570 w 401364"/>
              <a:gd name="connsiteY670" fmla="*/ 9511 h 510076"/>
              <a:gd name="connsiteX671" fmla="*/ 44022 w 401364"/>
              <a:gd name="connsiteY671" fmla="*/ 9226 h 510076"/>
              <a:gd name="connsiteX672" fmla="*/ 50117 w 401364"/>
              <a:gd name="connsiteY672" fmla="*/ 24987 h 510076"/>
              <a:gd name="connsiteX673" fmla="*/ 50117 w 401364"/>
              <a:gd name="connsiteY673" fmla="*/ 388910 h 510076"/>
              <a:gd name="connsiteX674" fmla="*/ 45807 w 401364"/>
              <a:gd name="connsiteY674" fmla="*/ 388910 h 510076"/>
              <a:gd name="connsiteX675" fmla="*/ 41700 w 401364"/>
              <a:gd name="connsiteY675" fmla="*/ 393018 h 510076"/>
              <a:gd name="connsiteX676" fmla="*/ 41689 w 401364"/>
              <a:gd name="connsiteY676" fmla="*/ 393008 h 510076"/>
              <a:gd name="connsiteX677" fmla="*/ 41689 w 401364"/>
              <a:gd name="connsiteY677" fmla="*/ 73210 h 510076"/>
              <a:gd name="connsiteX678" fmla="*/ 45811 w 401364"/>
              <a:gd name="connsiteY678" fmla="*/ 73210 h 510076"/>
              <a:gd name="connsiteX679" fmla="*/ 49997 w 401364"/>
              <a:gd name="connsiteY679" fmla="*/ 69069 h 510076"/>
              <a:gd name="connsiteX680" fmla="*/ 49997 w 401364"/>
              <a:gd name="connsiteY680" fmla="*/ 24991 h 510076"/>
              <a:gd name="connsiteX681" fmla="*/ 42683 w 401364"/>
              <a:gd name="connsiteY681" fmla="*/ 7319 h 510076"/>
              <a:gd name="connsiteX682" fmla="*/ 25022 w 401364"/>
              <a:gd name="connsiteY682" fmla="*/ 0 h 510076"/>
              <a:gd name="connsiteX683" fmla="*/ 27187 w 401364"/>
              <a:gd name="connsiteY683" fmla="*/ 897 h 510076"/>
              <a:gd name="connsiteX684" fmla="*/ 25073 w 401364"/>
              <a:gd name="connsiteY684" fmla="*/ 893 h 510076"/>
              <a:gd name="connsiteX685" fmla="*/ 20931 w 401364"/>
              <a:gd name="connsiteY685" fmla="*/ 5035 h 510076"/>
              <a:gd name="connsiteX686" fmla="*/ 24425 w 401364"/>
              <a:gd name="connsiteY686" fmla="*/ 8530 h 510076"/>
              <a:gd name="connsiteX687" fmla="*/ 13213 w 401364"/>
              <a:gd name="connsiteY687" fmla="*/ 13173 h 510076"/>
              <a:gd name="connsiteX688" fmla="*/ 8325 w 401364"/>
              <a:gd name="connsiteY688" fmla="*/ 24991 h 510076"/>
              <a:gd name="connsiteX689" fmla="*/ 8325 w 401364"/>
              <a:gd name="connsiteY689" fmla="*/ 64880 h 510076"/>
              <a:gd name="connsiteX690" fmla="*/ 41672 w 401364"/>
              <a:gd name="connsiteY690" fmla="*/ 64880 h 510076"/>
              <a:gd name="connsiteX691" fmla="*/ 41672 w 401364"/>
              <a:gd name="connsiteY691" fmla="*/ 24991 h 510076"/>
              <a:gd name="connsiteX692" fmla="*/ 41437 w 401364"/>
              <a:gd name="connsiteY692" fmla="*/ 24423 h 510076"/>
              <a:gd name="connsiteX693" fmla="*/ 41689 w 401364"/>
              <a:gd name="connsiteY693" fmla="*/ 24987 h 510076"/>
              <a:gd name="connsiteX694" fmla="*/ 41689 w 401364"/>
              <a:gd name="connsiteY694" fmla="*/ 73210 h 510076"/>
              <a:gd name="connsiteX695" fmla="*/ 4186 w 401364"/>
              <a:gd name="connsiteY695" fmla="*/ 73210 h 510076"/>
              <a:gd name="connsiteX696" fmla="*/ 0 w 401364"/>
              <a:gd name="connsiteY696" fmla="*/ 69069 h 510076"/>
              <a:gd name="connsiteX697" fmla="*/ 0 w 401364"/>
              <a:gd name="connsiteY697" fmla="*/ 24991 h 510076"/>
              <a:gd name="connsiteX698" fmla="*/ 25022 w 401364"/>
              <a:gd name="connsiteY698" fmla="*/ 0 h 510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Lst>
            <a:rect l="l" t="t" r="r" b="b"/>
            <a:pathLst>
              <a:path w="401364" h="510076">
                <a:moveTo>
                  <a:pt x="207917" y="473415"/>
                </a:moveTo>
                <a:lnTo>
                  <a:pt x="200679" y="494371"/>
                </a:lnTo>
                <a:lnTo>
                  <a:pt x="215299" y="494371"/>
                </a:lnTo>
                <a:close/>
                <a:moveTo>
                  <a:pt x="137864" y="472558"/>
                </a:moveTo>
                <a:lnTo>
                  <a:pt x="137864" y="489370"/>
                </a:lnTo>
                <a:lnTo>
                  <a:pt x="142912" y="489370"/>
                </a:lnTo>
                <a:cubicBezTo>
                  <a:pt x="144341" y="489418"/>
                  <a:pt x="145722" y="489227"/>
                  <a:pt x="147103" y="488751"/>
                </a:cubicBezTo>
                <a:cubicBezTo>
                  <a:pt x="148150" y="488322"/>
                  <a:pt x="149055" y="487703"/>
                  <a:pt x="149865" y="486941"/>
                </a:cubicBezTo>
                <a:cubicBezTo>
                  <a:pt x="150627" y="486131"/>
                  <a:pt x="151246" y="485179"/>
                  <a:pt x="151579" y="484131"/>
                </a:cubicBezTo>
                <a:cubicBezTo>
                  <a:pt x="152008" y="483036"/>
                  <a:pt x="152198" y="481893"/>
                  <a:pt x="152246" y="480702"/>
                </a:cubicBezTo>
                <a:cubicBezTo>
                  <a:pt x="152246" y="479178"/>
                  <a:pt x="151913" y="477701"/>
                  <a:pt x="151246" y="476415"/>
                </a:cubicBezTo>
                <a:cubicBezTo>
                  <a:pt x="150722" y="475368"/>
                  <a:pt x="149913" y="474463"/>
                  <a:pt x="148912" y="473844"/>
                </a:cubicBezTo>
                <a:cubicBezTo>
                  <a:pt x="148008" y="473272"/>
                  <a:pt x="147008" y="472939"/>
                  <a:pt x="145960" y="472748"/>
                </a:cubicBezTo>
                <a:cubicBezTo>
                  <a:pt x="145007" y="472605"/>
                  <a:pt x="144007" y="472558"/>
                  <a:pt x="143007" y="472558"/>
                </a:cubicBezTo>
                <a:close/>
                <a:moveTo>
                  <a:pt x="167866" y="467938"/>
                </a:moveTo>
                <a:cubicBezTo>
                  <a:pt x="168295" y="467890"/>
                  <a:pt x="168771" y="467890"/>
                  <a:pt x="169200" y="467938"/>
                </a:cubicBezTo>
                <a:cubicBezTo>
                  <a:pt x="169628" y="467890"/>
                  <a:pt x="170105" y="467890"/>
                  <a:pt x="170533" y="467938"/>
                </a:cubicBezTo>
                <a:lnTo>
                  <a:pt x="171391" y="468128"/>
                </a:lnTo>
                <a:cubicBezTo>
                  <a:pt x="171581" y="468176"/>
                  <a:pt x="171724" y="468271"/>
                  <a:pt x="171867" y="468414"/>
                </a:cubicBezTo>
                <a:cubicBezTo>
                  <a:pt x="171914" y="468557"/>
                  <a:pt x="171914" y="468747"/>
                  <a:pt x="171867" y="468890"/>
                </a:cubicBezTo>
                <a:lnTo>
                  <a:pt x="171867" y="505182"/>
                </a:lnTo>
                <a:lnTo>
                  <a:pt x="186916" y="505182"/>
                </a:lnTo>
                <a:cubicBezTo>
                  <a:pt x="187059" y="505135"/>
                  <a:pt x="187249" y="505135"/>
                  <a:pt x="187440" y="505182"/>
                </a:cubicBezTo>
                <a:cubicBezTo>
                  <a:pt x="187582" y="505325"/>
                  <a:pt x="187678" y="505468"/>
                  <a:pt x="187773" y="505659"/>
                </a:cubicBezTo>
                <a:cubicBezTo>
                  <a:pt x="187868" y="505849"/>
                  <a:pt x="187963" y="506135"/>
                  <a:pt x="187963" y="506373"/>
                </a:cubicBezTo>
                <a:cubicBezTo>
                  <a:pt x="188154" y="506707"/>
                  <a:pt x="188297" y="507088"/>
                  <a:pt x="188392" y="507516"/>
                </a:cubicBezTo>
                <a:cubicBezTo>
                  <a:pt x="188440" y="507850"/>
                  <a:pt x="188440" y="508231"/>
                  <a:pt x="188392" y="508564"/>
                </a:cubicBezTo>
                <a:cubicBezTo>
                  <a:pt x="188344" y="508850"/>
                  <a:pt x="188297" y="509088"/>
                  <a:pt x="188202" y="509326"/>
                </a:cubicBezTo>
                <a:cubicBezTo>
                  <a:pt x="188106" y="509517"/>
                  <a:pt x="188011" y="509659"/>
                  <a:pt x="187821" y="509755"/>
                </a:cubicBezTo>
                <a:cubicBezTo>
                  <a:pt x="187678" y="509898"/>
                  <a:pt x="187487" y="509945"/>
                  <a:pt x="187297" y="509945"/>
                </a:cubicBezTo>
                <a:lnTo>
                  <a:pt x="168628" y="509945"/>
                </a:lnTo>
                <a:cubicBezTo>
                  <a:pt x="168105" y="509945"/>
                  <a:pt x="167628" y="509755"/>
                  <a:pt x="167200" y="509421"/>
                </a:cubicBezTo>
                <a:cubicBezTo>
                  <a:pt x="166723" y="508993"/>
                  <a:pt x="166485" y="508326"/>
                  <a:pt x="166533" y="507659"/>
                </a:cubicBezTo>
                <a:lnTo>
                  <a:pt x="166533" y="468890"/>
                </a:lnTo>
                <a:cubicBezTo>
                  <a:pt x="166485" y="468747"/>
                  <a:pt x="166485" y="468557"/>
                  <a:pt x="166533" y="468414"/>
                </a:cubicBezTo>
                <a:cubicBezTo>
                  <a:pt x="166676" y="468271"/>
                  <a:pt x="166819" y="468176"/>
                  <a:pt x="166962" y="468128"/>
                </a:cubicBezTo>
                <a:close/>
                <a:moveTo>
                  <a:pt x="134483" y="467890"/>
                </a:moveTo>
                <a:lnTo>
                  <a:pt x="146103" y="467890"/>
                </a:lnTo>
                <a:cubicBezTo>
                  <a:pt x="147103" y="467985"/>
                  <a:pt x="148103" y="468176"/>
                  <a:pt x="149055" y="468414"/>
                </a:cubicBezTo>
                <a:cubicBezTo>
                  <a:pt x="150294" y="468700"/>
                  <a:pt x="151436" y="469128"/>
                  <a:pt x="152532" y="469795"/>
                </a:cubicBezTo>
                <a:cubicBezTo>
                  <a:pt x="153675" y="470414"/>
                  <a:pt x="154675" y="471272"/>
                  <a:pt x="155532" y="472319"/>
                </a:cubicBezTo>
                <a:cubicBezTo>
                  <a:pt x="156342" y="473320"/>
                  <a:pt x="157008" y="474510"/>
                  <a:pt x="157437" y="475749"/>
                </a:cubicBezTo>
                <a:cubicBezTo>
                  <a:pt x="157913" y="477177"/>
                  <a:pt x="158104" y="478702"/>
                  <a:pt x="158104" y="480226"/>
                </a:cubicBezTo>
                <a:cubicBezTo>
                  <a:pt x="158104" y="482178"/>
                  <a:pt x="157770" y="484131"/>
                  <a:pt x="157056" y="485941"/>
                </a:cubicBezTo>
                <a:cubicBezTo>
                  <a:pt x="156389" y="487560"/>
                  <a:pt x="155389" y="489037"/>
                  <a:pt x="154056" y="490227"/>
                </a:cubicBezTo>
                <a:cubicBezTo>
                  <a:pt x="152722" y="491466"/>
                  <a:pt x="151103" y="492418"/>
                  <a:pt x="149341" y="492990"/>
                </a:cubicBezTo>
                <a:cubicBezTo>
                  <a:pt x="147198" y="493657"/>
                  <a:pt x="144912" y="493990"/>
                  <a:pt x="142626" y="493942"/>
                </a:cubicBezTo>
                <a:lnTo>
                  <a:pt x="137864" y="493942"/>
                </a:lnTo>
                <a:lnTo>
                  <a:pt x="137864" y="509088"/>
                </a:lnTo>
                <a:cubicBezTo>
                  <a:pt x="137864" y="509231"/>
                  <a:pt x="137816" y="509421"/>
                  <a:pt x="137721" y="509564"/>
                </a:cubicBezTo>
                <a:cubicBezTo>
                  <a:pt x="137626" y="509707"/>
                  <a:pt x="137435" y="509802"/>
                  <a:pt x="137292" y="509850"/>
                </a:cubicBezTo>
                <a:cubicBezTo>
                  <a:pt x="137007" y="509945"/>
                  <a:pt x="136721" y="509993"/>
                  <a:pt x="136435" y="510041"/>
                </a:cubicBezTo>
                <a:cubicBezTo>
                  <a:pt x="136007" y="510088"/>
                  <a:pt x="135530" y="510088"/>
                  <a:pt x="135102" y="510041"/>
                </a:cubicBezTo>
                <a:cubicBezTo>
                  <a:pt x="134626" y="510088"/>
                  <a:pt x="134197" y="510088"/>
                  <a:pt x="133721" y="510041"/>
                </a:cubicBezTo>
                <a:cubicBezTo>
                  <a:pt x="133435" y="509993"/>
                  <a:pt x="133149" y="509945"/>
                  <a:pt x="132863" y="509850"/>
                </a:cubicBezTo>
                <a:cubicBezTo>
                  <a:pt x="132673" y="509802"/>
                  <a:pt x="132530" y="509659"/>
                  <a:pt x="132435" y="509564"/>
                </a:cubicBezTo>
                <a:cubicBezTo>
                  <a:pt x="132340" y="509421"/>
                  <a:pt x="132292" y="509231"/>
                  <a:pt x="132292" y="509088"/>
                </a:cubicBezTo>
                <a:lnTo>
                  <a:pt x="132292" y="470319"/>
                </a:lnTo>
                <a:cubicBezTo>
                  <a:pt x="132197" y="469605"/>
                  <a:pt x="132482" y="468938"/>
                  <a:pt x="132959" y="468462"/>
                </a:cubicBezTo>
                <a:cubicBezTo>
                  <a:pt x="133387" y="468081"/>
                  <a:pt x="133959" y="467890"/>
                  <a:pt x="134483" y="467890"/>
                </a:cubicBezTo>
                <a:close/>
                <a:moveTo>
                  <a:pt x="206632" y="467795"/>
                </a:moveTo>
                <a:lnTo>
                  <a:pt x="209918" y="467795"/>
                </a:lnTo>
                <a:cubicBezTo>
                  <a:pt x="210299" y="467795"/>
                  <a:pt x="210680" y="467842"/>
                  <a:pt x="211061" y="467985"/>
                </a:cubicBezTo>
                <a:cubicBezTo>
                  <a:pt x="211299" y="468033"/>
                  <a:pt x="211489" y="468176"/>
                  <a:pt x="211680" y="468319"/>
                </a:cubicBezTo>
                <a:cubicBezTo>
                  <a:pt x="211870" y="468509"/>
                  <a:pt x="211965" y="468700"/>
                  <a:pt x="212061" y="468938"/>
                </a:cubicBezTo>
                <a:lnTo>
                  <a:pt x="226014" y="507945"/>
                </a:lnTo>
                <a:cubicBezTo>
                  <a:pt x="226157" y="508326"/>
                  <a:pt x="226252" y="508707"/>
                  <a:pt x="226300" y="509088"/>
                </a:cubicBezTo>
                <a:cubicBezTo>
                  <a:pt x="226300" y="509374"/>
                  <a:pt x="226205" y="509612"/>
                  <a:pt x="226062" y="509755"/>
                </a:cubicBezTo>
                <a:cubicBezTo>
                  <a:pt x="225776" y="509945"/>
                  <a:pt x="225490" y="510041"/>
                  <a:pt x="225205" y="510041"/>
                </a:cubicBezTo>
                <a:cubicBezTo>
                  <a:pt x="224681" y="510088"/>
                  <a:pt x="224109" y="510088"/>
                  <a:pt x="223585" y="510041"/>
                </a:cubicBezTo>
                <a:lnTo>
                  <a:pt x="221966" y="510041"/>
                </a:lnTo>
                <a:cubicBezTo>
                  <a:pt x="221681" y="510041"/>
                  <a:pt x="221347" y="509993"/>
                  <a:pt x="221061" y="509898"/>
                </a:cubicBezTo>
                <a:cubicBezTo>
                  <a:pt x="220871" y="509802"/>
                  <a:pt x="220728" y="509707"/>
                  <a:pt x="220633" y="509564"/>
                </a:cubicBezTo>
                <a:cubicBezTo>
                  <a:pt x="220490" y="509421"/>
                  <a:pt x="220395" y="509231"/>
                  <a:pt x="220347" y="509088"/>
                </a:cubicBezTo>
                <a:lnTo>
                  <a:pt x="216728" y="498848"/>
                </a:lnTo>
                <a:lnTo>
                  <a:pt x="199250" y="498848"/>
                </a:lnTo>
                <a:lnTo>
                  <a:pt x="195821" y="508945"/>
                </a:lnTo>
                <a:cubicBezTo>
                  <a:pt x="195774" y="509136"/>
                  <a:pt x="195678" y="509326"/>
                  <a:pt x="195583" y="509469"/>
                </a:cubicBezTo>
                <a:cubicBezTo>
                  <a:pt x="195440" y="509612"/>
                  <a:pt x="195297" y="509755"/>
                  <a:pt x="195107" y="509802"/>
                </a:cubicBezTo>
                <a:cubicBezTo>
                  <a:pt x="194821" y="509945"/>
                  <a:pt x="194535" y="509993"/>
                  <a:pt x="194250" y="510041"/>
                </a:cubicBezTo>
                <a:cubicBezTo>
                  <a:pt x="193726" y="510041"/>
                  <a:pt x="193250" y="510041"/>
                  <a:pt x="192726" y="510041"/>
                </a:cubicBezTo>
                <a:cubicBezTo>
                  <a:pt x="192249" y="510041"/>
                  <a:pt x="191726" y="510041"/>
                  <a:pt x="191202" y="510041"/>
                </a:cubicBezTo>
                <a:cubicBezTo>
                  <a:pt x="190916" y="509993"/>
                  <a:pt x="190630" y="509898"/>
                  <a:pt x="190345" y="509707"/>
                </a:cubicBezTo>
                <a:cubicBezTo>
                  <a:pt x="190202" y="509517"/>
                  <a:pt x="190106" y="509278"/>
                  <a:pt x="190154" y="509040"/>
                </a:cubicBezTo>
                <a:cubicBezTo>
                  <a:pt x="190202" y="508659"/>
                  <a:pt x="190249" y="508278"/>
                  <a:pt x="190392" y="507897"/>
                </a:cubicBezTo>
                <a:lnTo>
                  <a:pt x="204631" y="468890"/>
                </a:lnTo>
                <a:cubicBezTo>
                  <a:pt x="204679" y="468700"/>
                  <a:pt x="204822" y="468462"/>
                  <a:pt x="204965" y="468319"/>
                </a:cubicBezTo>
                <a:cubicBezTo>
                  <a:pt x="205108" y="468176"/>
                  <a:pt x="205346" y="468033"/>
                  <a:pt x="205536" y="467985"/>
                </a:cubicBezTo>
                <a:cubicBezTo>
                  <a:pt x="205917" y="467842"/>
                  <a:pt x="206251" y="467795"/>
                  <a:pt x="206632" y="467795"/>
                </a:cubicBezTo>
                <a:close/>
                <a:moveTo>
                  <a:pt x="260636" y="467747"/>
                </a:moveTo>
                <a:lnTo>
                  <a:pt x="263303" y="467747"/>
                </a:lnTo>
                <a:cubicBezTo>
                  <a:pt x="263589" y="467795"/>
                  <a:pt x="263875" y="467842"/>
                  <a:pt x="264160" y="467985"/>
                </a:cubicBezTo>
                <a:cubicBezTo>
                  <a:pt x="264351" y="468033"/>
                  <a:pt x="264494" y="468176"/>
                  <a:pt x="264589" y="468319"/>
                </a:cubicBezTo>
                <a:cubicBezTo>
                  <a:pt x="264684" y="468414"/>
                  <a:pt x="264732" y="468557"/>
                  <a:pt x="264732" y="468747"/>
                </a:cubicBezTo>
                <a:lnTo>
                  <a:pt x="264779" y="507659"/>
                </a:lnTo>
                <a:cubicBezTo>
                  <a:pt x="264779" y="507993"/>
                  <a:pt x="264684" y="508374"/>
                  <a:pt x="264541" y="508707"/>
                </a:cubicBezTo>
                <a:cubicBezTo>
                  <a:pt x="264398" y="508993"/>
                  <a:pt x="264208" y="509278"/>
                  <a:pt x="263970" y="509469"/>
                </a:cubicBezTo>
                <a:cubicBezTo>
                  <a:pt x="263732" y="509659"/>
                  <a:pt x="263446" y="509802"/>
                  <a:pt x="263208" y="509898"/>
                </a:cubicBezTo>
                <a:cubicBezTo>
                  <a:pt x="262875" y="509945"/>
                  <a:pt x="262589" y="509945"/>
                  <a:pt x="262303" y="509898"/>
                </a:cubicBezTo>
                <a:lnTo>
                  <a:pt x="260493" y="509898"/>
                </a:lnTo>
                <a:cubicBezTo>
                  <a:pt x="259970" y="509898"/>
                  <a:pt x="259446" y="509850"/>
                  <a:pt x="258969" y="509755"/>
                </a:cubicBezTo>
                <a:cubicBezTo>
                  <a:pt x="258493" y="509612"/>
                  <a:pt x="258065" y="509374"/>
                  <a:pt x="257684" y="509088"/>
                </a:cubicBezTo>
                <a:cubicBezTo>
                  <a:pt x="257255" y="508707"/>
                  <a:pt x="256826" y="508278"/>
                  <a:pt x="256493" y="507802"/>
                </a:cubicBezTo>
                <a:cubicBezTo>
                  <a:pt x="256064" y="507135"/>
                  <a:pt x="255636" y="506468"/>
                  <a:pt x="255255" y="505706"/>
                </a:cubicBezTo>
                <a:lnTo>
                  <a:pt x="242492" y="481845"/>
                </a:lnTo>
                <a:cubicBezTo>
                  <a:pt x="241825" y="480607"/>
                  <a:pt x="241111" y="479321"/>
                  <a:pt x="240444" y="477987"/>
                </a:cubicBezTo>
                <a:cubicBezTo>
                  <a:pt x="239777" y="476654"/>
                  <a:pt x="239111" y="475225"/>
                  <a:pt x="238539" y="474034"/>
                </a:cubicBezTo>
                <a:lnTo>
                  <a:pt x="238539" y="508945"/>
                </a:lnTo>
                <a:cubicBezTo>
                  <a:pt x="238539" y="509136"/>
                  <a:pt x="238492" y="509278"/>
                  <a:pt x="238396" y="509421"/>
                </a:cubicBezTo>
                <a:cubicBezTo>
                  <a:pt x="238301" y="509564"/>
                  <a:pt x="238158" y="509707"/>
                  <a:pt x="237968" y="509755"/>
                </a:cubicBezTo>
                <a:cubicBezTo>
                  <a:pt x="237682" y="509850"/>
                  <a:pt x="237396" y="509898"/>
                  <a:pt x="237110" y="509945"/>
                </a:cubicBezTo>
                <a:cubicBezTo>
                  <a:pt x="236206" y="510041"/>
                  <a:pt x="235253" y="510041"/>
                  <a:pt x="234348" y="509945"/>
                </a:cubicBezTo>
                <a:cubicBezTo>
                  <a:pt x="234063" y="509898"/>
                  <a:pt x="233777" y="509850"/>
                  <a:pt x="233491" y="509755"/>
                </a:cubicBezTo>
                <a:cubicBezTo>
                  <a:pt x="233301" y="509707"/>
                  <a:pt x="233158" y="509564"/>
                  <a:pt x="233062" y="509421"/>
                </a:cubicBezTo>
                <a:cubicBezTo>
                  <a:pt x="232967" y="509278"/>
                  <a:pt x="232920" y="509136"/>
                  <a:pt x="232920" y="508945"/>
                </a:cubicBezTo>
                <a:lnTo>
                  <a:pt x="232920" y="470176"/>
                </a:lnTo>
                <a:cubicBezTo>
                  <a:pt x="232872" y="469509"/>
                  <a:pt x="233110" y="468795"/>
                  <a:pt x="233634" y="468319"/>
                </a:cubicBezTo>
                <a:cubicBezTo>
                  <a:pt x="234110" y="467985"/>
                  <a:pt x="234682" y="467795"/>
                  <a:pt x="235253" y="467795"/>
                </a:cubicBezTo>
                <a:lnTo>
                  <a:pt x="238015" y="467795"/>
                </a:lnTo>
                <a:cubicBezTo>
                  <a:pt x="238539" y="467795"/>
                  <a:pt x="239111" y="467842"/>
                  <a:pt x="239634" y="467938"/>
                </a:cubicBezTo>
                <a:cubicBezTo>
                  <a:pt x="240063" y="468081"/>
                  <a:pt x="240444" y="468223"/>
                  <a:pt x="240825" y="468509"/>
                </a:cubicBezTo>
                <a:cubicBezTo>
                  <a:pt x="241206" y="468795"/>
                  <a:pt x="241539" y="469128"/>
                  <a:pt x="241825" y="469509"/>
                </a:cubicBezTo>
                <a:cubicBezTo>
                  <a:pt x="242206" y="470033"/>
                  <a:pt x="242539" y="470605"/>
                  <a:pt x="242825" y="471176"/>
                </a:cubicBezTo>
                <a:lnTo>
                  <a:pt x="252683" y="489656"/>
                </a:lnTo>
                <a:lnTo>
                  <a:pt x="254445" y="492942"/>
                </a:lnTo>
                <a:lnTo>
                  <a:pt x="256064" y="496086"/>
                </a:lnTo>
                <a:cubicBezTo>
                  <a:pt x="256588" y="497133"/>
                  <a:pt x="257112" y="498181"/>
                  <a:pt x="257636" y="499181"/>
                </a:cubicBezTo>
                <a:cubicBezTo>
                  <a:pt x="258160" y="500182"/>
                  <a:pt x="258636" y="501182"/>
                  <a:pt x="259160" y="502230"/>
                </a:cubicBezTo>
                <a:lnTo>
                  <a:pt x="259160" y="496848"/>
                </a:lnTo>
                <a:lnTo>
                  <a:pt x="259160" y="468747"/>
                </a:lnTo>
                <a:cubicBezTo>
                  <a:pt x="259160" y="468557"/>
                  <a:pt x="259208" y="468414"/>
                  <a:pt x="259303" y="468319"/>
                </a:cubicBezTo>
                <a:cubicBezTo>
                  <a:pt x="259398" y="468176"/>
                  <a:pt x="259589" y="468033"/>
                  <a:pt x="259731" y="467985"/>
                </a:cubicBezTo>
                <a:cubicBezTo>
                  <a:pt x="260017" y="467842"/>
                  <a:pt x="260303" y="467795"/>
                  <a:pt x="260636" y="467747"/>
                </a:cubicBezTo>
                <a:close/>
                <a:moveTo>
                  <a:pt x="50117" y="388910"/>
                </a:moveTo>
                <a:lnTo>
                  <a:pt x="215662" y="388910"/>
                </a:lnTo>
                <a:lnTo>
                  <a:pt x="215662" y="393056"/>
                </a:lnTo>
                <a:cubicBezTo>
                  <a:pt x="215710" y="395341"/>
                  <a:pt x="217567" y="397151"/>
                  <a:pt x="219852" y="397151"/>
                </a:cubicBezTo>
                <a:cubicBezTo>
                  <a:pt x="222137" y="397151"/>
                  <a:pt x="223947" y="395341"/>
                  <a:pt x="223994" y="393056"/>
                </a:cubicBezTo>
                <a:lnTo>
                  <a:pt x="223994" y="393018"/>
                </a:lnTo>
                <a:lnTo>
                  <a:pt x="224030" y="393054"/>
                </a:lnTo>
                <a:cubicBezTo>
                  <a:pt x="224030" y="395341"/>
                  <a:pt x="222173" y="397198"/>
                  <a:pt x="219887" y="397198"/>
                </a:cubicBezTo>
                <a:lnTo>
                  <a:pt x="45807" y="397198"/>
                </a:lnTo>
                <a:cubicBezTo>
                  <a:pt x="43521" y="397198"/>
                  <a:pt x="41664" y="395341"/>
                  <a:pt x="41664" y="393054"/>
                </a:cubicBezTo>
                <a:lnTo>
                  <a:pt x="41700" y="393018"/>
                </a:lnTo>
                <a:lnTo>
                  <a:pt x="45832" y="397151"/>
                </a:lnTo>
                <a:cubicBezTo>
                  <a:pt x="48165" y="397198"/>
                  <a:pt x="50069" y="395389"/>
                  <a:pt x="50117" y="393056"/>
                </a:cubicBezTo>
                <a:close/>
                <a:moveTo>
                  <a:pt x="215662" y="371703"/>
                </a:moveTo>
                <a:lnTo>
                  <a:pt x="223994" y="371703"/>
                </a:lnTo>
                <a:lnTo>
                  <a:pt x="223994" y="393018"/>
                </a:lnTo>
                <a:lnTo>
                  <a:pt x="219887" y="388910"/>
                </a:lnTo>
                <a:lnTo>
                  <a:pt x="215662" y="388910"/>
                </a:lnTo>
                <a:close/>
                <a:moveTo>
                  <a:pt x="218918" y="363419"/>
                </a:moveTo>
                <a:lnTo>
                  <a:pt x="221261" y="363419"/>
                </a:lnTo>
                <a:lnTo>
                  <a:pt x="223994" y="366153"/>
                </a:lnTo>
                <a:lnTo>
                  <a:pt x="223994" y="369369"/>
                </a:lnTo>
                <a:lnTo>
                  <a:pt x="223062" y="370301"/>
                </a:lnTo>
                <a:cubicBezTo>
                  <a:pt x="220776" y="370301"/>
                  <a:pt x="218918" y="368444"/>
                  <a:pt x="218918" y="366158"/>
                </a:cubicBezTo>
                <a:close/>
                <a:moveTo>
                  <a:pt x="218918" y="362934"/>
                </a:moveTo>
                <a:lnTo>
                  <a:pt x="218918" y="363419"/>
                </a:lnTo>
                <a:lnTo>
                  <a:pt x="218428" y="363419"/>
                </a:lnTo>
                <a:close/>
                <a:moveTo>
                  <a:pt x="380456" y="350917"/>
                </a:moveTo>
                <a:cubicBezTo>
                  <a:pt x="382742" y="350917"/>
                  <a:pt x="384599" y="352774"/>
                  <a:pt x="384599" y="355108"/>
                </a:cubicBezTo>
                <a:lnTo>
                  <a:pt x="384599" y="363419"/>
                </a:lnTo>
                <a:lnTo>
                  <a:pt x="376265" y="363419"/>
                </a:lnTo>
                <a:lnTo>
                  <a:pt x="376265" y="355108"/>
                </a:lnTo>
                <a:cubicBezTo>
                  <a:pt x="376265" y="352774"/>
                  <a:pt x="378122" y="350917"/>
                  <a:pt x="380456" y="350917"/>
                </a:cubicBezTo>
                <a:close/>
                <a:moveTo>
                  <a:pt x="360788" y="350917"/>
                </a:moveTo>
                <a:cubicBezTo>
                  <a:pt x="363074" y="350917"/>
                  <a:pt x="364931" y="352774"/>
                  <a:pt x="364931" y="355108"/>
                </a:cubicBezTo>
                <a:lnTo>
                  <a:pt x="364931" y="363419"/>
                </a:lnTo>
                <a:lnTo>
                  <a:pt x="356644" y="363419"/>
                </a:lnTo>
                <a:lnTo>
                  <a:pt x="356644" y="355108"/>
                </a:lnTo>
                <a:cubicBezTo>
                  <a:pt x="356644" y="352774"/>
                  <a:pt x="358502" y="350917"/>
                  <a:pt x="360788" y="350917"/>
                </a:cubicBezTo>
                <a:close/>
                <a:moveTo>
                  <a:pt x="341072" y="350917"/>
                </a:moveTo>
                <a:cubicBezTo>
                  <a:pt x="343405" y="350917"/>
                  <a:pt x="345263" y="352774"/>
                  <a:pt x="345263" y="355108"/>
                </a:cubicBezTo>
                <a:lnTo>
                  <a:pt x="345263" y="363419"/>
                </a:lnTo>
                <a:lnTo>
                  <a:pt x="336928" y="363419"/>
                </a:lnTo>
                <a:lnTo>
                  <a:pt x="336928" y="355108"/>
                </a:lnTo>
                <a:cubicBezTo>
                  <a:pt x="336928" y="352774"/>
                  <a:pt x="338786" y="350917"/>
                  <a:pt x="341072" y="350917"/>
                </a:cubicBezTo>
                <a:close/>
                <a:moveTo>
                  <a:pt x="321403" y="350917"/>
                </a:moveTo>
                <a:cubicBezTo>
                  <a:pt x="323737" y="350917"/>
                  <a:pt x="325594" y="352774"/>
                  <a:pt x="325594" y="355108"/>
                </a:cubicBezTo>
                <a:lnTo>
                  <a:pt x="325594" y="363419"/>
                </a:lnTo>
                <a:lnTo>
                  <a:pt x="317260" y="363419"/>
                </a:lnTo>
                <a:lnTo>
                  <a:pt x="317260" y="355108"/>
                </a:lnTo>
                <a:cubicBezTo>
                  <a:pt x="317260" y="352774"/>
                  <a:pt x="319117" y="350917"/>
                  <a:pt x="321403" y="350917"/>
                </a:cubicBezTo>
                <a:close/>
                <a:moveTo>
                  <a:pt x="301735" y="350917"/>
                </a:moveTo>
                <a:cubicBezTo>
                  <a:pt x="304021" y="350917"/>
                  <a:pt x="305878" y="352774"/>
                  <a:pt x="305878" y="355108"/>
                </a:cubicBezTo>
                <a:lnTo>
                  <a:pt x="305878" y="363419"/>
                </a:lnTo>
                <a:lnTo>
                  <a:pt x="297592" y="363419"/>
                </a:lnTo>
                <a:lnTo>
                  <a:pt x="297592" y="355108"/>
                </a:lnTo>
                <a:cubicBezTo>
                  <a:pt x="297592" y="352774"/>
                  <a:pt x="299449" y="350917"/>
                  <a:pt x="301735" y="350917"/>
                </a:cubicBezTo>
                <a:close/>
                <a:moveTo>
                  <a:pt x="282162" y="350917"/>
                </a:moveTo>
                <a:cubicBezTo>
                  <a:pt x="284448" y="350917"/>
                  <a:pt x="286305" y="352774"/>
                  <a:pt x="286305" y="355108"/>
                </a:cubicBezTo>
                <a:lnTo>
                  <a:pt x="286305" y="363419"/>
                </a:lnTo>
                <a:lnTo>
                  <a:pt x="278019" y="363419"/>
                </a:lnTo>
                <a:lnTo>
                  <a:pt x="278019" y="355108"/>
                </a:lnTo>
                <a:cubicBezTo>
                  <a:pt x="278019" y="352774"/>
                  <a:pt x="279876" y="350917"/>
                  <a:pt x="282162" y="350917"/>
                </a:cubicBezTo>
                <a:close/>
                <a:moveTo>
                  <a:pt x="262398" y="350917"/>
                </a:moveTo>
                <a:cubicBezTo>
                  <a:pt x="264684" y="350917"/>
                  <a:pt x="266589" y="352774"/>
                  <a:pt x="266589" y="355108"/>
                </a:cubicBezTo>
                <a:lnTo>
                  <a:pt x="266589" y="363419"/>
                </a:lnTo>
                <a:lnTo>
                  <a:pt x="258255" y="363419"/>
                </a:lnTo>
                <a:lnTo>
                  <a:pt x="258255" y="355108"/>
                </a:lnTo>
                <a:cubicBezTo>
                  <a:pt x="258255" y="352774"/>
                  <a:pt x="260112" y="350917"/>
                  <a:pt x="262398" y="350917"/>
                </a:cubicBezTo>
                <a:close/>
                <a:moveTo>
                  <a:pt x="242730" y="350917"/>
                </a:moveTo>
                <a:cubicBezTo>
                  <a:pt x="245016" y="350917"/>
                  <a:pt x="246873" y="352774"/>
                  <a:pt x="246873" y="355108"/>
                </a:cubicBezTo>
                <a:lnTo>
                  <a:pt x="246873" y="363419"/>
                </a:lnTo>
                <a:lnTo>
                  <a:pt x="238587" y="363419"/>
                </a:lnTo>
                <a:lnTo>
                  <a:pt x="238587" y="355108"/>
                </a:lnTo>
                <a:cubicBezTo>
                  <a:pt x="238587" y="352774"/>
                  <a:pt x="240444" y="350917"/>
                  <a:pt x="242730" y="350917"/>
                </a:cubicBezTo>
                <a:close/>
                <a:moveTo>
                  <a:pt x="223062" y="350917"/>
                </a:moveTo>
                <a:cubicBezTo>
                  <a:pt x="225348" y="350917"/>
                  <a:pt x="227205" y="352774"/>
                  <a:pt x="227205" y="355108"/>
                </a:cubicBezTo>
                <a:lnTo>
                  <a:pt x="227205" y="363419"/>
                </a:lnTo>
                <a:lnTo>
                  <a:pt x="221261" y="363419"/>
                </a:lnTo>
                <a:lnTo>
                  <a:pt x="219852" y="362010"/>
                </a:lnTo>
                <a:lnTo>
                  <a:pt x="218918" y="362934"/>
                </a:lnTo>
                <a:lnTo>
                  <a:pt x="218918" y="355108"/>
                </a:lnTo>
                <a:cubicBezTo>
                  <a:pt x="218918" y="352774"/>
                  <a:pt x="220776" y="350917"/>
                  <a:pt x="223062" y="350917"/>
                </a:cubicBezTo>
                <a:close/>
                <a:moveTo>
                  <a:pt x="203393" y="350917"/>
                </a:moveTo>
                <a:cubicBezTo>
                  <a:pt x="205679" y="350917"/>
                  <a:pt x="207536" y="352774"/>
                  <a:pt x="207536" y="355108"/>
                </a:cubicBezTo>
                <a:lnTo>
                  <a:pt x="207536" y="363419"/>
                </a:lnTo>
                <a:lnTo>
                  <a:pt x="199202" y="363419"/>
                </a:lnTo>
                <a:lnTo>
                  <a:pt x="199202" y="355108"/>
                </a:lnTo>
                <a:cubicBezTo>
                  <a:pt x="199202" y="352774"/>
                  <a:pt x="201060" y="350917"/>
                  <a:pt x="203393" y="350917"/>
                </a:cubicBezTo>
                <a:close/>
                <a:moveTo>
                  <a:pt x="183725" y="350917"/>
                </a:moveTo>
                <a:cubicBezTo>
                  <a:pt x="186011" y="350917"/>
                  <a:pt x="187868" y="352774"/>
                  <a:pt x="187868" y="355108"/>
                </a:cubicBezTo>
                <a:lnTo>
                  <a:pt x="187868" y="363419"/>
                </a:lnTo>
                <a:lnTo>
                  <a:pt x="179534" y="363419"/>
                </a:lnTo>
                <a:lnTo>
                  <a:pt x="179534" y="355108"/>
                </a:lnTo>
                <a:cubicBezTo>
                  <a:pt x="179534" y="352774"/>
                  <a:pt x="181439" y="350917"/>
                  <a:pt x="183725" y="350917"/>
                </a:cubicBezTo>
                <a:close/>
                <a:moveTo>
                  <a:pt x="164057" y="350917"/>
                </a:moveTo>
                <a:cubicBezTo>
                  <a:pt x="166342" y="350917"/>
                  <a:pt x="168200" y="352774"/>
                  <a:pt x="168200" y="355108"/>
                </a:cubicBezTo>
                <a:lnTo>
                  <a:pt x="168200" y="363419"/>
                </a:lnTo>
                <a:lnTo>
                  <a:pt x="159913" y="363419"/>
                </a:lnTo>
                <a:lnTo>
                  <a:pt x="159913" y="355108"/>
                </a:lnTo>
                <a:cubicBezTo>
                  <a:pt x="159913" y="352774"/>
                  <a:pt x="161771" y="350917"/>
                  <a:pt x="164057" y="350917"/>
                </a:cubicBezTo>
                <a:close/>
                <a:moveTo>
                  <a:pt x="144341" y="350917"/>
                </a:moveTo>
                <a:cubicBezTo>
                  <a:pt x="146674" y="350917"/>
                  <a:pt x="148531" y="352774"/>
                  <a:pt x="148531" y="355108"/>
                </a:cubicBezTo>
                <a:lnTo>
                  <a:pt x="148531" y="363419"/>
                </a:lnTo>
                <a:lnTo>
                  <a:pt x="140197" y="363419"/>
                </a:lnTo>
                <a:lnTo>
                  <a:pt x="140197" y="355108"/>
                </a:lnTo>
                <a:cubicBezTo>
                  <a:pt x="140197" y="352774"/>
                  <a:pt x="142055" y="350917"/>
                  <a:pt x="144341" y="350917"/>
                </a:cubicBezTo>
                <a:close/>
                <a:moveTo>
                  <a:pt x="69477" y="342820"/>
                </a:moveTo>
                <a:lnTo>
                  <a:pt x="97146" y="342820"/>
                </a:lnTo>
                <a:cubicBezTo>
                  <a:pt x="99480" y="342820"/>
                  <a:pt x="101337" y="344677"/>
                  <a:pt x="101337" y="346964"/>
                </a:cubicBezTo>
                <a:cubicBezTo>
                  <a:pt x="101337" y="349250"/>
                  <a:pt x="99480" y="351107"/>
                  <a:pt x="97146" y="351107"/>
                </a:cubicBezTo>
                <a:lnTo>
                  <a:pt x="69477" y="351107"/>
                </a:lnTo>
                <a:cubicBezTo>
                  <a:pt x="67191" y="351107"/>
                  <a:pt x="65334" y="349250"/>
                  <a:pt x="65334" y="346964"/>
                </a:cubicBezTo>
                <a:cubicBezTo>
                  <a:pt x="65334" y="344677"/>
                  <a:pt x="67191" y="342820"/>
                  <a:pt x="69477" y="342820"/>
                </a:cubicBezTo>
                <a:close/>
                <a:moveTo>
                  <a:pt x="69477" y="302670"/>
                </a:moveTo>
                <a:lnTo>
                  <a:pt x="97146" y="302670"/>
                </a:lnTo>
                <a:cubicBezTo>
                  <a:pt x="99480" y="302670"/>
                  <a:pt x="101337" y="304527"/>
                  <a:pt x="101337" y="306861"/>
                </a:cubicBezTo>
                <a:cubicBezTo>
                  <a:pt x="101337" y="309147"/>
                  <a:pt x="99480" y="311005"/>
                  <a:pt x="97146" y="311005"/>
                </a:cubicBezTo>
                <a:lnTo>
                  <a:pt x="69477" y="311005"/>
                </a:lnTo>
                <a:cubicBezTo>
                  <a:pt x="67191" y="311005"/>
                  <a:pt x="65334" y="309147"/>
                  <a:pt x="65334" y="306861"/>
                </a:cubicBezTo>
                <a:cubicBezTo>
                  <a:pt x="65334" y="304527"/>
                  <a:pt x="67191" y="302670"/>
                  <a:pt x="69477" y="302670"/>
                </a:cubicBezTo>
                <a:close/>
                <a:moveTo>
                  <a:pt x="164485" y="295145"/>
                </a:moveTo>
                <a:lnTo>
                  <a:pt x="164485" y="307433"/>
                </a:lnTo>
                <a:lnTo>
                  <a:pt x="275780" y="307433"/>
                </a:lnTo>
                <a:lnTo>
                  <a:pt x="275780" y="295145"/>
                </a:lnTo>
                <a:close/>
                <a:moveTo>
                  <a:pt x="160294" y="286810"/>
                </a:moveTo>
                <a:lnTo>
                  <a:pt x="279924" y="286810"/>
                </a:lnTo>
                <a:cubicBezTo>
                  <a:pt x="282257" y="286810"/>
                  <a:pt x="284114" y="288667"/>
                  <a:pt x="284114" y="290954"/>
                </a:cubicBezTo>
                <a:lnTo>
                  <a:pt x="284114" y="311576"/>
                </a:lnTo>
                <a:cubicBezTo>
                  <a:pt x="284114" y="313862"/>
                  <a:pt x="282257" y="315720"/>
                  <a:pt x="279924" y="315720"/>
                </a:cubicBezTo>
                <a:lnTo>
                  <a:pt x="160294" y="315720"/>
                </a:lnTo>
                <a:cubicBezTo>
                  <a:pt x="158008" y="315720"/>
                  <a:pt x="156151" y="313862"/>
                  <a:pt x="156151" y="311576"/>
                </a:cubicBezTo>
                <a:lnTo>
                  <a:pt x="156151" y="290954"/>
                </a:lnTo>
                <a:cubicBezTo>
                  <a:pt x="156151" y="288667"/>
                  <a:pt x="158008" y="286810"/>
                  <a:pt x="160294" y="286810"/>
                </a:cubicBezTo>
                <a:close/>
                <a:moveTo>
                  <a:pt x="346215" y="283238"/>
                </a:moveTo>
                <a:cubicBezTo>
                  <a:pt x="348406" y="283952"/>
                  <a:pt x="349596" y="286334"/>
                  <a:pt x="348882" y="288525"/>
                </a:cubicBezTo>
                <a:lnTo>
                  <a:pt x="338548" y="320483"/>
                </a:lnTo>
                <a:cubicBezTo>
                  <a:pt x="337976" y="322054"/>
                  <a:pt x="336500" y="323150"/>
                  <a:pt x="334785" y="323245"/>
                </a:cubicBezTo>
                <a:lnTo>
                  <a:pt x="334595" y="323340"/>
                </a:lnTo>
                <a:cubicBezTo>
                  <a:pt x="332928" y="323340"/>
                  <a:pt x="331452" y="322388"/>
                  <a:pt x="330785" y="320864"/>
                </a:cubicBezTo>
                <a:lnTo>
                  <a:pt x="320451" y="297431"/>
                </a:lnTo>
                <a:cubicBezTo>
                  <a:pt x="319498" y="295335"/>
                  <a:pt x="320451" y="292859"/>
                  <a:pt x="322546" y="291954"/>
                </a:cubicBezTo>
                <a:cubicBezTo>
                  <a:pt x="324642" y="291001"/>
                  <a:pt x="327118" y="291954"/>
                  <a:pt x="328023" y="294049"/>
                </a:cubicBezTo>
                <a:lnTo>
                  <a:pt x="333976" y="307528"/>
                </a:lnTo>
                <a:lnTo>
                  <a:pt x="340929" y="285953"/>
                </a:lnTo>
                <a:cubicBezTo>
                  <a:pt x="341643" y="283762"/>
                  <a:pt x="344024" y="282571"/>
                  <a:pt x="346215" y="283238"/>
                </a:cubicBezTo>
                <a:close/>
                <a:moveTo>
                  <a:pt x="334619" y="276224"/>
                </a:moveTo>
                <a:cubicBezTo>
                  <a:pt x="323712" y="276224"/>
                  <a:pt x="313900" y="282796"/>
                  <a:pt x="309756" y="292844"/>
                </a:cubicBezTo>
                <a:cubicBezTo>
                  <a:pt x="305564" y="302893"/>
                  <a:pt x="307850" y="314466"/>
                  <a:pt x="315567" y="322181"/>
                </a:cubicBezTo>
                <a:cubicBezTo>
                  <a:pt x="323283" y="329896"/>
                  <a:pt x="334858" y="332182"/>
                  <a:pt x="344908" y="328039"/>
                </a:cubicBezTo>
                <a:cubicBezTo>
                  <a:pt x="354958" y="323848"/>
                  <a:pt x="361531" y="314037"/>
                  <a:pt x="361531" y="303131"/>
                </a:cubicBezTo>
                <a:cubicBezTo>
                  <a:pt x="361531" y="288273"/>
                  <a:pt x="349480" y="276271"/>
                  <a:pt x="334619" y="276224"/>
                </a:cubicBezTo>
                <a:close/>
                <a:moveTo>
                  <a:pt x="327725" y="268610"/>
                </a:moveTo>
                <a:cubicBezTo>
                  <a:pt x="334417" y="267282"/>
                  <a:pt x="341502" y="267889"/>
                  <a:pt x="348099" y="270604"/>
                </a:cubicBezTo>
                <a:cubicBezTo>
                  <a:pt x="361246" y="276081"/>
                  <a:pt x="369819" y="288892"/>
                  <a:pt x="369819" y="303131"/>
                </a:cubicBezTo>
                <a:cubicBezTo>
                  <a:pt x="369819" y="322610"/>
                  <a:pt x="354053" y="338326"/>
                  <a:pt x="334619" y="338373"/>
                </a:cubicBezTo>
                <a:cubicBezTo>
                  <a:pt x="320377" y="338373"/>
                  <a:pt x="307517" y="329801"/>
                  <a:pt x="302039" y="316657"/>
                </a:cubicBezTo>
                <a:cubicBezTo>
                  <a:pt x="296609" y="303465"/>
                  <a:pt x="299610" y="288320"/>
                  <a:pt x="309708" y="278224"/>
                </a:cubicBezTo>
                <a:cubicBezTo>
                  <a:pt x="314733" y="273200"/>
                  <a:pt x="321032" y="269937"/>
                  <a:pt x="327725" y="268610"/>
                </a:cubicBezTo>
                <a:close/>
                <a:moveTo>
                  <a:pt x="69477" y="262567"/>
                </a:moveTo>
                <a:lnTo>
                  <a:pt x="97146" y="262567"/>
                </a:lnTo>
                <a:cubicBezTo>
                  <a:pt x="99480" y="262567"/>
                  <a:pt x="101337" y="264425"/>
                  <a:pt x="101337" y="266711"/>
                </a:cubicBezTo>
                <a:cubicBezTo>
                  <a:pt x="101337" y="268997"/>
                  <a:pt x="99480" y="270855"/>
                  <a:pt x="97146" y="270855"/>
                </a:cubicBezTo>
                <a:lnTo>
                  <a:pt x="69477" y="270855"/>
                </a:lnTo>
                <a:cubicBezTo>
                  <a:pt x="67191" y="270855"/>
                  <a:pt x="65334" y="268997"/>
                  <a:pt x="65334" y="266711"/>
                </a:cubicBezTo>
                <a:cubicBezTo>
                  <a:pt x="65334" y="264425"/>
                  <a:pt x="67191" y="262567"/>
                  <a:pt x="69477" y="262567"/>
                </a:cubicBezTo>
                <a:close/>
                <a:moveTo>
                  <a:pt x="69477" y="222417"/>
                </a:moveTo>
                <a:lnTo>
                  <a:pt x="97146" y="222417"/>
                </a:lnTo>
                <a:cubicBezTo>
                  <a:pt x="99480" y="222417"/>
                  <a:pt x="101337" y="224275"/>
                  <a:pt x="101337" y="226561"/>
                </a:cubicBezTo>
                <a:cubicBezTo>
                  <a:pt x="101337" y="228847"/>
                  <a:pt x="99480" y="230705"/>
                  <a:pt x="97146" y="230705"/>
                </a:cubicBezTo>
                <a:lnTo>
                  <a:pt x="69477" y="230705"/>
                </a:lnTo>
                <a:cubicBezTo>
                  <a:pt x="67191" y="230705"/>
                  <a:pt x="65334" y="228847"/>
                  <a:pt x="65334" y="226561"/>
                </a:cubicBezTo>
                <a:cubicBezTo>
                  <a:pt x="65334" y="224275"/>
                  <a:pt x="67191" y="222417"/>
                  <a:pt x="69477" y="222417"/>
                </a:cubicBezTo>
                <a:close/>
                <a:moveTo>
                  <a:pt x="164199" y="209463"/>
                </a:moveTo>
                <a:lnTo>
                  <a:pt x="164199" y="221798"/>
                </a:lnTo>
                <a:lnTo>
                  <a:pt x="275495" y="221798"/>
                </a:lnTo>
                <a:lnTo>
                  <a:pt x="275495" y="209463"/>
                </a:lnTo>
                <a:close/>
                <a:moveTo>
                  <a:pt x="160056" y="201175"/>
                </a:moveTo>
                <a:lnTo>
                  <a:pt x="279686" y="201175"/>
                </a:lnTo>
                <a:cubicBezTo>
                  <a:pt x="281971" y="201175"/>
                  <a:pt x="283829" y="203033"/>
                  <a:pt x="283829" y="205319"/>
                </a:cubicBezTo>
                <a:lnTo>
                  <a:pt x="283829" y="225942"/>
                </a:lnTo>
                <a:cubicBezTo>
                  <a:pt x="283829" y="228228"/>
                  <a:pt x="281971" y="230085"/>
                  <a:pt x="279686" y="230085"/>
                </a:cubicBezTo>
                <a:lnTo>
                  <a:pt x="160056" y="230085"/>
                </a:lnTo>
                <a:cubicBezTo>
                  <a:pt x="157770" y="230085"/>
                  <a:pt x="155913" y="228228"/>
                  <a:pt x="155913" y="225942"/>
                </a:cubicBezTo>
                <a:lnTo>
                  <a:pt x="155913" y="205319"/>
                </a:lnTo>
                <a:cubicBezTo>
                  <a:pt x="155913" y="203033"/>
                  <a:pt x="157770" y="201175"/>
                  <a:pt x="160056" y="201175"/>
                </a:cubicBezTo>
                <a:close/>
                <a:moveTo>
                  <a:pt x="346242" y="195643"/>
                </a:moveTo>
                <a:cubicBezTo>
                  <a:pt x="348433" y="196358"/>
                  <a:pt x="349623" y="198691"/>
                  <a:pt x="348909" y="200882"/>
                </a:cubicBezTo>
                <a:lnTo>
                  <a:pt x="338573" y="232838"/>
                </a:lnTo>
                <a:cubicBezTo>
                  <a:pt x="338001" y="234457"/>
                  <a:pt x="336525" y="235553"/>
                  <a:pt x="334810" y="235600"/>
                </a:cubicBezTo>
                <a:lnTo>
                  <a:pt x="334619" y="235743"/>
                </a:lnTo>
                <a:cubicBezTo>
                  <a:pt x="332952" y="235695"/>
                  <a:pt x="331476" y="234743"/>
                  <a:pt x="330809" y="233219"/>
                </a:cubicBezTo>
                <a:lnTo>
                  <a:pt x="320473" y="209788"/>
                </a:lnTo>
                <a:cubicBezTo>
                  <a:pt x="319520" y="207645"/>
                  <a:pt x="320473" y="205216"/>
                  <a:pt x="322569" y="204311"/>
                </a:cubicBezTo>
                <a:cubicBezTo>
                  <a:pt x="324664" y="203359"/>
                  <a:pt x="327141" y="204311"/>
                  <a:pt x="328046" y="206407"/>
                </a:cubicBezTo>
                <a:lnTo>
                  <a:pt x="334000" y="219884"/>
                </a:lnTo>
                <a:lnTo>
                  <a:pt x="340954" y="198310"/>
                </a:lnTo>
                <a:cubicBezTo>
                  <a:pt x="341669" y="196120"/>
                  <a:pt x="344050" y="194929"/>
                  <a:pt x="346242" y="195643"/>
                </a:cubicBezTo>
                <a:close/>
                <a:moveTo>
                  <a:pt x="334618" y="188752"/>
                </a:moveTo>
                <a:cubicBezTo>
                  <a:pt x="323711" y="188752"/>
                  <a:pt x="313899" y="195279"/>
                  <a:pt x="309707" y="205379"/>
                </a:cubicBezTo>
                <a:cubicBezTo>
                  <a:pt x="305563" y="215431"/>
                  <a:pt x="307849" y="227008"/>
                  <a:pt x="315566" y="234726"/>
                </a:cubicBezTo>
                <a:cubicBezTo>
                  <a:pt x="323282" y="242397"/>
                  <a:pt x="334857" y="244684"/>
                  <a:pt x="344907" y="240539"/>
                </a:cubicBezTo>
                <a:cubicBezTo>
                  <a:pt x="355005" y="236346"/>
                  <a:pt x="361530" y="226532"/>
                  <a:pt x="361530" y="215622"/>
                </a:cubicBezTo>
                <a:cubicBezTo>
                  <a:pt x="361483" y="200758"/>
                  <a:pt x="349432" y="188752"/>
                  <a:pt x="334618" y="188752"/>
                </a:cubicBezTo>
                <a:close/>
                <a:moveTo>
                  <a:pt x="69477" y="182267"/>
                </a:moveTo>
                <a:lnTo>
                  <a:pt x="97146" y="182267"/>
                </a:lnTo>
                <a:cubicBezTo>
                  <a:pt x="99480" y="182267"/>
                  <a:pt x="101337" y="184125"/>
                  <a:pt x="101337" y="186411"/>
                </a:cubicBezTo>
                <a:cubicBezTo>
                  <a:pt x="101337" y="188697"/>
                  <a:pt x="99480" y="190555"/>
                  <a:pt x="97146" y="190555"/>
                </a:cubicBezTo>
                <a:lnTo>
                  <a:pt x="69477" y="190555"/>
                </a:lnTo>
                <a:cubicBezTo>
                  <a:pt x="67191" y="190555"/>
                  <a:pt x="65334" y="188697"/>
                  <a:pt x="65334" y="186411"/>
                </a:cubicBezTo>
                <a:cubicBezTo>
                  <a:pt x="65334" y="184125"/>
                  <a:pt x="67191" y="182267"/>
                  <a:pt x="69477" y="182267"/>
                </a:cubicBezTo>
                <a:close/>
                <a:moveTo>
                  <a:pt x="327724" y="181069"/>
                </a:moveTo>
                <a:cubicBezTo>
                  <a:pt x="334416" y="179735"/>
                  <a:pt x="341501" y="180343"/>
                  <a:pt x="348098" y="183082"/>
                </a:cubicBezTo>
                <a:cubicBezTo>
                  <a:pt x="361245" y="188514"/>
                  <a:pt x="369818" y="201377"/>
                  <a:pt x="369818" y="215622"/>
                </a:cubicBezTo>
                <a:cubicBezTo>
                  <a:pt x="369818" y="235108"/>
                  <a:pt x="354052" y="250877"/>
                  <a:pt x="334618" y="250877"/>
                </a:cubicBezTo>
                <a:cubicBezTo>
                  <a:pt x="320376" y="250877"/>
                  <a:pt x="307516" y="242302"/>
                  <a:pt x="302038" y="229105"/>
                </a:cubicBezTo>
                <a:cubicBezTo>
                  <a:pt x="296608" y="215955"/>
                  <a:pt x="299609" y="200805"/>
                  <a:pt x="309707" y="190705"/>
                </a:cubicBezTo>
                <a:cubicBezTo>
                  <a:pt x="314732" y="185679"/>
                  <a:pt x="321031" y="182403"/>
                  <a:pt x="327724" y="181069"/>
                </a:cubicBezTo>
                <a:close/>
                <a:moveTo>
                  <a:pt x="69477" y="142117"/>
                </a:moveTo>
                <a:lnTo>
                  <a:pt x="97146" y="142117"/>
                </a:lnTo>
                <a:cubicBezTo>
                  <a:pt x="99480" y="142117"/>
                  <a:pt x="101337" y="144022"/>
                  <a:pt x="101337" y="146308"/>
                </a:cubicBezTo>
                <a:cubicBezTo>
                  <a:pt x="101337" y="148595"/>
                  <a:pt x="99480" y="150452"/>
                  <a:pt x="97146" y="150452"/>
                </a:cubicBezTo>
                <a:lnTo>
                  <a:pt x="69477" y="150452"/>
                </a:lnTo>
                <a:cubicBezTo>
                  <a:pt x="67191" y="150452"/>
                  <a:pt x="65334" y="148595"/>
                  <a:pt x="65334" y="146308"/>
                </a:cubicBezTo>
                <a:cubicBezTo>
                  <a:pt x="65334" y="144022"/>
                  <a:pt x="67191" y="142117"/>
                  <a:pt x="69477" y="142117"/>
                </a:cubicBezTo>
                <a:close/>
                <a:moveTo>
                  <a:pt x="163961" y="123828"/>
                </a:moveTo>
                <a:lnTo>
                  <a:pt x="163961" y="136116"/>
                </a:lnTo>
                <a:lnTo>
                  <a:pt x="275257" y="136116"/>
                </a:lnTo>
                <a:lnTo>
                  <a:pt x="275257" y="123828"/>
                </a:lnTo>
                <a:close/>
                <a:moveTo>
                  <a:pt x="159818" y="115541"/>
                </a:moveTo>
                <a:lnTo>
                  <a:pt x="279400" y="115541"/>
                </a:lnTo>
                <a:cubicBezTo>
                  <a:pt x="281686" y="115541"/>
                  <a:pt x="283543" y="117399"/>
                  <a:pt x="283543" y="119685"/>
                </a:cubicBezTo>
                <a:lnTo>
                  <a:pt x="283543" y="140260"/>
                </a:lnTo>
                <a:cubicBezTo>
                  <a:pt x="283543" y="142594"/>
                  <a:pt x="281686" y="144451"/>
                  <a:pt x="279400" y="144451"/>
                </a:cubicBezTo>
                <a:lnTo>
                  <a:pt x="159818" y="144451"/>
                </a:lnTo>
                <a:cubicBezTo>
                  <a:pt x="157532" y="144451"/>
                  <a:pt x="155675" y="142594"/>
                  <a:pt x="155675" y="140260"/>
                </a:cubicBezTo>
                <a:lnTo>
                  <a:pt x="155675" y="119685"/>
                </a:lnTo>
                <a:cubicBezTo>
                  <a:pt x="155675" y="117399"/>
                  <a:pt x="157532" y="115541"/>
                  <a:pt x="159818" y="115541"/>
                </a:cubicBezTo>
                <a:close/>
                <a:moveTo>
                  <a:pt x="346241" y="108141"/>
                </a:moveTo>
                <a:cubicBezTo>
                  <a:pt x="348432" y="108856"/>
                  <a:pt x="349622" y="111190"/>
                  <a:pt x="348908" y="113382"/>
                </a:cubicBezTo>
                <a:lnTo>
                  <a:pt x="338572" y="145350"/>
                </a:lnTo>
                <a:cubicBezTo>
                  <a:pt x="338000" y="146970"/>
                  <a:pt x="336524" y="148065"/>
                  <a:pt x="334809" y="148113"/>
                </a:cubicBezTo>
                <a:lnTo>
                  <a:pt x="334618" y="148208"/>
                </a:lnTo>
                <a:cubicBezTo>
                  <a:pt x="332951" y="148208"/>
                  <a:pt x="331475" y="147208"/>
                  <a:pt x="330808" y="145683"/>
                </a:cubicBezTo>
                <a:lnTo>
                  <a:pt x="320472" y="122243"/>
                </a:lnTo>
                <a:cubicBezTo>
                  <a:pt x="319519" y="120147"/>
                  <a:pt x="320472" y="117670"/>
                  <a:pt x="322615" y="116764"/>
                </a:cubicBezTo>
                <a:cubicBezTo>
                  <a:pt x="324711" y="115859"/>
                  <a:pt x="327140" y="116812"/>
                  <a:pt x="328045" y="118908"/>
                </a:cubicBezTo>
                <a:lnTo>
                  <a:pt x="333999" y="132391"/>
                </a:lnTo>
                <a:lnTo>
                  <a:pt x="340953" y="110809"/>
                </a:lnTo>
                <a:cubicBezTo>
                  <a:pt x="341668" y="108618"/>
                  <a:pt x="344049" y="107427"/>
                  <a:pt x="346241" y="108141"/>
                </a:cubicBezTo>
                <a:close/>
                <a:moveTo>
                  <a:pt x="69477" y="102015"/>
                </a:moveTo>
                <a:lnTo>
                  <a:pt x="97146" y="102015"/>
                </a:lnTo>
                <a:cubicBezTo>
                  <a:pt x="99480" y="102015"/>
                  <a:pt x="101337" y="103872"/>
                  <a:pt x="101337" y="106158"/>
                </a:cubicBezTo>
                <a:cubicBezTo>
                  <a:pt x="101337" y="108445"/>
                  <a:pt x="99480" y="110302"/>
                  <a:pt x="97146" y="110302"/>
                </a:cubicBezTo>
                <a:lnTo>
                  <a:pt x="69477" y="110302"/>
                </a:lnTo>
                <a:cubicBezTo>
                  <a:pt x="67191" y="110302"/>
                  <a:pt x="65334" y="108445"/>
                  <a:pt x="65334" y="106158"/>
                </a:cubicBezTo>
                <a:cubicBezTo>
                  <a:pt x="65334" y="103872"/>
                  <a:pt x="67191" y="102015"/>
                  <a:pt x="69477" y="102015"/>
                </a:cubicBezTo>
                <a:close/>
                <a:moveTo>
                  <a:pt x="334621" y="101073"/>
                </a:moveTo>
                <a:cubicBezTo>
                  <a:pt x="323715" y="101073"/>
                  <a:pt x="313903" y="107599"/>
                  <a:pt x="309760" y="117697"/>
                </a:cubicBezTo>
                <a:cubicBezTo>
                  <a:pt x="305569" y="127747"/>
                  <a:pt x="307855" y="139321"/>
                  <a:pt x="315570" y="147038"/>
                </a:cubicBezTo>
                <a:cubicBezTo>
                  <a:pt x="323286" y="154706"/>
                  <a:pt x="334860" y="157040"/>
                  <a:pt x="344909" y="152849"/>
                </a:cubicBezTo>
                <a:cubicBezTo>
                  <a:pt x="354958" y="148705"/>
                  <a:pt x="361531" y="138845"/>
                  <a:pt x="361531" y="127985"/>
                </a:cubicBezTo>
                <a:cubicBezTo>
                  <a:pt x="361483" y="113124"/>
                  <a:pt x="349434" y="101121"/>
                  <a:pt x="334621" y="101073"/>
                </a:cubicBezTo>
                <a:close/>
                <a:moveTo>
                  <a:pt x="327727" y="93422"/>
                </a:moveTo>
                <a:cubicBezTo>
                  <a:pt x="334419" y="92095"/>
                  <a:pt x="341504" y="92714"/>
                  <a:pt x="348100" y="95453"/>
                </a:cubicBezTo>
                <a:cubicBezTo>
                  <a:pt x="361245" y="100883"/>
                  <a:pt x="369818" y="113743"/>
                  <a:pt x="369818" y="127985"/>
                </a:cubicBezTo>
                <a:cubicBezTo>
                  <a:pt x="369818" y="147419"/>
                  <a:pt x="354054" y="163185"/>
                  <a:pt x="334621" y="163232"/>
                </a:cubicBezTo>
                <a:cubicBezTo>
                  <a:pt x="320381" y="163232"/>
                  <a:pt x="307521" y="154611"/>
                  <a:pt x="302044" y="141465"/>
                </a:cubicBezTo>
                <a:cubicBezTo>
                  <a:pt x="296615" y="128318"/>
                  <a:pt x="299615" y="113124"/>
                  <a:pt x="309712" y="103074"/>
                </a:cubicBezTo>
                <a:cubicBezTo>
                  <a:pt x="314737" y="98025"/>
                  <a:pt x="321036" y="94750"/>
                  <a:pt x="327727" y="93422"/>
                </a:cubicBezTo>
                <a:close/>
                <a:moveTo>
                  <a:pt x="167383" y="62738"/>
                </a:moveTo>
                <a:lnTo>
                  <a:pt x="131088" y="99042"/>
                </a:lnTo>
                <a:lnTo>
                  <a:pt x="167383" y="99042"/>
                </a:lnTo>
                <a:close/>
                <a:moveTo>
                  <a:pt x="69477" y="61865"/>
                </a:moveTo>
                <a:lnTo>
                  <a:pt x="97146" y="61865"/>
                </a:lnTo>
                <a:cubicBezTo>
                  <a:pt x="99480" y="61865"/>
                  <a:pt x="101337" y="63722"/>
                  <a:pt x="101337" y="66008"/>
                </a:cubicBezTo>
                <a:cubicBezTo>
                  <a:pt x="101337" y="68342"/>
                  <a:pt x="99480" y="70200"/>
                  <a:pt x="97146" y="70200"/>
                </a:cubicBezTo>
                <a:lnTo>
                  <a:pt x="69477" y="70200"/>
                </a:lnTo>
                <a:cubicBezTo>
                  <a:pt x="67191" y="70200"/>
                  <a:pt x="65334" y="68342"/>
                  <a:pt x="65334" y="66008"/>
                </a:cubicBezTo>
                <a:cubicBezTo>
                  <a:pt x="65334" y="63722"/>
                  <a:pt x="67191" y="61865"/>
                  <a:pt x="69477" y="61865"/>
                </a:cubicBezTo>
                <a:close/>
                <a:moveTo>
                  <a:pt x="372170" y="56940"/>
                </a:moveTo>
                <a:lnTo>
                  <a:pt x="380456" y="56940"/>
                </a:lnTo>
                <a:lnTo>
                  <a:pt x="380456" y="66008"/>
                </a:lnTo>
                <a:cubicBezTo>
                  <a:pt x="380456" y="68342"/>
                  <a:pt x="378599" y="70200"/>
                  <a:pt x="376313" y="70200"/>
                </a:cubicBezTo>
                <a:cubicBezTo>
                  <a:pt x="374027" y="70200"/>
                  <a:pt x="372170" y="68342"/>
                  <a:pt x="372170" y="66008"/>
                </a:cubicBezTo>
                <a:close/>
                <a:moveTo>
                  <a:pt x="352406" y="56940"/>
                </a:moveTo>
                <a:lnTo>
                  <a:pt x="360740" y="56940"/>
                </a:lnTo>
                <a:lnTo>
                  <a:pt x="360740" y="66008"/>
                </a:lnTo>
                <a:cubicBezTo>
                  <a:pt x="360740" y="68342"/>
                  <a:pt x="358883" y="70200"/>
                  <a:pt x="356549" y="70200"/>
                </a:cubicBezTo>
                <a:cubicBezTo>
                  <a:pt x="354263" y="70200"/>
                  <a:pt x="352406" y="68342"/>
                  <a:pt x="352406" y="66008"/>
                </a:cubicBezTo>
                <a:close/>
                <a:moveTo>
                  <a:pt x="332738" y="56940"/>
                </a:moveTo>
                <a:lnTo>
                  <a:pt x="341072" y="56940"/>
                </a:lnTo>
                <a:lnTo>
                  <a:pt x="341072" y="66008"/>
                </a:lnTo>
                <a:cubicBezTo>
                  <a:pt x="341072" y="68342"/>
                  <a:pt x="339214" y="70200"/>
                  <a:pt x="336928" y="70200"/>
                </a:cubicBezTo>
                <a:cubicBezTo>
                  <a:pt x="334595" y="70200"/>
                  <a:pt x="332738" y="68342"/>
                  <a:pt x="332738" y="66008"/>
                </a:cubicBezTo>
                <a:close/>
                <a:moveTo>
                  <a:pt x="313069" y="56940"/>
                </a:moveTo>
                <a:lnTo>
                  <a:pt x="321356" y="56940"/>
                </a:lnTo>
                <a:lnTo>
                  <a:pt x="321356" y="66008"/>
                </a:lnTo>
                <a:cubicBezTo>
                  <a:pt x="321356" y="68342"/>
                  <a:pt x="319498" y="70200"/>
                  <a:pt x="317213" y="70200"/>
                </a:cubicBezTo>
                <a:cubicBezTo>
                  <a:pt x="314927" y="70200"/>
                  <a:pt x="313069" y="68342"/>
                  <a:pt x="313069" y="66008"/>
                </a:cubicBezTo>
                <a:close/>
                <a:moveTo>
                  <a:pt x="293401" y="56940"/>
                </a:moveTo>
                <a:lnTo>
                  <a:pt x="301687" y="56940"/>
                </a:lnTo>
                <a:lnTo>
                  <a:pt x="301687" y="66008"/>
                </a:lnTo>
                <a:cubicBezTo>
                  <a:pt x="301687" y="68342"/>
                  <a:pt x="299830" y="70200"/>
                  <a:pt x="297544" y="70200"/>
                </a:cubicBezTo>
                <a:cubicBezTo>
                  <a:pt x="295258" y="70200"/>
                  <a:pt x="293401" y="68342"/>
                  <a:pt x="293401" y="66008"/>
                </a:cubicBezTo>
                <a:close/>
                <a:moveTo>
                  <a:pt x="273733" y="56940"/>
                </a:moveTo>
                <a:lnTo>
                  <a:pt x="282019" y="56940"/>
                </a:lnTo>
                <a:lnTo>
                  <a:pt x="282019" y="66008"/>
                </a:lnTo>
                <a:cubicBezTo>
                  <a:pt x="282019" y="68342"/>
                  <a:pt x="280162" y="70200"/>
                  <a:pt x="277876" y="70200"/>
                </a:cubicBezTo>
                <a:cubicBezTo>
                  <a:pt x="275590" y="70200"/>
                  <a:pt x="273733" y="68342"/>
                  <a:pt x="273733" y="66008"/>
                </a:cubicBezTo>
                <a:close/>
                <a:moveTo>
                  <a:pt x="254064" y="56940"/>
                </a:moveTo>
                <a:lnTo>
                  <a:pt x="262351" y="56940"/>
                </a:lnTo>
                <a:lnTo>
                  <a:pt x="262351" y="66008"/>
                </a:lnTo>
                <a:cubicBezTo>
                  <a:pt x="262351" y="68342"/>
                  <a:pt x="260493" y="70200"/>
                  <a:pt x="258207" y="70200"/>
                </a:cubicBezTo>
                <a:cubicBezTo>
                  <a:pt x="255922" y="70200"/>
                  <a:pt x="254064" y="68342"/>
                  <a:pt x="254064" y="66008"/>
                </a:cubicBezTo>
                <a:close/>
                <a:moveTo>
                  <a:pt x="234396" y="56940"/>
                </a:moveTo>
                <a:lnTo>
                  <a:pt x="242682" y="56940"/>
                </a:lnTo>
                <a:lnTo>
                  <a:pt x="242682" y="66008"/>
                </a:lnTo>
                <a:cubicBezTo>
                  <a:pt x="242682" y="68342"/>
                  <a:pt x="240825" y="70200"/>
                  <a:pt x="238539" y="70200"/>
                </a:cubicBezTo>
                <a:cubicBezTo>
                  <a:pt x="236253" y="70200"/>
                  <a:pt x="234396" y="68342"/>
                  <a:pt x="234396" y="66008"/>
                </a:cubicBezTo>
                <a:close/>
                <a:moveTo>
                  <a:pt x="214680" y="56940"/>
                </a:moveTo>
                <a:lnTo>
                  <a:pt x="223014" y="56940"/>
                </a:lnTo>
                <a:lnTo>
                  <a:pt x="223014" y="66008"/>
                </a:lnTo>
                <a:cubicBezTo>
                  <a:pt x="223014" y="68342"/>
                  <a:pt x="221157" y="70200"/>
                  <a:pt x="218871" y="70200"/>
                </a:cubicBezTo>
                <a:cubicBezTo>
                  <a:pt x="216537" y="70200"/>
                  <a:pt x="214680" y="68342"/>
                  <a:pt x="214680" y="66008"/>
                </a:cubicBezTo>
                <a:close/>
                <a:moveTo>
                  <a:pt x="194916" y="56940"/>
                </a:moveTo>
                <a:lnTo>
                  <a:pt x="203250" y="56940"/>
                </a:lnTo>
                <a:lnTo>
                  <a:pt x="203250" y="66008"/>
                </a:lnTo>
                <a:cubicBezTo>
                  <a:pt x="203250" y="68342"/>
                  <a:pt x="201393" y="70200"/>
                  <a:pt x="199060" y="70200"/>
                </a:cubicBezTo>
                <a:cubicBezTo>
                  <a:pt x="196774" y="70200"/>
                  <a:pt x="194916" y="68342"/>
                  <a:pt x="194916" y="66008"/>
                </a:cubicBezTo>
                <a:close/>
                <a:moveTo>
                  <a:pt x="218871" y="50815"/>
                </a:moveTo>
                <a:lnTo>
                  <a:pt x="222407" y="54352"/>
                </a:lnTo>
                <a:lnTo>
                  <a:pt x="219852" y="56937"/>
                </a:lnTo>
                <a:lnTo>
                  <a:pt x="216286" y="53370"/>
                </a:lnTo>
                <a:close/>
                <a:moveTo>
                  <a:pt x="171024" y="49156"/>
                </a:moveTo>
                <a:lnTo>
                  <a:pt x="167430" y="52750"/>
                </a:lnTo>
                <a:lnTo>
                  <a:pt x="167430" y="99077"/>
                </a:lnTo>
                <a:lnTo>
                  <a:pt x="121100" y="99077"/>
                </a:lnTo>
                <a:lnTo>
                  <a:pt x="117662" y="102515"/>
                </a:lnTo>
                <a:lnTo>
                  <a:pt x="118132" y="100280"/>
                </a:lnTo>
                <a:lnTo>
                  <a:pt x="168622" y="49637"/>
                </a:lnTo>
                <a:close/>
                <a:moveTo>
                  <a:pt x="223994" y="48608"/>
                </a:moveTo>
                <a:lnTo>
                  <a:pt x="397222" y="48608"/>
                </a:lnTo>
                <a:cubicBezTo>
                  <a:pt x="399507" y="48608"/>
                  <a:pt x="401364" y="50465"/>
                  <a:pt x="401364" y="52750"/>
                </a:cubicBezTo>
                <a:lnTo>
                  <a:pt x="401364" y="367561"/>
                </a:lnTo>
                <a:cubicBezTo>
                  <a:pt x="401364" y="369846"/>
                  <a:pt x="399507" y="371703"/>
                  <a:pt x="397222" y="371703"/>
                </a:cubicBezTo>
                <a:lnTo>
                  <a:pt x="223994" y="371703"/>
                </a:lnTo>
                <a:lnTo>
                  <a:pt x="223994" y="369369"/>
                </a:lnTo>
                <a:lnTo>
                  <a:pt x="227205" y="366158"/>
                </a:lnTo>
                <a:lnTo>
                  <a:pt x="227205" y="363419"/>
                </a:lnTo>
                <a:lnTo>
                  <a:pt x="238587" y="363419"/>
                </a:lnTo>
                <a:lnTo>
                  <a:pt x="238587" y="366158"/>
                </a:lnTo>
                <a:cubicBezTo>
                  <a:pt x="238587" y="368444"/>
                  <a:pt x="240444" y="370301"/>
                  <a:pt x="242730" y="370301"/>
                </a:cubicBezTo>
                <a:cubicBezTo>
                  <a:pt x="245016" y="370301"/>
                  <a:pt x="246873" y="368444"/>
                  <a:pt x="246873" y="366158"/>
                </a:cubicBezTo>
                <a:lnTo>
                  <a:pt x="246873" y="363419"/>
                </a:lnTo>
                <a:lnTo>
                  <a:pt x="258255" y="363419"/>
                </a:lnTo>
                <a:lnTo>
                  <a:pt x="258255" y="366158"/>
                </a:lnTo>
                <a:cubicBezTo>
                  <a:pt x="258255" y="368444"/>
                  <a:pt x="260112" y="370301"/>
                  <a:pt x="262398" y="370301"/>
                </a:cubicBezTo>
                <a:cubicBezTo>
                  <a:pt x="264684" y="370301"/>
                  <a:pt x="266589" y="368444"/>
                  <a:pt x="266589" y="366158"/>
                </a:cubicBezTo>
                <a:lnTo>
                  <a:pt x="266589" y="363419"/>
                </a:lnTo>
                <a:lnTo>
                  <a:pt x="278019" y="363419"/>
                </a:lnTo>
                <a:lnTo>
                  <a:pt x="278019" y="366158"/>
                </a:lnTo>
                <a:cubicBezTo>
                  <a:pt x="278019" y="368444"/>
                  <a:pt x="279876" y="370301"/>
                  <a:pt x="282162" y="370301"/>
                </a:cubicBezTo>
                <a:cubicBezTo>
                  <a:pt x="284448" y="370301"/>
                  <a:pt x="286305" y="368444"/>
                  <a:pt x="286305" y="366158"/>
                </a:cubicBezTo>
                <a:lnTo>
                  <a:pt x="286305" y="363419"/>
                </a:lnTo>
                <a:lnTo>
                  <a:pt x="297592" y="363419"/>
                </a:lnTo>
                <a:lnTo>
                  <a:pt x="297592" y="366158"/>
                </a:lnTo>
                <a:cubicBezTo>
                  <a:pt x="297592" y="368444"/>
                  <a:pt x="299449" y="370301"/>
                  <a:pt x="301735" y="370301"/>
                </a:cubicBezTo>
                <a:cubicBezTo>
                  <a:pt x="304021" y="370301"/>
                  <a:pt x="305878" y="368444"/>
                  <a:pt x="305878" y="366158"/>
                </a:cubicBezTo>
                <a:lnTo>
                  <a:pt x="305878" y="363419"/>
                </a:lnTo>
                <a:lnTo>
                  <a:pt x="317260" y="363419"/>
                </a:lnTo>
                <a:lnTo>
                  <a:pt x="317260" y="366158"/>
                </a:lnTo>
                <a:cubicBezTo>
                  <a:pt x="317260" y="368444"/>
                  <a:pt x="319117" y="370301"/>
                  <a:pt x="321403" y="370301"/>
                </a:cubicBezTo>
                <a:cubicBezTo>
                  <a:pt x="323737" y="370301"/>
                  <a:pt x="325594" y="368444"/>
                  <a:pt x="325594" y="366158"/>
                </a:cubicBezTo>
                <a:lnTo>
                  <a:pt x="325594" y="363419"/>
                </a:lnTo>
                <a:lnTo>
                  <a:pt x="336928" y="363419"/>
                </a:lnTo>
                <a:lnTo>
                  <a:pt x="336928" y="366158"/>
                </a:lnTo>
                <a:cubicBezTo>
                  <a:pt x="336928" y="368444"/>
                  <a:pt x="338786" y="370301"/>
                  <a:pt x="341072" y="370301"/>
                </a:cubicBezTo>
                <a:cubicBezTo>
                  <a:pt x="343405" y="370301"/>
                  <a:pt x="345263" y="368444"/>
                  <a:pt x="345263" y="366158"/>
                </a:cubicBezTo>
                <a:lnTo>
                  <a:pt x="345263" y="363419"/>
                </a:lnTo>
                <a:lnTo>
                  <a:pt x="356644" y="363419"/>
                </a:lnTo>
                <a:lnTo>
                  <a:pt x="356644" y="366158"/>
                </a:lnTo>
                <a:cubicBezTo>
                  <a:pt x="356644" y="368444"/>
                  <a:pt x="358502" y="370301"/>
                  <a:pt x="360788" y="370301"/>
                </a:cubicBezTo>
                <a:cubicBezTo>
                  <a:pt x="363074" y="370301"/>
                  <a:pt x="364931" y="368444"/>
                  <a:pt x="364931" y="366158"/>
                </a:cubicBezTo>
                <a:lnTo>
                  <a:pt x="364931" y="363419"/>
                </a:lnTo>
                <a:lnTo>
                  <a:pt x="376265" y="363419"/>
                </a:lnTo>
                <a:lnTo>
                  <a:pt x="376265" y="366158"/>
                </a:lnTo>
                <a:cubicBezTo>
                  <a:pt x="376265" y="368444"/>
                  <a:pt x="378122" y="370301"/>
                  <a:pt x="380456" y="370301"/>
                </a:cubicBezTo>
                <a:cubicBezTo>
                  <a:pt x="382742" y="370301"/>
                  <a:pt x="384599" y="368444"/>
                  <a:pt x="384599" y="366158"/>
                </a:cubicBezTo>
                <a:lnTo>
                  <a:pt x="384599" y="363419"/>
                </a:lnTo>
                <a:lnTo>
                  <a:pt x="393079" y="363419"/>
                </a:lnTo>
                <a:lnTo>
                  <a:pt x="393079" y="56940"/>
                </a:lnTo>
                <a:lnTo>
                  <a:pt x="380456" y="56940"/>
                </a:lnTo>
                <a:lnTo>
                  <a:pt x="380456" y="54959"/>
                </a:lnTo>
                <a:cubicBezTo>
                  <a:pt x="380456" y="52673"/>
                  <a:pt x="378599" y="50815"/>
                  <a:pt x="376313" y="50815"/>
                </a:cubicBezTo>
                <a:cubicBezTo>
                  <a:pt x="374027" y="50815"/>
                  <a:pt x="372170" y="52673"/>
                  <a:pt x="372170" y="54959"/>
                </a:cubicBezTo>
                <a:lnTo>
                  <a:pt x="372170" y="56940"/>
                </a:lnTo>
                <a:lnTo>
                  <a:pt x="360740" y="56940"/>
                </a:lnTo>
                <a:lnTo>
                  <a:pt x="360740" y="54959"/>
                </a:lnTo>
                <a:cubicBezTo>
                  <a:pt x="360740" y="52673"/>
                  <a:pt x="358883" y="50815"/>
                  <a:pt x="356549" y="50815"/>
                </a:cubicBezTo>
                <a:cubicBezTo>
                  <a:pt x="354263" y="50815"/>
                  <a:pt x="352406" y="52673"/>
                  <a:pt x="352406" y="54959"/>
                </a:cubicBezTo>
                <a:lnTo>
                  <a:pt x="352406" y="56940"/>
                </a:lnTo>
                <a:lnTo>
                  <a:pt x="341072" y="56940"/>
                </a:lnTo>
                <a:lnTo>
                  <a:pt x="341072" y="54959"/>
                </a:lnTo>
                <a:cubicBezTo>
                  <a:pt x="341072" y="52673"/>
                  <a:pt x="339214" y="50815"/>
                  <a:pt x="336928" y="50815"/>
                </a:cubicBezTo>
                <a:cubicBezTo>
                  <a:pt x="334595" y="50815"/>
                  <a:pt x="332738" y="52673"/>
                  <a:pt x="332738" y="54959"/>
                </a:cubicBezTo>
                <a:lnTo>
                  <a:pt x="332738" y="56940"/>
                </a:lnTo>
                <a:lnTo>
                  <a:pt x="321356" y="56940"/>
                </a:lnTo>
                <a:lnTo>
                  <a:pt x="321356" y="54959"/>
                </a:lnTo>
                <a:cubicBezTo>
                  <a:pt x="321356" y="52673"/>
                  <a:pt x="319498" y="50815"/>
                  <a:pt x="317213" y="50815"/>
                </a:cubicBezTo>
                <a:cubicBezTo>
                  <a:pt x="314927" y="50815"/>
                  <a:pt x="313069" y="52673"/>
                  <a:pt x="313069" y="54959"/>
                </a:cubicBezTo>
                <a:lnTo>
                  <a:pt x="313069" y="56940"/>
                </a:lnTo>
                <a:lnTo>
                  <a:pt x="301687" y="56940"/>
                </a:lnTo>
                <a:lnTo>
                  <a:pt x="301687" y="54959"/>
                </a:lnTo>
                <a:cubicBezTo>
                  <a:pt x="301687" y="52673"/>
                  <a:pt x="299830" y="50815"/>
                  <a:pt x="297544" y="50815"/>
                </a:cubicBezTo>
                <a:cubicBezTo>
                  <a:pt x="295258" y="50815"/>
                  <a:pt x="293401" y="52673"/>
                  <a:pt x="293401" y="54959"/>
                </a:cubicBezTo>
                <a:lnTo>
                  <a:pt x="293401" y="56940"/>
                </a:lnTo>
                <a:lnTo>
                  <a:pt x="282019" y="56940"/>
                </a:lnTo>
                <a:lnTo>
                  <a:pt x="282019" y="54959"/>
                </a:lnTo>
                <a:cubicBezTo>
                  <a:pt x="282019" y="52673"/>
                  <a:pt x="280162" y="50815"/>
                  <a:pt x="277876" y="50815"/>
                </a:cubicBezTo>
                <a:cubicBezTo>
                  <a:pt x="275590" y="50815"/>
                  <a:pt x="273733" y="52673"/>
                  <a:pt x="273733" y="54959"/>
                </a:cubicBezTo>
                <a:lnTo>
                  <a:pt x="273733" y="56940"/>
                </a:lnTo>
                <a:lnTo>
                  <a:pt x="262351" y="56940"/>
                </a:lnTo>
                <a:lnTo>
                  <a:pt x="262351" y="54959"/>
                </a:lnTo>
                <a:cubicBezTo>
                  <a:pt x="262351" y="52673"/>
                  <a:pt x="260493" y="50815"/>
                  <a:pt x="258207" y="50815"/>
                </a:cubicBezTo>
                <a:cubicBezTo>
                  <a:pt x="255922" y="50815"/>
                  <a:pt x="254064" y="52673"/>
                  <a:pt x="254064" y="54959"/>
                </a:cubicBezTo>
                <a:lnTo>
                  <a:pt x="254064" y="56940"/>
                </a:lnTo>
                <a:lnTo>
                  <a:pt x="242682" y="56940"/>
                </a:lnTo>
                <a:lnTo>
                  <a:pt x="242682" y="54959"/>
                </a:lnTo>
                <a:cubicBezTo>
                  <a:pt x="242682" y="52673"/>
                  <a:pt x="240825" y="50815"/>
                  <a:pt x="238539" y="50815"/>
                </a:cubicBezTo>
                <a:cubicBezTo>
                  <a:pt x="236253" y="50815"/>
                  <a:pt x="234396" y="52673"/>
                  <a:pt x="234396" y="54959"/>
                </a:cubicBezTo>
                <a:lnTo>
                  <a:pt x="234396" y="56940"/>
                </a:lnTo>
                <a:lnTo>
                  <a:pt x="223014" y="56940"/>
                </a:lnTo>
                <a:lnTo>
                  <a:pt x="223014" y="54959"/>
                </a:lnTo>
                <a:lnTo>
                  <a:pt x="222407" y="54352"/>
                </a:lnTo>
                <a:lnTo>
                  <a:pt x="223994" y="52747"/>
                </a:lnTo>
                <a:close/>
                <a:moveTo>
                  <a:pt x="171572" y="48608"/>
                </a:moveTo>
                <a:lnTo>
                  <a:pt x="215662" y="48608"/>
                </a:lnTo>
                <a:lnTo>
                  <a:pt x="215662" y="52747"/>
                </a:lnTo>
                <a:lnTo>
                  <a:pt x="216286" y="53370"/>
                </a:lnTo>
                <a:lnTo>
                  <a:pt x="214680" y="54959"/>
                </a:lnTo>
                <a:lnTo>
                  <a:pt x="214680" y="56940"/>
                </a:lnTo>
                <a:lnTo>
                  <a:pt x="203250" y="56940"/>
                </a:lnTo>
                <a:lnTo>
                  <a:pt x="203250" y="54959"/>
                </a:lnTo>
                <a:cubicBezTo>
                  <a:pt x="203250" y="52673"/>
                  <a:pt x="201393" y="50815"/>
                  <a:pt x="199060" y="50815"/>
                </a:cubicBezTo>
                <a:cubicBezTo>
                  <a:pt x="196774" y="50815"/>
                  <a:pt x="194916" y="52673"/>
                  <a:pt x="194916" y="54959"/>
                </a:cubicBezTo>
                <a:lnTo>
                  <a:pt x="194916" y="56940"/>
                </a:lnTo>
                <a:lnTo>
                  <a:pt x="175762" y="56940"/>
                </a:lnTo>
                <a:lnTo>
                  <a:pt x="175762" y="103219"/>
                </a:lnTo>
                <a:cubicBezTo>
                  <a:pt x="175762" y="105552"/>
                  <a:pt x="173905" y="107409"/>
                  <a:pt x="171572" y="107409"/>
                </a:cubicBezTo>
                <a:lnTo>
                  <a:pt x="125290" y="107409"/>
                </a:lnTo>
                <a:lnTo>
                  <a:pt x="125290" y="363419"/>
                </a:lnTo>
                <a:lnTo>
                  <a:pt x="140197" y="363419"/>
                </a:lnTo>
                <a:lnTo>
                  <a:pt x="140197" y="366158"/>
                </a:lnTo>
                <a:cubicBezTo>
                  <a:pt x="140197" y="368444"/>
                  <a:pt x="142055" y="370301"/>
                  <a:pt x="144341" y="370301"/>
                </a:cubicBezTo>
                <a:cubicBezTo>
                  <a:pt x="146674" y="370301"/>
                  <a:pt x="148531" y="368444"/>
                  <a:pt x="148531" y="366158"/>
                </a:cubicBezTo>
                <a:lnTo>
                  <a:pt x="148531" y="363419"/>
                </a:lnTo>
                <a:lnTo>
                  <a:pt x="159913" y="363419"/>
                </a:lnTo>
                <a:lnTo>
                  <a:pt x="159913" y="366158"/>
                </a:lnTo>
                <a:cubicBezTo>
                  <a:pt x="159913" y="368444"/>
                  <a:pt x="161771" y="370301"/>
                  <a:pt x="164057" y="370301"/>
                </a:cubicBezTo>
                <a:cubicBezTo>
                  <a:pt x="166342" y="370301"/>
                  <a:pt x="168200" y="368444"/>
                  <a:pt x="168200" y="366158"/>
                </a:cubicBezTo>
                <a:lnTo>
                  <a:pt x="168200" y="363419"/>
                </a:lnTo>
                <a:lnTo>
                  <a:pt x="179534" y="363419"/>
                </a:lnTo>
                <a:lnTo>
                  <a:pt x="179534" y="366158"/>
                </a:lnTo>
                <a:cubicBezTo>
                  <a:pt x="179534" y="368444"/>
                  <a:pt x="181439" y="370301"/>
                  <a:pt x="183725" y="370301"/>
                </a:cubicBezTo>
                <a:cubicBezTo>
                  <a:pt x="186011" y="370301"/>
                  <a:pt x="187868" y="368444"/>
                  <a:pt x="187868" y="366158"/>
                </a:cubicBezTo>
                <a:lnTo>
                  <a:pt x="187868" y="363419"/>
                </a:lnTo>
                <a:lnTo>
                  <a:pt x="199202" y="363419"/>
                </a:lnTo>
                <a:lnTo>
                  <a:pt x="199202" y="366158"/>
                </a:lnTo>
                <a:cubicBezTo>
                  <a:pt x="199202" y="368444"/>
                  <a:pt x="201060" y="370301"/>
                  <a:pt x="203393" y="370301"/>
                </a:cubicBezTo>
                <a:cubicBezTo>
                  <a:pt x="205679" y="370301"/>
                  <a:pt x="207536" y="368444"/>
                  <a:pt x="207536" y="366158"/>
                </a:cubicBezTo>
                <a:lnTo>
                  <a:pt x="207536" y="363419"/>
                </a:lnTo>
                <a:lnTo>
                  <a:pt x="218428" y="363419"/>
                </a:lnTo>
                <a:lnTo>
                  <a:pt x="215662" y="366153"/>
                </a:lnTo>
                <a:lnTo>
                  <a:pt x="215662" y="371703"/>
                </a:lnTo>
                <a:lnTo>
                  <a:pt x="121100" y="371703"/>
                </a:lnTo>
                <a:cubicBezTo>
                  <a:pt x="118814" y="371703"/>
                  <a:pt x="116957" y="369846"/>
                  <a:pt x="116957" y="367561"/>
                </a:cubicBezTo>
                <a:lnTo>
                  <a:pt x="116957" y="103219"/>
                </a:lnTo>
                <a:lnTo>
                  <a:pt x="117662" y="102515"/>
                </a:lnTo>
                <a:lnTo>
                  <a:pt x="117179" y="104806"/>
                </a:lnTo>
                <a:cubicBezTo>
                  <a:pt x="117846" y="106378"/>
                  <a:pt x="119371" y="107379"/>
                  <a:pt x="121038" y="107379"/>
                </a:cubicBezTo>
                <a:lnTo>
                  <a:pt x="171527" y="107379"/>
                </a:lnTo>
                <a:cubicBezTo>
                  <a:pt x="173861" y="107379"/>
                  <a:pt x="175719" y="105521"/>
                  <a:pt x="175719" y="103186"/>
                </a:cubicBezTo>
                <a:lnTo>
                  <a:pt x="175719" y="52590"/>
                </a:lnTo>
                <a:cubicBezTo>
                  <a:pt x="175719" y="50923"/>
                  <a:pt x="174719" y="49398"/>
                  <a:pt x="173147" y="48731"/>
                </a:cubicBezTo>
                <a:lnTo>
                  <a:pt x="171024" y="49156"/>
                </a:lnTo>
                <a:close/>
                <a:moveTo>
                  <a:pt x="196155" y="18190"/>
                </a:moveTo>
                <a:cubicBezTo>
                  <a:pt x="197774" y="16666"/>
                  <a:pt x="200345" y="16666"/>
                  <a:pt x="202012" y="18190"/>
                </a:cubicBezTo>
                <a:cubicBezTo>
                  <a:pt x="202774" y="19000"/>
                  <a:pt x="203250" y="20048"/>
                  <a:pt x="203250" y="21143"/>
                </a:cubicBezTo>
                <a:cubicBezTo>
                  <a:pt x="203203" y="22239"/>
                  <a:pt x="202774" y="23286"/>
                  <a:pt x="202012" y="24096"/>
                </a:cubicBezTo>
                <a:cubicBezTo>
                  <a:pt x="201250" y="24858"/>
                  <a:pt x="200155" y="25287"/>
                  <a:pt x="199060" y="25287"/>
                </a:cubicBezTo>
                <a:cubicBezTo>
                  <a:pt x="198536" y="25287"/>
                  <a:pt x="197964" y="25191"/>
                  <a:pt x="197488" y="24953"/>
                </a:cubicBezTo>
                <a:cubicBezTo>
                  <a:pt x="196964" y="24763"/>
                  <a:pt x="196536" y="24477"/>
                  <a:pt x="196155" y="24096"/>
                </a:cubicBezTo>
                <a:cubicBezTo>
                  <a:pt x="195345" y="23286"/>
                  <a:pt x="194916" y="22239"/>
                  <a:pt x="194916" y="21143"/>
                </a:cubicBezTo>
                <a:cubicBezTo>
                  <a:pt x="194916" y="20048"/>
                  <a:pt x="195345" y="19000"/>
                  <a:pt x="196155" y="18190"/>
                </a:cubicBezTo>
                <a:close/>
                <a:moveTo>
                  <a:pt x="64572" y="17285"/>
                </a:moveTo>
                <a:cubicBezTo>
                  <a:pt x="65620" y="16904"/>
                  <a:pt x="66715" y="16904"/>
                  <a:pt x="67763" y="17285"/>
                </a:cubicBezTo>
                <a:lnTo>
                  <a:pt x="68477" y="17666"/>
                </a:lnTo>
                <a:cubicBezTo>
                  <a:pt x="68715" y="17809"/>
                  <a:pt x="68906" y="18000"/>
                  <a:pt x="69096" y="18190"/>
                </a:cubicBezTo>
                <a:cubicBezTo>
                  <a:pt x="69858" y="19000"/>
                  <a:pt x="70287" y="20048"/>
                  <a:pt x="70287" y="21143"/>
                </a:cubicBezTo>
                <a:cubicBezTo>
                  <a:pt x="70287" y="22286"/>
                  <a:pt x="69763" y="23334"/>
                  <a:pt x="68906" y="24096"/>
                </a:cubicBezTo>
                <a:cubicBezTo>
                  <a:pt x="68525" y="24477"/>
                  <a:pt x="68096" y="24763"/>
                  <a:pt x="67572" y="24953"/>
                </a:cubicBezTo>
                <a:cubicBezTo>
                  <a:pt x="67144" y="25144"/>
                  <a:pt x="66667" y="25239"/>
                  <a:pt x="66143" y="25287"/>
                </a:cubicBezTo>
                <a:cubicBezTo>
                  <a:pt x="63858" y="25287"/>
                  <a:pt x="62000" y="23429"/>
                  <a:pt x="62000" y="21143"/>
                </a:cubicBezTo>
                <a:cubicBezTo>
                  <a:pt x="62000" y="20572"/>
                  <a:pt x="62095" y="20048"/>
                  <a:pt x="62334" y="19524"/>
                </a:cubicBezTo>
                <a:cubicBezTo>
                  <a:pt x="62429" y="19286"/>
                  <a:pt x="62572" y="19048"/>
                  <a:pt x="62715" y="18809"/>
                </a:cubicBezTo>
                <a:cubicBezTo>
                  <a:pt x="62857" y="18571"/>
                  <a:pt x="63048" y="18381"/>
                  <a:pt x="63238" y="18190"/>
                </a:cubicBezTo>
                <a:cubicBezTo>
                  <a:pt x="63429" y="18000"/>
                  <a:pt x="63619" y="17857"/>
                  <a:pt x="63858" y="17666"/>
                </a:cubicBezTo>
                <a:close/>
                <a:moveTo>
                  <a:pt x="165866" y="17000"/>
                </a:moveTo>
                <a:cubicBezTo>
                  <a:pt x="168152" y="17000"/>
                  <a:pt x="170009" y="18857"/>
                  <a:pt x="170009" y="21143"/>
                </a:cubicBezTo>
                <a:cubicBezTo>
                  <a:pt x="170009" y="23429"/>
                  <a:pt x="168152" y="25287"/>
                  <a:pt x="165866" y="25287"/>
                </a:cubicBezTo>
                <a:cubicBezTo>
                  <a:pt x="163533" y="25287"/>
                  <a:pt x="161675" y="23429"/>
                  <a:pt x="161675" y="21143"/>
                </a:cubicBezTo>
                <a:cubicBezTo>
                  <a:pt x="161675" y="18857"/>
                  <a:pt x="163533" y="17000"/>
                  <a:pt x="165866" y="17000"/>
                </a:cubicBezTo>
                <a:close/>
                <a:moveTo>
                  <a:pt x="132625" y="17000"/>
                </a:moveTo>
                <a:cubicBezTo>
                  <a:pt x="134911" y="17000"/>
                  <a:pt x="136769" y="18857"/>
                  <a:pt x="136769" y="21143"/>
                </a:cubicBezTo>
                <a:cubicBezTo>
                  <a:pt x="136769" y="23429"/>
                  <a:pt x="134911" y="25287"/>
                  <a:pt x="132625" y="25287"/>
                </a:cubicBezTo>
                <a:cubicBezTo>
                  <a:pt x="130292" y="25287"/>
                  <a:pt x="128434" y="23429"/>
                  <a:pt x="128434" y="21143"/>
                </a:cubicBezTo>
                <a:lnTo>
                  <a:pt x="128482" y="21143"/>
                </a:lnTo>
                <a:cubicBezTo>
                  <a:pt x="128482" y="18857"/>
                  <a:pt x="130339" y="17000"/>
                  <a:pt x="132625" y="17000"/>
                </a:cubicBezTo>
                <a:close/>
                <a:moveTo>
                  <a:pt x="99384" y="17000"/>
                </a:moveTo>
                <a:cubicBezTo>
                  <a:pt x="101670" y="17000"/>
                  <a:pt x="103528" y="18857"/>
                  <a:pt x="103528" y="21143"/>
                </a:cubicBezTo>
                <a:cubicBezTo>
                  <a:pt x="103528" y="23429"/>
                  <a:pt x="101670" y="25287"/>
                  <a:pt x="99384" y="25287"/>
                </a:cubicBezTo>
                <a:cubicBezTo>
                  <a:pt x="97051" y="25334"/>
                  <a:pt x="95146" y="23477"/>
                  <a:pt x="95146" y="21143"/>
                </a:cubicBezTo>
                <a:lnTo>
                  <a:pt x="95241" y="21143"/>
                </a:lnTo>
                <a:cubicBezTo>
                  <a:pt x="95241" y="18857"/>
                  <a:pt x="97098" y="17000"/>
                  <a:pt x="99384" y="17000"/>
                </a:cubicBezTo>
                <a:close/>
                <a:moveTo>
                  <a:pt x="25022" y="8282"/>
                </a:moveTo>
                <a:cubicBezTo>
                  <a:pt x="29613" y="8282"/>
                  <a:pt x="33775" y="10151"/>
                  <a:pt x="36790" y="13173"/>
                </a:cubicBezTo>
                <a:lnTo>
                  <a:pt x="41437" y="24423"/>
                </a:lnTo>
                <a:lnTo>
                  <a:pt x="36631" y="13672"/>
                </a:lnTo>
                <a:cubicBezTo>
                  <a:pt x="33631" y="10809"/>
                  <a:pt x="29548" y="9083"/>
                  <a:pt x="25073" y="9178"/>
                </a:cubicBezTo>
                <a:lnTo>
                  <a:pt x="24425" y="8530"/>
                </a:lnTo>
                <a:close/>
                <a:moveTo>
                  <a:pt x="27187" y="897"/>
                </a:moveTo>
                <a:lnTo>
                  <a:pt x="194570" y="1226"/>
                </a:lnTo>
                <a:cubicBezTo>
                  <a:pt x="210520" y="988"/>
                  <a:pt x="223661" y="13654"/>
                  <a:pt x="223994" y="29605"/>
                </a:cubicBezTo>
                <a:lnTo>
                  <a:pt x="223994" y="48608"/>
                </a:lnTo>
                <a:lnTo>
                  <a:pt x="215662" y="48608"/>
                </a:lnTo>
                <a:lnTo>
                  <a:pt x="215662" y="29605"/>
                </a:lnTo>
                <a:cubicBezTo>
                  <a:pt x="215329" y="18225"/>
                  <a:pt x="205902" y="9273"/>
                  <a:pt x="194570" y="9511"/>
                </a:cubicBezTo>
                <a:lnTo>
                  <a:pt x="44022" y="9226"/>
                </a:lnTo>
                <a:cubicBezTo>
                  <a:pt x="47926" y="13559"/>
                  <a:pt x="50117" y="19178"/>
                  <a:pt x="50117" y="24987"/>
                </a:cubicBezTo>
                <a:lnTo>
                  <a:pt x="50117" y="388910"/>
                </a:lnTo>
                <a:lnTo>
                  <a:pt x="45807" y="388910"/>
                </a:lnTo>
                <a:lnTo>
                  <a:pt x="41700" y="393018"/>
                </a:lnTo>
                <a:lnTo>
                  <a:pt x="41689" y="393008"/>
                </a:lnTo>
                <a:lnTo>
                  <a:pt x="41689" y="73210"/>
                </a:lnTo>
                <a:lnTo>
                  <a:pt x="45811" y="73210"/>
                </a:lnTo>
                <a:cubicBezTo>
                  <a:pt x="48094" y="73210"/>
                  <a:pt x="49949" y="71354"/>
                  <a:pt x="49997" y="69069"/>
                </a:cubicBezTo>
                <a:lnTo>
                  <a:pt x="49997" y="24991"/>
                </a:lnTo>
                <a:cubicBezTo>
                  <a:pt x="49997" y="18089"/>
                  <a:pt x="47202" y="11841"/>
                  <a:pt x="42683" y="7319"/>
                </a:cubicBezTo>
                <a:close/>
                <a:moveTo>
                  <a:pt x="25022" y="0"/>
                </a:moveTo>
                <a:lnTo>
                  <a:pt x="27187" y="897"/>
                </a:lnTo>
                <a:lnTo>
                  <a:pt x="25073" y="893"/>
                </a:lnTo>
                <a:cubicBezTo>
                  <a:pt x="22788" y="893"/>
                  <a:pt x="20931" y="2750"/>
                  <a:pt x="20931" y="5035"/>
                </a:cubicBezTo>
                <a:lnTo>
                  <a:pt x="24425" y="8530"/>
                </a:lnTo>
                <a:lnTo>
                  <a:pt x="13213" y="13173"/>
                </a:lnTo>
                <a:cubicBezTo>
                  <a:pt x="10192" y="16196"/>
                  <a:pt x="8325" y="20373"/>
                  <a:pt x="8325" y="24991"/>
                </a:cubicBezTo>
                <a:lnTo>
                  <a:pt x="8325" y="64880"/>
                </a:lnTo>
                <a:lnTo>
                  <a:pt x="41672" y="64880"/>
                </a:lnTo>
                <a:lnTo>
                  <a:pt x="41672" y="24991"/>
                </a:lnTo>
                <a:lnTo>
                  <a:pt x="41437" y="24423"/>
                </a:lnTo>
                <a:lnTo>
                  <a:pt x="41689" y="24987"/>
                </a:lnTo>
                <a:lnTo>
                  <a:pt x="41689" y="73210"/>
                </a:lnTo>
                <a:lnTo>
                  <a:pt x="4186" y="73210"/>
                </a:lnTo>
                <a:cubicBezTo>
                  <a:pt x="1903" y="73210"/>
                  <a:pt x="47" y="71354"/>
                  <a:pt x="0" y="69069"/>
                </a:cubicBezTo>
                <a:lnTo>
                  <a:pt x="0" y="24991"/>
                </a:lnTo>
                <a:cubicBezTo>
                  <a:pt x="0" y="11186"/>
                  <a:pt x="11226" y="0"/>
                  <a:pt x="2502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143" name="熊大的PPT宝库15"/>
          <p:cNvSpPr/>
          <p:nvPr/>
        </p:nvSpPr>
        <p:spPr>
          <a:xfrm>
            <a:off x="9431818" y="2730509"/>
            <a:ext cx="598806" cy="609685"/>
          </a:xfrm>
          <a:custGeom>
            <a:avLst/>
            <a:gdLst>
              <a:gd name="T0" fmla="*/ 455839 w 606244"/>
              <a:gd name="T1" fmla="*/ 455839 w 606244"/>
              <a:gd name="T2" fmla="*/ 600116 w 606244"/>
              <a:gd name="T3" fmla="*/ 600116 w 606244"/>
              <a:gd name="T4" fmla="*/ 600116 w 606244"/>
              <a:gd name="T5" fmla="*/ 600116 w 606244"/>
              <a:gd name="T6" fmla="*/ 600116 w 606244"/>
              <a:gd name="T7" fmla="*/ 600116 w 606244"/>
              <a:gd name="T8" fmla="*/ 600116 w 606244"/>
              <a:gd name="T9" fmla="*/ 600116 w 606244"/>
              <a:gd name="T10" fmla="*/ 600116 w 606244"/>
              <a:gd name="T11" fmla="*/ 600116 w 606244"/>
              <a:gd name="T12" fmla="*/ 600116 w 606244"/>
              <a:gd name="T13" fmla="*/ 600116 w 606244"/>
              <a:gd name="T14" fmla="*/ 600116 w 606244"/>
              <a:gd name="T15" fmla="*/ 600116 w 606244"/>
              <a:gd name="T16" fmla="*/ 600116 w 606244"/>
              <a:gd name="T17" fmla="*/ 600116 w 606244"/>
              <a:gd name="T18" fmla="*/ 600116 w 606244"/>
              <a:gd name="T19" fmla="*/ 600116 w 606244"/>
              <a:gd name="T20" fmla="*/ 600116 w 606244"/>
              <a:gd name="T21" fmla="*/ 600116 w 606244"/>
              <a:gd name="T22" fmla="*/ 600116 w 606244"/>
              <a:gd name="T23" fmla="*/ 600116 w 606244"/>
              <a:gd name="T24" fmla="*/ 600116 w 606244"/>
              <a:gd name="T25" fmla="*/ 600116 w 606244"/>
              <a:gd name="T26" fmla="*/ 600116 w 606244"/>
              <a:gd name="T27" fmla="*/ 600116 w 606244"/>
              <a:gd name="T28" fmla="*/ 600116 w 606244"/>
              <a:gd name="T29" fmla="*/ 600116 w 606244"/>
              <a:gd name="T30" fmla="*/ 600116 w 606244"/>
              <a:gd name="T31" fmla="*/ 600116 w 606244"/>
              <a:gd name="T32" fmla="*/ 600116 w 606244"/>
              <a:gd name="T33" fmla="*/ 600116 w 606244"/>
              <a:gd name="T34" fmla="*/ 600116 w 606244"/>
              <a:gd name="T35" fmla="*/ 600116 w 606244"/>
              <a:gd name="T36" fmla="*/ 600116 w 606244"/>
              <a:gd name="T37" fmla="*/ 600116 w 606244"/>
              <a:gd name="T38" fmla="*/ 600116 w 606244"/>
              <a:gd name="T39" fmla="*/ 600116 w 606244"/>
              <a:gd name="T40" fmla="*/ 600116 w 606244"/>
              <a:gd name="T41" fmla="*/ 600116 w 606244"/>
              <a:gd name="T42" fmla="*/ 600116 w 606244"/>
              <a:gd name="T43" fmla="*/ 600116 w 606244"/>
              <a:gd name="T44" fmla="*/ 600116 w 606244"/>
              <a:gd name="T45" fmla="*/ 600116 w 606244"/>
              <a:gd name="T46" fmla="*/ 600116 w 606244"/>
              <a:gd name="T47" fmla="*/ 600116 w 606244"/>
              <a:gd name="T48" fmla="*/ 600116 w 606244"/>
              <a:gd name="T49" fmla="*/ 600116 w 606244"/>
              <a:gd name="T50" fmla="*/ 600116 w 606244"/>
              <a:gd name="T51" fmla="*/ 600116 w 606244"/>
              <a:gd name="T52" fmla="*/ 600116 w 606244"/>
              <a:gd name="T53" fmla="*/ 600116 w 606244"/>
              <a:gd name="T54" fmla="*/ 600116 w 606244"/>
              <a:gd name="T55" fmla="*/ 600116 w 606244"/>
              <a:gd name="T56" fmla="*/ 455839 w 606244"/>
              <a:gd name="T57" fmla="*/ 455839 w 606244"/>
              <a:gd name="T58" fmla="*/ 600116 w 606244"/>
              <a:gd name="T59" fmla="*/ 600116 w 606244"/>
              <a:gd name="T60" fmla="*/ 600116 w 606244"/>
              <a:gd name="T61" fmla="*/ 600116 w 606244"/>
              <a:gd name="T62" fmla="*/ 600116 w 606244"/>
              <a:gd name="T63" fmla="*/ 600116 w 606244"/>
              <a:gd name="T64" fmla="*/ 600116 w 606244"/>
              <a:gd name="T65" fmla="*/ 600116 w 606244"/>
              <a:gd name="T66" fmla="*/ 600116 w 606244"/>
              <a:gd name="T67" fmla="*/ 600116 w 606244"/>
              <a:gd name="T68" fmla="*/ 600116 w 606244"/>
              <a:gd name="T69" fmla="*/ 600116 w 606244"/>
              <a:gd name="T70" fmla="*/ 600116 w 606244"/>
              <a:gd name="T71" fmla="*/ 600116 w 606244"/>
              <a:gd name="T72" fmla="*/ 600116 w 606244"/>
              <a:gd name="T73" fmla="*/ 600116 w 606244"/>
              <a:gd name="T74" fmla="*/ 600116 w 606244"/>
              <a:gd name="T75" fmla="*/ 600116 w 606244"/>
              <a:gd name="T76" fmla="*/ 600116 w 606244"/>
              <a:gd name="T77" fmla="*/ 600116 w 606244"/>
              <a:gd name="T78" fmla="*/ 455839 w 606244"/>
              <a:gd name="T79" fmla="*/ 455839 w 606244"/>
              <a:gd name="T80" fmla="*/ 600116 w 606244"/>
              <a:gd name="T81" fmla="*/ 600116 w 606244"/>
              <a:gd name="T82" fmla="*/ 600116 w 606244"/>
              <a:gd name="T83" fmla="*/ 600116 w 606244"/>
              <a:gd name="T84" fmla="*/ 600116 w 606244"/>
              <a:gd name="T85" fmla="*/ 600116 w 606244"/>
              <a:gd name="T86" fmla="*/ 600116 w 606244"/>
              <a:gd name="T87" fmla="*/ 600116 w 606244"/>
              <a:gd name="T88" fmla="*/ 455839 w 606244"/>
              <a:gd name="T89" fmla="*/ 455839 w 606244"/>
              <a:gd name="T90" fmla="*/ 600116 w 606244"/>
              <a:gd name="T91" fmla="*/ 600116 w 606244"/>
              <a:gd name="T92" fmla="*/ 600116 w 606244"/>
              <a:gd name="T93" fmla="*/ 600116 w 606244"/>
              <a:gd name="T94" fmla="*/ 600116 w 606244"/>
              <a:gd name="T95" fmla="*/ 600116 w 606244"/>
              <a:gd name="T96" fmla="*/ 600116 w 606244"/>
              <a:gd name="T97" fmla="*/ 600116 w 606244"/>
              <a:gd name="T98" fmla="*/ 600116 w 606244"/>
              <a:gd name="T99" fmla="*/ 600116 w 606244"/>
              <a:gd name="T100" fmla="*/ 600116 w 606244"/>
              <a:gd name="T101" fmla="*/ 600116 w 606244"/>
              <a:gd name="T102" fmla="*/ 600116 w 606244"/>
              <a:gd name="T103" fmla="*/ 600116 w 606244"/>
              <a:gd name="T104" fmla="*/ 600116 w 606244"/>
              <a:gd name="T105" fmla="*/ 600116 w 606244"/>
              <a:gd name="T106" fmla="*/ 600116 w 606244"/>
              <a:gd name="T107" fmla="*/ 600116 w 606244"/>
              <a:gd name="T108" fmla="*/ 600116 w 606244"/>
              <a:gd name="T109" fmla="*/ 600116 w 606244"/>
              <a:gd name="T110" fmla="*/ 455839 w 606244"/>
              <a:gd name="T111" fmla="*/ 455839 w 606244"/>
              <a:gd name="T112" fmla="*/ 600116 w 606244"/>
              <a:gd name="T113" fmla="*/ 600116 w 606244"/>
              <a:gd name="T114" fmla="*/ 600116 w 606244"/>
              <a:gd name="T115" fmla="*/ 600116 w 606244"/>
              <a:gd name="T116" fmla="*/ 600116 w 606244"/>
              <a:gd name="T117" fmla="*/ 600116 w 606244"/>
              <a:gd name="T118" fmla="*/ 600116 w 606244"/>
              <a:gd name="T119" fmla="*/ 600116 w 606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688" h="2741">
                <a:moveTo>
                  <a:pt x="1713" y="2741"/>
                </a:moveTo>
                <a:cubicBezTo>
                  <a:pt x="1610" y="2741"/>
                  <a:pt x="1509" y="2688"/>
                  <a:pt x="1452" y="2594"/>
                </a:cubicBezTo>
                <a:cubicBezTo>
                  <a:pt x="1371" y="2461"/>
                  <a:pt x="1403" y="2291"/>
                  <a:pt x="1521" y="2197"/>
                </a:cubicBezTo>
                <a:lnTo>
                  <a:pt x="300" y="192"/>
                </a:lnTo>
                <a:cubicBezTo>
                  <a:pt x="291" y="181"/>
                  <a:pt x="211" y="84"/>
                  <a:pt x="45" y="96"/>
                </a:cubicBezTo>
                <a:cubicBezTo>
                  <a:pt x="23" y="98"/>
                  <a:pt x="3" y="81"/>
                  <a:pt x="2" y="59"/>
                </a:cubicBezTo>
                <a:cubicBezTo>
                  <a:pt x="0" y="37"/>
                  <a:pt x="17" y="18"/>
                  <a:pt x="39" y="16"/>
                </a:cubicBezTo>
                <a:cubicBezTo>
                  <a:pt x="258" y="0"/>
                  <a:pt x="361" y="140"/>
                  <a:pt x="366" y="146"/>
                </a:cubicBezTo>
                <a:cubicBezTo>
                  <a:pt x="366" y="147"/>
                  <a:pt x="367" y="148"/>
                  <a:pt x="367" y="149"/>
                </a:cubicBezTo>
                <a:lnTo>
                  <a:pt x="1589" y="2155"/>
                </a:lnTo>
                <a:cubicBezTo>
                  <a:pt x="1628" y="2138"/>
                  <a:pt x="1670" y="2129"/>
                  <a:pt x="1712" y="2129"/>
                </a:cubicBezTo>
                <a:lnTo>
                  <a:pt x="1713" y="2129"/>
                </a:lnTo>
                <a:lnTo>
                  <a:pt x="1097" y="1118"/>
                </a:lnTo>
                <a:cubicBezTo>
                  <a:pt x="1086" y="1099"/>
                  <a:pt x="1092" y="1074"/>
                  <a:pt x="1110" y="1063"/>
                </a:cubicBezTo>
                <a:lnTo>
                  <a:pt x="1875" y="597"/>
                </a:lnTo>
                <a:cubicBezTo>
                  <a:pt x="1884" y="592"/>
                  <a:pt x="1895" y="590"/>
                  <a:pt x="1905" y="593"/>
                </a:cubicBezTo>
                <a:cubicBezTo>
                  <a:pt x="1915" y="595"/>
                  <a:pt x="1924" y="602"/>
                  <a:pt x="1930" y="611"/>
                </a:cubicBezTo>
                <a:lnTo>
                  <a:pt x="2583" y="1683"/>
                </a:lnTo>
                <a:cubicBezTo>
                  <a:pt x="2588" y="1692"/>
                  <a:pt x="2590" y="1703"/>
                  <a:pt x="2587" y="1713"/>
                </a:cubicBezTo>
                <a:cubicBezTo>
                  <a:pt x="2585" y="1723"/>
                  <a:pt x="2578" y="1732"/>
                  <a:pt x="2569" y="1738"/>
                </a:cubicBezTo>
                <a:lnTo>
                  <a:pt x="1863" y="2168"/>
                </a:lnTo>
                <a:cubicBezTo>
                  <a:pt x="1897" y="2187"/>
                  <a:pt x="1926" y="2212"/>
                  <a:pt x="1951" y="2243"/>
                </a:cubicBezTo>
                <a:lnTo>
                  <a:pt x="2621" y="1835"/>
                </a:lnTo>
                <a:cubicBezTo>
                  <a:pt x="2640" y="1823"/>
                  <a:pt x="2665" y="1829"/>
                  <a:pt x="2676" y="1848"/>
                </a:cubicBezTo>
                <a:cubicBezTo>
                  <a:pt x="2688" y="1867"/>
                  <a:pt x="2682" y="1892"/>
                  <a:pt x="2663" y="1903"/>
                </a:cubicBezTo>
                <a:lnTo>
                  <a:pt x="1993" y="2311"/>
                </a:lnTo>
                <a:cubicBezTo>
                  <a:pt x="2054" y="2449"/>
                  <a:pt x="2004" y="2615"/>
                  <a:pt x="1872" y="2696"/>
                </a:cubicBezTo>
                <a:cubicBezTo>
                  <a:pt x="1822" y="2726"/>
                  <a:pt x="1768" y="2741"/>
                  <a:pt x="1713" y="2741"/>
                </a:cubicBezTo>
                <a:close/>
                <a:moveTo>
                  <a:pt x="1712" y="2209"/>
                </a:moveTo>
                <a:cubicBezTo>
                  <a:pt x="1672" y="2209"/>
                  <a:pt x="1631" y="2220"/>
                  <a:pt x="1595" y="2242"/>
                </a:cubicBezTo>
                <a:cubicBezTo>
                  <a:pt x="1544" y="2273"/>
                  <a:pt x="1508" y="2323"/>
                  <a:pt x="1493" y="2382"/>
                </a:cubicBezTo>
                <a:cubicBezTo>
                  <a:pt x="1479" y="2440"/>
                  <a:pt x="1489" y="2501"/>
                  <a:pt x="1520" y="2552"/>
                </a:cubicBezTo>
                <a:cubicBezTo>
                  <a:pt x="1585" y="2659"/>
                  <a:pt x="1724" y="2692"/>
                  <a:pt x="1830" y="2628"/>
                </a:cubicBezTo>
                <a:cubicBezTo>
                  <a:pt x="1882" y="2596"/>
                  <a:pt x="1918" y="2547"/>
                  <a:pt x="1932" y="2488"/>
                </a:cubicBezTo>
                <a:cubicBezTo>
                  <a:pt x="1947" y="2430"/>
                  <a:pt x="1937" y="2369"/>
                  <a:pt x="1906" y="2317"/>
                </a:cubicBezTo>
                <a:lnTo>
                  <a:pt x="1906" y="2317"/>
                </a:lnTo>
                <a:cubicBezTo>
                  <a:pt x="1906" y="2317"/>
                  <a:pt x="1906" y="2317"/>
                  <a:pt x="1906" y="2317"/>
                </a:cubicBezTo>
                <a:cubicBezTo>
                  <a:pt x="1874" y="2266"/>
                  <a:pt x="1825" y="2230"/>
                  <a:pt x="1766" y="2215"/>
                </a:cubicBezTo>
                <a:cubicBezTo>
                  <a:pt x="1748" y="2211"/>
                  <a:pt x="1730" y="2209"/>
                  <a:pt x="1712" y="2209"/>
                </a:cubicBezTo>
                <a:close/>
                <a:moveTo>
                  <a:pt x="1186" y="1110"/>
                </a:moveTo>
                <a:lnTo>
                  <a:pt x="1798" y="2114"/>
                </a:lnTo>
                <a:lnTo>
                  <a:pt x="2494" y="1690"/>
                </a:lnTo>
                <a:lnTo>
                  <a:pt x="1882" y="686"/>
                </a:lnTo>
                <a:lnTo>
                  <a:pt x="1186" y="1110"/>
                </a:lnTo>
                <a:close/>
                <a:moveTo>
                  <a:pt x="1047" y="999"/>
                </a:moveTo>
                <a:cubicBezTo>
                  <a:pt x="1034" y="999"/>
                  <a:pt x="1021" y="992"/>
                  <a:pt x="1013" y="980"/>
                </a:cubicBezTo>
                <a:lnTo>
                  <a:pt x="717" y="494"/>
                </a:lnTo>
                <a:cubicBezTo>
                  <a:pt x="706" y="475"/>
                  <a:pt x="712" y="450"/>
                  <a:pt x="730" y="439"/>
                </a:cubicBezTo>
                <a:lnTo>
                  <a:pt x="1314" y="84"/>
                </a:lnTo>
                <a:cubicBezTo>
                  <a:pt x="1332" y="72"/>
                  <a:pt x="1357" y="78"/>
                  <a:pt x="1369" y="97"/>
                </a:cubicBezTo>
                <a:lnTo>
                  <a:pt x="1665" y="583"/>
                </a:lnTo>
                <a:cubicBezTo>
                  <a:pt x="1670" y="592"/>
                  <a:pt x="1672" y="603"/>
                  <a:pt x="1669" y="613"/>
                </a:cubicBezTo>
                <a:cubicBezTo>
                  <a:pt x="1667" y="624"/>
                  <a:pt x="1660" y="633"/>
                  <a:pt x="1651" y="638"/>
                </a:cubicBezTo>
                <a:lnTo>
                  <a:pt x="1068" y="993"/>
                </a:lnTo>
                <a:cubicBezTo>
                  <a:pt x="1062" y="997"/>
                  <a:pt x="1055" y="999"/>
                  <a:pt x="1047" y="999"/>
                </a:cubicBezTo>
                <a:close/>
                <a:moveTo>
                  <a:pt x="806" y="486"/>
                </a:moveTo>
                <a:lnTo>
                  <a:pt x="1061" y="904"/>
                </a:lnTo>
                <a:lnTo>
                  <a:pt x="1576" y="591"/>
                </a:lnTo>
                <a:lnTo>
                  <a:pt x="1321" y="173"/>
                </a:lnTo>
                <a:lnTo>
                  <a:pt x="806" y="48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grpSp>
        <p:nvGrpSpPr>
          <p:cNvPr id="144" name="熊大的PPT宝库16"/>
          <p:cNvGrpSpPr/>
          <p:nvPr/>
        </p:nvGrpSpPr>
        <p:grpSpPr>
          <a:xfrm>
            <a:off x="3001277" y="2814481"/>
            <a:ext cx="479094" cy="479010"/>
            <a:chOff x="706365" y="1101814"/>
            <a:chExt cx="891462" cy="891305"/>
          </a:xfrm>
          <a:solidFill>
            <a:schemeClr val="accent1"/>
          </a:solidFill>
        </p:grpSpPr>
        <p:sp>
          <p:nvSpPr>
            <p:cNvPr id="145" name="熊大的PPT宝库16-1"/>
            <p:cNvSpPr/>
            <p:nvPr/>
          </p:nvSpPr>
          <p:spPr>
            <a:xfrm>
              <a:off x="706365" y="1101814"/>
              <a:ext cx="891462" cy="891305"/>
            </a:xfrm>
            <a:custGeom>
              <a:avLst/>
              <a:gdLst>
                <a:gd name="connsiteX0" fmla="*/ 45884 w 891462"/>
                <a:gd name="connsiteY0" fmla="*/ 805457 h 891305"/>
                <a:gd name="connsiteX1" fmla="*/ 45884 w 891462"/>
                <a:gd name="connsiteY1" fmla="*/ 776365 h 891305"/>
                <a:gd name="connsiteX2" fmla="*/ 71423 w 891462"/>
                <a:gd name="connsiteY2" fmla="*/ 745337 h 891305"/>
                <a:gd name="connsiteX3" fmla="*/ 75374 w 891462"/>
                <a:gd name="connsiteY3" fmla="*/ 744037 h 891305"/>
                <a:gd name="connsiteX4" fmla="*/ 75374 w 891462"/>
                <a:gd name="connsiteY4" fmla="*/ 308318 h 891305"/>
                <a:gd name="connsiteX5" fmla="*/ 44532 w 891462"/>
                <a:gd name="connsiteY5" fmla="*/ 308318 h 891305"/>
                <a:gd name="connsiteX6" fmla="*/ 1517 w 891462"/>
                <a:gd name="connsiteY6" fmla="*/ 277290 h 891305"/>
                <a:gd name="connsiteX7" fmla="*/ 23555 w 891462"/>
                <a:gd name="connsiteY7" fmla="*/ 230059 h 891305"/>
                <a:gd name="connsiteX8" fmla="*/ 429625 w 891462"/>
                <a:gd name="connsiteY8" fmla="*/ 4508 h 891305"/>
                <a:gd name="connsiteX9" fmla="*/ 461687 w 891462"/>
                <a:gd name="connsiteY9" fmla="*/ 4482 h 891305"/>
                <a:gd name="connsiteX10" fmla="*/ 867757 w 891462"/>
                <a:gd name="connsiteY10" fmla="*/ 230032 h 891305"/>
                <a:gd name="connsiteX11" fmla="*/ 890087 w 891462"/>
                <a:gd name="connsiteY11" fmla="*/ 276389 h 891305"/>
                <a:gd name="connsiteX12" fmla="*/ 846647 w 891462"/>
                <a:gd name="connsiteY12" fmla="*/ 308371 h 891305"/>
                <a:gd name="connsiteX13" fmla="*/ 816282 w 891462"/>
                <a:gd name="connsiteY13" fmla="*/ 308371 h 891305"/>
                <a:gd name="connsiteX14" fmla="*/ 816282 w 891462"/>
                <a:gd name="connsiteY14" fmla="*/ 743931 h 891305"/>
                <a:gd name="connsiteX15" fmla="*/ 845507 w 891462"/>
                <a:gd name="connsiteY15" fmla="*/ 783737 h 891305"/>
                <a:gd name="connsiteX16" fmla="*/ 845507 w 891462"/>
                <a:gd name="connsiteY16" fmla="*/ 805484 h 891305"/>
                <a:gd name="connsiteX17" fmla="*/ 862135 w 891462"/>
                <a:gd name="connsiteY17" fmla="*/ 805510 h 891305"/>
                <a:gd name="connsiteX18" fmla="*/ 891094 w 891462"/>
                <a:gd name="connsiteY18" fmla="*/ 833568 h 891305"/>
                <a:gd name="connsiteX19" fmla="*/ 891094 w 891462"/>
                <a:gd name="connsiteY19" fmla="*/ 863403 h 891305"/>
                <a:gd name="connsiteX20" fmla="*/ 862586 w 891462"/>
                <a:gd name="connsiteY20" fmla="*/ 891195 h 891305"/>
                <a:gd name="connsiteX21" fmla="*/ 855637 w 891462"/>
                <a:gd name="connsiteY21" fmla="*/ 891275 h 891305"/>
                <a:gd name="connsiteX22" fmla="*/ 35144 w 891462"/>
                <a:gd name="connsiteY22" fmla="*/ 891275 h 891305"/>
                <a:gd name="connsiteX23" fmla="*/ 1782 w 891462"/>
                <a:gd name="connsiteY23" fmla="*/ 869635 h 891305"/>
                <a:gd name="connsiteX24" fmla="*/ 1543 w 891462"/>
                <a:gd name="connsiteY24" fmla="*/ 827256 h 891305"/>
                <a:gd name="connsiteX25" fmla="*/ 28620 w 891462"/>
                <a:gd name="connsiteY25" fmla="*/ 805510 h 891305"/>
                <a:gd name="connsiteX26" fmla="*/ 45884 w 891462"/>
                <a:gd name="connsiteY26" fmla="*/ 805457 h 891305"/>
                <a:gd name="connsiteX27" fmla="*/ 71874 w 891462"/>
                <a:gd name="connsiteY27" fmla="*/ 805404 h 891305"/>
                <a:gd name="connsiteX28" fmla="*/ 83622 w 891462"/>
                <a:gd name="connsiteY28" fmla="*/ 805404 h 891305"/>
                <a:gd name="connsiteX29" fmla="*/ 151247 w 891462"/>
                <a:gd name="connsiteY29" fmla="*/ 805510 h 891305"/>
                <a:gd name="connsiteX30" fmla="*/ 165250 w 891462"/>
                <a:gd name="connsiteY30" fmla="*/ 818637 h 891305"/>
                <a:gd name="connsiteX31" fmla="*/ 151539 w 891462"/>
                <a:gd name="connsiteY31" fmla="*/ 831314 h 891305"/>
                <a:gd name="connsiteX32" fmla="*/ 144591 w 891462"/>
                <a:gd name="connsiteY32" fmla="*/ 831367 h 891305"/>
                <a:gd name="connsiteX33" fmla="*/ 46123 w 891462"/>
                <a:gd name="connsiteY33" fmla="*/ 831367 h 891305"/>
                <a:gd name="connsiteX34" fmla="*/ 26127 w 891462"/>
                <a:gd name="connsiteY34" fmla="*/ 851098 h 891305"/>
                <a:gd name="connsiteX35" fmla="*/ 40925 w 891462"/>
                <a:gd name="connsiteY35" fmla="*/ 865418 h 891305"/>
                <a:gd name="connsiteX36" fmla="*/ 844473 w 891462"/>
                <a:gd name="connsiteY36" fmla="*/ 865418 h 891305"/>
                <a:gd name="connsiteX37" fmla="*/ 865264 w 891462"/>
                <a:gd name="connsiteY37" fmla="*/ 844123 h 891305"/>
                <a:gd name="connsiteX38" fmla="*/ 852190 w 891462"/>
                <a:gd name="connsiteY38" fmla="*/ 831367 h 891305"/>
                <a:gd name="connsiteX39" fmla="*/ 222665 w 891462"/>
                <a:gd name="connsiteY39" fmla="*/ 831367 h 891305"/>
                <a:gd name="connsiteX40" fmla="*/ 212720 w 891462"/>
                <a:gd name="connsiteY40" fmla="*/ 831234 h 891305"/>
                <a:gd name="connsiteX41" fmla="*/ 200706 w 891462"/>
                <a:gd name="connsiteY41" fmla="*/ 818107 h 891305"/>
                <a:gd name="connsiteX42" fmla="*/ 213091 w 891462"/>
                <a:gd name="connsiteY42" fmla="*/ 805537 h 891305"/>
                <a:gd name="connsiteX43" fmla="*/ 224017 w 891462"/>
                <a:gd name="connsiteY43" fmla="*/ 805404 h 891305"/>
                <a:gd name="connsiteX44" fmla="*/ 805807 w 891462"/>
                <a:gd name="connsiteY44" fmla="*/ 805404 h 891305"/>
                <a:gd name="connsiteX45" fmla="*/ 819518 w 891462"/>
                <a:gd name="connsiteY45" fmla="*/ 805404 h 891305"/>
                <a:gd name="connsiteX46" fmla="*/ 819650 w 891462"/>
                <a:gd name="connsiteY46" fmla="*/ 779706 h 891305"/>
                <a:gd name="connsiteX47" fmla="*/ 810395 w 891462"/>
                <a:gd name="connsiteY47" fmla="*/ 770822 h 891305"/>
                <a:gd name="connsiteX48" fmla="*/ 746747 w 891462"/>
                <a:gd name="connsiteY48" fmla="*/ 770928 h 891305"/>
                <a:gd name="connsiteX49" fmla="*/ 726062 w 891462"/>
                <a:gd name="connsiteY49" fmla="*/ 758358 h 891305"/>
                <a:gd name="connsiteX50" fmla="*/ 747092 w 891462"/>
                <a:gd name="connsiteY50" fmla="*/ 745019 h 891305"/>
                <a:gd name="connsiteX51" fmla="*/ 788808 w 891462"/>
                <a:gd name="connsiteY51" fmla="*/ 745019 h 891305"/>
                <a:gd name="connsiteX52" fmla="*/ 788808 w 891462"/>
                <a:gd name="connsiteY52" fmla="*/ 665486 h 891305"/>
                <a:gd name="connsiteX53" fmla="*/ 776370 w 891462"/>
                <a:gd name="connsiteY53" fmla="*/ 665486 h 891305"/>
                <a:gd name="connsiteX54" fmla="*/ 620222 w 891462"/>
                <a:gd name="connsiteY54" fmla="*/ 665486 h 891305"/>
                <a:gd name="connsiteX55" fmla="*/ 601075 w 891462"/>
                <a:gd name="connsiteY55" fmla="*/ 645994 h 891305"/>
                <a:gd name="connsiteX56" fmla="*/ 601075 w 891462"/>
                <a:gd name="connsiteY56" fmla="*/ 437098 h 891305"/>
                <a:gd name="connsiteX57" fmla="*/ 620567 w 891462"/>
                <a:gd name="connsiteY57" fmla="*/ 417792 h 891305"/>
                <a:gd name="connsiteX58" fmla="*/ 778704 w 891462"/>
                <a:gd name="connsiteY58" fmla="*/ 417765 h 891305"/>
                <a:gd name="connsiteX59" fmla="*/ 789497 w 891462"/>
                <a:gd name="connsiteY59" fmla="*/ 417288 h 891305"/>
                <a:gd name="connsiteX60" fmla="*/ 789206 w 891462"/>
                <a:gd name="connsiteY60" fmla="*/ 308690 h 891305"/>
                <a:gd name="connsiteX61" fmla="*/ 782629 w 891462"/>
                <a:gd name="connsiteY61" fmla="*/ 299381 h 891305"/>
                <a:gd name="connsiteX62" fmla="*/ 453864 w 891462"/>
                <a:gd name="connsiteY62" fmla="*/ 116607 h 891305"/>
                <a:gd name="connsiteX63" fmla="*/ 437501 w 891462"/>
                <a:gd name="connsiteY63" fmla="*/ 116554 h 891305"/>
                <a:gd name="connsiteX64" fmla="*/ 329964 w 891462"/>
                <a:gd name="connsiteY64" fmla="*/ 176383 h 891305"/>
                <a:gd name="connsiteX65" fmla="*/ 318268 w 891462"/>
                <a:gd name="connsiteY65" fmla="*/ 181050 h 891305"/>
                <a:gd name="connsiteX66" fmla="*/ 305035 w 891462"/>
                <a:gd name="connsiteY66" fmla="*/ 174261 h 891305"/>
                <a:gd name="connsiteX67" fmla="*/ 307952 w 891462"/>
                <a:gd name="connsiteY67" fmla="*/ 159437 h 891305"/>
                <a:gd name="connsiteX68" fmla="*/ 316942 w 891462"/>
                <a:gd name="connsiteY68" fmla="*/ 153602 h 891305"/>
                <a:gd name="connsiteX69" fmla="*/ 423552 w 891462"/>
                <a:gd name="connsiteY69" fmla="*/ 94145 h 891305"/>
                <a:gd name="connsiteX70" fmla="*/ 468025 w 891462"/>
                <a:gd name="connsiteY70" fmla="*/ 94331 h 891305"/>
                <a:gd name="connsiteX71" fmla="*/ 799442 w 891462"/>
                <a:gd name="connsiteY71" fmla="*/ 278431 h 891305"/>
                <a:gd name="connsiteX72" fmla="*/ 809520 w 891462"/>
                <a:gd name="connsiteY72" fmla="*/ 282011 h 891305"/>
                <a:gd name="connsiteX73" fmla="*/ 850227 w 891462"/>
                <a:gd name="connsiteY73" fmla="*/ 281639 h 891305"/>
                <a:gd name="connsiteX74" fmla="*/ 863991 w 891462"/>
                <a:gd name="connsiteY74" fmla="*/ 270157 h 891305"/>
                <a:gd name="connsiteX75" fmla="*/ 858051 w 891462"/>
                <a:gd name="connsiteY75" fmla="*/ 254961 h 891305"/>
                <a:gd name="connsiteX76" fmla="*/ 851368 w 891462"/>
                <a:gd name="connsiteY76" fmla="*/ 250877 h 891305"/>
                <a:gd name="connsiteX77" fmla="*/ 457550 w 891462"/>
                <a:gd name="connsiteY77" fmla="*/ 31956 h 891305"/>
                <a:gd name="connsiteX78" fmla="*/ 433364 w 891462"/>
                <a:gd name="connsiteY78" fmla="*/ 32221 h 891305"/>
                <a:gd name="connsiteX79" fmla="*/ 140188 w 891462"/>
                <a:gd name="connsiteY79" fmla="*/ 195238 h 891305"/>
                <a:gd name="connsiteX80" fmla="*/ 37822 w 891462"/>
                <a:gd name="connsiteY80" fmla="*/ 252096 h 891305"/>
                <a:gd name="connsiteX81" fmla="*/ 26870 w 891462"/>
                <a:gd name="connsiteY81" fmla="*/ 270846 h 891305"/>
                <a:gd name="connsiteX82" fmla="*/ 45380 w 891462"/>
                <a:gd name="connsiteY82" fmla="*/ 282329 h 891305"/>
                <a:gd name="connsiteX83" fmla="*/ 72192 w 891462"/>
                <a:gd name="connsiteY83" fmla="*/ 282011 h 891305"/>
                <a:gd name="connsiteX84" fmla="*/ 96404 w 891462"/>
                <a:gd name="connsiteY84" fmla="*/ 275672 h 891305"/>
                <a:gd name="connsiteX85" fmla="*/ 251041 w 891462"/>
                <a:gd name="connsiteY85" fmla="*/ 190252 h 891305"/>
                <a:gd name="connsiteX86" fmla="*/ 264725 w 891462"/>
                <a:gd name="connsiteY86" fmla="*/ 186328 h 891305"/>
                <a:gd name="connsiteX87" fmla="*/ 275121 w 891462"/>
                <a:gd name="connsiteY87" fmla="*/ 196538 h 891305"/>
                <a:gd name="connsiteX88" fmla="*/ 266847 w 891462"/>
                <a:gd name="connsiteY88" fmla="*/ 211389 h 891305"/>
                <a:gd name="connsiteX89" fmla="*/ 109744 w 891462"/>
                <a:gd name="connsiteY89" fmla="*/ 298506 h 891305"/>
                <a:gd name="connsiteX90" fmla="*/ 101682 w 891462"/>
                <a:gd name="connsiteY90" fmla="*/ 312376 h 891305"/>
                <a:gd name="connsiteX91" fmla="*/ 101841 w 891462"/>
                <a:gd name="connsiteY91" fmla="*/ 407873 h 891305"/>
                <a:gd name="connsiteX92" fmla="*/ 101841 w 891462"/>
                <a:gd name="connsiteY92" fmla="*/ 417871 h 891305"/>
                <a:gd name="connsiteX93" fmla="*/ 114252 w 891462"/>
                <a:gd name="connsiteY93" fmla="*/ 417871 h 891305"/>
                <a:gd name="connsiteX94" fmla="*/ 270400 w 891462"/>
                <a:gd name="connsiteY94" fmla="*/ 417871 h 891305"/>
                <a:gd name="connsiteX95" fmla="*/ 290264 w 891462"/>
                <a:gd name="connsiteY95" fmla="*/ 437920 h 891305"/>
                <a:gd name="connsiteX96" fmla="*/ 290264 w 891462"/>
                <a:gd name="connsiteY96" fmla="*/ 645808 h 891305"/>
                <a:gd name="connsiteX97" fmla="*/ 270321 w 891462"/>
                <a:gd name="connsiteY97" fmla="*/ 665566 h 891305"/>
                <a:gd name="connsiteX98" fmla="*/ 114173 w 891462"/>
                <a:gd name="connsiteY98" fmla="*/ 665592 h 891305"/>
                <a:gd name="connsiteX99" fmla="*/ 101841 w 891462"/>
                <a:gd name="connsiteY99" fmla="*/ 666255 h 891305"/>
                <a:gd name="connsiteX100" fmla="*/ 101655 w 891462"/>
                <a:gd name="connsiteY100" fmla="*/ 734702 h 891305"/>
                <a:gd name="connsiteX101" fmla="*/ 112237 w 891462"/>
                <a:gd name="connsiteY101" fmla="*/ 745257 h 891305"/>
                <a:gd name="connsiteX102" fmla="*/ 310127 w 891462"/>
                <a:gd name="connsiteY102" fmla="*/ 745045 h 891305"/>
                <a:gd name="connsiteX103" fmla="*/ 320231 w 891462"/>
                <a:gd name="connsiteY103" fmla="*/ 744276 h 891305"/>
                <a:gd name="connsiteX104" fmla="*/ 320231 w 891462"/>
                <a:gd name="connsiteY104" fmla="*/ 731493 h 891305"/>
                <a:gd name="connsiteX105" fmla="*/ 320231 w 891462"/>
                <a:gd name="connsiteY105" fmla="*/ 437072 h 891305"/>
                <a:gd name="connsiteX106" fmla="*/ 339325 w 891462"/>
                <a:gd name="connsiteY106" fmla="*/ 417845 h 891305"/>
                <a:gd name="connsiteX107" fmla="*/ 551165 w 891462"/>
                <a:gd name="connsiteY107" fmla="*/ 417845 h 891305"/>
                <a:gd name="connsiteX108" fmla="*/ 571107 w 891462"/>
                <a:gd name="connsiteY108" fmla="*/ 438345 h 891305"/>
                <a:gd name="connsiteX109" fmla="*/ 571107 w 891462"/>
                <a:gd name="connsiteY109" fmla="*/ 732767 h 891305"/>
                <a:gd name="connsiteX110" fmla="*/ 571107 w 891462"/>
                <a:gd name="connsiteY110" fmla="*/ 745072 h 891305"/>
                <a:gd name="connsiteX111" fmla="*/ 583466 w 891462"/>
                <a:gd name="connsiteY111" fmla="*/ 745072 h 891305"/>
                <a:gd name="connsiteX112" fmla="*/ 668010 w 891462"/>
                <a:gd name="connsiteY112" fmla="*/ 745072 h 891305"/>
                <a:gd name="connsiteX113" fmla="*/ 690632 w 891462"/>
                <a:gd name="connsiteY113" fmla="*/ 757854 h 891305"/>
                <a:gd name="connsiteX114" fmla="*/ 668594 w 891462"/>
                <a:gd name="connsiteY114" fmla="*/ 770981 h 891305"/>
                <a:gd name="connsiteX115" fmla="*/ 87812 w 891462"/>
                <a:gd name="connsiteY115" fmla="*/ 770981 h 891305"/>
                <a:gd name="connsiteX116" fmla="*/ 77947 w 891462"/>
                <a:gd name="connsiteY116" fmla="*/ 771273 h 891305"/>
                <a:gd name="connsiteX117" fmla="*/ 72112 w 891462"/>
                <a:gd name="connsiteY117" fmla="*/ 776869 h 891305"/>
                <a:gd name="connsiteX118" fmla="*/ 71874 w 891462"/>
                <a:gd name="connsiteY118" fmla="*/ 805404 h 891305"/>
                <a:gd name="connsiteX119" fmla="*/ 346989 w 891462"/>
                <a:gd name="connsiteY119" fmla="*/ 444444 h 891305"/>
                <a:gd name="connsiteX120" fmla="*/ 346989 w 891462"/>
                <a:gd name="connsiteY120" fmla="*/ 744435 h 891305"/>
                <a:gd name="connsiteX121" fmla="*/ 544376 w 891462"/>
                <a:gd name="connsiteY121" fmla="*/ 744435 h 891305"/>
                <a:gd name="connsiteX122" fmla="*/ 544376 w 891462"/>
                <a:gd name="connsiteY122" fmla="*/ 444444 h 891305"/>
                <a:gd name="connsiteX123" fmla="*/ 346989 w 891462"/>
                <a:gd name="connsiteY123" fmla="*/ 444444 h 891305"/>
                <a:gd name="connsiteX124" fmla="*/ 263028 w 891462"/>
                <a:gd name="connsiteY124" fmla="*/ 638250 h 891305"/>
                <a:gd name="connsiteX125" fmla="*/ 263028 w 891462"/>
                <a:gd name="connsiteY125" fmla="*/ 444683 h 891305"/>
                <a:gd name="connsiteX126" fmla="*/ 102424 w 891462"/>
                <a:gd name="connsiteY126" fmla="*/ 444683 h 891305"/>
                <a:gd name="connsiteX127" fmla="*/ 102424 w 891462"/>
                <a:gd name="connsiteY127" fmla="*/ 638250 h 891305"/>
                <a:gd name="connsiteX128" fmla="*/ 263028 w 891462"/>
                <a:gd name="connsiteY128" fmla="*/ 638250 h 891305"/>
                <a:gd name="connsiteX129" fmla="*/ 788967 w 891462"/>
                <a:gd name="connsiteY129" fmla="*/ 444709 h 891305"/>
                <a:gd name="connsiteX130" fmla="*/ 627966 w 891462"/>
                <a:gd name="connsiteY130" fmla="*/ 444709 h 891305"/>
                <a:gd name="connsiteX131" fmla="*/ 627966 w 891462"/>
                <a:gd name="connsiteY131" fmla="*/ 638091 h 891305"/>
                <a:gd name="connsiteX132" fmla="*/ 788967 w 891462"/>
                <a:gd name="connsiteY132" fmla="*/ 638091 h 891305"/>
                <a:gd name="connsiteX133" fmla="*/ 788967 w 891462"/>
                <a:gd name="connsiteY133" fmla="*/ 444709 h 89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891462" h="891305">
                  <a:moveTo>
                    <a:pt x="45884" y="805457"/>
                  </a:moveTo>
                  <a:cubicBezTo>
                    <a:pt x="45884" y="794823"/>
                    <a:pt x="45858" y="785594"/>
                    <a:pt x="45884" y="776365"/>
                  </a:cubicBezTo>
                  <a:cubicBezTo>
                    <a:pt x="45964" y="758650"/>
                    <a:pt x="54185" y="748705"/>
                    <a:pt x="71423" y="745337"/>
                  </a:cubicBezTo>
                  <a:cubicBezTo>
                    <a:pt x="72669" y="745098"/>
                    <a:pt x="73863" y="744541"/>
                    <a:pt x="75374" y="744037"/>
                  </a:cubicBezTo>
                  <a:cubicBezTo>
                    <a:pt x="75374" y="599027"/>
                    <a:pt x="75374" y="454256"/>
                    <a:pt x="75374" y="308318"/>
                  </a:cubicBezTo>
                  <a:cubicBezTo>
                    <a:pt x="64846" y="308318"/>
                    <a:pt x="54689" y="308371"/>
                    <a:pt x="44532" y="308318"/>
                  </a:cubicBezTo>
                  <a:cubicBezTo>
                    <a:pt x="22123" y="308186"/>
                    <a:pt x="6927" y="297180"/>
                    <a:pt x="1517" y="277290"/>
                  </a:cubicBezTo>
                  <a:cubicBezTo>
                    <a:pt x="-3602" y="258435"/>
                    <a:pt x="4354" y="240746"/>
                    <a:pt x="23555" y="230059"/>
                  </a:cubicBezTo>
                  <a:cubicBezTo>
                    <a:pt x="158885" y="154796"/>
                    <a:pt x="294268" y="79692"/>
                    <a:pt x="429625" y="4508"/>
                  </a:cubicBezTo>
                  <a:cubicBezTo>
                    <a:pt x="440418" y="-1485"/>
                    <a:pt x="450920" y="-1512"/>
                    <a:pt x="461687" y="4482"/>
                  </a:cubicBezTo>
                  <a:cubicBezTo>
                    <a:pt x="597044" y="79665"/>
                    <a:pt x="732427" y="154769"/>
                    <a:pt x="867757" y="230032"/>
                  </a:cubicBezTo>
                  <a:cubicBezTo>
                    <a:pt x="886427" y="240401"/>
                    <a:pt x="894728" y="258355"/>
                    <a:pt x="890087" y="276389"/>
                  </a:cubicBezTo>
                  <a:cubicBezTo>
                    <a:pt x="884889" y="296650"/>
                    <a:pt x="869189" y="308212"/>
                    <a:pt x="846647" y="308371"/>
                  </a:cubicBezTo>
                  <a:cubicBezTo>
                    <a:pt x="836755" y="308424"/>
                    <a:pt x="826837" y="308371"/>
                    <a:pt x="816282" y="308371"/>
                  </a:cubicBezTo>
                  <a:cubicBezTo>
                    <a:pt x="816282" y="454018"/>
                    <a:pt x="816282" y="599027"/>
                    <a:pt x="816282" y="743931"/>
                  </a:cubicBezTo>
                  <a:cubicBezTo>
                    <a:pt x="840601" y="751039"/>
                    <a:pt x="845507" y="757775"/>
                    <a:pt x="845507" y="783737"/>
                  </a:cubicBezTo>
                  <a:cubicBezTo>
                    <a:pt x="845507" y="790606"/>
                    <a:pt x="845507" y="797501"/>
                    <a:pt x="845507" y="805484"/>
                  </a:cubicBezTo>
                  <a:cubicBezTo>
                    <a:pt x="851713" y="805484"/>
                    <a:pt x="856937" y="805351"/>
                    <a:pt x="862135" y="805510"/>
                  </a:cubicBezTo>
                  <a:cubicBezTo>
                    <a:pt x="878471" y="806040"/>
                    <a:pt x="890299" y="817285"/>
                    <a:pt x="891094" y="833568"/>
                  </a:cubicBezTo>
                  <a:cubicBezTo>
                    <a:pt x="891598" y="843486"/>
                    <a:pt x="891572" y="853484"/>
                    <a:pt x="891094" y="863403"/>
                  </a:cubicBezTo>
                  <a:cubicBezTo>
                    <a:pt x="890352" y="878731"/>
                    <a:pt x="878683" y="889869"/>
                    <a:pt x="862586" y="891195"/>
                  </a:cubicBezTo>
                  <a:cubicBezTo>
                    <a:pt x="860278" y="891381"/>
                    <a:pt x="857945" y="891275"/>
                    <a:pt x="855637" y="891275"/>
                  </a:cubicBezTo>
                  <a:cubicBezTo>
                    <a:pt x="582140" y="891275"/>
                    <a:pt x="308642" y="891275"/>
                    <a:pt x="35144" y="891275"/>
                  </a:cubicBezTo>
                  <a:cubicBezTo>
                    <a:pt x="16288" y="891275"/>
                    <a:pt x="4169" y="884725"/>
                    <a:pt x="1782" y="869635"/>
                  </a:cubicBezTo>
                  <a:cubicBezTo>
                    <a:pt x="-419" y="855818"/>
                    <a:pt x="-287" y="841179"/>
                    <a:pt x="1543" y="827256"/>
                  </a:cubicBezTo>
                  <a:cubicBezTo>
                    <a:pt x="3294" y="813890"/>
                    <a:pt x="14909" y="806040"/>
                    <a:pt x="28620" y="805510"/>
                  </a:cubicBezTo>
                  <a:cubicBezTo>
                    <a:pt x="33871" y="805298"/>
                    <a:pt x="39122" y="805457"/>
                    <a:pt x="45884" y="805457"/>
                  </a:cubicBezTo>
                  <a:close/>
                  <a:moveTo>
                    <a:pt x="71874" y="805404"/>
                  </a:moveTo>
                  <a:cubicBezTo>
                    <a:pt x="76515" y="805404"/>
                    <a:pt x="80068" y="805404"/>
                    <a:pt x="83622" y="805404"/>
                  </a:cubicBezTo>
                  <a:cubicBezTo>
                    <a:pt x="106164" y="805404"/>
                    <a:pt x="128705" y="805298"/>
                    <a:pt x="151247" y="805510"/>
                  </a:cubicBezTo>
                  <a:cubicBezTo>
                    <a:pt x="160343" y="805590"/>
                    <a:pt x="165647" y="810788"/>
                    <a:pt x="165250" y="818637"/>
                  </a:cubicBezTo>
                  <a:cubicBezTo>
                    <a:pt x="164799" y="827124"/>
                    <a:pt x="159442" y="830730"/>
                    <a:pt x="151539" y="831314"/>
                  </a:cubicBezTo>
                  <a:cubicBezTo>
                    <a:pt x="149232" y="831499"/>
                    <a:pt x="146898" y="831367"/>
                    <a:pt x="144591" y="831367"/>
                  </a:cubicBezTo>
                  <a:cubicBezTo>
                    <a:pt x="111759" y="831367"/>
                    <a:pt x="78954" y="831367"/>
                    <a:pt x="46123" y="831367"/>
                  </a:cubicBezTo>
                  <a:cubicBezTo>
                    <a:pt x="26127" y="831367"/>
                    <a:pt x="26127" y="831367"/>
                    <a:pt x="26127" y="851098"/>
                  </a:cubicBezTo>
                  <a:cubicBezTo>
                    <a:pt x="26127" y="865418"/>
                    <a:pt x="26127" y="865418"/>
                    <a:pt x="40925" y="865418"/>
                  </a:cubicBezTo>
                  <a:cubicBezTo>
                    <a:pt x="308774" y="865418"/>
                    <a:pt x="576623" y="865418"/>
                    <a:pt x="844473" y="865418"/>
                  </a:cubicBezTo>
                  <a:cubicBezTo>
                    <a:pt x="865291" y="865418"/>
                    <a:pt x="865291" y="865418"/>
                    <a:pt x="865264" y="844123"/>
                  </a:cubicBezTo>
                  <a:cubicBezTo>
                    <a:pt x="865238" y="831393"/>
                    <a:pt x="865238" y="831367"/>
                    <a:pt x="852190" y="831367"/>
                  </a:cubicBezTo>
                  <a:cubicBezTo>
                    <a:pt x="642339" y="831367"/>
                    <a:pt x="432515" y="831367"/>
                    <a:pt x="222665" y="831367"/>
                  </a:cubicBezTo>
                  <a:cubicBezTo>
                    <a:pt x="219350" y="831367"/>
                    <a:pt x="215982" y="831659"/>
                    <a:pt x="212720" y="831234"/>
                  </a:cubicBezTo>
                  <a:cubicBezTo>
                    <a:pt x="205162" y="830253"/>
                    <a:pt x="200521" y="826089"/>
                    <a:pt x="200706" y="818107"/>
                  </a:cubicBezTo>
                  <a:cubicBezTo>
                    <a:pt x="200866" y="810231"/>
                    <a:pt x="205188" y="805934"/>
                    <a:pt x="213091" y="805537"/>
                  </a:cubicBezTo>
                  <a:cubicBezTo>
                    <a:pt x="216724" y="805351"/>
                    <a:pt x="220384" y="805404"/>
                    <a:pt x="224017" y="805404"/>
                  </a:cubicBezTo>
                  <a:cubicBezTo>
                    <a:pt x="417956" y="805404"/>
                    <a:pt x="611868" y="805404"/>
                    <a:pt x="805807" y="805404"/>
                  </a:cubicBezTo>
                  <a:cubicBezTo>
                    <a:pt x="810024" y="805404"/>
                    <a:pt x="814240" y="805404"/>
                    <a:pt x="819518" y="805404"/>
                  </a:cubicBezTo>
                  <a:cubicBezTo>
                    <a:pt x="819518" y="796096"/>
                    <a:pt x="819093" y="787848"/>
                    <a:pt x="819650" y="779706"/>
                  </a:cubicBezTo>
                  <a:cubicBezTo>
                    <a:pt x="820154" y="772413"/>
                    <a:pt x="816998" y="770743"/>
                    <a:pt x="810395" y="770822"/>
                  </a:cubicBezTo>
                  <a:cubicBezTo>
                    <a:pt x="789179" y="771114"/>
                    <a:pt x="767963" y="770928"/>
                    <a:pt x="746747" y="770928"/>
                  </a:cubicBezTo>
                  <a:cubicBezTo>
                    <a:pt x="731790" y="770928"/>
                    <a:pt x="726301" y="767587"/>
                    <a:pt x="726062" y="758358"/>
                  </a:cubicBezTo>
                  <a:cubicBezTo>
                    <a:pt x="725797" y="748864"/>
                    <a:pt x="731764" y="745045"/>
                    <a:pt x="747092" y="745019"/>
                  </a:cubicBezTo>
                  <a:cubicBezTo>
                    <a:pt x="760883" y="744992"/>
                    <a:pt x="774699" y="745019"/>
                    <a:pt x="788808" y="745019"/>
                  </a:cubicBezTo>
                  <a:cubicBezTo>
                    <a:pt x="788808" y="717862"/>
                    <a:pt x="788808" y="692191"/>
                    <a:pt x="788808" y="665486"/>
                  </a:cubicBezTo>
                  <a:cubicBezTo>
                    <a:pt x="784193" y="665486"/>
                    <a:pt x="780295" y="665486"/>
                    <a:pt x="776370" y="665486"/>
                  </a:cubicBezTo>
                  <a:cubicBezTo>
                    <a:pt x="724312" y="665486"/>
                    <a:pt x="672280" y="665512"/>
                    <a:pt x="620222" y="665486"/>
                  </a:cubicBezTo>
                  <a:cubicBezTo>
                    <a:pt x="604761" y="665486"/>
                    <a:pt x="601101" y="661773"/>
                    <a:pt x="601075" y="645994"/>
                  </a:cubicBezTo>
                  <a:cubicBezTo>
                    <a:pt x="601048" y="576353"/>
                    <a:pt x="601048" y="506739"/>
                    <a:pt x="601075" y="437098"/>
                  </a:cubicBezTo>
                  <a:cubicBezTo>
                    <a:pt x="601075" y="421743"/>
                    <a:pt x="605106" y="417792"/>
                    <a:pt x="620567" y="417792"/>
                  </a:cubicBezTo>
                  <a:cubicBezTo>
                    <a:pt x="673288" y="417765"/>
                    <a:pt x="725983" y="417792"/>
                    <a:pt x="778704" y="417765"/>
                  </a:cubicBezTo>
                  <a:cubicBezTo>
                    <a:pt x="782178" y="417765"/>
                    <a:pt x="785652" y="417474"/>
                    <a:pt x="789497" y="417288"/>
                  </a:cubicBezTo>
                  <a:cubicBezTo>
                    <a:pt x="789497" y="380266"/>
                    <a:pt x="789656" y="344465"/>
                    <a:pt x="789206" y="308690"/>
                  </a:cubicBezTo>
                  <a:cubicBezTo>
                    <a:pt x="789153" y="305507"/>
                    <a:pt x="785678" y="301105"/>
                    <a:pt x="782629" y="299381"/>
                  </a:cubicBezTo>
                  <a:cubicBezTo>
                    <a:pt x="673102" y="238333"/>
                    <a:pt x="563417" y="177603"/>
                    <a:pt x="453864" y="116607"/>
                  </a:cubicBezTo>
                  <a:cubicBezTo>
                    <a:pt x="447923" y="113292"/>
                    <a:pt x="443468" y="113186"/>
                    <a:pt x="437501" y="116554"/>
                  </a:cubicBezTo>
                  <a:cubicBezTo>
                    <a:pt x="401779" y="136736"/>
                    <a:pt x="365871" y="156546"/>
                    <a:pt x="329964" y="176383"/>
                  </a:cubicBezTo>
                  <a:cubicBezTo>
                    <a:pt x="326251" y="178425"/>
                    <a:pt x="321928" y="181501"/>
                    <a:pt x="318268" y="181050"/>
                  </a:cubicBezTo>
                  <a:cubicBezTo>
                    <a:pt x="313468" y="180467"/>
                    <a:pt x="306732" y="177921"/>
                    <a:pt x="305035" y="174261"/>
                  </a:cubicBezTo>
                  <a:cubicBezTo>
                    <a:pt x="303285" y="170469"/>
                    <a:pt x="305698" y="163945"/>
                    <a:pt x="307952" y="159437"/>
                  </a:cubicBezTo>
                  <a:cubicBezTo>
                    <a:pt x="309331" y="156679"/>
                    <a:pt x="313760" y="155353"/>
                    <a:pt x="316942" y="153602"/>
                  </a:cubicBezTo>
                  <a:cubicBezTo>
                    <a:pt x="352505" y="133845"/>
                    <a:pt x="388386" y="114592"/>
                    <a:pt x="423552" y="94145"/>
                  </a:cubicBezTo>
                  <a:cubicBezTo>
                    <a:pt x="439119" y="85102"/>
                    <a:pt x="452379" y="85579"/>
                    <a:pt x="468025" y="94331"/>
                  </a:cubicBezTo>
                  <a:cubicBezTo>
                    <a:pt x="578294" y="156069"/>
                    <a:pt x="688908" y="217197"/>
                    <a:pt x="799442" y="278431"/>
                  </a:cubicBezTo>
                  <a:cubicBezTo>
                    <a:pt x="802545" y="280154"/>
                    <a:pt x="806125" y="281905"/>
                    <a:pt x="809520" y="282011"/>
                  </a:cubicBezTo>
                  <a:cubicBezTo>
                    <a:pt x="823098" y="282409"/>
                    <a:pt x="836835" y="283231"/>
                    <a:pt x="850227" y="281639"/>
                  </a:cubicBezTo>
                  <a:cubicBezTo>
                    <a:pt x="855425" y="281003"/>
                    <a:pt x="862108" y="275169"/>
                    <a:pt x="863991" y="270157"/>
                  </a:cubicBezTo>
                  <a:cubicBezTo>
                    <a:pt x="865423" y="266311"/>
                    <a:pt x="860809" y="259814"/>
                    <a:pt x="858051" y="254961"/>
                  </a:cubicBezTo>
                  <a:cubicBezTo>
                    <a:pt x="856937" y="252972"/>
                    <a:pt x="853675" y="252150"/>
                    <a:pt x="851368" y="250877"/>
                  </a:cubicBezTo>
                  <a:cubicBezTo>
                    <a:pt x="720042" y="177974"/>
                    <a:pt x="588690" y="105177"/>
                    <a:pt x="457550" y="31956"/>
                  </a:cubicBezTo>
                  <a:cubicBezTo>
                    <a:pt x="448533" y="26918"/>
                    <a:pt x="442062" y="27342"/>
                    <a:pt x="433364" y="32221"/>
                  </a:cubicBezTo>
                  <a:cubicBezTo>
                    <a:pt x="335771" y="86799"/>
                    <a:pt x="237940" y="140952"/>
                    <a:pt x="140188" y="195238"/>
                  </a:cubicBezTo>
                  <a:cubicBezTo>
                    <a:pt x="106058" y="214200"/>
                    <a:pt x="71980" y="233188"/>
                    <a:pt x="37822" y="252096"/>
                  </a:cubicBezTo>
                  <a:cubicBezTo>
                    <a:pt x="30344" y="256234"/>
                    <a:pt x="24271" y="261352"/>
                    <a:pt x="26870" y="270846"/>
                  </a:cubicBezTo>
                  <a:cubicBezTo>
                    <a:pt x="29363" y="279942"/>
                    <a:pt x="36443" y="282647"/>
                    <a:pt x="45380" y="282329"/>
                  </a:cubicBezTo>
                  <a:cubicBezTo>
                    <a:pt x="54318" y="282011"/>
                    <a:pt x="63387" y="283072"/>
                    <a:pt x="72192" y="282011"/>
                  </a:cubicBezTo>
                  <a:cubicBezTo>
                    <a:pt x="80439" y="281030"/>
                    <a:pt x="89271" y="279571"/>
                    <a:pt x="96404" y="275672"/>
                  </a:cubicBezTo>
                  <a:cubicBezTo>
                    <a:pt x="148144" y="247535"/>
                    <a:pt x="199460" y="218682"/>
                    <a:pt x="251041" y="190252"/>
                  </a:cubicBezTo>
                  <a:cubicBezTo>
                    <a:pt x="255204" y="187945"/>
                    <a:pt x="260774" y="185267"/>
                    <a:pt x="264725" y="186328"/>
                  </a:cubicBezTo>
                  <a:cubicBezTo>
                    <a:pt x="268915" y="187468"/>
                    <a:pt x="273556" y="192268"/>
                    <a:pt x="275121" y="196538"/>
                  </a:cubicBezTo>
                  <a:cubicBezTo>
                    <a:pt x="277614" y="203353"/>
                    <a:pt x="273026" y="207994"/>
                    <a:pt x="266847" y="211389"/>
                  </a:cubicBezTo>
                  <a:cubicBezTo>
                    <a:pt x="214444" y="240375"/>
                    <a:pt x="162200" y="269653"/>
                    <a:pt x="109744" y="298506"/>
                  </a:cubicBezTo>
                  <a:cubicBezTo>
                    <a:pt x="103697" y="301821"/>
                    <a:pt x="101602" y="305560"/>
                    <a:pt x="101682" y="312376"/>
                  </a:cubicBezTo>
                  <a:cubicBezTo>
                    <a:pt x="102053" y="344200"/>
                    <a:pt x="101841" y="376023"/>
                    <a:pt x="101841" y="407873"/>
                  </a:cubicBezTo>
                  <a:cubicBezTo>
                    <a:pt x="101841" y="411029"/>
                    <a:pt x="101841" y="414185"/>
                    <a:pt x="101841" y="417871"/>
                  </a:cubicBezTo>
                  <a:cubicBezTo>
                    <a:pt x="107012" y="417871"/>
                    <a:pt x="110619" y="417871"/>
                    <a:pt x="114252" y="417871"/>
                  </a:cubicBezTo>
                  <a:cubicBezTo>
                    <a:pt x="166310" y="417871"/>
                    <a:pt x="218342" y="417871"/>
                    <a:pt x="270400" y="417871"/>
                  </a:cubicBezTo>
                  <a:cubicBezTo>
                    <a:pt x="286206" y="417871"/>
                    <a:pt x="290264" y="421929"/>
                    <a:pt x="290264" y="437920"/>
                  </a:cubicBezTo>
                  <a:cubicBezTo>
                    <a:pt x="290290" y="507216"/>
                    <a:pt x="290290" y="576512"/>
                    <a:pt x="290264" y="645808"/>
                  </a:cubicBezTo>
                  <a:cubicBezTo>
                    <a:pt x="290264" y="661985"/>
                    <a:pt x="286604" y="665566"/>
                    <a:pt x="270321" y="665566"/>
                  </a:cubicBezTo>
                  <a:cubicBezTo>
                    <a:pt x="218262" y="665592"/>
                    <a:pt x="166231" y="665566"/>
                    <a:pt x="114173" y="665592"/>
                  </a:cubicBezTo>
                  <a:cubicBezTo>
                    <a:pt x="110354" y="665592"/>
                    <a:pt x="106508" y="665990"/>
                    <a:pt x="101841" y="666255"/>
                  </a:cubicBezTo>
                  <a:cubicBezTo>
                    <a:pt x="101841" y="689725"/>
                    <a:pt x="102212" y="712240"/>
                    <a:pt x="101655" y="734702"/>
                  </a:cubicBezTo>
                  <a:cubicBezTo>
                    <a:pt x="101443" y="743056"/>
                    <a:pt x="104042" y="745310"/>
                    <a:pt x="112237" y="745257"/>
                  </a:cubicBezTo>
                  <a:cubicBezTo>
                    <a:pt x="178191" y="744966"/>
                    <a:pt x="244172" y="745098"/>
                    <a:pt x="310127" y="745045"/>
                  </a:cubicBezTo>
                  <a:cubicBezTo>
                    <a:pt x="313283" y="745045"/>
                    <a:pt x="316439" y="744568"/>
                    <a:pt x="320231" y="744276"/>
                  </a:cubicBezTo>
                  <a:cubicBezTo>
                    <a:pt x="320231" y="739370"/>
                    <a:pt x="320231" y="735445"/>
                    <a:pt x="320231" y="731493"/>
                  </a:cubicBezTo>
                  <a:cubicBezTo>
                    <a:pt x="320231" y="633344"/>
                    <a:pt x="320231" y="535195"/>
                    <a:pt x="320231" y="437072"/>
                  </a:cubicBezTo>
                  <a:cubicBezTo>
                    <a:pt x="320231" y="421239"/>
                    <a:pt x="323572" y="417845"/>
                    <a:pt x="339325" y="417845"/>
                  </a:cubicBezTo>
                  <a:cubicBezTo>
                    <a:pt x="409947" y="417818"/>
                    <a:pt x="480543" y="417845"/>
                    <a:pt x="551165" y="417845"/>
                  </a:cubicBezTo>
                  <a:cubicBezTo>
                    <a:pt x="568031" y="417845"/>
                    <a:pt x="571107" y="421027"/>
                    <a:pt x="571107" y="438345"/>
                  </a:cubicBezTo>
                  <a:cubicBezTo>
                    <a:pt x="571107" y="536494"/>
                    <a:pt x="571107" y="634644"/>
                    <a:pt x="571107" y="732767"/>
                  </a:cubicBezTo>
                  <a:cubicBezTo>
                    <a:pt x="571107" y="736585"/>
                    <a:pt x="571107" y="740431"/>
                    <a:pt x="571107" y="745072"/>
                  </a:cubicBezTo>
                  <a:cubicBezTo>
                    <a:pt x="576252" y="745072"/>
                    <a:pt x="579859" y="745072"/>
                    <a:pt x="583466" y="745072"/>
                  </a:cubicBezTo>
                  <a:cubicBezTo>
                    <a:pt x="611656" y="745072"/>
                    <a:pt x="639820" y="745072"/>
                    <a:pt x="668010" y="745072"/>
                  </a:cubicBezTo>
                  <a:cubicBezTo>
                    <a:pt x="684559" y="745072"/>
                    <a:pt x="690420" y="748387"/>
                    <a:pt x="690632" y="757854"/>
                  </a:cubicBezTo>
                  <a:cubicBezTo>
                    <a:pt x="690844" y="767587"/>
                    <a:pt x="685169" y="770981"/>
                    <a:pt x="668594" y="770981"/>
                  </a:cubicBezTo>
                  <a:cubicBezTo>
                    <a:pt x="475000" y="770981"/>
                    <a:pt x="281406" y="770981"/>
                    <a:pt x="87812" y="770981"/>
                  </a:cubicBezTo>
                  <a:cubicBezTo>
                    <a:pt x="84497" y="770981"/>
                    <a:pt x="80943" y="770292"/>
                    <a:pt x="77947" y="771273"/>
                  </a:cubicBezTo>
                  <a:cubicBezTo>
                    <a:pt x="75560" y="772042"/>
                    <a:pt x="72271" y="774800"/>
                    <a:pt x="72112" y="776869"/>
                  </a:cubicBezTo>
                  <a:cubicBezTo>
                    <a:pt x="71502" y="785939"/>
                    <a:pt x="71874" y="795141"/>
                    <a:pt x="71874" y="805404"/>
                  </a:cubicBezTo>
                  <a:close/>
                  <a:moveTo>
                    <a:pt x="346989" y="444444"/>
                  </a:moveTo>
                  <a:cubicBezTo>
                    <a:pt x="346989" y="544768"/>
                    <a:pt x="346989" y="644562"/>
                    <a:pt x="346989" y="744435"/>
                  </a:cubicBezTo>
                  <a:cubicBezTo>
                    <a:pt x="413209" y="744435"/>
                    <a:pt x="478660" y="744435"/>
                    <a:pt x="544376" y="744435"/>
                  </a:cubicBezTo>
                  <a:cubicBezTo>
                    <a:pt x="544376" y="644085"/>
                    <a:pt x="544376" y="544317"/>
                    <a:pt x="544376" y="444444"/>
                  </a:cubicBezTo>
                  <a:cubicBezTo>
                    <a:pt x="478156" y="444444"/>
                    <a:pt x="412732" y="444444"/>
                    <a:pt x="346989" y="444444"/>
                  </a:cubicBezTo>
                  <a:close/>
                  <a:moveTo>
                    <a:pt x="263028" y="638250"/>
                  </a:moveTo>
                  <a:cubicBezTo>
                    <a:pt x="263028" y="573038"/>
                    <a:pt x="263028" y="508754"/>
                    <a:pt x="263028" y="444683"/>
                  </a:cubicBezTo>
                  <a:cubicBezTo>
                    <a:pt x="208901" y="444683"/>
                    <a:pt x="155782" y="444683"/>
                    <a:pt x="102424" y="444683"/>
                  </a:cubicBezTo>
                  <a:cubicBezTo>
                    <a:pt x="102424" y="509550"/>
                    <a:pt x="102424" y="573622"/>
                    <a:pt x="102424" y="638250"/>
                  </a:cubicBezTo>
                  <a:cubicBezTo>
                    <a:pt x="156153" y="638250"/>
                    <a:pt x="209325" y="638250"/>
                    <a:pt x="263028" y="638250"/>
                  </a:cubicBezTo>
                  <a:close/>
                  <a:moveTo>
                    <a:pt x="788967" y="444709"/>
                  </a:moveTo>
                  <a:cubicBezTo>
                    <a:pt x="735052" y="444709"/>
                    <a:pt x="681695" y="444709"/>
                    <a:pt x="627966" y="444709"/>
                  </a:cubicBezTo>
                  <a:cubicBezTo>
                    <a:pt x="627966" y="509576"/>
                    <a:pt x="627966" y="573675"/>
                    <a:pt x="627966" y="638091"/>
                  </a:cubicBezTo>
                  <a:cubicBezTo>
                    <a:pt x="681960" y="638091"/>
                    <a:pt x="735344" y="638091"/>
                    <a:pt x="788967" y="638091"/>
                  </a:cubicBezTo>
                  <a:cubicBezTo>
                    <a:pt x="788967" y="573250"/>
                    <a:pt x="788967" y="509179"/>
                    <a:pt x="788967" y="444709"/>
                  </a:cubicBezTo>
                  <a:close/>
                </a:path>
              </a:pathLst>
            </a:custGeom>
            <a:grpFill/>
            <a:ln w="265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46" name="熊大的PPT宝库16-2"/>
            <p:cNvSpPr/>
            <p:nvPr/>
          </p:nvSpPr>
          <p:spPr>
            <a:xfrm>
              <a:off x="1059873" y="1280849"/>
              <a:ext cx="184329" cy="59022"/>
            </a:xfrm>
            <a:custGeom>
              <a:avLst/>
              <a:gdLst>
                <a:gd name="connsiteX0" fmla="*/ 91949 w 184329"/>
                <a:gd name="connsiteY0" fmla="*/ 0 h 59022"/>
                <a:gd name="connsiteX1" fmla="*/ 178085 w 184329"/>
                <a:gd name="connsiteY1" fmla="*/ 34051 h 59022"/>
                <a:gd name="connsiteX2" fmla="*/ 181135 w 184329"/>
                <a:gd name="connsiteY2" fmla="*/ 55081 h 59022"/>
                <a:gd name="connsiteX3" fmla="*/ 160821 w 184329"/>
                <a:gd name="connsiteY3" fmla="*/ 53782 h 59022"/>
                <a:gd name="connsiteX4" fmla="*/ 104280 w 184329"/>
                <a:gd name="connsiteY4" fmla="*/ 27368 h 59022"/>
                <a:gd name="connsiteX5" fmla="*/ 27771 w 184329"/>
                <a:gd name="connsiteY5" fmla="*/ 50281 h 59022"/>
                <a:gd name="connsiteX6" fmla="*/ 2922 w 184329"/>
                <a:gd name="connsiteY6" fmla="*/ 54657 h 59022"/>
                <a:gd name="connsiteX7" fmla="*/ 11223 w 184329"/>
                <a:gd name="connsiteY7" fmla="*/ 29835 h 59022"/>
                <a:gd name="connsiteX8" fmla="*/ 91949 w 184329"/>
                <a:gd name="connsiteY8" fmla="*/ 0 h 59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329" h="59022">
                  <a:moveTo>
                    <a:pt x="91949" y="0"/>
                  </a:moveTo>
                  <a:cubicBezTo>
                    <a:pt x="125098" y="1061"/>
                    <a:pt x="153872" y="11828"/>
                    <a:pt x="178085" y="34051"/>
                  </a:cubicBezTo>
                  <a:cubicBezTo>
                    <a:pt x="185060" y="40469"/>
                    <a:pt x="186359" y="49380"/>
                    <a:pt x="181135" y="55081"/>
                  </a:cubicBezTo>
                  <a:cubicBezTo>
                    <a:pt x="176096" y="60598"/>
                    <a:pt x="168379" y="60465"/>
                    <a:pt x="160821" y="53782"/>
                  </a:cubicBezTo>
                  <a:cubicBezTo>
                    <a:pt x="144537" y="39382"/>
                    <a:pt x="126159" y="29994"/>
                    <a:pt x="104280" y="27368"/>
                  </a:cubicBezTo>
                  <a:cubicBezTo>
                    <a:pt x="75347" y="23894"/>
                    <a:pt x="50048" y="31983"/>
                    <a:pt x="27771" y="50281"/>
                  </a:cubicBezTo>
                  <a:cubicBezTo>
                    <a:pt x="15678" y="60226"/>
                    <a:pt x="9101" y="61526"/>
                    <a:pt x="2922" y="54657"/>
                  </a:cubicBezTo>
                  <a:cubicBezTo>
                    <a:pt x="-2939" y="48133"/>
                    <a:pt x="111" y="39196"/>
                    <a:pt x="11223" y="29835"/>
                  </a:cubicBezTo>
                  <a:cubicBezTo>
                    <a:pt x="34693" y="10024"/>
                    <a:pt x="62061" y="928"/>
                    <a:pt x="91949" y="0"/>
                  </a:cubicBezTo>
                  <a:close/>
                </a:path>
              </a:pathLst>
            </a:custGeom>
            <a:grpFill/>
            <a:ln w="265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47" name="熊大的PPT宝库16-3"/>
            <p:cNvSpPr/>
            <p:nvPr/>
          </p:nvSpPr>
          <p:spPr>
            <a:xfrm>
              <a:off x="1082738" y="1458286"/>
              <a:ext cx="138645" cy="26451"/>
            </a:xfrm>
            <a:custGeom>
              <a:avLst/>
              <a:gdLst>
                <a:gd name="connsiteX0" fmla="*/ 69376 w 138645"/>
                <a:gd name="connsiteY0" fmla="*/ 26394 h 26451"/>
                <a:gd name="connsiteX1" fmla="*/ 16760 w 138645"/>
                <a:gd name="connsiteY1" fmla="*/ 26341 h 26451"/>
                <a:gd name="connsiteX2" fmla="*/ 0 w 138645"/>
                <a:gd name="connsiteY2" fmla="*/ 13399 h 26451"/>
                <a:gd name="connsiteX3" fmla="*/ 16654 w 138645"/>
                <a:gd name="connsiteY3" fmla="*/ 139 h 26451"/>
                <a:gd name="connsiteX4" fmla="*/ 121885 w 138645"/>
                <a:gd name="connsiteY4" fmla="*/ 139 h 26451"/>
                <a:gd name="connsiteX5" fmla="*/ 138645 w 138645"/>
                <a:gd name="connsiteY5" fmla="*/ 13319 h 26451"/>
                <a:gd name="connsiteX6" fmla="*/ 121991 w 138645"/>
                <a:gd name="connsiteY6" fmla="*/ 26341 h 26451"/>
                <a:gd name="connsiteX7" fmla="*/ 69376 w 138645"/>
                <a:gd name="connsiteY7" fmla="*/ 26394 h 26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8645" h="26451">
                  <a:moveTo>
                    <a:pt x="69376" y="26394"/>
                  </a:moveTo>
                  <a:cubicBezTo>
                    <a:pt x="51846" y="26394"/>
                    <a:pt x="34290" y="26553"/>
                    <a:pt x="16760" y="26341"/>
                  </a:cubicBezTo>
                  <a:cubicBezTo>
                    <a:pt x="5940" y="26208"/>
                    <a:pt x="27" y="21355"/>
                    <a:pt x="0" y="13399"/>
                  </a:cubicBezTo>
                  <a:cubicBezTo>
                    <a:pt x="0" y="5470"/>
                    <a:pt x="6100" y="192"/>
                    <a:pt x="16654" y="139"/>
                  </a:cubicBezTo>
                  <a:cubicBezTo>
                    <a:pt x="51740" y="-46"/>
                    <a:pt x="86826" y="-46"/>
                    <a:pt x="121885" y="139"/>
                  </a:cubicBezTo>
                  <a:cubicBezTo>
                    <a:pt x="132493" y="192"/>
                    <a:pt x="138566" y="5390"/>
                    <a:pt x="138645" y="13319"/>
                  </a:cubicBezTo>
                  <a:cubicBezTo>
                    <a:pt x="138698" y="21249"/>
                    <a:pt x="132731" y="26208"/>
                    <a:pt x="121991" y="26341"/>
                  </a:cubicBezTo>
                  <a:cubicBezTo>
                    <a:pt x="104461" y="26553"/>
                    <a:pt x="86905" y="26394"/>
                    <a:pt x="69376" y="26394"/>
                  </a:cubicBezTo>
                  <a:close/>
                </a:path>
              </a:pathLst>
            </a:custGeom>
            <a:grpFill/>
            <a:ln w="265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48" name="熊大的PPT宝库16-4"/>
            <p:cNvSpPr/>
            <p:nvPr/>
          </p:nvSpPr>
          <p:spPr>
            <a:xfrm>
              <a:off x="1099430" y="1337313"/>
              <a:ext cx="107261" cy="42282"/>
            </a:xfrm>
            <a:custGeom>
              <a:avLst/>
              <a:gdLst>
                <a:gd name="connsiteX0" fmla="*/ 107261 w 107261"/>
                <a:gd name="connsiteY0" fmla="*/ 29699 h 42282"/>
                <a:gd name="connsiteX1" fmla="*/ 97926 w 107261"/>
                <a:gd name="connsiteY1" fmla="*/ 40546 h 42282"/>
                <a:gd name="connsiteX2" fmla="*/ 82863 w 107261"/>
                <a:gd name="connsiteY2" fmla="*/ 37973 h 42282"/>
                <a:gd name="connsiteX3" fmla="*/ 47168 w 107261"/>
                <a:gd name="connsiteY3" fmla="*/ 27153 h 42282"/>
                <a:gd name="connsiteX4" fmla="*/ 23353 w 107261"/>
                <a:gd name="connsiteY4" fmla="*/ 38000 h 42282"/>
                <a:gd name="connsiteX5" fmla="*/ 3092 w 107261"/>
                <a:gd name="connsiteY5" fmla="*/ 37947 h 42282"/>
                <a:gd name="connsiteX6" fmla="*/ 6301 w 107261"/>
                <a:gd name="connsiteY6" fmla="*/ 17977 h 42282"/>
                <a:gd name="connsiteX7" fmla="*/ 99199 w 107261"/>
                <a:gd name="connsiteY7" fmla="*/ 18242 h 42282"/>
                <a:gd name="connsiteX8" fmla="*/ 107261 w 107261"/>
                <a:gd name="connsiteY8" fmla="*/ 29699 h 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261" h="42282">
                  <a:moveTo>
                    <a:pt x="107261" y="29699"/>
                  </a:moveTo>
                  <a:cubicBezTo>
                    <a:pt x="103867" y="33889"/>
                    <a:pt x="101533" y="39564"/>
                    <a:pt x="97926" y="40546"/>
                  </a:cubicBezTo>
                  <a:cubicBezTo>
                    <a:pt x="93365" y="41792"/>
                    <a:pt x="86549" y="40811"/>
                    <a:pt x="82863" y="37973"/>
                  </a:cubicBezTo>
                  <a:cubicBezTo>
                    <a:pt x="72070" y="29725"/>
                    <a:pt x="60533" y="24130"/>
                    <a:pt x="47168" y="27153"/>
                  </a:cubicBezTo>
                  <a:cubicBezTo>
                    <a:pt x="38814" y="29036"/>
                    <a:pt x="30699" y="33385"/>
                    <a:pt x="23353" y="38000"/>
                  </a:cubicBezTo>
                  <a:cubicBezTo>
                    <a:pt x="14813" y="43357"/>
                    <a:pt x="8290" y="44073"/>
                    <a:pt x="3092" y="37947"/>
                  </a:cubicBezTo>
                  <a:cubicBezTo>
                    <a:pt x="-1974" y="31980"/>
                    <a:pt x="-754" y="24421"/>
                    <a:pt x="6301" y="17977"/>
                  </a:cubicBezTo>
                  <a:cubicBezTo>
                    <a:pt x="32661" y="-6050"/>
                    <a:pt x="73316" y="-6023"/>
                    <a:pt x="99199" y="18242"/>
                  </a:cubicBezTo>
                  <a:cubicBezTo>
                    <a:pt x="102090" y="21027"/>
                    <a:pt x="103946" y="24952"/>
                    <a:pt x="107261" y="29699"/>
                  </a:cubicBezTo>
                  <a:close/>
                </a:path>
              </a:pathLst>
            </a:custGeom>
            <a:grpFill/>
            <a:ln w="265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49" name="熊大的PPT宝库16-5"/>
            <p:cNvSpPr/>
            <p:nvPr/>
          </p:nvSpPr>
          <p:spPr>
            <a:xfrm>
              <a:off x="1138118" y="1392381"/>
              <a:ext cx="27918" cy="28015"/>
            </a:xfrm>
            <a:custGeom>
              <a:avLst/>
              <a:gdLst>
                <a:gd name="connsiteX0" fmla="*/ 14420 w 27918"/>
                <a:gd name="connsiteY0" fmla="*/ 10 h 28015"/>
                <a:gd name="connsiteX1" fmla="*/ 27919 w 27918"/>
                <a:gd name="connsiteY1" fmla="*/ 14384 h 28015"/>
                <a:gd name="connsiteX2" fmla="*/ 13014 w 27918"/>
                <a:gd name="connsiteY2" fmla="*/ 27988 h 28015"/>
                <a:gd name="connsiteX3" fmla="*/ 20 w 27918"/>
                <a:gd name="connsiteY3" fmla="*/ 13455 h 28015"/>
                <a:gd name="connsiteX4" fmla="*/ 14420 w 27918"/>
                <a:gd name="connsiteY4" fmla="*/ 10 h 28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18" h="28015">
                  <a:moveTo>
                    <a:pt x="14420" y="10"/>
                  </a:moveTo>
                  <a:cubicBezTo>
                    <a:pt x="21899" y="302"/>
                    <a:pt x="27972" y="6773"/>
                    <a:pt x="27919" y="14384"/>
                  </a:cubicBezTo>
                  <a:cubicBezTo>
                    <a:pt x="27839" y="22525"/>
                    <a:pt x="21315" y="28466"/>
                    <a:pt x="13014" y="27988"/>
                  </a:cubicBezTo>
                  <a:cubicBezTo>
                    <a:pt x="5271" y="27537"/>
                    <a:pt x="-378" y="21226"/>
                    <a:pt x="20" y="13455"/>
                  </a:cubicBezTo>
                  <a:cubicBezTo>
                    <a:pt x="418" y="5897"/>
                    <a:pt x="6994" y="-282"/>
                    <a:pt x="14420" y="10"/>
                  </a:cubicBezTo>
                  <a:close/>
                </a:path>
              </a:pathLst>
            </a:custGeom>
            <a:grpFill/>
            <a:ln w="265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0" name="熊大的PPT宝库16-6"/>
            <p:cNvSpPr/>
            <p:nvPr/>
          </p:nvSpPr>
          <p:spPr>
            <a:xfrm>
              <a:off x="1195502" y="1665885"/>
              <a:ext cx="25957" cy="60579"/>
            </a:xfrm>
            <a:custGeom>
              <a:avLst/>
              <a:gdLst>
                <a:gd name="connsiteX0" fmla="*/ 104 w 25957"/>
                <a:gd name="connsiteY0" fmla="*/ 30289 h 60579"/>
                <a:gd name="connsiteX1" fmla="*/ 157 w 25957"/>
                <a:gd name="connsiteY1" fmla="*/ 12441 h 60579"/>
                <a:gd name="connsiteX2" fmla="*/ 11905 w 25957"/>
                <a:gd name="connsiteY2" fmla="*/ 57 h 60579"/>
                <a:gd name="connsiteX3" fmla="*/ 25271 w 25957"/>
                <a:gd name="connsiteY3" fmla="*/ 10505 h 60579"/>
                <a:gd name="connsiteX4" fmla="*/ 25271 w 25957"/>
                <a:gd name="connsiteY4" fmla="*/ 50046 h 60579"/>
                <a:gd name="connsiteX5" fmla="*/ 11878 w 25957"/>
                <a:gd name="connsiteY5" fmla="*/ 60522 h 60579"/>
                <a:gd name="connsiteX6" fmla="*/ 157 w 25957"/>
                <a:gd name="connsiteY6" fmla="*/ 48164 h 60579"/>
                <a:gd name="connsiteX7" fmla="*/ 104 w 25957"/>
                <a:gd name="connsiteY7" fmla="*/ 30289 h 60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957" h="60579">
                  <a:moveTo>
                    <a:pt x="104" y="30289"/>
                  </a:moveTo>
                  <a:cubicBezTo>
                    <a:pt x="104" y="24322"/>
                    <a:pt x="-109" y="18382"/>
                    <a:pt x="157" y="12441"/>
                  </a:cubicBezTo>
                  <a:cubicBezTo>
                    <a:pt x="475" y="5042"/>
                    <a:pt x="4824" y="614"/>
                    <a:pt x="11905" y="57"/>
                  </a:cubicBezTo>
                  <a:cubicBezTo>
                    <a:pt x="19039" y="-527"/>
                    <a:pt x="24793" y="3425"/>
                    <a:pt x="25271" y="10505"/>
                  </a:cubicBezTo>
                  <a:cubicBezTo>
                    <a:pt x="26146" y="23633"/>
                    <a:pt x="26226" y="36919"/>
                    <a:pt x="25271" y="50046"/>
                  </a:cubicBezTo>
                  <a:cubicBezTo>
                    <a:pt x="24767" y="56888"/>
                    <a:pt x="19277" y="61132"/>
                    <a:pt x="11878" y="60522"/>
                  </a:cubicBezTo>
                  <a:cubicBezTo>
                    <a:pt x="4585" y="59912"/>
                    <a:pt x="554" y="55403"/>
                    <a:pt x="157" y="48164"/>
                  </a:cubicBezTo>
                  <a:cubicBezTo>
                    <a:pt x="-162" y="42223"/>
                    <a:pt x="104" y="36256"/>
                    <a:pt x="104" y="30289"/>
                  </a:cubicBezTo>
                  <a:close/>
                </a:path>
              </a:pathLst>
            </a:custGeom>
            <a:grpFill/>
            <a:ln w="2652"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grpSp>
      <p:grpSp>
        <p:nvGrpSpPr>
          <p:cNvPr id="151" name="熊大的PPT宝库17"/>
          <p:cNvGrpSpPr/>
          <p:nvPr/>
        </p:nvGrpSpPr>
        <p:grpSpPr>
          <a:xfrm>
            <a:off x="6348121" y="2889673"/>
            <a:ext cx="565648" cy="428654"/>
            <a:chOff x="6424088" y="2254236"/>
            <a:chExt cx="615397" cy="466355"/>
          </a:xfrm>
          <a:solidFill>
            <a:schemeClr val="accent1"/>
          </a:solidFill>
        </p:grpSpPr>
        <p:sp>
          <p:nvSpPr>
            <p:cNvPr id="152" name="熊大的PPT宝库17-1"/>
            <p:cNvSpPr/>
            <p:nvPr/>
          </p:nvSpPr>
          <p:spPr>
            <a:xfrm>
              <a:off x="6491397" y="2420105"/>
              <a:ext cx="25240" cy="25240"/>
            </a:xfrm>
            <a:custGeom>
              <a:avLst/>
              <a:gdLst>
                <a:gd name="connsiteX0" fmla="*/ 25241 w 25240"/>
                <a:gd name="connsiteY0" fmla="*/ 12620 h 25240"/>
                <a:gd name="connsiteX1" fmla="*/ 12620 w 25240"/>
                <a:gd name="connsiteY1" fmla="*/ 25241 h 25240"/>
                <a:gd name="connsiteX2" fmla="*/ 0 w 25240"/>
                <a:gd name="connsiteY2" fmla="*/ 12620 h 25240"/>
                <a:gd name="connsiteX3" fmla="*/ 12620 w 25240"/>
                <a:gd name="connsiteY3" fmla="*/ 0 h 25240"/>
                <a:gd name="connsiteX4" fmla="*/ 25241 w 25240"/>
                <a:gd name="connsiteY4" fmla="*/ 12620 h 25240"/>
                <a:gd name="connsiteX5" fmla="*/ 25241 w 25240"/>
                <a:gd name="connsiteY5" fmla="*/ 12620 h 2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40" h="25240">
                  <a:moveTo>
                    <a:pt x="25241" y="12620"/>
                  </a:moveTo>
                  <a:cubicBezTo>
                    <a:pt x="25241" y="19592"/>
                    <a:pt x="19592" y="25241"/>
                    <a:pt x="12620" y="25241"/>
                  </a:cubicBezTo>
                  <a:cubicBezTo>
                    <a:pt x="5649" y="25241"/>
                    <a:pt x="0" y="19592"/>
                    <a:pt x="0" y="12620"/>
                  </a:cubicBezTo>
                  <a:cubicBezTo>
                    <a:pt x="0" y="5649"/>
                    <a:pt x="5649" y="0"/>
                    <a:pt x="12620" y="0"/>
                  </a:cubicBezTo>
                  <a:cubicBezTo>
                    <a:pt x="19592" y="0"/>
                    <a:pt x="25241" y="5649"/>
                    <a:pt x="25241" y="12620"/>
                  </a:cubicBezTo>
                  <a:lnTo>
                    <a:pt x="25241" y="12620"/>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3" name="熊大的PPT宝库17-2"/>
            <p:cNvSpPr/>
            <p:nvPr/>
          </p:nvSpPr>
          <p:spPr>
            <a:xfrm>
              <a:off x="6573129" y="2420105"/>
              <a:ext cx="25240" cy="25240"/>
            </a:xfrm>
            <a:custGeom>
              <a:avLst/>
              <a:gdLst>
                <a:gd name="connsiteX0" fmla="*/ 25241 w 25240"/>
                <a:gd name="connsiteY0" fmla="*/ 12620 h 25240"/>
                <a:gd name="connsiteX1" fmla="*/ 12620 w 25240"/>
                <a:gd name="connsiteY1" fmla="*/ 25241 h 25240"/>
                <a:gd name="connsiteX2" fmla="*/ 0 w 25240"/>
                <a:gd name="connsiteY2" fmla="*/ 12620 h 25240"/>
                <a:gd name="connsiteX3" fmla="*/ 12620 w 25240"/>
                <a:gd name="connsiteY3" fmla="*/ 0 h 25240"/>
                <a:gd name="connsiteX4" fmla="*/ 25241 w 25240"/>
                <a:gd name="connsiteY4" fmla="*/ 12620 h 25240"/>
                <a:gd name="connsiteX5" fmla="*/ 25241 w 25240"/>
                <a:gd name="connsiteY5" fmla="*/ 12620 h 2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40" h="25240">
                  <a:moveTo>
                    <a:pt x="25241" y="12620"/>
                  </a:moveTo>
                  <a:cubicBezTo>
                    <a:pt x="25241" y="19592"/>
                    <a:pt x="19592" y="25241"/>
                    <a:pt x="12620" y="25241"/>
                  </a:cubicBezTo>
                  <a:cubicBezTo>
                    <a:pt x="5649" y="25241"/>
                    <a:pt x="0" y="19592"/>
                    <a:pt x="0" y="12620"/>
                  </a:cubicBezTo>
                  <a:cubicBezTo>
                    <a:pt x="0" y="5649"/>
                    <a:pt x="5649" y="0"/>
                    <a:pt x="12620" y="0"/>
                  </a:cubicBezTo>
                  <a:cubicBezTo>
                    <a:pt x="19592" y="0"/>
                    <a:pt x="25241" y="5649"/>
                    <a:pt x="25241" y="12620"/>
                  </a:cubicBezTo>
                  <a:lnTo>
                    <a:pt x="25241" y="12620"/>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4" name="熊大的PPT宝库17-3"/>
            <p:cNvSpPr/>
            <p:nvPr/>
          </p:nvSpPr>
          <p:spPr>
            <a:xfrm>
              <a:off x="6654861" y="2420105"/>
              <a:ext cx="25240" cy="25240"/>
            </a:xfrm>
            <a:custGeom>
              <a:avLst/>
              <a:gdLst>
                <a:gd name="connsiteX0" fmla="*/ 25241 w 25240"/>
                <a:gd name="connsiteY0" fmla="*/ 12620 h 25240"/>
                <a:gd name="connsiteX1" fmla="*/ 12620 w 25240"/>
                <a:gd name="connsiteY1" fmla="*/ 25241 h 25240"/>
                <a:gd name="connsiteX2" fmla="*/ 0 w 25240"/>
                <a:gd name="connsiteY2" fmla="*/ 12620 h 25240"/>
                <a:gd name="connsiteX3" fmla="*/ 12620 w 25240"/>
                <a:gd name="connsiteY3" fmla="*/ 0 h 25240"/>
                <a:gd name="connsiteX4" fmla="*/ 25241 w 25240"/>
                <a:gd name="connsiteY4" fmla="*/ 12620 h 25240"/>
                <a:gd name="connsiteX5" fmla="*/ 25241 w 25240"/>
                <a:gd name="connsiteY5" fmla="*/ 12620 h 2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40" h="25240">
                  <a:moveTo>
                    <a:pt x="25241" y="12620"/>
                  </a:moveTo>
                  <a:cubicBezTo>
                    <a:pt x="25241" y="19592"/>
                    <a:pt x="19592" y="25241"/>
                    <a:pt x="12620" y="25241"/>
                  </a:cubicBezTo>
                  <a:cubicBezTo>
                    <a:pt x="5649" y="25241"/>
                    <a:pt x="0" y="19592"/>
                    <a:pt x="0" y="12620"/>
                  </a:cubicBezTo>
                  <a:cubicBezTo>
                    <a:pt x="0" y="5649"/>
                    <a:pt x="5649" y="0"/>
                    <a:pt x="12620" y="0"/>
                  </a:cubicBezTo>
                  <a:cubicBezTo>
                    <a:pt x="19592" y="0"/>
                    <a:pt x="25241" y="5649"/>
                    <a:pt x="25241" y="12620"/>
                  </a:cubicBezTo>
                  <a:lnTo>
                    <a:pt x="25241" y="12620"/>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5" name="熊大的PPT宝库17-4"/>
            <p:cNvSpPr/>
            <p:nvPr/>
          </p:nvSpPr>
          <p:spPr>
            <a:xfrm>
              <a:off x="6736594" y="2420105"/>
              <a:ext cx="25240" cy="25240"/>
            </a:xfrm>
            <a:custGeom>
              <a:avLst/>
              <a:gdLst>
                <a:gd name="connsiteX0" fmla="*/ 25241 w 25240"/>
                <a:gd name="connsiteY0" fmla="*/ 12620 h 25240"/>
                <a:gd name="connsiteX1" fmla="*/ 12620 w 25240"/>
                <a:gd name="connsiteY1" fmla="*/ 25241 h 25240"/>
                <a:gd name="connsiteX2" fmla="*/ 0 w 25240"/>
                <a:gd name="connsiteY2" fmla="*/ 12620 h 25240"/>
                <a:gd name="connsiteX3" fmla="*/ 12620 w 25240"/>
                <a:gd name="connsiteY3" fmla="*/ 0 h 25240"/>
                <a:gd name="connsiteX4" fmla="*/ 25241 w 25240"/>
                <a:gd name="connsiteY4" fmla="*/ 12620 h 25240"/>
                <a:gd name="connsiteX5" fmla="*/ 25241 w 25240"/>
                <a:gd name="connsiteY5" fmla="*/ 12620 h 2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40" h="25240">
                  <a:moveTo>
                    <a:pt x="25241" y="12620"/>
                  </a:moveTo>
                  <a:cubicBezTo>
                    <a:pt x="25241" y="19592"/>
                    <a:pt x="19592" y="25241"/>
                    <a:pt x="12620" y="25241"/>
                  </a:cubicBezTo>
                  <a:cubicBezTo>
                    <a:pt x="5649" y="25241"/>
                    <a:pt x="0" y="19592"/>
                    <a:pt x="0" y="12620"/>
                  </a:cubicBezTo>
                  <a:cubicBezTo>
                    <a:pt x="0" y="5649"/>
                    <a:pt x="5649" y="0"/>
                    <a:pt x="12620" y="0"/>
                  </a:cubicBezTo>
                  <a:cubicBezTo>
                    <a:pt x="19592" y="0"/>
                    <a:pt x="25241" y="5649"/>
                    <a:pt x="25241" y="12620"/>
                  </a:cubicBezTo>
                  <a:lnTo>
                    <a:pt x="25241" y="12620"/>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6" name="熊大的PPT宝库17-5"/>
            <p:cNvSpPr/>
            <p:nvPr/>
          </p:nvSpPr>
          <p:spPr>
            <a:xfrm>
              <a:off x="6818326" y="2420105"/>
              <a:ext cx="25240" cy="25240"/>
            </a:xfrm>
            <a:custGeom>
              <a:avLst/>
              <a:gdLst>
                <a:gd name="connsiteX0" fmla="*/ 25241 w 25240"/>
                <a:gd name="connsiteY0" fmla="*/ 12620 h 25240"/>
                <a:gd name="connsiteX1" fmla="*/ 12620 w 25240"/>
                <a:gd name="connsiteY1" fmla="*/ 25241 h 25240"/>
                <a:gd name="connsiteX2" fmla="*/ 0 w 25240"/>
                <a:gd name="connsiteY2" fmla="*/ 12620 h 25240"/>
                <a:gd name="connsiteX3" fmla="*/ 12620 w 25240"/>
                <a:gd name="connsiteY3" fmla="*/ 0 h 25240"/>
                <a:gd name="connsiteX4" fmla="*/ 25241 w 25240"/>
                <a:gd name="connsiteY4" fmla="*/ 12620 h 25240"/>
                <a:gd name="connsiteX5" fmla="*/ 25241 w 25240"/>
                <a:gd name="connsiteY5" fmla="*/ 12620 h 2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40" h="25240">
                  <a:moveTo>
                    <a:pt x="25241" y="12620"/>
                  </a:moveTo>
                  <a:cubicBezTo>
                    <a:pt x="25241" y="19592"/>
                    <a:pt x="19592" y="25241"/>
                    <a:pt x="12620" y="25241"/>
                  </a:cubicBezTo>
                  <a:cubicBezTo>
                    <a:pt x="5649" y="25241"/>
                    <a:pt x="0" y="19592"/>
                    <a:pt x="0" y="12620"/>
                  </a:cubicBezTo>
                  <a:cubicBezTo>
                    <a:pt x="0" y="5649"/>
                    <a:pt x="5649" y="0"/>
                    <a:pt x="12620" y="0"/>
                  </a:cubicBezTo>
                  <a:cubicBezTo>
                    <a:pt x="19592" y="0"/>
                    <a:pt x="25241" y="5649"/>
                    <a:pt x="25241" y="12620"/>
                  </a:cubicBezTo>
                  <a:lnTo>
                    <a:pt x="25241" y="12620"/>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7" name="熊大的PPT宝库17-6"/>
            <p:cNvSpPr/>
            <p:nvPr/>
          </p:nvSpPr>
          <p:spPr>
            <a:xfrm>
              <a:off x="6630822" y="2357604"/>
              <a:ext cx="39664" cy="18029"/>
            </a:xfrm>
            <a:custGeom>
              <a:avLst/>
              <a:gdLst>
                <a:gd name="connsiteX0" fmla="*/ 30650 w 39664"/>
                <a:gd name="connsiteY0" fmla="*/ 0 h 18029"/>
                <a:gd name="connsiteX1" fmla="*/ 9015 w 39664"/>
                <a:gd name="connsiteY1" fmla="*/ 0 h 18029"/>
                <a:gd name="connsiteX2" fmla="*/ 0 w 39664"/>
                <a:gd name="connsiteY2" fmla="*/ 9015 h 18029"/>
                <a:gd name="connsiteX3" fmla="*/ 9015 w 39664"/>
                <a:gd name="connsiteY3" fmla="*/ 18029 h 18029"/>
                <a:gd name="connsiteX4" fmla="*/ 30650 w 39664"/>
                <a:gd name="connsiteY4" fmla="*/ 18029 h 18029"/>
                <a:gd name="connsiteX5" fmla="*/ 39664 w 39664"/>
                <a:gd name="connsiteY5" fmla="*/ 9015 h 18029"/>
                <a:gd name="connsiteX6" fmla="*/ 30650 w 39664"/>
                <a:gd name="connsiteY6" fmla="*/ 0 h 18029"/>
                <a:gd name="connsiteX7" fmla="*/ 30650 w 39664"/>
                <a:gd name="connsiteY7" fmla="*/ 0 h 1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664" h="18029">
                  <a:moveTo>
                    <a:pt x="30650" y="0"/>
                  </a:moveTo>
                  <a:lnTo>
                    <a:pt x="9015" y="0"/>
                  </a:lnTo>
                  <a:cubicBezTo>
                    <a:pt x="4027" y="0"/>
                    <a:pt x="0" y="4042"/>
                    <a:pt x="0" y="9015"/>
                  </a:cubicBezTo>
                  <a:cubicBezTo>
                    <a:pt x="0" y="13988"/>
                    <a:pt x="4027" y="18029"/>
                    <a:pt x="9015" y="18029"/>
                  </a:cubicBezTo>
                  <a:lnTo>
                    <a:pt x="30650" y="18029"/>
                  </a:lnTo>
                  <a:cubicBezTo>
                    <a:pt x="35623" y="18029"/>
                    <a:pt x="39664" y="13988"/>
                    <a:pt x="39664" y="9015"/>
                  </a:cubicBezTo>
                  <a:cubicBezTo>
                    <a:pt x="39664" y="4042"/>
                    <a:pt x="35623" y="0"/>
                    <a:pt x="30650" y="0"/>
                  </a:cubicBezTo>
                  <a:lnTo>
                    <a:pt x="30650" y="0"/>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8" name="熊大的PPT宝库17-7"/>
            <p:cNvSpPr/>
            <p:nvPr/>
          </p:nvSpPr>
          <p:spPr>
            <a:xfrm>
              <a:off x="6630822" y="2332363"/>
              <a:ext cx="39664" cy="18029"/>
            </a:xfrm>
            <a:custGeom>
              <a:avLst/>
              <a:gdLst>
                <a:gd name="connsiteX0" fmla="*/ 30650 w 39664"/>
                <a:gd name="connsiteY0" fmla="*/ 0 h 18029"/>
                <a:gd name="connsiteX1" fmla="*/ 9015 w 39664"/>
                <a:gd name="connsiteY1" fmla="*/ 0 h 18029"/>
                <a:gd name="connsiteX2" fmla="*/ 0 w 39664"/>
                <a:gd name="connsiteY2" fmla="*/ 9015 h 18029"/>
                <a:gd name="connsiteX3" fmla="*/ 9015 w 39664"/>
                <a:gd name="connsiteY3" fmla="*/ 18029 h 18029"/>
                <a:gd name="connsiteX4" fmla="*/ 30650 w 39664"/>
                <a:gd name="connsiteY4" fmla="*/ 18029 h 18029"/>
                <a:gd name="connsiteX5" fmla="*/ 39664 w 39664"/>
                <a:gd name="connsiteY5" fmla="*/ 9015 h 18029"/>
                <a:gd name="connsiteX6" fmla="*/ 30650 w 39664"/>
                <a:gd name="connsiteY6" fmla="*/ 0 h 18029"/>
                <a:gd name="connsiteX7" fmla="*/ 30650 w 39664"/>
                <a:gd name="connsiteY7" fmla="*/ 0 h 1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664" h="18029">
                  <a:moveTo>
                    <a:pt x="30650" y="0"/>
                  </a:moveTo>
                  <a:lnTo>
                    <a:pt x="9015" y="0"/>
                  </a:lnTo>
                  <a:cubicBezTo>
                    <a:pt x="4027" y="0"/>
                    <a:pt x="0" y="4042"/>
                    <a:pt x="0" y="9015"/>
                  </a:cubicBezTo>
                  <a:cubicBezTo>
                    <a:pt x="0" y="13988"/>
                    <a:pt x="4027" y="18029"/>
                    <a:pt x="9015" y="18029"/>
                  </a:cubicBezTo>
                  <a:lnTo>
                    <a:pt x="30650" y="18029"/>
                  </a:lnTo>
                  <a:cubicBezTo>
                    <a:pt x="35623" y="18029"/>
                    <a:pt x="39664" y="13988"/>
                    <a:pt x="39664" y="9015"/>
                  </a:cubicBezTo>
                  <a:cubicBezTo>
                    <a:pt x="39664" y="4042"/>
                    <a:pt x="35623" y="0"/>
                    <a:pt x="30650" y="0"/>
                  </a:cubicBezTo>
                  <a:lnTo>
                    <a:pt x="30650" y="0"/>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9" name="熊大的PPT宝库17-8"/>
            <p:cNvSpPr/>
            <p:nvPr/>
          </p:nvSpPr>
          <p:spPr>
            <a:xfrm>
              <a:off x="6630822" y="2307122"/>
              <a:ext cx="39664" cy="18029"/>
            </a:xfrm>
            <a:custGeom>
              <a:avLst/>
              <a:gdLst>
                <a:gd name="connsiteX0" fmla="*/ 30650 w 39664"/>
                <a:gd name="connsiteY0" fmla="*/ 0 h 18029"/>
                <a:gd name="connsiteX1" fmla="*/ 9015 w 39664"/>
                <a:gd name="connsiteY1" fmla="*/ 0 h 18029"/>
                <a:gd name="connsiteX2" fmla="*/ 0 w 39664"/>
                <a:gd name="connsiteY2" fmla="*/ 9015 h 18029"/>
                <a:gd name="connsiteX3" fmla="*/ 9015 w 39664"/>
                <a:gd name="connsiteY3" fmla="*/ 18029 h 18029"/>
                <a:gd name="connsiteX4" fmla="*/ 30650 w 39664"/>
                <a:gd name="connsiteY4" fmla="*/ 18029 h 18029"/>
                <a:gd name="connsiteX5" fmla="*/ 39664 w 39664"/>
                <a:gd name="connsiteY5" fmla="*/ 9015 h 18029"/>
                <a:gd name="connsiteX6" fmla="*/ 30650 w 39664"/>
                <a:gd name="connsiteY6" fmla="*/ 0 h 18029"/>
                <a:gd name="connsiteX7" fmla="*/ 30650 w 39664"/>
                <a:gd name="connsiteY7" fmla="*/ 0 h 1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664" h="18029">
                  <a:moveTo>
                    <a:pt x="30650" y="0"/>
                  </a:moveTo>
                  <a:lnTo>
                    <a:pt x="9015" y="0"/>
                  </a:lnTo>
                  <a:cubicBezTo>
                    <a:pt x="4027" y="0"/>
                    <a:pt x="0" y="4042"/>
                    <a:pt x="0" y="9015"/>
                  </a:cubicBezTo>
                  <a:cubicBezTo>
                    <a:pt x="0" y="13988"/>
                    <a:pt x="4027" y="18029"/>
                    <a:pt x="9015" y="18029"/>
                  </a:cubicBezTo>
                  <a:lnTo>
                    <a:pt x="30650" y="18029"/>
                  </a:lnTo>
                  <a:cubicBezTo>
                    <a:pt x="35623" y="18029"/>
                    <a:pt x="39664" y="13988"/>
                    <a:pt x="39664" y="9015"/>
                  </a:cubicBezTo>
                  <a:cubicBezTo>
                    <a:pt x="39664" y="4042"/>
                    <a:pt x="35623" y="0"/>
                    <a:pt x="30650" y="0"/>
                  </a:cubicBezTo>
                  <a:lnTo>
                    <a:pt x="30650" y="0"/>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0" name="熊大的PPT宝库17-9"/>
            <p:cNvSpPr/>
            <p:nvPr/>
          </p:nvSpPr>
          <p:spPr>
            <a:xfrm>
              <a:off x="6678900" y="2357604"/>
              <a:ext cx="39664" cy="18029"/>
            </a:xfrm>
            <a:custGeom>
              <a:avLst/>
              <a:gdLst>
                <a:gd name="connsiteX0" fmla="*/ 30650 w 39664"/>
                <a:gd name="connsiteY0" fmla="*/ 0 h 18029"/>
                <a:gd name="connsiteX1" fmla="*/ 9015 w 39664"/>
                <a:gd name="connsiteY1" fmla="*/ 0 h 18029"/>
                <a:gd name="connsiteX2" fmla="*/ 0 w 39664"/>
                <a:gd name="connsiteY2" fmla="*/ 9015 h 18029"/>
                <a:gd name="connsiteX3" fmla="*/ 9015 w 39664"/>
                <a:gd name="connsiteY3" fmla="*/ 18029 h 18029"/>
                <a:gd name="connsiteX4" fmla="*/ 30650 w 39664"/>
                <a:gd name="connsiteY4" fmla="*/ 18029 h 18029"/>
                <a:gd name="connsiteX5" fmla="*/ 39664 w 39664"/>
                <a:gd name="connsiteY5" fmla="*/ 9015 h 18029"/>
                <a:gd name="connsiteX6" fmla="*/ 30650 w 39664"/>
                <a:gd name="connsiteY6" fmla="*/ 0 h 18029"/>
                <a:gd name="connsiteX7" fmla="*/ 30650 w 39664"/>
                <a:gd name="connsiteY7" fmla="*/ 0 h 1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664" h="18029">
                  <a:moveTo>
                    <a:pt x="30650" y="0"/>
                  </a:moveTo>
                  <a:lnTo>
                    <a:pt x="9015" y="0"/>
                  </a:lnTo>
                  <a:cubicBezTo>
                    <a:pt x="4027" y="0"/>
                    <a:pt x="0" y="4042"/>
                    <a:pt x="0" y="9015"/>
                  </a:cubicBezTo>
                  <a:cubicBezTo>
                    <a:pt x="0" y="13988"/>
                    <a:pt x="4027" y="18029"/>
                    <a:pt x="9015" y="18029"/>
                  </a:cubicBezTo>
                  <a:lnTo>
                    <a:pt x="30650" y="18029"/>
                  </a:lnTo>
                  <a:cubicBezTo>
                    <a:pt x="35623" y="18029"/>
                    <a:pt x="39664" y="13988"/>
                    <a:pt x="39664" y="9015"/>
                  </a:cubicBezTo>
                  <a:cubicBezTo>
                    <a:pt x="39664" y="4042"/>
                    <a:pt x="35623" y="0"/>
                    <a:pt x="30650" y="0"/>
                  </a:cubicBezTo>
                  <a:lnTo>
                    <a:pt x="30650" y="0"/>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1" name="熊大的PPT宝库17-10"/>
            <p:cNvSpPr/>
            <p:nvPr/>
          </p:nvSpPr>
          <p:spPr>
            <a:xfrm>
              <a:off x="6678900" y="2332363"/>
              <a:ext cx="39664" cy="18029"/>
            </a:xfrm>
            <a:custGeom>
              <a:avLst/>
              <a:gdLst>
                <a:gd name="connsiteX0" fmla="*/ 30650 w 39664"/>
                <a:gd name="connsiteY0" fmla="*/ 0 h 18029"/>
                <a:gd name="connsiteX1" fmla="*/ 9015 w 39664"/>
                <a:gd name="connsiteY1" fmla="*/ 0 h 18029"/>
                <a:gd name="connsiteX2" fmla="*/ 0 w 39664"/>
                <a:gd name="connsiteY2" fmla="*/ 9015 h 18029"/>
                <a:gd name="connsiteX3" fmla="*/ 9015 w 39664"/>
                <a:gd name="connsiteY3" fmla="*/ 18029 h 18029"/>
                <a:gd name="connsiteX4" fmla="*/ 30650 w 39664"/>
                <a:gd name="connsiteY4" fmla="*/ 18029 h 18029"/>
                <a:gd name="connsiteX5" fmla="*/ 39664 w 39664"/>
                <a:gd name="connsiteY5" fmla="*/ 9015 h 18029"/>
                <a:gd name="connsiteX6" fmla="*/ 30650 w 39664"/>
                <a:gd name="connsiteY6" fmla="*/ 0 h 18029"/>
                <a:gd name="connsiteX7" fmla="*/ 30650 w 39664"/>
                <a:gd name="connsiteY7" fmla="*/ 0 h 1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664" h="18029">
                  <a:moveTo>
                    <a:pt x="30650" y="0"/>
                  </a:moveTo>
                  <a:lnTo>
                    <a:pt x="9015" y="0"/>
                  </a:lnTo>
                  <a:cubicBezTo>
                    <a:pt x="4027" y="0"/>
                    <a:pt x="0" y="4042"/>
                    <a:pt x="0" y="9015"/>
                  </a:cubicBezTo>
                  <a:cubicBezTo>
                    <a:pt x="0" y="13988"/>
                    <a:pt x="4027" y="18029"/>
                    <a:pt x="9015" y="18029"/>
                  </a:cubicBezTo>
                  <a:lnTo>
                    <a:pt x="30650" y="18029"/>
                  </a:lnTo>
                  <a:cubicBezTo>
                    <a:pt x="35623" y="18029"/>
                    <a:pt x="39664" y="13988"/>
                    <a:pt x="39664" y="9015"/>
                  </a:cubicBezTo>
                  <a:cubicBezTo>
                    <a:pt x="39664" y="4042"/>
                    <a:pt x="35623" y="0"/>
                    <a:pt x="30650" y="0"/>
                  </a:cubicBezTo>
                  <a:lnTo>
                    <a:pt x="30650" y="0"/>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2" name="熊大的PPT宝库17-11"/>
            <p:cNvSpPr/>
            <p:nvPr/>
          </p:nvSpPr>
          <p:spPr>
            <a:xfrm>
              <a:off x="6678900" y="2307122"/>
              <a:ext cx="39664" cy="18029"/>
            </a:xfrm>
            <a:custGeom>
              <a:avLst/>
              <a:gdLst>
                <a:gd name="connsiteX0" fmla="*/ 30650 w 39664"/>
                <a:gd name="connsiteY0" fmla="*/ 0 h 18029"/>
                <a:gd name="connsiteX1" fmla="*/ 9015 w 39664"/>
                <a:gd name="connsiteY1" fmla="*/ 0 h 18029"/>
                <a:gd name="connsiteX2" fmla="*/ 0 w 39664"/>
                <a:gd name="connsiteY2" fmla="*/ 9015 h 18029"/>
                <a:gd name="connsiteX3" fmla="*/ 9015 w 39664"/>
                <a:gd name="connsiteY3" fmla="*/ 18029 h 18029"/>
                <a:gd name="connsiteX4" fmla="*/ 30650 w 39664"/>
                <a:gd name="connsiteY4" fmla="*/ 18029 h 18029"/>
                <a:gd name="connsiteX5" fmla="*/ 39664 w 39664"/>
                <a:gd name="connsiteY5" fmla="*/ 9015 h 18029"/>
                <a:gd name="connsiteX6" fmla="*/ 30650 w 39664"/>
                <a:gd name="connsiteY6" fmla="*/ 0 h 18029"/>
                <a:gd name="connsiteX7" fmla="*/ 30650 w 39664"/>
                <a:gd name="connsiteY7" fmla="*/ 0 h 1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664" h="18029">
                  <a:moveTo>
                    <a:pt x="30650" y="0"/>
                  </a:moveTo>
                  <a:lnTo>
                    <a:pt x="9015" y="0"/>
                  </a:lnTo>
                  <a:cubicBezTo>
                    <a:pt x="4027" y="0"/>
                    <a:pt x="0" y="4042"/>
                    <a:pt x="0" y="9015"/>
                  </a:cubicBezTo>
                  <a:cubicBezTo>
                    <a:pt x="0" y="13988"/>
                    <a:pt x="4027" y="18029"/>
                    <a:pt x="9015" y="18029"/>
                  </a:cubicBezTo>
                  <a:lnTo>
                    <a:pt x="30650" y="18029"/>
                  </a:lnTo>
                  <a:cubicBezTo>
                    <a:pt x="35623" y="18029"/>
                    <a:pt x="39664" y="13988"/>
                    <a:pt x="39664" y="9015"/>
                  </a:cubicBezTo>
                  <a:cubicBezTo>
                    <a:pt x="39664" y="4042"/>
                    <a:pt x="35623" y="0"/>
                    <a:pt x="30650" y="0"/>
                  </a:cubicBezTo>
                  <a:lnTo>
                    <a:pt x="30650" y="0"/>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3" name="熊大的PPT宝库17-12"/>
            <p:cNvSpPr/>
            <p:nvPr/>
          </p:nvSpPr>
          <p:spPr>
            <a:xfrm>
              <a:off x="6678900" y="2281881"/>
              <a:ext cx="39664" cy="18029"/>
            </a:xfrm>
            <a:custGeom>
              <a:avLst/>
              <a:gdLst>
                <a:gd name="connsiteX0" fmla="*/ 30650 w 39664"/>
                <a:gd name="connsiteY0" fmla="*/ 0 h 18029"/>
                <a:gd name="connsiteX1" fmla="*/ 9015 w 39664"/>
                <a:gd name="connsiteY1" fmla="*/ 0 h 18029"/>
                <a:gd name="connsiteX2" fmla="*/ 0 w 39664"/>
                <a:gd name="connsiteY2" fmla="*/ 9015 h 18029"/>
                <a:gd name="connsiteX3" fmla="*/ 9015 w 39664"/>
                <a:gd name="connsiteY3" fmla="*/ 18029 h 18029"/>
                <a:gd name="connsiteX4" fmla="*/ 30650 w 39664"/>
                <a:gd name="connsiteY4" fmla="*/ 18029 h 18029"/>
                <a:gd name="connsiteX5" fmla="*/ 39664 w 39664"/>
                <a:gd name="connsiteY5" fmla="*/ 9015 h 18029"/>
                <a:gd name="connsiteX6" fmla="*/ 30650 w 39664"/>
                <a:gd name="connsiteY6" fmla="*/ 0 h 18029"/>
                <a:gd name="connsiteX7" fmla="*/ 30650 w 39664"/>
                <a:gd name="connsiteY7" fmla="*/ 0 h 1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664" h="18029">
                  <a:moveTo>
                    <a:pt x="30650" y="0"/>
                  </a:moveTo>
                  <a:lnTo>
                    <a:pt x="9015" y="0"/>
                  </a:lnTo>
                  <a:cubicBezTo>
                    <a:pt x="4027" y="0"/>
                    <a:pt x="0" y="4042"/>
                    <a:pt x="0" y="9015"/>
                  </a:cubicBezTo>
                  <a:cubicBezTo>
                    <a:pt x="0" y="14003"/>
                    <a:pt x="4027" y="18029"/>
                    <a:pt x="9015" y="18029"/>
                  </a:cubicBezTo>
                  <a:lnTo>
                    <a:pt x="30650" y="18029"/>
                  </a:lnTo>
                  <a:cubicBezTo>
                    <a:pt x="35623" y="18029"/>
                    <a:pt x="39664" y="14003"/>
                    <a:pt x="39664" y="9015"/>
                  </a:cubicBezTo>
                  <a:cubicBezTo>
                    <a:pt x="39664" y="4042"/>
                    <a:pt x="35623" y="0"/>
                    <a:pt x="30650" y="0"/>
                  </a:cubicBezTo>
                  <a:lnTo>
                    <a:pt x="30650" y="0"/>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4" name="熊大的PPT宝库17-13"/>
            <p:cNvSpPr/>
            <p:nvPr/>
          </p:nvSpPr>
          <p:spPr>
            <a:xfrm>
              <a:off x="6726978" y="2357604"/>
              <a:ext cx="39664" cy="18029"/>
            </a:xfrm>
            <a:custGeom>
              <a:avLst/>
              <a:gdLst>
                <a:gd name="connsiteX0" fmla="*/ 30650 w 39664"/>
                <a:gd name="connsiteY0" fmla="*/ 0 h 18029"/>
                <a:gd name="connsiteX1" fmla="*/ 9015 w 39664"/>
                <a:gd name="connsiteY1" fmla="*/ 0 h 18029"/>
                <a:gd name="connsiteX2" fmla="*/ 0 w 39664"/>
                <a:gd name="connsiteY2" fmla="*/ 9015 h 18029"/>
                <a:gd name="connsiteX3" fmla="*/ 9015 w 39664"/>
                <a:gd name="connsiteY3" fmla="*/ 18029 h 18029"/>
                <a:gd name="connsiteX4" fmla="*/ 30650 w 39664"/>
                <a:gd name="connsiteY4" fmla="*/ 18029 h 18029"/>
                <a:gd name="connsiteX5" fmla="*/ 39664 w 39664"/>
                <a:gd name="connsiteY5" fmla="*/ 9015 h 18029"/>
                <a:gd name="connsiteX6" fmla="*/ 30650 w 39664"/>
                <a:gd name="connsiteY6" fmla="*/ 0 h 18029"/>
                <a:gd name="connsiteX7" fmla="*/ 30650 w 39664"/>
                <a:gd name="connsiteY7" fmla="*/ 0 h 1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664" h="18029">
                  <a:moveTo>
                    <a:pt x="30650" y="0"/>
                  </a:moveTo>
                  <a:lnTo>
                    <a:pt x="9015" y="0"/>
                  </a:lnTo>
                  <a:cubicBezTo>
                    <a:pt x="4027" y="0"/>
                    <a:pt x="0" y="4042"/>
                    <a:pt x="0" y="9015"/>
                  </a:cubicBezTo>
                  <a:cubicBezTo>
                    <a:pt x="0" y="13988"/>
                    <a:pt x="4027" y="18029"/>
                    <a:pt x="9015" y="18029"/>
                  </a:cubicBezTo>
                  <a:lnTo>
                    <a:pt x="30650" y="18029"/>
                  </a:lnTo>
                  <a:cubicBezTo>
                    <a:pt x="35623" y="18029"/>
                    <a:pt x="39664" y="13988"/>
                    <a:pt x="39664" y="9015"/>
                  </a:cubicBezTo>
                  <a:cubicBezTo>
                    <a:pt x="39664" y="4042"/>
                    <a:pt x="35623" y="0"/>
                    <a:pt x="30650" y="0"/>
                  </a:cubicBezTo>
                  <a:lnTo>
                    <a:pt x="30650" y="0"/>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5" name="熊大的PPT宝库17-14"/>
            <p:cNvSpPr/>
            <p:nvPr/>
          </p:nvSpPr>
          <p:spPr>
            <a:xfrm>
              <a:off x="6777460" y="2357604"/>
              <a:ext cx="39664" cy="18029"/>
            </a:xfrm>
            <a:custGeom>
              <a:avLst/>
              <a:gdLst>
                <a:gd name="connsiteX0" fmla="*/ 30650 w 39664"/>
                <a:gd name="connsiteY0" fmla="*/ 0 h 18029"/>
                <a:gd name="connsiteX1" fmla="*/ 9015 w 39664"/>
                <a:gd name="connsiteY1" fmla="*/ 0 h 18029"/>
                <a:gd name="connsiteX2" fmla="*/ 0 w 39664"/>
                <a:gd name="connsiteY2" fmla="*/ 9015 h 18029"/>
                <a:gd name="connsiteX3" fmla="*/ 9015 w 39664"/>
                <a:gd name="connsiteY3" fmla="*/ 18029 h 18029"/>
                <a:gd name="connsiteX4" fmla="*/ 30650 w 39664"/>
                <a:gd name="connsiteY4" fmla="*/ 18029 h 18029"/>
                <a:gd name="connsiteX5" fmla="*/ 39664 w 39664"/>
                <a:gd name="connsiteY5" fmla="*/ 9015 h 18029"/>
                <a:gd name="connsiteX6" fmla="*/ 30650 w 39664"/>
                <a:gd name="connsiteY6" fmla="*/ 0 h 18029"/>
                <a:gd name="connsiteX7" fmla="*/ 30650 w 39664"/>
                <a:gd name="connsiteY7" fmla="*/ 0 h 1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664" h="18029">
                  <a:moveTo>
                    <a:pt x="30650" y="0"/>
                  </a:moveTo>
                  <a:lnTo>
                    <a:pt x="9015" y="0"/>
                  </a:lnTo>
                  <a:cubicBezTo>
                    <a:pt x="4042" y="0"/>
                    <a:pt x="0" y="4042"/>
                    <a:pt x="0" y="9015"/>
                  </a:cubicBezTo>
                  <a:cubicBezTo>
                    <a:pt x="0" y="13988"/>
                    <a:pt x="4042" y="18029"/>
                    <a:pt x="9015" y="18029"/>
                  </a:cubicBezTo>
                  <a:lnTo>
                    <a:pt x="30650" y="18029"/>
                  </a:lnTo>
                  <a:cubicBezTo>
                    <a:pt x="35623" y="18029"/>
                    <a:pt x="39664" y="13988"/>
                    <a:pt x="39664" y="9015"/>
                  </a:cubicBezTo>
                  <a:cubicBezTo>
                    <a:pt x="39664" y="4042"/>
                    <a:pt x="35623" y="0"/>
                    <a:pt x="30650" y="0"/>
                  </a:cubicBezTo>
                  <a:lnTo>
                    <a:pt x="30650" y="0"/>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6" name="熊大的PPT宝库17-15"/>
            <p:cNvSpPr/>
            <p:nvPr/>
          </p:nvSpPr>
          <p:spPr>
            <a:xfrm>
              <a:off x="6726978" y="2332363"/>
              <a:ext cx="39664" cy="18029"/>
            </a:xfrm>
            <a:custGeom>
              <a:avLst/>
              <a:gdLst>
                <a:gd name="connsiteX0" fmla="*/ 30650 w 39664"/>
                <a:gd name="connsiteY0" fmla="*/ 0 h 18029"/>
                <a:gd name="connsiteX1" fmla="*/ 9015 w 39664"/>
                <a:gd name="connsiteY1" fmla="*/ 0 h 18029"/>
                <a:gd name="connsiteX2" fmla="*/ 0 w 39664"/>
                <a:gd name="connsiteY2" fmla="*/ 9015 h 18029"/>
                <a:gd name="connsiteX3" fmla="*/ 9015 w 39664"/>
                <a:gd name="connsiteY3" fmla="*/ 18029 h 18029"/>
                <a:gd name="connsiteX4" fmla="*/ 30650 w 39664"/>
                <a:gd name="connsiteY4" fmla="*/ 18029 h 18029"/>
                <a:gd name="connsiteX5" fmla="*/ 39664 w 39664"/>
                <a:gd name="connsiteY5" fmla="*/ 9015 h 18029"/>
                <a:gd name="connsiteX6" fmla="*/ 30650 w 39664"/>
                <a:gd name="connsiteY6" fmla="*/ 0 h 18029"/>
                <a:gd name="connsiteX7" fmla="*/ 30650 w 39664"/>
                <a:gd name="connsiteY7" fmla="*/ 0 h 1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664" h="18029">
                  <a:moveTo>
                    <a:pt x="30650" y="0"/>
                  </a:moveTo>
                  <a:lnTo>
                    <a:pt x="9015" y="0"/>
                  </a:lnTo>
                  <a:cubicBezTo>
                    <a:pt x="4027" y="0"/>
                    <a:pt x="0" y="4042"/>
                    <a:pt x="0" y="9015"/>
                  </a:cubicBezTo>
                  <a:cubicBezTo>
                    <a:pt x="0" y="13988"/>
                    <a:pt x="4027" y="18029"/>
                    <a:pt x="9015" y="18029"/>
                  </a:cubicBezTo>
                  <a:lnTo>
                    <a:pt x="30650" y="18029"/>
                  </a:lnTo>
                  <a:cubicBezTo>
                    <a:pt x="35623" y="18029"/>
                    <a:pt x="39664" y="13988"/>
                    <a:pt x="39664" y="9015"/>
                  </a:cubicBezTo>
                  <a:cubicBezTo>
                    <a:pt x="39664" y="4042"/>
                    <a:pt x="35623" y="0"/>
                    <a:pt x="30650" y="0"/>
                  </a:cubicBezTo>
                  <a:lnTo>
                    <a:pt x="30650" y="0"/>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7" name="熊大的PPT宝库17-16"/>
            <p:cNvSpPr/>
            <p:nvPr/>
          </p:nvSpPr>
          <p:spPr>
            <a:xfrm>
              <a:off x="6424088" y="2254236"/>
              <a:ext cx="615397" cy="466355"/>
            </a:xfrm>
            <a:custGeom>
              <a:avLst/>
              <a:gdLst>
                <a:gd name="connsiteX0" fmla="*/ 579940 w 615397"/>
                <a:gd name="connsiteY0" fmla="*/ 0 h 466355"/>
                <a:gd name="connsiteX1" fmla="*/ 193213 w 615397"/>
                <a:gd name="connsiteY1" fmla="*/ 0 h 466355"/>
                <a:gd name="connsiteX2" fmla="*/ 184198 w 615397"/>
                <a:gd name="connsiteY2" fmla="*/ 9015 h 466355"/>
                <a:gd name="connsiteX3" fmla="*/ 193213 w 615397"/>
                <a:gd name="connsiteY3" fmla="*/ 18029 h 466355"/>
                <a:gd name="connsiteX4" fmla="*/ 579940 w 615397"/>
                <a:gd name="connsiteY4" fmla="*/ 18029 h 466355"/>
                <a:gd name="connsiteX5" fmla="*/ 597368 w 615397"/>
                <a:gd name="connsiteY5" fmla="*/ 35457 h 466355"/>
                <a:gd name="connsiteX6" fmla="*/ 597368 w 615397"/>
                <a:gd name="connsiteY6" fmla="*/ 133416 h 466355"/>
                <a:gd name="connsiteX7" fmla="*/ 18029 w 615397"/>
                <a:gd name="connsiteY7" fmla="*/ 133416 h 466355"/>
                <a:gd name="connsiteX8" fmla="*/ 18029 w 615397"/>
                <a:gd name="connsiteY8" fmla="*/ 35457 h 466355"/>
                <a:gd name="connsiteX9" fmla="*/ 35457 w 615397"/>
                <a:gd name="connsiteY9" fmla="*/ 18029 h 466355"/>
                <a:gd name="connsiteX10" fmla="*/ 140733 w 615397"/>
                <a:gd name="connsiteY10" fmla="*/ 18029 h 466355"/>
                <a:gd name="connsiteX11" fmla="*/ 149748 w 615397"/>
                <a:gd name="connsiteY11" fmla="*/ 9015 h 466355"/>
                <a:gd name="connsiteX12" fmla="*/ 140733 w 615397"/>
                <a:gd name="connsiteY12" fmla="*/ 0 h 466355"/>
                <a:gd name="connsiteX13" fmla="*/ 35457 w 615397"/>
                <a:gd name="connsiteY13" fmla="*/ 0 h 466355"/>
                <a:gd name="connsiteX14" fmla="*/ 0 w 615397"/>
                <a:gd name="connsiteY14" fmla="*/ 35457 h 466355"/>
                <a:gd name="connsiteX15" fmla="*/ 0 w 615397"/>
                <a:gd name="connsiteY15" fmla="*/ 430899 h 466355"/>
                <a:gd name="connsiteX16" fmla="*/ 35457 w 615397"/>
                <a:gd name="connsiteY16" fmla="*/ 466356 h 466355"/>
                <a:gd name="connsiteX17" fmla="*/ 579940 w 615397"/>
                <a:gd name="connsiteY17" fmla="*/ 466356 h 466355"/>
                <a:gd name="connsiteX18" fmla="*/ 615397 w 615397"/>
                <a:gd name="connsiteY18" fmla="*/ 430899 h 466355"/>
                <a:gd name="connsiteX19" fmla="*/ 615397 w 615397"/>
                <a:gd name="connsiteY19" fmla="*/ 35457 h 466355"/>
                <a:gd name="connsiteX20" fmla="*/ 579940 w 615397"/>
                <a:gd name="connsiteY20" fmla="*/ 0 h 466355"/>
                <a:gd name="connsiteX21" fmla="*/ 579940 w 615397"/>
                <a:gd name="connsiteY21" fmla="*/ 0 h 466355"/>
                <a:gd name="connsiteX22" fmla="*/ 597368 w 615397"/>
                <a:gd name="connsiteY22" fmla="*/ 430899 h 466355"/>
                <a:gd name="connsiteX23" fmla="*/ 579940 w 615397"/>
                <a:gd name="connsiteY23" fmla="*/ 448327 h 466355"/>
                <a:gd name="connsiteX24" fmla="*/ 35457 w 615397"/>
                <a:gd name="connsiteY24" fmla="*/ 448327 h 466355"/>
                <a:gd name="connsiteX25" fmla="*/ 18029 w 615397"/>
                <a:gd name="connsiteY25" fmla="*/ 430899 h 466355"/>
                <a:gd name="connsiteX26" fmla="*/ 18029 w 615397"/>
                <a:gd name="connsiteY26" fmla="*/ 422094 h 466355"/>
                <a:gd name="connsiteX27" fmla="*/ 35457 w 615397"/>
                <a:gd name="connsiteY27" fmla="*/ 426692 h 466355"/>
                <a:gd name="connsiteX28" fmla="*/ 579940 w 615397"/>
                <a:gd name="connsiteY28" fmla="*/ 426692 h 466355"/>
                <a:gd name="connsiteX29" fmla="*/ 597368 w 615397"/>
                <a:gd name="connsiteY29" fmla="*/ 422094 h 466355"/>
                <a:gd name="connsiteX30" fmla="*/ 597368 w 615397"/>
                <a:gd name="connsiteY30" fmla="*/ 430899 h 466355"/>
                <a:gd name="connsiteX31" fmla="*/ 597368 w 615397"/>
                <a:gd name="connsiteY31" fmla="*/ 391234 h 466355"/>
                <a:gd name="connsiteX32" fmla="*/ 579940 w 615397"/>
                <a:gd name="connsiteY32" fmla="*/ 408662 h 466355"/>
                <a:gd name="connsiteX33" fmla="*/ 35457 w 615397"/>
                <a:gd name="connsiteY33" fmla="*/ 408662 h 466355"/>
                <a:gd name="connsiteX34" fmla="*/ 18029 w 615397"/>
                <a:gd name="connsiteY34" fmla="*/ 391234 h 466355"/>
                <a:gd name="connsiteX35" fmla="*/ 18029 w 615397"/>
                <a:gd name="connsiteY35" fmla="*/ 151446 h 466355"/>
                <a:gd name="connsiteX36" fmla="*/ 597368 w 615397"/>
                <a:gd name="connsiteY36" fmla="*/ 151446 h 466355"/>
                <a:gd name="connsiteX37" fmla="*/ 597368 w 615397"/>
                <a:gd name="connsiteY37" fmla="*/ 391234 h 466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15397" h="466355">
                  <a:moveTo>
                    <a:pt x="579940" y="0"/>
                  </a:moveTo>
                  <a:lnTo>
                    <a:pt x="193213" y="0"/>
                  </a:lnTo>
                  <a:cubicBezTo>
                    <a:pt x="188240" y="0"/>
                    <a:pt x="184198" y="4042"/>
                    <a:pt x="184198" y="9015"/>
                  </a:cubicBezTo>
                  <a:cubicBezTo>
                    <a:pt x="184198" y="13988"/>
                    <a:pt x="188240" y="18029"/>
                    <a:pt x="193213" y="18029"/>
                  </a:cubicBezTo>
                  <a:lnTo>
                    <a:pt x="579940" y="18029"/>
                  </a:lnTo>
                  <a:cubicBezTo>
                    <a:pt x="589570" y="18029"/>
                    <a:pt x="597368" y="25842"/>
                    <a:pt x="597368" y="35457"/>
                  </a:cubicBezTo>
                  <a:lnTo>
                    <a:pt x="597368" y="133416"/>
                  </a:lnTo>
                  <a:lnTo>
                    <a:pt x="18029" y="133416"/>
                  </a:lnTo>
                  <a:lnTo>
                    <a:pt x="18029" y="35457"/>
                  </a:lnTo>
                  <a:cubicBezTo>
                    <a:pt x="18029" y="25827"/>
                    <a:pt x="25842" y="18029"/>
                    <a:pt x="35457" y="18029"/>
                  </a:cubicBezTo>
                  <a:lnTo>
                    <a:pt x="140733" y="18029"/>
                  </a:lnTo>
                  <a:cubicBezTo>
                    <a:pt x="145721" y="18029"/>
                    <a:pt x="149748" y="13988"/>
                    <a:pt x="149748" y="9015"/>
                  </a:cubicBezTo>
                  <a:cubicBezTo>
                    <a:pt x="149748" y="4042"/>
                    <a:pt x="145721" y="0"/>
                    <a:pt x="140733" y="0"/>
                  </a:cubicBezTo>
                  <a:lnTo>
                    <a:pt x="35457" y="0"/>
                  </a:lnTo>
                  <a:cubicBezTo>
                    <a:pt x="15881" y="0"/>
                    <a:pt x="0" y="15881"/>
                    <a:pt x="0" y="35457"/>
                  </a:cubicBezTo>
                  <a:lnTo>
                    <a:pt x="0" y="430899"/>
                  </a:lnTo>
                  <a:cubicBezTo>
                    <a:pt x="0" y="450490"/>
                    <a:pt x="15881" y="466356"/>
                    <a:pt x="35457" y="466356"/>
                  </a:cubicBezTo>
                  <a:lnTo>
                    <a:pt x="579940" y="466356"/>
                  </a:lnTo>
                  <a:cubicBezTo>
                    <a:pt x="599516" y="466356"/>
                    <a:pt x="615397" y="450490"/>
                    <a:pt x="615397" y="430899"/>
                  </a:cubicBezTo>
                  <a:lnTo>
                    <a:pt x="615397" y="35457"/>
                  </a:lnTo>
                  <a:cubicBezTo>
                    <a:pt x="615397" y="15881"/>
                    <a:pt x="599516" y="0"/>
                    <a:pt x="579940" y="0"/>
                  </a:cubicBezTo>
                  <a:lnTo>
                    <a:pt x="579940" y="0"/>
                  </a:lnTo>
                  <a:close/>
                  <a:moveTo>
                    <a:pt x="597368" y="430899"/>
                  </a:moveTo>
                  <a:cubicBezTo>
                    <a:pt x="597368" y="440499"/>
                    <a:pt x="589555" y="448327"/>
                    <a:pt x="579940" y="448327"/>
                  </a:cubicBezTo>
                  <a:lnTo>
                    <a:pt x="35457" y="448327"/>
                  </a:lnTo>
                  <a:cubicBezTo>
                    <a:pt x="25842" y="448327"/>
                    <a:pt x="18029" y="440514"/>
                    <a:pt x="18029" y="430899"/>
                  </a:cubicBezTo>
                  <a:lnTo>
                    <a:pt x="18029" y="422094"/>
                  </a:lnTo>
                  <a:cubicBezTo>
                    <a:pt x="23183" y="425009"/>
                    <a:pt x="29132" y="426692"/>
                    <a:pt x="35457" y="426692"/>
                  </a:cubicBezTo>
                  <a:lnTo>
                    <a:pt x="579940" y="426692"/>
                  </a:lnTo>
                  <a:cubicBezTo>
                    <a:pt x="586265" y="426692"/>
                    <a:pt x="592215" y="425009"/>
                    <a:pt x="597368" y="422094"/>
                  </a:cubicBezTo>
                  <a:lnTo>
                    <a:pt x="597368" y="430899"/>
                  </a:lnTo>
                  <a:close/>
                  <a:moveTo>
                    <a:pt x="597368" y="391234"/>
                  </a:moveTo>
                  <a:cubicBezTo>
                    <a:pt x="597368" y="400850"/>
                    <a:pt x="589555" y="408662"/>
                    <a:pt x="579940" y="408662"/>
                  </a:cubicBezTo>
                  <a:lnTo>
                    <a:pt x="35457" y="408662"/>
                  </a:lnTo>
                  <a:cubicBezTo>
                    <a:pt x="25842" y="408662"/>
                    <a:pt x="18029" y="400850"/>
                    <a:pt x="18029" y="391234"/>
                  </a:cubicBezTo>
                  <a:lnTo>
                    <a:pt x="18029" y="151446"/>
                  </a:lnTo>
                  <a:lnTo>
                    <a:pt x="597368" y="151446"/>
                  </a:lnTo>
                  <a:lnTo>
                    <a:pt x="597368" y="391234"/>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8" name="熊大的PPT宝库17-17"/>
            <p:cNvSpPr/>
            <p:nvPr/>
          </p:nvSpPr>
          <p:spPr>
            <a:xfrm>
              <a:off x="6469761" y="2460971"/>
              <a:ext cx="68510" cy="180307"/>
            </a:xfrm>
            <a:custGeom>
              <a:avLst/>
              <a:gdLst>
                <a:gd name="connsiteX0" fmla="*/ 51098 w 68510"/>
                <a:gd name="connsiteY0" fmla="*/ 15625 h 180307"/>
                <a:gd name="connsiteX1" fmla="*/ 43270 w 68510"/>
                <a:gd name="connsiteY1" fmla="*/ 15625 h 180307"/>
                <a:gd name="connsiteX2" fmla="*/ 43270 w 68510"/>
                <a:gd name="connsiteY2" fmla="*/ 9015 h 180307"/>
                <a:gd name="connsiteX3" fmla="*/ 34256 w 68510"/>
                <a:gd name="connsiteY3" fmla="*/ 0 h 180307"/>
                <a:gd name="connsiteX4" fmla="*/ 25241 w 68510"/>
                <a:gd name="connsiteY4" fmla="*/ 9015 h 180307"/>
                <a:gd name="connsiteX5" fmla="*/ 25241 w 68510"/>
                <a:gd name="connsiteY5" fmla="*/ 15625 h 180307"/>
                <a:gd name="connsiteX6" fmla="*/ 17413 w 68510"/>
                <a:gd name="connsiteY6" fmla="*/ 15625 h 180307"/>
                <a:gd name="connsiteX7" fmla="*/ 0 w 68510"/>
                <a:gd name="connsiteY7" fmla="*/ 33039 h 180307"/>
                <a:gd name="connsiteX8" fmla="*/ 0 w 68510"/>
                <a:gd name="connsiteY8" fmla="*/ 42699 h 180307"/>
                <a:gd name="connsiteX9" fmla="*/ 17413 w 68510"/>
                <a:gd name="connsiteY9" fmla="*/ 60112 h 180307"/>
                <a:gd name="connsiteX10" fmla="*/ 25241 w 68510"/>
                <a:gd name="connsiteY10" fmla="*/ 60112 h 180307"/>
                <a:gd name="connsiteX11" fmla="*/ 25241 w 68510"/>
                <a:gd name="connsiteY11" fmla="*/ 171293 h 180307"/>
                <a:gd name="connsiteX12" fmla="*/ 34256 w 68510"/>
                <a:gd name="connsiteY12" fmla="*/ 180307 h 180307"/>
                <a:gd name="connsiteX13" fmla="*/ 43270 w 68510"/>
                <a:gd name="connsiteY13" fmla="*/ 171293 h 180307"/>
                <a:gd name="connsiteX14" fmla="*/ 43270 w 68510"/>
                <a:gd name="connsiteY14" fmla="*/ 60112 h 180307"/>
                <a:gd name="connsiteX15" fmla="*/ 51098 w 68510"/>
                <a:gd name="connsiteY15" fmla="*/ 60112 h 180307"/>
                <a:gd name="connsiteX16" fmla="*/ 68511 w 68510"/>
                <a:gd name="connsiteY16" fmla="*/ 42699 h 180307"/>
                <a:gd name="connsiteX17" fmla="*/ 68511 w 68510"/>
                <a:gd name="connsiteY17" fmla="*/ 33039 h 180307"/>
                <a:gd name="connsiteX18" fmla="*/ 51098 w 68510"/>
                <a:gd name="connsiteY18" fmla="*/ 15625 h 180307"/>
                <a:gd name="connsiteX19" fmla="*/ 51098 w 68510"/>
                <a:gd name="connsiteY19" fmla="*/ 15625 h 180307"/>
                <a:gd name="connsiteX20" fmla="*/ 50482 w 68510"/>
                <a:gd name="connsiteY20" fmla="*/ 42068 h 180307"/>
                <a:gd name="connsiteX21" fmla="*/ 18029 w 68510"/>
                <a:gd name="connsiteY21" fmla="*/ 42068 h 180307"/>
                <a:gd name="connsiteX22" fmla="*/ 18029 w 68510"/>
                <a:gd name="connsiteY22" fmla="*/ 33655 h 180307"/>
                <a:gd name="connsiteX23" fmla="*/ 50482 w 68510"/>
                <a:gd name="connsiteY23" fmla="*/ 33655 h 180307"/>
                <a:gd name="connsiteX24" fmla="*/ 50482 w 68510"/>
                <a:gd name="connsiteY24" fmla="*/ 42068 h 180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8510" h="180307">
                  <a:moveTo>
                    <a:pt x="51098" y="15625"/>
                  </a:moveTo>
                  <a:lnTo>
                    <a:pt x="43270" y="15625"/>
                  </a:lnTo>
                  <a:lnTo>
                    <a:pt x="43270" y="9015"/>
                  </a:lnTo>
                  <a:cubicBezTo>
                    <a:pt x="43270" y="4027"/>
                    <a:pt x="39229" y="0"/>
                    <a:pt x="34256" y="0"/>
                  </a:cubicBezTo>
                  <a:cubicBezTo>
                    <a:pt x="29282" y="0"/>
                    <a:pt x="25241" y="4027"/>
                    <a:pt x="25241" y="9015"/>
                  </a:cubicBezTo>
                  <a:lnTo>
                    <a:pt x="25241" y="15625"/>
                  </a:lnTo>
                  <a:lnTo>
                    <a:pt x="17413" y="15625"/>
                  </a:lnTo>
                  <a:cubicBezTo>
                    <a:pt x="7813" y="15625"/>
                    <a:pt x="0" y="23423"/>
                    <a:pt x="0" y="33039"/>
                  </a:cubicBezTo>
                  <a:lnTo>
                    <a:pt x="0" y="42699"/>
                  </a:lnTo>
                  <a:cubicBezTo>
                    <a:pt x="0" y="52300"/>
                    <a:pt x="7813" y="60112"/>
                    <a:pt x="17413" y="60112"/>
                  </a:cubicBezTo>
                  <a:lnTo>
                    <a:pt x="25241" y="60112"/>
                  </a:lnTo>
                  <a:lnTo>
                    <a:pt x="25241" y="171293"/>
                  </a:lnTo>
                  <a:cubicBezTo>
                    <a:pt x="25241" y="176266"/>
                    <a:pt x="29282" y="180307"/>
                    <a:pt x="34256" y="180307"/>
                  </a:cubicBezTo>
                  <a:cubicBezTo>
                    <a:pt x="39229" y="180307"/>
                    <a:pt x="43270" y="176266"/>
                    <a:pt x="43270" y="171293"/>
                  </a:cubicBezTo>
                  <a:lnTo>
                    <a:pt x="43270" y="60112"/>
                  </a:lnTo>
                  <a:lnTo>
                    <a:pt x="51098" y="60112"/>
                  </a:lnTo>
                  <a:cubicBezTo>
                    <a:pt x="60698" y="60097"/>
                    <a:pt x="68511" y="52285"/>
                    <a:pt x="68511" y="42699"/>
                  </a:cubicBezTo>
                  <a:lnTo>
                    <a:pt x="68511" y="33039"/>
                  </a:lnTo>
                  <a:cubicBezTo>
                    <a:pt x="68511" y="23423"/>
                    <a:pt x="60698" y="15625"/>
                    <a:pt x="51098" y="15625"/>
                  </a:cubicBezTo>
                  <a:lnTo>
                    <a:pt x="51098" y="15625"/>
                  </a:lnTo>
                  <a:close/>
                  <a:moveTo>
                    <a:pt x="50482" y="42068"/>
                  </a:moveTo>
                  <a:lnTo>
                    <a:pt x="18029" y="42068"/>
                  </a:lnTo>
                  <a:lnTo>
                    <a:pt x="18029" y="33655"/>
                  </a:lnTo>
                  <a:lnTo>
                    <a:pt x="50482" y="33655"/>
                  </a:lnTo>
                  <a:lnTo>
                    <a:pt x="50482" y="42068"/>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9" name="熊大的PPT宝库17-18"/>
            <p:cNvSpPr/>
            <p:nvPr/>
          </p:nvSpPr>
          <p:spPr>
            <a:xfrm>
              <a:off x="6551509" y="2460971"/>
              <a:ext cx="68495" cy="180307"/>
            </a:xfrm>
            <a:custGeom>
              <a:avLst/>
              <a:gdLst>
                <a:gd name="connsiteX0" fmla="*/ 51098 w 68495"/>
                <a:gd name="connsiteY0" fmla="*/ 55290 h 180307"/>
                <a:gd name="connsiteX1" fmla="*/ 43270 w 68495"/>
                <a:gd name="connsiteY1" fmla="*/ 55290 h 180307"/>
                <a:gd name="connsiteX2" fmla="*/ 43270 w 68495"/>
                <a:gd name="connsiteY2" fmla="*/ 9015 h 180307"/>
                <a:gd name="connsiteX3" fmla="*/ 34256 w 68495"/>
                <a:gd name="connsiteY3" fmla="*/ 0 h 180307"/>
                <a:gd name="connsiteX4" fmla="*/ 25241 w 68495"/>
                <a:gd name="connsiteY4" fmla="*/ 9015 h 180307"/>
                <a:gd name="connsiteX5" fmla="*/ 25241 w 68495"/>
                <a:gd name="connsiteY5" fmla="*/ 55290 h 180307"/>
                <a:gd name="connsiteX6" fmla="*/ 17398 w 68495"/>
                <a:gd name="connsiteY6" fmla="*/ 55290 h 180307"/>
                <a:gd name="connsiteX7" fmla="*/ 0 w 68495"/>
                <a:gd name="connsiteY7" fmla="*/ 72703 h 180307"/>
                <a:gd name="connsiteX8" fmla="*/ 0 w 68495"/>
                <a:gd name="connsiteY8" fmla="*/ 82364 h 180307"/>
                <a:gd name="connsiteX9" fmla="*/ 17398 w 68495"/>
                <a:gd name="connsiteY9" fmla="*/ 99777 h 180307"/>
                <a:gd name="connsiteX10" fmla="*/ 25241 w 68495"/>
                <a:gd name="connsiteY10" fmla="*/ 99777 h 180307"/>
                <a:gd name="connsiteX11" fmla="*/ 25241 w 68495"/>
                <a:gd name="connsiteY11" fmla="*/ 171293 h 180307"/>
                <a:gd name="connsiteX12" fmla="*/ 34256 w 68495"/>
                <a:gd name="connsiteY12" fmla="*/ 180307 h 180307"/>
                <a:gd name="connsiteX13" fmla="*/ 43270 w 68495"/>
                <a:gd name="connsiteY13" fmla="*/ 171293 h 180307"/>
                <a:gd name="connsiteX14" fmla="*/ 43270 w 68495"/>
                <a:gd name="connsiteY14" fmla="*/ 99777 h 180307"/>
                <a:gd name="connsiteX15" fmla="*/ 51098 w 68495"/>
                <a:gd name="connsiteY15" fmla="*/ 99777 h 180307"/>
                <a:gd name="connsiteX16" fmla="*/ 68496 w 68495"/>
                <a:gd name="connsiteY16" fmla="*/ 82364 h 180307"/>
                <a:gd name="connsiteX17" fmla="*/ 68496 w 68495"/>
                <a:gd name="connsiteY17" fmla="*/ 72703 h 180307"/>
                <a:gd name="connsiteX18" fmla="*/ 51098 w 68495"/>
                <a:gd name="connsiteY18" fmla="*/ 55290 h 180307"/>
                <a:gd name="connsiteX19" fmla="*/ 51098 w 68495"/>
                <a:gd name="connsiteY19" fmla="*/ 55290 h 180307"/>
                <a:gd name="connsiteX20" fmla="*/ 50467 w 68495"/>
                <a:gd name="connsiteY20" fmla="*/ 81733 h 180307"/>
                <a:gd name="connsiteX21" fmla="*/ 18014 w 68495"/>
                <a:gd name="connsiteY21" fmla="*/ 81733 h 180307"/>
                <a:gd name="connsiteX22" fmla="*/ 18014 w 68495"/>
                <a:gd name="connsiteY22" fmla="*/ 73319 h 180307"/>
                <a:gd name="connsiteX23" fmla="*/ 50467 w 68495"/>
                <a:gd name="connsiteY23" fmla="*/ 73319 h 180307"/>
                <a:gd name="connsiteX24" fmla="*/ 50467 w 68495"/>
                <a:gd name="connsiteY24" fmla="*/ 81733 h 180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8495" h="180307">
                  <a:moveTo>
                    <a:pt x="51098" y="55290"/>
                  </a:moveTo>
                  <a:lnTo>
                    <a:pt x="43270" y="55290"/>
                  </a:lnTo>
                  <a:lnTo>
                    <a:pt x="43270" y="9015"/>
                  </a:lnTo>
                  <a:cubicBezTo>
                    <a:pt x="43270" y="4027"/>
                    <a:pt x="39229" y="0"/>
                    <a:pt x="34256" y="0"/>
                  </a:cubicBezTo>
                  <a:cubicBezTo>
                    <a:pt x="29267" y="0"/>
                    <a:pt x="25241" y="4027"/>
                    <a:pt x="25241" y="9015"/>
                  </a:cubicBezTo>
                  <a:lnTo>
                    <a:pt x="25241" y="55290"/>
                  </a:lnTo>
                  <a:lnTo>
                    <a:pt x="17398" y="55290"/>
                  </a:lnTo>
                  <a:cubicBezTo>
                    <a:pt x="7798" y="55290"/>
                    <a:pt x="0" y="63102"/>
                    <a:pt x="0" y="72703"/>
                  </a:cubicBezTo>
                  <a:lnTo>
                    <a:pt x="0" y="82364"/>
                  </a:lnTo>
                  <a:cubicBezTo>
                    <a:pt x="0" y="91964"/>
                    <a:pt x="7798" y="99777"/>
                    <a:pt x="17398" y="99777"/>
                  </a:cubicBezTo>
                  <a:lnTo>
                    <a:pt x="25241" y="99777"/>
                  </a:lnTo>
                  <a:lnTo>
                    <a:pt x="25241" y="171293"/>
                  </a:lnTo>
                  <a:cubicBezTo>
                    <a:pt x="25241" y="176266"/>
                    <a:pt x="29267" y="180307"/>
                    <a:pt x="34256" y="180307"/>
                  </a:cubicBezTo>
                  <a:cubicBezTo>
                    <a:pt x="39229" y="180307"/>
                    <a:pt x="43270" y="176266"/>
                    <a:pt x="43270" y="171293"/>
                  </a:cubicBezTo>
                  <a:lnTo>
                    <a:pt x="43270" y="99777"/>
                  </a:lnTo>
                  <a:lnTo>
                    <a:pt x="51098" y="99777"/>
                  </a:lnTo>
                  <a:cubicBezTo>
                    <a:pt x="60698" y="99777"/>
                    <a:pt x="68496" y="91964"/>
                    <a:pt x="68496" y="82364"/>
                  </a:cubicBezTo>
                  <a:lnTo>
                    <a:pt x="68496" y="72703"/>
                  </a:lnTo>
                  <a:cubicBezTo>
                    <a:pt x="68496" y="63102"/>
                    <a:pt x="60683" y="55290"/>
                    <a:pt x="51098" y="55290"/>
                  </a:cubicBezTo>
                  <a:lnTo>
                    <a:pt x="51098" y="55290"/>
                  </a:lnTo>
                  <a:close/>
                  <a:moveTo>
                    <a:pt x="50467" y="81733"/>
                  </a:moveTo>
                  <a:lnTo>
                    <a:pt x="18014" y="81733"/>
                  </a:lnTo>
                  <a:lnTo>
                    <a:pt x="18014" y="73319"/>
                  </a:lnTo>
                  <a:lnTo>
                    <a:pt x="50467" y="73319"/>
                  </a:lnTo>
                  <a:lnTo>
                    <a:pt x="50467" y="81733"/>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0" name="熊大的PPT宝库17-19"/>
            <p:cNvSpPr/>
            <p:nvPr/>
          </p:nvSpPr>
          <p:spPr>
            <a:xfrm>
              <a:off x="6633211" y="2460971"/>
              <a:ext cx="68526" cy="180307"/>
            </a:xfrm>
            <a:custGeom>
              <a:avLst/>
              <a:gdLst>
                <a:gd name="connsiteX0" fmla="*/ 51113 w 68526"/>
                <a:gd name="connsiteY0" fmla="*/ 19231 h 180307"/>
                <a:gd name="connsiteX1" fmla="*/ 43285 w 68526"/>
                <a:gd name="connsiteY1" fmla="*/ 19231 h 180307"/>
                <a:gd name="connsiteX2" fmla="*/ 43285 w 68526"/>
                <a:gd name="connsiteY2" fmla="*/ 9015 h 180307"/>
                <a:gd name="connsiteX3" fmla="*/ 34271 w 68526"/>
                <a:gd name="connsiteY3" fmla="*/ 0 h 180307"/>
                <a:gd name="connsiteX4" fmla="*/ 25256 w 68526"/>
                <a:gd name="connsiteY4" fmla="*/ 9015 h 180307"/>
                <a:gd name="connsiteX5" fmla="*/ 25256 w 68526"/>
                <a:gd name="connsiteY5" fmla="*/ 19231 h 180307"/>
                <a:gd name="connsiteX6" fmla="*/ 17413 w 68526"/>
                <a:gd name="connsiteY6" fmla="*/ 19231 h 180307"/>
                <a:gd name="connsiteX7" fmla="*/ 0 w 68526"/>
                <a:gd name="connsiteY7" fmla="*/ 36644 h 180307"/>
                <a:gd name="connsiteX8" fmla="*/ 0 w 68526"/>
                <a:gd name="connsiteY8" fmla="*/ 46305 h 180307"/>
                <a:gd name="connsiteX9" fmla="*/ 17413 w 68526"/>
                <a:gd name="connsiteY9" fmla="*/ 63718 h 180307"/>
                <a:gd name="connsiteX10" fmla="*/ 25256 w 68526"/>
                <a:gd name="connsiteY10" fmla="*/ 63718 h 180307"/>
                <a:gd name="connsiteX11" fmla="*/ 25256 w 68526"/>
                <a:gd name="connsiteY11" fmla="*/ 171293 h 180307"/>
                <a:gd name="connsiteX12" fmla="*/ 34271 w 68526"/>
                <a:gd name="connsiteY12" fmla="*/ 180307 h 180307"/>
                <a:gd name="connsiteX13" fmla="*/ 43285 w 68526"/>
                <a:gd name="connsiteY13" fmla="*/ 171293 h 180307"/>
                <a:gd name="connsiteX14" fmla="*/ 43285 w 68526"/>
                <a:gd name="connsiteY14" fmla="*/ 63718 h 180307"/>
                <a:gd name="connsiteX15" fmla="*/ 51113 w 68526"/>
                <a:gd name="connsiteY15" fmla="*/ 63718 h 180307"/>
                <a:gd name="connsiteX16" fmla="*/ 68526 w 68526"/>
                <a:gd name="connsiteY16" fmla="*/ 46305 h 180307"/>
                <a:gd name="connsiteX17" fmla="*/ 68526 w 68526"/>
                <a:gd name="connsiteY17" fmla="*/ 36644 h 180307"/>
                <a:gd name="connsiteX18" fmla="*/ 51113 w 68526"/>
                <a:gd name="connsiteY18" fmla="*/ 19231 h 180307"/>
                <a:gd name="connsiteX19" fmla="*/ 51113 w 68526"/>
                <a:gd name="connsiteY19" fmla="*/ 19231 h 180307"/>
                <a:gd name="connsiteX20" fmla="*/ 50497 w 68526"/>
                <a:gd name="connsiteY20" fmla="*/ 45674 h 180307"/>
                <a:gd name="connsiteX21" fmla="*/ 18044 w 68526"/>
                <a:gd name="connsiteY21" fmla="*/ 45674 h 180307"/>
                <a:gd name="connsiteX22" fmla="*/ 18044 w 68526"/>
                <a:gd name="connsiteY22" fmla="*/ 37260 h 180307"/>
                <a:gd name="connsiteX23" fmla="*/ 50497 w 68526"/>
                <a:gd name="connsiteY23" fmla="*/ 37260 h 180307"/>
                <a:gd name="connsiteX24" fmla="*/ 50497 w 68526"/>
                <a:gd name="connsiteY24" fmla="*/ 45674 h 180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8526" h="180307">
                  <a:moveTo>
                    <a:pt x="51113" y="19231"/>
                  </a:moveTo>
                  <a:lnTo>
                    <a:pt x="43285" y="19231"/>
                  </a:lnTo>
                  <a:lnTo>
                    <a:pt x="43285" y="9015"/>
                  </a:lnTo>
                  <a:cubicBezTo>
                    <a:pt x="43285" y="4027"/>
                    <a:pt x="39244" y="0"/>
                    <a:pt x="34271" y="0"/>
                  </a:cubicBezTo>
                  <a:cubicBezTo>
                    <a:pt x="29297" y="0"/>
                    <a:pt x="25256" y="4027"/>
                    <a:pt x="25256" y="9015"/>
                  </a:cubicBezTo>
                  <a:lnTo>
                    <a:pt x="25256" y="19231"/>
                  </a:lnTo>
                  <a:lnTo>
                    <a:pt x="17413" y="19231"/>
                  </a:lnTo>
                  <a:cubicBezTo>
                    <a:pt x="7813" y="19231"/>
                    <a:pt x="0" y="27044"/>
                    <a:pt x="0" y="36644"/>
                  </a:cubicBezTo>
                  <a:lnTo>
                    <a:pt x="0" y="46305"/>
                  </a:lnTo>
                  <a:cubicBezTo>
                    <a:pt x="0" y="55906"/>
                    <a:pt x="7813" y="63718"/>
                    <a:pt x="17413" y="63718"/>
                  </a:cubicBezTo>
                  <a:lnTo>
                    <a:pt x="25256" y="63718"/>
                  </a:lnTo>
                  <a:lnTo>
                    <a:pt x="25256" y="171293"/>
                  </a:lnTo>
                  <a:cubicBezTo>
                    <a:pt x="25256" y="176266"/>
                    <a:pt x="29297" y="180307"/>
                    <a:pt x="34271" y="180307"/>
                  </a:cubicBezTo>
                  <a:cubicBezTo>
                    <a:pt x="39244" y="180307"/>
                    <a:pt x="43285" y="176266"/>
                    <a:pt x="43285" y="171293"/>
                  </a:cubicBezTo>
                  <a:lnTo>
                    <a:pt x="43285" y="63718"/>
                  </a:lnTo>
                  <a:lnTo>
                    <a:pt x="51113" y="63718"/>
                  </a:lnTo>
                  <a:cubicBezTo>
                    <a:pt x="60713" y="63718"/>
                    <a:pt x="68526" y="55906"/>
                    <a:pt x="68526" y="46305"/>
                  </a:cubicBezTo>
                  <a:lnTo>
                    <a:pt x="68526" y="36644"/>
                  </a:lnTo>
                  <a:cubicBezTo>
                    <a:pt x="68526" y="27044"/>
                    <a:pt x="60713" y="19231"/>
                    <a:pt x="51113" y="19231"/>
                  </a:cubicBezTo>
                  <a:lnTo>
                    <a:pt x="51113" y="19231"/>
                  </a:lnTo>
                  <a:close/>
                  <a:moveTo>
                    <a:pt x="50497" y="45674"/>
                  </a:moveTo>
                  <a:lnTo>
                    <a:pt x="18044" y="45674"/>
                  </a:lnTo>
                  <a:lnTo>
                    <a:pt x="18044" y="37260"/>
                  </a:lnTo>
                  <a:lnTo>
                    <a:pt x="50497" y="37260"/>
                  </a:lnTo>
                  <a:lnTo>
                    <a:pt x="50497" y="45674"/>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1" name="熊大的PPT宝库17-20"/>
            <p:cNvSpPr/>
            <p:nvPr/>
          </p:nvSpPr>
          <p:spPr>
            <a:xfrm>
              <a:off x="6714974" y="2460971"/>
              <a:ext cx="68495" cy="180307"/>
            </a:xfrm>
            <a:custGeom>
              <a:avLst/>
              <a:gdLst>
                <a:gd name="connsiteX0" fmla="*/ 51098 w 68495"/>
                <a:gd name="connsiteY0" fmla="*/ 117791 h 180307"/>
                <a:gd name="connsiteX1" fmla="*/ 43255 w 68495"/>
                <a:gd name="connsiteY1" fmla="*/ 117791 h 180307"/>
                <a:gd name="connsiteX2" fmla="*/ 43255 w 68495"/>
                <a:gd name="connsiteY2" fmla="*/ 9015 h 180307"/>
                <a:gd name="connsiteX3" fmla="*/ 34240 w 68495"/>
                <a:gd name="connsiteY3" fmla="*/ 0 h 180307"/>
                <a:gd name="connsiteX4" fmla="*/ 25226 w 68495"/>
                <a:gd name="connsiteY4" fmla="*/ 9015 h 180307"/>
                <a:gd name="connsiteX5" fmla="*/ 25226 w 68495"/>
                <a:gd name="connsiteY5" fmla="*/ 117791 h 180307"/>
                <a:gd name="connsiteX6" fmla="*/ 17398 w 68495"/>
                <a:gd name="connsiteY6" fmla="*/ 117791 h 180307"/>
                <a:gd name="connsiteX7" fmla="*/ 0 w 68495"/>
                <a:gd name="connsiteY7" fmla="*/ 135204 h 180307"/>
                <a:gd name="connsiteX8" fmla="*/ 0 w 68495"/>
                <a:gd name="connsiteY8" fmla="*/ 144865 h 180307"/>
                <a:gd name="connsiteX9" fmla="*/ 17398 w 68495"/>
                <a:gd name="connsiteY9" fmla="*/ 162278 h 180307"/>
                <a:gd name="connsiteX10" fmla="*/ 25226 w 68495"/>
                <a:gd name="connsiteY10" fmla="*/ 162278 h 180307"/>
                <a:gd name="connsiteX11" fmla="*/ 25226 w 68495"/>
                <a:gd name="connsiteY11" fmla="*/ 171293 h 180307"/>
                <a:gd name="connsiteX12" fmla="*/ 34240 w 68495"/>
                <a:gd name="connsiteY12" fmla="*/ 180307 h 180307"/>
                <a:gd name="connsiteX13" fmla="*/ 43255 w 68495"/>
                <a:gd name="connsiteY13" fmla="*/ 171293 h 180307"/>
                <a:gd name="connsiteX14" fmla="*/ 43255 w 68495"/>
                <a:gd name="connsiteY14" fmla="*/ 162278 h 180307"/>
                <a:gd name="connsiteX15" fmla="*/ 51098 w 68495"/>
                <a:gd name="connsiteY15" fmla="*/ 162278 h 180307"/>
                <a:gd name="connsiteX16" fmla="*/ 68496 w 68495"/>
                <a:gd name="connsiteY16" fmla="*/ 144865 h 180307"/>
                <a:gd name="connsiteX17" fmla="*/ 68496 w 68495"/>
                <a:gd name="connsiteY17" fmla="*/ 135204 h 180307"/>
                <a:gd name="connsiteX18" fmla="*/ 51098 w 68495"/>
                <a:gd name="connsiteY18" fmla="*/ 117791 h 180307"/>
                <a:gd name="connsiteX19" fmla="*/ 51098 w 68495"/>
                <a:gd name="connsiteY19" fmla="*/ 117791 h 180307"/>
                <a:gd name="connsiteX20" fmla="*/ 50467 w 68495"/>
                <a:gd name="connsiteY20" fmla="*/ 144234 h 180307"/>
                <a:gd name="connsiteX21" fmla="*/ 18014 w 68495"/>
                <a:gd name="connsiteY21" fmla="*/ 144234 h 180307"/>
                <a:gd name="connsiteX22" fmla="*/ 18014 w 68495"/>
                <a:gd name="connsiteY22" fmla="*/ 135820 h 180307"/>
                <a:gd name="connsiteX23" fmla="*/ 50467 w 68495"/>
                <a:gd name="connsiteY23" fmla="*/ 135820 h 180307"/>
                <a:gd name="connsiteX24" fmla="*/ 50467 w 68495"/>
                <a:gd name="connsiteY24" fmla="*/ 144234 h 180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8495" h="180307">
                  <a:moveTo>
                    <a:pt x="51098" y="117791"/>
                  </a:moveTo>
                  <a:lnTo>
                    <a:pt x="43255" y="117791"/>
                  </a:lnTo>
                  <a:lnTo>
                    <a:pt x="43255" y="9015"/>
                  </a:lnTo>
                  <a:cubicBezTo>
                    <a:pt x="43255" y="4027"/>
                    <a:pt x="39229" y="0"/>
                    <a:pt x="34240" y="0"/>
                  </a:cubicBezTo>
                  <a:cubicBezTo>
                    <a:pt x="29267" y="0"/>
                    <a:pt x="25226" y="4027"/>
                    <a:pt x="25226" y="9015"/>
                  </a:cubicBezTo>
                  <a:lnTo>
                    <a:pt x="25226" y="117791"/>
                  </a:lnTo>
                  <a:lnTo>
                    <a:pt x="17398" y="117791"/>
                  </a:lnTo>
                  <a:cubicBezTo>
                    <a:pt x="7798" y="117791"/>
                    <a:pt x="0" y="125589"/>
                    <a:pt x="0" y="135204"/>
                  </a:cubicBezTo>
                  <a:lnTo>
                    <a:pt x="0" y="144865"/>
                  </a:lnTo>
                  <a:cubicBezTo>
                    <a:pt x="0" y="154465"/>
                    <a:pt x="7813" y="162278"/>
                    <a:pt x="17398" y="162278"/>
                  </a:cubicBezTo>
                  <a:lnTo>
                    <a:pt x="25226" y="162278"/>
                  </a:lnTo>
                  <a:lnTo>
                    <a:pt x="25226" y="171293"/>
                  </a:lnTo>
                  <a:cubicBezTo>
                    <a:pt x="25226" y="176266"/>
                    <a:pt x="29267" y="180307"/>
                    <a:pt x="34240" y="180307"/>
                  </a:cubicBezTo>
                  <a:cubicBezTo>
                    <a:pt x="39229" y="180307"/>
                    <a:pt x="43255" y="176266"/>
                    <a:pt x="43255" y="171293"/>
                  </a:cubicBezTo>
                  <a:lnTo>
                    <a:pt x="43255" y="162278"/>
                  </a:lnTo>
                  <a:lnTo>
                    <a:pt x="51098" y="162278"/>
                  </a:lnTo>
                  <a:cubicBezTo>
                    <a:pt x="60698" y="162278"/>
                    <a:pt x="68496" y="154465"/>
                    <a:pt x="68496" y="144865"/>
                  </a:cubicBezTo>
                  <a:lnTo>
                    <a:pt x="68496" y="135204"/>
                  </a:lnTo>
                  <a:cubicBezTo>
                    <a:pt x="68496" y="125589"/>
                    <a:pt x="60683" y="117791"/>
                    <a:pt x="51098" y="117791"/>
                  </a:cubicBezTo>
                  <a:lnTo>
                    <a:pt x="51098" y="117791"/>
                  </a:lnTo>
                  <a:close/>
                  <a:moveTo>
                    <a:pt x="50467" y="144234"/>
                  </a:moveTo>
                  <a:lnTo>
                    <a:pt x="18014" y="144234"/>
                  </a:lnTo>
                  <a:lnTo>
                    <a:pt x="18014" y="135820"/>
                  </a:lnTo>
                  <a:lnTo>
                    <a:pt x="50467" y="135820"/>
                  </a:lnTo>
                  <a:lnTo>
                    <a:pt x="50467" y="144234"/>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2" name="熊大的PPT宝库17-21"/>
            <p:cNvSpPr/>
            <p:nvPr/>
          </p:nvSpPr>
          <p:spPr>
            <a:xfrm>
              <a:off x="6796706" y="2460971"/>
              <a:ext cx="68510" cy="180277"/>
            </a:xfrm>
            <a:custGeom>
              <a:avLst/>
              <a:gdLst>
                <a:gd name="connsiteX0" fmla="*/ 51098 w 68510"/>
                <a:gd name="connsiteY0" fmla="*/ 58895 h 180277"/>
                <a:gd name="connsiteX1" fmla="*/ 43270 w 68510"/>
                <a:gd name="connsiteY1" fmla="*/ 58895 h 180277"/>
                <a:gd name="connsiteX2" fmla="*/ 43270 w 68510"/>
                <a:gd name="connsiteY2" fmla="*/ 9015 h 180277"/>
                <a:gd name="connsiteX3" fmla="*/ 34256 w 68510"/>
                <a:gd name="connsiteY3" fmla="*/ 0 h 180277"/>
                <a:gd name="connsiteX4" fmla="*/ 25241 w 68510"/>
                <a:gd name="connsiteY4" fmla="*/ 9015 h 180277"/>
                <a:gd name="connsiteX5" fmla="*/ 25241 w 68510"/>
                <a:gd name="connsiteY5" fmla="*/ 58895 h 180277"/>
                <a:gd name="connsiteX6" fmla="*/ 17413 w 68510"/>
                <a:gd name="connsiteY6" fmla="*/ 58895 h 180277"/>
                <a:gd name="connsiteX7" fmla="*/ 0 w 68510"/>
                <a:gd name="connsiteY7" fmla="*/ 76294 h 180277"/>
                <a:gd name="connsiteX8" fmla="*/ 0 w 68510"/>
                <a:gd name="connsiteY8" fmla="*/ 85954 h 180277"/>
                <a:gd name="connsiteX9" fmla="*/ 17413 w 68510"/>
                <a:gd name="connsiteY9" fmla="*/ 103353 h 180277"/>
                <a:gd name="connsiteX10" fmla="*/ 25241 w 68510"/>
                <a:gd name="connsiteY10" fmla="*/ 103353 h 180277"/>
                <a:gd name="connsiteX11" fmla="*/ 25241 w 68510"/>
                <a:gd name="connsiteY11" fmla="*/ 171263 h 180277"/>
                <a:gd name="connsiteX12" fmla="*/ 34256 w 68510"/>
                <a:gd name="connsiteY12" fmla="*/ 180277 h 180277"/>
                <a:gd name="connsiteX13" fmla="*/ 43270 w 68510"/>
                <a:gd name="connsiteY13" fmla="*/ 171263 h 180277"/>
                <a:gd name="connsiteX14" fmla="*/ 43270 w 68510"/>
                <a:gd name="connsiteY14" fmla="*/ 103368 h 180277"/>
                <a:gd name="connsiteX15" fmla="*/ 51098 w 68510"/>
                <a:gd name="connsiteY15" fmla="*/ 103368 h 180277"/>
                <a:gd name="connsiteX16" fmla="*/ 68511 w 68510"/>
                <a:gd name="connsiteY16" fmla="*/ 85969 h 180277"/>
                <a:gd name="connsiteX17" fmla="*/ 68511 w 68510"/>
                <a:gd name="connsiteY17" fmla="*/ 76309 h 180277"/>
                <a:gd name="connsiteX18" fmla="*/ 51098 w 68510"/>
                <a:gd name="connsiteY18" fmla="*/ 58895 h 180277"/>
                <a:gd name="connsiteX19" fmla="*/ 51098 w 68510"/>
                <a:gd name="connsiteY19" fmla="*/ 58895 h 180277"/>
                <a:gd name="connsiteX20" fmla="*/ 50467 w 68510"/>
                <a:gd name="connsiteY20" fmla="*/ 85338 h 180277"/>
                <a:gd name="connsiteX21" fmla="*/ 18014 w 68510"/>
                <a:gd name="connsiteY21" fmla="*/ 85338 h 180277"/>
                <a:gd name="connsiteX22" fmla="*/ 18014 w 68510"/>
                <a:gd name="connsiteY22" fmla="*/ 76925 h 180277"/>
                <a:gd name="connsiteX23" fmla="*/ 50467 w 68510"/>
                <a:gd name="connsiteY23" fmla="*/ 76925 h 180277"/>
                <a:gd name="connsiteX24" fmla="*/ 50467 w 68510"/>
                <a:gd name="connsiteY24" fmla="*/ 85338 h 180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8510" h="180277">
                  <a:moveTo>
                    <a:pt x="51098" y="58895"/>
                  </a:moveTo>
                  <a:lnTo>
                    <a:pt x="43270" y="58895"/>
                  </a:lnTo>
                  <a:lnTo>
                    <a:pt x="43270" y="9015"/>
                  </a:lnTo>
                  <a:cubicBezTo>
                    <a:pt x="43270" y="4027"/>
                    <a:pt x="39229" y="0"/>
                    <a:pt x="34256" y="0"/>
                  </a:cubicBezTo>
                  <a:cubicBezTo>
                    <a:pt x="29282" y="0"/>
                    <a:pt x="25241" y="4027"/>
                    <a:pt x="25241" y="9015"/>
                  </a:cubicBezTo>
                  <a:lnTo>
                    <a:pt x="25241" y="58895"/>
                  </a:lnTo>
                  <a:lnTo>
                    <a:pt x="17413" y="58895"/>
                  </a:lnTo>
                  <a:cubicBezTo>
                    <a:pt x="7813" y="58895"/>
                    <a:pt x="0" y="66708"/>
                    <a:pt x="0" y="76294"/>
                  </a:cubicBezTo>
                  <a:lnTo>
                    <a:pt x="0" y="85954"/>
                  </a:lnTo>
                  <a:cubicBezTo>
                    <a:pt x="0" y="95555"/>
                    <a:pt x="7813" y="103353"/>
                    <a:pt x="17413" y="103353"/>
                  </a:cubicBezTo>
                  <a:lnTo>
                    <a:pt x="25241" y="103353"/>
                  </a:lnTo>
                  <a:lnTo>
                    <a:pt x="25241" y="171263"/>
                  </a:lnTo>
                  <a:cubicBezTo>
                    <a:pt x="25241" y="176236"/>
                    <a:pt x="29282" y="180277"/>
                    <a:pt x="34256" y="180277"/>
                  </a:cubicBezTo>
                  <a:cubicBezTo>
                    <a:pt x="39229" y="180277"/>
                    <a:pt x="43270" y="176236"/>
                    <a:pt x="43270" y="171263"/>
                  </a:cubicBezTo>
                  <a:lnTo>
                    <a:pt x="43270" y="103368"/>
                  </a:lnTo>
                  <a:lnTo>
                    <a:pt x="51098" y="103368"/>
                  </a:lnTo>
                  <a:cubicBezTo>
                    <a:pt x="60698" y="103368"/>
                    <a:pt x="68511" y="95555"/>
                    <a:pt x="68511" y="85969"/>
                  </a:cubicBezTo>
                  <a:lnTo>
                    <a:pt x="68511" y="76309"/>
                  </a:lnTo>
                  <a:cubicBezTo>
                    <a:pt x="68496" y="66708"/>
                    <a:pt x="60683" y="58895"/>
                    <a:pt x="51098" y="58895"/>
                  </a:cubicBezTo>
                  <a:lnTo>
                    <a:pt x="51098" y="58895"/>
                  </a:lnTo>
                  <a:close/>
                  <a:moveTo>
                    <a:pt x="50467" y="85338"/>
                  </a:moveTo>
                  <a:lnTo>
                    <a:pt x="18014" y="85338"/>
                  </a:lnTo>
                  <a:lnTo>
                    <a:pt x="18014" y="76925"/>
                  </a:lnTo>
                  <a:lnTo>
                    <a:pt x="50467" y="76925"/>
                  </a:lnTo>
                  <a:lnTo>
                    <a:pt x="50467" y="85338"/>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3" name="熊大的PPT宝库17-22"/>
            <p:cNvSpPr/>
            <p:nvPr/>
          </p:nvSpPr>
          <p:spPr>
            <a:xfrm>
              <a:off x="6870156" y="2457583"/>
              <a:ext cx="66343" cy="66355"/>
            </a:xfrm>
            <a:custGeom>
              <a:avLst/>
              <a:gdLst>
                <a:gd name="connsiteX0" fmla="*/ 63707 w 66343"/>
                <a:gd name="connsiteY0" fmla="*/ 2637 h 66355"/>
                <a:gd name="connsiteX1" fmla="*/ 50966 w 66343"/>
                <a:gd name="connsiteY1" fmla="*/ 2637 h 66355"/>
                <a:gd name="connsiteX2" fmla="*/ 47075 w 66343"/>
                <a:gd name="connsiteY2" fmla="*/ 6543 h 66355"/>
                <a:gd name="connsiteX3" fmla="*/ 9319 w 66343"/>
                <a:gd name="connsiteY3" fmla="*/ 11997 h 66355"/>
                <a:gd name="connsiteX4" fmla="*/ 9319 w 66343"/>
                <a:gd name="connsiteY4" fmla="*/ 57040 h 66355"/>
                <a:gd name="connsiteX5" fmla="*/ 31840 w 66343"/>
                <a:gd name="connsiteY5" fmla="*/ 66355 h 66355"/>
                <a:gd name="connsiteX6" fmla="*/ 54362 w 66343"/>
                <a:gd name="connsiteY6" fmla="*/ 57040 h 66355"/>
                <a:gd name="connsiteX7" fmla="*/ 59816 w 66343"/>
                <a:gd name="connsiteY7" fmla="*/ 19299 h 66355"/>
                <a:gd name="connsiteX8" fmla="*/ 63707 w 66343"/>
                <a:gd name="connsiteY8" fmla="*/ 15392 h 66355"/>
                <a:gd name="connsiteX9" fmla="*/ 63707 w 66343"/>
                <a:gd name="connsiteY9" fmla="*/ 2637 h 66355"/>
                <a:gd name="connsiteX10" fmla="*/ 63707 w 66343"/>
                <a:gd name="connsiteY10" fmla="*/ 2637 h 66355"/>
                <a:gd name="connsiteX11" fmla="*/ 41606 w 66343"/>
                <a:gd name="connsiteY11" fmla="*/ 44284 h 66355"/>
                <a:gd name="connsiteX12" fmla="*/ 22059 w 66343"/>
                <a:gd name="connsiteY12" fmla="*/ 44284 h 66355"/>
                <a:gd name="connsiteX13" fmla="*/ 22059 w 66343"/>
                <a:gd name="connsiteY13" fmla="*/ 24738 h 66355"/>
                <a:gd name="connsiteX14" fmla="*/ 31840 w 66343"/>
                <a:gd name="connsiteY14" fmla="*/ 20696 h 66355"/>
                <a:gd name="connsiteX15" fmla="*/ 32877 w 66343"/>
                <a:gd name="connsiteY15" fmla="*/ 20756 h 66355"/>
                <a:gd name="connsiteX16" fmla="*/ 33117 w 66343"/>
                <a:gd name="connsiteY16" fmla="*/ 33241 h 66355"/>
                <a:gd name="connsiteX17" fmla="*/ 39488 w 66343"/>
                <a:gd name="connsiteY17" fmla="*/ 35886 h 66355"/>
                <a:gd name="connsiteX18" fmla="*/ 45603 w 66343"/>
                <a:gd name="connsiteY18" fmla="*/ 33482 h 66355"/>
                <a:gd name="connsiteX19" fmla="*/ 41606 w 66343"/>
                <a:gd name="connsiteY19" fmla="*/ 44284 h 66355"/>
                <a:gd name="connsiteX20" fmla="*/ 41606 w 66343"/>
                <a:gd name="connsiteY20" fmla="*/ 44284 h 66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343" h="66355">
                  <a:moveTo>
                    <a:pt x="63707" y="2637"/>
                  </a:moveTo>
                  <a:cubicBezTo>
                    <a:pt x="60191" y="-879"/>
                    <a:pt x="54482" y="-879"/>
                    <a:pt x="50966" y="2637"/>
                  </a:cubicBezTo>
                  <a:lnTo>
                    <a:pt x="47075" y="6543"/>
                  </a:lnTo>
                  <a:cubicBezTo>
                    <a:pt x="34995" y="-23"/>
                    <a:pt x="19535" y="1780"/>
                    <a:pt x="9319" y="11997"/>
                  </a:cubicBezTo>
                  <a:cubicBezTo>
                    <a:pt x="-3106" y="24422"/>
                    <a:pt x="-3106" y="44615"/>
                    <a:pt x="9319" y="57040"/>
                  </a:cubicBezTo>
                  <a:cubicBezTo>
                    <a:pt x="15524" y="63245"/>
                    <a:pt x="23682" y="66355"/>
                    <a:pt x="31840" y="66355"/>
                  </a:cubicBezTo>
                  <a:cubicBezTo>
                    <a:pt x="39999" y="66355"/>
                    <a:pt x="48157" y="63245"/>
                    <a:pt x="54362" y="57040"/>
                  </a:cubicBezTo>
                  <a:cubicBezTo>
                    <a:pt x="64563" y="46838"/>
                    <a:pt x="66381" y="31378"/>
                    <a:pt x="59816" y="19299"/>
                  </a:cubicBezTo>
                  <a:lnTo>
                    <a:pt x="63707" y="15392"/>
                  </a:lnTo>
                  <a:cubicBezTo>
                    <a:pt x="67223" y="11862"/>
                    <a:pt x="67223" y="6152"/>
                    <a:pt x="63707" y="2637"/>
                  </a:cubicBezTo>
                  <a:lnTo>
                    <a:pt x="63707" y="2637"/>
                  </a:lnTo>
                  <a:close/>
                  <a:moveTo>
                    <a:pt x="41606" y="44284"/>
                  </a:moveTo>
                  <a:cubicBezTo>
                    <a:pt x="36212" y="49678"/>
                    <a:pt x="27453" y="49678"/>
                    <a:pt x="22059" y="44284"/>
                  </a:cubicBezTo>
                  <a:cubicBezTo>
                    <a:pt x="16666" y="38891"/>
                    <a:pt x="16666" y="30131"/>
                    <a:pt x="22059" y="24738"/>
                  </a:cubicBezTo>
                  <a:cubicBezTo>
                    <a:pt x="24749" y="22048"/>
                    <a:pt x="28295" y="20696"/>
                    <a:pt x="31840" y="20696"/>
                  </a:cubicBezTo>
                  <a:cubicBezTo>
                    <a:pt x="32186" y="20696"/>
                    <a:pt x="32531" y="20726"/>
                    <a:pt x="32877" y="20756"/>
                  </a:cubicBezTo>
                  <a:cubicBezTo>
                    <a:pt x="29602" y="24287"/>
                    <a:pt x="29677" y="29801"/>
                    <a:pt x="33117" y="33241"/>
                  </a:cubicBezTo>
                  <a:cubicBezTo>
                    <a:pt x="34875" y="34999"/>
                    <a:pt x="37189" y="35886"/>
                    <a:pt x="39488" y="35886"/>
                  </a:cubicBezTo>
                  <a:cubicBezTo>
                    <a:pt x="41681" y="35886"/>
                    <a:pt x="43875" y="35074"/>
                    <a:pt x="45603" y="33482"/>
                  </a:cubicBezTo>
                  <a:cubicBezTo>
                    <a:pt x="45888" y="37343"/>
                    <a:pt x="44566" y="41325"/>
                    <a:pt x="41606" y="44284"/>
                  </a:cubicBezTo>
                  <a:lnTo>
                    <a:pt x="41606" y="44284"/>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4" name="熊大的PPT宝库17-23"/>
            <p:cNvSpPr/>
            <p:nvPr/>
          </p:nvSpPr>
          <p:spPr>
            <a:xfrm>
              <a:off x="6946935" y="2448952"/>
              <a:ext cx="63703" cy="76924"/>
            </a:xfrm>
            <a:custGeom>
              <a:avLst/>
              <a:gdLst>
                <a:gd name="connsiteX0" fmla="*/ 40866 w 63703"/>
                <a:gd name="connsiteY0" fmla="*/ 14529 h 76924"/>
                <a:gd name="connsiteX1" fmla="*/ 40866 w 63703"/>
                <a:gd name="connsiteY1" fmla="*/ 9015 h 76924"/>
                <a:gd name="connsiteX2" fmla="*/ 31852 w 63703"/>
                <a:gd name="connsiteY2" fmla="*/ 0 h 76924"/>
                <a:gd name="connsiteX3" fmla="*/ 22837 w 63703"/>
                <a:gd name="connsiteY3" fmla="*/ 9015 h 76924"/>
                <a:gd name="connsiteX4" fmla="*/ 22837 w 63703"/>
                <a:gd name="connsiteY4" fmla="*/ 14529 h 76924"/>
                <a:gd name="connsiteX5" fmla="*/ 0 w 63703"/>
                <a:gd name="connsiteY5" fmla="*/ 45073 h 76924"/>
                <a:gd name="connsiteX6" fmla="*/ 31852 w 63703"/>
                <a:gd name="connsiteY6" fmla="*/ 76925 h 76924"/>
                <a:gd name="connsiteX7" fmla="*/ 63703 w 63703"/>
                <a:gd name="connsiteY7" fmla="*/ 45073 h 76924"/>
                <a:gd name="connsiteX8" fmla="*/ 40866 w 63703"/>
                <a:gd name="connsiteY8" fmla="*/ 14529 h 76924"/>
                <a:gd name="connsiteX9" fmla="*/ 40866 w 63703"/>
                <a:gd name="connsiteY9" fmla="*/ 14529 h 76924"/>
                <a:gd name="connsiteX10" fmla="*/ 31852 w 63703"/>
                <a:gd name="connsiteY10" fmla="*/ 58895 h 76924"/>
                <a:gd name="connsiteX11" fmla="*/ 18029 w 63703"/>
                <a:gd name="connsiteY11" fmla="*/ 45073 h 76924"/>
                <a:gd name="connsiteX12" fmla="*/ 22852 w 63703"/>
                <a:gd name="connsiteY12" fmla="*/ 34601 h 76924"/>
                <a:gd name="connsiteX13" fmla="*/ 31852 w 63703"/>
                <a:gd name="connsiteY13" fmla="*/ 43270 h 76924"/>
                <a:gd name="connsiteX14" fmla="*/ 40851 w 63703"/>
                <a:gd name="connsiteY14" fmla="*/ 34601 h 76924"/>
                <a:gd name="connsiteX15" fmla="*/ 45674 w 63703"/>
                <a:gd name="connsiteY15" fmla="*/ 45073 h 76924"/>
                <a:gd name="connsiteX16" fmla="*/ 31852 w 63703"/>
                <a:gd name="connsiteY16" fmla="*/ 58895 h 76924"/>
                <a:gd name="connsiteX17" fmla="*/ 31852 w 63703"/>
                <a:gd name="connsiteY17" fmla="*/ 58895 h 76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703" h="76924">
                  <a:moveTo>
                    <a:pt x="40866" y="14529"/>
                  </a:moveTo>
                  <a:lnTo>
                    <a:pt x="40866" y="9015"/>
                  </a:lnTo>
                  <a:cubicBezTo>
                    <a:pt x="40866" y="4027"/>
                    <a:pt x="36825" y="0"/>
                    <a:pt x="31852" y="0"/>
                  </a:cubicBezTo>
                  <a:cubicBezTo>
                    <a:pt x="26879" y="0"/>
                    <a:pt x="22837" y="4027"/>
                    <a:pt x="22837" y="9015"/>
                  </a:cubicBezTo>
                  <a:lnTo>
                    <a:pt x="22837" y="14529"/>
                  </a:lnTo>
                  <a:cubicBezTo>
                    <a:pt x="9661" y="18420"/>
                    <a:pt x="0" y="30650"/>
                    <a:pt x="0" y="45073"/>
                  </a:cubicBezTo>
                  <a:cubicBezTo>
                    <a:pt x="0" y="62637"/>
                    <a:pt x="14288" y="76925"/>
                    <a:pt x="31852" y="76925"/>
                  </a:cubicBezTo>
                  <a:cubicBezTo>
                    <a:pt x="49415" y="76925"/>
                    <a:pt x="63703" y="62637"/>
                    <a:pt x="63703" y="45073"/>
                  </a:cubicBezTo>
                  <a:cubicBezTo>
                    <a:pt x="63703" y="30635"/>
                    <a:pt x="54058" y="18420"/>
                    <a:pt x="40866" y="14529"/>
                  </a:cubicBezTo>
                  <a:lnTo>
                    <a:pt x="40866" y="14529"/>
                  </a:lnTo>
                  <a:close/>
                  <a:moveTo>
                    <a:pt x="31852" y="58895"/>
                  </a:moveTo>
                  <a:cubicBezTo>
                    <a:pt x="24234" y="58895"/>
                    <a:pt x="18029" y="52690"/>
                    <a:pt x="18029" y="45073"/>
                  </a:cubicBezTo>
                  <a:cubicBezTo>
                    <a:pt x="18029" y="40881"/>
                    <a:pt x="19907" y="37140"/>
                    <a:pt x="22852" y="34601"/>
                  </a:cubicBezTo>
                  <a:cubicBezTo>
                    <a:pt x="23032" y="39424"/>
                    <a:pt x="26984" y="43270"/>
                    <a:pt x="31852" y="43270"/>
                  </a:cubicBezTo>
                  <a:cubicBezTo>
                    <a:pt x="36704" y="43270"/>
                    <a:pt x="40671" y="39424"/>
                    <a:pt x="40851" y="34601"/>
                  </a:cubicBezTo>
                  <a:cubicBezTo>
                    <a:pt x="43796" y="37140"/>
                    <a:pt x="45674" y="40881"/>
                    <a:pt x="45674" y="45073"/>
                  </a:cubicBezTo>
                  <a:cubicBezTo>
                    <a:pt x="45674" y="52690"/>
                    <a:pt x="39469" y="58895"/>
                    <a:pt x="31852" y="58895"/>
                  </a:cubicBezTo>
                  <a:lnTo>
                    <a:pt x="31852" y="58895"/>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5" name="熊大的PPT宝库17-24"/>
            <p:cNvSpPr/>
            <p:nvPr/>
          </p:nvSpPr>
          <p:spPr>
            <a:xfrm>
              <a:off x="6872154" y="2539504"/>
              <a:ext cx="63721" cy="74956"/>
            </a:xfrm>
            <a:custGeom>
              <a:avLst/>
              <a:gdLst>
                <a:gd name="connsiteX0" fmla="*/ 61980 w 63721"/>
                <a:gd name="connsiteY0" fmla="*/ 32723 h 74956"/>
                <a:gd name="connsiteX1" fmla="*/ 30429 w 63721"/>
                <a:gd name="connsiteY1" fmla="*/ 11283 h 74956"/>
                <a:gd name="connsiteX2" fmla="*/ 28626 w 63721"/>
                <a:gd name="connsiteY2" fmla="*/ 6069 h 74956"/>
                <a:gd name="connsiteX3" fmla="*/ 17162 w 63721"/>
                <a:gd name="connsiteY3" fmla="*/ 495 h 74956"/>
                <a:gd name="connsiteX4" fmla="*/ 11573 w 63721"/>
                <a:gd name="connsiteY4" fmla="*/ 11944 h 74956"/>
                <a:gd name="connsiteX5" fmla="*/ 13376 w 63721"/>
                <a:gd name="connsiteY5" fmla="*/ 17157 h 74956"/>
                <a:gd name="connsiteX6" fmla="*/ 1747 w 63721"/>
                <a:gd name="connsiteY6" fmla="*/ 53471 h 74956"/>
                <a:gd name="connsiteX7" fmla="*/ 17899 w 63721"/>
                <a:gd name="connsiteY7" fmla="*/ 71726 h 74956"/>
                <a:gd name="connsiteX8" fmla="*/ 31826 w 63721"/>
                <a:gd name="connsiteY8" fmla="*/ 74956 h 74956"/>
                <a:gd name="connsiteX9" fmla="*/ 42238 w 63721"/>
                <a:gd name="connsiteY9" fmla="*/ 73198 h 74956"/>
                <a:gd name="connsiteX10" fmla="*/ 61980 w 63721"/>
                <a:gd name="connsiteY10" fmla="*/ 32723 h 74956"/>
                <a:gd name="connsiteX11" fmla="*/ 61980 w 63721"/>
                <a:gd name="connsiteY11" fmla="*/ 32723 h 74956"/>
                <a:gd name="connsiteX12" fmla="*/ 44281 w 63721"/>
                <a:gd name="connsiteY12" fmla="*/ 49159 h 74956"/>
                <a:gd name="connsiteX13" fmla="*/ 36363 w 63721"/>
                <a:gd name="connsiteY13" fmla="*/ 56176 h 74956"/>
                <a:gd name="connsiteX14" fmla="*/ 25801 w 63721"/>
                <a:gd name="connsiteY14" fmla="*/ 55530 h 74956"/>
                <a:gd name="connsiteX15" fmla="*/ 18785 w 63721"/>
                <a:gd name="connsiteY15" fmla="*/ 47612 h 74956"/>
                <a:gd name="connsiteX16" fmla="*/ 19942 w 63721"/>
                <a:gd name="connsiteY16" fmla="*/ 36133 h 74956"/>
                <a:gd name="connsiteX17" fmla="*/ 28325 w 63721"/>
                <a:gd name="connsiteY17" fmla="*/ 41903 h 74956"/>
                <a:gd name="connsiteX18" fmla="*/ 31270 w 63721"/>
                <a:gd name="connsiteY18" fmla="*/ 41407 h 74956"/>
                <a:gd name="connsiteX19" fmla="*/ 36949 w 63721"/>
                <a:gd name="connsiteY19" fmla="*/ 30274 h 74956"/>
                <a:gd name="connsiteX20" fmla="*/ 37911 w 63721"/>
                <a:gd name="connsiteY20" fmla="*/ 30679 h 74956"/>
                <a:gd name="connsiteX21" fmla="*/ 44927 w 63721"/>
                <a:gd name="connsiteY21" fmla="*/ 38597 h 74956"/>
                <a:gd name="connsiteX22" fmla="*/ 44281 w 63721"/>
                <a:gd name="connsiteY22" fmla="*/ 49159 h 74956"/>
                <a:gd name="connsiteX23" fmla="*/ 44281 w 63721"/>
                <a:gd name="connsiteY23" fmla="*/ 49159 h 74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3721" h="74956">
                  <a:moveTo>
                    <a:pt x="61980" y="32723"/>
                  </a:moveTo>
                  <a:cubicBezTo>
                    <a:pt x="57277" y="19081"/>
                    <a:pt x="44161" y="10682"/>
                    <a:pt x="30429" y="11283"/>
                  </a:cubicBezTo>
                  <a:lnTo>
                    <a:pt x="28626" y="6069"/>
                  </a:lnTo>
                  <a:cubicBezTo>
                    <a:pt x="27003" y="1367"/>
                    <a:pt x="21880" y="-1127"/>
                    <a:pt x="17162" y="495"/>
                  </a:cubicBezTo>
                  <a:cubicBezTo>
                    <a:pt x="12460" y="2118"/>
                    <a:pt x="9951" y="7241"/>
                    <a:pt x="11573" y="11944"/>
                  </a:cubicBezTo>
                  <a:lnTo>
                    <a:pt x="13376" y="17157"/>
                  </a:lnTo>
                  <a:cubicBezTo>
                    <a:pt x="2183" y="25135"/>
                    <a:pt x="-2970" y="39829"/>
                    <a:pt x="1747" y="53471"/>
                  </a:cubicBezTo>
                  <a:cubicBezTo>
                    <a:pt x="4512" y="61509"/>
                    <a:pt x="10251" y="68000"/>
                    <a:pt x="17899" y="71726"/>
                  </a:cubicBezTo>
                  <a:cubicBezTo>
                    <a:pt x="22316" y="73874"/>
                    <a:pt x="27048" y="74956"/>
                    <a:pt x="31826" y="74956"/>
                  </a:cubicBezTo>
                  <a:cubicBezTo>
                    <a:pt x="35312" y="74956"/>
                    <a:pt x="38827" y="74370"/>
                    <a:pt x="42238" y="73198"/>
                  </a:cubicBezTo>
                  <a:cubicBezTo>
                    <a:pt x="58855" y="67489"/>
                    <a:pt x="67704" y="49325"/>
                    <a:pt x="61980" y="32723"/>
                  </a:cubicBezTo>
                  <a:lnTo>
                    <a:pt x="61980" y="32723"/>
                  </a:lnTo>
                  <a:close/>
                  <a:moveTo>
                    <a:pt x="44281" y="49159"/>
                  </a:moveTo>
                  <a:cubicBezTo>
                    <a:pt x="42674" y="52480"/>
                    <a:pt x="39849" y="54974"/>
                    <a:pt x="36363" y="56176"/>
                  </a:cubicBezTo>
                  <a:cubicBezTo>
                    <a:pt x="32878" y="57378"/>
                    <a:pt x="29122" y="57152"/>
                    <a:pt x="25801" y="55530"/>
                  </a:cubicBezTo>
                  <a:cubicBezTo>
                    <a:pt x="22481" y="53907"/>
                    <a:pt x="19987" y="51097"/>
                    <a:pt x="18785" y="47612"/>
                  </a:cubicBezTo>
                  <a:cubicBezTo>
                    <a:pt x="17418" y="43645"/>
                    <a:pt x="17974" y="39484"/>
                    <a:pt x="19942" y="36133"/>
                  </a:cubicBezTo>
                  <a:cubicBezTo>
                    <a:pt x="21309" y="39679"/>
                    <a:pt x="24689" y="41903"/>
                    <a:pt x="28325" y="41903"/>
                  </a:cubicBezTo>
                  <a:cubicBezTo>
                    <a:pt x="29302" y="41903"/>
                    <a:pt x="30294" y="41737"/>
                    <a:pt x="31270" y="41407"/>
                  </a:cubicBezTo>
                  <a:cubicBezTo>
                    <a:pt x="35868" y="39814"/>
                    <a:pt x="38347" y="34886"/>
                    <a:pt x="36949" y="30274"/>
                  </a:cubicBezTo>
                  <a:cubicBezTo>
                    <a:pt x="37265" y="30394"/>
                    <a:pt x="37595" y="30529"/>
                    <a:pt x="37911" y="30679"/>
                  </a:cubicBezTo>
                  <a:cubicBezTo>
                    <a:pt x="41231" y="32302"/>
                    <a:pt x="43710" y="35112"/>
                    <a:pt x="44927" y="38597"/>
                  </a:cubicBezTo>
                  <a:cubicBezTo>
                    <a:pt x="46129" y="42083"/>
                    <a:pt x="45904" y="45839"/>
                    <a:pt x="44281" y="49159"/>
                  </a:cubicBezTo>
                  <a:lnTo>
                    <a:pt x="44281" y="49159"/>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6" name="熊大的PPT宝库17-25"/>
            <p:cNvSpPr/>
            <p:nvPr/>
          </p:nvSpPr>
          <p:spPr>
            <a:xfrm>
              <a:off x="6949635" y="2540481"/>
              <a:ext cx="63729" cy="73769"/>
            </a:xfrm>
            <a:custGeom>
              <a:avLst/>
              <a:gdLst>
                <a:gd name="connsiteX0" fmla="*/ 60913 w 63729"/>
                <a:gd name="connsiteY0" fmla="*/ 28846 h 73769"/>
                <a:gd name="connsiteX1" fmla="*/ 43169 w 63729"/>
                <a:gd name="connsiteY1" fmla="*/ 12124 h 73769"/>
                <a:gd name="connsiteX2" fmla="*/ 27559 w 63729"/>
                <a:gd name="connsiteY2" fmla="*/ 10336 h 73769"/>
                <a:gd name="connsiteX3" fmla="*/ 25305 w 63729"/>
                <a:gd name="connsiteY3" fmla="*/ 5318 h 73769"/>
                <a:gd name="connsiteX4" fmla="*/ 13391 w 63729"/>
                <a:gd name="connsiteY4" fmla="*/ 796 h 73769"/>
                <a:gd name="connsiteX5" fmla="*/ 8869 w 63729"/>
                <a:gd name="connsiteY5" fmla="*/ 12710 h 73769"/>
                <a:gd name="connsiteX6" fmla="*/ 11122 w 63729"/>
                <a:gd name="connsiteY6" fmla="*/ 17728 h 73769"/>
                <a:gd name="connsiteX7" fmla="*/ 2093 w 63729"/>
                <a:gd name="connsiteY7" fmla="*/ 30589 h 73769"/>
                <a:gd name="connsiteX8" fmla="*/ 2814 w 63729"/>
                <a:gd name="connsiteY8" fmla="*/ 54959 h 73769"/>
                <a:gd name="connsiteX9" fmla="*/ 20558 w 63729"/>
                <a:gd name="connsiteY9" fmla="*/ 71681 h 73769"/>
                <a:gd name="connsiteX10" fmla="*/ 31886 w 63729"/>
                <a:gd name="connsiteY10" fmla="*/ 73769 h 73769"/>
                <a:gd name="connsiteX11" fmla="*/ 44927 w 63729"/>
                <a:gd name="connsiteY11" fmla="*/ 70959 h 73769"/>
                <a:gd name="connsiteX12" fmla="*/ 61649 w 63729"/>
                <a:gd name="connsiteY12" fmla="*/ 53216 h 73769"/>
                <a:gd name="connsiteX13" fmla="*/ 60913 w 63729"/>
                <a:gd name="connsiteY13" fmla="*/ 28846 h 73769"/>
                <a:gd name="connsiteX14" fmla="*/ 60913 w 63729"/>
                <a:gd name="connsiteY14" fmla="*/ 28846 h 73769"/>
                <a:gd name="connsiteX15" fmla="*/ 44792 w 63729"/>
                <a:gd name="connsiteY15" fmla="*/ 46815 h 73769"/>
                <a:gd name="connsiteX16" fmla="*/ 37535 w 63729"/>
                <a:gd name="connsiteY16" fmla="*/ 54508 h 73769"/>
                <a:gd name="connsiteX17" fmla="*/ 26958 w 63729"/>
                <a:gd name="connsiteY17" fmla="*/ 54823 h 73769"/>
                <a:gd name="connsiteX18" fmla="*/ 19251 w 63729"/>
                <a:gd name="connsiteY18" fmla="*/ 47567 h 73769"/>
                <a:gd name="connsiteX19" fmla="*/ 18935 w 63729"/>
                <a:gd name="connsiteY19" fmla="*/ 36989 h 73769"/>
                <a:gd name="connsiteX20" fmla="*/ 19356 w 63729"/>
                <a:gd name="connsiteY20" fmla="*/ 36028 h 73769"/>
                <a:gd name="connsiteX21" fmla="*/ 27424 w 63729"/>
                <a:gd name="connsiteY21" fmla="*/ 41061 h 73769"/>
                <a:gd name="connsiteX22" fmla="*/ 31120 w 63729"/>
                <a:gd name="connsiteY22" fmla="*/ 40265 h 73769"/>
                <a:gd name="connsiteX23" fmla="*/ 35762 w 63729"/>
                <a:gd name="connsiteY23" fmla="*/ 28666 h 73769"/>
                <a:gd name="connsiteX24" fmla="*/ 36754 w 63729"/>
                <a:gd name="connsiteY24" fmla="*/ 28996 h 73769"/>
                <a:gd name="connsiteX25" fmla="*/ 44446 w 63729"/>
                <a:gd name="connsiteY25" fmla="*/ 36253 h 73769"/>
                <a:gd name="connsiteX26" fmla="*/ 44792 w 63729"/>
                <a:gd name="connsiteY26" fmla="*/ 46815 h 73769"/>
                <a:gd name="connsiteX27" fmla="*/ 44792 w 63729"/>
                <a:gd name="connsiteY27" fmla="*/ 46815 h 7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3729" h="73769">
                  <a:moveTo>
                    <a:pt x="60913" y="28846"/>
                  </a:moveTo>
                  <a:cubicBezTo>
                    <a:pt x="57427" y="21094"/>
                    <a:pt x="51117" y="15144"/>
                    <a:pt x="43169" y="12124"/>
                  </a:cubicBezTo>
                  <a:cubicBezTo>
                    <a:pt x="38106" y="10201"/>
                    <a:pt x="32772" y="9615"/>
                    <a:pt x="27559" y="10336"/>
                  </a:cubicBezTo>
                  <a:lnTo>
                    <a:pt x="25305" y="5318"/>
                  </a:lnTo>
                  <a:cubicBezTo>
                    <a:pt x="23262" y="781"/>
                    <a:pt x="17928" y="-1248"/>
                    <a:pt x="13391" y="796"/>
                  </a:cubicBezTo>
                  <a:cubicBezTo>
                    <a:pt x="8854" y="2839"/>
                    <a:pt x="6825" y="8173"/>
                    <a:pt x="8869" y="12710"/>
                  </a:cubicBezTo>
                  <a:lnTo>
                    <a:pt x="11122" y="17728"/>
                  </a:lnTo>
                  <a:cubicBezTo>
                    <a:pt x="7126" y="21154"/>
                    <a:pt x="4016" y="25541"/>
                    <a:pt x="2093" y="30589"/>
                  </a:cubicBezTo>
                  <a:cubicBezTo>
                    <a:pt x="-927" y="38537"/>
                    <a:pt x="-672" y="47191"/>
                    <a:pt x="2814" y="54959"/>
                  </a:cubicBezTo>
                  <a:cubicBezTo>
                    <a:pt x="6300" y="62726"/>
                    <a:pt x="12610" y="68661"/>
                    <a:pt x="20558" y="71681"/>
                  </a:cubicBezTo>
                  <a:cubicBezTo>
                    <a:pt x="24239" y="73078"/>
                    <a:pt x="28070" y="73769"/>
                    <a:pt x="31886" y="73769"/>
                  </a:cubicBezTo>
                  <a:cubicBezTo>
                    <a:pt x="36333" y="73769"/>
                    <a:pt x="40765" y="72822"/>
                    <a:pt x="44927" y="70959"/>
                  </a:cubicBezTo>
                  <a:cubicBezTo>
                    <a:pt x="52680" y="67474"/>
                    <a:pt x="58629" y="61164"/>
                    <a:pt x="61649" y="53216"/>
                  </a:cubicBezTo>
                  <a:cubicBezTo>
                    <a:pt x="64654" y="45253"/>
                    <a:pt x="64399" y="36614"/>
                    <a:pt x="60913" y="28846"/>
                  </a:cubicBezTo>
                  <a:lnTo>
                    <a:pt x="60913" y="28846"/>
                  </a:lnTo>
                  <a:close/>
                  <a:moveTo>
                    <a:pt x="44792" y="46815"/>
                  </a:moveTo>
                  <a:cubicBezTo>
                    <a:pt x="43485" y="50271"/>
                    <a:pt x="40901" y="53005"/>
                    <a:pt x="37535" y="54508"/>
                  </a:cubicBezTo>
                  <a:cubicBezTo>
                    <a:pt x="34170" y="56025"/>
                    <a:pt x="30414" y="56130"/>
                    <a:pt x="26958" y="54823"/>
                  </a:cubicBezTo>
                  <a:cubicBezTo>
                    <a:pt x="23502" y="53516"/>
                    <a:pt x="20768" y="50932"/>
                    <a:pt x="19251" y="47567"/>
                  </a:cubicBezTo>
                  <a:cubicBezTo>
                    <a:pt x="17733" y="44201"/>
                    <a:pt x="17628" y="40445"/>
                    <a:pt x="18935" y="36989"/>
                  </a:cubicBezTo>
                  <a:cubicBezTo>
                    <a:pt x="19070" y="36659"/>
                    <a:pt x="19205" y="36343"/>
                    <a:pt x="19356" y="36028"/>
                  </a:cubicBezTo>
                  <a:cubicBezTo>
                    <a:pt x="20918" y="39183"/>
                    <a:pt x="24088" y="41061"/>
                    <a:pt x="27424" y="41061"/>
                  </a:cubicBezTo>
                  <a:cubicBezTo>
                    <a:pt x="28656" y="41061"/>
                    <a:pt x="29918" y="40806"/>
                    <a:pt x="31120" y="40265"/>
                  </a:cubicBezTo>
                  <a:cubicBezTo>
                    <a:pt x="35552" y="38266"/>
                    <a:pt x="37580" y="33128"/>
                    <a:pt x="35762" y="28666"/>
                  </a:cubicBezTo>
                  <a:cubicBezTo>
                    <a:pt x="36093" y="28771"/>
                    <a:pt x="36438" y="28861"/>
                    <a:pt x="36754" y="28996"/>
                  </a:cubicBezTo>
                  <a:cubicBezTo>
                    <a:pt x="40209" y="30304"/>
                    <a:pt x="42944" y="32888"/>
                    <a:pt x="44446" y="36253"/>
                  </a:cubicBezTo>
                  <a:cubicBezTo>
                    <a:pt x="45979" y="39604"/>
                    <a:pt x="46099" y="43360"/>
                    <a:pt x="44792" y="46815"/>
                  </a:cubicBezTo>
                  <a:lnTo>
                    <a:pt x="44792" y="46815"/>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7" name="熊大的PPT宝库17-26"/>
            <p:cNvSpPr/>
            <p:nvPr/>
          </p:nvSpPr>
          <p:spPr>
            <a:xfrm>
              <a:off x="6884460" y="2292646"/>
              <a:ext cx="99710" cy="87794"/>
            </a:xfrm>
            <a:custGeom>
              <a:avLst/>
              <a:gdLst>
                <a:gd name="connsiteX0" fmla="*/ 85117 w 99710"/>
                <a:gd name="connsiteY0" fmla="*/ 2637 h 87794"/>
                <a:gd name="connsiteX1" fmla="*/ 72376 w 99710"/>
                <a:gd name="connsiteY1" fmla="*/ 2637 h 87794"/>
                <a:gd name="connsiteX2" fmla="*/ 72376 w 99710"/>
                <a:gd name="connsiteY2" fmla="*/ 15392 h 87794"/>
                <a:gd name="connsiteX3" fmla="*/ 72376 w 99710"/>
                <a:gd name="connsiteY3" fmla="*/ 60435 h 87794"/>
                <a:gd name="connsiteX4" fmla="*/ 49855 w 99710"/>
                <a:gd name="connsiteY4" fmla="*/ 69766 h 87794"/>
                <a:gd name="connsiteX5" fmla="*/ 27333 w 99710"/>
                <a:gd name="connsiteY5" fmla="*/ 60435 h 87794"/>
                <a:gd name="connsiteX6" fmla="*/ 27333 w 99710"/>
                <a:gd name="connsiteY6" fmla="*/ 15392 h 87794"/>
                <a:gd name="connsiteX7" fmla="*/ 27333 w 99710"/>
                <a:gd name="connsiteY7" fmla="*/ 2637 h 87794"/>
                <a:gd name="connsiteX8" fmla="*/ 14592 w 99710"/>
                <a:gd name="connsiteY8" fmla="*/ 2637 h 87794"/>
                <a:gd name="connsiteX9" fmla="*/ 14592 w 99710"/>
                <a:gd name="connsiteY9" fmla="*/ 73176 h 87794"/>
                <a:gd name="connsiteX10" fmla="*/ 49870 w 99710"/>
                <a:gd name="connsiteY10" fmla="*/ 87795 h 87794"/>
                <a:gd name="connsiteX11" fmla="*/ 85132 w 99710"/>
                <a:gd name="connsiteY11" fmla="*/ 73191 h 87794"/>
                <a:gd name="connsiteX12" fmla="*/ 85117 w 99710"/>
                <a:gd name="connsiteY12" fmla="*/ 2637 h 87794"/>
                <a:gd name="connsiteX13" fmla="*/ 85117 w 99710"/>
                <a:gd name="connsiteY13" fmla="*/ 2637 h 87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9710" h="87794">
                  <a:moveTo>
                    <a:pt x="85117" y="2637"/>
                  </a:moveTo>
                  <a:cubicBezTo>
                    <a:pt x="81601" y="-879"/>
                    <a:pt x="75892" y="-879"/>
                    <a:pt x="72376" y="2637"/>
                  </a:cubicBezTo>
                  <a:cubicBezTo>
                    <a:pt x="68860" y="6152"/>
                    <a:pt x="68860" y="11862"/>
                    <a:pt x="72376" y="15392"/>
                  </a:cubicBezTo>
                  <a:cubicBezTo>
                    <a:pt x="84801" y="27818"/>
                    <a:pt x="84801" y="48010"/>
                    <a:pt x="72376" y="60435"/>
                  </a:cubicBezTo>
                  <a:cubicBezTo>
                    <a:pt x="66366" y="66445"/>
                    <a:pt x="58358" y="69766"/>
                    <a:pt x="49855" y="69766"/>
                  </a:cubicBezTo>
                  <a:cubicBezTo>
                    <a:pt x="41351" y="69766"/>
                    <a:pt x="33343" y="66445"/>
                    <a:pt x="27333" y="60435"/>
                  </a:cubicBezTo>
                  <a:cubicBezTo>
                    <a:pt x="14908" y="48010"/>
                    <a:pt x="14908" y="27818"/>
                    <a:pt x="27333" y="15392"/>
                  </a:cubicBezTo>
                  <a:cubicBezTo>
                    <a:pt x="30849" y="11877"/>
                    <a:pt x="30849" y="6168"/>
                    <a:pt x="27333" y="2637"/>
                  </a:cubicBezTo>
                  <a:cubicBezTo>
                    <a:pt x="23817" y="-879"/>
                    <a:pt x="18108" y="-879"/>
                    <a:pt x="14592" y="2637"/>
                  </a:cubicBezTo>
                  <a:cubicBezTo>
                    <a:pt x="-4864" y="22093"/>
                    <a:pt x="-4864" y="53735"/>
                    <a:pt x="14592" y="73176"/>
                  </a:cubicBezTo>
                  <a:cubicBezTo>
                    <a:pt x="24013" y="82596"/>
                    <a:pt x="36528" y="87795"/>
                    <a:pt x="49870" y="87795"/>
                  </a:cubicBezTo>
                  <a:cubicBezTo>
                    <a:pt x="63196" y="87795"/>
                    <a:pt x="75711" y="82611"/>
                    <a:pt x="85132" y="73191"/>
                  </a:cubicBezTo>
                  <a:cubicBezTo>
                    <a:pt x="104573" y="53735"/>
                    <a:pt x="104573" y="22093"/>
                    <a:pt x="85117" y="2637"/>
                  </a:cubicBezTo>
                  <a:lnTo>
                    <a:pt x="85117" y="2637"/>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8" name="熊大的PPT宝库17-27"/>
            <p:cNvSpPr/>
            <p:nvPr/>
          </p:nvSpPr>
          <p:spPr>
            <a:xfrm>
              <a:off x="6925300" y="2277073"/>
              <a:ext cx="18029" cy="46875"/>
            </a:xfrm>
            <a:custGeom>
              <a:avLst/>
              <a:gdLst>
                <a:gd name="connsiteX0" fmla="*/ 9015 w 18029"/>
                <a:gd name="connsiteY0" fmla="*/ 0 h 46875"/>
                <a:gd name="connsiteX1" fmla="*/ 0 w 18029"/>
                <a:gd name="connsiteY1" fmla="*/ 9015 h 46875"/>
                <a:gd name="connsiteX2" fmla="*/ 0 w 18029"/>
                <a:gd name="connsiteY2" fmla="*/ 37861 h 46875"/>
                <a:gd name="connsiteX3" fmla="*/ 9015 w 18029"/>
                <a:gd name="connsiteY3" fmla="*/ 46876 h 46875"/>
                <a:gd name="connsiteX4" fmla="*/ 18029 w 18029"/>
                <a:gd name="connsiteY4" fmla="*/ 37861 h 46875"/>
                <a:gd name="connsiteX5" fmla="*/ 18029 w 18029"/>
                <a:gd name="connsiteY5" fmla="*/ 9015 h 46875"/>
                <a:gd name="connsiteX6" fmla="*/ 9015 w 18029"/>
                <a:gd name="connsiteY6" fmla="*/ 0 h 46875"/>
                <a:gd name="connsiteX7" fmla="*/ 9015 w 18029"/>
                <a:gd name="connsiteY7" fmla="*/ 0 h 46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029" h="46875">
                  <a:moveTo>
                    <a:pt x="9015" y="0"/>
                  </a:moveTo>
                  <a:cubicBezTo>
                    <a:pt x="4027" y="0"/>
                    <a:pt x="0" y="4042"/>
                    <a:pt x="0" y="9015"/>
                  </a:cubicBezTo>
                  <a:lnTo>
                    <a:pt x="0" y="37861"/>
                  </a:lnTo>
                  <a:cubicBezTo>
                    <a:pt x="0" y="42849"/>
                    <a:pt x="4027" y="46876"/>
                    <a:pt x="9015" y="46876"/>
                  </a:cubicBezTo>
                  <a:cubicBezTo>
                    <a:pt x="13988" y="46876"/>
                    <a:pt x="18029" y="42849"/>
                    <a:pt x="18029" y="37861"/>
                  </a:cubicBezTo>
                  <a:lnTo>
                    <a:pt x="18029" y="9015"/>
                  </a:lnTo>
                  <a:cubicBezTo>
                    <a:pt x="18029" y="4042"/>
                    <a:pt x="13988" y="0"/>
                    <a:pt x="9015" y="0"/>
                  </a:cubicBezTo>
                  <a:lnTo>
                    <a:pt x="9015" y="0"/>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9" name="熊大的PPT宝库17-28"/>
            <p:cNvSpPr/>
            <p:nvPr/>
          </p:nvSpPr>
          <p:spPr>
            <a:xfrm>
              <a:off x="6765441" y="2279477"/>
              <a:ext cx="51683" cy="51683"/>
            </a:xfrm>
            <a:custGeom>
              <a:avLst/>
              <a:gdLst>
                <a:gd name="connsiteX0" fmla="*/ 25842 w 51683"/>
                <a:gd name="connsiteY0" fmla="*/ 0 h 51683"/>
                <a:gd name="connsiteX1" fmla="*/ 0 w 51683"/>
                <a:gd name="connsiteY1" fmla="*/ 25842 h 51683"/>
                <a:gd name="connsiteX2" fmla="*/ 25842 w 51683"/>
                <a:gd name="connsiteY2" fmla="*/ 51684 h 51683"/>
                <a:gd name="connsiteX3" fmla="*/ 51684 w 51683"/>
                <a:gd name="connsiteY3" fmla="*/ 25842 h 51683"/>
                <a:gd name="connsiteX4" fmla="*/ 25842 w 51683"/>
                <a:gd name="connsiteY4" fmla="*/ 0 h 51683"/>
                <a:gd name="connsiteX5" fmla="*/ 25842 w 51683"/>
                <a:gd name="connsiteY5" fmla="*/ 0 h 51683"/>
                <a:gd name="connsiteX6" fmla="*/ 25842 w 51683"/>
                <a:gd name="connsiteY6" fmla="*/ 33655 h 51683"/>
                <a:gd name="connsiteX7" fmla="*/ 18029 w 51683"/>
                <a:gd name="connsiteY7" fmla="*/ 25842 h 51683"/>
                <a:gd name="connsiteX8" fmla="*/ 25842 w 51683"/>
                <a:gd name="connsiteY8" fmla="*/ 18029 h 51683"/>
                <a:gd name="connsiteX9" fmla="*/ 33655 w 51683"/>
                <a:gd name="connsiteY9" fmla="*/ 25842 h 51683"/>
                <a:gd name="connsiteX10" fmla="*/ 25842 w 51683"/>
                <a:gd name="connsiteY10" fmla="*/ 33655 h 51683"/>
                <a:gd name="connsiteX11" fmla="*/ 25842 w 51683"/>
                <a:gd name="connsiteY11" fmla="*/ 33655 h 51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683" h="51683">
                  <a:moveTo>
                    <a:pt x="25842" y="0"/>
                  </a:moveTo>
                  <a:cubicBezTo>
                    <a:pt x="11599" y="0"/>
                    <a:pt x="0" y="11584"/>
                    <a:pt x="0" y="25842"/>
                  </a:cubicBezTo>
                  <a:cubicBezTo>
                    <a:pt x="0" y="40100"/>
                    <a:pt x="11584" y="51684"/>
                    <a:pt x="25842" y="51684"/>
                  </a:cubicBezTo>
                  <a:cubicBezTo>
                    <a:pt x="40100" y="51684"/>
                    <a:pt x="51684" y="40085"/>
                    <a:pt x="51684" y="25842"/>
                  </a:cubicBezTo>
                  <a:cubicBezTo>
                    <a:pt x="51684" y="11599"/>
                    <a:pt x="40085" y="0"/>
                    <a:pt x="25842" y="0"/>
                  </a:cubicBezTo>
                  <a:lnTo>
                    <a:pt x="25842" y="0"/>
                  </a:lnTo>
                  <a:close/>
                  <a:moveTo>
                    <a:pt x="25842" y="33655"/>
                  </a:moveTo>
                  <a:cubicBezTo>
                    <a:pt x="21530" y="33655"/>
                    <a:pt x="18029" y="30154"/>
                    <a:pt x="18029" y="25842"/>
                  </a:cubicBezTo>
                  <a:cubicBezTo>
                    <a:pt x="18029" y="21530"/>
                    <a:pt x="21530" y="18029"/>
                    <a:pt x="25842" y="18029"/>
                  </a:cubicBezTo>
                  <a:cubicBezTo>
                    <a:pt x="30154" y="18029"/>
                    <a:pt x="33655" y="21530"/>
                    <a:pt x="33655" y="25842"/>
                  </a:cubicBezTo>
                  <a:cubicBezTo>
                    <a:pt x="33655" y="30154"/>
                    <a:pt x="30154" y="33655"/>
                    <a:pt x="25842" y="33655"/>
                  </a:cubicBezTo>
                  <a:lnTo>
                    <a:pt x="25842" y="33655"/>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0" name="熊大的PPT宝库17-29"/>
            <p:cNvSpPr/>
            <p:nvPr/>
          </p:nvSpPr>
          <p:spPr>
            <a:xfrm>
              <a:off x="6824336" y="2279477"/>
              <a:ext cx="51683" cy="51683"/>
            </a:xfrm>
            <a:custGeom>
              <a:avLst/>
              <a:gdLst>
                <a:gd name="connsiteX0" fmla="*/ 25842 w 51683"/>
                <a:gd name="connsiteY0" fmla="*/ 0 h 51683"/>
                <a:gd name="connsiteX1" fmla="*/ 0 w 51683"/>
                <a:gd name="connsiteY1" fmla="*/ 25842 h 51683"/>
                <a:gd name="connsiteX2" fmla="*/ 25842 w 51683"/>
                <a:gd name="connsiteY2" fmla="*/ 51684 h 51683"/>
                <a:gd name="connsiteX3" fmla="*/ 51684 w 51683"/>
                <a:gd name="connsiteY3" fmla="*/ 25842 h 51683"/>
                <a:gd name="connsiteX4" fmla="*/ 25842 w 51683"/>
                <a:gd name="connsiteY4" fmla="*/ 0 h 51683"/>
                <a:gd name="connsiteX5" fmla="*/ 25842 w 51683"/>
                <a:gd name="connsiteY5" fmla="*/ 0 h 51683"/>
                <a:gd name="connsiteX6" fmla="*/ 25842 w 51683"/>
                <a:gd name="connsiteY6" fmla="*/ 33655 h 51683"/>
                <a:gd name="connsiteX7" fmla="*/ 18029 w 51683"/>
                <a:gd name="connsiteY7" fmla="*/ 25842 h 51683"/>
                <a:gd name="connsiteX8" fmla="*/ 25842 w 51683"/>
                <a:gd name="connsiteY8" fmla="*/ 18029 h 51683"/>
                <a:gd name="connsiteX9" fmla="*/ 33655 w 51683"/>
                <a:gd name="connsiteY9" fmla="*/ 25842 h 51683"/>
                <a:gd name="connsiteX10" fmla="*/ 25842 w 51683"/>
                <a:gd name="connsiteY10" fmla="*/ 33655 h 51683"/>
                <a:gd name="connsiteX11" fmla="*/ 25842 w 51683"/>
                <a:gd name="connsiteY11" fmla="*/ 33655 h 51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683" h="51683">
                  <a:moveTo>
                    <a:pt x="25842" y="0"/>
                  </a:moveTo>
                  <a:cubicBezTo>
                    <a:pt x="11599" y="0"/>
                    <a:pt x="0" y="11584"/>
                    <a:pt x="0" y="25842"/>
                  </a:cubicBezTo>
                  <a:cubicBezTo>
                    <a:pt x="0" y="40100"/>
                    <a:pt x="11599" y="51684"/>
                    <a:pt x="25842" y="51684"/>
                  </a:cubicBezTo>
                  <a:cubicBezTo>
                    <a:pt x="40085" y="51684"/>
                    <a:pt x="51684" y="40085"/>
                    <a:pt x="51684" y="25842"/>
                  </a:cubicBezTo>
                  <a:cubicBezTo>
                    <a:pt x="51684" y="11599"/>
                    <a:pt x="40100" y="0"/>
                    <a:pt x="25842" y="0"/>
                  </a:cubicBezTo>
                  <a:lnTo>
                    <a:pt x="25842" y="0"/>
                  </a:lnTo>
                  <a:close/>
                  <a:moveTo>
                    <a:pt x="25842" y="33655"/>
                  </a:moveTo>
                  <a:cubicBezTo>
                    <a:pt x="21530" y="33655"/>
                    <a:pt x="18029" y="30154"/>
                    <a:pt x="18029" y="25842"/>
                  </a:cubicBezTo>
                  <a:cubicBezTo>
                    <a:pt x="18029" y="21530"/>
                    <a:pt x="21545" y="18029"/>
                    <a:pt x="25842" y="18029"/>
                  </a:cubicBezTo>
                  <a:cubicBezTo>
                    <a:pt x="30154" y="18029"/>
                    <a:pt x="33655" y="21530"/>
                    <a:pt x="33655" y="25842"/>
                  </a:cubicBezTo>
                  <a:cubicBezTo>
                    <a:pt x="33655" y="30154"/>
                    <a:pt x="30154" y="33655"/>
                    <a:pt x="25842" y="33655"/>
                  </a:cubicBezTo>
                  <a:lnTo>
                    <a:pt x="25842" y="33655"/>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1" name="熊大的PPT宝库17-30"/>
            <p:cNvSpPr/>
            <p:nvPr/>
          </p:nvSpPr>
          <p:spPr>
            <a:xfrm>
              <a:off x="6458944" y="2287891"/>
              <a:ext cx="92549" cy="87742"/>
            </a:xfrm>
            <a:custGeom>
              <a:avLst/>
              <a:gdLst>
                <a:gd name="connsiteX0" fmla="*/ 73199 w 92549"/>
                <a:gd name="connsiteY0" fmla="*/ 0 h 87742"/>
                <a:gd name="connsiteX1" fmla="*/ 19351 w 92549"/>
                <a:gd name="connsiteY1" fmla="*/ 0 h 87742"/>
                <a:gd name="connsiteX2" fmla="*/ 0 w 92549"/>
                <a:gd name="connsiteY2" fmla="*/ 19351 h 87742"/>
                <a:gd name="connsiteX3" fmla="*/ 0 w 92549"/>
                <a:gd name="connsiteY3" fmla="*/ 68391 h 87742"/>
                <a:gd name="connsiteX4" fmla="*/ 19351 w 92549"/>
                <a:gd name="connsiteY4" fmla="*/ 87742 h 87742"/>
                <a:gd name="connsiteX5" fmla="*/ 73199 w 92549"/>
                <a:gd name="connsiteY5" fmla="*/ 87742 h 87742"/>
                <a:gd name="connsiteX6" fmla="*/ 92550 w 92549"/>
                <a:gd name="connsiteY6" fmla="*/ 68391 h 87742"/>
                <a:gd name="connsiteX7" fmla="*/ 92550 w 92549"/>
                <a:gd name="connsiteY7" fmla="*/ 19351 h 87742"/>
                <a:gd name="connsiteX8" fmla="*/ 73199 w 92549"/>
                <a:gd name="connsiteY8" fmla="*/ 0 h 87742"/>
                <a:gd name="connsiteX9" fmla="*/ 73199 w 92549"/>
                <a:gd name="connsiteY9" fmla="*/ 0 h 87742"/>
                <a:gd name="connsiteX10" fmla="*/ 74521 w 92549"/>
                <a:gd name="connsiteY10" fmla="*/ 68391 h 87742"/>
                <a:gd name="connsiteX11" fmla="*/ 73199 w 92549"/>
                <a:gd name="connsiteY11" fmla="*/ 69713 h 87742"/>
                <a:gd name="connsiteX12" fmla="*/ 19351 w 92549"/>
                <a:gd name="connsiteY12" fmla="*/ 69713 h 87742"/>
                <a:gd name="connsiteX13" fmla="*/ 18029 w 92549"/>
                <a:gd name="connsiteY13" fmla="*/ 68391 h 87742"/>
                <a:gd name="connsiteX14" fmla="*/ 18029 w 92549"/>
                <a:gd name="connsiteY14" fmla="*/ 19351 h 87742"/>
                <a:gd name="connsiteX15" fmla="*/ 19351 w 92549"/>
                <a:gd name="connsiteY15" fmla="*/ 18029 h 87742"/>
                <a:gd name="connsiteX16" fmla="*/ 73199 w 92549"/>
                <a:gd name="connsiteY16" fmla="*/ 18029 h 87742"/>
                <a:gd name="connsiteX17" fmla="*/ 74521 w 92549"/>
                <a:gd name="connsiteY17" fmla="*/ 19351 h 87742"/>
                <a:gd name="connsiteX18" fmla="*/ 74521 w 92549"/>
                <a:gd name="connsiteY18" fmla="*/ 68391 h 8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2549" h="87742">
                  <a:moveTo>
                    <a:pt x="73199" y="0"/>
                  </a:moveTo>
                  <a:lnTo>
                    <a:pt x="19351" y="0"/>
                  </a:lnTo>
                  <a:cubicBezTo>
                    <a:pt x="8684" y="0"/>
                    <a:pt x="0" y="8684"/>
                    <a:pt x="0" y="19351"/>
                  </a:cubicBezTo>
                  <a:lnTo>
                    <a:pt x="0" y="68391"/>
                  </a:lnTo>
                  <a:cubicBezTo>
                    <a:pt x="0" y="79058"/>
                    <a:pt x="8684" y="87742"/>
                    <a:pt x="19351" y="87742"/>
                  </a:cubicBezTo>
                  <a:lnTo>
                    <a:pt x="73199" y="87742"/>
                  </a:lnTo>
                  <a:cubicBezTo>
                    <a:pt x="83866" y="87742"/>
                    <a:pt x="92550" y="79058"/>
                    <a:pt x="92550" y="68391"/>
                  </a:cubicBezTo>
                  <a:lnTo>
                    <a:pt x="92550" y="19351"/>
                  </a:lnTo>
                  <a:cubicBezTo>
                    <a:pt x="92550" y="8684"/>
                    <a:pt x="83866" y="0"/>
                    <a:pt x="73199" y="0"/>
                  </a:cubicBezTo>
                  <a:lnTo>
                    <a:pt x="73199" y="0"/>
                  </a:lnTo>
                  <a:close/>
                  <a:moveTo>
                    <a:pt x="74521" y="68391"/>
                  </a:moveTo>
                  <a:cubicBezTo>
                    <a:pt x="74521" y="69112"/>
                    <a:pt x="73920" y="69713"/>
                    <a:pt x="73199" y="69713"/>
                  </a:cubicBezTo>
                  <a:lnTo>
                    <a:pt x="19351" y="69713"/>
                  </a:lnTo>
                  <a:cubicBezTo>
                    <a:pt x="18630" y="69713"/>
                    <a:pt x="18029" y="69112"/>
                    <a:pt x="18029" y="68391"/>
                  </a:cubicBezTo>
                  <a:lnTo>
                    <a:pt x="18029" y="19351"/>
                  </a:lnTo>
                  <a:cubicBezTo>
                    <a:pt x="18029" y="18630"/>
                    <a:pt x="18630" y="18029"/>
                    <a:pt x="19351" y="18029"/>
                  </a:cubicBezTo>
                  <a:lnTo>
                    <a:pt x="73199" y="18029"/>
                  </a:lnTo>
                  <a:cubicBezTo>
                    <a:pt x="73920" y="18029"/>
                    <a:pt x="74521" y="18630"/>
                    <a:pt x="74521" y="19351"/>
                  </a:cubicBezTo>
                  <a:lnTo>
                    <a:pt x="74521" y="68391"/>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2" name="熊大的PPT宝库17-31"/>
            <p:cNvSpPr/>
            <p:nvPr/>
          </p:nvSpPr>
          <p:spPr>
            <a:xfrm>
              <a:off x="6566503" y="2322747"/>
              <a:ext cx="45689" cy="48678"/>
            </a:xfrm>
            <a:custGeom>
              <a:avLst/>
              <a:gdLst>
                <a:gd name="connsiteX0" fmla="*/ 27044 w 45689"/>
                <a:gd name="connsiteY0" fmla="*/ 0 h 48678"/>
                <a:gd name="connsiteX1" fmla="*/ 18645 w 45689"/>
                <a:gd name="connsiteY1" fmla="*/ 0 h 48678"/>
                <a:gd name="connsiteX2" fmla="*/ 0 w 45689"/>
                <a:gd name="connsiteY2" fmla="*/ 18645 h 48678"/>
                <a:gd name="connsiteX3" fmla="*/ 0 w 45689"/>
                <a:gd name="connsiteY3" fmla="*/ 30034 h 48678"/>
                <a:gd name="connsiteX4" fmla="*/ 18645 w 45689"/>
                <a:gd name="connsiteY4" fmla="*/ 48679 h 48678"/>
                <a:gd name="connsiteX5" fmla="*/ 27044 w 45689"/>
                <a:gd name="connsiteY5" fmla="*/ 48679 h 48678"/>
                <a:gd name="connsiteX6" fmla="*/ 45689 w 45689"/>
                <a:gd name="connsiteY6" fmla="*/ 30034 h 48678"/>
                <a:gd name="connsiteX7" fmla="*/ 45689 w 45689"/>
                <a:gd name="connsiteY7" fmla="*/ 18645 h 48678"/>
                <a:gd name="connsiteX8" fmla="*/ 27044 w 45689"/>
                <a:gd name="connsiteY8" fmla="*/ 0 h 48678"/>
                <a:gd name="connsiteX9" fmla="*/ 27044 w 45689"/>
                <a:gd name="connsiteY9" fmla="*/ 0 h 48678"/>
                <a:gd name="connsiteX10" fmla="*/ 27660 w 45689"/>
                <a:gd name="connsiteY10" fmla="*/ 30034 h 48678"/>
                <a:gd name="connsiteX11" fmla="*/ 27044 w 45689"/>
                <a:gd name="connsiteY11" fmla="*/ 30650 h 48678"/>
                <a:gd name="connsiteX12" fmla="*/ 18645 w 45689"/>
                <a:gd name="connsiteY12" fmla="*/ 30650 h 48678"/>
                <a:gd name="connsiteX13" fmla="*/ 18029 w 45689"/>
                <a:gd name="connsiteY13" fmla="*/ 30034 h 48678"/>
                <a:gd name="connsiteX14" fmla="*/ 18029 w 45689"/>
                <a:gd name="connsiteY14" fmla="*/ 18630 h 48678"/>
                <a:gd name="connsiteX15" fmla="*/ 18645 w 45689"/>
                <a:gd name="connsiteY15" fmla="*/ 18014 h 48678"/>
                <a:gd name="connsiteX16" fmla="*/ 27044 w 45689"/>
                <a:gd name="connsiteY16" fmla="*/ 18014 h 48678"/>
                <a:gd name="connsiteX17" fmla="*/ 27660 w 45689"/>
                <a:gd name="connsiteY17" fmla="*/ 18630 h 48678"/>
                <a:gd name="connsiteX18" fmla="*/ 27660 w 45689"/>
                <a:gd name="connsiteY18" fmla="*/ 30034 h 4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689" h="48678">
                  <a:moveTo>
                    <a:pt x="27044" y="0"/>
                  </a:moveTo>
                  <a:lnTo>
                    <a:pt x="18645" y="0"/>
                  </a:lnTo>
                  <a:cubicBezTo>
                    <a:pt x="8369" y="0"/>
                    <a:pt x="0" y="8369"/>
                    <a:pt x="0" y="18645"/>
                  </a:cubicBezTo>
                  <a:lnTo>
                    <a:pt x="0" y="30034"/>
                  </a:lnTo>
                  <a:cubicBezTo>
                    <a:pt x="0" y="40310"/>
                    <a:pt x="8369" y="48679"/>
                    <a:pt x="18645" y="48679"/>
                  </a:cubicBezTo>
                  <a:lnTo>
                    <a:pt x="27044" y="48679"/>
                  </a:lnTo>
                  <a:cubicBezTo>
                    <a:pt x="37320" y="48679"/>
                    <a:pt x="45689" y="40310"/>
                    <a:pt x="45689" y="30034"/>
                  </a:cubicBezTo>
                  <a:lnTo>
                    <a:pt x="45689" y="18645"/>
                  </a:lnTo>
                  <a:cubicBezTo>
                    <a:pt x="45689" y="8369"/>
                    <a:pt x="37320" y="0"/>
                    <a:pt x="27044" y="0"/>
                  </a:cubicBezTo>
                  <a:lnTo>
                    <a:pt x="27044" y="0"/>
                  </a:lnTo>
                  <a:close/>
                  <a:moveTo>
                    <a:pt x="27660" y="30034"/>
                  </a:moveTo>
                  <a:cubicBezTo>
                    <a:pt x="27660" y="30364"/>
                    <a:pt x="27389" y="30650"/>
                    <a:pt x="27044" y="30650"/>
                  </a:cubicBezTo>
                  <a:lnTo>
                    <a:pt x="18645" y="30650"/>
                  </a:lnTo>
                  <a:cubicBezTo>
                    <a:pt x="18315" y="30650"/>
                    <a:pt x="18029" y="30379"/>
                    <a:pt x="18029" y="30034"/>
                  </a:cubicBezTo>
                  <a:lnTo>
                    <a:pt x="18029" y="18630"/>
                  </a:lnTo>
                  <a:cubicBezTo>
                    <a:pt x="18029" y="18300"/>
                    <a:pt x="18300" y="18014"/>
                    <a:pt x="18645" y="18014"/>
                  </a:cubicBezTo>
                  <a:lnTo>
                    <a:pt x="27044" y="18014"/>
                  </a:lnTo>
                  <a:cubicBezTo>
                    <a:pt x="27374" y="18014"/>
                    <a:pt x="27660" y="18285"/>
                    <a:pt x="27660" y="18630"/>
                  </a:cubicBezTo>
                  <a:lnTo>
                    <a:pt x="27660" y="30034"/>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3" name="熊大的PPT宝库17-32"/>
            <p:cNvSpPr/>
            <p:nvPr/>
          </p:nvSpPr>
          <p:spPr>
            <a:xfrm>
              <a:off x="6565316" y="2295703"/>
              <a:ext cx="21635" cy="21635"/>
            </a:xfrm>
            <a:custGeom>
              <a:avLst/>
              <a:gdLst>
                <a:gd name="connsiteX0" fmla="*/ 21635 w 21635"/>
                <a:gd name="connsiteY0" fmla="*/ 10818 h 21635"/>
                <a:gd name="connsiteX1" fmla="*/ 10818 w 21635"/>
                <a:gd name="connsiteY1" fmla="*/ 21635 h 21635"/>
                <a:gd name="connsiteX2" fmla="*/ 0 w 21635"/>
                <a:gd name="connsiteY2" fmla="*/ 10818 h 21635"/>
                <a:gd name="connsiteX3" fmla="*/ 10818 w 21635"/>
                <a:gd name="connsiteY3" fmla="*/ 0 h 21635"/>
                <a:gd name="connsiteX4" fmla="*/ 21635 w 21635"/>
                <a:gd name="connsiteY4" fmla="*/ 10818 h 21635"/>
                <a:gd name="connsiteX5" fmla="*/ 21635 w 21635"/>
                <a:gd name="connsiteY5" fmla="*/ 10818 h 21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35" h="21635">
                  <a:moveTo>
                    <a:pt x="21635" y="10818"/>
                  </a:moveTo>
                  <a:cubicBezTo>
                    <a:pt x="21635" y="16797"/>
                    <a:pt x="16797" y="21635"/>
                    <a:pt x="10818" y="21635"/>
                  </a:cubicBezTo>
                  <a:cubicBezTo>
                    <a:pt x="4838" y="21635"/>
                    <a:pt x="0" y="16797"/>
                    <a:pt x="0" y="10818"/>
                  </a:cubicBezTo>
                  <a:cubicBezTo>
                    <a:pt x="0" y="4838"/>
                    <a:pt x="4838" y="0"/>
                    <a:pt x="10818" y="0"/>
                  </a:cubicBezTo>
                  <a:cubicBezTo>
                    <a:pt x="16797" y="0"/>
                    <a:pt x="21635" y="4838"/>
                    <a:pt x="21635" y="10818"/>
                  </a:cubicBezTo>
                  <a:lnTo>
                    <a:pt x="21635" y="10818"/>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4" name="熊大的PPT宝库17-33"/>
            <p:cNvSpPr/>
            <p:nvPr/>
          </p:nvSpPr>
          <p:spPr>
            <a:xfrm>
              <a:off x="6592360" y="2296304"/>
              <a:ext cx="21635" cy="21635"/>
            </a:xfrm>
            <a:custGeom>
              <a:avLst/>
              <a:gdLst>
                <a:gd name="connsiteX0" fmla="*/ 21635 w 21635"/>
                <a:gd name="connsiteY0" fmla="*/ 10818 h 21635"/>
                <a:gd name="connsiteX1" fmla="*/ 10818 w 21635"/>
                <a:gd name="connsiteY1" fmla="*/ 21635 h 21635"/>
                <a:gd name="connsiteX2" fmla="*/ 0 w 21635"/>
                <a:gd name="connsiteY2" fmla="*/ 10818 h 21635"/>
                <a:gd name="connsiteX3" fmla="*/ 10818 w 21635"/>
                <a:gd name="connsiteY3" fmla="*/ 0 h 21635"/>
                <a:gd name="connsiteX4" fmla="*/ 21635 w 21635"/>
                <a:gd name="connsiteY4" fmla="*/ 10818 h 21635"/>
                <a:gd name="connsiteX5" fmla="*/ 21635 w 21635"/>
                <a:gd name="connsiteY5" fmla="*/ 10818 h 21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35" h="21635">
                  <a:moveTo>
                    <a:pt x="21635" y="10818"/>
                  </a:moveTo>
                  <a:cubicBezTo>
                    <a:pt x="21635" y="16797"/>
                    <a:pt x="16797" y="21635"/>
                    <a:pt x="10818" y="21635"/>
                  </a:cubicBezTo>
                  <a:cubicBezTo>
                    <a:pt x="4838" y="21635"/>
                    <a:pt x="0" y="16797"/>
                    <a:pt x="0" y="10818"/>
                  </a:cubicBezTo>
                  <a:cubicBezTo>
                    <a:pt x="0" y="4838"/>
                    <a:pt x="4838" y="0"/>
                    <a:pt x="10818" y="0"/>
                  </a:cubicBezTo>
                  <a:cubicBezTo>
                    <a:pt x="16797" y="0"/>
                    <a:pt x="21635" y="4838"/>
                    <a:pt x="21635" y="10818"/>
                  </a:cubicBezTo>
                  <a:lnTo>
                    <a:pt x="21635" y="10818"/>
                  </a:lnTo>
                  <a:close/>
                </a:path>
              </a:pathLst>
            </a:custGeom>
            <a:grpFill/>
            <a:ln w="148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grpSp>
      <p:pic>
        <p:nvPicPr>
          <p:cNvPr id="185" name="熊大的PPT宝库18"/>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352892" y="2037978"/>
            <a:ext cx="468000" cy="468000"/>
          </a:xfrm>
          <a:prstGeom prst="rect">
            <a:avLst/>
          </a:prstGeom>
        </p:spPr>
      </p:pic>
      <p:sp>
        <p:nvSpPr>
          <p:cNvPr id="193" name="熊大的PPT宝库19"/>
          <p:cNvSpPr txBox="1"/>
          <p:nvPr/>
        </p:nvSpPr>
        <p:spPr>
          <a:xfrm>
            <a:off x="2165992" y="5690829"/>
            <a:ext cx="2520000" cy="430887"/>
          </a:xfrm>
          <a:prstGeom prst="rect">
            <a:avLst/>
          </a:prstGeom>
          <a:noFill/>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继续深化供应链系统，建设可视化链路并加强辅助监督机制</a:t>
            </a:r>
          </a:p>
        </p:txBody>
      </p:sp>
      <p:sp>
        <p:nvSpPr>
          <p:cNvPr id="195" name="熊大的PPT宝库20"/>
          <p:cNvSpPr txBox="1"/>
          <p:nvPr/>
        </p:nvSpPr>
        <p:spPr>
          <a:xfrm>
            <a:off x="5472679" y="5583107"/>
            <a:ext cx="2520000" cy="646331"/>
          </a:xfrm>
          <a:prstGeom prst="rect">
            <a:avLst/>
          </a:prstGeom>
          <a:noFill/>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企业内部测试“无人工厂”模式的可能性，提高整体生产的自动化水平</a:t>
            </a:r>
          </a:p>
        </p:txBody>
      </p:sp>
      <p:sp>
        <p:nvSpPr>
          <p:cNvPr id="197" name="熊大的PPT宝库21"/>
          <p:cNvSpPr txBox="1"/>
          <p:nvPr/>
        </p:nvSpPr>
        <p:spPr>
          <a:xfrm>
            <a:off x="8779366" y="5583107"/>
            <a:ext cx="2520000" cy="646331"/>
          </a:xfrm>
          <a:prstGeom prst="rect">
            <a:avLst/>
          </a:prstGeom>
          <a:noFill/>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招聘大数据、人工智能等相关领域新技术人才，构建专业化供应链分析预测方法</a:t>
            </a:r>
          </a:p>
        </p:txBody>
      </p:sp>
      <p:sp>
        <p:nvSpPr>
          <p:cNvPr id="199" name="熊大的PPT宝库22"/>
          <p:cNvSpPr txBox="1"/>
          <p:nvPr/>
        </p:nvSpPr>
        <p:spPr>
          <a:xfrm>
            <a:off x="755678" y="1592056"/>
            <a:ext cx="720000" cy="1354217"/>
          </a:xfrm>
          <a:prstGeom prst="rect">
            <a:avLst/>
          </a:prstGeom>
          <a:noFill/>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200" b="0" i="0" u="none" strike="noStrike" kern="1200" cap="none" spc="0" normalizeH="0" baseline="0" noProof="0" dirty="0">
                <a:ln>
                  <a:noFill/>
                </a:ln>
                <a:solidFill>
                  <a:srgbClr val="FFFFFF"/>
                </a:solidFill>
                <a:effectLst/>
                <a:uLnTx/>
                <a:uFillTx/>
                <a:cs typeface="+mn-ea"/>
                <a:sym typeface="+mn-lt"/>
              </a:rPr>
              <a:t>智慧供应链全流程</a:t>
            </a:r>
          </a:p>
        </p:txBody>
      </p:sp>
      <p:sp>
        <p:nvSpPr>
          <p:cNvPr id="201" name="熊大的PPT宝库23"/>
          <p:cNvSpPr txBox="1"/>
          <p:nvPr/>
        </p:nvSpPr>
        <p:spPr>
          <a:xfrm>
            <a:off x="755678" y="3926669"/>
            <a:ext cx="720000" cy="1015663"/>
          </a:xfrm>
          <a:prstGeom prst="rect">
            <a:avLst/>
          </a:prstGeom>
          <a:noFill/>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200" b="0" i="0" u="none" strike="noStrike" kern="1200" cap="none" spc="0" normalizeH="0" baseline="0" noProof="0" dirty="0">
                <a:ln>
                  <a:noFill/>
                </a:ln>
                <a:solidFill>
                  <a:srgbClr val="FFFFFF"/>
                </a:solidFill>
                <a:effectLst/>
                <a:uLnTx/>
                <a:uFillTx/>
                <a:cs typeface="+mn-ea"/>
                <a:sym typeface="+mn-lt"/>
              </a:rPr>
              <a:t>核心提升抓手</a:t>
            </a:r>
          </a:p>
        </p:txBody>
      </p:sp>
      <p:sp>
        <p:nvSpPr>
          <p:cNvPr id="202" name="熊大的PPT宝库24"/>
          <p:cNvSpPr txBox="1"/>
          <p:nvPr/>
        </p:nvSpPr>
        <p:spPr>
          <a:xfrm>
            <a:off x="755678" y="5395072"/>
            <a:ext cx="720000" cy="1015663"/>
          </a:xfrm>
          <a:prstGeom prst="rect">
            <a:avLst/>
          </a:prstGeom>
          <a:noFill/>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200" b="0" i="0" u="none" strike="noStrike" kern="1200" cap="none" spc="0" normalizeH="0" baseline="0" noProof="0" dirty="0">
                <a:ln>
                  <a:noFill/>
                </a:ln>
                <a:solidFill>
                  <a:srgbClr val="00329D"/>
                </a:solidFill>
                <a:effectLst/>
                <a:uLnTx/>
                <a:uFillTx/>
                <a:cs typeface="+mn-ea"/>
                <a:sym typeface="+mn-lt"/>
              </a:rPr>
              <a:t>对品牌启示</a:t>
            </a:r>
          </a:p>
        </p:txBody>
      </p:sp>
      <p:sp>
        <p:nvSpPr>
          <p:cNvPr id="206" name="熊大的PPT宝库25"/>
          <p:cNvSpPr/>
          <p:nvPr/>
        </p:nvSpPr>
        <p:spPr>
          <a:xfrm>
            <a:off x="1874596" y="3987663"/>
            <a:ext cx="3102792" cy="1149776"/>
          </a:xfrm>
          <a:prstGeom prst="roundRect">
            <a:avLst>
              <a:gd name="adj" fmla="val 7679"/>
            </a:avLst>
          </a:prstGeom>
          <a:solidFill>
            <a:schemeClr val="accent1">
              <a:lumMod val="20000"/>
              <a:lumOff val="80000"/>
            </a:schemeClr>
          </a:solidFill>
          <a:ln>
            <a:solidFill>
              <a:schemeClr val="accent1">
                <a:lumMod val="40000"/>
                <a:lumOff val="60000"/>
              </a:schemeClr>
            </a:solid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10" name="熊大的PPT宝库26"/>
          <p:cNvSpPr/>
          <p:nvPr/>
        </p:nvSpPr>
        <p:spPr>
          <a:xfrm>
            <a:off x="1874596" y="5341072"/>
            <a:ext cx="3102792" cy="1112152"/>
          </a:xfrm>
          <a:prstGeom prst="roundRect">
            <a:avLst>
              <a:gd name="adj" fmla="val 6556"/>
            </a:avLst>
          </a:prstGeom>
          <a:noFill/>
          <a:ln>
            <a:solidFill>
              <a:schemeClr val="accent1"/>
            </a:solid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12" name="熊大的PPT宝库27"/>
          <p:cNvSpPr/>
          <p:nvPr/>
        </p:nvSpPr>
        <p:spPr>
          <a:xfrm>
            <a:off x="5181283" y="3987663"/>
            <a:ext cx="3102792" cy="1149776"/>
          </a:xfrm>
          <a:prstGeom prst="roundRect">
            <a:avLst>
              <a:gd name="adj" fmla="val 7679"/>
            </a:avLst>
          </a:prstGeom>
          <a:solidFill>
            <a:schemeClr val="accent1">
              <a:lumMod val="20000"/>
              <a:lumOff val="80000"/>
            </a:schemeClr>
          </a:solidFill>
          <a:ln>
            <a:solidFill>
              <a:schemeClr val="accent1">
                <a:lumMod val="40000"/>
                <a:lumOff val="60000"/>
              </a:schemeClr>
            </a:solid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13" name="熊大的PPT宝库28"/>
          <p:cNvSpPr/>
          <p:nvPr/>
        </p:nvSpPr>
        <p:spPr>
          <a:xfrm>
            <a:off x="5181283" y="5341072"/>
            <a:ext cx="3102792" cy="1112152"/>
          </a:xfrm>
          <a:prstGeom prst="roundRect">
            <a:avLst>
              <a:gd name="adj" fmla="val 6556"/>
            </a:avLst>
          </a:prstGeom>
          <a:noFill/>
          <a:ln>
            <a:solidFill>
              <a:schemeClr val="accent1"/>
            </a:solid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14" name="熊大的PPT宝库29"/>
          <p:cNvSpPr/>
          <p:nvPr/>
        </p:nvSpPr>
        <p:spPr>
          <a:xfrm>
            <a:off x="8487970" y="3987663"/>
            <a:ext cx="3102792" cy="1149776"/>
          </a:xfrm>
          <a:prstGeom prst="roundRect">
            <a:avLst>
              <a:gd name="adj" fmla="val 7679"/>
            </a:avLst>
          </a:prstGeom>
          <a:solidFill>
            <a:schemeClr val="accent1">
              <a:lumMod val="20000"/>
              <a:lumOff val="80000"/>
            </a:schemeClr>
          </a:solidFill>
          <a:ln>
            <a:solidFill>
              <a:schemeClr val="accent1">
                <a:lumMod val="40000"/>
                <a:lumOff val="60000"/>
              </a:schemeClr>
            </a:solid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15" name="熊大的PPT宝库30"/>
          <p:cNvSpPr/>
          <p:nvPr/>
        </p:nvSpPr>
        <p:spPr>
          <a:xfrm>
            <a:off x="8487970" y="5341072"/>
            <a:ext cx="3102792" cy="1112152"/>
          </a:xfrm>
          <a:prstGeom prst="roundRect">
            <a:avLst>
              <a:gd name="adj" fmla="val 6556"/>
            </a:avLst>
          </a:prstGeom>
          <a:noFill/>
          <a:ln>
            <a:solidFill>
              <a:schemeClr val="accent1"/>
            </a:solid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18" name="熊大的PPT宝库31"/>
          <p:cNvSpPr txBox="1"/>
          <p:nvPr/>
        </p:nvSpPr>
        <p:spPr>
          <a:xfrm>
            <a:off x="2165992" y="4203107"/>
            <a:ext cx="2520000" cy="21544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端到端货物信息、机器信息追踪</a:t>
            </a:r>
          </a:p>
        </p:txBody>
      </p:sp>
      <p:sp>
        <p:nvSpPr>
          <p:cNvPr id="219" name="熊大的PPT宝库32"/>
          <p:cNvSpPr txBox="1"/>
          <p:nvPr/>
        </p:nvSpPr>
        <p:spPr>
          <a:xfrm>
            <a:off x="2618079" y="4418551"/>
            <a:ext cx="1615827" cy="21544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远程问题发现及处理</a:t>
            </a:r>
          </a:p>
        </p:txBody>
      </p:sp>
      <p:sp>
        <p:nvSpPr>
          <p:cNvPr id="220" name="熊大的PPT宝库33"/>
          <p:cNvSpPr txBox="1"/>
          <p:nvPr/>
        </p:nvSpPr>
        <p:spPr>
          <a:xfrm>
            <a:off x="2618079" y="4633995"/>
            <a:ext cx="1615827" cy="21544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设备间相互远程感应</a:t>
            </a:r>
          </a:p>
        </p:txBody>
      </p:sp>
      <p:sp>
        <p:nvSpPr>
          <p:cNvPr id="223" name="熊大的PPT宝库34"/>
          <p:cNvSpPr txBox="1"/>
          <p:nvPr/>
        </p:nvSpPr>
        <p:spPr>
          <a:xfrm>
            <a:off x="6014534" y="4203107"/>
            <a:ext cx="1436291" cy="21544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机器人工厂内作业</a:t>
            </a:r>
          </a:p>
        </p:txBody>
      </p:sp>
      <p:sp>
        <p:nvSpPr>
          <p:cNvPr id="224" name="熊大的PPT宝库35"/>
          <p:cNvSpPr txBox="1"/>
          <p:nvPr/>
        </p:nvSpPr>
        <p:spPr>
          <a:xfrm>
            <a:off x="6104302" y="4418551"/>
            <a:ext cx="1256754" cy="21544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无人车取货运货</a:t>
            </a:r>
          </a:p>
        </p:txBody>
      </p:sp>
      <p:sp>
        <p:nvSpPr>
          <p:cNvPr id="225" name="熊大的PPT宝库36"/>
          <p:cNvSpPr txBox="1"/>
          <p:nvPr/>
        </p:nvSpPr>
        <p:spPr>
          <a:xfrm>
            <a:off x="5655461" y="4633995"/>
            <a:ext cx="2154436" cy="21544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无人机将货物投向偏远地区</a:t>
            </a:r>
          </a:p>
        </p:txBody>
      </p:sp>
      <p:sp>
        <p:nvSpPr>
          <p:cNvPr id="228" name="熊大的PPT宝库37"/>
          <p:cNvSpPr txBox="1"/>
          <p:nvPr/>
        </p:nvSpPr>
        <p:spPr>
          <a:xfrm>
            <a:off x="9051916" y="4203107"/>
            <a:ext cx="1974900" cy="215444"/>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精细化进销存预测与安排</a:t>
            </a:r>
          </a:p>
        </p:txBody>
      </p:sp>
      <p:sp>
        <p:nvSpPr>
          <p:cNvPr id="229" name="熊大的PPT宝库38"/>
          <p:cNvSpPr txBox="1"/>
          <p:nvPr/>
        </p:nvSpPr>
        <p:spPr>
          <a:xfrm>
            <a:off x="9680294" y="4431251"/>
            <a:ext cx="718145" cy="215444"/>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产品模拟</a:t>
            </a:r>
          </a:p>
        </p:txBody>
      </p:sp>
      <p:sp>
        <p:nvSpPr>
          <p:cNvPr id="230" name="熊大的PPT宝库39"/>
          <p:cNvSpPr txBox="1"/>
          <p:nvPr/>
        </p:nvSpPr>
        <p:spPr>
          <a:xfrm>
            <a:off x="9500757" y="4646695"/>
            <a:ext cx="1077218" cy="215444"/>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智能品类优化</a:t>
            </a:r>
          </a:p>
        </p:txBody>
      </p:sp>
      <p:sp>
        <p:nvSpPr>
          <p:cNvPr id="231" name="熊大的PPT宝库40"/>
          <p:cNvSpPr txBox="1"/>
          <p:nvPr/>
        </p:nvSpPr>
        <p:spPr>
          <a:xfrm>
            <a:off x="9141685" y="4862138"/>
            <a:ext cx="1795363" cy="215444"/>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智能采购、调拨、补货</a:t>
            </a:r>
          </a:p>
        </p:txBody>
      </p:sp>
      <p:sp>
        <p:nvSpPr>
          <p:cNvPr id="235" name="熊大的PPT宝库41"/>
          <p:cNvSpPr/>
          <p:nvPr/>
        </p:nvSpPr>
        <p:spPr>
          <a:xfrm rot="5400000">
            <a:off x="3335992" y="5084858"/>
            <a:ext cx="180000" cy="262123"/>
          </a:xfrm>
          <a:prstGeom prst="chevron">
            <a:avLst/>
          </a:prstGeom>
          <a:solidFill>
            <a:schemeClr val="accent1"/>
          </a:solidFill>
          <a:ln>
            <a:solidFill>
              <a:schemeClr val="accent1">
                <a:lumMod val="20000"/>
                <a:lumOff val="80000"/>
              </a:schemeClr>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36" name="熊大的PPT宝库42"/>
          <p:cNvSpPr/>
          <p:nvPr/>
        </p:nvSpPr>
        <p:spPr>
          <a:xfrm rot="5400000">
            <a:off x="6642679" y="5084858"/>
            <a:ext cx="180000" cy="262123"/>
          </a:xfrm>
          <a:prstGeom prst="chevron">
            <a:avLst/>
          </a:prstGeom>
          <a:solidFill>
            <a:schemeClr val="accent1"/>
          </a:solidFill>
          <a:ln>
            <a:solidFill>
              <a:schemeClr val="accent1">
                <a:lumMod val="20000"/>
                <a:lumOff val="80000"/>
              </a:schemeClr>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37" name="熊大的PPT宝库43"/>
          <p:cNvSpPr/>
          <p:nvPr/>
        </p:nvSpPr>
        <p:spPr>
          <a:xfrm rot="5400000">
            <a:off x="9949366" y="5084858"/>
            <a:ext cx="180000" cy="262123"/>
          </a:xfrm>
          <a:prstGeom prst="chevron">
            <a:avLst/>
          </a:prstGeom>
          <a:solidFill>
            <a:schemeClr val="accent1"/>
          </a:solidFill>
          <a:ln>
            <a:solidFill>
              <a:schemeClr val="accent1">
                <a:lumMod val="20000"/>
                <a:lumOff val="80000"/>
              </a:schemeClr>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38" name="熊大的PPT宝库44"/>
          <p:cNvSpPr/>
          <p:nvPr/>
        </p:nvSpPr>
        <p:spPr>
          <a:xfrm>
            <a:off x="2507992" y="3784079"/>
            <a:ext cx="1836000" cy="360000"/>
          </a:xfrm>
          <a:prstGeom prst="roundRect">
            <a:avLst>
              <a:gd name="adj" fmla="val 50000"/>
            </a:avLst>
          </a:prstGeom>
          <a:solidFill>
            <a:schemeClr val="accent1">
              <a:lumMod val="40000"/>
              <a:lumOff val="6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217" name="熊大的PPT宝库45"/>
          <p:cNvSpPr txBox="1"/>
          <p:nvPr/>
        </p:nvSpPr>
        <p:spPr>
          <a:xfrm>
            <a:off x="2797615" y="3856357"/>
            <a:ext cx="1256754" cy="21544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链路实时可视化</a:t>
            </a:r>
          </a:p>
        </p:txBody>
      </p:sp>
      <p:sp>
        <p:nvSpPr>
          <p:cNvPr id="239" name="熊大的PPT宝库46"/>
          <p:cNvSpPr/>
          <p:nvPr/>
        </p:nvSpPr>
        <p:spPr>
          <a:xfrm>
            <a:off x="5815689" y="3784079"/>
            <a:ext cx="1836000" cy="360000"/>
          </a:xfrm>
          <a:prstGeom prst="roundRect">
            <a:avLst>
              <a:gd name="adj" fmla="val 50000"/>
            </a:avLst>
          </a:prstGeom>
          <a:solidFill>
            <a:schemeClr val="accent1">
              <a:lumMod val="40000"/>
              <a:lumOff val="6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240" name="熊大的PPT宝库47"/>
          <p:cNvSpPr txBox="1"/>
          <p:nvPr/>
        </p:nvSpPr>
        <p:spPr>
          <a:xfrm>
            <a:off x="6284848" y="3856357"/>
            <a:ext cx="897682" cy="21544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作业自动化</a:t>
            </a:r>
          </a:p>
        </p:txBody>
      </p:sp>
      <p:sp>
        <p:nvSpPr>
          <p:cNvPr id="241" name="熊大的PPT宝库48"/>
          <p:cNvSpPr/>
          <p:nvPr/>
        </p:nvSpPr>
        <p:spPr>
          <a:xfrm>
            <a:off x="9121366" y="3784079"/>
            <a:ext cx="1836000" cy="360000"/>
          </a:xfrm>
          <a:prstGeom prst="roundRect">
            <a:avLst>
              <a:gd name="adj" fmla="val 50000"/>
            </a:avLst>
          </a:prstGeom>
          <a:solidFill>
            <a:schemeClr val="accent1">
              <a:lumMod val="40000"/>
              <a:lumOff val="60000"/>
            </a:schemeClr>
          </a:solidFill>
          <a:ln w="635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cs typeface="+mn-ea"/>
              <a:sym typeface="+mn-lt"/>
            </a:endParaRPr>
          </a:p>
        </p:txBody>
      </p:sp>
      <p:sp>
        <p:nvSpPr>
          <p:cNvPr id="242" name="熊大的PPT宝库49"/>
          <p:cNvSpPr txBox="1"/>
          <p:nvPr/>
        </p:nvSpPr>
        <p:spPr>
          <a:xfrm>
            <a:off x="9590525" y="3856357"/>
            <a:ext cx="897682" cy="21544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分析智能化</a:t>
            </a:r>
          </a:p>
        </p:txBody>
      </p:sp>
      <p:cxnSp>
        <p:nvCxnSpPr>
          <p:cNvPr id="244" name="熊大的PPT宝库50"/>
          <p:cNvCxnSpPr/>
          <p:nvPr/>
        </p:nvCxnSpPr>
        <p:spPr>
          <a:xfrm flipV="1">
            <a:off x="1765413" y="5373224"/>
            <a:ext cx="0" cy="1080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5" name="熊大的PPT宝库51"/>
          <p:cNvCxnSpPr/>
          <p:nvPr/>
        </p:nvCxnSpPr>
        <p:spPr>
          <a:xfrm flipV="1">
            <a:off x="1765413" y="3769439"/>
            <a:ext cx="0" cy="1368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6" name="熊大的PPT宝库52"/>
          <p:cNvCxnSpPr/>
          <p:nvPr/>
        </p:nvCxnSpPr>
        <p:spPr>
          <a:xfrm flipV="1">
            <a:off x="1765413" y="1069738"/>
            <a:ext cx="0" cy="2520000"/>
          </a:xfrm>
          <a:prstGeom prst="line">
            <a:avLst/>
          </a:prstGeom>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熊大的PPT宝库1"/>
          <p:cNvSpPr txBox="1"/>
          <p:nvPr/>
        </p:nvSpPr>
        <p:spPr>
          <a:xfrm>
            <a:off x="348830" y="216968"/>
            <a:ext cx="4929555"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生活服务行业</a:t>
            </a:r>
            <a:r>
              <a:rPr kumimoji="0" lang="en-US" altLang="zh-CN" sz="3200" b="0" i="0" u="none" strike="noStrike" kern="1200" cap="none" spc="0" normalizeH="0" baseline="0" noProof="0" dirty="0">
                <a:ln>
                  <a:noFill/>
                </a:ln>
                <a:solidFill>
                  <a:srgbClr val="00329D"/>
                </a:solidFill>
                <a:effectLst/>
                <a:uLnTx/>
                <a:uFillTx/>
                <a:cs typeface="+mn-ea"/>
                <a:sym typeface="+mn-lt"/>
              </a:rPr>
              <a:t>DY</a:t>
            </a:r>
            <a:r>
              <a:rPr kumimoji="0" lang="zh-CN" altLang="en-US" sz="3200" b="0" i="0" u="none" strike="noStrike" kern="1200" cap="none" spc="0" normalizeH="0" baseline="0" noProof="0" dirty="0">
                <a:ln>
                  <a:noFill/>
                </a:ln>
                <a:solidFill>
                  <a:srgbClr val="00329D"/>
                </a:solidFill>
                <a:effectLst/>
                <a:uLnTx/>
                <a:uFillTx/>
                <a:cs typeface="+mn-ea"/>
                <a:sym typeface="+mn-lt"/>
              </a:rPr>
              <a:t>直播运营</a:t>
            </a:r>
          </a:p>
        </p:txBody>
      </p:sp>
      <p:sp>
        <p:nvSpPr>
          <p:cNvPr id="4" name="熊大的PPT宝库3"/>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
        <p:nvSpPr>
          <p:cNvPr id="12" name="熊大的PPT宝库4"/>
          <p:cNvSpPr/>
          <p:nvPr/>
        </p:nvSpPr>
        <p:spPr>
          <a:xfrm>
            <a:off x="497982" y="1181100"/>
            <a:ext cx="4445000" cy="1368000"/>
          </a:xfrm>
          <a:prstGeom prst="roundRect">
            <a:avLst>
              <a:gd name="adj" fmla="val 13882"/>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 name="熊大的PPT宝库5"/>
          <p:cNvSpPr/>
          <p:nvPr/>
        </p:nvSpPr>
        <p:spPr>
          <a:xfrm>
            <a:off x="5425582" y="1181100"/>
            <a:ext cx="3600000" cy="1368000"/>
          </a:xfrm>
          <a:prstGeom prst="roundRect">
            <a:avLst>
              <a:gd name="adj" fmla="val 10168"/>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3" name="熊大的PPT宝库6"/>
          <p:cNvSpPr/>
          <p:nvPr/>
        </p:nvSpPr>
        <p:spPr>
          <a:xfrm>
            <a:off x="5516258" y="2123989"/>
            <a:ext cx="3411842" cy="437811"/>
          </a:xfrm>
          <a:custGeom>
            <a:avLst/>
            <a:gdLst>
              <a:gd name="connsiteX0" fmla="*/ 2128040 w 4256080"/>
              <a:gd name="connsiteY0" fmla="*/ 0 h 328464"/>
              <a:gd name="connsiteX1" fmla="*/ 4070386 w 4256080"/>
              <a:gd name="connsiteY1" fmla="*/ 230559 h 328464"/>
              <a:gd name="connsiteX2" fmla="*/ 4256080 w 4256080"/>
              <a:gd name="connsiteY2" fmla="*/ 284520 h 328464"/>
              <a:gd name="connsiteX3" fmla="*/ 4250015 w 4256080"/>
              <a:gd name="connsiteY3" fmla="*/ 289524 h 328464"/>
              <a:gd name="connsiteX4" fmla="*/ 4122535 w 4256080"/>
              <a:gd name="connsiteY4" fmla="*/ 328464 h 328464"/>
              <a:gd name="connsiteX5" fmla="*/ 133545 w 4256080"/>
              <a:gd name="connsiteY5" fmla="*/ 328464 h 328464"/>
              <a:gd name="connsiteX6" fmla="*/ 6065 w 4256080"/>
              <a:gd name="connsiteY6" fmla="*/ 289524 h 328464"/>
              <a:gd name="connsiteX7" fmla="*/ 0 w 4256080"/>
              <a:gd name="connsiteY7" fmla="*/ 284520 h 328464"/>
              <a:gd name="connsiteX8" fmla="*/ 185694 w 4256080"/>
              <a:gd name="connsiteY8" fmla="*/ 230559 h 328464"/>
              <a:gd name="connsiteX9" fmla="*/ 2128040 w 4256080"/>
              <a:gd name="connsiteY9" fmla="*/ 0 h 328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56080" h="328464">
                <a:moveTo>
                  <a:pt x="2128040" y="0"/>
                </a:moveTo>
                <a:cubicBezTo>
                  <a:pt x="2847529" y="0"/>
                  <a:pt x="3515932" y="84996"/>
                  <a:pt x="4070386" y="230559"/>
                </a:cubicBezTo>
                <a:lnTo>
                  <a:pt x="4256080" y="284520"/>
                </a:lnTo>
                <a:lnTo>
                  <a:pt x="4250015" y="289524"/>
                </a:lnTo>
                <a:cubicBezTo>
                  <a:pt x="4213625" y="314109"/>
                  <a:pt x="4169757" y="328464"/>
                  <a:pt x="4122535" y="328464"/>
                </a:cubicBezTo>
                <a:lnTo>
                  <a:pt x="133545" y="328464"/>
                </a:lnTo>
                <a:cubicBezTo>
                  <a:pt x="86324" y="328464"/>
                  <a:pt x="42455" y="314109"/>
                  <a:pt x="6065" y="289524"/>
                </a:cubicBezTo>
                <a:lnTo>
                  <a:pt x="0" y="284520"/>
                </a:lnTo>
                <a:lnTo>
                  <a:pt x="185694" y="230559"/>
                </a:lnTo>
                <a:cubicBezTo>
                  <a:pt x="740148" y="84996"/>
                  <a:pt x="1408551" y="0"/>
                  <a:pt x="2128040" y="0"/>
                </a:cubicBezTo>
                <a:close/>
              </a:path>
            </a:pathLst>
          </a:cu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4" name="熊大的PPT宝库7"/>
          <p:cNvSpPr/>
          <p:nvPr/>
        </p:nvSpPr>
        <p:spPr>
          <a:xfrm>
            <a:off x="9240242" y="1181100"/>
            <a:ext cx="2448000" cy="1368000"/>
          </a:xfrm>
          <a:prstGeom prst="roundRect">
            <a:avLst>
              <a:gd name="adj" fmla="val 9240"/>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8" name="熊大的PPT宝库8"/>
          <p:cNvSpPr txBox="1"/>
          <p:nvPr/>
        </p:nvSpPr>
        <p:spPr>
          <a:xfrm>
            <a:off x="677196" y="1294712"/>
            <a:ext cx="2802049" cy="215444"/>
          </a:xfrm>
          <a:prstGeom prst="rect">
            <a:avLst/>
          </a:prstGeom>
          <a:noFill/>
        </p:spPr>
        <p:txBody>
          <a:bodyPr wrap="square" lIns="0" tIns="0" rIns="0" bIns="0">
            <a:noAutofit/>
          </a:bodyPr>
          <a:lstStyle/>
          <a:p>
            <a:pPr marL="285750" marR="0" lvl="0" indent="-285750" algn="l" defTabSz="457200" rtl="0" eaLnBrk="1" fontAlgn="auto"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en-US" sz="1400" b="0" i="0" u="none" strike="noStrike" kern="1200" cap="none" spc="0" normalizeH="0" baseline="0" noProof="0" dirty="0">
                <a:ln>
                  <a:noFill/>
                </a:ln>
                <a:solidFill>
                  <a:srgbClr val="000000"/>
                </a:solidFill>
                <a:effectLst/>
                <a:uLnTx/>
                <a:uFillTx/>
                <a:cs typeface="+mn-ea"/>
                <a:sym typeface="+mn-lt"/>
              </a:rPr>
              <a:t>进行「选品组品」确定直播内容</a:t>
            </a:r>
          </a:p>
        </p:txBody>
      </p:sp>
      <p:sp>
        <p:nvSpPr>
          <p:cNvPr id="19" name="熊大的PPT宝库9"/>
          <p:cNvSpPr txBox="1"/>
          <p:nvPr/>
        </p:nvSpPr>
        <p:spPr>
          <a:xfrm>
            <a:off x="5721221" y="1302590"/>
            <a:ext cx="2802049" cy="215444"/>
          </a:xfrm>
          <a:prstGeom prst="rect">
            <a:avLst/>
          </a:prstGeom>
          <a:noFill/>
        </p:spPr>
        <p:txBody>
          <a:bodyPr wrap="square" lIns="0" tIns="0" rIns="0" bIns="0">
            <a:noAutofit/>
          </a:bodyPr>
          <a:lstStyle/>
          <a:p>
            <a:pPr marL="285750" marR="0" lvl="0" indent="-285750" algn="just" defTabSz="457200" rtl="0" eaLnBrk="1" fontAlgn="auto"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en-US" sz="1400" b="0" i="0" u="none" strike="noStrike" kern="1200" cap="none" spc="0" normalizeH="0" baseline="0" noProof="0" dirty="0">
                <a:ln>
                  <a:noFill/>
                </a:ln>
                <a:solidFill>
                  <a:srgbClr val="000000"/>
                </a:solidFill>
                <a:effectLst/>
                <a:uLnTx/>
                <a:uFillTx/>
                <a:cs typeface="+mn-ea"/>
                <a:sym typeface="+mn-lt"/>
              </a:rPr>
              <a:t>通过「直播预热」扩大流量来源</a:t>
            </a:r>
          </a:p>
        </p:txBody>
      </p:sp>
      <p:sp>
        <p:nvSpPr>
          <p:cNvPr id="20" name="熊大的PPT宝库10"/>
          <p:cNvSpPr txBox="1"/>
          <p:nvPr/>
        </p:nvSpPr>
        <p:spPr>
          <a:xfrm>
            <a:off x="9666748" y="1391766"/>
            <a:ext cx="1594988"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回顾目标   评估结果</a:t>
            </a:r>
          </a:p>
        </p:txBody>
      </p:sp>
      <p:sp>
        <p:nvSpPr>
          <p:cNvPr id="21" name="熊大的PPT宝库11"/>
          <p:cNvSpPr txBox="1"/>
          <p:nvPr/>
        </p:nvSpPr>
        <p:spPr>
          <a:xfrm>
            <a:off x="9640299" y="1761098"/>
            <a:ext cx="1647887"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分析原因   总结规律</a:t>
            </a:r>
          </a:p>
        </p:txBody>
      </p:sp>
      <p:sp>
        <p:nvSpPr>
          <p:cNvPr id="22" name="熊大的PPT宝库12"/>
          <p:cNvSpPr txBox="1"/>
          <p:nvPr/>
        </p:nvSpPr>
        <p:spPr>
          <a:xfrm>
            <a:off x="677196" y="1601629"/>
            <a:ext cx="4110704" cy="215444"/>
          </a:xfrm>
          <a:prstGeom prst="rect">
            <a:avLst/>
          </a:prstGeom>
          <a:noFill/>
        </p:spPr>
        <p:txBody>
          <a:bodyPr wrap="square" lIns="0" tIns="0" rIns="0" bIns="0">
            <a:noAutofit/>
          </a:bodyPr>
          <a:lstStyle/>
          <a:p>
            <a:pPr marL="285750" marR="0" lvl="0" indent="-285750" algn="l" defTabSz="457200" rtl="0" eaLnBrk="1" fontAlgn="auto"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en-US" sz="1400" b="0" i="0" u="none" strike="noStrike" kern="1200" cap="none" spc="0" normalizeH="0" baseline="0" noProof="0" dirty="0">
                <a:ln>
                  <a:noFill/>
                </a:ln>
                <a:solidFill>
                  <a:srgbClr val="000000"/>
                </a:solidFill>
                <a:effectLst/>
                <a:uLnTx/>
                <a:uFillTx/>
                <a:cs typeface="+mn-ea"/>
                <a:sym typeface="+mn-lt"/>
              </a:rPr>
              <a:t>确认「开播配置」寻找合适开播时段、频次时长</a:t>
            </a:r>
          </a:p>
        </p:txBody>
      </p:sp>
      <p:sp>
        <p:nvSpPr>
          <p:cNvPr id="23" name="熊大的PPT宝库13"/>
          <p:cNvSpPr txBox="1"/>
          <p:nvPr/>
        </p:nvSpPr>
        <p:spPr>
          <a:xfrm>
            <a:off x="677196" y="1908545"/>
            <a:ext cx="3699731" cy="215444"/>
          </a:xfrm>
          <a:prstGeom prst="rect">
            <a:avLst/>
          </a:prstGeom>
          <a:noFill/>
        </p:spPr>
        <p:txBody>
          <a:bodyPr wrap="square" lIns="0" tIns="0" rIns="0" bIns="0">
            <a:noAutofit/>
          </a:bodyPr>
          <a:lstStyle/>
          <a:p>
            <a:pPr marL="285750" marR="0" lvl="0" indent="-285750" algn="l" defTabSz="457200" rtl="0" eaLnBrk="1" fontAlgn="auto"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en-US" sz="1400" b="0" i="0" u="none" strike="noStrike" kern="1200" cap="none" spc="0" normalizeH="0" baseline="0" noProof="0" dirty="0">
                <a:ln>
                  <a:noFill/>
                </a:ln>
                <a:solidFill>
                  <a:srgbClr val="000000"/>
                </a:solidFill>
                <a:effectLst/>
                <a:uLnTx/>
                <a:uFillTx/>
                <a:cs typeface="+mn-ea"/>
                <a:sym typeface="+mn-lt"/>
              </a:rPr>
              <a:t>学习「直播规范」避免因违规影响流量分发</a:t>
            </a:r>
          </a:p>
        </p:txBody>
      </p:sp>
      <p:sp>
        <p:nvSpPr>
          <p:cNvPr id="24" name="熊大的PPT宝库14"/>
          <p:cNvSpPr txBox="1"/>
          <p:nvPr/>
        </p:nvSpPr>
        <p:spPr>
          <a:xfrm>
            <a:off x="5721221" y="1612311"/>
            <a:ext cx="3138809" cy="430887"/>
          </a:xfrm>
          <a:prstGeom prst="rect">
            <a:avLst/>
          </a:prstGeom>
          <a:noFill/>
        </p:spPr>
        <p:txBody>
          <a:bodyPr wrap="square" lIns="0" tIns="0" rIns="0" bIns="0">
            <a:noAutofit/>
          </a:bodyPr>
          <a:lstStyle/>
          <a:p>
            <a:pPr marL="285750" marR="0" lvl="0" indent="-285750" algn="just" defTabSz="457200" rtl="0" eaLnBrk="1" fontAlgn="auto" latinLnBrk="0" hangingPunct="1">
              <a:lnSpc>
                <a:spcPct val="100000"/>
              </a:lnSpc>
              <a:spcBef>
                <a:spcPts val="0"/>
              </a:spcBef>
              <a:spcAft>
                <a:spcPts val="0"/>
              </a:spcAft>
              <a:buClrTx/>
              <a:buSzTx/>
              <a:buFont typeface="思源黑体 CN Normal" panose="020B0400000000000000" pitchFamily="34" charset="-122"/>
              <a:buChar char="l"/>
              <a:defRPr/>
            </a:pPr>
            <a:r>
              <a:rPr kumimoji="0" lang="zh-CN" altLang="en-US" sz="1400" b="0" i="0" u="none" strike="noStrike" kern="1200" cap="none" spc="0" normalizeH="0" baseline="0" noProof="0" dirty="0">
                <a:ln>
                  <a:noFill/>
                </a:ln>
                <a:solidFill>
                  <a:srgbClr val="000000"/>
                </a:solidFill>
                <a:effectLst/>
                <a:uLnTx/>
                <a:uFillTx/>
                <a:cs typeface="+mn-ea"/>
                <a:sym typeface="+mn-lt"/>
              </a:rPr>
              <a:t>使用「流量投放」针对转化漏斗中的关键指标做提升，加速直播间的转化</a:t>
            </a:r>
          </a:p>
        </p:txBody>
      </p:sp>
      <p:sp>
        <p:nvSpPr>
          <p:cNvPr id="29" name="熊大的PPT宝库15"/>
          <p:cNvSpPr/>
          <p:nvPr/>
        </p:nvSpPr>
        <p:spPr>
          <a:xfrm>
            <a:off x="592442" y="2123989"/>
            <a:ext cx="4256080" cy="437811"/>
          </a:xfrm>
          <a:custGeom>
            <a:avLst/>
            <a:gdLst>
              <a:gd name="connsiteX0" fmla="*/ 2128040 w 4256080"/>
              <a:gd name="connsiteY0" fmla="*/ 0 h 328464"/>
              <a:gd name="connsiteX1" fmla="*/ 4070386 w 4256080"/>
              <a:gd name="connsiteY1" fmla="*/ 230559 h 328464"/>
              <a:gd name="connsiteX2" fmla="*/ 4256080 w 4256080"/>
              <a:gd name="connsiteY2" fmla="*/ 284520 h 328464"/>
              <a:gd name="connsiteX3" fmla="*/ 4250015 w 4256080"/>
              <a:gd name="connsiteY3" fmla="*/ 289524 h 328464"/>
              <a:gd name="connsiteX4" fmla="*/ 4122535 w 4256080"/>
              <a:gd name="connsiteY4" fmla="*/ 328464 h 328464"/>
              <a:gd name="connsiteX5" fmla="*/ 133545 w 4256080"/>
              <a:gd name="connsiteY5" fmla="*/ 328464 h 328464"/>
              <a:gd name="connsiteX6" fmla="*/ 6065 w 4256080"/>
              <a:gd name="connsiteY6" fmla="*/ 289524 h 328464"/>
              <a:gd name="connsiteX7" fmla="*/ 0 w 4256080"/>
              <a:gd name="connsiteY7" fmla="*/ 284520 h 328464"/>
              <a:gd name="connsiteX8" fmla="*/ 185694 w 4256080"/>
              <a:gd name="connsiteY8" fmla="*/ 230559 h 328464"/>
              <a:gd name="connsiteX9" fmla="*/ 2128040 w 4256080"/>
              <a:gd name="connsiteY9" fmla="*/ 0 h 328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56080" h="328464">
                <a:moveTo>
                  <a:pt x="2128040" y="0"/>
                </a:moveTo>
                <a:cubicBezTo>
                  <a:pt x="2847529" y="0"/>
                  <a:pt x="3515932" y="84996"/>
                  <a:pt x="4070386" y="230559"/>
                </a:cubicBezTo>
                <a:lnTo>
                  <a:pt x="4256080" y="284520"/>
                </a:lnTo>
                <a:lnTo>
                  <a:pt x="4250015" y="289524"/>
                </a:lnTo>
                <a:cubicBezTo>
                  <a:pt x="4213625" y="314109"/>
                  <a:pt x="4169757" y="328464"/>
                  <a:pt x="4122535" y="328464"/>
                </a:cubicBezTo>
                <a:lnTo>
                  <a:pt x="133545" y="328464"/>
                </a:lnTo>
                <a:cubicBezTo>
                  <a:pt x="86324" y="328464"/>
                  <a:pt x="42455" y="314109"/>
                  <a:pt x="6065" y="289524"/>
                </a:cubicBezTo>
                <a:lnTo>
                  <a:pt x="0" y="284520"/>
                </a:lnTo>
                <a:lnTo>
                  <a:pt x="185694" y="230559"/>
                </a:lnTo>
                <a:cubicBezTo>
                  <a:pt x="740148" y="84996"/>
                  <a:pt x="1408551" y="0"/>
                  <a:pt x="2128040" y="0"/>
                </a:cubicBezTo>
                <a:close/>
              </a:path>
            </a:pathLst>
          </a:cu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1" name="熊大的PPT宝库16"/>
          <p:cNvSpPr txBox="1"/>
          <p:nvPr/>
        </p:nvSpPr>
        <p:spPr>
          <a:xfrm>
            <a:off x="2104929" y="2277877"/>
            <a:ext cx="1231106"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规划直播策略</a:t>
            </a:r>
          </a:p>
        </p:txBody>
      </p:sp>
      <p:sp>
        <p:nvSpPr>
          <p:cNvPr id="32" name="熊大的PPT宝库17"/>
          <p:cNvSpPr txBox="1"/>
          <p:nvPr/>
        </p:nvSpPr>
        <p:spPr>
          <a:xfrm>
            <a:off x="6610029" y="2277877"/>
            <a:ext cx="1231106"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规划直播策略</a:t>
            </a:r>
          </a:p>
        </p:txBody>
      </p:sp>
      <p:sp>
        <p:nvSpPr>
          <p:cNvPr id="34" name="熊大的PPT宝库18"/>
          <p:cNvSpPr/>
          <p:nvPr/>
        </p:nvSpPr>
        <p:spPr>
          <a:xfrm>
            <a:off x="9372421" y="2179768"/>
            <a:ext cx="2180483" cy="369332"/>
          </a:xfrm>
          <a:custGeom>
            <a:avLst/>
            <a:gdLst>
              <a:gd name="connsiteX0" fmla="*/ 2128040 w 4256080"/>
              <a:gd name="connsiteY0" fmla="*/ 0 h 328464"/>
              <a:gd name="connsiteX1" fmla="*/ 4070386 w 4256080"/>
              <a:gd name="connsiteY1" fmla="*/ 230559 h 328464"/>
              <a:gd name="connsiteX2" fmla="*/ 4256080 w 4256080"/>
              <a:gd name="connsiteY2" fmla="*/ 284520 h 328464"/>
              <a:gd name="connsiteX3" fmla="*/ 4250015 w 4256080"/>
              <a:gd name="connsiteY3" fmla="*/ 289524 h 328464"/>
              <a:gd name="connsiteX4" fmla="*/ 4122535 w 4256080"/>
              <a:gd name="connsiteY4" fmla="*/ 328464 h 328464"/>
              <a:gd name="connsiteX5" fmla="*/ 133545 w 4256080"/>
              <a:gd name="connsiteY5" fmla="*/ 328464 h 328464"/>
              <a:gd name="connsiteX6" fmla="*/ 6065 w 4256080"/>
              <a:gd name="connsiteY6" fmla="*/ 289524 h 328464"/>
              <a:gd name="connsiteX7" fmla="*/ 0 w 4256080"/>
              <a:gd name="connsiteY7" fmla="*/ 284520 h 328464"/>
              <a:gd name="connsiteX8" fmla="*/ 185694 w 4256080"/>
              <a:gd name="connsiteY8" fmla="*/ 230559 h 328464"/>
              <a:gd name="connsiteX9" fmla="*/ 2128040 w 4256080"/>
              <a:gd name="connsiteY9" fmla="*/ 0 h 328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56080" h="328464">
                <a:moveTo>
                  <a:pt x="2128040" y="0"/>
                </a:moveTo>
                <a:cubicBezTo>
                  <a:pt x="2847529" y="0"/>
                  <a:pt x="3515932" y="84996"/>
                  <a:pt x="4070386" y="230559"/>
                </a:cubicBezTo>
                <a:lnTo>
                  <a:pt x="4256080" y="284520"/>
                </a:lnTo>
                <a:lnTo>
                  <a:pt x="4250015" y="289524"/>
                </a:lnTo>
                <a:cubicBezTo>
                  <a:pt x="4213625" y="314109"/>
                  <a:pt x="4169757" y="328464"/>
                  <a:pt x="4122535" y="328464"/>
                </a:cubicBezTo>
                <a:lnTo>
                  <a:pt x="133545" y="328464"/>
                </a:lnTo>
                <a:cubicBezTo>
                  <a:pt x="86324" y="328464"/>
                  <a:pt x="42455" y="314109"/>
                  <a:pt x="6065" y="289524"/>
                </a:cubicBezTo>
                <a:lnTo>
                  <a:pt x="0" y="284520"/>
                </a:lnTo>
                <a:lnTo>
                  <a:pt x="185694" y="230559"/>
                </a:lnTo>
                <a:cubicBezTo>
                  <a:pt x="740148" y="84996"/>
                  <a:pt x="1408551" y="0"/>
                  <a:pt x="2128040" y="0"/>
                </a:cubicBezTo>
                <a:close/>
              </a:path>
            </a:pathLst>
          </a:cu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5" name="熊大的PPT宝库19"/>
          <p:cNvSpPr txBox="1"/>
          <p:nvPr/>
        </p:nvSpPr>
        <p:spPr>
          <a:xfrm>
            <a:off x="9848689" y="2277877"/>
            <a:ext cx="1231106"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诊断复盘数据</a:t>
            </a:r>
          </a:p>
        </p:txBody>
      </p:sp>
      <p:sp>
        <p:nvSpPr>
          <p:cNvPr id="36" name="熊大的PPT宝库20"/>
          <p:cNvSpPr/>
          <p:nvPr/>
        </p:nvSpPr>
        <p:spPr>
          <a:xfrm>
            <a:off x="497982" y="2743200"/>
            <a:ext cx="848218" cy="1553001"/>
          </a:xfrm>
          <a:prstGeom prst="roundRect">
            <a:avLst>
              <a:gd name="adj" fmla="val 9181"/>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7" name="熊大的PPT宝库21"/>
          <p:cNvSpPr/>
          <p:nvPr/>
        </p:nvSpPr>
        <p:spPr>
          <a:xfrm>
            <a:off x="497982" y="4398170"/>
            <a:ext cx="848218" cy="720000"/>
          </a:xfrm>
          <a:prstGeom prst="roundRect">
            <a:avLst>
              <a:gd name="adj" fmla="val 7848"/>
            </a:avLst>
          </a:prstGeom>
          <a:solidFill>
            <a:schemeClr val="accent1">
              <a:lumMod val="40000"/>
              <a:lumOff val="6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8" name="熊大的PPT宝库22"/>
          <p:cNvSpPr/>
          <p:nvPr/>
        </p:nvSpPr>
        <p:spPr>
          <a:xfrm>
            <a:off x="497982" y="5197244"/>
            <a:ext cx="848218" cy="1044000"/>
          </a:xfrm>
          <a:prstGeom prst="roundRect">
            <a:avLst>
              <a:gd name="adj" fmla="val 12175"/>
            </a:avLst>
          </a:prstGeom>
          <a:gradFill>
            <a:gsLst>
              <a:gs pos="100000">
                <a:schemeClr val="accent1"/>
              </a:gs>
              <a:gs pos="0">
                <a:schemeClr val="accent1">
                  <a:alpha val="7600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9" name="熊大的PPT宝库23"/>
          <p:cNvSpPr/>
          <p:nvPr/>
        </p:nvSpPr>
        <p:spPr>
          <a:xfrm>
            <a:off x="1414043" y="2732431"/>
            <a:ext cx="2182321" cy="3498044"/>
          </a:xfrm>
          <a:prstGeom prst="roundRect">
            <a:avLst>
              <a:gd name="adj" fmla="val 4971"/>
            </a:avLst>
          </a:prstGeom>
          <a:solidFill>
            <a:schemeClr val="bg1">
              <a:lumMod val="95000"/>
              <a:alpha val="9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0" name="熊大的PPT宝库24"/>
          <p:cNvSpPr/>
          <p:nvPr/>
        </p:nvSpPr>
        <p:spPr>
          <a:xfrm>
            <a:off x="3757361" y="2743200"/>
            <a:ext cx="1758897" cy="3498044"/>
          </a:xfrm>
          <a:prstGeom prst="roundRect">
            <a:avLst>
              <a:gd name="adj" fmla="val 4971"/>
            </a:avLst>
          </a:prstGeom>
          <a:solidFill>
            <a:schemeClr val="bg1">
              <a:lumMod val="95000"/>
              <a:alpha val="9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1" name="熊大的PPT宝库25"/>
          <p:cNvSpPr/>
          <p:nvPr/>
        </p:nvSpPr>
        <p:spPr>
          <a:xfrm>
            <a:off x="5630799" y="2743200"/>
            <a:ext cx="3394783" cy="3498044"/>
          </a:xfrm>
          <a:prstGeom prst="roundRect">
            <a:avLst>
              <a:gd name="adj" fmla="val 4971"/>
            </a:avLst>
          </a:prstGeom>
          <a:solidFill>
            <a:schemeClr val="bg1">
              <a:lumMod val="95000"/>
              <a:alpha val="9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2" name="熊大的PPT宝库26"/>
          <p:cNvSpPr/>
          <p:nvPr/>
        </p:nvSpPr>
        <p:spPr>
          <a:xfrm>
            <a:off x="9140123" y="2743200"/>
            <a:ext cx="2548119" cy="3498044"/>
          </a:xfrm>
          <a:prstGeom prst="roundRect">
            <a:avLst>
              <a:gd name="adj" fmla="val 4971"/>
            </a:avLst>
          </a:prstGeom>
          <a:solidFill>
            <a:schemeClr val="bg1">
              <a:lumMod val="95000"/>
              <a:alpha val="9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3" name="熊大的PPT宝库27"/>
          <p:cNvSpPr/>
          <p:nvPr/>
        </p:nvSpPr>
        <p:spPr>
          <a:xfrm>
            <a:off x="707274" y="2915037"/>
            <a:ext cx="429634" cy="609685"/>
          </a:xfrm>
          <a:custGeom>
            <a:avLst/>
            <a:gdLst>
              <a:gd name="connsiteX0" fmla="*/ 81837 w 428568"/>
              <a:gd name="connsiteY0" fmla="*/ 220627 h 608172"/>
              <a:gd name="connsiteX1" fmla="*/ 86232 w 428568"/>
              <a:gd name="connsiteY1" fmla="*/ 243973 h 608172"/>
              <a:gd name="connsiteX2" fmla="*/ 95304 w 428568"/>
              <a:gd name="connsiteY2" fmla="*/ 269747 h 608172"/>
              <a:gd name="connsiteX3" fmla="*/ 110921 w 428568"/>
              <a:gd name="connsiteY3" fmla="*/ 220720 h 608172"/>
              <a:gd name="connsiteX4" fmla="*/ 147954 w 428568"/>
              <a:gd name="connsiteY4" fmla="*/ 241172 h 608172"/>
              <a:gd name="connsiteX5" fmla="*/ 148047 w 428568"/>
              <a:gd name="connsiteY5" fmla="*/ 241172 h 608172"/>
              <a:gd name="connsiteX6" fmla="*/ 148234 w 428568"/>
              <a:gd name="connsiteY6" fmla="*/ 241172 h 608172"/>
              <a:gd name="connsiteX7" fmla="*/ 185267 w 428568"/>
              <a:gd name="connsiteY7" fmla="*/ 220720 h 608172"/>
              <a:gd name="connsiteX8" fmla="*/ 200791 w 428568"/>
              <a:gd name="connsiteY8" fmla="*/ 269747 h 608172"/>
              <a:gd name="connsiteX9" fmla="*/ 209955 w 428568"/>
              <a:gd name="connsiteY9" fmla="*/ 243973 h 608172"/>
              <a:gd name="connsiteX10" fmla="*/ 214257 w 428568"/>
              <a:gd name="connsiteY10" fmla="*/ 220627 h 608172"/>
              <a:gd name="connsiteX11" fmla="*/ 218652 w 428568"/>
              <a:gd name="connsiteY11" fmla="*/ 243973 h 608172"/>
              <a:gd name="connsiteX12" fmla="*/ 227723 w 428568"/>
              <a:gd name="connsiteY12" fmla="*/ 269747 h 608172"/>
              <a:gd name="connsiteX13" fmla="*/ 243341 w 428568"/>
              <a:gd name="connsiteY13" fmla="*/ 220720 h 608172"/>
              <a:gd name="connsiteX14" fmla="*/ 280374 w 428568"/>
              <a:gd name="connsiteY14" fmla="*/ 241172 h 608172"/>
              <a:gd name="connsiteX15" fmla="*/ 280467 w 428568"/>
              <a:gd name="connsiteY15" fmla="*/ 241172 h 608172"/>
              <a:gd name="connsiteX16" fmla="*/ 280654 w 428568"/>
              <a:gd name="connsiteY16" fmla="*/ 241172 h 608172"/>
              <a:gd name="connsiteX17" fmla="*/ 317687 w 428568"/>
              <a:gd name="connsiteY17" fmla="*/ 220720 h 608172"/>
              <a:gd name="connsiteX18" fmla="*/ 333211 w 428568"/>
              <a:gd name="connsiteY18" fmla="*/ 269747 h 608172"/>
              <a:gd name="connsiteX19" fmla="*/ 342376 w 428568"/>
              <a:gd name="connsiteY19" fmla="*/ 243973 h 608172"/>
              <a:gd name="connsiteX20" fmla="*/ 346677 w 428568"/>
              <a:gd name="connsiteY20" fmla="*/ 220627 h 608172"/>
              <a:gd name="connsiteX21" fmla="*/ 351073 w 428568"/>
              <a:gd name="connsiteY21" fmla="*/ 243973 h 608172"/>
              <a:gd name="connsiteX22" fmla="*/ 360144 w 428568"/>
              <a:gd name="connsiteY22" fmla="*/ 269747 h 608172"/>
              <a:gd name="connsiteX23" fmla="*/ 375761 w 428568"/>
              <a:gd name="connsiteY23" fmla="*/ 220720 h 608172"/>
              <a:gd name="connsiteX24" fmla="*/ 412794 w 428568"/>
              <a:gd name="connsiteY24" fmla="*/ 241172 h 608172"/>
              <a:gd name="connsiteX25" fmla="*/ 422987 w 428568"/>
              <a:gd name="connsiteY25" fmla="*/ 250137 h 608172"/>
              <a:gd name="connsiteX26" fmla="*/ 422800 w 428568"/>
              <a:gd name="connsiteY26" fmla="*/ 332035 h 608172"/>
              <a:gd name="connsiteX27" fmla="*/ 401852 w 428568"/>
              <a:gd name="connsiteY27" fmla="*/ 379474 h 608172"/>
              <a:gd name="connsiteX28" fmla="*/ 395961 w 428568"/>
              <a:gd name="connsiteY28" fmla="*/ 401886 h 608172"/>
              <a:gd name="connsiteX29" fmla="*/ 376042 w 428568"/>
              <a:gd name="connsiteY29" fmla="*/ 597246 h 608172"/>
              <a:gd name="connsiteX30" fmla="*/ 363884 w 428568"/>
              <a:gd name="connsiteY30" fmla="*/ 608172 h 608172"/>
              <a:gd name="connsiteX31" fmla="*/ 346677 w 428568"/>
              <a:gd name="connsiteY31" fmla="*/ 608172 h 608172"/>
              <a:gd name="connsiteX32" fmla="*/ 329470 w 428568"/>
              <a:gd name="connsiteY32" fmla="*/ 608172 h 608172"/>
              <a:gd name="connsiteX33" fmla="*/ 317407 w 428568"/>
              <a:gd name="connsiteY33" fmla="*/ 597246 h 608172"/>
              <a:gd name="connsiteX34" fmla="*/ 297487 w 428568"/>
              <a:gd name="connsiteY34" fmla="*/ 401886 h 608172"/>
              <a:gd name="connsiteX35" fmla="*/ 291596 w 428568"/>
              <a:gd name="connsiteY35" fmla="*/ 379474 h 608172"/>
              <a:gd name="connsiteX36" fmla="*/ 280748 w 428568"/>
              <a:gd name="connsiteY36" fmla="*/ 358182 h 608172"/>
              <a:gd name="connsiteX37" fmla="*/ 269900 w 428568"/>
              <a:gd name="connsiteY37" fmla="*/ 379474 h 608172"/>
              <a:gd name="connsiteX38" fmla="*/ 264008 w 428568"/>
              <a:gd name="connsiteY38" fmla="*/ 401886 h 608172"/>
              <a:gd name="connsiteX39" fmla="*/ 244089 w 428568"/>
              <a:gd name="connsiteY39" fmla="*/ 597246 h 608172"/>
              <a:gd name="connsiteX40" fmla="*/ 232025 w 428568"/>
              <a:gd name="connsiteY40" fmla="*/ 608172 h 608172"/>
              <a:gd name="connsiteX41" fmla="*/ 214818 w 428568"/>
              <a:gd name="connsiteY41" fmla="*/ 608172 h 608172"/>
              <a:gd name="connsiteX42" fmla="*/ 196302 w 428568"/>
              <a:gd name="connsiteY42" fmla="*/ 608172 h 608172"/>
              <a:gd name="connsiteX43" fmla="*/ 184238 w 428568"/>
              <a:gd name="connsiteY43" fmla="*/ 597246 h 608172"/>
              <a:gd name="connsiteX44" fmla="*/ 164319 w 428568"/>
              <a:gd name="connsiteY44" fmla="*/ 401886 h 608172"/>
              <a:gd name="connsiteX45" fmla="*/ 158427 w 428568"/>
              <a:gd name="connsiteY45" fmla="*/ 379474 h 608172"/>
              <a:gd name="connsiteX46" fmla="*/ 147579 w 428568"/>
              <a:gd name="connsiteY46" fmla="*/ 358182 h 608172"/>
              <a:gd name="connsiteX47" fmla="*/ 136732 w 428568"/>
              <a:gd name="connsiteY47" fmla="*/ 379474 h 608172"/>
              <a:gd name="connsiteX48" fmla="*/ 130840 w 428568"/>
              <a:gd name="connsiteY48" fmla="*/ 401886 h 608172"/>
              <a:gd name="connsiteX49" fmla="*/ 110921 w 428568"/>
              <a:gd name="connsiteY49" fmla="*/ 597246 h 608172"/>
              <a:gd name="connsiteX50" fmla="*/ 98857 w 428568"/>
              <a:gd name="connsiteY50" fmla="*/ 608172 h 608172"/>
              <a:gd name="connsiteX51" fmla="*/ 81650 w 428568"/>
              <a:gd name="connsiteY51" fmla="*/ 608172 h 608172"/>
              <a:gd name="connsiteX52" fmla="*/ 64443 w 428568"/>
              <a:gd name="connsiteY52" fmla="*/ 608172 h 608172"/>
              <a:gd name="connsiteX53" fmla="*/ 52286 w 428568"/>
              <a:gd name="connsiteY53" fmla="*/ 597246 h 608172"/>
              <a:gd name="connsiteX54" fmla="*/ 32367 w 428568"/>
              <a:gd name="connsiteY54" fmla="*/ 401886 h 608172"/>
              <a:gd name="connsiteX55" fmla="*/ 26475 w 428568"/>
              <a:gd name="connsiteY55" fmla="*/ 379474 h 608172"/>
              <a:gd name="connsiteX56" fmla="*/ 5527 w 428568"/>
              <a:gd name="connsiteY56" fmla="*/ 332035 h 608172"/>
              <a:gd name="connsiteX57" fmla="*/ 5527 w 428568"/>
              <a:gd name="connsiteY57" fmla="*/ 250137 h 608172"/>
              <a:gd name="connsiteX58" fmla="*/ 15814 w 428568"/>
              <a:gd name="connsiteY58" fmla="*/ 241172 h 608172"/>
              <a:gd name="connsiteX59" fmla="*/ 52847 w 428568"/>
              <a:gd name="connsiteY59" fmla="*/ 220720 h 608172"/>
              <a:gd name="connsiteX60" fmla="*/ 68371 w 428568"/>
              <a:gd name="connsiteY60" fmla="*/ 269747 h 608172"/>
              <a:gd name="connsiteX61" fmla="*/ 77535 w 428568"/>
              <a:gd name="connsiteY61" fmla="*/ 243973 h 608172"/>
              <a:gd name="connsiteX62" fmla="*/ 81837 w 428568"/>
              <a:gd name="connsiteY62" fmla="*/ 220627 h 608172"/>
              <a:gd name="connsiteX63" fmla="*/ 82793 w 428568"/>
              <a:gd name="connsiteY63" fmla="*/ 109882 h 608172"/>
              <a:gd name="connsiteX64" fmla="*/ 121306 w 428568"/>
              <a:gd name="connsiteY64" fmla="*/ 149365 h 608172"/>
              <a:gd name="connsiteX65" fmla="*/ 82980 w 428568"/>
              <a:gd name="connsiteY65" fmla="*/ 209477 h 608172"/>
              <a:gd name="connsiteX66" fmla="*/ 82793 w 428568"/>
              <a:gd name="connsiteY66" fmla="*/ 209477 h 608172"/>
              <a:gd name="connsiteX67" fmla="*/ 82513 w 428568"/>
              <a:gd name="connsiteY67" fmla="*/ 209477 h 608172"/>
              <a:gd name="connsiteX68" fmla="*/ 44281 w 428568"/>
              <a:gd name="connsiteY68" fmla="*/ 149365 h 608172"/>
              <a:gd name="connsiteX69" fmla="*/ 82793 w 428568"/>
              <a:gd name="connsiteY69" fmla="*/ 109882 h 608172"/>
              <a:gd name="connsiteX70" fmla="*/ 346907 w 428568"/>
              <a:gd name="connsiteY70" fmla="*/ 109741 h 608172"/>
              <a:gd name="connsiteX71" fmla="*/ 385430 w 428568"/>
              <a:gd name="connsiteY71" fmla="*/ 149252 h 608172"/>
              <a:gd name="connsiteX72" fmla="*/ 347094 w 428568"/>
              <a:gd name="connsiteY72" fmla="*/ 209406 h 608172"/>
              <a:gd name="connsiteX73" fmla="*/ 346907 w 428568"/>
              <a:gd name="connsiteY73" fmla="*/ 209406 h 608172"/>
              <a:gd name="connsiteX74" fmla="*/ 346627 w 428568"/>
              <a:gd name="connsiteY74" fmla="*/ 209406 h 608172"/>
              <a:gd name="connsiteX75" fmla="*/ 308385 w 428568"/>
              <a:gd name="connsiteY75" fmla="*/ 149252 h 608172"/>
              <a:gd name="connsiteX76" fmla="*/ 346907 w 428568"/>
              <a:gd name="connsiteY76" fmla="*/ 109741 h 608172"/>
              <a:gd name="connsiteX77" fmla="*/ 214845 w 428568"/>
              <a:gd name="connsiteY77" fmla="*/ 109741 h 608172"/>
              <a:gd name="connsiteX78" fmla="*/ 253398 w 428568"/>
              <a:gd name="connsiteY78" fmla="*/ 149252 h 608172"/>
              <a:gd name="connsiteX79" fmla="*/ 215032 w 428568"/>
              <a:gd name="connsiteY79" fmla="*/ 209406 h 608172"/>
              <a:gd name="connsiteX80" fmla="*/ 214845 w 428568"/>
              <a:gd name="connsiteY80" fmla="*/ 209406 h 608172"/>
              <a:gd name="connsiteX81" fmla="*/ 214564 w 428568"/>
              <a:gd name="connsiteY81" fmla="*/ 209406 h 608172"/>
              <a:gd name="connsiteX82" fmla="*/ 176292 w 428568"/>
              <a:gd name="connsiteY82" fmla="*/ 149252 h 608172"/>
              <a:gd name="connsiteX83" fmla="*/ 214845 w 428568"/>
              <a:gd name="connsiteY83" fmla="*/ 109741 h 608172"/>
              <a:gd name="connsiteX84" fmla="*/ 281435 w 428568"/>
              <a:gd name="connsiteY84" fmla="*/ 12 h 608172"/>
              <a:gd name="connsiteX85" fmla="*/ 319947 w 428568"/>
              <a:gd name="connsiteY85" fmla="*/ 39523 h 608172"/>
              <a:gd name="connsiteX86" fmla="*/ 281622 w 428568"/>
              <a:gd name="connsiteY86" fmla="*/ 99677 h 608172"/>
              <a:gd name="connsiteX87" fmla="*/ 281435 w 428568"/>
              <a:gd name="connsiteY87" fmla="*/ 99677 h 608172"/>
              <a:gd name="connsiteX88" fmla="*/ 281154 w 428568"/>
              <a:gd name="connsiteY88" fmla="*/ 99677 h 608172"/>
              <a:gd name="connsiteX89" fmla="*/ 242922 w 428568"/>
              <a:gd name="connsiteY89" fmla="*/ 39523 h 608172"/>
              <a:gd name="connsiteX90" fmla="*/ 281435 w 428568"/>
              <a:gd name="connsiteY90" fmla="*/ 12 h 608172"/>
              <a:gd name="connsiteX91" fmla="*/ 149161 w 428568"/>
              <a:gd name="connsiteY91" fmla="*/ 12 h 608172"/>
              <a:gd name="connsiteX92" fmla="*/ 187683 w 428568"/>
              <a:gd name="connsiteY92" fmla="*/ 39523 h 608172"/>
              <a:gd name="connsiteX93" fmla="*/ 149441 w 428568"/>
              <a:gd name="connsiteY93" fmla="*/ 99677 h 608172"/>
              <a:gd name="connsiteX94" fmla="*/ 149161 w 428568"/>
              <a:gd name="connsiteY94" fmla="*/ 99677 h 608172"/>
              <a:gd name="connsiteX95" fmla="*/ 148974 w 428568"/>
              <a:gd name="connsiteY95" fmla="*/ 99677 h 608172"/>
              <a:gd name="connsiteX96" fmla="*/ 110638 w 428568"/>
              <a:gd name="connsiteY96" fmla="*/ 39523 h 608172"/>
              <a:gd name="connsiteX97" fmla="*/ 149161 w 428568"/>
              <a:gd name="connsiteY97" fmla="*/ 12 h 60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428568" h="608172">
                <a:moveTo>
                  <a:pt x="81837" y="220627"/>
                </a:moveTo>
                <a:cubicBezTo>
                  <a:pt x="84362" y="220627"/>
                  <a:pt x="102598" y="221374"/>
                  <a:pt x="86232" y="243973"/>
                </a:cubicBezTo>
                <a:lnTo>
                  <a:pt x="95304" y="269747"/>
                </a:lnTo>
                <a:lnTo>
                  <a:pt x="110921" y="220720"/>
                </a:lnTo>
                <a:cubicBezTo>
                  <a:pt x="110921" y="220720"/>
                  <a:pt x="131401" y="228938"/>
                  <a:pt x="147954" y="241172"/>
                </a:cubicBezTo>
                <a:lnTo>
                  <a:pt x="148047" y="241172"/>
                </a:lnTo>
                <a:lnTo>
                  <a:pt x="148234" y="241172"/>
                </a:lnTo>
                <a:cubicBezTo>
                  <a:pt x="164880" y="228938"/>
                  <a:pt x="185267" y="220720"/>
                  <a:pt x="185267" y="220720"/>
                </a:cubicBezTo>
                <a:lnTo>
                  <a:pt x="200791" y="269747"/>
                </a:lnTo>
                <a:lnTo>
                  <a:pt x="209955" y="243973"/>
                </a:lnTo>
                <a:cubicBezTo>
                  <a:pt x="193590" y="221187"/>
                  <a:pt x="211826" y="220627"/>
                  <a:pt x="214257" y="220627"/>
                </a:cubicBezTo>
                <a:cubicBezTo>
                  <a:pt x="216782" y="220627"/>
                  <a:pt x="235018" y="221374"/>
                  <a:pt x="218652" y="243973"/>
                </a:cubicBezTo>
                <a:lnTo>
                  <a:pt x="227723" y="269747"/>
                </a:lnTo>
                <a:lnTo>
                  <a:pt x="243341" y="220720"/>
                </a:lnTo>
                <a:cubicBezTo>
                  <a:pt x="243341" y="220720"/>
                  <a:pt x="263821" y="228938"/>
                  <a:pt x="280374" y="241172"/>
                </a:cubicBezTo>
                <a:lnTo>
                  <a:pt x="280467" y="241172"/>
                </a:lnTo>
                <a:lnTo>
                  <a:pt x="280654" y="241172"/>
                </a:lnTo>
                <a:cubicBezTo>
                  <a:pt x="297300" y="228938"/>
                  <a:pt x="317687" y="220720"/>
                  <a:pt x="317687" y="220720"/>
                </a:cubicBezTo>
                <a:lnTo>
                  <a:pt x="333211" y="269747"/>
                </a:lnTo>
                <a:lnTo>
                  <a:pt x="342376" y="243973"/>
                </a:lnTo>
                <a:cubicBezTo>
                  <a:pt x="326010" y="221187"/>
                  <a:pt x="344246" y="220627"/>
                  <a:pt x="346677" y="220627"/>
                </a:cubicBezTo>
                <a:cubicBezTo>
                  <a:pt x="349202" y="220627"/>
                  <a:pt x="367438" y="221374"/>
                  <a:pt x="351073" y="243973"/>
                </a:cubicBezTo>
                <a:lnTo>
                  <a:pt x="360144" y="269747"/>
                </a:lnTo>
                <a:lnTo>
                  <a:pt x="375761" y="220720"/>
                </a:lnTo>
                <a:cubicBezTo>
                  <a:pt x="375761" y="220720"/>
                  <a:pt x="396241" y="228938"/>
                  <a:pt x="412794" y="241172"/>
                </a:cubicBezTo>
                <a:cubicBezTo>
                  <a:pt x="417189" y="244347"/>
                  <a:pt x="419153" y="246214"/>
                  <a:pt x="422987" y="250137"/>
                </a:cubicBezTo>
                <a:cubicBezTo>
                  <a:pt x="432245" y="259195"/>
                  <a:pt x="428411" y="312517"/>
                  <a:pt x="422800" y="332035"/>
                </a:cubicBezTo>
                <a:cubicBezTo>
                  <a:pt x="417376" y="351552"/>
                  <a:pt x="401852" y="379474"/>
                  <a:pt x="401852" y="379474"/>
                </a:cubicBezTo>
                <a:cubicBezTo>
                  <a:pt x="398673" y="386571"/>
                  <a:pt x="396709" y="394135"/>
                  <a:pt x="395961" y="401886"/>
                </a:cubicBezTo>
                <a:lnTo>
                  <a:pt x="376042" y="597246"/>
                </a:lnTo>
                <a:cubicBezTo>
                  <a:pt x="375387" y="603503"/>
                  <a:pt x="370150" y="608172"/>
                  <a:pt x="363884" y="608172"/>
                </a:cubicBezTo>
                <a:lnTo>
                  <a:pt x="346677" y="608172"/>
                </a:lnTo>
                <a:lnTo>
                  <a:pt x="329470" y="608172"/>
                </a:lnTo>
                <a:cubicBezTo>
                  <a:pt x="323298" y="608172"/>
                  <a:pt x="318061" y="603503"/>
                  <a:pt x="317407" y="597246"/>
                </a:cubicBezTo>
                <a:lnTo>
                  <a:pt x="297487" y="401886"/>
                </a:lnTo>
                <a:cubicBezTo>
                  <a:pt x="296739" y="394135"/>
                  <a:pt x="294682" y="386571"/>
                  <a:pt x="291596" y="379474"/>
                </a:cubicBezTo>
                <a:cubicBezTo>
                  <a:pt x="291596" y="379474"/>
                  <a:pt x="286265" y="370042"/>
                  <a:pt x="280748" y="358182"/>
                </a:cubicBezTo>
                <a:cubicBezTo>
                  <a:pt x="275230" y="370042"/>
                  <a:pt x="269900" y="379474"/>
                  <a:pt x="269900" y="379474"/>
                </a:cubicBezTo>
                <a:cubicBezTo>
                  <a:pt x="266814" y="386571"/>
                  <a:pt x="264757" y="394135"/>
                  <a:pt x="264008" y="401886"/>
                </a:cubicBezTo>
                <a:lnTo>
                  <a:pt x="244089" y="597246"/>
                </a:lnTo>
                <a:cubicBezTo>
                  <a:pt x="243435" y="603503"/>
                  <a:pt x="238198" y="608172"/>
                  <a:pt x="232025" y="608172"/>
                </a:cubicBezTo>
                <a:lnTo>
                  <a:pt x="214818" y="608172"/>
                </a:lnTo>
                <a:lnTo>
                  <a:pt x="196302" y="608172"/>
                </a:lnTo>
                <a:cubicBezTo>
                  <a:pt x="190130" y="608172"/>
                  <a:pt x="184893" y="603503"/>
                  <a:pt x="184238" y="597246"/>
                </a:cubicBezTo>
                <a:lnTo>
                  <a:pt x="164319" y="401886"/>
                </a:lnTo>
                <a:cubicBezTo>
                  <a:pt x="163571" y="394135"/>
                  <a:pt x="161514" y="386571"/>
                  <a:pt x="158427" y="379474"/>
                </a:cubicBezTo>
                <a:cubicBezTo>
                  <a:pt x="158427" y="379474"/>
                  <a:pt x="153097" y="370042"/>
                  <a:pt x="147579" y="358182"/>
                </a:cubicBezTo>
                <a:cubicBezTo>
                  <a:pt x="142062" y="370042"/>
                  <a:pt x="136732" y="379474"/>
                  <a:pt x="136732" y="379474"/>
                </a:cubicBezTo>
                <a:cubicBezTo>
                  <a:pt x="133645" y="386571"/>
                  <a:pt x="131588" y="394135"/>
                  <a:pt x="130840" y="401886"/>
                </a:cubicBezTo>
                <a:lnTo>
                  <a:pt x="110921" y="597246"/>
                </a:lnTo>
                <a:cubicBezTo>
                  <a:pt x="110266" y="603503"/>
                  <a:pt x="105029" y="608172"/>
                  <a:pt x="98857" y="608172"/>
                </a:cubicBezTo>
                <a:lnTo>
                  <a:pt x="81650" y="608172"/>
                </a:lnTo>
                <a:lnTo>
                  <a:pt x="64443" y="608172"/>
                </a:lnTo>
                <a:cubicBezTo>
                  <a:pt x="58177" y="608172"/>
                  <a:pt x="52940" y="603503"/>
                  <a:pt x="52286" y="597246"/>
                </a:cubicBezTo>
                <a:lnTo>
                  <a:pt x="32367" y="401886"/>
                </a:lnTo>
                <a:cubicBezTo>
                  <a:pt x="31619" y="394135"/>
                  <a:pt x="29655" y="386571"/>
                  <a:pt x="26475" y="379474"/>
                </a:cubicBezTo>
                <a:cubicBezTo>
                  <a:pt x="26475" y="379474"/>
                  <a:pt x="10951" y="351552"/>
                  <a:pt x="5527" y="332035"/>
                </a:cubicBezTo>
                <a:cubicBezTo>
                  <a:pt x="197" y="312517"/>
                  <a:pt x="-3637" y="259288"/>
                  <a:pt x="5527" y="250137"/>
                </a:cubicBezTo>
                <a:cubicBezTo>
                  <a:pt x="9455" y="246214"/>
                  <a:pt x="11419" y="244347"/>
                  <a:pt x="15814" y="241172"/>
                </a:cubicBezTo>
                <a:cubicBezTo>
                  <a:pt x="32460" y="228938"/>
                  <a:pt x="52847" y="220720"/>
                  <a:pt x="52847" y="220720"/>
                </a:cubicBezTo>
                <a:lnTo>
                  <a:pt x="68371" y="269747"/>
                </a:lnTo>
                <a:lnTo>
                  <a:pt x="77535" y="243973"/>
                </a:lnTo>
                <a:cubicBezTo>
                  <a:pt x="61170" y="221187"/>
                  <a:pt x="79406" y="220627"/>
                  <a:pt x="81837" y="220627"/>
                </a:cubicBezTo>
                <a:close/>
                <a:moveTo>
                  <a:pt x="82793" y="109882"/>
                </a:moveTo>
                <a:cubicBezTo>
                  <a:pt x="85971" y="109788"/>
                  <a:pt x="119436" y="109415"/>
                  <a:pt x="121306" y="149365"/>
                </a:cubicBezTo>
                <a:cubicBezTo>
                  <a:pt x="121306" y="149365"/>
                  <a:pt x="127756" y="209010"/>
                  <a:pt x="82980" y="209477"/>
                </a:cubicBezTo>
                <a:lnTo>
                  <a:pt x="82793" y="209477"/>
                </a:lnTo>
                <a:lnTo>
                  <a:pt x="82513" y="209477"/>
                </a:lnTo>
                <a:cubicBezTo>
                  <a:pt x="37644" y="209010"/>
                  <a:pt x="44094" y="149272"/>
                  <a:pt x="44281" y="149365"/>
                </a:cubicBezTo>
                <a:cubicBezTo>
                  <a:pt x="45963" y="109415"/>
                  <a:pt x="79522" y="109788"/>
                  <a:pt x="82793" y="109882"/>
                </a:cubicBezTo>
                <a:close/>
                <a:moveTo>
                  <a:pt x="346907" y="109741"/>
                </a:moveTo>
                <a:cubicBezTo>
                  <a:pt x="350087" y="109648"/>
                  <a:pt x="383560" y="109274"/>
                  <a:pt x="385430" y="149252"/>
                </a:cubicBezTo>
                <a:cubicBezTo>
                  <a:pt x="385430" y="149252"/>
                  <a:pt x="391881" y="208846"/>
                  <a:pt x="347094" y="209406"/>
                </a:cubicBezTo>
                <a:lnTo>
                  <a:pt x="346907" y="209406"/>
                </a:lnTo>
                <a:lnTo>
                  <a:pt x="346627" y="209406"/>
                </a:lnTo>
                <a:cubicBezTo>
                  <a:pt x="301840" y="209032"/>
                  <a:pt x="308385" y="149252"/>
                  <a:pt x="308385" y="149252"/>
                </a:cubicBezTo>
                <a:cubicBezTo>
                  <a:pt x="310255" y="109367"/>
                  <a:pt x="343635" y="109741"/>
                  <a:pt x="346907" y="109741"/>
                </a:cubicBezTo>
                <a:close/>
                <a:moveTo>
                  <a:pt x="214845" y="109741"/>
                </a:moveTo>
                <a:cubicBezTo>
                  <a:pt x="218026" y="109648"/>
                  <a:pt x="251526" y="109274"/>
                  <a:pt x="253398" y="149252"/>
                </a:cubicBezTo>
                <a:cubicBezTo>
                  <a:pt x="253398" y="149252"/>
                  <a:pt x="259854" y="208846"/>
                  <a:pt x="215032" y="209406"/>
                </a:cubicBezTo>
                <a:lnTo>
                  <a:pt x="214845" y="209406"/>
                </a:lnTo>
                <a:lnTo>
                  <a:pt x="214564" y="209406"/>
                </a:lnTo>
                <a:cubicBezTo>
                  <a:pt x="169742" y="209032"/>
                  <a:pt x="176292" y="149252"/>
                  <a:pt x="176292" y="149252"/>
                </a:cubicBezTo>
                <a:cubicBezTo>
                  <a:pt x="178163" y="109367"/>
                  <a:pt x="211569" y="109741"/>
                  <a:pt x="214845" y="109741"/>
                </a:cubicBezTo>
                <a:close/>
                <a:moveTo>
                  <a:pt x="281435" y="12"/>
                </a:moveTo>
                <a:cubicBezTo>
                  <a:pt x="284613" y="-81"/>
                  <a:pt x="318078" y="-455"/>
                  <a:pt x="319947" y="39523"/>
                </a:cubicBezTo>
                <a:cubicBezTo>
                  <a:pt x="319947" y="39523"/>
                  <a:pt x="326397" y="99210"/>
                  <a:pt x="281622" y="99677"/>
                </a:cubicBezTo>
                <a:lnTo>
                  <a:pt x="281435" y="99677"/>
                </a:lnTo>
                <a:lnTo>
                  <a:pt x="281154" y="99677"/>
                </a:lnTo>
                <a:cubicBezTo>
                  <a:pt x="236285" y="99303"/>
                  <a:pt x="242735" y="39523"/>
                  <a:pt x="242922" y="39523"/>
                </a:cubicBezTo>
                <a:cubicBezTo>
                  <a:pt x="244605" y="-455"/>
                  <a:pt x="278163" y="-81"/>
                  <a:pt x="281435" y="12"/>
                </a:cubicBezTo>
                <a:close/>
                <a:moveTo>
                  <a:pt x="149161" y="12"/>
                </a:moveTo>
                <a:cubicBezTo>
                  <a:pt x="152433" y="-81"/>
                  <a:pt x="185813" y="-455"/>
                  <a:pt x="187683" y="39523"/>
                </a:cubicBezTo>
                <a:cubicBezTo>
                  <a:pt x="187683" y="39523"/>
                  <a:pt x="194228" y="99210"/>
                  <a:pt x="149441" y="99677"/>
                </a:cubicBezTo>
                <a:lnTo>
                  <a:pt x="149161" y="99677"/>
                </a:lnTo>
                <a:lnTo>
                  <a:pt x="148974" y="99677"/>
                </a:lnTo>
                <a:cubicBezTo>
                  <a:pt x="104187" y="99303"/>
                  <a:pt x="110638" y="39523"/>
                  <a:pt x="110638" y="39523"/>
                </a:cubicBezTo>
                <a:cubicBezTo>
                  <a:pt x="112415" y="-455"/>
                  <a:pt x="145981" y="-81"/>
                  <a:pt x="149161" y="1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44" name="熊大的PPT宝库28"/>
          <p:cNvSpPr/>
          <p:nvPr/>
        </p:nvSpPr>
        <p:spPr>
          <a:xfrm>
            <a:off x="741893" y="5305022"/>
            <a:ext cx="360395" cy="371878"/>
          </a:xfrm>
          <a:custGeom>
            <a:avLst/>
            <a:gdLst>
              <a:gd name="T0" fmla="*/ 2003 w 2597"/>
              <a:gd name="T1" fmla="*/ 1085 h 2914"/>
              <a:gd name="T2" fmla="*/ 1796 w 2597"/>
              <a:gd name="T3" fmla="*/ 1305 h 2914"/>
              <a:gd name="T4" fmla="*/ 1608 w 2597"/>
              <a:gd name="T5" fmla="*/ 1588 h 2914"/>
              <a:gd name="T6" fmla="*/ 1490 w 2597"/>
              <a:gd name="T7" fmla="*/ 1660 h 2914"/>
              <a:gd name="T8" fmla="*/ 1298 w 2597"/>
              <a:gd name="T9" fmla="*/ 1696 h 2914"/>
              <a:gd name="T10" fmla="*/ 1107 w 2597"/>
              <a:gd name="T11" fmla="*/ 1660 h 2914"/>
              <a:gd name="T12" fmla="*/ 989 w 2597"/>
              <a:gd name="T13" fmla="*/ 1588 h 2914"/>
              <a:gd name="T14" fmla="*/ 801 w 2597"/>
              <a:gd name="T15" fmla="*/ 1305 h 2914"/>
              <a:gd name="T16" fmla="*/ 593 w 2597"/>
              <a:gd name="T17" fmla="*/ 1085 h 2914"/>
              <a:gd name="T18" fmla="*/ 611 w 2597"/>
              <a:gd name="T19" fmla="*/ 861 h 2914"/>
              <a:gd name="T20" fmla="*/ 665 w 2597"/>
              <a:gd name="T21" fmla="*/ 807 h 2914"/>
              <a:gd name="T22" fmla="*/ 668 w 2597"/>
              <a:gd name="T23" fmla="*/ 739 h 2914"/>
              <a:gd name="T24" fmla="*/ 646 w 2597"/>
              <a:gd name="T25" fmla="*/ 436 h 2914"/>
              <a:gd name="T26" fmla="*/ 900 w 2597"/>
              <a:gd name="T27" fmla="*/ 239 h 2914"/>
              <a:gd name="T28" fmla="*/ 1037 w 2597"/>
              <a:gd name="T29" fmla="*/ 90 h 2914"/>
              <a:gd name="T30" fmla="*/ 1338 w 2597"/>
              <a:gd name="T31" fmla="*/ 0 h 2914"/>
              <a:gd name="T32" fmla="*/ 1741 w 2597"/>
              <a:gd name="T33" fmla="*/ 141 h 2914"/>
              <a:gd name="T34" fmla="*/ 1922 w 2597"/>
              <a:gd name="T35" fmla="*/ 682 h 2914"/>
              <a:gd name="T36" fmla="*/ 1931 w 2597"/>
              <a:gd name="T37" fmla="*/ 807 h 2914"/>
              <a:gd name="T38" fmla="*/ 1985 w 2597"/>
              <a:gd name="T39" fmla="*/ 861 h 2914"/>
              <a:gd name="T40" fmla="*/ 2003 w 2597"/>
              <a:gd name="T41" fmla="*/ 1085 h 2914"/>
              <a:gd name="T42" fmla="*/ 2597 w 2597"/>
              <a:gd name="T43" fmla="*/ 2377 h 2914"/>
              <a:gd name="T44" fmla="*/ 2597 w 2597"/>
              <a:gd name="T45" fmla="*/ 2848 h 2914"/>
              <a:gd name="T46" fmla="*/ 2530 w 2597"/>
              <a:gd name="T47" fmla="*/ 2914 h 2914"/>
              <a:gd name="T48" fmla="*/ 66 w 2597"/>
              <a:gd name="T49" fmla="*/ 2914 h 2914"/>
              <a:gd name="T50" fmla="*/ 0 w 2597"/>
              <a:gd name="T51" fmla="*/ 2848 h 2914"/>
              <a:gd name="T52" fmla="*/ 0 w 2597"/>
              <a:gd name="T53" fmla="*/ 2377 h 2914"/>
              <a:gd name="T54" fmla="*/ 294 w 2597"/>
              <a:gd name="T55" fmla="*/ 1942 h 2914"/>
              <a:gd name="T56" fmla="*/ 877 w 2597"/>
              <a:gd name="T57" fmla="*/ 1709 h 2914"/>
              <a:gd name="T58" fmla="*/ 929 w 2597"/>
              <a:gd name="T59" fmla="*/ 1710 h 2914"/>
              <a:gd name="T60" fmla="*/ 965 w 2597"/>
              <a:gd name="T61" fmla="*/ 1748 h 2914"/>
              <a:gd name="T62" fmla="*/ 1111 w 2597"/>
              <a:gd name="T63" fmla="*/ 2153 h 2914"/>
              <a:gd name="T64" fmla="*/ 1140 w 2597"/>
              <a:gd name="T65" fmla="*/ 2070 h 2914"/>
              <a:gd name="T66" fmla="*/ 1094 w 2597"/>
              <a:gd name="T67" fmla="*/ 1957 h 2914"/>
              <a:gd name="T68" fmla="*/ 1101 w 2597"/>
              <a:gd name="T69" fmla="*/ 1895 h 2914"/>
              <a:gd name="T70" fmla="*/ 1156 w 2597"/>
              <a:gd name="T71" fmla="*/ 1865 h 2914"/>
              <a:gd name="T72" fmla="*/ 1441 w 2597"/>
              <a:gd name="T73" fmla="*/ 1865 h 2914"/>
              <a:gd name="T74" fmla="*/ 1496 w 2597"/>
              <a:gd name="T75" fmla="*/ 1895 h 2914"/>
              <a:gd name="T76" fmla="*/ 1502 w 2597"/>
              <a:gd name="T77" fmla="*/ 1957 h 2914"/>
              <a:gd name="T78" fmla="*/ 1456 w 2597"/>
              <a:gd name="T79" fmla="*/ 2070 h 2914"/>
              <a:gd name="T80" fmla="*/ 1485 w 2597"/>
              <a:gd name="T81" fmla="*/ 2153 h 2914"/>
              <a:gd name="T82" fmla="*/ 1632 w 2597"/>
              <a:gd name="T83" fmla="*/ 1748 h 2914"/>
              <a:gd name="T84" fmla="*/ 1667 w 2597"/>
              <a:gd name="T85" fmla="*/ 1710 h 2914"/>
              <a:gd name="T86" fmla="*/ 1719 w 2597"/>
              <a:gd name="T87" fmla="*/ 1709 h 2914"/>
              <a:gd name="T88" fmla="*/ 2302 w 2597"/>
              <a:gd name="T89" fmla="*/ 1942 h 2914"/>
              <a:gd name="T90" fmla="*/ 2597 w 2597"/>
              <a:gd name="T91" fmla="*/ 2377 h 2914"/>
              <a:gd name="T92" fmla="*/ 2242 w 2597"/>
              <a:gd name="T93" fmla="*/ 2428 h 2914"/>
              <a:gd name="T94" fmla="*/ 2175 w 2597"/>
              <a:gd name="T95" fmla="*/ 2362 h 2914"/>
              <a:gd name="T96" fmla="*/ 1727 w 2597"/>
              <a:gd name="T97" fmla="*/ 2362 h 2914"/>
              <a:gd name="T98" fmla="*/ 1661 w 2597"/>
              <a:gd name="T99" fmla="*/ 2428 h 2914"/>
              <a:gd name="T100" fmla="*/ 1661 w 2597"/>
              <a:gd name="T101" fmla="*/ 2636 h 2914"/>
              <a:gd name="T102" fmla="*/ 1727 w 2597"/>
              <a:gd name="T103" fmla="*/ 2703 h 2914"/>
              <a:gd name="T104" fmla="*/ 2175 w 2597"/>
              <a:gd name="T105" fmla="*/ 2703 h 2914"/>
              <a:gd name="T106" fmla="*/ 2242 w 2597"/>
              <a:gd name="T107" fmla="*/ 2636 h 2914"/>
              <a:gd name="T108" fmla="*/ 2242 w 2597"/>
              <a:gd name="T109" fmla="*/ 2428 h 29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597" h="2914">
                <a:moveTo>
                  <a:pt x="2003" y="1085"/>
                </a:moveTo>
                <a:cubicBezTo>
                  <a:pt x="1958" y="1259"/>
                  <a:pt x="1852" y="1297"/>
                  <a:pt x="1796" y="1305"/>
                </a:cubicBezTo>
                <a:cubicBezTo>
                  <a:pt x="1761" y="1374"/>
                  <a:pt x="1684" y="1516"/>
                  <a:pt x="1608" y="1588"/>
                </a:cubicBezTo>
                <a:cubicBezTo>
                  <a:pt x="1577" y="1616"/>
                  <a:pt x="1538" y="1641"/>
                  <a:pt x="1490" y="1660"/>
                </a:cubicBezTo>
                <a:cubicBezTo>
                  <a:pt x="1429" y="1684"/>
                  <a:pt x="1364" y="1696"/>
                  <a:pt x="1298" y="1696"/>
                </a:cubicBezTo>
                <a:cubicBezTo>
                  <a:pt x="1232" y="1696"/>
                  <a:pt x="1168" y="1684"/>
                  <a:pt x="1107" y="1660"/>
                </a:cubicBezTo>
                <a:cubicBezTo>
                  <a:pt x="1059" y="1641"/>
                  <a:pt x="1019" y="1616"/>
                  <a:pt x="989" y="1588"/>
                </a:cubicBezTo>
                <a:cubicBezTo>
                  <a:pt x="912" y="1516"/>
                  <a:pt x="836" y="1374"/>
                  <a:pt x="801" y="1305"/>
                </a:cubicBezTo>
                <a:cubicBezTo>
                  <a:pt x="744" y="1297"/>
                  <a:pt x="638" y="1259"/>
                  <a:pt x="593" y="1085"/>
                </a:cubicBezTo>
                <a:cubicBezTo>
                  <a:pt x="569" y="993"/>
                  <a:pt x="575" y="917"/>
                  <a:pt x="611" y="861"/>
                </a:cubicBezTo>
                <a:cubicBezTo>
                  <a:pt x="628" y="836"/>
                  <a:pt x="647" y="819"/>
                  <a:pt x="665" y="807"/>
                </a:cubicBezTo>
                <a:cubicBezTo>
                  <a:pt x="665" y="789"/>
                  <a:pt x="666" y="765"/>
                  <a:pt x="668" y="739"/>
                </a:cubicBezTo>
                <a:cubicBezTo>
                  <a:pt x="636" y="693"/>
                  <a:pt x="591" y="595"/>
                  <a:pt x="646" y="436"/>
                </a:cubicBezTo>
                <a:cubicBezTo>
                  <a:pt x="705" y="267"/>
                  <a:pt x="837" y="241"/>
                  <a:pt x="900" y="239"/>
                </a:cubicBezTo>
                <a:cubicBezTo>
                  <a:pt x="922" y="199"/>
                  <a:pt x="963" y="142"/>
                  <a:pt x="1037" y="90"/>
                </a:cubicBezTo>
                <a:cubicBezTo>
                  <a:pt x="1119" y="32"/>
                  <a:pt x="1226" y="0"/>
                  <a:pt x="1338" y="0"/>
                </a:cubicBezTo>
                <a:cubicBezTo>
                  <a:pt x="1477" y="0"/>
                  <a:pt x="1616" y="49"/>
                  <a:pt x="1741" y="141"/>
                </a:cubicBezTo>
                <a:cubicBezTo>
                  <a:pt x="1944" y="290"/>
                  <a:pt x="1926" y="622"/>
                  <a:pt x="1922" y="682"/>
                </a:cubicBezTo>
                <a:cubicBezTo>
                  <a:pt x="1929" y="732"/>
                  <a:pt x="1931" y="776"/>
                  <a:pt x="1931" y="807"/>
                </a:cubicBezTo>
                <a:cubicBezTo>
                  <a:pt x="1949" y="819"/>
                  <a:pt x="1969" y="836"/>
                  <a:pt x="1985" y="861"/>
                </a:cubicBezTo>
                <a:cubicBezTo>
                  <a:pt x="2021" y="917"/>
                  <a:pt x="2028" y="993"/>
                  <a:pt x="2003" y="1085"/>
                </a:cubicBezTo>
                <a:close/>
                <a:moveTo>
                  <a:pt x="2597" y="2377"/>
                </a:moveTo>
                <a:lnTo>
                  <a:pt x="2597" y="2848"/>
                </a:lnTo>
                <a:cubicBezTo>
                  <a:pt x="2597" y="2885"/>
                  <a:pt x="2567" y="2914"/>
                  <a:pt x="2530" y="2914"/>
                </a:cubicBezTo>
                <a:lnTo>
                  <a:pt x="66" y="2914"/>
                </a:lnTo>
                <a:cubicBezTo>
                  <a:pt x="30" y="2914"/>
                  <a:pt x="0" y="2885"/>
                  <a:pt x="0" y="2848"/>
                </a:cubicBezTo>
                <a:lnTo>
                  <a:pt x="0" y="2377"/>
                </a:lnTo>
                <a:cubicBezTo>
                  <a:pt x="0" y="2184"/>
                  <a:pt x="115" y="2014"/>
                  <a:pt x="294" y="1942"/>
                </a:cubicBezTo>
                <a:lnTo>
                  <a:pt x="877" y="1709"/>
                </a:lnTo>
                <a:cubicBezTo>
                  <a:pt x="894" y="1702"/>
                  <a:pt x="913" y="1703"/>
                  <a:pt x="929" y="1710"/>
                </a:cubicBezTo>
                <a:cubicBezTo>
                  <a:pt x="946" y="1717"/>
                  <a:pt x="959" y="1731"/>
                  <a:pt x="965" y="1748"/>
                </a:cubicBezTo>
                <a:lnTo>
                  <a:pt x="1111" y="2153"/>
                </a:lnTo>
                <a:lnTo>
                  <a:pt x="1140" y="2070"/>
                </a:lnTo>
                <a:lnTo>
                  <a:pt x="1094" y="1957"/>
                </a:lnTo>
                <a:cubicBezTo>
                  <a:pt x="1086" y="1936"/>
                  <a:pt x="1088" y="1913"/>
                  <a:pt x="1101" y="1895"/>
                </a:cubicBezTo>
                <a:cubicBezTo>
                  <a:pt x="1113" y="1876"/>
                  <a:pt x="1134" y="1865"/>
                  <a:pt x="1156" y="1865"/>
                </a:cubicBezTo>
                <a:lnTo>
                  <a:pt x="1441" y="1865"/>
                </a:lnTo>
                <a:cubicBezTo>
                  <a:pt x="1463" y="1865"/>
                  <a:pt x="1484" y="1876"/>
                  <a:pt x="1496" y="1895"/>
                </a:cubicBezTo>
                <a:cubicBezTo>
                  <a:pt x="1508" y="1913"/>
                  <a:pt x="1511" y="1936"/>
                  <a:pt x="1502" y="1957"/>
                </a:cubicBezTo>
                <a:lnTo>
                  <a:pt x="1456" y="2070"/>
                </a:lnTo>
                <a:lnTo>
                  <a:pt x="1485" y="2153"/>
                </a:lnTo>
                <a:lnTo>
                  <a:pt x="1632" y="1748"/>
                </a:lnTo>
                <a:cubicBezTo>
                  <a:pt x="1638" y="1731"/>
                  <a:pt x="1651" y="1717"/>
                  <a:pt x="1667" y="1710"/>
                </a:cubicBezTo>
                <a:cubicBezTo>
                  <a:pt x="1684" y="1703"/>
                  <a:pt x="1702" y="1702"/>
                  <a:pt x="1719" y="1709"/>
                </a:cubicBezTo>
                <a:lnTo>
                  <a:pt x="2302" y="1942"/>
                </a:lnTo>
                <a:cubicBezTo>
                  <a:pt x="2481" y="2014"/>
                  <a:pt x="2597" y="2184"/>
                  <a:pt x="2597" y="2377"/>
                </a:cubicBezTo>
                <a:close/>
                <a:moveTo>
                  <a:pt x="2242" y="2428"/>
                </a:moveTo>
                <a:cubicBezTo>
                  <a:pt x="2242" y="2392"/>
                  <a:pt x="2212" y="2362"/>
                  <a:pt x="2175" y="2362"/>
                </a:cubicBezTo>
                <a:lnTo>
                  <a:pt x="1727" y="2362"/>
                </a:lnTo>
                <a:cubicBezTo>
                  <a:pt x="1691" y="2362"/>
                  <a:pt x="1661" y="2392"/>
                  <a:pt x="1661" y="2428"/>
                </a:cubicBezTo>
                <a:lnTo>
                  <a:pt x="1661" y="2636"/>
                </a:lnTo>
                <a:cubicBezTo>
                  <a:pt x="1661" y="2673"/>
                  <a:pt x="1691" y="2703"/>
                  <a:pt x="1727" y="2703"/>
                </a:cubicBezTo>
                <a:lnTo>
                  <a:pt x="2175" y="2703"/>
                </a:lnTo>
                <a:cubicBezTo>
                  <a:pt x="2212" y="2703"/>
                  <a:pt x="2242" y="2673"/>
                  <a:pt x="2242" y="2636"/>
                </a:cubicBezTo>
                <a:lnTo>
                  <a:pt x="2242" y="2428"/>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45" name="熊大的PPT宝库29"/>
          <p:cNvSpPr txBox="1"/>
          <p:nvPr/>
        </p:nvSpPr>
        <p:spPr>
          <a:xfrm>
            <a:off x="519128" y="3779234"/>
            <a:ext cx="820738"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用户视角</a:t>
            </a:r>
          </a:p>
        </p:txBody>
      </p:sp>
      <p:sp>
        <p:nvSpPr>
          <p:cNvPr id="46" name="熊大的PPT宝库30"/>
          <p:cNvSpPr txBox="1"/>
          <p:nvPr/>
        </p:nvSpPr>
        <p:spPr>
          <a:xfrm>
            <a:off x="519128" y="4617567"/>
            <a:ext cx="820738"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关键指标</a:t>
            </a:r>
          </a:p>
        </p:txBody>
      </p:sp>
      <p:sp>
        <p:nvSpPr>
          <p:cNvPr id="47" name="熊大的PPT宝库31"/>
          <p:cNvSpPr txBox="1"/>
          <p:nvPr/>
        </p:nvSpPr>
        <p:spPr>
          <a:xfrm>
            <a:off x="519128" y="5843428"/>
            <a:ext cx="820738"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商家视角</a:t>
            </a:r>
          </a:p>
        </p:txBody>
      </p:sp>
      <p:sp>
        <p:nvSpPr>
          <p:cNvPr id="48" name="熊大的PPT宝库32"/>
          <p:cNvSpPr/>
          <p:nvPr/>
        </p:nvSpPr>
        <p:spPr>
          <a:xfrm>
            <a:off x="1555492" y="3336430"/>
            <a:ext cx="787400" cy="432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9" name="熊大的PPT宝库33"/>
          <p:cNvSpPr/>
          <p:nvPr/>
        </p:nvSpPr>
        <p:spPr>
          <a:xfrm>
            <a:off x="2691845" y="3336430"/>
            <a:ext cx="787400" cy="432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0" name="熊大的PPT宝库34"/>
          <p:cNvSpPr/>
          <p:nvPr/>
        </p:nvSpPr>
        <p:spPr>
          <a:xfrm>
            <a:off x="4211637" y="3336430"/>
            <a:ext cx="787400" cy="432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1" name="熊大的PPT宝库35"/>
          <p:cNvSpPr/>
          <p:nvPr/>
        </p:nvSpPr>
        <p:spPr>
          <a:xfrm>
            <a:off x="5902461" y="3093355"/>
            <a:ext cx="787400" cy="432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2" name="熊大的PPT宝库36"/>
          <p:cNvSpPr/>
          <p:nvPr/>
        </p:nvSpPr>
        <p:spPr>
          <a:xfrm>
            <a:off x="6804402" y="3093355"/>
            <a:ext cx="787400" cy="432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3" name="熊大的PPT宝库37"/>
          <p:cNvSpPr/>
          <p:nvPr/>
        </p:nvSpPr>
        <p:spPr>
          <a:xfrm>
            <a:off x="5902460" y="3645603"/>
            <a:ext cx="1689341" cy="432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4" name="熊大的PPT宝库38"/>
          <p:cNvSpPr/>
          <p:nvPr/>
        </p:nvSpPr>
        <p:spPr>
          <a:xfrm>
            <a:off x="8072630" y="3347234"/>
            <a:ext cx="787400" cy="432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5" name="熊大的PPT宝库39"/>
          <p:cNvSpPr/>
          <p:nvPr/>
        </p:nvSpPr>
        <p:spPr>
          <a:xfrm>
            <a:off x="9383642" y="3347234"/>
            <a:ext cx="787400" cy="432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6" name="熊大的PPT宝库40"/>
          <p:cNvSpPr/>
          <p:nvPr/>
        </p:nvSpPr>
        <p:spPr>
          <a:xfrm>
            <a:off x="10650207" y="3347233"/>
            <a:ext cx="787400" cy="432000"/>
          </a:xfrm>
          <a:prstGeom prst="roundRect">
            <a:avLst/>
          </a:prstGeom>
          <a:gradFill>
            <a:gsLst>
              <a:gs pos="100000">
                <a:schemeClr val="accent1"/>
              </a:gs>
              <a:gs pos="0">
                <a:schemeClr val="accent1">
                  <a:alpha val="7600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7" name="熊大的PPT宝库41"/>
          <p:cNvSpPr txBox="1"/>
          <p:nvPr/>
        </p:nvSpPr>
        <p:spPr>
          <a:xfrm>
            <a:off x="1596532" y="3467792"/>
            <a:ext cx="705321"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看到直播间</a:t>
            </a:r>
          </a:p>
        </p:txBody>
      </p:sp>
      <p:sp>
        <p:nvSpPr>
          <p:cNvPr id="58" name="熊大的PPT宝库42"/>
          <p:cNvSpPr txBox="1"/>
          <p:nvPr/>
        </p:nvSpPr>
        <p:spPr>
          <a:xfrm>
            <a:off x="2732885" y="3467792"/>
            <a:ext cx="705321"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看到直播间</a:t>
            </a:r>
          </a:p>
        </p:txBody>
      </p:sp>
      <p:sp>
        <p:nvSpPr>
          <p:cNvPr id="59" name="熊大的PPT宝库43"/>
          <p:cNvSpPr txBox="1"/>
          <p:nvPr/>
        </p:nvSpPr>
        <p:spPr>
          <a:xfrm>
            <a:off x="4284008" y="3467792"/>
            <a:ext cx="705321"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看到直播间</a:t>
            </a:r>
          </a:p>
        </p:txBody>
      </p:sp>
      <p:sp>
        <p:nvSpPr>
          <p:cNvPr id="60" name="熊大的PPT宝库44"/>
          <p:cNvSpPr txBox="1"/>
          <p:nvPr/>
        </p:nvSpPr>
        <p:spPr>
          <a:xfrm>
            <a:off x="5943501" y="3224717"/>
            <a:ext cx="705321"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点击小房子</a:t>
            </a:r>
          </a:p>
        </p:txBody>
      </p:sp>
      <p:sp>
        <p:nvSpPr>
          <p:cNvPr id="61" name="熊大的PPT宝库45"/>
          <p:cNvSpPr txBox="1"/>
          <p:nvPr/>
        </p:nvSpPr>
        <p:spPr>
          <a:xfrm>
            <a:off x="6915974" y="3224717"/>
            <a:ext cx="564257"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点击货架</a:t>
            </a:r>
          </a:p>
        </p:txBody>
      </p:sp>
      <p:sp>
        <p:nvSpPr>
          <p:cNvPr id="62" name="熊大的PPT宝库46"/>
          <p:cNvSpPr txBox="1"/>
          <p:nvPr/>
        </p:nvSpPr>
        <p:spPr>
          <a:xfrm>
            <a:off x="6394470" y="3776965"/>
            <a:ext cx="705321"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点击讲解卡</a:t>
            </a:r>
          </a:p>
        </p:txBody>
      </p:sp>
      <p:sp>
        <p:nvSpPr>
          <p:cNvPr id="63" name="熊大的PPT宝库47"/>
          <p:cNvSpPr txBox="1"/>
          <p:nvPr/>
        </p:nvSpPr>
        <p:spPr>
          <a:xfrm>
            <a:off x="8113670" y="3478596"/>
            <a:ext cx="705321"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进入详情页</a:t>
            </a:r>
          </a:p>
        </p:txBody>
      </p:sp>
      <p:sp>
        <p:nvSpPr>
          <p:cNvPr id="64" name="熊大的PPT宝库48"/>
          <p:cNvSpPr txBox="1"/>
          <p:nvPr/>
        </p:nvSpPr>
        <p:spPr>
          <a:xfrm>
            <a:off x="9413461" y="3478596"/>
            <a:ext cx="727763"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进入订单页</a:t>
            </a:r>
          </a:p>
        </p:txBody>
      </p:sp>
      <p:sp>
        <p:nvSpPr>
          <p:cNvPr id="65" name="熊大的PPT宝库49"/>
          <p:cNvSpPr txBox="1"/>
          <p:nvPr/>
        </p:nvSpPr>
        <p:spPr>
          <a:xfrm>
            <a:off x="10761779" y="3478595"/>
            <a:ext cx="564257"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FFFFFF"/>
                </a:solidFill>
                <a:effectLst/>
                <a:uLnTx/>
                <a:uFillTx/>
                <a:cs typeface="+mn-ea"/>
                <a:sym typeface="+mn-lt"/>
              </a:rPr>
              <a:t>成功下单</a:t>
            </a:r>
          </a:p>
        </p:txBody>
      </p:sp>
      <p:cxnSp>
        <p:nvCxnSpPr>
          <p:cNvPr id="67" name="熊大的PPT宝库50"/>
          <p:cNvCxnSpPr/>
          <p:nvPr/>
        </p:nvCxnSpPr>
        <p:spPr>
          <a:xfrm>
            <a:off x="2377617" y="3555489"/>
            <a:ext cx="288000" cy="0"/>
          </a:xfrm>
          <a:prstGeom prst="straightConnector1">
            <a:avLst/>
          </a:prstGeom>
          <a:ln w="28575">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cxnSp>
        <p:nvCxnSpPr>
          <p:cNvPr id="69" name="熊大的PPT宝库51"/>
          <p:cNvCxnSpPr/>
          <p:nvPr/>
        </p:nvCxnSpPr>
        <p:spPr>
          <a:xfrm>
            <a:off x="8862124" y="3596730"/>
            <a:ext cx="468000" cy="0"/>
          </a:xfrm>
          <a:prstGeom prst="straightConnector1">
            <a:avLst/>
          </a:prstGeom>
          <a:ln w="28575">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cxnSp>
        <p:nvCxnSpPr>
          <p:cNvPr id="70" name="熊大的PPT宝库52"/>
          <p:cNvCxnSpPr/>
          <p:nvPr/>
        </p:nvCxnSpPr>
        <p:spPr>
          <a:xfrm>
            <a:off x="10199099" y="3596730"/>
            <a:ext cx="396000" cy="0"/>
          </a:xfrm>
          <a:prstGeom prst="straightConnector1">
            <a:avLst/>
          </a:prstGeom>
          <a:ln w="28575">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cxnSp>
        <p:nvCxnSpPr>
          <p:cNvPr id="71" name="熊大的PPT宝库53"/>
          <p:cNvCxnSpPr/>
          <p:nvPr/>
        </p:nvCxnSpPr>
        <p:spPr>
          <a:xfrm>
            <a:off x="3512927" y="3555489"/>
            <a:ext cx="648000" cy="0"/>
          </a:xfrm>
          <a:prstGeom prst="straightConnector1">
            <a:avLst/>
          </a:prstGeom>
          <a:ln w="28575">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sp>
        <p:nvSpPr>
          <p:cNvPr id="73" name="熊大的PPT宝库54"/>
          <p:cNvSpPr/>
          <p:nvPr/>
        </p:nvSpPr>
        <p:spPr>
          <a:xfrm flipH="1">
            <a:off x="5600005" y="3307733"/>
            <a:ext cx="131716" cy="557213"/>
          </a:xfrm>
          <a:prstGeom prst="rightBracket">
            <a:avLst>
              <a:gd name="adj" fmla="val 57146"/>
            </a:avLst>
          </a:prstGeom>
          <a:ln w="12700">
            <a:headEnd type="stealth"/>
            <a:tailEnd type="stealth"/>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cxnSp>
        <p:nvCxnSpPr>
          <p:cNvPr id="75" name="熊大的PPT宝库55"/>
          <p:cNvCxnSpPr/>
          <p:nvPr/>
        </p:nvCxnSpPr>
        <p:spPr>
          <a:xfrm>
            <a:off x="5123252" y="3586339"/>
            <a:ext cx="468000" cy="0"/>
          </a:xfrm>
          <a:prstGeom prst="line">
            <a:avLst/>
          </a:prstGeom>
          <a:ln w="28575">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sp>
        <p:nvSpPr>
          <p:cNvPr id="76" name="熊大的PPT宝库56"/>
          <p:cNvSpPr/>
          <p:nvPr/>
        </p:nvSpPr>
        <p:spPr>
          <a:xfrm>
            <a:off x="7653505" y="3307733"/>
            <a:ext cx="131716" cy="557213"/>
          </a:xfrm>
          <a:prstGeom prst="rightBracket">
            <a:avLst>
              <a:gd name="adj" fmla="val 57146"/>
            </a:avLst>
          </a:prstGeom>
          <a:ln w="19050">
            <a:headEnd type="none"/>
            <a:tailEnd type="none"/>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cxnSp>
        <p:nvCxnSpPr>
          <p:cNvPr id="77" name="熊大的PPT宝库57"/>
          <p:cNvCxnSpPr/>
          <p:nvPr/>
        </p:nvCxnSpPr>
        <p:spPr>
          <a:xfrm>
            <a:off x="7777485" y="3586339"/>
            <a:ext cx="180000"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8" name="熊大的PPT宝库58"/>
          <p:cNvSpPr/>
          <p:nvPr/>
        </p:nvSpPr>
        <p:spPr>
          <a:xfrm>
            <a:off x="1615897" y="4338359"/>
            <a:ext cx="685800" cy="685800"/>
          </a:xfrm>
          <a:prstGeom prst="ellipse">
            <a:avLst/>
          </a:prstGeom>
          <a:no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9" name="熊大的PPT宝库59"/>
          <p:cNvSpPr/>
          <p:nvPr/>
        </p:nvSpPr>
        <p:spPr>
          <a:xfrm>
            <a:off x="1670797" y="4393259"/>
            <a:ext cx="576000" cy="576000"/>
          </a:xfrm>
          <a:prstGeom prst="ellipse">
            <a:avLst/>
          </a:prstGeom>
          <a:gradFill>
            <a:gsLst>
              <a:gs pos="100000">
                <a:schemeClr val="accent1"/>
              </a:gs>
              <a:gs pos="0">
                <a:schemeClr val="accent1">
                  <a:alpha val="7600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0" name="熊大的PPT宝库60"/>
          <p:cNvSpPr txBox="1"/>
          <p:nvPr/>
        </p:nvSpPr>
        <p:spPr>
          <a:xfrm>
            <a:off x="1726056" y="4598228"/>
            <a:ext cx="461665"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进房率</a:t>
            </a:r>
          </a:p>
        </p:txBody>
      </p:sp>
      <p:sp>
        <p:nvSpPr>
          <p:cNvPr id="81" name="熊大的PPT宝库61"/>
          <p:cNvSpPr txBox="1"/>
          <p:nvPr/>
        </p:nvSpPr>
        <p:spPr>
          <a:xfrm>
            <a:off x="2324277" y="4542626"/>
            <a:ext cx="161904"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cs typeface="+mn-ea"/>
                <a:sym typeface="+mn-lt"/>
              </a:rPr>
              <a:t>=</a:t>
            </a: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cxnSp>
        <p:nvCxnSpPr>
          <p:cNvPr id="83" name="熊大的PPT宝库62"/>
          <p:cNvCxnSpPr/>
          <p:nvPr/>
        </p:nvCxnSpPr>
        <p:spPr>
          <a:xfrm>
            <a:off x="2518410" y="4688745"/>
            <a:ext cx="9030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7" name="熊大的PPT宝库63"/>
          <p:cNvSpPr txBox="1"/>
          <p:nvPr/>
        </p:nvSpPr>
        <p:spPr>
          <a:xfrm>
            <a:off x="2498847" y="4473985"/>
            <a:ext cx="987450"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直播间进入人数</a:t>
            </a:r>
          </a:p>
        </p:txBody>
      </p:sp>
      <p:sp>
        <p:nvSpPr>
          <p:cNvPr id="88" name="熊大的PPT宝库64"/>
          <p:cNvSpPr txBox="1"/>
          <p:nvPr/>
        </p:nvSpPr>
        <p:spPr>
          <a:xfrm>
            <a:off x="2498847" y="4750984"/>
            <a:ext cx="987450"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直播间曝光人数</a:t>
            </a:r>
          </a:p>
        </p:txBody>
      </p:sp>
      <p:sp>
        <p:nvSpPr>
          <p:cNvPr id="89" name="熊大的PPT宝库65"/>
          <p:cNvSpPr/>
          <p:nvPr/>
        </p:nvSpPr>
        <p:spPr>
          <a:xfrm>
            <a:off x="3928758" y="4338359"/>
            <a:ext cx="685800" cy="685800"/>
          </a:xfrm>
          <a:prstGeom prst="ellipse">
            <a:avLst/>
          </a:prstGeom>
          <a:no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0" name="熊大的PPT宝库66"/>
          <p:cNvSpPr/>
          <p:nvPr/>
        </p:nvSpPr>
        <p:spPr>
          <a:xfrm>
            <a:off x="3983658" y="4393259"/>
            <a:ext cx="576000" cy="576000"/>
          </a:xfrm>
          <a:prstGeom prst="ellipse">
            <a:avLst/>
          </a:prstGeom>
          <a:gradFill>
            <a:gsLst>
              <a:gs pos="100000">
                <a:schemeClr val="accent1"/>
              </a:gs>
              <a:gs pos="0">
                <a:schemeClr val="accent1">
                  <a:alpha val="7600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1" name="熊大的PPT宝库67"/>
          <p:cNvSpPr txBox="1"/>
          <p:nvPr/>
        </p:nvSpPr>
        <p:spPr>
          <a:xfrm>
            <a:off x="4125443" y="4504079"/>
            <a:ext cx="307777" cy="369332"/>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停留</a:t>
            </a:r>
            <a:endParaRPr kumimoji="0" lang="en-US" altLang="zh-CN" sz="1200" b="0" i="0" u="none" strike="noStrike" kern="1200" cap="none" spc="0" normalizeH="0" baseline="0" noProof="0" dirty="0">
              <a:ln>
                <a:noFill/>
              </a:ln>
              <a:solidFill>
                <a:srgbClr val="FFFFFF"/>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互动</a:t>
            </a:r>
          </a:p>
        </p:txBody>
      </p:sp>
      <p:sp>
        <p:nvSpPr>
          <p:cNvPr id="92" name="熊大的PPT宝库68"/>
          <p:cNvSpPr/>
          <p:nvPr/>
        </p:nvSpPr>
        <p:spPr>
          <a:xfrm>
            <a:off x="6413991" y="4338359"/>
            <a:ext cx="685800" cy="685800"/>
          </a:xfrm>
          <a:prstGeom prst="ellipse">
            <a:avLst/>
          </a:prstGeom>
          <a:no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3" name="熊大的PPT宝库69"/>
          <p:cNvSpPr/>
          <p:nvPr/>
        </p:nvSpPr>
        <p:spPr>
          <a:xfrm>
            <a:off x="6468891" y="4393259"/>
            <a:ext cx="576000" cy="576000"/>
          </a:xfrm>
          <a:prstGeom prst="ellipse">
            <a:avLst/>
          </a:prstGeom>
          <a:gradFill>
            <a:gsLst>
              <a:gs pos="100000">
                <a:schemeClr val="accent1"/>
              </a:gs>
              <a:gs pos="0">
                <a:schemeClr val="accent1">
                  <a:alpha val="7600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4" name="熊大的PPT宝库70"/>
          <p:cNvSpPr txBox="1"/>
          <p:nvPr/>
        </p:nvSpPr>
        <p:spPr>
          <a:xfrm>
            <a:off x="6610676" y="4504079"/>
            <a:ext cx="307777" cy="369332"/>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停留</a:t>
            </a:r>
            <a:endParaRPr kumimoji="0" lang="en-US" altLang="zh-CN" sz="1200" b="0" i="0" u="none" strike="noStrike" kern="1200" cap="none" spc="0" normalizeH="0" baseline="0" noProof="0" dirty="0">
              <a:ln>
                <a:noFill/>
              </a:ln>
              <a:solidFill>
                <a:srgbClr val="FFFFFF"/>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互动</a:t>
            </a:r>
          </a:p>
        </p:txBody>
      </p:sp>
      <p:sp>
        <p:nvSpPr>
          <p:cNvPr id="95" name="熊大的PPT宝库71"/>
          <p:cNvSpPr txBox="1"/>
          <p:nvPr/>
        </p:nvSpPr>
        <p:spPr>
          <a:xfrm>
            <a:off x="7165003" y="4542626"/>
            <a:ext cx="161904"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cs typeface="+mn-ea"/>
                <a:sym typeface="+mn-lt"/>
              </a:rPr>
              <a:t>=</a:t>
            </a: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cxnSp>
        <p:nvCxnSpPr>
          <p:cNvPr id="96" name="熊大的PPT宝库72"/>
          <p:cNvCxnSpPr/>
          <p:nvPr/>
        </p:nvCxnSpPr>
        <p:spPr>
          <a:xfrm>
            <a:off x="7359136" y="4688745"/>
            <a:ext cx="9030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7" name="熊大的PPT宝库73"/>
          <p:cNvSpPr txBox="1"/>
          <p:nvPr/>
        </p:nvSpPr>
        <p:spPr>
          <a:xfrm>
            <a:off x="7397448" y="4473985"/>
            <a:ext cx="875240"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商品点击次数</a:t>
            </a:r>
          </a:p>
        </p:txBody>
      </p:sp>
      <p:sp>
        <p:nvSpPr>
          <p:cNvPr id="98" name="熊大的PPT宝库74"/>
          <p:cNvSpPr txBox="1"/>
          <p:nvPr/>
        </p:nvSpPr>
        <p:spPr>
          <a:xfrm>
            <a:off x="7397448" y="4750984"/>
            <a:ext cx="846386"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商品曝光次数</a:t>
            </a:r>
          </a:p>
        </p:txBody>
      </p:sp>
      <p:sp>
        <p:nvSpPr>
          <p:cNvPr id="99" name="熊大的PPT宝库75"/>
          <p:cNvSpPr/>
          <p:nvPr/>
        </p:nvSpPr>
        <p:spPr>
          <a:xfrm>
            <a:off x="9395022" y="4338359"/>
            <a:ext cx="685800" cy="685800"/>
          </a:xfrm>
          <a:prstGeom prst="ellipse">
            <a:avLst/>
          </a:prstGeom>
          <a:no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0" name="熊大的PPT宝库76"/>
          <p:cNvSpPr/>
          <p:nvPr/>
        </p:nvSpPr>
        <p:spPr>
          <a:xfrm>
            <a:off x="9449922" y="4393259"/>
            <a:ext cx="576000" cy="576000"/>
          </a:xfrm>
          <a:prstGeom prst="ellipse">
            <a:avLst/>
          </a:prstGeom>
          <a:gradFill>
            <a:gsLst>
              <a:gs pos="100000">
                <a:schemeClr val="accent1"/>
              </a:gs>
              <a:gs pos="0">
                <a:schemeClr val="accent1">
                  <a:alpha val="7600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1" name="熊大的PPT宝库77"/>
          <p:cNvSpPr txBox="1"/>
          <p:nvPr/>
        </p:nvSpPr>
        <p:spPr>
          <a:xfrm>
            <a:off x="9502807" y="4504079"/>
            <a:ext cx="461665" cy="369332"/>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商品</a:t>
            </a:r>
            <a:endParaRPr kumimoji="0" lang="en-US" altLang="zh-CN" sz="1200" b="0"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转化率</a:t>
            </a:r>
          </a:p>
        </p:txBody>
      </p:sp>
      <p:sp>
        <p:nvSpPr>
          <p:cNvPr id="102" name="熊大的PPT宝库78"/>
          <p:cNvSpPr txBox="1"/>
          <p:nvPr/>
        </p:nvSpPr>
        <p:spPr>
          <a:xfrm>
            <a:off x="10146034" y="4542626"/>
            <a:ext cx="161904"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cs typeface="+mn-ea"/>
                <a:sym typeface="+mn-lt"/>
              </a:rPr>
              <a:t>=</a:t>
            </a: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cxnSp>
        <p:nvCxnSpPr>
          <p:cNvPr id="103" name="熊大的PPT宝库79"/>
          <p:cNvCxnSpPr/>
          <p:nvPr/>
        </p:nvCxnSpPr>
        <p:spPr>
          <a:xfrm>
            <a:off x="10330386" y="4688745"/>
            <a:ext cx="9030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4" name="熊大的PPT宝库80"/>
          <p:cNvSpPr txBox="1"/>
          <p:nvPr/>
        </p:nvSpPr>
        <p:spPr>
          <a:xfrm>
            <a:off x="10499796" y="4473985"/>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成交人数</a:t>
            </a:r>
          </a:p>
        </p:txBody>
      </p:sp>
      <p:sp>
        <p:nvSpPr>
          <p:cNvPr id="105" name="熊大的PPT宝库81"/>
          <p:cNvSpPr txBox="1"/>
          <p:nvPr/>
        </p:nvSpPr>
        <p:spPr>
          <a:xfrm>
            <a:off x="10358731" y="4750984"/>
            <a:ext cx="846386"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商品点击人数</a:t>
            </a:r>
          </a:p>
        </p:txBody>
      </p:sp>
      <p:sp>
        <p:nvSpPr>
          <p:cNvPr id="107" name="熊大的PPT宝库82"/>
          <p:cNvSpPr txBox="1"/>
          <p:nvPr/>
        </p:nvSpPr>
        <p:spPr>
          <a:xfrm>
            <a:off x="4705097" y="4338359"/>
            <a:ext cx="675397" cy="738664"/>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互动行为有点赞/评论)分享/关注等</a:t>
            </a:r>
          </a:p>
        </p:txBody>
      </p:sp>
      <p:sp>
        <p:nvSpPr>
          <p:cNvPr id="109" name="熊大的PPT宝库83"/>
          <p:cNvSpPr txBox="1"/>
          <p:nvPr/>
        </p:nvSpPr>
        <p:spPr>
          <a:xfrm>
            <a:off x="1415824" y="5236018"/>
            <a:ext cx="2180539" cy="858825"/>
          </a:xfrm>
          <a:prstGeom prst="rect">
            <a:avLst/>
          </a:prstGeom>
          <a:noFill/>
        </p:spPr>
        <p:txBody>
          <a:bodyPr wrap="square" lIns="0" tIns="0" rIns="0" bIns="0">
            <a:no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直播画面好</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主播形象&amp;讲解优</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直播标题有吸引力</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(不同入口有不同影响进房率的要素)</a:t>
            </a:r>
          </a:p>
        </p:txBody>
      </p:sp>
      <p:sp>
        <p:nvSpPr>
          <p:cNvPr id="118" name="熊大的PPT宝库84"/>
          <p:cNvSpPr txBox="1"/>
          <p:nvPr/>
        </p:nvSpPr>
        <p:spPr>
          <a:xfrm>
            <a:off x="3792190" y="5236018"/>
            <a:ext cx="1758897" cy="858825"/>
          </a:xfrm>
          <a:prstGeom prst="rect">
            <a:avLst/>
          </a:prstGeom>
          <a:noFill/>
        </p:spPr>
        <p:txBody>
          <a:bodyPr wrap="square" lIns="0" tIns="0" rIns="0" bIns="0">
            <a:no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提高停留时长</a:t>
            </a:r>
            <a:r>
              <a:rPr kumimoji="0" lang="en-US" altLang="zh-CN" sz="1100" b="0" i="0" u="none" strike="noStrike" kern="1200" cap="none" spc="0" normalizeH="0" baseline="0" noProof="0" dirty="0">
                <a:ln>
                  <a:noFill/>
                </a:ln>
                <a:solidFill>
                  <a:srgbClr val="000000"/>
                </a:solidFill>
                <a:effectLst/>
                <a:uLnTx/>
                <a:uFillTx/>
                <a:cs typeface="+mn-ea"/>
                <a:sym typeface="+mn-lt"/>
              </a:rPr>
              <a:t>&amp;</a:t>
            </a:r>
            <a:r>
              <a:rPr kumimoji="0" lang="zh-CN" altLang="en-US" sz="1100" b="0" i="0" u="none" strike="noStrike" kern="1200" cap="none" spc="0" normalizeH="0" baseline="0" noProof="0" dirty="0">
                <a:ln>
                  <a:noFill/>
                </a:ln>
                <a:solidFill>
                  <a:srgbClr val="000000"/>
                </a:solidFill>
                <a:effectLst/>
                <a:uLnTx/>
                <a:uFillTx/>
                <a:cs typeface="+mn-ea"/>
                <a:sym typeface="+mn-lt"/>
              </a:rPr>
              <a:t>互动数据</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重点是提升“关注”</a:t>
            </a:r>
            <a:r>
              <a:rPr kumimoji="0" lang="en-US" altLang="zh-CN" sz="1100" b="0" i="0" u="none" strike="noStrike" kern="1200" cap="none" spc="0" normalizeH="0" baseline="0" noProof="0" dirty="0">
                <a:ln>
                  <a:noFill/>
                </a:ln>
                <a:solidFill>
                  <a:srgbClr val="000000"/>
                </a:solidFill>
                <a:effectLst/>
                <a:uLnTx/>
                <a:uFillTx/>
                <a:cs typeface="+mn-ea"/>
                <a:sym typeface="+mn-lt"/>
              </a:rPr>
              <a:t>)</a:t>
            </a: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拉高直播间内容质量分</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从而获得更多的流量分发</a:t>
            </a:r>
          </a:p>
        </p:txBody>
      </p:sp>
      <p:sp>
        <p:nvSpPr>
          <p:cNvPr id="119" name="熊大的PPT宝库85"/>
          <p:cNvSpPr txBox="1"/>
          <p:nvPr/>
        </p:nvSpPr>
        <p:spPr>
          <a:xfrm>
            <a:off x="5631073" y="5346048"/>
            <a:ext cx="2022432" cy="638765"/>
          </a:xfrm>
          <a:prstGeom prst="rect">
            <a:avLst/>
          </a:prstGeom>
          <a:noFill/>
        </p:spPr>
        <p:txBody>
          <a:bodyPr wrap="square" lIns="0" tIns="0" rIns="0" bIns="0">
            <a:no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提高货架</a:t>
            </a:r>
            <a:r>
              <a:rPr kumimoji="0" lang="en-US" altLang="zh-CN" sz="1100" b="0"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讲解卡点击的方式</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组建合理的直播货盘</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优化团品展示形式和讲解节奏</a:t>
            </a:r>
          </a:p>
        </p:txBody>
      </p:sp>
      <p:sp>
        <p:nvSpPr>
          <p:cNvPr id="120" name="熊大的PPT宝库86"/>
          <p:cNvSpPr txBox="1"/>
          <p:nvPr/>
        </p:nvSpPr>
        <p:spPr>
          <a:xfrm>
            <a:off x="7729464" y="5346048"/>
            <a:ext cx="1198636" cy="638765"/>
          </a:xfrm>
          <a:prstGeom prst="rect">
            <a:avLst/>
          </a:prstGeom>
          <a:noFill/>
        </p:spPr>
        <p:txBody>
          <a:bodyPr wrap="square" lIns="0" tIns="0" rIns="0" bIns="0">
            <a:noAutofit/>
          </a:bodyPr>
          <a:lstStyle>
            <a:defPPr>
              <a:defRPr lang="en-US"/>
            </a:defPPr>
            <a:lvl1pPr algn="ctr">
              <a:defRPr sz="1200" b="1">
                <a:latin typeface="+mj-ea"/>
                <a:ea typeface="+mj-ea"/>
              </a:defRPr>
            </a:lvl1p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latin typeface="+mn-lt"/>
                <a:ea typeface="+mn-ea"/>
                <a:cs typeface="+mn-ea"/>
                <a:sym typeface="+mn-lt"/>
              </a:rPr>
              <a:t>优化商品详情页目的是提升用户购买意愿</a:t>
            </a:r>
          </a:p>
        </p:txBody>
      </p:sp>
      <p:sp>
        <p:nvSpPr>
          <p:cNvPr id="121" name="熊大的PPT宝库87"/>
          <p:cNvSpPr txBox="1"/>
          <p:nvPr/>
        </p:nvSpPr>
        <p:spPr>
          <a:xfrm>
            <a:off x="9640299" y="5236018"/>
            <a:ext cx="1797308" cy="858825"/>
          </a:xfrm>
          <a:prstGeom prst="rect">
            <a:avLst/>
          </a:prstGeom>
          <a:noFill/>
        </p:spPr>
        <p:txBody>
          <a:bodyPr wrap="square" lIns="0" tIns="0" rIns="0" bIns="0">
            <a:noAutofit/>
          </a:bodyPr>
          <a:lstStyle>
            <a:defPPr>
              <a:defRPr lang="en-US"/>
            </a:defPPr>
            <a:lvl1pPr algn="ctr">
              <a:defRPr sz="1200" b="1">
                <a:latin typeface="+mj-ea"/>
                <a:ea typeface="+mj-ea"/>
              </a:defRPr>
            </a:lvl1p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latin typeface="+mn-lt"/>
                <a:ea typeface="+mn-ea"/>
                <a:cs typeface="+mn-ea"/>
                <a:sym typeface="+mn-lt"/>
              </a:rPr>
              <a:t>在用户进房后的 5~10s内</a:t>
            </a:r>
            <a:endParaRPr kumimoji="0" lang="en-US" altLang="zh-CN" sz="1100" b="0" i="0" u="none" strike="noStrike" kern="1200" cap="none" spc="0" normalizeH="0" baseline="0" noProof="0" dirty="0">
              <a:ln>
                <a:noFill/>
              </a:ln>
              <a:solidFill>
                <a:srgbClr val="000000"/>
              </a:solidFill>
              <a:effectLst/>
              <a:uLnTx/>
              <a:uFillTx/>
              <a:latin typeface="+mn-lt"/>
              <a:ea typeface="+mn-ea"/>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latin typeface="+mn-lt"/>
                <a:ea typeface="+mn-ea"/>
                <a:cs typeface="+mn-ea"/>
                <a:sym typeface="+mn-lt"/>
              </a:rPr>
              <a:t>及时引导点击小房子</a:t>
            </a:r>
            <a:endParaRPr kumimoji="0" lang="en-US" altLang="zh-CN" sz="1100" b="0" i="0" u="none" strike="noStrike" kern="1200" cap="none" spc="0" normalizeH="0" baseline="0" noProof="0" dirty="0">
              <a:ln>
                <a:noFill/>
              </a:ln>
              <a:solidFill>
                <a:srgbClr val="000000"/>
              </a:solidFill>
              <a:effectLst/>
              <a:uLnTx/>
              <a:uFillTx/>
              <a:latin typeface="+mn-lt"/>
              <a:ea typeface="+mn-ea"/>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latin typeface="+mn-lt"/>
                <a:ea typeface="+mn-ea"/>
                <a:cs typeface="+mn-ea"/>
                <a:sym typeface="+mn-lt"/>
              </a:rPr>
              <a:t>并查看商品，有助于提升模型预估分</a:t>
            </a: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4" name="熊大的PPT宝库1"/>
          <p:cNvCxnSpPr>
            <a:stCxn id="179" idx="3"/>
            <a:endCxn id="183" idx="1"/>
          </p:cNvCxnSpPr>
          <p:nvPr/>
        </p:nvCxnSpPr>
        <p:spPr>
          <a:xfrm>
            <a:off x="7418933" y="4964406"/>
            <a:ext cx="2571211" cy="0"/>
          </a:xfrm>
          <a:prstGeom prst="line">
            <a:avLst/>
          </a:prstGeom>
        </p:spPr>
        <p:style>
          <a:lnRef idx="1">
            <a:schemeClr val="accent1"/>
          </a:lnRef>
          <a:fillRef idx="0">
            <a:schemeClr val="accent1"/>
          </a:fillRef>
          <a:effectRef idx="0">
            <a:schemeClr val="accent1"/>
          </a:effectRef>
          <a:fontRef idx="minor">
            <a:schemeClr val="tx1"/>
          </a:fontRef>
        </p:style>
      </p:cxnSp>
      <p:sp>
        <p:nvSpPr>
          <p:cNvPr id="50" name="熊大的PPT宝库2"/>
          <p:cNvSpPr/>
          <p:nvPr/>
        </p:nvSpPr>
        <p:spPr>
          <a:xfrm>
            <a:off x="442911" y="5265478"/>
            <a:ext cx="1804987" cy="1044000"/>
          </a:xfrm>
          <a:prstGeom prst="roundRect">
            <a:avLst>
              <a:gd name="adj" fmla="val 9181"/>
            </a:avLst>
          </a:prstGeom>
          <a:solidFill>
            <a:schemeClr val="accent1">
              <a:lumMod val="20000"/>
              <a:lumOff val="8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9" name="熊大的PPT宝库3"/>
          <p:cNvSpPr/>
          <p:nvPr/>
        </p:nvSpPr>
        <p:spPr>
          <a:xfrm>
            <a:off x="442911" y="4620726"/>
            <a:ext cx="1804987" cy="612000"/>
          </a:xfrm>
          <a:prstGeom prst="roundRect">
            <a:avLst>
              <a:gd name="adj" fmla="val 9181"/>
            </a:avLst>
          </a:prstGeom>
          <a:solidFill>
            <a:schemeClr val="accent1">
              <a:lumMod val="20000"/>
              <a:lumOff val="8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8" name="熊大的PPT宝库4"/>
          <p:cNvSpPr/>
          <p:nvPr/>
        </p:nvSpPr>
        <p:spPr>
          <a:xfrm>
            <a:off x="442911" y="2491798"/>
            <a:ext cx="1804987" cy="2088000"/>
          </a:xfrm>
          <a:prstGeom prst="roundRect">
            <a:avLst>
              <a:gd name="adj" fmla="val 3552"/>
            </a:avLst>
          </a:prstGeom>
          <a:solidFill>
            <a:schemeClr val="accent1">
              <a:lumMod val="20000"/>
              <a:lumOff val="8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 name="熊大的PPT宝库5"/>
          <p:cNvSpPr txBox="1"/>
          <p:nvPr/>
        </p:nvSpPr>
        <p:spPr>
          <a:xfrm>
            <a:off x="348830" y="216968"/>
            <a:ext cx="8699200" cy="584775"/>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数码家电</a:t>
            </a:r>
            <a:r>
              <a:rPr kumimoji="0" lang="en-US" altLang="zh-CN" sz="3200" b="0" i="0" u="none" strike="noStrike" kern="1200" cap="none" spc="0" normalizeH="0" baseline="0" noProof="0" dirty="0">
                <a:ln>
                  <a:noFill/>
                </a:ln>
                <a:solidFill>
                  <a:srgbClr val="00329D"/>
                </a:solidFill>
                <a:effectLst/>
                <a:uLnTx/>
                <a:uFillTx/>
                <a:cs typeface="+mn-ea"/>
                <a:sym typeface="+mn-lt"/>
              </a:rPr>
              <a:t>:</a:t>
            </a:r>
            <a:r>
              <a:rPr kumimoji="0" lang="zh-CN" altLang="en-US" sz="3200" b="0" i="0" u="none" strike="noStrike" kern="1200" cap="none" spc="0" normalizeH="0" baseline="0" noProof="0" dirty="0">
                <a:ln>
                  <a:noFill/>
                </a:ln>
                <a:solidFill>
                  <a:srgbClr val="00329D"/>
                </a:solidFill>
                <a:effectLst/>
                <a:uLnTx/>
                <a:uFillTx/>
                <a:cs typeface="+mn-ea"/>
                <a:sym typeface="+mn-lt"/>
              </a:rPr>
              <a:t>内容场</a:t>
            </a:r>
            <a:r>
              <a:rPr kumimoji="0" lang="en-US" altLang="zh-CN" sz="3200" b="0" i="0" u="none" strike="noStrike" kern="1200" cap="none" spc="0" normalizeH="0" baseline="0" noProof="0" dirty="0">
                <a:ln>
                  <a:noFill/>
                </a:ln>
                <a:solidFill>
                  <a:srgbClr val="00329D"/>
                </a:solidFill>
                <a:effectLst/>
                <a:uLnTx/>
                <a:uFillTx/>
                <a:cs typeface="+mn-ea"/>
                <a:sym typeface="+mn-lt"/>
              </a:rPr>
              <a:t>+</a:t>
            </a:r>
            <a:r>
              <a:rPr kumimoji="0" lang="zh-CN" altLang="en-US" sz="3200" b="0" i="0" u="none" strike="noStrike" kern="1200" cap="none" spc="0" normalizeH="0" baseline="0" noProof="0" dirty="0">
                <a:ln>
                  <a:noFill/>
                </a:ln>
                <a:solidFill>
                  <a:srgbClr val="00329D"/>
                </a:solidFill>
                <a:effectLst/>
                <a:uLnTx/>
                <a:uFillTx/>
                <a:cs typeface="+mn-ea"/>
                <a:sym typeface="+mn-lt"/>
              </a:rPr>
              <a:t>货架场全域经营</a:t>
            </a:r>
            <a:r>
              <a:rPr kumimoji="0" lang="en-US" altLang="zh-CN" sz="3200" b="0" i="0" u="none" strike="noStrike" kern="1200" cap="none" spc="0" normalizeH="0" baseline="0" noProof="0" dirty="0">
                <a:ln>
                  <a:noFill/>
                </a:ln>
                <a:solidFill>
                  <a:srgbClr val="00329D"/>
                </a:solidFill>
                <a:effectLst/>
                <a:uLnTx/>
                <a:uFillTx/>
                <a:cs typeface="+mn-ea"/>
                <a:sym typeface="+mn-lt"/>
              </a:rPr>
              <a:t>2.0</a:t>
            </a:r>
            <a:endParaRPr kumimoji="0" lang="zh-CN" altLang="en-US" sz="3200" b="0" i="0" u="none" strike="noStrike" kern="1200" cap="none" spc="0" normalizeH="0" baseline="0" noProof="0" dirty="0">
              <a:ln>
                <a:noFill/>
              </a:ln>
              <a:solidFill>
                <a:srgbClr val="00329D"/>
              </a:solidFill>
              <a:effectLst/>
              <a:uLnTx/>
              <a:uFillTx/>
              <a:cs typeface="+mn-ea"/>
              <a:sym typeface="+mn-lt"/>
            </a:endParaRPr>
          </a:p>
        </p:txBody>
      </p:sp>
      <p:sp>
        <p:nvSpPr>
          <p:cNvPr id="4" name="熊大的PPT宝库7"/>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
        <p:nvSpPr>
          <p:cNvPr id="32" name="熊大的PPT宝库8"/>
          <p:cNvSpPr/>
          <p:nvPr/>
        </p:nvSpPr>
        <p:spPr>
          <a:xfrm>
            <a:off x="2297448" y="1514870"/>
            <a:ext cx="9432000" cy="936000"/>
          </a:xfrm>
          <a:prstGeom prst="roundRect">
            <a:avLst>
              <a:gd name="adj" fmla="val 5527"/>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3" name="熊大的PPT宝库9"/>
          <p:cNvSpPr/>
          <p:nvPr/>
        </p:nvSpPr>
        <p:spPr>
          <a:xfrm>
            <a:off x="442912" y="1514870"/>
            <a:ext cx="1804987" cy="936000"/>
          </a:xfrm>
          <a:prstGeom prst="roundRect">
            <a:avLst>
              <a:gd name="adj" fmla="val 9181"/>
            </a:avLst>
          </a:prstGeom>
          <a:solidFill>
            <a:schemeClr val="accent1">
              <a:lumMod val="20000"/>
              <a:lumOff val="8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5" name="熊大的PPT宝库10"/>
          <p:cNvSpPr/>
          <p:nvPr/>
        </p:nvSpPr>
        <p:spPr>
          <a:xfrm>
            <a:off x="442912" y="1036298"/>
            <a:ext cx="1804987" cy="468000"/>
          </a:xfrm>
          <a:prstGeom prst="roundRect">
            <a:avLst>
              <a:gd name="adj" fmla="val 12175"/>
            </a:avLst>
          </a:prstGeom>
          <a:gradFill>
            <a:gsLst>
              <a:gs pos="100000">
                <a:schemeClr val="accent1"/>
              </a:gs>
              <a:gs pos="0">
                <a:schemeClr val="accent1">
                  <a:alpha val="7600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7" name="熊大的PPT宝库11"/>
          <p:cNvSpPr/>
          <p:nvPr/>
        </p:nvSpPr>
        <p:spPr>
          <a:xfrm>
            <a:off x="2249787" y="1036298"/>
            <a:ext cx="9504000" cy="468000"/>
          </a:xfrm>
          <a:prstGeom prst="roundRect">
            <a:avLst>
              <a:gd name="adj" fmla="val 12175"/>
            </a:avLst>
          </a:prstGeom>
          <a:gradFill>
            <a:gsLst>
              <a:gs pos="100000">
                <a:schemeClr val="accent1"/>
              </a:gs>
              <a:gs pos="0">
                <a:schemeClr val="accent1">
                  <a:alpha val="7600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8" name="熊大的PPT宝库12"/>
          <p:cNvSpPr txBox="1"/>
          <p:nvPr/>
        </p:nvSpPr>
        <p:spPr>
          <a:xfrm>
            <a:off x="883740" y="1138697"/>
            <a:ext cx="923330"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策略打法</a:t>
            </a:r>
          </a:p>
        </p:txBody>
      </p:sp>
      <p:sp>
        <p:nvSpPr>
          <p:cNvPr id="39" name="熊大的PPT宝库13"/>
          <p:cNvSpPr txBox="1"/>
          <p:nvPr/>
        </p:nvSpPr>
        <p:spPr>
          <a:xfrm>
            <a:off x="6404272" y="1138697"/>
            <a:ext cx="923330"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核心动作</a:t>
            </a:r>
          </a:p>
        </p:txBody>
      </p:sp>
      <p:sp>
        <p:nvSpPr>
          <p:cNvPr id="41" name="熊大的PPT宝库14"/>
          <p:cNvSpPr txBox="1"/>
          <p:nvPr/>
        </p:nvSpPr>
        <p:spPr>
          <a:xfrm>
            <a:off x="806796" y="1875148"/>
            <a:ext cx="1077218"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定制货盘供给</a:t>
            </a:r>
          </a:p>
        </p:txBody>
      </p:sp>
      <p:sp>
        <p:nvSpPr>
          <p:cNvPr id="43" name="熊大的PPT宝库15"/>
          <p:cNvSpPr txBox="1"/>
          <p:nvPr/>
        </p:nvSpPr>
        <p:spPr>
          <a:xfrm>
            <a:off x="806795" y="3376998"/>
            <a:ext cx="1077218"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达人分类运营</a:t>
            </a:r>
          </a:p>
        </p:txBody>
      </p:sp>
      <p:sp>
        <p:nvSpPr>
          <p:cNvPr id="45" name="熊大的PPT宝库16"/>
          <p:cNvSpPr txBox="1"/>
          <p:nvPr/>
        </p:nvSpPr>
        <p:spPr>
          <a:xfrm>
            <a:off x="806795" y="4773569"/>
            <a:ext cx="1077218"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品类心智树立</a:t>
            </a:r>
          </a:p>
        </p:txBody>
      </p:sp>
      <p:sp>
        <p:nvSpPr>
          <p:cNvPr id="47" name="熊大的PPT宝库17"/>
          <p:cNvSpPr txBox="1"/>
          <p:nvPr/>
        </p:nvSpPr>
        <p:spPr>
          <a:xfrm>
            <a:off x="773466" y="5704879"/>
            <a:ext cx="1077218"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运用抓手提效</a:t>
            </a:r>
          </a:p>
        </p:txBody>
      </p:sp>
      <p:sp>
        <p:nvSpPr>
          <p:cNvPr id="51" name="熊大的PPT宝库18"/>
          <p:cNvSpPr/>
          <p:nvPr/>
        </p:nvSpPr>
        <p:spPr>
          <a:xfrm>
            <a:off x="2297448" y="2491798"/>
            <a:ext cx="4284000" cy="2088000"/>
          </a:xfrm>
          <a:prstGeom prst="roundRect">
            <a:avLst>
              <a:gd name="adj" fmla="val 3359"/>
            </a:avLst>
          </a:prstGeom>
          <a:solidFill>
            <a:schemeClr val="accent1">
              <a:lumMod val="20000"/>
              <a:lumOff val="80000"/>
              <a:alpha val="50000"/>
            </a:schemeClr>
          </a:solidFill>
          <a:ln>
            <a:solidFill>
              <a:schemeClr val="accent1">
                <a:lumMod val="20000"/>
                <a:lumOff val="8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2" name="熊大的PPT宝库19"/>
          <p:cNvSpPr/>
          <p:nvPr/>
        </p:nvSpPr>
        <p:spPr>
          <a:xfrm>
            <a:off x="6672732" y="2491798"/>
            <a:ext cx="1903402" cy="2088000"/>
          </a:xfrm>
          <a:prstGeom prst="roundRect">
            <a:avLst>
              <a:gd name="adj" fmla="val 3462"/>
            </a:avLst>
          </a:prstGeom>
          <a:solidFill>
            <a:schemeClr val="accent1">
              <a:lumMod val="20000"/>
              <a:lumOff val="80000"/>
              <a:alpha val="50000"/>
            </a:schemeClr>
          </a:solidFill>
          <a:ln>
            <a:solidFill>
              <a:schemeClr val="accent1">
                <a:lumMod val="20000"/>
                <a:lumOff val="8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3" name="熊大的PPT宝库20"/>
          <p:cNvSpPr/>
          <p:nvPr/>
        </p:nvSpPr>
        <p:spPr>
          <a:xfrm>
            <a:off x="8667418" y="2491798"/>
            <a:ext cx="1751002" cy="2088000"/>
          </a:xfrm>
          <a:prstGeom prst="roundRect">
            <a:avLst>
              <a:gd name="adj" fmla="val 4829"/>
            </a:avLst>
          </a:prstGeom>
          <a:solidFill>
            <a:schemeClr val="accent1">
              <a:lumMod val="20000"/>
              <a:lumOff val="80000"/>
              <a:alpha val="50000"/>
            </a:schemeClr>
          </a:solidFill>
          <a:ln>
            <a:solidFill>
              <a:schemeClr val="accent1">
                <a:lumMod val="20000"/>
                <a:lumOff val="8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4" name="熊大的PPT宝库21"/>
          <p:cNvSpPr/>
          <p:nvPr/>
        </p:nvSpPr>
        <p:spPr>
          <a:xfrm>
            <a:off x="10509704" y="2491798"/>
            <a:ext cx="1217258" cy="2088000"/>
          </a:xfrm>
          <a:prstGeom prst="roundRect">
            <a:avLst>
              <a:gd name="adj" fmla="val 4829"/>
            </a:avLst>
          </a:prstGeom>
          <a:solidFill>
            <a:schemeClr val="accent1">
              <a:lumMod val="20000"/>
              <a:lumOff val="80000"/>
              <a:alpha val="50000"/>
            </a:schemeClr>
          </a:solidFill>
          <a:ln>
            <a:solidFill>
              <a:schemeClr val="accent1">
                <a:lumMod val="20000"/>
                <a:lumOff val="8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5" name="熊大的PPT宝库22"/>
          <p:cNvSpPr/>
          <p:nvPr/>
        </p:nvSpPr>
        <p:spPr>
          <a:xfrm>
            <a:off x="2297448" y="4654406"/>
            <a:ext cx="9432000" cy="576000"/>
          </a:xfrm>
          <a:prstGeom prst="roundRect">
            <a:avLst>
              <a:gd name="adj" fmla="val 5527"/>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6" name="熊大的PPT宝库23"/>
          <p:cNvSpPr/>
          <p:nvPr/>
        </p:nvSpPr>
        <p:spPr>
          <a:xfrm>
            <a:off x="2297448" y="5265478"/>
            <a:ext cx="9432000" cy="1044000"/>
          </a:xfrm>
          <a:prstGeom prst="roundRect">
            <a:avLst>
              <a:gd name="adj" fmla="val 5527"/>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cxnSp>
        <p:nvCxnSpPr>
          <p:cNvPr id="58" name="熊大的PPT宝库24"/>
          <p:cNvCxnSpPr/>
          <p:nvPr/>
        </p:nvCxnSpPr>
        <p:spPr>
          <a:xfrm>
            <a:off x="5145314" y="1638815"/>
            <a:ext cx="0" cy="691068"/>
          </a:xfrm>
          <a:prstGeom prst="line">
            <a:avLst/>
          </a:prstGeom>
        </p:spPr>
        <p:style>
          <a:lnRef idx="1">
            <a:schemeClr val="accent1"/>
          </a:lnRef>
          <a:fillRef idx="0">
            <a:schemeClr val="accent1"/>
          </a:fillRef>
          <a:effectRef idx="0">
            <a:schemeClr val="accent1"/>
          </a:effectRef>
          <a:fontRef idx="minor">
            <a:schemeClr val="tx1"/>
          </a:fontRef>
        </p:style>
      </p:cxnSp>
      <p:sp>
        <p:nvSpPr>
          <p:cNvPr id="65" name="熊大的PPT宝库25"/>
          <p:cNvSpPr txBox="1"/>
          <p:nvPr/>
        </p:nvSpPr>
        <p:spPr>
          <a:xfrm>
            <a:off x="2562163" y="2013868"/>
            <a:ext cx="820738"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货盘供给</a:t>
            </a:r>
          </a:p>
        </p:txBody>
      </p:sp>
      <p:sp>
        <p:nvSpPr>
          <p:cNvPr id="66" name="熊大的PPT宝库26"/>
          <p:cNvSpPr txBox="1"/>
          <p:nvPr/>
        </p:nvSpPr>
        <p:spPr>
          <a:xfrm>
            <a:off x="3482586" y="2052339"/>
            <a:ext cx="155170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突出品类优势，定制供给</a:t>
            </a:r>
          </a:p>
        </p:txBody>
      </p:sp>
      <p:sp>
        <p:nvSpPr>
          <p:cNvPr id="68" name="熊大的PPT宝库27"/>
          <p:cNvSpPr txBox="1"/>
          <p:nvPr/>
        </p:nvSpPr>
        <p:spPr>
          <a:xfrm>
            <a:off x="2562163" y="1680883"/>
            <a:ext cx="820738"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行业特性</a:t>
            </a:r>
          </a:p>
        </p:txBody>
      </p:sp>
      <p:sp>
        <p:nvSpPr>
          <p:cNvPr id="69" name="熊大的PPT宝库28"/>
          <p:cNvSpPr txBox="1"/>
          <p:nvPr/>
        </p:nvSpPr>
        <p:spPr>
          <a:xfrm>
            <a:off x="3482586" y="1713491"/>
            <a:ext cx="1410643"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客单价高、决策周期长</a:t>
            </a:r>
          </a:p>
        </p:txBody>
      </p:sp>
      <p:sp>
        <p:nvSpPr>
          <p:cNvPr id="36" name="熊大的PPT宝库29"/>
          <p:cNvSpPr/>
          <p:nvPr/>
        </p:nvSpPr>
        <p:spPr>
          <a:xfrm>
            <a:off x="5397400" y="2116958"/>
            <a:ext cx="787400" cy="216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3" name="熊大的PPT宝库30"/>
          <p:cNvSpPr txBox="1"/>
          <p:nvPr/>
        </p:nvSpPr>
        <p:spPr>
          <a:xfrm>
            <a:off x="5397400" y="1638540"/>
            <a:ext cx="769441"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大促爆发强</a:t>
            </a:r>
          </a:p>
        </p:txBody>
      </p:sp>
      <p:sp>
        <p:nvSpPr>
          <p:cNvPr id="74" name="熊大的PPT宝库31"/>
          <p:cNvSpPr txBox="1"/>
          <p:nvPr/>
        </p:nvSpPr>
        <p:spPr>
          <a:xfrm>
            <a:off x="5483324" y="2132625"/>
            <a:ext cx="615553"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尖货货盘</a:t>
            </a:r>
          </a:p>
        </p:txBody>
      </p:sp>
      <p:sp>
        <p:nvSpPr>
          <p:cNvPr id="75" name="熊大的PPT宝库32"/>
          <p:cNvSpPr/>
          <p:nvPr/>
        </p:nvSpPr>
        <p:spPr>
          <a:xfrm rot="5400000">
            <a:off x="5652779" y="1810649"/>
            <a:ext cx="258682" cy="353942"/>
          </a:xfrm>
          <a:prstGeom prst="rightArrow">
            <a:avLst/>
          </a:prstGeom>
          <a:gradFill>
            <a:gsLst>
              <a:gs pos="0">
                <a:schemeClr val="accent1">
                  <a:alpha val="0"/>
                </a:schemeClr>
              </a:gs>
              <a:gs pos="100000">
                <a:schemeClr val="accent1"/>
              </a:gs>
            </a:gsLst>
            <a:lin ang="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8" name="熊大的PPT宝库33"/>
          <p:cNvSpPr/>
          <p:nvPr/>
        </p:nvSpPr>
        <p:spPr>
          <a:xfrm>
            <a:off x="9640668" y="2116958"/>
            <a:ext cx="787400" cy="216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9" name="熊大的PPT宝库34"/>
          <p:cNvSpPr txBox="1"/>
          <p:nvPr/>
        </p:nvSpPr>
        <p:spPr>
          <a:xfrm>
            <a:off x="9563725" y="1638540"/>
            <a:ext cx="923330" cy="184666"/>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价格敏感度高</a:t>
            </a:r>
          </a:p>
        </p:txBody>
      </p:sp>
      <p:sp>
        <p:nvSpPr>
          <p:cNvPr id="90" name="熊大的PPT宝库35"/>
          <p:cNvSpPr txBox="1"/>
          <p:nvPr/>
        </p:nvSpPr>
        <p:spPr>
          <a:xfrm>
            <a:off x="9726592" y="2132625"/>
            <a:ext cx="615553" cy="184666"/>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破价货盘</a:t>
            </a:r>
          </a:p>
        </p:txBody>
      </p:sp>
      <p:sp>
        <p:nvSpPr>
          <p:cNvPr id="91" name="熊大的PPT宝库36"/>
          <p:cNvSpPr/>
          <p:nvPr/>
        </p:nvSpPr>
        <p:spPr>
          <a:xfrm rot="5400000">
            <a:off x="9896047" y="1810649"/>
            <a:ext cx="258682" cy="353942"/>
          </a:xfrm>
          <a:prstGeom prst="rightArrow">
            <a:avLst/>
          </a:prstGeom>
          <a:gradFill>
            <a:gsLst>
              <a:gs pos="0">
                <a:schemeClr val="accent1">
                  <a:alpha val="0"/>
                </a:schemeClr>
              </a:gs>
              <a:gs pos="100000">
                <a:schemeClr val="accent1"/>
              </a:gs>
            </a:gsLst>
            <a:lin ang="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8" name="熊大的PPT宝库37"/>
          <p:cNvSpPr/>
          <p:nvPr/>
        </p:nvSpPr>
        <p:spPr>
          <a:xfrm>
            <a:off x="6458217" y="2116958"/>
            <a:ext cx="787400" cy="216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9" name="熊大的PPT宝库38"/>
          <p:cNvSpPr txBox="1"/>
          <p:nvPr/>
        </p:nvSpPr>
        <p:spPr>
          <a:xfrm>
            <a:off x="6535161" y="1638540"/>
            <a:ext cx="615553" cy="184666"/>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品牌力强</a:t>
            </a:r>
          </a:p>
        </p:txBody>
      </p:sp>
      <p:sp>
        <p:nvSpPr>
          <p:cNvPr id="100" name="熊大的PPT宝库39"/>
          <p:cNvSpPr txBox="1"/>
          <p:nvPr/>
        </p:nvSpPr>
        <p:spPr>
          <a:xfrm>
            <a:off x="6544141" y="2132625"/>
            <a:ext cx="615553" cy="184666"/>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品牌货盘</a:t>
            </a:r>
          </a:p>
        </p:txBody>
      </p:sp>
      <p:sp>
        <p:nvSpPr>
          <p:cNvPr id="101" name="熊大的PPT宝库40"/>
          <p:cNvSpPr/>
          <p:nvPr/>
        </p:nvSpPr>
        <p:spPr>
          <a:xfrm rot="5400000">
            <a:off x="6713596" y="1810649"/>
            <a:ext cx="258682" cy="353942"/>
          </a:xfrm>
          <a:prstGeom prst="rightArrow">
            <a:avLst/>
          </a:prstGeom>
          <a:gradFill>
            <a:gsLst>
              <a:gs pos="0">
                <a:schemeClr val="accent1">
                  <a:alpha val="0"/>
                </a:schemeClr>
              </a:gs>
              <a:gs pos="100000">
                <a:schemeClr val="accent1"/>
              </a:gs>
            </a:gsLst>
            <a:lin ang="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3" name="熊大的PPT宝库41"/>
          <p:cNvSpPr/>
          <p:nvPr/>
        </p:nvSpPr>
        <p:spPr>
          <a:xfrm>
            <a:off x="7519034" y="2116958"/>
            <a:ext cx="787400" cy="216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4" name="熊大的PPT宝库42"/>
          <p:cNvSpPr txBox="1"/>
          <p:nvPr/>
        </p:nvSpPr>
        <p:spPr>
          <a:xfrm>
            <a:off x="7519034" y="1638540"/>
            <a:ext cx="769441" cy="184666"/>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新品热度高</a:t>
            </a:r>
          </a:p>
        </p:txBody>
      </p:sp>
      <p:sp>
        <p:nvSpPr>
          <p:cNvPr id="105" name="熊大的PPT宝库43"/>
          <p:cNvSpPr txBox="1"/>
          <p:nvPr/>
        </p:nvSpPr>
        <p:spPr>
          <a:xfrm>
            <a:off x="7604958" y="2132625"/>
            <a:ext cx="615553" cy="184666"/>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新品首发</a:t>
            </a:r>
          </a:p>
        </p:txBody>
      </p:sp>
      <p:sp>
        <p:nvSpPr>
          <p:cNvPr id="106" name="熊大的PPT宝库44"/>
          <p:cNvSpPr/>
          <p:nvPr/>
        </p:nvSpPr>
        <p:spPr>
          <a:xfrm rot="5400000">
            <a:off x="7774413" y="1810649"/>
            <a:ext cx="258682" cy="353942"/>
          </a:xfrm>
          <a:prstGeom prst="rightArrow">
            <a:avLst/>
          </a:prstGeom>
          <a:gradFill>
            <a:gsLst>
              <a:gs pos="0">
                <a:schemeClr val="accent1">
                  <a:alpha val="0"/>
                </a:schemeClr>
              </a:gs>
              <a:gs pos="100000">
                <a:schemeClr val="accent1"/>
              </a:gs>
            </a:gsLst>
            <a:lin ang="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9" name="熊大的PPT宝库45"/>
          <p:cNvSpPr/>
          <p:nvPr/>
        </p:nvSpPr>
        <p:spPr>
          <a:xfrm>
            <a:off x="8579851" y="2116958"/>
            <a:ext cx="787400" cy="216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0" name="熊大的PPT宝库46"/>
          <p:cNvSpPr txBox="1"/>
          <p:nvPr/>
        </p:nvSpPr>
        <p:spPr>
          <a:xfrm>
            <a:off x="8579851" y="1638540"/>
            <a:ext cx="769441" cy="184666"/>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季节属性强</a:t>
            </a:r>
          </a:p>
        </p:txBody>
      </p:sp>
      <p:sp>
        <p:nvSpPr>
          <p:cNvPr id="111" name="熊大的PPT宝库47"/>
          <p:cNvSpPr txBox="1"/>
          <p:nvPr/>
        </p:nvSpPr>
        <p:spPr>
          <a:xfrm>
            <a:off x="8665775" y="2132625"/>
            <a:ext cx="615553" cy="184666"/>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应季货盘</a:t>
            </a:r>
          </a:p>
        </p:txBody>
      </p:sp>
      <p:sp>
        <p:nvSpPr>
          <p:cNvPr id="112" name="熊大的PPT宝库48"/>
          <p:cNvSpPr/>
          <p:nvPr/>
        </p:nvSpPr>
        <p:spPr>
          <a:xfrm rot="5400000">
            <a:off x="8835230" y="1810649"/>
            <a:ext cx="258682" cy="353942"/>
          </a:xfrm>
          <a:prstGeom prst="rightArrow">
            <a:avLst/>
          </a:prstGeom>
          <a:gradFill>
            <a:gsLst>
              <a:gs pos="0">
                <a:schemeClr val="accent1">
                  <a:alpha val="0"/>
                </a:schemeClr>
              </a:gs>
              <a:gs pos="100000">
                <a:schemeClr val="accent1"/>
              </a:gs>
            </a:gsLst>
            <a:lin ang="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4" name="熊大的PPT宝库49"/>
          <p:cNvSpPr/>
          <p:nvPr/>
        </p:nvSpPr>
        <p:spPr>
          <a:xfrm>
            <a:off x="10701484" y="2116958"/>
            <a:ext cx="787400" cy="216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5" name="熊大的PPT宝库50"/>
          <p:cNvSpPr txBox="1"/>
          <p:nvPr/>
        </p:nvSpPr>
        <p:spPr>
          <a:xfrm>
            <a:off x="10624540" y="1638540"/>
            <a:ext cx="923330" cy="184666"/>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场景化效果好</a:t>
            </a:r>
          </a:p>
        </p:txBody>
      </p:sp>
      <p:sp>
        <p:nvSpPr>
          <p:cNvPr id="116" name="熊大的PPT宝库51"/>
          <p:cNvSpPr txBox="1"/>
          <p:nvPr/>
        </p:nvSpPr>
        <p:spPr>
          <a:xfrm>
            <a:off x="10787408" y="2132625"/>
            <a:ext cx="615553" cy="184666"/>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专场货盘</a:t>
            </a:r>
          </a:p>
        </p:txBody>
      </p:sp>
      <p:sp>
        <p:nvSpPr>
          <p:cNvPr id="117" name="熊大的PPT宝库52"/>
          <p:cNvSpPr/>
          <p:nvPr/>
        </p:nvSpPr>
        <p:spPr>
          <a:xfrm rot="5400000">
            <a:off x="10956863" y="1810649"/>
            <a:ext cx="258682" cy="353942"/>
          </a:xfrm>
          <a:prstGeom prst="rightArrow">
            <a:avLst/>
          </a:prstGeom>
          <a:gradFill>
            <a:gsLst>
              <a:gs pos="0">
                <a:schemeClr val="accent1">
                  <a:alpha val="0"/>
                </a:schemeClr>
              </a:gs>
              <a:gs pos="100000">
                <a:schemeClr val="accent1"/>
              </a:gs>
            </a:gsLst>
            <a:lin ang="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8" name="熊大的PPT宝库53"/>
          <p:cNvSpPr/>
          <p:nvPr/>
        </p:nvSpPr>
        <p:spPr>
          <a:xfrm>
            <a:off x="4045748" y="2584232"/>
            <a:ext cx="787400" cy="216000"/>
          </a:xfrm>
          <a:prstGeom prst="round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9" name="熊大的PPT宝库54"/>
          <p:cNvSpPr txBox="1"/>
          <p:nvPr/>
        </p:nvSpPr>
        <p:spPr>
          <a:xfrm>
            <a:off x="4208616" y="2599899"/>
            <a:ext cx="461665"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找头达</a:t>
            </a:r>
          </a:p>
        </p:txBody>
      </p:sp>
      <p:sp>
        <p:nvSpPr>
          <p:cNvPr id="121" name="熊大的PPT宝库55"/>
          <p:cNvSpPr txBox="1"/>
          <p:nvPr/>
        </p:nvSpPr>
        <p:spPr>
          <a:xfrm>
            <a:off x="2949720" y="2838790"/>
            <a:ext cx="2979457" cy="323165"/>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联合头达打造品类及爆品showcase</a:t>
            </a:r>
            <a:endParaRPr kumimoji="0" lang="en-US" altLang="zh-CN" sz="105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0000"/>
                </a:solidFill>
                <a:effectLst/>
                <a:uLnTx/>
                <a:uFillTx/>
                <a:cs typeface="+mn-ea"/>
                <a:sym typeface="+mn-lt"/>
              </a:rPr>
              <a:t>以头达影响力来辐射中小达人自发带货</a:t>
            </a:r>
          </a:p>
        </p:txBody>
      </p:sp>
      <p:sp>
        <p:nvSpPr>
          <p:cNvPr id="122" name="熊大的PPT宝库56"/>
          <p:cNvSpPr/>
          <p:nvPr/>
        </p:nvSpPr>
        <p:spPr>
          <a:xfrm>
            <a:off x="2361620" y="3341986"/>
            <a:ext cx="4173541" cy="1152000"/>
          </a:xfrm>
          <a:prstGeom prst="roundRect">
            <a:avLst>
              <a:gd name="adj" fmla="val 6258"/>
            </a:avLst>
          </a:prstGeom>
          <a:solidFill>
            <a:schemeClr val="bg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3" name="熊大的PPT宝库57"/>
          <p:cNvSpPr/>
          <p:nvPr/>
        </p:nvSpPr>
        <p:spPr>
          <a:xfrm>
            <a:off x="2498544" y="3413333"/>
            <a:ext cx="671756" cy="216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4" name="熊大的PPT宝库58"/>
          <p:cNvSpPr txBox="1"/>
          <p:nvPr/>
        </p:nvSpPr>
        <p:spPr>
          <a:xfrm>
            <a:off x="2565118" y="3440542"/>
            <a:ext cx="538609" cy="161583"/>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329D"/>
                </a:solidFill>
                <a:effectLst/>
                <a:uLnTx/>
                <a:uFillTx/>
                <a:cs typeface="+mn-ea"/>
                <a:sym typeface="+mn-lt"/>
              </a:rPr>
              <a:t>行业分析</a:t>
            </a:r>
          </a:p>
        </p:txBody>
      </p:sp>
      <p:sp>
        <p:nvSpPr>
          <p:cNvPr id="125" name="熊大的PPT宝库59"/>
          <p:cNvSpPr/>
          <p:nvPr/>
        </p:nvSpPr>
        <p:spPr>
          <a:xfrm>
            <a:off x="3321602" y="3413333"/>
            <a:ext cx="1183724" cy="216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6" name="熊大的PPT宝库60"/>
          <p:cNvSpPr txBox="1"/>
          <p:nvPr/>
        </p:nvSpPr>
        <p:spPr>
          <a:xfrm>
            <a:off x="3380932" y="3440542"/>
            <a:ext cx="1077218" cy="161583"/>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329D"/>
                </a:solidFill>
                <a:effectLst/>
                <a:uLnTx/>
                <a:uFillTx/>
                <a:cs typeface="+mn-ea"/>
                <a:sym typeface="+mn-lt"/>
              </a:rPr>
              <a:t>主播粉丝需求分析</a:t>
            </a:r>
          </a:p>
        </p:txBody>
      </p:sp>
      <p:sp>
        <p:nvSpPr>
          <p:cNvPr id="127" name="熊大的PPT宝库61"/>
          <p:cNvSpPr/>
          <p:nvPr/>
        </p:nvSpPr>
        <p:spPr>
          <a:xfrm>
            <a:off x="4660652" y="3413333"/>
            <a:ext cx="755698" cy="216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8" name="熊大的PPT宝库62"/>
          <p:cNvSpPr txBox="1"/>
          <p:nvPr/>
        </p:nvSpPr>
        <p:spPr>
          <a:xfrm>
            <a:off x="4701871" y="3440542"/>
            <a:ext cx="673261" cy="161583"/>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329D"/>
                </a:solidFill>
                <a:effectLst/>
                <a:uLnTx/>
                <a:uFillTx/>
                <a:cs typeface="+mn-ea"/>
                <a:sym typeface="+mn-lt"/>
              </a:rPr>
              <a:t>定向推品会</a:t>
            </a:r>
          </a:p>
        </p:txBody>
      </p:sp>
      <p:sp>
        <p:nvSpPr>
          <p:cNvPr id="129" name="熊大的PPT宝库63"/>
          <p:cNvSpPr/>
          <p:nvPr/>
        </p:nvSpPr>
        <p:spPr>
          <a:xfrm>
            <a:off x="5569992" y="3413333"/>
            <a:ext cx="864000" cy="216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0" name="熊大的PPT宝库64"/>
          <p:cNvSpPr txBox="1"/>
          <p:nvPr/>
        </p:nvSpPr>
        <p:spPr>
          <a:xfrm>
            <a:off x="5601862" y="3440542"/>
            <a:ext cx="807913" cy="161583"/>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329D"/>
                </a:solidFill>
                <a:effectLst/>
                <a:uLnTx/>
                <a:uFillTx/>
                <a:cs typeface="+mn-ea"/>
                <a:sym typeface="+mn-lt"/>
              </a:rPr>
              <a:t>商品卖点策划</a:t>
            </a:r>
          </a:p>
        </p:txBody>
      </p:sp>
      <p:sp>
        <p:nvSpPr>
          <p:cNvPr id="134" name="熊大的PPT宝库65"/>
          <p:cNvSpPr txBox="1"/>
          <p:nvPr/>
        </p:nvSpPr>
        <p:spPr>
          <a:xfrm>
            <a:off x="2535221" y="3692327"/>
            <a:ext cx="615553"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市场洞察</a:t>
            </a:r>
          </a:p>
        </p:txBody>
      </p:sp>
      <p:sp>
        <p:nvSpPr>
          <p:cNvPr id="135" name="熊大的PPT宝库66"/>
          <p:cNvSpPr txBox="1"/>
          <p:nvPr/>
        </p:nvSpPr>
        <p:spPr>
          <a:xfrm>
            <a:off x="2535221" y="3876993"/>
            <a:ext cx="615553"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行业优势</a:t>
            </a:r>
          </a:p>
        </p:txBody>
      </p:sp>
      <p:sp>
        <p:nvSpPr>
          <p:cNvPr id="136" name="熊大的PPT宝库67"/>
          <p:cNvSpPr txBox="1"/>
          <p:nvPr/>
        </p:nvSpPr>
        <p:spPr>
          <a:xfrm>
            <a:off x="2535221" y="4061659"/>
            <a:ext cx="615553"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增量趋势</a:t>
            </a:r>
          </a:p>
        </p:txBody>
      </p:sp>
      <p:sp>
        <p:nvSpPr>
          <p:cNvPr id="137" name="熊大的PPT宝库68"/>
          <p:cNvSpPr txBox="1"/>
          <p:nvPr/>
        </p:nvSpPr>
        <p:spPr>
          <a:xfrm>
            <a:off x="2535221" y="4246325"/>
            <a:ext cx="615553"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行业爆品</a:t>
            </a:r>
          </a:p>
        </p:txBody>
      </p:sp>
      <p:sp>
        <p:nvSpPr>
          <p:cNvPr id="138" name="熊大的PPT宝库69"/>
          <p:cNvSpPr txBox="1"/>
          <p:nvPr/>
        </p:nvSpPr>
        <p:spPr>
          <a:xfrm>
            <a:off x="3593063" y="3692327"/>
            <a:ext cx="615553"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品类偏好</a:t>
            </a:r>
          </a:p>
        </p:txBody>
      </p:sp>
      <p:sp>
        <p:nvSpPr>
          <p:cNvPr id="139" name="熊大的PPT宝库70"/>
          <p:cNvSpPr txBox="1"/>
          <p:nvPr/>
        </p:nvSpPr>
        <p:spPr>
          <a:xfrm>
            <a:off x="3593063" y="3876993"/>
            <a:ext cx="615553"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品牌偏好</a:t>
            </a:r>
          </a:p>
        </p:txBody>
      </p:sp>
      <p:sp>
        <p:nvSpPr>
          <p:cNvPr id="140" name="熊大的PPT宝库71"/>
          <p:cNvSpPr txBox="1"/>
          <p:nvPr/>
        </p:nvSpPr>
        <p:spPr>
          <a:xfrm>
            <a:off x="3593063" y="4061659"/>
            <a:ext cx="615553"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客单偏好</a:t>
            </a:r>
          </a:p>
        </p:txBody>
      </p:sp>
      <p:sp>
        <p:nvSpPr>
          <p:cNvPr id="141" name="熊大的PPT宝库72"/>
          <p:cNvSpPr txBox="1"/>
          <p:nvPr/>
        </p:nvSpPr>
        <p:spPr>
          <a:xfrm>
            <a:off x="4726516" y="3692327"/>
            <a:ext cx="615553"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精选货品</a:t>
            </a:r>
          </a:p>
        </p:txBody>
      </p:sp>
      <p:sp>
        <p:nvSpPr>
          <p:cNvPr id="142" name="熊大的PPT宝库73"/>
          <p:cNvSpPr txBox="1"/>
          <p:nvPr/>
        </p:nvSpPr>
        <p:spPr>
          <a:xfrm>
            <a:off x="4726516" y="3876993"/>
            <a:ext cx="615553"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定向推介</a:t>
            </a:r>
          </a:p>
        </p:txBody>
      </p:sp>
      <p:sp>
        <p:nvSpPr>
          <p:cNvPr id="143" name="熊大的PPT宝库74"/>
          <p:cNvSpPr txBox="1"/>
          <p:nvPr/>
        </p:nvSpPr>
        <p:spPr>
          <a:xfrm>
            <a:off x="5692542" y="3692327"/>
            <a:ext cx="615553"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卖点挖掘</a:t>
            </a:r>
          </a:p>
        </p:txBody>
      </p:sp>
      <p:sp>
        <p:nvSpPr>
          <p:cNvPr id="144" name="熊大的PPT宝库75"/>
          <p:cNvSpPr txBox="1"/>
          <p:nvPr/>
        </p:nvSpPr>
        <p:spPr>
          <a:xfrm>
            <a:off x="5692542" y="3876993"/>
            <a:ext cx="615553"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卖点演绎</a:t>
            </a:r>
          </a:p>
        </p:txBody>
      </p:sp>
      <p:sp>
        <p:nvSpPr>
          <p:cNvPr id="145" name="熊大的PPT宝库76"/>
          <p:cNvSpPr/>
          <p:nvPr/>
        </p:nvSpPr>
        <p:spPr>
          <a:xfrm>
            <a:off x="7129544" y="2584232"/>
            <a:ext cx="989778" cy="216000"/>
          </a:xfrm>
          <a:prstGeom prst="round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46" name="熊大的PPT宝库77"/>
          <p:cNvSpPr txBox="1"/>
          <p:nvPr/>
        </p:nvSpPr>
        <p:spPr>
          <a:xfrm>
            <a:off x="7239715" y="2599899"/>
            <a:ext cx="769441" cy="184666"/>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找专场达人</a:t>
            </a:r>
          </a:p>
        </p:txBody>
      </p:sp>
      <p:sp>
        <p:nvSpPr>
          <p:cNvPr id="147" name="熊大的PPT宝库78"/>
          <p:cNvSpPr/>
          <p:nvPr/>
        </p:nvSpPr>
        <p:spPr>
          <a:xfrm>
            <a:off x="9048030" y="2584232"/>
            <a:ext cx="989778" cy="216000"/>
          </a:xfrm>
          <a:prstGeom prst="round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48" name="熊大的PPT宝库79"/>
          <p:cNvSpPr txBox="1"/>
          <p:nvPr/>
        </p:nvSpPr>
        <p:spPr>
          <a:xfrm>
            <a:off x="9158200" y="2599899"/>
            <a:ext cx="769441" cy="184666"/>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找高潜达人</a:t>
            </a:r>
          </a:p>
        </p:txBody>
      </p:sp>
      <p:sp>
        <p:nvSpPr>
          <p:cNvPr id="149" name="熊大的PPT宝库80"/>
          <p:cNvSpPr/>
          <p:nvPr/>
        </p:nvSpPr>
        <p:spPr>
          <a:xfrm>
            <a:off x="10623444" y="2584232"/>
            <a:ext cx="989778" cy="216000"/>
          </a:xfrm>
          <a:prstGeom prst="round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0" name="熊大的PPT宝库81"/>
          <p:cNvSpPr txBox="1"/>
          <p:nvPr/>
        </p:nvSpPr>
        <p:spPr>
          <a:xfrm>
            <a:off x="10733614" y="2599899"/>
            <a:ext cx="769441" cy="184666"/>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找种草达人</a:t>
            </a:r>
          </a:p>
        </p:txBody>
      </p:sp>
      <p:sp>
        <p:nvSpPr>
          <p:cNvPr id="154" name="熊大的PPT宝库82"/>
          <p:cNvSpPr txBox="1"/>
          <p:nvPr/>
        </p:nvSpPr>
        <p:spPr>
          <a:xfrm>
            <a:off x="3158642" y="3204473"/>
            <a:ext cx="820738" cy="12311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持续输出行业优势</a:t>
            </a:r>
          </a:p>
        </p:txBody>
      </p:sp>
      <p:sp>
        <p:nvSpPr>
          <p:cNvPr id="155" name="熊大的PPT宝库83"/>
          <p:cNvSpPr txBox="1"/>
          <p:nvPr/>
        </p:nvSpPr>
        <p:spPr>
          <a:xfrm>
            <a:off x="4780844" y="3185121"/>
            <a:ext cx="1744067" cy="12311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解决达人担心讲不好、带不动，卖不爆</a:t>
            </a:r>
          </a:p>
        </p:txBody>
      </p:sp>
      <p:sp>
        <p:nvSpPr>
          <p:cNvPr id="156" name="熊大的PPT宝库84"/>
          <p:cNvSpPr/>
          <p:nvPr/>
        </p:nvSpPr>
        <p:spPr>
          <a:xfrm rot="16200000" flipV="1">
            <a:off x="4342877" y="3083081"/>
            <a:ext cx="180977" cy="353942"/>
          </a:xfrm>
          <a:prstGeom prst="rightArrow">
            <a:avLst/>
          </a:prstGeom>
          <a:gradFill>
            <a:gsLst>
              <a:gs pos="0">
                <a:schemeClr val="accent1">
                  <a:alpha val="0"/>
                </a:schemeClr>
              </a:gs>
              <a:gs pos="100000">
                <a:schemeClr val="accent1"/>
              </a:gs>
            </a:gsLst>
            <a:lin ang="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7" name="熊大的PPT宝库85"/>
          <p:cNvSpPr txBox="1"/>
          <p:nvPr/>
        </p:nvSpPr>
        <p:spPr>
          <a:xfrm>
            <a:off x="6816520" y="2899750"/>
            <a:ext cx="1615827" cy="343492"/>
          </a:xfrm>
          <a:prstGeom prst="rect">
            <a:avLst/>
          </a:prstGeom>
          <a:noFill/>
        </p:spPr>
        <p:txBody>
          <a:bodyPr wrap="square" lIns="0" tIns="0" rIns="0" bIns="0">
            <a:no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围定以品牌专场为主的带货达人</a:t>
            </a:r>
            <a:endParaRPr kumimoji="0" lang="en-US" altLang="zh-CN" sz="9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促成行业核心品牌专场合作</a:t>
            </a:r>
          </a:p>
        </p:txBody>
      </p:sp>
      <p:sp>
        <p:nvSpPr>
          <p:cNvPr id="159" name="熊大的PPT宝库86"/>
          <p:cNvSpPr/>
          <p:nvPr/>
        </p:nvSpPr>
        <p:spPr>
          <a:xfrm>
            <a:off x="7032571" y="3413333"/>
            <a:ext cx="1183724" cy="216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60" name="熊大的PPT宝库87"/>
          <p:cNvSpPr txBox="1"/>
          <p:nvPr/>
        </p:nvSpPr>
        <p:spPr>
          <a:xfrm>
            <a:off x="7085824" y="3440542"/>
            <a:ext cx="1077218" cy="161583"/>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329D"/>
                </a:solidFill>
                <a:effectLst/>
                <a:uLnTx/>
                <a:uFillTx/>
                <a:cs typeface="+mn-ea"/>
                <a:sym typeface="+mn-lt"/>
              </a:rPr>
              <a:t>主播粉丝需求分析</a:t>
            </a:r>
          </a:p>
        </p:txBody>
      </p:sp>
      <p:sp>
        <p:nvSpPr>
          <p:cNvPr id="161" name="熊大的PPT宝库88"/>
          <p:cNvSpPr/>
          <p:nvPr/>
        </p:nvSpPr>
        <p:spPr>
          <a:xfrm>
            <a:off x="8951057" y="3413333"/>
            <a:ext cx="1183724" cy="216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62" name="熊大的PPT宝库89"/>
          <p:cNvSpPr txBox="1"/>
          <p:nvPr/>
        </p:nvSpPr>
        <p:spPr>
          <a:xfrm>
            <a:off x="9138963" y="3440542"/>
            <a:ext cx="807913" cy="161583"/>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329D"/>
                </a:solidFill>
                <a:effectLst/>
                <a:uLnTx/>
                <a:uFillTx/>
                <a:cs typeface="+mn-ea"/>
                <a:sym typeface="+mn-lt"/>
              </a:rPr>
              <a:t>主播强势品类</a:t>
            </a:r>
          </a:p>
        </p:txBody>
      </p:sp>
      <p:sp>
        <p:nvSpPr>
          <p:cNvPr id="164" name="熊大的PPT宝库90"/>
          <p:cNvSpPr/>
          <p:nvPr/>
        </p:nvSpPr>
        <p:spPr>
          <a:xfrm>
            <a:off x="8951057" y="3818547"/>
            <a:ext cx="1183724" cy="216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65" name="熊大的PPT宝库91"/>
          <p:cNvSpPr txBox="1"/>
          <p:nvPr/>
        </p:nvSpPr>
        <p:spPr>
          <a:xfrm>
            <a:off x="9138963" y="3845756"/>
            <a:ext cx="807913" cy="161583"/>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329D"/>
                </a:solidFill>
                <a:effectLst/>
                <a:uLnTx/>
                <a:uFillTx/>
                <a:cs typeface="+mn-ea"/>
                <a:sym typeface="+mn-lt"/>
              </a:rPr>
              <a:t>关联机会品类</a:t>
            </a:r>
          </a:p>
        </p:txBody>
      </p:sp>
      <p:sp>
        <p:nvSpPr>
          <p:cNvPr id="166" name="熊大的PPT宝库92"/>
          <p:cNvSpPr/>
          <p:nvPr/>
        </p:nvSpPr>
        <p:spPr>
          <a:xfrm>
            <a:off x="10526471" y="3413333"/>
            <a:ext cx="1183724" cy="216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67" name="熊大的PPT宝库93"/>
          <p:cNvSpPr txBox="1"/>
          <p:nvPr/>
        </p:nvSpPr>
        <p:spPr>
          <a:xfrm>
            <a:off x="10579724" y="3440542"/>
            <a:ext cx="1077218" cy="161583"/>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329D"/>
                </a:solidFill>
                <a:effectLst/>
                <a:uLnTx/>
                <a:uFillTx/>
                <a:cs typeface="+mn-ea"/>
                <a:sym typeface="+mn-lt"/>
              </a:rPr>
              <a:t>设计主播奖励机制</a:t>
            </a:r>
          </a:p>
        </p:txBody>
      </p:sp>
      <p:sp>
        <p:nvSpPr>
          <p:cNvPr id="168" name="熊大的PPT宝库94"/>
          <p:cNvSpPr/>
          <p:nvPr/>
        </p:nvSpPr>
        <p:spPr>
          <a:xfrm>
            <a:off x="10526471" y="3818547"/>
            <a:ext cx="1183724" cy="216000"/>
          </a:xfrm>
          <a:prstGeom prst="roundRect">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69" name="熊大的PPT宝库95"/>
          <p:cNvSpPr txBox="1"/>
          <p:nvPr/>
        </p:nvSpPr>
        <p:spPr>
          <a:xfrm>
            <a:off x="10691934" y="3845756"/>
            <a:ext cx="852798" cy="161583"/>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329D"/>
                </a:solidFill>
                <a:effectLst/>
                <a:uLnTx/>
                <a:uFillTx/>
                <a:cs typeface="+mn-ea"/>
                <a:sym typeface="+mn-lt"/>
              </a:rPr>
              <a:t>达人种草</a:t>
            </a:r>
            <a:r>
              <a:rPr kumimoji="0" lang="en-US" altLang="zh-CN" sz="1050" b="0" i="0" u="none" strike="noStrike" kern="1200" cap="none" spc="0" normalizeH="0" baseline="0" noProof="0" dirty="0">
                <a:ln>
                  <a:noFill/>
                </a:ln>
                <a:solidFill>
                  <a:srgbClr val="00329D"/>
                </a:solidFill>
                <a:effectLst/>
                <a:uLnTx/>
                <a:uFillTx/>
                <a:cs typeface="+mn-ea"/>
                <a:sym typeface="+mn-lt"/>
              </a:rPr>
              <a:t>PK</a:t>
            </a:r>
            <a:r>
              <a:rPr kumimoji="0" lang="zh-CN" altLang="en-US" sz="1050" b="0" i="0" u="none" strike="noStrike" kern="1200" cap="none" spc="0" normalizeH="0" baseline="0" noProof="0" dirty="0">
                <a:ln>
                  <a:noFill/>
                </a:ln>
                <a:solidFill>
                  <a:srgbClr val="00329D"/>
                </a:solidFill>
                <a:effectLst/>
                <a:uLnTx/>
                <a:uFillTx/>
                <a:cs typeface="+mn-ea"/>
                <a:sym typeface="+mn-lt"/>
              </a:rPr>
              <a:t>赛</a:t>
            </a:r>
          </a:p>
        </p:txBody>
      </p:sp>
      <p:sp>
        <p:nvSpPr>
          <p:cNvPr id="172" name="熊大的PPT宝库96"/>
          <p:cNvSpPr txBox="1"/>
          <p:nvPr/>
        </p:nvSpPr>
        <p:spPr>
          <a:xfrm>
            <a:off x="7278186" y="3804089"/>
            <a:ext cx="692497" cy="163443"/>
          </a:xfrm>
          <a:prstGeom prst="rect">
            <a:avLst/>
          </a:prstGeom>
          <a:noFill/>
        </p:spPr>
        <p:txBody>
          <a:bodyPr wrap="square" lIns="0" tIns="0" rIns="0" bIns="0">
            <a:no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丰富的产品线</a:t>
            </a:r>
          </a:p>
        </p:txBody>
      </p:sp>
      <p:sp>
        <p:nvSpPr>
          <p:cNvPr id="173" name="熊大的PPT宝库97"/>
          <p:cNvSpPr txBox="1"/>
          <p:nvPr/>
        </p:nvSpPr>
        <p:spPr>
          <a:xfrm>
            <a:off x="7278186" y="3998012"/>
            <a:ext cx="692497" cy="163443"/>
          </a:xfrm>
          <a:prstGeom prst="rect">
            <a:avLst/>
          </a:prstGeom>
          <a:noFill/>
        </p:spPr>
        <p:txBody>
          <a:bodyPr wrap="square" lIns="0" tIns="0" rIns="0" bIns="0">
            <a:no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专业的助播团</a:t>
            </a:r>
          </a:p>
        </p:txBody>
      </p:sp>
      <p:sp>
        <p:nvSpPr>
          <p:cNvPr id="174" name="熊大的PPT宝库98"/>
          <p:cNvSpPr txBox="1"/>
          <p:nvPr/>
        </p:nvSpPr>
        <p:spPr>
          <a:xfrm>
            <a:off x="7162769" y="4191935"/>
            <a:ext cx="923330" cy="163443"/>
          </a:xfrm>
          <a:prstGeom prst="rect">
            <a:avLst/>
          </a:prstGeom>
          <a:noFill/>
        </p:spPr>
        <p:txBody>
          <a:bodyPr wrap="square" lIns="0" tIns="0" rIns="0" bIns="0">
            <a:no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工厂溯源承接实力</a:t>
            </a:r>
          </a:p>
        </p:txBody>
      </p:sp>
      <p:sp>
        <p:nvSpPr>
          <p:cNvPr id="175" name="熊大的PPT宝库99"/>
          <p:cNvSpPr txBox="1"/>
          <p:nvPr/>
        </p:nvSpPr>
        <p:spPr>
          <a:xfrm>
            <a:off x="8965838" y="2899750"/>
            <a:ext cx="1154162" cy="343492"/>
          </a:xfrm>
          <a:prstGeom prst="rect">
            <a:avLst/>
          </a:prstGeom>
          <a:noFill/>
        </p:spPr>
        <p:txBody>
          <a:bodyPr wrap="square" lIns="0" tIns="0" rIns="0" bIns="0">
            <a:no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分析主播关联销售品类</a:t>
            </a:r>
            <a:endParaRPr kumimoji="0" lang="en-US" altLang="zh-CN" sz="9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挖掘潜力增量机会</a:t>
            </a:r>
          </a:p>
        </p:txBody>
      </p:sp>
      <p:sp>
        <p:nvSpPr>
          <p:cNvPr id="176" name="熊大的PPT宝库100"/>
          <p:cNvSpPr txBox="1"/>
          <p:nvPr/>
        </p:nvSpPr>
        <p:spPr>
          <a:xfrm>
            <a:off x="10581640" y="2900045"/>
            <a:ext cx="1074420" cy="343535"/>
          </a:xfrm>
          <a:prstGeom prst="rect">
            <a:avLst/>
          </a:prstGeom>
          <a:noFill/>
        </p:spPr>
        <p:txBody>
          <a:bodyPr wrap="square" lIns="0" tIns="0" rIns="0" bIns="0">
            <a:no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与</a:t>
            </a:r>
            <a:r>
              <a:rPr kumimoji="0" lang="en-US" altLang="zh-CN" sz="900" b="0" i="0" u="none" strike="noStrike" kern="1200" cap="none" spc="0" normalizeH="0" baseline="0" noProof="0" dirty="0">
                <a:ln>
                  <a:noFill/>
                </a:ln>
                <a:solidFill>
                  <a:srgbClr val="000000"/>
                </a:solidFill>
                <a:effectLst/>
                <a:uLnTx/>
                <a:uFillTx/>
                <a:cs typeface="+mn-ea"/>
                <a:sym typeface="+mn-lt"/>
              </a:rPr>
              <a:t>1000</a:t>
            </a:r>
            <a:r>
              <a:rPr kumimoji="0" lang="zh-CN" altLang="en-US" sz="900" b="0" i="0" u="none" strike="noStrike" kern="1200" cap="none" spc="0" normalizeH="0" baseline="0" noProof="0" dirty="0">
                <a:ln>
                  <a:noFill/>
                </a:ln>
                <a:solidFill>
                  <a:srgbClr val="000000"/>
                </a:solidFill>
                <a:effectLst/>
                <a:uLnTx/>
                <a:uFillTx/>
                <a:cs typeface="+mn-ea"/>
                <a:sym typeface="+mn-lt"/>
              </a:rPr>
              <a:t>个达人</a:t>
            </a:r>
            <a:endParaRPr kumimoji="0" lang="en-US" altLang="zh-CN" sz="9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共建新品首发</a:t>
            </a:r>
          </a:p>
        </p:txBody>
      </p:sp>
      <p:sp>
        <p:nvSpPr>
          <p:cNvPr id="177" name="熊大的PPT宝库101"/>
          <p:cNvSpPr txBox="1"/>
          <p:nvPr/>
        </p:nvSpPr>
        <p:spPr>
          <a:xfrm>
            <a:off x="2552120" y="4755423"/>
            <a:ext cx="3805221" cy="430887"/>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持续打造行业影响力，提振主播带货兴趣和信心加深品类的购物心智</a:t>
            </a:r>
          </a:p>
        </p:txBody>
      </p:sp>
      <p:sp>
        <p:nvSpPr>
          <p:cNvPr id="178" name="熊大的PPT宝库102"/>
          <p:cNvSpPr txBox="1"/>
          <p:nvPr/>
        </p:nvSpPr>
        <p:spPr>
          <a:xfrm>
            <a:off x="3070108" y="5642825"/>
            <a:ext cx="2693045" cy="430887"/>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协同内部组织，共建合作</a:t>
            </a:r>
            <a:endParaRPr kumimoji="0" lang="en-US" altLang="zh-CN" sz="14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运用协同团队赋能以提升撮合效率</a:t>
            </a:r>
          </a:p>
        </p:txBody>
      </p:sp>
      <p:sp>
        <p:nvSpPr>
          <p:cNvPr id="179" name="熊大的PPT宝库103"/>
          <p:cNvSpPr/>
          <p:nvPr/>
        </p:nvSpPr>
        <p:spPr>
          <a:xfrm>
            <a:off x="6590933" y="4802406"/>
            <a:ext cx="828000" cy="324000"/>
          </a:xfrm>
          <a:prstGeom prst="roundRect">
            <a:avLst>
              <a:gd name="adj" fmla="val 50000"/>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80" name="熊大的PPT宝库104"/>
          <p:cNvSpPr txBox="1"/>
          <p:nvPr/>
        </p:nvSpPr>
        <p:spPr>
          <a:xfrm>
            <a:off x="6774101" y="4872073"/>
            <a:ext cx="461665"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品类节</a:t>
            </a:r>
          </a:p>
        </p:txBody>
      </p:sp>
      <p:sp>
        <p:nvSpPr>
          <p:cNvPr id="181" name="熊大的PPT宝库105"/>
          <p:cNvSpPr/>
          <p:nvPr/>
        </p:nvSpPr>
        <p:spPr>
          <a:xfrm>
            <a:off x="8220030" y="4802406"/>
            <a:ext cx="993820" cy="324000"/>
          </a:xfrm>
          <a:prstGeom prst="roundRect">
            <a:avLst>
              <a:gd name="adj" fmla="val 50000"/>
            </a:avLst>
          </a:prstGeom>
          <a:solidFill>
            <a:schemeClr val="accent1"/>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82" name="熊大的PPT宝库106"/>
          <p:cNvSpPr txBox="1"/>
          <p:nvPr/>
        </p:nvSpPr>
        <p:spPr>
          <a:xfrm>
            <a:off x="8409164" y="4872073"/>
            <a:ext cx="615553" cy="184666"/>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品牌溯源</a:t>
            </a:r>
          </a:p>
        </p:txBody>
      </p:sp>
      <p:sp>
        <p:nvSpPr>
          <p:cNvPr id="183" name="熊大的PPT宝库107"/>
          <p:cNvSpPr/>
          <p:nvPr/>
        </p:nvSpPr>
        <p:spPr>
          <a:xfrm>
            <a:off x="9990144" y="4802406"/>
            <a:ext cx="993820" cy="324000"/>
          </a:xfrm>
          <a:prstGeom prst="roundRect">
            <a:avLst>
              <a:gd name="adj" fmla="val 50000"/>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84" name="熊大的PPT宝库108"/>
          <p:cNvSpPr txBox="1"/>
          <p:nvPr/>
        </p:nvSpPr>
        <p:spPr>
          <a:xfrm>
            <a:off x="10179279" y="4872073"/>
            <a:ext cx="615553" cy="184666"/>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超级单品</a:t>
            </a:r>
          </a:p>
        </p:txBody>
      </p:sp>
      <p:sp>
        <p:nvSpPr>
          <p:cNvPr id="185" name="熊大的PPT宝库109"/>
          <p:cNvSpPr/>
          <p:nvPr/>
        </p:nvSpPr>
        <p:spPr>
          <a:xfrm>
            <a:off x="6581448" y="5671300"/>
            <a:ext cx="648000" cy="648000"/>
          </a:xfrm>
          <a:prstGeom prst="roundRect">
            <a:avLst>
              <a:gd name="adj" fmla="val 50000"/>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86" name="熊大的PPT宝库110"/>
          <p:cNvSpPr txBox="1"/>
          <p:nvPr/>
        </p:nvSpPr>
        <p:spPr>
          <a:xfrm>
            <a:off x="6764514" y="5821702"/>
            <a:ext cx="365030" cy="369332"/>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策略团队</a:t>
            </a:r>
          </a:p>
        </p:txBody>
      </p:sp>
      <p:sp>
        <p:nvSpPr>
          <p:cNvPr id="187" name="熊大的PPT宝库111"/>
          <p:cNvSpPr/>
          <p:nvPr/>
        </p:nvSpPr>
        <p:spPr>
          <a:xfrm>
            <a:off x="10328265" y="5671300"/>
            <a:ext cx="648000" cy="648000"/>
          </a:xfrm>
          <a:prstGeom prst="roundRect">
            <a:avLst>
              <a:gd name="adj" fmla="val 50000"/>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88" name="熊大的PPT宝库112"/>
          <p:cNvSpPr txBox="1"/>
          <p:nvPr/>
        </p:nvSpPr>
        <p:spPr>
          <a:xfrm>
            <a:off x="10511331" y="5821702"/>
            <a:ext cx="365030" cy="369332"/>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团队数据</a:t>
            </a:r>
          </a:p>
        </p:txBody>
      </p:sp>
      <p:sp>
        <p:nvSpPr>
          <p:cNvPr id="189" name="熊大的PPT宝库113"/>
          <p:cNvSpPr/>
          <p:nvPr/>
        </p:nvSpPr>
        <p:spPr>
          <a:xfrm>
            <a:off x="8385274" y="5339936"/>
            <a:ext cx="792000" cy="288000"/>
          </a:xfrm>
          <a:prstGeom prst="roundRect">
            <a:avLst>
              <a:gd name="adj" fmla="val 50000"/>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90" name="熊大的PPT宝库114"/>
          <p:cNvSpPr txBox="1"/>
          <p:nvPr/>
        </p:nvSpPr>
        <p:spPr>
          <a:xfrm>
            <a:off x="8550441" y="5414687"/>
            <a:ext cx="461665" cy="138499"/>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329D"/>
                </a:solidFill>
                <a:effectLst/>
                <a:uLnTx/>
                <a:uFillTx/>
                <a:cs typeface="+mn-ea"/>
                <a:sym typeface="+mn-lt"/>
              </a:rPr>
              <a:t>团队达人</a:t>
            </a:r>
          </a:p>
        </p:txBody>
      </p:sp>
      <p:sp>
        <p:nvSpPr>
          <p:cNvPr id="191" name="熊大的PPT宝库115"/>
          <p:cNvSpPr/>
          <p:nvPr/>
        </p:nvSpPr>
        <p:spPr>
          <a:xfrm>
            <a:off x="8385274" y="5951593"/>
            <a:ext cx="792000" cy="288000"/>
          </a:xfrm>
          <a:prstGeom prst="roundRect">
            <a:avLst>
              <a:gd name="adj" fmla="val 50000"/>
            </a:avLst>
          </a:prstGeom>
          <a:solidFill>
            <a:schemeClr val="accent1">
              <a:lumMod val="20000"/>
              <a:lumOff val="80000"/>
              <a:alpha val="40000"/>
            </a:schemeClr>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92" name="熊大的PPT宝库116"/>
          <p:cNvSpPr txBox="1"/>
          <p:nvPr/>
        </p:nvSpPr>
        <p:spPr>
          <a:xfrm>
            <a:off x="8550441" y="6026344"/>
            <a:ext cx="461665" cy="138499"/>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329D"/>
                </a:solidFill>
                <a:effectLst/>
                <a:uLnTx/>
                <a:uFillTx/>
                <a:cs typeface="+mn-ea"/>
                <a:sym typeface="+mn-lt"/>
              </a:rPr>
              <a:t>货主团队</a:t>
            </a:r>
          </a:p>
        </p:txBody>
      </p:sp>
      <p:sp>
        <p:nvSpPr>
          <p:cNvPr id="195" name="熊大的PPT宝库117"/>
          <p:cNvSpPr/>
          <p:nvPr/>
        </p:nvSpPr>
        <p:spPr>
          <a:xfrm rot="16200000" flipV="1">
            <a:off x="8715222" y="5559738"/>
            <a:ext cx="169986" cy="353942"/>
          </a:xfrm>
          <a:prstGeom prst="rightArrow">
            <a:avLst/>
          </a:prstGeom>
          <a:gradFill>
            <a:gsLst>
              <a:gs pos="0">
                <a:schemeClr val="accent1">
                  <a:alpha val="0"/>
                </a:schemeClr>
              </a:gs>
              <a:gs pos="100000">
                <a:schemeClr val="accent1"/>
              </a:gs>
            </a:gsLst>
            <a:lin ang="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96" name="熊大的PPT宝库118"/>
          <p:cNvSpPr/>
          <p:nvPr/>
        </p:nvSpPr>
        <p:spPr>
          <a:xfrm flipV="1">
            <a:off x="9835490" y="5984555"/>
            <a:ext cx="468000" cy="252000"/>
          </a:xfrm>
          <a:prstGeom prst="rightArrow">
            <a:avLst/>
          </a:prstGeom>
          <a:gradFill>
            <a:gsLst>
              <a:gs pos="0">
                <a:schemeClr val="accent1">
                  <a:alpha val="0"/>
                </a:schemeClr>
              </a:gs>
              <a:gs pos="100000">
                <a:schemeClr val="accent1"/>
              </a:gs>
            </a:gsLst>
            <a:lin ang="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97" name="熊大的PPT宝库119"/>
          <p:cNvSpPr/>
          <p:nvPr/>
        </p:nvSpPr>
        <p:spPr>
          <a:xfrm flipH="1" flipV="1">
            <a:off x="9213388" y="5984555"/>
            <a:ext cx="468000" cy="252000"/>
          </a:xfrm>
          <a:prstGeom prst="rightArrow">
            <a:avLst/>
          </a:prstGeom>
          <a:gradFill>
            <a:gsLst>
              <a:gs pos="0">
                <a:schemeClr val="accent1">
                  <a:alpha val="0"/>
                </a:schemeClr>
              </a:gs>
              <a:gs pos="100000">
                <a:schemeClr val="accent1"/>
              </a:gs>
            </a:gsLst>
            <a:lin ang="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98" name="熊大的PPT宝库120"/>
          <p:cNvSpPr/>
          <p:nvPr/>
        </p:nvSpPr>
        <p:spPr>
          <a:xfrm flipV="1">
            <a:off x="7875649" y="5984555"/>
            <a:ext cx="468000" cy="252000"/>
          </a:xfrm>
          <a:prstGeom prst="rightArrow">
            <a:avLst/>
          </a:prstGeom>
          <a:gradFill>
            <a:gsLst>
              <a:gs pos="0">
                <a:schemeClr val="accent1">
                  <a:alpha val="0"/>
                </a:schemeClr>
              </a:gs>
              <a:gs pos="100000">
                <a:schemeClr val="accent1"/>
              </a:gs>
            </a:gsLst>
            <a:lin ang="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99" name="熊大的PPT宝库121"/>
          <p:cNvSpPr/>
          <p:nvPr/>
        </p:nvSpPr>
        <p:spPr>
          <a:xfrm flipH="1" flipV="1">
            <a:off x="7253547" y="5984555"/>
            <a:ext cx="468000" cy="252000"/>
          </a:xfrm>
          <a:prstGeom prst="rightArrow">
            <a:avLst/>
          </a:prstGeom>
          <a:gradFill>
            <a:gsLst>
              <a:gs pos="0">
                <a:schemeClr val="accent1">
                  <a:alpha val="0"/>
                </a:schemeClr>
              </a:gs>
              <a:gs pos="100000">
                <a:schemeClr val="accent1"/>
              </a:gs>
            </a:gsLst>
            <a:lin ang="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03" name="熊大的PPT宝库122"/>
          <p:cNvSpPr txBox="1"/>
          <p:nvPr/>
        </p:nvSpPr>
        <p:spPr>
          <a:xfrm>
            <a:off x="7437551" y="5841412"/>
            <a:ext cx="769441" cy="153888"/>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设计分销政策</a:t>
            </a:r>
          </a:p>
        </p:txBody>
      </p:sp>
      <p:sp>
        <p:nvSpPr>
          <p:cNvPr id="204" name="熊大的PPT宝库123"/>
          <p:cNvSpPr txBox="1"/>
          <p:nvPr/>
        </p:nvSpPr>
        <p:spPr>
          <a:xfrm>
            <a:off x="9409838" y="5832869"/>
            <a:ext cx="769441" cy="153888"/>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构建分销看板</a:t>
            </a:r>
          </a:p>
        </p:txBody>
      </p:sp>
      <p:sp>
        <p:nvSpPr>
          <p:cNvPr id="205" name="熊大的PPT宝库124"/>
          <p:cNvSpPr txBox="1"/>
          <p:nvPr/>
        </p:nvSpPr>
        <p:spPr>
          <a:xfrm>
            <a:off x="7437147" y="6165687"/>
            <a:ext cx="769441" cy="153888"/>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激励达人带货</a:t>
            </a:r>
          </a:p>
        </p:txBody>
      </p:sp>
      <p:sp>
        <p:nvSpPr>
          <p:cNvPr id="206" name="熊大的PPT宝库125"/>
          <p:cNvSpPr txBox="1"/>
          <p:nvPr/>
        </p:nvSpPr>
        <p:spPr>
          <a:xfrm>
            <a:off x="9393656" y="6159611"/>
            <a:ext cx="769441" cy="153888"/>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提高撮合准度</a:t>
            </a:r>
          </a:p>
        </p:txBody>
      </p:sp>
      <p:sp>
        <p:nvSpPr>
          <p:cNvPr id="208" name="熊大的PPT宝库126"/>
          <p:cNvSpPr txBox="1"/>
          <p:nvPr/>
        </p:nvSpPr>
        <p:spPr>
          <a:xfrm>
            <a:off x="8518086" y="5787478"/>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商达撮合</a:t>
            </a:r>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熊大的PPT宝库1"/>
          <p:cNvSpPr/>
          <p:nvPr/>
        </p:nvSpPr>
        <p:spPr>
          <a:xfrm>
            <a:off x="3745826" y="2790390"/>
            <a:ext cx="8003262" cy="1752273"/>
          </a:xfrm>
          <a:prstGeom prst="roundRect">
            <a:avLst>
              <a:gd name="adj" fmla="val 4606"/>
            </a:avLst>
          </a:prstGeom>
          <a:solidFill>
            <a:srgbClr val="F5F8FF">
              <a:alpha val="50000"/>
            </a:srgbClr>
          </a:solidFill>
          <a:ln w="6350" cap="flat">
            <a:solidFill>
              <a:schemeClr val="accent1">
                <a:lumMod val="60000"/>
                <a:lumOff val="40000"/>
                <a:alpha val="50000"/>
              </a:schemeClr>
            </a:solidFill>
            <a:custDash>
              <a:ds d="300000" sp="300000"/>
            </a:custDash>
            <a:miter/>
          </a:ln>
        </p:spPr>
        <p:txBody>
          <a:bodyPr wrap="square"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9" name="熊大的PPT宝库2"/>
          <p:cNvSpPr/>
          <p:nvPr/>
        </p:nvSpPr>
        <p:spPr>
          <a:xfrm>
            <a:off x="3745826" y="4608659"/>
            <a:ext cx="8002225" cy="1830238"/>
          </a:xfrm>
          <a:prstGeom prst="roundRect">
            <a:avLst>
              <a:gd name="adj" fmla="val 4606"/>
            </a:avLst>
          </a:prstGeom>
          <a:solidFill>
            <a:srgbClr val="F5F8FF">
              <a:alpha val="50000"/>
            </a:srgbClr>
          </a:solidFill>
          <a:ln w="6350" cap="flat">
            <a:solidFill>
              <a:schemeClr val="accent1">
                <a:lumMod val="60000"/>
                <a:lumOff val="40000"/>
                <a:alpha val="50000"/>
              </a:schemeClr>
            </a:solidFill>
            <a:custDash>
              <a:ds d="300000" sp="300000"/>
            </a:custDash>
            <a:miter/>
          </a:ln>
        </p:spPr>
        <p:txBody>
          <a:bodyPr wrap="square"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7" name="熊大的PPT宝库3"/>
          <p:cNvSpPr/>
          <p:nvPr/>
        </p:nvSpPr>
        <p:spPr>
          <a:xfrm>
            <a:off x="3745826" y="985498"/>
            <a:ext cx="8002225" cy="1752273"/>
          </a:xfrm>
          <a:prstGeom prst="roundRect">
            <a:avLst>
              <a:gd name="adj" fmla="val 4606"/>
            </a:avLst>
          </a:prstGeom>
          <a:solidFill>
            <a:srgbClr val="F5F8FF">
              <a:alpha val="50000"/>
            </a:srgbClr>
          </a:solidFill>
          <a:ln w="6350" cap="flat">
            <a:solidFill>
              <a:schemeClr val="accent1">
                <a:lumMod val="60000"/>
                <a:lumOff val="40000"/>
                <a:alpha val="50000"/>
              </a:schemeClr>
            </a:solidFill>
            <a:custDash>
              <a:ds d="300000" sp="300000"/>
            </a:custDash>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6" name="熊大的PPT宝库4"/>
          <p:cNvSpPr/>
          <p:nvPr/>
        </p:nvSpPr>
        <p:spPr>
          <a:xfrm>
            <a:off x="443949" y="985498"/>
            <a:ext cx="3228234" cy="5453399"/>
          </a:xfrm>
          <a:prstGeom prst="roundRect">
            <a:avLst>
              <a:gd name="adj" fmla="val 4606"/>
            </a:avLst>
          </a:prstGeom>
          <a:solidFill>
            <a:srgbClr val="F5F8FF">
              <a:alpha val="50000"/>
            </a:srgbClr>
          </a:solidFill>
          <a:ln w="6350" cap="flat">
            <a:solidFill>
              <a:schemeClr val="accent1">
                <a:lumMod val="60000"/>
                <a:lumOff val="40000"/>
                <a:alpha val="50000"/>
              </a:schemeClr>
            </a:solid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2" name="熊大的PPT宝库5"/>
          <p:cNvSpPr txBox="1"/>
          <p:nvPr/>
        </p:nvSpPr>
        <p:spPr>
          <a:xfrm>
            <a:off x="348830" y="216968"/>
            <a:ext cx="6054863"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企业</a:t>
            </a:r>
            <a:r>
              <a:rPr kumimoji="0" lang="en-US" altLang="zh-CN" sz="3200" b="0" i="0" u="none" strike="noStrike" kern="1200" cap="none" spc="0" normalizeH="0" baseline="0" noProof="0" dirty="0">
                <a:ln>
                  <a:noFill/>
                </a:ln>
                <a:solidFill>
                  <a:srgbClr val="00329D"/>
                </a:solidFill>
                <a:effectLst/>
                <a:uLnTx/>
                <a:uFillTx/>
                <a:cs typeface="+mn-ea"/>
                <a:sym typeface="+mn-lt"/>
              </a:rPr>
              <a:t>:</a:t>
            </a:r>
            <a:r>
              <a:rPr kumimoji="0" lang="zh-CN" altLang="en-US" sz="3200" b="0" i="0" u="none" strike="noStrike" kern="1200" cap="none" spc="0" normalizeH="0" baseline="0" noProof="0" dirty="0">
                <a:ln>
                  <a:noFill/>
                </a:ln>
                <a:solidFill>
                  <a:srgbClr val="00329D"/>
                </a:solidFill>
                <a:effectLst/>
                <a:uLnTx/>
                <a:uFillTx/>
                <a:cs typeface="+mn-ea"/>
                <a:sym typeface="+mn-lt"/>
              </a:rPr>
              <a:t>数字化使工作流程更加高效</a:t>
            </a:r>
          </a:p>
        </p:txBody>
      </p:sp>
      <p:sp>
        <p:nvSpPr>
          <p:cNvPr id="4" name="熊大的PPT宝库7"/>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
        <p:nvSpPr>
          <p:cNvPr id="16" name="熊大的PPT宝库8"/>
          <p:cNvSpPr txBox="1"/>
          <p:nvPr/>
        </p:nvSpPr>
        <p:spPr>
          <a:xfrm>
            <a:off x="1134737" y="1756646"/>
            <a:ext cx="1846659" cy="369332"/>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00329D"/>
                </a:solidFill>
                <a:effectLst/>
                <a:uLnTx/>
                <a:uFillTx/>
                <a:cs typeface="+mn-ea"/>
                <a:sym typeface="+mn-lt"/>
              </a:rPr>
              <a:t>企业持续经营</a:t>
            </a:r>
          </a:p>
        </p:txBody>
      </p:sp>
      <p:sp>
        <p:nvSpPr>
          <p:cNvPr id="17" name="熊大的PPT宝库9"/>
          <p:cNvSpPr/>
          <p:nvPr/>
        </p:nvSpPr>
        <p:spPr>
          <a:xfrm flipH="1">
            <a:off x="1631251" y="2752676"/>
            <a:ext cx="1873249" cy="1656000"/>
          </a:xfrm>
          <a:prstGeom prst="parallelogram">
            <a:avLst>
              <a:gd name="adj" fmla="val 57414"/>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8" name="熊大的PPT宝库10"/>
          <p:cNvSpPr/>
          <p:nvPr/>
        </p:nvSpPr>
        <p:spPr>
          <a:xfrm rot="3599266" flipH="1">
            <a:off x="380912" y="3171179"/>
            <a:ext cx="1873249" cy="1656000"/>
          </a:xfrm>
          <a:prstGeom prst="parallelogram">
            <a:avLst>
              <a:gd name="adj" fmla="val 57414"/>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9" name="熊大的PPT宝库11"/>
          <p:cNvSpPr/>
          <p:nvPr/>
        </p:nvSpPr>
        <p:spPr>
          <a:xfrm rot="7208333" flipH="1">
            <a:off x="1381535" y="4018871"/>
            <a:ext cx="1873249" cy="1656000"/>
          </a:xfrm>
          <a:prstGeom prst="parallelogram">
            <a:avLst>
              <a:gd name="adj" fmla="val 57414"/>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0" name="熊大的PPT宝库12"/>
          <p:cNvSpPr txBox="1"/>
          <p:nvPr/>
        </p:nvSpPr>
        <p:spPr>
          <a:xfrm rot="3720460">
            <a:off x="2671825" y="3263843"/>
            <a:ext cx="923330"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工作流程</a:t>
            </a:r>
          </a:p>
        </p:txBody>
      </p:sp>
      <p:sp>
        <p:nvSpPr>
          <p:cNvPr id="21" name="熊大的PPT宝库13"/>
          <p:cNvSpPr txBox="1"/>
          <p:nvPr/>
        </p:nvSpPr>
        <p:spPr>
          <a:xfrm rot="17945550">
            <a:off x="407619" y="3418671"/>
            <a:ext cx="923330"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商业模式</a:t>
            </a:r>
          </a:p>
        </p:txBody>
      </p:sp>
      <p:sp>
        <p:nvSpPr>
          <p:cNvPr id="22" name="熊大的PPT宝库14"/>
          <p:cNvSpPr txBox="1"/>
          <p:nvPr/>
        </p:nvSpPr>
        <p:spPr>
          <a:xfrm>
            <a:off x="1810506" y="5280498"/>
            <a:ext cx="692497"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价值链</a:t>
            </a:r>
          </a:p>
        </p:txBody>
      </p:sp>
      <p:sp>
        <p:nvSpPr>
          <p:cNvPr id="23" name="熊大的PPT宝库15"/>
          <p:cNvSpPr txBox="1"/>
          <p:nvPr/>
        </p:nvSpPr>
        <p:spPr>
          <a:xfrm rot="17945550">
            <a:off x="907921" y="3767280"/>
            <a:ext cx="923330"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平台经济</a:t>
            </a:r>
          </a:p>
        </p:txBody>
      </p:sp>
      <p:sp>
        <p:nvSpPr>
          <p:cNvPr id="5" name="熊大的PPT宝库16"/>
          <p:cNvSpPr txBox="1"/>
          <p:nvPr/>
        </p:nvSpPr>
        <p:spPr>
          <a:xfrm rot="3720460">
            <a:off x="2562862" y="3507567"/>
            <a:ext cx="359073"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灵活</a:t>
            </a:r>
          </a:p>
        </p:txBody>
      </p:sp>
      <p:sp>
        <p:nvSpPr>
          <p:cNvPr id="6" name="熊大的PPT宝库17"/>
          <p:cNvSpPr txBox="1"/>
          <p:nvPr/>
        </p:nvSpPr>
        <p:spPr>
          <a:xfrm rot="3720460">
            <a:off x="2307933" y="3654321"/>
            <a:ext cx="359073"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高效</a:t>
            </a:r>
          </a:p>
        </p:txBody>
      </p:sp>
      <p:sp>
        <p:nvSpPr>
          <p:cNvPr id="7" name="熊大的PPT宝库18"/>
          <p:cNvSpPr txBox="1"/>
          <p:nvPr/>
        </p:nvSpPr>
        <p:spPr>
          <a:xfrm>
            <a:off x="1977218" y="4579926"/>
            <a:ext cx="359073"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智能</a:t>
            </a:r>
          </a:p>
        </p:txBody>
      </p:sp>
      <p:sp>
        <p:nvSpPr>
          <p:cNvPr id="9" name="熊大的PPT宝库19"/>
          <p:cNvSpPr txBox="1"/>
          <p:nvPr/>
        </p:nvSpPr>
        <p:spPr>
          <a:xfrm>
            <a:off x="1977218" y="4878234"/>
            <a:ext cx="359073"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互联</a:t>
            </a:r>
          </a:p>
        </p:txBody>
      </p:sp>
      <p:sp>
        <p:nvSpPr>
          <p:cNvPr id="15" name="熊大的PPT宝库20"/>
          <p:cNvSpPr/>
          <p:nvPr/>
        </p:nvSpPr>
        <p:spPr>
          <a:xfrm>
            <a:off x="3899689" y="1177518"/>
            <a:ext cx="540000" cy="1390813"/>
          </a:xfrm>
          <a:prstGeom prst="roundRect">
            <a:avLst>
              <a:gd name="adj" fmla="val 6969"/>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4" name="熊大的PPT宝库21"/>
          <p:cNvSpPr txBox="1"/>
          <p:nvPr/>
        </p:nvSpPr>
        <p:spPr>
          <a:xfrm>
            <a:off x="4046786" y="1379520"/>
            <a:ext cx="245806" cy="1107996"/>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工作流程</a:t>
            </a:r>
          </a:p>
        </p:txBody>
      </p:sp>
      <p:sp>
        <p:nvSpPr>
          <p:cNvPr id="25" name="熊大的PPT宝库22"/>
          <p:cNvSpPr/>
          <p:nvPr/>
        </p:nvSpPr>
        <p:spPr>
          <a:xfrm>
            <a:off x="3899688" y="2908832"/>
            <a:ext cx="539999" cy="1512000"/>
          </a:xfrm>
          <a:prstGeom prst="roundRect">
            <a:avLst>
              <a:gd name="adj" fmla="val 6969"/>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6" name="熊大的PPT宝库23"/>
          <p:cNvSpPr txBox="1"/>
          <p:nvPr/>
        </p:nvSpPr>
        <p:spPr>
          <a:xfrm>
            <a:off x="4046784" y="3249334"/>
            <a:ext cx="245806" cy="83099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价值链</a:t>
            </a:r>
          </a:p>
        </p:txBody>
      </p:sp>
      <p:sp>
        <p:nvSpPr>
          <p:cNvPr id="27" name="熊大的PPT宝库24"/>
          <p:cNvSpPr/>
          <p:nvPr/>
        </p:nvSpPr>
        <p:spPr>
          <a:xfrm>
            <a:off x="3899689" y="4716346"/>
            <a:ext cx="539998" cy="1512000"/>
          </a:xfrm>
          <a:prstGeom prst="roundRect">
            <a:avLst>
              <a:gd name="adj" fmla="val 6969"/>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8" name="熊大的PPT宝库25"/>
          <p:cNvSpPr txBox="1"/>
          <p:nvPr/>
        </p:nvSpPr>
        <p:spPr>
          <a:xfrm>
            <a:off x="4046785" y="4918348"/>
            <a:ext cx="245806" cy="110799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商业模式</a:t>
            </a:r>
          </a:p>
        </p:txBody>
      </p:sp>
      <p:sp>
        <p:nvSpPr>
          <p:cNvPr id="29" name="熊大的PPT宝库26"/>
          <p:cNvSpPr txBox="1"/>
          <p:nvPr/>
        </p:nvSpPr>
        <p:spPr>
          <a:xfrm>
            <a:off x="5181606" y="1071672"/>
            <a:ext cx="2542363"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全球云</a:t>
            </a:r>
            <a:r>
              <a:rPr kumimoji="0" lang="en-US" altLang="zh-CN" sz="1100" b="0" i="0" u="none" strike="noStrike" kern="1200" cap="none" spc="0" normalizeH="0" baseline="0" noProof="0" dirty="0" err="1">
                <a:ln>
                  <a:noFill/>
                </a:ln>
                <a:solidFill>
                  <a:srgbClr val="000000"/>
                </a:solidFill>
                <a:effectLst/>
                <a:uLnTx/>
                <a:uFillTx/>
                <a:cs typeface="+mn-ea"/>
                <a:sym typeface="+mn-lt"/>
              </a:rPr>
              <a:t>Saas</a:t>
            </a:r>
            <a:r>
              <a:rPr kumimoji="0" lang="zh-CN" altLang="en-US" sz="1100" b="0" i="0" u="none" strike="noStrike" kern="1200" cap="none" spc="0" normalizeH="0" baseline="0" noProof="0" dirty="0">
                <a:ln>
                  <a:noFill/>
                </a:ln>
                <a:solidFill>
                  <a:srgbClr val="000000"/>
                </a:solidFill>
                <a:effectLst/>
                <a:uLnTx/>
                <a:uFillTx/>
                <a:cs typeface="+mn-ea"/>
                <a:sym typeface="+mn-lt"/>
              </a:rPr>
              <a:t>市场增速显著加快</a:t>
            </a:r>
            <a:r>
              <a:rPr kumimoji="0" lang="en-US" altLang="zh-CN" sz="1100" b="0"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百万美元</a:t>
            </a:r>
            <a:r>
              <a:rPr kumimoji="0" lang="en-US" altLang="zh-CN" sz="1100" b="0" i="0" u="none" strike="noStrike" kern="1200" cap="none" spc="0" normalizeH="0" baseline="0" noProof="0" dirty="0">
                <a:ln>
                  <a:noFill/>
                </a:ln>
                <a:solidFill>
                  <a:srgbClr val="000000"/>
                </a:solidFill>
                <a:effectLst/>
                <a:uLnTx/>
                <a:uFillTx/>
                <a:cs typeface="+mn-ea"/>
                <a:sym typeface="+mn-lt"/>
              </a:rPr>
              <a:t>]</a:t>
            </a:r>
            <a:endParaRPr kumimoji="0" lang="zh-CN" altLang="en-US" sz="1100" b="0" i="0" u="none" strike="noStrike" kern="1200" cap="none" spc="0" normalizeH="0" baseline="0" noProof="0" dirty="0">
              <a:ln>
                <a:noFill/>
              </a:ln>
              <a:solidFill>
                <a:srgbClr val="000000"/>
              </a:solidFill>
              <a:effectLst/>
              <a:uLnTx/>
              <a:uFillTx/>
              <a:cs typeface="+mn-ea"/>
              <a:sym typeface="+mn-lt"/>
            </a:endParaRPr>
          </a:p>
        </p:txBody>
      </p:sp>
      <p:sp>
        <p:nvSpPr>
          <p:cNvPr id="30" name="熊大的PPT宝库27"/>
          <p:cNvSpPr txBox="1"/>
          <p:nvPr/>
        </p:nvSpPr>
        <p:spPr>
          <a:xfrm>
            <a:off x="8502246" y="1082940"/>
            <a:ext cx="2614498"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000000"/>
                </a:solidFill>
                <a:effectLst/>
                <a:uLnTx/>
                <a:uFillTx/>
                <a:cs typeface="+mn-ea"/>
                <a:sym typeface="+mn-lt"/>
              </a:rPr>
              <a:t>ZOOM</a:t>
            </a:r>
            <a:r>
              <a:rPr kumimoji="0" lang="zh-CN" altLang="en-US" sz="1100" b="0" i="0" u="none" strike="noStrike" kern="1200" cap="none" spc="0" normalizeH="0" baseline="0" noProof="0" dirty="0">
                <a:ln>
                  <a:noFill/>
                </a:ln>
                <a:solidFill>
                  <a:srgbClr val="000000"/>
                </a:solidFill>
                <a:effectLst/>
                <a:uLnTx/>
                <a:uFillTx/>
                <a:cs typeface="+mn-ea"/>
                <a:sym typeface="+mn-lt"/>
              </a:rPr>
              <a:t>的每日会议参与者为数字化前</a:t>
            </a:r>
            <a:r>
              <a:rPr kumimoji="0" lang="en-US" altLang="zh-CN" sz="1100" b="0" i="0" u="none" strike="noStrike" kern="1200" cap="none" spc="0" normalizeH="0" baseline="0" noProof="0" dirty="0">
                <a:ln>
                  <a:noFill/>
                </a:ln>
                <a:solidFill>
                  <a:srgbClr val="000000"/>
                </a:solidFill>
                <a:effectLst/>
                <a:uLnTx/>
                <a:uFillTx/>
                <a:cs typeface="+mn-ea"/>
                <a:sym typeface="+mn-lt"/>
              </a:rPr>
              <a:t>30</a:t>
            </a:r>
            <a:r>
              <a:rPr kumimoji="0" lang="zh-CN" altLang="en-US" sz="1100" b="0" i="0" u="none" strike="noStrike" kern="1200" cap="none" spc="0" normalizeH="0" baseline="0" noProof="0" dirty="0">
                <a:ln>
                  <a:noFill/>
                </a:ln>
                <a:solidFill>
                  <a:srgbClr val="000000"/>
                </a:solidFill>
                <a:effectLst/>
                <a:uLnTx/>
                <a:uFillTx/>
                <a:cs typeface="+mn-ea"/>
                <a:sym typeface="+mn-lt"/>
              </a:rPr>
              <a:t>倍</a:t>
            </a:r>
          </a:p>
        </p:txBody>
      </p:sp>
      <p:sp>
        <p:nvSpPr>
          <p:cNvPr id="33" name="熊大的PPT宝库28"/>
          <p:cNvSpPr txBox="1"/>
          <p:nvPr/>
        </p:nvSpPr>
        <p:spPr>
          <a:xfrm>
            <a:off x="4545062" y="1483297"/>
            <a:ext cx="245806" cy="923330"/>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更敏捷高效</a:t>
            </a:r>
          </a:p>
        </p:txBody>
      </p:sp>
      <p:sp>
        <p:nvSpPr>
          <p:cNvPr id="34" name="熊大的PPT宝库29"/>
          <p:cNvSpPr txBox="1"/>
          <p:nvPr/>
        </p:nvSpPr>
        <p:spPr>
          <a:xfrm>
            <a:off x="4569458" y="3249334"/>
            <a:ext cx="245806" cy="923330"/>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更智能互联</a:t>
            </a:r>
          </a:p>
        </p:txBody>
      </p:sp>
      <p:sp>
        <p:nvSpPr>
          <p:cNvPr id="35" name="熊大的PPT宝库30"/>
          <p:cNvSpPr txBox="1"/>
          <p:nvPr/>
        </p:nvSpPr>
        <p:spPr>
          <a:xfrm>
            <a:off x="4564886" y="5108274"/>
            <a:ext cx="245806" cy="73866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更平台化</a:t>
            </a:r>
          </a:p>
        </p:txBody>
      </p:sp>
      <p:graphicFrame>
        <p:nvGraphicFramePr>
          <p:cNvPr id="38" name="熊大的PPT宝库31"/>
          <p:cNvGraphicFramePr/>
          <p:nvPr/>
        </p:nvGraphicFramePr>
        <p:xfrm>
          <a:off x="4747229" y="1703839"/>
          <a:ext cx="3411119" cy="1067591"/>
        </p:xfrm>
        <a:graphic>
          <a:graphicData uri="http://schemas.openxmlformats.org/drawingml/2006/chart">
            <c:chart xmlns:c="http://schemas.openxmlformats.org/drawingml/2006/chart" xmlns:r="http://schemas.openxmlformats.org/officeDocument/2006/relationships" r:id="rId4"/>
          </a:graphicData>
        </a:graphic>
      </p:graphicFrame>
      <p:sp>
        <p:nvSpPr>
          <p:cNvPr id="39" name="熊大的PPT宝库32"/>
          <p:cNvSpPr/>
          <p:nvPr/>
        </p:nvSpPr>
        <p:spPr>
          <a:xfrm rot="1621099" flipV="1">
            <a:off x="5499080" y="1445949"/>
            <a:ext cx="515997" cy="519749"/>
          </a:xfrm>
          <a:custGeom>
            <a:avLst/>
            <a:gdLst>
              <a:gd name="connsiteX0" fmla="*/ 654803 w 765798"/>
              <a:gd name="connsiteY0" fmla="*/ 464746 h 771367"/>
              <a:gd name="connsiteX1" fmla="*/ 653019 w 765798"/>
              <a:gd name="connsiteY1" fmla="*/ 459191 h 771367"/>
              <a:gd name="connsiteX2" fmla="*/ 601722 w 765798"/>
              <a:gd name="connsiteY2" fmla="*/ 340959 h 771367"/>
              <a:gd name="connsiteX3" fmla="*/ 594109 w 765798"/>
              <a:gd name="connsiteY3" fmla="*/ 326866 h 771367"/>
              <a:gd name="connsiteX4" fmla="*/ 585845 w 765798"/>
              <a:gd name="connsiteY4" fmla="*/ 313116 h 771367"/>
              <a:gd name="connsiteX5" fmla="*/ 568906 w 765798"/>
              <a:gd name="connsiteY5" fmla="*/ 286061 h 771367"/>
              <a:gd name="connsiteX6" fmla="*/ 530947 w 765798"/>
              <a:gd name="connsiteY6" fmla="*/ 235003 h 771367"/>
              <a:gd name="connsiteX7" fmla="*/ 488941 w 765798"/>
              <a:gd name="connsiteY7" fmla="*/ 187957 h 771367"/>
              <a:gd name="connsiteX8" fmla="*/ 483523 w 765798"/>
              <a:gd name="connsiteY8" fmla="*/ 182299 h 771367"/>
              <a:gd name="connsiteX9" fmla="*/ 477729 w 765798"/>
              <a:gd name="connsiteY9" fmla="*/ 176984 h 771367"/>
              <a:gd name="connsiteX10" fmla="*/ 466173 w 765798"/>
              <a:gd name="connsiteY10" fmla="*/ 166389 h 771367"/>
              <a:gd name="connsiteX11" fmla="*/ 454651 w 765798"/>
              <a:gd name="connsiteY11" fmla="*/ 155862 h 771367"/>
              <a:gd name="connsiteX12" fmla="*/ 442822 w 765798"/>
              <a:gd name="connsiteY12" fmla="*/ 145746 h 771367"/>
              <a:gd name="connsiteX13" fmla="*/ 341186 w 765798"/>
              <a:gd name="connsiteY13" fmla="*/ 76652 h 771367"/>
              <a:gd name="connsiteX14" fmla="*/ 230327 w 765798"/>
              <a:gd name="connsiteY14" fmla="*/ 29778 h 771367"/>
              <a:gd name="connsiteX15" fmla="*/ 0 w 765798"/>
              <a:gd name="connsiteY15" fmla="*/ 1180 h 771367"/>
              <a:gd name="connsiteX16" fmla="*/ 209203 w 765798"/>
              <a:gd name="connsiteY16" fmla="*/ 77646 h 771367"/>
              <a:gd name="connsiteX17" fmla="*/ 296541 w 765798"/>
              <a:gd name="connsiteY17" fmla="*/ 141186 h 771367"/>
              <a:gd name="connsiteX18" fmla="*/ 367932 w 765798"/>
              <a:gd name="connsiteY18" fmla="*/ 218818 h 771367"/>
              <a:gd name="connsiteX19" fmla="*/ 375613 w 765798"/>
              <a:gd name="connsiteY19" fmla="*/ 229311 h 771367"/>
              <a:gd name="connsiteX20" fmla="*/ 382917 w 765798"/>
              <a:gd name="connsiteY20" fmla="*/ 240044 h 771367"/>
              <a:gd name="connsiteX21" fmla="*/ 390186 w 765798"/>
              <a:gd name="connsiteY21" fmla="*/ 250708 h 771367"/>
              <a:gd name="connsiteX22" fmla="*/ 393821 w 765798"/>
              <a:gd name="connsiteY22" fmla="*/ 256023 h 771367"/>
              <a:gd name="connsiteX23" fmla="*/ 397078 w 765798"/>
              <a:gd name="connsiteY23" fmla="*/ 261612 h 771367"/>
              <a:gd name="connsiteX24" fmla="*/ 421493 w 765798"/>
              <a:gd name="connsiteY24" fmla="*/ 306635 h 771367"/>
              <a:gd name="connsiteX25" fmla="*/ 441587 w 765798"/>
              <a:gd name="connsiteY25" fmla="*/ 353167 h 771367"/>
              <a:gd name="connsiteX26" fmla="*/ 449680 w 765798"/>
              <a:gd name="connsiteY26" fmla="*/ 377101 h 771367"/>
              <a:gd name="connsiteX27" fmla="*/ 453520 w 765798"/>
              <a:gd name="connsiteY27" fmla="*/ 389034 h 771367"/>
              <a:gd name="connsiteX28" fmla="*/ 456743 w 765798"/>
              <a:gd name="connsiteY28" fmla="*/ 401207 h 771367"/>
              <a:gd name="connsiteX29" fmla="*/ 470562 w 765798"/>
              <a:gd name="connsiteY29" fmla="*/ 467524 h 771367"/>
              <a:gd name="connsiteX30" fmla="*/ 361211 w 765798"/>
              <a:gd name="connsiteY30" fmla="*/ 475479 h 771367"/>
              <a:gd name="connsiteX31" fmla="*/ 529404 w 765798"/>
              <a:gd name="connsiteY31" fmla="*/ 716744 h 771367"/>
              <a:gd name="connsiteX32" fmla="*/ 564688 w 765798"/>
              <a:gd name="connsiteY32" fmla="*/ 770339 h 771367"/>
              <a:gd name="connsiteX33" fmla="*/ 565717 w 765798"/>
              <a:gd name="connsiteY33" fmla="*/ 768830 h 771367"/>
              <a:gd name="connsiteX34" fmla="*/ 567500 w 765798"/>
              <a:gd name="connsiteY34" fmla="*/ 771367 h 771367"/>
              <a:gd name="connsiteX35" fmla="*/ 625896 w 765798"/>
              <a:gd name="connsiteY35" fmla="*/ 679230 h 771367"/>
              <a:gd name="connsiteX36" fmla="*/ 765799 w 765798"/>
              <a:gd name="connsiteY36" fmla="*/ 470918 h 771367"/>
              <a:gd name="connsiteX37" fmla="*/ 654803 w 765798"/>
              <a:gd name="connsiteY37" fmla="*/ 464746 h 771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5798" h="771367">
                <a:moveTo>
                  <a:pt x="654803" y="464746"/>
                </a:moveTo>
                <a:cubicBezTo>
                  <a:pt x="654219" y="462895"/>
                  <a:pt x="653636" y="461043"/>
                  <a:pt x="653019" y="459191"/>
                </a:cubicBezTo>
                <a:cubicBezTo>
                  <a:pt x="639441" y="418112"/>
                  <a:pt x="622124" y="378541"/>
                  <a:pt x="601722" y="340959"/>
                </a:cubicBezTo>
                <a:lnTo>
                  <a:pt x="594109" y="326866"/>
                </a:lnTo>
                <a:cubicBezTo>
                  <a:pt x="591537" y="322203"/>
                  <a:pt x="588588" y="317711"/>
                  <a:pt x="585845" y="313116"/>
                </a:cubicBezTo>
                <a:cubicBezTo>
                  <a:pt x="580188" y="304063"/>
                  <a:pt x="574838" y="294874"/>
                  <a:pt x="568906" y="286061"/>
                </a:cubicBezTo>
                <a:cubicBezTo>
                  <a:pt x="556596" y="268607"/>
                  <a:pt x="544766" y="251119"/>
                  <a:pt x="530947" y="235003"/>
                </a:cubicBezTo>
                <a:cubicBezTo>
                  <a:pt x="518088" y="218270"/>
                  <a:pt x="503240" y="203148"/>
                  <a:pt x="488941" y="187957"/>
                </a:cubicBezTo>
                <a:cubicBezTo>
                  <a:pt x="487124" y="186071"/>
                  <a:pt x="485409" y="184117"/>
                  <a:pt x="483523" y="182299"/>
                </a:cubicBezTo>
                <a:lnTo>
                  <a:pt x="477729" y="176984"/>
                </a:lnTo>
                <a:lnTo>
                  <a:pt x="466173" y="166389"/>
                </a:lnTo>
                <a:lnTo>
                  <a:pt x="454651" y="155862"/>
                </a:lnTo>
                <a:cubicBezTo>
                  <a:pt x="450846" y="152330"/>
                  <a:pt x="447005" y="148867"/>
                  <a:pt x="442822" y="145746"/>
                </a:cubicBezTo>
                <a:cubicBezTo>
                  <a:pt x="410657" y="119514"/>
                  <a:pt x="376779" y="96232"/>
                  <a:pt x="341186" y="76652"/>
                </a:cubicBezTo>
                <a:cubicBezTo>
                  <a:pt x="305353" y="57450"/>
                  <a:pt x="268183" y="41745"/>
                  <a:pt x="230327" y="29778"/>
                </a:cubicBezTo>
                <a:cubicBezTo>
                  <a:pt x="154545" y="5946"/>
                  <a:pt x="76124" y="-3552"/>
                  <a:pt x="0" y="1180"/>
                </a:cubicBezTo>
                <a:cubicBezTo>
                  <a:pt x="75164" y="13867"/>
                  <a:pt x="146419" y="40476"/>
                  <a:pt x="209203" y="77646"/>
                </a:cubicBezTo>
                <a:cubicBezTo>
                  <a:pt x="240614" y="96266"/>
                  <a:pt x="269794" y="117697"/>
                  <a:pt x="296541" y="141186"/>
                </a:cubicBezTo>
                <a:cubicBezTo>
                  <a:pt x="323047" y="165086"/>
                  <a:pt x="346707" y="191318"/>
                  <a:pt x="367932" y="218818"/>
                </a:cubicBezTo>
                <a:cubicBezTo>
                  <a:pt x="370744" y="222076"/>
                  <a:pt x="373213" y="225711"/>
                  <a:pt x="375613" y="229311"/>
                </a:cubicBezTo>
                <a:lnTo>
                  <a:pt x="382917" y="240044"/>
                </a:lnTo>
                <a:lnTo>
                  <a:pt x="390186" y="250708"/>
                </a:lnTo>
                <a:lnTo>
                  <a:pt x="393821" y="256023"/>
                </a:lnTo>
                <a:cubicBezTo>
                  <a:pt x="394987" y="257840"/>
                  <a:pt x="395982" y="259761"/>
                  <a:pt x="397078" y="261612"/>
                </a:cubicBezTo>
                <a:cubicBezTo>
                  <a:pt x="405617" y="276597"/>
                  <a:pt x="414532" y="290999"/>
                  <a:pt x="421493" y="306635"/>
                </a:cubicBezTo>
                <a:cubicBezTo>
                  <a:pt x="429346" y="321620"/>
                  <a:pt x="435244" y="337667"/>
                  <a:pt x="441587" y="353167"/>
                </a:cubicBezTo>
                <a:cubicBezTo>
                  <a:pt x="444536" y="361053"/>
                  <a:pt x="446936" y="369180"/>
                  <a:pt x="449680" y="377101"/>
                </a:cubicBezTo>
                <a:cubicBezTo>
                  <a:pt x="450948" y="381113"/>
                  <a:pt x="452423" y="384988"/>
                  <a:pt x="453520" y="389034"/>
                </a:cubicBezTo>
                <a:lnTo>
                  <a:pt x="456743" y="401207"/>
                </a:lnTo>
                <a:cubicBezTo>
                  <a:pt x="462676" y="423118"/>
                  <a:pt x="467304" y="445269"/>
                  <a:pt x="470562" y="467524"/>
                </a:cubicBezTo>
                <a:lnTo>
                  <a:pt x="361211" y="475479"/>
                </a:lnTo>
                <a:lnTo>
                  <a:pt x="529404" y="716744"/>
                </a:lnTo>
                <a:lnTo>
                  <a:pt x="564688" y="770339"/>
                </a:lnTo>
                <a:lnTo>
                  <a:pt x="565717" y="768830"/>
                </a:lnTo>
                <a:lnTo>
                  <a:pt x="567500" y="771367"/>
                </a:lnTo>
                <a:lnTo>
                  <a:pt x="625896" y="679230"/>
                </a:lnTo>
                <a:lnTo>
                  <a:pt x="765799" y="470918"/>
                </a:lnTo>
                <a:lnTo>
                  <a:pt x="654803" y="464746"/>
                </a:lnTo>
                <a:close/>
              </a:path>
            </a:pathLst>
          </a:custGeom>
          <a:solidFill>
            <a:schemeClr val="accent1">
              <a:lumMod val="20000"/>
              <a:lumOff val="80000"/>
            </a:schemeClr>
          </a:solidFill>
          <a:ln w="3429" cap="flat">
            <a:solidFill>
              <a:schemeClr val="accent1"/>
            </a:solid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40" name="熊大的PPT宝库33"/>
          <p:cNvSpPr/>
          <p:nvPr/>
        </p:nvSpPr>
        <p:spPr>
          <a:xfrm rot="3151403" flipV="1">
            <a:off x="6657176" y="1036298"/>
            <a:ext cx="547625" cy="1123701"/>
          </a:xfrm>
          <a:custGeom>
            <a:avLst/>
            <a:gdLst>
              <a:gd name="connsiteX0" fmla="*/ 654803 w 765798"/>
              <a:gd name="connsiteY0" fmla="*/ 464746 h 771367"/>
              <a:gd name="connsiteX1" fmla="*/ 653019 w 765798"/>
              <a:gd name="connsiteY1" fmla="*/ 459191 h 771367"/>
              <a:gd name="connsiteX2" fmla="*/ 601722 w 765798"/>
              <a:gd name="connsiteY2" fmla="*/ 340959 h 771367"/>
              <a:gd name="connsiteX3" fmla="*/ 594109 w 765798"/>
              <a:gd name="connsiteY3" fmla="*/ 326866 h 771367"/>
              <a:gd name="connsiteX4" fmla="*/ 585845 w 765798"/>
              <a:gd name="connsiteY4" fmla="*/ 313116 h 771367"/>
              <a:gd name="connsiteX5" fmla="*/ 568906 w 765798"/>
              <a:gd name="connsiteY5" fmla="*/ 286061 h 771367"/>
              <a:gd name="connsiteX6" fmla="*/ 530947 w 765798"/>
              <a:gd name="connsiteY6" fmla="*/ 235003 h 771367"/>
              <a:gd name="connsiteX7" fmla="*/ 488941 w 765798"/>
              <a:gd name="connsiteY7" fmla="*/ 187957 h 771367"/>
              <a:gd name="connsiteX8" fmla="*/ 483523 w 765798"/>
              <a:gd name="connsiteY8" fmla="*/ 182299 h 771367"/>
              <a:gd name="connsiteX9" fmla="*/ 477729 w 765798"/>
              <a:gd name="connsiteY9" fmla="*/ 176984 h 771367"/>
              <a:gd name="connsiteX10" fmla="*/ 466173 w 765798"/>
              <a:gd name="connsiteY10" fmla="*/ 166389 h 771367"/>
              <a:gd name="connsiteX11" fmla="*/ 454651 w 765798"/>
              <a:gd name="connsiteY11" fmla="*/ 155862 h 771367"/>
              <a:gd name="connsiteX12" fmla="*/ 442822 w 765798"/>
              <a:gd name="connsiteY12" fmla="*/ 145746 h 771367"/>
              <a:gd name="connsiteX13" fmla="*/ 341186 w 765798"/>
              <a:gd name="connsiteY13" fmla="*/ 76652 h 771367"/>
              <a:gd name="connsiteX14" fmla="*/ 230327 w 765798"/>
              <a:gd name="connsiteY14" fmla="*/ 29778 h 771367"/>
              <a:gd name="connsiteX15" fmla="*/ 0 w 765798"/>
              <a:gd name="connsiteY15" fmla="*/ 1180 h 771367"/>
              <a:gd name="connsiteX16" fmla="*/ 209203 w 765798"/>
              <a:gd name="connsiteY16" fmla="*/ 77646 h 771367"/>
              <a:gd name="connsiteX17" fmla="*/ 296541 w 765798"/>
              <a:gd name="connsiteY17" fmla="*/ 141186 h 771367"/>
              <a:gd name="connsiteX18" fmla="*/ 367932 w 765798"/>
              <a:gd name="connsiteY18" fmla="*/ 218818 h 771367"/>
              <a:gd name="connsiteX19" fmla="*/ 375613 w 765798"/>
              <a:gd name="connsiteY19" fmla="*/ 229311 h 771367"/>
              <a:gd name="connsiteX20" fmla="*/ 382917 w 765798"/>
              <a:gd name="connsiteY20" fmla="*/ 240044 h 771367"/>
              <a:gd name="connsiteX21" fmla="*/ 390186 w 765798"/>
              <a:gd name="connsiteY21" fmla="*/ 250708 h 771367"/>
              <a:gd name="connsiteX22" fmla="*/ 393821 w 765798"/>
              <a:gd name="connsiteY22" fmla="*/ 256023 h 771367"/>
              <a:gd name="connsiteX23" fmla="*/ 397078 w 765798"/>
              <a:gd name="connsiteY23" fmla="*/ 261612 h 771367"/>
              <a:gd name="connsiteX24" fmla="*/ 421493 w 765798"/>
              <a:gd name="connsiteY24" fmla="*/ 306635 h 771367"/>
              <a:gd name="connsiteX25" fmla="*/ 441587 w 765798"/>
              <a:gd name="connsiteY25" fmla="*/ 353167 h 771367"/>
              <a:gd name="connsiteX26" fmla="*/ 449680 w 765798"/>
              <a:gd name="connsiteY26" fmla="*/ 377101 h 771367"/>
              <a:gd name="connsiteX27" fmla="*/ 453520 w 765798"/>
              <a:gd name="connsiteY27" fmla="*/ 389034 h 771367"/>
              <a:gd name="connsiteX28" fmla="*/ 456743 w 765798"/>
              <a:gd name="connsiteY28" fmla="*/ 401207 h 771367"/>
              <a:gd name="connsiteX29" fmla="*/ 470562 w 765798"/>
              <a:gd name="connsiteY29" fmla="*/ 467524 h 771367"/>
              <a:gd name="connsiteX30" fmla="*/ 361211 w 765798"/>
              <a:gd name="connsiteY30" fmla="*/ 475479 h 771367"/>
              <a:gd name="connsiteX31" fmla="*/ 529404 w 765798"/>
              <a:gd name="connsiteY31" fmla="*/ 716744 h 771367"/>
              <a:gd name="connsiteX32" fmla="*/ 564688 w 765798"/>
              <a:gd name="connsiteY32" fmla="*/ 770339 h 771367"/>
              <a:gd name="connsiteX33" fmla="*/ 565717 w 765798"/>
              <a:gd name="connsiteY33" fmla="*/ 768830 h 771367"/>
              <a:gd name="connsiteX34" fmla="*/ 567500 w 765798"/>
              <a:gd name="connsiteY34" fmla="*/ 771367 h 771367"/>
              <a:gd name="connsiteX35" fmla="*/ 625896 w 765798"/>
              <a:gd name="connsiteY35" fmla="*/ 679230 h 771367"/>
              <a:gd name="connsiteX36" fmla="*/ 765799 w 765798"/>
              <a:gd name="connsiteY36" fmla="*/ 470918 h 771367"/>
              <a:gd name="connsiteX37" fmla="*/ 654803 w 765798"/>
              <a:gd name="connsiteY37" fmla="*/ 464746 h 771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5798" h="771367">
                <a:moveTo>
                  <a:pt x="654803" y="464746"/>
                </a:moveTo>
                <a:cubicBezTo>
                  <a:pt x="654219" y="462895"/>
                  <a:pt x="653636" y="461043"/>
                  <a:pt x="653019" y="459191"/>
                </a:cubicBezTo>
                <a:cubicBezTo>
                  <a:pt x="639441" y="418112"/>
                  <a:pt x="622124" y="378541"/>
                  <a:pt x="601722" y="340959"/>
                </a:cubicBezTo>
                <a:lnTo>
                  <a:pt x="594109" y="326866"/>
                </a:lnTo>
                <a:cubicBezTo>
                  <a:pt x="591537" y="322203"/>
                  <a:pt x="588588" y="317711"/>
                  <a:pt x="585845" y="313116"/>
                </a:cubicBezTo>
                <a:cubicBezTo>
                  <a:pt x="580188" y="304063"/>
                  <a:pt x="574838" y="294874"/>
                  <a:pt x="568906" y="286061"/>
                </a:cubicBezTo>
                <a:cubicBezTo>
                  <a:pt x="556596" y="268607"/>
                  <a:pt x="544766" y="251119"/>
                  <a:pt x="530947" y="235003"/>
                </a:cubicBezTo>
                <a:cubicBezTo>
                  <a:pt x="518088" y="218270"/>
                  <a:pt x="503240" y="203148"/>
                  <a:pt x="488941" y="187957"/>
                </a:cubicBezTo>
                <a:cubicBezTo>
                  <a:pt x="487124" y="186071"/>
                  <a:pt x="485409" y="184117"/>
                  <a:pt x="483523" y="182299"/>
                </a:cubicBezTo>
                <a:lnTo>
                  <a:pt x="477729" y="176984"/>
                </a:lnTo>
                <a:lnTo>
                  <a:pt x="466173" y="166389"/>
                </a:lnTo>
                <a:lnTo>
                  <a:pt x="454651" y="155862"/>
                </a:lnTo>
                <a:cubicBezTo>
                  <a:pt x="450846" y="152330"/>
                  <a:pt x="447005" y="148867"/>
                  <a:pt x="442822" y="145746"/>
                </a:cubicBezTo>
                <a:cubicBezTo>
                  <a:pt x="410657" y="119514"/>
                  <a:pt x="376779" y="96232"/>
                  <a:pt x="341186" y="76652"/>
                </a:cubicBezTo>
                <a:cubicBezTo>
                  <a:pt x="305353" y="57450"/>
                  <a:pt x="268183" y="41745"/>
                  <a:pt x="230327" y="29778"/>
                </a:cubicBezTo>
                <a:cubicBezTo>
                  <a:pt x="154545" y="5946"/>
                  <a:pt x="76124" y="-3552"/>
                  <a:pt x="0" y="1180"/>
                </a:cubicBezTo>
                <a:cubicBezTo>
                  <a:pt x="75164" y="13867"/>
                  <a:pt x="146419" y="40476"/>
                  <a:pt x="209203" y="77646"/>
                </a:cubicBezTo>
                <a:cubicBezTo>
                  <a:pt x="240614" y="96266"/>
                  <a:pt x="269794" y="117697"/>
                  <a:pt x="296541" y="141186"/>
                </a:cubicBezTo>
                <a:cubicBezTo>
                  <a:pt x="323047" y="165086"/>
                  <a:pt x="346707" y="191318"/>
                  <a:pt x="367932" y="218818"/>
                </a:cubicBezTo>
                <a:cubicBezTo>
                  <a:pt x="370744" y="222076"/>
                  <a:pt x="373213" y="225711"/>
                  <a:pt x="375613" y="229311"/>
                </a:cubicBezTo>
                <a:lnTo>
                  <a:pt x="382917" y="240044"/>
                </a:lnTo>
                <a:lnTo>
                  <a:pt x="390186" y="250708"/>
                </a:lnTo>
                <a:lnTo>
                  <a:pt x="393821" y="256023"/>
                </a:lnTo>
                <a:cubicBezTo>
                  <a:pt x="394987" y="257840"/>
                  <a:pt x="395982" y="259761"/>
                  <a:pt x="397078" y="261612"/>
                </a:cubicBezTo>
                <a:cubicBezTo>
                  <a:pt x="405617" y="276597"/>
                  <a:pt x="414532" y="290999"/>
                  <a:pt x="421493" y="306635"/>
                </a:cubicBezTo>
                <a:cubicBezTo>
                  <a:pt x="429346" y="321620"/>
                  <a:pt x="435244" y="337667"/>
                  <a:pt x="441587" y="353167"/>
                </a:cubicBezTo>
                <a:cubicBezTo>
                  <a:pt x="444536" y="361053"/>
                  <a:pt x="446936" y="369180"/>
                  <a:pt x="449680" y="377101"/>
                </a:cubicBezTo>
                <a:cubicBezTo>
                  <a:pt x="450948" y="381113"/>
                  <a:pt x="452423" y="384988"/>
                  <a:pt x="453520" y="389034"/>
                </a:cubicBezTo>
                <a:lnTo>
                  <a:pt x="456743" y="401207"/>
                </a:lnTo>
                <a:cubicBezTo>
                  <a:pt x="462676" y="423118"/>
                  <a:pt x="467304" y="445269"/>
                  <a:pt x="470562" y="467524"/>
                </a:cubicBezTo>
                <a:lnTo>
                  <a:pt x="361211" y="475479"/>
                </a:lnTo>
                <a:lnTo>
                  <a:pt x="529404" y="716744"/>
                </a:lnTo>
                <a:lnTo>
                  <a:pt x="564688" y="770339"/>
                </a:lnTo>
                <a:lnTo>
                  <a:pt x="565717" y="768830"/>
                </a:lnTo>
                <a:lnTo>
                  <a:pt x="567500" y="771367"/>
                </a:lnTo>
                <a:lnTo>
                  <a:pt x="625896" y="679230"/>
                </a:lnTo>
                <a:lnTo>
                  <a:pt x="765799" y="470918"/>
                </a:lnTo>
                <a:lnTo>
                  <a:pt x="654803" y="464746"/>
                </a:lnTo>
                <a:close/>
              </a:path>
            </a:pathLst>
          </a:custGeom>
          <a:solidFill>
            <a:schemeClr val="accent1">
              <a:lumMod val="20000"/>
              <a:lumOff val="80000"/>
            </a:schemeClr>
          </a:solidFill>
          <a:ln w="3429" cap="flat">
            <a:solidFill>
              <a:schemeClr val="accent1"/>
            </a:solid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42" name="熊大的PPT宝库34"/>
          <p:cNvSpPr/>
          <p:nvPr/>
        </p:nvSpPr>
        <p:spPr>
          <a:xfrm>
            <a:off x="5247053" y="1470291"/>
            <a:ext cx="495594" cy="368595"/>
          </a:xfrm>
          <a:prstGeom prst="roundRect">
            <a:avLst>
              <a:gd name="adj" fmla="val 50000"/>
            </a:avLst>
          </a:prstGeom>
          <a:solidFill>
            <a:schemeClr val="bg2"/>
          </a:solidFill>
          <a:ln>
            <a:solidFill>
              <a:schemeClr val="accent1"/>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3" name="熊大的PPT宝库35"/>
          <p:cNvSpPr/>
          <p:nvPr/>
        </p:nvSpPr>
        <p:spPr>
          <a:xfrm>
            <a:off x="6408735" y="1391028"/>
            <a:ext cx="561742" cy="368595"/>
          </a:xfrm>
          <a:prstGeom prst="roundRect">
            <a:avLst>
              <a:gd name="adj" fmla="val 50000"/>
            </a:avLst>
          </a:prstGeom>
          <a:solidFill>
            <a:schemeClr val="bg2"/>
          </a:solidFill>
          <a:ln>
            <a:solidFill>
              <a:schemeClr val="accent1"/>
            </a:solidFill>
          </a:ln>
        </p:spPr>
        <p:txBody>
          <a:bodyPr wrap="square" lIns="0" tIns="0" rIns="0" bIns="0" rtlCol="0" anchor="t">
            <a:sp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4" name="熊大的PPT宝库36"/>
          <p:cNvSpPr txBox="1"/>
          <p:nvPr/>
        </p:nvSpPr>
        <p:spPr>
          <a:xfrm>
            <a:off x="5307472" y="1580966"/>
            <a:ext cx="432811" cy="16158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rgbClr val="000000"/>
                </a:solidFill>
                <a:effectLst/>
                <a:uLnTx/>
                <a:uFillTx/>
                <a:cs typeface="+mn-ea"/>
                <a:sym typeface="+mn-lt"/>
              </a:rPr>
              <a:t>+</a:t>
            </a:r>
            <a:r>
              <a:rPr kumimoji="0" lang="en-US" altLang="zh-CN" sz="1050" b="0" i="0" u="none" strike="noStrike" kern="1200" cap="none" spc="0" normalizeH="0" baseline="0" noProof="0" dirty="0">
                <a:ln>
                  <a:noFill/>
                </a:ln>
                <a:solidFill>
                  <a:srgbClr val="000000"/>
                </a:solidFill>
                <a:effectLst/>
                <a:uLnTx/>
                <a:uFillTx/>
                <a:cs typeface="+mn-ea"/>
                <a:sym typeface="+mn-lt"/>
              </a:rPr>
              <a:t>2.6%</a:t>
            </a:r>
            <a:endParaRPr kumimoji="0" lang="zh-CN" altLang="en-US" sz="1050" b="0" i="0" u="none" strike="noStrike" kern="1200" cap="none" spc="0" normalizeH="0" baseline="0" noProof="0" dirty="0">
              <a:ln>
                <a:noFill/>
              </a:ln>
              <a:solidFill>
                <a:srgbClr val="000000"/>
              </a:solidFill>
              <a:effectLst/>
              <a:uLnTx/>
              <a:uFillTx/>
              <a:cs typeface="+mn-ea"/>
              <a:sym typeface="+mn-lt"/>
            </a:endParaRPr>
          </a:p>
        </p:txBody>
      </p:sp>
      <p:sp>
        <p:nvSpPr>
          <p:cNvPr id="45" name="熊大的PPT宝库37"/>
          <p:cNvSpPr txBox="1"/>
          <p:nvPr/>
        </p:nvSpPr>
        <p:spPr>
          <a:xfrm>
            <a:off x="6458059" y="1516218"/>
            <a:ext cx="492122" cy="16158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rgbClr val="000000"/>
                </a:solidFill>
                <a:effectLst/>
                <a:uLnTx/>
                <a:uFillTx/>
                <a:cs typeface="+mn-ea"/>
                <a:sym typeface="+mn-lt"/>
              </a:rPr>
              <a:t>+</a:t>
            </a:r>
            <a:r>
              <a:rPr kumimoji="0" lang="en-US" altLang="zh-CN" sz="1050" b="0" i="0" u="none" strike="noStrike" kern="1200" cap="none" spc="0" normalizeH="0" baseline="0" noProof="0" dirty="0">
                <a:ln>
                  <a:noFill/>
                </a:ln>
                <a:solidFill>
                  <a:srgbClr val="000000"/>
                </a:solidFill>
                <a:effectLst/>
                <a:uLnTx/>
                <a:uFillTx/>
                <a:cs typeface="+mn-ea"/>
                <a:sym typeface="+mn-lt"/>
              </a:rPr>
              <a:t>17.9%</a:t>
            </a:r>
            <a:endParaRPr kumimoji="0" lang="zh-CN" altLang="en-US" sz="1050" b="0" i="0" u="none" strike="noStrike" kern="1200" cap="none" spc="0" normalizeH="0" baseline="0" noProof="0" dirty="0">
              <a:ln>
                <a:noFill/>
              </a:ln>
              <a:solidFill>
                <a:srgbClr val="000000"/>
              </a:solidFill>
              <a:effectLst/>
              <a:uLnTx/>
              <a:uFillTx/>
              <a:cs typeface="+mn-ea"/>
              <a:sym typeface="+mn-lt"/>
            </a:endParaRPr>
          </a:p>
        </p:txBody>
      </p:sp>
      <p:sp>
        <p:nvSpPr>
          <p:cNvPr id="46" name="熊大的PPT宝库38"/>
          <p:cNvSpPr/>
          <p:nvPr/>
        </p:nvSpPr>
        <p:spPr>
          <a:xfrm>
            <a:off x="8597443" y="1683690"/>
            <a:ext cx="694385" cy="694385"/>
          </a:xfrm>
          <a:prstGeom prst="ellipse">
            <a:avLst/>
          </a:prstGeom>
          <a:solidFill>
            <a:schemeClr val="accent1">
              <a:lumMod val="20000"/>
              <a:lumOff val="80000"/>
            </a:schemeClr>
          </a:solidFill>
          <a:ln>
            <a:noFill/>
          </a:ln>
          <a:effectLst>
            <a:outerShdw blurRad="152400" dist="88900" dir="5400000" sx="101000" sy="101000" rotWithShape="0">
              <a:schemeClr val="accent1">
                <a:lumMod val="20000"/>
                <a:lumOff val="80000"/>
                <a:alpha val="20000"/>
              </a:schemeClr>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7" name="熊大的PPT宝库39"/>
          <p:cNvSpPr/>
          <p:nvPr/>
        </p:nvSpPr>
        <p:spPr>
          <a:xfrm>
            <a:off x="10164707" y="1426750"/>
            <a:ext cx="972000" cy="972000"/>
          </a:xfrm>
          <a:prstGeom prst="ellipse">
            <a:avLst/>
          </a:prstGeom>
          <a:gradFill>
            <a:gsLst>
              <a:gs pos="70000">
                <a:schemeClr val="accent1"/>
              </a:gs>
              <a:gs pos="0">
                <a:schemeClr val="accent1">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8" name="熊大的PPT宝库40"/>
          <p:cNvSpPr txBox="1"/>
          <p:nvPr/>
        </p:nvSpPr>
        <p:spPr>
          <a:xfrm>
            <a:off x="8502246" y="2485109"/>
            <a:ext cx="836768" cy="184666"/>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cs typeface="+mn-ea"/>
                <a:sym typeface="+mn-lt"/>
              </a:rPr>
              <a:t>2019</a:t>
            </a:r>
            <a:r>
              <a:rPr kumimoji="0" lang="zh-CN" altLang="en-US" sz="1200" b="0" i="0" u="none" strike="noStrike" kern="1200" cap="none" spc="0" normalizeH="0" baseline="0" noProof="0" dirty="0">
                <a:ln>
                  <a:noFill/>
                </a:ln>
                <a:solidFill>
                  <a:srgbClr val="000000"/>
                </a:solidFill>
                <a:effectLst/>
                <a:uLnTx/>
                <a:uFillTx/>
                <a:cs typeface="+mn-ea"/>
                <a:sym typeface="+mn-lt"/>
              </a:rPr>
              <a:t>年</a:t>
            </a:r>
            <a:r>
              <a:rPr kumimoji="0" lang="en-US" altLang="zh-CN" sz="1200" b="0" i="0" u="none" strike="noStrike" kern="1200" cap="none" spc="0" normalizeH="0" baseline="0" noProof="0" dirty="0">
                <a:ln>
                  <a:noFill/>
                </a:ln>
                <a:solidFill>
                  <a:srgbClr val="000000"/>
                </a:solidFill>
                <a:effectLst/>
                <a:uLnTx/>
                <a:uFillTx/>
                <a:cs typeface="+mn-ea"/>
                <a:sym typeface="+mn-lt"/>
              </a:rPr>
              <a:t>12</a:t>
            </a:r>
            <a:r>
              <a:rPr kumimoji="0" lang="zh-CN" altLang="en-US" sz="1200" b="0" i="0" u="none" strike="noStrike" kern="1200" cap="none" spc="0" normalizeH="0" baseline="0" noProof="0" dirty="0">
                <a:ln>
                  <a:noFill/>
                </a:ln>
                <a:solidFill>
                  <a:srgbClr val="000000"/>
                </a:solidFill>
                <a:effectLst/>
                <a:uLnTx/>
                <a:uFillTx/>
                <a:cs typeface="+mn-ea"/>
                <a:sym typeface="+mn-lt"/>
              </a:rPr>
              <a:t>月</a:t>
            </a:r>
          </a:p>
        </p:txBody>
      </p:sp>
      <p:sp>
        <p:nvSpPr>
          <p:cNvPr id="49" name="熊大的PPT宝库41"/>
          <p:cNvSpPr txBox="1"/>
          <p:nvPr/>
        </p:nvSpPr>
        <p:spPr>
          <a:xfrm>
            <a:off x="10269647" y="2485109"/>
            <a:ext cx="748603" cy="184666"/>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cs typeface="+mn-ea"/>
                <a:sym typeface="+mn-lt"/>
              </a:rPr>
              <a:t>2020</a:t>
            </a:r>
            <a:r>
              <a:rPr kumimoji="0" lang="zh-CN" altLang="en-US" sz="1200" b="0" i="0" u="none" strike="noStrike" kern="1200" cap="none" spc="0" normalizeH="0" baseline="0" noProof="0" dirty="0">
                <a:ln>
                  <a:noFill/>
                </a:ln>
                <a:solidFill>
                  <a:srgbClr val="000000"/>
                </a:solidFill>
                <a:effectLst/>
                <a:uLnTx/>
                <a:uFillTx/>
                <a:cs typeface="+mn-ea"/>
                <a:sym typeface="+mn-lt"/>
              </a:rPr>
              <a:t>年</a:t>
            </a:r>
            <a:r>
              <a:rPr kumimoji="0" lang="en-US" altLang="zh-CN" sz="1200" b="0" i="0" u="none" strike="noStrike" kern="1200" cap="none" spc="0" normalizeH="0" baseline="0" noProof="0" dirty="0">
                <a:ln>
                  <a:noFill/>
                </a:ln>
                <a:solidFill>
                  <a:srgbClr val="000000"/>
                </a:solidFill>
                <a:effectLst/>
                <a:uLnTx/>
                <a:uFillTx/>
                <a:cs typeface="+mn-ea"/>
                <a:sym typeface="+mn-lt"/>
              </a:rPr>
              <a:t>4</a:t>
            </a:r>
            <a:r>
              <a:rPr kumimoji="0" lang="zh-CN" altLang="en-US" sz="1200" b="0" i="0" u="none" strike="noStrike" kern="1200" cap="none" spc="0" normalizeH="0" baseline="0" noProof="0" dirty="0">
                <a:ln>
                  <a:noFill/>
                </a:ln>
                <a:solidFill>
                  <a:srgbClr val="000000"/>
                </a:solidFill>
                <a:effectLst/>
                <a:uLnTx/>
                <a:uFillTx/>
                <a:cs typeface="+mn-ea"/>
                <a:sym typeface="+mn-lt"/>
              </a:rPr>
              <a:t>月</a:t>
            </a:r>
          </a:p>
        </p:txBody>
      </p:sp>
      <p:sp>
        <p:nvSpPr>
          <p:cNvPr id="51" name="熊大的PPT宝库42"/>
          <p:cNvSpPr/>
          <p:nvPr/>
        </p:nvSpPr>
        <p:spPr>
          <a:xfrm rot="637698" flipH="1">
            <a:off x="9387881" y="1629021"/>
            <a:ext cx="606294" cy="608993"/>
          </a:xfrm>
          <a:custGeom>
            <a:avLst/>
            <a:gdLst>
              <a:gd name="connsiteX0" fmla="*/ 111031 w 766792"/>
              <a:gd name="connsiteY0" fmla="*/ 306793 h 770205"/>
              <a:gd name="connsiteX1" fmla="*/ 112814 w 766792"/>
              <a:gd name="connsiteY1" fmla="*/ 312348 h 770205"/>
              <a:gd name="connsiteX2" fmla="*/ 164352 w 766792"/>
              <a:gd name="connsiteY2" fmla="*/ 430477 h 770205"/>
              <a:gd name="connsiteX3" fmla="*/ 171998 w 766792"/>
              <a:gd name="connsiteY3" fmla="*/ 444536 h 770205"/>
              <a:gd name="connsiteX4" fmla="*/ 180296 w 766792"/>
              <a:gd name="connsiteY4" fmla="*/ 458252 h 770205"/>
              <a:gd name="connsiteX5" fmla="*/ 197305 w 766792"/>
              <a:gd name="connsiteY5" fmla="*/ 485272 h 770205"/>
              <a:gd name="connsiteX6" fmla="*/ 235366 w 766792"/>
              <a:gd name="connsiteY6" fmla="*/ 536261 h 770205"/>
              <a:gd name="connsiteX7" fmla="*/ 277474 w 766792"/>
              <a:gd name="connsiteY7" fmla="*/ 583239 h 770205"/>
              <a:gd name="connsiteX8" fmla="*/ 282893 w 766792"/>
              <a:gd name="connsiteY8" fmla="*/ 588862 h 770205"/>
              <a:gd name="connsiteX9" fmla="*/ 288687 w 766792"/>
              <a:gd name="connsiteY9" fmla="*/ 594177 h 770205"/>
              <a:gd name="connsiteX10" fmla="*/ 300277 w 766792"/>
              <a:gd name="connsiteY10" fmla="*/ 604739 h 770205"/>
              <a:gd name="connsiteX11" fmla="*/ 311833 w 766792"/>
              <a:gd name="connsiteY11" fmla="*/ 615231 h 770205"/>
              <a:gd name="connsiteX12" fmla="*/ 323663 w 766792"/>
              <a:gd name="connsiteY12" fmla="*/ 625313 h 770205"/>
              <a:gd name="connsiteX13" fmla="*/ 425435 w 766792"/>
              <a:gd name="connsiteY13" fmla="*/ 694201 h 770205"/>
              <a:gd name="connsiteX14" fmla="*/ 536398 w 766792"/>
              <a:gd name="connsiteY14" fmla="*/ 740836 h 770205"/>
              <a:gd name="connsiteX15" fmla="*/ 766793 w 766792"/>
              <a:gd name="connsiteY15" fmla="*/ 768953 h 770205"/>
              <a:gd name="connsiteX16" fmla="*/ 557418 w 766792"/>
              <a:gd name="connsiteY16" fmla="*/ 692932 h 770205"/>
              <a:gd name="connsiteX17" fmla="*/ 469944 w 766792"/>
              <a:gd name="connsiteY17" fmla="*/ 629599 h 770205"/>
              <a:gd name="connsiteX18" fmla="*/ 398381 w 766792"/>
              <a:gd name="connsiteY18" fmla="*/ 552103 h 770205"/>
              <a:gd name="connsiteX19" fmla="*/ 390666 w 766792"/>
              <a:gd name="connsiteY19" fmla="*/ 541611 h 770205"/>
              <a:gd name="connsiteX20" fmla="*/ 383328 w 766792"/>
              <a:gd name="connsiteY20" fmla="*/ 530878 h 770205"/>
              <a:gd name="connsiteX21" fmla="*/ 376024 w 766792"/>
              <a:gd name="connsiteY21" fmla="*/ 520248 h 770205"/>
              <a:gd name="connsiteX22" fmla="*/ 372389 w 766792"/>
              <a:gd name="connsiteY22" fmla="*/ 514967 h 770205"/>
              <a:gd name="connsiteX23" fmla="*/ 369132 w 766792"/>
              <a:gd name="connsiteY23" fmla="*/ 509378 h 770205"/>
              <a:gd name="connsiteX24" fmla="*/ 344649 w 766792"/>
              <a:gd name="connsiteY24" fmla="*/ 464389 h 770205"/>
              <a:gd name="connsiteX25" fmla="*/ 324452 w 766792"/>
              <a:gd name="connsiteY25" fmla="*/ 417927 h 770205"/>
              <a:gd name="connsiteX26" fmla="*/ 316325 w 766792"/>
              <a:gd name="connsiteY26" fmla="*/ 394027 h 770205"/>
              <a:gd name="connsiteX27" fmla="*/ 312450 w 766792"/>
              <a:gd name="connsiteY27" fmla="*/ 382093 h 770205"/>
              <a:gd name="connsiteX28" fmla="*/ 309193 w 766792"/>
              <a:gd name="connsiteY28" fmla="*/ 369921 h 770205"/>
              <a:gd name="connsiteX29" fmla="*/ 295236 w 766792"/>
              <a:gd name="connsiteY29" fmla="*/ 303638 h 770205"/>
              <a:gd name="connsiteX30" fmla="*/ 404553 w 766792"/>
              <a:gd name="connsiteY30" fmla="*/ 295477 h 770205"/>
              <a:gd name="connsiteX31" fmla="*/ 235847 w 766792"/>
              <a:gd name="connsiteY31" fmla="*/ 54556 h 770205"/>
              <a:gd name="connsiteX32" fmla="*/ 200459 w 766792"/>
              <a:gd name="connsiteY32" fmla="*/ 1029 h 770205"/>
              <a:gd name="connsiteX33" fmla="*/ 199430 w 766792"/>
              <a:gd name="connsiteY33" fmla="*/ 2538 h 770205"/>
              <a:gd name="connsiteX34" fmla="*/ 197647 w 766792"/>
              <a:gd name="connsiteY34" fmla="*/ 0 h 770205"/>
              <a:gd name="connsiteX35" fmla="*/ 139457 w 766792"/>
              <a:gd name="connsiteY35" fmla="*/ 92240 h 770205"/>
              <a:gd name="connsiteX36" fmla="*/ 0 w 766792"/>
              <a:gd name="connsiteY36" fmla="*/ 300861 h 770205"/>
              <a:gd name="connsiteX37" fmla="*/ 111031 w 766792"/>
              <a:gd name="connsiteY37" fmla="*/ 306793 h 770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6792" h="770205">
                <a:moveTo>
                  <a:pt x="111031" y="306793"/>
                </a:moveTo>
                <a:cubicBezTo>
                  <a:pt x="111648" y="308644"/>
                  <a:pt x="112197" y="310496"/>
                  <a:pt x="112814" y="312348"/>
                </a:cubicBezTo>
                <a:cubicBezTo>
                  <a:pt x="126495" y="353393"/>
                  <a:pt x="143881" y="392929"/>
                  <a:pt x="164352" y="430477"/>
                </a:cubicBezTo>
                <a:lnTo>
                  <a:pt x="171998" y="444536"/>
                </a:lnTo>
                <a:cubicBezTo>
                  <a:pt x="174570" y="449199"/>
                  <a:pt x="177554" y="453691"/>
                  <a:pt x="180296" y="458252"/>
                </a:cubicBezTo>
                <a:cubicBezTo>
                  <a:pt x="185989" y="467304"/>
                  <a:pt x="191372" y="476460"/>
                  <a:pt x="197305" y="485272"/>
                </a:cubicBezTo>
                <a:cubicBezTo>
                  <a:pt x="209649" y="502692"/>
                  <a:pt x="221513" y="520179"/>
                  <a:pt x="235366" y="536261"/>
                </a:cubicBezTo>
                <a:cubicBezTo>
                  <a:pt x="248259" y="552961"/>
                  <a:pt x="263141" y="568048"/>
                  <a:pt x="277474" y="583239"/>
                </a:cubicBezTo>
                <a:cubicBezTo>
                  <a:pt x="279292" y="585125"/>
                  <a:pt x="281041" y="587045"/>
                  <a:pt x="282893" y="588862"/>
                </a:cubicBezTo>
                <a:lnTo>
                  <a:pt x="288687" y="594177"/>
                </a:lnTo>
                <a:lnTo>
                  <a:pt x="300277" y="604739"/>
                </a:lnTo>
                <a:lnTo>
                  <a:pt x="311833" y="615231"/>
                </a:lnTo>
                <a:cubicBezTo>
                  <a:pt x="315639" y="618729"/>
                  <a:pt x="319480" y="622226"/>
                  <a:pt x="323663" y="625313"/>
                </a:cubicBezTo>
                <a:cubicBezTo>
                  <a:pt x="355896" y="651476"/>
                  <a:pt x="389809" y="674690"/>
                  <a:pt x="425435" y="694201"/>
                </a:cubicBezTo>
                <a:cubicBezTo>
                  <a:pt x="461338" y="713301"/>
                  <a:pt x="498508" y="728937"/>
                  <a:pt x="536398" y="740836"/>
                </a:cubicBezTo>
                <a:cubicBezTo>
                  <a:pt x="612214" y="764496"/>
                  <a:pt x="690669" y="773823"/>
                  <a:pt x="766793" y="768953"/>
                </a:cubicBezTo>
                <a:cubicBezTo>
                  <a:pt x="691595" y="756438"/>
                  <a:pt x="620306" y="730000"/>
                  <a:pt x="557418" y="692932"/>
                </a:cubicBezTo>
                <a:cubicBezTo>
                  <a:pt x="525974" y="674347"/>
                  <a:pt x="496759" y="653019"/>
                  <a:pt x="469944" y="629599"/>
                </a:cubicBezTo>
                <a:cubicBezTo>
                  <a:pt x="443403" y="605767"/>
                  <a:pt x="419641" y="579570"/>
                  <a:pt x="398381" y="552103"/>
                </a:cubicBezTo>
                <a:cubicBezTo>
                  <a:pt x="395535" y="548846"/>
                  <a:pt x="393100" y="545211"/>
                  <a:pt x="390666" y="541611"/>
                </a:cubicBezTo>
                <a:lnTo>
                  <a:pt x="383328" y="530878"/>
                </a:lnTo>
                <a:lnTo>
                  <a:pt x="376024" y="520248"/>
                </a:lnTo>
                <a:lnTo>
                  <a:pt x="372389" y="514967"/>
                </a:lnTo>
                <a:cubicBezTo>
                  <a:pt x="371224" y="513150"/>
                  <a:pt x="370195" y="511230"/>
                  <a:pt x="369132" y="509378"/>
                </a:cubicBezTo>
                <a:cubicBezTo>
                  <a:pt x="360559" y="494428"/>
                  <a:pt x="351610" y="480026"/>
                  <a:pt x="344649" y="464389"/>
                </a:cubicBezTo>
                <a:cubicBezTo>
                  <a:pt x="336762" y="449405"/>
                  <a:pt x="330830" y="433391"/>
                  <a:pt x="324452" y="417927"/>
                </a:cubicBezTo>
                <a:cubicBezTo>
                  <a:pt x="321469" y="410040"/>
                  <a:pt x="319068" y="401913"/>
                  <a:pt x="316325" y="394027"/>
                </a:cubicBezTo>
                <a:cubicBezTo>
                  <a:pt x="315056" y="390015"/>
                  <a:pt x="313548" y="386140"/>
                  <a:pt x="312450" y="382093"/>
                </a:cubicBezTo>
                <a:lnTo>
                  <a:pt x="309193" y="369921"/>
                </a:lnTo>
                <a:cubicBezTo>
                  <a:pt x="303192" y="348044"/>
                  <a:pt x="298528" y="325858"/>
                  <a:pt x="295236" y="303638"/>
                </a:cubicBezTo>
                <a:lnTo>
                  <a:pt x="404553" y="295477"/>
                </a:lnTo>
                <a:lnTo>
                  <a:pt x="235847" y="54556"/>
                </a:lnTo>
                <a:lnTo>
                  <a:pt x="200459" y="1029"/>
                </a:lnTo>
                <a:lnTo>
                  <a:pt x="199430" y="2538"/>
                </a:lnTo>
                <a:lnTo>
                  <a:pt x="197647" y="0"/>
                </a:lnTo>
                <a:lnTo>
                  <a:pt x="139457" y="92240"/>
                </a:lnTo>
                <a:lnTo>
                  <a:pt x="0" y="300861"/>
                </a:lnTo>
                <a:lnTo>
                  <a:pt x="111031" y="306793"/>
                </a:lnTo>
                <a:close/>
              </a:path>
            </a:pathLst>
          </a:custGeom>
          <a:solidFill>
            <a:schemeClr val="accent1">
              <a:lumMod val="20000"/>
              <a:lumOff val="80000"/>
            </a:schemeClr>
          </a:solidFill>
          <a:ln w="3429" cap="flat">
            <a:solidFill>
              <a:schemeClr val="accent1"/>
            </a:solid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52" name="熊大的PPT宝库43"/>
          <p:cNvSpPr txBox="1"/>
          <p:nvPr/>
        </p:nvSpPr>
        <p:spPr>
          <a:xfrm>
            <a:off x="8710597" y="1950091"/>
            <a:ext cx="442429" cy="161583"/>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050" b="0" i="0" u="none" strike="noStrike" kern="1200" cap="none" spc="0" normalizeH="0" baseline="0" noProof="0" dirty="0">
                <a:ln>
                  <a:noFill/>
                </a:ln>
                <a:solidFill>
                  <a:srgbClr val="000000"/>
                </a:solidFill>
                <a:effectLst/>
                <a:uLnTx/>
                <a:uFillTx/>
                <a:cs typeface="+mn-ea"/>
                <a:sym typeface="+mn-lt"/>
              </a:rPr>
              <a:t>1000</a:t>
            </a:r>
            <a:r>
              <a:rPr kumimoji="0" lang="zh-CN" altLang="en-US" sz="1050" b="0" i="0" u="none" strike="noStrike" kern="1200" cap="none" spc="0" normalizeH="0" baseline="0" noProof="0" dirty="0">
                <a:ln>
                  <a:noFill/>
                </a:ln>
                <a:solidFill>
                  <a:srgbClr val="000000"/>
                </a:solidFill>
                <a:effectLst/>
                <a:uLnTx/>
                <a:uFillTx/>
                <a:cs typeface="+mn-ea"/>
                <a:sym typeface="+mn-lt"/>
              </a:rPr>
              <a:t>万</a:t>
            </a:r>
          </a:p>
        </p:txBody>
      </p:sp>
      <p:sp>
        <p:nvSpPr>
          <p:cNvPr id="53" name="熊大的PPT宝库44"/>
          <p:cNvSpPr txBox="1"/>
          <p:nvPr/>
        </p:nvSpPr>
        <p:spPr>
          <a:xfrm>
            <a:off x="10447579" y="1678243"/>
            <a:ext cx="386324" cy="430887"/>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FFFFFF"/>
                </a:solidFill>
                <a:effectLst/>
                <a:uLnTx/>
                <a:uFillTx/>
                <a:cs typeface="+mn-ea"/>
                <a:sym typeface="+mn-lt"/>
              </a:rPr>
              <a:t>3</a:t>
            </a:r>
            <a:r>
              <a:rPr kumimoji="0" lang="zh-CN" altLang="en-US" sz="1400" b="0" i="0" u="none" strike="noStrike" kern="1200" cap="none" spc="0" normalizeH="0" baseline="0" noProof="0" dirty="0">
                <a:ln>
                  <a:noFill/>
                </a:ln>
                <a:solidFill>
                  <a:srgbClr val="FFFFFF"/>
                </a:solidFill>
                <a:effectLst/>
                <a:uLnTx/>
                <a:uFillTx/>
                <a:cs typeface="+mn-ea"/>
                <a:sym typeface="+mn-lt"/>
              </a:rPr>
              <a:t>亿</a:t>
            </a:r>
            <a:endParaRPr kumimoji="0" lang="zh-CN" altLang="en-US" sz="2800" b="0" i="0" u="none" strike="noStrike" kern="1200" cap="none" spc="0" normalizeH="0" baseline="0" noProof="0" dirty="0">
              <a:ln>
                <a:noFill/>
              </a:ln>
              <a:solidFill>
                <a:srgbClr val="FFFFFF"/>
              </a:solidFill>
              <a:effectLst/>
              <a:uLnTx/>
              <a:uFillTx/>
              <a:cs typeface="+mn-ea"/>
              <a:sym typeface="+mn-lt"/>
            </a:endParaRPr>
          </a:p>
        </p:txBody>
      </p:sp>
      <p:sp>
        <p:nvSpPr>
          <p:cNvPr id="61" name="熊大的PPT宝库45"/>
          <p:cNvSpPr txBox="1"/>
          <p:nvPr/>
        </p:nvSpPr>
        <p:spPr>
          <a:xfrm>
            <a:off x="5181606" y="2899807"/>
            <a:ext cx="2955937"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000000"/>
                </a:solidFill>
                <a:effectLst/>
                <a:uLnTx/>
                <a:uFillTx/>
                <a:cs typeface="+mn-ea"/>
                <a:sym typeface="+mn-lt"/>
              </a:rPr>
              <a:t>AI</a:t>
            </a:r>
            <a:r>
              <a:rPr kumimoji="0" lang="zh-CN" altLang="en-US" sz="1100" b="0" i="0" u="none" strike="noStrike" kern="1200" cap="none" spc="0" normalizeH="0" baseline="0" noProof="0" dirty="0">
                <a:ln>
                  <a:noFill/>
                </a:ln>
                <a:solidFill>
                  <a:srgbClr val="000000"/>
                </a:solidFill>
                <a:effectLst/>
                <a:uLnTx/>
                <a:uFillTx/>
                <a:cs typeface="+mn-ea"/>
                <a:sym typeface="+mn-lt"/>
              </a:rPr>
              <a:t>已渗透到价值链各个环节</a:t>
            </a:r>
            <a:r>
              <a:rPr kumimoji="0" lang="en-US" altLang="zh-CN" sz="1100" b="0"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各环节</a:t>
            </a:r>
            <a:r>
              <a:rPr kumimoji="0" lang="en-US" altLang="zh-CN" sz="1100" b="0" i="0" u="none" strike="noStrike" kern="1200" cap="none" spc="0" normalizeH="0" baseline="0" noProof="0" dirty="0">
                <a:ln>
                  <a:noFill/>
                </a:ln>
                <a:solidFill>
                  <a:srgbClr val="000000"/>
                </a:solidFill>
                <a:effectLst/>
                <a:uLnTx/>
                <a:uFillTx/>
                <a:cs typeface="+mn-ea"/>
                <a:sym typeface="+mn-lt"/>
              </a:rPr>
              <a:t>AI</a:t>
            </a:r>
            <a:r>
              <a:rPr kumimoji="0" lang="zh-CN" altLang="en-US" sz="1100" b="0" i="0" u="none" strike="noStrike" kern="1200" cap="none" spc="0" normalizeH="0" baseline="0" noProof="0" dirty="0">
                <a:ln>
                  <a:noFill/>
                </a:ln>
                <a:solidFill>
                  <a:srgbClr val="000000"/>
                </a:solidFill>
                <a:effectLst/>
                <a:uLnTx/>
                <a:uFillTx/>
                <a:cs typeface="+mn-ea"/>
                <a:sym typeface="+mn-lt"/>
              </a:rPr>
              <a:t>采用情况</a:t>
            </a:r>
            <a:r>
              <a:rPr kumimoji="0" lang="en-US" altLang="zh-CN" sz="1100" b="0" i="0" u="none" strike="noStrike" kern="1200" cap="none" spc="0" normalizeH="0" baseline="0" noProof="0" dirty="0">
                <a:ln>
                  <a:noFill/>
                </a:ln>
                <a:solidFill>
                  <a:srgbClr val="000000"/>
                </a:solidFill>
                <a:effectLst/>
                <a:uLnTx/>
                <a:uFillTx/>
                <a:cs typeface="+mn-ea"/>
                <a:sym typeface="+mn-lt"/>
              </a:rPr>
              <a:t>]</a:t>
            </a:r>
            <a:endParaRPr kumimoji="0" lang="zh-CN" altLang="en-US" sz="1100" b="0" i="0" u="none" strike="noStrike" kern="1200" cap="none" spc="0" normalizeH="0" baseline="0" noProof="0" dirty="0">
              <a:ln>
                <a:noFill/>
              </a:ln>
              <a:solidFill>
                <a:srgbClr val="000000"/>
              </a:solidFill>
              <a:effectLst/>
              <a:uLnTx/>
              <a:uFillTx/>
              <a:cs typeface="+mn-ea"/>
              <a:sym typeface="+mn-lt"/>
            </a:endParaRPr>
          </a:p>
        </p:txBody>
      </p:sp>
      <p:sp>
        <p:nvSpPr>
          <p:cNvPr id="62" name="熊大的PPT宝库46"/>
          <p:cNvSpPr txBox="1"/>
          <p:nvPr/>
        </p:nvSpPr>
        <p:spPr>
          <a:xfrm>
            <a:off x="8502245" y="2911075"/>
            <a:ext cx="1548000" cy="338554"/>
          </a:xfrm>
          <a:prstGeom prst="rect">
            <a:avLst/>
          </a:prstGeom>
          <a:noFill/>
        </p:spPr>
        <p:txBody>
          <a:bodyPr wrap="square" lIns="0" tIns="0" rIns="0" bIns="0" rtlCol="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数字李生市场复合增长率</a:t>
            </a:r>
            <a:r>
              <a:rPr kumimoji="0" lang="en-US" altLang="zh-CN" sz="1100" b="0" i="0" u="none" strike="noStrike" kern="1200" cap="none" spc="0" normalizeH="0" baseline="0" noProof="0" dirty="0">
                <a:ln>
                  <a:noFill/>
                </a:ln>
                <a:solidFill>
                  <a:srgbClr val="000000"/>
                </a:solidFill>
                <a:effectLst/>
                <a:uLnTx/>
                <a:uFillTx/>
                <a:cs typeface="+mn-ea"/>
                <a:sym typeface="+mn-lt"/>
              </a:rPr>
              <a:t>[2020</a:t>
            </a:r>
            <a:r>
              <a:rPr kumimoji="0" lang="zh-CN" altLang="en-US" sz="1100" b="0" i="0" u="none" strike="noStrike" kern="1200" cap="none" spc="0" normalizeH="0" baseline="0" noProof="0" dirty="0">
                <a:ln>
                  <a:noFill/>
                </a:ln>
                <a:solidFill>
                  <a:srgbClr val="000000"/>
                </a:solidFill>
                <a:effectLst/>
                <a:uLnTx/>
                <a:uFillTx/>
                <a:cs typeface="+mn-ea"/>
                <a:sym typeface="+mn-lt"/>
              </a:rPr>
              <a:t>年</a:t>
            </a:r>
            <a:r>
              <a:rPr kumimoji="0" lang="en-US" altLang="zh-CN" sz="1100" b="0" i="0" u="none" strike="noStrike" kern="1200" cap="none" spc="0" normalizeH="0" baseline="0" noProof="0" dirty="0">
                <a:ln>
                  <a:noFill/>
                </a:ln>
                <a:solidFill>
                  <a:srgbClr val="000000"/>
                </a:solidFill>
                <a:effectLst/>
                <a:uLnTx/>
                <a:uFillTx/>
                <a:cs typeface="+mn-ea"/>
                <a:sym typeface="+mn-lt"/>
              </a:rPr>
              <a:t>-2026</a:t>
            </a:r>
            <a:r>
              <a:rPr kumimoji="0" lang="zh-CN" altLang="en-US" sz="1100" b="0" i="0" u="none" strike="noStrike" kern="1200" cap="none" spc="0" normalizeH="0" baseline="0" noProof="0" dirty="0">
                <a:ln>
                  <a:noFill/>
                </a:ln>
                <a:solidFill>
                  <a:srgbClr val="000000"/>
                </a:solidFill>
                <a:effectLst/>
                <a:uLnTx/>
                <a:uFillTx/>
                <a:cs typeface="+mn-ea"/>
                <a:sym typeface="+mn-lt"/>
              </a:rPr>
              <a:t>年</a:t>
            </a:r>
            <a:r>
              <a:rPr kumimoji="0" lang="en-US" altLang="zh-CN" sz="1100" b="0" i="0" u="none" strike="noStrike" kern="1200" cap="none" spc="0" normalizeH="0" baseline="0" noProof="0" dirty="0">
                <a:ln>
                  <a:noFill/>
                </a:ln>
                <a:solidFill>
                  <a:srgbClr val="000000"/>
                </a:solidFill>
                <a:effectLst/>
                <a:uLnTx/>
                <a:uFillTx/>
                <a:cs typeface="+mn-ea"/>
                <a:sym typeface="+mn-lt"/>
              </a:rPr>
              <a:t>]</a:t>
            </a:r>
            <a:endParaRPr kumimoji="0" lang="zh-CN" altLang="en-US" sz="1100" b="0" i="0" u="none" strike="noStrike" kern="1200" cap="none" spc="0" normalizeH="0" baseline="0" noProof="0" dirty="0">
              <a:ln>
                <a:noFill/>
              </a:ln>
              <a:solidFill>
                <a:srgbClr val="000000"/>
              </a:solidFill>
              <a:effectLst/>
              <a:uLnTx/>
              <a:uFillTx/>
              <a:cs typeface="+mn-ea"/>
              <a:sym typeface="+mn-lt"/>
            </a:endParaRPr>
          </a:p>
        </p:txBody>
      </p:sp>
      <p:sp>
        <p:nvSpPr>
          <p:cNvPr id="63" name="熊大的PPT宝库47"/>
          <p:cNvSpPr txBox="1"/>
          <p:nvPr/>
        </p:nvSpPr>
        <p:spPr>
          <a:xfrm>
            <a:off x="10164707" y="2911075"/>
            <a:ext cx="1548000" cy="677108"/>
          </a:xfrm>
          <a:prstGeom prst="rect">
            <a:avLst/>
          </a:prstGeom>
          <a:noFill/>
        </p:spPr>
        <p:txBody>
          <a:bodyPr wrap="square" lIns="0" tIns="0" rIns="0" bIns="0" rtlCol="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000000"/>
                </a:solidFill>
                <a:effectLst/>
                <a:uLnTx/>
                <a:uFillTx/>
                <a:cs typeface="+mn-ea"/>
                <a:sym typeface="+mn-lt"/>
              </a:rPr>
              <a:t>2022</a:t>
            </a:r>
            <a:r>
              <a:rPr kumimoji="0" lang="zh-CN" altLang="en-US" sz="1100" b="0" i="0" u="none" strike="noStrike" kern="1200" cap="none" spc="0" normalizeH="0" baseline="0" noProof="0" dirty="0">
                <a:ln>
                  <a:noFill/>
                </a:ln>
                <a:solidFill>
                  <a:srgbClr val="000000"/>
                </a:solidFill>
                <a:effectLst/>
                <a:uLnTx/>
                <a:uFillTx/>
                <a:cs typeface="+mn-ea"/>
                <a:sym typeface="+mn-lt"/>
              </a:rPr>
              <a:t>年数字城市中会开始使用类似于数字李生的数字空间规划工具的比例</a:t>
            </a:r>
          </a:p>
        </p:txBody>
      </p:sp>
      <p:graphicFrame>
        <p:nvGraphicFramePr>
          <p:cNvPr id="66" name="熊大的PPT宝库48"/>
          <p:cNvGraphicFramePr/>
          <p:nvPr/>
        </p:nvGraphicFramePr>
        <p:xfrm>
          <a:off x="4883478" y="2966220"/>
          <a:ext cx="3403272" cy="1623138"/>
        </p:xfrm>
        <a:graphic>
          <a:graphicData uri="http://schemas.openxmlformats.org/drawingml/2006/chart">
            <c:chart xmlns:c="http://schemas.openxmlformats.org/drawingml/2006/chart" xmlns:r="http://schemas.openxmlformats.org/officeDocument/2006/relationships" r:id="rId5"/>
          </a:graphicData>
        </a:graphic>
      </p:graphicFrame>
      <p:sp>
        <p:nvSpPr>
          <p:cNvPr id="67" name="熊大的PPT宝库49"/>
          <p:cNvSpPr txBox="1"/>
          <p:nvPr/>
        </p:nvSpPr>
        <p:spPr>
          <a:xfrm>
            <a:off x="5181606" y="4753608"/>
            <a:ext cx="2539157"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平台经济在全球经济中的重要性愈加凸显</a:t>
            </a:r>
          </a:p>
        </p:txBody>
      </p:sp>
      <p:sp>
        <p:nvSpPr>
          <p:cNvPr id="68" name="熊大的PPT宝库50"/>
          <p:cNvSpPr txBox="1"/>
          <p:nvPr/>
        </p:nvSpPr>
        <p:spPr>
          <a:xfrm>
            <a:off x="5056947" y="4942705"/>
            <a:ext cx="2773195"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全球市值超百亿平台化企业市场价值额</a:t>
            </a:r>
            <a:r>
              <a:rPr kumimoji="0" lang="en-US" altLang="zh-CN" sz="1100" b="0"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美元</a:t>
            </a:r>
            <a:r>
              <a:rPr kumimoji="0" lang="en-US" altLang="zh-CN" sz="1100" b="0" i="0" u="none" strike="noStrike" kern="1200" cap="none" spc="0" normalizeH="0" baseline="0" noProof="0" dirty="0">
                <a:ln>
                  <a:noFill/>
                </a:ln>
                <a:solidFill>
                  <a:srgbClr val="000000"/>
                </a:solidFill>
                <a:effectLst/>
                <a:uLnTx/>
                <a:uFillTx/>
                <a:cs typeface="+mn-ea"/>
                <a:sym typeface="+mn-lt"/>
              </a:rPr>
              <a:t>]</a:t>
            </a:r>
            <a:endParaRPr kumimoji="0" lang="zh-CN" altLang="en-US" sz="1100" b="0" i="0" u="none" strike="noStrike" kern="1200" cap="none" spc="0" normalizeH="0" baseline="0" noProof="0" dirty="0">
              <a:ln>
                <a:noFill/>
              </a:ln>
              <a:solidFill>
                <a:srgbClr val="000000"/>
              </a:solidFill>
              <a:effectLst/>
              <a:uLnTx/>
              <a:uFillTx/>
              <a:cs typeface="+mn-ea"/>
              <a:sym typeface="+mn-lt"/>
            </a:endParaRPr>
          </a:p>
        </p:txBody>
      </p:sp>
      <p:sp>
        <p:nvSpPr>
          <p:cNvPr id="69" name="熊大的PPT宝库51"/>
          <p:cNvSpPr/>
          <p:nvPr/>
        </p:nvSpPr>
        <p:spPr>
          <a:xfrm>
            <a:off x="5034348" y="5445817"/>
            <a:ext cx="694385" cy="694385"/>
          </a:xfrm>
          <a:prstGeom prst="ellipse">
            <a:avLst/>
          </a:prstGeom>
          <a:solidFill>
            <a:schemeClr val="accent1">
              <a:lumMod val="20000"/>
              <a:lumOff val="80000"/>
            </a:schemeClr>
          </a:solidFill>
          <a:ln>
            <a:noFill/>
          </a:ln>
          <a:effectLst>
            <a:outerShdw blurRad="152400" dist="88900" dir="5400000" sx="101000" sy="101000" rotWithShape="0">
              <a:schemeClr val="accent1">
                <a:lumMod val="20000"/>
                <a:lumOff val="80000"/>
                <a:alpha val="20000"/>
              </a:schemeClr>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0" name="熊大的PPT宝库52"/>
          <p:cNvSpPr/>
          <p:nvPr/>
        </p:nvSpPr>
        <p:spPr>
          <a:xfrm>
            <a:off x="6896887" y="5188877"/>
            <a:ext cx="972000" cy="972000"/>
          </a:xfrm>
          <a:prstGeom prst="ellipse">
            <a:avLst/>
          </a:prstGeom>
          <a:gradFill>
            <a:gsLst>
              <a:gs pos="70000">
                <a:schemeClr val="accent1"/>
              </a:gs>
              <a:gs pos="0">
                <a:schemeClr val="accent1">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1" name="熊大的PPT宝库53"/>
          <p:cNvSpPr/>
          <p:nvPr/>
        </p:nvSpPr>
        <p:spPr>
          <a:xfrm rot="1534473" flipH="1">
            <a:off x="6065041" y="5514231"/>
            <a:ext cx="606294" cy="608993"/>
          </a:xfrm>
          <a:custGeom>
            <a:avLst/>
            <a:gdLst>
              <a:gd name="connsiteX0" fmla="*/ 111031 w 766792"/>
              <a:gd name="connsiteY0" fmla="*/ 306793 h 770205"/>
              <a:gd name="connsiteX1" fmla="*/ 112814 w 766792"/>
              <a:gd name="connsiteY1" fmla="*/ 312348 h 770205"/>
              <a:gd name="connsiteX2" fmla="*/ 164352 w 766792"/>
              <a:gd name="connsiteY2" fmla="*/ 430477 h 770205"/>
              <a:gd name="connsiteX3" fmla="*/ 171998 w 766792"/>
              <a:gd name="connsiteY3" fmla="*/ 444536 h 770205"/>
              <a:gd name="connsiteX4" fmla="*/ 180296 w 766792"/>
              <a:gd name="connsiteY4" fmla="*/ 458252 h 770205"/>
              <a:gd name="connsiteX5" fmla="*/ 197305 w 766792"/>
              <a:gd name="connsiteY5" fmla="*/ 485272 h 770205"/>
              <a:gd name="connsiteX6" fmla="*/ 235366 w 766792"/>
              <a:gd name="connsiteY6" fmla="*/ 536261 h 770205"/>
              <a:gd name="connsiteX7" fmla="*/ 277474 w 766792"/>
              <a:gd name="connsiteY7" fmla="*/ 583239 h 770205"/>
              <a:gd name="connsiteX8" fmla="*/ 282893 w 766792"/>
              <a:gd name="connsiteY8" fmla="*/ 588862 h 770205"/>
              <a:gd name="connsiteX9" fmla="*/ 288687 w 766792"/>
              <a:gd name="connsiteY9" fmla="*/ 594177 h 770205"/>
              <a:gd name="connsiteX10" fmla="*/ 300277 w 766792"/>
              <a:gd name="connsiteY10" fmla="*/ 604739 h 770205"/>
              <a:gd name="connsiteX11" fmla="*/ 311833 w 766792"/>
              <a:gd name="connsiteY11" fmla="*/ 615231 h 770205"/>
              <a:gd name="connsiteX12" fmla="*/ 323663 w 766792"/>
              <a:gd name="connsiteY12" fmla="*/ 625313 h 770205"/>
              <a:gd name="connsiteX13" fmla="*/ 425435 w 766792"/>
              <a:gd name="connsiteY13" fmla="*/ 694201 h 770205"/>
              <a:gd name="connsiteX14" fmla="*/ 536398 w 766792"/>
              <a:gd name="connsiteY14" fmla="*/ 740836 h 770205"/>
              <a:gd name="connsiteX15" fmla="*/ 766793 w 766792"/>
              <a:gd name="connsiteY15" fmla="*/ 768953 h 770205"/>
              <a:gd name="connsiteX16" fmla="*/ 557418 w 766792"/>
              <a:gd name="connsiteY16" fmla="*/ 692932 h 770205"/>
              <a:gd name="connsiteX17" fmla="*/ 469944 w 766792"/>
              <a:gd name="connsiteY17" fmla="*/ 629599 h 770205"/>
              <a:gd name="connsiteX18" fmla="*/ 398381 w 766792"/>
              <a:gd name="connsiteY18" fmla="*/ 552103 h 770205"/>
              <a:gd name="connsiteX19" fmla="*/ 390666 w 766792"/>
              <a:gd name="connsiteY19" fmla="*/ 541611 h 770205"/>
              <a:gd name="connsiteX20" fmla="*/ 383328 w 766792"/>
              <a:gd name="connsiteY20" fmla="*/ 530878 h 770205"/>
              <a:gd name="connsiteX21" fmla="*/ 376024 w 766792"/>
              <a:gd name="connsiteY21" fmla="*/ 520248 h 770205"/>
              <a:gd name="connsiteX22" fmla="*/ 372389 w 766792"/>
              <a:gd name="connsiteY22" fmla="*/ 514967 h 770205"/>
              <a:gd name="connsiteX23" fmla="*/ 369132 w 766792"/>
              <a:gd name="connsiteY23" fmla="*/ 509378 h 770205"/>
              <a:gd name="connsiteX24" fmla="*/ 344649 w 766792"/>
              <a:gd name="connsiteY24" fmla="*/ 464389 h 770205"/>
              <a:gd name="connsiteX25" fmla="*/ 324452 w 766792"/>
              <a:gd name="connsiteY25" fmla="*/ 417927 h 770205"/>
              <a:gd name="connsiteX26" fmla="*/ 316325 w 766792"/>
              <a:gd name="connsiteY26" fmla="*/ 394027 h 770205"/>
              <a:gd name="connsiteX27" fmla="*/ 312450 w 766792"/>
              <a:gd name="connsiteY27" fmla="*/ 382093 h 770205"/>
              <a:gd name="connsiteX28" fmla="*/ 309193 w 766792"/>
              <a:gd name="connsiteY28" fmla="*/ 369921 h 770205"/>
              <a:gd name="connsiteX29" fmla="*/ 295236 w 766792"/>
              <a:gd name="connsiteY29" fmla="*/ 303638 h 770205"/>
              <a:gd name="connsiteX30" fmla="*/ 404553 w 766792"/>
              <a:gd name="connsiteY30" fmla="*/ 295477 h 770205"/>
              <a:gd name="connsiteX31" fmla="*/ 235847 w 766792"/>
              <a:gd name="connsiteY31" fmla="*/ 54556 h 770205"/>
              <a:gd name="connsiteX32" fmla="*/ 200459 w 766792"/>
              <a:gd name="connsiteY32" fmla="*/ 1029 h 770205"/>
              <a:gd name="connsiteX33" fmla="*/ 199430 w 766792"/>
              <a:gd name="connsiteY33" fmla="*/ 2538 h 770205"/>
              <a:gd name="connsiteX34" fmla="*/ 197647 w 766792"/>
              <a:gd name="connsiteY34" fmla="*/ 0 h 770205"/>
              <a:gd name="connsiteX35" fmla="*/ 139457 w 766792"/>
              <a:gd name="connsiteY35" fmla="*/ 92240 h 770205"/>
              <a:gd name="connsiteX36" fmla="*/ 0 w 766792"/>
              <a:gd name="connsiteY36" fmla="*/ 300861 h 770205"/>
              <a:gd name="connsiteX37" fmla="*/ 111031 w 766792"/>
              <a:gd name="connsiteY37" fmla="*/ 306793 h 770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6792" h="770205">
                <a:moveTo>
                  <a:pt x="111031" y="306793"/>
                </a:moveTo>
                <a:cubicBezTo>
                  <a:pt x="111648" y="308644"/>
                  <a:pt x="112197" y="310496"/>
                  <a:pt x="112814" y="312348"/>
                </a:cubicBezTo>
                <a:cubicBezTo>
                  <a:pt x="126495" y="353393"/>
                  <a:pt x="143881" y="392929"/>
                  <a:pt x="164352" y="430477"/>
                </a:cubicBezTo>
                <a:lnTo>
                  <a:pt x="171998" y="444536"/>
                </a:lnTo>
                <a:cubicBezTo>
                  <a:pt x="174570" y="449199"/>
                  <a:pt x="177554" y="453691"/>
                  <a:pt x="180296" y="458252"/>
                </a:cubicBezTo>
                <a:cubicBezTo>
                  <a:pt x="185989" y="467304"/>
                  <a:pt x="191372" y="476460"/>
                  <a:pt x="197305" y="485272"/>
                </a:cubicBezTo>
                <a:cubicBezTo>
                  <a:pt x="209649" y="502692"/>
                  <a:pt x="221513" y="520179"/>
                  <a:pt x="235366" y="536261"/>
                </a:cubicBezTo>
                <a:cubicBezTo>
                  <a:pt x="248259" y="552961"/>
                  <a:pt x="263141" y="568048"/>
                  <a:pt x="277474" y="583239"/>
                </a:cubicBezTo>
                <a:cubicBezTo>
                  <a:pt x="279292" y="585125"/>
                  <a:pt x="281041" y="587045"/>
                  <a:pt x="282893" y="588862"/>
                </a:cubicBezTo>
                <a:lnTo>
                  <a:pt x="288687" y="594177"/>
                </a:lnTo>
                <a:lnTo>
                  <a:pt x="300277" y="604739"/>
                </a:lnTo>
                <a:lnTo>
                  <a:pt x="311833" y="615231"/>
                </a:lnTo>
                <a:cubicBezTo>
                  <a:pt x="315639" y="618729"/>
                  <a:pt x="319480" y="622226"/>
                  <a:pt x="323663" y="625313"/>
                </a:cubicBezTo>
                <a:cubicBezTo>
                  <a:pt x="355896" y="651476"/>
                  <a:pt x="389809" y="674690"/>
                  <a:pt x="425435" y="694201"/>
                </a:cubicBezTo>
                <a:cubicBezTo>
                  <a:pt x="461338" y="713301"/>
                  <a:pt x="498508" y="728937"/>
                  <a:pt x="536398" y="740836"/>
                </a:cubicBezTo>
                <a:cubicBezTo>
                  <a:pt x="612214" y="764496"/>
                  <a:pt x="690669" y="773823"/>
                  <a:pt x="766793" y="768953"/>
                </a:cubicBezTo>
                <a:cubicBezTo>
                  <a:pt x="691595" y="756438"/>
                  <a:pt x="620306" y="730000"/>
                  <a:pt x="557418" y="692932"/>
                </a:cubicBezTo>
                <a:cubicBezTo>
                  <a:pt x="525974" y="674347"/>
                  <a:pt x="496759" y="653019"/>
                  <a:pt x="469944" y="629599"/>
                </a:cubicBezTo>
                <a:cubicBezTo>
                  <a:pt x="443403" y="605767"/>
                  <a:pt x="419641" y="579570"/>
                  <a:pt x="398381" y="552103"/>
                </a:cubicBezTo>
                <a:cubicBezTo>
                  <a:pt x="395535" y="548846"/>
                  <a:pt x="393100" y="545211"/>
                  <a:pt x="390666" y="541611"/>
                </a:cubicBezTo>
                <a:lnTo>
                  <a:pt x="383328" y="530878"/>
                </a:lnTo>
                <a:lnTo>
                  <a:pt x="376024" y="520248"/>
                </a:lnTo>
                <a:lnTo>
                  <a:pt x="372389" y="514967"/>
                </a:lnTo>
                <a:cubicBezTo>
                  <a:pt x="371224" y="513150"/>
                  <a:pt x="370195" y="511230"/>
                  <a:pt x="369132" y="509378"/>
                </a:cubicBezTo>
                <a:cubicBezTo>
                  <a:pt x="360559" y="494428"/>
                  <a:pt x="351610" y="480026"/>
                  <a:pt x="344649" y="464389"/>
                </a:cubicBezTo>
                <a:cubicBezTo>
                  <a:pt x="336762" y="449405"/>
                  <a:pt x="330830" y="433391"/>
                  <a:pt x="324452" y="417927"/>
                </a:cubicBezTo>
                <a:cubicBezTo>
                  <a:pt x="321469" y="410040"/>
                  <a:pt x="319068" y="401913"/>
                  <a:pt x="316325" y="394027"/>
                </a:cubicBezTo>
                <a:cubicBezTo>
                  <a:pt x="315056" y="390015"/>
                  <a:pt x="313548" y="386140"/>
                  <a:pt x="312450" y="382093"/>
                </a:cubicBezTo>
                <a:lnTo>
                  <a:pt x="309193" y="369921"/>
                </a:lnTo>
                <a:cubicBezTo>
                  <a:pt x="303192" y="348044"/>
                  <a:pt x="298528" y="325858"/>
                  <a:pt x="295236" y="303638"/>
                </a:cubicBezTo>
                <a:lnTo>
                  <a:pt x="404553" y="295477"/>
                </a:lnTo>
                <a:lnTo>
                  <a:pt x="235847" y="54556"/>
                </a:lnTo>
                <a:lnTo>
                  <a:pt x="200459" y="1029"/>
                </a:lnTo>
                <a:lnTo>
                  <a:pt x="199430" y="2538"/>
                </a:lnTo>
                <a:lnTo>
                  <a:pt x="197647" y="0"/>
                </a:lnTo>
                <a:lnTo>
                  <a:pt x="139457" y="92240"/>
                </a:lnTo>
                <a:lnTo>
                  <a:pt x="0" y="300861"/>
                </a:lnTo>
                <a:lnTo>
                  <a:pt x="111031" y="306793"/>
                </a:lnTo>
                <a:close/>
              </a:path>
            </a:pathLst>
          </a:custGeom>
          <a:solidFill>
            <a:schemeClr val="accent1">
              <a:lumMod val="20000"/>
              <a:lumOff val="80000"/>
            </a:schemeClr>
          </a:solidFill>
          <a:ln w="3429" cap="flat">
            <a:solidFill>
              <a:schemeClr val="accent1"/>
            </a:solidFill>
            <a:prstDash val="solid"/>
            <a:miter/>
          </a:ln>
        </p:spPr>
        <p:txBody>
          <a:bodyPr wrap="square"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72" name="熊大的PPT宝库54"/>
          <p:cNvSpPr txBox="1"/>
          <p:nvPr/>
        </p:nvSpPr>
        <p:spPr>
          <a:xfrm>
            <a:off x="5113037" y="5669899"/>
            <a:ext cx="549831"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00000"/>
                </a:solidFill>
                <a:effectLst/>
                <a:uLnTx/>
                <a:uFillTx/>
                <a:cs typeface="+mn-ea"/>
                <a:sym typeface="+mn-lt"/>
              </a:rPr>
              <a:t>8</a:t>
            </a:r>
            <a:r>
              <a:rPr kumimoji="0" lang="zh-CN" altLang="en-US" sz="1600" b="0" i="0" u="none" strike="noStrike" kern="1200" cap="none" spc="0" normalizeH="0" baseline="0" noProof="0" dirty="0">
                <a:ln>
                  <a:noFill/>
                </a:ln>
                <a:solidFill>
                  <a:srgbClr val="000000"/>
                </a:solidFill>
                <a:effectLst/>
                <a:uLnTx/>
                <a:uFillTx/>
                <a:cs typeface="+mn-ea"/>
                <a:sym typeface="+mn-lt"/>
              </a:rPr>
              <a:t>万亿</a:t>
            </a:r>
          </a:p>
        </p:txBody>
      </p:sp>
      <p:sp>
        <p:nvSpPr>
          <p:cNvPr id="73" name="熊大的PPT宝库55"/>
          <p:cNvSpPr txBox="1"/>
          <p:nvPr/>
        </p:nvSpPr>
        <p:spPr>
          <a:xfrm>
            <a:off x="6990155" y="5507234"/>
            <a:ext cx="815929" cy="3077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FFFFFF"/>
                </a:solidFill>
                <a:effectLst/>
                <a:uLnTx/>
                <a:uFillTx/>
                <a:cs typeface="+mn-ea"/>
                <a:sym typeface="+mn-lt"/>
              </a:rPr>
              <a:t>12.5</a:t>
            </a:r>
            <a:r>
              <a:rPr kumimoji="0" lang="zh-CN" altLang="en-US" sz="1000" b="0" i="0" u="none" strike="noStrike" kern="1200" cap="none" spc="0" normalizeH="0" baseline="0" noProof="0" dirty="0">
                <a:ln>
                  <a:noFill/>
                </a:ln>
                <a:solidFill>
                  <a:srgbClr val="FFFFFF"/>
                </a:solidFill>
                <a:effectLst/>
                <a:uLnTx/>
                <a:uFillTx/>
                <a:cs typeface="+mn-ea"/>
                <a:sym typeface="+mn-lt"/>
              </a:rPr>
              <a:t>万亿</a:t>
            </a:r>
          </a:p>
        </p:txBody>
      </p:sp>
      <p:sp>
        <p:nvSpPr>
          <p:cNvPr id="75" name="熊大的PPT宝库56"/>
          <p:cNvSpPr txBox="1"/>
          <p:nvPr/>
        </p:nvSpPr>
        <p:spPr>
          <a:xfrm>
            <a:off x="4939912" y="6217060"/>
            <a:ext cx="953787"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2019年:69家</a:t>
            </a:r>
          </a:p>
        </p:txBody>
      </p:sp>
      <p:sp>
        <p:nvSpPr>
          <p:cNvPr id="77" name="熊大的PPT宝库57"/>
          <p:cNvSpPr txBox="1"/>
          <p:nvPr/>
        </p:nvSpPr>
        <p:spPr>
          <a:xfrm>
            <a:off x="6913211" y="6239565"/>
            <a:ext cx="979435"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2020年:76家</a:t>
            </a:r>
          </a:p>
        </p:txBody>
      </p:sp>
      <p:sp>
        <p:nvSpPr>
          <p:cNvPr id="78" name="熊大的PPT宝库58"/>
          <p:cNvSpPr/>
          <p:nvPr/>
        </p:nvSpPr>
        <p:spPr>
          <a:xfrm>
            <a:off x="5931002" y="5445240"/>
            <a:ext cx="495594" cy="251582"/>
          </a:xfrm>
          <a:prstGeom prst="roundRect">
            <a:avLst>
              <a:gd name="adj" fmla="val 50000"/>
            </a:avLst>
          </a:prstGeom>
          <a:solidFill>
            <a:schemeClr val="bg2"/>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9" name="熊大的PPT宝库59"/>
          <p:cNvSpPr txBox="1"/>
          <p:nvPr/>
        </p:nvSpPr>
        <p:spPr>
          <a:xfrm>
            <a:off x="5988843" y="5485540"/>
            <a:ext cx="387927" cy="16158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rgbClr val="000000"/>
                </a:solidFill>
                <a:effectLst/>
                <a:uLnTx/>
                <a:uFillTx/>
                <a:cs typeface="+mn-ea"/>
                <a:sym typeface="+mn-lt"/>
              </a:rPr>
              <a:t>+</a:t>
            </a:r>
            <a:r>
              <a:rPr kumimoji="0" lang="en-US" altLang="zh-CN" sz="1050" b="0" i="0" u="none" strike="noStrike" kern="1200" cap="none" spc="0" normalizeH="0" baseline="0" noProof="0" dirty="0">
                <a:ln>
                  <a:noFill/>
                </a:ln>
                <a:solidFill>
                  <a:srgbClr val="000000"/>
                </a:solidFill>
                <a:effectLst/>
                <a:uLnTx/>
                <a:uFillTx/>
                <a:cs typeface="+mn-ea"/>
                <a:sym typeface="+mn-lt"/>
              </a:rPr>
              <a:t>56%</a:t>
            </a:r>
            <a:endParaRPr kumimoji="0" lang="zh-CN" altLang="en-US" sz="1050" b="0" i="0" u="none" strike="noStrike" kern="1200" cap="none" spc="0" normalizeH="0" baseline="0" noProof="0" dirty="0">
              <a:ln>
                <a:noFill/>
              </a:ln>
              <a:solidFill>
                <a:srgbClr val="000000"/>
              </a:solidFill>
              <a:effectLst/>
              <a:uLnTx/>
              <a:uFillTx/>
              <a:cs typeface="+mn-ea"/>
              <a:sym typeface="+mn-lt"/>
            </a:endParaRPr>
          </a:p>
        </p:txBody>
      </p:sp>
      <p:sp>
        <p:nvSpPr>
          <p:cNvPr id="80" name="熊大的PPT宝库60"/>
          <p:cNvSpPr txBox="1"/>
          <p:nvPr/>
        </p:nvSpPr>
        <p:spPr>
          <a:xfrm>
            <a:off x="8502246" y="4753608"/>
            <a:ext cx="2398092"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平台经济未来占全球整体经济中的比例</a:t>
            </a:r>
          </a:p>
        </p:txBody>
      </p:sp>
      <p:sp>
        <p:nvSpPr>
          <p:cNvPr id="81" name="熊大的PPT宝库61"/>
          <p:cNvSpPr txBox="1"/>
          <p:nvPr/>
        </p:nvSpPr>
        <p:spPr>
          <a:xfrm>
            <a:off x="10229014" y="5528221"/>
            <a:ext cx="705321" cy="369332"/>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00329D"/>
                </a:solidFill>
                <a:effectLst/>
                <a:uLnTx/>
                <a:uFillTx/>
                <a:cs typeface="+mn-ea"/>
                <a:sym typeface="+mn-lt"/>
              </a:rPr>
              <a:t>30%</a:t>
            </a:r>
            <a:endParaRPr kumimoji="0" lang="zh-CN" altLang="en-US" sz="2400" b="0" i="0" u="none" strike="noStrike" kern="1200" cap="none" spc="0" normalizeH="0" baseline="0" noProof="0" dirty="0">
              <a:ln>
                <a:noFill/>
              </a:ln>
              <a:solidFill>
                <a:srgbClr val="00329D"/>
              </a:solidFill>
              <a:effectLst/>
              <a:uLnTx/>
              <a:uFillTx/>
              <a:cs typeface="+mn-ea"/>
              <a:sym typeface="+mn-lt"/>
            </a:endParaRPr>
          </a:p>
        </p:txBody>
      </p:sp>
      <p:sp>
        <p:nvSpPr>
          <p:cNvPr id="82" name="熊大的PPT宝库62"/>
          <p:cNvSpPr/>
          <p:nvPr/>
        </p:nvSpPr>
        <p:spPr>
          <a:xfrm>
            <a:off x="10015841" y="5220480"/>
            <a:ext cx="1060939" cy="1060939"/>
          </a:xfrm>
          <a:prstGeom prst="ellipse">
            <a:avLst/>
          </a:prstGeom>
          <a:noFill/>
          <a:ln w="92075" cap="flat" cmpd="sng" algn="ctr">
            <a:solidFill>
              <a:prstClr val="black">
                <a:alpha val="20000"/>
              </a:prstClr>
            </a:solidFill>
            <a:prstDash val="solid"/>
            <a:round/>
            <a:headEnd type="none" w="med" len="med"/>
            <a:tailEnd type="none" w="med" len="med"/>
          </a:ln>
          <a:extLst>
            <a:ext uri="{909E8E84-426E-40DD-AFC4-6F175D3DCCD1}">
              <a14:hiddenFill xmlns:a14="http://schemas.microsoft.com/office/drawing/2010/main">
                <a:solidFill>
                  <a:schemeClr val="accent1">
                    <a:lumMod val="20000"/>
                    <a:lumOff val="80000"/>
                  </a:schemeClr>
                </a:solidFill>
              </a14:hiddenFill>
            </a:ext>
          </a:ex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3" name="熊大的PPT宝库63"/>
          <p:cNvSpPr/>
          <p:nvPr/>
        </p:nvSpPr>
        <p:spPr>
          <a:xfrm>
            <a:off x="10015842" y="5220481"/>
            <a:ext cx="1060939" cy="1060941"/>
          </a:xfrm>
          <a:prstGeom prst="arc">
            <a:avLst>
              <a:gd name="adj1" fmla="val 16200000"/>
              <a:gd name="adj2" fmla="val 1080001"/>
            </a:avLst>
          </a:prstGeom>
          <a:ln w="168275" cap="rnd">
            <a:round/>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4" name="熊大的PPT宝库64"/>
          <p:cNvSpPr txBox="1"/>
          <p:nvPr/>
        </p:nvSpPr>
        <p:spPr>
          <a:xfrm>
            <a:off x="8649219" y="5620554"/>
            <a:ext cx="859210" cy="276999"/>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329D"/>
                </a:solidFill>
                <a:effectLst/>
                <a:uLnTx/>
                <a:uFillTx/>
                <a:cs typeface="+mn-ea"/>
                <a:sym typeface="+mn-lt"/>
              </a:rPr>
              <a:t>202</a:t>
            </a:r>
            <a:r>
              <a:rPr kumimoji="0" lang="en-US" altLang="zh-CN" sz="1800" b="0" i="0" u="none" strike="noStrike" kern="1200" cap="none" spc="0" normalizeH="0" baseline="0" noProof="0" dirty="0">
                <a:ln>
                  <a:noFill/>
                </a:ln>
                <a:solidFill>
                  <a:srgbClr val="00329D"/>
                </a:solidFill>
                <a:effectLst/>
                <a:uLnTx/>
                <a:uFillTx/>
                <a:cs typeface="+mn-ea"/>
                <a:sym typeface="+mn-lt"/>
              </a:rPr>
              <a:t>5</a:t>
            </a:r>
            <a:r>
              <a:rPr kumimoji="0" lang="zh-CN" altLang="en-US" sz="1800" b="0" i="0" u="none" strike="noStrike" kern="1200" cap="none" spc="0" normalizeH="0" baseline="0" noProof="0" dirty="0">
                <a:ln>
                  <a:noFill/>
                </a:ln>
                <a:solidFill>
                  <a:srgbClr val="00329D"/>
                </a:solidFill>
                <a:effectLst/>
                <a:uLnTx/>
                <a:uFillTx/>
                <a:cs typeface="+mn-ea"/>
                <a:sym typeface="+mn-lt"/>
              </a:rPr>
              <a:t>年</a:t>
            </a:r>
          </a:p>
        </p:txBody>
      </p:sp>
      <p:sp>
        <p:nvSpPr>
          <p:cNvPr id="85" name="熊大的PPT宝库65"/>
          <p:cNvSpPr txBox="1"/>
          <p:nvPr/>
        </p:nvSpPr>
        <p:spPr>
          <a:xfrm>
            <a:off x="8502245" y="3443188"/>
            <a:ext cx="1160574"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cs typeface="+mn-ea"/>
                <a:sym typeface="+mn-lt"/>
              </a:rPr>
              <a:t>202</a:t>
            </a:r>
            <a:r>
              <a:rPr kumimoji="0" lang="en-US" altLang="zh-CN" sz="1400" b="0" i="0" u="none" strike="noStrike" kern="1200" cap="none" spc="0" normalizeH="0" baseline="0" noProof="0" dirty="0">
                <a:ln>
                  <a:noFill/>
                </a:ln>
                <a:solidFill>
                  <a:srgbClr val="00329D"/>
                </a:solidFill>
                <a:effectLst/>
                <a:uLnTx/>
                <a:uFillTx/>
                <a:cs typeface="+mn-ea"/>
                <a:sym typeface="+mn-lt"/>
              </a:rPr>
              <a:t>6</a:t>
            </a:r>
            <a:r>
              <a:rPr kumimoji="0" lang="zh-CN" altLang="en-US" sz="1400" b="0" i="0" u="none" strike="noStrike" kern="1200" cap="none" spc="0" normalizeH="0" baseline="0" noProof="0" dirty="0">
                <a:ln>
                  <a:noFill/>
                </a:ln>
                <a:solidFill>
                  <a:srgbClr val="00329D"/>
                </a:solidFill>
                <a:effectLst/>
                <a:uLnTx/>
                <a:uFillTx/>
                <a:cs typeface="+mn-ea"/>
                <a:sym typeface="+mn-lt"/>
              </a:rPr>
              <a:t>年规模：</a:t>
            </a:r>
            <a:endParaRPr kumimoji="0" lang="en-US" altLang="zh-CN" sz="1400" b="0" i="0" u="none" strike="noStrike" kern="1200" cap="none" spc="0" normalizeH="0" baseline="0" noProof="0" dirty="0">
              <a:ln>
                <a:noFill/>
              </a:ln>
              <a:solidFill>
                <a:srgbClr val="00329D"/>
              </a:solidFill>
              <a:effectLst/>
              <a:uLnTx/>
              <a:uFillTx/>
              <a:cs typeface="+mn-ea"/>
              <a:sym typeface="+mn-lt"/>
            </a:endParaRPr>
          </a:p>
        </p:txBody>
      </p:sp>
      <p:sp>
        <p:nvSpPr>
          <p:cNvPr id="86" name="熊大的PPT宝库66"/>
          <p:cNvSpPr txBox="1"/>
          <p:nvPr/>
        </p:nvSpPr>
        <p:spPr>
          <a:xfrm>
            <a:off x="8502245" y="3692065"/>
            <a:ext cx="1163780" cy="276999"/>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329D"/>
                </a:solidFill>
                <a:effectLst/>
                <a:uLnTx/>
                <a:uFillTx/>
                <a:cs typeface="+mn-ea"/>
                <a:sym typeface="+mn-lt"/>
              </a:rPr>
              <a:t>480</a:t>
            </a:r>
            <a:r>
              <a:rPr kumimoji="0" lang="zh-CN" altLang="en-US" sz="1800" b="0" i="0" u="none" strike="noStrike" kern="1200" cap="none" spc="0" normalizeH="0" baseline="0" noProof="0" dirty="0">
                <a:ln>
                  <a:noFill/>
                </a:ln>
                <a:solidFill>
                  <a:srgbClr val="00329D"/>
                </a:solidFill>
                <a:effectLst/>
                <a:uLnTx/>
                <a:uFillTx/>
                <a:cs typeface="+mn-ea"/>
                <a:sym typeface="+mn-lt"/>
              </a:rPr>
              <a:t>亿美元</a:t>
            </a:r>
            <a:endParaRPr kumimoji="0" lang="en-US" altLang="zh-CN" sz="1800" b="0" i="0" u="none" strike="noStrike" kern="1200" cap="none" spc="0" normalizeH="0" baseline="0" noProof="0" dirty="0">
              <a:ln>
                <a:noFill/>
              </a:ln>
              <a:solidFill>
                <a:srgbClr val="00329D"/>
              </a:solidFill>
              <a:effectLst/>
              <a:uLnTx/>
              <a:uFillTx/>
              <a:cs typeface="+mn-ea"/>
              <a:sym typeface="+mn-lt"/>
            </a:endParaRPr>
          </a:p>
        </p:txBody>
      </p:sp>
      <p:sp>
        <p:nvSpPr>
          <p:cNvPr id="87" name="熊大的PPT宝库67"/>
          <p:cNvSpPr/>
          <p:nvPr/>
        </p:nvSpPr>
        <p:spPr>
          <a:xfrm>
            <a:off x="8502245" y="4005500"/>
            <a:ext cx="1396569" cy="180000"/>
          </a:xfrm>
          <a:prstGeom prst="roundRect">
            <a:avLst>
              <a:gd name="adj" fmla="val 50000"/>
            </a:avLst>
          </a:prstGeom>
          <a:solidFill>
            <a:schemeClr val="bg1">
              <a:lumMod val="85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9" name="熊大的PPT宝库68"/>
          <p:cNvSpPr/>
          <p:nvPr/>
        </p:nvSpPr>
        <p:spPr>
          <a:xfrm>
            <a:off x="8502245" y="4005500"/>
            <a:ext cx="864000" cy="180000"/>
          </a:xfrm>
          <a:prstGeom prst="roundRect">
            <a:avLst>
              <a:gd name="adj" fmla="val 50000"/>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2" name="熊大的PPT宝库69"/>
          <p:cNvSpPr/>
          <p:nvPr/>
        </p:nvSpPr>
        <p:spPr>
          <a:xfrm>
            <a:off x="10164707" y="4005500"/>
            <a:ext cx="1396569" cy="180000"/>
          </a:xfrm>
          <a:prstGeom prst="roundRect">
            <a:avLst>
              <a:gd name="adj" fmla="val 50000"/>
            </a:avLst>
          </a:prstGeom>
          <a:solidFill>
            <a:schemeClr val="bg1">
              <a:lumMod val="85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3" name="熊大的PPT宝库70"/>
          <p:cNvSpPr/>
          <p:nvPr/>
        </p:nvSpPr>
        <p:spPr>
          <a:xfrm>
            <a:off x="10164707" y="4005500"/>
            <a:ext cx="648000" cy="180000"/>
          </a:xfrm>
          <a:prstGeom prst="roundRect">
            <a:avLst>
              <a:gd name="adj" fmla="val 50000"/>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4" name="熊大的PPT宝库71"/>
          <p:cNvSpPr txBox="1"/>
          <p:nvPr/>
        </p:nvSpPr>
        <p:spPr>
          <a:xfrm>
            <a:off x="8502245" y="4241312"/>
            <a:ext cx="471283"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00000"/>
                </a:solidFill>
                <a:effectLst/>
                <a:uLnTx/>
                <a:uFillTx/>
                <a:cs typeface="+mn-ea"/>
                <a:sym typeface="+mn-lt"/>
              </a:rPr>
              <a:t>58%</a:t>
            </a:r>
          </a:p>
        </p:txBody>
      </p:sp>
      <p:sp>
        <p:nvSpPr>
          <p:cNvPr id="95" name="熊大的PPT宝库72"/>
          <p:cNvSpPr txBox="1"/>
          <p:nvPr/>
        </p:nvSpPr>
        <p:spPr>
          <a:xfrm>
            <a:off x="10164707" y="4241312"/>
            <a:ext cx="471283"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00000"/>
                </a:solidFill>
                <a:effectLst/>
                <a:uLnTx/>
                <a:uFillTx/>
                <a:cs typeface="+mn-ea"/>
                <a:sym typeface="+mn-lt"/>
              </a:rPr>
              <a:t>40%</a:t>
            </a:r>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熊大的PPT宝库1"/>
          <p:cNvSpPr txBox="1"/>
          <p:nvPr/>
        </p:nvSpPr>
        <p:spPr>
          <a:xfrm>
            <a:off x="348830" y="216968"/>
            <a:ext cx="798167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低价好物、优质内容、贴心服务、有效营销</a:t>
            </a:r>
          </a:p>
        </p:txBody>
      </p:sp>
      <p:sp>
        <p:nvSpPr>
          <p:cNvPr id="5" name="熊大的PPT宝库3"/>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
        <p:nvSpPr>
          <p:cNvPr id="6" name="熊大的PPT宝库4"/>
          <p:cNvSpPr/>
          <p:nvPr/>
        </p:nvSpPr>
        <p:spPr>
          <a:xfrm>
            <a:off x="442913" y="1105954"/>
            <a:ext cx="7196752" cy="3475877"/>
          </a:xfrm>
          <a:prstGeom prst="roundRect">
            <a:avLst>
              <a:gd name="adj" fmla="val 3938"/>
            </a:avLst>
          </a:prstGeom>
          <a:solidFill>
            <a:schemeClr val="bg1"/>
          </a:solidFill>
          <a:ln>
            <a:noFill/>
          </a:ln>
          <a:effectLst>
            <a:outerShdw blurRad="2159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7" name="熊大的PPT宝库5"/>
          <p:cNvSpPr/>
          <p:nvPr/>
        </p:nvSpPr>
        <p:spPr>
          <a:xfrm>
            <a:off x="7836309" y="1105954"/>
            <a:ext cx="3911173" cy="3475877"/>
          </a:xfrm>
          <a:prstGeom prst="roundRect">
            <a:avLst>
              <a:gd name="adj" fmla="val 3938"/>
            </a:avLst>
          </a:prstGeom>
          <a:solidFill>
            <a:schemeClr val="bg1"/>
          </a:solidFill>
          <a:ln>
            <a:noFill/>
          </a:ln>
          <a:effectLst>
            <a:outerShdw blurRad="2159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8" name="熊大的PPT宝库6"/>
          <p:cNvSpPr/>
          <p:nvPr/>
        </p:nvSpPr>
        <p:spPr>
          <a:xfrm>
            <a:off x="442912" y="4765718"/>
            <a:ext cx="5544000" cy="1543007"/>
          </a:xfrm>
          <a:prstGeom prst="roundRect">
            <a:avLst>
              <a:gd name="adj" fmla="val 3938"/>
            </a:avLst>
          </a:prstGeom>
          <a:solidFill>
            <a:schemeClr val="bg1"/>
          </a:solidFill>
          <a:ln>
            <a:noFill/>
          </a:ln>
          <a:effectLst>
            <a:outerShdw blurRad="2159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9" name="熊大的PPT宝库7"/>
          <p:cNvSpPr/>
          <p:nvPr/>
        </p:nvSpPr>
        <p:spPr>
          <a:xfrm>
            <a:off x="6203483" y="4765718"/>
            <a:ext cx="5544000" cy="1543007"/>
          </a:xfrm>
          <a:prstGeom prst="roundRect">
            <a:avLst>
              <a:gd name="adj" fmla="val 3938"/>
            </a:avLst>
          </a:prstGeom>
          <a:solidFill>
            <a:schemeClr val="bg1"/>
          </a:solidFill>
          <a:ln>
            <a:noFill/>
          </a:ln>
          <a:effectLst>
            <a:outerShdw blurRad="2159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0" name="熊大的PPT宝库8"/>
          <p:cNvSpPr/>
          <p:nvPr/>
        </p:nvSpPr>
        <p:spPr>
          <a:xfrm>
            <a:off x="541645" y="1093387"/>
            <a:ext cx="6999287" cy="849713"/>
          </a:xfrm>
          <a:prstGeom prst="roundRect">
            <a:avLst/>
          </a:prstGeom>
          <a:solidFill>
            <a:schemeClr val="accent1">
              <a:lumMod val="40000"/>
              <a:lumOff val="60000"/>
            </a:schemeClr>
          </a:solidFill>
          <a:ln>
            <a:noFill/>
            <a:prstDash val="sysDash"/>
          </a:ln>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1" name="熊大的PPT宝库9"/>
          <p:cNvSpPr txBox="1"/>
          <p:nvPr/>
        </p:nvSpPr>
        <p:spPr>
          <a:xfrm>
            <a:off x="1421632" y="1176951"/>
            <a:ext cx="990656" cy="49244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FFFFFF"/>
                </a:solidFill>
                <a:effectLst/>
                <a:uLnTx/>
                <a:uFillTx/>
                <a:cs typeface="+mn-ea"/>
                <a:sym typeface="+mn-lt"/>
              </a:rPr>
              <a:t>695</a:t>
            </a:r>
            <a:r>
              <a:rPr kumimoji="0" lang="zh-CN" altLang="en-US" sz="1800" b="1" i="0" u="none" strike="noStrike" kern="1200" cap="none" spc="0" normalizeH="0" baseline="0" noProof="0" dirty="0">
                <a:ln>
                  <a:noFill/>
                </a:ln>
                <a:solidFill>
                  <a:srgbClr val="FFFFFF"/>
                </a:solidFill>
                <a:effectLst/>
                <a:uLnTx/>
                <a:uFillTx/>
                <a:cs typeface="+mn-ea"/>
                <a:sym typeface="+mn-lt"/>
              </a:rPr>
              <a:t>家</a:t>
            </a:r>
          </a:p>
        </p:txBody>
      </p:sp>
      <p:sp>
        <p:nvSpPr>
          <p:cNvPr id="12" name="熊大的PPT宝库10"/>
          <p:cNvSpPr txBox="1"/>
          <p:nvPr/>
        </p:nvSpPr>
        <p:spPr>
          <a:xfrm>
            <a:off x="3545960" y="1176951"/>
            <a:ext cx="990656" cy="49244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FFFFFF"/>
                </a:solidFill>
                <a:effectLst/>
                <a:uLnTx/>
                <a:uFillTx/>
                <a:cs typeface="+mn-ea"/>
                <a:sym typeface="+mn-lt"/>
              </a:rPr>
              <a:t>324</a:t>
            </a:r>
            <a:r>
              <a:rPr kumimoji="0" lang="zh-CN" altLang="en-US" sz="1800" b="1" i="0" u="none" strike="noStrike" kern="1200" cap="none" spc="0" normalizeH="0" baseline="0" noProof="0" dirty="0">
                <a:ln>
                  <a:noFill/>
                </a:ln>
                <a:solidFill>
                  <a:srgbClr val="FFFFFF"/>
                </a:solidFill>
                <a:effectLst/>
                <a:uLnTx/>
                <a:uFillTx/>
                <a:cs typeface="+mn-ea"/>
                <a:sym typeface="+mn-lt"/>
              </a:rPr>
              <a:t>家</a:t>
            </a:r>
          </a:p>
        </p:txBody>
      </p:sp>
      <p:sp>
        <p:nvSpPr>
          <p:cNvPr id="13" name="熊大的PPT宝库11"/>
          <p:cNvSpPr txBox="1"/>
          <p:nvPr/>
        </p:nvSpPr>
        <p:spPr>
          <a:xfrm>
            <a:off x="5936347" y="1176951"/>
            <a:ext cx="737381" cy="49244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FFFFFF"/>
                </a:solidFill>
                <a:effectLst/>
                <a:uLnTx/>
                <a:uFillTx/>
                <a:cs typeface="+mn-ea"/>
                <a:sym typeface="+mn-lt"/>
              </a:rPr>
              <a:t>22</a:t>
            </a:r>
            <a:r>
              <a:rPr kumimoji="0" lang="zh-CN" altLang="en-US" sz="1800" b="1" i="0" u="none" strike="noStrike" kern="1200" cap="none" spc="0" normalizeH="0" baseline="0" noProof="0" dirty="0">
                <a:ln>
                  <a:noFill/>
                </a:ln>
                <a:solidFill>
                  <a:srgbClr val="FFFFFF"/>
                </a:solidFill>
                <a:effectLst/>
                <a:uLnTx/>
                <a:uFillTx/>
                <a:cs typeface="+mn-ea"/>
                <a:sym typeface="+mn-lt"/>
              </a:rPr>
              <a:t>个</a:t>
            </a:r>
          </a:p>
        </p:txBody>
      </p:sp>
      <p:sp>
        <p:nvSpPr>
          <p:cNvPr id="14" name="熊大的PPT宝库12"/>
          <p:cNvSpPr txBox="1"/>
          <p:nvPr/>
        </p:nvSpPr>
        <p:spPr>
          <a:xfrm>
            <a:off x="1211639" y="1656694"/>
            <a:ext cx="1410643"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FFFFFF"/>
                </a:solidFill>
                <a:effectLst/>
                <a:uLnTx/>
                <a:uFillTx/>
                <a:cs typeface="+mn-ea"/>
                <a:sym typeface="+mn-lt"/>
              </a:rPr>
              <a:t>磁力方舟客户入驻数量</a:t>
            </a:r>
          </a:p>
        </p:txBody>
      </p:sp>
      <p:sp>
        <p:nvSpPr>
          <p:cNvPr id="15" name="熊大的PPT宝库13"/>
          <p:cNvSpPr txBox="1"/>
          <p:nvPr/>
        </p:nvSpPr>
        <p:spPr>
          <a:xfrm>
            <a:off x="3477031" y="1656694"/>
            <a:ext cx="1128514"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FFFFFF"/>
                </a:solidFill>
                <a:effectLst/>
                <a:uLnTx/>
                <a:uFillTx/>
                <a:cs typeface="+mn-ea"/>
                <a:sym typeface="+mn-lt"/>
              </a:rPr>
              <a:t>方舟改版后新增加</a:t>
            </a:r>
          </a:p>
        </p:txBody>
      </p:sp>
      <p:sp>
        <p:nvSpPr>
          <p:cNvPr id="16" name="熊大的PPT宝库14"/>
          <p:cNvSpPr txBox="1"/>
          <p:nvPr/>
        </p:nvSpPr>
        <p:spPr>
          <a:xfrm>
            <a:off x="5836151" y="1656694"/>
            <a:ext cx="846386" cy="1692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FFFFFF"/>
                </a:solidFill>
                <a:effectLst/>
                <a:uLnTx/>
                <a:uFillTx/>
                <a:cs typeface="+mn-ea"/>
                <a:sym typeface="+mn-lt"/>
              </a:rPr>
              <a:t>覆盖客户行业</a:t>
            </a:r>
          </a:p>
        </p:txBody>
      </p:sp>
      <p:cxnSp>
        <p:nvCxnSpPr>
          <p:cNvPr id="20" name="熊大的PPT宝库15"/>
          <p:cNvCxnSpPr/>
          <p:nvPr/>
        </p:nvCxnSpPr>
        <p:spPr>
          <a:xfrm>
            <a:off x="3002807" y="1215051"/>
            <a:ext cx="0" cy="56438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熊大的PPT宝库16"/>
          <p:cNvCxnSpPr/>
          <p:nvPr/>
        </p:nvCxnSpPr>
        <p:spPr>
          <a:xfrm>
            <a:off x="5079769" y="1215051"/>
            <a:ext cx="0" cy="56438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熊大的PPT宝库17"/>
          <p:cNvSpPr/>
          <p:nvPr/>
        </p:nvSpPr>
        <p:spPr>
          <a:xfrm>
            <a:off x="7923289" y="1093387"/>
            <a:ext cx="3737212" cy="849713"/>
          </a:xfrm>
          <a:prstGeom prst="roundRect">
            <a:avLst/>
          </a:prstGeom>
          <a:solidFill>
            <a:schemeClr val="accent1"/>
          </a:solidFill>
          <a:ln>
            <a:noFill/>
            <a:prstDash val="sysDash"/>
          </a:ln>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23" name="熊大的PPT宝库18"/>
          <p:cNvSpPr txBox="1"/>
          <p:nvPr/>
        </p:nvSpPr>
        <p:spPr>
          <a:xfrm>
            <a:off x="8725898" y="1551206"/>
            <a:ext cx="2131994"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cs typeface="+mn-ea"/>
                <a:sym typeface="+mn-lt"/>
              </a:rPr>
              <a:t>R3</a:t>
            </a:r>
            <a:r>
              <a:rPr kumimoji="0" lang="zh-CN" altLang="en-US" sz="1800" b="0" i="0" u="none" strike="noStrike" kern="1200" cap="none" spc="0" normalizeH="0" baseline="0" noProof="0" dirty="0">
                <a:ln>
                  <a:noFill/>
                </a:ln>
                <a:solidFill>
                  <a:srgbClr val="FFFFFF"/>
                </a:solidFill>
                <a:effectLst/>
                <a:uLnTx/>
                <a:uFillTx/>
                <a:cs typeface="+mn-ea"/>
                <a:sym typeface="+mn-lt"/>
              </a:rPr>
              <a:t>人群具有极高价值</a:t>
            </a:r>
          </a:p>
        </p:txBody>
      </p:sp>
      <p:sp>
        <p:nvSpPr>
          <p:cNvPr id="24" name="熊大的PPT宝库19"/>
          <p:cNvSpPr txBox="1"/>
          <p:nvPr/>
        </p:nvSpPr>
        <p:spPr>
          <a:xfrm>
            <a:off x="8831696" y="1203031"/>
            <a:ext cx="1920398"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cs typeface="+mn-ea"/>
                <a:sym typeface="+mn-lt"/>
              </a:rPr>
              <a:t>5R</a:t>
            </a:r>
            <a:r>
              <a:rPr kumimoji="0" lang="zh-CN" altLang="en-US" sz="1800" b="0" i="0" u="none" strike="noStrike" kern="1200" cap="none" spc="0" normalizeH="0" baseline="0" noProof="0" dirty="0">
                <a:ln>
                  <a:noFill/>
                </a:ln>
                <a:solidFill>
                  <a:srgbClr val="FFFFFF"/>
                </a:solidFill>
                <a:effectLst/>
                <a:uLnTx/>
                <a:uFillTx/>
                <a:cs typeface="+mn-ea"/>
                <a:sym typeface="+mn-lt"/>
              </a:rPr>
              <a:t>人群资产模型中</a:t>
            </a:r>
          </a:p>
        </p:txBody>
      </p:sp>
      <p:cxnSp>
        <p:nvCxnSpPr>
          <p:cNvPr id="81" name="熊大的PPT宝库20"/>
          <p:cNvCxnSpPr/>
          <p:nvPr/>
        </p:nvCxnSpPr>
        <p:spPr>
          <a:xfrm>
            <a:off x="653142" y="2895665"/>
            <a:ext cx="3096000" cy="0"/>
          </a:xfrm>
          <a:prstGeom prst="line">
            <a:avLst/>
          </a:prstGeom>
          <a:ln>
            <a:solidFill>
              <a:schemeClr val="accent1">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2" name="熊大的PPT宝库21"/>
          <p:cNvCxnSpPr/>
          <p:nvPr/>
        </p:nvCxnSpPr>
        <p:spPr>
          <a:xfrm rot="5400000">
            <a:off x="8396552" y="3715453"/>
            <a:ext cx="1440000" cy="0"/>
          </a:xfrm>
          <a:prstGeom prst="line">
            <a:avLst/>
          </a:prstGeom>
          <a:ln>
            <a:solidFill>
              <a:schemeClr val="accent1">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3" name="熊大的PPT宝库22"/>
          <p:cNvCxnSpPr/>
          <p:nvPr/>
        </p:nvCxnSpPr>
        <p:spPr>
          <a:xfrm>
            <a:off x="653142" y="4440633"/>
            <a:ext cx="3564000" cy="0"/>
          </a:xfrm>
          <a:prstGeom prst="line">
            <a:avLst/>
          </a:prstGeom>
          <a:ln>
            <a:solidFill>
              <a:schemeClr val="accent1">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84" name="熊大的PPT宝库23"/>
          <p:cNvGrpSpPr/>
          <p:nvPr/>
        </p:nvGrpSpPr>
        <p:grpSpPr>
          <a:xfrm>
            <a:off x="2963196" y="2089747"/>
            <a:ext cx="4847825" cy="2374586"/>
            <a:chOff x="2963196" y="2089747"/>
            <a:chExt cx="4847825" cy="2374586"/>
          </a:xfrm>
        </p:grpSpPr>
        <p:grpSp>
          <p:nvGrpSpPr>
            <p:cNvPr id="62" name="组合 61"/>
            <p:cNvGrpSpPr/>
            <p:nvPr/>
          </p:nvGrpSpPr>
          <p:grpSpPr>
            <a:xfrm>
              <a:off x="2963196" y="2089747"/>
              <a:ext cx="2514600" cy="2374586"/>
              <a:chOff x="6259344" y="2089747"/>
              <a:chExt cx="2514600" cy="2374586"/>
            </a:xfrm>
          </p:grpSpPr>
          <p:grpSp>
            <p:nvGrpSpPr>
              <p:cNvPr id="53" name="组合 52"/>
              <p:cNvGrpSpPr/>
              <p:nvPr/>
            </p:nvGrpSpPr>
            <p:grpSpPr>
              <a:xfrm>
                <a:off x="6259344" y="2396763"/>
                <a:ext cx="2514600" cy="2067570"/>
                <a:chOff x="6259344" y="2396763"/>
                <a:chExt cx="2514600" cy="2067570"/>
              </a:xfrm>
            </p:grpSpPr>
            <p:sp>
              <p:nvSpPr>
                <p:cNvPr id="44" name="熊大的PPT宝库23-1"/>
                <p:cNvSpPr/>
                <p:nvPr/>
              </p:nvSpPr>
              <p:spPr>
                <a:xfrm flipV="1">
                  <a:off x="7228644" y="4033099"/>
                  <a:ext cx="576000" cy="431234"/>
                </a:xfrm>
                <a:custGeom>
                  <a:avLst/>
                  <a:gdLst>
                    <a:gd name="connsiteX0" fmla="*/ 667691 w 667691"/>
                    <a:gd name="connsiteY0" fmla="*/ 431234 h 431234"/>
                    <a:gd name="connsiteX1" fmla="*/ 336858 w 667691"/>
                    <a:gd name="connsiteY1" fmla="*/ 0 h 431234"/>
                    <a:gd name="connsiteX2" fmla="*/ 0 w 667691"/>
                    <a:gd name="connsiteY2" fmla="*/ 430531 h 431234"/>
                    <a:gd name="connsiteX3" fmla="*/ 318329 w 667691"/>
                    <a:gd name="connsiteY3" fmla="*/ 423323 h 431234"/>
                    <a:gd name="connsiteX4" fmla="*/ 667691 w 667691"/>
                    <a:gd name="connsiteY4" fmla="*/ 431234 h 431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7691" h="431234">
                      <a:moveTo>
                        <a:pt x="667691" y="431234"/>
                      </a:moveTo>
                      <a:lnTo>
                        <a:pt x="336858" y="0"/>
                      </a:lnTo>
                      <a:lnTo>
                        <a:pt x="0" y="430531"/>
                      </a:lnTo>
                      <a:lnTo>
                        <a:pt x="318329" y="423323"/>
                      </a:lnTo>
                      <a:lnTo>
                        <a:pt x="667691" y="431234"/>
                      </a:lnTo>
                      <a:close/>
                    </a:path>
                  </a:pathLst>
                </a:custGeom>
                <a:solidFill>
                  <a:schemeClr val="accent1">
                    <a:lumMod val="40000"/>
                    <a:lumOff val="6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1" name="熊大的PPT宝库23-2"/>
                <p:cNvSpPr/>
                <p:nvPr/>
              </p:nvSpPr>
              <p:spPr>
                <a:xfrm>
                  <a:off x="7228644" y="3975066"/>
                  <a:ext cx="576000" cy="104907"/>
                </a:xfrm>
                <a:prstGeom prst="ellipse">
                  <a:avLst/>
                </a:prstGeom>
                <a:solidFill>
                  <a:schemeClr val="accent1">
                    <a:lumMod val="20000"/>
                    <a:lumOff val="80000"/>
                  </a:schemeClr>
                </a:solidFill>
                <a:ln>
                  <a:gradFill>
                    <a:gsLst>
                      <a:gs pos="0">
                        <a:schemeClr val="bg1">
                          <a:lumMod val="85000"/>
                          <a:alpha val="0"/>
                        </a:schemeClr>
                      </a:gs>
                      <a:gs pos="95000">
                        <a:schemeClr val="bg1">
                          <a:lumMod val="65000"/>
                        </a:schemeClr>
                      </a:gs>
                    </a:gsLst>
                    <a:lin ang="16200000" scaled="0"/>
                  </a:gra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6" name="熊大的PPT宝库23-3"/>
                <p:cNvSpPr/>
                <p:nvPr/>
              </p:nvSpPr>
              <p:spPr>
                <a:xfrm flipV="1">
                  <a:off x="7004749" y="3698790"/>
                  <a:ext cx="1023790" cy="295547"/>
                </a:xfrm>
                <a:custGeom>
                  <a:avLst/>
                  <a:gdLst>
                    <a:gd name="connsiteX0" fmla="*/ 1112169 w 1112169"/>
                    <a:gd name="connsiteY0" fmla="*/ 295547 h 295547"/>
                    <a:gd name="connsiteX1" fmla="*/ 891501 w 1112169"/>
                    <a:gd name="connsiteY1" fmla="*/ 7911 h 295547"/>
                    <a:gd name="connsiteX2" fmla="*/ 542139 w 1112169"/>
                    <a:gd name="connsiteY2" fmla="*/ 0 h 295547"/>
                    <a:gd name="connsiteX3" fmla="*/ 223810 w 1112169"/>
                    <a:gd name="connsiteY3" fmla="*/ 7208 h 295547"/>
                    <a:gd name="connsiteX4" fmla="*/ 0 w 1112169"/>
                    <a:gd name="connsiteY4" fmla="*/ 293254 h 295547"/>
                    <a:gd name="connsiteX5" fmla="*/ 23254 w 1112169"/>
                    <a:gd name="connsiteY5" fmla="*/ 291342 h 295547"/>
                    <a:gd name="connsiteX6" fmla="*/ 542139 w 1112169"/>
                    <a:gd name="connsiteY6" fmla="*/ 273722 h 295547"/>
                    <a:gd name="connsiteX7" fmla="*/ 1061024 w 1112169"/>
                    <a:gd name="connsiteY7" fmla="*/ 291342 h 295547"/>
                    <a:gd name="connsiteX8" fmla="*/ 1112169 w 1112169"/>
                    <a:gd name="connsiteY8" fmla="*/ 295547 h 295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2169" h="295547">
                      <a:moveTo>
                        <a:pt x="1112169" y="295547"/>
                      </a:moveTo>
                      <a:lnTo>
                        <a:pt x="891501" y="7911"/>
                      </a:lnTo>
                      <a:lnTo>
                        <a:pt x="542139" y="0"/>
                      </a:lnTo>
                      <a:lnTo>
                        <a:pt x="223810" y="7208"/>
                      </a:lnTo>
                      <a:lnTo>
                        <a:pt x="0" y="293254"/>
                      </a:lnTo>
                      <a:lnTo>
                        <a:pt x="23254" y="291342"/>
                      </a:lnTo>
                      <a:cubicBezTo>
                        <a:pt x="187170" y="279891"/>
                        <a:pt x="361447" y="273722"/>
                        <a:pt x="542139" y="273722"/>
                      </a:cubicBezTo>
                      <a:cubicBezTo>
                        <a:pt x="722831" y="273722"/>
                        <a:pt x="897109" y="279891"/>
                        <a:pt x="1061024" y="291342"/>
                      </a:cubicBezTo>
                      <a:lnTo>
                        <a:pt x="1112169" y="295547"/>
                      </a:lnTo>
                      <a:close/>
                    </a:path>
                  </a:pathLst>
                </a:custGeom>
                <a:solidFill>
                  <a:schemeClr val="accent1">
                    <a:lumMod val="40000"/>
                    <a:lumOff val="6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0" name="熊大的PPT宝库23-4"/>
                <p:cNvSpPr/>
                <p:nvPr/>
              </p:nvSpPr>
              <p:spPr>
                <a:xfrm>
                  <a:off x="7004749" y="3614635"/>
                  <a:ext cx="1023790" cy="154451"/>
                </a:xfrm>
                <a:prstGeom prst="ellipse">
                  <a:avLst/>
                </a:prstGeom>
                <a:solidFill>
                  <a:schemeClr val="accent1">
                    <a:lumMod val="20000"/>
                    <a:lumOff val="80000"/>
                  </a:schemeClr>
                </a:solidFill>
                <a:ln>
                  <a:gradFill>
                    <a:gsLst>
                      <a:gs pos="0">
                        <a:schemeClr val="bg1">
                          <a:lumMod val="85000"/>
                          <a:alpha val="0"/>
                        </a:schemeClr>
                      </a:gs>
                      <a:gs pos="95000">
                        <a:schemeClr val="bg1">
                          <a:lumMod val="65000"/>
                        </a:schemeClr>
                      </a:gs>
                    </a:gsLst>
                    <a:lin ang="16200000" scaled="0"/>
                  </a:gra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3" name="熊大的PPT宝库23-5"/>
                <p:cNvSpPr/>
                <p:nvPr/>
              </p:nvSpPr>
              <p:spPr>
                <a:xfrm flipV="1">
                  <a:off x="6827034" y="3435535"/>
                  <a:ext cx="1379220" cy="242557"/>
                </a:xfrm>
                <a:custGeom>
                  <a:avLst/>
                  <a:gdLst>
                    <a:gd name="connsiteX0" fmla="*/ 1453909 w 1453909"/>
                    <a:gd name="connsiteY0" fmla="*/ 242557 h 242557"/>
                    <a:gd name="connsiteX1" fmla="*/ 1284568 w 1453909"/>
                    <a:gd name="connsiteY1" fmla="*/ 21825 h 242557"/>
                    <a:gd name="connsiteX2" fmla="*/ 1233423 w 1453909"/>
                    <a:gd name="connsiteY2" fmla="*/ 17620 h 242557"/>
                    <a:gd name="connsiteX3" fmla="*/ 714538 w 1453909"/>
                    <a:gd name="connsiteY3" fmla="*/ 0 h 242557"/>
                    <a:gd name="connsiteX4" fmla="*/ 195653 w 1453909"/>
                    <a:gd name="connsiteY4" fmla="*/ 17620 h 242557"/>
                    <a:gd name="connsiteX5" fmla="*/ 172399 w 1453909"/>
                    <a:gd name="connsiteY5" fmla="*/ 19532 h 242557"/>
                    <a:gd name="connsiteX6" fmla="*/ 0 w 1453909"/>
                    <a:gd name="connsiteY6" fmla="*/ 239870 h 242557"/>
                    <a:gd name="connsiteX7" fmla="*/ 35337 w 1453909"/>
                    <a:gd name="connsiteY7" fmla="*/ 236046 h 242557"/>
                    <a:gd name="connsiteX8" fmla="*/ 714538 w 1453909"/>
                    <a:gd name="connsiteY8" fmla="*/ 205246 h 242557"/>
                    <a:gd name="connsiteX9" fmla="*/ 1393739 w 1453909"/>
                    <a:gd name="connsiteY9" fmla="*/ 236046 h 242557"/>
                    <a:gd name="connsiteX10" fmla="*/ 1453909 w 1453909"/>
                    <a:gd name="connsiteY10" fmla="*/ 242557 h 242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53909" h="242557">
                      <a:moveTo>
                        <a:pt x="1453909" y="242557"/>
                      </a:moveTo>
                      <a:lnTo>
                        <a:pt x="1284568" y="21825"/>
                      </a:lnTo>
                      <a:lnTo>
                        <a:pt x="1233423" y="17620"/>
                      </a:lnTo>
                      <a:cubicBezTo>
                        <a:pt x="1069508" y="6169"/>
                        <a:pt x="895230" y="0"/>
                        <a:pt x="714538" y="0"/>
                      </a:cubicBezTo>
                      <a:cubicBezTo>
                        <a:pt x="533846" y="0"/>
                        <a:pt x="359569" y="6169"/>
                        <a:pt x="195653" y="17620"/>
                      </a:cubicBezTo>
                      <a:lnTo>
                        <a:pt x="172399" y="19532"/>
                      </a:lnTo>
                      <a:lnTo>
                        <a:pt x="0" y="239870"/>
                      </a:lnTo>
                      <a:lnTo>
                        <a:pt x="35337" y="236046"/>
                      </a:lnTo>
                      <a:cubicBezTo>
                        <a:pt x="244096" y="216213"/>
                        <a:pt x="473615" y="205246"/>
                        <a:pt x="714538" y="205246"/>
                      </a:cubicBezTo>
                      <a:cubicBezTo>
                        <a:pt x="955461" y="205246"/>
                        <a:pt x="1184980" y="216213"/>
                        <a:pt x="1393739" y="236046"/>
                      </a:cubicBezTo>
                      <a:lnTo>
                        <a:pt x="1453909" y="242557"/>
                      </a:lnTo>
                      <a:close/>
                    </a:path>
                  </a:pathLst>
                </a:custGeom>
                <a:solidFill>
                  <a:schemeClr val="accent1">
                    <a:lumMod val="40000"/>
                    <a:lumOff val="6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9" name="熊大的PPT宝库23-6"/>
                <p:cNvSpPr/>
                <p:nvPr/>
              </p:nvSpPr>
              <p:spPr>
                <a:xfrm>
                  <a:off x="6827034" y="3358272"/>
                  <a:ext cx="1379220" cy="133244"/>
                </a:xfrm>
                <a:prstGeom prst="ellipse">
                  <a:avLst/>
                </a:prstGeom>
                <a:solidFill>
                  <a:schemeClr val="accent1">
                    <a:lumMod val="20000"/>
                    <a:lumOff val="80000"/>
                  </a:schemeClr>
                </a:solidFill>
                <a:ln>
                  <a:gradFill>
                    <a:gsLst>
                      <a:gs pos="0">
                        <a:schemeClr val="bg1">
                          <a:lumMod val="85000"/>
                          <a:alpha val="0"/>
                        </a:schemeClr>
                      </a:gs>
                      <a:gs pos="95000">
                        <a:schemeClr val="bg1">
                          <a:lumMod val="65000"/>
                        </a:schemeClr>
                      </a:gs>
                    </a:gsLst>
                    <a:lin ang="16200000" scaled="0"/>
                  </a:gra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6" name="熊大的PPT宝库23-7"/>
                <p:cNvSpPr/>
                <p:nvPr/>
              </p:nvSpPr>
              <p:spPr>
                <a:xfrm flipV="1">
                  <a:off x="6561649" y="3055154"/>
                  <a:ext cx="1909991" cy="356357"/>
                </a:xfrm>
                <a:custGeom>
                  <a:avLst/>
                  <a:gdLst>
                    <a:gd name="connsiteX0" fmla="*/ 1948037 w 1948037"/>
                    <a:gd name="connsiteY0" fmla="*/ 356357 h 356357"/>
                    <a:gd name="connsiteX1" fmla="*/ 1703271 w 1948037"/>
                    <a:gd name="connsiteY1" fmla="*/ 37311 h 356357"/>
                    <a:gd name="connsiteX2" fmla="*/ 1643101 w 1948037"/>
                    <a:gd name="connsiteY2" fmla="*/ 30800 h 356357"/>
                    <a:gd name="connsiteX3" fmla="*/ 963900 w 1948037"/>
                    <a:gd name="connsiteY3" fmla="*/ 0 h 356357"/>
                    <a:gd name="connsiteX4" fmla="*/ 284699 w 1948037"/>
                    <a:gd name="connsiteY4" fmla="*/ 30800 h 356357"/>
                    <a:gd name="connsiteX5" fmla="*/ 249362 w 1948037"/>
                    <a:gd name="connsiteY5" fmla="*/ 34624 h 356357"/>
                    <a:gd name="connsiteX6" fmla="*/ 0 w 1948037"/>
                    <a:gd name="connsiteY6" fmla="*/ 353327 h 356357"/>
                    <a:gd name="connsiteX7" fmla="*/ 132169 w 1948037"/>
                    <a:gd name="connsiteY7" fmla="*/ 335291 h 356357"/>
                    <a:gd name="connsiteX8" fmla="*/ 963901 w 1948037"/>
                    <a:gd name="connsiteY8" fmla="*/ 287987 h 356357"/>
                    <a:gd name="connsiteX9" fmla="*/ 1939502 w 1948037"/>
                    <a:gd name="connsiteY9" fmla="*/ 354923 h 356357"/>
                    <a:gd name="connsiteX10" fmla="*/ 1948037 w 1948037"/>
                    <a:gd name="connsiteY10" fmla="*/ 356357 h 356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48037" h="356357">
                      <a:moveTo>
                        <a:pt x="1948037" y="356357"/>
                      </a:moveTo>
                      <a:lnTo>
                        <a:pt x="1703271" y="37311"/>
                      </a:lnTo>
                      <a:lnTo>
                        <a:pt x="1643101" y="30800"/>
                      </a:lnTo>
                      <a:cubicBezTo>
                        <a:pt x="1434342" y="10967"/>
                        <a:pt x="1204823" y="0"/>
                        <a:pt x="963900" y="0"/>
                      </a:cubicBezTo>
                      <a:cubicBezTo>
                        <a:pt x="722977" y="0"/>
                        <a:pt x="493458" y="10967"/>
                        <a:pt x="284699" y="30800"/>
                      </a:cubicBezTo>
                      <a:lnTo>
                        <a:pt x="249362" y="34624"/>
                      </a:lnTo>
                      <a:lnTo>
                        <a:pt x="0" y="353327"/>
                      </a:lnTo>
                      <a:lnTo>
                        <a:pt x="132169" y="335291"/>
                      </a:lnTo>
                      <a:cubicBezTo>
                        <a:pt x="379413" y="305123"/>
                        <a:pt x="662747" y="287987"/>
                        <a:pt x="963901" y="287987"/>
                      </a:cubicBezTo>
                      <a:cubicBezTo>
                        <a:pt x="1325286" y="287987"/>
                        <a:pt x="1661011" y="312663"/>
                        <a:pt x="1939502" y="354923"/>
                      </a:cubicBezTo>
                      <a:lnTo>
                        <a:pt x="1948037" y="356357"/>
                      </a:lnTo>
                      <a:close/>
                    </a:path>
                  </a:pathLst>
                </a:custGeom>
                <a:solidFill>
                  <a:schemeClr val="accent1">
                    <a:lumMod val="40000"/>
                    <a:lumOff val="6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8" name="熊大的PPT宝库23-8"/>
                <p:cNvSpPr/>
                <p:nvPr/>
              </p:nvSpPr>
              <p:spPr>
                <a:xfrm>
                  <a:off x="6561649" y="2940799"/>
                  <a:ext cx="1909991" cy="226691"/>
                </a:xfrm>
                <a:prstGeom prst="ellipse">
                  <a:avLst/>
                </a:prstGeom>
                <a:solidFill>
                  <a:schemeClr val="accent1">
                    <a:lumMod val="20000"/>
                    <a:lumOff val="80000"/>
                  </a:schemeClr>
                </a:solidFill>
                <a:ln>
                  <a:gradFill>
                    <a:gsLst>
                      <a:gs pos="0">
                        <a:schemeClr val="bg1">
                          <a:lumMod val="85000"/>
                          <a:alpha val="0"/>
                        </a:schemeClr>
                      </a:gs>
                      <a:gs pos="95000">
                        <a:schemeClr val="bg1">
                          <a:lumMod val="65000"/>
                        </a:schemeClr>
                      </a:gs>
                    </a:gsLst>
                    <a:lin ang="16200000" scaled="0"/>
                  </a:gra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3" name="熊大的PPT宝库23-9"/>
                <p:cNvSpPr/>
                <p:nvPr/>
              </p:nvSpPr>
              <p:spPr>
                <a:xfrm flipV="1">
                  <a:off x="6259344" y="2638719"/>
                  <a:ext cx="2514600" cy="432457"/>
                </a:xfrm>
                <a:custGeom>
                  <a:avLst/>
                  <a:gdLst>
                    <a:gd name="connsiteX0" fmla="*/ 0 w 2514600"/>
                    <a:gd name="connsiteY0" fmla="*/ 432457 h 432457"/>
                    <a:gd name="connsiteX1" fmla="*/ 2514600 w 2514600"/>
                    <a:gd name="connsiteY1" fmla="*/ 432457 h 432457"/>
                    <a:gd name="connsiteX2" fmla="*/ 2235280 w 2514600"/>
                    <a:gd name="connsiteY2" fmla="*/ 68370 h 432457"/>
                    <a:gd name="connsiteX3" fmla="*/ 2226745 w 2514600"/>
                    <a:gd name="connsiteY3" fmla="*/ 66936 h 432457"/>
                    <a:gd name="connsiteX4" fmla="*/ 1251144 w 2514600"/>
                    <a:gd name="connsiteY4" fmla="*/ 0 h 432457"/>
                    <a:gd name="connsiteX5" fmla="*/ 419412 w 2514600"/>
                    <a:gd name="connsiteY5" fmla="*/ 47304 h 432457"/>
                    <a:gd name="connsiteX6" fmla="*/ 287243 w 2514600"/>
                    <a:gd name="connsiteY6" fmla="*/ 65340 h 432457"/>
                    <a:gd name="connsiteX7" fmla="*/ 0 w 2514600"/>
                    <a:gd name="connsiteY7" fmla="*/ 432457 h 432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4600" h="432457">
                      <a:moveTo>
                        <a:pt x="0" y="432457"/>
                      </a:moveTo>
                      <a:lnTo>
                        <a:pt x="2514600" y="432457"/>
                      </a:lnTo>
                      <a:lnTo>
                        <a:pt x="2235280" y="68370"/>
                      </a:lnTo>
                      <a:lnTo>
                        <a:pt x="2226745" y="66936"/>
                      </a:lnTo>
                      <a:cubicBezTo>
                        <a:pt x="1948254" y="24676"/>
                        <a:pt x="1612529" y="0"/>
                        <a:pt x="1251144" y="0"/>
                      </a:cubicBezTo>
                      <a:cubicBezTo>
                        <a:pt x="949990" y="0"/>
                        <a:pt x="666656" y="17136"/>
                        <a:pt x="419412" y="47304"/>
                      </a:cubicBezTo>
                      <a:lnTo>
                        <a:pt x="287243" y="65340"/>
                      </a:lnTo>
                      <a:lnTo>
                        <a:pt x="0" y="432457"/>
                      </a:lnTo>
                      <a:close/>
                    </a:path>
                  </a:pathLst>
                </a:custGeom>
                <a:solidFill>
                  <a:schemeClr val="accent1">
                    <a:lumMod val="40000"/>
                    <a:lumOff val="6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6" name="熊大的PPT宝库23-10"/>
                <p:cNvSpPr/>
                <p:nvPr/>
              </p:nvSpPr>
              <p:spPr>
                <a:xfrm>
                  <a:off x="6259345" y="2396763"/>
                  <a:ext cx="2514599" cy="446960"/>
                </a:xfrm>
                <a:prstGeom prst="ellipse">
                  <a:avLst/>
                </a:prstGeom>
                <a:solidFill>
                  <a:schemeClr val="accent1">
                    <a:lumMod val="20000"/>
                    <a:lumOff val="80000"/>
                  </a:schemeClr>
                </a:solidFill>
                <a:ln>
                  <a:gradFill>
                    <a:gsLst>
                      <a:gs pos="0">
                        <a:schemeClr val="bg1">
                          <a:lumMod val="85000"/>
                          <a:alpha val="0"/>
                        </a:schemeClr>
                      </a:gs>
                      <a:gs pos="95000">
                        <a:schemeClr val="bg1">
                          <a:lumMod val="65000"/>
                        </a:schemeClr>
                      </a:gs>
                    </a:gsLst>
                    <a:lin ang="16200000" scaled="0"/>
                  </a:gra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2" name="熊大的PPT宝库23-11"/>
                <p:cNvSpPr/>
                <p:nvPr/>
              </p:nvSpPr>
              <p:spPr>
                <a:xfrm>
                  <a:off x="6748294" y="2464123"/>
                  <a:ext cx="1536700" cy="323113"/>
                </a:xfrm>
                <a:prstGeom prst="ellips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pSp>
          <p:sp>
            <p:nvSpPr>
              <p:cNvPr id="54" name="熊大的PPT宝库23-12"/>
              <p:cNvSpPr txBox="1"/>
              <p:nvPr/>
            </p:nvSpPr>
            <p:spPr>
              <a:xfrm>
                <a:off x="7415655" y="2869478"/>
                <a:ext cx="201978"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00329D"/>
                    </a:solidFill>
                    <a:effectLst/>
                    <a:uLnTx/>
                    <a:uFillTx/>
                    <a:cs typeface="+mn-ea"/>
                    <a:sym typeface="+mn-lt"/>
                  </a:rPr>
                  <a:t>R1</a:t>
                </a:r>
                <a:endParaRPr kumimoji="0" lang="zh-CN" altLang="en-US" sz="1200" b="1" i="0" u="none" strike="noStrike" kern="1200" cap="none" spc="0" normalizeH="0" baseline="0" noProof="0" dirty="0">
                  <a:ln>
                    <a:noFill/>
                  </a:ln>
                  <a:solidFill>
                    <a:srgbClr val="00329D"/>
                  </a:solidFill>
                  <a:effectLst/>
                  <a:uLnTx/>
                  <a:uFillTx/>
                  <a:cs typeface="+mn-ea"/>
                  <a:sym typeface="+mn-lt"/>
                </a:endParaRPr>
              </a:p>
            </p:txBody>
          </p:sp>
          <p:sp>
            <p:nvSpPr>
              <p:cNvPr id="55" name="熊大的PPT宝库23-13"/>
              <p:cNvSpPr txBox="1"/>
              <p:nvPr/>
            </p:nvSpPr>
            <p:spPr>
              <a:xfrm>
                <a:off x="7415655" y="3173606"/>
                <a:ext cx="201978"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00329D"/>
                    </a:solidFill>
                    <a:effectLst/>
                    <a:uLnTx/>
                    <a:uFillTx/>
                    <a:cs typeface="+mn-ea"/>
                    <a:sym typeface="+mn-lt"/>
                  </a:rPr>
                  <a:t>R2</a:t>
                </a:r>
                <a:endParaRPr kumimoji="0" lang="zh-CN" altLang="en-US" sz="1200" b="1" i="0" u="none" strike="noStrike" kern="1200" cap="none" spc="0" normalizeH="0" baseline="0" noProof="0" dirty="0">
                  <a:ln>
                    <a:noFill/>
                  </a:ln>
                  <a:solidFill>
                    <a:srgbClr val="00329D"/>
                  </a:solidFill>
                  <a:effectLst/>
                  <a:uLnTx/>
                  <a:uFillTx/>
                  <a:cs typeface="+mn-ea"/>
                  <a:sym typeface="+mn-lt"/>
                </a:endParaRPr>
              </a:p>
            </p:txBody>
          </p:sp>
          <p:sp>
            <p:nvSpPr>
              <p:cNvPr id="56" name="熊大的PPT宝库23-14"/>
              <p:cNvSpPr txBox="1"/>
              <p:nvPr/>
            </p:nvSpPr>
            <p:spPr>
              <a:xfrm>
                <a:off x="7415655" y="3486004"/>
                <a:ext cx="201978"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00329D"/>
                    </a:solidFill>
                    <a:effectLst/>
                    <a:uLnTx/>
                    <a:uFillTx/>
                    <a:cs typeface="+mn-ea"/>
                    <a:sym typeface="+mn-lt"/>
                  </a:rPr>
                  <a:t>R3</a:t>
                </a:r>
                <a:endParaRPr kumimoji="0" lang="zh-CN" altLang="en-US" sz="1200" b="1" i="0" u="none" strike="noStrike" kern="1200" cap="none" spc="0" normalizeH="0" baseline="0" noProof="0" dirty="0">
                  <a:ln>
                    <a:noFill/>
                  </a:ln>
                  <a:solidFill>
                    <a:srgbClr val="00329D"/>
                  </a:solidFill>
                  <a:effectLst/>
                  <a:uLnTx/>
                  <a:uFillTx/>
                  <a:cs typeface="+mn-ea"/>
                  <a:sym typeface="+mn-lt"/>
                </a:endParaRPr>
              </a:p>
            </p:txBody>
          </p:sp>
          <p:sp>
            <p:nvSpPr>
              <p:cNvPr id="57" name="熊大的PPT宝库23-15"/>
              <p:cNvSpPr txBox="1"/>
              <p:nvPr/>
            </p:nvSpPr>
            <p:spPr>
              <a:xfrm>
                <a:off x="7415655" y="3790132"/>
                <a:ext cx="201978"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00329D"/>
                    </a:solidFill>
                    <a:effectLst/>
                    <a:uLnTx/>
                    <a:uFillTx/>
                    <a:cs typeface="+mn-ea"/>
                    <a:sym typeface="+mn-lt"/>
                  </a:rPr>
                  <a:t>R4</a:t>
                </a:r>
                <a:endParaRPr kumimoji="0" lang="zh-CN" altLang="en-US" sz="1200" b="1" i="0" u="none" strike="noStrike" kern="1200" cap="none" spc="0" normalizeH="0" baseline="0" noProof="0" dirty="0">
                  <a:ln>
                    <a:noFill/>
                  </a:ln>
                  <a:solidFill>
                    <a:srgbClr val="00329D"/>
                  </a:solidFill>
                  <a:effectLst/>
                  <a:uLnTx/>
                  <a:uFillTx/>
                  <a:cs typeface="+mn-ea"/>
                  <a:sym typeface="+mn-lt"/>
                </a:endParaRPr>
              </a:p>
            </p:txBody>
          </p:sp>
          <p:sp>
            <p:nvSpPr>
              <p:cNvPr id="58" name="熊大的PPT宝库23-16"/>
              <p:cNvSpPr txBox="1"/>
              <p:nvPr/>
            </p:nvSpPr>
            <p:spPr>
              <a:xfrm>
                <a:off x="7415655" y="4115788"/>
                <a:ext cx="201978"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00329D"/>
                    </a:solidFill>
                    <a:effectLst/>
                    <a:uLnTx/>
                    <a:uFillTx/>
                    <a:cs typeface="+mn-ea"/>
                    <a:sym typeface="+mn-lt"/>
                  </a:rPr>
                  <a:t>R5</a:t>
                </a:r>
                <a:endParaRPr kumimoji="0" lang="zh-CN" altLang="en-US" sz="1200" b="1" i="0" u="none" strike="noStrike" kern="1200" cap="none" spc="0" normalizeH="0" baseline="0" noProof="0" dirty="0">
                  <a:ln>
                    <a:noFill/>
                  </a:ln>
                  <a:solidFill>
                    <a:srgbClr val="00329D"/>
                  </a:solidFill>
                  <a:effectLst/>
                  <a:uLnTx/>
                  <a:uFillTx/>
                  <a:cs typeface="+mn-ea"/>
                  <a:sym typeface="+mn-lt"/>
                </a:endParaRPr>
              </a:p>
            </p:txBody>
          </p:sp>
          <p:sp>
            <p:nvSpPr>
              <p:cNvPr id="61" name="熊大的PPT宝库23-17"/>
              <p:cNvSpPr txBox="1"/>
              <p:nvPr/>
            </p:nvSpPr>
            <p:spPr>
              <a:xfrm>
                <a:off x="6810361" y="2089747"/>
                <a:ext cx="1412566" cy="646331"/>
              </a:xfrm>
              <a:prstGeom prst="rect">
                <a:avLst/>
              </a:prstGeom>
              <a:noFill/>
            </p:spPr>
            <p:txBody>
              <a:bodyPr wrap="square">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w="34925">
                      <a:solidFill>
                        <a:srgbClr val="FFFFFF"/>
                      </a:solidFill>
                    </a:ln>
                    <a:solidFill>
                      <a:srgbClr val="FFFFFF"/>
                    </a:solidFill>
                    <a:effectLst/>
                    <a:uLnTx/>
                    <a:uFillTx/>
                    <a:cs typeface="+mn-ea"/>
                    <a:sym typeface="+mn-lt"/>
                  </a:rPr>
                  <a:t>磁力方舟</a:t>
                </a:r>
                <a:endParaRPr kumimoji="0" lang="en-US" altLang="zh-CN" sz="1800" b="1" i="0" u="none" strike="noStrike" kern="1200" cap="none" spc="0" normalizeH="0" baseline="0" noProof="0" dirty="0">
                  <a:ln w="34925">
                    <a:solidFill>
                      <a:srgbClr val="FFFFFF"/>
                    </a:solid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w="34925">
                      <a:solidFill>
                        <a:srgbClr val="FFFFFF"/>
                      </a:solidFill>
                    </a:ln>
                    <a:solidFill>
                      <a:srgbClr val="FFFFFF"/>
                    </a:solidFill>
                    <a:effectLst/>
                    <a:uLnTx/>
                    <a:uFillTx/>
                    <a:cs typeface="+mn-ea"/>
                    <a:sym typeface="+mn-lt"/>
                  </a:rPr>
                  <a:t>5</a:t>
                </a:r>
                <a:r>
                  <a:rPr kumimoji="0" lang="zh-CN" altLang="en-US" sz="1800" b="1" i="0" u="none" strike="noStrike" kern="1200" cap="none" spc="0" normalizeH="0" baseline="0" noProof="0" dirty="0">
                    <a:ln w="34925">
                      <a:solidFill>
                        <a:srgbClr val="FFFFFF"/>
                      </a:solidFill>
                    </a:ln>
                    <a:solidFill>
                      <a:srgbClr val="FFFFFF"/>
                    </a:solidFill>
                    <a:effectLst/>
                    <a:uLnTx/>
                    <a:uFillTx/>
                    <a:cs typeface="+mn-ea"/>
                    <a:sym typeface="+mn-lt"/>
                  </a:rPr>
                  <a:t>R人群资产</a:t>
                </a:r>
              </a:p>
            </p:txBody>
          </p:sp>
          <p:sp>
            <p:nvSpPr>
              <p:cNvPr id="60" name="熊大的PPT宝库23-18"/>
              <p:cNvSpPr txBox="1"/>
              <p:nvPr/>
            </p:nvSpPr>
            <p:spPr>
              <a:xfrm>
                <a:off x="6810361" y="2089747"/>
                <a:ext cx="1412566" cy="646331"/>
              </a:xfrm>
              <a:prstGeom prst="rect">
                <a:avLst/>
              </a:prstGeom>
              <a:noFill/>
            </p:spPr>
            <p:txBody>
              <a:bodyPr wrap="square">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w="12700">
                      <a:noFill/>
                    </a:ln>
                    <a:solidFill>
                      <a:srgbClr val="00329D"/>
                    </a:solidFill>
                    <a:effectLst/>
                    <a:uLnTx/>
                    <a:uFillTx/>
                    <a:cs typeface="+mn-ea"/>
                    <a:sym typeface="+mn-lt"/>
                  </a:rPr>
                  <a:t>磁力方舟</a:t>
                </a:r>
                <a:endParaRPr kumimoji="0" lang="en-US" altLang="zh-CN" sz="1800" b="1" i="0" u="none" strike="noStrike" kern="1200" cap="none" spc="0" normalizeH="0" baseline="0" noProof="0" dirty="0">
                  <a:ln w="12700">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w="12700">
                      <a:noFill/>
                    </a:ln>
                    <a:solidFill>
                      <a:srgbClr val="00329D"/>
                    </a:solidFill>
                    <a:effectLst/>
                    <a:uLnTx/>
                    <a:uFillTx/>
                    <a:cs typeface="+mn-ea"/>
                    <a:sym typeface="+mn-lt"/>
                  </a:rPr>
                  <a:t>5</a:t>
                </a:r>
                <a:r>
                  <a:rPr kumimoji="0" lang="zh-CN" altLang="en-US" sz="1800" b="1" i="0" u="none" strike="noStrike" kern="1200" cap="none" spc="0" normalizeH="0" baseline="0" noProof="0" dirty="0">
                    <a:ln w="12700">
                      <a:noFill/>
                    </a:ln>
                    <a:solidFill>
                      <a:srgbClr val="00329D"/>
                    </a:solidFill>
                    <a:effectLst/>
                    <a:uLnTx/>
                    <a:uFillTx/>
                    <a:cs typeface="+mn-ea"/>
                    <a:sym typeface="+mn-lt"/>
                  </a:rPr>
                  <a:t>R人群资产</a:t>
                </a:r>
              </a:p>
            </p:txBody>
          </p:sp>
        </p:grpSp>
        <p:sp>
          <p:nvSpPr>
            <p:cNvPr id="64" name="熊大的PPT宝库23-19"/>
            <p:cNvSpPr/>
            <p:nvPr/>
          </p:nvSpPr>
          <p:spPr>
            <a:xfrm>
              <a:off x="4210050" y="2769665"/>
              <a:ext cx="3194745" cy="252000"/>
            </a:xfrm>
            <a:prstGeom prst="roundRect">
              <a:avLst/>
            </a:prstGeom>
            <a:gradFill>
              <a:gsLst>
                <a:gs pos="59000">
                  <a:schemeClr val="accent1">
                    <a:lumMod val="20000"/>
                    <a:lumOff val="80000"/>
                  </a:schemeClr>
                </a:gs>
                <a:gs pos="0">
                  <a:schemeClr val="accent1">
                    <a:lumMod val="20000"/>
                    <a:lumOff val="80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1" name="熊大的PPT宝库23-20"/>
            <p:cNvSpPr/>
            <p:nvPr/>
          </p:nvSpPr>
          <p:spPr>
            <a:xfrm>
              <a:off x="4210050" y="4078882"/>
              <a:ext cx="3194745" cy="252000"/>
            </a:xfrm>
            <a:prstGeom prst="roundRect">
              <a:avLst/>
            </a:prstGeom>
            <a:gradFill>
              <a:gsLst>
                <a:gs pos="59000">
                  <a:schemeClr val="accent1">
                    <a:lumMod val="20000"/>
                    <a:lumOff val="80000"/>
                  </a:schemeClr>
                </a:gs>
                <a:gs pos="0">
                  <a:schemeClr val="accent1">
                    <a:lumMod val="20000"/>
                    <a:lumOff val="80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2" name="熊大的PPT宝库23-21"/>
            <p:cNvSpPr/>
            <p:nvPr/>
          </p:nvSpPr>
          <p:spPr>
            <a:xfrm>
              <a:off x="4210050" y="3751577"/>
              <a:ext cx="3194745" cy="252000"/>
            </a:xfrm>
            <a:prstGeom prst="roundRect">
              <a:avLst/>
            </a:prstGeom>
            <a:gradFill>
              <a:gsLst>
                <a:gs pos="59000">
                  <a:schemeClr val="accent1">
                    <a:lumMod val="20000"/>
                    <a:lumOff val="80000"/>
                  </a:schemeClr>
                </a:gs>
                <a:gs pos="0">
                  <a:schemeClr val="accent1">
                    <a:lumMod val="20000"/>
                    <a:lumOff val="80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3" name="熊大的PPT宝库23-22"/>
            <p:cNvSpPr/>
            <p:nvPr/>
          </p:nvSpPr>
          <p:spPr>
            <a:xfrm>
              <a:off x="4210050" y="3424273"/>
              <a:ext cx="3194745" cy="252000"/>
            </a:xfrm>
            <a:prstGeom prst="roundRect">
              <a:avLst/>
            </a:prstGeom>
            <a:gradFill>
              <a:gsLst>
                <a:gs pos="59000">
                  <a:schemeClr val="accent1">
                    <a:lumMod val="20000"/>
                    <a:lumOff val="80000"/>
                  </a:schemeClr>
                </a:gs>
                <a:gs pos="0">
                  <a:schemeClr val="accent1">
                    <a:lumMod val="20000"/>
                    <a:lumOff val="80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4" name="熊大的PPT宝库23-23"/>
            <p:cNvSpPr/>
            <p:nvPr/>
          </p:nvSpPr>
          <p:spPr>
            <a:xfrm>
              <a:off x="4210050" y="3096969"/>
              <a:ext cx="3194745" cy="252000"/>
            </a:xfrm>
            <a:prstGeom prst="roundRect">
              <a:avLst/>
            </a:prstGeom>
            <a:gradFill>
              <a:gsLst>
                <a:gs pos="59000">
                  <a:schemeClr val="accent1">
                    <a:lumMod val="20000"/>
                    <a:lumOff val="80000"/>
                  </a:schemeClr>
                </a:gs>
                <a:gs pos="0">
                  <a:schemeClr val="accent1">
                    <a:lumMod val="20000"/>
                    <a:lumOff val="80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6" name="熊大的PPT宝库23-24"/>
            <p:cNvSpPr txBox="1"/>
            <p:nvPr/>
          </p:nvSpPr>
          <p:spPr>
            <a:xfrm>
              <a:off x="6255740" y="2781540"/>
              <a:ext cx="1512000"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(Reach)触达</a:t>
              </a:r>
            </a:p>
          </p:txBody>
        </p:sp>
        <p:sp>
          <p:nvSpPr>
            <p:cNvPr id="67" name="熊大的PPT宝库23-25"/>
            <p:cNvSpPr txBox="1"/>
            <p:nvPr/>
          </p:nvSpPr>
          <p:spPr>
            <a:xfrm>
              <a:off x="5829341" y="3114817"/>
              <a:ext cx="1512000"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0000"/>
                  </a:solidFill>
                  <a:effectLst/>
                  <a:uLnTx/>
                  <a:uFillTx/>
                  <a:cs typeface="+mn-ea"/>
                  <a:sym typeface="+mn-lt"/>
                </a:rPr>
                <a:t>(Remember)</a:t>
              </a:r>
              <a:r>
                <a:rPr kumimoji="0" lang="zh-CN" altLang="en-US" sz="1400" b="0" i="0" u="none" strike="noStrike" kern="1200" cap="none" spc="0" normalizeH="0" baseline="0" noProof="0" dirty="0">
                  <a:ln>
                    <a:noFill/>
                  </a:ln>
                  <a:solidFill>
                    <a:srgbClr val="000000"/>
                  </a:solidFill>
                  <a:effectLst/>
                  <a:uLnTx/>
                  <a:uFillTx/>
                  <a:cs typeface="+mn-ea"/>
                  <a:sym typeface="+mn-lt"/>
                </a:rPr>
                <a:t>记住</a:t>
              </a:r>
            </a:p>
          </p:txBody>
        </p:sp>
        <p:sp>
          <p:nvSpPr>
            <p:cNvPr id="68" name="熊大的PPT宝库23-26"/>
            <p:cNvSpPr txBox="1"/>
            <p:nvPr/>
          </p:nvSpPr>
          <p:spPr>
            <a:xfrm>
              <a:off x="6239582" y="3448094"/>
              <a:ext cx="1512000"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0000"/>
                  </a:solidFill>
                  <a:effectLst/>
                  <a:uLnTx/>
                  <a:uFillTx/>
                  <a:cs typeface="+mn-ea"/>
                  <a:sym typeface="+mn-lt"/>
                </a:rPr>
                <a:t>(Relate)</a:t>
              </a:r>
              <a:r>
                <a:rPr kumimoji="0" lang="zh-CN" altLang="en-US" sz="1400" b="0" i="0" u="none" strike="noStrike" kern="1200" cap="none" spc="0" normalizeH="0" baseline="0" noProof="0" dirty="0">
                  <a:ln>
                    <a:noFill/>
                  </a:ln>
                  <a:solidFill>
                    <a:srgbClr val="000000"/>
                  </a:solidFill>
                  <a:effectLst/>
                  <a:uLnTx/>
                  <a:uFillTx/>
                  <a:cs typeface="+mn-ea"/>
                  <a:sym typeface="+mn-lt"/>
                </a:rPr>
                <a:t>兴趣</a:t>
              </a:r>
            </a:p>
          </p:txBody>
        </p:sp>
        <p:sp>
          <p:nvSpPr>
            <p:cNvPr id="69" name="熊大的PPT宝库23-27"/>
            <p:cNvSpPr txBox="1"/>
            <p:nvPr/>
          </p:nvSpPr>
          <p:spPr>
            <a:xfrm>
              <a:off x="6299021" y="3781371"/>
              <a:ext cx="1512000"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0000"/>
                  </a:solidFill>
                  <a:effectLst/>
                  <a:uLnTx/>
                  <a:uFillTx/>
                  <a:cs typeface="+mn-ea"/>
                  <a:sym typeface="+mn-lt"/>
                </a:rPr>
                <a:t>(React)</a:t>
              </a:r>
              <a:r>
                <a:rPr kumimoji="0" lang="zh-CN" altLang="en-US" sz="1400" b="0" i="0" u="none" strike="noStrike" kern="1200" cap="none" spc="0" normalizeH="0" baseline="0" noProof="0" dirty="0">
                  <a:ln>
                    <a:noFill/>
                  </a:ln>
                  <a:solidFill>
                    <a:srgbClr val="000000"/>
                  </a:solidFill>
                  <a:effectLst/>
                  <a:uLnTx/>
                  <a:uFillTx/>
                  <a:cs typeface="+mn-ea"/>
                  <a:sym typeface="+mn-lt"/>
                </a:rPr>
                <a:t>行动</a:t>
              </a:r>
            </a:p>
          </p:txBody>
        </p:sp>
        <p:sp>
          <p:nvSpPr>
            <p:cNvPr id="70" name="熊大的PPT宝库23-28"/>
            <p:cNvSpPr txBox="1"/>
            <p:nvPr/>
          </p:nvSpPr>
          <p:spPr>
            <a:xfrm>
              <a:off x="6056968" y="4114649"/>
              <a:ext cx="1512000"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0000"/>
                  </a:solidFill>
                  <a:effectLst/>
                  <a:uLnTx/>
                  <a:uFillTx/>
                  <a:cs typeface="+mn-ea"/>
                  <a:sym typeface="+mn-lt"/>
                </a:rPr>
                <a:t>(Reliance)</a:t>
              </a:r>
              <a:r>
                <a:rPr kumimoji="0" lang="zh-CN" altLang="en-US" sz="1400" b="0" i="0" u="none" strike="noStrike" kern="1200" cap="none" spc="0" normalizeH="0" baseline="0" noProof="0" dirty="0">
                  <a:ln>
                    <a:noFill/>
                  </a:ln>
                  <a:solidFill>
                    <a:srgbClr val="000000"/>
                  </a:solidFill>
                  <a:effectLst/>
                  <a:uLnTx/>
                  <a:uFillTx/>
                  <a:cs typeface="+mn-ea"/>
                  <a:sym typeface="+mn-lt"/>
                </a:rPr>
                <a:t>忠诚</a:t>
              </a:r>
            </a:p>
          </p:txBody>
        </p:sp>
      </p:grpSp>
      <p:sp>
        <p:nvSpPr>
          <p:cNvPr id="86" name="熊大的PPT宝库24"/>
          <p:cNvSpPr txBox="1"/>
          <p:nvPr/>
        </p:nvSpPr>
        <p:spPr>
          <a:xfrm>
            <a:off x="600421" y="3152758"/>
            <a:ext cx="1368000" cy="276999"/>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提升R3人群</a:t>
            </a:r>
          </a:p>
        </p:txBody>
      </p:sp>
      <p:sp>
        <p:nvSpPr>
          <p:cNvPr id="87" name="熊大的PPT宝库25"/>
          <p:cNvSpPr txBox="1"/>
          <p:nvPr/>
        </p:nvSpPr>
        <p:spPr>
          <a:xfrm>
            <a:off x="600421" y="3920863"/>
            <a:ext cx="923330" cy="276999"/>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循环人群</a:t>
            </a:r>
          </a:p>
        </p:txBody>
      </p:sp>
      <p:sp>
        <p:nvSpPr>
          <p:cNvPr id="88" name="熊大的PPT宝库26"/>
          <p:cNvSpPr/>
          <p:nvPr/>
        </p:nvSpPr>
        <p:spPr>
          <a:xfrm>
            <a:off x="2280574" y="3760332"/>
            <a:ext cx="550984" cy="554991"/>
          </a:xfrm>
          <a:custGeom>
            <a:avLst/>
            <a:gdLst>
              <a:gd name="connsiteX0" fmla="*/ 654803 w 765798"/>
              <a:gd name="connsiteY0" fmla="*/ 464746 h 771367"/>
              <a:gd name="connsiteX1" fmla="*/ 653019 w 765798"/>
              <a:gd name="connsiteY1" fmla="*/ 459191 h 771367"/>
              <a:gd name="connsiteX2" fmla="*/ 601722 w 765798"/>
              <a:gd name="connsiteY2" fmla="*/ 340959 h 771367"/>
              <a:gd name="connsiteX3" fmla="*/ 594109 w 765798"/>
              <a:gd name="connsiteY3" fmla="*/ 326866 h 771367"/>
              <a:gd name="connsiteX4" fmla="*/ 585845 w 765798"/>
              <a:gd name="connsiteY4" fmla="*/ 313116 h 771367"/>
              <a:gd name="connsiteX5" fmla="*/ 568906 w 765798"/>
              <a:gd name="connsiteY5" fmla="*/ 286061 h 771367"/>
              <a:gd name="connsiteX6" fmla="*/ 530947 w 765798"/>
              <a:gd name="connsiteY6" fmla="*/ 235003 h 771367"/>
              <a:gd name="connsiteX7" fmla="*/ 488941 w 765798"/>
              <a:gd name="connsiteY7" fmla="*/ 187957 h 771367"/>
              <a:gd name="connsiteX8" fmla="*/ 483523 w 765798"/>
              <a:gd name="connsiteY8" fmla="*/ 182299 h 771367"/>
              <a:gd name="connsiteX9" fmla="*/ 477729 w 765798"/>
              <a:gd name="connsiteY9" fmla="*/ 176984 h 771367"/>
              <a:gd name="connsiteX10" fmla="*/ 466173 w 765798"/>
              <a:gd name="connsiteY10" fmla="*/ 166389 h 771367"/>
              <a:gd name="connsiteX11" fmla="*/ 454651 w 765798"/>
              <a:gd name="connsiteY11" fmla="*/ 155862 h 771367"/>
              <a:gd name="connsiteX12" fmla="*/ 442822 w 765798"/>
              <a:gd name="connsiteY12" fmla="*/ 145746 h 771367"/>
              <a:gd name="connsiteX13" fmla="*/ 341186 w 765798"/>
              <a:gd name="connsiteY13" fmla="*/ 76652 h 771367"/>
              <a:gd name="connsiteX14" fmla="*/ 230327 w 765798"/>
              <a:gd name="connsiteY14" fmla="*/ 29778 h 771367"/>
              <a:gd name="connsiteX15" fmla="*/ 0 w 765798"/>
              <a:gd name="connsiteY15" fmla="*/ 1180 h 771367"/>
              <a:gd name="connsiteX16" fmla="*/ 209203 w 765798"/>
              <a:gd name="connsiteY16" fmla="*/ 77646 h 771367"/>
              <a:gd name="connsiteX17" fmla="*/ 296541 w 765798"/>
              <a:gd name="connsiteY17" fmla="*/ 141186 h 771367"/>
              <a:gd name="connsiteX18" fmla="*/ 367932 w 765798"/>
              <a:gd name="connsiteY18" fmla="*/ 218818 h 771367"/>
              <a:gd name="connsiteX19" fmla="*/ 375613 w 765798"/>
              <a:gd name="connsiteY19" fmla="*/ 229311 h 771367"/>
              <a:gd name="connsiteX20" fmla="*/ 382917 w 765798"/>
              <a:gd name="connsiteY20" fmla="*/ 240044 h 771367"/>
              <a:gd name="connsiteX21" fmla="*/ 390186 w 765798"/>
              <a:gd name="connsiteY21" fmla="*/ 250708 h 771367"/>
              <a:gd name="connsiteX22" fmla="*/ 393821 w 765798"/>
              <a:gd name="connsiteY22" fmla="*/ 256023 h 771367"/>
              <a:gd name="connsiteX23" fmla="*/ 397078 w 765798"/>
              <a:gd name="connsiteY23" fmla="*/ 261612 h 771367"/>
              <a:gd name="connsiteX24" fmla="*/ 421493 w 765798"/>
              <a:gd name="connsiteY24" fmla="*/ 306635 h 771367"/>
              <a:gd name="connsiteX25" fmla="*/ 441587 w 765798"/>
              <a:gd name="connsiteY25" fmla="*/ 353167 h 771367"/>
              <a:gd name="connsiteX26" fmla="*/ 449680 w 765798"/>
              <a:gd name="connsiteY26" fmla="*/ 377101 h 771367"/>
              <a:gd name="connsiteX27" fmla="*/ 453520 w 765798"/>
              <a:gd name="connsiteY27" fmla="*/ 389034 h 771367"/>
              <a:gd name="connsiteX28" fmla="*/ 456743 w 765798"/>
              <a:gd name="connsiteY28" fmla="*/ 401207 h 771367"/>
              <a:gd name="connsiteX29" fmla="*/ 470562 w 765798"/>
              <a:gd name="connsiteY29" fmla="*/ 467524 h 771367"/>
              <a:gd name="connsiteX30" fmla="*/ 361211 w 765798"/>
              <a:gd name="connsiteY30" fmla="*/ 475479 h 771367"/>
              <a:gd name="connsiteX31" fmla="*/ 529404 w 765798"/>
              <a:gd name="connsiteY31" fmla="*/ 716744 h 771367"/>
              <a:gd name="connsiteX32" fmla="*/ 564688 w 765798"/>
              <a:gd name="connsiteY32" fmla="*/ 770339 h 771367"/>
              <a:gd name="connsiteX33" fmla="*/ 565717 w 765798"/>
              <a:gd name="connsiteY33" fmla="*/ 768830 h 771367"/>
              <a:gd name="connsiteX34" fmla="*/ 567500 w 765798"/>
              <a:gd name="connsiteY34" fmla="*/ 771367 h 771367"/>
              <a:gd name="connsiteX35" fmla="*/ 625896 w 765798"/>
              <a:gd name="connsiteY35" fmla="*/ 679230 h 771367"/>
              <a:gd name="connsiteX36" fmla="*/ 765799 w 765798"/>
              <a:gd name="connsiteY36" fmla="*/ 470918 h 771367"/>
              <a:gd name="connsiteX37" fmla="*/ 654803 w 765798"/>
              <a:gd name="connsiteY37" fmla="*/ 464746 h 771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5798" h="771367">
                <a:moveTo>
                  <a:pt x="654803" y="464746"/>
                </a:moveTo>
                <a:cubicBezTo>
                  <a:pt x="654219" y="462895"/>
                  <a:pt x="653636" y="461043"/>
                  <a:pt x="653019" y="459191"/>
                </a:cubicBezTo>
                <a:cubicBezTo>
                  <a:pt x="639441" y="418112"/>
                  <a:pt x="622124" y="378541"/>
                  <a:pt x="601722" y="340959"/>
                </a:cubicBezTo>
                <a:lnTo>
                  <a:pt x="594109" y="326866"/>
                </a:lnTo>
                <a:cubicBezTo>
                  <a:pt x="591537" y="322203"/>
                  <a:pt x="588588" y="317711"/>
                  <a:pt x="585845" y="313116"/>
                </a:cubicBezTo>
                <a:cubicBezTo>
                  <a:pt x="580188" y="304063"/>
                  <a:pt x="574838" y="294874"/>
                  <a:pt x="568906" y="286061"/>
                </a:cubicBezTo>
                <a:cubicBezTo>
                  <a:pt x="556596" y="268607"/>
                  <a:pt x="544766" y="251119"/>
                  <a:pt x="530947" y="235003"/>
                </a:cubicBezTo>
                <a:cubicBezTo>
                  <a:pt x="518088" y="218270"/>
                  <a:pt x="503240" y="203148"/>
                  <a:pt x="488941" y="187957"/>
                </a:cubicBezTo>
                <a:cubicBezTo>
                  <a:pt x="487124" y="186071"/>
                  <a:pt x="485409" y="184117"/>
                  <a:pt x="483523" y="182299"/>
                </a:cubicBezTo>
                <a:lnTo>
                  <a:pt x="477729" y="176984"/>
                </a:lnTo>
                <a:lnTo>
                  <a:pt x="466173" y="166389"/>
                </a:lnTo>
                <a:lnTo>
                  <a:pt x="454651" y="155862"/>
                </a:lnTo>
                <a:cubicBezTo>
                  <a:pt x="450846" y="152330"/>
                  <a:pt x="447005" y="148867"/>
                  <a:pt x="442822" y="145746"/>
                </a:cubicBezTo>
                <a:cubicBezTo>
                  <a:pt x="410657" y="119514"/>
                  <a:pt x="376779" y="96232"/>
                  <a:pt x="341186" y="76652"/>
                </a:cubicBezTo>
                <a:cubicBezTo>
                  <a:pt x="305353" y="57450"/>
                  <a:pt x="268183" y="41745"/>
                  <a:pt x="230327" y="29778"/>
                </a:cubicBezTo>
                <a:cubicBezTo>
                  <a:pt x="154545" y="5946"/>
                  <a:pt x="76124" y="-3552"/>
                  <a:pt x="0" y="1180"/>
                </a:cubicBezTo>
                <a:cubicBezTo>
                  <a:pt x="75164" y="13867"/>
                  <a:pt x="146419" y="40476"/>
                  <a:pt x="209203" y="77646"/>
                </a:cubicBezTo>
                <a:cubicBezTo>
                  <a:pt x="240614" y="96266"/>
                  <a:pt x="269794" y="117697"/>
                  <a:pt x="296541" y="141186"/>
                </a:cubicBezTo>
                <a:cubicBezTo>
                  <a:pt x="323047" y="165086"/>
                  <a:pt x="346707" y="191318"/>
                  <a:pt x="367932" y="218818"/>
                </a:cubicBezTo>
                <a:cubicBezTo>
                  <a:pt x="370744" y="222076"/>
                  <a:pt x="373213" y="225711"/>
                  <a:pt x="375613" y="229311"/>
                </a:cubicBezTo>
                <a:lnTo>
                  <a:pt x="382917" y="240044"/>
                </a:lnTo>
                <a:lnTo>
                  <a:pt x="390186" y="250708"/>
                </a:lnTo>
                <a:lnTo>
                  <a:pt x="393821" y="256023"/>
                </a:lnTo>
                <a:cubicBezTo>
                  <a:pt x="394987" y="257840"/>
                  <a:pt x="395982" y="259761"/>
                  <a:pt x="397078" y="261612"/>
                </a:cubicBezTo>
                <a:cubicBezTo>
                  <a:pt x="405617" y="276597"/>
                  <a:pt x="414532" y="290999"/>
                  <a:pt x="421493" y="306635"/>
                </a:cubicBezTo>
                <a:cubicBezTo>
                  <a:pt x="429346" y="321620"/>
                  <a:pt x="435244" y="337667"/>
                  <a:pt x="441587" y="353167"/>
                </a:cubicBezTo>
                <a:cubicBezTo>
                  <a:pt x="444536" y="361053"/>
                  <a:pt x="446936" y="369180"/>
                  <a:pt x="449680" y="377101"/>
                </a:cubicBezTo>
                <a:cubicBezTo>
                  <a:pt x="450948" y="381113"/>
                  <a:pt x="452423" y="384988"/>
                  <a:pt x="453520" y="389034"/>
                </a:cubicBezTo>
                <a:lnTo>
                  <a:pt x="456743" y="401207"/>
                </a:lnTo>
                <a:cubicBezTo>
                  <a:pt x="462676" y="423118"/>
                  <a:pt x="467304" y="445269"/>
                  <a:pt x="470562" y="467524"/>
                </a:cubicBezTo>
                <a:lnTo>
                  <a:pt x="361211" y="475479"/>
                </a:lnTo>
                <a:lnTo>
                  <a:pt x="529404" y="716744"/>
                </a:lnTo>
                <a:lnTo>
                  <a:pt x="564688" y="770339"/>
                </a:lnTo>
                <a:lnTo>
                  <a:pt x="565717" y="768830"/>
                </a:lnTo>
                <a:lnTo>
                  <a:pt x="567500" y="771367"/>
                </a:lnTo>
                <a:lnTo>
                  <a:pt x="625896" y="679230"/>
                </a:lnTo>
                <a:lnTo>
                  <a:pt x="765799" y="470918"/>
                </a:lnTo>
                <a:lnTo>
                  <a:pt x="654803" y="464746"/>
                </a:lnTo>
                <a:close/>
              </a:path>
            </a:pathLst>
          </a:custGeom>
          <a:gradFill>
            <a:gsLst>
              <a:gs pos="15000">
                <a:schemeClr val="accent1">
                  <a:lumMod val="40000"/>
                  <a:lumOff val="60000"/>
                </a:schemeClr>
              </a:gs>
              <a:gs pos="100000">
                <a:schemeClr val="accent1">
                  <a:lumMod val="60000"/>
                  <a:lumOff val="40000"/>
                </a:schemeClr>
              </a:gs>
            </a:gsLst>
            <a:path path="circle">
              <a:fillToRect l="100000" t="100000"/>
            </a:path>
          </a:gradFill>
          <a:ln w="3429" cap="flat">
            <a:noFill/>
            <a:prstDash val="solid"/>
            <a:miter/>
          </a:ln>
        </p:spPr>
        <p:txBody>
          <a:bodyPr wrap="square"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89" name="熊大的PPT宝库27"/>
          <p:cNvSpPr/>
          <p:nvPr/>
        </p:nvSpPr>
        <p:spPr>
          <a:xfrm>
            <a:off x="1860589" y="3847640"/>
            <a:ext cx="551699" cy="554155"/>
          </a:xfrm>
          <a:custGeom>
            <a:avLst/>
            <a:gdLst>
              <a:gd name="connsiteX0" fmla="*/ 111031 w 766792"/>
              <a:gd name="connsiteY0" fmla="*/ 306793 h 770205"/>
              <a:gd name="connsiteX1" fmla="*/ 112814 w 766792"/>
              <a:gd name="connsiteY1" fmla="*/ 312348 h 770205"/>
              <a:gd name="connsiteX2" fmla="*/ 164352 w 766792"/>
              <a:gd name="connsiteY2" fmla="*/ 430477 h 770205"/>
              <a:gd name="connsiteX3" fmla="*/ 171998 w 766792"/>
              <a:gd name="connsiteY3" fmla="*/ 444536 h 770205"/>
              <a:gd name="connsiteX4" fmla="*/ 180296 w 766792"/>
              <a:gd name="connsiteY4" fmla="*/ 458252 h 770205"/>
              <a:gd name="connsiteX5" fmla="*/ 197305 w 766792"/>
              <a:gd name="connsiteY5" fmla="*/ 485272 h 770205"/>
              <a:gd name="connsiteX6" fmla="*/ 235366 w 766792"/>
              <a:gd name="connsiteY6" fmla="*/ 536261 h 770205"/>
              <a:gd name="connsiteX7" fmla="*/ 277474 w 766792"/>
              <a:gd name="connsiteY7" fmla="*/ 583239 h 770205"/>
              <a:gd name="connsiteX8" fmla="*/ 282893 w 766792"/>
              <a:gd name="connsiteY8" fmla="*/ 588862 h 770205"/>
              <a:gd name="connsiteX9" fmla="*/ 288687 w 766792"/>
              <a:gd name="connsiteY9" fmla="*/ 594177 h 770205"/>
              <a:gd name="connsiteX10" fmla="*/ 300277 w 766792"/>
              <a:gd name="connsiteY10" fmla="*/ 604739 h 770205"/>
              <a:gd name="connsiteX11" fmla="*/ 311833 w 766792"/>
              <a:gd name="connsiteY11" fmla="*/ 615231 h 770205"/>
              <a:gd name="connsiteX12" fmla="*/ 323663 w 766792"/>
              <a:gd name="connsiteY12" fmla="*/ 625313 h 770205"/>
              <a:gd name="connsiteX13" fmla="*/ 425435 w 766792"/>
              <a:gd name="connsiteY13" fmla="*/ 694201 h 770205"/>
              <a:gd name="connsiteX14" fmla="*/ 536398 w 766792"/>
              <a:gd name="connsiteY14" fmla="*/ 740836 h 770205"/>
              <a:gd name="connsiteX15" fmla="*/ 766793 w 766792"/>
              <a:gd name="connsiteY15" fmla="*/ 768953 h 770205"/>
              <a:gd name="connsiteX16" fmla="*/ 557418 w 766792"/>
              <a:gd name="connsiteY16" fmla="*/ 692932 h 770205"/>
              <a:gd name="connsiteX17" fmla="*/ 469944 w 766792"/>
              <a:gd name="connsiteY17" fmla="*/ 629599 h 770205"/>
              <a:gd name="connsiteX18" fmla="*/ 398381 w 766792"/>
              <a:gd name="connsiteY18" fmla="*/ 552103 h 770205"/>
              <a:gd name="connsiteX19" fmla="*/ 390666 w 766792"/>
              <a:gd name="connsiteY19" fmla="*/ 541611 h 770205"/>
              <a:gd name="connsiteX20" fmla="*/ 383328 w 766792"/>
              <a:gd name="connsiteY20" fmla="*/ 530878 h 770205"/>
              <a:gd name="connsiteX21" fmla="*/ 376024 w 766792"/>
              <a:gd name="connsiteY21" fmla="*/ 520248 h 770205"/>
              <a:gd name="connsiteX22" fmla="*/ 372389 w 766792"/>
              <a:gd name="connsiteY22" fmla="*/ 514967 h 770205"/>
              <a:gd name="connsiteX23" fmla="*/ 369132 w 766792"/>
              <a:gd name="connsiteY23" fmla="*/ 509378 h 770205"/>
              <a:gd name="connsiteX24" fmla="*/ 344649 w 766792"/>
              <a:gd name="connsiteY24" fmla="*/ 464389 h 770205"/>
              <a:gd name="connsiteX25" fmla="*/ 324452 w 766792"/>
              <a:gd name="connsiteY25" fmla="*/ 417927 h 770205"/>
              <a:gd name="connsiteX26" fmla="*/ 316325 w 766792"/>
              <a:gd name="connsiteY26" fmla="*/ 394027 h 770205"/>
              <a:gd name="connsiteX27" fmla="*/ 312450 w 766792"/>
              <a:gd name="connsiteY27" fmla="*/ 382093 h 770205"/>
              <a:gd name="connsiteX28" fmla="*/ 309193 w 766792"/>
              <a:gd name="connsiteY28" fmla="*/ 369921 h 770205"/>
              <a:gd name="connsiteX29" fmla="*/ 295236 w 766792"/>
              <a:gd name="connsiteY29" fmla="*/ 303638 h 770205"/>
              <a:gd name="connsiteX30" fmla="*/ 404553 w 766792"/>
              <a:gd name="connsiteY30" fmla="*/ 295477 h 770205"/>
              <a:gd name="connsiteX31" fmla="*/ 235847 w 766792"/>
              <a:gd name="connsiteY31" fmla="*/ 54556 h 770205"/>
              <a:gd name="connsiteX32" fmla="*/ 200459 w 766792"/>
              <a:gd name="connsiteY32" fmla="*/ 1029 h 770205"/>
              <a:gd name="connsiteX33" fmla="*/ 199430 w 766792"/>
              <a:gd name="connsiteY33" fmla="*/ 2538 h 770205"/>
              <a:gd name="connsiteX34" fmla="*/ 197647 w 766792"/>
              <a:gd name="connsiteY34" fmla="*/ 0 h 770205"/>
              <a:gd name="connsiteX35" fmla="*/ 139457 w 766792"/>
              <a:gd name="connsiteY35" fmla="*/ 92240 h 770205"/>
              <a:gd name="connsiteX36" fmla="*/ 0 w 766792"/>
              <a:gd name="connsiteY36" fmla="*/ 300861 h 770205"/>
              <a:gd name="connsiteX37" fmla="*/ 111031 w 766792"/>
              <a:gd name="connsiteY37" fmla="*/ 306793 h 770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6792" h="770205">
                <a:moveTo>
                  <a:pt x="111031" y="306793"/>
                </a:moveTo>
                <a:cubicBezTo>
                  <a:pt x="111648" y="308644"/>
                  <a:pt x="112197" y="310496"/>
                  <a:pt x="112814" y="312348"/>
                </a:cubicBezTo>
                <a:cubicBezTo>
                  <a:pt x="126495" y="353393"/>
                  <a:pt x="143881" y="392929"/>
                  <a:pt x="164352" y="430477"/>
                </a:cubicBezTo>
                <a:lnTo>
                  <a:pt x="171998" y="444536"/>
                </a:lnTo>
                <a:cubicBezTo>
                  <a:pt x="174570" y="449199"/>
                  <a:pt x="177554" y="453691"/>
                  <a:pt x="180296" y="458252"/>
                </a:cubicBezTo>
                <a:cubicBezTo>
                  <a:pt x="185989" y="467304"/>
                  <a:pt x="191372" y="476460"/>
                  <a:pt x="197305" y="485272"/>
                </a:cubicBezTo>
                <a:cubicBezTo>
                  <a:pt x="209649" y="502692"/>
                  <a:pt x="221513" y="520179"/>
                  <a:pt x="235366" y="536261"/>
                </a:cubicBezTo>
                <a:cubicBezTo>
                  <a:pt x="248259" y="552961"/>
                  <a:pt x="263141" y="568048"/>
                  <a:pt x="277474" y="583239"/>
                </a:cubicBezTo>
                <a:cubicBezTo>
                  <a:pt x="279292" y="585125"/>
                  <a:pt x="281041" y="587045"/>
                  <a:pt x="282893" y="588862"/>
                </a:cubicBezTo>
                <a:lnTo>
                  <a:pt x="288687" y="594177"/>
                </a:lnTo>
                <a:lnTo>
                  <a:pt x="300277" y="604739"/>
                </a:lnTo>
                <a:lnTo>
                  <a:pt x="311833" y="615231"/>
                </a:lnTo>
                <a:cubicBezTo>
                  <a:pt x="315639" y="618729"/>
                  <a:pt x="319480" y="622226"/>
                  <a:pt x="323663" y="625313"/>
                </a:cubicBezTo>
                <a:cubicBezTo>
                  <a:pt x="355896" y="651476"/>
                  <a:pt x="389809" y="674690"/>
                  <a:pt x="425435" y="694201"/>
                </a:cubicBezTo>
                <a:cubicBezTo>
                  <a:pt x="461338" y="713301"/>
                  <a:pt x="498508" y="728937"/>
                  <a:pt x="536398" y="740836"/>
                </a:cubicBezTo>
                <a:cubicBezTo>
                  <a:pt x="612214" y="764496"/>
                  <a:pt x="690669" y="773823"/>
                  <a:pt x="766793" y="768953"/>
                </a:cubicBezTo>
                <a:cubicBezTo>
                  <a:pt x="691595" y="756438"/>
                  <a:pt x="620306" y="730000"/>
                  <a:pt x="557418" y="692932"/>
                </a:cubicBezTo>
                <a:cubicBezTo>
                  <a:pt x="525974" y="674347"/>
                  <a:pt x="496759" y="653019"/>
                  <a:pt x="469944" y="629599"/>
                </a:cubicBezTo>
                <a:cubicBezTo>
                  <a:pt x="443403" y="605767"/>
                  <a:pt x="419641" y="579570"/>
                  <a:pt x="398381" y="552103"/>
                </a:cubicBezTo>
                <a:cubicBezTo>
                  <a:pt x="395535" y="548846"/>
                  <a:pt x="393100" y="545211"/>
                  <a:pt x="390666" y="541611"/>
                </a:cubicBezTo>
                <a:lnTo>
                  <a:pt x="383328" y="530878"/>
                </a:lnTo>
                <a:lnTo>
                  <a:pt x="376024" y="520248"/>
                </a:lnTo>
                <a:lnTo>
                  <a:pt x="372389" y="514967"/>
                </a:lnTo>
                <a:cubicBezTo>
                  <a:pt x="371224" y="513150"/>
                  <a:pt x="370195" y="511230"/>
                  <a:pt x="369132" y="509378"/>
                </a:cubicBezTo>
                <a:cubicBezTo>
                  <a:pt x="360559" y="494428"/>
                  <a:pt x="351610" y="480026"/>
                  <a:pt x="344649" y="464389"/>
                </a:cubicBezTo>
                <a:cubicBezTo>
                  <a:pt x="336762" y="449405"/>
                  <a:pt x="330830" y="433391"/>
                  <a:pt x="324452" y="417927"/>
                </a:cubicBezTo>
                <a:cubicBezTo>
                  <a:pt x="321469" y="410040"/>
                  <a:pt x="319068" y="401913"/>
                  <a:pt x="316325" y="394027"/>
                </a:cubicBezTo>
                <a:cubicBezTo>
                  <a:pt x="315056" y="390015"/>
                  <a:pt x="313548" y="386140"/>
                  <a:pt x="312450" y="382093"/>
                </a:cubicBezTo>
                <a:lnTo>
                  <a:pt x="309193" y="369921"/>
                </a:lnTo>
                <a:cubicBezTo>
                  <a:pt x="303192" y="348044"/>
                  <a:pt x="298528" y="325858"/>
                  <a:pt x="295236" y="303638"/>
                </a:cubicBezTo>
                <a:lnTo>
                  <a:pt x="404553" y="295477"/>
                </a:lnTo>
                <a:lnTo>
                  <a:pt x="235847" y="54556"/>
                </a:lnTo>
                <a:lnTo>
                  <a:pt x="200459" y="1029"/>
                </a:lnTo>
                <a:lnTo>
                  <a:pt x="199430" y="2538"/>
                </a:lnTo>
                <a:lnTo>
                  <a:pt x="197647" y="0"/>
                </a:lnTo>
                <a:lnTo>
                  <a:pt x="139457" y="92240"/>
                </a:lnTo>
                <a:lnTo>
                  <a:pt x="0" y="300861"/>
                </a:lnTo>
                <a:lnTo>
                  <a:pt x="111031" y="306793"/>
                </a:lnTo>
                <a:close/>
              </a:path>
            </a:pathLst>
          </a:custGeom>
          <a:gradFill>
            <a:gsLst>
              <a:gs pos="15000">
                <a:schemeClr val="accent1">
                  <a:lumMod val="40000"/>
                  <a:lumOff val="60000"/>
                </a:schemeClr>
              </a:gs>
              <a:gs pos="100000">
                <a:schemeClr val="accent1">
                  <a:lumMod val="60000"/>
                  <a:lumOff val="40000"/>
                </a:schemeClr>
              </a:gs>
            </a:gsLst>
            <a:path path="circle">
              <a:fillToRect l="100000" t="100000"/>
            </a:path>
          </a:gradFill>
          <a:ln w="3429" cap="flat">
            <a:noFill/>
            <a:prstDash val="solid"/>
            <a:miter/>
          </a:ln>
        </p:spPr>
        <p:txBody>
          <a:bodyPr wrap="square"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0" name="熊大的PPT宝库28"/>
          <p:cNvSpPr/>
          <p:nvPr/>
        </p:nvSpPr>
        <p:spPr>
          <a:xfrm>
            <a:off x="2063897" y="3064426"/>
            <a:ext cx="550984" cy="554991"/>
          </a:xfrm>
          <a:custGeom>
            <a:avLst/>
            <a:gdLst>
              <a:gd name="connsiteX0" fmla="*/ 654803 w 765798"/>
              <a:gd name="connsiteY0" fmla="*/ 464746 h 771367"/>
              <a:gd name="connsiteX1" fmla="*/ 653019 w 765798"/>
              <a:gd name="connsiteY1" fmla="*/ 459191 h 771367"/>
              <a:gd name="connsiteX2" fmla="*/ 601722 w 765798"/>
              <a:gd name="connsiteY2" fmla="*/ 340959 h 771367"/>
              <a:gd name="connsiteX3" fmla="*/ 594109 w 765798"/>
              <a:gd name="connsiteY3" fmla="*/ 326866 h 771367"/>
              <a:gd name="connsiteX4" fmla="*/ 585845 w 765798"/>
              <a:gd name="connsiteY4" fmla="*/ 313116 h 771367"/>
              <a:gd name="connsiteX5" fmla="*/ 568906 w 765798"/>
              <a:gd name="connsiteY5" fmla="*/ 286061 h 771367"/>
              <a:gd name="connsiteX6" fmla="*/ 530947 w 765798"/>
              <a:gd name="connsiteY6" fmla="*/ 235003 h 771367"/>
              <a:gd name="connsiteX7" fmla="*/ 488941 w 765798"/>
              <a:gd name="connsiteY7" fmla="*/ 187957 h 771367"/>
              <a:gd name="connsiteX8" fmla="*/ 483523 w 765798"/>
              <a:gd name="connsiteY8" fmla="*/ 182299 h 771367"/>
              <a:gd name="connsiteX9" fmla="*/ 477729 w 765798"/>
              <a:gd name="connsiteY9" fmla="*/ 176984 h 771367"/>
              <a:gd name="connsiteX10" fmla="*/ 466173 w 765798"/>
              <a:gd name="connsiteY10" fmla="*/ 166389 h 771367"/>
              <a:gd name="connsiteX11" fmla="*/ 454651 w 765798"/>
              <a:gd name="connsiteY11" fmla="*/ 155862 h 771367"/>
              <a:gd name="connsiteX12" fmla="*/ 442822 w 765798"/>
              <a:gd name="connsiteY12" fmla="*/ 145746 h 771367"/>
              <a:gd name="connsiteX13" fmla="*/ 341186 w 765798"/>
              <a:gd name="connsiteY13" fmla="*/ 76652 h 771367"/>
              <a:gd name="connsiteX14" fmla="*/ 230327 w 765798"/>
              <a:gd name="connsiteY14" fmla="*/ 29778 h 771367"/>
              <a:gd name="connsiteX15" fmla="*/ 0 w 765798"/>
              <a:gd name="connsiteY15" fmla="*/ 1180 h 771367"/>
              <a:gd name="connsiteX16" fmla="*/ 209203 w 765798"/>
              <a:gd name="connsiteY16" fmla="*/ 77646 h 771367"/>
              <a:gd name="connsiteX17" fmla="*/ 296541 w 765798"/>
              <a:gd name="connsiteY17" fmla="*/ 141186 h 771367"/>
              <a:gd name="connsiteX18" fmla="*/ 367932 w 765798"/>
              <a:gd name="connsiteY18" fmla="*/ 218818 h 771367"/>
              <a:gd name="connsiteX19" fmla="*/ 375613 w 765798"/>
              <a:gd name="connsiteY19" fmla="*/ 229311 h 771367"/>
              <a:gd name="connsiteX20" fmla="*/ 382917 w 765798"/>
              <a:gd name="connsiteY20" fmla="*/ 240044 h 771367"/>
              <a:gd name="connsiteX21" fmla="*/ 390186 w 765798"/>
              <a:gd name="connsiteY21" fmla="*/ 250708 h 771367"/>
              <a:gd name="connsiteX22" fmla="*/ 393821 w 765798"/>
              <a:gd name="connsiteY22" fmla="*/ 256023 h 771367"/>
              <a:gd name="connsiteX23" fmla="*/ 397078 w 765798"/>
              <a:gd name="connsiteY23" fmla="*/ 261612 h 771367"/>
              <a:gd name="connsiteX24" fmla="*/ 421493 w 765798"/>
              <a:gd name="connsiteY24" fmla="*/ 306635 h 771367"/>
              <a:gd name="connsiteX25" fmla="*/ 441587 w 765798"/>
              <a:gd name="connsiteY25" fmla="*/ 353167 h 771367"/>
              <a:gd name="connsiteX26" fmla="*/ 449680 w 765798"/>
              <a:gd name="connsiteY26" fmla="*/ 377101 h 771367"/>
              <a:gd name="connsiteX27" fmla="*/ 453520 w 765798"/>
              <a:gd name="connsiteY27" fmla="*/ 389034 h 771367"/>
              <a:gd name="connsiteX28" fmla="*/ 456743 w 765798"/>
              <a:gd name="connsiteY28" fmla="*/ 401207 h 771367"/>
              <a:gd name="connsiteX29" fmla="*/ 470562 w 765798"/>
              <a:gd name="connsiteY29" fmla="*/ 467524 h 771367"/>
              <a:gd name="connsiteX30" fmla="*/ 361211 w 765798"/>
              <a:gd name="connsiteY30" fmla="*/ 475479 h 771367"/>
              <a:gd name="connsiteX31" fmla="*/ 529404 w 765798"/>
              <a:gd name="connsiteY31" fmla="*/ 716744 h 771367"/>
              <a:gd name="connsiteX32" fmla="*/ 564688 w 765798"/>
              <a:gd name="connsiteY32" fmla="*/ 770339 h 771367"/>
              <a:gd name="connsiteX33" fmla="*/ 565717 w 765798"/>
              <a:gd name="connsiteY33" fmla="*/ 768830 h 771367"/>
              <a:gd name="connsiteX34" fmla="*/ 567500 w 765798"/>
              <a:gd name="connsiteY34" fmla="*/ 771367 h 771367"/>
              <a:gd name="connsiteX35" fmla="*/ 625896 w 765798"/>
              <a:gd name="connsiteY35" fmla="*/ 679230 h 771367"/>
              <a:gd name="connsiteX36" fmla="*/ 765799 w 765798"/>
              <a:gd name="connsiteY36" fmla="*/ 470918 h 771367"/>
              <a:gd name="connsiteX37" fmla="*/ 654803 w 765798"/>
              <a:gd name="connsiteY37" fmla="*/ 464746 h 771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5798" h="771367">
                <a:moveTo>
                  <a:pt x="654803" y="464746"/>
                </a:moveTo>
                <a:cubicBezTo>
                  <a:pt x="654219" y="462895"/>
                  <a:pt x="653636" y="461043"/>
                  <a:pt x="653019" y="459191"/>
                </a:cubicBezTo>
                <a:cubicBezTo>
                  <a:pt x="639441" y="418112"/>
                  <a:pt x="622124" y="378541"/>
                  <a:pt x="601722" y="340959"/>
                </a:cubicBezTo>
                <a:lnTo>
                  <a:pt x="594109" y="326866"/>
                </a:lnTo>
                <a:cubicBezTo>
                  <a:pt x="591537" y="322203"/>
                  <a:pt x="588588" y="317711"/>
                  <a:pt x="585845" y="313116"/>
                </a:cubicBezTo>
                <a:cubicBezTo>
                  <a:pt x="580188" y="304063"/>
                  <a:pt x="574838" y="294874"/>
                  <a:pt x="568906" y="286061"/>
                </a:cubicBezTo>
                <a:cubicBezTo>
                  <a:pt x="556596" y="268607"/>
                  <a:pt x="544766" y="251119"/>
                  <a:pt x="530947" y="235003"/>
                </a:cubicBezTo>
                <a:cubicBezTo>
                  <a:pt x="518088" y="218270"/>
                  <a:pt x="503240" y="203148"/>
                  <a:pt x="488941" y="187957"/>
                </a:cubicBezTo>
                <a:cubicBezTo>
                  <a:pt x="487124" y="186071"/>
                  <a:pt x="485409" y="184117"/>
                  <a:pt x="483523" y="182299"/>
                </a:cubicBezTo>
                <a:lnTo>
                  <a:pt x="477729" y="176984"/>
                </a:lnTo>
                <a:lnTo>
                  <a:pt x="466173" y="166389"/>
                </a:lnTo>
                <a:lnTo>
                  <a:pt x="454651" y="155862"/>
                </a:lnTo>
                <a:cubicBezTo>
                  <a:pt x="450846" y="152330"/>
                  <a:pt x="447005" y="148867"/>
                  <a:pt x="442822" y="145746"/>
                </a:cubicBezTo>
                <a:cubicBezTo>
                  <a:pt x="410657" y="119514"/>
                  <a:pt x="376779" y="96232"/>
                  <a:pt x="341186" y="76652"/>
                </a:cubicBezTo>
                <a:cubicBezTo>
                  <a:pt x="305353" y="57450"/>
                  <a:pt x="268183" y="41745"/>
                  <a:pt x="230327" y="29778"/>
                </a:cubicBezTo>
                <a:cubicBezTo>
                  <a:pt x="154545" y="5946"/>
                  <a:pt x="76124" y="-3552"/>
                  <a:pt x="0" y="1180"/>
                </a:cubicBezTo>
                <a:cubicBezTo>
                  <a:pt x="75164" y="13867"/>
                  <a:pt x="146419" y="40476"/>
                  <a:pt x="209203" y="77646"/>
                </a:cubicBezTo>
                <a:cubicBezTo>
                  <a:pt x="240614" y="96266"/>
                  <a:pt x="269794" y="117697"/>
                  <a:pt x="296541" y="141186"/>
                </a:cubicBezTo>
                <a:cubicBezTo>
                  <a:pt x="323047" y="165086"/>
                  <a:pt x="346707" y="191318"/>
                  <a:pt x="367932" y="218818"/>
                </a:cubicBezTo>
                <a:cubicBezTo>
                  <a:pt x="370744" y="222076"/>
                  <a:pt x="373213" y="225711"/>
                  <a:pt x="375613" y="229311"/>
                </a:cubicBezTo>
                <a:lnTo>
                  <a:pt x="382917" y="240044"/>
                </a:lnTo>
                <a:lnTo>
                  <a:pt x="390186" y="250708"/>
                </a:lnTo>
                <a:lnTo>
                  <a:pt x="393821" y="256023"/>
                </a:lnTo>
                <a:cubicBezTo>
                  <a:pt x="394987" y="257840"/>
                  <a:pt x="395982" y="259761"/>
                  <a:pt x="397078" y="261612"/>
                </a:cubicBezTo>
                <a:cubicBezTo>
                  <a:pt x="405617" y="276597"/>
                  <a:pt x="414532" y="290999"/>
                  <a:pt x="421493" y="306635"/>
                </a:cubicBezTo>
                <a:cubicBezTo>
                  <a:pt x="429346" y="321620"/>
                  <a:pt x="435244" y="337667"/>
                  <a:pt x="441587" y="353167"/>
                </a:cubicBezTo>
                <a:cubicBezTo>
                  <a:pt x="444536" y="361053"/>
                  <a:pt x="446936" y="369180"/>
                  <a:pt x="449680" y="377101"/>
                </a:cubicBezTo>
                <a:cubicBezTo>
                  <a:pt x="450948" y="381113"/>
                  <a:pt x="452423" y="384988"/>
                  <a:pt x="453520" y="389034"/>
                </a:cubicBezTo>
                <a:lnTo>
                  <a:pt x="456743" y="401207"/>
                </a:lnTo>
                <a:cubicBezTo>
                  <a:pt x="462676" y="423118"/>
                  <a:pt x="467304" y="445269"/>
                  <a:pt x="470562" y="467524"/>
                </a:cubicBezTo>
                <a:lnTo>
                  <a:pt x="361211" y="475479"/>
                </a:lnTo>
                <a:lnTo>
                  <a:pt x="529404" y="716744"/>
                </a:lnTo>
                <a:lnTo>
                  <a:pt x="564688" y="770339"/>
                </a:lnTo>
                <a:lnTo>
                  <a:pt x="565717" y="768830"/>
                </a:lnTo>
                <a:lnTo>
                  <a:pt x="567500" y="771367"/>
                </a:lnTo>
                <a:lnTo>
                  <a:pt x="625896" y="679230"/>
                </a:lnTo>
                <a:lnTo>
                  <a:pt x="765799" y="470918"/>
                </a:lnTo>
                <a:lnTo>
                  <a:pt x="654803" y="464746"/>
                </a:lnTo>
                <a:close/>
              </a:path>
            </a:pathLst>
          </a:custGeom>
          <a:gradFill>
            <a:gsLst>
              <a:gs pos="15000">
                <a:schemeClr val="accent1">
                  <a:lumMod val="40000"/>
                  <a:lumOff val="60000"/>
                </a:schemeClr>
              </a:gs>
              <a:gs pos="100000">
                <a:schemeClr val="accent1">
                  <a:lumMod val="60000"/>
                  <a:lumOff val="40000"/>
                </a:schemeClr>
              </a:gs>
            </a:gsLst>
            <a:path path="circle">
              <a:fillToRect l="100000" t="100000"/>
            </a:path>
          </a:gradFill>
          <a:ln w="3429" cap="flat">
            <a:noFill/>
            <a:prstDash val="solid"/>
            <a:miter/>
          </a:ln>
        </p:spPr>
        <p:txBody>
          <a:bodyPr wrap="square"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1" name="熊大的PPT宝库29"/>
          <p:cNvSpPr/>
          <p:nvPr/>
        </p:nvSpPr>
        <p:spPr>
          <a:xfrm>
            <a:off x="7352315" y="3422455"/>
            <a:ext cx="657716" cy="266386"/>
          </a:xfrm>
          <a:custGeom>
            <a:avLst/>
            <a:gdLst>
              <a:gd name="connsiteX0" fmla="*/ 598201 w 598200"/>
              <a:gd name="connsiteY0" fmla="*/ 155379 h 310758"/>
              <a:gd name="connsiteX1" fmla="*/ 396598 w 598200"/>
              <a:gd name="connsiteY1" fmla="*/ 0 h 310758"/>
              <a:gd name="connsiteX2" fmla="*/ 396598 w 598200"/>
              <a:gd name="connsiteY2" fmla="*/ 88788 h 310758"/>
              <a:gd name="connsiteX3" fmla="*/ 0 w 598200"/>
              <a:gd name="connsiteY3" fmla="*/ 22197 h 310758"/>
              <a:gd name="connsiteX4" fmla="*/ 59482 w 598200"/>
              <a:gd name="connsiteY4" fmla="*/ 155379 h 310758"/>
              <a:gd name="connsiteX5" fmla="*/ 0 w 598200"/>
              <a:gd name="connsiteY5" fmla="*/ 288562 h 310758"/>
              <a:gd name="connsiteX6" fmla="*/ 396598 w 598200"/>
              <a:gd name="connsiteY6" fmla="*/ 221971 h 310758"/>
              <a:gd name="connsiteX7" fmla="*/ 396598 w 598200"/>
              <a:gd name="connsiteY7" fmla="*/ 310759 h 310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8200" h="310758">
                <a:moveTo>
                  <a:pt x="598201" y="155379"/>
                </a:moveTo>
                <a:lnTo>
                  <a:pt x="396598" y="0"/>
                </a:lnTo>
                <a:lnTo>
                  <a:pt x="396598" y="88788"/>
                </a:lnTo>
                <a:lnTo>
                  <a:pt x="0" y="22197"/>
                </a:lnTo>
                <a:lnTo>
                  <a:pt x="59482" y="155379"/>
                </a:lnTo>
                <a:lnTo>
                  <a:pt x="0" y="288562"/>
                </a:lnTo>
                <a:lnTo>
                  <a:pt x="396598" y="221971"/>
                </a:lnTo>
                <a:lnTo>
                  <a:pt x="396598" y="310759"/>
                </a:lnTo>
                <a:close/>
              </a:path>
            </a:pathLst>
          </a:custGeom>
          <a:gradFill>
            <a:gsLst>
              <a:gs pos="15000">
                <a:schemeClr val="accent1">
                  <a:lumMod val="40000"/>
                  <a:lumOff val="60000"/>
                </a:schemeClr>
              </a:gs>
              <a:gs pos="100000">
                <a:schemeClr val="accent1">
                  <a:lumMod val="60000"/>
                  <a:lumOff val="40000"/>
                </a:schemeClr>
              </a:gs>
            </a:gsLst>
            <a:path path="circle">
              <a:fillToRect l="100000" t="100000"/>
            </a:path>
          </a:gradFill>
          <a:ln w="3429" cap="flat">
            <a:noFill/>
            <a:prstDash val="solid"/>
            <a:miter/>
          </a:ln>
        </p:spPr>
        <p:txBody>
          <a:bodyPr wrap="square"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2" name="熊大的PPT宝库30"/>
          <p:cNvSpPr txBox="1"/>
          <p:nvPr/>
        </p:nvSpPr>
        <p:spPr>
          <a:xfrm>
            <a:off x="9241667" y="1919028"/>
            <a:ext cx="1114088" cy="101566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6600" b="1" i="0" u="none" strike="noStrike" kern="1200" cap="none" spc="0" normalizeH="0" baseline="0" noProof="0" dirty="0">
                <a:ln w="38100">
                  <a:solidFill>
                    <a:srgbClr val="00329D">
                      <a:lumMod val="20000"/>
                      <a:lumOff val="80000"/>
                    </a:srgbClr>
                  </a:solidFill>
                </a:ln>
                <a:solidFill>
                  <a:srgbClr val="FFFFFF"/>
                </a:solidFill>
                <a:effectLst/>
                <a:uLnTx/>
                <a:uFillTx/>
                <a:cs typeface="+mn-ea"/>
                <a:sym typeface="+mn-lt"/>
              </a:rPr>
              <a:t>R3</a:t>
            </a:r>
            <a:endParaRPr kumimoji="0" lang="zh-CN" altLang="en-US" sz="4400" b="1" i="0" u="none" strike="noStrike" kern="1200" cap="none" spc="0" normalizeH="0" baseline="0" noProof="0" dirty="0">
              <a:ln w="38100">
                <a:solidFill>
                  <a:srgbClr val="00329D">
                    <a:lumMod val="20000"/>
                    <a:lumOff val="80000"/>
                  </a:srgbClr>
                </a:solidFill>
              </a:ln>
              <a:solidFill>
                <a:srgbClr val="FFFFFF"/>
              </a:solidFill>
              <a:effectLst/>
              <a:uLnTx/>
              <a:uFillTx/>
              <a:cs typeface="+mn-ea"/>
              <a:sym typeface="+mn-lt"/>
            </a:endParaRPr>
          </a:p>
        </p:txBody>
      </p:sp>
      <p:sp>
        <p:nvSpPr>
          <p:cNvPr id="93" name="熊大的PPT宝库31"/>
          <p:cNvSpPr txBox="1"/>
          <p:nvPr/>
        </p:nvSpPr>
        <p:spPr>
          <a:xfrm>
            <a:off x="8197481" y="3687388"/>
            <a:ext cx="484107" cy="49244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0329D"/>
                </a:solidFill>
                <a:effectLst/>
                <a:uLnTx/>
                <a:uFillTx/>
                <a:cs typeface="+mn-ea"/>
                <a:sym typeface="+mn-lt"/>
              </a:rPr>
              <a:t>4</a:t>
            </a:r>
            <a:r>
              <a:rPr kumimoji="0" lang="zh-CN" altLang="en-US" sz="1800" b="1" i="0" u="none" strike="noStrike" kern="1200" cap="none" spc="0" normalizeH="0" baseline="0" noProof="0" dirty="0">
                <a:ln>
                  <a:noFill/>
                </a:ln>
                <a:solidFill>
                  <a:srgbClr val="00329D"/>
                </a:solidFill>
                <a:effectLst/>
                <a:uLnTx/>
                <a:uFillTx/>
                <a:cs typeface="+mn-ea"/>
                <a:sym typeface="+mn-lt"/>
              </a:rPr>
              <a:t>倍</a:t>
            </a:r>
          </a:p>
        </p:txBody>
      </p:sp>
      <p:sp>
        <p:nvSpPr>
          <p:cNvPr id="97" name="熊大的PPT宝库32"/>
          <p:cNvSpPr txBox="1"/>
          <p:nvPr/>
        </p:nvSpPr>
        <p:spPr>
          <a:xfrm>
            <a:off x="9507175" y="3687388"/>
            <a:ext cx="721351" cy="49244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0329D"/>
                </a:solidFill>
                <a:effectLst/>
                <a:uLnTx/>
                <a:uFillTx/>
                <a:cs typeface="+mn-ea"/>
                <a:sym typeface="+mn-lt"/>
              </a:rPr>
              <a:t>16</a:t>
            </a:r>
            <a:r>
              <a:rPr kumimoji="0" lang="en-US" altLang="zh-CN" sz="1800" b="1" i="0" u="none" strike="noStrike" kern="1200" cap="none" spc="0" normalizeH="0" baseline="0" noProof="0" dirty="0">
                <a:ln>
                  <a:noFill/>
                </a:ln>
                <a:solidFill>
                  <a:srgbClr val="00329D"/>
                </a:solidFill>
                <a:effectLst/>
                <a:uLnTx/>
                <a:uFillTx/>
                <a:cs typeface="+mn-ea"/>
                <a:sym typeface="+mn-lt"/>
              </a:rPr>
              <a:t>%</a:t>
            </a:r>
            <a:endParaRPr kumimoji="0" lang="zh-CN" altLang="en-US" sz="1800" b="1" i="0" u="none" strike="noStrike" kern="1200" cap="none" spc="0" normalizeH="0" baseline="0" noProof="0" dirty="0">
              <a:ln>
                <a:noFill/>
              </a:ln>
              <a:solidFill>
                <a:srgbClr val="00329D"/>
              </a:solidFill>
              <a:effectLst/>
              <a:uLnTx/>
              <a:uFillTx/>
              <a:cs typeface="+mn-ea"/>
              <a:sym typeface="+mn-lt"/>
            </a:endParaRPr>
          </a:p>
        </p:txBody>
      </p:sp>
      <p:sp>
        <p:nvSpPr>
          <p:cNvPr id="98" name="熊大的PPT宝库33"/>
          <p:cNvSpPr txBox="1"/>
          <p:nvPr/>
        </p:nvSpPr>
        <p:spPr>
          <a:xfrm>
            <a:off x="10655061" y="3687388"/>
            <a:ext cx="721351" cy="49244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0329D"/>
                </a:solidFill>
                <a:effectLst/>
                <a:uLnTx/>
                <a:uFillTx/>
                <a:cs typeface="+mn-ea"/>
                <a:sym typeface="+mn-lt"/>
              </a:rPr>
              <a:t>60</a:t>
            </a:r>
            <a:r>
              <a:rPr kumimoji="0" lang="en-US" altLang="zh-CN" sz="1800" b="1" i="0" u="none" strike="noStrike" kern="1200" cap="none" spc="0" normalizeH="0" baseline="0" noProof="0" dirty="0">
                <a:ln>
                  <a:noFill/>
                </a:ln>
                <a:solidFill>
                  <a:srgbClr val="00329D"/>
                </a:solidFill>
                <a:effectLst/>
                <a:uLnTx/>
                <a:uFillTx/>
                <a:cs typeface="+mn-ea"/>
                <a:sym typeface="+mn-lt"/>
              </a:rPr>
              <a:t>%</a:t>
            </a:r>
            <a:endParaRPr kumimoji="0" lang="zh-CN" altLang="en-US" sz="1800" b="1" i="0" u="none" strike="noStrike" kern="1200" cap="none" spc="0" normalizeH="0" baseline="0" noProof="0" dirty="0">
              <a:ln>
                <a:noFill/>
              </a:ln>
              <a:solidFill>
                <a:srgbClr val="00329D"/>
              </a:solidFill>
              <a:effectLst/>
              <a:uLnTx/>
              <a:uFillTx/>
              <a:cs typeface="+mn-ea"/>
              <a:sym typeface="+mn-lt"/>
            </a:endParaRPr>
          </a:p>
        </p:txBody>
      </p:sp>
      <p:sp>
        <p:nvSpPr>
          <p:cNvPr id="99" name="熊大的PPT宝库34"/>
          <p:cNvSpPr txBox="1"/>
          <p:nvPr/>
        </p:nvSpPr>
        <p:spPr>
          <a:xfrm>
            <a:off x="8134871" y="3017308"/>
            <a:ext cx="615553" cy="492443"/>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购买率</a:t>
            </a:r>
            <a:endParaRPr kumimoji="0" lang="en-US" altLang="zh-CN" sz="16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最高</a:t>
            </a:r>
          </a:p>
        </p:txBody>
      </p:sp>
      <p:sp>
        <p:nvSpPr>
          <p:cNvPr id="100" name="熊大的PPT宝库35"/>
          <p:cNvSpPr txBox="1"/>
          <p:nvPr/>
        </p:nvSpPr>
        <p:spPr>
          <a:xfrm>
            <a:off x="9549852" y="3017308"/>
            <a:ext cx="461665" cy="553998"/>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cs typeface="+mn-ea"/>
                <a:sym typeface="+mn-lt"/>
              </a:rPr>
              <a:t>ROI</a:t>
            </a: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最高</a:t>
            </a:r>
          </a:p>
        </p:txBody>
      </p:sp>
      <p:sp>
        <p:nvSpPr>
          <p:cNvPr id="101" name="熊大的PPT宝库36"/>
          <p:cNvSpPr txBox="1"/>
          <p:nvPr/>
        </p:nvSpPr>
        <p:spPr>
          <a:xfrm>
            <a:off x="10502775" y="3017308"/>
            <a:ext cx="1025922" cy="492443"/>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新客贡献比</a:t>
            </a:r>
            <a:endParaRPr kumimoji="0" lang="en-US" altLang="zh-CN" sz="16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最高</a:t>
            </a:r>
          </a:p>
        </p:txBody>
      </p:sp>
      <p:sp>
        <p:nvSpPr>
          <p:cNvPr id="102" name="熊大的PPT宝库37"/>
          <p:cNvSpPr txBox="1"/>
          <p:nvPr/>
        </p:nvSpPr>
        <p:spPr>
          <a:xfrm>
            <a:off x="8075651" y="4154495"/>
            <a:ext cx="828000" cy="338554"/>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000000"/>
                </a:solidFill>
                <a:effectLst/>
                <a:uLnTx/>
                <a:uFillTx/>
                <a:cs typeface="+mn-ea"/>
                <a:sym typeface="+mn-lt"/>
              </a:rPr>
              <a:t>R3</a:t>
            </a:r>
            <a:r>
              <a:rPr kumimoji="0" lang="zh-CN" altLang="en-US" sz="1100" b="0" i="0" u="none" strike="noStrike" kern="1200" cap="none" spc="0" normalizeH="0" baseline="0" noProof="0" dirty="0">
                <a:ln>
                  <a:noFill/>
                </a:ln>
                <a:solidFill>
                  <a:srgbClr val="000000"/>
                </a:solidFill>
                <a:effectLst/>
                <a:uLnTx/>
                <a:uFillTx/>
                <a:cs typeface="+mn-ea"/>
                <a:sym typeface="+mn-lt"/>
              </a:rPr>
              <a:t>的购买率</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是非</a:t>
            </a:r>
            <a:r>
              <a:rPr kumimoji="0" lang="en-US" altLang="zh-CN" sz="1100" b="0" i="0" u="none" strike="noStrike" kern="1200" cap="none" spc="0" normalizeH="0" baseline="0" noProof="0" dirty="0">
                <a:ln>
                  <a:noFill/>
                </a:ln>
                <a:solidFill>
                  <a:srgbClr val="000000"/>
                </a:solidFill>
                <a:effectLst/>
                <a:uLnTx/>
                <a:uFillTx/>
                <a:cs typeface="+mn-ea"/>
                <a:sym typeface="+mn-lt"/>
              </a:rPr>
              <a:t>R3</a:t>
            </a:r>
            <a:r>
              <a:rPr kumimoji="0" lang="zh-CN" altLang="en-US" sz="1100" b="0" i="0" u="none" strike="noStrike" kern="1200" cap="none" spc="0" normalizeH="0" baseline="0" noProof="0" dirty="0">
                <a:ln>
                  <a:noFill/>
                </a:ln>
                <a:solidFill>
                  <a:srgbClr val="000000"/>
                </a:solidFill>
                <a:effectLst/>
                <a:uLnTx/>
                <a:uFillTx/>
                <a:cs typeface="+mn-ea"/>
                <a:sym typeface="+mn-lt"/>
              </a:rPr>
              <a:t>人群</a:t>
            </a:r>
          </a:p>
        </p:txBody>
      </p:sp>
      <p:sp>
        <p:nvSpPr>
          <p:cNvPr id="103" name="熊大的PPT宝库38"/>
          <p:cNvSpPr txBox="1"/>
          <p:nvPr/>
        </p:nvSpPr>
        <p:spPr>
          <a:xfrm>
            <a:off x="9380734" y="4154495"/>
            <a:ext cx="799899" cy="338554"/>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000000"/>
                </a:solidFill>
                <a:effectLst/>
                <a:uLnTx/>
                <a:uFillTx/>
                <a:cs typeface="+mn-ea"/>
                <a:sym typeface="+mn-lt"/>
              </a:rPr>
              <a:t>R3</a:t>
            </a:r>
            <a:r>
              <a:rPr kumimoji="0" lang="zh-CN" altLang="en-US" sz="1100" b="0" i="0" u="none" strike="noStrike" kern="1200" cap="none" spc="0" normalizeH="0" baseline="0" noProof="0" dirty="0">
                <a:ln>
                  <a:noFill/>
                </a:ln>
                <a:solidFill>
                  <a:srgbClr val="000000"/>
                </a:solidFill>
                <a:effectLst/>
                <a:uLnTx/>
                <a:uFillTx/>
                <a:cs typeface="+mn-ea"/>
                <a:sym typeface="+mn-lt"/>
              </a:rPr>
              <a:t>对比非</a:t>
            </a:r>
            <a:r>
              <a:rPr kumimoji="0" lang="en-US" altLang="zh-CN" sz="1100" b="0" i="0" u="none" strike="noStrike" kern="1200" cap="none" spc="0" normalizeH="0" baseline="0" noProof="0" dirty="0">
                <a:ln>
                  <a:noFill/>
                </a:ln>
                <a:solidFill>
                  <a:srgbClr val="000000"/>
                </a:solidFill>
                <a:effectLst/>
                <a:uLnTx/>
                <a:uFillTx/>
                <a:cs typeface="+mn-ea"/>
                <a:sym typeface="+mn-lt"/>
              </a:rPr>
              <a:t>R3</a:t>
            </a: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直接</a:t>
            </a:r>
            <a:r>
              <a:rPr kumimoji="0" lang="en-US" altLang="zh-CN" sz="1100" b="0" i="0" u="none" strike="noStrike" kern="1200" cap="none" spc="0" normalizeH="0" baseline="0" noProof="0" dirty="0">
                <a:ln>
                  <a:noFill/>
                </a:ln>
                <a:solidFill>
                  <a:srgbClr val="000000"/>
                </a:solidFill>
                <a:effectLst/>
                <a:uLnTx/>
                <a:uFillTx/>
                <a:cs typeface="+mn-ea"/>
                <a:sym typeface="+mn-lt"/>
              </a:rPr>
              <a:t>ROI</a:t>
            </a:r>
            <a:r>
              <a:rPr kumimoji="0" lang="zh-CN" altLang="en-US" sz="1100" b="0" i="0" u="none" strike="noStrike" kern="1200" cap="none" spc="0" normalizeH="0" baseline="0" noProof="0" dirty="0">
                <a:ln>
                  <a:noFill/>
                </a:ln>
                <a:solidFill>
                  <a:srgbClr val="000000"/>
                </a:solidFill>
                <a:effectLst/>
                <a:uLnTx/>
                <a:uFillTx/>
                <a:cs typeface="+mn-ea"/>
                <a:sym typeface="+mn-lt"/>
              </a:rPr>
              <a:t>提升</a:t>
            </a:r>
          </a:p>
        </p:txBody>
      </p:sp>
      <p:sp>
        <p:nvSpPr>
          <p:cNvPr id="104" name="熊大的PPT宝库39"/>
          <p:cNvSpPr txBox="1"/>
          <p:nvPr/>
        </p:nvSpPr>
        <p:spPr>
          <a:xfrm>
            <a:off x="10608312" y="4154495"/>
            <a:ext cx="828000" cy="338554"/>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pt-BR" altLang="zh-CN" sz="1100" b="0" i="0" u="none" strike="noStrike" kern="1200" cap="none" spc="0" normalizeH="0" baseline="0" noProof="0" dirty="0">
                <a:ln>
                  <a:noFill/>
                </a:ln>
                <a:solidFill>
                  <a:srgbClr val="000000"/>
                </a:solidFill>
                <a:effectLst/>
                <a:uLnTx/>
                <a:uFillTx/>
                <a:cs typeface="+mn-ea"/>
                <a:sym typeface="+mn-lt"/>
              </a:rPr>
              <a:t>R3</a:t>
            </a:r>
            <a:r>
              <a:rPr kumimoji="0" lang="zh-CN" altLang="pt-BR" sz="1100" b="0" i="0" u="none" strike="noStrike" kern="1200" cap="none" spc="0" normalizeH="0" baseline="0" noProof="0" dirty="0">
                <a:ln>
                  <a:noFill/>
                </a:ln>
                <a:solidFill>
                  <a:srgbClr val="000000"/>
                </a:solidFill>
                <a:effectLst/>
                <a:uLnTx/>
                <a:uFillTx/>
                <a:cs typeface="+mn-ea"/>
                <a:sym typeface="+mn-lt"/>
              </a:rPr>
              <a:t>人群新</a:t>
            </a:r>
            <a:r>
              <a:rPr kumimoji="0" lang="zh-CN" altLang="en-US" sz="1100" b="0" i="0" u="none" strike="noStrike" kern="1200" cap="none" spc="0" normalizeH="0" baseline="0" noProof="0" dirty="0">
                <a:ln>
                  <a:noFill/>
                </a:ln>
                <a:solidFill>
                  <a:srgbClr val="000000"/>
                </a:solidFill>
                <a:effectLst/>
                <a:uLnTx/>
                <a:uFillTx/>
                <a:cs typeface="+mn-ea"/>
                <a:sym typeface="+mn-lt"/>
              </a:rPr>
              <a:t>客</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贡献</a:t>
            </a:r>
            <a:r>
              <a:rPr kumimoji="0" lang="zh-CN" altLang="pt-BR" sz="1100" b="0" i="0" u="none" strike="noStrike" kern="1200" cap="none" spc="0" normalizeH="0" baseline="0" noProof="0" dirty="0">
                <a:ln>
                  <a:noFill/>
                </a:ln>
                <a:solidFill>
                  <a:srgbClr val="000000"/>
                </a:solidFill>
                <a:effectLst/>
                <a:uLnTx/>
                <a:uFillTx/>
                <a:cs typeface="+mn-ea"/>
                <a:sym typeface="+mn-lt"/>
              </a:rPr>
              <a:t>比例</a:t>
            </a:r>
            <a:endParaRPr kumimoji="0" lang="zh-CN" altLang="en-US" sz="1100" b="0" i="0" u="none" strike="noStrike" kern="1200" cap="none" spc="0" normalizeH="0" baseline="0" noProof="0" dirty="0">
              <a:ln>
                <a:noFill/>
              </a:ln>
              <a:solidFill>
                <a:srgbClr val="000000"/>
              </a:solidFill>
              <a:effectLst/>
              <a:uLnTx/>
              <a:uFillTx/>
              <a:cs typeface="+mn-ea"/>
              <a:sym typeface="+mn-lt"/>
            </a:endParaRPr>
          </a:p>
        </p:txBody>
      </p:sp>
      <p:sp>
        <p:nvSpPr>
          <p:cNvPr id="105" name="熊大的PPT宝库40"/>
          <p:cNvSpPr/>
          <p:nvPr/>
        </p:nvSpPr>
        <p:spPr>
          <a:xfrm>
            <a:off x="7846811" y="4677377"/>
            <a:ext cx="2257345" cy="371561"/>
          </a:xfrm>
          <a:prstGeom prst="roundRect">
            <a:avLst/>
          </a:prstGeom>
          <a:solidFill>
            <a:schemeClr val="accent1"/>
          </a:solidFill>
          <a:ln>
            <a:noFill/>
            <a:prstDash val="sysDash"/>
          </a:ln>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06" name="熊大的PPT宝库41"/>
          <p:cNvSpPr/>
          <p:nvPr/>
        </p:nvSpPr>
        <p:spPr>
          <a:xfrm>
            <a:off x="2083537" y="4677377"/>
            <a:ext cx="2262751" cy="400487"/>
          </a:xfrm>
          <a:prstGeom prst="roundRect">
            <a:avLst/>
          </a:prstGeom>
          <a:solidFill>
            <a:schemeClr val="accent1"/>
          </a:solidFill>
          <a:ln>
            <a:noFill/>
            <a:prstDash val="sysDash"/>
          </a:ln>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cxnSp>
        <p:nvCxnSpPr>
          <p:cNvPr id="107" name="熊大的PPT宝库42"/>
          <p:cNvCxnSpPr/>
          <p:nvPr/>
        </p:nvCxnSpPr>
        <p:spPr>
          <a:xfrm rot="5400000">
            <a:off x="9646407" y="3715453"/>
            <a:ext cx="1440000" cy="0"/>
          </a:xfrm>
          <a:prstGeom prst="line">
            <a:avLst/>
          </a:prstGeom>
          <a:ln>
            <a:solidFill>
              <a:schemeClr val="accent1">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09" name="熊大的PPT宝库43"/>
          <p:cNvSpPr txBox="1"/>
          <p:nvPr/>
        </p:nvSpPr>
        <p:spPr>
          <a:xfrm>
            <a:off x="2217620" y="4739121"/>
            <a:ext cx="1994585" cy="276999"/>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cs typeface="+mn-ea"/>
                <a:sym typeface="+mn-lt"/>
              </a:rPr>
              <a:t>GTR (GMV to 5R)</a:t>
            </a:r>
          </a:p>
        </p:txBody>
      </p:sp>
      <p:sp>
        <p:nvSpPr>
          <p:cNvPr id="111" name="熊大的PPT宝库44"/>
          <p:cNvSpPr txBox="1"/>
          <p:nvPr/>
        </p:nvSpPr>
        <p:spPr>
          <a:xfrm>
            <a:off x="8458515" y="4724658"/>
            <a:ext cx="1033937" cy="276999"/>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cs typeface="+mn-ea"/>
                <a:sym typeface="+mn-lt"/>
              </a:rPr>
              <a:t>品牌DMP</a:t>
            </a:r>
          </a:p>
        </p:txBody>
      </p:sp>
      <p:sp>
        <p:nvSpPr>
          <p:cNvPr id="120" name="熊大的PPT宝库45"/>
          <p:cNvSpPr txBox="1"/>
          <p:nvPr/>
        </p:nvSpPr>
        <p:spPr>
          <a:xfrm>
            <a:off x="851422" y="5216990"/>
            <a:ext cx="2448000"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打通GMV与5R资产</a:t>
            </a:r>
          </a:p>
        </p:txBody>
      </p:sp>
      <p:sp>
        <p:nvSpPr>
          <p:cNvPr id="121" name="熊大的PPT宝库46"/>
          <p:cNvSpPr txBox="1"/>
          <p:nvPr/>
        </p:nvSpPr>
        <p:spPr>
          <a:xfrm>
            <a:off x="851423" y="5572066"/>
            <a:ext cx="2462213"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实现大促期品效销效率监控</a:t>
            </a:r>
          </a:p>
        </p:txBody>
      </p:sp>
      <p:sp>
        <p:nvSpPr>
          <p:cNvPr id="122" name="熊大的PPT宝库47"/>
          <p:cNvSpPr txBox="1"/>
          <p:nvPr/>
        </p:nvSpPr>
        <p:spPr>
          <a:xfrm>
            <a:off x="851423" y="5927142"/>
            <a:ext cx="2462213"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实现生意效果高效追踪复盘</a:t>
            </a:r>
          </a:p>
        </p:txBody>
      </p:sp>
      <p:sp>
        <p:nvSpPr>
          <p:cNvPr id="123" name="熊大的PPT宝库48"/>
          <p:cNvSpPr txBox="1"/>
          <p:nvPr/>
        </p:nvSpPr>
        <p:spPr>
          <a:xfrm>
            <a:off x="6673728" y="5216990"/>
            <a:ext cx="820738"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定制人群</a:t>
            </a:r>
          </a:p>
        </p:txBody>
      </p:sp>
      <p:sp>
        <p:nvSpPr>
          <p:cNvPr id="124" name="熊大的PPT宝库49"/>
          <p:cNvSpPr txBox="1"/>
          <p:nvPr/>
        </p:nvSpPr>
        <p:spPr>
          <a:xfrm>
            <a:off x="6673727" y="5572066"/>
            <a:ext cx="1224000"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00000"/>
                </a:solidFill>
                <a:effectLst/>
                <a:uLnTx/>
                <a:uFillTx/>
                <a:cs typeface="+mn-ea"/>
                <a:sym typeface="+mn-lt"/>
              </a:rPr>
              <a:t>TA</a:t>
            </a:r>
            <a:r>
              <a:rPr kumimoji="0" lang="zh-CN" altLang="en-US" sz="1600" b="0" i="0" u="none" strike="noStrike" kern="1200" cap="none" spc="0" normalizeH="0" baseline="0" noProof="0" dirty="0">
                <a:ln>
                  <a:noFill/>
                </a:ln>
                <a:solidFill>
                  <a:srgbClr val="000000"/>
                </a:solidFill>
                <a:effectLst/>
                <a:uLnTx/>
                <a:uFillTx/>
                <a:cs typeface="+mn-ea"/>
                <a:sym typeface="+mn-lt"/>
              </a:rPr>
              <a:t>浓度提升</a:t>
            </a:r>
          </a:p>
        </p:txBody>
      </p:sp>
      <p:sp>
        <p:nvSpPr>
          <p:cNvPr id="125" name="熊大的PPT宝库50"/>
          <p:cNvSpPr txBox="1"/>
          <p:nvPr/>
        </p:nvSpPr>
        <p:spPr>
          <a:xfrm>
            <a:off x="6673728" y="5927142"/>
            <a:ext cx="1014906" cy="1921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00000"/>
                </a:solidFill>
                <a:effectLst/>
                <a:uLnTx/>
                <a:uFillTx/>
                <a:cs typeface="+mn-ea"/>
                <a:sym typeface="+mn-lt"/>
              </a:rPr>
              <a:t>ROI</a:t>
            </a:r>
            <a:r>
              <a:rPr kumimoji="0" lang="zh-CN" altLang="en-US" sz="1600" b="0" i="0" u="none" strike="noStrike" kern="1200" cap="none" spc="0" normalizeH="0" baseline="0" noProof="0" dirty="0">
                <a:ln>
                  <a:noFill/>
                </a:ln>
                <a:solidFill>
                  <a:srgbClr val="000000"/>
                </a:solidFill>
                <a:effectLst/>
                <a:uLnTx/>
                <a:uFillTx/>
                <a:cs typeface="+mn-ea"/>
                <a:sym typeface="+mn-lt"/>
              </a:rPr>
              <a:t>优化</a:t>
            </a:r>
          </a:p>
        </p:txBody>
      </p:sp>
      <p:sp>
        <p:nvSpPr>
          <p:cNvPr id="126" name="熊大的PPT宝库51"/>
          <p:cNvSpPr/>
          <p:nvPr/>
        </p:nvSpPr>
        <p:spPr>
          <a:xfrm>
            <a:off x="6432940" y="5984001"/>
            <a:ext cx="86600" cy="86600"/>
          </a:xfrm>
          <a:prstGeom prst="ellips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7" name="熊大的PPT宝库52"/>
          <p:cNvSpPr/>
          <p:nvPr/>
        </p:nvSpPr>
        <p:spPr>
          <a:xfrm>
            <a:off x="6432940" y="5628925"/>
            <a:ext cx="86600" cy="86600"/>
          </a:xfrm>
          <a:prstGeom prst="ellips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8" name="熊大的PPT宝库53"/>
          <p:cNvSpPr/>
          <p:nvPr/>
        </p:nvSpPr>
        <p:spPr>
          <a:xfrm>
            <a:off x="6432940" y="5273849"/>
            <a:ext cx="86600" cy="86600"/>
          </a:xfrm>
          <a:prstGeom prst="ellips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2" name="熊大的PPT宝库54"/>
          <p:cNvSpPr/>
          <p:nvPr/>
        </p:nvSpPr>
        <p:spPr>
          <a:xfrm>
            <a:off x="600066" y="5984001"/>
            <a:ext cx="86600" cy="86600"/>
          </a:xfrm>
          <a:prstGeom prst="ellips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3" name="熊大的PPT宝库55"/>
          <p:cNvSpPr/>
          <p:nvPr/>
        </p:nvSpPr>
        <p:spPr>
          <a:xfrm>
            <a:off x="600066" y="5628925"/>
            <a:ext cx="86600" cy="86600"/>
          </a:xfrm>
          <a:prstGeom prst="ellips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4" name="熊大的PPT宝库56"/>
          <p:cNvSpPr/>
          <p:nvPr/>
        </p:nvSpPr>
        <p:spPr>
          <a:xfrm>
            <a:off x="600066" y="5273849"/>
            <a:ext cx="86600" cy="86600"/>
          </a:xfrm>
          <a:prstGeom prst="ellips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cxnSp>
        <p:nvCxnSpPr>
          <p:cNvPr id="135" name="熊大的PPT宝库57"/>
          <p:cNvCxnSpPr/>
          <p:nvPr/>
        </p:nvCxnSpPr>
        <p:spPr>
          <a:xfrm rot="5400000">
            <a:off x="3045031" y="5647039"/>
            <a:ext cx="864000" cy="0"/>
          </a:xfrm>
          <a:prstGeom prst="line">
            <a:avLst/>
          </a:prstGeom>
          <a:ln>
            <a:solidFill>
              <a:schemeClr val="accent1">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36" name="熊大的PPT宝库58"/>
          <p:cNvSpPr txBox="1"/>
          <p:nvPr/>
        </p:nvSpPr>
        <p:spPr>
          <a:xfrm>
            <a:off x="3643570" y="5251155"/>
            <a:ext cx="820738" cy="49244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00329D"/>
                </a:solidFill>
                <a:effectLst/>
                <a:uLnTx/>
                <a:uFillTx/>
                <a:cs typeface="+mn-ea"/>
                <a:sym typeface="+mn-lt"/>
              </a:rPr>
              <a:t>秒级</a:t>
            </a:r>
            <a:endParaRPr kumimoji="0" lang="zh-CN" altLang="en-US" sz="1800" b="1" i="0" u="none" strike="noStrike" kern="1200" cap="none" spc="0" normalizeH="0" baseline="0" noProof="0" dirty="0">
              <a:ln>
                <a:noFill/>
              </a:ln>
              <a:solidFill>
                <a:srgbClr val="00329D"/>
              </a:solidFill>
              <a:effectLst/>
              <a:uLnTx/>
              <a:uFillTx/>
              <a:cs typeface="+mn-ea"/>
              <a:sym typeface="+mn-lt"/>
            </a:endParaRPr>
          </a:p>
        </p:txBody>
      </p:sp>
      <p:sp>
        <p:nvSpPr>
          <p:cNvPr id="138" name="熊大的PPT宝库59"/>
          <p:cNvSpPr txBox="1"/>
          <p:nvPr/>
        </p:nvSpPr>
        <p:spPr>
          <a:xfrm>
            <a:off x="3518535" y="5765762"/>
            <a:ext cx="1044000" cy="338554"/>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srgbClr val="000000"/>
                </a:solidFill>
                <a:effectLst/>
                <a:uLnTx/>
                <a:uFillTx/>
                <a:cs typeface="+mn-ea"/>
                <a:sym typeface="+mn-lt"/>
              </a:rPr>
              <a:t>GMV to 5R</a:t>
            </a:r>
            <a:r>
              <a:rPr kumimoji="0" lang="zh-CN" altLang="en-US" sz="1100" b="0" i="0" u="none" strike="noStrike" kern="1200" cap="none" spc="0" normalizeH="0" baseline="0" noProof="0" dirty="0">
                <a:ln>
                  <a:noFill/>
                </a:ln>
                <a:solidFill>
                  <a:srgbClr val="000000"/>
                </a:solidFill>
                <a:effectLst/>
                <a:uLnTx/>
                <a:uFillTx/>
                <a:cs typeface="+mn-ea"/>
                <a:sym typeface="+mn-lt"/>
              </a:rPr>
              <a:t>计算</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产出预测结果</a:t>
            </a:r>
          </a:p>
        </p:txBody>
      </p:sp>
      <p:sp>
        <p:nvSpPr>
          <p:cNvPr id="139" name="熊大的PPT宝库60"/>
          <p:cNvSpPr txBox="1"/>
          <p:nvPr/>
        </p:nvSpPr>
        <p:spPr>
          <a:xfrm>
            <a:off x="4912801" y="5765762"/>
            <a:ext cx="846386" cy="338554"/>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商测</a:t>
            </a:r>
            <a:r>
              <a:rPr kumimoji="0" lang="en-US" altLang="zh-CN" sz="1100" b="0" i="0" u="none" strike="noStrike" kern="1200" cap="none" spc="0" normalizeH="0" baseline="0" noProof="0" dirty="0">
                <a:ln>
                  <a:noFill/>
                </a:ln>
                <a:solidFill>
                  <a:srgbClr val="000000"/>
                </a:solidFill>
                <a:effectLst/>
                <a:uLnTx/>
                <a:uFillTx/>
                <a:cs typeface="+mn-ea"/>
                <a:sym typeface="+mn-lt"/>
              </a:rPr>
              <a:t>11</a:t>
            </a:r>
            <a:r>
              <a:rPr kumimoji="0" lang="zh-CN" altLang="en-US" sz="1100" b="0" i="0" u="none" strike="noStrike" kern="1200" cap="none" spc="0" normalizeH="0" baseline="0" noProof="0" dirty="0">
                <a:ln>
                  <a:noFill/>
                </a:ln>
                <a:solidFill>
                  <a:srgbClr val="000000"/>
                </a:solidFill>
                <a:effectLst/>
                <a:uLnTx/>
                <a:uFillTx/>
                <a:cs typeface="+mn-ea"/>
                <a:sym typeface="+mn-lt"/>
              </a:rPr>
              <a:t>家客户</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牵引预算规模</a:t>
            </a:r>
          </a:p>
        </p:txBody>
      </p:sp>
      <p:sp>
        <p:nvSpPr>
          <p:cNvPr id="140" name="熊大的PPT宝库61"/>
          <p:cNvSpPr txBox="1"/>
          <p:nvPr/>
        </p:nvSpPr>
        <p:spPr>
          <a:xfrm>
            <a:off x="4797385" y="5251155"/>
            <a:ext cx="1077218" cy="43088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00329D"/>
                </a:solidFill>
                <a:effectLst/>
                <a:uLnTx/>
                <a:uFillTx/>
                <a:cs typeface="+mn-ea"/>
                <a:sym typeface="+mn-lt"/>
              </a:rPr>
              <a:t>超千万</a:t>
            </a:r>
            <a:endParaRPr kumimoji="0" lang="zh-CN" altLang="en-US" sz="1600" b="1" i="0" u="none" strike="noStrike" kern="1200" cap="none" spc="0" normalizeH="0" baseline="0" noProof="0" dirty="0">
              <a:ln>
                <a:noFill/>
              </a:ln>
              <a:solidFill>
                <a:srgbClr val="00329D"/>
              </a:solidFill>
              <a:effectLst/>
              <a:uLnTx/>
              <a:uFillTx/>
              <a:cs typeface="+mn-ea"/>
              <a:sym typeface="+mn-lt"/>
            </a:endParaRPr>
          </a:p>
        </p:txBody>
      </p:sp>
      <p:cxnSp>
        <p:nvCxnSpPr>
          <p:cNvPr id="141" name="熊大的PPT宝库62"/>
          <p:cNvCxnSpPr/>
          <p:nvPr/>
        </p:nvCxnSpPr>
        <p:spPr>
          <a:xfrm rot="5400000">
            <a:off x="4198847" y="5647039"/>
            <a:ext cx="864000" cy="0"/>
          </a:xfrm>
          <a:prstGeom prst="line">
            <a:avLst/>
          </a:prstGeom>
          <a:ln>
            <a:solidFill>
              <a:schemeClr val="accent1">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42" name="熊大的PPT宝库63"/>
          <p:cNvCxnSpPr/>
          <p:nvPr/>
        </p:nvCxnSpPr>
        <p:spPr>
          <a:xfrm rot="5400000">
            <a:off x="7524031" y="5693142"/>
            <a:ext cx="972000" cy="0"/>
          </a:xfrm>
          <a:prstGeom prst="line">
            <a:avLst/>
          </a:prstGeom>
          <a:ln>
            <a:solidFill>
              <a:schemeClr val="accent1">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43" name="熊大的PPT宝库64"/>
          <p:cNvSpPr txBox="1"/>
          <p:nvPr/>
        </p:nvSpPr>
        <p:spPr>
          <a:xfrm>
            <a:off x="8567885" y="5133322"/>
            <a:ext cx="721351" cy="49244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0329D"/>
                </a:solidFill>
                <a:effectLst/>
                <a:uLnTx/>
                <a:uFillTx/>
                <a:cs typeface="+mn-ea"/>
                <a:sym typeface="+mn-lt"/>
              </a:rPr>
              <a:t>25</a:t>
            </a:r>
            <a:r>
              <a:rPr kumimoji="0" lang="en-US" altLang="zh-CN" sz="1800" b="1" i="0" u="none" strike="noStrike" kern="1200" cap="none" spc="0" normalizeH="0" baseline="0" noProof="0" dirty="0">
                <a:ln>
                  <a:noFill/>
                </a:ln>
                <a:solidFill>
                  <a:srgbClr val="00329D"/>
                </a:solidFill>
                <a:effectLst/>
                <a:uLnTx/>
                <a:uFillTx/>
                <a:cs typeface="+mn-ea"/>
                <a:sym typeface="+mn-lt"/>
              </a:rPr>
              <a:t>%</a:t>
            </a:r>
            <a:endParaRPr kumimoji="0" lang="zh-CN" altLang="en-US" sz="1800" b="1" i="0" u="none" strike="noStrike" kern="1200" cap="none" spc="0" normalizeH="0" baseline="0" noProof="0" dirty="0">
              <a:ln>
                <a:noFill/>
              </a:ln>
              <a:solidFill>
                <a:srgbClr val="00329D"/>
              </a:solidFill>
              <a:effectLst/>
              <a:uLnTx/>
              <a:uFillTx/>
              <a:cs typeface="+mn-ea"/>
              <a:sym typeface="+mn-lt"/>
            </a:endParaRPr>
          </a:p>
        </p:txBody>
      </p:sp>
      <p:sp>
        <p:nvSpPr>
          <p:cNvPr id="144" name="熊大的PPT宝库65"/>
          <p:cNvSpPr txBox="1"/>
          <p:nvPr/>
        </p:nvSpPr>
        <p:spPr>
          <a:xfrm>
            <a:off x="10384689" y="5249353"/>
            <a:ext cx="721351" cy="49244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0329D"/>
                </a:solidFill>
                <a:effectLst/>
                <a:uLnTx/>
                <a:uFillTx/>
                <a:cs typeface="+mn-ea"/>
                <a:sym typeface="+mn-lt"/>
              </a:rPr>
              <a:t>60</a:t>
            </a:r>
            <a:r>
              <a:rPr kumimoji="0" lang="en-US" altLang="zh-CN" sz="1800" b="1" i="0" u="none" strike="noStrike" kern="1200" cap="none" spc="0" normalizeH="0" baseline="0" noProof="0" dirty="0">
                <a:ln>
                  <a:noFill/>
                </a:ln>
                <a:solidFill>
                  <a:srgbClr val="00329D"/>
                </a:solidFill>
                <a:effectLst/>
                <a:uLnTx/>
                <a:uFillTx/>
                <a:cs typeface="+mn-ea"/>
                <a:sym typeface="+mn-lt"/>
              </a:rPr>
              <a:t>%</a:t>
            </a:r>
            <a:endParaRPr kumimoji="0" lang="zh-CN" altLang="en-US" sz="1800" b="1" i="0" u="none" strike="noStrike" kern="1200" cap="none" spc="0" normalizeH="0" baseline="0" noProof="0" dirty="0">
              <a:ln>
                <a:noFill/>
              </a:ln>
              <a:solidFill>
                <a:srgbClr val="00329D"/>
              </a:solidFill>
              <a:effectLst/>
              <a:uLnTx/>
              <a:uFillTx/>
              <a:cs typeface="+mn-ea"/>
              <a:sym typeface="+mn-lt"/>
            </a:endParaRPr>
          </a:p>
        </p:txBody>
      </p:sp>
      <p:sp>
        <p:nvSpPr>
          <p:cNvPr id="145" name="熊大的PPT宝库66"/>
          <p:cNvSpPr txBox="1"/>
          <p:nvPr/>
        </p:nvSpPr>
        <p:spPr>
          <a:xfrm>
            <a:off x="8327512" y="5688479"/>
            <a:ext cx="1188012" cy="507831"/>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家电行业某广告主经过定向人群优化，</a:t>
            </a:r>
            <a:r>
              <a:rPr kumimoji="0" lang="en-US" altLang="zh-CN" sz="1100" b="0" i="0" u="none" strike="noStrike" kern="1200" cap="none" spc="0" normalizeH="0" baseline="0" noProof="0" dirty="0">
                <a:ln>
                  <a:noFill/>
                </a:ln>
                <a:solidFill>
                  <a:srgbClr val="000000"/>
                </a:solidFill>
                <a:effectLst/>
                <a:uLnTx/>
                <a:uFillTx/>
                <a:cs typeface="+mn-ea"/>
                <a:sym typeface="+mn-lt"/>
              </a:rPr>
              <a:t>TA</a:t>
            </a:r>
            <a:r>
              <a:rPr kumimoji="0" lang="zh-CN" altLang="en-US" sz="1100" b="0" i="0" u="none" strike="noStrike" kern="1200" cap="none" spc="0" normalizeH="0" baseline="0" noProof="0" dirty="0">
                <a:ln>
                  <a:noFill/>
                </a:ln>
                <a:solidFill>
                  <a:srgbClr val="000000"/>
                </a:solidFill>
                <a:effectLst/>
                <a:uLnTx/>
                <a:uFillTx/>
                <a:cs typeface="+mn-ea"/>
                <a:sym typeface="+mn-lt"/>
              </a:rPr>
              <a:t>浓度提升</a:t>
            </a:r>
          </a:p>
        </p:txBody>
      </p:sp>
      <p:sp>
        <p:nvSpPr>
          <p:cNvPr id="146" name="熊大的PPT宝库67"/>
          <p:cNvSpPr txBox="1"/>
          <p:nvPr/>
        </p:nvSpPr>
        <p:spPr>
          <a:xfrm>
            <a:off x="9898796" y="5759576"/>
            <a:ext cx="1693136" cy="380820"/>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美妆行业某广告丰经过</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挖掘优质人群，</a:t>
            </a:r>
            <a:r>
              <a:rPr kumimoji="0" lang="en-US" altLang="zh-CN" sz="1100" b="0" i="0" u="none" strike="noStrike" kern="1200" cap="none" spc="0" normalizeH="0" baseline="0" noProof="0" dirty="0">
                <a:ln>
                  <a:noFill/>
                </a:ln>
                <a:solidFill>
                  <a:srgbClr val="000000"/>
                </a:solidFill>
                <a:effectLst/>
                <a:uLnTx/>
                <a:uFillTx/>
                <a:cs typeface="+mn-ea"/>
                <a:sym typeface="+mn-lt"/>
              </a:rPr>
              <a:t>ROI</a:t>
            </a:r>
            <a:r>
              <a:rPr kumimoji="0" lang="zh-CN" altLang="en-US" sz="1100" b="0" i="0" u="none" strike="noStrike" kern="1200" cap="none" spc="0" normalizeH="0" baseline="0" noProof="0" dirty="0">
                <a:ln>
                  <a:noFill/>
                </a:ln>
                <a:solidFill>
                  <a:srgbClr val="000000"/>
                </a:solidFill>
                <a:effectLst/>
                <a:uLnTx/>
                <a:uFillTx/>
                <a:cs typeface="+mn-ea"/>
                <a:sym typeface="+mn-lt"/>
              </a:rPr>
              <a:t>提升</a:t>
            </a:r>
          </a:p>
        </p:txBody>
      </p:sp>
      <p:cxnSp>
        <p:nvCxnSpPr>
          <p:cNvPr id="148" name="熊大的PPT宝库68"/>
          <p:cNvCxnSpPr/>
          <p:nvPr/>
        </p:nvCxnSpPr>
        <p:spPr>
          <a:xfrm rot="5400000">
            <a:off x="9259810" y="5693142"/>
            <a:ext cx="972000" cy="0"/>
          </a:xfrm>
          <a:prstGeom prst="line">
            <a:avLst/>
          </a:prstGeom>
          <a:ln>
            <a:solidFill>
              <a:schemeClr val="accent1">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熊大的PPT宝库1"/>
          <p:cNvSpPr/>
          <p:nvPr/>
        </p:nvSpPr>
        <p:spPr>
          <a:xfrm>
            <a:off x="442912" y="970457"/>
            <a:ext cx="3787444" cy="5338268"/>
          </a:xfrm>
          <a:prstGeom prst="roundRect">
            <a:avLst>
              <a:gd name="adj" fmla="val 3938"/>
            </a:avLst>
          </a:prstGeom>
          <a:solidFill>
            <a:schemeClr val="bg1"/>
          </a:solidFill>
          <a:ln>
            <a:noFill/>
          </a:ln>
          <a:effectLst>
            <a:outerShdw blurRad="215900" sx="102000" sy="102000" algn="ctr" rotWithShape="0">
              <a:schemeClr val="accent1">
                <a:lumMod val="40000"/>
                <a:lumOff val="60000"/>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 name="熊大的PPT宝库2"/>
          <p:cNvSpPr txBox="1"/>
          <p:nvPr/>
        </p:nvSpPr>
        <p:spPr>
          <a:xfrm>
            <a:off x="348830" y="216968"/>
            <a:ext cx="3877985"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各层级达人跃迁路径</a:t>
            </a:r>
          </a:p>
        </p:txBody>
      </p:sp>
      <p:sp>
        <p:nvSpPr>
          <p:cNvPr id="5" name="熊大的PPT宝库4"/>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grpSp>
        <p:nvGrpSpPr>
          <p:cNvPr id="27" name="熊大的PPT宝库5"/>
          <p:cNvGrpSpPr/>
          <p:nvPr/>
        </p:nvGrpSpPr>
        <p:grpSpPr>
          <a:xfrm>
            <a:off x="477383" y="1496458"/>
            <a:ext cx="1933583" cy="2012299"/>
            <a:chOff x="664474" y="2204120"/>
            <a:chExt cx="2354287" cy="2450130"/>
          </a:xfrm>
        </p:grpSpPr>
        <p:grpSp>
          <p:nvGrpSpPr>
            <p:cNvPr id="25" name="组合 24"/>
            <p:cNvGrpSpPr/>
            <p:nvPr/>
          </p:nvGrpSpPr>
          <p:grpSpPr>
            <a:xfrm>
              <a:off x="664474" y="2204120"/>
              <a:ext cx="1346116" cy="2450130"/>
              <a:chOff x="664474" y="2204120"/>
              <a:chExt cx="1346116" cy="2450130"/>
            </a:xfrm>
            <a:gradFill>
              <a:gsLst>
                <a:gs pos="100000">
                  <a:schemeClr val="accent1">
                    <a:lumMod val="20000"/>
                    <a:lumOff val="80000"/>
                  </a:schemeClr>
                </a:gs>
                <a:gs pos="0">
                  <a:schemeClr val="accent1">
                    <a:lumMod val="60000"/>
                    <a:lumOff val="40000"/>
                  </a:schemeClr>
                </a:gs>
              </a:gsLst>
              <a:path path="circle">
                <a:fillToRect l="100000" t="100000"/>
              </a:path>
            </a:gradFill>
          </p:grpSpPr>
          <p:sp>
            <p:nvSpPr>
              <p:cNvPr id="18" name="熊大的PPT宝库5-1"/>
              <p:cNvSpPr/>
              <p:nvPr/>
            </p:nvSpPr>
            <p:spPr>
              <a:xfrm rot="896973">
                <a:off x="1447970" y="2204120"/>
                <a:ext cx="526361" cy="948128"/>
              </a:xfrm>
              <a:custGeom>
                <a:avLst/>
                <a:gdLst>
                  <a:gd name="connsiteX0" fmla="*/ 270752 w 526361"/>
                  <a:gd name="connsiteY0" fmla="*/ 0 h 948128"/>
                  <a:gd name="connsiteX1" fmla="*/ 526361 w 526361"/>
                  <a:gd name="connsiteY1" fmla="*/ 948128 h 948128"/>
                  <a:gd name="connsiteX2" fmla="*/ 0 w 526361"/>
                  <a:gd name="connsiteY2" fmla="*/ 787856 h 948128"/>
                  <a:gd name="connsiteX3" fmla="*/ 270752 w 526361"/>
                  <a:gd name="connsiteY3" fmla="*/ 0 h 948128"/>
                </a:gdLst>
                <a:ahLst/>
                <a:cxnLst>
                  <a:cxn ang="0">
                    <a:pos x="connsiteX0" y="connsiteY0"/>
                  </a:cxn>
                  <a:cxn ang="0">
                    <a:pos x="connsiteX1" y="connsiteY1"/>
                  </a:cxn>
                  <a:cxn ang="0">
                    <a:pos x="connsiteX2" y="connsiteY2"/>
                  </a:cxn>
                  <a:cxn ang="0">
                    <a:pos x="connsiteX3" y="connsiteY3"/>
                  </a:cxn>
                </a:cxnLst>
                <a:rect l="l" t="t" r="r" b="b"/>
                <a:pathLst>
                  <a:path w="526361" h="948128">
                    <a:moveTo>
                      <a:pt x="270752" y="0"/>
                    </a:moveTo>
                    <a:lnTo>
                      <a:pt x="526361" y="948128"/>
                    </a:lnTo>
                    <a:lnTo>
                      <a:pt x="0" y="787856"/>
                    </a:lnTo>
                    <a:lnTo>
                      <a:pt x="270752" y="0"/>
                    </a:lnTo>
                    <a:close/>
                  </a:path>
                </a:pathLst>
              </a:custGeom>
              <a:grp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6" name="熊大的PPT宝库5-2"/>
              <p:cNvSpPr/>
              <p:nvPr/>
            </p:nvSpPr>
            <p:spPr>
              <a:xfrm rot="896973">
                <a:off x="1050538" y="2998781"/>
                <a:ext cx="916876" cy="829636"/>
              </a:xfrm>
              <a:custGeom>
                <a:avLst/>
                <a:gdLst>
                  <a:gd name="connsiteX0" fmla="*/ 189168 w 916876"/>
                  <a:gd name="connsiteY0" fmla="*/ 0 h 829636"/>
                  <a:gd name="connsiteX1" fmla="*/ 738289 w 916876"/>
                  <a:gd name="connsiteY1" fmla="*/ 167202 h 829636"/>
                  <a:gd name="connsiteX2" fmla="*/ 916876 w 916876"/>
                  <a:gd name="connsiteY2" fmla="*/ 829636 h 829636"/>
                  <a:gd name="connsiteX3" fmla="*/ 0 w 916876"/>
                  <a:gd name="connsiteY3" fmla="*/ 550454 h 829636"/>
                  <a:gd name="connsiteX4" fmla="*/ 189168 w 916876"/>
                  <a:gd name="connsiteY4" fmla="*/ 0 h 829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6876" h="829636">
                    <a:moveTo>
                      <a:pt x="189168" y="0"/>
                    </a:moveTo>
                    <a:lnTo>
                      <a:pt x="738289" y="167202"/>
                    </a:lnTo>
                    <a:lnTo>
                      <a:pt x="916876" y="829636"/>
                    </a:lnTo>
                    <a:lnTo>
                      <a:pt x="0" y="550454"/>
                    </a:lnTo>
                    <a:lnTo>
                      <a:pt x="189168" y="0"/>
                    </a:lnTo>
                    <a:close/>
                  </a:path>
                </a:pathLst>
              </a:custGeom>
              <a:grp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 name="熊大的PPT宝库5-3"/>
              <p:cNvSpPr/>
              <p:nvPr/>
            </p:nvSpPr>
            <p:spPr>
              <a:xfrm rot="896973">
                <a:off x="664474" y="3562595"/>
                <a:ext cx="1346116" cy="1091655"/>
              </a:xfrm>
              <a:custGeom>
                <a:avLst/>
                <a:gdLst>
                  <a:gd name="connsiteX0" fmla="*/ 189311 w 1346116"/>
                  <a:gd name="connsiteY0" fmla="*/ 0 h 1091655"/>
                  <a:gd name="connsiteX1" fmla="*/ 1128947 w 1346116"/>
                  <a:gd name="connsiteY1" fmla="*/ 286111 h 1091655"/>
                  <a:gd name="connsiteX2" fmla="*/ 1346116 w 1346116"/>
                  <a:gd name="connsiteY2" fmla="*/ 1091655 h 1091655"/>
                  <a:gd name="connsiteX3" fmla="*/ 0 w 1346116"/>
                  <a:gd name="connsiteY3" fmla="*/ 550870 h 1091655"/>
                  <a:gd name="connsiteX4" fmla="*/ 189311 w 1346116"/>
                  <a:gd name="connsiteY4" fmla="*/ 0 h 1091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6116" h="1091655">
                    <a:moveTo>
                      <a:pt x="189311" y="0"/>
                    </a:moveTo>
                    <a:lnTo>
                      <a:pt x="1128947" y="286111"/>
                    </a:lnTo>
                    <a:lnTo>
                      <a:pt x="1346116" y="1091655"/>
                    </a:lnTo>
                    <a:lnTo>
                      <a:pt x="0" y="550870"/>
                    </a:lnTo>
                    <a:lnTo>
                      <a:pt x="189311" y="0"/>
                    </a:lnTo>
                    <a:close/>
                  </a:path>
                </a:pathLst>
              </a:custGeom>
              <a:grp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pSp>
        <p:grpSp>
          <p:nvGrpSpPr>
            <p:cNvPr id="24" name="组合 23"/>
            <p:cNvGrpSpPr/>
            <p:nvPr/>
          </p:nvGrpSpPr>
          <p:grpSpPr>
            <a:xfrm flipH="1">
              <a:off x="1672645" y="2204120"/>
              <a:ext cx="1346116" cy="2450130"/>
              <a:chOff x="664474" y="2204120"/>
              <a:chExt cx="1346116" cy="2450130"/>
            </a:xfrm>
            <a:gradFill>
              <a:gsLst>
                <a:gs pos="100000">
                  <a:schemeClr val="accent1">
                    <a:lumMod val="60000"/>
                    <a:lumOff val="40000"/>
                  </a:schemeClr>
                </a:gs>
                <a:gs pos="0">
                  <a:schemeClr val="accent1"/>
                </a:gs>
              </a:gsLst>
              <a:path path="circle">
                <a:fillToRect l="100000" t="100000"/>
              </a:path>
            </a:gradFill>
          </p:grpSpPr>
          <p:sp>
            <p:nvSpPr>
              <p:cNvPr id="21" name="熊大的PPT宝库5-4"/>
              <p:cNvSpPr/>
              <p:nvPr/>
            </p:nvSpPr>
            <p:spPr>
              <a:xfrm rot="896973">
                <a:off x="1447970" y="2204120"/>
                <a:ext cx="526361" cy="948128"/>
              </a:xfrm>
              <a:custGeom>
                <a:avLst/>
                <a:gdLst>
                  <a:gd name="connsiteX0" fmla="*/ 270752 w 526361"/>
                  <a:gd name="connsiteY0" fmla="*/ 0 h 948128"/>
                  <a:gd name="connsiteX1" fmla="*/ 526361 w 526361"/>
                  <a:gd name="connsiteY1" fmla="*/ 948128 h 948128"/>
                  <a:gd name="connsiteX2" fmla="*/ 0 w 526361"/>
                  <a:gd name="connsiteY2" fmla="*/ 787856 h 948128"/>
                  <a:gd name="connsiteX3" fmla="*/ 270752 w 526361"/>
                  <a:gd name="connsiteY3" fmla="*/ 0 h 948128"/>
                </a:gdLst>
                <a:ahLst/>
                <a:cxnLst>
                  <a:cxn ang="0">
                    <a:pos x="connsiteX0" y="connsiteY0"/>
                  </a:cxn>
                  <a:cxn ang="0">
                    <a:pos x="connsiteX1" y="connsiteY1"/>
                  </a:cxn>
                  <a:cxn ang="0">
                    <a:pos x="connsiteX2" y="connsiteY2"/>
                  </a:cxn>
                  <a:cxn ang="0">
                    <a:pos x="connsiteX3" y="connsiteY3"/>
                  </a:cxn>
                </a:cxnLst>
                <a:rect l="l" t="t" r="r" b="b"/>
                <a:pathLst>
                  <a:path w="526361" h="948128">
                    <a:moveTo>
                      <a:pt x="270752" y="0"/>
                    </a:moveTo>
                    <a:lnTo>
                      <a:pt x="526361" y="948128"/>
                    </a:lnTo>
                    <a:lnTo>
                      <a:pt x="0" y="787856"/>
                    </a:lnTo>
                    <a:lnTo>
                      <a:pt x="270752" y="0"/>
                    </a:lnTo>
                    <a:close/>
                  </a:path>
                </a:pathLst>
              </a:custGeom>
              <a:grp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2" name="熊大的PPT宝库5-5"/>
              <p:cNvSpPr/>
              <p:nvPr/>
            </p:nvSpPr>
            <p:spPr>
              <a:xfrm rot="896973">
                <a:off x="1050538" y="2998781"/>
                <a:ext cx="916876" cy="829636"/>
              </a:xfrm>
              <a:custGeom>
                <a:avLst/>
                <a:gdLst>
                  <a:gd name="connsiteX0" fmla="*/ 189168 w 916876"/>
                  <a:gd name="connsiteY0" fmla="*/ 0 h 829636"/>
                  <a:gd name="connsiteX1" fmla="*/ 738289 w 916876"/>
                  <a:gd name="connsiteY1" fmla="*/ 167202 h 829636"/>
                  <a:gd name="connsiteX2" fmla="*/ 916876 w 916876"/>
                  <a:gd name="connsiteY2" fmla="*/ 829636 h 829636"/>
                  <a:gd name="connsiteX3" fmla="*/ 0 w 916876"/>
                  <a:gd name="connsiteY3" fmla="*/ 550454 h 829636"/>
                  <a:gd name="connsiteX4" fmla="*/ 189168 w 916876"/>
                  <a:gd name="connsiteY4" fmla="*/ 0 h 829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6876" h="829636">
                    <a:moveTo>
                      <a:pt x="189168" y="0"/>
                    </a:moveTo>
                    <a:lnTo>
                      <a:pt x="738289" y="167202"/>
                    </a:lnTo>
                    <a:lnTo>
                      <a:pt x="916876" y="829636"/>
                    </a:lnTo>
                    <a:lnTo>
                      <a:pt x="0" y="550454"/>
                    </a:lnTo>
                    <a:lnTo>
                      <a:pt x="189168" y="0"/>
                    </a:lnTo>
                    <a:close/>
                  </a:path>
                </a:pathLst>
              </a:custGeom>
              <a:grp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3" name="熊大的PPT宝库5-6"/>
              <p:cNvSpPr/>
              <p:nvPr/>
            </p:nvSpPr>
            <p:spPr>
              <a:xfrm rot="896973">
                <a:off x="664474" y="3562595"/>
                <a:ext cx="1346116" cy="1091655"/>
              </a:xfrm>
              <a:custGeom>
                <a:avLst/>
                <a:gdLst>
                  <a:gd name="connsiteX0" fmla="*/ 189311 w 1346116"/>
                  <a:gd name="connsiteY0" fmla="*/ 0 h 1091655"/>
                  <a:gd name="connsiteX1" fmla="*/ 1128947 w 1346116"/>
                  <a:gd name="connsiteY1" fmla="*/ 286111 h 1091655"/>
                  <a:gd name="connsiteX2" fmla="*/ 1346116 w 1346116"/>
                  <a:gd name="connsiteY2" fmla="*/ 1091655 h 1091655"/>
                  <a:gd name="connsiteX3" fmla="*/ 0 w 1346116"/>
                  <a:gd name="connsiteY3" fmla="*/ 550870 h 1091655"/>
                  <a:gd name="connsiteX4" fmla="*/ 189311 w 1346116"/>
                  <a:gd name="connsiteY4" fmla="*/ 0 h 1091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6116" h="1091655">
                    <a:moveTo>
                      <a:pt x="189311" y="0"/>
                    </a:moveTo>
                    <a:lnTo>
                      <a:pt x="1128947" y="286111"/>
                    </a:lnTo>
                    <a:lnTo>
                      <a:pt x="1346116" y="1091655"/>
                    </a:lnTo>
                    <a:lnTo>
                      <a:pt x="0" y="550870"/>
                    </a:lnTo>
                    <a:lnTo>
                      <a:pt x="189311" y="0"/>
                    </a:lnTo>
                    <a:close/>
                  </a:path>
                </a:pathLst>
              </a:custGeom>
              <a:grp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pSp>
      </p:grpSp>
      <p:sp>
        <p:nvSpPr>
          <p:cNvPr id="29" name="熊大的PPT宝库6"/>
          <p:cNvSpPr txBox="1"/>
          <p:nvPr/>
        </p:nvSpPr>
        <p:spPr>
          <a:xfrm>
            <a:off x="1715837" y="1535524"/>
            <a:ext cx="307777"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头部</a:t>
            </a:r>
          </a:p>
        </p:txBody>
      </p:sp>
      <p:sp>
        <p:nvSpPr>
          <p:cNvPr id="30" name="熊大的PPT宝库7"/>
          <p:cNvSpPr txBox="1"/>
          <p:nvPr/>
        </p:nvSpPr>
        <p:spPr>
          <a:xfrm>
            <a:off x="2182548" y="2076656"/>
            <a:ext cx="307777"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腰部</a:t>
            </a:r>
          </a:p>
        </p:txBody>
      </p:sp>
      <p:sp>
        <p:nvSpPr>
          <p:cNvPr id="31" name="熊大的PPT宝库8"/>
          <p:cNvSpPr txBox="1"/>
          <p:nvPr/>
        </p:nvSpPr>
        <p:spPr>
          <a:xfrm>
            <a:off x="2422320" y="2594611"/>
            <a:ext cx="307777"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尾部</a:t>
            </a:r>
          </a:p>
        </p:txBody>
      </p:sp>
      <p:sp>
        <p:nvSpPr>
          <p:cNvPr id="32" name="熊大的PPT宝库9"/>
          <p:cNvSpPr/>
          <p:nvPr/>
        </p:nvSpPr>
        <p:spPr>
          <a:xfrm rot="6651306" flipH="1">
            <a:off x="2002997" y="2214716"/>
            <a:ext cx="379399" cy="447243"/>
          </a:xfrm>
          <a:custGeom>
            <a:avLst/>
            <a:gdLst>
              <a:gd name="connsiteX0" fmla="*/ 654803 w 765798"/>
              <a:gd name="connsiteY0" fmla="*/ 464746 h 771367"/>
              <a:gd name="connsiteX1" fmla="*/ 653019 w 765798"/>
              <a:gd name="connsiteY1" fmla="*/ 459191 h 771367"/>
              <a:gd name="connsiteX2" fmla="*/ 601722 w 765798"/>
              <a:gd name="connsiteY2" fmla="*/ 340959 h 771367"/>
              <a:gd name="connsiteX3" fmla="*/ 594109 w 765798"/>
              <a:gd name="connsiteY3" fmla="*/ 326866 h 771367"/>
              <a:gd name="connsiteX4" fmla="*/ 585845 w 765798"/>
              <a:gd name="connsiteY4" fmla="*/ 313116 h 771367"/>
              <a:gd name="connsiteX5" fmla="*/ 568906 w 765798"/>
              <a:gd name="connsiteY5" fmla="*/ 286061 h 771367"/>
              <a:gd name="connsiteX6" fmla="*/ 530947 w 765798"/>
              <a:gd name="connsiteY6" fmla="*/ 235003 h 771367"/>
              <a:gd name="connsiteX7" fmla="*/ 488941 w 765798"/>
              <a:gd name="connsiteY7" fmla="*/ 187957 h 771367"/>
              <a:gd name="connsiteX8" fmla="*/ 483523 w 765798"/>
              <a:gd name="connsiteY8" fmla="*/ 182299 h 771367"/>
              <a:gd name="connsiteX9" fmla="*/ 477729 w 765798"/>
              <a:gd name="connsiteY9" fmla="*/ 176984 h 771367"/>
              <a:gd name="connsiteX10" fmla="*/ 466173 w 765798"/>
              <a:gd name="connsiteY10" fmla="*/ 166389 h 771367"/>
              <a:gd name="connsiteX11" fmla="*/ 454651 w 765798"/>
              <a:gd name="connsiteY11" fmla="*/ 155862 h 771367"/>
              <a:gd name="connsiteX12" fmla="*/ 442822 w 765798"/>
              <a:gd name="connsiteY12" fmla="*/ 145746 h 771367"/>
              <a:gd name="connsiteX13" fmla="*/ 341186 w 765798"/>
              <a:gd name="connsiteY13" fmla="*/ 76652 h 771367"/>
              <a:gd name="connsiteX14" fmla="*/ 230327 w 765798"/>
              <a:gd name="connsiteY14" fmla="*/ 29778 h 771367"/>
              <a:gd name="connsiteX15" fmla="*/ 0 w 765798"/>
              <a:gd name="connsiteY15" fmla="*/ 1180 h 771367"/>
              <a:gd name="connsiteX16" fmla="*/ 209203 w 765798"/>
              <a:gd name="connsiteY16" fmla="*/ 77646 h 771367"/>
              <a:gd name="connsiteX17" fmla="*/ 296541 w 765798"/>
              <a:gd name="connsiteY17" fmla="*/ 141186 h 771367"/>
              <a:gd name="connsiteX18" fmla="*/ 367932 w 765798"/>
              <a:gd name="connsiteY18" fmla="*/ 218818 h 771367"/>
              <a:gd name="connsiteX19" fmla="*/ 375613 w 765798"/>
              <a:gd name="connsiteY19" fmla="*/ 229311 h 771367"/>
              <a:gd name="connsiteX20" fmla="*/ 382917 w 765798"/>
              <a:gd name="connsiteY20" fmla="*/ 240044 h 771367"/>
              <a:gd name="connsiteX21" fmla="*/ 390186 w 765798"/>
              <a:gd name="connsiteY21" fmla="*/ 250708 h 771367"/>
              <a:gd name="connsiteX22" fmla="*/ 393821 w 765798"/>
              <a:gd name="connsiteY22" fmla="*/ 256023 h 771367"/>
              <a:gd name="connsiteX23" fmla="*/ 397078 w 765798"/>
              <a:gd name="connsiteY23" fmla="*/ 261612 h 771367"/>
              <a:gd name="connsiteX24" fmla="*/ 421493 w 765798"/>
              <a:gd name="connsiteY24" fmla="*/ 306635 h 771367"/>
              <a:gd name="connsiteX25" fmla="*/ 441587 w 765798"/>
              <a:gd name="connsiteY25" fmla="*/ 353167 h 771367"/>
              <a:gd name="connsiteX26" fmla="*/ 449680 w 765798"/>
              <a:gd name="connsiteY26" fmla="*/ 377101 h 771367"/>
              <a:gd name="connsiteX27" fmla="*/ 453520 w 765798"/>
              <a:gd name="connsiteY27" fmla="*/ 389034 h 771367"/>
              <a:gd name="connsiteX28" fmla="*/ 456743 w 765798"/>
              <a:gd name="connsiteY28" fmla="*/ 401207 h 771367"/>
              <a:gd name="connsiteX29" fmla="*/ 470562 w 765798"/>
              <a:gd name="connsiteY29" fmla="*/ 467524 h 771367"/>
              <a:gd name="connsiteX30" fmla="*/ 361211 w 765798"/>
              <a:gd name="connsiteY30" fmla="*/ 475479 h 771367"/>
              <a:gd name="connsiteX31" fmla="*/ 529404 w 765798"/>
              <a:gd name="connsiteY31" fmla="*/ 716744 h 771367"/>
              <a:gd name="connsiteX32" fmla="*/ 564688 w 765798"/>
              <a:gd name="connsiteY32" fmla="*/ 770339 h 771367"/>
              <a:gd name="connsiteX33" fmla="*/ 565717 w 765798"/>
              <a:gd name="connsiteY33" fmla="*/ 768830 h 771367"/>
              <a:gd name="connsiteX34" fmla="*/ 567500 w 765798"/>
              <a:gd name="connsiteY34" fmla="*/ 771367 h 771367"/>
              <a:gd name="connsiteX35" fmla="*/ 625896 w 765798"/>
              <a:gd name="connsiteY35" fmla="*/ 679230 h 771367"/>
              <a:gd name="connsiteX36" fmla="*/ 765799 w 765798"/>
              <a:gd name="connsiteY36" fmla="*/ 470918 h 771367"/>
              <a:gd name="connsiteX37" fmla="*/ 654803 w 765798"/>
              <a:gd name="connsiteY37" fmla="*/ 464746 h 771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5798" h="771367">
                <a:moveTo>
                  <a:pt x="654803" y="464746"/>
                </a:moveTo>
                <a:cubicBezTo>
                  <a:pt x="654219" y="462895"/>
                  <a:pt x="653636" y="461043"/>
                  <a:pt x="653019" y="459191"/>
                </a:cubicBezTo>
                <a:cubicBezTo>
                  <a:pt x="639441" y="418112"/>
                  <a:pt x="622124" y="378541"/>
                  <a:pt x="601722" y="340959"/>
                </a:cubicBezTo>
                <a:lnTo>
                  <a:pt x="594109" y="326866"/>
                </a:lnTo>
                <a:cubicBezTo>
                  <a:pt x="591537" y="322203"/>
                  <a:pt x="588588" y="317711"/>
                  <a:pt x="585845" y="313116"/>
                </a:cubicBezTo>
                <a:cubicBezTo>
                  <a:pt x="580188" y="304063"/>
                  <a:pt x="574838" y="294874"/>
                  <a:pt x="568906" y="286061"/>
                </a:cubicBezTo>
                <a:cubicBezTo>
                  <a:pt x="556596" y="268607"/>
                  <a:pt x="544766" y="251119"/>
                  <a:pt x="530947" y="235003"/>
                </a:cubicBezTo>
                <a:cubicBezTo>
                  <a:pt x="518088" y="218270"/>
                  <a:pt x="503240" y="203148"/>
                  <a:pt x="488941" y="187957"/>
                </a:cubicBezTo>
                <a:cubicBezTo>
                  <a:pt x="487124" y="186071"/>
                  <a:pt x="485409" y="184117"/>
                  <a:pt x="483523" y="182299"/>
                </a:cubicBezTo>
                <a:lnTo>
                  <a:pt x="477729" y="176984"/>
                </a:lnTo>
                <a:lnTo>
                  <a:pt x="466173" y="166389"/>
                </a:lnTo>
                <a:lnTo>
                  <a:pt x="454651" y="155862"/>
                </a:lnTo>
                <a:cubicBezTo>
                  <a:pt x="450846" y="152330"/>
                  <a:pt x="447005" y="148867"/>
                  <a:pt x="442822" y="145746"/>
                </a:cubicBezTo>
                <a:cubicBezTo>
                  <a:pt x="410657" y="119514"/>
                  <a:pt x="376779" y="96232"/>
                  <a:pt x="341186" y="76652"/>
                </a:cubicBezTo>
                <a:cubicBezTo>
                  <a:pt x="305353" y="57450"/>
                  <a:pt x="268183" y="41745"/>
                  <a:pt x="230327" y="29778"/>
                </a:cubicBezTo>
                <a:cubicBezTo>
                  <a:pt x="154545" y="5946"/>
                  <a:pt x="76124" y="-3552"/>
                  <a:pt x="0" y="1180"/>
                </a:cubicBezTo>
                <a:cubicBezTo>
                  <a:pt x="75164" y="13867"/>
                  <a:pt x="146419" y="40476"/>
                  <a:pt x="209203" y="77646"/>
                </a:cubicBezTo>
                <a:cubicBezTo>
                  <a:pt x="240614" y="96266"/>
                  <a:pt x="269794" y="117697"/>
                  <a:pt x="296541" y="141186"/>
                </a:cubicBezTo>
                <a:cubicBezTo>
                  <a:pt x="323047" y="165086"/>
                  <a:pt x="346707" y="191318"/>
                  <a:pt x="367932" y="218818"/>
                </a:cubicBezTo>
                <a:cubicBezTo>
                  <a:pt x="370744" y="222076"/>
                  <a:pt x="373213" y="225711"/>
                  <a:pt x="375613" y="229311"/>
                </a:cubicBezTo>
                <a:lnTo>
                  <a:pt x="382917" y="240044"/>
                </a:lnTo>
                <a:lnTo>
                  <a:pt x="390186" y="250708"/>
                </a:lnTo>
                <a:lnTo>
                  <a:pt x="393821" y="256023"/>
                </a:lnTo>
                <a:cubicBezTo>
                  <a:pt x="394987" y="257840"/>
                  <a:pt x="395982" y="259761"/>
                  <a:pt x="397078" y="261612"/>
                </a:cubicBezTo>
                <a:cubicBezTo>
                  <a:pt x="405617" y="276597"/>
                  <a:pt x="414532" y="290999"/>
                  <a:pt x="421493" y="306635"/>
                </a:cubicBezTo>
                <a:cubicBezTo>
                  <a:pt x="429346" y="321620"/>
                  <a:pt x="435244" y="337667"/>
                  <a:pt x="441587" y="353167"/>
                </a:cubicBezTo>
                <a:cubicBezTo>
                  <a:pt x="444536" y="361053"/>
                  <a:pt x="446936" y="369180"/>
                  <a:pt x="449680" y="377101"/>
                </a:cubicBezTo>
                <a:cubicBezTo>
                  <a:pt x="450948" y="381113"/>
                  <a:pt x="452423" y="384988"/>
                  <a:pt x="453520" y="389034"/>
                </a:cubicBezTo>
                <a:lnTo>
                  <a:pt x="456743" y="401207"/>
                </a:lnTo>
                <a:cubicBezTo>
                  <a:pt x="462676" y="423118"/>
                  <a:pt x="467304" y="445269"/>
                  <a:pt x="470562" y="467524"/>
                </a:cubicBezTo>
                <a:lnTo>
                  <a:pt x="361211" y="475479"/>
                </a:lnTo>
                <a:lnTo>
                  <a:pt x="529404" y="716744"/>
                </a:lnTo>
                <a:lnTo>
                  <a:pt x="564688" y="770339"/>
                </a:lnTo>
                <a:lnTo>
                  <a:pt x="565717" y="768830"/>
                </a:lnTo>
                <a:lnTo>
                  <a:pt x="567500" y="771367"/>
                </a:lnTo>
                <a:lnTo>
                  <a:pt x="625896" y="679230"/>
                </a:lnTo>
                <a:lnTo>
                  <a:pt x="765799" y="470918"/>
                </a:lnTo>
                <a:lnTo>
                  <a:pt x="654803" y="464746"/>
                </a:lnTo>
                <a:close/>
              </a:path>
            </a:pathLst>
          </a:custGeom>
          <a:gradFill>
            <a:gsLst>
              <a:gs pos="100000">
                <a:schemeClr val="accent1">
                  <a:lumMod val="20000"/>
                  <a:lumOff val="80000"/>
                </a:schemeClr>
              </a:gs>
              <a:gs pos="0">
                <a:schemeClr val="accent1"/>
              </a:gs>
            </a:gsLst>
            <a:path path="circle">
              <a:fillToRect l="100000" t="100000"/>
            </a:path>
          </a:gradFill>
          <a:ln w="3429" cap="flat">
            <a:noFill/>
            <a:prstDash val="solid"/>
            <a:miter/>
          </a:ln>
        </p:spPr>
        <p:txBody>
          <a:bodyPr wrap="square"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3" name="熊大的PPT宝库10"/>
          <p:cNvSpPr/>
          <p:nvPr/>
        </p:nvSpPr>
        <p:spPr>
          <a:xfrm rot="6651306" flipH="1">
            <a:off x="1640513" y="1711995"/>
            <a:ext cx="379399" cy="447243"/>
          </a:xfrm>
          <a:custGeom>
            <a:avLst/>
            <a:gdLst>
              <a:gd name="connsiteX0" fmla="*/ 654803 w 765798"/>
              <a:gd name="connsiteY0" fmla="*/ 464746 h 771367"/>
              <a:gd name="connsiteX1" fmla="*/ 653019 w 765798"/>
              <a:gd name="connsiteY1" fmla="*/ 459191 h 771367"/>
              <a:gd name="connsiteX2" fmla="*/ 601722 w 765798"/>
              <a:gd name="connsiteY2" fmla="*/ 340959 h 771367"/>
              <a:gd name="connsiteX3" fmla="*/ 594109 w 765798"/>
              <a:gd name="connsiteY3" fmla="*/ 326866 h 771367"/>
              <a:gd name="connsiteX4" fmla="*/ 585845 w 765798"/>
              <a:gd name="connsiteY4" fmla="*/ 313116 h 771367"/>
              <a:gd name="connsiteX5" fmla="*/ 568906 w 765798"/>
              <a:gd name="connsiteY5" fmla="*/ 286061 h 771367"/>
              <a:gd name="connsiteX6" fmla="*/ 530947 w 765798"/>
              <a:gd name="connsiteY6" fmla="*/ 235003 h 771367"/>
              <a:gd name="connsiteX7" fmla="*/ 488941 w 765798"/>
              <a:gd name="connsiteY7" fmla="*/ 187957 h 771367"/>
              <a:gd name="connsiteX8" fmla="*/ 483523 w 765798"/>
              <a:gd name="connsiteY8" fmla="*/ 182299 h 771367"/>
              <a:gd name="connsiteX9" fmla="*/ 477729 w 765798"/>
              <a:gd name="connsiteY9" fmla="*/ 176984 h 771367"/>
              <a:gd name="connsiteX10" fmla="*/ 466173 w 765798"/>
              <a:gd name="connsiteY10" fmla="*/ 166389 h 771367"/>
              <a:gd name="connsiteX11" fmla="*/ 454651 w 765798"/>
              <a:gd name="connsiteY11" fmla="*/ 155862 h 771367"/>
              <a:gd name="connsiteX12" fmla="*/ 442822 w 765798"/>
              <a:gd name="connsiteY12" fmla="*/ 145746 h 771367"/>
              <a:gd name="connsiteX13" fmla="*/ 341186 w 765798"/>
              <a:gd name="connsiteY13" fmla="*/ 76652 h 771367"/>
              <a:gd name="connsiteX14" fmla="*/ 230327 w 765798"/>
              <a:gd name="connsiteY14" fmla="*/ 29778 h 771367"/>
              <a:gd name="connsiteX15" fmla="*/ 0 w 765798"/>
              <a:gd name="connsiteY15" fmla="*/ 1180 h 771367"/>
              <a:gd name="connsiteX16" fmla="*/ 209203 w 765798"/>
              <a:gd name="connsiteY16" fmla="*/ 77646 h 771367"/>
              <a:gd name="connsiteX17" fmla="*/ 296541 w 765798"/>
              <a:gd name="connsiteY17" fmla="*/ 141186 h 771367"/>
              <a:gd name="connsiteX18" fmla="*/ 367932 w 765798"/>
              <a:gd name="connsiteY18" fmla="*/ 218818 h 771367"/>
              <a:gd name="connsiteX19" fmla="*/ 375613 w 765798"/>
              <a:gd name="connsiteY19" fmla="*/ 229311 h 771367"/>
              <a:gd name="connsiteX20" fmla="*/ 382917 w 765798"/>
              <a:gd name="connsiteY20" fmla="*/ 240044 h 771367"/>
              <a:gd name="connsiteX21" fmla="*/ 390186 w 765798"/>
              <a:gd name="connsiteY21" fmla="*/ 250708 h 771367"/>
              <a:gd name="connsiteX22" fmla="*/ 393821 w 765798"/>
              <a:gd name="connsiteY22" fmla="*/ 256023 h 771367"/>
              <a:gd name="connsiteX23" fmla="*/ 397078 w 765798"/>
              <a:gd name="connsiteY23" fmla="*/ 261612 h 771367"/>
              <a:gd name="connsiteX24" fmla="*/ 421493 w 765798"/>
              <a:gd name="connsiteY24" fmla="*/ 306635 h 771367"/>
              <a:gd name="connsiteX25" fmla="*/ 441587 w 765798"/>
              <a:gd name="connsiteY25" fmla="*/ 353167 h 771367"/>
              <a:gd name="connsiteX26" fmla="*/ 449680 w 765798"/>
              <a:gd name="connsiteY26" fmla="*/ 377101 h 771367"/>
              <a:gd name="connsiteX27" fmla="*/ 453520 w 765798"/>
              <a:gd name="connsiteY27" fmla="*/ 389034 h 771367"/>
              <a:gd name="connsiteX28" fmla="*/ 456743 w 765798"/>
              <a:gd name="connsiteY28" fmla="*/ 401207 h 771367"/>
              <a:gd name="connsiteX29" fmla="*/ 470562 w 765798"/>
              <a:gd name="connsiteY29" fmla="*/ 467524 h 771367"/>
              <a:gd name="connsiteX30" fmla="*/ 361211 w 765798"/>
              <a:gd name="connsiteY30" fmla="*/ 475479 h 771367"/>
              <a:gd name="connsiteX31" fmla="*/ 529404 w 765798"/>
              <a:gd name="connsiteY31" fmla="*/ 716744 h 771367"/>
              <a:gd name="connsiteX32" fmla="*/ 564688 w 765798"/>
              <a:gd name="connsiteY32" fmla="*/ 770339 h 771367"/>
              <a:gd name="connsiteX33" fmla="*/ 565717 w 765798"/>
              <a:gd name="connsiteY33" fmla="*/ 768830 h 771367"/>
              <a:gd name="connsiteX34" fmla="*/ 567500 w 765798"/>
              <a:gd name="connsiteY34" fmla="*/ 771367 h 771367"/>
              <a:gd name="connsiteX35" fmla="*/ 625896 w 765798"/>
              <a:gd name="connsiteY35" fmla="*/ 679230 h 771367"/>
              <a:gd name="connsiteX36" fmla="*/ 765799 w 765798"/>
              <a:gd name="connsiteY36" fmla="*/ 470918 h 771367"/>
              <a:gd name="connsiteX37" fmla="*/ 654803 w 765798"/>
              <a:gd name="connsiteY37" fmla="*/ 464746 h 771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5798" h="771367">
                <a:moveTo>
                  <a:pt x="654803" y="464746"/>
                </a:moveTo>
                <a:cubicBezTo>
                  <a:pt x="654219" y="462895"/>
                  <a:pt x="653636" y="461043"/>
                  <a:pt x="653019" y="459191"/>
                </a:cubicBezTo>
                <a:cubicBezTo>
                  <a:pt x="639441" y="418112"/>
                  <a:pt x="622124" y="378541"/>
                  <a:pt x="601722" y="340959"/>
                </a:cubicBezTo>
                <a:lnTo>
                  <a:pt x="594109" y="326866"/>
                </a:lnTo>
                <a:cubicBezTo>
                  <a:pt x="591537" y="322203"/>
                  <a:pt x="588588" y="317711"/>
                  <a:pt x="585845" y="313116"/>
                </a:cubicBezTo>
                <a:cubicBezTo>
                  <a:pt x="580188" y="304063"/>
                  <a:pt x="574838" y="294874"/>
                  <a:pt x="568906" y="286061"/>
                </a:cubicBezTo>
                <a:cubicBezTo>
                  <a:pt x="556596" y="268607"/>
                  <a:pt x="544766" y="251119"/>
                  <a:pt x="530947" y="235003"/>
                </a:cubicBezTo>
                <a:cubicBezTo>
                  <a:pt x="518088" y="218270"/>
                  <a:pt x="503240" y="203148"/>
                  <a:pt x="488941" y="187957"/>
                </a:cubicBezTo>
                <a:cubicBezTo>
                  <a:pt x="487124" y="186071"/>
                  <a:pt x="485409" y="184117"/>
                  <a:pt x="483523" y="182299"/>
                </a:cubicBezTo>
                <a:lnTo>
                  <a:pt x="477729" y="176984"/>
                </a:lnTo>
                <a:lnTo>
                  <a:pt x="466173" y="166389"/>
                </a:lnTo>
                <a:lnTo>
                  <a:pt x="454651" y="155862"/>
                </a:lnTo>
                <a:cubicBezTo>
                  <a:pt x="450846" y="152330"/>
                  <a:pt x="447005" y="148867"/>
                  <a:pt x="442822" y="145746"/>
                </a:cubicBezTo>
                <a:cubicBezTo>
                  <a:pt x="410657" y="119514"/>
                  <a:pt x="376779" y="96232"/>
                  <a:pt x="341186" y="76652"/>
                </a:cubicBezTo>
                <a:cubicBezTo>
                  <a:pt x="305353" y="57450"/>
                  <a:pt x="268183" y="41745"/>
                  <a:pt x="230327" y="29778"/>
                </a:cubicBezTo>
                <a:cubicBezTo>
                  <a:pt x="154545" y="5946"/>
                  <a:pt x="76124" y="-3552"/>
                  <a:pt x="0" y="1180"/>
                </a:cubicBezTo>
                <a:cubicBezTo>
                  <a:pt x="75164" y="13867"/>
                  <a:pt x="146419" y="40476"/>
                  <a:pt x="209203" y="77646"/>
                </a:cubicBezTo>
                <a:cubicBezTo>
                  <a:pt x="240614" y="96266"/>
                  <a:pt x="269794" y="117697"/>
                  <a:pt x="296541" y="141186"/>
                </a:cubicBezTo>
                <a:cubicBezTo>
                  <a:pt x="323047" y="165086"/>
                  <a:pt x="346707" y="191318"/>
                  <a:pt x="367932" y="218818"/>
                </a:cubicBezTo>
                <a:cubicBezTo>
                  <a:pt x="370744" y="222076"/>
                  <a:pt x="373213" y="225711"/>
                  <a:pt x="375613" y="229311"/>
                </a:cubicBezTo>
                <a:lnTo>
                  <a:pt x="382917" y="240044"/>
                </a:lnTo>
                <a:lnTo>
                  <a:pt x="390186" y="250708"/>
                </a:lnTo>
                <a:lnTo>
                  <a:pt x="393821" y="256023"/>
                </a:lnTo>
                <a:cubicBezTo>
                  <a:pt x="394987" y="257840"/>
                  <a:pt x="395982" y="259761"/>
                  <a:pt x="397078" y="261612"/>
                </a:cubicBezTo>
                <a:cubicBezTo>
                  <a:pt x="405617" y="276597"/>
                  <a:pt x="414532" y="290999"/>
                  <a:pt x="421493" y="306635"/>
                </a:cubicBezTo>
                <a:cubicBezTo>
                  <a:pt x="429346" y="321620"/>
                  <a:pt x="435244" y="337667"/>
                  <a:pt x="441587" y="353167"/>
                </a:cubicBezTo>
                <a:cubicBezTo>
                  <a:pt x="444536" y="361053"/>
                  <a:pt x="446936" y="369180"/>
                  <a:pt x="449680" y="377101"/>
                </a:cubicBezTo>
                <a:cubicBezTo>
                  <a:pt x="450948" y="381113"/>
                  <a:pt x="452423" y="384988"/>
                  <a:pt x="453520" y="389034"/>
                </a:cubicBezTo>
                <a:lnTo>
                  <a:pt x="456743" y="401207"/>
                </a:lnTo>
                <a:cubicBezTo>
                  <a:pt x="462676" y="423118"/>
                  <a:pt x="467304" y="445269"/>
                  <a:pt x="470562" y="467524"/>
                </a:cubicBezTo>
                <a:lnTo>
                  <a:pt x="361211" y="475479"/>
                </a:lnTo>
                <a:lnTo>
                  <a:pt x="529404" y="716744"/>
                </a:lnTo>
                <a:lnTo>
                  <a:pt x="564688" y="770339"/>
                </a:lnTo>
                <a:lnTo>
                  <a:pt x="565717" y="768830"/>
                </a:lnTo>
                <a:lnTo>
                  <a:pt x="567500" y="771367"/>
                </a:lnTo>
                <a:lnTo>
                  <a:pt x="625896" y="679230"/>
                </a:lnTo>
                <a:lnTo>
                  <a:pt x="765799" y="470918"/>
                </a:lnTo>
                <a:lnTo>
                  <a:pt x="654803" y="464746"/>
                </a:lnTo>
                <a:close/>
              </a:path>
            </a:pathLst>
          </a:custGeom>
          <a:gradFill>
            <a:gsLst>
              <a:gs pos="100000">
                <a:schemeClr val="accent1">
                  <a:lumMod val="20000"/>
                  <a:lumOff val="80000"/>
                </a:schemeClr>
              </a:gs>
              <a:gs pos="0">
                <a:schemeClr val="accent1"/>
              </a:gs>
            </a:gsLst>
            <a:path path="circle">
              <a:fillToRect l="100000" t="100000"/>
            </a:path>
          </a:gradFill>
          <a:ln w="3429" cap="flat">
            <a:noFill/>
            <a:prstDash val="solid"/>
            <a:miter/>
          </a:ln>
        </p:spPr>
        <p:txBody>
          <a:bodyPr wrap="square"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35" name="熊大的PPT宝库11"/>
          <p:cNvSpPr txBox="1"/>
          <p:nvPr/>
        </p:nvSpPr>
        <p:spPr>
          <a:xfrm>
            <a:off x="2733311" y="1242771"/>
            <a:ext cx="1256754" cy="43088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cs typeface="+mn-ea"/>
                <a:sym typeface="+mn-lt"/>
              </a:rPr>
              <a:t>按照商家等级来</a:t>
            </a:r>
            <a:endParaRPr kumimoji="0" lang="en-US" altLang="zh-CN" sz="1400" b="0" i="0" u="none" strike="noStrike" kern="1200" cap="none" spc="0" normalizeH="0" baseline="0" noProof="0" dirty="0">
              <a:ln>
                <a:noFill/>
              </a:ln>
              <a:solidFill>
                <a:srgbClr val="00329D"/>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cs typeface="+mn-ea"/>
                <a:sym typeface="+mn-lt"/>
              </a:rPr>
              <a:t>进行划分</a:t>
            </a:r>
          </a:p>
        </p:txBody>
      </p:sp>
      <p:sp>
        <p:nvSpPr>
          <p:cNvPr id="37" name="熊大的PPT宝库12"/>
          <p:cNvSpPr txBox="1"/>
          <p:nvPr/>
        </p:nvSpPr>
        <p:spPr>
          <a:xfrm>
            <a:off x="2746612" y="1748913"/>
            <a:ext cx="1256754" cy="738664"/>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快手平台上的达人，分为新引入达人，尾部达人，腰部达人，头部达人等。</a:t>
            </a:r>
          </a:p>
        </p:txBody>
      </p:sp>
      <p:sp>
        <p:nvSpPr>
          <p:cNvPr id="38" name="熊大的PPT宝库13"/>
          <p:cNvSpPr txBox="1"/>
          <p:nvPr/>
        </p:nvSpPr>
        <p:spPr>
          <a:xfrm>
            <a:off x="513127" y="4066272"/>
            <a:ext cx="1721625" cy="43088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cs typeface="+mn-ea"/>
                <a:sym typeface="+mn-lt"/>
              </a:rPr>
              <a:t>从流量</a:t>
            </a:r>
            <a:r>
              <a:rPr kumimoji="0" lang="en-US" altLang="zh-CN" sz="1400" b="0" i="0" u="none" strike="noStrike" kern="1200" cap="none" spc="0" normalizeH="0" baseline="0" noProof="0" dirty="0">
                <a:ln>
                  <a:noFill/>
                </a:ln>
                <a:solidFill>
                  <a:srgbClr val="00329D"/>
                </a:solidFill>
                <a:effectLst/>
                <a:uLnTx/>
                <a:uFillTx/>
                <a:cs typeface="+mn-ea"/>
                <a:sym typeface="+mn-lt"/>
              </a:rPr>
              <a:t>x</a:t>
            </a:r>
            <a:r>
              <a:rPr kumimoji="0" lang="zh-CN" altLang="en-US" sz="1400" b="0" i="0" u="none" strike="noStrike" kern="1200" cap="none" spc="0" normalizeH="0" baseline="0" noProof="0" dirty="0">
                <a:ln>
                  <a:noFill/>
                </a:ln>
                <a:solidFill>
                  <a:srgbClr val="00329D"/>
                </a:solidFill>
                <a:effectLst/>
                <a:uLnTx/>
                <a:uFillTx/>
                <a:cs typeface="+mn-ea"/>
                <a:sym typeface="+mn-lt"/>
              </a:rPr>
              <a:t>内容属性展面</a:t>
            </a:r>
            <a:endParaRPr kumimoji="0" lang="en-US" altLang="zh-CN" sz="1400" b="0" i="0" u="none" strike="noStrike" kern="1200" cap="none" spc="0" normalizeH="0" baseline="0" noProof="0" dirty="0">
              <a:ln>
                <a:noFill/>
              </a:ln>
              <a:solidFill>
                <a:srgbClr val="00329D"/>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solidFill>
                <a:effectLst/>
                <a:uLnTx/>
                <a:uFillTx/>
                <a:cs typeface="+mn-ea"/>
                <a:sym typeface="+mn-lt"/>
              </a:rPr>
              <a:t>进行划分</a:t>
            </a:r>
          </a:p>
        </p:txBody>
      </p:sp>
      <p:sp>
        <p:nvSpPr>
          <p:cNvPr id="39" name="熊大的PPT宝库14"/>
          <p:cNvSpPr txBox="1"/>
          <p:nvPr/>
        </p:nvSpPr>
        <p:spPr>
          <a:xfrm>
            <a:off x="513127" y="4749770"/>
            <a:ext cx="1133171" cy="923330"/>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可将达人分为职业电商达人，垂直电商达人，娱乐电商达人，种草型达人共四类。</a:t>
            </a:r>
          </a:p>
        </p:txBody>
      </p:sp>
      <p:grpSp>
        <p:nvGrpSpPr>
          <p:cNvPr id="140" name="熊大的PPT宝库15"/>
          <p:cNvGrpSpPr/>
          <p:nvPr/>
        </p:nvGrpSpPr>
        <p:grpSpPr>
          <a:xfrm>
            <a:off x="1729259" y="4216834"/>
            <a:ext cx="2417714" cy="2023865"/>
            <a:chOff x="1729259" y="4216834"/>
            <a:chExt cx="2417714" cy="2023865"/>
          </a:xfrm>
        </p:grpSpPr>
        <p:sp>
          <p:nvSpPr>
            <p:cNvPr id="43" name="熊大的PPT宝库15-1"/>
            <p:cNvSpPr/>
            <p:nvPr/>
          </p:nvSpPr>
          <p:spPr>
            <a:xfrm>
              <a:off x="2469555" y="4788066"/>
              <a:ext cx="891468" cy="891468"/>
            </a:xfrm>
            <a:prstGeom prst="ellipse">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cxnSp>
          <p:nvCxnSpPr>
            <p:cNvPr id="41" name="熊大的PPT宝库15-2"/>
            <p:cNvCxnSpPr/>
            <p:nvPr/>
          </p:nvCxnSpPr>
          <p:spPr>
            <a:xfrm>
              <a:off x="2296860" y="5198735"/>
              <a:ext cx="1225396" cy="1"/>
            </a:xfrm>
            <a:prstGeom prst="line">
              <a:avLst/>
            </a:prstGeom>
            <a:ln>
              <a:headEnd type="oval"/>
              <a:tailEnd type="oval"/>
            </a:ln>
          </p:spPr>
          <p:style>
            <a:lnRef idx="1">
              <a:schemeClr val="accent1"/>
            </a:lnRef>
            <a:fillRef idx="0">
              <a:schemeClr val="accent1"/>
            </a:fillRef>
            <a:effectRef idx="0">
              <a:schemeClr val="accent1"/>
            </a:effectRef>
            <a:fontRef idx="minor">
              <a:schemeClr val="tx1"/>
            </a:fontRef>
          </p:style>
        </p:cxnSp>
        <p:cxnSp>
          <p:nvCxnSpPr>
            <p:cNvPr id="42" name="熊大的PPT宝库15-3"/>
            <p:cNvCxnSpPr/>
            <p:nvPr/>
          </p:nvCxnSpPr>
          <p:spPr>
            <a:xfrm flipH="1">
              <a:off x="2908598" y="4616767"/>
              <a:ext cx="1" cy="1224000"/>
            </a:xfrm>
            <a:prstGeom prst="line">
              <a:avLst/>
            </a:prstGeom>
            <a:ln>
              <a:headEnd type="oval"/>
              <a:tailEnd type="oval"/>
            </a:ln>
          </p:spPr>
          <p:style>
            <a:lnRef idx="1">
              <a:schemeClr val="accent1"/>
            </a:lnRef>
            <a:fillRef idx="0">
              <a:schemeClr val="accent1"/>
            </a:fillRef>
            <a:effectRef idx="0">
              <a:schemeClr val="accent1"/>
            </a:effectRef>
            <a:fontRef idx="minor">
              <a:schemeClr val="tx1"/>
            </a:fontRef>
          </p:style>
        </p:cxnSp>
        <p:sp>
          <p:nvSpPr>
            <p:cNvPr id="44" name="熊大的PPT宝库15-4"/>
            <p:cNvSpPr/>
            <p:nvPr/>
          </p:nvSpPr>
          <p:spPr>
            <a:xfrm>
              <a:off x="2308322" y="4626833"/>
              <a:ext cx="1213934" cy="1213934"/>
            </a:xfrm>
            <a:prstGeom prst="ellipse">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7" name="熊大的PPT宝库15-5"/>
            <p:cNvSpPr/>
            <p:nvPr/>
          </p:nvSpPr>
          <p:spPr>
            <a:xfrm>
              <a:off x="2584748" y="4216834"/>
              <a:ext cx="647701" cy="240399"/>
            </a:xfrm>
            <a:prstGeom prst="round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8" name="熊大的PPT宝库15-6"/>
            <p:cNvSpPr txBox="1"/>
            <p:nvPr/>
          </p:nvSpPr>
          <p:spPr>
            <a:xfrm>
              <a:off x="2677766" y="4260089"/>
              <a:ext cx="461665" cy="1384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solidFill>
                  <a:effectLst/>
                  <a:uLnTx/>
                  <a:uFillTx/>
                  <a:cs typeface="+mn-ea"/>
                  <a:sym typeface="+mn-lt"/>
                </a:rPr>
                <a:t>内容有趣</a:t>
              </a:r>
            </a:p>
          </p:txBody>
        </p:sp>
        <p:sp>
          <p:nvSpPr>
            <p:cNvPr id="49" name="熊大的PPT宝库15-7"/>
            <p:cNvSpPr/>
            <p:nvPr/>
          </p:nvSpPr>
          <p:spPr>
            <a:xfrm>
              <a:off x="2584748" y="6000300"/>
              <a:ext cx="647701" cy="240399"/>
            </a:xfrm>
            <a:prstGeom prst="round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0" name="熊大的PPT宝库15-8"/>
            <p:cNvSpPr txBox="1"/>
            <p:nvPr/>
          </p:nvSpPr>
          <p:spPr>
            <a:xfrm>
              <a:off x="2652118" y="6043555"/>
              <a:ext cx="512961" cy="153888"/>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内容有用</a:t>
              </a:r>
            </a:p>
          </p:txBody>
        </p:sp>
        <p:sp>
          <p:nvSpPr>
            <p:cNvPr id="51" name="熊大的PPT宝库15-9"/>
            <p:cNvSpPr/>
            <p:nvPr/>
          </p:nvSpPr>
          <p:spPr>
            <a:xfrm>
              <a:off x="1729259" y="5008650"/>
              <a:ext cx="468000" cy="399597"/>
            </a:xfrm>
            <a:prstGeom prst="round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2" name="熊大的PPT宝库15-10"/>
            <p:cNvSpPr txBox="1"/>
            <p:nvPr/>
          </p:nvSpPr>
          <p:spPr>
            <a:xfrm>
              <a:off x="1791017" y="5069949"/>
              <a:ext cx="346249" cy="27699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solidFill>
                  <a:effectLst/>
                  <a:uLnTx/>
                  <a:uFillTx/>
                  <a:cs typeface="+mn-ea"/>
                  <a:sym typeface="+mn-lt"/>
                </a:rPr>
                <a:t>流量</a:t>
              </a:r>
              <a:endParaRPr kumimoji="0" lang="en-US" altLang="zh-CN" sz="900" b="0"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solidFill>
                  <a:effectLst/>
                  <a:uLnTx/>
                  <a:uFillTx/>
                  <a:cs typeface="+mn-ea"/>
                  <a:sym typeface="+mn-lt"/>
                </a:rPr>
                <a:t>规模大</a:t>
              </a:r>
            </a:p>
          </p:txBody>
        </p:sp>
        <p:sp>
          <p:nvSpPr>
            <p:cNvPr id="53" name="熊大的PPT宝库15-11"/>
            <p:cNvSpPr/>
            <p:nvPr/>
          </p:nvSpPr>
          <p:spPr>
            <a:xfrm>
              <a:off x="3680662" y="5028746"/>
              <a:ext cx="466311" cy="398048"/>
            </a:xfrm>
            <a:prstGeom prst="round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4" name="熊大的PPT宝库15-12"/>
            <p:cNvSpPr txBox="1"/>
            <p:nvPr/>
          </p:nvSpPr>
          <p:spPr>
            <a:xfrm>
              <a:off x="3740693" y="5089271"/>
              <a:ext cx="346249" cy="27699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solidFill>
                  <a:effectLst/>
                  <a:uLnTx/>
                  <a:uFillTx/>
                  <a:cs typeface="+mn-ea"/>
                  <a:sym typeface="+mn-lt"/>
                </a:rPr>
                <a:t>交易</a:t>
              </a:r>
              <a:endParaRPr kumimoji="0" lang="en-US" altLang="zh-CN" sz="900" b="0"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solidFill>
                  <a:effectLst/>
                  <a:uLnTx/>
                  <a:uFillTx/>
                  <a:cs typeface="+mn-ea"/>
                  <a:sym typeface="+mn-lt"/>
                </a:rPr>
                <a:t>效率高</a:t>
              </a:r>
            </a:p>
          </p:txBody>
        </p:sp>
        <p:sp>
          <p:nvSpPr>
            <p:cNvPr id="55" name="熊大的PPT宝库15-13"/>
            <p:cNvSpPr/>
            <p:nvPr/>
          </p:nvSpPr>
          <p:spPr>
            <a:xfrm>
              <a:off x="3212196" y="4370424"/>
              <a:ext cx="658603" cy="658603"/>
            </a:xfrm>
            <a:prstGeom prst="ellipse">
              <a:avLst/>
            </a:prstGeom>
            <a:solidFill>
              <a:schemeClr val="accent1">
                <a:lumMod val="20000"/>
                <a:lumOff val="80000"/>
              </a:schemeClr>
            </a:solid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6" name="熊大的PPT宝库15-14"/>
            <p:cNvSpPr txBox="1"/>
            <p:nvPr/>
          </p:nvSpPr>
          <p:spPr>
            <a:xfrm>
              <a:off x="3211605" y="4387635"/>
              <a:ext cx="658603" cy="492443"/>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329D"/>
                  </a:solidFill>
                  <a:effectLst/>
                  <a:uLnTx/>
                  <a:uFillTx/>
                  <a:cs typeface="+mn-ea"/>
                  <a:sym typeface="+mn-lt"/>
                </a:rPr>
                <a:t>a.</a:t>
              </a:r>
              <a:endParaRPr kumimoji="0" lang="en-US" altLang="zh-CN" sz="9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329D"/>
                  </a:solidFill>
                  <a:effectLst/>
                  <a:uLnTx/>
                  <a:uFillTx/>
                  <a:cs typeface="+mn-ea"/>
                  <a:sym typeface="+mn-lt"/>
                </a:rPr>
                <a:t>有人设的职业电商达人</a:t>
              </a:r>
            </a:p>
          </p:txBody>
        </p:sp>
        <p:sp>
          <p:nvSpPr>
            <p:cNvPr id="57" name="熊大的PPT宝库15-15"/>
            <p:cNvSpPr/>
            <p:nvPr/>
          </p:nvSpPr>
          <p:spPr>
            <a:xfrm>
              <a:off x="3212196" y="5408422"/>
              <a:ext cx="658603" cy="658603"/>
            </a:xfrm>
            <a:prstGeom prst="ellipse">
              <a:avLst/>
            </a:prstGeom>
            <a:solidFill>
              <a:schemeClr val="accent1">
                <a:lumMod val="20000"/>
                <a:lumOff val="80000"/>
              </a:schemeClr>
            </a:solid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8" name="熊大的PPT宝库15-16"/>
            <p:cNvSpPr txBox="1"/>
            <p:nvPr/>
          </p:nvSpPr>
          <p:spPr>
            <a:xfrm>
              <a:off x="3211605" y="5482783"/>
              <a:ext cx="658603" cy="492443"/>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329D"/>
                  </a:solidFill>
                  <a:effectLst/>
                  <a:uLnTx/>
                  <a:uFillTx/>
                  <a:cs typeface="+mn-ea"/>
                  <a:sym typeface="+mn-lt"/>
                </a:rPr>
                <a:t>b.</a:t>
              </a:r>
              <a:endParaRPr kumimoji="0" lang="en-US" altLang="zh-CN" sz="9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329D"/>
                  </a:solidFill>
                  <a:effectLst/>
                  <a:uLnTx/>
                  <a:uFillTx/>
                  <a:cs typeface="+mn-ea"/>
                  <a:sym typeface="+mn-lt"/>
                </a:rPr>
                <a:t>垂直电商</a:t>
              </a:r>
              <a:endParaRPr kumimoji="0" lang="en-US" altLang="zh-CN" sz="9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329D"/>
                  </a:solidFill>
                  <a:effectLst/>
                  <a:uLnTx/>
                  <a:uFillTx/>
                  <a:cs typeface="+mn-ea"/>
                  <a:sym typeface="+mn-lt"/>
                </a:rPr>
                <a:t>达人</a:t>
              </a:r>
            </a:p>
          </p:txBody>
        </p:sp>
        <p:sp>
          <p:nvSpPr>
            <p:cNvPr id="59" name="熊大的PPT宝库15-17"/>
            <p:cNvSpPr/>
            <p:nvPr/>
          </p:nvSpPr>
          <p:spPr>
            <a:xfrm>
              <a:off x="1926461" y="5408422"/>
              <a:ext cx="658603" cy="658603"/>
            </a:xfrm>
            <a:prstGeom prst="ellipse">
              <a:avLst/>
            </a:prstGeom>
            <a:solidFill>
              <a:schemeClr val="accent1">
                <a:lumMod val="20000"/>
                <a:lumOff val="80000"/>
              </a:schemeClr>
            </a:solid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0" name="熊大的PPT宝库15-18"/>
            <p:cNvSpPr txBox="1"/>
            <p:nvPr/>
          </p:nvSpPr>
          <p:spPr>
            <a:xfrm>
              <a:off x="1925870" y="5482783"/>
              <a:ext cx="658603" cy="492443"/>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329D"/>
                  </a:solidFill>
                  <a:effectLst/>
                  <a:uLnTx/>
                  <a:uFillTx/>
                  <a:cs typeface="+mn-ea"/>
                  <a:sym typeface="+mn-lt"/>
                </a:rPr>
                <a:t>c.</a:t>
              </a:r>
              <a:endParaRPr kumimoji="0" lang="en-US" altLang="zh-CN" sz="9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329D"/>
                  </a:solidFill>
                  <a:effectLst/>
                  <a:uLnTx/>
                  <a:uFillTx/>
                  <a:cs typeface="+mn-ea"/>
                  <a:sym typeface="+mn-lt"/>
                </a:rPr>
                <a:t>种草型</a:t>
              </a:r>
              <a:endParaRPr kumimoji="0" lang="en-US" altLang="zh-CN" sz="9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329D"/>
                  </a:solidFill>
                  <a:effectLst/>
                  <a:uLnTx/>
                  <a:uFillTx/>
                  <a:cs typeface="+mn-ea"/>
                  <a:sym typeface="+mn-lt"/>
                </a:rPr>
                <a:t>达人</a:t>
              </a:r>
            </a:p>
          </p:txBody>
        </p:sp>
        <p:sp>
          <p:nvSpPr>
            <p:cNvPr id="61" name="熊大的PPT宝库15-19"/>
            <p:cNvSpPr/>
            <p:nvPr/>
          </p:nvSpPr>
          <p:spPr>
            <a:xfrm>
              <a:off x="1926461" y="4331495"/>
              <a:ext cx="658603" cy="658603"/>
            </a:xfrm>
            <a:prstGeom prst="ellipse">
              <a:avLst/>
            </a:prstGeom>
            <a:solidFill>
              <a:schemeClr val="accent1">
                <a:lumMod val="20000"/>
                <a:lumOff val="80000"/>
              </a:schemeClr>
            </a:solid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2" name="熊大的PPT宝库15-20"/>
            <p:cNvSpPr txBox="1"/>
            <p:nvPr/>
          </p:nvSpPr>
          <p:spPr>
            <a:xfrm>
              <a:off x="1925870" y="4405856"/>
              <a:ext cx="658603" cy="492443"/>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329D"/>
                  </a:solidFill>
                  <a:effectLst/>
                  <a:uLnTx/>
                  <a:uFillTx/>
                  <a:cs typeface="+mn-ea"/>
                  <a:sym typeface="+mn-lt"/>
                </a:rPr>
                <a:t>d.</a:t>
              </a:r>
              <a:endParaRPr kumimoji="0" lang="en-US" altLang="zh-CN" sz="9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329D"/>
                  </a:solidFill>
                  <a:effectLst/>
                  <a:uLnTx/>
                  <a:uFillTx/>
                  <a:cs typeface="+mn-ea"/>
                  <a:sym typeface="+mn-lt"/>
                </a:rPr>
                <a:t>娱乐电商</a:t>
              </a:r>
              <a:endParaRPr kumimoji="0" lang="en-US" altLang="zh-CN" sz="9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329D"/>
                  </a:solidFill>
                  <a:effectLst/>
                  <a:uLnTx/>
                  <a:uFillTx/>
                  <a:cs typeface="+mn-ea"/>
                  <a:sym typeface="+mn-lt"/>
                </a:rPr>
                <a:t>达人</a:t>
              </a:r>
            </a:p>
          </p:txBody>
        </p:sp>
      </p:grpSp>
      <p:sp>
        <p:nvSpPr>
          <p:cNvPr id="63" name="熊大的PPT宝库16"/>
          <p:cNvSpPr/>
          <p:nvPr/>
        </p:nvSpPr>
        <p:spPr>
          <a:xfrm>
            <a:off x="4314000" y="967051"/>
            <a:ext cx="3564000" cy="5338268"/>
          </a:xfrm>
          <a:prstGeom prst="roundRect">
            <a:avLst>
              <a:gd name="adj" fmla="val 3938"/>
            </a:avLst>
          </a:prstGeom>
          <a:solidFill>
            <a:schemeClr val="bg1"/>
          </a:solidFill>
          <a:ln>
            <a:noFill/>
          </a:ln>
          <a:effectLst>
            <a:outerShdw blurRad="215900" sx="102000" sy="102000" algn="ctr" rotWithShape="0">
              <a:schemeClr val="accent1">
                <a:lumMod val="40000"/>
                <a:lumOff val="60000"/>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64" name="熊大的PPT宝库17"/>
          <p:cNvSpPr/>
          <p:nvPr/>
        </p:nvSpPr>
        <p:spPr>
          <a:xfrm>
            <a:off x="7963318" y="970457"/>
            <a:ext cx="3787444" cy="5338268"/>
          </a:xfrm>
          <a:prstGeom prst="roundRect">
            <a:avLst>
              <a:gd name="adj" fmla="val 3938"/>
            </a:avLst>
          </a:prstGeom>
          <a:solidFill>
            <a:schemeClr val="bg1"/>
          </a:solidFill>
          <a:ln>
            <a:noFill/>
          </a:ln>
          <a:effectLst>
            <a:outerShdw blurRad="215900" sx="102000" sy="102000" algn="ctr" rotWithShape="0">
              <a:schemeClr val="accent1">
                <a:lumMod val="40000"/>
                <a:lumOff val="60000"/>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65" name="熊大的PPT宝库18"/>
          <p:cNvSpPr/>
          <p:nvPr/>
        </p:nvSpPr>
        <p:spPr>
          <a:xfrm>
            <a:off x="4405859" y="1064971"/>
            <a:ext cx="1636566" cy="1351840"/>
          </a:xfrm>
          <a:prstGeom prst="roundRect">
            <a:avLst>
              <a:gd name="adj" fmla="val 7272"/>
            </a:avLst>
          </a:prstGeom>
          <a:no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6" name="熊大的PPT宝库19"/>
          <p:cNvSpPr/>
          <p:nvPr/>
        </p:nvSpPr>
        <p:spPr>
          <a:xfrm>
            <a:off x="6149576" y="1064971"/>
            <a:ext cx="1636566" cy="1351840"/>
          </a:xfrm>
          <a:prstGeom prst="roundRect">
            <a:avLst>
              <a:gd name="adj" fmla="val 7272"/>
            </a:avLst>
          </a:prstGeom>
          <a:no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8" name="熊大的PPT宝库20"/>
          <p:cNvSpPr/>
          <p:nvPr/>
        </p:nvSpPr>
        <p:spPr>
          <a:xfrm>
            <a:off x="4405859" y="2495621"/>
            <a:ext cx="1636566" cy="1351840"/>
          </a:xfrm>
          <a:prstGeom prst="roundRect">
            <a:avLst>
              <a:gd name="adj" fmla="val 7272"/>
            </a:avLst>
          </a:prstGeom>
          <a:no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9" name="熊大的PPT宝库21"/>
          <p:cNvSpPr/>
          <p:nvPr/>
        </p:nvSpPr>
        <p:spPr>
          <a:xfrm>
            <a:off x="6149576" y="2495621"/>
            <a:ext cx="1636566" cy="1351840"/>
          </a:xfrm>
          <a:prstGeom prst="roundRect">
            <a:avLst>
              <a:gd name="adj" fmla="val 7272"/>
            </a:avLst>
          </a:prstGeom>
          <a:no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0" name="熊大的PPT宝库22"/>
          <p:cNvSpPr txBox="1"/>
          <p:nvPr/>
        </p:nvSpPr>
        <p:spPr>
          <a:xfrm>
            <a:off x="4469068" y="1115771"/>
            <a:ext cx="1554108" cy="461665"/>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329D"/>
                </a:solidFill>
                <a:effectLst/>
                <a:uLnTx/>
                <a:uFillTx/>
                <a:cs typeface="+mn-ea"/>
                <a:sym typeface="+mn-lt"/>
              </a:rPr>
              <a:t>a.</a:t>
            </a: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有人设的职业电商达人</a:t>
            </a:r>
          </a:p>
        </p:txBody>
      </p:sp>
      <p:sp>
        <p:nvSpPr>
          <p:cNvPr id="71" name="熊大的PPT宝库23"/>
          <p:cNvSpPr txBox="1"/>
          <p:nvPr/>
        </p:nvSpPr>
        <p:spPr>
          <a:xfrm>
            <a:off x="6245346" y="1115771"/>
            <a:ext cx="1540796" cy="461665"/>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329D"/>
                </a:solidFill>
                <a:effectLst/>
                <a:uLnTx/>
                <a:uFillTx/>
                <a:cs typeface="+mn-ea"/>
                <a:sym typeface="+mn-lt"/>
              </a:rPr>
              <a:t>b.</a:t>
            </a: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垂直电商达人</a:t>
            </a:r>
          </a:p>
        </p:txBody>
      </p:sp>
      <p:sp>
        <p:nvSpPr>
          <p:cNvPr id="72" name="熊大的PPT宝库24"/>
          <p:cNvSpPr txBox="1"/>
          <p:nvPr/>
        </p:nvSpPr>
        <p:spPr>
          <a:xfrm>
            <a:off x="4469068" y="1630181"/>
            <a:ext cx="1554108" cy="61555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早期入局直播电商的一批达人，有较强，鲜明的人设特点，有自己的铁粉，发展成大众品，主打性价比</a:t>
            </a:r>
          </a:p>
        </p:txBody>
      </p:sp>
      <p:sp>
        <p:nvSpPr>
          <p:cNvPr id="73" name="熊大的PPT宝库25"/>
          <p:cNvSpPr txBox="1"/>
          <p:nvPr/>
        </p:nvSpPr>
        <p:spPr>
          <a:xfrm>
            <a:off x="6200084" y="1630181"/>
            <a:ext cx="1554108" cy="61555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垂直电商达人，对某个特定类目专业度高，客群精准，发展模式聚焦垂直领域做专做精，围绕客群拓展需求</a:t>
            </a:r>
          </a:p>
        </p:txBody>
      </p:sp>
      <p:sp>
        <p:nvSpPr>
          <p:cNvPr id="74" name="熊大的PPT宝库26"/>
          <p:cNvSpPr txBox="1"/>
          <p:nvPr/>
        </p:nvSpPr>
        <p:spPr>
          <a:xfrm>
            <a:off x="4469068" y="2578231"/>
            <a:ext cx="1554108" cy="461665"/>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329D"/>
                </a:solidFill>
                <a:effectLst/>
                <a:uLnTx/>
                <a:uFillTx/>
                <a:cs typeface="+mn-ea"/>
                <a:sym typeface="+mn-lt"/>
              </a:rPr>
              <a:t>c.</a:t>
            </a: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娱乐电商达人</a:t>
            </a:r>
          </a:p>
        </p:txBody>
      </p:sp>
      <p:sp>
        <p:nvSpPr>
          <p:cNvPr id="75" name="熊大的PPT宝库27"/>
          <p:cNvSpPr txBox="1"/>
          <p:nvPr/>
        </p:nvSpPr>
        <p:spPr>
          <a:xfrm>
            <a:off x="6245346" y="2578231"/>
            <a:ext cx="1540796" cy="461665"/>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329D"/>
                </a:solidFill>
                <a:effectLst/>
                <a:uLnTx/>
                <a:uFillTx/>
                <a:cs typeface="+mn-ea"/>
                <a:sym typeface="+mn-lt"/>
              </a:rPr>
              <a:t>d.</a:t>
            </a: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种草型达人</a:t>
            </a:r>
          </a:p>
        </p:txBody>
      </p:sp>
      <p:sp>
        <p:nvSpPr>
          <p:cNvPr id="76" name="熊大的PPT宝库28"/>
          <p:cNvSpPr txBox="1"/>
          <p:nvPr/>
        </p:nvSpPr>
        <p:spPr>
          <a:xfrm>
            <a:off x="4469068" y="3092641"/>
            <a:ext cx="1554108" cy="61555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娱乐电商达人，又强娱乐性，内容吸引人，能够吸引人群用户，达人可以通过优质内容为自己做强信任背书</a:t>
            </a:r>
          </a:p>
        </p:txBody>
      </p:sp>
      <p:sp>
        <p:nvSpPr>
          <p:cNvPr id="77" name="熊大的PPT宝库29"/>
          <p:cNvSpPr txBox="1"/>
          <p:nvPr/>
        </p:nvSpPr>
        <p:spPr>
          <a:xfrm>
            <a:off x="6200084" y="3092641"/>
            <a:ext cx="1554108" cy="461665"/>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内容风格独特，创新能力强，能郇做好短视频，直播运营，实现仲草。拔草一体</a:t>
            </a:r>
          </a:p>
        </p:txBody>
      </p:sp>
      <p:grpSp>
        <p:nvGrpSpPr>
          <p:cNvPr id="78" name="熊大的PPT宝库30"/>
          <p:cNvGrpSpPr/>
          <p:nvPr/>
        </p:nvGrpSpPr>
        <p:grpSpPr>
          <a:xfrm rot="5400000">
            <a:off x="5992327" y="3923347"/>
            <a:ext cx="202623" cy="303414"/>
            <a:chOff x="2175528" y="3623079"/>
            <a:chExt cx="506192" cy="757987"/>
          </a:xfrm>
          <a:solidFill>
            <a:schemeClr val="accent1">
              <a:lumMod val="60000"/>
              <a:lumOff val="40000"/>
            </a:schemeClr>
          </a:solidFill>
        </p:grpSpPr>
        <p:sp>
          <p:nvSpPr>
            <p:cNvPr id="79" name="熊大的PPT宝库30-1"/>
            <p:cNvSpPr/>
            <p:nvPr/>
          </p:nvSpPr>
          <p:spPr>
            <a:xfrm rot="-3479677">
              <a:off x="2344538" y="3726609"/>
              <a:ext cx="103418" cy="103418"/>
            </a:xfrm>
            <a:custGeom>
              <a:avLst/>
              <a:gdLst>
                <a:gd name="connsiteX0" fmla="*/ 103419 w 103418"/>
                <a:gd name="connsiteY0" fmla="*/ 51710 h 103418"/>
                <a:gd name="connsiteX1" fmla="*/ 51709 w 103418"/>
                <a:gd name="connsiteY1" fmla="*/ 103419 h 103418"/>
                <a:gd name="connsiteX2" fmla="*/ 0 w 103418"/>
                <a:gd name="connsiteY2" fmla="*/ 51710 h 103418"/>
                <a:gd name="connsiteX3" fmla="*/ 51709 w 103418"/>
                <a:gd name="connsiteY3" fmla="*/ 0 h 103418"/>
                <a:gd name="connsiteX4" fmla="*/ 103419 w 103418"/>
                <a:gd name="connsiteY4" fmla="*/ 51710 h 103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8" h="103418">
                  <a:moveTo>
                    <a:pt x="103419" y="51710"/>
                  </a:moveTo>
                  <a:cubicBezTo>
                    <a:pt x="103419" y="80268"/>
                    <a:pt x="80268" y="103419"/>
                    <a:pt x="51709" y="103419"/>
                  </a:cubicBezTo>
                  <a:cubicBezTo>
                    <a:pt x="23151" y="103419"/>
                    <a:pt x="0" y="80268"/>
                    <a:pt x="0" y="51710"/>
                  </a:cubicBezTo>
                  <a:cubicBezTo>
                    <a:pt x="0" y="23151"/>
                    <a:pt x="23151" y="0"/>
                    <a:pt x="51709" y="0"/>
                  </a:cubicBezTo>
                  <a:cubicBezTo>
                    <a:pt x="80268" y="0"/>
                    <a:pt x="103419" y="23152"/>
                    <a:pt x="103419" y="51710"/>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80" name="熊大的PPT宝库30-2"/>
            <p:cNvSpPr/>
            <p:nvPr/>
          </p:nvSpPr>
          <p:spPr>
            <a:xfrm rot="-2959634">
              <a:off x="2264555" y="3806044"/>
              <a:ext cx="103412" cy="103412"/>
            </a:xfrm>
            <a:custGeom>
              <a:avLst/>
              <a:gdLst>
                <a:gd name="connsiteX0" fmla="*/ 103413 w 103412"/>
                <a:gd name="connsiteY0" fmla="*/ 51706 h 103412"/>
                <a:gd name="connsiteX1" fmla="*/ 51706 w 103412"/>
                <a:gd name="connsiteY1" fmla="*/ 103413 h 103412"/>
                <a:gd name="connsiteX2" fmla="*/ 0 w 103412"/>
                <a:gd name="connsiteY2" fmla="*/ 51706 h 103412"/>
                <a:gd name="connsiteX3" fmla="*/ 51706 w 103412"/>
                <a:gd name="connsiteY3" fmla="*/ 0 h 103412"/>
                <a:gd name="connsiteX4" fmla="*/ 103413 w 103412"/>
                <a:gd name="connsiteY4" fmla="*/ 51706 h 103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2" h="103412">
                  <a:moveTo>
                    <a:pt x="103413" y="51706"/>
                  </a:moveTo>
                  <a:cubicBezTo>
                    <a:pt x="103413" y="80263"/>
                    <a:pt x="80263" y="103413"/>
                    <a:pt x="51706" y="103413"/>
                  </a:cubicBezTo>
                  <a:cubicBezTo>
                    <a:pt x="23150" y="103413"/>
                    <a:pt x="0" y="80263"/>
                    <a:pt x="0" y="51706"/>
                  </a:cubicBezTo>
                  <a:cubicBezTo>
                    <a:pt x="0" y="23150"/>
                    <a:pt x="23149" y="0"/>
                    <a:pt x="51706" y="0"/>
                  </a:cubicBezTo>
                  <a:cubicBezTo>
                    <a:pt x="80263" y="0"/>
                    <a:pt x="103413" y="23150"/>
                    <a:pt x="103413" y="51706"/>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81" name="熊大的PPT宝库30-3"/>
            <p:cNvSpPr/>
            <p:nvPr/>
          </p:nvSpPr>
          <p:spPr>
            <a:xfrm rot="-802069">
              <a:off x="2419746" y="3801894"/>
              <a:ext cx="103418" cy="103418"/>
            </a:xfrm>
            <a:custGeom>
              <a:avLst/>
              <a:gdLst>
                <a:gd name="connsiteX0" fmla="*/ 103418 w 103418"/>
                <a:gd name="connsiteY0" fmla="*/ 51709 h 103418"/>
                <a:gd name="connsiteX1" fmla="*/ 51709 w 103418"/>
                <a:gd name="connsiteY1" fmla="*/ 103418 h 103418"/>
                <a:gd name="connsiteX2" fmla="*/ 0 w 103418"/>
                <a:gd name="connsiteY2" fmla="*/ 51709 h 103418"/>
                <a:gd name="connsiteX3" fmla="*/ 51709 w 103418"/>
                <a:gd name="connsiteY3" fmla="*/ 0 h 103418"/>
                <a:gd name="connsiteX4" fmla="*/ 103418 w 103418"/>
                <a:gd name="connsiteY4" fmla="*/ 51709 h 103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8" h="103418">
                  <a:moveTo>
                    <a:pt x="103418" y="51709"/>
                  </a:moveTo>
                  <a:cubicBezTo>
                    <a:pt x="103418" y="80267"/>
                    <a:pt x="80267" y="103418"/>
                    <a:pt x="51709" y="103418"/>
                  </a:cubicBezTo>
                  <a:cubicBezTo>
                    <a:pt x="23151" y="103418"/>
                    <a:pt x="0" y="80267"/>
                    <a:pt x="0" y="51709"/>
                  </a:cubicBezTo>
                  <a:cubicBezTo>
                    <a:pt x="0" y="23151"/>
                    <a:pt x="23151" y="0"/>
                    <a:pt x="51709" y="0"/>
                  </a:cubicBezTo>
                  <a:cubicBezTo>
                    <a:pt x="80267" y="0"/>
                    <a:pt x="103418" y="23151"/>
                    <a:pt x="103418" y="51709"/>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82" name="熊大的PPT宝库30-4"/>
            <p:cNvSpPr/>
            <p:nvPr/>
          </p:nvSpPr>
          <p:spPr>
            <a:xfrm rot="-2162552">
              <a:off x="2340230" y="3881705"/>
              <a:ext cx="103421" cy="103421"/>
            </a:xfrm>
            <a:custGeom>
              <a:avLst/>
              <a:gdLst>
                <a:gd name="connsiteX0" fmla="*/ 103421 w 103421"/>
                <a:gd name="connsiteY0" fmla="*/ 51711 h 103421"/>
                <a:gd name="connsiteX1" fmla="*/ 51710 w 103421"/>
                <a:gd name="connsiteY1" fmla="*/ 103421 h 103421"/>
                <a:gd name="connsiteX2" fmla="*/ 0 w 103421"/>
                <a:gd name="connsiteY2" fmla="*/ 51711 h 103421"/>
                <a:gd name="connsiteX3" fmla="*/ 51710 w 103421"/>
                <a:gd name="connsiteY3" fmla="*/ 0 h 103421"/>
                <a:gd name="connsiteX4" fmla="*/ 103421 w 103421"/>
                <a:gd name="connsiteY4" fmla="*/ 51711 h 103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21" h="103421">
                  <a:moveTo>
                    <a:pt x="103421" y="51711"/>
                  </a:moveTo>
                  <a:cubicBezTo>
                    <a:pt x="103421" y="80270"/>
                    <a:pt x="80270" y="103421"/>
                    <a:pt x="51710" y="103421"/>
                  </a:cubicBezTo>
                  <a:cubicBezTo>
                    <a:pt x="23152" y="103421"/>
                    <a:pt x="0" y="80269"/>
                    <a:pt x="0" y="51711"/>
                  </a:cubicBezTo>
                  <a:cubicBezTo>
                    <a:pt x="0" y="23152"/>
                    <a:pt x="23151" y="0"/>
                    <a:pt x="51710" y="0"/>
                  </a:cubicBezTo>
                  <a:cubicBezTo>
                    <a:pt x="80269" y="0"/>
                    <a:pt x="103421" y="23152"/>
                    <a:pt x="103421" y="51711"/>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83" name="熊大的PPT宝库30-5"/>
            <p:cNvSpPr/>
            <p:nvPr/>
          </p:nvSpPr>
          <p:spPr>
            <a:xfrm rot="-791813">
              <a:off x="2495402" y="3877097"/>
              <a:ext cx="103419" cy="103419"/>
            </a:xfrm>
            <a:custGeom>
              <a:avLst/>
              <a:gdLst>
                <a:gd name="connsiteX0" fmla="*/ 103420 w 103419"/>
                <a:gd name="connsiteY0" fmla="*/ 51710 h 103419"/>
                <a:gd name="connsiteX1" fmla="*/ 51710 w 103419"/>
                <a:gd name="connsiteY1" fmla="*/ 103419 h 103419"/>
                <a:gd name="connsiteX2" fmla="*/ 0 w 103419"/>
                <a:gd name="connsiteY2" fmla="*/ 51710 h 103419"/>
                <a:gd name="connsiteX3" fmla="*/ 51710 w 103419"/>
                <a:gd name="connsiteY3" fmla="*/ 0 h 103419"/>
                <a:gd name="connsiteX4" fmla="*/ 103420 w 103419"/>
                <a:gd name="connsiteY4" fmla="*/ 51710 h 103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9" h="103419">
                  <a:moveTo>
                    <a:pt x="103420" y="51710"/>
                  </a:moveTo>
                  <a:cubicBezTo>
                    <a:pt x="103420" y="80268"/>
                    <a:pt x="80268" y="103419"/>
                    <a:pt x="51710" y="103419"/>
                  </a:cubicBezTo>
                  <a:cubicBezTo>
                    <a:pt x="23151" y="103419"/>
                    <a:pt x="0" y="80268"/>
                    <a:pt x="0" y="51710"/>
                  </a:cubicBezTo>
                  <a:cubicBezTo>
                    <a:pt x="0" y="23151"/>
                    <a:pt x="23151" y="0"/>
                    <a:pt x="51710" y="0"/>
                  </a:cubicBezTo>
                  <a:cubicBezTo>
                    <a:pt x="80268" y="0"/>
                    <a:pt x="103420" y="23152"/>
                    <a:pt x="103420" y="51710"/>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84" name="熊大的PPT宝库30-6"/>
            <p:cNvSpPr/>
            <p:nvPr/>
          </p:nvSpPr>
          <p:spPr>
            <a:xfrm>
              <a:off x="2415620" y="3956825"/>
              <a:ext cx="103418" cy="103418"/>
            </a:xfrm>
            <a:custGeom>
              <a:avLst/>
              <a:gdLst>
                <a:gd name="connsiteX0" fmla="*/ 103419 w 103418"/>
                <a:gd name="connsiteY0" fmla="*/ 51709 h 103418"/>
                <a:gd name="connsiteX1" fmla="*/ 51709 w 103418"/>
                <a:gd name="connsiteY1" fmla="*/ 103419 h 103418"/>
                <a:gd name="connsiteX2" fmla="*/ 0 w 103418"/>
                <a:gd name="connsiteY2" fmla="*/ 51709 h 103418"/>
                <a:gd name="connsiteX3" fmla="*/ 51709 w 103418"/>
                <a:gd name="connsiteY3" fmla="*/ 0 h 103418"/>
                <a:gd name="connsiteX4" fmla="*/ 103419 w 103418"/>
                <a:gd name="connsiteY4" fmla="*/ 51709 h 103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8" h="103418">
                  <a:moveTo>
                    <a:pt x="103419" y="51709"/>
                  </a:moveTo>
                  <a:cubicBezTo>
                    <a:pt x="103419" y="80268"/>
                    <a:pt x="80268" y="103419"/>
                    <a:pt x="51709" y="103419"/>
                  </a:cubicBezTo>
                  <a:cubicBezTo>
                    <a:pt x="23151" y="103419"/>
                    <a:pt x="0" y="80267"/>
                    <a:pt x="0" y="51709"/>
                  </a:cubicBezTo>
                  <a:cubicBezTo>
                    <a:pt x="0" y="23151"/>
                    <a:pt x="23151" y="0"/>
                    <a:pt x="51709" y="0"/>
                  </a:cubicBezTo>
                  <a:cubicBezTo>
                    <a:pt x="80267" y="0"/>
                    <a:pt x="103419" y="23151"/>
                    <a:pt x="103419" y="51709"/>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85" name="熊大的PPT宝库30-7"/>
            <p:cNvSpPr/>
            <p:nvPr/>
          </p:nvSpPr>
          <p:spPr>
            <a:xfrm rot="-555532">
              <a:off x="2570652" y="3952774"/>
              <a:ext cx="103421" cy="103421"/>
            </a:xfrm>
            <a:custGeom>
              <a:avLst/>
              <a:gdLst>
                <a:gd name="connsiteX0" fmla="*/ 103422 w 103421"/>
                <a:gd name="connsiteY0" fmla="*/ 51711 h 103421"/>
                <a:gd name="connsiteX1" fmla="*/ 51711 w 103421"/>
                <a:gd name="connsiteY1" fmla="*/ 103422 h 103421"/>
                <a:gd name="connsiteX2" fmla="*/ 0 w 103421"/>
                <a:gd name="connsiteY2" fmla="*/ 51711 h 103421"/>
                <a:gd name="connsiteX3" fmla="*/ 51711 w 103421"/>
                <a:gd name="connsiteY3" fmla="*/ 0 h 103421"/>
                <a:gd name="connsiteX4" fmla="*/ 103422 w 103421"/>
                <a:gd name="connsiteY4" fmla="*/ 51711 h 103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21" h="103421">
                  <a:moveTo>
                    <a:pt x="103422" y="51711"/>
                  </a:moveTo>
                  <a:cubicBezTo>
                    <a:pt x="103422" y="80270"/>
                    <a:pt x="80270" y="103422"/>
                    <a:pt x="51711" y="103422"/>
                  </a:cubicBezTo>
                  <a:cubicBezTo>
                    <a:pt x="23152" y="103422"/>
                    <a:pt x="0" y="80270"/>
                    <a:pt x="0" y="51711"/>
                  </a:cubicBezTo>
                  <a:cubicBezTo>
                    <a:pt x="0" y="23152"/>
                    <a:pt x="23152" y="0"/>
                    <a:pt x="51711" y="0"/>
                  </a:cubicBezTo>
                  <a:cubicBezTo>
                    <a:pt x="80270" y="0"/>
                    <a:pt x="103422" y="23152"/>
                    <a:pt x="103422" y="51711"/>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86" name="熊大的PPT宝库30-8"/>
            <p:cNvSpPr/>
            <p:nvPr/>
          </p:nvSpPr>
          <p:spPr>
            <a:xfrm rot="-2700000">
              <a:off x="2490947" y="4032224"/>
              <a:ext cx="103417" cy="103417"/>
            </a:xfrm>
            <a:custGeom>
              <a:avLst/>
              <a:gdLst>
                <a:gd name="connsiteX0" fmla="*/ 103418 w 103417"/>
                <a:gd name="connsiteY0" fmla="*/ 51709 h 103417"/>
                <a:gd name="connsiteX1" fmla="*/ 51709 w 103417"/>
                <a:gd name="connsiteY1" fmla="*/ 103417 h 103417"/>
                <a:gd name="connsiteX2" fmla="*/ 0 w 103417"/>
                <a:gd name="connsiteY2" fmla="*/ 51709 h 103417"/>
                <a:gd name="connsiteX3" fmla="*/ 51709 w 103417"/>
                <a:gd name="connsiteY3" fmla="*/ 0 h 103417"/>
                <a:gd name="connsiteX4" fmla="*/ 103418 w 103417"/>
                <a:gd name="connsiteY4" fmla="*/ 51709 h 103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7" h="103417">
                  <a:moveTo>
                    <a:pt x="103418" y="51709"/>
                  </a:moveTo>
                  <a:cubicBezTo>
                    <a:pt x="103418" y="80267"/>
                    <a:pt x="80267" y="103417"/>
                    <a:pt x="51709" y="103417"/>
                  </a:cubicBezTo>
                  <a:cubicBezTo>
                    <a:pt x="23151" y="103417"/>
                    <a:pt x="0" y="80267"/>
                    <a:pt x="0" y="51709"/>
                  </a:cubicBezTo>
                  <a:cubicBezTo>
                    <a:pt x="0" y="23151"/>
                    <a:pt x="23151" y="0"/>
                    <a:pt x="51709" y="0"/>
                  </a:cubicBezTo>
                  <a:cubicBezTo>
                    <a:pt x="80267" y="0"/>
                    <a:pt x="103418" y="23151"/>
                    <a:pt x="103418" y="51709"/>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87" name="熊大的PPT宝库30-9"/>
            <p:cNvSpPr/>
            <p:nvPr/>
          </p:nvSpPr>
          <p:spPr>
            <a:xfrm rot="-3479677">
              <a:off x="2344538" y="3726609"/>
              <a:ext cx="103418" cy="103418"/>
            </a:xfrm>
            <a:custGeom>
              <a:avLst/>
              <a:gdLst>
                <a:gd name="connsiteX0" fmla="*/ 103419 w 103418"/>
                <a:gd name="connsiteY0" fmla="*/ 51710 h 103418"/>
                <a:gd name="connsiteX1" fmla="*/ 51709 w 103418"/>
                <a:gd name="connsiteY1" fmla="*/ 103419 h 103418"/>
                <a:gd name="connsiteX2" fmla="*/ 0 w 103418"/>
                <a:gd name="connsiteY2" fmla="*/ 51710 h 103418"/>
                <a:gd name="connsiteX3" fmla="*/ 51709 w 103418"/>
                <a:gd name="connsiteY3" fmla="*/ 0 h 103418"/>
                <a:gd name="connsiteX4" fmla="*/ 103419 w 103418"/>
                <a:gd name="connsiteY4" fmla="*/ 51710 h 103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8" h="103418">
                  <a:moveTo>
                    <a:pt x="103419" y="51710"/>
                  </a:moveTo>
                  <a:cubicBezTo>
                    <a:pt x="103419" y="80268"/>
                    <a:pt x="80268" y="103419"/>
                    <a:pt x="51709" y="103419"/>
                  </a:cubicBezTo>
                  <a:cubicBezTo>
                    <a:pt x="23151" y="103419"/>
                    <a:pt x="0" y="80268"/>
                    <a:pt x="0" y="51710"/>
                  </a:cubicBezTo>
                  <a:cubicBezTo>
                    <a:pt x="0" y="23151"/>
                    <a:pt x="23151" y="0"/>
                    <a:pt x="51709" y="0"/>
                  </a:cubicBezTo>
                  <a:cubicBezTo>
                    <a:pt x="80268" y="0"/>
                    <a:pt x="103419" y="23152"/>
                    <a:pt x="103419" y="51710"/>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88" name="熊大的PPT宝库30-10"/>
            <p:cNvSpPr/>
            <p:nvPr/>
          </p:nvSpPr>
          <p:spPr>
            <a:xfrm rot="-2959634">
              <a:off x="2264555" y="3806044"/>
              <a:ext cx="103412" cy="103412"/>
            </a:xfrm>
            <a:custGeom>
              <a:avLst/>
              <a:gdLst>
                <a:gd name="connsiteX0" fmla="*/ 103413 w 103412"/>
                <a:gd name="connsiteY0" fmla="*/ 51706 h 103412"/>
                <a:gd name="connsiteX1" fmla="*/ 51706 w 103412"/>
                <a:gd name="connsiteY1" fmla="*/ 103413 h 103412"/>
                <a:gd name="connsiteX2" fmla="*/ 0 w 103412"/>
                <a:gd name="connsiteY2" fmla="*/ 51706 h 103412"/>
                <a:gd name="connsiteX3" fmla="*/ 51706 w 103412"/>
                <a:gd name="connsiteY3" fmla="*/ 0 h 103412"/>
                <a:gd name="connsiteX4" fmla="*/ 103413 w 103412"/>
                <a:gd name="connsiteY4" fmla="*/ 51706 h 103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2" h="103412">
                  <a:moveTo>
                    <a:pt x="103413" y="51706"/>
                  </a:moveTo>
                  <a:cubicBezTo>
                    <a:pt x="103413" y="80263"/>
                    <a:pt x="80263" y="103413"/>
                    <a:pt x="51706" y="103413"/>
                  </a:cubicBezTo>
                  <a:cubicBezTo>
                    <a:pt x="23150" y="103413"/>
                    <a:pt x="0" y="80263"/>
                    <a:pt x="0" y="51706"/>
                  </a:cubicBezTo>
                  <a:cubicBezTo>
                    <a:pt x="0" y="23150"/>
                    <a:pt x="23149" y="0"/>
                    <a:pt x="51706" y="0"/>
                  </a:cubicBezTo>
                  <a:cubicBezTo>
                    <a:pt x="80263" y="0"/>
                    <a:pt x="103413" y="23150"/>
                    <a:pt x="103413" y="51706"/>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89" name="熊大的PPT宝库30-11"/>
            <p:cNvSpPr/>
            <p:nvPr/>
          </p:nvSpPr>
          <p:spPr>
            <a:xfrm rot="-2700000">
              <a:off x="2271256" y="3644497"/>
              <a:ext cx="103417" cy="103417"/>
            </a:xfrm>
            <a:custGeom>
              <a:avLst/>
              <a:gdLst>
                <a:gd name="connsiteX0" fmla="*/ 103418 w 103417"/>
                <a:gd name="connsiteY0" fmla="*/ 51709 h 103417"/>
                <a:gd name="connsiteX1" fmla="*/ 51709 w 103417"/>
                <a:gd name="connsiteY1" fmla="*/ 103418 h 103417"/>
                <a:gd name="connsiteX2" fmla="*/ 0 w 103417"/>
                <a:gd name="connsiteY2" fmla="*/ 51709 h 103417"/>
                <a:gd name="connsiteX3" fmla="*/ 51709 w 103417"/>
                <a:gd name="connsiteY3" fmla="*/ 0 h 103417"/>
                <a:gd name="connsiteX4" fmla="*/ 103418 w 103417"/>
                <a:gd name="connsiteY4" fmla="*/ 51709 h 103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7" h="103417">
                  <a:moveTo>
                    <a:pt x="103418" y="51709"/>
                  </a:moveTo>
                  <a:cubicBezTo>
                    <a:pt x="103418" y="80267"/>
                    <a:pt x="80267" y="103418"/>
                    <a:pt x="51709" y="103418"/>
                  </a:cubicBezTo>
                  <a:cubicBezTo>
                    <a:pt x="23151" y="103418"/>
                    <a:pt x="0" y="80267"/>
                    <a:pt x="0" y="51709"/>
                  </a:cubicBezTo>
                  <a:cubicBezTo>
                    <a:pt x="0" y="23151"/>
                    <a:pt x="23151" y="0"/>
                    <a:pt x="51709" y="0"/>
                  </a:cubicBezTo>
                  <a:cubicBezTo>
                    <a:pt x="80267" y="0"/>
                    <a:pt x="103418" y="23151"/>
                    <a:pt x="103418" y="51709"/>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90" name="熊大的PPT宝库30-12"/>
            <p:cNvSpPr/>
            <p:nvPr/>
          </p:nvSpPr>
          <p:spPr>
            <a:xfrm rot="-4036884">
              <a:off x="2191523" y="3724112"/>
              <a:ext cx="103417" cy="103417"/>
            </a:xfrm>
            <a:custGeom>
              <a:avLst/>
              <a:gdLst>
                <a:gd name="connsiteX0" fmla="*/ 103417 w 103417"/>
                <a:gd name="connsiteY0" fmla="*/ 51709 h 103417"/>
                <a:gd name="connsiteX1" fmla="*/ 51709 w 103417"/>
                <a:gd name="connsiteY1" fmla="*/ 103417 h 103417"/>
                <a:gd name="connsiteX2" fmla="*/ 0 w 103417"/>
                <a:gd name="connsiteY2" fmla="*/ 51709 h 103417"/>
                <a:gd name="connsiteX3" fmla="*/ 51709 w 103417"/>
                <a:gd name="connsiteY3" fmla="*/ 0 h 103417"/>
                <a:gd name="connsiteX4" fmla="*/ 103417 w 103417"/>
                <a:gd name="connsiteY4" fmla="*/ 51709 h 103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7" h="103417">
                  <a:moveTo>
                    <a:pt x="103417" y="51709"/>
                  </a:moveTo>
                  <a:cubicBezTo>
                    <a:pt x="103417" y="80267"/>
                    <a:pt x="80267" y="103417"/>
                    <a:pt x="51709" y="103417"/>
                  </a:cubicBezTo>
                  <a:cubicBezTo>
                    <a:pt x="23151" y="103417"/>
                    <a:pt x="0" y="80266"/>
                    <a:pt x="0" y="51709"/>
                  </a:cubicBezTo>
                  <a:cubicBezTo>
                    <a:pt x="0" y="23151"/>
                    <a:pt x="23151" y="0"/>
                    <a:pt x="51709" y="0"/>
                  </a:cubicBezTo>
                  <a:cubicBezTo>
                    <a:pt x="80266" y="0"/>
                    <a:pt x="103417" y="23151"/>
                    <a:pt x="103417" y="51709"/>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91" name="熊大的PPT宝库30-13"/>
            <p:cNvSpPr/>
            <p:nvPr/>
          </p:nvSpPr>
          <p:spPr>
            <a:xfrm rot="-802069">
              <a:off x="2419746" y="3801894"/>
              <a:ext cx="103418" cy="103418"/>
            </a:xfrm>
            <a:custGeom>
              <a:avLst/>
              <a:gdLst>
                <a:gd name="connsiteX0" fmla="*/ 103418 w 103418"/>
                <a:gd name="connsiteY0" fmla="*/ 51709 h 103418"/>
                <a:gd name="connsiteX1" fmla="*/ 51709 w 103418"/>
                <a:gd name="connsiteY1" fmla="*/ 103418 h 103418"/>
                <a:gd name="connsiteX2" fmla="*/ 0 w 103418"/>
                <a:gd name="connsiteY2" fmla="*/ 51709 h 103418"/>
                <a:gd name="connsiteX3" fmla="*/ 51709 w 103418"/>
                <a:gd name="connsiteY3" fmla="*/ 0 h 103418"/>
                <a:gd name="connsiteX4" fmla="*/ 103418 w 103418"/>
                <a:gd name="connsiteY4" fmla="*/ 51709 h 103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8" h="103418">
                  <a:moveTo>
                    <a:pt x="103418" y="51709"/>
                  </a:moveTo>
                  <a:cubicBezTo>
                    <a:pt x="103418" y="80267"/>
                    <a:pt x="80267" y="103418"/>
                    <a:pt x="51709" y="103418"/>
                  </a:cubicBezTo>
                  <a:cubicBezTo>
                    <a:pt x="23151" y="103418"/>
                    <a:pt x="0" y="80267"/>
                    <a:pt x="0" y="51709"/>
                  </a:cubicBezTo>
                  <a:cubicBezTo>
                    <a:pt x="0" y="23151"/>
                    <a:pt x="23151" y="0"/>
                    <a:pt x="51709" y="0"/>
                  </a:cubicBezTo>
                  <a:cubicBezTo>
                    <a:pt x="80267" y="0"/>
                    <a:pt x="103418" y="23151"/>
                    <a:pt x="103418" y="51709"/>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92" name="熊大的PPT宝库30-14"/>
            <p:cNvSpPr/>
            <p:nvPr/>
          </p:nvSpPr>
          <p:spPr>
            <a:xfrm rot="-2162552">
              <a:off x="2340230" y="3881705"/>
              <a:ext cx="103421" cy="103421"/>
            </a:xfrm>
            <a:custGeom>
              <a:avLst/>
              <a:gdLst>
                <a:gd name="connsiteX0" fmla="*/ 103421 w 103421"/>
                <a:gd name="connsiteY0" fmla="*/ 51711 h 103421"/>
                <a:gd name="connsiteX1" fmla="*/ 51710 w 103421"/>
                <a:gd name="connsiteY1" fmla="*/ 103421 h 103421"/>
                <a:gd name="connsiteX2" fmla="*/ 0 w 103421"/>
                <a:gd name="connsiteY2" fmla="*/ 51711 h 103421"/>
                <a:gd name="connsiteX3" fmla="*/ 51710 w 103421"/>
                <a:gd name="connsiteY3" fmla="*/ 0 h 103421"/>
                <a:gd name="connsiteX4" fmla="*/ 103421 w 103421"/>
                <a:gd name="connsiteY4" fmla="*/ 51711 h 103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21" h="103421">
                  <a:moveTo>
                    <a:pt x="103421" y="51711"/>
                  </a:moveTo>
                  <a:cubicBezTo>
                    <a:pt x="103421" y="80270"/>
                    <a:pt x="80270" y="103421"/>
                    <a:pt x="51710" y="103421"/>
                  </a:cubicBezTo>
                  <a:cubicBezTo>
                    <a:pt x="23152" y="103421"/>
                    <a:pt x="0" y="80269"/>
                    <a:pt x="0" y="51711"/>
                  </a:cubicBezTo>
                  <a:cubicBezTo>
                    <a:pt x="0" y="23152"/>
                    <a:pt x="23151" y="0"/>
                    <a:pt x="51710" y="0"/>
                  </a:cubicBezTo>
                  <a:cubicBezTo>
                    <a:pt x="80269" y="0"/>
                    <a:pt x="103421" y="23152"/>
                    <a:pt x="103421" y="51711"/>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93" name="熊大的PPT宝库30-15"/>
            <p:cNvSpPr/>
            <p:nvPr/>
          </p:nvSpPr>
          <p:spPr>
            <a:xfrm rot="-791813">
              <a:off x="2495402" y="3877097"/>
              <a:ext cx="103419" cy="103419"/>
            </a:xfrm>
            <a:custGeom>
              <a:avLst/>
              <a:gdLst>
                <a:gd name="connsiteX0" fmla="*/ 103420 w 103419"/>
                <a:gd name="connsiteY0" fmla="*/ 51710 h 103419"/>
                <a:gd name="connsiteX1" fmla="*/ 51710 w 103419"/>
                <a:gd name="connsiteY1" fmla="*/ 103419 h 103419"/>
                <a:gd name="connsiteX2" fmla="*/ 0 w 103419"/>
                <a:gd name="connsiteY2" fmla="*/ 51710 h 103419"/>
                <a:gd name="connsiteX3" fmla="*/ 51710 w 103419"/>
                <a:gd name="connsiteY3" fmla="*/ 0 h 103419"/>
                <a:gd name="connsiteX4" fmla="*/ 103420 w 103419"/>
                <a:gd name="connsiteY4" fmla="*/ 51710 h 103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9" h="103419">
                  <a:moveTo>
                    <a:pt x="103420" y="51710"/>
                  </a:moveTo>
                  <a:cubicBezTo>
                    <a:pt x="103420" y="80268"/>
                    <a:pt x="80268" y="103419"/>
                    <a:pt x="51710" y="103419"/>
                  </a:cubicBezTo>
                  <a:cubicBezTo>
                    <a:pt x="23151" y="103419"/>
                    <a:pt x="0" y="80268"/>
                    <a:pt x="0" y="51710"/>
                  </a:cubicBezTo>
                  <a:cubicBezTo>
                    <a:pt x="0" y="23151"/>
                    <a:pt x="23151" y="0"/>
                    <a:pt x="51710" y="0"/>
                  </a:cubicBezTo>
                  <a:cubicBezTo>
                    <a:pt x="80268" y="0"/>
                    <a:pt x="103420" y="23152"/>
                    <a:pt x="103420" y="51710"/>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94" name="熊大的PPT宝库30-16"/>
            <p:cNvSpPr/>
            <p:nvPr/>
          </p:nvSpPr>
          <p:spPr>
            <a:xfrm>
              <a:off x="2415620" y="3956825"/>
              <a:ext cx="103418" cy="103418"/>
            </a:xfrm>
            <a:custGeom>
              <a:avLst/>
              <a:gdLst>
                <a:gd name="connsiteX0" fmla="*/ 103419 w 103418"/>
                <a:gd name="connsiteY0" fmla="*/ 51709 h 103418"/>
                <a:gd name="connsiteX1" fmla="*/ 51709 w 103418"/>
                <a:gd name="connsiteY1" fmla="*/ 103419 h 103418"/>
                <a:gd name="connsiteX2" fmla="*/ 0 w 103418"/>
                <a:gd name="connsiteY2" fmla="*/ 51709 h 103418"/>
                <a:gd name="connsiteX3" fmla="*/ 51709 w 103418"/>
                <a:gd name="connsiteY3" fmla="*/ 0 h 103418"/>
                <a:gd name="connsiteX4" fmla="*/ 103419 w 103418"/>
                <a:gd name="connsiteY4" fmla="*/ 51709 h 103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8" h="103418">
                  <a:moveTo>
                    <a:pt x="103419" y="51709"/>
                  </a:moveTo>
                  <a:cubicBezTo>
                    <a:pt x="103419" y="80268"/>
                    <a:pt x="80268" y="103419"/>
                    <a:pt x="51709" y="103419"/>
                  </a:cubicBezTo>
                  <a:cubicBezTo>
                    <a:pt x="23151" y="103419"/>
                    <a:pt x="0" y="80267"/>
                    <a:pt x="0" y="51709"/>
                  </a:cubicBezTo>
                  <a:cubicBezTo>
                    <a:pt x="0" y="23151"/>
                    <a:pt x="23151" y="0"/>
                    <a:pt x="51709" y="0"/>
                  </a:cubicBezTo>
                  <a:cubicBezTo>
                    <a:pt x="80267" y="0"/>
                    <a:pt x="103419" y="23151"/>
                    <a:pt x="103419" y="51709"/>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95" name="熊大的PPT宝库30-17"/>
            <p:cNvSpPr/>
            <p:nvPr/>
          </p:nvSpPr>
          <p:spPr>
            <a:xfrm rot="-555532">
              <a:off x="2570652" y="3952774"/>
              <a:ext cx="103421" cy="103421"/>
            </a:xfrm>
            <a:custGeom>
              <a:avLst/>
              <a:gdLst>
                <a:gd name="connsiteX0" fmla="*/ 103422 w 103421"/>
                <a:gd name="connsiteY0" fmla="*/ 51711 h 103421"/>
                <a:gd name="connsiteX1" fmla="*/ 51711 w 103421"/>
                <a:gd name="connsiteY1" fmla="*/ 103422 h 103421"/>
                <a:gd name="connsiteX2" fmla="*/ 0 w 103421"/>
                <a:gd name="connsiteY2" fmla="*/ 51711 h 103421"/>
                <a:gd name="connsiteX3" fmla="*/ 51711 w 103421"/>
                <a:gd name="connsiteY3" fmla="*/ 0 h 103421"/>
                <a:gd name="connsiteX4" fmla="*/ 103422 w 103421"/>
                <a:gd name="connsiteY4" fmla="*/ 51711 h 103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21" h="103421">
                  <a:moveTo>
                    <a:pt x="103422" y="51711"/>
                  </a:moveTo>
                  <a:cubicBezTo>
                    <a:pt x="103422" y="80270"/>
                    <a:pt x="80270" y="103422"/>
                    <a:pt x="51711" y="103422"/>
                  </a:cubicBezTo>
                  <a:cubicBezTo>
                    <a:pt x="23152" y="103422"/>
                    <a:pt x="0" y="80270"/>
                    <a:pt x="0" y="51711"/>
                  </a:cubicBezTo>
                  <a:cubicBezTo>
                    <a:pt x="0" y="23152"/>
                    <a:pt x="23152" y="0"/>
                    <a:pt x="51711" y="0"/>
                  </a:cubicBezTo>
                  <a:cubicBezTo>
                    <a:pt x="80270" y="0"/>
                    <a:pt x="103422" y="23152"/>
                    <a:pt x="103422" y="51711"/>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96" name="熊大的PPT宝库30-18"/>
            <p:cNvSpPr/>
            <p:nvPr/>
          </p:nvSpPr>
          <p:spPr>
            <a:xfrm rot="-2700000">
              <a:off x="2490947" y="4032224"/>
              <a:ext cx="103417" cy="103417"/>
            </a:xfrm>
            <a:custGeom>
              <a:avLst/>
              <a:gdLst>
                <a:gd name="connsiteX0" fmla="*/ 103418 w 103417"/>
                <a:gd name="connsiteY0" fmla="*/ 51709 h 103417"/>
                <a:gd name="connsiteX1" fmla="*/ 51709 w 103417"/>
                <a:gd name="connsiteY1" fmla="*/ 103417 h 103417"/>
                <a:gd name="connsiteX2" fmla="*/ 0 w 103417"/>
                <a:gd name="connsiteY2" fmla="*/ 51709 h 103417"/>
                <a:gd name="connsiteX3" fmla="*/ 51709 w 103417"/>
                <a:gd name="connsiteY3" fmla="*/ 0 h 103417"/>
                <a:gd name="connsiteX4" fmla="*/ 103418 w 103417"/>
                <a:gd name="connsiteY4" fmla="*/ 51709 h 103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7" h="103417">
                  <a:moveTo>
                    <a:pt x="103418" y="51709"/>
                  </a:moveTo>
                  <a:cubicBezTo>
                    <a:pt x="103418" y="80267"/>
                    <a:pt x="80267" y="103417"/>
                    <a:pt x="51709" y="103417"/>
                  </a:cubicBezTo>
                  <a:cubicBezTo>
                    <a:pt x="23151" y="103417"/>
                    <a:pt x="0" y="80267"/>
                    <a:pt x="0" y="51709"/>
                  </a:cubicBezTo>
                  <a:cubicBezTo>
                    <a:pt x="0" y="23151"/>
                    <a:pt x="23151" y="0"/>
                    <a:pt x="51709" y="0"/>
                  </a:cubicBezTo>
                  <a:cubicBezTo>
                    <a:pt x="80267" y="0"/>
                    <a:pt x="103418" y="23151"/>
                    <a:pt x="103418" y="51709"/>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97" name="熊大的PPT宝库30-19"/>
            <p:cNvSpPr/>
            <p:nvPr/>
          </p:nvSpPr>
          <p:spPr>
            <a:xfrm rot="-2700000">
              <a:off x="2271244" y="4256230"/>
              <a:ext cx="103417" cy="103417"/>
            </a:xfrm>
            <a:custGeom>
              <a:avLst/>
              <a:gdLst>
                <a:gd name="connsiteX0" fmla="*/ 103418 w 103417"/>
                <a:gd name="connsiteY0" fmla="*/ 51709 h 103417"/>
                <a:gd name="connsiteX1" fmla="*/ 51709 w 103417"/>
                <a:gd name="connsiteY1" fmla="*/ 103417 h 103417"/>
                <a:gd name="connsiteX2" fmla="*/ 0 w 103417"/>
                <a:gd name="connsiteY2" fmla="*/ 51709 h 103417"/>
                <a:gd name="connsiteX3" fmla="*/ 51709 w 103417"/>
                <a:gd name="connsiteY3" fmla="*/ 0 h 103417"/>
                <a:gd name="connsiteX4" fmla="*/ 103418 w 103417"/>
                <a:gd name="connsiteY4" fmla="*/ 51709 h 103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7" h="103417">
                  <a:moveTo>
                    <a:pt x="103418" y="51709"/>
                  </a:moveTo>
                  <a:cubicBezTo>
                    <a:pt x="103418" y="80267"/>
                    <a:pt x="80267" y="103417"/>
                    <a:pt x="51709" y="103417"/>
                  </a:cubicBezTo>
                  <a:cubicBezTo>
                    <a:pt x="23151" y="103417"/>
                    <a:pt x="0" y="80266"/>
                    <a:pt x="0" y="51709"/>
                  </a:cubicBezTo>
                  <a:cubicBezTo>
                    <a:pt x="0" y="23151"/>
                    <a:pt x="23151" y="0"/>
                    <a:pt x="51709" y="0"/>
                  </a:cubicBezTo>
                  <a:cubicBezTo>
                    <a:pt x="80267" y="0"/>
                    <a:pt x="103418" y="23151"/>
                    <a:pt x="103418" y="51709"/>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98" name="熊大的PPT宝库30-20"/>
            <p:cNvSpPr/>
            <p:nvPr/>
          </p:nvSpPr>
          <p:spPr>
            <a:xfrm rot="-1363115">
              <a:off x="2191486" y="4176588"/>
              <a:ext cx="103417" cy="103417"/>
            </a:xfrm>
            <a:custGeom>
              <a:avLst/>
              <a:gdLst>
                <a:gd name="connsiteX0" fmla="*/ 103417 w 103417"/>
                <a:gd name="connsiteY0" fmla="*/ 51708 h 103417"/>
                <a:gd name="connsiteX1" fmla="*/ 51709 w 103417"/>
                <a:gd name="connsiteY1" fmla="*/ 103417 h 103417"/>
                <a:gd name="connsiteX2" fmla="*/ 0 w 103417"/>
                <a:gd name="connsiteY2" fmla="*/ 51708 h 103417"/>
                <a:gd name="connsiteX3" fmla="*/ 51709 w 103417"/>
                <a:gd name="connsiteY3" fmla="*/ 0 h 103417"/>
                <a:gd name="connsiteX4" fmla="*/ 103417 w 103417"/>
                <a:gd name="connsiteY4" fmla="*/ 51708 h 103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7" h="103417">
                  <a:moveTo>
                    <a:pt x="103417" y="51708"/>
                  </a:moveTo>
                  <a:cubicBezTo>
                    <a:pt x="103417" y="80266"/>
                    <a:pt x="80267" y="103417"/>
                    <a:pt x="51709" y="103417"/>
                  </a:cubicBezTo>
                  <a:cubicBezTo>
                    <a:pt x="23151" y="103417"/>
                    <a:pt x="0" y="80266"/>
                    <a:pt x="0" y="51708"/>
                  </a:cubicBezTo>
                  <a:cubicBezTo>
                    <a:pt x="0" y="23150"/>
                    <a:pt x="23151" y="0"/>
                    <a:pt x="51709" y="0"/>
                  </a:cubicBezTo>
                  <a:cubicBezTo>
                    <a:pt x="80266" y="0"/>
                    <a:pt x="103417" y="23151"/>
                    <a:pt x="103417" y="51708"/>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99" name="熊大的PPT宝库30-21"/>
            <p:cNvSpPr/>
            <p:nvPr/>
          </p:nvSpPr>
          <p:spPr>
            <a:xfrm>
              <a:off x="2346662" y="4180842"/>
              <a:ext cx="103418" cy="103418"/>
            </a:xfrm>
            <a:custGeom>
              <a:avLst/>
              <a:gdLst>
                <a:gd name="connsiteX0" fmla="*/ 103419 w 103418"/>
                <a:gd name="connsiteY0" fmla="*/ 51709 h 103418"/>
                <a:gd name="connsiteX1" fmla="*/ 51709 w 103418"/>
                <a:gd name="connsiteY1" fmla="*/ 103418 h 103418"/>
                <a:gd name="connsiteX2" fmla="*/ 0 w 103418"/>
                <a:gd name="connsiteY2" fmla="*/ 51709 h 103418"/>
                <a:gd name="connsiteX3" fmla="*/ 51709 w 103418"/>
                <a:gd name="connsiteY3" fmla="*/ 0 h 103418"/>
                <a:gd name="connsiteX4" fmla="*/ 103419 w 103418"/>
                <a:gd name="connsiteY4" fmla="*/ 51709 h 103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8" h="103418">
                  <a:moveTo>
                    <a:pt x="103419" y="51709"/>
                  </a:moveTo>
                  <a:cubicBezTo>
                    <a:pt x="103419" y="80268"/>
                    <a:pt x="80268" y="103418"/>
                    <a:pt x="51709" y="103418"/>
                  </a:cubicBezTo>
                  <a:cubicBezTo>
                    <a:pt x="23151" y="103418"/>
                    <a:pt x="0" y="80267"/>
                    <a:pt x="0" y="51709"/>
                  </a:cubicBezTo>
                  <a:cubicBezTo>
                    <a:pt x="0" y="23151"/>
                    <a:pt x="23151" y="0"/>
                    <a:pt x="51709" y="0"/>
                  </a:cubicBezTo>
                  <a:cubicBezTo>
                    <a:pt x="80267" y="0"/>
                    <a:pt x="103419" y="23151"/>
                    <a:pt x="103419" y="51709"/>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100" name="熊大的PPT宝库30-22"/>
            <p:cNvSpPr/>
            <p:nvPr/>
          </p:nvSpPr>
          <p:spPr>
            <a:xfrm rot="-4597931">
              <a:off x="2266890" y="4100976"/>
              <a:ext cx="103418" cy="103418"/>
            </a:xfrm>
            <a:custGeom>
              <a:avLst/>
              <a:gdLst>
                <a:gd name="connsiteX0" fmla="*/ 103418 w 103418"/>
                <a:gd name="connsiteY0" fmla="*/ 51709 h 103418"/>
                <a:gd name="connsiteX1" fmla="*/ 51709 w 103418"/>
                <a:gd name="connsiteY1" fmla="*/ 103418 h 103418"/>
                <a:gd name="connsiteX2" fmla="*/ 0 w 103418"/>
                <a:gd name="connsiteY2" fmla="*/ 51709 h 103418"/>
                <a:gd name="connsiteX3" fmla="*/ 51709 w 103418"/>
                <a:gd name="connsiteY3" fmla="*/ 0 h 103418"/>
                <a:gd name="connsiteX4" fmla="*/ 103418 w 103418"/>
                <a:gd name="connsiteY4" fmla="*/ 51709 h 103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8" h="103418">
                  <a:moveTo>
                    <a:pt x="103418" y="51709"/>
                  </a:moveTo>
                  <a:cubicBezTo>
                    <a:pt x="103418" y="80267"/>
                    <a:pt x="80267" y="103418"/>
                    <a:pt x="51709" y="103418"/>
                  </a:cubicBezTo>
                  <a:cubicBezTo>
                    <a:pt x="23151" y="103418"/>
                    <a:pt x="0" y="80267"/>
                    <a:pt x="0" y="51709"/>
                  </a:cubicBezTo>
                  <a:cubicBezTo>
                    <a:pt x="0" y="23151"/>
                    <a:pt x="23151" y="0"/>
                    <a:pt x="51709" y="0"/>
                  </a:cubicBezTo>
                  <a:cubicBezTo>
                    <a:pt x="80267" y="0"/>
                    <a:pt x="103418" y="23151"/>
                    <a:pt x="103418" y="51709"/>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101" name="熊大的PPT宝库30-23"/>
            <p:cNvSpPr/>
            <p:nvPr/>
          </p:nvSpPr>
          <p:spPr>
            <a:xfrm rot="-1220367">
              <a:off x="2417953" y="4105625"/>
              <a:ext cx="103424" cy="103424"/>
            </a:xfrm>
            <a:custGeom>
              <a:avLst/>
              <a:gdLst>
                <a:gd name="connsiteX0" fmla="*/ 103424 w 103424"/>
                <a:gd name="connsiteY0" fmla="*/ 51712 h 103424"/>
                <a:gd name="connsiteX1" fmla="*/ 51712 w 103424"/>
                <a:gd name="connsiteY1" fmla="*/ 103424 h 103424"/>
                <a:gd name="connsiteX2" fmla="*/ 0 w 103424"/>
                <a:gd name="connsiteY2" fmla="*/ 51712 h 103424"/>
                <a:gd name="connsiteX3" fmla="*/ 51712 w 103424"/>
                <a:gd name="connsiteY3" fmla="*/ 0 h 103424"/>
                <a:gd name="connsiteX4" fmla="*/ 103424 w 103424"/>
                <a:gd name="connsiteY4" fmla="*/ 51712 h 1034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24" h="103424">
                  <a:moveTo>
                    <a:pt x="103424" y="51712"/>
                  </a:moveTo>
                  <a:cubicBezTo>
                    <a:pt x="103424" y="80272"/>
                    <a:pt x="80272" y="103424"/>
                    <a:pt x="51712" y="103424"/>
                  </a:cubicBezTo>
                  <a:cubicBezTo>
                    <a:pt x="23152" y="103424"/>
                    <a:pt x="0" y="80272"/>
                    <a:pt x="0" y="51712"/>
                  </a:cubicBezTo>
                  <a:cubicBezTo>
                    <a:pt x="0" y="23152"/>
                    <a:pt x="23152" y="0"/>
                    <a:pt x="51712" y="0"/>
                  </a:cubicBezTo>
                  <a:cubicBezTo>
                    <a:pt x="80272" y="0"/>
                    <a:pt x="103424" y="23153"/>
                    <a:pt x="103424" y="51712"/>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102" name="熊大的PPT宝库30-24"/>
            <p:cNvSpPr/>
            <p:nvPr/>
          </p:nvSpPr>
          <p:spPr>
            <a:xfrm rot="-2700000">
              <a:off x="2338024" y="4025772"/>
              <a:ext cx="103417" cy="103417"/>
            </a:xfrm>
            <a:custGeom>
              <a:avLst/>
              <a:gdLst>
                <a:gd name="connsiteX0" fmla="*/ 103418 w 103417"/>
                <a:gd name="connsiteY0" fmla="*/ 51709 h 103417"/>
                <a:gd name="connsiteX1" fmla="*/ 51709 w 103417"/>
                <a:gd name="connsiteY1" fmla="*/ 103417 h 103417"/>
                <a:gd name="connsiteX2" fmla="*/ 0 w 103417"/>
                <a:gd name="connsiteY2" fmla="*/ 51709 h 103417"/>
                <a:gd name="connsiteX3" fmla="*/ 51709 w 103417"/>
                <a:gd name="connsiteY3" fmla="*/ 0 h 103417"/>
                <a:gd name="connsiteX4" fmla="*/ 103418 w 103417"/>
                <a:gd name="connsiteY4" fmla="*/ 51709 h 103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17" h="103417">
                  <a:moveTo>
                    <a:pt x="103418" y="51709"/>
                  </a:moveTo>
                  <a:cubicBezTo>
                    <a:pt x="103418" y="80267"/>
                    <a:pt x="80267" y="103417"/>
                    <a:pt x="51709" y="103417"/>
                  </a:cubicBezTo>
                  <a:cubicBezTo>
                    <a:pt x="23151" y="103417"/>
                    <a:pt x="0" y="80267"/>
                    <a:pt x="0" y="51709"/>
                  </a:cubicBezTo>
                  <a:cubicBezTo>
                    <a:pt x="0" y="23151"/>
                    <a:pt x="23151" y="0"/>
                    <a:pt x="51709" y="0"/>
                  </a:cubicBezTo>
                  <a:cubicBezTo>
                    <a:pt x="80267" y="0"/>
                    <a:pt x="103418" y="23151"/>
                    <a:pt x="103418" y="51709"/>
                  </a:cubicBezTo>
                  <a:close/>
                </a:path>
              </a:pathLst>
            </a:custGeom>
            <a:grp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grpSp>
      <p:sp>
        <p:nvSpPr>
          <p:cNvPr id="103" name="熊大的PPT宝库31"/>
          <p:cNvSpPr/>
          <p:nvPr/>
        </p:nvSpPr>
        <p:spPr>
          <a:xfrm>
            <a:off x="4585649" y="4224067"/>
            <a:ext cx="647701" cy="240399"/>
          </a:xfrm>
          <a:prstGeom prst="round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4" name="熊大的PPT宝库32"/>
          <p:cNvSpPr txBox="1"/>
          <p:nvPr/>
        </p:nvSpPr>
        <p:spPr>
          <a:xfrm>
            <a:off x="4653019" y="4267322"/>
            <a:ext cx="512961" cy="153888"/>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达人类型</a:t>
            </a:r>
          </a:p>
        </p:txBody>
      </p:sp>
      <p:sp>
        <p:nvSpPr>
          <p:cNvPr id="105" name="熊大的PPT宝库33"/>
          <p:cNvSpPr/>
          <p:nvPr/>
        </p:nvSpPr>
        <p:spPr>
          <a:xfrm>
            <a:off x="5766292" y="4224067"/>
            <a:ext cx="647701" cy="240399"/>
          </a:xfrm>
          <a:prstGeom prst="round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6" name="熊大的PPT宝库34"/>
          <p:cNvSpPr txBox="1"/>
          <p:nvPr/>
        </p:nvSpPr>
        <p:spPr>
          <a:xfrm>
            <a:off x="5961902" y="4267322"/>
            <a:ext cx="256480" cy="153888"/>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特点</a:t>
            </a:r>
          </a:p>
        </p:txBody>
      </p:sp>
      <p:sp>
        <p:nvSpPr>
          <p:cNvPr id="107" name="熊大的PPT宝库35"/>
          <p:cNvSpPr/>
          <p:nvPr/>
        </p:nvSpPr>
        <p:spPr>
          <a:xfrm>
            <a:off x="6920226" y="4224067"/>
            <a:ext cx="647701" cy="240399"/>
          </a:xfrm>
          <a:prstGeom prst="round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8" name="熊大的PPT宝库36"/>
          <p:cNvSpPr txBox="1"/>
          <p:nvPr/>
        </p:nvSpPr>
        <p:spPr>
          <a:xfrm>
            <a:off x="6987596" y="4267322"/>
            <a:ext cx="512961" cy="153888"/>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发展模式</a:t>
            </a:r>
          </a:p>
        </p:txBody>
      </p:sp>
      <p:grpSp>
        <p:nvGrpSpPr>
          <p:cNvPr id="130" name="熊大的PPT宝库37"/>
          <p:cNvGrpSpPr/>
          <p:nvPr/>
        </p:nvGrpSpPr>
        <p:grpSpPr>
          <a:xfrm>
            <a:off x="4405859" y="4572968"/>
            <a:ext cx="3348333" cy="300777"/>
            <a:chOff x="4405859" y="4572968"/>
            <a:chExt cx="3348333" cy="300777"/>
          </a:xfrm>
        </p:grpSpPr>
        <p:sp>
          <p:nvSpPr>
            <p:cNvPr id="109" name="熊大的PPT宝库37-1"/>
            <p:cNvSpPr/>
            <p:nvPr/>
          </p:nvSpPr>
          <p:spPr>
            <a:xfrm>
              <a:off x="4405859" y="4573636"/>
              <a:ext cx="991148" cy="300109"/>
            </a:xfrm>
            <a:prstGeom prst="roundRect">
              <a:avLst>
                <a:gd name="adj" fmla="val 7272"/>
              </a:avLst>
            </a:prstGeom>
            <a:solidFill>
              <a:schemeClr val="accent1">
                <a:lumMod val="20000"/>
                <a:lumOff val="80000"/>
              </a:schemeClr>
            </a:solid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0" name="熊大的PPT宝库37-2"/>
            <p:cNvSpPr/>
            <p:nvPr/>
          </p:nvSpPr>
          <p:spPr>
            <a:xfrm>
              <a:off x="5470297" y="4572968"/>
              <a:ext cx="1227683" cy="300109"/>
            </a:xfrm>
            <a:prstGeom prst="roundRect">
              <a:avLst>
                <a:gd name="adj" fmla="val 7272"/>
              </a:avLst>
            </a:prstGeom>
            <a:no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1" name="熊大的PPT宝库37-3"/>
            <p:cNvSpPr/>
            <p:nvPr/>
          </p:nvSpPr>
          <p:spPr>
            <a:xfrm>
              <a:off x="6733961" y="4572968"/>
              <a:ext cx="1020231" cy="300109"/>
            </a:xfrm>
            <a:prstGeom prst="roundRect">
              <a:avLst>
                <a:gd name="adj" fmla="val 7272"/>
              </a:avLst>
            </a:prstGeom>
            <a:no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2" name="熊大的PPT宝库37-4"/>
            <p:cNvSpPr txBox="1"/>
            <p:nvPr/>
          </p:nvSpPr>
          <p:spPr>
            <a:xfrm>
              <a:off x="4593657" y="4600580"/>
              <a:ext cx="615553" cy="246221"/>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rgbClr val="00329D"/>
                  </a:solidFill>
                  <a:effectLst/>
                  <a:uLnTx/>
                  <a:uFillTx/>
                  <a:cs typeface="+mn-ea"/>
                  <a:sym typeface="+mn-lt"/>
                </a:rPr>
                <a:t>a.</a:t>
              </a:r>
              <a:r>
                <a:rPr kumimoji="0" lang="zh-CN" altLang="en-US" sz="800" b="0" i="0" u="none" strike="noStrike" kern="1200" cap="none" spc="0" normalizeH="0" baseline="0" noProof="0" dirty="0">
                  <a:ln>
                    <a:noFill/>
                  </a:ln>
                  <a:solidFill>
                    <a:srgbClr val="00329D"/>
                  </a:solidFill>
                  <a:effectLst/>
                  <a:uLnTx/>
                  <a:uFillTx/>
                  <a:cs typeface="+mn-ea"/>
                  <a:sym typeface="+mn-lt"/>
                </a:rPr>
                <a:t>有人设的</a:t>
              </a:r>
              <a:endParaRPr kumimoji="0" lang="en-US" altLang="zh-CN" sz="8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329D"/>
                  </a:solidFill>
                  <a:effectLst/>
                  <a:uLnTx/>
                  <a:uFillTx/>
                  <a:cs typeface="+mn-ea"/>
                  <a:sym typeface="+mn-lt"/>
                </a:rPr>
                <a:t>职业电商达人</a:t>
              </a:r>
            </a:p>
          </p:txBody>
        </p:sp>
      </p:grpSp>
      <p:grpSp>
        <p:nvGrpSpPr>
          <p:cNvPr id="129" name="熊大的PPT宝库38"/>
          <p:cNvGrpSpPr/>
          <p:nvPr/>
        </p:nvGrpSpPr>
        <p:grpSpPr>
          <a:xfrm>
            <a:off x="4405859" y="4938548"/>
            <a:ext cx="3348333" cy="300777"/>
            <a:chOff x="4405859" y="4938548"/>
            <a:chExt cx="3348333" cy="300777"/>
          </a:xfrm>
        </p:grpSpPr>
        <p:sp>
          <p:nvSpPr>
            <p:cNvPr id="113" name="熊大的PPT宝库38-1"/>
            <p:cNvSpPr/>
            <p:nvPr/>
          </p:nvSpPr>
          <p:spPr>
            <a:xfrm>
              <a:off x="4405859" y="4939216"/>
              <a:ext cx="991148" cy="300109"/>
            </a:xfrm>
            <a:prstGeom prst="roundRect">
              <a:avLst>
                <a:gd name="adj" fmla="val 7272"/>
              </a:avLst>
            </a:prstGeom>
            <a:solidFill>
              <a:schemeClr val="accent1">
                <a:lumMod val="20000"/>
                <a:lumOff val="80000"/>
              </a:schemeClr>
            </a:solid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4" name="熊大的PPT宝库38-2"/>
            <p:cNvSpPr/>
            <p:nvPr/>
          </p:nvSpPr>
          <p:spPr>
            <a:xfrm>
              <a:off x="5470297" y="4938548"/>
              <a:ext cx="1227683" cy="300109"/>
            </a:xfrm>
            <a:prstGeom prst="roundRect">
              <a:avLst>
                <a:gd name="adj" fmla="val 7272"/>
              </a:avLst>
            </a:prstGeom>
            <a:no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5" name="熊大的PPT宝库38-3"/>
            <p:cNvSpPr/>
            <p:nvPr/>
          </p:nvSpPr>
          <p:spPr>
            <a:xfrm>
              <a:off x="6733961" y="4938548"/>
              <a:ext cx="1020231" cy="300109"/>
            </a:xfrm>
            <a:prstGeom prst="roundRect">
              <a:avLst>
                <a:gd name="adj" fmla="val 7272"/>
              </a:avLst>
            </a:prstGeom>
            <a:no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6" name="熊大的PPT宝库38-4"/>
            <p:cNvSpPr txBox="1"/>
            <p:nvPr/>
          </p:nvSpPr>
          <p:spPr>
            <a:xfrm>
              <a:off x="4593657" y="4939216"/>
              <a:ext cx="615553" cy="246221"/>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rgbClr val="00329D"/>
                  </a:solidFill>
                  <a:effectLst/>
                  <a:uLnTx/>
                  <a:uFillTx/>
                  <a:cs typeface="+mn-ea"/>
                  <a:sym typeface="+mn-lt"/>
                </a:rPr>
                <a:t>b.</a:t>
              </a: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329D"/>
                  </a:solidFill>
                  <a:effectLst/>
                  <a:uLnTx/>
                  <a:uFillTx/>
                  <a:cs typeface="+mn-ea"/>
                  <a:sym typeface="+mn-lt"/>
                </a:rPr>
                <a:t>垂直电商达人</a:t>
              </a:r>
            </a:p>
          </p:txBody>
        </p:sp>
      </p:grpSp>
      <p:grpSp>
        <p:nvGrpSpPr>
          <p:cNvPr id="126" name="熊大的PPT宝库39"/>
          <p:cNvGrpSpPr/>
          <p:nvPr/>
        </p:nvGrpSpPr>
        <p:grpSpPr>
          <a:xfrm>
            <a:off x="4405859" y="5329251"/>
            <a:ext cx="3348333" cy="300777"/>
            <a:chOff x="4405859" y="5329251"/>
            <a:chExt cx="3348333" cy="300777"/>
          </a:xfrm>
        </p:grpSpPr>
        <p:sp>
          <p:nvSpPr>
            <p:cNvPr id="117" name="熊大的PPT宝库39-1"/>
            <p:cNvSpPr/>
            <p:nvPr/>
          </p:nvSpPr>
          <p:spPr>
            <a:xfrm>
              <a:off x="4405859" y="5329919"/>
              <a:ext cx="991148" cy="300109"/>
            </a:xfrm>
            <a:prstGeom prst="roundRect">
              <a:avLst>
                <a:gd name="adj" fmla="val 7272"/>
              </a:avLst>
            </a:prstGeom>
            <a:solidFill>
              <a:schemeClr val="accent1">
                <a:lumMod val="20000"/>
                <a:lumOff val="80000"/>
              </a:schemeClr>
            </a:solid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8" name="熊大的PPT宝库39-2"/>
            <p:cNvSpPr/>
            <p:nvPr/>
          </p:nvSpPr>
          <p:spPr>
            <a:xfrm>
              <a:off x="5470297" y="5329251"/>
              <a:ext cx="1227683" cy="300109"/>
            </a:xfrm>
            <a:prstGeom prst="roundRect">
              <a:avLst>
                <a:gd name="adj" fmla="val 7272"/>
              </a:avLst>
            </a:prstGeom>
            <a:no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9" name="熊大的PPT宝库39-3"/>
            <p:cNvSpPr/>
            <p:nvPr/>
          </p:nvSpPr>
          <p:spPr>
            <a:xfrm>
              <a:off x="6733961" y="5329251"/>
              <a:ext cx="1020231" cy="300109"/>
            </a:xfrm>
            <a:prstGeom prst="roundRect">
              <a:avLst>
                <a:gd name="adj" fmla="val 7272"/>
              </a:avLst>
            </a:prstGeom>
            <a:no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0" name="熊大的PPT宝库39-4"/>
            <p:cNvSpPr txBox="1"/>
            <p:nvPr/>
          </p:nvSpPr>
          <p:spPr>
            <a:xfrm>
              <a:off x="4593657" y="5356863"/>
              <a:ext cx="615553" cy="246221"/>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rgbClr val="00329D"/>
                  </a:solidFill>
                  <a:effectLst/>
                  <a:uLnTx/>
                  <a:uFillTx/>
                  <a:cs typeface="+mn-ea"/>
                  <a:sym typeface="+mn-lt"/>
                </a:rPr>
                <a:t>c.</a:t>
              </a: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329D"/>
                  </a:solidFill>
                  <a:effectLst/>
                  <a:uLnTx/>
                  <a:uFillTx/>
                  <a:cs typeface="+mn-ea"/>
                  <a:sym typeface="+mn-lt"/>
                </a:rPr>
                <a:t>娱乐电商达人</a:t>
              </a:r>
            </a:p>
          </p:txBody>
        </p:sp>
      </p:grpSp>
      <p:grpSp>
        <p:nvGrpSpPr>
          <p:cNvPr id="125" name="熊大的PPT宝库40"/>
          <p:cNvGrpSpPr/>
          <p:nvPr/>
        </p:nvGrpSpPr>
        <p:grpSpPr>
          <a:xfrm>
            <a:off x="4405859" y="5797533"/>
            <a:ext cx="3348333" cy="300777"/>
            <a:chOff x="4405859" y="5797533"/>
            <a:chExt cx="3348333" cy="300777"/>
          </a:xfrm>
        </p:grpSpPr>
        <p:sp>
          <p:nvSpPr>
            <p:cNvPr id="121" name="熊大的PPT宝库40-1"/>
            <p:cNvSpPr/>
            <p:nvPr/>
          </p:nvSpPr>
          <p:spPr>
            <a:xfrm>
              <a:off x="4405859" y="5798201"/>
              <a:ext cx="991148" cy="300109"/>
            </a:xfrm>
            <a:prstGeom prst="roundRect">
              <a:avLst>
                <a:gd name="adj" fmla="val 7272"/>
              </a:avLst>
            </a:prstGeom>
            <a:solidFill>
              <a:schemeClr val="accent1">
                <a:lumMod val="20000"/>
                <a:lumOff val="80000"/>
              </a:schemeClr>
            </a:solid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2" name="熊大的PPT宝库40-2"/>
            <p:cNvSpPr/>
            <p:nvPr/>
          </p:nvSpPr>
          <p:spPr>
            <a:xfrm>
              <a:off x="5470297" y="5797533"/>
              <a:ext cx="1227683" cy="300109"/>
            </a:xfrm>
            <a:prstGeom prst="roundRect">
              <a:avLst>
                <a:gd name="adj" fmla="val 7272"/>
              </a:avLst>
            </a:prstGeom>
            <a:no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3" name="熊大的PPT宝库40-3"/>
            <p:cNvSpPr/>
            <p:nvPr/>
          </p:nvSpPr>
          <p:spPr>
            <a:xfrm>
              <a:off x="6733961" y="5797533"/>
              <a:ext cx="1020231" cy="300109"/>
            </a:xfrm>
            <a:prstGeom prst="roundRect">
              <a:avLst>
                <a:gd name="adj" fmla="val 7272"/>
              </a:avLst>
            </a:prstGeom>
            <a:no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4" name="熊大的PPT宝库40-4"/>
            <p:cNvSpPr txBox="1"/>
            <p:nvPr/>
          </p:nvSpPr>
          <p:spPr>
            <a:xfrm>
              <a:off x="4593657" y="5825145"/>
              <a:ext cx="512961" cy="246221"/>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rgbClr val="00329D"/>
                  </a:solidFill>
                  <a:effectLst/>
                  <a:uLnTx/>
                  <a:uFillTx/>
                  <a:cs typeface="+mn-ea"/>
                  <a:sym typeface="+mn-lt"/>
                </a:rPr>
                <a:t>d.</a:t>
              </a: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329D"/>
                  </a:solidFill>
                  <a:effectLst/>
                  <a:uLnTx/>
                  <a:uFillTx/>
                  <a:cs typeface="+mn-ea"/>
                  <a:sym typeface="+mn-lt"/>
                </a:rPr>
                <a:t>种草型达人</a:t>
              </a:r>
            </a:p>
          </p:txBody>
        </p:sp>
      </p:grpSp>
      <p:sp>
        <p:nvSpPr>
          <p:cNvPr id="131" name="熊大的PPT宝库41"/>
          <p:cNvSpPr txBox="1"/>
          <p:nvPr/>
        </p:nvSpPr>
        <p:spPr>
          <a:xfrm>
            <a:off x="5521538" y="4611274"/>
            <a:ext cx="1157392"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有较强，鲜明的人设特点，有自己的铁粉</a:t>
            </a:r>
          </a:p>
        </p:txBody>
      </p:sp>
      <p:sp>
        <p:nvSpPr>
          <p:cNvPr id="132" name="熊大的PPT宝库42"/>
          <p:cNvSpPr txBox="1"/>
          <p:nvPr/>
        </p:nvSpPr>
        <p:spPr>
          <a:xfrm>
            <a:off x="6804252" y="4611274"/>
            <a:ext cx="949940"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发展成大众品，主打性价比</a:t>
            </a:r>
          </a:p>
        </p:txBody>
      </p:sp>
      <p:sp>
        <p:nvSpPr>
          <p:cNvPr id="133" name="熊大的PPT宝库43"/>
          <p:cNvSpPr txBox="1"/>
          <p:nvPr/>
        </p:nvSpPr>
        <p:spPr>
          <a:xfrm>
            <a:off x="5521538" y="4973169"/>
            <a:ext cx="1157392"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有较强，鲜明的人设特点，有自己的铁粉</a:t>
            </a:r>
          </a:p>
        </p:txBody>
      </p:sp>
      <p:sp>
        <p:nvSpPr>
          <p:cNvPr id="134" name="熊大的PPT宝库44"/>
          <p:cNvSpPr txBox="1"/>
          <p:nvPr/>
        </p:nvSpPr>
        <p:spPr>
          <a:xfrm>
            <a:off x="6804252" y="4973169"/>
            <a:ext cx="949940"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发展成大众品，主打性价比</a:t>
            </a:r>
          </a:p>
        </p:txBody>
      </p:sp>
      <p:sp>
        <p:nvSpPr>
          <p:cNvPr id="135" name="熊大的PPT宝库45"/>
          <p:cNvSpPr txBox="1"/>
          <p:nvPr/>
        </p:nvSpPr>
        <p:spPr>
          <a:xfrm>
            <a:off x="5521538" y="5353246"/>
            <a:ext cx="1157392"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有较强，鲜明的人设特点，有自己的铁粉</a:t>
            </a:r>
          </a:p>
        </p:txBody>
      </p:sp>
      <p:sp>
        <p:nvSpPr>
          <p:cNvPr id="136" name="熊大的PPT宝库46"/>
          <p:cNvSpPr txBox="1"/>
          <p:nvPr/>
        </p:nvSpPr>
        <p:spPr>
          <a:xfrm>
            <a:off x="6804252" y="5353246"/>
            <a:ext cx="949940"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发展成大众品，主打性价比</a:t>
            </a:r>
          </a:p>
        </p:txBody>
      </p:sp>
      <p:sp>
        <p:nvSpPr>
          <p:cNvPr id="137" name="熊大的PPT宝库47"/>
          <p:cNvSpPr txBox="1"/>
          <p:nvPr/>
        </p:nvSpPr>
        <p:spPr>
          <a:xfrm>
            <a:off x="5521538" y="5820804"/>
            <a:ext cx="1157392"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有较强，鲜明的人设特点，有自己的铁粉</a:t>
            </a:r>
          </a:p>
        </p:txBody>
      </p:sp>
      <p:sp>
        <p:nvSpPr>
          <p:cNvPr id="138" name="熊大的PPT宝库48"/>
          <p:cNvSpPr txBox="1"/>
          <p:nvPr/>
        </p:nvSpPr>
        <p:spPr>
          <a:xfrm>
            <a:off x="6804252" y="5820804"/>
            <a:ext cx="949940"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发展成大众品，主打性价比</a:t>
            </a:r>
          </a:p>
        </p:txBody>
      </p:sp>
      <p:sp>
        <p:nvSpPr>
          <p:cNvPr id="139" name="熊大的PPT宝库49"/>
          <p:cNvSpPr txBox="1"/>
          <p:nvPr/>
        </p:nvSpPr>
        <p:spPr>
          <a:xfrm>
            <a:off x="8111831" y="1104577"/>
            <a:ext cx="3407273" cy="738664"/>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不同类型的达人有各自独特的成长路径，在精进内容和效率的同时，也可以转变思路，通过转型取得突破，不同类型的达人。可以通过强化专业内容，提升电商能力，传播种草能力，加大</a:t>
            </a:r>
          </a:p>
        </p:txBody>
      </p:sp>
      <p:sp>
        <p:nvSpPr>
          <p:cNvPr id="142" name="熊大的PPT宝库50"/>
          <p:cNvSpPr/>
          <p:nvPr/>
        </p:nvSpPr>
        <p:spPr>
          <a:xfrm>
            <a:off x="9377552" y="2713156"/>
            <a:ext cx="1046431" cy="1046431"/>
          </a:xfrm>
          <a:prstGeom prst="ellipse">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cxnSp>
        <p:nvCxnSpPr>
          <p:cNvPr id="143" name="熊大的PPT宝库51"/>
          <p:cNvCxnSpPr/>
          <p:nvPr/>
        </p:nvCxnSpPr>
        <p:spPr>
          <a:xfrm>
            <a:off x="9174838" y="3195211"/>
            <a:ext cx="1438405" cy="1"/>
          </a:xfrm>
          <a:prstGeom prst="line">
            <a:avLst/>
          </a:prstGeom>
          <a:ln>
            <a:headEnd type="oval"/>
            <a:tailEnd type="oval"/>
          </a:ln>
        </p:spPr>
        <p:style>
          <a:lnRef idx="1">
            <a:schemeClr val="accent1"/>
          </a:lnRef>
          <a:fillRef idx="0">
            <a:schemeClr val="accent1"/>
          </a:fillRef>
          <a:effectRef idx="0">
            <a:schemeClr val="accent1"/>
          </a:effectRef>
          <a:fontRef idx="minor">
            <a:schemeClr val="tx1"/>
          </a:fontRef>
        </p:style>
      </p:cxnSp>
      <p:cxnSp>
        <p:nvCxnSpPr>
          <p:cNvPr id="144" name="熊大的PPT宝库52"/>
          <p:cNvCxnSpPr/>
          <p:nvPr/>
        </p:nvCxnSpPr>
        <p:spPr>
          <a:xfrm flipH="1">
            <a:off x="9892913" y="2512080"/>
            <a:ext cx="1" cy="1436767"/>
          </a:xfrm>
          <a:prstGeom prst="line">
            <a:avLst/>
          </a:prstGeom>
          <a:ln>
            <a:headEnd type="oval"/>
            <a:tailEnd type="oval"/>
          </a:ln>
        </p:spPr>
        <p:style>
          <a:lnRef idx="1">
            <a:schemeClr val="accent1"/>
          </a:lnRef>
          <a:fillRef idx="0">
            <a:schemeClr val="accent1"/>
          </a:fillRef>
          <a:effectRef idx="0">
            <a:schemeClr val="accent1"/>
          </a:effectRef>
          <a:fontRef idx="minor">
            <a:schemeClr val="tx1"/>
          </a:fontRef>
        </p:style>
      </p:cxnSp>
      <p:sp>
        <p:nvSpPr>
          <p:cNvPr id="145" name="熊大的PPT宝库53"/>
          <p:cNvSpPr/>
          <p:nvPr/>
        </p:nvSpPr>
        <p:spPr>
          <a:xfrm>
            <a:off x="9188292" y="2523896"/>
            <a:ext cx="1424951" cy="1424951"/>
          </a:xfrm>
          <a:prstGeom prst="ellipse">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46" name="熊大的PPT宝库54"/>
          <p:cNvSpPr/>
          <p:nvPr/>
        </p:nvSpPr>
        <p:spPr>
          <a:xfrm>
            <a:off x="9512769" y="2042627"/>
            <a:ext cx="760290" cy="282187"/>
          </a:xfrm>
          <a:prstGeom prst="round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47" name="熊大的PPT宝库55"/>
          <p:cNvSpPr txBox="1"/>
          <p:nvPr/>
        </p:nvSpPr>
        <p:spPr>
          <a:xfrm>
            <a:off x="9662082" y="2114471"/>
            <a:ext cx="461665" cy="1384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solidFill>
                <a:effectLst/>
                <a:uLnTx/>
                <a:uFillTx/>
                <a:cs typeface="+mn-ea"/>
                <a:sym typeface="+mn-lt"/>
              </a:rPr>
              <a:t>内容有趣</a:t>
            </a:r>
          </a:p>
        </p:txBody>
      </p:sp>
      <p:sp>
        <p:nvSpPr>
          <p:cNvPr id="148" name="熊大的PPT宝库56"/>
          <p:cNvSpPr/>
          <p:nvPr/>
        </p:nvSpPr>
        <p:spPr>
          <a:xfrm>
            <a:off x="9512769" y="4136112"/>
            <a:ext cx="760290" cy="282187"/>
          </a:xfrm>
          <a:prstGeom prst="round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49" name="熊大的PPT宝库57"/>
          <p:cNvSpPr txBox="1"/>
          <p:nvPr/>
        </p:nvSpPr>
        <p:spPr>
          <a:xfrm>
            <a:off x="9636434" y="4186886"/>
            <a:ext cx="512961" cy="153888"/>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内容有用</a:t>
            </a:r>
          </a:p>
        </p:txBody>
      </p:sp>
      <p:sp>
        <p:nvSpPr>
          <p:cNvPr id="150" name="熊大的PPT宝库58"/>
          <p:cNvSpPr/>
          <p:nvPr/>
        </p:nvSpPr>
        <p:spPr>
          <a:xfrm>
            <a:off x="8133718" y="3092641"/>
            <a:ext cx="779309" cy="278931"/>
          </a:xfrm>
          <a:prstGeom prst="round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1" name="熊大的PPT宝库59"/>
          <p:cNvSpPr txBox="1"/>
          <p:nvPr/>
        </p:nvSpPr>
        <p:spPr>
          <a:xfrm>
            <a:off x="8234832" y="3162857"/>
            <a:ext cx="577081" cy="13849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solidFill>
                <a:effectLst/>
                <a:uLnTx/>
                <a:uFillTx/>
                <a:cs typeface="+mn-ea"/>
                <a:sym typeface="+mn-lt"/>
              </a:rPr>
              <a:t>流量规模大</a:t>
            </a:r>
          </a:p>
        </p:txBody>
      </p:sp>
      <p:sp>
        <p:nvSpPr>
          <p:cNvPr id="152" name="熊大的PPT宝库60"/>
          <p:cNvSpPr/>
          <p:nvPr/>
        </p:nvSpPr>
        <p:spPr>
          <a:xfrm>
            <a:off x="10802504" y="3083289"/>
            <a:ext cx="773086" cy="274190"/>
          </a:xfrm>
          <a:prstGeom prst="round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3" name="熊大的PPT宝库61"/>
          <p:cNvSpPr txBox="1"/>
          <p:nvPr/>
        </p:nvSpPr>
        <p:spPr>
          <a:xfrm>
            <a:off x="10900507" y="3151135"/>
            <a:ext cx="577081" cy="13849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solidFill>
                <a:effectLst/>
                <a:uLnTx/>
                <a:uFillTx/>
                <a:cs typeface="+mn-ea"/>
                <a:sym typeface="+mn-lt"/>
              </a:rPr>
              <a:t>交易效率高</a:t>
            </a:r>
          </a:p>
        </p:txBody>
      </p:sp>
      <p:sp>
        <p:nvSpPr>
          <p:cNvPr id="154" name="熊大的PPT宝库62"/>
          <p:cNvSpPr/>
          <p:nvPr/>
        </p:nvSpPr>
        <p:spPr>
          <a:xfrm>
            <a:off x="10249286" y="2222915"/>
            <a:ext cx="773087" cy="773087"/>
          </a:xfrm>
          <a:prstGeom prst="ellipse">
            <a:avLst/>
          </a:prstGeom>
          <a:solidFill>
            <a:schemeClr val="accent1">
              <a:lumMod val="20000"/>
              <a:lumOff val="80000"/>
            </a:schemeClr>
          </a:solid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5" name="熊大的PPT宝库63"/>
          <p:cNvSpPr txBox="1"/>
          <p:nvPr/>
        </p:nvSpPr>
        <p:spPr>
          <a:xfrm>
            <a:off x="10248592" y="2243118"/>
            <a:ext cx="773087" cy="578044"/>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329D"/>
                </a:solidFill>
                <a:effectLst/>
                <a:uLnTx/>
                <a:uFillTx/>
                <a:cs typeface="+mn-ea"/>
                <a:sym typeface="+mn-lt"/>
              </a:rPr>
              <a:t>a.</a:t>
            </a:r>
            <a:endParaRPr kumimoji="0" lang="en-US" altLang="zh-CN" sz="9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329D"/>
                </a:solidFill>
                <a:effectLst/>
                <a:uLnTx/>
                <a:uFillTx/>
                <a:cs typeface="+mn-ea"/>
                <a:sym typeface="+mn-lt"/>
              </a:rPr>
              <a:t>有人设的职业电商达人</a:t>
            </a:r>
          </a:p>
        </p:txBody>
      </p:sp>
      <p:sp>
        <p:nvSpPr>
          <p:cNvPr id="156" name="熊大的PPT宝库64"/>
          <p:cNvSpPr/>
          <p:nvPr/>
        </p:nvSpPr>
        <p:spPr>
          <a:xfrm>
            <a:off x="10249286" y="3441348"/>
            <a:ext cx="773087" cy="773087"/>
          </a:xfrm>
          <a:prstGeom prst="ellipse">
            <a:avLst/>
          </a:prstGeom>
          <a:solidFill>
            <a:schemeClr val="accent1">
              <a:lumMod val="20000"/>
              <a:lumOff val="80000"/>
            </a:schemeClr>
          </a:solid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7" name="熊大的PPT宝库65"/>
          <p:cNvSpPr txBox="1"/>
          <p:nvPr/>
        </p:nvSpPr>
        <p:spPr>
          <a:xfrm>
            <a:off x="10248592" y="3528635"/>
            <a:ext cx="773087" cy="578044"/>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329D"/>
                </a:solidFill>
                <a:effectLst/>
                <a:uLnTx/>
                <a:uFillTx/>
                <a:cs typeface="+mn-ea"/>
                <a:sym typeface="+mn-lt"/>
              </a:rPr>
              <a:t>b.</a:t>
            </a:r>
            <a:endParaRPr kumimoji="0" lang="en-US" altLang="zh-CN" sz="9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329D"/>
                </a:solidFill>
                <a:effectLst/>
                <a:uLnTx/>
                <a:uFillTx/>
                <a:cs typeface="+mn-ea"/>
                <a:sym typeface="+mn-lt"/>
              </a:rPr>
              <a:t>垂直电商</a:t>
            </a:r>
            <a:endParaRPr kumimoji="0" lang="en-US" altLang="zh-CN" sz="9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329D"/>
                </a:solidFill>
                <a:effectLst/>
                <a:uLnTx/>
                <a:uFillTx/>
                <a:cs typeface="+mn-ea"/>
                <a:sym typeface="+mn-lt"/>
              </a:rPr>
              <a:t>达人</a:t>
            </a:r>
          </a:p>
        </p:txBody>
      </p:sp>
      <p:sp>
        <p:nvSpPr>
          <p:cNvPr id="158" name="熊大的PPT宝库66"/>
          <p:cNvSpPr/>
          <p:nvPr/>
        </p:nvSpPr>
        <p:spPr>
          <a:xfrm>
            <a:off x="8740052" y="3441348"/>
            <a:ext cx="773087" cy="773087"/>
          </a:xfrm>
          <a:prstGeom prst="ellipse">
            <a:avLst/>
          </a:prstGeom>
          <a:solidFill>
            <a:schemeClr val="accent1">
              <a:lumMod val="20000"/>
              <a:lumOff val="80000"/>
            </a:schemeClr>
          </a:solid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9" name="熊大的PPT宝库67"/>
          <p:cNvSpPr txBox="1"/>
          <p:nvPr/>
        </p:nvSpPr>
        <p:spPr>
          <a:xfrm>
            <a:off x="8739359" y="3528635"/>
            <a:ext cx="773087" cy="578044"/>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329D"/>
                </a:solidFill>
                <a:effectLst/>
                <a:uLnTx/>
                <a:uFillTx/>
                <a:cs typeface="+mn-ea"/>
                <a:sym typeface="+mn-lt"/>
              </a:rPr>
              <a:t>c.</a:t>
            </a:r>
            <a:endParaRPr kumimoji="0" lang="en-US" altLang="zh-CN" sz="9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329D"/>
                </a:solidFill>
                <a:effectLst/>
                <a:uLnTx/>
                <a:uFillTx/>
                <a:cs typeface="+mn-ea"/>
                <a:sym typeface="+mn-lt"/>
              </a:rPr>
              <a:t>种草型</a:t>
            </a:r>
            <a:endParaRPr kumimoji="0" lang="en-US" altLang="zh-CN" sz="9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329D"/>
                </a:solidFill>
                <a:effectLst/>
                <a:uLnTx/>
                <a:uFillTx/>
                <a:cs typeface="+mn-ea"/>
                <a:sym typeface="+mn-lt"/>
              </a:rPr>
              <a:t>达人</a:t>
            </a:r>
          </a:p>
        </p:txBody>
      </p:sp>
      <p:sp>
        <p:nvSpPr>
          <p:cNvPr id="160" name="熊大的PPT宝库68"/>
          <p:cNvSpPr/>
          <p:nvPr/>
        </p:nvSpPr>
        <p:spPr>
          <a:xfrm>
            <a:off x="8740052" y="2177219"/>
            <a:ext cx="773087" cy="773087"/>
          </a:xfrm>
          <a:prstGeom prst="ellipse">
            <a:avLst/>
          </a:prstGeom>
          <a:solidFill>
            <a:schemeClr val="accent1">
              <a:lumMod val="20000"/>
              <a:lumOff val="80000"/>
            </a:schemeClr>
          </a:solid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61" name="熊大的PPT宝库69"/>
          <p:cNvSpPr txBox="1"/>
          <p:nvPr/>
        </p:nvSpPr>
        <p:spPr>
          <a:xfrm>
            <a:off x="8739359" y="2264507"/>
            <a:ext cx="773087" cy="578044"/>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329D"/>
                </a:solidFill>
                <a:effectLst/>
                <a:uLnTx/>
                <a:uFillTx/>
                <a:cs typeface="+mn-ea"/>
                <a:sym typeface="+mn-lt"/>
              </a:rPr>
              <a:t>d.</a:t>
            </a:r>
            <a:endParaRPr kumimoji="0" lang="en-US" altLang="zh-CN" sz="9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329D"/>
                </a:solidFill>
                <a:effectLst/>
                <a:uLnTx/>
                <a:uFillTx/>
                <a:cs typeface="+mn-ea"/>
                <a:sym typeface="+mn-lt"/>
              </a:rPr>
              <a:t>娱乐电商</a:t>
            </a:r>
            <a:endParaRPr kumimoji="0" lang="en-US" altLang="zh-CN" sz="900" b="0"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329D"/>
                </a:solidFill>
                <a:effectLst/>
                <a:uLnTx/>
                <a:uFillTx/>
                <a:cs typeface="+mn-ea"/>
                <a:sym typeface="+mn-lt"/>
              </a:rPr>
              <a:t>达人</a:t>
            </a:r>
          </a:p>
        </p:txBody>
      </p:sp>
      <p:sp>
        <p:nvSpPr>
          <p:cNvPr id="165" name="熊大的PPT宝库70"/>
          <p:cNvSpPr txBox="1"/>
          <p:nvPr/>
        </p:nvSpPr>
        <p:spPr>
          <a:xfrm>
            <a:off x="8286002" y="4538603"/>
            <a:ext cx="3392871" cy="153888"/>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达人是有特点的个体，平台鼓励达人多元化发属，总的来说</a:t>
            </a:r>
          </a:p>
        </p:txBody>
      </p:sp>
      <p:sp>
        <p:nvSpPr>
          <p:cNvPr id="166" name="熊大的PPT宝库71"/>
          <p:cNvSpPr/>
          <p:nvPr/>
        </p:nvSpPr>
        <p:spPr>
          <a:xfrm>
            <a:off x="8157423" y="4873016"/>
            <a:ext cx="1636566" cy="1351840"/>
          </a:xfrm>
          <a:prstGeom prst="roundRect">
            <a:avLst>
              <a:gd name="adj" fmla="val 7272"/>
            </a:avLst>
          </a:prstGeom>
          <a:solidFill>
            <a:schemeClr val="accent1">
              <a:lumMod val="20000"/>
              <a:lumOff val="80000"/>
              <a:alpha val="39000"/>
            </a:schemeClr>
          </a:solid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67" name="熊大的PPT宝库72"/>
          <p:cNvSpPr/>
          <p:nvPr/>
        </p:nvSpPr>
        <p:spPr>
          <a:xfrm>
            <a:off x="9901140" y="4873016"/>
            <a:ext cx="1636566" cy="1351840"/>
          </a:xfrm>
          <a:prstGeom prst="roundRect">
            <a:avLst>
              <a:gd name="adj" fmla="val 7272"/>
            </a:avLst>
          </a:prstGeom>
          <a:solidFill>
            <a:schemeClr val="accent1">
              <a:lumMod val="20000"/>
              <a:lumOff val="80000"/>
              <a:alpha val="39000"/>
            </a:schemeClr>
          </a:solidFill>
          <a:ln>
            <a:solidFill>
              <a:schemeClr val="accent1">
                <a:lumMod val="60000"/>
                <a:lumOff val="40000"/>
              </a:schemeClr>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68" name="熊大的PPT宝库73"/>
          <p:cNvSpPr txBox="1"/>
          <p:nvPr/>
        </p:nvSpPr>
        <p:spPr>
          <a:xfrm>
            <a:off x="8220632" y="5042568"/>
            <a:ext cx="1554108" cy="64633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329D"/>
                </a:solidFill>
                <a:effectLst/>
                <a:uLnTx/>
                <a:uFillTx/>
                <a:cs typeface="+mn-ea"/>
                <a:sym typeface="+mn-lt"/>
              </a:rPr>
              <a:t>1.</a:t>
            </a: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提升内容吸引力有违或者有用</a:t>
            </a:r>
          </a:p>
        </p:txBody>
      </p:sp>
      <p:sp>
        <p:nvSpPr>
          <p:cNvPr id="169" name="熊大的PPT宝库74"/>
          <p:cNvSpPr txBox="1"/>
          <p:nvPr/>
        </p:nvSpPr>
        <p:spPr>
          <a:xfrm>
            <a:off x="9996910" y="5030691"/>
            <a:ext cx="1540796" cy="461665"/>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329D"/>
                </a:solidFill>
                <a:effectLst/>
                <a:uLnTx/>
                <a:uFillTx/>
                <a:cs typeface="+mn-ea"/>
                <a:sym typeface="+mn-lt"/>
              </a:rPr>
              <a:t>2.</a:t>
            </a: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提升专业度</a:t>
            </a:r>
          </a:p>
        </p:txBody>
      </p:sp>
      <p:sp>
        <p:nvSpPr>
          <p:cNvPr id="170" name="熊大的PPT宝库75"/>
          <p:cNvSpPr txBox="1"/>
          <p:nvPr/>
        </p:nvSpPr>
        <p:spPr>
          <a:xfrm>
            <a:off x="8220632" y="5723233"/>
            <a:ext cx="1554108" cy="307777"/>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本身内容有趣的，提升专业度或者结合内容做种草</a:t>
            </a:r>
          </a:p>
        </p:txBody>
      </p:sp>
      <p:sp>
        <p:nvSpPr>
          <p:cNvPr id="171" name="熊大的PPT宝库76"/>
          <p:cNvSpPr txBox="1"/>
          <p:nvPr/>
        </p:nvSpPr>
        <p:spPr>
          <a:xfrm>
            <a:off x="9951648" y="5545101"/>
            <a:ext cx="1554108" cy="461665"/>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内容风格独特，创新能力强，能郇做好短视频，直播运营，实现仲草。</a:t>
            </a:r>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熊大的PPT宝库1"/>
          <p:cNvSpPr txBox="1"/>
          <p:nvPr/>
        </p:nvSpPr>
        <p:spPr>
          <a:xfrm>
            <a:off x="348830" y="216968"/>
            <a:ext cx="3467616"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消电家居行业策略</a:t>
            </a:r>
          </a:p>
        </p:txBody>
      </p:sp>
      <p:sp>
        <p:nvSpPr>
          <p:cNvPr id="5" name="熊大的PPT宝库3"/>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
        <p:nvSpPr>
          <p:cNvPr id="8" name="熊大的PPT宝库4"/>
          <p:cNvSpPr/>
          <p:nvPr/>
        </p:nvSpPr>
        <p:spPr>
          <a:xfrm>
            <a:off x="466089" y="1473656"/>
            <a:ext cx="11271561" cy="30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2" name="熊大的PPT宝库5"/>
          <p:cNvSpPr txBox="1"/>
          <p:nvPr/>
        </p:nvSpPr>
        <p:spPr>
          <a:xfrm>
            <a:off x="4298072" y="1477466"/>
            <a:ext cx="3595856" cy="307777"/>
          </a:xfrm>
          <a:prstGeom prst="rect">
            <a:avLst/>
          </a:prstGeom>
          <a:noFill/>
        </p:spPr>
        <p:txBody>
          <a:bodyPr wrap="square"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cs typeface="+mn-ea"/>
                <a:sym typeface="+mn-lt"/>
              </a:rPr>
              <a:t>以用户为中心，建立优价好物的消费者心智</a:t>
            </a:r>
          </a:p>
        </p:txBody>
      </p:sp>
      <p:sp>
        <p:nvSpPr>
          <p:cNvPr id="16" name="熊大的PPT宝库6"/>
          <p:cNvSpPr/>
          <p:nvPr/>
        </p:nvSpPr>
        <p:spPr>
          <a:xfrm>
            <a:off x="466090" y="991986"/>
            <a:ext cx="11259820" cy="461665"/>
          </a:xfrm>
          <a:custGeom>
            <a:avLst/>
            <a:gdLst/>
            <a:ahLst/>
            <a:cxnLst/>
            <a:rect l="l" t="t" r="r" b="b"/>
            <a:pathLst>
              <a:path w="11259820" h="793114">
                <a:moveTo>
                  <a:pt x="5629719" y="0"/>
                </a:moveTo>
                <a:lnTo>
                  <a:pt x="0" y="792759"/>
                </a:lnTo>
                <a:lnTo>
                  <a:pt x="11259451" y="792759"/>
                </a:lnTo>
                <a:lnTo>
                  <a:pt x="5629719" y="0"/>
                </a:lnTo>
                <a:close/>
              </a:path>
            </a:pathLst>
          </a:custGeom>
          <a:solidFill>
            <a:schemeClr val="accent1"/>
          </a:solid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cs typeface="+mn-ea"/>
              <a:sym typeface="+mn-lt"/>
            </a:endParaRPr>
          </a:p>
        </p:txBody>
      </p:sp>
      <p:sp>
        <p:nvSpPr>
          <p:cNvPr id="17" name="熊大的PPT宝库7"/>
          <p:cNvSpPr txBox="1"/>
          <p:nvPr/>
        </p:nvSpPr>
        <p:spPr>
          <a:xfrm>
            <a:off x="4455708" y="1058252"/>
            <a:ext cx="3280584" cy="400110"/>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2000" b="1" i="0" u="none" strike="noStrike" kern="1200" cap="none" spc="0" normalizeH="0" baseline="0" noProof="0" dirty="0">
                <a:ln>
                  <a:noFill/>
                </a:ln>
                <a:solidFill>
                  <a:srgbClr val="FFFFFF"/>
                </a:solidFill>
                <a:effectLst/>
                <a:uLnTx/>
                <a:uFillTx/>
                <a:cs typeface="+mn-ea"/>
                <a:sym typeface="+mn-lt"/>
              </a:rPr>
              <a:t>消电家居行业策略</a:t>
            </a:r>
          </a:p>
        </p:txBody>
      </p:sp>
      <p:sp>
        <p:nvSpPr>
          <p:cNvPr id="18" name="熊大的PPT宝库8"/>
          <p:cNvSpPr/>
          <p:nvPr/>
        </p:nvSpPr>
        <p:spPr>
          <a:xfrm>
            <a:off x="466088" y="1816568"/>
            <a:ext cx="2925061" cy="309600"/>
          </a:xfrm>
          <a:custGeom>
            <a:avLst/>
            <a:gdLst>
              <a:gd name="connsiteX0" fmla="*/ 0 w 2347096"/>
              <a:gd name="connsiteY0" fmla="*/ 0 h 477457"/>
              <a:gd name="connsiteX1" fmla="*/ 2108368 w 2347096"/>
              <a:gd name="connsiteY1" fmla="*/ 0 h 477457"/>
              <a:gd name="connsiteX2" fmla="*/ 2347096 w 2347096"/>
              <a:gd name="connsiteY2" fmla="*/ 238729 h 477457"/>
              <a:gd name="connsiteX3" fmla="*/ 2108368 w 2347096"/>
              <a:gd name="connsiteY3" fmla="*/ 477457 h 477457"/>
              <a:gd name="connsiteX4" fmla="*/ 0 w 2347096"/>
              <a:gd name="connsiteY4" fmla="*/ 477457 h 477457"/>
              <a:gd name="connsiteX5" fmla="*/ 234066 w 2347096"/>
              <a:gd name="connsiteY5" fmla="*/ 238729 h 477457"/>
              <a:gd name="connsiteX6" fmla="*/ 0 w 2347096"/>
              <a:gd name="connsiteY6" fmla="*/ 0 h 477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7096" h="477457">
                <a:moveTo>
                  <a:pt x="0" y="0"/>
                </a:moveTo>
                <a:lnTo>
                  <a:pt x="2108368" y="0"/>
                </a:lnTo>
                <a:lnTo>
                  <a:pt x="2347096" y="238729"/>
                </a:lnTo>
                <a:lnTo>
                  <a:pt x="2108368" y="477457"/>
                </a:lnTo>
                <a:lnTo>
                  <a:pt x="0" y="477457"/>
                </a:lnTo>
                <a:lnTo>
                  <a:pt x="234066" y="238729"/>
                </a:lnTo>
                <a:lnTo>
                  <a:pt x="0" y="0"/>
                </a:lnTo>
                <a:close/>
              </a:path>
            </a:pathLst>
          </a:custGeom>
          <a:solidFill>
            <a:schemeClr val="accent1">
              <a:lumMod val="20000"/>
              <a:lumOff val="80000"/>
            </a:schemeClr>
          </a:solidFill>
          <a:ln w="12700">
            <a:miter lim="400000"/>
          </a:ln>
        </p:spPr>
        <p:txBody>
          <a:bodyPr wrap="square" lIns="25400" tIns="25400" rIns="25400" bIns="25400" anchor="ctr">
            <a:noAutofit/>
          </a:bodyPr>
          <a:lstStyle/>
          <a:p>
            <a:pPr marL="0" marR="0" lvl="0" indent="0" algn="ctr" defTabSz="41275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9" name="熊大的PPT宝库9"/>
          <p:cNvSpPr txBox="1"/>
          <p:nvPr/>
        </p:nvSpPr>
        <p:spPr>
          <a:xfrm>
            <a:off x="1175385" y="1848258"/>
            <a:ext cx="1506466" cy="246221"/>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000000"/>
                </a:solidFill>
                <a:effectLst/>
                <a:uLnTx/>
                <a:uFillTx/>
                <a:cs typeface="+mn-ea"/>
                <a:sym typeface="+mn-lt"/>
              </a:rPr>
              <a:t>扩充两端供给</a:t>
            </a:r>
          </a:p>
        </p:txBody>
      </p:sp>
      <p:sp>
        <p:nvSpPr>
          <p:cNvPr id="20" name="熊大的PPT宝库10"/>
          <p:cNvSpPr/>
          <p:nvPr/>
        </p:nvSpPr>
        <p:spPr>
          <a:xfrm>
            <a:off x="3260696" y="1817480"/>
            <a:ext cx="2925061" cy="307777"/>
          </a:xfrm>
          <a:custGeom>
            <a:avLst/>
            <a:gdLst>
              <a:gd name="connsiteX0" fmla="*/ 0 w 2347096"/>
              <a:gd name="connsiteY0" fmla="*/ 0 h 477457"/>
              <a:gd name="connsiteX1" fmla="*/ 2108368 w 2347096"/>
              <a:gd name="connsiteY1" fmla="*/ 0 h 477457"/>
              <a:gd name="connsiteX2" fmla="*/ 2347096 w 2347096"/>
              <a:gd name="connsiteY2" fmla="*/ 238729 h 477457"/>
              <a:gd name="connsiteX3" fmla="*/ 2108368 w 2347096"/>
              <a:gd name="connsiteY3" fmla="*/ 477457 h 477457"/>
              <a:gd name="connsiteX4" fmla="*/ 0 w 2347096"/>
              <a:gd name="connsiteY4" fmla="*/ 477457 h 477457"/>
              <a:gd name="connsiteX5" fmla="*/ 234066 w 2347096"/>
              <a:gd name="connsiteY5" fmla="*/ 238729 h 477457"/>
              <a:gd name="connsiteX6" fmla="*/ 0 w 2347096"/>
              <a:gd name="connsiteY6" fmla="*/ 0 h 477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7096" h="477457">
                <a:moveTo>
                  <a:pt x="0" y="0"/>
                </a:moveTo>
                <a:lnTo>
                  <a:pt x="2108368" y="0"/>
                </a:lnTo>
                <a:lnTo>
                  <a:pt x="2347096" y="238729"/>
                </a:lnTo>
                <a:lnTo>
                  <a:pt x="2108368" y="477457"/>
                </a:lnTo>
                <a:lnTo>
                  <a:pt x="0" y="477457"/>
                </a:lnTo>
                <a:lnTo>
                  <a:pt x="234066" y="238729"/>
                </a:lnTo>
                <a:lnTo>
                  <a:pt x="0" y="0"/>
                </a:lnTo>
                <a:close/>
              </a:path>
            </a:pathLst>
          </a:custGeom>
          <a:solidFill>
            <a:schemeClr val="accent1">
              <a:lumMod val="20000"/>
              <a:lumOff val="80000"/>
            </a:schemeClr>
          </a:solidFill>
          <a:ln w="12700">
            <a:miter lim="400000"/>
          </a:ln>
        </p:spPr>
        <p:txBody>
          <a:bodyPr wrap="square" lIns="25400" tIns="25400" rIns="25400" bIns="25400" anchor="ctr">
            <a:noAutofit/>
          </a:bodyPr>
          <a:lstStyle/>
          <a:p>
            <a:pPr marL="0" marR="0" lvl="0" indent="0" algn="ctr" defTabSz="41275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1" name="熊大的PPT宝库11"/>
          <p:cNvSpPr txBox="1"/>
          <p:nvPr/>
        </p:nvSpPr>
        <p:spPr>
          <a:xfrm>
            <a:off x="4107673" y="1848258"/>
            <a:ext cx="1231107" cy="246221"/>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000000"/>
                </a:solidFill>
                <a:effectLst/>
                <a:uLnTx/>
                <a:uFillTx/>
                <a:cs typeface="+mn-ea"/>
                <a:sym typeface="+mn-lt"/>
              </a:rPr>
              <a:t>升级全域经营</a:t>
            </a:r>
          </a:p>
        </p:txBody>
      </p:sp>
      <p:sp>
        <p:nvSpPr>
          <p:cNvPr id="22" name="熊大的PPT宝库12"/>
          <p:cNvSpPr/>
          <p:nvPr/>
        </p:nvSpPr>
        <p:spPr>
          <a:xfrm>
            <a:off x="6055304" y="1817480"/>
            <a:ext cx="2925061" cy="307777"/>
          </a:xfrm>
          <a:custGeom>
            <a:avLst/>
            <a:gdLst>
              <a:gd name="connsiteX0" fmla="*/ 0 w 2347096"/>
              <a:gd name="connsiteY0" fmla="*/ 0 h 477457"/>
              <a:gd name="connsiteX1" fmla="*/ 2108368 w 2347096"/>
              <a:gd name="connsiteY1" fmla="*/ 0 h 477457"/>
              <a:gd name="connsiteX2" fmla="*/ 2347096 w 2347096"/>
              <a:gd name="connsiteY2" fmla="*/ 238729 h 477457"/>
              <a:gd name="connsiteX3" fmla="*/ 2108368 w 2347096"/>
              <a:gd name="connsiteY3" fmla="*/ 477457 h 477457"/>
              <a:gd name="connsiteX4" fmla="*/ 0 w 2347096"/>
              <a:gd name="connsiteY4" fmla="*/ 477457 h 477457"/>
              <a:gd name="connsiteX5" fmla="*/ 234066 w 2347096"/>
              <a:gd name="connsiteY5" fmla="*/ 238729 h 477457"/>
              <a:gd name="connsiteX6" fmla="*/ 0 w 2347096"/>
              <a:gd name="connsiteY6" fmla="*/ 0 h 477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7096" h="477457">
                <a:moveTo>
                  <a:pt x="0" y="0"/>
                </a:moveTo>
                <a:lnTo>
                  <a:pt x="2108368" y="0"/>
                </a:lnTo>
                <a:lnTo>
                  <a:pt x="2347096" y="238729"/>
                </a:lnTo>
                <a:lnTo>
                  <a:pt x="2108368" y="477457"/>
                </a:lnTo>
                <a:lnTo>
                  <a:pt x="0" y="477457"/>
                </a:lnTo>
                <a:lnTo>
                  <a:pt x="234066" y="238729"/>
                </a:lnTo>
                <a:lnTo>
                  <a:pt x="0" y="0"/>
                </a:lnTo>
                <a:close/>
              </a:path>
            </a:pathLst>
          </a:custGeom>
          <a:solidFill>
            <a:schemeClr val="accent1">
              <a:lumMod val="20000"/>
              <a:lumOff val="80000"/>
            </a:schemeClr>
          </a:solidFill>
          <a:ln w="12700">
            <a:miter lim="400000"/>
          </a:ln>
        </p:spPr>
        <p:txBody>
          <a:bodyPr wrap="square" lIns="25400" tIns="25400" rIns="25400" bIns="25400" anchor="ctr">
            <a:noAutofit/>
          </a:bodyPr>
          <a:lstStyle/>
          <a:p>
            <a:pPr marL="0" marR="0" lvl="0" indent="0" algn="ctr" defTabSz="41275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4" name="熊大的PPT宝库13"/>
          <p:cNvSpPr/>
          <p:nvPr/>
        </p:nvSpPr>
        <p:spPr>
          <a:xfrm>
            <a:off x="8849913" y="1817480"/>
            <a:ext cx="2925061" cy="307777"/>
          </a:xfrm>
          <a:custGeom>
            <a:avLst/>
            <a:gdLst>
              <a:gd name="connsiteX0" fmla="*/ 0 w 2347096"/>
              <a:gd name="connsiteY0" fmla="*/ 0 h 477457"/>
              <a:gd name="connsiteX1" fmla="*/ 2108368 w 2347096"/>
              <a:gd name="connsiteY1" fmla="*/ 0 h 477457"/>
              <a:gd name="connsiteX2" fmla="*/ 2347096 w 2347096"/>
              <a:gd name="connsiteY2" fmla="*/ 238729 h 477457"/>
              <a:gd name="connsiteX3" fmla="*/ 2108368 w 2347096"/>
              <a:gd name="connsiteY3" fmla="*/ 477457 h 477457"/>
              <a:gd name="connsiteX4" fmla="*/ 0 w 2347096"/>
              <a:gd name="connsiteY4" fmla="*/ 477457 h 477457"/>
              <a:gd name="connsiteX5" fmla="*/ 234066 w 2347096"/>
              <a:gd name="connsiteY5" fmla="*/ 238729 h 477457"/>
              <a:gd name="connsiteX6" fmla="*/ 0 w 2347096"/>
              <a:gd name="connsiteY6" fmla="*/ 0 h 477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7096" h="477457">
                <a:moveTo>
                  <a:pt x="0" y="0"/>
                </a:moveTo>
                <a:lnTo>
                  <a:pt x="2108368" y="0"/>
                </a:lnTo>
                <a:lnTo>
                  <a:pt x="2347096" y="238729"/>
                </a:lnTo>
                <a:lnTo>
                  <a:pt x="2108368" y="477457"/>
                </a:lnTo>
                <a:lnTo>
                  <a:pt x="0" y="477457"/>
                </a:lnTo>
                <a:lnTo>
                  <a:pt x="234066" y="238729"/>
                </a:lnTo>
                <a:lnTo>
                  <a:pt x="0" y="0"/>
                </a:lnTo>
                <a:close/>
              </a:path>
            </a:pathLst>
          </a:custGeom>
          <a:solidFill>
            <a:schemeClr val="accent1">
              <a:lumMod val="20000"/>
              <a:lumOff val="80000"/>
            </a:schemeClr>
          </a:solidFill>
          <a:ln w="12700">
            <a:miter lim="400000"/>
          </a:ln>
        </p:spPr>
        <p:txBody>
          <a:bodyPr wrap="square" lIns="25400" tIns="25400" rIns="25400" bIns="25400" anchor="ctr">
            <a:noAutofit/>
          </a:bodyPr>
          <a:lstStyle/>
          <a:p>
            <a:pPr marL="0" marR="0" lvl="0" indent="0" algn="ctr" defTabSz="41275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5" name="熊大的PPT宝库14"/>
          <p:cNvSpPr txBox="1"/>
          <p:nvPr/>
        </p:nvSpPr>
        <p:spPr>
          <a:xfrm>
            <a:off x="7013690" y="1848258"/>
            <a:ext cx="1044000" cy="246221"/>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1600" b="1" i="0" u="none" strike="noStrike" kern="1200" cap="none" spc="0" normalizeH="0" baseline="0" noProof="0" dirty="0">
                <a:ln>
                  <a:noFill/>
                </a:ln>
                <a:solidFill>
                  <a:srgbClr val="000000"/>
                </a:solidFill>
                <a:effectLst/>
                <a:uLnTx/>
                <a:uFillTx/>
                <a:cs typeface="+mn-ea"/>
                <a:sym typeface="+mn-lt"/>
              </a:rPr>
              <a:t>Allin</a:t>
            </a:r>
            <a:r>
              <a:rPr kumimoji="1" lang="zh-CN" altLang="en-US" sz="1600" b="1" i="0" u="none" strike="noStrike" kern="1200" cap="none" spc="0" normalizeH="0" baseline="0" noProof="0" dirty="0">
                <a:ln>
                  <a:noFill/>
                </a:ln>
                <a:solidFill>
                  <a:srgbClr val="000000"/>
                </a:solidFill>
                <a:effectLst/>
                <a:uLnTx/>
                <a:uFillTx/>
                <a:cs typeface="+mn-ea"/>
                <a:sym typeface="+mn-lt"/>
              </a:rPr>
              <a:t>泛货架</a:t>
            </a:r>
          </a:p>
        </p:txBody>
      </p:sp>
      <p:sp>
        <p:nvSpPr>
          <p:cNvPr id="26" name="熊大的PPT宝库15"/>
          <p:cNvSpPr txBox="1"/>
          <p:nvPr/>
        </p:nvSpPr>
        <p:spPr>
          <a:xfrm>
            <a:off x="9696890" y="1848258"/>
            <a:ext cx="1231106" cy="246221"/>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000000"/>
                </a:solidFill>
                <a:effectLst/>
                <a:uLnTx/>
                <a:uFillTx/>
                <a:cs typeface="+mn-ea"/>
                <a:sym typeface="+mn-lt"/>
              </a:rPr>
              <a:t>共建品牌营销</a:t>
            </a:r>
          </a:p>
        </p:txBody>
      </p:sp>
      <p:sp>
        <p:nvSpPr>
          <p:cNvPr id="27" name="熊大的PPT宝库16"/>
          <p:cNvSpPr/>
          <p:nvPr/>
        </p:nvSpPr>
        <p:spPr>
          <a:xfrm>
            <a:off x="491489" y="2171700"/>
            <a:ext cx="511812" cy="1455266"/>
          </a:xfrm>
          <a:prstGeom prst="roundRect">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8" name="熊大的PPT宝库17"/>
          <p:cNvSpPr/>
          <p:nvPr/>
        </p:nvSpPr>
        <p:spPr>
          <a:xfrm>
            <a:off x="1117600" y="2171700"/>
            <a:ext cx="2057400" cy="3096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9" name="熊大的PPT宝库18"/>
          <p:cNvSpPr/>
          <p:nvPr/>
        </p:nvSpPr>
        <p:spPr>
          <a:xfrm>
            <a:off x="1117600" y="2549311"/>
            <a:ext cx="2057400" cy="3096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0" name="熊大的PPT宝库19"/>
          <p:cNvSpPr/>
          <p:nvPr/>
        </p:nvSpPr>
        <p:spPr>
          <a:xfrm>
            <a:off x="1117600" y="2926922"/>
            <a:ext cx="2057400" cy="3096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1" name="熊大的PPT宝库20"/>
          <p:cNvSpPr/>
          <p:nvPr/>
        </p:nvSpPr>
        <p:spPr>
          <a:xfrm>
            <a:off x="1117600" y="3304532"/>
            <a:ext cx="2057400" cy="3096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2" name="熊大的PPT宝库21"/>
          <p:cNvSpPr txBox="1"/>
          <p:nvPr/>
        </p:nvSpPr>
        <p:spPr>
          <a:xfrm>
            <a:off x="641032" y="2395184"/>
            <a:ext cx="212727" cy="984885"/>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供给充足</a:t>
            </a:r>
          </a:p>
        </p:txBody>
      </p:sp>
      <p:sp>
        <p:nvSpPr>
          <p:cNvPr id="33" name="熊大的PPT宝库22"/>
          <p:cNvSpPr txBox="1"/>
          <p:nvPr/>
        </p:nvSpPr>
        <p:spPr>
          <a:xfrm>
            <a:off x="1697459" y="2218778"/>
            <a:ext cx="897682" cy="215444"/>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品类丰富度</a:t>
            </a:r>
          </a:p>
        </p:txBody>
      </p:sp>
      <p:sp>
        <p:nvSpPr>
          <p:cNvPr id="35" name="熊大的PPT宝库23"/>
          <p:cNvSpPr txBox="1"/>
          <p:nvPr/>
        </p:nvSpPr>
        <p:spPr>
          <a:xfrm>
            <a:off x="1787228" y="2596389"/>
            <a:ext cx="718145" cy="215444"/>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品牌供给</a:t>
            </a:r>
          </a:p>
        </p:txBody>
      </p:sp>
      <p:sp>
        <p:nvSpPr>
          <p:cNvPr id="37" name="熊大的PPT宝库24"/>
          <p:cNvSpPr txBox="1"/>
          <p:nvPr/>
        </p:nvSpPr>
        <p:spPr>
          <a:xfrm>
            <a:off x="1697459" y="2974000"/>
            <a:ext cx="897682" cy="215444"/>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品牌服务商</a:t>
            </a:r>
          </a:p>
        </p:txBody>
      </p:sp>
      <p:sp>
        <p:nvSpPr>
          <p:cNvPr id="39" name="熊大的PPT宝库25"/>
          <p:cNvSpPr txBox="1"/>
          <p:nvPr/>
        </p:nvSpPr>
        <p:spPr>
          <a:xfrm>
            <a:off x="1697459" y="3351610"/>
            <a:ext cx="897682" cy="215444"/>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新品首发泛</a:t>
            </a:r>
          </a:p>
        </p:txBody>
      </p:sp>
      <p:sp>
        <p:nvSpPr>
          <p:cNvPr id="81" name="熊大的PPT宝库26"/>
          <p:cNvSpPr/>
          <p:nvPr/>
        </p:nvSpPr>
        <p:spPr>
          <a:xfrm>
            <a:off x="3333814" y="2171700"/>
            <a:ext cx="511812" cy="1442432"/>
          </a:xfrm>
          <a:prstGeom prst="roundRect">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2" name="熊大的PPT宝库27"/>
          <p:cNvSpPr/>
          <p:nvPr/>
        </p:nvSpPr>
        <p:spPr>
          <a:xfrm>
            <a:off x="3959925" y="2176961"/>
            <a:ext cx="2057400" cy="2520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3" name="熊大的PPT宝库28"/>
          <p:cNvSpPr/>
          <p:nvPr/>
        </p:nvSpPr>
        <p:spPr>
          <a:xfrm>
            <a:off x="3959925" y="2473254"/>
            <a:ext cx="2057400" cy="2520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4" name="熊大的PPT宝库29"/>
          <p:cNvSpPr/>
          <p:nvPr/>
        </p:nvSpPr>
        <p:spPr>
          <a:xfrm>
            <a:off x="3959925" y="2769547"/>
            <a:ext cx="2057400" cy="2520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5" name="熊大的PPT宝库30"/>
          <p:cNvSpPr/>
          <p:nvPr/>
        </p:nvSpPr>
        <p:spPr>
          <a:xfrm>
            <a:off x="3959925" y="3065840"/>
            <a:ext cx="2057400" cy="2520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6" name="熊大的PPT宝库31"/>
          <p:cNvSpPr txBox="1"/>
          <p:nvPr/>
        </p:nvSpPr>
        <p:spPr>
          <a:xfrm>
            <a:off x="3483357" y="2395184"/>
            <a:ext cx="212727" cy="984885"/>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场域建设</a:t>
            </a:r>
          </a:p>
        </p:txBody>
      </p:sp>
      <p:sp>
        <p:nvSpPr>
          <p:cNvPr id="87" name="熊大的PPT宝库32"/>
          <p:cNvSpPr txBox="1"/>
          <p:nvPr/>
        </p:nvSpPr>
        <p:spPr>
          <a:xfrm>
            <a:off x="4629553" y="2195239"/>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品牌自播</a:t>
            </a:r>
          </a:p>
        </p:txBody>
      </p:sp>
      <p:sp>
        <p:nvSpPr>
          <p:cNvPr id="88" name="熊大的PPT宝库33"/>
          <p:cNvSpPr txBox="1"/>
          <p:nvPr/>
        </p:nvSpPr>
        <p:spPr>
          <a:xfrm>
            <a:off x="4524556" y="2491532"/>
            <a:ext cx="928139"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1+N+X矩阵</a:t>
            </a:r>
          </a:p>
        </p:txBody>
      </p:sp>
      <p:sp>
        <p:nvSpPr>
          <p:cNvPr id="89" name="熊大的PPT宝库34"/>
          <p:cNvSpPr txBox="1"/>
          <p:nvPr/>
        </p:nvSpPr>
        <p:spPr>
          <a:xfrm>
            <a:off x="4629553" y="2787825"/>
            <a:ext cx="718145"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达人分销</a:t>
            </a:r>
          </a:p>
        </p:txBody>
      </p:sp>
      <p:sp>
        <p:nvSpPr>
          <p:cNvPr id="90" name="熊大的PPT宝库35"/>
          <p:cNvSpPr txBox="1"/>
          <p:nvPr/>
        </p:nvSpPr>
        <p:spPr>
          <a:xfrm>
            <a:off x="4539784" y="3084118"/>
            <a:ext cx="897682"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短视频挂车</a:t>
            </a:r>
          </a:p>
        </p:txBody>
      </p:sp>
      <p:sp>
        <p:nvSpPr>
          <p:cNvPr id="92" name="熊大的PPT宝库36"/>
          <p:cNvSpPr/>
          <p:nvPr/>
        </p:nvSpPr>
        <p:spPr>
          <a:xfrm>
            <a:off x="6176139" y="2171700"/>
            <a:ext cx="511812" cy="1455266"/>
          </a:xfrm>
          <a:prstGeom prst="roundRect">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3" name="熊大的PPT宝库37"/>
          <p:cNvSpPr/>
          <p:nvPr/>
        </p:nvSpPr>
        <p:spPr>
          <a:xfrm>
            <a:off x="6802250" y="2171700"/>
            <a:ext cx="2057400" cy="3096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4" name="熊大的PPT宝库38"/>
          <p:cNvSpPr/>
          <p:nvPr/>
        </p:nvSpPr>
        <p:spPr>
          <a:xfrm>
            <a:off x="6802250" y="2549311"/>
            <a:ext cx="2057400" cy="3096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5" name="熊大的PPT宝库39"/>
          <p:cNvSpPr/>
          <p:nvPr/>
        </p:nvSpPr>
        <p:spPr>
          <a:xfrm>
            <a:off x="6802250" y="2926922"/>
            <a:ext cx="2057400" cy="3096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6" name="熊大的PPT宝库40"/>
          <p:cNvSpPr/>
          <p:nvPr/>
        </p:nvSpPr>
        <p:spPr>
          <a:xfrm>
            <a:off x="6802250" y="3304532"/>
            <a:ext cx="2057400" cy="3096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7" name="熊大的PPT宝库41"/>
          <p:cNvSpPr txBox="1"/>
          <p:nvPr/>
        </p:nvSpPr>
        <p:spPr>
          <a:xfrm>
            <a:off x="6325682" y="2283780"/>
            <a:ext cx="212727" cy="123110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全新增量场</a:t>
            </a:r>
          </a:p>
        </p:txBody>
      </p:sp>
      <p:sp>
        <p:nvSpPr>
          <p:cNvPr id="98" name="熊大的PPT宝库42"/>
          <p:cNvSpPr txBox="1"/>
          <p:nvPr/>
        </p:nvSpPr>
        <p:spPr>
          <a:xfrm>
            <a:off x="7651414" y="2218778"/>
            <a:ext cx="359073"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搜索</a:t>
            </a:r>
          </a:p>
        </p:txBody>
      </p:sp>
      <p:sp>
        <p:nvSpPr>
          <p:cNvPr id="99" name="熊大的PPT宝库43"/>
          <p:cNvSpPr txBox="1"/>
          <p:nvPr/>
        </p:nvSpPr>
        <p:spPr>
          <a:xfrm>
            <a:off x="7651414" y="2596389"/>
            <a:ext cx="359073"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店铺</a:t>
            </a:r>
          </a:p>
        </p:txBody>
      </p:sp>
      <p:sp>
        <p:nvSpPr>
          <p:cNvPr id="100" name="熊大的PPT宝库44"/>
          <p:cNvSpPr txBox="1"/>
          <p:nvPr/>
        </p:nvSpPr>
        <p:spPr>
          <a:xfrm>
            <a:off x="7651414" y="2974000"/>
            <a:ext cx="359073"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商城</a:t>
            </a:r>
          </a:p>
        </p:txBody>
      </p:sp>
      <p:sp>
        <p:nvSpPr>
          <p:cNvPr id="101" name="熊大的PPT宝库45"/>
          <p:cNvSpPr txBox="1"/>
          <p:nvPr/>
        </p:nvSpPr>
        <p:spPr>
          <a:xfrm>
            <a:off x="7292341" y="3351610"/>
            <a:ext cx="1077218"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用户购买链路</a:t>
            </a:r>
          </a:p>
        </p:txBody>
      </p:sp>
      <p:sp>
        <p:nvSpPr>
          <p:cNvPr id="103" name="熊大的PPT宝库46"/>
          <p:cNvSpPr/>
          <p:nvPr/>
        </p:nvSpPr>
        <p:spPr>
          <a:xfrm>
            <a:off x="9018465" y="2171699"/>
            <a:ext cx="511812" cy="1455267"/>
          </a:xfrm>
          <a:prstGeom prst="roundRect">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4" name="熊大的PPT宝库47"/>
          <p:cNvSpPr/>
          <p:nvPr/>
        </p:nvSpPr>
        <p:spPr>
          <a:xfrm>
            <a:off x="9644576" y="2171700"/>
            <a:ext cx="2057400" cy="3096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5" name="熊大的PPT宝库48"/>
          <p:cNvSpPr/>
          <p:nvPr/>
        </p:nvSpPr>
        <p:spPr>
          <a:xfrm>
            <a:off x="9644576" y="2549311"/>
            <a:ext cx="2057400" cy="3096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6" name="熊大的PPT宝库49"/>
          <p:cNvSpPr/>
          <p:nvPr/>
        </p:nvSpPr>
        <p:spPr>
          <a:xfrm>
            <a:off x="9644576" y="2926922"/>
            <a:ext cx="2057400" cy="3096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7" name="熊大的PPT宝库50"/>
          <p:cNvSpPr/>
          <p:nvPr/>
        </p:nvSpPr>
        <p:spPr>
          <a:xfrm>
            <a:off x="9644576" y="3304532"/>
            <a:ext cx="2057400" cy="3096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8" name="熊大的PPT宝库51"/>
          <p:cNvSpPr txBox="1"/>
          <p:nvPr/>
        </p:nvSpPr>
        <p:spPr>
          <a:xfrm>
            <a:off x="9168008" y="2395184"/>
            <a:ext cx="212727" cy="984885"/>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品效合一</a:t>
            </a:r>
          </a:p>
        </p:txBody>
      </p:sp>
      <p:sp>
        <p:nvSpPr>
          <p:cNvPr id="109" name="熊大的PPT宝库52"/>
          <p:cNvSpPr txBox="1"/>
          <p:nvPr/>
        </p:nvSpPr>
        <p:spPr>
          <a:xfrm>
            <a:off x="10314204" y="2218778"/>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平台大促</a:t>
            </a:r>
          </a:p>
        </p:txBody>
      </p:sp>
      <p:sp>
        <p:nvSpPr>
          <p:cNvPr id="110" name="熊大的PPT宝库53"/>
          <p:cNvSpPr txBox="1"/>
          <p:nvPr/>
        </p:nvSpPr>
        <p:spPr>
          <a:xfrm>
            <a:off x="10224435" y="2596389"/>
            <a:ext cx="897682"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理想生活节</a:t>
            </a:r>
          </a:p>
        </p:txBody>
      </p:sp>
      <p:sp>
        <p:nvSpPr>
          <p:cNvPr id="111" name="熊大的PPT宝库54"/>
          <p:cNvSpPr txBox="1"/>
          <p:nvPr/>
        </p:nvSpPr>
        <p:spPr>
          <a:xfrm>
            <a:off x="10116820" y="2973705"/>
            <a:ext cx="1113790" cy="215265"/>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营销IP</a:t>
            </a:r>
          </a:p>
        </p:txBody>
      </p:sp>
      <p:sp>
        <p:nvSpPr>
          <p:cNvPr id="112" name="熊大的PPT宝库55"/>
          <p:cNvSpPr txBox="1"/>
          <p:nvPr/>
        </p:nvSpPr>
        <p:spPr>
          <a:xfrm>
            <a:off x="10224435" y="3351610"/>
            <a:ext cx="897682"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商城大牌日</a:t>
            </a:r>
          </a:p>
        </p:txBody>
      </p:sp>
      <p:sp>
        <p:nvSpPr>
          <p:cNvPr id="113" name="熊大的PPT宝库56"/>
          <p:cNvSpPr/>
          <p:nvPr/>
        </p:nvSpPr>
        <p:spPr>
          <a:xfrm>
            <a:off x="3959925" y="3362132"/>
            <a:ext cx="2057400" cy="252000"/>
          </a:xfrm>
          <a:prstGeom prst="roundRect">
            <a:avLst/>
          </a:prstGeom>
          <a:no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4" name="熊大的PPT宝库57"/>
          <p:cNvSpPr txBox="1"/>
          <p:nvPr/>
        </p:nvSpPr>
        <p:spPr>
          <a:xfrm>
            <a:off x="4719321" y="3380410"/>
            <a:ext cx="538609"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泛货架</a:t>
            </a:r>
          </a:p>
        </p:txBody>
      </p:sp>
      <p:sp>
        <p:nvSpPr>
          <p:cNvPr id="115" name="熊大的PPT宝库58"/>
          <p:cNvSpPr/>
          <p:nvPr/>
        </p:nvSpPr>
        <p:spPr>
          <a:xfrm>
            <a:off x="461748" y="3850450"/>
            <a:ext cx="3672000" cy="2696981"/>
          </a:xfrm>
          <a:prstGeom prst="roundRect">
            <a:avLst>
              <a:gd name="adj" fmla="val 3938"/>
            </a:avLst>
          </a:prstGeom>
          <a:solidFill>
            <a:schemeClr val="bg1"/>
          </a:solidFill>
          <a:ln>
            <a:noFill/>
          </a:ln>
          <a:effectLst>
            <a:outerShdw blurRad="215900" sx="102000" sy="102000" algn="ctr" rotWithShape="0">
              <a:schemeClr val="accent1">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16" name="熊大的PPT宝库59"/>
          <p:cNvSpPr/>
          <p:nvPr/>
        </p:nvSpPr>
        <p:spPr>
          <a:xfrm>
            <a:off x="4269477" y="3850450"/>
            <a:ext cx="3672000" cy="2696981"/>
          </a:xfrm>
          <a:prstGeom prst="roundRect">
            <a:avLst>
              <a:gd name="adj" fmla="val 3938"/>
            </a:avLst>
          </a:prstGeom>
          <a:solidFill>
            <a:schemeClr val="bg1"/>
          </a:solidFill>
          <a:ln>
            <a:noFill/>
          </a:ln>
          <a:effectLst>
            <a:outerShdw blurRad="215900" sx="102000" sy="102000" algn="ctr" rotWithShape="0">
              <a:schemeClr val="accent1">
                <a:lumMod val="40000"/>
                <a:lumOff val="60000"/>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17" name="熊大的PPT宝库60"/>
          <p:cNvSpPr/>
          <p:nvPr/>
        </p:nvSpPr>
        <p:spPr>
          <a:xfrm>
            <a:off x="8077206" y="3850450"/>
            <a:ext cx="3672000" cy="2696981"/>
          </a:xfrm>
          <a:prstGeom prst="roundRect">
            <a:avLst>
              <a:gd name="adj" fmla="val 3938"/>
            </a:avLst>
          </a:prstGeom>
          <a:solidFill>
            <a:schemeClr val="bg1"/>
          </a:solidFill>
          <a:ln>
            <a:noFill/>
          </a:ln>
          <a:effectLst>
            <a:outerShdw blurRad="215900" sx="102000" sy="102000" algn="ctr" rotWithShape="0">
              <a:schemeClr val="accent1">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18" name="熊大的PPT宝库61"/>
          <p:cNvSpPr/>
          <p:nvPr/>
        </p:nvSpPr>
        <p:spPr>
          <a:xfrm>
            <a:off x="1328536" y="3748762"/>
            <a:ext cx="1892300" cy="308054"/>
          </a:xfrm>
          <a:prstGeom prst="roundRect">
            <a:avLst>
              <a:gd name="adj" fmla="val 50000"/>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9" name="熊大的PPT宝库62"/>
          <p:cNvSpPr txBox="1"/>
          <p:nvPr/>
        </p:nvSpPr>
        <p:spPr>
          <a:xfrm>
            <a:off x="1915614" y="3795067"/>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cs typeface="+mn-ea"/>
                <a:sym typeface="+mn-lt"/>
              </a:rPr>
              <a:t>认知塑造</a:t>
            </a:r>
          </a:p>
        </p:txBody>
      </p:sp>
      <p:sp>
        <p:nvSpPr>
          <p:cNvPr id="120" name="熊大的PPT宝库63"/>
          <p:cNvSpPr/>
          <p:nvPr/>
        </p:nvSpPr>
        <p:spPr>
          <a:xfrm>
            <a:off x="5159327" y="3748762"/>
            <a:ext cx="1892300" cy="308054"/>
          </a:xfrm>
          <a:prstGeom prst="roundRect">
            <a:avLst>
              <a:gd name="adj" fmla="val 50000"/>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1" name="熊大的PPT宝库64"/>
          <p:cNvSpPr txBox="1"/>
          <p:nvPr/>
        </p:nvSpPr>
        <p:spPr>
          <a:xfrm>
            <a:off x="5746405" y="3795067"/>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cs typeface="+mn-ea"/>
                <a:sym typeface="+mn-lt"/>
              </a:rPr>
              <a:t>心智渗透</a:t>
            </a:r>
          </a:p>
        </p:txBody>
      </p:sp>
      <p:sp>
        <p:nvSpPr>
          <p:cNvPr id="122" name="熊大的PPT宝库65"/>
          <p:cNvSpPr/>
          <p:nvPr/>
        </p:nvSpPr>
        <p:spPr>
          <a:xfrm>
            <a:off x="8967056" y="3748762"/>
            <a:ext cx="1892300" cy="308054"/>
          </a:xfrm>
          <a:prstGeom prst="roundRect">
            <a:avLst>
              <a:gd name="adj" fmla="val 50000"/>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3" name="熊大的PPT宝库66"/>
          <p:cNvSpPr txBox="1"/>
          <p:nvPr/>
        </p:nvSpPr>
        <p:spPr>
          <a:xfrm>
            <a:off x="9554134" y="3795067"/>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cs typeface="+mn-ea"/>
                <a:sym typeface="+mn-lt"/>
              </a:rPr>
              <a:t>转化促进</a:t>
            </a:r>
          </a:p>
        </p:txBody>
      </p:sp>
      <p:sp>
        <p:nvSpPr>
          <p:cNvPr id="124" name="熊大的PPT宝库67"/>
          <p:cNvSpPr txBox="1"/>
          <p:nvPr/>
        </p:nvSpPr>
        <p:spPr>
          <a:xfrm>
            <a:off x="1759139" y="4111444"/>
            <a:ext cx="1077218"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公域人群覆盖</a:t>
            </a:r>
          </a:p>
        </p:txBody>
      </p:sp>
      <p:sp>
        <p:nvSpPr>
          <p:cNvPr id="125" name="熊大的PPT宝库68"/>
          <p:cNvSpPr txBox="1"/>
          <p:nvPr/>
        </p:nvSpPr>
        <p:spPr>
          <a:xfrm>
            <a:off x="5408972" y="4111444"/>
            <a:ext cx="1393010"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lumMod val="40000"/>
                    <a:lumOff val="60000"/>
                  </a:srgbClr>
                </a:solidFill>
                <a:effectLst/>
                <a:uLnTx/>
                <a:uFillTx/>
                <a:cs typeface="+mn-ea"/>
                <a:sym typeface="+mn-lt"/>
              </a:rPr>
              <a:t>精准</a:t>
            </a:r>
            <a:r>
              <a:rPr kumimoji="0" lang="en-US" altLang="zh-CN" sz="1400" b="1" i="0" u="none" strike="noStrike" kern="1200" cap="none" spc="0" normalizeH="0" baseline="0" noProof="0" dirty="0">
                <a:ln>
                  <a:noFill/>
                </a:ln>
                <a:solidFill>
                  <a:srgbClr val="00329D">
                    <a:lumMod val="40000"/>
                    <a:lumOff val="60000"/>
                  </a:srgbClr>
                </a:solidFill>
                <a:effectLst/>
                <a:uLnTx/>
                <a:uFillTx/>
                <a:cs typeface="+mn-ea"/>
                <a:sym typeface="+mn-lt"/>
              </a:rPr>
              <a:t>+</a:t>
            </a:r>
            <a:r>
              <a:rPr kumimoji="0" lang="zh-CN" altLang="en-US" sz="1400" b="1" i="0" u="none" strike="noStrike" kern="1200" cap="none" spc="0" normalizeH="0" baseline="0" noProof="0" dirty="0">
                <a:ln>
                  <a:noFill/>
                </a:ln>
                <a:solidFill>
                  <a:srgbClr val="00329D">
                    <a:lumMod val="40000"/>
                    <a:lumOff val="60000"/>
                  </a:srgbClr>
                </a:solidFill>
                <a:effectLst/>
                <a:uLnTx/>
                <a:uFillTx/>
                <a:cs typeface="+mn-ea"/>
                <a:sym typeface="+mn-lt"/>
              </a:rPr>
              <a:t>跨场录触达</a:t>
            </a:r>
          </a:p>
        </p:txBody>
      </p:sp>
      <p:sp>
        <p:nvSpPr>
          <p:cNvPr id="126" name="熊大的PPT宝库69"/>
          <p:cNvSpPr txBox="1"/>
          <p:nvPr/>
        </p:nvSpPr>
        <p:spPr>
          <a:xfrm>
            <a:off x="8857629" y="4111444"/>
            <a:ext cx="211115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目标人群重触达</a:t>
            </a:r>
            <a:r>
              <a:rPr kumimoji="0" lang="en-US" altLang="zh-CN" sz="1400" b="1" i="0" u="none" strike="noStrike" kern="1200" cap="none" spc="0" normalizeH="0" baseline="0" noProof="0" dirty="0">
                <a:ln>
                  <a:noFill/>
                </a:ln>
                <a:solidFill>
                  <a:srgbClr val="00329D"/>
                </a:solidFill>
                <a:effectLst/>
                <a:uLnTx/>
                <a:uFillTx/>
                <a:cs typeface="+mn-ea"/>
                <a:sym typeface="+mn-lt"/>
              </a:rPr>
              <a:t>+</a:t>
            </a:r>
            <a:r>
              <a:rPr kumimoji="0" lang="zh-CN" altLang="en-US" sz="1400" b="1" i="0" u="none" strike="noStrike" kern="1200" cap="none" spc="0" normalizeH="0" baseline="0" noProof="0" dirty="0">
                <a:ln>
                  <a:noFill/>
                </a:ln>
                <a:solidFill>
                  <a:srgbClr val="00329D"/>
                </a:solidFill>
                <a:effectLst/>
                <a:uLnTx/>
                <a:uFillTx/>
                <a:cs typeface="+mn-ea"/>
                <a:sym typeface="+mn-lt"/>
              </a:rPr>
              <a:t>循环经营</a:t>
            </a:r>
          </a:p>
        </p:txBody>
      </p:sp>
      <p:sp>
        <p:nvSpPr>
          <p:cNvPr id="127" name="熊大的PPT宝库70"/>
          <p:cNvSpPr txBox="1"/>
          <p:nvPr/>
        </p:nvSpPr>
        <p:spPr>
          <a:xfrm>
            <a:off x="835810" y="4373927"/>
            <a:ext cx="2923877"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强势曝光、全民互动实现足量规模人群触达</a:t>
            </a:r>
          </a:p>
        </p:txBody>
      </p:sp>
      <p:sp>
        <p:nvSpPr>
          <p:cNvPr id="128" name="熊大的PPT宝库71"/>
          <p:cNvSpPr txBox="1"/>
          <p:nvPr/>
        </p:nvSpPr>
        <p:spPr>
          <a:xfrm>
            <a:off x="4359005" y="4373927"/>
            <a:ext cx="3492944"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达人</a:t>
            </a:r>
            <a:r>
              <a:rPr kumimoji="0" lang="en-US" altLang="zh-CN" sz="1200" b="0" i="0" u="none" strike="noStrike" kern="1200" cap="none" spc="0" normalizeH="0" baseline="0" noProof="0" dirty="0">
                <a:ln>
                  <a:noFill/>
                </a:ln>
                <a:solidFill>
                  <a:srgbClr val="000000"/>
                </a:solidFill>
                <a:effectLst/>
                <a:uLnTx/>
                <a:uFillTx/>
                <a:cs typeface="+mn-ea"/>
                <a:sym typeface="+mn-lt"/>
              </a:rPr>
              <a:t>+</a:t>
            </a:r>
            <a:r>
              <a:rPr kumimoji="0" lang="zh-CN" altLang="en-US" sz="1200" b="0" i="0" u="none" strike="noStrike" kern="1200" cap="none" spc="0" normalizeH="0" baseline="0" noProof="0" dirty="0">
                <a:ln>
                  <a:noFill/>
                </a:ln>
                <a:solidFill>
                  <a:srgbClr val="000000"/>
                </a:solidFill>
                <a:effectLst/>
                <a:uLnTx/>
                <a:uFillTx/>
                <a:cs typeface="+mn-ea"/>
                <a:sym typeface="+mn-lt"/>
              </a:rPr>
              <a:t>多场景曝光保障触达频次，提升深度互动意愿</a:t>
            </a:r>
          </a:p>
        </p:txBody>
      </p:sp>
      <p:sp>
        <p:nvSpPr>
          <p:cNvPr id="129" name="熊大的PPT宝库72"/>
          <p:cNvSpPr txBox="1"/>
          <p:nvPr/>
        </p:nvSpPr>
        <p:spPr>
          <a:xfrm>
            <a:off x="8859232" y="4373927"/>
            <a:ext cx="2107949"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内窖</a:t>
            </a:r>
            <a:r>
              <a:rPr kumimoji="0" lang="en-US" altLang="zh-CN" sz="1200" b="0" i="0" u="none" strike="noStrike" kern="1200" cap="none" spc="0" normalizeH="0" baseline="0" noProof="0" dirty="0">
                <a:ln>
                  <a:noFill/>
                </a:ln>
                <a:solidFill>
                  <a:srgbClr val="000000"/>
                </a:solidFill>
                <a:effectLst/>
                <a:uLnTx/>
                <a:uFillTx/>
                <a:cs typeface="+mn-ea"/>
                <a:sym typeface="+mn-lt"/>
              </a:rPr>
              <a:t>+</a:t>
            </a:r>
            <a:r>
              <a:rPr kumimoji="0" lang="zh-CN" altLang="en-US" sz="1200" b="0" i="0" u="none" strike="noStrike" kern="1200" cap="none" spc="0" normalizeH="0" baseline="0" noProof="0" dirty="0">
                <a:ln>
                  <a:noFill/>
                </a:ln>
                <a:solidFill>
                  <a:srgbClr val="000000"/>
                </a:solidFill>
                <a:effectLst/>
                <a:uLnTx/>
                <a:uFillTx/>
                <a:cs typeface="+mn-ea"/>
                <a:sym typeface="+mn-lt"/>
              </a:rPr>
              <a:t>效果广告长周期持续触达</a:t>
            </a:r>
          </a:p>
        </p:txBody>
      </p:sp>
      <p:sp>
        <p:nvSpPr>
          <p:cNvPr id="130" name="熊大的PPT宝库73"/>
          <p:cNvSpPr/>
          <p:nvPr/>
        </p:nvSpPr>
        <p:spPr>
          <a:xfrm>
            <a:off x="1269048" y="4570125"/>
            <a:ext cx="2057400" cy="252000"/>
          </a:xfrm>
          <a:prstGeom prst="roundRect">
            <a:avLst>
              <a:gd name="adj" fmla="val 50000"/>
            </a:avLst>
          </a:prstGeom>
          <a:solidFill>
            <a:schemeClr val="accent1">
              <a:lumMod val="20000"/>
              <a:lumOff val="8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1" name="熊大的PPT宝库74"/>
          <p:cNvSpPr txBox="1"/>
          <p:nvPr/>
        </p:nvSpPr>
        <p:spPr>
          <a:xfrm>
            <a:off x="1883748" y="4617203"/>
            <a:ext cx="828000" cy="184666"/>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00329D"/>
                </a:solidFill>
                <a:effectLst/>
                <a:uLnTx/>
                <a:uFillTx/>
                <a:cs typeface="+mn-ea"/>
                <a:sym typeface="+mn-lt"/>
              </a:rPr>
              <a:t>0→RI+R2</a:t>
            </a:r>
            <a:endParaRPr kumimoji="0" lang="zh-CN" altLang="en-US" sz="1200" b="1" i="0" u="none" strike="noStrike" kern="1200" cap="none" spc="0" normalizeH="0" baseline="0" noProof="0" dirty="0">
              <a:ln>
                <a:noFill/>
              </a:ln>
              <a:solidFill>
                <a:srgbClr val="00329D"/>
              </a:solidFill>
              <a:effectLst/>
              <a:uLnTx/>
              <a:uFillTx/>
              <a:cs typeface="+mn-ea"/>
              <a:sym typeface="+mn-lt"/>
            </a:endParaRPr>
          </a:p>
        </p:txBody>
      </p:sp>
      <p:sp>
        <p:nvSpPr>
          <p:cNvPr id="132" name="熊大的PPT宝库75"/>
          <p:cNvSpPr/>
          <p:nvPr/>
        </p:nvSpPr>
        <p:spPr>
          <a:xfrm>
            <a:off x="5067300" y="4570125"/>
            <a:ext cx="2057400" cy="252000"/>
          </a:xfrm>
          <a:prstGeom prst="roundRect">
            <a:avLst>
              <a:gd name="adj" fmla="val 50000"/>
            </a:avLst>
          </a:prstGeom>
          <a:solidFill>
            <a:schemeClr val="accent1">
              <a:lumMod val="20000"/>
              <a:lumOff val="80000"/>
              <a:alpha val="5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3" name="熊大的PPT宝库76"/>
          <p:cNvSpPr txBox="1"/>
          <p:nvPr/>
        </p:nvSpPr>
        <p:spPr>
          <a:xfrm>
            <a:off x="5682000" y="4617203"/>
            <a:ext cx="828000" cy="184666"/>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000000"/>
                </a:solidFill>
                <a:effectLst/>
                <a:uLnTx/>
                <a:uFillTx/>
                <a:cs typeface="+mn-ea"/>
                <a:sym typeface="+mn-lt"/>
              </a:rPr>
              <a:t>R3</a:t>
            </a:r>
            <a:endParaRPr kumimoji="0" lang="zh-CN" altLang="en-US" sz="1200" b="1" i="0" u="none" strike="noStrike" kern="1200" cap="none" spc="0" normalizeH="0" baseline="0" noProof="0" dirty="0">
              <a:ln>
                <a:noFill/>
              </a:ln>
              <a:solidFill>
                <a:srgbClr val="000000"/>
              </a:solidFill>
              <a:effectLst/>
              <a:uLnTx/>
              <a:uFillTx/>
              <a:cs typeface="+mn-ea"/>
              <a:sym typeface="+mn-lt"/>
            </a:endParaRPr>
          </a:p>
        </p:txBody>
      </p:sp>
      <p:sp>
        <p:nvSpPr>
          <p:cNvPr id="134" name="熊大的PPT宝库77"/>
          <p:cNvSpPr/>
          <p:nvPr/>
        </p:nvSpPr>
        <p:spPr>
          <a:xfrm>
            <a:off x="8884506" y="4570125"/>
            <a:ext cx="2057400" cy="252000"/>
          </a:xfrm>
          <a:prstGeom prst="roundRect">
            <a:avLst>
              <a:gd name="adj" fmla="val 50000"/>
            </a:avLst>
          </a:prstGeom>
          <a:solidFill>
            <a:schemeClr val="accent1">
              <a:lumMod val="20000"/>
              <a:lumOff val="8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5" name="熊大的PPT宝库78"/>
          <p:cNvSpPr txBox="1"/>
          <p:nvPr/>
        </p:nvSpPr>
        <p:spPr>
          <a:xfrm>
            <a:off x="9499206" y="4617203"/>
            <a:ext cx="828000" cy="184666"/>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00329D"/>
                </a:solidFill>
                <a:effectLst/>
                <a:uLnTx/>
                <a:uFillTx/>
                <a:cs typeface="+mn-ea"/>
                <a:sym typeface="+mn-lt"/>
              </a:rPr>
              <a:t>R3→R4R5</a:t>
            </a:r>
            <a:endParaRPr kumimoji="0" lang="zh-CN" altLang="en-US" sz="1200" b="1" i="0" u="none" strike="noStrike" kern="1200" cap="none" spc="0" normalizeH="0" baseline="0" noProof="0" dirty="0">
              <a:ln>
                <a:noFill/>
              </a:ln>
              <a:solidFill>
                <a:srgbClr val="00329D"/>
              </a:solidFill>
              <a:effectLst/>
              <a:uLnTx/>
              <a:uFillTx/>
              <a:cs typeface="+mn-ea"/>
              <a:sym typeface="+mn-lt"/>
            </a:endParaRPr>
          </a:p>
        </p:txBody>
      </p:sp>
      <p:sp>
        <p:nvSpPr>
          <p:cNvPr id="137" name="熊大的PPT宝库79"/>
          <p:cNvSpPr/>
          <p:nvPr/>
        </p:nvSpPr>
        <p:spPr>
          <a:xfrm flipV="1">
            <a:off x="1175421" y="5167248"/>
            <a:ext cx="2244655" cy="497098"/>
          </a:xfrm>
          <a:prstGeom prst="ellipse">
            <a:avLst/>
          </a:prstGeom>
          <a:gradFill flip="none" rotWithShape="1">
            <a:gsLst>
              <a:gs pos="0">
                <a:schemeClr val="accent1">
                  <a:lumMod val="20000"/>
                  <a:lumOff val="80000"/>
                  <a:alpha val="55000"/>
                </a:schemeClr>
              </a:gs>
              <a:gs pos="100000">
                <a:schemeClr val="accent1">
                  <a:lumMod val="20000"/>
                  <a:lumOff val="80000"/>
                  <a:alpha val="0"/>
                </a:schemeClr>
              </a:gs>
            </a:gsLst>
            <a:lin ang="5400000" scaled="1"/>
            <a:tileRect/>
          </a:gradFill>
          <a:ln>
            <a:gradFill>
              <a:gsLst>
                <a:gs pos="0">
                  <a:schemeClr val="accent1">
                    <a:lumMod val="20000"/>
                    <a:lumOff val="80000"/>
                  </a:schemeClr>
                </a:gs>
                <a:gs pos="100000">
                  <a:schemeClr val="accent1">
                    <a:lumMod val="20000"/>
                    <a:lumOff val="80000"/>
                    <a:alpha val="0"/>
                  </a:schemeClr>
                </a:gs>
              </a:gsLst>
              <a:lin ang="5400000" scaled="1"/>
            </a:gradFill>
          </a:ln>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38" name="熊大的PPT宝库80"/>
          <p:cNvSpPr txBox="1"/>
          <p:nvPr/>
        </p:nvSpPr>
        <p:spPr>
          <a:xfrm>
            <a:off x="1913028" y="5334479"/>
            <a:ext cx="769441"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cs typeface="+mn-ea"/>
                <a:sym typeface="+mn-lt"/>
              </a:rPr>
              <a:t>公域泛人群</a:t>
            </a:r>
          </a:p>
        </p:txBody>
      </p:sp>
      <p:sp>
        <p:nvSpPr>
          <p:cNvPr id="139" name="熊大的PPT宝库81"/>
          <p:cNvSpPr/>
          <p:nvPr/>
        </p:nvSpPr>
        <p:spPr>
          <a:xfrm>
            <a:off x="1913028" y="5575798"/>
            <a:ext cx="769441" cy="180000"/>
          </a:xfrm>
          <a:prstGeom prst="roundRect">
            <a:avLst>
              <a:gd name="adj" fmla="val 50000"/>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40" name="熊大的PPT宝库82"/>
          <p:cNvSpPr txBox="1"/>
          <p:nvPr/>
        </p:nvSpPr>
        <p:spPr>
          <a:xfrm>
            <a:off x="2041268" y="5579329"/>
            <a:ext cx="512961" cy="153888"/>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全民关注</a:t>
            </a:r>
          </a:p>
        </p:txBody>
      </p:sp>
      <p:sp>
        <p:nvSpPr>
          <p:cNvPr id="141" name="熊大的PPT宝库83"/>
          <p:cNvSpPr/>
          <p:nvPr/>
        </p:nvSpPr>
        <p:spPr>
          <a:xfrm rot="16200000">
            <a:off x="810978" y="5724554"/>
            <a:ext cx="332584" cy="282919"/>
          </a:xfrm>
          <a:prstGeom prst="chevron">
            <a:avLst/>
          </a:prstGeom>
          <a:gradFill>
            <a:gsLst>
              <a:gs pos="0">
                <a:schemeClr val="accent1">
                  <a:lumMod val="20000"/>
                  <a:lumOff val="80000"/>
                </a:schemeClr>
              </a:gs>
              <a:gs pos="100000">
                <a:schemeClr val="accent1">
                  <a:lumMod val="20000"/>
                  <a:lumOff val="80000"/>
                  <a:alpha val="0"/>
                </a:schemeClr>
              </a:gs>
            </a:gsLst>
            <a:path path="circle">
              <a:fillToRect l="100000" t="100000"/>
            </a:path>
          </a:grad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142" name="熊大的PPT宝库84"/>
          <p:cNvSpPr/>
          <p:nvPr/>
        </p:nvSpPr>
        <p:spPr>
          <a:xfrm rot="16200000">
            <a:off x="3399744" y="5724554"/>
            <a:ext cx="332584" cy="282919"/>
          </a:xfrm>
          <a:prstGeom prst="chevron">
            <a:avLst/>
          </a:prstGeom>
          <a:gradFill>
            <a:gsLst>
              <a:gs pos="0">
                <a:schemeClr val="accent1">
                  <a:lumMod val="20000"/>
                  <a:lumOff val="80000"/>
                </a:schemeClr>
              </a:gs>
              <a:gs pos="100000">
                <a:schemeClr val="accent1">
                  <a:lumMod val="20000"/>
                  <a:lumOff val="80000"/>
                  <a:alpha val="0"/>
                </a:schemeClr>
              </a:gs>
            </a:gsLst>
            <a:path path="circle">
              <a:fillToRect l="100000" t="100000"/>
            </a:path>
          </a:grad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143" name="熊大的PPT宝库85"/>
          <p:cNvSpPr/>
          <p:nvPr/>
        </p:nvSpPr>
        <p:spPr>
          <a:xfrm rot="16200000">
            <a:off x="2105361" y="5813454"/>
            <a:ext cx="332584" cy="282919"/>
          </a:xfrm>
          <a:prstGeom prst="chevron">
            <a:avLst/>
          </a:prstGeom>
          <a:gradFill>
            <a:gsLst>
              <a:gs pos="0">
                <a:schemeClr val="accent1">
                  <a:lumMod val="20000"/>
                  <a:lumOff val="80000"/>
                </a:schemeClr>
              </a:gs>
              <a:gs pos="100000">
                <a:schemeClr val="accent1">
                  <a:lumMod val="20000"/>
                  <a:lumOff val="80000"/>
                  <a:alpha val="0"/>
                </a:schemeClr>
              </a:gs>
            </a:gsLst>
            <a:path path="circle">
              <a:fillToRect l="100000" t="100000"/>
            </a:path>
          </a:grad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148" name="熊大的PPT宝库86"/>
          <p:cNvSpPr/>
          <p:nvPr/>
        </p:nvSpPr>
        <p:spPr>
          <a:xfrm>
            <a:off x="525099" y="6032701"/>
            <a:ext cx="1049129" cy="346248"/>
          </a:xfrm>
          <a:prstGeom prst="roundRect">
            <a:avLst>
              <a:gd name="adj" fmla="val 16989"/>
            </a:avLst>
          </a:prstGeom>
          <a:solidFill>
            <a:schemeClr val="accent1">
              <a:lumMod val="20000"/>
              <a:lumOff val="8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49" name="熊大的PPT宝库87"/>
          <p:cNvSpPr txBox="1"/>
          <p:nvPr/>
        </p:nvSpPr>
        <p:spPr>
          <a:xfrm>
            <a:off x="793183" y="6079779"/>
            <a:ext cx="512961" cy="153888"/>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00329D"/>
                </a:solidFill>
                <a:effectLst/>
                <a:uLnTx/>
                <a:uFillTx/>
                <a:cs typeface="+mn-ea"/>
                <a:sym typeface="+mn-lt"/>
              </a:rPr>
              <a:t>内容共创</a:t>
            </a:r>
          </a:p>
        </p:txBody>
      </p:sp>
      <p:sp>
        <p:nvSpPr>
          <p:cNvPr id="150" name="熊大的PPT宝库88"/>
          <p:cNvSpPr txBox="1"/>
          <p:nvPr/>
        </p:nvSpPr>
        <p:spPr>
          <a:xfrm>
            <a:off x="624867" y="6233667"/>
            <a:ext cx="849592" cy="12311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rgbClr val="000000"/>
                </a:solidFill>
                <a:effectLst/>
                <a:uLnTx/>
                <a:uFillTx/>
                <a:cs typeface="+mn-ea"/>
                <a:sym typeface="+mn-lt"/>
              </a:rPr>
              <a:t>TVC+</a:t>
            </a:r>
            <a:r>
              <a:rPr kumimoji="0" lang="zh-CN" altLang="en-US" sz="800" b="0" i="0" u="none" strike="noStrike" kern="1200" cap="none" spc="0" normalizeH="0" baseline="0" noProof="0" dirty="0">
                <a:ln>
                  <a:noFill/>
                </a:ln>
                <a:solidFill>
                  <a:srgbClr val="000000"/>
                </a:solidFill>
                <a:effectLst/>
                <a:uLnTx/>
                <a:uFillTx/>
                <a:cs typeface="+mn-ea"/>
                <a:sym typeface="+mn-lt"/>
              </a:rPr>
              <a:t>话题</a:t>
            </a:r>
            <a:r>
              <a:rPr kumimoji="0" lang="en-US" altLang="zh-CN" sz="800" b="0" i="0" u="none" strike="noStrike" kern="1200" cap="none" spc="0" normalizeH="0" baseline="0" noProof="0" dirty="0">
                <a:ln>
                  <a:noFill/>
                </a:ln>
                <a:solidFill>
                  <a:srgbClr val="000000"/>
                </a:solidFill>
                <a:effectLst/>
                <a:uLnTx/>
                <a:uFillTx/>
                <a:cs typeface="+mn-ea"/>
                <a:sym typeface="+mn-lt"/>
              </a:rPr>
              <a:t>+</a:t>
            </a:r>
            <a:r>
              <a:rPr kumimoji="0" lang="zh-CN" altLang="en-US" sz="800" b="0" i="0" u="none" strike="noStrike" kern="1200" cap="none" spc="0" normalizeH="0" baseline="0" noProof="0" dirty="0">
                <a:ln>
                  <a:noFill/>
                </a:ln>
                <a:solidFill>
                  <a:srgbClr val="000000"/>
                </a:solidFill>
                <a:effectLst/>
                <a:uLnTx/>
                <a:uFillTx/>
                <a:cs typeface="+mn-ea"/>
                <a:sym typeface="+mn-lt"/>
              </a:rPr>
              <a:t>挑战赛</a:t>
            </a:r>
          </a:p>
        </p:txBody>
      </p:sp>
      <p:sp>
        <p:nvSpPr>
          <p:cNvPr id="151" name="熊大的PPT宝库89"/>
          <p:cNvSpPr/>
          <p:nvPr/>
        </p:nvSpPr>
        <p:spPr>
          <a:xfrm>
            <a:off x="1773184" y="6147001"/>
            <a:ext cx="1049129" cy="346248"/>
          </a:xfrm>
          <a:prstGeom prst="roundRect">
            <a:avLst>
              <a:gd name="adj" fmla="val 16989"/>
            </a:avLst>
          </a:prstGeom>
          <a:solidFill>
            <a:schemeClr val="accent1">
              <a:lumMod val="20000"/>
              <a:lumOff val="8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2" name="熊大的PPT宝库90"/>
          <p:cNvSpPr txBox="1"/>
          <p:nvPr/>
        </p:nvSpPr>
        <p:spPr>
          <a:xfrm>
            <a:off x="2041268" y="6194079"/>
            <a:ext cx="512961" cy="153888"/>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00329D"/>
                </a:solidFill>
                <a:effectLst/>
                <a:uLnTx/>
                <a:uFillTx/>
                <a:cs typeface="+mn-ea"/>
                <a:sym typeface="+mn-lt"/>
              </a:rPr>
              <a:t>内容共创</a:t>
            </a:r>
          </a:p>
        </p:txBody>
      </p:sp>
      <p:sp>
        <p:nvSpPr>
          <p:cNvPr id="153" name="熊大的PPT宝库91"/>
          <p:cNvSpPr txBox="1"/>
          <p:nvPr/>
        </p:nvSpPr>
        <p:spPr>
          <a:xfrm>
            <a:off x="1872952" y="6347967"/>
            <a:ext cx="849592" cy="12311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rgbClr val="000000"/>
                </a:solidFill>
                <a:effectLst/>
                <a:uLnTx/>
                <a:uFillTx/>
                <a:cs typeface="+mn-ea"/>
                <a:sym typeface="+mn-lt"/>
              </a:rPr>
              <a:t>TVC+</a:t>
            </a:r>
            <a:r>
              <a:rPr kumimoji="0" lang="zh-CN" altLang="en-US" sz="800" b="0" i="0" u="none" strike="noStrike" kern="1200" cap="none" spc="0" normalizeH="0" baseline="0" noProof="0" dirty="0">
                <a:ln>
                  <a:noFill/>
                </a:ln>
                <a:solidFill>
                  <a:srgbClr val="000000"/>
                </a:solidFill>
                <a:effectLst/>
                <a:uLnTx/>
                <a:uFillTx/>
                <a:cs typeface="+mn-ea"/>
                <a:sym typeface="+mn-lt"/>
              </a:rPr>
              <a:t>话题</a:t>
            </a:r>
            <a:r>
              <a:rPr kumimoji="0" lang="en-US" altLang="zh-CN" sz="800" b="0" i="0" u="none" strike="noStrike" kern="1200" cap="none" spc="0" normalizeH="0" baseline="0" noProof="0" dirty="0">
                <a:ln>
                  <a:noFill/>
                </a:ln>
                <a:solidFill>
                  <a:srgbClr val="000000"/>
                </a:solidFill>
                <a:effectLst/>
                <a:uLnTx/>
                <a:uFillTx/>
                <a:cs typeface="+mn-ea"/>
                <a:sym typeface="+mn-lt"/>
              </a:rPr>
              <a:t>+</a:t>
            </a:r>
            <a:r>
              <a:rPr kumimoji="0" lang="zh-CN" altLang="en-US" sz="800" b="0" i="0" u="none" strike="noStrike" kern="1200" cap="none" spc="0" normalizeH="0" baseline="0" noProof="0" dirty="0">
                <a:ln>
                  <a:noFill/>
                </a:ln>
                <a:solidFill>
                  <a:srgbClr val="000000"/>
                </a:solidFill>
                <a:effectLst/>
                <a:uLnTx/>
                <a:uFillTx/>
                <a:cs typeface="+mn-ea"/>
                <a:sym typeface="+mn-lt"/>
              </a:rPr>
              <a:t>挑战赛</a:t>
            </a:r>
          </a:p>
        </p:txBody>
      </p:sp>
      <p:sp>
        <p:nvSpPr>
          <p:cNvPr id="154" name="熊大的PPT宝库92"/>
          <p:cNvSpPr/>
          <p:nvPr/>
        </p:nvSpPr>
        <p:spPr>
          <a:xfrm>
            <a:off x="3022414" y="6032701"/>
            <a:ext cx="1049129" cy="346248"/>
          </a:xfrm>
          <a:prstGeom prst="roundRect">
            <a:avLst>
              <a:gd name="adj" fmla="val 16989"/>
            </a:avLst>
          </a:prstGeom>
          <a:solidFill>
            <a:schemeClr val="accent1">
              <a:lumMod val="20000"/>
              <a:lumOff val="8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5" name="熊大的PPT宝库93"/>
          <p:cNvSpPr txBox="1"/>
          <p:nvPr/>
        </p:nvSpPr>
        <p:spPr>
          <a:xfrm>
            <a:off x="3290498" y="6079779"/>
            <a:ext cx="512961" cy="153888"/>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00329D"/>
                </a:solidFill>
                <a:effectLst/>
                <a:uLnTx/>
                <a:uFillTx/>
                <a:cs typeface="+mn-ea"/>
                <a:sym typeface="+mn-lt"/>
              </a:rPr>
              <a:t>内容共创</a:t>
            </a:r>
          </a:p>
        </p:txBody>
      </p:sp>
      <p:sp>
        <p:nvSpPr>
          <p:cNvPr id="156" name="熊大的PPT宝库94"/>
          <p:cNvSpPr txBox="1"/>
          <p:nvPr/>
        </p:nvSpPr>
        <p:spPr>
          <a:xfrm>
            <a:off x="3122182" y="6233667"/>
            <a:ext cx="849592" cy="12311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rgbClr val="000000"/>
                </a:solidFill>
                <a:effectLst/>
                <a:uLnTx/>
                <a:uFillTx/>
                <a:cs typeface="+mn-ea"/>
                <a:sym typeface="+mn-lt"/>
              </a:rPr>
              <a:t>TVC+</a:t>
            </a:r>
            <a:r>
              <a:rPr kumimoji="0" lang="zh-CN" altLang="en-US" sz="800" b="0" i="0" u="none" strike="noStrike" kern="1200" cap="none" spc="0" normalizeH="0" baseline="0" noProof="0" dirty="0">
                <a:ln>
                  <a:noFill/>
                </a:ln>
                <a:solidFill>
                  <a:srgbClr val="000000"/>
                </a:solidFill>
                <a:effectLst/>
                <a:uLnTx/>
                <a:uFillTx/>
                <a:cs typeface="+mn-ea"/>
                <a:sym typeface="+mn-lt"/>
              </a:rPr>
              <a:t>话题</a:t>
            </a:r>
            <a:r>
              <a:rPr kumimoji="0" lang="en-US" altLang="zh-CN" sz="800" b="0" i="0" u="none" strike="noStrike" kern="1200" cap="none" spc="0" normalizeH="0" baseline="0" noProof="0" dirty="0">
                <a:ln>
                  <a:noFill/>
                </a:ln>
                <a:solidFill>
                  <a:srgbClr val="000000"/>
                </a:solidFill>
                <a:effectLst/>
                <a:uLnTx/>
                <a:uFillTx/>
                <a:cs typeface="+mn-ea"/>
                <a:sym typeface="+mn-lt"/>
              </a:rPr>
              <a:t>+</a:t>
            </a:r>
            <a:r>
              <a:rPr kumimoji="0" lang="zh-CN" altLang="en-US" sz="800" b="0" i="0" u="none" strike="noStrike" kern="1200" cap="none" spc="0" normalizeH="0" baseline="0" noProof="0" dirty="0">
                <a:ln>
                  <a:noFill/>
                </a:ln>
                <a:solidFill>
                  <a:srgbClr val="000000"/>
                </a:solidFill>
                <a:effectLst/>
                <a:uLnTx/>
                <a:uFillTx/>
                <a:cs typeface="+mn-ea"/>
                <a:sym typeface="+mn-lt"/>
              </a:rPr>
              <a:t>挑战赛</a:t>
            </a:r>
          </a:p>
        </p:txBody>
      </p:sp>
      <p:sp>
        <p:nvSpPr>
          <p:cNvPr id="157" name="熊大的PPT宝库95"/>
          <p:cNvSpPr/>
          <p:nvPr/>
        </p:nvSpPr>
        <p:spPr>
          <a:xfrm>
            <a:off x="3919756" y="5160121"/>
            <a:ext cx="513379" cy="554518"/>
          </a:xfrm>
          <a:prstGeom prst="rightArrow">
            <a:avLst/>
          </a:prstGeom>
          <a:gradFill>
            <a:gsLst>
              <a:gs pos="0">
                <a:schemeClr val="accent1">
                  <a:lumMod val="20000"/>
                  <a:lumOff val="80000"/>
                  <a:alpha val="33000"/>
                </a:schemeClr>
              </a:gs>
              <a:gs pos="100000">
                <a:schemeClr val="accent1"/>
              </a:gs>
            </a:gsLst>
            <a:lin ang="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8" name="熊大的PPT宝库96"/>
          <p:cNvSpPr/>
          <p:nvPr/>
        </p:nvSpPr>
        <p:spPr>
          <a:xfrm flipV="1">
            <a:off x="4973672" y="4887848"/>
            <a:ext cx="2244655" cy="497098"/>
          </a:xfrm>
          <a:prstGeom prst="ellipse">
            <a:avLst/>
          </a:prstGeom>
          <a:gradFill flip="none" rotWithShape="1">
            <a:gsLst>
              <a:gs pos="0">
                <a:schemeClr val="accent1">
                  <a:lumMod val="20000"/>
                  <a:lumOff val="80000"/>
                  <a:alpha val="55000"/>
                </a:schemeClr>
              </a:gs>
              <a:gs pos="100000">
                <a:schemeClr val="accent1">
                  <a:lumMod val="20000"/>
                  <a:lumOff val="80000"/>
                  <a:alpha val="0"/>
                </a:schemeClr>
              </a:gs>
            </a:gsLst>
            <a:lin ang="5400000" scaled="1"/>
            <a:tileRect/>
          </a:gradFill>
          <a:ln>
            <a:gradFill>
              <a:gsLst>
                <a:gs pos="0">
                  <a:schemeClr val="accent1">
                    <a:lumMod val="20000"/>
                    <a:lumOff val="80000"/>
                  </a:schemeClr>
                </a:gs>
                <a:gs pos="100000">
                  <a:schemeClr val="accent1">
                    <a:lumMod val="20000"/>
                    <a:lumOff val="80000"/>
                    <a:alpha val="0"/>
                  </a:schemeClr>
                </a:gs>
              </a:gsLst>
              <a:lin ang="5400000" scaled="1"/>
            </a:gradFill>
          </a:ln>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59" name="熊大的PPT宝库97"/>
          <p:cNvSpPr txBox="1"/>
          <p:nvPr/>
        </p:nvSpPr>
        <p:spPr>
          <a:xfrm>
            <a:off x="5385068" y="4927066"/>
            <a:ext cx="1421864" cy="369332"/>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cs typeface="+mn-ea"/>
                <a:sym typeface="+mn-lt"/>
              </a:rPr>
              <a:t>一阶段内容兴趣用户</a:t>
            </a:r>
            <a:endParaRPr kumimoji="0" lang="en-US" altLang="zh-CN" sz="1200" b="1"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cs typeface="+mn-ea"/>
                <a:sym typeface="+mn-lt"/>
              </a:rPr>
              <a:t>互动行为用户</a:t>
            </a:r>
          </a:p>
        </p:txBody>
      </p:sp>
      <p:sp>
        <p:nvSpPr>
          <p:cNvPr id="160" name="熊大的PPT宝库98"/>
          <p:cNvSpPr/>
          <p:nvPr/>
        </p:nvSpPr>
        <p:spPr>
          <a:xfrm>
            <a:off x="5711279" y="5296398"/>
            <a:ext cx="769441" cy="180000"/>
          </a:xfrm>
          <a:prstGeom prst="roundRect">
            <a:avLst>
              <a:gd name="adj" fmla="val 50000"/>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61" name="熊大的PPT宝库99"/>
          <p:cNvSpPr txBox="1"/>
          <p:nvPr/>
        </p:nvSpPr>
        <p:spPr>
          <a:xfrm>
            <a:off x="5839519" y="5299929"/>
            <a:ext cx="512961" cy="153888"/>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行为锚定</a:t>
            </a:r>
          </a:p>
        </p:txBody>
      </p:sp>
      <p:sp>
        <p:nvSpPr>
          <p:cNvPr id="162" name="熊大的PPT宝库100"/>
          <p:cNvSpPr/>
          <p:nvPr/>
        </p:nvSpPr>
        <p:spPr>
          <a:xfrm flipV="1">
            <a:off x="4973672" y="5920686"/>
            <a:ext cx="2244655" cy="497098"/>
          </a:xfrm>
          <a:prstGeom prst="ellipse">
            <a:avLst/>
          </a:prstGeom>
          <a:gradFill flip="none" rotWithShape="1">
            <a:gsLst>
              <a:gs pos="0">
                <a:schemeClr val="accent1">
                  <a:lumMod val="20000"/>
                  <a:lumOff val="80000"/>
                  <a:alpha val="55000"/>
                </a:schemeClr>
              </a:gs>
              <a:gs pos="100000">
                <a:schemeClr val="accent1">
                  <a:lumMod val="20000"/>
                  <a:lumOff val="80000"/>
                  <a:alpha val="0"/>
                </a:schemeClr>
              </a:gs>
            </a:gsLst>
            <a:lin ang="5400000" scaled="1"/>
            <a:tileRect/>
          </a:gradFill>
          <a:ln>
            <a:gradFill>
              <a:gsLst>
                <a:gs pos="0">
                  <a:schemeClr val="accent1">
                    <a:lumMod val="20000"/>
                    <a:lumOff val="80000"/>
                  </a:schemeClr>
                </a:gs>
                <a:gs pos="100000">
                  <a:schemeClr val="accent1">
                    <a:lumMod val="20000"/>
                    <a:lumOff val="80000"/>
                    <a:alpha val="0"/>
                  </a:schemeClr>
                </a:gs>
              </a:gsLst>
              <a:lin ang="5400000" scaled="1"/>
            </a:gradFill>
          </a:ln>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63" name="熊大的PPT宝库101"/>
          <p:cNvSpPr txBox="1"/>
          <p:nvPr/>
        </p:nvSpPr>
        <p:spPr>
          <a:xfrm>
            <a:off x="5634335" y="5959904"/>
            <a:ext cx="923330" cy="369332"/>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cs typeface="+mn-ea"/>
                <a:sym typeface="+mn-lt"/>
              </a:rPr>
              <a:t>品牌目标人群</a:t>
            </a:r>
            <a:endParaRPr kumimoji="0" lang="en-US" altLang="zh-CN" sz="1200" b="1"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cs typeface="+mn-ea"/>
                <a:sym typeface="+mn-lt"/>
              </a:rPr>
              <a:t>潜在兴趣人群</a:t>
            </a:r>
          </a:p>
        </p:txBody>
      </p:sp>
      <p:sp>
        <p:nvSpPr>
          <p:cNvPr id="164" name="熊大的PPT宝库102"/>
          <p:cNvSpPr/>
          <p:nvPr/>
        </p:nvSpPr>
        <p:spPr>
          <a:xfrm>
            <a:off x="5711279" y="6329236"/>
            <a:ext cx="769441" cy="180000"/>
          </a:xfrm>
          <a:prstGeom prst="roundRect">
            <a:avLst>
              <a:gd name="adj" fmla="val 50000"/>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65" name="熊大的PPT宝库103"/>
          <p:cNvSpPr txBox="1"/>
          <p:nvPr/>
        </p:nvSpPr>
        <p:spPr>
          <a:xfrm>
            <a:off x="5839519" y="6332767"/>
            <a:ext cx="512961" cy="153888"/>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人群定向</a:t>
            </a:r>
          </a:p>
        </p:txBody>
      </p:sp>
      <p:sp>
        <p:nvSpPr>
          <p:cNvPr id="166" name="熊大的PPT宝库104"/>
          <p:cNvSpPr/>
          <p:nvPr/>
        </p:nvSpPr>
        <p:spPr>
          <a:xfrm>
            <a:off x="4418270" y="5524734"/>
            <a:ext cx="1049129" cy="346248"/>
          </a:xfrm>
          <a:prstGeom prst="roundRect">
            <a:avLst>
              <a:gd name="adj" fmla="val 16989"/>
            </a:avLst>
          </a:prstGeom>
          <a:solidFill>
            <a:schemeClr val="accent1">
              <a:lumMod val="20000"/>
              <a:lumOff val="80000"/>
              <a:alpha val="3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67" name="熊大的PPT宝库105"/>
          <p:cNvSpPr txBox="1"/>
          <p:nvPr/>
        </p:nvSpPr>
        <p:spPr>
          <a:xfrm>
            <a:off x="4558116" y="5571812"/>
            <a:ext cx="769441" cy="153888"/>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00329D">
                    <a:lumMod val="40000"/>
                    <a:lumOff val="60000"/>
                  </a:srgbClr>
                </a:solidFill>
                <a:effectLst/>
                <a:uLnTx/>
                <a:uFillTx/>
                <a:cs typeface="+mn-ea"/>
                <a:sym typeface="+mn-lt"/>
              </a:rPr>
              <a:t>广告曝光场景</a:t>
            </a:r>
          </a:p>
        </p:txBody>
      </p:sp>
      <p:sp>
        <p:nvSpPr>
          <p:cNvPr id="168" name="熊大的PPT宝库106"/>
          <p:cNvSpPr txBox="1"/>
          <p:nvPr/>
        </p:nvSpPr>
        <p:spPr>
          <a:xfrm>
            <a:off x="4461132" y="5725700"/>
            <a:ext cx="963405" cy="12311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轻互动开展</a:t>
            </a:r>
            <a:r>
              <a:rPr kumimoji="0" lang="en-US" altLang="zh-CN" sz="800" b="0" i="0" u="none" strike="noStrike" kern="1200" cap="none" spc="0" normalizeH="0" baseline="0" noProof="0" dirty="0">
                <a:ln>
                  <a:noFill/>
                </a:ln>
                <a:solidFill>
                  <a:srgbClr val="000000"/>
                </a:solidFill>
                <a:effectLst/>
                <a:uLnTx/>
                <a:uFillTx/>
                <a:cs typeface="+mn-ea"/>
                <a:sym typeface="+mn-lt"/>
              </a:rPr>
              <a:t>/</a:t>
            </a:r>
            <a:r>
              <a:rPr kumimoji="0" lang="zh-CN" altLang="en-US" sz="800" b="0" i="0" u="none" strike="noStrike" kern="1200" cap="none" spc="0" normalizeH="0" baseline="0" noProof="0" dirty="0">
                <a:ln>
                  <a:noFill/>
                </a:ln>
                <a:solidFill>
                  <a:srgbClr val="000000"/>
                </a:solidFill>
                <a:effectLst/>
                <a:uLnTx/>
                <a:uFillTx/>
                <a:cs typeface="+mn-ea"/>
                <a:sym typeface="+mn-lt"/>
              </a:rPr>
              <a:t>单列信息</a:t>
            </a:r>
          </a:p>
        </p:txBody>
      </p:sp>
      <p:sp>
        <p:nvSpPr>
          <p:cNvPr id="169" name="熊大的PPT宝库107"/>
          <p:cNvSpPr/>
          <p:nvPr/>
        </p:nvSpPr>
        <p:spPr>
          <a:xfrm>
            <a:off x="5572517" y="5524734"/>
            <a:ext cx="1049129" cy="346248"/>
          </a:xfrm>
          <a:prstGeom prst="roundRect">
            <a:avLst>
              <a:gd name="adj" fmla="val 16989"/>
            </a:avLst>
          </a:prstGeom>
          <a:solidFill>
            <a:schemeClr val="accent1">
              <a:lumMod val="20000"/>
              <a:lumOff val="80000"/>
              <a:alpha val="3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70" name="熊大的PPT宝库108"/>
          <p:cNvSpPr txBox="1"/>
          <p:nvPr/>
        </p:nvSpPr>
        <p:spPr>
          <a:xfrm>
            <a:off x="5648243" y="5571812"/>
            <a:ext cx="897682" cy="153888"/>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00329D">
                    <a:lumMod val="40000"/>
                    <a:lumOff val="60000"/>
                  </a:srgbClr>
                </a:solidFill>
                <a:effectLst/>
                <a:uLnTx/>
                <a:uFillTx/>
                <a:cs typeface="+mn-ea"/>
                <a:sym typeface="+mn-lt"/>
              </a:rPr>
              <a:t>互动与搜索场景</a:t>
            </a:r>
          </a:p>
        </p:txBody>
      </p:sp>
      <p:sp>
        <p:nvSpPr>
          <p:cNvPr id="171" name="熊大的PPT宝库109"/>
          <p:cNvSpPr txBox="1"/>
          <p:nvPr/>
        </p:nvSpPr>
        <p:spPr>
          <a:xfrm>
            <a:off x="5789305" y="5725700"/>
            <a:ext cx="615553" cy="12311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直播评论搜索</a:t>
            </a:r>
          </a:p>
        </p:txBody>
      </p:sp>
      <p:sp>
        <p:nvSpPr>
          <p:cNvPr id="172" name="熊大的PPT宝库110"/>
          <p:cNvSpPr/>
          <p:nvPr/>
        </p:nvSpPr>
        <p:spPr>
          <a:xfrm>
            <a:off x="6726764" y="5524734"/>
            <a:ext cx="1049129" cy="346248"/>
          </a:xfrm>
          <a:prstGeom prst="roundRect">
            <a:avLst>
              <a:gd name="adj" fmla="val 16989"/>
            </a:avLst>
          </a:prstGeom>
          <a:solidFill>
            <a:schemeClr val="accent1">
              <a:lumMod val="20000"/>
              <a:lumOff val="80000"/>
              <a:alpha val="3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73" name="熊大的PPT宝库111"/>
          <p:cNvSpPr txBox="1"/>
          <p:nvPr/>
        </p:nvSpPr>
        <p:spPr>
          <a:xfrm>
            <a:off x="6866612" y="5571812"/>
            <a:ext cx="769441" cy="153888"/>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00329D">
                    <a:lumMod val="40000"/>
                    <a:lumOff val="60000"/>
                  </a:srgbClr>
                </a:solidFill>
                <a:effectLst/>
                <a:uLnTx/>
                <a:uFillTx/>
                <a:cs typeface="+mn-ea"/>
                <a:sym typeface="+mn-lt"/>
              </a:rPr>
              <a:t>阵地经营场景</a:t>
            </a:r>
          </a:p>
        </p:txBody>
      </p:sp>
      <p:sp>
        <p:nvSpPr>
          <p:cNvPr id="174" name="熊大的PPT宝库112"/>
          <p:cNvSpPr txBox="1"/>
          <p:nvPr/>
        </p:nvSpPr>
        <p:spPr>
          <a:xfrm>
            <a:off x="6943552" y="5725700"/>
            <a:ext cx="718145" cy="12311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品牌会员与小店</a:t>
            </a:r>
          </a:p>
        </p:txBody>
      </p:sp>
      <p:sp>
        <p:nvSpPr>
          <p:cNvPr id="175" name="熊大的PPT宝库113"/>
          <p:cNvSpPr/>
          <p:nvPr/>
        </p:nvSpPr>
        <p:spPr>
          <a:xfrm>
            <a:off x="5491057" y="5680321"/>
            <a:ext cx="57802" cy="49170"/>
          </a:xfrm>
          <a:prstGeom prst="chevron">
            <a:avLst/>
          </a:prstGeom>
          <a:gradFill>
            <a:gsLst>
              <a:gs pos="0">
                <a:schemeClr val="accent1"/>
              </a:gs>
              <a:gs pos="100000">
                <a:schemeClr val="accent1">
                  <a:lumMod val="40000"/>
                  <a:lumOff val="60000"/>
                </a:schemeClr>
              </a:gs>
            </a:gsLst>
            <a:path path="circle">
              <a:fillToRect l="100000" t="100000"/>
            </a:path>
          </a:grad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176" name="熊大的PPT宝库114"/>
          <p:cNvSpPr/>
          <p:nvPr/>
        </p:nvSpPr>
        <p:spPr>
          <a:xfrm>
            <a:off x="6645304" y="5680321"/>
            <a:ext cx="57802" cy="49170"/>
          </a:xfrm>
          <a:prstGeom prst="chevron">
            <a:avLst/>
          </a:prstGeom>
          <a:gradFill>
            <a:gsLst>
              <a:gs pos="0">
                <a:schemeClr val="accent1"/>
              </a:gs>
              <a:gs pos="100000">
                <a:schemeClr val="accent1">
                  <a:lumMod val="40000"/>
                  <a:lumOff val="60000"/>
                </a:schemeClr>
              </a:gs>
            </a:gsLst>
            <a:path path="circle">
              <a:fillToRect l="100000" t="100000"/>
            </a:path>
          </a:gradFill>
          <a:ln>
            <a:noFill/>
          </a:ln>
          <a:effectLst>
            <a:outerShdw blurRad="330200" dist="139700" dir="5400000" algn="t" rotWithShape="0">
              <a:schemeClr val="tx1">
                <a:lumMod val="65000"/>
                <a:lumOff val="35000"/>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00329D">
                      <a:lumMod val="5000"/>
                      <a:lumOff val="95000"/>
                    </a:srgbClr>
                  </a:gs>
                  <a:gs pos="74000">
                    <a:srgbClr val="00329D">
                      <a:lumMod val="45000"/>
                      <a:lumOff val="55000"/>
                    </a:srgbClr>
                  </a:gs>
                  <a:gs pos="83000">
                    <a:srgbClr val="00329D">
                      <a:lumMod val="45000"/>
                      <a:lumOff val="55000"/>
                    </a:srgbClr>
                  </a:gs>
                  <a:gs pos="100000">
                    <a:srgbClr val="00329D">
                      <a:lumMod val="30000"/>
                      <a:lumOff val="70000"/>
                    </a:srgbClr>
                  </a:gs>
                </a:gsLst>
                <a:lin ang="5400000" scaled="1"/>
              </a:gradFill>
              <a:effectLst/>
              <a:uLnTx/>
              <a:uFillTx/>
              <a:cs typeface="+mn-ea"/>
              <a:sym typeface="+mn-lt"/>
            </a:endParaRPr>
          </a:p>
        </p:txBody>
      </p:sp>
      <p:sp>
        <p:nvSpPr>
          <p:cNvPr id="177" name="熊大的PPT宝库115"/>
          <p:cNvSpPr/>
          <p:nvPr/>
        </p:nvSpPr>
        <p:spPr>
          <a:xfrm flipV="1">
            <a:off x="8790879" y="4887848"/>
            <a:ext cx="2244655" cy="497098"/>
          </a:xfrm>
          <a:prstGeom prst="ellipse">
            <a:avLst/>
          </a:prstGeom>
          <a:gradFill flip="none" rotWithShape="1">
            <a:gsLst>
              <a:gs pos="0">
                <a:schemeClr val="accent1">
                  <a:lumMod val="20000"/>
                  <a:lumOff val="80000"/>
                  <a:alpha val="55000"/>
                </a:schemeClr>
              </a:gs>
              <a:gs pos="100000">
                <a:schemeClr val="accent1">
                  <a:lumMod val="20000"/>
                  <a:lumOff val="80000"/>
                  <a:alpha val="0"/>
                </a:schemeClr>
              </a:gs>
            </a:gsLst>
            <a:lin ang="5400000" scaled="1"/>
            <a:tileRect/>
          </a:gradFill>
          <a:ln>
            <a:gradFill>
              <a:gsLst>
                <a:gs pos="0">
                  <a:schemeClr val="accent1">
                    <a:lumMod val="20000"/>
                    <a:lumOff val="80000"/>
                  </a:schemeClr>
                </a:gs>
                <a:gs pos="100000">
                  <a:schemeClr val="accent1">
                    <a:lumMod val="20000"/>
                    <a:lumOff val="80000"/>
                    <a:alpha val="0"/>
                  </a:schemeClr>
                </a:gs>
              </a:gsLst>
              <a:lin ang="5400000" scaled="1"/>
            </a:gradFill>
          </a:ln>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78" name="熊大的PPT宝库116"/>
          <p:cNvSpPr txBox="1"/>
          <p:nvPr/>
        </p:nvSpPr>
        <p:spPr>
          <a:xfrm>
            <a:off x="9202274" y="4927066"/>
            <a:ext cx="1421864" cy="369332"/>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cs typeface="+mn-ea"/>
                <a:sym typeface="+mn-lt"/>
              </a:rPr>
              <a:t>一阶段内容兴趣用户</a:t>
            </a:r>
            <a:endParaRPr kumimoji="0" lang="en-US" altLang="zh-CN" sz="1200" b="1"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cs typeface="+mn-ea"/>
                <a:sym typeface="+mn-lt"/>
              </a:rPr>
              <a:t>互动行为用户</a:t>
            </a:r>
          </a:p>
        </p:txBody>
      </p:sp>
      <p:sp>
        <p:nvSpPr>
          <p:cNvPr id="179" name="熊大的PPT宝库117"/>
          <p:cNvSpPr/>
          <p:nvPr/>
        </p:nvSpPr>
        <p:spPr>
          <a:xfrm>
            <a:off x="9528486" y="5296398"/>
            <a:ext cx="769441" cy="180000"/>
          </a:xfrm>
          <a:prstGeom prst="roundRect">
            <a:avLst>
              <a:gd name="adj" fmla="val 50000"/>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80" name="熊大的PPT宝库118"/>
          <p:cNvSpPr txBox="1"/>
          <p:nvPr/>
        </p:nvSpPr>
        <p:spPr>
          <a:xfrm>
            <a:off x="9656726" y="5299929"/>
            <a:ext cx="512961" cy="153888"/>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行为锚定</a:t>
            </a:r>
          </a:p>
        </p:txBody>
      </p:sp>
      <p:sp>
        <p:nvSpPr>
          <p:cNvPr id="181" name="熊大的PPT宝库119"/>
          <p:cNvSpPr/>
          <p:nvPr/>
        </p:nvSpPr>
        <p:spPr>
          <a:xfrm flipV="1">
            <a:off x="8790879" y="5743989"/>
            <a:ext cx="2244655" cy="497098"/>
          </a:xfrm>
          <a:prstGeom prst="ellipse">
            <a:avLst/>
          </a:prstGeom>
          <a:gradFill flip="none" rotWithShape="1">
            <a:gsLst>
              <a:gs pos="0">
                <a:schemeClr val="accent1">
                  <a:lumMod val="20000"/>
                  <a:lumOff val="80000"/>
                  <a:alpha val="55000"/>
                </a:schemeClr>
              </a:gs>
              <a:gs pos="100000">
                <a:schemeClr val="accent1">
                  <a:lumMod val="20000"/>
                  <a:lumOff val="80000"/>
                  <a:alpha val="0"/>
                </a:schemeClr>
              </a:gs>
            </a:gsLst>
            <a:lin ang="5400000" scaled="1"/>
            <a:tileRect/>
          </a:gradFill>
          <a:ln>
            <a:gradFill>
              <a:gsLst>
                <a:gs pos="0">
                  <a:schemeClr val="accent1">
                    <a:lumMod val="20000"/>
                    <a:lumOff val="80000"/>
                  </a:schemeClr>
                </a:gs>
                <a:gs pos="100000">
                  <a:schemeClr val="accent1">
                    <a:lumMod val="20000"/>
                    <a:lumOff val="80000"/>
                    <a:alpha val="0"/>
                  </a:schemeClr>
                </a:gs>
              </a:gsLst>
              <a:lin ang="5400000" scaled="1"/>
            </a:gradFill>
          </a:ln>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182" name="熊大的PPT宝库120"/>
          <p:cNvSpPr txBox="1"/>
          <p:nvPr/>
        </p:nvSpPr>
        <p:spPr>
          <a:xfrm>
            <a:off x="9125332" y="5783207"/>
            <a:ext cx="1575751" cy="369332"/>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cs typeface="+mn-ea"/>
                <a:sym typeface="+mn-lt"/>
              </a:rPr>
              <a:t>一二阶段深度用户行为</a:t>
            </a:r>
            <a:endParaRPr kumimoji="0" lang="en-US" altLang="zh-CN" sz="1200" b="1"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cs typeface="+mn-ea"/>
                <a:sym typeface="+mn-lt"/>
              </a:rPr>
              <a:t>未转化用户</a:t>
            </a:r>
          </a:p>
        </p:txBody>
      </p:sp>
      <p:sp>
        <p:nvSpPr>
          <p:cNvPr id="183" name="熊大的PPT宝库121"/>
          <p:cNvSpPr/>
          <p:nvPr/>
        </p:nvSpPr>
        <p:spPr>
          <a:xfrm>
            <a:off x="9528486" y="6152539"/>
            <a:ext cx="769441" cy="180000"/>
          </a:xfrm>
          <a:prstGeom prst="roundRect">
            <a:avLst>
              <a:gd name="adj" fmla="val 50000"/>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84" name="熊大的PPT宝库122"/>
          <p:cNvSpPr txBox="1"/>
          <p:nvPr/>
        </p:nvSpPr>
        <p:spPr>
          <a:xfrm>
            <a:off x="9656726" y="6156070"/>
            <a:ext cx="512961" cy="153888"/>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促进转化</a:t>
            </a:r>
          </a:p>
        </p:txBody>
      </p:sp>
      <p:sp>
        <p:nvSpPr>
          <p:cNvPr id="189" name="熊大的PPT宝库123"/>
          <p:cNvSpPr/>
          <p:nvPr/>
        </p:nvSpPr>
        <p:spPr>
          <a:xfrm>
            <a:off x="7820516" y="5160121"/>
            <a:ext cx="513379" cy="554518"/>
          </a:xfrm>
          <a:prstGeom prst="rightArrow">
            <a:avLst/>
          </a:prstGeom>
          <a:gradFill>
            <a:gsLst>
              <a:gs pos="0">
                <a:schemeClr val="accent1">
                  <a:lumMod val="20000"/>
                  <a:lumOff val="80000"/>
                  <a:alpha val="33000"/>
                </a:schemeClr>
              </a:gs>
              <a:gs pos="100000">
                <a:schemeClr val="accent1"/>
              </a:gs>
            </a:gsLst>
            <a:lin ang="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熊大的PPT宝库1"/>
          <p:cNvSpPr/>
          <p:nvPr/>
        </p:nvSpPr>
        <p:spPr>
          <a:xfrm>
            <a:off x="451592" y="1484904"/>
            <a:ext cx="11297496" cy="5070815"/>
          </a:xfrm>
          <a:prstGeom prst="roundRect">
            <a:avLst>
              <a:gd name="adj" fmla="val 432"/>
            </a:avLst>
          </a:prstGeom>
          <a:solidFill>
            <a:schemeClr val="bg1"/>
          </a:solidFill>
          <a:ln>
            <a:noFill/>
          </a:ln>
          <a:effectLst>
            <a:outerShdw blurRad="215900" sx="102000" sy="102000" algn="ctr" rotWithShape="0">
              <a:schemeClr val="accent1">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8" name="熊大的PPT宝库2"/>
          <p:cNvSpPr/>
          <p:nvPr/>
        </p:nvSpPr>
        <p:spPr>
          <a:xfrm>
            <a:off x="429970" y="995655"/>
            <a:ext cx="11332061" cy="44651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 name="熊大的PPT宝库3"/>
          <p:cNvSpPr txBox="1"/>
          <p:nvPr/>
        </p:nvSpPr>
        <p:spPr>
          <a:xfrm>
            <a:off x="348830" y="216968"/>
            <a:ext cx="7160935"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电商持续做工经营，实现生意长效增长</a:t>
            </a:r>
          </a:p>
        </p:txBody>
      </p:sp>
      <p:sp>
        <p:nvSpPr>
          <p:cNvPr id="5" name="熊大的PPT宝库5"/>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
        <p:nvSpPr>
          <p:cNvPr id="7" name="熊大的PPT宝库6"/>
          <p:cNvSpPr txBox="1"/>
          <p:nvPr/>
        </p:nvSpPr>
        <p:spPr>
          <a:xfrm>
            <a:off x="2490286" y="1049637"/>
            <a:ext cx="7160936" cy="338554"/>
          </a:xfrm>
          <a:prstGeom prst="rect">
            <a:avLst/>
          </a:prstGeom>
          <a:noFill/>
        </p:spPr>
        <p:txBody>
          <a:bodyPr wrap="square"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电商闭环商家，在供给度、运营力、品牌力持续做工经营，实现生意长效增长</a:t>
            </a:r>
          </a:p>
        </p:txBody>
      </p:sp>
      <p:grpSp>
        <p:nvGrpSpPr>
          <p:cNvPr id="130" name="熊大的PPT宝库7"/>
          <p:cNvGrpSpPr/>
          <p:nvPr/>
        </p:nvGrpSpPr>
        <p:grpSpPr>
          <a:xfrm>
            <a:off x="4213593" y="1556906"/>
            <a:ext cx="3764813" cy="3643390"/>
            <a:chOff x="4213593" y="1556906"/>
            <a:chExt cx="3764813" cy="3643390"/>
          </a:xfrm>
          <a:solidFill>
            <a:schemeClr val="accent1"/>
          </a:solidFill>
        </p:grpSpPr>
        <p:sp>
          <p:nvSpPr>
            <p:cNvPr id="18" name="熊大的PPT宝库7-1"/>
            <p:cNvSpPr/>
            <p:nvPr/>
          </p:nvSpPr>
          <p:spPr>
            <a:xfrm>
              <a:off x="5357809" y="1556906"/>
              <a:ext cx="1476381" cy="1428765"/>
            </a:xfrm>
            <a:custGeom>
              <a:avLst/>
              <a:gdLst>
                <a:gd name="connsiteX0" fmla="*/ 738191 w 1476381"/>
                <a:gd name="connsiteY0" fmla="*/ 0 h 1428765"/>
                <a:gd name="connsiteX1" fmla="*/ 1476381 w 1476381"/>
                <a:gd name="connsiteY1" fmla="*/ 1428765 h 1428765"/>
                <a:gd name="connsiteX2" fmla="*/ 0 w 1476381"/>
                <a:gd name="connsiteY2" fmla="*/ 1428765 h 1428765"/>
                <a:gd name="connsiteX3" fmla="*/ 738191 w 1476381"/>
                <a:gd name="connsiteY3" fmla="*/ 0 h 1428765"/>
              </a:gdLst>
              <a:ahLst/>
              <a:cxnLst>
                <a:cxn ang="0">
                  <a:pos x="connsiteX0" y="connsiteY0"/>
                </a:cxn>
                <a:cxn ang="0">
                  <a:pos x="connsiteX1" y="connsiteY1"/>
                </a:cxn>
                <a:cxn ang="0">
                  <a:pos x="connsiteX2" y="connsiteY2"/>
                </a:cxn>
                <a:cxn ang="0">
                  <a:pos x="connsiteX3" y="connsiteY3"/>
                </a:cxn>
              </a:cxnLst>
              <a:rect l="l" t="t" r="r" b="b"/>
              <a:pathLst>
                <a:path w="1476381" h="1428765">
                  <a:moveTo>
                    <a:pt x="738191" y="0"/>
                  </a:moveTo>
                  <a:lnTo>
                    <a:pt x="1476381" y="1428765"/>
                  </a:lnTo>
                  <a:lnTo>
                    <a:pt x="0" y="1428765"/>
                  </a:lnTo>
                  <a:lnTo>
                    <a:pt x="738191" y="0"/>
                  </a:lnTo>
                  <a:close/>
                </a:path>
              </a:pathLst>
            </a:custGeom>
            <a:gradFill>
              <a:gsLst>
                <a:gs pos="0">
                  <a:schemeClr val="accent1">
                    <a:alpha val="46000"/>
                  </a:schemeClr>
                </a:gs>
                <a:gs pos="100000">
                  <a:schemeClr val="accent1"/>
                </a:gs>
              </a:gsLst>
              <a:lin ang="1620000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 name="熊大的PPT宝库7-2"/>
            <p:cNvSpPr/>
            <p:nvPr/>
          </p:nvSpPr>
          <p:spPr>
            <a:xfrm>
              <a:off x="4738119" y="3068798"/>
              <a:ext cx="2715762" cy="1116280"/>
            </a:xfrm>
            <a:custGeom>
              <a:avLst/>
              <a:gdLst>
                <a:gd name="connsiteX0" fmla="*/ 576741 w 2715762"/>
                <a:gd name="connsiteY0" fmla="*/ 0 h 1116280"/>
                <a:gd name="connsiteX1" fmla="*/ 2139021 w 2715762"/>
                <a:gd name="connsiteY1" fmla="*/ 0 h 1116280"/>
                <a:gd name="connsiteX2" fmla="*/ 2715762 w 2715762"/>
                <a:gd name="connsiteY2" fmla="*/ 1116280 h 1116280"/>
                <a:gd name="connsiteX3" fmla="*/ 0 w 2715762"/>
                <a:gd name="connsiteY3" fmla="*/ 1116280 h 1116280"/>
                <a:gd name="connsiteX4" fmla="*/ 576741 w 2715762"/>
                <a:gd name="connsiteY4" fmla="*/ 0 h 1116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5762" h="1116280">
                  <a:moveTo>
                    <a:pt x="576741" y="0"/>
                  </a:moveTo>
                  <a:lnTo>
                    <a:pt x="2139021" y="0"/>
                  </a:lnTo>
                  <a:lnTo>
                    <a:pt x="2715762" y="1116280"/>
                  </a:lnTo>
                  <a:lnTo>
                    <a:pt x="0" y="1116280"/>
                  </a:lnTo>
                  <a:lnTo>
                    <a:pt x="576741" y="0"/>
                  </a:lnTo>
                  <a:close/>
                </a:path>
              </a:pathLst>
            </a:custGeom>
            <a:gradFill>
              <a:gsLst>
                <a:gs pos="0">
                  <a:schemeClr val="accent1">
                    <a:alpha val="46000"/>
                  </a:schemeClr>
                </a:gs>
                <a:gs pos="100000">
                  <a:schemeClr val="accent1"/>
                </a:gs>
              </a:gsLst>
              <a:lin ang="1620000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 name="熊大的PPT宝库7-3"/>
            <p:cNvSpPr/>
            <p:nvPr/>
          </p:nvSpPr>
          <p:spPr>
            <a:xfrm>
              <a:off x="4213593" y="4268207"/>
              <a:ext cx="3764813" cy="932089"/>
            </a:xfrm>
            <a:custGeom>
              <a:avLst/>
              <a:gdLst>
                <a:gd name="connsiteX0" fmla="*/ 481577 w 3764813"/>
                <a:gd name="connsiteY0" fmla="*/ 0 h 932089"/>
                <a:gd name="connsiteX1" fmla="*/ 3283237 w 3764813"/>
                <a:gd name="connsiteY1" fmla="*/ 0 h 932089"/>
                <a:gd name="connsiteX2" fmla="*/ 3764813 w 3764813"/>
                <a:gd name="connsiteY2" fmla="*/ 932089 h 932089"/>
                <a:gd name="connsiteX3" fmla="*/ 0 w 3764813"/>
                <a:gd name="connsiteY3" fmla="*/ 932089 h 932089"/>
                <a:gd name="connsiteX4" fmla="*/ 481577 w 3764813"/>
                <a:gd name="connsiteY4" fmla="*/ 0 h 932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4813" h="932089">
                  <a:moveTo>
                    <a:pt x="481577" y="0"/>
                  </a:moveTo>
                  <a:lnTo>
                    <a:pt x="3283237" y="0"/>
                  </a:lnTo>
                  <a:lnTo>
                    <a:pt x="3764813" y="932089"/>
                  </a:lnTo>
                  <a:lnTo>
                    <a:pt x="0" y="932089"/>
                  </a:lnTo>
                  <a:lnTo>
                    <a:pt x="481577" y="0"/>
                  </a:lnTo>
                  <a:close/>
                </a:path>
              </a:pathLst>
            </a:custGeom>
            <a:gradFill>
              <a:gsLst>
                <a:gs pos="0">
                  <a:schemeClr val="accent1">
                    <a:alpha val="46000"/>
                  </a:schemeClr>
                </a:gs>
                <a:gs pos="100000">
                  <a:schemeClr val="accent1"/>
                </a:gs>
              </a:gsLst>
              <a:lin ang="16200000" scaled="0"/>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pSp>
      <p:sp>
        <p:nvSpPr>
          <p:cNvPr id="21" name="熊大的PPT宝库8"/>
          <p:cNvSpPr txBox="1"/>
          <p:nvPr/>
        </p:nvSpPr>
        <p:spPr>
          <a:xfrm>
            <a:off x="5788223" y="2271288"/>
            <a:ext cx="615553"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品牌力</a:t>
            </a:r>
          </a:p>
        </p:txBody>
      </p:sp>
      <p:sp>
        <p:nvSpPr>
          <p:cNvPr id="22" name="熊大的PPT宝库9"/>
          <p:cNvSpPr txBox="1"/>
          <p:nvPr/>
        </p:nvSpPr>
        <p:spPr>
          <a:xfrm>
            <a:off x="5788223" y="3346974"/>
            <a:ext cx="615553"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运营力</a:t>
            </a:r>
          </a:p>
        </p:txBody>
      </p:sp>
      <p:sp>
        <p:nvSpPr>
          <p:cNvPr id="23" name="熊大的PPT宝库10"/>
          <p:cNvSpPr txBox="1"/>
          <p:nvPr/>
        </p:nvSpPr>
        <p:spPr>
          <a:xfrm>
            <a:off x="5788223" y="4396851"/>
            <a:ext cx="615553"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供给度</a:t>
            </a:r>
          </a:p>
        </p:txBody>
      </p:sp>
      <p:sp>
        <p:nvSpPr>
          <p:cNvPr id="25" name="熊大的PPT宝库11"/>
          <p:cNvSpPr/>
          <p:nvPr/>
        </p:nvSpPr>
        <p:spPr>
          <a:xfrm>
            <a:off x="5705096" y="2636322"/>
            <a:ext cx="781807" cy="246221"/>
          </a:xfrm>
          <a:prstGeom prst="roundRect">
            <a:avLst/>
          </a:prstGeom>
          <a:solidFill>
            <a:schemeClr val="bg2"/>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6" name="熊大的PPT宝库12"/>
          <p:cNvSpPr txBox="1"/>
          <p:nvPr/>
        </p:nvSpPr>
        <p:spPr>
          <a:xfrm>
            <a:off x="5826695" y="2678641"/>
            <a:ext cx="538609" cy="16158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329D"/>
                </a:solidFill>
                <a:effectLst/>
                <a:uLnTx/>
                <a:uFillTx/>
                <a:cs typeface="+mn-ea"/>
                <a:sym typeface="+mn-lt"/>
              </a:rPr>
              <a:t>品效合一</a:t>
            </a:r>
          </a:p>
        </p:txBody>
      </p:sp>
      <p:sp>
        <p:nvSpPr>
          <p:cNvPr id="27" name="熊大的PPT宝库13"/>
          <p:cNvSpPr/>
          <p:nvPr/>
        </p:nvSpPr>
        <p:spPr>
          <a:xfrm>
            <a:off x="5705096" y="3761909"/>
            <a:ext cx="781807" cy="246221"/>
          </a:xfrm>
          <a:prstGeom prst="roundRect">
            <a:avLst/>
          </a:prstGeom>
          <a:solidFill>
            <a:schemeClr val="bg2"/>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8" name="熊大的PPT宝库14"/>
          <p:cNvSpPr txBox="1"/>
          <p:nvPr/>
        </p:nvSpPr>
        <p:spPr>
          <a:xfrm>
            <a:off x="5826695" y="3804228"/>
            <a:ext cx="538609" cy="16158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329D"/>
                </a:solidFill>
                <a:effectLst/>
                <a:uLnTx/>
                <a:uFillTx/>
                <a:cs typeface="+mn-ea"/>
                <a:sym typeface="+mn-lt"/>
              </a:rPr>
              <a:t>流量效率</a:t>
            </a:r>
          </a:p>
        </p:txBody>
      </p:sp>
      <p:sp>
        <p:nvSpPr>
          <p:cNvPr id="29" name="熊大的PPT宝库15"/>
          <p:cNvSpPr/>
          <p:nvPr/>
        </p:nvSpPr>
        <p:spPr>
          <a:xfrm>
            <a:off x="5705096" y="4771716"/>
            <a:ext cx="781807" cy="246221"/>
          </a:xfrm>
          <a:prstGeom prst="roundRect">
            <a:avLst/>
          </a:prstGeom>
          <a:solidFill>
            <a:schemeClr val="bg2"/>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0" name="熊大的PPT宝库16"/>
          <p:cNvSpPr txBox="1"/>
          <p:nvPr/>
        </p:nvSpPr>
        <p:spPr>
          <a:xfrm>
            <a:off x="5894021" y="4814035"/>
            <a:ext cx="403957" cy="16158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00329D"/>
                </a:solidFill>
                <a:effectLst/>
                <a:uLnTx/>
                <a:uFillTx/>
                <a:cs typeface="+mn-ea"/>
                <a:sym typeface="+mn-lt"/>
              </a:rPr>
              <a:t>丰富度</a:t>
            </a:r>
          </a:p>
        </p:txBody>
      </p:sp>
      <p:sp>
        <p:nvSpPr>
          <p:cNvPr id="32" name="熊大的PPT宝库17"/>
          <p:cNvSpPr txBox="1"/>
          <p:nvPr/>
        </p:nvSpPr>
        <p:spPr>
          <a:xfrm>
            <a:off x="5197831" y="3561842"/>
            <a:ext cx="230832" cy="1384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solidFill>
                <a:effectLst/>
                <a:uLnTx/>
                <a:uFillTx/>
                <a:cs typeface="+mn-ea"/>
                <a:sym typeface="+mn-lt"/>
              </a:rPr>
              <a:t>直播</a:t>
            </a:r>
          </a:p>
        </p:txBody>
      </p:sp>
      <p:sp>
        <p:nvSpPr>
          <p:cNvPr id="33" name="熊大的PPT宝库18"/>
          <p:cNvSpPr txBox="1"/>
          <p:nvPr/>
        </p:nvSpPr>
        <p:spPr>
          <a:xfrm>
            <a:off x="6709601" y="3561842"/>
            <a:ext cx="230832" cy="138499"/>
          </a:xfrm>
          <a:prstGeom prst="rect">
            <a:avLst/>
          </a:prstGeom>
          <a:noFill/>
        </p:spPr>
        <p:txBody>
          <a:bodyPr wrap="square" lIns="0" tIns="0" rIns="0" bIns="0" rtlCol="0">
            <a:noAutofit/>
          </a:bodyPr>
          <a:lstStyle>
            <a:defPPr>
              <a:defRPr lang="en-US"/>
            </a:defPPr>
            <a:lvl1pPr>
              <a:defRPr sz="900" b="1">
                <a:solidFill>
                  <a:schemeClr val="bg1"/>
                </a:solidFill>
                <a:latin typeface="+mj-ea"/>
                <a:ea typeface="+mj-ea"/>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solidFill>
                <a:effectLst/>
                <a:uLnTx/>
                <a:uFillTx/>
                <a:latin typeface="+mn-lt"/>
                <a:ea typeface="+mn-ea"/>
                <a:cs typeface="+mn-ea"/>
                <a:sym typeface="+mn-lt"/>
              </a:rPr>
              <a:t>货架</a:t>
            </a:r>
          </a:p>
        </p:txBody>
      </p:sp>
      <p:sp>
        <p:nvSpPr>
          <p:cNvPr id="34" name="熊大的PPT宝库19"/>
          <p:cNvSpPr txBox="1"/>
          <p:nvPr/>
        </p:nvSpPr>
        <p:spPr>
          <a:xfrm>
            <a:off x="5056767" y="3773813"/>
            <a:ext cx="512962" cy="246221"/>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FFFFFF"/>
                </a:solidFill>
                <a:effectLst/>
                <a:uLnTx/>
                <a:uFillTx/>
                <a:cs typeface="+mn-ea"/>
                <a:sym typeface="+mn-lt"/>
              </a:rPr>
              <a:t>直播达标</a:t>
            </a:r>
            <a:endParaRPr kumimoji="0" lang="en-US" altLang="zh-CN" sz="800" b="0"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FFFFFF"/>
                </a:solidFill>
                <a:effectLst/>
                <a:uLnTx/>
                <a:uFillTx/>
                <a:cs typeface="+mn-ea"/>
                <a:sym typeface="+mn-lt"/>
              </a:rPr>
              <a:t>内容吸引力</a:t>
            </a:r>
          </a:p>
        </p:txBody>
      </p:sp>
      <p:sp>
        <p:nvSpPr>
          <p:cNvPr id="35" name="熊大的PPT宝库20"/>
          <p:cNvSpPr txBox="1"/>
          <p:nvPr/>
        </p:nvSpPr>
        <p:spPr>
          <a:xfrm>
            <a:off x="6619833" y="3773813"/>
            <a:ext cx="410369"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FFFFFF"/>
                </a:solidFill>
                <a:effectLst/>
                <a:uLnTx/>
                <a:uFillTx/>
                <a:cs typeface="+mn-ea"/>
                <a:sym typeface="+mn-lt"/>
              </a:rPr>
              <a:t>机制力度</a:t>
            </a:r>
            <a:endParaRPr kumimoji="0" lang="en-US" altLang="zh-CN" sz="800" b="0" i="0" u="none" strike="noStrike" kern="1200" cap="none" spc="0" normalizeH="0" baseline="0" noProof="0" dirty="0">
              <a:ln>
                <a:noFill/>
              </a:ln>
              <a:solidFill>
                <a:srgbClr val="FFFFFF"/>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FFFFFF"/>
                </a:solidFill>
                <a:effectLst/>
                <a:uLnTx/>
                <a:uFillTx/>
                <a:cs typeface="+mn-ea"/>
                <a:sym typeface="+mn-lt"/>
              </a:rPr>
              <a:t>官方补贴</a:t>
            </a:r>
          </a:p>
        </p:txBody>
      </p:sp>
      <p:sp>
        <p:nvSpPr>
          <p:cNvPr id="36" name="熊大的PPT宝库21"/>
          <p:cNvSpPr txBox="1"/>
          <p:nvPr/>
        </p:nvSpPr>
        <p:spPr>
          <a:xfrm>
            <a:off x="5197831" y="4559745"/>
            <a:ext cx="230832" cy="1384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solidFill>
                <a:effectLst/>
                <a:uLnTx/>
                <a:uFillTx/>
                <a:cs typeface="+mn-ea"/>
                <a:sym typeface="+mn-lt"/>
              </a:rPr>
              <a:t>好物</a:t>
            </a:r>
          </a:p>
        </p:txBody>
      </p:sp>
      <p:sp>
        <p:nvSpPr>
          <p:cNvPr id="37" name="熊大的PPT宝库22"/>
          <p:cNvSpPr txBox="1"/>
          <p:nvPr/>
        </p:nvSpPr>
        <p:spPr>
          <a:xfrm>
            <a:off x="6709601" y="4559745"/>
            <a:ext cx="230832" cy="138499"/>
          </a:xfrm>
          <a:prstGeom prst="rect">
            <a:avLst/>
          </a:prstGeom>
          <a:noFill/>
        </p:spPr>
        <p:txBody>
          <a:bodyPr wrap="square" lIns="0" tIns="0" rIns="0" bIns="0" rtlCol="0">
            <a:noAutofit/>
          </a:bodyPr>
          <a:lstStyle>
            <a:defPPr>
              <a:defRPr lang="en-US"/>
            </a:defPPr>
            <a:lvl1pPr>
              <a:defRPr sz="900" b="1">
                <a:solidFill>
                  <a:schemeClr val="bg1"/>
                </a:solidFill>
                <a:latin typeface="+mj-ea"/>
                <a:ea typeface="+mj-ea"/>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solidFill>
                <a:effectLst/>
                <a:uLnTx/>
                <a:uFillTx/>
                <a:latin typeface="+mn-lt"/>
                <a:ea typeface="+mn-ea"/>
                <a:cs typeface="+mn-ea"/>
                <a:sym typeface="+mn-lt"/>
              </a:rPr>
              <a:t>优价</a:t>
            </a:r>
          </a:p>
        </p:txBody>
      </p:sp>
      <p:sp>
        <p:nvSpPr>
          <p:cNvPr id="38" name="熊大的PPT宝库23"/>
          <p:cNvSpPr txBox="1"/>
          <p:nvPr/>
        </p:nvSpPr>
        <p:spPr>
          <a:xfrm>
            <a:off x="5056773" y="4771716"/>
            <a:ext cx="512961" cy="246221"/>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FFFFFF"/>
                </a:solidFill>
                <a:effectLst/>
                <a:uLnTx/>
                <a:uFillTx/>
                <a:cs typeface="+mn-ea"/>
                <a:sym typeface="+mn-lt"/>
              </a:rPr>
              <a:t>新品爆品</a:t>
            </a:r>
            <a:endParaRPr kumimoji="0" lang="en-US" altLang="zh-CN" sz="800" b="0"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FFFFFF"/>
                </a:solidFill>
                <a:effectLst/>
                <a:uLnTx/>
                <a:uFillTx/>
                <a:cs typeface="+mn-ea"/>
                <a:sym typeface="+mn-lt"/>
              </a:rPr>
              <a:t>渠道专供品</a:t>
            </a:r>
          </a:p>
        </p:txBody>
      </p:sp>
      <p:sp>
        <p:nvSpPr>
          <p:cNvPr id="39" name="熊大的PPT宝库24"/>
          <p:cNvSpPr txBox="1"/>
          <p:nvPr/>
        </p:nvSpPr>
        <p:spPr>
          <a:xfrm>
            <a:off x="6619833" y="4771716"/>
            <a:ext cx="410369"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FFFFFF"/>
                </a:solidFill>
                <a:effectLst/>
                <a:uLnTx/>
                <a:uFillTx/>
                <a:cs typeface="+mn-ea"/>
                <a:sym typeface="+mn-lt"/>
              </a:rPr>
              <a:t>全网比价</a:t>
            </a:r>
            <a:endParaRPr kumimoji="0" lang="en-US" altLang="zh-CN" sz="800" b="0" i="0" u="none" strike="noStrike" kern="1200" cap="none" spc="0" normalizeH="0" baseline="0" noProof="0" dirty="0">
              <a:ln>
                <a:noFill/>
              </a:ln>
              <a:solidFill>
                <a:srgbClr val="FFFFFF"/>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FFFFFF"/>
                </a:solidFill>
                <a:effectLst/>
                <a:uLnTx/>
                <a:uFillTx/>
                <a:cs typeface="+mn-ea"/>
                <a:sym typeface="+mn-lt"/>
              </a:rPr>
              <a:t>大贴大补</a:t>
            </a:r>
          </a:p>
        </p:txBody>
      </p:sp>
      <p:sp>
        <p:nvSpPr>
          <p:cNvPr id="41" name="熊大的PPT宝库25"/>
          <p:cNvSpPr/>
          <p:nvPr/>
        </p:nvSpPr>
        <p:spPr>
          <a:xfrm flipV="1">
            <a:off x="641032" y="5838103"/>
            <a:ext cx="1662781" cy="497098"/>
          </a:xfrm>
          <a:prstGeom prst="ellipse">
            <a:avLst/>
          </a:prstGeom>
          <a:gradFill flip="none" rotWithShape="1">
            <a:gsLst>
              <a:gs pos="0">
                <a:schemeClr val="accent1"/>
              </a:gs>
              <a:gs pos="100000">
                <a:schemeClr val="accent1">
                  <a:lumMod val="20000"/>
                  <a:lumOff val="80000"/>
                  <a:alpha val="0"/>
                </a:schemeClr>
              </a:gs>
            </a:gsLst>
            <a:lin ang="5400000" scaled="1"/>
            <a:tileRect/>
          </a:gradFill>
          <a:ln>
            <a:gradFill>
              <a:gsLst>
                <a:gs pos="0">
                  <a:schemeClr val="accent1">
                    <a:lumMod val="20000"/>
                    <a:lumOff val="80000"/>
                  </a:schemeClr>
                </a:gs>
                <a:gs pos="100000">
                  <a:schemeClr val="accent1">
                    <a:lumMod val="20000"/>
                    <a:lumOff val="80000"/>
                    <a:alpha val="0"/>
                  </a:schemeClr>
                </a:gs>
              </a:gsLst>
              <a:lin ang="5400000" scaled="1"/>
            </a:gradFill>
          </a:ln>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42" name="熊大的PPT宝库26"/>
          <p:cNvSpPr txBox="1"/>
          <p:nvPr/>
        </p:nvSpPr>
        <p:spPr>
          <a:xfrm>
            <a:off x="1062053" y="5935925"/>
            <a:ext cx="820738"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平台导向</a:t>
            </a:r>
          </a:p>
        </p:txBody>
      </p:sp>
      <p:sp>
        <p:nvSpPr>
          <p:cNvPr id="45" name="熊大的PPT宝库27"/>
          <p:cNvSpPr/>
          <p:nvPr/>
        </p:nvSpPr>
        <p:spPr>
          <a:xfrm flipV="1">
            <a:off x="9888187" y="5838103"/>
            <a:ext cx="1662781" cy="497098"/>
          </a:xfrm>
          <a:prstGeom prst="ellipse">
            <a:avLst/>
          </a:prstGeom>
          <a:gradFill flip="none" rotWithShape="1">
            <a:gsLst>
              <a:gs pos="0">
                <a:schemeClr val="accent1"/>
              </a:gs>
              <a:gs pos="100000">
                <a:schemeClr val="accent1">
                  <a:lumMod val="20000"/>
                  <a:lumOff val="80000"/>
                  <a:alpha val="0"/>
                </a:schemeClr>
              </a:gs>
            </a:gsLst>
            <a:lin ang="5400000" scaled="1"/>
            <a:tileRect/>
          </a:gradFill>
          <a:ln>
            <a:gradFill>
              <a:gsLst>
                <a:gs pos="0">
                  <a:schemeClr val="accent1">
                    <a:lumMod val="20000"/>
                    <a:lumOff val="80000"/>
                  </a:schemeClr>
                </a:gs>
                <a:gs pos="100000">
                  <a:schemeClr val="accent1">
                    <a:lumMod val="20000"/>
                    <a:lumOff val="80000"/>
                    <a:alpha val="0"/>
                  </a:schemeClr>
                </a:gs>
              </a:gsLst>
              <a:lin ang="5400000" scaled="1"/>
            </a:gradFill>
          </a:ln>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46" name="熊大的PPT宝库28"/>
          <p:cNvSpPr txBox="1"/>
          <p:nvPr/>
        </p:nvSpPr>
        <p:spPr>
          <a:xfrm>
            <a:off x="10206616" y="5935925"/>
            <a:ext cx="1025922"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商家做工点</a:t>
            </a:r>
          </a:p>
        </p:txBody>
      </p:sp>
      <p:sp>
        <p:nvSpPr>
          <p:cNvPr id="47" name="熊大的PPT宝库29"/>
          <p:cNvSpPr/>
          <p:nvPr/>
        </p:nvSpPr>
        <p:spPr>
          <a:xfrm>
            <a:off x="8690697" y="1750359"/>
            <a:ext cx="2842385" cy="972000"/>
          </a:xfrm>
          <a:prstGeom prst="roundRect">
            <a:avLst>
              <a:gd name="adj" fmla="val 4450"/>
            </a:avLst>
          </a:prstGeom>
          <a:solidFill>
            <a:schemeClr val="accent1">
              <a:lumMod val="20000"/>
              <a:lumOff val="80000"/>
              <a:alpha val="7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9" name="熊大的PPT宝库30"/>
          <p:cNvSpPr txBox="1"/>
          <p:nvPr/>
        </p:nvSpPr>
        <p:spPr>
          <a:xfrm>
            <a:off x="2958945" y="5722170"/>
            <a:ext cx="820738"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全域运营</a:t>
            </a:r>
          </a:p>
        </p:txBody>
      </p:sp>
      <p:sp>
        <p:nvSpPr>
          <p:cNvPr id="50" name="熊大的PPT宝库31"/>
          <p:cNvSpPr txBox="1"/>
          <p:nvPr/>
        </p:nvSpPr>
        <p:spPr>
          <a:xfrm>
            <a:off x="4793210" y="5722170"/>
            <a:ext cx="833562"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爆品打造</a:t>
            </a:r>
          </a:p>
        </p:txBody>
      </p:sp>
      <p:sp>
        <p:nvSpPr>
          <p:cNvPr id="51" name="熊大的PPT宝库32"/>
          <p:cNvSpPr txBox="1"/>
          <p:nvPr/>
        </p:nvSpPr>
        <p:spPr>
          <a:xfrm>
            <a:off x="6537707" y="5722170"/>
            <a:ext cx="1025922"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品效销合一</a:t>
            </a:r>
          </a:p>
        </p:txBody>
      </p:sp>
      <p:sp>
        <p:nvSpPr>
          <p:cNvPr id="52" name="熊大的PPT宝库33"/>
          <p:cNvSpPr txBox="1"/>
          <p:nvPr/>
        </p:nvSpPr>
        <p:spPr>
          <a:xfrm>
            <a:off x="8334415" y="5722170"/>
            <a:ext cx="820738"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用户体验</a:t>
            </a:r>
          </a:p>
        </p:txBody>
      </p:sp>
      <p:sp>
        <p:nvSpPr>
          <p:cNvPr id="53" name="熊大的PPT宝库34"/>
          <p:cNvSpPr/>
          <p:nvPr/>
        </p:nvSpPr>
        <p:spPr>
          <a:xfrm>
            <a:off x="2622242" y="6012835"/>
            <a:ext cx="1494144" cy="325294"/>
          </a:xfrm>
          <a:prstGeom prst="roundRect">
            <a:avLst>
              <a:gd name="adj" fmla="val 50000"/>
            </a:avLst>
          </a:prstGeom>
          <a:solidFill>
            <a:schemeClr val="accent1">
              <a:lumMod val="20000"/>
              <a:lumOff val="80000"/>
              <a:alpha val="7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4" name="熊大的PPT宝库35"/>
          <p:cNvSpPr txBox="1"/>
          <p:nvPr/>
        </p:nvSpPr>
        <p:spPr>
          <a:xfrm>
            <a:off x="2809064" y="6067760"/>
            <a:ext cx="1120500"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内容场</a:t>
            </a:r>
            <a:r>
              <a:rPr kumimoji="0" lang="en-US" altLang="zh-CN" sz="1400" b="0" i="0" u="none" strike="noStrike" kern="1200" cap="none" spc="0" normalizeH="0" baseline="0" noProof="0" dirty="0">
                <a:ln>
                  <a:noFill/>
                </a:ln>
                <a:solidFill>
                  <a:srgbClr val="000000"/>
                </a:solidFill>
                <a:effectLst/>
                <a:uLnTx/>
                <a:uFillTx/>
                <a:cs typeface="+mn-ea"/>
                <a:sym typeface="+mn-lt"/>
              </a:rPr>
              <a:t>|</a:t>
            </a:r>
            <a:r>
              <a:rPr kumimoji="0" lang="zh-CN" altLang="en-US" sz="1400" b="0" i="0" u="none" strike="noStrike" kern="1200" cap="none" spc="0" normalizeH="0" baseline="0" noProof="0" dirty="0">
                <a:ln>
                  <a:noFill/>
                </a:ln>
                <a:solidFill>
                  <a:srgbClr val="000000"/>
                </a:solidFill>
                <a:effectLst/>
                <a:uLnTx/>
                <a:uFillTx/>
                <a:cs typeface="+mn-ea"/>
                <a:sym typeface="+mn-lt"/>
              </a:rPr>
              <a:t>营销场</a:t>
            </a:r>
          </a:p>
        </p:txBody>
      </p:sp>
      <p:sp>
        <p:nvSpPr>
          <p:cNvPr id="55" name="熊大的PPT宝库36"/>
          <p:cNvSpPr/>
          <p:nvPr/>
        </p:nvSpPr>
        <p:spPr>
          <a:xfrm>
            <a:off x="4316358" y="5993567"/>
            <a:ext cx="1787266" cy="325294"/>
          </a:xfrm>
          <a:prstGeom prst="roundRect">
            <a:avLst>
              <a:gd name="adj" fmla="val 50000"/>
            </a:avLst>
          </a:prstGeom>
          <a:solidFill>
            <a:schemeClr val="accent1">
              <a:lumMod val="20000"/>
              <a:lumOff val="80000"/>
              <a:alpha val="7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6" name="熊大的PPT宝库37"/>
          <p:cNvSpPr txBox="1"/>
          <p:nvPr/>
        </p:nvSpPr>
        <p:spPr>
          <a:xfrm>
            <a:off x="4470205" y="6048492"/>
            <a:ext cx="1479572"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新品首发</a:t>
            </a:r>
            <a:r>
              <a:rPr kumimoji="0" lang="en-US" altLang="zh-CN" sz="1400" b="0" i="0" u="none" strike="noStrike" kern="1200" cap="none" spc="0" normalizeH="0" baseline="0" noProof="0" dirty="0">
                <a:ln>
                  <a:noFill/>
                </a:ln>
                <a:solidFill>
                  <a:srgbClr val="000000"/>
                </a:solidFill>
                <a:effectLst/>
                <a:uLnTx/>
                <a:uFillTx/>
                <a:cs typeface="+mn-ea"/>
                <a:sym typeface="+mn-lt"/>
              </a:rPr>
              <a:t>|</a:t>
            </a:r>
            <a:r>
              <a:rPr kumimoji="0" lang="zh-CN" altLang="en-US" sz="1400" b="0" i="0" u="none" strike="noStrike" kern="1200" cap="none" spc="0" normalizeH="0" baseline="0" noProof="0" dirty="0">
                <a:ln>
                  <a:noFill/>
                </a:ln>
                <a:solidFill>
                  <a:srgbClr val="000000"/>
                </a:solidFill>
                <a:effectLst/>
                <a:uLnTx/>
                <a:uFillTx/>
                <a:cs typeface="+mn-ea"/>
                <a:sym typeface="+mn-lt"/>
              </a:rPr>
              <a:t>生命周期</a:t>
            </a:r>
          </a:p>
        </p:txBody>
      </p:sp>
      <p:sp>
        <p:nvSpPr>
          <p:cNvPr id="57" name="熊大的PPT宝库38"/>
          <p:cNvSpPr/>
          <p:nvPr/>
        </p:nvSpPr>
        <p:spPr>
          <a:xfrm>
            <a:off x="6303596" y="6012835"/>
            <a:ext cx="1494144" cy="325294"/>
          </a:xfrm>
          <a:prstGeom prst="roundRect">
            <a:avLst>
              <a:gd name="adj" fmla="val 50000"/>
            </a:avLst>
          </a:prstGeom>
          <a:solidFill>
            <a:schemeClr val="accent1">
              <a:lumMod val="20000"/>
              <a:lumOff val="80000"/>
              <a:alpha val="7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8" name="熊大的PPT宝库39"/>
          <p:cNvSpPr txBox="1"/>
          <p:nvPr/>
        </p:nvSpPr>
        <p:spPr>
          <a:xfrm>
            <a:off x="6441527" y="6067760"/>
            <a:ext cx="1218282"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品牌</a:t>
            </a:r>
            <a:r>
              <a:rPr kumimoji="0" lang="en-US" altLang="zh-CN" sz="1400" b="0" i="0" u="none" strike="noStrike" kern="1200" cap="none" spc="0" normalizeH="0" baseline="0" noProof="0" dirty="0">
                <a:ln>
                  <a:noFill/>
                </a:ln>
                <a:solidFill>
                  <a:srgbClr val="000000"/>
                </a:solidFill>
                <a:effectLst/>
                <a:uLnTx/>
                <a:uFillTx/>
                <a:cs typeface="+mn-ea"/>
                <a:sym typeface="+mn-lt"/>
              </a:rPr>
              <a:t>/</a:t>
            </a:r>
            <a:r>
              <a:rPr kumimoji="0" lang="zh-CN" altLang="en-US" sz="1400" b="0" i="0" u="none" strike="noStrike" kern="1200" cap="none" spc="0" normalizeH="0" baseline="0" noProof="0" dirty="0">
                <a:ln>
                  <a:noFill/>
                </a:ln>
                <a:solidFill>
                  <a:srgbClr val="000000"/>
                </a:solidFill>
                <a:effectLst/>
                <a:uLnTx/>
                <a:uFillTx/>
                <a:cs typeface="+mn-ea"/>
                <a:sym typeface="+mn-lt"/>
              </a:rPr>
              <a:t>效果</a:t>
            </a:r>
            <a:r>
              <a:rPr kumimoji="0" lang="en-US" altLang="zh-CN" sz="1400" b="0" i="0" u="none" strike="noStrike" kern="1200" cap="none" spc="0" normalizeH="0" baseline="0" noProof="0" dirty="0">
                <a:ln>
                  <a:noFill/>
                </a:ln>
                <a:solidFill>
                  <a:srgbClr val="000000"/>
                </a:solidFill>
                <a:effectLst/>
                <a:uLnTx/>
                <a:uFillTx/>
                <a:cs typeface="+mn-ea"/>
                <a:sym typeface="+mn-lt"/>
              </a:rPr>
              <a:t>/</a:t>
            </a:r>
            <a:r>
              <a:rPr kumimoji="0" lang="zh-CN" altLang="en-US" sz="1400" b="0" i="0" u="none" strike="noStrike" kern="1200" cap="none" spc="0" normalizeH="0" baseline="0" noProof="0" dirty="0">
                <a:ln>
                  <a:noFill/>
                </a:ln>
                <a:solidFill>
                  <a:srgbClr val="000000"/>
                </a:solidFill>
                <a:effectLst/>
                <a:uLnTx/>
                <a:uFillTx/>
                <a:cs typeface="+mn-ea"/>
                <a:sym typeface="+mn-lt"/>
              </a:rPr>
              <a:t>销售</a:t>
            </a:r>
          </a:p>
        </p:txBody>
      </p:sp>
      <p:sp>
        <p:nvSpPr>
          <p:cNvPr id="59" name="熊大的PPT宝库40"/>
          <p:cNvSpPr/>
          <p:nvPr/>
        </p:nvSpPr>
        <p:spPr>
          <a:xfrm>
            <a:off x="7997712" y="6012835"/>
            <a:ext cx="1494144" cy="325294"/>
          </a:xfrm>
          <a:prstGeom prst="roundRect">
            <a:avLst>
              <a:gd name="adj" fmla="val 50000"/>
            </a:avLst>
          </a:prstGeom>
          <a:solidFill>
            <a:schemeClr val="accent1">
              <a:lumMod val="20000"/>
              <a:lumOff val="80000"/>
              <a:alpha val="7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0" name="熊大的PPT宝库41"/>
          <p:cNvSpPr txBox="1"/>
          <p:nvPr/>
        </p:nvSpPr>
        <p:spPr>
          <a:xfrm>
            <a:off x="8184534" y="6067760"/>
            <a:ext cx="1120500"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满意度</a:t>
            </a:r>
            <a:r>
              <a:rPr kumimoji="0" lang="en-US" altLang="zh-CN" sz="1400" b="0" i="0" u="none" strike="noStrike" kern="1200" cap="none" spc="0" normalizeH="0" baseline="0" noProof="0" dirty="0">
                <a:ln>
                  <a:noFill/>
                </a:ln>
                <a:solidFill>
                  <a:srgbClr val="000000"/>
                </a:solidFill>
                <a:effectLst/>
                <a:uLnTx/>
                <a:uFillTx/>
                <a:cs typeface="+mn-ea"/>
                <a:sym typeface="+mn-lt"/>
              </a:rPr>
              <a:t>|</a:t>
            </a:r>
            <a:r>
              <a:rPr kumimoji="0" lang="zh-CN" altLang="en-US" sz="1400" b="0" i="0" u="none" strike="noStrike" kern="1200" cap="none" spc="0" normalizeH="0" baseline="0" noProof="0" dirty="0">
                <a:ln>
                  <a:noFill/>
                </a:ln>
                <a:solidFill>
                  <a:srgbClr val="000000"/>
                </a:solidFill>
                <a:effectLst/>
                <a:uLnTx/>
                <a:uFillTx/>
                <a:cs typeface="+mn-ea"/>
                <a:sym typeface="+mn-lt"/>
              </a:rPr>
              <a:t>退货率</a:t>
            </a:r>
          </a:p>
        </p:txBody>
      </p:sp>
      <p:sp>
        <p:nvSpPr>
          <p:cNvPr id="65" name="熊大的PPT宝库42"/>
          <p:cNvSpPr/>
          <p:nvPr/>
        </p:nvSpPr>
        <p:spPr>
          <a:xfrm>
            <a:off x="4886883" y="5149492"/>
            <a:ext cx="252000" cy="623482"/>
          </a:xfrm>
          <a:prstGeom prst="upArrow">
            <a:avLst/>
          </a:prstGeom>
          <a:gradFill>
            <a:gsLst>
              <a:gs pos="36000">
                <a:schemeClr val="accent1"/>
              </a:gs>
              <a:gs pos="100000">
                <a:schemeClr val="accent1">
                  <a:lumMod val="20000"/>
                  <a:lumOff val="80000"/>
                  <a:alpha val="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6" name="熊大的PPT宝库43"/>
          <p:cNvSpPr/>
          <p:nvPr/>
        </p:nvSpPr>
        <p:spPr>
          <a:xfrm>
            <a:off x="7050668" y="5149492"/>
            <a:ext cx="252000" cy="623482"/>
          </a:xfrm>
          <a:prstGeom prst="upArrow">
            <a:avLst/>
          </a:prstGeom>
          <a:gradFill>
            <a:gsLst>
              <a:gs pos="36000">
                <a:schemeClr val="accent1"/>
              </a:gs>
              <a:gs pos="100000">
                <a:schemeClr val="accent1">
                  <a:lumMod val="20000"/>
                  <a:lumOff val="80000"/>
                  <a:alpha val="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8" name="熊大的PPT宝库44"/>
          <p:cNvSpPr/>
          <p:nvPr/>
        </p:nvSpPr>
        <p:spPr>
          <a:xfrm>
            <a:off x="8815889" y="1569322"/>
            <a:ext cx="2591999" cy="325294"/>
          </a:xfrm>
          <a:prstGeom prst="roundRect">
            <a:avLst>
              <a:gd name="adj" fmla="val 50000"/>
            </a:avLst>
          </a:prstGeom>
          <a:solidFill>
            <a:schemeClr val="accent1"/>
          </a:solidFill>
          <a:ln>
            <a:no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9" name="熊大的PPT宝库45"/>
          <p:cNvSpPr txBox="1"/>
          <p:nvPr/>
        </p:nvSpPr>
        <p:spPr>
          <a:xfrm>
            <a:off x="9008220" y="1624247"/>
            <a:ext cx="2207336"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共建品牌营销事件 私域沉淀</a:t>
            </a:r>
          </a:p>
        </p:txBody>
      </p:sp>
      <p:sp>
        <p:nvSpPr>
          <p:cNvPr id="71" name="熊大的PPT宝库46"/>
          <p:cNvSpPr txBox="1"/>
          <p:nvPr/>
        </p:nvSpPr>
        <p:spPr>
          <a:xfrm>
            <a:off x="8815889" y="2040455"/>
            <a:ext cx="2592000" cy="529440"/>
          </a:xfrm>
          <a:prstGeom prst="rect">
            <a:avLst/>
          </a:prstGeom>
          <a:noFill/>
        </p:spPr>
        <p:txBody>
          <a:bodyPr wrap="square" lIns="0" tIns="0" rIns="0" bIns="0">
            <a:no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破圈运营、热点内容跟进、内部传递品牌故事，企业文化赋能、外部品牌营销</a:t>
            </a:r>
          </a:p>
        </p:txBody>
      </p:sp>
      <p:sp>
        <p:nvSpPr>
          <p:cNvPr id="72" name="熊大的PPT宝库47"/>
          <p:cNvSpPr/>
          <p:nvPr/>
        </p:nvSpPr>
        <p:spPr>
          <a:xfrm>
            <a:off x="8690697" y="2974083"/>
            <a:ext cx="2842385" cy="972000"/>
          </a:xfrm>
          <a:prstGeom prst="roundRect">
            <a:avLst>
              <a:gd name="adj" fmla="val 4450"/>
            </a:avLst>
          </a:prstGeom>
          <a:solidFill>
            <a:schemeClr val="accent1">
              <a:lumMod val="20000"/>
              <a:lumOff val="80000"/>
              <a:alpha val="7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3" name="熊大的PPT宝库48"/>
          <p:cNvSpPr/>
          <p:nvPr/>
        </p:nvSpPr>
        <p:spPr>
          <a:xfrm>
            <a:off x="8815890" y="2793046"/>
            <a:ext cx="2591999" cy="325294"/>
          </a:xfrm>
          <a:prstGeom prst="roundRect">
            <a:avLst>
              <a:gd name="adj" fmla="val 50000"/>
            </a:avLst>
          </a:prstGeom>
          <a:solidFill>
            <a:schemeClr val="accent1"/>
          </a:solidFill>
          <a:ln>
            <a:no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4" name="熊大的PPT宝库49"/>
          <p:cNvSpPr txBox="1"/>
          <p:nvPr/>
        </p:nvSpPr>
        <p:spPr>
          <a:xfrm>
            <a:off x="9008221" y="2847971"/>
            <a:ext cx="2207336"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直播流量共建 货架单独运营</a:t>
            </a:r>
          </a:p>
        </p:txBody>
      </p:sp>
      <p:sp>
        <p:nvSpPr>
          <p:cNvPr id="75" name="熊大的PPT宝库50"/>
          <p:cNvSpPr txBox="1"/>
          <p:nvPr/>
        </p:nvSpPr>
        <p:spPr>
          <a:xfrm>
            <a:off x="8815889" y="3264179"/>
            <a:ext cx="2592000" cy="529440"/>
          </a:xfrm>
          <a:prstGeom prst="rect">
            <a:avLst/>
          </a:prstGeom>
          <a:noFill/>
        </p:spPr>
        <p:txBody>
          <a:bodyPr wrap="square" lIns="0" tIns="0" rIns="0" bIns="0">
            <a:no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优质内容 精准投放 流量持续提升</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达人专场破局 货架持续运营</a:t>
            </a:r>
          </a:p>
        </p:txBody>
      </p:sp>
      <p:sp>
        <p:nvSpPr>
          <p:cNvPr id="76" name="熊大的PPT宝库51"/>
          <p:cNvSpPr/>
          <p:nvPr/>
        </p:nvSpPr>
        <p:spPr>
          <a:xfrm>
            <a:off x="8690697" y="4211236"/>
            <a:ext cx="2842385" cy="972000"/>
          </a:xfrm>
          <a:prstGeom prst="roundRect">
            <a:avLst>
              <a:gd name="adj" fmla="val 4450"/>
            </a:avLst>
          </a:prstGeom>
          <a:solidFill>
            <a:schemeClr val="accent1">
              <a:lumMod val="20000"/>
              <a:lumOff val="80000"/>
              <a:alpha val="7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7" name="熊大的PPT宝库52"/>
          <p:cNvSpPr/>
          <p:nvPr/>
        </p:nvSpPr>
        <p:spPr>
          <a:xfrm>
            <a:off x="8815890" y="4030199"/>
            <a:ext cx="2591999" cy="325294"/>
          </a:xfrm>
          <a:prstGeom prst="roundRect">
            <a:avLst>
              <a:gd name="adj" fmla="val 50000"/>
            </a:avLst>
          </a:prstGeom>
          <a:solidFill>
            <a:schemeClr val="accent1"/>
          </a:solidFill>
          <a:ln>
            <a:no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8" name="熊大的PPT宝库53"/>
          <p:cNvSpPr txBox="1"/>
          <p:nvPr/>
        </p:nvSpPr>
        <p:spPr>
          <a:xfrm>
            <a:off x="8918453" y="4085124"/>
            <a:ext cx="2386872"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丰富货盘供给 提升价格竞争力</a:t>
            </a:r>
          </a:p>
        </p:txBody>
      </p:sp>
      <p:sp>
        <p:nvSpPr>
          <p:cNvPr id="79" name="熊大的PPT宝库54"/>
          <p:cNvSpPr txBox="1"/>
          <p:nvPr/>
        </p:nvSpPr>
        <p:spPr>
          <a:xfrm>
            <a:off x="8815889" y="4501332"/>
            <a:ext cx="2592000" cy="529440"/>
          </a:xfrm>
          <a:prstGeom prst="rect">
            <a:avLst/>
          </a:prstGeom>
          <a:noFill/>
        </p:spPr>
        <p:txBody>
          <a:bodyPr wrap="square" lIns="0" tIns="0" rIns="0" bIns="0">
            <a:noAutofit/>
          </a:bodyPr>
          <a:lstStyle/>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直播场、达播场、货架场盘货</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全网比价 额外流量 大牌大补报名</a:t>
            </a:r>
          </a:p>
        </p:txBody>
      </p:sp>
      <p:sp>
        <p:nvSpPr>
          <p:cNvPr id="81" name="熊大的PPT宝库55"/>
          <p:cNvSpPr/>
          <p:nvPr/>
        </p:nvSpPr>
        <p:spPr>
          <a:xfrm>
            <a:off x="602146" y="1569322"/>
            <a:ext cx="3764813" cy="252000"/>
          </a:xfrm>
          <a:prstGeom prst="roundRect">
            <a:avLst>
              <a:gd name="adj" fmla="val 50000"/>
            </a:avLst>
          </a:prstGeom>
          <a:solidFill>
            <a:schemeClr val="accent1"/>
          </a:solidFill>
          <a:ln>
            <a:no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2" name="熊大的PPT宝库56"/>
          <p:cNvSpPr txBox="1"/>
          <p:nvPr/>
        </p:nvSpPr>
        <p:spPr>
          <a:xfrm>
            <a:off x="725256" y="1614531"/>
            <a:ext cx="3518592" cy="16158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srgbClr val="FFFFFF"/>
                </a:solidFill>
                <a:effectLst/>
                <a:uLnTx/>
                <a:uFillTx/>
                <a:cs typeface="+mn-ea"/>
                <a:sym typeface="+mn-lt"/>
              </a:rPr>
              <a:t>平台追求高质量</a:t>
            </a:r>
            <a:r>
              <a:rPr kumimoji="0" lang="en-US" altLang="zh-CN" sz="1050" b="0" i="0" u="none" strike="noStrike" kern="1200" cap="none" spc="0" normalizeH="0" baseline="0" noProof="0" dirty="0">
                <a:ln>
                  <a:noFill/>
                </a:ln>
                <a:solidFill>
                  <a:srgbClr val="FFFFFF"/>
                </a:solidFill>
                <a:effectLst/>
                <a:uLnTx/>
                <a:uFillTx/>
                <a:cs typeface="+mn-ea"/>
                <a:sym typeface="+mn-lt"/>
              </a:rPr>
              <a:t>GMV+</a:t>
            </a:r>
            <a:r>
              <a:rPr kumimoji="0" lang="zh-CN" altLang="en-US" sz="1050" b="0" i="0" u="none" strike="noStrike" kern="1200" cap="none" spc="0" normalizeH="0" baseline="0" noProof="0" dirty="0">
                <a:ln>
                  <a:noFill/>
                </a:ln>
                <a:solidFill>
                  <a:srgbClr val="FFFFFF"/>
                </a:solidFill>
                <a:effectLst/>
                <a:uLnTx/>
                <a:uFillTx/>
                <a:cs typeface="+mn-ea"/>
                <a:sym typeface="+mn-lt"/>
              </a:rPr>
              <a:t>高质量内容增长，双高商家拿量更快</a:t>
            </a:r>
          </a:p>
        </p:txBody>
      </p:sp>
      <p:sp>
        <p:nvSpPr>
          <p:cNvPr id="83" name="熊大的PPT宝库57"/>
          <p:cNvSpPr/>
          <p:nvPr/>
        </p:nvSpPr>
        <p:spPr>
          <a:xfrm>
            <a:off x="1448067" y="1636514"/>
            <a:ext cx="2072970" cy="2072970"/>
          </a:xfrm>
          <a:prstGeom prst="ellipse">
            <a:avLst/>
          </a:prstGeom>
          <a:noFill/>
          <a:ln>
            <a:solidFill>
              <a:schemeClr val="accent1"/>
            </a:solidFill>
            <a:prstDash val="dash"/>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4" name="熊大的PPT宝库58"/>
          <p:cNvSpPr/>
          <p:nvPr/>
        </p:nvSpPr>
        <p:spPr>
          <a:xfrm>
            <a:off x="1932601" y="2121048"/>
            <a:ext cx="1103902" cy="1103902"/>
          </a:xfrm>
          <a:prstGeom prst="ellipse">
            <a:avLst/>
          </a:prstGeom>
          <a:solidFill>
            <a:schemeClr val="accent1">
              <a:lumMod val="20000"/>
              <a:lumOff val="80000"/>
            </a:schemeClr>
          </a:solidFill>
          <a:ln>
            <a:solidFill>
              <a:schemeClr val="accent1"/>
            </a:solidFill>
            <a:prstDash val="dash"/>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6" name="熊大的PPT宝库59"/>
          <p:cNvSpPr/>
          <p:nvPr/>
        </p:nvSpPr>
        <p:spPr>
          <a:xfrm>
            <a:off x="3141431" y="2013990"/>
            <a:ext cx="1171530" cy="288000"/>
          </a:xfrm>
          <a:prstGeom prst="roundRect">
            <a:avLst>
              <a:gd name="adj" fmla="val 17013"/>
            </a:avLst>
          </a:prstGeom>
          <a:solidFill>
            <a:schemeClr val="accent1">
              <a:lumMod val="20000"/>
              <a:lumOff val="8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7" name="熊大的PPT宝库60"/>
          <p:cNvSpPr txBox="1"/>
          <p:nvPr/>
        </p:nvSpPr>
        <p:spPr>
          <a:xfrm>
            <a:off x="3342476" y="2065657"/>
            <a:ext cx="769441"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商品价格力</a:t>
            </a:r>
          </a:p>
        </p:txBody>
      </p:sp>
      <p:sp>
        <p:nvSpPr>
          <p:cNvPr id="89" name="熊大的PPT宝库61"/>
          <p:cNvSpPr/>
          <p:nvPr/>
        </p:nvSpPr>
        <p:spPr>
          <a:xfrm>
            <a:off x="3141431" y="2429903"/>
            <a:ext cx="1171530" cy="288000"/>
          </a:xfrm>
          <a:prstGeom prst="roundRect">
            <a:avLst>
              <a:gd name="adj" fmla="val 17013"/>
            </a:avLst>
          </a:prstGeom>
          <a:solidFill>
            <a:schemeClr val="accent1">
              <a:lumMod val="20000"/>
              <a:lumOff val="8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0" name="熊大的PPT宝库62"/>
          <p:cNvSpPr txBox="1"/>
          <p:nvPr/>
        </p:nvSpPr>
        <p:spPr>
          <a:xfrm>
            <a:off x="3247097" y="2481570"/>
            <a:ext cx="960199"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成交效率</a:t>
            </a:r>
            <a:r>
              <a:rPr kumimoji="0" lang="en-US" altLang="zh-CN" sz="1200" b="0" i="0" u="none" strike="noStrike" kern="1200" cap="none" spc="0" normalizeH="0" baseline="0" noProof="0" dirty="0">
                <a:ln>
                  <a:noFill/>
                </a:ln>
                <a:solidFill>
                  <a:srgbClr val="000000"/>
                </a:solidFill>
                <a:effectLst/>
                <a:uLnTx/>
                <a:uFillTx/>
                <a:cs typeface="+mn-ea"/>
                <a:sym typeface="+mn-lt"/>
              </a:rPr>
              <a:t>GPM</a:t>
            </a: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92" name="熊大的PPT宝库63"/>
          <p:cNvSpPr/>
          <p:nvPr/>
        </p:nvSpPr>
        <p:spPr>
          <a:xfrm>
            <a:off x="3141431" y="2835043"/>
            <a:ext cx="1171530" cy="288000"/>
          </a:xfrm>
          <a:prstGeom prst="roundRect">
            <a:avLst>
              <a:gd name="adj" fmla="val 17013"/>
            </a:avLst>
          </a:prstGeom>
          <a:solidFill>
            <a:schemeClr val="accent1">
              <a:lumMod val="20000"/>
              <a:lumOff val="8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3" name="熊大的PPT宝库64"/>
          <p:cNvSpPr txBox="1"/>
          <p:nvPr/>
        </p:nvSpPr>
        <p:spPr>
          <a:xfrm>
            <a:off x="3342476" y="2886710"/>
            <a:ext cx="769441"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店铺质量分</a:t>
            </a:r>
          </a:p>
        </p:txBody>
      </p:sp>
      <p:sp>
        <p:nvSpPr>
          <p:cNvPr id="95" name="熊大的PPT宝库65"/>
          <p:cNvSpPr/>
          <p:nvPr/>
        </p:nvSpPr>
        <p:spPr>
          <a:xfrm>
            <a:off x="660549" y="2013990"/>
            <a:ext cx="1171530" cy="288000"/>
          </a:xfrm>
          <a:prstGeom prst="roundRect">
            <a:avLst>
              <a:gd name="adj" fmla="val 17013"/>
            </a:avLst>
          </a:prstGeom>
          <a:solidFill>
            <a:schemeClr val="accent1">
              <a:lumMod val="20000"/>
              <a:lumOff val="8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6" name="熊大的PPT宝库66"/>
          <p:cNvSpPr txBox="1"/>
          <p:nvPr/>
        </p:nvSpPr>
        <p:spPr>
          <a:xfrm>
            <a:off x="938538" y="2065657"/>
            <a:ext cx="615553"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停留时长</a:t>
            </a:r>
          </a:p>
        </p:txBody>
      </p:sp>
      <p:sp>
        <p:nvSpPr>
          <p:cNvPr id="98" name="熊大的PPT宝库67"/>
          <p:cNvSpPr/>
          <p:nvPr/>
        </p:nvSpPr>
        <p:spPr>
          <a:xfrm>
            <a:off x="660549" y="2429903"/>
            <a:ext cx="1171530" cy="288000"/>
          </a:xfrm>
          <a:prstGeom prst="roundRect">
            <a:avLst>
              <a:gd name="adj" fmla="val 17013"/>
            </a:avLst>
          </a:prstGeom>
          <a:solidFill>
            <a:schemeClr val="accent1">
              <a:lumMod val="20000"/>
              <a:lumOff val="8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9" name="熊大的PPT宝库68"/>
          <p:cNvSpPr txBox="1"/>
          <p:nvPr/>
        </p:nvSpPr>
        <p:spPr>
          <a:xfrm>
            <a:off x="831136" y="2481570"/>
            <a:ext cx="830356"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互动</a:t>
            </a:r>
            <a:r>
              <a:rPr kumimoji="0" lang="en-US" altLang="zh-CN" sz="1200" b="0" i="0" u="none" strike="noStrike" kern="1200" cap="none" spc="0" normalizeH="0" baseline="0" noProof="0" dirty="0">
                <a:ln>
                  <a:noFill/>
                </a:ln>
                <a:solidFill>
                  <a:srgbClr val="000000"/>
                </a:solidFill>
                <a:effectLst/>
                <a:uLnTx/>
                <a:uFillTx/>
                <a:cs typeface="+mn-ea"/>
                <a:sym typeface="+mn-lt"/>
              </a:rPr>
              <a:t>/</a:t>
            </a:r>
            <a:r>
              <a:rPr kumimoji="0" lang="zh-CN" altLang="en-US" sz="1200" b="0" i="0" u="none" strike="noStrike" kern="1200" cap="none" spc="0" normalizeH="0" baseline="0" noProof="0" dirty="0">
                <a:ln>
                  <a:noFill/>
                </a:ln>
                <a:solidFill>
                  <a:srgbClr val="000000"/>
                </a:solidFill>
                <a:effectLst/>
                <a:uLnTx/>
                <a:uFillTx/>
                <a:cs typeface="+mn-ea"/>
                <a:sym typeface="+mn-lt"/>
              </a:rPr>
              <a:t>完播率</a:t>
            </a:r>
          </a:p>
        </p:txBody>
      </p:sp>
      <p:sp>
        <p:nvSpPr>
          <p:cNvPr id="101" name="熊大的PPT宝库69"/>
          <p:cNvSpPr/>
          <p:nvPr/>
        </p:nvSpPr>
        <p:spPr>
          <a:xfrm>
            <a:off x="660549" y="3768987"/>
            <a:ext cx="1171530" cy="288000"/>
          </a:xfrm>
          <a:prstGeom prst="roundRect">
            <a:avLst>
              <a:gd name="adj" fmla="val 17013"/>
            </a:avLst>
          </a:prstGeom>
          <a:solidFill>
            <a:schemeClr val="accent1">
              <a:lumMod val="20000"/>
              <a:lumOff val="8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2" name="熊大的PPT宝库70"/>
          <p:cNvSpPr txBox="1"/>
          <p:nvPr/>
        </p:nvSpPr>
        <p:spPr>
          <a:xfrm>
            <a:off x="861594" y="3820654"/>
            <a:ext cx="769441"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双引擎增长</a:t>
            </a:r>
          </a:p>
        </p:txBody>
      </p:sp>
      <p:sp>
        <p:nvSpPr>
          <p:cNvPr id="103" name="熊大的PPT宝库71"/>
          <p:cNvSpPr txBox="1"/>
          <p:nvPr/>
        </p:nvSpPr>
        <p:spPr>
          <a:xfrm>
            <a:off x="2022887" y="2534500"/>
            <a:ext cx="923330"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329D"/>
                </a:solidFill>
                <a:effectLst/>
                <a:uLnTx/>
                <a:uFillTx/>
                <a:cs typeface="+mn-ea"/>
                <a:sym typeface="+mn-lt"/>
              </a:rPr>
              <a:t>快手电商</a:t>
            </a:r>
          </a:p>
        </p:txBody>
      </p:sp>
      <p:sp>
        <p:nvSpPr>
          <p:cNvPr id="104" name="熊大的PPT宝库72"/>
          <p:cNvSpPr/>
          <p:nvPr/>
        </p:nvSpPr>
        <p:spPr>
          <a:xfrm>
            <a:off x="6814055" y="2071233"/>
            <a:ext cx="977225" cy="413437"/>
          </a:xfrm>
          <a:prstGeom prst="chevron">
            <a:avLst>
              <a:gd name="adj" fmla="val 30435"/>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5" name="熊大的PPT宝库73"/>
          <p:cNvSpPr/>
          <p:nvPr/>
        </p:nvSpPr>
        <p:spPr>
          <a:xfrm>
            <a:off x="7357190" y="3281838"/>
            <a:ext cx="977225" cy="413437"/>
          </a:xfrm>
          <a:prstGeom prst="chevron">
            <a:avLst>
              <a:gd name="adj" fmla="val 30435"/>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6" name="熊大的PPT宝库74"/>
          <p:cNvSpPr/>
          <p:nvPr/>
        </p:nvSpPr>
        <p:spPr>
          <a:xfrm>
            <a:off x="7713471" y="4492443"/>
            <a:ext cx="977225" cy="413437"/>
          </a:xfrm>
          <a:prstGeom prst="chevron">
            <a:avLst>
              <a:gd name="adj" fmla="val 30435"/>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9" name="熊大的PPT宝库75"/>
          <p:cNvSpPr/>
          <p:nvPr/>
        </p:nvSpPr>
        <p:spPr>
          <a:xfrm flipH="1">
            <a:off x="4400683" y="2071233"/>
            <a:ext cx="977225" cy="413437"/>
          </a:xfrm>
          <a:prstGeom prst="chevron">
            <a:avLst>
              <a:gd name="adj" fmla="val 30435"/>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0" name="熊大的PPT宝库76"/>
          <p:cNvSpPr/>
          <p:nvPr/>
        </p:nvSpPr>
        <p:spPr>
          <a:xfrm flipH="1">
            <a:off x="3857548" y="3281838"/>
            <a:ext cx="977225" cy="413437"/>
          </a:xfrm>
          <a:prstGeom prst="chevron">
            <a:avLst>
              <a:gd name="adj" fmla="val 30435"/>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1" name="熊大的PPT宝库77"/>
          <p:cNvSpPr/>
          <p:nvPr/>
        </p:nvSpPr>
        <p:spPr>
          <a:xfrm flipH="1">
            <a:off x="3537694" y="4492443"/>
            <a:ext cx="977225" cy="413437"/>
          </a:xfrm>
          <a:prstGeom prst="chevron">
            <a:avLst>
              <a:gd name="adj" fmla="val 30435"/>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4" name="熊大的PPT宝库78"/>
          <p:cNvSpPr txBox="1"/>
          <p:nvPr/>
        </p:nvSpPr>
        <p:spPr>
          <a:xfrm>
            <a:off x="6994891" y="2154841"/>
            <a:ext cx="615553"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召回率</a:t>
            </a:r>
          </a:p>
        </p:txBody>
      </p:sp>
      <p:sp>
        <p:nvSpPr>
          <p:cNvPr id="115" name="熊大的PPT宝库79"/>
          <p:cNvSpPr txBox="1"/>
          <p:nvPr/>
        </p:nvSpPr>
        <p:spPr>
          <a:xfrm>
            <a:off x="7538026" y="3365446"/>
            <a:ext cx="615553"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转化率</a:t>
            </a:r>
          </a:p>
        </p:txBody>
      </p:sp>
      <p:sp>
        <p:nvSpPr>
          <p:cNvPr id="116" name="熊大的PPT宝库80"/>
          <p:cNvSpPr txBox="1"/>
          <p:nvPr/>
        </p:nvSpPr>
        <p:spPr>
          <a:xfrm>
            <a:off x="7894307" y="4576051"/>
            <a:ext cx="615553"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价格力</a:t>
            </a:r>
          </a:p>
        </p:txBody>
      </p:sp>
      <p:sp>
        <p:nvSpPr>
          <p:cNvPr id="117" name="熊大的PPT宝库81"/>
          <p:cNvSpPr txBox="1"/>
          <p:nvPr/>
        </p:nvSpPr>
        <p:spPr>
          <a:xfrm>
            <a:off x="4684111" y="2154841"/>
            <a:ext cx="410369"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爆发</a:t>
            </a:r>
          </a:p>
        </p:txBody>
      </p:sp>
      <p:sp>
        <p:nvSpPr>
          <p:cNvPr id="118" name="熊大的PPT宝库82"/>
          <p:cNvSpPr txBox="1"/>
          <p:nvPr/>
        </p:nvSpPr>
        <p:spPr>
          <a:xfrm>
            <a:off x="4140976" y="3353511"/>
            <a:ext cx="410369"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增量</a:t>
            </a:r>
          </a:p>
        </p:txBody>
      </p:sp>
      <p:sp>
        <p:nvSpPr>
          <p:cNvPr id="119" name="熊大的PPT宝库83"/>
          <p:cNvSpPr txBox="1"/>
          <p:nvPr/>
        </p:nvSpPr>
        <p:spPr>
          <a:xfrm>
            <a:off x="3821122" y="4576051"/>
            <a:ext cx="410369"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基础</a:t>
            </a:r>
          </a:p>
        </p:txBody>
      </p:sp>
      <p:sp>
        <p:nvSpPr>
          <p:cNvPr id="121" name="熊大的PPT宝库84"/>
          <p:cNvSpPr txBox="1"/>
          <p:nvPr/>
        </p:nvSpPr>
        <p:spPr>
          <a:xfrm>
            <a:off x="5684710" y="5266501"/>
            <a:ext cx="820738" cy="246221"/>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能力模型</a:t>
            </a:r>
          </a:p>
        </p:txBody>
      </p:sp>
      <p:sp>
        <p:nvSpPr>
          <p:cNvPr id="122" name="熊大的PPT宝库85"/>
          <p:cNvSpPr/>
          <p:nvPr/>
        </p:nvSpPr>
        <p:spPr>
          <a:xfrm>
            <a:off x="2126885" y="3768987"/>
            <a:ext cx="1171530" cy="288000"/>
          </a:xfrm>
          <a:prstGeom prst="roundRect">
            <a:avLst>
              <a:gd name="adj" fmla="val 17013"/>
            </a:avLst>
          </a:prstGeom>
          <a:solidFill>
            <a:schemeClr val="accent1">
              <a:lumMod val="20000"/>
              <a:lumOff val="80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4" name="熊大的PPT宝库86"/>
          <p:cNvSpPr/>
          <p:nvPr/>
        </p:nvSpPr>
        <p:spPr>
          <a:xfrm>
            <a:off x="660549" y="4108653"/>
            <a:ext cx="1171530" cy="1466997"/>
          </a:xfrm>
          <a:prstGeom prst="roundRect">
            <a:avLst>
              <a:gd name="adj" fmla="val 432"/>
            </a:avLst>
          </a:prstGeom>
          <a:solidFill>
            <a:schemeClr val="bg1"/>
          </a:solidFill>
          <a:ln>
            <a:noFill/>
          </a:ln>
          <a:effectLst>
            <a:outerShdw blurRad="215900" sx="102000" sy="102000" algn="ctr" rotWithShape="0">
              <a:schemeClr val="accent1">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25" name="熊大的PPT宝库87"/>
          <p:cNvSpPr/>
          <p:nvPr/>
        </p:nvSpPr>
        <p:spPr>
          <a:xfrm>
            <a:off x="2126885" y="4108654"/>
            <a:ext cx="1171530" cy="1440000"/>
          </a:xfrm>
          <a:prstGeom prst="roundRect">
            <a:avLst>
              <a:gd name="adj" fmla="val 432"/>
            </a:avLst>
          </a:prstGeom>
          <a:solidFill>
            <a:schemeClr val="bg1"/>
          </a:solidFill>
          <a:ln>
            <a:noFill/>
          </a:ln>
          <a:effectLst>
            <a:outerShdw blurRad="215900" sx="102000" sy="102000" algn="ctr" rotWithShape="0">
              <a:schemeClr val="accent1">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26" name="熊大的PPT宝库88"/>
          <p:cNvSpPr txBox="1"/>
          <p:nvPr/>
        </p:nvSpPr>
        <p:spPr>
          <a:xfrm>
            <a:off x="2331136" y="3820654"/>
            <a:ext cx="763029"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329D"/>
                </a:solidFill>
                <a:effectLst/>
                <a:uLnTx/>
                <a:uFillTx/>
                <a:cs typeface="+mn-ea"/>
                <a:sym typeface="+mn-lt"/>
              </a:rPr>
              <a:t>新商加速器</a:t>
            </a:r>
          </a:p>
        </p:txBody>
      </p:sp>
      <p:sp>
        <p:nvSpPr>
          <p:cNvPr id="127" name="熊大的PPT宝库89"/>
          <p:cNvSpPr txBox="1"/>
          <p:nvPr/>
        </p:nvSpPr>
        <p:spPr>
          <a:xfrm>
            <a:off x="762863" y="4304981"/>
            <a:ext cx="960626" cy="1107996"/>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破圈运营、热点内容跟进、内部传递品牌故事，企业文化赋能、外部品牌营销</a:t>
            </a:r>
          </a:p>
        </p:txBody>
      </p:sp>
      <p:sp>
        <p:nvSpPr>
          <p:cNvPr id="128" name="熊大的PPT宝库90"/>
          <p:cNvSpPr txBox="1"/>
          <p:nvPr/>
        </p:nvSpPr>
        <p:spPr>
          <a:xfrm>
            <a:off x="2232337" y="4304981"/>
            <a:ext cx="960626" cy="1107996"/>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破圈运营、热点内容跟进、内部传递品牌故事，企业文化赋能、外部品牌营销</a:t>
            </a:r>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熊大的PPT宝库1"/>
          <p:cNvSpPr txBox="1"/>
          <p:nvPr/>
        </p:nvSpPr>
        <p:spPr>
          <a:xfrm>
            <a:off x="348830" y="216968"/>
            <a:ext cx="4411785"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00329D"/>
                </a:solidFill>
                <a:effectLst/>
                <a:uLnTx/>
                <a:uFillTx/>
                <a:cs typeface="+mn-ea"/>
                <a:sym typeface="+mn-lt"/>
              </a:rPr>
              <a:t>O-5A</a:t>
            </a:r>
            <a:r>
              <a:rPr kumimoji="0" lang="zh-CN" altLang="en-US" sz="3200" b="0" i="0" u="none" strike="noStrike" kern="1200" cap="none" spc="0" normalizeH="0" baseline="0" noProof="0" dirty="0">
                <a:ln>
                  <a:noFill/>
                </a:ln>
                <a:solidFill>
                  <a:srgbClr val="00329D"/>
                </a:solidFill>
                <a:effectLst/>
                <a:uLnTx/>
                <a:uFillTx/>
                <a:cs typeface="+mn-ea"/>
                <a:sym typeface="+mn-lt"/>
              </a:rPr>
              <a:t>方法论</a:t>
            </a:r>
            <a:r>
              <a:rPr kumimoji="0" lang="en-US" altLang="zh-CN" sz="3200" b="0" i="0" u="none" strike="noStrike" kern="1200" cap="none" spc="0" normalizeH="0" baseline="0" noProof="0" dirty="0">
                <a:ln>
                  <a:noFill/>
                </a:ln>
                <a:solidFill>
                  <a:srgbClr val="00329D"/>
                </a:solidFill>
                <a:effectLst/>
                <a:uLnTx/>
                <a:uFillTx/>
                <a:cs typeface="+mn-ea"/>
                <a:sym typeface="+mn-lt"/>
              </a:rPr>
              <a:t>GuideBo0k</a:t>
            </a:r>
            <a:endParaRPr kumimoji="0" lang="zh-CN" altLang="en-US" sz="3200" b="0" i="0" u="none" strike="noStrike" kern="1200" cap="none" spc="0" normalizeH="0" baseline="0" noProof="0" dirty="0">
              <a:ln>
                <a:noFill/>
              </a:ln>
              <a:solidFill>
                <a:srgbClr val="00329D"/>
              </a:solidFill>
              <a:effectLst/>
              <a:uLnTx/>
              <a:uFillTx/>
              <a:cs typeface="+mn-ea"/>
              <a:sym typeface="+mn-lt"/>
            </a:endParaRPr>
          </a:p>
        </p:txBody>
      </p:sp>
      <p:sp>
        <p:nvSpPr>
          <p:cNvPr id="5" name="熊大的PPT宝库3"/>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
        <p:nvSpPr>
          <p:cNvPr id="6" name="熊大的PPT宝库4"/>
          <p:cNvSpPr txBox="1"/>
          <p:nvPr/>
        </p:nvSpPr>
        <p:spPr>
          <a:xfrm>
            <a:off x="667657" y="998198"/>
            <a:ext cx="636393" cy="101566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6600" b="0" i="0" u="none" strike="noStrike" kern="1200" cap="none" spc="0" normalizeH="0" baseline="0" noProof="0" dirty="0">
                <a:ln>
                  <a:noFill/>
                </a:ln>
                <a:solidFill>
                  <a:srgbClr val="FFFFFF">
                    <a:lumMod val="65000"/>
                  </a:srgbClr>
                </a:solidFill>
                <a:effectLst/>
                <a:uLnTx/>
                <a:uFillTx/>
                <a:cs typeface="+mn-ea"/>
                <a:sym typeface="+mn-lt"/>
              </a:rPr>
              <a:t>A</a:t>
            </a:r>
            <a:endParaRPr kumimoji="0" lang="zh-CN" altLang="en-US" sz="6600" b="0" i="0" u="none" strike="noStrike" kern="1200" cap="none" spc="0" normalizeH="0" baseline="0" noProof="0" dirty="0">
              <a:ln>
                <a:noFill/>
              </a:ln>
              <a:solidFill>
                <a:srgbClr val="FFFFFF">
                  <a:lumMod val="65000"/>
                </a:srgbClr>
              </a:solidFill>
              <a:effectLst/>
              <a:uLnTx/>
              <a:uFillTx/>
              <a:cs typeface="+mn-ea"/>
              <a:sym typeface="+mn-lt"/>
            </a:endParaRPr>
          </a:p>
        </p:txBody>
      </p:sp>
      <p:sp>
        <p:nvSpPr>
          <p:cNvPr id="7" name="熊大的PPT宝库5"/>
          <p:cNvSpPr txBox="1"/>
          <p:nvPr/>
        </p:nvSpPr>
        <p:spPr>
          <a:xfrm>
            <a:off x="1318564" y="1601633"/>
            <a:ext cx="548227"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FFFFFF">
                    <a:lumMod val="65000"/>
                  </a:srgbClr>
                </a:solidFill>
                <a:effectLst/>
                <a:uLnTx/>
                <a:uFillTx/>
                <a:cs typeface="+mn-ea"/>
                <a:sym typeface="+mn-lt"/>
              </a:rPr>
              <a:t>aware</a:t>
            </a:r>
            <a:endParaRPr kumimoji="0" lang="zh-CN" altLang="en-US" sz="1400" b="0" i="0" u="none" strike="noStrike" kern="1200" cap="none" spc="0" normalizeH="0" baseline="0" noProof="0" dirty="0">
              <a:ln>
                <a:noFill/>
              </a:ln>
              <a:solidFill>
                <a:srgbClr val="FFFFFF">
                  <a:lumMod val="65000"/>
                </a:srgbClr>
              </a:solidFill>
              <a:effectLst/>
              <a:uLnTx/>
              <a:uFillTx/>
              <a:cs typeface="+mn-ea"/>
              <a:sym typeface="+mn-lt"/>
            </a:endParaRPr>
          </a:p>
        </p:txBody>
      </p:sp>
      <p:sp>
        <p:nvSpPr>
          <p:cNvPr id="8" name="熊大的PPT宝库6"/>
          <p:cNvSpPr txBox="1"/>
          <p:nvPr/>
        </p:nvSpPr>
        <p:spPr>
          <a:xfrm>
            <a:off x="1274108" y="1138351"/>
            <a:ext cx="253274" cy="49244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FFFFFF">
                    <a:lumMod val="65000"/>
                  </a:srgbClr>
                </a:solidFill>
                <a:effectLst/>
                <a:uLnTx/>
                <a:uFillTx/>
                <a:cs typeface="+mn-ea"/>
                <a:sym typeface="+mn-lt"/>
              </a:rPr>
              <a:t>1</a:t>
            </a:r>
            <a:endParaRPr kumimoji="0" lang="zh-CN" altLang="en-US" sz="3200" b="0" i="0" u="none" strike="noStrike" kern="1200" cap="none" spc="0" normalizeH="0" baseline="0" noProof="0" dirty="0">
              <a:ln>
                <a:noFill/>
              </a:ln>
              <a:solidFill>
                <a:srgbClr val="FFFFFF">
                  <a:lumMod val="65000"/>
                </a:srgbClr>
              </a:solidFill>
              <a:effectLst/>
              <a:uLnTx/>
              <a:uFillTx/>
              <a:cs typeface="+mn-ea"/>
              <a:sym typeface="+mn-lt"/>
            </a:endParaRPr>
          </a:p>
        </p:txBody>
      </p:sp>
      <p:sp>
        <p:nvSpPr>
          <p:cNvPr id="9" name="熊大的PPT宝库7"/>
          <p:cNvSpPr txBox="1"/>
          <p:nvPr/>
        </p:nvSpPr>
        <p:spPr>
          <a:xfrm>
            <a:off x="3060337" y="998198"/>
            <a:ext cx="636393" cy="101566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6600" b="0" i="0" u="none" strike="noStrike" kern="1200" cap="none" spc="0" normalizeH="0" baseline="0" noProof="0" dirty="0">
                <a:ln>
                  <a:noFill/>
                </a:ln>
                <a:solidFill>
                  <a:srgbClr val="000000">
                    <a:lumMod val="75000"/>
                    <a:lumOff val="25000"/>
                  </a:srgbClr>
                </a:solidFill>
                <a:effectLst/>
                <a:uLnTx/>
                <a:uFillTx/>
                <a:cs typeface="+mn-ea"/>
                <a:sym typeface="+mn-lt"/>
              </a:rPr>
              <a:t>A</a:t>
            </a:r>
            <a:endParaRPr kumimoji="0" lang="zh-CN" altLang="en-US" sz="6600" b="0" i="0" u="none" strike="noStrike" kern="1200" cap="none" spc="0" normalizeH="0" baseline="0" noProof="0" dirty="0">
              <a:ln>
                <a:noFill/>
              </a:ln>
              <a:solidFill>
                <a:srgbClr val="000000">
                  <a:lumMod val="75000"/>
                  <a:lumOff val="25000"/>
                </a:srgbClr>
              </a:solidFill>
              <a:effectLst/>
              <a:uLnTx/>
              <a:uFillTx/>
              <a:cs typeface="+mn-ea"/>
              <a:sym typeface="+mn-lt"/>
            </a:endParaRPr>
          </a:p>
        </p:txBody>
      </p:sp>
      <p:sp>
        <p:nvSpPr>
          <p:cNvPr id="10" name="熊大的PPT宝库8"/>
          <p:cNvSpPr txBox="1"/>
          <p:nvPr/>
        </p:nvSpPr>
        <p:spPr>
          <a:xfrm>
            <a:off x="3711244" y="1601633"/>
            <a:ext cx="780746"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0000">
                    <a:lumMod val="75000"/>
                    <a:lumOff val="25000"/>
                  </a:srgbClr>
                </a:solidFill>
                <a:effectLst/>
                <a:uLnTx/>
                <a:uFillTx/>
                <a:cs typeface="+mn-ea"/>
                <a:sym typeface="+mn-lt"/>
              </a:rPr>
              <a:t>appeal</a:t>
            </a:r>
            <a:endParaRPr kumimoji="0" lang="zh-CN" altLang="en-US" sz="1400" b="0" i="0" u="none" strike="noStrike" kern="1200" cap="none" spc="0" normalizeH="0" baseline="0" noProof="0" dirty="0">
              <a:ln>
                <a:noFill/>
              </a:ln>
              <a:solidFill>
                <a:srgbClr val="000000">
                  <a:lumMod val="75000"/>
                  <a:lumOff val="25000"/>
                </a:srgbClr>
              </a:solidFill>
              <a:effectLst/>
              <a:uLnTx/>
              <a:uFillTx/>
              <a:cs typeface="+mn-ea"/>
              <a:sym typeface="+mn-lt"/>
            </a:endParaRPr>
          </a:p>
        </p:txBody>
      </p:sp>
      <p:sp>
        <p:nvSpPr>
          <p:cNvPr id="11" name="熊大的PPT宝库9"/>
          <p:cNvSpPr txBox="1"/>
          <p:nvPr/>
        </p:nvSpPr>
        <p:spPr>
          <a:xfrm>
            <a:off x="3666788" y="1138351"/>
            <a:ext cx="253274" cy="49244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000000">
                    <a:lumMod val="75000"/>
                    <a:lumOff val="25000"/>
                  </a:srgbClr>
                </a:solidFill>
                <a:effectLst/>
                <a:uLnTx/>
                <a:uFillTx/>
                <a:cs typeface="+mn-ea"/>
                <a:sym typeface="+mn-lt"/>
              </a:rPr>
              <a:t>2</a:t>
            </a:r>
            <a:endParaRPr kumimoji="0" lang="zh-CN" altLang="en-US" sz="3200" b="0" i="0" u="none" strike="noStrike" kern="1200" cap="none" spc="0" normalizeH="0" baseline="0" noProof="0" dirty="0">
              <a:ln>
                <a:noFill/>
              </a:ln>
              <a:solidFill>
                <a:srgbClr val="000000">
                  <a:lumMod val="75000"/>
                  <a:lumOff val="25000"/>
                </a:srgbClr>
              </a:solidFill>
              <a:effectLst/>
              <a:uLnTx/>
              <a:uFillTx/>
              <a:cs typeface="+mn-ea"/>
              <a:sym typeface="+mn-lt"/>
            </a:endParaRPr>
          </a:p>
        </p:txBody>
      </p:sp>
      <p:sp>
        <p:nvSpPr>
          <p:cNvPr id="12" name="熊大的PPT宝库10"/>
          <p:cNvSpPr txBox="1"/>
          <p:nvPr/>
        </p:nvSpPr>
        <p:spPr>
          <a:xfrm>
            <a:off x="5669539" y="998198"/>
            <a:ext cx="636393" cy="101566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6600" b="0" i="0" u="none" strike="noStrike" kern="1200" cap="none" spc="0" normalizeH="0" baseline="0" noProof="0" dirty="0">
                <a:ln>
                  <a:noFill/>
                </a:ln>
                <a:solidFill>
                  <a:srgbClr val="00329D">
                    <a:lumMod val="20000"/>
                    <a:lumOff val="80000"/>
                  </a:srgbClr>
                </a:solidFill>
                <a:effectLst/>
                <a:uLnTx/>
                <a:uFillTx/>
                <a:cs typeface="+mn-ea"/>
                <a:sym typeface="+mn-lt"/>
              </a:rPr>
              <a:t>A</a:t>
            </a:r>
            <a:endParaRPr kumimoji="0" lang="zh-CN" altLang="en-US" sz="6600" b="0" i="0" u="none" strike="noStrike" kern="1200" cap="none" spc="0" normalizeH="0" baseline="0" noProof="0" dirty="0">
              <a:ln>
                <a:noFill/>
              </a:ln>
              <a:solidFill>
                <a:srgbClr val="00329D">
                  <a:lumMod val="20000"/>
                  <a:lumOff val="80000"/>
                </a:srgbClr>
              </a:solidFill>
              <a:effectLst/>
              <a:uLnTx/>
              <a:uFillTx/>
              <a:cs typeface="+mn-ea"/>
              <a:sym typeface="+mn-lt"/>
            </a:endParaRPr>
          </a:p>
        </p:txBody>
      </p:sp>
      <p:sp>
        <p:nvSpPr>
          <p:cNvPr id="13" name="熊大的PPT宝库11"/>
          <p:cNvSpPr txBox="1"/>
          <p:nvPr/>
        </p:nvSpPr>
        <p:spPr>
          <a:xfrm>
            <a:off x="6320446" y="1601633"/>
            <a:ext cx="414898"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329D">
                    <a:lumMod val="20000"/>
                    <a:lumOff val="80000"/>
                  </a:srgbClr>
                </a:solidFill>
                <a:effectLst/>
                <a:uLnTx/>
                <a:uFillTx/>
                <a:cs typeface="+mn-ea"/>
                <a:sym typeface="+mn-lt"/>
              </a:rPr>
              <a:t>ask</a:t>
            </a:r>
            <a:endParaRPr kumimoji="0" lang="zh-CN" altLang="en-US" sz="1400" b="0" i="0" u="none" strike="noStrike" kern="1200" cap="none" spc="0" normalizeH="0" baseline="0" noProof="0" dirty="0">
              <a:ln>
                <a:noFill/>
              </a:ln>
              <a:solidFill>
                <a:srgbClr val="00329D">
                  <a:lumMod val="20000"/>
                  <a:lumOff val="80000"/>
                </a:srgbClr>
              </a:solidFill>
              <a:effectLst/>
              <a:uLnTx/>
              <a:uFillTx/>
              <a:cs typeface="+mn-ea"/>
              <a:sym typeface="+mn-lt"/>
            </a:endParaRPr>
          </a:p>
        </p:txBody>
      </p:sp>
      <p:sp>
        <p:nvSpPr>
          <p:cNvPr id="14" name="熊大的PPT宝库12"/>
          <p:cNvSpPr txBox="1"/>
          <p:nvPr/>
        </p:nvSpPr>
        <p:spPr>
          <a:xfrm>
            <a:off x="6275990" y="1138351"/>
            <a:ext cx="253274" cy="49244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00329D">
                    <a:lumMod val="20000"/>
                    <a:lumOff val="80000"/>
                  </a:srgbClr>
                </a:solidFill>
                <a:effectLst/>
                <a:uLnTx/>
                <a:uFillTx/>
                <a:cs typeface="+mn-ea"/>
                <a:sym typeface="+mn-lt"/>
              </a:rPr>
              <a:t>3</a:t>
            </a:r>
            <a:endParaRPr kumimoji="0" lang="zh-CN" altLang="en-US" sz="3200" b="0" i="0" u="none" strike="noStrike" kern="1200" cap="none" spc="0" normalizeH="0" baseline="0" noProof="0" dirty="0">
              <a:ln>
                <a:noFill/>
              </a:ln>
              <a:solidFill>
                <a:srgbClr val="00329D">
                  <a:lumMod val="20000"/>
                  <a:lumOff val="80000"/>
                </a:srgbClr>
              </a:solidFill>
              <a:effectLst/>
              <a:uLnTx/>
              <a:uFillTx/>
              <a:cs typeface="+mn-ea"/>
              <a:sym typeface="+mn-lt"/>
            </a:endParaRPr>
          </a:p>
        </p:txBody>
      </p:sp>
      <p:sp>
        <p:nvSpPr>
          <p:cNvPr id="15" name="熊大的PPT宝库13"/>
          <p:cNvSpPr txBox="1"/>
          <p:nvPr/>
        </p:nvSpPr>
        <p:spPr>
          <a:xfrm>
            <a:off x="8097144" y="998198"/>
            <a:ext cx="636393" cy="101566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6600" b="0" i="0" u="none" strike="noStrike" kern="1200" cap="none" spc="0" normalizeH="0" baseline="0" noProof="0" dirty="0">
                <a:ln>
                  <a:noFill/>
                </a:ln>
                <a:solidFill>
                  <a:srgbClr val="00329D">
                    <a:lumMod val="40000"/>
                    <a:lumOff val="60000"/>
                  </a:srgbClr>
                </a:solidFill>
                <a:effectLst/>
                <a:uLnTx/>
                <a:uFillTx/>
                <a:cs typeface="+mn-ea"/>
                <a:sym typeface="+mn-lt"/>
              </a:rPr>
              <a:t>A</a:t>
            </a:r>
            <a:endParaRPr kumimoji="0" lang="zh-CN" altLang="en-US" sz="6600" b="0" i="0" u="none" strike="noStrike" kern="1200" cap="none" spc="0" normalizeH="0" baseline="0" noProof="0" dirty="0">
              <a:ln>
                <a:noFill/>
              </a:ln>
              <a:solidFill>
                <a:srgbClr val="00329D">
                  <a:lumMod val="40000"/>
                  <a:lumOff val="60000"/>
                </a:srgbClr>
              </a:solidFill>
              <a:effectLst/>
              <a:uLnTx/>
              <a:uFillTx/>
              <a:cs typeface="+mn-ea"/>
              <a:sym typeface="+mn-lt"/>
            </a:endParaRPr>
          </a:p>
        </p:txBody>
      </p:sp>
      <p:sp>
        <p:nvSpPr>
          <p:cNvPr id="16" name="熊大的PPT宝库14"/>
          <p:cNvSpPr txBox="1"/>
          <p:nvPr/>
        </p:nvSpPr>
        <p:spPr>
          <a:xfrm>
            <a:off x="8748051" y="1601633"/>
            <a:ext cx="274114"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329D">
                    <a:lumMod val="40000"/>
                    <a:lumOff val="60000"/>
                  </a:srgbClr>
                </a:solidFill>
                <a:effectLst/>
                <a:uLnTx/>
                <a:uFillTx/>
                <a:cs typeface="+mn-ea"/>
                <a:sym typeface="+mn-lt"/>
              </a:rPr>
              <a:t>act</a:t>
            </a:r>
            <a:endParaRPr kumimoji="0" lang="zh-CN" altLang="en-US" sz="1400" b="0" i="0" u="none" strike="noStrike" kern="1200" cap="none" spc="0" normalizeH="0" baseline="0" noProof="0" dirty="0">
              <a:ln>
                <a:noFill/>
              </a:ln>
              <a:solidFill>
                <a:srgbClr val="00329D">
                  <a:lumMod val="40000"/>
                  <a:lumOff val="60000"/>
                </a:srgbClr>
              </a:solidFill>
              <a:effectLst/>
              <a:uLnTx/>
              <a:uFillTx/>
              <a:cs typeface="+mn-ea"/>
              <a:sym typeface="+mn-lt"/>
            </a:endParaRPr>
          </a:p>
        </p:txBody>
      </p:sp>
      <p:sp>
        <p:nvSpPr>
          <p:cNvPr id="17" name="熊大的PPT宝库15"/>
          <p:cNvSpPr txBox="1"/>
          <p:nvPr/>
        </p:nvSpPr>
        <p:spPr>
          <a:xfrm>
            <a:off x="8703595" y="1138351"/>
            <a:ext cx="253274" cy="49244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00329D">
                    <a:lumMod val="40000"/>
                    <a:lumOff val="60000"/>
                  </a:srgbClr>
                </a:solidFill>
                <a:effectLst/>
                <a:uLnTx/>
                <a:uFillTx/>
                <a:cs typeface="+mn-ea"/>
                <a:sym typeface="+mn-lt"/>
              </a:rPr>
              <a:t>4</a:t>
            </a:r>
            <a:endParaRPr kumimoji="0" lang="zh-CN" altLang="en-US" sz="3200" b="0" i="0" u="none" strike="noStrike" kern="1200" cap="none" spc="0" normalizeH="0" baseline="0" noProof="0" dirty="0">
              <a:ln>
                <a:noFill/>
              </a:ln>
              <a:solidFill>
                <a:srgbClr val="00329D">
                  <a:lumMod val="40000"/>
                  <a:lumOff val="60000"/>
                </a:srgbClr>
              </a:solidFill>
              <a:effectLst/>
              <a:uLnTx/>
              <a:uFillTx/>
              <a:cs typeface="+mn-ea"/>
              <a:sym typeface="+mn-lt"/>
            </a:endParaRPr>
          </a:p>
        </p:txBody>
      </p:sp>
      <p:sp>
        <p:nvSpPr>
          <p:cNvPr id="18" name="熊大的PPT宝库16"/>
          <p:cNvSpPr/>
          <p:nvPr/>
        </p:nvSpPr>
        <p:spPr>
          <a:xfrm>
            <a:off x="438088" y="2805921"/>
            <a:ext cx="1195882" cy="403762"/>
          </a:xfrm>
          <a:prstGeom prst="roundRect">
            <a:avLst>
              <a:gd name="adj" fmla="val 9181"/>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9" name="熊大的PPT宝库17"/>
          <p:cNvSpPr/>
          <p:nvPr/>
        </p:nvSpPr>
        <p:spPr>
          <a:xfrm>
            <a:off x="454349" y="3309190"/>
            <a:ext cx="1184446" cy="900000"/>
          </a:xfrm>
          <a:prstGeom prst="roundRect">
            <a:avLst>
              <a:gd name="adj" fmla="val 7848"/>
            </a:avLst>
          </a:prstGeom>
          <a:solidFill>
            <a:schemeClr val="accent1">
              <a:lumMod val="40000"/>
              <a:lumOff val="6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0" name="熊大的PPT宝库18"/>
          <p:cNvSpPr/>
          <p:nvPr/>
        </p:nvSpPr>
        <p:spPr>
          <a:xfrm>
            <a:off x="442912" y="4308697"/>
            <a:ext cx="1195881" cy="2000028"/>
          </a:xfrm>
          <a:prstGeom prst="roundRect">
            <a:avLst>
              <a:gd name="adj" fmla="val 12175"/>
            </a:avLst>
          </a:prstGeom>
          <a:gradFill>
            <a:gsLst>
              <a:gs pos="100000">
                <a:schemeClr val="accent1"/>
              </a:gs>
              <a:gs pos="0">
                <a:schemeClr val="accent1">
                  <a:alpha val="7600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1" name="熊大的PPT宝库19"/>
          <p:cNvSpPr/>
          <p:nvPr/>
        </p:nvSpPr>
        <p:spPr>
          <a:xfrm>
            <a:off x="442913" y="2302652"/>
            <a:ext cx="1195882" cy="396000"/>
          </a:xfrm>
          <a:prstGeom prst="roundRect">
            <a:avLst>
              <a:gd name="adj" fmla="val 9181"/>
            </a:avLst>
          </a:prstGeom>
          <a:solidFill>
            <a:schemeClr val="bg1">
              <a:lumMod val="95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2" name="熊大的PPT宝库20"/>
          <p:cNvSpPr txBox="1"/>
          <p:nvPr/>
        </p:nvSpPr>
        <p:spPr>
          <a:xfrm>
            <a:off x="611552" y="1904325"/>
            <a:ext cx="1384995"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lumMod val="65000"/>
                  </a:srgbClr>
                </a:solidFill>
                <a:effectLst/>
                <a:uLnTx/>
                <a:uFillTx/>
                <a:cs typeface="+mn-ea"/>
                <a:sym typeface="+mn-lt"/>
              </a:rPr>
              <a:t>商品了解人群</a:t>
            </a:r>
          </a:p>
        </p:txBody>
      </p:sp>
      <p:sp>
        <p:nvSpPr>
          <p:cNvPr id="23" name="熊大的PPT宝库21"/>
          <p:cNvSpPr txBox="1"/>
          <p:nvPr/>
        </p:nvSpPr>
        <p:spPr>
          <a:xfrm>
            <a:off x="3004232" y="1904325"/>
            <a:ext cx="1384995"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lumMod val="75000"/>
                    <a:lumOff val="25000"/>
                  </a:srgbClr>
                </a:solidFill>
                <a:effectLst/>
                <a:uLnTx/>
                <a:uFillTx/>
                <a:cs typeface="+mn-ea"/>
                <a:sym typeface="+mn-lt"/>
              </a:rPr>
              <a:t>商品吸引人群</a:t>
            </a:r>
          </a:p>
        </p:txBody>
      </p:sp>
      <p:sp>
        <p:nvSpPr>
          <p:cNvPr id="24" name="熊大的PPT宝库22"/>
          <p:cNvSpPr txBox="1"/>
          <p:nvPr/>
        </p:nvSpPr>
        <p:spPr>
          <a:xfrm>
            <a:off x="5487941" y="1904325"/>
            <a:ext cx="1384995"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329D">
                    <a:lumMod val="20000"/>
                    <a:lumOff val="80000"/>
                  </a:srgbClr>
                </a:solidFill>
                <a:effectLst/>
                <a:uLnTx/>
                <a:uFillTx/>
                <a:cs typeface="+mn-ea"/>
                <a:sym typeface="+mn-lt"/>
              </a:rPr>
              <a:t>商品种草人群</a:t>
            </a:r>
          </a:p>
        </p:txBody>
      </p:sp>
      <p:sp>
        <p:nvSpPr>
          <p:cNvPr id="25" name="熊大的PPT宝库23"/>
          <p:cNvSpPr txBox="1"/>
          <p:nvPr/>
        </p:nvSpPr>
        <p:spPr>
          <a:xfrm>
            <a:off x="7920298" y="1904325"/>
            <a:ext cx="1384995"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329D">
                    <a:lumMod val="40000"/>
                    <a:lumOff val="60000"/>
                  </a:srgbClr>
                </a:solidFill>
                <a:effectLst/>
                <a:uLnTx/>
                <a:uFillTx/>
                <a:cs typeface="+mn-ea"/>
                <a:sym typeface="+mn-lt"/>
              </a:rPr>
              <a:t>商品购买人群</a:t>
            </a:r>
          </a:p>
        </p:txBody>
      </p:sp>
      <p:sp>
        <p:nvSpPr>
          <p:cNvPr id="26" name="熊大的PPT宝库24"/>
          <p:cNvSpPr txBox="1"/>
          <p:nvPr/>
        </p:nvSpPr>
        <p:spPr>
          <a:xfrm>
            <a:off x="10342833" y="1904325"/>
            <a:ext cx="1384995"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329D"/>
                </a:solidFill>
                <a:effectLst/>
                <a:uLnTx/>
                <a:uFillTx/>
                <a:cs typeface="+mn-ea"/>
                <a:sym typeface="+mn-lt"/>
              </a:rPr>
              <a:t>商品复购人群</a:t>
            </a:r>
          </a:p>
        </p:txBody>
      </p:sp>
      <p:sp>
        <p:nvSpPr>
          <p:cNvPr id="27" name="熊大的PPT宝库25"/>
          <p:cNvSpPr txBox="1"/>
          <p:nvPr/>
        </p:nvSpPr>
        <p:spPr>
          <a:xfrm>
            <a:off x="10318669" y="998198"/>
            <a:ext cx="636393" cy="101566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6600" b="0" i="0" u="none" strike="noStrike" kern="1200" cap="none" spc="0" normalizeH="0" baseline="0" noProof="0" dirty="0">
                <a:ln>
                  <a:noFill/>
                </a:ln>
                <a:solidFill>
                  <a:srgbClr val="00329D"/>
                </a:solidFill>
                <a:effectLst/>
                <a:uLnTx/>
                <a:uFillTx/>
                <a:cs typeface="+mn-ea"/>
                <a:sym typeface="+mn-lt"/>
              </a:rPr>
              <a:t>A</a:t>
            </a:r>
            <a:endParaRPr kumimoji="0" lang="zh-CN" altLang="en-US" sz="6600" b="0" i="0" u="none" strike="noStrike" kern="1200" cap="none" spc="0" normalizeH="0" baseline="0" noProof="0" dirty="0">
              <a:ln>
                <a:noFill/>
              </a:ln>
              <a:solidFill>
                <a:srgbClr val="00329D"/>
              </a:solidFill>
              <a:effectLst/>
              <a:uLnTx/>
              <a:uFillTx/>
              <a:cs typeface="+mn-ea"/>
              <a:sym typeface="+mn-lt"/>
            </a:endParaRPr>
          </a:p>
        </p:txBody>
      </p:sp>
      <p:sp>
        <p:nvSpPr>
          <p:cNvPr id="28" name="熊大的PPT宝库26"/>
          <p:cNvSpPr txBox="1"/>
          <p:nvPr/>
        </p:nvSpPr>
        <p:spPr>
          <a:xfrm>
            <a:off x="10969576" y="1601633"/>
            <a:ext cx="807913"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329D"/>
                </a:solidFill>
                <a:effectLst/>
                <a:uLnTx/>
                <a:uFillTx/>
                <a:cs typeface="+mn-ea"/>
                <a:sym typeface="+mn-lt"/>
              </a:rPr>
              <a:t>advocate</a:t>
            </a:r>
            <a:endParaRPr kumimoji="0" lang="zh-CN" altLang="en-US" sz="1400" b="0" i="0" u="none" strike="noStrike" kern="1200" cap="none" spc="0" normalizeH="0" baseline="0" noProof="0" dirty="0">
              <a:ln>
                <a:noFill/>
              </a:ln>
              <a:solidFill>
                <a:srgbClr val="00329D"/>
              </a:solidFill>
              <a:effectLst/>
              <a:uLnTx/>
              <a:uFillTx/>
              <a:cs typeface="+mn-ea"/>
              <a:sym typeface="+mn-lt"/>
            </a:endParaRPr>
          </a:p>
        </p:txBody>
      </p:sp>
      <p:sp>
        <p:nvSpPr>
          <p:cNvPr id="29" name="熊大的PPT宝库27"/>
          <p:cNvSpPr txBox="1"/>
          <p:nvPr/>
        </p:nvSpPr>
        <p:spPr>
          <a:xfrm>
            <a:off x="10925120" y="1138351"/>
            <a:ext cx="253274" cy="492443"/>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00329D"/>
                </a:solidFill>
                <a:effectLst/>
                <a:uLnTx/>
                <a:uFillTx/>
                <a:cs typeface="+mn-ea"/>
                <a:sym typeface="+mn-lt"/>
              </a:rPr>
              <a:t>5</a:t>
            </a:r>
            <a:endParaRPr kumimoji="0" lang="zh-CN" altLang="en-US" sz="3200" b="0" i="0" u="none" strike="noStrike" kern="1200" cap="none" spc="0" normalizeH="0" baseline="0" noProof="0" dirty="0">
              <a:ln>
                <a:noFill/>
              </a:ln>
              <a:solidFill>
                <a:srgbClr val="00329D"/>
              </a:solidFill>
              <a:effectLst/>
              <a:uLnTx/>
              <a:uFillTx/>
              <a:cs typeface="+mn-ea"/>
              <a:sym typeface="+mn-lt"/>
            </a:endParaRPr>
          </a:p>
        </p:txBody>
      </p:sp>
      <p:sp>
        <p:nvSpPr>
          <p:cNvPr id="30" name="熊大的PPT宝库28"/>
          <p:cNvSpPr/>
          <p:nvPr/>
        </p:nvSpPr>
        <p:spPr>
          <a:xfrm rot="5400000">
            <a:off x="7732693" y="1988735"/>
            <a:ext cx="134690" cy="108179"/>
          </a:xfrm>
          <a:prstGeom prst="triangle">
            <a:avLst/>
          </a:prstGeom>
          <a:solidFill>
            <a:schemeClr val="accent1">
              <a:lumMod val="40000"/>
              <a:lumOff val="6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329D"/>
              </a:solidFill>
              <a:effectLst/>
              <a:uLnTx/>
              <a:uFillTx/>
              <a:cs typeface="+mn-ea"/>
              <a:sym typeface="+mn-lt"/>
            </a:endParaRPr>
          </a:p>
        </p:txBody>
      </p:sp>
      <p:sp>
        <p:nvSpPr>
          <p:cNvPr id="31" name="熊大的PPT宝库29"/>
          <p:cNvSpPr/>
          <p:nvPr/>
        </p:nvSpPr>
        <p:spPr>
          <a:xfrm rot="5400000">
            <a:off x="10155228" y="1988736"/>
            <a:ext cx="134690" cy="108179"/>
          </a:xfrm>
          <a:prstGeom prst="triangle">
            <a:avLst/>
          </a:prstGeom>
          <a:solidFill>
            <a:schemeClr val="accent1">
              <a:lumMod val="40000"/>
              <a:lumOff val="6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329D"/>
              </a:solidFill>
              <a:effectLst/>
              <a:uLnTx/>
              <a:uFillTx/>
              <a:cs typeface="+mn-ea"/>
              <a:sym typeface="+mn-lt"/>
            </a:endParaRPr>
          </a:p>
        </p:txBody>
      </p:sp>
      <p:sp>
        <p:nvSpPr>
          <p:cNvPr id="32" name="熊大的PPT宝库30"/>
          <p:cNvSpPr/>
          <p:nvPr/>
        </p:nvSpPr>
        <p:spPr>
          <a:xfrm rot="5400000">
            <a:off x="5260459" y="1988737"/>
            <a:ext cx="134690" cy="108179"/>
          </a:xfrm>
          <a:prstGeom prst="triangle">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329D"/>
              </a:solidFill>
              <a:effectLst/>
              <a:uLnTx/>
              <a:uFillTx/>
              <a:cs typeface="+mn-ea"/>
              <a:sym typeface="+mn-lt"/>
            </a:endParaRPr>
          </a:p>
        </p:txBody>
      </p:sp>
      <p:sp>
        <p:nvSpPr>
          <p:cNvPr id="33" name="熊大的PPT宝库31"/>
          <p:cNvSpPr/>
          <p:nvPr/>
        </p:nvSpPr>
        <p:spPr>
          <a:xfrm rot="5400000">
            <a:off x="2813688" y="1988738"/>
            <a:ext cx="134690" cy="108179"/>
          </a:xfrm>
          <a:prstGeom prst="triangle">
            <a:avLst/>
          </a:prstGeom>
          <a:solidFill>
            <a:schemeClr val="tx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lumMod val="75000"/>
                  <a:lumOff val="25000"/>
                </a:srgbClr>
              </a:solidFill>
              <a:effectLst/>
              <a:uLnTx/>
              <a:uFillTx/>
              <a:cs typeface="+mn-ea"/>
              <a:sym typeface="+mn-lt"/>
            </a:endParaRPr>
          </a:p>
        </p:txBody>
      </p:sp>
      <p:sp>
        <p:nvSpPr>
          <p:cNvPr id="34" name="熊大的PPT宝库32"/>
          <p:cNvSpPr/>
          <p:nvPr/>
        </p:nvSpPr>
        <p:spPr>
          <a:xfrm rot="5400000">
            <a:off x="431500" y="1988739"/>
            <a:ext cx="134690" cy="108179"/>
          </a:xfrm>
          <a:prstGeom prst="triangle">
            <a:avLst/>
          </a:prstGeom>
          <a:solidFill>
            <a:schemeClr val="bg1">
              <a:lumMod val="65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329D"/>
              </a:solidFill>
              <a:effectLst/>
              <a:uLnTx/>
              <a:uFillTx/>
              <a:cs typeface="+mn-ea"/>
              <a:sym typeface="+mn-lt"/>
            </a:endParaRPr>
          </a:p>
        </p:txBody>
      </p:sp>
      <p:sp>
        <p:nvSpPr>
          <p:cNvPr id="35" name="熊大的PPT宝库33"/>
          <p:cNvSpPr/>
          <p:nvPr/>
        </p:nvSpPr>
        <p:spPr>
          <a:xfrm>
            <a:off x="1813362" y="2302652"/>
            <a:ext cx="2016000" cy="396000"/>
          </a:xfrm>
          <a:prstGeom prst="chevron">
            <a:avLst>
              <a:gd name="adj" fmla="val 67854"/>
            </a:avLst>
          </a:prstGeom>
          <a:solidFill>
            <a:schemeClr val="bg1">
              <a:lumMod val="95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6" name="熊大的PPT宝库34"/>
          <p:cNvSpPr/>
          <p:nvPr/>
        </p:nvSpPr>
        <p:spPr>
          <a:xfrm>
            <a:off x="3696728" y="2302652"/>
            <a:ext cx="8052359" cy="396000"/>
          </a:xfrm>
          <a:prstGeom prst="chevron">
            <a:avLst>
              <a:gd name="adj" fmla="val 67854"/>
            </a:avLst>
          </a:prstGeom>
          <a:solidFill>
            <a:schemeClr val="bg1">
              <a:lumMod val="95000"/>
            </a:schemeClr>
          </a:solidFill>
          <a:ln>
            <a:solidFill>
              <a:schemeClr val="accent1"/>
            </a:solidFill>
            <a:prstDash val="sysDot"/>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7" name="熊大的PPT宝库35"/>
          <p:cNvSpPr/>
          <p:nvPr/>
        </p:nvSpPr>
        <p:spPr>
          <a:xfrm>
            <a:off x="1948142" y="2805921"/>
            <a:ext cx="1670240" cy="403762"/>
          </a:xfrm>
          <a:prstGeom prst="roundRect">
            <a:avLst>
              <a:gd name="adj" fmla="val 9181"/>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9" name="熊大的PPT宝库36"/>
          <p:cNvSpPr/>
          <p:nvPr/>
        </p:nvSpPr>
        <p:spPr>
          <a:xfrm>
            <a:off x="3961562" y="2805921"/>
            <a:ext cx="1670240" cy="403762"/>
          </a:xfrm>
          <a:prstGeom prst="roundRect">
            <a:avLst>
              <a:gd name="adj" fmla="val 9181"/>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0" name="熊大的PPT宝库37"/>
          <p:cNvSpPr/>
          <p:nvPr/>
        </p:nvSpPr>
        <p:spPr>
          <a:xfrm>
            <a:off x="5974982" y="2805921"/>
            <a:ext cx="1670240" cy="403762"/>
          </a:xfrm>
          <a:prstGeom prst="roundRect">
            <a:avLst>
              <a:gd name="adj" fmla="val 9181"/>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1" name="熊大的PPT宝库38"/>
          <p:cNvSpPr/>
          <p:nvPr/>
        </p:nvSpPr>
        <p:spPr>
          <a:xfrm>
            <a:off x="7988402" y="2805921"/>
            <a:ext cx="1670240" cy="403762"/>
          </a:xfrm>
          <a:prstGeom prst="roundRect">
            <a:avLst>
              <a:gd name="adj" fmla="val 9181"/>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2" name="熊大的PPT宝库39"/>
          <p:cNvSpPr/>
          <p:nvPr/>
        </p:nvSpPr>
        <p:spPr>
          <a:xfrm>
            <a:off x="10001823" y="2805921"/>
            <a:ext cx="1670240" cy="403762"/>
          </a:xfrm>
          <a:prstGeom prst="roundRect">
            <a:avLst>
              <a:gd name="adj" fmla="val 9181"/>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3" name="熊大的PPT宝库40"/>
          <p:cNvSpPr/>
          <p:nvPr/>
        </p:nvSpPr>
        <p:spPr>
          <a:xfrm>
            <a:off x="1813362" y="3309190"/>
            <a:ext cx="9935725" cy="2999535"/>
          </a:xfrm>
          <a:prstGeom prst="roundRect">
            <a:avLst>
              <a:gd name="adj" fmla="val 1848"/>
            </a:avLst>
          </a:prstGeom>
          <a:solidFill>
            <a:schemeClr val="accent1">
              <a:lumMod val="20000"/>
              <a:lumOff val="80000"/>
              <a:alpha val="5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4" name="熊大的PPT宝库41"/>
          <p:cNvSpPr/>
          <p:nvPr/>
        </p:nvSpPr>
        <p:spPr>
          <a:xfrm>
            <a:off x="5729826" y="3572725"/>
            <a:ext cx="21600" cy="2736000"/>
          </a:xfrm>
          <a:prstGeom prst="rect">
            <a:avLst/>
          </a:prstGeom>
          <a:solidFill>
            <a:schemeClr val="bg1">
              <a:lumMod val="95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5" name="熊大的PPT宝库42"/>
          <p:cNvSpPr/>
          <p:nvPr/>
        </p:nvSpPr>
        <p:spPr>
          <a:xfrm>
            <a:off x="3648629" y="3572725"/>
            <a:ext cx="21600" cy="2736000"/>
          </a:xfrm>
          <a:prstGeom prst="rect">
            <a:avLst/>
          </a:prstGeom>
          <a:solidFill>
            <a:schemeClr val="bg1">
              <a:lumMod val="95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6" name="熊大的PPT宝库43"/>
          <p:cNvSpPr/>
          <p:nvPr/>
        </p:nvSpPr>
        <p:spPr>
          <a:xfrm>
            <a:off x="7811023" y="3572725"/>
            <a:ext cx="21600" cy="2736000"/>
          </a:xfrm>
          <a:prstGeom prst="rect">
            <a:avLst/>
          </a:prstGeom>
          <a:solidFill>
            <a:schemeClr val="bg1">
              <a:lumMod val="95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7" name="熊大的PPT宝库44"/>
          <p:cNvSpPr/>
          <p:nvPr/>
        </p:nvSpPr>
        <p:spPr>
          <a:xfrm>
            <a:off x="9892219" y="3572725"/>
            <a:ext cx="21600" cy="2736000"/>
          </a:xfrm>
          <a:prstGeom prst="rect">
            <a:avLst/>
          </a:prstGeom>
          <a:solidFill>
            <a:schemeClr val="bg1">
              <a:lumMod val="95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0" name="熊大的PPT宝库45"/>
          <p:cNvSpPr txBox="1"/>
          <p:nvPr/>
        </p:nvSpPr>
        <p:spPr>
          <a:xfrm>
            <a:off x="630485" y="2377542"/>
            <a:ext cx="820738" cy="246221"/>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用户状态</a:t>
            </a:r>
          </a:p>
        </p:txBody>
      </p:sp>
      <p:sp>
        <p:nvSpPr>
          <p:cNvPr id="52" name="熊大的PPT宝库46"/>
          <p:cNvSpPr txBox="1"/>
          <p:nvPr/>
        </p:nvSpPr>
        <p:spPr>
          <a:xfrm>
            <a:off x="625660" y="2884692"/>
            <a:ext cx="820738" cy="246221"/>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品牌诉求</a:t>
            </a:r>
          </a:p>
        </p:txBody>
      </p:sp>
      <p:sp>
        <p:nvSpPr>
          <p:cNvPr id="54" name="熊大的PPT宝库47"/>
          <p:cNvSpPr txBox="1"/>
          <p:nvPr/>
        </p:nvSpPr>
        <p:spPr>
          <a:xfrm>
            <a:off x="636203" y="3636080"/>
            <a:ext cx="820738" cy="246221"/>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策略环节</a:t>
            </a:r>
          </a:p>
        </p:txBody>
      </p:sp>
      <p:sp>
        <p:nvSpPr>
          <p:cNvPr id="56" name="熊大的PPT宝库48"/>
          <p:cNvSpPr txBox="1"/>
          <p:nvPr/>
        </p:nvSpPr>
        <p:spPr>
          <a:xfrm>
            <a:off x="527891" y="5062490"/>
            <a:ext cx="1025922" cy="492443"/>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分场景</a:t>
            </a:r>
            <a:endParaRPr kumimoji="0" lang="en-US" altLang="zh-CN" sz="1600" b="0"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营销方法论</a:t>
            </a:r>
          </a:p>
        </p:txBody>
      </p:sp>
      <p:sp>
        <p:nvSpPr>
          <p:cNvPr id="57" name="熊大的PPT宝库49"/>
          <p:cNvSpPr txBox="1"/>
          <p:nvPr/>
        </p:nvSpPr>
        <p:spPr>
          <a:xfrm>
            <a:off x="2709524" y="2392930"/>
            <a:ext cx="147476"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0000"/>
                </a:solidFill>
                <a:effectLst/>
                <a:uLnTx/>
                <a:uFillTx/>
                <a:cs typeface="+mn-ea"/>
                <a:sym typeface="+mn-lt"/>
              </a:rPr>
              <a:t>O</a:t>
            </a: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8" name="熊大的PPT宝库50"/>
          <p:cNvSpPr txBox="1"/>
          <p:nvPr/>
        </p:nvSpPr>
        <p:spPr>
          <a:xfrm>
            <a:off x="4315489" y="2392930"/>
            <a:ext cx="234038"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0000"/>
                </a:solidFill>
                <a:effectLst/>
                <a:uLnTx/>
                <a:uFillTx/>
                <a:cs typeface="+mn-ea"/>
                <a:sym typeface="+mn-lt"/>
              </a:rPr>
              <a:t>A1</a:t>
            </a: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9" name="熊大的PPT宝库51"/>
          <p:cNvSpPr txBox="1"/>
          <p:nvPr/>
        </p:nvSpPr>
        <p:spPr>
          <a:xfrm>
            <a:off x="4930489" y="2392930"/>
            <a:ext cx="264496"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0000"/>
                </a:solidFill>
                <a:effectLst/>
                <a:uLnTx/>
                <a:uFillTx/>
                <a:cs typeface="+mn-ea"/>
                <a:sym typeface="+mn-lt"/>
              </a:rPr>
              <a:t>A2</a:t>
            </a: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0" name="熊大的PPT宝库52"/>
          <p:cNvSpPr txBox="1"/>
          <p:nvPr/>
        </p:nvSpPr>
        <p:spPr>
          <a:xfrm>
            <a:off x="6687472" y="2392930"/>
            <a:ext cx="264496"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0000"/>
                </a:solidFill>
                <a:effectLst/>
                <a:uLnTx/>
                <a:uFillTx/>
                <a:cs typeface="+mn-ea"/>
                <a:sym typeface="+mn-lt"/>
              </a:rPr>
              <a:t>A3</a:t>
            </a: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1" name="熊大的PPT宝库53"/>
          <p:cNvSpPr txBox="1"/>
          <p:nvPr/>
        </p:nvSpPr>
        <p:spPr>
          <a:xfrm>
            <a:off x="8700892" y="2392930"/>
            <a:ext cx="264496"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0000"/>
                </a:solidFill>
                <a:effectLst/>
                <a:uLnTx/>
                <a:uFillTx/>
                <a:cs typeface="+mn-ea"/>
                <a:sym typeface="+mn-lt"/>
              </a:rPr>
              <a:t>A4</a:t>
            </a: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2" name="熊大的PPT宝库54"/>
          <p:cNvSpPr txBox="1"/>
          <p:nvPr/>
        </p:nvSpPr>
        <p:spPr>
          <a:xfrm>
            <a:off x="10714313" y="2392930"/>
            <a:ext cx="264496"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000000"/>
                </a:solidFill>
                <a:effectLst/>
                <a:uLnTx/>
                <a:uFillTx/>
                <a:cs typeface="+mn-ea"/>
                <a:sym typeface="+mn-lt"/>
              </a:rPr>
              <a:t>A5</a:t>
            </a: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3" name="熊大的PPT宝库55"/>
          <p:cNvSpPr txBox="1"/>
          <p:nvPr/>
        </p:nvSpPr>
        <p:spPr>
          <a:xfrm>
            <a:off x="2424190" y="2900080"/>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定位受众</a:t>
            </a:r>
          </a:p>
        </p:txBody>
      </p:sp>
      <p:sp>
        <p:nvSpPr>
          <p:cNvPr id="64" name="熊大的PPT宝库56"/>
          <p:cNvSpPr txBox="1"/>
          <p:nvPr/>
        </p:nvSpPr>
        <p:spPr>
          <a:xfrm>
            <a:off x="4437610" y="2900080"/>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培育客群</a:t>
            </a:r>
          </a:p>
        </p:txBody>
      </p:sp>
      <p:sp>
        <p:nvSpPr>
          <p:cNvPr id="65" name="熊大的PPT宝库57"/>
          <p:cNvSpPr txBox="1"/>
          <p:nvPr/>
        </p:nvSpPr>
        <p:spPr>
          <a:xfrm>
            <a:off x="6451030" y="2900080"/>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深度种草</a:t>
            </a:r>
          </a:p>
        </p:txBody>
      </p:sp>
      <p:sp>
        <p:nvSpPr>
          <p:cNvPr id="66" name="熊大的PPT宝库58"/>
          <p:cNvSpPr txBox="1"/>
          <p:nvPr/>
        </p:nvSpPr>
        <p:spPr>
          <a:xfrm>
            <a:off x="8464450" y="2900080"/>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促进转化</a:t>
            </a:r>
          </a:p>
        </p:txBody>
      </p:sp>
      <p:sp>
        <p:nvSpPr>
          <p:cNvPr id="67" name="熊大的PPT宝库59"/>
          <p:cNvSpPr txBox="1"/>
          <p:nvPr/>
        </p:nvSpPr>
        <p:spPr>
          <a:xfrm>
            <a:off x="10477871" y="2900080"/>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价值升级</a:t>
            </a:r>
          </a:p>
        </p:txBody>
      </p:sp>
      <p:sp>
        <p:nvSpPr>
          <p:cNvPr id="71" name="熊大的PPT宝库60"/>
          <p:cNvSpPr txBox="1"/>
          <p:nvPr/>
        </p:nvSpPr>
        <p:spPr>
          <a:xfrm>
            <a:off x="4084474" y="3555795"/>
            <a:ext cx="1231106"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品牌认知提升</a:t>
            </a:r>
          </a:p>
        </p:txBody>
      </p:sp>
      <p:sp>
        <p:nvSpPr>
          <p:cNvPr id="73" name="熊大的PPT宝库61"/>
          <p:cNvSpPr txBox="1"/>
          <p:nvPr/>
        </p:nvSpPr>
        <p:spPr>
          <a:xfrm>
            <a:off x="4084474" y="3891577"/>
            <a:ext cx="1231106"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潜力客群拓展</a:t>
            </a:r>
          </a:p>
        </p:txBody>
      </p:sp>
      <p:sp>
        <p:nvSpPr>
          <p:cNvPr id="81" name="熊大的PPT宝库62"/>
          <p:cNvSpPr txBox="1"/>
          <p:nvPr/>
        </p:nvSpPr>
        <p:spPr>
          <a:xfrm>
            <a:off x="10421084" y="3555795"/>
            <a:ext cx="820738"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复购运营</a:t>
            </a:r>
          </a:p>
        </p:txBody>
      </p:sp>
      <p:sp>
        <p:nvSpPr>
          <p:cNvPr id="82" name="熊大的PPT宝库63"/>
          <p:cNvSpPr txBox="1"/>
          <p:nvPr/>
        </p:nvSpPr>
        <p:spPr>
          <a:xfrm>
            <a:off x="10421084" y="3891577"/>
            <a:ext cx="820738"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会员运营</a:t>
            </a:r>
          </a:p>
        </p:txBody>
      </p:sp>
      <p:sp>
        <p:nvSpPr>
          <p:cNvPr id="84" name="熊大的PPT宝库64"/>
          <p:cNvSpPr txBox="1"/>
          <p:nvPr/>
        </p:nvSpPr>
        <p:spPr>
          <a:xfrm>
            <a:off x="8201749" y="3555795"/>
            <a:ext cx="1231106"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节点大促营销</a:t>
            </a:r>
          </a:p>
        </p:txBody>
      </p:sp>
      <p:sp>
        <p:nvSpPr>
          <p:cNvPr id="85" name="熊大的PPT宝库65"/>
          <p:cNvSpPr txBox="1"/>
          <p:nvPr/>
        </p:nvSpPr>
        <p:spPr>
          <a:xfrm>
            <a:off x="8201749" y="3891577"/>
            <a:ext cx="1231106"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潜力爆品营销</a:t>
            </a:r>
          </a:p>
        </p:txBody>
      </p:sp>
      <p:sp>
        <p:nvSpPr>
          <p:cNvPr id="86" name="熊大的PPT宝库66"/>
          <p:cNvSpPr txBox="1"/>
          <p:nvPr/>
        </p:nvSpPr>
        <p:spPr>
          <a:xfrm>
            <a:off x="8201749" y="4240236"/>
            <a:ext cx="1231106"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投放效果优化</a:t>
            </a:r>
          </a:p>
        </p:txBody>
      </p:sp>
      <p:sp>
        <p:nvSpPr>
          <p:cNvPr id="88" name="熊大的PPT宝库67"/>
          <p:cNvSpPr txBox="1"/>
          <p:nvPr/>
        </p:nvSpPr>
        <p:spPr>
          <a:xfrm>
            <a:off x="6364661" y="3555795"/>
            <a:ext cx="820738"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商品种草</a:t>
            </a:r>
          </a:p>
        </p:txBody>
      </p:sp>
      <p:sp>
        <p:nvSpPr>
          <p:cNvPr id="89" name="熊大的PPT宝库68"/>
          <p:cNvSpPr txBox="1"/>
          <p:nvPr/>
        </p:nvSpPr>
        <p:spPr>
          <a:xfrm>
            <a:off x="6364661" y="3891577"/>
            <a:ext cx="820738"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人群种草</a:t>
            </a:r>
          </a:p>
        </p:txBody>
      </p:sp>
      <p:sp>
        <p:nvSpPr>
          <p:cNvPr id="90" name="熊大的PPT宝库69"/>
          <p:cNvSpPr txBox="1"/>
          <p:nvPr/>
        </p:nvSpPr>
        <p:spPr>
          <a:xfrm>
            <a:off x="6364661" y="4233104"/>
            <a:ext cx="820738"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内容营销</a:t>
            </a:r>
          </a:p>
        </p:txBody>
      </p:sp>
      <p:sp>
        <p:nvSpPr>
          <p:cNvPr id="94" name="熊大的PPT宝库70"/>
          <p:cNvSpPr txBox="1"/>
          <p:nvPr/>
        </p:nvSpPr>
        <p:spPr>
          <a:xfrm>
            <a:off x="2113912" y="3555795"/>
            <a:ext cx="1231106"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cs typeface="+mn-ea"/>
                <a:sym typeface="+mn-lt"/>
              </a:rPr>
              <a:t>定位机会人群</a:t>
            </a: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5" name="熊大的PPT宝库71"/>
          <p:cNvSpPr txBox="1"/>
          <p:nvPr/>
        </p:nvSpPr>
        <p:spPr>
          <a:xfrm>
            <a:off x="1984870" y="3894349"/>
            <a:ext cx="1489190"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兴趣人群 行业人群</a:t>
            </a:r>
          </a:p>
        </p:txBody>
      </p:sp>
      <p:sp>
        <p:nvSpPr>
          <p:cNvPr id="96" name="熊大的PPT宝库72"/>
          <p:cNvSpPr txBox="1"/>
          <p:nvPr/>
        </p:nvSpPr>
        <p:spPr>
          <a:xfrm>
            <a:off x="1984870" y="4202126"/>
            <a:ext cx="1489190"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品类人群 本品人群</a:t>
            </a:r>
          </a:p>
        </p:txBody>
      </p:sp>
      <p:sp>
        <p:nvSpPr>
          <p:cNvPr id="97" name="熊大的PPT宝库73"/>
          <p:cNvSpPr/>
          <p:nvPr/>
        </p:nvSpPr>
        <p:spPr>
          <a:xfrm>
            <a:off x="3779461" y="4585660"/>
            <a:ext cx="4032000" cy="252000"/>
          </a:xfrm>
          <a:prstGeom prst="rect">
            <a:avLst/>
          </a:prstGeom>
          <a:solidFill>
            <a:schemeClr val="accent1">
              <a:lumMod val="40000"/>
              <a:lumOff val="6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8" name="熊大的PPT宝库74"/>
          <p:cNvSpPr/>
          <p:nvPr/>
        </p:nvSpPr>
        <p:spPr>
          <a:xfrm>
            <a:off x="3779461" y="4841113"/>
            <a:ext cx="4032000" cy="252000"/>
          </a:xfrm>
          <a:prstGeom prst="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9" name="熊大的PPT宝库75"/>
          <p:cNvSpPr/>
          <p:nvPr/>
        </p:nvSpPr>
        <p:spPr>
          <a:xfrm>
            <a:off x="1962828" y="5193383"/>
            <a:ext cx="7812000" cy="252000"/>
          </a:xfrm>
          <a:prstGeom prst="rect">
            <a:avLst/>
          </a:prstGeom>
          <a:solidFill>
            <a:schemeClr val="accent1">
              <a:lumMod val="40000"/>
              <a:lumOff val="6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0" name="熊大的PPT宝库76"/>
          <p:cNvSpPr/>
          <p:nvPr/>
        </p:nvSpPr>
        <p:spPr>
          <a:xfrm>
            <a:off x="1962828" y="5459886"/>
            <a:ext cx="7812000" cy="252000"/>
          </a:xfrm>
          <a:prstGeom prst="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1" name="熊大的PPT宝库77"/>
          <p:cNvSpPr/>
          <p:nvPr/>
        </p:nvSpPr>
        <p:spPr>
          <a:xfrm>
            <a:off x="5772935" y="5789800"/>
            <a:ext cx="5855928" cy="252000"/>
          </a:xfrm>
          <a:prstGeom prst="rect">
            <a:avLst/>
          </a:prstGeom>
          <a:solidFill>
            <a:schemeClr val="accent1">
              <a:lumMod val="40000"/>
              <a:lumOff val="6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2" name="熊大的PPT宝库78"/>
          <p:cNvSpPr/>
          <p:nvPr/>
        </p:nvSpPr>
        <p:spPr>
          <a:xfrm>
            <a:off x="5772935" y="6057128"/>
            <a:ext cx="5855928" cy="252000"/>
          </a:xfrm>
          <a:prstGeom prst="rect">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4" name="熊大的PPT宝库79"/>
          <p:cNvSpPr txBox="1"/>
          <p:nvPr/>
        </p:nvSpPr>
        <p:spPr>
          <a:xfrm>
            <a:off x="4718243" y="4602014"/>
            <a:ext cx="2154436"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品牌力如何看清，怎么提升</a:t>
            </a:r>
          </a:p>
        </p:txBody>
      </p:sp>
      <p:sp>
        <p:nvSpPr>
          <p:cNvPr id="106" name="熊大的PPT宝库80"/>
          <p:cNvSpPr txBox="1"/>
          <p:nvPr/>
        </p:nvSpPr>
        <p:spPr>
          <a:xfrm>
            <a:off x="5077316" y="4849684"/>
            <a:ext cx="1436291"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品牌力提升方法论</a:t>
            </a:r>
          </a:p>
        </p:txBody>
      </p:sp>
      <p:sp>
        <p:nvSpPr>
          <p:cNvPr id="108" name="熊大的PPT宝库81"/>
          <p:cNvSpPr txBox="1"/>
          <p:nvPr/>
        </p:nvSpPr>
        <p:spPr>
          <a:xfrm>
            <a:off x="4500665" y="5218842"/>
            <a:ext cx="2736327"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新品缺乏认知基础,怎么才能推爆款</a:t>
            </a:r>
          </a:p>
        </p:txBody>
      </p:sp>
      <p:sp>
        <p:nvSpPr>
          <p:cNvPr id="110" name="熊大的PPT宝库82"/>
          <p:cNvSpPr txBox="1"/>
          <p:nvPr/>
        </p:nvSpPr>
        <p:spPr>
          <a:xfrm>
            <a:off x="5240451" y="5481853"/>
            <a:ext cx="1256754"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新品营销方法论</a:t>
            </a:r>
          </a:p>
        </p:txBody>
      </p:sp>
      <p:sp>
        <p:nvSpPr>
          <p:cNvPr id="112" name="熊大的PPT宝库83"/>
          <p:cNvSpPr txBox="1"/>
          <p:nvPr/>
        </p:nvSpPr>
        <p:spPr>
          <a:xfrm>
            <a:off x="7063432" y="5814416"/>
            <a:ext cx="3274935"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大促策略怎么做,如何更好的达成生意目标</a:t>
            </a:r>
          </a:p>
        </p:txBody>
      </p:sp>
      <p:sp>
        <p:nvSpPr>
          <p:cNvPr id="114" name="熊大的PPT宝库84"/>
          <p:cNvSpPr txBox="1"/>
          <p:nvPr/>
        </p:nvSpPr>
        <p:spPr>
          <a:xfrm>
            <a:off x="8072522" y="6075406"/>
            <a:ext cx="1256754"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大促营销方法论</a:t>
            </a:r>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熊大的PPT宝库1"/>
          <p:cNvSpPr txBox="1"/>
          <p:nvPr/>
        </p:nvSpPr>
        <p:spPr>
          <a:xfrm>
            <a:off x="348830" y="216968"/>
            <a:ext cx="3057247"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韧性供应链策略</a:t>
            </a:r>
          </a:p>
        </p:txBody>
      </p:sp>
      <p:sp>
        <p:nvSpPr>
          <p:cNvPr id="5" name="熊大的PPT宝库3"/>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
        <p:nvSpPr>
          <p:cNvPr id="6" name="熊大的PPT宝库4"/>
          <p:cNvSpPr/>
          <p:nvPr/>
        </p:nvSpPr>
        <p:spPr>
          <a:xfrm>
            <a:off x="442913" y="998198"/>
            <a:ext cx="3202812" cy="5292132"/>
          </a:xfrm>
          <a:prstGeom prst="roundRect">
            <a:avLst>
              <a:gd name="adj" fmla="val 2207"/>
            </a:avLst>
          </a:prstGeom>
          <a:solidFill>
            <a:schemeClr val="bg1">
              <a:lumMod val="95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 name="熊大的PPT宝库5"/>
          <p:cNvSpPr/>
          <p:nvPr/>
        </p:nvSpPr>
        <p:spPr>
          <a:xfrm>
            <a:off x="8551728" y="993815"/>
            <a:ext cx="3202812" cy="5296515"/>
          </a:xfrm>
          <a:prstGeom prst="roundRect">
            <a:avLst>
              <a:gd name="adj" fmla="val 2207"/>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 name="熊大的PPT宝库6"/>
          <p:cNvSpPr txBox="1"/>
          <p:nvPr/>
        </p:nvSpPr>
        <p:spPr>
          <a:xfrm>
            <a:off x="4953059" y="1090422"/>
            <a:ext cx="2285883" cy="276999"/>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329D"/>
                </a:solidFill>
                <a:effectLst/>
                <a:uLnTx/>
                <a:uFillTx/>
                <a:cs typeface="+mn-ea"/>
                <a:sym typeface="+mn-lt"/>
              </a:rPr>
              <a:t>韧性指南介绍:8大维度</a:t>
            </a:r>
          </a:p>
        </p:txBody>
      </p:sp>
      <p:sp>
        <p:nvSpPr>
          <p:cNvPr id="13" name="熊大的PPT宝库7"/>
          <p:cNvSpPr txBox="1"/>
          <p:nvPr/>
        </p:nvSpPr>
        <p:spPr>
          <a:xfrm>
            <a:off x="9599056" y="1090422"/>
            <a:ext cx="1154162" cy="276999"/>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需求端韧性</a:t>
            </a:r>
          </a:p>
        </p:txBody>
      </p:sp>
      <p:sp>
        <p:nvSpPr>
          <p:cNvPr id="31" name="熊大的PPT宝库8"/>
          <p:cNvSpPr txBox="1"/>
          <p:nvPr/>
        </p:nvSpPr>
        <p:spPr>
          <a:xfrm>
            <a:off x="1124082" y="4200823"/>
            <a:ext cx="1384995"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制造物流布局</a:t>
            </a:r>
          </a:p>
        </p:txBody>
      </p:sp>
      <p:sp>
        <p:nvSpPr>
          <p:cNvPr id="32" name="熊大的PPT宝库9"/>
          <p:cNvSpPr txBox="1"/>
          <p:nvPr/>
        </p:nvSpPr>
        <p:spPr>
          <a:xfrm>
            <a:off x="1124082" y="4483161"/>
            <a:ext cx="2138400" cy="369332"/>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cs typeface="+mn-ea"/>
                <a:sym typeface="+mn-lt"/>
              </a:rPr>
              <a:t>-</a:t>
            </a:r>
            <a:r>
              <a:rPr kumimoji="0" lang="zh-CN" altLang="en-US" sz="1200" b="0" i="0" u="none" strike="noStrike" kern="1200" cap="none" spc="0" normalizeH="0" baseline="0" noProof="0" dirty="0">
                <a:ln>
                  <a:noFill/>
                </a:ln>
                <a:solidFill>
                  <a:srgbClr val="000000"/>
                </a:solidFill>
                <a:effectLst/>
                <a:uLnTx/>
                <a:uFillTx/>
                <a:cs typeface="+mn-ea"/>
                <a:sym typeface="+mn-lt"/>
              </a:rPr>
              <a:t>将韧性纳入仓储/生产网络布局设计的考量</a:t>
            </a:r>
          </a:p>
        </p:txBody>
      </p:sp>
      <p:sp>
        <p:nvSpPr>
          <p:cNvPr id="33" name="熊大的PPT宝库10"/>
          <p:cNvSpPr txBox="1"/>
          <p:nvPr/>
        </p:nvSpPr>
        <p:spPr>
          <a:xfrm>
            <a:off x="1124082" y="3100735"/>
            <a:ext cx="923330"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供应版图</a:t>
            </a:r>
          </a:p>
        </p:txBody>
      </p:sp>
      <p:sp>
        <p:nvSpPr>
          <p:cNvPr id="34" name="熊大的PPT宝库11"/>
          <p:cNvSpPr txBox="1"/>
          <p:nvPr/>
        </p:nvSpPr>
        <p:spPr>
          <a:xfrm>
            <a:off x="1124082" y="3369736"/>
            <a:ext cx="2138400" cy="184666"/>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cs typeface="+mn-ea"/>
                <a:sym typeface="+mn-lt"/>
              </a:rPr>
              <a:t>-</a:t>
            </a:r>
            <a:r>
              <a:rPr kumimoji="0" lang="zh-CN" altLang="en-US" sz="1200" b="0" i="0" u="none" strike="noStrike" kern="1200" cap="none" spc="0" normalizeH="0" baseline="0" noProof="0" dirty="0">
                <a:ln>
                  <a:noFill/>
                </a:ln>
                <a:solidFill>
                  <a:srgbClr val="000000"/>
                </a:solidFill>
                <a:effectLst/>
                <a:uLnTx/>
                <a:uFillTx/>
                <a:cs typeface="+mn-ea"/>
                <a:sym typeface="+mn-lt"/>
              </a:rPr>
              <a:t>多样化供应来源</a:t>
            </a:r>
          </a:p>
        </p:txBody>
      </p:sp>
      <p:sp>
        <p:nvSpPr>
          <p:cNvPr id="35" name="熊大的PPT宝库12"/>
          <p:cNvSpPr txBox="1"/>
          <p:nvPr/>
        </p:nvSpPr>
        <p:spPr>
          <a:xfrm>
            <a:off x="1124082" y="1656614"/>
            <a:ext cx="923330"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规划能力</a:t>
            </a:r>
          </a:p>
        </p:txBody>
      </p:sp>
      <p:sp>
        <p:nvSpPr>
          <p:cNvPr id="36" name="熊大的PPT宝库13"/>
          <p:cNvSpPr txBox="1"/>
          <p:nvPr/>
        </p:nvSpPr>
        <p:spPr>
          <a:xfrm>
            <a:off x="1124082" y="1920436"/>
            <a:ext cx="2138400" cy="369332"/>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cs typeface="+mn-ea"/>
                <a:sym typeface="+mn-lt"/>
              </a:rPr>
              <a:t>-</a:t>
            </a:r>
            <a:r>
              <a:rPr kumimoji="0" lang="zh-CN" altLang="en-US" sz="1200" b="0" i="0" u="none" strike="noStrike" kern="1200" cap="none" spc="0" normalizeH="0" baseline="0" noProof="0" dirty="0">
                <a:ln>
                  <a:noFill/>
                </a:ln>
                <a:solidFill>
                  <a:srgbClr val="000000"/>
                </a:solidFill>
                <a:effectLst/>
                <a:uLnTx/>
                <a:uFillTx/>
                <a:cs typeface="+mn-ea"/>
                <a:sym typeface="+mn-lt"/>
              </a:rPr>
              <a:t>能够迅速感知供求关系的变化并作出相应调整</a:t>
            </a:r>
          </a:p>
        </p:txBody>
      </p:sp>
      <p:sp>
        <p:nvSpPr>
          <p:cNvPr id="37" name="熊大的PPT宝库14"/>
          <p:cNvSpPr txBox="1"/>
          <p:nvPr/>
        </p:nvSpPr>
        <p:spPr>
          <a:xfrm>
            <a:off x="9277889" y="1656614"/>
            <a:ext cx="923330"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cs typeface="+mn-ea"/>
                <a:sym typeface="+mn-lt"/>
              </a:rPr>
              <a:t>产品平台</a:t>
            </a:r>
          </a:p>
        </p:txBody>
      </p:sp>
      <p:sp>
        <p:nvSpPr>
          <p:cNvPr id="38" name="熊大的PPT宝库15"/>
          <p:cNvSpPr txBox="1"/>
          <p:nvPr/>
        </p:nvSpPr>
        <p:spPr>
          <a:xfrm>
            <a:off x="9277888" y="1920436"/>
            <a:ext cx="2139411" cy="369332"/>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cs typeface="+mn-ea"/>
                <a:sym typeface="+mn-lt"/>
              </a:rPr>
              <a:t>-</a:t>
            </a:r>
            <a:r>
              <a:rPr kumimoji="0" lang="zh-CN" altLang="en-US" sz="1200" b="0" i="0" u="none" strike="noStrike" kern="1200" cap="none" spc="0" normalizeH="0" baseline="0" noProof="0" dirty="0">
                <a:ln>
                  <a:noFill/>
                </a:ln>
                <a:solidFill>
                  <a:srgbClr val="000000"/>
                </a:solidFill>
                <a:effectLst/>
                <a:uLnTx/>
                <a:uFillTx/>
                <a:cs typeface="+mn-ea"/>
                <a:sym typeface="+mn-lt"/>
              </a:rPr>
              <a:t>通过积极的产品组合管理，提高产品和需求的匹配度</a:t>
            </a:r>
          </a:p>
        </p:txBody>
      </p:sp>
      <p:sp>
        <p:nvSpPr>
          <p:cNvPr id="39" name="熊大的PPT宝库16"/>
          <p:cNvSpPr txBox="1"/>
          <p:nvPr/>
        </p:nvSpPr>
        <p:spPr>
          <a:xfrm>
            <a:off x="9277889" y="2897535"/>
            <a:ext cx="923330"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cs typeface="+mn-ea"/>
                <a:sym typeface="+mn-lt"/>
              </a:rPr>
              <a:t>地理范围</a:t>
            </a:r>
          </a:p>
        </p:txBody>
      </p:sp>
      <p:sp>
        <p:nvSpPr>
          <p:cNvPr id="40" name="熊大的PPT宝库17"/>
          <p:cNvSpPr txBox="1"/>
          <p:nvPr/>
        </p:nvSpPr>
        <p:spPr>
          <a:xfrm>
            <a:off x="9277889" y="3166536"/>
            <a:ext cx="2139410" cy="369332"/>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-业务布局的多样性和地理位置以满足客户的各类需求</a:t>
            </a:r>
          </a:p>
        </p:txBody>
      </p:sp>
      <p:sp>
        <p:nvSpPr>
          <p:cNvPr id="41" name="熊大的PPT宝库18"/>
          <p:cNvSpPr txBox="1"/>
          <p:nvPr/>
        </p:nvSpPr>
        <p:spPr>
          <a:xfrm>
            <a:off x="9277889" y="5561354"/>
            <a:ext cx="923330"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cs typeface="+mn-ea"/>
                <a:sym typeface="+mn-lt"/>
              </a:rPr>
              <a:t>分销配送</a:t>
            </a:r>
          </a:p>
        </p:txBody>
      </p:sp>
      <p:sp>
        <p:nvSpPr>
          <p:cNvPr id="42" name="熊大的PPT宝库19"/>
          <p:cNvSpPr txBox="1"/>
          <p:nvPr/>
        </p:nvSpPr>
        <p:spPr>
          <a:xfrm>
            <a:off x="9277889" y="5825586"/>
            <a:ext cx="2139410" cy="369332"/>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cs typeface="+mn-ea"/>
                <a:sym typeface="+mn-lt"/>
              </a:rPr>
              <a:t>-</a:t>
            </a:r>
            <a:r>
              <a:rPr kumimoji="0" lang="zh-CN" altLang="en-US" sz="1200" b="0" i="0" u="none" strike="noStrike" kern="1200" cap="none" spc="0" normalizeH="0" baseline="0" noProof="0" dirty="0">
                <a:ln>
                  <a:noFill/>
                </a:ln>
                <a:solidFill>
                  <a:srgbClr val="000000"/>
                </a:solidFill>
                <a:effectLst/>
                <a:uLnTx/>
                <a:uFillTx/>
                <a:cs typeface="+mn-ea"/>
                <a:sym typeface="+mn-lt"/>
              </a:rPr>
              <a:t>通过多种多样的渠道满足客户需求</a:t>
            </a:r>
          </a:p>
        </p:txBody>
      </p:sp>
      <p:sp>
        <p:nvSpPr>
          <p:cNvPr id="43" name="熊大的PPT宝库20"/>
          <p:cNvSpPr txBox="1"/>
          <p:nvPr/>
        </p:nvSpPr>
        <p:spPr>
          <a:xfrm>
            <a:off x="9277889" y="4200823"/>
            <a:ext cx="923330"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cs typeface="+mn-ea"/>
                <a:sym typeface="+mn-lt"/>
              </a:rPr>
              <a:t>财务资本</a:t>
            </a:r>
          </a:p>
        </p:txBody>
      </p:sp>
      <p:sp>
        <p:nvSpPr>
          <p:cNvPr id="44" name="熊大的PPT宝库21"/>
          <p:cNvSpPr txBox="1"/>
          <p:nvPr/>
        </p:nvSpPr>
        <p:spPr>
          <a:xfrm>
            <a:off x="9277889" y="4483161"/>
            <a:ext cx="2139410" cy="369332"/>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 整个端到端价值链财务健康水平透明度</a:t>
            </a:r>
          </a:p>
        </p:txBody>
      </p:sp>
      <p:sp>
        <p:nvSpPr>
          <p:cNvPr id="45" name="熊大的PPT宝库22"/>
          <p:cNvSpPr txBox="1"/>
          <p:nvPr/>
        </p:nvSpPr>
        <p:spPr>
          <a:xfrm>
            <a:off x="1124082" y="5561354"/>
            <a:ext cx="923330"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入厂物流</a:t>
            </a:r>
          </a:p>
        </p:txBody>
      </p:sp>
      <p:sp>
        <p:nvSpPr>
          <p:cNvPr id="46" name="熊大的PPT宝库23"/>
          <p:cNvSpPr txBox="1"/>
          <p:nvPr/>
        </p:nvSpPr>
        <p:spPr>
          <a:xfrm>
            <a:off x="1124082" y="5825586"/>
            <a:ext cx="2138400" cy="369332"/>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cs typeface="+mn-ea"/>
                <a:sym typeface="+mn-lt"/>
              </a:rPr>
              <a:t>-</a:t>
            </a:r>
            <a:r>
              <a:rPr kumimoji="0" lang="zh-CN" altLang="en-US" sz="1200" b="0" i="0" u="none" strike="noStrike" kern="1200" cap="none" spc="0" normalizeH="0" baseline="0" noProof="0" dirty="0">
                <a:ln>
                  <a:noFill/>
                </a:ln>
                <a:solidFill>
                  <a:srgbClr val="000000"/>
                </a:solidFill>
                <a:effectLst/>
                <a:uLnTx/>
                <a:uFillTx/>
                <a:cs typeface="+mn-ea"/>
                <a:sym typeface="+mn-lt"/>
              </a:rPr>
              <a:t>覆盖物流和仓储全链路的可视化和灵活性</a:t>
            </a:r>
          </a:p>
        </p:txBody>
      </p:sp>
      <p:sp>
        <p:nvSpPr>
          <p:cNvPr id="47" name="熊大的PPT宝库24"/>
          <p:cNvSpPr txBox="1"/>
          <p:nvPr/>
        </p:nvSpPr>
        <p:spPr>
          <a:xfrm>
            <a:off x="1354915" y="1104788"/>
            <a:ext cx="1154162" cy="246221"/>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供给端韧性</a:t>
            </a:r>
          </a:p>
        </p:txBody>
      </p:sp>
      <p:cxnSp>
        <p:nvCxnSpPr>
          <p:cNvPr id="49" name="熊大的PPT宝库25"/>
          <p:cNvCxnSpPr/>
          <p:nvPr/>
        </p:nvCxnSpPr>
        <p:spPr>
          <a:xfrm>
            <a:off x="442913" y="2539906"/>
            <a:ext cx="31973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熊大的PPT宝库26"/>
          <p:cNvCxnSpPr/>
          <p:nvPr/>
        </p:nvCxnSpPr>
        <p:spPr>
          <a:xfrm>
            <a:off x="442913" y="3848006"/>
            <a:ext cx="31973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2" name="熊大的PPT宝库27"/>
          <p:cNvCxnSpPr/>
          <p:nvPr/>
        </p:nvCxnSpPr>
        <p:spPr>
          <a:xfrm>
            <a:off x="442913" y="5206906"/>
            <a:ext cx="31973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熊大的PPT宝库28"/>
          <p:cNvCxnSpPr/>
          <p:nvPr/>
        </p:nvCxnSpPr>
        <p:spPr>
          <a:xfrm>
            <a:off x="8552991" y="2539906"/>
            <a:ext cx="31973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4" name="熊大的PPT宝库29"/>
          <p:cNvCxnSpPr/>
          <p:nvPr/>
        </p:nvCxnSpPr>
        <p:spPr>
          <a:xfrm>
            <a:off x="8552991" y="3848006"/>
            <a:ext cx="31973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5" name="熊大的PPT宝库30"/>
          <p:cNvCxnSpPr/>
          <p:nvPr/>
        </p:nvCxnSpPr>
        <p:spPr>
          <a:xfrm>
            <a:off x="8552991" y="5206906"/>
            <a:ext cx="31973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6" name="熊大的PPT宝库31"/>
          <p:cNvSpPr/>
          <p:nvPr/>
        </p:nvSpPr>
        <p:spPr>
          <a:xfrm>
            <a:off x="501697" y="1670854"/>
            <a:ext cx="541685" cy="450283"/>
          </a:xfrm>
          <a:custGeom>
            <a:avLst/>
            <a:gdLst>
              <a:gd name="connsiteX0" fmla="*/ 288320 w 587787"/>
              <a:gd name="connsiteY0" fmla="*/ 197770 h 546457"/>
              <a:gd name="connsiteX1" fmla="*/ 385479 w 587787"/>
              <a:gd name="connsiteY1" fmla="*/ 295323 h 546457"/>
              <a:gd name="connsiteX2" fmla="*/ 288320 w 587787"/>
              <a:gd name="connsiteY2" fmla="*/ 295323 h 546457"/>
              <a:gd name="connsiteX3" fmla="*/ 284633 w 587787"/>
              <a:gd name="connsiteY3" fmla="*/ 167004 h 546457"/>
              <a:gd name="connsiteX4" fmla="*/ 227461 w 587787"/>
              <a:gd name="connsiteY4" fmla="*/ 183582 h 546457"/>
              <a:gd name="connsiteX5" fmla="*/ 232994 w 587787"/>
              <a:gd name="connsiteY5" fmla="*/ 194019 h 546457"/>
              <a:gd name="connsiteX6" fmla="*/ 227461 w 587787"/>
              <a:gd name="connsiteY6" fmla="*/ 197703 h 546457"/>
              <a:gd name="connsiteX7" fmla="*/ 221929 w 587787"/>
              <a:gd name="connsiteY7" fmla="*/ 187265 h 546457"/>
              <a:gd name="connsiteX8" fmla="*/ 180126 w 587787"/>
              <a:gd name="connsiteY8" fmla="*/ 229015 h 546457"/>
              <a:gd name="connsiteX9" fmla="*/ 191191 w 587787"/>
              <a:gd name="connsiteY9" fmla="*/ 234541 h 546457"/>
              <a:gd name="connsiteX10" fmla="*/ 187503 w 587787"/>
              <a:gd name="connsiteY10" fmla="*/ 240067 h 546457"/>
              <a:gd name="connsiteX11" fmla="*/ 176438 w 587787"/>
              <a:gd name="connsiteY11" fmla="*/ 234541 h 546457"/>
              <a:gd name="connsiteX12" fmla="*/ 159839 w 587787"/>
              <a:gd name="connsiteY12" fmla="*/ 291640 h 546457"/>
              <a:gd name="connsiteX13" fmla="*/ 172749 w 587787"/>
              <a:gd name="connsiteY13" fmla="*/ 291640 h 546457"/>
              <a:gd name="connsiteX14" fmla="*/ 172749 w 587787"/>
              <a:gd name="connsiteY14" fmla="*/ 299007 h 546457"/>
              <a:gd name="connsiteX15" fmla="*/ 159839 w 587787"/>
              <a:gd name="connsiteY15" fmla="*/ 299007 h 546457"/>
              <a:gd name="connsiteX16" fmla="*/ 176438 w 587787"/>
              <a:gd name="connsiteY16" fmla="*/ 355492 h 546457"/>
              <a:gd name="connsiteX17" fmla="*/ 187503 w 587787"/>
              <a:gd name="connsiteY17" fmla="*/ 349967 h 546457"/>
              <a:gd name="connsiteX18" fmla="*/ 191191 w 587787"/>
              <a:gd name="connsiteY18" fmla="*/ 355492 h 546457"/>
              <a:gd name="connsiteX19" fmla="*/ 180126 w 587787"/>
              <a:gd name="connsiteY19" fmla="*/ 361018 h 546457"/>
              <a:gd name="connsiteX20" fmla="*/ 221929 w 587787"/>
              <a:gd name="connsiteY20" fmla="*/ 403382 h 546457"/>
              <a:gd name="connsiteX21" fmla="*/ 227461 w 587787"/>
              <a:gd name="connsiteY21" fmla="*/ 392330 h 546457"/>
              <a:gd name="connsiteX22" fmla="*/ 232994 w 587787"/>
              <a:gd name="connsiteY22" fmla="*/ 396014 h 546457"/>
              <a:gd name="connsiteX23" fmla="*/ 227461 w 587787"/>
              <a:gd name="connsiteY23" fmla="*/ 407065 h 546457"/>
              <a:gd name="connsiteX24" fmla="*/ 284633 w 587787"/>
              <a:gd name="connsiteY24" fmla="*/ 423643 h 546457"/>
              <a:gd name="connsiteX25" fmla="*/ 284633 w 587787"/>
              <a:gd name="connsiteY25" fmla="*/ 410749 h 546457"/>
              <a:gd name="connsiteX26" fmla="*/ 292009 w 587787"/>
              <a:gd name="connsiteY26" fmla="*/ 410749 h 546457"/>
              <a:gd name="connsiteX27" fmla="*/ 292009 w 587787"/>
              <a:gd name="connsiteY27" fmla="*/ 423643 h 546457"/>
              <a:gd name="connsiteX28" fmla="*/ 348566 w 587787"/>
              <a:gd name="connsiteY28" fmla="*/ 407065 h 546457"/>
              <a:gd name="connsiteX29" fmla="*/ 343648 w 587787"/>
              <a:gd name="connsiteY29" fmla="*/ 396014 h 546457"/>
              <a:gd name="connsiteX30" fmla="*/ 348566 w 587787"/>
              <a:gd name="connsiteY30" fmla="*/ 392330 h 546457"/>
              <a:gd name="connsiteX31" fmla="*/ 354099 w 587787"/>
              <a:gd name="connsiteY31" fmla="*/ 403382 h 546457"/>
              <a:gd name="connsiteX32" fmla="*/ 396516 w 587787"/>
              <a:gd name="connsiteY32" fmla="*/ 361018 h 546457"/>
              <a:gd name="connsiteX33" fmla="*/ 385451 w 587787"/>
              <a:gd name="connsiteY33" fmla="*/ 355492 h 546457"/>
              <a:gd name="connsiteX34" fmla="*/ 389139 w 587787"/>
              <a:gd name="connsiteY34" fmla="*/ 349967 h 546457"/>
              <a:gd name="connsiteX35" fmla="*/ 400204 w 587787"/>
              <a:gd name="connsiteY35" fmla="*/ 355492 h 546457"/>
              <a:gd name="connsiteX36" fmla="*/ 416803 w 587787"/>
              <a:gd name="connsiteY36" fmla="*/ 299007 h 546457"/>
              <a:gd name="connsiteX37" fmla="*/ 403893 w 587787"/>
              <a:gd name="connsiteY37" fmla="*/ 299007 h 546457"/>
              <a:gd name="connsiteX38" fmla="*/ 403893 w 587787"/>
              <a:gd name="connsiteY38" fmla="*/ 291640 h 546457"/>
              <a:gd name="connsiteX39" fmla="*/ 416803 w 587787"/>
              <a:gd name="connsiteY39" fmla="*/ 291640 h 546457"/>
              <a:gd name="connsiteX40" fmla="*/ 400204 w 587787"/>
              <a:gd name="connsiteY40" fmla="*/ 234541 h 546457"/>
              <a:gd name="connsiteX41" fmla="*/ 389139 w 587787"/>
              <a:gd name="connsiteY41" fmla="*/ 240067 h 546457"/>
              <a:gd name="connsiteX42" fmla="*/ 385451 w 587787"/>
              <a:gd name="connsiteY42" fmla="*/ 234541 h 546457"/>
              <a:gd name="connsiteX43" fmla="*/ 396516 w 587787"/>
              <a:gd name="connsiteY43" fmla="*/ 229015 h 546457"/>
              <a:gd name="connsiteX44" fmla="*/ 354099 w 587787"/>
              <a:gd name="connsiteY44" fmla="*/ 187265 h 546457"/>
              <a:gd name="connsiteX45" fmla="*/ 348566 w 587787"/>
              <a:gd name="connsiteY45" fmla="*/ 197703 h 546457"/>
              <a:gd name="connsiteX46" fmla="*/ 343033 w 587787"/>
              <a:gd name="connsiteY46" fmla="*/ 194019 h 546457"/>
              <a:gd name="connsiteX47" fmla="*/ 348566 w 587787"/>
              <a:gd name="connsiteY47" fmla="*/ 183582 h 546457"/>
              <a:gd name="connsiteX48" fmla="*/ 292009 w 587787"/>
              <a:gd name="connsiteY48" fmla="*/ 167004 h 546457"/>
              <a:gd name="connsiteX49" fmla="*/ 292009 w 587787"/>
              <a:gd name="connsiteY49" fmla="*/ 179898 h 546457"/>
              <a:gd name="connsiteX50" fmla="*/ 284633 w 587787"/>
              <a:gd name="connsiteY50" fmla="*/ 179898 h 546457"/>
              <a:gd name="connsiteX51" fmla="*/ 288321 w 587787"/>
              <a:gd name="connsiteY51" fmla="*/ 139376 h 546457"/>
              <a:gd name="connsiteX52" fmla="*/ 444466 w 587787"/>
              <a:gd name="connsiteY52" fmla="*/ 295323 h 546457"/>
              <a:gd name="connsiteX53" fmla="*/ 288321 w 587787"/>
              <a:gd name="connsiteY53" fmla="*/ 451271 h 546457"/>
              <a:gd name="connsiteX54" fmla="*/ 132176 w 587787"/>
              <a:gd name="connsiteY54" fmla="*/ 295323 h 546457"/>
              <a:gd name="connsiteX55" fmla="*/ 288321 w 587787"/>
              <a:gd name="connsiteY55" fmla="*/ 139376 h 546457"/>
              <a:gd name="connsiteX56" fmla="*/ 187512 w 587787"/>
              <a:gd name="connsiteY56" fmla="*/ 33241 h 546457"/>
              <a:gd name="connsiteX57" fmla="*/ 194910 w 587787"/>
              <a:gd name="connsiteY57" fmla="*/ 33241 h 546457"/>
              <a:gd name="connsiteX58" fmla="*/ 194910 w 587787"/>
              <a:gd name="connsiteY58" fmla="*/ 69441 h 546457"/>
              <a:gd name="connsiteX59" fmla="*/ 187512 w 587787"/>
              <a:gd name="connsiteY59" fmla="*/ 69441 h 546457"/>
              <a:gd name="connsiteX60" fmla="*/ 392877 w 587787"/>
              <a:gd name="connsiteY60" fmla="*/ 33143 h 546457"/>
              <a:gd name="connsiteX61" fmla="*/ 398401 w 587787"/>
              <a:gd name="connsiteY61" fmla="*/ 33143 h 546457"/>
              <a:gd name="connsiteX62" fmla="*/ 398401 w 587787"/>
              <a:gd name="connsiteY62" fmla="*/ 69442 h 546457"/>
              <a:gd name="connsiteX63" fmla="*/ 392877 w 587787"/>
              <a:gd name="connsiteY63" fmla="*/ 69442 h 546457"/>
              <a:gd name="connsiteX64" fmla="*/ 290195 w 587787"/>
              <a:gd name="connsiteY64" fmla="*/ 33143 h 546457"/>
              <a:gd name="connsiteX65" fmla="*/ 297593 w 587787"/>
              <a:gd name="connsiteY65" fmla="*/ 33143 h 546457"/>
              <a:gd name="connsiteX66" fmla="*/ 297593 w 587787"/>
              <a:gd name="connsiteY66" fmla="*/ 69442 h 546457"/>
              <a:gd name="connsiteX67" fmla="*/ 290195 w 587787"/>
              <a:gd name="connsiteY67" fmla="*/ 69442 h 546457"/>
              <a:gd name="connsiteX68" fmla="*/ 55336 w 587787"/>
              <a:gd name="connsiteY68" fmla="*/ 33143 h 546457"/>
              <a:gd name="connsiteX69" fmla="*/ 91611 w 587787"/>
              <a:gd name="connsiteY69" fmla="*/ 33143 h 546457"/>
              <a:gd name="connsiteX70" fmla="*/ 91611 w 587787"/>
              <a:gd name="connsiteY70" fmla="*/ 69370 h 546457"/>
              <a:gd name="connsiteX71" fmla="*/ 55336 w 587787"/>
              <a:gd name="connsiteY71" fmla="*/ 69370 h 546457"/>
              <a:gd name="connsiteX72" fmla="*/ 36890 w 587787"/>
              <a:gd name="connsiteY72" fmla="*/ 87790 h 546457"/>
              <a:gd name="connsiteX73" fmla="*/ 36890 w 587787"/>
              <a:gd name="connsiteY73" fmla="*/ 491196 h 546457"/>
              <a:gd name="connsiteX74" fmla="*/ 55336 w 587787"/>
              <a:gd name="connsiteY74" fmla="*/ 509616 h 546457"/>
              <a:gd name="connsiteX75" fmla="*/ 532451 w 587787"/>
              <a:gd name="connsiteY75" fmla="*/ 509616 h 546457"/>
              <a:gd name="connsiteX76" fmla="*/ 550897 w 587787"/>
              <a:gd name="connsiteY76" fmla="*/ 491196 h 546457"/>
              <a:gd name="connsiteX77" fmla="*/ 550897 w 587787"/>
              <a:gd name="connsiteY77" fmla="*/ 87790 h 546457"/>
              <a:gd name="connsiteX78" fmla="*/ 532451 w 587787"/>
              <a:gd name="connsiteY78" fmla="*/ 69370 h 546457"/>
              <a:gd name="connsiteX79" fmla="*/ 497406 w 587787"/>
              <a:gd name="connsiteY79" fmla="*/ 69370 h 546457"/>
              <a:gd name="connsiteX80" fmla="*/ 497406 w 587787"/>
              <a:gd name="connsiteY80" fmla="*/ 33143 h 546457"/>
              <a:gd name="connsiteX81" fmla="*/ 532451 w 587787"/>
              <a:gd name="connsiteY81" fmla="*/ 33143 h 546457"/>
              <a:gd name="connsiteX82" fmla="*/ 587787 w 587787"/>
              <a:gd name="connsiteY82" fmla="*/ 87790 h 546457"/>
              <a:gd name="connsiteX83" fmla="*/ 587787 w 587787"/>
              <a:gd name="connsiteY83" fmla="*/ 491196 h 546457"/>
              <a:gd name="connsiteX84" fmla="*/ 532451 w 587787"/>
              <a:gd name="connsiteY84" fmla="*/ 546457 h 546457"/>
              <a:gd name="connsiteX85" fmla="*/ 55336 w 587787"/>
              <a:gd name="connsiteY85" fmla="*/ 546457 h 546457"/>
              <a:gd name="connsiteX86" fmla="*/ 0 w 587787"/>
              <a:gd name="connsiteY86" fmla="*/ 491196 h 546457"/>
              <a:gd name="connsiteX87" fmla="*/ 0 w 587787"/>
              <a:gd name="connsiteY87" fmla="*/ 87790 h 546457"/>
              <a:gd name="connsiteX88" fmla="*/ 55336 w 587787"/>
              <a:gd name="connsiteY88" fmla="*/ 33143 h 546457"/>
              <a:gd name="connsiteX89" fmla="*/ 448214 w 587787"/>
              <a:gd name="connsiteY89" fmla="*/ 0 h 546457"/>
              <a:gd name="connsiteX90" fmla="*/ 477707 w 587787"/>
              <a:gd name="connsiteY90" fmla="*/ 29466 h 546457"/>
              <a:gd name="connsiteX91" fmla="*/ 477707 w 587787"/>
              <a:gd name="connsiteY91" fmla="*/ 74893 h 546457"/>
              <a:gd name="connsiteX92" fmla="*/ 448214 w 587787"/>
              <a:gd name="connsiteY92" fmla="*/ 104359 h 546457"/>
              <a:gd name="connsiteX93" fmla="*/ 418721 w 587787"/>
              <a:gd name="connsiteY93" fmla="*/ 74893 h 546457"/>
              <a:gd name="connsiteX94" fmla="*/ 418721 w 587787"/>
              <a:gd name="connsiteY94" fmla="*/ 29466 h 546457"/>
              <a:gd name="connsiteX95" fmla="*/ 448214 w 587787"/>
              <a:gd name="connsiteY95" fmla="*/ 0 h 546457"/>
              <a:gd name="connsiteX96" fmla="*/ 344928 w 587787"/>
              <a:gd name="connsiteY96" fmla="*/ 0 h 546457"/>
              <a:gd name="connsiteX97" fmla="*/ 374432 w 587787"/>
              <a:gd name="connsiteY97" fmla="*/ 29466 h 546457"/>
              <a:gd name="connsiteX98" fmla="*/ 374432 w 587787"/>
              <a:gd name="connsiteY98" fmla="*/ 74893 h 546457"/>
              <a:gd name="connsiteX99" fmla="*/ 344928 w 587787"/>
              <a:gd name="connsiteY99" fmla="*/ 104359 h 546457"/>
              <a:gd name="connsiteX100" fmla="*/ 316038 w 587787"/>
              <a:gd name="connsiteY100" fmla="*/ 74893 h 546457"/>
              <a:gd name="connsiteX101" fmla="*/ 316038 w 587787"/>
              <a:gd name="connsiteY101" fmla="*/ 29466 h 546457"/>
              <a:gd name="connsiteX102" fmla="*/ 344928 w 587787"/>
              <a:gd name="connsiteY102" fmla="*/ 0 h 546457"/>
              <a:gd name="connsiteX103" fmla="*/ 242256 w 587787"/>
              <a:gd name="connsiteY103" fmla="*/ 0 h 546457"/>
              <a:gd name="connsiteX104" fmla="*/ 271749 w 587787"/>
              <a:gd name="connsiteY104" fmla="*/ 29466 h 546457"/>
              <a:gd name="connsiteX105" fmla="*/ 271749 w 587787"/>
              <a:gd name="connsiteY105" fmla="*/ 74893 h 546457"/>
              <a:gd name="connsiteX106" fmla="*/ 242256 w 587787"/>
              <a:gd name="connsiteY106" fmla="*/ 104359 h 546457"/>
              <a:gd name="connsiteX107" fmla="*/ 212763 w 587787"/>
              <a:gd name="connsiteY107" fmla="*/ 74893 h 546457"/>
              <a:gd name="connsiteX108" fmla="*/ 212763 w 587787"/>
              <a:gd name="connsiteY108" fmla="*/ 29466 h 546457"/>
              <a:gd name="connsiteX109" fmla="*/ 242256 w 587787"/>
              <a:gd name="connsiteY109" fmla="*/ 0 h 546457"/>
              <a:gd name="connsiteX110" fmla="*/ 139574 w 587787"/>
              <a:gd name="connsiteY110" fmla="*/ 0 h 546457"/>
              <a:gd name="connsiteX111" fmla="*/ 169067 w 587787"/>
              <a:gd name="connsiteY111" fmla="*/ 29466 h 546457"/>
              <a:gd name="connsiteX112" fmla="*/ 169067 w 587787"/>
              <a:gd name="connsiteY112" fmla="*/ 74893 h 546457"/>
              <a:gd name="connsiteX113" fmla="*/ 139574 w 587787"/>
              <a:gd name="connsiteY113" fmla="*/ 104359 h 546457"/>
              <a:gd name="connsiteX114" fmla="*/ 110081 w 587787"/>
              <a:gd name="connsiteY114" fmla="*/ 74893 h 546457"/>
              <a:gd name="connsiteX115" fmla="*/ 110081 w 587787"/>
              <a:gd name="connsiteY115" fmla="*/ 29466 h 546457"/>
              <a:gd name="connsiteX116" fmla="*/ 139574 w 587787"/>
              <a:gd name="connsiteY116" fmla="*/ 0 h 546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587787" h="546457">
                <a:moveTo>
                  <a:pt x="288320" y="197770"/>
                </a:moveTo>
                <a:cubicBezTo>
                  <a:pt x="341819" y="197770"/>
                  <a:pt x="385479" y="241945"/>
                  <a:pt x="385479" y="295323"/>
                </a:cubicBezTo>
                <a:lnTo>
                  <a:pt x="288320" y="295323"/>
                </a:lnTo>
                <a:close/>
                <a:moveTo>
                  <a:pt x="284633" y="167004"/>
                </a:moveTo>
                <a:cubicBezTo>
                  <a:pt x="264346" y="168846"/>
                  <a:pt x="244059" y="174372"/>
                  <a:pt x="227461" y="183582"/>
                </a:cubicBezTo>
                <a:lnTo>
                  <a:pt x="232994" y="194019"/>
                </a:lnTo>
                <a:lnTo>
                  <a:pt x="227461" y="197703"/>
                </a:lnTo>
                <a:lnTo>
                  <a:pt x="221929" y="187265"/>
                </a:lnTo>
                <a:cubicBezTo>
                  <a:pt x="204101" y="197703"/>
                  <a:pt x="191191" y="212438"/>
                  <a:pt x="180126" y="229015"/>
                </a:cubicBezTo>
                <a:lnTo>
                  <a:pt x="191191" y="234541"/>
                </a:lnTo>
                <a:lnTo>
                  <a:pt x="187503" y="240067"/>
                </a:lnTo>
                <a:lnTo>
                  <a:pt x="176438" y="234541"/>
                </a:lnTo>
                <a:cubicBezTo>
                  <a:pt x="167216" y="251118"/>
                  <a:pt x="161684" y="271379"/>
                  <a:pt x="159839" y="291640"/>
                </a:cubicBezTo>
                <a:lnTo>
                  <a:pt x="172749" y="291640"/>
                </a:lnTo>
                <a:lnTo>
                  <a:pt x="172749" y="299007"/>
                </a:lnTo>
                <a:lnTo>
                  <a:pt x="159839" y="299007"/>
                </a:lnTo>
                <a:cubicBezTo>
                  <a:pt x="161684" y="319268"/>
                  <a:pt x="167216" y="338915"/>
                  <a:pt x="176438" y="355492"/>
                </a:cubicBezTo>
                <a:lnTo>
                  <a:pt x="187503" y="349967"/>
                </a:lnTo>
                <a:lnTo>
                  <a:pt x="191191" y="355492"/>
                </a:lnTo>
                <a:lnTo>
                  <a:pt x="180126" y="361018"/>
                </a:lnTo>
                <a:cubicBezTo>
                  <a:pt x="191191" y="377595"/>
                  <a:pt x="205945" y="392330"/>
                  <a:pt x="221929" y="403382"/>
                </a:cubicBezTo>
                <a:lnTo>
                  <a:pt x="227461" y="392330"/>
                </a:lnTo>
                <a:lnTo>
                  <a:pt x="232994" y="396014"/>
                </a:lnTo>
                <a:lnTo>
                  <a:pt x="227461" y="407065"/>
                </a:lnTo>
                <a:cubicBezTo>
                  <a:pt x="244059" y="418117"/>
                  <a:pt x="264346" y="423643"/>
                  <a:pt x="284633" y="423643"/>
                </a:cubicBezTo>
                <a:lnTo>
                  <a:pt x="284633" y="410749"/>
                </a:lnTo>
                <a:lnTo>
                  <a:pt x="292009" y="410749"/>
                </a:lnTo>
                <a:lnTo>
                  <a:pt x="292009" y="423643"/>
                </a:lnTo>
                <a:cubicBezTo>
                  <a:pt x="312296" y="421801"/>
                  <a:pt x="332583" y="416275"/>
                  <a:pt x="348566" y="407065"/>
                </a:cubicBezTo>
                <a:lnTo>
                  <a:pt x="343648" y="396014"/>
                </a:lnTo>
                <a:lnTo>
                  <a:pt x="348566" y="392330"/>
                </a:lnTo>
                <a:lnTo>
                  <a:pt x="354099" y="403382"/>
                </a:lnTo>
                <a:cubicBezTo>
                  <a:pt x="370697" y="392330"/>
                  <a:pt x="385451" y="377595"/>
                  <a:pt x="396516" y="361018"/>
                </a:cubicBezTo>
                <a:lnTo>
                  <a:pt x="385451" y="355492"/>
                </a:lnTo>
                <a:lnTo>
                  <a:pt x="389139" y="349967"/>
                </a:lnTo>
                <a:lnTo>
                  <a:pt x="400204" y="355492"/>
                </a:lnTo>
                <a:cubicBezTo>
                  <a:pt x="411270" y="338915"/>
                  <a:pt x="416803" y="319268"/>
                  <a:pt x="416803" y="299007"/>
                </a:cubicBezTo>
                <a:lnTo>
                  <a:pt x="403893" y="299007"/>
                </a:lnTo>
                <a:lnTo>
                  <a:pt x="403893" y="291640"/>
                </a:lnTo>
                <a:lnTo>
                  <a:pt x="416803" y="291640"/>
                </a:lnTo>
                <a:cubicBezTo>
                  <a:pt x="414958" y="271379"/>
                  <a:pt x="409426" y="251118"/>
                  <a:pt x="400204" y="234541"/>
                </a:cubicBezTo>
                <a:lnTo>
                  <a:pt x="389139" y="240067"/>
                </a:lnTo>
                <a:lnTo>
                  <a:pt x="385451" y="234541"/>
                </a:lnTo>
                <a:lnTo>
                  <a:pt x="396516" y="229015"/>
                </a:lnTo>
                <a:cubicBezTo>
                  <a:pt x="385451" y="212438"/>
                  <a:pt x="370697" y="197703"/>
                  <a:pt x="354099" y="187265"/>
                </a:cubicBezTo>
                <a:lnTo>
                  <a:pt x="348566" y="197703"/>
                </a:lnTo>
                <a:lnTo>
                  <a:pt x="343033" y="194019"/>
                </a:lnTo>
                <a:lnTo>
                  <a:pt x="348566" y="183582"/>
                </a:lnTo>
                <a:cubicBezTo>
                  <a:pt x="332583" y="172530"/>
                  <a:pt x="312296" y="167004"/>
                  <a:pt x="292009" y="167004"/>
                </a:cubicBezTo>
                <a:lnTo>
                  <a:pt x="292009" y="179898"/>
                </a:lnTo>
                <a:lnTo>
                  <a:pt x="284633" y="179898"/>
                </a:lnTo>
                <a:close/>
                <a:moveTo>
                  <a:pt x="288321" y="139376"/>
                </a:moveTo>
                <a:cubicBezTo>
                  <a:pt x="374385" y="139376"/>
                  <a:pt x="444466" y="208754"/>
                  <a:pt x="444466" y="295323"/>
                </a:cubicBezTo>
                <a:cubicBezTo>
                  <a:pt x="444466" y="381279"/>
                  <a:pt x="374385" y="451271"/>
                  <a:pt x="288321" y="451271"/>
                </a:cubicBezTo>
                <a:cubicBezTo>
                  <a:pt x="202257" y="451271"/>
                  <a:pt x="132176" y="381279"/>
                  <a:pt x="132176" y="295323"/>
                </a:cubicBezTo>
                <a:cubicBezTo>
                  <a:pt x="132176" y="208754"/>
                  <a:pt x="202257" y="139376"/>
                  <a:pt x="288321" y="139376"/>
                </a:cubicBezTo>
                <a:close/>
                <a:moveTo>
                  <a:pt x="187512" y="33241"/>
                </a:moveTo>
                <a:lnTo>
                  <a:pt x="194910" y="33241"/>
                </a:lnTo>
                <a:lnTo>
                  <a:pt x="194910" y="69441"/>
                </a:lnTo>
                <a:lnTo>
                  <a:pt x="187512" y="69441"/>
                </a:lnTo>
                <a:close/>
                <a:moveTo>
                  <a:pt x="392877" y="33143"/>
                </a:moveTo>
                <a:lnTo>
                  <a:pt x="398401" y="33143"/>
                </a:lnTo>
                <a:lnTo>
                  <a:pt x="398401" y="69442"/>
                </a:lnTo>
                <a:lnTo>
                  <a:pt x="392877" y="69442"/>
                </a:lnTo>
                <a:close/>
                <a:moveTo>
                  <a:pt x="290195" y="33143"/>
                </a:moveTo>
                <a:lnTo>
                  <a:pt x="297593" y="33143"/>
                </a:lnTo>
                <a:lnTo>
                  <a:pt x="297593" y="69442"/>
                </a:lnTo>
                <a:lnTo>
                  <a:pt x="290195" y="69442"/>
                </a:lnTo>
                <a:close/>
                <a:moveTo>
                  <a:pt x="55336" y="33143"/>
                </a:moveTo>
                <a:lnTo>
                  <a:pt x="91611" y="33143"/>
                </a:lnTo>
                <a:lnTo>
                  <a:pt x="91611" y="69370"/>
                </a:lnTo>
                <a:lnTo>
                  <a:pt x="55336" y="69370"/>
                </a:lnTo>
                <a:cubicBezTo>
                  <a:pt x="44268" y="69370"/>
                  <a:pt x="36890" y="76738"/>
                  <a:pt x="36890" y="87790"/>
                </a:cubicBezTo>
                <a:lnTo>
                  <a:pt x="36890" y="491196"/>
                </a:lnTo>
                <a:cubicBezTo>
                  <a:pt x="36890" y="502248"/>
                  <a:pt x="44268" y="509616"/>
                  <a:pt x="55336" y="509616"/>
                </a:cubicBezTo>
                <a:lnTo>
                  <a:pt x="532451" y="509616"/>
                </a:lnTo>
                <a:cubicBezTo>
                  <a:pt x="543518" y="509616"/>
                  <a:pt x="550897" y="502248"/>
                  <a:pt x="550897" y="491196"/>
                </a:cubicBezTo>
                <a:lnTo>
                  <a:pt x="550897" y="87790"/>
                </a:lnTo>
                <a:cubicBezTo>
                  <a:pt x="550897" y="76738"/>
                  <a:pt x="543518" y="69370"/>
                  <a:pt x="532451" y="69370"/>
                </a:cubicBezTo>
                <a:lnTo>
                  <a:pt x="497406" y="69370"/>
                </a:lnTo>
                <a:lnTo>
                  <a:pt x="497406" y="33143"/>
                </a:lnTo>
                <a:lnTo>
                  <a:pt x="532451" y="33143"/>
                </a:lnTo>
                <a:cubicBezTo>
                  <a:pt x="561964" y="33143"/>
                  <a:pt x="587787" y="58317"/>
                  <a:pt x="587787" y="87790"/>
                </a:cubicBezTo>
                <a:lnTo>
                  <a:pt x="587787" y="491196"/>
                </a:lnTo>
                <a:cubicBezTo>
                  <a:pt x="587787" y="522511"/>
                  <a:pt x="563808" y="546457"/>
                  <a:pt x="532451" y="546457"/>
                </a:cubicBezTo>
                <a:lnTo>
                  <a:pt x="55336" y="546457"/>
                </a:lnTo>
                <a:cubicBezTo>
                  <a:pt x="23979" y="546457"/>
                  <a:pt x="0" y="522511"/>
                  <a:pt x="0" y="491196"/>
                </a:cubicBezTo>
                <a:lnTo>
                  <a:pt x="0" y="87790"/>
                </a:lnTo>
                <a:cubicBezTo>
                  <a:pt x="0" y="56475"/>
                  <a:pt x="23979" y="33143"/>
                  <a:pt x="55336" y="33143"/>
                </a:cubicBezTo>
                <a:close/>
                <a:moveTo>
                  <a:pt x="448214" y="0"/>
                </a:moveTo>
                <a:cubicBezTo>
                  <a:pt x="464804" y="0"/>
                  <a:pt x="477707" y="12891"/>
                  <a:pt x="477707" y="29466"/>
                </a:cubicBezTo>
                <a:lnTo>
                  <a:pt x="477707" y="74893"/>
                </a:lnTo>
                <a:cubicBezTo>
                  <a:pt x="477707" y="91468"/>
                  <a:pt x="464804" y="104359"/>
                  <a:pt x="448214" y="104359"/>
                </a:cubicBezTo>
                <a:cubicBezTo>
                  <a:pt x="431624" y="104359"/>
                  <a:pt x="418721" y="89626"/>
                  <a:pt x="418721" y="74893"/>
                </a:cubicBezTo>
                <a:lnTo>
                  <a:pt x="418721" y="29466"/>
                </a:lnTo>
                <a:cubicBezTo>
                  <a:pt x="418721" y="12891"/>
                  <a:pt x="431624" y="0"/>
                  <a:pt x="448214" y="0"/>
                </a:cubicBezTo>
                <a:close/>
                <a:moveTo>
                  <a:pt x="344928" y="0"/>
                </a:moveTo>
                <a:cubicBezTo>
                  <a:pt x="361524" y="0"/>
                  <a:pt x="374432" y="12891"/>
                  <a:pt x="374432" y="29466"/>
                </a:cubicBezTo>
                <a:lnTo>
                  <a:pt x="374432" y="74893"/>
                </a:lnTo>
                <a:cubicBezTo>
                  <a:pt x="374432" y="91468"/>
                  <a:pt x="361524" y="104359"/>
                  <a:pt x="344928" y="104359"/>
                </a:cubicBezTo>
                <a:cubicBezTo>
                  <a:pt x="328946" y="104359"/>
                  <a:pt x="316038" y="89626"/>
                  <a:pt x="316038" y="74893"/>
                </a:cubicBezTo>
                <a:lnTo>
                  <a:pt x="316038" y="29466"/>
                </a:lnTo>
                <a:cubicBezTo>
                  <a:pt x="316038" y="12891"/>
                  <a:pt x="328946" y="0"/>
                  <a:pt x="344928" y="0"/>
                </a:cubicBezTo>
                <a:close/>
                <a:moveTo>
                  <a:pt x="242256" y="0"/>
                </a:moveTo>
                <a:cubicBezTo>
                  <a:pt x="258846" y="0"/>
                  <a:pt x="271749" y="12891"/>
                  <a:pt x="271749" y="29466"/>
                </a:cubicBezTo>
                <a:lnTo>
                  <a:pt x="271749" y="74893"/>
                </a:lnTo>
                <a:cubicBezTo>
                  <a:pt x="271749" y="91468"/>
                  <a:pt x="258846" y="104359"/>
                  <a:pt x="242256" y="104359"/>
                </a:cubicBezTo>
                <a:cubicBezTo>
                  <a:pt x="225666" y="104359"/>
                  <a:pt x="212763" y="89626"/>
                  <a:pt x="212763" y="74893"/>
                </a:cubicBezTo>
                <a:lnTo>
                  <a:pt x="212763" y="29466"/>
                </a:lnTo>
                <a:cubicBezTo>
                  <a:pt x="212763" y="12891"/>
                  <a:pt x="225666" y="0"/>
                  <a:pt x="242256" y="0"/>
                </a:cubicBezTo>
                <a:close/>
                <a:moveTo>
                  <a:pt x="139574" y="0"/>
                </a:moveTo>
                <a:cubicBezTo>
                  <a:pt x="156164" y="0"/>
                  <a:pt x="169067" y="12891"/>
                  <a:pt x="169067" y="29466"/>
                </a:cubicBezTo>
                <a:lnTo>
                  <a:pt x="169067" y="74893"/>
                </a:lnTo>
                <a:cubicBezTo>
                  <a:pt x="169067" y="91468"/>
                  <a:pt x="156164" y="104359"/>
                  <a:pt x="139574" y="104359"/>
                </a:cubicBezTo>
                <a:cubicBezTo>
                  <a:pt x="122984" y="104359"/>
                  <a:pt x="110081" y="89626"/>
                  <a:pt x="110081" y="74893"/>
                </a:cubicBezTo>
                <a:lnTo>
                  <a:pt x="110081" y="29466"/>
                </a:lnTo>
                <a:cubicBezTo>
                  <a:pt x="110081" y="12891"/>
                  <a:pt x="122984" y="0"/>
                  <a:pt x="13957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57" name="熊大的PPT宝库32"/>
          <p:cNvSpPr/>
          <p:nvPr/>
        </p:nvSpPr>
        <p:spPr>
          <a:xfrm>
            <a:off x="492852" y="3005258"/>
            <a:ext cx="541685" cy="540804"/>
          </a:xfrm>
          <a:custGeom>
            <a:avLst/>
            <a:gdLst>
              <a:gd name="connsiteX0" fmla="*/ 393223 w 607427"/>
              <a:gd name="connsiteY0" fmla="*/ 313115 h 606439"/>
              <a:gd name="connsiteX1" fmla="*/ 381709 w 607427"/>
              <a:gd name="connsiteY1" fmla="*/ 348533 h 606439"/>
              <a:gd name="connsiteX2" fmla="*/ 357010 w 607427"/>
              <a:gd name="connsiteY2" fmla="*/ 376255 h 606439"/>
              <a:gd name="connsiteX3" fmla="*/ 416714 w 607427"/>
              <a:gd name="connsiteY3" fmla="*/ 467396 h 606439"/>
              <a:gd name="connsiteX4" fmla="*/ 475304 w 607427"/>
              <a:gd name="connsiteY4" fmla="*/ 403236 h 606439"/>
              <a:gd name="connsiteX5" fmla="*/ 501210 w 607427"/>
              <a:gd name="connsiteY5" fmla="*/ 319698 h 606439"/>
              <a:gd name="connsiteX6" fmla="*/ 214283 w 607427"/>
              <a:gd name="connsiteY6" fmla="*/ 313115 h 606439"/>
              <a:gd name="connsiteX7" fmla="*/ 106307 w 607427"/>
              <a:gd name="connsiteY7" fmla="*/ 319698 h 606439"/>
              <a:gd name="connsiteX8" fmla="*/ 132117 w 607427"/>
              <a:gd name="connsiteY8" fmla="*/ 403236 h 606439"/>
              <a:gd name="connsiteX9" fmla="*/ 190701 w 607427"/>
              <a:gd name="connsiteY9" fmla="*/ 467396 h 606439"/>
              <a:gd name="connsiteX10" fmla="*/ 250399 w 607427"/>
              <a:gd name="connsiteY10" fmla="*/ 376255 h 606439"/>
              <a:gd name="connsiteX11" fmla="*/ 225703 w 607427"/>
              <a:gd name="connsiteY11" fmla="*/ 348533 h 606439"/>
              <a:gd name="connsiteX12" fmla="*/ 214283 w 607427"/>
              <a:gd name="connsiteY12" fmla="*/ 313115 h 606439"/>
              <a:gd name="connsiteX13" fmla="*/ 303714 w 607427"/>
              <a:gd name="connsiteY13" fmla="*/ 289761 h 606439"/>
              <a:gd name="connsiteX14" fmla="*/ 290526 w 607427"/>
              <a:gd name="connsiteY14" fmla="*/ 303209 h 606439"/>
              <a:gd name="connsiteX15" fmla="*/ 303714 w 607427"/>
              <a:gd name="connsiteY15" fmla="*/ 316657 h 606439"/>
              <a:gd name="connsiteX16" fmla="*/ 316902 w 607427"/>
              <a:gd name="connsiteY16" fmla="*/ 303209 h 606439"/>
              <a:gd name="connsiteX17" fmla="*/ 303714 w 607427"/>
              <a:gd name="connsiteY17" fmla="*/ 289761 h 606439"/>
              <a:gd name="connsiteX18" fmla="*/ 381152 w 607427"/>
              <a:gd name="connsiteY18" fmla="*/ 285949 h 606439"/>
              <a:gd name="connsiteX19" fmla="*/ 515788 w 607427"/>
              <a:gd name="connsiteY19" fmla="*/ 294108 h 606439"/>
              <a:gd name="connsiteX20" fmla="*/ 528230 w 607427"/>
              <a:gd name="connsiteY20" fmla="*/ 307552 h 606439"/>
              <a:gd name="connsiteX21" fmla="*/ 498239 w 607427"/>
              <a:gd name="connsiteY21" fmla="*/ 416309 h 606439"/>
              <a:gd name="connsiteX22" fmla="*/ 419778 w 607427"/>
              <a:gd name="connsiteY22" fmla="*/ 496973 h 606439"/>
              <a:gd name="connsiteX23" fmla="*/ 412907 w 607427"/>
              <a:gd name="connsiteY23" fmla="*/ 498827 h 606439"/>
              <a:gd name="connsiteX24" fmla="*/ 401858 w 607427"/>
              <a:gd name="connsiteY24" fmla="*/ 492893 h 606439"/>
              <a:gd name="connsiteX25" fmla="*/ 327483 w 607427"/>
              <a:gd name="connsiteY25" fmla="*/ 379315 h 606439"/>
              <a:gd name="connsiteX26" fmla="*/ 325812 w 607427"/>
              <a:gd name="connsiteY26" fmla="*/ 368745 h 606439"/>
              <a:gd name="connsiteX27" fmla="*/ 332497 w 607427"/>
              <a:gd name="connsiteY27" fmla="*/ 360401 h 606439"/>
              <a:gd name="connsiteX28" fmla="*/ 358774 w 607427"/>
              <a:gd name="connsiteY28" fmla="*/ 335460 h 606439"/>
              <a:gd name="connsiteX29" fmla="*/ 367131 w 607427"/>
              <a:gd name="connsiteY29" fmla="*/ 299856 h 606439"/>
              <a:gd name="connsiteX30" fmla="*/ 371031 w 607427"/>
              <a:gd name="connsiteY30" fmla="*/ 289843 h 606439"/>
              <a:gd name="connsiteX31" fmla="*/ 381152 w 607427"/>
              <a:gd name="connsiteY31" fmla="*/ 285949 h 606439"/>
              <a:gd name="connsiteX32" fmla="*/ 226260 w 607427"/>
              <a:gd name="connsiteY32" fmla="*/ 285949 h 606439"/>
              <a:gd name="connsiteX33" fmla="*/ 236379 w 607427"/>
              <a:gd name="connsiteY33" fmla="*/ 289843 h 606439"/>
              <a:gd name="connsiteX34" fmla="*/ 240279 w 607427"/>
              <a:gd name="connsiteY34" fmla="*/ 299856 h 606439"/>
              <a:gd name="connsiteX35" fmla="*/ 248635 w 607427"/>
              <a:gd name="connsiteY35" fmla="*/ 335460 h 606439"/>
              <a:gd name="connsiteX36" fmla="*/ 274909 w 607427"/>
              <a:gd name="connsiteY36" fmla="*/ 360401 h 606439"/>
              <a:gd name="connsiteX37" fmla="*/ 281594 w 607427"/>
              <a:gd name="connsiteY37" fmla="*/ 368745 h 606439"/>
              <a:gd name="connsiteX38" fmla="*/ 279923 w 607427"/>
              <a:gd name="connsiteY38" fmla="*/ 379315 h 606439"/>
              <a:gd name="connsiteX39" fmla="*/ 205556 w 607427"/>
              <a:gd name="connsiteY39" fmla="*/ 492893 h 606439"/>
              <a:gd name="connsiteX40" fmla="*/ 194507 w 607427"/>
              <a:gd name="connsiteY40" fmla="*/ 498827 h 606439"/>
              <a:gd name="connsiteX41" fmla="*/ 187730 w 607427"/>
              <a:gd name="connsiteY41" fmla="*/ 496973 h 606439"/>
              <a:gd name="connsiteX42" fmla="*/ 109185 w 607427"/>
              <a:gd name="connsiteY42" fmla="*/ 416309 h 606439"/>
              <a:gd name="connsiteX43" fmla="*/ 79290 w 607427"/>
              <a:gd name="connsiteY43" fmla="*/ 307552 h 606439"/>
              <a:gd name="connsiteX44" fmla="*/ 91638 w 607427"/>
              <a:gd name="connsiteY44" fmla="*/ 294108 h 606439"/>
              <a:gd name="connsiteX45" fmla="*/ 303714 w 607427"/>
              <a:gd name="connsiteY45" fmla="*/ 263421 h 606439"/>
              <a:gd name="connsiteX46" fmla="*/ 343372 w 607427"/>
              <a:gd name="connsiteY46" fmla="*/ 303209 h 606439"/>
              <a:gd name="connsiteX47" fmla="*/ 303714 w 607427"/>
              <a:gd name="connsiteY47" fmla="*/ 343089 h 606439"/>
              <a:gd name="connsiteX48" fmla="*/ 264056 w 607427"/>
              <a:gd name="connsiteY48" fmla="*/ 303209 h 606439"/>
              <a:gd name="connsiteX49" fmla="*/ 303714 w 607427"/>
              <a:gd name="connsiteY49" fmla="*/ 263421 h 606439"/>
              <a:gd name="connsiteX50" fmla="*/ 303748 w 607427"/>
              <a:gd name="connsiteY50" fmla="*/ 103694 h 606439"/>
              <a:gd name="connsiteX51" fmla="*/ 219231 w 607427"/>
              <a:gd name="connsiteY51" fmla="*/ 122466 h 606439"/>
              <a:gd name="connsiteX52" fmla="*/ 267692 w 607427"/>
              <a:gd name="connsiteY52" fmla="*/ 220264 h 606439"/>
              <a:gd name="connsiteX53" fmla="*/ 303713 w 607427"/>
              <a:gd name="connsiteY53" fmla="*/ 212570 h 606439"/>
              <a:gd name="connsiteX54" fmla="*/ 339734 w 607427"/>
              <a:gd name="connsiteY54" fmla="*/ 220264 h 606439"/>
              <a:gd name="connsiteX55" fmla="*/ 388195 w 607427"/>
              <a:gd name="connsiteY55" fmla="*/ 122466 h 606439"/>
              <a:gd name="connsiteX56" fmla="*/ 303748 w 607427"/>
              <a:gd name="connsiteY56" fmla="*/ 103694 h 606439"/>
              <a:gd name="connsiteX57" fmla="*/ 303748 w 607427"/>
              <a:gd name="connsiteY57" fmla="*/ 77484 h 606439"/>
              <a:gd name="connsiteX58" fmla="*/ 412240 w 607427"/>
              <a:gd name="connsiteY58" fmla="*/ 105224 h 606439"/>
              <a:gd name="connsiteX59" fmla="*/ 417717 w 607427"/>
              <a:gd name="connsiteY59" fmla="*/ 122559 h 606439"/>
              <a:gd name="connsiteX60" fmla="*/ 357373 w 607427"/>
              <a:gd name="connsiteY60" fmla="*/ 244181 h 606439"/>
              <a:gd name="connsiteX61" fmla="*/ 349018 w 607427"/>
              <a:gd name="connsiteY61" fmla="*/ 251040 h 606439"/>
              <a:gd name="connsiteX62" fmla="*/ 345490 w 607427"/>
              <a:gd name="connsiteY62" fmla="*/ 251504 h 606439"/>
              <a:gd name="connsiteX63" fmla="*/ 338249 w 607427"/>
              <a:gd name="connsiteY63" fmla="*/ 249372 h 606439"/>
              <a:gd name="connsiteX64" fmla="*/ 269178 w 607427"/>
              <a:gd name="connsiteY64" fmla="*/ 249372 h 606439"/>
              <a:gd name="connsiteX65" fmla="*/ 258501 w 607427"/>
              <a:gd name="connsiteY65" fmla="*/ 251040 h 606439"/>
              <a:gd name="connsiteX66" fmla="*/ 250146 w 607427"/>
              <a:gd name="connsiteY66" fmla="*/ 244181 h 606439"/>
              <a:gd name="connsiteX67" fmla="*/ 189802 w 607427"/>
              <a:gd name="connsiteY67" fmla="*/ 122559 h 606439"/>
              <a:gd name="connsiteX68" fmla="*/ 195186 w 607427"/>
              <a:gd name="connsiteY68" fmla="*/ 105224 h 606439"/>
              <a:gd name="connsiteX69" fmla="*/ 303748 w 607427"/>
              <a:gd name="connsiteY69" fmla="*/ 77484 h 606439"/>
              <a:gd name="connsiteX70" fmla="*/ 303714 w 607427"/>
              <a:gd name="connsiteY70" fmla="*/ 26327 h 606439"/>
              <a:gd name="connsiteX71" fmla="*/ 26369 w 607427"/>
              <a:gd name="connsiteY71" fmla="*/ 303219 h 606439"/>
              <a:gd name="connsiteX72" fmla="*/ 303714 w 607427"/>
              <a:gd name="connsiteY72" fmla="*/ 580112 h 606439"/>
              <a:gd name="connsiteX73" fmla="*/ 581058 w 607427"/>
              <a:gd name="connsiteY73" fmla="*/ 303219 h 606439"/>
              <a:gd name="connsiteX74" fmla="*/ 303714 w 607427"/>
              <a:gd name="connsiteY74" fmla="*/ 26327 h 606439"/>
              <a:gd name="connsiteX75" fmla="*/ 303714 w 607427"/>
              <a:gd name="connsiteY75" fmla="*/ 0 h 606439"/>
              <a:gd name="connsiteX76" fmla="*/ 607427 w 607427"/>
              <a:gd name="connsiteY76" fmla="*/ 303219 h 606439"/>
              <a:gd name="connsiteX77" fmla="*/ 303714 w 607427"/>
              <a:gd name="connsiteY77" fmla="*/ 606439 h 606439"/>
              <a:gd name="connsiteX78" fmla="*/ 0 w 607427"/>
              <a:gd name="connsiteY78" fmla="*/ 303219 h 606439"/>
              <a:gd name="connsiteX79" fmla="*/ 303714 w 607427"/>
              <a:gd name="connsiteY79" fmla="*/ 0 h 606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607427" h="606439">
                <a:moveTo>
                  <a:pt x="393223" y="313115"/>
                </a:moveTo>
                <a:cubicBezTo>
                  <a:pt x="391830" y="325632"/>
                  <a:pt x="388023" y="337592"/>
                  <a:pt x="381709" y="348533"/>
                </a:cubicBezTo>
                <a:cubicBezTo>
                  <a:pt x="375488" y="359381"/>
                  <a:pt x="367038" y="368838"/>
                  <a:pt x="357010" y="376255"/>
                </a:cubicBezTo>
                <a:lnTo>
                  <a:pt x="416714" y="467396"/>
                </a:lnTo>
                <a:cubicBezTo>
                  <a:pt x="440577" y="450707"/>
                  <a:pt x="460726" y="428733"/>
                  <a:pt x="475304" y="403236"/>
                </a:cubicBezTo>
                <a:cubicBezTo>
                  <a:pt x="489975" y="377646"/>
                  <a:pt x="498796" y="348996"/>
                  <a:pt x="501210" y="319698"/>
                </a:cubicBezTo>
                <a:close/>
                <a:moveTo>
                  <a:pt x="214283" y="313115"/>
                </a:moveTo>
                <a:lnTo>
                  <a:pt x="106307" y="319698"/>
                </a:lnTo>
                <a:cubicBezTo>
                  <a:pt x="108628" y="348996"/>
                  <a:pt x="117448" y="377646"/>
                  <a:pt x="132117" y="403236"/>
                </a:cubicBezTo>
                <a:cubicBezTo>
                  <a:pt x="146693" y="428733"/>
                  <a:pt x="166840" y="450707"/>
                  <a:pt x="190701" y="467396"/>
                </a:cubicBezTo>
                <a:lnTo>
                  <a:pt x="250399" y="376255"/>
                </a:lnTo>
                <a:cubicBezTo>
                  <a:pt x="240372" y="368838"/>
                  <a:pt x="231923" y="359381"/>
                  <a:pt x="225703" y="348533"/>
                </a:cubicBezTo>
                <a:cubicBezTo>
                  <a:pt x="219482" y="337592"/>
                  <a:pt x="215583" y="325632"/>
                  <a:pt x="214283" y="313115"/>
                </a:cubicBezTo>
                <a:close/>
                <a:moveTo>
                  <a:pt x="303714" y="289761"/>
                </a:moveTo>
                <a:cubicBezTo>
                  <a:pt x="296470" y="289761"/>
                  <a:pt x="290526" y="295789"/>
                  <a:pt x="290526" y="303209"/>
                </a:cubicBezTo>
                <a:cubicBezTo>
                  <a:pt x="290526" y="310628"/>
                  <a:pt x="296470" y="316657"/>
                  <a:pt x="303714" y="316657"/>
                </a:cubicBezTo>
                <a:cubicBezTo>
                  <a:pt x="311051" y="316657"/>
                  <a:pt x="316902" y="310628"/>
                  <a:pt x="316902" y="303209"/>
                </a:cubicBezTo>
                <a:cubicBezTo>
                  <a:pt x="316902" y="295789"/>
                  <a:pt x="311051" y="289761"/>
                  <a:pt x="303714" y="289761"/>
                </a:cubicBezTo>
                <a:close/>
                <a:moveTo>
                  <a:pt x="381152" y="285949"/>
                </a:moveTo>
                <a:lnTo>
                  <a:pt x="515788" y="294108"/>
                </a:lnTo>
                <a:cubicBezTo>
                  <a:pt x="522845" y="294572"/>
                  <a:pt x="528323" y="300505"/>
                  <a:pt x="528230" y="307552"/>
                </a:cubicBezTo>
                <a:cubicBezTo>
                  <a:pt x="527487" y="345659"/>
                  <a:pt x="517088" y="383209"/>
                  <a:pt x="498239" y="416309"/>
                </a:cubicBezTo>
                <a:cubicBezTo>
                  <a:pt x="479297" y="449409"/>
                  <a:pt x="452091" y="477224"/>
                  <a:pt x="419778" y="496973"/>
                </a:cubicBezTo>
                <a:cubicBezTo>
                  <a:pt x="417643" y="498271"/>
                  <a:pt x="415229" y="498827"/>
                  <a:pt x="412907" y="498827"/>
                </a:cubicBezTo>
                <a:cubicBezTo>
                  <a:pt x="408543" y="498827"/>
                  <a:pt x="404365" y="496787"/>
                  <a:pt x="401858" y="492893"/>
                </a:cubicBezTo>
                <a:lnTo>
                  <a:pt x="327483" y="379315"/>
                </a:lnTo>
                <a:cubicBezTo>
                  <a:pt x="325440" y="376255"/>
                  <a:pt x="324883" y="372361"/>
                  <a:pt x="325812" y="368745"/>
                </a:cubicBezTo>
                <a:cubicBezTo>
                  <a:pt x="326740" y="365222"/>
                  <a:pt x="329247" y="362162"/>
                  <a:pt x="332497" y="360401"/>
                </a:cubicBezTo>
                <a:cubicBezTo>
                  <a:pt x="343639" y="354745"/>
                  <a:pt x="352646" y="346122"/>
                  <a:pt x="358774" y="335460"/>
                </a:cubicBezTo>
                <a:cubicBezTo>
                  <a:pt x="364903" y="324705"/>
                  <a:pt x="367874" y="312373"/>
                  <a:pt x="367131" y="299856"/>
                </a:cubicBezTo>
                <a:cubicBezTo>
                  <a:pt x="366945" y="296148"/>
                  <a:pt x="368338" y="292439"/>
                  <a:pt x="371031" y="289843"/>
                </a:cubicBezTo>
                <a:cubicBezTo>
                  <a:pt x="373724" y="287154"/>
                  <a:pt x="377438" y="285578"/>
                  <a:pt x="381152" y="285949"/>
                </a:cubicBezTo>
                <a:close/>
                <a:moveTo>
                  <a:pt x="226260" y="285949"/>
                </a:moveTo>
                <a:cubicBezTo>
                  <a:pt x="229973" y="285578"/>
                  <a:pt x="233687" y="287154"/>
                  <a:pt x="236379" y="289843"/>
                </a:cubicBezTo>
                <a:cubicBezTo>
                  <a:pt x="239072" y="292439"/>
                  <a:pt x="240465" y="296148"/>
                  <a:pt x="240279" y="299856"/>
                </a:cubicBezTo>
                <a:cubicBezTo>
                  <a:pt x="239629" y="312373"/>
                  <a:pt x="242507" y="324705"/>
                  <a:pt x="248635" y="335460"/>
                </a:cubicBezTo>
                <a:cubicBezTo>
                  <a:pt x="254669" y="346122"/>
                  <a:pt x="263768" y="354745"/>
                  <a:pt x="274909" y="360401"/>
                </a:cubicBezTo>
                <a:cubicBezTo>
                  <a:pt x="278251" y="362162"/>
                  <a:pt x="280665" y="365222"/>
                  <a:pt x="281594" y="368745"/>
                </a:cubicBezTo>
                <a:cubicBezTo>
                  <a:pt x="282615" y="372361"/>
                  <a:pt x="281965" y="376255"/>
                  <a:pt x="279923" y="379315"/>
                </a:cubicBezTo>
                <a:lnTo>
                  <a:pt x="205556" y="492893"/>
                </a:lnTo>
                <a:cubicBezTo>
                  <a:pt x="203049" y="496787"/>
                  <a:pt x="198871" y="498827"/>
                  <a:pt x="194507" y="498827"/>
                </a:cubicBezTo>
                <a:cubicBezTo>
                  <a:pt x="192186" y="498827"/>
                  <a:pt x="189865" y="498271"/>
                  <a:pt x="187730" y="496973"/>
                </a:cubicBezTo>
                <a:cubicBezTo>
                  <a:pt x="155328" y="477224"/>
                  <a:pt x="128125" y="449409"/>
                  <a:pt x="109185" y="416309"/>
                </a:cubicBezTo>
                <a:cubicBezTo>
                  <a:pt x="90338" y="383209"/>
                  <a:pt x="79940" y="345566"/>
                  <a:pt x="79290" y="307552"/>
                </a:cubicBezTo>
                <a:cubicBezTo>
                  <a:pt x="79104" y="300505"/>
                  <a:pt x="84582" y="294572"/>
                  <a:pt x="91638" y="294108"/>
                </a:cubicBezTo>
                <a:close/>
                <a:moveTo>
                  <a:pt x="303714" y="263421"/>
                </a:moveTo>
                <a:cubicBezTo>
                  <a:pt x="325540" y="263421"/>
                  <a:pt x="343372" y="281228"/>
                  <a:pt x="343372" y="303209"/>
                </a:cubicBezTo>
                <a:cubicBezTo>
                  <a:pt x="343372" y="325189"/>
                  <a:pt x="325540" y="343089"/>
                  <a:pt x="303714" y="343089"/>
                </a:cubicBezTo>
                <a:cubicBezTo>
                  <a:pt x="281888" y="343089"/>
                  <a:pt x="264056" y="325189"/>
                  <a:pt x="264056" y="303209"/>
                </a:cubicBezTo>
                <a:cubicBezTo>
                  <a:pt x="264056" y="281228"/>
                  <a:pt x="281888" y="263421"/>
                  <a:pt x="303714" y="263421"/>
                </a:cubicBezTo>
                <a:close/>
                <a:moveTo>
                  <a:pt x="303748" y="103694"/>
                </a:moveTo>
                <a:cubicBezTo>
                  <a:pt x="274655" y="103694"/>
                  <a:pt x="245550" y="109952"/>
                  <a:pt x="219231" y="122466"/>
                </a:cubicBezTo>
                <a:lnTo>
                  <a:pt x="267692" y="220264"/>
                </a:lnTo>
                <a:cubicBezTo>
                  <a:pt x="279018" y="215166"/>
                  <a:pt x="291273" y="212570"/>
                  <a:pt x="303713" y="212570"/>
                </a:cubicBezTo>
                <a:cubicBezTo>
                  <a:pt x="316153" y="212570"/>
                  <a:pt x="328408" y="215258"/>
                  <a:pt x="339734" y="220264"/>
                </a:cubicBezTo>
                <a:lnTo>
                  <a:pt x="388195" y="122466"/>
                </a:lnTo>
                <a:cubicBezTo>
                  <a:pt x="361922" y="109952"/>
                  <a:pt x="332841" y="103694"/>
                  <a:pt x="303748" y="103694"/>
                </a:cubicBezTo>
                <a:close/>
                <a:moveTo>
                  <a:pt x="303748" y="77484"/>
                </a:moveTo>
                <a:cubicBezTo>
                  <a:pt x="341475" y="77484"/>
                  <a:pt x="379190" y="86731"/>
                  <a:pt x="412240" y="105224"/>
                </a:cubicBezTo>
                <a:cubicBezTo>
                  <a:pt x="418367" y="108654"/>
                  <a:pt x="420781" y="116255"/>
                  <a:pt x="417717" y="122559"/>
                </a:cubicBezTo>
                <a:lnTo>
                  <a:pt x="357373" y="244181"/>
                </a:lnTo>
                <a:cubicBezTo>
                  <a:pt x="355702" y="247610"/>
                  <a:pt x="352638" y="250113"/>
                  <a:pt x="349018" y="251040"/>
                </a:cubicBezTo>
                <a:cubicBezTo>
                  <a:pt x="347811" y="251411"/>
                  <a:pt x="346697" y="251504"/>
                  <a:pt x="345490" y="251504"/>
                </a:cubicBezTo>
                <a:cubicBezTo>
                  <a:pt x="342983" y="251504"/>
                  <a:pt x="340477" y="250762"/>
                  <a:pt x="338249" y="249372"/>
                </a:cubicBezTo>
                <a:cubicBezTo>
                  <a:pt x="317546" y="235745"/>
                  <a:pt x="289973" y="235745"/>
                  <a:pt x="269178" y="249372"/>
                </a:cubicBezTo>
                <a:cubicBezTo>
                  <a:pt x="266021" y="251411"/>
                  <a:pt x="262122" y="252060"/>
                  <a:pt x="258501" y="251040"/>
                </a:cubicBezTo>
                <a:cubicBezTo>
                  <a:pt x="254881" y="250113"/>
                  <a:pt x="251817" y="247610"/>
                  <a:pt x="250146" y="244181"/>
                </a:cubicBezTo>
                <a:lnTo>
                  <a:pt x="189802" y="122559"/>
                </a:lnTo>
                <a:cubicBezTo>
                  <a:pt x="186645" y="116255"/>
                  <a:pt x="189059" y="108654"/>
                  <a:pt x="195186" y="105224"/>
                </a:cubicBezTo>
                <a:cubicBezTo>
                  <a:pt x="228283" y="86731"/>
                  <a:pt x="266021" y="77484"/>
                  <a:pt x="303748" y="77484"/>
                </a:cubicBezTo>
                <a:close/>
                <a:moveTo>
                  <a:pt x="303714" y="26327"/>
                </a:moveTo>
                <a:cubicBezTo>
                  <a:pt x="150789" y="26327"/>
                  <a:pt x="26369" y="150544"/>
                  <a:pt x="26369" y="303219"/>
                </a:cubicBezTo>
                <a:cubicBezTo>
                  <a:pt x="26369" y="455895"/>
                  <a:pt x="150789" y="580112"/>
                  <a:pt x="303714" y="580112"/>
                </a:cubicBezTo>
                <a:cubicBezTo>
                  <a:pt x="456638" y="580112"/>
                  <a:pt x="581058" y="455895"/>
                  <a:pt x="581058" y="303219"/>
                </a:cubicBezTo>
                <a:cubicBezTo>
                  <a:pt x="581058" y="150544"/>
                  <a:pt x="456638" y="26327"/>
                  <a:pt x="303714" y="26327"/>
                </a:cubicBezTo>
                <a:close/>
                <a:moveTo>
                  <a:pt x="303714" y="0"/>
                </a:moveTo>
                <a:cubicBezTo>
                  <a:pt x="471216" y="0"/>
                  <a:pt x="607427" y="135990"/>
                  <a:pt x="607427" y="303219"/>
                </a:cubicBezTo>
                <a:cubicBezTo>
                  <a:pt x="607427" y="470449"/>
                  <a:pt x="471216" y="606439"/>
                  <a:pt x="303714" y="606439"/>
                </a:cubicBezTo>
                <a:cubicBezTo>
                  <a:pt x="136212" y="606439"/>
                  <a:pt x="0" y="470449"/>
                  <a:pt x="0" y="303219"/>
                </a:cubicBezTo>
                <a:cubicBezTo>
                  <a:pt x="0" y="135990"/>
                  <a:pt x="136212" y="0"/>
                  <a:pt x="30371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58" name="熊大的PPT宝库33"/>
          <p:cNvSpPr/>
          <p:nvPr/>
        </p:nvSpPr>
        <p:spPr>
          <a:xfrm>
            <a:off x="493940" y="4316148"/>
            <a:ext cx="541685" cy="458943"/>
          </a:xfrm>
          <a:custGeom>
            <a:avLst/>
            <a:gdLst>
              <a:gd name="connsiteX0" fmla="*/ 214342 w 608415"/>
              <a:gd name="connsiteY0" fmla="*/ 447949 h 515480"/>
              <a:gd name="connsiteX1" fmla="*/ 592785 w 608415"/>
              <a:gd name="connsiteY1" fmla="*/ 447949 h 515480"/>
              <a:gd name="connsiteX2" fmla="*/ 608415 w 608415"/>
              <a:gd name="connsiteY2" fmla="*/ 463544 h 515480"/>
              <a:gd name="connsiteX3" fmla="*/ 592785 w 608415"/>
              <a:gd name="connsiteY3" fmla="*/ 479139 h 515480"/>
              <a:gd name="connsiteX4" fmla="*/ 214342 w 608415"/>
              <a:gd name="connsiteY4" fmla="*/ 479139 h 515480"/>
              <a:gd name="connsiteX5" fmla="*/ 198712 w 608415"/>
              <a:gd name="connsiteY5" fmla="*/ 463544 h 515480"/>
              <a:gd name="connsiteX6" fmla="*/ 214342 w 608415"/>
              <a:gd name="connsiteY6" fmla="*/ 447949 h 515480"/>
              <a:gd name="connsiteX7" fmla="*/ 214342 w 608415"/>
              <a:gd name="connsiteY7" fmla="*/ 398906 h 515480"/>
              <a:gd name="connsiteX8" fmla="*/ 592785 w 608415"/>
              <a:gd name="connsiteY8" fmla="*/ 398906 h 515480"/>
              <a:gd name="connsiteX9" fmla="*/ 608415 w 608415"/>
              <a:gd name="connsiteY9" fmla="*/ 414501 h 515480"/>
              <a:gd name="connsiteX10" fmla="*/ 592785 w 608415"/>
              <a:gd name="connsiteY10" fmla="*/ 430096 h 515480"/>
              <a:gd name="connsiteX11" fmla="*/ 214342 w 608415"/>
              <a:gd name="connsiteY11" fmla="*/ 430096 h 515480"/>
              <a:gd name="connsiteX12" fmla="*/ 198712 w 608415"/>
              <a:gd name="connsiteY12" fmla="*/ 414501 h 515480"/>
              <a:gd name="connsiteX13" fmla="*/ 214342 w 608415"/>
              <a:gd name="connsiteY13" fmla="*/ 398906 h 515480"/>
              <a:gd name="connsiteX14" fmla="*/ 31261 w 608415"/>
              <a:gd name="connsiteY14" fmla="*/ 398369 h 515480"/>
              <a:gd name="connsiteX15" fmla="*/ 31261 w 608415"/>
              <a:gd name="connsiteY15" fmla="*/ 484264 h 515480"/>
              <a:gd name="connsiteX16" fmla="*/ 117279 w 608415"/>
              <a:gd name="connsiteY16" fmla="*/ 484264 h 515480"/>
              <a:gd name="connsiteX17" fmla="*/ 117279 w 608415"/>
              <a:gd name="connsiteY17" fmla="*/ 398369 h 515480"/>
              <a:gd name="connsiteX18" fmla="*/ 15630 w 608415"/>
              <a:gd name="connsiteY18" fmla="*/ 367152 h 515480"/>
              <a:gd name="connsiteX19" fmla="*/ 132910 w 608415"/>
              <a:gd name="connsiteY19" fmla="*/ 367152 h 515480"/>
              <a:gd name="connsiteX20" fmla="*/ 148540 w 608415"/>
              <a:gd name="connsiteY20" fmla="*/ 382760 h 515480"/>
              <a:gd name="connsiteX21" fmla="*/ 148540 w 608415"/>
              <a:gd name="connsiteY21" fmla="*/ 499872 h 515480"/>
              <a:gd name="connsiteX22" fmla="*/ 132910 w 608415"/>
              <a:gd name="connsiteY22" fmla="*/ 515480 h 515480"/>
              <a:gd name="connsiteX23" fmla="*/ 15630 w 608415"/>
              <a:gd name="connsiteY23" fmla="*/ 515480 h 515480"/>
              <a:gd name="connsiteX24" fmla="*/ 0 w 608415"/>
              <a:gd name="connsiteY24" fmla="*/ 499872 h 515480"/>
              <a:gd name="connsiteX25" fmla="*/ 0 w 608415"/>
              <a:gd name="connsiteY25" fmla="*/ 382760 h 515480"/>
              <a:gd name="connsiteX26" fmla="*/ 15630 w 608415"/>
              <a:gd name="connsiteY26" fmla="*/ 367152 h 515480"/>
              <a:gd name="connsiteX27" fmla="*/ 214342 w 608415"/>
              <a:gd name="connsiteY27" fmla="*/ 264408 h 515480"/>
              <a:gd name="connsiteX28" fmla="*/ 592785 w 608415"/>
              <a:gd name="connsiteY28" fmla="*/ 264408 h 515480"/>
              <a:gd name="connsiteX29" fmla="*/ 608415 w 608415"/>
              <a:gd name="connsiteY29" fmla="*/ 280003 h 515480"/>
              <a:gd name="connsiteX30" fmla="*/ 592785 w 608415"/>
              <a:gd name="connsiteY30" fmla="*/ 295598 h 515480"/>
              <a:gd name="connsiteX31" fmla="*/ 214342 w 608415"/>
              <a:gd name="connsiteY31" fmla="*/ 295598 h 515480"/>
              <a:gd name="connsiteX32" fmla="*/ 198712 w 608415"/>
              <a:gd name="connsiteY32" fmla="*/ 280003 h 515480"/>
              <a:gd name="connsiteX33" fmla="*/ 214342 w 608415"/>
              <a:gd name="connsiteY33" fmla="*/ 264408 h 515480"/>
              <a:gd name="connsiteX34" fmla="*/ 214342 w 608415"/>
              <a:gd name="connsiteY34" fmla="*/ 215224 h 515480"/>
              <a:gd name="connsiteX35" fmla="*/ 592785 w 608415"/>
              <a:gd name="connsiteY35" fmla="*/ 215224 h 515480"/>
              <a:gd name="connsiteX36" fmla="*/ 608415 w 608415"/>
              <a:gd name="connsiteY36" fmla="*/ 230940 h 515480"/>
              <a:gd name="connsiteX37" fmla="*/ 592785 w 608415"/>
              <a:gd name="connsiteY37" fmla="*/ 246555 h 515480"/>
              <a:gd name="connsiteX38" fmla="*/ 214342 w 608415"/>
              <a:gd name="connsiteY38" fmla="*/ 246555 h 515480"/>
              <a:gd name="connsiteX39" fmla="*/ 198712 w 608415"/>
              <a:gd name="connsiteY39" fmla="*/ 230940 h 515480"/>
              <a:gd name="connsiteX40" fmla="*/ 214342 w 608415"/>
              <a:gd name="connsiteY40" fmla="*/ 215224 h 515480"/>
              <a:gd name="connsiteX41" fmla="*/ 31250 w 608415"/>
              <a:gd name="connsiteY41" fmla="*/ 214852 h 515480"/>
              <a:gd name="connsiteX42" fmla="*/ 31250 w 608415"/>
              <a:gd name="connsiteY42" fmla="*/ 300730 h 515480"/>
              <a:gd name="connsiteX43" fmla="*/ 117240 w 608415"/>
              <a:gd name="connsiteY43" fmla="*/ 300730 h 515480"/>
              <a:gd name="connsiteX44" fmla="*/ 117240 w 608415"/>
              <a:gd name="connsiteY44" fmla="*/ 273346 h 515480"/>
              <a:gd name="connsiteX45" fmla="*/ 74295 w 608415"/>
              <a:gd name="connsiteY45" fmla="*/ 273346 h 515480"/>
              <a:gd name="connsiteX46" fmla="*/ 58670 w 608415"/>
              <a:gd name="connsiteY46" fmla="*/ 257741 h 515480"/>
              <a:gd name="connsiteX47" fmla="*/ 74295 w 608415"/>
              <a:gd name="connsiteY47" fmla="*/ 242136 h 515480"/>
              <a:gd name="connsiteX48" fmla="*/ 117240 w 608415"/>
              <a:gd name="connsiteY48" fmla="*/ 242136 h 515480"/>
              <a:gd name="connsiteX49" fmla="*/ 117240 w 608415"/>
              <a:gd name="connsiteY49" fmla="*/ 214852 h 515480"/>
              <a:gd name="connsiteX50" fmla="*/ 15625 w 608415"/>
              <a:gd name="connsiteY50" fmla="*/ 183541 h 515480"/>
              <a:gd name="connsiteX51" fmla="*/ 132865 w 608415"/>
              <a:gd name="connsiteY51" fmla="*/ 183541 h 515480"/>
              <a:gd name="connsiteX52" fmla="*/ 148490 w 608415"/>
              <a:gd name="connsiteY52" fmla="*/ 199146 h 515480"/>
              <a:gd name="connsiteX53" fmla="*/ 148490 w 608415"/>
              <a:gd name="connsiteY53" fmla="*/ 242136 h 515480"/>
              <a:gd name="connsiteX54" fmla="*/ 164317 w 608415"/>
              <a:gd name="connsiteY54" fmla="*/ 242136 h 515480"/>
              <a:gd name="connsiteX55" fmla="*/ 179942 w 608415"/>
              <a:gd name="connsiteY55" fmla="*/ 257741 h 515480"/>
              <a:gd name="connsiteX56" fmla="*/ 164317 w 608415"/>
              <a:gd name="connsiteY56" fmla="*/ 273346 h 515480"/>
              <a:gd name="connsiteX57" fmla="*/ 148490 w 608415"/>
              <a:gd name="connsiteY57" fmla="*/ 273346 h 515480"/>
              <a:gd name="connsiteX58" fmla="*/ 148490 w 608415"/>
              <a:gd name="connsiteY58" fmla="*/ 316335 h 515480"/>
              <a:gd name="connsiteX59" fmla="*/ 132865 w 608415"/>
              <a:gd name="connsiteY59" fmla="*/ 331940 h 515480"/>
              <a:gd name="connsiteX60" fmla="*/ 15625 w 608415"/>
              <a:gd name="connsiteY60" fmla="*/ 331940 h 515480"/>
              <a:gd name="connsiteX61" fmla="*/ 0 w 608415"/>
              <a:gd name="connsiteY61" fmla="*/ 316335 h 515480"/>
              <a:gd name="connsiteX62" fmla="*/ 0 w 608415"/>
              <a:gd name="connsiteY62" fmla="*/ 199146 h 515480"/>
              <a:gd name="connsiteX63" fmla="*/ 15625 w 608415"/>
              <a:gd name="connsiteY63" fmla="*/ 183541 h 515480"/>
              <a:gd name="connsiteX64" fmla="*/ 214342 w 608415"/>
              <a:gd name="connsiteY64" fmla="*/ 80727 h 515480"/>
              <a:gd name="connsiteX65" fmla="*/ 592785 w 608415"/>
              <a:gd name="connsiteY65" fmla="*/ 80727 h 515480"/>
              <a:gd name="connsiteX66" fmla="*/ 608415 w 608415"/>
              <a:gd name="connsiteY66" fmla="*/ 96357 h 515480"/>
              <a:gd name="connsiteX67" fmla="*/ 592785 w 608415"/>
              <a:gd name="connsiteY67" fmla="*/ 111987 h 515480"/>
              <a:gd name="connsiteX68" fmla="*/ 214342 w 608415"/>
              <a:gd name="connsiteY68" fmla="*/ 111987 h 515480"/>
              <a:gd name="connsiteX69" fmla="*/ 198712 w 608415"/>
              <a:gd name="connsiteY69" fmla="*/ 96357 h 515480"/>
              <a:gd name="connsiteX70" fmla="*/ 214342 w 608415"/>
              <a:gd name="connsiteY70" fmla="*/ 80727 h 515480"/>
              <a:gd name="connsiteX71" fmla="*/ 214342 w 608415"/>
              <a:gd name="connsiteY71" fmla="*/ 31684 h 515480"/>
              <a:gd name="connsiteX72" fmla="*/ 592785 w 608415"/>
              <a:gd name="connsiteY72" fmla="*/ 31684 h 515480"/>
              <a:gd name="connsiteX73" fmla="*/ 608415 w 608415"/>
              <a:gd name="connsiteY73" fmla="*/ 47314 h 515480"/>
              <a:gd name="connsiteX74" fmla="*/ 592785 w 608415"/>
              <a:gd name="connsiteY74" fmla="*/ 62944 h 515480"/>
              <a:gd name="connsiteX75" fmla="*/ 214342 w 608415"/>
              <a:gd name="connsiteY75" fmla="*/ 62944 h 515480"/>
              <a:gd name="connsiteX76" fmla="*/ 198712 w 608415"/>
              <a:gd name="connsiteY76" fmla="*/ 47314 h 515480"/>
              <a:gd name="connsiteX77" fmla="*/ 214342 w 608415"/>
              <a:gd name="connsiteY77" fmla="*/ 31684 h 515480"/>
              <a:gd name="connsiteX78" fmla="*/ 31250 w 608415"/>
              <a:gd name="connsiteY78" fmla="*/ 31216 h 515480"/>
              <a:gd name="connsiteX79" fmla="*/ 31250 w 608415"/>
              <a:gd name="connsiteY79" fmla="*/ 117111 h 515480"/>
              <a:gd name="connsiteX80" fmla="*/ 117240 w 608415"/>
              <a:gd name="connsiteY80" fmla="*/ 117111 h 515480"/>
              <a:gd name="connsiteX81" fmla="*/ 117240 w 608415"/>
              <a:gd name="connsiteY81" fmla="*/ 89822 h 515480"/>
              <a:gd name="connsiteX82" fmla="*/ 74295 w 608415"/>
              <a:gd name="connsiteY82" fmla="*/ 89822 h 515480"/>
              <a:gd name="connsiteX83" fmla="*/ 58670 w 608415"/>
              <a:gd name="connsiteY83" fmla="*/ 74113 h 515480"/>
              <a:gd name="connsiteX84" fmla="*/ 74295 w 608415"/>
              <a:gd name="connsiteY84" fmla="*/ 58505 h 515480"/>
              <a:gd name="connsiteX85" fmla="*/ 117240 w 608415"/>
              <a:gd name="connsiteY85" fmla="*/ 58505 h 515480"/>
              <a:gd name="connsiteX86" fmla="*/ 117240 w 608415"/>
              <a:gd name="connsiteY86" fmla="*/ 31216 h 515480"/>
              <a:gd name="connsiteX87" fmla="*/ 15625 w 608415"/>
              <a:gd name="connsiteY87" fmla="*/ 0 h 515480"/>
              <a:gd name="connsiteX88" fmla="*/ 132865 w 608415"/>
              <a:gd name="connsiteY88" fmla="*/ 0 h 515480"/>
              <a:gd name="connsiteX89" fmla="*/ 148490 w 608415"/>
              <a:gd name="connsiteY89" fmla="*/ 15608 h 515480"/>
              <a:gd name="connsiteX90" fmla="*/ 148490 w 608415"/>
              <a:gd name="connsiteY90" fmla="*/ 58505 h 515480"/>
              <a:gd name="connsiteX91" fmla="*/ 164317 w 608415"/>
              <a:gd name="connsiteY91" fmla="*/ 58505 h 515480"/>
              <a:gd name="connsiteX92" fmla="*/ 179942 w 608415"/>
              <a:gd name="connsiteY92" fmla="*/ 74113 h 515480"/>
              <a:gd name="connsiteX93" fmla="*/ 164317 w 608415"/>
              <a:gd name="connsiteY93" fmla="*/ 89722 h 515480"/>
              <a:gd name="connsiteX94" fmla="*/ 148490 w 608415"/>
              <a:gd name="connsiteY94" fmla="*/ 89722 h 515480"/>
              <a:gd name="connsiteX95" fmla="*/ 148490 w 608415"/>
              <a:gd name="connsiteY95" fmla="*/ 132720 h 515480"/>
              <a:gd name="connsiteX96" fmla="*/ 132865 w 608415"/>
              <a:gd name="connsiteY96" fmla="*/ 148328 h 515480"/>
              <a:gd name="connsiteX97" fmla="*/ 15625 w 608415"/>
              <a:gd name="connsiteY97" fmla="*/ 148328 h 515480"/>
              <a:gd name="connsiteX98" fmla="*/ 0 w 608415"/>
              <a:gd name="connsiteY98" fmla="*/ 132720 h 515480"/>
              <a:gd name="connsiteX99" fmla="*/ 0 w 608415"/>
              <a:gd name="connsiteY99" fmla="*/ 15608 h 515480"/>
              <a:gd name="connsiteX100" fmla="*/ 15625 w 608415"/>
              <a:gd name="connsiteY100" fmla="*/ 0 h 515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608415" h="515480">
                <a:moveTo>
                  <a:pt x="214342" y="447949"/>
                </a:moveTo>
                <a:lnTo>
                  <a:pt x="592785" y="447949"/>
                </a:lnTo>
                <a:cubicBezTo>
                  <a:pt x="601457" y="447949"/>
                  <a:pt x="608415" y="454992"/>
                  <a:pt x="608415" y="463544"/>
                </a:cubicBezTo>
                <a:cubicBezTo>
                  <a:pt x="608415" y="472197"/>
                  <a:pt x="601457" y="479139"/>
                  <a:pt x="592785" y="479139"/>
                </a:cubicBezTo>
                <a:lnTo>
                  <a:pt x="214342" y="479139"/>
                </a:lnTo>
                <a:cubicBezTo>
                  <a:pt x="205771" y="479139"/>
                  <a:pt x="198712" y="472197"/>
                  <a:pt x="198712" y="463544"/>
                </a:cubicBezTo>
                <a:cubicBezTo>
                  <a:pt x="198712" y="454992"/>
                  <a:pt x="205771" y="447949"/>
                  <a:pt x="214342" y="447949"/>
                </a:cubicBezTo>
                <a:close/>
                <a:moveTo>
                  <a:pt x="214342" y="398906"/>
                </a:moveTo>
                <a:lnTo>
                  <a:pt x="592785" y="398906"/>
                </a:lnTo>
                <a:cubicBezTo>
                  <a:pt x="601457" y="398906"/>
                  <a:pt x="608415" y="405949"/>
                  <a:pt x="608415" y="414501"/>
                </a:cubicBezTo>
                <a:cubicBezTo>
                  <a:pt x="608415" y="423154"/>
                  <a:pt x="601457" y="430096"/>
                  <a:pt x="592785" y="430096"/>
                </a:cubicBezTo>
                <a:lnTo>
                  <a:pt x="214342" y="430096"/>
                </a:lnTo>
                <a:cubicBezTo>
                  <a:pt x="205771" y="430096"/>
                  <a:pt x="198712" y="423154"/>
                  <a:pt x="198712" y="414501"/>
                </a:cubicBezTo>
                <a:cubicBezTo>
                  <a:pt x="198712" y="405949"/>
                  <a:pt x="205771" y="398906"/>
                  <a:pt x="214342" y="398906"/>
                </a:cubicBezTo>
                <a:close/>
                <a:moveTo>
                  <a:pt x="31261" y="398369"/>
                </a:moveTo>
                <a:lnTo>
                  <a:pt x="31261" y="484264"/>
                </a:lnTo>
                <a:lnTo>
                  <a:pt x="117279" y="484264"/>
                </a:lnTo>
                <a:lnTo>
                  <a:pt x="117279" y="398369"/>
                </a:lnTo>
                <a:close/>
                <a:moveTo>
                  <a:pt x="15630" y="367152"/>
                </a:moveTo>
                <a:lnTo>
                  <a:pt x="132910" y="367152"/>
                </a:lnTo>
                <a:cubicBezTo>
                  <a:pt x="141582" y="367152"/>
                  <a:pt x="148540" y="374100"/>
                  <a:pt x="148540" y="382760"/>
                </a:cubicBezTo>
                <a:lnTo>
                  <a:pt x="148540" y="499872"/>
                </a:lnTo>
                <a:cubicBezTo>
                  <a:pt x="148540" y="508532"/>
                  <a:pt x="141582" y="515480"/>
                  <a:pt x="132910" y="515480"/>
                </a:cubicBezTo>
                <a:lnTo>
                  <a:pt x="15630" y="515480"/>
                </a:lnTo>
                <a:cubicBezTo>
                  <a:pt x="6958" y="515480"/>
                  <a:pt x="0" y="508532"/>
                  <a:pt x="0" y="499872"/>
                </a:cubicBezTo>
                <a:lnTo>
                  <a:pt x="0" y="382760"/>
                </a:lnTo>
                <a:cubicBezTo>
                  <a:pt x="0" y="374100"/>
                  <a:pt x="6958" y="367152"/>
                  <a:pt x="15630" y="367152"/>
                </a:cubicBezTo>
                <a:close/>
                <a:moveTo>
                  <a:pt x="214342" y="264408"/>
                </a:moveTo>
                <a:lnTo>
                  <a:pt x="592785" y="264408"/>
                </a:lnTo>
                <a:cubicBezTo>
                  <a:pt x="601457" y="264408"/>
                  <a:pt x="608415" y="271351"/>
                  <a:pt x="608415" y="280003"/>
                </a:cubicBezTo>
                <a:cubicBezTo>
                  <a:pt x="608415" y="288656"/>
                  <a:pt x="601457" y="295598"/>
                  <a:pt x="592785" y="295598"/>
                </a:cubicBezTo>
                <a:lnTo>
                  <a:pt x="214342" y="295598"/>
                </a:lnTo>
                <a:cubicBezTo>
                  <a:pt x="205771" y="295598"/>
                  <a:pt x="198712" y="288656"/>
                  <a:pt x="198712" y="280003"/>
                </a:cubicBezTo>
                <a:cubicBezTo>
                  <a:pt x="198712" y="271351"/>
                  <a:pt x="205771" y="264408"/>
                  <a:pt x="214342" y="264408"/>
                </a:cubicBezTo>
                <a:close/>
                <a:moveTo>
                  <a:pt x="214342" y="215224"/>
                </a:moveTo>
                <a:lnTo>
                  <a:pt x="592785" y="215224"/>
                </a:lnTo>
                <a:cubicBezTo>
                  <a:pt x="601457" y="215224"/>
                  <a:pt x="608415" y="222276"/>
                  <a:pt x="608415" y="230940"/>
                </a:cubicBezTo>
                <a:cubicBezTo>
                  <a:pt x="608415" y="239503"/>
                  <a:pt x="601457" y="246555"/>
                  <a:pt x="592785" y="246555"/>
                </a:cubicBezTo>
                <a:lnTo>
                  <a:pt x="214342" y="246555"/>
                </a:lnTo>
                <a:cubicBezTo>
                  <a:pt x="205771" y="246555"/>
                  <a:pt x="198712" y="239503"/>
                  <a:pt x="198712" y="230940"/>
                </a:cubicBezTo>
                <a:cubicBezTo>
                  <a:pt x="198712" y="222276"/>
                  <a:pt x="205771" y="215224"/>
                  <a:pt x="214342" y="215224"/>
                </a:cubicBezTo>
                <a:close/>
                <a:moveTo>
                  <a:pt x="31250" y="214852"/>
                </a:moveTo>
                <a:lnTo>
                  <a:pt x="31250" y="300730"/>
                </a:lnTo>
                <a:lnTo>
                  <a:pt x="117240" y="300730"/>
                </a:lnTo>
                <a:lnTo>
                  <a:pt x="117240" y="273346"/>
                </a:lnTo>
                <a:lnTo>
                  <a:pt x="74295" y="273346"/>
                </a:lnTo>
                <a:cubicBezTo>
                  <a:pt x="65626" y="273346"/>
                  <a:pt x="58670" y="266399"/>
                  <a:pt x="58670" y="257741"/>
                </a:cubicBezTo>
                <a:cubicBezTo>
                  <a:pt x="58670" y="249082"/>
                  <a:pt x="65626" y="242136"/>
                  <a:pt x="74295" y="242136"/>
                </a:cubicBezTo>
                <a:lnTo>
                  <a:pt x="117240" y="242136"/>
                </a:lnTo>
                <a:lnTo>
                  <a:pt x="117240" y="214852"/>
                </a:lnTo>
                <a:close/>
                <a:moveTo>
                  <a:pt x="15625" y="183541"/>
                </a:moveTo>
                <a:lnTo>
                  <a:pt x="132865" y="183541"/>
                </a:lnTo>
                <a:cubicBezTo>
                  <a:pt x="141534" y="183541"/>
                  <a:pt x="148490" y="190589"/>
                  <a:pt x="148490" y="199146"/>
                </a:cubicBezTo>
                <a:lnTo>
                  <a:pt x="148490" y="242136"/>
                </a:lnTo>
                <a:lnTo>
                  <a:pt x="164317" y="242136"/>
                </a:lnTo>
                <a:cubicBezTo>
                  <a:pt x="172986" y="242136"/>
                  <a:pt x="179942" y="249082"/>
                  <a:pt x="179942" y="257741"/>
                </a:cubicBezTo>
                <a:cubicBezTo>
                  <a:pt x="179942" y="266399"/>
                  <a:pt x="172986" y="273346"/>
                  <a:pt x="164317" y="273346"/>
                </a:cubicBezTo>
                <a:lnTo>
                  <a:pt x="148490" y="273346"/>
                </a:lnTo>
                <a:lnTo>
                  <a:pt x="148490" y="316335"/>
                </a:lnTo>
                <a:cubicBezTo>
                  <a:pt x="148490" y="324893"/>
                  <a:pt x="141534" y="331940"/>
                  <a:pt x="132865" y="331940"/>
                </a:cubicBezTo>
                <a:lnTo>
                  <a:pt x="15625" y="331940"/>
                </a:lnTo>
                <a:cubicBezTo>
                  <a:pt x="6956" y="331940"/>
                  <a:pt x="0" y="324893"/>
                  <a:pt x="0" y="316335"/>
                </a:cubicBezTo>
                <a:lnTo>
                  <a:pt x="0" y="199146"/>
                </a:lnTo>
                <a:cubicBezTo>
                  <a:pt x="0" y="190589"/>
                  <a:pt x="6956" y="183541"/>
                  <a:pt x="15625" y="183541"/>
                </a:cubicBezTo>
                <a:close/>
                <a:moveTo>
                  <a:pt x="214342" y="80727"/>
                </a:moveTo>
                <a:lnTo>
                  <a:pt x="592785" y="80727"/>
                </a:lnTo>
                <a:cubicBezTo>
                  <a:pt x="601457" y="80727"/>
                  <a:pt x="608415" y="87785"/>
                  <a:pt x="608415" y="96357"/>
                </a:cubicBezTo>
                <a:cubicBezTo>
                  <a:pt x="608415" y="105029"/>
                  <a:pt x="601457" y="111987"/>
                  <a:pt x="592785" y="111987"/>
                </a:cubicBezTo>
                <a:lnTo>
                  <a:pt x="214342" y="111987"/>
                </a:lnTo>
                <a:cubicBezTo>
                  <a:pt x="205771" y="111987"/>
                  <a:pt x="198712" y="105029"/>
                  <a:pt x="198712" y="96357"/>
                </a:cubicBezTo>
                <a:cubicBezTo>
                  <a:pt x="198712" y="87785"/>
                  <a:pt x="205771" y="80727"/>
                  <a:pt x="214342" y="80727"/>
                </a:cubicBezTo>
                <a:close/>
                <a:moveTo>
                  <a:pt x="214342" y="31684"/>
                </a:moveTo>
                <a:lnTo>
                  <a:pt x="592785" y="31684"/>
                </a:lnTo>
                <a:cubicBezTo>
                  <a:pt x="601457" y="31684"/>
                  <a:pt x="608415" y="38642"/>
                  <a:pt x="608415" y="47314"/>
                </a:cubicBezTo>
                <a:cubicBezTo>
                  <a:pt x="608415" y="55986"/>
                  <a:pt x="601457" y="62944"/>
                  <a:pt x="592785" y="62944"/>
                </a:cubicBezTo>
                <a:lnTo>
                  <a:pt x="214342" y="62944"/>
                </a:lnTo>
                <a:cubicBezTo>
                  <a:pt x="205771" y="62944"/>
                  <a:pt x="198712" y="55986"/>
                  <a:pt x="198712" y="47314"/>
                </a:cubicBezTo>
                <a:cubicBezTo>
                  <a:pt x="198712" y="38642"/>
                  <a:pt x="205771" y="31684"/>
                  <a:pt x="214342" y="31684"/>
                </a:cubicBezTo>
                <a:close/>
                <a:moveTo>
                  <a:pt x="31250" y="31216"/>
                </a:moveTo>
                <a:lnTo>
                  <a:pt x="31250" y="117111"/>
                </a:lnTo>
                <a:lnTo>
                  <a:pt x="117240" y="117111"/>
                </a:lnTo>
                <a:lnTo>
                  <a:pt x="117240" y="89822"/>
                </a:lnTo>
                <a:lnTo>
                  <a:pt x="74295" y="89822"/>
                </a:lnTo>
                <a:cubicBezTo>
                  <a:pt x="65626" y="89822"/>
                  <a:pt x="58670" y="82773"/>
                  <a:pt x="58670" y="74113"/>
                </a:cubicBezTo>
                <a:cubicBezTo>
                  <a:pt x="58670" y="65554"/>
                  <a:pt x="65626" y="58505"/>
                  <a:pt x="74295" y="58505"/>
                </a:cubicBezTo>
                <a:lnTo>
                  <a:pt x="117240" y="58505"/>
                </a:lnTo>
                <a:lnTo>
                  <a:pt x="117240" y="31216"/>
                </a:lnTo>
                <a:close/>
                <a:moveTo>
                  <a:pt x="15625" y="0"/>
                </a:moveTo>
                <a:lnTo>
                  <a:pt x="132865" y="0"/>
                </a:lnTo>
                <a:cubicBezTo>
                  <a:pt x="141534" y="0"/>
                  <a:pt x="148490" y="6948"/>
                  <a:pt x="148490" y="15608"/>
                </a:cubicBezTo>
                <a:lnTo>
                  <a:pt x="148490" y="58505"/>
                </a:lnTo>
                <a:lnTo>
                  <a:pt x="164317" y="58505"/>
                </a:lnTo>
                <a:cubicBezTo>
                  <a:pt x="172986" y="58505"/>
                  <a:pt x="179942" y="65554"/>
                  <a:pt x="179942" y="74113"/>
                </a:cubicBezTo>
                <a:cubicBezTo>
                  <a:pt x="179942" y="82773"/>
                  <a:pt x="172986" y="89722"/>
                  <a:pt x="164317" y="89722"/>
                </a:cubicBezTo>
                <a:lnTo>
                  <a:pt x="148490" y="89722"/>
                </a:lnTo>
                <a:lnTo>
                  <a:pt x="148490" y="132720"/>
                </a:lnTo>
                <a:cubicBezTo>
                  <a:pt x="148490" y="141380"/>
                  <a:pt x="141534" y="148328"/>
                  <a:pt x="132865" y="148328"/>
                </a:cubicBezTo>
                <a:lnTo>
                  <a:pt x="15625" y="148328"/>
                </a:lnTo>
                <a:cubicBezTo>
                  <a:pt x="6956" y="148328"/>
                  <a:pt x="0" y="141380"/>
                  <a:pt x="0" y="132720"/>
                </a:cubicBezTo>
                <a:lnTo>
                  <a:pt x="0" y="15608"/>
                </a:lnTo>
                <a:cubicBezTo>
                  <a:pt x="0" y="6948"/>
                  <a:pt x="6956" y="0"/>
                  <a:pt x="1562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59" name="熊大的PPT宝库34"/>
          <p:cNvSpPr/>
          <p:nvPr/>
        </p:nvSpPr>
        <p:spPr>
          <a:xfrm>
            <a:off x="493940" y="5676680"/>
            <a:ext cx="541685" cy="416976"/>
          </a:xfrm>
          <a:custGeom>
            <a:avLst/>
            <a:gdLst>
              <a:gd name="connsiteX0" fmla="*/ 316521 w 606580"/>
              <a:gd name="connsiteY0" fmla="*/ 374650 h 466931"/>
              <a:gd name="connsiteX1" fmla="*/ 316521 w 606580"/>
              <a:gd name="connsiteY1" fmla="*/ 440592 h 466931"/>
              <a:gd name="connsiteX2" fmla="*/ 476592 w 606580"/>
              <a:gd name="connsiteY2" fmla="*/ 440592 h 466931"/>
              <a:gd name="connsiteX3" fmla="*/ 476592 w 606580"/>
              <a:gd name="connsiteY3" fmla="*/ 374650 h 466931"/>
              <a:gd name="connsiteX4" fmla="*/ 130081 w 606580"/>
              <a:gd name="connsiteY4" fmla="*/ 374650 h 466931"/>
              <a:gd name="connsiteX5" fmla="*/ 130081 w 606580"/>
              <a:gd name="connsiteY5" fmla="*/ 440592 h 466931"/>
              <a:gd name="connsiteX6" fmla="*/ 290152 w 606580"/>
              <a:gd name="connsiteY6" fmla="*/ 440592 h 466931"/>
              <a:gd name="connsiteX7" fmla="*/ 290152 w 606580"/>
              <a:gd name="connsiteY7" fmla="*/ 374650 h 466931"/>
              <a:gd name="connsiteX8" fmla="*/ 0 w 606580"/>
              <a:gd name="connsiteY8" fmla="*/ 348311 h 466931"/>
              <a:gd name="connsiteX9" fmla="*/ 606580 w 606580"/>
              <a:gd name="connsiteY9" fmla="*/ 348311 h 466931"/>
              <a:gd name="connsiteX10" fmla="*/ 606580 w 606580"/>
              <a:gd name="connsiteY10" fmla="*/ 374650 h 466931"/>
              <a:gd name="connsiteX11" fmla="*/ 502961 w 606580"/>
              <a:gd name="connsiteY11" fmla="*/ 374650 h 466931"/>
              <a:gd name="connsiteX12" fmla="*/ 502961 w 606580"/>
              <a:gd name="connsiteY12" fmla="*/ 440592 h 466931"/>
              <a:gd name="connsiteX13" fmla="*/ 606580 w 606580"/>
              <a:gd name="connsiteY13" fmla="*/ 440592 h 466931"/>
              <a:gd name="connsiteX14" fmla="*/ 606580 w 606580"/>
              <a:gd name="connsiteY14" fmla="*/ 466931 h 466931"/>
              <a:gd name="connsiteX15" fmla="*/ 0 w 606580"/>
              <a:gd name="connsiteY15" fmla="*/ 466931 h 466931"/>
              <a:gd name="connsiteX16" fmla="*/ 0 w 606580"/>
              <a:gd name="connsiteY16" fmla="*/ 440592 h 466931"/>
              <a:gd name="connsiteX17" fmla="*/ 103712 w 606580"/>
              <a:gd name="connsiteY17" fmla="*/ 440592 h 466931"/>
              <a:gd name="connsiteX18" fmla="*/ 103712 w 606580"/>
              <a:gd name="connsiteY18" fmla="*/ 374650 h 466931"/>
              <a:gd name="connsiteX19" fmla="*/ 0 w 606580"/>
              <a:gd name="connsiteY19" fmla="*/ 374650 h 466931"/>
              <a:gd name="connsiteX20" fmla="*/ 353088 w 606580"/>
              <a:gd name="connsiteY20" fmla="*/ 26325 h 466931"/>
              <a:gd name="connsiteX21" fmla="*/ 353088 w 606580"/>
              <a:gd name="connsiteY21" fmla="*/ 293195 h 466931"/>
              <a:gd name="connsiteX22" fmla="*/ 535825 w 606580"/>
              <a:gd name="connsiteY22" fmla="*/ 293195 h 466931"/>
              <a:gd name="connsiteX23" fmla="*/ 535825 w 606580"/>
              <a:gd name="connsiteY23" fmla="*/ 26325 h 466931"/>
              <a:gd name="connsiteX24" fmla="*/ 70826 w 606580"/>
              <a:gd name="connsiteY24" fmla="*/ 26325 h 466931"/>
              <a:gd name="connsiteX25" fmla="*/ 70826 w 606580"/>
              <a:gd name="connsiteY25" fmla="*/ 293195 h 466931"/>
              <a:gd name="connsiteX26" fmla="*/ 253563 w 606580"/>
              <a:gd name="connsiteY26" fmla="*/ 293195 h 466931"/>
              <a:gd name="connsiteX27" fmla="*/ 253563 w 606580"/>
              <a:gd name="connsiteY27" fmla="*/ 26325 h 466931"/>
              <a:gd name="connsiteX28" fmla="*/ 326718 w 606580"/>
              <a:gd name="connsiteY28" fmla="*/ 0 h 466931"/>
              <a:gd name="connsiteX29" fmla="*/ 562195 w 606580"/>
              <a:gd name="connsiteY29" fmla="*/ 0 h 466931"/>
              <a:gd name="connsiteX30" fmla="*/ 562195 w 606580"/>
              <a:gd name="connsiteY30" fmla="*/ 319520 h 466931"/>
              <a:gd name="connsiteX31" fmla="*/ 326718 w 606580"/>
              <a:gd name="connsiteY31" fmla="*/ 319520 h 466931"/>
              <a:gd name="connsiteX32" fmla="*/ 44456 w 606580"/>
              <a:gd name="connsiteY32" fmla="*/ 0 h 466931"/>
              <a:gd name="connsiteX33" fmla="*/ 279933 w 606580"/>
              <a:gd name="connsiteY33" fmla="*/ 0 h 466931"/>
              <a:gd name="connsiteX34" fmla="*/ 279933 w 606580"/>
              <a:gd name="connsiteY34" fmla="*/ 319520 h 466931"/>
              <a:gd name="connsiteX35" fmla="*/ 44456 w 606580"/>
              <a:gd name="connsiteY35" fmla="*/ 319520 h 466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6580" h="466931">
                <a:moveTo>
                  <a:pt x="316521" y="374650"/>
                </a:moveTo>
                <a:lnTo>
                  <a:pt x="316521" y="440592"/>
                </a:lnTo>
                <a:lnTo>
                  <a:pt x="476592" y="440592"/>
                </a:lnTo>
                <a:lnTo>
                  <a:pt x="476592" y="374650"/>
                </a:lnTo>
                <a:close/>
                <a:moveTo>
                  <a:pt x="130081" y="374650"/>
                </a:moveTo>
                <a:lnTo>
                  <a:pt x="130081" y="440592"/>
                </a:lnTo>
                <a:lnTo>
                  <a:pt x="290152" y="440592"/>
                </a:lnTo>
                <a:lnTo>
                  <a:pt x="290152" y="374650"/>
                </a:lnTo>
                <a:close/>
                <a:moveTo>
                  <a:pt x="0" y="348311"/>
                </a:moveTo>
                <a:lnTo>
                  <a:pt x="606580" y="348311"/>
                </a:lnTo>
                <a:lnTo>
                  <a:pt x="606580" y="374650"/>
                </a:lnTo>
                <a:lnTo>
                  <a:pt x="502961" y="374650"/>
                </a:lnTo>
                <a:lnTo>
                  <a:pt x="502961" y="440592"/>
                </a:lnTo>
                <a:lnTo>
                  <a:pt x="606580" y="440592"/>
                </a:lnTo>
                <a:lnTo>
                  <a:pt x="606580" y="466931"/>
                </a:lnTo>
                <a:lnTo>
                  <a:pt x="0" y="466931"/>
                </a:lnTo>
                <a:lnTo>
                  <a:pt x="0" y="440592"/>
                </a:lnTo>
                <a:lnTo>
                  <a:pt x="103712" y="440592"/>
                </a:lnTo>
                <a:lnTo>
                  <a:pt x="103712" y="374650"/>
                </a:lnTo>
                <a:lnTo>
                  <a:pt x="0" y="374650"/>
                </a:lnTo>
                <a:close/>
                <a:moveTo>
                  <a:pt x="353088" y="26325"/>
                </a:moveTo>
                <a:lnTo>
                  <a:pt x="353088" y="293195"/>
                </a:lnTo>
                <a:lnTo>
                  <a:pt x="535825" y="293195"/>
                </a:lnTo>
                <a:lnTo>
                  <a:pt x="535825" y="26325"/>
                </a:lnTo>
                <a:close/>
                <a:moveTo>
                  <a:pt x="70826" y="26325"/>
                </a:moveTo>
                <a:lnTo>
                  <a:pt x="70826" y="293195"/>
                </a:lnTo>
                <a:lnTo>
                  <a:pt x="253563" y="293195"/>
                </a:lnTo>
                <a:lnTo>
                  <a:pt x="253563" y="26325"/>
                </a:lnTo>
                <a:close/>
                <a:moveTo>
                  <a:pt x="326718" y="0"/>
                </a:moveTo>
                <a:lnTo>
                  <a:pt x="562195" y="0"/>
                </a:lnTo>
                <a:lnTo>
                  <a:pt x="562195" y="319520"/>
                </a:lnTo>
                <a:lnTo>
                  <a:pt x="326718" y="319520"/>
                </a:lnTo>
                <a:close/>
                <a:moveTo>
                  <a:pt x="44456" y="0"/>
                </a:moveTo>
                <a:lnTo>
                  <a:pt x="279933" y="0"/>
                </a:lnTo>
                <a:lnTo>
                  <a:pt x="279933" y="319520"/>
                </a:lnTo>
                <a:lnTo>
                  <a:pt x="44456" y="31952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1" name="熊大的PPT宝库35"/>
          <p:cNvSpPr/>
          <p:nvPr/>
        </p:nvSpPr>
        <p:spPr>
          <a:xfrm>
            <a:off x="8662912" y="3049723"/>
            <a:ext cx="489041" cy="486145"/>
          </a:xfrm>
          <a:custGeom>
            <a:avLst/>
            <a:gdLst>
              <a:gd name="T0" fmla="*/ 5507 w 5509"/>
              <a:gd name="T1" fmla="*/ 2663 h 5485"/>
              <a:gd name="T2" fmla="*/ 2822 w 5509"/>
              <a:gd name="T3" fmla="*/ 1 h 5485"/>
              <a:gd name="T4" fmla="*/ 2766 w 5509"/>
              <a:gd name="T5" fmla="*/ 0 h 5485"/>
              <a:gd name="T6" fmla="*/ 2687 w 5509"/>
              <a:gd name="T7" fmla="*/ 0 h 5485"/>
              <a:gd name="T8" fmla="*/ 702 w 5509"/>
              <a:gd name="T9" fmla="*/ 910 h 5485"/>
              <a:gd name="T10" fmla="*/ 0 w 5509"/>
              <a:gd name="T11" fmla="*/ 2663 h 5485"/>
              <a:gd name="T12" fmla="*/ 0 w 5509"/>
              <a:gd name="T13" fmla="*/ 2822 h 5485"/>
              <a:gd name="T14" fmla="*/ 703 w 5509"/>
              <a:gd name="T15" fmla="*/ 4575 h 5485"/>
              <a:gd name="T16" fmla="*/ 2687 w 5509"/>
              <a:gd name="T17" fmla="*/ 5485 h 5485"/>
              <a:gd name="T18" fmla="*/ 2766 w 5509"/>
              <a:gd name="T19" fmla="*/ 5485 h 5485"/>
              <a:gd name="T20" fmla="*/ 2822 w 5509"/>
              <a:gd name="T21" fmla="*/ 5484 h 5485"/>
              <a:gd name="T22" fmla="*/ 5507 w 5509"/>
              <a:gd name="T23" fmla="*/ 2822 h 5485"/>
              <a:gd name="T24" fmla="*/ 5509 w 5509"/>
              <a:gd name="T25" fmla="*/ 2746 h 5485"/>
              <a:gd name="T26" fmla="*/ 5509 w 5509"/>
              <a:gd name="T27" fmla="*/ 2663 h 5485"/>
              <a:gd name="T28" fmla="*/ 4296 w 5509"/>
              <a:gd name="T29" fmla="*/ 2663 h 5485"/>
              <a:gd name="T30" fmla="*/ 4745 w 5509"/>
              <a:gd name="T31" fmla="*/ 1082 h 5485"/>
              <a:gd name="T32" fmla="*/ 1624 w 5509"/>
              <a:gd name="T33" fmla="*/ 3974 h 5485"/>
              <a:gd name="T34" fmla="*/ 2663 w 5509"/>
              <a:gd name="T35" fmla="*/ 5213 h 5485"/>
              <a:gd name="T36" fmla="*/ 2846 w 5509"/>
              <a:gd name="T37" fmla="*/ 1924 h 5485"/>
              <a:gd name="T38" fmla="*/ 4137 w 5509"/>
              <a:gd name="T39" fmla="*/ 2663 h 5485"/>
              <a:gd name="T40" fmla="*/ 2846 w 5509"/>
              <a:gd name="T41" fmla="*/ 1924 h 5485"/>
              <a:gd name="T42" fmla="*/ 2846 w 5509"/>
              <a:gd name="T43" fmla="*/ 272 h 5485"/>
              <a:gd name="T44" fmla="*/ 2846 w 5509"/>
              <a:gd name="T45" fmla="*/ 1765 h 5485"/>
              <a:gd name="T46" fmla="*/ 1624 w 5509"/>
              <a:gd name="T47" fmla="*/ 1511 h 5485"/>
              <a:gd name="T48" fmla="*/ 2663 w 5509"/>
              <a:gd name="T49" fmla="*/ 1765 h 5485"/>
              <a:gd name="T50" fmla="*/ 2663 w 5509"/>
              <a:gd name="T51" fmla="*/ 1924 h 5485"/>
              <a:gd name="T52" fmla="*/ 1372 w 5509"/>
              <a:gd name="T53" fmla="*/ 2663 h 5485"/>
              <a:gd name="T54" fmla="*/ 2663 w 5509"/>
              <a:gd name="T55" fmla="*/ 2822 h 5485"/>
              <a:gd name="T56" fmla="*/ 1565 w 5509"/>
              <a:gd name="T57" fmla="*/ 3826 h 5485"/>
              <a:gd name="T58" fmla="*/ 2663 w 5509"/>
              <a:gd name="T59" fmla="*/ 2822 h 5485"/>
              <a:gd name="T60" fmla="*/ 3885 w 5509"/>
              <a:gd name="T61" fmla="*/ 3974 h 5485"/>
              <a:gd name="T62" fmla="*/ 2846 w 5509"/>
              <a:gd name="T63" fmla="*/ 3720 h 5485"/>
              <a:gd name="T64" fmla="*/ 2846 w 5509"/>
              <a:gd name="T65" fmla="*/ 3561 h 5485"/>
              <a:gd name="T66" fmla="*/ 4137 w 5509"/>
              <a:gd name="T67" fmla="*/ 2822 h 5485"/>
              <a:gd name="T68" fmla="*/ 4637 w 5509"/>
              <a:gd name="T69" fmla="*/ 962 h 5485"/>
              <a:gd name="T70" fmla="*/ 2977 w 5509"/>
              <a:gd name="T71" fmla="*/ 168 h 5485"/>
              <a:gd name="T72" fmla="*/ 2532 w 5509"/>
              <a:gd name="T73" fmla="*/ 168 h 5485"/>
              <a:gd name="T74" fmla="*/ 872 w 5509"/>
              <a:gd name="T75" fmla="*/ 962 h 5485"/>
              <a:gd name="T76" fmla="*/ 764 w 5509"/>
              <a:gd name="T77" fmla="*/ 1082 h 5485"/>
              <a:gd name="T78" fmla="*/ 1213 w 5509"/>
              <a:gd name="T79" fmla="*/ 2663 h 5485"/>
              <a:gd name="T80" fmla="*/ 764 w 5509"/>
              <a:gd name="T81" fmla="*/ 1082 h 5485"/>
              <a:gd name="T82" fmla="*/ 1213 w 5509"/>
              <a:gd name="T83" fmla="*/ 2822 h 5485"/>
              <a:gd name="T84" fmla="*/ 764 w 5509"/>
              <a:gd name="T85" fmla="*/ 4403 h 5485"/>
              <a:gd name="T86" fmla="*/ 872 w 5509"/>
              <a:gd name="T87" fmla="*/ 4523 h 5485"/>
              <a:gd name="T88" fmla="*/ 2533 w 5509"/>
              <a:gd name="T89" fmla="*/ 5317 h 5485"/>
              <a:gd name="T90" fmla="*/ 2977 w 5509"/>
              <a:gd name="T91" fmla="*/ 5317 h 5485"/>
              <a:gd name="T92" fmla="*/ 4637 w 5509"/>
              <a:gd name="T93" fmla="*/ 4523 h 5485"/>
              <a:gd name="T94" fmla="*/ 4745 w 5509"/>
              <a:gd name="T95" fmla="*/ 4403 h 5485"/>
              <a:gd name="T96" fmla="*/ 4296 w 5509"/>
              <a:gd name="T97" fmla="*/ 2822 h 5485"/>
              <a:gd name="T98" fmla="*/ 4745 w 5509"/>
              <a:gd name="T99" fmla="*/ 4403 h 5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509" h="5485">
                <a:moveTo>
                  <a:pt x="5509" y="2663"/>
                </a:moveTo>
                <a:lnTo>
                  <a:pt x="5507" y="2663"/>
                </a:lnTo>
                <a:cubicBezTo>
                  <a:pt x="5488" y="2014"/>
                  <a:pt x="5242" y="1394"/>
                  <a:pt x="4807" y="910"/>
                </a:cubicBezTo>
                <a:cubicBezTo>
                  <a:pt x="4299" y="345"/>
                  <a:pt x="3579" y="17"/>
                  <a:pt x="2822" y="1"/>
                </a:cubicBezTo>
                <a:lnTo>
                  <a:pt x="2822" y="0"/>
                </a:lnTo>
                <a:lnTo>
                  <a:pt x="2766" y="0"/>
                </a:lnTo>
                <a:lnTo>
                  <a:pt x="2743" y="0"/>
                </a:lnTo>
                <a:lnTo>
                  <a:pt x="2687" y="0"/>
                </a:lnTo>
                <a:lnTo>
                  <a:pt x="2687" y="1"/>
                </a:lnTo>
                <a:cubicBezTo>
                  <a:pt x="1930" y="17"/>
                  <a:pt x="1210" y="345"/>
                  <a:pt x="702" y="910"/>
                </a:cubicBezTo>
                <a:cubicBezTo>
                  <a:pt x="267" y="1394"/>
                  <a:pt x="21" y="2014"/>
                  <a:pt x="2" y="2663"/>
                </a:cubicBezTo>
                <a:lnTo>
                  <a:pt x="0" y="2663"/>
                </a:lnTo>
                <a:lnTo>
                  <a:pt x="0" y="2743"/>
                </a:lnTo>
                <a:lnTo>
                  <a:pt x="0" y="2822"/>
                </a:lnTo>
                <a:lnTo>
                  <a:pt x="2" y="2822"/>
                </a:lnTo>
                <a:cubicBezTo>
                  <a:pt x="21" y="3471"/>
                  <a:pt x="267" y="4091"/>
                  <a:pt x="703" y="4575"/>
                </a:cubicBezTo>
                <a:cubicBezTo>
                  <a:pt x="1210" y="5140"/>
                  <a:pt x="1930" y="5468"/>
                  <a:pt x="2687" y="5484"/>
                </a:cubicBezTo>
                <a:lnTo>
                  <a:pt x="2687" y="5485"/>
                </a:lnTo>
                <a:lnTo>
                  <a:pt x="2743" y="5485"/>
                </a:lnTo>
                <a:lnTo>
                  <a:pt x="2766" y="5485"/>
                </a:lnTo>
                <a:lnTo>
                  <a:pt x="2822" y="5485"/>
                </a:lnTo>
                <a:lnTo>
                  <a:pt x="2822" y="5484"/>
                </a:lnTo>
                <a:cubicBezTo>
                  <a:pt x="3579" y="5468"/>
                  <a:pt x="4299" y="5140"/>
                  <a:pt x="4807" y="4575"/>
                </a:cubicBezTo>
                <a:cubicBezTo>
                  <a:pt x="5242" y="4091"/>
                  <a:pt x="5488" y="3471"/>
                  <a:pt x="5507" y="2822"/>
                </a:cubicBezTo>
                <a:lnTo>
                  <a:pt x="5509" y="2822"/>
                </a:lnTo>
                <a:lnTo>
                  <a:pt x="5509" y="2746"/>
                </a:lnTo>
                <a:cubicBezTo>
                  <a:pt x="5509" y="2745"/>
                  <a:pt x="5509" y="2744"/>
                  <a:pt x="5509" y="2743"/>
                </a:cubicBezTo>
                <a:lnTo>
                  <a:pt x="5509" y="2663"/>
                </a:lnTo>
                <a:close/>
                <a:moveTo>
                  <a:pt x="5349" y="2663"/>
                </a:moveTo>
                <a:lnTo>
                  <a:pt x="4296" y="2663"/>
                </a:lnTo>
                <a:cubicBezTo>
                  <a:pt x="4287" y="2291"/>
                  <a:pt x="4217" y="1929"/>
                  <a:pt x="4087" y="1587"/>
                </a:cubicBezTo>
                <a:cubicBezTo>
                  <a:pt x="4331" y="1452"/>
                  <a:pt x="4552" y="1283"/>
                  <a:pt x="4745" y="1082"/>
                </a:cubicBezTo>
                <a:cubicBezTo>
                  <a:pt x="5118" y="1527"/>
                  <a:pt x="5331" y="2082"/>
                  <a:pt x="5349" y="2663"/>
                </a:cubicBezTo>
                <a:close/>
                <a:moveTo>
                  <a:pt x="1624" y="3974"/>
                </a:moveTo>
                <a:cubicBezTo>
                  <a:pt x="1951" y="3816"/>
                  <a:pt x="2300" y="3731"/>
                  <a:pt x="2663" y="3720"/>
                </a:cubicBezTo>
                <a:lnTo>
                  <a:pt x="2663" y="5213"/>
                </a:lnTo>
                <a:cubicBezTo>
                  <a:pt x="2213" y="4925"/>
                  <a:pt x="1849" y="4492"/>
                  <a:pt x="1624" y="3974"/>
                </a:cubicBezTo>
                <a:close/>
                <a:moveTo>
                  <a:pt x="2846" y="1924"/>
                </a:moveTo>
                <a:cubicBezTo>
                  <a:pt x="3230" y="1913"/>
                  <a:pt x="3599" y="1824"/>
                  <a:pt x="3944" y="1659"/>
                </a:cubicBezTo>
                <a:cubicBezTo>
                  <a:pt x="4064" y="1979"/>
                  <a:pt x="4129" y="2316"/>
                  <a:pt x="4137" y="2663"/>
                </a:cubicBezTo>
                <a:lnTo>
                  <a:pt x="2846" y="2663"/>
                </a:lnTo>
                <a:lnTo>
                  <a:pt x="2846" y="1924"/>
                </a:lnTo>
                <a:close/>
                <a:moveTo>
                  <a:pt x="2846" y="1765"/>
                </a:moveTo>
                <a:lnTo>
                  <a:pt x="2846" y="272"/>
                </a:lnTo>
                <a:cubicBezTo>
                  <a:pt x="3296" y="560"/>
                  <a:pt x="3660" y="993"/>
                  <a:pt x="3885" y="1511"/>
                </a:cubicBezTo>
                <a:cubicBezTo>
                  <a:pt x="3558" y="1669"/>
                  <a:pt x="3209" y="1754"/>
                  <a:pt x="2846" y="1765"/>
                </a:cubicBezTo>
                <a:close/>
                <a:moveTo>
                  <a:pt x="2663" y="1765"/>
                </a:moveTo>
                <a:cubicBezTo>
                  <a:pt x="2300" y="1754"/>
                  <a:pt x="1951" y="1669"/>
                  <a:pt x="1624" y="1511"/>
                </a:cubicBezTo>
                <a:cubicBezTo>
                  <a:pt x="1849" y="993"/>
                  <a:pt x="2213" y="560"/>
                  <a:pt x="2663" y="272"/>
                </a:cubicBezTo>
                <a:lnTo>
                  <a:pt x="2663" y="1765"/>
                </a:lnTo>
                <a:close/>
                <a:moveTo>
                  <a:pt x="1565" y="1659"/>
                </a:moveTo>
                <a:cubicBezTo>
                  <a:pt x="1910" y="1824"/>
                  <a:pt x="2279" y="1913"/>
                  <a:pt x="2663" y="1924"/>
                </a:cubicBezTo>
                <a:lnTo>
                  <a:pt x="2663" y="2663"/>
                </a:lnTo>
                <a:lnTo>
                  <a:pt x="1372" y="2663"/>
                </a:lnTo>
                <a:cubicBezTo>
                  <a:pt x="1381" y="2316"/>
                  <a:pt x="1445" y="1979"/>
                  <a:pt x="1565" y="1659"/>
                </a:cubicBezTo>
                <a:close/>
                <a:moveTo>
                  <a:pt x="2663" y="2822"/>
                </a:moveTo>
                <a:lnTo>
                  <a:pt x="2663" y="3561"/>
                </a:lnTo>
                <a:cubicBezTo>
                  <a:pt x="2279" y="3572"/>
                  <a:pt x="1911" y="3661"/>
                  <a:pt x="1565" y="3826"/>
                </a:cubicBezTo>
                <a:cubicBezTo>
                  <a:pt x="1445" y="3506"/>
                  <a:pt x="1381" y="3169"/>
                  <a:pt x="1372" y="2822"/>
                </a:cubicBezTo>
                <a:lnTo>
                  <a:pt x="2663" y="2822"/>
                </a:lnTo>
                <a:close/>
                <a:moveTo>
                  <a:pt x="2846" y="3720"/>
                </a:moveTo>
                <a:cubicBezTo>
                  <a:pt x="3209" y="3731"/>
                  <a:pt x="3558" y="3816"/>
                  <a:pt x="3885" y="3974"/>
                </a:cubicBezTo>
                <a:cubicBezTo>
                  <a:pt x="3660" y="4492"/>
                  <a:pt x="3296" y="4925"/>
                  <a:pt x="2846" y="5213"/>
                </a:cubicBezTo>
                <a:lnTo>
                  <a:pt x="2846" y="3720"/>
                </a:lnTo>
                <a:close/>
                <a:moveTo>
                  <a:pt x="3944" y="3826"/>
                </a:moveTo>
                <a:cubicBezTo>
                  <a:pt x="3599" y="3661"/>
                  <a:pt x="3230" y="3572"/>
                  <a:pt x="2846" y="3561"/>
                </a:cubicBezTo>
                <a:lnTo>
                  <a:pt x="2846" y="2822"/>
                </a:lnTo>
                <a:lnTo>
                  <a:pt x="4137" y="2822"/>
                </a:lnTo>
                <a:cubicBezTo>
                  <a:pt x="4129" y="3169"/>
                  <a:pt x="4064" y="3506"/>
                  <a:pt x="3944" y="3826"/>
                </a:cubicBezTo>
                <a:close/>
                <a:moveTo>
                  <a:pt x="4637" y="962"/>
                </a:moveTo>
                <a:cubicBezTo>
                  <a:pt x="4458" y="1150"/>
                  <a:pt x="4253" y="1309"/>
                  <a:pt x="4026" y="1436"/>
                </a:cubicBezTo>
                <a:cubicBezTo>
                  <a:pt x="3796" y="912"/>
                  <a:pt x="3429" y="470"/>
                  <a:pt x="2977" y="168"/>
                </a:cubicBezTo>
                <a:cubicBezTo>
                  <a:pt x="3606" y="219"/>
                  <a:pt x="4199" y="502"/>
                  <a:pt x="4637" y="962"/>
                </a:cubicBezTo>
                <a:close/>
                <a:moveTo>
                  <a:pt x="2532" y="168"/>
                </a:moveTo>
                <a:cubicBezTo>
                  <a:pt x="2080" y="470"/>
                  <a:pt x="1713" y="912"/>
                  <a:pt x="1483" y="1436"/>
                </a:cubicBezTo>
                <a:cubicBezTo>
                  <a:pt x="1256" y="1309"/>
                  <a:pt x="1051" y="1150"/>
                  <a:pt x="872" y="962"/>
                </a:cubicBezTo>
                <a:cubicBezTo>
                  <a:pt x="1310" y="502"/>
                  <a:pt x="1903" y="219"/>
                  <a:pt x="2532" y="168"/>
                </a:cubicBezTo>
                <a:close/>
                <a:moveTo>
                  <a:pt x="764" y="1082"/>
                </a:moveTo>
                <a:cubicBezTo>
                  <a:pt x="957" y="1283"/>
                  <a:pt x="1178" y="1452"/>
                  <a:pt x="1422" y="1587"/>
                </a:cubicBezTo>
                <a:cubicBezTo>
                  <a:pt x="1292" y="1930"/>
                  <a:pt x="1222" y="2291"/>
                  <a:pt x="1213" y="2663"/>
                </a:cubicBezTo>
                <a:lnTo>
                  <a:pt x="160" y="2663"/>
                </a:lnTo>
                <a:cubicBezTo>
                  <a:pt x="178" y="2082"/>
                  <a:pt x="391" y="1527"/>
                  <a:pt x="764" y="1082"/>
                </a:cubicBezTo>
                <a:close/>
                <a:moveTo>
                  <a:pt x="160" y="2822"/>
                </a:moveTo>
                <a:lnTo>
                  <a:pt x="1213" y="2822"/>
                </a:lnTo>
                <a:cubicBezTo>
                  <a:pt x="1222" y="3194"/>
                  <a:pt x="1292" y="3556"/>
                  <a:pt x="1422" y="3898"/>
                </a:cubicBezTo>
                <a:cubicBezTo>
                  <a:pt x="1178" y="4033"/>
                  <a:pt x="957" y="4202"/>
                  <a:pt x="764" y="4403"/>
                </a:cubicBezTo>
                <a:cubicBezTo>
                  <a:pt x="391" y="3958"/>
                  <a:pt x="178" y="3403"/>
                  <a:pt x="160" y="2822"/>
                </a:cubicBezTo>
                <a:close/>
                <a:moveTo>
                  <a:pt x="872" y="4523"/>
                </a:moveTo>
                <a:cubicBezTo>
                  <a:pt x="1051" y="4335"/>
                  <a:pt x="1256" y="4176"/>
                  <a:pt x="1483" y="4049"/>
                </a:cubicBezTo>
                <a:cubicBezTo>
                  <a:pt x="1713" y="4573"/>
                  <a:pt x="2080" y="5015"/>
                  <a:pt x="2533" y="5317"/>
                </a:cubicBezTo>
                <a:cubicBezTo>
                  <a:pt x="1903" y="5266"/>
                  <a:pt x="1310" y="4983"/>
                  <a:pt x="872" y="4523"/>
                </a:cubicBezTo>
                <a:close/>
                <a:moveTo>
                  <a:pt x="2977" y="5317"/>
                </a:moveTo>
                <a:cubicBezTo>
                  <a:pt x="3429" y="5015"/>
                  <a:pt x="3796" y="4573"/>
                  <a:pt x="4026" y="4049"/>
                </a:cubicBezTo>
                <a:cubicBezTo>
                  <a:pt x="4253" y="4176"/>
                  <a:pt x="4458" y="4335"/>
                  <a:pt x="4637" y="4523"/>
                </a:cubicBezTo>
                <a:cubicBezTo>
                  <a:pt x="4199" y="4983"/>
                  <a:pt x="3606" y="5266"/>
                  <a:pt x="2977" y="5317"/>
                </a:cubicBezTo>
                <a:close/>
                <a:moveTo>
                  <a:pt x="4745" y="4403"/>
                </a:moveTo>
                <a:cubicBezTo>
                  <a:pt x="4552" y="4202"/>
                  <a:pt x="4332" y="4033"/>
                  <a:pt x="4087" y="3898"/>
                </a:cubicBezTo>
                <a:cubicBezTo>
                  <a:pt x="4217" y="3556"/>
                  <a:pt x="4287" y="3194"/>
                  <a:pt x="4296" y="2822"/>
                </a:cubicBezTo>
                <a:lnTo>
                  <a:pt x="5349" y="2822"/>
                </a:lnTo>
                <a:cubicBezTo>
                  <a:pt x="5331" y="3403"/>
                  <a:pt x="5118" y="3958"/>
                  <a:pt x="4745" y="440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2" name="熊大的PPT宝库36"/>
          <p:cNvSpPr/>
          <p:nvPr/>
        </p:nvSpPr>
        <p:spPr>
          <a:xfrm>
            <a:off x="8695238" y="4355562"/>
            <a:ext cx="424388" cy="469260"/>
          </a:xfrm>
          <a:custGeom>
            <a:avLst/>
            <a:gdLst>
              <a:gd name="connsiteX0" fmla="*/ 19635 w 609614"/>
              <a:gd name="connsiteY0" fmla="*/ 530182 h 608697"/>
              <a:gd name="connsiteX1" fmla="*/ 19635 w 609614"/>
              <a:gd name="connsiteY1" fmla="*/ 549788 h 608697"/>
              <a:gd name="connsiteX2" fmla="*/ 58998 w 609614"/>
              <a:gd name="connsiteY2" fmla="*/ 589091 h 608697"/>
              <a:gd name="connsiteX3" fmla="*/ 408376 w 609614"/>
              <a:gd name="connsiteY3" fmla="*/ 589091 h 608697"/>
              <a:gd name="connsiteX4" fmla="*/ 393350 w 609614"/>
              <a:gd name="connsiteY4" fmla="*/ 549788 h 608697"/>
              <a:gd name="connsiteX5" fmla="*/ 393350 w 609614"/>
              <a:gd name="connsiteY5" fmla="*/ 530182 h 608697"/>
              <a:gd name="connsiteX6" fmla="*/ 304853 w 609614"/>
              <a:gd name="connsiteY6" fmla="*/ 441818 h 608697"/>
              <a:gd name="connsiteX7" fmla="*/ 294989 w 609614"/>
              <a:gd name="connsiteY7" fmla="*/ 451667 h 608697"/>
              <a:gd name="connsiteX8" fmla="*/ 304853 w 609614"/>
              <a:gd name="connsiteY8" fmla="*/ 461424 h 608697"/>
              <a:gd name="connsiteX9" fmla="*/ 314625 w 609614"/>
              <a:gd name="connsiteY9" fmla="*/ 451667 h 608697"/>
              <a:gd name="connsiteX10" fmla="*/ 304853 w 609614"/>
              <a:gd name="connsiteY10" fmla="*/ 441818 h 608697"/>
              <a:gd name="connsiteX11" fmla="*/ 501482 w 609614"/>
              <a:gd name="connsiteY11" fmla="*/ 402515 h 608697"/>
              <a:gd name="connsiteX12" fmla="*/ 491618 w 609614"/>
              <a:gd name="connsiteY12" fmla="*/ 412364 h 608697"/>
              <a:gd name="connsiteX13" fmla="*/ 501482 w 609614"/>
              <a:gd name="connsiteY13" fmla="*/ 422213 h 608697"/>
              <a:gd name="connsiteX14" fmla="*/ 511346 w 609614"/>
              <a:gd name="connsiteY14" fmla="*/ 412364 h 608697"/>
              <a:gd name="connsiteX15" fmla="*/ 501482 w 609614"/>
              <a:gd name="connsiteY15" fmla="*/ 402515 h 608697"/>
              <a:gd name="connsiteX16" fmla="*/ 403121 w 609614"/>
              <a:gd name="connsiteY16" fmla="*/ 343606 h 608697"/>
              <a:gd name="connsiteX17" fmla="*/ 393350 w 609614"/>
              <a:gd name="connsiteY17" fmla="*/ 353455 h 608697"/>
              <a:gd name="connsiteX18" fmla="*/ 403121 w 609614"/>
              <a:gd name="connsiteY18" fmla="*/ 363304 h 608697"/>
              <a:gd name="connsiteX19" fmla="*/ 412985 w 609614"/>
              <a:gd name="connsiteY19" fmla="*/ 353455 h 608697"/>
              <a:gd name="connsiteX20" fmla="*/ 403121 w 609614"/>
              <a:gd name="connsiteY20" fmla="*/ 343606 h 608697"/>
              <a:gd name="connsiteX21" fmla="*/ 412948 w 609614"/>
              <a:gd name="connsiteY21" fmla="*/ 284731 h 608697"/>
              <a:gd name="connsiteX22" fmla="*/ 432636 w 609614"/>
              <a:gd name="connsiteY22" fmla="*/ 284731 h 608697"/>
              <a:gd name="connsiteX23" fmla="*/ 432636 w 609614"/>
              <a:gd name="connsiteY23" fmla="*/ 304419 h 608697"/>
              <a:gd name="connsiteX24" fmla="*/ 412948 w 609614"/>
              <a:gd name="connsiteY24" fmla="*/ 304419 h 608697"/>
              <a:gd name="connsiteX25" fmla="*/ 580115 w 609614"/>
              <a:gd name="connsiteY25" fmla="*/ 255242 h 608697"/>
              <a:gd name="connsiteX26" fmla="*/ 570344 w 609614"/>
              <a:gd name="connsiteY26" fmla="*/ 265091 h 608697"/>
              <a:gd name="connsiteX27" fmla="*/ 580115 w 609614"/>
              <a:gd name="connsiteY27" fmla="*/ 274940 h 608697"/>
              <a:gd name="connsiteX28" fmla="*/ 589979 w 609614"/>
              <a:gd name="connsiteY28" fmla="*/ 265091 h 608697"/>
              <a:gd name="connsiteX29" fmla="*/ 580115 w 609614"/>
              <a:gd name="connsiteY29" fmla="*/ 255242 h 608697"/>
              <a:gd name="connsiteX30" fmla="*/ 176968 w 609614"/>
              <a:gd name="connsiteY30" fmla="*/ 166887 h 608697"/>
              <a:gd name="connsiteX31" fmla="*/ 196604 w 609614"/>
              <a:gd name="connsiteY31" fmla="*/ 166887 h 608697"/>
              <a:gd name="connsiteX32" fmla="*/ 196604 w 609614"/>
              <a:gd name="connsiteY32" fmla="*/ 186588 h 608697"/>
              <a:gd name="connsiteX33" fmla="*/ 201583 w 609614"/>
              <a:gd name="connsiteY33" fmla="*/ 186588 h 608697"/>
              <a:gd name="connsiteX34" fmla="*/ 235970 w 609614"/>
              <a:gd name="connsiteY34" fmla="*/ 220927 h 608697"/>
              <a:gd name="connsiteX35" fmla="*/ 235970 w 609614"/>
              <a:gd name="connsiteY35" fmla="*/ 225806 h 608697"/>
              <a:gd name="connsiteX36" fmla="*/ 216333 w 609614"/>
              <a:gd name="connsiteY36" fmla="*/ 225806 h 608697"/>
              <a:gd name="connsiteX37" fmla="*/ 216333 w 609614"/>
              <a:gd name="connsiteY37" fmla="*/ 220927 h 608697"/>
              <a:gd name="connsiteX38" fmla="*/ 201583 w 609614"/>
              <a:gd name="connsiteY38" fmla="*/ 206197 h 608697"/>
              <a:gd name="connsiteX39" fmla="*/ 172082 w 609614"/>
              <a:gd name="connsiteY39" fmla="*/ 206197 h 608697"/>
              <a:gd name="connsiteX40" fmla="*/ 157331 w 609614"/>
              <a:gd name="connsiteY40" fmla="*/ 220927 h 608697"/>
              <a:gd name="connsiteX41" fmla="*/ 172082 w 609614"/>
              <a:gd name="connsiteY41" fmla="*/ 235657 h 608697"/>
              <a:gd name="connsiteX42" fmla="*/ 201583 w 609614"/>
              <a:gd name="connsiteY42" fmla="*/ 235657 h 608697"/>
              <a:gd name="connsiteX43" fmla="*/ 235970 w 609614"/>
              <a:gd name="connsiteY43" fmla="*/ 269996 h 608697"/>
              <a:gd name="connsiteX44" fmla="*/ 201583 w 609614"/>
              <a:gd name="connsiteY44" fmla="*/ 304427 h 608697"/>
              <a:gd name="connsiteX45" fmla="*/ 196604 w 609614"/>
              <a:gd name="connsiteY45" fmla="*/ 304427 h 608697"/>
              <a:gd name="connsiteX46" fmla="*/ 196604 w 609614"/>
              <a:gd name="connsiteY46" fmla="*/ 324036 h 608697"/>
              <a:gd name="connsiteX47" fmla="*/ 176968 w 609614"/>
              <a:gd name="connsiteY47" fmla="*/ 324036 h 608697"/>
              <a:gd name="connsiteX48" fmla="*/ 176968 w 609614"/>
              <a:gd name="connsiteY48" fmla="*/ 304427 h 608697"/>
              <a:gd name="connsiteX49" fmla="*/ 172082 w 609614"/>
              <a:gd name="connsiteY49" fmla="*/ 304427 h 608697"/>
              <a:gd name="connsiteX50" fmla="*/ 137602 w 609614"/>
              <a:gd name="connsiteY50" fmla="*/ 269996 h 608697"/>
              <a:gd name="connsiteX51" fmla="*/ 137602 w 609614"/>
              <a:gd name="connsiteY51" fmla="*/ 265117 h 608697"/>
              <a:gd name="connsiteX52" fmla="*/ 157331 w 609614"/>
              <a:gd name="connsiteY52" fmla="*/ 265117 h 608697"/>
              <a:gd name="connsiteX53" fmla="*/ 157331 w 609614"/>
              <a:gd name="connsiteY53" fmla="*/ 269996 h 608697"/>
              <a:gd name="connsiteX54" fmla="*/ 172082 w 609614"/>
              <a:gd name="connsiteY54" fmla="*/ 284726 h 608697"/>
              <a:gd name="connsiteX55" fmla="*/ 201583 w 609614"/>
              <a:gd name="connsiteY55" fmla="*/ 284726 h 608697"/>
              <a:gd name="connsiteX56" fmla="*/ 216333 w 609614"/>
              <a:gd name="connsiteY56" fmla="*/ 269996 h 608697"/>
              <a:gd name="connsiteX57" fmla="*/ 201583 w 609614"/>
              <a:gd name="connsiteY57" fmla="*/ 255266 h 608697"/>
              <a:gd name="connsiteX58" fmla="*/ 172082 w 609614"/>
              <a:gd name="connsiteY58" fmla="*/ 255266 h 608697"/>
              <a:gd name="connsiteX59" fmla="*/ 137602 w 609614"/>
              <a:gd name="connsiteY59" fmla="*/ 220927 h 608697"/>
              <a:gd name="connsiteX60" fmla="*/ 172082 w 609614"/>
              <a:gd name="connsiteY60" fmla="*/ 186588 h 608697"/>
              <a:gd name="connsiteX61" fmla="*/ 176968 w 609614"/>
              <a:gd name="connsiteY61" fmla="*/ 186588 h 608697"/>
              <a:gd name="connsiteX62" fmla="*/ 412948 w 609614"/>
              <a:gd name="connsiteY62" fmla="*/ 157149 h 608697"/>
              <a:gd name="connsiteX63" fmla="*/ 432636 w 609614"/>
              <a:gd name="connsiteY63" fmla="*/ 157149 h 608697"/>
              <a:gd name="connsiteX64" fmla="*/ 432636 w 609614"/>
              <a:gd name="connsiteY64" fmla="*/ 265114 h 608697"/>
              <a:gd name="connsiteX65" fmla="*/ 412948 w 609614"/>
              <a:gd name="connsiteY65" fmla="*/ 265114 h 608697"/>
              <a:gd name="connsiteX66" fmla="*/ 186858 w 609614"/>
              <a:gd name="connsiteY66" fmla="*/ 147263 h 608697"/>
              <a:gd name="connsiteX67" fmla="*/ 88506 w 609614"/>
              <a:gd name="connsiteY67" fmla="*/ 245497 h 608697"/>
              <a:gd name="connsiteX68" fmla="*/ 186858 w 609614"/>
              <a:gd name="connsiteY68" fmla="*/ 343639 h 608697"/>
              <a:gd name="connsiteX69" fmla="*/ 285117 w 609614"/>
              <a:gd name="connsiteY69" fmla="*/ 245497 h 608697"/>
              <a:gd name="connsiteX70" fmla="*/ 186858 w 609614"/>
              <a:gd name="connsiteY70" fmla="*/ 147263 h 608697"/>
              <a:gd name="connsiteX71" fmla="*/ 186858 w 609614"/>
              <a:gd name="connsiteY71" fmla="*/ 127653 h 608697"/>
              <a:gd name="connsiteX72" fmla="*/ 304843 w 609614"/>
              <a:gd name="connsiteY72" fmla="*/ 245497 h 608697"/>
              <a:gd name="connsiteX73" fmla="*/ 186858 w 609614"/>
              <a:gd name="connsiteY73" fmla="*/ 363341 h 608697"/>
              <a:gd name="connsiteX74" fmla="*/ 68872 w 609614"/>
              <a:gd name="connsiteY74" fmla="*/ 245497 h 608697"/>
              <a:gd name="connsiteX75" fmla="*/ 186858 w 609614"/>
              <a:gd name="connsiteY75" fmla="*/ 127653 h 608697"/>
              <a:gd name="connsiteX76" fmla="*/ 412948 w 609614"/>
              <a:gd name="connsiteY76" fmla="*/ 117844 h 608697"/>
              <a:gd name="connsiteX77" fmla="*/ 432636 w 609614"/>
              <a:gd name="connsiteY77" fmla="*/ 117844 h 608697"/>
              <a:gd name="connsiteX78" fmla="*/ 432636 w 609614"/>
              <a:gd name="connsiteY78" fmla="*/ 137461 h 608697"/>
              <a:gd name="connsiteX79" fmla="*/ 412948 w 609614"/>
              <a:gd name="connsiteY79" fmla="*/ 137461 h 608697"/>
              <a:gd name="connsiteX80" fmla="*/ 450584 w 609614"/>
              <a:gd name="connsiteY80" fmla="*/ 102249 h 608697"/>
              <a:gd name="connsiteX81" fmla="*/ 464532 w 609614"/>
              <a:gd name="connsiteY81" fmla="*/ 116151 h 608697"/>
              <a:gd name="connsiteX82" fmla="*/ 450584 w 609614"/>
              <a:gd name="connsiteY82" fmla="*/ 130052 h 608697"/>
              <a:gd name="connsiteX83" fmla="*/ 436729 w 609614"/>
              <a:gd name="connsiteY83" fmla="*/ 116151 h 608697"/>
              <a:gd name="connsiteX84" fmla="*/ 394990 w 609614"/>
              <a:gd name="connsiteY84" fmla="*/ 102249 h 608697"/>
              <a:gd name="connsiteX85" fmla="*/ 408926 w 609614"/>
              <a:gd name="connsiteY85" fmla="*/ 116151 h 608697"/>
              <a:gd name="connsiteX86" fmla="*/ 394990 w 609614"/>
              <a:gd name="connsiteY86" fmla="*/ 130052 h 608697"/>
              <a:gd name="connsiteX87" fmla="*/ 381053 w 609614"/>
              <a:gd name="connsiteY87" fmla="*/ 116151 h 608697"/>
              <a:gd name="connsiteX88" fmla="*/ 452324 w 609614"/>
              <a:gd name="connsiteY88" fmla="*/ 78539 h 608697"/>
              <a:gd name="connsiteX89" fmla="*/ 471941 w 609614"/>
              <a:gd name="connsiteY89" fmla="*/ 78539 h 608697"/>
              <a:gd name="connsiteX90" fmla="*/ 471941 w 609614"/>
              <a:gd name="connsiteY90" fmla="*/ 98227 h 608697"/>
              <a:gd name="connsiteX91" fmla="*/ 452324 w 609614"/>
              <a:gd name="connsiteY91" fmla="*/ 98227 h 608697"/>
              <a:gd name="connsiteX92" fmla="*/ 373643 w 609614"/>
              <a:gd name="connsiteY92" fmla="*/ 78539 h 608697"/>
              <a:gd name="connsiteX93" fmla="*/ 393331 w 609614"/>
              <a:gd name="connsiteY93" fmla="*/ 78539 h 608697"/>
              <a:gd name="connsiteX94" fmla="*/ 393331 w 609614"/>
              <a:gd name="connsiteY94" fmla="*/ 98227 h 608697"/>
              <a:gd name="connsiteX95" fmla="*/ 373643 w 609614"/>
              <a:gd name="connsiteY95" fmla="*/ 98227 h 608697"/>
              <a:gd name="connsiteX96" fmla="*/ 157358 w 609614"/>
              <a:gd name="connsiteY96" fmla="*/ 78515 h 608697"/>
              <a:gd name="connsiteX97" fmla="*/ 157358 w 609614"/>
              <a:gd name="connsiteY97" fmla="*/ 111099 h 608697"/>
              <a:gd name="connsiteX98" fmla="*/ 150076 w 609614"/>
              <a:gd name="connsiteY98" fmla="*/ 113124 h 608697"/>
              <a:gd name="connsiteX99" fmla="*/ 119010 w 609614"/>
              <a:gd name="connsiteY99" fmla="*/ 125918 h 608697"/>
              <a:gd name="connsiteX100" fmla="*/ 112557 w 609614"/>
              <a:gd name="connsiteY100" fmla="*/ 129600 h 608697"/>
              <a:gd name="connsiteX101" fmla="*/ 89511 w 609614"/>
              <a:gd name="connsiteY101" fmla="*/ 106589 h 608697"/>
              <a:gd name="connsiteX102" fmla="*/ 47751 w 609614"/>
              <a:gd name="connsiteY102" fmla="*/ 148285 h 608697"/>
              <a:gd name="connsiteX103" fmla="*/ 70797 w 609614"/>
              <a:gd name="connsiteY103" fmla="*/ 171297 h 608697"/>
              <a:gd name="connsiteX104" fmla="*/ 67110 w 609614"/>
              <a:gd name="connsiteY104" fmla="*/ 177740 h 608697"/>
              <a:gd name="connsiteX105" fmla="*/ 54296 w 609614"/>
              <a:gd name="connsiteY105" fmla="*/ 208759 h 608697"/>
              <a:gd name="connsiteX106" fmla="*/ 52268 w 609614"/>
              <a:gd name="connsiteY106" fmla="*/ 216031 h 608697"/>
              <a:gd name="connsiteX107" fmla="*/ 19635 w 609614"/>
              <a:gd name="connsiteY107" fmla="*/ 216031 h 608697"/>
              <a:gd name="connsiteX108" fmla="*/ 19635 w 609614"/>
              <a:gd name="connsiteY108" fmla="*/ 274940 h 608697"/>
              <a:gd name="connsiteX109" fmla="*/ 52268 w 609614"/>
              <a:gd name="connsiteY109" fmla="*/ 274940 h 608697"/>
              <a:gd name="connsiteX110" fmla="*/ 54296 w 609614"/>
              <a:gd name="connsiteY110" fmla="*/ 282119 h 608697"/>
              <a:gd name="connsiteX111" fmla="*/ 67110 w 609614"/>
              <a:gd name="connsiteY111" fmla="*/ 313139 h 608697"/>
              <a:gd name="connsiteX112" fmla="*/ 70797 w 609614"/>
              <a:gd name="connsiteY112" fmla="*/ 319674 h 608697"/>
              <a:gd name="connsiteX113" fmla="*/ 47751 w 609614"/>
              <a:gd name="connsiteY113" fmla="*/ 342685 h 608697"/>
              <a:gd name="connsiteX114" fmla="*/ 89511 w 609614"/>
              <a:gd name="connsiteY114" fmla="*/ 384290 h 608697"/>
              <a:gd name="connsiteX115" fmla="*/ 112557 w 609614"/>
              <a:gd name="connsiteY115" fmla="*/ 361279 h 608697"/>
              <a:gd name="connsiteX116" fmla="*/ 119010 w 609614"/>
              <a:gd name="connsiteY116" fmla="*/ 364960 h 608697"/>
              <a:gd name="connsiteX117" fmla="*/ 150076 w 609614"/>
              <a:gd name="connsiteY117" fmla="*/ 377847 h 608697"/>
              <a:gd name="connsiteX118" fmla="*/ 157358 w 609614"/>
              <a:gd name="connsiteY118" fmla="*/ 379780 h 608697"/>
              <a:gd name="connsiteX119" fmla="*/ 157358 w 609614"/>
              <a:gd name="connsiteY119" fmla="*/ 412364 h 608697"/>
              <a:gd name="connsiteX120" fmla="*/ 216356 w 609614"/>
              <a:gd name="connsiteY120" fmla="*/ 412364 h 608697"/>
              <a:gd name="connsiteX121" fmla="*/ 216356 w 609614"/>
              <a:gd name="connsiteY121" fmla="*/ 379780 h 608697"/>
              <a:gd name="connsiteX122" fmla="*/ 223547 w 609614"/>
              <a:gd name="connsiteY122" fmla="*/ 377847 h 608697"/>
              <a:gd name="connsiteX123" fmla="*/ 254613 w 609614"/>
              <a:gd name="connsiteY123" fmla="*/ 364960 h 608697"/>
              <a:gd name="connsiteX124" fmla="*/ 261158 w 609614"/>
              <a:gd name="connsiteY124" fmla="*/ 361279 h 608697"/>
              <a:gd name="connsiteX125" fmla="*/ 284204 w 609614"/>
              <a:gd name="connsiteY125" fmla="*/ 384290 h 608697"/>
              <a:gd name="connsiteX126" fmla="*/ 325871 w 609614"/>
              <a:gd name="connsiteY126" fmla="*/ 342685 h 608697"/>
              <a:gd name="connsiteX127" fmla="*/ 302825 w 609614"/>
              <a:gd name="connsiteY127" fmla="*/ 319674 h 608697"/>
              <a:gd name="connsiteX128" fmla="*/ 306512 w 609614"/>
              <a:gd name="connsiteY128" fmla="*/ 313139 h 608697"/>
              <a:gd name="connsiteX129" fmla="*/ 319418 w 609614"/>
              <a:gd name="connsiteY129" fmla="*/ 282119 h 608697"/>
              <a:gd name="connsiteX130" fmla="*/ 321354 w 609614"/>
              <a:gd name="connsiteY130" fmla="*/ 274940 h 608697"/>
              <a:gd name="connsiteX131" fmla="*/ 353987 w 609614"/>
              <a:gd name="connsiteY131" fmla="*/ 274940 h 608697"/>
              <a:gd name="connsiteX132" fmla="*/ 353987 w 609614"/>
              <a:gd name="connsiteY132" fmla="*/ 216031 h 608697"/>
              <a:gd name="connsiteX133" fmla="*/ 321354 w 609614"/>
              <a:gd name="connsiteY133" fmla="*/ 216031 h 608697"/>
              <a:gd name="connsiteX134" fmla="*/ 319418 w 609614"/>
              <a:gd name="connsiteY134" fmla="*/ 208759 h 608697"/>
              <a:gd name="connsiteX135" fmla="*/ 306512 w 609614"/>
              <a:gd name="connsiteY135" fmla="*/ 177740 h 608697"/>
              <a:gd name="connsiteX136" fmla="*/ 302825 w 609614"/>
              <a:gd name="connsiteY136" fmla="*/ 171297 h 608697"/>
              <a:gd name="connsiteX137" fmla="*/ 325871 w 609614"/>
              <a:gd name="connsiteY137" fmla="*/ 148285 h 608697"/>
              <a:gd name="connsiteX138" fmla="*/ 284204 w 609614"/>
              <a:gd name="connsiteY138" fmla="*/ 106589 h 608697"/>
              <a:gd name="connsiteX139" fmla="*/ 261158 w 609614"/>
              <a:gd name="connsiteY139" fmla="*/ 129600 h 608697"/>
              <a:gd name="connsiteX140" fmla="*/ 254613 w 609614"/>
              <a:gd name="connsiteY140" fmla="*/ 125918 h 608697"/>
              <a:gd name="connsiteX141" fmla="*/ 223547 w 609614"/>
              <a:gd name="connsiteY141" fmla="*/ 113124 h 608697"/>
              <a:gd name="connsiteX142" fmla="*/ 216356 w 609614"/>
              <a:gd name="connsiteY142" fmla="*/ 111099 h 608697"/>
              <a:gd name="connsiteX143" fmla="*/ 216356 w 609614"/>
              <a:gd name="connsiteY143" fmla="*/ 78515 h 608697"/>
              <a:gd name="connsiteX144" fmla="*/ 450594 w 609614"/>
              <a:gd name="connsiteY144" fmla="*/ 46644 h 608697"/>
              <a:gd name="connsiteX145" fmla="*/ 464531 w 609614"/>
              <a:gd name="connsiteY145" fmla="*/ 60545 h 608697"/>
              <a:gd name="connsiteX146" fmla="*/ 450594 w 609614"/>
              <a:gd name="connsiteY146" fmla="*/ 74447 h 608697"/>
              <a:gd name="connsiteX147" fmla="*/ 436658 w 609614"/>
              <a:gd name="connsiteY147" fmla="*/ 60545 h 608697"/>
              <a:gd name="connsiteX148" fmla="*/ 394990 w 609614"/>
              <a:gd name="connsiteY148" fmla="*/ 46644 h 608697"/>
              <a:gd name="connsiteX149" fmla="*/ 408926 w 609614"/>
              <a:gd name="connsiteY149" fmla="*/ 60545 h 608697"/>
              <a:gd name="connsiteX150" fmla="*/ 394990 w 609614"/>
              <a:gd name="connsiteY150" fmla="*/ 74447 h 608697"/>
              <a:gd name="connsiteX151" fmla="*/ 381053 w 609614"/>
              <a:gd name="connsiteY151" fmla="*/ 60545 h 608697"/>
              <a:gd name="connsiteX152" fmla="*/ 412948 w 609614"/>
              <a:gd name="connsiteY152" fmla="*/ 39305 h 608697"/>
              <a:gd name="connsiteX153" fmla="*/ 432636 w 609614"/>
              <a:gd name="connsiteY153" fmla="*/ 39305 h 608697"/>
              <a:gd name="connsiteX154" fmla="*/ 432636 w 609614"/>
              <a:gd name="connsiteY154" fmla="*/ 58922 h 608697"/>
              <a:gd name="connsiteX155" fmla="*/ 412948 w 609614"/>
              <a:gd name="connsiteY155" fmla="*/ 58922 h 608697"/>
              <a:gd name="connsiteX156" fmla="*/ 550616 w 609614"/>
              <a:gd name="connsiteY156" fmla="*/ 19606 h 608697"/>
              <a:gd name="connsiteX157" fmla="*/ 511346 w 609614"/>
              <a:gd name="connsiteY157" fmla="*/ 58909 h 608697"/>
              <a:gd name="connsiteX158" fmla="*/ 511346 w 609614"/>
              <a:gd name="connsiteY158" fmla="*/ 78515 h 608697"/>
              <a:gd name="connsiteX159" fmla="*/ 589979 w 609614"/>
              <a:gd name="connsiteY159" fmla="*/ 78515 h 608697"/>
              <a:gd name="connsiteX160" fmla="*/ 589979 w 609614"/>
              <a:gd name="connsiteY160" fmla="*/ 58909 h 608697"/>
              <a:gd name="connsiteX161" fmla="*/ 550616 w 609614"/>
              <a:gd name="connsiteY161" fmla="*/ 19606 h 608697"/>
              <a:gd name="connsiteX162" fmla="*/ 157358 w 609614"/>
              <a:gd name="connsiteY162" fmla="*/ 19606 h 608697"/>
              <a:gd name="connsiteX163" fmla="*/ 117996 w 609614"/>
              <a:gd name="connsiteY163" fmla="*/ 58909 h 608697"/>
              <a:gd name="connsiteX164" fmla="*/ 117996 w 609614"/>
              <a:gd name="connsiteY164" fmla="*/ 104380 h 608697"/>
              <a:gd name="connsiteX165" fmla="*/ 137631 w 609614"/>
              <a:gd name="connsiteY165" fmla="*/ 96372 h 608697"/>
              <a:gd name="connsiteX166" fmla="*/ 137631 w 609614"/>
              <a:gd name="connsiteY166" fmla="*/ 58909 h 608697"/>
              <a:gd name="connsiteX167" fmla="*/ 235992 w 609614"/>
              <a:gd name="connsiteY167" fmla="*/ 58909 h 608697"/>
              <a:gd name="connsiteX168" fmla="*/ 235992 w 609614"/>
              <a:gd name="connsiteY168" fmla="*/ 96372 h 608697"/>
              <a:gd name="connsiteX169" fmla="*/ 257655 w 609614"/>
              <a:gd name="connsiteY169" fmla="*/ 105300 h 608697"/>
              <a:gd name="connsiteX170" fmla="*/ 284204 w 609614"/>
              <a:gd name="connsiteY170" fmla="*/ 78883 h 608697"/>
              <a:gd name="connsiteX171" fmla="*/ 353711 w 609614"/>
              <a:gd name="connsiteY171" fmla="*/ 148285 h 608697"/>
              <a:gd name="connsiteX172" fmla="*/ 327162 w 609614"/>
              <a:gd name="connsiteY172" fmla="*/ 174702 h 608697"/>
              <a:gd name="connsiteX173" fmla="*/ 336196 w 609614"/>
              <a:gd name="connsiteY173" fmla="*/ 196333 h 608697"/>
              <a:gd name="connsiteX174" fmla="*/ 373622 w 609614"/>
              <a:gd name="connsiteY174" fmla="*/ 196333 h 608697"/>
              <a:gd name="connsiteX175" fmla="*/ 373622 w 609614"/>
              <a:gd name="connsiteY175" fmla="*/ 294546 h 608697"/>
              <a:gd name="connsiteX176" fmla="*/ 336196 w 609614"/>
              <a:gd name="connsiteY176" fmla="*/ 294546 h 608697"/>
              <a:gd name="connsiteX177" fmla="*/ 327162 w 609614"/>
              <a:gd name="connsiteY177" fmla="*/ 316176 h 608697"/>
              <a:gd name="connsiteX178" fmla="*/ 353711 w 609614"/>
              <a:gd name="connsiteY178" fmla="*/ 342685 h 608697"/>
              <a:gd name="connsiteX179" fmla="*/ 284204 w 609614"/>
              <a:gd name="connsiteY179" fmla="*/ 412088 h 608697"/>
              <a:gd name="connsiteX180" fmla="*/ 257655 w 609614"/>
              <a:gd name="connsiteY180" fmla="*/ 385671 h 608697"/>
              <a:gd name="connsiteX181" fmla="*/ 235992 w 609614"/>
              <a:gd name="connsiteY181" fmla="*/ 394599 h 608697"/>
              <a:gd name="connsiteX182" fmla="*/ 235992 w 609614"/>
              <a:gd name="connsiteY182" fmla="*/ 431970 h 608697"/>
              <a:gd name="connsiteX183" fmla="*/ 137631 w 609614"/>
              <a:gd name="connsiteY183" fmla="*/ 431970 h 608697"/>
              <a:gd name="connsiteX184" fmla="*/ 137631 w 609614"/>
              <a:gd name="connsiteY184" fmla="*/ 394599 h 608697"/>
              <a:gd name="connsiteX185" fmla="*/ 117996 w 609614"/>
              <a:gd name="connsiteY185" fmla="*/ 386499 h 608697"/>
              <a:gd name="connsiteX186" fmla="*/ 117996 w 609614"/>
              <a:gd name="connsiteY186" fmla="*/ 510576 h 608697"/>
              <a:gd name="connsiteX187" fmla="*/ 412985 w 609614"/>
              <a:gd name="connsiteY187" fmla="*/ 510576 h 608697"/>
              <a:gd name="connsiteX188" fmla="*/ 412985 w 609614"/>
              <a:gd name="connsiteY188" fmla="*/ 549788 h 608697"/>
              <a:gd name="connsiteX189" fmla="*/ 452348 w 609614"/>
              <a:gd name="connsiteY189" fmla="*/ 589091 h 608697"/>
              <a:gd name="connsiteX190" fmla="*/ 491618 w 609614"/>
              <a:gd name="connsiteY190" fmla="*/ 549788 h 608697"/>
              <a:gd name="connsiteX191" fmla="*/ 491618 w 609614"/>
              <a:gd name="connsiteY191" fmla="*/ 439978 h 608697"/>
              <a:gd name="connsiteX192" fmla="*/ 471983 w 609614"/>
              <a:gd name="connsiteY192" fmla="*/ 412364 h 608697"/>
              <a:gd name="connsiteX193" fmla="*/ 472352 w 609614"/>
              <a:gd name="connsiteY193" fmla="*/ 408498 h 608697"/>
              <a:gd name="connsiteX194" fmla="*/ 419161 w 609614"/>
              <a:gd name="connsiteY194" fmla="*/ 378123 h 608697"/>
              <a:gd name="connsiteX195" fmla="*/ 403121 w 609614"/>
              <a:gd name="connsiteY195" fmla="*/ 382909 h 608697"/>
              <a:gd name="connsiteX196" fmla="*/ 390492 w 609614"/>
              <a:gd name="connsiteY196" fmla="*/ 379964 h 608697"/>
              <a:gd name="connsiteX197" fmla="*/ 331402 w 609614"/>
              <a:gd name="connsiteY197" fmla="*/ 439057 h 608697"/>
              <a:gd name="connsiteX198" fmla="*/ 334352 w 609614"/>
              <a:gd name="connsiteY198" fmla="*/ 451667 h 608697"/>
              <a:gd name="connsiteX199" fmla="*/ 304853 w 609614"/>
              <a:gd name="connsiteY199" fmla="*/ 481122 h 608697"/>
              <a:gd name="connsiteX200" fmla="*/ 275354 w 609614"/>
              <a:gd name="connsiteY200" fmla="*/ 451667 h 608697"/>
              <a:gd name="connsiteX201" fmla="*/ 304853 w 609614"/>
              <a:gd name="connsiteY201" fmla="*/ 422213 h 608697"/>
              <a:gd name="connsiteX202" fmla="*/ 317482 w 609614"/>
              <a:gd name="connsiteY202" fmla="*/ 425158 h 608697"/>
              <a:gd name="connsiteX203" fmla="*/ 376572 w 609614"/>
              <a:gd name="connsiteY203" fmla="*/ 366065 h 608697"/>
              <a:gd name="connsiteX204" fmla="*/ 373622 w 609614"/>
              <a:gd name="connsiteY204" fmla="*/ 353455 h 608697"/>
              <a:gd name="connsiteX205" fmla="*/ 403121 w 609614"/>
              <a:gd name="connsiteY205" fmla="*/ 324000 h 608697"/>
              <a:gd name="connsiteX206" fmla="*/ 432620 w 609614"/>
              <a:gd name="connsiteY206" fmla="*/ 353455 h 608697"/>
              <a:gd name="connsiteX207" fmla="*/ 431145 w 609614"/>
              <a:gd name="connsiteY207" fmla="*/ 362291 h 608697"/>
              <a:gd name="connsiteX208" fmla="*/ 481294 w 609614"/>
              <a:gd name="connsiteY208" fmla="*/ 390917 h 608697"/>
              <a:gd name="connsiteX209" fmla="*/ 491618 w 609614"/>
              <a:gd name="connsiteY209" fmla="*/ 384750 h 608697"/>
              <a:gd name="connsiteX210" fmla="*/ 491618 w 609614"/>
              <a:gd name="connsiteY210" fmla="*/ 58909 h 608697"/>
              <a:gd name="connsiteX211" fmla="*/ 506829 w 609614"/>
              <a:gd name="connsiteY211" fmla="*/ 19606 h 608697"/>
              <a:gd name="connsiteX212" fmla="*/ 157358 w 609614"/>
              <a:gd name="connsiteY212" fmla="*/ 0 h 608697"/>
              <a:gd name="connsiteX213" fmla="*/ 550616 w 609614"/>
              <a:gd name="connsiteY213" fmla="*/ 0 h 608697"/>
              <a:gd name="connsiteX214" fmla="*/ 609614 w 609614"/>
              <a:gd name="connsiteY214" fmla="*/ 58909 h 608697"/>
              <a:gd name="connsiteX215" fmla="*/ 609614 w 609614"/>
              <a:gd name="connsiteY215" fmla="*/ 98213 h 608697"/>
              <a:gd name="connsiteX216" fmla="*/ 511346 w 609614"/>
              <a:gd name="connsiteY216" fmla="*/ 98213 h 608697"/>
              <a:gd name="connsiteX217" fmla="*/ 511346 w 609614"/>
              <a:gd name="connsiteY217" fmla="*/ 380608 h 608697"/>
              <a:gd name="connsiteX218" fmla="*/ 558913 w 609614"/>
              <a:gd name="connsiteY218" fmla="*/ 285525 h 608697"/>
              <a:gd name="connsiteX219" fmla="*/ 550616 w 609614"/>
              <a:gd name="connsiteY219" fmla="*/ 265091 h 608697"/>
              <a:gd name="connsiteX220" fmla="*/ 580115 w 609614"/>
              <a:gd name="connsiteY220" fmla="*/ 235637 h 608697"/>
              <a:gd name="connsiteX221" fmla="*/ 609614 w 609614"/>
              <a:gd name="connsiteY221" fmla="*/ 265091 h 608697"/>
              <a:gd name="connsiteX222" fmla="*/ 580115 w 609614"/>
              <a:gd name="connsiteY222" fmla="*/ 294546 h 608697"/>
              <a:gd name="connsiteX223" fmla="*/ 576612 w 609614"/>
              <a:gd name="connsiteY223" fmla="*/ 294177 h 608697"/>
              <a:gd name="connsiteX224" fmla="*/ 525726 w 609614"/>
              <a:gd name="connsiteY224" fmla="*/ 395704 h 608697"/>
              <a:gd name="connsiteX225" fmla="*/ 530981 w 609614"/>
              <a:gd name="connsiteY225" fmla="*/ 412364 h 608697"/>
              <a:gd name="connsiteX226" fmla="*/ 511346 w 609614"/>
              <a:gd name="connsiteY226" fmla="*/ 439978 h 608697"/>
              <a:gd name="connsiteX227" fmla="*/ 511346 w 609614"/>
              <a:gd name="connsiteY227" fmla="*/ 549788 h 608697"/>
              <a:gd name="connsiteX228" fmla="*/ 452348 w 609614"/>
              <a:gd name="connsiteY228" fmla="*/ 608697 h 608697"/>
              <a:gd name="connsiteX229" fmla="*/ 58998 w 609614"/>
              <a:gd name="connsiteY229" fmla="*/ 608697 h 608697"/>
              <a:gd name="connsiteX230" fmla="*/ 0 w 609614"/>
              <a:gd name="connsiteY230" fmla="*/ 549788 h 608697"/>
              <a:gd name="connsiteX231" fmla="*/ 0 w 609614"/>
              <a:gd name="connsiteY231" fmla="*/ 510576 h 608697"/>
              <a:gd name="connsiteX232" fmla="*/ 98361 w 609614"/>
              <a:gd name="connsiteY232" fmla="*/ 510576 h 608697"/>
              <a:gd name="connsiteX233" fmla="*/ 98361 w 609614"/>
              <a:gd name="connsiteY233" fmla="*/ 403251 h 608697"/>
              <a:gd name="connsiteX234" fmla="*/ 89511 w 609614"/>
              <a:gd name="connsiteY234" fmla="*/ 412088 h 608697"/>
              <a:gd name="connsiteX235" fmla="*/ 19912 w 609614"/>
              <a:gd name="connsiteY235" fmla="*/ 342685 h 608697"/>
              <a:gd name="connsiteX236" fmla="*/ 46461 w 609614"/>
              <a:gd name="connsiteY236" fmla="*/ 316176 h 608697"/>
              <a:gd name="connsiteX237" fmla="*/ 37519 w 609614"/>
              <a:gd name="connsiteY237" fmla="*/ 294546 h 608697"/>
              <a:gd name="connsiteX238" fmla="*/ 0 w 609614"/>
              <a:gd name="connsiteY238" fmla="*/ 294546 h 608697"/>
              <a:gd name="connsiteX239" fmla="*/ 0 w 609614"/>
              <a:gd name="connsiteY239" fmla="*/ 196333 h 608697"/>
              <a:gd name="connsiteX240" fmla="*/ 37519 w 609614"/>
              <a:gd name="connsiteY240" fmla="*/ 196333 h 608697"/>
              <a:gd name="connsiteX241" fmla="*/ 46461 w 609614"/>
              <a:gd name="connsiteY241" fmla="*/ 174702 h 608697"/>
              <a:gd name="connsiteX242" fmla="*/ 20004 w 609614"/>
              <a:gd name="connsiteY242" fmla="*/ 148285 h 608697"/>
              <a:gd name="connsiteX243" fmla="*/ 89511 w 609614"/>
              <a:gd name="connsiteY243" fmla="*/ 78883 h 608697"/>
              <a:gd name="connsiteX244" fmla="*/ 98361 w 609614"/>
              <a:gd name="connsiteY244" fmla="*/ 87627 h 608697"/>
              <a:gd name="connsiteX245" fmla="*/ 98361 w 609614"/>
              <a:gd name="connsiteY245" fmla="*/ 58909 h 608697"/>
              <a:gd name="connsiteX246" fmla="*/ 157358 w 609614"/>
              <a:gd name="connsiteY246" fmla="*/ 0 h 60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Lst>
            <a:rect l="l" t="t" r="r" b="b"/>
            <a:pathLst>
              <a:path w="609614" h="608697">
                <a:moveTo>
                  <a:pt x="19635" y="530182"/>
                </a:moveTo>
                <a:lnTo>
                  <a:pt x="19635" y="549788"/>
                </a:lnTo>
                <a:cubicBezTo>
                  <a:pt x="19635" y="571511"/>
                  <a:pt x="37335" y="589091"/>
                  <a:pt x="58998" y="589091"/>
                </a:cubicBezTo>
                <a:lnTo>
                  <a:pt x="408376" y="589091"/>
                </a:lnTo>
                <a:cubicBezTo>
                  <a:pt x="399065" y="578690"/>
                  <a:pt x="393350" y="564883"/>
                  <a:pt x="393350" y="549788"/>
                </a:cubicBezTo>
                <a:lnTo>
                  <a:pt x="393350" y="530182"/>
                </a:lnTo>
                <a:close/>
                <a:moveTo>
                  <a:pt x="304853" y="441818"/>
                </a:moveTo>
                <a:cubicBezTo>
                  <a:pt x="299414" y="441818"/>
                  <a:pt x="294989" y="446237"/>
                  <a:pt x="294989" y="451667"/>
                </a:cubicBezTo>
                <a:cubicBezTo>
                  <a:pt x="294989" y="457098"/>
                  <a:pt x="299414" y="461424"/>
                  <a:pt x="304853" y="461424"/>
                </a:cubicBezTo>
                <a:cubicBezTo>
                  <a:pt x="310292" y="461424"/>
                  <a:pt x="314625" y="457098"/>
                  <a:pt x="314625" y="451667"/>
                </a:cubicBezTo>
                <a:cubicBezTo>
                  <a:pt x="314625" y="446237"/>
                  <a:pt x="310292" y="441818"/>
                  <a:pt x="304853" y="441818"/>
                </a:cubicBezTo>
                <a:close/>
                <a:moveTo>
                  <a:pt x="501482" y="402515"/>
                </a:moveTo>
                <a:cubicBezTo>
                  <a:pt x="496043" y="402515"/>
                  <a:pt x="491618" y="406933"/>
                  <a:pt x="491618" y="412364"/>
                </a:cubicBezTo>
                <a:cubicBezTo>
                  <a:pt x="491618" y="417795"/>
                  <a:pt x="496043" y="422213"/>
                  <a:pt x="501482" y="422213"/>
                </a:cubicBezTo>
                <a:cubicBezTo>
                  <a:pt x="506921" y="422213"/>
                  <a:pt x="511346" y="417795"/>
                  <a:pt x="511346" y="412364"/>
                </a:cubicBezTo>
                <a:cubicBezTo>
                  <a:pt x="511346" y="406933"/>
                  <a:pt x="506921" y="402515"/>
                  <a:pt x="501482" y="402515"/>
                </a:cubicBezTo>
                <a:close/>
                <a:moveTo>
                  <a:pt x="403121" y="343606"/>
                </a:moveTo>
                <a:cubicBezTo>
                  <a:pt x="397683" y="343606"/>
                  <a:pt x="393350" y="348024"/>
                  <a:pt x="393350" y="353455"/>
                </a:cubicBezTo>
                <a:cubicBezTo>
                  <a:pt x="393350" y="358885"/>
                  <a:pt x="397683" y="363304"/>
                  <a:pt x="403121" y="363304"/>
                </a:cubicBezTo>
                <a:cubicBezTo>
                  <a:pt x="408560" y="363304"/>
                  <a:pt x="412985" y="358885"/>
                  <a:pt x="412985" y="353455"/>
                </a:cubicBezTo>
                <a:cubicBezTo>
                  <a:pt x="412985" y="348024"/>
                  <a:pt x="408560" y="343606"/>
                  <a:pt x="403121" y="343606"/>
                </a:cubicBezTo>
                <a:close/>
                <a:moveTo>
                  <a:pt x="412948" y="284731"/>
                </a:moveTo>
                <a:lnTo>
                  <a:pt x="432636" y="284731"/>
                </a:lnTo>
                <a:lnTo>
                  <a:pt x="432636" y="304419"/>
                </a:lnTo>
                <a:lnTo>
                  <a:pt x="412948" y="304419"/>
                </a:lnTo>
                <a:close/>
                <a:moveTo>
                  <a:pt x="580115" y="255242"/>
                </a:moveTo>
                <a:cubicBezTo>
                  <a:pt x="574676" y="255242"/>
                  <a:pt x="570344" y="259660"/>
                  <a:pt x="570344" y="265091"/>
                </a:cubicBezTo>
                <a:cubicBezTo>
                  <a:pt x="570344" y="270522"/>
                  <a:pt x="574676" y="274940"/>
                  <a:pt x="580115" y="274940"/>
                </a:cubicBezTo>
                <a:cubicBezTo>
                  <a:pt x="585554" y="274940"/>
                  <a:pt x="589979" y="270522"/>
                  <a:pt x="589979" y="265091"/>
                </a:cubicBezTo>
                <a:cubicBezTo>
                  <a:pt x="589979" y="259660"/>
                  <a:pt x="585554" y="255242"/>
                  <a:pt x="580115" y="255242"/>
                </a:cubicBezTo>
                <a:close/>
                <a:moveTo>
                  <a:pt x="176968" y="166887"/>
                </a:moveTo>
                <a:lnTo>
                  <a:pt x="196604" y="166887"/>
                </a:lnTo>
                <a:lnTo>
                  <a:pt x="196604" y="186588"/>
                </a:lnTo>
                <a:lnTo>
                  <a:pt x="201583" y="186588"/>
                </a:lnTo>
                <a:cubicBezTo>
                  <a:pt x="220574" y="186588"/>
                  <a:pt x="235970" y="201962"/>
                  <a:pt x="235970" y="220927"/>
                </a:cubicBezTo>
                <a:lnTo>
                  <a:pt x="235970" y="225806"/>
                </a:lnTo>
                <a:lnTo>
                  <a:pt x="216333" y="225806"/>
                </a:lnTo>
                <a:lnTo>
                  <a:pt x="216333" y="220927"/>
                </a:lnTo>
                <a:cubicBezTo>
                  <a:pt x="216333" y="212826"/>
                  <a:pt x="209696" y="206197"/>
                  <a:pt x="201583" y="206197"/>
                </a:cubicBezTo>
                <a:lnTo>
                  <a:pt x="172082" y="206197"/>
                </a:lnTo>
                <a:cubicBezTo>
                  <a:pt x="163876" y="206197"/>
                  <a:pt x="157331" y="212826"/>
                  <a:pt x="157331" y="220927"/>
                </a:cubicBezTo>
                <a:cubicBezTo>
                  <a:pt x="157331" y="229029"/>
                  <a:pt x="163876" y="235657"/>
                  <a:pt x="172082" y="235657"/>
                </a:cubicBezTo>
                <a:lnTo>
                  <a:pt x="201583" y="235657"/>
                </a:lnTo>
                <a:cubicBezTo>
                  <a:pt x="220574" y="235657"/>
                  <a:pt x="235970" y="251031"/>
                  <a:pt x="235970" y="269996"/>
                </a:cubicBezTo>
                <a:cubicBezTo>
                  <a:pt x="235970" y="288961"/>
                  <a:pt x="220574" y="304427"/>
                  <a:pt x="201583" y="304427"/>
                </a:cubicBezTo>
                <a:lnTo>
                  <a:pt x="196604" y="304427"/>
                </a:lnTo>
                <a:lnTo>
                  <a:pt x="196604" y="324036"/>
                </a:lnTo>
                <a:lnTo>
                  <a:pt x="176968" y="324036"/>
                </a:lnTo>
                <a:lnTo>
                  <a:pt x="176968" y="304427"/>
                </a:lnTo>
                <a:lnTo>
                  <a:pt x="172082" y="304427"/>
                </a:lnTo>
                <a:cubicBezTo>
                  <a:pt x="153090" y="304427"/>
                  <a:pt x="137602" y="288961"/>
                  <a:pt x="137602" y="269996"/>
                </a:cubicBezTo>
                <a:lnTo>
                  <a:pt x="137602" y="265117"/>
                </a:lnTo>
                <a:lnTo>
                  <a:pt x="157331" y="265117"/>
                </a:lnTo>
                <a:lnTo>
                  <a:pt x="157331" y="269996"/>
                </a:lnTo>
                <a:cubicBezTo>
                  <a:pt x="157331" y="278189"/>
                  <a:pt x="163876" y="284726"/>
                  <a:pt x="172082" y="284726"/>
                </a:cubicBezTo>
                <a:lnTo>
                  <a:pt x="201583" y="284726"/>
                </a:lnTo>
                <a:cubicBezTo>
                  <a:pt x="209696" y="284726"/>
                  <a:pt x="216333" y="278189"/>
                  <a:pt x="216333" y="269996"/>
                </a:cubicBezTo>
                <a:cubicBezTo>
                  <a:pt x="216333" y="261894"/>
                  <a:pt x="209696" y="255266"/>
                  <a:pt x="201583" y="255266"/>
                </a:cubicBezTo>
                <a:lnTo>
                  <a:pt x="172082" y="255266"/>
                </a:lnTo>
                <a:cubicBezTo>
                  <a:pt x="153090" y="255266"/>
                  <a:pt x="137602" y="239892"/>
                  <a:pt x="137602" y="220927"/>
                </a:cubicBezTo>
                <a:cubicBezTo>
                  <a:pt x="137602" y="201962"/>
                  <a:pt x="153090" y="186588"/>
                  <a:pt x="172082" y="186588"/>
                </a:cubicBezTo>
                <a:lnTo>
                  <a:pt x="176968" y="186588"/>
                </a:lnTo>
                <a:close/>
                <a:moveTo>
                  <a:pt x="412948" y="157149"/>
                </a:moveTo>
                <a:lnTo>
                  <a:pt x="432636" y="157149"/>
                </a:lnTo>
                <a:lnTo>
                  <a:pt x="432636" y="265114"/>
                </a:lnTo>
                <a:lnTo>
                  <a:pt x="412948" y="265114"/>
                </a:lnTo>
                <a:close/>
                <a:moveTo>
                  <a:pt x="186858" y="147263"/>
                </a:moveTo>
                <a:cubicBezTo>
                  <a:pt x="132658" y="147263"/>
                  <a:pt x="88506" y="191362"/>
                  <a:pt x="88506" y="245497"/>
                </a:cubicBezTo>
                <a:cubicBezTo>
                  <a:pt x="88506" y="299632"/>
                  <a:pt x="132658" y="343639"/>
                  <a:pt x="186858" y="343639"/>
                </a:cubicBezTo>
                <a:cubicBezTo>
                  <a:pt x="241057" y="343639"/>
                  <a:pt x="285117" y="299632"/>
                  <a:pt x="285117" y="245497"/>
                </a:cubicBezTo>
                <a:cubicBezTo>
                  <a:pt x="285117" y="191362"/>
                  <a:pt x="241057" y="147263"/>
                  <a:pt x="186858" y="147263"/>
                </a:cubicBezTo>
                <a:close/>
                <a:moveTo>
                  <a:pt x="186858" y="127653"/>
                </a:moveTo>
                <a:cubicBezTo>
                  <a:pt x="251842" y="127653"/>
                  <a:pt x="304843" y="180499"/>
                  <a:pt x="304843" y="245497"/>
                </a:cubicBezTo>
                <a:cubicBezTo>
                  <a:pt x="304843" y="310403"/>
                  <a:pt x="251842" y="363341"/>
                  <a:pt x="186858" y="363341"/>
                </a:cubicBezTo>
                <a:cubicBezTo>
                  <a:pt x="121781" y="363341"/>
                  <a:pt x="68872" y="310403"/>
                  <a:pt x="68872" y="245497"/>
                </a:cubicBezTo>
                <a:cubicBezTo>
                  <a:pt x="68872" y="180499"/>
                  <a:pt x="121781" y="127653"/>
                  <a:pt x="186858" y="127653"/>
                </a:cubicBezTo>
                <a:close/>
                <a:moveTo>
                  <a:pt x="412948" y="117844"/>
                </a:moveTo>
                <a:lnTo>
                  <a:pt x="432636" y="117844"/>
                </a:lnTo>
                <a:lnTo>
                  <a:pt x="432636" y="137461"/>
                </a:lnTo>
                <a:lnTo>
                  <a:pt x="412948" y="137461"/>
                </a:lnTo>
                <a:close/>
                <a:moveTo>
                  <a:pt x="450584" y="102249"/>
                </a:moveTo>
                <a:lnTo>
                  <a:pt x="464532" y="116151"/>
                </a:lnTo>
                <a:lnTo>
                  <a:pt x="450584" y="130052"/>
                </a:lnTo>
                <a:lnTo>
                  <a:pt x="436729" y="116151"/>
                </a:lnTo>
                <a:close/>
                <a:moveTo>
                  <a:pt x="394990" y="102249"/>
                </a:moveTo>
                <a:lnTo>
                  <a:pt x="408926" y="116151"/>
                </a:lnTo>
                <a:lnTo>
                  <a:pt x="394990" y="130052"/>
                </a:lnTo>
                <a:lnTo>
                  <a:pt x="381053" y="116151"/>
                </a:lnTo>
                <a:close/>
                <a:moveTo>
                  <a:pt x="452324" y="78539"/>
                </a:moveTo>
                <a:lnTo>
                  <a:pt x="471941" y="78539"/>
                </a:lnTo>
                <a:lnTo>
                  <a:pt x="471941" y="98227"/>
                </a:lnTo>
                <a:lnTo>
                  <a:pt x="452324" y="98227"/>
                </a:lnTo>
                <a:close/>
                <a:moveTo>
                  <a:pt x="373643" y="78539"/>
                </a:moveTo>
                <a:lnTo>
                  <a:pt x="393331" y="78539"/>
                </a:lnTo>
                <a:lnTo>
                  <a:pt x="393331" y="98227"/>
                </a:lnTo>
                <a:lnTo>
                  <a:pt x="373643" y="98227"/>
                </a:lnTo>
                <a:close/>
                <a:moveTo>
                  <a:pt x="157358" y="78515"/>
                </a:moveTo>
                <a:lnTo>
                  <a:pt x="157358" y="111099"/>
                </a:lnTo>
                <a:lnTo>
                  <a:pt x="150076" y="113124"/>
                </a:lnTo>
                <a:cubicBezTo>
                  <a:pt x="139106" y="116161"/>
                  <a:pt x="128689" y="120488"/>
                  <a:pt x="119010" y="125918"/>
                </a:cubicBezTo>
                <a:lnTo>
                  <a:pt x="112557" y="129600"/>
                </a:lnTo>
                <a:lnTo>
                  <a:pt x="89511" y="106589"/>
                </a:lnTo>
                <a:lnTo>
                  <a:pt x="47751" y="148285"/>
                </a:lnTo>
                <a:lnTo>
                  <a:pt x="70797" y="171297"/>
                </a:lnTo>
                <a:lnTo>
                  <a:pt x="67110" y="177740"/>
                </a:lnTo>
                <a:cubicBezTo>
                  <a:pt x="61579" y="187405"/>
                  <a:pt x="57339" y="197806"/>
                  <a:pt x="54296" y="208759"/>
                </a:cubicBezTo>
                <a:lnTo>
                  <a:pt x="52268" y="216031"/>
                </a:lnTo>
                <a:lnTo>
                  <a:pt x="19635" y="216031"/>
                </a:lnTo>
                <a:lnTo>
                  <a:pt x="19635" y="274940"/>
                </a:lnTo>
                <a:lnTo>
                  <a:pt x="52268" y="274940"/>
                </a:lnTo>
                <a:lnTo>
                  <a:pt x="54296" y="282119"/>
                </a:lnTo>
                <a:cubicBezTo>
                  <a:pt x="57339" y="293073"/>
                  <a:pt x="61579" y="303474"/>
                  <a:pt x="67110" y="313139"/>
                </a:cubicBezTo>
                <a:lnTo>
                  <a:pt x="70797" y="319674"/>
                </a:lnTo>
                <a:lnTo>
                  <a:pt x="47751" y="342685"/>
                </a:lnTo>
                <a:lnTo>
                  <a:pt x="89511" y="384290"/>
                </a:lnTo>
                <a:lnTo>
                  <a:pt x="112557" y="361279"/>
                </a:lnTo>
                <a:lnTo>
                  <a:pt x="119010" y="364960"/>
                </a:lnTo>
                <a:cubicBezTo>
                  <a:pt x="128689" y="370483"/>
                  <a:pt x="139106" y="374809"/>
                  <a:pt x="150076" y="377847"/>
                </a:cubicBezTo>
                <a:lnTo>
                  <a:pt x="157358" y="379780"/>
                </a:lnTo>
                <a:lnTo>
                  <a:pt x="157358" y="412364"/>
                </a:lnTo>
                <a:lnTo>
                  <a:pt x="216356" y="412364"/>
                </a:lnTo>
                <a:lnTo>
                  <a:pt x="216356" y="379780"/>
                </a:lnTo>
                <a:lnTo>
                  <a:pt x="223547" y="377847"/>
                </a:lnTo>
                <a:cubicBezTo>
                  <a:pt x="234517" y="374809"/>
                  <a:pt x="244933" y="370483"/>
                  <a:pt x="254613" y="364960"/>
                </a:cubicBezTo>
                <a:lnTo>
                  <a:pt x="261158" y="361279"/>
                </a:lnTo>
                <a:lnTo>
                  <a:pt x="284204" y="384290"/>
                </a:lnTo>
                <a:lnTo>
                  <a:pt x="325871" y="342685"/>
                </a:lnTo>
                <a:lnTo>
                  <a:pt x="302825" y="319674"/>
                </a:lnTo>
                <a:lnTo>
                  <a:pt x="306512" y="313139"/>
                </a:lnTo>
                <a:cubicBezTo>
                  <a:pt x="312043" y="303474"/>
                  <a:pt x="316376" y="293073"/>
                  <a:pt x="319418" y="282119"/>
                </a:cubicBezTo>
                <a:lnTo>
                  <a:pt x="321354" y="274940"/>
                </a:lnTo>
                <a:lnTo>
                  <a:pt x="353987" y="274940"/>
                </a:lnTo>
                <a:lnTo>
                  <a:pt x="353987" y="216031"/>
                </a:lnTo>
                <a:lnTo>
                  <a:pt x="321354" y="216031"/>
                </a:lnTo>
                <a:lnTo>
                  <a:pt x="319418" y="208759"/>
                </a:lnTo>
                <a:cubicBezTo>
                  <a:pt x="316376" y="197806"/>
                  <a:pt x="312043" y="187405"/>
                  <a:pt x="306512" y="177740"/>
                </a:cubicBezTo>
                <a:lnTo>
                  <a:pt x="302825" y="171297"/>
                </a:lnTo>
                <a:lnTo>
                  <a:pt x="325871" y="148285"/>
                </a:lnTo>
                <a:lnTo>
                  <a:pt x="284204" y="106589"/>
                </a:lnTo>
                <a:lnTo>
                  <a:pt x="261158" y="129600"/>
                </a:lnTo>
                <a:lnTo>
                  <a:pt x="254613" y="125918"/>
                </a:lnTo>
                <a:cubicBezTo>
                  <a:pt x="244933" y="120396"/>
                  <a:pt x="234517" y="116161"/>
                  <a:pt x="223547" y="113124"/>
                </a:cubicBezTo>
                <a:lnTo>
                  <a:pt x="216356" y="111099"/>
                </a:lnTo>
                <a:lnTo>
                  <a:pt x="216356" y="78515"/>
                </a:lnTo>
                <a:close/>
                <a:moveTo>
                  <a:pt x="450594" y="46644"/>
                </a:moveTo>
                <a:lnTo>
                  <a:pt x="464531" y="60545"/>
                </a:lnTo>
                <a:lnTo>
                  <a:pt x="450594" y="74447"/>
                </a:lnTo>
                <a:lnTo>
                  <a:pt x="436658" y="60545"/>
                </a:lnTo>
                <a:close/>
                <a:moveTo>
                  <a:pt x="394990" y="46644"/>
                </a:moveTo>
                <a:lnTo>
                  <a:pt x="408926" y="60545"/>
                </a:lnTo>
                <a:lnTo>
                  <a:pt x="394990" y="74447"/>
                </a:lnTo>
                <a:lnTo>
                  <a:pt x="381053" y="60545"/>
                </a:lnTo>
                <a:close/>
                <a:moveTo>
                  <a:pt x="412948" y="39305"/>
                </a:moveTo>
                <a:lnTo>
                  <a:pt x="432636" y="39305"/>
                </a:lnTo>
                <a:lnTo>
                  <a:pt x="432636" y="58922"/>
                </a:lnTo>
                <a:lnTo>
                  <a:pt x="412948" y="58922"/>
                </a:lnTo>
                <a:close/>
                <a:moveTo>
                  <a:pt x="550616" y="19606"/>
                </a:moveTo>
                <a:cubicBezTo>
                  <a:pt x="528953" y="19606"/>
                  <a:pt x="511346" y="37278"/>
                  <a:pt x="511346" y="58909"/>
                </a:cubicBezTo>
                <a:lnTo>
                  <a:pt x="511346" y="78515"/>
                </a:lnTo>
                <a:lnTo>
                  <a:pt x="589979" y="78515"/>
                </a:lnTo>
                <a:lnTo>
                  <a:pt x="589979" y="58909"/>
                </a:lnTo>
                <a:cubicBezTo>
                  <a:pt x="589979" y="37278"/>
                  <a:pt x="572372" y="19606"/>
                  <a:pt x="550616" y="19606"/>
                </a:cubicBezTo>
                <a:close/>
                <a:moveTo>
                  <a:pt x="157358" y="19606"/>
                </a:moveTo>
                <a:cubicBezTo>
                  <a:pt x="135603" y="19606"/>
                  <a:pt x="117996" y="37278"/>
                  <a:pt x="117996" y="58909"/>
                </a:cubicBezTo>
                <a:lnTo>
                  <a:pt x="117996" y="104380"/>
                </a:lnTo>
                <a:cubicBezTo>
                  <a:pt x="124356" y="101250"/>
                  <a:pt x="130902" y="98581"/>
                  <a:pt x="137631" y="96372"/>
                </a:cubicBezTo>
                <a:lnTo>
                  <a:pt x="137631" y="58909"/>
                </a:lnTo>
                <a:lnTo>
                  <a:pt x="235992" y="58909"/>
                </a:lnTo>
                <a:lnTo>
                  <a:pt x="235992" y="96372"/>
                </a:lnTo>
                <a:cubicBezTo>
                  <a:pt x="243458" y="98765"/>
                  <a:pt x="250741" y="101802"/>
                  <a:pt x="257655" y="105300"/>
                </a:cubicBezTo>
                <a:lnTo>
                  <a:pt x="284204" y="78883"/>
                </a:lnTo>
                <a:lnTo>
                  <a:pt x="353711" y="148285"/>
                </a:lnTo>
                <a:lnTo>
                  <a:pt x="327162" y="174702"/>
                </a:lnTo>
                <a:cubicBezTo>
                  <a:pt x="330665" y="181606"/>
                  <a:pt x="333707" y="188877"/>
                  <a:pt x="336196" y="196333"/>
                </a:cubicBezTo>
                <a:lnTo>
                  <a:pt x="373622" y="196333"/>
                </a:lnTo>
                <a:lnTo>
                  <a:pt x="373622" y="294546"/>
                </a:lnTo>
                <a:lnTo>
                  <a:pt x="336196" y="294546"/>
                </a:lnTo>
                <a:cubicBezTo>
                  <a:pt x="333707" y="302001"/>
                  <a:pt x="330665" y="309273"/>
                  <a:pt x="327162" y="316176"/>
                </a:cubicBezTo>
                <a:lnTo>
                  <a:pt x="353711" y="342685"/>
                </a:lnTo>
                <a:lnTo>
                  <a:pt x="284204" y="412088"/>
                </a:lnTo>
                <a:lnTo>
                  <a:pt x="257655" y="385671"/>
                </a:lnTo>
                <a:cubicBezTo>
                  <a:pt x="250741" y="389168"/>
                  <a:pt x="243458" y="392114"/>
                  <a:pt x="235992" y="394599"/>
                </a:cubicBezTo>
                <a:lnTo>
                  <a:pt x="235992" y="431970"/>
                </a:lnTo>
                <a:lnTo>
                  <a:pt x="137631" y="431970"/>
                </a:lnTo>
                <a:lnTo>
                  <a:pt x="137631" y="394599"/>
                </a:lnTo>
                <a:cubicBezTo>
                  <a:pt x="130902" y="392298"/>
                  <a:pt x="124356" y="389629"/>
                  <a:pt x="117996" y="386499"/>
                </a:cubicBezTo>
                <a:lnTo>
                  <a:pt x="117996" y="510576"/>
                </a:lnTo>
                <a:lnTo>
                  <a:pt x="412985" y="510576"/>
                </a:lnTo>
                <a:lnTo>
                  <a:pt x="412985" y="549788"/>
                </a:lnTo>
                <a:cubicBezTo>
                  <a:pt x="412985" y="571511"/>
                  <a:pt x="430592" y="589091"/>
                  <a:pt x="452348" y="589091"/>
                </a:cubicBezTo>
                <a:cubicBezTo>
                  <a:pt x="474011" y="589091"/>
                  <a:pt x="491618" y="571511"/>
                  <a:pt x="491618" y="549788"/>
                </a:cubicBezTo>
                <a:lnTo>
                  <a:pt x="491618" y="439978"/>
                </a:lnTo>
                <a:cubicBezTo>
                  <a:pt x="480187" y="435928"/>
                  <a:pt x="471983" y="425158"/>
                  <a:pt x="471983" y="412364"/>
                </a:cubicBezTo>
                <a:cubicBezTo>
                  <a:pt x="471983" y="410983"/>
                  <a:pt x="472167" y="409787"/>
                  <a:pt x="472352" y="408498"/>
                </a:cubicBezTo>
                <a:lnTo>
                  <a:pt x="419161" y="378123"/>
                </a:lnTo>
                <a:cubicBezTo>
                  <a:pt x="414552" y="381160"/>
                  <a:pt x="409113" y="382909"/>
                  <a:pt x="403121" y="382909"/>
                </a:cubicBezTo>
                <a:cubicBezTo>
                  <a:pt x="398604" y="382909"/>
                  <a:pt x="394364" y="381805"/>
                  <a:pt x="390492" y="379964"/>
                </a:cubicBezTo>
                <a:lnTo>
                  <a:pt x="331402" y="439057"/>
                </a:lnTo>
                <a:cubicBezTo>
                  <a:pt x="333246" y="442831"/>
                  <a:pt x="334352" y="447065"/>
                  <a:pt x="334352" y="451667"/>
                </a:cubicBezTo>
                <a:cubicBezTo>
                  <a:pt x="334352" y="467867"/>
                  <a:pt x="321078" y="481122"/>
                  <a:pt x="304853" y="481122"/>
                </a:cubicBezTo>
                <a:cubicBezTo>
                  <a:pt x="288536" y="481122"/>
                  <a:pt x="275354" y="467867"/>
                  <a:pt x="275354" y="451667"/>
                </a:cubicBezTo>
                <a:cubicBezTo>
                  <a:pt x="275354" y="435375"/>
                  <a:pt x="288536" y="422213"/>
                  <a:pt x="304853" y="422213"/>
                </a:cubicBezTo>
                <a:cubicBezTo>
                  <a:pt x="309370" y="422213"/>
                  <a:pt x="313611" y="423317"/>
                  <a:pt x="317482" y="425158"/>
                </a:cubicBezTo>
                <a:lnTo>
                  <a:pt x="376572" y="366065"/>
                </a:lnTo>
                <a:cubicBezTo>
                  <a:pt x="374729" y="362199"/>
                  <a:pt x="373622" y="357965"/>
                  <a:pt x="373622" y="353455"/>
                </a:cubicBezTo>
                <a:cubicBezTo>
                  <a:pt x="373622" y="337255"/>
                  <a:pt x="386897" y="324000"/>
                  <a:pt x="403121" y="324000"/>
                </a:cubicBezTo>
                <a:cubicBezTo>
                  <a:pt x="419438" y="324000"/>
                  <a:pt x="432620" y="337255"/>
                  <a:pt x="432620" y="353455"/>
                </a:cubicBezTo>
                <a:cubicBezTo>
                  <a:pt x="432620" y="356584"/>
                  <a:pt x="432067" y="359530"/>
                  <a:pt x="431145" y="362291"/>
                </a:cubicBezTo>
                <a:lnTo>
                  <a:pt x="481294" y="390917"/>
                </a:lnTo>
                <a:cubicBezTo>
                  <a:pt x="484244" y="388156"/>
                  <a:pt x="487746" y="386131"/>
                  <a:pt x="491618" y="384750"/>
                </a:cubicBezTo>
                <a:lnTo>
                  <a:pt x="491618" y="58909"/>
                </a:lnTo>
                <a:cubicBezTo>
                  <a:pt x="491618" y="43814"/>
                  <a:pt x="497426" y="30099"/>
                  <a:pt x="506829" y="19606"/>
                </a:cubicBezTo>
                <a:close/>
                <a:moveTo>
                  <a:pt x="157358" y="0"/>
                </a:moveTo>
                <a:lnTo>
                  <a:pt x="550616" y="0"/>
                </a:lnTo>
                <a:cubicBezTo>
                  <a:pt x="583157" y="0"/>
                  <a:pt x="609614" y="26417"/>
                  <a:pt x="609614" y="58909"/>
                </a:cubicBezTo>
                <a:lnTo>
                  <a:pt x="609614" y="98213"/>
                </a:lnTo>
                <a:lnTo>
                  <a:pt x="511346" y="98213"/>
                </a:lnTo>
                <a:lnTo>
                  <a:pt x="511346" y="380608"/>
                </a:lnTo>
                <a:lnTo>
                  <a:pt x="558913" y="285525"/>
                </a:lnTo>
                <a:cubicBezTo>
                  <a:pt x="553843" y="280187"/>
                  <a:pt x="550616" y="273007"/>
                  <a:pt x="550616" y="265091"/>
                </a:cubicBezTo>
                <a:cubicBezTo>
                  <a:pt x="550616" y="248891"/>
                  <a:pt x="563891" y="235637"/>
                  <a:pt x="580115" y="235637"/>
                </a:cubicBezTo>
                <a:cubicBezTo>
                  <a:pt x="596432" y="235637"/>
                  <a:pt x="609614" y="248891"/>
                  <a:pt x="609614" y="265091"/>
                </a:cubicBezTo>
                <a:cubicBezTo>
                  <a:pt x="609614" y="281291"/>
                  <a:pt x="596432" y="294546"/>
                  <a:pt x="580115" y="294546"/>
                </a:cubicBezTo>
                <a:cubicBezTo>
                  <a:pt x="578917" y="294546"/>
                  <a:pt x="577718" y="294362"/>
                  <a:pt x="576612" y="294177"/>
                </a:cubicBezTo>
                <a:lnTo>
                  <a:pt x="525726" y="395704"/>
                </a:lnTo>
                <a:cubicBezTo>
                  <a:pt x="529045" y="400398"/>
                  <a:pt x="530981" y="406197"/>
                  <a:pt x="530981" y="412364"/>
                </a:cubicBezTo>
                <a:cubicBezTo>
                  <a:pt x="530981" y="425158"/>
                  <a:pt x="522776" y="435928"/>
                  <a:pt x="511346" y="439978"/>
                </a:cubicBezTo>
                <a:lnTo>
                  <a:pt x="511346" y="549788"/>
                </a:lnTo>
                <a:cubicBezTo>
                  <a:pt x="511346" y="582280"/>
                  <a:pt x="484889" y="608697"/>
                  <a:pt x="452348" y="608697"/>
                </a:cubicBezTo>
                <a:lnTo>
                  <a:pt x="58998" y="608697"/>
                </a:lnTo>
                <a:cubicBezTo>
                  <a:pt x="26457" y="608697"/>
                  <a:pt x="0" y="582280"/>
                  <a:pt x="0" y="549788"/>
                </a:cubicBezTo>
                <a:lnTo>
                  <a:pt x="0" y="510576"/>
                </a:lnTo>
                <a:lnTo>
                  <a:pt x="98361" y="510576"/>
                </a:lnTo>
                <a:lnTo>
                  <a:pt x="98361" y="403251"/>
                </a:lnTo>
                <a:lnTo>
                  <a:pt x="89511" y="412088"/>
                </a:lnTo>
                <a:lnTo>
                  <a:pt x="19912" y="342685"/>
                </a:lnTo>
                <a:lnTo>
                  <a:pt x="46461" y="316176"/>
                </a:lnTo>
                <a:cubicBezTo>
                  <a:pt x="42958" y="309273"/>
                  <a:pt x="39916" y="302001"/>
                  <a:pt x="37519" y="294546"/>
                </a:cubicBezTo>
                <a:lnTo>
                  <a:pt x="0" y="294546"/>
                </a:lnTo>
                <a:lnTo>
                  <a:pt x="0" y="196333"/>
                </a:lnTo>
                <a:lnTo>
                  <a:pt x="37519" y="196333"/>
                </a:lnTo>
                <a:cubicBezTo>
                  <a:pt x="39916" y="188877"/>
                  <a:pt x="42958" y="181606"/>
                  <a:pt x="46461" y="174702"/>
                </a:cubicBezTo>
                <a:lnTo>
                  <a:pt x="20004" y="148285"/>
                </a:lnTo>
                <a:lnTo>
                  <a:pt x="89511" y="78883"/>
                </a:lnTo>
                <a:lnTo>
                  <a:pt x="98361" y="87627"/>
                </a:lnTo>
                <a:lnTo>
                  <a:pt x="98361" y="58909"/>
                </a:lnTo>
                <a:cubicBezTo>
                  <a:pt x="98361" y="26417"/>
                  <a:pt x="124817" y="0"/>
                  <a:pt x="15735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3" name="熊大的PPT宝库37"/>
          <p:cNvSpPr/>
          <p:nvPr/>
        </p:nvSpPr>
        <p:spPr>
          <a:xfrm>
            <a:off x="8648275" y="5688828"/>
            <a:ext cx="518314" cy="352168"/>
          </a:xfrm>
          <a:custGeom>
            <a:avLst/>
            <a:gdLst>
              <a:gd name="connsiteX0" fmla="*/ 39685 w 589769"/>
              <a:gd name="connsiteY0" fmla="*/ 318009 h 390381"/>
              <a:gd name="connsiteX1" fmla="*/ 17691 w 589769"/>
              <a:gd name="connsiteY1" fmla="*/ 318486 h 390381"/>
              <a:gd name="connsiteX2" fmla="*/ 18169 w 589769"/>
              <a:gd name="connsiteY2" fmla="*/ 320873 h 390381"/>
              <a:gd name="connsiteX3" fmla="*/ 40641 w 589769"/>
              <a:gd name="connsiteY3" fmla="*/ 323261 h 390381"/>
              <a:gd name="connsiteX4" fmla="*/ 39685 w 589769"/>
              <a:gd name="connsiteY4" fmla="*/ 318009 h 390381"/>
              <a:gd name="connsiteX5" fmla="*/ 474126 w 589769"/>
              <a:gd name="connsiteY5" fmla="*/ 311487 h 390381"/>
              <a:gd name="connsiteX6" fmla="*/ 488154 w 589769"/>
              <a:gd name="connsiteY6" fmla="*/ 322826 h 390381"/>
              <a:gd name="connsiteX7" fmla="*/ 468097 w 589769"/>
              <a:gd name="connsiteY7" fmla="*/ 340013 h 390381"/>
              <a:gd name="connsiteX8" fmla="*/ 452337 w 589769"/>
              <a:gd name="connsiteY8" fmla="*/ 329032 h 390381"/>
              <a:gd name="connsiteX9" fmla="*/ 456158 w 589769"/>
              <a:gd name="connsiteY9" fmla="*/ 313755 h 390381"/>
              <a:gd name="connsiteX10" fmla="*/ 474126 w 589769"/>
              <a:gd name="connsiteY10" fmla="*/ 311487 h 390381"/>
              <a:gd name="connsiteX11" fmla="*/ 335171 w 589769"/>
              <a:gd name="connsiteY11" fmla="*/ 309414 h 390381"/>
              <a:gd name="connsiteX12" fmla="*/ 325130 w 589769"/>
              <a:gd name="connsiteY12" fmla="*/ 309891 h 390381"/>
              <a:gd name="connsiteX13" fmla="*/ 184559 w 589769"/>
              <a:gd name="connsiteY13" fmla="*/ 314189 h 390381"/>
              <a:gd name="connsiteX14" fmla="*/ 170693 w 589769"/>
              <a:gd name="connsiteY14" fmla="*/ 316099 h 390381"/>
              <a:gd name="connsiteX15" fmla="*/ 165912 w 589769"/>
              <a:gd name="connsiteY15" fmla="*/ 328513 h 390381"/>
              <a:gd name="connsiteX16" fmla="*/ 335649 w 589769"/>
              <a:gd name="connsiteY16" fmla="*/ 327081 h 390381"/>
              <a:gd name="connsiteX17" fmla="*/ 335171 w 589769"/>
              <a:gd name="connsiteY17" fmla="*/ 309414 h 390381"/>
              <a:gd name="connsiteX18" fmla="*/ 104743 w 589769"/>
              <a:gd name="connsiteY18" fmla="*/ 304197 h 390381"/>
              <a:gd name="connsiteX19" fmla="*/ 120525 w 589769"/>
              <a:gd name="connsiteY19" fmla="*/ 319948 h 390381"/>
              <a:gd name="connsiteX20" fmla="*/ 101874 w 589769"/>
              <a:gd name="connsiteY20" fmla="*/ 337130 h 390381"/>
              <a:gd name="connsiteX21" fmla="*/ 85613 w 589769"/>
              <a:gd name="connsiteY21" fmla="*/ 320425 h 390381"/>
              <a:gd name="connsiteX22" fmla="*/ 104743 w 589769"/>
              <a:gd name="connsiteY22" fmla="*/ 304197 h 390381"/>
              <a:gd name="connsiteX23" fmla="*/ 458290 w 589769"/>
              <a:gd name="connsiteY23" fmla="*/ 268708 h 390381"/>
              <a:gd name="connsiteX24" fmla="*/ 433666 w 589769"/>
              <a:gd name="connsiteY24" fmla="*/ 283152 h 390381"/>
              <a:gd name="connsiteX25" fmla="*/ 431275 w 589769"/>
              <a:gd name="connsiteY25" fmla="*/ 366235 h 390381"/>
              <a:gd name="connsiteX26" fmla="*/ 444663 w 589769"/>
              <a:gd name="connsiteY26" fmla="*/ 374830 h 390381"/>
              <a:gd name="connsiteX27" fmla="*/ 489129 w 589769"/>
              <a:gd name="connsiteY27" fmla="*/ 373397 h 390381"/>
              <a:gd name="connsiteX28" fmla="*/ 511601 w 589769"/>
              <a:gd name="connsiteY28" fmla="*/ 351433 h 390381"/>
              <a:gd name="connsiteX29" fmla="*/ 518773 w 589769"/>
              <a:gd name="connsiteY29" fmla="*/ 316099 h 390381"/>
              <a:gd name="connsiteX30" fmla="*/ 487217 w 589769"/>
              <a:gd name="connsiteY30" fmla="*/ 270737 h 390381"/>
              <a:gd name="connsiteX31" fmla="*/ 458290 w 589769"/>
              <a:gd name="connsiteY31" fmla="*/ 268708 h 390381"/>
              <a:gd name="connsiteX32" fmla="*/ 107102 w 589769"/>
              <a:gd name="connsiteY32" fmla="*/ 268350 h 390381"/>
              <a:gd name="connsiteX33" fmla="*/ 60723 w 589769"/>
              <a:gd name="connsiteY33" fmla="*/ 293179 h 390381"/>
              <a:gd name="connsiteX34" fmla="*/ 83673 w 589769"/>
              <a:gd name="connsiteY34" fmla="*/ 364802 h 390381"/>
              <a:gd name="connsiteX35" fmla="*/ 139615 w 589769"/>
              <a:gd name="connsiteY35" fmla="*/ 351910 h 390381"/>
              <a:gd name="connsiteX36" fmla="*/ 150133 w 589769"/>
              <a:gd name="connsiteY36" fmla="*/ 317531 h 390381"/>
              <a:gd name="connsiteX37" fmla="*/ 145830 w 589769"/>
              <a:gd name="connsiteY37" fmla="*/ 294134 h 390381"/>
              <a:gd name="connsiteX38" fmla="*/ 107102 w 589769"/>
              <a:gd name="connsiteY38" fmla="*/ 268350 h 390381"/>
              <a:gd name="connsiteX39" fmla="*/ 403038 w 589769"/>
              <a:gd name="connsiteY39" fmla="*/ 223455 h 390381"/>
              <a:gd name="connsiteX40" fmla="*/ 421247 w 589769"/>
              <a:gd name="connsiteY40" fmla="*/ 223455 h 390381"/>
              <a:gd name="connsiteX41" fmla="*/ 426518 w 589769"/>
              <a:gd name="connsiteY41" fmla="*/ 235874 h 390381"/>
              <a:gd name="connsiteX42" fmla="*/ 402080 w 589769"/>
              <a:gd name="connsiteY42" fmla="*/ 237785 h 390381"/>
              <a:gd name="connsiteX43" fmla="*/ 396809 w 589769"/>
              <a:gd name="connsiteY43" fmla="*/ 229187 h 390381"/>
              <a:gd name="connsiteX44" fmla="*/ 403038 w 589769"/>
              <a:gd name="connsiteY44" fmla="*/ 223455 h 390381"/>
              <a:gd name="connsiteX45" fmla="*/ 306961 w 589769"/>
              <a:gd name="connsiteY45" fmla="*/ 218214 h 390381"/>
              <a:gd name="connsiteX46" fmla="*/ 161131 w 589769"/>
              <a:gd name="connsiteY46" fmla="*/ 221078 h 390381"/>
              <a:gd name="connsiteX47" fmla="*/ 47335 w 589769"/>
              <a:gd name="connsiteY47" fmla="*/ 226331 h 390381"/>
              <a:gd name="connsiteX48" fmla="*/ 15300 w 589769"/>
              <a:gd name="connsiteY48" fmla="*/ 234448 h 390381"/>
              <a:gd name="connsiteX49" fmla="*/ 72676 w 589769"/>
              <a:gd name="connsiteY49" fmla="*/ 231106 h 390381"/>
              <a:gd name="connsiteX50" fmla="*/ 73154 w 589769"/>
              <a:gd name="connsiteY50" fmla="*/ 234448 h 390381"/>
              <a:gd name="connsiteX51" fmla="*/ 64548 w 589769"/>
              <a:gd name="connsiteY51" fmla="*/ 235881 h 390381"/>
              <a:gd name="connsiteX52" fmla="*/ 21994 w 589769"/>
              <a:gd name="connsiteY52" fmla="*/ 242088 h 390381"/>
              <a:gd name="connsiteX53" fmla="*/ 14822 w 589769"/>
              <a:gd name="connsiteY53" fmla="*/ 258323 h 390381"/>
              <a:gd name="connsiteX54" fmla="*/ 58810 w 589769"/>
              <a:gd name="connsiteY54" fmla="*/ 257845 h 390381"/>
              <a:gd name="connsiteX55" fmla="*/ 58810 w 589769"/>
              <a:gd name="connsiteY55" fmla="*/ 260710 h 390381"/>
              <a:gd name="connsiteX56" fmla="*/ 13866 w 589769"/>
              <a:gd name="connsiteY56" fmla="*/ 267872 h 390381"/>
              <a:gd name="connsiteX57" fmla="*/ 15778 w 589769"/>
              <a:gd name="connsiteY57" fmla="*/ 285539 h 390381"/>
              <a:gd name="connsiteX58" fmla="*/ 37294 w 589769"/>
              <a:gd name="connsiteY58" fmla="*/ 286017 h 390381"/>
              <a:gd name="connsiteX59" fmla="*/ 43901 w 589769"/>
              <a:gd name="connsiteY59" fmla="*/ 292615 h 390381"/>
              <a:gd name="connsiteX60" fmla="*/ 43881 w 589769"/>
              <a:gd name="connsiteY60" fmla="*/ 292703 h 390381"/>
              <a:gd name="connsiteX61" fmla="*/ 15778 w 589769"/>
              <a:gd name="connsiteY61" fmla="*/ 293179 h 390381"/>
              <a:gd name="connsiteX62" fmla="*/ 15778 w 589769"/>
              <a:gd name="connsiteY62" fmla="*/ 309891 h 390381"/>
              <a:gd name="connsiteX63" fmla="*/ 40163 w 589769"/>
              <a:gd name="connsiteY63" fmla="*/ 309414 h 390381"/>
              <a:gd name="connsiteX64" fmla="*/ 43881 w 589769"/>
              <a:gd name="connsiteY64" fmla="*/ 292703 h 390381"/>
              <a:gd name="connsiteX65" fmla="*/ 43988 w 589769"/>
              <a:gd name="connsiteY65" fmla="*/ 292702 h 390381"/>
              <a:gd name="connsiteX66" fmla="*/ 43901 w 589769"/>
              <a:gd name="connsiteY66" fmla="*/ 292615 h 390381"/>
              <a:gd name="connsiteX67" fmla="*/ 43988 w 589769"/>
              <a:gd name="connsiteY67" fmla="*/ 292224 h 390381"/>
              <a:gd name="connsiteX68" fmla="*/ 54507 w 589769"/>
              <a:gd name="connsiteY68" fmla="*/ 276944 h 390381"/>
              <a:gd name="connsiteX69" fmla="*/ 78892 w 589769"/>
              <a:gd name="connsiteY69" fmla="*/ 258800 h 390381"/>
              <a:gd name="connsiteX70" fmla="*/ 103755 w 589769"/>
              <a:gd name="connsiteY70" fmla="*/ 254503 h 390381"/>
              <a:gd name="connsiteX71" fmla="*/ 160174 w 589769"/>
              <a:gd name="connsiteY71" fmla="*/ 288882 h 390381"/>
              <a:gd name="connsiteX72" fmla="*/ 164956 w 589769"/>
              <a:gd name="connsiteY72" fmla="*/ 301296 h 390381"/>
              <a:gd name="connsiteX73" fmla="*/ 336127 w 589769"/>
              <a:gd name="connsiteY73" fmla="*/ 295566 h 390381"/>
              <a:gd name="connsiteX74" fmla="*/ 335649 w 589769"/>
              <a:gd name="connsiteY74" fmla="*/ 220124 h 390381"/>
              <a:gd name="connsiteX75" fmla="*/ 306961 w 589769"/>
              <a:gd name="connsiteY75" fmla="*/ 218214 h 390381"/>
              <a:gd name="connsiteX76" fmla="*/ 339474 w 589769"/>
              <a:gd name="connsiteY76" fmla="*/ 112689 h 390381"/>
              <a:gd name="connsiteX77" fmla="*/ 283054 w 589769"/>
              <a:gd name="connsiteY77" fmla="*/ 113166 h 390381"/>
              <a:gd name="connsiteX78" fmla="*/ 61679 w 589769"/>
              <a:gd name="connsiteY78" fmla="*/ 115076 h 390381"/>
              <a:gd name="connsiteX79" fmla="*/ 23907 w 589769"/>
              <a:gd name="connsiteY79" fmla="*/ 117941 h 390381"/>
              <a:gd name="connsiteX80" fmla="*/ 18647 w 589769"/>
              <a:gd name="connsiteY80" fmla="*/ 130833 h 390381"/>
              <a:gd name="connsiteX81" fmla="*/ 68851 w 589769"/>
              <a:gd name="connsiteY81" fmla="*/ 130833 h 390381"/>
              <a:gd name="connsiteX82" fmla="*/ 68851 w 589769"/>
              <a:gd name="connsiteY82" fmla="*/ 132743 h 390381"/>
              <a:gd name="connsiteX83" fmla="*/ 15778 w 589769"/>
              <a:gd name="connsiteY83" fmla="*/ 138951 h 390381"/>
              <a:gd name="connsiteX84" fmla="*/ 15778 w 589769"/>
              <a:gd name="connsiteY84" fmla="*/ 160915 h 390381"/>
              <a:gd name="connsiteX85" fmla="*/ 68373 w 589769"/>
              <a:gd name="connsiteY85" fmla="*/ 161870 h 390381"/>
              <a:gd name="connsiteX86" fmla="*/ 68373 w 589769"/>
              <a:gd name="connsiteY86" fmla="*/ 164258 h 390381"/>
              <a:gd name="connsiteX87" fmla="*/ 15778 w 589769"/>
              <a:gd name="connsiteY87" fmla="*/ 169510 h 390381"/>
              <a:gd name="connsiteX88" fmla="*/ 15778 w 589769"/>
              <a:gd name="connsiteY88" fmla="*/ 185744 h 390381"/>
              <a:gd name="connsiteX89" fmla="*/ 66938 w 589769"/>
              <a:gd name="connsiteY89" fmla="*/ 185267 h 390381"/>
              <a:gd name="connsiteX90" fmla="*/ 66938 w 589769"/>
              <a:gd name="connsiteY90" fmla="*/ 187177 h 390381"/>
              <a:gd name="connsiteX91" fmla="*/ 15300 w 589769"/>
              <a:gd name="connsiteY91" fmla="*/ 195294 h 390381"/>
              <a:gd name="connsiteX92" fmla="*/ 14344 w 589769"/>
              <a:gd name="connsiteY92" fmla="*/ 215826 h 390381"/>
              <a:gd name="connsiteX93" fmla="*/ 96583 w 589769"/>
              <a:gd name="connsiteY93" fmla="*/ 212961 h 390381"/>
              <a:gd name="connsiteX94" fmla="*/ 177387 w 589769"/>
              <a:gd name="connsiteY94" fmla="*/ 211529 h 390381"/>
              <a:gd name="connsiteX95" fmla="*/ 257713 w 589769"/>
              <a:gd name="connsiteY95" fmla="*/ 208186 h 390381"/>
              <a:gd name="connsiteX96" fmla="*/ 337561 w 589769"/>
              <a:gd name="connsiteY96" fmla="*/ 204844 h 390381"/>
              <a:gd name="connsiteX97" fmla="*/ 339474 w 589769"/>
              <a:gd name="connsiteY97" fmla="*/ 112689 h 390381"/>
              <a:gd name="connsiteX98" fmla="*/ 438468 w 589769"/>
              <a:gd name="connsiteY98" fmla="*/ 99361 h 390381"/>
              <a:gd name="connsiteX99" fmla="*/ 413604 w 589769"/>
              <a:gd name="connsiteY99" fmla="*/ 103181 h 390381"/>
              <a:gd name="connsiteX100" fmla="*/ 412170 w 589769"/>
              <a:gd name="connsiteY100" fmla="*/ 149976 h 390381"/>
              <a:gd name="connsiteX101" fmla="*/ 414560 w 589769"/>
              <a:gd name="connsiteY101" fmla="*/ 198682 h 390381"/>
              <a:gd name="connsiteX102" fmla="*/ 535054 w 589769"/>
              <a:gd name="connsiteY102" fmla="*/ 195817 h 390381"/>
              <a:gd name="connsiteX103" fmla="*/ 535054 w 589769"/>
              <a:gd name="connsiteY103" fmla="*/ 180537 h 390381"/>
              <a:gd name="connsiteX104" fmla="*/ 509234 w 589769"/>
              <a:gd name="connsiteY104" fmla="*/ 116074 h 390381"/>
              <a:gd name="connsiteX105" fmla="*/ 482936 w 589769"/>
              <a:gd name="connsiteY105" fmla="*/ 101749 h 390381"/>
              <a:gd name="connsiteX106" fmla="*/ 438468 w 589769"/>
              <a:gd name="connsiteY106" fmla="*/ 99361 h 390381"/>
              <a:gd name="connsiteX107" fmla="*/ 415039 w 589769"/>
              <a:gd name="connsiteY107" fmla="*/ 86946 h 390381"/>
              <a:gd name="connsiteX108" fmla="*/ 490586 w 589769"/>
              <a:gd name="connsiteY108" fmla="*/ 88856 h 390381"/>
              <a:gd name="connsiteX109" fmla="*/ 510190 w 589769"/>
              <a:gd name="connsiteY109" fmla="*/ 97451 h 390381"/>
              <a:gd name="connsiteX110" fmla="*/ 547486 w 589769"/>
              <a:gd name="connsiteY110" fmla="*/ 194384 h 390381"/>
              <a:gd name="connsiteX111" fmla="*/ 530273 w 589769"/>
              <a:gd name="connsiteY111" fmla="*/ 212052 h 390381"/>
              <a:gd name="connsiteX112" fmla="*/ 482458 w 589769"/>
              <a:gd name="connsiteY112" fmla="*/ 212052 h 390381"/>
              <a:gd name="connsiteX113" fmla="*/ 408823 w 589769"/>
              <a:gd name="connsiteY113" fmla="*/ 213484 h 390381"/>
              <a:gd name="connsiteX114" fmla="*/ 397825 w 589769"/>
              <a:gd name="connsiteY114" fmla="*/ 202024 h 390381"/>
              <a:gd name="connsiteX115" fmla="*/ 397347 w 589769"/>
              <a:gd name="connsiteY115" fmla="*/ 151886 h 390381"/>
              <a:gd name="connsiteX116" fmla="*/ 398303 w 589769"/>
              <a:gd name="connsiteY116" fmla="*/ 151886 h 390381"/>
              <a:gd name="connsiteX117" fmla="*/ 397825 w 589769"/>
              <a:gd name="connsiteY117" fmla="*/ 104136 h 390381"/>
              <a:gd name="connsiteX118" fmla="*/ 415039 w 589769"/>
              <a:gd name="connsiteY118" fmla="*/ 86946 h 390381"/>
              <a:gd name="connsiteX119" fmla="*/ 360332 w 589769"/>
              <a:gd name="connsiteY119" fmla="*/ 78429 h 390381"/>
              <a:gd name="connsiteX120" fmla="*/ 352861 w 589769"/>
              <a:gd name="connsiteY120" fmla="*/ 79265 h 390381"/>
              <a:gd name="connsiteX121" fmla="*/ 351905 w 589769"/>
              <a:gd name="connsiteY121" fmla="*/ 281719 h 390381"/>
              <a:gd name="connsiteX122" fmla="*/ 354296 w 589769"/>
              <a:gd name="connsiteY122" fmla="*/ 291747 h 390381"/>
              <a:gd name="connsiteX123" fmla="*/ 358121 w 589769"/>
              <a:gd name="connsiteY123" fmla="*/ 292224 h 390381"/>
              <a:gd name="connsiteX124" fmla="*/ 361946 w 589769"/>
              <a:gd name="connsiteY124" fmla="*/ 284584 h 390381"/>
              <a:gd name="connsiteX125" fmla="*/ 363858 w 589769"/>
              <a:gd name="connsiteY125" fmla="*/ 255935 h 390381"/>
              <a:gd name="connsiteX126" fmla="*/ 363858 w 589769"/>
              <a:gd name="connsiteY126" fmla="*/ 115554 h 390381"/>
              <a:gd name="connsiteX127" fmla="*/ 362424 w 589769"/>
              <a:gd name="connsiteY127" fmla="*/ 84040 h 390381"/>
              <a:gd name="connsiteX128" fmla="*/ 360332 w 589769"/>
              <a:gd name="connsiteY128" fmla="*/ 78429 h 390381"/>
              <a:gd name="connsiteX129" fmla="*/ 376768 w 589769"/>
              <a:gd name="connsiteY129" fmla="*/ 76400 h 390381"/>
              <a:gd name="connsiteX130" fmla="*/ 376290 w 589769"/>
              <a:gd name="connsiteY130" fmla="*/ 91679 h 390381"/>
              <a:gd name="connsiteX131" fmla="*/ 376290 w 589769"/>
              <a:gd name="connsiteY131" fmla="*/ 278377 h 390381"/>
              <a:gd name="connsiteX132" fmla="*/ 351905 w 589769"/>
              <a:gd name="connsiteY132" fmla="*/ 308936 h 390381"/>
              <a:gd name="connsiteX133" fmla="*/ 350471 w 589769"/>
              <a:gd name="connsiteY133" fmla="*/ 323738 h 390381"/>
              <a:gd name="connsiteX134" fmla="*/ 399240 w 589769"/>
              <a:gd name="connsiteY134" fmla="*/ 323261 h 390381"/>
              <a:gd name="connsiteX135" fmla="*/ 402109 w 589769"/>
              <a:gd name="connsiteY135" fmla="*/ 312756 h 390381"/>
              <a:gd name="connsiteX136" fmla="*/ 460441 w 589769"/>
              <a:gd name="connsiteY136" fmla="*/ 255935 h 390381"/>
              <a:gd name="connsiteX137" fmla="*/ 532639 w 589769"/>
              <a:gd name="connsiteY137" fmla="*/ 311801 h 390381"/>
              <a:gd name="connsiteX138" fmla="*/ 533117 w 589769"/>
              <a:gd name="connsiteY138" fmla="*/ 334721 h 390381"/>
              <a:gd name="connsiteX139" fmla="*/ 572802 w 589769"/>
              <a:gd name="connsiteY139" fmla="*/ 330901 h 390381"/>
              <a:gd name="connsiteX140" fmla="*/ 562761 w 589769"/>
              <a:gd name="connsiteY140" fmla="*/ 308459 h 390381"/>
              <a:gd name="connsiteX141" fmla="*/ 556546 w 589769"/>
              <a:gd name="connsiteY141" fmla="*/ 187177 h 390381"/>
              <a:gd name="connsiteX142" fmla="*/ 529292 w 589769"/>
              <a:gd name="connsiteY142" fmla="*/ 106004 h 390381"/>
              <a:gd name="connsiteX143" fmla="*/ 490563 w 589769"/>
              <a:gd name="connsiteY143" fmla="*/ 78787 h 390381"/>
              <a:gd name="connsiteX144" fmla="*/ 468569 w 589769"/>
              <a:gd name="connsiteY144" fmla="*/ 76400 h 390381"/>
              <a:gd name="connsiteX145" fmla="*/ 395893 w 589769"/>
              <a:gd name="connsiteY145" fmla="*/ 76400 h 390381"/>
              <a:gd name="connsiteX146" fmla="*/ 376768 w 589769"/>
              <a:gd name="connsiteY146" fmla="*/ 76400 h 390381"/>
              <a:gd name="connsiteX147" fmla="*/ 339474 w 589769"/>
              <a:gd name="connsiteY147" fmla="*/ 18624 h 390381"/>
              <a:gd name="connsiteX148" fmla="*/ 15778 w 589769"/>
              <a:gd name="connsiteY148" fmla="*/ 21489 h 390381"/>
              <a:gd name="connsiteX149" fmla="*/ 24385 w 589769"/>
              <a:gd name="connsiteY149" fmla="*/ 34858 h 390381"/>
              <a:gd name="connsiteX150" fmla="*/ 38729 w 589769"/>
              <a:gd name="connsiteY150" fmla="*/ 35336 h 390381"/>
              <a:gd name="connsiteX151" fmla="*/ 73632 w 589769"/>
              <a:gd name="connsiteY151" fmla="*/ 34858 h 390381"/>
              <a:gd name="connsiteX152" fmla="*/ 74110 w 589769"/>
              <a:gd name="connsiteY152" fmla="*/ 36768 h 390381"/>
              <a:gd name="connsiteX153" fmla="*/ 15778 w 589769"/>
              <a:gd name="connsiteY153" fmla="*/ 43453 h 390381"/>
              <a:gd name="connsiteX154" fmla="*/ 17213 w 589769"/>
              <a:gd name="connsiteY154" fmla="*/ 61598 h 390381"/>
              <a:gd name="connsiteX155" fmla="*/ 60245 w 589769"/>
              <a:gd name="connsiteY155" fmla="*/ 61120 h 390381"/>
              <a:gd name="connsiteX156" fmla="*/ 60723 w 589769"/>
              <a:gd name="connsiteY156" fmla="*/ 64463 h 390381"/>
              <a:gd name="connsiteX157" fmla="*/ 16256 w 589769"/>
              <a:gd name="connsiteY157" fmla="*/ 69715 h 390381"/>
              <a:gd name="connsiteX158" fmla="*/ 17691 w 589769"/>
              <a:gd name="connsiteY158" fmla="*/ 85950 h 390381"/>
              <a:gd name="connsiteX159" fmla="*/ 66938 w 589769"/>
              <a:gd name="connsiteY159" fmla="*/ 83562 h 390381"/>
              <a:gd name="connsiteX160" fmla="*/ 67417 w 589769"/>
              <a:gd name="connsiteY160" fmla="*/ 86427 h 390381"/>
              <a:gd name="connsiteX161" fmla="*/ 11475 w 589769"/>
              <a:gd name="connsiteY161" fmla="*/ 94067 h 390381"/>
              <a:gd name="connsiteX162" fmla="*/ 21038 w 589769"/>
              <a:gd name="connsiteY162" fmla="*/ 103139 h 390381"/>
              <a:gd name="connsiteX163" fmla="*/ 41597 w 589769"/>
              <a:gd name="connsiteY163" fmla="*/ 104572 h 390381"/>
              <a:gd name="connsiteX164" fmla="*/ 147743 w 589769"/>
              <a:gd name="connsiteY164" fmla="*/ 101229 h 390381"/>
              <a:gd name="connsiteX165" fmla="*/ 247194 w 589769"/>
              <a:gd name="connsiteY165" fmla="*/ 101229 h 390381"/>
              <a:gd name="connsiteX166" fmla="*/ 329433 w 589769"/>
              <a:gd name="connsiteY166" fmla="*/ 99797 h 390381"/>
              <a:gd name="connsiteX167" fmla="*/ 339952 w 589769"/>
              <a:gd name="connsiteY167" fmla="*/ 96932 h 390381"/>
              <a:gd name="connsiteX168" fmla="*/ 339474 w 589769"/>
              <a:gd name="connsiteY168" fmla="*/ 18624 h 390381"/>
              <a:gd name="connsiteX169" fmla="*/ 340430 w 589769"/>
              <a:gd name="connsiteY169" fmla="*/ 479 h 390381"/>
              <a:gd name="connsiteX170" fmla="*/ 354296 w 589769"/>
              <a:gd name="connsiteY170" fmla="*/ 9552 h 390381"/>
              <a:gd name="connsiteX171" fmla="*/ 354774 w 589769"/>
              <a:gd name="connsiteY171" fmla="*/ 36768 h 390381"/>
              <a:gd name="connsiteX172" fmla="*/ 353340 w 589769"/>
              <a:gd name="connsiteY172" fmla="*/ 61598 h 390381"/>
              <a:gd name="connsiteX173" fmla="*/ 370074 w 589769"/>
              <a:gd name="connsiteY173" fmla="*/ 62075 h 390381"/>
              <a:gd name="connsiteX174" fmla="*/ 461876 w 589769"/>
              <a:gd name="connsiteY174" fmla="*/ 61598 h 390381"/>
              <a:gd name="connsiteX175" fmla="*/ 510167 w 589769"/>
              <a:gd name="connsiteY175" fmla="*/ 69715 h 390381"/>
              <a:gd name="connsiteX176" fmla="*/ 536942 w 589769"/>
              <a:gd name="connsiteY176" fmla="*/ 90724 h 390381"/>
              <a:gd name="connsiteX177" fmla="*/ 553677 w 589769"/>
              <a:gd name="connsiteY177" fmla="*/ 119374 h 390381"/>
              <a:gd name="connsiteX178" fmla="*/ 569455 w 589769"/>
              <a:gd name="connsiteY178" fmla="*/ 176672 h 390381"/>
              <a:gd name="connsiteX179" fmla="*/ 574237 w 589769"/>
              <a:gd name="connsiteY179" fmla="*/ 282674 h 390381"/>
              <a:gd name="connsiteX180" fmla="*/ 581887 w 589769"/>
              <a:gd name="connsiteY180" fmla="*/ 303684 h 390381"/>
              <a:gd name="connsiteX181" fmla="*/ 589059 w 589769"/>
              <a:gd name="connsiteY181" fmla="*/ 339973 h 390381"/>
              <a:gd name="connsiteX182" fmla="*/ 576149 w 589769"/>
              <a:gd name="connsiteY182" fmla="*/ 348568 h 390381"/>
              <a:gd name="connsiteX183" fmla="*/ 527380 w 589769"/>
              <a:gd name="connsiteY183" fmla="*/ 351433 h 390381"/>
              <a:gd name="connsiteX184" fmla="*/ 453269 w 589769"/>
              <a:gd name="connsiteY184" fmla="*/ 390109 h 390381"/>
              <a:gd name="connsiteX185" fmla="*/ 401631 w 589769"/>
              <a:gd name="connsiteY185" fmla="*/ 339495 h 390381"/>
              <a:gd name="connsiteX186" fmla="*/ 160652 w 589769"/>
              <a:gd name="connsiteY186" fmla="*/ 345703 h 390381"/>
              <a:gd name="connsiteX187" fmla="*/ 87976 w 589769"/>
              <a:gd name="connsiteY187" fmla="*/ 381037 h 390381"/>
              <a:gd name="connsiteX188" fmla="*/ 41597 w 589769"/>
              <a:gd name="connsiteY188" fmla="*/ 334243 h 390381"/>
              <a:gd name="connsiteX189" fmla="*/ 14822 w 589769"/>
              <a:gd name="connsiteY189" fmla="*/ 337108 h 390381"/>
              <a:gd name="connsiteX190" fmla="*/ 956 w 589769"/>
              <a:gd name="connsiteY190" fmla="*/ 327558 h 390381"/>
              <a:gd name="connsiteX191" fmla="*/ 0 w 589769"/>
              <a:gd name="connsiteY191" fmla="*/ 317054 h 390381"/>
              <a:gd name="connsiteX192" fmla="*/ 2391 w 589769"/>
              <a:gd name="connsiteY192" fmla="*/ 107914 h 390381"/>
              <a:gd name="connsiteX193" fmla="*/ 1434 w 589769"/>
              <a:gd name="connsiteY193" fmla="*/ 30561 h 390381"/>
              <a:gd name="connsiteX194" fmla="*/ 478 w 589769"/>
              <a:gd name="connsiteY194" fmla="*/ 11462 h 390381"/>
              <a:gd name="connsiteX195" fmla="*/ 10519 w 589769"/>
              <a:gd name="connsiteY195" fmla="*/ 2867 h 390381"/>
              <a:gd name="connsiteX196" fmla="*/ 54029 w 589769"/>
              <a:gd name="connsiteY196" fmla="*/ 7164 h 390381"/>
              <a:gd name="connsiteX197" fmla="*/ 304570 w 589769"/>
              <a:gd name="connsiteY197" fmla="*/ 3822 h 390381"/>
              <a:gd name="connsiteX198" fmla="*/ 340430 w 589769"/>
              <a:gd name="connsiteY198" fmla="*/ 479 h 39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589769" h="390381">
                <a:moveTo>
                  <a:pt x="39685" y="318009"/>
                </a:moveTo>
                <a:cubicBezTo>
                  <a:pt x="32513" y="318009"/>
                  <a:pt x="24863" y="318486"/>
                  <a:pt x="17691" y="318486"/>
                </a:cubicBezTo>
                <a:lnTo>
                  <a:pt x="18169" y="320873"/>
                </a:lnTo>
                <a:cubicBezTo>
                  <a:pt x="24863" y="321828"/>
                  <a:pt x="32035" y="322306"/>
                  <a:pt x="40641" y="323261"/>
                </a:cubicBezTo>
                <a:cubicBezTo>
                  <a:pt x="40163" y="320873"/>
                  <a:pt x="39685" y="318009"/>
                  <a:pt x="39685" y="318009"/>
                </a:cubicBezTo>
                <a:close/>
                <a:moveTo>
                  <a:pt x="474126" y="311487"/>
                </a:moveTo>
                <a:cubicBezTo>
                  <a:pt x="480752" y="313397"/>
                  <a:pt x="486722" y="317574"/>
                  <a:pt x="488154" y="322826"/>
                </a:cubicBezTo>
                <a:cubicBezTo>
                  <a:pt x="490542" y="332374"/>
                  <a:pt x="482901" y="340013"/>
                  <a:pt x="468097" y="340013"/>
                </a:cubicBezTo>
                <a:cubicBezTo>
                  <a:pt x="460933" y="340968"/>
                  <a:pt x="455680" y="337149"/>
                  <a:pt x="452337" y="329032"/>
                </a:cubicBezTo>
                <a:cubicBezTo>
                  <a:pt x="449472" y="322349"/>
                  <a:pt x="451860" y="318052"/>
                  <a:pt x="456158" y="313755"/>
                </a:cubicBezTo>
                <a:cubicBezTo>
                  <a:pt x="460217" y="309935"/>
                  <a:pt x="467500" y="309577"/>
                  <a:pt x="474126" y="311487"/>
                </a:cubicBezTo>
                <a:close/>
                <a:moveTo>
                  <a:pt x="335171" y="309414"/>
                </a:moveTo>
                <a:cubicBezTo>
                  <a:pt x="331345" y="309891"/>
                  <a:pt x="327999" y="309414"/>
                  <a:pt x="325130" y="309891"/>
                </a:cubicBezTo>
                <a:cubicBezTo>
                  <a:pt x="278273" y="311324"/>
                  <a:pt x="231416" y="312279"/>
                  <a:pt x="184559" y="314189"/>
                </a:cubicBezTo>
                <a:cubicBezTo>
                  <a:pt x="179778" y="314189"/>
                  <a:pt x="174996" y="315144"/>
                  <a:pt x="170693" y="316099"/>
                </a:cubicBezTo>
                <a:cubicBezTo>
                  <a:pt x="163999" y="317531"/>
                  <a:pt x="163999" y="321828"/>
                  <a:pt x="165912" y="328513"/>
                </a:cubicBezTo>
                <a:cubicBezTo>
                  <a:pt x="222810" y="328036"/>
                  <a:pt x="278751" y="327558"/>
                  <a:pt x="335649" y="327081"/>
                </a:cubicBezTo>
                <a:cubicBezTo>
                  <a:pt x="335649" y="320396"/>
                  <a:pt x="335649" y="315621"/>
                  <a:pt x="335171" y="309414"/>
                </a:cubicBezTo>
                <a:close/>
                <a:moveTo>
                  <a:pt x="104743" y="304197"/>
                </a:moveTo>
                <a:cubicBezTo>
                  <a:pt x="114308" y="304197"/>
                  <a:pt x="120525" y="310879"/>
                  <a:pt x="120525" y="319948"/>
                </a:cubicBezTo>
                <a:cubicBezTo>
                  <a:pt x="120047" y="329971"/>
                  <a:pt x="112395" y="337130"/>
                  <a:pt x="101874" y="337130"/>
                </a:cubicBezTo>
                <a:cubicBezTo>
                  <a:pt x="90874" y="337130"/>
                  <a:pt x="86092" y="331880"/>
                  <a:pt x="85613" y="320425"/>
                </a:cubicBezTo>
                <a:cubicBezTo>
                  <a:pt x="85135" y="311356"/>
                  <a:pt x="93265" y="304674"/>
                  <a:pt x="104743" y="304197"/>
                </a:cubicBezTo>
                <a:close/>
                <a:moveTo>
                  <a:pt x="458290" y="268708"/>
                </a:moveTo>
                <a:cubicBezTo>
                  <a:pt x="449085" y="270857"/>
                  <a:pt x="440599" y="275751"/>
                  <a:pt x="433666" y="283152"/>
                </a:cubicBezTo>
                <a:cubicBezTo>
                  <a:pt x="410237" y="308459"/>
                  <a:pt x="410237" y="340450"/>
                  <a:pt x="431275" y="366235"/>
                </a:cubicBezTo>
                <a:cubicBezTo>
                  <a:pt x="434622" y="370055"/>
                  <a:pt x="439881" y="372442"/>
                  <a:pt x="444663" y="374830"/>
                </a:cubicBezTo>
                <a:cubicBezTo>
                  <a:pt x="459485" y="381514"/>
                  <a:pt x="474307" y="376262"/>
                  <a:pt x="489129" y="373397"/>
                </a:cubicBezTo>
                <a:cubicBezTo>
                  <a:pt x="501082" y="371010"/>
                  <a:pt x="508254" y="362415"/>
                  <a:pt x="511601" y="351433"/>
                </a:cubicBezTo>
                <a:cubicBezTo>
                  <a:pt x="514470" y="339973"/>
                  <a:pt x="516383" y="328036"/>
                  <a:pt x="518773" y="316099"/>
                </a:cubicBezTo>
                <a:cubicBezTo>
                  <a:pt x="518773" y="292224"/>
                  <a:pt x="503951" y="276944"/>
                  <a:pt x="487217" y="270737"/>
                </a:cubicBezTo>
                <a:cubicBezTo>
                  <a:pt x="477415" y="267156"/>
                  <a:pt x="467494" y="266559"/>
                  <a:pt x="458290" y="268708"/>
                </a:cubicBezTo>
                <a:close/>
                <a:moveTo>
                  <a:pt x="107102" y="268350"/>
                </a:moveTo>
                <a:cubicBezTo>
                  <a:pt x="88454" y="269305"/>
                  <a:pt x="69329" y="271215"/>
                  <a:pt x="60723" y="293179"/>
                </a:cubicBezTo>
                <a:cubicBezTo>
                  <a:pt x="49248" y="322306"/>
                  <a:pt x="57854" y="352865"/>
                  <a:pt x="83673" y="364802"/>
                </a:cubicBezTo>
                <a:cubicBezTo>
                  <a:pt x="108536" y="375785"/>
                  <a:pt x="125749" y="370532"/>
                  <a:pt x="139615" y="351910"/>
                </a:cubicBezTo>
                <a:cubicBezTo>
                  <a:pt x="147743" y="341883"/>
                  <a:pt x="149655" y="329946"/>
                  <a:pt x="150133" y="317531"/>
                </a:cubicBezTo>
                <a:cubicBezTo>
                  <a:pt x="148699" y="309891"/>
                  <a:pt x="148699" y="301774"/>
                  <a:pt x="145830" y="294134"/>
                </a:cubicBezTo>
                <a:cubicBezTo>
                  <a:pt x="139615" y="276467"/>
                  <a:pt x="126227" y="266917"/>
                  <a:pt x="107102" y="268350"/>
                </a:cubicBezTo>
                <a:close/>
                <a:moveTo>
                  <a:pt x="403038" y="223455"/>
                </a:moveTo>
                <a:cubicBezTo>
                  <a:pt x="408309" y="222977"/>
                  <a:pt x="414539" y="223455"/>
                  <a:pt x="421247" y="223455"/>
                </a:cubicBezTo>
                <a:cubicBezTo>
                  <a:pt x="422685" y="227276"/>
                  <a:pt x="424601" y="231575"/>
                  <a:pt x="426518" y="235874"/>
                </a:cubicBezTo>
                <a:cubicBezTo>
                  <a:pt x="417893" y="240173"/>
                  <a:pt x="409747" y="238262"/>
                  <a:pt x="402080" y="237785"/>
                </a:cubicBezTo>
                <a:cubicBezTo>
                  <a:pt x="400163" y="237307"/>
                  <a:pt x="397288" y="232530"/>
                  <a:pt x="396809" y="229187"/>
                </a:cubicBezTo>
                <a:cubicBezTo>
                  <a:pt x="396809" y="227754"/>
                  <a:pt x="400642" y="223932"/>
                  <a:pt x="403038" y="223455"/>
                </a:cubicBezTo>
                <a:close/>
                <a:moveTo>
                  <a:pt x="306961" y="218214"/>
                </a:moveTo>
                <a:cubicBezTo>
                  <a:pt x="258191" y="219169"/>
                  <a:pt x="209900" y="219646"/>
                  <a:pt x="161131" y="221078"/>
                </a:cubicBezTo>
                <a:cubicBezTo>
                  <a:pt x="123358" y="222511"/>
                  <a:pt x="85108" y="224898"/>
                  <a:pt x="47335" y="226331"/>
                </a:cubicBezTo>
                <a:cubicBezTo>
                  <a:pt x="36816" y="226808"/>
                  <a:pt x="26297" y="227286"/>
                  <a:pt x="15300" y="234448"/>
                </a:cubicBezTo>
                <a:cubicBezTo>
                  <a:pt x="35860" y="233493"/>
                  <a:pt x="54029" y="232538"/>
                  <a:pt x="72676" y="231106"/>
                </a:cubicBezTo>
                <a:cubicBezTo>
                  <a:pt x="72676" y="232538"/>
                  <a:pt x="72676" y="233493"/>
                  <a:pt x="73154" y="234448"/>
                </a:cubicBezTo>
                <a:cubicBezTo>
                  <a:pt x="70285" y="234926"/>
                  <a:pt x="67417" y="235403"/>
                  <a:pt x="64548" y="235881"/>
                </a:cubicBezTo>
                <a:cubicBezTo>
                  <a:pt x="50204" y="238268"/>
                  <a:pt x="36338" y="239700"/>
                  <a:pt x="21994" y="242088"/>
                </a:cubicBezTo>
                <a:cubicBezTo>
                  <a:pt x="13388" y="243998"/>
                  <a:pt x="11953" y="249250"/>
                  <a:pt x="14822" y="258323"/>
                </a:cubicBezTo>
                <a:cubicBezTo>
                  <a:pt x="29644" y="258323"/>
                  <a:pt x="44466" y="258323"/>
                  <a:pt x="58810" y="257845"/>
                </a:cubicBezTo>
                <a:cubicBezTo>
                  <a:pt x="58810" y="258800"/>
                  <a:pt x="58810" y="259755"/>
                  <a:pt x="58810" y="260710"/>
                </a:cubicBezTo>
                <a:cubicBezTo>
                  <a:pt x="44466" y="263097"/>
                  <a:pt x="29644" y="265485"/>
                  <a:pt x="13866" y="267872"/>
                </a:cubicBezTo>
                <a:cubicBezTo>
                  <a:pt x="14822" y="274557"/>
                  <a:pt x="15300" y="279809"/>
                  <a:pt x="15778" y="285539"/>
                </a:cubicBezTo>
                <a:cubicBezTo>
                  <a:pt x="23907" y="285539"/>
                  <a:pt x="30600" y="286017"/>
                  <a:pt x="37294" y="286017"/>
                </a:cubicBezTo>
                <a:lnTo>
                  <a:pt x="43901" y="292615"/>
                </a:lnTo>
                <a:lnTo>
                  <a:pt x="43881" y="292703"/>
                </a:lnTo>
                <a:lnTo>
                  <a:pt x="15778" y="293179"/>
                </a:lnTo>
                <a:cubicBezTo>
                  <a:pt x="15778" y="299864"/>
                  <a:pt x="15778" y="304161"/>
                  <a:pt x="15778" y="309891"/>
                </a:cubicBezTo>
                <a:cubicBezTo>
                  <a:pt x="24385" y="309891"/>
                  <a:pt x="32035" y="309891"/>
                  <a:pt x="40163" y="309414"/>
                </a:cubicBezTo>
                <a:lnTo>
                  <a:pt x="43881" y="292703"/>
                </a:lnTo>
                <a:lnTo>
                  <a:pt x="43988" y="292702"/>
                </a:lnTo>
                <a:lnTo>
                  <a:pt x="43901" y="292615"/>
                </a:lnTo>
                <a:lnTo>
                  <a:pt x="43988" y="292224"/>
                </a:lnTo>
                <a:cubicBezTo>
                  <a:pt x="47335" y="287449"/>
                  <a:pt x="51638" y="282197"/>
                  <a:pt x="54507" y="276944"/>
                </a:cubicBezTo>
                <a:cubicBezTo>
                  <a:pt x="59288" y="266440"/>
                  <a:pt x="67895" y="260710"/>
                  <a:pt x="78892" y="258800"/>
                </a:cubicBezTo>
                <a:cubicBezTo>
                  <a:pt x="87020" y="257368"/>
                  <a:pt x="95626" y="255458"/>
                  <a:pt x="103755" y="254503"/>
                </a:cubicBezTo>
                <a:cubicBezTo>
                  <a:pt x="130530" y="252593"/>
                  <a:pt x="150133" y="264530"/>
                  <a:pt x="160174" y="288882"/>
                </a:cubicBezTo>
                <a:cubicBezTo>
                  <a:pt x="162087" y="292702"/>
                  <a:pt x="163521" y="296521"/>
                  <a:pt x="164956" y="301296"/>
                </a:cubicBezTo>
                <a:cubicBezTo>
                  <a:pt x="221853" y="299386"/>
                  <a:pt x="278273" y="297476"/>
                  <a:pt x="336127" y="295566"/>
                </a:cubicBezTo>
                <a:cubicBezTo>
                  <a:pt x="336127" y="269305"/>
                  <a:pt x="335649" y="244953"/>
                  <a:pt x="335649" y="220124"/>
                </a:cubicBezTo>
                <a:cubicBezTo>
                  <a:pt x="324652" y="219169"/>
                  <a:pt x="316045" y="218214"/>
                  <a:pt x="306961" y="218214"/>
                </a:cubicBezTo>
                <a:close/>
                <a:moveTo>
                  <a:pt x="339474" y="112689"/>
                </a:moveTo>
                <a:cubicBezTo>
                  <a:pt x="319392" y="113166"/>
                  <a:pt x="301223" y="113644"/>
                  <a:pt x="283054" y="113166"/>
                </a:cubicBezTo>
                <a:cubicBezTo>
                  <a:pt x="208944" y="111256"/>
                  <a:pt x="135311" y="111256"/>
                  <a:pt x="61679" y="115076"/>
                </a:cubicBezTo>
                <a:cubicBezTo>
                  <a:pt x="48769" y="115554"/>
                  <a:pt x="36338" y="116509"/>
                  <a:pt x="23907" y="117941"/>
                </a:cubicBezTo>
                <a:cubicBezTo>
                  <a:pt x="15300" y="118419"/>
                  <a:pt x="15300" y="123671"/>
                  <a:pt x="18647" y="130833"/>
                </a:cubicBezTo>
                <a:cubicBezTo>
                  <a:pt x="35382" y="130833"/>
                  <a:pt x="52116" y="130833"/>
                  <a:pt x="68851" y="130833"/>
                </a:cubicBezTo>
                <a:cubicBezTo>
                  <a:pt x="68851" y="131311"/>
                  <a:pt x="68851" y="131788"/>
                  <a:pt x="68851" y="132743"/>
                </a:cubicBezTo>
                <a:cubicBezTo>
                  <a:pt x="51160" y="134653"/>
                  <a:pt x="33947" y="136563"/>
                  <a:pt x="15778" y="138951"/>
                </a:cubicBezTo>
                <a:cubicBezTo>
                  <a:pt x="15778" y="146590"/>
                  <a:pt x="15778" y="153275"/>
                  <a:pt x="15778" y="160915"/>
                </a:cubicBezTo>
                <a:cubicBezTo>
                  <a:pt x="33947" y="161393"/>
                  <a:pt x="51160" y="161870"/>
                  <a:pt x="68373" y="161870"/>
                </a:cubicBezTo>
                <a:cubicBezTo>
                  <a:pt x="68373" y="162825"/>
                  <a:pt x="68373" y="163303"/>
                  <a:pt x="68373" y="164258"/>
                </a:cubicBezTo>
                <a:cubicBezTo>
                  <a:pt x="50682" y="166167"/>
                  <a:pt x="32991" y="167600"/>
                  <a:pt x="15778" y="169510"/>
                </a:cubicBezTo>
                <a:cubicBezTo>
                  <a:pt x="15778" y="176672"/>
                  <a:pt x="15778" y="180970"/>
                  <a:pt x="15778" y="185744"/>
                </a:cubicBezTo>
                <a:cubicBezTo>
                  <a:pt x="33469" y="185744"/>
                  <a:pt x="50204" y="185744"/>
                  <a:pt x="66938" y="185267"/>
                </a:cubicBezTo>
                <a:cubicBezTo>
                  <a:pt x="66938" y="185744"/>
                  <a:pt x="66938" y="186699"/>
                  <a:pt x="66938" y="187177"/>
                </a:cubicBezTo>
                <a:cubicBezTo>
                  <a:pt x="49726" y="189564"/>
                  <a:pt x="32991" y="192429"/>
                  <a:pt x="15300" y="195294"/>
                </a:cubicBezTo>
                <a:cubicBezTo>
                  <a:pt x="14822" y="201979"/>
                  <a:pt x="14822" y="207709"/>
                  <a:pt x="14344" y="215826"/>
                </a:cubicBezTo>
                <a:cubicBezTo>
                  <a:pt x="43032" y="214871"/>
                  <a:pt x="69807" y="213439"/>
                  <a:pt x="96583" y="212961"/>
                </a:cubicBezTo>
                <a:cubicBezTo>
                  <a:pt x="123358" y="212006"/>
                  <a:pt x="150133" y="212006"/>
                  <a:pt x="177387" y="211529"/>
                </a:cubicBezTo>
                <a:cubicBezTo>
                  <a:pt x="204162" y="210574"/>
                  <a:pt x="230938" y="209619"/>
                  <a:pt x="257713" y="208186"/>
                </a:cubicBezTo>
                <a:cubicBezTo>
                  <a:pt x="284010" y="206754"/>
                  <a:pt x="310786" y="207231"/>
                  <a:pt x="337561" y="204844"/>
                </a:cubicBezTo>
                <a:cubicBezTo>
                  <a:pt x="338517" y="173330"/>
                  <a:pt x="338996" y="144203"/>
                  <a:pt x="339474" y="112689"/>
                </a:cubicBezTo>
                <a:close/>
                <a:moveTo>
                  <a:pt x="438468" y="99361"/>
                </a:moveTo>
                <a:cubicBezTo>
                  <a:pt x="429861" y="98884"/>
                  <a:pt x="420776" y="99361"/>
                  <a:pt x="413604" y="103181"/>
                </a:cubicBezTo>
                <a:cubicBezTo>
                  <a:pt x="413126" y="119416"/>
                  <a:pt x="412170" y="134696"/>
                  <a:pt x="412170" y="149976"/>
                </a:cubicBezTo>
                <a:cubicBezTo>
                  <a:pt x="412170" y="165734"/>
                  <a:pt x="410735" y="181014"/>
                  <a:pt x="414560" y="198682"/>
                </a:cubicBezTo>
                <a:cubicBezTo>
                  <a:pt x="454725" y="192952"/>
                  <a:pt x="493455" y="203934"/>
                  <a:pt x="535054" y="195817"/>
                </a:cubicBezTo>
                <a:cubicBezTo>
                  <a:pt x="535054" y="190087"/>
                  <a:pt x="535054" y="185312"/>
                  <a:pt x="535054" y="180537"/>
                </a:cubicBezTo>
                <a:cubicBezTo>
                  <a:pt x="533141" y="156661"/>
                  <a:pt x="524535" y="135174"/>
                  <a:pt x="509234" y="116074"/>
                </a:cubicBezTo>
                <a:cubicBezTo>
                  <a:pt x="502062" y="107001"/>
                  <a:pt x="493933" y="102226"/>
                  <a:pt x="482936" y="101749"/>
                </a:cubicBezTo>
                <a:cubicBezTo>
                  <a:pt x="468113" y="100794"/>
                  <a:pt x="453290" y="99839"/>
                  <a:pt x="438468" y="99361"/>
                </a:cubicBezTo>
                <a:close/>
                <a:moveTo>
                  <a:pt x="415039" y="86946"/>
                </a:moveTo>
                <a:cubicBezTo>
                  <a:pt x="439902" y="87423"/>
                  <a:pt x="465244" y="87423"/>
                  <a:pt x="490586" y="88856"/>
                </a:cubicBezTo>
                <a:cubicBezTo>
                  <a:pt x="497280" y="89333"/>
                  <a:pt x="504931" y="92676"/>
                  <a:pt x="510190" y="97451"/>
                </a:cubicBezTo>
                <a:cubicBezTo>
                  <a:pt x="537445" y="123714"/>
                  <a:pt x="547008" y="157616"/>
                  <a:pt x="547486" y="194384"/>
                </a:cubicBezTo>
                <a:cubicBezTo>
                  <a:pt x="547964" y="209187"/>
                  <a:pt x="545573" y="211574"/>
                  <a:pt x="530273" y="212052"/>
                </a:cubicBezTo>
                <a:cubicBezTo>
                  <a:pt x="514494" y="212529"/>
                  <a:pt x="498237" y="212529"/>
                  <a:pt x="482458" y="212052"/>
                </a:cubicBezTo>
                <a:cubicBezTo>
                  <a:pt x="458072" y="210619"/>
                  <a:pt x="433208" y="208709"/>
                  <a:pt x="408823" y="213484"/>
                </a:cubicBezTo>
                <a:cubicBezTo>
                  <a:pt x="400694" y="214917"/>
                  <a:pt x="398303" y="212052"/>
                  <a:pt x="397825" y="202024"/>
                </a:cubicBezTo>
                <a:cubicBezTo>
                  <a:pt x="397825" y="185312"/>
                  <a:pt x="397825" y="168599"/>
                  <a:pt x="397347" y="151886"/>
                </a:cubicBezTo>
                <a:cubicBezTo>
                  <a:pt x="397825" y="151886"/>
                  <a:pt x="397825" y="151886"/>
                  <a:pt x="398303" y="151886"/>
                </a:cubicBezTo>
                <a:cubicBezTo>
                  <a:pt x="398303" y="135651"/>
                  <a:pt x="398303" y="119894"/>
                  <a:pt x="397825" y="104136"/>
                </a:cubicBezTo>
                <a:cubicBezTo>
                  <a:pt x="397825" y="89811"/>
                  <a:pt x="400216" y="86946"/>
                  <a:pt x="415039" y="86946"/>
                </a:cubicBezTo>
                <a:close/>
                <a:moveTo>
                  <a:pt x="360332" y="78429"/>
                </a:moveTo>
                <a:cubicBezTo>
                  <a:pt x="358838" y="77474"/>
                  <a:pt x="356447" y="77594"/>
                  <a:pt x="352861" y="79265"/>
                </a:cubicBezTo>
                <a:cubicBezTo>
                  <a:pt x="352861" y="146590"/>
                  <a:pt x="345689" y="213916"/>
                  <a:pt x="351905" y="281719"/>
                </a:cubicBezTo>
                <a:cubicBezTo>
                  <a:pt x="352383" y="285062"/>
                  <a:pt x="353818" y="288404"/>
                  <a:pt x="354296" y="291747"/>
                </a:cubicBezTo>
                <a:cubicBezTo>
                  <a:pt x="355730" y="292224"/>
                  <a:pt x="357165" y="292224"/>
                  <a:pt x="358121" y="292224"/>
                </a:cubicBezTo>
                <a:cubicBezTo>
                  <a:pt x="359555" y="289837"/>
                  <a:pt x="361468" y="286972"/>
                  <a:pt x="361946" y="284584"/>
                </a:cubicBezTo>
                <a:cubicBezTo>
                  <a:pt x="362902" y="275035"/>
                  <a:pt x="363858" y="265485"/>
                  <a:pt x="363858" y="255935"/>
                </a:cubicBezTo>
                <a:cubicBezTo>
                  <a:pt x="363858" y="209141"/>
                  <a:pt x="363858" y="162348"/>
                  <a:pt x="363858" y="115554"/>
                </a:cubicBezTo>
                <a:cubicBezTo>
                  <a:pt x="363858" y="105049"/>
                  <a:pt x="363380" y="94544"/>
                  <a:pt x="362424" y="84040"/>
                </a:cubicBezTo>
                <a:cubicBezTo>
                  <a:pt x="362424" y="81414"/>
                  <a:pt x="361826" y="79384"/>
                  <a:pt x="360332" y="78429"/>
                </a:cubicBezTo>
                <a:close/>
                <a:moveTo>
                  <a:pt x="376768" y="76400"/>
                </a:moveTo>
                <a:cubicBezTo>
                  <a:pt x="376768" y="83562"/>
                  <a:pt x="376290" y="87860"/>
                  <a:pt x="376290" y="91679"/>
                </a:cubicBezTo>
                <a:cubicBezTo>
                  <a:pt x="376290" y="154230"/>
                  <a:pt x="376290" y="216304"/>
                  <a:pt x="376290" y="278377"/>
                </a:cubicBezTo>
                <a:cubicBezTo>
                  <a:pt x="376290" y="308459"/>
                  <a:pt x="377246" y="302251"/>
                  <a:pt x="351905" y="308936"/>
                </a:cubicBezTo>
                <a:cubicBezTo>
                  <a:pt x="351427" y="313711"/>
                  <a:pt x="350949" y="318964"/>
                  <a:pt x="350471" y="323738"/>
                </a:cubicBezTo>
                <a:cubicBezTo>
                  <a:pt x="368162" y="323738"/>
                  <a:pt x="383940" y="323261"/>
                  <a:pt x="399240" y="323261"/>
                </a:cubicBezTo>
                <a:cubicBezTo>
                  <a:pt x="400675" y="318486"/>
                  <a:pt x="401153" y="315621"/>
                  <a:pt x="402109" y="312756"/>
                </a:cubicBezTo>
                <a:cubicBezTo>
                  <a:pt x="410715" y="280287"/>
                  <a:pt x="425059" y="263575"/>
                  <a:pt x="460441" y="255935"/>
                </a:cubicBezTo>
                <a:cubicBezTo>
                  <a:pt x="495823" y="248295"/>
                  <a:pt x="531205" y="273602"/>
                  <a:pt x="532639" y="311801"/>
                </a:cubicBezTo>
                <a:cubicBezTo>
                  <a:pt x="533117" y="319441"/>
                  <a:pt x="532639" y="326603"/>
                  <a:pt x="533117" y="334721"/>
                </a:cubicBezTo>
                <a:cubicBezTo>
                  <a:pt x="546983" y="336631"/>
                  <a:pt x="560371" y="336153"/>
                  <a:pt x="572802" y="330901"/>
                </a:cubicBezTo>
                <a:cubicBezTo>
                  <a:pt x="575671" y="319441"/>
                  <a:pt x="571846" y="311801"/>
                  <a:pt x="562761" y="308459"/>
                </a:cubicBezTo>
                <a:cubicBezTo>
                  <a:pt x="560371" y="267395"/>
                  <a:pt x="557980" y="227286"/>
                  <a:pt x="556546" y="187177"/>
                </a:cubicBezTo>
                <a:cubicBezTo>
                  <a:pt x="555589" y="157095"/>
                  <a:pt x="544592" y="130833"/>
                  <a:pt x="529292" y="106004"/>
                </a:cubicBezTo>
                <a:cubicBezTo>
                  <a:pt x="520208" y="91679"/>
                  <a:pt x="508732" y="80220"/>
                  <a:pt x="490563" y="78787"/>
                </a:cubicBezTo>
                <a:cubicBezTo>
                  <a:pt x="483391" y="78310"/>
                  <a:pt x="475741" y="76400"/>
                  <a:pt x="468569" y="76400"/>
                </a:cubicBezTo>
                <a:cubicBezTo>
                  <a:pt x="444185" y="75922"/>
                  <a:pt x="420278" y="76400"/>
                  <a:pt x="395893" y="76400"/>
                </a:cubicBezTo>
                <a:cubicBezTo>
                  <a:pt x="390156" y="76400"/>
                  <a:pt x="384418" y="76400"/>
                  <a:pt x="376768" y="76400"/>
                </a:cubicBezTo>
                <a:close/>
                <a:moveTo>
                  <a:pt x="339474" y="18624"/>
                </a:moveTo>
                <a:cubicBezTo>
                  <a:pt x="230460" y="19579"/>
                  <a:pt x="123836" y="20534"/>
                  <a:pt x="15778" y="21489"/>
                </a:cubicBezTo>
                <a:cubicBezTo>
                  <a:pt x="14344" y="31516"/>
                  <a:pt x="16256" y="35336"/>
                  <a:pt x="24385" y="34858"/>
                </a:cubicBezTo>
                <a:cubicBezTo>
                  <a:pt x="29166" y="34858"/>
                  <a:pt x="33947" y="35336"/>
                  <a:pt x="38729" y="35336"/>
                </a:cubicBezTo>
                <a:cubicBezTo>
                  <a:pt x="50682" y="35336"/>
                  <a:pt x="62157" y="34858"/>
                  <a:pt x="73632" y="34858"/>
                </a:cubicBezTo>
                <a:cubicBezTo>
                  <a:pt x="74110" y="35336"/>
                  <a:pt x="74110" y="36291"/>
                  <a:pt x="74110" y="36768"/>
                </a:cubicBezTo>
                <a:cubicBezTo>
                  <a:pt x="54985" y="38678"/>
                  <a:pt x="35860" y="41066"/>
                  <a:pt x="15778" y="43453"/>
                </a:cubicBezTo>
                <a:cubicBezTo>
                  <a:pt x="16256" y="50138"/>
                  <a:pt x="16735" y="55390"/>
                  <a:pt x="17213" y="61598"/>
                </a:cubicBezTo>
                <a:cubicBezTo>
                  <a:pt x="32513" y="61120"/>
                  <a:pt x="46379" y="61120"/>
                  <a:pt x="60245" y="61120"/>
                </a:cubicBezTo>
                <a:cubicBezTo>
                  <a:pt x="60723" y="62075"/>
                  <a:pt x="60723" y="63030"/>
                  <a:pt x="60723" y="64463"/>
                </a:cubicBezTo>
                <a:cubicBezTo>
                  <a:pt x="46379" y="65895"/>
                  <a:pt x="32035" y="67805"/>
                  <a:pt x="16256" y="69715"/>
                </a:cubicBezTo>
                <a:cubicBezTo>
                  <a:pt x="16735" y="75445"/>
                  <a:pt x="17213" y="80220"/>
                  <a:pt x="17691" y="85950"/>
                </a:cubicBezTo>
                <a:cubicBezTo>
                  <a:pt x="35382" y="84995"/>
                  <a:pt x="51160" y="84517"/>
                  <a:pt x="66938" y="83562"/>
                </a:cubicBezTo>
                <a:cubicBezTo>
                  <a:pt x="66938" y="84517"/>
                  <a:pt x="67417" y="85472"/>
                  <a:pt x="67417" y="86427"/>
                </a:cubicBezTo>
                <a:cubicBezTo>
                  <a:pt x="50204" y="88815"/>
                  <a:pt x="32991" y="91202"/>
                  <a:pt x="11475" y="94067"/>
                </a:cubicBezTo>
                <a:cubicBezTo>
                  <a:pt x="16735" y="98842"/>
                  <a:pt x="18647" y="102662"/>
                  <a:pt x="21038" y="103139"/>
                </a:cubicBezTo>
                <a:cubicBezTo>
                  <a:pt x="27732" y="104094"/>
                  <a:pt x="34904" y="105049"/>
                  <a:pt x="41597" y="104572"/>
                </a:cubicBezTo>
                <a:cubicBezTo>
                  <a:pt x="76979" y="103617"/>
                  <a:pt x="112361" y="102184"/>
                  <a:pt x="147743" y="101229"/>
                </a:cubicBezTo>
                <a:cubicBezTo>
                  <a:pt x="180734" y="100752"/>
                  <a:pt x="214203" y="99319"/>
                  <a:pt x="247194" y="101229"/>
                </a:cubicBezTo>
                <a:cubicBezTo>
                  <a:pt x="274926" y="103139"/>
                  <a:pt x="302179" y="102184"/>
                  <a:pt x="329433" y="99797"/>
                </a:cubicBezTo>
                <a:cubicBezTo>
                  <a:pt x="332780" y="99319"/>
                  <a:pt x="336127" y="97887"/>
                  <a:pt x="339952" y="96932"/>
                </a:cubicBezTo>
                <a:cubicBezTo>
                  <a:pt x="339952" y="69715"/>
                  <a:pt x="342343" y="43931"/>
                  <a:pt x="339474" y="18624"/>
                </a:cubicBezTo>
                <a:close/>
                <a:moveTo>
                  <a:pt x="340430" y="479"/>
                </a:moveTo>
                <a:cubicBezTo>
                  <a:pt x="349993" y="-953"/>
                  <a:pt x="353340" y="479"/>
                  <a:pt x="354296" y="9552"/>
                </a:cubicBezTo>
                <a:cubicBezTo>
                  <a:pt x="355730" y="18624"/>
                  <a:pt x="354774" y="27696"/>
                  <a:pt x="354774" y="36768"/>
                </a:cubicBezTo>
                <a:cubicBezTo>
                  <a:pt x="354774" y="44408"/>
                  <a:pt x="353818" y="52048"/>
                  <a:pt x="353340" y="61598"/>
                </a:cubicBezTo>
                <a:cubicBezTo>
                  <a:pt x="360033" y="61598"/>
                  <a:pt x="364815" y="62075"/>
                  <a:pt x="370074" y="62075"/>
                </a:cubicBezTo>
                <a:cubicBezTo>
                  <a:pt x="400675" y="61598"/>
                  <a:pt x="431275" y="60165"/>
                  <a:pt x="461876" y="61598"/>
                </a:cubicBezTo>
                <a:cubicBezTo>
                  <a:pt x="478132" y="62075"/>
                  <a:pt x="493910" y="66373"/>
                  <a:pt x="510167" y="69715"/>
                </a:cubicBezTo>
                <a:cubicBezTo>
                  <a:pt x="522120" y="72102"/>
                  <a:pt x="530248" y="80697"/>
                  <a:pt x="536942" y="90724"/>
                </a:cubicBezTo>
                <a:cubicBezTo>
                  <a:pt x="542680" y="99797"/>
                  <a:pt x="548417" y="109346"/>
                  <a:pt x="553677" y="119374"/>
                </a:cubicBezTo>
                <a:cubicBezTo>
                  <a:pt x="563718" y="137041"/>
                  <a:pt x="568499" y="156618"/>
                  <a:pt x="569455" y="176672"/>
                </a:cubicBezTo>
                <a:cubicBezTo>
                  <a:pt x="571368" y="212006"/>
                  <a:pt x="572802" y="247340"/>
                  <a:pt x="574237" y="282674"/>
                </a:cubicBezTo>
                <a:cubicBezTo>
                  <a:pt x="574237" y="290314"/>
                  <a:pt x="575671" y="296999"/>
                  <a:pt x="581887" y="303684"/>
                </a:cubicBezTo>
                <a:cubicBezTo>
                  <a:pt x="590493" y="313711"/>
                  <a:pt x="590493" y="327081"/>
                  <a:pt x="589059" y="339973"/>
                </a:cubicBezTo>
                <a:cubicBezTo>
                  <a:pt x="588581" y="346658"/>
                  <a:pt x="582843" y="348090"/>
                  <a:pt x="576149" y="348568"/>
                </a:cubicBezTo>
                <a:cubicBezTo>
                  <a:pt x="559893" y="349045"/>
                  <a:pt x="543636" y="350478"/>
                  <a:pt x="527380" y="351433"/>
                </a:cubicBezTo>
                <a:cubicBezTo>
                  <a:pt x="512558" y="384379"/>
                  <a:pt x="484348" y="392019"/>
                  <a:pt x="453269" y="390109"/>
                </a:cubicBezTo>
                <a:cubicBezTo>
                  <a:pt x="423625" y="388199"/>
                  <a:pt x="409281" y="367667"/>
                  <a:pt x="401631" y="339495"/>
                </a:cubicBezTo>
                <a:cubicBezTo>
                  <a:pt x="321783" y="341883"/>
                  <a:pt x="241935" y="338063"/>
                  <a:pt x="160652" y="345703"/>
                </a:cubicBezTo>
                <a:cubicBezTo>
                  <a:pt x="145830" y="375307"/>
                  <a:pt x="120967" y="387244"/>
                  <a:pt x="87976" y="381037"/>
                </a:cubicBezTo>
                <a:cubicBezTo>
                  <a:pt x="62157" y="375785"/>
                  <a:pt x="48291" y="358595"/>
                  <a:pt x="41597" y="334243"/>
                </a:cubicBezTo>
                <a:cubicBezTo>
                  <a:pt x="32513" y="335198"/>
                  <a:pt x="23428" y="335676"/>
                  <a:pt x="14822" y="337108"/>
                </a:cubicBezTo>
                <a:cubicBezTo>
                  <a:pt x="6694" y="338541"/>
                  <a:pt x="2869" y="334721"/>
                  <a:pt x="956" y="327558"/>
                </a:cubicBezTo>
                <a:cubicBezTo>
                  <a:pt x="0" y="324216"/>
                  <a:pt x="0" y="320396"/>
                  <a:pt x="0" y="317054"/>
                </a:cubicBezTo>
                <a:cubicBezTo>
                  <a:pt x="956" y="247340"/>
                  <a:pt x="1913" y="177627"/>
                  <a:pt x="2391" y="107914"/>
                </a:cubicBezTo>
                <a:cubicBezTo>
                  <a:pt x="2869" y="82130"/>
                  <a:pt x="1913" y="56345"/>
                  <a:pt x="1434" y="30561"/>
                </a:cubicBezTo>
                <a:cubicBezTo>
                  <a:pt x="1434" y="24354"/>
                  <a:pt x="478" y="17669"/>
                  <a:pt x="478" y="11462"/>
                </a:cubicBezTo>
                <a:cubicBezTo>
                  <a:pt x="478" y="4777"/>
                  <a:pt x="6216" y="2"/>
                  <a:pt x="10519" y="2867"/>
                </a:cubicBezTo>
                <a:cubicBezTo>
                  <a:pt x="24863" y="10507"/>
                  <a:pt x="39685" y="7164"/>
                  <a:pt x="54029" y="7164"/>
                </a:cubicBezTo>
                <a:cubicBezTo>
                  <a:pt x="137702" y="6687"/>
                  <a:pt x="220897" y="5254"/>
                  <a:pt x="304570" y="3822"/>
                </a:cubicBezTo>
                <a:cubicBezTo>
                  <a:pt x="316523" y="3822"/>
                  <a:pt x="328477" y="1912"/>
                  <a:pt x="340430" y="479"/>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4" name="熊大的PPT宝库38"/>
          <p:cNvSpPr/>
          <p:nvPr/>
        </p:nvSpPr>
        <p:spPr>
          <a:xfrm>
            <a:off x="8632750" y="1722608"/>
            <a:ext cx="549364" cy="505159"/>
          </a:xfrm>
          <a:custGeom>
            <a:avLst/>
            <a:gdLst>
              <a:gd name="T0" fmla="*/ 160 w 12878"/>
              <a:gd name="T1" fmla="*/ 3946 h 12824"/>
              <a:gd name="T2" fmla="*/ 6612 w 12878"/>
              <a:gd name="T3" fmla="*/ 7972 h 12824"/>
              <a:gd name="T4" fmla="*/ 6799 w 12878"/>
              <a:gd name="T5" fmla="*/ 8025 h 12824"/>
              <a:gd name="T6" fmla="*/ 6959 w 12878"/>
              <a:gd name="T7" fmla="*/ 7972 h 12824"/>
              <a:gd name="T8" fmla="*/ 12691 w 12878"/>
              <a:gd name="T9" fmla="*/ 4612 h 12824"/>
              <a:gd name="T10" fmla="*/ 12851 w 12878"/>
              <a:gd name="T11" fmla="*/ 4372 h 12824"/>
              <a:gd name="T12" fmla="*/ 12851 w 12878"/>
              <a:gd name="T13" fmla="*/ 4212 h 12824"/>
              <a:gd name="T14" fmla="*/ 6959 w 12878"/>
              <a:gd name="T15" fmla="*/ 80 h 12824"/>
              <a:gd name="T16" fmla="*/ 6639 w 12878"/>
              <a:gd name="T17" fmla="*/ 53 h 12824"/>
              <a:gd name="T18" fmla="*/ 187 w 12878"/>
              <a:gd name="T19" fmla="*/ 3412 h 12824"/>
              <a:gd name="T20" fmla="*/ 27 w 12878"/>
              <a:gd name="T21" fmla="*/ 3679 h 12824"/>
              <a:gd name="T22" fmla="*/ 160 w 12878"/>
              <a:gd name="T23" fmla="*/ 3946 h 12824"/>
              <a:gd name="T24" fmla="*/ 6772 w 12878"/>
              <a:gd name="T25" fmla="*/ 613 h 12824"/>
              <a:gd name="T26" fmla="*/ 12078 w 12878"/>
              <a:gd name="T27" fmla="*/ 4346 h 12824"/>
              <a:gd name="T28" fmla="*/ 6799 w 12878"/>
              <a:gd name="T29" fmla="*/ 7438 h 12824"/>
              <a:gd name="T30" fmla="*/ 827 w 12878"/>
              <a:gd name="T31" fmla="*/ 3706 h 12824"/>
              <a:gd name="T32" fmla="*/ 6772 w 12878"/>
              <a:gd name="T33" fmla="*/ 613 h 12824"/>
              <a:gd name="T34" fmla="*/ 12425 w 12878"/>
              <a:gd name="T35" fmla="*/ 6559 h 12824"/>
              <a:gd name="T36" fmla="*/ 6799 w 12878"/>
              <a:gd name="T37" fmla="*/ 9838 h 12824"/>
              <a:gd name="T38" fmla="*/ 454 w 12878"/>
              <a:gd name="T39" fmla="*/ 5892 h 12824"/>
              <a:gd name="T40" fmla="*/ 80 w 12878"/>
              <a:gd name="T41" fmla="*/ 5972 h 12824"/>
              <a:gd name="T42" fmla="*/ 160 w 12878"/>
              <a:gd name="T43" fmla="*/ 6345 h 12824"/>
              <a:gd name="T44" fmla="*/ 6612 w 12878"/>
              <a:gd name="T45" fmla="*/ 10371 h 12824"/>
              <a:gd name="T46" fmla="*/ 6799 w 12878"/>
              <a:gd name="T47" fmla="*/ 10424 h 12824"/>
              <a:gd name="T48" fmla="*/ 6959 w 12878"/>
              <a:gd name="T49" fmla="*/ 10371 h 12824"/>
              <a:gd name="T50" fmla="*/ 12691 w 12878"/>
              <a:gd name="T51" fmla="*/ 7012 h 12824"/>
              <a:gd name="T52" fmla="*/ 12798 w 12878"/>
              <a:gd name="T53" fmla="*/ 6638 h 12824"/>
              <a:gd name="T54" fmla="*/ 12425 w 12878"/>
              <a:gd name="T55" fmla="*/ 6559 h 12824"/>
              <a:gd name="T56" fmla="*/ 12425 w 12878"/>
              <a:gd name="T57" fmla="*/ 8958 h 12824"/>
              <a:gd name="T58" fmla="*/ 6799 w 12878"/>
              <a:gd name="T59" fmla="*/ 12237 h 12824"/>
              <a:gd name="T60" fmla="*/ 454 w 12878"/>
              <a:gd name="T61" fmla="*/ 8292 h 12824"/>
              <a:gd name="T62" fmla="*/ 80 w 12878"/>
              <a:gd name="T63" fmla="*/ 8372 h 12824"/>
              <a:gd name="T64" fmla="*/ 160 w 12878"/>
              <a:gd name="T65" fmla="*/ 8745 h 12824"/>
              <a:gd name="T66" fmla="*/ 6612 w 12878"/>
              <a:gd name="T67" fmla="*/ 12771 h 12824"/>
              <a:gd name="T68" fmla="*/ 6799 w 12878"/>
              <a:gd name="T69" fmla="*/ 12824 h 12824"/>
              <a:gd name="T70" fmla="*/ 6959 w 12878"/>
              <a:gd name="T71" fmla="*/ 12771 h 12824"/>
              <a:gd name="T72" fmla="*/ 12691 w 12878"/>
              <a:gd name="T73" fmla="*/ 9411 h 12824"/>
              <a:gd name="T74" fmla="*/ 12798 w 12878"/>
              <a:gd name="T75" fmla="*/ 9038 h 12824"/>
              <a:gd name="T76" fmla="*/ 12425 w 12878"/>
              <a:gd name="T77" fmla="*/ 8958 h 128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878" h="12824">
                <a:moveTo>
                  <a:pt x="160" y="3946"/>
                </a:moveTo>
                <a:lnTo>
                  <a:pt x="6612" y="7972"/>
                </a:lnTo>
                <a:cubicBezTo>
                  <a:pt x="6692" y="8025"/>
                  <a:pt x="6746" y="8025"/>
                  <a:pt x="6799" y="8025"/>
                </a:cubicBezTo>
                <a:cubicBezTo>
                  <a:pt x="6852" y="8025"/>
                  <a:pt x="6906" y="7998"/>
                  <a:pt x="6959" y="7972"/>
                </a:cubicBezTo>
                <a:lnTo>
                  <a:pt x="12691" y="4612"/>
                </a:lnTo>
                <a:cubicBezTo>
                  <a:pt x="12771" y="4559"/>
                  <a:pt x="12825" y="4479"/>
                  <a:pt x="12851" y="4372"/>
                </a:cubicBezTo>
                <a:lnTo>
                  <a:pt x="12851" y="4212"/>
                </a:lnTo>
                <a:lnTo>
                  <a:pt x="6959" y="80"/>
                </a:lnTo>
                <a:cubicBezTo>
                  <a:pt x="6852" y="26"/>
                  <a:pt x="6746" y="0"/>
                  <a:pt x="6639" y="53"/>
                </a:cubicBezTo>
                <a:lnTo>
                  <a:pt x="187" y="3412"/>
                </a:lnTo>
                <a:cubicBezTo>
                  <a:pt x="80" y="3466"/>
                  <a:pt x="27" y="3572"/>
                  <a:pt x="27" y="3679"/>
                </a:cubicBezTo>
                <a:cubicBezTo>
                  <a:pt x="27" y="3786"/>
                  <a:pt x="80" y="3892"/>
                  <a:pt x="160" y="3946"/>
                </a:cubicBezTo>
                <a:close/>
                <a:moveTo>
                  <a:pt x="6772" y="613"/>
                </a:moveTo>
                <a:lnTo>
                  <a:pt x="12078" y="4346"/>
                </a:lnTo>
                <a:lnTo>
                  <a:pt x="6799" y="7438"/>
                </a:lnTo>
                <a:lnTo>
                  <a:pt x="827" y="3706"/>
                </a:lnTo>
                <a:lnTo>
                  <a:pt x="6772" y="613"/>
                </a:lnTo>
                <a:close/>
                <a:moveTo>
                  <a:pt x="12425" y="6559"/>
                </a:moveTo>
                <a:lnTo>
                  <a:pt x="6799" y="9838"/>
                </a:lnTo>
                <a:lnTo>
                  <a:pt x="454" y="5892"/>
                </a:lnTo>
                <a:cubicBezTo>
                  <a:pt x="320" y="5812"/>
                  <a:pt x="160" y="5839"/>
                  <a:pt x="80" y="5972"/>
                </a:cubicBezTo>
                <a:cubicBezTo>
                  <a:pt x="0" y="6105"/>
                  <a:pt x="27" y="6265"/>
                  <a:pt x="160" y="6345"/>
                </a:cubicBezTo>
                <a:lnTo>
                  <a:pt x="6612" y="10371"/>
                </a:lnTo>
                <a:cubicBezTo>
                  <a:pt x="6692" y="10424"/>
                  <a:pt x="6746" y="10424"/>
                  <a:pt x="6799" y="10424"/>
                </a:cubicBezTo>
                <a:cubicBezTo>
                  <a:pt x="6852" y="10424"/>
                  <a:pt x="6906" y="10398"/>
                  <a:pt x="6959" y="10371"/>
                </a:cubicBezTo>
                <a:lnTo>
                  <a:pt x="12691" y="7012"/>
                </a:lnTo>
                <a:cubicBezTo>
                  <a:pt x="12825" y="6932"/>
                  <a:pt x="12878" y="6772"/>
                  <a:pt x="12798" y="6638"/>
                </a:cubicBezTo>
                <a:cubicBezTo>
                  <a:pt x="12718" y="6505"/>
                  <a:pt x="12558" y="6479"/>
                  <a:pt x="12425" y="6559"/>
                </a:cubicBezTo>
                <a:close/>
                <a:moveTo>
                  <a:pt x="12425" y="8958"/>
                </a:moveTo>
                <a:lnTo>
                  <a:pt x="6799" y="12237"/>
                </a:lnTo>
                <a:lnTo>
                  <a:pt x="454" y="8292"/>
                </a:lnTo>
                <a:cubicBezTo>
                  <a:pt x="320" y="8212"/>
                  <a:pt x="160" y="8238"/>
                  <a:pt x="80" y="8372"/>
                </a:cubicBezTo>
                <a:cubicBezTo>
                  <a:pt x="0" y="8505"/>
                  <a:pt x="27" y="8665"/>
                  <a:pt x="160" y="8745"/>
                </a:cubicBezTo>
                <a:lnTo>
                  <a:pt x="6612" y="12771"/>
                </a:lnTo>
                <a:cubicBezTo>
                  <a:pt x="6692" y="12824"/>
                  <a:pt x="6746" y="12824"/>
                  <a:pt x="6799" y="12824"/>
                </a:cubicBezTo>
                <a:cubicBezTo>
                  <a:pt x="6852" y="12824"/>
                  <a:pt x="6906" y="12797"/>
                  <a:pt x="6959" y="12771"/>
                </a:cubicBezTo>
                <a:lnTo>
                  <a:pt x="12691" y="9411"/>
                </a:lnTo>
                <a:cubicBezTo>
                  <a:pt x="12825" y="9331"/>
                  <a:pt x="12878" y="9171"/>
                  <a:pt x="12798" y="9038"/>
                </a:cubicBezTo>
                <a:cubicBezTo>
                  <a:pt x="12718" y="8905"/>
                  <a:pt x="12558" y="8878"/>
                  <a:pt x="12425" y="895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2" name="熊大的PPT宝库39"/>
          <p:cNvSpPr txBox="1"/>
          <p:nvPr/>
        </p:nvSpPr>
        <p:spPr>
          <a:xfrm>
            <a:off x="3972112" y="5843843"/>
            <a:ext cx="4247777" cy="369332"/>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韧性指南提供了一个8个维度的评估框架，以加快韧性建设进程，从而(1)提高应对中断的能力:(2)确定新的优先事项:(3)管理风险</a:t>
            </a:r>
          </a:p>
        </p:txBody>
      </p:sp>
      <p:grpSp>
        <p:nvGrpSpPr>
          <p:cNvPr id="131" name="熊大的PPT宝库40"/>
          <p:cNvGrpSpPr/>
          <p:nvPr/>
        </p:nvGrpSpPr>
        <p:grpSpPr>
          <a:xfrm>
            <a:off x="3603075" y="1916836"/>
            <a:ext cx="4985851" cy="3367228"/>
            <a:chOff x="2193282" y="5920178"/>
            <a:chExt cx="7024609" cy="4744116"/>
          </a:xfrm>
        </p:grpSpPr>
        <p:graphicFrame>
          <p:nvGraphicFramePr>
            <p:cNvPr id="117" name="熊大的PPT宝库40-1"/>
            <p:cNvGraphicFramePr/>
            <p:nvPr/>
          </p:nvGraphicFramePr>
          <p:xfrm>
            <a:off x="2193282" y="5920178"/>
            <a:ext cx="7024609" cy="474411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30" name="熊大的PPT宝库40-2"/>
            <p:cNvGraphicFramePr/>
            <p:nvPr/>
          </p:nvGraphicFramePr>
          <p:xfrm>
            <a:off x="2484873" y="6117106"/>
            <a:ext cx="6441427" cy="4350260"/>
          </p:xfrm>
          <a:graphic>
            <a:graphicData uri="http://schemas.openxmlformats.org/drawingml/2006/chart">
              <c:chart xmlns:c="http://schemas.openxmlformats.org/drawingml/2006/chart" xmlns:r="http://schemas.openxmlformats.org/officeDocument/2006/relationships" r:id="rId5"/>
            </a:graphicData>
          </a:graphic>
        </p:graphicFrame>
      </p:grpSp>
      <p:pic>
        <p:nvPicPr>
          <p:cNvPr id="88" name="熊大的PPT宝库41"/>
          <p:cNvPicPr>
            <a:picLocks noChangeAspect="1"/>
          </p:cNvPicPr>
          <p:nvPr/>
        </p:nvPicPr>
        <p:blipFill>
          <a:blip r:embed="rId6"/>
          <a:stretch>
            <a:fillRect/>
          </a:stretch>
        </p:blipFill>
        <p:spPr>
          <a:xfrm rot="1302966">
            <a:off x="3961100" y="2085648"/>
            <a:ext cx="4273666" cy="3060457"/>
          </a:xfrm>
          <a:prstGeom prst="rect">
            <a:avLst/>
          </a:prstGeom>
        </p:spPr>
      </p:pic>
      <p:sp>
        <p:nvSpPr>
          <p:cNvPr id="89" name="熊大的PPT宝库42"/>
          <p:cNvSpPr/>
          <p:nvPr/>
        </p:nvSpPr>
        <p:spPr>
          <a:xfrm>
            <a:off x="4908727" y="3139618"/>
            <a:ext cx="1182312" cy="950551"/>
          </a:xfrm>
          <a:custGeom>
            <a:avLst/>
            <a:gdLst>
              <a:gd name="connsiteX0" fmla="*/ 0 w 581545"/>
              <a:gd name="connsiteY0" fmla="*/ 790531 h 790531"/>
              <a:gd name="connsiteX1" fmla="*/ 290773 w 581545"/>
              <a:gd name="connsiteY1" fmla="*/ 0 h 790531"/>
              <a:gd name="connsiteX2" fmla="*/ 581545 w 581545"/>
              <a:gd name="connsiteY2" fmla="*/ 790531 h 790531"/>
              <a:gd name="connsiteX3" fmla="*/ 0 w 581545"/>
              <a:gd name="connsiteY3" fmla="*/ 790531 h 790531"/>
              <a:gd name="connsiteX0-1" fmla="*/ 52127 w 633672"/>
              <a:gd name="connsiteY0-2" fmla="*/ 950551 h 950551"/>
              <a:gd name="connsiteX1-3" fmla="*/ 0 w 633672"/>
              <a:gd name="connsiteY1-4" fmla="*/ 0 h 950551"/>
              <a:gd name="connsiteX2-5" fmla="*/ 633672 w 633672"/>
              <a:gd name="connsiteY2-6" fmla="*/ 950551 h 950551"/>
              <a:gd name="connsiteX3-7" fmla="*/ 52127 w 633672"/>
              <a:gd name="connsiteY3-8" fmla="*/ 950551 h 950551"/>
              <a:gd name="connsiteX0-9" fmla="*/ 52127 w 1182312"/>
              <a:gd name="connsiteY0-10" fmla="*/ 950551 h 950551"/>
              <a:gd name="connsiteX1-11" fmla="*/ 0 w 1182312"/>
              <a:gd name="connsiteY1-12" fmla="*/ 0 h 950551"/>
              <a:gd name="connsiteX2-13" fmla="*/ 1182312 w 1182312"/>
              <a:gd name="connsiteY2-14" fmla="*/ 478111 h 950551"/>
              <a:gd name="connsiteX3-15" fmla="*/ 52127 w 1182312"/>
              <a:gd name="connsiteY3-16" fmla="*/ 950551 h 950551"/>
            </a:gdLst>
            <a:ahLst/>
            <a:cxnLst>
              <a:cxn ang="0">
                <a:pos x="connsiteX0-1" y="connsiteY0-2"/>
              </a:cxn>
              <a:cxn ang="0">
                <a:pos x="connsiteX1-3" y="connsiteY1-4"/>
              </a:cxn>
              <a:cxn ang="0">
                <a:pos x="connsiteX2-5" y="connsiteY2-6"/>
              </a:cxn>
              <a:cxn ang="0">
                <a:pos x="connsiteX3-7" y="connsiteY3-8"/>
              </a:cxn>
            </a:cxnLst>
            <a:rect l="l" t="t" r="r" b="b"/>
            <a:pathLst>
              <a:path w="1182312" h="950551">
                <a:moveTo>
                  <a:pt x="52127" y="950551"/>
                </a:moveTo>
                <a:lnTo>
                  <a:pt x="0" y="0"/>
                </a:lnTo>
                <a:lnTo>
                  <a:pt x="1182312" y="478111"/>
                </a:lnTo>
                <a:lnTo>
                  <a:pt x="52127" y="950551"/>
                </a:lnTo>
                <a:close/>
              </a:path>
            </a:pathLst>
          </a:custGeom>
          <a:solidFill>
            <a:schemeClr val="bg1">
              <a:lumMod val="65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0" name="熊大的PPT宝库43"/>
          <p:cNvSpPr/>
          <p:nvPr/>
        </p:nvSpPr>
        <p:spPr>
          <a:xfrm>
            <a:off x="4969268" y="3631020"/>
            <a:ext cx="1113732" cy="1165860"/>
          </a:xfrm>
          <a:custGeom>
            <a:avLst/>
            <a:gdLst>
              <a:gd name="connsiteX0" fmla="*/ 0 w 581545"/>
              <a:gd name="connsiteY0" fmla="*/ 790531 h 790531"/>
              <a:gd name="connsiteX1" fmla="*/ 290773 w 581545"/>
              <a:gd name="connsiteY1" fmla="*/ 0 h 790531"/>
              <a:gd name="connsiteX2" fmla="*/ 581545 w 581545"/>
              <a:gd name="connsiteY2" fmla="*/ 790531 h 790531"/>
              <a:gd name="connsiteX3" fmla="*/ 0 w 581545"/>
              <a:gd name="connsiteY3" fmla="*/ 790531 h 790531"/>
              <a:gd name="connsiteX0-1" fmla="*/ 52127 w 633672"/>
              <a:gd name="connsiteY0-2" fmla="*/ 950551 h 950551"/>
              <a:gd name="connsiteX1-3" fmla="*/ 0 w 633672"/>
              <a:gd name="connsiteY1-4" fmla="*/ 0 h 950551"/>
              <a:gd name="connsiteX2-5" fmla="*/ 633672 w 633672"/>
              <a:gd name="connsiteY2-6" fmla="*/ 950551 h 950551"/>
              <a:gd name="connsiteX3-7" fmla="*/ 52127 w 633672"/>
              <a:gd name="connsiteY3-8" fmla="*/ 950551 h 950551"/>
              <a:gd name="connsiteX0-9" fmla="*/ 52127 w 1182312"/>
              <a:gd name="connsiteY0-10" fmla="*/ 950551 h 950551"/>
              <a:gd name="connsiteX1-11" fmla="*/ 0 w 1182312"/>
              <a:gd name="connsiteY1-12" fmla="*/ 0 h 950551"/>
              <a:gd name="connsiteX2-13" fmla="*/ 1182312 w 1182312"/>
              <a:gd name="connsiteY2-14" fmla="*/ 478111 h 950551"/>
              <a:gd name="connsiteX3-15" fmla="*/ 52127 w 1182312"/>
              <a:gd name="connsiteY3-16" fmla="*/ 950551 h 950551"/>
              <a:gd name="connsiteX0-17" fmla="*/ 52127 w 1113732"/>
              <a:gd name="connsiteY0-18" fmla="*/ 1417320 h 1417320"/>
              <a:gd name="connsiteX1-19" fmla="*/ 0 w 1113732"/>
              <a:gd name="connsiteY1-20" fmla="*/ 466769 h 1417320"/>
              <a:gd name="connsiteX2-21" fmla="*/ 1113732 w 1113732"/>
              <a:gd name="connsiteY2-22" fmla="*/ 0 h 1417320"/>
              <a:gd name="connsiteX3-23" fmla="*/ 52127 w 1113732"/>
              <a:gd name="connsiteY3-24" fmla="*/ 1417320 h 1417320"/>
              <a:gd name="connsiteX0-25" fmla="*/ 646487 w 1113732"/>
              <a:gd name="connsiteY0-26" fmla="*/ 1165860 h 1165860"/>
              <a:gd name="connsiteX1-27" fmla="*/ 0 w 1113732"/>
              <a:gd name="connsiteY1-28" fmla="*/ 466769 h 1165860"/>
              <a:gd name="connsiteX2-29" fmla="*/ 1113732 w 1113732"/>
              <a:gd name="connsiteY2-30" fmla="*/ 0 h 1165860"/>
              <a:gd name="connsiteX3-31" fmla="*/ 646487 w 1113732"/>
              <a:gd name="connsiteY3-32" fmla="*/ 1165860 h 1165860"/>
            </a:gdLst>
            <a:ahLst/>
            <a:cxnLst>
              <a:cxn ang="0">
                <a:pos x="connsiteX0-1" y="connsiteY0-2"/>
              </a:cxn>
              <a:cxn ang="0">
                <a:pos x="connsiteX1-3" y="connsiteY1-4"/>
              </a:cxn>
              <a:cxn ang="0">
                <a:pos x="connsiteX2-5" y="connsiteY2-6"/>
              </a:cxn>
              <a:cxn ang="0">
                <a:pos x="connsiteX3-7" y="connsiteY3-8"/>
              </a:cxn>
            </a:cxnLst>
            <a:rect l="l" t="t" r="r" b="b"/>
            <a:pathLst>
              <a:path w="1113732" h="1165860">
                <a:moveTo>
                  <a:pt x="646487" y="1165860"/>
                </a:moveTo>
                <a:lnTo>
                  <a:pt x="0" y="466769"/>
                </a:lnTo>
                <a:lnTo>
                  <a:pt x="1113732" y="0"/>
                </a:lnTo>
                <a:lnTo>
                  <a:pt x="646487" y="1165860"/>
                </a:lnTo>
                <a:close/>
              </a:path>
            </a:pathLst>
          </a:custGeom>
          <a:solidFill>
            <a:schemeClr val="bg1">
              <a:lumMod val="65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5" name="熊大的PPT宝库44"/>
          <p:cNvSpPr/>
          <p:nvPr/>
        </p:nvSpPr>
        <p:spPr>
          <a:xfrm>
            <a:off x="6142782" y="3173402"/>
            <a:ext cx="1126547" cy="914400"/>
          </a:xfrm>
          <a:custGeom>
            <a:avLst/>
            <a:gdLst>
              <a:gd name="connsiteX0" fmla="*/ 0 w 581545"/>
              <a:gd name="connsiteY0" fmla="*/ 790531 h 790531"/>
              <a:gd name="connsiteX1" fmla="*/ 290773 w 581545"/>
              <a:gd name="connsiteY1" fmla="*/ 0 h 790531"/>
              <a:gd name="connsiteX2" fmla="*/ 581545 w 581545"/>
              <a:gd name="connsiteY2" fmla="*/ 790531 h 790531"/>
              <a:gd name="connsiteX3" fmla="*/ 0 w 581545"/>
              <a:gd name="connsiteY3" fmla="*/ 790531 h 790531"/>
              <a:gd name="connsiteX0-1" fmla="*/ 52127 w 633672"/>
              <a:gd name="connsiteY0-2" fmla="*/ 950551 h 950551"/>
              <a:gd name="connsiteX1-3" fmla="*/ 0 w 633672"/>
              <a:gd name="connsiteY1-4" fmla="*/ 0 h 950551"/>
              <a:gd name="connsiteX2-5" fmla="*/ 633672 w 633672"/>
              <a:gd name="connsiteY2-6" fmla="*/ 950551 h 950551"/>
              <a:gd name="connsiteX3-7" fmla="*/ 52127 w 633672"/>
              <a:gd name="connsiteY3-8" fmla="*/ 950551 h 950551"/>
              <a:gd name="connsiteX0-9" fmla="*/ 52127 w 1182312"/>
              <a:gd name="connsiteY0-10" fmla="*/ 950551 h 950551"/>
              <a:gd name="connsiteX1-11" fmla="*/ 0 w 1182312"/>
              <a:gd name="connsiteY1-12" fmla="*/ 0 h 950551"/>
              <a:gd name="connsiteX2-13" fmla="*/ 1182312 w 1182312"/>
              <a:gd name="connsiteY2-14" fmla="*/ 478111 h 950551"/>
              <a:gd name="connsiteX3-15" fmla="*/ 52127 w 1182312"/>
              <a:gd name="connsiteY3-16" fmla="*/ 950551 h 950551"/>
              <a:gd name="connsiteX0-17" fmla="*/ 52127 w 1113732"/>
              <a:gd name="connsiteY0-18" fmla="*/ 1417320 h 1417320"/>
              <a:gd name="connsiteX1-19" fmla="*/ 0 w 1113732"/>
              <a:gd name="connsiteY1-20" fmla="*/ 466769 h 1417320"/>
              <a:gd name="connsiteX2-21" fmla="*/ 1113732 w 1113732"/>
              <a:gd name="connsiteY2-22" fmla="*/ 0 h 1417320"/>
              <a:gd name="connsiteX3-23" fmla="*/ 52127 w 1113732"/>
              <a:gd name="connsiteY3-24" fmla="*/ 1417320 h 1417320"/>
              <a:gd name="connsiteX0-25" fmla="*/ 646487 w 1113732"/>
              <a:gd name="connsiteY0-26" fmla="*/ 1165860 h 1165860"/>
              <a:gd name="connsiteX1-27" fmla="*/ 0 w 1113732"/>
              <a:gd name="connsiteY1-28" fmla="*/ 466769 h 1165860"/>
              <a:gd name="connsiteX2-29" fmla="*/ 1113732 w 1113732"/>
              <a:gd name="connsiteY2-30" fmla="*/ 0 h 1165860"/>
              <a:gd name="connsiteX3-31" fmla="*/ 646487 w 1113732"/>
              <a:gd name="connsiteY3-32" fmla="*/ 1165860 h 1165860"/>
              <a:gd name="connsiteX0-33" fmla="*/ 1126547 w 1126547"/>
              <a:gd name="connsiteY0-34" fmla="*/ 944880 h 944880"/>
              <a:gd name="connsiteX1-35" fmla="*/ 0 w 1126547"/>
              <a:gd name="connsiteY1-36" fmla="*/ 466769 h 944880"/>
              <a:gd name="connsiteX2-37" fmla="*/ 1113732 w 1126547"/>
              <a:gd name="connsiteY2-38" fmla="*/ 0 h 944880"/>
              <a:gd name="connsiteX3-39" fmla="*/ 1126547 w 1126547"/>
              <a:gd name="connsiteY3-40" fmla="*/ 944880 h 944880"/>
              <a:gd name="connsiteX0-41" fmla="*/ 1126547 w 1126547"/>
              <a:gd name="connsiteY0-42" fmla="*/ 914400 h 914400"/>
              <a:gd name="connsiteX1-43" fmla="*/ 0 w 1126547"/>
              <a:gd name="connsiteY1-44" fmla="*/ 436289 h 914400"/>
              <a:gd name="connsiteX2-45" fmla="*/ 1037532 w 1126547"/>
              <a:gd name="connsiteY2-46" fmla="*/ 0 h 914400"/>
              <a:gd name="connsiteX3-47" fmla="*/ 1126547 w 1126547"/>
              <a:gd name="connsiteY3-48" fmla="*/ 914400 h 914400"/>
            </a:gdLst>
            <a:ahLst/>
            <a:cxnLst>
              <a:cxn ang="0">
                <a:pos x="connsiteX0-1" y="connsiteY0-2"/>
              </a:cxn>
              <a:cxn ang="0">
                <a:pos x="connsiteX1-3" y="connsiteY1-4"/>
              </a:cxn>
              <a:cxn ang="0">
                <a:pos x="connsiteX2-5" y="connsiteY2-6"/>
              </a:cxn>
              <a:cxn ang="0">
                <a:pos x="connsiteX3-7" y="connsiteY3-8"/>
              </a:cxn>
            </a:cxnLst>
            <a:rect l="l" t="t" r="r" b="b"/>
            <a:pathLst>
              <a:path w="1126547" h="914400">
                <a:moveTo>
                  <a:pt x="1126547" y="914400"/>
                </a:moveTo>
                <a:lnTo>
                  <a:pt x="0" y="436289"/>
                </a:lnTo>
                <a:lnTo>
                  <a:pt x="1037532" y="0"/>
                </a:lnTo>
                <a:lnTo>
                  <a:pt x="1126547" y="914400"/>
                </a:lnTo>
                <a:close/>
              </a:path>
            </a:pathLst>
          </a:custGeom>
          <a:solidFill>
            <a:schemeClr val="bg1">
              <a:lumMod val="65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6" name="熊大的PPT宝库45"/>
          <p:cNvSpPr/>
          <p:nvPr/>
        </p:nvSpPr>
        <p:spPr>
          <a:xfrm>
            <a:off x="6096298" y="3610303"/>
            <a:ext cx="1159452" cy="1110571"/>
          </a:xfrm>
          <a:custGeom>
            <a:avLst/>
            <a:gdLst>
              <a:gd name="connsiteX0" fmla="*/ 0 w 581545"/>
              <a:gd name="connsiteY0" fmla="*/ 790531 h 790531"/>
              <a:gd name="connsiteX1" fmla="*/ 290773 w 581545"/>
              <a:gd name="connsiteY1" fmla="*/ 0 h 790531"/>
              <a:gd name="connsiteX2" fmla="*/ 581545 w 581545"/>
              <a:gd name="connsiteY2" fmla="*/ 790531 h 790531"/>
              <a:gd name="connsiteX3" fmla="*/ 0 w 581545"/>
              <a:gd name="connsiteY3" fmla="*/ 790531 h 790531"/>
              <a:gd name="connsiteX0-1" fmla="*/ 52127 w 633672"/>
              <a:gd name="connsiteY0-2" fmla="*/ 950551 h 950551"/>
              <a:gd name="connsiteX1-3" fmla="*/ 0 w 633672"/>
              <a:gd name="connsiteY1-4" fmla="*/ 0 h 950551"/>
              <a:gd name="connsiteX2-5" fmla="*/ 633672 w 633672"/>
              <a:gd name="connsiteY2-6" fmla="*/ 950551 h 950551"/>
              <a:gd name="connsiteX3-7" fmla="*/ 52127 w 633672"/>
              <a:gd name="connsiteY3-8" fmla="*/ 950551 h 950551"/>
              <a:gd name="connsiteX0-9" fmla="*/ 52127 w 1182312"/>
              <a:gd name="connsiteY0-10" fmla="*/ 950551 h 950551"/>
              <a:gd name="connsiteX1-11" fmla="*/ 0 w 1182312"/>
              <a:gd name="connsiteY1-12" fmla="*/ 0 h 950551"/>
              <a:gd name="connsiteX2-13" fmla="*/ 1182312 w 1182312"/>
              <a:gd name="connsiteY2-14" fmla="*/ 478111 h 950551"/>
              <a:gd name="connsiteX3-15" fmla="*/ 52127 w 1182312"/>
              <a:gd name="connsiteY3-16" fmla="*/ 950551 h 950551"/>
              <a:gd name="connsiteX0-17" fmla="*/ 52127 w 1113732"/>
              <a:gd name="connsiteY0-18" fmla="*/ 1417320 h 1417320"/>
              <a:gd name="connsiteX1-19" fmla="*/ 0 w 1113732"/>
              <a:gd name="connsiteY1-20" fmla="*/ 466769 h 1417320"/>
              <a:gd name="connsiteX2-21" fmla="*/ 1113732 w 1113732"/>
              <a:gd name="connsiteY2-22" fmla="*/ 0 h 1417320"/>
              <a:gd name="connsiteX3-23" fmla="*/ 52127 w 1113732"/>
              <a:gd name="connsiteY3-24" fmla="*/ 1417320 h 1417320"/>
              <a:gd name="connsiteX0-25" fmla="*/ 646487 w 1113732"/>
              <a:gd name="connsiteY0-26" fmla="*/ 1165860 h 1165860"/>
              <a:gd name="connsiteX1-27" fmla="*/ 0 w 1113732"/>
              <a:gd name="connsiteY1-28" fmla="*/ 466769 h 1165860"/>
              <a:gd name="connsiteX2-29" fmla="*/ 1113732 w 1113732"/>
              <a:gd name="connsiteY2-30" fmla="*/ 0 h 1165860"/>
              <a:gd name="connsiteX3-31" fmla="*/ 646487 w 1113732"/>
              <a:gd name="connsiteY3-32" fmla="*/ 1165860 h 1165860"/>
              <a:gd name="connsiteX0-33" fmla="*/ 455987 w 1113732"/>
              <a:gd name="connsiteY0-34" fmla="*/ 1554480 h 1554480"/>
              <a:gd name="connsiteX1-35" fmla="*/ 0 w 1113732"/>
              <a:gd name="connsiteY1-36" fmla="*/ 466769 h 1554480"/>
              <a:gd name="connsiteX2-37" fmla="*/ 1113732 w 1113732"/>
              <a:gd name="connsiteY2-38" fmla="*/ 0 h 1554480"/>
              <a:gd name="connsiteX3-39" fmla="*/ 455987 w 1113732"/>
              <a:gd name="connsiteY3-40" fmla="*/ 1554480 h 1554480"/>
              <a:gd name="connsiteX0-41" fmla="*/ 455987 w 1144212"/>
              <a:gd name="connsiteY0-42" fmla="*/ 1087711 h 1087711"/>
              <a:gd name="connsiteX1-43" fmla="*/ 0 w 1144212"/>
              <a:gd name="connsiteY1-44" fmla="*/ 0 h 1087711"/>
              <a:gd name="connsiteX2-45" fmla="*/ 1144212 w 1144212"/>
              <a:gd name="connsiteY2-46" fmla="*/ 455251 h 1087711"/>
              <a:gd name="connsiteX3-47" fmla="*/ 455987 w 1144212"/>
              <a:gd name="connsiteY3-48" fmla="*/ 1087711 h 1087711"/>
              <a:gd name="connsiteX0-49" fmla="*/ 471227 w 1159452"/>
              <a:gd name="connsiteY0-50" fmla="*/ 1110571 h 1110571"/>
              <a:gd name="connsiteX1-51" fmla="*/ 0 w 1159452"/>
              <a:gd name="connsiteY1-52" fmla="*/ 0 h 1110571"/>
              <a:gd name="connsiteX2-53" fmla="*/ 1159452 w 1159452"/>
              <a:gd name="connsiteY2-54" fmla="*/ 478111 h 1110571"/>
              <a:gd name="connsiteX3-55" fmla="*/ 471227 w 1159452"/>
              <a:gd name="connsiteY3-56" fmla="*/ 1110571 h 1110571"/>
            </a:gdLst>
            <a:ahLst/>
            <a:cxnLst>
              <a:cxn ang="0">
                <a:pos x="connsiteX0-1" y="connsiteY0-2"/>
              </a:cxn>
              <a:cxn ang="0">
                <a:pos x="connsiteX1-3" y="connsiteY1-4"/>
              </a:cxn>
              <a:cxn ang="0">
                <a:pos x="connsiteX2-5" y="connsiteY2-6"/>
              </a:cxn>
              <a:cxn ang="0">
                <a:pos x="connsiteX3-7" y="connsiteY3-8"/>
              </a:cxn>
            </a:cxnLst>
            <a:rect l="l" t="t" r="r" b="b"/>
            <a:pathLst>
              <a:path w="1159452" h="1110571">
                <a:moveTo>
                  <a:pt x="471227" y="1110571"/>
                </a:moveTo>
                <a:lnTo>
                  <a:pt x="0" y="0"/>
                </a:lnTo>
                <a:lnTo>
                  <a:pt x="1159452" y="478111"/>
                </a:lnTo>
                <a:lnTo>
                  <a:pt x="471227" y="1110571"/>
                </a:lnTo>
                <a:close/>
              </a:path>
            </a:pathLst>
          </a:custGeom>
          <a:solidFill>
            <a:schemeClr val="bg1">
              <a:lumMod val="65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7" name="熊大的PPT宝库46"/>
          <p:cNvSpPr/>
          <p:nvPr/>
        </p:nvSpPr>
        <p:spPr>
          <a:xfrm>
            <a:off x="5612710" y="3614677"/>
            <a:ext cx="947305" cy="1179151"/>
          </a:xfrm>
          <a:custGeom>
            <a:avLst/>
            <a:gdLst>
              <a:gd name="connsiteX0" fmla="*/ 0 w 581545"/>
              <a:gd name="connsiteY0" fmla="*/ 790531 h 790531"/>
              <a:gd name="connsiteX1" fmla="*/ 290773 w 581545"/>
              <a:gd name="connsiteY1" fmla="*/ 0 h 790531"/>
              <a:gd name="connsiteX2" fmla="*/ 581545 w 581545"/>
              <a:gd name="connsiteY2" fmla="*/ 790531 h 790531"/>
              <a:gd name="connsiteX3" fmla="*/ 0 w 581545"/>
              <a:gd name="connsiteY3" fmla="*/ 790531 h 790531"/>
              <a:gd name="connsiteX0-1" fmla="*/ 52127 w 633672"/>
              <a:gd name="connsiteY0-2" fmla="*/ 950551 h 950551"/>
              <a:gd name="connsiteX1-3" fmla="*/ 0 w 633672"/>
              <a:gd name="connsiteY1-4" fmla="*/ 0 h 950551"/>
              <a:gd name="connsiteX2-5" fmla="*/ 633672 w 633672"/>
              <a:gd name="connsiteY2-6" fmla="*/ 950551 h 950551"/>
              <a:gd name="connsiteX3-7" fmla="*/ 52127 w 633672"/>
              <a:gd name="connsiteY3-8" fmla="*/ 950551 h 950551"/>
              <a:gd name="connsiteX0-9" fmla="*/ 52127 w 1182312"/>
              <a:gd name="connsiteY0-10" fmla="*/ 950551 h 950551"/>
              <a:gd name="connsiteX1-11" fmla="*/ 0 w 1182312"/>
              <a:gd name="connsiteY1-12" fmla="*/ 0 h 950551"/>
              <a:gd name="connsiteX2-13" fmla="*/ 1182312 w 1182312"/>
              <a:gd name="connsiteY2-14" fmla="*/ 478111 h 950551"/>
              <a:gd name="connsiteX3-15" fmla="*/ 52127 w 1182312"/>
              <a:gd name="connsiteY3-16" fmla="*/ 950551 h 950551"/>
              <a:gd name="connsiteX0-17" fmla="*/ 52127 w 1113732"/>
              <a:gd name="connsiteY0-18" fmla="*/ 1417320 h 1417320"/>
              <a:gd name="connsiteX1-19" fmla="*/ 0 w 1113732"/>
              <a:gd name="connsiteY1-20" fmla="*/ 466769 h 1417320"/>
              <a:gd name="connsiteX2-21" fmla="*/ 1113732 w 1113732"/>
              <a:gd name="connsiteY2-22" fmla="*/ 0 h 1417320"/>
              <a:gd name="connsiteX3-23" fmla="*/ 52127 w 1113732"/>
              <a:gd name="connsiteY3-24" fmla="*/ 1417320 h 1417320"/>
              <a:gd name="connsiteX0-25" fmla="*/ 646487 w 1113732"/>
              <a:gd name="connsiteY0-26" fmla="*/ 1165860 h 1165860"/>
              <a:gd name="connsiteX1-27" fmla="*/ 0 w 1113732"/>
              <a:gd name="connsiteY1-28" fmla="*/ 466769 h 1165860"/>
              <a:gd name="connsiteX2-29" fmla="*/ 1113732 w 1113732"/>
              <a:gd name="connsiteY2-30" fmla="*/ 0 h 1165860"/>
              <a:gd name="connsiteX3-31" fmla="*/ 646487 w 1113732"/>
              <a:gd name="connsiteY3-32" fmla="*/ 1165860 h 1165860"/>
              <a:gd name="connsiteX0-33" fmla="*/ 440747 w 907992"/>
              <a:gd name="connsiteY0-34" fmla="*/ 1323931 h 1323931"/>
              <a:gd name="connsiteX1-35" fmla="*/ 0 w 907992"/>
              <a:gd name="connsiteY1-36" fmla="*/ 0 h 1323931"/>
              <a:gd name="connsiteX2-37" fmla="*/ 907992 w 907992"/>
              <a:gd name="connsiteY2-38" fmla="*/ 158071 h 1323931"/>
              <a:gd name="connsiteX3-39" fmla="*/ 440747 w 907992"/>
              <a:gd name="connsiteY3-40" fmla="*/ 1323931 h 1323931"/>
              <a:gd name="connsiteX0-41" fmla="*/ 0 w 1381645"/>
              <a:gd name="connsiteY0-42" fmla="*/ 1179151 h 1179151"/>
              <a:gd name="connsiteX1-43" fmla="*/ 473653 w 1381645"/>
              <a:gd name="connsiteY1-44" fmla="*/ 0 h 1179151"/>
              <a:gd name="connsiteX2-45" fmla="*/ 1381645 w 1381645"/>
              <a:gd name="connsiteY2-46" fmla="*/ 158071 h 1179151"/>
              <a:gd name="connsiteX3-47" fmla="*/ 0 w 1381645"/>
              <a:gd name="connsiteY3-48" fmla="*/ 1179151 h 1179151"/>
              <a:gd name="connsiteX0-49" fmla="*/ 0 w 947305"/>
              <a:gd name="connsiteY0-50" fmla="*/ 1179151 h 1179151"/>
              <a:gd name="connsiteX1-51" fmla="*/ 473653 w 947305"/>
              <a:gd name="connsiteY1-52" fmla="*/ 0 h 1179151"/>
              <a:gd name="connsiteX2-53" fmla="*/ 947305 w 947305"/>
              <a:gd name="connsiteY2-54" fmla="*/ 1095331 h 1179151"/>
              <a:gd name="connsiteX3-55" fmla="*/ 0 w 947305"/>
              <a:gd name="connsiteY3-56" fmla="*/ 1179151 h 1179151"/>
            </a:gdLst>
            <a:ahLst/>
            <a:cxnLst>
              <a:cxn ang="0">
                <a:pos x="connsiteX0-1" y="connsiteY0-2"/>
              </a:cxn>
              <a:cxn ang="0">
                <a:pos x="connsiteX1-3" y="connsiteY1-4"/>
              </a:cxn>
              <a:cxn ang="0">
                <a:pos x="connsiteX2-5" y="connsiteY2-6"/>
              </a:cxn>
              <a:cxn ang="0">
                <a:pos x="connsiteX3-7" y="connsiteY3-8"/>
              </a:cxn>
            </a:cxnLst>
            <a:rect l="l" t="t" r="r" b="b"/>
            <a:pathLst>
              <a:path w="947305" h="1179151">
                <a:moveTo>
                  <a:pt x="0" y="1179151"/>
                </a:moveTo>
                <a:lnTo>
                  <a:pt x="473653" y="0"/>
                </a:lnTo>
                <a:lnTo>
                  <a:pt x="947305" y="1095331"/>
                </a:lnTo>
                <a:lnTo>
                  <a:pt x="0" y="1179151"/>
                </a:lnTo>
                <a:close/>
              </a:path>
            </a:pathLst>
          </a:custGeom>
          <a:solidFill>
            <a:schemeClr val="bg1">
              <a:lumMod val="65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8" name="熊大的PPT宝库47"/>
          <p:cNvSpPr/>
          <p:nvPr/>
        </p:nvSpPr>
        <p:spPr>
          <a:xfrm>
            <a:off x="6087364" y="2682427"/>
            <a:ext cx="1096067" cy="931589"/>
          </a:xfrm>
          <a:custGeom>
            <a:avLst/>
            <a:gdLst>
              <a:gd name="connsiteX0" fmla="*/ 0 w 581545"/>
              <a:gd name="connsiteY0" fmla="*/ 790531 h 790531"/>
              <a:gd name="connsiteX1" fmla="*/ 290773 w 581545"/>
              <a:gd name="connsiteY1" fmla="*/ 0 h 790531"/>
              <a:gd name="connsiteX2" fmla="*/ 581545 w 581545"/>
              <a:gd name="connsiteY2" fmla="*/ 790531 h 790531"/>
              <a:gd name="connsiteX3" fmla="*/ 0 w 581545"/>
              <a:gd name="connsiteY3" fmla="*/ 790531 h 790531"/>
              <a:gd name="connsiteX0-1" fmla="*/ 52127 w 633672"/>
              <a:gd name="connsiteY0-2" fmla="*/ 950551 h 950551"/>
              <a:gd name="connsiteX1-3" fmla="*/ 0 w 633672"/>
              <a:gd name="connsiteY1-4" fmla="*/ 0 h 950551"/>
              <a:gd name="connsiteX2-5" fmla="*/ 633672 w 633672"/>
              <a:gd name="connsiteY2-6" fmla="*/ 950551 h 950551"/>
              <a:gd name="connsiteX3-7" fmla="*/ 52127 w 633672"/>
              <a:gd name="connsiteY3-8" fmla="*/ 950551 h 950551"/>
              <a:gd name="connsiteX0-9" fmla="*/ 52127 w 1182312"/>
              <a:gd name="connsiteY0-10" fmla="*/ 950551 h 950551"/>
              <a:gd name="connsiteX1-11" fmla="*/ 0 w 1182312"/>
              <a:gd name="connsiteY1-12" fmla="*/ 0 h 950551"/>
              <a:gd name="connsiteX2-13" fmla="*/ 1182312 w 1182312"/>
              <a:gd name="connsiteY2-14" fmla="*/ 478111 h 950551"/>
              <a:gd name="connsiteX3-15" fmla="*/ 52127 w 1182312"/>
              <a:gd name="connsiteY3-16" fmla="*/ 950551 h 950551"/>
              <a:gd name="connsiteX0-17" fmla="*/ 52127 w 1113732"/>
              <a:gd name="connsiteY0-18" fmla="*/ 1417320 h 1417320"/>
              <a:gd name="connsiteX1-19" fmla="*/ 0 w 1113732"/>
              <a:gd name="connsiteY1-20" fmla="*/ 466769 h 1417320"/>
              <a:gd name="connsiteX2-21" fmla="*/ 1113732 w 1113732"/>
              <a:gd name="connsiteY2-22" fmla="*/ 0 h 1417320"/>
              <a:gd name="connsiteX3-23" fmla="*/ 52127 w 1113732"/>
              <a:gd name="connsiteY3-24" fmla="*/ 1417320 h 1417320"/>
              <a:gd name="connsiteX0-25" fmla="*/ 646487 w 1113732"/>
              <a:gd name="connsiteY0-26" fmla="*/ 1165860 h 1165860"/>
              <a:gd name="connsiteX1-27" fmla="*/ 0 w 1113732"/>
              <a:gd name="connsiteY1-28" fmla="*/ 466769 h 1165860"/>
              <a:gd name="connsiteX2-29" fmla="*/ 1113732 w 1113732"/>
              <a:gd name="connsiteY2-30" fmla="*/ 0 h 1165860"/>
              <a:gd name="connsiteX3-31" fmla="*/ 646487 w 1113732"/>
              <a:gd name="connsiteY3-32" fmla="*/ 1165860 h 1165860"/>
              <a:gd name="connsiteX0-33" fmla="*/ 646487 w 646487"/>
              <a:gd name="connsiteY0-34" fmla="*/ 1607820 h 1607820"/>
              <a:gd name="connsiteX1-35" fmla="*/ 0 w 646487"/>
              <a:gd name="connsiteY1-36" fmla="*/ 908729 h 1607820"/>
              <a:gd name="connsiteX2-37" fmla="*/ 382212 w 646487"/>
              <a:gd name="connsiteY2-38" fmla="*/ 0 h 1607820"/>
              <a:gd name="connsiteX3-39" fmla="*/ 646487 w 646487"/>
              <a:gd name="connsiteY3-40" fmla="*/ 1607820 h 1607820"/>
              <a:gd name="connsiteX0-41" fmla="*/ 1103687 w 1103687"/>
              <a:gd name="connsiteY0-42" fmla="*/ 495300 h 908729"/>
              <a:gd name="connsiteX1-43" fmla="*/ 0 w 1103687"/>
              <a:gd name="connsiteY1-44" fmla="*/ 908729 h 908729"/>
              <a:gd name="connsiteX2-45" fmla="*/ 382212 w 1103687"/>
              <a:gd name="connsiteY2-46" fmla="*/ 0 h 908729"/>
              <a:gd name="connsiteX3-47" fmla="*/ 1103687 w 1103687"/>
              <a:gd name="connsiteY3-48" fmla="*/ 495300 h 908729"/>
              <a:gd name="connsiteX0-49" fmla="*/ 1096067 w 1096067"/>
              <a:gd name="connsiteY0-50" fmla="*/ 495300 h 931589"/>
              <a:gd name="connsiteX1-51" fmla="*/ 0 w 1096067"/>
              <a:gd name="connsiteY1-52" fmla="*/ 931589 h 931589"/>
              <a:gd name="connsiteX2-53" fmla="*/ 374592 w 1096067"/>
              <a:gd name="connsiteY2-54" fmla="*/ 0 h 931589"/>
              <a:gd name="connsiteX3-55" fmla="*/ 1096067 w 1096067"/>
              <a:gd name="connsiteY3-56" fmla="*/ 495300 h 931589"/>
            </a:gdLst>
            <a:ahLst/>
            <a:cxnLst>
              <a:cxn ang="0">
                <a:pos x="connsiteX0-1" y="connsiteY0-2"/>
              </a:cxn>
              <a:cxn ang="0">
                <a:pos x="connsiteX1-3" y="connsiteY1-4"/>
              </a:cxn>
              <a:cxn ang="0">
                <a:pos x="connsiteX2-5" y="connsiteY2-6"/>
              </a:cxn>
              <a:cxn ang="0">
                <a:pos x="connsiteX3-7" y="connsiteY3-8"/>
              </a:cxn>
            </a:cxnLst>
            <a:rect l="l" t="t" r="r" b="b"/>
            <a:pathLst>
              <a:path w="1096067" h="931589">
                <a:moveTo>
                  <a:pt x="1096067" y="495300"/>
                </a:moveTo>
                <a:lnTo>
                  <a:pt x="0" y="931589"/>
                </a:lnTo>
                <a:lnTo>
                  <a:pt x="374592" y="0"/>
                </a:lnTo>
                <a:lnTo>
                  <a:pt x="1096067" y="495300"/>
                </a:lnTo>
                <a:close/>
              </a:path>
            </a:pathLst>
          </a:custGeom>
          <a:solidFill>
            <a:schemeClr val="bg1">
              <a:lumMod val="65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9" name="熊大的PPT宝库48"/>
          <p:cNvSpPr/>
          <p:nvPr/>
        </p:nvSpPr>
        <p:spPr>
          <a:xfrm>
            <a:off x="4929628" y="2605878"/>
            <a:ext cx="1157027" cy="1013460"/>
          </a:xfrm>
          <a:custGeom>
            <a:avLst/>
            <a:gdLst>
              <a:gd name="connsiteX0" fmla="*/ 0 w 581545"/>
              <a:gd name="connsiteY0" fmla="*/ 790531 h 790531"/>
              <a:gd name="connsiteX1" fmla="*/ 290773 w 581545"/>
              <a:gd name="connsiteY1" fmla="*/ 0 h 790531"/>
              <a:gd name="connsiteX2" fmla="*/ 581545 w 581545"/>
              <a:gd name="connsiteY2" fmla="*/ 790531 h 790531"/>
              <a:gd name="connsiteX3" fmla="*/ 0 w 581545"/>
              <a:gd name="connsiteY3" fmla="*/ 790531 h 790531"/>
              <a:gd name="connsiteX0-1" fmla="*/ 52127 w 633672"/>
              <a:gd name="connsiteY0-2" fmla="*/ 950551 h 950551"/>
              <a:gd name="connsiteX1-3" fmla="*/ 0 w 633672"/>
              <a:gd name="connsiteY1-4" fmla="*/ 0 h 950551"/>
              <a:gd name="connsiteX2-5" fmla="*/ 633672 w 633672"/>
              <a:gd name="connsiteY2-6" fmla="*/ 950551 h 950551"/>
              <a:gd name="connsiteX3-7" fmla="*/ 52127 w 633672"/>
              <a:gd name="connsiteY3-8" fmla="*/ 950551 h 950551"/>
              <a:gd name="connsiteX0-9" fmla="*/ 52127 w 1182312"/>
              <a:gd name="connsiteY0-10" fmla="*/ 950551 h 950551"/>
              <a:gd name="connsiteX1-11" fmla="*/ 0 w 1182312"/>
              <a:gd name="connsiteY1-12" fmla="*/ 0 h 950551"/>
              <a:gd name="connsiteX2-13" fmla="*/ 1182312 w 1182312"/>
              <a:gd name="connsiteY2-14" fmla="*/ 478111 h 950551"/>
              <a:gd name="connsiteX3-15" fmla="*/ 52127 w 1182312"/>
              <a:gd name="connsiteY3-16" fmla="*/ 950551 h 950551"/>
              <a:gd name="connsiteX0-17" fmla="*/ 52127 w 1113732"/>
              <a:gd name="connsiteY0-18" fmla="*/ 1417320 h 1417320"/>
              <a:gd name="connsiteX1-19" fmla="*/ 0 w 1113732"/>
              <a:gd name="connsiteY1-20" fmla="*/ 466769 h 1417320"/>
              <a:gd name="connsiteX2-21" fmla="*/ 1113732 w 1113732"/>
              <a:gd name="connsiteY2-22" fmla="*/ 0 h 1417320"/>
              <a:gd name="connsiteX3-23" fmla="*/ 52127 w 1113732"/>
              <a:gd name="connsiteY3-24" fmla="*/ 1417320 h 1417320"/>
              <a:gd name="connsiteX0-25" fmla="*/ 646487 w 1113732"/>
              <a:gd name="connsiteY0-26" fmla="*/ 1165860 h 1165860"/>
              <a:gd name="connsiteX1-27" fmla="*/ 0 w 1113732"/>
              <a:gd name="connsiteY1-28" fmla="*/ 466769 h 1165860"/>
              <a:gd name="connsiteX2-29" fmla="*/ 1113732 w 1113732"/>
              <a:gd name="connsiteY2-30" fmla="*/ 0 h 1165860"/>
              <a:gd name="connsiteX3-31" fmla="*/ 646487 w 1113732"/>
              <a:gd name="connsiteY3-32" fmla="*/ 1165860 h 1165860"/>
              <a:gd name="connsiteX0-33" fmla="*/ 1332287 w 1332287"/>
              <a:gd name="connsiteY0-34" fmla="*/ 1524000 h 1524000"/>
              <a:gd name="connsiteX1-35" fmla="*/ 0 w 1332287"/>
              <a:gd name="connsiteY1-36" fmla="*/ 466769 h 1524000"/>
              <a:gd name="connsiteX2-37" fmla="*/ 1113732 w 1332287"/>
              <a:gd name="connsiteY2-38" fmla="*/ 0 h 1524000"/>
              <a:gd name="connsiteX3-39" fmla="*/ 1332287 w 1332287"/>
              <a:gd name="connsiteY3-40" fmla="*/ 1524000 h 1524000"/>
              <a:gd name="connsiteX0-41" fmla="*/ 1157027 w 1157027"/>
              <a:gd name="connsiteY0-42" fmla="*/ 1524000 h 1524000"/>
              <a:gd name="connsiteX1-43" fmla="*/ 0 w 1157027"/>
              <a:gd name="connsiteY1-44" fmla="*/ 1045889 h 1524000"/>
              <a:gd name="connsiteX2-45" fmla="*/ 938472 w 1157027"/>
              <a:gd name="connsiteY2-46" fmla="*/ 0 h 1524000"/>
              <a:gd name="connsiteX3-47" fmla="*/ 1157027 w 1157027"/>
              <a:gd name="connsiteY3-48" fmla="*/ 1524000 h 1524000"/>
              <a:gd name="connsiteX0-49" fmla="*/ 1157027 w 1157027"/>
              <a:gd name="connsiteY0-50" fmla="*/ 822960 h 822960"/>
              <a:gd name="connsiteX1-51" fmla="*/ 0 w 1157027"/>
              <a:gd name="connsiteY1-52" fmla="*/ 344849 h 822960"/>
              <a:gd name="connsiteX2-53" fmla="*/ 824172 w 1157027"/>
              <a:gd name="connsiteY2-54" fmla="*/ 0 h 822960"/>
              <a:gd name="connsiteX3-55" fmla="*/ 1157027 w 1157027"/>
              <a:gd name="connsiteY3-56" fmla="*/ 822960 h 822960"/>
              <a:gd name="connsiteX0-57" fmla="*/ 1157027 w 1157027"/>
              <a:gd name="connsiteY0-58" fmla="*/ 1013460 h 1013460"/>
              <a:gd name="connsiteX1-59" fmla="*/ 0 w 1157027"/>
              <a:gd name="connsiteY1-60" fmla="*/ 535349 h 1013460"/>
              <a:gd name="connsiteX2-61" fmla="*/ 732732 w 1157027"/>
              <a:gd name="connsiteY2-62" fmla="*/ 0 h 1013460"/>
              <a:gd name="connsiteX3-63" fmla="*/ 1157027 w 1157027"/>
              <a:gd name="connsiteY3-64" fmla="*/ 1013460 h 1013460"/>
            </a:gdLst>
            <a:ahLst/>
            <a:cxnLst>
              <a:cxn ang="0">
                <a:pos x="connsiteX0-1" y="connsiteY0-2"/>
              </a:cxn>
              <a:cxn ang="0">
                <a:pos x="connsiteX1-3" y="connsiteY1-4"/>
              </a:cxn>
              <a:cxn ang="0">
                <a:pos x="connsiteX2-5" y="connsiteY2-6"/>
              </a:cxn>
              <a:cxn ang="0">
                <a:pos x="connsiteX3-7" y="connsiteY3-8"/>
              </a:cxn>
            </a:cxnLst>
            <a:rect l="l" t="t" r="r" b="b"/>
            <a:pathLst>
              <a:path w="1157027" h="1013460">
                <a:moveTo>
                  <a:pt x="1157027" y="1013460"/>
                </a:moveTo>
                <a:lnTo>
                  <a:pt x="0" y="535349"/>
                </a:lnTo>
                <a:lnTo>
                  <a:pt x="732732" y="0"/>
                </a:lnTo>
                <a:lnTo>
                  <a:pt x="1157027" y="1013460"/>
                </a:lnTo>
                <a:close/>
              </a:path>
            </a:pathLst>
          </a:custGeom>
          <a:solidFill>
            <a:schemeClr val="bg1">
              <a:lumMod val="65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0" name="熊大的PPT宝库49"/>
          <p:cNvSpPr/>
          <p:nvPr/>
        </p:nvSpPr>
        <p:spPr>
          <a:xfrm>
            <a:off x="5654315" y="2599835"/>
            <a:ext cx="801312" cy="1019131"/>
          </a:xfrm>
          <a:custGeom>
            <a:avLst/>
            <a:gdLst>
              <a:gd name="connsiteX0" fmla="*/ 0 w 581545"/>
              <a:gd name="connsiteY0" fmla="*/ 790531 h 790531"/>
              <a:gd name="connsiteX1" fmla="*/ 290773 w 581545"/>
              <a:gd name="connsiteY1" fmla="*/ 0 h 790531"/>
              <a:gd name="connsiteX2" fmla="*/ 581545 w 581545"/>
              <a:gd name="connsiteY2" fmla="*/ 790531 h 790531"/>
              <a:gd name="connsiteX3" fmla="*/ 0 w 581545"/>
              <a:gd name="connsiteY3" fmla="*/ 790531 h 790531"/>
              <a:gd name="connsiteX0-1" fmla="*/ 52127 w 633672"/>
              <a:gd name="connsiteY0-2" fmla="*/ 950551 h 950551"/>
              <a:gd name="connsiteX1-3" fmla="*/ 0 w 633672"/>
              <a:gd name="connsiteY1-4" fmla="*/ 0 h 950551"/>
              <a:gd name="connsiteX2-5" fmla="*/ 633672 w 633672"/>
              <a:gd name="connsiteY2-6" fmla="*/ 950551 h 950551"/>
              <a:gd name="connsiteX3-7" fmla="*/ 52127 w 633672"/>
              <a:gd name="connsiteY3-8" fmla="*/ 950551 h 950551"/>
              <a:gd name="connsiteX0-9" fmla="*/ 52127 w 1182312"/>
              <a:gd name="connsiteY0-10" fmla="*/ 950551 h 950551"/>
              <a:gd name="connsiteX1-11" fmla="*/ 0 w 1182312"/>
              <a:gd name="connsiteY1-12" fmla="*/ 0 h 950551"/>
              <a:gd name="connsiteX2-13" fmla="*/ 1182312 w 1182312"/>
              <a:gd name="connsiteY2-14" fmla="*/ 478111 h 950551"/>
              <a:gd name="connsiteX3-15" fmla="*/ 52127 w 1182312"/>
              <a:gd name="connsiteY3-16" fmla="*/ 950551 h 950551"/>
              <a:gd name="connsiteX0-17" fmla="*/ 52127 w 1113732"/>
              <a:gd name="connsiteY0-18" fmla="*/ 1417320 h 1417320"/>
              <a:gd name="connsiteX1-19" fmla="*/ 0 w 1113732"/>
              <a:gd name="connsiteY1-20" fmla="*/ 466769 h 1417320"/>
              <a:gd name="connsiteX2-21" fmla="*/ 1113732 w 1113732"/>
              <a:gd name="connsiteY2-22" fmla="*/ 0 h 1417320"/>
              <a:gd name="connsiteX3-23" fmla="*/ 52127 w 1113732"/>
              <a:gd name="connsiteY3-24" fmla="*/ 1417320 h 1417320"/>
              <a:gd name="connsiteX0-25" fmla="*/ 646487 w 1113732"/>
              <a:gd name="connsiteY0-26" fmla="*/ 1165860 h 1165860"/>
              <a:gd name="connsiteX1-27" fmla="*/ 0 w 1113732"/>
              <a:gd name="connsiteY1-28" fmla="*/ 466769 h 1165860"/>
              <a:gd name="connsiteX2-29" fmla="*/ 1113732 w 1113732"/>
              <a:gd name="connsiteY2-30" fmla="*/ 0 h 1165860"/>
              <a:gd name="connsiteX3-31" fmla="*/ 646487 w 1113732"/>
              <a:gd name="connsiteY3-32" fmla="*/ 1165860 h 1165860"/>
              <a:gd name="connsiteX0-33" fmla="*/ 440747 w 907992"/>
              <a:gd name="connsiteY0-34" fmla="*/ 1165860 h 1165860"/>
              <a:gd name="connsiteX1-35" fmla="*/ 0 w 907992"/>
              <a:gd name="connsiteY1-36" fmla="*/ 146729 h 1165860"/>
              <a:gd name="connsiteX2-37" fmla="*/ 907992 w 907992"/>
              <a:gd name="connsiteY2-38" fmla="*/ 0 h 1165860"/>
              <a:gd name="connsiteX3-39" fmla="*/ 440747 w 907992"/>
              <a:gd name="connsiteY3-40" fmla="*/ 1165860 h 1165860"/>
              <a:gd name="connsiteX0-41" fmla="*/ 440747 w 801312"/>
              <a:gd name="connsiteY0-42" fmla="*/ 1019131 h 1019131"/>
              <a:gd name="connsiteX1-43" fmla="*/ 0 w 801312"/>
              <a:gd name="connsiteY1-44" fmla="*/ 0 h 1019131"/>
              <a:gd name="connsiteX2-45" fmla="*/ 801312 w 801312"/>
              <a:gd name="connsiteY2-46" fmla="*/ 81871 h 1019131"/>
              <a:gd name="connsiteX3-47" fmla="*/ 440747 w 801312"/>
              <a:gd name="connsiteY3-48" fmla="*/ 1019131 h 1019131"/>
            </a:gdLst>
            <a:ahLst/>
            <a:cxnLst>
              <a:cxn ang="0">
                <a:pos x="connsiteX0-1" y="connsiteY0-2"/>
              </a:cxn>
              <a:cxn ang="0">
                <a:pos x="connsiteX1-3" y="connsiteY1-4"/>
              </a:cxn>
              <a:cxn ang="0">
                <a:pos x="connsiteX2-5" y="connsiteY2-6"/>
              </a:cxn>
              <a:cxn ang="0">
                <a:pos x="connsiteX3-7" y="connsiteY3-8"/>
              </a:cxn>
            </a:cxnLst>
            <a:rect l="l" t="t" r="r" b="b"/>
            <a:pathLst>
              <a:path w="801312" h="1019131">
                <a:moveTo>
                  <a:pt x="440747" y="1019131"/>
                </a:moveTo>
                <a:lnTo>
                  <a:pt x="0" y="0"/>
                </a:lnTo>
                <a:lnTo>
                  <a:pt x="801312" y="81871"/>
                </a:lnTo>
                <a:lnTo>
                  <a:pt x="440747" y="1019131"/>
                </a:lnTo>
                <a:close/>
              </a:path>
            </a:pathLst>
          </a:custGeom>
          <a:solidFill>
            <a:schemeClr val="bg1">
              <a:lumMod val="65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1" name="熊大的PPT宝库50"/>
          <p:cNvSpPr/>
          <p:nvPr/>
        </p:nvSpPr>
        <p:spPr>
          <a:xfrm>
            <a:off x="5723065" y="3614016"/>
            <a:ext cx="764305" cy="942891"/>
          </a:xfrm>
          <a:custGeom>
            <a:avLst/>
            <a:gdLst>
              <a:gd name="connsiteX0" fmla="*/ 0 w 733825"/>
              <a:gd name="connsiteY0" fmla="*/ 539031 h 539031"/>
              <a:gd name="connsiteX1" fmla="*/ 366913 w 733825"/>
              <a:gd name="connsiteY1" fmla="*/ 0 h 539031"/>
              <a:gd name="connsiteX2" fmla="*/ 733825 w 733825"/>
              <a:gd name="connsiteY2" fmla="*/ 539031 h 539031"/>
              <a:gd name="connsiteX3" fmla="*/ 0 w 733825"/>
              <a:gd name="connsiteY3" fmla="*/ 539031 h 539031"/>
              <a:gd name="connsiteX0-1" fmla="*/ 0 w 733825"/>
              <a:gd name="connsiteY0-2" fmla="*/ 942891 h 942891"/>
              <a:gd name="connsiteX1-3" fmla="*/ 366913 w 733825"/>
              <a:gd name="connsiteY1-4" fmla="*/ 0 h 942891"/>
              <a:gd name="connsiteX2-5" fmla="*/ 733825 w 733825"/>
              <a:gd name="connsiteY2-6" fmla="*/ 539031 h 942891"/>
              <a:gd name="connsiteX3-7" fmla="*/ 0 w 733825"/>
              <a:gd name="connsiteY3-8" fmla="*/ 942891 h 942891"/>
              <a:gd name="connsiteX0-9" fmla="*/ 0 w 764305"/>
              <a:gd name="connsiteY0-10" fmla="*/ 942891 h 942891"/>
              <a:gd name="connsiteX1-11" fmla="*/ 366913 w 764305"/>
              <a:gd name="connsiteY1-12" fmla="*/ 0 h 942891"/>
              <a:gd name="connsiteX2-13" fmla="*/ 764305 w 764305"/>
              <a:gd name="connsiteY2-14" fmla="*/ 920031 h 942891"/>
              <a:gd name="connsiteX3-15" fmla="*/ 0 w 764305"/>
              <a:gd name="connsiteY3-16" fmla="*/ 942891 h 942891"/>
            </a:gdLst>
            <a:ahLst/>
            <a:cxnLst>
              <a:cxn ang="0">
                <a:pos x="connsiteX0-1" y="connsiteY0-2"/>
              </a:cxn>
              <a:cxn ang="0">
                <a:pos x="connsiteX1-3" y="connsiteY1-4"/>
              </a:cxn>
              <a:cxn ang="0">
                <a:pos x="connsiteX2-5" y="connsiteY2-6"/>
              </a:cxn>
              <a:cxn ang="0">
                <a:pos x="connsiteX3-7" y="connsiteY3-8"/>
              </a:cxn>
            </a:cxnLst>
            <a:rect l="l" t="t" r="r" b="b"/>
            <a:pathLst>
              <a:path w="764305" h="942891">
                <a:moveTo>
                  <a:pt x="0" y="942891"/>
                </a:moveTo>
                <a:lnTo>
                  <a:pt x="366913" y="0"/>
                </a:lnTo>
                <a:lnTo>
                  <a:pt x="764305" y="920031"/>
                </a:lnTo>
                <a:lnTo>
                  <a:pt x="0" y="942891"/>
                </a:lnTo>
                <a:close/>
              </a:path>
            </a:pathLst>
          </a:cu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2" name="熊大的PPT宝库51"/>
          <p:cNvSpPr/>
          <p:nvPr/>
        </p:nvSpPr>
        <p:spPr>
          <a:xfrm>
            <a:off x="6097661" y="3599727"/>
            <a:ext cx="885072" cy="942891"/>
          </a:xfrm>
          <a:custGeom>
            <a:avLst/>
            <a:gdLst>
              <a:gd name="connsiteX0" fmla="*/ 0 w 733825"/>
              <a:gd name="connsiteY0" fmla="*/ 539031 h 539031"/>
              <a:gd name="connsiteX1" fmla="*/ 366913 w 733825"/>
              <a:gd name="connsiteY1" fmla="*/ 0 h 539031"/>
              <a:gd name="connsiteX2" fmla="*/ 733825 w 733825"/>
              <a:gd name="connsiteY2" fmla="*/ 539031 h 539031"/>
              <a:gd name="connsiteX3" fmla="*/ 0 w 733825"/>
              <a:gd name="connsiteY3" fmla="*/ 539031 h 539031"/>
              <a:gd name="connsiteX0-1" fmla="*/ 0 w 733825"/>
              <a:gd name="connsiteY0-2" fmla="*/ 942891 h 942891"/>
              <a:gd name="connsiteX1-3" fmla="*/ 366913 w 733825"/>
              <a:gd name="connsiteY1-4" fmla="*/ 0 h 942891"/>
              <a:gd name="connsiteX2-5" fmla="*/ 733825 w 733825"/>
              <a:gd name="connsiteY2-6" fmla="*/ 539031 h 942891"/>
              <a:gd name="connsiteX3-7" fmla="*/ 0 w 733825"/>
              <a:gd name="connsiteY3-8" fmla="*/ 942891 h 942891"/>
              <a:gd name="connsiteX0-9" fmla="*/ 0 w 764305"/>
              <a:gd name="connsiteY0-10" fmla="*/ 942891 h 942891"/>
              <a:gd name="connsiteX1-11" fmla="*/ 366913 w 764305"/>
              <a:gd name="connsiteY1-12" fmla="*/ 0 h 942891"/>
              <a:gd name="connsiteX2-13" fmla="*/ 764305 w 764305"/>
              <a:gd name="connsiteY2-14" fmla="*/ 920031 h 942891"/>
              <a:gd name="connsiteX3-15" fmla="*/ 0 w 764305"/>
              <a:gd name="connsiteY3-16" fmla="*/ 942891 h 942891"/>
              <a:gd name="connsiteX0-17" fmla="*/ 379847 w 1144152"/>
              <a:gd name="connsiteY0-18" fmla="*/ 942891 h 942891"/>
              <a:gd name="connsiteX1-19" fmla="*/ 0 w 1144152"/>
              <a:gd name="connsiteY1-20" fmla="*/ 0 h 942891"/>
              <a:gd name="connsiteX2-21" fmla="*/ 1144152 w 1144152"/>
              <a:gd name="connsiteY2-22" fmla="*/ 920031 h 942891"/>
              <a:gd name="connsiteX3-23" fmla="*/ 379847 w 1144152"/>
              <a:gd name="connsiteY3-24" fmla="*/ 942891 h 942891"/>
              <a:gd name="connsiteX0-25" fmla="*/ 379847 w 885072"/>
              <a:gd name="connsiteY0-26" fmla="*/ 942891 h 942891"/>
              <a:gd name="connsiteX1-27" fmla="*/ 0 w 885072"/>
              <a:gd name="connsiteY1-28" fmla="*/ 0 h 942891"/>
              <a:gd name="connsiteX2-29" fmla="*/ 885072 w 885072"/>
              <a:gd name="connsiteY2-30" fmla="*/ 386631 h 942891"/>
              <a:gd name="connsiteX3-31" fmla="*/ 379847 w 885072"/>
              <a:gd name="connsiteY3-32" fmla="*/ 942891 h 942891"/>
            </a:gdLst>
            <a:ahLst/>
            <a:cxnLst>
              <a:cxn ang="0">
                <a:pos x="connsiteX0-1" y="connsiteY0-2"/>
              </a:cxn>
              <a:cxn ang="0">
                <a:pos x="connsiteX1-3" y="connsiteY1-4"/>
              </a:cxn>
              <a:cxn ang="0">
                <a:pos x="connsiteX2-5" y="connsiteY2-6"/>
              </a:cxn>
              <a:cxn ang="0">
                <a:pos x="connsiteX3-7" y="connsiteY3-8"/>
              </a:cxn>
            </a:cxnLst>
            <a:rect l="l" t="t" r="r" b="b"/>
            <a:pathLst>
              <a:path w="885072" h="942891">
                <a:moveTo>
                  <a:pt x="379847" y="942891"/>
                </a:moveTo>
                <a:lnTo>
                  <a:pt x="0" y="0"/>
                </a:lnTo>
                <a:lnTo>
                  <a:pt x="885072" y="386631"/>
                </a:lnTo>
                <a:lnTo>
                  <a:pt x="379847" y="942891"/>
                </a:lnTo>
                <a:close/>
              </a:path>
            </a:pathLst>
          </a:cu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3" name="熊大的PPT宝库52"/>
          <p:cNvSpPr/>
          <p:nvPr/>
        </p:nvSpPr>
        <p:spPr>
          <a:xfrm rot="19127840">
            <a:off x="6271170" y="3177154"/>
            <a:ext cx="935267" cy="914225"/>
          </a:xfrm>
          <a:custGeom>
            <a:avLst/>
            <a:gdLst>
              <a:gd name="connsiteX0" fmla="*/ 0 w 733825"/>
              <a:gd name="connsiteY0" fmla="*/ 539031 h 539031"/>
              <a:gd name="connsiteX1" fmla="*/ 366913 w 733825"/>
              <a:gd name="connsiteY1" fmla="*/ 0 h 539031"/>
              <a:gd name="connsiteX2" fmla="*/ 733825 w 733825"/>
              <a:gd name="connsiteY2" fmla="*/ 539031 h 539031"/>
              <a:gd name="connsiteX3" fmla="*/ 0 w 733825"/>
              <a:gd name="connsiteY3" fmla="*/ 539031 h 539031"/>
              <a:gd name="connsiteX0-1" fmla="*/ 0 w 733825"/>
              <a:gd name="connsiteY0-2" fmla="*/ 942891 h 942891"/>
              <a:gd name="connsiteX1-3" fmla="*/ 366913 w 733825"/>
              <a:gd name="connsiteY1-4" fmla="*/ 0 h 942891"/>
              <a:gd name="connsiteX2-5" fmla="*/ 733825 w 733825"/>
              <a:gd name="connsiteY2-6" fmla="*/ 539031 h 942891"/>
              <a:gd name="connsiteX3-7" fmla="*/ 0 w 733825"/>
              <a:gd name="connsiteY3-8" fmla="*/ 942891 h 942891"/>
              <a:gd name="connsiteX0-9" fmla="*/ 0 w 764305"/>
              <a:gd name="connsiteY0-10" fmla="*/ 942891 h 942891"/>
              <a:gd name="connsiteX1-11" fmla="*/ 366913 w 764305"/>
              <a:gd name="connsiteY1-12" fmla="*/ 0 h 942891"/>
              <a:gd name="connsiteX2-13" fmla="*/ 764305 w 764305"/>
              <a:gd name="connsiteY2-14" fmla="*/ 920031 h 942891"/>
              <a:gd name="connsiteX3-15" fmla="*/ 0 w 764305"/>
              <a:gd name="connsiteY3-16" fmla="*/ 942891 h 942891"/>
              <a:gd name="connsiteX0-17" fmla="*/ 379847 w 1144152"/>
              <a:gd name="connsiteY0-18" fmla="*/ 942891 h 942891"/>
              <a:gd name="connsiteX1-19" fmla="*/ 0 w 1144152"/>
              <a:gd name="connsiteY1-20" fmla="*/ 0 h 942891"/>
              <a:gd name="connsiteX2-21" fmla="*/ 1144152 w 1144152"/>
              <a:gd name="connsiteY2-22" fmla="*/ 920031 h 942891"/>
              <a:gd name="connsiteX3-23" fmla="*/ 379847 w 1144152"/>
              <a:gd name="connsiteY3-24" fmla="*/ 942891 h 942891"/>
              <a:gd name="connsiteX0-25" fmla="*/ 379847 w 885072"/>
              <a:gd name="connsiteY0-26" fmla="*/ 942891 h 942891"/>
              <a:gd name="connsiteX1-27" fmla="*/ 0 w 885072"/>
              <a:gd name="connsiteY1-28" fmla="*/ 0 h 942891"/>
              <a:gd name="connsiteX2-29" fmla="*/ 885072 w 885072"/>
              <a:gd name="connsiteY2-30" fmla="*/ 386631 h 942891"/>
              <a:gd name="connsiteX3-31" fmla="*/ 379847 w 885072"/>
              <a:gd name="connsiteY3-32" fmla="*/ 942891 h 942891"/>
              <a:gd name="connsiteX0-33" fmla="*/ 379847 w 910169"/>
              <a:gd name="connsiteY0-34" fmla="*/ 942891 h 942891"/>
              <a:gd name="connsiteX1-35" fmla="*/ 0 w 910169"/>
              <a:gd name="connsiteY1-36" fmla="*/ 0 h 942891"/>
              <a:gd name="connsiteX2-37" fmla="*/ 910169 w 910169"/>
              <a:gd name="connsiteY2-38" fmla="*/ 357965 h 942891"/>
              <a:gd name="connsiteX3-39" fmla="*/ 379847 w 910169"/>
              <a:gd name="connsiteY3-40" fmla="*/ 942891 h 942891"/>
              <a:gd name="connsiteX0-41" fmla="*/ 404945 w 935267"/>
              <a:gd name="connsiteY0-42" fmla="*/ 914225 h 914225"/>
              <a:gd name="connsiteX1-43" fmla="*/ 0 w 935267"/>
              <a:gd name="connsiteY1-44" fmla="*/ 0 h 914225"/>
              <a:gd name="connsiteX2-45" fmla="*/ 935267 w 935267"/>
              <a:gd name="connsiteY2-46" fmla="*/ 329299 h 914225"/>
              <a:gd name="connsiteX3-47" fmla="*/ 404945 w 935267"/>
              <a:gd name="connsiteY3-48" fmla="*/ 914225 h 914225"/>
            </a:gdLst>
            <a:ahLst/>
            <a:cxnLst>
              <a:cxn ang="0">
                <a:pos x="connsiteX0-1" y="connsiteY0-2"/>
              </a:cxn>
              <a:cxn ang="0">
                <a:pos x="connsiteX1-3" y="connsiteY1-4"/>
              </a:cxn>
              <a:cxn ang="0">
                <a:pos x="connsiteX2-5" y="connsiteY2-6"/>
              </a:cxn>
              <a:cxn ang="0">
                <a:pos x="connsiteX3-7" y="connsiteY3-8"/>
              </a:cxn>
            </a:cxnLst>
            <a:rect l="l" t="t" r="r" b="b"/>
            <a:pathLst>
              <a:path w="935267" h="914225">
                <a:moveTo>
                  <a:pt x="404945" y="914225"/>
                </a:moveTo>
                <a:lnTo>
                  <a:pt x="0" y="0"/>
                </a:lnTo>
                <a:lnTo>
                  <a:pt x="935267" y="329299"/>
                </a:lnTo>
                <a:lnTo>
                  <a:pt x="404945" y="914225"/>
                </a:lnTo>
                <a:close/>
              </a:path>
            </a:pathLst>
          </a:cu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4" name="熊大的PPT宝库53"/>
          <p:cNvSpPr/>
          <p:nvPr/>
        </p:nvSpPr>
        <p:spPr>
          <a:xfrm rot="19127840">
            <a:off x="5938097" y="2898549"/>
            <a:ext cx="949191" cy="746405"/>
          </a:xfrm>
          <a:custGeom>
            <a:avLst/>
            <a:gdLst>
              <a:gd name="connsiteX0" fmla="*/ 0 w 733825"/>
              <a:gd name="connsiteY0" fmla="*/ 539031 h 539031"/>
              <a:gd name="connsiteX1" fmla="*/ 366913 w 733825"/>
              <a:gd name="connsiteY1" fmla="*/ 0 h 539031"/>
              <a:gd name="connsiteX2" fmla="*/ 733825 w 733825"/>
              <a:gd name="connsiteY2" fmla="*/ 539031 h 539031"/>
              <a:gd name="connsiteX3" fmla="*/ 0 w 733825"/>
              <a:gd name="connsiteY3" fmla="*/ 539031 h 539031"/>
              <a:gd name="connsiteX0-1" fmla="*/ 0 w 733825"/>
              <a:gd name="connsiteY0-2" fmla="*/ 942891 h 942891"/>
              <a:gd name="connsiteX1-3" fmla="*/ 366913 w 733825"/>
              <a:gd name="connsiteY1-4" fmla="*/ 0 h 942891"/>
              <a:gd name="connsiteX2-5" fmla="*/ 733825 w 733825"/>
              <a:gd name="connsiteY2-6" fmla="*/ 539031 h 942891"/>
              <a:gd name="connsiteX3-7" fmla="*/ 0 w 733825"/>
              <a:gd name="connsiteY3-8" fmla="*/ 942891 h 942891"/>
              <a:gd name="connsiteX0-9" fmla="*/ 0 w 764305"/>
              <a:gd name="connsiteY0-10" fmla="*/ 942891 h 942891"/>
              <a:gd name="connsiteX1-11" fmla="*/ 366913 w 764305"/>
              <a:gd name="connsiteY1-12" fmla="*/ 0 h 942891"/>
              <a:gd name="connsiteX2-13" fmla="*/ 764305 w 764305"/>
              <a:gd name="connsiteY2-14" fmla="*/ 920031 h 942891"/>
              <a:gd name="connsiteX3-15" fmla="*/ 0 w 764305"/>
              <a:gd name="connsiteY3-16" fmla="*/ 942891 h 942891"/>
              <a:gd name="connsiteX0-17" fmla="*/ 379847 w 1144152"/>
              <a:gd name="connsiteY0-18" fmla="*/ 942891 h 942891"/>
              <a:gd name="connsiteX1-19" fmla="*/ 0 w 1144152"/>
              <a:gd name="connsiteY1-20" fmla="*/ 0 h 942891"/>
              <a:gd name="connsiteX2-21" fmla="*/ 1144152 w 1144152"/>
              <a:gd name="connsiteY2-22" fmla="*/ 920031 h 942891"/>
              <a:gd name="connsiteX3-23" fmla="*/ 379847 w 1144152"/>
              <a:gd name="connsiteY3-24" fmla="*/ 942891 h 942891"/>
              <a:gd name="connsiteX0-25" fmla="*/ 379847 w 885072"/>
              <a:gd name="connsiteY0-26" fmla="*/ 942891 h 942891"/>
              <a:gd name="connsiteX1-27" fmla="*/ 0 w 885072"/>
              <a:gd name="connsiteY1-28" fmla="*/ 0 h 942891"/>
              <a:gd name="connsiteX2-29" fmla="*/ 885072 w 885072"/>
              <a:gd name="connsiteY2-30" fmla="*/ 386631 h 942891"/>
              <a:gd name="connsiteX3-31" fmla="*/ 379847 w 885072"/>
              <a:gd name="connsiteY3-32" fmla="*/ 942891 h 942891"/>
              <a:gd name="connsiteX0-33" fmla="*/ 379847 w 910169"/>
              <a:gd name="connsiteY0-34" fmla="*/ 942891 h 942891"/>
              <a:gd name="connsiteX1-35" fmla="*/ 0 w 910169"/>
              <a:gd name="connsiteY1-36" fmla="*/ 0 h 942891"/>
              <a:gd name="connsiteX2-37" fmla="*/ 910169 w 910169"/>
              <a:gd name="connsiteY2-38" fmla="*/ 357965 h 942891"/>
              <a:gd name="connsiteX3-39" fmla="*/ 379847 w 910169"/>
              <a:gd name="connsiteY3-40" fmla="*/ 942891 h 942891"/>
              <a:gd name="connsiteX0-41" fmla="*/ 404945 w 935267"/>
              <a:gd name="connsiteY0-42" fmla="*/ 914225 h 914225"/>
              <a:gd name="connsiteX1-43" fmla="*/ 0 w 935267"/>
              <a:gd name="connsiteY1-44" fmla="*/ 0 h 914225"/>
              <a:gd name="connsiteX2-45" fmla="*/ 935267 w 935267"/>
              <a:gd name="connsiteY2-46" fmla="*/ 329299 h 914225"/>
              <a:gd name="connsiteX3-47" fmla="*/ 404945 w 935267"/>
              <a:gd name="connsiteY3-48" fmla="*/ 914225 h 914225"/>
              <a:gd name="connsiteX0-49" fmla="*/ 610744 w 1141066"/>
              <a:gd name="connsiteY0-50" fmla="*/ 679165 h 679165"/>
              <a:gd name="connsiteX1-51" fmla="*/ 0 w 1141066"/>
              <a:gd name="connsiteY1-52" fmla="*/ 0 h 679165"/>
              <a:gd name="connsiteX2-53" fmla="*/ 1141066 w 1141066"/>
              <a:gd name="connsiteY2-54" fmla="*/ 94239 h 679165"/>
              <a:gd name="connsiteX3-55" fmla="*/ 610744 w 1141066"/>
              <a:gd name="connsiteY3-56" fmla="*/ 679165 h 679165"/>
              <a:gd name="connsiteX0-57" fmla="*/ 949191 w 1141066"/>
              <a:gd name="connsiteY0-58" fmla="*/ 327301 h 327301"/>
              <a:gd name="connsiteX1-59" fmla="*/ 0 w 1141066"/>
              <a:gd name="connsiteY1-60" fmla="*/ 0 h 327301"/>
              <a:gd name="connsiteX2-61" fmla="*/ 1141066 w 1141066"/>
              <a:gd name="connsiteY2-62" fmla="*/ 94239 h 327301"/>
              <a:gd name="connsiteX3-63" fmla="*/ 949191 w 1141066"/>
              <a:gd name="connsiteY3-64" fmla="*/ 327301 h 327301"/>
              <a:gd name="connsiteX0-65" fmla="*/ 949191 w 949191"/>
              <a:gd name="connsiteY0-66" fmla="*/ 746405 h 746405"/>
              <a:gd name="connsiteX1-67" fmla="*/ 0 w 949191"/>
              <a:gd name="connsiteY1-68" fmla="*/ 419104 h 746405"/>
              <a:gd name="connsiteX2-69" fmla="*/ 820794 w 949191"/>
              <a:gd name="connsiteY2-70" fmla="*/ 0 h 746405"/>
              <a:gd name="connsiteX3-71" fmla="*/ 949191 w 949191"/>
              <a:gd name="connsiteY3-72" fmla="*/ 746405 h 746405"/>
            </a:gdLst>
            <a:ahLst/>
            <a:cxnLst>
              <a:cxn ang="0">
                <a:pos x="connsiteX0-1" y="connsiteY0-2"/>
              </a:cxn>
              <a:cxn ang="0">
                <a:pos x="connsiteX1-3" y="connsiteY1-4"/>
              </a:cxn>
              <a:cxn ang="0">
                <a:pos x="connsiteX2-5" y="connsiteY2-6"/>
              </a:cxn>
              <a:cxn ang="0">
                <a:pos x="connsiteX3-7" y="connsiteY3-8"/>
              </a:cxn>
            </a:cxnLst>
            <a:rect l="l" t="t" r="r" b="b"/>
            <a:pathLst>
              <a:path w="949191" h="746405">
                <a:moveTo>
                  <a:pt x="949191" y="746405"/>
                </a:moveTo>
                <a:lnTo>
                  <a:pt x="0" y="419104"/>
                </a:lnTo>
                <a:lnTo>
                  <a:pt x="820794" y="0"/>
                </a:lnTo>
                <a:lnTo>
                  <a:pt x="949191" y="746405"/>
                </a:lnTo>
                <a:close/>
              </a:path>
            </a:pathLst>
          </a:cu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5" name="熊大的PPT宝库54"/>
          <p:cNvSpPr/>
          <p:nvPr/>
        </p:nvSpPr>
        <p:spPr>
          <a:xfrm rot="19127840">
            <a:off x="5706952" y="2576547"/>
            <a:ext cx="817003" cy="867433"/>
          </a:xfrm>
          <a:custGeom>
            <a:avLst/>
            <a:gdLst>
              <a:gd name="connsiteX0" fmla="*/ 0 w 733825"/>
              <a:gd name="connsiteY0" fmla="*/ 539031 h 539031"/>
              <a:gd name="connsiteX1" fmla="*/ 366913 w 733825"/>
              <a:gd name="connsiteY1" fmla="*/ 0 h 539031"/>
              <a:gd name="connsiteX2" fmla="*/ 733825 w 733825"/>
              <a:gd name="connsiteY2" fmla="*/ 539031 h 539031"/>
              <a:gd name="connsiteX3" fmla="*/ 0 w 733825"/>
              <a:gd name="connsiteY3" fmla="*/ 539031 h 539031"/>
              <a:gd name="connsiteX0-1" fmla="*/ 0 w 733825"/>
              <a:gd name="connsiteY0-2" fmla="*/ 942891 h 942891"/>
              <a:gd name="connsiteX1-3" fmla="*/ 366913 w 733825"/>
              <a:gd name="connsiteY1-4" fmla="*/ 0 h 942891"/>
              <a:gd name="connsiteX2-5" fmla="*/ 733825 w 733825"/>
              <a:gd name="connsiteY2-6" fmla="*/ 539031 h 942891"/>
              <a:gd name="connsiteX3-7" fmla="*/ 0 w 733825"/>
              <a:gd name="connsiteY3-8" fmla="*/ 942891 h 942891"/>
              <a:gd name="connsiteX0-9" fmla="*/ 0 w 764305"/>
              <a:gd name="connsiteY0-10" fmla="*/ 942891 h 942891"/>
              <a:gd name="connsiteX1-11" fmla="*/ 366913 w 764305"/>
              <a:gd name="connsiteY1-12" fmla="*/ 0 h 942891"/>
              <a:gd name="connsiteX2-13" fmla="*/ 764305 w 764305"/>
              <a:gd name="connsiteY2-14" fmla="*/ 920031 h 942891"/>
              <a:gd name="connsiteX3-15" fmla="*/ 0 w 764305"/>
              <a:gd name="connsiteY3-16" fmla="*/ 942891 h 942891"/>
              <a:gd name="connsiteX0-17" fmla="*/ 379847 w 1144152"/>
              <a:gd name="connsiteY0-18" fmla="*/ 942891 h 942891"/>
              <a:gd name="connsiteX1-19" fmla="*/ 0 w 1144152"/>
              <a:gd name="connsiteY1-20" fmla="*/ 0 h 942891"/>
              <a:gd name="connsiteX2-21" fmla="*/ 1144152 w 1144152"/>
              <a:gd name="connsiteY2-22" fmla="*/ 920031 h 942891"/>
              <a:gd name="connsiteX3-23" fmla="*/ 379847 w 1144152"/>
              <a:gd name="connsiteY3-24" fmla="*/ 942891 h 942891"/>
              <a:gd name="connsiteX0-25" fmla="*/ 379847 w 885072"/>
              <a:gd name="connsiteY0-26" fmla="*/ 942891 h 942891"/>
              <a:gd name="connsiteX1-27" fmla="*/ 0 w 885072"/>
              <a:gd name="connsiteY1-28" fmla="*/ 0 h 942891"/>
              <a:gd name="connsiteX2-29" fmla="*/ 885072 w 885072"/>
              <a:gd name="connsiteY2-30" fmla="*/ 386631 h 942891"/>
              <a:gd name="connsiteX3-31" fmla="*/ 379847 w 885072"/>
              <a:gd name="connsiteY3-32" fmla="*/ 942891 h 942891"/>
              <a:gd name="connsiteX0-33" fmla="*/ 379847 w 910169"/>
              <a:gd name="connsiteY0-34" fmla="*/ 942891 h 942891"/>
              <a:gd name="connsiteX1-35" fmla="*/ 0 w 910169"/>
              <a:gd name="connsiteY1-36" fmla="*/ 0 h 942891"/>
              <a:gd name="connsiteX2-37" fmla="*/ 910169 w 910169"/>
              <a:gd name="connsiteY2-38" fmla="*/ 357965 h 942891"/>
              <a:gd name="connsiteX3-39" fmla="*/ 379847 w 910169"/>
              <a:gd name="connsiteY3-40" fmla="*/ 942891 h 942891"/>
              <a:gd name="connsiteX0-41" fmla="*/ 404945 w 935267"/>
              <a:gd name="connsiteY0-42" fmla="*/ 914225 h 914225"/>
              <a:gd name="connsiteX1-43" fmla="*/ 0 w 935267"/>
              <a:gd name="connsiteY1-44" fmla="*/ 0 h 914225"/>
              <a:gd name="connsiteX2-45" fmla="*/ 935267 w 935267"/>
              <a:gd name="connsiteY2-46" fmla="*/ 329299 h 914225"/>
              <a:gd name="connsiteX3-47" fmla="*/ 404945 w 935267"/>
              <a:gd name="connsiteY3-48" fmla="*/ 914225 h 914225"/>
              <a:gd name="connsiteX0-49" fmla="*/ 610744 w 1141066"/>
              <a:gd name="connsiteY0-50" fmla="*/ 679165 h 679165"/>
              <a:gd name="connsiteX1-51" fmla="*/ 0 w 1141066"/>
              <a:gd name="connsiteY1-52" fmla="*/ 0 h 679165"/>
              <a:gd name="connsiteX2-53" fmla="*/ 1141066 w 1141066"/>
              <a:gd name="connsiteY2-54" fmla="*/ 94239 h 679165"/>
              <a:gd name="connsiteX3-55" fmla="*/ 610744 w 1141066"/>
              <a:gd name="connsiteY3-56" fmla="*/ 679165 h 679165"/>
              <a:gd name="connsiteX0-57" fmla="*/ 949191 w 1141066"/>
              <a:gd name="connsiteY0-58" fmla="*/ 327301 h 327301"/>
              <a:gd name="connsiteX1-59" fmla="*/ 0 w 1141066"/>
              <a:gd name="connsiteY1-60" fmla="*/ 0 h 327301"/>
              <a:gd name="connsiteX2-61" fmla="*/ 1141066 w 1141066"/>
              <a:gd name="connsiteY2-62" fmla="*/ 94239 h 327301"/>
              <a:gd name="connsiteX3-63" fmla="*/ 949191 w 1141066"/>
              <a:gd name="connsiteY3-64" fmla="*/ 327301 h 327301"/>
              <a:gd name="connsiteX0-65" fmla="*/ 949191 w 949191"/>
              <a:gd name="connsiteY0-66" fmla="*/ 746405 h 746405"/>
              <a:gd name="connsiteX1-67" fmla="*/ 0 w 949191"/>
              <a:gd name="connsiteY1-68" fmla="*/ 419104 h 746405"/>
              <a:gd name="connsiteX2-69" fmla="*/ 820794 w 949191"/>
              <a:gd name="connsiteY2-70" fmla="*/ 0 h 746405"/>
              <a:gd name="connsiteX3-71" fmla="*/ 949191 w 949191"/>
              <a:gd name="connsiteY3-72" fmla="*/ 746405 h 746405"/>
              <a:gd name="connsiteX0-73" fmla="*/ 731189 w 820794"/>
              <a:gd name="connsiteY0-74" fmla="*/ 1041675 h 1041675"/>
              <a:gd name="connsiteX1-75" fmla="*/ 0 w 820794"/>
              <a:gd name="connsiteY1-76" fmla="*/ 419104 h 1041675"/>
              <a:gd name="connsiteX2-77" fmla="*/ 820794 w 820794"/>
              <a:gd name="connsiteY2-78" fmla="*/ 0 h 1041675"/>
              <a:gd name="connsiteX3-79" fmla="*/ 731189 w 820794"/>
              <a:gd name="connsiteY3-80" fmla="*/ 1041675 h 1041675"/>
              <a:gd name="connsiteX0-81" fmla="*/ 731189 w 1548192"/>
              <a:gd name="connsiteY0-82" fmla="*/ 622571 h 622571"/>
              <a:gd name="connsiteX1-83" fmla="*/ 0 w 1548192"/>
              <a:gd name="connsiteY1-84" fmla="*/ 0 h 622571"/>
              <a:gd name="connsiteX2-85" fmla="*/ 1548192 w 1548192"/>
              <a:gd name="connsiteY2-86" fmla="*/ 207618 h 622571"/>
              <a:gd name="connsiteX3-87" fmla="*/ 731189 w 1548192"/>
              <a:gd name="connsiteY3-88" fmla="*/ 622571 h 622571"/>
              <a:gd name="connsiteX0-89" fmla="*/ 0 w 817003"/>
              <a:gd name="connsiteY0-90" fmla="*/ 867433 h 867433"/>
              <a:gd name="connsiteX1-91" fmla="*/ 273160 w 817003"/>
              <a:gd name="connsiteY1-92" fmla="*/ 0 h 867433"/>
              <a:gd name="connsiteX2-93" fmla="*/ 817003 w 817003"/>
              <a:gd name="connsiteY2-94" fmla="*/ 452480 h 867433"/>
              <a:gd name="connsiteX3-95" fmla="*/ 0 w 817003"/>
              <a:gd name="connsiteY3-96" fmla="*/ 867433 h 867433"/>
            </a:gdLst>
            <a:ahLst/>
            <a:cxnLst>
              <a:cxn ang="0">
                <a:pos x="connsiteX0-1" y="connsiteY0-2"/>
              </a:cxn>
              <a:cxn ang="0">
                <a:pos x="connsiteX1-3" y="connsiteY1-4"/>
              </a:cxn>
              <a:cxn ang="0">
                <a:pos x="connsiteX2-5" y="connsiteY2-6"/>
              </a:cxn>
              <a:cxn ang="0">
                <a:pos x="connsiteX3-7" y="connsiteY3-8"/>
              </a:cxn>
            </a:cxnLst>
            <a:rect l="l" t="t" r="r" b="b"/>
            <a:pathLst>
              <a:path w="817003" h="867433">
                <a:moveTo>
                  <a:pt x="0" y="867433"/>
                </a:moveTo>
                <a:lnTo>
                  <a:pt x="273160" y="0"/>
                </a:lnTo>
                <a:lnTo>
                  <a:pt x="817003" y="452480"/>
                </a:lnTo>
                <a:lnTo>
                  <a:pt x="0" y="867433"/>
                </a:lnTo>
                <a:close/>
              </a:path>
            </a:pathLst>
          </a:cu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6" name="熊大的PPT宝库55"/>
          <p:cNvSpPr/>
          <p:nvPr/>
        </p:nvSpPr>
        <p:spPr>
          <a:xfrm rot="19127840">
            <a:off x="5206966" y="3592370"/>
            <a:ext cx="1096557" cy="795161"/>
          </a:xfrm>
          <a:custGeom>
            <a:avLst/>
            <a:gdLst>
              <a:gd name="connsiteX0" fmla="*/ 0 w 733825"/>
              <a:gd name="connsiteY0" fmla="*/ 539031 h 539031"/>
              <a:gd name="connsiteX1" fmla="*/ 366913 w 733825"/>
              <a:gd name="connsiteY1" fmla="*/ 0 h 539031"/>
              <a:gd name="connsiteX2" fmla="*/ 733825 w 733825"/>
              <a:gd name="connsiteY2" fmla="*/ 539031 h 539031"/>
              <a:gd name="connsiteX3" fmla="*/ 0 w 733825"/>
              <a:gd name="connsiteY3" fmla="*/ 539031 h 539031"/>
              <a:gd name="connsiteX0-1" fmla="*/ 0 w 733825"/>
              <a:gd name="connsiteY0-2" fmla="*/ 942891 h 942891"/>
              <a:gd name="connsiteX1-3" fmla="*/ 366913 w 733825"/>
              <a:gd name="connsiteY1-4" fmla="*/ 0 h 942891"/>
              <a:gd name="connsiteX2-5" fmla="*/ 733825 w 733825"/>
              <a:gd name="connsiteY2-6" fmla="*/ 539031 h 942891"/>
              <a:gd name="connsiteX3-7" fmla="*/ 0 w 733825"/>
              <a:gd name="connsiteY3-8" fmla="*/ 942891 h 942891"/>
              <a:gd name="connsiteX0-9" fmla="*/ 0 w 764305"/>
              <a:gd name="connsiteY0-10" fmla="*/ 942891 h 942891"/>
              <a:gd name="connsiteX1-11" fmla="*/ 366913 w 764305"/>
              <a:gd name="connsiteY1-12" fmla="*/ 0 h 942891"/>
              <a:gd name="connsiteX2-13" fmla="*/ 764305 w 764305"/>
              <a:gd name="connsiteY2-14" fmla="*/ 920031 h 942891"/>
              <a:gd name="connsiteX3-15" fmla="*/ 0 w 764305"/>
              <a:gd name="connsiteY3-16" fmla="*/ 942891 h 942891"/>
              <a:gd name="connsiteX0-17" fmla="*/ 379847 w 1144152"/>
              <a:gd name="connsiteY0-18" fmla="*/ 942891 h 942891"/>
              <a:gd name="connsiteX1-19" fmla="*/ 0 w 1144152"/>
              <a:gd name="connsiteY1-20" fmla="*/ 0 h 942891"/>
              <a:gd name="connsiteX2-21" fmla="*/ 1144152 w 1144152"/>
              <a:gd name="connsiteY2-22" fmla="*/ 920031 h 942891"/>
              <a:gd name="connsiteX3-23" fmla="*/ 379847 w 1144152"/>
              <a:gd name="connsiteY3-24" fmla="*/ 942891 h 942891"/>
              <a:gd name="connsiteX0-25" fmla="*/ 379847 w 885072"/>
              <a:gd name="connsiteY0-26" fmla="*/ 942891 h 942891"/>
              <a:gd name="connsiteX1-27" fmla="*/ 0 w 885072"/>
              <a:gd name="connsiteY1-28" fmla="*/ 0 h 942891"/>
              <a:gd name="connsiteX2-29" fmla="*/ 885072 w 885072"/>
              <a:gd name="connsiteY2-30" fmla="*/ 386631 h 942891"/>
              <a:gd name="connsiteX3-31" fmla="*/ 379847 w 885072"/>
              <a:gd name="connsiteY3-32" fmla="*/ 942891 h 942891"/>
              <a:gd name="connsiteX0-33" fmla="*/ 379847 w 910169"/>
              <a:gd name="connsiteY0-34" fmla="*/ 942891 h 942891"/>
              <a:gd name="connsiteX1-35" fmla="*/ 0 w 910169"/>
              <a:gd name="connsiteY1-36" fmla="*/ 0 h 942891"/>
              <a:gd name="connsiteX2-37" fmla="*/ 910169 w 910169"/>
              <a:gd name="connsiteY2-38" fmla="*/ 357965 h 942891"/>
              <a:gd name="connsiteX3-39" fmla="*/ 379847 w 910169"/>
              <a:gd name="connsiteY3-40" fmla="*/ 942891 h 942891"/>
              <a:gd name="connsiteX0-41" fmla="*/ 404945 w 935267"/>
              <a:gd name="connsiteY0-42" fmla="*/ 914225 h 914225"/>
              <a:gd name="connsiteX1-43" fmla="*/ 0 w 935267"/>
              <a:gd name="connsiteY1-44" fmla="*/ 0 h 914225"/>
              <a:gd name="connsiteX2-45" fmla="*/ 935267 w 935267"/>
              <a:gd name="connsiteY2-46" fmla="*/ 329299 h 914225"/>
              <a:gd name="connsiteX3-47" fmla="*/ 404945 w 935267"/>
              <a:gd name="connsiteY3-48" fmla="*/ 914225 h 914225"/>
              <a:gd name="connsiteX0-49" fmla="*/ 610744 w 1141066"/>
              <a:gd name="connsiteY0-50" fmla="*/ 679165 h 679165"/>
              <a:gd name="connsiteX1-51" fmla="*/ 0 w 1141066"/>
              <a:gd name="connsiteY1-52" fmla="*/ 0 h 679165"/>
              <a:gd name="connsiteX2-53" fmla="*/ 1141066 w 1141066"/>
              <a:gd name="connsiteY2-54" fmla="*/ 94239 h 679165"/>
              <a:gd name="connsiteX3-55" fmla="*/ 610744 w 1141066"/>
              <a:gd name="connsiteY3-56" fmla="*/ 679165 h 679165"/>
              <a:gd name="connsiteX0-57" fmla="*/ 949191 w 1141066"/>
              <a:gd name="connsiteY0-58" fmla="*/ 327301 h 327301"/>
              <a:gd name="connsiteX1-59" fmla="*/ 0 w 1141066"/>
              <a:gd name="connsiteY1-60" fmla="*/ 0 h 327301"/>
              <a:gd name="connsiteX2-61" fmla="*/ 1141066 w 1141066"/>
              <a:gd name="connsiteY2-62" fmla="*/ 94239 h 327301"/>
              <a:gd name="connsiteX3-63" fmla="*/ 949191 w 1141066"/>
              <a:gd name="connsiteY3-64" fmla="*/ 327301 h 327301"/>
              <a:gd name="connsiteX0-65" fmla="*/ 949191 w 949191"/>
              <a:gd name="connsiteY0-66" fmla="*/ 746405 h 746405"/>
              <a:gd name="connsiteX1-67" fmla="*/ 0 w 949191"/>
              <a:gd name="connsiteY1-68" fmla="*/ 419104 h 746405"/>
              <a:gd name="connsiteX2-69" fmla="*/ 820794 w 949191"/>
              <a:gd name="connsiteY2-70" fmla="*/ 0 h 746405"/>
              <a:gd name="connsiteX3-71" fmla="*/ 949191 w 949191"/>
              <a:gd name="connsiteY3-72" fmla="*/ 746405 h 746405"/>
              <a:gd name="connsiteX0-73" fmla="*/ 731189 w 820794"/>
              <a:gd name="connsiteY0-74" fmla="*/ 1041675 h 1041675"/>
              <a:gd name="connsiteX1-75" fmla="*/ 0 w 820794"/>
              <a:gd name="connsiteY1-76" fmla="*/ 419104 h 1041675"/>
              <a:gd name="connsiteX2-77" fmla="*/ 820794 w 820794"/>
              <a:gd name="connsiteY2-78" fmla="*/ 0 h 1041675"/>
              <a:gd name="connsiteX3-79" fmla="*/ 731189 w 820794"/>
              <a:gd name="connsiteY3-80" fmla="*/ 1041675 h 1041675"/>
              <a:gd name="connsiteX0-81" fmla="*/ 731189 w 1548192"/>
              <a:gd name="connsiteY0-82" fmla="*/ 622571 h 622571"/>
              <a:gd name="connsiteX1-83" fmla="*/ 0 w 1548192"/>
              <a:gd name="connsiteY1-84" fmla="*/ 0 h 622571"/>
              <a:gd name="connsiteX2-85" fmla="*/ 1548192 w 1548192"/>
              <a:gd name="connsiteY2-86" fmla="*/ 207618 h 622571"/>
              <a:gd name="connsiteX3-87" fmla="*/ 731189 w 1548192"/>
              <a:gd name="connsiteY3-88" fmla="*/ 622571 h 622571"/>
              <a:gd name="connsiteX0-89" fmla="*/ 0 w 817003"/>
              <a:gd name="connsiteY0-90" fmla="*/ 867433 h 867433"/>
              <a:gd name="connsiteX1-91" fmla="*/ 273160 w 817003"/>
              <a:gd name="connsiteY1-92" fmla="*/ 0 h 867433"/>
              <a:gd name="connsiteX2-93" fmla="*/ 817003 w 817003"/>
              <a:gd name="connsiteY2-94" fmla="*/ 452480 h 867433"/>
              <a:gd name="connsiteX3-95" fmla="*/ 0 w 817003"/>
              <a:gd name="connsiteY3-96" fmla="*/ 867433 h 867433"/>
              <a:gd name="connsiteX0-97" fmla="*/ 192106 w 1009109"/>
              <a:gd name="connsiteY0-98" fmla="*/ 717751 h 717751"/>
              <a:gd name="connsiteX1-99" fmla="*/ 0 w 1009109"/>
              <a:gd name="connsiteY1-100" fmla="*/ 0 h 717751"/>
              <a:gd name="connsiteX2-101" fmla="*/ 1009109 w 1009109"/>
              <a:gd name="connsiteY2-102" fmla="*/ 302798 h 717751"/>
              <a:gd name="connsiteX3-103" fmla="*/ 192106 w 1009109"/>
              <a:gd name="connsiteY3-104" fmla="*/ 717751 h 717751"/>
              <a:gd name="connsiteX0-105" fmla="*/ 192106 w 1057853"/>
              <a:gd name="connsiteY0-106" fmla="*/ 717751 h 717751"/>
              <a:gd name="connsiteX1-107" fmla="*/ 0 w 1057853"/>
              <a:gd name="connsiteY1-108" fmla="*/ 0 h 717751"/>
              <a:gd name="connsiteX2-109" fmla="*/ 1057853 w 1057853"/>
              <a:gd name="connsiteY2-110" fmla="*/ 304963 h 717751"/>
              <a:gd name="connsiteX3-111" fmla="*/ 192106 w 1057853"/>
              <a:gd name="connsiteY3-112" fmla="*/ 717751 h 717751"/>
              <a:gd name="connsiteX0-113" fmla="*/ 164844 w 1057853"/>
              <a:gd name="connsiteY0-114" fmla="*/ 795161 h 795161"/>
              <a:gd name="connsiteX1-115" fmla="*/ 0 w 1057853"/>
              <a:gd name="connsiteY1-116" fmla="*/ 0 h 795161"/>
              <a:gd name="connsiteX2-117" fmla="*/ 1057853 w 1057853"/>
              <a:gd name="connsiteY2-118" fmla="*/ 304963 h 795161"/>
              <a:gd name="connsiteX3-119" fmla="*/ 164844 w 1057853"/>
              <a:gd name="connsiteY3-120" fmla="*/ 795161 h 795161"/>
              <a:gd name="connsiteX0-121" fmla="*/ 164844 w 1068605"/>
              <a:gd name="connsiteY0-122" fmla="*/ 795161 h 795161"/>
              <a:gd name="connsiteX1-123" fmla="*/ 0 w 1068605"/>
              <a:gd name="connsiteY1-124" fmla="*/ 0 h 795161"/>
              <a:gd name="connsiteX2-125" fmla="*/ 1068605 w 1068605"/>
              <a:gd name="connsiteY2-126" fmla="*/ 304250 h 795161"/>
              <a:gd name="connsiteX3-127" fmla="*/ 164844 w 1068605"/>
              <a:gd name="connsiteY3-128" fmla="*/ 795161 h 795161"/>
              <a:gd name="connsiteX0-129" fmla="*/ 164844 w 1096557"/>
              <a:gd name="connsiteY0-130" fmla="*/ 795161 h 795161"/>
              <a:gd name="connsiteX1-131" fmla="*/ 0 w 1096557"/>
              <a:gd name="connsiteY1-132" fmla="*/ 0 h 795161"/>
              <a:gd name="connsiteX2-133" fmla="*/ 1096557 w 1096557"/>
              <a:gd name="connsiteY2-134" fmla="*/ 318595 h 795161"/>
              <a:gd name="connsiteX3-135" fmla="*/ 164844 w 1096557"/>
              <a:gd name="connsiteY3-136" fmla="*/ 795161 h 795161"/>
            </a:gdLst>
            <a:ahLst/>
            <a:cxnLst>
              <a:cxn ang="0">
                <a:pos x="connsiteX0-1" y="connsiteY0-2"/>
              </a:cxn>
              <a:cxn ang="0">
                <a:pos x="connsiteX1-3" y="connsiteY1-4"/>
              </a:cxn>
              <a:cxn ang="0">
                <a:pos x="connsiteX2-5" y="connsiteY2-6"/>
              </a:cxn>
              <a:cxn ang="0">
                <a:pos x="connsiteX3-7" y="connsiteY3-8"/>
              </a:cxn>
            </a:cxnLst>
            <a:rect l="l" t="t" r="r" b="b"/>
            <a:pathLst>
              <a:path w="1096557" h="795161">
                <a:moveTo>
                  <a:pt x="164844" y="795161"/>
                </a:moveTo>
                <a:lnTo>
                  <a:pt x="0" y="0"/>
                </a:lnTo>
                <a:lnTo>
                  <a:pt x="1096557" y="318595"/>
                </a:lnTo>
                <a:lnTo>
                  <a:pt x="164844" y="795161"/>
                </a:lnTo>
                <a:close/>
              </a:path>
            </a:pathLst>
          </a:cu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7" name="熊大的PPT宝库56"/>
          <p:cNvSpPr/>
          <p:nvPr/>
        </p:nvSpPr>
        <p:spPr>
          <a:xfrm rot="19127840">
            <a:off x="5042420" y="3579072"/>
            <a:ext cx="1027536" cy="407948"/>
          </a:xfrm>
          <a:custGeom>
            <a:avLst/>
            <a:gdLst>
              <a:gd name="connsiteX0" fmla="*/ 0 w 733825"/>
              <a:gd name="connsiteY0" fmla="*/ 539031 h 539031"/>
              <a:gd name="connsiteX1" fmla="*/ 366913 w 733825"/>
              <a:gd name="connsiteY1" fmla="*/ 0 h 539031"/>
              <a:gd name="connsiteX2" fmla="*/ 733825 w 733825"/>
              <a:gd name="connsiteY2" fmla="*/ 539031 h 539031"/>
              <a:gd name="connsiteX3" fmla="*/ 0 w 733825"/>
              <a:gd name="connsiteY3" fmla="*/ 539031 h 539031"/>
              <a:gd name="connsiteX0-1" fmla="*/ 0 w 733825"/>
              <a:gd name="connsiteY0-2" fmla="*/ 942891 h 942891"/>
              <a:gd name="connsiteX1-3" fmla="*/ 366913 w 733825"/>
              <a:gd name="connsiteY1-4" fmla="*/ 0 h 942891"/>
              <a:gd name="connsiteX2-5" fmla="*/ 733825 w 733825"/>
              <a:gd name="connsiteY2-6" fmla="*/ 539031 h 942891"/>
              <a:gd name="connsiteX3-7" fmla="*/ 0 w 733825"/>
              <a:gd name="connsiteY3-8" fmla="*/ 942891 h 942891"/>
              <a:gd name="connsiteX0-9" fmla="*/ 0 w 764305"/>
              <a:gd name="connsiteY0-10" fmla="*/ 942891 h 942891"/>
              <a:gd name="connsiteX1-11" fmla="*/ 366913 w 764305"/>
              <a:gd name="connsiteY1-12" fmla="*/ 0 h 942891"/>
              <a:gd name="connsiteX2-13" fmla="*/ 764305 w 764305"/>
              <a:gd name="connsiteY2-14" fmla="*/ 920031 h 942891"/>
              <a:gd name="connsiteX3-15" fmla="*/ 0 w 764305"/>
              <a:gd name="connsiteY3-16" fmla="*/ 942891 h 942891"/>
              <a:gd name="connsiteX0-17" fmla="*/ 379847 w 1144152"/>
              <a:gd name="connsiteY0-18" fmla="*/ 942891 h 942891"/>
              <a:gd name="connsiteX1-19" fmla="*/ 0 w 1144152"/>
              <a:gd name="connsiteY1-20" fmla="*/ 0 h 942891"/>
              <a:gd name="connsiteX2-21" fmla="*/ 1144152 w 1144152"/>
              <a:gd name="connsiteY2-22" fmla="*/ 920031 h 942891"/>
              <a:gd name="connsiteX3-23" fmla="*/ 379847 w 1144152"/>
              <a:gd name="connsiteY3-24" fmla="*/ 942891 h 942891"/>
              <a:gd name="connsiteX0-25" fmla="*/ 379847 w 885072"/>
              <a:gd name="connsiteY0-26" fmla="*/ 942891 h 942891"/>
              <a:gd name="connsiteX1-27" fmla="*/ 0 w 885072"/>
              <a:gd name="connsiteY1-28" fmla="*/ 0 h 942891"/>
              <a:gd name="connsiteX2-29" fmla="*/ 885072 w 885072"/>
              <a:gd name="connsiteY2-30" fmla="*/ 386631 h 942891"/>
              <a:gd name="connsiteX3-31" fmla="*/ 379847 w 885072"/>
              <a:gd name="connsiteY3-32" fmla="*/ 942891 h 942891"/>
              <a:gd name="connsiteX0-33" fmla="*/ 379847 w 910169"/>
              <a:gd name="connsiteY0-34" fmla="*/ 942891 h 942891"/>
              <a:gd name="connsiteX1-35" fmla="*/ 0 w 910169"/>
              <a:gd name="connsiteY1-36" fmla="*/ 0 h 942891"/>
              <a:gd name="connsiteX2-37" fmla="*/ 910169 w 910169"/>
              <a:gd name="connsiteY2-38" fmla="*/ 357965 h 942891"/>
              <a:gd name="connsiteX3-39" fmla="*/ 379847 w 910169"/>
              <a:gd name="connsiteY3-40" fmla="*/ 942891 h 942891"/>
              <a:gd name="connsiteX0-41" fmla="*/ 404945 w 935267"/>
              <a:gd name="connsiteY0-42" fmla="*/ 914225 h 914225"/>
              <a:gd name="connsiteX1-43" fmla="*/ 0 w 935267"/>
              <a:gd name="connsiteY1-44" fmla="*/ 0 h 914225"/>
              <a:gd name="connsiteX2-45" fmla="*/ 935267 w 935267"/>
              <a:gd name="connsiteY2-46" fmla="*/ 329299 h 914225"/>
              <a:gd name="connsiteX3-47" fmla="*/ 404945 w 935267"/>
              <a:gd name="connsiteY3-48" fmla="*/ 914225 h 914225"/>
              <a:gd name="connsiteX0-49" fmla="*/ 610744 w 1141066"/>
              <a:gd name="connsiteY0-50" fmla="*/ 679165 h 679165"/>
              <a:gd name="connsiteX1-51" fmla="*/ 0 w 1141066"/>
              <a:gd name="connsiteY1-52" fmla="*/ 0 h 679165"/>
              <a:gd name="connsiteX2-53" fmla="*/ 1141066 w 1141066"/>
              <a:gd name="connsiteY2-54" fmla="*/ 94239 h 679165"/>
              <a:gd name="connsiteX3-55" fmla="*/ 610744 w 1141066"/>
              <a:gd name="connsiteY3-56" fmla="*/ 679165 h 679165"/>
              <a:gd name="connsiteX0-57" fmla="*/ 949191 w 1141066"/>
              <a:gd name="connsiteY0-58" fmla="*/ 327301 h 327301"/>
              <a:gd name="connsiteX1-59" fmla="*/ 0 w 1141066"/>
              <a:gd name="connsiteY1-60" fmla="*/ 0 h 327301"/>
              <a:gd name="connsiteX2-61" fmla="*/ 1141066 w 1141066"/>
              <a:gd name="connsiteY2-62" fmla="*/ 94239 h 327301"/>
              <a:gd name="connsiteX3-63" fmla="*/ 949191 w 1141066"/>
              <a:gd name="connsiteY3-64" fmla="*/ 327301 h 327301"/>
              <a:gd name="connsiteX0-65" fmla="*/ 949191 w 949191"/>
              <a:gd name="connsiteY0-66" fmla="*/ 746405 h 746405"/>
              <a:gd name="connsiteX1-67" fmla="*/ 0 w 949191"/>
              <a:gd name="connsiteY1-68" fmla="*/ 419104 h 746405"/>
              <a:gd name="connsiteX2-69" fmla="*/ 820794 w 949191"/>
              <a:gd name="connsiteY2-70" fmla="*/ 0 h 746405"/>
              <a:gd name="connsiteX3-71" fmla="*/ 949191 w 949191"/>
              <a:gd name="connsiteY3-72" fmla="*/ 746405 h 746405"/>
              <a:gd name="connsiteX0-73" fmla="*/ 731189 w 820794"/>
              <a:gd name="connsiteY0-74" fmla="*/ 1041675 h 1041675"/>
              <a:gd name="connsiteX1-75" fmla="*/ 0 w 820794"/>
              <a:gd name="connsiteY1-76" fmla="*/ 419104 h 1041675"/>
              <a:gd name="connsiteX2-77" fmla="*/ 820794 w 820794"/>
              <a:gd name="connsiteY2-78" fmla="*/ 0 h 1041675"/>
              <a:gd name="connsiteX3-79" fmla="*/ 731189 w 820794"/>
              <a:gd name="connsiteY3-80" fmla="*/ 1041675 h 1041675"/>
              <a:gd name="connsiteX0-81" fmla="*/ 731189 w 1548192"/>
              <a:gd name="connsiteY0-82" fmla="*/ 622571 h 622571"/>
              <a:gd name="connsiteX1-83" fmla="*/ 0 w 1548192"/>
              <a:gd name="connsiteY1-84" fmla="*/ 0 h 622571"/>
              <a:gd name="connsiteX2-85" fmla="*/ 1548192 w 1548192"/>
              <a:gd name="connsiteY2-86" fmla="*/ 207618 h 622571"/>
              <a:gd name="connsiteX3-87" fmla="*/ 731189 w 1548192"/>
              <a:gd name="connsiteY3-88" fmla="*/ 622571 h 622571"/>
              <a:gd name="connsiteX0-89" fmla="*/ 0 w 817003"/>
              <a:gd name="connsiteY0-90" fmla="*/ 867433 h 867433"/>
              <a:gd name="connsiteX1-91" fmla="*/ 273160 w 817003"/>
              <a:gd name="connsiteY1-92" fmla="*/ 0 h 867433"/>
              <a:gd name="connsiteX2-93" fmla="*/ 817003 w 817003"/>
              <a:gd name="connsiteY2-94" fmla="*/ 452480 h 867433"/>
              <a:gd name="connsiteX3-95" fmla="*/ 0 w 817003"/>
              <a:gd name="connsiteY3-96" fmla="*/ 867433 h 867433"/>
              <a:gd name="connsiteX0-97" fmla="*/ 192106 w 1009109"/>
              <a:gd name="connsiteY0-98" fmla="*/ 717751 h 717751"/>
              <a:gd name="connsiteX1-99" fmla="*/ 0 w 1009109"/>
              <a:gd name="connsiteY1-100" fmla="*/ 0 h 717751"/>
              <a:gd name="connsiteX2-101" fmla="*/ 1009109 w 1009109"/>
              <a:gd name="connsiteY2-102" fmla="*/ 302798 h 717751"/>
              <a:gd name="connsiteX3-103" fmla="*/ 192106 w 1009109"/>
              <a:gd name="connsiteY3-104" fmla="*/ 717751 h 717751"/>
              <a:gd name="connsiteX0-105" fmla="*/ 192106 w 1057853"/>
              <a:gd name="connsiteY0-106" fmla="*/ 717751 h 717751"/>
              <a:gd name="connsiteX1-107" fmla="*/ 0 w 1057853"/>
              <a:gd name="connsiteY1-108" fmla="*/ 0 h 717751"/>
              <a:gd name="connsiteX2-109" fmla="*/ 1057853 w 1057853"/>
              <a:gd name="connsiteY2-110" fmla="*/ 304963 h 717751"/>
              <a:gd name="connsiteX3-111" fmla="*/ 192106 w 1057853"/>
              <a:gd name="connsiteY3-112" fmla="*/ 717751 h 717751"/>
              <a:gd name="connsiteX0-113" fmla="*/ 164844 w 1057853"/>
              <a:gd name="connsiteY0-114" fmla="*/ 795161 h 795161"/>
              <a:gd name="connsiteX1-115" fmla="*/ 0 w 1057853"/>
              <a:gd name="connsiteY1-116" fmla="*/ 0 h 795161"/>
              <a:gd name="connsiteX2-117" fmla="*/ 1057853 w 1057853"/>
              <a:gd name="connsiteY2-118" fmla="*/ 304963 h 795161"/>
              <a:gd name="connsiteX3-119" fmla="*/ 164844 w 1057853"/>
              <a:gd name="connsiteY3-120" fmla="*/ 795161 h 795161"/>
              <a:gd name="connsiteX0-121" fmla="*/ 164844 w 1068605"/>
              <a:gd name="connsiteY0-122" fmla="*/ 795161 h 795161"/>
              <a:gd name="connsiteX1-123" fmla="*/ 0 w 1068605"/>
              <a:gd name="connsiteY1-124" fmla="*/ 0 h 795161"/>
              <a:gd name="connsiteX2-125" fmla="*/ 1068605 w 1068605"/>
              <a:gd name="connsiteY2-126" fmla="*/ 304250 h 795161"/>
              <a:gd name="connsiteX3-127" fmla="*/ 164844 w 1068605"/>
              <a:gd name="connsiteY3-128" fmla="*/ 795161 h 795161"/>
              <a:gd name="connsiteX0-129" fmla="*/ 164844 w 1096557"/>
              <a:gd name="connsiteY0-130" fmla="*/ 795161 h 795161"/>
              <a:gd name="connsiteX1-131" fmla="*/ 0 w 1096557"/>
              <a:gd name="connsiteY1-132" fmla="*/ 0 h 795161"/>
              <a:gd name="connsiteX2-133" fmla="*/ 1096557 w 1096557"/>
              <a:gd name="connsiteY2-134" fmla="*/ 318595 h 795161"/>
              <a:gd name="connsiteX3-135" fmla="*/ 164844 w 1096557"/>
              <a:gd name="connsiteY3-136" fmla="*/ 795161 h 795161"/>
              <a:gd name="connsiteX0-137" fmla="*/ 0 w 1885607"/>
              <a:gd name="connsiteY0-138" fmla="*/ 91672 h 318595"/>
              <a:gd name="connsiteX1-139" fmla="*/ 789050 w 1885607"/>
              <a:gd name="connsiteY1-140" fmla="*/ 0 h 318595"/>
              <a:gd name="connsiteX2-141" fmla="*/ 1885607 w 1885607"/>
              <a:gd name="connsiteY2-142" fmla="*/ 318595 h 318595"/>
              <a:gd name="connsiteX3-143" fmla="*/ 0 w 1885607"/>
              <a:gd name="connsiteY3-144" fmla="*/ 91672 h 318595"/>
              <a:gd name="connsiteX0-145" fmla="*/ 0 w 1027536"/>
              <a:gd name="connsiteY0-146" fmla="*/ 91672 h 407948"/>
              <a:gd name="connsiteX1-147" fmla="*/ 789050 w 1027536"/>
              <a:gd name="connsiteY1-148" fmla="*/ 0 h 407948"/>
              <a:gd name="connsiteX2-149" fmla="*/ 1027536 w 1027536"/>
              <a:gd name="connsiteY2-150" fmla="*/ 407948 h 407948"/>
              <a:gd name="connsiteX3-151" fmla="*/ 0 w 1027536"/>
              <a:gd name="connsiteY3-152" fmla="*/ 91672 h 407948"/>
            </a:gdLst>
            <a:ahLst/>
            <a:cxnLst>
              <a:cxn ang="0">
                <a:pos x="connsiteX0-1" y="connsiteY0-2"/>
              </a:cxn>
              <a:cxn ang="0">
                <a:pos x="connsiteX1-3" y="connsiteY1-4"/>
              </a:cxn>
              <a:cxn ang="0">
                <a:pos x="connsiteX2-5" y="connsiteY2-6"/>
              </a:cxn>
              <a:cxn ang="0">
                <a:pos x="connsiteX3-7" y="connsiteY3-8"/>
              </a:cxn>
            </a:cxnLst>
            <a:rect l="l" t="t" r="r" b="b"/>
            <a:pathLst>
              <a:path w="1027536" h="407948">
                <a:moveTo>
                  <a:pt x="0" y="91672"/>
                </a:moveTo>
                <a:lnTo>
                  <a:pt x="789050" y="0"/>
                </a:lnTo>
                <a:lnTo>
                  <a:pt x="1027536" y="407948"/>
                </a:lnTo>
                <a:lnTo>
                  <a:pt x="0" y="91672"/>
                </a:lnTo>
                <a:close/>
              </a:path>
            </a:pathLst>
          </a:cu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8" name="熊大的PPT宝库57"/>
          <p:cNvSpPr/>
          <p:nvPr/>
        </p:nvSpPr>
        <p:spPr>
          <a:xfrm rot="19127840">
            <a:off x="5543155" y="2839141"/>
            <a:ext cx="532532" cy="857966"/>
          </a:xfrm>
          <a:custGeom>
            <a:avLst/>
            <a:gdLst>
              <a:gd name="connsiteX0" fmla="*/ 0 w 733825"/>
              <a:gd name="connsiteY0" fmla="*/ 539031 h 539031"/>
              <a:gd name="connsiteX1" fmla="*/ 366913 w 733825"/>
              <a:gd name="connsiteY1" fmla="*/ 0 h 539031"/>
              <a:gd name="connsiteX2" fmla="*/ 733825 w 733825"/>
              <a:gd name="connsiteY2" fmla="*/ 539031 h 539031"/>
              <a:gd name="connsiteX3" fmla="*/ 0 w 733825"/>
              <a:gd name="connsiteY3" fmla="*/ 539031 h 539031"/>
              <a:gd name="connsiteX0-1" fmla="*/ 0 w 733825"/>
              <a:gd name="connsiteY0-2" fmla="*/ 942891 h 942891"/>
              <a:gd name="connsiteX1-3" fmla="*/ 366913 w 733825"/>
              <a:gd name="connsiteY1-4" fmla="*/ 0 h 942891"/>
              <a:gd name="connsiteX2-5" fmla="*/ 733825 w 733825"/>
              <a:gd name="connsiteY2-6" fmla="*/ 539031 h 942891"/>
              <a:gd name="connsiteX3-7" fmla="*/ 0 w 733825"/>
              <a:gd name="connsiteY3-8" fmla="*/ 942891 h 942891"/>
              <a:gd name="connsiteX0-9" fmla="*/ 0 w 764305"/>
              <a:gd name="connsiteY0-10" fmla="*/ 942891 h 942891"/>
              <a:gd name="connsiteX1-11" fmla="*/ 366913 w 764305"/>
              <a:gd name="connsiteY1-12" fmla="*/ 0 h 942891"/>
              <a:gd name="connsiteX2-13" fmla="*/ 764305 w 764305"/>
              <a:gd name="connsiteY2-14" fmla="*/ 920031 h 942891"/>
              <a:gd name="connsiteX3-15" fmla="*/ 0 w 764305"/>
              <a:gd name="connsiteY3-16" fmla="*/ 942891 h 942891"/>
              <a:gd name="connsiteX0-17" fmla="*/ 379847 w 1144152"/>
              <a:gd name="connsiteY0-18" fmla="*/ 942891 h 942891"/>
              <a:gd name="connsiteX1-19" fmla="*/ 0 w 1144152"/>
              <a:gd name="connsiteY1-20" fmla="*/ 0 h 942891"/>
              <a:gd name="connsiteX2-21" fmla="*/ 1144152 w 1144152"/>
              <a:gd name="connsiteY2-22" fmla="*/ 920031 h 942891"/>
              <a:gd name="connsiteX3-23" fmla="*/ 379847 w 1144152"/>
              <a:gd name="connsiteY3-24" fmla="*/ 942891 h 942891"/>
              <a:gd name="connsiteX0-25" fmla="*/ 379847 w 885072"/>
              <a:gd name="connsiteY0-26" fmla="*/ 942891 h 942891"/>
              <a:gd name="connsiteX1-27" fmla="*/ 0 w 885072"/>
              <a:gd name="connsiteY1-28" fmla="*/ 0 h 942891"/>
              <a:gd name="connsiteX2-29" fmla="*/ 885072 w 885072"/>
              <a:gd name="connsiteY2-30" fmla="*/ 386631 h 942891"/>
              <a:gd name="connsiteX3-31" fmla="*/ 379847 w 885072"/>
              <a:gd name="connsiteY3-32" fmla="*/ 942891 h 942891"/>
              <a:gd name="connsiteX0-33" fmla="*/ 379847 w 910169"/>
              <a:gd name="connsiteY0-34" fmla="*/ 942891 h 942891"/>
              <a:gd name="connsiteX1-35" fmla="*/ 0 w 910169"/>
              <a:gd name="connsiteY1-36" fmla="*/ 0 h 942891"/>
              <a:gd name="connsiteX2-37" fmla="*/ 910169 w 910169"/>
              <a:gd name="connsiteY2-38" fmla="*/ 357965 h 942891"/>
              <a:gd name="connsiteX3-39" fmla="*/ 379847 w 910169"/>
              <a:gd name="connsiteY3-40" fmla="*/ 942891 h 942891"/>
              <a:gd name="connsiteX0-41" fmla="*/ 404945 w 935267"/>
              <a:gd name="connsiteY0-42" fmla="*/ 914225 h 914225"/>
              <a:gd name="connsiteX1-43" fmla="*/ 0 w 935267"/>
              <a:gd name="connsiteY1-44" fmla="*/ 0 h 914225"/>
              <a:gd name="connsiteX2-45" fmla="*/ 935267 w 935267"/>
              <a:gd name="connsiteY2-46" fmla="*/ 329299 h 914225"/>
              <a:gd name="connsiteX3-47" fmla="*/ 404945 w 935267"/>
              <a:gd name="connsiteY3-48" fmla="*/ 914225 h 914225"/>
              <a:gd name="connsiteX0-49" fmla="*/ 610744 w 1141066"/>
              <a:gd name="connsiteY0-50" fmla="*/ 679165 h 679165"/>
              <a:gd name="connsiteX1-51" fmla="*/ 0 w 1141066"/>
              <a:gd name="connsiteY1-52" fmla="*/ 0 h 679165"/>
              <a:gd name="connsiteX2-53" fmla="*/ 1141066 w 1141066"/>
              <a:gd name="connsiteY2-54" fmla="*/ 94239 h 679165"/>
              <a:gd name="connsiteX3-55" fmla="*/ 610744 w 1141066"/>
              <a:gd name="connsiteY3-56" fmla="*/ 679165 h 679165"/>
              <a:gd name="connsiteX0-57" fmla="*/ 949191 w 1141066"/>
              <a:gd name="connsiteY0-58" fmla="*/ 327301 h 327301"/>
              <a:gd name="connsiteX1-59" fmla="*/ 0 w 1141066"/>
              <a:gd name="connsiteY1-60" fmla="*/ 0 h 327301"/>
              <a:gd name="connsiteX2-61" fmla="*/ 1141066 w 1141066"/>
              <a:gd name="connsiteY2-62" fmla="*/ 94239 h 327301"/>
              <a:gd name="connsiteX3-63" fmla="*/ 949191 w 1141066"/>
              <a:gd name="connsiteY3-64" fmla="*/ 327301 h 327301"/>
              <a:gd name="connsiteX0-65" fmla="*/ 949191 w 949191"/>
              <a:gd name="connsiteY0-66" fmla="*/ 746405 h 746405"/>
              <a:gd name="connsiteX1-67" fmla="*/ 0 w 949191"/>
              <a:gd name="connsiteY1-68" fmla="*/ 419104 h 746405"/>
              <a:gd name="connsiteX2-69" fmla="*/ 820794 w 949191"/>
              <a:gd name="connsiteY2-70" fmla="*/ 0 h 746405"/>
              <a:gd name="connsiteX3-71" fmla="*/ 949191 w 949191"/>
              <a:gd name="connsiteY3-72" fmla="*/ 746405 h 746405"/>
              <a:gd name="connsiteX0-73" fmla="*/ 731189 w 820794"/>
              <a:gd name="connsiteY0-74" fmla="*/ 1041675 h 1041675"/>
              <a:gd name="connsiteX1-75" fmla="*/ 0 w 820794"/>
              <a:gd name="connsiteY1-76" fmla="*/ 419104 h 1041675"/>
              <a:gd name="connsiteX2-77" fmla="*/ 820794 w 820794"/>
              <a:gd name="connsiteY2-78" fmla="*/ 0 h 1041675"/>
              <a:gd name="connsiteX3-79" fmla="*/ 731189 w 820794"/>
              <a:gd name="connsiteY3-80" fmla="*/ 1041675 h 1041675"/>
              <a:gd name="connsiteX0-81" fmla="*/ 731189 w 1548192"/>
              <a:gd name="connsiteY0-82" fmla="*/ 622571 h 622571"/>
              <a:gd name="connsiteX1-83" fmla="*/ 0 w 1548192"/>
              <a:gd name="connsiteY1-84" fmla="*/ 0 h 622571"/>
              <a:gd name="connsiteX2-85" fmla="*/ 1548192 w 1548192"/>
              <a:gd name="connsiteY2-86" fmla="*/ 207618 h 622571"/>
              <a:gd name="connsiteX3-87" fmla="*/ 731189 w 1548192"/>
              <a:gd name="connsiteY3-88" fmla="*/ 622571 h 622571"/>
              <a:gd name="connsiteX0-89" fmla="*/ 0 w 817003"/>
              <a:gd name="connsiteY0-90" fmla="*/ 867433 h 867433"/>
              <a:gd name="connsiteX1-91" fmla="*/ 273160 w 817003"/>
              <a:gd name="connsiteY1-92" fmla="*/ 0 h 867433"/>
              <a:gd name="connsiteX2-93" fmla="*/ 817003 w 817003"/>
              <a:gd name="connsiteY2-94" fmla="*/ 452480 h 867433"/>
              <a:gd name="connsiteX3-95" fmla="*/ 0 w 817003"/>
              <a:gd name="connsiteY3-96" fmla="*/ 867433 h 867433"/>
              <a:gd name="connsiteX0-97" fmla="*/ 192106 w 1009109"/>
              <a:gd name="connsiteY0-98" fmla="*/ 717751 h 717751"/>
              <a:gd name="connsiteX1-99" fmla="*/ 0 w 1009109"/>
              <a:gd name="connsiteY1-100" fmla="*/ 0 h 717751"/>
              <a:gd name="connsiteX2-101" fmla="*/ 1009109 w 1009109"/>
              <a:gd name="connsiteY2-102" fmla="*/ 302798 h 717751"/>
              <a:gd name="connsiteX3-103" fmla="*/ 192106 w 1009109"/>
              <a:gd name="connsiteY3-104" fmla="*/ 717751 h 717751"/>
              <a:gd name="connsiteX0-105" fmla="*/ 192106 w 1057853"/>
              <a:gd name="connsiteY0-106" fmla="*/ 717751 h 717751"/>
              <a:gd name="connsiteX1-107" fmla="*/ 0 w 1057853"/>
              <a:gd name="connsiteY1-108" fmla="*/ 0 h 717751"/>
              <a:gd name="connsiteX2-109" fmla="*/ 1057853 w 1057853"/>
              <a:gd name="connsiteY2-110" fmla="*/ 304963 h 717751"/>
              <a:gd name="connsiteX3-111" fmla="*/ 192106 w 1057853"/>
              <a:gd name="connsiteY3-112" fmla="*/ 717751 h 717751"/>
              <a:gd name="connsiteX0-113" fmla="*/ 164844 w 1057853"/>
              <a:gd name="connsiteY0-114" fmla="*/ 795161 h 795161"/>
              <a:gd name="connsiteX1-115" fmla="*/ 0 w 1057853"/>
              <a:gd name="connsiteY1-116" fmla="*/ 0 h 795161"/>
              <a:gd name="connsiteX2-117" fmla="*/ 1057853 w 1057853"/>
              <a:gd name="connsiteY2-118" fmla="*/ 304963 h 795161"/>
              <a:gd name="connsiteX3-119" fmla="*/ 164844 w 1057853"/>
              <a:gd name="connsiteY3-120" fmla="*/ 795161 h 795161"/>
              <a:gd name="connsiteX0-121" fmla="*/ 164844 w 1068605"/>
              <a:gd name="connsiteY0-122" fmla="*/ 795161 h 795161"/>
              <a:gd name="connsiteX1-123" fmla="*/ 0 w 1068605"/>
              <a:gd name="connsiteY1-124" fmla="*/ 0 h 795161"/>
              <a:gd name="connsiteX2-125" fmla="*/ 1068605 w 1068605"/>
              <a:gd name="connsiteY2-126" fmla="*/ 304250 h 795161"/>
              <a:gd name="connsiteX3-127" fmla="*/ 164844 w 1068605"/>
              <a:gd name="connsiteY3-128" fmla="*/ 795161 h 795161"/>
              <a:gd name="connsiteX0-129" fmla="*/ 164844 w 1096557"/>
              <a:gd name="connsiteY0-130" fmla="*/ 795161 h 795161"/>
              <a:gd name="connsiteX1-131" fmla="*/ 0 w 1096557"/>
              <a:gd name="connsiteY1-132" fmla="*/ 0 h 795161"/>
              <a:gd name="connsiteX2-133" fmla="*/ 1096557 w 1096557"/>
              <a:gd name="connsiteY2-134" fmla="*/ 318595 h 795161"/>
              <a:gd name="connsiteX3-135" fmla="*/ 164844 w 1096557"/>
              <a:gd name="connsiteY3-136" fmla="*/ 795161 h 795161"/>
              <a:gd name="connsiteX0-137" fmla="*/ 0 w 1885607"/>
              <a:gd name="connsiteY0-138" fmla="*/ 91672 h 318595"/>
              <a:gd name="connsiteX1-139" fmla="*/ 789050 w 1885607"/>
              <a:gd name="connsiteY1-140" fmla="*/ 0 h 318595"/>
              <a:gd name="connsiteX2-141" fmla="*/ 1885607 w 1885607"/>
              <a:gd name="connsiteY2-142" fmla="*/ 318595 h 318595"/>
              <a:gd name="connsiteX3-143" fmla="*/ 0 w 1885607"/>
              <a:gd name="connsiteY3-144" fmla="*/ 91672 h 318595"/>
              <a:gd name="connsiteX0-145" fmla="*/ 0 w 1027536"/>
              <a:gd name="connsiteY0-146" fmla="*/ 91672 h 407948"/>
              <a:gd name="connsiteX1-147" fmla="*/ 789050 w 1027536"/>
              <a:gd name="connsiteY1-148" fmla="*/ 0 h 407948"/>
              <a:gd name="connsiteX2-149" fmla="*/ 1027536 w 1027536"/>
              <a:gd name="connsiteY2-150" fmla="*/ 407948 h 407948"/>
              <a:gd name="connsiteX3-151" fmla="*/ 0 w 1027536"/>
              <a:gd name="connsiteY3-152" fmla="*/ 91672 h 407948"/>
              <a:gd name="connsiteX0-153" fmla="*/ 0 w 1027536"/>
              <a:gd name="connsiteY0-154" fmla="*/ 458047 h 774323"/>
              <a:gd name="connsiteX1-155" fmla="*/ 532532 w 1027536"/>
              <a:gd name="connsiteY1-156" fmla="*/ 0 h 774323"/>
              <a:gd name="connsiteX2-157" fmla="*/ 1027536 w 1027536"/>
              <a:gd name="connsiteY2-158" fmla="*/ 774323 h 774323"/>
              <a:gd name="connsiteX3-159" fmla="*/ 0 w 1027536"/>
              <a:gd name="connsiteY3-160" fmla="*/ 458047 h 774323"/>
              <a:gd name="connsiteX0-161" fmla="*/ 0 w 532532"/>
              <a:gd name="connsiteY0-162" fmla="*/ 458047 h 857966"/>
              <a:gd name="connsiteX1-163" fmla="*/ 532532 w 532532"/>
              <a:gd name="connsiteY1-164" fmla="*/ 0 h 857966"/>
              <a:gd name="connsiteX2-165" fmla="*/ 255486 w 532532"/>
              <a:gd name="connsiteY2-166" fmla="*/ 857966 h 857966"/>
              <a:gd name="connsiteX3-167" fmla="*/ 0 w 532532"/>
              <a:gd name="connsiteY3-168" fmla="*/ 458047 h 857966"/>
            </a:gdLst>
            <a:ahLst/>
            <a:cxnLst>
              <a:cxn ang="0">
                <a:pos x="connsiteX0-1" y="connsiteY0-2"/>
              </a:cxn>
              <a:cxn ang="0">
                <a:pos x="connsiteX1-3" y="connsiteY1-4"/>
              </a:cxn>
              <a:cxn ang="0">
                <a:pos x="connsiteX2-5" y="connsiteY2-6"/>
              </a:cxn>
              <a:cxn ang="0">
                <a:pos x="connsiteX3-7" y="connsiteY3-8"/>
              </a:cxn>
            </a:cxnLst>
            <a:rect l="l" t="t" r="r" b="b"/>
            <a:pathLst>
              <a:path w="532532" h="857966">
                <a:moveTo>
                  <a:pt x="0" y="458047"/>
                </a:moveTo>
                <a:lnTo>
                  <a:pt x="532532" y="0"/>
                </a:lnTo>
                <a:lnTo>
                  <a:pt x="255486" y="857966"/>
                </a:lnTo>
                <a:lnTo>
                  <a:pt x="0" y="458047"/>
                </a:lnTo>
                <a:close/>
              </a:path>
            </a:pathLst>
          </a:cu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1" name="熊大的PPT宝库58"/>
          <p:cNvSpPr/>
          <p:nvPr/>
        </p:nvSpPr>
        <p:spPr>
          <a:xfrm rot="4020000">
            <a:off x="4860655" y="3679650"/>
            <a:ext cx="2536035" cy="18000"/>
          </a:xfrm>
          <a:prstGeom prst="rect">
            <a:avLst/>
          </a:prstGeom>
          <a:solidFill>
            <a:schemeClr val="bg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2" name="熊大的PPT宝库59"/>
          <p:cNvSpPr/>
          <p:nvPr/>
        </p:nvSpPr>
        <p:spPr>
          <a:xfrm rot="6720000">
            <a:off x="4837857" y="3636477"/>
            <a:ext cx="2484000" cy="18000"/>
          </a:xfrm>
          <a:prstGeom prst="rect">
            <a:avLst/>
          </a:prstGeom>
          <a:solidFill>
            <a:schemeClr val="bg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3" name="熊大的PPT宝库60"/>
          <p:cNvSpPr/>
          <p:nvPr/>
        </p:nvSpPr>
        <p:spPr>
          <a:xfrm rot="1320000">
            <a:off x="4761762" y="3602127"/>
            <a:ext cx="2628000" cy="18000"/>
          </a:xfrm>
          <a:prstGeom prst="rect">
            <a:avLst/>
          </a:prstGeom>
          <a:solidFill>
            <a:schemeClr val="bg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4" name="熊大的PPT宝库61"/>
          <p:cNvSpPr/>
          <p:nvPr/>
        </p:nvSpPr>
        <p:spPr>
          <a:xfrm rot="9420000">
            <a:off x="4835079" y="3603363"/>
            <a:ext cx="2536035" cy="18000"/>
          </a:xfrm>
          <a:prstGeom prst="rect">
            <a:avLst/>
          </a:prstGeom>
          <a:solidFill>
            <a:schemeClr val="bg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6" name="熊大的PPT宝库62"/>
          <p:cNvSpPr/>
          <p:nvPr/>
        </p:nvSpPr>
        <p:spPr>
          <a:xfrm>
            <a:off x="6511663" y="4654611"/>
            <a:ext cx="95250" cy="95250"/>
          </a:xfrm>
          <a:prstGeom prst="ellipse">
            <a:avLst/>
          </a:prstGeom>
          <a:solidFill>
            <a:schemeClr val="accent1"/>
          </a:solidFill>
          <a:ln>
            <a:solidFill>
              <a:schemeClr val="bg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7" name="熊大的PPT宝库63"/>
          <p:cNvSpPr/>
          <p:nvPr/>
        </p:nvSpPr>
        <p:spPr>
          <a:xfrm>
            <a:off x="6436471" y="4479853"/>
            <a:ext cx="95250" cy="95250"/>
          </a:xfrm>
          <a:prstGeom prst="ellipse">
            <a:avLst/>
          </a:prstGeom>
          <a:solidFill>
            <a:schemeClr val="accent1"/>
          </a:solidFill>
          <a:ln>
            <a:solidFill>
              <a:schemeClr val="bg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8" name="熊大的PPT宝库64"/>
          <p:cNvSpPr/>
          <p:nvPr/>
        </p:nvSpPr>
        <p:spPr>
          <a:xfrm>
            <a:off x="7189554" y="4022576"/>
            <a:ext cx="95250" cy="95250"/>
          </a:xfrm>
          <a:prstGeom prst="ellipse">
            <a:avLst/>
          </a:prstGeom>
          <a:solidFill>
            <a:schemeClr val="accent1"/>
          </a:solidFill>
          <a:ln>
            <a:solidFill>
              <a:schemeClr val="bg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9" name="熊大的PPT宝库65"/>
          <p:cNvSpPr/>
          <p:nvPr/>
        </p:nvSpPr>
        <p:spPr>
          <a:xfrm>
            <a:off x="6936351" y="3917777"/>
            <a:ext cx="95250" cy="95250"/>
          </a:xfrm>
          <a:prstGeom prst="ellipse">
            <a:avLst/>
          </a:prstGeom>
          <a:solidFill>
            <a:schemeClr val="accent1">
              <a:lumMod val="20000"/>
              <a:lumOff val="80000"/>
            </a:schemeClr>
          </a:solidFill>
          <a:ln>
            <a:solidFill>
              <a:schemeClr val="bg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0" name="熊大的PPT宝库66"/>
          <p:cNvSpPr/>
          <p:nvPr/>
        </p:nvSpPr>
        <p:spPr>
          <a:xfrm>
            <a:off x="6936351" y="3178325"/>
            <a:ext cx="95250" cy="95250"/>
          </a:xfrm>
          <a:prstGeom prst="ellipse">
            <a:avLst/>
          </a:prstGeom>
          <a:solidFill>
            <a:schemeClr val="accent1">
              <a:lumMod val="20000"/>
              <a:lumOff val="80000"/>
            </a:schemeClr>
          </a:solidFill>
          <a:ln>
            <a:solidFill>
              <a:schemeClr val="bg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1" name="熊大的PPT宝库67"/>
          <p:cNvSpPr/>
          <p:nvPr/>
        </p:nvSpPr>
        <p:spPr>
          <a:xfrm>
            <a:off x="7119804" y="3108355"/>
            <a:ext cx="95250" cy="95250"/>
          </a:xfrm>
          <a:prstGeom prst="ellipse">
            <a:avLst/>
          </a:prstGeom>
          <a:solidFill>
            <a:schemeClr val="accent1">
              <a:lumMod val="20000"/>
              <a:lumOff val="80000"/>
            </a:schemeClr>
          </a:solidFill>
          <a:ln>
            <a:solidFill>
              <a:schemeClr val="bg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3" name="熊大的PPT宝库68"/>
          <p:cNvSpPr/>
          <p:nvPr/>
        </p:nvSpPr>
        <p:spPr>
          <a:xfrm>
            <a:off x="6415516" y="2637290"/>
            <a:ext cx="95250" cy="95250"/>
          </a:xfrm>
          <a:prstGeom prst="ellipse">
            <a:avLst/>
          </a:prstGeom>
          <a:solidFill>
            <a:schemeClr val="accent1">
              <a:lumMod val="20000"/>
              <a:lumOff val="80000"/>
            </a:schemeClr>
          </a:solidFill>
          <a:ln>
            <a:solidFill>
              <a:schemeClr val="bg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2" name="熊大的PPT宝库69"/>
          <p:cNvSpPr/>
          <p:nvPr/>
        </p:nvSpPr>
        <p:spPr>
          <a:xfrm>
            <a:off x="6387838" y="2721759"/>
            <a:ext cx="95250" cy="95250"/>
          </a:xfrm>
          <a:prstGeom prst="ellipse">
            <a:avLst/>
          </a:prstGeom>
          <a:solidFill>
            <a:schemeClr val="accent1">
              <a:lumMod val="20000"/>
              <a:lumOff val="80000"/>
            </a:schemeClr>
          </a:solidFill>
          <a:ln>
            <a:solidFill>
              <a:schemeClr val="bg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2" name="熊大的PPT宝库70"/>
          <p:cNvSpPr/>
          <p:nvPr/>
        </p:nvSpPr>
        <p:spPr>
          <a:xfrm>
            <a:off x="4921643" y="4038624"/>
            <a:ext cx="95250" cy="95250"/>
          </a:xfrm>
          <a:prstGeom prst="ellipse">
            <a:avLst/>
          </a:prstGeom>
          <a:solidFill>
            <a:schemeClr val="bg1">
              <a:lumMod val="65000"/>
            </a:schemeClr>
          </a:solidFill>
          <a:ln>
            <a:solidFill>
              <a:schemeClr val="bg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3" name="熊大的PPT宝库71"/>
          <p:cNvSpPr/>
          <p:nvPr/>
        </p:nvSpPr>
        <p:spPr>
          <a:xfrm>
            <a:off x="5059057" y="3990167"/>
            <a:ext cx="95250" cy="95250"/>
          </a:xfrm>
          <a:prstGeom prst="ellipse">
            <a:avLst/>
          </a:prstGeom>
          <a:solidFill>
            <a:schemeClr val="bg1">
              <a:lumMod val="85000"/>
            </a:schemeClr>
          </a:solidFill>
          <a:ln>
            <a:solidFill>
              <a:schemeClr val="bg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4" name="熊大的PPT宝库72"/>
          <p:cNvSpPr/>
          <p:nvPr/>
        </p:nvSpPr>
        <p:spPr>
          <a:xfrm>
            <a:off x="5579046" y="4717517"/>
            <a:ext cx="95250" cy="95250"/>
          </a:xfrm>
          <a:prstGeom prst="ellipse">
            <a:avLst/>
          </a:prstGeom>
          <a:solidFill>
            <a:schemeClr val="bg1">
              <a:lumMod val="65000"/>
            </a:schemeClr>
          </a:solidFill>
          <a:ln>
            <a:solidFill>
              <a:schemeClr val="bg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5" name="熊大的PPT宝库73"/>
          <p:cNvSpPr/>
          <p:nvPr/>
        </p:nvSpPr>
        <p:spPr>
          <a:xfrm>
            <a:off x="5679692" y="4479749"/>
            <a:ext cx="95250" cy="95250"/>
          </a:xfrm>
          <a:prstGeom prst="ellipse">
            <a:avLst/>
          </a:prstGeom>
          <a:solidFill>
            <a:schemeClr val="bg1">
              <a:lumMod val="85000"/>
            </a:schemeClr>
          </a:solidFill>
          <a:ln>
            <a:solidFill>
              <a:schemeClr val="bg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8" name="熊大的PPT宝库74"/>
          <p:cNvSpPr/>
          <p:nvPr/>
        </p:nvSpPr>
        <p:spPr>
          <a:xfrm>
            <a:off x="5613400" y="2543175"/>
            <a:ext cx="95250" cy="95250"/>
          </a:xfrm>
          <a:prstGeom prst="ellipse">
            <a:avLst/>
          </a:prstGeom>
          <a:solidFill>
            <a:schemeClr val="bg1">
              <a:lumMod val="65000"/>
            </a:schemeClr>
          </a:solidFill>
          <a:ln>
            <a:solidFill>
              <a:schemeClr val="bg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9" name="熊大的PPT宝库75"/>
          <p:cNvSpPr/>
          <p:nvPr/>
        </p:nvSpPr>
        <p:spPr>
          <a:xfrm>
            <a:off x="5677535" y="2721759"/>
            <a:ext cx="95250" cy="95250"/>
          </a:xfrm>
          <a:prstGeom prst="ellipse">
            <a:avLst/>
          </a:prstGeom>
          <a:solidFill>
            <a:schemeClr val="bg1">
              <a:lumMod val="85000"/>
            </a:schemeClr>
          </a:solidFill>
          <a:ln>
            <a:solidFill>
              <a:schemeClr val="bg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0" name="熊大的PPT宝库76"/>
          <p:cNvSpPr/>
          <p:nvPr/>
        </p:nvSpPr>
        <p:spPr>
          <a:xfrm>
            <a:off x="4869255" y="3094808"/>
            <a:ext cx="95250" cy="95250"/>
          </a:xfrm>
          <a:prstGeom prst="ellipse">
            <a:avLst/>
          </a:prstGeom>
          <a:solidFill>
            <a:schemeClr val="bg1">
              <a:lumMod val="65000"/>
            </a:schemeClr>
          </a:solidFill>
          <a:ln>
            <a:solidFill>
              <a:schemeClr val="bg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1" name="熊大的PPT宝库77"/>
          <p:cNvSpPr/>
          <p:nvPr/>
        </p:nvSpPr>
        <p:spPr>
          <a:xfrm>
            <a:off x="5584825" y="3379364"/>
            <a:ext cx="95250" cy="95250"/>
          </a:xfrm>
          <a:prstGeom prst="ellipse">
            <a:avLst/>
          </a:prstGeom>
          <a:solidFill>
            <a:schemeClr val="bg1">
              <a:lumMod val="85000"/>
            </a:schemeClr>
          </a:solidFill>
          <a:ln>
            <a:solidFill>
              <a:schemeClr val="bg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2" name="熊大的PPT宝库78"/>
          <p:cNvSpPr txBox="1"/>
          <p:nvPr/>
        </p:nvSpPr>
        <p:spPr>
          <a:xfrm>
            <a:off x="4831305" y="1828064"/>
            <a:ext cx="718145"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规划能力</a:t>
            </a:r>
          </a:p>
        </p:txBody>
      </p:sp>
      <p:sp>
        <p:nvSpPr>
          <p:cNvPr id="134" name="熊大的PPT宝库79"/>
          <p:cNvSpPr txBox="1"/>
          <p:nvPr/>
        </p:nvSpPr>
        <p:spPr>
          <a:xfrm>
            <a:off x="3940889" y="4334019"/>
            <a:ext cx="718145" cy="430887"/>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制造物流</a:t>
            </a:r>
            <a:endParaRPr kumimoji="0" lang="en-US" altLang="zh-CN" sz="1400" b="1"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布局</a:t>
            </a:r>
          </a:p>
        </p:txBody>
      </p:sp>
      <p:sp>
        <p:nvSpPr>
          <p:cNvPr id="135" name="熊大的PPT宝库80"/>
          <p:cNvSpPr txBox="1"/>
          <p:nvPr/>
        </p:nvSpPr>
        <p:spPr>
          <a:xfrm>
            <a:off x="3838296" y="2853541"/>
            <a:ext cx="718145"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供应版图</a:t>
            </a:r>
          </a:p>
        </p:txBody>
      </p:sp>
      <p:sp>
        <p:nvSpPr>
          <p:cNvPr id="136" name="熊大的PPT宝库81"/>
          <p:cNvSpPr txBox="1"/>
          <p:nvPr/>
        </p:nvSpPr>
        <p:spPr>
          <a:xfrm>
            <a:off x="4916880" y="5194002"/>
            <a:ext cx="718145"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入厂物流</a:t>
            </a:r>
          </a:p>
        </p:txBody>
      </p:sp>
      <p:sp>
        <p:nvSpPr>
          <p:cNvPr id="137" name="熊大的PPT宝库82"/>
          <p:cNvSpPr txBox="1"/>
          <p:nvPr/>
        </p:nvSpPr>
        <p:spPr>
          <a:xfrm>
            <a:off x="6606913" y="1828064"/>
            <a:ext cx="718145"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cs typeface="+mn-ea"/>
                <a:sym typeface="+mn-lt"/>
              </a:rPr>
              <a:t>产品平台</a:t>
            </a:r>
          </a:p>
        </p:txBody>
      </p:sp>
      <p:sp>
        <p:nvSpPr>
          <p:cNvPr id="138" name="熊大的PPT宝库83"/>
          <p:cNvSpPr txBox="1"/>
          <p:nvPr/>
        </p:nvSpPr>
        <p:spPr>
          <a:xfrm>
            <a:off x="7654531" y="2853541"/>
            <a:ext cx="718145"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cs typeface="+mn-ea"/>
                <a:sym typeface="+mn-lt"/>
              </a:rPr>
              <a:t>地理范围</a:t>
            </a:r>
          </a:p>
        </p:txBody>
      </p:sp>
      <p:sp>
        <p:nvSpPr>
          <p:cNvPr id="139" name="熊大的PPT宝库84"/>
          <p:cNvSpPr txBox="1"/>
          <p:nvPr/>
        </p:nvSpPr>
        <p:spPr>
          <a:xfrm>
            <a:off x="6552099" y="5196059"/>
            <a:ext cx="718145"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cs typeface="+mn-ea"/>
                <a:sym typeface="+mn-lt"/>
              </a:rPr>
              <a:t>分销配送</a:t>
            </a:r>
          </a:p>
        </p:txBody>
      </p:sp>
      <p:sp>
        <p:nvSpPr>
          <p:cNvPr id="140" name="熊大的PPT宝库85"/>
          <p:cNvSpPr txBox="1"/>
          <p:nvPr/>
        </p:nvSpPr>
        <p:spPr>
          <a:xfrm>
            <a:off x="7536153" y="4372273"/>
            <a:ext cx="718145"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cs typeface="+mn-ea"/>
                <a:sym typeface="+mn-lt"/>
              </a:rPr>
              <a:t>财务资本</a:t>
            </a:r>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熊大的PPT宝库1"/>
          <p:cNvSpPr/>
          <p:nvPr/>
        </p:nvSpPr>
        <p:spPr>
          <a:xfrm>
            <a:off x="2350153" y="1037526"/>
            <a:ext cx="8298719" cy="5271064"/>
          </a:xfrm>
          <a:prstGeom prst="roundRect">
            <a:avLst>
              <a:gd name="adj" fmla="val 432"/>
            </a:avLst>
          </a:prstGeom>
          <a:solidFill>
            <a:schemeClr val="bg1"/>
          </a:solidFill>
          <a:ln>
            <a:noFill/>
          </a:ln>
          <a:effectLst>
            <a:outerShdw blurRad="215900" sx="102000" sy="102000" algn="ctr" rotWithShape="0">
              <a:schemeClr val="accent1">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48" name="熊大的PPT宝库2"/>
          <p:cNvSpPr/>
          <p:nvPr/>
        </p:nvSpPr>
        <p:spPr>
          <a:xfrm>
            <a:off x="2512451" y="5726007"/>
            <a:ext cx="8042825" cy="538117"/>
          </a:xfrm>
          <a:prstGeom prst="ellipse">
            <a:avLst/>
          </a:prstGeom>
          <a:noFill/>
          <a:ln>
            <a:solidFill>
              <a:schemeClr val="accent1"/>
            </a:solidFill>
          </a:ln>
          <a:effectLst>
            <a:outerShdw blurRad="177800" dist="203200" dir="5400000" sx="113000" sy="113000" algn="ctr" rotWithShape="0">
              <a:schemeClr val="accent1"/>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33" name="熊大的PPT宝库3"/>
          <p:cNvSpPr/>
          <p:nvPr/>
        </p:nvSpPr>
        <p:spPr>
          <a:xfrm>
            <a:off x="2512451" y="4406709"/>
            <a:ext cx="8042825" cy="538117"/>
          </a:xfrm>
          <a:prstGeom prst="ellipse">
            <a:avLst/>
          </a:prstGeom>
          <a:no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 name="熊大的PPT宝库4"/>
          <p:cNvSpPr txBox="1"/>
          <p:nvPr/>
        </p:nvSpPr>
        <p:spPr>
          <a:xfrm>
            <a:off x="348830" y="216968"/>
            <a:ext cx="5519460"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数字化采购及供应链管理平台</a:t>
            </a:r>
          </a:p>
        </p:txBody>
      </p:sp>
      <p:sp>
        <p:nvSpPr>
          <p:cNvPr id="5" name="熊大的PPT宝库6"/>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
        <p:nvSpPr>
          <p:cNvPr id="6" name="熊大的PPT宝库7"/>
          <p:cNvSpPr/>
          <p:nvPr/>
        </p:nvSpPr>
        <p:spPr>
          <a:xfrm>
            <a:off x="442913" y="1037526"/>
            <a:ext cx="1845490" cy="577325"/>
          </a:xfrm>
          <a:prstGeom prst="roundRect">
            <a:avLst>
              <a:gd name="adj" fmla="val 5639"/>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 name="熊大的PPT宝库8"/>
          <p:cNvSpPr/>
          <p:nvPr/>
        </p:nvSpPr>
        <p:spPr>
          <a:xfrm>
            <a:off x="442913" y="1461058"/>
            <a:ext cx="1836000" cy="264658"/>
          </a:xfrm>
          <a:prstGeom prst="roundRect">
            <a:avLst>
              <a:gd name="adj" fmla="val 2121"/>
            </a:avLst>
          </a:prstGeom>
          <a:noFill/>
          <a:ln w="12700">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 name="熊大的PPT宝库9"/>
          <p:cNvSpPr txBox="1"/>
          <p:nvPr/>
        </p:nvSpPr>
        <p:spPr>
          <a:xfrm>
            <a:off x="903993" y="1187689"/>
            <a:ext cx="923330" cy="276999"/>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核心价值</a:t>
            </a:r>
          </a:p>
        </p:txBody>
      </p:sp>
      <p:sp>
        <p:nvSpPr>
          <p:cNvPr id="11" name="熊大的PPT宝库10"/>
          <p:cNvSpPr txBox="1"/>
          <p:nvPr/>
        </p:nvSpPr>
        <p:spPr>
          <a:xfrm>
            <a:off x="538277" y="1843260"/>
            <a:ext cx="1500411" cy="215444"/>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Value 01 赋能协同</a:t>
            </a:r>
          </a:p>
        </p:txBody>
      </p:sp>
      <p:sp>
        <p:nvSpPr>
          <p:cNvPr id="13" name="熊大的PPT宝库11"/>
          <p:cNvSpPr txBox="1"/>
          <p:nvPr/>
        </p:nvSpPr>
        <p:spPr>
          <a:xfrm>
            <a:off x="575274" y="2210421"/>
            <a:ext cx="1620000" cy="553998"/>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知行合一，以知促行、以行聚知、即知即行、即行即知。</a:t>
            </a:r>
          </a:p>
        </p:txBody>
      </p:sp>
      <p:sp>
        <p:nvSpPr>
          <p:cNvPr id="15" name="熊大的PPT宝库12"/>
          <p:cNvSpPr txBox="1"/>
          <p:nvPr/>
        </p:nvSpPr>
        <p:spPr>
          <a:xfrm>
            <a:off x="535071" y="3277699"/>
            <a:ext cx="1537280" cy="215444"/>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Value 02 支持决策</a:t>
            </a:r>
          </a:p>
        </p:txBody>
      </p:sp>
      <p:sp>
        <p:nvSpPr>
          <p:cNvPr id="17" name="熊大的PPT宝库13"/>
          <p:cNvSpPr txBox="1"/>
          <p:nvPr/>
        </p:nvSpPr>
        <p:spPr>
          <a:xfrm>
            <a:off x="575274" y="3630328"/>
            <a:ext cx="1620000" cy="553998"/>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以数据产品价值为采购和供应链运行过程中的各种决策提供支持。</a:t>
            </a:r>
          </a:p>
        </p:txBody>
      </p:sp>
      <p:sp>
        <p:nvSpPr>
          <p:cNvPr id="19" name="熊大的PPT宝库14"/>
          <p:cNvSpPr txBox="1"/>
          <p:nvPr/>
        </p:nvSpPr>
        <p:spPr>
          <a:xfrm>
            <a:off x="535071" y="4650735"/>
            <a:ext cx="1537280" cy="215444"/>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Value 03 匹配资源</a:t>
            </a:r>
          </a:p>
        </p:txBody>
      </p:sp>
      <p:sp>
        <p:nvSpPr>
          <p:cNvPr id="21" name="熊大的PPT宝库15"/>
          <p:cNvSpPr txBox="1"/>
          <p:nvPr/>
        </p:nvSpPr>
        <p:spPr>
          <a:xfrm>
            <a:off x="575274" y="4977766"/>
            <a:ext cx="1620000" cy="738664"/>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以数据要素驱动采供双方的精准匹配，实现信息流商流、资金流、物流的合竑理流动。</a:t>
            </a:r>
          </a:p>
        </p:txBody>
      </p:sp>
      <p:sp>
        <p:nvSpPr>
          <p:cNvPr id="22" name="熊大的PPT宝库16"/>
          <p:cNvSpPr/>
          <p:nvPr/>
        </p:nvSpPr>
        <p:spPr>
          <a:xfrm>
            <a:off x="10708772" y="1037526"/>
            <a:ext cx="1040316" cy="577325"/>
          </a:xfrm>
          <a:prstGeom prst="roundRect">
            <a:avLst>
              <a:gd name="adj" fmla="val 5639"/>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3" name="熊大的PPT宝库17"/>
          <p:cNvSpPr/>
          <p:nvPr/>
        </p:nvSpPr>
        <p:spPr>
          <a:xfrm>
            <a:off x="10714491" y="1461058"/>
            <a:ext cx="1028879" cy="4847667"/>
          </a:xfrm>
          <a:prstGeom prst="roundRect">
            <a:avLst>
              <a:gd name="adj" fmla="val 2121"/>
            </a:avLst>
          </a:prstGeom>
          <a:noFill/>
          <a:ln w="12700">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4" name="熊大的PPT宝库18"/>
          <p:cNvSpPr txBox="1"/>
          <p:nvPr/>
        </p:nvSpPr>
        <p:spPr>
          <a:xfrm>
            <a:off x="10767265" y="1187689"/>
            <a:ext cx="923330" cy="276999"/>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cs typeface="+mn-ea"/>
                <a:sym typeface="+mn-lt"/>
              </a:rPr>
              <a:t>核心价值</a:t>
            </a:r>
          </a:p>
        </p:txBody>
      </p:sp>
      <p:sp>
        <p:nvSpPr>
          <p:cNvPr id="31" name="熊大的PPT宝库19"/>
          <p:cNvSpPr txBox="1"/>
          <p:nvPr/>
        </p:nvSpPr>
        <p:spPr>
          <a:xfrm>
            <a:off x="10956420" y="1729698"/>
            <a:ext cx="545021" cy="276999"/>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00329D"/>
                </a:solidFill>
                <a:effectLst/>
                <a:uLnTx/>
                <a:uFillTx/>
                <a:cs typeface="+mn-ea"/>
                <a:sym typeface="+mn-lt"/>
              </a:rPr>
              <a:t>20</a:t>
            </a:r>
            <a:r>
              <a:rPr kumimoji="0" lang="zh-CN" altLang="en-US" sz="1800" b="1" i="0" u="none" strike="noStrike" kern="1200" cap="none" spc="0" normalizeH="0" baseline="0" noProof="0" dirty="0">
                <a:ln>
                  <a:noFill/>
                </a:ln>
                <a:solidFill>
                  <a:srgbClr val="00329D"/>
                </a:solidFill>
                <a:effectLst/>
                <a:uLnTx/>
                <a:uFillTx/>
                <a:cs typeface="+mn-ea"/>
                <a:sym typeface="+mn-lt"/>
              </a:rPr>
              <a:t>万</a:t>
            </a:r>
          </a:p>
        </p:txBody>
      </p:sp>
      <p:sp>
        <p:nvSpPr>
          <p:cNvPr id="32" name="熊大的PPT宝库20"/>
          <p:cNvSpPr txBox="1"/>
          <p:nvPr/>
        </p:nvSpPr>
        <p:spPr>
          <a:xfrm>
            <a:off x="10998098" y="2121521"/>
            <a:ext cx="461665" cy="184666"/>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采购商</a:t>
            </a:r>
          </a:p>
        </p:txBody>
      </p:sp>
      <p:sp>
        <p:nvSpPr>
          <p:cNvPr id="33" name="熊大的PPT宝库21"/>
          <p:cNvSpPr txBox="1"/>
          <p:nvPr/>
        </p:nvSpPr>
        <p:spPr>
          <a:xfrm>
            <a:off x="10899513" y="2654307"/>
            <a:ext cx="658835" cy="276999"/>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00329D"/>
                </a:solidFill>
                <a:effectLst/>
                <a:uLnTx/>
                <a:uFillTx/>
                <a:cs typeface="+mn-ea"/>
                <a:sym typeface="+mn-lt"/>
              </a:rPr>
              <a:t>100</a:t>
            </a:r>
            <a:r>
              <a:rPr kumimoji="0" lang="zh-CN" altLang="en-US" sz="1800" b="1" i="0" u="none" strike="noStrike" kern="1200" cap="none" spc="0" normalizeH="0" baseline="0" noProof="0" dirty="0">
                <a:ln>
                  <a:noFill/>
                </a:ln>
                <a:solidFill>
                  <a:srgbClr val="00329D"/>
                </a:solidFill>
                <a:effectLst/>
                <a:uLnTx/>
                <a:uFillTx/>
                <a:cs typeface="+mn-ea"/>
                <a:sym typeface="+mn-lt"/>
              </a:rPr>
              <a:t>万</a:t>
            </a:r>
          </a:p>
        </p:txBody>
      </p:sp>
      <p:sp>
        <p:nvSpPr>
          <p:cNvPr id="34" name="熊大的PPT宝库22"/>
          <p:cNvSpPr txBox="1"/>
          <p:nvPr/>
        </p:nvSpPr>
        <p:spPr>
          <a:xfrm>
            <a:off x="10998098" y="3046130"/>
            <a:ext cx="461665" cy="184666"/>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供应商</a:t>
            </a:r>
          </a:p>
        </p:txBody>
      </p:sp>
      <p:sp>
        <p:nvSpPr>
          <p:cNvPr id="35" name="熊大的PPT宝库23"/>
          <p:cNvSpPr txBox="1"/>
          <p:nvPr/>
        </p:nvSpPr>
        <p:spPr>
          <a:xfrm>
            <a:off x="11034967" y="3603261"/>
            <a:ext cx="387927" cy="276999"/>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00329D"/>
                </a:solidFill>
                <a:effectLst/>
                <a:uLnTx/>
                <a:uFillTx/>
                <a:cs typeface="+mn-ea"/>
                <a:sym typeface="+mn-lt"/>
              </a:rPr>
              <a:t>4</a:t>
            </a:r>
            <a:r>
              <a:rPr kumimoji="0" lang="zh-CN" altLang="en-US" sz="1800" b="1" i="0" u="none" strike="noStrike" kern="1200" cap="none" spc="0" normalizeH="0" baseline="0" noProof="0" dirty="0">
                <a:ln>
                  <a:noFill/>
                </a:ln>
                <a:solidFill>
                  <a:srgbClr val="00329D"/>
                </a:solidFill>
                <a:effectLst/>
                <a:uLnTx/>
                <a:uFillTx/>
                <a:cs typeface="+mn-ea"/>
                <a:sym typeface="+mn-lt"/>
              </a:rPr>
              <a:t>万</a:t>
            </a:r>
          </a:p>
        </p:txBody>
      </p:sp>
      <p:sp>
        <p:nvSpPr>
          <p:cNvPr id="36" name="熊大的PPT宝库24"/>
          <p:cNvSpPr txBox="1"/>
          <p:nvPr/>
        </p:nvSpPr>
        <p:spPr>
          <a:xfrm>
            <a:off x="10921154" y="3995084"/>
            <a:ext cx="615553" cy="184666"/>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评标专家</a:t>
            </a:r>
          </a:p>
        </p:txBody>
      </p:sp>
      <p:sp>
        <p:nvSpPr>
          <p:cNvPr id="37" name="熊大的PPT宝库25"/>
          <p:cNvSpPr txBox="1"/>
          <p:nvPr/>
        </p:nvSpPr>
        <p:spPr>
          <a:xfrm>
            <a:off x="10877873" y="4518003"/>
            <a:ext cx="702115" cy="276999"/>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00329D"/>
                </a:solidFill>
                <a:effectLst/>
                <a:uLnTx/>
                <a:uFillTx/>
                <a:cs typeface="+mn-ea"/>
                <a:sym typeface="+mn-lt"/>
              </a:rPr>
              <a:t>43</a:t>
            </a:r>
            <a:r>
              <a:rPr kumimoji="0" lang="zh-CN" altLang="en-US" sz="1800" b="1" i="0" u="none" strike="noStrike" kern="1200" cap="none" spc="0" normalizeH="0" baseline="0" noProof="0" dirty="0">
                <a:ln>
                  <a:noFill/>
                </a:ln>
                <a:solidFill>
                  <a:srgbClr val="00329D"/>
                </a:solidFill>
                <a:effectLst/>
                <a:uLnTx/>
                <a:uFillTx/>
                <a:cs typeface="+mn-ea"/>
                <a:sym typeface="+mn-lt"/>
              </a:rPr>
              <a:t>万</a:t>
            </a:r>
            <a:r>
              <a:rPr kumimoji="0" lang="en-US" altLang="zh-CN" sz="1800" b="1" i="0" u="none" strike="noStrike" kern="1200" cap="none" spc="0" normalizeH="0" baseline="0" noProof="0" dirty="0">
                <a:ln>
                  <a:noFill/>
                </a:ln>
                <a:solidFill>
                  <a:srgbClr val="00329D"/>
                </a:solidFill>
                <a:effectLst/>
                <a:uLnTx/>
                <a:uFillTx/>
                <a:cs typeface="+mn-ea"/>
                <a:sym typeface="+mn-lt"/>
              </a:rPr>
              <a:t>+</a:t>
            </a:r>
            <a:endParaRPr kumimoji="0" lang="zh-CN" altLang="en-US" sz="1800" b="1" i="0" u="none" strike="noStrike" kern="1200" cap="none" spc="0" normalizeH="0" baseline="0" noProof="0" dirty="0">
              <a:ln>
                <a:noFill/>
              </a:ln>
              <a:solidFill>
                <a:srgbClr val="00329D"/>
              </a:solidFill>
              <a:effectLst/>
              <a:uLnTx/>
              <a:uFillTx/>
              <a:cs typeface="+mn-ea"/>
              <a:sym typeface="+mn-lt"/>
            </a:endParaRPr>
          </a:p>
        </p:txBody>
      </p:sp>
      <p:sp>
        <p:nvSpPr>
          <p:cNvPr id="38" name="熊大的PPT宝库26"/>
          <p:cNvSpPr txBox="1"/>
          <p:nvPr/>
        </p:nvSpPr>
        <p:spPr>
          <a:xfrm>
            <a:off x="10844210" y="4909826"/>
            <a:ext cx="769441" cy="184666"/>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年采购项目</a:t>
            </a:r>
          </a:p>
        </p:txBody>
      </p:sp>
      <p:sp>
        <p:nvSpPr>
          <p:cNvPr id="39" name="熊大的PPT宝库27"/>
          <p:cNvSpPr txBox="1"/>
          <p:nvPr/>
        </p:nvSpPr>
        <p:spPr>
          <a:xfrm>
            <a:off x="10740014" y="5435567"/>
            <a:ext cx="977832" cy="276999"/>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00329D"/>
                </a:solidFill>
                <a:effectLst/>
                <a:uLnTx/>
                <a:uFillTx/>
                <a:cs typeface="+mn-ea"/>
                <a:sym typeface="+mn-lt"/>
              </a:rPr>
              <a:t>1500</a:t>
            </a:r>
            <a:r>
              <a:rPr kumimoji="0" lang="zh-CN" altLang="en-US" sz="1800" b="1" i="0" u="none" strike="noStrike" kern="1200" cap="none" spc="0" normalizeH="0" baseline="0" noProof="0" dirty="0">
                <a:ln>
                  <a:noFill/>
                </a:ln>
                <a:solidFill>
                  <a:srgbClr val="00329D"/>
                </a:solidFill>
                <a:effectLst/>
                <a:uLnTx/>
                <a:uFillTx/>
                <a:cs typeface="+mn-ea"/>
                <a:sym typeface="+mn-lt"/>
              </a:rPr>
              <a:t>亿</a:t>
            </a:r>
            <a:r>
              <a:rPr kumimoji="0" lang="en-US" altLang="zh-CN" sz="1800" b="1" i="0" u="none" strike="noStrike" kern="1200" cap="none" spc="0" normalizeH="0" baseline="0" noProof="0" dirty="0">
                <a:ln>
                  <a:noFill/>
                </a:ln>
                <a:solidFill>
                  <a:srgbClr val="00329D"/>
                </a:solidFill>
                <a:effectLst/>
                <a:uLnTx/>
                <a:uFillTx/>
                <a:cs typeface="+mn-ea"/>
                <a:sym typeface="+mn-lt"/>
              </a:rPr>
              <a:t>+</a:t>
            </a:r>
            <a:endParaRPr kumimoji="0" lang="zh-CN" altLang="en-US" sz="1800" b="1" i="0" u="none" strike="noStrike" kern="1200" cap="none" spc="0" normalizeH="0" baseline="0" noProof="0" dirty="0">
              <a:ln>
                <a:noFill/>
              </a:ln>
              <a:solidFill>
                <a:srgbClr val="00329D"/>
              </a:solidFill>
              <a:effectLst/>
              <a:uLnTx/>
              <a:uFillTx/>
              <a:cs typeface="+mn-ea"/>
              <a:sym typeface="+mn-lt"/>
            </a:endParaRPr>
          </a:p>
        </p:txBody>
      </p:sp>
      <p:sp>
        <p:nvSpPr>
          <p:cNvPr id="40" name="熊大的PPT宝库28"/>
          <p:cNvSpPr txBox="1"/>
          <p:nvPr/>
        </p:nvSpPr>
        <p:spPr>
          <a:xfrm>
            <a:off x="10767265" y="5827390"/>
            <a:ext cx="923330" cy="184666"/>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年采购交易额</a:t>
            </a:r>
          </a:p>
        </p:txBody>
      </p:sp>
      <p:cxnSp>
        <p:nvCxnSpPr>
          <p:cNvPr id="55" name="熊大的PPT宝库29"/>
          <p:cNvCxnSpPr/>
          <p:nvPr/>
        </p:nvCxnSpPr>
        <p:spPr>
          <a:xfrm>
            <a:off x="2894679" y="1340168"/>
            <a:ext cx="0" cy="216000"/>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56" name="熊大的PPT宝库30"/>
          <p:cNvCxnSpPr/>
          <p:nvPr/>
        </p:nvCxnSpPr>
        <p:spPr>
          <a:xfrm>
            <a:off x="3675729" y="1340168"/>
            <a:ext cx="0" cy="216000"/>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57" name="熊大的PPT宝库31"/>
          <p:cNvCxnSpPr/>
          <p:nvPr/>
        </p:nvCxnSpPr>
        <p:spPr>
          <a:xfrm>
            <a:off x="4431379" y="1340168"/>
            <a:ext cx="0" cy="216000"/>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58" name="熊大的PPT宝库32"/>
          <p:cNvCxnSpPr/>
          <p:nvPr/>
        </p:nvCxnSpPr>
        <p:spPr>
          <a:xfrm>
            <a:off x="5218779" y="1340168"/>
            <a:ext cx="0" cy="216000"/>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59" name="熊大的PPT宝库33"/>
          <p:cNvCxnSpPr/>
          <p:nvPr/>
        </p:nvCxnSpPr>
        <p:spPr>
          <a:xfrm>
            <a:off x="6006179" y="1340168"/>
            <a:ext cx="0" cy="216000"/>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60" name="熊大的PPT宝库34"/>
          <p:cNvCxnSpPr/>
          <p:nvPr/>
        </p:nvCxnSpPr>
        <p:spPr>
          <a:xfrm>
            <a:off x="6787229" y="1340168"/>
            <a:ext cx="0" cy="216000"/>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61" name="熊大的PPT宝库35"/>
          <p:cNvCxnSpPr/>
          <p:nvPr/>
        </p:nvCxnSpPr>
        <p:spPr>
          <a:xfrm>
            <a:off x="7657179" y="1340168"/>
            <a:ext cx="0" cy="216000"/>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62" name="熊大的PPT宝库36"/>
          <p:cNvCxnSpPr/>
          <p:nvPr/>
        </p:nvCxnSpPr>
        <p:spPr>
          <a:xfrm>
            <a:off x="8819229" y="1340168"/>
            <a:ext cx="0" cy="216000"/>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63" name="熊大的PPT宝库37"/>
          <p:cNvCxnSpPr/>
          <p:nvPr/>
        </p:nvCxnSpPr>
        <p:spPr>
          <a:xfrm>
            <a:off x="9936829" y="1340168"/>
            <a:ext cx="0" cy="216000"/>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65" name="熊大的PPT宝库38"/>
          <p:cNvCxnSpPr/>
          <p:nvPr/>
        </p:nvCxnSpPr>
        <p:spPr>
          <a:xfrm>
            <a:off x="2543088" y="1555859"/>
            <a:ext cx="7920000" cy="0"/>
          </a:xfrm>
          <a:prstGeom prst="line">
            <a:avLst/>
          </a:prstGeom>
          <a:ln w="15875"/>
        </p:spPr>
        <p:style>
          <a:lnRef idx="1">
            <a:schemeClr val="accent1"/>
          </a:lnRef>
          <a:fillRef idx="0">
            <a:schemeClr val="accent1"/>
          </a:fillRef>
          <a:effectRef idx="0">
            <a:schemeClr val="accent1"/>
          </a:effectRef>
          <a:fontRef idx="minor">
            <a:schemeClr val="tx1"/>
          </a:fontRef>
        </p:style>
      </p:cxnSp>
      <p:sp>
        <p:nvSpPr>
          <p:cNvPr id="41" name="熊大的PPT宝库39"/>
          <p:cNvSpPr/>
          <p:nvPr/>
        </p:nvSpPr>
        <p:spPr>
          <a:xfrm>
            <a:off x="2609764" y="1130180"/>
            <a:ext cx="576000" cy="288000"/>
          </a:xfrm>
          <a:prstGeom prst="round2DiagRect">
            <a:avLst/>
          </a:prstGeom>
          <a:solidFill>
            <a:schemeClr val="accent1"/>
          </a:solidFill>
          <a:ln>
            <a:noFill/>
          </a:ln>
          <a:effectLst>
            <a:outerShdw blurRad="63500" sx="102000" sy="102000" algn="ctr" rotWithShape="0">
              <a:schemeClr val="accent1">
                <a:alpha val="40000"/>
              </a:schemeClr>
            </a:outerShdw>
          </a:effectLst>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2" name="熊大的PPT宝库40"/>
          <p:cNvSpPr/>
          <p:nvPr/>
        </p:nvSpPr>
        <p:spPr>
          <a:xfrm>
            <a:off x="3382571" y="1130180"/>
            <a:ext cx="576000" cy="288000"/>
          </a:xfrm>
          <a:prstGeom prst="round2DiagRect">
            <a:avLst/>
          </a:prstGeom>
          <a:solidFill>
            <a:schemeClr val="accent1"/>
          </a:solidFill>
          <a:ln>
            <a:noFill/>
          </a:ln>
          <a:effectLst>
            <a:outerShdw blurRad="63500" sx="102000" sy="102000" algn="ctr" rotWithShape="0">
              <a:schemeClr val="accent1">
                <a:alpha val="40000"/>
              </a:schemeClr>
            </a:outerShdw>
          </a:effectLst>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3" name="熊大的PPT宝库41"/>
          <p:cNvSpPr/>
          <p:nvPr/>
        </p:nvSpPr>
        <p:spPr>
          <a:xfrm>
            <a:off x="4155378" y="1130180"/>
            <a:ext cx="576000" cy="288000"/>
          </a:xfrm>
          <a:prstGeom prst="round2DiagRect">
            <a:avLst/>
          </a:prstGeom>
          <a:solidFill>
            <a:schemeClr val="accent1"/>
          </a:solidFill>
          <a:ln>
            <a:noFill/>
          </a:ln>
          <a:effectLst>
            <a:outerShdw blurRad="63500" sx="102000" sy="102000" algn="ctr" rotWithShape="0">
              <a:schemeClr val="accent1">
                <a:alpha val="40000"/>
              </a:schemeClr>
            </a:outerShdw>
          </a:effectLst>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4" name="熊大的PPT宝库42"/>
          <p:cNvSpPr/>
          <p:nvPr/>
        </p:nvSpPr>
        <p:spPr>
          <a:xfrm>
            <a:off x="4928185" y="1130180"/>
            <a:ext cx="576000" cy="288000"/>
          </a:xfrm>
          <a:prstGeom prst="round2DiagRect">
            <a:avLst/>
          </a:prstGeom>
          <a:solidFill>
            <a:schemeClr val="accent1"/>
          </a:solidFill>
          <a:ln>
            <a:noFill/>
          </a:ln>
          <a:effectLst>
            <a:outerShdw blurRad="63500" sx="102000" sy="102000" algn="ctr" rotWithShape="0">
              <a:schemeClr val="accent1">
                <a:alpha val="40000"/>
              </a:schemeClr>
            </a:outerShdw>
          </a:effectLst>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5" name="熊大的PPT宝库43"/>
          <p:cNvSpPr/>
          <p:nvPr/>
        </p:nvSpPr>
        <p:spPr>
          <a:xfrm>
            <a:off x="5700992" y="1130180"/>
            <a:ext cx="576000" cy="288000"/>
          </a:xfrm>
          <a:prstGeom prst="round2DiagRect">
            <a:avLst/>
          </a:prstGeom>
          <a:solidFill>
            <a:schemeClr val="accent1"/>
          </a:solidFill>
          <a:ln>
            <a:noFill/>
          </a:ln>
          <a:effectLst>
            <a:outerShdw blurRad="63500" sx="102000" sy="102000" algn="ctr" rotWithShape="0">
              <a:schemeClr val="accent1">
                <a:alpha val="40000"/>
              </a:schemeClr>
            </a:outerShdw>
          </a:effectLst>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6" name="熊大的PPT宝库44"/>
          <p:cNvSpPr/>
          <p:nvPr/>
        </p:nvSpPr>
        <p:spPr>
          <a:xfrm>
            <a:off x="6475060" y="1130180"/>
            <a:ext cx="576000" cy="288000"/>
          </a:xfrm>
          <a:prstGeom prst="round2DiagRect">
            <a:avLst/>
          </a:prstGeom>
          <a:solidFill>
            <a:schemeClr val="accent1"/>
          </a:solidFill>
          <a:ln>
            <a:noFill/>
          </a:ln>
          <a:effectLst>
            <a:outerShdw blurRad="63500" sx="102000" sy="102000" algn="ctr" rotWithShape="0">
              <a:schemeClr val="accent1">
                <a:alpha val="40000"/>
              </a:schemeClr>
            </a:outerShdw>
          </a:effectLst>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7" name="熊大的PPT宝库45"/>
          <p:cNvSpPr/>
          <p:nvPr/>
        </p:nvSpPr>
        <p:spPr>
          <a:xfrm>
            <a:off x="7246606" y="1130180"/>
            <a:ext cx="818761" cy="288000"/>
          </a:xfrm>
          <a:prstGeom prst="round2DiagRect">
            <a:avLst/>
          </a:prstGeom>
          <a:solidFill>
            <a:schemeClr val="accent1">
              <a:lumMod val="20000"/>
              <a:lumOff val="80000"/>
            </a:schemeClr>
          </a:solidFill>
          <a:ln>
            <a:noFill/>
          </a:ln>
          <a:effectLst>
            <a:outerShdw blurRad="63500" sx="102000" sy="102000" algn="ctr" rotWithShape="0">
              <a:schemeClr val="accent1">
                <a:alpha val="40000"/>
              </a:schemeClr>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8" name="熊大的PPT宝库46"/>
          <p:cNvSpPr/>
          <p:nvPr/>
        </p:nvSpPr>
        <p:spPr>
          <a:xfrm>
            <a:off x="8262174" y="1130180"/>
            <a:ext cx="1080901" cy="288000"/>
          </a:xfrm>
          <a:prstGeom prst="round2DiagRect">
            <a:avLst/>
          </a:prstGeom>
          <a:solidFill>
            <a:schemeClr val="accent1">
              <a:lumMod val="20000"/>
              <a:lumOff val="80000"/>
            </a:schemeClr>
          </a:solidFill>
          <a:ln>
            <a:noFill/>
          </a:ln>
          <a:effectLst>
            <a:outerShdw blurRad="63500" sx="102000" sy="102000" algn="ctr" rotWithShape="0">
              <a:schemeClr val="accent1">
                <a:alpha val="40000"/>
              </a:schemeClr>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9" name="熊大的PPT宝库47"/>
          <p:cNvSpPr/>
          <p:nvPr/>
        </p:nvSpPr>
        <p:spPr>
          <a:xfrm>
            <a:off x="9539883" y="1130180"/>
            <a:ext cx="839395" cy="288000"/>
          </a:xfrm>
          <a:prstGeom prst="round2DiagRect">
            <a:avLst/>
          </a:prstGeom>
          <a:solidFill>
            <a:schemeClr val="accent1">
              <a:lumMod val="20000"/>
              <a:lumOff val="80000"/>
            </a:schemeClr>
          </a:solidFill>
          <a:ln>
            <a:noFill/>
          </a:ln>
          <a:effectLst>
            <a:outerShdw blurRad="63500" sx="102000" sy="102000" algn="ctr" rotWithShape="0">
              <a:schemeClr val="accent1">
                <a:alpha val="40000"/>
              </a:schemeClr>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9" name="熊大的PPT宝库48"/>
          <p:cNvSpPr txBox="1"/>
          <p:nvPr/>
        </p:nvSpPr>
        <p:spPr>
          <a:xfrm>
            <a:off x="2764715" y="1181847"/>
            <a:ext cx="266098" cy="369332"/>
          </a:xfrm>
          <a:prstGeom prst="rect">
            <a:avLst/>
          </a:prstGeom>
          <a:noFill/>
        </p:spPr>
        <p:txBody>
          <a:bodyPr wrap="non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cs typeface="+mn-ea"/>
                <a:sym typeface="+mn-lt"/>
              </a:rPr>
              <a:t>ERP</a:t>
            </a:r>
            <a:endParaRPr kumimoji="0"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70" name="熊大的PPT宝库49"/>
          <p:cNvSpPr txBox="1"/>
          <p:nvPr/>
        </p:nvSpPr>
        <p:spPr>
          <a:xfrm>
            <a:off x="3556822" y="1181847"/>
            <a:ext cx="227498" cy="184666"/>
          </a:xfrm>
          <a:prstGeom prst="rect">
            <a:avLst/>
          </a:prstGeom>
          <a:noFill/>
        </p:spPr>
        <p:txBody>
          <a:bodyPr wrap="non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cs typeface="+mn-ea"/>
                <a:sym typeface="+mn-lt"/>
              </a:rPr>
              <a:t>OA</a:t>
            </a:r>
            <a:endParaRPr kumimoji="0"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71" name="熊大的PPT宝库50"/>
          <p:cNvSpPr txBox="1"/>
          <p:nvPr/>
        </p:nvSpPr>
        <p:spPr>
          <a:xfrm>
            <a:off x="4318344" y="1181847"/>
            <a:ext cx="250068" cy="369332"/>
          </a:xfrm>
          <a:prstGeom prst="rect">
            <a:avLst/>
          </a:prstGeom>
          <a:noFill/>
        </p:spPr>
        <p:txBody>
          <a:bodyPr wrap="non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cs typeface="+mn-ea"/>
                <a:sym typeface="+mn-lt"/>
              </a:rPr>
              <a:t>JDE</a:t>
            </a:r>
            <a:endParaRPr kumimoji="0"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72" name="熊大的PPT宝库51"/>
          <p:cNvSpPr txBox="1"/>
          <p:nvPr/>
        </p:nvSpPr>
        <p:spPr>
          <a:xfrm>
            <a:off x="5060694" y="1181847"/>
            <a:ext cx="310983" cy="369332"/>
          </a:xfrm>
          <a:prstGeom prst="rect">
            <a:avLst/>
          </a:prstGeom>
          <a:noFill/>
        </p:spPr>
        <p:txBody>
          <a:bodyPr wrap="non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cs typeface="+mn-ea"/>
                <a:sym typeface="+mn-lt"/>
              </a:rPr>
              <a:t>PMS</a:t>
            </a:r>
            <a:endParaRPr kumimoji="0"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73" name="熊大的PPT宝库52"/>
          <p:cNvSpPr txBox="1"/>
          <p:nvPr/>
        </p:nvSpPr>
        <p:spPr>
          <a:xfrm>
            <a:off x="5803845" y="1181847"/>
            <a:ext cx="370294" cy="369332"/>
          </a:xfrm>
          <a:prstGeom prst="rect">
            <a:avLst/>
          </a:prstGeom>
          <a:noFill/>
        </p:spPr>
        <p:txBody>
          <a:bodyPr wrap="non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cs typeface="+mn-ea"/>
                <a:sym typeface="+mn-lt"/>
              </a:rPr>
              <a:t>WMS</a:t>
            </a:r>
            <a:endParaRPr kumimoji="0"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74" name="熊大的PPT宝库53"/>
          <p:cNvSpPr txBox="1"/>
          <p:nvPr/>
        </p:nvSpPr>
        <p:spPr>
          <a:xfrm>
            <a:off x="6569097" y="1181847"/>
            <a:ext cx="387927" cy="184666"/>
          </a:xfrm>
          <a:prstGeom prst="rect">
            <a:avLst/>
          </a:prstGeom>
          <a:noFill/>
        </p:spPr>
        <p:txBody>
          <a:bodyPr wrap="non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cs typeface="+mn-ea"/>
                <a:sym typeface="+mn-lt"/>
              </a:rPr>
              <a:t>MDM</a:t>
            </a:r>
            <a:endParaRPr kumimoji="0"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75" name="熊大的PPT宝库54"/>
          <p:cNvSpPr txBox="1"/>
          <p:nvPr/>
        </p:nvSpPr>
        <p:spPr>
          <a:xfrm>
            <a:off x="7348210" y="1181847"/>
            <a:ext cx="615553"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TW" altLang="en-US" sz="1200" b="0" i="0" u="none" strike="noStrike" kern="1200" cap="none" spc="0" normalizeH="0" baseline="0" noProof="0" dirty="0">
                <a:ln>
                  <a:noFill/>
                </a:ln>
                <a:solidFill>
                  <a:srgbClr val="000000"/>
                </a:solidFill>
                <a:effectLst/>
                <a:uLnTx/>
                <a:uFillTx/>
                <a:cs typeface="+mn-ea"/>
                <a:sym typeface="+mn-lt"/>
              </a:rPr>
              <a:t>电</a:t>
            </a:r>
            <a:r>
              <a:rPr kumimoji="0" lang="zh-CN" altLang="en-US" sz="1200" b="0" i="0" u="none" strike="noStrike" kern="1200" cap="none" spc="0" normalizeH="0" baseline="0" noProof="0" dirty="0">
                <a:ln>
                  <a:noFill/>
                </a:ln>
                <a:solidFill>
                  <a:srgbClr val="000000"/>
                </a:solidFill>
                <a:effectLst/>
                <a:uLnTx/>
                <a:uFillTx/>
                <a:cs typeface="+mn-ea"/>
                <a:sym typeface="+mn-lt"/>
              </a:rPr>
              <a:t>商</a:t>
            </a:r>
            <a:r>
              <a:rPr kumimoji="0" lang="zh-TW" altLang="en-US" sz="1200" b="0" i="0" u="none" strike="noStrike" kern="1200" cap="none" spc="0" normalizeH="0" baseline="0" noProof="0" dirty="0">
                <a:ln>
                  <a:noFill/>
                </a:ln>
                <a:solidFill>
                  <a:srgbClr val="000000"/>
                </a:solidFill>
                <a:effectLst/>
                <a:uLnTx/>
                <a:uFillTx/>
                <a:cs typeface="+mn-ea"/>
                <a:sym typeface="+mn-lt"/>
              </a:rPr>
              <a:t>平台</a:t>
            </a: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76" name="熊大的PPT宝库55"/>
          <p:cNvSpPr txBox="1"/>
          <p:nvPr/>
        </p:nvSpPr>
        <p:spPr>
          <a:xfrm>
            <a:off x="8264015" y="1181847"/>
            <a:ext cx="1077218"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供应商信息平台</a:t>
            </a:r>
          </a:p>
        </p:txBody>
      </p:sp>
      <p:sp>
        <p:nvSpPr>
          <p:cNvPr id="77" name="熊大的PPT宝库56"/>
          <p:cNvSpPr txBox="1"/>
          <p:nvPr/>
        </p:nvSpPr>
        <p:spPr>
          <a:xfrm>
            <a:off x="9651804" y="1181847"/>
            <a:ext cx="615553"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价格平台</a:t>
            </a:r>
          </a:p>
        </p:txBody>
      </p:sp>
      <p:cxnSp>
        <p:nvCxnSpPr>
          <p:cNvPr id="79" name="熊大的PPT宝库57"/>
          <p:cNvCxnSpPr/>
          <p:nvPr/>
        </p:nvCxnSpPr>
        <p:spPr>
          <a:xfrm>
            <a:off x="2572497" y="1586278"/>
            <a:ext cx="0" cy="288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0" name="熊大的PPT宝库58"/>
          <p:cNvCxnSpPr/>
          <p:nvPr/>
        </p:nvCxnSpPr>
        <p:spPr>
          <a:xfrm>
            <a:off x="10444038" y="1586278"/>
            <a:ext cx="0" cy="288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2" name="熊大的PPT宝库59"/>
          <p:cNvCxnSpPr/>
          <p:nvPr/>
        </p:nvCxnSpPr>
        <p:spPr>
          <a:xfrm>
            <a:off x="5426943" y="1720753"/>
            <a:ext cx="172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熊大的PPT宝库60"/>
          <p:cNvCxnSpPr/>
          <p:nvPr/>
        </p:nvCxnSpPr>
        <p:spPr>
          <a:xfrm flipH="1">
            <a:off x="2572497" y="1720753"/>
            <a:ext cx="172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4" name="熊大的PPT宝库61"/>
          <p:cNvSpPr txBox="1"/>
          <p:nvPr/>
        </p:nvSpPr>
        <p:spPr>
          <a:xfrm>
            <a:off x="4555943" y="1624539"/>
            <a:ext cx="615553"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cs typeface="+mn-ea"/>
                <a:sym typeface="+mn-lt"/>
              </a:rPr>
              <a:t>信息系统</a:t>
            </a:r>
          </a:p>
        </p:txBody>
      </p:sp>
      <p:cxnSp>
        <p:nvCxnSpPr>
          <p:cNvPr id="86" name="熊大的PPT宝库62"/>
          <p:cNvCxnSpPr/>
          <p:nvPr/>
        </p:nvCxnSpPr>
        <p:spPr>
          <a:xfrm>
            <a:off x="7154943" y="1586278"/>
            <a:ext cx="0" cy="288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7" name="熊大的PPT宝库63"/>
          <p:cNvCxnSpPr/>
          <p:nvPr/>
        </p:nvCxnSpPr>
        <p:spPr>
          <a:xfrm flipH="1">
            <a:off x="7154943" y="1720753"/>
            <a:ext cx="1080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熊大的PPT宝库64"/>
          <p:cNvCxnSpPr/>
          <p:nvPr/>
        </p:nvCxnSpPr>
        <p:spPr>
          <a:xfrm>
            <a:off x="9359338" y="1720753"/>
            <a:ext cx="1080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9" name="熊大的PPT宝库65"/>
          <p:cNvSpPr txBox="1"/>
          <p:nvPr/>
        </p:nvSpPr>
        <p:spPr>
          <a:xfrm>
            <a:off x="8412420" y="1624539"/>
            <a:ext cx="769441"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cs typeface="+mn-ea"/>
                <a:sym typeface="+mn-lt"/>
              </a:rPr>
              <a:t>第三方平台</a:t>
            </a:r>
          </a:p>
        </p:txBody>
      </p:sp>
      <p:sp>
        <p:nvSpPr>
          <p:cNvPr id="90" name="熊大的PPT宝库66"/>
          <p:cNvSpPr/>
          <p:nvPr/>
        </p:nvSpPr>
        <p:spPr>
          <a:xfrm rot="10800000" flipV="1">
            <a:off x="3290318" y="1905163"/>
            <a:ext cx="6501687" cy="1104327"/>
          </a:xfrm>
          <a:prstGeom prst="ellipse">
            <a:avLst/>
          </a:prstGeom>
          <a:gradFill flip="none" rotWithShape="1">
            <a:gsLst>
              <a:gs pos="0">
                <a:schemeClr val="accent1">
                  <a:lumMod val="60000"/>
                  <a:lumOff val="40000"/>
                </a:schemeClr>
              </a:gs>
              <a:gs pos="51000">
                <a:schemeClr val="accent1">
                  <a:lumMod val="20000"/>
                  <a:lumOff val="80000"/>
                  <a:alpha val="0"/>
                </a:schemeClr>
              </a:gs>
            </a:gsLst>
            <a:lin ang="5400000" scaled="1"/>
            <a:tileRect/>
          </a:gradFill>
          <a:ln>
            <a:gradFill>
              <a:gsLst>
                <a:gs pos="0">
                  <a:schemeClr val="accent1">
                    <a:lumMod val="20000"/>
                    <a:lumOff val="80000"/>
                  </a:schemeClr>
                </a:gs>
                <a:gs pos="100000">
                  <a:schemeClr val="accent1">
                    <a:lumMod val="20000"/>
                    <a:lumOff val="80000"/>
                    <a:alpha val="0"/>
                  </a:schemeClr>
                </a:gs>
              </a:gsLst>
              <a:lin ang="5400000" scaled="1"/>
            </a:gradFill>
          </a:ln>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1" name="熊大的PPT宝库67"/>
          <p:cNvSpPr txBox="1"/>
          <p:nvPr/>
        </p:nvSpPr>
        <p:spPr>
          <a:xfrm>
            <a:off x="6082401" y="2068361"/>
            <a:ext cx="897682"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接口能力层</a:t>
            </a:r>
          </a:p>
        </p:txBody>
      </p:sp>
      <p:sp>
        <p:nvSpPr>
          <p:cNvPr id="92" name="熊大的PPT宝库68"/>
          <p:cNvSpPr/>
          <p:nvPr/>
        </p:nvSpPr>
        <p:spPr>
          <a:xfrm>
            <a:off x="2479998" y="2365148"/>
            <a:ext cx="1188000" cy="276998"/>
          </a:xfrm>
          <a:prstGeom prst="rect">
            <a:avLst/>
          </a:prstGeom>
          <a:no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3" name="熊大的PPT宝库69"/>
          <p:cNvSpPr/>
          <p:nvPr/>
        </p:nvSpPr>
        <p:spPr>
          <a:xfrm>
            <a:off x="3779109" y="2365148"/>
            <a:ext cx="1188000" cy="276998"/>
          </a:xfrm>
          <a:prstGeom prst="rect">
            <a:avLst/>
          </a:prstGeom>
          <a:no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4" name="熊大的PPT宝库70"/>
          <p:cNvSpPr/>
          <p:nvPr/>
        </p:nvSpPr>
        <p:spPr>
          <a:xfrm>
            <a:off x="5121274" y="2366011"/>
            <a:ext cx="1188000" cy="276998"/>
          </a:xfrm>
          <a:prstGeom prst="rect">
            <a:avLst/>
          </a:prstGeom>
          <a:no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5" name="熊大的PPT宝库71"/>
          <p:cNvSpPr/>
          <p:nvPr/>
        </p:nvSpPr>
        <p:spPr>
          <a:xfrm>
            <a:off x="6674207" y="2365148"/>
            <a:ext cx="1188000" cy="276998"/>
          </a:xfrm>
          <a:prstGeom prst="rect">
            <a:avLst/>
          </a:prstGeom>
          <a:no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6" name="熊大的PPT宝库72"/>
          <p:cNvSpPr/>
          <p:nvPr/>
        </p:nvSpPr>
        <p:spPr>
          <a:xfrm>
            <a:off x="7973318" y="2365148"/>
            <a:ext cx="1188000" cy="276998"/>
          </a:xfrm>
          <a:prstGeom prst="rect">
            <a:avLst/>
          </a:prstGeom>
          <a:no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7" name="熊大的PPT宝库73"/>
          <p:cNvSpPr/>
          <p:nvPr/>
        </p:nvSpPr>
        <p:spPr>
          <a:xfrm>
            <a:off x="9315483" y="2365148"/>
            <a:ext cx="1188000" cy="276998"/>
          </a:xfrm>
          <a:prstGeom prst="rect">
            <a:avLst/>
          </a:prstGeom>
          <a:no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1" name="熊大的PPT宝库74"/>
          <p:cNvSpPr txBox="1"/>
          <p:nvPr/>
        </p:nvSpPr>
        <p:spPr>
          <a:xfrm>
            <a:off x="2714926" y="2395925"/>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电商采购</a:t>
            </a:r>
          </a:p>
        </p:txBody>
      </p:sp>
      <p:sp>
        <p:nvSpPr>
          <p:cNvPr id="112" name="熊大的PPT宝库75"/>
          <p:cNvSpPr txBox="1"/>
          <p:nvPr/>
        </p:nvSpPr>
        <p:spPr>
          <a:xfrm>
            <a:off x="4014037" y="2395925"/>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专属商城</a:t>
            </a:r>
          </a:p>
        </p:txBody>
      </p:sp>
      <p:sp>
        <p:nvSpPr>
          <p:cNvPr id="113" name="熊大的PPT宝库76"/>
          <p:cNvSpPr txBox="1"/>
          <p:nvPr/>
        </p:nvSpPr>
        <p:spPr>
          <a:xfrm>
            <a:off x="5356202" y="2396788"/>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选品管理</a:t>
            </a:r>
          </a:p>
        </p:txBody>
      </p:sp>
      <p:sp>
        <p:nvSpPr>
          <p:cNvPr id="114" name="熊大的PPT宝库77"/>
          <p:cNvSpPr txBox="1"/>
          <p:nvPr/>
        </p:nvSpPr>
        <p:spPr>
          <a:xfrm>
            <a:off x="6819366" y="2395925"/>
            <a:ext cx="897682"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供应商资源</a:t>
            </a:r>
          </a:p>
        </p:txBody>
      </p:sp>
      <p:sp>
        <p:nvSpPr>
          <p:cNvPr id="115" name="熊大的PPT宝库78"/>
          <p:cNvSpPr txBox="1"/>
          <p:nvPr/>
        </p:nvSpPr>
        <p:spPr>
          <a:xfrm>
            <a:off x="8208246" y="2395925"/>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准入管理</a:t>
            </a:r>
          </a:p>
        </p:txBody>
      </p:sp>
      <p:sp>
        <p:nvSpPr>
          <p:cNvPr id="116" name="熊大的PPT宝库79"/>
          <p:cNvSpPr txBox="1"/>
          <p:nvPr/>
        </p:nvSpPr>
        <p:spPr>
          <a:xfrm>
            <a:off x="9550411" y="2396788"/>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风险雷达</a:t>
            </a:r>
          </a:p>
        </p:txBody>
      </p:sp>
      <p:sp>
        <p:nvSpPr>
          <p:cNvPr id="119" name="熊大的PPT宝库80"/>
          <p:cNvSpPr/>
          <p:nvPr/>
        </p:nvSpPr>
        <p:spPr>
          <a:xfrm>
            <a:off x="2479998" y="2722309"/>
            <a:ext cx="1188000" cy="276998"/>
          </a:xfrm>
          <a:prstGeom prst="rect">
            <a:avLst/>
          </a:prstGeom>
          <a:no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0" name="熊大的PPT宝库81"/>
          <p:cNvSpPr/>
          <p:nvPr/>
        </p:nvSpPr>
        <p:spPr>
          <a:xfrm>
            <a:off x="3779109" y="2722309"/>
            <a:ext cx="1188000" cy="276998"/>
          </a:xfrm>
          <a:prstGeom prst="rect">
            <a:avLst/>
          </a:prstGeom>
          <a:solidFill>
            <a:schemeClr val="accent1"/>
          </a:solid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1" name="熊大的PPT宝库82"/>
          <p:cNvSpPr/>
          <p:nvPr/>
        </p:nvSpPr>
        <p:spPr>
          <a:xfrm>
            <a:off x="5121274" y="2723172"/>
            <a:ext cx="1188000" cy="276998"/>
          </a:xfrm>
          <a:prstGeom prst="rect">
            <a:avLst/>
          </a:prstGeom>
          <a:no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2" name="熊大的PPT宝库83"/>
          <p:cNvSpPr/>
          <p:nvPr/>
        </p:nvSpPr>
        <p:spPr>
          <a:xfrm>
            <a:off x="6674207" y="2722309"/>
            <a:ext cx="1188000" cy="276998"/>
          </a:xfrm>
          <a:prstGeom prst="rect">
            <a:avLst/>
          </a:prstGeom>
          <a:no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3" name="熊大的PPT宝库84"/>
          <p:cNvSpPr/>
          <p:nvPr/>
        </p:nvSpPr>
        <p:spPr>
          <a:xfrm>
            <a:off x="7973318" y="2722309"/>
            <a:ext cx="1188000" cy="276998"/>
          </a:xfrm>
          <a:prstGeom prst="rect">
            <a:avLst/>
          </a:prstGeom>
          <a:solidFill>
            <a:schemeClr val="accent1"/>
          </a:solid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4" name="熊大的PPT宝库85"/>
          <p:cNvSpPr/>
          <p:nvPr/>
        </p:nvSpPr>
        <p:spPr>
          <a:xfrm>
            <a:off x="9315483" y="2722309"/>
            <a:ext cx="1188000" cy="276998"/>
          </a:xfrm>
          <a:prstGeom prst="rect">
            <a:avLst/>
          </a:prstGeom>
          <a:no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5" name="熊大的PPT宝库86"/>
          <p:cNvSpPr txBox="1"/>
          <p:nvPr/>
        </p:nvSpPr>
        <p:spPr>
          <a:xfrm>
            <a:off x="2714926" y="2753086"/>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售后管理</a:t>
            </a:r>
          </a:p>
        </p:txBody>
      </p:sp>
      <p:sp>
        <p:nvSpPr>
          <p:cNvPr id="126" name="熊大的PPT宝库87"/>
          <p:cNvSpPr txBox="1"/>
          <p:nvPr/>
        </p:nvSpPr>
        <p:spPr>
          <a:xfrm>
            <a:off x="4014037" y="2753086"/>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cs typeface="+mn-ea"/>
                <a:sym typeface="+mn-lt"/>
              </a:rPr>
              <a:t>商城体系</a:t>
            </a:r>
          </a:p>
        </p:txBody>
      </p:sp>
      <p:sp>
        <p:nvSpPr>
          <p:cNvPr id="127" name="熊大的PPT宝库88"/>
          <p:cNvSpPr txBox="1"/>
          <p:nvPr/>
        </p:nvSpPr>
        <p:spPr>
          <a:xfrm>
            <a:off x="5356202" y="2753949"/>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下单管理</a:t>
            </a:r>
          </a:p>
        </p:txBody>
      </p:sp>
      <p:sp>
        <p:nvSpPr>
          <p:cNvPr id="128" name="熊大的PPT宝库89"/>
          <p:cNvSpPr txBox="1"/>
          <p:nvPr/>
        </p:nvSpPr>
        <p:spPr>
          <a:xfrm>
            <a:off x="6909135" y="2753086"/>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外部接入</a:t>
            </a:r>
          </a:p>
        </p:txBody>
      </p:sp>
      <p:sp>
        <p:nvSpPr>
          <p:cNvPr id="129" name="熊大的PPT宝库90"/>
          <p:cNvSpPr txBox="1"/>
          <p:nvPr/>
        </p:nvSpPr>
        <p:spPr>
          <a:xfrm>
            <a:off x="8118477" y="2753086"/>
            <a:ext cx="897682"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cs typeface="+mn-ea"/>
                <a:sym typeface="+mn-lt"/>
              </a:rPr>
              <a:t>供应商体系</a:t>
            </a:r>
          </a:p>
        </p:txBody>
      </p:sp>
      <p:sp>
        <p:nvSpPr>
          <p:cNvPr id="130" name="熊大的PPT宝库91"/>
          <p:cNvSpPr txBox="1"/>
          <p:nvPr/>
        </p:nvSpPr>
        <p:spPr>
          <a:xfrm>
            <a:off x="9550411" y="2753949"/>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采买考评</a:t>
            </a:r>
          </a:p>
        </p:txBody>
      </p:sp>
      <p:sp>
        <p:nvSpPr>
          <p:cNvPr id="132" name="熊大的PPT宝库92"/>
          <p:cNvSpPr/>
          <p:nvPr/>
        </p:nvSpPr>
        <p:spPr>
          <a:xfrm>
            <a:off x="2479998" y="3079471"/>
            <a:ext cx="1188000" cy="276998"/>
          </a:xfrm>
          <a:prstGeom prst="rect">
            <a:avLst/>
          </a:prstGeom>
          <a:no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3" name="熊大的PPT宝库93"/>
          <p:cNvSpPr/>
          <p:nvPr/>
        </p:nvSpPr>
        <p:spPr>
          <a:xfrm>
            <a:off x="3779109" y="3079471"/>
            <a:ext cx="1188000" cy="276998"/>
          </a:xfrm>
          <a:prstGeom prst="rect">
            <a:avLst/>
          </a:prstGeom>
          <a:no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4" name="熊大的PPT宝库94"/>
          <p:cNvSpPr/>
          <p:nvPr/>
        </p:nvSpPr>
        <p:spPr>
          <a:xfrm>
            <a:off x="5121274" y="3080334"/>
            <a:ext cx="1188000" cy="276998"/>
          </a:xfrm>
          <a:prstGeom prst="rect">
            <a:avLst/>
          </a:prstGeom>
          <a:no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5" name="熊大的PPT宝库95"/>
          <p:cNvSpPr/>
          <p:nvPr/>
        </p:nvSpPr>
        <p:spPr>
          <a:xfrm>
            <a:off x="6674207" y="3079471"/>
            <a:ext cx="1188000" cy="276998"/>
          </a:xfrm>
          <a:prstGeom prst="rect">
            <a:avLst/>
          </a:prstGeom>
          <a:no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6" name="熊大的PPT宝库96"/>
          <p:cNvSpPr/>
          <p:nvPr/>
        </p:nvSpPr>
        <p:spPr>
          <a:xfrm>
            <a:off x="7973318" y="3079471"/>
            <a:ext cx="1188000" cy="276998"/>
          </a:xfrm>
          <a:prstGeom prst="rect">
            <a:avLst/>
          </a:prstGeom>
          <a:no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7" name="熊大的PPT宝库97"/>
          <p:cNvSpPr/>
          <p:nvPr/>
        </p:nvSpPr>
        <p:spPr>
          <a:xfrm>
            <a:off x="9315483" y="3079471"/>
            <a:ext cx="1188000" cy="276998"/>
          </a:xfrm>
          <a:prstGeom prst="rect">
            <a:avLst/>
          </a:prstGeom>
          <a:noFill/>
          <a:ln>
            <a:solidFill>
              <a:schemeClr val="bg1">
                <a:lumMod val="85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8" name="熊大的PPT宝库98"/>
          <p:cNvSpPr txBox="1"/>
          <p:nvPr/>
        </p:nvSpPr>
        <p:spPr>
          <a:xfrm>
            <a:off x="2714926" y="3110248"/>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库存协同</a:t>
            </a:r>
          </a:p>
        </p:txBody>
      </p:sp>
      <p:sp>
        <p:nvSpPr>
          <p:cNvPr id="139" name="熊大的PPT宝库99"/>
          <p:cNvSpPr txBox="1"/>
          <p:nvPr/>
        </p:nvSpPr>
        <p:spPr>
          <a:xfrm>
            <a:off x="4014037" y="3110248"/>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商城报表</a:t>
            </a:r>
          </a:p>
        </p:txBody>
      </p:sp>
      <p:sp>
        <p:nvSpPr>
          <p:cNvPr id="140" name="熊大的PPT宝库100"/>
          <p:cNvSpPr txBox="1"/>
          <p:nvPr/>
        </p:nvSpPr>
        <p:spPr>
          <a:xfrm>
            <a:off x="5356202" y="3111111"/>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移动商城</a:t>
            </a:r>
          </a:p>
        </p:txBody>
      </p:sp>
      <p:sp>
        <p:nvSpPr>
          <p:cNvPr id="141" name="熊大的PPT宝库101"/>
          <p:cNvSpPr txBox="1"/>
          <p:nvPr/>
        </p:nvSpPr>
        <p:spPr>
          <a:xfrm>
            <a:off x="6909135" y="3110248"/>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使用考评</a:t>
            </a:r>
          </a:p>
        </p:txBody>
      </p:sp>
      <p:sp>
        <p:nvSpPr>
          <p:cNvPr id="142" name="熊大的PPT宝库102"/>
          <p:cNvSpPr txBox="1"/>
          <p:nvPr/>
        </p:nvSpPr>
        <p:spPr>
          <a:xfrm>
            <a:off x="8208246" y="3110248"/>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考评奖惩</a:t>
            </a:r>
          </a:p>
        </p:txBody>
      </p:sp>
      <p:sp>
        <p:nvSpPr>
          <p:cNvPr id="143" name="熊大的PPT宝库103"/>
          <p:cNvSpPr txBox="1"/>
          <p:nvPr/>
        </p:nvSpPr>
        <p:spPr>
          <a:xfrm>
            <a:off x="9640179" y="3111111"/>
            <a:ext cx="538609"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仪表盘</a:t>
            </a:r>
          </a:p>
        </p:txBody>
      </p:sp>
      <p:sp>
        <p:nvSpPr>
          <p:cNvPr id="144" name="熊大的PPT宝库104"/>
          <p:cNvSpPr/>
          <p:nvPr/>
        </p:nvSpPr>
        <p:spPr>
          <a:xfrm>
            <a:off x="5242537" y="1791051"/>
            <a:ext cx="459834" cy="434834"/>
          </a:xfrm>
          <a:prstGeom prst="upArrow">
            <a:avLst/>
          </a:prstGeom>
          <a:gradFill>
            <a:gsLst>
              <a:gs pos="31000">
                <a:schemeClr val="accent1"/>
              </a:gs>
              <a:gs pos="100000">
                <a:schemeClr val="accent1">
                  <a:lumMod val="20000"/>
                  <a:lumOff val="80000"/>
                  <a:alpha val="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46" name="熊大的PPT宝库105"/>
          <p:cNvSpPr/>
          <p:nvPr/>
        </p:nvSpPr>
        <p:spPr>
          <a:xfrm>
            <a:off x="7926147" y="1791051"/>
            <a:ext cx="459834" cy="434834"/>
          </a:xfrm>
          <a:prstGeom prst="upArrow">
            <a:avLst/>
          </a:prstGeom>
          <a:gradFill>
            <a:gsLst>
              <a:gs pos="31000">
                <a:schemeClr val="accent1"/>
              </a:gs>
              <a:gs pos="100000">
                <a:schemeClr val="accent1">
                  <a:lumMod val="20000"/>
                  <a:lumOff val="80000"/>
                  <a:alpha val="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47" name="熊大的PPT宝库106"/>
          <p:cNvSpPr/>
          <p:nvPr/>
        </p:nvSpPr>
        <p:spPr>
          <a:xfrm flipV="1">
            <a:off x="4572355" y="1866754"/>
            <a:ext cx="459834" cy="434834"/>
          </a:xfrm>
          <a:prstGeom prst="upArrow">
            <a:avLst/>
          </a:prstGeom>
          <a:gradFill>
            <a:gsLst>
              <a:gs pos="31000">
                <a:schemeClr val="accent1"/>
              </a:gs>
              <a:gs pos="100000">
                <a:schemeClr val="accent1">
                  <a:lumMod val="20000"/>
                  <a:lumOff val="80000"/>
                  <a:alpha val="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48" name="熊大的PPT宝库107"/>
          <p:cNvSpPr/>
          <p:nvPr/>
        </p:nvSpPr>
        <p:spPr>
          <a:xfrm flipV="1">
            <a:off x="7242394" y="1866126"/>
            <a:ext cx="459834" cy="434834"/>
          </a:xfrm>
          <a:prstGeom prst="upArrow">
            <a:avLst/>
          </a:prstGeom>
          <a:gradFill>
            <a:gsLst>
              <a:gs pos="31000">
                <a:schemeClr val="accent1"/>
              </a:gs>
              <a:gs pos="100000">
                <a:schemeClr val="accent1">
                  <a:lumMod val="20000"/>
                  <a:lumOff val="80000"/>
                  <a:alpha val="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72" name="熊大的PPT宝库108"/>
          <p:cNvSpPr txBox="1"/>
          <p:nvPr/>
        </p:nvSpPr>
        <p:spPr>
          <a:xfrm>
            <a:off x="2511796" y="3508564"/>
            <a:ext cx="615553"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招标项目</a:t>
            </a:r>
          </a:p>
        </p:txBody>
      </p:sp>
      <p:sp>
        <p:nvSpPr>
          <p:cNvPr id="173" name="熊大的PPT宝库109"/>
          <p:cNvSpPr txBox="1"/>
          <p:nvPr/>
        </p:nvSpPr>
        <p:spPr>
          <a:xfrm>
            <a:off x="3174306" y="3508564"/>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比价项目</a:t>
            </a:r>
          </a:p>
        </p:txBody>
      </p:sp>
      <p:sp>
        <p:nvSpPr>
          <p:cNvPr id="174" name="熊大的PPT宝库110"/>
          <p:cNvSpPr txBox="1"/>
          <p:nvPr/>
        </p:nvSpPr>
        <p:spPr>
          <a:xfrm>
            <a:off x="3836816" y="3508564"/>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费用管理</a:t>
            </a:r>
          </a:p>
        </p:txBody>
      </p:sp>
      <p:sp>
        <p:nvSpPr>
          <p:cNvPr id="175" name="熊大的PPT宝库111"/>
          <p:cNvSpPr txBox="1"/>
          <p:nvPr/>
        </p:nvSpPr>
        <p:spPr>
          <a:xfrm>
            <a:off x="4499326" y="3508564"/>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成本结构</a:t>
            </a:r>
          </a:p>
        </p:txBody>
      </p:sp>
      <p:sp>
        <p:nvSpPr>
          <p:cNvPr id="176" name="熊大的PPT宝库112"/>
          <p:cNvSpPr txBox="1"/>
          <p:nvPr/>
        </p:nvSpPr>
        <p:spPr>
          <a:xfrm>
            <a:off x="5161836" y="3508564"/>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价格实库</a:t>
            </a:r>
          </a:p>
        </p:txBody>
      </p:sp>
      <p:sp>
        <p:nvSpPr>
          <p:cNvPr id="177" name="熊大的PPT宝库113"/>
          <p:cNvSpPr txBox="1"/>
          <p:nvPr/>
        </p:nvSpPr>
        <p:spPr>
          <a:xfrm>
            <a:off x="5824347" y="3508564"/>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外部价格</a:t>
            </a:r>
          </a:p>
        </p:txBody>
      </p:sp>
      <p:sp>
        <p:nvSpPr>
          <p:cNvPr id="178" name="熊大的PPT宝库114"/>
          <p:cNvSpPr txBox="1"/>
          <p:nvPr/>
        </p:nvSpPr>
        <p:spPr>
          <a:xfrm>
            <a:off x="6659604" y="3495972"/>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合同管理</a:t>
            </a:r>
          </a:p>
        </p:txBody>
      </p:sp>
      <p:sp>
        <p:nvSpPr>
          <p:cNvPr id="179" name="熊大的PPT宝库115"/>
          <p:cNvSpPr txBox="1"/>
          <p:nvPr/>
        </p:nvSpPr>
        <p:spPr>
          <a:xfrm>
            <a:off x="7322114" y="3495972"/>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计划管理</a:t>
            </a:r>
          </a:p>
        </p:txBody>
      </p:sp>
      <p:sp>
        <p:nvSpPr>
          <p:cNvPr id="180" name="熊大的PPT宝库116"/>
          <p:cNvSpPr txBox="1"/>
          <p:nvPr/>
        </p:nvSpPr>
        <p:spPr>
          <a:xfrm>
            <a:off x="7984624" y="3495972"/>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电子签章</a:t>
            </a:r>
          </a:p>
        </p:txBody>
      </p:sp>
      <p:sp>
        <p:nvSpPr>
          <p:cNvPr id="181" name="熊大的PPT宝库117"/>
          <p:cNvSpPr txBox="1"/>
          <p:nvPr/>
        </p:nvSpPr>
        <p:spPr>
          <a:xfrm>
            <a:off x="8647134" y="3495972"/>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管理入口</a:t>
            </a:r>
          </a:p>
        </p:txBody>
      </p:sp>
      <p:sp>
        <p:nvSpPr>
          <p:cNvPr id="182" name="熊大的PPT宝库118"/>
          <p:cNvSpPr txBox="1"/>
          <p:nvPr/>
        </p:nvSpPr>
        <p:spPr>
          <a:xfrm>
            <a:off x="9309644" y="3495972"/>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审批管理</a:t>
            </a:r>
          </a:p>
        </p:txBody>
      </p:sp>
      <p:sp>
        <p:nvSpPr>
          <p:cNvPr id="183" name="熊大的PPT宝库119"/>
          <p:cNvSpPr txBox="1"/>
          <p:nvPr/>
        </p:nvSpPr>
        <p:spPr>
          <a:xfrm>
            <a:off x="9972155" y="3495972"/>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报表统计</a:t>
            </a:r>
          </a:p>
        </p:txBody>
      </p:sp>
      <p:sp>
        <p:nvSpPr>
          <p:cNvPr id="184" name="熊大的PPT宝库120"/>
          <p:cNvSpPr txBox="1"/>
          <p:nvPr/>
        </p:nvSpPr>
        <p:spPr>
          <a:xfrm>
            <a:off x="2512451" y="3818778"/>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竞价项目</a:t>
            </a:r>
          </a:p>
        </p:txBody>
      </p:sp>
      <p:sp>
        <p:nvSpPr>
          <p:cNvPr id="185" name="熊大的PPT宝库121"/>
          <p:cNvSpPr txBox="1"/>
          <p:nvPr/>
        </p:nvSpPr>
        <p:spPr>
          <a:xfrm>
            <a:off x="3174830" y="3818778"/>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协议采购</a:t>
            </a:r>
          </a:p>
        </p:txBody>
      </p:sp>
      <p:sp>
        <p:nvSpPr>
          <p:cNvPr id="186" name="熊大的PPT宝库122"/>
          <p:cNvSpPr txBox="1"/>
          <p:nvPr/>
        </p:nvSpPr>
        <p:spPr>
          <a:xfrm>
            <a:off x="3837209" y="3818778"/>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专家管理</a:t>
            </a:r>
          </a:p>
        </p:txBody>
      </p:sp>
      <p:sp>
        <p:nvSpPr>
          <p:cNvPr id="187" name="熊大的PPT宝库123"/>
          <p:cNvSpPr txBox="1"/>
          <p:nvPr/>
        </p:nvSpPr>
        <p:spPr>
          <a:xfrm>
            <a:off x="4499588" y="3818778"/>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框架调价</a:t>
            </a:r>
          </a:p>
        </p:txBody>
      </p:sp>
      <p:sp>
        <p:nvSpPr>
          <p:cNvPr id="188" name="熊大的PPT宝库124"/>
          <p:cNvSpPr txBox="1"/>
          <p:nvPr/>
        </p:nvSpPr>
        <p:spPr>
          <a:xfrm>
            <a:off x="5161967" y="3818778"/>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历史价格</a:t>
            </a:r>
          </a:p>
        </p:txBody>
      </p:sp>
      <p:sp>
        <p:nvSpPr>
          <p:cNvPr id="189" name="熊大的PPT宝库125"/>
          <p:cNvSpPr txBox="1"/>
          <p:nvPr/>
        </p:nvSpPr>
        <p:spPr>
          <a:xfrm>
            <a:off x="5824347" y="3818778"/>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价格分析</a:t>
            </a:r>
          </a:p>
        </p:txBody>
      </p:sp>
      <p:sp>
        <p:nvSpPr>
          <p:cNvPr id="190" name="熊大的PPT宝库126"/>
          <p:cNvSpPr txBox="1"/>
          <p:nvPr/>
        </p:nvSpPr>
        <p:spPr>
          <a:xfrm>
            <a:off x="6659604" y="3818778"/>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对账协同</a:t>
            </a:r>
          </a:p>
        </p:txBody>
      </p:sp>
      <p:sp>
        <p:nvSpPr>
          <p:cNvPr id="191" name="熊大的PPT宝库127"/>
          <p:cNvSpPr txBox="1"/>
          <p:nvPr/>
        </p:nvSpPr>
        <p:spPr>
          <a:xfrm>
            <a:off x="7327050" y="3818778"/>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订单协同</a:t>
            </a:r>
          </a:p>
        </p:txBody>
      </p:sp>
      <p:sp>
        <p:nvSpPr>
          <p:cNvPr id="192" name="熊大的PPT宝库128"/>
          <p:cNvSpPr txBox="1"/>
          <p:nvPr/>
        </p:nvSpPr>
        <p:spPr>
          <a:xfrm>
            <a:off x="7984624" y="3818778"/>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发票协同</a:t>
            </a:r>
          </a:p>
        </p:txBody>
      </p:sp>
      <p:sp>
        <p:nvSpPr>
          <p:cNvPr id="193" name="熊大的PPT宝库129"/>
          <p:cNvSpPr txBox="1"/>
          <p:nvPr/>
        </p:nvSpPr>
        <p:spPr>
          <a:xfrm>
            <a:off x="8614616" y="3818778"/>
            <a:ext cx="641201" cy="153888"/>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329D"/>
                </a:solidFill>
                <a:effectLst/>
                <a:uLnTx/>
                <a:uFillTx/>
                <a:cs typeface="+mn-ea"/>
                <a:sym typeface="+mn-lt"/>
              </a:rPr>
              <a:t>数据仪表盘</a:t>
            </a:r>
          </a:p>
        </p:txBody>
      </p:sp>
      <p:sp>
        <p:nvSpPr>
          <p:cNvPr id="194" name="熊大的PPT宝库130"/>
          <p:cNvSpPr txBox="1"/>
          <p:nvPr/>
        </p:nvSpPr>
        <p:spPr>
          <a:xfrm>
            <a:off x="9276581" y="3818778"/>
            <a:ext cx="641201" cy="153888"/>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329D"/>
                </a:solidFill>
                <a:effectLst/>
                <a:uLnTx/>
                <a:uFillTx/>
                <a:cs typeface="+mn-ea"/>
                <a:sym typeface="+mn-lt"/>
              </a:rPr>
              <a:t>主数据管理</a:t>
            </a:r>
          </a:p>
        </p:txBody>
      </p:sp>
      <p:sp>
        <p:nvSpPr>
          <p:cNvPr id="195" name="熊大的PPT宝库131"/>
          <p:cNvSpPr txBox="1"/>
          <p:nvPr/>
        </p:nvSpPr>
        <p:spPr>
          <a:xfrm>
            <a:off x="9972155" y="3818778"/>
            <a:ext cx="564257" cy="1692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329D"/>
                </a:solidFill>
                <a:effectLst/>
                <a:uLnTx/>
                <a:uFillTx/>
                <a:cs typeface="+mn-ea"/>
                <a:sym typeface="+mn-lt"/>
              </a:rPr>
              <a:t>监管审计</a:t>
            </a:r>
          </a:p>
        </p:txBody>
      </p:sp>
      <p:cxnSp>
        <p:nvCxnSpPr>
          <p:cNvPr id="197" name="熊大的PPT宝库132"/>
          <p:cNvCxnSpPr/>
          <p:nvPr/>
        </p:nvCxnSpPr>
        <p:spPr>
          <a:xfrm>
            <a:off x="2459531" y="3551326"/>
            <a:ext cx="0" cy="504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98" name="熊大的PPT宝库133"/>
          <p:cNvCxnSpPr/>
          <p:nvPr/>
        </p:nvCxnSpPr>
        <p:spPr>
          <a:xfrm>
            <a:off x="3120848" y="3492334"/>
            <a:ext cx="0" cy="504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99" name="熊大的PPT宝库134"/>
          <p:cNvCxnSpPr/>
          <p:nvPr/>
        </p:nvCxnSpPr>
        <p:spPr>
          <a:xfrm>
            <a:off x="3782165" y="3492334"/>
            <a:ext cx="0" cy="504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00" name="熊大的PPT宝库135"/>
          <p:cNvCxnSpPr/>
          <p:nvPr/>
        </p:nvCxnSpPr>
        <p:spPr>
          <a:xfrm>
            <a:off x="4443482" y="3492334"/>
            <a:ext cx="0" cy="504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01" name="熊大的PPT宝库136"/>
          <p:cNvCxnSpPr/>
          <p:nvPr/>
        </p:nvCxnSpPr>
        <p:spPr>
          <a:xfrm>
            <a:off x="5104799" y="3492334"/>
            <a:ext cx="0" cy="504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02" name="熊大的PPT宝库137"/>
          <p:cNvCxnSpPr/>
          <p:nvPr/>
        </p:nvCxnSpPr>
        <p:spPr>
          <a:xfrm>
            <a:off x="5766116" y="3492334"/>
            <a:ext cx="0" cy="504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03" name="熊大的PPT宝库138"/>
          <p:cNvCxnSpPr/>
          <p:nvPr/>
        </p:nvCxnSpPr>
        <p:spPr>
          <a:xfrm>
            <a:off x="6427435" y="3492334"/>
            <a:ext cx="0" cy="504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04" name="熊大的PPT宝库139"/>
          <p:cNvCxnSpPr/>
          <p:nvPr/>
        </p:nvCxnSpPr>
        <p:spPr>
          <a:xfrm>
            <a:off x="6597672" y="3492334"/>
            <a:ext cx="0" cy="504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05" name="熊大的PPT宝库140"/>
          <p:cNvCxnSpPr/>
          <p:nvPr/>
        </p:nvCxnSpPr>
        <p:spPr>
          <a:xfrm>
            <a:off x="10581805" y="3551326"/>
            <a:ext cx="0" cy="504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06" name="熊大的PPT宝库141"/>
          <p:cNvCxnSpPr/>
          <p:nvPr/>
        </p:nvCxnSpPr>
        <p:spPr>
          <a:xfrm>
            <a:off x="7261694" y="3492334"/>
            <a:ext cx="0" cy="504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07" name="熊大的PPT宝库142"/>
          <p:cNvCxnSpPr/>
          <p:nvPr/>
        </p:nvCxnSpPr>
        <p:spPr>
          <a:xfrm>
            <a:off x="7925716" y="3492334"/>
            <a:ext cx="0" cy="504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08" name="熊大的PPT宝库143"/>
          <p:cNvCxnSpPr/>
          <p:nvPr/>
        </p:nvCxnSpPr>
        <p:spPr>
          <a:xfrm>
            <a:off x="8589738" y="3492334"/>
            <a:ext cx="0" cy="504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09" name="熊大的PPT宝库144"/>
          <p:cNvCxnSpPr/>
          <p:nvPr/>
        </p:nvCxnSpPr>
        <p:spPr>
          <a:xfrm>
            <a:off x="9253760" y="3492334"/>
            <a:ext cx="0" cy="504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10" name="熊大的PPT宝库145"/>
          <p:cNvCxnSpPr/>
          <p:nvPr/>
        </p:nvCxnSpPr>
        <p:spPr>
          <a:xfrm>
            <a:off x="9917782" y="3492334"/>
            <a:ext cx="0" cy="50400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nvGrpSpPr>
          <p:cNvPr id="227" name="熊大的PPT宝库146"/>
          <p:cNvGrpSpPr/>
          <p:nvPr/>
        </p:nvGrpSpPr>
        <p:grpSpPr>
          <a:xfrm>
            <a:off x="2616128" y="4141000"/>
            <a:ext cx="1761750" cy="631106"/>
            <a:chOff x="2660138" y="4185478"/>
            <a:chExt cx="1761750" cy="631106"/>
          </a:xfrm>
        </p:grpSpPr>
        <p:sp>
          <p:nvSpPr>
            <p:cNvPr id="211" name="熊大的PPT宝库146-1"/>
            <p:cNvSpPr/>
            <p:nvPr/>
          </p:nvSpPr>
          <p:spPr>
            <a:xfrm>
              <a:off x="2660138" y="4224215"/>
              <a:ext cx="1761750" cy="592369"/>
            </a:xfrm>
            <a:prstGeom prst="flowChartMagneticDisk">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16" name="熊大的PPT宝库146-2"/>
            <p:cNvSpPr/>
            <p:nvPr/>
          </p:nvSpPr>
          <p:spPr>
            <a:xfrm>
              <a:off x="2660813" y="4185478"/>
              <a:ext cx="1760400" cy="276998"/>
            </a:xfrm>
            <a:prstGeom prst="ellipse">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pSp>
      <p:grpSp>
        <p:nvGrpSpPr>
          <p:cNvPr id="228" name="熊大的PPT宝库147"/>
          <p:cNvGrpSpPr/>
          <p:nvPr/>
        </p:nvGrpSpPr>
        <p:grpSpPr>
          <a:xfrm>
            <a:off x="8677920" y="4141000"/>
            <a:ext cx="1761750" cy="631106"/>
            <a:chOff x="8721930" y="4185478"/>
            <a:chExt cx="1761750" cy="631106"/>
          </a:xfrm>
        </p:grpSpPr>
        <p:sp>
          <p:nvSpPr>
            <p:cNvPr id="219" name="熊大的PPT宝库147-1"/>
            <p:cNvSpPr/>
            <p:nvPr/>
          </p:nvSpPr>
          <p:spPr>
            <a:xfrm>
              <a:off x="8721930" y="4224215"/>
              <a:ext cx="1761750" cy="592369"/>
            </a:xfrm>
            <a:prstGeom prst="flowChartMagneticDisk">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20" name="熊大的PPT宝库147-2"/>
            <p:cNvSpPr/>
            <p:nvPr/>
          </p:nvSpPr>
          <p:spPr>
            <a:xfrm>
              <a:off x="8722605" y="4185478"/>
              <a:ext cx="1760400" cy="276998"/>
            </a:xfrm>
            <a:prstGeom prst="ellipse">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pSp>
      <p:grpSp>
        <p:nvGrpSpPr>
          <p:cNvPr id="226" name="熊大的PPT宝库148"/>
          <p:cNvGrpSpPr/>
          <p:nvPr/>
        </p:nvGrpSpPr>
        <p:grpSpPr>
          <a:xfrm>
            <a:off x="4636725" y="4141000"/>
            <a:ext cx="1761750" cy="631106"/>
            <a:chOff x="4620773" y="4185478"/>
            <a:chExt cx="1761750" cy="631106"/>
          </a:xfrm>
        </p:grpSpPr>
        <p:sp>
          <p:nvSpPr>
            <p:cNvPr id="221" name="熊大的PPT宝库148-1"/>
            <p:cNvSpPr/>
            <p:nvPr/>
          </p:nvSpPr>
          <p:spPr>
            <a:xfrm>
              <a:off x="4620773" y="4224215"/>
              <a:ext cx="1761750" cy="592369"/>
            </a:xfrm>
            <a:prstGeom prst="flowChartMagneticDisk">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22" name="熊大的PPT宝库148-2"/>
            <p:cNvSpPr/>
            <p:nvPr/>
          </p:nvSpPr>
          <p:spPr>
            <a:xfrm>
              <a:off x="4621448" y="4185478"/>
              <a:ext cx="1760400" cy="276998"/>
            </a:xfrm>
            <a:prstGeom prst="ellipse">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pSp>
      <p:grpSp>
        <p:nvGrpSpPr>
          <p:cNvPr id="225" name="熊大的PPT宝库149"/>
          <p:cNvGrpSpPr/>
          <p:nvPr/>
        </p:nvGrpSpPr>
        <p:grpSpPr>
          <a:xfrm>
            <a:off x="6657322" y="4141000"/>
            <a:ext cx="1761750" cy="631106"/>
            <a:chOff x="6476947" y="4185478"/>
            <a:chExt cx="1761750" cy="631106"/>
          </a:xfrm>
        </p:grpSpPr>
        <p:sp>
          <p:nvSpPr>
            <p:cNvPr id="223" name="熊大的PPT宝库149-1"/>
            <p:cNvSpPr/>
            <p:nvPr/>
          </p:nvSpPr>
          <p:spPr>
            <a:xfrm>
              <a:off x="6476947" y="4224215"/>
              <a:ext cx="1761750" cy="592369"/>
            </a:xfrm>
            <a:prstGeom prst="flowChartMagneticDisk">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24" name="熊大的PPT宝库149-2"/>
            <p:cNvSpPr/>
            <p:nvPr/>
          </p:nvSpPr>
          <p:spPr>
            <a:xfrm>
              <a:off x="6477622" y="4185478"/>
              <a:ext cx="1760400" cy="276998"/>
            </a:xfrm>
            <a:prstGeom prst="ellipse">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pSp>
      <p:sp>
        <p:nvSpPr>
          <p:cNvPr id="229" name="熊大的PPT宝库150"/>
          <p:cNvSpPr txBox="1"/>
          <p:nvPr/>
        </p:nvSpPr>
        <p:spPr>
          <a:xfrm>
            <a:off x="3035338" y="4461492"/>
            <a:ext cx="923330"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cs typeface="+mn-ea"/>
                <a:sym typeface="+mn-lt"/>
              </a:rPr>
              <a:t>采购方式</a:t>
            </a:r>
          </a:p>
        </p:txBody>
      </p:sp>
      <p:sp>
        <p:nvSpPr>
          <p:cNvPr id="230" name="熊大的PPT宝库151"/>
          <p:cNvSpPr txBox="1"/>
          <p:nvPr/>
        </p:nvSpPr>
        <p:spPr>
          <a:xfrm>
            <a:off x="5055935" y="4461492"/>
            <a:ext cx="923330"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cs typeface="+mn-ea"/>
                <a:sym typeface="+mn-lt"/>
              </a:rPr>
              <a:t>价格体系</a:t>
            </a:r>
          </a:p>
        </p:txBody>
      </p:sp>
      <p:sp>
        <p:nvSpPr>
          <p:cNvPr id="231" name="熊大的PPT宝库152"/>
          <p:cNvSpPr txBox="1"/>
          <p:nvPr/>
        </p:nvSpPr>
        <p:spPr>
          <a:xfrm>
            <a:off x="7076532" y="4461492"/>
            <a:ext cx="923330"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cs typeface="+mn-ea"/>
                <a:sym typeface="+mn-lt"/>
              </a:rPr>
              <a:t>采后协同</a:t>
            </a:r>
          </a:p>
        </p:txBody>
      </p:sp>
      <p:sp>
        <p:nvSpPr>
          <p:cNvPr id="232" name="熊大的PPT宝库153"/>
          <p:cNvSpPr txBox="1"/>
          <p:nvPr/>
        </p:nvSpPr>
        <p:spPr>
          <a:xfrm>
            <a:off x="9212547" y="4461492"/>
            <a:ext cx="692497" cy="276999"/>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cs typeface="+mn-ea"/>
                <a:sym typeface="+mn-lt"/>
              </a:rPr>
              <a:t>驾驶舱</a:t>
            </a:r>
          </a:p>
        </p:txBody>
      </p:sp>
      <p:sp>
        <p:nvSpPr>
          <p:cNvPr id="234" name="熊大的PPT宝库154"/>
          <p:cNvSpPr/>
          <p:nvPr/>
        </p:nvSpPr>
        <p:spPr>
          <a:xfrm>
            <a:off x="5637463" y="5021595"/>
            <a:ext cx="377052" cy="356553"/>
          </a:xfrm>
          <a:prstGeom prst="upArrow">
            <a:avLst/>
          </a:prstGeom>
          <a:gradFill>
            <a:gsLst>
              <a:gs pos="31000">
                <a:schemeClr val="accent1"/>
              </a:gs>
              <a:gs pos="100000">
                <a:schemeClr val="accent1">
                  <a:lumMod val="20000"/>
                  <a:lumOff val="80000"/>
                  <a:alpha val="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35" name="熊大的PPT宝库155"/>
          <p:cNvSpPr/>
          <p:nvPr/>
        </p:nvSpPr>
        <p:spPr>
          <a:xfrm>
            <a:off x="8180257" y="5021595"/>
            <a:ext cx="377052" cy="356553"/>
          </a:xfrm>
          <a:prstGeom prst="upArrow">
            <a:avLst/>
          </a:prstGeom>
          <a:gradFill>
            <a:gsLst>
              <a:gs pos="31000">
                <a:schemeClr val="accent1"/>
              </a:gs>
              <a:gs pos="100000">
                <a:schemeClr val="accent1">
                  <a:lumMod val="20000"/>
                  <a:lumOff val="80000"/>
                  <a:alpha val="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36" name="熊大的PPT宝库156"/>
          <p:cNvSpPr/>
          <p:nvPr/>
        </p:nvSpPr>
        <p:spPr>
          <a:xfrm>
            <a:off x="9451653" y="4848479"/>
            <a:ext cx="377052" cy="356553"/>
          </a:xfrm>
          <a:prstGeom prst="upArrow">
            <a:avLst/>
          </a:prstGeom>
          <a:gradFill>
            <a:gsLst>
              <a:gs pos="31000">
                <a:schemeClr val="accent1">
                  <a:alpha val="37000"/>
                </a:schemeClr>
              </a:gs>
              <a:gs pos="100000">
                <a:schemeClr val="accent1">
                  <a:lumMod val="20000"/>
                  <a:lumOff val="80000"/>
                  <a:alpha val="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37" name="熊大的PPT宝库157"/>
          <p:cNvSpPr/>
          <p:nvPr/>
        </p:nvSpPr>
        <p:spPr>
          <a:xfrm>
            <a:off x="3094669" y="5021595"/>
            <a:ext cx="377052" cy="356553"/>
          </a:xfrm>
          <a:prstGeom prst="upArrow">
            <a:avLst/>
          </a:prstGeom>
          <a:gradFill>
            <a:gsLst>
              <a:gs pos="31000">
                <a:schemeClr val="accent1"/>
              </a:gs>
              <a:gs pos="100000">
                <a:schemeClr val="accent1">
                  <a:lumMod val="20000"/>
                  <a:lumOff val="80000"/>
                  <a:alpha val="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38" name="熊大的PPT宝库158"/>
          <p:cNvSpPr/>
          <p:nvPr/>
        </p:nvSpPr>
        <p:spPr>
          <a:xfrm>
            <a:off x="4366066" y="4848479"/>
            <a:ext cx="377052" cy="356553"/>
          </a:xfrm>
          <a:prstGeom prst="upArrow">
            <a:avLst/>
          </a:prstGeom>
          <a:gradFill>
            <a:gsLst>
              <a:gs pos="31000">
                <a:schemeClr val="accent1">
                  <a:alpha val="37000"/>
                </a:schemeClr>
              </a:gs>
              <a:gs pos="100000">
                <a:schemeClr val="accent1">
                  <a:lumMod val="20000"/>
                  <a:lumOff val="80000"/>
                  <a:alpha val="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39" name="熊大的PPT宝库159"/>
          <p:cNvSpPr/>
          <p:nvPr/>
        </p:nvSpPr>
        <p:spPr>
          <a:xfrm>
            <a:off x="6908860" y="4848479"/>
            <a:ext cx="377052" cy="356553"/>
          </a:xfrm>
          <a:prstGeom prst="upArrow">
            <a:avLst/>
          </a:prstGeom>
          <a:gradFill>
            <a:gsLst>
              <a:gs pos="31000">
                <a:schemeClr val="accent1">
                  <a:alpha val="37000"/>
                </a:schemeClr>
              </a:gs>
              <a:gs pos="100000">
                <a:schemeClr val="accent1">
                  <a:lumMod val="20000"/>
                  <a:lumOff val="80000"/>
                  <a:alpha val="0"/>
                </a:schemeClr>
              </a:gs>
            </a:gsLst>
            <a:lin ang="5400000" scaled="1"/>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40" name="熊大的PPT宝库160"/>
          <p:cNvSpPr/>
          <p:nvPr/>
        </p:nvSpPr>
        <p:spPr>
          <a:xfrm>
            <a:off x="2425896" y="5528098"/>
            <a:ext cx="936000" cy="468000"/>
          </a:xfrm>
          <a:prstGeom prst="cub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41" name="熊大的PPT宝库161"/>
          <p:cNvSpPr/>
          <p:nvPr/>
        </p:nvSpPr>
        <p:spPr>
          <a:xfrm>
            <a:off x="3460422" y="5469106"/>
            <a:ext cx="936000" cy="468000"/>
          </a:xfrm>
          <a:prstGeom prst="cub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42" name="熊大的PPT宝库162"/>
          <p:cNvSpPr/>
          <p:nvPr/>
        </p:nvSpPr>
        <p:spPr>
          <a:xfrm>
            <a:off x="4494948" y="5469106"/>
            <a:ext cx="936000" cy="468000"/>
          </a:xfrm>
          <a:prstGeom prst="cub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43" name="熊大的PPT宝库163"/>
          <p:cNvSpPr/>
          <p:nvPr/>
        </p:nvSpPr>
        <p:spPr>
          <a:xfrm>
            <a:off x="5529474" y="5469106"/>
            <a:ext cx="936000" cy="468000"/>
          </a:xfrm>
          <a:prstGeom prst="cub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44" name="熊大的PPT宝库164"/>
          <p:cNvSpPr/>
          <p:nvPr/>
        </p:nvSpPr>
        <p:spPr>
          <a:xfrm>
            <a:off x="6564000" y="5469106"/>
            <a:ext cx="936000" cy="468000"/>
          </a:xfrm>
          <a:prstGeom prst="cub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45" name="熊大的PPT宝库165"/>
          <p:cNvSpPr/>
          <p:nvPr/>
        </p:nvSpPr>
        <p:spPr>
          <a:xfrm>
            <a:off x="8633052" y="5469106"/>
            <a:ext cx="936000" cy="468000"/>
          </a:xfrm>
          <a:prstGeom prst="cub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46" name="熊大的PPT宝库166"/>
          <p:cNvSpPr/>
          <p:nvPr/>
        </p:nvSpPr>
        <p:spPr>
          <a:xfrm>
            <a:off x="7598526" y="5469106"/>
            <a:ext cx="936000" cy="468000"/>
          </a:xfrm>
          <a:prstGeom prst="cub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47" name="熊大的PPT宝库167"/>
          <p:cNvSpPr/>
          <p:nvPr/>
        </p:nvSpPr>
        <p:spPr>
          <a:xfrm>
            <a:off x="9667581" y="5528098"/>
            <a:ext cx="936000" cy="468000"/>
          </a:xfrm>
          <a:prstGeom prst="cub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49" name="熊大的PPT宝库168"/>
          <p:cNvSpPr txBox="1"/>
          <p:nvPr/>
        </p:nvSpPr>
        <p:spPr>
          <a:xfrm>
            <a:off x="6082401" y="6013715"/>
            <a:ext cx="718145" cy="215444"/>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基础数据</a:t>
            </a:r>
          </a:p>
        </p:txBody>
      </p:sp>
      <p:sp>
        <p:nvSpPr>
          <p:cNvPr id="250" name="熊大的PPT宝库169"/>
          <p:cNvSpPr txBox="1"/>
          <p:nvPr/>
        </p:nvSpPr>
        <p:spPr>
          <a:xfrm>
            <a:off x="3521718" y="5645287"/>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cs typeface="+mn-ea"/>
                <a:sym typeface="+mn-lt"/>
              </a:rPr>
              <a:t>人员管理</a:t>
            </a:r>
          </a:p>
        </p:txBody>
      </p:sp>
      <p:sp>
        <p:nvSpPr>
          <p:cNvPr id="251" name="熊大的PPT宝库170"/>
          <p:cNvSpPr txBox="1"/>
          <p:nvPr/>
        </p:nvSpPr>
        <p:spPr>
          <a:xfrm>
            <a:off x="4551493" y="5645287"/>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cs typeface="+mn-ea"/>
                <a:sym typeface="+mn-lt"/>
              </a:rPr>
              <a:t>权限管理</a:t>
            </a:r>
          </a:p>
        </p:txBody>
      </p:sp>
      <p:sp>
        <p:nvSpPr>
          <p:cNvPr id="252" name="熊大的PPT宝库171"/>
          <p:cNvSpPr txBox="1"/>
          <p:nvPr/>
        </p:nvSpPr>
        <p:spPr>
          <a:xfrm>
            <a:off x="5569009" y="5645287"/>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cs typeface="+mn-ea"/>
                <a:sym typeface="+mn-lt"/>
              </a:rPr>
              <a:t>审批管理</a:t>
            </a:r>
          </a:p>
        </p:txBody>
      </p:sp>
      <p:sp>
        <p:nvSpPr>
          <p:cNvPr id="253" name="熊大的PPT宝库172"/>
          <p:cNvSpPr txBox="1"/>
          <p:nvPr/>
        </p:nvSpPr>
        <p:spPr>
          <a:xfrm>
            <a:off x="6613298" y="5645287"/>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cs typeface="+mn-ea"/>
                <a:sym typeface="+mn-lt"/>
              </a:rPr>
              <a:t>物料管理</a:t>
            </a:r>
          </a:p>
        </p:txBody>
      </p:sp>
      <p:sp>
        <p:nvSpPr>
          <p:cNvPr id="254" name="熊大的PPT宝库173"/>
          <p:cNvSpPr txBox="1"/>
          <p:nvPr/>
        </p:nvSpPr>
        <p:spPr>
          <a:xfrm>
            <a:off x="7659757" y="5645287"/>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cs typeface="+mn-ea"/>
                <a:sym typeface="+mn-lt"/>
              </a:rPr>
              <a:t>分类管理</a:t>
            </a:r>
          </a:p>
        </p:txBody>
      </p:sp>
      <p:sp>
        <p:nvSpPr>
          <p:cNvPr id="255" name="熊大的PPT宝库174"/>
          <p:cNvSpPr txBox="1"/>
          <p:nvPr/>
        </p:nvSpPr>
        <p:spPr>
          <a:xfrm>
            <a:off x="8689532" y="5645287"/>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cs typeface="+mn-ea"/>
                <a:sym typeface="+mn-lt"/>
              </a:rPr>
              <a:t>供应管理</a:t>
            </a:r>
          </a:p>
        </p:txBody>
      </p:sp>
      <p:sp>
        <p:nvSpPr>
          <p:cNvPr id="256" name="熊大的PPT宝库175"/>
          <p:cNvSpPr txBox="1"/>
          <p:nvPr/>
        </p:nvSpPr>
        <p:spPr>
          <a:xfrm>
            <a:off x="9734070" y="5645287"/>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cs typeface="+mn-ea"/>
                <a:sym typeface="+mn-lt"/>
              </a:rPr>
              <a:t>门户管理</a:t>
            </a:r>
          </a:p>
        </p:txBody>
      </p:sp>
      <p:sp>
        <p:nvSpPr>
          <p:cNvPr id="257" name="熊大的PPT宝库176"/>
          <p:cNvSpPr txBox="1"/>
          <p:nvPr/>
        </p:nvSpPr>
        <p:spPr>
          <a:xfrm>
            <a:off x="2476829" y="5704279"/>
            <a:ext cx="718145"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cs typeface="+mn-ea"/>
                <a:sym typeface="+mn-lt"/>
              </a:rPr>
              <a:t>组织管理</a:t>
            </a:r>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熊大的PPT宝库1"/>
          <p:cNvSpPr txBox="1"/>
          <p:nvPr/>
        </p:nvSpPr>
        <p:spPr>
          <a:xfrm>
            <a:off x="348830" y="216968"/>
            <a:ext cx="4161973"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00329D"/>
                </a:solidFill>
                <a:effectLst/>
                <a:uLnTx/>
                <a:uFillTx/>
                <a:cs typeface="+mn-ea"/>
                <a:sym typeface="+mn-lt"/>
              </a:rPr>
              <a:t>DTC</a:t>
            </a:r>
            <a:r>
              <a:rPr kumimoji="0" lang="zh-CN" altLang="en-US" sz="3200" b="0" i="0" u="none" strike="noStrike" kern="1200" cap="none" spc="0" normalizeH="0" baseline="0" noProof="0" dirty="0">
                <a:ln>
                  <a:noFill/>
                </a:ln>
                <a:solidFill>
                  <a:srgbClr val="00329D"/>
                </a:solidFill>
                <a:effectLst/>
                <a:uLnTx/>
                <a:uFillTx/>
                <a:cs typeface="+mn-ea"/>
                <a:sym typeface="+mn-lt"/>
              </a:rPr>
              <a:t>方法论</a:t>
            </a:r>
            <a:r>
              <a:rPr kumimoji="0" lang="en-US" altLang="zh-CN" sz="3200" b="0" i="0" u="none" strike="noStrike" kern="1200" cap="none" spc="0" normalizeH="0" baseline="0" noProof="0" dirty="0">
                <a:ln>
                  <a:noFill/>
                </a:ln>
                <a:solidFill>
                  <a:srgbClr val="00329D"/>
                </a:solidFill>
                <a:effectLst/>
                <a:uLnTx/>
                <a:uFillTx/>
                <a:cs typeface="+mn-ea"/>
                <a:sym typeface="+mn-lt"/>
              </a:rPr>
              <a:t>(</a:t>
            </a:r>
            <a:r>
              <a:rPr kumimoji="0" lang="zh-CN" altLang="en-US" sz="3200" b="0" i="0" u="none" strike="noStrike" kern="1200" cap="none" spc="0" normalizeH="0" baseline="0" noProof="0" dirty="0">
                <a:ln>
                  <a:noFill/>
                </a:ln>
                <a:solidFill>
                  <a:srgbClr val="00329D"/>
                </a:solidFill>
                <a:effectLst/>
                <a:uLnTx/>
                <a:uFillTx/>
                <a:cs typeface="+mn-ea"/>
                <a:sym typeface="+mn-lt"/>
              </a:rPr>
              <a:t>服务致胜</a:t>
            </a:r>
            <a:r>
              <a:rPr kumimoji="0" lang="en-US" altLang="zh-CN" sz="3200" b="0" i="0" u="none" strike="noStrike" kern="1200" cap="none" spc="0" normalizeH="0" baseline="0" noProof="0" dirty="0">
                <a:ln>
                  <a:noFill/>
                </a:ln>
                <a:solidFill>
                  <a:srgbClr val="00329D"/>
                </a:solidFill>
                <a:effectLst/>
                <a:uLnTx/>
                <a:uFillTx/>
                <a:cs typeface="+mn-ea"/>
                <a:sym typeface="+mn-lt"/>
              </a:rPr>
              <a:t>)</a:t>
            </a:r>
            <a:endParaRPr kumimoji="0" lang="zh-CN" altLang="en-US" sz="3200" b="0" i="0" u="none" strike="noStrike" kern="1200" cap="none" spc="0" normalizeH="0" baseline="0" noProof="0" dirty="0">
              <a:ln>
                <a:noFill/>
              </a:ln>
              <a:solidFill>
                <a:srgbClr val="00329D"/>
              </a:solidFill>
              <a:effectLst/>
              <a:uLnTx/>
              <a:uFillTx/>
              <a:cs typeface="+mn-ea"/>
              <a:sym typeface="+mn-lt"/>
            </a:endParaRPr>
          </a:p>
        </p:txBody>
      </p:sp>
      <p:sp>
        <p:nvSpPr>
          <p:cNvPr id="5" name="熊大的PPT宝库3"/>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
        <p:nvSpPr>
          <p:cNvPr id="7" name="熊大的PPT宝库4"/>
          <p:cNvSpPr txBox="1"/>
          <p:nvPr/>
        </p:nvSpPr>
        <p:spPr>
          <a:xfrm>
            <a:off x="3599066" y="985700"/>
            <a:ext cx="5121595" cy="430887"/>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000000"/>
                </a:solidFill>
                <a:effectLst/>
                <a:uLnTx/>
                <a:uFillTx/>
                <a:cs typeface="+mn-ea"/>
                <a:sym typeface="+mn-lt"/>
              </a:rPr>
              <a:t>四种企业DTC能力建设发展模型</a:t>
            </a:r>
          </a:p>
        </p:txBody>
      </p:sp>
      <p:sp>
        <p:nvSpPr>
          <p:cNvPr id="12" name="熊大的PPT宝库5"/>
          <p:cNvSpPr/>
          <p:nvPr/>
        </p:nvSpPr>
        <p:spPr>
          <a:xfrm>
            <a:off x="1057217" y="1471731"/>
            <a:ext cx="10077566" cy="396000"/>
          </a:xfrm>
          <a:prstGeom prst="rect">
            <a:avLst/>
          </a:prstGeom>
          <a:solidFill>
            <a:schemeClr val="accent1">
              <a:lumMod val="20000"/>
              <a:lumOff val="80000"/>
            </a:schemeClr>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 name="熊大的PPT宝库6"/>
          <p:cNvSpPr txBox="1"/>
          <p:nvPr/>
        </p:nvSpPr>
        <p:spPr>
          <a:xfrm>
            <a:off x="2674417" y="1531232"/>
            <a:ext cx="6985887" cy="276999"/>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cs typeface="+mn-ea"/>
                <a:sym typeface="+mn-lt"/>
              </a:rPr>
              <a:t>DTC数字化能力的建设需求都不是单一的，往往需要多种能力的组合</a:t>
            </a:r>
          </a:p>
        </p:txBody>
      </p:sp>
      <p:sp>
        <p:nvSpPr>
          <p:cNvPr id="13" name="熊大的PPT宝库7"/>
          <p:cNvSpPr/>
          <p:nvPr/>
        </p:nvSpPr>
        <p:spPr>
          <a:xfrm>
            <a:off x="434974" y="2082597"/>
            <a:ext cx="11314114" cy="396000"/>
          </a:xfrm>
          <a:prstGeom prst="rect">
            <a:avLst/>
          </a:prstGeom>
          <a:solidFill>
            <a:schemeClr val="accent1"/>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 name="熊大的PPT宝库8"/>
          <p:cNvSpPr txBox="1"/>
          <p:nvPr/>
        </p:nvSpPr>
        <p:spPr>
          <a:xfrm>
            <a:off x="3224952" y="2142098"/>
            <a:ext cx="5948744" cy="276999"/>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cs typeface="+mn-ea"/>
                <a:sym typeface="+mn-lt"/>
              </a:rPr>
              <a:t>消费者 (Consumer):直接触达消费者，与消费者双向沟通</a:t>
            </a:r>
          </a:p>
        </p:txBody>
      </p:sp>
      <p:sp>
        <p:nvSpPr>
          <p:cNvPr id="14" name="熊大的PPT宝库9"/>
          <p:cNvSpPr/>
          <p:nvPr/>
        </p:nvSpPr>
        <p:spPr>
          <a:xfrm>
            <a:off x="434974" y="6303443"/>
            <a:ext cx="11314114" cy="396000"/>
          </a:xfrm>
          <a:prstGeom prst="rect">
            <a:avLst/>
          </a:prstGeom>
          <a:solidFill>
            <a:schemeClr val="accent1"/>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 name="熊大的PPT宝库10"/>
          <p:cNvSpPr txBox="1"/>
          <p:nvPr/>
        </p:nvSpPr>
        <p:spPr>
          <a:xfrm>
            <a:off x="2917977" y="6362944"/>
            <a:ext cx="6578596" cy="276999"/>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cs typeface="+mn-ea"/>
                <a:sym typeface="+mn-lt"/>
              </a:rPr>
              <a:t>企业</a:t>
            </a:r>
            <a:r>
              <a:rPr kumimoji="0" lang="en-US" altLang="zh-CN" sz="1800" b="1" i="0" u="none" strike="noStrike" kern="1200" cap="none" spc="0" normalizeH="0" baseline="0" noProof="0" dirty="0">
                <a:ln>
                  <a:noFill/>
                </a:ln>
                <a:solidFill>
                  <a:srgbClr val="FFFFFF"/>
                </a:solidFill>
                <a:effectLst/>
                <a:uLnTx/>
                <a:uFillTx/>
                <a:cs typeface="+mn-ea"/>
                <a:sym typeface="+mn-lt"/>
              </a:rPr>
              <a:t>(Corporate):</a:t>
            </a:r>
            <a:r>
              <a:rPr kumimoji="0" lang="zh-CN" altLang="en-US" sz="1800" b="1" i="0" u="none" strike="noStrike" kern="1200" cap="none" spc="0" normalizeH="0" baseline="0" noProof="0" dirty="0">
                <a:ln>
                  <a:noFill/>
                </a:ln>
                <a:solidFill>
                  <a:srgbClr val="FFFFFF"/>
                </a:solidFill>
                <a:effectLst/>
                <a:uLnTx/>
                <a:uFillTx/>
                <a:cs typeface="+mn-ea"/>
                <a:sym typeface="+mn-lt"/>
              </a:rPr>
              <a:t>深化数字化变革，找到最适合自己的发展模式</a:t>
            </a:r>
          </a:p>
        </p:txBody>
      </p:sp>
      <p:sp>
        <p:nvSpPr>
          <p:cNvPr id="17" name="熊大的PPT宝库11"/>
          <p:cNvSpPr txBox="1"/>
          <p:nvPr/>
        </p:nvSpPr>
        <p:spPr>
          <a:xfrm>
            <a:off x="3919742" y="3363338"/>
            <a:ext cx="2000548" cy="73866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消费决策因子:</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对品牌溢价与自我实现的需求</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重点发展能力:</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品牌力、全域人群经营能力</a:t>
            </a:r>
          </a:p>
        </p:txBody>
      </p:sp>
      <p:sp>
        <p:nvSpPr>
          <p:cNvPr id="19" name="熊大的PPT宝库12"/>
          <p:cNvSpPr txBox="1"/>
          <p:nvPr/>
        </p:nvSpPr>
        <p:spPr>
          <a:xfrm>
            <a:off x="6314991" y="3363338"/>
            <a:ext cx="2000548" cy="73866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消费决策因子:</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对商品丰富度与多样化的需求</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重点发展能力:</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新品的快速孵化与引爆</a:t>
            </a:r>
          </a:p>
        </p:txBody>
      </p:sp>
      <p:sp>
        <p:nvSpPr>
          <p:cNvPr id="21" name="熊大的PPT宝库13"/>
          <p:cNvSpPr txBox="1"/>
          <p:nvPr/>
        </p:nvSpPr>
        <p:spPr>
          <a:xfrm>
            <a:off x="3919742" y="5002095"/>
            <a:ext cx="1883529" cy="73866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消费决策因子:</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对配送与服务保障的需求</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重点发展能力</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:交付履约能力、服务附加值</a:t>
            </a:r>
          </a:p>
        </p:txBody>
      </p:sp>
      <p:sp>
        <p:nvSpPr>
          <p:cNvPr id="23" name="熊大的PPT宝库14"/>
          <p:cNvSpPr txBox="1"/>
          <p:nvPr/>
        </p:nvSpPr>
        <p:spPr>
          <a:xfrm>
            <a:off x="6314991" y="5002095"/>
            <a:ext cx="2000548" cy="73866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消费决策因子:</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对功能迭代与供货保障的需求</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重点发展能力:</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供应链数字化提效</a:t>
            </a:r>
          </a:p>
        </p:txBody>
      </p:sp>
      <p:sp>
        <p:nvSpPr>
          <p:cNvPr id="25" name="熊大的PPT宝库15"/>
          <p:cNvSpPr txBox="1"/>
          <p:nvPr/>
        </p:nvSpPr>
        <p:spPr>
          <a:xfrm>
            <a:off x="814511" y="2578920"/>
            <a:ext cx="2445926" cy="646331"/>
          </a:xfrm>
          <a:prstGeom prst="rect">
            <a:avLst/>
          </a:prstGeom>
          <a:noFill/>
        </p:spPr>
        <p:txBody>
          <a:bodyPr wrap="none">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cs typeface="+mn-ea"/>
                <a:sym typeface="+mn-lt"/>
              </a:rPr>
              <a:t>Direct to Consumer</a:t>
            </a:r>
            <a:endParaRPr kumimoji="0" lang="en-US" altLang="zh-CN" sz="1800" b="1"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cs typeface="+mn-ea"/>
                <a:sym typeface="+mn-lt"/>
              </a:rPr>
              <a:t>直 达 消 费 者</a:t>
            </a:r>
          </a:p>
        </p:txBody>
      </p:sp>
      <p:graphicFrame>
        <p:nvGraphicFramePr>
          <p:cNvPr id="34" name="熊大的PPT宝库16"/>
          <p:cNvGraphicFramePr/>
          <p:nvPr/>
        </p:nvGraphicFramePr>
        <p:xfrm>
          <a:off x="515843" y="3289699"/>
          <a:ext cx="3043263" cy="2896198"/>
        </p:xfrm>
        <a:graphic>
          <a:graphicData uri="http://schemas.openxmlformats.org/drawingml/2006/chart">
            <c:chart xmlns:c="http://schemas.openxmlformats.org/drawingml/2006/chart" xmlns:r="http://schemas.openxmlformats.org/officeDocument/2006/relationships" r:id="rId4"/>
          </a:graphicData>
        </a:graphic>
      </p:graphicFrame>
      <p:sp>
        <p:nvSpPr>
          <p:cNvPr id="26" name="熊大的PPT宝库17"/>
          <p:cNvSpPr txBox="1"/>
          <p:nvPr/>
        </p:nvSpPr>
        <p:spPr>
          <a:xfrm>
            <a:off x="9053102" y="2578920"/>
            <a:ext cx="2202847" cy="646331"/>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000000"/>
                </a:solidFill>
                <a:effectLst/>
                <a:uLnTx/>
                <a:uFillTx/>
                <a:cs typeface="+mn-ea"/>
                <a:sym typeface="+mn-lt"/>
              </a:rPr>
              <a:t>Digital to Corporate</a:t>
            </a: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cs typeface="+mn-ea"/>
                <a:sym typeface="+mn-lt"/>
              </a:rPr>
              <a:t>数字化企业运营</a:t>
            </a:r>
          </a:p>
        </p:txBody>
      </p:sp>
      <p:graphicFrame>
        <p:nvGraphicFramePr>
          <p:cNvPr id="35" name="熊大的PPT宝库18"/>
          <p:cNvGraphicFramePr/>
          <p:nvPr/>
        </p:nvGraphicFramePr>
        <p:xfrm>
          <a:off x="8632894" y="3282524"/>
          <a:ext cx="3043263" cy="2896198"/>
        </p:xfrm>
        <a:graphic>
          <a:graphicData uri="http://schemas.openxmlformats.org/drawingml/2006/chart">
            <c:chart xmlns:c="http://schemas.openxmlformats.org/drawingml/2006/chart" xmlns:r="http://schemas.openxmlformats.org/officeDocument/2006/relationships" r:id="rId5"/>
          </a:graphicData>
        </a:graphic>
      </p:graphicFrame>
      <p:sp>
        <p:nvSpPr>
          <p:cNvPr id="39" name="熊大的PPT宝库19"/>
          <p:cNvSpPr txBox="1"/>
          <p:nvPr/>
        </p:nvSpPr>
        <p:spPr>
          <a:xfrm>
            <a:off x="3919742" y="2986258"/>
            <a:ext cx="948978" cy="276999"/>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329D"/>
                </a:solidFill>
                <a:effectLst/>
                <a:uLnTx/>
                <a:uFillTx/>
                <a:cs typeface="+mn-ea"/>
                <a:sym typeface="+mn-lt"/>
              </a:rPr>
              <a:t>品牌致胜</a:t>
            </a:r>
            <a:endParaRPr kumimoji="0" lang="en-US" altLang="zh-CN" sz="1800" b="1" i="0" u="none" strike="noStrike" kern="1200" cap="none" spc="0" normalizeH="0" baseline="0" noProof="0" dirty="0">
              <a:ln>
                <a:noFill/>
              </a:ln>
              <a:solidFill>
                <a:srgbClr val="00329D"/>
              </a:solidFill>
              <a:effectLst/>
              <a:uLnTx/>
              <a:uFillTx/>
              <a:cs typeface="+mn-ea"/>
              <a:sym typeface="+mn-lt"/>
            </a:endParaRPr>
          </a:p>
        </p:txBody>
      </p:sp>
      <p:sp>
        <p:nvSpPr>
          <p:cNvPr id="40" name="熊大的PPT宝库20"/>
          <p:cNvSpPr txBox="1"/>
          <p:nvPr/>
        </p:nvSpPr>
        <p:spPr>
          <a:xfrm>
            <a:off x="6314991" y="2986258"/>
            <a:ext cx="948978" cy="276999"/>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329D"/>
                </a:solidFill>
                <a:effectLst/>
                <a:uLnTx/>
                <a:uFillTx/>
                <a:cs typeface="+mn-ea"/>
                <a:sym typeface="+mn-lt"/>
              </a:rPr>
              <a:t>产品致胜</a:t>
            </a:r>
            <a:endParaRPr kumimoji="0" lang="en-US" altLang="zh-CN" sz="1800" b="1" i="0" u="none" strike="noStrike" kern="1200" cap="none" spc="0" normalizeH="0" baseline="0" noProof="0" dirty="0">
              <a:ln>
                <a:noFill/>
              </a:ln>
              <a:solidFill>
                <a:srgbClr val="00329D"/>
              </a:solidFill>
              <a:effectLst/>
              <a:uLnTx/>
              <a:uFillTx/>
              <a:cs typeface="+mn-ea"/>
              <a:sym typeface="+mn-lt"/>
            </a:endParaRPr>
          </a:p>
        </p:txBody>
      </p:sp>
      <p:sp>
        <p:nvSpPr>
          <p:cNvPr id="41" name="熊大的PPT宝库21"/>
          <p:cNvSpPr txBox="1"/>
          <p:nvPr/>
        </p:nvSpPr>
        <p:spPr>
          <a:xfrm>
            <a:off x="3919742" y="4625924"/>
            <a:ext cx="948978" cy="276999"/>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329D"/>
                </a:solidFill>
                <a:effectLst/>
                <a:uLnTx/>
                <a:uFillTx/>
                <a:cs typeface="+mn-ea"/>
                <a:sym typeface="+mn-lt"/>
              </a:rPr>
              <a:t>服务致胜</a:t>
            </a:r>
            <a:endParaRPr kumimoji="0" lang="en-US" altLang="zh-CN" sz="1800" b="1" i="0" u="none" strike="noStrike" kern="1200" cap="none" spc="0" normalizeH="0" baseline="0" noProof="0" dirty="0">
              <a:ln>
                <a:noFill/>
              </a:ln>
              <a:solidFill>
                <a:srgbClr val="00329D"/>
              </a:solidFill>
              <a:effectLst/>
              <a:uLnTx/>
              <a:uFillTx/>
              <a:cs typeface="+mn-ea"/>
              <a:sym typeface="+mn-lt"/>
            </a:endParaRPr>
          </a:p>
        </p:txBody>
      </p:sp>
      <p:sp>
        <p:nvSpPr>
          <p:cNvPr id="42" name="熊大的PPT宝库22"/>
          <p:cNvSpPr txBox="1"/>
          <p:nvPr/>
        </p:nvSpPr>
        <p:spPr>
          <a:xfrm>
            <a:off x="6314991" y="4625924"/>
            <a:ext cx="1186222" cy="276999"/>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329D"/>
                </a:solidFill>
                <a:effectLst/>
                <a:uLnTx/>
                <a:uFillTx/>
                <a:cs typeface="+mn-ea"/>
                <a:sym typeface="+mn-lt"/>
              </a:rPr>
              <a:t>供应链致胜</a:t>
            </a:r>
            <a:endParaRPr kumimoji="0" lang="en-US" altLang="zh-CN" sz="1800" b="1" i="0" u="none" strike="noStrike" kern="1200" cap="none" spc="0" normalizeH="0" baseline="0" noProof="0" dirty="0">
              <a:ln>
                <a:noFill/>
              </a:ln>
              <a:solidFill>
                <a:srgbClr val="00329D"/>
              </a:solidFill>
              <a:effectLst/>
              <a:uLnTx/>
              <a:uFillTx/>
              <a:cs typeface="+mn-ea"/>
              <a:sym typeface="+mn-lt"/>
            </a:endParaRPr>
          </a:p>
        </p:txBody>
      </p:sp>
      <p:cxnSp>
        <p:nvCxnSpPr>
          <p:cNvPr id="44" name="熊大的PPT宝库23"/>
          <p:cNvCxnSpPr/>
          <p:nvPr/>
        </p:nvCxnSpPr>
        <p:spPr>
          <a:xfrm>
            <a:off x="3868941" y="4384771"/>
            <a:ext cx="446400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熊大的PPT宝库24"/>
          <p:cNvCxnSpPr/>
          <p:nvPr/>
        </p:nvCxnSpPr>
        <p:spPr>
          <a:xfrm rot="16200000">
            <a:off x="4624941" y="4389766"/>
            <a:ext cx="295200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熊大的PPT宝库25"/>
          <p:cNvSpPr txBox="1"/>
          <p:nvPr/>
        </p:nvSpPr>
        <p:spPr>
          <a:xfrm>
            <a:off x="3258892" y="4075758"/>
            <a:ext cx="492443" cy="968407"/>
          </a:xfrm>
          <a:prstGeom prst="rect">
            <a:avLst/>
          </a:prstGeom>
          <a:noFill/>
        </p:spPr>
        <p:txBody>
          <a:bodyPr vert="eaVert"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00000"/>
                </a:solidFill>
                <a:effectLst/>
                <a:uLnTx/>
                <a:uFillTx/>
                <a:cs typeface="+mn-ea"/>
                <a:sym typeface="+mn-lt"/>
              </a:rPr>
              <a:t>CLV</a:t>
            </a:r>
            <a:r>
              <a:rPr kumimoji="0" lang="zh-CN" altLang="en-US" sz="1600" b="0" i="0" u="none" strike="noStrike" kern="1200" cap="none" spc="0" normalizeH="0" baseline="0" noProof="0" dirty="0">
                <a:ln>
                  <a:noFill/>
                </a:ln>
                <a:solidFill>
                  <a:srgbClr val="000000"/>
                </a:solidFill>
                <a:effectLst/>
                <a:uLnTx/>
                <a:uFillTx/>
                <a:cs typeface="+mn-ea"/>
                <a:sym typeface="+mn-lt"/>
              </a:rPr>
              <a:t>最大化</a:t>
            </a:r>
          </a:p>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000000"/>
              </a:solidFill>
              <a:effectLst/>
              <a:uLnTx/>
              <a:uFillTx/>
              <a:cs typeface="+mn-ea"/>
              <a:sym typeface="+mn-lt"/>
            </a:endParaRPr>
          </a:p>
        </p:txBody>
      </p:sp>
      <p:sp>
        <p:nvSpPr>
          <p:cNvPr id="50" name="熊大的PPT宝库26"/>
          <p:cNvSpPr txBox="1"/>
          <p:nvPr/>
        </p:nvSpPr>
        <p:spPr>
          <a:xfrm>
            <a:off x="8227360" y="4075758"/>
            <a:ext cx="492443" cy="970009"/>
          </a:xfrm>
          <a:prstGeom prst="rect">
            <a:avLst/>
          </a:prstGeom>
          <a:noFill/>
        </p:spPr>
        <p:txBody>
          <a:bodyPr vert="eaVert"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000000"/>
                </a:solidFill>
                <a:effectLst/>
                <a:uLnTx/>
                <a:uFillTx/>
                <a:cs typeface="+mn-ea"/>
                <a:sym typeface="+mn-lt"/>
              </a:rPr>
              <a:t>PLV</a:t>
            </a:r>
            <a:r>
              <a:rPr kumimoji="0" lang="zh-CN" altLang="en-US" sz="1600" b="0" i="0" u="none" strike="noStrike" kern="1200" cap="none" spc="0" normalizeH="0" baseline="0" noProof="0" dirty="0">
                <a:ln>
                  <a:noFill/>
                </a:ln>
                <a:solidFill>
                  <a:srgbClr val="000000"/>
                </a:solidFill>
                <a:effectLst/>
                <a:uLnTx/>
                <a:uFillTx/>
                <a:cs typeface="+mn-ea"/>
                <a:sym typeface="+mn-lt"/>
              </a:rPr>
              <a:t>最大化</a:t>
            </a:r>
          </a:p>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000000"/>
              </a:solidFill>
              <a:effectLst/>
              <a:uLnTx/>
              <a:uFillTx/>
              <a:cs typeface="+mn-ea"/>
              <a:sym typeface="+mn-lt"/>
            </a:endParaRPr>
          </a:p>
        </p:txBody>
      </p:sp>
      <p:sp>
        <p:nvSpPr>
          <p:cNvPr id="51" name="熊大的PPT宝库27"/>
          <p:cNvSpPr/>
          <p:nvPr/>
        </p:nvSpPr>
        <p:spPr>
          <a:xfrm>
            <a:off x="1175898" y="3858901"/>
            <a:ext cx="1742706" cy="1742706"/>
          </a:xfrm>
          <a:prstGeom prst="ellipse">
            <a:avLst/>
          </a:prstGeom>
          <a:solidFill>
            <a:schemeClr val="bg1"/>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9" name="熊大的PPT宝库28"/>
          <p:cNvSpPr txBox="1"/>
          <p:nvPr/>
        </p:nvSpPr>
        <p:spPr>
          <a:xfrm>
            <a:off x="1491200" y="4282951"/>
            <a:ext cx="1106072" cy="923330"/>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cs typeface="+mn-ea"/>
                <a:sym typeface="+mn-lt"/>
              </a:rPr>
              <a:t>消费者全生命</a:t>
            </a:r>
            <a:endParaRPr kumimoji="0" lang="en-US" altLang="zh-CN" sz="1400" b="1"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cs typeface="+mn-ea"/>
                <a:sym typeface="+mn-lt"/>
              </a:rPr>
              <a:t>周期运营</a:t>
            </a:r>
            <a:endParaRPr kumimoji="0" lang="en-US" altLang="zh-CN" sz="1400" b="1"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000000"/>
                </a:solidFill>
                <a:effectLst/>
                <a:uLnTx/>
                <a:uFillTx/>
                <a:cs typeface="+mn-ea"/>
                <a:sym typeface="+mn-lt"/>
              </a:rPr>
              <a:t>CLVM</a:t>
            </a:r>
          </a:p>
        </p:txBody>
      </p:sp>
      <p:sp>
        <p:nvSpPr>
          <p:cNvPr id="53" name="熊大的PPT宝库29"/>
          <p:cNvSpPr/>
          <p:nvPr/>
        </p:nvSpPr>
        <p:spPr>
          <a:xfrm>
            <a:off x="9283172" y="3844551"/>
            <a:ext cx="1742706" cy="1742706"/>
          </a:xfrm>
          <a:prstGeom prst="ellipse">
            <a:avLst/>
          </a:prstGeom>
          <a:solidFill>
            <a:schemeClr val="bg1"/>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2" name="熊大的PPT宝库30"/>
          <p:cNvSpPr txBox="1"/>
          <p:nvPr/>
        </p:nvSpPr>
        <p:spPr>
          <a:xfrm>
            <a:off x="9655775" y="4244851"/>
            <a:ext cx="1079142" cy="923330"/>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cs typeface="+mn-ea"/>
                <a:sym typeface="+mn-lt"/>
              </a:rPr>
              <a:t>货品全生命</a:t>
            </a:r>
            <a:endParaRPr kumimoji="0" lang="en-US" altLang="zh-CN" sz="1400" b="1"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cs typeface="+mn-ea"/>
                <a:sym typeface="+mn-lt"/>
              </a:rPr>
              <a:t>周期运营</a:t>
            </a:r>
            <a:endParaRPr kumimoji="0" lang="en-US" altLang="zh-CN" sz="1400" b="1"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00000"/>
                </a:solidFill>
                <a:effectLst/>
                <a:uLnTx/>
                <a:uFillTx/>
                <a:cs typeface="+mn-ea"/>
                <a:sym typeface="+mn-lt"/>
              </a:rPr>
              <a:t>P</a:t>
            </a:r>
            <a:r>
              <a:rPr kumimoji="0" lang="zh-CN" altLang="en-US" sz="3200" b="1" i="0" u="none" strike="noStrike" kern="1200" cap="none" spc="0" normalizeH="0" baseline="0" noProof="0" dirty="0">
                <a:ln>
                  <a:noFill/>
                </a:ln>
                <a:solidFill>
                  <a:srgbClr val="000000"/>
                </a:solidFill>
                <a:effectLst/>
                <a:uLnTx/>
                <a:uFillTx/>
                <a:cs typeface="+mn-ea"/>
                <a:sym typeface="+mn-lt"/>
              </a:rPr>
              <a:t>LVM</a:t>
            </a:r>
          </a:p>
        </p:txBody>
      </p:sp>
      <p:sp>
        <p:nvSpPr>
          <p:cNvPr id="54" name="熊大的PPT宝库31"/>
          <p:cNvSpPr/>
          <p:nvPr/>
        </p:nvSpPr>
        <p:spPr>
          <a:xfrm rot="16200000" flipH="1">
            <a:off x="545976" y="3313859"/>
            <a:ext cx="2896198" cy="2896198"/>
          </a:xfrm>
          <a:prstGeom prst="arc">
            <a:avLst>
              <a:gd name="adj1" fmla="val 13949252"/>
              <a:gd name="adj2" fmla="val 0"/>
            </a:avLst>
          </a:prstGeom>
          <a:ln w="38100">
            <a:gradFill>
              <a:gsLst>
                <a:gs pos="0">
                  <a:schemeClr val="bg1">
                    <a:lumMod val="95000"/>
                  </a:schemeClr>
                </a:gs>
                <a:gs pos="89000">
                  <a:schemeClr val="tx1"/>
                </a:gs>
              </a:gsLst>
              <a:lin ang="0" scaled="0"/>
            </a:gra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56" name="熊大的PPT宝库32"/>
          <p:cNvSpPr/>
          <p:nvPr/>
        </p:nvSpPr>
        <p:spPr>
          <a:xfrm rot="5400000" flipH="1">
            <a:off x="8719792" y="3294809"/>
            <a:ext cx="2896198" cy="2896198"/>
          </a:xfrm>
          <a:prstGeom prst="arc">
            <a:avLst>
              <a:gd name="adj1" fmla="val 13949252"/>
              <a:gd name="adj2" fmla="val 0"/>
            </a:avLst>
          </a:prstGeom>
          <a:ln w="38100">
            <a:gradFill>
              <a:gsLst>
                <a:gs pos="0">
                  <a:schemeClr val="bg1">
                    <a:lumMod val="95000"/>
                  </a:schemeClr>
                </a:gs>
                <a:gs pos="89000">
                  <a:schemeClr val="tx1"/>
                </a:gs>
              </a:gsLst>
              <a:lin ang="0" scaled="0"/>
            </a:gra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57" name="熊大的PPT宝库33"/>
          <p:cNvSpPr/>
          <p:nvPr/>
        </p:nvSpPr>
        <p:spPr>
          <a:xfrm rot="8100000" flipH="1">
            <a:off x="9314178" y="3913140"/>
            <a:ext cx="1634966" cy="1634966"/>
          </a:xfrm>
          <a:prstGeom prst="arc">
            <a:avLst>
              <a:gd name="adj1" fmla="val 13949252"/>
              <a:gd name="adj2" fmla="val 0"/>
            </a:avLst>
          </a:prstGeom>
          <a:ln w="25400">
            <a:gradFill>
              <a:gsLst>
                <a:gs pos="14000">
                  <a:schemeClr val="bg1"/>
                </a:gs>
                <a:gs pos="89000">
                  <a:schemeClr val="accent1"/>
                </a:gs>
              </a:gsLst>
              <a:lin ang="0" scaled="0"/>
            </a:gra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58" name="熊大的PPT宝库34"/>
          <p:cNvSpPr/>
          <p:nvPr/>
        </p:nvSpPr>
        <p:spPr>
          <a:xfrm rot="19800000" flipH="1">
            <a:off x="9361678" y="3913140"/>
            <a:ext cx="1634966" cy="1634966"/>
          </a:xfrm>
          <a:prstGeom prst="arc">
            <a:avLst>
              <a:gd name="adj1" fmla="val 13949252"/>
              <a:gd name="adj2" fmla="val 0"/>
            </a:avLst>
          </a:prstGeom>
          <a:ln w="25400">
            <a:gradFill>
              <a:gsLst>
                <a:gs pos="14000">
                  <a:schemeClr val="bg1"/>
                </a:gs>
                <a:gs pos="89000">
                  <a:schemeClr val="accent1"/>
                </a:gs>
              </a:gsLst>
              <a:lin ang="0" scaled="0"/>
            </a:gra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59" name="熊大的PPT宝库35"/>
          <p:cNvSpPr/>
          <p:nvPr/>
        </p:nvSpPr>
        <p:spPr>
          <a:xfrm rot="8100000" flipH="1">
            <a:off x="1214874" y="3913139"/>
            <a:ext cx="1634966" cy="1634966"/>
          </a:xfrm>
          <a:prstGeom prst="arc">
            <a:avLst>
              <a:gd name="adj1" fmla="val 13949252"/>
              <a:gd name="adj2" fmla="val 0"/>
            </a:avLst>
          </a:prstGeom>
          <a:ln w="25400">
            <a:gradFill>
              <a:gsLst>
                <a:gs pos="14000">
                  <a:schemeClr val="bg1"/>
                </a:gs>
                <a:gs pos="89000">
                  <a:schemeClr val="accent1"/>
                </a:gs>
              </a:gsLst>
              <a:lin ang="0" scaled="0"/>
            </a:gra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60" name="熊大的PPT宝库36"/>
          <p:cNvSpPr/>
          <p:nvPr/>
        </p:nvSpPr>
        <p:spPr>
          <a:xfrm rot="19800000" flipH="1">
            <a:off x="1262374" y="3913139"/>
            <a:ext cx="1634966" cy="1634966"/>
          </a:xfrm>
          <a:prstGeom prst="arc">
            <a:avLst>
              <a:gd name="adj1" fmla="val 13949252"/>
              <a:gd name="adj2" fmla="val 0"/>
            </a:avLst>
          </a:prstGeom>
          <a:ln w="25400">
            <a:gradFill>
              <a:gsLst>
                <a:gs pos="14000">
                  <a:schemeClr val="bg1"/>
                </a:gs>
                <a:gs pos="89000">
                  <a:schemeClr val="accent1"/>
                </a:gs>
              </a:gsLst>
              <a:lin ang="0" scaled="0"/>
            </a:gra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62" name="熊大的PPT宝库37"/>
          <p:cNvSpPr txBox="1"/>
          <p:nvPr/>
        </p:nvSpPr>
        <p:spPr>
          <a:xfrm>
            <a:off x="5685631" y="5966031"/>
            <a:ext cx="839974" cy="246221"/>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分销侧重</a:t>
            </a:r>
          </a:p>
        </p:txBody>
      </p:sp>
      <p:sp>
        <p:nvSpPr>
          <p:cNvPr id="63" name="熊大的PPT宝库38"/>
          <p:cNvSpPr txBox="1"/>
          <p:nvPr/>
        </p:nvSpPr>
        <p:spPr>
          <a:xfrm>
            <a:off x="5685631" y="2581659"/>
            <a:ext cx="839974" cy="246221"/>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直销侧重</a:t>
            </a:r>
          </a:p>
        </p:txBody>
      </p:sp>
      <p:sp>
        <p:nvSpPr>
          <p:cNvPr id="64" name="熊大的PPT宝库39"/>
          <p:cNvSpPr txBox="1"/>
          <p:nvPr/>
        </p:nvSpPr>
        <p:spPr>
          <a:xfrm rot="20112216">
            <a:off x="1158537" y="3823812"/>
            <a:ext cx="1199698" cy="594968"/>
          </a:xfrm>
          <a:prstGeom prst="rect">
            <a:avLst/>
          </a:prstGeom>
          <a:noFill/>
        </p:spPr>
        <p:txBody>
          <a:bodyPr wrap="none" lIns="0" tIns="0" rIns="0" bIns="0">
            <a:prstTxWarp prst="textArchUp">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品牌</a:t>
            </a:r>
            <a:endParaRPr kumimoji="0" lang="en-US" altLang="zh-CN" sz="1200" b="1"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心智建设</a:t>
            </a:r>
          </a:p>
        </p:txBody>
      </p:sp>
      <p:sp>
        <p:nvSpPr>
          <p:cNvPr id="65" name="熊大的PPT宝库40"/>
          <p:cNvSpPr txBox="1"/>
          <p:nvPr/>
        </p:nvSpPr>
        <p:spPr>
          <a:xfrm rot="1713448">
            <a:off x="1817230" y="3844170"/>
            <a:ext cx="1077994" cy="585459"/>
          </a:xfrm>
          <a:prstGeom prst="rect">
            <a:avLst/>
          </a:prstGeom>
          <a:noFill/>
        </p:spPr>
        <p:txBody>
          <a:bodyPr wrap="none" lIns="0" tIns="0" rIns="0" bIns="0">
            <a:prstTxWarp prst="textArchUp">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全域人群</a:t>
            </a:r>
            <a:endParaRPr kumimoji="0" lang="en-US" altLang="zh-CN" sz="1200" b="1"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触达</a:t>
            </a:r>
          </a:p>
        </p:txBody>
      </p:sp>
      <p:sp>
        <p:nvSpPr>
          <p:cNvPr id="71" name="熊大的PPT宝库41"/>
          <p:cNvSpPr txBox="1"/>
          <p:nvPr/>
        </p:nvSpPr>
        <p:spPr>
          <a:xfrm rot="4641463">
            <a:off x="2257897" y="4276047"/>
            <a:ext cx="1077994" cy="585459"/>
          </a:xfrm>
          <a:prstGeom prst="rect">
            <a:avLst/>
          </a:prstGeom>
          <a:noFill/>
        </p:spPr>
        <p:txBody>
          <a:bodyPr wrap="none" lIns="0" tIns="0" rIns="0" bIns="0">
            <a:prstTxWarp prst="textArchUp">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首单转化</a:t>
            </a:r>
          </a:p>
        </p:txBody>
      </p:sp>
      <p:sp>
        <p:nvSpPr>
          <p:cNvPr id="72" name="熊大的PPT宝库42"/>
          <p:cNvSpPr txBox="1"/>
          <p:nvPr/>
        </p:nvSpPr>
        <p:spPr>
          <a:xfrm rot="16926752">
            <a:off x="691729" y="4259830"/>
            <a:ext cx="1199698" cy="594968"/>
          </a:xfrm>
          <a:prstGeom prst="rect">
            <a:avLst/>
          </a:prstGeom>
          <a:noFill/>
        </p:spPr>
        <p:txBody>
          <a:bodyPr wrap="none" lIns="0" tIns="0" rIns="0" bIns="0">
            <a:prstTxWarp prst="textArchUp">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策略人群定制</a:t>
            </a:r>
          </a:p>
        </p:txBody>
      </p:sp>
      <p:sp>
        <p:nvSpPr>
          <p:cNvPr id="73" name="熊大的PPT宝库43"/>
          <p:cNvSpPr txBox="1"/>
          <p:nvPr/>
        </p:nvSpPr>
        <p:spPr>
          <a:xfrm rot="2916063">
            <a:off x="870201" y="4883704"/>
            <a:ext cx="1199698" cy="594968"/>
          </a:xfrm>
          <a:prstGeom prst="rect">
            <a:avLst/>
          </a:prstGeom>
          <a:noFill/>
        </p:spPr>
        <p:txBody>
          <a:bodyPr wrap="none" lIns="0" tIns="0" rIns="0" bIns="0">
            <a:prstTxWarp prst="textArchDown">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消费者</a:t>
            </a:r>
            <a:endParaRPr kumimoji="0" lang="en-US" altLang="zh-CN" sz="1200" b="1"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画像洞察</a:t>
            </a:r>
          </a:p>
        </p:txBody>
      </p:sp>
      <p:sp>
        <p:nvSpPr>
          <p:cNvPr id="74" name="熊大的PPT宝库44"/>
          <p:cNvSpPr txBox="1"/>
          <p:nvPr/>
        </p:nvSpPr>
        <p:spPr>
          <a:xfrm>
            <a:off x="1432508" y="5287524"/>
            <a:ext cx="1199698" cy="594968"/>
          </a:xfrm>
          <a:prstGeom prst="rect">
            <a:avLst/>
          </a:prstGeom>
          <a:noFill/>
        </p:spPr>
        <p:txBody>
          <a:bodyPr wrap="none" lIns="0" tIns="0" rIns="0" bIns="0">
            <a:prstTxWarp prst="textArchDown">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全域会员运营</a:t>
            </a:r>
          </a:p>
        </p:txBody>
      </p:sp>
      <p:sp>
        <p:nvSpPr>
          <p:cNvPr id="75" name="熊大的PPT宝库45"/>
          <p:cNvSpPr txBox="1"/>
          <p:nvPr/>
        </p:nvSpPr>
        <p:spPr>
          <a:xfrm rot="18474852">
            <a:off x="2000199" y="4883704"/>
            <a:ext cx="1199698" cy="594968"/>
          </a:xfrm>
          <a:prstGeom prst="rect">
            <a:avLst/>
          </a:prstGeom>
          <a:noFill/>
        </p:spPr>
        <p:txBody>
          <a:bodyPr wrap="none" lIns="0" tIns="0" rIns="0" bIns="0">
            <a:prstTxWarp prst="textArchDown">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跨品类</a:t>
            </a:r>
            <a:endParaRPr kumimoji="0" lang="en-US" altLang="zh-CN" sz="1200" b="1"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人群运营</a:t>
            </a:r>
          </a:p>
        </p:txBody>
      </p:sp>
      <p:sp>
        <p:nvSpPr>
          <p:cNvPr id="76" name="熊大的PPT宝库46"/>
          <p:cNvSpPr txBox="1"/>
          <p:nvPr/>
        </p:nvSpPr>
        <p:spPr>
          <a:xfrm rot="20112216">
            <a:off x="9281995" y="3823812"/>
            <a:ext cx="1199698" cy="594968"/>
          </a:xfrm>
          <a:prstGeom prst="rect">
            <a:avLst/>
          </a:prstGeom>
          <a:noFill/>
        </p:spPr>
        <p:txBody>
          <a:bodyPr wrap="none" lIns="0" tIns="0" rIns="0" bIns="0">
            <a:prstTxWarp prst="textArchUp">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新品上市</a:t>
            </a:r>
            <a:endParaRPr kumimoji="0" lang="en-US" altLang="zh-CN" sz="1200" b="1"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营销</a:t>
            </a:r>
          </a:p>
        </p:txBody>
      </p:sp>
      <p:sp>
        <p:nvSpPr>
          <p:cNvPr id="77" name="熊大的PPT宝库47"/>
          <p:cNvSpPr txBox="1"/>
          <p:nvPr/>
        </p:nvSpPr>
        <p:spPr>
          <a:xfrm rot="1713448">
            <a:off x="9940688" y="3844170"/>
            <a:ext cx="1077994" cy="585459"/>
          </a:xfrm>
          <a:prstGeom prst="rect">
            <a:avLst/>
          </a:prstGeom>
          <a:noFill/>
        </p:spPr>
        <p:txBody>
          <a:bodyPr wrap="none" lIns="0" tIns="0" rIns="0" bIns="0">
            <a:prstTxWarp prst="textArchUp">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新品</a:t>
            </a:r>
            <a:endParaRPr kumimoji="0" lang="en-US" altLang="zh-CN" sz="1200" b="1"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研发</a:t>
            </a:r>
          </a:p>
        </p:txBody>
      </p:sp>
      <p:sp>
        <p:nvSpPr>
          <p:cNvPr id="78" name="熊大的PPT宝库48"/>
          <p:cNvSpPr txBox="1"/>
          <p:nvPr/>
        </p:nvSpPr>
        <p:spPr>
          <a:xfrm rot="4641463">
            <a:off x="10262754" y="4311096"/>
            <a:ext cx="1077994" cy="585459"/>
          </a:xfrm>
          <a:prstGeom prst="rect">
            <a:avLst/>
          </a:prstGeom>
          <a:noFill/>
        </p:spPr>
        <p:txBody>
          <a:bodyPr wrap="none" lIns="0" tIns="0" rIns="0" bIns="0">
            <a:prstTxWarp prst="textArchUp">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优质货品</a:t>
            </a:r>
            <a:endParaRPr kumimoji="0" lang="en-US" altLang="zh-CN" sz="1200" b="1"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运营</a:t>
            </a:r>
          </a:p>
        </p:txBody>
      </p:sp>
      <p:sp>
        <p:nvSpPr>
          <p:cNvPr id="79" name="熊大的PPT宝库49"/>
          <p:cNvSpPr txBox="1"/>
          <p:nvPr/>
        </p:nvSpPr>
        <p:spPr>
          <a:xfrm rot="16926752">
            <a:off x="8815187" y="4259830"/>
            <a:ext cx="1199698" cy="594968"/>
          </a:xfrm>
          <a:prstGeom prst="rect">
            <a:avLst/>
          </a:prstGeom>
          <a:noFill/>
        </p:spPr>
        <p:txBody>
          <a:bodyPr wrap="none" lIns="0" tIns="0" rIns="0" bIns="0">
            <a:prstTxWarp prst="textArchUp">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趋势洞察</a:t>
            </a:r>
          </a:p>
        </p:txBody>
      </p:sp>
      <p:sp>
        <p:nvSpPr>
          <p:cNvPr id="80" name="熊大的PPT宝库50"/>
          <p:cNvSpPr txBox="1"/>
          <p:nvPr/>
        </p:nvSpPr>
        <p:spPr>
          <a:xfrm rot="2916063">
            <a:off x="8993659" y="4883704"/>
            <a:ext cx="1199698" cy="594968"/>
          </a:xfrm>
          <a:prstGeom prst="rect">
            <a:avLst/>
          </a:prstGeom>
          <a:noFill/>
        </p:spPr>
        <p:txBody>
          <a:bodyPr wrap="none" lIns="0" tIns="0" rIns="0" bIns="0">
            <a:prstTxWarp prst="textArchDown">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供应链</a:t>
            </a:r>
            <a:endParaRPr kumimoji="0" lang="en-US" altLang="zh-CN" sz="1200" b="1"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管理</a:t>
            </a:r>
            <a:endParaRPr kumimoji="0" lang="en-US" altLang="zh-CN" sz="1200" b="1" i="0" u="none" strike="noStrike" kern="1200" cap="none" spc="0" normalizeH="0" baseline="0" noProof="0" dirty="0">
              <a:ln>
                <a:noFill/>
              </a:ln>
              <a:solidFill>
                <a:srgbClr val="FFFFFF"/>
              </a:solidFill>
              <a:effectLst/>
              <a:uLnTx/>
              <a:uFillTx/>
              <a:cs typeface="+mn-ea"/>
              <a:sym typeface="+mn-lt"/>
            </a:endParaRPr>
          </a:p>
        </p:txBody>
      </p:sp>
      <p:sp>
        <p:nvSpPr>
          <p:cNvPr id="81" name="熊大的PPT宝库51"/>
          <p:cNvSpPr txBox="1"/>
          <p:nvPr/>
        </p:nvSpPr>
        <p:spPr>
          <a:xfrm>
            <a:off x="9555966" y="5216274"/>
            <a:ext cx="1199698" cy="594968"/>
          </a:xfrm>
          <a:prstGeom prst="rect">
            <a:avLst/>
          </a:prstGeom>
          <a:noFill/>
        </p:spPr>
        <p:txBody>
          <a:bodyPr wrap="none" lIns="0" tIns="0" rIns="0" bIns="0">
            <a:prstTxWarp prst="textArchDown">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清仓促销</a:t>
            </a:r>
          </a:p>
        </p:txBody>
      </p:sp>
      <p:sp>
        <p:nvSpPr>
          <p:cNvPr id="82" name="熊大的PPT宝库52"/>
          <p:cNvSpPr txBox="1"/>
          <p:nvPr/>
        </p:nvSpPr>
        <p:spPr>
          <a:xfrm rot="18474852">
            <a:off x="10182602" y="4943190"/>
            <a:ext cx="1199698" cy="594968"/>
          </a:xfrm>
          <a:prstGeom prst="rect">
            <a:avLst/>
          </a:prstGeom>
          <a:noFill/>
        </p:spPr>
        <p:txBody>
          <a:bodyPr wrap="none" lIns="0" tIns="0" rIns="0" bIns="0">
            <a:prstTxWarp prst="textArchDown">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FFFFF"/>
                </a:solidFill>
                <a:effectLst/>
                <a:uLnTx/>
                <a:uFillTx/>
                <a:cs typeface="+mn-ea"/>
                <a:sym typeface="+mn-lt"/>
              </a:rPr>
              <a:t>渠道组货</a:t>
            </a:r>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熊大的PPT宝库1"/>
          <p:cNvSpPr txBox="1"/>
          <p:nvPr/>
        </p:nvSpPr>
        <p:spPr>
          <a:xfrm>
            <a:off x="348830" y="216968"/>
            <a:ext cx="3877985"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供应链数字化新基建</a:t>
            </a:r>
          </a:p>
        </p:txBody>
      </p:sp>
      <p:sp>
        <p:nvSpPr>
          <p:cNvPr id="5" name="熊大的PPT宝库3"/>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
        <p:nvSpPr>
          <p:cNvPr id="22" name="熊大的PPT宝库4"/>
          <p:cNvSpPr/>
          <p:nvPr/>
        </p:nvSpPr>
        <p:spPr>
          <a:xfrm>
            <a:off x="454959" y="4752451"/>
            <a:ext cx="11282083" cy="953880"/>
          </a:xfrm>
          <a:prstGeom prst="trapezoid">
            <a:avLst>
              <a:gd name="adj" fmla="val 117503"/>
            </a:avLst>
          </a:prstGeom>
          <a:gradFill flip="none" rotWithShape="1">
            <a:gsLst>
              <a:gs pos="100000">
                <a:schemeClr val="accent1"/>
              </a:gs>
              <a:gs pos="0">
                <a:schemeClr val="accent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3" name="熊大的PPT宝库5"/>
          <p:cNvSpPr/>
          <p:nvPr/>
        </p:nvSpPr>
        <p:spPr>
          <a:xfrm>
            <a:off x="462000" y="5694288"/>
            <a:ext cx="11268000" cy="108000"/>
          </a:xfrm>
          <a:prstGeom prst="rect">
            <a:avLst/>
          </a:prstGeom>
          <a:solidFill>
            <a:schemeClr val="accent1"/>
          </a:solidFill>
          <a:ln w="3175">
            <a:solidFill>
              <a:schemeClr val="bg1">
                <a:lumMod val="95000"/>
                <a:alpha val="68000"/>
              </a:schemeClr>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 name="熊大的PPT宝库6"/>
          <p:cNvSpPr/>
          <p:nvPr/>
        </p:nvSpPr>
        <p:spPr>
          <a:xfrm>
            <a:off x="684682" y="1149911"/>
            <a:ext cx="2801656" cy="367288"/>
          </a:xfrm>
          <a:prstGeom prst="chevron">
            <a:avLst>
              <a:gd name="adj" fmla="val 32793"/>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6" name="熊大的PPT宝库7"/>
          <p:cNvSpPr/>
          <p:nvPr/>
        </p:nvSpPr>
        <p:spPr>
          <a:xfrm>
            <a:off x="3450157" y="1135355"/>
            <a:ext cx="2801656" cy="367288"/>
          </a:xfrm>
          <a:prstGeom prst="chevron">
            <a:avLst>
              <a:gd name="adj" fmla="val 32793"/>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7" name="熊大的PPT宝库8"/>
          <p:cNvSpPr/>
          <p:nvPr/>
        </p:nvSpPr>
        <p:spPr>
          <a:xfrm>
            <a:off x="6215632" y="1135355"/>
            <a:ext cx="2801656" cy="367288"/>
          </a:xfrm>
          <a:prstGeom prst="chevron">
            <a:avLst>
              <a:gd name="adj" fmla="val 32793"/>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8" name="熊大的PPT宝库9"/>
          <p:cNvSpPr/>
          <p:nvPr/>
        </p:nvSpPr>
        <p:spPr>
          <a:xfrm>
            <a:off x="8981106" y="1135355"/>
            <a:ext cx="2801656" cy="367288"/>
          </a:xfrm>
          <a:prstGeom prst="chevron">
            <a:avLst>
              <a:gd name="adj" fmla="val 32793"/>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4" name="熊大的PPT宝库10"/>
          <p:cNvSpPr txBox="1"/>
          <p:nvPr/>
        </p:nvSpPr>
        <p:spPr>
          <a:xfrm>
            <a:off x="1854677" y="1195056"/>
            <a:ext cx="461666" cy="27699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cs typeface="+mn-ea"/>
                <a:sym typeface="+mn-lt"/>
              </a:rPr>
              <a:t>计划</a:t>
            </a:r>
            <a:endParaRPr kumimoji="0" lang="en-US" altLang="zh-CN" sz="1800" b="1" i="0" u="none" strike="noStrike" kern="1200" cap="none" spc="0" normalizeH="0" baseline="0" noProof="0" dirty="0">
              <a:ln>
                <a:noFill/>
              </a:ln>
              <a:solidFill>
                <a:srgbClr val="000000"/>
              </a:solidFill>
              <a:effectLst/>
              <a:uLnTx/>
              <a:uFillTx/>
              <a:cs typeface="+mn-ea"/>
              <a:sym typeface="+mn-lt"/>
            </a:endParaRPr>
          </a:p>
        </p:txBody>
      </p:sp>
      <p:sp>
        <p:nvSpPr>
          <p:cNvPr id="19" name="熊大的PPT宝库11"/>
          <p:cNvSpPr txBox="1"/>
          <p:nvPr/>
        </p:nvSpPr>
        <p:spPr>
          <a:xfrm>
            <a:off x="7100293" y="1180500"/>
            <a:ext cx="1032335" cy="27699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cs typeface="+mn-ea"/>
                <a:sym typeface="+mn-lt"/>
              </a:rPr>
              <a:t>生产</a:t>
            </a:r>
            <a:r>
              <a:rPr kumimoji="0" lang="en-US" altLang="zh-CN" sz="1800" b="1" i="0" u="none" strike="noStrike" kern="1200" cap="none" spc="0" normalizeH="0" baseline="0" noProof="0" dirty="0">
                <a:ln>
                  <a:noFill/>
                </a:ln>
                <a:solidFill>
                  <a:srgbClr val="000000"/>
                </a:solidFill>
                <a:effectLst/>
                <a:uLnTx/>
                <a:uFillTx/>
                <a:cs typeface="+mn-ea"/>
                <a:sym typeface="+mn-lt"/>
              </a:rPr>
              <a:t>/</a:t>
            </a:r>
            <a:r>
              <a:rPr kumimoji="0" lang="zh-CN" altLang="en-US" sz="1800" b="1" i="0" u="none" strike="noStrike" kern="1200" cap="none" spc="0" normalizeH="0" baseline="0" noProof="0" dirty="0">
                <a:ln>
                  <a:noFill/>
                </a:ln>
                <a:solidFill>
                  <a:srgbClr val="000000"/>
                </a:solidFill>
                <a:effectLst/>
                <a:uLnTx/>
                <a:uFillTx/>
                <a:cs typeface="+mn-ea"/>
                <a:sym typeface="+mn-lt"/>
              </a:rPr>
              <a:t>制造</a:t>
            </a:r>
            <a:endParaRPr kumimoji="0" lang="en-US" altLang="zh-CN" sz="1800" b="1" i="0" u="none" strike="noStrike" kern="1200" cap="none" spc="0" normalizeH="0" baseline="0" noProof="0" dirty="0">
              <a:ln>
                <a:noFill/>
              </a:ln>
              <a:solidFill>
                <a:srgbClr val="000000"/>
              </a:solidFill>
              <a:effectLst/>
              <a:uLnTx/>
              <a:uFillTx/>
              <a:cs typeface="+mn-ea"/>
              <a:sym typeface="+mn-lt"/>
            </a:endParaRPr>
          </a:p>
        </p:txBody>
      </p:sp>
      <p:sp>
        <p:nvSpPr>
          <p:cNvPr id="20" name="熊大的PPT宝库12"/>
          <p:cNvSpPr txBox="1"/>
          <p:nvPr/>
        </p:nvSpPr>
        <p:spPr>
          <a:xfrm>
            <a:off x="4620152" y="1180500"/>
            <a:ext cx="461666" cy="27699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cs typeface="+mn-ea"/>
                <a:sym typeface="+mn-lt"/>
              </a:rPr>
              <a:t>采购</a:t>
            </a:r>
            <a:endParaRPr kumimoji="0" lang="en-US" altLang="zh-CN" sz="1800" b="1" i="0" u="none" strike="noStrike" kern="1200" cap="none" spc="0" normalizeH="0" baseline="0" noProof="0" dirty="0">
              <a:ln>
                <a:noFill/>
              </a:ln>
              <a:solidFill>
                <a:srgbClr val="FFFFFF"/>
              </a:solidFill>
              <a:effectLst/>
              <a:uLnTx/>
              <a:uFillTx/>
              <a:cs typeface="+mn-ea"/>
              <a:sym typeface="+mn-lt"/>
            </a:endParaRPr>
          </a:p>
        </p:txBody>
      </p:sp>
      <p:sp>
        <p:nvSpPr>
          <p:cNvPr id="21" name="熊大的PPT宝库13"/>
          <p:cNvSpPr txBox="1"/>
          <p:nvPr/>
        </p:nvSpPr>
        <p:spPr>
          <a:xfrm>
            <a:off x="10151102" y="1180500"/>
            <a:ext cx="461665" cy="27699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cs typeface="+mn-ea"/>
                <a:sym typeface="+mn-lt"/>
              </a:rPr>
              <a:t>运营</a:t>
            </a:r>
            <a:endParaRPr kumimoji="0" lang="en-US" altLang="zh-CN" sz="1800" b="1" i="0" u="none" strike="noStrike" kern="1200" cap="none" spc="0" normalizeH="0" baseline="0" noProof="0" dirty="0">
              <a:ln>
                <a:noFill/>
              </a:ln>
              <a:solidFill>
                <a:srgbClr val="FFFFFF"/>
              </a:solidFill>
              <a:effectLst/>
              <a:uLnTx/>
              <a:uFillTx/>
              <a:cs typeface="+mn-ea"/>
              <a:sym typeface="+mn-lt"/>
            </a:endParaRPr>
          </a:p>
        </p:txBody>
      </p:sp>
      <p:sp>
        <p:nvSpPr>
          <p:cNvPr id="27" name="熊大的PPT宝库14"/>
          <p:cNvSpPr/>
          <p:nvPr/>
        </p:nvSpPr>
        <p:spPr>
          <a:xfrm>
            <a:off x="696340" y="1517199"/>
            <a:ext cx="2662386" cy="3971975"/>
          </a:xfrm>
          <a:prstGeom prst="roundRect">
            <a:avLst>
              <a:gd name="adj" fmla="val 432"/>
            </a:avLst>
          </a:prstGeom>
          <a:solidFill>
            <a:schemeClr val="bg1"/>
          </a:solidFill>
          <a:ln>
            <a:noFill/>
          </a:ln>
          <a:effectLst>
            <a:outerShdw blurRad="215900" sx="102000" sy="102000" algn="ctr" rotWithShape="0">
              <a:schemeClr val="accent1">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8" name="熊大的PPT宝库15"/>
          <p:cNvSpPr/>
          <p:nvPr/>
        </p:nvSpPr>
        <p:spPr>
          <a:xfrm>
            <a:off x="3450157" y="1517199"/>
            <a:ext cx="2662386" cy="3971975"/>
          </a:xfrm>
          <a:prstGeom prst="roundRect">
            <a:avLst>
              <a:gd name="adj" fmla="val 432"/>
            </a:avLst>
          </a:prstGeom>
          <a:solidFill>
            <a:schemeClr val="bg1"/>
          </a:solidFill>
          <a:ln>
            <a:noFill/>
          </a:ln>
          <a:effectLst>
            <a:outerShdw blurRad="215900" sx="102000" sy="102000" algn="ctr" rotWithShape="0">
              <a:schemeClr val="accent1">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29" name="熊大的PPT宝库16"/>
          <p:cNvSpPr/>
          <p:nvPr/>
        </p:nvSpPr>
        <p:spPr>
          <a:xfrm>
            <a:off x="6203974" y="1517199"/>
            <a:ext cx="2662386" cy="3971975"/>
          </a:xfrm>
          <a:prstGeom prst="roundRect">
            <a:avLst>
              <a:gd name="adj" fmla="val 432"/>
            </a:avLst>
          </a:prstGeom>
          <a:solidFill>
            <a:schemeClr val="bg1"/>
          </a:solidFill>
          <a:ln>
            <a:noFill/>
          </a:ln>
          <a:effectLst>
            <a:outerShdw blurRad="215900" sx="102000" sy="102000" algn="ctr" rotWithShape="0">
              <a:schemeClr val="accent1">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30" name="熊大的PPT宝库17"/>
          <p:cNvSpPr/>
          <p:nvPr/>
        </p:nvSpPr>
        <p:spPr>
          <a:xfrm>
            <a:off x="8980644" y="1517199"/>
            <a:ext cx="2662386" cy="3971975"/>
          </a:xfrm>
          <a:prstGeom prst="roundRect">
            <a:avLst>
              <a:gd name="adj" fmla="val 432"/>
            </a:avLst>
          </a:prstGeom>
          <a:solidFill>
            <a:schemeClr val="bg1"/>
          </a:solidFill>
          <a:ln>
            <a:noFill/>
          </a:ln>
          <a:effectLst>
            <a:outerShdw blurRad="215900" sx="102000" sy="102000" algn="ctr" rotWithShape="0">
              <a:schemeClr val="accent1">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7" name="熊大的PPT宝库18"/>
          <p:cNvSpPr txBox="1"/>
          <p:nvPr/>
        </p:nvSpPr>
        <p:spPr>
          <a:xfrm>
            <a:off x="767533" y="1551850"/>
            <a:ext cx="2520000" cy="1520096"/>
          </a:xfrm>
          <a:prstGeom prst="rect">
            <a:avLst/>
          </a:prstGeom>
          <a:noFill/>
        </p:spPr>
        <p:txBody>
          <a:bodyPr wrap="square" lIns="0" tIns="0" rIns="0" bIns="0">
            <a:noAutofit/>
          </a:bodyPr>
          <a:lstStyle/>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供应链状兄诊断:</a:t>
            </a:r>
            <a:r>
              <a:rPr kumimoji="0" lang="zh-CN" altLang="en-US" sz="1100" b="0" i="0" u="none" strike="noStrike" kern="1200" cap="none" spc="0" normalizeH="0" baseline="0" noProof="0" dirty="0">
                <a:ln>
                  <a:noFill/>
                </a:ln>
                <a:solidFill>
                  <a:srgbClr val="000000"/>
                </a:solidFill>
                <a:effectLst/>
                <a:uLnTx/>
                <a:uFillTx/>
                <a:cs typeface="+mn-ea"/>
                <a:sym typeface="+mn-lt"/>
              </a:rPr>
              <a:t>上下游相互连接是否即时、通畅、协同</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计划:</a:t>
            </a:r>
            <a:r>
              <a:rPr kumimoji="0" lang="zh-CN" altLang="en-US" sz="1100" b="0" i="0" u="none" strike="noStrike" kern="1200" cap="none" spc="0" normalizeH="0" baseline="0" noProof="0" dirty="0">
                <a:ln>
                  <a:noFill/>
                </a:ln>
                <a:solidFill>
                  <a:srgbClr val="000000"/>
                </a:solidFill>
                <a:effectLst/>
                <a:uLnTx/>
                <a:uFillTx/>
                <a:cs typeface="+mn-ea"/>
                <a:sym typeface="+mn-lt"/>
              </a:rPr>
              <a:t>是否实现完全集成的自动供应链</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计划预测:</a:t>
            </a:r>
            <a:r>
              <a:rPr kumimoji="0" lang="zh-CN" altLang="en-US" sz="1100" b="0" i="0" u="none" strike="noStrike" kern="1200" cap="none" spc="0" normalizeH="0" baseline="0" noProof="0" dirty="0">
                <a:ln>
                  <a:noFill/>
                </a:ln>
                <a:solidFill>
                  <a:srgbClr val="000000"/>
                </a:solidFill>
                <a:effectLst/>
                <a:uLnTx/>
                <a:uFillTx/>
                <a:cs typeface="+mn-ea"/>
                <a:sym typeface="+mn-lt"/>
              </a:rPr>
              <a:t>是否实现连续、实时的数据驱动智能认知的分析与预测需求</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识别:</a:t>
            </a:r>
            <a:r>
              <a:rPr kumimoji="0" lang="zh-CN" altLang="en-US" sz="1100" b="0" i="0" u="none" strike="noStrike" kern="1200" cap="none" spc="0" normalizeH="0" baseline="0" noProof="0" dirty="0">
                <a:ln>
                  <a:noFill/>
                </a:ln>
                <a:solidFill>
                  <a:srgbClr val="000000"/>
                </a:solidFill>
                <a:effectLst/>
                <a:uLnTx/>
                <a:uFillTx/>
                <a:cs typeface="+mn-ea"/>
                <a:sym typeface="+mn-lt"/>
              </a:rPr>
              <a:t>上下游流程、需求能见度及可视化程度</a:t>
            </a:r>
          </a:p>
        </p:txBody>
      </p:sp>
      <p:sp>
        <p:nvSpPr>
          <p:cNvPr id="24" name="熊大的PPT宝库19"/>
          <p:cNvSpPr txBox="1"/>
          <p:nvPr/>
        </p:nvSpPr>
        <p:spPr>
          <a:xfrm>
            <a:off x="3521350" y="1551850"/>
            <a:ext cx="2520000" cy="1300036"/>
          </a:xfrm>
          <a:prstGeom prst="rect">
            <a:avLst/>
          </a:prstGeom>
          <a:noFill/>
        </p:spPr>
        <p:txBody>
          <a:bodyPr wrap="square" lIns="0" tIns="0" rIns="0" bIns="0">
            <a:noAutofit/>
          </a:bodyPr>
          <a:lstStyle/>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效率提升</a:t>
            </a:r>
            <a:r>
              <a:rPr kumimoji="0" lang="en-US" altLang="zh-CN" sz="1100" b="1"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节约人力、提升操作自动化</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成本控制</a:t>
            </a:r>
            <a:r>
              <a:rPr kumimoji="0" lang="en-US" altLang="zh-CN" sz="1100" b="1"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对采购显性</a:t>
            </a:r>
            <a:r>
              <a:rPr kumimoji="0" lang="en-US" altLang="zh-CN" sz="1100" b="0"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隐形成本绝对控制</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采购流程管理</a:t>
            </a:r>
            <a:r>
              <a:rPr kumimoji="0" lang="en-US" altLang="zh-CN" sz="1100" b="1"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可视化与合规性</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供应商管理</a:t>
            </a:r>
            <a:r>
              <a:rPr kumimoji="0" lang="en-US" altLang="zh-CN" sz="1100" b="1"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多级供应商协同</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采购连续性</a:t>
            </a:r>
            <a:r>
              <a:rPr kumimoji="0" lang="en-US" altLang="zh-CN" sz="1100" b="1"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供应风险及业务连续续性在疫情后成为绝大多数企业采购关注重点</a:t>
            </a:r>
          </a:p>
        </p:txBody>
      </p:sp>
      <p:sp>
        <p:nvSpPr>
          <p:cNvPr id="25" name="熊大的PPT宝库20"/>
          <p:cNvSpPr txBox="1"/>
          <p:nvPr/>
        </p:nvSpPr>
        <p:spPr>
          <a:xfrm>
            <a:off x="6275749" y="1551850"/>
            <a:ext cx="2518837" cy="1740156"/>
          </a:xfrm>
          <a:prstGeom prst="rect">
            <a:avLst/>
          </a:prstGeom>
          <a:noFill/>
        </p:spPr>
        <p:txBody>
          <a:bodyPr wrap="square" lIns="0" tIns="0" rIns="0" bIns="0">
            <a:noAutofit/>
          </a:bodyPr>
          <a:lstStyle/>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设计</a:t>
            </a:r>
            <a:r>
              <a:rPr kumimoji="0" lang="en-US" altLang="zh-CN" sz="1100" b="1"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常规产品</a:t>
            </a:r>
            <a:r>
              <a:rPr kumimoji="0" lang="en-US" altLang="zh-CN" sz="1100" b="0" i="0" u="none" strike="noStrike" kern="1200" cap="none" spc="0" normalizeH="0" baseline="0" noProof="0" dirty="0">
                <a:ln>
                  <a:noFill/>
                </a:ln>
                <a:solidFill>
                  <a:srgbClr val="000000"/>
                </a:solidFill>
                <a:effectLst/>
                <a:uLnTx/>
                <a:uFillTx/>
                <a:cs typeface="+mn-ea"/>
                <a:sym typeface="+mn-lt"/>
              </a:rPr>
              <a:t>-&gt;</a:t>
            </a:r>
            <a:r>
              <a:rPr kumimoji="0" lang="zh-CN" altLang="en-US" sz="1100" b="0" i="0" u="none" strike="noStrike" kern="1200" cap="none" spc="0" normalizeH="0" baseline="0" noProof="0" dirty="0">
                <a:ln>
                  <a:noFill/>
                </a:ln>
                <a:solidFill>
                  <a:srgbClr val="000000"/>
                </a:solidFill>
                <a:effectLst/>
                <a:uLnTx/>
                <a:uFillTx/>
                <a:cs typeface="+mn-ea"/>
                <a:sym typeface="+mn-lt"/>
              </a:rPr>
              <a:t>个性化产品</a:t>
            </a:r>
            <a:r>
              <a:rPr kumimoji="0" lang="en-US" altLang="zh-CN" sz="1100" b="0"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面向功能需求</a:t>
            </a:r>
            <a:r>
              <a:rPr kumimoji="0" lang="en-US" altLang="zh-CN" sz="1100" b="0" i="0" u="none" strike="noStrike" kern="1200" cap="none" spc="0" normalizeH="0" baseline="0" noProof="0" dirty="0">
                <a:ln>
                  <a:noFill/>
                </a:ln>
                <a:solidFill>
                  <a:srgbClr val="000000"/>
                </a:solidFill>
                <a:effectLst/>
                <a:uLnTx/>
                <a:uFillTx/>
                <a:cs typeface="+mn-ea"/>
                <a:sym typeface="+mn-lt"/>
              </a:rPr>
              <a:t>-&gt;</a:t>
            </a:r>
            <a:r>
              <a:rPr kumimoji="0" lang="zh-CN" altLang="en-US" sz="1100" b="0" i="0" u="none" strike="noStrike" kern="1200" cap="none" spc="0" normalizeH="0" baseline="0" noProof="0" dirty="0">
                <a:ln>
                  <a:noFill/>
                </a:ln>
                <a:solidFill>
                  <a:srgbClr val="000000"/>
                </a:solidFill>
                <a:effectLst/>
                <a:uLnTx/>
                <a:uFillTx/>
                <a:cs typeface="+mn-ea"/>
                <a:sym typeface="+mn-lt"/>
              </a:rPr>
              <a:t>面向客户需求</a:t>
            </a:r>
            <a:r>
              <a:rPr kumimoji="0" lang="en-US" altLang="zh-CN" sz="1100" b="0"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设计周期期长</a:t>
            </a:r>
            <a:r>
              <a:rPr kumimoji="0" lang="en-US" altLang="zh-CN" sz="1100" b="0" i="0" u="none" strike="noStrike" kern="1200" cap="none" spc="0" normalizeH="0" baseline="0" noProof="0" dirty="0">
                <a:ln>
                  <a:noFill/>
                </a:ln>
                <a:solidFill>
                  <a:srgbClr val="000000"/>
                </a:solidFill>
                <a:effectLst/>
                <a:uLnTx/>
                <a:uFillTx/>
                <a:cs typeface="+mn-ea"/>
                <a:sym typeface="+mn-lt"/>
              </a:rPr>
              <a:t>-&gt;</a:t>
            </a:r>
            <a:r>
              <a:rPr kumimoji="0" lang="zh-CN" altLang="en-US" sz="1100" b="0" i="0" u="none" strike="noStrike" kern="1200" cap="none" spc="0" normalizeH="0" baseline="0" noProof="0" dirty="0">
                <a:ln>
                  <a:noFill/>
                </a:ln>
                <a:solidFill>
                  <a:srgbClr val="000000"/>
                </a:solidFill>
                <a:effectLst/>
                <a:uLnTx/>
                <a:uFillTx/>
                <a:cs typeface="+mn-ea"/>
                <a:sym typeface="+mn-lt"/>
              </a:rPr>
              <a:t>数值化设计，周期短、可实时变更</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加工</a:t>
            </a:r>
            <a:r>
              <a:rPr kumimoji="0" lang="en-US" altLang="zh-CN" sz="1100" b="1"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柔性生产</a:t>
            </a:r>
            <a:r>
              <a:rPr kumimoji="0" lang="en-US" altLang="zh-CN" sz="1100" b="0"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智能化加工与监测</a:t>
            </a:r>
            <a:r>
              <a:rPr kumimoji="0" lang="en-US" altLang="zh-CN" sz="1100" b="0"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打破固化生产组织</a:t>
            </a:r>
            <a:r>
              <a:rPr kumimoji="0" lang="en-US" altLang="zh-CN" sz="1100" b="0"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加工成型方式多样化</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管理</a:t>
            </a:r>
            <a:r>
              <a:rPr kumimoji="0" lang="en-US" altLang="zh-CN" sz="1100" b="1"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人工管理</a:t>
            </a:r>
            <a:r>
              <a:rPr kumimoji="0" lang="en-US" altLang="zh-CN" sz="1100" b="0" i="0" u="none" strike="noStrike" kern="1200" cap="none" spc="0" normalizeH="0" baseline="0" noProof="0" dirty="0">
                <a:ln>
                  <a:noFill/>
                </a:ln>
                <a:solidFill>
                  <a:srgbClr val="000000"/>
                </a:solidFill>
                <a:effectLst/>
                <a:uLnTx/>
                <a:uFillTx/>
                <a:cs typeface="+mn-ea"/>
                <a:sym typeface="+mn-lt"/>
              </a:rPr>
              <a:t>-&gt;</a:t>
            </a:r>
            <a:r>
              <a:rPr kumimoji="0" lang="zh-CN" altLang="en-US" sz="1100" b="0" i="0" u="none" strike="noStrike" kern="1200" cap="none" spc="0" normalizeH="0" baseline="0" noProof="0" dirty="0">
                <a:ln>
                  <a:noFill/>
                </a:ln>
                <a:solidFill>
                  <a:srgbClr val="000000"/>
                </a:solidFill>
                <a:effectLst/>
                <a:uLnTx/>
                <a:uFillTx/>
                <a:cs typeface="+mn-ea"/>
                <a:sym typeface="+mn-lt"/>
              </a:rPr>
              <a:t>人机交互指令管理</a:t>
            </a:r>
            <a:r>
              <a:rPr kumimoji="0" lang="en-US" altLang="zh-CN" sz="1100" b="0"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企业内管理</a:t>
            </a:r>
            <a:r>
              <a:rPr kumimoji="0" lang="en-US" altLang="zh-CN" sz="1100" b="0" i="0" u="none" strike="noStrike" kern="1200" cap="none" spc="0" normalizeH="0" baseline="0" noProof="0" dirty="0">
                <a:ln>
                  <a:noFill/>
                </a:ln>
                <a:solidFill>
                  <a:srgbClr val="000000"/>
                </a:solidFill>
                <a:effectLst/>
                <a:uLnTx/>
                <a:uFillTx/>
                <a:cs typeface="+mn-ea"/>
                <a:sym typeface="+mn-lt"/>
              </a:rPr>
              <a:t>-&gt;</a:t>
            </a:r>
            <a:r>
              <a:rPr kumimoji="0" lang="zh-CN" altLang="en-US" sz="1100" b="0" i="0" u="none" strike="noStrike" kern="1200" cap="none" spc="0" normalizeH="0" baseline="0" noProof="0" dirty="0">
                <a:ln>
                  <a:noFill/>
                </a:ln>
                <a:solidFill>
                  <a:srgbClr val="000000"/>
                </a:solidFill>
                <a:effectLst/>
                <a:uLnTx/>
                <a:uFillTx/>
                <a:cs typeface="+mn-ea"/>
                <a:sym typeface="+mn-lt"/>
              </a:rPr>
              <a:t>供应链上下游管理</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服务</a:t>
            </a:r>
            <a:r>
              <a:rPr kumimoji="0" lang="en-US" altLang="zh-CN" sz="1100" b="1"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产品本身</a:t>
            </a:r>
            <a:r>
              <a:rPr kumimoji="0" lang="en-US" altLang="zh-CN" sz="1100" b="0" i="0" u="none" strike="noStrike" kern="1200" cap="none" spc="0" normalizeH="0" baseline="0" noProof="0" dirty="0">
                <a:ln>
                  <a:noFill/>
                </a:ln>
                <a:solidFill>
                  <a:srgbClr val="000000"/>
                </a:solidFill>
                <a:effectLst/>
                <a:uLnTx/>
                <a:uFillTx/>
                <a:cs typeface="+mn-ea"/>
                <a:sym typeface="+mn-lt"/>
              </a:rPr>
              <a:t>-&gt;</a:t>
            </a:r>
            <a:r>
              <a:rPr kumimoji="0" lang="zh-CN" altLang="en-US" sz="1100" b="0" i="0" u="none" strike="noStrike" kern="1200" cap="none" spc="0" normalizeH="0" baseline="0" noProof="0" dirty="0">
                <a:ln>
                  <a:noFill/>
                </a:ln>
                <a:solidFill>
                  <a:srgbClr val="000000"/>
                </a:solidFill>
                <a:effectLst/>
                <a:uLnTx/>
                <a:uFillTx/>
                <a:cs typeface="+mn-ea"/>
                <a:sym typeface="+mn-lt"/>
              </a:rPr>
              <a:t>产品全生命周期</a:t>
            </a:r>
          </a:p>
        </p:txBody>
      </p:sp>
      <p:sp>
        <p:nvSpPr>
          <p:cNvPr id="26" name="熊大的PPT宝库21"/>
          <p:cNvSpPr txBox="1"/>
          <p:nvPr/>
        </p:nvSpPr>
        <p:spPr>
          <a:xfrm>
            <a:off x="9052419" y="1551850"/>
            <a:ext cx="2518837" cy="1300036"/>
          </a:xfrm>
          <a:prstGeom prst="rect">
            <a:avLst/>
          </a:prstGeom>
          <a:noFill/>
        </p:spPr>
        <p:txBody>
          <a:bodyPr wrap="square" lIns="0" tIns="0" rIns="0" bIns="0">
            <a:noAutofit/>
          </a:bodyPr>
          <a:lstStyle/>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运营数字化认知</a:t>
            </a:r>
            <a:r>
              <a:rPr kumimoji="0" lang="en-US" altLang="zh-CN" sz="1100" b="1"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是否具备数字化运营理念及整体框架</a:t>
            </a:r>
            <a:r>
              <a:rPr kumimoji="0" lang="en-US" altLang="zh-CN" sz="1100" b="0"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数字化运营人才储备</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智能自动化管理水平</a:t>
            </a:r>
            <a:endParaRPr kumimoji="0" lang="en-US" altLang="zh-CN" sz="1100" b="1" i="0" u="none" strike="noStrike" kern="1200" cap="none" spc="0" normalizeH="0" baseline="0" noProof="0" dirty="0">
              <a:ln>
                <a:noFill/>
              </a:ln>
              <a:solidFill>
                <a:srgbClr val="000000"/>
              </a:solidFill>
              <a:effectLst/>
              <a:uLnTx/>
              <a:uFillTx/>
              <a:cs typeface="+mn-ea"/>
              <a:sym typeface="+mn-lt"/>
            </a:endParaRPr>
          </a:p>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运营成本把控及盈利能力提升</a:t>
            </a:r>
            <a:endParaRPr kumimoji="0" lang="en-US" altLang="zh-CN" sz="1100" b="1" i="0" u="none" strike="noStrike" kern="1200" cap="none" spc="0" normalizeH="0" baseline="0" noProof="0" dirty="0">
              <a:ln>
                <a:noFill/>
              </a:ln>
              <a:solidFill>
                <a:srgbClr val="000000"/>
              </a:solidFill>
              <a:effectLst/>
              <a:uLnTx/>
              <a:uFillTx/>
              <a:cs typeface="+mn-ea"/>
              <a:sym typeface="+mn-lt"/>
            </a:endParaRPr>
          </a:p>
          <a:p>
            <a:pPr marL="0" marR="0" lvl="0" indent="0" algn="just" defTabSz="457200" rtl="0" eaLnBrk="1" fontAlgn="auto" latinLnBrk="0" hangingPunct="1">
              <a:lnSpc>
                <a:spcPct val="13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cs typeface="+mn-ea"/>
                <a:sym typeface="+mn-lt"/>
              </a:rPr>
              <a:t>抗风险能力</a:t>
            </a:r>
            <a:r>
              <a:rPr kumimoji="0" lang="en-US" altLang="zh-CN" sz="1100" b="1"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增强供应链组织运营整体柔性及敏捷捷性</a:t>
            </a:r>
          </a:p>
        </p:txBody>
      </p:sp>
      <p:grpSp>
        <p:nvGrpSpPr>
          <p:cNvPr id="45" name="熊大的PPT宝库22"/>
          <p:cNvGrpSpPr/>
          <p:nvPr/>
        </p:nvGrpSpPr>
        <p:grpSpPr>
          <a:xfrm>
            <a:off x="1192064" y="3810887"/>
            <a:ext cx="1620137" cy="1450710"/>
            <a:chOff x="4354758" y="3722781"/>
            <a:chExt cx="2084498" cy="1796981"/>
          </a:xfrm>
        </p:grpSpPr>
        <p:sp>
          <p:nvSpPr>
            <p:cNvPr id="38" name="熊大的PPT宝库22-1"/>
            <p:cNvSpPr/>
            <p:nvPr/>
          </p:nvSpPr>
          <p:spPr>
            <a:xfrm>
              <a:off x="4354758" y="3722781"/>
              <a:ext cx="2084498" cy="1796981"/>
            </a:xfrm>
            <a:prstGeom prst="hexagon">
              <a:avLst/>
            </a:prstGeom>
            <a:noFill/>
            <a:ln w="19050">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cxnSp>
          <p:nvCxnSpPr>
            <p:cNvPr id="40" name="熊大的PPT宝库22-2"/>
            <p:cNvCxnSpPr>
              <a:stCxn id="38" idx="4"/>
              <a:endCxn id="38" idx="1"/>
            </p:cNvCxnSpPr>
            <p:nvPr/>
          </p:nvCxnSpPr>
          <p:spPr>
            <a:xfrm>
              <a:off x="4804003" y="3722781"/>
              <a:ext cx="1186008" cy="1796981"/>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熊大的PPT宝库22-3"/>
            <p:cNvCxnSpPr>
              <a:stCxn id="38" idx="3"/>
              <a:endCxn id="38" idx="0"/>
            </p:cNvCxnSpPr>
            <p:nvPr/>
          </p:nvCxnSpPr>
          <p:spPr>
            <a:xfrm>
              <a:off x="4354758" y="4621272"/>
              <a:ext cx="20844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熊大的PPT宝库22-4"/>
            <p:cNvCxnSpPr>
              <a:stCxn id="38" idx="5"/>
              <a:endCxn id="38" idx="2"/>
            </p:cNvCxnSpPr>
            <p:nvPr/>
          </p:nvCxnSpPr>
          <p:spPr>
            <a:xfrm flipH="1">
              <a:off x="4804003" y="3722781"/>
              <a:ext cx="1186008" cy="1796981"/>
            </a:xfrm>
            <a:prstGeom prst="line">
              <a:avLst/>
            </a:prstGeom>
          </p:spPr>
          <p:style>
            <a:lnRef idx="1">
              <a:schemeClr val="accent1"/>
            </a:lnRef>
            <a:fillRef idx="0">
              <a:schemeClr val="accent1"/>
            </a:fillRef>
            <a:effectRef idx="0">
              <a:schemeClr val="accent1"/>
            </a:effectRef>
            <a:fontRef idx="minor">
              <a:schemeClr val="tx1"/>
            </a:fontRef>
          </p:style>
        </p:cxnSp>
      </p:grpSp>
      <p:sp>
        <p:nvSpPr>
          <p:cNvPr id="46" name="熊大的PPT宝库23"/>
          <p:cNvSpPr/>
          <p:nvPr/>
        </p:nvSpPr>
        <p:spPr>
          <a:xfrm>
            <a:off x="2326050" y="3699196"/>
            <a:ext cx="291437" cy="291437"/>
          </a:xfrm>
          <a:prstGeom prst="ellipse">
            <a:avLst/>
          </a:prstGeom>
          <a:solidFill>
            <a:schemeClr val="bg1"/>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7" name="熊大的PPT宝库24"/>
          <p:cNvSpPr/>
          <p:nvPr/>
        </p:nvSpPr>
        <p:spPr>
          <a:xfrm>
            <a:off x="1395512" y="3699196"/>
            <a:ext cx="291437" cy="291437"/>
          </a:xfrm>
          <a:prstGeom prst="ellipse">
            <a:avLst/>
          </a:prstGeom>
          <a:solidFill>
            <a:schemeClr val="bg1"/>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8" name="熊大的PPT宝库25"/>
          <p:cNvSpPr/>
          <p:nvPr/>
        </p:nvSpPr>
        <p:spPr>
          <a:xfrm>
            <a:off x="2326050" y="5049364"/>
            <a:ext cx="291437" cy="291437"/>
          </a:xfrm>
          <a:prstGeom prst="ellipse">
            <a:avLst/>
          </a:prstGeom>
          <a:solidFill>
            <a:schemeClr val="bg1"/>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9" name="熊大的PPT宝库26"/>
          <p:cNvSpPr/>
          <p:nvPr/>
        </p:nvSpPr>
        <p:spPr>
          <a:xfrm>
            <a:off x="1395512" y="5049364"/>
            <a:ext cx="291437" cy="291437"/>
          </a:xfrm>
          <a:prstGeom prst="ellipse">
            <a:avLst/>
          </a:prstGeom>
          <a:solidFill>
            <a:schemeClr val="bg1"/>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0" name="熊大的PPT宝库27"/>
          <p:cNvSpPr/>
          <p:nvPr/>
        </p:nvSpPr>
        <p:spPr>
          <a:xfrm>
            <a:off x="2666481" y="4397104"/>
            <a:ext cx="291437" cy="291437"/>
          </a:xfrm>
          <a:prstGeom prst="ellipse">
            <a:avLst/>
          </a:prstGeom>
          <a:solidFill>
            <a:schemeClr val="bg1"/>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1" name="熊大的PPT宝库28"/>
          <p:cNvSpPr/>
          <p:nvPr/>
        </p:nvSpPr>
        <p:spPr>
          <a:xfrm>
            <a:off x="1051943" y="4397104"/>
            <a:ext cx="291437" cy="291437"/>
          </a:xfrm>
          <a:prstGeom prst="ellipse">
            <a:avLst/>
          </a:prstGeom>
          <a:solidFill>
            <a:schemeClr val="bg1"/>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2" name="熊大的PPT宝库29"/>
          <p:cNvSpPr/>
          <p:nvPr/>
        </p:nvSpPr>
        <p:spPr>
          <a:xfrm>
            <a:off x="1723303" y="4238613"/>
            <a:ext cx="590691" cy="590691"/>
          </a:xfrm>
          <a:prstGeom prst="ellipse">
            <a:avLst/>
          </a:prstGeom>
          <a:solidFill>
            <a:schemeClr val="bg1"/>
          </a:solidFill>
          <a:ln>
            <a:solidFill>
              <a:schemeClr val="accent1"/>
            </a:solid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4" name="熊大的PPT宝库30"/>
          <p:cNvSpPr txBox="1"/>
          <p:nvPr/>
        </p:nvSpPr>
        <p:spPr>
          <a:xfrm>
            <a:off x="1347314" y="3341713"/>
            <a:ext cx="1795363" cy="307777"/>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00329D"/>
                </a:solidFill>
                <a:effectLst/>
                <a:uLnTx/>
                <a:uFillTx/>
                <a:cs typeface="+mn-ea"/>
                <a:sym typeface="+mn-lt"/>
              </a:rPr>
              <a:t>基于需求的“拉动式”数字化，</a:t>
            </a:r>
            <a:endParaRPr kumimoji="0" lang="en-US" altLang="zh-CN" sz="1000" b="1" i="0" u="none" strike="noStrike" kern="1200" cap="none" spc="0" normalizeH="0" baseline="0" noProof="0" dirty="0">
              <a:ln>
                <a:noFill/>
              </a:ln>
              <a:solidFill>
                <a:srgbClr val="00329D"/>
              </a:solidFill>
              <a:effectLst/>
              <a:uLnTx/>
              <a:uFillTx/>
              <a:cs typeface="+mn-ea"/>
              <a:sym typeface="+mn-lt"/>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00329D"/>
                </a:solidFill>
                <a:effectLst/>
                <a:uLnTx/>
                <a:uFillTx/>
                <a:cs typeface="+mn-ea"/>
                <a:sym typeface="+mn-lt"/>
              </a:rPr>
              <a:t>供应链计划</a:t>
            </a:r>
          </a:p>
        </p:txBody>
      </p:sp>
      <p:sp>
        <p:nvSpPr>
          <p:cNvPr id="55" name="熊大的PPT宝库31"/>
          <p:cNvSpPr txBox="1"/>
          <p:nvPr/>
        </p:nvSpPr>
        <p:spPr>
          <a:xfrm>
            <a:off x="452811" y="3643051"/>
            <a:ext cx="217928" cy="1508105"/>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数字化能力建设</a:t>
            </a:r>
          </a:p>
        </p:txBody>
      </p:sp>
      <p:sp>
        <p:nvSpPr>
          <p:cNvPr id="56" name="熊大的PPT宝库32"/>
          <p:cNvSpPr txBox="1"/>
          <p:nvPr/>
        </p:nvSpPr>
        <p:spPr>
          <a:xfrm>
            <a:off x="452811" y="1642225"/>
            <a:ext cx="217928" cy="1292662"/>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重点关注方向</a:t>
            </a:r>
          </a:p>
        </p:txBody>
      </p:sp>
      <p:sp>
        <p:nvSpPr>
          <p:cNvPr id="58" name="熊大的PPT宝库33"/>
          <p:cNvSpPr txBox="1"/>
          <p:nvPr/>
        </p:nvSpPr>
        <p:spPr>
          <a:xfrm>
            <a:off x="1807052" y="4353587"/>
            <a:ext cx="410369" cy="369332"/>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dirty="0">
                <a:ln>
                  <a:noFill/>
                </a:ln>
                <a:solidFill>
                  <a:srgbClr val="00329D"/>
                </a:solidFill>
                <a:effectLst/>
                <a:uLnTx/>
                <a:uFillTx/>
                <a:cs typeface="+mn-ea"/>
                <a:sym typeface="+mn-lt"/>
              </a:rPr>
              <a:t>数字化</a:t>
            </a:r>
            <a:endParaRPr kumimoji="0" lang="en-US" altLang="zh-CN" sz="800" b="1"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dirty="0">
                <a:ln>
                  <a:noFill/>
                </a:ln>
                <a:solidFill>
                  <a:srgbClr val="00329D"/>
                </a:solidFill>
                <a:effectLst/>
                <a:uLnTx/>
                <a:uFillTx/>
                <a:cs typeface="+mn-ea"/>
                <a:sym typeface="+mn-lt"/>
              </a:rPr>
              <a:t>供应网络</a:t>
            </a:r>
            <a:endParaRPr kumimoji="0" lang="en-US" altLang="zh-CN" sz="800" b="1"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dirty="0">
                <a:ln>
                  <a:noFill/>
                </a:ln>
                <a:solidFill>
                  <a:srgbClr val="00329D"/>
                </a:solidFill>
                <a:effectLst/>
                <a:uLnTx/>
                <a:uFillTx/>
                <a:cs typeface="+mn-ea"/>
                <a:sym typeface="+mn-lt"/>
              </a:rPr>
              <a:t>计划中心</a:t>
            </a:r>
          </a:p>
        </p:txBody>
      </p:sp>
      <p:sp>
        <p:nvSpPr>
          <p:cNvPr id="59" name="熊大的PPT宝库34"/>
          <p:cNvSpPr txBox="1"/>
          <p:nvPr/>
        </p:nvSpPr>
        <p:spPr>
          <a:xfrm>
            <a:off x="2997228" y="4388199"/>
            <a:ext cx="230833" cy="276999"/>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rgbClr val="000000"/>
                </a:solidFill>
                <a:effectLst/>
                <a:uLnTx/>
                <a:uFillTx/>
                <a:cs typeface="+mn-ea"/>
                <a:sym typeface="+mn-lt"/>
              </a:rPr>
              <a:t>互联</a:t>
            </a:r>
            <a:endParaRPr kumimoji="0" lang="en-US" altLang="zh-CN" sz="900" b="1"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rgbClr val="000000"/>
                </a:solidFill>
                <a:effectLst/>
                <a:uLnTx/>
                <a:uFillTx/>
                <a:cs typeface="+mn-ea"/>
                <a:sym typeface="+mn-lt"/>
              </a:rPr>
              <a:t>客户</a:t>
            </a:r>
          </a:p>
        </p:txBody>
      </p:sp>
      <p:sp>
        <p:nvSpPr>
          <p:cNvPr id="60" name="熊大的PPT宝库35"/>
          <p:cNvSpPr txBox="1"/>
          <p:nvPr/>
        </p:nvSpPr>
        <p:spPr>
          <a:xfrm>
            <a:off x="2654228" y="5112325"/>
            <a:ext cx="230832" cy="276999"/>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rgbClr val="000000"/>
                </a:solidFill>
                <a:effectLst/>
                <a:uLnTx/>
                <a:uFillTx/>
                <a:cs typeface="+mn-ea"/>
                <a:sym typeface="+mn-lt"/>
              </a:rPr>
              <a:t>智能</a:t>
            </a:r>
            <a:endParaRPr kumimoji="0" lang="en-US" altLang="zh-CN" sz="900" b="1"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rgbClr val="000000"/>
                </a:solidFill>
                <a:effectLst/>
                <a:uLnTx/>
                <a:uFillTx/>
                <a:cs typeface="+mn-ea"/>
                <a:sym typeface="+mn-lt"/>
              </a:rPr>
              <a:t>供应</a:t>
            </a:r>
          </a:p>
        </p:txBody>
      </p:sp>
      <p:sp>
        <p:nvSpPr>
          <p:cNvPr id="61" name="熊大的PPT宝库36"/>
          <p:cNvSpPr txBox="1"/>
          <p:nvPr/>
        </p:nvSpPr>
        <p:spPr>
          <a:xfrm>
            <a:off x="2654231" y="3704068"/>
            <a:ext cx="230832" cy="276999"/>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rgbClr val="000000"/>
                </a:solidFill>
                <a:effectLst/>
                <a:uLnTx/>
                <a:uFillTx/>
                <a:cs typeface="+mn-ea"/>
                <a:sym typeface="+mn-lt"/>
              </a:rPr>
              <a:t>动态</a:t>
            </a:r>
            <a:endParaRPr kumimoji="0" lang="en-US" altLang="zh-CN" sz="900" b="1"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rgbClr val="000000"/>
                </a:solidFill>
                <a:effectLst/>
                <a:uLnTx/>
                <a:uFillTx/>
                <a:cs typeface="+mn-ea"/>
                <a:sym typeface="+mn-lt"/>
              </a:rPr>
              <a:t>执行</a:t>
            </a:r>
          </a:p>
        </p:txBody>
      </p:sp>
      <p:sp>
        <p:nvSpPr>
          <p:cNvPr id="62" name="熊大的PPT宝库37"/>
          <p:cNvSpPr txBox="1"/>
          <p:nvPr/>
        </p:nvSpPr>
        <p:spPr>
          <a:xfrm>
            <a:off x="1044509" y="5112325"/>
            <a:ext cx="346249" cy="276999"/>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rgbClr val="000000"/>
                </a:solidFill>
                <a:effectLst/>
                <a:uLnTx/>
                <a:uFillTx/>
                <a:cs typeface="+mn-ea"/>
                <a:sym typeface="+mn-lt"/>
              </a:rPr>
              <a:t>数字化</a:t>
            </a:r>
            <a:endParaRPr kumimoji="0" lang="en-US" altLang="zh-CN" sz="900" b="1"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rgbClr val="000000"/>
                </a:solidFill>
                <a:effectLst/>
                <a:uLnTx/>
                <a:uFillTx/>
                <a:cs typeface="+mn-ea"/>
                <a:sym typeface="+mn-lt"/>
              </a:rPr>
              <a:t>开发</a:t>
            </a:r>
          </a:p>
        </p:txBody>
      </p:sp>
      <p:sp>
        <p:nvSpPr>
          <p:cNvPr id="63" name="熊大的PPT宝库38"/>
          <p:cNvSpPr txBox="1"/>
          <p:nvPr/>
        </p:nvSpPr>
        <p:spPr>
          <a:xfrm>
            <a:off x="1102219" y="3704068"/>
            <a:ext cx="230832" cy="276999"/>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rgbClr val="000000"/>
                </a:solidFill>
                <a:effectLst/>
                <a:uLnTx/>
                <a:uFillTx/>
                <a:cs typeface="+mn-ea"/>
                <a:sym typeface="+mn-lt"/>
              </a:rPr>
              <a:t>同步</a:t>
            </a:r>
            <a:endParaRPr kumimoji="0" lang="en-US" altLang="zh-CN" sz="900" b="1"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rgbClr val="000000"/>
                </a:solidFill>
                <a:effectLst/>
                <a:uLnTx/>
                <a:uFillTx/>
                <a:cs typeface="+mn-ea"/>
                <a:sym typeface="+mn-lt"/>
              </a:rPr>
              <a:t>规划</a:t>
            </a:r>
          </a:p>
        </p:txBody>
      </p:sp>
      <p:sp>
        <p:nvSpPr>
          <p:cNvPr id="64" name="熊大的PPT宝库39"/>
          <p:cNvSpPr txBox="1"/>
          <p:nvPr/>
        </p:nvSpPr>
        <p:spPr>
          <a:xfrm>
            <a:off x="769548" y="4388199"/>
            <a:ext cx="230832" cy="276999"/>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rgbClr val="000000"/>
                </a:solidFill>
                <a:effectLst/>
                <a:uLnTx/>
                <a:uFillTx/>
                <a:cs typeface="+mn-ea"/>
                <a:sym typeface="+mn-lt"/>
              </a:rPr>
              <a:t>感知</a:t>
            </a:r>
            <a:endParaRPr kumimoji="0" lang="en-US" altLang="zh-CN" sz="900" b="1"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srgbClr val="000000"/>
                </a:solidFill>
                <a:effectLst/>
                <a:uLnTx/>
                <a:uFillTx/>
                <a:cs typeface="+mn-ea"/>
                <a:sym typeface="+mn-lt"/>
              </a:rPr>
              <a:t>用户</a:t>
            </a:r>
          </a:p>
        </p:txBody>
      </p:sp>
      <p:sp>
        <p:nvSpPr>
          <p:cNvPr id="65" name="熊大的PPT宝库40"/>
          <p:cNvSpPr/>
          <p:nvPr/>
        </p:nvSpPr>
        <p:spPr>
          <a:xfrm>
            <a:off x="1458553" y="3779018"/>
            <a:ext cx="153698" cy="135996"/>
          </a:xfrm>
          <a:custGeom>
            <a:avLst/>
            <a:gdLst>
              <a:gd name="T0" fmla="*/ 8330 w 9966"/>
              <a:gd name="T1" fmla="*/ 4877 h 8816"/>
              <a:gd name="T2" fmla="*/ 9432 w 9966"/>
              <a:gd name="T3" fmla="*/ 2444 h 8816"/>
              <a:gd name="T4" fmla="*/ 7073 w 9966"/>
              <a:gd name="T5" fmla="*/ 0 h 8816"/>
              <a:gd name="T6" fmla="*/ 4714 w 9966"/>
              <a:gd name="T7" fmla="*/ 2444 h 8816"/>
              <a:gd name="T8" fmla="*/ 5660 w 9966"/>
              <a:gd name="T9" fmla="*/ 4673 h 8816"/>
              <a:gd name="T10" fmla="*/ 5015 w 9966"/>
              <a:gd name="T11" fmla="*/ 4896 h 8816"/>
              <a:gd name="T12" fmla="*/ 3765 w 9966"/>
              <a:gd name="T13" fmla="*/ 4471 h 8816"/>
              <a:gd name="T14" fmla="*/ 4019 w 9966"/>
              <a:gd name="T15" fmla="*/ 3633 h 8816"/>
              <a:gd name="T16" fmla="*/ 2732 w 9966"/>
              <a:gd name="T17" fmla="*/ 2246 h 8816"/>
              <a:gd name="T18" fmla="*/ 1444 w 9966"/>
              <a:gd name="T19" fmla="*/ 3633 h 8816"/>
              <a:gd name="T20" fmla="*/ 1763 w 9966"/>
              <a:gd name="T21" fmla="*/ 4584 h 8816"/>
              <a:gd name="T22" fmla="*/ 1757 w 9966"/>
              <a:gd name="T23" fmla="*/ 4586 h 8816"/>
              <a:gd name="T24" fmla="*/ 0 w 9966"/>
              <a:gd name="T25" fmla="*/ 8816 h 8816"/>
              <a:gd name="T26" fmla="*/ 2658 w 9966"/>
              <a:gd name="T27" fmla="*/ 7737 h 8816"/>
              <a:gd name="T28" fmla="*/ 5075 w 9966"/>
              <a:gd name="T29" fmla="*/ 8816 h 8816"/>
              <a:gd name="T30" fmla="*/ 7344 w 9966"/>
              <a:gd name="T31" fmla="*/ 7737 h 8816"/>
              <a:gd name="T32" fmla="*/ 9966 w 9966"/>
              <a:gd name="T33" fmla="*/ 8816 h 8816"/>
              <a:gd name="T34" fmla="*/ 8330 w 9966"/>
              <a:gd name="T35" fmla="*/ 4877 h 8816"/>
              <a:gd name="T36" fmla="*/ 7074 w 9966"/>
              <a:gd name="T37" fmla="*/ 1258 h 8816"/>
              <a:gd name="T38" fmla="*/ 8219 w 9966"/>
              <a:gd name="T39" fmla="*/ 2446 h 8816"/>
              <a:gd name="T40" fmla="*/ 7074 w 9966"/>
              <a:gd name="T41" fmla="*/ 3633 h 8816"/>
              <a:gd name="T42" fmla="*/ 5929 w 9966"/>
              <a:gd name="T43" fmla="*/ 2446 h 8816"/>
              <a:gd name="T44" fmla="*/ 7074 w 9966"/>
              <a:gd name="T45" fmla="*/ 1258 h 8816"/>
              <a:gd name="T46" fmla="*/ 2733 w 9966"/>
              <a:gd name="T47" fmla="*/ 2959 h 8816"/>
              <a:gd name="T48" fmla="*/ 3358 w 9966"/>
              <a:gd name="T49" fmla="*/ 3633 h 8816"/>
              <a:gd name="T50" fmla="*/ 2733 w 9966"/>
              <a:gd name="T51" fmla="*/ 4307 h 8816"/>
              <a:gd name="T52" fmla="*/ 2108 w 9966"/>
              <a:gd name="T53" fmla="*/ 3633 h 8816"/>
              <a:gd name="T54" fmla="*/ 2733 w 9966"/>
              <a:gd name="T55" fmla="*/ 2959 h 8816"/>
              <a:gd name="T56" fmla="*/ 7299 w 9966"/>
              <a:gd name="T57" fmla="*/ 7097 h 8816"/>
              <a:gd name="T58" fmla="*/ 5074 w 9966"/>
              <a:gd name="T59" fmla="*/ 8134 h 8816"/>
              <a:gd name="T60" fmla="*/ 2702 w 9966"/>
              <a:gd name="T61" fmla="*/ 7098 h 8816"/>
              <a:gd name="T62" fmla="*/ 933 w 9966"/>
              <a:gd name="T63" fmla="*/ 7963 h 8816"/>
              <a:gd name="T64" fmla="*/ 1947 w 9966"/>
              <a:gd name="T65" fmla="*/ 5149 h 8816"/>
              <a:gd name="T66" fmla="*/ 2112 w 9966"/>
              <a:gd name="T67" fmla="*/ 5117 h 8816"/>
              <a:gd name="T68" fmla="*/ 2734 w 9966"/>
              <a:gd name="T69" fmla="*/ 6051 h 8816"/>
              <a:gd name="T70" fmla="*/ 3472 w 9966"/>
              <a:gd name="T71" fmla="*/ 4937 h 8816"/>
              <a:gd name="T72" fmla="*/ 5022 w 9966"/>
              <a:gd name="T73" fmla="*/ 5472 h 8816"/>
              <a:gd name="T74" fmla="*/ 5990 w 9966"/>
              <a:gd name="T75" fmla="*/ 5133 h 8816"/>
              <a:gd name="T76" fmla="*/ 7077 w 9966"/>
              <a:gd name="T77" fmla="*/ 6708 h 8816"/>
              <a:gd name="T78" fmla="*/ 8063 w 9966"/>
              <a:gd name="T79" fmla="*/ 5254 h 8816"/>
              <a:gd name="T80" fmla="*/ 9084 w 9966"/>
              <a:gd name="T81" fmla="*/ 8001 h 8816"/>
              <a:gd name="T82" fmla="*/ 7299 w 9966"/>
              <a:gd name="T83" fmla="*/ 7097 h 88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966" h="8816">
                <a:moveTo>
                  <a:pt x="8330" y="4877"/>
                </a:moveTo>
                <a:cubicBezTo>
                  <a:pt x="8953" y="4012"/>
                  <a:pt x="9432" y="3276"/>
                  <a:pt x="9432" y="2444"/>
                </a:cubicBezTo>
                <a:cubicBezTo>
                  <a:pt x="9432" y="1094"/>
                  <a:pt x="8377" y="0"/>
                  <a:pt x="7073" y="0"/>
                </a:cubicBezTo>
                <a:cubicBezTo>
                  <a:pt x="5770" y="0"/>
                  <a:pt x="4714" y="1095"/>
                  <a:pt x="4714" y="2444"/>
                </a:cubicBezTo>
                <a:cubicBezTo>
                  <a:pt x="4714" y="3191"/>
                  <a:pt x="5124" y="3903"/>
                  <a:pt x="5660" y="4673"/>
                </a:cubicBezTo>
                <a:lnTo>
                  <a:pt x="5015" y="4896"/>
                </a:lnTo>
                <a:lnTo>
                  <a:pt x="3765" y="4471"/>
                </a:lnTo>
                <a:cubicBezTo>
                  <a:pt x="3920" y="4193"/>
                  <a:pt x="4019" y="3923"/>
                  <a:pt x="4019" y="3633"/>
                </a:cubicBezTo>
                <a:cubicBezTo>
                  <a:pt x="4019" y="2867"/>
                  <a:pt x="3442" y="2246"/>
                  <a:pt x="2732" y="2246"/>
                </a:cubicBezTo>
                <a:cubicBezTo>
                  <a:pt x="2020" y="2246"/>
                  <a:pt x="1444" y="2867"/>
                  <a:pt x="1444" y="3633"/>
                </a:cubicBezTo>
                <a:cubicBezTo>
                  <a:pt x="1444" y="3953"/>
                  <a:pt x="1574" y="4263"/>
                  <a:pt x="1763" y="4584"/>
                </a:cubicBezTo>
                <a:lnTo>
                  <a:pt x="1757" y="4586"/>
                </a:lnTo>
                <a:lnTo>
                  <a:pt x="0" y="8816"/>
                </a:lnTo>
                <a:lnTo>
                  <a:pt x="2658" y="7737"/>
                </a:lnTo>
                <a:lnTo>
                  <a:pt x="5075" y="8816"/>
                </a:lnTo>
                <a:lnTo>
                  <a:pt x="7344" y="7737"/>
                </a:lnTo>
                <a:lnTo>
                  <a:pt x="9966" y="8816"/>
                </a:lnTo>
                <a:lnTo>
                  <a:pt x="8330" y="4877"/>
                </a:lnTo>
                <a:close/>
                <a:moveTo>
                  <a:pt x="7074" y="1258"/>
                </a:moveTo>
                <a:cubicBezTo>
                  <a:pt x="7707" y="1258"/>
                  <a:pt x="8219" y="1789"/>
                  <a:pt x="8219" y="2446"/>
                </a:cubicBezTo>
                <a:cubicBezTo>
                  <a:pt x="8219" y="3101"/>
                  <a:pt x="7707" y="3633"/>
                  <a:pt x="7074" y="3633"/>
                </a:cubicBezTo>
                <a:cubicBezTo>
                  <a:pt x="6442" y="3633"/>
                  <a:pt x="5929" y="3101"/>
                  <a:pt x="5929" y="2446"/>
                </a:cubicBezTo>
                <a:cubicBezTo>
                  <a:pt x="5930" y="1788"/>
                  <a:pt x="6440" y="1258"/>
                  <a:pt x="7074" y="1258"/>
                </a:cubicBezTo>
                <a:close/>
                <a:moveTo>
                  <a:pt x="2733" y="2959"/>
                </a:moveTo>
                <a:cubicBezTo>
                  <a:pt x="3077" y="2959"/>
                  <a:pt x="3358" y="3261"/>
                  <a:pt x="3358" y="3633"/>
                </a:cubicBezTo>
                <a:cubicBezTo>
                  <a:pt x="3358" y="4005"/>
                  <a:pt x="3077" y="4307"/>
                  <a:pt x="2733" y="4307"/>
                </a:cubicBezTo>
                <a:cubicBezTo>
                  <a:pt x="2388" y="4307"/>
                  <a:pt x="2108" y="4004"/>
                  <a:pt x="2108" y="3633"/>
                </a:cubicBezTo>
                <a:cubicBezTo>
                  <a:pt x="2108" y="3261"/>
                  <a:pt x="2388" y="2959"/>
                  <a:pt x="2733" y="2959"/>
                </a:cubicBezTo>
                <a:close/>
                <a:moveTo>
                  <a:pt x="7299" y="7097"/>
                </a:moveTo>
                <a:lnTo>
                  <a:pt x="5074" y="8134"/>
                </a:lnTo>
                <a:lnTo>
                  <a:pt x="2702" y="7098"/>
                </a:lnTo>
                <a:lnTo>
                  <a:pt x="933" y="7963"/>
                </a:lnTo>
                <a:lnTo>
                  <a:pt x="1947" y="5149"/>
                </a:lnTo>
                <a:lnTo>
                  <a:pt x="2112" y="5117"/>
                </a:lnTo>
                <a:cubicBezTo>
                  <a:pt x="2313" y="5405"/>
                  <a:pt x="2533" y="5712"/>
                  <a:pt x="2734" y="6051"/>
                </a:cubicBezTo>
                <a:cubicBezTo>
                  <a:pt x="2984" y="5622"/>
                  <a:pt x="3247" y="5264"/>
                  <a:pt x="3472" y="4937"/>
                </a:cubicBezTo>
                <a:lnTo>
                  <a:pt x="5022" y="5472"/>
                </a:lnTo>
                <a:lnTo>
                  <a:pt x="5990" y="5133"/>
                </a:lnTo>
                <a:cubicBezTo>
                  <a:pt x="6344" y="5622"/>
                  <a:pt x="6727" y="6138"/>
                  <a:pt x="7077" y="6708"/>
                </a:cubicBezTo>
                <a:cubicBezTo>
                  <a:pt x="7404" y="6165"/>
                  <a:pt x="7744" y="5692"/>
                  <a:pt x="8063" y="5254"/>
                </a:cubicBezTo>
                <a:lnTo>
                  <a:pt x="9084" y="8001"/>
                </a:lnTo>
                <a:lnTo>
                  <a:pt x="7299" y="709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6" name="熊大的PPT宝库41"/>
          <p:cNvSpPr/>
          <p:nvPr/>
        </p:nvSpPr>
        <p:spPr>
          <a:xfrm>
            <a:off x="1130390" y="4472795"/>
            <a:ext cx="126625" cy="155843"/>
          </a:xfrm>
          <a:custGeom>
            <a:avLst/>
            <a:gdLst>
              <a:gd name="connsiteX0" fmla="*/ 222669 w 493773"/>
              <a:gd name="connsiteY0" fmla="*/ 543286 h 607709"/>
              <a:gd name="connsiteX1" fmla="*/ 198155 w 493773"/>
              <a:gd name="connsiteY1" fmla="*/ 567757 h 607709"/>
              <a:gd name="connsiteX2" fmla="*/ 222669 w 493773"/>
              <a:gd name="connsiteY2" fmla="*/ 592229 h 607709"/>
              <a:gd name="connsiteX3" fmla="*/ 247276 w 493773"/>
              <a:gd name="connsiteY3" fmla="*/ 567757 h 607709"/>
              <a:gd name="connsiteX4" fmla="*/ 222669 w 493773"/>
              <a:gd name="connsiteY4" fmla="*/ 543286 h 607709"/>
              <a:gd name="connsiteX5" fmla="*/ 66120 w 493773"/>
              <a:gd name="connsiteY5" fmla="*/ 357555 h 607709"/>
              <a:gd name="connsiteX6" fmla="*/ 278875 w 493773"/>
              <a:gd name="connsiteY6" fmla="*/ 357555 h 607709"/>
              <a:gd name="connsiteX7" fmla="*/ 278875 w 493773"/>
              <a:gd name="connsiteY7" fmla="*/ 369410 h 607709"/>
              <a:gd name="connsiteX8" fmla="*/ 66120 w 493773"/>
              <a:gd name="connsiteY8" fmla="*/ 369410 h 607709"/>
              <a:gd name="connsiteX9" fmla="*/ 376133 w 493773"/>
              <a:gd name="connsiteY9" fmla="*/ 332507 h 607709"/>
              <a:gd name="connsiteX10" fmla="*/ 388327 w 493773"/>
              <a:gd name="connsiteY10" fmla="*/ 346514 h 607709"/>
              <a:gd name="connsiteX11" fmla="*/ 397424 w 493773"/>
              <a:gd name="connsiteY11" fmla="*/ 435865 h 607709"/>
              <a:gd name="connsiteX12" fmla="*/ 433160 w 493773"/>
              <a:gd name="connsiteY12" fmla="*/ 443929 h 607709"/>
              <a:gd name="connsiteX13" fmla="*/ 465276 w 493773"/>
              <a:gd name="connsiteY13" fmla="*/ 456442 h 607709"/>
              <a:gd name="connsiteX14" fmla="*/ 493773 w 493773"/>
              <a:gd name="connsiteY14" fmla="*/ 487585 h 607709"/>
              <a:gd name="connsiteX15" fmla="*/ 469082 w 493773"/>
              <a:gd name="connsiteY15" fmla="*/ 607709 h 607709"/>
              <a:gd name="connsiteX16" fmla="*/ 376631 w 493773"/>
              <a:gd name="connsiteY16" fmla="*/ 607709 h 607709"/>
              <a:gd name="connsiteX17" fmla="*/ 379973 w 493773"/>
              <a:gd name="connsiteY17" fmla="*/ 576751 h 607709"/>
              <a:gd name="connsiteX18" fmla="*/ 334305 w 493773"/>
              <a:gd name="connsiteY18" fmla="*/ 533095 h 607709"/>
              <a:gd name="connsiteX19" fmla="*/ 318896 w 493773"/>
              <a:gd name="connsiteY19" fmla="*/ 510850 h 607709"/>
              <a:gd name="connsiteX20" fmla="*/ 312306 w 493773"/>
              <a:gd name="connsiteY20" fmla="*/ 481931 h 607709"/>
              <a:gd name="connsiteX21" fmla="*/ 332263 w 493773"/>
              <a:gd name="connsiteY21" fmla="*/ 464506 h 607709"/>
              <a:gd name="connsiteX22" fmla="*/ 357603 w 493773"/>
              <a:gd name="connsiteY22" fmla="*/ 508440 h 607709"/>
              <a:gd name="connsiteX23" fmla="*/ 364750 w 493773"/>
              <a:gd name="connsiteY23" fmla="*/ 449305 h 607709"/>
              <a:gd name="connsiteX24" fmla="*/ 364008 w 493773"/>
              <a:gd name="connsiteY24" fmla="*/ 352909 h 607709"/>
              <a:gd name="connsiteX25" fmla="*/ 376133 w 493773"/>
              <a:gd name="connsiteY25" fmla="*/ 332507 h 607709"/>
              <a:gd name="connsiteX26" fmla="*/ 66120 w 493773"/>
              <a:gd name="connsiteY26" fmla="*/ 314863 h 607709"/>
              <a:gd name="connsiteX27" fmla="*/ 278875 w 493773"/>
              <a:gd name="connsiteY27" fmla="*/ 314863 h 607709"/>
              <a:gd name="connsiteX28" fmla="*/ 278875 w 493773"/>
              <a:gd name="connsiteY28" fmla="*/ 326859 h 607709"/>
              <a:gd name="connsiteX29" fmla="*/ 66120 w 493773"/>
              <a:gd name="connsiteY29" fmla="*/ 326859 h 607709"/>
              <a:gd name="connsiteX30" fmla="*/ 66120 w 493773"/>
              <a:gd name="connsiteY30" fmla="*/ 275769 h 607709"/>
              <a:gd name="connsiteX31" fmla="*/ 278875 w 493773"/>
              <a:gd name="connsiteY31" fmla="*/ 275769 h 607709"/>
              <a:gd name="connsiteX32" fmla="*/ 278875 w 493773"/>
              <a:gd name="connsiteY32" fmla="*/ 287624 h 607709"/>
              <a:gd name="connsiteX33" fmla="*/ 66120 w 493773"/>
              <a:gd name="connsiteY33" fmla="*/ 287624 h 607709"/>
              <a:gd name="connsiteX34" fmla="*/ 66120 w 493773"/>
              <a:gd name="connsiteY34" fmla="*/ 233077 h 607709"/>
              <a:gd name="connsiteX35" fmla="*/ 278875 w 493773"/>
              <a:gd name="connsiteY35" fmla="*/ 233077 h 607709"/>
              <a:gd name="connsiteX36" fmla="*/ 278875 w 493773"/>
              <a:gd name="connsiteY36" fmla="*/ 245003 h 607709"/>
              <a:gd name="connsiteX37" fmla="*/ 66120 w 493773"/>
              <a:gd name="connsiteY37" fmla="*/ 245003 h 607709"/>
              <a:gd name="connsiteX38" fmla="*/ 41321 w 493773"/>
              <a:gd name="connsiteY38" fmla="*/ 0 h 607709"/>
              <a:gd name="connsiteX39" fmla="*/ 404017 w 493773"/>
              <a:gd name="connsiteY39" fmla="*/ 0 h 607709"/>
              <a:gd name="connsiteX40" fmla="*/ 445338 w 493773"/>
              <a:gd name="connsiteY40" fmla="*/ 41249 h 607709"/>
              <a:gd name="connsiteX41" fmla="*/ 445338 w 493773"/>
              <a:gd name="connsiteY41" fmla="*/ 423802 h 607709"/>
              <a:gd name="connsiteX42" fmla="*/ 440138 w 493773"/>
              <a:gd name="connsiteY42" fmla="*/ 424265 h 607709"/>
              <a:gd name="connsiteX43" fmla="*/ 414603 w 493773"/>
              <a:gd name="connsiteY43" fmla="*/ 413235 h 607709"/>
              <a:gd name="connsiteX44" fmla="*/ 411631 w 493773"/>
              <a:gd name="connsiteY44" fmla="*/ 413327 h 607709"/>
              <a:gd name="connsiteX45" fmla="*/ 409217 w 493773"/>
              <a:gd name="connsiteY45" fmla="*/ 386817 h 607709"/>
              <a:gd name="connsiteX46" fmla="*/ 404760 w 493773"/>
              <a:gd name="connsiteY46" fmla="*/ 343250 h 607709"/>
              <a:gd name="connsiteX47" fmla="*/ 403553 w 493773"/>
              <a:gd name="connsiteY47" fmla="*/ 338801 h 607709"/>
              <a:gd name="connsiteX48" fmla="*/ 403553 w 493773"/>
              <a:gd name="connsiteY48" fmla="*/ 49592 h 607709"/>
              <a:gd name="connsiteX49" fmla="*/ 372725 w 493773"/>
              <a:gd name="connsiteY49" fmla="*/ 49592 h 607709"/>
              <a:gd name="connsiteX50" fmla="*/ 372725 w 493773"/>
              <a:gd name="connsiteY50" fmla="*/ 209676 h 607709"/>
              <a:gd name="connsiteX51" fmla="*/ 315618 w 493773"/>
              <a:gd name="connsiteY51" fmla="*/ 166388 h 607709"/>
              <a:gd name="connsiteX52" fmla="*/ 256190 w 493773"/>
              <a:gd name="connsiteY52" fmla="*/ 209676 h 607709"/>
              <a:gd name="connsiteX53" fmla="*/ 256190 w 493773"/>
              <a:gd name="connsiteY53" fmla="*/ 49592 h 607709"/>
              <a:gd name="connsiteX54" fmla="*/ 41785 w 493773"/>
              <a:gd name="connsiteY54" fmla="*/ 49592 h 607709"/>
              <a:gd name="connsiteX55" fmla="*/ 41785 w 493773"/>
              <a:gd name="connsiteY55" fmla="*/ 521781 h 607709"/>
              <a:gd name="connsiteX56" fmla="*/ 305218 w 493773"/>
              <a:gd name="connsiteY56" fmla="*/ 521781 h 607709"/>
              <a:gd name="connsiteX57" fmla="*/ 322211 w 493773"/>
              <a:gd name="connsiteY57" fmla="*/ 544676 h 607709"/>
              <a:gd name="connsiteX58" fmla="*/ 367711 w 493773"/>
              <a:gd name="connsiteY58" fmla="*/ 588243 h 607709"/>
              <a:gd name="connsiteX59" fmla="*/ 363161 w 493773"/>
              <a:gd name="connsiteY59" fmla="*/ 597791 h 607709"/>
              <a:gd name="connsiteX60" fmla="*/ 355918 w 493773"/>
              <a:gd name="connsiteY60" fmla="*/ 607709 h 607709"/>
              <a:gd name="connsiteX61" fmla="*/ 41321 w 493773"/>
              <a:gd name="connsiteY61" fmla="*/ 607709 h 607709"/>
              <a:gd name="connsiteX62" fmla="*/ 0 w 493773"/>
              <a:gd name="connsiteY62" fmla="*/ 566552 h 607709"/>
              <a:gd name="connsiteX63" fmla="*/ 0 w 493773"/>
              <a:gd name="connsiteY63" fmla="*/ 41249 h 607709"/>
              <a:gd name="connsiteX64" fmla="*/ 41321 w 493773"/>
              <a:gd name="connsiteY64" fmla="*/ 0 h 607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493773" h="607709">
                <a:moveTo>
                  <a:pt x="222669" y="543286"/>
                </a:moveTo>
                <a:cubicBezTo>
                  <a:pt x="209112" y="543286"/>
                  <a:pt x="198155" y="554317"/>
                  <a:pt x="198155" y="567757"/>
                </a:cubicBezTo>
                <a:cubicBezTo>
                  <a:pt x="198155" y="581291"/>
                  <a:pt x="209112" y="592229"/>
                  <a:pt x="222669" y="592229"/>
                </a:cubicBezTo>
                <a:cubicBezTo>
                  <a:pt x="236226" y="592229"/>
                  <a:pt x="247276" y="581384"/>
                  <a:pt x="247276" y="567757"/>
                </a:cubicBezTo>
                <a:cubicBezTo>
                  <a:pt x="247276" y="554317"/>
                  <a:pt x="236319" y="543286"/>
                  <a:pt x="222669" y="543286"/>
                </a:cubicBezTo>
                <a:close/>
                <a:moveTo>
                  <a:pt x="66120" y="357555"/>
                </a:moveTo>
                <a:lnTo>
                  <a:pt x="278875" y="357555"/>
                </a:lnTo>
                <a:lnTo>
                  <a:pt x="278875" y="369410"/>
                </a:lnTo>
                <a:lnTo>
                  <a:pt x="66120" y="369410"/>
                </a:lnTo>
                <a:close/>
                <a:moveTo>
                  <a:pt x="376133" y="332507"/>
                </a:moveTo>
                <a:cubicBezTo>
                  <a:pt x="381760" y="333538"/>
                  <a:pt x="387399" y="340304"/>
                  <a:pt x="388327" y="346514"/>
                </a:cubicBezTo>
                <a:cubicBezTo>
                  <a:pt x="389627" y="351056"/>
                  <a:pt x="396124" y="432992"/>
                  <a:pt x="397424" y="435865"/>
                </a:cubicBezTo>
                <a:cubicBezTo>
                  <a:pt x="397424" y="435865"/>
                  <a:pt x="421557" y="418069"/>
                  <a:pt x="433160" y="443929"/>
                </a:cubicBezTo>
                <a:cubicBezTo>
                  <a:pt x="433160" y="443929"/>
                  <a:pt x="456365" y="430582"/>
                  <a:pt x="465276" y="456442"/>
                </a:cubicBezTo>
                <a:cubicBezTo>
                  <a:pt x="465276" y="456442"/>
                  <a:pt x="493958" y="457647"/>
                  <a:pt x="493773" y="487585"/>
                </a:cubicBezTo>
                <a:cubicBezTo>
                  <a:pt x="493773" y="487585"/>
                  <a:pt x="483748" y="580644"/>
                  <a:pt x="469082" y="607709"/>
                </a:cubicBezTo>
                <a:cubicBezTo>
                  <a:pt x="462306" y="607709"/>
                  <a:pt x="376631" y="607709"/>
                  <a:pt x="376631" y="607709"/>
                </a:cubicBezTo>
                <a:cubicBezTo>
                  <a:pt x="376631" y="607709"/>
                  <a:pt x="391854" y="587040"/>
                  <a:pt x="379973" y="576751"/>
                </a:cubicBezTo>
                <a:cubicBezTo>
                  <a:pt x="379973" y="576751"/>
                  <a:pt x="355468" y="555989"/>
                  <a:pt x="334305" y="533095"/>
                </a:cubicBezTo>
                <a:cubicBezTo>
                  <a:pt x="334305" y="533095"/>
                  <a:pt x="320938" y="519748"/>
                  <a:pt x="318896" y="510850"/>
                </a:cubicBezTo>
                <a:cubicBezTo>
                  <a:pt x="315369" y="484990"/>
                  <a:pt x="313049" y="485731"/>
                  <a:pt x="312306" y="481931"/>
                </a:cubicBezTo>
                <a:cubicBezTo>
                  <a:pt x="305901" y="461262"/>
                  <a:pt x="318525" y="437904"/>
                  <a:pt x="332263" y="464506"/>
                </a:cubicBezTo>
                <a:cubicBezTo>
                  <a:pt x="332634" y="465247"/>
                  <a:pt x="350920" y="508903"/>
                  <a:pt x="357603" y="508440"/>
                </a:cubicBezTo>
                <a:cubicBezTo>
                  <a:pt x="369670" y="507977"/>
                  <a:pt x="364843" y="454496"/>
                  <a:pt x="364750" y="449305"/>
                </a:cubicBezTo>
                <a:cubicBezTo>
                  <a:pt x="364750" y="449305"/>
                  <a:pt x="362708" y="416493"/>
                  <a:pt x="364008" y="352909"/>
                </a:cubicBezTo>
                <a:cubicBezTo>
                  <a:pt x="364890" y="336179"/>
                  <a:pt x="370505" y="331475"/>
                  <a:pt x="376133" y="332507"/>
                </a:cubicBezTo>
                <a:close/>
                <a:moveTo>
                  <a:pt x="66120" y="314863"/>
                </a:moveTo>
                <a:lnTo>
                  <a:pt x="278875" y="314863"/>
                </a:lnTo>
                <a:lnTo>
                  <a:pt x="278875" y="326859"/>
                </a:lnTo>
                <a:lnTo>
                  <a:pt x="66120" y="326859"/>
                </a:lnTo>
                <a:close/>
                <a:moveTo>
                  <a:pt x="66120" y="275769"/>
                </a:moveTo>
                <a:lnTo>
                  <a:pt x="278875" y="275769"/>
                </a:lnTo>
                <a:lnTo>
                  <a:pt x="278875" y="287624"/>
                </a:lnTo>
                <a:lnTo>
                  <a:pt x="66120" y="287624"/>
                </a:lnTo>
                <a:close/>
                <a:moveTo>
                  <a:pt x="66120" y="233077"/>
                </a:moveTo>
                <a:lnTo>
                  <a:pt x="278875" y="233077"/>
                </a:lnTo>
                <a:lnTo>
                  <a:pt x="278875" y="245003"/>
                </a:lnTo>
                <a:lnTo>
                  <a:pt x="66120" y="245003"/>
                </a:lnTo>
                <a:close/>
                <a:moveTo>
                  <a:pt x="41321" y="0"/>
                </a:moveTo>
                <a:lnTo>
                  <a:pt x="404017" y="0"/>
                </a:lnTo>
                <a:cubicBezTo>
                  <a:pt x="426860" y="0"/>
                  <a:pt x="445338" y="17612"/>
                  <a:pt x="445338" y="41249"/>
                </a:cubicBezTo>
                <a:lnTo>
                  <a:pt x="445338" y="423802"/>
                </a:lnTo>
                <a:cubicBezTo>
                  <a:pt x="443481" y="423895"/>
                  <a:pt x="441717" y="423987"/>
                  <a:pt x="440138" y="424265"/>
                </a:cubicBezTo>
                <a:cubicBezTo>
                  <a:pt x="431317" y="414903"/>
                  <a:pt x="421010" y="413235"/>
                  <a:pt x="414603" y="413235"/>
                </a:cubicBezTo>
                <a:cubicBezTo>
                  <a:pt x="413581" y="413235"/>
                  <a:pt x="412653" y="413235"/>
                  <a:pt x="411631" y="413327"/>
                </a:cubicBezTo>
                <a:cubicBezTo>
                  <a:pt x="410889" y="404985"/>
                  <a:pt x="409960" y="395159"/>
                  <a:pt x="409217" y="386817"/>
                </a:cubicBezTo>
                <a:cubicBezTo>
                  <a:pt x="406246" y="354095"/>
                  <a:pt x="405410" y="346587"/>
                  <a:pt x="404760" y="343250"/>
                </a:cubicBezTo>
                <a:cubicBezTo>
                  <a:pt x="404482" y="341767"/>
                  <a:pt x="404110" y="340284"/>
                  <a:pt x="403553" y="338801"/>
                </a:cubicBezTo>
                <a:lnTo>
                  <a:pt x="403553" y="49592"/>
                </a:lnTo>
                <a:lnTo>
                  <a:pt x="372725" y="49592"/>
                </a:lnTo>
                <a:lnTo>
                  <a:pt x="372725" y="209676"/>
                </a:lnTo>
                <a:lnTo>
                  <a:pt x="315618" y="166388"/>
                </a:lnTo>
                <a:lnTo>
                  <a:pt x="256190" y="209676"/>
                </a:lnTo>
                <a:lnTo>
                  <a:pt x="256190" y="49592"/>
                </a:lnTo>
                <a:lnTo>
                  <a:pt x="41785" y="49592"/>
                </a:lnTo>
                <a:lnTo>
                  <a:pt x="41785" y="521781"/>
                </a:lnTo>
                <a:lnTo>
                  <a:pt x="305218" y="521781"/>
                </a:lnTo>
                <a:cubicBezTo>
                  <a:pt x="309768" y="531421"/>
                  <a:pt x="318125" y="540505"/>
                  <a:pt x="322211" y="544676"/>
                </a:cubicBezTo>
                <a:cubicBezTo>
                  <a:pt x="341061" y="564977"/>
                  <a:pt x="362046" y="583330"/>
                  <a:pt x="367711" y="588243"/>
                </a:cubicBezTo>
                <a:cubicBezTo>
                  <a:pt x="367246" y="590653"/>
                  <a:pt x="365296" y="594917"/>
                  <a:pt x="363161" y="597791"/>
                </a:cubicBezTo>
                <a:lnTo>
                  <a:pt x="355918" y="607709"/>
                </a:lnTo>
                <a:lnTo>
                  <a:pt x="41321" y="607709"/>
                </a:lnTo>
                <a:cubicBezTo>
                  <a:pt x="18478" y="607709"/>
                  <a:pt x="0" y="589263"/>
                  <a:pt x="0" y="566552"/>
                </a:cubicBezTo>
                <a:lnTo>
                  <a:pt x="0" y="41249"/>
                </a:lnTo>
                <a:cubicBezTo>
                  <a:pt x="0" y="17612"/>
                  <a:pt x="18385" y="0"/>
                  <a:pt x="41321"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7" name="熊大的PPT宝库42"/>
          <p:cNvSpPr/>
          <p:nvPr/>
        </p:nvSpPr>
        <p:spPr>
          <a:xfrm>
            <a:off x="1462559" y="5121459"/>
            <a:ext cx="151508" cy="154245"/>
          </a:xfrm>
          <a:custGeom>
            <a:avLst/>
            <a:gdLst>
              <a:gd name="connsiteX0" fmla="*/ 529396 w 595956"/>
              <a:gd name="connsiteY0" fmla="*/ 495720 h 606722"/>
              <a:gd name="connsiteX1" fmla="*/ 509192 w 595956"/>
              <a:gd name="connsiteY1" fmla="*/ 500430 h 606722"/>
              <a:gd name="connsiteX2" fmla="*/ 486407 w 595956"/>
              <a:gd name="connsiteY2" fmla="*/ 525492 h 606722"/>
              <a:gd name="connsiteX3" fmla="*/ 483559 w 595956"/>
              <a:gd name="connsiteY3" fmla="*/ 541490 h 606722"/>
              <a:gd name="connsiteX4" fmla="*/ 486407 w 595956"/>
              <a:gd name="connsiteY4" fmla="*/ 557487 h 606722"/>
              <a:gd name="connsiteX5" fmla="*/ 529396 w 595956"/>
              <a:gd name="connsiteY5" fmla="*/ 587348 h 606722"/>
              <a:gd name="connsiteX6" fmla="*/ 575322 w 595956"/>
              <a:gd name="connsiteY6" fmla="*/ 541490 h 606722"/>
              <a:gd name="connsiteX7" fmla="*/ 541145 w 595956"/>
              <a:gd name="connsiteY7" fmla="*/ 497231 h 606722"/>
              <a:gd name="connsiteX8" fmla="*/ 529396 w 595956"/>
              <a:gd name="connsiteY8" fmla="*/ 495720 h 606722"/>
              <a:gd name="connsiteX9" fmla="*/ 65329 w 595956"/>
              <a:gd name="connsiteY9" fmla="*/ 495720 h 606722"/>
              <a:gd name="connsiteX10" fmla="*/ 48240 w 595956"/>
              <a:gd name="connsiteY10" fmla="*/ 499008 h 606722"/>
              <a:gd name="connsiteX11" fmla="*/ 19403 w 595956"/>
              <a:gd name="connsiteY11" fmla="*/ 541490 h 606722"/>
              <a:gd name="connsiteX12" fmla="*/ 65329 w 595956"/>
              <a:gd name="connsiteY12" fmla="*/ 587348 h 606722"/>
              <a:gd name="connsiteX13" fmla="*/ 108318 w 595956"/>
              <a:gd name="connsiteY13" fmla="*/ 557487 h 606722"/>
              <a:gd name="connsiteX14" fmla="*/ 111255 w 595956"/>
              <a:gd name="connsiteY14" fmla="*/ 541490 h 606722"/>
              <a:gd name="connsiteX15" fmla="*/ 108318 w 595956"/>
              <a:gd name="connsiteY15" fmla="*/ 525492 h 606722"/>
              <a:gd name="connsiteX16" fmla="*/ 80282 w 595956"/>
              <a:gd name="connsiteY16" fmla="*/ 498208 h 606722"/>
              <a:gd name="connsiteX17" fmla="*/ 65329 w 595956"/>
              <a:gd name="connsiteY17" fmla="*/ 495720 h 606722"/>
              <a:gd name="connsiteX18" fmla="*/ 296739 w 595956"/>
              <a:gd name="connsiteY18" fmla="*/ 407913 h 606722"/>
              <a:gd name="connsiteX19" fmla="*/ 287038 w 595956"/>
              <a:gd name="connsiteY19" fmla="*/ 417601 h 606722"/>
              <a:gd name="connsiteX20" fmla="*/ 287038 w 595956"/>
              <a:gd name="connsiteY20" fmla="*/ 522115 h 606722"/>
              <a:gd name="connsiteX21" fmla="*/ 277337 w 595956"/>
              <a:gd name="connsiteY21" fmla="*/ 531802 h 606722"/>
              <a:gd name="connsiteX22" fmla="*/ 129857 w 595956"/>
              <a:gd name="connsiteY22" fmla="*/ 531802 h 606722"/>
              <a:gd name="connsiteX23" fmla="*/ 130569 w 595956"/>
              <a:gd name="connsiteY23" fmla="*/ 541490 h 606722"/>
              <a:gd name="connsiteX24" fmla="*/ 129857 w 595956"/>
              <a:gd name="connsiteY24" fmla="*/ 551177 h 606722"/>
              <a:gd name="connsiteX25" fmla="*/ 464868 w 595956"/>
              <a:gd name="connsiteY25" fmla="*/ 551177 h 606722"/>
              <a:gd name="connsiteX26" fmla="*/ 464156 w 595956"/>
              <a:gd name="connsiteY26" fmla="*/ 541490 h 606722"/>
              <a:gd name="connsiteX27" fmla="*/ 464868 w 595956"/>
              <a:gd name="connsiteY27" fmla="*/ 531802 h 606722"/>
              <a:gd name="connsiteX28" fmla="*/ 316142 w 595956"/>
              <a:gd name="connsiteY28" fmla="*/ 531802 h 606722"/>
              <a:gd name="connsiteX29" fmla="*/ 306441 w 595956"/>
              <a:gd name="connsiteY29" fmla="*/ 522115 h 606722"/>
              <a:gd name="connsiteX30" fmla="*/ 306441 w 595956"/>
              <a:gd name="connsiteY30" fmla="*/ 417601 h 606722"/>
              <a:gd name="connsiteX31" fmla="*/ 296739 w 595956"/>
              <a:gd name="connsiteY31" fmla="*/ 407913 h 606722"/>
              <a:gd name="connsiteX32" fmla="*/ 255067 w 595956"/>
              <a:gd name="connsiteY32" fmla="*/ 311573 h 606722"/>
              <a:gd name="connsiteX33" fmla="*/ 247236 w 595956"/>
              <a:gd name="connsiteY33" fmla="*/ 335034 h 606722"/>
              <a:gd name="connsiteX34" fmla="*/ 240561 w 595956"/>
              <a:gd name="connsiteY34" fmla="*/ 355030 h 606722"/>
              <a:gd name="connsiteX35" fmla="*/ 284081 w 595956"/>
              <a:gd name="connsiteY35" fmla="*/ 340544 h 606722"/>
              <a:gd name="connsiteX36" fmla="*/ 524234 w 595956"/>
              <a:gd name="connsiteY36" fmla="*/ 201373 h 606722"/>
              <a:gd name="connsiteX37" fmla="*/ 514532 w 595956"/>
              <a:gd name="connsiteY37" fmla="*/ 211060 h 606722"/>
              <a:gd name="connsiteX38" fmla="*/ 514532 w 595956"/>
              <a:gd name="connsiteY38" fmla="*/ 478034 h 606722"/>
              <a:gd name="connsiteX39" fmla="*/ 529396 w 595956"/>
              <a:gd name="connsiteY39" fmla="*/ 476346 h 606722"/>
              <a:gd name="connsiteX40" fmla="*/ 533935 w 595956"/>
              <a:gd name="connsiteY40" fmla="*/ 476523 h 606722"/>
              <a:gd name="connsiteX41" fmla="*/ 533935 w 595956"/>
              <a:gd name="connsiteY41" fmla="*/ 211060 h 606722"/>
              <a:gd name="connsiteX42" fmla="*/ 524234 w 595956"/>
              <a:gd name="connsiteY42" fmla="*/ 201373 h 606722"/>
              <a:gd name="connsiteX43" fmla="*/ 54292 w 595956"/>
              <a:gd name="connsiteY43" fmla="*/ 150093 h 606722"/>
              <a:gd name="connsiteX44" fmla="*/ 54292 w 595956"/>
              <a:gd name="connsiteY44" fmla="*/ 477234 h 606722"/>
              <a:gd name="connsiteX45" fmla="*/ 65329 w 595956"/>
              <a:gd name="connsiteY45" fmla="*/ 476346 h 606722"/>
              <a:gd name="connsiteX46" fmla="*/ 73695 w 595956"/>
              <a:gd name="connsiteY46" fmla="*/ 476879 h 606722"/>
              <a:gd name="connsiteX47" fmla="*/ 73695 w 595956"/>
              <a:gd name="connsiteY47" fmla="*/ 328550 h 606722"/>
              <a:gd name="connsiteX48" fmla="*/ 83397 w 595956"/>
              <a:gd name="connsiteY48" fmla="*/ 318863 h 606722"/>
              <a:gd name="connsiteX49" fmla="*/ 167417 w 595956"/>
              <a:gd name="connsiteY49" fmla="*/ 318863 h 606722"/>
              <a:gd name="connsiteX50" fmla="*/ 177118 w 595956"/>
              <a:gd name="connsiteY50" fmla="*/ 309176 h 606722"/>
              <a:gd name="connsiteX51" fmla="*/ 167417 w 595956"/>
              <a:gd name="connsiteY51" fmla="*/ 299489 h 606722"/>
              <a:gd name="connsiteX52" fmla="*/ 83397 w 595956"/>
              <a:gd name="connsiteY52" fmla="*/ 299489 h 606722"/>
              <a:gd name="connsiteX53" fmla="*/ 73695 w 595956"/>
              <a:gd name="connsiteY53" fmla="*/ 289801 h 606722"/>
              <a:gd name="connsiteX54" fmla="*/ 73695 w 595956"/>
              <a:gd name="connsiteY54" fmla="*/ 150449 h 606722"/>
              <a:gd name="connsiteX55" fmla="*/ 65329 w 595956"/>
              <a:gd name="connsiteY55" fmla="*/ 150982 h 606722"/>
              <a:gd name="connsiteX56" fmla="*/ 54292 w 595956"/>
              <a:gd name="connsiteY56" fmla="*/ 150093 h 606722"/>
              <a:gd name="connsiteX57" fmla="*/ 130035 w 595956"/>
              <a:gd name="connsiteY57" fmla="*/ 77395 h 606722"/>
              <a:gd name="connsiteX58" fmla="*/ 130569 w 595956"/>
              <a:gd name="connsiteY58" fmla="*/ 85838 h 606722"/>
              <a:gd name="connsiteX59" fmla="*/ 129679 w 595956"/>
              <a:gd name="connsiteY59" fmla="*/ 96769 h 606722"/>
              <a:gd name="connsiteX60" fmla="*/ 374262 w 595956"/>
              <a:gd name="connsiteY60" fmla="*/ 96769 h 606722"/>
              <a:gd name="connsiteX61" fmla="*/ 383963 w 595956"/>
              <a:gd name="connsiteY61" fmla="*/ 87082 h 606722"/>
              <a:gd name="connsiteX62" fmla="*/ 374262 w 595956"/>
              <a:gd name="connsiteY62" fmla="*/ 77395 h 606722"/>
              <a:gd name="connsiteX63" fmla="*/ 65329 w 595956"/>
              <a:gd name="connsiteY63" fmla="*/ 39980 h 606722"/>
              <a:gd name="connsiteX64" fmla="*/ 19403 w 595956"/>
              <a:gd name="connsiteY64" fmla="*/ 85838 h 606722"/>
              <a:gd name="connsiteX65" fmla="*/ 48240 w 595956"/>
              <a:gd name="connsiteY65" fmla="*/ 128319 h 606722"/>
              <a:gd name="connsiteX66" fmla="*/ 48240 w 595956"/>
              <a:gd name="connsiteY66" fmla="*/ 128408 h 606722"/>
              <a:gd name="connsiteX67" fmla="*/ 65329 w 595956"/>
              <a:gd name="connsiteY67" fmla="*/ 131696 h 606722"/>
              <a:gd name="connsiteX68" fmla="*/ 80282 w 595956"/>
              <a:gd name="connsiteY68" fmla="*/ 129119 h 606722"/>
              <a:gd name="connsiteX69" fmla="*/ 107873 w 595956"/>
              <a:gd name="connsiteY69" fmla="*/ 102902 h 606722"/>
              <a:gd name="connsiteX70" fmla="*/ 111166 w 595956"/>
              <a:gd name="connsiteY70" fmla="*/ 85838 h 606722"/>
              <a:gd name="connsiteX71" fmla="*/ 108674 w 595956"/>
              <a:gd name="connsiteY71" fmla="*/ 70907 h 606722"/>
              <a:gd name="connsiteX72" fmla="*/ 65329 w 595956"/>
              <a:gd name="connsiteY72" fmla="*/ 39980 h 606722"/>
              <a:gd name="connsiteX73" fmla="*/ 535059 w 595956"/>
              <a:gd name="connsiteY73" fmla="*/ 23373 h 606722"/>
              <a:gd name="connsiteX74" fmla="*/ 308912 w 595956"/>
              <a:gd name="connsiteY74" fmla="*/ 249276 h 606722"/>
              <a:gd name="connsiteX75" fmla="*/ 264501 w 595956"/>
              <a:gd name="connsiteY75" fmla="*/ 293621 h 606722"/>
              <a:gd name="connsiteX76" fmla="*/ 302059 w 595956"/>
              <a:gd name="connsiteY76" fmla="*/ 331035 h 606722"/>
              <a:gd name="connsiteX77" fmla="*/ 422653 w 595956"/>
              <a:gd name="connsiteY77" fmla="*/ 210618 h 606722"/>
              <a:gd name="connsiteX78" fmla="*/ 423098 w 595956"/>
              <a:gd name="connsiteY78" fmla="*/ 210085 h 606722"/>
              <a:gd name="connsiteX79" fmla="*/ 572527 w 595956"/>
              <a:gd name="connsiteY79" fmla="*/ 60786 h 606722"/>
              <a:gd name="connsiteX80" fmla="*/ 65329 w 595956"/>
              <a:gd name="connsiteY80" fmla="*/ 20605 h 606722"/>
              <a:gd name="connsiteX81" fmla="*/ 124339 w 595956"/>
              <a:gd name="connsiteY81" fmla="*/ 58110 h 606722"/>
              <a:gd name="connsiteX82" fmla="*/ 374262 w 595956"/>
              <a:gd name="connsiteY82" fmla="*/ 58110 h 606722"/>
              <a:gd name="connsiteX83" fmla="*/ 403366 w 595956"/>
              <a:gd name="connsiteY83" fmla="*/ 87082 h 606722"/>
              <a:gd name="connsiteX84" fmla="*/ 374262 w 595956"/>
              <a:gd name="connsiteY84" fmla="*/ 116144 h 606722"/>
              <a:gd name="connsiteX85" fmla="*/ 123093 w 595956"/>
              <a:gd name="connsiteY85" fmla="*/ 116144 h 606722"/>
              <a:gd name="connsiteX86" fmla="*/ 93098 w 595956"/>
              <a:gd name="connsiteY86" fmla="*/ 144850 h 606722"/>
              <a:gd name="connsiteX87" fmla="*/ 93098 w 595956"/>
              <a:gd name="connsiteY87" fmla="*/ 280114 h 606722"/>
              <a:gd name="connsiteX88" fmla="*/ 167417 w 595956"/>
              <a:gd name="connsiteY88" fmla="*/ 280114 h 606722"/>
              <a:gd name="connsiteX89" fmla="*/ 196521 w 595956"/>
              <a:gd name="connsiteY89" fmla="*/ 309176 h 606722"/>
              <a:gd name="connsiteX90" fmla="*/ 167417 w 595956"/>
              <a:gd name="connsiteY90" fmla="*/ 338237 h 606722"/>
              <a:gd name="connsiteX91" fmla="*/ 93098 w 595956"/>
              <a:gd name="connsiteY91" fmla="*/ 338237 h 606722"/>
              <a:gd name="connsiteX92" fmla="*/ 93098 w 595956"/>
              <a:gd name="connsiteY92" fmla="*/ 482478 h 606722"/>
              <a:gd name="connsiteX93" fmla="*/ 123805 w 595956"/>
              <a:gd name="connsiteY93" fmla="*/ 512428 h 606722"/>
              <a:gd name="connsiteX94" fmla="*/ 267635 w 595956"/>
              <a:gd name="connsiteY94" fmla="*/ 512428 h 606722"/>
              <a:gd name="connsiteX95" fmla="*/ 267635 w 595956"/>
              <a:gd name="connsiteY95" fmla="*/ 417601 h 606722"/>
              <a:gd name="connsiteX96" fmla="*/ 296739 w 595956"/>
              <a:gd name="connsiteY96" fmla="*/ 388539 h 606722"/>
              <a:gd name="connsiteX97" fmla="*/ 325844 w 595956"/>
              <a:gd name="connsiteY97" fmla="*/ 417601 h 606722"/>
              <a:gd name="connsiteX98" fmla="*/ 325844 w 595956"/>
              <a:gd name="connsiteY98" fmla="*/ 512428 h 606722"/>
              <a:gd name="connsiteX99" fmla="*/ 471009 w 595956"/>
              <a:gd name="connsiteY99" fmla="*/ 512428 h 606722"/>
              <a:gd name="connsiteX100" fmla="*/ 495129 w 595956"/>
              <a:gd name="connsiteY100" fmla="*/ 486033 h 606722"/>
              <a:gd name="connsiteX101" fmla="*/ 495129 w 595956"/>
              <a:gd name="connsiteY101" fmla="*/ 211060 h 606722"/>
              <a:gd name="connsiteX102" fmla="*/ 524234 w 595956"/>
              <a:gd name="connsiteY102" fmla="*/ 181998 h 606722"/>
              <a:gd name="connsiteX103" fmla="*/ 553338 w 595956"/>
              <a:gd name="connsiteY103" fmla="*/ 211060 h 606722"/>
              <a:gd name="connsiteX104" fmla="*/ 553338 w 595956"/>
              <a:gd name="connsiteY104" fmla="*/ 480878 h 606722"/>
              <a:gd name="connsiteX105" fmla="*/ 594725 w 595956"/>
              <a:gd name="connsiteY105" fmla="*/ 541490 h 606722"/>
              <a:gd name="connsiteX106" fmla="*/ 529396 w 595956"/>
              <a:gd name="connsiteY106" fmla="*/ 606722 h 606722"/>
              <a:gd name="connsiteX107" fmla="*/ 471009 w 595956"/>
              <a:gd name="connsiteY107" fmla="*/ 570551 h 606722"/>
              <a:gd name="connsiteX108" fmla="*/ 123716 w 595956"/>
              <a:gd name="connsiteY108" fmla="*/ 570551 h 606722"/>
              <a:gd name="connsiteX109" fmla="*/ 65329 w 595956"/>
              <a:gd name="connsiteY109" fmla="*/ 606722 h 606722"/>
              <a:gd name="connsiteX110" fmla="*/ 0 w 595956"/>
              <a:gd name="connsiteY110" fmla="*/ 541490 h 606722"/>
              <a:gd name="connsiteX111" fmla="*/ 34979 w 595956"/>
              <a:gd name="connsiteY111" fmla="*/ 483811 h 606722"/>
              <a:gd name="connsiteX112" fmla="*/ 34979 w 595956"/>
              <a:gd name="connsiteY112" fmla="*/ 143517 h 606722"/>
              <a:gd name="connsiteX113" fmla="*/ 0 w 595956"/>
              <a:gd name="connsiteY113" fmla="*/ 85838 h 606722"/>
              <a:gd name="connsiteX114" fmla="*/ 65329 w 595956"/>
              <a:gd name="connsiteY114" fmla="*/ 20605 h 606722"/>
              <a:gd name="connsiteX115" fmla="*/ 535059 w 595956"/>
              <a:gd name="connsiteY115" fmla="*/ 0 h 606722"/>
              <a:gd name="connsiteX116" fmla="*/ 541912 w 595956"/>
              <a:gd name="connsiteY116" fmla="*/ 2844 h 606722"/>
              <a:gd name="connsiteX117" fmla="*/ 593086 w 595956"/>
              <a:gd name="connsiteY117" fmla="*/ 53943 h 606722"/>
              <a:gd name="connsiteX118" fmla="*/ 593086 w 595956"/>
              <a:gd name="connsiteY118" fmla="*/ 67629 h 606722"/>
              <a:gd name="connsiteX119" fmla="*/ 437338 w 595956"/>
              <a:gd name="connsiteY119" fmla="*/ 223238 h 606722"/>
              <a:gd name="connsiteX120" fmla="*/ 436804 w 595956"/>
              <a:gd name="connsiteY120" fmla="*/ 223771 h 606722"/>
              <a:gd name="connsiteX121" fmla="*/ 308912 w 595956"/>
              <a:gd name="connsiteY121" fmla="*/ 351564 h 606722"/>
              <a:gd name="connsiteX122" fmla="*/ 308734 w 595956"/>
              <a:gd name="connsiteY122" fmla="*/ 351741 h 606722"/>
              <a:gd name="connsiteX123" fmla="*/ 308200 w 595956"/>
              <a:gd name="connsiteY123" fmla="*/ 352186 h 606722"/>
              <a:gd name="connsiteX124" fmla="*/ 308111 w 595956"/>
              <a:gd name="connsiteY124" fmla="*/ 352275 h 606722"/>
              <a:gd name="connsiteX125" fmla="*/ 307933 w 595956"/>
              <a:gd name="connsiteY125" fmla="*/ 352452 h 606722"/>
              <a:gd name="connsiteX126" fmla="*/ 307488 w 595956"/>
              <a:gd name="connsiteY126" fmla="*/ 352719 h 606722"/>
              <a:gd name="connsiteX127" fmla="*/ 307221 w 595956"/>
              <a:gd name="connsiteY127" fmla="*/ 352897 h 606722"/>
              <a:gd name="connsiteX128" fmla="*/ 307043 w 595956"/>
              <a:gd name="connsiteY128" fmla="*/ 352986 h 606722"/>
              <a:gd name="connsiteX129" fmla="*/ 306687 w 595956"/>
              <a:gd name="connsiteY129" fmla="*/ 353252 h 606722"/>
              <a:gd name="connsiteX130" fmla="*/ 306242 w 595956"/>
              <a:gd name="connsiteY130" fmla="*/ 353430 h 606722"/>
              <a:gd name="connsiteX131" fmla="*/ 306064 w 595956"/>
              <a:gd name="connsiteY131" fmla="*/ 353519 h 606722"/>
              <a:gd name="connsiteX132" fmla="*/ 305886 w 595956"/>
              <a:gd name="connsiteY132" fmla="*/ 353608 h 606722"/>
              <a:gd name="connsiteX133" fmla="*/ 305263 w 595956"/>
              <a:gd name="connsiteY133" fmla="*/ 353874 h 606722"/>
              <a:gd name="connsiteX134" fmla="*/ 305085 w 595956"/>
              <a:gd name="connsiteY134" fmla="*/ 353963 h 606722"/>
              <a:gd name="connsiteX135" fmla="*/ 230326 w 595956"/>
              <a:gd name="connsiteY135" fmla="*/ 378846 h 606722"/>
              <a:gd name="connsiteX136" fmla="*/ 216175 w 595956"/>
              <a:gd name="connsiteY136" fmla="*/ 392887 h 606722"/>
              <a:gd name="connsiteX137" fmla="*/ 209322 w 595956"/>
              <a:gd name="connsiteY137" fmla="*/ 395731 h 606722"/>
              <a:gd name="connsiteX138" fmla="*/ 202469 w 595956"/>
              <a:gd name="connsiteY138" fmla="*/ 392887 h 606722"/>
              <a:gd name="connsiteX139" fmla="*/ 202469 w 595956"/>
              <a:gd name="connsiteY139" fmla="*/ 379202 h 606722"/>
              <a:gd name="connsiteX140" fmla="*/ 216798 w 595956"/>
              <a:gd name="connsiteY140" fmla="*/ 364894 h 606722"/>
              <a:gd name="connsiteX141" fmla="*/ 228813 w 595956"/>
              <a:gd name="connsiteY141" fmla="*/ 328902 h 606722"/>
              <a:gd name="connsiteX142" fmla="*/ 241629 w 595956"/>
              <a:gd name="connsiteY142" fmla="*/ 290600 h 606722"/>
              <a:gd name="connsiteX143" fmla="*/ 241718 w 595956"/>
              <a:gd name="connsiteY143" fmla="*/ 290333 h 606722"/>
              <a:gd name="connsiteX144" fmla="*/ 241896 w 595956"/>
              <a:gd name="connsiteY144" fmla="*/ 289800 h 606722"/>
              <a:gd name="connsiteX145" fmla="*/ 241985 w 595956"/>
              <a:gd name="connsiteY145" fmla="*/ 289533 h 606722"/>
              <a:gd name="connsiteX146" fmla="*/ 242074 w 595956"/>
              <a:gd name="connsiteY146" fmla="*/ 289356 h 606722"/>
              <a:gd name="connsiteX147" fmla="*/ 242341 w 595956"/>
              <a:gd name="connsiteY147" fmla="*/ 288911 h 606722"/>
              <a:gd name="connsiteX148" fmla="*/ 242519 w 595956"/>
              <a:gd name="connsiteY148" fmla="*/ 288645 h 606722"/>
              <a:gd name="connsiteX149" fmla="*/ 242608 w 595956"/>
              <a:gd name="connsiteY149" fmla="*/ 288467 h 606722"/>
              <a:gd name="connsiteX150" fmla="*/ 242875 w 595956"/>
              <a:gd name="connsiteY150" fmla="*/ 288200 h 606722"/>
              <a:gd name="connsiteX151" fmla="*/ 243142 w 595956"/>
              <a:gd name="connsiteY151" fmla="*/ 287756 h 606722"/>
              <a:gd name="connsiteX152" fmla="*/ 243231 w 595956"/>
              <a:gd name="connsiteY152" fmla="*/ 287578 h 606722"/>
              <a:gd name="connsiteX153" fmla="*/ 243409 w 595956"/>
              <a:gd name="connsiteY153" fmla="*/ 287401 h 606722"/>
              <a:gd name="connsiteX154" fmla="*/ 243854 w 595956"/>
              <a:gd name="connsiteY154" fmla="*/ 286956 h 606722"/>
              <a:gd name="connsiteX155" fmla="*/ 243943 w 595956"/>
              <a:gd name="connsiteY155" fmla="*/ 286779 h 606722"/>
              <a:gd name="connsiteX156" fmla="*/ 295206 w 595956"/>
              <a:gd name="connsiteY156" fmla="*/ 235590 h 606722"/>
              <a:gd name="connsiteX157" fmla="*/ 528206 w 595956"/>
              <a:gd name="connsiteY157" fmla="*/ 2844 h 606722"/>
              <a:gd name="connsiteX158" fmla="*/ 535059 w 595956"/>
              <a:gd name="connsiteY15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Lst>
            <a:rect l="l" t="t" r="r" b="b"/>
            <a:pathLst>
              <a:path w="595956" h="606722">
                <a:moveTo>
                  <a:pt x="529396" y="495720"/>
                </a:moveTo>
                <a:cubicBezTo>
                  <a:pt x="522276" y="495720"/>
                  <a:pt x="515511" y="497231"/>
                  <a:pt x="509192" y="500430"/>
                </a:cubicBezTo>
                <a:cubicBezTo>
                  <a:pt x="498601" y="505585"/>
                  <a:pt x="490501" y="514561"/>
                  <a:pt x="486407" y="525492"/>
                </a:cubicBezTo>
                <a:cubicBezTo>
                  <a:pt x="484449" y="530647"/>
                  <a:pt x="483559" y="535979"/>
                  <a:pt x="483559" y="541490"/>
                </a:cubicBezTo>
                <a:cubicBezTo>
                  <a:pt x="483559" y="547000"/>
                  <a:pt x="484449" y="552421"/>
                  <a:pt x="486407" y="557487"/>
                </a:cubicBezTo>
                <a:cubicBezTo>
                  <a:pt x="493082" y="575350"/>
                  <a:pt x="510349" y="587348"/>
                  <a:pt x="529396" y="587348"/>
                </a:cubicBezTo>
                <a:cubicBezTo>
                  <a:pt x="554762" y="587348"/>
                  <a:pt x="575322" y="566729"/>
                  <a:pt x="575322" y="541490"/>
                </a:cubicBezTo>
                <a:cubicBezTo>
                  <a:pt x="575322" y="520693"/>
                  <a:pt x="561260" y="502474"/>
                  <a:pt x="541145" y="497231"/>
                </a:cubicBezTo>
                <a:cubicBezTo>
                  <a:pt x="537317" y="496164"/>
                  <a:pt x="533401" y="495720"/>
                  <a:pt x="529396" y="495720"/>
                </a:cubicBezTo>
                <a:close/>
                <a:moveTo>
                  <a:pt x="65329" y="495720"/>
                </a:moveTo>
                <a:cubicBezTo>
                  <a:pt x="59455" y="495720"/>
                  <a:pt x="53669" y="496786"/>
                  <a:pt x="48240" y="499008"/>
                </a:cubicBezTo>
                <a:cubicBezTo>
                  <a:pt x="30706" y="506029"/>
                  <a:pt x="19403" y="522648"/>
                  <a:pt x="19403" y="541490"/>
                </a:cubicBezTo>
                <a:cubicBezTo>
                  <a:pt x="19403" y="566729"/>
                  <a:pt x="40052" y="587348"/>
                  <a:pt x="65329" y="587348"/>
                </a:cubicBezTo>
                <a:cubicBezTo>
                  <a:pt x="84376" y="587348"/>
                  <a:pt x="101643" y="575350"/>
                  <a:pt x="108318" y="557487"/>
                </a:cubicBezTo>
                <a:cubicBezTo>
                  <a:pt x="110276" y="552332"/>
                  <a:pt x="111255" y="547000"/>
                  <a:pt x="111255" y="541490"/>
                </a:cubicBezTo>
                <a:cubicBezTo>
                  <a:pt x="111255" y="535979"/>
                  <a:pt x="110276" y="530647"/>
                  <a:pt x="108318" y="525492"/>
                </a:cubicBezTo>
                <a:cubicBezTo>
                  <a:pt x="103512" y="512606"/>
                  <a:pt x="93276" y="502652"/>
                  <a:pt x="80282" y="498208"/>
                </a:cubicBezTo>
                <a:cubicBezTo>
                  <a:pt x="75475" y="496520"/>
                  <a:pt x="70402" y="495720"/>
                  <a:pt x="65329" y="495720"/>
                </a:cubicBezTo>
                <a:close/>
                <a:moveTo>
                  <a:pt x="296739" y="407913"/>
                </a:moveTo>
                <a:cubicBezTo>
                  <a:pt x="291399" y="407913"/>
                  <a:pt x="287038" y="412268"/>
                  <a:pt x="287038" y="417601"/>
                </a:cubicBezTo>
                <a:lnTo>
                  <a:pt x="287038" y="522115"/>
                </a:lnTo>
                <a:cubicBezTo>
                  <a:pt x="287038" y="527448"/>
                  <a:pt x="282677" y="531802"/>
                  <a:pt x="277337" y="531802"/>
                </a:cubicBezTo>
                <a:lnTo>
                  <a:pt x="129857" y="531802"/>
                </a:lnTo>
                <a:cubicBezTo>
                  <a:pt x="130391" y="535002"/>
                  <a:pt x="130569" y="538201"/>
                  <a:pt x="130569" y="541490"/>
                </a:cubicBezTo>
                <a:cubicBezTo>
                  <a:pt x="130569" y="544778"/>
                  <a:pt x="130391" y="547977"/>
                  <a:pt x="129857" y="551177"/>
                </a:cubicBezTo>
                <a:lnTo>
                  <a:pt x="464868" y="551177"/>
                </a:lnTo>
                <a:cubicBezTo>
                  <a:pt x="464423" y="547977"/>
                  <a:pt x="464156" y="544778"/>
                  <a:pt x="464156" y="541490"/>
                </a:cubicBezTo>
                <a:cubicBezTo>
                  <a:pt x="464156" y="538201"/>
                  <a:pt x="464423" y="535002"/>
                  <a:pt x="464868" y="531802"/>
                </a:cubicBezTo>
                <a:lnTo>
                  <a:pt x="316142" y="531802"/>
                </a:lnTo>
                <a:cubicBezTo>
                  <a:pt x="310713" y="531802"/>
                  <a:pt x="306441" y="527448"/>
                  <a:pt x="306441" y="522115"/>
                </a:cubicBezTo>
                <a:lnTo>
                  <a:pt x="306441" y="417601"/>
                </a:lnTo>
                <a:cubicBezTo>
                  <a:pt x="306441" y="412268"/>
                  <a:pt x="302080" y="407913"/>
                  <a:pt x="296739" y="407913"/>
                </a:cubicBezTo>
                <a:close/>
                <a:moveTo>
                  <a:pt x="255067" y="311573"/>
                </a:moveTo>
                <a:lnTo>
                  <a:pt x="247236" y="335034"/>
                </a:lnTo>
                <a:lnTo>
                  <a:pt x="240561" y="355030"/>
                </a:lnTo>
                <a:lnTo>
                  <a:pt x="284081" y="340544"/>
                </a:lnTo>
                <a:close/>
                <a:moveTo>
                  <a:pt x="524234" y="201373"/>
                </a:moveTo>
                <a:cubicBezTo>
                  <a:pt x="518894" y="201373"/>
                  <a:pt x="514532" y="205728"/>
                  <a:pt x="514532" y="211060"/>
                </a:cubicBezTo>
                <a:lnTo>
                  <a:pt x="514532" y="478034"/>
                </a:lnTo>
                <a:cubicBezTo>
                  <a:pt x="519428" y="476879"/>
                  <a:pt x="524323" y="476346"/>
                  <a:pt x="529396" y="476346"/>
                </a:cubicBezTo>
                <a:cubicBezTo>
                  <a:pt x="530909" y="476346"/>
                  <a:pt x="532422" y="476346"/>
                  <a:pt x="533935" y="476523"/>
                </a:cubicBezTo>
                <a:lnTo>
                  <a:pt x="533935" y="211060"/>
                </a:lnTo>
                <a:cubicBezTo>
                  <a:pt x="533935" y="205728"/>
                  <a:pt x="529574" y="201373"/>
                  <a:pt x="524234" y="201373"/>
                </a:cubicBezTo>
                <a:close/>
                <a:moveTo>
                  <a:pt x="54292" y="150093"/>
                </a:moveTo>
                <a:lnTo>
                  <a:pt x="54292" y="477234"/>
                </a:lnTo>
                <a:cubicBezTo>
                  <a:pt x="57942" y="476612"/>
                  <a:pt x="61591" y="476346"/>
                  <a:pt x="65329" y="476346"/>
                </a:cubicBezTo>
                <a:cubicBezTo>
                  <a:pt x="68177" y="476346"/>
                  <a:pt x="70936" y="476523"/>
                  <a:pt x="73695" y="476879"/>
                </a:cubicBezTo>
                <a:lnTo>
                  <a:pt x="73695" y="328550"/>
                </a:lnTo>
                <a:cubicBezTo>
                  <a:pt x="73695" y="323129"/>
                  <a:pt x="78057" y="318863"/>
                  <a:pt x="83397" y="318863"/>
                </a:cubicBezTo>
                <a:lnTo>
                  <a:pt x="167417" y="318863"/>
                </a:lnTo>
                <a:cubicBezTo>
                  <a:pt x="172757" y="318863"/>
                  <a:pt x="177118" y="314508"/>
                  <a:pt x="177118" y="309176"/>
                </a:cubicBezTo>
                <a:cubicBezTo>
                  <a:pt x="177118" y="303843"/>
                  <a:pt x="172757" y="299489"/>
                  <a:pt x="167417" y="299489"/>
                </a:cubicBezTo>
                <a:lnTo>
                  <a:pt x="83397" y="299489"/>
                </a:lnTo>
                <a:cubicBezTo>
                  <a:pt x="78057" y="299489"/>
                  <a:pt x="73695" y="295134"/>
                  <a:pt x="73695" y="289801"/>
                </a:cubicBezTo>
                <a:lnTo>
                  <a:pt x="73695" y="150449"/>
                </a:lnTo>
                <a:cubicBezTo>
                  <a:pt x="70936" y="150804"/>
                  <a:pt x="68177" y="150982"/>
                  <a:pt x="65329" y="150982"/>
                </a:cubicBezTo>
                <a:cubicBezTo>
                  <a:pt x="61591" y="150982"/>
                  <a:pt x="57942" y="150715"/>
                  <a:pt x="54292" y="150093"/>
                </a:cubicBezTo>
                <a:close/>
                <a:moveTo>
                  <a:pt x="130035" y="77395"/>
                </a:moveTo>
                <a:cubicBezTo>
                  <a:pt x="130391" y="80239"/>
                  <a:pt x="130569" y="82994"/>
                  <a:pt x="130569" y="85838"/>
                </a:cubicBezTo>
                <a:cubicBezTo>
                  <a:pt x="130569" y="89571"/>
                  <a:pt x="130302" y="93214"/>
                  <a:pt x="129679" y="96769"/>
                </a:cubicBezTo>
                <a:lnTo>
                  <a:pt x="374262" y="96769"/>
                </a:lnTo>
                <a:cubicBezTo>
                  <a:pt x="379602" y="96769"/>
                  <a:pt x="383963" y="92415"/>
                  <a:pt x="383963" y="87082"/>
                </a:cubicBezTo>
                <a:cubicBezTo>
                  <a:pt x="383963" y="81750"/>
                  <a:pt x="379602" y="77395"/>
                  <a:pt x="374262" y="77395"/>
                </a:cubicBezTo>
                <a:close/>
                <a:moveTo>
                  <a:pt x="65329" y="39980"/>
                </a:moveTo>
                <a:cubicBezTo>
                  <a:pt x="40052" y="39980"/>
                  <a:pt x="19403" y="60598"/>
                  <a:pt x="19403" y="85838"/>
                </a:cubicBezTo>
                <a:cubicBezTo>
                  <a:pt x="19403" y="104679"/>
                  <a:pt x="30706" y="121387"/>
                  <a:pt x="48240" y="128319"/>
                </a:cubicBezTo>
                <a:cubicBezTo>
                  <a:pt x="48240" y="128319"/>
                  <a:pt x="48240" y="128319"/>
                  <a:pt x="48240" y="128408"/>
                </a:cubicBezTo>
                <a:cubicBezTo>
                  <a:pt x="53669" y="130541"/>
                  <a:pt x="59455" y="131696"/>
                  <a:pt x="65329" y="131696"/>
                </a:cubicBezTo>
                <a:cubicBezTo>
                  <a:pt x="70402" y="131696"/>
                  <a:pt x="75475" y="130808"/>
                  <a:pt x="80282" y="129119"/>
                </a:cubicBezTo>
                <a:cubicBezTo>
                  <a:pt x="92831" y="124853"/>
                  <a:pt x="102978" y="115255"/>
                  <a:pt x="107873" y="102902"/>
                </a:cubicBezTo>
                <a:cubicBezTo>
                  <a:pt x="110098" y="97391"/>
                  <a:pt x="111166" y="91704"/>
                  <a:pt x="111166" y="85838"/>
                </a:cubicBezTo>
                <a:cubicBezTo>
                  <a:pt x="111166" y="80772"/>
                  <a:pt x="110365" y="75706"/>
                  <a:pt x="108674" y="70907"/>
                </a:cubicBezTo>
                <a:cubicBezTo>
                  <a:pt x="102355" y="52422"/>
                  <a:pt x="84910" y="39980"/>
                  <a:pt x="65329" y="39980"/>
                </a:cubicBezTo>
                <a:close/>
                <a:moveTo>
                  <a:pt x="535059" y="23373"/>
                </a:moveTo>
                <a:lnTo>
                  <a:pt x="308912" y="249276"/>
                </a:lnTo>
                <a:lnTo>
                  <a:pt x="264501" y="293621"/>
                </a:lnTo>
                <a:lnTo>
                  <a:pt x="302059" y="331035"/>
                </a:lnTo>
                <a:lnTo>
                  <a:pt x="422653" y="210618"/>
                </a:lnTo>
                <a:cubicBezTo>
                  <a:pt x="422742" y="210441"/>
                  <a:pt x="422920" y="210263"/>
                  <a:pt x="423098" y="210085"/>
                </a:cubicBezTo>
                <a:lnTo>
                  <a:pt x="572527" y="60786"/>
                </a:lnTo>
                <a:close/>
                <a:moveTo>
                  <a:pt x="65329" y="20605"/>
                </a:moveTo>
                <a:cubicBezTo>
                  <a:pt x="90784" y="20605"/>
                  <a:pt x="113747" y="35447"/>
                  <a:pt x="124339" y="58110"/>
                </a:cubicBezTo>
                <a:lnTo>
                  <a:pt x="374262" y="58110"/>
                </a:lnTo>
                <a:cubicBezTo>
                  <a:pt x="390283" y="58110"/>
                  <a:pt x="403366" y="71085"/>
                  <a:pt x="403366" y="87082"/>
                </a:cubicBezTo>
                <a:cubicBezTo>
                  <a:pt x="403366" y="103168"/>
                  <a:pt x="390283" y="116144"/>
                  <a:pt x="374262" y="116144"/>
                </a:cubicBezTo>
                <a:lnTo>
                  <a:pt x="123093" y="116144"/>
                </a:lnTo>
                <a:cubicBezTo>
                  <a:pt x="116506" y="128764"/>
                  <a:pt x="105915" y="138806"/>
                  <a:pt x="93098" y="144850"/>
                </a:cubicBezTo>
                <a:lnTo>
                  <a:pt x="93098" y="280114"/>
                </a:lnTo>
                <a:lnTo>
                  <a:pt x="167417" y="280114"/>
                </a:lnTo>
                <a:cubicBezTo>
                  <a:pt x="183526" y="280114"/>
                  <a:pt x="196521" y="293090"/>
                  <a:pt x="196521" y="309176"/>
                </a:cubicBezTo>
                <a:cubicBezTo>
                  <a:pt x="196521" y="325173"/>
                  <a:pt x="183526" y="338237"/>
                  <a:pt x="167417" y="338237"/>
                </a:cubicBezTo>
                <a:lnTo>
                  <a:pt x="93098" y="338237"/>
                </a:lnTo>
                <a:lnTo>
                  <a:pt x="93098" y="482478"/>
                </a:lnTo>
                <a:cubicBezTo>
                  <a:pt x="106449" y="488788"/>
                  <a:pt x="117218" y="499275"/>
                  <a:pt x="123805" y="512428"/>
                </a:cubicBezTo>
                <a:lnTo>
                  <a:pt x="267635" y="512428"/>
                </a:lnTo>
                <a:lnTo>
                  <a:pt x="267635" y="417601"/>
                </a:lnTo>
                <a:cubicBezTo>
                  <a:pt x="267635" y="401604"/>
                  <a:pt x="280719" y="388539"/>
                  <a:pt x="296739" y="388539"/>
                </a:cubicBezTo>
                <a:cubicBezTo>
                  <a:pt x="312760" y="388539"/>
                  <a:pt x="325844" y="401604"/>
                  <a:pt x="325844" y="417601"/>
                </a:cubicBezTo>
                <a:lnTo>
                  <a:pt x="325844" y="512428"/>
                </a:lnTo>
                <a:lnTo>
                  <a:pt x="471009" y="512428"/>
                </a:lnTo>
                <a:cubicBezTo>
                  <a:pt x="476439" y="501586"/>
                  <a:pt x="484716" y="492432"/>
                  <a:pt x="495129" y="486033"/>
                </a:cubicBezTo>
                <a:lnTo>
                  <a:pt x="495129" y="211060"/>
                </a:lnTo>
                <a:cubicBezTo>
                  <a:pt x="495129" y="195063"/>
                  <a:pt x="508213" y="181998"/>
                  <a:pt x="524234" y="181998"/>
                </a:cubicBezTo>
                <a:cubicBezTo>
                  <a:pt x="540254" y="181998"/>
                  <a:pt x="553338" y="195063"/>
                  <a:pt x="553338" y="211060"/>
                </a:cubicBezTo>
                <a:lnTo>
                  <a:pt x="553338" y="480878"/>
                </a:lnTo>
                <a:cubicBezTo>
                  <a:pt x="577992" y="490565"/>
                  <a:pt x="594725" y="514472"/>
                  <a:pt x="594725" y="541490"/>
                </a:cubicBezTo>
                <a:cubicBezTo>
                  <a:pt x="594725" y="577483"/>
                  <a:pt x="565443" y="606722"/>
                  <a:pt x="529396" y="606722"/>
                </a:cubicBezTo>
                <a:cubicBezTo>
                  <a:pt x="504564" y="606722"/>
                  <a:pt x="481957" y="592414"/>
                  <a:pt x="471009" y="570551"/>
                </a:cubicBezTo>
                <a:lnTo>
                  <a:pt x="123716" y="570551"/>
                </a:lnTo>
                <a:cubicBezTo>
                  <a:pt x="112857" y="592414"/>
                  <a:pt x="90161" y="606722"/>
                  <a:pt x="65329" y="606722"/>
                </a:cubicBezTo>
                <a:cubicBezTo>
                  <a:pt x="29282" y="606722"/>
                  <a:pt x="0" y="577483"/>
                  <a:pt x="0" y="541490"/>
                </a:cubicBezTo>
                <a:cubicBezTo>
                  <a:pt x="0" y="516961"/>
                  <a:pt x="13529" y="495009"/>
                  <a:pt x="34979" y="483811"/>
                </a:cubicBezTo>
                <a:lnTo>
                  <a:pt x="34979" y="143517"/>
                </a:lnTo>
                <a:cubicBezTo>
                  <a:pt x="13529" y="132319"/>
                  <a:pt x="0" y="110367"/>
                  <a:pt x="0" y="85838"/>
                </a:cubicBezTo>
                <a:cubicBezTo>
                  <a:pt x="0" y="49844"/>
                  <a:pt x="29282" y="20605"/>
                  <a:pt x="65329" y="20605"/>
                </a:cubicBezTo>
                <a:close/>
                <a:moveTo>
                  <a:pt x="535059" y="0"/>
                </a:moveTo>
                <a:cubicBezTo>
                  <a:pt x="537640" y="0"/>
                  <a:pt x="540132" y="978"/>
                  <a:pt x="541912" y="2844"/>
                </a:cubicBezTo>
                <a:lnTo>
                  <a:pt x="593086" y="53943"/>
                </a:lnTo>
                <a:cubicBezTo>
                  <a:pt x="596913" y="57765"/>
                  <a:pt x="596913" y="63897"/>
                  <a:pt x="593086" y="67629"/>
                </a:cubicBezTo>
                <a:lnTo>
                  <a:pt x="437338" y="223238"/>
                </a:lnTo>
                <a:cubicBezTo>
                  <a:pt x="437160" y="223415"/>
                  <a:pt x="436982" y="223593"/>
                  <a:pt x="436804" y="223771"/>
                </a:cubicBezTo>
                <a:lnTo>
                  <a:pt x="308912" y="351564"/>
                </a:lnTo>
                <a:cubicBezTo>
                  <a:pt x="308823" y="351653"/>
                  <a:pt x="308734" y="351653"/>
                  <a:pt x="308734" y="351741"/>
                </a:cubicBezTo>
                <a:cubicBezTo>
                  <a:pt x="308556" y="351919"/>
                  <a:pt x="308378" y="352008"/>
                  <a:pt x="308200" y="352186"/>
                </a:cubicBezTo>
                <a:cubicBezTo>
                  <a:pt x="308200" y="352186"/>
                  <a:pt x="308111" y="352275"/>
                  <a:pt x="308111" y="352275"/>
                </a:cubicBezTo>
                <a:cubicBezTo>
                  <a:pt x="308022" y="352363"/>
                  <a:pt x="307933" y="352363"/>
                  <a:pt x="307933" y="352452"/>
                </a:cubicBezTo>
                <a:cubicBezTo>
                  <a:pt x="307755" y="352541"/>
                  <a:pt x="307666" y="352630"/>
                  <a:pt x="307488" y="352719"/>
                </a:cubicBezTo>
                <a:cubicBezTo>
                  <a:pt x="307399" y="352808"/>
                  <a:pt x="307310" y="352897"/>
                  <a:pt x="307221" y="352897"/>
                </a:cubicBezTo>
                <a:cubicBezTo>
                  <a:pt x="307132" y="352986"/>
                  <a:pt x="307043" y="352986"/>
                  <a:pt x="307043" y="352986"/>
                </a:cubicBezTo>
                <a:cubicBezTo>
                  <a:pt x="306954" y="353074"/>
                  <a:pt x="306776" y="353163"/>
                  <a:pt x="306687" y="353252"/>
                </a:cubicBezTo>
                <a:cubicBezTo>
                  <a:pt x="306598" y="353252"/>
                  <a:pt x="306420" y="353341"/>
                  <a:pt x="306242" y="353430"/>
                </a:cubicBezTo>
                <a:cubicBezTo>
                  <a:pt x="306153" y="353430"/>
                  <a:pt x="306153" y="353519"/>
                  <a:pt x="306064" y="353519"/>
                </a:cubicBezTo>
                <a:cubicBezTo>
                  <a:pt x="305975" y="353608"/>
                  <a:pt x="305975" y="353608"/>
                  <a:pt x="305886" y="353608"/>
                </a:cubicBezTo>
                <a:cubicBezTo>
                  <a:pt x="305708" y="353696"/>
                  <a:pt x="305530" y="353785"/>
                  <a:pt x="305263" y="353874"/>
                </a:cubicBezTo>
                <a:cubicBezTo>
                  <a:pt x="305263" y="353874"/>
                  <a:pt x="305174" y="353874"/>
                  <a:pt x="305085" y="353963"/>
                </a:cubicBezTo>
                <a:lnTo>
                  <a:pt x="230326" y="378846"/>
                </a:lnTo>
                <a:lnTo>
                  <a:pt x="216175" y="392887"/>
                </a:lnTo>
                <a:cubicBezTo>
                  <a:pt x="214306" y="394843"/>
                  <a:pt x="211814" y="395731"/>
                  <a:pt x="209322" y="395731"/>
                </a:cubicBezTo>
                <a:cubicBezTo>
                  <a:pt x="206830" y="395731"/>
                  <a:pt x="204338" y="394843"/>
                  <a:pt x="202469" y="392887"/>
                </a:cubicBezTo>
                <a:cubicBezTo>
                  <a:pt x="198642" y="389155"/>
                  <a:pt x="198642" y="383023"/>
                  <a:pt x="202469" y="379202"/>
                </a:cubicBezTo>
                <a:lnTo>
                  <a:pt x="216798" y="364894"/>
                </a:lnTo>
                <a:lnTo>
                  <a:pt x="228813" y="328902"/>
                </a:lnTo>
                <a:lnTo>
                  <a:pt x="241629" y="290600"/>
                </a:lnTo>
                <a:cubicBezTo>
                  <a:pt x="241629" y="290511"/>
                  <a:pt x="241718" y="290422"/>
                  <a:pt x="241718" y="290333"/>
                </a:cubicBezTo>
                <a:cubicBezTo>
                  <a:pt x="241807" y="290156"/>
                  <a:pt x="241896" y="289978"/>
                  <a:pt x="241896" y="289800"/>
                </a:cubicBezTo>
                <a:cubicBezTo>
                  <a:pt x="241985" y="289711"/>
                  <a:pt x="241985" y="289622"/>
                  <a:pt x="241985" y="289533"/>
                </a:cubicBezTo>
                <a:cubicBezTo>
                  <a:pt x="242074" y="289533"/>
                  <a:pt x="242074" y="289445"/>
                  <a:pt x="242074" y="289356"/>
                </a:cubicBezTo>
                <a:cubicBezTo>
                  <a:pt x="242163" y="289267"/>
                  <a:pt x="242252" y="289089"/>
                  <a:pt x="242341" y="288911"/>
                </a:cubicBezTo>
                <a:cubicBezTo>
                  <a:pt x="242430" y="288823"/>
                  <a:pt x="242430" y="288734"/>
                  <a:pt x="242519" y="288645"/>
                </a:cubicBezTo>
                <a:cubicBezTo>
                  <a:pt x="242608" y="288556"/>
                  <a:pt x="242608" y="288556"/>
                  <a:pt x="242608" y="288467"/>
                </a:cubicBezTo>
                <a:cubicBezTo>
                  <a:pt x="242697" y="288378"/>
                  <a:pt x="242786" y="288289"/>
                  <a:pt x="242875" y="288200"/>
                </a:cubicBezTo>
                <a:cubicBezTo>
                  <a:pt x="242964" y="288023"/>
                  <a:pt x="243053" y="287845"/>
                  <a:pt x="243142" y="287756"/>
                </a:cubicBezTo>
                <a:cubicBezTo>
                  <a:pt x="243142" y="287667"/>
                  <a:pt x="243231" y="287667"/>
                  <a:pt x="243231" y="287578"/>
                </a:cubicBezTo>
                <a:cubicBezTo>
                  <a:pt x="243320" y="287490"/>
                  <a:pt x="243320" y="287490"/>
                  <a:pt x="243409" y="287401"/>
                </a:cubicBezTo>
                <a:cubicBezTo>
                  <a:pt x="243498" y="287223"/>
                  <a:pt x="243676" y="287134"/>
                  <a:pt x="243854" y="286956"/>
                </a:cubicBezTo>
                <a:cubicBezTo>
                  <a:pt x="243854" y="286867"/>
                  <a:pt x="243943" y="286867"/>
                  <a:pt x="243943" y="286779"/>
                </a:cubicBezTo>
                <a:lnTo>
                  <a:pt x="295206" y="235590"/>
                </a:lnTo>
                <a:lnTo>
                  <a:pt x="528206" y="2844"/>
                </a:lnTo>
                <a:cubicBezTo>
                  <a:pt x="530075" y="978"/>
                  <a:pt x="532478" y="0"/>
                  <a:pt x="535059"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8" name="熊大的PPT宝库43"/>
          <p:cNvSpPr/>
          <p:nvPr/>
        </p:nvSpPr>
        <p:spPr>
          <a:xfrm>
            <a:off x="2728546" y="4476656"/>
            <a:ext cx="167306" cy="132332"/>
          </a:xfrm>
          <a:custGeom>
            <a:avLst/>
            <a:gdLst>
              <a:gd name="connsiteX0" fmla="*/ 304389 w 608909"/>
              <a:gd name="connsiteY0" fmla="*/ 192384 h 459099"/>
              <a:gd name="connsiteX1" fmla="*/ 278045 w 608909"/>
              <a:gd name="connsiteY1" fmla="*/ 203319 h 459099"/>
              <a:gd name="connsiteX2" fmla="*/ 267221 w 608909"/>
              <a:gd name="connsiteY2" fmla="*/ 229485 h 459099"/>
              <a:gd name="connsiteX3" fmla="*/ 278045 w 608909"/>
              <a:gd name="connsiteY3" fmla="*/ 255780 h 459099"/>
              <a:gd name="connsiteX4" fmla="*/ 304389 w 608909"/>
              <a:gd name="connsiteY4" fmla="*/ 266715 h 459099"/>
              <a:gd name="connsiteX5" fmla="*/ 330733 w 608909"/>
              <a:gd name="connsiteY5" fmla="*/ 255780 h 459099"/>
              <a:gd name="connsiteX6" fmla="*/ 341688 w 608909"/>
              <a:gd name="connsiteY6" fmla="*/ 229485 h 459099"/>
              <a:gd name="connsiteX7" fmla="*/ 330733 w 608909"/>
              <a:gd name="connsiteY7" fmla="*/ 203319 h 459099"/>
              <a:gd name="connsiteX8" fmla="*/ 304389 w 608909"/>
              <a:gd name="connsiteY8" fmla="*/ 192384 h 459099"/>
              <a:gd name="connsiteX9" fmla="*/ 304389 w 608909"/>
              <a:gd name="connsiteY9" fmla="*/ 171686 h 459099"/>
              <a:gd name="connsiteX10" fmla="*/ 345470 w 608909"/>
              <a:gd name="connsiteY10" fmla="*/ 188609 h 459099"/>
              <a:gd name="connsiteX11" fmla="*/ 362424 w 608909"/>
              <a:gd name="connsiteY11" fmla="*/ 229615 h 459099"/>
              <a:gd name="connsiteX12" fmla="*/ 345470 w 608909"/>
              <a:gd name="connsiteY12" fmla="*/ 270490 h 459099"/>
              <a:gd name="connsiteX13" fmla="*/ 304389 w 608909"/>
              <a:gd name="connsiteY13" fmla="*/ 287413 h 459099"/>
              <a:gd name="connsiteX14" fmla="*/ 263439 w 608909"/>
              <a:gd name="connsiteY14" fmla="*/ 270490 h 459099"/>
              <a:gd name="connsiteX15" fmla="*/ 246485 w 608909"/>
              <a:gd name="connsiteY15" fmla="*/ 229615 h 459099"/>
              <a:gd name="connsiteX16" fmla="*/ 263439 w 608909"/>
              <a:gd name="connsiteY16" fmla="*/ 188609 h 459099"/>
              <a:gd name="connsiteX17" fmla="*/ 304389 w 608909"/>
              <a:gd name="connsiteY17" fmla="*/ 171686 h 459099"/>
              <a:gd name="connsiteX18" fmla="*/ 304384 w 608909"/>
              <a:gd name="connsiteY18" fmla="*/ 151030 h 459099"/>
              <a:gd name="connsiteX19" fmla="*/ 248852 w 608909"/>
              <a:gd name="connsiteY19" fmla="*/ 174069 h 459099"/>
              <a:gd name="connsiteX20" fmla="*/ 225779 w 608909"/>
              <a:gd name="connsiteY20" fmla="*/ 229650 h 459099"/>
              <a:gd name="connsiteX21" fmla="*/ 248852 w 608909"/>
              <a:gd name="connsiteY21" fmla="*/ 285100 h 459099"/>
              <a:gd name="connsiteX22" fmla="*/ 304384 w 608909"/>
              <a:gd name="connsiteY22" fmla="*/ 308139 h 459099"/>
              <a:gd name="connsiteX23" fmla="*/ 360046 w 608909"/>
              <a:gd name="connsiteY23" fmla="*/ 285100 h 459099"/>
              <a:gd name="connsiteX24" fmla="*/ 383119 w 608909"/>
              <a:gd name="connsiteY24" fmla="*/ 229520 h 459099"/>
              <a:gd name="connsiteX25" fmla="*/ 360046 w 608909"/>
              <a:gd name="connsiteY25" fmla="*/ 174069 h 459099"/>
              <a:gd name="connsiteX26" fmla="*/ 304384 w 608909"/>
              <a:gd name="connsiteY26" fmla="*/ 151030 h 459099"/>
              <a:gd name="connsiteX27" fmla="*/ 304384 w 608909"/>
              <a:gd name="connsiteY27" fmla="*/ 130334 h 459099"/>
              <a:gd name="connsiteX28" fmla="*/ 374776 w 608909"/>
              <a:gd name="connsiteY28" fmla="*/ 159361 h 459099"/>
              <a:gd name="connsiteX29" fmla="*/ 403846 w 608909"/>
              <a:gd name="connsiteY29" fmla="*/ 229650 h 459099"/>
              <a:gd name="connsiteX30" fmla="*/ 374776 w 608909"/>
              <a:gd name="connsiteY30" fmla="*/ 299808 h 459099"/>
              <a:gd name="connsiteX31" fmla="*/ 304384 w 608909"/>
              <a:gd name="connsiteY31" fmla="*/ 328835 h 459099"/>
              <a:gd name="connsiteX32" fmla="*/ 234122 w 608909"/>
              <a:gd name="connsiteY32" fmla="*/ 299808 h 459099"/>
              <a:gd name="connsiteX33" fmla="*/ 204922 w 608909"/>
              <a:gd name="connsiteY33" fmla="*/ 229650 h 459099"/>
              <a:gd name="connsiteX34" fmla="*/ 234122 w 608909"/>
              <a:gd name="connsiteY34" fmla="*/ 159361 h 459099"/>
              <a:gd name="connsiteX35" fmla="*/ 304384 w 608909"/>
              <a:gd name="connsiteY35" fmla="*/ 130334 h 459099"/>
              <a:gd name="connsiteX36" fmla="*/ 408408 w 608909"/>
              <a:gd name="connsiteY36" fmla="*/ 125749 h 459099"/>
              <a:gd name="connsiteX37" fmla="*/ 393805 w 608909"/>
              <a:gd name="connsiteY37" fmla="*/ 140326 h 459099"/>
              <a:gd name="connsiteX38" fmla="*/ 430703 w 608909"/>
              <a:gd name="connsiteY38" fmla="*/ 229615 h 459099"/>
              <a:gd name="connsiteX39" fmla="*/ 393805 w 608909"/>
              <a:gd name="connsiteY39" fmla="*/ 318773 h 459099"/>
              <a:gd name="connsiteX40" fmla="*/ 408408 w 608909"/>
              <a:gd name="connsiteY40" fmla="*/ 333351 h 459099"/>
              <a:gd name="connsiteX41" fmla="*/ 451433 w 608909"/>
              <a:gd name="connsiteY41" fmla="*/ 229615 h 459099"/>
              <a:gd name="connsiteX42" fmla="*/ 408408 w 608909"/>
              <a:gd name="connsiteY42" fmla="*/ 125749 h 459099"/>
              <a:gd name="connsiteX43" fmla="*/ 200501 w 608909"/>
              <a:gd name="connsiteY43" fmla="*/ 125749 h 459099"/>
              <a:gd name="connsiteX44" fmla="*/ 157476 w 608909"/>
              <a:gd name="connsiteY44" fmla="*/ 229615 h 459099"/>
              <a:gd name="connsiteX45" fmla="*/ 200501 w 608909"/>
              <a:gd name="connsiteY45" fmla="*/ 333351 h 459099"/>
              <a:gd name="connsiteX46" fmla="*/ 215103 w 608909"/>
              <a:gd name="connsiteY46" fmla="*/ 318773 h 459099"/>
              <a:gd name="connsiteX47" fmla="*/ 178206 w 608909"/>
              <a:gd name="connsiteY47" fmla="*/ 229615 h 459099"/>
              <a:gd name="connsiteX48" fmla="*/ 215103 w 608909"/>
              <a:gd name="connsiteY48" fmla="*/ 140326 h 459099"/>
              <a:gd name="connsiteX49" fmla="*/ 408408 w 608909"/>
              <a:gd name="connsiteY49" fmla="*/ 96463 h 459099"/>
              <a:gd name="connsiteX50" fmla="*/ 423141 w 608909"/>
              <a:gd name="connsiteY50" fmla="*/ 111041 h 459099"/>
              <a:gd name="connsiteX51" fmla="*/ 472294 w 608909"/>
              <a:gd name="connsiteY51" fmla="*/ 229615 h 459099"/>
              <a:gd name="connsiteX52" fmla="*/ 423141 w 608909"/>
              <a:gd name="connsiteY52" fmla="*/ 348058 h 459099"/>
              <a:gd name="connsiteX53" fmla="*/ 408408 w 608909"/>
              <a:gd name="connsiteY53" fmla="*/ 362636 h 459099"/>
              <a:gd name="connsiteX54" fmla="*/ 364470 w 608909"/>
              <a:gd name="connsiteY54" fmla="*/ 318773 h 459099"/>
              <a:gd name="connsiteX55" fmla="*/ 379072 w 608909"/>
              <a:gd name="connsiteY55" fmla="*/ 304065 h 459099"/>
              <a:gd name="connsiteX56" fmla="*/ 409972 w 608909"/>
              <a:gd name="connsiteY56" fmla="*/ 229615 h 459099"/>
              <a:gd name="connsiteX57" fmla="*/ 379072 w 608909"/>
              <a:gd name="connsiteY57" fmla="*/ 155034 h 459099"/>
              <a:gd name="connsiteX58" fmla="*/ 364470 w 608909"/>
              <a:gd name="connsiteY58" fmla="*/ 140326 h 459099"/>
              <a:gd name="connsiteX59" fmla="*/ 200501 w 608909"/>
              <a:gd name="connsiteY59" fmla="*/ 96463 h 459099"/>
              <a:gd name="connsiteX60" fmla="*/ 244439 w 608909"/>
              <a:gd name="connsiteY60" fmla="*/ 140326 h 459099"/>
              <a:gd name="connsiteX61" fmla="*/ 229836 w 608909"/>
              <a:gd name="connsiteY61" fmla="*/ 155034 h 459099"/>
              <a:gd name="connsiteX62" fmla="*/ 198936 w 608909"/>
              <a:gd name="connsiteY62" fmla="*/ 229615 h 459099"/>
              <a:gd name="connsiteX63" fmla="*/ 229836 w 608909"/>
              <a:gd name="connsiteY63" fmla="*/ 304065 h 459099"/>
              <a:gd name="connsiteX64" fmla="*/ 244439 w 608909"/>
              <a:gd name="connsiteY64" fmla="*/ 318773 h 459099"/>
              <a:gd name="connsiteX65" fmla="*/ 200501 w 608909"/>
              <a:gd name="connsiteY65" fmla="*/ 362636 h 459099"/>
              <a:gd name="connsiteX66" fmla="*/ 185768 w 608909"/>
              <a:gd name="connsiteY66" fmla="*/ 348058 h 459099"/>
              <a:gd name="connsiteX67" fmla="*/ 136615 w 608909"/>
              <a:gd name="connsiteY67" fmla="*/ 229615 h 459099"/>
              <a:gd name="connsiteX68" fmla="*/ 185768 w 608909"/>
              <a:gd name="connsiteY68" fmla="*/ 111041 h 459099"/>
              <a:gd name="connsiteX69" fmla="*/ 456808 w 608909"/>
              <a:gd name="connsiteY69" fmla="*/ 77484 h 459099"/>
              <a:gd name="connsiteX70" fmla="*/ 442074 w 608909"/>
              <a:gd name="connsiteY70" fmla="*/ 92193 h 459099"/>
              <a:gd name="connsiteX71" fmla="*/ 442074 w 608909"/>
              <a:gd name="connsiteY71" fmla="*/ 366977 h 459099"/>
              <a:gd name="connsiteX72" fmla="*/ 456808 w 608909"/>
              <a:gd name="connsiteY72" fmla="*/ 381685 h 459099"/>
              <a:gd name="connsiteX73" fmla="*/ 456808 w 608909"/>
              <a:gd name="connsiteY73" fmla="*/ 77484 h 459099"/>
              <a:gd name="connsiteX74" fmla="*/ 152122 w 608909"/>
              <a:gd name="connsiteY74" fmla="*/ 77484 h 459099"/>
              <a:gd name="connsiteX75" fmla="*/ 152122 w 608909"/>
              <a:gd name="connsiteY75" fmla="*/ 381685 h 459099"/>
              <a:gd name="connsiteX76" fmla="*/ 166848 w 608909"/>
              <a:gd name="connsiteY76" fmla="*/ 366977 h 459099"/>
              <a:gd name="connsiteX77" fmla="*/ 166848 w 608909"/>
              <a:gd name="connsiteY77" fmla="*/ 92193 h 459099"/>
              <a:gd name="connsiteX78" fmla="*/ 456808 w 608909"/>
              <a:gd name="connsiteY78" fmla="*/ 48196 h 459099"/>
              <a:gd name="connsiteX79" fmla="*/ 471412 w 608909"/>
              <a:gd name="connsiteY79" fmla="*/ 62905 h 459099"/>
              <a:gd name="connsiteX80" fmla="*/ 471412 w 608909"/>
              <a:gd name="connsiteY80" fmla="*/ 396264 h 459099"/>
              <a:gd name="connsiteX81" fmla="*/ 456808 w 608909"/>
              <a:gd name="connsiteY81" fmla="*/ 410973 h 459099"/>
              <a:gd name="connsiteX82" fmla="*/ 412737 w 608909"/>
              <a:gd name="connsiteY82" fmla="*/ 366977 h 459099"/>
              <a:gd name="connsiteX83" fmla="*/ 427471 w 608909"/>
              <a:gd name="connsiteY83" fmla="*/ 352398 h 459099"/>
              <a:gd name="connsiteX84" fmla="*/ 427471 w 608909"/>
              <a:gd name="connsiteY84" fmla="*/ 106772 h 459099"/>
              <a:gd name="connsiteX85" fmla="*/ 412737 w 608909"/>
              <a:gd name="connsiteY85" fmla="*/ 92193 h 459099"/>
              <a:gd name="connsiteX86" fmla="*/ 152122 w 608909"/>
              <a:gd name="connsiteY86" fmla="*/ 48196 h 459099"/>
              <a:gd name="connsiteX87" fmla="*/ 196172 w 608909"/>
              <a:gd name="connsiteY87" fmla="*/ 92193 h 459099"/>
              <a:gd name="connsiteX88" fmla="*/ 181445 w 608909"/>
              <a:gd name="connsiteY88" fmla="*/ 106772 h 459099"/>
              <a:gd name="connsiteX89" fmla="*/ 181445 w 608909"/>
              <a:gd name="connsiteY89" fmla="*/ 352398 h 459099"/>
              <a:gd name="connsiteX90" fmla="*/ 196172 w 608909"/>
              <a:gd name="connsiteY90" fmla="*/ 366977 h 459099"/>
              <a:gd name="connsiteX91" fmla="*/ 152122 w 608909"/>
              <a:gd name="connsiteY91" fmla="*/ 410973 h 459099"/>
              <a:gd name="connsiteX92" fmla="*/ 137525 w 608909"/>
              <a:gd name="connsiteY92" fmla="*/ 396264 h 459099"/>
              <a:gd name="connsiteX93" fmla="*/ 137525 w 608909"/>
              <a:gd name="connsiteY93" fmla="*/ 62905 h 459099"/>
              <a:gd name="connsiteX94" fmla="*/ 505008 w 608909"/>
              <a:gd name="connsiteY94" fmla="*/ 29287 h 459099"/>
              <a:gd name="connsiteX95" fmla="*/ 490407 w 608909"/>
              <a:gd name="connsiteY95" fmla="*/ 43866 h 459099"/>
              <a:gd name="connsiteX96" fmla="*/ 567453 w 608909"/>
              <a:gd name="connsiteY96" fmla="*/ 229615 h 459099"/>
              <a:gd name="connsiteX97" fmla="*/ 490407 w 608909"/>
              <a:gd name="connsiteY97" fmla="*/ 415233 h 459099"/>
              <a:gd name="connsiteX98" fmla="*/ 505008 w 608909"/>
              <a:gd name="connsiteY98" fmla="*/ 429812 h 459099"/>
              <a:gd name="connsiteX99" fmla="*/ 588181 w 608909"/>
              <a:gd name="connsiteY99" fmla="*/ 229615 h 459099"/>
              <a:gd name="connsiteX100" fmla="*/ 505008 w 608909"/>
              <a:gd name="connsiteY100" fmla="*/ 29287 h 459099"/>
              <a:gd name="connsiteX101" fmla="*/ 103901 w 608909"/>
              <a:gd name="connsiteY101" fmla="*/ 29287 h 459099"/>
              <a:gd name="connsiteX102" fmla="*/ 20728 w 608909"/>
              <a:gd name="connsiteY102" fmla="*/ 229615 h 459099"/>
              <a:gd name="connsiteX103" fmla="*/ 103901 w 608909"/>
              <a:gd name="connsiteY103" fmla="*/ 429812 h 459099"/>
              <a:gd name="connsiteX104" fmla="*/ 118502 w 608909"/>
              <a:gd name="connsiteY104" fmla="*/ 415233 h 459099"/>
              <a:gd name="connsiteX105" fmla="*/ 41456 w 608909"/>
              <a:gd name="connsiteY105" fmla="*/ 229615 h 459099"/>
              <a:gd name="connsiteX106" fmla="*/ 118502 w 608909"/>
              <a:gd name="connsiteY106" fmla="*/ 43866 h 459099"/>
              <a:gd name="connsiteX107" fmla="*/ 505008 w 608909"/>
              <a:gd name="connsiteY107" fmla="*/ 0 h 459099"/>
              <a:gd name="connsiteX108" fmla="*/ 519739 w 608909"/>
              <a:gd name="connsiteY108" fmla="*/ 14579 h 459099"/>
              <a:gd name="connsiteX109" fmla="*/ 608909 w 608909"/>
              <a:gd name="connsiteY109" fmla="*/ 229485 h 459099"/>
              <a:gd name="connsiteX110" fmla="*/ 519739 w 608909"/>
              <a:gd name="connsiteY110" fmla="*/ 444520 h 459099"/>
              <a:gd name="connsiteX111" fmla="*/ 505008 w 608909"/>
              <a:gd name="connsiteY111" fmla="*/ 459099 h 459099"/>
              <a:gd name="connsiteX112" fmla="*/ 461074 w 608909"/>
              <a:gd name="connsiteY112" fmla="*/ 415233 h 459099"/>
              <a:gd name="connsiteX113" fmla="*/ 475675 w 608909"/>
              <a:gd name="connsiteY113" fmla="*/ 400524 h 459099"/>
              <a:gd name="connsiteX114" fmla="*/ 546725 w 608909"/>
              <a:gd name="connsiteY114" fmla="*/ 229485 h 459099"/>
              <a:gd name="connsiteX115" fmla="*/ 475675 w 608909"/>
              <a:gd name="connsiteY115" fmla="*/ 58575 h 459099"/>
              <a:gd name="connsiteX116" fmla="*/ 461074 w 608909"/>
              <a:gd name="connsiteY116" fmla="*/ 43866 h 459099"/>
              <a:gd name="connsiteX117" fmla="*/ 103901 w 608909"/>
              <a:gd name="connsiteY117" fmla="*/ 0 h 459099"/>
              <a:gd name="connsiteX118" fmla="*/ 147835 w 608909"/>
              <a:gd name="connsiteY118" fmla="*/ 43866 h 459099"/>
              <a:gd name="connsiteX119" fmla="*/ 133234 w 608909"/>
              <a:gd name="connsiteY119" fmla="*/ 58575 h 459099"/>
              <a:gd name="connsiteX120" fmla="*/ 62184 w 608909"/>
              <a:gd name="connsiteY120" fmla="*/ 229615 h 459099"/>
              <a:gd name="connsiteX121" fmla="*/ 133234 w 608909"/>
              <a:gd name="connsiteY121" fmla="*/ 400524 h 459099"/>
              <a:gd name="connsiteX122" fmla="*/ 147835 w 608909"/>
              <a:gd name="connsiteY122" fmla="*/ 415233 h 459099"/>
              <a:gd name="connsiteX123" fmla="*/ 103901 w 608909"/>
              <a:gd name="connsiteY123" fmla="*/ 459099 h 459099"/>
              <a:gd name="connsiteX124" fmla="*/ 89170 w 608909"/>
              <a:gd name="connsiteY124" fmla="*/ 444520 h 459099"/>
              <a:gd name="connsiteX125" fmla="*/ 0 w 608909"/>
              <a:gd name="connsiteY125" fmla="*/ 229615 h 459099"/>
              <a:gd name="connsiteX126" fmla="*/ 89170 w 608909"/>
              <a:gd name="connsiteY126" fmla="*/ 14579 h 459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608909" h="459099">
                <a:moveTo>
                  <a:pt x="304389" y="192384"/>
                </a:moveTo>
                <a:cubicBezTo>
                  <a:pt x="294477" y="192384"/>
                  <a:pt x="285088" y="196290"/>
                  <a:pt x="278045" y="203319"/>
                </a:cubicBezTo>
                <a:cubicBezTo>
                  <a:pt x="271003" y="210218"/>
                  <a:pt x="267221" y="219591"/>
                  <a:pt x="267221" y="229485"/>
                </a:cubicBezTo>
                <a:cubicBezTo>
                  <a:pt x="267221" y="239508"/>
                  <a:pt x="271003" y="248751"/>
                  <a:pt x="278045" y="255780"/>
                </a:cubicBezTo>
                <a:cubicBezTo>
                  <a:pt x="285088" y="262810"/>
                  <a:pt x="294477" y="266715"/>
                  <a:pt x="304389" y="266715"/>
                </a:cubicBezTo>
                <a:cubicBezTo>
                  <a:pt x="314431" y="266715"/>
                  <a:pt x="323690" y="262810"/>
                  <a:pt x="330733" y="255780"/>
                </a:cubicBezTo>
                <a:cubicBezTo>
                  <a:pt x="337775" y="248751"/>
                  <a:pt x="341688" y="239508"/>
                  <a:pt x="341688" y="229485"/>
                </a:cubicBezTo>
                <a:cubicBezTo>
                  <a:pt x="341688" y="219591"/>
                  <a:pt x="337775" y="210349"/>
                  <a:pt x="330733" y="203319"/>
                </a:cubicBezTo>
                <a:cubicBezTo>
                  <a:pt x="323690" y="196290"/>
                  <a:pt x="314431" y="192384"/>
                  <a:pt x="304389" y="192384"/>
                </a:cubicBezTo>
                <a:close/>
                <a:moveTo>
                  <a:pt x="304389" y="171686"/>
                </a:moveTo>
                <a:cubicBezTo>
                  <a:pt x="319908" y="171686"/>
                  <a:pt x="334515" y="177674"/>
                  <a:pt x="345470" y="188609"/>
                </a:cubicBezTo>
                <a:cubicBezTo>
                  <a:pt x="356425" y="199544"/>
                  <a:pt x="362424" y="214124"/>
                  <a:pt x="362424" y="229615"/>
                </a:cubicBezTo>
                <a:cubicBezTo>
                  <a:pt x="362424" y="244976"/>
                  <a:pt x="356425" y="259555"/>
                  <a:pt x="345470" y="270490"/>
                </a:cubicBezTo>
                <a:cubicBezTo>
                  <a:pt x="334515" y="281425"/>
                  <a:pt x="319908" y="287413"/>
                  <a:pt x="304389" y="287413"/>
                </a:cubicBezTo>
                <a:cubicBezTo>
                  <a:pt x="289000" y="287413"/>
                  <a:pt x="274394" y="281425"/>
                  <a:pt x="263439" y="270490"/>
                </a:cubicBezTo>
                <a:cubicBezTo>
                  <a:pt x="252484" y="259555"/>
                  <a:pt x="246485" y="244976"/>
                  <a:pt x="246485" y="229615"/>
                </a:cubicBezTo>
                <a:cubicBezTo>
                  <a:pt x="246485" y="214124"/>
                  <a:pt x="252484" y="199544"/>
                  <a:pt x="263439" y="188609"/>
                </a:cubicBezTo>
                <a:cubicBezTo>
                  <a:pt x="274394" y="177674"/>
                  <a:pt x="289000" y="171686"/>
                  <a:pt x="304389" y="171686"/>
                </a:cubicBezTo>
                <a:close/>
                <a:moveTo>
                  <a:pt x="304384" y="151030"/>
                </a:moveTo>
                <a:cubicBezTo>
                  <a:pt x="283396" y="151030"/>
                  <a:pt x="263713" y="159231"/>
                  <a:pt x="248852" y="174069"/>
                </a:cubicBezTo>
                <a:cubicBezTo>
                  <a:pt x="233861" y="188908"/>
                  <a:pt x="225779" y="208563"/>
                  <a:pt x="225779" y="229650"/>
                </a:cubicBezTo>
                <a:cubicBezTo>
                  <a:pt x="225779" y="250606"/>
                  <a:pt x="233861" y="270261"/>
                  <a:pt x="248852" y="285100"/>
                </a:cubicBezTo>
                <a:cubicBezTo>
                  <a:pt x="263713" y="299939"/>
                  <a:pt x="283396" y="308139"/>
                  <a:pt x="304384" y="308139"/>
                </a:cubicBezTo>
                <a:cubicBezTo>
                  <a:pt x="325502" y="308139"/>
                  <a:pt x="345185" y="299939"/>
                  <a:pt x="360046" y="285100"/>
                </a:cubicBezTo>
                <a:cubicBezTo>
                  <a:pt x="374907" y="270261"/>
                  <a:pt x="383119" y="250606"/>
                  <a:pt x="383119" y="229520"/>
                </a:cubicBezTo>
                <a:cubicBezTo>
                  <a:pt x="383119" y="208563"/>
                  <a:pt x="374907" y="188908"/>
                  <a:pt x="360046" y="174069"/>
                </a:cubicBezTo>
                <a:cubicBezTo>
                  <a:pt x="345185" y="159231"/>
                  <a:pt x="325502" y="151030"/>
                  <a:pt x="304384" y="151030"/>
                </a:cubicBezTo>
                <a:close/>
                <a:moveTo>
                  <a:pt x="304384" y="130334"/>
                </a:moveTo>
                <a:cubicBezTo>
                  <a:pt x="330976" y="130334"/>
                  <a:pt x="356005" y="140617"/>
                  <a:pt x="374776" y="159361"/>
                </a:cubicBezTo>
                <a:cubicBezTo>
                  <a:pt x="393548" y="178105"/>
                  <a:pt x="403846" y="203096"/>
                  <a:pt x="403846" y="229650"/>
                </a:cubicBezTo>
                <a:cubicBezTo>
                  <a:pt x="403846" y="256073"/>
                  <a:pt x="393548" y="281065"/>
                  <a:pt x="374776" y="299808"/>
                </a:cubicBezTo>
                <a:cubicBezTo>
                  <a:pt x="356005" y="318552"/>
                  <a:pt x="330976" y="328835"/>
                  <a:pt x="304384" y="328835"/>
                </a:cubicBezTo>
                <a:cubicBezTo>
                  <a:pt x="277921" y="328835"/>
                  <a:pt x="252893" y="318552"/>
                  <a:pt x="234122" y="299808"/>
                </a:cubicBezTo>
                <a:cubicBezTo>
                  <a:pt x="215350" y="281065"/>
                  <a:pt x="204922" y="256073"/>
                  <a:pt x="204922" y="229650"/>
                </a:cubicBezTo>
                <a:cubicBezTo>
                  <a:pt x="204922" y="203096"/>
                  <a:pt x="215350" y="178105"/>
                  <a:pt x="234122" y="159361"/>
                </a:cubicBezTo>
                <a:cubicBezTo>
                  <a:pt x="252893" y="140617"/>
                  <a:pt x="277921" y="130334"/>
                  <a:pt x="304384" y="130334"/>
                </a:cubicBezTo>
                <a:close/>
                <a:moveTo>
                  <a:pt x="408408" y="125749"/>
                </a:moveTo>
                <a:lnTo>
                  <a:pt x="393805" y="140326"/>
                </a:lnTo>
                <a:cubicBezTo>
                  <a:pt x="417535" y="164145"/>
                  <a:pt x="430703" y="195904"/>
                  <a:pt x="430703" y="229615"/>
                </a:cubicBezTo>
                <a:cubicBezTo>
                  <a:pt x="430703" y="263195"/>
                  <a:pt x="417535" y="294954"/>
                  <a:pt x="393805" y="318773"/>
                </a:cubicBezTo>
                <a:lnTo>
                  <a:pt x="408408" y="333351"/>
                </a:lnTo>
                <a:cubicBezTo>
                  <a:pt x="436179" y="305627"/>
                  <a:pt x="451433" y="268792"/>
                  <a:pt x="451433" y="229615"/>
                </a:cubicBezTo>
                <a:cubicBezTo>
                  <a:pt x="451433" y="190307"/>
                  <a:pt x="436179" y="153472"/>
                  <a:pt x="408408" y="125749"/>
                </a:cubicBezTo>
                <a:close/>
                <a:moveTo>
                  <a:pt x="200501" y="125749"/>
                </a:moveTo>
                <a:cubicBezTo>
                  <a:pt x="172730" y="153472"/>
                  <a:pt x="157476" y="190307"/>
                  <a:pt x="157476" y="229615"/>
                </a:cubicBezTo>
                <a:cubicBezTo>
                  <a:pt x="157476" y="268792"/>
                  <a:pt x="172730" y="305627"/>
                  <a:pt x="200501" y="333351"/>
                </a:cubicBezTo>
                <a:lnTo>
                  <a:pt x="215103" y="318773"/>
                </a:lnTo>
                <a:cubicBezTo>
                  <a:pt x="191244" y="294954"/>
                  <a:pt x="178206" y="263195"/>
                  <a:pt x="178206" y="229615"/>
                </a:cubicBezTo>
                <a:cubicBezTo>
                  <a:pt x="178206" y="195904"/>
                  <a:pt x="191244" y="164145"/>
                  <a:pt x="215103" y="140326"/>
                </a:cubicBezTo>
                <a:close/>
                <a:moveTo>
                  <a:pt x="408408" y="96463"/>
                </a:moveTo>
                <a:lnTo>
                  <a:pt x="423141" y="111041"/>
                </a:lnTo>
                <a:cubicBezTo>
                  <a:pt x="454823" y="142669"/>
                  <a:pt x="472294" y="184840"/>
                  <a:pt x="472294" y="229615"/>
                </a:cubicBezTo>
                <a:cubicBezTo>
                  <a:pt x="472294" y="274259"/>
                  <a:pt x="454823" y="316430"/>
                  <a:pt x="423141" y="348058"/>
                </a:cubicBezTo>
                <a:lnTo>
                  <a:pt x="408408" y="362636"/>
                </a:lnTo>
                <a:lnTo>
                  <a:pt x="364470" y="318773"/>
                </a:lnTo>
                <a:lnTo>
                  <a:pt x="379072" y="304065"/>
                </a:lnTo>
                <a:cubicBezTo>
                  <a:pt x="399020" y="284151"/>
                  <a:pt x="409972" y="257729"/>
                  <a:pt x="409972" y="229615"/>
                </a:cubicBezTo>
                <a:cubicBezTo>
                  <a:pt x="409972" y="201370"/>
                  <a:pt x="399020" y="174948"/>
                  <a:pt x="379072" y="155034"/>
                </a:cubicBezTo>
                <a:lnTo>
                  <a:pt x="364470" y="140326"/>
                </a:lnTo>
                <a:close/>
                <a:moveTo>
                  <a:pt x="200501" y="96463"/>
                </a:moveTo>
                <a:lnTo>
                  <a:pt x="244439" y="140326"/>
                </a:lnTo>
                <a:lnTo>
                  <a:pt x="229836" y="155034"/>
                </a:lnTo>
                <a:cubicBezTo>
                  <a:pt x="209888" y="174948"/>
                  <a:pt x="198936" y="201370"/>
                  <a:pt x="198936" y="229615"/>
                </a:cubicBezTo>
                <a:cubicBezTo>
                  <a:pt x="198936" y="257729"/>
                  <a:pt x="209888" y="284151"/>
                  <a:pt x="229836" y="304065"/>
                </a:cubicBezTo>
                <a:lnTo>
                  <a:pt x="244439" y="318773"/>
                </a:lnTo>
                <a:lnTo>
                  <a:pt x="200501" y="362636"/>
                </a:lnTo>
                <a:lnTo>
                  <a:pt x="185768" y="348058"/>
                </a:lnTo>
                <a:cubicBezTo>
                  <a:pt x="154086" y="316430"/>
                  <a:pt x="136615" y="274259"/>
                  <a:pt x="136615" y="229615"/>
                </a:cubicBezTo>
                <a:cubicBezTo>
                  <a:pt x="136615" y="184840"/>
                  <a:pt x="154086" y="142669"/>
                  <a:pt x="185768" y="111041"/>
                </a:cubicBezTo>
                <a:close/>
                <a:moveTo>
                  <a:pt x="456808" y="77484"/>
                </a:moveTo>
                <a:lnTo>
                  <a:pt x="442074" y="92193"/>
                </a:lnTo>
                <a:cubicBezTo>
                  <a:pt x="517960" y="167950"/>
                  <a:pt x="517960" y="291219"/>
                  <a:pt x="442074" y="366977"/>
                </a:cubicBezTo>
                <a:lnTo>
                  <a:pt x="456808" y="381685"/>
                </a:lnTo>
                <a:cubicBezTo>
                  <a:pt x="540778" y="297727"/>
                  <a:pt x="540778" y="161312"/>
                  <a:pt x="456808" y="77484"/>
                </a:cubicBezTo>
                <a:close/>
                <a:moveTo>
                  <a:pt x="152122" y="77484"/>
                </a:moveTo>
                <a:cubicBezTo>
                  <a:pt x="68191" y="161442"/>
                  <a:pt x="68191" y="297858"/>
                  <a:pt x="152122" y="381685"/>
                </a:cubicBezTo>
                <a:lnTo>
                  <a:pt x="166848" y="366977"/>
                </a:lnTo>
                <a:cubicBezTo>
                  <a:pt x="90868" y="291219"/>
                  <a:pt x="90868" y="167950"/>
                  <a:pt x="166848" y="92193"/>
                </a:cubicBezTo>
                <a:close/>
                <a:moveTo>
                  <a:pt x="456808" y="48196"/>
                </a:moveTo>
                <a:lnTo>
                  <a:pt x="471412" y="62905"/>
                </a:lnTo>
                <a:cubicBezTo>
                  <a:pt x="563465" y="154803"/>
                  <a:pt x="563465" y="304366"/>
                  <a:pt x="471412" y="396264"/>
                </a:cubicBezTo>
                <a:lnTo>
                  <a:pt x="456808" y="410973"/>
                </a:lnTo>
                <a:lnTo>
                  <a:pt x="412737" y="366977"/>
                </a:lnTo>
                <a:lnTo>
                  <a:pt x="427471" y="352398"/>
                </a:lnTo>
                <a:cubicBezTo>
                  <a:pt x="495273" y="284711"/>
                  <a:pt x="495273" y="174459"/>
                  <a:pt x="427471" y="106772"/>
                </a:cubicBezTo>
                <a:lnTo>
                  <a:pt x="412737" y="92193"/>
                </a:lnTo>
                <a:close/>
                <a:moveTo>
                  <a:pt x="152122" y="48196"/>
                </a:moveTo>
                <a:lnTo>
                  <a:pt x="196172" y="92193"/>
                </a:lnTo>
                <a:lnTo>
                  <a:pt x="181445" y="106772"/>
                </a:lnTo>
                <a:cubicBezTo>
                  <a:pt x="113675" y="174459"/>
                  <a:pt x="113675" y="284711"/>
                  <a:pt x="181445" y="352398"/>
                </a:cubicBezTo>
                <a:lnTo>
                  <a:pt x="196172" y="366977"/>
                </a:lnTo>
                <a:lnTo>
                  <a:pt x="152122" y="410973"/>
                </a:lnTo>
                <a:lnTo>
                  <a:pt x="137525" y="396264"/>
                </a:lnTo>
                <a:cubicBezTo>
                  <a:pt x="45515" y="304366"/>
                  <a:pt x="45515" y="154803"/>
                  <a:pt x="137525" y="62905"/>
                </a:cubicBezTo>
                <a:close/>
                <a:moveTo>
                  <a:pt x="505008" y="29287"/>
                </a:moveTo>
                <a:lnTo>
                  <a:pt x="490407" y="43866"/>
                </a:lnTo>
                <a:cubicBezTo>
                  <a:pt x="540076" y="93460"/>
                  <a:pt x="567453" y="159455"/>
                  <a:pt x="567453" y="229615"/>
                </a:cubicBezTo>
                <a:cubicBezTo>
                  <a:pt x="567453" y="299645"/>
                  <a:pt x="540076" y="365639"/>
                  <a:pt x="490407" y="415233"/>
                </a:cubicBezTo>
                <a:lnTo>
                  <a:pt x="505008" y="429812"/>
                </a:lnTo>
                <a:cubicBezTo>
                  <a:pt x="558588" y="376313"/>
                  <a:pt x="588181" y="305242"/>
                  <a:pt x="588181" y="229615"/>
                </a:cubicBezTo>
                <a:cubicBezTo>
                  <a:pt x="588181" y="153858"/>
                  <a:pt x="558588" y="82786"/>
                  <a:pt x="505008" y="29287"/>
                </a:cubicBezTo>
                <a:close/>
                <a:moveTo>
                  <a:pt x="103901" y="29287"/>
                </a:moveTo>
                <a:cubicBezTo>
                  <a:pt x="50321" y="82786"/>
                  <a:pt x="20728" y="153858"/>
                  <a:pt x="20728" y="229615"/>
                </a:cubicBezTo>
                <a:cubicBezTo>
                  <a:pt x="20728" y="305242"/>
                  <a:pt x="50191" y="376313"/>
                  <a:pt x="103901" y="429812"/>
                </a:cubicBezTo>
                <a:lnTo>
                  <a:pt x="118502" y="415233"/>
                </a:lnTo>
                <a:cubicBezTo>
                  <a:pt x="68833" y="365639"/>
                  <a:pt x="41456" y="299645"/>
                  <a:pt x="41456" y="229615"/>
                </a:cubicBezTo>
                <a:cubicBezTo>
                  <a:pt x="41456" y="159455"/>
                  <a:pt x="68833" y="93460"/>
                  <a:pt x="118502" y="43866"/>
                </a:cubicBezTo>
                <a:close/>
                <a:moveTo>
                  <a:pt x="505008" y="0"/>
                </a:moveTo>
                <a:lnTo>
                  <a:pt x="519739" y="14579"/>
                </a:lnTo>
                <a:cubicBezTo>
                  <a:pt x="577230" y="71982"/>
                  <a:pt x="608909" y="148391"/>
                  <a:pt x="608909" y="229485"/>
                </a:cubicBezTo>
                <a:cubicBezTo>
                  <a:pt x="608909" y="310709"/>
                  <a:pt x="577230" y="387117"/>
                  <a:pt x="519739" y="444520"/>
                </a:cubicBezTo>
                <a:lnTo>
                  <a:pt x="505008" y="459099"/>
                </a:lnTo>
                <a:lnTo>
                  <a:pt x="461074" y="415233"/>
                </a:lnTo>
                <a:lnTo>
                  <a:pt x="475675" y="400524"/>
                </a:lnTo>
                <a:cubicBezTo>
                  <a:pt x="521434" y="354835"/>
                  <a:pt x="546725" y="294178"/>
                  <a:pt x="546725" y="229485"/>
                </a:cubicBezTo>
                <a:cubicBezTo>
                  <a:pt x="546725" y="164922"/>
                  <a:pt x="521434" y="104134"/>
                  <a:pt x="475675" y="58575"/>
                </a:cubicBezTo>
                <a:lnTo>
                  <a:pt x="461074" y="43866"/>
                </a:lnTo>
                <a:close/>
                <a:moveTo>
                  <a:pt x="103901" y="0"/>
                </a:moveTo>
                <a:lnTo>
                  <a:pt x="147835" y="43866"/>
                </a:lnTo>
                <a:lnTo>
                  <a:pt x="133234" y="58575"/>
                </a:lnTo>
                <a:cubicBezTo>
                  <a:pt x="87475" y="104264"/>
                  <a:pt x="62184" y="164922"/>
                  <a:pt x="62184" y="229615"/>
                </a:cubicBezTo>
                <a:cubicBezTo>
                  <a:pt x="62184" y="294178"/>
                  <a:pt x="87475" y="354835"/>
                  <a:pt x="133234" y="400524"/>
                </a:cubicBezTo>
                <a:lnTo>
                  <a:pt x="147835" y="415233"/>
                </a:lnTo>
                <a:lnTo>
                  <a:pt x="103901" y="459099"/>
                </a:lnTo>
                <a:lnTo>
                  <a:pt x="89170" y="444520"/>
                </a:lnTo>
                <a:cubicBezTo>
                  <a:pt x="31679" y="387117"/>
                  <a:pt x="0" y="310709"/>
                  <a:pt x="0" y="229615"/>
                </a:cubicBezTo>
                <a:cubicBezTo>
                  <a:pt x="0" y="148391"/>
                  <a:pt x="31679" y="71982"/>
                  <a:pt x="89170" y="14579"/>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69" name="熊大的PPT宝库44"/>
          <p:cNvSpPr/>
          <p:nvPr/>
        </p:nvSpPr>
        <p:spPr>
          <a:xfrm>
            <a:off x="2369242" y="5132651"/>
            <a:ext cx="217928" cy="135111"/>
          </a:xfrm>
          <a:custGeom>
            <a:avLst/>
            <a:gdLst>
              <a:gd name="connsiteX0" fmla="*/ 491688 w 608133"/>
              <a:gd name="connsiteY0" fmla="*/ 338272 h 377031"/>
              <a:gd name="connsiteX1" fmla="*/ 491688 w 608133"/>
              <a:gd name="connsiteY1" fmla="*/ 357652 h 377031"/>
              <a:gd name="connsiteX2" fmla="*/ 555927 w 608133"/>
              <a:gd name="connsiteY2" fmla="*/ 357652 h 377031"/>
              <a:gd name="connsiteX3" fmla="*/ 555927 w 608133"/>
              <a:gd name="connsiteY3" fmla="*/ 338272 h 377031"/>
              <a:gd name="connsiteX4" fmla="*/ 52206 w 608133"/>
              <a:gd name="connsiteY4" fmla="*/ 338272 h 377031"/>
              <a:gd name="connsiteX5" fmla="*/ 52206 w 608133"/>
              <a:gd name="connsiteY5" fmla="*/ 357652 h 377031"/>
              <a:gd name="connsiteX6" fmla="*/ 116445 w 608133"/>
              <a:gd name="connsiteY6" fmla="*/ 357652 h 377031"/>
              <a:gd name="connsiteX7" fmla="*/ 116445 w 608133"/>
              <a:gd name="connsiteY7" fmla="*/ 338272 h 377031"/>
              <a:gd name="connsiteX8" fmla="*/ 126142 w 608133"/>
              <a:gd name="connsiteY8" fmla="*/ 181141 h 377031"/>
              <a:gd name="connsiteX9" fmla="*/ 162259 w 608133"/>
              <a:gd name="connsiteY9" fmla="*/ 181141 h 377031"/>
              <a:gd name="connsiteX10" fmla="*/ 171968 w 608133"/>
              <a:gd name="connsiteY10" fmla="*/ 190809 h 377031"/>
              <a:gd name="connsiteX11" fmla="*/ 162259 w 608133"/>
              <a:gd name="connsiteY11" fmla="*/ 200476 h 377031"/>
              <a:gd name="connsiteX12" fmla="*/ 126142 w 608133"/>
              <a:gd name="connsiteY12" fmla="*/ 200476 h 377031"/>
              <a:gd name="connsiteX13" fmla="*/ 116433 w 608133"/>
              <a:gd name="connsiteY13" fmla="*/ 190809 h 377031"/>
              <a:gd name="connsiteX14" fmla="*/ 126142 w 608133"/>
              <a:gd name="connsiteY14" fmla="*/ 181141 h 377031"/>
              <a:gd name="connsiteX15" fmla="*/ 67919 w 608133"/>
              <a:gd name="connsiteY15" fmla="*/ 181118 h 377031"/>
              <a:gd name="connsiteX16" fmla="*/ 58216 w 608133"/>
              <a:gd name="connsiteY16" fmla="*/ 190809 h 377031"/>
              <a:gd name="connsiteX17" fmla="*/ 67919 w 608133"/>
              <a:gd name="connsiteY17" fmla="*/ 200500 h 377031"/>
              <a:gd name="connsiteX18" fmla="*/ 77621 w 608133"/>
              <a:gd name="connsiteY18" fmla="*/ 190809 h 377031"/>
              <a:gd name="connsiteX19" fmla="*/ 67919 w 608133"/>
              <a:gd name="connsiteY19" fmla="*/ 181118 h 377031"/>
              <a:gd name="connsiteX20" fmla="*/ 67919 w 608133"/>
              <a:gd name="connsiteY20" fmla="*/ 161736 h 377031"/>
              <a:gd name="connsiteX21" fmla="*/ 97027 w 608133"/>
              <a:gd name="connsiteY21" fmla="*/ 190809 h 377031"/>
              <a:gd name="connsiteX22" fmla="*/ 67919 w 608133"/>
              <a:gd name="connsiteY22" fmla="*/ 219882 h 377031"/>
              <a:gd name="connsiteX23" fmla="*/ 38811 w 608133"/>
              <a:gd name="connsiteY23" fmla="*/ 190809 h 377031"/>
              <a:gd name="connsiteX24" fmla="*/ 67919 w 608133"/>
              <a:gd name="connsiteY24" fmla="*/ 161736 h 377031"/>
              <a:gd name="connsiteX25" fmla="*/ 501403 w 608133"/>
              <a:gd name="connsiteY25" fmla="*/ 161716 h 377031"/>
              <a:gd name="connsiteX26" fmla="*/ 452890 w 608133"/>
              <a:gd name="connsiteY26" fmla="*/ 210179 h 377031"/>
              <a:gd name="connsiteX27" fmla="*/ 491701 w 608133"/>
              <a:gd name="connsiteY27" fmla="*/ 257673 h 377031"/>
              <a:gd name="connsiteX28" fmla="*/ 491701 w 608133"/>
              <a:gd name="connsiteY28" fmla="*/ 236058 h 377031"/>
              <a:gd name="connsiteX29" fmla="*/ 501403 w 608133"/>
              <a:gd name="connsiteY29" fmla="*/ 226365 h 377031"/>
              <a:gd name="connsiteX30" fmla="*/ 511106 w 608133"/>
              <a:gd name="connsiteY30" fmla="*/ 236058 h 377031"/>
              <a:gd name="connsiteX31" fmla="*/ 511106 w 608133"/>
              <a:gd name="connsiteY31" fmla="*/ 257673 h 377031"/>
              <a:gd name="connsiteX32" fmla="*/ 549917 w 608133"/>
              <a:gd name="connsiteY32" fmla="*/ 210179 h 377031"/>
              <a:gd name="connsiteX33" fmla="*/ 501403 w 608133"/>
              <a:gd name="connsiteY33" fmla="*/ 161716 h 377031"/>
              <a:gd name="connsiteX34" fmla="*/ 501403 w 608133"/>
              <a:gd name="connsiteY34" fmla="*/ 142330 h 377031"/>
              <a:gd name="connsiteX35" fmla="*/ 569322 w 608133"/>
              <a:gd name="connsiteY35" fmla="*/ 210179 h 377031"/>
              <a:gd name="connsiteX36" fmla="*/ 501403 w 608133"/>
              <a:gd name="connsiteY36" fmla="*/ 278027 h 377031"/>
              <a:gd name="connsiteX37" fmla="*/ 433484 w 608133"/>
              <a:gd name="connsiteY37" fmla="*/ 210179 h 377031"/>
              <a:gd name="connsiteX38" fmla="*/ 501403 w 608133"/>
              <a:gd name="connsiteY38" fmla="*/ 142330 h 377031"/>
              <a:gd name="connsiteX39" fmla="*/ 126142 w 608133"/>
              <a:gd name="connsiteY39" fmla="*/ 103590 h 377031"/>
              <a:gd name="connsiteX40" fmla="*/ 162259 w 608133"/>
              <a:gd name="connsiteY40" fmla="*/ 103590 h 377031"/>
              <a:gd name="connsiteX41" fmla="*/ 171968 w 608133"/>
              <a:gd name="connsiteY41" fmla="*/ 113293 h 377031"/>
              <a:gd name="connsiteX42" fmla="*/ 162259 w 608133"/>
              <a:gd name="connsiteY42" fmla="*/ 122995 h 377031"/>
              <a:gd name="connsiteX43" fmla="*/ 126142 w 608133"/>
              <a:gd name="connsiteY43" fmla="*/ 122995 h 377031"/>
              <a:gd name="connsiteX44" fmla="*/ 116433 w 608133"/>
              <a:gd name="connsiteY44" fmla="*/ 113293 h 377031"/>
              <a:gd name="connsiteX45" fmla="*/ 126142 w 608133"/>
              <a:gd name="connsiteY45" fmla="*/ 103590 h 377031"/>
              <a:gd name="connsiteX46" fmla="*/ 67919 w 608133"/>
              <a:gd name="connsiteY46" fmla="*/ 103567 h 377031"/>
              <a:gd name="connsiteX47" fmla="*/ 58216 w 608133"/>
              <a:gd name="connsiteY47" fmla="*/ 113258 h 377031"/>
              <a:gd name="connsiteX48" fmla="*/ 67919 w 608133"/>
              <a:gd name="connsiteY48" fmla="*/ 122949 h 377031"/>
              <a:gd name="connsiteX49" fmla="*/ 77621 w 608133"/>
              <a:gd name="connsiteY49" fmla="*/ 113258 h 377031"/>
              <a:gd name="connsiteX50" fmla="*/ 67919 w 608133"/>
              <a:gd name="connsiteY50" fmla="*/ 103567 h 377031"/>
              <a:gd name="connsiteX51" fmla="*/ 203761 w 608133"/>
              <a:gd name="connsiteY51" fmla="*/ 84185 h 377031"/>
              <a:gd name="connsiteX52" fmla="*/ 404373 w 608133"/>
              <a:gd name="connsiteY52" fmla="*/ 84185 h 377031"/>
              <a:gd name="connsiteX53" fmla="*/ 414078 w 608133"/>
              <a:gd name="connsiteY53" fmla="*/ 93877 h 377031"/>
              <a:gd name="connsiteX54" fmla="*/ 414078 w 608133"/>
              <a:gd name="connsiteY54" fmla="*/ 210190 h 377031"/>
              <a:gd name="connsiteX55" fmla="*/ 404373 w 608133"/>
              <a:gd name="connsiteY55" fmla="*/ 219882 h 377031"/>
              <a:gd name="connsiteX56" fmla="*/ 365551 w 608133"/>
              <a:gd name="connsiteY56" fmla="*/ 219882 h 377031"/>
              <a:gd name="connsiteX57" fmla="*/ 355845 w 608133"/>
              <a:gd name="connsiteY57" fmla="*/ 210190 h 377031"/>
              <a:gd name="connsiteX58" fmla="*/ 365551 w 608133"/>
              <a:gd name="connsiteY58" fmla="*/ 200497 h 377031"/>
              <a:gd name="connsiteX59" fmla="*/ 394667 w 608133"/>
              <a:gd name="connsiteY59" fmla="*/ 200497 h 377031"/>
              <a:gd name="connsiteX60" fmla="*/ 394667 w 608133"/>
              <a:gd name="connsiteY60" fmla="*/ 103570 h 377031"/>
              <a:gd name="connsiteX61" fmla="*/ 213466 w 608133"/>
              <a:gd name="connsiteY61" fmla="*/ 103570 h 377031"/>
              <a:gd name="connsiteX62" fmla="*/ 213466 w 608133"/>
              <a:gd name="connsiteY62" fmla="*/ 200497 h 377031"/>
              <a:gd name="connsiteX63" fmla="*/ 326729 w 608133"/>
              <a:gd name="connsiteY63" fmla="*/ 200497 h 377031"/>
              <a:gd name="connsiteX64" fmla="*/ 336434 w 608133"/>
              <a:gd name="connsiteY64" fmla="*/ 210190 h 377031"/>
              <a:gd name="connsiteX65" fmla="*/ 326729 w 608133"/>
              <a:gd name="connsiteY65" fmla="*/ 219882 h 377031"/>
              <a:gd name="connsiteX66" fmla="*/ 203761 w 608133"/>
              <a:gd name="connsiteY66" fmla="*/ 219882 h 377031"/>
              <a:gd name="connsiteX67" fmla="*/ 194055 w 608133"/>
              <a:gd name="connsiteY67" fmla="*/ 210190 h 377031"/>
              <a:gd name="connsiteX68" fmla="*/ 194055 w 608133"/>
              <a:gd name="connsiteY68" fmla="*/ 93877 h 377031"/>
              <a:gd name="connsiteX69" fmla="*/ 203761 w 608133"/>
              <a:gd name="connsiteY69" fmla="*/ 84185 h 377031"/>
              <a:gd name="connsiteX70" fmla="*/ 67919 w 608133"/>
              <a:gd name="connsiteY70" fmla="*/ 84185 h 377031"/>
              <a:gd name="connsiteX71" fmla="*/ 97027 w 608133"/>
              <a:gd name="connsiteY71" fmla="*/ 113258 h 377031"/>
              <a:gd name="connsiteX72" fmla="*/ 67919 w 608133"/>
              <a:gd name="connsiteY72" fmla="*/ 142331 h 377031"/>
              <a:gd name="connsiteX73" fmla="*/ 38811 w 608133"/>
              <a:gd name="connsiteY73" fmla="*/ 113258 h 377031"/>
              <a:gd name="connsiteX74" fmla="*/ 67919 w 608133"/>
              <a:gd name="connsiteY74" fmla="*/ 84185 h 377031"/>
              <a:gd name="connsiteX75" fmla="*/ 29596 w 608133"/>
              <a:gd name="connsiteY75" fmla="*/ 19379 h 377031"/>
              <a:gd name="connsiteX76" fmla="*/ 19407 w 608133"/>
              <a:gd name="connsiteY76" fmla="*/ 29554 h 377031"/>
              <a:gd name="connsiteX77" fmla="*/ 19407 w 608133"/>
              <a:gd name="connsiteY77" fmla="*/ 308718 h 377031"/>
              <a:gd name="connsiteX78" fmla="*/ 29596 w 608133"/>
              <a:gd name="connsiteY78" fmla="*/ 318892 h 377031"/>
              <a:gd name="connsiteX79" fmla="*/ 578537 w 608133"/>
              <a:gd name="connsiteY79" fmla="*/ 318892 h 377031"/>
              <a:gd name="connsiteX80" fmla="*/ 588726 w 608133"/>
              <a:gd name="connsiteY80" fmla="*/ 308718 h 377031"/>
              <a:gd name="connsiteX81" fmla="*/ 588726 w 608133"/>
              <a:gd name="connsiteY81" fmla="*/ 29554 h 377031"/>
              <a:gd name="connsiteX82" fmla="*/ 578537 w 608133"/>
              <a:gd name="connsiteY82" fmla="*/ 19379 h 377031"/>
              <a:gd name="connsiteX83" fmla="*/ 29596 w 608133"/>
              <a:gd name="connsiteY83" fmla="*/ 0 h 377031"/>
              <a:gd name="connsiteX84" fmla="*/ 578537 w 608133"/>
              <a:gd name="connsiteY84" fmla="*/ 0 h 377031"/>
              <a:gd name="connsiteX85" fmla="*/ 608133 w 608133"/>
              <a:gd name="connsiteY85" fmla="*/ 29554 h 377031"/>
              <a:gd name="connsiteX86" fmla="*/ 608133 w 608133"/>
              <a:gd name="connsiteY86" fmla="*/ 308718 h 377031"/>
              <a:gd name="connsiteX87" fmla="*/ 578537 w 608133"/>
              <a:gd name="connsiteY87" fmla="*/ 338272 h 377031"/>
              <a:gd name="connsiteX88" fmla="*/ 575335 w 608133"/>
              <a:gd name="connsiteY88" fmla="*/ 338272 h 377031"/>
              <a:gd name="connsiteX89" fmla="*/ 575335 w 608133"/>
              <a:gd name="connsiteY89" fmla="*/ 367341 h 377031"/>
              <a:gd name="connsiteX90" fmla="*/ 565631 w 608133"/>
              <a:gd name="connsiteY90" fmla="*/ 377031 h 377031"/>
              <a:gd name="connsiteX91" fmla="*/ 481985 w 608133"/>
              <a:gd name="connsiteY91" fmla="*/ 377031 h 377031"/>
              <a:gd name="connsiteX92" fmla="*/ 472281 w 608133"/>
              <a:gd name="connsiteY92" fmla="*/ 367341 h 377031"/>
              <a:gd name="connsiteX93" fmla="*/ 472281 w 608133"/>
              <a:gd name="connsiteY93" fmla="*/ 338272 h 377031"/>
              <a:gd name="connsiteX94" fmla="*/ 135853 w 608133"/>
              <a:gd name="connsiteY94" fmla="*/ 338272 h 377031"/>
              <a:gd name="connsiteX95" fmla="*/ 135853 w 608133"/>
              <a:gd name="connsiteY95" fmla="*/ 367341 h 377031"/>
              <a:gd name="connsiteX96" fmla="*/ 126149 w 608133"/>
              <a:gd name="connsiteY96" fmla="*/ 377031 h 377031"/>
              <a:gd name="connsiteX97" fmla="*/ 42502 w 608133"/>
              <a:gd name="connsiteY97" fmla="*/ 377031 h 377031"/>
              <a:gd name="connsiteX98" fmla="*/ 32798 w 608133"/>
              <a:gd name="connsiteY98" fmla="*/ 367341 h 377031"/>
              <a:gd name="connsiteX99" fmla="*/ 32798 w 608133"/>
              <a:gd name="connsiteY99" fmla="*/ 338272 h 377031"/>
              <a:gd name="connsiteX100" fmla="*/ 29596 w 608133"/>
              <a:gd name="connsiteY100" fmla="*/ 338272 h 377031"/>
              <a:gd name="connsiteX101" fmla="*/ 0 w 608133"/>
              <a:gd name="connsiteY101" fmla="*/ 308718 h 377031"/>
              <a:gd name="connsiteX102" fmla="*/ 0 w 608133"/>
              <a:gd name="connsiteY102" fmla="*/ 29554 h 377031"/>
              <a:gd name="connsiteX103" fmla="*/ 29596 w 608133"/>
              <a:gd name="connsiteY103" fmla="*/ 0 h 377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608133" h="377031">
                <a:moveTo>
                  <a:pt x="491688" y="338272"/>
                </a:moveTo>
                <a:lnTo>
                  <a:pt x="491688" y="357652"/>
                </a:lnTo>
                <a:lnTo>
                  <a:pt x="555927" y="357652"/>
                </a:lnTo>
                <a:lnTo>
                  <a:pt x="555927" y="338272"/>
                </a:lnTo>
                <a:close/>
                <a:moveTo>
                  <a:pt x="52206" y="338272"/>
                </a:moveTo>
                <a:lnTo>
                  <a:pt x="52206" y="357652"/>
                </a:lnTo>
                <a:lnTo>
                  <a:pt x="116445" y="357652"/>
                </a:lnTo>
                <a:lnTo>
                  <a:pt x="116445" y="338272"/>
                </a:lnTo>
                <a:close/>
                <a:moveTo>
                  <a:pt x="126142" y="181141"/>
                </a:moveTo>
                <a:lnTo>
                  <a:pt x="162259" y="181141"/>
                </a:lnTo>
                <a:cubicBezTo>
                  <a:pt x="167599" y="181141"/>
                  <a:pt x="171968" y="185492"/>
                  <a:pt x="171968" y="190809"/>
                </a:cubicBezTo>
                <a:cubicBezTo>
                  <a:pt x="171968" y="196126"/>
                  <a:pt x="167599" y="200476"/>
                  <a:pt x="162259" y="200476"/>
                </a:cubicBezTo>
                <a:lnTo>
                  <a:pt x="126142" y="200476"/>
                </a:lnTo>
                <a:cubicBezTo>
                  <a:pt x="120802" y="200476"/>
                  <a:pt x="116433" y="196126"/>
                  <a:pt x="116433" y="190809"/>
                </a:cubicBezTo>
                <a:cubicBezTo>
                  <a:pt x="116433" y="185492"/>
                  <a:pt x="120802" y="181141"/>
                  <a:pt x="126142" y="181141"/>
                </a:cubicBezTo>
                <a:close/>
                <a:moveTo>
                  <a:pt x="67919" y="181118"/>
                </a:moveTo>
                <a:cubicBezTo>
                  <a:pt x="62582" y="181118"/>
                  <a:pt x="58216" y="185479"/>
                  <a:pt x="58216" y="190809"/>
                </a:cubicBezTo>
                <a:cubicBezTo>
                  <a:pt x="58216" y="196139"/>
                  <a:pt x="62582" y="200500"/>
                  <a:pt x="67919" y="200500"/>
                </a:cubicBezTo>
                <a:cubicBezTo>
                  <a:pt x="73255" y="200500"/>
                  <a:pt x="77621" y="196139"/>
                  <a:pt x="77621" y="190809"/>
                </a:cubicBezTo>
                <a:cubicBezTo>
                  <a:pt x="77621" y="185479"/>
                  <a:pt x="73255" y="181118"/>
                  <a:pt x="67919" y="181118"/>
                </a:cubicBezTo>
                <a:close/>
                <a:moveTo>
                  <a:pt x="67919" y="161736"/>
                </a:moveTo>
                <a:cubicBezTo>
                  <a:pt x="83928" y="161736"/>
                  <a:pt x="97027" y="174819"/>
                  <a:pt x="97027" y="190809"/>
                </a:cubicBezTo>
                <a:cubicBezTo>
                  <a:pt x="97027" y="206896"/>
                  <a:pt x="83928" y="219882"/>
                  <a:pt x="67919" y="219882"/>
                </a:cubicBezTo>
                <a:cubicBezTo>
                  <a:pt x="51909" y="219882"/>
                  <a:pt x="38811" y="206896"/>
                  <a:pt x="38811" y="190809"/>
                </a:cubicBezTo>
                <a:cubicBezTo>
                  <a:pt x="38811" y="174819"/>
                  <a:pt x="51909" y="161736"/>
                  <a:pt x="67919" y="161736"/>
                </a:cubicBezTo>
                <a:close/>
                <a:moveTo>
                  <a:pt x="501403" y="161716"/>
                </a:moveTo>
                <a:cubicBezTo>
                  <a:pt x="474624" y="161716"/>
                  <a:pt x="452890" y="183524"/>
                  <a:pt x="452890" y="210179"/>
                </a:cubicBezTo>
                <a:cubicBezTo>
                  <a:pt x="452890" y="233635"/>
                  <a:pt x="469578" y="253214"/>
                  <a:pt x="491701" y="257673"/>
                </a:cubicBezTo>
                <a:lnTo>
                  <a:pt x="491701" y="236058"/>
                </a:lnTo>
                <a:cubicBezTo>
                  <a:pt x="491701" y="230727"/>
                  <a:pt x="495970" y="226365"/>
                  <a:pt x="501403" y="226365"/>
                </a:cubicBezTo>
                <a:cubicBezTo>
                  <a:pt x="506740" y="226365"/>
                  <a:pt x="511106" y="230727"/>
                  <a:pt x="511106" y="236058"/>
                </a:cubicBezTo>
                <a:lnTo>
                  <a:pt x="511106" y="257673"/>
                </a:lnTo>
                <a:cubicBezTo>
                  <a:pt x="533228" y="253214"/>
                  <a:pt x="549917" y="233635"/>
                  <a:pt x="549917" y="210179"/>
                </a:cubicBezTo>
                <a:cubicBezTo>
                  <a:pt x="549917" y="183524"/>
                  <a:pt x="528086" y="161716"/>
                  <a:pt x="501403" y="161716"/>
                </a:cubicBezTo>
                <a:close/>
                <a:moveTo>
                  <a:pt x="501403" y="142330"/>
                </a:moveTo>
                <a:cubicBezTo>
                  <a:pt x="538856" y="142330"/>
                  <a:pt x="569322" y="172765"/>
                  <a:pt x="569322" y="210179"/>
                </a:cubicBezTo>
                <a:cubicBezTo>
                  <a:pt x="569322" y="247592"/>
                  <a:pt x="538856" y="278027"/>
                  <a:pt x="501403" y="278027"/>
                </a:cubicBezTo>
                <a:cubicBezTo>
                  <a:pt x="463951" y="278027"/>
                  <a:pt x="433484" y="247592"/>
                  <a:pt x="433484" y="210179"/>
                </a:cubicBezTo>
                <a:cubicBezTo>
                  <a:pt x="433484" y="172765"/>
                  <a:pt x="463951" y="142330"/>
                  <a:pt x="501403" y="142330"/>
                </a:cubicBezTo>
                <a:close/>
                <a:moveTo>
                  <a:pt x="126142" y="103590"/>
                </a:moveTo>
                <a:lnTo>
                  <a:pt x="162259" y="103590"/>
                </a:lnTo>
                <a:cubicBezTo>
                  <a:pt x="167599" y="103590"/>
                  <a:pt x="171968" y="107956"/>
                  <a:pt x="171968" y="113293"/>
                </a:cubicBezTo>
                <a:cubicBezTo>
                  <a:pt x="171968" y="118629"/>
                  <a:pt x="167599" y="122995"/>
                  <a:pt x="162259" y="122995"/>
                </a:cubicBezTo>
                <a:lnTo>
                  <a:pt x="126142" y="122995"/>
                </a:lnTo>
                <a:cubicBezTo>
                  <a:pt x="120802" y="122995"/>
                  <a:pt x="116433" y="118629"/>
                  <a:pt x="116433" y="113293"/>
                </a:cubicBezTo>
                <a:cubicBezTo>
                  <a:pt x="116433" y="107956"/>
                  <a:pt x="120802" y="103590"/>
                  <a:pt x="126142" y="103590"/>
                </a:cubicBezTo>
                <a:close/>
                <a:moveTo>
                  <a:pt x="67919" y="103567"/>
                </a:moveTo>
                <a:cubicBezTo>
                  <a:pt x="62582" y="103567"/>
                  <a:pt x="58216" y="107928"/>
                  <a:pt x="58216" y="113258"/>
                </a:cubicBezTo>
                <a:cubicBezTo>
                  <a:pt x="58216" y="118588"/>
                  <a:pt x="62582" y="122949"/>
                  <a:pt x="67919" y="122949"/>
                </a:cubicBezTo>
                <a:cubicBezTo>
                  <a:pt x="73255" y="122949"/>
                  <a:pt x="77621" y="118588"/>
                  <a:pt x="77621" y="113258"/>
                </a:cubicBezTo>
                <a:cubicBezTo>
                  <a:pt x="77621" y="107928"/>
                  <a:pt x="73255" y="103567"/>
                  <a:pt x="67919" y="103567"/>
                </a:cubicBezTo>
                <a:close/>
                <a:moveTo>
                  <a:pt x="203761" y="84185"/>
                </a:moveTo>
                <a:lnTo>
                  <a:pt x="404373" y="84185"/>
                </a:lnTo>
                <a:cubicBezTo>
                  <a:pt x="409711" y="84185"/>
                  <a:pt x="414078" y="88546"/>
                  <a:pt x="414078" y="93877"/>
                </a:cubicBezTo>
                <a:lnTo>
                  <a:pt x="414078" y="210190"/>
                </a:lnTo>
                <a:cubicBezTo>
                  <a:pt x="414078" y="215521"/>
                  <a:pt x="409711" y="219882"/>
                  <a:pt x="404373" y="219882"/>
                </a:cubicBezTo>
                <a:lnTo>
                  <a:pt x="365551" y="219882"/>
                </a:lnTo>
                <a:cubicBezTo>
                  <a:pt x="360116" y="219882"/>
                  <a:pt x="355845" y="215617"/>
                  <a:pt x="355845" y="210190"/>
                </a:cubicBezTo>
                <a:cubicBezTo>
                  <a:pt x="355845" y="204859"/>
                  <a:pt x="360116" y="200497"/>
                  <a:pt x="365551" y="200497"/>
                </a:cubicBezTo>
                <a:lnTo>
                  <a:pt x="394667" y="200497"/>
                </a:lnTo>
                <a:lnTo>
                  <a:pt x="394667" y="103570"/>
                </a:lnTo>
                <a:lnTo>
                  <a:pt x="213466" y="103570"/>
                </a:lnTo>
                <a:lnTo>
                  <a:pt x="213466" y="200497"/>
                </a:lnTo>
                <a:lnTo>
                  <a:pt x="326729" y="200497"/>
                </a:lnTo>
                <a:cubicBezTo>
                  <a:pt x="332067" y="200497"/>
                  <a:pt x="336434" y="204859"/>
                  <a:pt x="336434" y="210190"/>
                </a:cubicBezTo>
                <a:cubicBezTo>
                  <a:pt x="336434" y="215617"/>
                  <a:pt x="332067" y="219882"/>
                  <a:pt x="326729" y="219882"/>
                </a:cubicBezTo>
                <a:lnTo>
                  <a:pt x="203761" y="219882"/>
                </a:lnTo>
                <a:cubicBezTo>
                  <a:pt x="198423" y="219882"/>
                  <a:pt x="194055" y="215521"/>
                  <a:pt x="194055" y="210190"/>
                </a:cubicBezTo>
                <a:lnTo>
                  <a:pt x="194055" y="93877"/>
                </a:lnTo>
                <a:cubicBezTo>
                  <a:pt x="194055" y="88546"/>
                  <a:pt x="198423" y="84185"/>
                  <a:pt x="203761" y="84185"/>
                </a:cubicBezTo>
                <a:close/>
                <a:moveTo>
                  <a:pt x="67919" y="84185"/>
                </a:moveTo>
                <a:cubicBezTo>
                  <a:pt x="83928" y="84185"/>
                  <a:pt x="97027" y="97268"/>
                  <a:pt x="97027" y="113258"/>
                </a:cubicBezTo>
                <a:cubicBezTo>
                  <a:pt x="97027" y="129345"/>
                  <a:pt x="83928" y="142331"/>
                  <a:pt x="67919" y="142331"/>
                </a:cubicBezTo>
                <a:cubicBezTo>
                  <a:pt x="51909" y="142331"/>
                  <a:pt x="38811" y="129345"/>
                  <a:pt x="38811" y="113258"/>
                </a:cubicBezTo>
                <a:cubicBezTo>
                  <a:pt x="38811" y="97268"/>
                  <a:pt x="51909" y="84185"/>
                  <a:pt x="67919" y="84185"/>
                </a:cubicBezTo>
                <a:close/>
                <a:moveTo>
                  <a:pt x="29596" y="19379"/>
                </a:moveTo>
                <a:cubicBezTo>
                  <a:pt x="23968" y="19379"/>
                  <a:pt x="19407" y="23934"/>
                  <a:pt x="19407" y="29554"/>
                </a:cubicBezTo>
                <a:lnTo>
                  <a:pt x="19407" y="308718"/>
                </a:lnTo>
                <a:cubicBezTo>
                  <a:pt x="19407" y="314338"/>
                  <a:pt x="23968" y="318892"/>
                  <a:pt x="29596" y="318892"/>
                </a:cubicBezTo>
                <a:lnTo>
                  <a:pt x="578537" y="318892"/>
                </a:lnTo>
                <a:cubicBezTo>
                  <a:pt x="584165" y="318892"/>
                  <a:pt x="588726" y="314338"/>
                  <a:pt x="588726" y="308718"/>
                </a:cubicBezTo>
                <a:lnTo>
                  <a:pt x="588726" y="29554"/>
                </a:lnTo>
                <a:cubicBezTo>
                  <a:pt x="588726" y="23934"/>
                  <a:pt x="584165" y="19379"/>
                  <a:pt x="578537" y="19379"/>
                </a:cubicBezTo>
                <a:close/>
                <a:moveTo>
                  <a:pt x="29596" y="0"/>
                </a:moveTo>
                <a:lnTo>
                  <a:pt x="578537" y="0"/>
                </a:lnTo>
                <a:cubicBezTo>
                  <a:pt x="594839" y="0"/>
                  <a:pt x="608133" y="13275"/>
                  <a:pt x="608133" y="29554"/>
                </a:cubicBezTo>
                <a:lnTo>
                  <a:pt x="608133" y="308718"/>
                </a:lnTo>
                <a:cubicBezTo>
                  <a:pt x="608133" y="324997"/>
                  <a:pt x="594839" y="338272"/>
                  <a:pt x="578537" y="338272"/>
                </a:cubicBezTo>
                <a:lnTo>
                  <a:pt x="575335" y="338272"/>
                </a:lnTo>
                <a:lnTo>
                  <a:pt x="575335" y="367341"/>
                </a:lnTo>
                <a:cubicBezTo>
                  <a:pt x="575335" y="372671"/>
                  <a:pt x="570968" y="377031"/>
                  <a:pt x="565631" y="377031"/>
                </a:cubicBezTo>
                <a:lnTo>
                  <a:pt x="481985" y="377031"/>
                </a:lnTo>
                <a:cubicBezTo>
                  <a:pt x="476551" y="377031"/>
                  <a:pt x="472281" y="372671"/>
                  <a:pt x="472281" y="367341"/>
                </a:cubicBezTo>
                <a:lnTo>
                  <a:pt x="472281" y="338272"/>
                </a:lnTo>
                <a:lnTo>
                  <a:pt x="135853" y="338272"/>
                </a:lnTo>
                <a:lnTo>
                  <a:pt x="135853" y="367341"/>
                </a:lnTo>
                <a:cubicBezTo>
                  <a:pt x="135853" y="372671"/>
                  <a:pt x="131486" y="377031"/>
                  <a:pt x="126149" y="377031"/>
                </a:cubicBezTo>
                <a:lnTo>
                  <a:pt x="42502" y="377031"/>
                </a:lnTo>
                <a:cubicBezTo>
                  <a:pt x="37165" y="377031"/>
                  <a:pt x="32798" y="372671"/>
                  <a:pt x="32798" y="367341"/>
                </a:cubicBezTo>
                <a:lnTo>
                  <a:pt x="32798" y="338272"/>
                </a:lnTo>
                <a:lnTo>
                  <a:pt x="29596" y="338272"/>
                </a:lnTo>
                <a:cubicBezTo>
                  <a:pt x="13294" y="338272"/>
                  <a:pt x="0" y="324997"/>
                  <a:pt x="0" y="308718"/>
                </a:cubicBezTo>
                <a:lnTo>
                  <a:pt x="0" y="29554"/>
                </a:lnTo>
                <a:cubicBezTo>
                  <a:pt x="0" y="13275"/>
                  <a:pt x="13294" y="0"/>
                  <a:pt x="2959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70" name="熊大的PPT宝库45"/>
          <p:cNvSpPr/>
          <p:nvPr/>
        </p:nvSpPr>
        <p:spPr>
          <a:xfrm>
            <a:off x="2384460" y="3766626"/>
            <a:ext cx="159731" cy="164351"/>
          </a:xfrm>
          <a:custGeom>
            <a:avLst/>
            <a:gdLst>
              <a:gd name="connsiteX0" fmla="*/ 340337 w 592452"/>
              <a:gd name="connsiteY0" fmla="*/ 507998 h 609586"/>
              <a:gd name="connsiteX1" fmla="*/ 535881 w 592452"/>
              <a:gd name="connsiteY1" fmla="*/ 507998 h 609586"/>
              <a:gd name="connsiteX2" fmla="*/ 535881 w 592452"/>
              <a:gd name="connsiteY2" fmla="*/ 525762 h 609586"/>
              <a:gd name="connsiteX3" fmla="*/ 340337 w 592452"/>
              <a:gd name="connsiteY3" fmla="*/ 525762 h 609586"/>
              <a:gd name="connsiteX4" fmla="*/ 340337 w 592452"/>
              <a:gd name="connsiteY4" fmla="*/ 457184 h 609586"/>
              <a:gd name="connsiteX5" fmla="*/ 535881 w 592452"/>
              <a:gd name="connsiteY5" fmla="*/ 457184 h 609586"/>
              <a:gd name="connsiteX6" fmla="*/ 535881 w 592452"/>
              <a:gd name="connsiteY6" fmla="*/ 474947 h 609586"/>
              <a:gd name="connsiteX7" fmla="*/ 340337 w 592452"/>
              <a:gd name="connsiteY7" fmla="*/ 474947 h 609586"/>
              <a:gd name="connsiteX8" fmla="*/ 340337 w 592452"/>
              <a:gd name="connsiteY8" fmla="*/ 406369 h 609586"/>
              <a:gd name="connsiteX9" fmla="*/ 535881 w 592452"/>
              <a:gd name="connsiteY9" fmla="*/ 406369 h 609586"/>
              <a:gd name="connsiteX10" fmla="*/ 535881 w 592452"/>
              <a:gd name="connsiteY10" fmla="*/ 424180 h 609586"/>
              <a:gd name="connsiteX11" fmla="*/ 340337 w 592452"/>
              <a:gd name="connsiteY11" fmla="*/ 424180 h 609586"/>
              <a:gd name="connsiteX12" fmla="*/ 187940 w 592452"/>
              <a:gd name="connsiteY12" fmla="*/ 373366 h 609586"/>
              <a:gd name="connsiteX13" fmla="*/ 187940 w 592452"/>
              <a:gd name="connsiteY13" fmla="*/ 507998 h 609586"/>
              <a:gd name="connsiteX14" fmla="*/ 289522 w 592452"/>
              <a:gd name="connsiteY14" fmla="*/ 507998 h 609586"/>
              <a:gd name="connsiteX15" fmla="*/ 289522 w 592452"/>
              <a:gd name="connsiteY15" fmla="*/ 373366 h 609586"/>
              <a:gd name="connsiteX16" fmla="*/ 340337 w 592452"/>
              <a:gd name="connsiteY16" fmla="*/ 355602 h 609586"/>
              <a:gd name="connsiteX17" fmla="*/ 535881 w 592452"/>
              <a:gd name="connsiteY17" fmla="*/ 355602 h 609586"/>
              <a:gd name="connsiteX18" fmla="*/ 535881 w 592452"/>
              <a:gd name="connsiteY18" fmla="*/ 373366 h 609586"/>
              <a:gd name="connsiteX19" fmla="*/ 340337 w 592452"/>
              <a:gd name="connsiteY19" fmla="*/ 373366 h 609586"/>
              <a:gd name="connsiteX20" fmla="*/ 170129 w 592452"/>
              <a:gd name="connsiteY20" fmla="*/ 355602 h 609586"/>
              <a:gd name="connsiteX21" fmla="*/ 304762 w 592452"/>
              <a:gd name="connsiteY21" fmla="*/ 355602 h 609586"/>
              <a:gd name="connsiteX22" fmla="*/ 304762 w 592452"/>
              <a:gd name="connsiteY22" fmla="*/ 525762 h 609586"/>
              <a:gd name="connsiteX23" fmla="*/ 170129 w 592452"/>
              <a:gd name="connsiteY23" fmla="*/ 525762 h 609586"/>
              <a:gd name="connsiteX24" fmla="*/ 170129 w 592452"/>
              <a:gd name="connsiteY24" fmla="*/ 304787 h 609586"/>
              <a:gd name="connsiteX25" fmla="*/ 533357 w 592452"/>
              <a:gd name="connsiteY25" fmla="*/ 304787 h 609586"/>
              <a:gd name="connsiteX26" fmla="*/ 533357 w 592452"/>
              <a:gd name="connsiteY26" fmla="*/ 322551 h 609586"/>
              <a:gd name="connsiteX27" fmla="*/ 170129 w 592452"/>
              <a:gd name="connsiteY27" fmla="*/ 322551 h 609586"/>
              <a:gd name="connsiteX28" fmla="*/ 170129 w 592452"/>
              <a:gd name="connsiteY28" fmla="*/ 253973 h 609586"/>
              <a:gd name="connsiteX29" fmla="*/ 533357 w 592452"/>
              <a:gd name="connsiteY29" fmla="*/ 253973 h 609586"/>
              <a:gd name="connsiteX30" fmla="*/ 533357 w 592452"/>
              <a:gd name="connsiteY30" fmla="*/ 271784 h 609586"/>
              <a:gd name="connsiteX31" fmla="*/ 170129 w 592452"/>
              <a:gd name="connsiteY31" fmla="*/ 271784 h 609586"/>
              <a:gd name="connsiteX32" fmla="*/ 76193 w 592452"/>
              <a:gd name="connsiteY32" fmla="*/ 170160 h 609586"/>
              <a:gd name="connsiteX33" fmla="*/ 76193 w 592452"/>
              <a:gd name="connsiteY33" fmla="*/ 246359 h 609586"/>
              <a:gd name="connsiteX34" fmla="*/ 101575 w 592452"/>
              <a:gd name="connsiteY34" fmla="*/ 246359 h 609586"/>
              <a:gd name="connsiteX35" fmla="*/ 101575 w 592452"/>
              <a:gd name="connsiteY35" fmla="*/ 170160 h 609586"/>
              <a:gd name="connsiteX36" fmla="*/ 17763 w 592452"/>
              <a:gd name="connsiteY36" fmla="*/ 109202 h 609586"/>
              <a:gd name="connsiteX37" fmla="*/ 17763 w 592452"/>
              <a:gd name="connsiteY37" fmla="*/ 538484 h 609586"/>
              <a:gd name="connsiteX38" fmla="*/ 66050 w 592452"/>
              <a:gd name="connsiteY38" fmla="*/ 594346 h 609586"/>
              <a:gd name="connsiteX39" fmla="*/ 111766 w 592452"/>
              <a:gd name="connsiteY39" fmla="*/ 538484 h 609586"/>
              <a:gd name="connsiteX40" fmla="*/ 111766 w 592452"/>
              <a:gd name="connsiteY40" fmla="*/ 474953 h 609586"/>
              <a:gd name="connsiteX41" fmla="*/ 60955 w 592452"/>
              <a:gd name="connsiteY41" fmla="*/ 474953 h 609586"/>
              <a:gd name="connsiteX42" fmla="*/ 60955 w 592452"/>
              <a:gd name="connsiteY42" fmla="*/ 457190 h 609586"/>
              <a:gd name="connsiteX43" fmla="*/ 111766 w 592452"/>
              <a:gd name="connsiteY43" fmla="*/ 457190 h 609586"/>
              <a:gd name="connsiteX44" fmla="*/ 111766 w 592452"/>
              <a:gd name="connsiteY44" fmla="*/ 406375 h 609586"/>
              <a:gd name="connsiteX45" fmla="*/ 60955 w 592452"/>
              <a:gd name="connsiteY45" fmla="*/ 406375 h 609586"/>
              <a:gd name="connsiteX46" fmla="*/ 60955 w 592452"/>
              <a:gd name="connsiteY46" fmla="*/ 388611 h 609586"/>
              <a:gd name="connsiteX47" fmla="*/ 111766 w 592452"/>
              <a:gd name="connsiteY47" fmla="*/ 388611 h 609586"/>
              <a:gd name="connsiteX48" fmla="*/ 111766 w 592452"/>
              <a:gd name="connsiteY48" fmla="*/ 337796 h 609586"/>
              <a:gd name="connsiteX49" fmla="*/ 60955 w 592452"/>
              <a:gd name="connsiteY49" fmla="*/ 337796 h 609586"/>
              <a:gd name="connsiteX50" fmla="*/ 60955 w 592452"/>
              <a:gd name="connsiteY50" fmla="*/ 320033 h 609586"/>
              <a:gd name="connsiteX51" fmla="*/ 111766 w 592452"/>
              <a:gd name="connsiteY51" fmla="*/ 320033 h 609586"/>
              <a:gd name="connsiteX52" fmla="*/ 111766 w 592452"/>
              <a:gd name="connsiteY52" fmla="*/ 261598 h 609586"/>
              <a:gd name="connsiteX53" fmla="*/ 60955 w 592452"/>
              <a:gd name="connsiteY53" fmla="*/ 261598 h 609586"/>
              <a:gd name="connsiteX54" fmla="*/ 60955 w 592452"/>
              <a:gd name="connsiteY54" fmla="*/ 152397 h 609586"/>
              <a:gd name="connsiteX55" fmla="*/ 111766 w 592452"/>
              <a:gd name="connsiteY55" fmla="*/ 152397 h 609586"/>
              <a:gd name="connsiteX56" fmla="*/ 111766 w 592452"/>
              <a:gd name="connsiteY56" fmla="*/ 109202 h 609586"/>
              <a:gd name="connsiteX57" fmla="*/ 187940 w 592452"/>
              <a:gd name="connsiteY57" fmla="*/ 76193 h 609586"/>
              <a:gd name="connsiteX58" fmla="*/ 187940 w 592452"/>
              <a:gd name="connsiteY58" fmla="*/ 203206 h 609586"/>
              <a:gd name="connsiteX59" fmla="*/ 518117 w 592452"/>
              <a:gd name="connsiteY59" fmla="*/ 203206 h 609586"/>
              <a:gd name="connsiteX60" fmla="*/ 518117 w 592452"/>
              <a:gd name="connsiteY60" fmla="*/ 76193 h 609586"/>
              <a:gd name="connsiteX61" fmla="*/ 170129 w 592452"/>
              <a:gd name="connsiteY61" fmla="*/ 58429 h 609586"/>
              <a:gd name="connsiteX62" fmla="*/ 533357 w 592452"/>
              <a:gd name="connsiteY62" fmla="*/ 58429 h 609586"/>
              <a:gd name="connsiteX63" fmla="*/ 533357 w 592452"/>
              <a:gd name="connsiteY63" fmla="*/ 218445 h 609586"/>
              <a:gd name="connsiteX64" fmla="*/ 170129 w 592452"/>
              <a:gd name="connsiteY64" fmla="*/ 218445 h 609586"/>
              <a:gd name="connsiteX65" fmla="*/ 127005 w 592452"/>
              <a:gd name="connsiteY65" fmla="*/ 17764 h 609586"/>
              <a:gd name="connsiteX66" fmla="*/ 127005 w 592452"/>
              <a:gd name="connsiteY66" fmla="*/ 538484 h 609586"/>
              <a:gd name="connsiteX67" fmla="*/ 104147 w 592452"/>
              <a:gd name="connsiteY67" fmla="*/ 594346 h 609586"/>
              <a:gd name="connsiteX68" fmla="*/ 520639 w 592452"/>
              <a:gd name="connsiteY68" fmla="*/ 594346 h 609586"/>
              <a:gd name="connsiteX69" fmla="*/ 576546 w 592452"/>
              <a:gd name="connsiteY69" fmla="*/ 538484 h 609586"/>
              <a:gd name="connsiteX70" fmla="*/ 576546 w 592452"/>
              <a:gd name="connsiteY70" fmla="*/ 17764 h 609586"/>
              <a:gd name="connsiteX71" fmla="*/ 119386 w 592452"/>
              <a:gd name="connsiteY71" fmla="*/ 0 h 609586"/>
              <a:gd name="connsiteX72" fmla="*/ 584166 w 592452"/>
              <a:gd name="connsiteY72" fmla="*/ 0 h 609586"/>
              <a:gd name="connsiteX73" fmla="*/ 591785 w 592452"/>
              <a:gd name="connsiteY73" fmla="*/ 7620 h 609586"/>
              <a:gd name="connsiteX74" fmla="*/ 591785 w 592452"/>
              <a:gd name="connsiteY74" fmla="*/ 538484 h 609586"/>
              <a:gd name="connsiteX75" fmla="*/ 520639 w 592452"/>
              <a:gd name="connsiteY75" fmla="*/ 609586 h 609586"/>
              <a:gd name="connsiteX76" fmla="*/ 63479 w 592452"/>
              <a:gd name="connsiteY76" fmla="*/ 609586 h 609586"/>
              <a:gd name="connsiteX77" fmla="*/ 0 w 592452"/>
              <a:gd name="connsiteY77" fmla="*/ 538484 h 609586"/>
              <a:gd name="connsiteX78" fmla="*/ 0 w 592452"/>
              <a:gd name="connsiteY78" fmla="*/ 101582 h 609586"/>
              <a:gd name="connsiteX79" fmla="*/ 10143 w 592452"/>
              <a:gd name="connsiteY79" fmla="*/ 91438 h 609586"/>
              <a:gd name="connsiteX80" fmla="*/ 111766 w 592452"/>
              <a:gd name="connsiteY80" fmla="*/ 91438 h 609586"/>
              <a:gd name="connsiteX81" fmla="*/ 111766 w 592452"/>
              <a:gd name="connsiteY81" fmla="*/ 7620 h 609586"/>
              <a:gd name="connsiteX82" fmla="*/ 119386 w 592452"/>
              <a:gd name="connsiteY82" fmla="*/ 0 h 609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592452" h="609586">
                <a:moveTo>
                  <a:pt x="340337" y="507998"/>
                </a:moveTo>
                <a:lnTo>
                  <a:pt x="535881" y="507998"/>
                </a:lnTo>
                <a:lnTo>
                  <a:pt x="535881" y="525762"/>
                </a:lnTo>
                <a:lnTo>
                  <a:pt x="340337" y="525762"/>
                </a:lnTo>
                <a:close/>
                <a:moveTo>
                  <a:pt x="340337" y="457184"/>
                </a:moveTo>
                <a:lnTo>
                  <a:pt x="535881" y="457184"/>
                </a:lnTo>
                <a:lnTo>
                  <a:pt x="535881" y="474947"/>
                </a:lnTo>
                <a:lnTo>
                  <a:pt x="340337" y="474947"/>
                </a:lnTo>
                <a:close/>
                <a:moveTo>
                  <a:pt x="340337" y="406369"/>
                </a:moveTo>
                <a:lnTo>
                  <a:pt x="535881" y="406369"/>
                </a:lnTo>
                <a:lnTo>
                  <a:pt x="535881" y="424180"/>
                </a:lnTo>
                <a:lnTo>
                  <a:pt x="340337" y="424180"/>
                </a:lnTo>
                <a:close/>
                <a:moveTo>
                  <a:pt x="187940" y="373366"/>
                </a:moveTo>
                <a:lnTo>
                  <a:pt x="187940" y="507998"/>
                </a:lnTo>
                <a:lnTo>
                  <a:pt x="289522" y="507998"/>
                </a:lnTo>
                <a:lnTo>
                  <a:pt x="289522" y="373366"/>
                </a:lnTo>
                <a:close/>
                <a:moveTo>
                  <a:pt x="340337" y="355602"/>
                </a:moveTo>
                <a:lnTo>
                  <a:pt x="535881" y="355602"/>
                </a:lnTo>
                <a:lnTo>
                  <a:pt x="535881" y="373366"/>
                </a:lnTo>
                <a:lnTo>
                  <a:pt x="340337" y="373366"/>
                </a:lnTo>
                <a:close/>
                <a:moveTo>
                  <a:pt x="170129" y="355602"/>
                </a:moveTo>
                <a:lnTo>
                  <a:pt x="304762" y="355602"/>
                </a:lnTo>
                <a:lnTo>
                  <a:pt x="304762" y="525762"/>
                </a:lnTo>
                <a:lnTo>
                  <a:pt x="170129" y="525762"/>
                </a:lnTo>
                <a:close/>
                <a:moveTo>
                  <a:pt x="170129" y="304787"/>
                </a:moveTo>
                <a:lnTo>
                  <a:pt x="533357" y="304787"/>
                </a:lnTo>
                <a:lnTo>
                  <a:pt x="533357" y="322551"/>
                </a:lnTo>
                <a:lnTo>
                  <a:pt x="170129" y="322551"/>
                </a:lnTo>
                <a:close/>
                <a:moveTo>
                  <a:pt x="170129" y="253973"/>
                </a:moveTo>
                <a:lnTo>
                  <a:pt x="533357" y="253973"/>
                </a:lnTo>
                <a:lnTo>
                  <a:pt x="533357" y="271784"/>
                </a:lnTo>
                <a:lnTo>
                  <a:pt x="170129" y="271784"/>
                </a:lnTo>
                <a:close/>
                <a:moveTo>
                  <a:pt x="76193" y="170160"/>
                </a:moveTo>
                <a:lnTo>
                  <a:pt x="76193" y="246359"/>
                </a:lnTo>
                <a:lnTo>
                  <a:pt x="101575" y="246359"/>
                </a:lnTo>
                <a:lnTo>
                  <a:pt x="101575" y="170160"/>
                </a:lnTo>
                <a:close/>
                <a:moveTo>
                  <a:pt x="17763" y="109202"/>
                </a:moveTo>
                <a:lnTo>
                  <a:pt x="17763" y="538484"/>
                </a:lnTo>
                <a:cubicBezTo>
                  <a:pt x="17763" y="568963"/>
                  <a:pt x="40621" y="594346"/>
                  <a:pt x="66050" y="594346"/>
                </a:cubicBezTo>
                <a:cubicBezTo>
                  <a:pt x="91432" y="594346"/>
                  <a:pt x="111766" y="568963"/>
                  <a:pt x="111766" y="538484"/>
                </a:cubicBezTo>
                <a:lnTo>
                  <a:pt x="111766" y="474953"/>
                </a:lnTo>
                <a:lnTo>
                  <a:pt x="60955" y="474953"/>
                </a:lnTo>
                <a:lnTo>
                  <a:pt x="60955" y="457190"/>
                </a:lnTo>
                <a:lnTo>
                  <a:pt x="111766" y="457190"/>
                </a:lnTo>
                <a:lnTo>
                  <a:pt x="111766" y="406375"/>
                </a:lnTo>
                <a:lnTo>
                  <a:pt x="60955" y="406375"/>
                </a:lnTo>
                <a:lnTo>
                  <a:pt x="60955" y="388611"/>
                </a:lnTo>
                <a:lnTo>
                  <a:pt x="111766" y="388611"/>
                </a:lnTo>
                <a:lnTo>
                  <a:pt x="111766" y="337796"/>
                </a:lnTo>
                <a:lnTo>
                  <a:pt x="60955" y="337796"/>
                </a:lnTo>
                <a:lnTo>
                  <a:pt x="60955" y="320033"/>
                </a:lnTo>
                <a:lnTo>
                  <a:pt x="111766" y="320033"/>
                </a:lnTo>
                <a:lnTo>
                  <a:pt x="111766" y="261598"/>
                </a:lnTo>
                <a:lnTo>
                  <a:pt x="60955" y="261598"/>
                </a:lnTo>
                <a:lnTo>
                  <a:pt x="60955" y="152397"/>
                </a:lnTo>
                <a:lnTo>
                  <a:pt x="111766" y="152397"/>
                </a:lnTo>
                <a:lnTo>
                  <a:pt x="111766" y="109202"/>
                </a:lnTo>
                <a:close/>
                <a:moveTo>
                  <a:pt x="187940" y="76193"/>
                </a:moveTo>
                <a:lnTo>
                  <a:pt x="187940" y="203206"/>
                </a:lnTo>
                <a:lnTo>
                  <a:pt x="518117" y="203206"/>
                </a:lnTo>
                <a:lnTo>
                  <a:pt x="518117" y="76193"/>
                </a:lnTo>
                <a:close/>
                <a:moveTo>
                  <a:pt x="170129" y="58429"/>
                </a:moveTo>
                <a:lnTo>
                  <a:pt x="533357" y="58429"/>
                </a:lnTo>
                <a:lnTo>
                  <a:pt x="533357" y="218445"/>
                </a:lnTo>
                <a:lnTo>
                  <a:pt x="170129" y="218445"/>
                </a:lnTo>
                <a:close/>
                <a:moveTo>
                  <a:pt x="127005" y="17764"/>
                </a:moveTo>
                <a:lnTo>
                  <a:pt x="127005" y="538484"/>
                </a:lnTo>
                <a:cubicBezTo>
                  <a:pt x="127005" y="558771"/>
                  <a:pt x="119386" y="579107"/>
                  <a:pt x="104147" y="594346"/>
                </a:cubicBezTo>
                <a:lnTo>
                  <a:pt x="520639" y="594346"/>
                </a:lnTo>
                <a:cubicBezTo>
                  <a:pt x="551117" y="594346"/>
                  <a:pt x="576546" y="568963"/>
                  <a:pt x="576546" y="538484"/>
                </a:cubicBezTo>
                <a:lnTo>
                  <a:pt x="576546" y="17764"/>
                </a:lnTo>
                <a:close/>
                <a:moveTo>
                  <a:pt x="119386" y="0"/>
                </a:moveTo>
                <a:lnTo>
                  <a:pt x="584166" y="0"/>
                </a:lnTo>
                <a:cubicBezTo>
                  <a:pt x="589214" y="0"/>
                  <a:pt x="594309" y="2524"/>
                  <a:pt x="591785" y="7620"/>
                </a:cubicBezTo>
                <a:lnTo>
                  <a:pt x="591785" y="538484"/>
                </a:lnTo>
                <a:cubicBezTo>
                  <a:pt x="591785" y="576583"/>
                  <a:pt x="561308" y="609586"/>
                  <a:pt x="520639" y="609586"/>
                </a:cubicBezTo>
                <a:lnTo>
                  <a:pt x="63479" y="609586"/>
                </a:lnTo>
                <a:cubicBezTo>
                  <a:pt x="27953" y="609586"/>
                  <a:pt x="0" y="579107"/>
                  <a:pt x="0" y="538484"/>
                </a:cubicBezTo>
                <a:lnTo>
                  <a:pt x="0" y="101582"/>
                </a:lnTo>
                <a:cubicBezTo>
                  <a:pt x="0" y="96534"/>
                  <a:pt x="5095" y="93962"/>
                  <a:pt x="10143" y="91438"/>
                </a:cubicBezTo>
                <a:lnTo>
                  <a:pt x="111766" y="91438"/>
                </a:lnTo>
                <a:lnTo>
                  <a:pt x="111766" y="7620"/>
                </a:lnTo>
                <a:cubicBezTo>
                  <a:pt x="111766" y="2524"/>
                  <a:pt x="114290" y="0"/>
                  <a:pt x="11938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71" name="熊大的PPT宝库46"/>
          <p:cNvSpPr txBox="1"/>
          <p:nvPr/>
        </p:nvSpPr>
        <p:spPr>
          <a:xfrm>
            <a:off x="503306" y="6063134"/>
            <a:ext cx="1974900" cy="215444"/>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数字供应链信息流新基建</a:t>
            </a:r>
          </a:p>
        </p:txBody>
      </p:sp>
      <p:sp>
        <p:nvSpPr>
          <p:cNvPr id="72" name="熊大的PPT宝库47"/>
          <p:cNvSpPr/>
          <p:nvPr/>
        </p:nvSpPr>
        <p:spPr>
          <a:xfrm>
            <a:off x="2997228" y="5872812"/>
            <a:ext cx="1798146" cy="471116"/>
          </a:xfrm>
          <a:prstGeom prst="cube">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3" name="熊大的PPT宝库48"/>
          <p:cNvSpPr/>
          <p:nvPr/>
        </p:nvSpPr>
        <p:spPr>
          <a:xfrm>
            <a:off x="5261095" y="5872812"/>
            <a:ext cx="1798146" cy="471116"/>
          </a:xfrm>
          <a:prstGeom prst="cub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4" name="熊大的PPT宝库49"/>
          <p:cNvSpPr/>
          <p:nvPr/>
        </p:nvSpPr>
        <p:spPr>
          <a:xfrm>
            <a:off x="7524962" y="5872812"/>
            <a:ext cx="1798146" cy="471116"/>
          </a:xfrm>
          <a:prstGeom prst="cube">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5" name="熊大的PPT宝库50"/>
          <p:cNvSpPr/>
          <p:nvPr/>
        </p:nvSpPr>
        <p:spPr>
          <a:xfrm>
            <a:off x="9788829" y="5872812"/>
            <a:ext cx="1798146" cy="471116"/>
          </a:xfrm>
          <a:prstGeom prst="cub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7" name="熊大的PPT宝库51"/>
          <p:cNvSpPr txBox="1"/>
          <p:nvPr/>
        </p:nvSpPr>
        <p:spPr>
          <a:xfrm>
            <a:off x="3193897" y="6045720"/>
            <a:ext cx="1231106"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互联供应网络</a:t>
            </a:r>
          </a:p>
        </p:txBody>
      </p:sp>
      <p:sp>
        <p:nvSpPr>
          <p:cNvPr id="79" name="熊大的PPT宝库52"/>
          <p:cNvSpPr txBox="1"/>
          <p:nvPr/>
        </p:nvSpPr>
        <p:spPr>
          <a:xfrm>
            <a:off x="5702174" y="6045720"/>
            <a:ext cx="820738"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cs typeface="+mn-ea"/>
                <a:sym typeface="+mn-lt"/>
              </a:rPr>
              <a:t>数字资产</a:t>
            </a:r>
          </a:p>
        </p:txBody>
      </p:sp>
      <p:sp>
        <p:nvSpPr>
          <p:cNvPr id="81" name="熊大的PPT宝库53"/>
          <p:cNvSpPr txBox="1"/>
          <p:nvPr/>
        </p:nvSpPr>
        <p:spPr>
          <a:xfrm>
            <a:off x="9894621" y="6045720"/>
            <a:ext cx="1436291"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cs typeface="+mn-ea"/>
                <a:sym typeface="+mn-lt"/>
              </a:rPr>
              <a:t>数字供应链挛生</a:t>
            </a:r>
          </a:p>
        </p:txBody>
      </p:sp>
      <p:sp>
        <p:nvSpPr>
          <p:cNvPr id="83" name="熊大的PPT宝库54"/>
          <p:cNvSpPr txBox="1"/>
          <p:nvPr/>
        </p:nvSpPr>
        <p:spPr>
          <a:xfrm>
            <a:off x="7738194" y="6045720"/>
            <a:ext cx="1231106" cy="246221"/>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供应链控制塔</a:t>
            </a:r>
          </a:p>
        </p:txBody>
      </p:sp>
      <p:sp>
        <p:nvSpPr>
          <p:cNvPr id="84" name="熊大的PPT宝库55"/>
          <p:cNvSpPr/>
          <p:nvPr/>
        </p:nvSpPr>
        <p:spPr>
          <a:xfrm flipV="1">
            <a:off x="3629074" y="4906067"/>
            <a:ext cx="2423811" cy="369637"/>
          </a:xfrm>
          <a:prstGeom prst="ellipse">
            <a:avLst/>
          </a:prstGeom>
          <a:gradFill flip="none" rotWithShape="1">
            <a:gsLst>
              <a:gs pos="5000">
                <a:schemeClr val="accent1">
                  <a:lumMod val="60000"/>
                  <a:lumOff val="40000"/>
                </a:schemeClr>
              </a:gs>
              <a:gs pos="51000">
                <a:schemeClr val="accent1">
                  <a:lumMod val="20000"/>
                  <a:lumOff val="80000"/>
                  <a:alpha val="0"/>
                </a:schemeClr>
              </a:gs>
            </a:gsLst>
            <a:lin ang="5400000" scaled="1"/>
            <a:tileRect/>
          </a:gradFill>
          <a:ln w="79375">
            <a:gradFill>
              <a:gsLst>
                <a:gs pos="100000">
                  <a:schemeClr val="accent1">
                    <a:lumMod val="5000"/>
                    <a:lumOff val="95000"/>
                    <a:alpha val="0"/>
                  </a:schemeClr>
                </a:gs>
                <a:gs pos="0">
                  <a:schemeClr val="accent1"/>
                </a:gs>
              </a:gsLst>
              <a:lin ang="5400000" scaled="1"/>
            </a:gradFill>
          </a:ln>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cs typeface="+mn-ea"/>
              <a:sym typeface="+mn-lt"/>
            </a:endParaRPr>
          </a:p>
        </p:txBody>
      </p:sp>
      <p:sp>
        <p:nvSpPr>
          <p:cNvPr id="90" name="熊大的PPT宝库56"/>
          <p:cNvSpPr/>
          <p:nvPr/>
        </p:nvSpPr>
        <p:spPr>
          <a:xfrm flipV="1">
            <a:off x="3674418" y="4217307"/>
            <a:ext cx="2333122" cy="246662"/>
          </a:xfrm>
          <a:custGeom>
            <a:avLst/>
            <a:gdLst>
              <a:gd name="connsiteX0" fmla="*/ 0 w 2333122"/>
              <a:gd name="connsiteY0" fmla="*/ 246662 h 246662"/>
              <a:gd name="connsiteX1" fmla="*/ 2333122 w 2333122"/>
              <a:gd name="connsiteY1" fmla="*/ 246662 h 246662"/>
              <a:gd name="connsiteX2" fmla="*/ 2323508 w 2333122"/>
              <a:gd name="connsiteY2" fmla="*/ 231215 h 246662"/>
              <a:gd name="connsiteX3" fmla="*/ 1166561 w 2333122"/>
              <a:gd name="connsiteY3" fmla="*/ 0 h 246662"/>
              <a:gd name="connsiteX4" fmla="*/ 9614 w 2333122"/>
              <a:gd name="connsiteY4" fmla="*/ 231215 h 246662"/>
              <a:gd name="connsiteX5" fmla="*/ 0 w 2333122"/>
              <a:gd name="connsiteY5" fmla="*/ 246662 h 246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33122" h="246662">
                <a:moveTo>
                  <a:pt x="0" y="246662"/>
                </a:moveTo>
                <a:lnTo>
                  <a:pt x="2333122" y="246662"/>
                </a:lnTo>
                <a:lnTo>
                  <a:pt x="2323508" y="231215"/>
                </a:lnTo>
                <a:cubicBezTo>
                  <a:pt x="2213390" y="99261"/>
                  <a:pt x="1737249" y="0"/>
                  <a:pt x="1166561" y="0"/>
                </a:cubicBezTo>
                <a:cubicBezTo>
                  <a:pt x="595873" y="0"/>
                  <a:pt x="119733" y="99261"/>
                  <a:pt x="9614" y="231215"/>
                </a:cubicBezTo>
                <a:lnTo>
                  <a:pt x="0" y="246662"/>
                </a:lnTo>
                <a:close/>
              </a:path>
            </a:pathLst>
          </a:custGeom>
          <a:gradFill flip="none" rotWithShape="1">
            <a:gsLst>
              <a:gs pos="100000">
                <a:schemeClr val="accent1">
                  <a:alpha val="20000"/>
                </a:schemeClr>
              </a:gs>
              <a:gs pos="0">
                <a:schemeClr val="accent1">
                  <a:alpha val="2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9" name="熊大的PPT宝库57"/>
          <p:cNvSpPr/>
          <p:nvPr/>
        </p:nvSpPr>
        <p:spPr>
          <a:xfrm flipV="1">
            <a:off x="3660040" y="3884821"/>
            <a:ext cx="2361878" cy="332486"/>
          </a:xfrm>
          <a:custGeom>
            <a:avLst/>
            <a:gdLst>
              <a:gd name="connsiteX0" fmla="*/ 1180939 w 2361878"/>
              <a:gd name="connsiteY0" fmla="*/ 332486 h 332486"/>
              <a:gd name="connsiteX1" fmla="*/ 2361878 w 2361878"/>
              <a:gd name="connsiteY1" fmla="*/ 42912 h 332486"/>
              <a:gd name="connsiteX2" fmla="*/ 2355781 w 2361878"/>
              <a:gd name="connsiteY2" fmla="*/ 13305 h 332486"/>
              <a:gd name="connsiteX3" fmla="*/ 2347500 w 2361878"/>
              <a:gd name="connsiteY3" fmla="*/ 0 h 332486"/>
              <a:gd name="connsiteX4" fmla="*/ 14378 w 2361878"/>
              <a:gd name="connsiteY4" fmla="*/ 0 h 332486"/>
              <a:gd name="connsiteX5" fmla="*/ 6097 w 2361878"/>
              <a:gd name="connsiteY5" fmla="*/ 13305 h 332486"/>
              <a:gd name="connsiteX6" fmla="*/ 0 w 2361878"/>
              <a:gd name="connsiteY6" fmla="*/ 42912 h 332486"/>
              <a:gd name="connsiteX7" fmla="*/ 1180939 w 2361878"/>
              <a:gd name="connsiteY7" fmla="*/ 332486 h 332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61878" h="332486">
                <a:moveTo>
                  <a:pt x="1180939" y="332486"/>
                </a:moveTo>
                <a:cubicBezTo>
                  <a:pt x="1833154" y="332486"/>
                  <a:pt x="2361878" y="202839"/>
                  <a:pt x="2361878" y="42912"/>
                </a:cubicBezTo>
                <a:cubicBezTo>
                  <a:pt x="2361878" y="32917"/>
                  <a:pt x="2359813" y="23040"/>
                  <a:pt x="2355781" y="13305"/>
                </a:cubicBezTo>
                <a:lnTo>
                  <a:pt x="2347500" y="0"/>
                </a:lnTo>
                <a:lnTo>
                  <a:pt x="14378" y="0"/>
                </a:lnTo>
                <a:lnTo>
                  <a:pt x="6097" y="13305"/>
                </a:lnTo>
                <a:cubicBezTo>
                  <a:pt x="2065" y="23040"/>
                  <a:pt x="0" y="32917"/>
                  <a:pt x="0" y="42912"/>
                </a:cubicBezTo>
                <a:cubicBezTo>
                  <a:pt x="0" y="202839"/>
                  <a:pt x="528724" y="332486"/>
                  <a:pt x="1180939" y="332486"/>
                </a:cubicBezTo>
                <a:close/>
              </a:path>
            </a:pathLst>
          </a:custGeom>
          <a:gradFill flip="none" rotWithShape="1">
            <a:gsLst>
              <a:gs pos="100000">
                <a:schemeClr val="accent1">
                  <a:alpha val="20000"/>
                </a:schemeClr>
              </a:gs>
              <a:gs pos="0">
                <a:schemeClr val="accent1">
                  <a:alpha val="2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8" name="熊大的PPT宝库58"/>
          <p:cNvSpPr/>
          <p:nvPr/>
        </p:nvSpPr>
        <p:spPr>
          <a:xfrm flipV="1">
            <a:off x="3674418" y="4217305"/>
            <a:ext cx="2347499" cy="832057"/>
          </a:xfrm>
          <a:custGeom>
            <a:avLst/>
            <a:gdLst>
              <a:gd name="connsiteX0" fmla="*/ 0 w 2423811"/>
              <a:gd name="connsiteY0" fmla="*/ 832057 h 832057"/>
              <a:gd name="connsiteX1" fmla="*/ 54580 w 2423811"/>
              <a:gd name="connsiteY1" fmla="*/ 832057 h 832057"/>
              <a:gd name="connsiteX2" fmla="*/ 64194 w 2423811"/>
              <a:gd name="connsiteY2" fmla="*/ 816610 h 832057"/>
              <a:gd name="connsiteX3" fmla="*/ 1221141 w 2423811"/>
              <a:gd name="connsiteY3" fmla="*/ 585395 h 832057"/>
              <a:gd name="connsiteX4" fmla="*/ 2378088 w 2423811"/>
              <a:gd name="connsiteY4" fmla="*/ 816610 h 832057"/>
              <a:gd name="connsiteX5" fmla="*/ 2387702 w 2423811"/>
              <a:gd name="connsiteY5" fmla="*/ 832057 h 832057"/>
              <a:gd name="connsiteX6" fmla="*/ 2423811 w 2423811"/>
              <a:gd name="connsiteY6" fmla="*/ 832057 h 832057"/>
              <a:gd name="connsiteX7" fmla="*/ 1973993 w 2423811"/>
              <a:gd name="connsiteY7" fmla="*/ 0 h 832057"/>
              <a:gd name="connsiteX8" fmla="*/ 449818 w 2423811"/>
              <a:gd name="connsiteY8" fmla="*/ 0 h 832057"/>
              <a:gd name="connsiteX9" fmla="*/ 0 w 2423811"/>
              <a:gd name="connsiteY9" fmla="*/ 832057 h 832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3811" h="832057">
                <a:moveTo>
                  <a:pt x="0" y="832057"/>
                </a:moveTo>
                <a:lnTo>
                  <a:pt x="54580" y="832057"/>
                </a:lnTo>
                <a:lnTo>
                  <a:pt x="64194" y="816610"/>
                </a:lnTo>
                <a:cubicBezTo>
                  <a:pt x="174313" y="684656"/>
                  <a:pt x="650453" y="585395"/>
                  <a:pt x="1221141" y="585395"/>
                </a:cubicBezTo>
                <a:cubicBezTo>
                  <a:pt x="1791829" y="585395"/>
                  <a:pt x="2267970" y="684656"/>
                  <a:pt x="2378088" y="816610"/>
                </a:cubicBezTo>
                <a:lnTo>
                  <a:pt x="2387702" y="832057"/>
                </a:lnTo>
                <a:lnTo>
                  <a:pt x="2423811" y="832057"/>
                </a:lnTo>
                <a:lnTo>
                  <a:pt x="1973993" y="0"/>
                </a:lnTo>
                <a:lnTo>
                  <a:pt x="449818" y="0"/>
                </a:lnTo>
                <a:lnTo>
                  <a:pt x="0" y="832057"/>
                </a:lnTo>
                <a:close/>
              </a:path>
            </a:pathLst>
          </a:custGeom>
          <a:gradFill flip="none" rotWithShape="1">
            <a:gsLst>
              <a:gs pos="100000">
                <a:schemeClr val="accent1">
                  <a:alpha val="20000"/>
                </a:schemeClr>
              </a:gs>
              <a:gs pos="0">
                <a:schemeClr val="accent1">
                  <a:alpha val="2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7" name="熊大的PPT宝库59"/>
          <p:cNvSpPr/>
          <p:nvPr/>
        </p:nvSpPr>
        <p:spPr>
          <a:xfrm>
            <a:off x="3660041" y="3862709"/>
            <a:ext cx="2361877" cy="579148"/>
          </a:xfrm>
          <a:prstGeom prst="ellipse">
            <a:avLst/>
          </a:prstGeom>
          <a:gradFill flip="none" rotWithShape="1">
            <a:gsLst>
              <a:gs pos="100000">
                <a:schemeClr val="accent1">
                  <a:alpha val="20000"/>
                </a:schemeClr>
              </a:gs>
              <a:gs pos="0">
                <a:schemeClr val="accent1">
                  <a:alpha val="20000"/>
                </a:schemeClr>
              </a:gs>
            </a:gsLst>
            <a:lin ang="5400000" scaled="1"/>
            <a:tileRect/>
          </a:gra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91" name="熊大的PPT宝库60"/>
          <p:cNvSpPr/>
          <p:nvPr/>
        </p:nvSpPr>
        <p:spPr>
          <a:xfrm>
            <a:off x="4078567" y="4976655"/>
            <a:ext cx="1493856" cy="123919"/>
          </a:xfrm>
          <a:prstGeom prst="ellipse">
            <a:avLst/>
          </a:prstGeom>
          <a:gradFill flip="none" rotWithShape="1">
            <a:gsLst>
              <a:gs pos="100000">
                <a:schemeClr val="accent1">
                  <a:alpha val="20000"/>
                </a:schemeClr>
              </a:gs>
              <a:gs pos="0">
                <a:schemeClr val="accent1">
                  <a:alpha val="20000"/>
                </a:schemeClr>
              </a:gs>
            </a:gsLst>
            <a:lin ang="5400000" scaled="1"/>
            <a:tileRect/>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94" name="熊大的PPT宝库61"/>
          <p:cNvGrpSpPr/>
          <p:nvPr/>
        </p:nvGrpSpPr>
        <p:grpSpPr>
          <a:xfrm>
            <a:off x="3658566" y="3575977"/>
            <a:ext cx="510618" cy="510618"/>
            <a:chOff x="3658566" y="3575977"/>
            <a:chExt cx="510618" cy="510618"/>
          </a:xfrm>
        </p:grpSpPr>
        <p:sp>
          <p:nvSpPr>
            <p:cNvPr id="92" name="熊大的PPT宝库61-1"/>
            <p:cNvSpPr/>
            <p:nvPr/>
          </p:nvSpPr>
          <p:spPr>
            <a:xfrm>
              <a:off x="3705569" y="3622980"/>
              <a:ext cx="416612" cy="416612"/>
            </a:xfrm>
            <a:prstGeom prst="ellips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3" name="熊大的PPT宝库61-2"/>
            <p:cNvSpPr/>
            <p:nvPr/>
          </p:nvSpPr>
          <p:spPr>
            <a:xfrm>
              <a:off x="3658566" y="3575977"/>
              <a:ext cx="510618" cy="510618"/>
            </a:xfrm>
            <a:prstGeom prst="ellipse">
              <a:avLst/>
            </a:prstGeom>
            <a:noFill/>
            <a:ln>
              <a:solidFill>
                <a:schemeClr val="accent1"/>
              </a:solidFill>
              <a:prstDash val="sysDash"/>
            </a:ln>
            <a:effectLst>
              <a:glow>
                <a:schemeClr val="accent1"/>
              </a:glow>
              <a:outerShdw blurRad="190500" sx="121000" sy="121000" algn="ctr" rotWithShape="0">
                <a:schemeClr val="accent1">
                  <a:alpha val="52000"/>
                </a:schemeClr>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pSp>
      <p:grpSp>
        <p:nvGrpSpPr>
          <p:cNvPr id="95" name="熊大的PPT宝库62"/>
          <p:cNvGrpSpPr/>
          <p:nvPr/>
        </p:nvGrpSpPr>
        <p:grpSpPr>
          <a:xfrm>
            <a:off x="4236096" y="3445385"/>
            <a:ext cx="510618" cy="510618"/>
            <a:chOff x="3658566" y="3575977"/>
            <a:chExt cx="510618" cy="510618"/>
          </a:xfrm>
        </p:grpSpPr>
        <p:sp>
          <p:nvSpPr>
            <p:cNvPr id="96" name="熊大的PPT宝库62-1"/>
            <p:cNvSpPr/>
            <p:nvPr/>
          </p:nvSpPr>
          <p:spPr>
            <a:xfrm>
              <a:off x="3705569" y="3622980"/>
              <a:ext cx="416612" cy="416612"/>
            </a:xfrm>
            <a:prstGeom prst="ellips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7" name="熊大的PPT宝库62-2"/>
            <p:cNvSpPr/>
            <p:nvPr/>
          </p:nvSpPr>
          <p:spPr>
            <a:xfrm>
              <a:off x="3658566" y="3575977"/>
              <a:ext cx="510618" cy="510618"/>
            </a:xfrm>
            <a:prstGeom prst="ellipse">
              <a:avLst/>
            </a:prstGeom>
            <a:noFill/>
            <a:ln>
              <a:solidFill>
                <a:schemeClr val="accent1"/>
              </a:solidFill>
              <a:prstDash val="sysDash"/>
            </a:ln>
            <a:effectLst>
              <a:glow>
                <a:schemeClr val="accent1"/>
              </a:glow>
              <a:outerShdw blurRad="190500" sx="121000" sy="121000" algn="ctr" rotWithShape="0">
                <a:schemeClr val="accent1">
                  <a:alpha val="52000"/>
                </a:schemeClr>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pSp>
      <p:grpSp>
        <p:nvGrpSpPr>
          <p:cNvPr id="98" name="熊大的PPT宝库63"/>
          <p:cNvGrpSpPr/>
          <p:nvPr/>
        </p:nvGrpSpPr>
        <p:grpSpPr>
          <a:xfrm>
            <a:off x="4862220" y="3445385"/>
            <a:ext cx="510618" cy="510618"/>
            <a:chOff x="3658566" y="3575977"/>
            <a:chExt cx="510618" cy="510618"/>
          </a:xfrm>
        </p:grpSpPr>
        <p:sp>
          <p:nvSpPr>
            <p:cNvPr id="99" name="熊大的PPT宝库63-1"/>
            <p:cNvSpPr/>
            <p:nvPr/>
          </p:nvSpPr>
          <p:spPr>
            <a:xfrm>
              <a:off x="3705569" y="3622980"/>
              <a:ext cx="416612" cy="416612"/>
            </a:xfrm>
            <a:prstGeom prst="ellips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0" name="熊大的PPT宝库63-2"/>
            <p:cNvSpPr/>
            <p:nvPr/>
          </p:nvSpPr>
          <p:spPr>
            <a:xfrm>
              <a:off x="3658566" y="3575977"/>
              <a:ext cx="510618" cy="510618"/>
            </a:xfrm>
            <a:prstGeom prst="ellipse">
              <a:avLst/>
            </a:prstGeom>
            <a:noFill/>
            <a:ln>
              <a:solidFill>
                <a:schemeClr val="accent1"/>
              </a:solidFill>
              <a:prstDash val="sysDash"/>
            </a:ln>
            <a:effectLst>
              <a:glow>
                <a:schemeClr val="accent1"/>
              </a:glow>
              <a:outerShdw blurRad="190500" sx="121000" sy="121000" algn="ctr" rotWithShape="0">
                <a:schemeClr val="accent1">
                  <a:alpha val="52000"/>
                </a:schemeClr>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pSp>
      <p:grpSp>
        <p:nvGrpSpPr>
          <p:cNvPr id="101" name="熊大的PPT宝库64"/>
          <p:cNvGrpSpPr/>
          <p:nvPr/>
        </p:nvGrpSpPr>
        <p:grpSpPr>
          <a:xfrm>
            <a:off x="5485373" y="3552260"/>
            <a:ext cx="510618" cy="510618"/>
            <a:chOff x="3658566" y="3575977"/>
            <a:chExt cx="510618" cy="510618"/>
          </a:xfrm>
        </p:grpSpPr>
        <p:sp>
          <p:nvSpPr>
            <p:cNvPr id="102" name="熊大的PPT宝库64-1"/>
            <p:cNvSpPr/>
            <p:nvPr/>
          </p:nvSpPr>
          <p:spPr>
            <a:xfrm>
              <a:off x="3705569" y="3622980"/>
              <a:ext cx="416612" cy="416612"/>
            </a:xfrm>
            <a:prstGeom prst="ellips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3" name="熊大的PPT宝库64-2"/>
            <p:cNvSpPr/>
            <p:nvPr/>
          </p:nvSpPr>
          <p:spPr>
            <a:xfrm>
              <a:off x="3658566" y="3575977"/>
              <a:ext cx="510618" cy="510618"/>
            </a:xfrm>
            <a:prstGeom prst="ellipse">
              <a:avLst/>
            </a:prstGeom>
            <a:noFill/>
            <a:ln>
              <a:solidFill>
                <a:schemeClr val="accent1"/>
              </a:solidFill>
              <a:prstDash val="sysDash"/>
            </a:ln>
            <a:effectLst>
              <a:glow>
                <a:schemeClr val="accent1"/>
              </a:glow>
              <a:outerShdw blurRad="190500" sx="121000" sy="121000" algn="ctr" rotWithShape="0">
                <a:schemeClr val="accent1">
                  <a:alpha val="52000"/>
                </a:schemeClr>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pSp>
      <p:grpSp>
        <p:nvGrpSpPr>
          <p:cNvPr id="104" name="熊大的PPT宝库65"/>
          <p:cNvGrpSpPr/>
          <p:nvPr/>
        </p:nvGrpSpPr>
        <p:grpSpPr>
          <a:xfrm>
            <a:off x="3949835" y="4085543"/>
            <a:ext cx="510618" cy="510618"/>
            <a:chOff x="3658566" y="3575977"/>
            <a:chExt cx="510618" cy="510618"/>
          </a:xfrm>
        </p:grpSpPr>
        <p:sp>
          <p:nvSpPr>
            <p:cNvPr id="105" name="熊大的PPT宝库65-1"/>
            <p:cNvSpPr/>
            <p:nvPr/>
          </p:nvSpPr>
          <p:spPr>
            <a:xfrm>
              <a:off x="3705569" y="3622980"/>
              <a:ext cx="416612" cy="416612"/>
            </a:xfrm>
            <a:prstGeom prst="ellips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6" name="熊大的PPT宝库65-2"/>
            <p:cNvSpPr/>
            <p:nvPr/>
          </p:nvSpPr>
          <p:spPr>
            <a:xfrm>
              <a:off x="3658566" y="3575977"/>
              <a:ext cx="510618" cy="510618"/>
            </a:xfrm>
            <a:prstGeom prst="ellipse">
              <a:avLst/>
            </a:prstGeom>
            <a:noFill/>
            <a:ln>
              <a:solidFill>
                <a:schemeClr val="accent1"/>
              </a:solidFill>
              <a:prstDash val="sysDash"/>
            </a:ln>
            <a:effectLst>
              <a:glow>
                <a:schemeClr val="accent1"/>
              </a:glow>
              <a:outerShdw blurRad="190500" sx="121000" sy="121000" algn="ctr" rotWithShape="0">
                <a:schemeClr val="accent1">
                  <a:alpha val="52000"/>
                </a:schemeClr>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pSp>
      <p:grpSp>
        <p:nvGrpSpPr>
          <p:cNvPr id="107" name="熊大的PPT宝库66"/>
          <p:cNvGrpSpPr/>
          <p:nvPr/>
        </p:nvGrpSpPr>
        <p:grpSpPr>
          <a:xfrm>
            <a:off x="4574473" y="4085543"/>
            <a:ext cx="510618" cy="510618"/>
            <a:chOff x="3658566" y="3575977"/>
            <a:chExt cx="510618" cy="510618"/>
          </a:xfrm>
        </p:grpSpPr>
        <p:sp>
          <p:nvSpPr>
            <p:cNvPr id="108" name="熊大的PPT宝库66-1"/>
            <p:cNvSpPr/>
            <p:nvPr/>
          </p:nvSpPr>
          <p:spPr>
            <a:xfrm>
              <a:off x="3705569" y="3622980"/>
              <a:ext cx="416612" cy="416612"/>
            </a:xfrm>
            <a:prstGeom prst="ellips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09" name="熊大的PPT宝库66-2"/>
            <p:cNvSpPr/>
            <p:nvPr/>
          </p:nvSpPr>
          <p:spPr>
            <a:xfrm>
              <a:off x="3658566" y="3575977"/>
              <a:ext cx="510618" cy="510618"/>
            </a:xfrm>
            <a:prstGeom prst="ellipse">
              <a:avLst/>
            </a:prstGeom>
            <a:noFill/>
            <a:ln>
              <a:solidFill>
                <a:schemeClr val="accent1"/>
              </a:solidFill>
              <a:prstDash val="sysDash"/>
            </a:ln>
            <a:effectLst>
              <a:glow>
                <a:schemeClr val="accent1"/>
              </a:glow>
              <a:outerShdw blurRad="190500" sx="121000" sy="121000" algn="ctr" rotWithShape="0">
                <a:schemeClr val="accent1">
                  <a:alpha val="52000"/>
                </a:schemeClr>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pSp>
      <p:grpSp>
        <p:nvGrpSpPr>
          <p:cNvPr id="110" name="熊大的PPT宝库67"/>
          <p:cNvGrpSpPr/>
          <p:nvPr/>
        </p:nvGrpSpPr>
        <p:grpSpPr>
          <a:xfrm>
            <a:off x="5199112" y="4085543"/>
            <a:ext cx="510618" cy="510618"/>
            <a:chOff x="3658566" y="3575977"/>
            <a:chExt cx="510618" cy="510618"/>
          </a:xfrm>
        </p:grpSpPr>
        <p:sp>
          <p:nvSpPr>
            <p:cNvPr id="111" name="熊大的PPT宝库67-1"/>
            <p:cNvSpPr/>
            <p:nvPr/>
          </p:nvSpPr>
          <p:spPr>
            <a:xfrm>
              <a:off x="3705569" y="3622980"/>
              <a:ext cx="416612" cy="416612"/>
            </a:xfrm>
            <a:prstGeom prst="ellips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12" name="熊大的PPT宝库67-2"/>
            <p:cNvSpPr/>
            <p:nvPr/>
          </p:nvSpPr>
          <p:spPr>
            <a:xfrm>
              <a:off x="3658566" y="3575977"/>
              <a:ext cx="510618" cy="510618"/>
            </a:xfrm>
            <a:prstGeom prst="ellipse">
              <a:avLst/>
            </a:prstGeom>
            <a:noFill/>
            <a:ln>
              <a:solidFill>
                <a:schemeClr val="accent1"/>
              </a:solidFill>
              <a:prstDash val="sysDash"/>
            </a:ln>
            <a:effectLst>
              <a:glow>
                <a:schemeClr val="accent1"/>
              </a:glow>
              <a:outerShdw blurRad="190500" sx="121000" sy="121000" algn="ctr" rotWithShape="0">
                <a:schemeClr val="accent1">
                  <a:alpha val="52000"/>
                </a:schemeClr>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pSp>
      <p:sp>
        <p:nvSpPr>
          <p:cNvPr id="113" name="熊大的PPT宝库68"/>
          <p:cNvSpPr txBox="1"/>
          <p:nvPr/>
        </p:nvSpPr>
        <p:spPr>
          <a:xfrm>
            <a:off x="3756036" y="3750906"/>
            <a:ext cx="307777"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寻源</a:t>
            </a:r>
          </a:p>
        </p:txBody>
      </p:sp>
      <p:sp>
        <p:nvSpPr>
          <p:cNvPr id="114" name="熊大的PPT宝库69"/>
          <p:cNvSpPr txBox="1"/>
          <p:nvPr/>
        </p:nvSpPr>
        <p:spPr>
          <a:xfrm>
            <a:off x="5567558" y="3669070"/>
            <a:ext cx="346249" cy="27699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solidFill>
                <a:effectLst/>
                <a:uLnTx/>
                <a:uFillTx/>
                <a:cs typeface="+mn-ea"/>
                <a:sym typeface="+mn-lt"/>
              </a:rPr>
              <a:t>供应商</a:t>
            </a:r>
            <a:endParaRPr kumimoji="0" lang="en-US" altLang="zh-CN" sz="900" b="0"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solidFill>
                <a:effectLst/>
                <a:uLnTx/>
                <a:uFillTx/>
                <a:cs typeface="+mn-ea"/>
                <a:sym typeface="+mn-lt"/>
              </a:rPr>
              <a:t>管理</a:t>
            </a:r>
          </a:p>
        </p:txBody>
      </p:sp>
      <p:sp>
        <p:nvSpPr>
          <p:cNvPr id="115" name="熊大的PPT宝库70"/>
          <p:cNvSpPr txBox="1"/>
          <p:nvPr/>
        </p:nvSpPr>
        <p:spPr>
          <a:xfrm>
            <a:off x="4337516" y="3618282"/>
            <a:ext cx="307777"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谈判</a:t>
            </a:r>
          </a:p>
        </p:txBody>
      </p:sp>
      <p:sp>
        <p:nvSpPr>
          <p:cNvPr id="116" name="熊大的PPT宝库71"/>
          <p:cNvSpPr txBox="1"/>
          <p:nvPr/>
        </p:nvSpPr>
        <p:spPr>
          <a:xfrm>
            <a:off x="4961041" y="3618282"/>
            <a:ext cx="307777"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合同</a:t>
            </a:r>
          </a:p>
        </p:txBody>
      </p:sp>
      <p:sp>
        <p:nvSpPr>
          <p:cNvPr id="117" name="熊大的PPT宝库72"/>
          <p:cNvSpPr txBox="1"/>
          <p:nvPr/>
        </p:nvSpPr>
        <p:spPr>
          <a:xfrm>
            <a:off x="4048349" y="4246309"/>
            <a:ext cx="307777"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订单</a:t>
            </a:r>
          </a:p>
        </p:txBody>
      </p:sp>
      <p:sp>
        <p:nvSpPr>
          <p:cNvPr id="118" name="熊大的PPT宝库73"/>
          <p:cNvSpPr txBox="1"/>
          <p:nvPr/>
        </p:nvSpPr>
        <p:spPr>
          <a:xfrm>
            <a:off x="4675894" y="4246309"/>
            <a:ext cx="307777"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履约</a:t>
            </a:r>
          </a:p>
        </p:txBody>
      </p:sp>
      <p:sp>
        <p:nvSpPr>
          <p:cNvPr id="119" name="熊大的PPT宝库74"/>
          <p:cNvSpPr txBox="1"/>
          <p:nvPr/>
        </p:nvSpPr>
        <p:spPr>
          <a:xfrm>
            <a:off x="5300533" y="4246309"/>
            <a:ext cx="307777"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结算</a:t>
            </a:r>
          </a:p>
        </p:txBody>
      </p:sp>
      <p:sp>
        <p:nvSpPr>
          <p:cNvPr id="121" name="熊大的PPT宝库75"/>
          <p:cNvSpPr txBox="1"/>
          <p:nvPr/>
        </p:nvSpPr>
        <p:spPr>
          <a:xfrm>
            <a:off x="4071723" y="4773875"/>
            <a:ext cx="1538883" cy="184666"/>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329D"/>
                </a:solidFill>
                <a:effectLst/>
                <a:uLnTx/>
                <a:uFillTx/>
                <a:cs typeface="+mn-ea"/>
                <a:sym typeface="+mn-lt"/>
              </a:rPr>
              <a:t>分布式微服务技术底座</a:t>
            </a:r>
          </a:p>
        </p:txBody>
      </p:sp>
      <p:sp>
        <p:nvSpPr>
          <p:cNvPr id="123" name="熊大的PPT宝库76"/>
          <p:cNvSpPr txBox="1"/>
          <p:nvPr/>
        </p:nvSpPr>
        <p:spPr>
          <a:xfrm>
            <a:off x="9148552" y="3055126"/>
            <a:ext cx="2347108" cy="353943"/>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cs typeface="+mn-ea"/>
                <a:sym typeface="+mn-lt"/>
              </a:rPr>
              <a:t>智能数字化供应链运营生态系统</a:t>
            </a:r>
            <a:endParaRPr kumimoji="0" lang="en-US" altLang="zh-CN" sz="1200" b="1" i="0" u="none" strike="noStrike" kern="1200" cap="none" spc="0" normalizeH="0" baseline="0" noProof="0" dirty="0">
              <a:ln>
                <a:noFill/>
              </a:ln>
              <a:solidFill>
                <a:srgbClr val="000000"/>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生态系统可为企业带来更多数字技术能力组合，助力企业供应链运营创新</a:t>
            </a:r>
          </a:p>
        </p:txBody>
      </p:sp>
      <p:sp>
        <p:nvSpPr>
          <p:cNvPr id="126" name="熊大的PPT宝库77"/>
          <p:cNvSpPr/>
          <p:nvPr/>
        </p:nvSpPr>
        <p:spPr>
          <a:xfrm>
            <a:off x="6268122" y="4847098"/>
            <a:ext cx="712748" cy="383032"/>
          </a:xfrm>
          <a:custGeom>
            <a:avLst/>
            <a:gdLst>
              <a:gd name="connsiteX0" fmla="*/ 561726 w 712748"/>
              <a:gd name="connsiteY0" fmla="*/ 578 h 383032"/>
              <a:gd name="connsiteX1" fmla="*/ 586757 w 712748"/>
              <a:gd name="connsiteY1" fmla="*/ 9800 h 383032"/>
              <a:gd name="connsiteX2" fmla="*/ 633988 w 712748"/>
              <a:gd name="connsiteY2" fmla="*/ 97013 h 383032"/>
              <a:gd name="connsiteX3" fmla="*/ 634248 w 712748"/>
              <a:gd name="connsiteY3" fmla="*/ 97228 h 383032"/>
              <a:gd name="connsiteX4" fmla="*/ 671541 w 712748"/>
              <a:gd name="connsiteY4" fmla="*/ 128102 h 383032"/>
              <a:gd name="connsiteX5" fmla="*/ 694603 w 712748"/>
              <a:gd name="connsiteY5" fmla="*/ 181655 h 383032"/>
              <a:gd name="connsiteX6" fmla="*/ 691889 w 712748"/>
              <a:gd name="connsiteY6" fmla="*/ 273436 h 383032"/>
              <a:gd name="connsiteX7" fmla="*/ 712748 w 712748"/>
              <a:gd name="connsiteY7" fmla="*/ 340269 h 383032"/>
              <a:gd name="connsiteX8" fmla="*/ 712143 w 712748"/>
              <a:gd name="connsiteY8" fmla="*/ 383032 h 383032"/>
              <a:gd name="connsiteX9" fmla="*/ 3932 w 712748"/>
              <a:gd name="connsiteY9" fmla="*/ 383032 h 383032"/>
              <a:gd name="connsiteX10" fmla="*/ 0 w 712748"/>
              <a:gd name="connsiteY10" fmla="*/ 349189 h 383032"/>
              <a:gd name="connsiteX11" fmla="*/ 63990 w 712748"/>
              <a:gd name="connsiteY11" fmla="*/ 256426 h 383032"/>
              <a:gd name="connsiteX12" fmla="*/ 64602 w 712748"/>
              <a:gd name="connsiteY12" fmla="*/ 253980 h 383032"/>
              <a:gd name="connsiteX13" fmla="*/ 93106 w 712748"/>
              <a:gd name="connsiteY13" fmla="*/ 120770 h 383032"/>
              <a:gd name="connsiteX14" fmla="*/ 231772 w 712748"/>
              <a:gd name="connsiteY14" fmla="*/ 90337 h 383032"/>
              <a:gd name="connsiteX15" fmla="*/ 231803 w 712748"/>
              <a:gd name="connsiteY15" fmla="*/ 90286 h 383032"/>
              <a:gd name="connsiteX16" fmla="*/ 259379 w 712748"/>
              <a:gd name="connsiteY16" fmla="*/ 44514 h 383032"/>
              <a:gd name="connsiteX17" fmla="*/ 371579 w 712748"/>
              <a:gd name="connsiteY17" fmla="*/ 58743 h 383032"/>
              <a:gd name="connsiteX18" fmla="*/ 372077 w 712748"/>
              <a:gd name="connsiteY18" fmla="*/ 57882 h 383032"/>
              <a:gd name="connsiteX19" fmla="*/ 393978 w 712748"/>
              <a:gd name="connsiteY19" fmla="*/ 20026 h 383032"/>
              <a:gd name="connsiteX20" fmla="*/ 426056 w 712748"/>
              <a:gd name="connsiteY20" fmla="*/ 1054 h 383032"/>
              <a:gd name="connsiteX21" fmla="*/ 463597 w 712748"/>
              <a:gd name="connsiteY21" fmla="*/ 7937 h 383032"/>
              <a:gd name="connsiteX22" fmla="*/ 492748 w 712748"/>
              <a:gd name="connsiteY22" fmla="*/ 40788 h 383032"/>
              <a:gd name="connsiteX23" fmla="*/ 493618 w 712748"/>
              <a:gd name="connsiteY23" fmla="*/ 41769 h 383032"/>
              <a:gd name="connsiteX24" fmla="*/ 561726 w 712748"/>
              <a:gd name="connsiteY24" fmla="*/ 578 h 383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12748" h="383032">
                <a:moveTo>
                  <a:pt x="561726" y="578"/>
                </a:moveTo>
                <a:cubicBezTo>
                  <a:pt x="570193" y="1631"/>
                  <a:pt x="578643" y="4669"/>
                  <a:pt x="586757" y="9800"/>
                </a:cubicBezTo>
                <a:cubicBezTo>
                  <a:pt x="611489" y="25436"/>
                  <a:pt x="629224" y="58172"/>
                  <a:pt x="633988" y="97013"/>
                </a:cubicBezTo>
                <a:lnTo>
                  <a:pt x="634248" y="97228"/>
                </a:lnTo>
                <a:lnTo>
                  <a:pt x="671541" y="128102"/>
                </a:lnTo>
                <a:cubicBezTo>
                  <a:pt x="681963" y="142654"/>
                  <a:pt x="689970" y="160949"/>
                  <a:pt x="694603" y="181655"/>
                </a:cubicBezTo>
                <a:cubicBezTo>
                  <a:pt x="701336" y="211713"/>
                  <a:pt x="700376" y="244360"/>
                  <a:pt x="691889" y="273436"/>
                </a:cubicBezTo>
                <a:cubicBezTo>
                  <a:pt x="702320" y="293374"/>
                  <a:pt x="709359" y="316266"/>
                  <a:pt x="712748" y="340269"/>
                </a:cubicBezTo>
                <a:lnTo>
                  <a:pt x="712143" y="383032"/>
                </a:lnTo>
                <a:lnTo>
                  <a:pt x="3932" y="383032"/>
                </a:lnTo>
                <a:lnTo>
                  <a:pt x="0" y="349189"/>
                </a:lnTo>
                <a:cubicBezTo>
                  <a:pt x="4037" y="300014"/>
                  <a:pt x="30606" y="261495"/>
                  <a:pt x="63990" y="256426"/>
                </a:cubicBezTo>
                <a:cubicBezTo>
                  <a:pt x="64188" y="255605"/>
                  <a:pt x="64403" y="254802"/>
                  <a:pt x="64602" y="253980"/>
                </a:cubicBezTo>
                <a:cubicBezTo>
                  <a:pt x="60119" y="205555"/>
                  <a:pt x="70574" y="156719"/>
                  <a:pt x="93106" y="120770"/>
                </a:cubicBezTo>
                <a:cubicBezTo>
                  <a:pt x="128707" y="63991"/>
                  <a:pt x="186427" y="51336"/>
                  <a:pt x="231772" y="90337"/>
                </a:cubicBezTo>
                <a:lnTo>
                  <a:pt x="231803" y="90286"/>
                </a:lnTo>
                <a:lnTo>
                  <a:pt x="259379" y="44514"/>
                </a:lnTo>
                <a:cubicBezTo>
                  <a:pt x="292736" y="10587"/>
                  <a:pt x="340039" y="13094"/>
                  <a:pt x="371579" y="58743"/>
                </a:cubicBezTo>
                <a:lnTo>
                  <a:pt x="372077" y="57882"/>
                </a:lnTo>
                <a:lnTo>
                  <a:pt x="393978" y="20026"/>
                </a:lnTo>
                <a:cubicBezTo>
                  <a:pt x="403334" y="10117"/>
                  <a:pt x="414302" y="3500"/>
                  <a:pt x="426056" y="1054"/>
                </a:cubicBezTo>
                <a:cubicBezTo>
                  <a:pt x="438993" y="-1641"/>
                  <a:pt x="451921" y="902"/>
                  <a:pt x="463597" y="7937"/>
                </a:cubicBezTo>
                <a:lnTo>
                  <a:pt x="492748" y="40788"/>
                </a:lnTo>
                <a:lnTo>
                  <a:pt x="493618" y="41769"/>
                </a:lnTo>
                <a:cubicBezTo>
                  <a:pt x="510766" y="12130"/>
                  <a:pt x="536325" y="-2580"/>
                  <a:pt x="561726" y="578"/>
                </a:cubicBezTo>
                <a:close/>
              </a:path>
            </a:pathLst>
          </a:cu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7" name="熊大的PPT宝库78"/>
          <p:cNvSpPr/>
          <p:nvPr/>
        </p:nvSpPr>
        <p:spPr>
          <a:xfrm>
            <a:off x="8116760" y="4847098"/>
            <a:ext cx="712748" cy="383032"/>
          </a:xfrm>
          <a:custGeom>
            <a:avLst/>
            <a:gdLst>
              <a:gd name="connsiteX0" fmla="*/ 561726 w 712748"/>
              <a:gd name="connsiteY0" fmla="*/ 578 h 383032"/>
              <a:gd name="connsiteX1" fmla="*/ 586757 w 712748"/>
              <a:gd name="connsiteY1" fmla="*/ 9800 h 383032"/>
              <a:gd name="connsiteX2" fmla="*/ 633988 w 712748"/>
              <a:gd name="connsiteY2" fmla="*/ 97013 h 383032"/>
              <a:gd name="connsiteX3" fmla="*/ 634248 w 712748"/>
              <a:gd name="connsiteY3" fmla="*/ 97228 h 383032"/>
              <a:gd name="connsiteX4" fmla="*/ 671541 w 712748"/>
              <a:gd name="connsiteY4" fmla="*/ 128102 h 383032"/>
              <a:gd name="connsiteX5" fmla="*/ 694603 w 712748"/>
              <a:gd name="connsiteY5" fmla="*/ 181655 h 383032"/>
              <a:gd name="connsiteX6" fmla="*/ 691889 w 712748"/>
              <a:gd name="connsiteY6" fmla="*/ 273436 h 383032"/>
              <a:gd name="connsiteX7" fmla="*/ 712748 w 712748"/>
              <a:gd name="connsiteY7" fmla="*/ 340269 h 383032"/>
              <a:gd name="connsiteX8" fmla="*/ 712143 w 712748"/>
              <a:gd name="connsiteY8" fmla="*/ 383032 h 383032"/>
              <a:gd name="connsiteX9" fmla="*/ 3932 w 712748"/>
              <a:gd name="connsiteY9" fmla="*/ 383032 h 383032"/>
              <a:gd name="connsiteX10" fmla="*/ 0 w 712748"/>
              <a:gd name="connsiteY10" fmla="*/ 349189 h 383032"/>
              <a:gd name="connsiteX11" fmla="*/ 63990 w 712748"/>
              <a:gd name="connsiteY11" fmla="*/ 256426 h 383032"/>
              <a:gd name="connsiteX12" fmla="*/ 64602 w 712748"/>
              <a:gd name="connsiteY12" fmla="*/ 253980 h 383032"/>
              <a:gd name="connsiteX13" fmla="*/ 93106 w 712748"/>
              <a:gd name="connsiteY13" fmla="*/ 120770 h 383032"/>
              <a:gd name="connsiteX14" fmla="*/ 231772 w 712748"/>
              <a:gd name="connsiteY14" fmla="*/ 90337 h 383032"/>
              <a:gd name="connsiteX15" fmla="*/ 231803 w 712748"/>
              <a:gd name="connsiteY15" fmla="*/ 90286 h 383032"/>
              <a:gd name="connsiteX16" fmla="*/ 259379 w 712748"/>
              <a:gd name="connsiteY16" fmla="*/ 44514 h 383032"/>
              <a:gd name="connsiteX17" fmla="*/ 371579 w 712748"/>
              <a:gd name="connsiteY17" fmla="*/ 58743 h 383032"/>
              <a:gd name="connsiteX18" fmla="*/ 372077 w 712748"/>
              <a:gd name="connsiteY18" fmla="*/ 57882 h 383032"/>
              <a:gd name="connsiteX19" fmla="*/ 393978 w 712748"/>
              <a:gd name="connsiteY19" fmla="*/ 20026 h 383032"/>
              <a:gd name="connsiteX20" fmla="*/ 426056 w 712748"/>
              <a:gd name="connsiteY20" fmla="*/ 1054 h 383032"/>
              <a:gd name="connsiteX21" fmla="*/ 463597 w 712748"/>
              <a:gd name="connsiteY21" fmla="*/ 7937 h 383032"/>
              <a:gd name="connsiteX22" fmla="*/ 492748 w 712748"/>
              <a:gd name="connsiteY22" fmla="*/ 40788 h 383032"/>
              <a:gd name="connsiteX23" fmla="*/ 493618 w 712748"/>
              <a:gd name="connsiteY23" fmla="*/ 41769 h 383032"/>
              <a:gd name="connsiteX24" fmla="*/ 561726 w 712748"/>
              <a:gd name="connsiteY24" fmla="*/ 578 h 383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12748" h="383032">
                <a:moveTo>
                  <a:pt x="561726" y="578"/>
                </a:moveTo>
                <a:cubicBezTo>
                  <a:pt x="570193" y="1631"/>
                  <a:pt x="578643" y="4669"/>
                  <a:pt x="586757" y="9800"/>
                </a:cubicBezTo>
                <a:cubicBezTo>
                  <a:pt x="611489" y="25436"/>
                  <a:pt x="629224" y="58172"/>
                  <a:pt x="633988" y="97013"/>
                </a:cubicBezTo>
                <a:lnTo>
                  <a:pt x="634248" y="97228"/>
                </a:lnTo>
                <a:lnTo>
                  <a:pt x="671541" y="128102"/>
                </a:lnTo>
                <a:cubicBezTo>
                  <a:pt x="681963" y="142654"/>
                  <a:pt x="689970" y="160949"/>
                  <a:pt x="694603" y="181655"/>
                </a:cubicBezTo>
                <a:cubicBezTo>
                  <a:pt x="701336" y="211713"/>
                  <a:pt x="700376" y="244360"/>
                  <a:pt x="691889" y="273436"/>
                </a:cubicBezTo>
                <a:cubicBezTo>
                  <a:pt x="702320" y="293374"/>
                  <a:pt x="709359" y="316266"/>
                  <a:pt x="712748" y="340269"/>
                </a:cubicBezTo>
                <a:lnTo>
                  <a:pt x="712143" y="383032"/>
                </a:lnTo>
                <a:lnTo>
                  <a:pt x="3932" y="383032"/>
                </a:lnTo>
                <a:lnTo>
                  <a:pt x="0" y="349189"/>
                </a:lnTo>
                <a:cubicBezTo>
                  <a:pt x="4037" y="300014"/>
                  <a:pt x="30606" y="261495"/>
                  <a:pt x="63990" y="256426"/>
                </a:cubicBezTo>
                <a:cubicBezTo>
                  <a:pt x="64188" y="255605"/>
                  <a:pt x="64403" y="254802"/>
                  <a:pt x="64602" y="253980"/>
                </a:cubicBezTo>
                <a:cubicBezTo>
                  <a:pt x="60119" y="205555"/>
                  <a:pt x="70574" y="156719"/>
                  <a:pt x="93106" y="120770"/>
                </a:cubicBezTo>
                <a:cubicBezTo>
                  <a:pt x="128707" y="63991"/>
                  <a:pt x="186427" y="51336"/>
                  <a:pt x="231772" y="90337"/>
                </a:cubicBezTo>
                <a:lnTo>
                  <a:pt x="231803" y="90286"/>
                </a:lnTo>
                <a:lnTo>
                  <a:pt x="259379" y="44514"/>
                </a:lnTo>
                <a:cubicBezTo>
                  <a:pt x="292736" y="10587"/>
                  <a:pt x="340039" y="13094"/>
                  <a:pt x="371579" y="58743"/>
                </a:cubicBezTo>
                <a:lnTo>
                  <a:pt x="372077" y="57882"/>
                </a:lnTo>
                <a:lnTo>
                  <a:pt x="393978" y="20026"/>
                </a:lnTo>
                <a:cubicBezTo>
                  <a:pt x="403334" y="10117"/>
                  <a:pt x="414302" y="3500"/>
                  <a:pt x="426056" y="1054"/>
                </a:cubicBezTo>
                <a:cubicBezTo>
                  <a:pt x="438993" y="-1641"/>
                  <a:pt x="451921" y="902"/>
                  <a:pt x="463597" y="7937"/>
                </a:cubicBezTo>
                <a:lnTo>
                  <a:pt x="492748" y="40788"/>
                </a:lnTo>
                <a:lnTo>
                  <a:pt x="493618" y="41769"/>
                </a:lnTo>
                <a:cubicBezTo>
                  <a:pt x="510766" y="12130"/>
                  <a:pt x="536325" y="-2580"/>
                  <a:pt x="561726" y="578"/>
                </a:cubicBezTo>
                <a:close/>
              </a:path>
            </a:pathLst>
          </a:cu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28" name="熊大的PPT宝库79"/>
          <p:cNvSpPr txBox="1"/>
          <p:nvPr/>
        </p:nvSpPr>
        <p:spPr>
          <a:xfrm>
            <a:off x="6491447" y="4976655"/>
            <a:ext cx="278923"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000000"/>
                </a:solidFill>
                <a:effectLst/>
                <a:uLnTx/>
                <a:uFillTx/>
                <a:cs typeface="+mn-ea"/>
                <a:sym typeface="+mn-lt"/>
              </a:rPr>
              <a:t>ERP</a:t>
            </a:r>
            <a:endParaRPr kumimoji="0" lang="zh-CN" altLang="en-US" sz="1200" b="1" i="0" u="none" strike="noStrike" kern="1200" cap="none" spc="0" normalizeH="0" baseline="0" noProof="0" dirty="0">
              <a:ln>
                <a:noFill/>
              </a:ln>
              <a:solidFill>
                <a:srgbClr val="000000"/>
              </a:solidFill>
              <a:effectLst/>
              <a:uLnTx/>
              <a:uFillTx/>
              <a:cs typeface="+mn-ea"/>
              <a:sym typeface="+mn-lt"/>
            </a:endParaRPr>
          </a:p>
        </p:txBody>
      </p:sp>
      <p:sp>
        <p:nvSpPr>
          <p:cNvPr id="129" name="熊大的PPT宝库80"/>
          <p:cNvSpPr txBox="1"/>
          <p:nvPr/>
        </p:nvSpPr>
        <p:spPr>
          <a:xfrm>
            <a:off x="8279972" y="4976655"/>
            <a:ext cx="392736" cy="184666"/>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000000"/>
                </a:solidFill>
                <a:effectLst/>
                <a:uLnTx/>
                <a:uFillTx/>
                <a:cs typeface="+mn-ea"/>
                <a:sym typeface="+mn-lt"/>
              </a:rPr>
              <a:t>CAPP</a:t>
            </a:r>
            <a:endParaRPr kumimoji="0" lang="zh-CN" altLang="en-US" sz="1200" b="1" i="0" u="none" strike="noStrike" kern="1200" cap="none" spc="0" normalizeH="0" baseline="0" noProof="0" dirty="0">
              <a:ln>
                <a:noFill/>
              </a:ln>
              <a:solidFill>
                <a:srgbClr val="000000"/>
              </a:solidFill>
              <a:effectLst/>
              <a:uLnTx/>
              <a:uFillTx/>
              <a:cs typeface="+mn-ea"/>
              <a:sym typeface="+mn-lt"/>
            </a:endParaRPr>
          </a:p>
        </p:txBody>
      </p:sp>
      <p:sp>
        <p:nvSpPr>
          <p:cNvPr id="131" name="熊大的PPT宝库81"/>
          <p:cNvSpPr txBox="1"/>
          <p:nvPr/>
        </p:nvSpPr>
        <p:spPr>
          <a:xfrm>
            <a:off x="7045018" y="4884099"/>
            <a:ext cx="1038746" cy="138499"/>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材料定额、工时定额</a:t>
            </a:r>
          </a:p>
        </p:txBody>
      </p:sp>
      <p:cxnSp>
        <p:nvCxnSpPr>
          <p:cNvPr id="133" name="熊大的PPT宝库82"/>
          <p:cNvCxnSpPr/>
          <p:nvPr/>
        </p:nvCxnSpPr>
        <p:spPr>
          <a:xfrm flipH="1">
            <a:off x="7037285" y="5068988"/>
            <a:ext cx="10953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4" name="熊大的PPT宝库83"/>
          <p:cNvSpPr txBox="1"/>
          <p:nvPr/>
        </p:nvSpPr>
        <p:spPr>
          <a:xfrm>
            <a:off x="7304335" y="5129263"/>
            <a:ext cx="461665" cy="138499"/>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工艺路线</a:t>
            </a:r>
          </a:p>
        </p:txBody>
      </p:sp>
      <p:sp>
        <p:nvSpPr>
          <p:cNvPr id="135" name="熊大的PPT宝库84"/>
          <p:cNvSpPr txBox="1"/>
          <p:nvPr/>
        </p:nvSpPr>
        <p:spPr>
          <a:xfrm>
            <a:off x="6999291" y="4635957"/>
            <a:ext cx="1269578" cy="138499"/>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料品库存数量、成本信息</a:t>
            </a:r>
          </a:p>
        </p:txBody>
      </p:sp>
      <p:sp>
        <p:nvSpPr>
          <p:cNvPr id="136" name="熊大的PPT宝库85"/>
          <p:cNvSpPr/>
          <p:nvPr/>
        </p:nvSpPr>
        <p:spPr>
          <a:xfrm>
            <a:off x="8116760" y="3565003"/>
            <a:ext cx="712748" cy="383032"/>
          </a:xfrm>
          <a:custGeom>
            <a:avLst/>
            <a:gdLst>
              <a:gd name="connsiteX0" fmla="*/ 561726 w 712748"/>
              <a:gd name="connsiteY0" fmla="*/ 578 h 383032"/>
              <a:gd name="connsiteX1" fmla="*/ 586757 w 712748"/>
              <a:gd name="connsiteY1" fmla="*/ 9800 h 383032"/>
              <a:gd name="connsiteX2" fmla="*/ 633988 w 712748"/>
              <a:gd name="connsiteY2" fmla="*/ 97013 h 383032"/>
              <a:gd name="connsiteX3" fmla="*/ 634248 w 712748"/>
              <a:gd name="connsiteY3" fmla="*/ 97228 h 383032"/>
              <a:gd name="connsiteX4" fmla="*/ 671541 w 712748"/>
              <a:gd name="connsiteY4" fmla="*/ 128102 h 383032"/>
              <a:gd name="connsiteX5" fmla="*/ 694603 w 712748"/>
              <a:gd name="connsiteY5" fmla="*/ 181655 h 383032"/>
              <a:gd name="connsiteX6" fmla="*/ 691889 w 712748"/>
              <a:gd name="connsiteY6" fmla="*/ 273436 h 383032"/>
              <a:gd name="connsiteX7" fmla="*/ 712748 w 712748"/>
              <a:gd name="connsiteY7" fmla="*/ 340269 h 383032"/>
              <a:gd name="connsiteX8" fmla="*/ 712143 w 712748"/>
              <a:gd name="connsiteY8" fmla="*/ 383032 h 383032"/>
              <a:gd name="connsiteX9" fmla="*/ 3932 w 712748"/>
              <a:gd name="connsiteY9" fmla="*/ 383032 h 383032"/>
              <a:gd name="connsiteX10" fmla="*/ 0 w 712748"/>
              <a:gd name="connsiteY10" fmla="*/ 349189 h 383032"/>
              <a:gd name="connsiteX11" fmla="*/ 63990 w 712748"/>
              <a:gd name="connsiteY11" fmla="*/ 256426 h 383032"/>
              <a:gd name="connsiteX12" fmla="*/ 64602 w 712748"/>
              <a:gd name="connsiteY12" fmla="*/ 253980 h 383032"/>
              <a:gd name="connsiteX13" fmla="*/ 93106 w 712748"/>
              <a:gd name="connsiteY13" fmla="*/ 120770 h 383032"/>
              <a:gd name="connsiteX14" fmla="*/ 231772 w 712748"/>
              <a:gd name="connsiteY14" fmla="*/ 90337 h 383032"/>
              <a:gd name="connsiteX15" fmla="*/ 231803 w 712748"/>
              <a:gd name="connsiteY15" fmla="*/ 90286 h 383032"/>
              <a:gd name="connsiteX16" fmla="*/ 259379 w 712748"/>
              <a:gd name="connsiteY16" fmla="*/ 44514 h 383032"/>
              <a:gd name="connsiteX17" fmla="*/ 371579 w 712748"/>
              <a:gd name="connsiteY17" fmla="*/ 58743 h 383032"/>
              <a:gd name="connsiteX18" fmla="*/ 372077 w 712748"/>
              <a:gd name="connsiteY18" fmla="*/ 57882 h 383032"/>
              <a:gd name="connsiteX19" fmla="*/ 393978 w 712748"/>
              <a:gd name="connsiteY19" fmla="*/ 20026 h 383032"/>
              <a:gd name="connsiteX20" fmla="*/ 426056 w 712748"/>
              <a:gd name="connsiteY20" fmla="*/ 1054 h 383032"/>
              <a:gd name="connsiteX21" fmla="*/ 463597 w 712748"/>
              <a:gd name="connsiteY21" fmla="*/ 7937 h 383032"/>
              <a:gd name="connsiteX22" fmla="*/ 492748 w 712748"/>
              <a:gd name="connsiteY22" fmla="*/ 40788 h 383032"/>
              <a:gd name="connsiteX23" fmla="*/ 493618 w 712748"/>
              <a:gd name="connsiteY23" fmla="*/ 41769 h 383032"/>
              <a:gd name="connsiteX24" fmla="*/ 561726 w 712748"/>
              <a:gd name="connsiteY24" fmla="*/ 578 h 383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12748" h="383032">
                <a:moveTo>
                  <a:pt x="561726" y="578"/>
                </a:moveTo>
                <a:cubicBezTo>
                  <a:pt x="570193" y="1631"/>
                  <a:pt x="578643" y="4669"/>
                  <a:pt x="586757" y="9800"/>
                </a:cubicBezTo>
                <a:cubicBezTo>
                  <a:pt x="611489" y="25436"/>
                  <a:pt x="629224" y="58172"/>
                  <a:pt x="633988" y="97013"/>
                </a:cubicBezTo>
                <a:lnTo>
                  <a:pt x="634248" y="97228"/>
                </a:lnTo>
                <a:lnTo>
                  <a:pt x="671541" y="128102"/>
                </a:lnTo>
                <a:cubicBezTo>
                  <a:pt x="681963" y="142654"/>
                  <a:pt x="689970" y="160949"/>
                  <a:pt x="694603" y="181655"/>
                </a:cubicBezTo>
                <a:cubicBezTo>
                  <a:pt x="701336" y="211713"/>
                  <a:pt x="700376" y="244360"/>
                  <a:pt x="691889" y="273436"/>
                </a:cubicBezTo>
                <a:cubicBezTo>
                  <a:pt x="702320" y="293374"/>
                  <a:pt x="709359" y="316266"/>
                  <a:pt x="712748" y="340269"/>
                </a:cubicBezTo>
                <a:lnTo>
                  <a:pt x="712143" y="383032"/>
                </a:lnTo>
                <a:lnTo>
                  <a:pt x="3932" y="383032"/>
                </a:lnTo>
                <a:lnTo>
                  <a:pt x="0" y="349189"/>
                </a:lnTo>
                <a:cubicBezTo>
                  <a:pt x="4037" y="300014"/>
                  <a:pt x="30606" y="261495"/>
                  <a:pt x="63990" y="256426"/>
                </a:cubicBezTo>
                <a:cubicBezTo>
                  <a:pt x="64188" y="255605"/>
                  <a:pt x="64403" y="254802"/>
                  <a:pt x="64602" y="253980"/>
                </a:cubicBezTo>
                <a:cubicBezTo>
                  <a:pt x="60119" y="205555"/>
                  <a:pt x="70574" y="156719"/>
                  <a:pt x="93106" y="120770"/>
                </a:cubicBezTo>
                <a:cubicBezTo>
                  <a:pt x="128707" y="63991"/>
                  <a:pt x="186427" y="51336"/>
                  <a:pt x="231772" y="90337"/>
                </a:cubicBezTo>
                <a:lnTo>
                  <a:pt x="231803" y="90286"/>
                </a:lnTo>
                <a:lnTo>
                  <a:pt x="259379" y="44514"/>
                </a:lnTo>
                <a:cubicBezTo>
                  <a:pt x="292736" y="10587"/>
                  <a:pt x="340039" y="13094"/>
                  <a:pt x="371579" y="58743"/>
                </a:cubicBezTo>
                <a:lnTo>
                  <a:pt x="372077" y="57882"/>
                </a:lnTo>
                <a:lnTo>
                  <a:pt x="393978" y="20026"/>
                </a:lnTo>
                <a:cubicBezTo>
                  <a:pt x="403334" y="10117"/>
                  <a:pt x="414302" y="3500"/>
                  <a:pt x="426056" y="1054"/>
                </a:cubicBezTo>
                <a:cubicBezTo>
                  <a:pt x="438993" y="-1641"/>
                  <a:pt x="451921" y="902"/>
                  <a:pt x="463597" y="7937"/>
                </a:cubicBezTo>
                <a:lnTo>
                  <a:pt x="492748" y="40788"/>
                </a:lnTo>
                <a:lnTo>
                  <a:pt x="493618" y="41769"/>
                </a:lnTo>
                <a:cubicBezTo>
                  <a:pt x="510766" y="12130"/>
                  <a:pt x="536325" y="-2580"/>
                  <a:pt x="561726" y="578"/>
                </a:cubicBezTo>
                <a:close/>
              </a:path>
            </a:pathLst>
          </a:cu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7" name="熊大的PPT宝库86"/>
          <p:cNvSpPr txBox="1"/>
          <p:nvPr/>
        </p:nvSpPr>
        <p:spPr>
          <a:xfrm>
            <a:off x="8321040" y="3694430"/>
            <a:ext cx="647700" cy="184785"/>
          </a:xfrm>
          <a:prstGeom prst="rect">
            <a:avLst/>
          </a:prstGeom>
          <a:no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000000"/>
                </a:solidFill>
                <a:effectLst/>
                <a:uLnTx/>
                <a:uFillTx/>
                <a:cs typeface="+mn-ea"/>
                <a:sym typeface="+mn-lt"/>
              </a:rPr>
              <a:t>PLM</a:t>
            </a:r>
            <a:endParaRPr kumimoji="0" lang="zh-CN" altLang="en-US" sz="1200" b="1" i="0" u="none" strike="noStrike" kern="1200" cap="none" spc="0" normalizeH="0" baseline="0" noProof="0" dirty="0">
              <a:ln>
                <a:noFill/>
              </a:ln>
              <a:solidFill>
                <a:srgbClr val="000000"/>
              </a:solidFill>
              <a:effectLst/>
              <a:uLnTx/>
              <a:uFillTx/>
              <a:cs typeface="+mn-ea"/>
              <a:sym typeface="+mn-lt"/>
            </a:endParaRPr>
          </a:p>
        </p:txBody>
      </p:sp>
      <p:sp>
        <p:nvSpPr>
          <p:cNvPr id="138" name="熊大的PPT宝库87"/>
          <p:cNvSpPr/>
          <p:nvPr/>
        </p:nvSpPr>
        <p:spPr>
          <a:xfrm>
            <a:off x="6336804" y="3565003"/>
            <a:ext cx="597888" cy="402285"/>
          </a:xfrm>
          <a:prstGeom prst="rect">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39" name="熊大的PPT宝库88"/>
          <p:cNvSpPr txBox="1"/>
          <p:nvPr/>
        </p:nvSpPr>
        <p:spPr>
          <a:xfrm>
            <a:off x="6440182" y="3594880"/>
            <a:ext cx="391133" cy="348557"/>
          </a:xfrm>
          <a:prstGeom prst="rect">
            <a:avLst/>
          </a:prstGeom>
          <a:noFill/>
        </p:spPr>
        <p:txBody>
          <a:bodyPr wrap="square" lIns="0" tIns="0" rIns="0" bIns="0" rtlCol="0">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en-US" altLang="zh-CN" sz="900" b="0" i="0" u="none" strike="noStrike" kern="1200" cap="none" spc="0" normalizeH="0" baseline="0" noProof="0" dirty="0">
                <a:ln>
                  <a:noFill/>
                </a:ln>
                <a:solidFill>
                  <a:srgbClr val="000000"/>
                </a:solidFill>
                <a:effectLst/>
                <a:uLnTx/>
                <a:uFillTx/>
                <a:cs typeface="+mn-ea"/>
                <a:sym typeface="+mn-lt"/>
              </a:rPr>
              <a:t>3D/2D</a:t>
            </a:r>
          </a:p>
          <a:p>
            <a:pPr marL="0" marR="0" lvl="0" indent="0" algn="ctr" defTabSz="731520" rtl="0" eaLnBrk="1" fontAlgn="auto" latinLnBrk="0" hangingPunct="1">
              <a:lnSpc>
                <a:spcPct val="130000"/>
              </a:lnSpc>
              <a:spcBef>
                <a:spcPts val="0"/>
              </a:spcBef>
              <a:spcAft>
                <a:spcPts val="0"/>
              </a:spcAft>
              <a:buClrTx/>
              <a:buSzTx/>
              <a:buFontTx/>
              <a:buNone/>
              <a:defRPr/>
            </a:pPr>
            <a:r>
              <a:rPr kumimoji="0" lang="en-US" altLang="zh-CN" sz="900" b="0" i="0" u="none" strike="noStrike" kern="1200" cap="none" spc="0" normalizeH="0" baseline="0" noProof="0" dirty="0">
                <a:ln>
                  <a:noFill/>
                </a:ln>
                <a:solidFill>
                  <a:srgbClr val="000000"/>
                </a:solidFill>
                <a:effectLst/>
                <a:uLnTx/>
                <a:uFillTx/>
                <a:cs typeface="+mn-ea"/>
                <a:sym typeface="+mn-lt"/>
              </a:rPr>
              <a:t>CAD</a:t>
            </a:r>
            <a:endParaRPr kumimoji="0" lang="zh-CN" altLang="en-US" sz="900" b="0" i="0" u="none" strike="noStrike" kern="1200" cap="none" spc="0" normalizeH="0" baseline="0" noProof="0" dirty="0">
              <a:ln>
                <a:noFill/>
              </a:ln>
              <a:solidFill>
                <a:srgbClr val="000000"/>
              </a:solidFill>
              <a:effectLst/>
              <a:uLnTx/>
              <a:uFillTx/>
              <a:cs typeface="+mn-ea"/>
              <a:sym typeface="+mn-lt"/>
            </a:endParaRPr>
          </a:p>
        </p:txBody>
      </p:sp>
      <p:cxnSp>
        <p:nvCxnSpPr>
          <p:cNvPr id="141" name="熊大的PPT宝库89"/>
          <p:cNvCxnSpPr/>
          <p:nvPr/>
        </p:nvCxnSpPr>
        <p:spPr>
          <a:xfrm>
            <a:off x="7037285" y="3777242"/>
            <a:ext cx="10953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2" name="熊大的PPT宝库90"/>
          <p:cNvSpPr txBox="1"/>
          <p:nvPr/>
        </p:nvSpPr>
        <p:spPr>
          <a:xfrm>
            <a:off x="7149214" y="3570075"/>
            <a:ext cx="807913" cy="138499"/>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图纸、技术文件</a:t>
            </a:r>
          </a:p>
        </p:txBody>
      </p:sp>
      <p:sp>
        <p:nvSpPr>
          <p:cNvPr id="143" name="熊大的PPT宝库91"/>
          <p:cNvSpPr txBox="1"/>
          <p:nvPr/>
        </p:nvSpPr>
        <p:spPr>
          <a:xfrm>
            <a:off x="7286701" y="3881482"/>
            <a:ext cx="496931" cy="138499"/>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rgbClr val="000000"/>
                </a:solidFill>
                <a:effectLst/>
                <a:uLnTx/>
                <a:uFillTx/>
                <a:cs typeface="+mn-ea"/>
                <a:sym typeface="+mn-lt"/>
              </a:rPr>
              <a:t>BOM</a:t>
            </a:r>
            <a:r>
              <a:rPr kumimoji="0" lang="zh-CN" altLang="en-US" sz="900" b="0" i="0" u="none" strike="noStrike" kern="1200" cap="none" spc="0" normalizeH="0" baseline="0" noProof="0" dirty="0">
                <a:ln>
                  <a:noFill/>
                </a:ln>
                <a:solidFill>
                  <a:srgbClr val="000000"/>
                </a:solidFill>
                <a:effectLst/>
                <a:uLnTx/>
                <a:uFillTx/>
                <a:cs typeface="+mn-ea"/>
                <a:sym typeface="+mn-lt"/>
              </a:rPr>
              <a:t>结构</a:t>
            </a:r>
          </a:p>
        </p:txBody>
      </p:sp>
      <p:cxnSp>
        <p:nvCxnSpPr>
          <p:cNvPr id="144" name="熊大的PPT宝库92"/>
          <p:cNvCxnSpPr/>
          <p:nvPr/>
        </p:nvCxnSpPr>
        <p:spPr>
          <a:xfrm rot="16200000">
            <a:off x="8155287" y="4368304"/>
            <a:ext cx="79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6" name="熊大的PPT宝库93"/>
          <p:cNvCxnSpPr/>
          <p:nvPr/>
        </p:nvCxnSpPr>
        <p:spPr>
          <a:xfrm rot="5400000" flipH="1" flipV="1">
            <a:off x="7116762" y="3570270"/>
            <a:ext cx="936000" cy="1728000"/>
          </a:xfrm>
          <a:prstGeom prst="bentConnector3">
            <a:avLst>
              <a:gd name="adj1" fmla="val 3088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1" name="熊大的PPT宝库94"/>
          <p:cNvCxnSpPr/>
          <p:nvPr/>
        </p:nvCxnSpPr>
        <p:spPr>
          <a:xfrm rot="16200000" flipH="1" flipV="1">
            <a:off x="7040034" y="3556722"/>
            <a:ext cx="900000" cy="1728000"/>
          </a:xfrm>
          <a:prstGeom prst="bentConnector3">
            <a:avLst>
              <a:gd name="adj1" fmla="val 59260"/>
            </a:avLst>
          </a:prstGeom>
          <a:ln>
            <a:tailEnd type="triangle"/>
          </a:ln>
        </p:spPr>
        <p:style>
          <a:lnRef idx="1">
            <a:schemeClr val="accent1"/>
          </a:lnRef>
          <a:fillRef idx="0">
            <a:schemeClr val="accent1"/>
          </a:fillRef>
          <a:effectRef idx="0">
            <a:schemeClr val="accent1"/>
          </a:effectRef>
          <a:fontRef idx="minor">
            <a:schemeClr val="tx1"/>
          </a:fontRef>
        </p:style>
      </p:cxnSp>
      <p:sp>
        <p:nvSpPr>
          <p:cNvPr id="153" name="熊大的PPT宝库95"/>
          <p:cNvSpPr txBox="1"/>
          <p:nvPr/>
        </p:nvSpPr>
        <p:spPr>
          <a:xfrm>
            <a:off x="7212490" y="4338210"/>
            <a:ext cx="843180" cy="138499"/>
          </a:xfrm>
          <a:prstGeom prst="rect">
            <a:avLst/>
          </a:prstGeom>
          <a:noFill/>
        </p:spPr>
        <p:txBody>
          <a:bodyPr wrap="square" lIns="0" tIns="0" rIns="0" bIns="0">
            <a:no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料品信息、</a:t>
            </a:r>
            <a:r>
              <a:rPr kumimoji="0" lang="en-US" altLang="zh-CN" sz="900" b="0" i="0" u="none" strike="noStrike" kern="1200" cap="none" spc="0" normalizeH="0" baseline="0" noProof="0" dirty="0">
                <a:ln>
                  <a:noFill/>
                </a:ln>
                <a:solidFill>
                  <a:srgbClr val="000000"/>
                </a:solidFill>
                <a:effectLst/>
                <a:uLnTx/>
                <a:uFillTx/>
                <a:cs typeface="+mn-ea"/>
                <a:sym typeface="+mn-lt"/>
              </a:rPr>
              <a:t>BOM</a:t>
            </a:r>
            <a:endParaRPr kumimoji="0" lang="zh-CN" altLang="en-US" sz="900" b="0" i="0" u="none" strike="noStrike" kern="1200" cap="none" spc="0" normalizeH="0" baseline="0" noProof="0" dirty="0">
              <a:ln>
                <a:noFill/>
              </a:ln>
              <a:solidFill>
                <a:srgbClr val="000000"/>
              </a:solidFill>
              <a:effectLst/>
              <a:uLnTx/>
              <a:uFillTx/>
              <a:cs typeface="+mn-ea"/>
              <a:sym typeface="+mn-lt"/>
            </a:endParaRPr>
          </a:p>
        </p:txBody>
      </p:sp>
      <p:grpSp>
        <p:nvGrpSpPr>
          <p:cNvPr id="168" name="熊大的PPT宝库96"/>
          <p:cNvGrpSpPr/>
          <p:nvPr/>
        </p:nvGrpSpPr>
        <p:grpSpPr>
          <a:xfrm>
            <a:off x="9727101" y="3937410"/>
            <a:ext cx="1169473" cy="1169473"/>
            <a:chOff x="9571627" y="3757146"/>
            <a:chExt cx="1507679" cy="1507679"/>
          </a:xfrm>
        </p:grpSpPr>
        <p:sp>
          <p:nvSpPr>
            <p:cNvPr id="154" name="熊大的PPT宝库96-1"/>
            <p:cNvSpPr/>
            <p:nvPr/>
          </p:nvSpPr>
          <p:spPr>
            <a:xfrm>
              <a:off x="9571627" y="3757146"/>
              <a:ext cx="1507679" cy="1507679"/>
            </a:xfrm>
            <a:prstGeom prst="donut">
              <a:avLst>
                <a:gd name="adj" fmla="val 833"/>
              </a:avLst>
            </a:prstGeom>
            <a:gradFill flip="none" rotWithShape="1">
              <a:gsLst>
                <a:gs pos="0">
                  <a:schemeClr val="accent1">
                    <a:lumMod val="20000"/>
                    <a:lumOff val="80000"/>
                  </a:schemeClr>
                </a:gs>
                <a:gs pos="30000">
                  <a:schemeClr val="accent1">
                    <a:lumMod val="20000"/>
                    <a:lumOff val="80000"/>
                    <a:alpha val="0"/>
                  </a:schemeClr>
                </a:gs>
                <a:gs pos="70000">
                  <a:schemeClr val="accent1">
                    <a:lumMod val="20000"/>
                    <a:lumOff val="80000"/>
                    <a:alpha val="0"/>
                  </a:schemeClr>
                </a:gs>
                <a:gs pos="100000">
                  <a:schemeClr val="accent1">
                    <a:lumMod val="20000"/>
                    <a:lumOff val="80000"/>
                  </a:schemeClr>
                </a:gs>
              </a:gsLst>
              <a:lin ang="0" scaled="1"/>
              <a:tileRect/>
            </a:gra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5" name="熊大的PPT宝库96-2"/>
            <p:cNvSpPr/>
            <p:nvPr/>
          </p:nvSpPr>
          <p:spPr>
            <a:xfrm>
              <a:off x="9665857" y="3851376"/>
              <a:ext cx="1319219" cy="1319219"/>
            </a:xfrm>
            <a:prstGeom prst="ellipse">
              <a:avLst/>
            </a:prstGeom>
            <a:solidFill>
              <a:schemeClr val="accent1">
                <a:lumMod val="20000"/>
                <a:lumOff val="80000"/>
                <a:alpha val="2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6" name="熊大的PPT宝库96-3"/>
            <p:cNvSpPr/>
            <p:nvPr/>
          </p:nvSpPr>
          <p:spPr>
            <a:xfrm>
              <a:off x="9760087" y="3945606"/>
              <a:ext cx="1130759" cy="1130759"/>
            </a:xfrm>
            <a:prstGeom prst="ellipse">
              <a:avLst/>
            </a:prstGeom>
            <a:solidFill>
              <a:schemeClr val="accent1">
                <a:lumMod val="20000"/>
                <a:lumOff val="80000"/>
              </a:schemeClr>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7" name="熊大的PPT宝库96-4"/>
            <p:cNvSpPr/>
            <p:nvPr/>
          </p:nvSpPr>
          <p:spPr>
            <a:xfrm>
              <a:off x="10771757" y="3836086"/>
              <a:ext cx="203200" cy="203200"/>
            </a:xfrm>
            <a:prstGeom prst="ellipse">
              <a:avLst/>
            </a:prstGeom>
            <a:solidFill>
              <a:schemeClr val="accent1">
                <a:lumMod val="20000"/>
                <a:lumOff val="80000"/>
              </a:schemeClr>
            </a:solidFill>
            <a:ln w="19050">
              <a:solidFill>
                <a:schemeClr val="accent1">
                  <a:lumMod val="0"/>
                  <a:lumOff val="100000"/>
                </a:schemeClr>
              </a:solidFill>
            </a:ln>
            <a:effectLst>
              <a:outerShdw blurRad="165100" dist="76200" dir="5400000" rotWithShape="0">
                <a:schemeClr val="accent1">
                  <a:lumMod val="20000"/>
                  <a:lumOff val="80000"/>
                  <a:alpha val="40000"/>
                </a:schemeClr>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59" name="熊大的PPT宝库96-5"/>
            <p:cNvSpPr/>
            <p:nvPr/>
          </p:nvSpPr>
          <p:spPr>
            <a:xfrm>
              <a:off x="10771757" y="4926063"/>
              <a:ext cx="203200" cy="203200"/>
            </a:xfrm>
            <a:prstGeom prst="ellipse">
              <a:avLst/>
            </a:prstGeom>
            <a:solidFill>
              <a:schemeClr val="accent1">
                <a:lumMod val="20000"/>
                <a:lumOff val="80000"/>
              </a:schemeClr>
            </a:solidFill>
            <a:ln w="19050">
              <a:solidFill>
                <a:schemeClr val="accent1">
                  <a:lumMod val="0"/>
                  <a:lumOff val="100000"/>
                </a:schemeClr>
              </a:solidFill>
            </a:ln>
            <a:effectLst>
              <a:outerShdw blurRad="165100" dist="76200" dir="5400000" rotWithShape="0">
                <a:schemeClr val="accent1">
                  <a:lumMod val="20000"/>
                  <a:lumOff val="80000"/>
                  <a:alpha val="40000"/>
                </a:schemeClr>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60" name="熊大的PPT宝库96-6"/>
            <p:cNvSpPr/>
            <p:nvPr/>
          </p:nvSpPr>
          <p:spPr>
            <a:xfrm>
              <a:off x="9691421" y="3836086"/>
              <a:ext cx="203200" cy="203200"/>
            </a:xfrm>
            <a:prstGeom prst="ellipse">
              <a:avLst/>
            </a:prstGeom>
            <a:solidFill>
              <a:schemeClr val="accent1">
                <a:lumMod val="20000"/>
                <a:lumOff val="80000"/>
              </a:schemeClr>
            </a:solidFill>
            <a:ln w="19050">
              <a:solidFill>
                <a:schemeClr val="accent1">
                  <a:lumMod val="0"/>
                  <a:lumOff val="100000"/>
                </a:schemeClr>
              </a:solidFill>
            </a:ln>
            <a:effectLst>
              <a:outerShdw blurRad="165100" dist="76200" dir="5400000" rotWithShape="0">
                <a:schemeClr val="accent1">
                  <a:lumMod val="20000"/>
                  <a:lumOff val="80000"/>
                  <a:alpha val="40000"/>
                </a:schemeClr>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61" name="熊大的PPT宝库96-7"/>
            <p:cNvSpPr/>
            <p:nvPr/>
          </p:nvSpPr>
          <p:spPr>
            <a:xfrm>
              <a:off x="9691421" y="4926063"/>
              <a:ext cx="203200" cy="203200"/>
            </a:xfrm>
            <a:prstGeom prst="ellipse">
              <a:avLst/>
            </a:prstGeom>
            <a:solidFill>
              <a:schemeClr val="accent1">
                <a:lumMod val="20000"/>
                <a:lumOff val="80000"/>
              </a:schemeClr>
            </a:solidFill>
            <a:ln w="19050">
              <a:solidFill>
                <a:schemeClr val="accent1">
                  <a:lumMod val="0"/>
                  <a:lumOff val="100000"/>
                </a:schemeClr>
              </a:solidFill>
            </a:ln>
            <a:effectLst>
              <a:outerShdw blurRad="165100" dist="76200" dir="5400000" rotWithShape="0">
                <a:schemeClr val="accent1">
                  <a:lumMod val="20000"/>
                  <a:lumOff val="80000"/>
                  <a:alpha val="40000"/>
                </a:schemeClr>
              </a:outerShdw>
            </a:effectLst>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pSp>
      <p:sp>
        <p:nvSpPr>
          <p:cNvPr id="170" name="熊大的PPT宝库97"/>
          <p:cNvSpPr txBox="1"/>
          <p:nvPr/>
        </p:nvSpPr>
        <p:spPr>
          <a:xfrm>
            <a:off x="9029572" y="3743848"/>
            <a:ext cx="1018856" cy="169277"/>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应用数智化技术</a:t>
            </a:r>
            <a:endParaRPr kumimoji="0" lang="en-US" altLang="zh-CN" sz="1100" b="0" i="0" u="none" strike="noStrike" kern="1200" cap="none" spc="0" normalizeH="0" baseline="0" noProof="0" dirty="0">
              <a:ln>
                <a:noFill/>
              </a:ln>
              <a:solidFill>
                <a:srgbClr val="000000"/>
              </a:solidFill>
              <a:effectLst/>
              <a:uLnTx/>
              <a:uFillTx/>
              <a:cs typeface="+mn-ea"/>
              <a:sym typeface="+mn-lt"/>
            </a:endParaRPr>
          </a:p>
        </p:txBody>
      </p:sp>
      <p:sp>
        <p:nvSpPr>
          <p:cNvPr id="172" name="熊大的PPT宝库98"/>
          <p:cNvSpPr txBox="1"/>
          <p:nvPr/>
        </p:nvSpPr>
        <p:spPr>
          <a:xfrm>
            <a:off x="9029572" y="3925089"/>
            <a:ext cx="616588" cy="369332"/>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执行自动化、智能数据分析及</a:t>
            </a:r>
            <a:r>
              <a:rPr kumimoji="0" lang="en-US" altLang="zh-CN" sz="800" b="0" i="0" u="none" strike="noStrike" kern="1200" cap="none" spc="0" normalizeH="0" baseline="0" noProof="0" dirty="0">
                <a:ln>
                  <a:noFill/>
                </a:ln>
                <a:solidFill>
                  <a:srgbClr val="000000"/>
                </a:solidFill>
                <a:effectLst/>
                <a:uLnTx/>
                <a:uFillTx/>
                <a:cs typeface="+mn-ea"/>
                <a:sym typeface="+mn-lt"/>
              </a:rPr>
              <a:t>AI</a:t>
            </a:r>
            <a:r>
              <a:rPr kumimoji="0" lang="zh-CN" altLang="en-US" sz="800" b="0" i="0" u="none" strike="noStrike" kern="1200" cap="none" spc="0" normalizeH="0" baseline="0" noProof="0" dirty="0">
                <a:ln>
                  <a:noFill/>
                </a:ln>
                <a:solidFill>
                  <a:srgbClr val="000000"/>
                </a:solidFill>
                <a:effectLst/>
                <a:uLnTx/>
                <a:uFillTx/>
                <a:cs typeface="+mn-ea"/>
                <a:sym typeface="+mn-lt"/>
              </a:rPr>
              <a:t>有效使用</a:t>
            </a:r>
          </a:p>
        </p:txBody>
      </p:sp>
      <p:sp>
        <p:nvSpPr>
          <p:cNvPr id="173" name="熊大的PPT宝库99"/>
          <p:cNvSpPr/>
          <p:nvPr/>
        </p:nvSpPr>
        <p:spPr>
          <a:xfrm>
            <a:off x="9958059" y="4168368"/>
            <a:ext cx="707557" cy="707557"/>
          </a:xfrm>
          <a:prstGeom prst="ellipse">
            <a:avLst/>
          </a:prstGeom>
          <a:solidFill>
            <a:schemeClr val="accent1"/>
          </a:solidFill>
          <a:ln>
            <a:noFill/>
          </a:ln>
        </p:spPr>
        <p:txBody>
          <a:bodyPr wrap="squar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77" name="熊大的PPT宝库100"/>
          <p:cNvSpPr txBox="1"/>
          <p:nvPr/>
        </p:nvSpPr>
        <p:spPr>
          <a:xfrm>
            <a:off x="9977508" y="4319605"/>
            <a:ext cx="673261" cy="323165"/>
          </a:xfrm>
          <a:prstGeom prst="rect">
            <a:avLst/>
          </a:prstGeom>
          <a:noFill/>
        </p:spPr>
        <p:txBody>
          <a:bodyPr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FFFFFF"/>
                </a:solidFill>
                <a:effectLst/>
                <a:uLnTx/>
                <a:uFillTx/>
                <a:cs typeface="+mn-ea"/>
                <a:sym typeface="+mn-lt"/>
              </a:rPr>
              <a:t>数字化</a:t>
            </a:r>
            <a:endParaRPr kumimoji="0" lang="en-US" altLang="zh-CN" sz="1050" b="1"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FFFFFF"/>
                </a:solidFill>
                <a:effectLst/>
                <a:uLnTx/>
                <a:uFillTx/>
                <a:cs typeface="+mn-ea"/>
                <a:sym typeface="+mn-lt"/>
              </a:rPr>
              <a:t>供应链运营</a:t>
            </a:r>
          </a:p>
        </p:txBody>
      </p:sp>
      <p:sp>
        <p:nvSpPr>
          <p:cNvPr id="179" name="熊大的PPT宝库101"/>
          <p:cNvSpPr txBox="1"/>
          <p:nvPr/>
        </p:nvSpPr>
        <p:spPr>
          <a:xfrm>
            <a:off x="11036750" y="3750906"/>
            <a:ext cx="564257" cy="169277"/>
          </a:xfrm>
          <a:prstGeom prst="rect">
            <a:avLst/>
          </a:prstGeom>
          <a:noFill/>
        </p:spPr>
        <p:txBody>
          <a:bodyPr wrap="square" lIns="0" tIns="0" rIns="0" bIns="0">
            <a:no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专业人才</a:t>
            </a:r>
            <a:endParaRPr kumimoji="0" lang="zh-CN" altLang="en-US" sz="800" b="0" i="0" u="none" strike="noStrike" kern="1200" cap="none" spc="0" normalizeH="0" baseline="0" noProof="0" dirty="0">
              <a:ln>
                <a:noFill/>
              </a:ln>
              <a:solidFill>
                <a:srgbClr val="000000"/>
              </a:solidFill>
              <a:effectLst/>
              <a:uLnTx/>
              <a:uFillTx/>
              <a:cs typeface="+mn-ea"/>
              <a:sym typeface="+mn-lt"/>
            </a:endParaRPr>
          </a:p>
        </p:txBody>
      </p:sp>
      <p:sp>
        <p:nvSpPr>
          <p:cNvPr id="180" name="熊大的PPT宝库102"/>
          <p:cNvSpPr txBox="1"/>
          <p:nvPr/>
        </p:nvSpPr>
        <p:spPr>
          <a:xfrm>
            <a:off x="10864675" y="3920183"/>
            <a:ext cx="736332" cy="250901"/>
          </a:xfrm>
          <a:prstGeom prst="rect">
            <a:avLst/>
          </a:prstGeom>
          <a:noFill/>
        </p:spPr>
        <p:txBody>
          <a:bodyPr wrap="square" lIns="0" tIns="0" rIns="0" bIns="0">
            <a:no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数字化运营人才储备</a:t>
            </a:r>
          </a:p>
        </p:txBody>
      </p:sp>
      <p:sp>
        <p:nvSpPr>
          <p:cNvPr id="182" name="熊大的PPT宝库103"/>
          <p:cNvSpPr txBox="1"/>
          <p:nvPr/>
        </p:nvSpPr>
        <p:spPr>
          <a:xfrm>
            <a:off x="10929917" y="4581233"/>
            <a:ext cx="671090" cy="169277"/>
          </a:xfrm>
          <a:prstGeom prst="rect">
            <a:avLst/>
          </a:prstGeom>
          <a:noFill/>
        </p:spPr>
        <p:txBody>
          <a:bodyPr wrap="square" lIns="0" tIns="0" rIns="0" bIns="0">
            <a:no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数据洞察</a:t>
            </a:r>
            <a:endParaRPr kumimoji="0" lang="zh-CN" altLang="en-US" sz="800" b="0" i="0" u="none" strike="noStrike" kern="1200" cap="none" spc="0" normalizeH="0" baseline="0" noProof="0" dirty="0">
              <a:ln>
                <a:noFill/>
              </a:ln>
              <a:solidFill>
                <a:srgbClr val="000000"/>
              </a:solidFill>
              <a:effectLst/>
              <a:uLnTx/>
              <a:uFillTx/>
              <a:cs typeface="+mn-ea"/>
              <a:sym typeface="+mn-lt"/>
            </a:endParaRPr>
          </a:p>
        </p:txBody>
      </p:sp>
      <p:sp>
        <p:nvSpPr>
          <p:cNvPr id="183" name="熊大的PPT宝库104"/>
          <p:cNvSpPr txBox="1"/>
          <p:nvPr/>
        </p:nvSpPr>
        <p:spPr>
          <a:xfrm>
            <a:off x="10929917" y="4750510"/>
            <a:ext cx="671090" cy="615553"/>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对运营生态系统内外产生的结构化</a:t>
            </a:r>
            <a:r>
              <a:rPr kumimoji="0" lang="en-US" altLang="zh-CN" sz="800" b="0" i="0" u="none" strike="noStrike" kern="1200" cap="none" spc="0" normalizeH="0" baseline="0" noProof="0" dirty="0">
                <a:ln>
                  <a:noFill/>
                </a:ln>
                <a:solidFill>
                  <a:srgbClr val="000000"/>
                </a:solidFill>
                <a:effectLst/>
                <a:uLnTx/>
                <a:uFillTx/>
                <a:cs typeface="+mn-ea"/>
                <a:sym typeface="+mn-lt"/>
              </a:rPr>
              <a:t>/</a:t>
            </a:r>
            <a:r>
              <a:rPr kumimoji="0" lang="zh-CN" altLang="en-US" sz="800" b="0" i="0" u="none" strike="noStrike" kern="1200" cap="none" spc="0" normalizeH="0" baseline="0" noProof="0" dirty="0">
                <a:ln>
                  <a:noFill/>
                </a:ln>
                <a:solidFill>
                  <a:srgbClr val="000000"/>
                </a:solidFill>
                <a:effectLst/>
                <a:uLnTx/>
                <a:uFillTx/>
                <a:cs typeface="+mn-ea"/>
                <a:sym typeface="+mn-lt"/>
              </a:rPr>
              <a:t>非结构化数据，进行深入洞察云</a:t>
            </a:r>
          </a:p>
        </p:txBody>
      </p:sp>
      <p:sp>
        <p:nvSpPr>
          <p:cNvPr id="185" name="熊大的PPT宝库105"/>
          <p:cNvSpPr txBox="1"/>
          <p:nvPr/>
        </p:nvSpPr>
        <p:spPr>
          <a:xfrm>
            <a:off x="9029572" y="4581233"/>
            <a:ext cx="632286" cy="169277"/>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000000"/>
                </a:solidFill>
                <a:effectLst/>
                <a:uLnTx/>
                <a:uFillTx/>
                <a:cs typeface="+mn-ea"/>
                <a:sym typeface="+mn-lt"/>
              </a:rPr>
              <a:t>云赋能</a:t>
            </a:r>
            <a:endParaRPr kumimoji="0" lang="zh-CN" altLang="en-US" sz="800" b="0" i="0" u="none" strike="noStrike" kern="1200" cap="none" spc="0" normalizeH="0" baseline="0" noProof="0" dirty="0">
              <a:ln>
                <a:noFill/>
              </a:ln>
              <a:solidFill>
                <a:srgbClr val="000000"/>
              </a:solidFill>
              <a:effectLst/>
              <a:uLnTx/>
              <a:uFillTx/>
              <a:cs typeface="+mn-ea"/>
              <a:sym typeface="+mn-lt"/>
            </a:endParaRPr>
          </a:p>
        </p:txBody>
      </p:sp>
      <p:sp>
        <p:nvSpPr>
          <p:cNvPr id="186" name="熊大的PPT宝库106"/>
          <p:cNvSpPr txBox="1"/>
          <p:nvPr/>
        </p:nvSpPr>
        <p:spPr>
          <a:xfrm>
            <a:off x="9029572" y="4750510"/>
            <a:ext cx="632286" cy="738664"/>
          </a:xfrm>
          <a:prstGeom prst="rect">
            <a:avLst/>
          </a:prstGeom>
          <a:noFill/>
        </p:spPr>
        <p:txBody>
          <a:bodyPr wrap="square" lIns="0" tIns="0" rIns="0" bIns="0">
            <a:noAutofit/>
          </a:bodyP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000000"/>
                </a:solidFill>
                <a:effectLst/>
                <a:uLnTx/>
                <a:uFillTx/>
                <a:cs typeface="+mn-ea"/>
                <a:sym typeface="+mn-lt"/>
              </a:rPr>
              <a:t>应用云计算将供应链运营所有要素集成，并基于海量数据进行洞察和决策</a:t>
            </a: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熊大的PPT宝库1"/>
          <p:cNvSpPr/>
          <p:nvPr/>
        </p:nvSpPr>
        <p:spPr>
          <a:xfrm>
            <a:off x="1636601" y="6086394"/>
            <a:ext cx="2327227" cy="394692"/>
          </a:xfrm>
          <a:prstGeom prst="roundRect">
            <a:avLst>
              <a:gd name="adj" fmla="val 50000"/>
            </a:avLst>
          </a:prstGeom>
          <a:solidFill>
            <a:schemeClr val="accent1">
              <a:lumMod val="20000"/>
              <a:lumOff val="80000"/>
            </a:schemeClr>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 name="熊大的PPT宝库2"/>
          <p:cNvSpPr txBox="1"/>
          <p:nvPr/>
        </p:nvSpPr>
        <p:spPr>
          <a:xfrm>
            <a:off x="348830" y="216968"/>
            <a:ext cx="3877985"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供应链数字化新基建</a:t>
            </a:r>
          </a:p>
        </p:txBody>
      </p:sp>
      <p:sp>
        <p:nvSpPr>
          <p:cNvPr id="4" name="熊大的PPT宝库4"/>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
        <p:nvSpPr>
          <p:cNvPr id="6" name="熊大的PPT宝库5"/>
          <p:cNvSpPr/>
          <p:nvPr/>
        </p:nvSpPr>
        <p:spPr>
          <a:xfrm>
            <a:off x="434974" y="1600200"/>
            <a:ext cx="11302677" cy="292100"/>
          </a:xfrm>
          <a:prstGeom prst="rightArrow">
            <a:avLst/>
          </a:prstGeom>
          <a:solidFill>
            <a:schemeClr val="accent1"/>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 name="熊大的PPT宝库6"/>
          <p:cNvSpPr txBox="1"/>
          <p:nvPr/>
        </p:nvSpPr>
        <p:spPr>
          <a:xfrm>
            <a:off x="1403850" y="1010728"/>
            <a:ext cx="1714700" cy="276999"/>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cs typeface="+mn-ea"/>
                <a:sym typeface="+mn-lt"/>
              </a:rPr>
              <a:t>STEP1:入局起盘</a:t>
            </a:r>
          </a:p>
        </p:txBody>
      </p:sp>
      <p:sp>
        <p:nvSpPr>
          <p:cNvPr id="10" name="熊大的PPT宝库7"/>
          <p:cNvSpPr txBox="1"/>
          <p:nvPr/>
        </p:nvSpPr>
        <p:spPr>
          <a:xfrm>
            <a:off x="5255382" y="1010728"/>
            <a:ext cx="1722972" cy="276999"/>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cs typeface="+mn-ea"/>
                <a:sym typeface="+mn-lt"/>
              </a:rPr>
              <a:t>STEP2:扩大声量</a:t>
            </a:r>
          </a:p>
        </p:txBody>
      </p:sp>
      <p:sp>
        <p:nvSpPr>
          <p:cNvPr id="12" name="熊大的PPT宝库8"/>
          <p:cNvSpPr txBox="1"/>
          <p:nvPr/>
        </p:nvSpPr>
        <p:spPr>
          <a:xfrm>
            <a:off x="8995606" y="1010728"/>
            <a:ext cx="1722972" cy="276999"/>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cs typeface="+mn-ea"/>
                <a:sym typeface="+mn-lt"/>
              </a:rPr>
              <a:t>STEP3:矩阵放大</a:t>
            </a:r>
          </a:p>
        </p:txBody>
      </p:sp>
      <p:sp>
        <p:nvSpPr>
          <p:cNvPr id="21" name="熊大的PPT宝库9"/>
          <p:cNvSpPr txBox="1"/>
          <p:nvPr/>
        </p:nvSpPr>
        <p:spPr>
          <a:xfrm>
            <a:off x="11144984" y="3308442"/>
            <a:ext cx="592667" cy="2271105"/>
          </a:xfrm>
          <a:prstGeom prst="rect">
            <a:avLst/>
          </a:prstGeom>
          <a:noFill/>
        </p:spPr>
        <p:txBody>
          <a:bodyPr vert="eaVert" wrap="square" lIns="0" tIns="0" rIns="0" bIns="0">
            <a:normAutofit fontScale="92500"/>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329D"/>
                </a:solidFill>
                <a:effectLst/>
                <a:uLnTx/>
                <a:uFillTx/>
                <a:cs typeface="+mn-ea"/>
                <a:sym typeface="+mn-lt"/>
              </a:rPr>
              <a:t>全渠道投放大直播流量日不落直播矩阵搭建</a:t>
            </a:r>
          </a:p>
        </p:txBody>
      </p:sp>
      <p:sp>
        <p:nvSpPr>
          <p:cNvPr id="22" name="熊大的PPT宝库10"/>
          <p:cNvSpPr txBox="1"/>
          <p:nvPr/>
        </p:nvSpPr>
        <p:spPr>
          <a:xfrm>
            <a:off x="1907342" y="6160630"/>
            <a:ext cx="1785745" cy="246221"/>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口碑</a:t>
            </a:r>
            <a:r>
              <a:rPr kumimoji="0" lang="en-US" altLang="zh-CN" sz="1600" b="1" i="0" u="none" strike="noStrike" kern="1200" cap="none" spc="0" normalizeH="0" baseline="0" noProof="0" dirty="0">
                <a:ln>
                  <a:noFill/>
                </a:ln>
                <a:solidFill>
                  <a:srgbClr val="000000"/>
                </a:solidFill>
                <a:effectLst/>
                <a:uLnTx/>
                <a:uFillTx/>
                <a:cs typeface="+mn-ea"/>
                <a:sym typeface="+mn-lt"/>
              </a:rPr>
              <a:t>+</a:t>
            </a:r>
            <a:r>
              <a:rPr kumimoji="0" lang="zh-CN" altLang="en-US" sz="1600" b="1" i="0" u="none" strike="noStrike" kern="1200" cap="none" spc="0" normalizeH="0" baseline="0" noProof="0" dirty="0">
                <a:ln>
                  <a:noFill/>
                </a:ln>
                <a:solidFill>
                  <a:srgbClr val="000000"/>
                </a:solidFill>
                <a:effectLst/>
                <a:uLnTx/>
                <a:uFillTx/>
                <a:cs typeface="+mn-ea"/>
                <a:sym typeface="+mn-lt"/>
              </a:rPr>
              <a:t>人群资产沉淀</a:t>
            </a:r>
          </a:p>
        </p:txBody>
      </p:sp>
      <p:sp>
        <p:nvSpPr>
          <p:cNvPr id="23" name="熊大的PPT宝库11"/>
          <p:cNvSpPr txBox="1"/>
          <p:nvPr/>
        </p:nvSpPr>
        <p:spPr>
          <a:xfrm>
            <a:off x="4929014" y="5989248"/>
            <a:ext cx="2396490" cy="21544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提升用户心智，提供意向人群</a:t>
            </a:r>
          </a:p>
        </p:txBody>
      </p:sp>
      <p:sp>
        <p:nvSpPr>
          <p:cNvPr id="24" name="熊大的PPT宝库12"/>
          <p:cNvSpPr txBox="1"/>
          <p:nvPr/>
        </p:nvSpPr>
        <p:spPr>
          <a:xfrm>
            <a:off x="4739789" y="6377737"/>
            <a:ext cx="2765181" cy="215444"/>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329D"/>
                </a:solidFill>
                <a:effectLst/>
                <a:uLnTx/>
                <a:uFillTx/>
                <a:cs typeface="+mn-ea"/>
                <a:sym typeface="+mn-lt"/>
              </a:rPr>
              <a:t>自营直播转化，反馈受众群体画像</a:t>
            </a:r>
          </a:p>
        </p:txBody>
      </p:sp>
      <p:sp>
        <p:nvSpPr>
          <p:cNvPr id="26" name="熊大的PPT宝库13"/>
          <p:cNvSpPr/>
          <p:nvPr/>
        </p:nvSpPr>
        <p:spPr>
          <a:xfrm>
            <a:off x="984650" y="1292840"/>
            <a:ext cx="2556000" cy="875270"/>
          </a:xfrm>
          <a:prstGeom prst="roundRect">
            <a:avLst/>
          </a:prstGeom>
          <a:solidFill>
            <a:schemeClr val="accent1"/>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7" name="熊大的PPT宝库14"/>
          <p:cNvSpPr/>
          <p:nvPr/>
        </p:nvSpPr>
        <p:spPr>
          <a:xfrm>
            <a:off x="4818000" y="1292840"/>
            <a:ext cx="2556000" cy="875270"/>
          </a:xfrm>
          <a:prstGeom prst="roundRect">
            <a:avLst/>
          </a:prstGeom>
          <a:solidFill>
            <a:schemeClr val="accent1">
              <a:lumMod val="20000"/>
              <a:lumOff val="80000"/>
            </a:schemeClr>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8" name="熊大的PPT宝库15"/>
          <p:cNvSpPr/>
          <p:nvPr/>
        </p:nvSpPr>
        <p:spPr>
          <a:xfrm>
            <a:off x="8481025" y="1292840"/>
            <a:ext cx="2556000" cy="875270"/>
          </a:xfrm>
          <a:prstGeom prst="roundRect">
            <a:avLst/>
          </a:prstGeom>
          <a:solidFill>
            <a:schemeClr val="accent1"/>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14" name="熊大的PPT宝库16"/>
          <p:cNvSpPr txBox="1"/>
          <p:nvPr/>
        </p:nvSpPr>
        <p:spPr>
          <a:xfrm>
            <a:off x="1195050" y="1453476"/>
            <a:ext cx="2135200" cy="553998"/>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cs typeface="+mn-ea"/>
                <a:sym typeface="+mn-lt"/>
              </a:rPr>
              <a:t>Top KOL</a:t>
            </a:r>
            <a:endParaRPr kumimoji="0" lang="en-US" altLang="zh-CN" sz="1800" b="1"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cs typeface="+mn-ea"/>
                <a:sym typeface="+mn-lt"/>
              </a:rPr>
              <a:t>头肩部达人直播起盘</a:t>
            </a:r>
          </a:p>
        </p:txBody>
      </p:sp>
      <p:sp>
        <p:nvSpPr>
          <p:cNvPr id="16" name="熊大的PPT宝库17"/>
          <p:cNvSpPr txBox="1"/>
          <p:nvPr/>
        </p:nvSpPr>
        <p:spPr>
          <a:xfrm>
            <a:off x="5052958" y="1453476"/>
            <a:ext cx="2003754" cy="553998"/>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329D"/>
                </a:solidFill>
                <a:effectLst/>
                <a:uLnTx/>
                <a:uFillTx/>
                <a:cs typeface="+mn-ea"/>
                <a:sym typeface="+mn-lt"/>
              </a:rPr>
              <a:t>Content腰尾部达人</a:t>
            </a:r>
            <a:endParaRPr kumimoji="0" lang="en-US" altLang="zh-CN" sz="1800" b="1"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329D"/>
                </a:solidFill>
                <a:effectLst/>
                <a:uLnTx/>
                <a:uFillTx/>
                <a:cs typeface="+mn-ea"/>
                <a:sym typeface="+mn-lt"/>
              </a:rPr>
              <a:t>短视频扩量</a:t>
            </a:r>
          </a:p>
        </p:txBody>
      </p:sp>
      <p:sp>
        <p:nvSpPr>
          <p:cNvPr id="18" name="熊大的PPT宝库18"/>
          <p:cNvSpPr txBox="1"/>
          <p:nvPr/>
        </p:nvSpPr>
        <p:spPr>
          <a:xfrm>
            <a:off x="8808156" y="1453476"/>
            <a:ext cx="1901738" cy="553998"/>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cs typeface="+mn-ea"/>
                <a:sym typeface="+mn-lt"/>
              </a:rPr>
              <a:t>Cooperate等比例</a:t>
            </a:r>
            <a:endParaRPr kumimoji="0" lang="en-US" altLang="zh-CN" sz="1800" b="1" i="0" u="none" strike="noStrike" kern="1200" cap="none" spc="0" normalizeH="0" baseline="0" noProof="0" dirty="0">
              <a:ln>
                <a:noFill/>
              </a:ln>
              <a:solidFill>
                <a:srgbClr val="FFFFFF"/>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cs typeface="+mn-ea"/>
                <a:sym typeface="+mn-lt"/>
              </a:rPr>
              <a:t>矩阵放大增量翻倍</a:t>
            </a:r>
          </a:p>
        </p:txBody>
      </p:sp>
      <p:sp>
        <p:nvSpPr>
          <p:cNvPr id="29" name="熊大的PPT宝库19"/>
          <p:cNvSpPr txBox="1"/>
          <p:nvPr/>
        </p:nvSpPr>
        <p:spPr>
          <a:xfrm>
            <a:off x="416249" y="3346928"/>
            <a:ext cx="548617" cy="2271105"/>
          </a:xfrm>
          <a:prstGeom prst="rect">
            <a:avLst/>
          </a:prstGeom>
          <a:noFill/>
        </p:spPr>
        <p:txBody>
          <a:bodyPr vert="eaVert" wrap="square" lIns="0" tIns="0" rIns="0" bIns="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329D"/>
                </a:solidFill>
                <a:effectLst/>
                <a:uLnTx/>
                <a:uFillTx/>
                <a:cs typeface="+mn-ea"/>
                <a:sym typeface="+mn-lt"/>
              </a:rPr>
              <a:t>借助达人多内容形式种草</a:t>
            </a:r>
            <a:endParaRPr kumimoji="0" lang="en-US" altLang="zh-CN" sz="1600" b="1" i="0" u="none" strike="noStrike" kern="1200" cap="none" spc="0" normalizeH="0" baseline="0" noProof="0" dirty="0">
              <a:ln>
                <a:noFill/>
              </a:ln>
              <a:solidFill>
                <a:srgbClr val="00329D"/>
              </a:solidFill>
              <a:effectLst/>
              <a:uLnTx/>
              <a:uFillTx/>
              <a:cs typeface="+mn-ea"/>
              <a:sym typeface="+mn-lt"/>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329D"/>
                </a:solidFill>
                <a:effectLst/>
                <a:uLnTx/>
                <a:uFillTx/>
                <a:cs typeface="+mn-ea"/>
                <a:sym typeface="+mn-lt"/>
              </a:rPr>
              <a:t>明确受众消费者心智</a:t>
            </a:r>
          </a:p>
        </p:txBody>
      </p:sp>
      <p:sp>
        <p:nvSpPr>
          <p:cNvPr id="30" name="熊大的PPT宝库20"/>
          <p:cNvSpPr/>
          <p:nvPr/>
        </p:nvSpPr>
        <p:spPr>
          <a:xfrm>
            <a:off x="3846492" y="2302035"/>
            <a:ext cx="4505054" cy="3579316"/>
          </a:xfrm>
          <a:prstGeom prst="ellipse">
            <a:avLst/>
          </a:prstGeom>
          <a:noFill/>
          <a:ln>
            <a:gradFill>
              <a:gsLst>
                <a:gs pos="0">
                  <a:schemeClr val="accent1">
                    <a:alpha val="0"/>
                  </a:schemeClr>
                </a:gs>
                <a:gs pos="66000">
                  <a:schemeClr val="accent1">
                    <a:alpha val="0"/>
                  </a:schemeClr>
                </a:gs>
                <a:gs pos="83000">
                  <a:schemeClr val="accent1"/>
                </a:gs>
                <a:gs pos="34000">
                  <a:schemeClr val="accent1">
                    <a:alpha val="0"/>
                  </a:schemeClr>
                </a:gs>
                <a:gs pos="17000">
                  <a:schemeClr val="accent1"/>
                </a:gs>
                <a:gs pos="100000">
                  <a:schemeClr val="accent1">
                    <a:alpha val="0"/>
                  </a:schemeClr>
                </a:gs>
              </a:gsLst>
              <a:lin ang="5400000" scaled="1"/>
            </a:gradFill>
            <a:prstDash val="sys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cs typeface="+mn-ea"/>
                <a:sym typeface="+mn-lt"/>
              </a:rPr>
              <a:t>50</a:t>
            </a: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1" name="熊大的PPT宝库21"/>
          <p:cNvSpPr/>
          <p:nvPr/>
        </p:nvSpPr>
        <p:spPr>
          <a:xfrm flipV="1">
            <a:off x="7522045" y="1384441"/>
            <a:ext cx="3186000" cy="5472000"/>
          </a:xfrm>
          <a:custGeom>
            <a:avLst/>
            <a:gdLst>
              <a:gd name="connsiteX0" fmla="*/ 1734610 w 1734610"/>
              <a:gd name="connsiteY0" fmla="*/ 3581470 h 3581470"/>
              <a:gd name="connsiteX1" fmla="*/ 1709869 w 1734610"/>
              <a:gd name="connsiteY1" fmla="*/ 3452669 h 3581470"/>
              <a:gd name="connsiteX2" fmla="*/ 159716 w 1734610"/>
              <a:gd name="connsiteY2" fmla="*/ 2339118 h 3581470"/>
              <a:gd name="connsiteX3" fmla="*/ 0 w 1734610"/>
              <a:gd name="connsiteY3" fmla="*/ 2332710 h 3581470"/>
              <a:gd name="connsiteX4" fmla="*/ 0 w 1734610"/>
              <a:gd name="connsiteY4" fmla="*/ 1248760 h 3581470"/>
              <a:gd name="connsiteX5" fmla="*/ 159716 w 1734610"/>
              <a:gd name="connsiteY5" fmla="*/ 1242352 h 3581470"/>
              <a:gd name="connsiteX6" fmla="*/ 1709869 w 1734610"/>
              <a:gd name="connsiteY6" fmla="*/ 128801 h 3581470"/>
              <a:gd name="connsiteX7" fmla="*/ 1734610 w 1734610"/>
              <a:gd name="connsiteY7" fmla="*/ 0 h 3581470"/>
              <a:gd name="connsiteX8" fmla="*/ 1734610 w 1734610"/>
              <a:gd name="connsiteY8" fmla="*/ 3581470 h 358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34610" h="3581470">
                <a:moveTo>
                  <a:pt x="1734610" y="3581470"/>
                </a:moveTo>
                <a:lnTo>
                  <a:pt x="1709869" y="3452669"/>
                </a:lnTo>
                <a:cubicBezTo>
                  <a:pt x="1556900" y="2858720"/>
                  <a:pt x="931793" y="2401417"/>
                  <a:pt x="159716" y="2339118"/>
                </a:cubicBezTo>
                <a:lnTo>
                  <a:pt x="0" y="2332710"/>
                </a:lnTo>
                <a:lnTo>
                  <a:pt x="0" y="1248760"/>
                </a:lnTo>
                <a:lnTo>
                  <a:pt x="159716" y="1242352"/>
                </a:lnTo>
                <a:cubicBezTo>
                  <a:pt x="931793" y="1180053"/>
                  <a:pt x="1556900" y="722750"/>
                  <a:pt x="1709869" y="128801"/>
                </a:cubicBezTo>
                <a:lnTo>
                  <a:pt x="1734610" y="0"/>
                </a:lnTo>
                <a:lnTo>
                  <a:pt x="1734610" y="3581470"/>
                </a:lnTo>
                <a:close/>
              </a:path>
            </a:pathLst>
          </a:custGeom>
          <a:gradFill>
            <a:gsLst>
              <a:gs pos="0">
                <a:schemeClr val="accent1">
                  <a:alpha val="20000"/>
                </a:schemeClr>
              </a:gs>
              <a:gs pos="100000">
                <a:schemeClr val="accent1">
                  <a:alpha val="0"/>
                </a:schemeClr>
              </a:gs>
            </a:gsLst>
            <a:lin ang="0" scaled="0"/>
          </a:gradFill>
          <a:ln>
            <a:noFill/>
          </a:ln>
        </p:spPr>
        <p:style>
          <a:lnRef idx="1">
            <a:schemeClr val="accent1"/>
          </a:lnRef>
          <a:fillRef idx="0">
            <a:schemeClr val="accent1"/>
          </a:fillRef>
          <a:effectRef idx="0">
            <a:schemeClr val="accent1"/>
          </a:effectRef>
          <a:fontRef idx="minor">
            <a:schemeClr val="tx1"/>
          </a:fontRef>
        </p:style>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32" name="熊大的PPT宝库22"/>
          <p:cNvSpPr/>
          <p:nvPr/>
        </p:nvSpPr>
        <p:spPr>
          <a:xfrm flipH="1" flipV="1">
            <a:off x="1112908" y="1384440"/>
            <a:ext cx="3376111" cy="5473559"/>
          </a:xfrm>
          <a:custGeom>
            <a:avLst/>
            <a:gdLst>
              <a:gd name="connsiteX0" fmla="*/ 1734610 w 1734610"/>
              <a:gd name="connsiteY0" fmla="*/ 3581470 h 3581470"/>
              <a:gd name="connsiteX1" fmla="*/ 1709869 w 1734610"/>
              <a:gd name="connsiteY1" fmla="*/ 3452669 h 3581470"/>
              <a:gd name="connsiteX2" fmla="*/ 159716 w 1734610"/>
              <a:gd name="connsiteY2" fmla="*/ 2339118 h 3581470"/>
              <a:gd name="connsiteX3" fmla="*/ 0 w 1734610"/>
              <a:gd name="connsiteY3" fmla="*/ 2332710 h 3581470"/>
              <a:gd name="connsiteX4" fmla="*/ 0 w 1734610"/>
              <a:gd name="connsiteY4" fmla="*/ 1248760 h 3581470"/>
              <a:gd name="connsiteX5" fmla="*/ 159716 w 1734610"/>
              <a:gd name="connsiteY5" fmla="*/ 1242352 h 3581470"/>
              <a:gd name="connsiteX6" fmla="*/ 1709869 w 1734610"/>
              <a:gd name="connsiteY6" fmla="*/ 128801 h 3581470"/>
              <a:gd name="connsiteX7" fmla="*/ 1734610 w 1734610"/>
              <a:gd name="connsiteY7" fmla="*/ 0 h 3581470"/>
              <a:gd name="connsiteX8" fmla="*/ 1734610 w 1734610"/>
              <a:gd name="connsiteY8" fmla="*/ 3581470 h 358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34610" h="3581470">
                <a:moveTo>
                  <a:pt x="1734610" y="3581470"/>
                </a:moveTo>
                <a:lnTo>
                  <a:pt x="1709869" y="3452669"/>
                </a:lnTo>
                <a:cubicBezTo>
                  <a:pt x="1556900" y="2858720"/>
                  <a:pt x="931793" y="2401417"/>
                  <a:pt x="159716" y="2339118"/>
                </a:cubicBezTo>
                <a:lnTo>
                  <a:pt x="0" y="2332710"/>
                </a:lnTo>
                <a:lnTo>
                  <a:pt x="0" y="1248760"/>
                </a:lnTo>
                <a:lnTo>
                  <a:pt x="159716" y="1242352"/>
                </a:lnTo>
                <a:cubicBezTo>
                  <a:pt x="931793" y="1180053"/>
                  <a:pt x="1556900" y="722750"/>
                  <a:pt x="1709869" y="128801"/>
                </a:cubicBezTo>
                <a:lnTo>
                  <a:pt x="1734610" y="0"/>
                </a:lnTo>
                <a:lnTo>
                  <a:pt x="1734610" y="3581470"/>
                </a:lnTo>
                <a:close/>
              </a:path>
            </a:pathLst>
          </a:custGeom>
          <a:gradFill>
            <a:gsLst>
              <a:gs pos="0">
                <a:schemeClr val="accent1">
                  <a:alpha val="20000"/>
                </a:schemeClr>
              </a:gs>
              <a:gs pos="100000">
                <a:schemeClr val="accent1">
                  <a:alpha val="0"/>
                </a:schemeClr>
              </a:gs>
            </a:gsLst>
            <a:lin ang="0" scaled="0"/>
          </a:gradFill>
          <a:ln>
            <a:noFill/>
          </a:ln>
        </p:spPr>
        <p:style>
          <a:lnRef idx="1">
            <a:schemeClr val="accent1"/>
          </a:lnRef>
          <a:fillRef idx="0">
            <a:schemeClr val="accent1"/>
          </a:fillRef>
          <a:effectRef idx="0">
            <a:schemeClr val="accent1"/>
          </a:effectRef>
          <a:fontRef idx="minor">
            <a:schemeClr val="tx1"/>
          </a:fontRef>
        </p:style>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33" name="熊大的PPT宝库23"/>
          <p:cNvSpPr/>
          <p:nvPr/>
        </p:nvSpPr>
        <p:spPr>
          <a:xfrm>
            <a:off x="4095907" y="2551450"/>
            <a:ext cx="4006224" cy="3182990"/>
          </a:xfrm>
          <a:prstGeom prst="ellipse">
            <a:avLst/>
          </a:prstGeom>
          <a:solidFill>
            <a:schemeClr val="accent1">
              <a:lumMod val="20000"/>
              <a:lumOff val="80000"/>
            </a:schemeClr>
          </a:solidFill>
          <a:ln>
            <a:gradFill>
              <a:gsLst>
                <a:gs pos="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4" name="熊大的PPT宝库24"/>
          <p:cNvSpPr/>
          <p:nvPr/>
        </p:nvSpPr>
        <p:spPr>
          <a:xfrm>
            <a:off x="1538514" y="3091544"/>
            <a:ext cx="899886" cy="875270"/>
          </a:xfrm>
          <a:prstGeom prst="ellipse">
            <a:avLst/>
          </a:prstGeom>
          <a:solidFill>
            <a:schemeClr val="accent1">
              <a:lumMod val="20000"/>
              <a:lumOff val="80000"/>
            </a:schemeClr>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5" name="熊大的PPT宝库25"/>
          <p:cNvSpPr/>
          <p:nvPr/>
        </p:nvSpPr>
        <p:spPr>
          <a:xfrm>
            <a:off x="1538514" y="3645425"/>
            <a:ext cx="899886" cy="875270"/>
          </a:xfrm>
          <a:prstGeom prst="ellipse">
            <a:avLst/>
          </a:prstGeom>
          <a:solidFill>
            <a:schemeClr val="accent1">
              <a:lumMod val="40000"/>
              <a:lumOff val="60000"/>
            </a:schemeClr>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6" name="熊大的PPT宝库26"/>
          <p:cNvSpPr/>
          <p:nvPr/>
        </p:nvSpPr>
        <p:spPr>
          <a:xfrm>
            <a:off x="1538514" y="4315309"/>
            <a:ext cx="899886" cy="875270"/>
          </a:xfrm>
          <a:prstGeom prst="ellipse">
            <a:avLst/>
          </a:prstGeom>
          <a:solidFill>
            <a:schemeClr val="accent1"/>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7" name="熊大的PPT宝库27"/>
          <p:cNvSpPr/>
          <p:nvPr/>
        </p:nvSpPr>
        <p:spPr>
          <a:xfrm>
            <a:off x="9782629" y="3091544"/>
            <a:ext cx="899886" cy="875270"/>
          </a:xfrm>
          <a:prstGeom prst="ellipse">
            <a:avLst/>
          </a:prstGeom>
          <a:solidFill>
            <a:schemeClr val="accent1">
              <a:lumMod val="20000"/>
              <a:lumOff val="80000"/>
            </a:schemeClr>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8" name="熊大的PPT宝库28"/>
          <p:cNvSpPr/>
          <p:nvPr/>
        </p:nvSpPr>
        <p:spPr>
          <a:xfrm>
            <a:off x="9782629" y="3645425"/>
            <a:ext cx="899886" cy="875270"/>
          </a:xfrm>
          <a:prstGeom prst="ellipse">
            <a:avLst/>
          </a:prstGeom>
          <a:solidFill>
            <a:schemeClr val="accent1">
              <a:lumMod val="40000"/>
              <a:lumOff val="60000"/>
            </a:schemeClr>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39" name="熊大的PPT宝库29"/>
          <p:cNvSpPr/>
          <p:nvPr/>
        </p:nvSpPr>
        <p:spPr>
          <a:xfrm>
            <a:off x="9782629" y="4315309"/>
            <a:ext cx="899886" cy="875270"/>
          </a:xfrm>
          <a:prstGeom prst="ellipse">
            <a:avLst/>
          </a:prstGeom>
          <a:solidFill>
            <a:schemeClr val="accent1"/>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cxnSp>
        <p:nvCxnSpPr>
          <p:cNvPr id="41" name="熊大的PPT宝库30"/>
          <p:cNvCxnSpPr/>
          <p:nvPr/>
        </p:nvCxnSpPr>
        <p:spPr>
          <a:xfrm>
            <a:off x="4037851" y="6248234"/>
            <a:ext cx="40062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熊大的PPT宝库31"/>
          <p:cNvCxnSpPr/>
          <p:nvPr/>
        </p:nvCxnSpPr>
        <p:spPr>
          <a:xfrm flipH="1">
            <a:off x="4037851" y="6330331"/>
            <a:ext cx="40062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熊大的PPT宝库32"/>
          <p:cNvSpPr/>
          <p:nvPr/>
        </p:nvSpPr>
        <p:spPr>
          <a:xfrm>
            <a:off x="8138633" y="6086394"/>
            <a:ext cx="2327227" cy="394692"/>
          </a:xfrm>
          <a:prstGeom prst="roundRect">
            <a:avLst>
              <a:gd name="adj" fmla="val 50000"/>
            </a:avLst>
          </a:prstGeom>
          <a:solidFill>
            <a:schemeClr val="accent1">
              <a:lumMod val="20000"/>
              <a:lumOff val="80000"/>
            </a:schemeClr>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5" name="熊大的PPT宝库33"/>
          <p:cNvSpPr txBox="1"/>
          <p:nvPr/>
        </p:nvSpPr>
        <p:spPr>
          <a:xfrm>
            <a:off x="8409374" y="6160630"/>
            <a:ext cx="1889941" cy="246221"/>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直播矩阵、产品扩张</a:t>
            </a:r>
          </a:p>
        </p:txBody>
      </p:sp>
      <p:sp>
        <p:nvSpPr>
          <p:cNvPr id="46" name="熊大的PPT宝库34"/>
          <p:cNvSpPr txBox="1"/>
          <p:nvPr/>
        </p:nvSpPr>
        <p:spPr>
          <a:xfrm>
            <a:off x="5684988" y="2693818"/>
            <a:ext cx="839975" cy="246221"/>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强产品力</a:t>
            </a:r>
          </a:p>
        </p:txBody>
      </p:sp>
      <p:sp>
        <p:nvSpPr>
          <p:cNvPr id="47" name="熊大的PPT宝库35"/>
          <p:cNvSpPr txBox="1"/>
          <p:nvPr/>
        </p:nvSpPr>
        <p:spPr>
          <a:xfrm>
            <a:off x="5684989" y="5281413"/>
            <a:ext cx="839975" cy="246221"/>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强品牌力</a:t>
            </a:r>
          </a:p>
        </p:txBody>
      </p:sp>
      <p:sp>
        <p:nvSpPr>
          <p:cNvPr id="48" name="熊大的PPT宝库36"/>
          <p:cNvSpPr/>
          <p:nvPr/>
        </p:nvSpPr>
        <p:spPr>
          <a:xfrm>
            <a:off x="4270550" y="3333221"/>
            <a:ext cx="1606981" cy="1606981"/>
          </a:xfrm>
          <a:prstGeom prst="ellipse">
            <a:avLst/>
          </a:prstGeom>
          <a:solidFill>
            <a:schemeClr val="accent1">
              <a:lumMod val="40000"/>
              <a:lumOff val="60000"/>
            </a:schemeClr>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9" name="熊大的PPT宝库37"/>
          <p:cNvSpPr/>
          <p:nvPr/>
        </p:nvSpPr>
        <p:spPr>
          <a:xfrm>
            <a:off x="6314470" y="3333221"/>
            <a:ext cx="1606981" cy="1606981"/>
          </a:xfrm>
          <a:prstGeom prst="ellipse">
            <a:avLst/>
          </a:prstGeom>
          <a:solidFill>
            <a:schemeClr val="accent1">
              <a:lumMod val="40000"/>
              <a:lumOff val="60000"/>
            </a:schemeClr>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51" name="熊大的PPT宝库38"/>
          <p:cNvSpPr txBox="1"/>
          <p:nvPr/>
        </p:nvSpPr>
        <p:spPr>
          <a:xfrm>
            <a:off x="4442458" y="3952045"/>
            <a:ext cx="1263166" cy="369332"/>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FFFFFF"/>
                </a:solidFill>
                <a:effectLst/>
                <a:uLnTx/>
                <a:uFillTx/>
                <a:cs typeface="+mn-ea"/>
                <a:sym typeface="+mn-lt"/>
              </a:rPr>
              <a:t>内容营销</a:t>
            </a:r>
          </a:p>
        </p:txBody>
      </p:sp>
      <p:sp>
        <p:nvSpPr>
          <p:cNvPr id="52" name="熊大的PPT宝库39"/>
          <p:cNvSpPr txBox="1"/>
          <p:nvPr/>
        </p:nvSpPr>
        <p:spPr>
          <a:xfrm>
            <a:off x="6486378" y="3952045"/>
            <a:ext cx="1263166" cy="369332"/>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FFFFFF"/>
                </a:solidFill>
                <a:effectLst/>
                <a:uLnTx/>
                <a:uFillTx/>
                <a:cs typeface="+mn-ea"/>
                <a:sym typeface="+mn-lt"/>
              </a:rPr>
              <a:t>自营收割</a:t>
            </a:r>
          </a:p>
        </p:txBody>
      </p:sp>
      <p:sp>
        <p:nvSpPr>
          <p:cNvPr id="53" name="熊大的PPT宝库40"/>
          <p:cNvSpPr txBox="1"/>
          <p:nvPr/>
        </p:nvSpPr>
        <p:spPr>
          <a:xfrm>
            <a:off x="9812588" y="4644027"/>
            <a:ext cx="839975" cy="246221"/>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cs typeface="+mn-ea"/>
                <a:sym typeface="+mn-lt"/>
              </a:rPr>
              <a:t>新品破圈</a:t>
            </a:r>
          </a:p>
        </p:txBody>
      </p:sp>
      <p:sp>
        <p:nvSpPr>
          <p:cNvPr id="54" name="熊大的PPT宝库41"/>
          <p:cNvSpPr txBox="1"/>
          <p:nvPr/>
        </p:nvSpPr>
        <p:spPr>
          <a:xfrm>
            <a:off x="9812588" y="3947055"/>
            <a:ext cx="839975" cy="246221"/>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流量投放</a:t>
            </a:r>
          </a:p>
        </p:txBody>
      </p:sp>
      <p:sp>
        <p:nvSpPr>
          <p:cNvPr id="55" name="熊大的PPT宝库42"/>
          <p:cNvSpPr txBox="1"/>
          <p:nvPr/>
        </p:nvSpPr>
        <p:spPr>
          <a:xfrm>
            <a:off x="9812587" y="3339422"/>
            <a:ext cx="839975" cy="246221"/>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直销矩阵</a:t>
            </a:r>
          </a:p>
        </p:txBody>
      </p:sp>
      <p:sp>
        <p:nvSpPr>
          <p:cNvPr id="56" name="熊大的PPT宝库43"/>
          <p:cNvSpPr txBox="1"/>
          <p:nvPr/>
        </p:nvSpPr>
        <p:spPr>
          <a:xfrm>
            <a:off x="1565594" y="4644027"/>
            <a:ext cx="839975" cy="246221"/>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cs typeface="+mn-ea"/>
                <a:sym typeface="+mn-lt"/>
              </a:rPr>
              <a:t>种草达人</a:t>
            </a:r>
          </a:p>
        </p:txBody>
      </p:sp>
      <p:sp>
        <p:nvSpPr>
          <p:cNvPr id="57" name="熊大的PPT宝库44"/>
          <p:cNvSpPr txBox="1"/>
          <p:nvPr/>
        </p:nvSpPr>
        <p:spPr>
          <a:xfrm>
            <a:off x="1565594" y="3947055"/>
            <a:ext cx="839975" cy="246221"/>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话题营销</a:t>
            </a:r>
          </a:p>
        </p:txBody>
      </p:sp>
      <p:sp>
        <p:nvSpPr>
          <p:cNvPr id="58" name="熊大的PPT宝库45"/>
          <p:cNvSpPr txBox="1"/>
          <p:nvPr/>
        </p:nvSpPr>
        <p:spPr>
          <a:xfrm>
            <a:off x="1565592" y="3339422"/>
            <a:ext cx="839975" cy="246221"/>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消费心智</a:t>
            </a:r>
          </a:p>
        </p:txBody>
      </p:sp>
      <p:sp>
        <p:nvSpPr>
          <p:cNvPr id="59" name="熊大的PPT宝库46"/>
          <p:cNvSpPr/>
          <p:nvPr/>
        </p:nvSpPr>
        <p:spPr>
          <a:xfrm>
            <a:off x="2539521" y="3313477"/>
            <a:ext cx="1227405" cy="394692"/>
          </a:xfrm>
          <a:prstGeom prst="roundRect">
            <a:avLst>
              <a:gd name="adj" fmla="val 50000"/>
            </a:avLst>
          </a:prstGeom>
          <a:solidFill>
            <a:schemeClr val="accent1">
              <a:lumMod val="20000"/>
              <a:lumOff val="80000"/>
            </a:schemeClr>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0" name="熊大的PPT宝库47"/>
          <p:cNvSpPr txBox="1"/>
          <p:nvPr/>
        </p:nvSpPr>
        <p:spPr>
          <a:xfrm>
            <a:off x="2845447" y="3387713"/>
            <a:ext cx="629981" cy="246221"/>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抓对人</a:t>
            </a:r>
          </a:p>
        </p:txBody>
      </p:sp>
      <p:sp>
        <p:nvSpPr>
          <p:cNvPr id="61" name="熊大的PPT宝库48"/>
          <p:cNvSpPr/>
          <p:nvPr/>
        </p:nvSpPr>
        <p:spPr>
          <a:xfrm>
            <a:off x="2539521" y="3923596"/>
            <a:ext cx="1227405" cy="394692"/>
          </a:xfrm>
          <a:prstGeom prst="roundRect">
            <a:avLst>
              <a:gd name="adj" fmla="val 50000"/>
            </a:avLst>
          </a:prstGeom>
          <a:solidFill>
            <a:schemeClr val="accent1">
              <a:lumMod val="40000"/>
              <a:lumOff val="60000"/>
            </a:schemeClr>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2" name="熊大的PPT宝库49"/>
          <p:cNvSpPr txBox="1"/>
          <p:nvPr/>
        </p:nvSpPr>
        <p:spPr>
          <a:xfrm>
            <a:off x="2845447" y="3997832"/>
            <a:ext cx="629981" cy="246221"/>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造好势</a:t>
            </a:r>
          </a:p>
        </p:txBody>
      </p:sp>
      <p:sp>
        <p:nvSpPr>
          <p:cNvPr id="63" name="熊大的PPT宝库50"/>
          <p:cNvSpPr/>
          <p:nvPr/>
        </p:nvSpPr>
        <p:spPr>
          <a:xfrm>
            <a:off x="2539521" y="4520695"/>
            <a:ext cx="1227405" cy="394692"/>
          </a:xfrm>
          <a:prstGeom prst="roundRect">
            <a:avLst>
              <a:gd name="adj" fmla="val 50000"/>
            </a:avLst>
          </a:prstGeom>
          <a:solidFill>
            <a:schemeClr val="accent1"/>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4" name="熊大的PPT宝库51"/>
          <p:cNvSpPr txBox="1"/>
          <p:nvPr/>
        </p:nvSpPr>
        <p:spPr>
          <a:xfrm>
            <a:off x="2845447" y="4594931"/>
            <a:ext cx="629981" cy="246221"/>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cs typeface="+mn-ea"/>
                <a:sym typeface="+mn-lt"/>
              </a:rPr>
              <a:t>铺好量</a:t>
            </a:r>
          </a:p>
        </p:txBody>
      </p:sp>
      <p:sp>
        <p:nvSpPr>
          <p:cNvPr id="65" name="熊大的PPT宝库52"/>
          <p:cNvSpPr/>
          <p:nvPr/>
        </p:nvSpPr>
        <p:spPr>
          <a:xfrm>
            <a:off x="8431112" y="3313477"/>
            <a:ext cx="1227405" cy="394692"/>
          </a:xfrm>
          <a:prstGeom prst="roundRect">
            <a:avLst>
              <a:gd name="adj" fmla="val 50000"/>
            </a:avLst>
          </a:prstGeom>
          <a:solidFill>
            <a:schemeClr val="accent1">
              <a:lumMod val="20000"/>
              <a:lumOff val="80000"/>
            </a:schemeClr>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6" name="熊大的PPT宝库53"/>
          <p:cNvSpPr txBox="1"/>
          <p:nvPr/>
        </p:nvSpPr>
        <p:spPr>
          <a:xfrm>
            <a:off x="8737038" y="3387713"/>
            <a:ext cx="629981" cy="246221"/>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定格调</a:t>
            </a:r>
          </a:p>
        </p:txBody>
      </p:sp>
      <p:sp>
        <p:nvSpPr>
          <p:cNvPr id="67" name="熊大的PPT宝库54"/>
          <p:cNvSpPr/>
          <p:nvPr/>
        </p:nvSpPr>
        <p:spPr>
          <a:xfrm>
            <a:off x="8431112" y="3923596"/>
            <a:ext cx="1227405" cy="394692"/>
          </a:xfrm>
          <a:prstGeom prst="roundRect">
            <a:avLst>
              <a:gd name="adj" fmla="val 50000"/>
            </a:avLst>
          </a:prstGeom>
          <a:solidFill>
            <a:schemeClr val="accent1">
              <a:lumMod val="40000"/>
              <a:lumOff val="60000"/>
            </a:schemeClr>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68" name="熊大的PPT宝库55"/>
          <p:cNvSpPr txBox="1"/>
          <p:nvPr/>
        </p:nvSpPr>
        <p:spPr>
          <a:xfrm>
            <a:off x="8737038" y="3997832"/>
            <a:ext cx="629981" cy="246221"/>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cs typeface="+mn-ea"/>
                <a:sym typeface="+mn-lt"/>
              </a:rPr>
              <a:t>扩投放</a:t>
            </a:r>
          </a:p>
        </p:txBody>
      </p:sp>
      <p:sp>
        <p:nvSpPr>
          <p:cNvPr id="69" name="熊大的PPT宝库56"/>
          <p:cNvSpPr/>
          <p:nvPr/>
        </p:nvSpPr>
        <p:spPr>
          <a:xfrm>
            <a:off x="8431112" y="4520695"/>
            <a:ext cx="1227405" cy="394692"/>
          </a:xfrm>
          <a:prstGeom prst="roundRect">
            <a:avLst>
              <a:gd name="adj" fmla="val 50000"/>
            </a:avLst>
          </a:prstGeom>
          <a:solidFill>
            <a:schemeClr val="accent1"/>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0" name="熊大的PPT宝库57"/>
          <p:cNvSpPr txBox="1"/>
          <p:nvPr/>
        </p:nvSpPr>
        <p:spPr>
          <a:xfrm>
            <a:off x="8737038" y="4594931"/>
            <a:ext cx="629981" cy="246221"/>
          </a:xfrm>
          <a:prstGeom prst="rect">
            <a:avLst/>
          </a:prstGeom>
          <a:noFill/>
        </p:spPr>
        <p:txBody>
          <a:bodyPr wrap="none" lIns="0" tIns="0" rIns="0" bIns="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cs typeface="+mn-ea"/>
                <a:sym typeface="+mn-lt"/>
              </a:rPr>
              <a:t>拓新品</a:t>
            </a:r>
          </a:p>
        </p:txBody>
      </p:sp>
      <p:sp>
        <p:nvSpPr>
          <p:cNvPr id="71" name="熊大的PPT宝库58"/>
          <p:cNvSpPr/>
          <p:nvPr/>
        </p:nvSpPr>
        <p:spPr>
          <a:xfrm rot="5400000">
            <a:off x="5634076" y="3202294"/>
            <a:ext cx="960814" cy="630266"/>
          </a:xfrm>
          <a:prstGeom prst="rightArrow">
            <a:avLst/>
          </a:prstGeom>
          <a:solidFill>
            <a:schemeClr val="accent1"/>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2" name="熊大的PPT宝库59"/>
          <p:cNvSpPr/>
          <p:nvPr/>
        </p:nvSpPr>
        <p:spPr>
          <a:xfrm rot="16200000" flipV="1">
            <a:off x="5670509" y="4444150"/>
            <a:ext cx="887948" cy="630266"/>
          </a:xfrm>
          <a:prstGeom prst="rightArrow">
            <a:avLst/>
          </a:prstGeom>
          <a:solidFill>
            <a:schemeClr val="accent1"/>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73" name="熊大的PPT宝库60"/>
          <p:cNvSpPr/>
          <p:nvPr/>
        </p:nvSpPr>
        <p:spPr>
          <a:xfrm rot="5400000">
            <a:off x="8919901" y="5278497"/>
            <a:ext cx="641388" cy="615552"/>
          </a:xfrm>
          <a:prstGeom prst="rightArrow">
            <a:avLst/>
          </a:prstGeom>
          <a:gradFill>
            <a:gsLst>
              <a:gs pos="100000">
                <a:schemeClr val="accent1">
                  <a:alpha val="70000"/>
                </a:schemeClr>
              </a:gs>
              <a:gs pos="0">
                <a:schemeClr val="accent1">
                  <a:alpha val="0"/>
                </a:schemeClr>
              </a:gs>
            </a:gsLst>
            <a:lin ang="0" scaled="0"/>
          </a:gradFill>
          <a:ln>
            <a:noFill/>
          </a:ln>
        </p:spPr>
        <p:style>
          <a:lnRef idx="1">
            <a:schemeClr val="accent1"/>
          </a:lnRef>
          <a:fillRef idx="0">
            <a:schemeClr val="accent1"/>
          </a:fillRef>
          <a:effectRef idx="0">
            <a:schemeClr val="accent1"/>
          </a:effectRef>
          <a:fontRef idx="minor">
            <a:schemeClr val="tx1"/>
          </a:fontRef>
        </p:style>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74" name="熊大的PPT宝库61"/>
          <p:cNvSpPr/>
          <p:nvPr/>
        </p:nvSpPr>
        <p:spPr>
          <a:xfrm rot="5400000">
            <a:off x="2519098" y="5278497"/>
            <a:ext cx="641388" cy="615552"/>
          </a:xfrm>
          <a:prstGeom prst="rightArrow">
            <a:avLst/>
          </a:prstGeom>
          <a:gradFill>
            <a:gsLst>
              <a:gs pos="100000">
                <a:schemeClr val="accent1">
                  <a:alpha val="70000"/>
                </a:schemeClr>
              </a:gs>
              <a:gs pos="0">
                <a:schemeClr val="accent1">
                  <a:alpha val="0"/>
                </a:schemeClr>
              </a:gs>
            </a:gsLst>
            <a:lin ang="0" scaled="0"/>
          </a:gradFill>
          <a:ln>
            <a:noFill/>
          </a:ln>
        </p:spPr>
        <p:style>
          <a:lnRef idx="1">
            <a:schemeClr val="accent1"/>
          </a:lnRef>
          <a:fillRef idx="0">
            <a:schemeClr val="accent1"/>
          </a:fillRef>
          <a:effectRef idx="0">
            <a:schemeClr val="accent1"/>
          </a:effectRef>
          <a:fontRef idx="minor">
            <a:schemeClr val="tx1"/>
          </a:fontRef>
        </p:style>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熊大的PPT宝库1"/>
          <p:cNvSpPr txBox="1"/>
          <p:nvPr/>
        </p:nvSpPr>
        <p:spPr>
          <a:xfrm>
            <a:off x="348830" y="216968"/>
            <a:ext cx="2646878"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工作成果展示</a:t>
            </a:r>
          </a:p>
        </p:txBody>
      </p:sp>
      <p:sp>
        <p:nvSpPr>
          <p:cNvPr id="4" name="熊大的PPT宝库3"/>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graphicFrame>
        <p:nvGraphicFramePr>
          <p:cNvPr id="10" name="熊大的PPT宝库4"/>
          <p:cNvGraphicFramePr/>
          <p:nvPr/>
        </p:nvGraphicFramePr>
        <p:xfrm>
          <a:off x="1556795" y="2352540"/>
          <a:ext cx="4101707" cy="2676525"/>
        </p:xfrm>
        <a:graphic>
          <a:graphicData uri="http://schemas.openxmlformats.org/drawingml/2006/chart">
            <c:chart xmlns:c="http://schemas.openxmlformats.org/drawingml/2006/chart" xmlns:r="http://schemas.openxmlformats.org/officeDocument/2006/relationships" r:id="rId4"/>
          </a:graphicData>
        </a:graphic>
      </p:graphicFrame>
      <p:sp>
        <p:nvSpPr>
          <p:cNvPr id="11" name="熊大的PPT宝库5"/>
          <p:cNvSpPr txBox="1"/>
          <p:nvPr/>
        </p:nvSpPr>
        <p:spPr>
          <a:xfrm rot="15170604">
            <a:off x="2343058" y="3738242"/>
            <a:ext cx="1004649" cy="378200"/>
          </a:xfrm>
          <a:prstGeom prst="rect">
            <a:avLst/>
          </a:prstGeom>
        </p:spPr>
        <p:txBody>
          <a:bodyPr vert="horz" wrap="square" lIns="0" tIns="0" rIns="0" bIns="0" rtlCol="0" anchor="t" anchorCtr="0">
            <a:prstTxWarp prst="textArchUp">
              <a:avLst>
                <a:gd name="adj" fmla="val 10226683"/>
              </a:avLst>
            </a:prstTxWarp>
            <a:spAutoFit/>
          </a:bodyPr>
          <a:lstStyle>
            <a:lvl1pPr algn="l" defTabSz="914400" rtl="0" eaLnBrk="1" latinLnBrk="0" hangingPunct="1">
              <a:lnSpc>
                <a:spcPct val="90000"/>
              </a:lnSpc>
              <a:spcBef>
                <a:spcPct val="0"/>
              </a:spcBef>
              <a:buNone/>
              <a:defRPr sz="3600" b="0" i="0" kern="1200">
                <a:solidFill>
                  <a:schemeClr val="tx1"/>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1200" b="1" i="0" u="none" strike="noStrike" kern="1200" cap="none" spc="0" normalizeH="0" baseline="0" noProof="0" dirty="0">
                <a:ln>
                  <a:noFill/>
                </a:ln>
                <a:solidFill>
                  <a:srgbClr val="00329D"/>
                </a:solidFill>
                <a:effectLst/>
                <a:uLnTx/>
                <a:uFillTx/>
                <a:latin typeface="+mn-lt"/>
                <a:ea typeface="+mn-ea"/>
                <a:cs typeface="+mn-ea"/>
                <a:sym typeface="+mn-lt"/>
              </a:rPr>
              <a:t>线速分析</a:t>
            </a:r>
            <a:r>
              <a:rPr kumimoji="0" lang="en-US" altLang="zh-CN" sz="1200" b="1" i="0" u="none" strike="noStrike" kern="1200" cap="none" spc="0" normalizeH="0" baseline="0" noProof="0" dirty="0">
                <a:ln>
                  <a:noFill/>
                </a:ln>
                <a:solidFill>
                  <a:srgbClr val="00329D"/>
                </a:solidFill>
                <a:effectLst/>
                <a:uLnTx/>
                <a:uFillTx/>
                <a:latin typeface="+mn-lt"/>
                <a:ea typeface="+mn-ea"/>
                <a:cs typeface="+mn-ea"/>
                <a:sym typeface="+mn-lt"/>
              </a:rPr>
              <a:t>XX</a:t>
            </a:r>
            <a:endParaRPr kumimoji="0" lang="zh-CN" altLang="en-US" sz="1200" b="1" i="0" u="none" strike="noStrike" kern="1200" cap="none" spc="0" normalizeH="0" baseline="0" noProof="0" dirty="0">
              <a:ln>
                <a:noFill/>
              </a:ln>
              <a:solidFill>
                <a:srgbClr val="00329D"/>
              </a:solidFill>
              <a:effectLst/>
              <a:uLnTx/>
              <a:uFillTx/>
              <a:latin typeface="+mn-lt"/>
              <a:ea typeface="+mn-ea"/>
              <a:cs typeface="+mn-ea"/>
              <a:sym typeface="+mn-lt"/>
            </a:endParaRPr>
          </a:p>
        </p:txBody>
      </p:sp>
      <p:sp>
        <p:nvSpPr>
          <p:cNvPr id="13" name="熊大的PPT宝库6"/>
          <p:cNvSpPr txBox="1"/>
          <p:nvPr/>
        </p:nvSpPr>
        <p:spPr>
          <a:xfrm rot="19239285">
            <a:off x="2675683" y="2875334"/>
            <a:ext cx="843332" cy="283822"/>
          </a:xfrm>
          <a:prstGeom prst="rect">
            <a:avLst/>
          </a:prstGeom>
        </p:spPr>
        <p:txBody>
          <a:bodyPr vert="horz" wrap="square" lIns="0" tIns="0" rIns="0" bIns="0" rtlCol="0" anchor="t" anchorCtr="0">
            <a:prstTxWarp prst="textArchUp">
              <a:avLst>
                <a:gd name="adj" fmla="val 10226683"/>
              </a:avLst>
            </a:prstTxWarp>
            <a:spAutoFit/>
          </a:bodyPr>
          <a:lstStyle>
            <a:lvl1pPr algn="l" defTabSz="914400" rtl="0" eaLnBrk="1" latinLnBrk="0" hangingPunct="1">
              <a:lnSpc>
                <a:spcPct val="90000"/>
              </a:lnSpc>
              <a:spcBef>
                <a:spcPct val="0"/>
              </a:spcBef>
              <a:buNone/>
              <a:defRPr sz="3600" b="0" i="0" kern="1200">
                <a:solidFill>
                  <a:schemeClr val="tx1"/>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1200" b="1" i="0" u="none" strike="noStrike" kern="1200" cap="none" spc="0" normalizeH="0" baseline="0" noProof="0" dirty="0">
                <a:ln>
                  <a:noFill/>
                </a:ln>
                <a:solidFill>
                  <a:srgbClr val="00329D"/>
                </a:solidFill>
                <a:effectLst/>
                <a:uLnTx/>
                <a:uFillTx/>
                <a:latin typeface="+mn-lt"/>
                <a:ea typeface="+mn-ea"/>
                <a:cs typeface="+mn-ea"/>
                <a:sym typeface="+mn-lt"/>
              </a:rPr>
              <a:t>行为分析</a:t>
            </a:r>
            <a:r>
              <a:rPr kumimoji="0" lang="en-US" altLang="zh-CN" sz="1200" b="1" i="0" u="none" strike="noStrike" kern="1200" cap="none" spc="0" normalizeH="0" baseline="0" noProof="0" dirty="0">
                <a:ln>
                  <a:noFill/>
                </a:ln>
                <a:solidFill>
                  <a:srgbClr val="00329D"/>
                </a:solidFill>
                <a:effectLst/>
                <a:uLnTx/>
                <a:uFillTx/>
                <a:latin typeface="+mn-lt"/>
                <a:ea typeface="+mn-ea"/>
                <a:cs typeface="+mn-ea"/>
                <a:sym typeface="+mn-lt"/>
              </a:rPr>
              <a:t>XX</a:t>
            </a:r>
            <a:endParaRPr kumimoji="0" lang="zh-CN" altLang="en-US" sz="1200" b="1" i="0" u="none" strike="noStrike" kern="1200" cap="none" spc="0" normalizeH="0" baseline="0" noProof="0" dirty="0">
              <a:ln>
                <a:noFill/>
              </a:ln>
              <a:solidFill>
                <a:srgbClr val="00329D"/>
              </a:solidFill>
              <a:effectLst/>
              <a:uLnTx/>
              <a:uFillTx/>
              <a:latin typeface="+mn-lt"/>
              <a:ea typeface="+mn-ea"/>
              <a:cs typeface="+mn-ea"/>
              <a:sym typeface="+mn-lt"/>
            </a:endParaRPr>
          </a:p>
        </p:txBody>
      </p:sp>
      <p:sp>
        <p:nvSpPr>
          <p:cNvPr id="14" name="熊大的PPT宝库7"/>
          <p:cNvSpPr txBox="1"/>
          <p:nvPr/>
        </p:nvSpPr>
        <p:spPr>
          <a:xfrm rot="2260163">
            <a:off x="3662281" y="2881806"/>
            <a:ext cx="905657" cy="278078"/>
          </a:xfrm>
          <a:prstGeom prst="rect">
            <a:avLst/>
          </a:prstGeom>
        </p:spPr>
        <p:txBody>
          <a:bodyPr vert="horz" wrap="square" lIns="0" tIns="0" rIns="0" bIns="0" rtlCol="0" anchor="t" anchorCtr="0">
            <a:prstTxWarp prst="textArchUp">
              <a:avLst>
                <a:gd name="adj" fmla="val 10226683"/>
              </a:avLst>
            </a:prstTxWarp>
            <a:spAutoFit/>
          </a:bodyPr>
          <a:lstStyle>
            <a:lvl1pPr algn="l" defTabSz="914400" rtl="0" eaLnBrk="1" latinLnBrk="0" hangingPunct="1">
              <a:lnSpc>
                <a:spcPct val="90000"/>
              </a:lnSpc>
              <a:spcBef>
                <a:spcPct val="0"/>
              </a:spcBef>
              <a:buNone/>
              <a:defRPr sz="3600" b="0" i="0" kern="1200">
                <a:solidFill>
                  <a:schemeClr val="tx1"/>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1200" b="1" i="0" u="none" strike="noStrike" kern="1200" cap="none" spc="0" normalizeH="0" baseline="0" noProof="0" dirty="0">
                <a:ln>
                  <a:noFill/>
                </a:ln>
                <a:solidFill>
                  <a:srgbClr val="00329D"/>
                </a:solidFill>
                <a:effectLst/>
                <a:uLnTx/>
                <a:uFillTx/>
                <a:latin typeface="+mn-lt"/>
                <a:ea typeface="+mn-ea"/>
                <a:cs typeface="+mn-ea"/>
                <a:sym typeface="+mn-lt"/>
              </a:rPr>
              <a:t>增强分析</a:t>
            </a:r>
            <a:r>
              <a:rPr kumimoji="0" lang="en-US" altLang="zh-CN" sz="1200" b="1" i="0" u="none" strike="noStrike" kern="1200" cap="none" spc="0" normalizeH="0" baseline="0" noProof="0" dirty="0">
                <a:ln>
                  <a:noFill/>
                </a:ln>
                <a:solidFill>
                  <a:srgbClr val="00329D"/>
                </a:solidFill>
                <a:effectLst/>
                <a:uLnTx/>
                <a:uFillTx/>
                <a:latin typeface="+mn-lt"/>
                <a:ea typeface="+mn-ea"/>
                <a:cs typeface="+mn-ea"/>
                <a:sym typeface="+mn-lt"/>
              </a:rPr>
              <a:t>XX</a:t>
            </a:r>
            <a:endParaRPr kumimoji="0" lang="zh-CN" altLang="en-US" sz="1200" b="1" i="0" u="none" strike="noStrike" kern="1200" cap="none" spc="0" normalizeH="0" baseline="0" noProof="0" dirty="0">
              <a:ln>
                <a:noFill/>
              </a:ln>
              <a:solidFill>
                <a:srgbClr val="00329D"/>
              </a:solidFill>
              <a:effectLst/>
              <a:uLnTx/>
              <a:uFillTx/>
              <a:latin typeface="+mn-lt"/>
              <a:ea typeface="+mn-ea"/>
              <a:cs typeface="+mn-ea"/>
              <a:sym typeface="+mn-lt"/>
            </a:endParaRPr>
          </a:p>
        </p:txBody>
      </p:sp>
      <p:sp>
        <p:nvSpPr>
          <p:cNvPr id="15" name="熊大的PPT宝库8"/>
          <p:cNvSpPr txBox="1"/>
          <p:nvPr/>
        </p:nvSpPr>
        <p:spPr>
          <a:xfrm>
            <a:off x="3125376" y="4406098"/>
            <a:ext cx="989734" cy="348380"/>
          </a:xfrm>
          <a:prstGeom prst="rect">
            <a:avLst/>
          </a:prstGeom>
        </p:spPr>
        <p:txBody>
          <a:bodyPr vert="horz" wrap="square" lIns="0" tIns="0" rIns="0" bIns="0" rtlCol="0" anchor="t" anchorCtr="0">
            <a:prstTxWarp prst="textArchDown">
              <a:avLst/>
            </a:prstTxWarp>
            <a:spAutoFit/>
          </a:bodyPr>
          <a:lstStyle>
            <a:lvl1pPr algn="l" defTabSz="914400" rtl="0" eaLnBrk="1" latinLnBrk="0" hangingPunct="1">
              <a:lnSpc>
                <a:spcPct val="90000"/>
              </a:lnSpc>
              <a:spcBef>
                <a:spcPct val="0"/>
              </a:spcBef>
              <a:buNone/>
              <a:defRPr sz="3600" b="0" i="0" kern="1200">
                <a:solidFill>
                  <a:schemeClr val="tx1"/>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1200" b="1" i="0" u="none" strike="noStrike" kern="1200" cap="none" spc="0" normalizeH="0" baseline="0" noProof="0" dirty="0">
                <a:ln>
                  <a:noFill/>
                </a:ln>
                <a:solidFill>
                  <a:srgbClr val="00329D"/>
                </a:solidFill>
                <a:effectLst/>
                <a:uLnTx/>
                <a:uFillTx/>
                <a:latin typeface="+mn-lt"/>
                <a:ea typeface="+mn-ea"/>
                <a:cs typeface="+mn-ea"/>
                <a:sym typeface="+mn-lt"/>
              </a:rPr>
              <a:t>会话分析</a:t>
            </a:r>
            <a:r>
              <a:rPr kumimoji="0" lang="en-US" altLang="zh-CN" sz="1200" b="1" i="0" u="none" strike="noStrike" kern="1200" cap="none" spc="0" normalizeH="0" baseline="0" noProof="0" dirty="0">
                <a:ln>
                  <a:noFill/>
                </a:ln>
                <a:solidFill>
                  <a:srgbClr val="00329D"/>
                </a:solidFill>
                <a:effectLst/>
                <a:uLnTx/>
                <a:uFillTx/>
                <a:latin typeface="+mn-lt"/>
                <a:ea typeface="+mn-ea"/>
                <a:cs typeface="+mn-ea"/>
                <a:sym typeface="+mn-lt"/>
              </a:rPr>
              <a:t>XX</a:t>
            </a:r>
            <a:endParaRPr kumimoji="0" lang="zh-CN" altLang="en-US" sz="1200" b="1" i="0" u="none" strike="noStrike" kern="1200" cap="none" spc="0" normalizeH="0" baseline="0" noProof="0" dirty="0">
              <a:ln>
                <a:noFill/>
              </a:ln>
              <a:solidFill>
                <a:srgbClr val="00329D"/>
              </a:solidFill>
              <a:effectLst/>
              <a:uLnTx/>
              <a:uFillTx/>
              <a:latin typeface="+mn-lt"/>
              <a:ea typeface="+mn-ea"/>
              <a:cs typeface="+mn-ea"/>
              <a:sym typeface="+mn-lt"/>
            </a:endParaRPr>
          </a:p>
        </p:txBody>
      </p:sp>
      <p:sp>
        <p:nvSpPr>
          <p:cNvPr id="16" name="熊大的PPT宝库9"/>
          <p:cNvSpPr txBox="1"/>
          <p:nvPr/>
        </p:nvSpPr>
        <p:spPr>
          <a:xfrm rot="17359577">
            <a:off x="4004617" y="3779316"/>
            <a:ext cx="957173" cy="306431"/>
          </a:xfrm>
          <a:prstGeom prst="rect">
            <a:avLst/>
          </a:prstGeom>
        </p:spPr>
        <p:txBody>
          <a:bodyPr vert="horz" wrap="square" lIns="0" tIns="0" rIns="0" bIns="0" rtlCol="0" anchor="t" anchorCtr="0">
            <a:prstTxWarp prst="textArchDown">
              <a:avLst/>
            </a:prstTxWarp>
            <a:spAutoFit/>
          </a:bodyPr>
          <a:lstStyle>
            <a:lvl1pPr algn="l" defTabSz="914400" rtl="0" eaLnBrk="1" latinLnBrk="0" hangingPunct="1">
              <a:lnSpc>
                <a:spcPct val="90000"/>
              </a:lnSpc>
              <a:spcBef>
                <a:spcPct val="0"/>
              </a:spcBef>
              <a:buNone/>
              <a:defRPr sz="3600" b="0" i="0" kern="1200">
                <a:solidFill>
                  <a:schemeClr val="tx1"/>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1200" b="1" i="0" u="none" strike="noStrike" kern="1200" cap="none" spc="0" normalizeH="0" baseline="0" noProof="0" dirty="0">
                <a:ln>
                  <a:noFill/>
                </a:ln>
                <a:solidFill>
                  <a:srgbClr val="00329D"/>
                </a:solidFill>
                <a:effectLst/>
                <a:uLnTx/>
                <a:uFillTx/>
                <a:latin typeface="+mn-lt"/>
                <a:ea typeface="+mn-ea"/>
                <a:cs typeface="+mn-ea"/>
                <a:sym typeface="+mn-lt"/>
              </a:rPr>
              <a:t>画像分析</a:t>
            </a:r>
            <a:r>
              <a:rPr kumimoji="0" lang="en-US" altLang="zh-CN" sz="1200" b="1" i="0" u="none" strike="noStrike" kern="1200" cap="none" spc="0" normalizeH="0" baseline="0" noProof="0" dirty="0">
                <a:ln>
                  <a:noFill/>
                </a:ln>
                <a:solidFill>
                  <a:srgbClr val="00329D"/>
                </a:solidFill>
                <a:effectLst/>
                <a:uLnTx/>
                <a:uFillTx/>
                <a:latin typeface="+mn-lt"/>
                <a:ea typeface="+mn-ea"/>
                <a:cs typeface="+mn-ea"/>
                <a:sym typeface="+mn-lt"/>
              </a:rPr>
              <a:t>XX</a:t>
            </a:r>
            <a:endParaRPr kumimoji="0" lang="zh-CN" altLang="en-US" sz="1200" b="1" i="0" u="none" strike="noStrike" kern="1200" cap="none" spc="0" normalizeH="0" baseline="0" noProof="0" dirty="0">
              <a:ln>
                <a:noFill/>
              </a:ln>
              <a:solidFill>
                <a:srgbClr val="00329D"/>
              </a:solidFill>
              <a:effectLst/>
              <a:uLnTx/>
              <a:uFillTx/>
              <a:latin typeface="+mn-lt"/>
              <a:ea typeface="+mn-ea"/>
              <a:cs typeface="+mn-ea"/>
              <a:sym typeface="+mn-lt"/>
            </a:endParaRPr>
          </a:p>
        </p:txBody>
      </p:sp>
      <p:sp>
        <p:nvSpPr>
          <p:cNvPr id="6" name="熊大的PPT宝库10"/>
          <p:cNvSpPr/>
          <p:nvPr/>
        </p:nvSpPr>
        <p:spPr>
          <a:xfrm>
            <a:off x="2743648" y="2826802"/>
            <a:ext cx="1728000" cy="1728000"/>
          </a:xfrm>
          <a:prstGeom prst="ellipse">
            <a:avLst/>
          </a:prstGeom>
          <a:solidFill>
            <a:schemeClr val="accent1"/>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graphicFrame>
        <p:nvGraphicFramePr>
          <p:cNvPr id="17" name="熊大的PPT宝库11"/>
          <p:cNvGraphicFramePr/>
          <p:nvPr/>
        </p:nvGraphicFramePr>
        <p:xfrm>
          <a:off x="6546023" y="2327140"/>
          <a:ext cx="4101707" cy="2676525"/>
        </p:xfrm>
        <a:graphic>
          <a:graphicData uri="http://schemas.openxmlformats.org/drawingml/2006/chart">
            <c:chart xmlns:c="http://schemas.openxmlformats.org/drawingml/2006/chart" xmlns:r="http://schemas.openxmlformats.org/officeDocument/2006/relationships" r:id="rId5"/>
          </a:graphicData>
        </a:graphic>
      </p:graphicFrame>
      <p:sp>
        <p:nvSpPr>
          <p:cNvPr id="18" name="熊大的PPT宝库12"/>
          <p:cNvSpPr txBox="1"/>
          <p:nvPr/>
        </p:nvSpPr>
        <p:spPr>
          <a:xfrm rot="15170604">
            <a:off x="7332286" y="3712842"/>
            <a:ext cx="1004649" cy="378200"/>
          </a:xfrm>
          <a:prstGeom prst="rect">
            <a:avLst/>
          </a:prstGeom>
        </p:spPr>
        <p:txBody>
          <a:bodyPr vert="horz" wrap="square" lIns="0" tIns="0" rIns="0" bIns="0" rtlCol="0" anchor="t" anchorCtr="0">
            <a:prstTxWarp prst="textArchUp">
              <a:avLst>
                <a:gd name="adj" fmla="val 10226683"/>
              </a:avLst>
            </a:prstTxWarp>
            <a:spAutoFit/>
          </a:bodyPr>
          <a:lstStyle>
            <a:lvl1pPr algn="l" defTabSz="914400" rtl="0" eaLnBrk="1" latinLnBrk="0" hangingPunct="1">
              <a:lnSpc>
                <a:spcPct val="90000"/>
              </a:lnSpc>
              <a:spcBef>
                <a:spcPct val="0"/>
              </a:spcBef>
              <a:buNone/>
              <a:defRPr sz="3600" b="0" i="0" kern="1200">
                <a:solidFill>
                  <a:schemeClr val="tx1"/>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ea"/>
                <a:sym typeface="+mn-lt"/>
              </a:rPr>
              <a:t>社群营销</a:t>
            </a:r>
            <a:r>
              <a:rPr kumimoji="0" lang="en-US" altLang="zh-CN" sz="1200" b="1" i="0" u="none" strike="noStrike" kern="1200" cap="none" spc="0" normalizeH="0" baseline="0" noProof="0" dirty="0">
                <a:ln>
                  <a:noFill/>
                </a:ln>
                <a:solidFill>
                  <a:srgbClr val="000000"/>
                </a:solidFill>
                <a:effectLst/>
                <a:uLnTx/>
                <a:uFillTx/>
                <a:latin typeface="+mn-lt"/>
                <a:ea typeface="+mn-ea"/>
                <a:cs typeface="+mn-ea"/>
                <a:sym typeface="+mn-lt"/>
              </a:rPr>
              <a:t>XX</a:t>
            </a:r>
            <a:endParaRPr kumimoji="0" lang="zh-CN" altLang="en-US" sz="1200" b="1" i="0" u="none" strike="noStrike" kern="1200" cap="none" spc="0" normalizeH="0" baseline="0" noProof="0" dirty="0">
              <a:ln>
                <a:noFill/>
              </a:ln>
              <a:solidFill>
                <a:srgbClr val="000000"/>
              </a:solidFill>
              <a:effectLst/>
              <a:uLnTx/>
              <a:uFillTx/>
              <a:latin typeface="+mn-lt"/>
              <a:ea typeface="+mn-ea"/>
              <a:cs typeface="+mn-ea"/>
              <a:sym typeface="+mn-lt"/>
            </a:endParaRPr>
          </a:p>
        </p:txBody>
      </p:sp>
      <p:sp>
        <p:nvSpPr>
          <p:cNvPr id="19" name="熊大的PPT宝库13"/>
          <p:cNvSpPr txBox="1"/>
          <p:nvPr/>
        </p:nvSpPr>
        <p:spPr>
          <a:xfrm rot="19239285">
            <a:off x="7664911" y="2849934"/>
            <a:ext cx="843332" cy="283822"/>
          </a:xfrm>
          <a:prstGeom prst="rect">
            <a:avLst/>
          </a:prstGeom>
        </p:spPr>
        <p:txBody>
          <a:bodyPr vert="horz" wrap="square" lIns="0" tIns="0" rIns="0" bIns="0" rtlCol="0" anchor="t" anchorCtr="0">
            <a:prstTxWarp prst="textArchUp">
              <a:avLst>
                <a:gd name="adj" fmla="val 10226683"/>
              </a:avLst>
            </a:prstTxWarp>
            <a:spAutoFit/>
          </a:bodyPr>
          <a:lstStyle>
            <a:lvl1pPr algn="l" defTabSz="914400" rtl="0" eaLnBrk="1" latinLnBrk="0" hangingPunct="1">
              <a:lnSpc>
                <a:spcPct val="90000"/>
              </a:lnSpc>
              <a:spcBef>
                <a:spcPct val="0"/>
              </a:spcBef>
              <a:buNone/>
              <a:defRPr sz="3600" b="0" i="0" kern="1200">
                <a:solidFill>
                  <a:schemeClr val="tx1"/>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ea"/>
                <a:sym typeface="+mn-lt"/>
              </a:rPr>
              <a:t>营销自动化</a:t>
            </a:r>
            <a:r>
              <a:rPr kumimoji="0" lang="en-US" altLang="zh-CN" sz="1200" b="1" i="0" u="none" strike="noStrike" kern="1200" cap="none" spc="0" normalizeH="0" baseline="0" noProof="0" dirty="0">
                <a:ln>
                  <a:noFill/>
                </a:ln>
                <a:solidFill>
                  <a:srgbClr val="000000"/>
                </a:solidFill>
                <a:effectLst/>
                <a:uLnTx/>
                <a:uFillTx/>
                <a:latin typeface="+mn-lt"/>
                <a:ea typeface="+mn-ea"/>
                <a:cs typeface="+mn-ea"/>
                <a:sym typeface="+mn-lt"/>
              </a:rPr>
              <a:t>XX</a:t>
            </a:r>
            <a:endParaRPr kumimoji="0" lang="zh-CN" altLang="en-US" sz="1200" b="1" i="0" u="none" strike="noStrike" kern="1200" cap="none" spc="0" normalizeH="0" baseline="0" noProof="0" dirty="0">
              <a:ln>
                <a:noFill/>
              </a:ln>
              <a:solidFill>
                <a:srgbClr val="000000"/>
              </a:solidFill>
              <a:effectLst/>
              <a:uLnTx/>
              <a:uFillTx/>
              <a:latin typeface="+mn-lt"/>
              <a:ea typeface="+mn-ea"/>
              <a:cs typeface="+mn-ea"/>
              <a:sym typeface="+mn-lt"/>
            </a:endParaRPr>
          </a:p>
        </p:txBody>
      </p:sp>
      <p:sp>
        <p:nvSpPr>
          <p:cNvPr id="20" name="熊大的PPT宝库14"/>
          <p:cNvSpPr txBox="1"/>
          <p:nvPr/>
        </p:nvSpPr>
        <p:spPr>
          <a:xfrm rot="2260163">
            <a:off x="8651509" y="2856406"/>
            <a:ext cx="905657" cy="278078"/>
          </a:xfrm>
          <a:prstGeom prst="rect">
            <a:avLst/>
          </a:prstGeom>
        </p:spPr>
        <p:txBody>
          <a:bodyPr vert="horz" wrap="square" lIns="0" tIns="0" rIns="0" bIns="0" rtlCol="0" anchor="t" anchorCtr="0">
            <a:prstTxWarp prst="textArchUp">
              <a:avLst>
                <a:gd name="adj" fmla="val 10226683"/>
              </a:avLst>
            </a:prstTxWarp>
            <a:spAutoFit/>
          </a:bodyPr>
          <a:lstStyle>
            <a:lvl1pPr algn="l" defTabSz="914400" rtl="0" eaLnBrk="1" latinLnBrk="0" hangingPunct="1">
              <a:lnSpc>
                <a:spcPct val="90000"/>
              </a:lnSpc>
              <a:spcBef>
                <a:spcPct val="0"/>
              </a:spcBef>
              <a:buNone/>
              <a:defRPr sz="3600" b="0" i="0" kern="1200">
                <a:solidFill>
                  <a:schemeClr val="tx1"/>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ea"/>
                <a:sym typeface="+mn-lt"/>
              </a:rPr>
              <a:t>会员管理</a:t>
            </a:r>
            <a:r>
              <a:rPr kumimoji="0" lang="en-US" altLang="zh-CN" sz="1200" b="1" i="0" u="none" strike="noStrike" kern="1200" cap="none" spc="0" normalizeH="0" baseline="0" noProof="0" dirty="0">
                <a:ln>
                  <a:noFill/>
                </a:ln>
                <a:solidFill>
                  <a:srgbClr val="000000"/>
                </a:solidFill>
                <a:effectLst/>
                <a:uLnTx/>
                <a:uFillTx/>
                <a:latin typeface="+mn-lt"/>
                <a:ea typeface="+mn-ea"/>
                <a:cs typeface="+mn-ea"/>
                <a:sym typeface="+mn-lt"/>
              </a:rPr>
              <a:t>XX</a:t>
            </a:r>
            <a:endParaRPr kumimoji="0" lang="zh-CN" altLang="en-US" sz="1200" b="1" i="0" u="none" strike="noStrike" kern="1200" cap="none" spc="0" normalizeH="0" baseline="0" noProof="0" dirty="0">
              <a:ln>
                <a:noFill/>
              </a:ln>
              <a:solidFill>
                <a:srgbClr val="000000"/>
              </a:solidFill>
              <a:effectLst/>
              <a:uLnTx/>
              <a:uFillTx/>
              <a:latin typeface="+mn-lt"/>
              <a:ea typeface="+mn-ea"/>
              <a:cs typeface="+mn-ea"/>
              <a:sym typeface="+mn-lt"/>
            </a:endParaRPr>
          </a:p>
        </p:txBody>
      </p:sp>
      <p:sp>
        <p:nvSpPr>
          <p:cNvPr id="21" name="熊大的PPT宝库15"/>
          <p:cNvSpPr txBox="1"/>
          <p:nvPr/>
        </p:nvSpPr>
        <p:spPr>
          <a:xfrm>
            <a:off x="8114604" y="4380698"/>
            <a:ext cx="989734" cy="348380"/>
          </a:xfrm>
          <a:prstGeom prst="rect">
            <a:avLst/>
          </a:prstGeom>
        </p:spPr>
        <p:txBody>
          <a:bodyPr vert="horz" wrap="square" lIns="0" tIns="0" rIns="0" bIns="0" rtlCol="0" anchor="t" anchorCtr="0">
            <a:prstTxWarp prst="textArchDown">
              <a:avLst/>
            </a:prstTxWarp>
            <a:spAutoFit/>
          </a:bodyPr>
          <a:lstStyle>
            <a:lvl1pPr algn="l" defTabSz="914400" rtl="0" eaLnBrk="1" latinLnBrk="0" hangingPunct="1">
              <a:lnSpc>
                <a:spcPct val="90000"/>
              </a:lnSpc>
              <a:spcBef>
                <a:spcPct val="0"/>
              </a:spcBef>
              <a:buNone/>
              <a:defRPr sz="3600" b="0" i="0" kern="1200">
                <a:solidFill>
                  <a:schemeClr val="tx1"/>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ea"/>
                <a:sym typeface="+mn-lt"/>
              </a:rPr>
              <a:t>智能推荐</a:t>
            </a:r>
            <a:r>
              <a:rPr kumimoji="0" lang="en-US" altLang="zh-CN" sz="1200" b="1" i="0" u="none" strike="noStrike" kern="1200" cap="none" spc="0" normalizeH="0" baseline="0" noProof="0" dirty="0">
                <a:ln>
                  <a:noFill/>
                </a:ln>
                <a:solidFill>
                  <a:srgbClr val="000000"/>
                </a:solidFill>
                <a:effectLst/>
                <a:uLnTx/>
                <a:uFillTx/>
                <a:latin typeface="+mn-lt"/>
                <a:ea typeface="+mn-ea"/>
                <a:cs typeface="+mn-ea"/>
                <a:sym typeface="+mn-lt"/>
              </a:rPr>
              <a:t>XX</a:t>
            </a:r>
            <a:endParaRPr kumimoji="0" lang="zh-CN" altLang="en-US" sz="1200" b="1" i="0" u="none" strike="noStrike" kern="1200" cap="none" spc="0" normalizeH="0" baseline="0" noProof="0" dirty="0">
              <a:ln>
                <a:noFill/>
              </a:ln>
              <a:solidFill>
                <a:srgbClr val="000000"/>
              </a:solidFill>
              <a:effectLst/>
              <a:uLnTx/>
              <a:uFillTx/>
              <a:latin typeface="+mn-lt"/>
              <a:ea typeface="+mn-ea"/>
              <a:cs typeface="+mn-ea"/>
              <a:sym typeface="+mn-lt"/>
            </a:endParaRPr>
          </a:p>
        </p:txBody>
      </p:sp>
      <p:sp>
        <p:nvSpPr>
          <p:cNvPr id="22" name="熊大的PPT宝库16"/>
          <p:cNvSpPr txBox="1"/>
          <p:nvPr/>
        </p:nvSpPr>
        <p:spPr>
          <a:xfrm rot="17359577">
            <a:off x="8943045" y="3747566"/>
            <a:ext cx="957173" cy="306431"/>
          </a:xfrm>
          <a:prstGeom prst="rect">
            <a:avLst/>
          </a:prstGeom>
        </p:spPr>
        <p:txBody>
          <a:bodyPr vert="horz" wrap="square" lIns="0" tIns="0" rIns="0" bIns="0" rtlCol="0" anchor="t" anchorCtr="0">
            <a:prstTxWarp prst="textArchDown">
              <a:avLst/>
            </a:prstTxWarp>
            <a:spAutoFit/>
          </a:bodyPr>
          <a:lstStyle>
            <a:lvl1pPr algn="l" defTabSz="914400" rtl="0" eaLnBrk="1" latinLnBrk="0" hangingPunct="1">
              <a:lnSpc>
                <a:spcPct val="90000"/>
              </a:lnSpc>
              <a:spcBef>
                <a:spcPct val="0"/>
              </a:spcBef>
              <a:buNone/>
              <a:defRPr sz="3600" b="0" i="0" kern="1200">
                <a:solidFill>
                  <a:schemeClr val="tx1"/>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mn-lt"/>
                <a:ea typeface="+mn-ea"/>
                <a:cs typeface="+mn-ea"/>
                <a:sym typeface="+mn-lt"/>
              </a:rPr>
              <a:t>互动营销</a:t>
            </a:r>
            <a:r>
              <a:rPr kumimoji="0" lang="en-US" altLang="zh-CN" sz="1200" b="1" i="0" u="none" strike="noStrike" kern="1200" cap="none" spc="0" normalizeH="0" baseline="0" noProof="0" dirty="0">
                <a:ln>
                  <a:noFill/>
                </a:ln>
                <a:solidFill>
                  <a:srgbClr val="000000"/>
                </a:solidFill>
                <a:effectLst/>
                <a:uLnTx/>
                <a:uFillTx/>
                <a:latin typeface="+mn-lt"/>
                <a:ea typeface="+mn-ea"/>
                <a:cs typeface="+mn-ea"/>
                <a:sym typeface="+mn-lt"/>
              </a:rPr>
              <a:t>XX</a:t>
            </a:r>
            <a:endParaRPr kumimoji="0" lang="zh-CN" altLang="en-US" sz="1200" b="1" i="0" u="none" strike="noStrike" kern="1200" cap="none" spc="0" normalizeH="0" baseline="0" noProof="0" dirty="0">
              <a:ln>
                <a:noFill/>
              </a:ln>
              <a:solidFill>
                <a:srgbClr val="000000"/>
              </a:solidFill>
              <a:effectLst/>
              <a:uLnTx/>
              <a:uFillTx/>
              <a:latin typeface="+mn-lt"/>
              <a:ea typeface="+mn-ea"/>
              <a:cs typeface="+mn-ea"/>
              <a:sym typeface="+mn-lt"/>
            </a:endParaRPr>
          </a:p>
        </p:txBody>
      </p:sp>
      <p:sp>
        <p:nvSpPr>
          <p:cNvPr id="23" name="熊大的PPT宝库17"/>
          <p:cNvSpPr/>
          <p:nvPr/>
        </p:nvSpPr>
        <p:spPr>
          <a:xfrm>
            <a:off x="7732876" y="2801402"/>
            <a:ext cx="1728000" cy="1728000"/>
          </a:xfrm>
          <a:prstGeom prst="ellipse">
            <a:avLst/>
          </a:prstGeom>
          <a:solidFill>
            <a:schemeClr val="tx1">
              <a:lumMod val="65000"/>
              <a:lumOff val="35000"/>
            </a:schemeClr>
          </a:solidFill>
          <a:ln>
            <a:noFill/>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24" name="熊大的PPT宝库18"/>
          <p:cNvSpPr txBox="1"/>
          <p:nvPr/>
        </p:nvSpPr>
        <p:spPr>
          <a:xfrm>
            <a:off x="7889696" y="3263434"/>
            <a:ext cx="1414360" cy="803936"/>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cs typeface="+mn-ea"/>
                <a:sym typeface="+mn-lt"/>
              </a:rPr>
              <a:t>5M</a:t>
            </a: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FFFFFF"/>
                </a:solidFill>
                <a:effectLst/>
                <a:uLnTx/>
                <a:uFillTx/>
                <a:cs typeface="+mn-ea"/>
                <a:sym typeface="+mn-lt"/>
              </a:rPr>
              <a:t>营销应用</a:t>
            </a:r>
          </a:p>
        </p:txBody>
      </p:sp>
      <p:sp>
        <p:nvSpPr>
          <p:cNvPr id="25" name="熊大的PPT宝库19"/>
          <p:cNvSpPr txBox="1"/>
          <p:nvPr/>
        </p:nvSpPr>
        <p:spPr>
          <a:xfrm>
            <a:off x="2900468" y="3288834"/>
            <a:ext cx="1414360" cy="803936"/>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FF"/>
                </a:solidFill>
                <a:effectLst/>
                <a:uLnTx/>
                <a:uFillTx/>
                <a:cs typeface="+mn-ea"/>
                <a:sym typeface="+mn-lt"/>
              </a:rPr>
              <a:t>5A</a:t>
            </a:r>
          </a:p>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FFFFFF"/>
                </a:solidFill>
                <a:effectLst/>
                <a:uLnTx/>
                <a:uFillTx/>
                <a:cs typeface="+mn-ea"/>
                <a:sym typeface="+mn-lt"/>
              </a:rPr>
              <a:t>敏捷分析</a:t>
            </a:r>
          </a:p>
        </p:txBody>
      </p:sp>
      <p:sp>
        <p:nvSpPr>
          <p:cNvPr id="26" name="熊大的PPT宝库20"/>
          <p:cNvSpPr/>
          <p:nvPr/>
        </p:nvSpPr>
        <p:spPr>
          <a:xfrm>
            <a:off x="458105" y="3278620"/>
            <a:ext cx="1312753" cy="864000"/>
          </a:xfrm>
          <a:prstGeom prst="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用户分析与业务分析一体化</a:t>
            </a:r>
          </a:p>
        </p:txBody>
      </p:sp>
      <p:sp>
        <p:nvSpPr>
          <p:cNvPr id="27" name="熊大的PPT宝库21"/>
          <p:cNvSpPr/>
          <p:nvPr/>
        </p:nvSpPr>
        <p:spPr>
          <a:xfrm>
            <a:off x="10429500" y="3278620"/>
            <a:ext cx="1312753" cy="864000"/>
          </a:xfrm>
          <a:prstGeom prst="rect">
            <a:avLst/>
          </a:prstGeom>
          <a:solidFill>
            <a:schemeClr val="accent1">
              <a:lumMod val="20000"/>
              <a:lumOff val="8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公域拉新与私域运营一体化</a:t>
            </a:r>
          </a:p>
        </p:txBody>
      </p:sp>
      <p:sp>
        <p:nvSpPr>
          <p:cNvPr id="28" name="熊大的PPT宝库22"/>
          <p:cNvSpPr/>
          <p:nvPr/>
        </p:nvSpPr>
        <p:spPr>
          <a:xfrm>
            <a:off x="1507954" y="1444548"/>
            <a:ext cx="1008000" cy="1008000"/>
          </a:xfrm>
          <a:prstGeom prst="ellipse">
            <a:avLst/>
          </a:prstGeom>
          <a:solidFill>
            <a:schemeClr val="accent1">
              <a:lumMod val="20000"/>
              <a:lumOff val="80000"/>
            </a:schemeClr>
          </a:solidFill>
          <a:ln>
            <a:solidFill>
              <a:schemeClr val="tx2"/>
            </a:solidFill>
            <a:prstDash val="dash"/>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分流对比实验</a:t>
            </a:r>
          </a:p>
        </p:txBody>
      </p:sp>
      <p:sp>
        <p:nvSpPr>
          <p:cNvPr id="29" name="熊大的PPT宝库23"/>
          <p:cNvSpPr/>
          <p:nvPr/>
        </p:nvSpPr>
        <p:spPr>
          <a:xfrm>
            <a:off x="9612371" y="1444548"/>
            <a:ext cx="1008000" cy="1008000"/>
          </a:xfrm>
          <a:prstGeom prst="ellipse">
            <a:avLst/>
          </a:prstGeom>
          <a:solidFill>
            <a:schemeClr val="accent1">
              <a:lumMod val="20000"/>
              <a:lumOff val="80000"/>
            </a:schemeClr>
          </a:solidFill>
          <a:ln>
            <a:solidFill>
              <a:schemeClr val="tx2"/>
            </a:solidFill>
            <a:prstDash val="dash"/>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solidFill>
                <a:effectLst/>
                <a:uLnTx/>
                <a:uFillTx/>
                <a:cs typeface="+mn-ea"/>
                <a:sym typeface="+mn-lt"/>
              </a:rPr>
              <a:t>科学实验最佳策略</a:t>
            </a:r>
          </a:p>
        </p:txBody>
      </p:sp>
      <p:sp>
        <p:nvSpPr>
          <p:cNvPr id="30" name="熊大的PPT宝库24"/>
          <p:cNvSpPr/>
          <p:nvPr/>
        </p:nvSpPr>
        <p:spPr>
          <a:xfrm>
            <a:off x="2599245" y="5351146"/>
            <a:ext cx="1959269" cy="485407"/>
          </a:xfrm>
          <a:prstGeom prst="roundRect">
            <a:avLst>
              <a:gd name="adj" fmla="val 50000"/>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数据接入与敏捷分析</a:t>
            </a:r>
            <a:endParaRPr kumimoji="0" lang="en-US" altLang="zh-CN" sz="1200" b="0" i="0" u="none" strike="noStrike" kern="1200" cap="none" spc="0" normalizeH="0" baseline="0" noProof="0" dirty="0">
              <a:ln>
                <a:noFill/>
              </a:ln>
              <a:solidFill>
                <a:srgbClr val="FFFFFF"/>
              </a:solidFill>
              <a:effectLst/>
              <a:uLnTx/>
              <a:uFillTx/>
              <a:cs typeface="+mn-ea"/>
              <a:sym typeface="+mn-lt"/>
            </a:endParaRPr>
          </a:p>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cs typeface="+mn-ea"/>
                <a:sym typeface="+mn-lt"/>
              </a:rPr>
              <a:t>一体化</a:t>
            </a:r>
          </a:p>
        </p:txBody>
      </p:sp>
      <p:sp>
        <p:nvSpPr>
          <p:cNvPr id="31" name="熊大的PPT宝库25"/>
          <p:cNvSpPr/>
          <p:nvPr/>
        </p:nvSpPr>
        <p:spPr>
          <a:xfrm>
            <a:off x="7629836" y="5351146"/>
            <a:ext cx="1959269" cy="485407"/>
          </a:xfrm>
          <a:prstGeom prst="roundRect">
            <a:avLst>
              <a:gd name="adj" fmla="val 50000"/>
            </a:avLst>
          </a:prstGeom>
          <a:solidFill>
            <a:schemeClr val="accent1">
              <a:lumMod val="20000"/>
              <a:lumOff val="8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标签生产与营销应用</a:t>
            </a:r>
            <a:endParaRPr kumimoji="0" lang="en-US" altLang="zh-CN" sz="1200" b="0" i="0" u="none" strike="noStrike" kern="1200" cap="none" spc="0" normalizeH="0" baseline="0" noProof="0" dirty="0">
              <a:ln>
                <a:noFill/>
              </a:ln>
              <a:solidFill>
                <a:srgbClr val="000000"/>
              </a:solidFill>
              <a:effectLst/>
              <a:uLnTx/>
              <a:uFillTx/>
              <a:cs typeface="+mn-ea"/>
              <a:sym typeface="+mn-lt"/>
            </a:endParaRPr>
          </a:p>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一体化</a:t>
            </a:r>
          </a:p>
        </p:txBody>
      </p:sp>
      <p:sp>
        <p:nvSpPr>
          <p:cNvPr id="32" name="熊大的PPT宝库26"/>
          <p:cNvSpPr/>
          <p:nvPr/>
        </p:nvSpPr>
        <p:spPr>
          <a:xfrm>
            <a:off x="5142473" y="3288834"/>
            <a:ext cx="1919580" cy="864000"/>
          </a:xfrm>
          <a:prstGeom prst="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分析洞察与</a:t>
            </a:r>
            <a:endParaRPr kumimoji="0" lang="en-US" altLang="zh-CN" sz="1400" b="0" i="0" u="none" strike="noStrike" kern="1200" cap="none" spc="0" normalizeH="0" baseline="0" noProof="0" dirty="0">
              <a:ln>
                <a:noFill/>
              </a:ln>
              <a:solidFill>
                <a:srgbClr val="FFFFFF"/>
              </a:solidFill>
              <a:effectLst/>
              <a:uLnTx/>
              <a:uFillTx/>
              <a:cs typeface="+mn-ea"/>
              <a:sym typeface="+mn-lt"/>
            </a:endParaRPr>
          </a:p>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营销应用一体化</a:t>
            </a:r>
          </a:p>
        </p:txBody>
      </p:sp>
      <p:sp>
        <p:nvSpPr>
          <p:cNvPr id="33" name="熊大的PPT宝库27"/>
          <p:cNvSpPr/>
          <p:nvPr/>
        </p:nvSpPr>
        <p:spPr>
          <a:xfrm>
            <a:off x="2000374" y="2171700"/>
            <a:ext cx="8197726" cy="3009900"/>
          </a:xfrm>
          <a:prstGeom prst="roundRect">
            <a:avLst>
              <a:gd name="adj" fmla="val 50000"/>
            </a:avLst>
          </a:prstGeom>
          <a:noFill/>
          <a:ln w="19050">
            <a:solidFill>
              <a:schemeClr val="tx1"/>
            </a:solidFill>
            <a:prstDash val="dash"/>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grpSp>
        <p:nvGrpSpPr>
          <p:cNvPr id="37" name="熊大的PPT宝库28"/>
          <p:cNvGrpSpPr/>
          <p:nvPr/>
        </p:nvGrpSpPr>
        <p:grpSpPr>
          <a:xfrm>
            <a:off x="5808163" y="2057982"/>
            <a:ext cx="588198" cy="227436"/>
            <a:chOff x="6219002" y="-453202"/>
            <a:chExt cx="802562" cy="310323"/>
          </a:xfrm>
        </p:grpSpPr>
        <p:sp>
          <p:nvSpPr>
            <p:cNvPr id="34" name="熊大的PPT宝库28-1"/>
            <p:cNvSpPr/>
            <p:nvPr/>
          </p:nvSpPr>
          <p:spPr>
            <a:xfrm rot="5400000">
              <a:off x="6197600" y="-431800"/>
              <a:ext cx="310323" cy="267520"/>
            </a:xfrm>
            <a:prstGeom prst="triangl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35" name="熊大的PPT宝库28-2"/>
            <p:cNvSpPr/>
            <p:nvPr/>
          </p:nvSpPr>
          <p:spPr>
            <a:xfrm rot="5400000">
              <a:off x="6465121" y="-431800"/>
              <a:ext cx="310323" cy="267520"/>
            </a:xfrm>
            <a:prstGeom prst="triangl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36" name="熊大的PPT宝库28-3"/>
            <p:cNvSpPr/>
            <p:nvPr/>
          </p:nvSpPr>
          <p:spPr>
            <a:xfrm rot="5400000">
              <a:off x="6732642" y="-431800"/>
              <a:ext cx="310323" cy="267520"/>
            </a:xfrm>
            <a:prstGeom prst="triangl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grpSp>
      <p:grpSp>
        <p:nvGrpSpPr>
          <p:cNvPr id="38" name="熊大的PPT宝库29"/>
          <p:cNvGrpSpPr/>
          <p:nvPr/>
        </p:nvGrpSpPr>
        <p:grpSpPr>
          <a:xfrm flipH="1">
            <a:off x="5808163" y="5067882"/>
            <a:ext cx="588198" cy="227436"/>
            <a:chOff x="6219002" y="-453202"/>
            <a:chExt cx="802562" cy="310323"/>
          </a:xfrm>
        </p:grpSpPr>
        <p:sp>
          <p:nvSpPr>
            <p:cNvPr id="39" name="熊大的PPT宝库29-1"/>
            <p:cNvSpPr/>
            <p:nvPr/>
          </p:nvSpPr>
          <p:spPr>
            <a:xfrm rot="5400000">
              <a:off x="6197600" y="-431800"/>
              <a:ext cx="310323" cy="267520"/>
            </a:xfrm>
            <a:prstGeom prst="triangl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40" name="熊大的PPT宝库29-2"/>
            <p:cNvSpPr/>
            <p:nvPr/>
          </p:nvSpPr>
          <p:spPr>
            <a:xfrm rot="5400000">
              <a:off x="6465121" y="-431800"/>
              <a:ext cx="310323" cy="267520"/>
            </a:xfrm>
            <a:prstGeom prst="triangl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41" name="熊大的PPT宝库29-3"/>
            <p:cNvSpPr/>
            <p:nvPr/>
          </p:nvSpPr>
          <p:spPr>
            <a:xfrm rot="5400000">
              <a:off x="6732642" y="-431800"/>
              <a:ext cx="310323" cy="267520"/>
            </a:xfrm>
            <a:prstGeom prst="triangl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grpSp>
      <p:sp>
        <p:nvSpPr>
          <p:cNvPr id="42" name="熊大的PPT宝库30"/>
          <p:cNvSpPr/>
          <p:nvPr/>
        </p:nvSpPr>
        <p:spPr>
          <a:xfrm>
            <a:off x="4222984" y="1383762"/>
            <a:ext cx="3746033" cy="368976"/>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营销活动、数据分析与策略实验一体化</a:t>
            </a:r>
          </a:p>
        </p:txBody>
      </p:sp>
      <p:sp>
        <p:nvSpPr>
          <p:cNvPr id="43" name="熊大的PPT宝库31"/>
          <p:cNvSpPr txBox="1"/>
          <p:nvPr/>
        </p:nvSpPr>
        <p:spPr>
          <a:xfrm>
            <a:off x="1040400" y="6013511"/>
            <a:ext cx="1210589" cy="400110"/>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000000"/>
                </a:solidFill>
                <a:effectLst/>
                <a:uLnTx/>
                <a:uFillTx/>
                <a:cs typeface="+mn-ea"/>
                <a:sym typeface="+mn-lt"/>
              </a:rPr>
              <a:t>公域流量</a:t>
            </a:r>
          </a:p>
        </p:txBody>
      </p:sp>
      <p:sp>
        <p:nvSpPr>
          <p:cNvPr id="44" name="熊大的PPT宝库32"/>
          <p:cNvSpPr txBox="1"/>
          <p:nvPr/>
        </p:nvSpPr>
        <p:spPr>
          <a:xfrm>
            <a:off x="10121148" y="6013511"/>
            <a:ext cx="1210588" cy="400110"/>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000000"/>
                </a:solidFill>
                <a:effectLst/>
                <a:uLnTx/>
                <a:uFillTx/>
                <a:cs typeface="+mn-ea"/>
                <a:sym typeface="+mn-lt"/>
              </a:rPr>
              <a:t>私域流量</a:t>
            </a:r>
          </a:p>
        </p:txBody>
      </p:sp>
      <p:cxnSp>
        <p:nvCxnSpPr>
          <p:cNvPr id="46" name="熊大的PPT宝库33"/>
          <p:cNvCxnSpPr/>
          <p:nvPr/>
        </p:nvCxnSpPr>
        <p:spPr>
          <a:xfrm>
            <a:off x="2483615" y="6250669"/>
            <a:ext cx="7224771" cy="0"/>
          </a:xfrm>
          <a:prstGeom prst="straightConnector1">
            <a:avLst/>
          </a:prstGeom>
          <a:ln w="34925">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sp>
        <p:nvSpPr>
          <p:cNvPr id="47" name="熊大的PPT宝库34"/>
          <p:cNvSpPr txBox="1"/>
          <p:nvPr/>
        </p:nvSpPr>
        <p:spPr>
          <a:xfrm>
            <a:off x="3849231" y="5939959"/>
            <a:ext cx="4493538" cy="307777"/>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329D">
                    <a:lumMod val="75000"/>
                  </a:srgbClr>
                </a:solidFill>
                <a:effectLst/>
                <a:uLnTx/>
                <a:uFillTx/>
                <a:cs typeface="+mn-ea"/>
                <a:sym typeface="+mn-lt"/>
              </a:rPr>
              <a:t>传递品牌价值、快速获取意向用户，家里私域流量营销</a:t>
            </a:r>
          </a:p>
        </p:txBody>
      </p:sp>
      <p:grpSp>
        <p:nvGrpSpPr>
          <p:cNvPr id="48" name="熊大的PPT宝库35"/>
          <p:cNvGrpSpPr/>
          <p:nvPr/>
        </p:nvGrpSpPr>
        <p:grpSpPr>
          <a:xfrm>
            <a:off x="903473" y="4358406"/>
            <a:ext cx="588198" cy="227436"/>
            <a:chOff x="6219002" y="-453202"/>
            <a:chExt cx="802562" cy="310323"/>
          </a:xfrm>
        </p:grpSpPr>
        <p:sp>
          <p:nvSpPr>
            <p:cNvPr id="49" name="熊大的PPT宝库35-1"/>
            <p:cNvSpPr/>
            <p:nvPr/>
          </p:nvSpPr>
          <p:spPr>
            <a:xfrm rot="5400000">
              <a:off x="6197600" y="-431800"/>
              <a:ext cx="310323" cy="267520"/>
            </a:xfrm>
            <a:prstGeom prst="triangl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50" name="熊大的PPT宝库35-2"/>
            <p:cNvSpPr/>
            <p:nvPr/>
          </p:nvSpPr>
          <p:spPr>
            <a:xfrm rot="5400000">
              <a:off x="6465121" y="-431800"/>
              <a:ext cx="310323" cy="267520"/>
            </a:xfrm>
            <a:prstGeom prst="triangl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51" name="熊大的PPT宝库35-3"/>
            <p:cNvSpPr/>
            <p:nvPr/>
          </p:nvSpPr>
          <p:spPr>
            <a:xfrm rot="5400000">
              <a:off x="6732642" y="-431800"/>
              <a:ext cx="310323" cy="267520"/>
            </a:xfrm>
            <a:prstGeom prst="triangl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grpSp>
      <p:grpSp>
        <p:nvGrpSpPr>
          <p:cNvPr id="52" name="熊大的PPT宝库36"/>
          <p:cNvGrpSpPr/>
          <p:nvPr/>
        </p:nvGrpSpPr>
        <p:grpSpPr>
          <a:xfrm flipH="1">
            <a:off x="10896395" y="4358407"/>
            <a:ext cx="588198" cy="227436"/>
            <a:chOff x="6219002" y="-453202"/>
            <a:chExt cx="802562" cy="310323"/>
          </a:xfrm>
        </p:grpSpPr>
        <p:sp>
          <p:nvSpPr>
            <p:cNvPr id="53" name="熊大的PPT宝库36-1"/>
            <p:cNvSpPr/>
            <p:nvPr/>
          </p:nvSpPr>
          <p:spPr>
            <a:xfrm rot="5400000">
              <a:off x="6197600" y="-431800"/>
              <a:ext cx="310323" cy="267520"/>
            </a:xfrm>
            <a:prstGeom prst="triangl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54" name="熊大的PPT宝库36-2"/>
            <p:cNvSpPr/>
            <p:nvPr/>
          </p:nvSpPr>
          <p:spPr>
            <a:xfrm rot="5400000">
              <a:off x="6465121" y="-431800"/>
              <a:ext cx="310323" cy="267520"/>
            </a:xfrm>
            <a:prstGeom prst="triangl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55" name="熊大的PPT宝库36-3"/>
            <p:cNvSpPr/>
            <p:nvPr/>
          </p:nvSpPr>
          <p:spPr>
            <a:xfrm rot="5400000">
              <a:off x="6732642" y="-431800"/>
              <a:ext cx="310323" cy="267520"/>
            </a:xfrm>
            <a:prstGeom prst="triangl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grpSp>
      <p:sp>
        <p:nvSpPr>
          <p:cNvPr id="56" name="熊大的PPT宝库37"/>
          <p:cNvSpPr txBox="1"/>
          <p:nvPr/>
        </p:nvSpPr>
        <p:spPr>
          <a:xfrm>
            <a:off x="1437636" y="4355952"/>
            <a:ext cx="800219" cy="276999"/>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公域流量</a:t>
            </a:r>
          </a:p>
        </p:txBody>
      </p:sp>
      <p:sp>
        <p:nvSpPr>
          <p:cNvPr id="57" name="熊大的PPT宝库38"/>
          <p:cNvSpPr txBox="1"/>
          <p:nvPr/>
        </p:nvSpPr>
        <p:spPr>
          <a:xfrm>
            <a:off x="10046720" y="4370543"/>
            <a:ext cx="800219" cy="276999"/>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私域流量</a:t>
            </a:r>
          </a:p>
        </p:txBody>
      </p:sp>
      <p:sp>
        <p:nvSpPr>
          <p:cNvPr id="58" name="熊大的PPT宝库39"/>
          <p:cNvSpPr txBox="1"/>
          <p:nvPr/>
        </p:nvSpPr>
        <p:spPr>
          <a:xfrm>
            <a:off x="5766422" y="4794357"/>
            <a:ext cx="659156" cy="276999"/>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数据流</a:t>
            </a:r>
          </a:p>
        </p:txBody>
      </p:sp>
      <p:sp>
        <p:nvSpPr>
          <p:cNvPr id="59" name="熊大的PPT宝库40"/>
          <p:cNvSpPr txBox="1"/>
          <p:nvPr/>
        </p:nvSpPr>
        <p:spPr>
          <a:xfrm>
            <a:off x="5772835" y="2431826"/>
            <a:ext cx="646331" cy="276999"/>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业务流</a:t>
            </a:r>
          </a:p>
        </p:txBody>
      </p:sp>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熊大的PPT宝库1"/>
          <p:cNvCxnSpPr/>
          <p:nvPr/>
        </p:nvCxnSpPr>
        <p:spPr>
          <a:xfrm flipH="1">
            <a:off x="1562969" y="2898217"/>
            <a:ext cx="684000" cy="0"/>
          </a:xfrm>
          <a:prstGeom prst="straightConnector1">
            <a:avLst/>
          </a:prstGeom>
          <a:ln w="19050">
            <a:solidFill>
              <a:schemeClr val="accent6"/>
            </a:solidFill>
            <a:custDash>
              <a:ds d="200000" sp="200000"/>
            </a:custDash>
            <a:miter lim="400000"/>
            <a:tailEnd type="triangle"/>
          </a:ln>
        </p:spPr>
      </p:cxnSp>
      <p:sp>
        <p:nvSpPr>
          <p:cNvPr id="2" name="熊大的PPT宝库2"/>
          <p:cNvSpPr txBox="1"/>
          <p:nvPr/>
        </p:nvSpPr>
        <p:spPr>
          <a:xfrm>
            <a:off x="348830" y="216968"/>
            <a:ext cx="2646878"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工作成果展示</a:t>
            </a:r>
          </a:p>
        </p:txBody>
      </p:sp>
      <p:sp>
        <p:nvSpPr>
          <p:cNvPr id="4" name="熊大的PPT宝库4"/>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
        <p:nvSpPr>
          <p:cNvPr id="6" name="熊大的PPT宝库5"/>
          <p:cNvSpPr/>
          <p:nvPr/>
        </p:nvSpPr>
        <p:spPr>
          <a:xfrm>
            <a:off x="2533852" y="5075877"/>
            <a:ext cx="4440735" cy="1467021"/>
          </a:xfrm>
          <a:prstGeom prst="roundRect">
            <a:avLst>
              <a:gd name="adj" fmla="val 0"/>
            </a:avLst>
          </a:prstGeom>
          <a:solidFill>
            <a:schemeClr val="accent1">
              <a:lumMod val="20000"/>
              <a:lumOff val="80000"/>
              <a:alpha val="30000"/>
            </a:schemeClr>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7" name="熊大的PPT宝库6"/>
          <p:cNvSpPr/>
          <p:nvPr/>
        </p:nvSpPr>
        <p:spPr>
          <a:xfrm>
            <a:off x="2533851" y="5075877"/>
            <a:ext cx="4440735" cy="552483"/>
          </a:xfrm>
          <a:prstGeom prst="roundRect">
            <a:avLst>
              <a:gd name="adj" fmla="val 0"/>
            </a:avLst>
          </a:prstGeom>
          <a:solidFill>
            <a:schemeClr val="accent1"/>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8" name="熊大的PPT宝库7"/>
          <p:cNvSpPr/>
          <p:nvPr/>
        </p:nvSpPr>
        <p:spPr>
          <a:xfrm>
            <a:off x="451053" y="5075877"/>
            <a:ext cx="1903463" cy="1467021"/>
          </a:xfrm>
          <a:prstGeom prst="roundRect">
            <a:avLst>
              <a:gd name="adj" fmla="val 0"/>
            </a:avLst>
          </a:prstGeom>
          <a:solidFill>
            <a:schemeClr val="accent1">
              <a:lumMod val="20000"/>
              <a:lumOff val="80000"/>
              <a:alpha val="30000"/>
            </a:schemeClr>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9" name="熊大的PPT宝库8"/>
          <p:cNvSpPr/>
          <p:nvPr/>
        </p:nvSpPr>
        <p:spPr>
          <a:xfrm>
            <a:off x="451053" y="5075877"/>
            <a:ext cx="1903463" cy="552483"/>
          </a:xfrm>
          <a:prstGeom prst="roundRect">
            <a:avLst>
              <a:gd name="adj" fmla="val 0"/>
            </a:avLst>
          </a:prstGeom>
          <a:solidFill>
            <a:schemeClr val="accent3"/>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0" name="熊大的PPT宝库9"/>
          <p:cNvSpPr/>
          <p:nvPr/>
        </p:nvSpPr>
        <p:spPr>
          <a:xfrm flipH="1" flipV="1">
            <a:off x="1549928" y="1678107"/>
            <a:ext cx="813630" cy="578381"/>
          </a:xfrm>
          <a:prstGeom prst="line">
            <a:avLst/>
          </a:prstGeom>
          <a:ln w="19050">
            <a:solidFill>
              <a:schemeClr val="accent6"/>
            </a:solidFill>
            <a:custDash>
              <a:ds d="200000" sp="200000"/>
            </a:custDash>
            <a:miter lim="400000"/>
            <a:tailEnd type="triangle"/>
          </a:ln>
        </p:spPr>
        <p:txBody>
          <a:bodyPr lIns="22859" tIns="22859" rIns="22859" bIns="22859"/>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dirty="0">
              <a:ln>
                <a:noFill/>
              </a:ln>
              <a:solidFill>
                <a:prstClr val="black"/>
              </a:solidFill>
              <a:effectLst/>
              <a:uLnTx/>
              <a:uFillTx/>
              <a:cs typeface="+mn-ea"/>
              <a:sym typeface="+mn-lt"/>
            </a:endParaRPr>
          </a:p>
        </p:txBody>
      </p:sp>
      <p:sp>
        <p:nvSpPr>
          <p:cNvPr id="12" name="熊大的PPT宝库10"/>
          <p:cNvSpPr/>
          <p:nvPr/>
        </p:nvSpPr>
        <p:spPr>
          <a:xfrm flipH="1">
            <a:off x="1549928" y="3619368"/>
            <a:ext cx="813630" cy="578381"/>
          </a:xfrm>
          <a:prstGeom prst="line">
            <a:avLst/>
          </a:prstGeom>
          <a:ln w="19050">
            <a:solidFill>
              <a:schemeClr val="accent6"/>
            </a:solidFill>
            <a:custDash>
              <a:ds d="200000" sp="200000"/>
            </a:custDash>
            <a:miter lim="400000"/>
            <a:tailEnd type="triangle"/>
          </a:ln>
        </p:spPr>
        <p:txBody>
          <a:bodyPr lIns="22859" tIns="22859" rIns="22859" bIns="22859"/>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dirty="0">
              <a:ln>
                <a:noFill/>
              </a:ln>
              <a:solidFill>
                <a:prstClr val="black"/>
              </a:solidFill>
              <a:effectLst/>
              <a:uLnTx/>
              <a:uFillTx/>
              <a:cs typeface="+mn-ea"/>
              <a:sym typeface="+mn-lt"/>
            </a:endParaRPr>
          </a:p>
        </p:txBody>
      </p:sp>
      <p:grpSp>
        <p:nvGrpSpPr>
          <p:cNvPr id="13" name="熊大的PPT宝库11"/>
          <p:cNvGrpSpPr/>
          <p:nvPr/>
        </p:nvGrpSpPr>
        <p:grpSpPr>
          <a:xfrm>
            <a:off x="2354516" y="2051286"/>
            <a:ext cx="6969396" cy="1911399"/>
            <a:chOff x="2188557" y="2035152"/>
            <a:chExt cx="6969396" cy="1911399"/>
          </a:xfrm>
        </p:grpSpPr>
        <p:sp>
          <p:nvSpPr>
            <p:cNvPr id="14" name="熊大的PPT宝库11-1"/>
            <p:cNvSpPr/>
            <p:nvPr/>
          </p:nvSpPr>
          <p:spPr>
            <a:xfrm>
              <a:off x="2188557" y="2035152"/>
              <a:ext cx="6969396" cy="920481"/>
            </a:xfrm>
            <a:prstGeom prst="rightArrow">
              <a:avLst>
                <a:gd name="adj1" fmla="val 66490"/>
                <a:gd name="adj2" fmla="val 63054"/>
              </a:avLst>
            </a:prstGeom>
            <a:gradFill flip="none" rotWithShape="1">
              <a:gsLst>
                <a:gs pos="0">
                  <a:schemeClr val="accent1">
                    <a:alpha val="0"/>
                  </a:schemeClr>
                </a:gs>
                <a:gs pos="68000">
                  <a:schemeClr val="accent1"/>
                </a:gs>
              </a:gsLst>
              <a:lin ang="0" scaled="0"/>
              <a:tileRect/>
            </a:gra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15" name="熊大的PPT宝库11-2"/>
            <p:cNvSpPr/>
            <p:nvPr/>
          </p:nvSpPr>
          <p:spPr>
            <a:xfrm>
              <a:off x="2188557" y="3026070"/>
              <a:ext cx="6969396" cy="920481"/>
            </a:xfrm>
            <a:prstGeom prst="rightArrow">
              <a:avLst>
                <a:gd name="adj1" fmla="val 66490"/>
                <a:gd name="adj2" fmla="val 63054"/>
              </a:avLst>
            </a:prstGeom>
            <a:gradFill flip="none" rotWithShape="1">
              <a:gsLst>
                <a:gs pos="0">
                  <a:schemeClr val="accent1">
                    <a:alpha val="0"/>
                  </a:schemeClr>
                </a:gs>
                <a:gs pos="68000">
                  <a:schemeClr val="accent1"/>
                </a:gs>
              </a:gsLst>
              <a:lin ang="0" scaled="0"/>
              <a:tileRect/>
            </a:gra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grpSp>
      <p:grpSp>
        <p:nvGrpSpPr>
          <p:cNvPr id="16" name="熊大的PPT宝库12"/>
          <p:cNvGrpSpPr/>
          <p:nvPr/>
        </p:nvGrpSpPr>
        <p:grpSpPr>
          <a:xfrm>
            <a:off x="6693778" y="1847493"/>
            <a:ext cx="1614297" cy="2325084"/>
            <a:chOff x="6693778" y="1847493"/>
            <a:chExt cx="1614297" cy="2325084"/>
          </a:xfrm>
        </p:grpSpPr>
        <p:grpSp>
          <p:nvGrpSpPr>
            <p:cNvPr id="17" name="组合 16"/>
            <p:cNvGrpSpPr/>
            <p:nvPr/>
          </p:nvGrpSpPr>
          <p:grpSpPr>
            <a:xfrm>
              <a:off x="6743029" y="1847493"/>
              <a:ext cx="1565046" cy="2325084"/>
              <a:chOff x="1349877" y="1788771"/>
              <a:chExt cx="1863884" cy="2485150"/>
            </a:xfrm>
          </p:grpSpPr>
          <p:sp>
            <p:nvSpPr>
              <p:cNvPr id="20" name="熊大的PPT宝库12-1"/>
              <p:cNvSpPr/>
              <p:nvPr/>
            </p:nvSpPr>
            <p:spPr>
              <a:xfrm rot="16200000" flipH="1">
                <a:off x="1248914" y="2309074"/>
                <a:ext cx="2485150" cy="1444544"/>
              </a:xfrm>
              <a:custGeom>
                <a:avLst/>
                <a:gdLst>
                  <a:gd name="connsiteX0" fmla="*/ 0 w 1468316"/>
                  <a:gd name="connsiteY0" fmla="*/ 1 h 1032301"/>
                  <a:gd name="connsiteX1" fmla="*/ 734158 w 1468316"/>
                  <a:gd name="connsiteY1" fmla="*/ 320965 h 1032301"/>
                  <a:gd name="connsiteX2" fmla="*/ 1468316 w 1468316"/>
                  <a:gd name="connsiteY2" fmla="*/ 1 h 1032301"/>
                  <a:gd name="connsiteX3" fmla="*/ 1468316 w 1468316"/>
                  <a:gd name="connsiteY3" fmla="*/ 711337 h 1032301"/>
                  <a:gd name="connsiteX4" fmla="*/ 734158 w 1468316"/>
                  <a:gd name="connsiteY4" fmla="*/ 1032301 h 1032301"/>
                  <a:gd name="connsiteX5" fmla="*/ 0 w 1468316"/>
                  <a:gd name="connsiteY5" fmla="*/ 711337 h 1032301"/>
                  <a:gd name="connsiteX6" fmla="*/ 1468316 w 1468316"/>
                  <a:gd name="connsiteY6" fmla="*/ 0 h 1032301"/>
                  <a:gd name="connsiteX7" fmla="*/ 1468316 w 1468316"/>
                  <a:gd name="connsiteY7" fmla="*/ 0 h 1032301"/>
                  <a:gd name="connsiteX8" fmla="*/ 1468316 w 1468316"/>
                  <a:gd name="connsiteY8" fmla="*/ 1 h 1032301"/>
                  <a:gd name="connsiteX9" fmla="*/ 0 w 1468316"/>
                  <a:gd name="connsiteY9" fmla="*/ 0 h 1032301"/>
                  <a:gd name="connsiteX10" fmla="*/ 0 w 1468316"/>
                  <a:gd name="connsiteY10" fmla="*/ 0 h 1032301"/>
                  <a:gd name="connsiteX11" fmla="*/ 0 w 1468316"/>
                  <a:gd name="connsiteY11" fmla="*/ 1 h 1032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8316" h="1032301">
                    <a:moveTo>
                      <a:pt x="0" y="1"/>
                    </a:moveTo>
                    <a:cubicBezTo>
                      <a:pt x="0" y="177265"/>
                      <a:pt x="328694" y="320965"/>
                      <a:pt x="734158" y="320965"/>
                    </a:cubicBezTo>
                    <a:cubicBezTo>
                      <a:pt x="1139622" y="320965"/>
                      <a:pt x="1468316" y="177265"/>
                      <a:pt x="1468316" y="1"/>
                    </a:cubicBezTo>
                    <a:lnTo>
                      <a:pt x="1468316" y="711337"/>
                    </a:lnTo>
                    <a:cubicBezTo>
                      <a:pt x="1468316" y="888601"/>
                      <a:pt x="1139622" y="1032301"/>
                      <a:pt x="734158" y="1032301"/>
                    </a:cubicBezTo>
                    <a:cubicBezTo>
                      <a:pt x="328694" y="1032301"/>
                      <a:pt x="0" y="888601"/>
                      <a:pt x="0" y="711337"/>
                    </a:cubicBezTo>
                    <a:close/>
                    <a:moveTo>
                      <a:pt x="1468316" y="0"/>
                    </a:moveTo>
                    <a:lnTo>
                      <a:pt x="1468316" y="0"/>
                    </a:lnTo>
                    <a:lnTo>
                      <a:pt x="1468316" y="1"/>
                    </a:lnTo>
                    <a:close/>
                    <a:moveTo>
                      <a:pt x="0" y="0"/>
                    </a:moveTo>
                    <a:lnTo>
                      <a:pt x="0" y="0"/>
                    </a:lnTo>
                    <a:lnTo>
                      <a:pt x="0" y="1"/>
                    </a:lnTo>
                    <a:close/>
                  </a:path>
                </a:pathLst>
              </a:custGeom>
              <a:solidFill>
                <a:schemeClr val="accent1">
                  <a:alpha val="19062"/>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21" name="熊大的PPT宝库12-2"/>
              <p:cNvSpPr/>
              <p:nvPr/>
            </p:nvSpPr>
            <p:spPr>
              <a:xfrm rot="5400000">
                <a:off x="829574" y="2309074"/>
                <a:ext cx="2485150" cy="1444544"/>
              </a:xfrm>
              <a:custGeom>
                <a:avLst/>
                <a:gdLst>
                  <a:gd name="connsiteX0" fmla="*/ 0 w 1468316"/>
                  <a:gd name="connsiteY0" fmla="*/ 1 h 1032301"/>
                  <a:gd name="connsiteX1" fmla="*/ 734158 w 1468316"/>
                  <a:gd name="connsiteY1" fmla="*/ 320965 h 1032301"/>
                  <a:gd name="connsiteX2" fmla="*/ 1468316 w 1468316"/>
                  <a:gd name="connsiteY2" fmla="*/ 1 h 1032301"/>
                  <a:gd name="connsiteX3" fmla="*/ 1468316 w 1468316"/>
                  <a:gd name="connsiteY3" fmla="*/ 711337 h 1032301"/>
                  <a:gd name="connsiteX4" fmla="*/ 734158 w 1468316"/>
                  <a:gd name="connsiteY4" fmla="*/ 1032301 h 1032301"/>
                  <a:gd name="connsiteX5" fmla="*/ 0 w 1468316"/>
                  <a:gd name="connsiteY5" fmla="*/ 711337 h 1032301"/>
                  <a:gd name="connsiteX6" fmla="*/ 1468316 w 1468316"/>
                  <a:gd name="connsiteY6" fmla="*/ 0 h 1032301"/>
                  <a:gd name="connsiteX7" fmla="*/ 1468316 w 1468316"/>
                  <a:gd name="connsiteY7" fmla="*/ 0 h 1032301"/>
                  <a:gd name="connsiteX8" fmla="*/ 1468316 w 1468316"/>
                  <a:gd name="connsiteY8" fmla="*/ 1 h 1032301"/>
                  <a:gd name="connsiteX9" fmla="*/ 0 w 1468316"/>
                  <a:gd name="connsiteY9" fmla="*/ 0 h 1032301"/>
                  <a:gd name="connsiteX10" fmla="*/ 0 w 1468316"/>
                  <a:gd name="connsiteY10" fmla="*/ 0 h 1032301"/>
                  <a:gd name="connsiteX11" fmla="*/ 0 w 1468316"/>
                  <a:gd name="connsiteY11" fmla="*/ 1 h 1032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8316" h="1032301">
                    <a:moveTo>
                      <a:pt x="0" y="1"/>
                    </a:moveTo>
                    <a:cubicBezTo>
                      <a:pt x="0" y="177265"/>
                      <a:pt x="328694" y="320965"/>
                      <a:pt x="734158" y="320965"/>
                    </a:cubicBezTo>
                    <a:cubicBezTo>
                      <a:pt x="1139622" y="320965"/>
                      <a:pt x="1468316" y="177265"/>
                      <a:pt x="1468316" y="1"/>
                    </a:cubicBezTo>
                    <a:lnTo>
                      <a:pt x="1468316" y="711337"/>
                    </a:lnTo>
                    <a:cubicBezTo>
                      <a:pt x="1468316" y="888601"/>
                      <a:pt x="1139622" y="1032301"/>
                      <a:pt x="734158" y="1032301"/>
                    </a:cubicBezTo>
                    <a:cubicBezTo>
                      <a:pt x="328694" y="1032301"/>
                      <a:pt x="0" y="888601"/>
                      <a:pt x="0" y="711337"/>
                    </a:cubicBezTo>
                    <a:close/>
                    <a:moveTo>
                      <a:pt x="1468316" y="0"/>
                    </a:moveTo>
                    <a:lnTo>
                      <a:pt x="1468316" y="0"/>
                    </a:lnTo>
                    <a:lnTo>
                      <a:pt x="1468316" y="1"/>
                    </a:lnTo>
                    <a:close/>
                    <a:moveTo>
                      <a:pt x="0" y="0"/>
                    </a:moveTo>
                    <a:lnTo>
                      <a:pt x="0" y="0"/>
                    </a:lnTo>
                    <a:lnTo>
                      <a:pt x="0" y="1"/>
                    </a:lnTo>
                    <a:close/>
                  </a:path>
                </a:pathLst>
              </a:custGeom>
              <a:gradFill>
                <a:gsLst>
                  <a:gs pos="0">
                    <a:schemeClr val="accent1">
                      <a:alpha val="81302"/>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000000"/>
                  </a:solidFill>
                  <a:effectLst/>
                  <a:uLnTx/>
                  <a:uFillTx/>
                  <a:cs typeface="+mn-ea"/>
                  <a:sym typeface="+mn-lt"/>
                </a:endParaRPr>
              </a:p>
            </p:txBody>
          </p:sp>
        </p:grpSp>
        <p:sp>
          <p:nvSpPr>
            <p:cNvPr id="18" name="熊大的PPT宝库12-3"/>
            <p:cNvSpPr txBox="1"/>
            <p:nvPr/>
          </p:nvSpPr>
          <p:spPr>
            <a:xfrm>
              <a:off x="6693778" y="2709155"/>
              <a:ext cx="896575" cy="49244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调整</a:t>
              </a:r>
              <a:endParaRPr kumimoji="0" lang="en-US" altLang="zh-CN" sz="1600" b="0" i="0" u="none" strike="noStrike" kern="1200" cap="none" spc="0" normalizeH="0" baseline="0" noProof="0" dirty="0">
                <a:ln>
                  <a:noFill/>
                </a:ln>
                <a:solidFill>
                  <a:srgbClr val="FFFFFF"/>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反馈</a:t>
              </a:r>
            </a:p>
          </p:txBody>
        </p:sp>
      </p:grpSp>
      <p:sp>
        <p:nvSpPr>
          <p:cNvPr id="22" name="熊大的PPT宝库13"/>
          <p:cNvSpPr txBox="1"/>
          <p:nvPr/>
        </p:nvSpPr>
        <p:spPr>
          <a:xfrm>
            <a:off x="692124" y="5787723"/>
            <a:ext cx="1509597" cy="519629"/>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1000" b="0" i="0" u="none" strike="noStrike" cap="none" spc="0" normalizeH="0" baseline="0">
                <a:ln>
                  <a:noFill/>
                </a:ln>
                <a:solidFill>
                  <a:srgbClr val="000000">
                    <a:alpha val="6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l" defTabSz="4572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在营业额方面，新产品的市场表现十分强劲，首月销售额较预期高出</a:t>
            </a:r>
            <a:r>
              <a:rPr kumimoji="0" lang="en-US" altLang="zh-CN"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20%</a:t>
            </a:r>
            <a:endParaRPr kumimoji="0" lang="zh-CN" altLang="en-US" sz="1000" b="0" i="0" u="none" strike="noStrike" kern="1200" cap="none" spc="0" normalizeH="0" baseline="0" noProof="0" dirty="0">
              <a:ln>
                <a:noFill/>
              </a:ln>
              <a:solidFill>
                <a:srgbClr val="000000">
                  <a:alpha val="65000"/>
                </a:srgbClr>
              </a:solidFill>
              <a:effectLst/>
              <a:uLnTx/>
              <a:uFillTx/>
              <a:latin typeface="+mn-lt"/>
              <a:ea typeface="+mn-ea"/>
              <a:cs typeface="+mn-ea"/>
              <a:sym typeface="+mn-lt"/>
            </a:endParaRPr>
          </a:p>
        </p:txBody>
      </p:sp>
      <p:sp>
        <p:nvSpPr>
          <p:cNvPr id="23" name="熊大的PPT宝库14"/>
          <p:cNvSpPr/>
          <p:nvPr/>
        </p:nvSpPr>
        <p:spPr>
          <a:xfrm rot="10800000">
            <a:off x="8931314" y="2482326"/>
            <a:ext cx="2815930" cy="1070170"/>
          </a:xfrm>
          <a:prstGeom prst="homePlate">
            <a:avLst>
              <a:gd name="adj" fmla="val 59845"/>
            </a:avLst>
          </a:prstGeom>
          <a:solidFill>
            <a:schemeClr val="accent1">
              <a:lumMod val="20000"/>
              <a:lumOff val="8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sp>
        <p:nvSpPr>
          <p:cNvPr id="24" name="熊大的PPT宝库15"/>
          <p:cNvSpPr txBox="1"/>
          <p:nvPr/>
        </p:nvSpPr>
        <p:spPr>
          <a:xfrm>
            <a:off x="9686904" y="2662504"/>
            <a:ext cx="1936526" cy="729687"/>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1000" u="none" strike="noStrike" cap="none" spc="0" normalizeH="0" baseline="0">
                <a:ln>
                  <a:noFill/>
                </a:ln>
                <a:solidFill>
                  <a:schemeClr val="bg1">
                    <a:alpha val="65000"/>
                  </a:schemeClr>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mn-lt"/>
                <a:ea typeface="+mn-ea"/>
                <a:cs typeface="+mn-ea"/>
                <a:sym typeface="+mn-lt"/>
              </a:rPr>
              <a:t>用户对新产品的认知和接受度提高，通过市场推广的效果和用户调查数据，了解新产品在目标用户中的认知和接受度提高情况</a:t>
            </a:r>
            <a:endParaRPr kumimoji="0" lang="en-US" altLang="zh-CN" sz="1000" b="0" i="0" u="none" strike="noStrike" kern="1200" cap="none" spc="0" normalizeH="0" baseline="0" noProof="0" dirty="0">
              <a:ln>
                <a:noFill/>
              </a:ln>
              <a:solidFill>
                <a:srgbClr val="000000"/>
              </a:solidFill>
              <a:effectLst/>
              <a:uLnTx/>
              <a:uFillTx/>
              <a:latin typeface="+mn-lt"/>
              <a:ea typeface="+mn-ea"/>
              <a:cs typeface="+mn-ea"/>
              <a:sym typeface="+mn-lt"/>
            </a:endParaRPr>
          </a:p>
        </p:txBody>
      </p:sp>
      <p:sp>
        <p:nvSpPr>
          <p:cNvPr id="25" name="熊大的PPT宝库16"/>
          <p:cNvSpPr/>
          <p:nvPr/>
        </p:nvSpPr>
        <p:spPr>
          <a:xfrm rot="10800000">
            <a:off x="8931313" y="3684319"/>
            <a:ext cx="2815931" cy="1070170"/>
          </a:xfrm>
          <a:prstGeom prst="homePlate">
            <a:avLst>
              <a:gd name="adj" fmla="val 59845"/>
            </a:avLst>
          </a:prstGeom>
          <a:solidFill>
            <a:schemeClr val="accent1">
              <a:lumMod val="20000"/>
              <a:lumOff val="8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sp>
        <p:nvSpPr>
          <p:cNvPr id="26" name="熊大的PPT宝库17"/>
          <p:cNvSpPr txBox="1"/>
          <p:nvPr/>
        </p:nvSpPr>
        <p:spPr>
          <a:xfrm>
            <a:off x="9686904" y="3922672"/>
            <a:ext cx="1936526" cy="545021"/>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1000" u="none" strike="noStrike" cap="none" spc="0" normalizeH="0" baseline="0">
                <a:ln>
                  <a:noFill/>
                </a:ln>
                <a:solidFill>
                  <a:schemeClr val="bg1">
                    <a:alpha val="65000"/>
                  </a:schemeClr>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just" defTabSz="4572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mn-lt"/>
                <a:ea typeface="+mn-ea"/>
                <a:cs typeface="+mn-ea"/>
                <a:sym typeface="+mn-lt"/>
              </a:rPr>
              <a:t>销售额增长，通过销售数据的监测，评估新产品上市后销售额增长情况，销售额增长，通过销售数据的监测</a:t>
            </a:r>
            <a:endParaRPr kumimoji="0" lang="en-US" altLang="zh-CN" sz="1000" b="0" i="0" u="none" strike="noStrike" kern="1200" cap="none" spc="0" normalizeH="0" baseline="0" noProof="0" dirty="0">
              <a:ln>
                <a:noFill/>
              </a:ln>
              <a:solidFill>
                <a:srgbClr val="000000"/>
              </a:solidFill>
              <a:effectLst/>
              <a:uLnTx/>
              <a:uFillTx/>
              <a:latin typeface="+mn-lt"/>
              <a:ea typeface="+mn-ea"/>
              <a:cs typeface="+mn-ea"/>
              <a:sym typeface="+mn-lt"/>
            </a:endParaRPr>
          </a:p>
        </p:txBody>
      </p:sp>
      <p:sp>
        <p:nvSpPr>
          <p:cNvPr id="27" name="熊大的PPT宝库18"/>
          <p:cNvSpPr/>
          <p:nvPr/>
        </p:nvSpPr>
        <p:spPr>
          <a:xfrm rot="10800000">
            <a:off x="8931313" y="1280332"/>
            <a:ext cx="2815931" cy="1070170"/>
          </a:xfrm>
          <a:prstGeom prst="homePlate">
            <a:avLst>
              <a:gd name="adj" fmla="val 59845"/>
            </a:avLst>
          </a:prstGeom>
          <a:solidFill>
            <a:schemeClr val="accent1">
              <a:lumMod val="20000"/>
              <a:lumOff val="8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sp>
        <p:nvSpPr>
          <p:cNvPr id="28" name="熊大的PPT宝库19"/>
          <p:cNvSpPr txBox="1"/>
          <p:nvPr/>
        </p:nvSpPr>
        <p:spPr>
          <a:xfrm>
            <a:off x="9721043" y="1467885"/>
            <a:ext cx="1902387" cy="729687"/>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1000" u="none" strike="noStrike" cap="none" spc="0" normalizeH="0" baseline="0">
                <a:ln>
                  <a:noFill/>
                </a:ln>
                <a:solidFill>
                  <a:schemeClr val="bg1">
                    <a:alpha val="65000"/>
                  </a:schemeClr>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mn-lt"/>
                <a:ea typeface="+mn-ea"/>
                <a:cs typeface="+mn-ea"/>
                <a:sym typeface="+mn-lt"/>
              </a:rPr>
              <a:t>新产品市场份额提升，通过市场调研和销售数据的分析，评估新产品在市场中的份额提升情况，保证新产品市场份额提升</a:t>
            </a:r>
            <a:endParaRPr kumimoji="0" lang="en-US" altLang="zh-CN" sz="1000" b="0" i="0" u="none" strike="noStrike" kern="1200" cap="none" spc="0" normalizeH="0" baseline="0" noProof="0" dirty="0">
              <a:ln>
                <a:noFill/>
              </a:ln>
              <a:solidFill>
                <a:srgbClr val="000000"/>
              </a:solidFill>
              <a:effectLst/>
              <a:uLnTx/>
              <a:uFillTx/>
              <a:latin typeface="+mn-lt"/>
              <a:ea typeface="+mn-ea"/>
              <a:cs typeface="+mn-ea"/>
              <a:sym typeface="+mn-lt"/>
            </a:endParaRPr>
          </a:p>
        </p:txBody>
      </p:sp>
      <p:sp>
        <p:nvSpPr>
          <p:cNvPr id="29" name="熊大的PPT宝库20"/>
          <p:cNvSpPr txBox="1"/>
          <p:nvPr/>
        </p:nvSpPr>
        <p:spPr>
          <a:xfrm>
            <a:off x="4094958" y="1315439"/>
            <a:ext cx="1166982" cy="344197"/>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1000" u="none" strike="noStrike" cap="none" spc="0" normalizeH="0" baseline="0">
                <a:ln>
                  <a:noFill/>
                </a:ln>
                <a:solidFill>
                  <a:schemeClr val="bg1">
                    <a:alpha val="65000"/>
                  </a:schemeClr>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latin typeface="+mn-lt"/>
                <a:ea typeface="+mn-ea"/>
                <a:cs typeface="+mn-ea"/>
                <a:sym typeface="+mn-lt"/>
              </a:rPr>
              <a:t>研发符合用户需求的产品，并进行生产</a:t>
            </a:r>
            <a:endParaRPr kumimoji="0" lang="en-US" altLang="zh-CN" sz="1000" b="0" i="0" u="none" strike="noStrike" kern="1200" cap="none" spc="0" normalizeH="0" baseline="0" noProof="0" dirty="0">
              <a:ln>
                <a:noFill/>
              </a:ln>
              <a:solidFill>
                <a:srgbClr val="FFFFFF"/>
              </a:solidFill>
              <a:effectLst/>
              <a:uLnTx/>
              <a:uFillTx/>
              <a:latin typeface="+mn-lt"/>
              <a:ea typeface="+mn-ea"/>
              <a:cs typeface="+mn-ea"/>
              <a:sym typeface="+mn-lt"/>
            </a:endParaRPr>
          </a:p>
        </p:txBody>
      </p:sp>
      <p:sp>
        <p:nvSpPr>
          <p:cNvPr id="30" name="熊大的PPT宝库21"/>
          <p:cNvSpPr txBox="1"/>
          <p:nvPr/>
        </p:nvSpPr>
        <p:spPr>
          <a:xfrm>
            <a:off x="7156813" y="1315439"/>
            <a:ext cx="1166982" cy="344197"/>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1000" b="0" i="0" u="none" strike="noStrike" cap="none" spc="0" normalizeH="0" baseline="0">
                <a:ln>
                  <a:noFill/>
                </a:ln>
                <a:solidFill>
                  <a:schemeClr val="bg1"/>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latin typeface="+mn-lt"/>
                <a:ea typeface="+mn-ea"/>
                <a:cs typeface="+mn-ea"/>
                <a:sym typeface="+mn-lt"/>
              </a:rPr>
              <a:t>利用反馈数据，持续优化和调整</a:t>
            </a:r>
            <a:endParaRPr kumimoji="0" lang="en-US" altLang="zh-CN" sz="1000" b="0" i="0" u="none" strike="noStrike" kern="1200" cap="none" spc="0" normalizeH="0" baseline="0" noProof="0" dirty="0">
              <a:ln>
                <a:noFill/>
              </a:ln>
              <a:solidFill>
                <a:srgbClr val="FFFFFF"/>
              </a:solidFill>
              <a:effectLst/>
              <a:uLnTx/>
              <a:uFillTx/>
              <a:latin typeface="+mn-lt"/>
              <a:ea typeface="+mn-ea"/>
              <a:cs typeface="+mn-ea"/>
              <a:sym typeface="+mn-lt"/>
            </a:endParaRPr>
          </a:p>
        </p:txBody>
      </p:sp>
      <p:grpSp>
        <p:nvGrpSpPr>
          <p:cNvPr id="31" name="熊大的PPT宝库22"/>
          <p:cNvGrpSpPr/>
          <p:nvPr/>
        </p:nvGrpSpPr>
        <p:grpSpPr>
          <a:xfrm>
            <a:off x="2223378" y="1847493"/>
            <a:ext cx="1614297" cy="2325084"/>
            <a:chOff x="6693778" y="1847493"/>
            <a:chExt cx="1614297" cy="2325084"/>
          </a:xfrm>
        </p:grpSpPr>
        <p:grpSp>
          <p:nvGrpSpPr>
            <p:cNvPr id="32" name="组合 31"/>
            <p:cNvGrpSpPr/>
            <p:nvPr/>
          </p:nvGrpSpPr>
          <p:grpSpPr>
            <a:xfrm>
              <a:off x="6743029" y="1847493"/>
              <a:ext cx="1565046" cy="2325084"/>
              <a:chOff x="1349877" y="1788771"/>
              <a:chExt cx="1863884" cy="2485150"/>
            </a:xfrm>
          </p:grpSpPr>
          <p:sp>
            <p:nvSpPr>
              <p:cNvPr id="35" name="熊大的PPT宝库22-1"/>
              <p:cNvSpPr/>
              <p:nvPr/>
            </p:nvSpPr>
            <p:spPr>
              <a:xfrm rot="16200000" flipH="1">
                <a:off x="1248914" y="2309074"/>
                <a:ext cx="2485150" cy="1444544"/>
              </a:xfrm>
              <a:custGeom>
                <a:avLst/>
                <a:gdLst>
                  <a:gd name="connsiteX0" fmla="*/ 0 w 1468316"/>
                  <a:gd name="connsiteY0" fmla="*/ 1 h 1032301"/>
                  <a:gd name="connsiteX1" fmla="*/ 734158 w 1468316"/>
                  <a:gd name="connsiteY1" fmla="*/ 320965 h 1032301"/>
                  <a:gd name="connsiteX2" fmla="*/ 1468316 w 1468316"/>
                  <a:gd name="connsiteY2" fmla="*/ 1 h 1032301"/>
                  <a:gd name="connsiteX3" fmla="*/ 1468316 w 1468316"/>
                  <a:gd name="connsiteY3" fmla="*/ 711337 h 1032301"/>
                  <a:gd name="connsiteX4" fmla="*/ 734158 w 1468316"/>
                  <a:gd name="connsiteY4" fmla="*/ 1032301 h 1032301"/>
                  <a:gd name="connsiteX5" fmla="*/ 0 w 1468316"/>
                  <a:gd name="connsiteY5" fmla="*/ 711337 h 1032301"/>
                  <a:gd name="connsiteX6" fmla="*/ 1468316 w 1468316"/>
                  <a:gd name="connsiteY6" fmla="*/ 0 h 1032301"/>
                  <a:gd name="connsiteX7" fmla="*/ 1468316 w 1468316"/>
                  <a:gd name="connsiteY7" fmla="*/ 0 h 1032301"/>
                  <a:gd name="connsiteX8" fmla="*/ 1468316 w 1468316"/>
                  <a:gd name="connsiteY8" fmla="*/ 1 h 1032301"/>
                  <a:gd name="connsiteX9" fmla="*/ 0 w 1468316"/>
                  <a:gd name="connsiteY9" fmla="*/ 0 h 1032301"/>
                  <a:gd name="connsiteX10" fmla="*/ 0 w 1468316"/>
                  <a:gd name="connsiteY10" fmla="*/ 0 h 1032301"/>
                  <a:gd name="connsiteX11" fmla="*/ 0 w 1468316"/>
                  <a:gd name="connsiteY11" fmla="*/ 1 h 1032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8316" h="1032301">
                    <a:moveTo>
                      <a:pt x="0" y="1"/>
                    </a:moveTo>
                    <a:cubicBezTo>
                      <a:pt x="0" y="177265"/>
                      <a:pt x="328694" y="320965"/>
                      <a:pt x="734158" y="320965"/>
                    </a:cubicBezTo>
                    <a:cubicBezTo>
                      <a:pt x="1139622" y="320965"/>
                      <a:pt x="1468316" y="177265"/>
                      <a:pt x="1468316" y="1"/>
                    </a:cubicBezTo>
                    <a:lnTo>
                      <a:pt x="1468316" y="711337"/>
                    </a:lnTo>
                    <a:cubicBezTo>
                      <a:pt x="1468316" y="888601"/>
                      <a:pt x="1139622" y="1032301"/>
                      <a:pt x="734158" y="1032301"/>
                    </a:cubicBezTo>
                    <a:cubicBezTo>
                      <a:pt x="328694" y="1032301"/>
                      <a:pt x="0" y="888601"/>
                      <a:pt x="0" y="711337"/>
                    </a:cubicBezTo>
                    <a:close/>
                    <a:moveTo>
                      <a:pt x="1468316" y="0"/>
                    </a:moveTo>
                    <a:lnTo>
                      <a:pt x="1468316" y="0"/>
                    </a:lnTo>
                    <a:lnTo>
                      <a:pt x="1468316" y="1"/>
                    </a:lnTo>
                    <a:close/>
                    <a:moveTo>
                      <a:pt x="0" y="0"/>
                    </a:moveTo>
                    <a:lnTo>
                      <a:pt x="0" y="0"/>
                    </a:lnTo>
                    <a:lnTo>
                      <a:pt x="0" y="1"/>
                    </a:lnTo>
                    <a:close/>
                  </a:path>
                </a:pathLst>
              </a:custGeom>
              <a:solidFill>
                <a:schemeClr val="accent1">
                  <a:alpha val="19062"/>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36" name="熊大的PPT宝库22-2"/>
              <p:cNvSpPr/>
              <p:nvPr/>
            </p:nvSpPr>
            <p:spPr>
              <a:xfrm rot="5400000">
                <a:off x="829574" y="2309074"/>
                <a:ext cx="2485150" cy="1444544"/>
              </a:xfrm>
              <a:custGeom>
                <a:avLst/>
                <a:gdLst>
                  <a:gd name="connsiteX0" fmla="*/ 0 w 1468316"/>
                  <a:gd name="connsiteY0" fmla="*/ 1 h 1032301"/>
                  <a:gd name="connsiteX1" fmla="*/ 734158 w 1468316"/>
                  <a:gd name="connsiteY1" fmla="*/ 320965 h 1032301"/>
                  <a:gd name="connsiteX2" fmla="*/ 1468316 w 1468316"/>
                  <a:gd name="connsiteY2" fmla="*/ 1 h 1032301"/>
                  <a:gd name="connsiteX3" fmla="*/ 1468316 w 1468316"/>
                  <a:gd name="connsiteY3" fmla="*/ 711337 h 1032301"/>
                  <a:gd name="connsiteX4" fmla="*/ 734158 w 1468316"/>
                  <a:gd name="connsiteY4" fmla="*/ 1032301 h 1032301"/>
                  <a:gd name="connsiteX5" fmla="*/ 0 w 1468316"/>
                  <a:gd name="connsiteY5" fmla="*/ 711337 h 1032301"/>
                  <a:gd name="connsiteX6" fmla="*/ 1468316 w 1468316"/>
                  <a:gd name="connsiteY6" fmla="*/ 0 h 1032301"/>
                  <a:gd name="connsiteX7" fmla="*/ 1468316 w 1468316"/>
                  <a:gd name="connsiteY7" fmla="*/ 0 h 1032301"/>
                  <a:gd name="connsiteX8" fmla="*/ 1468316 w 1468316"/>
                  <a:gd name="connsiteY8" fmla="*/ 1 h 1032301"/>
                  <a:gd name="connsiteX9" fmla="*/ 0 w 1468316"/>
                  <a:gd name="connsiteY9" fmla="*/ 0 h 1032301"/>
                  <a:gd name="connsiteX10" fmla="*/ 0 w 1468316"/>
                  <a:gd name="connsiteY10" fmla="*/ 0 h 1032301"/>
                  <a:gd name="connsiteX11" fmla="*/ 0 w 1468316"/>
                  <a:gd name="connsiteY11" fmla="*/ 1 h 1032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8316" h="1032301">
                    <a:moveTo>
                      <a:pt x="0" y="1"/>
                    </a:moveTo>
                    <a:cubicBezTo>
                      <a:pt x="0" y="177265"/>
                      <a:pt x="328694" y="320965"/>
                      <a:pt x="734158" y="320965"/>
                    </a:cubicBezTo>
                    <a:cubicBezTo>
                      <a:pt x="1139622" y="320965"/>
                      <a:pt x="1468316" y="177265"/>
                      <a:pt x="1468316" y="1"/>
                    </a:cubicBezTo>
                    <a:lnTo>
                      <a:pt x="1468316" y="711337"/>
                    </a:lnTo>
                    <a:cubicBezTo>
                      <a:pt x="1468316" y="888601"/>
                      <a:pt x="1139622" y="1032301"/>
                      <a:pt x="734158" y="1032301"/>
                    </a:cubicBezTo>
                    <a:cubicBezTo>
                      <a:pt x="328694" y="1032301"/>
                      <a:pt x="0" y="888601"/>
                      <a:pt x="0" y="711337"/>
                    </a:cubicBezTo>
                    <a:close/>
                    <a:moveTo>
                      <a:pt x="1468316" y="0"/>
                    </a:moveTo>
                    <a:lnTo>
                      <a:pt x="1468316" y="0"/>
                    </a:lnTo>
                    <a:lnTo>
                      <a:pt x="1468316" y="1"/>
                    </a:lnTo>
                    <a:close/>
                    <a:moveTo>
                      <a:pt x="0" y="0"/>
                    </a:moveTo>
                    <a:lnTo>
                      <a:pt x="0" y="0"/>
                    </a:lnTo>
                    <a:lnTo>
                      <a:pt x="0" y="1"/>
                    </a:lnTo>
                    <a:close/>
                  </a:path>
                </a:pathLst>
              </a:custGeom>
              <a:gradFill>
                <a:gsLst>
                  <a:gs pos="0">
                    <a:schemeClr val="accent1">
                      <a:alpha val="81302"/>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000000"/>
                  </a:solidFill>
                  <a:effectLst/>
                  <a:uLnTx/>
                  <a:uFillTx/>
                  <a:cs typeface="+mn-ea"/>
                  <a:sym typeface="+mn-lt"/>
                </a:endParaRPr>
              </a:p>
            </p:txBody>
          </p:sp>
        </p:grpSp>
        <p:sp>
          <p:nvSpPr>
            <p:cNvPr id="33" name="熊大的PPT宝库22-3"/>
            <p:cNvSpPr txBox="1"/>
            <p:nvPr/>
          </p:nvSpPr>
          <p:spPr>
            <a:xfrm>
              <a:off x="6693778" y="2709155"/>
              <a:ext cx="896575" cy="49244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市场</a:t>
              </a:r>
              <a:endParaRPr kumimoji="0" lang="en-US" altLang="zh-CN" sz="1600" b="0" i="0" u="none" strike="noStrike" kern="1200" cap="none" spc="0" normalizeH="0" baseline="0" noProof="0" dirty="0">
                <a:ln>
                  <a:noFill/>
                </a:ln>
                <a:solidFill>
                  <a:srgbClr val="FFFFFF"/>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定位</a:t>
              </a:r>
            </a:p>
          </p:txBody>
        </p:sp>
      </p:grpSp>
      <p:grpSp>
        <p:nvGrpSpPr>
          <p:cNvPr id="37" name="熊大的PPT宝库23"/>
          <p:cNvGrpSpPr/>
          <p:nvPr/>
        </p:nvGrpSpPr>
        <p:grpSpPr>
          <a:xfrm>
            <a:off x="3713511" y="1847493"/>
            <a:ext cx="1614297" cy="2325084"/>
            <a:chOff x="6693778" y="1847493"/>
            <a:chExt cx="1614297" cy="2325084"/>
          </a:xfrm>
        </p:grpSpPr>
        <p:grpSp>
          <p:nvGrpSpPr>
            <p:cNvPr id="38" name="组合 37"/>
            <p:cNvGrpSpPr/>
            <p:nvPr/>
          </p:nvGrpSpPr>
          <p:grpSpPr>
            <a:xfrm>
              <a:off x="6743029" y="1847493"/>
              <a:ext cx="1565046" cy="2325084"/>
              <a:chOff x="1349877" y="1788771"/>
              <a:chExt cx="1863884" cy="2485150"/>
            </a:xfrm>
          </p:grpSpPr>
          <p:sp>
            <p:nvSpPr>
              <p:cNvPr id="41" name="熊大的PPT宝库23-1"/>
              <p:cNvSpPr/>
              <p:nvPr/>
            </p:nvSpPr>
            <p:spPr>
              <a:xfrm rot="16200000" flipH="1">
                <a:off x="1248914" y="2309074"/>
                <a:ext cx="2485150" cy="1444544"/>
              </a:xfrm>
              <a:custGeom>
                <a:avLst/>
                <a:gdLst>
                  <a:gd name="connsiteX0" fmla="*/ 0 w 1468316"/>
                  <a:gd name="connsiteY0" fmla="*/ 1 h 1032301"/>
                  <a:gd name="connsiteX1" fmla="*/ 734158 w 1468316"/>
                  <a:gd name="connsiteY1" fmla="*/ 320965 h 1032301"/>
                  <a:gd name="connsiteX2" fmla="*/ 1468316 w 1468316"/>
                  <a:gd name="connsiteY2" fmla="*/ 1 h 1032301"/>
                  <a:gd name="connsiteX3" fmla="*/ 1468316 w 1468316"/>
                  <a:gd name="connsiteY3" fmla="*/ 711337 h 1032301"/>
                  <a:gd name="connsiteX4" fmla="*/ 734158 w 1468316"/>
                  <a:gd name="connsiteY4" fmla="*/ 1032301 h 1032301"/>
                  <a:gd name="connsiteX5" fmla="*/ 0 w 1468316"/>
                  <a:gd name="connsiteY5" fmla="*/ 711337 h 1032301"/>
                  <a:gd name="connsiteX6" fmla="*/ 1468316 w 1468316"/>
                  <a:gd name="connsiteY6" fmla="*/ 0 h 1032301"/>
                  <a:gd name="connsiteX7" fmla="*/ 1468316 w 1468316"/>
                  <a:gd name="connsiteY7" fmla="*/ 0 h 1032301"/>
                  <a:gd name="connsiteX8" fmla="*/ 1468316 w 1468316"/>
                  <a:gd name="connsiteY8" fmla="*/ 1 h 1032301"/>
                  <a:gd name="connsiteX9" fmla="*/ 0 w 1468316"/>
                  <a:gd name="connsiteY9" fmla="*/ 0 h 1032301"/>
                  <a:gd name="connsiteX10" fmla="*/ 0 w 1468316"/>
                  <a:gd name="connsiteY10" fmla="*/ 0 h 1032301"/>
                  <a:gd name="connsiteX11" fmla="*/ 0 w 1468316"/>
                  <a:gd name="connsiteY11" fmla="*/ 1 h 1032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8316" h="1032301">
                    <a:moveTo>
                      <a:pt x="0" y="1"/>
                    </a:moveTo>
                    <a:cubicBezTo>
                      <a:pt x="0" y="177265"/>
                      <a:pt x="328694" y="320965"/>
                      <a:pt x="734158" y="320965"/>
                    </a:cubicBezTo>
                    <a:cubicBezTo>
                      <a:pt x="1139622" y="320965"/>
                      <a:pt x="1468316" y="177265"/>
                      <a:pt x="1468316" y="1"/>
                    </a:cubicBezTo>
                    <a:lnTo>
                      <a:pt x="1468316" y="711337"/>
                    </a:lnTo>
                    <a:cubicBezTo>
                      <a:pt x="1468316" y="888601"/>
                      <a:pt x="1139622" y="1032301"/>
                      <a:pt x="734158" y="1032301"/>
                    </a:cubicBezTo>
                    <a:cubicBezTo>
                      <a:pt x="328694" y="1032301"/>
                      <a:pt x="0" y="888601"/>
                      <a:pt x="0" y="711337"/>
                    </a:cubicBezTo>
                    <a:close/>
                    <a:moveTo>
                      <a:pt x="1468316" y="0"/>
                    </a:moveTo>
                    <a:lnTo>
                      <a:pt x="1468316" y="0"/>
                    </a:lnTo>
                    <a:lnTo>
                      <a:pt x="1468316" y="1"/>
                    </a:lnTo>
                    <a:close/>
                    <a:moveTo>
                      <a:pt x="0" y="0"/>
                    </a:moveTo>
                    <a:lnTo>
                      <a:pt x="0" y="0"/>
                    </a:lnTo>
                    <a:lnTo>
                      <a:pt x="0" y="1"/>
                    </a:lnTo>
                    <a:close/>
                  </a:path>
                </a:pathLst>
              </a:custGeom>
              <a:solidFill>
                <a:schemeClr val="accent1">
                  <a:alpha val="19062"/>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42" name="熊大的PPT宝库23-2"/>
              <p:cNvSpPr/>
              <p:nvPr/>
            </p:nvSpPr>
            <p:spPr>
              <a:xfrm rot="5400000">
                <a:off x="829574" y="2309074"/>
                <a:ext cx="2485150" cy="1444544"/>
              </a:xfrm>
              <a:custGeom>
                <a:avLst/>
                <a:gdLst>
                  <a:gd name="connsiteX0" fmla="*/ 0 w 1468316"/>
                  <a:gd name="connsiteY0" fmla="*/ 1 h 1032301"/>
                  <a:gd name="connsiteX1" fmla="*/ 734158 w 1468316"/>
                  <a:gd name="connsiteY1" fmla="*/ 320965 h 1032301"/>
                  <a:gd name="connsiteX2" fmla="*/ 1468316 w 1468316"/>
                  <a:gd name="connsiteY2" fmla="*/ 1 h 1032301"/>
                  <a:gd name="connsiteX3" fmla="*/ 1468316 w 1468316"/>
                  <a:gd name="connsiteY3" fmla="*/ 711337 h 1032301"/>
                  <a:gd name="connsiteX4" fmla="*/ 734158 w 1468316"/>
                  <a:gd name="connsiteY4" fmla="*/ 1032301 h 1032301"/>
                  <a:gd name="connsiteX5" fmla="*/ 0 w 1468316"/>
                  <a:gd name="connsiteY5" fmla="*/ 711337 h 1032301"/>
                  <a:gd name="connsiteX6" fmla="*/ 1468316 w 1468316"/>
                  <a:gd name="connsiteY6" fmla="*/ 0 h 1032301"/>
                  <a:gd name="connsiteX7" fmla="*/ 1468316 w 1468316"/>
                  <a:gd name="connsiteY7" fmla="*/ 0 h 1032301"/>
                  <a:gd name="connsiteX8" fmla="*/ 1468316 w 1468316"/>
                  <a:gd name="connsiteY8" fmla="*/ 1 h 1032301"/>
                  <a:gd name="connsiteX9" fmla="*/ 0 w 1468316"/>
                  <a:gd name="connsiteY9" fmla="*/ 0 h 1032301"/>
                  <a:gd name="connsiteX10" fmla="*/ 0 w 1468316"/>
                  <a:gd name="connsiteY10" fmla="*/ 0 h 1032301"/>
                  <a:gd name="connsiteX11" fmla="*/ 0 w 1468316"/>
                  <a:gd name="connsiteY11" fmla="*/ 1 h 1032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8316" h="1032301">
                    <a:moveTo>
                      <a:pt x="0" y="1"/>
                    </a:moveTo>
                    <a:cubicBezTo>
                      <a:pt x="0" y="177265"/>
                      <a:pt x="328694" y="320965"/>
                      <a:pt x="734158" y="320965"/>
                    </a:cubicBezTo>
                    <a:cubicBezTo>
                      <a:pt x="1139622" y="320965"/>
                      <a:pt x="1468316" y="177265"/>
                      <a:pt x="1468316" y="1"/>
                    </a:cubicBezTo>
                    <a:lnTo>
                      <a:pt x="1468316" y="711337"/>
                    </a:lnTo>
                    <a:cubicBezTo>
                      <a:pt x="1468316" y="888601"/>
                      <a:pt x="1139622" y="1032301"/>
                      <a:pt x="734158" y="1032301"/>
                    </a:cubicBezTo>
                    <a:cubicBezTo>
                      <a:pt x="328694" y="1032301"/>
                      <a:pt x="0" y="888601"/>
                      <a:pt x="0" y="711337"/>
                    </a:cubicBezTo>
                    <a:close/>
                    <a:moveTo>
                      <a:pt x="1468316" y="0"/>
                    </a:moveTo>
                    <a:lnTo>
                      <a:pt x="1468316" y="0"/>
                    </a:lnTo>
                    <a:lnTo>
                      <a:pt x="1468316" y="1"/>
                    </a:lnTo>
                    <a:close/>
                    <a:moveTo>
                      <a:pt x="0" y="0"/>
                    </a:moveTo>
                    <a:lnTo>
                      <a:pt x="0" y="0"/>
                    </a:lnTo>
                    <a:lnTo>
                      <a:pt x="0" y="1"/>
                    </a:lnTo>
                    <a:close/>
                  </a:path>
                </a:pathLst>
              </a:custGeom>
              <a:gradFill>
                <a:gsLst>
                  <a:gs pos="0">
                    <a:schemeClr val="accent1">
                      <a:alpha val="81302"/>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000000"/>
                  </a:solidFill>
                  <a:effectLst/>
                  <a:uLnTx/>
                  <a:uFillTx/>
                  <a:cs typeface="+mn-ea"/>
                  <a:sym typeface="+mn-lt"/>
                </a:endParaRPr>
              </a:p>
            </p:txBody>
          </p:sp>
        </p:grpSp>
        <p:sp>
          <p:nvSpPr>
            <p:cNvPr id="39" name="熊大的PPT宝库23-3"/>
            <p:cNvSpPr txBox="1"/>
            <p:nvPr/>
          </p:nvSpPr>
          <p:spPr>
            <a:xfrm>
              <a:off x="6693778" y="2709155"/>
              <a:ext cx="896575" cy="49244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产品</a:t>
              </a:r>
              <a:endParaRPr kumimoji="0" lang="en-US" altLang="zh-CN" sz="1600" b="0" i="0" u="none" strike="noStrike" kern="1200" cap="none" spc="0" normalizeH="0" baseline="0" noProof="0" dirty="0">
                <a:ln>
                  <a:noFill/>
                </a:ln>
                <a:solidFill>
                  <a:srgbClr val="FFFFFF"/>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研发</a:t>
              </a:r>
            </a:p>
          </p:txBody>
        </p:sp>
      </p:grpSp>
      <p:grpSp>
        <p:nvGrpSpPr>
          <p:cNvPr id="43" name="熊大的PPT宝库24"/>
          <p:cNvGrpSpPr/>
          <p:nvPr/>
        </p:nvGrpSpPr>
        <p:grpSpPr>
          <a:xfrm>
            <a:off x="5203644" y="1847493"/>
            <a:ext cx="1614297" cy="2325084"/>
            <a:chOff x="6693778" y="1847493"/>
            <a:chExt cx="1614297" cy="2325084"/>
          </a:xfrm>
        </p:grpSpPr>
        <p:grpSp>
          <p:nvGrpSpPr>
            <p:cNvPr id="44" name="组合 43"/>
            <p:cNvGrpSpPr/>
            <p:nvPr/>
          </p:nvGrpSpPr>
          <p:grpSpPr>
            <a:xfrm>
              <a:off x="6743029" y="1847493"/>
              <a:ext cx="1565046" cy="2325084"/>
              <a:chOff x="1349877" y="1788771"/>
              <a:chExt cx="1863884" cy="2485150"/>
            </a:xfrm>
          </p:grpSpPr>
          <p:sp>
            <p:nvSpPr>
              <p:cNvPr id="47" name="熊大的PPT宝库24-1"/>
              <p:cNvSpPr/>
              <p:nvPr/>
            </p:nvSpPr>
            <p:spPr>
              <a:xfrm rot="16200000" flipH="1">
                <a:off x="1248914" y="2309074"/>
                <a:ext cx="2485150" cy="1444544"/>
              </a:xfrm>
              <a:custGeom>
                <a:avLst/>
                <a:gdLst>
                  <a:gd name="connsiteX0" fmla="*/ 0 w 1468316"/>
                  <a:gd name="connsiteY0" fmla="*/ 1 h 1032301"/>
                  <a:gd name="connsiteX1" fmla="*/ 734158 w 1468316"/>
                  <a:gd name="connsiteY1" fmla="*/ 320965 h 1032301"/>
                  <a:gd name="connsiteX2" fmla="*/ 1468316 w 1468316"/>
                  <a:gd name="connsiteY2" fmla="*/ 1 h 1032301"/>
                  <a:gd name="connsiteX3" fmla="*/ 1468316 w 1468316"/>
                  <a:gd name="connsiteY3" fmla="*/ 711337 h 1032301"/>
                  <a:gd name="connsiteX4" fmla="*/ 734158 w 1468316"/>
                  <a:gd name="connsiteY4" fmla="*/ 1032301 h 1032301"/>
                  <a:gd name="connsiteX5" fmla="*/ 0 w 1468316"/>
                  <a:gd name="connsiteY5" fmla="*/ 711337 h 1032301"/>
                  <a:gd name="connsiteX6" fmla="*/ 1468316 w 1468316"/>
                  <a:gd name="connsiteY6" fmla="*/ 0 h 1032301"/>
                  <a:gd name="connsiteX7" fmla="*/ 1468316 w 1468316"/>
                  <a:gd name="connsiteY7" fmla="*/ 0 h 1032301"/>
                  <a:gd name="connsiteX8" fmla="*/ 1468316 w 1468316"/>
                  <a:gd name="connsiteY8" fmla="*/ 1 h 1032301"/>
                  <a:gd name="connsiteX9" fmla="*/ 0 w 1468316"/>
                  <a:gd name="connsiteY9" fmla="*/ 0 h 1032301"/>
                  <a:gd name="connsiteX10" fmla="*/ 0 w 1468316"/>
                  <a:gd name="connsiteY10" fmla="*/ 0 h 1032301"/>
                  <a:gd name="connsiteX11" fmla="*/ 0 w 1468316"/>
                  <a:gd name="connsiteY11" fmla="*/ 1 h 1032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8316" h="1032301">
                    <a:moveTo>
                      <a:pt x="0" y="1"/>
                    </a:moveTo>
                    <a:cubicBezTo>
                      <a:pt x="0" y="177265"/>
                      <a:pt x="328694" y="320965"/>
                      <a:pt x="734158" y="320965"/>
                    </a:cubicBezTo>
                    <a:cubicBezTo>
                      <a:pt x="1139622" y="320965"/>
                      <a:pt x="1468316" y="177265"/>
                      <a:pt x="1468316" y="1"/>
                    </a:cubicBezTo>
                    <a:lnTo>
                      <a:pt x="1468316" y="711337"/>
                    </a:lnTo>
                    <a:cubicBezTo>
                      <a:pt x="1468316" y="888601"/>
                      <a:pt x="1139622" y="1032301"/>
                      <a:pt x="734158" y="1032301"/>
                    </a:cubicBezTo>
                    <a:cubicBezTo>
                      <a:pt x="328694" y="1032301"/>
                      <a:pt x="0" y="888601"/>
                      <a:pt x="0" y="711337"/>
                    </a:cubicBezTo>
                    <a:close/>
                    <a:moveTo>
                      <a:pt x="1468316" y="0"/>
                    </a:moveTo>
                    <a:lnTo>
                      <a:pt x="1468316" y="0"/>
                    </a:lnTo>
                    <a:lnTo>
                      <a:pt x="1468316" y="1"/>
                    </a:lnTo>
                    <a:close/>
                    <a:moveTo>
                      <a:pt x="0" y="0"/>
                    </a:moveTo>
                    <a:lnTo>
                      <a:pt x="0" y="0"/>
                    </a:lnTo>
                    <a:lnTo>
                      <a:pt x="0" y="1"/>
                    </a:lnTo>
                    <a:close/>
                  </a:path>
                </a:pathLst>
              </a:custGeom>
              <a:solidFill>
                <a:schemeClr val="accent1">
                  <a:alpha val="19062"/>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48" name="熊大的PPT宝库24-2"/>
              <p:cNvSpPr/>
              <p:nvPr/>
            </p:nvSpPr>
            <p:spPr>
              <a:xfrm rot="5400000">
                <a:off x="829574" y="2309074"/>
                <a:ext cx="2485150" cy="1444544"/>
              </a:xfrm>
              <a:custGeom>
                <a:avLst/>
                <a:gdLst>
                  <a:gd name="connsiteX0" fmla="*/ 0 w 1468316"/>
                  <a:gd name="connsiteY0" fmla="*/ 1 h 1032301"/>
                  <a:gd name="connsiteX1" fmla="*/ 734158 w 1468316"/>
                  <a:gd name="connsiteY1" fmla="*/ 320965 h 1032301"/>
                  <a:gd name="connsiteX2" fmla="*/ 1468316 w 1468316"/>
                  <a:gd name="connsiteY2" fmla="*/ 1 h 1032301"/>
                  <a:gd name="connsiteX3" fmla="*/ 1468316 w 1468316"/>
                  <a:gd name="connsiteY3" fmla="*/ 711337 h 1032301"/>
                  <a:gd name="connsiteX4" fmla="*/ 734158 w 1468316"/>
                  <a:gd name="connsiteY4" fmla="*/ 1032301 h 1032301"/>
                  <a:gd name="connsiteX5" fmla="*/ 0 w 1468316"/>
                  <a:gd name="connsiteY5" fmla="*/ 711337 h 1032301"/>
                  <a:gd name="connsiteX6" fmla="*/ 1468316 w 1468316"/>
                  <a:gd name="connsiteY6" fmla="*/ 0 h 1032301"/>
                  <a:gd name="connsiteX7" fmla="*/ 1468316 w 1468316"/>
                  <a:gd name="connsiteY7" fmla="*/ 0 h 1032301"/>
                  <a:gd name="connsiteX8" fmla="*/ 1468316 w 1468316"/>
                  <a:gd name="connsiteY8" fmla="*/ 1 h 1032301"/>
                  <a:gd name="connsiteX9" fmla="*/ 0 w 1468316"/>
                  <a:gd name="connsiteY9" fmla="*/ 0 h 1032301"/>
                  <a:gd name="connsiteX10" fmla="*/ 0 w 1468316"/>
                  <a:gd name="connsiteY10" fmla="*/ 0 h 1032301"/>
                  <a:gd name="connsiteX11" fmla="*/ 0 w 1468316"/>
                  <a:gd name="connsiteY11" fmla="*/ 1 h 1032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8316" h="1032301">
                    <a:moveTo>
                      <a:pt x="0" y="1"/>
                    </a:moveTo>
                    <a:cubicBezTo>
                      <a:pt x="0" y="177265"/>
                      <a:pt x="328694" y="320965"/>
                      <a:pt x="734158" y="320965"/>
                    </a:cubicBezTo>
                    <a:cubicBezTo>
                      <a:pt x="1139622" y="320965"/>
                      <a:pt x="1468316" y="177265"/>
                      <a:pt x="1468316" y="1"/>
                    </a:cubicBezTo>
                    <a:lnTo>
                      <a:pt x="1468316" y="711337"/>
                    </a:lnTo>
                    <a:cubicBezTo>
                      <a:pt x="1468316" y="888601"/>
                      <a:pt x="1139622" y="1032301"/>
                      <a:pt x="734158" y="1032301"/>
                    </a:cubicBezTo>
                    <a:cubicBezTo>
                      <a:pt x="328694" y="1032301"/>
                      <a:pt x="0" y="888601"/>
                      <a:pt x="0" y="711337"/>
                    </a:cubicBezTo>
                    <a:close/>
                    <a:moveTo>
                      <a:pt x="1468316" y="0"/>
                    </a:moveTo>
                    <a:lnTo>
                      <a:pt x="1468316" y="0"/>
                    </a:lnTo>
                    <a:lnTo>
                      <a:pt x="1468316" y="1"/>
                    </a:lnTo>
                    <a:close/>
                    <a:moveTo>
                      <a:pt x="0" y="0"/>
                    </a:moveTo>
                    <a:lnTo>
                      <a:pt x="0" y="0"/>
                    </a:lnTo>
                    <a:lnTo>
                      <a:pt x="0" y="1"/>
                    </a:lnTo>
                    <a:close/>
                  </a:path>
                </a:pathLst>
              </a:custGeom>
              <a:gradFill>
                <a:gsLst>
                  <a:gs pos="0">
                    <a:schemeClr val="accent1">
                      <a:alpha val="81302"/>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000000"/>
                  </a:solidFill>
                  <a:effectLst/>
                  <a:uLnTx/>
                  <a:uFillTx/>
                  <a:cs typeface="+mn-ea"/>
                  <a:sym typeface="+mn-lt"/>
                </a:endParaRPr>
              </a:p>
            </p:txBody>
          </p:sp>
        </p:grpSp>
        <p:sp>
          <p:nvSpPr>
            <p:cNvPr id="45" name="熊大的PPT宝库24-3"/>
            <p:cNvSpPr txBox="1"/>
            <p:nvPr/>
          </p:nvSpPr>
          <p:spPr>
            <a:xfrm>
              <a:off x="6693778" y="2709155"/>
              <a:ext cx="896575" cy="49244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推广</a:t>
              </a:r>
              <a:endParaRPr kumimoji="0" lang="en-US" altLang="zh-CN" sz="1600" b="0" i="0" u="none" strike="noStrike" kern="1200" cap="none" spc="0" normalizeH="0" baseline="0" noProof="0" dirty="0">
                <a:ln>
                  <a:noFill/>
                </a:ln>
                <a:solidFill>
                  <a:srgbClr val="FFFFFF"/>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cs typeface="+mn-ea"/>
                  <a:sym typeface="+mn-lt"/>
                </a:rPr>
                <a:t>宣传</a:t>
              </a:r>
            </a:p>
          </p:txBody>
        </p:sp>
      </p:grpSp>
      <p:sp>
        <p:nvSpPr>
          <p:cNvPr id="49" name="熊大的PPT宝库25"/>
          <p:cNvSpPr txBox="1"/>
          <p:nvPr/>
        </p:nvSpPr>
        <p:spPr>
          <a:xfrm>
            <a:off x="552029" y="5194397"/>
            <a:ext cx="1997551" cy="359073"/>
          </a:xfrm>
          <a:prstGeom prst="rect">
            <a:avLst/>
          </a:prstGeom>
          <a:noFill/>
          <a:ln w="12700" cap="flat">
            <a:noFill/>
            <a:miter lim="400000"/>
          </a:ln>
          <a:effectLst/>
        </p:spPr>
        <p:txBody>
          <a:bodyPr wrap="square" lIns="25400" tIns="25400" rIns="25400" bIns="25400" numCol="1" anchor="t">
            <a:spAutoFit/>
          </a:bodyPr>
          <a:lstStyle>
            <a:lvl1pPr algn="l">
              <a:defRPr sz="3600">
                <a:solidFill>
                  <a:schemeClr val="accent1"/>
                </a:solidFill>
                <a:latin typeface="Barlow SemiBold"/>
                <a:ea typeface="Barlow SemiBold"/>
                <a:cs typeface="Barlow SemiBold"/>
                <a:sym typeface="Barlow SemiBold"/>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8F8F8"/>
                </a:solidFill>
                <a:effectLst/>
                <a:uLnTx/>
                <a:uFillTx/>
                <a:latin typeface="+mn-lt"/>
                <a:ea typeface="+mn-ea"/>
                <a:cs typeface="+mn-ea"/>
                <a:sym typeface="+mn-lt"/>
              </a:rPr>
              <a:t>营业额涨</a:t>
            </a:r>
            <a:r>
              <a:rPr kumimoji="0" lang="en-US" altLang="zh-CN" sz="2000" b="0" i="0" u="none" strike="noStrike" kern="1200" cap="none" spc="0" normalizeH="0" baseline="0" noProof="0" dirty="0">
                <a:ln>
                  <a:noFill/>
                </a:ln>
                <a:solidFill>
                  <a:srgbClr val="F8F8F8"/>
                </a:solidFill>
                <a:effectLst/>
                <a:uLnTx/>
                <a:uFillTx/>
                <a:latin typeface="+mn-lt"/>
                <a:ea typeface="+mn-ea"/>
                <a:cs typeface="+mn-ea"/>
                <a:sym typeface="+mn-lt"/>
              </a:rPr>
              <a:t>20%</a:t>
            </a:r>
            <a:endParaRPr kumimoji="0" sz="2000" b="0" i="0" u="none" strike="noStrike" kern="1200" cap="none" spc="0" normalizeH="0" baseline="0" noProof="0" dirty="0">
              <a:ln>
                <a:noFill/>
              </a:ln>
              <a:solidFill>
                <a:srgbClr val="F8F8F8"/>
              </a:solidFill>
              <a:effectLst/>
              <a:uLnTx/>
              <a:uFillTx/>
              <a:latin typeface="+mn-lt"/>
              <a:ea typeface="+mn-ea"/>
              <a:cs typeface="+mn-ea"/>
              <a:sym typeface="+mn-lt"/>
            </a:endParaRPr>
          </a:p>
        </p:txBody>
      </p:sp>
      <p:sp>
        <p:nvSpPr>
          <p:cNvPr id="50" name="熊大的PPT宝库26"/>
          <p:cNvSpPr txBox="1"/>
          <p:nvPr/>
        </p:nvSpPr>
        <p:spPr>
          <a:xfrm>
            <a:off x="2810804" y="5787723"/>
            <a:ext cx="3939149" cy="519629"/>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1000" b="0" i="0" u="none" strike="noStrike" cap="none" spc="0" normalizeH="0" baseline="0">
                <a:ln>
                  <a:noFill/>
                </a:ln>
                <a:solidFill>
                  <a:srgbClr val="000000">
                    <a:alpha val="6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l" defTabSz="4572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用户满意度数据也呈现出积极的趋势。通过定期的用户调查和反馈机制，我们发现超过</a:t>
            </a:r>
            <a:r>
              <a:rPr kumimoji="0" lang="en-US" altLang="zh-CN"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80%</a:t>
            </a:r>
            <a:r>
              <a:rPr kumimoji="0" lang="zh-CN" altLang="en-US"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的用户对新产品表示满意，并认为产品性能、设计和用户体验均超过预期</a:t>
            </a:r>
          </a:p>
        </p:txBody>
      </p:sp>
      <p:sp>
        <p:nvSpPr>
          <p:cNvPr id="51" name="熊大的PPT宝库27"/>
          <p:cNvSpPr txBox="1"/>
          <p:nvPr/>
        </p:nvSpPr>
        <p:spPr>
          <a:xfrm>
            <a:off x="2752598" y="5194397"/>
            <a:ext cx="2731855" cy="359073"/>
          </a:xfrm>
          <a:prstGeom prst="rect">
            <a:avLst/>
          </a:prstGeom>
          <a:noFill/>
          <a:ln w="12700" cap="flat">
            <a:noFill/>
            <a:miter lim="400000"/>
          </a:ln>
          <a:effectLst/>
        </p:spPr>
        <p:txBody>
          <a:bodyPr wrap="square" lIns="25400" tIns="25400" rIns="25400" bIns="25400" numCol="1" anchor="t">
            <a:spAutoFit/>
          </a:bodyPr>
          <a:lstStyle>
            <a:lvl1pPr algn="l">
              <a:defRPr sz="3600">
                <a:solidFill>
                  <a:schemeClr val="accent1"/>
                </a:solidFill>
                <a:latin typeface="Barlow SemiBold"/>
                <a:ea typeface="Barlow SemiBold"/>
                <a:cs typeface="Barlow SemiBold"/>
                <a:sym typeface="Barlow SemiBold"/>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8F8F8"/>
                </a:solidFill>
                <a:effectLst/>
                <a:uLnTx/>
                <a:uFillTx/>
                <a:latin typeface="+mn-lt"/>
                <a:ea typeface="+mn-ea"/>
                <a:cs typeface="+mn-ea"/>
                <a:sym typeface="+mn-lt"/>
              </a:rPr>
              <a:t>用户满意度超过</a:t>
            </a:r>
            <a:r>
              <a:rPr kumimoji="0" lang="en-US" altLang="zh-CN" sz="2000" b="0" i="0" u="none" strike="noStrike" kern="1200" cap="none" spc="0" normalizeH="0" baseline="0" noProof="0" dirty="0">
                <a:ln>
                  <a:noFill/>
                </a:ln>
                <a:solidFill>
                  <a:srgbClr val="F8F8F8"/>
                </a:solidFill>
                <a:effectLst/>
                <a:uLnTx/>
                <a:uFillTx/>
                <a:latin typeface="+mn-lt"/>
                <a:ea typeface="+mn-ea"/>
                <a:cs typeface="+mn-ea"/>
                <a:sym typeface="+mn-lt"/>
              </a:rPr>
              <a:t>80%</a:t>
            </a:r>
            <a:endParaRPr kumimoji="0" sz="2000" b="0" i="0" u="none" strike="noStrike" kern="1200" cap="none" spc="0" normalizeH="0" baseline="0" noProof="0" dirty="0">
              <a:ln>
                <a:noFill/>
              </a:ln>
              <a:solidFill>
                <a:srgbClr val="F8F8F8"/>
              </a:solidFill>
              <a:effectLst/>
              <a:uLnTx/>
              <a:uFillTx/>
              <a:latin typeface="+mn-lt"/>
              <a:ea typeface="+mn-ea"/>
              <a:cs typeface="+mn-ea"/>
              <a:sym typeface="+mn-lt"/>
            </a:endParaRPr>
          </a:p>
        </p:txBody>
      </p:sp>
      <p:sp>
        <p:nvSpPr>
          <p:cNvPr id="52" name="熊大的PPT宝库28"/>
          <p:cNvSpPr txBox="1"/>
          <p:nvPr/>
        </p:nvSpPr>
        <p:spPr>
          <a:xfrm>
            <a:off x="2513754" y="4343451"/>
            <a:ext cx="1166982" cy="344197"/>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1000" u="none" strike="noStrike" cap="none" spc="0" normalizeH="0" baseline="0">
                <a:ln>
                  <a:noFill/>
                </a:ln>
                <a:solidFill>
                  <a:schemeClr val="bg1">
                    <a:alpha val="65000"/>
                  </a:schemeClr>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latin typeface="+mn-lt"/>
                <a:ea typeface="+mn-ea"/>
                <a:cs typeface="+mn-ea"/>
                <a:sym typeface="+mn-lt"/>
              </a:rPr>
              <a:t>确定新产品的市场定位和目标用户细分</a:t>
            </a:r>
            <a:endParaRPr kumimoji="0" lang="en-US" altLang="zh-CN" sz="1000" b="0" i="0" u="none" strike="noStrike" kern="1200" cap="none" spc="0" normalizeH="0" baseline="0" noProof="0" dirty="0">
              <a:ln>
                <a:noFill/>
              </a:ln>
              <a:solidFill>
                <a:srgbClr val="FFFFFF"/>
              </a:solidFill>
              <a:effectLst/>
              <a:uLnTx/>
              <a:uFillTx/>
              <a:latin typeface="+mn-lt"/>
              <a:ea typeface="+mn-ea"/>
              <a:cs typeface="+mn-ea"/>
              <a:sym typeface="+mn-lt"/>
            </a:endParaRPr>
          </a:p>
        </p:txBody>
      </p:sp>
      <p:sp>
        <p:nvSpPr>
          <p:cNvPr id="53" name="熊大的PPT宝库29"/>
          <p:cNvSpPr txBox="1"/>
          <p:nvPr/>
        </p:nvSpPr>
        <p:spPr>
          <a:xfrm>
            <a:off x="5576047" y="4343451"/>
            <a:ext cx="1166982" cy="344197"/>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1000" b="0" i="0" u="none" strike="noStrike" cap="none" spc="0" normalizeH="0" baseline="0">
                <a:ln>
                  <a:noFill/>
                </a:ln>
                <a:solidFill>
                  <a:schemeClr val="bg1"/>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latin typeface="+mn-lt"/>
                <a:ea typeface="+mn-ea"/>
                <a:cs typeface="+mn-ea"/>
                <a:sym typeface="+mn-lt"/>
              </a:rPr>
              <a:t>制定市场推广计划，将新品推向市场</a:t>
            </a:r>
          </a:p>
        </p:txBody>
      </p:sp>
      <p:sp>
        <p:nvSpPr>
          <p:cNvPr id="55" name="熊大的PPT宝库30"/>
          <p:cNvSpPr/>
          <p:nvPr/>
        </p:nvSpPr>
        <p:spPr>
          <a:xfrm>
            <a:off x="447671" y="1087778"/>
            <a:ext cx="1126156" cy="1126156"/>
          </a:xfrm>
          <a:prstGeom prst="ellipse">
            <a:avLst/>
          </a:prstGeom>
          <a:solidFill>
            <a:schemeClr val="bg1">
              <a:lumMod val="65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dirty="0">
              <a:ln>
                <a:noFill/>
              </a:ln>
              <a:solidFill>
                <a:srgbClr val="F8F8F8"/>
              </a:solidFill>
              <a:effectLst/>
              <a:uLnTx/>
              <a:uFillTx/>
              <a:cs typeface="+mn-ea"/>
              <a:sym typeface="+mn-lt"/>
            </a:endParaRPr>
          </a:p>
        </p:txBody>
      </p:sp>
      <p:sp>
        <p:nvSpPr>
          <p:cNvPr id="56" name="熊大的PPT宝库31"/>
          <p:cNvSpPr txBox="1"/>
          <p:nvPr/>
        </p:nvSpPr>
        <p:spPr>
          <a:xfrm>
            <a:off x="514797" y="1506856"/>
            <a:ext cx="972000" cy="328295"/>
          </a:xfrm>
          <a:prstGeom prst="rect">
            <a:avLst/>
          </a:prstGeom>
          <a:ln w="12700">
            <a:miter lim="400000"/>
          </a:ln>
        </p:spPr>
        <p:txBody>
          <a:bodyPr lIns="25400" tIns="25400" rIns="25400" bIns="25400">
            <a:spAutoFit/>
          </a:bodyPr>
          <a:lstStyle>
            <a:lvl1pPr>
              <a:defRPr sz="2200">
                <a:solidFill>
                  <a:srgbClr val="F7F5F6"/>
                </a:solidFill>
                <a:latin typeface="Barlow Medium"/>
                <a:ea typeface="Barlow Medium"/>
                <a:cs typeface="Barlow Medium"/>
                <a:sym typeface="Barlow Medium"/>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8F8F8"/>
                </a:solidFill>
                <a:effectLst/>
                <a:uLnTx/>
                <a:uFillTx/>
                <a:latin typeface="+mn-lt"/>
                <a:ea typeface="+mn-ea"/>
                <a:cs typeface="+mn-ea"/>
                <a:sym typeface="+mn-lt"/>
              </a:rPr>
              <a:t>调研部门</a:t>
            </a:r>
            <a:endParaRPr kumimoji="0" lang="en-US" altLang="zh-CN" sz="1800" b="0" i="0" u="none" strike="noStrike" kern="1200" cap="none" spc="0" normalizeH="0" baseline="0" noProof="0" dirty="0">
              <a:ln>
                <a:noFill/>
              </a:ln>
              <a:solidFill>
                <a:srgbClr val="F8F8F8"/>
              </a:solidFill>
              <a:effectLst/>
              <a:uLnTx/>
              <a:uFillTx/>
              <a:latin typeface="+mn-lt"/>
              <a:ea typeface="+mn-ea"/>
              <a:cs typeface="+mn-ea"/>
              <a:sym typeface="+mn-lt"/>
            </a:endParaRPr>
          </a:p>
        </p:txBody>
      </p:sp>
      <p:sp>
        <p:nvSpPr>
          <p:cNvPr id="59" name="熊大的PPT宝库32"/>
          <p:cNvSpPr/>
          <p:nvPr/>
        </p:nvSpPr>
        <p:spPr>
          <a:xfrm>
            <a:off x="447671" y="2339457"/>
            <a:ext cx="1126156" cy="1126156"/>
          </a:xfrm>
          <a:prstGeom prst="ellipse">
            <a:avLst/>
          </a:prstGeom>
          <a:solidFill>
            <a:schemeClr val="bg1">
              <a:lumMod val="65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dirty="0">
              <a:ln>
                <a:noFill/>
              </a:ln>
              <a:solidFill>
                <a:prstClr val="white"/>
              </a:solidFill>
              <a:effectLst/>
              <a:uLnTx/>
              <a:uFillTx/>
              <a:cs typeface="+mn-ea"/>
              <a:sym typeface="+mn-lt"/>
            </a:endParaRPr>
          </a:p>
        </p:txBody>
      </p:sp>
      <p:sp>
        <p:nvSpPr>
          <p:cNvPr id="60" name="熊大的PPT宝库33"/>
          <p:cNvSpPr txBox="1"/>
          <p:nvPr/>
        </p:nvSpPr>
        <p:spPr>
          <a:xfrm>
            <a:off x="514797" y="2758535"/>
            <a:ext cx="972000" cy="328295"/>
          </a:xfrm>
          <a:prstGeom prst="rect">
            <a:avLst/>
          </a:prstGeom>
          <a:ln w="12700">
            <a:miter lim="400000"/>
          </a:ln>
        </p:spPr>
        <p:txBody>
          <a:bodyPr lIns="25400" tIns="25400" rIns="25400" bIns="25400">
            <a:spAutoFit/>
          </a:bodyPr>
          <a:lstStyle>
            <a:lvl1pPr>
              <a:defRPr sz="2200">
                <a:solidFill>
                  <a:srgbClr val="F7F5F6"/>
                </a:solidFill>
                <a:latin typeface="Barlow Medium"/>
                <a:ea typeface="Barlow Medium"/>
                <a:cs typeface="Barlow Medium"/>
                <a:sym typeface="Barlow Medium"/>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8F8F8"/>
                </a:solidFill>
                <a:effectLst/>
                <a:uLnTx/>
                <a:uFillTx/>
                <a:latin typeface="+mn-lt"/>
                <a:ea typeface="+mn-ea"/>
                <a:cs typeface="+mn-ea"/>
                <a:sym typeface="+mn-lt"/>
              </a:rPr>
              <a:t>研发中心</a:t>
            </a:r>
            <a:endParaRPr kumimoji="0" lang="en-US" altLang="zh-CN" sz="1800" b="0" i="0" u="none" strike="noStrike" kern="1200" cap="none" spc="0" normalizeH="0" baseline="0" noProof="0" dirty="0">
              <a:ln>
                <a:noFill/>
              </a:ln>
              <a:solidFill>
                <a:srgbClr val="F8F8F8"/>
              </a:solidFill>
              <a:effectLst/>
              <a:uLnTx/>
              <a:uFillTx/>
              <a:latin typeface="+mn-lt"/>
              <a:ea typeface="+mn-ea"/>
              <a:cs typeface="+mn-ea"/>
              <a:sym typeface="+mn-lt"/>
            </a:endParaRPr>
          </a:p>
        </p:txBody>
      </p:sp>
      <p:sp>
        <p:nvSpPr>
          <p:cNvPr id="63" name="熊大的PPT宝库34"/>
          <p:cNvSpPr/>
          <p:nvPr/>
        </p:nvSpPr>
        <p:spPr>
          <a:xfrm>
            <a:off x="447671" y="3591135"/>
            <a:ext cx="1126156" cy="1126156"/>
          </a:xfrm>
          <a:prstGeom prst="ellipse">
            <a:avLst/>
          </a:prstGeom>
          <a:solidFill>
            <a:schemeClr val="bg1">
              <a:lumMod val="65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dirty="0">
              <a:ln>
                <a:noFill/>
              </a:ln>
              <a:solidFill>
                <a:prstClr val="white"/>
              </a:solidFill>
              <a:effectLst/>
              <a:uLnTx/>
              <a:uFillTx/>
              <a:cs typeface="+mn-ea"/>
              <a:sym typeface="+mn-lt"/>
            </a:endParaRPr>
          </a:p>
        </p:txBody>
      </p:sp>
      <p:sp>
        <p:nvSpPr>
          <p:cNvPr id="64" name="熊大的PPT宝库35"/>
          <p:cNvSpPr txBox="1"/>
          <p:nvPr/>
        </p:nvSpPr>
        <p:spPr>
          <a:xfrm>
            <a:off x="514797" y="4010213"/>
            <a:ext cx="972000" cy="328295"/>
          </a:xfrm>
          <a:prstGeom prst="rect">
            <a:avLst/>
          </a:prstGeom>
          <a:ln w="12700">
            <a:miter lim="400000"/>
          </a:ln>
        </p:spPr>
        <p:txBody>
          <a:bodyPr lIns="25400" tIns="25400" rIns="25400" bIns="25400">
            <a:spAutoFit/>
          </a:bodyPr>
          <a:lstStyle>
            <a:lvl1pPr>
              <a:defRPr sz="2200">
                <a:solidFill>
                  <a:srgbClr val="F7F5F6"/>
                </a:solidFill>
                <a:latin typeface="Barlow Medium"/>
                <a:ea typeface="Barlow Medium"/>
                <a:cs typeface="Barlow Medium"/>
                <a:sym typeface="Barlow Medium"/>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8F8F8"/>
                </a:solidFill>
                <a:effectLst/>
                <a:uLnTx/>
                <a:uFillTx/>
                <a:latin typeface="+mn-lt"/>
                <a:ea typeface="+mn-ea"/>
                <a:cs typeface="+mn-ea"/>
                <a:sym typeface="+mn-lt"/>
              </a:rPr>
              <a:t>营销团队</a:t>
            </a:r>
            <a:endParaRPr kumimoji="0" lang="en-US" altLang="zh-CN" sz="1800" b="0" i="0" u="none" strike="noStrike" kern="1200" cap="none" spc="0" normalizeH="0" baseline="0" noProof="0" dirty="0">
              <a:ln>
                <a:noFill/>
              </a:ln>
              <a:solidFill>
                <a:srgbClr val="F8F8F8"/>
              </a:solidFill>
              <a:effectLst/>
              <a:uLnTx/>
              <a:uFillTx/>
              <a:latin typeface="+mn-lt"/>
              <a:ea typeface="+mn-ea"/>
              <a:cs typeface="+mn-ea"/>
              <a:sym typeface="+mn-lt"/>
            </a:endParaRPr>
          </a:p>
        </p:txBody>
      </p:sp>
      <p:sp>
        <p:nvSpPr>
          <p:cNvPr id="66" name="熊大的PPT宝库36"/>
          <p:cNvSpPr/>
          <p:nvPr/>
        </p:nvSpPr>
        <p:spPr>
          <a:xfrm>
            <a:off x="7153924" y="5075877"/>
            <a:ext cx="4595166" cy="1467021"/>
          </a:xfrm>
          <a:prstGeom prst="roundRect">
            <a:avLst>
              <a:gd name="adj" fmla="val 0"/>
            </a:avLst>
          </a:prstGeom>
          <a:solidFill>
            <a:schemeClr val="accent1">
              <a:lumMod val="20000"/>
              <a:lumOff val="80000"/>
              <a:alpha val="30000"/>
            </a:schemeClr>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67" name="熊大的PPT宝库37"/>
          <p:cNvSpPr/>
          <p:nvPr/>
        </p:nvSpPr>
        <p:spPr>
          <a:xfrm>
            <a:off x="7153923" y="5075877"/>
            <a:ext cx="4595166" cy="552483"/>
          </a:xfrm>
          <a:prstGeom prst="roundRect">
            <a:avLst>
              <a:gd name="adj" fmla="val 0"/>
            </a:avLst>
          </a:prstGeom>
          <a:solidFill>
            <a:schemeClr val="accent1"/>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68" name="熊大的PPT宝库38"/>
          <p:cNvSpPr txBox="1"/>
          <p:nvPr/>
        </p:nvSpPr>
        <p:spPr>
          <a:xfrm>
            <a:off x="7430875" y="5787723"/>
            <a:ext cx="3939149" cy="519629"/>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1000" b="0" i="0" u="none" strike="noStrike" cap="none" spc="0" normalizeH="0" baseline="0">
                <a:ln>
                  <a:noFill/>
                </a:ln>
                <a:solidFill>
                  <a:srgbClr val="000000">
                    <a:alpha val="6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l" defTabSz="4572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市场份额的提升也是一个令人振奋的数据点。新产品在同类竞品中的市场份额逐步攀升，已占据领先地位。这表明产品成功吸引了目标受众，有效抢占了竞争激烈的市场份额</a:t>
            </a:r>
          </a:p>
        </p:txBody>
      </p:sp>
      <p:sp>
        <p:nvSpPr>
          <p:cNvPr id="69" name="熊大的PPT宝库39"/>
          <p:cNvSpPr txBox="1"/>
          <p:nvPr/>
        </p:nvSpPr>
        <p:spPr>
          <a:xfrm>
            <a:off x="7372669" y="5194397"/>
            <a:ext cx="3064554" cy="359073"/>
          </a:xfrm>
          <a:prstGeom prst="rect">
            <a:avLst/>
          </a:prstGeom>
          <a:noFill/>
          <a:ln w="12700" cap="flat">
            <a:noFill/>
            <a:miter lim="400000"/>
          </a:ln>
          <a:effectLst/>
        </p:spPr>
        <p:txBody>
          <a:bodyPr wrap="square" lIns="25400" tIns="25400" rIns="25400" bIns="25400" numCol="1" anchor="t">
            <a:spAutoFit/>
          </a:bodyPr>
          <a:lstStyle>
            <a:lvl1pPr algn="l">
              <a:defRPr sz="3600">
                <a:solidFill>
                  <a:schemeClr val="accent1"/>
                </a:solidFill>
                <a:latin typeface="Barlow SemiBold"/>
                <a:ea typeface="Barlow SemiBold"/>
                <a:cs typeface="Barlow SemiBold"/>
                <a:sym typeface="Barlow SemiBold"/>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8F8F8"/>
                </a:solidFill>
                <a:effectLst/>
                <a:uLnTx/>
                <a:uFillTx/>
                <a:latin typeface="+mn-lt"/>
                <a:ea typeface="+mn-ea"/>
                <a:cs typeface="+mn-ea"/>
                <a:sym typeface="+mn-lt"/>
              </a:rPr>
              <a:t>市场份额超过</a:t>
            </a:r>
            <a:r>
              <a:rPr kumimoji="0" lang="en-US" altLang="zh-CN" sz="2000" b="0" i="0" u="none" strike="noStrike" kern="1200" cap="none" spc="0" normalizeH="0" baseline="0" noProof="0" dirty="0">
                <a:ln>
                  <a:noFill/>
                </a:ln>
                <a:solidFill>
                  <a:srgbClr val="F8F8F8"/>
                </a:solidFill>
                <a:effectLst/>
                <a:uLnTx/>
                <a:uFillTx/>
                <a:latin typeface="+mn-lt"/>
                <a:ea typeface="+mn-ea"/>
                <a:cs typeface="+mn-ea"/>
                <a:sym typeface="+mn-lt"/>
              </a:rPr>
              <a:t>36%</a:t>
            </a:r>
            <a:endParaRPr kumimoji="0" sz="2000" b="0" i="0" u="none" strike="noStrike" kern="1200" cap="none" spc="0" normalizeH="0" baseline="0" noProof="0" dirty="0">
              <a:ln>
                <a:noFill/>
              </a:ln>
              <a:solidFill>
                <a:srgbClr val="F8F8F8"/>
              </a:solidFill>
              <a:effectLst/>
              <a:uLnTx/>
              <a:uFillTx/>
              <a:latin typeface="+mn-lt"/>
              <a:ea typeface="+mn-ea"/>
              <a:cs typeface="+mn-ea"/>
              <a:sym typeface="+mn-lt"/>
            </a:endParaRPr>
          </a:p>
        </p:txBody>
      </p:sp>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熊大的PPT宝库1"/>
          <p:cNvSpPr txBox="1"/>
          <p:nvPr/>
        </p:nvSpPr>
        <p:spPr>
          <a:xfrm>
            <a:off x="348830" y="216968"/>
            <a:ext cx="2646878"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00329D"/>
                </a:solidFill>
                <a:effectLst/>
                <a:uLnTx/>
                <a:uFillTx/>
                <a:cs typeface="+mn-ea"/>
                <a:sym typeface="+mn-lt"/>
              </a:rPr>
              <a:t>工作成果展示</a:t>
            </a:r>
          </a:p>
        </p:txBody>
      </p:sp>
      <p:sp>
        <p:nvSpPr>
          <p:cNvPr id="4" name="熊大的PPT宝库3"/>
          <p:cNvSpPr/>
          <p:nvPr>
            <p:custDataLst>
              <p:tags r:id="rId2"/>
            </p:custDataLst>
          </p:nvPr>
        </p:nvSpPr>
        <p:spPr>
          <a:xfrm>
            <a:off x="434974" y="862700"/>
            <a:ext cx="11340000" cy="468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2F2F2"/>
              </a:solidFill>
              <a:effectLst/>
              <a:uLnTx/>
              <a:uFillTx/>
              <a:cs typeface="+mn-ea"/>
              <a:sym typeface="+mn-lt"/>
            </a:endParaRPr>
          </a:p>
        </p:txBody>
      </p:sp>
      <p:sp>
        <p:nvSpPr>
          <p:cNvPr id="6" name="熊大的PPT宝库4"/>
          <p:cNvSpPr/>
          <p:nvPr/>
        </p:nvSpPr>
        <p:spPr>
          <a:xfrm>
            <a:off x="442913" y="998198"/>
            <a:ext cx="11306175" cy="299623"/>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全域覆盖：微</a:t>
            </a:r>
            <a:r>
              <a:rPr kumimoji="0" lang="en-US" altLang="zh-CN" sz="1400" b="0" i="0" u="none" strike="noStrike" kern="1200" cap="none" spc="0" normalizeH="0" baseline="0" noProof="0" dirty="0">
                <a:ln>
                  <a:noFill/>
                </a:ln>
                <a:solidFill>
                  <a:srgbClr val="FFFFFF"/>
                </a:solidFill>
                <a:effectLst/>
                <a:uLnTx/>
                <a:uFillTx/>
                <a:cs typeface="+mn-ea"/>
                <a:sym typeface="+mn-lt"/>
              </a:rPr>
              <a:t>XX</a:t>
            </a:r>
            <a:r>
              <a:rPr kumimoji="0" lang="zh-CN" altLang="en-US" sz="1400" b="0" i="0" u="none" strike="noStrike" kern="1200" cap="none" spc="0" normalizeH="0" baseline="0" noProof="0" dirty="0">
                <a:ln>
                  <a:noFill/>
                </a:ln>
                <a:solidFill>
                  <a:srgbClr val="FFFFFF"/>
                </a:solidFill>
                <a:effectLst/>
                <a:uLnTx/>
                <a:uFillTx/>
                <a:cs typeface="+mn-ea"/>
                <a:sym typeface="+mn-lt"/>
              </a:rPr>
              <a:t>生态</a:t>
            </a:r>
            <a:r>
              <a:rPr kumimoji="0" lang="en-US" altLang="zh-CN" sz="1400" b="0" i="0" u="none" strike="noStrike" kern="1200" cap="none" spc="0" normalizeH="0" baseline="0" noProof="0" dirty="0">
                <a:ln>
                  <a:noFill/>
                </a:ln>
                <a:solidFill>
                  <a:srgbClr val="FFFFFF"/>
                </a:solidFill>
                <a:effectLst/>
                <a:uLnTx/>
                <a:uFillTx/>
                <a:cs typeface="+mn-ea"/>
                <a:sym typeface="+mn-lt"/>
              </a:rPr>
              <a:t>+</a:t>
            </a:r>
            <a:r>
              <a:rPr kumimoji="0" lang="zh-CN" altLang="en-US" sz="1400" b="0" i="0" u="none" strike="noStrike" kern="1200" cap="none" spc="0" normalizeH="0" baseline="0" noProof="0" dirty="0">
                <a:ln>
                  <a:noFill/>
                </a:ln>
                <a:solidFill>
                  <a:srgbClr val="FFFFFF"/>
                </a:solidFill>
                <a:effectLst/>
                <a:uLnTx/>
                <a:uFillTx/>
                <a:cs typeface="+mn-ea"/>
                <a:sym typeface="+mn-lt"/>
              </a:rPr>
              <a:t>三方平台</a:t>
            </a:r>
            <a:r>
              <a:rPr kumimoji="0" lang="en-US" altLang="zh-CN" sz="1400" b="0" i="0" u="none" strike="noStrike" kern="1200" cap="none" spc="0" normalizeH="0" baseline="0" noProof="0" dirty="0">
                <a:ln>
                  <a:noFill/>
                </a:ln>
                <a:solidFill>
                  <a:srgbClr val="FFFFFF"/>
                </a:solidFill>
                <a:effectLst/>
                <a:uLnTx/>
                <a:uFillTx/>
                <a:cs typeface="+mn-ea"/>
                <a:sym typeface="+mn-lt"/>
              </a:rPr>
              <a:t>+</a:t>
            </a:r>
            <a:r>
              <a:rPr kumimoji="0" lang="zh-CN" altLang="en-US" sz="1400" b="0" i="0" u="none" strike="noStrike" kern="1200" cap="none" spc="0" normalizeH="0" baseline="0" noProof="0" dirty="0">
                <a:ln>
                  <a:noFill/>
                </a:ln>
                <a:solidFill>
                  <a:srgbClr val="FFFFFF"/>
                </a:solidFill>
                <a:effectLst/>
                <a:uLnTx/>
                <a:uFillTx/>
                <a:cs typeface="+mn-ea"/>
                <a:sym typeface="+mn-lt"/>
              </a:rPr>
              <a:t>线下场景</a:t>
            </a:r>
          </a:p>
        </p:txBody>
      </p:sp>
      <p:sp>
        <p:nvSpPr>
          <p:cNvPr id="7" name="熊大的PPT宝库5"/>
          <p:cNvSpPr/>
          <p:nvPr/>
        </p:nvSpPr>
        <p:spPr>
          <a:xfrm>
            <a:off x="442911" y="1386519"/>
            <a:ext cx="5580000" cy="596517"/>
          </a:xfrm>
          <a:prstGeom prst="roundRect">
            <a:avLst>
              <a:gd name="adj" fmla="val 18875"/>
            </a:avLst>
          </a:prstGeom>
          <a:noFill/>
          <a:ln w="12700">
            <a:solidFill>
              <a:schemeClr val="tx1"/>
            </a:solidFill>
            <a:prstDash val="lgDash"/>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8" name="熊大的PPT宝库6"/>
          <p:cNvSpPr/>
          <p:nvPr/>
        </p:nvSpPr>
        <p:spPr>
          <a:xfrm>
            <a:off x="6159546" y="1386519"/>
            <a:ext cx="5580000" cy="596517"/>
          </a:xfrm>
          <a:prstGeom prst="roundRect">
            <a:avLst>
              <a:gd name="adj" fmla="val 18875"/>
            </a:avLst>
          </a:prstGeom>
          <a:noFill/>
          <a:ln w="12700">
            <a:solidFill>
              <a:schemeClr val="tx1"/>
            </a:solidFill>
            <a:prstDash val="lgDash"/>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9" name="熊大的PPT宝库7"/>
          <p:cNvSpPr txBox="1"/>
          <p:nvPr/>
        </p:nvSpPr>
        <p:spPr>
          <a:xfrm>
            <a:off x="666281" y="1563519"/>
            <a:ext cx="646331" cy="276999"/>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全通路</a:t>
            </a:r>
          </a:p>
        </p:txBody>
      </p:sp>
      <p:sp>
        <p:nvSpPr>
          <p:cNvPr id="10" name="熊大的PPT宝库8"/>
          <p:cNvSpPr txBox="1"/>
          <p:nvPr/>
        </p:nvSpPr>
        <p:spPr>
          <a:xfrm>
            <a:off x="10956333" y="1563519"/>
            <a:ext cx="646331" cy="276999"/>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000000"/>
                </a:solidFill>
                <a:effectLst/>
                <a:uLnTx/>
                <a:uFillTx/>
                <a:cs typeface="+mn-ea"/>
                <a:sym typeface="+mn-lt"/>
              </a:rPr>
              <a:t>全触点</a:t>
            </a:r>
          </a:p>
        </p:txBody>
      </p:sp>
      <p:sp>
        <p:nvSpPr>
          <p:cNvPr id="11" name="熊大的PPT宝库9"/>
          <p:cNvSpPr txBox="1"/>
          <p:nvPr/>
        </p:nvSpPr>
        <p:spPr>
          <a:xfrm>
            <a:off x="1428028" y="1660090"/>
            <a:ext cx="415498" cy="230832"/>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搜索</a:t>
            </a:r>
          </a:p>
        </p:txBody>
      </p:sp>
      <p:sp>
        <p:nvSpPr>
          <p:cNvPr id="12" name="熊大的PPT宝库10"/>
          <p:cNvSpPr txBox="1"/>
          <p:nvPr/>
        </p:nvSpPr>
        <p:spPr>
          <a:xfrm>
            <a:off x="2123076" y="1660090"/>
            <a:ext cx="415498" cy="230832"/>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广告</a:t>
            </a:r>
          </a:p>
        </p:txBody>
      </p:sp>
      <p:sp>
        <p:nvSpPr>
          <p:cNvPr id="13" name="熊大的PPT宝库11"/>
          <p:cNvSpPr txBox="1"/>
          <p:nvPr/>
        </p:nvSpPr>
        <p:spPr>
          <a:xfrm>
            <a:off x="2818124" y="1660090"/>
            <a:ext cx="646331" cy="230832"/>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视频网站</a:t>
            </a:r>
          </a:p>
        </p:txBody>
      </p:sp>
      <p:sp>
        <p:nvSpPr>
          <p:cNvPr id="14" name="熊大的PPT宝库12"/>
          <p:cNvSpPr txBox="1"/>
          <p:nvPr/>
        </p:nvSpPr>
        <p:spPr>
          <a:xfrm>
            <a:off x="3744005" y="1660090"/>
            <a:ext cx="761747" cy="230832"/>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信息流媒体</a:t>
            </a:r>
          </a:p>
        </p:txBody>
      </p:sp>
      <p:sp>
        <p:nvSpPr>
          <p:cNvPr id="15" name="熊大的PPT宝库13"/>
          <p:cNvSpPr txBox="1"/>
          <p:nvPr/>
        </p:nvSpPr>
        <p:spPr>
          <a:xfrm>
            <a:off x="4785302" y="1660090"/>
            <a:ext cx="646331" cy="230832"/>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购物平台</a:t>
            </a:r>
          </a:p>
        </p:txBody>
      </p:sp>
      <p:sp>
        <p:nvSpPr>
          <p:cNvPr id="16" name="熊大的PPT宝库14"/>
          <p:cNvSpPr txBox="1"/>
          <p:nvPr/>
        </p:nvSpPr>
        <p:spPr>
          <a:xfrm>
            <a:off x="6842105" y="1660090"/>
            <a:ext cx="415498" cy="230832"/>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微信</a:t>
            </a:r>
          </a:p>
        </p:txBody>
      </p:sp>
      <p:sp>
        <p:nvSpPr>
          <p:cNvPr id="17" name="熊大的PPT宝库15"/>
          <p:cNvSpPr txBox="1"/>
          <p:nvPr/>
        </p:nvSpPr>
        <p:spPr>
          <a:xfrm>
            <a:off x="7352788" y="1660090"/>
            <a:ext cx="415498" cy="230832"/>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企微</a:t>
            </a:r>
          </a:p>
        </p:txBody>
      </p:sp>
      <p:sp>
        <p:nvSpPr>
          <p:cNvPr id="18" name="熊大的PPT宝库16"/>
          <p:cNvSpPr txBox="1"/>
          <p:nvPr/>
        </p:nvSpPr>
        <p:spPr>
          <a:xfrm>
            <a:off x="7863471" y="1660090"/>
            <a:ext cx="360996" cy="230832"/>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rgbClr val="000000"/>
                </a:solidFill>
                <a:effectLst/>
                <a:uLnTx/>
                <a:uFillTx/>
                <a:cs typeface="+mn-ea"/>
                <a:sym typeface="+mn-lt"/>
              </a:rPr>
              <a:t>QQ</a:t>
            </a:r>
            <a:endParaRPr kumimoji="0" lang="zh-CN" altLang="en-US" sz="900" b="0" i="0" u="none" strike="noStrike" kern="1200" cap="none" spc="0" normalizeH="0" baseline="0" noProof="0" dirty="0">
              <a:ln>
                <a:noFill/>
              </a:ln>
              <a:solidFill>
                <a:srgbClr val="000000"/>
              </a:solidFill>
              <a:effectLst/>
              <a:uLnTx/>
              <a:uFillTx/>
              <a:cs typeface="+mn-ea"/>
              <a:sym typeface="+mn-lt"/>
            </a:endParaRPr>
          </a:p>
        </p:txBody>
      </p:sp>
      <p:sp>
        <p:nvSpPr>
          <p:cNvPr id="19" name="熊大的PPT宝库17"/>
          <p:cNvSpPr txBox="1"/>
          <p:nvPr/>
        </p:nvSpPr>
        <p:spPr>
          <a:xfrm>
            <a:off x="8319652" y="1660090"/>
            <a:ext cx="415498" cy="230832"/>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官网</a:t>
            </a:r>
          </a:p>
        </p:txBody>
      </p:sp>
      <p:sp>
        <p:nvSpPr>
          <p:cNvPr id="20" name="熊大的PPT宝库18"/>
          <p:cNvSpPr txBox="1"/>
          <p:nvPr/>
        </p:nvSpPr>
        <p:spPr>
          <a:xfrm>
            <a:off x="8825526" y="1660090"/>
            <a:ext cx="412292" cy="230832"/>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rgbClr val="000000"/>
                </a:solidFill>
                <a:effectLst/>
                <a:uLnTx/>
                <a:uFillTx/>
                <a:cs typeface="+mn-ea"/>
                <a:sym typeface="+mn-lt"/>
              </a:rPr>
              <a:t>APP</a:t>
            </a:r>
            <a:endParaRPr kumimoji="0" lang="zh-CN" altLang="en-US" sz="900" b="0" i="0" u="none" strike="noStrike" kern="1200" cap="none" spc="0" normalizeH="0" baseline="0" noProof="0" dirty="0">
              <a:ln>
                <a:noFill/>
              </a:ln>
              <a:solidFill>
                <a:srgbClr val="000000"/>
              </a:solidFill>
              <a:effectLst/>
              <a:uLnTx/>
              <a:uFillTx/>
              <a:cs typeface="+mn-ea"/>
              <a:sym typeface="+mn-lt"/>
            </a:endParaRPr>
          </a:p>
        </p:txBody>
      </p:sp>
      <p:sp>
        <p:nvSpPr>
          <p:cNvPr id="21" name="熊大的PPT宝库19"/>
          <p:cNvSpPr txBox="1"/>
          <p:nvPr/>
        </p:nvSpPr>
        <p:spPr>
          <a:xfrm>
            <a:off x="9328194" y="1660090"/>
            <a:ext cx="415498" cy="230832"/>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电话</a:t>
            </a:r>
          </a:p>
        </p:txBody>
      </p:sp>
      <p:sp>
        <p:nvSpPr>
          <p:cNvPr id="22" name="熊大的PPT宝库20"/>
          <p:cNvSpPr txBox="1"/>
          <p:nvPr/>
        </p:nvSpPr>
        <p:spPr>
          <a:xfrm>
            <a:off x="9838877" y="1660090"/>
            <a:ext cx="530915" cy="230832"/>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小程序</a:t>
            </a:r>
          </a:p>
        </p:txBody>
      </p:sp>
      <p:sp>
        <p:nvSpPr>
          <p:cNvPr id="23" name="熊大的PPT宝库21"/>
          <p:cNvSpPr txBox="1"/>
          <p:nvPr/>
        </p:nvSpPr>
        <p:spPr>
          <a:xfrm>
            <a:off x="10464980" y="1660090"/>
            <a:ext cx="415498" cy="230832"/>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000000"/>
                </a:solidFill>
                <a:effectLst/>
                <a:uLnTx/>
                <a:uFillTx/>
                <a:cs typeface="+mn-ea"/>
                <a:sym typeface="+mn-lt"/>
              </a:rPr>
              <a:t>门店</a:t>
            </a:r>
          </a:p>
        </p:txBody>
      </p:sp>
      <p:sp>
        <p:nvSpPr>
          <p:cNvPr id="24" name="熊大的PPT宝库22"/>
          <p:cNvSpPr/>
          <p:nvPr/>
        </p:nvSpPr>
        <p:spPr>
          <a:xfrm>
            <a:off x="1508605" y="1487960"/>
            <a:ext cx="167114" cy="166843"/>
          </a:xfrm>
          <a:custGeom>
            <a:avLst/>
            <a:gdLst>
              <a:gd name="T0" fmla="*/ 6445 w 6557"/>
              <a:gd name="T1" fmla="*/ 6058 h 6556"/>
              <a:gd name="T2" fmla="*/ 4828 w 6557"/>
              <a:gd name="T3" fmla="*/ 4440 h 6556"/>
              <a:gd name="T4" fmla="*/ 5441 w 6557"/>
              <a:gd name="T5" fmla="*/ 2721 h 6556"/>
              <a:gd name="T6" fmla="*/ 2720 w 6557"/>
              <a:gd name="T7" fmla="*/ 0 h 6556"/>
              <a:gd name="T8" fmla="*/ 0 w 6557"/>
              <a:gd name="T9" fmla="*/ 2721 h 6556"/>
              <a:gd name="T10" fmla="*/ 2721 w 6557"/>
              <a:gd name="T11" fmla="*/ 5441 h 6556"/>
              <a:gd name="T12" fmla="*/ 4440 w 6557"/>
              <a:gd name="T13" fmla="*/ 4828 h 6556"/>
              <a:gd name="T14" fmla="*/ 6057 w 6557"/>
              <a:gd name="T15" fmla="*/ 6445 h 6556"/>
              <a:gd name="T16" fmla="*/ 6447 w 6557"/>
              <a:gd name="T17" fmla="*/ 6445 h 6556"/>
              <a:gd name="T18" fmla="*/ 6445 w 6557"/>
              <a:gd name="T19" fmla="*/ 6058 h 6556"/>
              <a:gd name="T20" fmla="*/ 543 w 6557"/>
              <a:gd name="T21" fmla="*/ 2721 h 6556"/>
              <a:gd name="T22" fmla="*/ 2720 w 6557"/>
              <a:gd name="T23" fmla="*/ 544 h 6556"/>
              <a:gd name="T24" fmla="*/ 4899 w 6557"/>
              <a:gd name="T25" fmla="*/ 2722 h 6556"/>
              <a:gd name="T26" fmla="*/ 2720 w 6557"/>
              <a:gd name="T27" fmla="*/ 4901 h 6556"/>
              <a:gd name="T28" fmla="*/ 543 w 6557"/>
              <a:gd name="T29" fmla="*/ 2721 h 6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57" h="6556">
                <a:moveTo>
                  <a:pt x="6445" y="6058"/>
                </a:moveTo>
                <a:lnTo>
                  <a:pt x="4828" y="4440"/>
                </a:lnTo>
                <a:cubicBezTo>
                  <a:pt x="5211" y="3970"/>
                  <a:pt x="5441" y="3373"/>
                  <a:pt x="5441" y="2721"/>
                </a:cubicBezTo>
                <a:cubicBezTo>
                  <a:pt x="5441" y="1221"/>
                  <a:pt x="4221" y="0"/>
                  <a:pt x="2720" y="0"/>
                </a:cubicBezTo>
                <a:cubicBezTo>
                  <a:pt x="1219" y="0"/>
                  <a:pt x="0" y="1221"/>
                  <a:pt x="0" y="2721"/>
                </a:cubicBezTo>
                <a:cubicBezTo>
                  <a:pt x="0" y="4221"/>
                  <a:pt x="1220" y="5441"/>
                  <a:pt x="2721" y="5441"/>
                </a:cubicBezTo>
                <a:cubicBezTo>
                  <a:pt x="3372" y="5441"/>
                  <a:pt x="3971" y="5210"/>
                  <a:pt x="4440" y="4828"/>
                </a:cubicBezTo>
                <a:lnTo>
                  <a:pt x="6057" y="6445"/>
                </a:lnTo>
                <a:cubicBezTo>
                  <a:pt x="6168" y="6556"/>
                  <a:pt x="6336" y="6556"/>
                  <a:pt x="6447" y="6445"/>
                </a:cubicBezTo>
                <a:cubicBezTo>
                  <a:pt x="6557" y="6334"/>
                  <a:pt x="6557" y="6169"/>
                  <a:pt x="6445" y="6058"/>
                </a:cubicBezTo>
                <a:close/>
                <a:moveTo>
                  <a:pt x="543" y="2721"/>
                </a:moveTo>
                <a:cubicBezTo>
                  <a:pt x="543" y="1520"/>
                  <a:pt x="1519" y="544"/>
                  <a:pt x="2720" y="544"/>
                </a:cubicBezTo>
                <a:cubicBezTo>
                  <a:pt x="3921" y="544"/>
                  <a:pt x="4899" y="1521"/>
                  <a:pt x="4899" y="2722"/>
                </a:cubicBezTo>
                <a:cubicBezTo>
                  <a:pt x="4899" y="3924"/>
                  <a:pt x="3921" y="4901"/>
                  <a:pt x="2720" y="4901"/>
                </a:cubicBezTo>
                <a:cubicBezTo>
                  <a:pt x="1519" y="4901"/>
                  <a:pt x="543" y="3922"/>
                  <a:pt x="543" y="272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5" name="熊大的PPT宝库23"/>
          <p:cNvSpPr/>
          <p:nvPr/>
        </p:nvSpPr>
        <p:spPr>
          <a:xfrm>
            <a:off x="2226846" y="1487960"/>
            <a:ext cx="167115" cy="166863"/>
          </a:xfrm>
          <a:custGeom>
            <a:avLst/>
            <a:gdLst>
              <a:gd name="connsiteX0" fmla="*/ 536702 w 607639"/>
              <a:gd name="connsiteY0" fmla="*/ 546032 h 606722"/>
              <a:gd name="connsiteX1" fmla="*/ 517032 w 607639"/>
              <a:gd name="connsiteY1" fmla="*/ 561671 h 606722"/>
              <a:gd name="connsiteX2" fmla="*/ 510980 w 607639"/>
              <a:gd name="connsiteY2" fmla="*/ 568780 h 606722"/>
              <a:gd name="connsiteX3" fmla="*/ 501723 w 607639"/>
              <a:gd name="connsiteY3" fmla="*/ 567891 h 606722"/>
              <a:gd name="connsiteX4" fmla="*/ 496205 w 607639"/>
              <a:gd name="connsiteY4" fmla="*/ 566292 h 606722"/>
              <a:gd name="connsiteX5" fmla="*/ 486058 w 607639"/>
              <a:gd name="connsiteY5" fmla="*/ 576333 h 606722"/>
              <a:gd name="connsiteX6" fmla="*/ 496205 w 607639"/>
              <a:gd name="connsiteY6" fmla="*/ 586463 h 606722"/>
              <a:gd name="connsiteX7" fmla="*/ 577199 w 607639"/>
              <a:gd name="connsiteY7" fmla="*/ 586463 h 606722"/>
              <a:gd name="connsiteX8" fmla="*/ 587346 w 607639"/>
              <a:gd name="connsiteY8" fmla="*/ 576333 h 606722"/>
              <a:gd name="connsiteX9" fmla="*/ 571770 w 607639"/>
              <a:gd name="connsiteY9" fmla="*/ 567891 h 606722"/>
              <a:gd name="connsiteX10" fmla="*/ 562425 w 607639"/>
              <a:gd name="connsiteY10" fmla="*/ 568780 h 606722"/>
              <a:gd name="connsiteX11" fmla="*/ 556372 w 607639"/>
              <a:gd name="connsiteY11" fmla="*/ 561671 h 606722"/>
              <a:gd name="connsiteX12" fmla="*/ 536702 w 607639"/>
              <a:gd name="connsiteY12" fmla="*/ 546032 h 606722"/>
              <a:gd name="connsiteX13" fmla="*/ 50649 w 607639"/>
              <a:gd name="connsiteY13" fmla="*/ 444915 h 606722"/>
              <a:gd name="connsiteX14" fmla="*/ 60793 w 607639"/>
              <a:gd name="connsiteY14" fmla="*/ 455030 h 606722"/>
              <a:gd name="connsiteX15" fmla="*/ 70848 w 607639"/>
              <a:gd name="connsiteY15" fmla="*/ 465144 h 606722"/>
              <a:gd name="connsiteX16" fmla="*/ 60793 w 607639"/>
              <a:gd name="connsiteY16" fmla="*/ 475258 h 606722"/>
              <a:gd name="connsiteX17" fmla="*/ 40505 w 607639"/>
              <a:gd name="connsiteY17" fmla="*/ 455030 h 606722"/>
              <a:gd name="connsiteX18" fmla="*/ 50649 w 607639"/>
              <a:gd name="connsiteY18" fmla="*/ 444915 h 606722"/>
              <a:gd name="connsiteX19" fmla="*/ 80986 w 607639"/>
              <a:gd name="connsiteY19" fmla="*/ 424734 h 606722"/>
              <a:gd name="connsiteX20" fmla="*/ 101262 w 607639"/>
              <a:gd name="connsiteY20" fmla="*/ 444887 h 606722"/>
              <a:gd name="connsiteX21" fmla="*/ 91124 w 607639"/>
              <a:gd name="connsiteY21" fmla="*/ 455007 h 606722"/>
              <a:gd name="connsiteX22" fmla="*/ 80986 w 607639"/>
              <a:gd name="connsiteY22" fmla="*/ 444887 h 606722"/>
              <a:gd name="connsiteX23" fmla="*/ 70848 w 607639"/>
              <a:gd name="connsiteY23" fmla="*/ 434766 h 606722"/>
              <a:gd name="connsiteX24" fmla="*/ 80986 w 607639"/>
              <a:gd name="connsiteY24" fmla="*/ 424734 h 606722"/>
              <a:gd name="connsiteX25" fmla="*/ 70865 w 607639"/>
              <a:gd name="connsiteY25" fmla="*/ 374138 h 606722"/>
              <a:gd name="connsiteX26" fmla="*/ 81009 w 607639"/>
              <a:gd name="connsiteY26" fmla="*/ 384282 h 606722"/>
              <a:gd name="connsiteX27" fmla="*/ 70865 w 607639"/>
              <a:gd name="connsiteY27" fmla="*/ 394337 h 606722"/>
              <a:gd name="connsiteX28" fmla="*/ 60810 w 607639"/>
              <a:gd name="connsiteY28" fmla="*/ 404481 h 606722"/>
              <a:gd name="connsiteX29" fmla="*/ 50666 w 607639"/>
              <a:gd name="connsiteY29" fmla="*/ 394337 h 606722"/>
              <a:gd name="connsiteX30" fmla="*/ 70865 w 607639"/>
              <a:gd name="connsiteY30" fmla="*/ 374138 h 606722"/>
              <a:gd name="connsiteX31" fmla="*/ 70848 w 607639"/>
              <a:gd name="connsiteY31" fmla="*/ 323621 h 606722"/>
              <a:gd name="connsiteX32" fmla="*/ 20293 w 607639"/>
              <a:gd name="connsiteY32" fmla="*/ 455042 h 606722"/>
              <a:gd name="connsiteX33" fmla="*/ 70848 w 607639"/>
              <a:gd name="connsiteY33" fmla="*/ 505602 h 606722"/>
              <a:gd name="connsiteX34" fmla="*/ 121492 w 607639"/>
              <a:gd name="connsiteY34" fmla="*/ 455042 h 606722"/>
              <a:gd name="connsiteX35" fmla="*/ 70848 w 607639"/>
              <a:gd name="connsiteY35" fmla="*/ 323621 h 606722"/>
              <a:gd name="connsiteX36" fmla="*/ 70848 w 607639"/>
              <a:gd name="connsiteY36" fmla="*/ 303361 h 606722"/>
              <a:gd name="connsiteX37" fmla="*/ 141785 w 607639"/>
              <a:gd name="connsiteY37" fmla="*/ 455042 h 606722"/>
              <a:gd name="connsiteX38" fmla="*/ 80995 w 607639"/>
              <a:gd name="connsiteY38" fmla="*/ 525151 h 606722"/>
              <a:gd name="connsiteX39" fmla="*/ 80995 w 607639"/>
              <a:gd name="connsiteY39" fmla="*/ 586463 h 606722"/>
              <a:gd name="connsiteX40" fmla="*/ 121492 w 607639"/>
              <a:gd name="connsiteY40" fmla="*/ 586463 h 606722"/>
              <a:gd name="connsiteX41" fmla="*/ 121492 w 607639"/>
              <a:gd name="connsiteY41" fmla="*/ 546032 h 606722"/>
              <a:gd name="connsiteX42" fmla="*/ 131639 w 607639"/>
              <a:gd name="connsiteY42" fmla="*/ 535902 h 606722"/>
              <a:gd name="connsiteX43" fmla="*/ 141785 w 607639"/>
              <a:gd name="connsiteY43" fmla="*/ 546032 h 606722"/>
              <a:gd name="connsiteX44" fmla="*/ 141785 w 607639"/>
              <a:gd name="connsiteY44" fmla="*/ 586463 h 606722"/>
              <a:gd name="connsiteX45" fmla="*/ 161990 w 607639"/>
              <a:gd name="connsiteY45" fmla="*/ 586463 h 606722"/>
              <a:gd name="connsiteX46" fmla="*/ 161990 w 607639"/>
              <a:gd name="connsiteY46" fmla="*/ 434782 h 606722"/>
              <a:gd name="connsiteX47" fmla="*/ 172136 w 607639"/>
              <a:gd name="connsiteY47" fmla="*/ 424741 h 606722"/>
              <a:gd name="connsiteX48" fmla="*/ 182283 w 607639"/>
              <a:gd name="connsiteY48" fmla="*/ 434782 h 606722"/>
              <a:gd name="connsiteX49" fmla="*/ 182283 w 607639"/>
              <a:gd name="connsiteY49" fmla="*/ 586463 h 606722"/>
              <a:gd name="connsiteX50" fmla="*/ 425356 w 607639"/>
              <a:gd name="connsiteY50" fmla="*/ 586463 h 606722"/>
              <a:gd name="connsiteX51" fmla="*/ 425356 w 607639"/>
              <a:gd name="connsiteY51" fmla="*/ 434782 h 606722"/>
              <a:gd name="connsiteX52" fmla="*/ 435414 w 607639"/>
              <a:gd name="connsiteY52" fmla="*/ 424741 h 606722"/>
              <a:gd name="connsiteX53" fmla="*/ 445561 w 607639"/>
              <a:gd name="connsiteY53" fmla="*/ 434782 h 606722"/>
              <a:gd name="connsiteX54" fmla="*/ 445561 w 607639"/>
              <a:gd name="connsiteY54" fmla="*/ 586463 h 606722"/>
              <a:gd name="connsiteX55" fmla="*/ 465854 w 607639"/>
              <a:gd name="connsiteY55" fmla="*/ 586463 h 606722"/>
              <a:gd name="connsiteX56" fmla="*/ 465854 w 607639"/>
              <a:gd name="connsiteY56" fmla="*/ 434782 h 606722"/>
              <a:gd name="connsiteX57" fmla="*/ 476000 w 607639"/>
              <a:gd name="connsiteY57" fmla="*/ 424741 h 606722"/>
              <a:gd name="connsiteX58" fmla="*/ 486058 w 607639"/>
              <a:gd name="connsiteY58" fmla="*/ 434782 h 606722"/>
              <a:gd name="connsiteX59" fmla="*/ 486058 w 607639"/>
              <a:gd name="connsiteY59" fmla="*/ 547898 h 606722"/>
              <a:gd name="connsiteX60" fmla="*/ 496205 w 607639"/>
              <a:gd name="connsiteY60" fmla="*/ 546032 h 606722"/>
              <a:gd name="connsiteX61" fmla="*/ 501456 w 607639"/>
              <a:gd name="connsiteY61" fmla="*/ 546477 h 606722"/>
              <a:gd name="connsiteX62" fmla="*/ 536702 w 607639"/>
              <a:gd name="connsiteY62" fmla="*/ 525773 h 606722"/>
              <a:gd name="connsiteX63" fmla="*/ 572037 w 607639"/>
              <a:gd name="connsiteY63" fmla="*/ 546477 h 606722"/>
              <a:gd name="connsiteX64" fmla="*/ 577199 w 607639"/>
              <a:gd name="connsiteY64" fmla="*/ 546032 h 606722"/>
              <a:gd name="connsiteX65" fmla="*/ 607639 w 607639"/>
              <a:gd name="connsiteY65" fmla="*/ 576333 h 606722"/>
              <a:gd name="connsiteX66" fmla="*/ 577199 w 607639"/>
              <a:gd name="connsiteY66" fmla="*/ 606722 h 606722"/>
              <a:gd name="connsiteX67" fmla="*/ 496205 w 607639"/>
              <a:gd name="connsiteY67" fmla="*/ 606722 h 606722"/>
              <a:gd name="connsiteX68" fmla="*/ 10146 w 607639"/>
              <a:gd name="connsiteY68" fmla="*/ 606722 h 606722"/>
              <a:gd name="connsiteX69" fmla="*/ 0 w 607639"/>
              <a:gd name="connsiteY69" fmla="*/ 596592 h 606722"/>
              <a:gd name="connsiteX70" fmla="*/ 10146 w 607639"/>
              <a:gd name="connsiteY70" fmla="*/ 586463 h 606722"/>
              <a:gd name="connsiteX71" fmla="*/ 60790 w 607639"/>
              <a:gd name="connsiteY71" fmla="*/ 586463 h 606722"/>
              <a:gd name="connsiteX72" fmla="*/ 60790 w 607639"/>
              <a:gd name="connsiteY72" fmla="*/ 525062 h 606722"/>
              <a:gd name="connsiteX73" fmla="*/ 0 w 607639"/>
              <a:gd name="connsiteY73" fmla="*/ 455042 h 606722"/>
              <a:gd name="connsiteX74" fmla="*/ 70848 w 607639"/>
              <a:gd name="connsiteY74" fmla="*/ 303361 h 606722"/>
              <a:gd name="connsiteX75" fmla="*/ 490595 w 607639"/>
              <a:gd name="connsiteY75" fmla="*/ 253842 h 606722"/>
              <a:gd name="connsiteX76" fmla="*/ 495135 w 607639"/>
              <a:gd name="connsiteY76" fmla="*/ 267437 h 606722"/>
              <a:gd name="connsiteX77" fmla="*/ 415200 w 607639"/>
              <a:gd name="connsiteY77" fmla="*/ 303335 h 606722"/>
              <a:gd name="connsiteX78" fmla="*/ 379505 w 607639"/>
              <a:gd name="connsiteY78" fmla="*/ 317996 h 606722"/>
              <a:gd name="connsiteX79" fmla="*/ 359655 w 607639"/>
              <a:gd name="connsiteY79" fmla="*/ 332213 h 606722"/>
              <a:gd name="connsiteX80" fmla="*/ 260760 w 607639"/>
              <a:gd name="connsiteY80" fmla="*/ 350428 h 606722"/>
              <a:gd name="connsiteX81" fmla="*/ 170589 w 607639"/>
              <a:gd name="connsiteY81" fmla="*/ 343675 h 606722"/>
              <a:gd name="connsiteX82" fmla="*/ 162132 w 607639"/>
              <a:gd name="connsiteY82" fmla="*/ 332124 h 606722"/>
              <a:gd name="connsiteX83" fmla="*/ 173704 w 607639"/>
              <a:gd name="connsiteY83" fmla="*/ 323683 h 606722"/>
              <a:gd name="connsiteX84" fmla="*/ 349240 w 607639"/>
              <a:gd name="connsiteY84" fmla="*/ 314886 h 606722"/>
              <a:gd name="connsiteX85" fmla="*/ 366865 w 607639"/>
              <a:gd name="connsiteY85" fmla="*/ 302180 h 606722"/>
              <a:gd name="connsiteX86" fmla="*/ 415200 w 607639"/>
              <a:gd name="connsiteY86" fmla="*/ 283165 h 606722"/>
              <a:gd name="connsiteX87" fmla="*/ 477065 w 607639"/>
              <a:gd name="connsiteY87" fmla="*/ 258374 h 606722"/>
              <a:gd name="connsiteX88" fmla="*/ 490595 w 607639"/>
              <a:gd name="connsiteY88" fmla="*/ 253842 h 606722"/>
              <a:gd name="connsiteX89" fmla="*/ 111412 w 607639"/>
              <a:gd name="connsiteY89" fmla="*/ 202241 h 606722"/>
              <a:gd name="connsiteX90" fmla="*/ 192442 w 607639"/>
              <a:gd name="connsiteY90" fmla="*/ 202241 h 606722"/>
              <a:gd name="connsiteX91" fmla="*/ 202593 w 607639"/>
              <a:gd name="connsiteY91" fmla="*/ 212288 h 606722"/>
              <a:gd name="connsiteX92" fmla="*/ 192442 w 607639"/>
              <a:gd name="connsiteY92" fmla="*/ 222423 h 606722"/>
              <a:gd name="connsiteX93" fmla="*/ 111412 w 607639"/>
              <a:gd name="connsiteY93" fmla="*/ 222423 h 606722"/>
              <a:gd name="connsiteX94" fmla="*/ 101261 w 607639"/>
              <a:gd name="connsiteY94" fmla="*/ 212288 h 606722"/>
              <a:gd name="connsiteX95" fmla="*/ 111412 w 607639"/>
              <a:gd name="connsiteY95" fmla="*/ 202241 h 606722"/>
              <a:gd name="connsiteX96" fmla="*/ 400507 w 607639"/>
              <a:gd name="connsiteY96" fmla="*/ 193226 h 606722"/>
              <a:gd name="connsiteX97" fmla="*/ 414126 w 607639"/>
              <a:gd name="connsiteY97" fmla="*/ 197756 h 606722"/>
              <a:gd name="connsiteX98" fmla="*/ 409586 w 607639"/>
              <a:gd name="connsiteY98" fmla="*/ 211259 h 606722"/>
              <a:gd name="connsiteX99" fmla="*/ 400507 w 607639"/>
              <a:gd name="connsiteY99" fmla="*/ 228137 h 606722"/>
              <a:gd name="connsiteX100" fmla="*/ 391962 w 607639"/>
              <a:gd name="connsiteY100" fmla="*/ 249813 h 606722"/>
              <a:gd name="connsiteX101" fmla="*/ 320843 w 607639"/>
              <a:gd name="connsiteY101" fmla="*/ 252300 h 606722"/>
              <a:gd name="connsiteX102" fmla="*/ 176647 w 607639"/>
              <a:gd name="connsiteY102" fmla="*/ 302224 h 606722"/>
              <a:gd name="connsiteX103" fmla="*/ 172108 w 607639"/>
              <a:gd name="connsiteY103" fmla="*/ 303290 h 606722"/>
              <a:gd name="connsiteX104" fmla="*/ 163029 w 607639"/>
              <a:gd name="connsiteY104" fmla="*/ 297694 h 606722"/>
              <a:gd name="connsiteX105" fmla="*/ 167568 w 607639"/>
              <a:gd name="connsiteY105" fmla="*/ 284191 h 606722"/>
              <a:gd name="connsiteX106" fmla="*/ 327252 w 607639"/>
              <a:gd name="connsiteY106" fmla="*/ 233112 h 606722"/>
              <a:gd name="connsiteX107" fmla="*/ 377632 w 607639"/>
              <a:gd name="connsiteY107" fmla="*/ 235510 h 606722"/>
              <a:gd name="connsiteX108" fmla="*/ 380480 w 607639"/>
              <a:gd name="connsiteY108" fmla="*/ 225383 h 606722"/>
              <a:gd name="connsiteX109" fmla="*/ 400507 w 607639"/>
              <a:gd name="connsiteY109" fmla="*/ 193226 h 606722"/>
              <a:gd name="connsiteX110" fmla="*/ 253153 w 607639"/>
              <a:gd name="connsiteY110" fmla="*/ 161736 h 606722"/>
              <a:gd name="connsiteX111" fmla="*/ 293729 w 607639"/>
              <a:gd name="connsiteY111" fmla="*/ 161736 h 606722"/>
              <a:gd name="connsiteX112" fmla="*/ 303784 w 607639"/>
              <a:gd name="connsiteY112" fmla="*/ 171862 h 606722"/>
              <a:gd name="connsiteX113" fmla="*/ 293729 w 607639"/>
              <a:gd name="connsiteY113" fmla="*/ 181988 h 606722"/>
              <a:gd name="connsiteX114" fmla="*/ 253153 w 607639"/>
              <a:gd name="connsiteY114" fmla="*/ 181988 h 606722"/>
              <a:gd name="connsiteX115" fmla="*/ 243098 w 607639"/>
              <a:gd name="connsiteY115" fmla="*/ 171862 h 606722"/>
              <a:gd name="connsiteX116" fmla="*/ 253153 w 607639"/>
              <a:gd name="connsiteY116" fmla="*/ 161736 h 606722"/>
              <a:gd name="connsiteX117" fmla="*/ 111409 w 607639"/>
              <a:gd name="connsiteY117" fmla="*/ 161736 h 606722"/>
              <a:gd name="connsiteX118" fmla="*/ 212627 w 607639"/>
              <a:gd name="connsiteY118" fmla="*/ 161736 h 606722"/>
              <a:gd name="connsiteX119" fmla="*/ 222775 w 607639"/>
              <a:gd name="connsiteY119" fmla="*/ 171862 h 606722"/>
              <a:gd name="connsiteX120" fmla="*/ 212627 w 607639"/>
              <a:gd name="connsiteY120" fmla="*/ 181988 h 606722"/>
              <a:gd name="connsiteX121" fmla="*/ 111409 w 607639"/>
              <a:gd name="connsiteY121" fmla="*/ 181988 h 606722"/>
              <a:gd name="connsiteX122" fmla="*/ 101261 w 607639"/>
              <a:gd name="connsiteY122" fmla="*/ 171862 h 606722"/>
              <a:gd name="connsiteX123" fmla="*/ 111409 w 607639"/>
              <a:gd name="connsiteY123" fmla="*/ 161736 h 606722"/>
              <a:gd name="connsiteX124" fmla="*/ 476013 w 607639"/>
              <a:gd name="connsiteY124" fmla="*/ 141554 h 606722"/>
              <a:gd name="connsiteX125" fmla="*/ 521852 w 607639"/>
              <a:gd name="connsiteY125" fmla="*/ 166623 h 606722"/>
              <a:gd name="connsiteX126" fmla="*/ 536182 w 607639"/>
              <a:gd name="connsiteY126" fmla="*/ 286368 h 606722"/>
              <a:gd name="connsiteX127" fmla="*/ 543926 w 607639"/>
              <a:gd name="connsiteY127" fmla="*/ 326549 h 606722"/>
              <a:gd name="connsiteX128" fmla="*/ 543926 w 607639"/>
              <a:gd name="connsiteY128" fmla="*/ 340862 h 606722"/>
              <a:gd name="connsiteX129" fmla="*/ 536716 w 607639"/>
              <a:gd name="connsiteY129" fmla="*/ 343795 h 606722"/>
              <a:gd name="connsiteX130" fmla="*/ 529596 w 607639"/>
              <a:gd name="connsiteY130" fmla="*/ 340862 h 606722"/>
              <a:gd name="connsiteX131" fmla="*/ 517046 w 607639"/>
              <a:gd name="connsiteY131" fmla="*/ 279967 h 606722"/>
              <a:gd name="connsiteX132" fmla="*/ 505386 w 607639"/>
              <a:gd name="connsiteY132" fmla="*/ 178535 h 606722"/>
              <a:gd name="connsiteX133" fmla="*/ 476013 w 607639"/>
              <a:gd name="connsiteY133" fmla="*/ 161733 h 606722"/>
              <a:gd name="connsiteX134" fmla="*/ 445573 w 607639"/>
              <a:gd name="connsiteY134" fmla="*/ 182002 h 606722"/>
              <a:gd name="connsiteX135" fmla="*/ 465867 w 607639"/>
              <a:gd name="connsiteY135" fmla="*/ 212316 h 606722"/>
              <a:gd name="connsiteX136" fmla="*/ 478951 w 607639"/>
              <a:gd name="connsiteY136" fmla="*/ 205205 h 606722"/>
              <a:gd name="connsiteX137" fmla="*/ 493281 w 607639"/>
              <a:gd name="connsiteY137" fmla="*/ 205205 h 606722"/>
              <a:gd name="connsiteX138" fmla="*/ 493281 w 607639"/>
              <a:gd name="connsiteY138" fmla="*/ 219517 h 606722"/>
              <a:gd name="connsiteX139" fmla="*/ 465867 w 607639"/>
              <a:gd name="connsiteY139" fmla="*/ 232585 h 606722"/>
              <a:gd name="connsiteX140" fmla="*/ 425368 w 607639"/>
              <a:gd name="connsiteY140" fmla="*/ 182002 h 606722"/>
              <a:gd name="connsiteX141" fmla="*/ 476013 w 607639"/>
              <a:gd name="connsiteY141" fmla="*/ 141554 h 606722"/>
              <a:gd name="connsiteX142" fmla="*/ 111409 w 607639"/>
              <a:gd name="connsiteY142" fmla="*/ 121302 h 606722"/>
              <a:gd name="connsiteX143" fmla="*/ 253131 w 607639"/>
              <a:gd name="connsiteY143" fmla="*/ 121302 h 606722"/>
              <a:gd name="connsiteX144" fmla="*/ 263279 w 607639"/>
              <a:gd name="connsiteY144" fmla="*/ 131428 h 606722"/>
              <a:gd name="connsiteX145" fmla="*/ 253131 w 607639"/>
              <a:gd name="connsiteY145" fmla="*/ 141554 h 606722"/>
              <a:gd name="connsiteX146" fmla="*/ 111409 w 607639"/>
              <a:gd name="connsiteY146" fmla="*/ 141554 h 606722"/>
              <a:gd name="connsiteX147" fmla="*/ 101261 w 607639"/>
              <a:gd name="connsiteY147" fmla="*/ 131428 h 606722"/>
              <a:gd name="connsiteX148" fmla="*/ 111409 w 607639"/>
              <a:gd name="connsiteY148" fmla="*/ 121302 h 606722"/>
              <a:gd name="connsiteX149" fmla="*/ 50644 w 607639"/>
              <a:gd name="connsiteY149" fmla="*/ 0 h 606722"/>
              <a:gd name="connsiteX150" fmla="*/ 556995 w 607639"/>
              <a:gd name="connsiteY150" fmla="*/ 0 h 606722"/>
              <a:gd name="connsiteX151" fmla="*/ 607639 w 607639"/>
              <a:gd name="connsiteY151" fmla="*/ 50571 h 606722"/>
              <a:gd name="connsiteX152" fmla="*/ 607639 w 607639"/>
              <a:gd name="connsiteY152" fmla="*/ 353910 h 606722"/>
              <a:gd name="connsiteX153" fmla="*/ 556995 w 607639"/>
              <a:gd name="connsiteY153" fmla="*/ 404481 h 606722"/>
              <a:gd name="connsiteX154" fmla="*/ 161990 w 607639"/>
              <a:gd name="connsiteY154" fmla="*/ 404481 h 606722"/>
              <a:gd name="connsiteX155" fmla="*/ 151932 w 607639"/>
              <a:gd name="connsiteY155" fmla="*/ 394349 h 606722"/>
              <a:gd name="connsiteX156" fmla="*/ 161990 w 607639"/>
              <a:gd name="connsiteY156" fmla="*/ 384306 h 606722"/>
              <a:gd name="connsiteX157" fmla="*/ 556995 w 607639"/>
              <a:gd name="connsiteY157" fmla="*/ 384306 h 606722"/>
              <a:gd name="connsiteX158" fmla="*/ 587346 w 607639"/>
              <a:gd name="connsiteY158" fmla="*/ 353910 h 606722"/>
              <a:gd name="connsiteX159" fmla="*/ 587346 w 607639"/>
              <a:gd name="connsiteY159" fmla="*/ 50571 h 606722"/>
              <a:gd name="connsiteX160" fmla="*/ 556995 w 607639"/>
              <a:gd name="connsiteY160" fmla="*/ 20264 h 606722"/>
              <a:gd name="connsiteX161" fmla="*/ 465854 w 607639"/>
              <a:gd name="connsiteY161" fmla="*/ 20264 h 606722"/>
              <a:gd name="connsiteX162" fmla="*/ 465854 w 607639"/>
              <a:gd name="connsiteY162" fmla="*/ 40439 h 606722"/>
              <a:gd name="connsiteX163" fmla="*/ 496205 w 607639"/>
              <a:gd name="connsiteY163" fmla="*/ 40439 h 606722"/>
              <a:gd name="connsiteX164" fmla="*/ 506351 w 607639"/>
              <a:gd name="connsiteY164" fmla="*/ 50571 h 606722"/>
              <a:gd name="connsiteX165" fmla="*/ 496205 w 607639"/>
              <a:gd name="connsiteY165" fmla="*/ 60703 h 606722"/>
              <a:gd name="connsiteX166" fmla="*/ 415210 w 607639"/>
              <a:gd name="connsiteY166" fmla="*/ 60703 h 606722"/>
              <a:gd name="connsiteX167" fmla="*/ 405063 w 607639"/>
              <a:gd name="connsiteY167" fmla="*/ 50571 h 606722"/>
              <a:gd name="connsiteX168" fmla="*/ 415210 w 607639"/>
              <a:gd name="connsiteY168" fmla="*/ 40439 h 606722"/>
              <a:gd name="connsiteX169" fmla="*/ 445561 w 607639"/>
              <a:gd name="connsiteY169" fmla="*/ 40439 h 606722"/>
              <a:gd name="connsiteX170" fmla="*/ 445561 w 607639"/>
              <a:gd name="connsiteY170" fmla="*/ 20264 h 606722"/>
              <a:gd name="connsiteX171" fmla="*/ 161990 w 607639"/>
              <a:gd name="connsiteY171" fmla="*/ 20264 h 606722"/>
              <a:gd name="connsiteX172" fmla="*/ 161990 w 607639"/>
              <a:gd name="connsiteY172" fmla="*/ 40439 h 606722"/>
              <a:gd name="connsiteX173" fmla="*/ 192430 w 607639"/>
              <a:gd name="connsiteY173" fmla="*/ 40439 h 606722"/>
              <a:gd name="connsiteX174" fmla="*/ 202576 w 607639"/>
              <a:gd name="connsiteY174" fmla="*/ 50571 h 606722"/>
              <a:gd name="connsiteX175" fmla="*/ 192430 w 607639"/>
              <a:gd name="connsiteY175" fmla="*/ 60703 h 606722"/>
              <a:gd name="connsiteX176" fmla="*/ 111434 w 607639"/>
              <a:gd name="connsiteY176" fmla="*/ 60703 h 606722"/>
              <a:gd name="connsiteX177" fmla="*/ 101288 w 607639"/>
              <a:gd name="connsiteY177" fmla="*/ 50571 h 606722"/>
              <a:gd name="connsiteX178" fmla="*/ 111434 w 607639"/>
              <a:gd name="connsiteY178" fmla="*/ 40439 h 606722"/>
              <a:gd name="connsiteX179" fmla="*/ 141785 w 607639"/>
              <a:gd name="connsiteY179" fmla="*/ 40439 h 606722"/>
              <a:gd name="connsiteX180" fmla="*/ 141785 w 607639"/>
              <a:gd name="connsiteY180" fmla="*/ 20264 h 606722"/>
              <a:gd name="connsiteX181" fmla="*/ 50644 w 607639"/>
              <a:gd name="connsiteY181" fmla="*/ 20264 h 606722"/>
              <a:gd name="connsiteX182" fmla="*/ 20293 w 607639"/>
              <a:gd name="connsiteY182" fmla="*/ 50571 h 606722"/>
              <a:gd name="connsiteX183" fmla="*/ 20293 w 607639"/>
              <a:gd name="connsiteY183" fmla="*/ 313471 h 606722"/>
              <a:gd name="connsiteX184" fmla="*/ 10146 w 607639"/>
              <a:gd name="connsiteY184" fmla="*/ 323603 h 606722"/>
              <a:gd name="connsiteX185" fmla="*/ 0 w 607639"/>
              <a:gd name="connsiteY185" fmla="*/ 313471 h 606722"/>
              <a:gd name="connsiteX186" fmla="*/ 0 w 607639"/>
              <a:gd name="connsiteY186" fmla="*/ 50571 h 606722"/>
              <a:gd name="connsiteX187" fmla="*/ 50644 w 607639"/>
              <a:gd name="connsiteY18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607639" h="606722">
                <a:moveTo>
                  <a:pt x="536702" y="546032"/>
                </a:moveTo>
                <a:cubicBezTo>
                  <a:pt x="527267" y="546032"/>
                  <a:pt x="519168" y="552430"/>
                  <a:pt x="517032" y="561671"/>
                </a:cubicBezTo>
                <a:cubicBezTo>
                  <a:pt x="516320" y="564870"/>
                  <a:pt x="514095" y="567536"/>
                  <a:pt x="510980" y="568780"/>
                </a:cubicBezTo>
                <a:cubicBezTo>
                  <a:pt x="507953" y="570024"/>
                  <a:pt x="504482" y="569668"/>
                  <a:pt x="501723" y="567891"/>
                </a:cubicBezTo>
                <a:cubicBezTo>
                  <a:pt x="500032" y="566825"/>
                  <a:pt x="498163" y="566292"/>
                  <a:pt x="496205" y="566292"/>
                </a:cubicBezTo>
                <a:cubicBezTo>
                  <a:pt x="490597" y="566292"/>
                  <a:pt x="486058" y="570824"/>
                  <a:pt x="486058" y="576333"/>
                </a:cubicBezTo>
                <a:cubicBezTo>
                  <a:pt x="486058" y="581931"/>
                  <a:pt x="490597" y="586463"/>
                  <a:pt x="496205" y="586463"/>
                </a:cubicBezTo>
                <a:lnTo>
                  <a:pt x="577199" y="586463"/>
                </a:lnTo>
                <a:cubicBezTo>
                  <a:pt x="582807" y="586463"/>
                  <a:pt x="587346" y="581931"/>
                  <a:pt x="587346" y="576333"/>
                </a:cubicBezTo>
                <a:cubicBezTo>
                  <a:pt x="587346" y="568869"/>
                  <a:pt x="578356" y="563626"/>
                  <a:pt x="571770" y="567891"/>
                </a:cubicBezTo>
                <a:cubicBezTo>
                  <a:pt x="568922" y="569668"/>
                  <a:pt x="565540" y="570024"/>
                  <a:pt x="562425" y="568780"/>
                </a:cubicBezTo>
                <a:cubicBezTo>
                  <a:pt x="559398" y="567536"/>
                  <a:pt x="557173" y="564870"/>
                  <a:pt x="556372" y="561671"/>
                </a:cubicBezTo>
                <a:cubicBezTo>
                  <a:pt x="554236" y="552430"/>
                  <a:pt x="546137" y="546032"/>
                  <a:pt x="536702" y="546032"/>
                </a:cubicBezTo>
                <a:close/>
                <a:moveTo>
                  <a:pt x="50649" y="444915"/>
                </a:moveTo>
                <a:cubicBezTo>
                  <a:pt x="56255" y="444915"/>
                  <a:pt x="60793" y="449440"/>
                  <a:pt x="60793" y="455030"/>
                </a:cubicBezTo>
                <a:cubicBezTo>
                  <a:pt x="66399" y="455030"/>
                  <a:pt x="70848" y="459554"/>
                  <a:pt x="70848" y="465144"/>
                </a:cubicBezTo>
                <a:cubicBezTo>
                  <a:pt x="70848" y="470733"/>
                  <a:pt x="66399" y="475258"/>
                  <a:pt x="60793" y="475258"/>
                </a:cubicBezTo>
                <a:cubicBezTo>
                  <a:pt x="49581" y="475258"/>
                  <a:pt x="40505" y="466120"/>
                  <a:pt x="40505" y="455030"/>
                </a:cubicBezTo>
                <a:cubicBezTo>
                  <a:pt x="40505" y="449440"/>
                  <a:pt x="45043" y="444915"/>
                  <a:pt x="50649" y="444915"/>
                </a:cubicBezTo>
                <a:close/>
                <a:moveTo>
                  <a:pt x="80986" y="424734"/>
                </a:moveTo>
                <a:cubicBezTo>
                  <a:pt x="92191" y="424734"/>
                  <a:pt x="101262" y="433790"/>
                  <a:pt x="101262" y="444887"/>
                </a:cubicBezTo>
                <a:cubicBezTo>
                  <a:pt x="101262" y="450480"/>
                  <a:pt x="96726" y="455007"/>
                  <a:pt x="91124" y="455007"/>
                </a:cubicBezTo>
                <a:cubicBezTo>
                  <a:pt x="85521" y="455007"/>
                  <a:pt x="80986" y="450480"/>
                  <a:pt x="80986" y="444887"/>
                </a:cubicBezTo>
                <a:cubicBezTo>
                  <a:pt x="75383" y="444887"/>
                  <a:pt x="70848" y="440359"/>
                  <a:pt x="70848" y="434766"/>
                </a:cubicBezTo>
                <a:cubicBezTo>
                  <a:pt x="70848" y="429262"/>
                  <a:pt x="75383" y="424734"/>
                  <a:pt x="80986" y="424734"/>
                </a:cubicBezTo>
                <a:close/>
                <a:moveTo>
                  <a:pt x="70865" y="374138"/>
                </a:moveTo>
                <a:cubicBezTo>
                  <a:pt x="76471" y="374138"/>
                  <a:pt x="81009" y="378676"/>
                  <a:pt x="81009" y="384282"/>
                </a:cubicBezTo>
                <a:cubicBezTo>
                  <a:pt x="81009" y="389799"/>
                  <a:pt x="76471" y="394337"/>
                  <a:pt x="70865" y="394337"/>
                </a:cubicBezTo>
                <a:cubicBezTo>
                  <a:pt x="70865" y="399943"/>
                  <a:pt x="66327" y="404481"/>
                  <a:pt x="60810" y="404481"/>
                </a:cubicBezTo>
                <a:cubicBezTo>
                  <a:pt x="55204" y="404481"/>
                  <a:pt x="50666" y="399943"/>
                  <a:pt x="50666" y="394337"/>
                </a:cubicBezTo>
                <a:cubicBezTo>
                  <a:pt x="50666" y="383214"/>
                  <a:pt x="59742" y="374138"/>
                  <a:pt x="70865" y="374138"/>
                </a:cubicBezTo>
                <a:close/>
                <a:moveTo>
                  <a:pt x="70848" y="323621"/>
                </a:moveTo>
                <a:cubicBezTo>
                  <a:pt x="50911" y="323621"/>
                  <a:pt x="20293" y="394085"/>
                  <a:pt x="20293" y="455042"/>
                </a:cubicBezTo>
                <a:cubicBezTo>
                  <a:pt x="20293" y="483832"/>
                  <a:pt x="42010" y="505602"/>
                  <a:pt x="70848" y="505602"/>
                </a:cubicBezTo>
                <a:cubicBezTo>
                  <a:pt x="100665" y="505602"/>
                  <a:pt x="121492" y="484809"/>
                  <a:pt x="121492" y="455042"/>
                </a:cubicBezTo>
                <a:cubicBezTo>
                  <a:pt x="121492" y="394085"/>
                  <a:pt x="90874" y="323621"/>
                  <a:pt x="70848" y="323621"/>
                </a:cubicBezTo>
                <a:close/>
                <a:moveTo>
                  <a:pt x="70848" y="303361"/>
                </a:moveTo>
                <a:cubicBezTo>
                  <a:pt x="111345" y="303361"/>
                  <a:pt x="141785" y="395418"/>
                  <a:pt x="141785" y="455042"/>
                </a:cubicBezTo>
                <a:cubicBezTo>
                  <a:pt x="141785" y="492540"/>
                  <a:pt x="116775" y="520619"/>
                  <a:pt x="80995" y="525151"/>
                </a:cubicBezTo>
                <a:lnTo>
                  <a:pt x="80995" y="586463"/>
                </a:lnTo>
                <a:lnTo>
                  <a:pt x="121492" y="586463"/>
                </a:lnTo>
                <a:lnTo>
                  <a:pt x="121492" y="546032"/>
                </a:lnTo>
                <a:cubicBezTo>
                  <a:pt x="121492" y="540434"/>
                  <a:pt x="126031" y="535902"/>
                  <a:pt x="131639" y="535902"/>
                </a:cubicBezTo>
                <a:cubicBezTo>
                  <a:pt x="137246" y="535902"/>
                  <a:pt x="141785" y="540434"/>
                  <a:pt x="141785" y="546032"/>
                </a:cubicBezTo>
                <a:lnTo>
                  <a:pt x="141785" y="586463"/>
                </a:lnTo>
                <a:lnTo>
                  <a:pt x="161990" y="586463"/>
                </a:lnTo>
                <a:lnTo>
                  <a:pt x="161990" y="434782"/>
                </a:lnTo>
                <a:cubicBezTo>
                  <a:pt x="161990" y="429273"/>
                  <a:pt x="166529" y="424741"/>
                  <a:pt x="172136" y="424741"/>
                </a:cubicBezTo>
                <a:cubicBezTo>
                  <a:pt x="177744" y="424741"/>
                  <a:pt x="182283" y="429273"/>
                  <a:pt x="182283" y="434782"/>
                </a:cubicBezTo>
                <a:lnTo>
                  <a:pt x="182283" y="586463"/>
                </a:lnTo>
                <a:lnTo>
                  <a:pt x="425356" y="586463"/>
                </a:lnTo>
                <a:lnTo>
                  <a:pt x="425356" y="434782"/>
                </a:lnTo>
                <a:cubicBezTo>
                  <a:pt x="425356" y="429273"/>
                  <a:pt x="429896" y="424741"/>
                  <a:pt x="435414" y="424741"/>
                </a:cubicBezTo>
                <a:cubicBezTo>
                  <a:pt x="441021" y="424741"/>
                  <a:pt x="445561" y="429273"/>
                  <a:pt x="445561" y="434782"/>
                </a:cubicBezTo>
                <a:lnTo>
                  <a:pt x="445561" y="586463"/>
                </a:lnTo>
                <a:lnTo>
                  <a:pt x="465854" y="586463"/>
                </a:lnTo>
                <a:lnTo>
                  <a:pt x="465854" y="434782"/>
                </a:lnTo>
                <a:cubicBezTo>
                  <a:pt x="465854" y="429273"/>
                  <a:pt x="470393" y="424741"/>
                  <a:pt x="476000" y="424741"/>
                </a:cubicBezTo>
                <a:cubicBezTo>
                  <a:pt x="481519" y="424741"/>
                  <a:pt x="486058" y="429273"/>
                  <a:pt x="486058" y="434782"/>
                </a:cubicBezTo>
                <a:lnTo>
                  <a:pt x="486058" y="547898"/>
                </a:lnTo>
                <a:cubicBezTo>
                  <a:pt x="489262" y="546743"/>
                  <a:pt x="492644" y="546032"/>
                  <a:pt x="496205" y="546032"/>
                </a:cubicBezTo>
                <a:cubicBezTo>
                  <a:pt x="497985" y="546032"/>
                  <a:pt x="499676" y="546210"/>
                  <a:pt x="501456" y="546477"/>
                </a:cubicBezTo>
                <a:cubicBezTo>
                  <a:pt x="508398" y="533948"/>
                  <a:pt x="521749" y="525773"/>
                  <a:pt x="536702" y="525773"/>
                </a:cubicBezTo>
                <a:cubicBezTo>
                  <a:pt x="551744" y="525773"/>
                  <a:pt x="565006" y="533948"/>
                  <a:pt x="572037" y="546477"/>
                </a:cubicBezTo>
                <a:cubicBezTo>
                  <a:pt x="573728" y="546210"/>
                  <a:pt x="575508" y="546032"/>
                  <a:pt x="577199" y="546032"/>
                </a:cubicBezTo>
                <a:cubicBezTo>
                  <a:pt x="594021" y="546032"/>
                  <a:pt x="607639" y="559628"/>
                  <a:pt x="607639" y="576333"/>
                </a:cubicBezTo>
                <a:cubicBezTo>
                  <a:pt x="607639" y="593127"/>
                  <a:pt x="594021" y="606722"/>
                  <a:pt x="577199" y="606722"/>
                </a:cubicBezTo>
                <a:lnTo>
                  <a:pt x="496205" y="606722"/>
                </a:lnTo>
                <a:lnTo>
                  <a:pt x="10146" y="606722"/>
                </a:lnTo>
                <a:cubicBezTo>
                  <a:pt x="4539" y="606722"/>
                  <a:pt x="0" y="602190"/>
                  <a:pt x="0" y="596592"/>
                </a:cubicBezTo>
                <a:cubicBezTo>
                  <a:pt x="0" y="590994"/>
                  <a:pt x="4539" y="586463"/>
                  <a:pt x="10146" y="586463"/>
                </a:cubicBezTo>
                <a:lnTo>
                  <a:pt x="60790" y="586463"/>
                </a:lnTo>
                <a:lnTo>
                  <a:pt x="60790" y="525062"/>
                </a:lnTo>
                <a:cubicBezTo>
                  <a:pt x="25989" y="520263"/>
                  <a:pt x="0" y="491296"/>
                  <a:pt x="0" y="455042"/>
                </a:cubicBezTo>
                <a:cubicBezTo>
                  <a:pt x="0" y="395418"/>
                  <a:pt x="30440" y="303361"/>
                  <a:pt x="70848" y="303361"/>
                </a:cubicBezTo>
                <a:close/>
                <a:moveTo>
                  <a:pt x="490595" y="253842"/>
                </a:moveTo>
                <a:cubicBezTo>
                  <a:pt x="495580" y="256419"/>
                  <a:pt x="497627" y="262461"/>
                  <a:pt x="495135" y="267437"/>
                </a:cubicBezTo>
                <a:cubicBezTo>
                  <a:pt x="481872" y="293916"/>
                  <a:pt x="445109" y="303335"/>
                  <a:pt x="415200" y="303335"/>
                </a:cubicBezTo>
                <a:cubicBezTo>
                  <a:pt x="397842" y="303335"/>
                  <a:pt x="390899" y="308844"/>
                  <a:pt x="379505" y="317996"/>
                </a:cubicBezTo>
                <a:cubicBezTo>
                  <a:pt x="374075" y="322350"/>
                  <a:pt x="367844" y="327326"/>
                  <a:pt x="359655" y="332213"/>
                </a:cubicBezTo>
                <a:cubicBezTo>
                  <a:pt x="335977" y="346430"/>
                  <a:pt x="297078" y="350428"/>
                  <a:pt x="260760" y="350428"/>
                </a:cubicBezTo>
                <a:cubicBezTo>
                  <a:pt x="215274" y="350428"/>
                  <a:pt x="173615" y="344119"/>
                  <a:pt x="170589" y="343675"/>
                </a:cubicBezTo>
                <a:cubicBezTo>
                  <a:pt x="165070" y="342876"/>
                  <a:pt x="161242" y="337633"/>
                  <a:pt x="162132" y="332124"/>
                </a:cubicBezTo>
                <a:cubicBezTo>
                  <a:pt x="162934" y="326615"/>
                  <a:pt x="168185" y="322883"/>
                  <a:pt x="173704" y="323683"/>
                </a:cubicBezTo>
                <a:cubicBezTo>
                  <a:pt x="174950" y="323860"/>
                  <a:pt x="302330" y="342964"/>
                  <a:pt x="349240" y="314886"/>
                </a:cubicBezTo>
                <a:cubicBezTo>
                  <a:pt x="356273" y="310710"/>
                  <a:pt x="361613" y="306356"/>
                  <a:pt x="366865" y="302180"/>
                </a:cubicBezTo>
                <a:cubicBezTo>
                  <a:pt x="379149" y="292406"/>
                  <a:pt x="390721" y="283165"/>
                  <a:pt x="415200" y="283165"/>
                </a:cubicBezTo>
                <a:cubicBezTo>
                  <a:pt x="444753" y="283165"/>
                  <a:pt x="469588" y="273213"/>
                  <a:pt x="477065" y="258374"/>
                </a:cubicBezTo>
                <a:cubicBezTo>
                  <a:pt x="479557" y="253398"/>
                  <a:pt x="485610" y="251354"/>
                  <a:pt x="490595" y="253842"/>
                </a:cubicBezTo>
                <a:close/>
                <a:moveTo>
                  <a:pt x="111412" y="202241"/>
                </a:moveTo>
                <a:lnTo>
                  <a:pt x="192442" y="202241"/>
                </a:lnTo>
                <a:cubicBezTo>
                  <a:pt x="198052" y="202241"/>
                  <a:pt x="202593" y="206776"/>
                  <a:pt x="202593" y="212288"/>
                </a:cubicBezTo>
                <a:cubicBezTo>
                  <a:pt x="202593" y="217889"/>
                  <a:pt x="198052" y="222423"/>
                  <a:pt x="192442" y="222423"/>
                </a:cubicBezTo>
                <a:lnTo>
                  <a:pt x="111412" y="222423"/>
                </a:lnTo>
                <a:cubicBezTo>
                  <a:pt x="105802" y="222423"/>
                  <a:pt x="101261" y="217889"/>
                  <a:pt x="101261" y="212288"/>
                </a:cubicBezTo>
                <a:cubicBezTo>
                  <a:pt x="101261" y="206776"/>
                  <a:pt x="105802" y="202241"/>
                  <a:pt x="111412" y="202241"/>
                </a:cubicBezTo>
                <a:close/>
                <a:moveTo>
                  <a:pt x="400507" y="193226"/>
                </a:moveTo>
                <a:cubicBezTo>
                  <a:pt x="405492" y="190738"/>
                  <a:pt x="411634" y="192693"/>
                  <a:pt x="414126" y="197756"/>
                </a:cubicBezTo>
                <a:cubicBezTo>
                  <a:pt x="416618" y="202731"/>
                  <a:pt x="414571" y="208771"/>
                  <a:pt x="409586" y="211259"/>
                </a:cubicBezTo>
                <a:cubicBezTo>
                  <a:pt x="402644" y="214723"/>
                  <a:pt x="401754" y="219165"/>
                  <a:pt x="400507" y="228137"/>
                </a:cubicBezTo>
                <a:cubicBezTo>
                  <a:pt x="399617" y="234888"/>
                  <a:pt x="398460" y="243328"/>
                  <a:pt x="391962" y="249813"/>
                </a:cubicBezTo>
                <a:cubicBezTo>
                  <a:pt x="378789" y="262960"/>
                  <a:pt x="355468" y="263759"/>
                  <a:pt x="320843" y="252300"/>
                </a:cubicBezTo>
                <a:cubicBezTo>
                  <a:pt x="302596" y="246170"/>
                  <a:pt x="225514" y="277884"/>
                  <a:pt x="176647" y="302224"/>
                </a:cubicBezTo>
                <a:cubicBezTo>
                  <a:pt x="175223" y="302935"/>
                  <a:pt x="173621" y="303290"/>
                  <a:pt x="172108" y="303290"/>
                </a:cubicBezTo>
                <a:cubicBezTo>
                  <a:pt x="168458" y="303290"/>
                  <a:pt x="164809" y="301247"/>
                  <a:pt x="163029" y="297694"/>
                </a:cubicBezTo>
                <a:cubicBezTo>
                  <a:pt x="160536" y="292719"/>
                  <a:pt x="162583" y="286678"/>
                  <a:pt x="167568" y="284191"/>
                </a:cubicBezTo>
                <a:cubicBezTo>
                  <a:pt x="188485" y="273709"/>
                  <a:pt x="294496" y="222274"/>
                  <a:pt x="327252" y="233112"/>
                </a:cubicBezTo>
                <a:cubicBezTo>
                  <a:pt x="352798" y="241551"/>
                  <a:pt x="370689" y="242439"/>
                  <a:pt x="377632" y="235510"/>
                </a:cubicBezTo>
                <a:cubicBezTo>
                  <a:pt x="379323" y="233822"/>
                  <a:pt x="379857" y="229914"/>
                  <a:pt x="380480" y="225383"/>
                </a:cubicBezTo>
                <a:cubicBezTo>
                  <a:pt x="381726" y="215967"/>
                  <a:pt x="383685" y="201576"/>
                  <a:pt x="400507" y="193226"/>
                </a:cubicBezTo>
                <a:close/>
                <a:moveTo>
                  <a:pt x="253153" y="161736"/>
                </a:moveTo>
                <a:lnTo>
                  <a:pt x="293729" y="161736"/>
                </a:lnTo>
                <a:cubicBezTo>
                  <a:pt x="299246" y="161736"/>
                  <a:pt x="303784" y="166266"/>
                  <a:pt x="303784" y="171862"/>
                </a:cubicBezTo>
                <a:cubicBezTo>
                  <a:pt x="303784" y="177458"/>
                  <a:pt x="299246" y="181988"/>
                  <a:pt x="293729" y="181988"/>
                </a:cubicBezTo>
                <a:lnTo>
                  <a:pt x="253153" y="181988"/>
                </a:lnTo>
                <a:cubicBezTo>
                  <a:pt x="247636" y="181988"/>
                  <a:pt x="243098" y="177458"/>
                  <a:pt x="243098" y="171862"/>
                </a:cubicBezTo>
                <a:cubicBezTo>
                  <a:pt x="243098" y="166266"/>
                  <a:pt x="247636" y="161736"/>
                  <a:pt x="253153" y="161736"/>
                </a:cubicBezTo>
                <a:close/>
                <a:moveTo>
                  <a:pt x="111409" y="161736"/>
                </a:moveTo>
                <a:lnTo>
                  <a:pt x="212627" y="161736"/>
                </a:lnTo>
                <a:cubicBezTo>
                  <a:pt x="218235" y="161736"/>
                  <a:pt x="222775" y="166266"/>
                  <a:pt x="222775" y="171862"/>
                </a:cubicBezTo>
                <a:cubicBezTo>
                  <a:pt x="222775" y="177458"/>
                  <a:pt x="218235" y="181988"/>
                  <a:pt x="212627" y="181988"/>
                </a:cubicBezTo>
                <a:lnTo>
                  <a:pt x="111409" y="181988"/>
                </a:lnTo>
                <a:cubicBezTo>
                  <a:pt x="105801" y="181988"/>
                  <a:pt x="101261" y="177458"/>
                  <a:pt x="101261" y="171862"/>
                </a:cubicBezTo>
                <a:cubicBezTo>
                  <a:pt x="101261" y="166266"/>
                  <a:pt x="105801" y="161736"/>
                  <a:pt x="111409" y="161736"/>
                </a:cubicBezTo>
                <a:close/>
                <a:moveTo>
                  <a:pt x="476013" y="141554"/>
                </a:moveTo>
                <a:cubicBezTo>
                  <a:pt x="494171" y="141554"/>
                  <a:pt x="510014" y="150266"/>
                  <a:pt x="521852" y="166623"/>
                </a:cubicBezTo>
                <a:cubicBezTo>
                  <a:pt x="542680" y="195515"/>
                  <a:pt x="548999" y="248053"/>
                  <a:pt x="536182" y="286368"/>
                </a:cubicBezTo>
                <a:cubicBezTo>
                  <a:pt x="528172" y="310459"/>
                  <a:pt x="543748" y="326371"/>
                  <a:pt x="543926" y="326549"/>
                </a:cubicBezTo>
                <a:cubicBezTo>
                  <a:pt x="547842" y="330550"/>
                  <a:pt x="547842" y="336950"/>
                  <a:pt x="543926" y="340862"/>
                </a:cubicBezTo>
                <a:cubicBezTo>
                  <a:pt x="541879" y="342817"/>
                  <a:pt x="539297" y="343795"/>
                  <a:pt x="536716" y="343795"/>
                </a:cubicBezTo>
                <a:cubicBezTo>
                  <a:pt x="534135" y="343795"/>
                  <a:pt x="531554" y="342817"/>
                  <a:pt x="529596" y="340862"/>
                </a:cubicBezTo>
                <a:cubicBezTo>
                  <a:pt x="528528" y="339884"/>
                  <a:pt x="505030" y="315793"/>
                  <a:pt x="517046" y="279967"/>
                </a:cubicBezTo>
                <a:cubicBezTo>
                  <a:pt x="527727" y="247786"/>
                  <a:pt x="522564" y="202271"/>
                  <a:pt x="505386" y="178535"/>
                </a:cubicBezTo>
                <a:cubicBezTo>
                  <a:pt x="497464" y="167423"/>
                  <a:pt x="487495" y="161733"/>
                  <a:pt x="476013" y="161733"/>
                </a:cubicBezTo>
                <a:cubicBezTo>
                  <a:pt x="450735" y="161733"/>
                  <a:pt x="445573" y="177735"/>
                  <a:pt x="445573" y="182002"/>
                </a:cubicBezTo>
                <a:cubicBezTo>
                  <a:pt x="445573" y="203516"/>
                  <a:pt x="451447" y="212316"/>
                  <a:pt x="465867" y="212316"/>
                </a:cubicBezTo>
                <a:cubicBezTo>
                  <a:pt x="469783" y="212316"/>
                  <a:pt x="476013" y="208049"/>
                  <a:pt x="478951" y="205205"/>
                </a:cubicBezTo>
                <a:cubicBezTo>
                  <a:pt x="482956" y="201293"/>
                  <a:pt x="489364" y="201293"/>
                  <a:pt x="493281" y="205205"/>
                </a:cubicBezTo>
                <a:cubicBezTo>
                  <a:pt x="497197" y="209205"/>
                  <a:pt x="497197" y="215606"/>
                  <a:pt x="493281" y="219517"/>
                </a:cubicBezTo>
                <a:cubicBezTo>
                  <a:pt x="491946" y="220850"/>
                  <a:pt x="479752" y="232585"/>
                  <a:pt x="465867" y="232585"/>
                </a:cubicBezTo>
                <a:cubicBezTo>
                  <a:pt x="450735" y="232585"/>
                  <a:pt x="425368" y="226007"/>
                  <a:pt x="425368" y="182002"/>
                </a:cubicBezTo>
                <a:cubicBezTo>
                  <a:pt x="425368" y="165200"/>
                  <a:pt x="441034" y="141554"/>
                  <a:pt x="476013" y="141554"/>
                </a:cubicBezTo>
                <a:close/>
                <a:moveTo>
                  <a:pt x="111409" y="121302"/>
                </a:moveTo>
                <a:lnTo>
                  <a:pt x="253131" y="121302"/>
                </a:lnTo>
                <a:cubicBezTo>
                  <a:pt x="258739" y="121302"/>
                  <a:pt x="263279" y="125832"/>
                  <a:pt x="263279" y="131428"/>
                </a:cubicBezTo>
                <a:cubicBezTo>
                  <a:pt x="263279" y="137024"/>
                  <a:pt x="258739" y="141554"/>
                  <a:pt x="253131" y="141554"/>
                </a:cubicBezTo>
                <a:lnTo>
                  <a:pt x="111409" y="141554"/>
                </a:lnTo>
                <a:cubicBezTo>
                  <a:pt x="105801" y="141554"/>
                  <a:pt x="101261" y="137024"/>
                  <a:pt x="101261" y="131428"/>
                </a:cubicBezTo>
                <a:cubicBezTo>
                  <a:pt x="101261" y="125832"/>
                  <a:pt x="105801" y="121302"/>
                  <a:pt x="111409" y="121302"/>
                </a:cubicBezTo>
                <a:close/>
                <a:moveTo>
                  <a:pt x="50644" y="0"/>
                </a:moveTo>
                <a:lnTo>
                  <a:pt x="556995" y="0"/>
                </a:lnTo>
                <a:cubicBezTo>
                  <a:pt x="584854" y="0"/>
                  <a:pt x="607639" y="22663"/>
                  <a:pt x="607639" y="50571"/>
                </a:cubicBezTo>
                <a:lnTo>
                  <a:pt x="607639" y="353910"/>
                </a:lnTo>
                <a:cubicBezTo>
                  <a:pt x="607639" y="381818"/>
                  <a:pt x="584854" y="404481"/>
                  <a:pt x="556995" y="404481"/>
                </a:cubicBezTo>
                <a:lnTo>
                  <a:pt x="161990" y="404481"/>
                </a:lnTo>
                <a:cubicBezTo>
                  <a:pt x="156471" y="404481"/>
                  <a:pt x="151932" y="399948"/>
                  <a:pt x="151932" y="394349"/>
                </a:cubicBezTo>
                <a:cubicBezTo>
                  <a:pt x="151932" y="388839"/>
                  <a:pt x="156471" y="384306"/>
                  <a:pt x="161990" y="384306"/>
                </a:cubicBezTo>
                <a:lnTo>
                  <a:pt x="556995" y="384306"/>
                </a:lnTo>
                <a:cubicBezTo>
                  <a:pt x="573728" y="384306"/>
                  <a:pt x="587346" y="370619"/>
                  <a:pt x="587346" y="353910"/>
                </a:cubicBezTo>
                <a:lnTo>
                  <a:pt x="587346" y="50571"/>
                </a:lnTo>
                <a:cubicBezTo>
                  <a:pt x="587346" y="33862"/>
                  <a:pt x="573728" y="20264"/>
                  <a:pt x="556995" y="20264"/>
                </a:cubicBezTo>
                <a:lnTo>
                  <a:pt x="465854" y="20264"/>
                </a:lnTo>
                <a:lnTo>
                  <a:pt x="465854" y="40439"/>
                </a:lnTo>
                <a:lnTo>
                  <a:pt x="496205" y="40439"/>
                </a:lnTo>
                <a:cubicBezTo>
                  <a:pt x="501812" y="40439"/>
                  <a:pt x="506351" y="44972"/>
                  <a:pt x="506351" y="50571"/>
                </a:cubicBezTo>
                <a:cubicBezTo>
                  <a:pt x="506351" y="56170"/>
                  <a:pt x="501812" y="60703"/>
                  <a:pt x="496205" y="60703"/>
                </a:cubicBezTo>
                <a:lnTo>
                  <a:pt x="415210" y="60703"/>
                </a:lnTo>
                <a:cubicBezTo>
                  <a:pt x="409603" y="60703"/>
                  <a:pt x="405063" y="56170"/>
                  <a:pt x="405063" y="50571"/>
                </a:cubicBezTo>
                <a:cubicBezTo>
                  <a:pt x="405063" y="44972"/>
                  <a:pt x="409603" y="40439"/>
                  <a:pt x="415210" y="40439"/>
                </a:cubicBezTo>
                <a:lnTo>
                  <a:pt x="445561" y="40439"/>
                </a:lnTo>
                <a:lnTo>
                  <a:pt x="445561" y="20264"/>
                </a:lnTo>
                <a:lnTo>
                  <a:pt x="161990" y="20264"/>
                </a:lnTo>
                <a:lnTo>
                  <a:pt x="161990" y="40439"/>
                </a:lnTo>
                <a:lnTo>
                  <a:pt x="192430" y="40439"/>
                </a:lnTo>
                <a:cubicBezTo>
                  <a:pt x="198037" y="40439"/>
                  <a:pt x="202576" y="44972"/>
                  <a:pt x="202576" y="50571"/>
                </a:cubicBezTo>
                <a:cubicBezTo>
                  <a:pt x="202576" y="56170"/>
                  <a:pt x="198037" y="60703"/>
                  <a:pt x="192430" y="60703"/>
                </a:cubicBezTo>
                <a:lnTo>
                  <a:pt x="111434" y="60703"/>
                </a:lnTo>
                <a:cubicBezTo>
                  <a:pt x="105827" y="60703"/>
                  <a:pt x="101288" y="56170"/>
                  <a:pt x="101288" y="50571"/>
                </a:cubicBezTo>
                <a:cubicBezTo>
                  <a:pt x="101288" y="44972"/>
                  <a:pt x="105827" y="40439"/>
                  <a:pt x="111434" y="40439"/>
                </a:cubicBezTo>
                <a:lnTo>
                  <a:pt x="141785" y="40439"/>
                </a:lnTo>
                <a:lnTo>
                  <a:pt x="141785" y="20264"/>
                </a:lnTo>
                <a:lnTo>
                  <a:pt x="50644" y="20264"/>
                </a:lnTo>
                <a:cubicBezTo>
                  <a:pt x="33911" y="20264"/>
                  <a:pt x="20293" y="33862"/>
                  <a:pt x="20293" y="50571"/>
                </a:cubicBezTo>
                <a:lnTo>
                  <a:pt x="20293" y="313471"/>
                </a:lnTo>
                <a:cubicBezTo>
                  <a:pt x="20293" y="319070"/>
                  <a:pt x="15754" y="323603"/>
                  <a:pt x="10146" y="323603"/>
                </a:cubicBezTo>
                <a:cubicBezTo>
                  <a:pt x="4539" y="323603"/>
                  <a:pt x="0" y="319070"/>
                  <a:pt x="0" y="313471"/>
                </a:cubicBezTo>
                <a:lnTo>
                  <a:pt x="0" y="50571"/>
                </a:lnTo>
                <a:cubicBezTo>
                  <a:pt x="0" y="22663"/>
                  <a:pt x="22696" y="0"/>
                  <a:pt x="5064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6" name="熊大的PPT宝库24"/>
          <p:cNvSpPr/>
          <p:nvPr/>
        </p:nvSpPr>
        <p:spPr>
          <a:xfrm>
            <a:off x="3051939" y="1487960"/>
            <a:ext cx="185714" cy="166217"/>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 name="connsiteX31" fmla="*/ 325000 h 606722"/>
              <a:gd name="connsiteY31" fmla="*/ 325000 h 606722"/>
              <a:gd name="connsiteX32" fmla="*/ 325000 h 606722"/>
              <a:gd name="connsiteY32" fmla="*/ 325000 h 606722"/>
              <a:gd name="connsiteX33" fmla="*/ 325000 h 606722"/>
              <a:gd name="connsiteY33" fmla="*/ 325000 h 606722"/>
              <a:gd name="connsiteX34" fmla="*/ 325000 h 606722"/>
              <a:gd name="connsiteY34" fmla="*/ 325000 h 606722"/>
              <a:gd name="connsiteX35" fmla="*/ 325000 h 606722"/>
              <a:gd name="connsiteY35" fmla="*/ 325000 h 606722"/>
              <a:gd name="connsiteX36" fmla="*/ 325000 h 606722"/>
              <a:gd name="connsiteY36" fmla="*/ 325000 h 606722"/>
              <a:gd name="connsiteX37" fmla="*/ 325000 h 606722"/>
              <a:gd name="connsiteY37" fmla="*/ 325000 h 606722"/>
              <a:gd name="connsiteX38" fmla="*/ 325000 h 606722"/>
              <a:gd name="connsiteY38" fmla="*/ 325000 h 606722"/>
              <a:gd name="connsiteX39" fmla="*/ 325000 h 606722"/>
              <a:gd name="connsiteY39" fmla="*/ 325000 h 606722"/>
              <a:gd name="connsiteX40" fmla="*/ 325000 h 606722"/>
              <a:gd name="connsiteY40" fmla="*/ 325000 h 606722"/>
              <a:gd name="connsiteX41" fmla="*/ 325000 h 606722"/>
              <a:gd name="connsiteY41" fmla="*/ 325000 h 606722"/>
              <a:gd name="connsiteX42" fmla="*/ 325000 h 606722"/>
              <a:gd name="connsiteY42" fmla="*/ 325000 h 606722"/>
              <a:gd name="connsiteX43" fmla="*/ 325000 h 606722"/>
              <a:gd name="connsiteY43" fmla="*/ 325000 h 606722"/>
              <a:gd name="connsiteX44" fmla="*/ 325000 h 606722"/>
              <a:gd name="connsiteY44" fmla="*/ 325000 h 606722"/>
              <a:gd name="connsiteX45" fmla="*/ 325000 h 606722"/>
              <a:gd name="connsiteY45" fmla="*/ 325000 h 606722"/>
              <a:gd name="connsiteX46" fmla="*/ 325000 h 606722"/>
              <a:gd name="connsiteY46" fmla="*/ 325000 h 606722"/>
              <a:gd name="connsiteX47" fmla="*/ 325000 h 606722"/>
              <a:gd name="connsiteY47" fmla="*/ 325000 h 606722"/>
              <a:gd name="connsiteX48" fmla="*/ 325000 h 606722"/>
              <a:gd name="connsiteY48" fmla="*/ 325000 h 606722"/>
              <a:gd name="connsiteX49" fmla="*/ 325000 h 606722"/>
              <a:gd name="connsiteY49" fmla="*/ 325000 h 606722"/>
              <a:gd name="connsiteX50" fmla="*/ 325000 h 606722"/>
              <a:gd name="connsiteY50" fmla="*/ 325000 h 606722"/>
              <a:gd name="connsiteX51" fmla="*/ 325000 h 606722"/>
              <a:gd name="connsiteY51" fmla="*/ 325000 h 606722"/>
              <a:gd name="connsiteX52" fmla="*/ 325000 h 606722"/>
              <a:gd name="connsiteY52" fmla="*/ 325000 h 606722"/>
              <a:gd name="connsiteX53" fmla="*/ 325000 h 606722"/>
              <a:gd name="connsiteY53" fmla="*/ 325000 h 606722"/>
              <a:gd name="connsiteX54" fmla="*/ 325000 h 606722"/>
              <a:gd name="connsiteY54" fmla="*/ 325000 h 606722"/>
              <a:gd name="connsiteX55" fmla="*/ 325000 h 606722"/>
              <a:gd name="connsiteY55" fmla="*/ 325000 h 606722"/>
              <a:gd name="connsiteX56" fmla="*/ 325000 h 606722"/>
              <a:gd name="connsiteY56" fmla="*/ 325000 h 606722"/>
              <a:gd name="connsiteX57" fmla="*/ 325000 h 606722"/>
              <a:gd name="connsiteY57" fmla="*/ 325000 h 606722"/>
              <a:gd name="connsiteX58" fmla="*/ 325000 h 606722"/>
              <a:gd name="connsiteY58" fmla="*/ 325000 h 606722"/>
              <a:gd name="connsiteX59" fmla="*/ 325000 h 606722"/>
              <a:gd name="connsiteY59" fmla="*/ 325000 h 606722"/>
              <a:gd name="connsiteX60" fmla="*/ 325000 h 606722"/>
              <a:gd name="connsiteY60" fmla="*/ 325000 h 606722"/>
              <a:gd name="connsiteX61" fmla="*/ 325000 h 606722"/>
              <a:gd name="connsiteY61" fmla="*/ 325000 h 606722"/>
              <a:gd name="connsiteX62" fmla="*/ 325000 h 606722"/>
              <a:gd name="connsiteY62" fmla="*/ 325000 h 606722"/>
              <a:gd name="connsiteX63" fmla="*/ 325000 h 606722"/>
              <a:gd name="connsiteY63" fmla="*/ 325000 h 606722"/>
              <a:gd name="connsiteX64" fmla="*/ 325000 h 606722"/>
              <a:gd name="connsiteY64"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606580" h="542899">
                <a:moveTo>
                  <a:pt x="81521" y="384008"/>
                </a:moveTo>
                <a:cubicBezTo>
                  <a:pt x="123860" y="467069"/>
                  <a:pt x="209002" y="519816"/>
                  <a:pt x="303336" y="519816"/>
                </a:cubicBezTo>
                <a:cubicBezTo>
                  <a:pt x="397578" y="519816"/>
                  <a:pt x="482813" y="467069"/>
                  <a:pt x="525059" y="384008"/>
                </a:cubicBezTo>
                <a:close/>
                <a:moveTo>
                  <a:pt x="389662" y="227189"/>
                </a:moveTo>
                <a:lnTo>
                  <a:pt x="418536" y="227189"/>
                </a:lnTo>
                <a:lnTo>
                  <a:pt x="438126" y="287610"/>
                </a:lnTo>
                <a:lnTo>
                  <a:pt x="457716" y="227189"/>
                </a:lnTo>
                <a:lnTo>
                  <a:pt x="484733" y="227189"/>
                </a:lnTo>
                <a:lnTo>
                  <a:pt x="504230" y="287610"/>
                </a:lnTo>
                <a:lnTo>
                  <a:pt x="523820" y="227189"/>
                </a:lnTo>
                <a:lnTo>
                  <a:pt x="552880" y="227189"/>
                </a:lnTo>
                <a:lnTo>
                  <a:pt x="518807" y="327180"/>
                </a:lnTo>
                <a:lnTo>
                  <a:pt x="489747" y="327180"/>
                </a:lnTo>
                <a:lnTo>
                  <a:pt x="471271" y="272690"/>
                </a:lnTo>
                <a:lnTo>
                  <a:pt x="452610" y="327180"/>
                </a:lnTo>
                <a:lnTo>
                  <a:pt x="423828" y="327180"/>
                </a:lnTo>
                <a:close/>
                <a:moveTo>
                  <a:pt x="221716" y="227189"/>
                </a:moveTo>
                <a:lnTo>
                  <a:pt x="250594" y="227189"/>
                </a:lnTo>
                <a:lnTo>
                  <a:pt x="270186" y="287610"/>
                </a:lnTo>
                <a:lnTo>
                  <a:pt x="289686" y="227189"/>
                </a:lnTo>
                <a:lnTo>
                  <a:pt x="316707" y="227189"/>
                </a:lnTo>
                <a:lnTo>
                  <a:pt x="336299" y="287610"/>
                </a:lnTo>
                <a:lnTo>
                  <a:pt x="355799" y="227189"/>
                </a:lnTo>
                <a:lnTo>
                  <a:pt x="384863" y="227189"/>
                </a:lnTo>
                <a:lnTo>
                  <a:pt x="350785" y="327180"/>
                </a:lnTo>
                <a:lnTo>
                  <a:pt x="321721" y="327180"/>
                </a:lnTo>
                <a:lnTo>
                  <a:pt x="303336" y="272690"/>
                </a:lnTo>
                <a:lnTo>
                  <a:pt x="284672" y="327180"/>
                </a:lnTo>
                <a:lnTo>
                  <a:pt x="255794" y="327180"/>
                </a:lnTo>
                <a:close/>
                <a:moveTo>
                  <a:pt x="53771" y="227189"/>
                </a:moveTo>
                <a:lnTo>
                  <a:pt x="82649" y="227189"/>
                </a:lnTo>
                <a:lnTo>
                  <a:pt x="102149" y="287610"/>
                </a:lnTo>
                <a:lnTo>
                  <a:pt x="121741" y="227189"/>
                </a:lnTo>
                <a:lnTo>
                  <a:pt x="148762" y="227189"/>
                </a:lnTo>
                <a:lnTo>
                  <a:pt x="168262" y="287610"/>
                </a:lnTo>
                <a:lnTo>
                  <a:pt x="187854" y="227189"/>
                </a:lnTo>
                <a:lnTo>
                  <a:pt x="216918" y="227189"/>
                </a:lnTo>
                <a:lnTo>
                  <a:pt x="182840" y="327180"/>
                </a:lnTo>
                <a:lnTo>
                  <a:pt x="153776" y="327180"/>
                </a:lnTo>
                <a:lnTo>
                  <a:pt x="135298" y="272690"/>
                </a:lnTo>
                <a:lnTo>
                  <a:pt x="116727" y="327180"/>
                </a:lnTo>
                <a:lnTo>
                  <a:pt x="87849" y="327180"/>
                </a:lnTo>
                <a:close/>
                <a:moveTo>
                  <a:pt x="64158" y="181917"/>
                </a:moveTo>
                <a:cubicBezTo>
                  <a:pt x="41503" y="181917"/>
                  <a:pt x="23119" y="200272"/>
                  <a:pt x="23119" y="222799"/>
                </a:cubicBezTo>
                <a:lnTo>
                  <a:pt x="23119" y="320044"/>
                </a:lnTo>
                <a:cubicBezTo>
                  <a:pt x="23119" y="342570"/>
                  <a:pt x="41503" y="360925"/>
                  <a:pt x="64158" y="360925"/>
                </a:cubicBezTo>
                <a:lnTo>
                  <a:pt x="542515" y="360925"/>
                </a:lnTo>
                <a:cubicBezTo>
                  <a:pt x="565077" y="360925"/>
                  <a:pt x="583461" y="342570"/>
                  <a:pt x="583461" y="320044"/>
                </a:cubicBezTo>
                <a:lnTo>
                  <a:pt x="583461" y="222799"/>
                </a:lnTo>
                <a:cubicBezTo>
                  <a:pt x="583461" y="200272"/>
                  <a:pt x="565077" y="181917"/>
                  <a:pt x="542515" y="181917"/>
                </a:cubicBezTo>
                <a:close/>
                <a:moveTo>
                  <a:pt x="307422" y="23119"/>
                </a:moveTo>
                <a:cubicBezTo>
                  <a:pt x="211788" y="21543"/>
                  <a:pt x="124510" y="74383"/>
                  <a:pt x="81521" y="158835"/>
                </a:cubicBezTo>
                <a:lnTo>
                  <a:pt x="525059" y="158835"/>
                </a:lnTo>
                <a:cubicBezTo>
                  <a:pt x="483463" y="77442"/>
                  <a:pt x="399435" y="24695"/>
                  <a:pt x="307422" y="23119"/>
                </a:cubicBezTo>
                <a:close/>
                <a:moveTo>
                  <a:pt x="307793" y="36"/>
                </a:moveTo>
                <a:cubicBezTo>
                  <a:pt x="412527" y="1797"/>
                  <a:pt x="507696" y="64279"/>
                  <a:pt x="550964" y="159391"/>
                </a:cubicBezTo>
                <a:cubicBezTo>
                  <a:pt x="582347" y="163562"/>
                  <a:pt x="606580" y="190446"/>
                  <a:pt x="606580" y="222799"/>
                </a:cubicBezTo>
                <a:lnTo>
                  <a:pt x="606580" y="320044"/>
                </a:lnTo>
                <a:cubicBezTo>
                  <a:pt x="606580" y="352489"/>
                  <a:pt x="582347" y="379280"/>
                  <a:pt x="550964" y="383452"/>
                </a:cubicBezTo>
                <a:cubicBezTo>
                  <a:pt x="506954" y="480511"/>
                  <a:pt x="410484" y="542899"/>
                  <a:pt x="303336" y="542899"/>
                </a:cubicBezTo>
                <a:cubicBezTo>
                  <a:pt x="196189" y="542899"/>
                  <a:pt x="99719" y="480511"/>
                  <a:pt x="55616" y="383452"/>
                </a:cubicBezTo>
                <a:cubicBezTo>
                  <a:pt x="24233" y="379280"/>
                  <a:pt x="0" y="352489"/>
                  <a:pt x="0" y="320044"/>
                </a:cubicBezTo>
                <a:lnTo>
                  <a:pt x="0" y="222799"/>
                </a:lnTo>
                <a:cubicBezTo>
                  <a:pt x="0" y="190446"/>
                  <a:pt x="24233" y="163562"/>
                  <a:pt x="55616" y="159391"/>
                </a:cubicBezTo>
                <a:cubicBezTo>
                  <a:pt x="100462" y="60756"/>
                  <a:pt x="199160" y="-1725"/>
                  <a:pt x="307793" y="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7" name="熊大的PPT宝库25"/>
          <p:cNvSpPr/>
          <p:nvPr/>
        </p:nvSpPr>
        <p:spPr>
          <a:xfrm>
            <a:off x="4037001" y="1487960"/>
            <a:ext cx="185714" cy="166843"/>
          </a:xfrm>
          <a:custGeom>
            <a:avLst/>
            <a:gdLst>
              <a:gd name="connsiteX0" fmla="*/ 490063 w 607639"/>
              <a:gd name="connsiteY0" fmla="*/ 469826 h 545894"/>
              <a:gd name="connsiteX1" fmla="*/ 470482 w 607639"/>
              <a:gd name="connsiteY1" fmla="*/ 493375 h 545894"/>
              <a:gd name="connsiteX2" fmla="*/ 456241 w 607639"/>
              <a:gd name="connsiteY2" fmla="*/ 500396 h 545894"/>
              <a:gd name="connsiteX3" fmla="*/ 455351 w 607639"/>
              <a:gd name="connsiteY3" fmla="*/ 500484 h 545894"/>
              <a:gd name="connsiteX4" fmla="*/ 441466 w 607639"/>
              <a:gd name="connsiteY4" fmla="*/ 494708 h 545894"/>
              <a:gd name="connsiteX5" fmla="*/ 424911 w 607639"/>
              <a:gd name="connsiteY5" fmla="*/ 478268 h 545894"/>
              <a:gd name="connsiteX6" fmla="*/ 424911 w 607639"/>
              <a:gd name="connsiteY6" fmla="*/ 526877 h 545894"/>
              <a:gd name="connsiteX7" fmla="*/ 478670 w 607639"/>
              <a:gd name="connsiteY7" fmla="*/ 526877 h 545894"/>
              <a:gd name="connsiteX8" fmla="*/ 340801 w 607639"/>
              <a:gd name="connsiteY8" fmla="*/ 469826 h 545894"/>
              <a:gd name="connsiteX9" fmla="*/ 352194 w 607639"/>
              <a:gd name="connsiteY9" fmla="*/ 526877 h 545894"/>
              <a:gd name="connsiteX10" fmla="*/ 405953 w 607639"/>
              <a:gd name="connsiteY10" fmla="*/ 526877 h 545894"/>
              <a:gd name="connsiteX11" fmla="*/ 405953 w 607639"/>
              <a:gd name="connsiteY11" fmla="*/ 478268 h 545894"/>
              <a:gd name="connsiteX12" fmla="*/ 389398 w 607639"/>
              <a:gd name="connsiteY12" fmla="*/ 494708 h 545894"/>
              <a:gd name="connsiteX13" fmla="*/ 375513 w 607639"/>
              <a:gd name="connsiteY13" fmla="*/ 500484 h 545894"/>
              <a:gd name="connsiteX14" fmla="*/ 374623 w 607639"/>
              <a:gd name="connsiteY14" fmla="*/ 500396 h 545894"/>
              <a:gd name="connsiteX15" fmla="*/ 360382 w 607639"/>
              <a:gd name="connsiteY15" fmla="*/ 493375 h 545894"/>
              <a:gd name="connsiteX16" fmla="*/ 514184 w 607639"/>
              <a:gd name="connsiteY16" fmla="*/ 446455 h 545894"/>
              <a:gd name="connsiteX17" fmla="*/ 498074 w 607639"/>
              <a:gd name="connsiteY17" fmla="*/ 526877 h 545894"/>
              <a:gd name="connsiteX18" fmla="*/ 577822 w 607639"/>
              <a:gd name="connsiteY18" fmla="*/ 526877 h 545894"/>
              <a:gd name="connsiteX19" fmla="*/ 588592 w 607639"/>
              <a:gd name="connsiteY19" fmla="*/ 516125 h 545894"/>
              <a:gd name="connsiteX20" fmla="*/ 588592 w 607639"/>
              <a:gd name="connsiteY20" fmla="*/ 479690 h 545894"/>
              <a:gd name="connsiteX21" fmla="*/ 572215 w 607639"/>
              <a:gd name="connsiteY21" fmla="*/ 459251 h 545894"/>
              <a:gd name="connsiteX22" fmla="*/ 316681 w 607639"/>
              <a:gd name="connsiteY22" fmla="*/ 446455 h 545894"/>
              <a:gd name="connsiteX23" fmla="*/ 258649 w 607639"/>
              <a:gd name="connsiteY23" fmla="*/ 459251 h 545894"/>
              <a:gd name="connsiteX24" fmla="*/ 242272 w 607639"/>
              <a:gd name="connsiteY24" fmla="*/ 479690 h 545894"/>
              <a:gd name="connsiteX25" fmla="*/ 242272 w 607639"/>
              <a:gd name="connsiteY25" fmla="*/ 516125 h 545894"/>
              <a:gd name="connsiteX26" fmla="*/ 253042 w 607639"/>
              <a:gd name="connsiteY26" fmla="*/ 526877 h 545894"/>
              <a:gd name="connsiteX27" fmla="*/ 332791 w 607639"/>
              <a:gd name="connsiteY27" fmla="*/ 526877 h 545894"/>
              <a:gd name="connsiteX28" fmla="*/ 483922 w 607639"/>
              <a:gd name="connsiteY28" fmla="*/ 418374 h 545894"/>
              <a:gd name="connsiteX29" fmla="*/ 483477 w 607639"/>
              <a:gd name="connsiteY29" fmla="*/ 418463 h 545894"/>
              <a:gd name="connsiteX30" fmla="*/ 430074 w 607639"/>
              <a:gd name="connsiteY30" fmla="*/ 456496 h 545894"/>
              <a:gd name="connsiteX31" fmla="*/ 454906 w 607639"/>
              <a:gd name="connsiteY31" fmla="*/ 481290 h 545894"/>
              <a:gd name="connsiteX32" fmla="*/ 455351 w 607639"/>
              <a:gd name="connsiteY32" fmla="*/ 481467 h 545894"/>
              <a:gd name="connsiteX33" fmla="*/ 455796 w 607639"/>
              <a:gd name="connsiteY33" fmla="*/ 481201 h 545894"/>
              <a:gd name="connsiteX34" fmla="*/ 494869 w 607639"/>
              <a:gd name="connsiteY34" fmla="*/ 434369 h 545894"/>
              <a:gd name="connsiteX35" fmla="*/ 484367 w 607639"/>
              <a:gd name="connsiteY35" fmla="*/ 418640 h 545894"/>
              <a:gd name="connsiteX36" fmla="*/ 483922 w 607639"/>
              <a:gd name="connsiteY36" fmla="*/ 418374 h 545894"/>
              <a:gd name="connsiteX37" fmla="*/ 346943 w 607639"/>
              <a:gd name="connsiteY37" fmla="*/ 418374 h 545894"/>
              <a:gd name="connsiteX38" fmla="*/ 346498 w 607639"/>
              <a:gd name="connsiteY38" fmla="*/ 418640 h 545894"/>
              <a:gd name="connsiteX39" fmla="*/ 335995 w 607639"/>
              <a:gd name="connsiteY39" fmla="*/ 434369 h 545894"/>
              <a:gd name="connsiteX40" fmla="*/ 375068 w 607639"/>
              <a:gd name="connsiteY40" fmla="*/ 481201 h 545894"/>
              <a:gd name="connsiteX41" fmla="*/ 375513 w 607639"/>
              <a:gd name="connsiteY41" fmla="*/ 481467 h 545894"/>
              <a:gd name="connsiteX42" fmla="*/ 375958 w 607639"/>
              <a:gd name="connsiteY42" fmla="*/ 481290 h 545894"/>
              <a:gd name="connsiteX43" fmla="*/ 400791 w 607639"/>
              <a:gd name="connsiteY43" fmla="*/ 456496 h 545894"/>
              <a:gd name="connsiteX44" fmla="*/ 347388 w 607639"/>
              <a:gd name="connsiteY44" fmla="*/ 418463 h 545894"/>
              <a:gd name="connsiteX45" fmla="*/ 346943 w 607639"/>
              <a:gd name="connsiteY45" fmla="*/ 418374 h 545894"/>
              <a:gd name="connsiteX46" fmla="*/ 364032 w 607639"/>
              <a:gd name="connsiteY46" fmla="*/ 391181 h 545894"/>
              <a:gd name="connsiteX47" fmla="*/ 364032 w 607639"/>
              <a:gd name="connsiteY47" fmla="*/ 406999 h 545894"/>
              <a:gd name="connsiteX48" fmla="*/ 415388 w 607639"/>
              <a:gd name="connsiteY48" fmla="*/ 443611 h 545894"/>
              <a:gd name="connsiteX49" fmla="*/ 466833 w 607639"/>
              <a:gd name="connsiteY49" fmla="*/ 406999 h 545894"/>
              <a:gd name="connsiteX50" fmla="*/ 466833 w 607639"/>
              <a:gd name="connsiteY50" fmla="*/ 391181 h 545894"/>
              <a:gd name="connsiteX51" fmla="*/ 450278 w 607639"/>
              <a:gd name="connsiteY51" fmla="*/ 404866 h 545894"/>
              <a:gd name="connsiteX52" fmla="*/ 424733 w 607639"/>
              <a:gd name="connsiteY52" fmla="*/ 414108 h 545894"/>
              <a:gd name="connsiteX53" fmla="*/ 406131 w 607639"/>
              <a:gd name="connsiteY53" fmla="*/ 414108 h 545894"/>
              <a:gd name="connsiteX54" fmla="*/ 380587 w 607639"/>
              <a:gd name="connsiteY54" fmla="*/ 404866 h 545894"/>
              <a:gd name="connsiteX55" fmla="*/ 456032 w 607639"/>
              <a:gd name="connsiteY55" fmla="*/ 282444 h 545894"/>
              <a:gd name="connsiteX56" fmla="*/ 445176 w 607639"/>
              <a:gd name="connsiteY56" fmla="*/ 293200 h 545894"/>
              <a:gd name="connsiteX57" fmla="*/ 456032 w 607639"/>
              <a:gd name="connsiteY57" fmla="*/ 304044 h 545894"/>
              <a:gd name="connsiteX58" fmla="*/ 466800 w 607639"/>
              <a:gd name="connsiteY58" fmla="*/ 293200 h 545894"/>
              <a:gd name="connsiteX59" fmla="*/ 456032 w 607639"/>
              <a:gd name="connsiteY59" fmla="*/ 282444 h 545894"/>
              <a:gd name="connsiteX60" fmla="*/ 374787 w 607639"/>
              <a:gd name="connsiteY60" fmla="*/ 282444 h 545894"/>
              <a:gd name="connsiteX61" fmla="*/ 364019 w 607639"/>
              <a:gd name="connsiteY61" fmla="*/ 293200 h 545894"/>
              <a:gd name="connsiteX62" fmla="*/ 374787 w 607639"/>
              <a:gd name="connsiteY62" fmla="*/ 304044 h 545894"/>
              <a:gd name="connsiteX63" fmla="*/ 385643 w 607639"/>
              <a:gd name="connsiteY63" fmla="*/ 293200 h 545894"/>
              <a:gd name="connsiteX64" fmla="*/ 374787 w 607639"/>
              <a:gd name="connsiteY64" fmla="*/ 282444 h 545894"/>
              <a:gd name="connsiteX65" fmla="*/ 374787 w 607639"/>
              <a:gd name="connsiteY65" fmla="*/ 263421 h 545894"/>
              <a:gd name="connsiteX66" fmla="*/ 399881 w 607639"/>
              <a:gd name="connsiteY66" fmla="*/ 277110 h 545894"/>
              <a:gd name="connsiteX67" fmla="*/ 415454 w 607639"/>
              <a:gd name="connsiteY67" fmla="*/ 273555 h 545894"/>
              <a:gd name="connsiteX68" fmla="*/ 430938 w 607639"/>
              <a:gd name="connsiteY68" fmla="*/ 277110 h 545894"/>
              <a:gd name="connsiteX69" fmla="*/ 456032 w 607639"/>
              <a:gd name="connsiteY69" fmla="*/ 263421 h 545894"/>
              <a:gd name="connsiteX70" fmla="*/ 485843 w 607639"/>
              <a:gd name="connsiteY70" fmla="*/ 293200 h 545894"/>
              <a:gd name="connsiteX71" fmla="*/ 456032 w 607639"/>
              <a:gd name="connsiteY71" fmla="*/ 322978 h 545894"/>
              <a:gd name="connsiteX72" fmla="*/ 426400 w 607639"/>
              <a:gd name="connsiteY72" fmla="*/ 296844 h 545894"/>
              <a:gd name="connsiteX73" fmla="*/ 415454 w 607639"/>
              <a:gd name="connsiteY73" fmla="*/ 292577 h 545894"/>
              <a:gd name="connsiteX74" fmla="*/ 404420 w 607639"/>
              <a:gd name="connsiteY74" fmla="*/ 296844 h 545894"/>
              <a:gd name="connsiteX75" fmla="*/ 374787 w 607639"/>
              <a:gd name="connsiteY75" fmla="*/ 322978 h 545894"/>
              <a:gd name="connsiteX76" fmla="*/ 345065 w 607639"/>
              <a:gd name="connsiteY76" fmla="*/ 293200 h 545894"/>
              <a:gd name="connsiteX77" fmla="*/ 374787 w 607639"/>
              <a:gd name="connsiteY77" fmla="*/ 263421 h 545894"/>
              <a:gd name="connsiteX78" fmla="*/ 121136 w 607639"/>
              <a:gd name="connsiteY78" fmla="*/ 262150 h 545894"/>
              <a:gd name="connsiteX79" fmla="*/ 110366 w 607639"/>
              <a:gd name="connsiteY79" fmla="*/ 272903 h 545894"/>
              <a:gd name="connsiteX80" fmla="*/ 121136 w 607639"/>
              <a:gd name="connsiteY80" fmla="*/ 283655 h 545894"/>
              <a:gd name="connsiteX81" fmla="*/ 131906 w 607639"/>
              <a:gd name="connsiteY81" fmla="*/ 272992 h 545894"/>
              <a:gd name="connsiteX82" fmla="*/ 131906 w 607639"/>
              <a:gd name="connsiteY82" fmla="*/ 272903 h 545894"/>
              <a:gd name="connsiteX83" fmla="*/ 121136 w 607639"/>
              <a:gd name="connsiteY83" fmla="*/ 262150 h 545894"/>
              <a:gd name="connsiteX84" fmla="*/ 502969 w 607639"/>
              <a:gd name="connsiteY84" fmla="*/ 217984 h 545894"/>
              <a:gd name="connsiteX85" fmla="*/ 427403 w 607639"/>
              <a:gd name="connsiteY85" fmla="*/ 251842 h 545894"/>
              <a:gd name="connsiteX86" fmla="*/ 425623 w 607639"/>
              <a:gd name="connsiteY86" fmla="*/ 252020 h 545894"/>
              <a:gd name="connsiteX87" fmla="*/ 419571 w 607639"/>
              <a:gd name="connsiteY87" fmla="*/ 249887 h 545894"/>
              <a:gd name="connsiteX88" fmla="*/ 416100 w 607639"/>
              <a:gd name="connsiteY88" fmla="*/ 242511 h 545894"/>
              <a:gd name="connsiteX89" fmla="*/ 416100 w 607639"/>
              <a:gd name="connsiteY89" fmla="*/ 234602 h 545894"/>
              <a:gd name="connsiteX90" fmla="*/ 327094 w 607639"/>
              <a:gd name="connsiteY90" fmla="*/ 241889 h 545894"/>
              <a:gd name="connsiteX91" fmla="*/ 327183 w 607639"/>
              <a:gd name="connsiteY91" fmla="*/ 243044 h 545894"/>
              <a:gd name="connsiteX92" fmla="*/ 341335 w 607639"/>
              <a:gd name="connsiteY92" fmla="*/ 337329 h 545894"/>
              <a:gd name="connsiteX93" fmla="*/ 352194 w 607639"/>
              <a:gd name="connsiteY93" fmla="*/ 356524 h 545894"/>
              <a:gd name="connsiteX94" fmla="*/ 392780 w 607639"/>
              <a:gd name="connsiteY94" fmla="*/ 390293 h 545894"/>
              <a:gd name="connsiteX95" fmla="*/ 406131 w 607639"/>
              <a:gd name="connsiteY95" fmla="*/ 395180 h 545894"/>
              <a:gd name="connsiteX96" fmla="*/ 424733 w 607639"/>
              <a:gd name="connsiteY96" fmla="*/ 395180 h 545894"/>
              <a:gd name="connsiteX97" fmla="*/ 438084 w 607639"/>
              <a:gd name="connsiteY97" fmla="*/ 390293 h 545894"/>
              <a:gd name="connsiteX98" fmla="*/ 478670 w 607639"/>
              <a:gd name="connsiteY98" fmla="*/ 356524 h 545894"/>
              <a:gd name="connsiteX99" fmla="*/ 489529 w 607639"/>
              <a:gd name="connsiteY99" fmla="*/ 337329 h 545894"/>
              <a:gd name="connsiteX100" fmla="*/ 503681 w 607639"/>
              <a:gd name="connsiteY100" fmla="*/ 243044 h 545894"/>
              <a:gd name="connsiteX101" fmla="*/ 502969 w 607639"/>
              <a:gd name="connsiteY101" fmla="*/ 217984 h 545894"/>
              <a:gd name="connsiteX102" fmla="*/ 398032 w 607639"/>
              <a:gd name="connsiteY102" fmla="*/ 160845 h 545894"/>
              <a:gd name="connsiteX103" fmla="*/ 343738 w 607639"/>
              <a:gd name="connsiteY103" fmla="*/ 185727 h 545894"/>
              <a:gd name="connsiteX104" fmla="*/ 327094 w 607639"/>
              <a:gd name="connsiteY104" fmla="*/ 222872 h 545894"/>
              <a:gd name="connsiteX105" fmla="*/ 422597 w 607639"/>
              <a:gd name="connsiteY105" fmla="*/ 213275 h 545894"/>
              <a:gd name="connsiteX106" fmla="*/ 431142 w 607639"/>
              <a:gd name="connsiteY106" fmla="*/ 214608 h 545894"/>
              <a:gd name="connsiteX107" fmla="*/ 435058 w 607639"/>
              <a:gd name="connsiteY107" fmla="*/ 222250 h 545894"/>
              <a:gd name="connsiteX108" fmla="*/ 435058 w 607639"/>
              <a:gd name="connsiteY108" fmla="*/ 230248 h 545894"/>
              <a:gd name="connsiteX109" fmla="*/ 496115 w 607639"/>
              <a:gd name="connsiteY109" fmla="*/ 198967 h 545894"/>
              <a:gd name="connsiteX110" fmla="*/ 487126 w 607639"/>
              <a:gd name="connsiteY110" fmla="*/ 185727 h 545894"/>
              <a:gd name="connsiteX111" fmla="*/ 432833 w 607639"/>
              <a:gd name="connsiteY111" fmla="*/ 160845 h 545894"/>
              <a:gd name="connsiteX112" fmla="*/ 202303 w 607639"/>
              <a:gd name="connsiteY112" fmla="*/ 116394 h 545894"/>
              <a:gd name="connsiteX113" fmla="*/ 201947 w 607639"/>
              <a:gd name="connsiteY113" fmla="*/ 116572 h 545894"/>
              <a:gd name="connsiteX114" fmla="*/ 201679 w 607639"/>
              <a:gd name="connsiteY114" fmla="*/ 117105 h 545894"/>
              <a:gd name="connsiteX115" fmla="*/ 201679 w 607639"/>
              <a:gd name="connsiteY115" fmla="*/ 165376 h 545894"/>
              <a:gd name="connsiteX116" fmla="*/ 201947 w 607639"/>
              <a:gd name="connsiteY116" fmla="*/ 165909 h 545894"/>
              <a:gd name="connsiteX117" fmla="*/ 202570 w 607639"/>
              <a:gd name="connsiteY117" fmla="*/ 165909 h 545894"/>
              <a:gd name="connsiteX118" fmla="*/ 251012 w 607639"/>
              <a:gd name="connsiteY118" fmla="*/ 141818 h 545894"/>
              <a:gd name="connsiteX119" fmla="*/ 251280 w 607639"/>
              <a:gd name="connsiteY119" fmla="*/ 141196 h 545894"/>
              <a:gd name="connsiteX120" fmla="*/ 251012 w 607639"/>
              <a:gd name="connsiteY120" fmla="*/ 140663 h 545894"/>
              <a:gd name="connsiteX121" fmla="*/ 202570 w 607639"/>
              <a:gd name="connsiteY121" fmla="*/ 116483 h 545894"/>
              <a:gd name="connsiteX122" fmla="*/ 202303 w 607639"/>
              <a:gd name="connsiteY122" fmla="*/ 116394 h 545894"/>
              <a:gd name="connsiteX123" fmla="*/ 211119 w 607639"/>
              <a:gd name="connsiteY123" fmla="*/ 99503 h 545894"/>
              <a:gd name="connsiteX124" fmla="*/ 259472 w 607639"/>
              <a:gd name="connsiteY124" fmla="*/ 123683 h 545894"/>
              <a:gd name="connsiteX125" fmla="*/ 270336 w 607639"/>
              <a:gd name="connsiteY125" fmla="*/ 141196 h 545894"/>
              <a:gd name="connsiteX126" fmla="*/ 259472 w 607639"/>
              <a:gd name="connsiteY126" fmla="*/ 158798 h 545894"/>
              <a:gd name="connsiteX127" fmla="*/ 211119 w 607639"/>
              <a:gd name="connsiteY127" fmla="*/ 182889 h 545894"/>
              <a:gd name="connsiteX128" fmla="*/ 202303 w 607639"/>
              <a:gd name="connsiteY128" fmla="*/ 185022 h 545894"/>
              <a:gd name="connsiteX129" fmla="*/ 191973 w 607639"/>
              <a:gd name="connsiteY129" fmla="*/ 182088 h 545894"/>
              <a:gd name="connsiteX130" fmla="*/ 182623 w 607639"/>
              <a:gd name="connsiteY130" fmla="*/ 165376 h 545894"/>
              <a:gd name="connsiteX131" fmla="*/ 182623 w 607639"/>
              <a:gd name="connsiteY131" fmla="*/ 117105 h 545894"/>
              <a:gd name="connsiteX132" fmla="*/ 191973 w 607639"/>
              <a:gd name="connsiteY132" fmla="*/ 100392 h 545894"/>
              <a:gd name="connsiteX133" fmla="*/ 211119 w 607639"/>
              <a:gd name="connsiteY133" fmla="*/ 99503 h 545894"/>
              <a:gd name="connsiteX134" fmla="*/ 161723 w 607639"/>
              <a:gd name="connsiteY134" fmla="*/ 69670 h 545894"/>
              <a:gd name="connsiteX135" fmla="*/ 130660 w 607639"/>
              <a:gd name="connsiteY135" fmla="*/ 100683 h 545894"/>
              <a:gd name="connsiteX136" fmla="*/ 130660 w 607639"/>
              <a:gd name="connsiteY136" fmla="*/ 181728 h 545894"/>
              <a:gd name="connsiteX137" fmla="*/ 161723 w 607639"/>
              <a:gd name="connsiteY137" fmla="*/ 212741 h 545894"/>
              <a:gd name="connsiteX138" fmla="*/ 283482 w 607639"/>
              <a:gd name="connsiteY138" fmla="*/ 212741 h 545894"/>
              <a:gd name="connsiteX139" fmla="*/ 314545 w 607639"/>
              <a:gd name="connsiteY139" fmla="*/ 181728 h 545894"/>
              <a:gd name="connsiteX140" fmla="*/ 314545 w 607639"/>
              <a:gd name="connsiteY140" fmla="*/ 100683 h 545894"/>
              <a:gd name="connsiteX141" fmla="*/ 283482 w 607639"/>
              <a:gd name="connsiteY141" fmla="*/ 69670 h 545894"/>
              <a:gd name="connsiteX142" fmla="*/ 39963 w 607639"/>
              <a:gd name="connsiteY142" fmla="*/ 19017 h 545894"/>
              <a:gd name="connsiteX143" fmla="*/ 19047 w 607639"/>
              <a:gd name="connsiteY143" fmla="*/ 39900 h 545894"/>
              <a:gd name="connsiteX144" fmla="*/ 19047 w 607639"/>
              <a:gd name="connsiteY144" fmla="*/ 293164 h 545894"/>
              <a:gd name="connsiteX145" fmla="*/ 39963 w 607639"/>
              <a:gd name="connsiteY145" fmla="*/ 314136 h 545894"/>
              <a:gd name="connsiteX146" fmla="*/ 318639 w 607639"/>
              <a:gd name="connsiteY146" fmla="*/ 314136 h 545894"/>
              <a:gd name="connsiteX147" fmla="*/ 313922 w 607639"/>
              <a:gd name="connsiteY147" fmla="*/ 282411 h 545894"/>
              <a:gd name="connsiteX148" fmla="*/ 149351 w 607639"/>
              <a:gd name="connsiteY148" fmla="*/ 282411 h 545894"/>
              <a:gd name="connsiteX149" fmla="*/ 121136 w 607639"/>
              <a:gd name="connsiteY149" fmla="*/ 302672 h 545894"/>
              <a:gd name="connsiteX150" fmla="*/ 92921 w 607639"/>
              <a:gd name="connsiteY150" fmla="*/ 282411 h 545894"/>
              <a:gd name="connsiteX151" fmla="*/ 50110 w 607639"/>
              <a:gd name="connsiteY151" fmla="*/ 282411 h 545894"/>
              <a:gd name="connsiteX152" fmla="*/ 40586 w 607639"/>
              <a:gd name="connsiteY152" fmla="*/ 272903 h 545894"/>
              <a:gd name="connsiteX153" fmla="*/ 50110 w 607639"/>
              <a:gd name="connsiteY153" fmla="*/ 263394 h 545894"/>
              <a:gd name="connsiteX154" fmla="*/ 92921 w 607639"/>
              <a:gd name="connsiteY154" fmla="*/ 263394 h 545894"/>
              <a:gd name="connsiteX155" fmla="*/ 121136 w 607639"/>
              <a:gd name="connsiteY155" fmla="*/ 243133 h 545894"/>
              <a:gd name="connsiteX156" fmla="*/ 149351 w 607639"/>
              <a:gd name="connsiteY156" fmla="*/ 263394 h 545894"/>
              <a:gd name="connsiteX157" fmla="*/ 310985 w 607639"/>
              <a:gd name="connsiteY157" fmla="*/ 263394 h 545894"/>
              <a:gd name="connsiteX158" fmla="*/ 308403 w 607639"/>
              <a:gd name="connsiteY158" fmla="*/ 245799 h 545894"/>
              <a:gd name="connsiteX159" fmla="*/ 307691 w 607639"/>
              <a:gd name="connsiteY159" fmla="*/ 225538 h 545894"/>
              <a:gd name="connsiteX160" fmla="*/ 283482 w 607639"/>
              <a:gd name="connsiteY160" fmla="*/ 231758 h 545894"/>
              <a:gd name="connsiteX161" fmla="*/ 161723 w 607639"/>
              <a:gd name="connsiteY161" fmla="*/ 231758 h 545894"/>
              <a:gd name="connsiteX162" fmla="*/ 111613 w 607639"/>
              <a:gd name="connsiteY162" fmla="*/ 181728 h 545894"/>
              <a:gd name="connsiteX163" fmla="*/ 111613 w 607639"/>
              <a:gd name="connsiteY163" fmla="*/ 100683 h 545894"/>
              <a:gd name="connsiteX164" fmla="*/ 161723 w 607639"/>
              <a:gd name="connsiteY164" fmla="*/ 50653 h 545894"/>
              <a:gd name="connsiteX165" fmla="*/ 283482 w 607639"/>
              <a:gd name="connsiteY165" fmla="*/ 50653 h 545894"/>
              <a:gd name="connsiteX166" fmla="*/ 333592 w 607639"/>
              <a:gd name="connsiteY166" fmla="*/ 100683 h 545894"/>
              <a:gd name="connsiteX167" fmla="*/ 333592 w 607639"/>
              <a:gd name="connsiteY167" fmla="*/ 168754 h 545894"/>
              <a:gd name="connsiteX168" fmla="*/ 398032 w 607639"/>
              <a:gd name="connsiteY168" fmla="*/ 141828 h 545894"/>
              <a:gd name="connsiteX169" fmla="*/ 426246 w 607639"/>
              <a:gd name="connsiteY169" fmla="*/ 141828 h 545894"/>
              <a:gd name="connsiteX170" fmla="*/ 426246 w 607639"/>
              <a:gd name="connsiteY170" fmla="*/ 39900 h 545894"/>
              <a:gd name="connsiteX171" fmla="*/ 405241 w 607639"/>
              <a:gd name="connsiteY171" fmla="*/ 19017 h 545894"/>
              <a:gd name="connsiteX172" fmla="*/ 39963 w 607639"/>
              <a:gd name="connsiteY172" fmla="*/ 0 h 545894"/>
              <a:gd name="connsiteX173" fmla="*/ 405241 w 607639"/>
              <a:gd name="connsiteY173" fmla="*/ 0 h 545894"/>
              <a:gd name="connsiteX174" fmla="*/ 445204 w 607639"/>
              <a:gd name="connsiteY174" fmla="*/ 39900 h 545894"/>
              <a:gd name="connsiteX175" fmla="*/ 445204 w 607639"/>
              <a:gd name="connsiteY175" fmla="*/ 142716 h 545894"/>
              <a:gd name="connsiteX176" fmla="*/ 501545 w 607639"/>
              <a:gd name="connsiteY176" fmla="*/ 173286 h 545894"/>
              <a:gd name="connsiteX177" fmla="*/ 522461 w 607639"/>
              <a:gd name="connsiteY177" fmla="*/ 245799 h 545894"/>
              <a:gd name="connsiteX178" fmla="*/ 508309 w 607639"/>
              <a:gd name="connsiteY178" fmla="*/ 340173 h 545894"/>
              <a:gd name="connsiteX179" fmla="*/ 490864 w 607639"/>
              <a:gd name="connsiteY179" fmla="*/ 371187 h 545894"/>
              <a:gd name="connsiteX180" fmla="*/ 485791 w 607639"/>
              <a:gd name="connsiteY180" fmla="*/ 375363 h 545894"/>
              <a:gd name="connsiteX181" fmla="*/ 485791 w 607639"/>
              <a:gd name="connsiteY181" fmla="*/ 399446 h 545894"/>
              <a:gd name="connsiteX182" fmla="*/ 487393 w 607639"/>
              <a:gd name="connsiteY182" fmla="*/ 399623 h 545894"/>
              <a:gd name="connsiteX183" fmla="*/ 500210 w 607639"/>
              <a:gd name="connsiteY183" fmla="*/ 408065 h 545894"/>
              <a:gd name="connsiteX184" fmla="*/ 512581 w 607639"/>
              <a:gd name="connsiteY184" fmla="*/ 426638 h 545894"/>
              <a:gd name="connsiteX185" fmla="*/ 576309 w 607639"/>
              <a:gd name="connsiteY185" fmla="*/ 440767 h 545894"/>
              <a:gd name="connsiteX186" fmla="*/ 607639 w 607639"/>
              <a:gd name="connsiteY186" fmla="*/ 479690 h 545894"/>
              <a:gd name="connsiteX187" fmla="*/ 607639 w 607639"/>
              <a:gd name="connsiteY187" fmla="*/ 516125 h 545894"/>
              <a:gd name="connsiteX188" fmla="*/ 577822 w 607639"/>
              <a:gd name="connsiteY188" fmla="*/ 545894 h 545894"/>
              <a:gd name="connsiteX189" fmla="*/ 253042 w 607639"/>
              <a:gd name="connsiteY189" fmla="*/ 545894 h 545894"/>
              <a:gd name="connsiteX190" fmla="*/ 223225 w 607639"/>
              <a:gd name="connsiteY190" fmla="*/ 516125 h 545894"/>
              <a:gd name="connsiteX191" fmla="*/ 223225 w 607639"/>
              <a:gd name="connsiteY191" fmla="*/ 479690 h 545894"/>
              <a:gd name="connsiteX192" fmla="*/ 254555 w 607639"/>
              <a:gd name="connsiteY192" fmla="*/ 440767 h 545894"/>
              <a:gd name="connsiteX193" fmla="*/ 318283 w 607639"/>
              <a:gd name="connsiteY193" fmla="*/ 426638 h 545894"/>
              <a:gd name="connsiteX194" fmla="*/ 330655 w 607639"/>
              <a:gd name="connsiteY194" fmla="*/ 408065 h 545894"/>
              <a:gd name="connsiteX195" fmla="*/ 343471 w 607639"/>
              <a:gd name="connsiteY195" fmla="*/ 399623 h 545894"/>
              <a:gd name="connsiteX196" fmla="*/ 345074 w 607639"/>
              <a:gd name="connsiteY196" fmla="*/ 399446 h 545894"/>
              <a:gd name="connsiteX197" fmla="*/ 345074 w 607639"/>
              <a:gd name="connsiteY197" fmla="*/ 375363 h 545894"/>
              <a:gd name="connsiteX198" fmla="*/ 340000 w 607639"/>
              <a:gd name="connsiteY198" fmla="*/ 371187 h 545894"/>
              <a:gd name="connsiteX199" fmla="*/ 322555 w 607639"/>
              <a:gd name="connsiteY199" fmla="*/ 340173 h 545894"/>
              <a:gd name="connsiteX200" fmla="*/ 321487 w 607639"/>
              <a:gd name="connsiteY200" fmla="*/ 333064 h 545894"/>
              <a:gd name="connsiteX201" fmla="*/ 39963 w 607639"/>
              <a:gd name="connsiteY201" fmla="*/ 333064 h 545894"/>
              <a:gd name="connsiteX202" fmla="*/ 0 w 607639"/>
              <a:gd name="connsiteY202" fmla="*/ 293164 h 545894"/>
              <a:gd name="connsiteX203" fmla="*/ 0 w 607639"/>
              <a:gd name="connsiteY203" fmla="*/ 39900 h 545894"/>
              <a:gd name="connsiteX204" fmla="*/ 39963 w 607639"/>
              <a:gd name="connsiteY204" fmla="*/ 0 h 545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Lst>
            <a:rect l="l" t="t" r="r" b="b"/>
            <a:pathLst>
              <a:path w="607639" h="545894">
                <a:moveTo>
                  <a:pt x="490063" y="469826"/>
                </a:moveTo>
                <a:lnTo>
                  <a:pt x="470482" y="493375"/>
                </a:lnTo>
                <a:cubicBezTo>
                  <a:pt x="466922" y="497641"/>
                  <a:pt x="461759" y="500218"/>
                  <a:pt x="456241" y="500396"/>
                </a:cubicBezTo>
                <a:cubicBezTo>
                  <a:pt x="455974" y="500484"/>
                  <a:pt x="455618" y="500484"/>
                  <a:pt x="455351" y="500484"/>
                </a:cubicBezTo>
                <a:cubicBezTo>
                  <a:pt x="450189" y="500484"/>
                  <a:pt x="445115" y="498352"/>
                  <a:pt x="441466" y="494708"/>
                </a:cubicBezTo>
                <a:lnTo>
                  <a:pt x="424911" y="478268"/>
                </a:lnTo>
                <a:lnTo>
                  <a:pt x="424911" y="526877"/>
                </a:lnTo>
                <a:lnTo>
                  <a:pt x="478670" y="526877"/>
                </a:lnTo>
                <a:close/>
                <a:moveTo>
                  <a:pt x="340801" y="469826"/>
                </a:moveTo>
                <a:lnTo>
                  <a:pt x="352194" y="526877"/>
                </a:lnTo>
                <a:lnTo>
                  <a:pt x="405953" y="526877"/>
                </a:lnTo>
                <a:lnTo>
                  <a:pt x="405953" y="478268"/>
                </a:lnTo>
                <a:lnTo>
                  <a:pt x="389398" y="494708"/>
                </a:lnTo>
                <a:cubicBezTo>
                  <a:pt x="385749" y="498352"/>
                  <a:pt x="380676" y="500484"/>
                  <a:pt x="375513" y="500484"/>
                </a:cubicBezTo>
                <a:cubicBezTo>
                  <a:pt x="375246" y="500484"/>
                  <a:pt x="374890" y="500484"/>
                  <a:pt x="374623" y="500396"/>
                </a:cubicBezTo>
                <a:cubicBezTo>
                  <a:pt x="369105" y="500218"/>
                  <a:pt x="363943" y="497641"/>
                  <a:pt x="360382" y="493375"/>
                </a:cubicBezTo>
                <a:close/>
                <a:moveTo>
                  <a:pt x="514184" y="446455"/>
                </a:moveTo>
                <a:lnTo>
                  <a:pt x="498074" y="526877"/>
                </a:lnTo>
                <a:lnTo>
                  <a:pt x="577822" y="526877"/>
                </a:lnTo>
                <a:cubicBezTo>
                  <a:pt x="583786" y="526877"/>
                  <a:pt x="588592" y="522078"/>
                  <a:pt x="588592" y="516125"/>
                </a:cubicBezTo>
                <a:lnTo>
                  <a:pt x="588592" y="479690"/>
                </a:lnTo>
                <a:cubicBezTo>
                  <a:pt x="588592" y="469826"/>
                  <a:pt x="581828" y="461473"/>
                  <a:pt x="572215" y="459251"/>
                </a:cubicBezTo>
                <a:close/>
                <a:moveTo>
                  <a:pt x="316681" y="446455"/>
                </a:moveTo>
                <a:lnTo>
                  <a:pt x="258649" y="459251"/>
                </a:lnTo>
                <a:cubicBezTo>
                  <a:pt x="249037" y="461473"/>
                  <a:pt x="242272" y="469826"/>
                  <a:pt x="242272" y="479690"/>
                </a:cubicBezTo>
                <a:lnTo>
                  <a:pt x="242272" y="516125"/>
                </a:lnTo>
                <a:cubicBezTo>
                  <a:pt x="242272" y="521990"/>
                  <a:pt x="247079" y="526877"/>
                  <a:pt x="253042" y="526877"/>
                </a:cubicBezTo>
                <a:lnTo>
                  <a:pt x="332791" y="526877"/>
                </a:lnTo>
                <a:close/>
                <a:moveTo>
                  <a:pt x="483922" y="418374"/>
                </a:moveTo>
                <a:cubicBezTo>
                  <a:pt x="483655" y="418285"/>
                  <a:pt x="483566" y="418463"/>
                  <a:pt x="483477" y="418463"/>
                </a:cubicBezTo>
                <a:lnTo>
                  <a:pt x="430074" y="456496"/>
                </a:lnTo>
                <a:lnTo>
                  <a:pt x="454906" y="481290"/>
                </a:lnTo>
                <a:cubicBezTo>
                  <a:pt x="454906" y="481290"/>
                  <a:pt x="455084" y="481467"/>
                  <a:pt x="455351" y="481467"/>
                </a:cubicBezTo>
                <a:cubicBezTo>
                  <a:pt x="455618" y="481467"/>
                  <a:pt x="455796" y="481290"/>
                  <a:pt x="455796" y="481201"/>
                </a:cubicBezTo>
                <a:lnTo>
                  <a:pt x="494869" y="434369"/>
                </a:lnTo>
                <a:lnTo>
                  <a:pt x="484367" y="418640"/>
                </a:lnTo>
                <a:cubicBezTo>
                  <a:pt x="484367" y="418551"/>
                  <a:pt x="484189" y="418374"/>
                  <a:pt x="483922" y="418374"/>
                </a:cubicBezTo>
                <a:close/>
                <a:moveTo>
                  <a:pt x="346943" y="418374"/>
                </a:moveTo>
                <a:cubicBezTo>
                  <a:pt x="346676" y="418374"/>
                  <a:pt x="346498" y="418551"/>
                  <a:pt x="346498" y="418640"/>
                </a:cubicBezTo>
                <a:lnTo>
                  <a:pt x="335995" y="434369"/>
                </a:lnTo>
                <a:lnTo>
                  <a:pt x="375068" y="481201"/>
                </a:lnTo>
                <a:cubicBezTo>
                  <a:pt x="375068" y="481290"/>
                  <a:pt x="375246" y="481467"/>
                  <a:pt x="375513" y="481467"/>
                </a:cubicBezTo>
                <a:cubicBezTo>
                  <a:pt x="375780" y="481467"/>
                  <a:pt x="375958" y="481290"/>
                  <a:pt x="375958" y="481290"/>
                </a:cubicBezTo>
                <a:lnTo>
                  <a:pt x="400791" y="456496"/>
                </a:lnTo>
                <a:lnTo>
                  <a:pt x="347388" y="418463"/>
                </a:lnTo>
                <a:cubicBezTo>
                  <a:pt x="347299" y="418463"/>
                  <a:pt x="347210" y="418285"/>
                  <a:pt x="346943" y="418374"/>
                </a:cubicBezTo>
                <a:close/>
                <a:moveTo>
                  <a:pt x="364032" y="391181"/>
                </a:moveTo>
                <a:lnTo>
                  <a:pt x="364032" y="406999"/>
                </a:lnTo>
                <a:lnTo>
                  <a:pt x="415388" y="443611"/>
                </a:lnTo>
                <a:lnTo>
                  <a:pt x="466833" y="406999"/>
                </a:lnTo>
                <a:lnTo>
                  <a:pt x="466833" y="391181"/>
                </a:lnTo>
                <a:lnTo>
                  <a:pt x="450278" y="404866"/>
                </a:lnTo>
                <a:cubicBezTo>
                  <a:pt x="443157" y="410820"/>
                  <a:pt x="433990" y="414108"/>
                  <a:pt x="424733" y="414108"/>
                </a:cubicBezTo>
                <a:lnTo>
                  <a:pt x="406131" y="414108"/>
                </a:lnTo>
                <a:cubicBezTo>
                  <a:pt x="396786" y="414108"/>
                  <a:pt x="387707" y="410820"/>
                  <a:pt x="380587" y="404866"/>
                </a:cubicBezTo>
                <a:close/>
                <a:moveTo>
                  <a:pt x="456032" y="282444"/>
                </a:moveTo>
                <a:cubicBezTo>
                  <a:pt x="450070" y="282444"/>
                  <a:pt x="445176" y="287333"/>
                  <a:pt x="445176" y="293200"/>
                </a:cubicBezTo>
                <a:cubicBezTo>
                  <a:pt x="445176" y="299155"/>
                  <a:pt x="450070" y="304044"/>
                  <a:pt x="456032" y="304044"/>
                </a:cubicBezTo>
                <a:cubicBezTo>
                  <a:pt x="461905" y="304044"/>
                  <a:pt x="466800" y="299155"/>
                  <a:pt x="466800" y="293200"/>
                </a:cubicBezTo>
                <a:cubicBezTo>
                  <a:pt x="466800" y="287333"/>
                  <a:pt x="461905" y="282444"/>
                  <a:pt x="456032" y="282444"/>
                </a:cubicBezTo>
                <a:close/>
                <a:moveTo>
                  <a:pt x="374787" y="282444"/>
                </a:moveTo>
                <a:cubicBezTo>
                  <a:pt x="368914" y="282444"/>
                  <a:pt x="364019" y="287333"/>
                  <a:pt x="364019" y="293200"/>
                </a:cubicBezTo>
                <a:cubicBezTo>
                  <a:pt x="364019" y="299155"/>
                  <a:pt x="368914" y="304044"/>
                  <a:pt x="374787" y="304044"/>
                </a:cubicBezTo>
                <a:cubicBezTo>
                  <a:pt x="380749" y="304044"/>
                  <a:pt x="385643" y="299155"/>
                  <a:pt x="385643" y="293200"/>
                </a:cubicBezTo>
                <a:cubicBezTo>
                  <a:pt x="385643" y="287333"/>
                  <a:pt x="380749" y="282444"/>
                  <a:pt x="374787" y="282444"/>
                </a:cubicBezTo>
                <a:close/>
                <a:moveTo>
                  <a:pt x="374787" y="263421"/>
                </a:moveTo>
                <a:cubicBezTo>
                  <a:pt x="385287" y="263421"/>
                  <a:pt x="394542" y="268932"/>
                  <a:pt x="399881" y="277110"/>
                </a:cubicBezTo>
                <a:cubicBezTo>
                  <a:pt x="404509" y="274799"/>
                  <a:pt x="409848" y="273555"/>
                  <a:pt x="415454" y="273555"/>
                </a:cubicBezTo>
                <a:cubicBezTo>
                  <a:pt x="420971" y="273555"/>
                  <a:pt x="426311" y="274799"/>
                  <a:pt x="430938" y="277110"/>
                </a:cubicBezTo>
                <a:cubicBezTo>
                  <a:pt x="436277" y="268932"/>
                  <a:pt x="445532" y="263421"/>
                  <a:pt x="456032" y="263421"/>
                </a:cubicBezTo>
                <a:cubicBezTo>
                  <a:pt x="472406" y="263421"/>
                  <a:pt x="485754" y="276844"/>
                  <a:pt x="485843" y="293200"/>
                </a:cubicBezTo>
                <a:cubicBezTo>
                  <a:pt x="485843" y="309644"/>
                  <a:pt x="472406" y="322978"/>
                  <a:pt x="456032" y="322978"/>
                </a:cubicBezTo>
                <a:cubicBezTo>
                  <a:pt x="440815" y="322978"/>
                  <a:pt x="428179" y="311600"/>
                  <a:pt x="426400" y="296844"/>
                </a:cubicBezTo>
                <a:cubicBezTo>
                  <a:pt x="423819" y="294177"/>
                  <a:pt x="419814" y="292577"/>
                  <a:pt x="415454" y="292577"/>
                </a:cubicBezTo>
                <a:cubicBezTo>
                  <a:pt x="411094" y="292577"/>
                  <a:pt x="407000" y="294177"/>
                  <a:pt x="404420" y="296844"/>
                </a:cubicBezTo>
                <a:cubicBezTo>
                  <a:pt x="402640" y="311600"/>
                  <a:pt x="390004" y="322978"/>
                  <a:pt x="374787" y="322978"/>
                </a:cubicBezTo>
                <a:cubicBezTo>
                  <a:pt x="358413" y="322978"/>
                  <a:pt x="345065" y="309644"/>
                  <a:pt x="345065" y="293200"/>
                </a:cubicBezTo>
                <a:cubicBezTo>
                  <a:pt x="345065" y="276844"/>
                  <a:pt x="358413" y="263421"/>
                  <a:pt x="374787" y="263421"/>
                </a:cubicBezTo>
                <a:close/>
                <a:moveTo>
                  <a:pt x="121136" y="262150"/>
                </a:moveTo>
                <a:cubicBezTo>
                  <a:pt x="115173" y="262150"/>
                  <a:pt x="110366" y="267038"/>
                  <a:pt x="110366" y="272903"/>
                </a:cubicBezTo>
                <a:cubicBezTo>
                  <a:pt x="110366" y="278857"/>
                  <a:pt x="115173" y="283655"/>
                  <a:pt x="121136" y="283655"/>
                </a:cubicBezTo>
                <a:cubicBezTo>
                  <a:pt x="127099" y="283655"/>
                  <a:pt x="131906" y="278857"/>
                  <a:pt x="131906" y="272992"/>
                </a:cubicBezTo>
                <a:cubicBezTo>
                  <a:pt x="131906" y="272903"/>
                  <a:pt x="131906" y="272903"/>
                  <a:pt x="131906" y="272903"/>
                </a:cubicBezTo>
                <a:cubicBezTo>
                  <a:pt x="131906" y="266949"/>
                  <a:pt x="127099" y="262150"/>
                  <a:pt x="121136" y="262150"/>
                </a:cubicBezTo>
                <a:close/>
                <a:moveTo>
                  <a:pt x="502969" y="217984"/>
                </a:moveTo>
                <a:cubicBezTo>
                  <a:pt x="471194" y="242866"/>
                  <a:pt x="429362" y="251486"/>
                  <a:pt x="427403" y="251842"/>
                </a:cubicBezTo>
                <a:cubicBezTo>
                  <a:pt x="426869" y="251931"/>
                  <a:pt x="426157" y="252020"/>
                  <a:pt x="425623" y="252020"/>
                </a:cubicBezTo>
                <a:cubicBezTo>
                  <a:pt x="423398" y="252020"/>
                  <a:pt x="421262" y="251309"/>
                  <a:pt x="419571" y="249887"/>
                </a:cubicBezTo>
                <a:cubicBezTo>
                  <a:pt x="417346" y="248109"/>
                  <a:pt x="416100" y="245355"/>
                  <a:pt x="416100" y="242511"/>
                </a:cubicBezTo>
                <a:lnTo>
                  <a:pt x="416100" y="234602"/>
                </a:lnTo>
                <a:cubicBezTo>
                  <a:pt x="385571" y="241000"/>
                  <a:pt x="339288" y="241800"/>
                  <a:pt x="327094" y="241889"/>
                </a:cubicBezTo>
                <a:cubicBezTo>
                  <a:pt x="327094" y="242244"/>
                  <a:pt x="327183" y="242600"/>
                  <a:pt x="327183" y="243044"/>
                </a:cubicBezTo>
                <a:lnTo>
                  <a:pt x="341335" y="337329"/>
                </a:lnTo>
                <a:cubicBezTo>
                  <a:pt x="342492" y="344883"/>
                  <a:pt x="346320" y="351725"/>
                  <a:pt x="352194" y="356524"/>
                </a:cubicBezTo>
                <a:lnTo>
                  <a:pt x="392780" y="390293"/>
                </a:lnTo>
                <a:cubicBezTo>
                  <a:pt x="396519" y="393403"/>
                  <a:pt x="401236" y="395180"/>
                  <a:pt x="406131" y="395180"/>
                </a:cubicBezTo>
                <a:lnTo>
                  <a:pt x="424733" y="395180"/>
                </a:lnTo>
                <a:cubicBezTo>
                  <a:pt x="429629" y="395180"/>
                  <a:pt x="434346" y="393403"/>
                  <a:pt x="438084" y="390293"/>
                </a:cubicBezTo>
                <a:lnTo>
                  <a:pt x="478670" y="356524"/>
                </a:lnTo>
                <a:cubicBezTo>
                  <a:pt x="484545" y="351725"/>
                  <a:pt x="488372" y="344883"/>
                  <a:pt x="489529" y="337329"/>
                </a:cubicBezTo>
                <a:lnTo>
                  <a:pt x="503681" y="243044"/>
                </a:lnTo>
                <a:cubicBezTo>
                  <a:pt x="504927" y="234602"/>
                  <a:pt x="504660" y="226160"/>
                  <a:pt x="502969" y="217984"/>
                </a:cubicBezTo>
                <a:close/>
                <a:moveTo>
                  <a:pt x="398032" y="160845"/>
                </a:moveTo>
                <a:cubicBezTo>
                  <a:pt x="377204" y="160845"/>
                  <a:pt x="357356" y="169909"/>
                  <a:pt x="343738" y="185727"/>
                </a:cubicBezTo>
                <a:cubicBezTo>
                  <a:pt x="334571" y="196302"/>
                  <a:pt x="328875" y="209276"/>
                  <a:pt x="327094" y="222872"/>
                </a:cubicBezTo>
                <a:cubicBezTo>
                  <a:pt x="340623" y="222783"/>
                  <a:pt x="397320" y="221628"/>
                  <a:pt x="422597" y="213275"/>
                </a:cubicBezTo>
                <a:cubicBezTo>
                  <a:pt x="425445" y="212297"/>
                  <a:pt x="428649" y="212741"/>
                  <a:pt x="431142" y="214608"/>
                </a:cubicBezTo>
                <a:cubicBezTo>
                  <a:pt x="433634" y="216385"/>
                  <a:pt x="435058" y="219229"/>
                  <a:pt x="435058" y="222250"/>
                </a:cubicBezTo>
                <a:lnTo>
                  <a:pt x="435058" y="230248"/>
                </a:lnTo>
                <a:cubicBezTo>
                  <a:pt x="450100" y="225893"/>
                  <a:pt x="476712" y="216207"/>
                  <a:pt x="496115" y="198967"/>
                </a:cubicBezTo>
                <a:cubicBezTo>
                  <a:pt x="493623" y="194258"/>
                  <a:pt x="490597" y="189814"/>
                  <a:pt x="487126" y="185727"/>
                </a:cubicBezTo>
                <a:cubicBezTo>
                  <a:pt x="473508" y="169909"/>
                  <a:pt x="453660" y="160845"/>
                  <a:pt x="432833" y="160845"/>
                </a:cubicBezTo>
                <a:close/>
                <a:moveTo>
                  <a:pt x="202303" y="116394"/>
                </a:moveTo>
                <a:cubicBezTo>
                  <a:pt x="202214" y="116394"/>
                  <a:pt x="202125" y="116483"/>
                  <a:pt x="201947" y="116572"/>
                </a:cubicBezTo>
                <a:cubicBezTo>
                  <a:pt x="201679" y="116749"/>
                  <a:pt x="201679" y="116927"/>
                  <a:pt x="201679" y="117105"/>
                </a:cubicBezTo>
                <a:lnTo>
                  <a:pt x="201679" y="165376"/>
                </a:lnTo>
                <a:cubicBezTo>
                  <a:pt x="201679" y="165465"/>
                  <a:pt x="201679" y="165731"/>
                  <a:pt x="201947" y="165909"/>
                </a:cubicBezTo>
                <a:cubicBezTo>
                  <a:pt x="202303" y="166087"/>
                  <a:pt x="202481" y="165998"/>
                  <a:pt x="202570" y="165909"/>
                </a:cubicBezTo>
                <a:lnTo>
                  <a:pt x="251012" y="141818"/>
                </a:lnTo>
                <a:cubicBezTo>
                  <a:pt x="251102" y="141729"/>
                  <a:pt x="251280" y="141640"/>
                  <a:pt x="251280" y="141196"/>
                </a:cubicBezTo>
                <a:cubicBezTo>
                  <a:pt x="251280" y="140840"/>
                  <a:pt x="251102" y="140752"/>
                  <a:pt x="251012" y="140663"/>
                </a:cubicBezTo>
                <a:lnTo>
                  <a:pt x="202570" y="116483"/>
                </a:lnTo>
                <a:cubicBezTo>
                  <a:pt x="202570" y="116483"/>
                  <a:pt x="202481" y="116394"/>
                  <a:pt x="202303" y="116394"/>
                </a:cubicBezTo>
                <a:close/>
                <a:moveTo>
                  <a:pt x="211119" y="99503"/>
                </a:moveTo>
                <a:lnTo>
                  <a:pt x="259472" y="123683"/>
                </a:lnTo>
                <a:cubicBezTo>
                  <a:pt x="266151" y="126973"/>
                  <a:pt x="270336" y="133729"/>
                  <a:pt x="270336" y="141196"/>
                </a:cubicBezTo>
                <a:cubicBezTo>
                  <a:pt x="270336" y="148663"/>
                  <a:pt x="266151" y="155419"/>
                  <a:pt x="259472" y="158798"/>
                </a:cubicBezTo>
                <a:lnTo>
                  <a:pt x="211119" y="182889"/>
                </a:lnTo>
                <a:cubicBezTo>
                  <a:pt x="208358" y="184311"/>
                  <a:pt x="205330" y="185022"/>
                  <a:pt x="202303" y="185022"/>
                </a:cubicBezTo>
                <a:cubicBezTo>
                  <a:pt x="198741" y="185022"/>
                  <a:pt x="195179" y="184044"/>
                  <a:pt x="191973" y="182088"/>
                </a:cubicBezTo>
                <a:cubicBezTo>
                  <a:pt x="186096" y="178444"/>
                  <a:pt x="182623" y="172221"/>
                  <a:pt x="182623" y="165376"/>
                </a:cubicBezTo>
                <a:lnTo>
                  <a:pt x="182623" y="117105"/>
                </a:lnTo>
                <a:cubicBezTo>
                  <a:pt x="182623" y="110171"/>
                  <a:pt x="186096" y="103948"/>
                  <a:pt x="191973" y="100392"/>
                </a:cubicBezTo>
                <a:cubicBezTo>
                  <a:pt x="197850" y="96748"/>
                  <a:pt x="204974" y="96392"/>
                  <a:pt x="211119" y="99503"/>
                </a:cubicBezTo>
                <a:close/>
                <a:moveTo>
                  <a:pt x="161723" y="69670"/>
                </a:moveTo>
                <a:cubicBezTo>
                  <a:pt x="144633" y="69670"/>
                  <a:pt x="130660" y="83621"/>
                  <a:pt x="130660" y="100683"/>
                </a:cubicBezTo>
                <a:lnTo>
                  <a:pt x="130660" y="181728"/>
                </a:lnTo>
                <a:cubicBezTo>
                  <a:pt x="130660" y="198879"/>
                  <a:pt x="144633" y="212741"/>
                  <a:pt x="161723" y="212741"/>
                </a:cubicBezTo>
                <a:lnTo>
                  <a:pt x="283482" y="212741"/>
                </a:lnTo>
                <a:cubicBezTo>
                  <a:pt x="300660" y="212741"/>
                  <a:pt x="314545" y="198879"/>
                  <a:pt x="314545" y="181728"/>
                </a:cubicBezTo>
                <a:lnTo>
                  <a:pt x="314545" y="100683"/>
                </a:lnTo>
                <a:cubicBezTo>
                  <a:pt x="314545" y="83621"/>
                  <a:pt x="300660" y="69670"/>
                  <a:pt x="283482" y="69670"/>
                </a:cubicBezTo>
                <a:close/>
                <a:moveTo>
                  <a:pt x="39963" y="19017"/>
                </a:moveTo>
                <a:cubicBezTo>
                  <a:pt x="28393" y="19017"/>
                  <a:pt x="19047" y="28348"/>
                  <a:pt x="19047" y="39900"/>
                </a:cubicBezTo>
                <a:lnTo>
                  <a:pt x="19047" y="293164"/>
                </a:lnTo>
                <a:cubicBezTo>
                  <a:pt x="19047" y="304716"/>
                  <a:pt x="28393" y="314136"/>
                  <a:pt x="39963" y="314136"/>
                </a:cubicBezTo>
                <a:lnTo>
                  <a:pt x="318639" y="314136"/>
                </a:lnTo>
                <a:lnTo>
                  <a:pt x="313922" y="282411"/>
                </a:lnTo>
                <a:lnTo>
                  <a:pt x="149351" y="282411"/>
                </a:lnTo>
                <a:cubicBezTo>
                  <a:pt x="145435" y="294230"/>
                  <a:pt x="134220" y="302672"/>
                  <a:pt x="121136" y="302672"/>
                </a:cubicBezTo>
                <a:cubicBezTo>
                  <a:pt x="108052" y="302672"/>
                  <a:pt x="96838" y="294230"/>
                  <a:pt x="92921" y="282411"/>
                </a:cubicBezTo>
                <a:lnTo>
                  <a:pt x="50110" y="282411"/>
                </a:lnTo>
                <a:cubicBezTo>
                  <a:pt x="44859" y="282411"/>
                  <a:pt x="40586" y="278146"/>
                  <a:pt x="40586" y="272903"/>
                </a:cubicBezTo>
                <a:cubicBezTo>
                  <a:pt x="40586" y="267660"/>
                  <a:pt x="44859" y="263394"/>
                  <a:pt x="50110" y="263394"/>
                </a:cubicBezTo>
                <a:lnTo>
                  <a:pt x="92921" y="263394"/>
                </a:lnTo>
                <a:cubicBezTo>
                  <a:pt x="96838" y="251664"/>
                  <a:pt x="108052" y="243133"/>
                  <a:pt x="121136" y="243133"/>
                </a:cubicBezTo>
                <a:cubicBezTo>
                  <a:pt x="134220" y="243133"/>
                  <a:pt x="145435" y="251664"/>
                  <a:pt x="149351" y="263394"/>
                </a:cubicBezTo>
                <a:lnTo>
                  <a:pt x="310985" y="263394"/>
                </a:lnTo>
                <a:lnTo>
                  <a:pt x="308403" y="245799"/>
                </a:lnTo>
                <a:cubicBezTo>
                  <a:pt x="307335" y="239045"/>
                  <a:pt x="307157" y="232292"/>
                  <a:pt x="307691" y="225538"/>
                </a:cubicBezTo>
                <a:cubicBezTo>
                  <a:pt x="300482" y="229537"/>
                  <a:pt x="292293" y="231758"/>
                  <a:pt x="283482" y="231758"/>
                </a:cubicBezTo>
                <a:lnTo>
                  <a:pt x="161723" y="231758"/>
                </a:lnTo>
                <a:cubicBezTo>
                  <a:pt x="134131" y="231758"/>
                  <a:pt x="111613" y="209365"/>
                  <a:pt x="111613" y="181728"/>
                </a:cubicBezTo>
                <a:lnTo>
                  <a:pt x="111613" y="100683"/>
                </a:lnTo>
                <a:cubicBezTo>
                  <a:pt x="111613" y="73135"/>
                  <a:pt x="134131" y="50653"/>
                  <a:pt x="161723" y="50653"/>
                </a:cubicBezTo>
                <a:lnTo>
                  <a:pt x="283482" y="50653"/>
                </a:lnTo>
                <a:cubicBezTo>
                  <a:pt x="311163" y="50653"/>
                  <a:pt x="333592" y="73135"/>
                  <a:pt x="333592" y="100683"/>
                </a:cubicBezTo>
                <a:lnTo>
                  <a:pt x="333592" y="168754"/>
                </a:lnTo>
                <a:cubicBezTo>
                  <a:pt x="350592" y="151603"/>
                  <a:pt x="373733" y="141828"/>
                  <a:pt x="398032" y="141828"/>
                </a:cubicBezTo>
                <a:lnTo>
                  <a:pt x="426246" y="141828"/>
                </a:lnTo>
                <a:lnTo>
                  <a:pt x="426246" y="39900"/>
                </a:lnTo>
                <a:cubicBezTo>
                  <a:pt x="426246" y="28348"/>
                  <a:pt x="416812" y="19017"/>
                  <a:pt x="405241" y="19017"/>
                </a:cubicBezTo>
                <a:close/>
                <a:moveTo>
                  <a:pt x="39963" y="0"/>
                </a:moveTo>
                <a:lnTo>
                  <a:pt x="405241" y="0"/>
                </a:lnTo>
                <a:cubicBezTo>
                  <a:pt x="427314" y="0"/>
                  <a:pt x="445204" y="17862"/>
                  <a:pt x="445204" y="39900"/>
                </a:cubicBezTo>
                <a:lnTo>
                  <a:pt x="445204" y="142716"/>
                </a:lnTo>
                <a:cubicBezTo>
                  <a:pt x="467011" y="145738"/>
                  <a:pt x="487037" y="156490"/>
                  <a:pt x="501545" y="173286"/>
                </a:cubicBezTo>
                <a:cubicBezTo>
                  <a:pt x="518723" y="193280"/>
                  <a:pt x="526377" y="219762"/>
                  <a:pt x="522461" y="245799"/>
                </a:cubicBezTo>
                <a:lnTo>
                  <a:pt x="508309" y="340173"/>
                </a:lnTo>
                <a:cubicBezTo>
                  <a:pt x="506529" y="352259"/>
                  <a:pt x="500299" y="363278"/>
                  <a:pt x="490864" y="371187"/>
                </a:cubicBezTo>
                <a:lnTo>
                  <a:pt x="485791" y="375363"/>
                </a:lnTo>
                <a:lnTo>
                  <a:pt x="485791" y="399446"/>
                </a:lnTo>
                <a:cubicBezTo>
                  <a:pt x="486325" y="399534"/>
                  <a:pt x="486859" y="399534"/>
                  <a:pt x="487393" y="399623"/>
                </a:cubicBezTo>
                <a:cubicBezTo>
                  <a:pt x="492644" y="400601"/>
                  <a:pt x="497184" y="403622"/>
                  <a:pt x="500210" y="408065"/>
                </a:cubicBezTo>
                <a:lnTo>
                  <a:pt x="512581" y="426638"/>
                </a:lnTo>
                <a:lnTo>
                  <a:pt x="576309" y="440767"/>
                </a:lnTo>
                <a:cubicBezTo>
                  <a:pt x="594733" y="444855"/>
                  <a:pt x="607639" y="460851"/>
                  <a:pt x="607639" y="479690"/>
                </a:cubicBezTo>
                <a:lnTo>
                  <a:pt x="607639" y="516125"/>
                </a:lnTo>
                <a:cubicBezTo>
                  <a:pt x="607639" y="532476"/>
                  <a:pt x="594199" y="545894"/>
                  <a:pt x="577822" y="545894"/>
                </a:cubicBezTo>
                <a:lnTo>
                  <a:pt x="253042" y="545894"/>
                </a:lnTo>
                <a:cubicBezTo>
                  <a:pt x="236665" y="545894"/>
                  <a:pt x="223225" y="532476"/>
                  <a:pt x="223225" y="516125"/>
                </a:cubicBezTo>
                <a:lnTo>
                  <a:pt x="223225" y="479690"/>
                </a:lnTo>
                <a:cubicBezTo>
                  <a:pt x="223225" y="460851"/>
                  <a:pt x="236131" y="444855"/>
                  <a:pt x="254555" y="440767"/>
                </a:cubicBezTo>
                <a:lnTo>
                  <a:pt x="318283" y="426638"/>
                </a:lnTo>
                <a:lnTo>
                  <a:pt x="330655" y="408065"/>
                </a:lnTo>
                <a:cubicBezTo>
                  <a:pt x="333681" y="403622"/>
                  <a:pt x="338220" y="400601"/>
                  <a:pt x="343471" y="399623"/>
                </a:cubicBezTo>
                <a:cubicBezTo>
                  <a:pt x="344005" y="399534"/>
                  <a:pt x="344539" y="399534"/>
                  <a:pt x="345074" y="399446"/>
                </a:cubicBezTo>
                <a:lnTo>
                  <a:pt x="345074" y="375363"/>
                </a:lnTo>
                <a:lnTo>
                  <a:pt x="340000" y="371187"/>
                </a:lnTo>
                <a:cubicBezTo>
                  <a:pt x="330566" y="363278"/>
                  <a:pt x="324335" y="352259"/>
                  <a:pt x="322555" y="340173"/>
                </a:cubicBezTo>
                <a:lnTo>
                  <a:pt x="321487" y="333064"/>
                </a:lnTo>
                <a:lnTo>
                  <a:pt x="39963" y="333064"/>
                </a:lnTo>
                <a:cubicBezTo>
                  <a:pt x="17890" y="333064"/>
                  <a:pt x="0" y="315202"/>
                  <a:pt x="0" y="293164"/>
                </a:cubicBezTo>
                <a:lnTo>
                  <a:pt x="0" y="39900"/>
                </a:lnTo>
                <a:cubicBezTo>
                  <a:pt x="0" y="17862"/>
                  <a:pt x="17890" y="0"/>
                  <a:pt x="3996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8" name="熊大的PPT宝库26"/>
          <p:cNvSpPr/>
          <p:nvPr/>
        </p:nvSpPr>
        <p:spPr>
          <a:xfrm>
            <a:off x="4976671" y="1487960"/>
            <a:ext cx="203254" cy="203515"/>
          </a:xfrm>
          <a:custGeom>
            <a:avLst/>
            <a:gdLst>
              <a:gd name="connsiteX0" fmla="*/ 454946 w 604816"/>
              <a:gd name="connsiteY0" fmla="*/ 497806 h 605592"/>
              <a:gd name="connsiteX1" fmla="*/ 418928 w 604816"/>
              <a:gd name="connsiteY1" fmla="*/ 532839 h 605592"/>
              <a:gd name="connsiteX2" fmla="*/ 454946 w 604816"/>
              <a:gd name="connsiteY2" fmla="*/ 567872 h 605592"/>
              <a:gd name="connsiteX3" fmla="*/ 490964 w 604816"/>
              <a:gd name="connsiteY3" fmla="*/ 532839 h 605592"/>
              <a:gd name="connsiteX4" fmla="*/ 454946 w 604816"/>
              <a:gd name="connsiteY4" fmla="*/ 497806 h 605592"/>
              <a:gd name="connsiteX5" fmla="*/ 206121 w 604816"/>
              <a:gd name="connsiteY5" fmla="*/ 497806 h 605592"/>
              <a:gd name="connsiteX6" fmla="*/ 170098 w 604816"/>
              <a:gd name="connsiteY6" fmla="*/ 532839 h 605592"/>
              <a:gd name="connsiteX7" fmla="*/ 206121 w 604816"/>
              <a:gd name="connsiteY7" fmla="*/ 567872 h 605592"/>
              <a:gd name="connsiteX8" fmla="*/ 242145 w 604816"/>
              <a:gd name="connsiteY8" fmla="*/ 532839 h 605592"/>
              <a:gd name="connsiteX9" fmla="*/ 206121 w 604816"/>
              <a:gd name="connsiteY9" fmla="*/ 497806 h 605592"/>
              <a:gd name="connsiteX10" fmla="*/ 454946 w 604816"/>
              <a:gd name="connsiteY10" fmla="*/ 460086 h 605592"/>
              <a:gd name="connsiteX11" fmla="*/ 528746 w 604816"/>
              <a:gd name="connsiteY11" fmla="*/ 532839 h 605592"/>
              <a:gd name="connsiteX12" fmla="*/ 454946 w 604816"/>
              <a:gd name="connsiteY12" fmla="*/ 605592 h 605592"/>
              <a:gd name="connsiteX13" fmla="*/ 381053 w 604816"/>
              <a:gd name="connsiteY13" fmla="*/ 532839 h 605592"/>
              <a:gd name="connsiteX14" fmla="*/ 454946 w 604816"/>
              <a:gd name="connsiteY14" fmla="*/ 460086 h 605592"/>
              <a:gd name="connsiteX15" fmla="*/ 206121 w 604816"/>
              <a:gd name="connsiteY15" fmla="*/ 460086 h 605592"/>
              <a:gd name="connsiteX16" fmla="*/ 279933 w 604816"/>
              <a:gd name="connsiteY16" fmla="*/ 532839 h 605592"/>
              <a:gd name="connsiteX17" fmla="*/ 206121 w 604816"/>
              <a:gd name="connsiteY17" fmla="*/ 605592 h 605592"/>
              <a:gd name="connsiteX18" fmla="*/ 132310 w 604816"/>
              <a:gd name="connsiteY18" fmla="*/ 532839 h 605592"/>
              <a:gd name="connsiteX19" fmla="*/ 206121 w 604816"/>
              <a:gd name="connsiteY19" fmla="*/ 460086 h 605592"/>
              <a:gd name="connsiteX20" fmla="*/ 321519 w 604816"/>
              <a:gd name="connsiteY20" fmla="*/ 204216 h 605592"/>
              <a:gd name="connsiteX21" fmla="*/ 340454 w 604816"/>
              <a:gd name="connsiteY21" fmla="*/ 204216 h 605592"/>
              <a:gd name="connsiteX22" fmla="*/ 340454 w 604816"/>
              <a:gd name="connsiteY22" fmla="*/ 287285 h 605592"/>
              <a:gd name="connsiteX23" fmla="*/ 378230 w 604816"/>
              <a:gd name="connsiteY23" fmla="*/ 287285 h 605592"/>
              <a:gd name="connsiteX24" fmla="*/ 330987 w 604816"/>
              <a:gd name="connsiteY24" fmla="*/ 369057 h 605592"/>
              <a:gd name="connsiteX25" fmla="*/ 283743 w 604816"/>
              <a:gd name="connsiteY25" fmla="*/ 287285 h 605592"/>
              <a:gd name="connsiteX26" fmla="*/ 321519 w 604816"/>
              <a:gd name="connsiteY26" fmla="*/ 287285 h 605592"/>
              <a:gd name="connsiteX27" fmla="*/ 106497 w 604816"/>
              <a:gd name="connsiteY27" fmla="*/ 180937 h 605592"/>
              <a:gd name="connsiteX28" fmla="*/ 162856 w 604816"/>
              <a:gd name="connsiteY28" fmla="*/ 392370 h 605592"/>
              <a:gd name="connsiteX29" fmla="*/ 499247 w 604816"/>
              <a:gd name="connsiteY29" fmla="*/ 392370 h 605592"/>
              <a:gd name="connsiteX30" fmla="*/ 555606 w 604816"/>
              <a:gd name="connsiteY30" fmla="*/ 180937 h 605592"/>
              <a:gd name="connsiteX31" fmla="*/ 0 w 604816"/>
              <a:gd name="connsiteY31" fmla="*/ 0 h 605592"/>
              <a:gd name="connsiteX32" fmla="*/ 124046 w 604816"/>
              <a:gd name="connsiteY32" fmla="*/ 0 h 605592"/>
              <a:gd name="connsiteX33" fmla="*/ 162206 w 604816"/>
              <a:gd name="connsiteY33" fmla="*/ 143118 h 605592"/>
              <a:gd name="connsiteX34" fmla="*/ 604816 w 604816"/>
              <a:gd name="connsiteY34" fmla="*/ 143118 h 605592"/>
              <a:gd name="connsiteX35" fmla="*/ 528309 w 604816"/>
              <a:gd name="connsiteY35" fmla="*/ 430096 h 605592"/>
              <a:gd name="connsiteX36" fmla="*/ 133795 w 604816"/>
              <a:gd name="connsiteY36" fmla="*/ 430096 h 605592"/>
              <a:gd name="connsiteX37" fmla="*/ 57288 w 604816"/>
              <a:gd name="connsiteY37" fmla="*/ 143118 h 605592"/>
              <a:gd name="connsiteX38" fmla="*/ 123117 w 604816"/>
              <a:gd name="connsiteY38" fmla="*/ 143118 h 605592"/>
              <a:gd name="connsiteX39" fmla="*/ 94984 w 604816"/>
              <a:gd name="connsiteY39" fmla="*/ 37726 h 605592"/>
              <a:gd name="connsiteX40" fmla="*/ 0 w 604816"/>
              <a:gd name="connsiteY40" fmla="*/ 37726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04816" h="605592">
                <a:moveTo>
                  <a:pt x="454946" y="497806"/>
                </a:moveTo>
                <a:cubicBezTo>
                  <a:pt x="435080" y="497806"/>
                  <a:pt x="418928" y="513562"/>
                  <a:pt x="418928" y="532839"/>
                </a:cubicBezTo>
                <a:cubicBezTo>
                  <a:pt x="418928" y="552209"/>
                  <a:pt x="435080" y="567872"/>
                  <a:pt x="454946" y="567872"/>
                </a:cubicBezTo>
                <a:cubicBezTo>
                  <a:pt x="474812" y="567872"/>
                  <a:pt x="490964" y="552209"/>
                  <a:pt x="490964" y="532839"/>
                </a:cubicBezTo>
                <a:cubicBezTo>
                  <a:pt x="490964" y="513562"/>
                  <a:pt x="474812" y="497806"/>
                  <a:pt x="454946" y="497806"/>
                </a:cubicBezTo>
                <a:close/>
                <a:moveTo>
                  <a:pt x="206121" y="497806"/>
                </a:moveTo>
                <a:cubicBezTo>
                  <a:pt x="186253" y="497806"/>
                  <a:pt x="170098" y="513562"/>
                  <a:pt x="170098" y="532839"/>
                </a:cubicBezTo>
                <a:cubicBezTo>
                  <a:pt x="170098" y="552209"/>
                  <a:pt x="186253" y="567872"/>
                  <a:pt x="206121" y="567872"/>
                </a:cubicBezTo>
                <a:cubicBezTo>
                  <a:pt x="225990" y="567872"/>
                  <a:pt x="242145" y="552209"/>
                  <a:pt x="242145" y="532839"/>
                </a:cubicBezTo>
                <a:cubicBezTo>
                  <a:pt x="242145" y="513562"/>
                  <a:pt x="225990" y="497806"/>
                  <a:pt x="206121" y="497806"/>
                </a:cubicBezTo>
                <a:close/>
                <a:moveTo>
                  <a:pt x="454946" y="460086"/>
                </a:moveTo>
                <a:cubicBezTo>
                  <a:pt x="495698" y="460086"/>
                  <a:pt x="528746" y="492616"/>
                  <a:pt x="528746" y="532839"/>
                </a:cubicBezTo>
                <a:cubicBezTo>
                  <a:pt x="528746" y="573062"/>
                  <a:pt x="495698" y="605592"/>
                  <a:pt x="454946" y="605592"/>
                </a:cubicBezTo>
                <a:cubicBezTo>
                  <a:pt x="414193" y="605592"/>
                  <a:pt x="381053" y="573062"/>
                  <a:pt x="381053" y="532839"/>
                </a:cubicBezTo>
                <a:cubicBezTo>
                  <a:pt x="381053" y="492616"/>
                  <a:pt x="414193" y="460086"/>
                  <a:pt x="454946" y="460086"/>
                </a:cubicBezTo>
                <a:close/>
                <a:moveTo>
                  <a:pt x="206121" y="460086"/>
                </a:moveTo>
                <a:cubicBezTo>
                  <a:pt x="246973" y="460086"/>
                  <a:pt x="279933" y="492616"/>
                  <a:pt x="279933" y="532839"/>
                </a:cubicBezTo>
                <a:cubicBezTo>
                  <a:pt x="279933" y="573062"/>
                  <a:pt x="246880" y="605592"/>
                  <a:pt x="206121" y="605592"/>
                </a:cubicBezTo>
                <a:cubicBezTo>
                  <a:pt x="165363" y="605592"/>
                  <a:pt x="132310" y="573062"/>
                  <a:pt x="132310" y="532839"/>
                </a:cubicBezTo>
                <a:cubicBezTo>
                  <a:pt x="132310" y="492616"/>
                  <a:pt x="165363" y="460086"/>
                  <a:pt x="206121" y="460086"/>
                </a:cubicBezTo>
                <a:close/>
                <a:moveTo>
                  <a:pt x="321519" y="204216"/>
                </a:moveTo>
                <a:lnTo>
                  <a:pt x="340454" y="204216"/>
                </a:lnTo>
                <a:lnTo>
                  <a:pt x="340454" y="287285"/>
                </a:lnTo>
                <a:lnTo>
                  <a:pt x="378230" y="287285"/>
                </a:lnTo>
                <a:lnTo>
                  <a:pt x="330987" y="369057"/>
                </a:lnTo>
                <a:lnTo>
                  <a:pt x="283743" y="287285"/>
                </a:lnTo>
                <a:lnTo>
                  <a:pt x="321519" y="287285"/>
                </a:lnTo>
                <a:close/>
                <a:moveTo>
                  <a:pt x="106497" y="180937"/>
                </a:moveTo>
                <a:lnTo>
                  <a:pt x="162856" y="392370"/>
                </a:lnTo>
                <a:lnTo>
                  <a:pt x="499247" y="392370"/>
                </a:lnTo>
                <a:lnTo>
                  <a:pt x="555606" y="180937"/>
                </a:lnTo>
                <a:close/>
                <a:moveTo>
                  <a:pt x="0" y="0"/>
                </a:moveTo>
                <a:lnTo>
                  <a:pt x="124046" y="0"/>
                </a:lnTo>
                <a:lnTo>
                  <a:pt x="162206" y="143118"/>
                </a:lnTo>
                <a:lnTo>
                  <a:pt x="604816" y="143118"/>
                </a:lnTo>
                <a:lnTo>
                  <a:pt x="528309" y="430096"/>
                </a:lnTo>
                <a:lnTo>
                  <a:pt x="133795" y="430096"/>
                </a:lnTo>
                <a:lnTo>
                  <a:pt x="57288" y="143118"/>
                </a:lnTo>
                <a:lnTo>
                  <a:pt x="123117" y="143118"/>
                </a:lnTo>
                <a:lnTo>
                  <a:pt x="94984" y="37726"/>
                </a:lnTo>
                <a:lnTo>
                  <a:pt x="0" y="3772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29" name="熊大的PPT宝库27"/>
          <p:cNvSpPr/>
          <p:nvPr/>
        </p:nvSpPr>
        <p:spPr>
          <a:xfrm>
            <a:off x="5530649" y="1510941"/>
            <a:ext cx="361068" cy="361068"/>
          </a:xfrm>
          <a:prstGeom prst="ellipse">
            <a:avLst/>
          </a:prstGeom>
          <a:solidFill>
            <a:schemeClr val="accent1">
              <a:lumMod val="20000"/>
              <a:lumOff val="8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公域</a:t>
            </a:r>
          </a:p>
        </p:txBody>
      </p:sp>
      <p:sp>
        <p:nvSpPr>
          <p:cNvPr id="30" name="熊大的PPT宝库28"/>
          <p:cNvSpPr/>
          <p:nvPr/>
        </p:nvSpPr>
        <p:spPr>
          <a:xfrm>
            <a:off x="6291972" y="1510941"/>
            <a:ext cx="361068" cy="361068"/>
          </a:xfrm>
          <a:prstGeom prst="ellipse">
            <a:avLst/>
          </a:prstGeom>
          <a:solidFill>
            <a:schemeClr val="accent1">
              <a:lumMod val="20000"/>
              <a:lumOff val="8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私域</a:t>
            </a:r>
          </a:p>
        </p:txBody>
      </p:sp>
      <p:sp>
        <p:nvSpPr>
          <p:cNvPr id="31" name="熊大的PPT宝库29"/>
          <p:cNvSpPr/>
          <p:nvPr/>
        </p:nvSpPr>
        <p:spPr>
          <a:xfrm>
            <a:off x="6941778" y="1476130"/>
            <a:ext cx="217856" cy="189876"/>
          </a:xfrm>
          <a:custGeom>
            <a:avLst/>
            <a:gdLst>
              <a:gd name="T0" fmla="*/ 9855 w 11597"/>
              <a:gd name="T1" fmla="*/ 1881 h 10106"/>
              <a:gd name="T2" fmla="*/ 4578 w 11597"/>
              <a:gd name="T3" fmla="*/ 536 h 10106"/>
              <a:gd name="T4" fmla="*/ 1766 w 11597"/>
              <a:gd name="T5" fmla="*/ 7487 h 10106"/>
              <a:gd name="T6" fmla="*/ 1836 w 11597"/>
              <a:gd name="T7" fmla="*/ 7963 h 10106"/>
              <a:gd name="T8" fmla="*/ 1486 w 11597"/>
              <a:gd name="T9" fmla="*/ 9257 h 10106"/>
              <a:gd name="T10" fmla="*/ 1594 w 11597"/>
              <a:gd name="T11" fmla="*/ 9907 h 10106"/>
              <a:gd name="T12" fmla="*/ 2297 w 11597"/>
              <a:gd name="T13" fmla="*/ 9942 h 10106"/>
              <a:gd name="T14" fmla="*/ 3494 w 11597"/>
              <a:gd name="T15" fmla="*/ 9337 h 10106"/>
              <a:gd name="T16" fmla="*/ 4268 w 11597"/>
              <a:gd name="T17" fmla="*/ 9272 h 10106"/>
              <a:gd name="T18" fmla="*/ 5743 w 11597"/>
              <a:gd name="T19" fmla="*/ 9581 h 10106"/>
              <a:gd name="T20" fmla="*/ 9918 w 11597"/>
              <a:gd name="T21" fmla="*/ 7963 h 10106"/>
              <a:gd name="T22" fmla="*/ 9855 w 11597"/>
              <a:gd name="T23" fmla="*/ 1881 h 10106"/>
              <a:gd name="T24" fmla="*/ 9192 w 11597"/>
              <a:gd name="T25" fmla="*/ 7302 h 10106"/>
              <a:gd name="T26" fmla="*/ 4570 w 11597"/>
              <a:gd name="T27" fmla="*/ 8334 h 10106"/>
              <a:gd name="T28" fmla="*/ 3044 w 11597"/>
              <a:gd name="T29" fmla="*/ 8427 h 10106"/>
              <a:gd name="T30" fmla="*/ 2713 w 11597"/>
              <a:gd name="T31" fmla="*/ 8538 h 10106"/>
              <a:gd name="T32" fmla="*/ 2448 w 11597"/>
              <a:gd name="T33" fmla="*/ 6702 h 10106"/>
              <a:gd name="T34" fmla="*/ 2783 w 11597"/>
              <a:gd name="T35" fmla="*/ 2718 h 10106"/>
              <a:gd name="T36" fmla="*/ 9316 w 11597"/>
              <a:gd name="T37" fmla="*/ 2720 h 10106"/>
              <a:gd name="T38" fmla="*/ 9192 w 11597"/>
              <a:gd name="T39" fmla="*/ 7302 h 10106"/>
              <a:gd name="T40" fmla="*/ 7652 w 11597"/>
              <a:gd name="T41" fmla="*/ 3497 h 10106"/>
              <a:gd name="T42" fmla="*/ 7040 w 11597"/>
              <a:gd name="T43" fmla="*/ 4061 h 10106"/>
              <a:gd name="T44" fmla="*/ 7581 w 11597"/>
              <a:gd name="T45" fmla="*/ 4689 h 10106"/>
              <a:gd name="T46" fmla="*/ 8226 w 11597"/>
              <a:gd name="T47" fmla="*/ 4161 h 10106"/>
              <a:gd name="T48" fmla="*/ 7652 w 11597"/>
              <a:gd name="T49" fmla="*/ 3497 h 10106"/>
              <a:gd name="T50" fmla="*/ 4463 w 11597"/>
              <a:gd name="T51" fmla="*/ 3496 h 10106"/>
              <a:gd name="T52" fmla="*/ 3878 w 11597"/>
              <a:gd name="T53" fmla="*/ 4147 h 10106"/>
              <a:gd name="T54" fmla="*/ 4506 w 11597"/>
              <a:gd name="T55" fmla="*/ 4688 h 10106"/>
              <a:gd name="T56" fmla="*/ 5070 w 11597"/>
              <a:gd name="T57" fmla="*/ 4075 h 10106"/>
              <a:gd name="T58" fmla="*/ 4463 w 11597"/>
              <a:gd name="T59" fmla="*/ 3496 h 10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597" h="10106">
                <a:moveTo>
                  <a:pt x="9855" y="1881"/>
                </a:moveTo>
                <a:cubicBezTo>
                  <a:pt x="8371" y="423"/>
                  <a:pt x="6564" y="0"/>
                  <a:pt x="4578" y="536"/>
                </a:cubicBezTo>
                <a:cubicBezTo>
                  <a:pt x="1082" y="1479"/>
                  <a:pt x="0" y="5116"/>
                  <a:pt x="1766" y="7487"/>
                </a:cubicBezTo>
                <a:cubicBezTo>
                  <a:pt x="1852" y="7602"/>
                  <a:pt x="1868" y="7814"/>
                  <a:pt x="1836" y="7963"/>
                </a:cubicBezTo>
                <a:cubicBezTo>
                  <a:pt x="1741" y="8399"/>
                  <a:pt x="1602" y="8825"/>
                  <a:pt x="1486" y="9257"/>
                </a:cubicBezTo>
                <a:cubicBezTo>
                  <a:pt x="1424" y="9487"/>
                  <a:pt x="1387" y="9722"/>
                  <a:pt x="1594" y="9907"/>
                </a:cubicBezTo>
                <a:cubicBezTo>
                  <a:pt x="1816" y="10106"/>
                  <a:pt x="2054" y="10065"/>
                  <a:pt x="2297" y="9942"/>
                </a:cubicBezTo>
                <a:cubicBezTo>
                  <a:pt x="2695" y="9739"/>
                  <a:pt x="3101" y="9550"/>
                  <a:pt x="3494" y="9337"/>
                </a:cubicBezTo>
                <a:cubicBezTo>
                  <a:pt x="3750" y="9199"/>
                  <a:pt x="3980" y="9192"/>
                  <a:pt x="4268" y="9272"/>
                </a:cubicBezTo>
                <a:cubicBezTo>
                  <a:pt x="4844" y="9432"/>
                  <a:pt x="5440" y="9520"/>
                  <a:pt x="5743" y="9581"/>
                </a:cubicBezTo>
                <a:cubicBezTo>
                  <a:pt x="7547" y="9549"/>
                  <a:pt x="8863" y="9060"/>
                  <a:pt x="9918" y="7963"/>
                </a:cubicBezTo>
                <a:cubicBezTo>
                  <a:pt x="11597" y="6216"/>
                  <a:pt x="11584" y="3580"/>
                  <a:pt x="9855" y="1881"/>
                </a:cubicBezTo>
                <a:close/>
                <a:moveTo>
                  <a:pt x="9192" y="7302"/>
                </a:moveTo>
                <a:cubicBezTo>
                  <a:pt x="7884" y="8601"/>
                  <a:pt x="6292" y="8911"/>
                  <a:pt x="4570" y="8334"/>
                </a:cubicBezTo>
                <a:cubicBezTo>
                  <a:pt x="4003" y="8143"/>
                  <a:pt x="3537" y="8094"/>
                  <a:pt x="3044" y="8427"/>
                </a:cubicBezTo>
                <a:cubicBezTo>
                  <a:pt x="2999" y="8458"/>
                  <a:pt x="2939" y="8464"/>
                  <a:pt x="2713" y="8538"/>
                </a:cubicBezTo>
                <a:cubicBezTo>
                  <a:pt x="3166" y="7752"/>
                  <a:pt x="2830" y="7260"/>
                  <a:pt x="2448" y="6702"/>
                </a:cubicBezTo>
                <a:cubicBezTo>
                  <a:pt x="1599" y="5464"/>
                  <a:pt x="1773" y="3869"/>
                  <a:pt x="2783" y="2718"/>
                </a:cubicBezTo>
                <a:cubicBezTo>
                  <a:pt x="4433" y="837"/>
                  <a:pt x="7665" y="838"/>
                  <a:pt x="9316" y="2720"/>
                </a:cubicBezTo>
                <a:cubicBezTo>
                  <a:pt x="10512" y="4085"/>
                  <a:pt x="10487" y="6017"/>
                  <a:pt x="9192" y="7302"/>
                </a:cubicBezTo>
                <a:close/>
                <a:moveTo>
                  <a:pt x="7652" y="3497"/>
                </a:moveTo>
                <a:cubicBezTo>
                  <a:pt x="7324" y="3485"/>
                  <a:pt x="7059" y="3729"/>
                  <a:pt x="7040" y="4061"/>
                </a:cubicBezTo>
                <a:cubicBezTo>
                  <a:pt x="7021" y="4401"/>
                  <a:pt x="7248" y="4664"/>
                  <a:pt x="7581" y="4689"/>
                </a:cubicBezTo>
                <a:cubicBezTo>
                  <a:pt x="7914" y="4714"/>
                  <a:pt x="8192" y="4486"/>
                  <a:pt x="8226" y="4161"/>
                </a:cubicBezTo>
                <a:cubicBezTo>
                  <a:pt x="8262" y="3818"/>
                  <a:pt x="7995" y="3509"/>
                  <a:pt x="7652" y="3497"/>
                </a:cubicBezTo>
                <a:close/>
                <a:moveTo>
                  <a:pt x="4463" y="3496"/>
                </a:moveTo>
                <a:cubicBezTo>
                  <a:pt x="4116" y="3499"/>
                  <a:pt x="3852" y="3792"/>
                  <a:pt x="3878" y="4147"/>
                </a:cubicBezTo>
                <a:cubicBezTo>
                  <a:pt x="3902" y="4479"/>
                  <a:pt x="4167" y="4708"/>
                  <a:pt x="4506" y="4688"/>
                </a:cubicBezTo>
                <a:cubicBezTo>
                  <a:pt x="4837" y="4669"/>
                  <a:pt x="5083" y="4402"/>
                  <a:pt x="5070" y="4075"/>
                </a:cubicBezTo>
                <a:cubicBezTo>
                  <a:pt x="5058" y="3758"/>
                  <a:pt x="4781" y="3494"/>
                  <a:pt x="4463" y="349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32" name="熊大的PPT宝库30"/>
          <p:cNvSpPr/>
          <p:nvPr/>
        </p:nvSpPr>
        <p:spPr>
          <a:xfrm>
            <a:off x="7460460" y="1484971"/>
            <a:ext cx="200154" cy="200154"/>
          </a:xfrm>
          <a:custGeom>
            <a:avLst/>
            <a:gdLst>
              <a:gd name="T0" fmla="*/ 4569 w 9137"/>
              <a:gd name="T1" fmla="*/ 0 h 9137"/>
              <a:gd name="T2" fmla="*/ 0 w 9137"/>
              <a:gd name="T3" fmla="*/ 4569 h 9137"/>
              <a:gd name="T4" fmla="*/ 4569 w 9137"/>
              <a:gd name="T5" fmla="*/ 9137 h 9137"/>
              <a:gd name="T6" fmla="*/ 9137 w 9137"/>
              <a:gd name="T7" fmla="*/ 4569 h 9137"/>
              <a:gd name="T8" fmla="*/ 4569 w 9137"/>
              <a:gd name="T9" fmla="*/ 0 h 9137"/>
              <a:gd name="T10" fmla="*/ 4451 w 9137"/>
              <a:gd name="T11" fmla="*/ 5591 h 9137"/>
              <a:gd name="T12" fmla="*/ 4451 w 9137"/>
              <a:gd name="T13" fmla="*/ 4047 h 9137"/>
              <a:gd name="T14" fmla="*/ 4841 w 9137"/>
              <a:gd name="T15" fmla="*/ 4047 h 9137"/>
              <a:gd name="T16" fmla="*/ 4934 w 9137"/>
              <a:gd name="T17" fmla="*/ 4077 h 9137"/>
              <a:gd name="T18" fmla="*/ 4921 w 9137"/>
              <a:gd name="T19" fmla="*/ 4140 h 9137"/>
              <a:gd name="T20" fmla="*/ 4888 w 9137"/>
              <a:gd name="T21" fmla="*/ 4401 h 9137"/>
              <a:gd name="T22" fmla="*/ 4888 w 9137"/>
              <a:gd name="T23" fmla="*/ 4655 h 9137"/>
              <a:gd name="T24" fmla="*/ 5743 w 9137"/>
              <a:gd name="T25" fmla="*/ 4655 h 9137"/>
              <a:gd name="T26" fmla="*/ 5743 w 9137"/>
              <a:gd name="T27" fmla="*/ 5012 h 9137"/>
              <a:gd name="T28" fmla="*/ 4888 w 9137"/>
              <a:gd name="T29" fmla="*/ 5012 h 9137"/>
              <a:gd name="T30" fmla="*/ 4888 w 9137"/>
              <a:gd name="T31" fmla="*/ 5591 h 9137"/>
              <a:gd name="T32" fmla="*/ 5999 w 9137"/>
              <a:gd name="T33" fmla="*/ 5591 h 9137"/>
              <a:gd name="T34" fmla="*/ 5999 w 9137"/>
              <a:gd name="T35" fmla="*/ 5959 h 9137"/>
              <a:gd name="T36" fmla="*/ 3112 w 9137"/>
              <a:gd name="T37" fmla="*/ 5959 h 9137"/>
              <a:gd name="T38" fmla="*/ 3112 w 9137"/>
              <a:gd name="T39" fmla="*/ 5591 h 9137"/>
              <a:gd name="T40" fmla="*/ 3605 w 9137"/>
              <a:gd name="T41" fmla="*/ 5591 h 9137"/>
              <a:gd name="T42" fmla="*/ 3605 w 9137"/>
              <a:gd name="T43" fmla="*/ 4398 h 9137"/>
              <a:gd name="T44" fmla="*/ 3988 w 9137"/>
              <a:gd name="T45" fmla="*/ 4398 h 9137"/>
              <a:gd name="T46" fmla="*/ 4075 w 9137"/>
              <a:gd name="T47" fmla="*/ 4426 h 9137"/>
              <a:gd name="T48" fmla="*/ 4058 w 9137"/>
              <a:gd name="T49" fmla="*/ 4495 h 9137"/>
              <a:gd name="T50" fmla="*/ 4025 w 9137"/>
              <a:gd name="T51" fmla="*/ 4752 h 9137"/>
              <a:gd name="T52" fmla="*/ 4025 w 9137"/>
              <a:gd name="T53" fmla="*/ 5591 h 9137"/>
              <a:gd name="T54" fmla="*/ 4451 w 9137"/>
              <a:gd name="T55" fmla="*/ 5591 h 9137"/>
              <a:gd name="T56" fmla="*/ 5880 w 9137"/>
              <a:gd name="T57" fmla="*/ 4495 h 9137"/>
              <a:gd name="T58" fmla="*/ 4588 w 9137"/>
              <a:gd name="T59" fmla="*/ 3455 h 9137"/>
              <a:gd name="T60" fmla="*/ 3259 w 9137"/>
              <a:gd name="T61" fmla="*/ 4501 h 9137"/>
              <a:gd name="T62" fmla="*/ 2946 w 9137"/>
              <a:gd name="T63" fmla="*/ 4164 h 9137"/>
              <a:gd name="T64" fmla="*/ 4398 w 9137"/>
              <a:gd name="T65" fmla="*/ 2870 h 9137"/>
              <a:gd name="T66" fmla="*/ 4884 w 9137"/>
              <a:gd name="T67" fmla="*/ 3000 h 9137"/>
              <a:gd name="T68" fmla="*/ 4911 w 9137"/>
              <a:gd name="T69" fmla="*/ 3037 h 9137"/>
              <a:gd name="T70" fmla="*/ 4874 w 9137"/>
              <a:gd name="T71" fmla="*/ 3091 h 9137"/>
              <a:gd name="T72" fmla="*/ 4818 w 9137"/>
              <a:gd name="T73" fmla="*/ 3134 h 9137"/>
              <a:gd name="T74" fmla="*/ 5381 w 9137"/>
              <a:gd name="T75" fmla="*/ 3711 h 9137"/>
              <a:gd name="T76" fmla="*/ 6192 w 9137"/>
              <a:gd name="T77" fmla="*/ 4067 h 9137"/>
              <a:gd name="T78" fmla="*/ 5880 w 9137"/>
              <a:gd name="T79" fmla="*/ 4495 h 9137"/>
              <a:gd name="T80" fmla="*/ 7507 w 9137"/>
              <a:gd name="T81" fmla="*/ 5845 h 9137"/>
              <a:gd name="T82" fmla="*/ 7428 w 9137"/>
              <a:gd name="T83" fmla="*/ 6021 h 9137"/>
              <a:gd name="T84" fmla="*/ 7060 w 9137"/>
              <a:gd name="T85" fmla="*/ 6015 h 9137"/>
              <a:gd name="T86" fmla="*/ 7046 w 9137"/>
              <a:gd name="T87" fmla="*/ 5612 h 9137"/>
              <a:gd name="T88" fmla="*/ 6500 w 9137"/>
              <a:gd name="T89" fmla="*/ 2705 h 9137"/>
              <a:gd name="T90" fmla="*/ 2706 w 9137"/>
              <a:gd name="T91" fmla="*/ 2645 h 9137"/>
              <a:gd name="T92" fmla="*/ 2645 w 9137"/>
              <a:gd name="T93" fmla="*/ 6435 h 9137"/>
              <a:gd name="T94" fmla="*/ 5671 w 9137"/>
              <a:gd name="T95" fmla="*/ 7011 h 9137"/>
              <a:gd name="T96" fmla="*/ 6065 w 9137"/>
              <a:gd name="T97" fmla="*/ 6978 h 9137"/>
              <a:gd name="T98" fmla="*/ 6101 w 9137"/>
              <a:gd name="T99" fmla="*/ 7379 h 9137"/>
              <a:gd name="T100" fmla="*/ 2273 w 9137"/>
              <a:gd name="T101" fmla="*/ 6796 h 9137"/>
              <a:gd name="T102" fmla="*/ 2345 w 9137"/>
              <a:gd name="T103" fmla="*/ 2272 h 9137"/>
              <a:gd name="T104" fmla="*/ 6875 w 9137"/>
              <a:gd name="T105" fmla="*/ 2344 h 9137"/>
              <a:gd name="T106" fmla="*/ 7507 w 9137"/>
              <a:gd name="T107" fmla="*/ 5845 h 9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137" h="9137">
                <a:moveTo>
                  <a:pt x="4569" y="0"/>
                </a:moveTo>
                <a:cubicBezTo>
                  <a:pt x="2045" y="0"/>
                  <a:pt x="0" y="2046"/>
                  <a:pt x="0" y="4569"/>
                </a:cubicBezTo>
                <a:cubicBezTo>
                  <a:pt x="0" y="7092"/>
                  <a:pt x="2045" y="9137"/>
                  <a:pt x="4569" y="9137"/>
                </a:cubicBezTo>
                <a:cubicBezTo>
                  <a:pt x="7092" y="9137"/>
                  <a:pt x="9137" y="7092"/>
                  <a:pt x="9137" y="4569"/>
                </a:cubicBezTo>
                <a:cubicBezTo>
                  <a:pt x="9137" y="2046"/>
                  <a:pt x="7092" y="0"/>
                  <a:pt x="4569" y="0"/>
                </a:cubicBezTo>
                <a:close/>
                <a:moveTo>
                  <a:pt x="4451" y="5591"/>
                </a:moveTo>
                <a:lnTo>
                  <a:pt x="4451" y="4047"/>
                </a:lnTo>
                <a:lnTo>
                  <a:pt x="4841" y="4047"/>
                </a:lnTo>
                <a:cubicBezTo>
                  <a:pt x="4903" y="4047"/>
                  <a:pt x="4934" y="4056"/>
                  <a:pt x="4934" y="4077"/>
                </a:cubicBezTo>
                <a:cubicBezTo>
                  <a:pt x="4934" y="4097"/>
                  <a:pt x="4929" y="4118"/>
                  <a:pt x="4921" y="4140"/>
                </a:cubicBezTo>
                <a:cubicBezTo>
                  <a:pt x="4899" y="4196"/>
                  <a:pt x="4888" y="4283"/>
                  <a:pt x="4888" y="4401"/>
                </a:cubicBezTo>
                <a:lnTo>
                  <a:pt x="4888" y="4655"/>
                </a:lnTo>
                <a:lnTo>
                  <a:pt x="5743" y="4655"/>
                </a:lnTo>
                <a:lnTo>
                  <a:pt x="5743" y="5012"/>
                </a:lnTo>
                <a:lnTo>
                  <a:pt x="4888" y="5012"/>
                </a:lnTo>
                <a:lnTo>
                  <a:pt x="4888" y="5591"/>
                </a:lnTo>
                <a:lnTo>
                  <a:pt x="5999" y="5591"/>
                </a:lnTo>
                <a:lnTo>
                  <a:pt x="5999" y="5959"/>
                </a:lnTo>
                <a:lnTo>
                  <a:pt x="3112" y="5959"/>
                </a:lnTo>
                <a:lnTo>
                  <a:pt x="3112" y="5591"/>
                </a:lnTo>
                <a:lnTo>
                  <a:pt x="3605" y="5591"/>
                </a:lnTo>
                <a:lnTo>
                  <a:pt x="3605" y="4398"/>
                </a:lnTo>
                <a:lnTo>
                  <a:pt x="3988" y="4398"/>
                </a:lnTo>
                <a:cubicBezTo>
                  <a:pt x="4046" y="4398"/>
                  <a:pt x="4075" y="4407"/>
                  <a:pt x="4075" y="4426"/>
                </a:cubicBezTo>
                <a:cubicBezTo>
                  <a:pt x="4075" y="4445"/>
                  <a:pt x="4069" y="4468"/>
                  <a:pt x="4058" y="4495"/>
                </a:cubicBezTo>
                <a:cubicBezTo>
                  <a:pt x="4036" y="4550"/>
                  <a:pt x="4025" y="4636"/>
                  <a:pt x="4025" y="4752"/>
                </a:cubicBezTo>
                <a:lnTo>
                  <a:pt x="4025" y="5591"/>
                </a:lnTo>
                <a:lnTo>
                  <a:pt x="4451" y="5591"/>
                </a:lnTo>
                <a:close/>
                <a:moveTo>
                  <a:pt x="5880" y="4495"/>
                </a:moveTo>
                <a:cubicBezTo>
                  <a:pt x="5307" y="4230"/>
                  <a:pt x="4876" y="3883"/>
                  <a:pt x="4588" y="3455"/>
                </a:cubicBezTo>
                <a:cubicBezTo>
                  <a:pt x="4310" y="3852"/>
                  <a:pt x="3867" y="4200"/>
                  <a:pt x="3259" y="4501"/>
                </a:cubicBezTo>
                <a:cubicBezTo>
                  <a:pt x="3137" y="4348"/>
                  <a:pt x="3033" y="4235"/>
                  <a:pt x="2946" y="4164"/>
                </a:cubicBezTo>
                <a:cubicBezTo>
                  <a:pt x="3681" y="3907"/>
                  <a:pt x="4165" y="3476"/>
                  <a:pt x="4398" y="2870"/>
                </a:cubicBezTo>
                <a:cubicBezTo>
                  <a:pt x="4704" y="2948"/>
                  <a:pt x="4866" y="2992"/>
                  <a:pt x="4884" y="3000"/>
                </a:cubicBezTo>
                <a:cubicBezTo>
                  <a:pt x="4902" y="3009"/>
                  <a:pt x="4911" y="3022"/>
                  <a:pt x="4911" y="3037"/>
                </a:cubicBezTo>
                <a:cubicBezTo>
                  <a:pt x="4911" y="3057"/>
                  <a:pt x="4899" y="3075"/>
                  <a:pt x="4874" y="3091"/>
                </a:cubicBezTo>
                <a:cubicBezTo>
                  <a:pt x="4850" y="3106"/>
                  <a:pt x="4831" y="3121"/>
                  <a:pt x="4818" y="3134"/>
                </a:cubicBezTo>
                <a:cubicBezTo>
                  <a:pt x="4953" y="3355"/>
                  <a:pt x="5140" y="3547"/>
                  <a:pt x="5381" y="3711"/>
                </a:cubicBezTo>
                <a:cubicBezTo>
                  <a:pt x="5621" y="3875"/>
                  <a:pt x="5890" y="3993"/>
                  <a:pt x="6192" y="4067"/>
                </a:cubicBezTo>
                <a:cubicBezTo>
                  <a:pt x="6099" y="4172"/>
                  <a:pt x="5995" y="4314"/>
                  <a:pt x="5880" y="4495"/>
                </a:cubicBezTo>
                <a:close/>
                <a:moveTo>
                  <a:pt x="7507" y="5845"/>
                </a:moveTo>
                <a:cubicBezTo>
                  <a:pt x="7503" y="5908"/>
                  <a:pt x="7478" y="5972"/>
                  <a:pt x="7428" y="6021"/>
                </a:cubicBezTo>
                <a:cubicBezTo>
                  <a:pt x="7323" y="6120"/>
                  <a:pt x="7159" y="6118"/>
                  <a:pt x="7060" y="6015"/>
                </a:cubicBezTo>
                <a:cubicBezTo>
                  <a:pt x="6897" y="5847"/>
                  <a:pt x="7046" y="5612"/>
                  <a:pt x="7046" y="5612"/>
                </a:cubicBezTo>
                <a:cubicBezTo>
                  <a:pt x="7451" y="4651"/>
                  <a:pt x="7272" y="3500"/>
                  <a:pt x="6500" y="2705"/>
                </a:cubicBezTo>
                <a:cubicBezTo>
                  <a:pt x="5470" y="1642"/>
                  <a:pt x="3771" y="1615"/>
                  <a:pt x="2706" y="2645"/>
                </a:cubicBezTo>
                <a:cubicBezTo>
                  <a:pt x="1641" y="3675"/>
                  <a:pt x="1614" y="5372"/>
                  <a:pt x="2645" y="6435"/>
                </a:cubicBezTo>
                <a:cubicBezTo>
                  <a:pt x="3453" y="7267"/>
                  <a:pt x="4668" y="7460"/>
                  <a:pt x="5671" y="7011"/>
                </a:cubicBezTo>
                <a:cubicBezTo>
                  <a:pt x="5876" y="6890"/>
                  <a:pt x="5991" y="6905"/>
                  <a:pt x="6065" y="6978"/>
                </a:cubicBezTo>
                <a:cubicBezTo>
                  <a:pt x="6286" y="7194"/>
                  <a:pt x="6101" y="7379"/>
                  <a:pt x="6101" y="7379"/>
                </a:cubicBezTo>
                <a:cubicBezTo>
                  <a:pt x="4870" y="8048"/>
                  <a:pt x="3296" y="7850"/>
                  <a:pt x="2273" y="6796"/>
                </a:cubicBezTo>
                <a:cubicBezTo>
                  <a:pt x="1042" y="5526"/>
                  <a:pt x="1075" y="3501"/>
                  <a:pt x="2345" y="2272"/>
                </a:cubicBezTo>
                <a:cubicBezTo>
                  <a:pt x="3616" y="1043"/>
                  <a:pt x="5644" y="1075"/>
                  <a:pt x="6875" y="2344"/>
                </a:cubicBezTo>
                <a:cubicBezTo>
                  <a:pt x="7804" y="3302"/>
                  <a:pt x="8007" y="4691"/>
                  <a:pt x="7507" y="5845"/>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33" name="熊大的PPT宝库31"/>
          <p:cNvSpPr/>
          <p:nvPr/>
        </p:nvSpPr>
        <p:spPr>
          <a:xfrm>
            <a:off x="7949960" y="1475098"/>
            <a:ext cx="188019" cy="216377"/>
          </a:xfrm>
          <a:custGeom>
            <a:avLst/>
            <a:gdLst>
              <a:gd name="T0" fmla="*/ 9745 w 10344"/>
              <a:gd name="T1" fmla="*/ 5899 h 11906"/>
              <a:gd name="T2" fmla="*/ 9116 w 10344"/>
              <a:gd name="T3" fmla="*/ 4010 h 11906"/>
              <a:gd name="T4" fmla="*/ 4039 w 10344"/>
              <a:gd name="T5" fmla="*/ 721 h 11906"/>
              <a:gd name="T6" fmla="*/ 1258 w 10344"/>
              <a:gd name="T7" fmla="*/ 3852 h 11906"/>
              <a:gd name="T8" fmla="*/ 547 w 10344"/>
              <a:gd name="T9" fmla="*/ 5975 h 11906"/>
              <a:gd name="T10" fmla="*/ 57 w 10344"/>
              <a:gd name="T11" fmla="*/ 8216 h 11906"/>
              <a:gd name="T12" fmla="*/ 569 w 10344"/>
              <a:gd name="T13" fmla="*/ 9431 h 11906"/>
              <a:gd name="T14" fmla="*/ 767 w 10344"/>
              <a:gd name="T15" fmla="*/ 9836 h 11906"/>
              <a:gd name="T16" fmla="*/ 2107 w 10344"/>
              <a:gd name="T17" fmla="*/ 11594 h 11906"/>
              <a:gd name="T18" fmla="*/ 4805 w 10344"/>
              <a:gd name="T19" fmla="*/ 11520 h 11906"/>
              <a:gd name="T20" fmla="*/ 5493 w 10344"/>
              <a:gd name="T21" fmla="*/ 11505 h 11906"/>
              <a:gd name="T22" fmla="*/ 7777 w 10344"/>
              <a:gd name="T23" fmla="*/ 11723 h 11906"/>
              <a:gd name="T24" fmla="*/ 9557 w 10344"/>
              <a:gd name="T25" fmla="*/ 9603 h 11906"/>
              <a:gd name="T26" fmla="*/ 10242 w 10344"/>
              <a:gd name="T27" fmla="*/ 8440 h 11906"/>
              <a:gd name="T28" fmla="*/ 9745 w 10344"/>
              <a:gd name="T29" fmla="*/ 5899 h 11906"/>
              <a:gd name="T30" fmla="*/ 9245 w 10344"/>
              <a:gd name="T31" fmla="*/ 8002 h 11906"/>
              <a:gd name="T32" fmla="*/ 9057 w 10344"/>
              <a:gd name="T33" fmla="*/ 8836 h 11906"/>
              <a:gd name="T34" fmla="*/ 8373 w 10344"/>
              <a:gd name="T35" fmla="*/ 8257 h 11906"/>
              <a:gd name="T36" fmla="*/ 7716 w 10344"/>
              <a:gd name="T37" fmla="*/ 9263 h 11906"/>
              <a:gd name="T38" fmla="*/ 8125 w 10344"/>
              <a:gd name="T39" fmla="*/ 9496 h 11906"/>
              <a:gd name="T40" fmla="*/ 8502 w 10344"/>
              <a:gd name="T41" fmla="*/ 10005 h 11906"/>
              <a:gd name="T42" fmla="*/ 8079 w 10344"/>
              <a:gd name="T43" fmla="*/ 10539 h 11906"/>
              <a:gd name="T44" fmla="*/ 5885 w 10344"/>
              <a:gd name="T45" fmla="*/ 10545 h 11906"/>
              <a:gd name="T46" fmla="*/ 4455 w 10344"/>
              <a:gd name="T47" fmla="*/ 10539 h 11906"/>
              <a:gd name="T48" fmla="*/ 2370 w 10344"/>
              <a:gd name="T49" fmla="*/ 10601 h 11906"/>
              <a:gd name="T50" fmla="*/ 2150 w 10344"/>
              <a:gd name="T51" fmla="*/ 10492 h 11906"/>
              <a:gd name="T52" fmla="*/ 2125 w 10344"/>
              <a:gd name="T53" fmla="*/ 9535 h 11906"/>
              <a:gd name="T54" fmla="*/ 2610 w 10344"/>
              <a:gd name="T55" fmla="*/ 9272 h 11906"/>
              <a:gd name="T56" fmla="*/ 1961 w 10344"/>
              <a:gd name="T57" fmla="*/ 8246 h 11906"/>
              <a:gd name="T58" fmla="*/ 1392 w 10344"/>
              <a:gd name="T59" fmla="*/ 8732 h 11906"/>
              <a:gd name="T60" fmla="*/ 1075 w 10344"/>
              <a:gd name="T61" fmla="*/ 7807 h 11906"/>
              <a:gd name="T62" fmla="*/ 1749 w 10344"/>
              <a:gd name="T63" fmla="*/ 6003 h 11906"/>
              <a:gd name="T64" fmla="*/ 2012 w 10344"/>
              <a:gd name="T65" fmla="*/ 5348 h 11906"/>
              <a:gd name="T66" fmla="*/ 2355 w 10344"/>
              <a:gd name="T67" fmla="*/ 3680 h 11906"/>
              <a:gd name="T68" fmla="*/ 5323 w 10344"/>
              <a:gd name="T69" fmla="*/ 1576 h 11906"/>
              <a:gd name="T70" fmla="*/ 8043 w 10344"/>
              <a:gd name="T71" fmla="*/ 3925 h 11906"/>
              <a:gd name="T72" fmla="*/ 8354 w 10344"/>
              <a:gd name="T73" fmla="*/ 5597 h 11906"/>
              <a:gd name="T74" fmla="*/ 8629 w 10344"/>
              <a:gd name="T75" fmla="*/ 6055 h 11906"/>
              <a:gd name="T76" fmla="*/ 9245 w 10344"/>
              <a:gd name="T77" fmla="*/ 8002 h 11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344" h="11906">
                <a:moveTo>
                  <a:pt x="9745" y="5899"/>
                </a:moveTo>
                <a:cubicBezTo>
                  <a:pt x="9374" y="5312"/>
                  <a:pt x="9213" y="4679"/>
                  <a:pt x="9116" y="4010"/>
                </a:cubicBezTo>
                <a:cubicBezTo>
                  <a:pt x="8765" y="1574"/>
                  <a:pt x="6364" y="0"/>
                  <a:pt x="4039" y="721"/>
                </a:cubicBezTo>
                <a:cubicBezTo>
                  <a:pt x="2504" y="1197"/>
                  <a:pt x="1569" y="2268"/>
                  <a:pt x="1258" y="3852"/>
                </a:cubicBezTo>
                <a:cubicBezTo>
                  <a:pt x="1113" y="4593"/>
                  <a:pt x="974" y="5315"/>
                  <a:pt x="547" y="5975"/>
                </a:cubicBezTo>
                <a:cubicBezTo>
                  <a:pt x="116" y="6641"/>
                  <a:pt x="0" y="7423"/>
                  <a:pt x="57" y="8216"/>
                </a:cubicBezTo>
                <a:cubicBezTo>
                  <a:pt x="89" y="8674"/>
                  <a:pt x="229" y="9092"/>
                  <a:pt x="569" y="9431"/>
                </a:cubicBezTo>
                <a:cubicBezTo>
                  <a:pt x="671" y="9534"/>
                  <a:pt x="773" y="9702"/>
                  <a:pt x="767" y="9836"/>
                </a:cubicBezTo>
                <a:cubicBezTo>
                  <a:pt x="728" y="10802"/>
                  <a:pt x="1299" y="11312"/>
                  <a:pt x="2107" y="11594"/>
                </a:cubicBezTo>
                <a:cubicBezTo>
                  <a:pt x="3003" y="11906"/>
                  <a:pt x="3919" y="11892"/>
                  <a:pt x="4805" y="11520"/>
                </a:cubicBezTo>
                <a:cubicBezTo>
                  <a:pt x="5046" y="11418"/>
                  <a:pt x="5240" y="11382"/>
                  <a:pt x="5493" y="11505"/>
                </a:cubicBezTo>
                <a:cubicBezTo>
                  <a:pt x="6221" y="11858"/>
                  <a:pt x="7004" y="11864"/>
                  <a:pt x="7777" y="11723"/>
                </a:cubicBezTo>
                <a:cubicBezTo>
                  <a:pt x="9011" y="11499"/>
                  <a:pt x="9553" y="10835"/>
                  <a:pt x="9557" y="9603"/>
                </a:cubicBezTo>
                <a:cubicBezTo>
                  <a:pt x="9944" y="9323"/>
                  <a:pt x="10186" y="8931"/>
                  <a:pt x="10242" y="8440"/>
                </a:cubicBezTo>
                <a:cubicBezTo>
                  <a:pt x="10344" y="7542"/>
                  <a:pt x="10233" y="6670"/>
                  <a:pt x="9745" y="5899"/>
                </a:cubicBezTo>
                <a:close/>
                <a:moveTo>
                  <a:pt x="9245" y="8002"/>
                </a:moveTo>
                <a:cubicBezTo>
                  <a:pt x="9238" y="8230"/>
                  <a:pt x="9146" y="8455"/>
                  <a:pt x="9057" y="8836"/>
                </a:cubicBezTo>
                <a:cubicBezTo>
                  <a:pt x="8741" y="8568"/>
                  <a:pt x="8563" y="8418"/>
                  <a:pt x="8373" y="8257"/>
                </a:cubicBezTo>
                <a:cubicBezTo>
                  <a:pt x="8153" y="8594"/>
                  <a:pt x="7944" y="8915"/>
                  <a:pt x="7716" y="9263"/>
                </a:cubicBezTo>
                <a:cubicBezTo>
                  <a:pt x="7854" y="9339"/>
                  <a:pt x="8015" y="9390"/>
                  <a:pt x="8125" y="9496"/>
                </a:cubicBezTo>
                <a:cubicBezTo>
                  <a:pt x="8277" y="9643"/>
                  <a:pt x="8465" y="9816"/>
                  <a:pt x="8502" y="10005"/>
                </a:cubicBezTo>
                <a:cubicBezTo>
                  <a:pt x="8556" y="10278"/>
                  <a:pt x="8308" y="10437"/>
                  <a:pt x="8079" y="10539"/>
                </a:cubicBezTo>
                <a:cubicBezTo>
                  <a:pt x="7350" y="10865"/>
                  <a:pt x="6593" y="10902"/>
                  <a:pt x="5885" y="10545"/>
                </a:cubicBezTo>
                <a:cubicBezTo>
                  <a:pt x="5378" y="10290"/>
                  <a:pt x="4961" y="10273"/>
                  <a:pt x="4455" y="10539"/>
                </a:cubicBezTo>
                <a:cubicBezTo>
                  <a:pt x="3791" y="10889"/>
                  <a:pt x="3073" y="10848"/>
                  <a:pt x="2370" y="10601"/>
                </a:cubicBezTo>
                <a:cubicBezTo>
                  <a:pt x="2293" y="10574"/>
                  <a:pt x="2219" y="10536"/>
                  <a:pt x="2150" y="10492"/>
                </a:cubicBezTo>
                <a:cubicBezTo>
                  <a:pt x="1690" y="10202"/>
                  <a:pt x="1678" y="9833"/>
                  <a:pt x="2125" y="9535"/>
                </a:cubicBezTo>
                <a:cubicBezTo>
                  <a:pt x="2275" y="9435"/>
                  <a:pt x="2442" y="9362"/>
                  <a:pt x="2610" y="9272"/>
                </a:cubicBezTo>
                <a:cubicBezTo>
                  <a:pt x="2389" y="8922"/>
                  <a:pt x="2183" y="8597"/>
                  <a:pt x="1961" y="8246"/>
                </a:cubicBezTo>
                <a:cubicBezTo>
                  <a:pt x="1774" y="8405"/>
                  <a:pt x="1588" y="8565"/>
                  <a:pt x="1392" y="8732"/>
                </a:cubicBezTo>
                <a:cubicBezTo>
                  <a:pt x="1038" y="8460"/>
                  <a:pt x="1056" y="8122"/>
                  <a:pt x="1075" y="7807"/>
                </a:cubicBezTo>
                <a:cubicBezTo>
                  <a:pt x="1116" y="7141"/>
                  <a:pt x="1294" y="6515"/>
                  <a:pt x="1749" y="6003"/>
                </a:cubicBezTo>
                <a:cubicBezTo>
                  <a:pt x="1920" y="5811"/>
                  <a:pt x="1979" y="5606"/>
                  <a:pt x="2012" y="5348"/>
                </a:cubicBezTo>
                <a:cubicBezTo>
                  <a:pt x="2085" y="4786"/>
                  <a:pt x="2197" y="4224"/>
                  <a:pt x="2355" y="3680"/>
                </a:cubicBezTo>
                <a:cubicBezTo>
                  <a:pt x="2739" y="2365"/>
                  <a:pt x="3979" y="1503"/>
                  <a:pt x="5323" y="1576"/>
                </a:cubicBezTo>
                <a:cubicBezTo>
                  <a:pt x="6645" y="1647"/>
                  <a:pt x="7766" y="2608"/>
                  <a:pt x="8043" y="3925"/>
                </a:cubicBezTo>
                <a:cubicBezTo>
                  <a:pt x="8160" y="4480"/>
                  <a:pt x="8231" y="5044"/>
                  <a:pt x="8354" y="5597"/>
                </a:cubicBezTo>
                <a:cubicBezTo>
                  <a:pt x="8391" y="5763"/>
                  <a:pt x="8520" y="5914"/>
                  <a:pt x="8629" y="6055"/>
                </a:cubicBezTo>
                <a:cubicBezTo>
                  <a:pt x="9072" y="6631"/>
                  <a:pt x="9267" y="7287"/>
                  <a:pt x="9245" y="80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34" name="熊大的PPT宝库32"/>
          <p:cNvSpPr/>
          <p:nvPr/>
        </p:nvSpPr>
        <p:spPr>
          <a:xfrm>
            <a:off x="8447443" y="1506416"/>
            <a:ext cx="159916" cy="155086"/>
          </a:xfrm>
          <a:custGeom>
            <a:avLst/>
            <a:gdLst>
              <a:gd name="T0" fmla="*/ 7213 w 11173"/>
              <a:gd name="T1" fmla="*/ 10077 h 10833"/>
              <a:gd name="T2" fmla="*/ 7213 w 11173"/>
              <a:gd name="T3" fmla="*/ 8667 h 10833"/>
              <a:gd name="T4" fmla="*/ 3965 w 11173"/>
              <a:gd name="T5" fmla="*/ 8671 h 10833"/>
              <a:gd name="T6" fmla="*/ 3965 w 11173"/>
              <a:gd name="T7" fmla="*/ 10107 h 10833"/>
              <a:gd name="T8" fmla="*/ 3308 w 11173"/>
              <a:gd name="T9" fmla="*/ 10461 h 10833"/>
              <a:gd name="T10" fmla="*/ 3413 w 11173"/>
              <a:gd name="T11" fmla="*/ 10822 h 10833"/>
              <a:gd name="T12" fmla="*/ 7749 w 11173"/>
              <a:gd name="T13" fmla="*/ 10822 h 10833"/>
              <a:gd name="T14" fmla="*/ 7900 w 11173"/>
              <a:gd name="T15" fmla="*/ 10521 h 10833"/>
              <a:gd name="T16" fmla="*/ 7213 w 11173"/>
              <a:gd name="T17" fmla="*/ 10077 h 10833"/>
              <a:gd name="T18" fmla="*/ 10092 w 11173"/>
              <a:gd name="T19" fmla="*/ 0 h 10833"/>
              <a:gd name="T20" fmla="*/ 1082 w 11173"/>
              <a:gd name="T21" fmla="*/ 0 h 10833"/>
              <a:gd name="T22" fmla="*/ 0 w 11173"/>
              <a:gd name="T23" fmla="*/ 1083 h 10833"/>
              <a:gd name="T24" fmla="*/ 0 w 11173"/>
              <a:gd name="T25" fmla="*/ 7220 h 10833"/>
              <a:gd name="T26" fmla="*/ 1082 w 11173"/>
              <a:gd name="T27" fmla="*/ 8291 h 10833"/>
              <a:gd name="T28" fmla="*/ 10092 w 11173"/>
              <a:gd name="T29" fmla="*/ 8291 h 10833"/>
              <a:gd name="T30" fmla="*/ 11173 w 11173"/>
              <a:gd name="T31" fmla="*/ 7220 h 10833"/>
              <a:gd name="T32" fmla="*/ 11173 w 11173"/>
              <a:gd name="T33" fmla="*/ 1083 h 10833"/>
              <a:gd name="T34" fmla="*/ 10092 w 11173"/>
              <a:gd name="T35" fmla="*/ 0 h 10833"/>
              <a:gd name="T36" fmla="*/ 5755 w 11173"/>
              <a:gd name="T37" fmla="*/ 7960 h 10833"/>
              <a:gd name="T38" fmla="*/ 5576 w 11173"/>
              <a:gd name="T39" fmla="*/ 7874 h 10833"/>
              <a:gd name="T40" fmla="*/ 5318 w 11173"/>
              <a:gd name="T41" fmla="*/ 7915 h 10833"/>
              <a:gd name="T42" fmla="*/ 5024 w 11173"/>
              <a:gd name="T43" fmla="*/ 7389 h 10833"/>
              <a:gd name="T44" fmla="*/ 5373 w 11173"/>
              <a:gd name="T45" fmla="*/ 6904 h 10833"/>
              <a:gd name="T46" fmla="*/ 5519 w 11173"/>
              <a:gd name="T47" fmla="*/ 7084 h 10833"/>
              <a:gd name="T48" fmla="*/ 5774 w 11173"/>
              <a:gd name="T49" fmla="*/ 6937 h 10833"/>
              <a:gd name="T50" fmla="*/ 5967 w 11173"/>
              <a:gd name="T51" fmla="*/ 7009 h 10833"/>
              <a:gd name="T52" fmla="*/ 6099 w 11173"/>
              <a:gd name="T53" fmla="*/ 7211 h 10833"/>
              <a:gd name="T54" fmla="*/ 5756 w 11173"/>
              <a:gd name="T55" fmla="*/ 7389 h 10833"/>
              <a:gd name="T56" fmla="*/ 6125 w 11173"/>
              <a:gd name="T57" fmla="*/ 7572 h 10833"/>
              <a:gd name="T58" fmla="*/ 5755 w 11173"/>
              <a:gd name="T59" fmla="*/ 7960 h 10833"/>
              <a:gd name="T60" fmla="*/ 5553 w 11173"/>
              <a:gd name="T61" fmla="*/ 6859 h 10833"/>
              <a:gd name="T62" fmla="*/ 5756 w 11173"/>
              <a:gd name="T63" fmla="*/ 6622 h 10833"/>
              <a:gd name="T64" fmla="*/ 5553 w 11173"/>
              <a:gd name="T65" fmla="*/ 6859 h 10833"/>
              <a:gd name="T66" fmla="*/ 10452 w 11173"/>
              <a:gd name="T67" fmla="*/ 5765 h 10833"/>
              <a:gd name="T68" fmla="*/ 9732 w 11173"/>
              <a:gd name="T69" fmla="*/ 6498 h 10833"/>
              <a:gd name="T70" fmla="*/ 1442 w 11173"/>
              <a:gd name="T71" fmla="*/ 6498 h 10833"/>
              <a:gd name="T72" fmla="*/ 721 w 11173"/>
              <a:gd name="T73" fmla="*/ 5765 h 10833"/>
              <a:gd name="T74" fmla="*/ 721 w 11173"/>
              <a:gd name="T75" fmla="*/ 1444 h 10833"/>
              <a:gd name="T76" fmla="*/ 1442 w 11173"/>
              <a:gd name="T77" fmla="*/ 711 h 10833"/>
              <a:gd name="T78" fmla="*/ 9732 w 11173"/>
              <a:gd name="T79" fmla="*/ 711 h 10833"/>
              <a:gd name="T80" fmla="*/ 10452 w 11173"/>
              <a:gd name="T81" fmla="*/ 1444 h 10833"/>
              <a:gd name="T82" fmla="*/ 10452 w 11173"/>
              <a:gd name="T83" fmla="*/ 5765 h 108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173" h="10833">
                <a:moveTo>
                  <a:pt x="7213" y="10077"/>
                </a:moveTo>
                <a:lnTo>
                  <a:pt x="7213" y="8667"/>
                </a:lnTo>
                <a:lnTo>
                  <a:pt x="3965" y="8671"/>
                </a:lnTo>
                <a:lnTo>
                  <a:pt x="3965" y="10107"/>
                </a:lnTo>
                <a:lnTo>
                  <a:pt x="3308" y="10461"/>
                </a:lnTo>
                <a:cubicBezTo>
                  <a:pt x="3308" y="10461"/>
                  <a:pt x="3090" y="10833"/>
                  <a:pt x="3413" y="10822"/>
                </a:cubicBezTo>
                <a:lnTo>
                  <a:pt x="7749" y="10822"/>
                </a:lnTo>
                <a:cubicBezTo>
                  <a:pt x="7749" y="10822"/>
                  <a:pt x="8050" y="10671"/>
                  <a:pt x="7900" y="10521"/>
                </a:cubicBezTo>
                <a:cubicBezTo>
                  <a:pt x="7749" y="10370"/>
                  <a:pt x="7213" y="10077"/>
                  <a:pt x="7213" y="10077"/>
                </a:cubicBezTo>
                <a:close/>
                <a:moveTo>
                  <a:pt x="10092" y="0"/>
                </a:moveTo>
                <a:lnTo>
                  <a:pt x="1082" y="0"/>
                </a:lnTo>
                <a:cubicBezTo>
                  <a:pt x="485" y="0"/>
                  <a:pt x="0" y="485"/>
                  <a:pt x="0" y="1083"/>
                </a:cubicBezTo>
                <a:lnTo>
                  <a:pt x="0" y="7220"/>
                </a:lnTo>
                <a:cubicBezTo>
                  <a:pt x="0" y="7818"/>
                  <a:pt x="485" y="8291"/>
                  <a:pt x="1082" y="8291"/>
                </a:cubicBezTo>
                <a:lnTo>
                  <a:pt x="10092" y="8291"/>
                </a:lnTo>
                <a:cubicBezTo>
                  <a:pt x="10689" y="8291"/>
                  <a:pt x="11173" y="7818"/>
                  <a:pt x="11173" y="7220"/>
                </a:cubicBezTo>
                <a:lnTo>
                  <a:pt x="11173" y="1083"/>
                </a:lnTo>
                <a:cubicBezTo>
                  <a:pt x="11173" y="485"/>
                  <a:pt x="10689" y="0"/>
                  <a:pt x="10092" y="0"/>
                </a:cubicBezTo>
                <a:close/>
                <a:moveTo>
                  <a:pt x="5755" y="7960"/>
                </a:moveTo>
                <a:cubicBezTo>
                  <a:pt x="5702" y="7977"/>
                  <a:pt x="5634" y="7874"/>
                  <a:pt x="5576" y="7874"/>
                </a:cubicBezTo>
                <a:cubicBezTo>
                  <a:pt x="5478" y="7874"/>
                  <a:pt x="5398" y="7961"/>
                  <a:pt x="5318" y="7915"/>
                </a:cubicBezTo>
                <a:cubicBezTo>
                  <a:pt x="5156" y="7822"/>
                  <a:pt x="5024" y="7692"/>
                  <a:pt x="5024" y="7389"/>
                </a:cubicBezTo>
                <a:cubicBezTo>
                  <a:pt x="5024" y="7129"/>
                  <a:pt x="5072" y="6843"/>
                  <a:pt x="5373" y="6904"/>
                </a:cubicBezTo>
                <a:cubicBezTo>
                  <a:pt x="5409" y="6896"/>
                  <a:pt x="5481" y="7084"/>
                  <a:pt x="5519" y="7084"/>
                </a:cubicBezTo>
                <a:cubicBezTo>
                  <a:pt x="5585" y="7084"/>
                  <a:pt x="5716" y="6916"/>
                  <a:pt x="5774" y="6937"/>
                </a:cubicBezTo>
                <a:cubicBezTo>
                  <a:pt x="5828" y="6957"/>
                  <a:pt x="5923" y="6974"/>
                  <a:pt x="5967" y="7009"/>
                </a:cubicBezTo>
                <a:cubicBezTo>
                  <a:pt x="6022" y="7053"/>
                  <a:pt x="6150" y="7175"/>
                  <a:pt x="6099" y="7211"/>
                </a:cubicBezTo>
                <a:cubicBezTo>
                  <a:pt x="5944" y="7200"/>
                  <a:pt x="5756" y="7223"/>
                  <a:pt x="5756" y="7389"/>
                </a:cubicBezTo>
                <a:cubicBezTo>
                  <a:pt x="5756" y="7694"/>
                  <a:pt x="6125" y="7572"/>
                  <a:pt x="6125" y="7572"/>
                </a:cubicBezTo>
                <a:cubicBezTo>
                  <a:pt x="6125" y="7572"/>
                  <a:pt x="6101" y="7842"/>
                  <a:pt x="5755" y="7960"/>
                </a:cubicBezTo>
                <a:close/>
                <a:moveTo>
                  <a:pt x="5553" y="6859"/>
                </a:moveTo>
                <a:cubicBezTo>
                  <a:pt x="5553" y="6746"/>
                  <a:pt x="5756" y="6622"/>
                  <a:pt x="5756" y="6622"/>
                </a:cubicBezTo>
                <a:cubicBezTo>
                  <a:pt x="5891" y="6836"/>
                  <a:pt x="5553" y="6859"/>
                  <a:pt x="5553" y="6859"/>
                </a:cubicBezTo>
                <a:close/>
                <a:moveTo>
                  <a:pt x="10452" y="5765"/>
                </a:moveTo>
                <a:cubicBezTo>
                  <a:pt x="10452" y="6163"/>
                  <a:pt x="10130" y="6498"/>
                  <a:pt x="9732" y="6498"/>
                </a:cubicBezTo>
                <a:lnTo>
                  <a:pt x="1442" y="6498"/>
                </a:lnTo>
                <a:cubicBezTo>
                  <a:pt x="1044" y="6498"/>
                  <a:pt x="721" y="6163"/>
                  <a:pt x="721" y="5765"/>
                </a:cubicBezTo>
                <a:lnTo>
                  <a:pt x="721" y="1444"/>
                </a:lnTo>
                <a:cubicBezTo>
                  <a:pt x="721" y="1045"/>
                  <a:pt x="1044" y="711"/>
                  <a:pt x="1442" y="711"/>
                </a:cubicBezTo>
                <a:lnTo>
                  <a:pt x="9732" y="711"/>
                </a:lnTo>
                <a:cubicBezTo>
                  <a:pt x="10130" y="711"/>
                  <a:pt x="10452" y="1045"/>
                  <a:pt x="10452" y="1444"/>
                </a:cubicBezTo>
                <a:lnTo>
                  <a:pt x="10452" y="576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35" name="熊大的PPT宝库33"/>
          <p:cNvSpPr/>
          <p:nvPr/>
        </p:nvSpPr>
        <p:spPr>
          <a:xfrm>
            <a:off x="8960755" y="1506416"/>
            <a:ext cx="141835" cy="159916"/>
          </a:xfrm>
          <a:custGeom>
            <a:avLst/>
            <a:gdLst>
              <a:gd name="connsiteX0" fmla="*/ 72469 w 538061"/>
              <a:gd name="connsiteY0" fmla="*/ 461844 h 606651"/>
              <a:gd name="connsiteX1" fmla="*/ 72469 w 538061"/>
              <a:gd name="connsiteY1" fmla="*/ 576418 h 606651"/>
              <a:gd name="connsiteX2" fmla="*/ 465592 w 538061"/>
              <a:gd name="connsiteY2" fmla="*/ 576418 h 606651"/>
              <a:gd name="connsiteX3" fmla="*/ 465592 w 538061"/>
              <a:gd name="connsiteY3" fmla="*/ 461844 h 606651"/>
              <a:gd name="connsiteX4" fmla="*/ 115587 w 538061"/>
              <a:gd name="connsiteY4" fmla="*/ 276828 h 606651"/>
              <a:gd name="connsiteX5" fmla="*/ 116166 w 538061"/>
              <a:gd name="connsiteY5" fmla="*/ 276828 h 606651"/>
              <a:gd name="connsiteX6" fmla="*/ 125350 w 538061"/>
              <a:gd name="connsiteY6" fmla="*/ 311935 h 606651"/>
              <a:gd name="connsiteX7" fmla="*/ 136685 w 538061"/>
              <a:gd name="connsiteY7" fmla="*/ 350428 h 606651"/>
              <a:gd name="connsiteX8" fmla="*/ 96392 w 538061"/>
              <a:gd name="connsiteY8" fmla="*/ 350428 h 606651"/>
              <a:gd name="connsiteX9" fmla="*/ 107230 w 538061"/>
              <a:gd name="connsiteY9" fmla="*/ 311935 h 606651"/>
              <a:gd name="connsiteX10" fmla="*/ 115587 w 538061"/>
              <a:gd name="connsiteY10" fmla="*/ 276828 h 606651"/>
              <a:gd name="connsiteX11" fmla="*/ 439885 w 538061"/>
              <a:gd name="connsiteY11" fmla="*/ 275840 h 606651"/>
              <a:gd name="connsiteX12" fmla="*/ 472012 w 538061"/>
              <a:gd name="connsiteY12" fmla="*/ 302509 h 606651"/>
              <a:gd name="connsiteX13" fmla="*/ 436573 w 538061"/>
              <a:gd name="connsiteY13" fmla="*/ 332151 h 606651"/>
              <a:gd name="connsiteX14" fmla="*/ 422828 w 538061"/>
              <a:gd name="connsiteY14" fmla="*/ 331078 h 606651"/>
              <a:gd name="connsiteX15" fmla="*/ 422828 w 538061"/>
              <a:gd name="connsiteY15" fmla="*/ 277409 h 606651"/>
              <a:gd name="connsiteX16" fmla="*/ 439885 w 538061"/>
              <a:gd name="connsiteY16" fmla="*/ 275840 h 606651"/>
              <a:gd name="connsiteX17" fmla="*/ 282935 w 538061"/>
              <a:gd name="connsiteY17" fmla="*/ 275840 h 606651"/>
              <a:gd name="connsiteX18" fmla="*/ 315145 w 538061"/>
              <a:gd name="connsiteY18" fmla="*/ 302509 h 606651"/>
              <a:gd name="connsiteX19" fmla="*/ 279706 w 538061"/>
              <a:gd name="connsiteY19" fmla="*/ 332151 h 606651"/>
              <a:gd name="connsiteX20" fmla="*/ 265961 w 538061"/>
              <a:gd name="connsiteY20" fmla="*/ 331078 h 606651"/>
              <a:gd name="connsiteX21" fmla="*/ 265961 w 538061"/>
              <a:gd name="connsiteY21" fmla="*/ 277409 h 606651"/>
              <a:gd name="connsiteX22" fmla="*/ 282935 w 538061"/>
              <a:gd name="connsiteY22" fmla="*/ 275840 h 606651"/>
              <a:gd name="connsiteX23" fmla="*/ 90504 w 538061"/>
              <a:gd name="connsiteY23" fmla="*/ 246163 h 606651"/>
              <a:gd name="connsiteX24" fmla="*/ 34828 w 538061"/>
              <a:gd name="connsiteY24" fmla="*/ 427811 h 606651"/>
              <a:gd name="connsiteX25" fmla="*/ 77516 w 538061"/>
              <a:gd name="connsiteY25" fmla="*/ 427811 h 606651"/>
              <a:gd name="connsiteX26" fmla="*/ 90504 w 538061"/>
              <a:gd name="connsiteY26" fmla="*/ 381222 h 606651"/>
              <a:gd name="connsiteX27" fmla="*/ 142622 w 538061"/>
              <a:gd name="connsiteY27" fmla="*/ 381222 h 606651"/>
              <a:gd name="connsiteX28" fmla="*/ 156603 w 538061"/>
              <a:gd name="connsiteY28" fmla="*/ 427811 h 606651"/>
              <a:gd name="connsiteX29" fmla="*/ 200863 w 538061"/>
              <a:gd name="connsiteY29" fmla="*/ 427811 h 606651"/>
              <a:gd name="connsiteX30" fmla="*/ 144442 w 538061"/>
              <a:gd name="connsiteY30" fmla="*/ 246163 h 606651"/>
              <a:gd name="connsiteX31" fmla="*/ 437630 w 538061"/>
              <a:gd name="connsiteY31" fmla="*/ 244759 h 606651"/>
              <a:gd name="connsiteX32" fmla="*/ 382036 w 538061"/>
              <a:gd name="connsiteY32" fmla="*/ 248558 h 606651"/>
              <a:gd name="connsiteX33" fmla="*/ 382036 w 538061"/>
              <a:gd name="connsiteY33" fmla="*/ 427811 h 606651"/>
              <a:gd name="connsiteX34" fmla="*/ 422821 w 538061"/>
              <a:gd name="connsiteY34" fmla="*/ 427811 h 606651"/>
              <a:gd name="connsiteX35" fmla="*/ 422821 w 538061"/>
              <a:gd name="connsiteY35" fmla="*/ 362884 h 606651"/>
              <a:gd name="connsiteX36" fmla="*/ 436885 w 538061"/>
              <a:gd name="connsiteY36" fmla="*/ 363710 h 606651"/>
              <a:gd name="connsiteX37" fmla="*/ 495953 w 538061"/>
              <a:gd name="connsiteY37" fmla="*/ 344545 h 606651"/>
              <a:gd name="connsiteX38" fmla="*/ 512747 w 538061"/>
              <a:gd name="connsiteY38" fmla="*/ 301343 h 606651"/>
              <a:gd name="connsiteX39" fmla="*/ 493306 w 538061"/>
              <a:gd name="connsiteY39" fmla="*/ 259297 h 606651"/>
              <a:gd name="connsiteX40" fmla="*/ 437630 w 538061"/>
              <a:gd name="connsiteY40" fmla="*/ 244759 h 606651"/>
              <a:gd name="connsiteX41" fmla="*/ 280778 w 538061"/>
              <a:gd name="connsiteY41" fmla="*/ 244759 h 606651"/>
              <a:gd name="connsiteX42" fmla="*/ 225185 w 538061"/>
              <a:gd name="connsiteY42" fmla="*/ 248558 h 606651"/>
              <a:gd name="connsiteX43" fmla="*/ 225185 w 538061"/>
              <a:gd name="connsiteY43" fmla="*/ 427811 h 606651"/>
              <a:gd name="connsiteX44" fmla="*/ 265969 w 538061"/>
              <a:gd name="connsiteY44" fmla="*/ 427811 h 606651"/>
              <a:gd name="connsiteX45" fmla="*/ 265969 w 538061"/>
              <a:gd name="connsiteY45" fmla="*/ 362884 h 606651"/>
              <a:gd name="connsiteX46" fmla="*/ 280033 w 538061"/>
              <a:gd name="connsiteY46" fmla="*/ 363710 h 606651"/>
              <a:gd name="connsiteX47" fmla="*/ 339101 w 538061"/>
              <a:gd name="connsiteY47" fmla="*/ 344545 h 606651"/>
              <a:gd name="connsiteX48" fmla="*/ 355894 w 538061"/>
              <a:gd name="connsiteY48" fmla="*/ 301426 h 606651"/>
              <a:gd name="connsiteX49" fmla="*/ 336453 w 538061"/>
              <a:gd name="connsiteY49" fmla="*/ 259297 h 606651"/>
              <a:gd name="connsiteX50" fmla="*/ 280778 w 538061"/>
              <a:gd name="connsiteY50" fmla="*/ 244759 h 606651"/>
              <a:gd name="connsiteX51" fmla="*/ 72469 w 538061"/>
              <a:gd name="connsiteY51" fmla="*/ 23790 h 606651"/>
              <a:gd name="connsiteX52" fmla="*/ 72469 w 538061"/>
              <a:gd name="connsiteY52" fmla="*/ 217003 h 606651"/>
              <a:gd name="connsiteX53" fmla="*/ 465592 w 538061"/>
              <a:gd name="connsiteY53" fmla="*/ 217003 h 606651"/>
              <a:gd name="connsiteX54" fmla="*/ 465592 w 538061"/>
              <a:gd name="connsiteY54" fmla="*/ 157363 h 606651"/>
              <a:gd name="connsiteX55" fmla="*/ 360362 w 538061"/>
              <a:gd name="connsiteY55" fmla="*/ 157363 h 606651"/>
              <a:gd name="connsiteX56" fmla="*/ 348449 w 538061"/>
              <a:gd name="connsiteY56" fmla="*/ 145467 h 606651"/>
              <a:gd name="connsiteX57" fmla="*/ 348449 w 538061"/>
              <a:gd name="connsiteY57" fmla="*/ 23790 h 606651"/>
              <a:gd name="connsiteX58" fmla="*/ 72469 w 538061"/>
              <a:gd name="connsiteY58" fmla="*/ 0 h 606651"/>
              <a:gd name="connsiteX59" fmla="*/ 360362 w 538061"/>
              <a:gd name="connsiteY59" fmla="*/ 0 h 606651"/>
              <a:gd name="connsiteX60" fmla="*/ 363092 w 538061"/>
              <a:gd name="connsiteY60" fmla="*/ 330 h 606651"/>
              <a:gd name="connsiteX61" fmla="*/ 363753 w 538061"/>
              <a:gd name="connsiteY61" fmla="*/ 578 h 606651"/>
              <a:gd name="connsiteX62" fmla="*/ 366070 w 538061"/>
              <a:gd name="connsiteY62" fmla="*/ 1569 h 606651"/>
              <a:gd name="connsiteX63" fmla="*/ 366897 w 538061"/>
              <a:gd name="connsiteY63" fmla="*/ 1983 h 606651"/>
              <a:gd name="connsiteX64" fmla="*/ 369214 w 538061"/>
              <a:gd name="connsiteY64" fmla="*/ 3965 h 606651"/>
              <a:gd name="connsiteX65" fmla="*/ 369296 w 538061"/>
              <a:gd name="connsiteY65" fmla="*/ 4048 h 606651"/>
              <a:gd name="connsiteX66" fmla="*/ 486439 w 538061"/>
              <a:gd name="connsiteY66" fmla="*/ 137703 h 606651"/>
              <a:gd name="connsiteX67" fmla="*/ 489252 w 538061"/>
              <a:gd name="connsiteY67" fmla="*/ 145385 h 606651"/>
              <a:gd name="connsiteX68" fmla="*/ 489417 w 538061"/>
              <a:gd name="connsiteY68" fmla="*/ 146706 h 606651"/>
              <a:gd name="connsiteX69" fmla="*/ 489417 w 538061"/>
              <a:gd name="connsiteY69" fmla="*/ 217003 h 606651"/>
              <a:gd name="connsiteX70" fmla="*/ 503977 w 538061"/>
              <a:gd name="connsiteY70" fmla="*/ 217003 h 606651"/>
              <a:gd name="connsiteX71" fmla="*/ 538061 w 538061"/>
              <a:gd name="connsiteY71" fmla="*/ 250954 h 606651"/>
              <a:gd name="connsiteX72" fmla="*/ 538061 w 538061"/>
              <a:gd name="connsiteY72" fmla="*/ 427811 h 606651"/>
              <a:gd name="connsiteX73" fmla="*/ 503977 w 538061"/>
              <a:gd name="connsiteY73" fmla="*/ 461844 h 606651"/>
              <a:gd name="connsiteX74" fmla="*/ 489417 w 538061"/>
              <a:gd name="connsiteY74" fmla="*/ 461844 h 606651"/>
              <a:gd name="connsiteX75" fmla="*/ 489417 w 538061"/>
              <a:gd name="connsiteY75" fmla="*/ 582861 h 606651"/>
              <a:gd name="connsiteX76" fmla="*/ 465592 w 538061"/>
              <a:gd name="connsiteY76" fmla="*/ 606651 h 606651"/>
              <a:gd name="connsiteX77" fmla="*/ 72469 w 538061"/>
              <a:gd name="connsiteY77" fmla="*/ 606651 h 606651"/>
              <a:gd name="connsiteX78" fmla="*/ 48644 w 538061"/>
              <a:gd name="connsiteY78" fmla="*/ 582861 h 606651"/>
              <a:gd name="connsiteX79" fmla="*/ 48644 w 538061"/>
              <a:gd name="connsiteY79" fmla="*/ 461844 h 606651"/>
              <a:gd name="connsiteX80" fmla="*/ 34084 w 538061"/>
              <a:gd name="connsiteY80" fmla="*/ 461844 h 606651"/>
              <a:gd name="connsiteX81" fmla="*/ 0 w 538061"/>
              <a:gd name="connsiteY81" fmla="*/ 427811 h 606651"/>
              <a:gd name="connsiteX82" fmla="*/ 0 w 538061"/>
              <a:gd name="connsiteY82" fmla="*/ 250954 h 606651"/>
              <a:gd name="connsiteX83" fmla="*/ 34084 w 538061"/>
              <a:gd name="connsiteY83" fmla="*/ 217003 h 606651"/>
              <a:gd name="connsiteX84" fmla="*/ 48644 w 538061"/>
              <a:gd name="connsiteY84" fmla="*/ 217003 h 606651"/>
              <a:gd name="connsiteX85" fmla="*/ 48644 w 538061"/>
              <a:gd name="connsiteY85" fmla="*/ 23790 h 606651"/>
              <a:gd name="connsiteX86" fmla="*/ 72469 w 538061"/>
              <a:gd name="connsiteY86" fmla="*/ 0 h 606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538061" h="606651">
                <a:moveTo>
                  <a:pt x="72469" y="461844"/>
                </a:moveTo>
                <a:lnTo>
                  <a:pt x="72469" y="576418"/>
                </a:lnTo>
                <a:lnTo>
                  <a:pt x="465592" y="576418"/>
                </a:lnTo>
                <a:lnTo>
                  <a:pt x="465592" y="461844"/>
                </a:lnTo>
                <a:close/>
                <a:moveTo>
                  <a:pt x="115587" y="276828"/>
                </a:moveTo>
                <a:lnTo>
                  <a:pt x="116166" y="276828"/>
                </a:lnTo>
                <a:cubicBezTo>
                  <a:pt x="118814" y="287649"/>
                  <a:pt x="122040" y="301114"/>
                  <a:pt x="125350" y="311935"/>
                </a:cubicBezTo>
                <a:lnTo>
                  <a:pt x="136685" y="350428"/>
                </a:lnTo>
                <a:lnTo>
                  <a:pt x="96392" y="350428"/>
                </a:lnTo>
                <a:lnTo>
                  <a:pt x="107230" y="311935"/>
                </a:lnTo>
                <a:cubicBezTo>
                  <a:pt x="110209" y="301361"/>
                  <a:pt x="112939" y="287649"/>
                  <a:pt x="115587" y="276828"/>
                </a:cubicBezTo>
                <a:close/>
                <a:moveTo>
                  <a:pt x="439885" y="275840"/>
                </a:moveTo>
                <a:cubicBezTo>
                  <a:pt x="460420" y="275840"/>
                  <a:pt x="472012" y="285748"/>
                  <a:pt x="472012" y="302509"/>
                </a:cubicBezTo>
                <a:cubicBezTo>
                  <a:pt x="472012" y="321087"/>
                  <a:pt x="458516" y="332151"/>
                  <a:pt x="436573" y="332151"/>
                </a:cubicBezTo>
                <a:cubicBezTo>
                  <a:pt x="430694" y="332151"/>
                  <a:pt x="426306" y="331821"/>
                  <a:pt x="422828" y="331078"/>
                </a:cubicBezTo>
                <a:lnTo>
                  <a:pt x="422828" y="277409"/>
                </a:lnTo>
                <a:cubicBezTo>
                  <a:pt x="425809" y="276583"/>
                  <a:pt x="431440" y="275840"/>
                  <a:pt x="439885" y="275840"/>
                </a:cubicBezTo>
                <a:close/>
                <a:moveTo>
                  <a:pt x="282935" y="275840"/>
                </a:moveTo>
                <a:cubicBezTo>
                  <a:pt x="303553" y="275840"/>
                  <a:pt x="315145" y="285748"/>
                  <a:pt x="315145" y="302509"/>
                </a:cubicBezTo>
                <a:cubicBezTo>
                  <a:pt x="315145" y="321087"/>
                  <a:pt x="301648" y="332151"/>
                  <a:pt x="279706" y="332151"/>
                </a:cubicBezTo>
                <a:cubicBezTo>
                  <a:pt x="273827" y="332151"/>
                  <a:pt x="269438" y="331821"/>
                  <a:pt x="265961" y="331078"/>
                </a:cubicBezTo>
                <a:lnTo>
                  <a:pt x="265961" y="277409"/>
                </a:lnTo>
                <a:cubicBezTo>
                  <a:pt x="268942" y="276583"/>
                  <a:pt x="274572" y="275840"/>
                  <a:pt x="282935" y="275840"/>
                </a:cubicBezTo>
                <a:close/>
                <a:moveTo>
                  <a:pt x="90504" y="246163"/>
                </a:moveTo>
                <a:lnTo>
                  <a:pt x="34828" y="427811"/>
                </a:lnTo>
                <a:lnTo>
                  <a:pt x="77516" y="427811"/>
                </a:lnTo>
                <a:lnTo>
                  <a:pt x="90504" y="381222"/>
                </a:lnTo>
                <a:lnTo>
                  <a:pt x="142622" y="381222"/>
                </a:lnTo>
                <a:lnTo>
                  <a:pt x="156603" y="427811"/>
                </a:lnTo>
                <a:lnTo>
                  <a:pt x="200863" y="427811"/>
                </a:lnTo>
                <a:lnTo>
                  <a:pt x="144442" y="246163"/>
                </a:lnTo>
                <a:close/>
                <a:moveTo>
                  <a:pt x="437630" y="244759"/>
                </a:moveTo>
                <a:cubicBezTo>
                  <a:pt x="412563" y="244759"/>
                  <a:pt x="394694" y="246411"/>
                  <a:pt x="382036" y="248558"/>
                </a:cubicBezTo>
                <a:lnTo>
                  <a:pt x="382036" y="427811"/>
                </a:lnTo>
                <a:lnTo>
                  <a:pt x="422821" y="427811"/>
                </a:lnTo>
                <a:lnTo>
                  <a:pt x="422821" y="362884"/>
                </a:lnTo>
                <a:cubicBezTo>
                  <a:pt x="426544" y="363379"/>
                  <a:pt x="431425" y="363710"/>
                  <a:pt x="436885" y="363710"/>
                </a:cubicBezTo>
                <a:cubicBezTo>
                  <a:pt x="461124" y="363710"/>
                  <a:pt x="481972" y="357762"/>
                  <a:pt x="495953" y="344545"/>
                </a:cubicBezTo>
                <a:cubicBezTo>
                  <a:pt x="506790" y="334302"/>
                  <a:pt x="512747" y="319186"/>
                  <a:pt x="512747" y="301343"/>
                </a:cubicBezTo>
                <a:cubicBezTo>
                  <a:pt x="512747" y="283583"/>
                  <a:pt x="504887" y="268466"/>
                  <a:pt x="493306" y="259297"/>
                </a:cubicBezTo>
                <a:cubicBezTo>
                  <a:pt x="481145" y="249632"/>
                  <a:pt x="463027" y="244759"/>
                  <a:pt x="437630" y="244759"/>
                </a:cubicBezTo>
                <a:close/>
                <a:moveTo>
                  <a:pt x="280778" y="244759"/>
                </a:moveTo>
                <a:cubicBezTo>
                  <a:pt x="255711" y="244759"/>
                  <a:pt x="237925" y="246411"/>
                  <a:pt x="225185" y="248558"/>
                </a:cubicBezTo>
                <a:lnTo>
                  <a:pt x="225185" y="427811"/>
                </a:lnTo>
                <a:lnTo>
                  <a:pt x="265969" y="427811"/>
                </a:lnTo>
                <a:lnTo>
                  <a:pt x="265969" y="362884"/>
                </a:lnTo>
                <a:cubicBezTo>
                  <a:pt x="269692" y="363379"/>
                  <a:pt x="274573" y="363710"/>
                  <a:pt x="280033" y="363710"/>
                </a:cubicBezTo>
                <a:cubicBezTo>
                  <a:pt x="304272" y="363710"/>
                  <a:pt x="325120" y="357762"/>
                  <a:pt x="339101" y="344545"/>
                </a:cubicBezTo>
                <a:cubicBezTo>
                  <a:pt x="349938" y="334302"/>
                  <a:pt x="355894" y="319186"/>
                  <a:pt x="355894" y="301426"/>
                </a:cubicBezTo>
                <a:cubicBezTo>
                  <a:pt x="355894" y="283583"/>
                  <a:pt x="348035" y="268466"/>
                  <a:pt x="336453" y="259297"/>
                </a:cubicBezTo>
                <a:cubicBezTo>
                  <a:pt x="324292" y="249632"/>
                  <a:pt x="306175" y="244759"/>
                  <a:pt x="280778" y="244759"/>
                </a:cubicBezTo>
                <a:close/>
                <a:moveTo>
                  <a:pt x="72469" y="23790"/>
                </a:moveTo>
                <a:lnTo>
                  <a:pt x="72469" y="217003"/>
                </a:lnTo>
                <a:lnTo>
                  <a:pt x="465592" y="217003"/>
                </a:lnTo>
                <a:lnTo>
                  <a:pt x="465592" y="157363"/>
                </a:lnTo>
                <a:lnTo>
                  <a:pt x="360362" y="157363"/>
                </a:lnTo>
                <a:cubicBezTo>
                  <a:pt x="353743" y="157363"/>
                  <a:pt x="348449" y="152076"/>
                  <a:pt x="348449" y="145467"/>
                </a:cubicBezTo>
                <a:lnTo>
                  <a:pt x="348449" y="23790"/>
                </a:lnTo>
                <a:close/>
                <a:moveTo>
                  <a:pt x="72469" y="0"/>
                </a:moveTo>
                <a:lnTo>
                  <a:pt x="360362" y="0"/>
                </a:lnTo>
                <a:cubicBezTo>
                  <a:pt x="361272" y="0"/>
                  <a:pt x="362182" y="165"/>
                  <a:pt x="363092" y="330"/>
                </a:cubicBezTo>
                <a:cubicBezTo>
                  <a:pt x="363340" y="413"/>
                  <a:pt x="363505" y="496"/>
                  <a:pt x="363753" y="578"/>
                </a:cubicBezTo>
                <a:cubicBezTo>
                  <a:pt x="364581" y="826"/>
                  <a:pt x="365325" y="1156"/>
                  <a:pt x="366070" y="1569"/>
                </a:cubicBezTo>
                <a:cubicBezTo>
                  <a:pt x="366318" y="1652"/>
                  <a:pt x="366566" y="1817"/>
                  <a:pt x="366897" y="1983"/>
                </a:cubicBezTo>
                <a:cubicBezTo>
                  <a:pt x="367724" y="2561"/>
                  <a:pt x="368552" y="3222"/>
                  <a:pt x="369214" y="3965"/>
                </a:cubicBezTo>
                <a:cubicBezTo>
                  <a:pt x="369214" y="4048"/>
                  <a:pt x="369296" y="4048"/>
                  <a:pt x="369296" y="4048"/>
                </a:cubicBezTo>
                <a:lnTo>
                  <a:pt x="486439" y="137703"/>
                </a:lnTo>
                <a:cubicBezTo>
                  <a:pt x="488342" y="139850"/>
                  <a:pt x="489252" y="142576"/>
                  <a:pt x="489252" y="145385"/>
                </a:cubicBezTo>
                <a:cubicBezTo>
                  <a:pt x="489335" y="145798"/>
                  <a:pt x="489417" y="146293"/>
                  <a:pt x="489417" y="146706"/>
                </a:cubicBezTo>
                <a:lnTo>
                  <a:pt x="489417" y="217003"/>
                </a:lnTo>
                <a:lnTo>
                  <a:pt x="503977" y="217003"/>
                </a:lnTo>
                <a:cubicBezTo>
                  <a:pt x="522839" y="217003"/>
                  <a:pt x="538061" y="232203"/>
                  <a:pt x="538061" y="250954"/>
                </a:cubicBezTo>
                <a:lnTo>
                  <a:pt x="538061" y="427811"/>
                </a:lnTo>
                <a:cubicBezTo>
                  <a:pt x="538061" y="446563"/>
                  <a:pt x="522839" y="461844"/>
                  <a:pt x="503977" y="461844"/>
                </a:cubicBezTo>
                <a:lnTo>
                  <a:pt x="489417" y="461844"/>
                </a:lnTo>
                <a:lnTo>
                  <a:pt x="489417" y="582861"/>
                </a:lnTo>
                <a:cubicBezTo>
                  <a:pt x="489417" y="595995"/>
                  <a:pt x="478745" y="606651"/>
                  <a:pt x="465592" y="606651"/>
                </a:cubicBezTo>
                <a:lnTo>
                  <a:pt x="72469" y="606651"/>
                </a:lnTo>
                <a:cubicBezTo>
                  <a:pt x="59316" y="606651"/>
                  <a:pt x="48644" y="595995"/>
                  <a:pt x="48644" y="582861"/>
                </a:cubicBezTo>
                <a:lnTo>
                  <a:pt x="48644" y="461844"/>
                </a:lnTo>
                <a:lnTo>
                  <a:pt x="34084" y="461844"/>
                </a:lnTo>
                <a:cubicBezTo>
                  <a:pt x="15222" y="461844"/>
                  <a:pt x="0" y="446563"/>
                  <a:pt x="0" y="427811"/>
                </a:cubicBezTo>
                <a:lnTo>
                  <a:pt x="0" y="250954"/>
                </a:lnTo>
                <a:cubicBezTo>
                  <a:pt x="0" y="232203"/>
                  <a:pt x="15222" y="217003"/>
                  <a:pt x="34084" y="217003"/>
                </a:cubicBezTo>
                <a:lnTo>
                  <a:pt x="48644" y="217003"/>
                </a:lnTo>
                <a:lnTo>
                  <a:pt x="48644" y="23790"/>
                </a:lnTo>
                <a:cubicBezTo>
                  <a:pt x="48644" y="10656"/>
                  <a:pt x="59316" y="0"/>
                  <a:pt x="72469"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36" name="熊大的PPT宝库34"/>
          <p:cNvSpPr/>
          <p:nvPr/>
        </p:nvSpPr>
        <p:spPr>
          <a:xfrm>
            <a:off x="9455985" y="1506416"/>
            <a:ext cx="159916" cy="158890"/>
          </a:xfrm>
          <a:custGeom>
            <a:avLst/>
            <a:gdLst>
              <a:gd name="T0" fmla="*/ 472622 w 604011"/>
              <a:gd name="T1" fmla="*/ 472622 w 604011"/>
              <a:gd name="T2" fmla="*/ 472622 w 604011"/>
              <a:gd name="T3" fmla="*/ 472622 w 604011"/>
              <a:gd name="T4" fmla="*/ 472622 w 604011"/>
              <a:gd name="T5" fmla="*/ 472622 w 604011"/>
              <a:gd name="T6" fmla="*/ 472622 w 604011"/>
              <a:gd name="T7" fmla="*/ 472622 w 604011"/>
              <a:gd name="T8" fmla="*/ 472622 w 604011"/>
              <a:gd name="T9" fmla="*/ 472622 w 604011"/>
              <a:gd name="T10" fmla="*/ 472622 w 604011"/>
              <a:gd name="T11" fmla="*/ 472622 w 604011"/>
              <a:gd name="T12" fmla="*/ 472622 w 604011"/>
              <a:gd name="T13" fmla="*/ 472622 w 604011"/>
              <a:gd name="T14" fmla="*/ 472622 w 604011"/>
              <a:gd name="T15" fmla="*/ 472622 w 604011"/>
              <a:gd name="T16" fmla="*/ 472622 w 604011"/>
              <a:gd name="T17" fmla="*/ 472622 w 604011"/>
              <a:gd name="T18" fmla="*/ 472622 w 604011"/>
              <a:gd name="T19" fmla="*/ 472622 w 604011"/>
              <a:gd name="T20" fmla="*/ 472622 w 604011"/>
              <a:gd name="T21" fmla="*/ 472622 w 604011"/>
              <a:gd name="T22" fmla="*/ 472622 w 604011"/>
              <a:gd name="T23" fmla="*/ 472622 w 604011"/>
              <a:gd name="T24" fmla="*/ 472622 w 604011"/>
              <a:gd name="T25" fmla="*/ 472622 w 604011"/>
              <a:gd name="T26" fmla="*/ 472622 w 604011"/>
              <a:gd name="T27" fmla="*/ 472622 w 604011"/>
              <a:gd name="T28" fmla="*/ 472622 w 604011"/>
              <a:gd name="T29" fmla="*/ 472622 w 604011"/>
              <a:gd name="T30" fmla="*/ 472622 w 604011"/>
              <a:gd name="T31" fmla="*/ 472622 w 604011"/>
              <a:gd name="T32" fmla="*/ 472622 w 604011"/>
              <a:gd name="T33" fmla="*/ 472622 w 604011"/>
              <a:gd name="T34" fmla="*/ 472622 w 604011"/>
              <a:gd name="T35" fmla="*/ 472622 w 604011"/>
              <a:gd name="T36" fmla="*/ 472622 w 604011"/>
              <a:gd name="T37" fmla="*/ 472622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288" h="6257">
                <a:moveTo>
                  <a:pt x="5744" y="712"/>
                </a:moveTo>
                <a:lnTo>
                  <a:pt x="5744" y="712"/>
                </a:lnTo>
                <a:lnTo>
                  <a:pt x="5744" y="711"/>
                </a:lnTo>
                <a:cubicBezTo>
                  <a:pt x="5744" y="711"/>
                  <a:pt x="5744" y="711"/>
                  <a:pt x="5743" y="711"/>
                </a:cubicBezTo>
                <a:cubicBezTo>
                  <a:pt x="5032" y="0"/>
                  <a:pt x="3874" y="0"/>
                  <a:pt x="3163" y="712"/>
                </a:cubicBezTo>
                <a:lnTo>
                  <a:pt x="1876" y="1999"/>
                </a:lnTo>
                <a:lnTo>
                  <a:pt x="1876" y="1999"/>
                </a:lnTo>
                <a:lnTo>
                  <a:pt x="712" y="3163"/>
                </a:lnTo>
                <a:cubicBezTo>
                  <a:pt x="0" y="3874"/>
                  <a:pt x="0" y="5031"/>
                  <a:pt x="711" y="5743"/>
                </a:cubicBezTo>
                <a:cubicBezTo>
                  <a:pt x="711" y="5743"/>
                  <a:pt x="711" y="5744"/>
                  <a:pt x="711" y="5744"/>
                </a:cubicBezTo>
                <a:lnTo>
                  <a:pt x="712" y="5744"/>
                </a:lnTo>
                <a:lnTo>
                  <a:pt x="712" y="5744"/>
                </a:lnTo>
                <a:cubicBezTo>
                  <a:pt x="712" y="5744"/>
                  <a:pt x="1143" y="6257"/>
                  <a:pt x="1656" y="5744"/>
                </a:cubicBezTo>
                <a:cubicBezTo>
                  <a:pt x="2169" y="5230"/>
                  <a:pt x="2468" y="4931"/>
                  <a:pt x="2468" y="4931"/>
                </a:cubicBezTo>
                <a:lnTo>
                  <a:pt x="2387" y="3458"/>
                </a:lnTo>
                <a:lnTo>
                  <a:pt x="3459" y="2387"/>
                </a:lnTo>
                <a:lnTo>
                  <a:pt x="4735" y="2665"/>
                </a:lnTo>
                <a:cubicBezTo>
                  <a:pt x="4735" y="2665"/>
                  <a:pt x="5200" y="2200"/>
                  <a:pt x="5744" y="1656"/>
                </a:cubicBezTo>
                <a:cubicBezTo>
                  <a:pt x="6288" y="1112"/>
                  <a:pt x="5744" y="712"/>
                  <a:pt x="5744" y="71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37" name="熊大的PPT宝库35"/>
          <p:cNvSpPr/>
          <p:nvPr/>
        </p:nvSpPr>
        <p:spPr>
          <a:xfrm>
            <a:off x="10042277" y="1506416"/>
            <a:ext cx="124115" cy="159916"/>
          </a:xfrm>
          <a:custGeom>
            <a:avLst/>
            <a:gdLst>
              <a:gd name="connsiteX0" fmla="*/ 222948 w 432972"/>
              <a:gd name="connsiteY0" fmla="*/ 470798 h 557863"/>
              <a:gd name="connsiteX1" fmla="*/ 192253 w 432972"/>
              <a:gd name="connsiteY1" fmla="*/ 501432 h 557863"/>
              <a:gd name="connsiteX2" fmla="*/ 222948 w 432972"/>
              <a:gd name="connsiteY2" fmla="*/ 533678 h 557863"/>
              <a:gd name="connsiteX3" fmla="*/ 253644 w 432972"/>
              <a:gd name="connsiteY3" fmla="*/ 501432 h 557863"/>
              <a:gd name="connsiteX4" fmla="*/ 222948 w 432972"/>
              <a:gd name="connsiteY4" fmla="*/ 470798 h 557863"/>
              <a:gd name="connsiteX5" fmla="*/ 182413 w 432972"/>
              <a:gd name="connsiteY5" fmla="*/ 237085 h 557863"/>
              <a:gd name="connsiteX6" fmla="*/ 203401 w 432972"/>
              <a:gd name="connsiteY6" fmla="*/ 258073 h 557863"/>
              <a:gd name="connsiteX7" fmla="*/ 182413 w 432972"/>
              <a:gd name="connsiteY7" fmla="*/ 279061 h 557863"/>
              <a:gd name="connsiteX8" fmla="*/ 161425 w 432972"/>
              <a:gd name="connsiteY8" fmla="*/ 258073 h 557863"/>
              <a:gd name="connsiteX9" fmla="*/ 182413 w 432972"/>
              <a:gd name="connsiteY9" fmla="*/ 237085 h 557863"/>
              <a:gd name="connsiteX10" fmla="*/ 114786 w 432972"/>
              <a:gd name="connsiteY10" fmla="*/ 237085 h 557863"/>
              <a:gd name="connsiteX11" fmla="*/ 135774 w 432972"/>
              <a:gd name="connsiteY11" fmla="*/ 258073 h 557863"/>
              <a:gd name="connsiteX12" fmla="*/ 114786 w 432972"/>
              <a:gd name="connsiteY12" fmla="*/ 279061 h 557863"/>
              <a:gd name="connsiteX13" fmla="*/ 93798 w 432972"/>
              <a:gd name="connsiteY13" fmla="*/ 258073 h 557863"/>
              <a:gd name="connsiteX14" fmla="*/ 114786 w 432972"/>
              <a:gd name="connsiteY14" fmla="*/ 237085 h 557863"/>
              <a:gd name="connsiteX15" fmla="*/ 318187 w 432972"/>
              <a:gd name="connsiteY15" fmla="*/ 169199 h 557863"/>
              <a:gd name="connsiteX16" fmla="*/ 339175 w 432972"/>
              <a:gd name="connsiteY16" fmla="*/ 190187 h 557863"/>
              <a:gd name="connsiteX17" fmla="*/ 318187 w 432972"/>
              <a:gd name="connsiteY17" fmla="*/ 211175 h 557863"/>
              <a:gd name="connsiteX18" fmla="*/ 297199 w 432972"/>
              <a:gd name="connsiteY18" fmla="*/ 190187 h 557863"/>
              <a:gd name="connsiteX19" fmla="*/ 318187 w 432972"/>
              <a:gd name="connsiteY19" fmla="*/ 169199 h 557863"/>
              <a:gd name="connsiteX20" fmla="*/ 250300 w 432972"/>
              <a:gd name="connsiteY20" fmla="*/ 169199 h 557863"/>
              <a:gd name="connsiteX21" fmla="*/ 271288 w 432972"/>
              <a:gd name="connsiteY21" fmla="*/ 190187 h 557863"/>
              <a:gd name="connsiteX22" fmla="*/ 250300 w 432972"/>
              <a:gd name="connsiteY22" fmla="*/ 211175 h 557863"/>
              <a:gd name="connsiteX23" fmla="*/ 229312 w 432972"/>
              <a:gd name="connsiteY23" fmla="*/ 190187 h 557863"/>
              <a:gd name="connsiteX24" fmla="*/ 250300 w 432972"/>
              <a:gd name="connsiteY24" fmla="*/ 169199 h 557863"/>
              <a:gd name="connsiteX25" fmla="*/ 182413 w 432972"/>
              <a:gd name="connsiteY25" fmla="*/ 169199 h 557863"/>
              <a:gd name="connsiteX26" fmla="*/ 203401 w 432972"/>
              <a:gd name="connsiteY26" fmla="*/ 190187 h 557863"/>
              <a:gd name="connsiteX27" fmla="*/ 182413 w 432972"/>
              <a:gd name="connsiteY27" fmla="*/ 211175 h 557863"/>
              <a:gd name="connsiteX28" fmla="*/ 161425 w 432972"/>
              <a:gd name="connsiteY28" fmla="*/ 190187 h 557863"/>
              <a:gd name="connsiteX29" fmla="*/ 182413 w 432972"/>
              <a:gd name="connsiteY29" fmla="*/ 169199 h 557863"/>
              <a:gd name="connsiteX30" fmla="*/ 114786 w 432972"/>
              <a:gd name="connsiteY30" fmla="*/ 169199 h 557863"/>
              <a:gd name="connsiteX31" fmla="*/ 135774 w 432972"/>
              <a:gd name="connsiteY31" fmla="*/ 190187 h 557863"/>
              <a:gd name="connsiteX32" fmla="*/ 114786 w 432972"/>
              <a:gd name="connsiteY32" fmla="*/ 211175 h 557863"/>
              <a:gd name="connsiteX33" fmla="*/ 93798 w 432972"/>
              <a:gd name="connsiteY33" fmla="*/ 190187 h 557863"/>
              <a:gd name="connsiteX34" fmla="*/ 114786 w 432972"/>
              <a:gd name="connsiteY34" fmla="*/ 169199 h 557863"/>
              <a:gd name="connsiteX35" fmla="*/ 318187 w 432972"/>
              <a:gd name="connsiteY35" fmla="*/ 101571 h 557863"/>
              <a:gd name="connsiteX36" fmla="*/ 339175 w 432972"/>
              <a:gd name="connsiteY36" fmla="*/ 122559 h 557863"/>
              <a:gd name="connsiteX37" fmla="*/ 318187 w 432972"/>
              <a:gd name="connsiteY37" fmla="*/ 143547 h 557863"/>
              <a:gd name="connsiteX38" fmla="*/ 297199 w 432972"/>
              <a:gd name="connsiteY38" fmla="*/ 122559 h 557863"/>
              <a:gd name="connsiteX39" fmla="*/ 318187 w 432972"/>
              <a:gd name="connsiteY39" fmla="*/ 101571 h 557863"/>
              <a:gd name="connsiteX40" fmla="*/ 250300 w 432972"/>
              <a:gd name="connsiteY40" fmla="*/ 101571 h 557863"/>
              <a:gd name="connsiteX41" fmla="*/ 271288 w 432972"/>
              <a:gd name="connsiteY41" fmla="*/ 122559 h 557863"/>
              <a:gd name="connsiteX42" fmla="*/ 250300 w 432972"/>
              <a:gd name="connsiteY42" fmla="*/ 143547 h 557863"/>
              <a:gd name="connsiteX43" fmla="*/ 229312 w 432972"/>
              <a:gd name="connsiteY43" fmla="*/ 122559 h 557863"/>
              <a:gd name="connsiteX44" fmla="*/ 250300 w 432972"/>
              <a:gd name="connsiteY44" fmla="*/ 101571 h 557863"/>
              <a:gd name="connsiteX45" fmla="*/ 182413 w 432972"/>
              <a:gd name="connsiteY45" fmla="*/ 101571 h 557863"/>
              <a:gd name="connsiteX46" fmla="*/ 203401 w 432972"/>
              <a:gd name="connsiteY46" fmla="*/ 122559 h 557863"/>
              <a:gd name="connsiteX47" fmla="*/ 182413 w 432972"/>
              <a:gd name="connsiteY47" fmla="*/ 143547 h 557863"/>
              <a:gd name="connsiteX48" fmla="*/ 161425 w 432972"/>
              <a:gd name="connsiteY48" fmla="*/ 122559 h 557863"/>
              <a:gd name="connsiteX49" fmla="*/ 182413 w 432972"/>
              <a:gd name="connsiteY49" fmla="*/ 101571 h 557863"/>
              <a:gd name="connsiteX50" fmla="*/ 114786 w 432972"/>
              <a:gd name="connsiteY50" fmla="*/ 101571 h 557863"/>
              <a:gd name="connsiteX51" fmla="*/ 135774 w 432972"/>
              <a:gd name="connsiteY51" fmla="*/ 122559 h 557863"/>
              <a:gd name="connsiteX52" fmla="*/ 114786 w 432972"/>
              <a:gd name="connsiteY52" fmla="*/ 143547 h 557863"/>
              <a:gd name="connsiteX53" fmla="*/ 93798 w 432972"/>
              <a:gd name="connsiteY53" fmla="*/ 122559 h 557863"/>
              <a:gd name="connsiteX54" fmla="*/ 114786 w 432972"/>
              <a:gd name="connsiteY54" fmla="*/ 101571 h 557863"/>
              <a:gd name="connsiteX55" fmla="*/ 77547 w 432972"/>
              <a:gd name="connsiteY55" fmla="*/ 49982 h 557863"/>
              <a:gd name="connsiteX56" fmla="*/ 51698 w 432972"/>
              <a:gd name="connsiteY56" fmla="*/ 75779 h 557863"/>
              <a:gd name="connsiteX57" fmla="*/ 51698 w 432972"/>
              <a:gd name="connsiteY57" fmla="*/ 432102 h 557863"/>
              <a:gd name="connsiteX58" fmla="*/ 77547 w 432972"/>
              <a:gd name="connsiteY58" fmla="*/ 456287 h 557863"/>
              <a:gd name="connsiteX59" fmla="*/ 357040 w 432972"/>
              <a:gd name="connsiteY59" fmla="*/ 456287 h 557863"/>
              <a:gd name="connsiteX60" fmla="*/ 381274 w 432972"/>
              <a:gd name="connsiteY60" fmla="*/ 432102 h 557863"/>
              <a:gd name="connsiteX61" fmla="*/ 381274 w 432972"/>
              <a:gd name="connsiteY61" fmla="*/ 75779 h 557863"/>
              <a:gd name="connsiteX62" fmla="*/ 357040 w 432972"/>
              <a:gd name="connsiteY62" fmla="*/ 49982 h 557863"/>
              <a:gd name="connsiteX63" fmla="*/ 77547 w 432972"/>
              <a:gd name="connsiteY63" fmla="*/ 0 h 557863"/>
              <a:gd name="connsiteX64" fmla="*/ 357040 w 432972"/>
              <a:gd name="connsiteY64" fmla="*/ 0 h 557863"/>
              <a:gd name="connsiteX65" fmla="*/ 432972 w 432972"/>
              <a:gd name="connsiteY65" fmla="*/ 75779 h 557863"/>
              <a:gd name="connsiteX66" fmla="*/ 432972 w 432972"/>
              <a:gd name="connsiteY66" fmla="*/ 482084 h 557863"/>
              <a:gd name="connsiteX67" fmla="*/ 357040 w 432972"/>
              <a:gd name="connsiteY67" fmla="*/ 557863 h 557863"/>
              <a:gd name="connsiteX68" fmla="*/ 77547 w 432972"/>
              <a:gd name="connsiteY68" fmla="*/ 557863 h 557863"/>
              <a:gd name="connsiteX69" fmla="*/ 0 w 432972"/>
              <a:gd name="connsiteY69" fmla="*/ 482084 h 557863"/>
              <a:gd name="connsiteX70" fmla="*/ 0 w 432972"/>
              <a:gd name="connsiteY70" fmla="*/ 75779 h 557863"/>
              <a:gd name="connsiteX71" fmla="*/ 77547 w 432972"/>
              <a:gd name="connsiteY71" fmla="*/ 0 h 557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32972" h="557863">
                <a:moveTo>
                  <a:pt x="222948" y="470798"/>
                </a:moveTo>
                <a:cubicBezTo>
                  <a:pt x="205177" y="470798"/>
                  <a:pt x="192253" y="485309"/>
                  <a:pt x="192253" y="501432"/>
                </a:cubicBezTo>
                <a:cubicBezTo>
                  <a:pt x="192253" y="519168"/>
                  <a:pt x="205177" y="533678"/>
                  <a:pt x="222948" y="533678"/>
                </a:cubicBezTo>
                <a:cubicBezTo>
                  <a:pt x="239104" y="533678"/>
                  <a:pt x="253644" y="519168"/>
                  <a:pt x="253644" y="501432"/>
                </a:cubicBezTo>
                <a:cubicBezTo>
                  <a:pt x="253644" y="485309"/>
                  <a:pt x="239104" y="470798"/>
                  <a:pt x="222948" y="470798"/>
                </a:cubicBezTo>
                <a:close/>
                <a:moveTo>
                  <a:pt x="182413" y="237085"/>
                </a:moveTo>
                <a:cubicBezTo>
                  <a:pt x="194004" y="237085"/>
                  <a:pt x="203401" y="246482"/>
                  <a:pt x="203401" y="258073"/>
                </a:cubicBezTo>
                <a:cubicBezTo>
                  <a:pt x="203401" y="269664"/>
                  <a:pt x="194004" y="279061"/>
                  <a:pt x="182413" y="279061"/>
                </a:cubicBezTo>
                <a:cubicBezTo>
                  <a:pt x="170822" y="279061"/>
                  <a:pt x="161425" y="269664"/>
                  <a:pt x="161425" y="258073"/>
                </a:cubicBezTo>
                <a:cubicBezTo>
                  <a:pt x="161425" y="246482"/>
                  <a:pt x="170822" y="237085"/>
                  <a:pt x="182413" y="237085"/>
                </a:cubicBezTo>
                <a:close/>
                <a:moveTo>
                  <a:pt x="114786" y="237085"/>
                </a:moveTo>
                <a:cubicBezTo>
                  <a:pt x="126377" y="237085"/>
                  <a:pt x="135774" y="246482"/>
                  <a:pt x="135774" y="258073"/>
                </a:cubicBezTo>
                <a:cubicBezTo>
                  <a:pt x="135774" y="269664"/>
                  <a:pt x="126377" y="279061"/>
                  <a:pt x="114786" y="279061"/>
                </a:cubicBezTo>
                <a:cubicBezTo>
                  <a:pt x="103195" y="279061"/>
                  <a:pt x="93798" y="269664"/>
                  <a:pt x="93798" y="258073"/>
                </a:cubicBezTo>
                <a:cubicBezTo>
                  <a:pt x="93798" y="246482"/>
                  <a:pt x="103195" y="237085"/>
                  <a:pt x="114786" y="237085"/>
                </a:cubicBezTo>
                <a:close/>
                <a:moveTo>
                  <a:pt x="318187" y="169199"/>
                </a:moveTo>
                <a:cubicBezTo>
                  <a:pt x="329778" y="169199"/>
                  <a:pt x="339175" y="178596"/>
                  <a:pt x="339175" y="190187"/>
                </a:cubicBezTo>
                <a:cubicBezTo>
                  <a:pt x="339175" y="201778"/>
                  <a:pt x="329778" y="211175"/>
                  <a:pt x="318187" y="211175"/>
                </a:cubicBezTo>
                <a:cubicBezTo>
                  <a:pt x="306596" y="211175"/>
                  <a:pt x="297199" y="201778"/>
                  <a:pt x="297199" y="190187"/>
                </a:cubicBezTo>
                <a:cubicBezTo>
                  <a:pt x="297199" y="178596"/>
                  <a:pt x="306596" y="169199"/>
                  <a:pt x="318187" y="169199"/>
                </a:cubicBezTo>
                <a:close/>
                <a:moveTo>
                  <a:pt x="250300" y="169199"/>
                </a:moveTo>
                <a:cubicBezTo>
                  <a:pt x="261891" y="169199"/>
                  <a:pt x="271288" y="178596"/>
                  <a:pt x="271288" y="190187"/>
                </a:cubicBezTo>
                <a:cubicBezTo>
                  <a:pt x="271288" y="201778"/>
                  <a:pt x="261891" y="211175"/>
                  <a:pt x="250300" y="211175"/>
                </a:cubicBezTo>
                <a:cubicBezTo>
                  <a:pt x="238709" y="211175"/>
                  <a:pt x="229312" y="201778"/>
                  <a:pt x="229312" y="190187"/>
                </a:cubicBezTo>
                <a:cubicBezTo>
                  <a:pt x="229312" y="178596"/>
                  <a:pt x="238709" y="169199"/>
                  <a:pt x="250300" y="169199"/>
                </a:cubicBezTo>
                <a:close/>
                <a:moveTo>
                  <a:pt x="182413" y="169199"/>
                </a:moveTo>
                <a:cubicBezTo>
                  <a:pt x="194004" y="169199"/>
                  <a:pt x="203401" y="178596"/>
                  <a:pt x="203401" y="190187"/>
                </a:cubicBezTo>
                <a:cubicBezTo>
                  <a:pt x="203401" y="201778"/>
                  <a:pt x="194004" y="211175"/>
                  <a:pt x="182413" y="211175"/>
                </a:cubicBezTo>
                <a:cubicBezTo>
                  <a:pt x="170822" y="211175"/>
                  <a:pt x="161425" y="201778"/>
                  <a:pt x="161425" y="190187"/>
                </a:cubicBezTo>
                <a:cubicBezTo>
                  <a:pt x="161425" y="178596"/>
                  <a:pt x="170822" y="169199"/>
                  <a:pt x="182413" y="169199"/>
                </a:cubicBezTo>
                <a:close/>
                <a:moveTo>
                  <a:pt x="114786" y="169199"/>
                </a:moveTo>
                <a:cubicBezTo>
                  <a:pt x="126377" y="169199"/>
                  <a:pt x="135774" y="178596"/>
                  <a:pt x="135774" y="190187"/>
                </a:cubicBezTo>
                <a:cubicBezTo>
                  <a:pt x="135774" y="201778"/>
                  <a:pt x="126377" y="211175"/>
                  <a:pt x="114786" y="211175"/>
                </a:cubicBezTo>
                <a:cubicBezTo>
                  <a:pt x="103195" y="211175"/>
                  <a:pt x="93798" y="201778"/>
                  <a:pt x="93798" y="190187"/>
                </a:cubicBezTo>
                <a:cubicBezTo>
                  <a:pt x="93798" y="178596"/>
                  <a:pt x="103195" y="169199"/>
                  <a:pt x="114786" y="169199"/>
                </a:cubicBezTo>
                <a:close/>
                <a:moveTo>
                  <a:pt x="318187" y="101571"/>
                </a:moveTo>
                <a:cubicBezTo>
                  <a:pt x="329778" y="101571"/>
                  <a:pt x="339175" y="110968"/>
                  <a:pt x="339175" y="122559"/>
                </a:cubicBezTo>
                <a:cubicBezTo>
                  <a:pt x="339175" y="134150"/>
                  <a:pt x="329778" y="143547"/>
                  <a:pt x="318187" y="143547"/>
                </a:cubicBezTo>
                <a:cubicBezTo>
                  <a:pt x="306596" y="143547"/>
                  <a:pt x="297199" y="134150"/>
                  <a:pt x="297199" y="122559"/>
                </a:cubicBezTo>
                <a:cubicBezTo>
                  <a:pt x="297199" y="110968"/>
                  <a:pt x="306596" y="101571"/>
                  <a:pt x="318187" y="101571"/>
                </a:cubicBezTo>
                <a:close/>
                <a:moveTo>
                  <a:pt x="250300" y="101571"/>
                </a:moveTo>
                <a:cubicBezTo>
                  <a:pt x="261891" y="101571"/>
                  <a:pt x="271288" y="110968"/>
                  <a:pt x="271288" y="122559"/>
                </a:cubicBezTo>
                <a:cubicBezTo>
                  <a:pt x="271288" y="134150"/>
                  <a:pt x="261891" y="143547"/>
                  <a:pt x="250300" y="143547"/>
                </a:cubicBezTo>
                <a:cubicBezTo>
                  <a:pt x="238709" y="143547"/>
                  <a:pt x="229312" y="134150"/>
                  <a:pt x="229312" y="122559"/>
                </a:cubicBezTo>
                <a:cubicBezTo>
                  <a:pt x="229312" y="110968"/>
                  <a:pt x="238709" y="101571"/>
                  <a:pt x="250300" y="101571"/>
                </a:cubicBezTo>
                <a:close/>
                <a:moveTo>
                  <a:pt x="182413" y="101571"/>
                </a:moveTo>
                <a:cubicBezTo>
                  <a:pt x="194004" y="101571"/>
                  <a:pt x="203401" y="110968"/>
                  <a:pt x="203401" y="122559"/>
                </a:cubicBezTo>
                <a:cubicBezTo>
                  <a:pt x="203401" y="134150"/>
                  <a:pt x="194004" y="143547"/>
                  <a:pt x="182413" y="143547"/>
                </a:cubicBezTo>
                <a:cubicBezTo>
                  <a:pt x="170822" y="143547"/>
                  <a:pt x="161425" y="134150"/>
                  <a:pt x="161425" y="122559"/>
                </a:cubicBezTo>
                <a:cubicBezTo>
                  <a:pt x="161425" y="110968"/>
                  <a:pt x="170822" y="101571"/>
                  <a:pt x="182413" y="101571"/>
                </a:cubicBezTo>
                <a:close/>
                <a:moveTo>
                  <a:pt x="114786" y="101571"/>
                </a:moveTo>
                <a:cubicBezTo>
                  <a:pt x="126377" y="101571"/>
                  <a:pt x="135774" y="110968"/>
                  <a:pt x="135774" y="122559"/>
                </a:cubicBezTo>
                <a:cubicBezTo>
                  <a:pt x="135774" y="134150"/>
                  <a:pt x="126377" y="143547"/>
                  <a:pt x="114786" y="143547"/>
                </a:cubicBezTo>
                <a:cubicBezTo>
                  <a:pt x="103195" y="143547"/>
                  <a:pt x="93798" y="134150"/>
                  <a:pt x="93798" y="122559"/>
                </a:cubicBezTo>
                <a:cubicBezTo>
                  <a:pt x="93798" y="110968"/>
                  <a:pt x="103195" y="101571"/>
                  <a:pt x="114786" y="101571"/>
                </a:cubicBezTo>
                <a:close/>
                <a:moveTo>
                  <a:pt x="77547" y="49982"/>
                </a:moveTo>
                <a:cubicBezTo>
                  <a:pt x="63007" y="49982"/>
                  <a:pt x="51698" y="62880"/>
                  <a:pt x="51698" y="75779"/>
                </a:cubicBezTo>
                <a:lnTo>
                  <a:pt x="51698" y="432102"/>
                </a:lnTo>
                <a:cubicBezTo>
                  <a:pt x="51698" y="445001"/>
                  <a:pt x="63007" y="456287"/>
                  <a:pt x="77547" y="456287"/>
                </a:cubicBezTo>
                <a:lnTo>
                  <a:pt x="357040" y="456287"/>
                </a:lnTo>
                <a:cubicBezTo>
                  <a:pt x="369965" y="456287"/>
                  <a:pt x="381274" y="445001"/>
                  <a:pt x="381274" y="432102"/>
                </a:cubicBezTo>
                <a:lnTo>
                  <a:pt x="381274" y="75779"/>
                </a:lnTo>
                <a:cubicBezTo>
                  <a:pt x="381274" y="62880"/>
                  <a:pt x="369965" y="49982"/>
                  <a:pt x="357040" y="49982"/>
                </a:cubicBezTo>
                <a:close/>
                <a:moveTo>
                  <a:pt x="77547" y="0"/>
                </a:moveTo>
                <a:lnTo>
                  <a:pt x="357040" y="0"/>
                </a:lnTo>
                <a:cubicBezTo>
                  <a:pt x="399045" y="0"/>
                  <a:pt x="432972" y="33858"/>
                  <a:pt x="432972" y="75779"/>
                </a:cubicBezTo>
                <a:lnTo>
                  <a:pt x="432972" y="482084"/>
                </a:lnTo>
                <a:cubicBezTo>
                  <a:pt x="432972" y="524004"/>
                  <a:pt x="399045" y="557863"/>
                  <a:pt x="357040" y="557863"/>
                </a:cubicBezTo>
                <a:lnTo>
                  <a:pt x="77547" y="557863"/>
                </a:lnTo>
                <a:cubicBezTo>
                  <a:pt x="35542" y="557863"/>
                  <a:pt x="0" y="524004"/>
                  <a:pt x="0" y="482084"/>
                </a:cubicBezTo>
                <a:lnTo>
                  <a:pt x="0" y="75779"/>
                </a:lnTo>
                <a:cubicBezTo>
                  <a:pt x="0" y="33858"/>
                  <a:pt x="35542" y="0"/>
                  <a:pt x="7754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38" name="熊大的PPT宝库36"/>
          <p:cNvSpPr/>
          <p:nvPr/>
        </p:nvSpPr>
        <p:spPr>
          <a:xfrm>
            <a:off x="10592771" y="1506416"/>
            <a:ext cx="159916" cy="159590"/>
          </a:xfrm>
          <a:custGeom>
            <a:avLst/>
            <a:gdLst>
              <a:gd name="T0" fmla="*/ 8390 w 11230"/>
              <a:gd name="T1" fmla="*/ 8004 h 11206"/>
              <a:gd name="T2" fmla="*/ 8603 w 11230"/>
              <a:gd name="T3" fmla="*/ 8092 h 11206"/>
              <a:gd name="T4" fmla="*/ 8814 w 11230"/>
              <a:gd name="T5" fmla="*/ 8005 h 11206"/>
              <a:gd name="T6" fmla="*/ 8814 w 11230"/>
              <a:gd name="T7" fmla="*/ 7581 h 11206"/>
              <a:gd name="T8" fmla="*/ 6420 w 11230"/>
              <a:gd name="T9" fmla="*/ 5181 h 11206"/>
              <a:gd name="T10" fmla="*/ 5996 w 11230"/>
              <a:gd name="T11" fmla="*/ 5181 h 11206"/>
              <a:gd name="T12" fmla="*/ 5996 w 11230"/>
              <a:gd name="T13" fmla="*/ 5605 h 11206"/>
              <a:gd name="T14" fmla="*/ 8390 w 11230"/>
              <a:gd name="T15" fmla="*/ 8004 h 11206"/>
              <a:gd name="T16" fmla="*/ 6561 w 11230"/>
              <a:gd name="T17" fmla="*/ 8382 h 11206"/>
              <a:gd name="T18" fmla="*/ 6774 w 11230"/>
              <a:gd name="T19" fmla="*/ 8470 h 11206"/>
              <a:gd name="T20" fmla="*/ 6986 w 11230"/>
              <a:gd name="T21" fmla="*/ 8382 h 11206"/>
              <a:gd name="T22" fmla="*/ 6986 w 11230"/>
              <a:gd name="T23" fmla="*/ 7959 h 11206"/>
              <a:gd name="T24" fmla="*/ 6188 w 11230"/>
              <a:gd name="T25" fmla="*/ 7160 h 11206"/>
              <a:gd name="T26" fmla="*/ 5764 w 11230"/>
              <a:gd name="T27" fmla="*/ 7160 h 11206"/>
              <a:gd name="T28" fmla="*/ 5764 w 11230"/>
              <a:gd name="T29" fmla="*/ 7584 h 11206"/>
              <a:gd name="T30" fmla="*/ 6561 w 11230"/>
              <a:gd name="T31" fmla="*/ 8382 h 11206"/>
              <a:gd name="T32" fmla="*/ 10911 w 11230"/>
              <a:gd name="T33" fmla="*/ 10606 h 11206"/>
              <a:gd name="T34" fmla="*/ 10413 w 11230"/>
              <a:gd name="T35" fmla="*/ 10606 h 11206"/>
              <a:gd name="T36" fmla="*/ 10413 w 11230"/>
              <a:gd name="T37" fmla="*/ 3990 h 11206"/>
              <a:gd name="T38" fmla="*/ 10915 w 11230"/>
              <a:gd name="T39" fmla="*/ 3991 h 11206"/>
              <a:gd name="T40" fmla="*/ 11166 w 11230"/>
              <a:gd name="T41" fmla="*/ 3855 h 11206"/>
              <a:gd name="T42" fmla="*/ 11189 w 11230"/>
              <a:gd name="T43" fmla="*/ 3569 h 11206"/>
              <a:gd name="T44" fmla="*/ 9886 w 11230"/>
              <a:gd name="T45" fmla="*/ 177 h 11206"/>
              <a:gd name="T46" fmla="*/ 9613 w 11230"/>
              <a:gd name="T47" fmla="*/ 0 h 11206"/>
              <a:gd name="T48" fmla="*/ 1611 w 11230"/>
              <a:gd name="T49" fmla="*/ 0 h 11206"/>
              <a:gd name="T50" fmla="*/ 1338 w 11230"/>
              <a:gd name="T51" fmla="*/ 177 h 11206"/>
              <a:gd name="T52" fmla="*/ 41 w 11230"/>
              <a:gd name="T53" fmla="*/ 3567 h 11206"/>
              <a:gd name="T54" fmla="*/ 64 w 11230"/>
              <a:gd name="T55" fmla="*/ 3853 h 11206"/>
              <a:gd name="T56" fmla="*/ 315 w 11230"/>
              <a:gd name="T57" fmla="*/ 3990 h 11206"/>
              <a:gd name="T58" fmla="*/ 810 w 11230"/>
              <a:gd name="T59" fmla="*/ 3988 h 11206"/>
              <a:gd name="T60" fmla="*/ 810 w 11230"/>
              <a:gd name="T61" fmla="*/ 10606 h 11206"/>
              <a:gd name="T62" fmla="*/ 310 w 11230"/>
              <a:gd name="T63" fmla="*/ 10606 h 11206"/>
              <a:gd name="T64" fmla="*/ 10 w 11230"/>
              <a:gd name="T65" fmla="*/ 10906 h 11206"/>
              <a:gd name="T66" fmla="*/ 310 w 11230"/>
              <a:gd name="T67" fmla="*/ 11206 h 11206"/>
              <a:gd name="T68" fmla="*/ 10910 w 11230"/>
              <a:gd name="T69" fmla="*/ 11206 h 11206"/>
              <a:gd name="T70" fmla="*/ 11210 w 11230"/>
              <a:gd name="T71" fmla="*/ 10906 h 11206"/>
              <a:gd name="T72" fmla="*/ 10911 w 11230"/>
              <a:gd name="T73" fmla="*/ 10606 h 11206"/>
              <a:gd name="T74" fmla="*/ 9813 w 11230"/>
              <a:gd name="T75" fmla="*/ 10587 h 11206"/>
              <a:gd name="T76" fmla="*/ 4611 w 11230"/>
              <a:gd name="T77" fmla="*/ 10587 h 11206"/>
              <a:gd name="T78" fmla="*/ 4611 w 11230"/>
              <a:gd name="T79" fmla="*/ 3985 h 11206"/>
              <a:gd name="T80" fmla="*/ 9813 w 11230"/>
              <a:gd name="T81" fmla="*/ 3989 h 11206"/>
              <a:gd name="T82" fmla="*/ 9813 w 11230"/>
              <a:gd name="T83" fmla="*/ 10587 h 11206"/>
              <a:gd name="T84" fmla="*/ 894 w 11230"/>
              <a:gd name="T85" fmla="*/ 3390 h 11206"/>
              <a:gd name="T86" fmla="*/ 825 w 11230"/>
              <a:gd name="T87" fmla="*/ 3285 h 11206"/>
              <a:gd name="T88" fmla="*/ 1785 w 11230"/>
              <a:gd name="T89" fmla="*/ 645 h 11206"/>
              <a:gd name="T90" fmla="*/ 1854 w 11230"/>
              <a:gd name="T91" fmla="*/ 600 h 11206"/>
              <a:gd name="T92" fmla="*/ 9370 w 11230"/>
              <a:gd name="T93" fmla="*/ 600 h 11206"/>
              <a:gd name="T94" fmla="*/ 9439 w 11230"/>
              <a:gd name="T95" fmla="*/ 644 h 11206"/>
              <a:gd name="T96" fmla="*/ 10403 w 11230"/>
              <a:gd name="T97" fmla="*/ 3284 h 11206"/>
              <a:gd name="T98" fmla="*/ 10334 w 11230"/>
              <a:gd name="T99" fmla="*/ 3390 h 11206"/>
              <a:gd name="T100" fmla="*/ 4011 w 11230"/>
              <a:gd name="T101" fmla="*/ 3985 h 11206"/>
              <a:gd name="T102" fmla="*/ 4011 w 11230"/>
              <a:gd name="T103" fmla="*/ 10587 h 11206"/>
              <a:gd name="T104" fmla="*/ 1411 w 11230"/>
              <a:gd name="T105" fmla="*/ 10587 h 11206"/>
              <a:gd name="T106" fmla="*/ 1411 w 11230"/>
              <a:gd name="T107" fmla="*/ 3989 h 11206"/>
              <a:gd name="T108" fmla="*/ 4011 w 11230"/>
              <a:gd name="T109" fmla="*/ 3985 h 11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230" h="11206">
                <a:moveTo>
                  <a:pt x="8390" y="8004"/>
                </a:moveTo>
                <a:cubicBezTo>
                  <a:pt x="8449" y="8062"/>
                  <a:pt x="8525" y="8092"/>
                  <a:pt x="8603" y="8092"/>
                </a:cubicBezTo>
                <a:cubicBezTo>
                  <a:pt x="8679" y="8092"/>
                  <a:pt x="8756" y="8064"/>
                  <a:pt x="8814" y="8005"/>
                </a:cubicBezTo>
                <a:cubicBezTo>
                  <a:pt x="8931" y="7887"/>
                  <a:pt x="8931" y="7697"/>
                  <a:pt x="8814" y="7581"/>
                </a:cubicBezTo>
                <a:lnTo>
                  <a:pt x="6420" y="5181"/>
                </a:lnTo>
                <a:cubicBezTo>
                  <a:pt x="6303" y="5064"/>
                  <a:pt x="6112" y="5064"/>
                  <a:pt x="5996" y="5181"/>
                </a:cubicBezTo>
                <a:cubicBezTo>
                  <a:pt x="5879" y="5299"/>
                  <a:pt x="5879" y="5489"/>
                  <a:pt x="5996" y="5605"/>
                </a:cubicBezTo>
                <a:lnTo>
                  <a:pt x="8390" y="8004"/>
                </a:lnTo>
                <a:close/>
                <a:moveTo>
                  <a:pt x="6561" y="8382"/>
                </a:moveTo>
                <a:cubicBezTo>
                  <a:pt x="6620" y="8441"/>
                  <a:pt x="6696" y="8470"/>
                  <a:pt x="6774" y="8470"/>
                </a:cubicBezTo>
                <a:cubicBezTo>
                  <a:pt x="6851" y="8470"/>
                  <a:pt x="6928" y="8441"/>
                  <a:pt x="6986" y="8382"/>
                </a:cubicBezTo>
                <a:cubicBezTo>
                  <a:pt x="7104" y="8265"/>
                  <a:pt x="7104" y="8075"/>
                  <a:pt x="6986" y="7959"/>
                </a:cubicBezTo>
                <a:lnTo>
                  <a:pt x="6188" y="7160"/>
                </a:lnTo>
                <a:cubicBezTo>
                  <a:pt x="6070" y="7042"/>
                  <a:pt x="5880" y="7042"/>
                  <a:pt x="5764" y="7160"/>
                </a:cubicBezTo>
                <a:cubicBezTo>
                  <a:pt x="5646" y="7277"/>
                  <a:pt x="5646" y="7467"/>
                  <a:pt x="5764" y="7584"/>
                </a:cubicBezTo>
                <a:lnTo>
                  <a:pt x="6561" y="8382"/>
                </a:lnTo>
                <a:close/>
                <a:moveTo>
                  <a:pt x="10911" y="10606"/>
                </a:moveTo>
                <a:lnTo>
                  <a:pt x="10413" y="10606"/>
                </a:lnTo>
                <a:lnTo>
                  <a:pt x="10413" y="3990"/>
                </a:lnTo>
                <a:lnTo>
                  <a:pt x="10915" y="3991"/>
                </a:lnTo>
                <a:cubicBezTo>
                  <a:pt x="11016" y="3991"/>
                  <a:pt x="11111" y="3940"/>
                  <a:pt x="11166" y="3855"/>
                </a:cubicBezTo>
                <a:cubicBezTo>
                  <a:pt x="11221" y="3770"/>
                  <a:pt x="11230" y="3662"/>
                  <a:pt x="11189" y="3569"/>
                </a:cubicBezTo>
                <a:lnTo>
                  <a:pt x="9886" y="177"/>
                </a:lnTo>
                <a:cubicBezTo>
                  <a:pt x="9838" y="70"/>
                  <a:pt x="9731" y="0"/>
                  <a:pt x="9613" y="0"/>
                </a:cubicBezTo>
                <a:lnTo>
                  <a:pt x="1611" y="0"/>
                </a:lnTo>
                <a:cubicBezTo>
                  <a:pt x="1493" y="0"/>
                  <a:pt x="1385" y="70"/>
                  <a:pt x="1338" y="177"/>
                </a:cubicBezTo>
                <a:lnTo>
                  <a:pt x="41" y="3567"/>
                </a:lnTo>
                <a:cubicBezTo>
                  <a:pt x="0" y="3660"/>
                  <a:pt x="9" y="3767"/>
                  <a:pt x="64" y="3853"/>
                </a:cubicBezTo>
                <a:cubicBezTo>
                  <a:pt x="119" y="3939"/>
                  <a:pt x="214" y="3990"/>
                  <a:pt x="315" y="3990"/>
                </a:cubicBezTo>
                <a:lnTo>
                  <a:pt x="810" y="3988"/>
                </a:lnTo>
                <a:lnTo>
                  <a:pt x="810" y="10606"/>
                </a:lnTo>
                <a:lnTo>
                  <a:pt x="310" y="10606"/>
                </a:lnTo>
                <a:cubicBezTo>
                  <a:pt x="144" y="10606"/>
                  <a:pt x="10" y="10740"/>
                  <a:pt x="10" y="10906"/>
                </a:cubicBezTo>
                <a:cubicBezTo>
                  <a:pt x="10" y="11072"/>
                  <a:pt x="144" y="11206"/>
                  <a:pt x="310" y="11206"/>
                </a:cubicBezTo>
                <a:lnTo>
                  <a:pt x="10910" y="11206"/>
                </a:lnTo>
                <a:cubicBezTo>
                  <a:pt x="11076" y="11206"/>
                  <a:pt x="11210" y="11072"/>
                  <a:pt x="11210" y="10906"/>
                </a:cubicBezTo>
                <a:cubicBezTo>
                  <a:pt x="11210" y="10740"/>
                  <a:pt x="11076" y="10606"/>
                  <a:pt x="10911" y="10606"/>
                </a:cubicBezTo>
                <a:close/>
                <a:moveTo>
                  <a:pt x="9813" y="10587"/>
                </a:moveTo>
                <a:lnTo>
                  <a:pt x="4611" y="10587"/>
                </a:lnTo>
                <a:lnTo>
                  <a:pt x="4611" y="3985"/>
                </a:lnTo>
                <a:lnTo>
                  <a:pt x="9813" y="3989"/>
                </a:lnTo>
                <a:lnTo>
                  <a:pt x="9813" y="10587"/>
                </a:lnTo>
                <a:close/>
                <a:moveTo>
                  <a:pt x="894" y="3390"/>
                </a:moveTo>
                <a:cubicBezTo>
                  <a:pt x="839" y="3390"/>
                  <a:pt x="803" y="3334"/>
                  <a:pt x="825" y="3285"/>
                </a:cubicBezTo>
                <a:lnTo>
                  <a:pt x="1785" y="645"/>
                </a:lnTo>
                <a:cubicBezTo>
                  <a:pt x="1798" y="617"/>
                  <a:pt x="1824" y="600"/>
                  <a:pt x="1854" y="600"/>
                </a:cubicBezTo>
                <a:lnTo>
                  <a:pt x="9370" y="600"/>
                </a:lnTo>
                <a:cubicBezTo>
                  <a:pt x="9400" y="600"/>
                  <a:pt x="9426" y="617"/>
                  <a:pt x="9439" y="644"/>
                </a:cubicBezTo>
                <a:lnTo>
                  <a:pt x="10403" y="3284"/>
                </a:lnTo>
                <a:cubicBezTo>
                  <a:pt x="10425" y="3334"/>
                  <a:pt x="10389" y="3390"/>
                  <a:pt x="10334" y="3390"/>
                </a:cubicBezTo>
                <a:moveTo>
                  <a:pt x="4011" y="3985"/>
                </a:moveTo>
                <a:lnTo>
                  <a:pt x="4011" y="10587"/>
                </a:lnTo>
                <a:lnTo>
                  <a:pt x="1411" y="10587"/>
                </a:lnTo>
                <a:lnTo>
                  <a:pt x="1411" y="3989"/>
                </a:lnTo>
                <a:lnTo>
                  <a:pt x="4011" y="398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cs typeface="+mn-ea"/>
              <a:sym typeface="+mn-lt"/>
            </a:endParaRPr>
          </a:p>
        </p:txBody>
      </p:sp>
      <p:sp>
        <p:nvSpPr>
          <p:cNvPr id="39" name="熊大的PPT宝库37"/>
          <p:cNvSpPr/>
          <p:nvPr/>
        </p:nvSpPr>
        <p:spPr>
          <a:xfrm>
            <a:off x="442911" y="2050429"/>
            <a:ext cx="11294740" cy="4258296"/>
          </a:xfrm>
          <a:prstGeom prst="roundRect">
            <a:avLst>
              <a:gd name="adj" fmla="val 3093"/>
            </a:avLst>
          </a:prstGeom>
          <a:noFill/>
          <a:ln w="12700">
            <a:solidFill>
              <a:schemeClr val="accent1"/>
            </a:solidFill>
            <a:prstDash val="lgDash"/>
          </a:ln>
        </p:spPr>
        <p:txBody>
          <a:bodyPr wrap="none" lIns="0" tIns="0" rIns="0" bIns="0" rtlCol="0" anchor="t">
            <a:noAutofit/>
          </a:bodyPr>
          <a:lstStyle/>
          <a:p>
            <a:pPr marL="0" marR="0" lvl="0" indent="0" algn="just"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000000"/>
              </a:solidFill>
              <a:effectLst/>
              <a:uLnTx/>
              <a:uFillTx/>
              <a:cs typeface="+mn-ea"/>
              <a:sym typeface="+mn-lt"/>
            </a:endParaRPr>
          </a:p>
        </p:txBody>
      </p:sp>
      <p:sp>
        <p:nvSpPr>
          <p:cNvPr id="40" name="熊大的PPT宝库38"/>
          <p:cNvSpPr/>
          <p:nvPr/>
        </p:nvSpPr>
        <p:spPr>
          <a:xfrm>
            <a:off x="1984168" y="2245590"/>
            <a:ext cx="2916000" cy="357852"/>
          </a:xfrm>
          <a:prstGeom prst="roundRect">
            <a:avLst>
              <a:gd name="adj" fmla="val 50000"/>
            </a:avLst>
          </a:prstGeom>
          <a:solidFill>
            <a:schemeClr val="accent1">
              <a:lumMod val="40000"/>
              <a:lumOff val="6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业务咨询服务</a:t>
            </a:r>
          </a:p>
        </p:txBody>
      </p:sp>
      <p:sp>
        <p:nvSpPr>
          <p:cNvPr id="41" name="熊大的PPT宝库39"/>
          <p:cNvSpPr/>
          <p:nvPr/>
        </p:nvSpPr>
        <p:spPr>
          <a:xfrm>
            <a:off x="4983425" y="2245590"/>
            <a:ext cx="2916000" cy="357852"/>
          </a:xfrm>
          <a:prstGeom prst="roundRect">
            <a:avLst>
              <a:gd name="adj" fmla="val 50000"/>
            </a:avLst>
          </a:prstGeom>
          <a:solidFill>
            <a:schemeClr val="accent1">
              <a:lumMod val="40000"/>
              <a:lumOff val="6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数据分析服务</a:t>
            </a:r>
          </a:p>
        </p:txBody>
      </p:sp>
      <p:sp>
        <p:nvSpPr>
          <p:cNvPr id="42" name="熊大的PPT宝库40"/>
          <p:cNvSpPr/>
          <p:nvPr/>
        </p:nvSpPr>
        <p:spPr>
          <a:xfrm>
            <a:off x="7993506" y="2245590"/>
            <a:ext cx="2916000" cy="357852"/>
          </a:xfrm>
          <a:prstGeom prst="roundRect">
            <a:avLst>
              <a:gd name="adj" fmla="val 50000"/>
            </a:avLst>
          </a:prstGeom>
          <a:solidFill>
            <a:schemeClr val="accent1">
              <a:lumMod val="40000"/>
              <a:lumOff val="6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FFFFFF"/>
                </a:solidFill>
                <a:effectLst/>
                <a:uLnTx/>
                <a:uFillTx/>
                <a:cs typeface="+mn-ea"/>
                <a:sym typeface="+mn-lt"/>
              </a:rPr>
              <a:t>平台赋能服务</a:t>
            </a:r>
          </a:p>
        </p:txBody>
      </p:sp>
      <p:sp>
        <p:nvSpPr>
          <p:cNvPr id="43" name="熊大的PPT宝库41"/>
          <p:cNvSpPr/>
          <p:nvPr/>
        </p:nvSpPr>
        <p:spPr>
          <a:xfrm>
            <a:off x="1455831" y="2250861"/>
            <a:ext cx="413185" cy="357852"/>
          </a:xfrm>
          <a:prstGeom prst="downArrow">
            <a:avLst/>
          </a:prstGeom>
          <a:gradFill>
            <a:gsLst>
              <a:gs pos="0">
                <a:schemeClr val="accent1">
                  <a:lumMod val="20000"/>
                  <a:lumOff val="80000"/>
                </a:schemeClr>
              </a:gs>
              <a:gs pos="100000">
                <a:schemeClr val="accent1">
                  <a:lumMod val="75000"/>
                </a:schemeClr>
              </a:gs>
            </a:gsLst>
            <a:lin ang="5400000" scaled="0"/>
          </a:gra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44" name="熊大的PPT宝库42"/>
          <p:cNvSpPr/>
          <p:nvPr/>
        </p:nvSpPr>
        <p:spPr>
          <a:xfrm flipV="1">
            <a:off x="11003587" y="2250861"/>
            <a:ext cx="413185" cy="357852"/>
          </a:xfrm>
          <a:prstGeom prst="downArrow">
            <a:avLst/>
          </a:prstGeom>
          <a:gradFill>
            <a:gsLst>
              <a:gs pos="0">
                <a:schemeClr val="accent1">
                  <a:lumMod val="20000"/>
                  <a:lumOff val="80000"/>
                </a:schemeClr>
              </a:gs>
              <a:gs pos="100000">
                <a:schemeClr val="accent1">
                  <a:lumMod val="75000"/>
                </a:schemeClr>
              </a:gs>
            </a:gsLst>
            <a:lin ang="5400000" scaled="0"/>
          </a:gra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45" name="熊大的PPT宝库43"/>
          <p:cNvSpPr txBox="1"/>
          <p:nvPr/>
        </p:nvSpPr>
        <p:spPr>
          <a:xfrm>
            <a:off x="1004981" y="2746750"/>
            <a:ext cx="1415772" cy="338554"/>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代理合作伙伴</a:t>
            </a:r>
          </a:p>
        </p:txBody>
      </p:sp>
      <p:sp>
        <p:nvSpPr>
          <p:cNvPr id="46" name="熊大的PPT宝库44"/>
          <p:cNvSpPr txBox="1"/>
          <p:nvPr/>
        </p:nvSpPr>
        <p:spPr>
          <a:xfrm>
            <a:off x="3919697" y="2746750"/>
            <a:ext cx="1415772" cy="338554"/>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行业合作伙伴</a:t>
            </a:r>
          </a:p>
        </p:txBody>
      </p:sp>
      <p:sp>
        <p:nvSpPr>
          <p:cNvPr id="47" name="熊大的PPT宝库45"/>
          <p:cNvSpPr txBox="1"/>
          <p:nvPr/>
        </p:nvSpPr>
        <p:spPr>
          <a:xfrm>
            <a:off x="6808696" y="2746750"/>
            <a:ext cx="1415772" cy="338554"/>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服务合作伙伴</a:t>
            </a:r>
          </a:p>
        </p:txBody>
      </p:sp>
      <p:sp>
        <p:nvSpPr>
          <p:cNvPr id="48" name="熊大的PPT宝库46"/>
          <p:cNvSpPr txBox="1"/>
          <p:nvPr/>
        </p:nvSpPr>
        <p:spPr>
          <a:xfrm>
            <a:off x="9694592" y="2746750"/>
            <a:ext cx="1415772" cy="338554"/>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29D"/>
                </a:solidFill>
                <a:effectLst/>
                <a:uLnTx/>
                <a:uFillTx/>
                <a:cs typeface="+mn-ea"/>
                <a:sym typeface="+mn-lt"/>
              </a:rPr>
              <a:t>产品合作伙伴</a:t>
            </a:r>
          </a:p>
        </p:txBody>
      </p:sp>
      <p:sp>
        <p:nvSpPr>
          <p:cNvPr id="50" name="熊大的PPT宝库47"/>
          <p:cNvSpPr/>
          <p:nvPr/>
        </p:nvSpPr>
        <p:spPr>
          <a:xfrm>
            <a:off x="1081636" y="3040168"/>
            <a:ext cx="1312325" cy="1938231"/>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alpha val="0"/>
                </a:schemeClr>
              </a:gs>
              <a:gs pos="46000">
                <a:schemeClr val="accent1">
                  <a:alpha val="13000"/>
                </a:schemeClr>
              </a:gs>
              <a:gs pos="100000">
                <a:schemeClr val="accent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3" name="熊大的PPT宝库48"/>
          <p:cNvSpPr/>
          <p:nvPr/>
        </p:nvSpPr>
        <p:spPr>
          <a:xfrm>
            <a:off x="1043046" y="3715300"/>
            <a:ext cx="1350916" cy="215142"/>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12700">
            <a:gradFill flip="none" rotWithShape="1">
              <a:gsLst>
                <a:gs pos="0">
                  <a:schemeClr val="accent1">
                    <a:lumMod val="40000"/>
                    <a:lumOff val="60000"/>
                    <a:alpha val="0"/>
                  </a:schemeClr>
                </a:gs>
                <a:gs pos="100000">
                  <a:schemeClr val="accent1"/>
                </a:gs>
              </a:gsLst>
              <a:lin ang="5400000" scaled="1"/>
              <a:tileRect/>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4" name="熊大的PPT宝库49"/>
          <p:cNvSpPr/>
          <p:nvPr/>
        </p:nvSpPr>
        <p:spPr>
          <a:xfrm>
            <a:off x="1312612" y="3715299"/>
            <a:ext cx="810464" cy="120377"/>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12700">
            <a:gradFill flip="none" rotWithShape="1">
              <a:gsLst>
                <a:gs pos="0">
                  <a:schemeClr val="accent1">
                    <a:lumMod val="40000"/>
                    <a:lumOff val="60000"/>
                    <a:alpha val="0"/>
                  </a:schemeClr>
                </a:gs>
                <a:gs pos="100000">
                  <a:schemeClr val="accent1"/>
                </a:gs>
              </a:gsLst>
              <a:lin ang="5400000" scaled="1"/>
              <a:tileRect/>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55" name="熊大的PPT宝库50"/>
          <p:cNvSpPr txBox="1"/>
          <p:nvPr/>
        </p:nvSpPr>
        <p:spPr>
          <a:xfrm>
            <a:off x="666281" y="3427077"/>
            <a:ext cx="542296" cy="28302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明星产品专项活动</a:t>
            </a:r>
          </a:p>
        </p:txBody>
      </p:sp>
      <p:sp>
        <p:nvSpPr>
          <p:cNvPr id="56" name="熊大的PPT宝库51"/>
          <p:cNvSpPr txBox="1"/>
          <p:nvPr/>
        </p:nvSpPr>
        <p:spPr>
          <a:xfrm>
            <a:off x="2217157" y="3427077"/>
            <a:ext cx="542296" cy="28302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商机支持渠道</a:t>
            </a:r>
          </a:p>
        </p:txBody>
      </p:sp>
      <p:sp>
        <p:nvSpPr>
          <p:cNvPr id="57" name="熊大的PPT宝库52"/>
          <p:cNvSpPr txBox="1"/>
          <p:nvPr/>
        </p:nvSpPr>
        <p:spPr>
          <a:xfrm>
            <a:off x="2217157" y="3960070"/>
            <a:ext cx="542296" cy="28302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专属渠道经理</a:t>
            </a:r>
          </a:p>
        </p:txBody>
      </p:sp>
      <p:sp>
        <p:nvSpPr>
          <p:cNvPr id="58" name="熊大的PPT宝库53"/>
          <p:cNvSpPr txBox="1"/>
          <p:nvPr/>
        </p:nvSpPr>
        <p:spPr>
          <a:xfrm>
            <a:off x="666281" y="3960070"/>
            <a:ext cx="542296" cy="28302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产品渠道价格</a:t>
            </a:r>
          </a:p>
        </p:txBody>
      </p:sp>
      <p:sp>
        <p:nvSpPr>
          <p:cNvPr id="59" name="熊大的PPT宝库54"/>
          <p:cNvSpPr/>
          <p:nvPr/>
        </p:nvSpPr>
        <p:spPr>
          <a:xfrm>
            <a:off x="1312611" y="3769480"/>
            <a:ext cx="36000" cy="36000"/>
          </a:xfrm>
          <a:prstGeom prst="ellips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60" name="熊大的PPT宝库55"/>
          <p:cNvSpPr/>
          <p:nvPr/>
        </p:nvSpPr>
        <p:spPr>
          <a:xfrm>
            <a:off x="2097366" y="3769480"/>
            <a:ext cx="36000" cy="36000"/>
          </a:xfrm>
          <a:prstGeom prst="ellips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61" name="熊大的PPT宝库56"/>
          <p:cNvSpPr/>
          <p:nvPr/>
        </p:nvSpPr>
        <p:spPr>
          <a:xfrm>
            <a:off x="1085891" y="3855256"/>
            <a:ext cx="36000" cy="36000"/>
          </a:xfrm>
          <a:prstGeom prst="ellips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63" name="熊大的PPT宝库57"/>
          <p:cNvSpPr/>
          <p:nvPr/>
        </p:nvSpPr>
        <p:spPr>
          <a:xfrm>
            <a:off x="2312825" y="3855256"/>
            <a:ext cx="36000" cy="36000"/>
          </a:xfrm>
          <a:prstGeom prst="ellips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66" name="熊大的PPT宝库58"/>
          <p:cNvSpPr/>
          <p:nvPr/>
        </p:nvSpPr>
        <p:spPr>
          <a:xfrm>
            <a:off x="3990468" y="3040168"/>
            <a:ext cx="1312325" cy="1938231"/>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lumMod val="20000"/>
                  <a:lumOff val="80000"/>
                  <a:alpha val="0"/>
                </a:schemeClr>
              </a:gs>
              <a:gs pos="46000">
                <a:schemeClr val="accent1">
                  <a:lumMod val="20000"/>
                  <a:lumOff val="80000"/>
                  <a:alpha val="13000"/>
                </a:schemeClr>
              </a:gs>
              <a:gs pos="100000">
                <a:schemeClr val="accent1">
                  <a:lumMod val="20000"/>
                  <a:lumOff val="8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67" name="熊大的PPT宝库59"/>
          <p:cNvSpPr/>
          <p:nvPr/>
        </p:nvSpPr>
        <p:spPr>
          <a:xfrm>
            <a:off x="3951878" y="3715300"/>
            <a:ext cx="1350916" cy="215142"/>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12700">
            <a:gradFill flip="none" rotWithShape="1">
              <a:gsLst>
                <a:gs pos="0">
                  <a:schemeClr val="accent1">
                    <a:lumMod val="40000"/>
                    <a:lumOff val="60000"/>
                    <a:alpha val="0"/>
                  </a:schemeClr>
                </a:gs>
                <a:gs pos="100000">
                  <a:schemeClr val="accent1"/>
                </a:gs>
              </a:gsLst>
              <a:lin ang="5400000" scaled="1"/>
              <a:tileRect/>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68" name="熊大的PPT宝库60"/>
          <p:cNvSpPr/>
          <p:nvPr/>
        </p:nvSpPr>
        <p:spPr>
          <a:xfrm>
            <a:off x="4221444" y="3715299"/>
            <a:ext cx="810464" cy="120377"/>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12700">
            <a:gradFill flip="none" rotWithShape="1">
              <a:gsLst>
                <a:gs pos="0">
                  <a:schemeClr val="accent1">
                    <a:lumMod val="40000"/>
                    <a:lumOff val="60000"/>
                    <a:alpha val="0"/>
                  </a:schemeClr>
                </a:gs>
                <a:gs pos="100000">
                  <a:schemeClr val="accent1"/>
                </a:gs>
              </a:gsLst>
              <a:lin ang="5400000" scaled="1"/>
              <a:tileRect/>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69" name="熊大的PPT宝库61"/>
          <p:cNvSpPr txBox="1"/>
          <p:nvPr/>
        </p:nvSpPr>
        <p:spPr>
          <a:xfrm>
            <a:off x="3575113" y="3427077"/>
            <a:ext cx="542296" cy="28302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商业共享渠道</a:t>
            </a:r>
          </a:p>
        </p:txBody>
      </p:sp>
      <p:sp>
        <p:nvSpPr>
          <p:cNvPr id="70" name="熊大的PPT宝库62"/>
          <p:cNvSpPr txBox="1"/>
          <p:nvPr/>
        </p:nvSpPr>
        <p:spPr>
          <a:xfrm>
            <a:off x="5125989" y="3427077"/>
            <a:ext cx="542296" cy="28302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市场共拓渠道</a:t>
            </a:r>
          </a:p>
        </p:txBody>
      </p:sp>
      <p:sp>
        <p:nvSpPr>
          <p:cNvPr id="71" name="熊大的PPT宝库63"/>
          <p:cNvSpPr txBox="1"/>
          <p:nvPr/>
        </p:nvSpPr>
        <p:spPr>
          <a:xfrm>
            <a:off x="5125989" y="3960070"/>
            <a:ext cx="542296" cy="28302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解决方案共创</a:t>
            </a:r>
          </a:p>
        </p:txBody>
      </p:sp>
      <p:sp>
        <p:nvSpPr>
          <p:cNvPr id="72" name="熊大的PPT宝库64"/>
          <p:cNvSpPr txBox="1"/>
          <p:nvPr/>
        </p:nvSpPr>
        <p:spPr>
          <a:xfrm>
            <a:off x="3575113" y="3960070"/>
            <a:ext cx="542296" cy="28302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产品能力被集成</a:t>
            </a:r>
          </a:p>
        </p:txBody>
      </p:sp>
      <p:sp>
        <p:nvSpPr>
          <p:cNvPr id="73" name="熊大的PPT宝库65"/>
          <p:cNvSpPr/>
          <p:nvPr/>
        </p:nvSpPr>
        <p:spPr>
          <a:xfrm>
            <a:off x="4221443" y="3769480"/>
            <a:ext cx="36000" cy="36000"/>
          </a:xfrm>
          <a:prstGeom prst="ellips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74" name="熊大的PPT宝库66"/>
          <p:cNvSpPr/>
          <p:nvPr/>
        </p:nvSpPr>
        <p:spPr>
          <a:xfrm>
            <a:off x="5006198" y="3769480"/>
            <a:ext cx="36000" cy="36000"/>
          </a:xfrm>
          <a:prstGeom prst="ellips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75" name="熊大的PPT宝库67"/>
          <p:cNvSpPr/>
          <p:nvPr/>
        </p:nvSpPr>
        <p:spPr>
          <a:xfrm>
            <a:off x="3994723" y="3855256"/>
            <a:ext cx="36000" cy="36000"/>
          </a:xfrm>
          <a:prstGeom prst="ellips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76" name="熊大的PPT宝库68"/>
          <p:cNvSpPr/>
          <p:nvPr/>
        </p:nvSpPr>
        <p:spPr>
          <a:xfrm>
            <a:off x="5221657" y="3855256"/>
            <a:ext cx="36000" cy="36000"/>
          </a:xfrm>
          <a:prstGeom prst="ellips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78" name="熊大的PPT宝库69"/>
          <p:cNvSpPr/>
          <p:nvPr/>
        </p:nvSpPr>
        <p:spPr>
          <a:xfrm>
            <a:off x="6876630" y="3040168"/>
            <a:ext cx="1312325" cy="1938231"/>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alpha val="0"/>
                </a:schemeClr>
              </a:gs>
              <a:gs pos="46000">
                <a:schemeClr val="accent1">
                  <a:alpha val="13000"/>
                </a:schemeClr>
              </a:gs>
              <a:gs pos="100000">
                <a:schemeClr val="accent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79" name="熊大的PPT宝库70"/>
          <p:cNvSpPr/>
          <p:nvPr/>
        </p:nvSpPr>
        <p:spPr>
          <a:xfrm>
            <a:off x="6838040" y="3715300"/>
            <a:ext cx="1350916" cy="215142"/>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12700">
            <a:gradFill flip="none" rotWithShape="1">
              <a:gsLst>
                <a:gs pos="0">
                  <a:schemeClr val="accent1">
                    <a:lumMod val="40000"/>
                    <a:lumOff val="60000"/>
                    <a:alpha val="0"/>
                  </a:schemeClr>
                </a:gs>
                <a:gs pos="100000">
                  <a:schemeClr val="accent1"/>
                </a:gs>
              </a:gsLst>
              <a:lin ang="5400000" scaled="1"/>
              <a:tileRect/>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80" name="熊大的PPT宝库71"/>
          <p:cNvSpPr/>
          <p:nvPr/>
        </p:nvSpPr>
        <p:spPr>
          <a:xfrm>
            <a:off x="7107606" y="3715299"/>
            <a:ext cx="810464" cy="120377"/>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12700">
            <a:gradFill flip="none" rotWithShape="1">
              <a:gsLst>
                <a:gs pos="0">
                  <a:schemeClr val="accent1">
                    <a:lumMod val="40000"/>
                    <a:lumOff val="60000"/>
                    <a:alpha val="0"/>
                  </a:schemeClr>
                </a:gs>
                <a:gs pos="100000">
                  <a:schemeClr val="accent1"/>
                </a:gs>
              </a:gsLst>
              <a:lin ang="5400000" scaled="1"/>
              <a:tileRect/>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81" name="熊大的PPT宝库72"/>
          <p:cNvSpPr txBox="1"/>
          <p:nvPr/>
        </p:nvSpPr>
        <p:spPr>
          <a:xfrm>
            <a:off x="6461275" y="3427077"/>
            <a:ext cx="542296" cy="28302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自研产品服务包</a:t>
            </a:r>
          </a:p>
        </p:txBody>
      </p:sp>
      <p:sp>
        <p:nvSpPr>
          <p:cNvPr id="82" name="熊大的PPT宝库73"/>
          <p:cNvSpPr txBox="1"/>
          <p:nvPr/>
        </p:nvSpPr>
        <p:spPr>
          <a:xfrm>
            <a:off x="8012151" y="3427077"/>
            <a:ext cx="542296" cy="28302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赛事联动渠道</a:t>
            </a:r>
          </a:p>
        </p:txBody>
      </p:sp>
      <p:sp>
        <p:nvSpPr>
          <p:cNvPr id="83" name="熊大的PPT宝库74"/>
          <p:cNvSpPr txBox="1"/>
          <p:nvPr/>
        </p:nvSpPr>
        <p:spPr>
          <a:xfrm>
            <a:off x="8012151" y="3960070"/>
            <a:ext cx="542296" cy="28302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行业产品培训</a:t>
            </a:r>
          </a:p>
        </p:txBody>
      </p:sp>
      <p:sp>
        <p:nvSpPr>
          <p:cNvPr id="84" name="熊大的PPT宝库75"/>
          <p:cNvSpPr txBox="1"/>
          <p:nvPr/>
        </p:nvSpPr>
        <p:spPr>
          <a:xfrm>
            <a:off x="6461275" y="3960070"/>
            <a:ext cx="542296" cy="28302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技术认证渠道</a:t>
            </a:r>
          </a:p>
        </p:txBody>
      </p:sp>
      <p:sp>
        <p:nvSpPr>
          <p:cNvPr id="85" name="熊大的PPT宝库76"/>
          <p:cNvSpPr/>
          <p:nvPr/>
        </p:nvSpPr>
        <p:spPr>
          <a:xfrm>
            <a:off x="7107605" y="3769480"/>
            <a:ext cx="36000" cy="36000"/>
          </a:xfrm>
          <a:prstGeom prst="ellips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86" name="熊大的PPT宝库77"/>
          <p:cNvSpPr/>
          <p:nvPr/>
        </p:nvSpPr>
        <p:spPr>
          <a:xfrm>
            <a:off x="7892360" y="3769480"/>
            <a:ext cx="36000" cy="36000"/>
          </a:xfrm>
          <a:prstGeom prst="ellips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87" name="熊大的PPT宝库78"/>
          <p:cNvSpPr/>
          <p:nvPr/>
        </p:nvSpPr>
        <p:spPr>
          <a:xfrm>
            <a:off x="6880885" y="3855256"/>
            <a:ext cx="36000" cy="36000"/>
          </a:xfrm>
          <a:prstGeom prst="ellips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88" name="熊大的PPT宝库79"/>
          <p:cNvSpPr/>
          <p:nvPr/>
        </p:nvSpPr>
        <p:spPr>
          <a:xfrm>
            <a:off x="8107819" y="3855256"/>
            <a:ext cx="36000" cy="36000"/>
          </a:xfrm>
          <a:prstGeom prst="ellips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90" name="熊大的PPT宝库80"/>
          <p:cNvSpPr/>
          <p:nvPr/>
        </p:nvSpPr>
        <p:spPr>
          <a:xfrm>
            <a:off x="9748310" y="3040168"/>
            <a:ext cx="1312325" cy="1938231"/>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lumMod val="20000"/>
                  <a:lumOff val="80000"/>
                  <a:alpha val="0"/>
                </a:schemeClr>
              </a:gs>
              <a:gs pos="46000">
                <a:schemeClr val="accent1">
                  <a:lumMod val="20000"/>
                  <a:lumOff val="80000"/>
                  <a:alpha val="13000"/>
                </a:schemeClr>
              </a:gs>
              <a:gs pos="100000">
                <a:schemeClr val="accent1">
                  <a:lumMod val="20000"/>
                  <a:lumOff val="8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91" name="熊大的PPT宝库81"/>
          <p:cNvSpPr/>
          <p:nvPr/>
        </p:nvSpPr>
        <p:spPr>
          <a:xfrm>
            <a:off x="9709720" y="3715300"/>
            <a:ext cx="1350916" cy="215142"/>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12700">
            <a:gradFill flip="none" rotWithShape="1">
              <a:gsLst>
                <a:gs pos="0">
                  <a:schemeClr val="accent1">
                    <a:lumMod val="40000"/>
                    <a:lumOff val="60000"/>
                    <a:alpha val="0"/>
                  </a:schemeClr>
                </a:gs>
                <a:gs pos="100000">
                  <a:schemeClr val="accent1"/>
                </a:gs>
              </a:gsLst>
              <a:lin ang="5400000" scaled="1"/>
              <a:tileRect/>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92" name="熊大的PPT宝库82"/>
          <p:cNvSpPr/>
          <p:nvPr/>
        </p:nvSpPr>
        <p:spPr>
          <a:xfrm>
            <a:off x="9979286" y="3715299"/>
            <a:ext cx="810464" cy="120377"/>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12700">
            <a:gradFill flip="none" rotWithShape="1">
              <a:gsLst>
                <a:gs pos="0">
                  <a:schemeClr val="accent1">
                    <a:lumMod val="40000"/>
                    <a:lumOff val="60000"/>
                    <a:alpha val="0"/>
                  </a:schemeClr>
                </a:gs>
                <a:gs pos="100000">
                  <a:schemeClr val="accent1"/>
                </a:gs>
              </a:gsLst>
              <a:lin ang="5400000" scaled="1"/>
              <a:tileRect/>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93" name="熊大的PPT宝库83"/>
          <p:cNvSpPr txBox="1"/>
          <p:nvPr/>
        </p:nvSpPr>
        <p:spPr>
          <a:xfrm>
            <a:off x="9332955" y="3427077"/>
            <a:ext cx="542296" cy="28302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产品接口开发</a:t>
            </a:r>
          </a:p>
        </p:txBody>
      </p:sp>
      <p:sp>
        <p:nvSpPr>
          <p:cNvPr id="94" name="熊大的PPT宝库84"/>
          <p:cNvSpPr txBox="1"/>
          <p:nvPr/>
        </p:nvSpPr>
        <p:spPr>
          <a:xfrm>
            <a:off x="10883831" y="3427077"/>
            <a:ext cx="542296" cy="28302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产品精选库</a:t>
            </a:r>
          </a:p>
        </p:txBody>
      </p:sp>
      <p:sp>
        <p:nvSpPr>
          <p:cNvPr id="95" name="熊大的PPT宝库85"/>
          <p:cNvSpPr txBox="1"/>
          <p:nvPr/>
        </p:nvSpPr>
        <p:spPr>
          <a:xfrm>
            <a:off x="10883831" y="3960070"/>
            <a:ext cx="542296" cy="28302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联合市场活动</a:t>
            </a:r>
          </a:p>
        </p:txBody>
      </p:sp>
      <p:sp>
        <p:nvSpPr>
          <p:cNvPr id="96" name="熊大的PPT宝库86"/>
          <p:cNvSpPr txBox="1"/>
          <p:nvPr/>
        </p:nvSpPr>
        <p:spPr>
          <a:xfrm>
            <a:off x="9332955" y="3960070"/>
            <a:ext cx="542296" cy="283029"/>
          </a:xfrm>
          <a:prstGeom prst="rect">
            <a:avLst/>
          </a:prstGeom>
          <a:noFill/>
        </p:spPr>
        <p:txBody>
          <a:bodyPr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研发资源渠道</a:t>
            </a:r>
          </a:p>
        </p:txBody>
      </p:sp>
      <p:sp>
        <p:nvSpPr>
          <p:cNvPr id="97" name="熊大的PPT宝库87"/>
          <p:cNvSpPr/>
          <p:nvPr/>
        </p:nvSpPr>
        <p:spPr>
          <a:xfrm>
            <a:off x="9979285" y="3769480"/>
            <a:ext cx="36000" cy="36000"/>
          </a:xfrm>
          <a:prstGeom prst="ellips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98" name="熊大的PPT宝库88"/>
          <p:cNvSpPr/>
          <p:nvPr/>
        </p:nvSpPr>
        <p:spPr>
          <a:xfrm>
            <a:off x="10764040" y="3769480"/>
            <a:ext cx="36000" cy="36000"/>
          </a:xfrm>
          <a:prstGeom prst="ellips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99" name="熊大的PPT宝库89"/>
          <p:cNvSpPr/>
          <p:nvPr/>
        </p:nvSpPr>
        <p:spPr>
          <a:xfrm>
            <a:off x="9752565" y="3855256"/>
            <a:ext cx="36000" cy="36000"/>
          </a:xfrm>
          <a:prstGeom prst="ellips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100" name="熊大的PPT宝库90"/>
          <p:cNvSpPr/>
          <p:nvPr/>
        </p:nvSpPr>
        <p:spPr>
          <a:xfrm>
            <a:off x="10979499" y="3855256"/>
            <a:ext cx="36000" cy="36000"/>
          </a:xfrm>
          <a:prstGeom prst="ellipse">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
        <p:nvSpPr>
          <p:cNvPr id="101" name="熊大的PPT宝库91"/>
          <p:cNvSpPr/>
          <p:nvPr/>
        </p:nvSpPr>
        <p:spPr>
          <a:xfrm>
            <a:off x="442913" y="4558089"/>
            <a:ext cx="11306175" cy="451800"/>
          </a:xfrm>
          <a:prstGeom prst="roundRect">
            <a:avLst/>
          </a:prstGeom>
          <a:solidFill>
            <a:schemeClr val="accent1">
              <a:lumMod val="20000"/>
              <a:lumOff val="80000"/>
              <a:alpha val="36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00329D"/>
                </a:solidFill>
                <a:effectLst/>
                <a:uLnTx/>
                <a:uFillTx/>
                <a:cs typeface="+mn-ea"/>
                <a:sym typeface="+mn-lt"/>
              </a:rPr>
              <a:t>市场支持      销售支持      技术支持      培训支持</a:t>
            </a:r>
          </a:p>
        </p:txBody>
      </p:sp>
      <p:sp>
        <p:nvSpPr>
          <p:cNvPr id="102" name="熊大的PPT宝库92"/>
          <p:cNvSpPr/>
          <p:nvPr/>
        </p:nvSpPr>
        <p:spPr>
          <a:xfrm>
            <a:off x="454349" y="5075878"/>
            <a:ext cx="2597590" cy="1232848"/>
          </a:xfrm>
          <a:prstGeom prst="roundRect">
            <a:avLst>
              <a:gd name="adj" fmla="val 6181"/>
            </a:avLst>
          </a:prstGeom>
          <a:solidFill>
            <a:schemeClr val="accent1">
              <a:lumMod val="20000"/>
              <a:lumOff val="80000"/>
              <a:alpha val="30000"/>
            </a:schemeClr>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03" name="熊大的PPT宝库93"/>
          <p:cNvSpPr txBox="1"/>
          <p:nvPr/>
        </p:nvSpPr>
        <p:spPr>
          <a:xfrm>
            <a:off x="697479" y="5152533"/>
            <a:ext cx="2117433" cy="344197"/>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1000" b="0" i="0" u="none" strike="noStrike" cap="none" spc="0" normalizeH="0" baseline="0">
                <a:ln>
                  <a:noFill/>
                </a:ln>
                <a:solidFill>
                  <a:srgbClr val="000000">
                    <a:alpha val="6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ctr" defTabSz="4572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推广及销售</a:t>
            </a:r>
            <a:r>
              <a:rPr kumimoji="0" lang="en-US" altLang="zh-CN"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xx</a:t>
            </a:r>
            <a:r>
              <a:rPr kumimoji="0" lang="zh-CN" altLang="en-US"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云精础产品及</a:t>
            </a:r>
            <a:r>
              <a:rPr kumimoji="0" lang="en-US" altLang="zh-CN"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xx</a:t>
            </a:r>
            <a:r>
              <a:rPr kumimoji="0" lang="zh-CN" altLang="en-US"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教育行业产品小红书华创行业报雪</a:t>
            </a:r>
          </a:p>
        </p:txBody>
      </p:sp>
      <p:sp>
        <p:nvSpPr>
          <p:cNvPr id="104" name="熊大的PPT宝库94"/>
          <p:cNvSpPr/>
          <p:nvPr/>
        </p:nvSpPr>
        <p:spPr>
          <a:xfrm>
            <a:off x="3347982" y="5075878"/>
            <a:ext cx="2597590" cy="1232848"/>
          </a:xfrm>
          <a:prstGeom prst="roundRect">
            <a:avLst>
              <a:gd name="adj" fmla="val 6181"/>
            </a:avLst>
          </a:prstGeom>
          <a:solidFill>
            <a:schemeClr val="accent1">
              <a:lumMod val="20000"/>
              <a:lumOff val="80000"/>
              <a:alpha val="30000"/>
            </a:schemeClr>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05" name="熊大的PPT宝库95"/>
          <p:cNvSpPr txBox="1"/>
          <p:nvPr/>
        </p:nvSpPr>
        <p:spPr>
          <a:xfrm>
            <a:off x="3591112" y="5152533"/>
            <a:ext cx="2117433" cy="344197"/>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1000" b="0" i="0" u="none" strike="noStrike" cap="none" spc="0" normalizeH="0" baseline="0">
                <a:ln>
                  <a:noFill/>
                </a:ln>
                <a:solidFill>
                  <a:srgbClr val="000000">
                    <a:alpha val="6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ctr" defTabSz="4572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集众</a:t>
            </a:r>
            <a:r>
              <a:rPr kumimoji="0" lang="en-US" altLang="zh-CN"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xx</a:t>
            </a:r>
            <a:r>
              <a:rPr kumimoji="0" lang="zh-CN" altLang="en-US"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云产品</a:t>
            </a:r>
            <a:r>
              <a:rPr kumimoji="0" lang="en-US" altLang="zh-CN"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a:t>
            </a:r>
            <a:r>
              <a:rPr kumimoji="0" lang="zh-CN" altLang="en-US"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技术能力，开发面向教育行业场景的解决方案线产品</a:t>
            </a:r>
          </a:p>
        </p:txBody>
      </p:sp>
      <p:sp>
        <p:nvSpPr>
          <p:cNvPr id="109" name="熊大的PPT宝库96"/>
          <p:cNvSpPr/>
          <p:nvPr/>
        </p:nvSpPr>
        <p:spPr>
          <a:xfrm>
            <a:off x="6241615" y="5075878"/>
            <a:ext cx="2597590" cy="1232848"/>
          </a:xfrm>
          <a:prstGeom prst="roundRect">
            <a:avLst>
              <a:gd name="adj" fmla="val 6181"/>
            </a:avLst>
          </a:prstGeom>
          <a:solidFill>
            <a:schemeClr val="accent1">
              <a:lumMod val="20000"/>
              <a:lumOff val="80000"/>
              <a:alpha val="30000"/>
            </a:schemeClr>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10" name="熊大的PPT宝库97"/>
          <p:cNvSpPr txBox="1"/>
          <p:nvPr/>
        </p:nvSpPr>
        <p:spPr>
          <a:xfrm>
            <a:off x="6484745" y="5152533"/>
            <a:ext cx="2117433" cy="344197"/>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1000" b="0" i="0" u="none" strike="noStrike" cap="none" spc="0" normalizeH="0" baseline="0">
                <a:ln>
                  <a:noFill/>
                </a:ln>
                <a:solidFill>
                  <a:srgbClr val="000000">
                    <a:alpha val="6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ctr" defTabSz="457200" rtl="0" eaLnBrk="1" fontAlgn="auto" latinLnBrk="0" hangingPunct="1">
              <a:lnSpc>
                <a:spcPct val="114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xx</a:t>
            </a:r>
            <a:r>
              <a:rPr kumimoji="0" lang="zh-CN" altLang="en-US"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云自研产品服务合作伙伴，经过</a:t>
            </a:r>
            <a:r>
              <a:rPr kumimoji="0" lang="en-US" altLang="zh-CN"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xxx</a:t>
            </a:r>
            <a:r>
              <a:rPr kumimoji="0" lang="zh-CN" altLang="en-US"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云认证与授权</a:t>
            </a:r>
          </a:p>
        </p:txBody>
      </p:sp>
      <p:sp>
        <p:nvSpPr>
          <p:cNvPr id="112" name="熊大的PPT宝库98"/>
          <p:cNvSpPr/>
          <p:nvPr/>
        </p:nvSpPr>
        <p:spPr>
          <a:xfrm>
            <a:off x="9135248" y="5075878"/>
            <a:ext cx="2597590" cy="1232848"/>
          </a:xfrm>
          <a:prstGeom prst="roundRect">
            <a:avLst>
              <a:gd name="adj" fmla="val 6181"/>
            </a:avLst>
          </a:prstGeom>
          <a:solidFill>
            <a:schemeClr val="accent1">
              <a:lumMod val="20000"/>
              <a:lumOff val="80000"/>
              <a:alpha val="30000"/>
            </a:schemeClr>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cs typeface="+mn-ea"/>
              <a:sym typeface="+mn-lt"/>
            </a:endParaRPr>
          </a:p>
        </p:txBody>
      </p:sp>
      <p:sp>
        <p:nvSpPr>
          <p:cNvPr id="113" name="熊大的PPT宝库99"/>
          <p:cNvSpPr txBox="1"/>
          <p:nvPr/>
        </p:nvSpPr>
        <p:spPr>
          <a:xfrm>
            <a:off x="9378378" y="5152533"/>
            <a:ext cx="2117433" cy="344197"/>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1000" b="0" i="0" u="none" strike="noStrike" cap="none" spc="0" normalizeH="0" baseline="0">
                <a:ln>
                  <a:noFill/>
                </a:ln>
                <a:solidFill>
                  <a:srgbClr val="000000">
                    <a:alpha val="65000"/>
                  </a:srgbClr>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ctr" defTabSz="4572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与</a:t>
            </a:r>
            <a:r>
              <a:rPr kumimoji="0" lang="en-US" altLang="zh-CN"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xx</a:t>
            </a:r>
            <a:r>
              <a:rPr kumimoji="0" lang="zh-CN" altLang="en-US" sz="1000" b="0" i="0" u="none" strike="noStrike" kern="1200" cap="none" spc="0" normalizeH="0" baseline="0" noProof="0" dirty="0">
                <a:ln>
                  <a:noFill/>
                </a:ln>
                <a:solidFill>
                  <a:srgbClr val="000000">
                    <a:alpha val="65000"/>
                  </a:srgbClr>
                </a:solidFill>
                <a:effectLst/>
                <a:uLnTx/>
                <a:uFillTx/>
                <a:latin typeface="+mn-lt"/>
                <a:ea typeface="+mn-ea"/>
                <a:cs typeface="+mn-ea"/>
                <a:sym typeface="+mn-lt"/>
              </a:rPr>
              <a:t>教育自研产品进行融合，共同投入研发及市场资源</a:t>
            </a:r>
          </a:p>
        </p:txBody>
      </p:sp>
      <p:sp>
        <p:nvSpPr>
          <p:cNvPr id="114" name="熊大的PPT宝库100"/>
          <p:cNvSpPr/>
          <p:nvPr/>
        </p:nvSpPr>
        <p:spPr>
          <a:xfrm>
            <a:off x="543908" y="5540826"/>
            <a:ext cx="703114" cy="231888"/>
          </a:xfrm>
          <a:prstGeom prst="roundRect">
            <a:avLst/>
          </a:prstGeom>
          <a:solidFill>
            <a:schemeClr val="accent1">
              <a:lumMod val="20000"/>
              <a:lumOff val="8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人工智能</a:t>
            </a:r>
          </a:p>
        </p:txBody>
      </p:sp>
      <p:sp>
        <p:nvSpPr>
          <p:cNvPr id="115" name="熊大的PPT宝库101"/>
          <p:cNvSpPr/>
          <p:nvPr/>
        </p:nvSpPr>
        <p:spPr>
          <a:xfrm>
            <a:off x="1382097" y="5540826"/>
            <a:ext cx="703114" cy="231888"/>
          </a:xfrm>
          <a:prstGeom prst="roundRect">
            <a:avLst/>
          </a:prstGeom>
          <a:solidFill>
            <a:schemeClr val="accent1">
              <a:lumMod val="20000"/>
              <a:lumOff val="80000"/>
            </a:schemeClr>
          </a:solidFill>
          <a:ln>
            <a:noFill/>
          </a:ln>
        </p:spPr>
        <p:txBody>
          <a:bodyPr wrap="square" lIns="0" tIns="0" rIns="0" bIns="0" rtlCol="0" anchor="ctr">
            <a:noAutofit/>
          </a:bodyPr>
          <a:lstStyle/>
          <a:p>
            <a:pPr marL="0" marR="0" lvl="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mn-ea"/>
                <a:cs typeface="+mn-ea"/>
                <a:sym typeface="+mn-lt"/>
              </a:rPr>
              <a:t>XX会议</a:t>
            </a:r>
          </a:p>
        </p:txBody>
      </p:sp>
      <p:sp>
        <p:nvSpPr>
          <p:cNvPr id="116" name="熊大的PPT宝库102"/>
          <p:cNvSpPr/>
          <p:nvPr/>
        </p:nvSpPr>
        <p:spPr>
          <a:xfrm>
            <a:off x="2227905" y="5540826"/>
            <a:ext cx="703114" cy="231888"/>
          </a:xfrm>
          <a:prstGeom prst="roundRect">
            <a:avLst/>
          </a:prstGeom>
          <a:solidFill>
            <a:schemeClr val="accent1">
              <a:lumMod val="20000"/>
              <a:lumOff val="80000"/>
            </a:schemeClr>
          </a:solidFill>
          <a:ln>
            <a:noFill/>
          </a:ln>
        </p:spPr>
        <p:txBody>
          <a:bodyPr wrap="square" lIns="0" tIns="0" rIns="0" bIns="0" rtlCol="0" anchor="ctr">
            <a:noAutofit/>
          </a:bodyPr>
          <a:lstStyle/>
          <a:p>
            <a:pPr marL="0" marR="0" lvl="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mn-ea"/>
                <a:cs typeface="+mn-ea"/>
                <a:sym typeface="+mn-lt"/>
              </a:rPr>
              <a:t>XX学校</a:t>
            </a:r>
          </a:p>
        </p:txBody>
      </p:sp>
      <p:sp>
        <p:nvSpPr>
          <p:cNvPr id="118" name="熊大的PPT宝库103"/>
          <p:cNvSpPr/>
          <p:nvPr/>
        </p:nvSpPr>
        <p:spPr>
          <a:xfrm>
            <a:off x="543908" y="5797022"/>
            <a:ext cx="703114" cy="231888"/>
          </a:xfrm>
          <a:prstGeom prst="roundRect">
            <a:avLst/>
          </a:prstGeom>
          <a:solidFill>
            <a:schemeClr val="accent1">
              <a:lumMod val="20000"/>
              <a:lumOff val="8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乐享</a:t>
            </a:r>
          </a:p>
        </p:txBody>
      </p:sp>
      <p:sp>
        <p:nvSpPr>
          <p:cNvPr id="119" name="熊大的PPT宝库104"/>
          <p:cNvSpPr/>
          <p:nvPr/>
        </p:nvSpPr>
        <p:spPr>
          <a:xfrm>
            <a:off x="1382097" y="5797022"/>
            <a:ext cx="703114" cy="231888"/>
          </a:xfrm>
          <a:prstGeom prst="roundRect">
            <a:avLst/>
          </a:prstGeom>
          <a:solidFill>
            <a:schemeClr val="accent1">
              <a:lumMod val="20000"/>
              <a:lumOff val="8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学生证</a:t>
            </a:r>
          </a:p>
        </p:txBody>
      </p:sp>
      <p:sp>
        <p:nvSpPr>
          <p:cNvPr id="120" name="熊大的PPT宝库105"/>
          <p:cNvSpPr/>
          <p:nvPr/>
        </p:nvSpPr>
        <p:spPr>
          <a:xfrm>
            <a:off x="2227905" y="5797022"/>
            <a:ext cx="703114" cy="231888"/>
          </a:xfrm>
          <a:prstGeom prst="roundRect">
            <a:avLst/>
          </a:prstGeom>
          <a:solidFill>
            <a:schemeClr val="accent1">
              <a:lumMod val="20000"/>
              <a:lumOff val="8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企业微信</a:t>
            </a:r>
          </a:p>
        </p:txBody>
      </p:sp>
      <p:sp>
        <p:nvSpPr>
          <p:cNvPr id="121" name="熊大的PPT宝库106"/>
          <p:cNvSpPr/>
          <p:nvPr/>
        </p:nvSpPr>
        <p:spPr>
          <a:xfrm>
            <a:off x="946043" y="6053217"/>
            <a:ext cx="703114" cy="231888"/>
          </a:xfrm>
          <a:prstGeom prst="roundRect">
            <a:avLst/>
          </a:prstGeom>
          <a:solidFill>
            <a:schemeClr val="accent1">
              <a:lumMod val="20000"/>
              <a:lumOff val="80000"/>
            </a:schemeClr>
          </a:solidFill>
          <a:ln>
            <a:noFill/>
          </a:ln>
        </p:spPr>
        <p:txBody>
          <a:bodyPr wrap="square" lIns="0" tIns="0" rIns="0" bIns="0" rtlCol="0" anchor="ctr">
            <a:noAutofit/>
          </a:bodyPr>
          <a:lstStyle/>
          <a:p>
            <a:pPr marL="0" marR="0" lvl="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mn-ea"/>
                <a:cs typeface="+mn-ea"/>
                <a:sym typeface="+mn-lt"/>
              </a:rPr>
              <a:t>XX文档</a:t>
            </a:r>
          </a:p>
        </p:txBody>
      </p:sp>
      <p:sp>
        <p:nvSpPr>
          <p:cNvPr id="122" name="熊大的PPT宝库107"/>
          <p:cNvSpPr/>
          <p:nvPr/>
        </p:nvSpPr>
        <p:spPr>
          <a:xfrm>
            <a:off x="1784232" y="6053217"/>
            <a:ext cx="703114" cy="231888"/>
          </a:xfrm>
          <a:prstGeom prst="roundRect">
            <a:avLst/>
          </a:prstGeom>
          <a:solidFill>
            <a:schemeClr val="accent1">
              <a:lumMod val="20000"/>
              <a:lumOff val="80000"/>
            </a:schemeClr>
          </a:solidFill>
          <a:ln>
            <a:noFill/>
          </a:ln>
        </p:spPr>
        <p:txBody>
          <a:bodyPr wrap="square" lIns="0" tIns="0" rIns="0" bIns="0" rtlCol="0" anchor="ctr">
            <a:noAutofit/>
          </a:bodyPr>
          <a:lstStyle/>
          <a:p>
            <a:pPr marL="0" marR="0" lvl="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mn-ea"/>
                <a:cs typeface="+mn-ea"/>
                <a:sym typeface="+mn-lt"/>
              </a:rPr>
              <a:t>XX盘</a:t>
            </a:r>
          </a:p>
        </p:txBody>
      </p:sp>
      <p:sp>
        <p:nvSpPr>
          <p:cNvPr id="123" name="熊大的PPT宝库108"/>
          <p:cNvSpPr/>
          <p:nvPr/>
        </p:nvSpPr>
        <p:spPr>
          <a:xfrm>
            <a:off x="3442122" y="5540826"/>
            <a:ext cx="703114" cy="231888"/>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教育基础</a:t>
            </a:r>
          </a:p>
        </p:txBody>
      </p:sp>
      <p:sp>
        <p:nvSpPr>
          <p:cNvPr id="124" name="熊大的PPT宝库109"/>
          <p:cNvSpPr/>
          <p:nvPr/>
        </p:nvSpPr>
        <p:spPr>
          <a:xfrm>
            <a:off x="4280311" y="5540826"/>
            <a:ext cx="703114" cy="231888"/>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智慧校园</a:t>
            </a:r>
          </a:p>
        </p:txBody>
      </p:sp>
      <p:sp>
        <p:nvSpPr>
          <p:cNvPr id="125" name="熊大的PPT宝库110"/>
          <p:cNvSpPr/>
          <p:nvPr/>
        </p:nvSpPr>
        <p:spPr>
          <a:xfrm>
            <a:off x="5126119" y="5540826"/>
            <a:ext cx="703114" cy="231888"/>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科研协同</a:t>
            </a:r>
          </a:p>
        </p:txBody>
      </p:sp>
      <p:sp>
        <p:nvSpPr>
          <p:cNvPr id="126" name="熊大的PPT宝库111"/>
          <p:cNvSpPr/>
          <p:nvPr/>
        </p:nvSpPr>
        <p:spPr>
          <a:xfrm>
            <a:off x="3442122" y="5797022"/>
            <a:ext cx="703114" cy="231888"/>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校企合作</a:t>
            </a:r>
          </a:p>
        </p:txBody>
      </p:sp>
      <p:sp>
        <p:nvSpPr>
          <p:cNvPr id="127" name="熊大的PPT宝库112"/>
          <p:cNvSpPr/>
          <p:nvPr/>
        </p:nvSpPr>
        <p:spPr>
          <a:xfrm>
            <a:off x="4280311" y="5797022"/>
            <a:ext cx="703114" cy="231888"/>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课堂互动</a:t>
            </a:r>
          </a:p>
        </p:txBody>
      </p:sp>
      <p:sp>
        <p:nvSpPr>
          <p:cNvPr id="128" name="熊大的PPT宝库113"/>
          <p:cNvSpPr/>
          <p:nvPr/>
        </p:nvSpPr>
        <p:spPr>
          <a:xfrm>
            <a:off x="5126119" y="5797022"/>
            <a:ext cx="703114" cy="231888"/>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招生营销</a:t>
            </a:r>
          </a:p>
        </p:txBody>
      </p:sp>
      <p:sp>
        <p:nvSpPr>
          <p:cNvPr id="129" name="熊大的PPT宝库114"/>
          <p:cNvSpPr/>
          <p:nvPr/>
        </p:nvSpPr>
        <p:spPr>
          <a:xfrm>
            <a:off x="3844257" y="6053217"/>
            <a:ext cx="703114" cy="231888"/>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教育大模型</a:t>
            </a:r>
          </a:p>
        </p:txBody>
      </p:sp>
      <p:sp>
        <p:nvSpPr>
          <p:cNvPr id="131" name="熊大的PPT宝库115"/>
          <p:cNvSpPr/>
          <p:nvPr/>
        </p:nvSpPr>
        <p:spPr>
          <a:xfrm>
            <a:off x="6322168" y="5540826"/>
            <a:ext cx="703114" cy="231888"/>
          </a:xfrm>
          <a:prstGeom prst="roundRect">
            <a:avLst/>
          </a:prstGeom>
          <a:solidFill>
            <a:schemeClr val="accent1">
              <a:lumMod val="20000"/>
              <a:lumOff val="8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人工智能</a:t>
            </a:r>
          </a:p>
        </p:txBody>
      </p:sp>
      <p:sp>
        <p:nvSpPr>
          <p:cNvPr id="132" name="熊大的PPT宝库116"/>
          <p:cNvSpPr/>
          <p:nvPr/>
        </p:nvSpPr>
        <p:spPr>
          <a:xfrm>
            <a:off x="7160357" y="5540826"/>
            <a:ext cx="703114" cy="231888"/>
          </a:xfrm>
          <a:prstGeom prst="roundRect">
            <a:avLst/>
          </a:prstGeom>
          <a:solidFill>
            <a:schemeClr val="accent1">
              <a:lumMod val="20000"/>
              <a:lumOff val="8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数字孪生</a:t>
            </a:r>
          </a:p>
        </p:txBody>
      </p:sp>
      <p:sp>
        <p:nvSpPr>
          <p:cNvPr id="133" name="熊大的PPT宝库117"/>
          <p:cNvSpPr/>
          <p:nvPr/>
        </p:nvSpPr>
        <p:spPr>
          <a:xfrm>
            <a:off x="8006165" y="5540826"/>
            <a:ext cx="703114" cy="231888"/>
          </a:xfrm>
          <a:prstGeom prst="roundRect">
            <a:avLst/>
          </a:prstGeom>
          <a:solidFill>
            <a:schemeClr val="accent1">
              <a:lumMod val="20000"/>
              <a:lumOff val="8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教育号</a:t>
            </a:r>
          </a:p>
        </p:txBody>
      </p:sp>
      <p:sp>
        <p:nvSpPr>
          <p:cNvPr id="134" name="熊大的PPT宝库118"/>
          <p:cNvSpPr/>
          <p:nvPr/>
        </p:nvSpPr>
        <p:spPr>
          <a:xfrm>
            <a:off x="6322168" y="5797022"/>
            <a:ext cx="703114" cy="231888"/>
          </a:xfrm>
          <a:prstGeom prst="roundRect">
            <a:avLst/>
          </a:prstGeom>
          <a:solidFill>
            <a:schemeClr val="accent1">
              <a:lumMod val="20000"/>
              <a:lumOff val="8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职业竞赛</a:t>
            </a:r>
          </a:p>
        </p:txBody>
      </p:sp>
      <p:sp>
        <p:nvSpPr>
          <p:cNvPr id="135" name="熊大的PPT宝库119"/>
          <p:cNvSpPr/>
          <p:nvPr/>
        </p:nvSpPr>
        <p:spPr>
          <a:xfrm>
            <a:off x="7160357" y="5797022"/>
            <a:ext cx="703114" cy="231888"/>
          </a:xfrm>
          <a:prstGeom prst="roundRect">
            <a:avLst/>
          </a:prstGeom>
          <a:solidFill>
            <a:schemeClr val="accent1">
              <a:lumMod val="20000"/>
              <a:lumOff val="8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竞赛平台</a:t>
            </a:r>
          </a:p>
        </p:txBody>
      </p:sp>
      <p:sp>
        <p:nvSpPr>
          <p:cNvPr id="136" name="熊大的PPT宝库120"/>
          <p:cNvSpPr/>
          <p:nvPr/>
        </p:nvSpPr>
        <p:spPr>
          <a:xfrm>
            <a:off x="8006165" y="5797022"/>
            <a:ext cx="703114" cy="231888"/>
          </a:xfrm>
          <a:prstGeom prst="roundRect">
            <a:avLst/>
          </a:prstGeom>
          <a:solidFill>
            <a:schemeClr val="accent1">
              <a:lumMod val="20000"/>
              <a:lumOff val="8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大数据</a:t>
            </a:r>
          </a:p>
        </p:txBody>
      </p:sp>
      <p:sp>
        <p:nvSpPr>
          <p:cNvPr id="137" name="熊大的PPT宝库121"/>
          <p:cNvSpPr/>
          <p:nvPr/>
        </p:nvSpPr>
        <p:spPr>
          <a:xfrm>
            <a:off x="6724303" y="6053217"/>
            <a:ext cx="703114" cy="231888"/>
          </a:xfrm>
          <a:prstGeom prst="roundRect">
            <a:avLst/>
          </a:prstGeom>
          <a:solidFill>
            <a:schemeClr val="accent1">
              <a:lumMod val="20000"/>
              <a:lumOff val="80000"/>
            </a:schemeClr>
          </a:solidFill>
          <a:ln>
            <a:noFill/>
          </a:ln>
        </p:spPr>
        <p:txBody>
          <a:bodyPr wrap="square" lIns="0" tIns="0" rIns="0" bIns="0" rtlCol="0" anchor="ctr">
            <a:noAutofit/>
          </a:bodyPr>
          <a:lstStyle/>
          <a:p>
            <a:pPr marL="0" marR="0" lvl="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mn-ea"/>
                <a:cs typeface="+mn-ea"/>
                <a:sym typeface="+mn-lt"/>
              </a:rPr>
              <a:t>XX平台</a:t>
            </a:r>
          </a:p>
        </p:txBody>
      </p:sp>
      <p:sp>
        <p:nvSpPr>
          <p:cNvPr id="138" name="熊大的PPT宝库122"/>
          <p:cNvSpPr/>
          <p:nvPr/>
        </p:nvSpPr>
        <p:spPr>
          <a:xfrm>
            <a:off x="7562492" y="6053217"/>
            <a:ext cx="703114" cy="231888"/>
          </a:xfrm>
          <a:prstGeom prst="roundRect">
            <a:avLst/>
          </a:prstGeom>
          <a:solidFill>
            <a:schemeClr val="accent1">
              <a:lumMod val="20000"/>
              <a:lumOff val="80000"/>
            </a:schemeClr>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cs typeface="+mn-ea"/>
                <a:sym typeface="+mn-lt"/>
              </a:rPr>
              <a:t>。。。</a:t>
            </a:r>
          </a:p>
        </p:txBody>
      </p:sp>
      <p:sp>
        <p:nvSpPr>
          <p:cNvPr id="139" name="熊大的PPT宝库123"/>
          <p:cNvSpPr/>
          <p:nvPr/>
        </p:nvSpPr>
        <p:spPr>
          <a:xfrm>
            <a:off x="9264344" y="5540826"/>
            <a:ext cx="703114" cy="231888"/>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英语听说</a:t>
            </a:r>
          </a:p>
        </p:txBody>
      </p:sp>
      <p:sp>
        <p:nvSpPr>
          <p:cNvPr id="140" name="熊大的PPT宝库124"/>
          <p:cNvSpPr/>
          <p:nvPr/>
        </p:nvSpPr>
        <p:spPr>
          <a:xfrm>
            <a:off x="10102533" y="5540826"/>
            <a:ext cx="703114" cy="231888"/>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产教融合</a:t>
            </a:r>
          </a:p>
        </p:txBody>
      </p:sp>
      <p:sp>
        <p:nvSpPr>
          <p:cNvPr id="141" name="熊大的PPT宝库125"/>
          <p:cNvSpPr/>
          <p:nvPr/>
        </p:nvSpPr>
        <p:spPr>
          <a:xfrm>
            <a:off x="10948341" y="5540826"/>
            <a:ext cx="703114" cy="231888"/>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市场实践</a:t>
            </a:r>
          </a:p>
        </p:txBody>
      </p:sp>
      <p:sp>
        <p:nvSpPr>
          <p:cNvPr id="142" name="熊大的PPT宝库126"/>
          <p:cNvSpPr/>
          <p:nvPr/>
        </p:nvSpPr>
        <p:spPr>
          <a:xfrm>
            <a:off x="9264344" y="5797022"/>
            <a:ext cx="703114" cy="231888"/>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校企合作</a:t>
            </a:r>
          </a:p>
        </p:txBody>
      </p:sp>
      <p:sp>
        <p:nvSpPr>
          <p:cNvPr id="143" name="熊大的PPT宝库127"/>
          <p:cNvSpPr/>
          <p:nvPr/>
        </p:nvSpPr>
        <p:spPr>
          <a:xfrm>
            <a:off x="10102533" y="5797022"/>
            <a:ext cx="703114" cy="231888"/>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自研</a:t>
            </a:r>
          </a:p>
        </p:txBody>
      </p:sp>
      <p:sp>
        <p:nvSpPr>
          <p:cNvPr id="144" name="熊大的PPT宝库128"/>
          <p:cNvSpPr/>
          <p:nvPr/>
        </p:nvSpPr>
        <p:spPr>
          <a:xfrm>
            <a:off x="10948341" y="5797022"/>
            <a:ext cx="703114" cy="231888"/>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资源共享</a:t>
            </a:r>
          </a:p>
        </p:txBody>
      </p:sp>
      <p:sp>
        <p:nvSpPr>
          <p:cNvPr id="145" name="熊大的PPT宝库129"/>
          <p:cNvSpPr/>
          <p:nvPr/>
        </p:nvSpPr>
        <p:spPr>
          <a:xfrm>
            <a:off x="9666479" y="6053217"/>
            <a:ext cx="703114" cy="231888"/>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教育融合</a:t>
            </a:r>
          </a:p>
        </p:txBody>
      </p:sp>
      <p:sp>
        <p:nvSpPr>
          <p:cNvPr id="146" name="熊大的PPT宝库130"/>
          <p:cNvSpPr/>
          <p:nvPr/>
        </p:nvSpPr>
        <p:spPr>
          <a:xfrm>
            <a:off x="10504668" y="6053217"/>
            <a:ext cx="703114" cy="231888"/>
          </a:xfrm>
          <a:prstGeom prst="roundRect">
            <a:avLst/>
          </a:prstGeom>
          <a:solidFill>
            <a:schemeClr val="accent1"/>
          </a:solidFill>
          <a:ln>
            <a:noFill/>
          </a:ln>
        </p:spPr>
        <p:txBody>
          <a:bodyPr wrap="square" lIns="0" tIns="0" rIns="0" bIns="0" rtlCol="0" anchor="ctr">
            <a:noAutofit/>
          </a:bodyPr>
          <a:lstStyle/>
          <a:p>
            <a:pPr marL="0" marR="0" lvl="0" indent="0" algn="ctr" defTabSz="73152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cs typeface="+mn-ea"/>
                <a:sym typeface="+mn-lt"/>
              </a:rPr>
              <a:t>等等等</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EMECOLOR" val="5"/>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2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30.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3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32.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3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34.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35.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36.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3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38.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39.xml><?xml version="1.0" encoding="utf-8"?>
<p:tagLst xmlns:a="http://schemas.openxmlformats.org/drawingml/2006/main" xmlns:r="http://schemas.openxmlformats.org/officeDocument/2006/relationships" xmlns:p="http://schemas.openxmlformats.org/presentationml/2006/main">
  <p:tag name="THEMECOLOR" val="5"/>
</p:tagLst>
</file>

<file path=ppt/tags/tag40.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41.xml><?xml version="1.0" encoding="utf-8"?>
<p:tagLst xmlns:a="http://schemas.openxmlformats.org/drawingml/2006/main" xmlns:r="http://schemas.openxmlformats.org/officeDocument/2006/relationships" xmlns:p="http://schemas.openxmlformats.org/presentationml/2006/main">
  <p:tag name="THEMECOLOR" val="5"/>
</p:tagLst>
</file>

<file path=ppt/tags/tag42.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43.xml><?xml version="1.0" encoding="utf-8"?>
<p:tagLst xmlns:a="http://schemas.openxmlformats.org/drawingml/2006/main" xmlns:r="http://schemas.openxmlformats.org/officeDocument/2006/relationships" xmlns:p="http://schemas.openxmlformats.org/presentationml/2006/main">
  <p:tag name="THEMECOLOR" val="5"/>
</p:tagLst>
</file>

<file path=ppt/tags/tag44.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45.xml><?xml version="1.0" encoding="utf-8"?>
<p:tagLst xmlns:a="http://schemas.openxmlformats.org/drawingml/2006/main" xmlns:r="http://schemas.openxmlformats.org/officeDocument/2006/relationships" xmlns:p="http://schemas.openxmlformats.org/presentationml/2006/main">
  <p:tag name="THEMECOLOR" val="5"/>
</p:tagLst>
</file>

<file path=ppt/tags/tag46.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47.xml><?xml version="1.0" encoding="utf-8"?>
<p:tagLst xmlns:a="http://schemas.openxmlformats.org/drawingml/2006/main" xmlns:r="http://schemas.openxmlformats.org/officeDocument/2006/relationships" xmlns:p="http://schemas.openxmlformats.org/presentationml/2006/main">
  <p:tag name="PA" val="v5.2.11"/>
</p:tagLst>
</file>

<file path=ppt/tags/tag48.xml><?xml version="1.0" encoding="utf-8"?>
<p:tagLst xmlns:a="http://schemas.openxmlformats.org/drawingml/2006/main" xmlns:r="http://schemas.openxmlformats.org/officeDocument/2006/relationships" xmlns:p="http://schemas.openxmlformats.org/presentationml/2006/main">
  <p:tag name="THEMECOLOR" val="5"/>
</p:tagLst>
</file>

<file path=ppt/tags/tag4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50.xml><?xml version="1.0" encoding="utf-8"?>
<p:tagLst xmlns:a="http://schemas.openxmlformats.org/drawingml/2006/main" xmlns:r="http://schemas.openxmlformats.org/officeDocument/2006/relationships" xmlns:p="http://schemas.openxmlformats.org/presentationml/2006/main">
  <p:tag name="THEMECOLOR" val="5"/>
</p:tagLst>
</file>

<file path=ppt/tags/tag5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52.xml><?xml version="1.0" encoding="utf-8"?>
<p:tagLst xmlns:a="http://schemas.openxmlformats.org/drawingml/2006/main" xmlns:r="http://schemas.openxmlformats.org/officeDocument/2006/relationships" xmlns:p="http://schemas.openxmlformats.org/presentationml/2006/main">
  <p:tag name="THEMECOLOR" val="5"/>
</p:tagLst>
</file>

<file path=ppt/tags/tag5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54.xml><?xml version="1.0" encoding="utf-8"?>
<p:tagLst xmlns:a="http://schemas.openxmlformats.org/drawingml/2006/main" xmlns:r="http://schemas.openxmlformats.org/officeDocument/2006/relationships" xmlns:p="http://schemas.openxmlformats.org/presentationml/2006/main">
  <p:tag name="THEMECOLOR" val="5"/>
</p:tagLst>
</file>

<file path=ppt/tags/tag55.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56.xml><?xml version="1.0" encoding="utf-8"?>
<p:tagLst xmlns:a="http://schemas.openxmlformats.org/drawingml/2006/main" xmlns:r="http://schemas.openxmlformats.org/officeDocument/2006/relationships" xmlns:p="http://schemas.openxmlformats.org/presentationml/2006/main">
  <p:tag name="THEMECOLOR" val="5"/>
</p:tagLst>
</file>

<file path=ppt/tags/tag5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58.xml><?xml version="1.0" encoding="utf-8"?>
<p:tagLst xmlns:a="http://schemas.openxmlformats.org/drawingml/2006/main" xmlns:r="http://schemas.openxmlformats.org/officeDocument/2006/relationships" xmlns:p="http://schemas.openxmlformats.org/presentationml/2006/main">
  <p:tag name="THEMECOLOR" val="5"/>
</p:tagLst>
</file>

<file path=ppt/tags/tag5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60.xml><?xml version="1.0" encoding="utf-8"?>
<p:tagLst xmlns:a="http://schemas.openxmlformats.org/drawingml/2006/main" xmlns:r="http://schemas.openxmlformats.org/officeDocument/2006/relationships" xmlns:p="http://schemas.openxmlformats.org/presentationml/2006/main">
  <p:tag name="THEMECOLOR" val="5"/>
</p:tagLst>
</file>

<file path=ppt/tags/tag6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62.xml><?xml version="1.0" encoding="utf-8"?>
<p:tagLst xmlns:a="http://schemas.openxmlformats.org/drawingml/2006/main" xmlns:r="http://schemas.openxmlformats.org/officeDocument/2006/relationships" xmlns:p="http://schemas.openxmlformats.org/presentationml/2006/main">
  <p:tag name="THEMECOLOR" val="5"/>
</p:tagLst>
</file>

<file path=ppt/tags/tag6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64.xml><?xml version="1.0" encoding="utf-8"?>
<p:tagLst xmlns:a="http://schemas.openxmlformats.org/drawingml/2006/main" xmlns:r="http://schemas.openxmlformats.org/officeDocument/2006/relationships" xmlns:p="http://schemas.openxmlformats.org/presentationml/2006/main">
  <p:tag name="THEMECOLOR" val="5"/>
</p:tagLst>
</file>

<file path=ppt/tags/tag65.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66.xml><?xml version="1.0" encoding="utf-8"?>
<p:tagLst xmlns:a="http://schemas.openxmlformats.org/drawingml/2006/main" xmlns:r="http://schemas.openxmlformats.org/officeDocument/2006/relationships" xmlns:p="http://schemas.openxmlformats.org/presentationml/2006/main">
  <p:tag name="THEMECOLOR" val="5"/>
</p:tagLst>
</file>

<file path=ppt/tags/tag6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68.xml><?xml version="1.0" encoding="utf-8"?>
<p:tagLst xmlns:a="http://schemas.openxmlformats.org/drawingml/2006/main" xmlns:r="http://schemas.openxmlformats.org/officeDocument/2006/relationships" xmlns:p="http://schemas.openxmlformats.org/presentationml/2006/main">
  <p:tag name="THEMECOLOR" val="5"/>
</p:tagLst>
</file>

<file path=ppt/tags/tag6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70.xml><?xml version="1.0" encoding="utf-8"?>
<p:tagLst xmlns:a="http://schemas.openxmlformats.org/drawingml/2006/main" xmlns:r="http://schemas.openxmlformats.org/officeDocument/2006/relationships" xmlns:p="http://schemas.openxmlformats.org/presentationml/2006/main">
  <p:tag name="THEMECOLOR" val="5"/>
</p:tagLst>
</file>

<file path=ppt/tags/tag7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72.xml><?xml version="1.0" encoding="utf-8"?>
<p:tagLst xmlns:a="http://schemas.openxmlformats.org/drawingml/2006/main" xmlns:r="http://schemas.openxmlformats.org/officeDocument/2006/relationships" xmlns:p="http://schemas.openxmlformats.org/presentationml/2006/main">
  <p:tag name="THEMECOLOR" val="5"/>
</p:tagLst>
</file>

<file path=ppt/tags/tag7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74.xml><?xml version="1.0" encoding="utf-8"?>
<p:tagLst xmlns:a="http://schemas.openxmlformats.org/drawingml/2006/main" xmlns:r="http://schemas.openxmlformats.org/officeDocument/2006/relationships" xmlns:p="http://schemas.openxmlformats.org/presentationml/2006/main">
  <p:tag name="THEMECOLOR" val="5"/>
</p:tagLst>
</file>

<file path=ppt/tags/tag75.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76.xml><?xml version="1.0" encoding="utf-8"?>
<p:tagLst xmlns:a="http://schemas.openxmlformats.org/drawingml/2006/main" xmlns:r="http://schemas.openxmlformats.org/officeDocument/2006/relationships" xmlns:p="http://schemas.openxmlformats.org/presentationml/2006/main">
  <p:tag name="THEMECOLOR" val="5"/>
</p:tagLst>
</file>

<file path=ppt/tags/tag7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78.xml><?xml version="1.0" encoding="utf-8"?>
<p:tagLst xmlns:a="http://schemas.openxmlformats.org/drawingml/2006/main" xmlns:r="http://schemas.openxmlformats.org/officeDocument/2006/relationships" xmlns:p="http://schemas.openxmlformats.org/presentationml/2006/main">
  <p:tag name="THEMECOLOR" val="5"/>
</p:tagLst>
</file>

<file path=ppt/tags/tag7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0.xml><?xml version="1.0" encoding="utf-8"?>
<p:tagLst xmlns:a="http://schemas.openxmlformats.org/drawingml/2006/main" xmlns:r="http://schemas.openxmlformats.org/officeDocument/2006/relationships" xmlns:p="http://schemas.openxmlformats.org/presentationml/2006/main">
  <p:tag name="THEMECOLOR" val="5"/>
</p:tagLst>
</file>

<file path=ppt/tags/tag8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2.xml><?xml version="1.0" encoding="utf-8"?>
<p:tagLst xmlns:a="http://schemas.openxmlformats.org/drawingml/2006/main" xmlns:r="http://schemas.openxmlformats.org/officeDocument/2006/relationships" xmlns:p="http://schemas.openxmlformats.org/presentationml/2006/main">
  <p:tag name="THEMECOLOR" val="5"/>
</p:tagLst>
</file>

<file path=ppt/tags/tag8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4.xml><?xml version="1.0" encoding="utf-8"?>
<p:tagLst xmlns:a="http://schemas.openxmlformats.org/drawingml/2006/main" xmlns:r="http://schemas.openxmlformats.org/officeDocument/2006/relationships" xmlns:p="http://schemas.openxmlformats.org/presentationml/2006/main">
  <p:tag name="THEMECOLOR" val="5"/>
</p:tagLst>
</file>

<file path=ppt/tags/tag85.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6.xml><?xml version="1.0" encoding="utf-8"?>
<p:tagLst xmlns:a="http://schemas.openxmlformats.org/drawingml/2006/main" xmlns:r="http://schemas.openxmlformats.org/officeDocument/2006/relationships" xmlns:p="http://schemas.openxmlformats.org/presentationml/2006/main">
  <p:tag name="THEMECOLOR" val="5"/>
</p:tagLst>
</file>

<file path=ppt/tags/tag8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8.xml><?xml version="1.0" encoding="utf-8"?>
<p:tagLst xmlns:a="http://schemas.openxmlformats.org/drawingml/2006/main" xmlns:r="http://schemas.openxmlformats.org/officeDocument/2006/relationships" xmlns:p="http://schemas.openxmlformats.org/presentationml/2006/main">
  <p:tag name="THEMECOLOR" val="5"/>
</p:tagLst>
</file>

<file path=ppt/tags/tag8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90.xml><?xml version="1.0" encoding="utf-8"?>
<p:tagLst xmlns:a="http://schemas.openxmlformats.org/drawingml/2006/main" xmlns:r="http://schemas.openxmlformats.org/officeDocument/2006/relationships" xmlns:p="http://schemas.openxmlformats.org/presentationml/2006/main">
  <p:tag name="THEMECOLOR" val="5"/>
</p:tagLst>
</file>

<file path=ppt/tags/tag9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92.xml><?xml version="1.0" encoding="utf-8"?>
<p:tagLst xmlns:a="http://schemas.openxmlformats.org/drawingml/2006/main" xmlns:r="http://schemas.openxmlformats.org/officeDocument/2006/relationships" xmlns:p="http://schemas.openxmlformats.org/presentationml/2006/main">
  <p:tag name="THEMECOLOR" val="5"/>
</p:tagLst>
</file>

<file path=ppt/theme/theme1.xml><?xml version="1.0" encoding="utf-8"?>
<a:theme xmlns:a="http://schemas.openxmlformats.org/drawingml/2006/main" name="1_Office 主题​​">
  <a:themeElements>
    <a:clrScheme name="深蓝配色">
      <a:dk1>
        <a:sysClr val="windowText" lastClr="000000"/>
      </a:dk1>
      <a:lt1>
        <a:sysClr val="window" lastClr="FFFFFF"/>
      </a:lt1>
      <a:dk2>
        <a:srgbClr val="44546A"/>
      </a:dk2>
      <a:lt2>
        <a:srgbClr val="E7E6E6"/>
      </a:lt2>
      <a:accent1>
        <a:srgbClr val="305598"/>
      </a:accent1>
      <a:accent2>
        <a:srgbClr val="4472C4"/>
      </a:accent2>
      <a:accent3>
        <a:srgbClr val="5B80D1"/>
      </a:accent3>
      <a:accent4>
        <a:srgbClr val="99B0E3"/>
      </a:accent4>
      <a:accent5>
        <a:srgbClr val="F1F5F9"/>
      </a:accent5>
      <a:accent6>
        <a:srgbClr val="F5F5F5"/>
      </a:accent6>
      <a:hlink>
        <a:srgbClr val="0563C1"/>
      </a:hlink>
      <a:folHlink>
        <a:srgbClr val="954F72"/>
      </a:folHlink>
    </a:clrScheme>
    <a:fontScheme name="vtdf4lez">
      <a:majorFont>
        <a:latin typeface="Roboto"/>
        <a:ea typeface="思源黑体 CN Normal"/>
        <a:cs typeface=""/>
      </a:majorFont>
      <a:minorFont>
        <a:latin typeface="Roboto"/>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0">
        <a:spAutoFit/>
      </a:bodyPr>
      <a:lstStyle>
        <a:defPPr algn="l">
          <a:defRPr sz="1600"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4">
      <a:dk1>
        <a:srgbClr val="000000"/>
      </a:dk1>
      <a:lt1>
        <a:srgbClr val="FFFFFF"/>
      </a:lt1>
      <a:dk2>
        <a:srgbClr val="000000"/>
      </a:dk2>
      <a:lt2>
        <a:srgbClr val="FFFFFF"/>
      </a:lt2>
      <a:accent1>
        <a:srgbClr val="EF5F57"/>
      </a:accent1>
      <a:accent2>
        <a:srgbClr val="383934"/>
      </a:accent2>
      <a:accent3>
        <a:srgbClr val="EF5F57"/>
      </a:accent3>
      <a:accent4>
        <a:srgbClr val="383934"/>
      </a:accent4>
      <a:accent5>
        <a:srgbClr val="EF5F57"/>
      </a:accent5>
      <a:accent6>
        <a:srgbClr val="383934"/>
      </a:accent6>
      <a:hlink>
        <a:srgbClr val="000000"/>
      </a:hlink>
      <a:folHlink>
        <a:srgbClr val="000000"/>
      </a:folHlink>
    </a:clrScheme>
    <a:fontScheme name="vtdf4lez">
      <a:majorFont>
        <a:latin typeface="Roboto"/>
        <a:ea typeface="思源黑体 CN Normal"/>
        <a:cs typeface=""/>
      </a:majorFont>
      <a:minorFont>
        <a:latin typeface="Roboto"/>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自定义 4">
      <a:dk1>
        <a:srgbClr val="000000"/>
      </a:dk1>
      <a:lt1>
        <a:srgbClr val="FFFFFF"/>
      </a:lt1>
      <a:dk2>
        <a:srgbClr val="000000"/>
      </a:dk2>
      <a:lt2>
        <a:srgbClr val="F8F8F8"/>
      </a:lt2>
      <a:accent1>
        <a:srgbClr val="00329D"/>
      </a:accent1>
      <a:accent2>
        <a:srgbClr val="4480FB"/>
      </a:accent2>
      <a:accent3>
        <a:srgbClr val="969696"/>
      </a:accent3>
      <a:accent4>
        <a:srgbClr val="808080"/>
      </a:accent4>
      <a:accent5>
        <a:srgbClr val="5F5F5F"/>
      </a:accent5>
      <a:accent6>
        <a:srgbClr val="4D4D4D"/>
      </a:accent6>
      <a:hlink>
        <a:srgbClr val="5F5F5F"/>
      </a:hlink>
      <a:folHlink>
        <a:srgbClr val="919191"/>
      </a:folHlink>
    </a:clrScheme>
    <a:fontScheme name="vtdf4lez">
      <a:majorFont>
        <a:latin typeface="Roboto"/>
        <a:ea typeface="思源黑体 CN Normal"/>
        <a:cs typeface=""/>
      </a:majorFont>
      <a:minorFont>
        <a:latin typeface="Roboto"/>
        <a:ea typeface="思源黑体 CN Normal"/>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2013 - 2022 主题">
  <a:themeElements>
    <a:clrScheme name="01-【经典蓝】配色">
      <a:dk1>
        <a:srgbClr val="000000"/>
      </a:dk1>
      <a:lt1>
        <a:srgbClr val="FFFFFF"/>
      </a:lt1>
      <a:dk2>
        <a:srgbClr val="000000"/>
      </a:dk2>
      <a:lt2>
        <a:srgbClr val="F8F8F8"/>
      </a:lt2>
      <a:accent1>
        <a:srgbClr val="00329D"/>
      </a:accent1>
      <a:accent2>
        <a:srgbClr val="00319B"/>
      </a:accent2>
      <a:accent3>
        <a:srgbClr val="00319E"/>
      </a:accent3>
      <a:accent4>
        <a:srgbClr val="808080"/>
      </a:accent4>
      <a:accent5>
        <a:srgbClr val="5F5F5F"/>
      </a:accent5>
      <a:accent6>
        <a:srgbClr val="4D4D4D"/>
      </a:accent6>
      <a:hlink>
        <a:srgbClr val="5F5F5F"/>
      </a:hlink>
      <a:folHlink>
        <a:srgbClr val="919191"/>
      </a:folHlink>
    </a:clrScheme>
    <a:fontScheme name="vtdf4lez">
      <a:majorFont>
        <a:latin typeface="Roboto"/>
        <a:ea typeface="思源黑体 CN Normal"/>
        <a:cs typeface=""/>
      </a:majorFont>
      <a:minorFont>
        <a:latin typeface="Roboto"/>
        <a:ea typeface="思源黑体 CN Normal"/>
        <a:cs typeface=""/>
      </a:minorFont>
    </a:fontScheme>
    <a:fmtScheme name="Office 2013 - 2022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wrap="square" lIns="0" tIns="0" rIns="0" bIns="0" rtlCol="0" anchor="ctr">
        <a:noAutofit/>
      </a:bodyPr>
      <a:lstStyle>
        <a:defPPr algn="ctr" defTabSz="731520">
          <a:lnSpc>
            <a:spcPct val="130000"/>
          </a:lnSpc>
          <a:defRPr sz="1400" dirty="0" smtClean="0">
            <a:solidFill>
              <a:schemeClr val="bg1"/>
            </a:solidFill>
            <a:latin typeface="+mn-ea"/>
            <a:cs typeface="OPPOSans L" panose="00020600040101010101" pitchFamily="18" charset="-122"/>
          </a:defRPr>
        </a:defPPr>
      </a:lstStyle>
    </a:spDef>
    <a:txDef>
      <a:spPr>
        <a:noFill/>
      </a:spPr>
      <a:bodyPr wrap="none" lIns="0" tIns="0" rIns="0" bIns="0" rtlCol="0">
        <a:noAutofit/>
      </a:bodyPr>
      <a:lstStyle>
        <a:defPPr algn="l">
          <a:defRPr sz="14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CN Norm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Normal"/>
        <a:ea typeface=""/>
        <a:cs typeface=""/>
        <a:font script="Jpan" typeface="ＭＳ Ｐゴシック"/>
        <a:font script="Hang" typeface="맑은 고딕"/>
        <a:font script="Hans" typeface="思源黑体 CN Norm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6736</Words>
  <Application>Microsoft Macintosh PowerPoint</Application>
  <PresentationFormat>宽屏</PresentationFormat>
  <Paragraphs>1686</Paragraphs>
  <Slides>40</Slides>
  <Notes>3</Notes>
  <HiddenSlides>0</HiddenSlides>
  <MMClips>0</MMClips>
  <ScaleCrop>false</ScaleCrop>
  <HeadingPairs>
    <vt:vector size="6" baseType="variant">
      <vt:variant>
        <vt:lpstr>已用的字体</vt:lpstr>
      </vt:variant>
      <vt:variant>
        <vt:i4>4</vt:i4>
      </vt:variant>
      <vt:variant>
        <vt:lpstr>主题</vt:lpstr>
      </vt:variant>
      <vt:variant>
        <vt:i4>4</vt:i4>
      </vt:variant>
      <vt:variant>
        <vt:lpstr>幻灯片标题</vt:lpstr>
      </vt:variant>
      <vt:variant>
        <vt:i4>40</vt:i4>
      </vt:variant>
    </vt:vector>
  </HeadingPairs>
  <TitlesOfParts>
    <vt:vector size="48" baseType="lpstr">
      <vt:lpstr>Arial</vt:lpstr>
      <vt:lpstr>思源黑体 CN Normal</vt:lpstr>
      <vt:lpstr>Roboto</vt:lpstr>
      <vt:lpstr>思源黑体 CN Bold</vt:lpstr>
      <vt:lpstr>1_Office 主题​​</vt:lpstr>
      <vt:lpstr>Office 主题</vt:lpstr>
      <vt:lpstr>2_Office 主题​​</vt:lpstr>
      <vt:lpstr>Office 2013 - 2022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五大工作成果展示/上半年回顾</dc:title>
  <dc:creator>张 琳</dc:creator>
  <cp:lastModifiedBy>Sun guang</cp:lastModifiedBy>
  <cp:revision>60</cp:revision>
  <dcterms:created xsi:type="dcterms:W3CDTF">2025-08-13T07:51:00Z</dcterms:created>
  <dcterms:modified xsi:type="dcterms:W3CDTF">2026-05-27T07:17:50Z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46A8C56490164DF9BD00D095B18F7440_12</vt:lpwstr>
  </property>
  <property fmtid="{D5CDD505-2E9C-101B-9397-08002B2CF9AE}" pid="3" name="KSOProductBuildVer">
    <vt:lpwstr>2052-11.1.0.11176</vt:lpwstr>
  </property>
</Properties>
</file>