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23"/>
  </p:notesMasterIdLst>
  <p:handoutMasterIdLst>
    <p:handoutMasterId r:id="rId39"/>
  </p:handoutMasterIdLst>
  <p:sldIdLst>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1" clrIdx="0"/>
  <p:cmAuthor id="2" name="kingsoft" initials="k" lastIdx="1" clrIdx="1"/>
  <p:cmAuthor id="3" name="Administra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C683"/>
    <a:srgbClr val="52717B"/>
    <a:srgbClr val="A2CBC5"/>
    <a:srgbClr val="F9CA62"/>
    <a:srgbClr val="FFFFFF"/>
    <a:srgbClr val="5D8287"/>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55" d="100"/>
          <a:sy n="155" d="100"/>
        </p:scale>
        <p:origin x="558" y="144"/>
      </p:cViewPr>
      <p:guideLst>
        <p:guide orient="horz" pos="208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handoutMaster" Target="handoutMasters/handout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ableStyles" Target="tableStyles.xml"/><Relationship Id="rId43" Type="http://schemas.openxmlformats.org/officeDocument/2006/relationships/commentAuthors" Target="commentAuthors.xml"/><Relationship Id="rId51" Type="http://schemas.openxmlformats.org/officeDocument/2006/relationships/tags" Target="tags/tag83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应付账款</c:v>
                </c:pt>
              </c:strCache>
            </c:strRef>
          </c:tx>
          <c:spPr>
            <a:solidFill>
              <a:schemeClr val="accent1"/>
            </a:solidFill>
            <a:ln>
              <a:noFill/>
            </a:ln>
            <a:effectLst/>
          </c:spPr>
          <c:invertIfNegative val="0"/>
          <c:dLbls>
            <c:delete val="1"/>
          </c:dLbls>
          <c:cat>
            <c:strRef>
              <c:f>Sheet1!$A$2:$A$4</c:f>
              <c:strCache>
                <c:ptCount val="3"/>
                <c:pt idx="0">
                  <c:v>20XX年</c:v>
                </c:pt>
                <c:pt idx="1">
                  <c:v>20XX年</c:v>
                </c:pt>
                <c:pt idx="2">
                  <c:v>20XX年</c:v>
                </c:pt>
              </c:strCache>
            </c:strRef>
          </c:cat>
          <c:val>
            <c:numRef>
              <c:f>Sheet1!$B$2:$B$4</c:f>
              <c:numCache>
                <c:formatCode>General</c:formatCode>
                <c:ptCount val="3"/>
                <c:pt idx="0">
                  <c:v>43</c:v>
                </c:pt>
                <c:pt idx="1">
                  <c:v>25</c:v>
                </c:pt>
                <c:pt idx="2">
                  <c:v>35</c:v>
                </c:pt>
              </c:numCache>
            </c:numRef>
          </c:val>
        </c:ser>
        <c:ser>
          <c:idx val="1"/>
          <c:order val="1"/>
          <c:tx>
            <c:strRef>
              <c:f>Sheet1!$C$1</c:f>
              <c:strCache>
                <c:ptCount val="1"/>
                <c:pt idx="0">
                  <c:v>短期借款</c:v>
                </c:pt>
              </c:strCache>
            </c:strRef>
          </c:tx>
          <c:spPr>
            <a:solidFill>
              <a:schemeClr val="accent2"/>
            </a:solidFill>
            <a:ln>
              <a:noFill/>
            </a:ln>
            <a:effectLst/>
          </c:spPr>
          <c:invertIfNegative val="0"/>
          <c:dLbls>
            <c:delete val="1"/>
          </c:dLbls>
          <c:cat>
            <c:strRef>
              <c:f>Sheet1!$A$2:$A$4</c:f>
              <c:strCache>
                <c:ptCount val="3"/>
                <c:pt idx="0">
                  <c:v>20XX年</c:v>
                </c:pt>
                <c:pt idx="1">
                  <c:v>20XX年</c:v>
                </c:pt>
                <c:pt idx="2">
                  <c:v>20XX年</c:v>
                </c:pt>
              </c:strCache>
            </c:strRef>
          </c:cat>
          <c:val>
            <c:numRef>
              <c:f>Sheet1!$C$2:$C$4</c:f>
              <c:numCache>
                <c:formatCode>General</c:formatCode>
                <c:ptCount val="3"/>
                <c:pt idx="0">
                  <c:v>24</c:v>
                </c:pt>
                <c:pt idx="1">
                  <c:v>44</c:v>
                </c:pt>
                <c:pt idx="2">
                  <c:v>18</c:v>
                </c:pt>
              </c:numCache>
            </c:numRef>
          </c:val>
        </c:ser>
        <c:ser>
          <c:idx val="2"/>
          <c:order val="2"/>
          <c:tx>
            <c:strRef>
              <c:f>Sheet1!$D$1</c:f>
              <c:strCache>
                <c:ptCount val="1"/>
                <c:pt idx="0">
                  <c:v>应付薪酬</c:v>
                </c:pt>
              </c:strCache>
            </c:strRef>
          </c:tx>
          <c:spPr>
            <a:solidFill>
              <a:schemeClr val="accent2">
                <a:alpha val="81000"/>
              </a:schemeClr>
            </a:solidFill>
            <a:ln>
              <a:noFill/>
            </a:ln>
            <a:effectLst/>
          </c:spPr>
          <c:invertIfNegative val="0"/>
          <c:dLbls>
            <c:delete val="1"/>
          </c:dLbls>
          <c:cat>
            <c:strRef>
              <c:f>Sheet1!$A$2:$A$4</c:f>
              <c:strCache>
                <c:ptCount val="3"/>
                <c:pt idx="0">
                  <c:v>20XX年</c:v>
                </c:pt>
                <c:pt idx="1">
                  <c:v>20XX年</c:v>
                </c:pt>
                <c:pt idx="2">
                  <c:v>20XX年</c:v>
                </c:pt>
              </c:strCache>
            </c:strRef>
          </c:cat>
          <c:val>
            <c:numRef>
              <c:f>Sheet1!$D$2:$D$4</c:f>
              <c:numCache>
                <c:formatCode>General</c:formatCode>
                <c:ptCount val="3"/>
                <c:pt idx="0">
                  <c:v>3</c:v>
                </c:pt>
                <c:pt idx="1">
                  <c:v>2</c:v>
                </c:pt>
                <c:pt idx="2">
                  <c:v>1</c:v>
                </c:pt>
              </c:numCache>
            </c:numRef>
          </c:val>
        </c:ser>
        <c:ser>
          <c:idx val="3"/>
          <c:order val="3"/>
          <c:tx>
            <c:strRef>
              <c:f>Sheet1!$E$1</c:f>
              <c:strCache>
                <c:ptCount val="1"/>
                <c:pt idx="0">
                  <c:v>应付税费</c:v>
                </c:pt>
              </c:strCache>
            </c:strRef>
          </c:tx>
          <c:spPr>
            <a:solidFill>
              <a:schemeClr val="accent2">
                <a:alpha val="51000"/>
              </a:schemeClr>
            </a:solidFill>
            <a:ln>
              <a:noFill/>
            </a:ln>
            <a:effectLst/>
          </c:spPr>
          <c:invertIfNegative val="0"/>
          <c:dLbls>
            <c:delete val="1"/>
          </c:dLbls>
          <c:cat>
            <c:strRef>
              <c:f>Sheet1!$A$2:$A$4</c:f>
              <c:strCache>
                <c:ptCount val="3"/>
                <c:pt idx="0">
                  <c:v>20XX年</c:v>
                </c:pt>
                <c:pt idx="1">
                  <c:v>20XX年</c:v>
                </c:pt>
                <c:pt idx="2">
                  <c:v>20XX年</c:v>
                </c:pt>
              </c:strCache>
            </c:strRef>
          </c:cat>
          <c:val>
            <c:numRef>
              <c:f>Sheet1!$E$2:$E$4</c:f>
              <c:numCache>
                <c:formatCode>General</c:formatCode>
                <c:ptCount val="3"/>
                <c:pt idx="0">
                  <c:v>9</c:v>
                </c:pt>
                <c:pt idx="1">
                  <c:v>10</c:v>
                </c:pt>
                <c:pt idx="2">
                  <c:v>12</c:v>
                </c:pt>
              </c:numCache>
            </c:numRef>
          </c:val>
        </c:ser>
        <c:ser>
          <c:idx val="4"/>
          <c:order val="4"/>
          <c:tx>
            <c:strRef>
              <c:f>Sheet1!$F$1</c:f>
              <c:strCache>
                <c:ptCount val="1"/>
                <c:pt idx="0">
                  <c:v>应付利息</c:v>
                </c:pt>
              </c:strCache>
            </c:strRef>
          </c:tx>
          <c:spPr>
            <a:solidFill>
              <a:schemeClr val="bg2"/>
            </a:solidFill>
            <a:ln>
              <a:noFill/>
            </a:ln>
            <a:effectLst/>
          </c:spPr>
          <c:invertIfNegative val="0"/>
          <c:dLbls>
            <c:delete val="1"/>
          </c:dLbls>
          <c:cat>
            <c:strRef>
              <c:f>Sheet1!$A$2:$A$4</c:f>
              <c:strCache>
                <c:ptCount val="3"/>
                <c:pt idx="0">
                  <c:v>20XX年</c:v>
                </c:pt>
                <c:pt idx="1">
                  <c:v>20XX年</c:v>
                </c:pt>
                <c:pt idx="2">
                  <c:v>20XX年</c:v>
                </c:pt>
              </c:strCache>
            </c:strRef>
          </c:cat>
          <c:val>
            <c:numRef>
              <c:f>Sheet1!$F$2:$F$4</c:f>
              <c:numCache>
                <c:formatCode>General</c:formatCode>
                <c:ptCount val="3"/>
                <c:pt idx="0">
                  <c:v>4</c:v>
                </c:pt>
                <c:pt idx="1">
                  <c:v>5</c:v>
                </c:pt>
                <c:pt idx="2">
                  <c:v>6</c:v>
                </c:pt>
              </c:numCache>
            </c:numRef>
          </c:val>
        </c:ser>
        <c:dLbls>
          <c:showLegendKey val="0"/>
          <c:showVal val="0"/>
          <c:showCatName val="0"/>
          <c:showSerName val="0"/>
          <c:showPercent val="0"/>
          <c:showBubbleSize val="0"/>
        </c:dLbls>
        <c:gapWidth val="150"/>
        <c:overlap val="100"/>
        <c:axId val="1043649392"/>
        <c:axId val="1043650032"/>
      </c:barChart>
      <c:catAx>
        <c:axId val="10436493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1043650032"/>
        <c:crosses val="autoZero"/>
        <c:auto val="1"/>
        <c:lblAlgn val="ctr"/>
        <c:lblOffset val="100"/>
        <c:noMultiLvlLbl val="0"/>
      </c:catAx>
      <c:valAx>
        <c:axId val="1043650032"/>
        <c:scaling>
          <c:orientation val="minMax"/>
        </c:scaling>
        <c:delete val="0"/>
        <c:axPos val="b"/>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10436493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4"/>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ayout>
        <c:manualLayout>
          <c:xMode val="edge"/>
          <c:yMode val="edge"/>
          <c:x val="0.341928844457512"/>
          <c:y val="0.904395604395604"/>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
    <c:plotVisOnly val="1"/>
    <c:dispBlanksAs val="gap"/>
    <c:showDLblsOverMax val="0"/>
  </c:chart>
  <c:spPr>
    <a:noFill/>
    <a:ln>
      <a:noFill/>
    </a:ln>
    <a:effectLst/>
  </c:spPr>
  <c:txPr>
    <a:bodyPr/>
    <a:lstStyle/>
    <a:p>
      <a:pPr>
        <a:defRPr lang="zh-CN" sz="1000">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984251968504"/>
          <c:y val="0.0658792208391992"/>
          <c:w val="0.746031692913386"/>
          <c:h val="0.837453786190183"/>
        </c:manualLayout>
      </c:layout>
      <c:doughnutChart>
        <c:varyColors val="1"/>
        <c:ser>
          <c:idx val="0"/>
          <c:order val="0"/>
          <c:tx>
            <c:strRef>
              <c:f>Sheet1!$B$1</c:f>
              <c:strCache>
                <c:ptCount val="1"/>
                <c:pt idx="0">
                  <c:v>Sales</c:v>
                </c:pt>
              </c:strCache>
            </c:strRef>
          </c:tx>
          <c:spPr>
            <a:ln>
              <a:solidFill>
                <a:schemeClr val="bg1"/>
              </a:solidFill>
            </a:ln>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6"/>
              </a:solidFill>
              <a:ln>
                <a:solidFill>
                  <a:schemeClr val="bg1"/>
                </a:solidFill>
              </a:ln>
              <a:effectLst/>
            </c:spPr>
          </c:dPt>
          <c:dLbls>
            <c:delete val="1"/>
          </c:dLbls>
          <c:cat>
            <c:strRef>
              <c:f>Sheet1!$A$2:$A$6</c:f>
              <c:strCache>
                <c:ptCount val="4"/>
                <c:pt idx="0">
                  <c:v>1st Qtr</c:v>
                </c:pt>
                <c:pt idx="1">
                  <c:v>2nd Qtr</c:v>
                </c:pt>
                <c:pt idx="2">
                  <c:v>3rd Qtr</c:v>
                </c:pt>
                <c:pt idx="3">
                  <c:v>4th Qtr</c:v>
                </c:pt>
              </c:strCache>
            </c:strRef>
          </c:cat>
          <c:val>
            <c:numRef>
              <c:f>Sheet1!$B$2:$B$6</c:f>
              <c:numCache>
                <c:formatCode>0%</c:formatCode>
                <c:ptCount val="5"/>
                <c:pt idx="0">
                  <c:v>0.35</c:v>
                </c:pt>
                <c:pt idx="1">
                  <c:v>0.16</c:v>
                </c:pt>
                <c:pt idx="2">
                  <c:v>0.21</c:v>
                </c:pt>
                <c:pt idx="3">
                  <c:v>0.19</c:v>
                </c:pt>
                <c:pt idx="4">
                  <c:v>0.23</c:v>
                </c:pt>
              </c:numCache>
            </c:numRef>
          </c:val>
        </c:ser>
        <c:dLbls>
          <c:showLegendKey val="0"/>
          <c:showVal val="1"/>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800"/>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83E79D9-4245-43AF-B814-0F94C8CEF425}" type="doc">
      <dgm:prSet loTypeId="pyramid" loCatId="pyramid" qsTypeId="urn:microsoft.com/office/officeart/2005/8/quickstyle/simple2#1" qsCatId="simple" csTypeId="urn:microsoft.com/office/officeart/2005/8/colors/accent2_3#1" csCatId="accent1" phldr="1"/>
      <dgm:spPr/>
    </dgm:pt>
    <dgm:pt modelId="{406E0277-7C1F-4E0F-B74F-1424948DDA69}">
      <dgm:prSet phldrT="[Text]" phldr="0" custT="1"/>
      <dgm:spPr/>
      <dgm:t>
        <a:bodyPr vert="horz" wrap="square"/>
        <a:p>
          <a:pPr>
            <a:lnSpc>
              <a:spcPct val="60000"/>
            </a:lnSpc>
            <a:spcBef>
              <a:spcPct val="0"/>
            </a:spcBef>
            <a:spcAft>
              <a:spcPct val="35000"/>
            </a:spcAft>
          </a:pPr>
          <a:r>
            <a:rPr lang="zh-CN" altLang="en-US" sz="1100" b="1" dirty="0">
              <a:solidFill>
                <a:schemeClr val="bg1"/>
              </a:solidFill>
              <a:latin typeface="思源黑体 Medium" panose="020B0600000000000000" charset="-122"/>
              <a:ea typeface="+mn-ea"/>
              <a:cs typeface="+mn-cs"/>
              <a:sym typeface="Arial" panose="020B0604020202020204" pitchFamily="34" charset="0"/>
            </a:rPr>
            <a:t/>
          </a:r>
          <a:endParaRPr lang="zh-CN" altLang="en-US" sz="1100" b="1" dirty="0">
            <a:solidFill>
              <a:schemeClr val="bg1"/>
            </a:solidFill>
            <a:latin typeface="思源黑体 Medium" panose="020B0600000000000000" charset="-122"/>
            <a:ea typeface="+mn-ea"/>
            <a:cs typeface="+mn-cs"/>
            <a:sym typeface="Arial" panose="020B0604020202020204" pitchFamily="34" charset="0"/>
          </a:endParaRPr>
        </a:p>
        <a:p>
          <a:pPr>
            <a:lnSpc>
              <a:spcPct val="60000"/>
            </a:lnSpc>
            <a:spcBef>
              <a:spcPct val="0"/>
            </a:spcBef>
            <a:spcAft>
              <a:spcPct val="35000"/>
            </a:spcAft>
          </a:pPr>
          <a:r>
            <a:rPr lang="zh-CN" altLang="en-US" sz="1100" b="1" dirty="0">
              <a:solidFill>
                <a:schemeClr val="bg1"/>
              </a:solidFill>
              <a:latin typeface="思源黑体 Medium" panose="020B0600000000000000" charset="-122"/>
              <a:ea typeface="+mn-ea"/>
              <a:cs typeface="+mn-cs"/>
              <a:sym typeface="Arial" panose="020B0604020202020204" pitchFamily="34" charset="0"/>
            </a:rPr>
            <a:t>测量</a:t>
          </a:r>
          <a:r>
            <a:rPr sz="6500"/>
            <a:t/>
          </a:r>
          <a:endParaRPr sz="6500"/>
        </a:p>
      </dgm:t>
    </dgm:pt>
    <dgm:pt modelId="{49D1394B-C2BB-47D1-9235-7D05B576DE88}" cxnId="{53E74300-F539-4168-96E6-5ECB8CD12D15}"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861F24C0-54DE-4123-893F-7BD9C56EB5BD}" cxnId="{53E74300-F539-4168-96E6-5ECB8CD12D15}"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C2324152-CDC3-46F4-B4A0-ED7BF429ECA2}">
      <dgm:prSet phldrT="[Text]" phldr="0" custT="1"/>
      <dgm:spPr/>
      <dgm:t>
        <a:bodyPr vert="horz" wrap="square"/>
        <a:p>
          <a:pPr>
            <a:lnSpc>
              <a:spcPct val="100000"/>
            </a:lnSpc>
            <a:spcBef>
              <a:spcPct val="0"/>
            </a:spcBef>
            <a:spcAft>
              <a:spcPct val="35000"/>
            </a:spcAft>
          </a:pPr>
          <a:r>
            <a:rPr lang="zh-CN" altLang="en-US" sz="1200" b="1" dirty="0">
              <a:solidFill>
                <a:schemeClr val="bg1"/>
              </a:solidFill>
              <a:latin typeface="思源黑体 Medium" panose="020B0600000000000000" charset="-122"/>
              <a:ea typeface="+mn-ea"/>
              <a:cs typeface="+mn-cs"/>
              <a:sym typeface="Arial" panose="020B0604020202020204" pitchFamily="34" charset="0"/>
            </a:rPr>
            <a:t>准实验设计</a:t>
          </a:r>
          <a:r>
            <a:rPr sz="6500"/>
            <a:t/>
          </a:r>
          <a:endParaRPr sz="6500"/>
        </a:p>
      </dgm:t>
    </dgm:pt>
    <dgm:pt modelId="{44A8B208-4DDC-493A-99EF-E101AC7ADAEA}" cxnId="{6910D288-DDF0-49DD-BB79-A64D107D6563}"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28ECEC3A-8288-4FE2-8C9B-4276466E655B}" cxnId="{6910D288-DDF0-49DD-BB79-A64D107D6563}"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D2EA0DA8-E861-4F67-BA8E-C3FDF3246565}">
      <dgm:prSet phldrT="[Text]" phldr="0" custT="1"/>
      <dgm:spPr/>
      <dgm:t>
        <a:bodyPr vert="horz" wrap="square"/>
        <a:p>
          <a:pPr>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情境学习理论</a:t>
          </a:r>
          <a:r>
            <a:rPr sz="6500"/>
            <a:t/>
          </a:r>
          <a:endParaRPr sz="6500"/>
        </a:p>
      </dgm:t>
    </dgm:pt>
    <dgm:pt modelId="{8B1F9992-8417-4576-BCF4-71CB0AE66845}" cxnId="{0B96B36F-9B8C-45BB-8052-7BBEFC891213}" type="parTrans">
      <dgm:prSet/>
      <dgm:spPr/>
      <dgm:t>
        <a:bodyPr/>
        <a:lstStyle/>
        <a:p>
          <a:endParaRPr lang="en-US"/>
        </a:p>
      </dgm:t>
    </dgm:pt>
    <dgm:pt modelId="{DD3403F9-73FE-4FCF-A0F9-B3E3A973D5F7}" cxnId="{0B96B36F-9B8C-45BB-8052-7BBEFC891213}" type="sibTrans">
      <dgm:prSet/>
      <dgm:spPr/>
      <dgm:t>
        <a:bodyPr/>
        <a:lstStyle/>
        <a:p>
          <a:endParaRPr lang="en-US"/>
        </a:p>
      </dgm:t>
    </dgm:pt>
    <dgm:pt modelId="{EF52F744-B66B-4375-857B-4E02A8BA3969}">
      <dgm:prSet phldrT="[Text]" phldr="0" custT="1"/>
      <dgm:spPr/>
      <dgm:t>
        <a:bodyPr vert="horz" wrap="square"/>
        <a:p>
          <a:pPr>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人文关怀理论</a:t>
          </a:r>
          <a:r>
            <a:rPr sz="6500"/>
            <a:t/>
          </a:r>
          <a:endParaRPr sz="6500"/>
        </a:p>
      </dgm:t>
    </dgm:pt>
    <dgm:pt modelId="{FB2D82A0-9417-45CD-B750-9545EE6A2CF2}" cxnId="{1BF719FA-C7F7-4DE2-BE78-2A4039DB0D29}"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6C1A34CA-BF88-495C-B403-F0438BFDF1EF}" cxnId="{1BF719FA-C7F7-4DE2-BE78-2A4039DB0D29}"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8CE022B5-95EC-43D5-8AB2-C6CF547DC907}" type="pres">
      <dgm:prSet presAssocID="{083E79D9-4245-43AF-B814-0F94C8CEF425}" presName="Name0" presStyleCnt="0">
        <dgm:presLayoutVars>
          <dgm:dir/>
          <dgm:animLvl val="lvl"/>
          <dgm:resizeHandles val="exact"/>
        </dgm:presLayoutVars>
      </dgm:prSet>
      <dgm:spPr/>
    </dgm:pt>
    <dgm:pt modelId="{FB6BCE7E-A41C-42DB-AF08-AC42C61BF1E3}" type="pres">
      <dgm:prSet presAssocID="{406E0277-7C1F-4E0F-B74F-1424948DDA69}" presName="Name8" presStyleCnt="0"/>
      <dgm:spPr/>
    </dgm:pt>
    <dgm:pt modelId="{8F9C377E-C7D7-41C7-AB7B-17FEE9DE2A63}" type="pres">
      <dgm:prSet presAssocID="{406E0277-7C1F-4E0F-B74F-1424948DDA69}" presName="level" presStyleLbl="node1" presStyleIdx="0" presStyleCnt="4">
        <dgm:presLayoutVars>
          <dgm:chMax val="1"/>
          <dgm:bulletEnabled val="1"/>
        </dgm:presLayoutVars>
      </dgm:prSet>
      <dgm:spPr/>
    </dgm:pt>
    <dgm:pt modelId="{C0AE8062-83C6-4839-8A05-9CD899F802AC}" type="pres">
      <dgm:prSet presAssocID="{406E0277-7C1F-4E0F-B74F-1424948DDA69}" presName="levelTx" presStyleCnt="0">
        <dgm:presLayoutVars>
          <dgm:chMax val="1"/>
          <dgm:bulletEnabled val="1"/>
        </dgm:presLayoutVars>
      </dgm:prSet>
      <dgm:spPr/>
    </dgm:pt>
    <dgm:pt modelId="{9F373CA3-CE02-4B9C-B4AA-F63653950AEE}" type="pres">
      <dgm:prSet presAssocID="{C2324152-CDC3-46F4-B4A0-ED7BF429ECA2}" presName="Name8" presStyleCnt="0"/>
      <dgm:spPr/>
    </dgm:pt>
    <dgm:pt modelId="{6805A852-822A-4D8F-80CF-373D974A3DB3}" type="pres">
      <dgm:prSet presAssocID="{C2324152-CDC3-46F4-B4A0-ED7BF429ECA2}" presName="level" presStyleLbl="node1" presStyleIdx="1" presStyleCnt="4">
        <dgm:presLayoutVars>
          <dgm:chMax val="1"/>
          <dgm:bulletEnabled val="1"/>
        </dgm:presLayoutVars>
      </dgm:prSet>
      <dgm:spPr/>
    </dgm:pt>
    <dgm:pt modelId="{EC2607F1-1A0B-456F-82C5-BAAB085C98F4}" type="pres">
      <dgm:prSet presAssocID="{C2324152-CDC3-46F4-B4A0-ED7BF429ECA2}" presName="levelTx" presStyleCnt="0">
        <dgm:presLayoutVars>
          <dgm:chMax val="1"/>
          <dgm:bulletEnabled val="1"/>
        </dgm:presLayoutVars>
      </dgm:prSet>
      <dgm:spPr/>
    </dgm:pt>
    <dgm:pt modelId="{63B31C9D-2454-43A2-8D06-EA2E085F4CC6}" type="pres">
      <dgm:prSet presAssocID="{D2EA0DA8-E861-4F67-BA8E-C3FDF3246565}" presName="Name8" presStyleCnt="0"/>
      <dgm:spPr/>
    </dgm:pt>
    <dgm:pt modelId="{F07DB1AA-DA07-4F49-966B-FC7576517271}" type="pres">
      <dgm:prSet presAssocID="{D2EA0DA8-E861-4F67-BA8E-C3FDF3246565}" presName="level" presStyleLbl="node1" presStyleIdx="2" presStyleCnt="4">
        <dgm:presLayoutVars>
          <dgm:chMax val="1"/>
          <dgm:bulletEnabled val="1"/>
        </dgm:presLayoutVars>
      </dgm:prSet>
      <dgm:spPr/>
    </dgm:pt>
    <dgm:pt modelId="{A9112F95-3FC3-4424-ABB6-80530BF135C2}" type="pres">
      <dgm:prSet presAssocID="{D2EA0DA8-E861-4F67-BA8E-C3FDF3246565}" presName="levelTx" presStyleCnt="0">
        <dgm:presLayoutVars>
          <dgm:chMax val="1"/>
          <dgm:bulletEnabled val="1"/>
        </dgm:presLayoutVars>
      </dgm:prSet>
      <dgm:spPr/>
    </dgm:pt>
    <dgm:pt modelId="{BF650357-F437-4C12-A7A5-A1C18FE9D594}" type="pres">
      <dgm:prSet presAssocID="{EF52F744-B66B-4375-857B-4E02A8BA3969}" presName="Name8" presStyleCnt="0"/>
      <dgm:spPr/>
    </dgm:pt>
    <dgm:pt modelId="{F0086C54-1E93-420E-B67E-7518A0744D6F}" type="pres">
      <dgm:prSet presAssocID="{EF52F744-B66B-4375-857B-4E02A8BA3969}" presName="level" presStyleLbl="node1" presStyleIdx="3" presStyleCnt="4">
        <dgm:presLayoutVars>
          <dgm:chMax val="1"/>
          <dgm:bulletEnabled val="1"/>
        </dgm:presLayoutVars>
      </dgm:prSet>
      <dgm:spPr/>
    </dgm:pt>
    <dgm:pt modelId="{77DA082C-9E30-4A87-862D-B63B6CDA506A}" type="pres">
      <dgm:prSet presAssocID="{EF52F744-B66B-4375-857B-4E02A8BA3969}" presName="levelTx" presStyleCnt="0">
        <dgm:presLayoutVars>
          <dgm:chMax val="1"/>
          <dgm:bulletEnabled val="1"/>
        </dgm:presLayoutVars>
      </dgm:prSet>
      <dgm:spPr/>
    </dgm:pt>
  </dgm:ptLst>
  <dgm:cxnLst>
    <dgm:cxn modelId="{53E74300-F539-4168-96E6-5ECB8CD12D15}" srcId="{083E79D9-4245-43AF-B814-0F94C8CEF425}" destId="{406E0277-7C1F-4E0F-B74F-1424948DDA69}" srcOrd="0" destOrd="0" parTransId="{49D1394B-C2BB-47D1-9235-7D05B576DE88}" sibTransId="{861F24C0-54DE-4123-893F-7BD9C56EB5BD}"/>
    <dgm:cxn modelId="{6910D288-DDF0-49DD-BB79-A64D107D6563}" srcId="{083E79D9-4245-43AF-B814-0F94C8CEF425}" destId="{C2324152-CDC3-46F4-B4A0-ED7BF429ECA2}" srcOrd="1" destOrd="0" parTransId="{44A8B208-4DDC-493A-99EF-E101AC7ADAEA}" sibTransId="{28ECEC3A-8288-4FE2-8C9B-4276466E655B}"/>
    <dgm:cxn modelId="{0B96B36F-9B8C-45BB-8052-7BBEFC891213}" srcId="{083E79D9-4245-43AF-B814-0F94C8CEF425}" destId="{D2EA0DA8-E861-4F67-BA8E-C3FDF3246565}" srcOrd="2" destOrd="0" parTransId="{8B1F9992-8417-4576-BCF4-71CB0AE66845}" sibTransId="{DD3403F9-73FE-4FCF-A0F9-B3E3A973D5F7}"/>
    <dgm:cxn modelId="{1BF719FA-C7F7-4DE2-BE78-2A4039DB0D29}" srcId="{083E79D9-4245-43AF-B814-0F94C8CEF425}" destId="{EF52F744-B66B-4375-857B-4E02A8BA3969}" srcOrd="3" destOrd="0" parTransId="{FB2D82A0-9417-45CD-B750-9545EE6A2CF2}" sibTransId="{6C1A34CA-BF88-495C-B403-F0438BFDF1EF}"/>
    <dgm:cxn modelId="{F0EAB5E4-14BD-4AB9-8B51-7540DBFB66B8}" type="presOf" srcId="{083E79D9-4245-43AF-B814-0F94C8CEF425}" destId="{8CE022B5-95EC-43D5-8AB2-C6CF547DC907}" srcOrd="0" destOrd="0" presId="urn:microsoft.com/office/officeart/2005/8/layout/pyramid1#1"/>
    <dgm:cxn modelId="{B846185B-8F26-4F52-A5B3-03E9141E5F07}" type="presParOf" srcId="{8CE022B5-95EC-43D5-8AB2-C6CF547DC907}" destId="{FB6BCE7E-A41C-42DB-AF08-AC42C61BF1E3}" srcOrd="0" destOrd="0" presId="urn:microsoft.com/office/officeart/2005/8/layout/pyramid1#1"/>
    <dgm:cxn modelId="{3ADD43D9-A11E-4D1B-BD38-65F865821A9D}" type="presParOf" srcId="{FB6BCE7E-A41C-42DB-AF08-AC42C61BF1E3}" destId="{8F9C377E-C7D7-41C7-AB7B-17FEE9DE2A63}" srcOrd="0" destOrd="0" presId="urn:microsoft.com/office/officeart/2005/8/layout/pyramid1#1"/>
    <dgm:cxn modelId="{116DD50F-D902-4508-A3F1-2BAAE52037C6}" type="presOf" srcId="{406E0277-7C1F-4E0F-B74F-1424948DDA69}" destId="{8F9C377E-C7D7-41C7-AB7B-17FEE9DE2A63}" srcOrd="0" destOrd="0" presId="urn:microsoft.com/office/officeart/2005/8/layout/pyramid1#1"/>
    <dgm:cxn modelId="{12545951-BCEC-469B-998F-F7B9D01D3137}" type="presParOf" srcId="{FB6BCE7E-A41C-42DB-AF08-AC42C61BF1E3}" destId="{C0AE8062-83C6-4839-8A05-9CD899F802AC}" srcOrd="1" destOrd="0" presId="urn:microsoft.com/office/officeart/2005/8/layout/pyramid1#1"/>
    <dgm:cxn modelId="{7AC7B354-C136-42A7-A1DF-E5625FFC5EF4}" type="presOf" srcId="{406E0277-7C1F-4E0F-B74F-1424948DDA69}" destId="{C0AE8062-83C6-4839-8A05-9CD899F802AC}" srcOrd="1" destOrd="0" presId="urn:microsoft.com/office/officeart/2005/8/layout/pyramid1#1"/>
    <dgm:cxn modelId="{05030249-2932-46A5-86F3-714762FAE952}" type="presParOf" srcId="{8CE022B5-95EC-43D5-8AB2-C6CF547DC907}" destId="{9F373CA3-CE02-4B9C-B4AA-F63653950AEE}" srcOrd="1" destOrd="0" presId="urn:microsoft.com/office/officeart/2005/8/layout/pyramid1#1"/>
    <dgm:cxn modelId="{E08BB20E-A57C-4D5B-BB7E-6CFEA1C627DD}" type="presParOf" srcId="{9F373CA3-CE02-4B9C-B4AA-F63653950AEE}" destId="{6805A852-822A-4D8F-80CF-373D974A3DB3}" srcOrd="0" destOrd="1" presId="urn:microsoft.com/office/officeart/2005/8/layout/pyramid1#1"/>
    <dgm:cxn modelId="{A7115DC4-208B-425F-B40E-8D613D262984}" type="presOf" srcId="{C2324152-CDC3-46F4-B4A0-ED7BF429ECA2}" destId="{6805A852-822A-4D8F-80CF-373D974A3DB3}" srcOrd="0" destOrd="0" presId="urn:microsoft.com/office/officeart/2005/8/layout/pyramid1#1"/>
    <dgm:cxn modelId="{15EF9AF4-C37E-4933-897B-10A6167BBBFA}" type="presParOf" srcId="{9F373CA3-CE02-4B9C-B4AA-F63653950AEE}" destId="{EC2607F1-1A0B-456F-82C5-BAAB085C98F4}" srcOrd="1" destOrd="1" presId="urn:microsoft.com/office/officeart/2005/8/layout/pyramid1#1"/>
    <dgm:cxn modelId="{50C59071-9436-4BAF-B987-C0ABF9EA21AE}" type="presOf" srcId="{C2324152-CDC3-46F4-B4A0-ED7BF429ECA2}" destId="{EC2607F1-1A0B-456F-82C5-BAAB085C98F4}" srcOrd="1" destOrd="0" presId="urn:microsoft.com/office/officeart/2005/8/layout/pyramid1#1"/>
    <dgm:cxn modelId="{87C13923-D2F3-415D-9679-517B5AA376EF}" type="presParOf" srcId="{8CE022B5-95EC-43D5-8AB2-C6CF547DC907}" destId="{63B31C9D-2454-43A2-8D06-EA2E085F4CC6}" srcOrd="2" destOrd="0" presId="urn:microsoft.com/office/officeart/2005/8/layout/pyramid1#1"/>
    <dgm:cxn modelId="{C37A4C66-BCDE-463E-9E1A-D335195F4362}" type="presParOf" srcId="{63B31C9D-2454-43A2-8D06-EA2E085F4CC6}" destId="{F07DB1AA-DA07-4F49-966B-FC7576517271}" srcOrd="0" destOrd="2" presId="urn:microsoft.com/office/officeart/2005/8/layout/pyramid1#1"/>
    <dgm:cxn modelId="{B7721B20-F50A-4AE2-A0EF-917ED30499E0}" type="presOf" srcId="{D2EA0DA8-E861-4F67-BA8E-C3FDF3246565}" destId="{F07DB1AA-DA07-4F49-966B-FC7576517271}" srcOrd="0" destOrd="0" presId="urn:microsoft.com/office/officeart/2005/8/layout/pyramid1#1"/>
    <dgm:cxn modelId="{A23A38F5-A78A-4B9F-85B4-769D28F04327}" type="presParOf" srcId="{63B31C9D-2454-43A2-8D06-EA2E085F4CC6}" destId="{A9112F95-3FC3-4424-ABB6-80530BF135C2}" srcOrd="1" destOrd="2" presId="urn:microsoft.com/office/officeart/2005/8/layout/pyramid1#1"/>
    <dgm:cxn modelId="{51729C40-7F32-4111-AAC9-4907A606F5D0}" type="presOf" srcId="{D2EA0DA8-E861-4F67-BA8E-C3FDF3246565}" destId="{A9112F95-3FC3-4424-ABB6-80530BF135C2}" srcOrd="1" destOrd="0" presId="urn:microsoft.com/office/officeart/2005/8/layout/pyramid1#1"/>
    <dgm:cxn modelId="{CA537109-51EE-4B17-8D47-5B40ADA00A2E}" type="presParOf" srcId="{8CE022B5-95EC-43D5-8AB2-C6CF547DC907}" destId="{BF650357-F437-4C12-A7A5-A1C18FE9D594}" srcOrd="3" destOrd="0" presId="urn:microsoft.com/office/officeart/2005/8/layout/pyramid1#1"/>
    <dgm:cxn modelId="{FC493B59-38A6-4EDA-A7D1-CD70A80CF103}" type="presParOf" srcId="{BF650357-F437-4C12-A7A5-A1C18FE9D594}" destId="{F0086C54-1E93-420E-B67E-7518A0744D6F}" srcOrd="0" destOrd="3" presId="urn:microsoft.com/office/officeart/2005/8/layout/pyramid1#1"/>
    <dgm:cxn modelId="{051E912D-0B1A-4F6C-A316-9A304C1F81FF}" type="presOf" srcId="{EF52F744-B66B-4375-857B-4E02A8BA3969}" destId="{F0086C54-1E93-420E-B67E-7518A0744D6F}" srcOrd="0" destOrd="0" presId="urn:microsoft.com/office/officeart/2005/8/layout/pyramid1#1"/>
    <dgm:cxn modelId="{3D539C7D-516B-4862-858A-6142083F67EB}" type="presParOf" srcId="{BF650357-F437-4C12-A7A5-A1C18FE9D594}" destId="{77DA082C-9E30-4A87-862D-B63B6CDA506A}" srcOrd="1" destOrd="3" presId="urn:microsoft.com/office/officeart/2005/8/layout/pyramid1#1"/>
    <dgm:cxn modelId="{973135C4-E80D-41FE-BB3D-35DE83C0EE98}" type="presOf" srcId="{EF52F744-B66B-4375-857B-4E02A8BA3969}" destId="{77DA082C-9E30-4A87-862D-B63B6CDA506A}" srcOrd="1" destOrd="0" presId="urn:microsoft.com/office/officeart/2005/8/layout/pyramid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232275" cy="2783840"/>
        <a:chOff x="0" y="0"/>
        <a:chExt cx="4232275" cy="2783840"/>
      </a:xfrm>
    </dsp:grpSpPr>
    <dsp:sp modelId="{8F9C377E-C7D7-41C7-AB7B-17FEE9DE2A63}">
      <dsp:nvSpPr>
        <dsp:cNvPr id="3" name="梯形 2"/>
        <dsp:cNvSpPr/>
      </dsp:nvSpPr>
      <dsp:spPr bwMode="white">
        <a:xfrm>
          <a:off x="1587103" y="0"/>
          <a:ext cx="1058069" cy="695960"/>
        </a:xfrm>
        <a:prstGeom prst="trapezoid">
          <a:avLst>
            <a:gd name="adj" fmla="val 76015"/>
          </a:avLst>
        </a:prstGeom>
      </dsp:spPr>
      <dsp:style>
        <a:lnRef idx="3">
          <a:schemeClr val="lt1"/>
        </a:lnRef>
        <a:fillRef idx="1">
          <a:schemeClr val="accent2">
            <a:shade val="80000"/>
            <a:hueOff val="0"/>
            <a:satOff val="0"/>
            <a:lumOff val="0"/>
            <a:alpha val="100000"/>
          </a:schemeClr>
        </a:fillRef>
        <a:effectRef idx="1">
          <a:scrgbClr r="0" g="0" b="0"/>
        </a:effectRef>
        <a:fontRef idx="minor">
          <a:schemeClr val="lt1"/>
        </a:fontRef>
      </dsp:style>
      <dsp:txBody>
        <a:bodyPr vert="horz" wrap="square" lIns="13970" tIns="13970" rIns="13970" bIns="139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60000"/>
            </a:lnSpc>
            <a:spcBef>
              <a:spcPct val="0"/>
            </a:spcBef>
            <a:spcAft>
              <a:spcPct val="35000"/>
            </a:spcAft>
            <a:buNone/>
          </a:pPr>
          <a:endParaRPr lang="zh-CN" altLang="en-US" sz="1100" b="1" dirty="0">
            <a:solidFill>
              <a:schemeClr val="bg1"/>
            </a:solidFill>
            <a:latin typeface="思源黑体 Medium" panose="020B0600000000000000" charset="-122"/>
            <a:ea typeface="+mn-ea"/>
            <a:cs typeface="+mn-cs"/>
            <a:sym typeface="Arial" panose="020B0604020202020204" pitchFamily="34" charset="0"/>
          </a:endParaRPr>
        </a:p>
        <a:p>
          <a:pPr lvl="0">
            <a:lnSpc>
              <a:spcPct val="60000"/>
            </a:lnSpc>
            <a:spcBef>
              <a:spcPct val="0"/>
            </a:spcBef>
            <a:spcAft>
              <a:spcPct val="35000"/>
            </a:spcAft>
            <a:buNone/>
          </a:pPr>
          <a:r>
            <a:rPr lang="zh-CN" altLang="en-US" sz="1100" b="1" dirty="0">
              <a:solidFill>
                <a:schemeClr val="bg1"/>
              </a:solidFill>
              <a:latin typeface="思源黑体 Medium" panose="020B0600000000000000" charset="-122"/>
              <a:ea typeface="+mn-ea"/>
              <a:cs typeface="+mn-cs"/>
              <a:sym typeface="Arial" panose="020B0604020202020204" pitchFamily="34" charset="0"/>
            </a:rPr>
            <a:t>测量</a:t>
          </a:r>
          <a:endParaRPr sz="6500">
            <a:solidFill>
              <a:schemeClr val="tx1"/>
            </a:solidFill>
          </a:endParaRPr>
        </a:p>
      </dsp:txBody>
      <dsp:txXfrm>
        <a:off x="1587103" y="0"/>
        <a:ext cx="1058069" cy="695960"/>
      </dsp:txXfrm>
    </dsp:sp>
    <dsp:sp modelId="{6805A852-822A-4D8F-80CF-373D974A3DB3}">
      <dsp:nvSpPr>
        <dsp:cNvPr id="4" name="梯形 3"/>
        <dsp:cNvSpPr/>
      </dsp:nvSpPr>
      <dsp:spPr bwMode="white">
        <a:xfrm>
          <a:off x="1058069" y="695960"/>
          <a:ext cx="2116138" cy="695960"/>
        </a:xfrm>
        <a:prstGeom prst="trapezoid">
          <a:avLst>
            <a:gd name="adj" fmla="val 76015"/>
          </a:avLst>
        </a:prstGeom>
      </dsp:spPr>
      <dsp:style>
        <a:lnRef idx="3">
          <a:schemeClr val="lt1"/>
        </a:lnRef>
        <a:fillRef idx="1">
          <a:schemeClr val="accent2">
            <a:shade val="80000"/>
            <a:hueOff val="40000"/>
            <a:satOff val="1307"/>
            <a:lumOff val="6536"/>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a:solidFill>
                <a:schemeClr val="bg1"/>
              </a:solidFill>
              <a:latin typeface="思源黑体 Medium" panose="020B0600000000000000" charset="-122"/>
              <a:ea typeface="+mn-ea"/>
              <a:cs typeface="+mn-cs"/>
              <a:sym typeface="Arial" panose="020B0604020202020204" pitchFamily="34" charset="0"/>
            </a:rPr>
            <a:t>准实验设计</a:t>
          </a:r>
          <a:endParaRPr sz="6500">
            <a:solidFill>
              <a:schemeClr val="tx1"/>
            </a:solidFill>
          </a:endParaRPr>
        </a:p>
      </dsp:txBody>
      <dsp:txXfrm>
        <a:off x="1058069" y="695960"/>
        <a:ext cx="2116138" cy="695960"/>
      </dsp:txXfrm>
    </dsp:sp>
    <dsp:sp modelId="{F07DB1AA-DA07-4F49-966B-FC7576517271}">
      <dsp:nvSpPr>
        <dsp:cNvPr id="5" name="梯形 4"/>
        <dsp:cNvSpPr/>
      </dsp:nvSpPr>
      <dsp:spPr bwMode="white">
        <a:xfrm>
          <a:off x="529034" y="1391920"/>
          <a:ext cx="3174206" cy="695960"/>
        </a:xfrm>
        <a:prstGeom prst="trapezoid">
          <a:avLst>
            <a:gd name="adj" fmla="val 76015"/>
          </a:avLst>
        </a:prstGeom>
      </dsp:spPr>
      <dsp:style>
        <a:lnRef idx="3">
          <a:schemeClr val="lt1"/>
        </a:lnRef>
        <a:fillRef idx="1">
          <a:schemeClr val="accent2">
            <a:shade val="80000"/>
            <a:hueOff val="80000"/>
            <a:satOff val="2614"/>
            <a:lumOff val="13072"/>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情境学习理论</a:t>
          </a:r>
          <a:endParaRPr sz="6500">
            <a:solidFill>
              <a:schemeClr val="tx1"/>
            </a:solidFill>
          </a:endParaRPr>
        </a:p>
      </dsp:txBody>
      <dsp:txXfrm>
        <a:off x="529034" y="1391920"/>
        <a:ext cx="3174206" cy="695960"/>
      </dsp:txXfrm>
    </dsp:sp>
    <dsp:sp modelId="{F0086C54-1E93-420E-B67E-7518A0744D6F}">
      <dsp:nvSpPr>
        <dsp:cNvPr id="6" name="梯形 5"/>
        <dsp:cNvSpPr/>
      </dsp:nvSpPr>
      <dsp:spPr bwMode="white">
        <a:xfrm>
          <a:off x="0" y="2087880"/>
          <a:ext cx="4232275" cy="695960"/>
        </a:xfrm>
        <a:prstGeom prst="trapezoid">
          <a:avLst>
            <a:gd name="adj" fmla="val 76015"/>
          </a:avLst>
        </a:prstGeom>
      </dsp:spPr>
      <dsp:style>
        <a:lnRef idx="3">
          <a:schemeClr val="lt1"/>
        </a:lnRef>
        <a:fillRef idx="1">
          <a:schemeClr val="accent2">
            <a:shade val="80000"/>
            <a:hueOff val="120000"/>
            <a:satOff val="3922"/>
            <a:lumOff val="19608"/>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人文关怀理论</a:t>
          </a:r>
          <a:endParaRPr sz="6500">
            <a:solidFill>
              <a:schemeClr val="tx1"/>
            </a:solidFill>
          </a:endParaRPr>
        </a:p>
      </dsp:txBody>
      <dsp:txXfrm>
        <a:off x="0" y="2087880"/>
        <a:ext cx="4232275" cy="69596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Medium" panose="020B0600000000000000" charset="-122"/>
              <a:ea typeface="思源黑体 Medium" panose="020B06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Medium" panose="020B0600000000000000" charset="-122"/>
              </a:rPr>
            </a:fld>
            <a:endParaRPr lang="zh-CN" altLang="en-US">
              <a:latin typeface="思源黑体 Medium" panose="020B06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Medium" panose="020B0600000000000000" charset="-122"/>
              <a:ea typeface="思源黑体 Medium" panose="020B06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Medium" panose="020B0600000000000000" charset="-122"/>
              </a:rPr>
            </a:fld>
            <a:endParaRPr lang="zh-CN" altLang="en-US">
              <a:latin typeface="思源黑体 Medium" panose="020B06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Medium" panose="020B0600000000000000" charset="-122"/>
                <a:ea typeface="思源黑体 Medium" panose="020B06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Medium" panose="020B0600000000000000" charset="-122"/>
                <a:ea typeface="思源黑体 Medium" panose="020B06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Medium" panose="020B0600000000000000" charset="-122"/>
                <a:ea typeface="思源黑体 Medium" panose="020B06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Medium" panose="020B0600000000000000" charset="-122"/>
                <a:ea typeface="思源黑体 Medium" panose="020B06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1pPr>
    <a:lvl2pPr marL="4572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2pPr>
    <a:lvl3pPr marL="9144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3pPr>
    <a:lvl4pPr marL="13716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4pPr>
    <a:lvl5pPr marL="18288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7.xml"/><Relationship Id="rId3" Type="http://schemas.openxmlformats.org/officeDocument/2006/relationships/tags" Target="../tags/tag68.xml"/><Relationship Id="rId4" Type="http://schemas.openxmlformats.org/officeDocument/2006/relationships/tags" Target="../tags/tag69.xml"/><Relationship Id="rId5" Type="http://schemas.openxmlformats.org/officeDocument/2006/relationships/tags" Target="../tags/tag70.xml"/><Relationship Id="rId6" Type="http://schemas.openxmlformats.org/officeDocument/2006/relationships/tags" Target="../tags/tag7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2.xml"/><Relationship Id="rId3" Type="http://schemas.openxmlformats.org/officeDocument/2006/relationships/tags" Target="../tags/tag73.xml"/><Relationship Id="rId4" Type="http://schemas.openxmlformats.org/officeDocument/2006/relationships/tags" Target="../tags/tag74.xml"/><Relationship Id="rId5" Type="http://schemas.openxmlformats.org/officeDocument/2006/relationships/tags" Target="../tags/tag75.xml"/><Relationship Id="rId6" Type="http://schemas.openxmlformats.org/officeDocument/2006/relationships/tags" Target="../tags/tag7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3.xml"/><Relationship Id="rId3" Type="http://schemas.openxmlformats.org/officeDocument/2006/relationships/tags" Target="../tags/tag84.xml"/><Relationship Id="rId4" Type="http://schemas.openxmlformats.org/officeDocument/2006/relationships/tags" Target="../tags/tag85.xml"/><Relationship Id="rId5" Type="http://schemas.openxmlformats.org/officeDocument/2006/relationships/tags" Target="../tags/tag86.xml"/><Relationship Id="rId6" Type="http://schemas.openxmlformats.org/officeDocument/2006/relationships/tags" Target="../tags/tag87.xml"/><Relationship Id="rId7" Type="http://schemas.openxmlformats.org/officeDocument/2006/relationships/tags" Target="../tags/tag88.xml"/><Relationship Id="rId8" Type="http://schemas.openxmlformats.org/officeDocument/2006/relationships/tags" Target="../tags/tag89.xml"/><Relationship Id="rId9" Type="http://schemas.openxmlformats.org/officeDocument/2006/relationships/tags" Target="../tags/tag9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1.xml"/><Relationship Id="rId3" Type="http://schemas.openxmlformats.org/officeDocument/2006/relationships/tags" Target="../tags/tag92.xml"/><Relationship Id="rId4" Type="http://schemas.openxmlformats.org/officeDocument/2006/relationships/tags" Target="../tags/tag93.xml"/><Relationship Id="rId5" Type="http://schemas.openxmlformats.org/officeDocument/2006/relationships/tags" Target="../tags/tag9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5.xml"/><Relationship Id="rId3" Type="http://schemas.openxmlformats.org/officeDocument/2006/relationships/tags" Target="../tags/tag96.xml"/><Relationship Id="rId4" Type="http://schemas.openxmlformats.org/officeDocument/2006/relationships/tags" Target="../tags/tag9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8.xml"/><Relationship Id="rId3" Type="http://schemas.openxmlformats.org/officeDocument/2006/relationships/tags" Target="../tags/tag99.xml"/><Relationship Id="rId4" Type="http://schemas.openxmlformats.org/officeDocument/2006/relationships/tags" Target="../tags/tag100.xml"/><Relationship Id="rId5" Type="http://schemas.openxmlformats.org/officeDocument/2006/relationships/tags" Target="../tags/tag101.xml"/><Relationship Id="rId6" Type="http://schemas.openxmlformats.org/officeDocument/2006/relationships/tags" Target="../tags/tag102.xml"/><Relationship Id="rId7" Type="http://schemas.openxmlformats.org/officeDocument/2006/relationships/tags" Target="../tags/tag10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9.xml"/><Relationship Id="rId3" Type="http://schemas.openxmlformats.org/officeDocument/2006/relationships/tags" Target="../tags/tag110.xml"/><Relationship Id="rId4" Type="http://schemas.openxmlformats.org/officeDocument/2006/relationships/tags" Target="../tags/tag111.xml"/><Relationship Id="rId5" Type="http://schemas.openxmlformats.org/officeDocument/2006/relationships/tags" Target="../tags/tag11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3.xml"/><Relationship Id="rId3" Type="http://schemas.openxmlformats.org/officeDocument/2006/relationships/tags" Target="../tags/tag114.xml"/><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ags" Target="../tags/tag118.xml"/><Relationship Id="rId13" Type="http://schemas.openxmlformats.org/officeDocument/2006/relationships/tags" Target="../tags/tag119.xml"/><Relationship Id="rId14" Type="http://schemas.openxmlformats.org/officeDocument/2006/relationships/tags" Target="../tags/tag120.xml"/><Relationship Id="rId15" Type="http://schemas.openxmlformats.org/officeDocument/2006/relationships/tags" Target="../tags/tag121.xml"/><Relationship Id="rId16" Type="http://schemas.openxmlformats.org/officeDocument/2006/relationships/tags" Target="../tags/tag122.xml"/><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黑体 Medium" panose="020B06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黑体 Medium" panose="020B06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黑体 Medium" panose="020B0600000000000000"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黑体 Medium" panose="020B06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黑体 Medium" panose="020B06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黑体 Medium" panose="020B06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黑体 Medium" panose="020B0600000000000000"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黑体 Medium" panose="020B06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tags" Target="../tags/tag161.xml"/><Relationship Id="rId4" Type="http://schemas.openxmlformats.org/officeDocument/2006/relationships/tags" Target="../tags/tag162.xml"/><Relationship Id="rId5" Type="http://schemas.openxmlformats.org/officeDocument/2006/relationships/tags" Target="../tags/tag163.xml"/><Relationship Id="rId6" Type="http://schemas.openxmlformats.org/officeDocument/2006/relationships/tags" Target="../tags/tag164.xml"/><Relationship Id="rId7" Type="http://schemas.openxmlformats.org/officeDocument/2006/relationships/tags" Target="../tags/tag165.xml"/><Relationship Id="rId8" Type="http://schemas.openxmlformats.org/officeDocument/2006/relationships/tags" Target="../tags/tag166.xml"/><Relationship Id="rId9" Type="http://schemas.openxmlformats.org/officeDocument/2006/relationships/tags" Target="../tags/tag167.xml"/><Relationship Id="rId10" Type="http://schemas.openxmlformats.org/officeDocument/2006/relationships/tags" Target="../tags/tag168.xml"/><Relationship Id="rId11" Type="http://schemas.openxmlformats.org/officeDocument/2006/relationships/tags" Target="../tags/tag169.xml"/><Relationship Id="rId12" Type="http://schemas.openxmlformats.org/officeDocument/2006/relationships/tags" Target="../tags/tag170.xml"/><Relationship Id="rId13" Type="http://schemas.openxmlformats.org/officeDocument/2006/relationships/tags" Target="../tags/tag171.xml"/><Relationship Id="rId14" Type="http://schemas.openxmlformats.org/officeDocument/2006/relationships/tags" Target="../tags/tag172.xml"/><Relationship Id="rId15" Type="http://schemas.openxmlformats.org/officeDocument/2006/relationships/tags" Target="../tags/tag173.xml"/><Relationship Id="rId16" Type="http://schemas.openxmlformats.org/officeDocument/2006/relationships/tags" Target="../tags/tag174.xml"/><Relationship Id="rId17" Type="http://schemas.openxmlformats.org/officeDocument/2006/relationships/tags" Target="../tags/tag175.xml"/><Relationship Id="rId18" Type="http://schemas.openxmlformats.org/officeDocument/2006/relationships/tags" Target="../tags/tag176.xml"/><Relationship Id="rId19" Type="http://schemas.openxmlformats.org/officeDocument/2006/relationships/tags" Target="../tags/tag177.xml"/><Relationship Id="rId20" Type="http://schemas.openxmlformats.org/officeDocument/2006/relationships/tags" Target="../tags/tag178.xml"/><Relationship Id="rId21" Type="http://schemas.openxmlformats.org/officeDocument/2006/relationships/tags" Target="../tags/tag179.xml"/><Relationship Id="rId22" Type="http://schemas.openxmlformats.org/officeDocument/2006/relationships/tags" Target="../tags/tag180.xml"/><Relationship Id="rId23" Type="http://schemas.openxmlformats.org/officeDocument/2006/relationships/tags" Target="../tags/tag181.xml"/><Relationship Id="rId24" Type="http://schemas.openxmlformats.org/officeDocument/2006/relationships/tags" Target="../tags/tag182.xml"/><Relationship Id="rId25" Type="http://schemas.openxmlformats.org/officeDocument/2006/relationships/tags" Target="../tags/tag183.xml"/><Relationship Id="rId26" Type="http://schemas.openxmlformats.org/officeDocument/2006/relationships/tags" Target="../tags/tag184.xml"/><Relationship Id="rId27" Type="http://schemas.openxmlformats.org/officeDocument/2006/relationships/tags" Target="../tags/tag185.xml"/><Relationship Id="rId28" Type="http://schemas.openxmlformats.org/officeDocument/2006/relationships/tags" Target="../tags/tag186.xml"/><Relationship Id="rId29" Type="http://schemas.openxmlformats.org/officeDocument/2006/relationships/image" Target="../media/image6.png"/><Relationship Id="rId30" Type="http://schemas.openxmlformats.org/officeDocument/2006/relationships/image" Target="../media/image1.svg"/><Relationship Id="rId31" Type="http://schemas.openxmlformats.org/officeDocument/2006/relationships/tags" Target="../tags/tag187.xml"/><Relationship Id="rId32" Type="http://schemas.openxmlformats.org/officeDocument/2006/relationships/image" Target="../media/image7.png"/><Relationship Id="rId33" Type="http://schemas.openxmlformats.org/officeDocument/2006/relationships/image" Target="../media/image2.svg"/><Relationship Id="rId34" Type="http://schemas.openxmlformats.org/officeDocument/2006/relationships/tags" Target="../tags/tag188.xml"/><Relationship Id="rId35" Type="http://schemas.openxmlformats.org/officeDocument/2006/relationships/image" Target="../media/image8.png"/><Relationship Id="rId36" Type="http://schemas.openxmlformats.org/officeDocument/2006/relationships/image" Target="../media/image3.svg"/><Relationship Id="rId37" Type="http://schemas.openxmlformats.org/officeDocument/2006/relationships/tags" Target="../tags/tag189.xml"/><Relationship Id="rId38" Type="http://schemas.openxmlformats.org/officeDocument/2006/relationships/image" Target="../media/image9.png"/><Relationship Id="rId39" Type="http://schemas.openxmlformats.org/officeDocument/2006/relationships/image" Target="../media/image4.svg"/><Relationship Id="rId40" Type="http://schemas.openxmlformats.org/officeDocument/2006/relationships/tags" Target="../tags/tag190.xml"/><Relationship Id="rId41" Type="http://schemas.openxmlformats.org/officeDocument/2006/relationships/image" Target="../media/image10.png"/><Relationship Id="rId42" Type="http://schemas.openxmlformats.org/officeDocument/2006/relationships/image" Target="../media/image5.svg"/><Relationship Id="rId43" Type="http://schemas.openxmlformats.org/officeDocument/2006/relationships/tags" Target="../tags/tag191.xml"/><Relationship Id="rId44" Type="http://schemas.openxmlformats.org/officeDocument/2006/relationships/image" Target="../media/image11.png"/><Relationship Id="rId45" Type="http://schemas.openxmlformats.org/officeDocument/2006/relationships/image" Target="../media/image6.svg"/><Relationship Id="rId46" Type="http://schemas.openxmlformats.org/officeDocument/2006/relationships/tags" Target="../tags/tag192.xml"/><Relationship Id="rId47"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tags" Target="../tags/tag194.xml"/><Relationship Id="rId3" Type="http://schemas.openxmlformats.org/officeDocument/2006/relationships/tags" Target="../tags/tag195.xml"/><Relationship Id="rId4" Type="http://schemas.openxmlformats.org/officeDocument/2006/relationships/tags" Target="../tags/tag196.xml"/><Relationship Id="rId5" Type="http://schemas.openxmlformats.org/officeDocument/2006/relationships/tags" Target="../tags/tag197.xml"/><Relationship Id="rId6" Type="http://schemas.openxmlformats.org/officeDocument/2006/relationships/tags" Target="../tags/tag198.xml"/><Relationship Id="rId7" Type="http://schemas.openxmlformats.org/officeDocument/2006/relationships/tags" Target="../tags/tag199.xml"/><Relationship Id="rId8" Type="http://schemas.openxmlformats.org/officeDocument/2006/relationships/tags" Target="../tags/tag200.xml"/><Relationship Id="rId9" Type="http://schemas.openxmlformats.org/officeDocument/2006/relationships/tags" Target="../tags/tag201.xml"/><Relationship Id="rId10" Type="http://schemas.openxmlformats.org/officeDocument/2006/relationships/tags" Target="../tags/tag202.xml"/><Relationship Id="rId11" Type="http://schemas.openxmlformats.org/officeDocument/2006/relationships/tags" Target="../tags/tag203.xml"/><Relationship Id="rId12" Type="http://schemas.openxmlformats.org/officeDocument/2006/relationships/tags" Target="../tags/tag204.xml"/><Relationship Id="rId13" Type="http://schemas.openxmlformats.org/officeDocument/2006/relationships/tags" Target="../tags/tag205.xml"/><Relationship Id="rId14" Type="http://schemas.openxmlformats.org/officeDocument/2006/relationships/tags" Target="../tags/tag206.xml"/><Relationship Id="rId15" Type="http://schemas.openxmlformats.org/officeDocument/2006/relationships/tags" Target="../tags/tag207.xml"/><Relationship Id="rId16" Type="http://schemas.openxmlformats.org/officeDocument/2006/relationships/tags" Target="../tags/tag208.xml"/><Relationship Id="rId17" Type="http://schemas.openxmlformats.org/officeDocument/2006/relationships/image" Target="../media/image12.png"/><Relationship Id="rId18" Type="http://schemas.openxmlformats.org/officeDocument/2006/relationships/image" Target="../media/image7.svg"/><Relationship Id="rId19" Type="http://schemas.openxmlformats.org/officeDocument/2006/relationships/image" Target="../media/image13.png"/><Relationship Id="rId20" Type="http://schemas.openxmlformats.org/officeDocument/2006/relationships/image" Target="../media/image8.svg"/><Relationship Id="rId21" Type="http://schemas.openxmlformats.org/officeDocument/2006/relationships/image" Target="../media/image14.png"/><Relationship Id="rId22" Type="http://schemas.openxmlformats.org/officeDocument/2006/relationships/image" Target="../media/image9.svg"/><Relationship Id="rId23" Type="http://schemas.openxmlformats.org/officeDocument/2006/relationships/tags" Target="../tags/tag209.xml"/><Relationship Id="rId2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tags" Target="../tags/tag210.xml"/><Relationship Id="rId2" Type="http://schemas.openxmlformats.org/officeDocument/2006/relationships/tags" Target="../tags/tag211.xml"/><Relationship Id="rId3" Type="http://schemas.openxmlformats.org/officeDocument/2006/relationships/tags" Target="../tags/tag212.xml"/><Relationship Id="rId4" Type="http://schemas.openxmlformats.org/officeDocument/2006/relationships/tags" Target="../tags/tag213.xml"/><Relationship Id="rId5" Type="http://schemas.openxmlformats.org/officeDocument/2006/relationships/tags" Target="../tags/tag214.xml"/><Relationship Id="rId6" Type="http://schemas.openxmlformats.org/officeDocument/2006/relationships/tags" Target="../tags/tag215.xml"/><Relationship Id="rId7" Type="http://schemas.openxmlformats.org/officeDocument/2006/relationships/tags" Target="../tags/tag216.xml"/><Relationship Id="rId8" Type="http://schemas.openxmlformats.org/officeDocument/2006/relationships/tags" Target="../tags/tag217.xml"/><Relationship Id="rId9" Type="http://schemas.openxmlformats.org/officeDocument/2006/relationships/tags" Target="../tags/tag218.xml"/><Relationship Id="rId10" Type="http://schemas.openxmlformats.org/officeDocument/2006/relationships/tags" Target="../tags/tag219.xml"/><Relationship Id="rId11" Type="http://schemas.openxmlformats.org/officeDocument/2006/relationships/tags" Target="../tags/tag220.xml"/><Relationship Id="rId12" Type="http://schemas.openxmlformats.org/officeDocument/2006/relationships/tags" Target="../tags/tag221.xml"/><Relationship Id="rId13" Type="http://schemas.openxmlformats.org/officeDocument/2006/relationships/tags" Target="../tags/tag222.xml"/><Relationship Id="rId14" Type="http://schemas.openxmlformats.org/officeDocument/2006/relationships/tags" Target="../tags/tag223.xml"/><Relationship Id="rId15" Type="http://schemas.openxmlformats.org/officeDocument/2006/relationships/tags" Target="../tags/tag224.xml"/><Relationship Id="rId16" Type="http://schemas.openxmlformats.org/officeDocument/2006/relationships/tags" Target="../tags/tag225.xml"/><Relationship Id="rId17" Type="http://schemas.openxmlformats.org/officeDocument/2006/relationships/tags" Target="../tags/tag226.xml"/><Relationship Id="rId18" Type="http://schemas.openxmlformats.org/officeDocument/2006/relationships/tags" Target="../tags/tag227.xml"/><Relationship Id="rId19" Type="http://schemas.openxmlformats.org/officeDocument/2006/relationships/tags" Target="../tags/tag228.xml"/><Relationship Id="rId20" Type="http://schemas.openxmlformats.org/officeDocument/2006/relationships/tags" Target="../tags/tag229.xml"/><Relationship Id="rId21" Type="http://schemas.openxmlformats.org/officeDocument/2006/relationships/tags" Target="../tags/tag230.xml"/><Relationship Id="rId22" Type="http://schemas.openxmlformats.org/officeDocument/2006/relationships/tags" Target="../tags/tag231.xml"/><Relationship Id="rId23" Type="http://schemas.openxmlformats.org/officeDocument/2006/relationships/tags" Target="../tags/tag232.xml"/><Relationship Id="rId2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tags" Target="../tags/tag234.xml"/><Relationship Id="rId3" Type="http://schemas.openxmlformats.org/officeDocument/2006/relationships/tags" Target="../tags/tag235.xml"/><Relationship Id="rId4" Type="http://schemas.openxmlformats.org/officeDocument/2006/relationships/tags" Target="../tags/tag236.xml"/><Relationship Id="rId5" Type="http://schemas.openxmlformats.org/officeDocument/2006/relationships/tags" Target="../tags/tag237.xml"/><Relationship Id="rId6" Type="http://schemas.openxmlformats.org/officeDocument/2006/relationships/tags" Target="../tags/tag238.xml"/><Relationship Id="rId7" Type="http://schemas.openxmlformats.org/officeDocument/2006/relationships/tags" Target="../tags/tag239.xml"/><Relationship Id="rId8" Type="http://schemas.openxmlformats.org/officeDocument/2006/relationships/tags" Target="../tags/tag240.xml"/><Relationship Id="rId9" Type="http://schemas.openxmlformats.org/officeDocument/2006/relationships/tags" Target="../tags/tag241.xml"/><Relationship Id="rId10" Type="http://schemas.openxmlformats.org/officeDocument/2006/relationships/tags" Target="../tags/tag242.xml"/><Relationship Id="rId11" Type="http://schemas.openxmlformats.org/officeDocument/2006/relationships/tags" Target="../tags/tag243.xml"/><Relationship Id="rId12" Type="http://schemas.openxmlformats.org/officeDocument/2006/relationships/tags" Target="../tags/tag244.xml"/><Relationship Id="rId13" Type="http://schemas.openxmlformats.org/officeDocument/2006/relationships/tags" Target="../tags/tag245.xml"/><Relationship Id="rId14" Type="http://schemas.openxmlformats.org/officeDocument/2006/relationships/tags" Target="../tags/tag246.xml"/><Relationship Id="rId15" Type="http://schemas.openxmlformats.org/officeDocument/2006/relationships/tags" Target="../tags/tag247.xml"/><Relationship Id="rId16" Type="http://schemas.openxmlformats.org/officeDocument/2006/relationships/tags" Target="../tags/tag248.xml"/><Relationship Id="rId17" Type="http://schemas.openxmlformats.org/officeDocument/2006/relationships/tags" Target="../tags/tag249.xml"/><Relationship Id="rId18" Type="http://schemas.openxmlformats.org/officeDocument/2006/relationships/tags" Target="../tags/tag250.xml"/><Relationship Id="rId19" Type="http://schemas.openxmlformats.org/officeDocument/2006/relationships/tags" Target="../tags/tag251.xml"/><Relationship Id="rId20" Type="http://schemas.openxmlformats.org/officeDocument/2006/relationships/tags" Target="../tags/tag252.xml"/><Relationship Id="rId21" Type="http://schemas.openxmlformats.org/officeDocument/2006/relationships/tags" Target="../tags/tag253.xml"/><Relationship Id="rId22" Type="http://schemas.openxmlformats.org/officeDocument/2006/relationships/tags" Target="../tags/tag254.xml"/><Relationship Id="rId23" Type="http://schemas.openxmlformats.org/officeDocument/2006/relationships/tags" Target="../tags/tag255.xml"/><Relationship Id="rId24" Type="http://schemas.openxmlformats.org/officeDocument/2006/relationships/tags" Target="../tags/tag256.xml"/><Relationship Id="rId25" Type="http://schemas.openxmlformats.org/officeDocument/2006/relationships/tags" Target="../tags/tag257.xml"/><Relationship Id="rId26"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tags" Target="../tags/tag258.xml"/><Relationship Id="rId2" Type="http://schemas.openxmlformats.org/officeDocument/2006/relationships/tags" Target="../tags/tag259.xml"/><Relationship Id="rId3" Type="http://schemas.openxmlformats.org/officeDocument/2006/relationships/tags" Target="../tags/tag260.xml"/><Relationship Id="rId4" Type="http://schemas.openxmlformats.org/officeDocument/2006/relationships/tags" Target="../tags/tag261.xml"/><Relationship Id="rId5" Type="http://schemas.openxmlformats.org/officeDocument/2006/relationships/tags" Target="../tags/tag262.xml"/><Relationship Id="rId6" Type="http://schemas.openxmlformats.org/officeDocument/2006/relationships/tags" Target="../tags/tag263.xml"/><Relationship Id="rId7" Type="http://schemas.openxmlformats.org/officeDocument/2006/relationships/tags" Target="../tags/tag264.xml"/><Relationship Id="rId8" Type="http://schemas.openxmlformats.org/officeDocument/2006/relationships/tags" Target="../tags/tag265.xml"/><Relationship Id="rId9" Type="http://schemas.openxmlformats.org/officeDocument/2006/relationships/tags" Target="../tags/tag266.xml"/><Relationship Id="rId10" Type="http://schemas.openxmlformats.org/officeDocument/2006/relationships/tags" Target="../tags/tag267.xml"/><Relationship Id="rId11" Type="http://schemas.openxmlformats.org/officeDocument/2006/relationships/tags" Target="../tags/tag268.xml"/><Relationship Id="rId12" Type="http://schemas.openxmlformats.org/officeDocument/2006/relationships/tags" Target="../tags/tag269.xml"/><Relationship Id="rId13" Type="http://schemas.openxmlformats.org/officeDocument/2006/relationships/tags" Target="../tags/tag270.xml"/><Relationship Id="rId14" Type="http://schemas.openxmlformats.org/officeDocument/2006/relationships/tags" Target="../tags/tag271.xml"/><Relationship Id="rId15" Type="http://schemas.openxmlformats.org/officeDocument/2006/relationships/image" Target="../media/image7.png"/><Relationship Id="rId16" Type="http://schemas.openxmlformats.org/officeDocument/2006/relationships/image" Target="../media/image10.svg"/><Relationship Id="rId17" Type="http://schemas.openxmlformats.org/officeDocument/2006/relationships/tags" Target="../tags/tag272.xml"/><Relationship Id="rId18" Type="http://schemas.openxmlformats.org/officeDocument/2006/relationships/image" Target="../media/image8.png"/><Relationship Id="rId19" Type="http://schemas.openxmlformats.org/officeDocument/2006/relationships/image" Target="../media/image11.svg"/><Relationship Id="rId20" Type="http://schemas.openxmlformats.org/officeDocument/2006/relationships/tags" Target="../tags/tag273.xml"/><Relationship Id="rId21" Type="http://schemas.openxmlformats.org/officeDocument/2006/relationships/image" Target="../media/image9.png"/><Relationship Id="rId22" Type="http://schemas.openxmlformats.org/officeDocument/2006/relationships/image" Target="../media/image12.svg"/><Relationship Id="rId23" Type="http://schemas.openxmlformats.org/officeDocument/2006/relationships/tags" Target="../tags/tag274.xml"/><Relationship Id="rId24" Type="http://schemas.openxmlformats.org/officeDocument/2006/relationships/tags" Target="../tags/tag275.xml"/><Relationship Id="rId25"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tags" Target="../tags/tag276.xml"/><Relationship Id="rId2" Type="http://schemas.openxmlformats.org/officeDocument/2006/relationships/tags" Target="../tags/tag277.xml"/><Relationship Id="rId3" Type="http://schemas.openxmlformats.org/officeDocument/2006/relationships/tags" Target="../tags/tag278.xml"/><Relationship Id="rId4" Type="http://schemas.openxmlformats.org/officeDocument/2006/relationships/tags" Target="../tags/tag279.xml"/><Relationship Id="rId5" Type="http://schemas.openxmlformats.org/officeDocument/2006/relationships/tags" Target="../tags/tag280.xml"/><Relationship Id="rId6" Type="http://schemas.openxmlformats.org/officeDocument/2006/relationships/tags" Target="../tags/tag281.xml"/><Relationship Id="rId7" Type="http://schemas.openxmlformats.org/officeDocument/2006/relationships/tags" Target="../tags/tag282.xml"/><Relationship Id="rId8" Type="http://schemas.openxmlformats.org/officeDocument/2006/relationships/tags" Target="../tags/tag283.xml"/><Relationship Id="rId9" Type="http://schemas.openxmlformats.org/officeDocument/2006/relationships/tags" Target="../tags/tag284.xml"/><Relationship Id="rId10" Type="http://schemas.openxmlformats.org/officeDocument/2006/relationships/tags" Target="../tags/tag285.xml"/><Relationship Id="rId11" Type="http://schemas.openxmlformats.org/officeDocument/2006/relationships/tags" Target="../tags/tag286.xml"/><Relationship Id="rId12" Type="http://schemas.openxmlformats.org/officeDocument/2006/relationships/tags" Target="../tags/tag287.xml"/><Relationship Id="rId13" Type="http://schemas.openxmlformats.org/officeDocument/2006/relationships/tags" Target="../tags/tag288.xml"/><Relationship Id="rId14" Type="http://schemas.openxmlformats.org/officeDocument/2006/relationships/tags" Target="../tags/tag289.xml"/><Relationship Id="rId15" Type="http://schemas.openxmlformats.org/officeDocument/2006/relationships/tags" Target="../tags/tag290.xml"/><Relationship Id="rId16" Type="http://schemas.openxmlformats.org/officeDocument/2006/relationships/tags" Target="../tags/tag291.xml"/><Relationship Id="rId17" Type="http://schemas.openxmlformats.org/officeDocument/2006/relationships/tags" Target="../tags/tag292.xml"/><Relationship Id="rId18" Type="http://schemas.openxmlformats.org/officeDocument/2006/relationships/tags" Target="../tags/tag293.xml"/><Relationship Id="rId19" Type="http://schemas.openxmlformats.org/officeDocument/2006/relationships/tags" Target="../tags/tag294.xml"/><Relationship Id="rId20" Type="http://schemas.openxmlformats.org/officeDocument/2006/relationships/tags" Target="../tags/tag295.xml"/><Relationship Id="rId21" Type="http://schemas.openxmlformats.org/officeDocument/2006/relationships/tags" Target="../tags/tag296.xml"/><Relationship Id="rId22" Type="http://schemas.openxmlformats.org/officeDocument/2006/relationships/tags" Target="../tags/tag297.xml"/><Relationship Id="rId23" Type="http://schemas.openxmlformats.org/officeDocument/2006/relationships/tags" Target="../tags/tag298.xml"/><Relationship Id="rId24" Type="http://schemas.openxmlformats.org/officeDocument/2006/relationships/tags" Target="../tags/tag299.xml"/><Relationship Id="rId25" Type="http://schemas.openxmlformats.org/officeDocument/2006/relationships/tags" Target="../tags/tag300.xml"/><Relationship Id="rId26" Type="http://schemas.openxmlformats.org/officeDocument/2006/relationships/tags" Target="../tags/tag301.xml"/><Relationship Id="rId27" Type="http://schemas.openxmlformats.org/officeDocument/2006/relationships/tags" Target="../tags/tag302.xml"/><Relationship Id="rId28" Type="http://schemas.openxmlformats.org/officeDocument/2006/relationships/tags" Target="../tags/tag303.xml"/><Relationship Id="rId29"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tags" Target="../tags/tag304.xml"/><Relationship Id="rId2" Type="http://schemas.openxmlformats.org/officeDocument/2006/relationships/tags" Target="../tags/tag305.xml"/><Relationship Id="rId3" Type="http://schemas.openxmlformats.org/officeDocument/2006/relationships/tags" Target="../tags/tag306.xml"/><Relationship Id="rId4" Type="http://schemas.openxmlformats.org/officeDocument/2006/relationships/tags" Target="../tags/tag307.xml"/><Relationship Id="rId5" Type="http://schemas.openxmlformats.org/officeDocument/2006/relationships/tags" Target="../tags/tag308.xml"/><Relationship Id="rId6" Type="http://schemas.openxmlformats.org/officeDocument/2006/relationships/tags" Target="../tags/tag309.xml"/><Relationship Id="rId7" Type="http://schemas.openxmlformats.org/officeDocument/2006/relationships/tags" Target="../tags/tag310.xml"/><Relationship Id="rId8" Type="http://schemas.openxmlformats.org/officeDocument/2006/relationships/tags" Target="../tags/tag311.xml"/><Relationship Id="rId9" Type="http://schemas.openxmlformats.org/officeDocument/2006/relationships/tags" Target="../tags/tag312.xml"/><Relationship Id="rId10" Type="http://schemas.openxmlformats.org/officeDocument/2006/relationships/tags" Target="../tags/tag313.xml"/><Relationship Id="rId11" Type="http://schemas.openxmlformats.org/officeDocument/2006/relationships/image" Target="../media/image15.png"/><Relationship Id="rId12" Type="http://schemas.openxmlformats.org/officeDocument/2006/relationships/image" Target="../media/image13.svg"/><Relationship Id="rId13" Type="http://schemas.openxmlformats.org/officeDocument/2006/relationships/tags" Target="../tags/tag314.xml"/><Relationship Id="rId14" Type="http://schemas.openxmlformats.org/officeDocument/2006/relationships/image" Target="../media/image16.png"/><Relationship Id="rId15" Type="http://schemas.openxmlformats.org/officeDocument/2006/relationships/image" Target="../media/image14.svg"/><Relationship Id="rId16" Type="http://schemas.openxmlformats.org/officeDocument/2006/relationships/tags" Target="../tags/tag315.xml"/><Relationship Id="rId17"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tags" Target="../tags/tag316.xml"/><Relationship Id="rId2" Type="http://schemas.openxmlformats.org/officeDocument/2006/relationships/tags" Target="../tags/tag317.xml"/><Relationship Id="rId3" Type="http://schemas.openxmlformats.org/officeDocument/2006/relationships/tags" Target="../tags/tag318.xml"/><Relationship Id="rId4" Type="http://schemas.openxmlformats.org/officeDocument/2006/relationships/tags" Target="../tags/tag319.xml"/><Relationship Id="rId5" Type="http://schemas.openxmlformats.org/officeDocument/2006/relationships/tags" Target="../tags/tag320.xml"/><Relationship Id="rId6" Type="http://schemas.openxmlformats.org/officeDocument/2006/relationships/tags" Target="../tags/tag321.xml"/><Relationship Id="rId7" Type="http://schemas.openxmlformats.org/officeDocument/2006/relationships/tags" Target="../tags/tag322.xml"/><Relationship Id="rId8" Type="http://schemas.openxmlformats.org/officeDocument/2006/relationships/tags" Target="../tags/tag323.xml"/><Relationship Id="rId9" Type="http://schemas.openxmlformats.org/officeDocument/2006/relationships/tags" Target="../tags/tag324.xml"/><Relationship Id="rId10" Type="http://schemas.openxmlformats.org/officeDocument/2006/relationships/tags" Target="../tags/tag325.xml"/><Relationship Id="rId11" Type="http://schemas.openxmlformats.org/officeDocument/2006/relationships/tags" Target="../tags/tag326.xml"/><Relationship Id="rId12" Type="http://schemas.openxmlformats.org/officeDocument/2006/relationships/tags" Target="../tags/tag327.xml"/><Relationship Id="rId13" Type="http://schemas.openxmlformats.org/officeDocument/2006/relationships/tags" Target="../tags/tag328.xml"/><Relationship Id="rId14" Type="http://schemas.openxmlformats.org/officeDocument/2006/relationships/tags" Target="../tags/tag329.xml"/><Relationship Id="rId15" Type="http://schemas.openxmlformats.org/officeDocument/2006/relationships/tags" Target="../tags/tag330.xml"/><Relationship Id="rId16" Type="http://schemas.openxmlformats.org/officeDocument/2006/relationships/tags" Target="../tags/tag331.xml"/><Relationship Id="rId17" Type="http://schemas.openxmlformats.org/officeDocument/2006/relationships/tags" Target="../tags/tag332.xml"/><Relationship Id="rId18" Type="http://schemas.openxmlformats.org/officeDocument/2006/relationships/tags" Target="../tags/tag333.xml"/><Relationship Id="rId19" Type="http://schemas.openxmlformats.org/officeDocument/2006/relationships/tags" Target="../tags/tag334.xml"/><Relationship Id="rId20" Type="http://schemas.openxmlformats.org/officeDocument/2006/relationships/tags" Target="../tags/tag335.xml"/><Relationship Id="rId21" Type="http://schemas.openxmlformats.org/officeDocument/2006/relationships/tags" Target="../tags/tag336.xml"/><Relationship Id="rId22" Type="http://schemas.openxmlformats.org/officeDocument/2006/relationships/image" Target="../media/image17.png"/><Relationship Id="rId23" Type="http://schemas.openxmlformats.org/officeDocument/2006/relationships/image" Target="../media/image15.svg"/><Relationship Id="rId24" Type="http://schemas.openxmlformats.org/officeDocument/2006/relationships/tags" Target="../tags/tag337.xml"/><Relationship Id="rId25" Type="http://schemas.openxmlformats.org/officeDocument/2006/relationships/image" Target="../media/image18.png"/><Relationship Id="rId26" Type="http://schemas.openxmlformats.org/officeDocument/2006/relationships/image" Target="../media/image16.svg"/><Relationship Id="rId27" Type="http://schemas.openxmlformats.org/officeDocument/2006/relationships/tags" Target="../tags/tag338.xml"/><Relationship Id="rId28" Type="http://schemas.openxmlformats.org/officeDocument/2006/relationships/image" Target="../media/image19.png"/><Relationship Id="rId29" Type="http://schemas.openxmlformats.org/officeDocument/2006/relationships/image" Target="../media/image17.svg"/><Relationship Id="rId30" Type="http://schemas.openxmlformats.org/officeDocument/2006/relationships/tags" Target="../tags/tag339.xml"/><Relationship Id="rId31" Type="http://schemas.openxmlformats.org/officeDocument/2006/relationships/image" Target="../media/image16.png"/><Relationship Id="rId32" Type="http://schemas.openxmlformats.org/officeDocument/2006/relationships/image" Target="../media/image18.svg"/><Relationship Id="rId33" Type="http://schemas.openxmlformats.org/officeDocument/2006/relationships/tags" Target="../tags/tag340.xml"/><Relationship Id="rId34" Type="http://schemas.openxmlformats.org/officeDocument/2006/relationships/tags" Target="../tags/tag341.xml"/><Relationship Id="rId35" Type="http://schemas.openxmlformats.org/officeDocument/2006/relationships/tags" Target="../tags/tag342.xml"/><Relationship Id="rId36" Type="http://schemas.openxmlformats.org/officeDocument/2006/relationships/tags" Target="../tags/tag343.xml"/><Relationship Id="rId37" Type="http://schemas.openxmlformats.org/officeDocument/2006/relationships/tags" Target="../tags/tag344.xml"/><Relationship Id="rId38"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tags" Target="../tags/tag345.xml"/><Relationship Id="rId2" Type="http://schemas.openxmlformats.org/officeDocument/2006/relationships/tags" Target="../tags/tag346.xml"/><Relationship Id="rId3" Type="http://schemas.openxmlformats.org/officeDocument/2006/relationships/tags" Target="../tags/tag347.xml"/><Relationship Id="rId4" Type="http://schemas.openxmlformats.org/officeDocument/2006/relationships/tags" Target="../tags/tag348.xml"/><Relationship Id="rId5" Type="http://schemas.openxmlformats.org/officeDocument/2006/relationships/tags" Target="../tags/tag349.xml"/><Relationship Id="rId6" Type="http://schemas.openxmlformats.org/officeDocument/2006/relationships/tags" Target="../tags/tag350.xml"/><Relationship Id="rId7" Type="http://schemas.openxmlformats.org/officeDocument/2006/relationships/tags" Target="../tags/tag351.xml"/><Relationship Id="rId8" Type="http://schemas.openxmlformats.org/officeDocument/2006/relationships/tags" Target="../tags/tag352.xml"/><Relationship Id="rId9" Type="http://schemas.openxmlformats.org/officeDocument/2006/relationships/tags" Target="../tags/tag353.xml"/><Relationship Id="rId10" Type="http://schemas.openxmlformats.org/officeDocument/2006/relationships/tags" Target="../tags/tag354.xml"/><Relationship Id="rId11" Type="http://schemas.openxmlformats.org/officeDocument/2006/relationships/tags" Target="../tags/tag355.xml"/><Relationship Id="rId12" Type="http://schemas.openxmlformats.org/officeDocument/2006/relationships/tags" Target="../tags/tag356.xml"/><Relationship Id="rId13" Type="http://schemas.openxmlformats.org/officeDocument/2006/relationships/image" Target="../media/image20.png"/><Relationship Id="rId14" Type="http://schemas.openxmlformats.org/officeDocument/2006/relationships/image" Target="../media/image19.svg"/><Relationship Id="rId15" Type="http://schemas.openxmlformats.org/officeDocument/2006/relationships/tags" Target="../tags/tag357.xml"/><Relationship Id="rId16" Type="http://schemas.openxmlformats.org/officeDocument/2006/relationships/image" Target="../media/image21.png"/><Relationship Id="rId17" Type="http://schemas.openxmlformats.org/officeDocument/2006/relationships/image" Target="../media/image20.svg"/><Relationship Id="rId18" Type="http://schemas.openxmlformats.org/officeDocument/2006/relationships/tags" Target="../tags/tag358.xml"/><Relationship Id="rId19" Type="http://schemas.openxmlformats.org/officeDocument/2006/relationships/image" Target="../media/image22.png"/><Relationship Id="rId20" Type="http://schemas.openxmlformats.org/officeDocument/2006/relationships/image" Target="../media/image21.svg"/><Relationship Id="rId21" Type="http://schemas.openxmlformats.org/officeDocument/2006/relationships/tags" Target="../tags/tag359.xml"/><Relationship Id="rId22" Type="http://schemas.openxmlformats.org/officeDocument/2006/relationships/tags" Target="../tags/tag360.xml"/><Relationship Id="rId23"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tags" Target="../tags/tag361.xml"/><Relationship Id="rId2" Type="http://schemas.openxmlformats.org/officeDocument/2006/relationships/tags" Target="../tags/tag362.xml"/><Relationship Id="rId3" Type="http://schemas.openxmlformats.org/officeDocument/2006/relationships/tags" Target="../tags/tag363.xml"/><Relationship Id="rId4" Type="http://schemas.openxmlformats.org/officeDocument/2006/relationships/tags" Target="../tags/tag364.xml"/><Relationship Id="rId5" Type="http://schemas.openxmlformats.org/officeDocument/2006/relationships/tags" Target="../tags/tag365.xml"/><Relationship Id="rId6" Type="http://schemas.openxmlformats.org/officeDocument/2006/relationships/tags" Target="../tags/tag366.xml"/><Relationship Id="rId7" Type="http://schemas.openxmlformats.org/officeDocument/2006/relationships/tags" Target="../tags/tag367.xml"/><Relationship Id="rId8" Type="http://schemas.openxmlformats.org/officeDocument/2006/relationships/tags" Target="../tags/tag368.xml"/><Relationship Id="rId9" Type="http://schemas.openxmlformats.org/officeDocument/2006/relationships/tags" Target="../tags/tag369.xml"/><Relationship Id="rId10" Type="http://schemas.openxmlformats.org/officeDocument/2006/relationships/tags" Target="../tags/tag370.xml"/><Relationship Id="rId11" Type="http://schemas.openxmlformats.org/officeDocument/2006/relationships/tags" Target="../tags/tag371.xml"/><Relationship Id="rId12" Type="http://schemas.openxmlformats.org/officeDocument/2006/relationships/tags" Target="../tags/tag372.xml"/><Relationship Id="rId13" Type="http://schemas.openxmlformats.org/officeDocument/2006/relationships/tags" Target="../tags/tag373.xml"/><Relationship Id="rId14" Type="http://schemas.openxmlformats.org/officeDocument/2006/relationships/tags" Target="../tags/tag374.xml"/><Relationship Id="rId15" Type="http://schemas.openxmlformats.org/officeDocument/2006/relationships/tags" Target="../tags/tag375.xml"/><Relationship Id="rId16" Type="http://schemas.openxmlformats.org/officeDocument/2006/relationships/tags" Target="../tags/tag376.xml"/><Relationship Id="rId17" Type="http://schemas.openxmlformats.org/officeDocument/2006/relationships/tags" Target="../tags/tag377.xml"/><Relationship Id="rId18" Type="http://schemas.openxmlformats.org/officeDocument/2006/relationships/tags" Target="../tags/tag378.xml"/><Relationship Id="rId19" Type="http://schemas.openxmlformats.org/officeDocument/2006/relationships/tags" Target="../tags/tag379.xml"/><Relationship Id="rId20" Type="http://schemas.openxmlformats.org/officeDocument/2006/relationships/tags" Target="../tags/tag380.xml"/><Relationship Id="rId21" Type="http://schemas.openxmlformats.org/officeDocument/2006/relationships/tags" Target="../tags/tag381.xml"/><Relationship Id="rId22" Type="http://schemas.openxmlformats.org/officeDocument/2006/relationships/tags" Target="../tags/tag382.xml"/><Relationship Id="rId23" Type="http://schemas.openxmlformats.org/officeDocument/2006/relationships/tags" Target="../tags/tag383.xml"/><Relationship Id="rId24" Type="http://schemas.openxmlformats.org/officeDocument/2006/relationships/tags" Target="../tags/tag384.xml"/><Relationship Id="rId25"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tags" Target="../tags/tag385.xml"/><Relationship Id="rId3"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tags" Target="../tags/tag386.xml"/><Relationship Id="rId2"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tags" Target="../tags/tag387.xml"/><Relationship Id="rId2" Type="http://schemas.openxmlformats.org/officeDocument/2006/relationships/tags" Target="../tags/tag388.xml"/><Relationship Id="rId3" Type="http://schemas.openxmlformats.org/officeDocument/2006/relationships/tags" Target="../tags/tag389.xml"/><Relationship Id="rId4" Type="http://schemas.openxmlformats.org/officeDocument/2006/relationships/tags" Target="../tags/tag390.xml"/><Relationship Id="rId5" Type="http://schemas.openxmlformats.org/officeDocument/2006/relationships/tags" Target="../tags/tag391.xml"/><Relationship Id="rId6" Type="http://schemas.openxmlformats.org/officeDocument/2006/relationships/tags" Target="../tags/tag392.xml"/><Relationship Id="rId7" Type="http://schemas.openxmlformats.org/officeDocument/2006/relationships/tags" Target="../tags/tag393.xml"/><Relationship Id="rId8" Type="http://schemas.openxmlformats.org/officeDocument/2006/relationships/tags" Target="../tags/tag394.xml"/><Relationship Id="rId9" Type="http://schemas.openxmlformats.org/officeDocument/2006/relationships/tags" Target="../tags/tag395.xml"/><Relationship Id="rId10" Type="http://schemas.openxmlformats.org/officeDocument/2006/relationships/tags" Target="../tags/tag396.xml"/><Relationship Id="rId11" Type="http://schemas.openxmlformats.org/officeDocument/2006/relationships/tags" Target="../tags/tag397.xml"/><Relationship Id="rId12" Type="http://schemas.openxmlformats.org/officeDocument/2006/relationships/tags" Target="../tags/tag398.xml"/><Relationship Id="rId13" Type="http://schemas.openxmlformats.org/officeDocument/2006/relationships/tags" Target="../tags/tag399.xml"/><Relationship Id="rId14" Type="http://schemas.openxmlformats.org/officeDocument/2006/relationships/tags" Target="../tags/tag400.xml"/><Relationship Id="rId15" Type="http://schemas.openxmlformats.org/officeDocument/2006/relationships/tags" Target="../tags/tag401.xml"/><Relationship Id="rId16" Type="http://schemas.openxmlformats.org/officeDocument/2006/relationships/tags" Target="../tags/tag402.xml"/><Relationship Id="rId17" Type="http://schemas.openxmlformats.org/officeDocument/2006/relationships/tags" Target="../tags/tag403.xml"/><Relationship Id="rId18" Type="http://schemas.openxmlformats.org/officeDocument/2006/relationships/tags" Target="../tags/tag404.xml"/><Relationship Id="rId19" Type="http://schemas.openxmlformats.org/officeDocument/2006/relationships/tags" Target="../tags/tag405.xml"/><Relationship Id="rId20"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tags" Target="../tags/tag406.xml"/><Relationship Id="rId2" Type="http://schemas.openxmlformats.org/officeDocument/2006/relationships/tags" Target="../tags/tag407.xml"/><Relationship Id="rId3" Type="http://schemas.openxmlformats.org/officeDocument/2006/relationships/tags" Target="../tags/tag408.xml"/><Relationship Id="rId4" Type="http://schemas.openxmlformats.org/officeDocument/2006/relationships/tags" Target="../tags/tag409.xml"/><Relationship Id="rId5" Type="http://schemas.openxmlformats.org/officeDocument/2006/relationships/tags" Target="../tags/tag410.xml"/><Relationship Id="rId6" Type="http://schemas.openxmlformats.org/officeDocument/2006/relationships/tags" Target="../tags/tag411.xml"/><Relationship Id="rId7" Type="http://schemas.openxmlformats.org/officeDocument/2006/relationships/tags" Target="../tags/tag412.xml"/><Relationship Id="rId8" Type="http://schemas.openxmlformats.org/officeDocument/2006/relationships/tags" Target="../tags/tag413.xml"/><Relationship Id="rId9" Type="http://schemas.openxmlformats.org/officeDocument/2006/relationships/tags" Target="../tags/tag414.xml"/><Relationship Id="rId10" Type="http://schemas.openxmlformats.org/officeDocument/2006/relationships/tags" Target="../tags/tag415.xml"/><Relationship Id="rId11" Type="http://schemas.openxmlformats.org/officeDocument/2006/relationships/tags" Target="../tags/tag416.xml"/><Relationship Id="rId12" Type="http://schemas.openxmlformats.org/officeDocument/2006/relationships/image" Target="../media/image23.png"/><Relationship Id="rId13" Type="http://schemas.openxmlformats.org/officeDocument/2006/relationships/image" Target="../media/image22.svg"/><Relationship Id="rId14" Type="http://schemas.openxmlformats.org/officeDocument/2006/relationships/tags" Target="../tags/tag417.xml"/><Relationship Id="rId15" Type="http://schemas.openxmlformats.org/officeDocument/2006/relationships/image" Target="../media/image24.png"/><Relationship Id="rId16" Type="http://schemas.openxmlformats.org/officeDocument/2006/relationships/image" Target="../media/image23.svg"/><Relationship Id="rId17" Type="http://schemas.openxmlformats.org/officeDocument/2006/relationships/tags" Target="../tags/tag418.xml"/><Relationship Id="rId18" Type="http://schemas.openxmlformats.org/officeDocument/2006/relationships/image" Target="../media/image25.png"/><Relationship Id="rId19" Type="http://schemas.openxmlformats.org/officeDocument/2006/relationships/image" Target="../media/image24.svg"/><Relationship Id="rId20" Type="http://schemas.openxmlformats.org/officeDocument/2006/relationships/tags" Target="../tags/tag419.xml"/><Relationship Id="rId21" Type="http://schemas.openxmlformats.org/officeDocument/2006/relationships/image" Target="../media/image26.png"/><Relationship Id="rId22" Type="http://schemas.openxmlformats.org/officeDocument/2006/relationships/image" Target="../media/image25.svg"/><Relationship Id="rId23" Type="http://schemas.openxmlformats.org/officeDocument/2006/relationships/tags" Target="../tags/tag420.xml"/><Relationship Id="rId24"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tags" Target="../tags/tag421.xml"/><Relationship Id="rId2" Type="http://schemas.openxmlformats.org/officeDocument/2006/relationships/tags" Target="../tags/tag422.xml"/><Relationship Id="rId3" Type="http://schemas.openxmlformats.org/officeDocument/2006/relationships/tags" Target="../tags/tag423.xml"/><Relationship Id="rId4" Type="http://schemas.openxmlformats.org/officeDocument/2006/relationships/tags" Target="../tags/tag424.xml"/><Relationship Id="rId5" Type="http://schemas.openxmlformats.org/officeDocument/2006/relationships/tags" Target="../tags/tag425.xml"/><Relationship Id="rId6" Type="http://schemas.openxmlformats.org/officeDocument/2006/relationships/tags" Target="../tags/tag426.xml"/><Relationship Id="rId7" Type="http://schemas.openxmlformats.org/officeDocument/2006/relationships/tags" Target="../tags/tag427.xml"/><Relationship Id="rId8" Type="http://schemas.openxmlformats.org/officeDocument/2006/relationships/tags" Target="../tags/tag428.xml"/><Relationship Id="rId9" Type="http://schemas.openxmlformats.org/officeDocument/2006/relationships/tags" Target="../tags/tag429.xml"/><Relationship Id="rId10" Type="http://schemas.openxmlformats.org/officeDocument/2006/relationships/tags" Target="../tags/tag430.xml"/><Relationship Id="rId11" Type="http://schemas.openxmlformats.org/officeDocument/2006/relationships/tags" Target="../tags/tag431.xml"/><Relationship Id="rId12" Type="http://schemas.openxmlformats.org/officeDocument/2006/relationships/tags" Target="../tags/tag432.xml"/><Relationship Id="rId13" Type="http://schemas.openxmlformats.org/officeDocument/2006/relationships/tags" Target="../tags/tag433.xml"/><Relationship Id="rId14" Type="http://schemas.openxmlformats.org/officeDocument/2006/relationships/tags" Target="../tags/tag434.xml"/><Relationship Id="rId15" Type="http://schemas.openxmlformats.org/officeDocument/2006/relationships/tags" Target="../tags/tag435.xml"/><Relationship Id="rId16" Type="http://schemas.openxmlformats.org/officeDocument/2006/relationships/tags" Target="../tags/tag436.xml"/><Relationship Id="rId17" Type="http://schemas.openxmlformats.org/officeDocument/2006/relationships/tags" Target="../tags/tag437.xml"/><Relationship Id="rId18" Type="http://schemas.openxmlformats.org/officeDocument/2006/relationships/tags" Target="../tags/tag438.xml"/><Relationship Id="rId19" Type="http://schemas.openxmlformats.org/officeDocument/2006/relationships/image" Target="../media/image27.png"/><Relationship Id="rId20" Type="http://schemas.openxmlformats.org/officeDocument/2006/relationships/image" Target="../media/image26.svg"/><Relationship Id="rId21" Type="http://schemas.openxmlformats.org/officeDocument/2006/relationships/tags" Target="../tags/tag439.xml"/><Relationship Id="rId22" Type="http://schemas.openxmlformats.org/officeDocument/2006/relationships/image" Target="../media/image28.png"/><Relationship Id="rId23" Type="http://schemas.openxmlformats.org/officeDocument/2006/relationships/image" Target="../media/image27.svg"/><Relationship Id="rId24" Type="http://schemas.openxmlformats.org/officeDocument/2006/relationships/tags" Target="../tags/tag440.xml"/><Relationship Id="rId25"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tags" Target="../tags/tag441.xml"/><Relationship Id="rId2" Type="http://schemas.openxmlformats.org/officeDocument/2006/relationships/tags" Target="../tags/tag442.xml"/><Relationship Id="rId3" Type="http://schemas.openxmlformats.org/officeDocument/2006/relationships/tags" Target="../tags/tag443.xml"/><Relationship Id="rId4" Type="http://schemas.openxmlformats.org/officeDocument/2006/relationships/tags" Target="../tags/tag444.xml"/><Relationship Id="rId5" Type="http://schemas.openxmlformats.org/officeDocument/2006/relationships/tags" Target="../tags/tag445.xml"/><Relationship Id="rId6" Type="http://schemas.openxmlformats.org/officeDocument/2006/relationships/tags" Target="../tags/tag446.xml"/><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28.svg"/><Relationship Id="rId12" Type="http://schemas.openxmlformats.org/officeDocument/2006/relationships/image" Target="../media/image33.png"/><Relationship Id="rId13" Type="http://schemas.openxmlformats.org/officeDocument/2006/relationships/tags" Target="../tags/tag447.xml"/><Relationship Id="rId14"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tags" Target="../tags/tag448.xml"/><Relationship Id="rId2" Type="http://schemas.openxmlformats.org/officeDocument/2006/relationships/tags" Target="../tags/tag449.xml"/><Relationship Id="rId3" Type="http://schemas.openxmlformats.org/officeDocument/2006/relationships/tags" Target="../tags/tag450.xml"/><Relationship Id="rId4" Type="http://schemas.openxmlformats.org/officeDocument/2006/relationships/tags" Target="../tags/tag451.xml"/><Relationship Id="rId5" Type="http://schemas.openxmlformats.org/officeDocument/2006/relationships/tags" Target="../tags/tag452.xml"/><Relationship Id="rId6" Type="http://schemas.openxmlformats.org/officeDocument/2006/relationships/tags" Target="../tags/tag453.xml"/><Relationship Id="rId7" Type="http://schemas.openxmlformats.org/officeDocument/2006/relationships/tags" Target="../tags/tag454.xml"/><Relationship Id="rId8" Type="http://schemas.openxmlformats.org/officeDocument/2006/relationships/tags" Target="../tags/tag455.xml"/><Relationship Id="rId9" Type="http://schemas.openxmlformats.org/officeDocument/2006/relationships/tags" Target="../tags/tag456.xml"/><Relationship Id="rId10" Type="http://schemas.openxmlformats.org/officeDocument/2006/relationships/tags" Target="../tags/tag457.xml"/><Relationship Id="rId11" Type="http://schemas.openxmlformats.org/officeDocument/2006/relationships/tags" Target="../tags/tag458.xml"/><Relationship Id="rId12" Type="http://schemas.openxmlformats.org/officeDocument/2006/relationships/tags" Target="../tags/tag459.xml"/><Relationship Id="rId13" Type="http://schemas.openxmlformats.org/officeDocument/2006/relationships/tags" Target="../tags/tag460.xml"/><Relationship Id="rId14" Type="http://schemas.openxmlformats.org/officeDocument/2006/relationships/tags" Target="../tags/tag461.xml"/><Relationship Id="rId15" Type="http://schemas.openxmlformats.org/officeDocument/2006/relationships/tags" Target="../tags/tag462.xml"/><Relationship Id="rId16" Type="http://schemas.openxmlformats.org/officeDocument/2006/relationships/tags" Target="../tags/tag463.xml"/><Relationship Id="rId17" Type="http://schemas.openxmlformats.org/officeDocument/2006/relationships/tags" Target="../tags/tag464.xml"/><Relationship Id="rId18" Type="http://schemas.openxmlformats.org/officeDocument/2006/relationships/tags" Target="../tags/tag465.xml"/><Relationship Id="rId19" Type="http://schemas.openxmlformats.org/officeDocument/2006/relationships/tags" Target="../tags/tag466.xml"/><Relationship Id="rId20" Type="http://schemas.openxmlformats.org/officeDocument/2006/relationships/tags" Target="../tags/tag467.xml"/><Relationship Id="rId21" Type="http://schemas.openxmlformats.org/officeDocument/2006/relationships/tags" Target="../tags/tag468.xml"/><Relationship Id="rId22" Type="http://schemas.openxmlformats.org/officeDocument/2006/relationships/tags" Target="../tags/tag469.xml"/><Relationship Id="rId23" Type="http://schemas.openxmlformats.org/officeDocument/2006/relationships/tags" Target="../tags/tag470.xml"/><Relationship Id="rId24" Type="http://schemas.openxmlformats.org/officeDocument/2006/relationships/tags" Target="../tags/tag471.xml"/><Relationship Id="rId25" Type="http://schemas.openxmlformats.org/officeDocument/2006/relationships/tags" Target="../tags/tag472.xml"/><Relationship Id="rId26" Type="http://schemas.openxmlformats.org/officeDocument/2006/relationships/tags" Target="../tags/tag473.xml"/><Relationship Id="rId27" Type="http://schemas.openxmlformats.org/officeDocument/2006/relationships/tags" Target="../tags/tag474.xml"/><Relationship Id="rId28" Type="http://schemas.openxmlformats.org/officeDocument/2006/relationships/tags" Target="../tags/tag475.xml"/><Relationship Id="rId29" Type="http://schemas.openxmlformats.org/officeDocument/2006/relationships/tags" Target="../tags/tag476.xml"/><Relationship Id="rId30" Type="http://schemas.openxmlformats.org/officeDocument/2006/relationships/tags" Target="../tags/tag477.xml"/><Relationship Id="rId31" Type="http://schemas.openxmlformats.org/officeDocument/2006/relationships/tags" Target="../tags/tag478.xml"/><Relationship Id="rId32" Type="http://schemas.openxmlformats.org/officeDocument/2006/relationships/slideLayout" Target="../slideLayouts/slideLayout12.xml"/><Relationship Id="rId33"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tags" Target="../tags/tag479.xml"/><Relationship Id="rId2" Type="http://schemas.openxmlformats.org/officeDocument/2006/relationships/tags" Target="../tags/tag480.xml"/><Relationship Id="rId3" Type="http://schemas.openxmlformats.org/officeDocument/2006/relationships/tags" Target="../tags/tag481.xml"/><Relationship Id="rId4" Type="http://schemas.openxmlformats.org/officeDocument/2006/relationships/tags" Target="../tags/tag482.xml"/><Relationship Id="rId5" Type="http://schemas.openxmlformats.org/officeDocument/2006/relationships/tags" Target="../tags/tag483.xml"/><Relationship Id="rId6" Type="http://schemas.openxmlformats.org/officeDocument/2006/relationships/tags" Target="../tags/tag484.xml"/><Relationship Id="rId7" Type="http://schemas.openxmlformats.org/officeDocument/2006/relationships/tags" Target="../tags/tag485.xml"/><Relationship Id="rId8" Type="http://schemas.openxmlformats.org/officeDocument/2006/relationships/tags" Target="../tags/tag486.xml"/><Relationship Id="rId9" Type="http://schemas.openxmlformats.org/officeDocument/2006/relationships/tags" Target="../tags/tag487.xml"/><Relationship Id="rId10" Type="http://schemas.openxmlformats.org/officeDocument/2006/relationships/tags" Target="../tags/tag488.xml"/><Relationship Id="rId11" Type="http://schemas.openxmlformats.org/officeDocument/2006/relationships/tags" Target="../tags/tag489.xml"/><Relationship Id="rId12" Type="http://schemas.openxmlformats.org/officeDocument/2006/relationships/tags" Target="../tags/tag490.xml"/><Relationship Id="rId13" Type="http://schemas.openxmlformats.org/officeDocument/2006/relationships/tags" Target="../tags/tag491.xml"/><Relationship Id="rId14" Type="http://schemas.openxmlformats.org/officeDocument/2006/relationships/tags" Target="../tags/tag492.xml"/><Relationship Id="rId15" Type="http://schemas.openxmlformats.org/officeDocument/2006/relationships/tags" Target="../tags/tag493.xml"/><Relationship Id="rId16" Type="http://schemas.openxmlformats.org/officeDocument/2006/relationships/tags" Target="../tags/tag494.xml"/><Relationship Id="rId17" Type="http://schemas.openxmlformats.org/officeDocument/2006/relationships/tags" Target="../tags/tag495.xml"/><Relationship Id="rId18" Type="http://schemas.openxmlformats.org/officeDocument/2006/relationships/tags" Target="../tags/tag496.xml"/><Relationship Id="rId19" Type="http://schemas.openxmlformats.org/officeDocument/2006/relationships/tags" Target="../tags/tag497.xml"/><Relationship Id="rId20" Type="http://schemas.openxmlformats.org/officeDocument/2006/relationships/tags" Target="../tags/tag498.xml"/><Relationship Id="rId21" Type="http://schemas.openxmlformats.org/officeDocument/2006/relationships/tags" Target="../tags/tag499.xml"/><Relationship Id="rId22" Type="http://schemas.openxmlformats.org/officeDocument/2006/relationships/tags" Target="../tags/tag500.xml"/><Relationship Id="rId23" Type="http://schemas.openxmlformats.org/officeDocument/2006/relationships/tags" Target="../tags/tag501.xml"/><Relationship Id="rId24" Type="http://schemas.openxmlformats.org/officeDocument/2006/relationships/tags" Target="../tags/tag502.xml"/><Relationship Id="rId25" Type="http://schemas.openxmlformats.org/officeDocument/2006/relationships/tags" Target="../tags/tag503.xml"/><Relationship Id="rId26" Type="http://schemas.openxmlformats.org/officeDocument/2006/relationships/tags" Target="../tags/tag504.xml"/><Relationship Id="rId27" Type="http://schemas.openxmlformats.org/officeDocument/2006/relationships/tags" Target="../tags/tag505.xml"/><Relationship Id="rId28" Type="http://schemas.openxmlformats.org/officeDocument/2006/relationships/tags" Target="../tags/tag506.xml"/><Relationship Id="rId29" Type="http://schemas.openxmlformats.org/officeDocument/2006/relationships/tags" Target="../tags/tag507.xml"/><Relationship Id="rId30" Type="http://schemas.openxmlformats.org/officeDocument/2006/relationships/tags" Target="../tags/tag508.xml"/><Relationship Id="rId31" Type="http://schemas.openxmlformats.org/officeDocument/2006/relationships/tags" Target="../tags/tag509.xml"/><Relationship Id="rId32" Type="http://schemas.openxmlformats.org/officeDocument/2006/relationships/tags" Target="../tags/tag510.xml"/><Relationship Id="rId33" Type="http://schemas.openxmlformats.org/officeDocument/2006/relationships/tags" Target="../tags/tag511.xml"/><Relationship Id="rId34" Type="http://schemas.openxmlformats.org/officeDocument/2006/relationships/tags" Target="../tags/tag512.xml"/><Relationship Id="rId35" Type="http://schemas.openxmlformats.org/officeDocument/2006/relationships/tags" Target="../tags/tag513.xml"/><Relationship Id="rId36" Type="http://schemas.openxmlformats.org/officeDocument/2006/relationships/tags" Target="../tags/tag514.xml"/><Relationship Id="rId37" Type="http://schemas.openxmlformats.org/officeDocument/2006/relationships/tags" Target="../tags/tag515.xml"/><Relationship Id="rId38" Type="http://schemas.openxmlformats.org/officeDocument/2006/relationships/tags" Target="../tags/tag516.xml"/><Relationship Id="rId39" Type="http://schemas.openxmlformats.org/officeDocument/2006/relationships/tags" Target="../tags/tag517.xml"/><Relationship Id="rId40" Type="http://schemas.openxmlformats.org/officeDocument/2006/relationships/tags" Target="../tags/tag518.xml"/><Relationship Id="rId41" Type="http://schemas.openxmlformats.org/officeDocument/2006/relationships/tags" Target="../tags/tag519.xml"/><Relationship Id="rId42" Type="http://schemas.openxmlformats.org/officeDocument/2006/relationships/tags" Target="../tags/tag520.xml"/><Relationship Id="rId43" Type="http://schemas.openxmlformats.org/officeDocument/2006/relationships/tags" Target="../tags/tag521.xml"/><Relationship Id="rId44" Type="http://schemas.openxmlformats.org/officeDocument/2006/relationships/tags" Target="../tags/tag522.xml"/><Relationship Id="rId45" Type="http://schemas.openxmlformats.org/officeDocument/2006/relationships/tags" Target="../tags/tag523.xml"/><Relationship Id="rId46" Type="http://schemas.openxmlformats.org/officeDocument/2006/relationships/tags" Target="../tags/tag524.xml"/><Relationship Id="rId47" Type="http://schemas.openxmlformats.org/officeDocument/2006/relationships/tags" Target="../tags/tag525.xml"/><Relationship Id="rId48" Type="http://schemas.openxmlformats.org/officeDocument/2006/relationships/tags" Target="../tags/tag526.xml"/><Relationship Id="rId49" Type="http://schemas.openxmlformats.org/officeDocument/2006/relationships/tags" Target="../tags/tag527.xml"/><Relationship Id="rId50" Type="http://schemas.openxmlformats.org/officeDocument/2006/relationships/tags" Target="../tags/tag528.xml"/><Relationship Id="rId51" Type="http://schemas.openxmlformats.org/officeDocument/2006/relationships/tags" Target="../tags/tag529.xml"/><Relationship Id="rId52" Type="http://schemas.openxmlformats.org/officeDocument/2006/relationships/tags" Target="../tags/tag530.xml"/><Relationship Id="rId53" Type="http://schemas.openxmlformats.org/officeDocument/2006/relationships/tags" Target="../tags/tag531.xml"/><Relationship Id="rId54" Type="http://schemas.openxmlformats.org/officeDocument/2006/relationships/tags" Target="../tags/tag532.xml"/><Relationship Id="rId55" Type="http://schemas.openxmlformats.org/officeDocument/2006/relationships/tags" Target="../tags/tag533.xml"/><Relationship Id="rId56" Type="http://schemas.openxmlformats.org/officeDocument/2006/relationships/tags" Target="../tags/tag534.xml"/><Relationship Id="rId57" Type="http://schemas.openxmlformats.org/officeDocument/2006/relationships/tags" Target="../tags/tag535.xml"/><Relationship Id="rId58" Type="http://schemas.openxmlformats.org/officeDocument/2006/relationships/tags" Target="../tags/tag536.xml"/><Relationship Id="rId59" Type="http://schemas.openxmlformats.org/officeDocument/2006/relationships/tags" Target="../tags/tag537.xml"/><Relationship Id="rId60" Type="http://schemas.openxmlformats.org/officeDocument/2006/relationships/tags" Target="../tags/tag538.xml"/><Relationship Id="rId61" Type="http://schemas.openxmlformats.org/officeDocument/2006/relationships/tags" Target="../tags/tag539.xml"/><Relationship Id="rId62" Type="http://schemas.openxmlformats.org/officeDocument/2006/relationships/tags" Target="../tags/tag540.xml"/><Relationship Id="rId63" Type="http://schemas.openxmlformats.org/officeDocument/2006/relationships/tags" Target="../tags/tag541.xml"/><Relationship Id="rId64" Type="http://schemas.openxmlformats.org/officeDocument/2006/relationships/tags" Target="../tags/tag542.xml"/><Relationship Id="rId65" Type="http://schemas.openxmlformats.org/officeDocument/2006/relationships/tags" Target="../tags/tag543.xml"/><Relationship Id="rId66" Type="http://schemas.openxmlformats.org/officeDocument/2006/relationships/tags" Target="../tags/tag544.xml"/><Relationship Id="rId67" Type="http://schemas.openxmlformats.org/officeDocument/2006/relationships/tags" Target="../tags/tag545.xml"/><Relationship Id="rId68" Type="http://schemas.openxmlformats.org/officeDocument/2006/relationships/slideLayout" Target="../slideLayouts/slideLayout12.xml"/><Relationship Id="rId69"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tags" Target="../tags/tag546.xml"/><Relationship Id="rId2" Type="http://schemas.openxmlformats.org/officeDocument/2006/relationships/tags" Target="../tags/tag547.xml"/><Relationship Id="rId3" Type="http://schemas.openxmlformats.org/officeDocument/2006/relationships/tags" Target="../tags/tag548.xml"/><Relationship Id="rId4" Type="http://schemas.openxmlformats.org/officeDocument/2006/relationships/tags" Target="../tags/tag549.xml"/><Relationship Id="rId5" Type="http://schemas.openxmlformats.org/officeDocument/2006/relationships/tags" Target="../tags/tag550.xml"/><Relationship Id="rId6" Type="http://schemas.openxmlformats.org/officeDocument/2006/relationships/tags" Target="../tags/tag551.xml"/><Relationship Id="rId7" Type="http://schemas.openxmlformats.org/officeDocument/2006/relationships/tags" Target="../tags/tag552.xml"/><Relationship Id="rId8" Type="http://schemas.openxmlformats.org/officeDocument/2006/relationships/tags" Target="../tags/tag553.xml"/><Relationship Id="rId9" Type="http://schemas.openxmlformats.org/officeDocument/2006/relationships/tags" Target="../tags/tag554.xml"/><Relationship Id="rId10" Type="http://schemas.openxmlformats.org/officeDocument/2006/relationships/tags" Target="../tags/tag555.xml"/><Relationship Id="rId11" Type="http://schemas.openxmlformats.org/officeDocument/2006/relationships/tags" Target="../tags/tag556.xml"/><Relationship Id="rId12" Type="http://schemas.openxmlformats.org/officeDocument/2006/relationships/tags" Target="../tags/tag557.xml"/><Relationship Id="rId13" Type="http://schemas.openxmlformats.org/officeDocument/2006/relationships/tags" Target="../tags/tag558.xml"/><Relationship Id="rId14" Type="http://schemas.openxmlformats.org/officeDocument/2006/relationships/tags" Target="../tags/tag559.xml"/><Relationship Id="rId15" Type="http://schemas.openxmlformats.org/officeDocument/2006/relationships/slideLayout" Target="../slideLayouts/slideLayout12.xml"/><Relationship Id="rId16"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tags" Target="../tags/tag560.xml"/><Relationship Id="rId2" Type="http://schemas.openxmlformats.org/officeDocument/2006/relationships/tags" Target="../tags/tag561.xml"/><Relationship Id="rId3" Type="http://schemas.openxmlformats.org/officeDocument/2006/relationships/tags" Target="../tags/tag562.xml"/><Relationship Id="rId4" Type="http://schemas.openxmlformats.org/officeDocument/2006/relationships/tags" Target="../tags/tag563.xml"/><Relationship Id="rId5" Type="http://schemas.openxmlformats.org/officeDocument/2006/relationships/tags" Target="../tags/tag564.xml"/><Relationship Id="rId6" Type="http://schemas.openxmlformats.org/officeDocument/2006/relationships/tags" Target="../tags/tag565.xml"/><Relationship Id="rId7" Type="http://schemas.openxmlformats.org/officeDocument/2006/relationships/tags" Target="../tags/tag566.xml"/><Relationship Id="rId8" Type="http://schemas.openxmlformats.org/officeDocument/2006/relationships/tags" Target="../tags/tag567.xml"/><Relationship Id="rId9" Type="http://schemas.openxmlformats.org/officeDocument/2006/relationships/tags" Target="../tags/tag568.xml"/><Relationship Id="rId10" Type="http://schemas.openxmlformats.org/officeDocument/2006/relationships/tags" Target="../tags/tag569.xml"/><Relationship Id="rId11" Type="http://schemas.openxmlformats.org/officeDocument/2006/relationships/tags" Target="../tags/tag570.xml"/><Relationship Id="rId12" Type="http://schemas.openxmlformats.org/officeDocument/2006/relationships/tags" Target="../tags/tag571.xml"/><Relationship Id="rId13" Type="http://schemas.openxmlformats.org/officeDocument/2006/relationships/tags" Target="../tags/tag572.xml"/><Relationship Id="rId14" Type="http://schemas.openxmlformats.org/officeDocument/2006/relationships/tags" Target="../tags/tag573.xml"/><Relationship Id="rId15" Type="http://schemas.openxmlformats.org/officeDocument/2006/relationships/tags" Target="../tags/tag574.xml"/><Relationship Id="rId16" Type="http://schemas.openxmlformats.org/officeDocument/2006/relationships/tags" Target="../tags/tag575.xml"/><Relationship Id="rId17" Type="http://schemas.openxmlformats.org/officeDocument/2006/relationships/tags" Target="../tags/tag576.xml"/><Relationship Id="rId18" Type="http://schemas.openxmlformats.org/officeDocument/2006/relationships/tags" Target="../tags/tag577.xml"/><Relationship Id="rId19" Type="http://schemas.openxmlformats.org/officeDocument/2006/relationships/tags" Target="../tags/tag578.xml"/><Relationship Id="rId20" Type="http://schemas.openxmlformats.org/officeDocument/2006/relationships/tags" Target="../tags/tag579.xml"/><Relationship Id="rId21" Type="http://schemas.openxmlformats.org/officeDocument/2006/relationships/tags" Target="../tags/tag580.xml"/><Relationship Id="rId22" Type="http://schemas.openxmlformats.org/officeDocument/2006/relationships/tags" Target="../tags/tag581.xml"/><Relationship Id="rId23" Type="http://schemas.openxmlformats.org/officeDocument/2006/relationships/tags" Target="../tags/tag582.xml"/><Relationship Id="rId24" Type="http://schemas.openxmlformats.org/officeDocument/2006/relationships/tags" Target="../tags/tag583.xml"/><Relationship Id="rId25" Type="http://schemas.openxmlformats.org/officeDocument/2006/relationships/tags" Target="../tags/tag584.xml"/><Relationship Id="rId26" Type="http://schemas.openxmlformats.org/officeDocument/2006/relationships/tags" Target="../tags/tag585.xml"/><Relationship Id="rId27" Type="http://schemas.openxmlformats.org/officeDocument/2006/relationships/tags" Target="../tags/tag586.xml"/><Relationship Id="rId28" Type="http://schemas.openxmlformats.org/officeDocument/2006/relationships/tags" Target="../tags/tag587.xml"/><Relationship Id="rId29" Type="http://schemas.openxmlformats.org/officeDocument/2006/relationships/tags" Target="../tags/tag588.xml"/><Relationship Id="rId30" Type="http://schemas.openxmlformats.org/officeDocument/2006/relationships/tags" Target="../tags/tag589.xml"/><Relationship Id="rId31" Type="http://schemas.openxmlformats.org/officeDocument/2006/relationships/tags" Target="../tags/tag590.xml"/><Relationship Id="rId32" Type="http://schemas.openxmlformats.org/officeDocument/2006/relationships/tags" Target="../tags/tag591.xml"/><Relationship Id="rId33" Type="http://schemas.openxmlformats.org/officeDocument/2006/relationships/tags" Target="../tags/tag592.xml"/><Relationship Id="rId34" Type="http://schemas.openxmlformats.org/officeDocument/2006/relationships/tags" Target="../tags/tag593.xml"/><Relationship Id="rId35" Type="http://schemas.openxmlformats.org/officeDocument/2006/relationships/tags" Target="../tags/tag594.xml"/><Relationship Id="rId36" Type="http://schemas.openxmlformats.org/officeDocument/2006/relationships/tags" Target="../tags/tag595.xml"/><Relationship Id="rId37" Type="http://schemas.openxmlformats.org/officeDocument/2006/relationships/tags" Target="../tags/tag596.xml"/><Relationship Id="rId38" Type="http://schemas.openxmlformats.org/officeDocument/2006/relationships/tags" Target="../tags/tag597.xml"/><Relationship Id="rId39" Type="http://schemas.openxmlformats.org/officeDocument/2006/relationships/tags" Target="../tags/tag598.xml"/><Relationship Id="rId40" Type="http://schemas.openxmlformats.org/officeDocument/2006/relationships/tags" Target="../tags/tag599.xml"/><Relationship Id="rId41" Type="http://schemas.openxmlformats.org/officeDocument/2006/relationships/slideLayout" Target="../slideLayouts/slideLayout12.xml"/><Relationship Id="rId4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tags" Target="../tags/tag600.xml"/><Relationship Id="rId2" Type="http://schemas.openxmlformats.org/officeDocument/2006/relationships/tags" Target="../tags/tag601.xml"/><Relationship Id="rId3" Type="http://schemas.openxmlformats.org/officeDocument/2006/relationships/tags" Target="../tags/tag602.xml"/><Relationship Id="rId4" Type="http://schemas.openxmlformats.org/officeDocument/2006/relationships/tags" Target="../tags/tag603.xml"/><Relationship Id="rId5" Type="http://schemas.openxmlformats.org/officeDocument/2006/relationships/tags" Target="../tags/tag604.xml"/><Relationship Id="rId6" Type="http://schemas.openxmlformats.org/officeDocument/2006/relationships/tags" Target="../tags/tag605.xml"/><Relationship Id="rId7" Type="http://schemas.openxmlformats.org/officeDocument/2006/relationships/tags" Target="../tags/tag606.xml"/><Relationship Id="rId8" Type="http://schemas.openxmlformats.org/officeDocument/2006/relationships/tags" Target="../tags/tag607.xml"/><Relationship Id="rId9" Type="http://schemas.openxmlformats.org/officeDocument/2006/relationships/tags" Target="../tags/tag608.xml"/><Relationship Id="rId10" Type="http://schemas.openxmlformats.org/officeDocument/2006/relationships/tags" Target="../tags/tag609.xml"/><Relationship Id="rId11" Type="http://schemas.openxmlformats.org/officeDocument/2006/relationships/tags" Target="../tags/tag610.xml"/><Relationship Id="rId12" Type="http://schemas.openxmlformats.org/officeDocument/2006/relationships/tags" Target="../tags/tag611.xml"/><Relationship Id="rId13" Type="http://schemas.openxmlformats.org/officeDocument/2006/relationships/tags" Target="../tags/tag612.xml"/><Relationship Id="rId14" Type="http://schemas.openxmlformats.org/officeDocument/2006/relationships/tags" Target="../tags/tag613.xml"/><Relationship Id="rId15" Type="http://schemas.openxmlformats.org/officeDocument/2006/relationships/tags" Target="../tags/tag614.xml"/><Relationship Id="rId16" Type="http://schemas.openxmlformats.org/officeDocument/2006/relationships/tags" Target="../tags/tag615.xml"/><Relationship Id="rId17" Type="http://schemas.openxmlformats.org/officeDocument/2006/relationships/tags" Target="../tags/tag616.xml"/><Relationship Id="rId18" Type="http://schemas.openxmlformats.org/officeDocument/2006/relationships/slideLayout" Target="../slideLayouts/slideLayout12.xml"/><Relationship Id="rId19"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tags" Target="../tags/tag617.xml"/><Relationship Id="rId2" Type="http://schemas.openxmlformats.org/officeDocument/2006/relationships/tags" Target="../tags/tag618.xml"/><Relationship Id="rId3" Type="http://schemas.openxmlformats.org/officeDocument/2006/relationships/tags" Target="../tags/tag619.xml"/><Relationship Id="rId4" Type="http://schemas.openxmlformats.org/officeDocument/2006/relationships/tags" Target="../tags/tag620.xml"/><Relationship Id="rId5" Type="http://schemas.openxmlformats.org/officeDocument/2006/relationships/tags" Target="../tags/tag621.xml"/><Relationship Id="rId6" Type="http://schemas.openxmlformats.org/officeDocument/2006/relationships/tags" Target="../tags/tag622.xml"/><Relationship Id="rId7" Type="http://schemas.openxmlformats.org/officeDocument/2006/relationships/tags" Target="../tags/tag623.xml"/><Relationship Id="rId8" Type="http://schemas.openxmlformats.org/officeDocument/2006/relationships/tags" Target="../tags/tag624.xml"/><Relationship Id="rId9" Type="http://schemas.openxmlformats.org/officeDocument/2006/relationships/tags" Target="../tags/tag625.xml"/><Relationship Id="rId10" Type="http://schemas.openxmlformats.org/officeDocument/2006/relationships/tags" Target="../tags/tag626.xml"/><Relationship Id="rId11" Type="http://schemas.openxmlformats.org/officeDocument/2006/relationships/tags" Target="../tags/tag627.xml"/><Relationship Id="rId12" Type="http://schemas.openxmlformats.org/officeDocument/2006/relationships/tags" Target="../tags/tag628.xml"/><Relationship Id="rId13" Type="http://schemas.openxmlformats.org/officeDocument/2006/relationships/tags" Target="../tags/tag629.xml"/><Relationship Id="rId14" Type="http://schemas.openxmlformats.org/officeDocument/2006/relationships/tags" Target="../tags/tag630.xml"/><Relationship Id="rId15" Type="http://schemas.openxmlformats.org/officeDocument/2006/relationships/tags" Target="../tags/tag631.xml"/><Relationship Id="rId16" Type="http://schemas.openxmlformats.org/officeDocument/2006/relationships/tags" Target="../tags/tag632.xml"/><Relationship Id="rId17" Type="http://schemas.openxmlformats.org/officeDocument/2006/relationships/tags" Target="../tags/tag633.xml"/><Relationship Id="rId18" Type="http://schemas.openxmlformats.org/officeDocument/2006/relationships/tags" Target="../tags/tag634.xml"/><Relationship Id="rId19" Type="http://schemas.openxmlformats.org/officeDocument/2006/relationships/tags" Target="../tags/tag635.xml"/><Relationship Id="rId20" Type="http://schemas.openxmlformats.org/officeDocument/2006/relationships/tags" Target="../tags/tag636.xml"/><Relationship Id="rId21" Type="http://schemas.openxmlformats.org/officeDocument/2006/relationships/tags" Target="../tags/tag637.xml"/><Relationship Id="rId22" Type="http://schemas.openxmlformats.org/officeDocument/2006/relationships/tags" Target="../tags/tag638.xml"/><Relationship Id="rId23" Type="http://schemas.openxmlformats.org/officeDocument/2006/relationships/slideLayout" Target="../slideLayouts/slideLayout12.xml"/><Relationship Id="rId24"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tags" Target="../tags/tag639.xml"/><Relationship Id="rId2" Type="http://schemas.openxmlformats.org/officeDocument/2006/relationships/tags" Target="../tags/tag640.xml"/><Relationship Id="rId3" Type="http://schemas.openxmlformats.org/officeDocument/2006/relationships/tags" Target="../tags/tag641.xml"/><Relationship Id="rId4" Type="http://schemas.openxmlformats.org/officeDocument/2006/relationships/tags" Target="../tags/tag642.xml"/><Relationship Id="rId5" Type="http://schemas.openxmlformats.org/officeDocument/2006/relationships/tags" Target="../tags/tag643.xml"/><Relationship Id="rId6" Type="http://schemas.openxmlformats.org/officeDocument/2006/relationships/tags" Target="../tags/tag644.xml"/><Relationship Id="rId7" Type="http://schemas.openxmlformats.org/officeDocument/2006/relationships/tags" Target="../tags/tag645.xml"/><Relationship Id="rId8" Type="http://schemas.openxmlformats.org/officeDocument/2006/relationships/tags" Target="../tags/tag646.xml"/><Relationship Id="rId9" Type="http://schemas.openxmlformats.org/officeDocument/2006/relationships/tags" Target="../tags/tag647.xml"/><Relationship Id="rId10" Type="http://schemas.openxmlformats.org/officeDocument/2006/relationships/tags" Target="../tags/tag648.xml"/><Relationship Id="rId11" Type="http://schemas.openxmlformats.org/officeDocument/2006/relationships/tags" Target="../tags/tag649.xml"/><Relationship Id="rId12" Type="http://schemas.openxmlformats.org/officeDocument/2006/relationships/tags" Target="../tags/tag650.xml"/><Relationship Id="rId13" Type="http://schemas.openxmlformats.org/officeDocument/2006/relationships/tags" Target="../tags/tag651.xml"/><Relationship Id="rId14" Type="http://schemas.openxmlformats.org/officeDocument/2006/relationships/tags" Target="../tags/tag652.xml"/><Relationship Id="rId15" Type="http://schemas.openxmlformats.org/officeDocument/2006/relationships/tags" Target="../tags/tag653.xml"/><Relationship Id="rId16" Type="http://schemas.openxmlformats.org/officeDocument/2006/relationships/tags" Target="../tags/tag654.xml"/><Relationship Id="rId17" Type="http://schemas.openxmlformats.org/officeDocument/2006/relationships/tags" Target="../tags/tag655.xml"/><Relationship Id="rId18" Type="http://schemas.openxmlformats.org/officeDocument/2006/relationships/tags" Target="../tags/tag656.xml"/><Relationship Id="rId19" Type="http://schemas.openxmlformats.org/officeDocument/2006/relationships/tags" Target="../tags/tag657.xml"/><Relationship Id="rId20" Type="http://schemas.openxmlformats.org/officeDocument/2006/relationships/tags" Target="../tags/tag658.xml"/><Relationship Id="rId21" Type="http://schemas.openxmlformats.org/officeDocument/2006/relationships/tags" Target="../tags/tag659.xml"/><Relationship Id="rId22" Type="http://schemas.openxmlformats.org/officeDocument/2006/relationships/tags" Target="../tags/tag660.xml"/><Relationship Id="rId23" Type="http://schemas.openxmlformats.org/officeDocument/2006/relationships/tags" Target="../tags/tag661.xml"/><Relationship Id="rId24" Type="http://schemas.openxmlformats.org/officeDocument/2006/relationships/slideLayout" Target="../slideLayouts/slideLayout12.xml"/><Relationship Id="rId25"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tags" Target="../tags/tag662.xml"/><Relationship Id="rId2" Type="http://schemas.openxmlformats.org/officeDocument/2006/relationships/tags" Target="../tags/tag663.xml"/><Relationship Id="rId3" Type="http://schemas.openxmlformats.org/officeDocument/2006/relationships/tags" Target="../tags/tag664.xml"/><Relationship Id="rId4" Type="http://schemas.openxmlformats.org/officeDocument/2006/relationships/tags" Target="../tags/tag665.xml"/><Relationship Id="rId5" Type="http://schemas.openxmlformats.org/officeDocument/2006/relationships/tags" Target="../tags/tag666.xml"/><Relationship Id="rId6" Type="http://schemas.openxmlformats.org/officeDocument/2006/relationships/tags" Target="../tags/tag667.xml"/><Relationship Id="rId7" Type="http://schemas.openxmlformats.org/officeDocument/2006/relationships/tags" Target="../tags/tag668.xml"/><Relationship Id="rId8" Type="http://schemas.openxmlformats.org/officeDocument/2006/relationships/tags" Target="../tags/tag669.xml"/><Relationship Id="rId9" Type="http://schemas.openxmlformats.org/officeDocument/2006/relationships/tags" Target="../tags/tag670.xml"/><Relationship Id="rId10" Type="http://schemas.openxmlformats.org/officeDocument/2006/relationships/tags" Target="../tags/tag671.xml"/><Relationship Id="rId11" Type="http://schemas.openxmlformats.org/officeDocument/2006/relationships/tags" Target="../tags/tag672.xml"/><Relationship Id="rId12" Type="http://schemas.openxmlformats.org/officeDocument/2006/relationships/tags" Target="../tags/tag673.xml"/><Relationship Id="rId13" Type="http://schemas.openxmlformats.org/officeDocument/2006/relationships/tags" Target="../tags/tag674.xml"/><Relationship Id="rId14" Type="http://schemas.openxmlformats.org/officeDocument/2006/relationships/tags" Target="../tags/tag675.xml"/><Relationship Id="rId15" Type="http://schemas.openxmlformats.org/officeDocument/2006/relationships/tags" Target="../tags/tag676.xml"/><Relationship Id="rId16" Type="http://schemas.openxmlformats.org/officeDocument/2006/relationships/tags" Target="../tags/tag677.xml"/><Relationship Id="rId17" Type="http://schemas.openxmlformats.org/officeDocument/2006/relationships/tags" Target="../tags/tag678.xml"/><Relationship Id="rId18" Type="http://schemas.openxmlformats.org/officeDocument/2006/relationships/tags" Target="../tags/tag679.xml"/><Relationship Id="rId19" Type="http://schemas.openxmlformats.org/officeDocument/2006/relationships/tags" Target="../tags/tag680.xml"/><Relationship Id="rId20" Type="http://schemas.openxmlformats.org/officeDocument/2006/relationships/tags" Target="../tags/tag681.xml"/><Relationship Id="rId21" Type="http://schemas.openxmlformats.org/officeDocument/2006/relationships/tags" Target="../tags/tag682.xml"/><Relationship Id="rId22" Type="http://schemas.openxmlformats.org/officeDocument/2006/relationships/tags" Target="../tags/tag683.xml"/><Relationship Id="rId23" Type="http://schemas.openxmlformats.org/officeDocument/2006/relationships/tags" Target="../tags/tag684.xml"/><Relationship Id="rId24" Type="http://schemas.openxmlformats.org/officeDocument/2006/relationships/tags" Target="../tags/tag685.xml"/><Relationship Id="rId25" Type="http://schemas.openxmlformats.org/officeDocument/2006/relationships/tags" Target="../tags/tag686.xml"/><Relationship Id="rId26" Type="http://schemas.openxmlformats.org/officeDocument/2006/relationships/tags" Target="../tags/tag687.xml"/><Relationship Id="rId27" Type="http://schemas.openxmlformats.org/officeDocument/2006/relationships/tags" Target="../tags/tag688.xml"/><Relationship Id="rId28" Type="http://schemas.openxmlformats.org/officeDocument/2006/relationships/tags" Target="../tags/tag689.xml"/><Relationship Id="rId29"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tags" Target="../tags/tag690.xml"/><Relationship Id="rId2" Type="http://schemas.openxmlformats.org/officeDocument/2006/relationships/tags" Target="../tags/tag691.xml"/><Relationship Id="rId3" Type="http://schemas.openxmlformats.org/officeDocument/2006/relationships/tags" Target="../tags/tag692.xml"/><Relationship Id="rId4" Type="http://schemas.openxmlformats.org/officeDocument/2006/relationships/tags" Target="../tags/tag693.xml"/><Relationship Id="rId5" Type="http://schemas.openxmlformats.org/officeDocument/2006/relationships/tags" Target="../tags/tag694.xml"/><Relationship Id="rId6" Type="http://schemas.openxmlformats.org/officeDocument/2006/relationships/tags" Target="../tags/tag695.xml"/><Relationship Id="rId7" Type="http://schemas.openxmlformats.org/officeDocument/2006/relationships/tags" Target="../tags/tag696.xml"/><Relationship Id="rId8" Type="http://schemas.openxmlformats.org/officeDocument/2006/relationships/tags" Target="../tags/tag697.xml"/><Relationship Id="rId9" Type="http://schemas.openxmlformats.org/officeDocument/2006/relationships/tags" Target="../tags/tag698.xml"/><Relationship Id="rId10" Type="http://schemas.openxmlformats.org/officeDocument/2006/relationships/tags" Target="../tags/tag699.xml"/><Relationship Id="rId11" Type="http://schemas.openxmlformats.org/officeDocument/2006/relationships/tags" Target="../tags/tag700.xml"/><Relationship Id="rId12" Type="http://schemas.openxmlformats.org/officeDocument/2006/relationships/tags" Target="../tags/tag701.xml"/><Relationship Id="rId13" Type="http://schemas.openxmlformats.org/officeDocument/2006/relationships/tags" Target="../tags/tag702.xml"/><Relationship Id="rId14" Type="http://schemas.openxmlformats.org/officeDocument/2006/relationships/tags" Target="../tags/tag703.xml"/><Relationship Id="rId15" Type="http://schemas.openxmlformats.org/officeDocument/2006/relationships/tags" Target="../tags/tag704.xml"/><Relationship Id="rId16" Type="http://schemas.openxmlformats.org/officeDocument/2006/relationships/tags" Target="../tags/tag705.xml"/><Relationship Id="rId17" Type="http://schemas.openxmlformats.org/officeDocument/2006/relationships/tags" Target="../tags/tag706.xml"/><Relationship Id="rId18" Type="http://schemas.openxmlformats.org/officeDocument/2006/relationships/tags" Target="../tags/tag707.xml"/><Relationship Id="rId19"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tags" Target="../tags/tag708.xml"/><Relationship Id="rId2" Type="http://schemas.openxmlformats.org/officeDocument/2006/relationships/tags" Target="../tags/tag709.xml"/><Relationship Id="rId3" Type="http://schemas.openxmlformats.org/officeDocument/2006/relationships/tags" Target="../tags/tag710.xml"/><Relationship Id="rId4" Type="http://schemas.openxmlformats.org/officeDocument/2006/relationships/tags" Target="../tags/tag711.xml"/><Relationship Id="rId5" Type="http://schemas.openxmlformats.org/officeDocument/2006/relationships/tags" Target="../tags/tag712.xml"/><Relationship Id="rId6" Type="http://schemas.openxmlformats.org/officeDocument/2006/relationships/tags" Target="../tags/tag713.xml"/><Relationship Id="rId7" Type="http://schemas.openxmlformats.org/officeDocument/2006/relationships/tags" Target="../tags/tag714.xml"/><Relationship Id="rId8" Type="http://schemas.openxmlformats.org/officeDocument/2006/relationships/tags" Target="../tags/tag715.xml"/><Relationship Id="rId9" Type="http://schemas.openxmlformats.org/officeDocument/2006/relationships/tags" Target="../tags/tag716.xml"/><Relationship Id="rId10" Type="http://schemas.openxmlformats.org/officeDocument/2006/relationships/tags" Target="../tags/tag717.xml"/><Relationship Id="rId11" Type="http://schemas.openxmlformats.org/officeDocument/2006/relationships/tags" Target="../tags/tag718.xml"/><Relationship Id="rId12" Type="http://schemas.openxmlformats.org/officeDocument/2006/relationships/tags" Target="../tags/tag719.xml"/><Relationship Id="rId13" Type="http://schemas.openxmlformats.org/officeDocument/2006/relationships/tags" Target="../tags/tag720.xml"/><Relationship Id="rId14" Type="http://schemas.openxmlformats.org/officeDocument/2006/relationships/tags" Target="../tags/tag721.xml"/><Relationship Id="rId15" Type="http://schemas.openxmlformats.org/officeDocument/2006/relationships/tags" Target="../tags/tag722.xml"/><Relationship Id="rId16" Type="http://schemas.openxmlformats.org/officeDocument/2006/relationships/tags" Target="../tags/tag723.xml"/><Relationship Id="rId17" Type="http://schemas.openxmlformats.org/officeDocument/2006/relationships/tags" Target="../tags/tag724.xml"/><Relationship Id="rId18" Type="http://schemas.openxmlformats.org/officeDocument/2006/relationships/tags" Target="../tags/tag725.xml"/><Relationship Id="rId19" Type="http://schemas.openxmlformats.org/officeDocument/2006/relationships/tags" Target="../tags/tag726.xml"/><Relationship Id="rId20" Type="http://schemas.openxmlformats.org/officeDocument/2006/relationships/tags" Target="../tags/tag727.xml"/><Relationship Id="rId21" Type="http://schemas.openxmlformats.org/officeDocument/2006/relationships/tags" Target="../tags/tag728.xml"/><Relationship Id="rId22"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tags" Target="../tags/tag729.xml"/><Relationship Id="rId3" Type="http://schemas.openxmlformats.org/officeDocument/2006/relationships/tags" Target="../tags/tag730.xml"/><Relationship Id="rId4" Type="http://schemas.openxmlformats.org/officeDocument/2006/relationships/tags" Target="../tags/tag731.xml"/><Relationship Id="rId5" Type="http://schemas.openxmlformats.org/officeDocument/2006/relationships/tags" Target="../tags/tag732.xml"/><Relationship Id="rId6" Type="http://schemas.openxmlformats.org/officeDocument/2006/relationships/tags" Target="../tags/tag733.xml"/><Relationship Id="rId7" Type="http://schemas.openxmlformats.org/officeDocument/2006/relationships/tags" Target="../tags/tag734.xml"/><Relationship Id="rId8" Type="http://schemas.openxmlformats.org/officeDocument/2006/relationships/tags" Target="../tags/tag735.xml"/><Relationship Id="rId9" Type="http://schemas.openxmlformats.org/officeDocument/2006/relationships/tags" Target="../tags/tag736.xml"/><Relationship Id="rId10" Type="http://schemas.openxmlformats.org/officeDocument/2006/relationships/tags" Target="../tags/tag737.xml"/><Relationship Id="rId11" Type="http://schemas.openxmlformats.org/officeDocument/2006/relationships/tags" Target="../tags/tag738.xml"/><Relationship Id="rId12" Type="http://schemas.openxmlformats.org/officeDocument/2006/relationships/tags" Target="../tags/tag739.xml"/><Relationship Id="rId13" Type="http://schemas.openxmlformats.org/officeDocument/2006/relationships/tags" Target="../tags/tag740.xml"/><Relationship Id="rId14" Type="http://schemas.openxmlformats.org/officeDocument/2006/relationships/tags" Target="../tags/tag741.xml"/><Relationship Id="rId15" Type="http://schemas.openxmlformats.org/officeDocument/2006/relationships/tags" Target="../tags/tag742.xml"/><Relationship Id="rId16" Type="http://schemas.openxmlformats.org/officeDocument/2006/relationships/tags" Target="../tags/tag743.xml"/><Relationship Id="rId17" Type="http://schemas.openxmlformats.org/officeDocument/2006/relationships/tags" Target="../tags/tag744.xml"/><Relationship Id="rId18" Type="http://schemas.openxmlformats.org/officeDocument/2006/relationships/tags" Target="../tags/tag745.xml"/><Relationship Id="rId19"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tags" Target="../tags/tag746.xml"/><Relationship Id="rId2" Type="http://schemas.openxmlformats.org/officeDocument/2006/relationships/tags" Target="../tags/tag747.xml"/><Relationship Id="rId3" Type="http://schemas.openxmlformats.org/officeDocument/2006/relationships/tags" Target="../tags/tag748.xml"/><Relationship Id="rId4" Type="http://schemas.openxmlformats.org/officeDocument/2006/relationships/tags" Target="../tags/tag749.xml"/><Relationship Id="rId5" Type="http://schemas.openxmlformats.org/officeDocument/2006/relationships/tags" Target="../tags/tag750.xml"/><Relationship Id="rId6" Type="http://schemas.openxmlformats.org/officeDocument/2006/relationships/tags" Target="../tags/tag751.xml"/><Relationship Id="rId7" Type="http://schemas.openxmlformats.org/officeDocument/2006/relationships/tags" Target="../tags/tag752.xml"/><Relationship Id="rId8" Type="http://schemas.openxmlformats.org/officeDocument/2006/relationships/tags" Target="../tags/tag753.xml"/><Relationship Id="rId9" Type="http://schemas.openxmlformats.org/officeDocument/2006/relationships/tags" Target="../tags/tag754.xml"/><Relationship Id="rId10" Type="http://schemas.openxmlformats.org/officeDocument/2006/relationships/tags" Target="../tags/tag755.xml"/><Relationship Id="rId11" Type="http://schemas.openxmlformats.org/officeDocument/2006/relationships/tags" Target="../tags/tag756.xml"/><Relationship Id="rId12" Type="http://schemas.openxmlformats.org/officeDocument/2006/relationships/tags" Target="../tags/tag757.xml"/><Relationship Id="rId13" Type="http://schemas.openxmlformats.org/officeDocument/2006/relationships/tags" Target="../tags/tag758.xml"/><Relationship Id="rId14" Type="http://schemas.openxmlformats.org/officeDocument/2006/relationships/tags" Target="../tags/tag759.xml"/><Relationship Id="rId15" Type="http://schemas.openxmlformats.org/officeDocument/2006/relationships/tags" Target="../tags/tag760.xml"/><Relationship Id="rId16" Type="http://schemas.openxmlformats.org/officeDocument/2006/relationships/tags" Target="../tags/tag761.xml"/><Relationship Id="rId17" Type="http://schemas.openxmlformats.org/officeDocument/2006/relationships/image" Target="../media/image6.png"/><Relationship Id="rId18" Type="http://schemas.openxmlformats.org/officeDocument/2006/relationships/image" Target="../media/image29.svg"/><Relationship Id="rId19" Type="http://schemas.openxmlformats.org/officeDocument/2006/relationships/tags" Target="../tags/tag762.xml"/><Relationship Id="rId20" Type="http://schemas.openxmlformats.org/officeDocument/2006/relationships/image" Target="../media/image34.png"/><Relationship Id="rId21" Type="http://schemas.openxmlformats.org/officeDocument/2006/relationships/image" Target="../media/image30.svg"/><Relationship Id="rId22" Type="http://schemas.openxmlformats.org/officeDocument/2006/relationships/tags" Target="../tags/tag763.xml"/><Relationship Id="rId23" Type="http://schemas.openxmlformats.org/officeDocument/2006/relationships/image" Target="../media/image35.png"/><Relationship Id="rId24" Type="http://schemas.openxmlformats.org/officeDocument/2006/relationships/image" Target="../media/image31.svg"/><Relationship Id="rId25" Type="http://schemas.openxmlformats.org/officeDocument/2006/relationships/tags" Target="../tags/tag764.xml"/><Relationship Id="rId26" Type="http://schemas.openxmlformats.org/officeDocument/2006/relationships/image" Target="../media/image36.png"/><Relationship Id="rId27" Type="http://schemas.openxmlformats.org/officeDocument/2006/relationships/image" Target="../media/image32.svg"/><Relationship Id="rId28" Type="http://schemas.openxmlformats.org/officeDocument/2006/relationships/tags" Target="../tags/tag765.xml"/><Relationship Id="rId29"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tags" Target="../tags/tag766.xml"/><Relationship Id="rId2" Type="http://schemas.openxmlformats.org/officeDocument/2006/relationships/tags" Target="../tags/tag767.xml"/><Relationship Id="rId3" Type="http://schemas.openxmlformats.org/officeDocument/2006/relationships/tags" Target="../tags/tag768.xml"/><Relationship Id="rId4" Type="http://schemas.openxmlformats.org/officeDocument/2006/relationships/tags" Target="../tags/tag769.xml"/><Relationship Id="rId5" Type="http://schemas.openxmlformats.org/officeDocument/2006/relationships/tags" Target="../tags/tag770.xml"/><Relationship Id="rId6" Type="http://schemas.openxmlformats.org/officeDocument/2006/relationships/tags" Target="../tags/tag771.xml"/><Relationship Id="rId7" Type="http://schemas.openxmlformats.org/officeDocument/2006/relationships/tags" Target="../tags/tag772.xml"/><Relationship Id="rId8" Type="http://schemas.openxmlformats.org/officeDocument/2006/relationships/tags" Target="../tags/tag773.xml"/><Relationship Id="rId9" Type="http://schemas.openxmlformats.org/officeDocument/2006/relationships/tags" Target="../tags/tag774.xml"/><Relationship Id="rId10" Type="http://schemas.openxmlformats.org/officeDocument/2006/relationships/tags" Target="../tags/tag775.xml"/><Relationship Id="rId11" Type="http://schemas.openxmlformats.org/officeDocument/2006/relationships/tags" Target="../tags/tag776.xml"/><Relationship Id="rId12" Type="http://schemas.openxmlformats.org/officeDocument/2006/relationships/tags" Target="../tags/tag777.xml"/><Relationship Id="rId13" Type="http://schemas.openxmlformats.org/officeDocument/2006/relationships/tags" Target="../tags/tag778.xml"/><Relationship Id="rId14" Type="http://schemas.openxmlformats.org/officeDocument/2006/relationships/tags" Target="../tags/tag779.xml"/><Relationship Id="rId15" Type="http://schemas.openxmlformats.org/officeDocument/2006/relationships/tags" Target="../tags/tag780.xml"/><Relationship Id="rId16" Type="http://schemas.openxmlformats.org/officeDocument/2006/relationships/tags" Target="../tags/tag781.xml"/><Relationship Id="rId17" Type="http://schemas.openxmlformats.org/officeDocument/2006/relationships/tags" Target="../tags/tag782.xml"/><Relationship Id="rId18" Type="http://schemas.openxmlformats.org/officeDocument/2006/relationships/tags" Target="../tags/tag783.xml"/><Relationship Id="rId19" Type="http://schemas.openxmlformats.org/officeDocument/2006/relationships/tags" Target="../tags/tag784.xml"/><Relationship Id="rId20"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tags" Target="../tags/tag785.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tags" Target="../tags/tag786.xml"/><Relationship Id="rId8"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tags" Target="../tags/tag787.xml"/><Relationship Id="rId2" Type="http://schemas.openxmlformats.org/officeDocument/2006/relationships/tags" Target="../tags/tag788.xml"/><Relationship Id="rId3" Type="http://schemas.openxmlformats.org/officeDocument/2006/relationships/tags" Target="../tags/tag789.xml"/><Relationship Id="rId4" Type="http://schemas.openxmlformats.org/officeDocument/2006/relationships/tags" Target="../tags/tag790.xml"/><Relationship Id="rId5" Type="http://schemas.openxmlformats.org/officeDocument/2006/relationships/tags" Target="../tags/tag791.xml"/><Relationship Id="rId6" Type="http://schemas.openxmlformats.org/officeDocument/2006/relationships/tags" Target="../tags/tag792.xml"/><Relationship Id="rId7" Type="http://schemas.openxmlformats.org/officeDocument/2006/relationships/tags" Target="../tags/tag793.xml"/><Relationship Id="rId8" Type="http://schemas.openxmlformats.org/officeDocument/2006/relationships/tags" Target="../tags/tag794.xml"/><Relationship Id="rId9" Type="http://schemas.openxmlformats.org/officeDocument/2006/relationships/tags" Target="../tags/tag795.xml"/><Relationship Id="rId10" Type="http://schemas.openxmlformats.org/officeDocument/2006/relationships/tags" Target="../tags/tag796.xml"/><Relationship Id="rId11" Type="http://schemas.openxmlformats.org/officeDocument/2006/relationships/tags" Target="../tags/tag797.xml"/><Relationship Id="rId12" Type="http://schemas.openxmlformats.org/officeDocument/2006/relationships/tags" Target="../tags/tag798.xml"/><Relationship Id="rId13" Type="http://schemas.openxmlformats.org/officeDocument/2006/relationships/tags" Target="../tags/tag799.xml"/><Relationship Id="rId14" Type="http://schemas.openxmlformats.org/officeDocument/2006/relationships/tags" Target="../tags/tag800.xml"/><Relationship Id="rId15" Type="http://schemas.openxmlformats.org/officeDocument/2006/relationships/tags" Target="../tags/tag801.xml"/><Relationship Id="rId16" Type="http://schemas.openxmlformats.org/officeDocument/2006/relationships/tags" Target="../tags/tag802.xml"/><Relationship Id="rId17" Type="http://schemas.openxmlformats.org/officeDocument/2006/relationships/tags" Target="../tags/tag803.xml"/><Relationship Id="rId18" Type="http://schemas.openxmlformats.org/officeDocument/2006/relationships/tags" Target="../tags/tag804.xml"/><Relationship Id="rId19" Type="http://schemas.openxmlformats.org/officeDocument/2006/relationships/tags" Target="../tags/tag805.xml"/><Relationship Id="rId20" Type="http://schemas.openxmlformats.org/officeDocument/2006/relationships/tags" Target="../tags/tag806.xml"/><Relationship Id="rId21" Type="http://schemas.openxmlformats.org/officeDocument/2006/relationships/tags" Target="../tags/tag807.xml"/><Relationship Id="rId22" Type="http://schemas.openxmlformats.org/officeDocument/2006/relationships/tags" Target="../tags/tag808.xml"/><Relationship Id="rId23"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tags" Target="../tags/tag809.xml"/><Relationship Id="rId2" Type="http://schemas.openxmlformats.org/officeDocument/2006/relationships/tags" Target="../tags/tag810.xml"/><Relationship Id="rId3" Type="http://schemas.openxmlformats.org/officeDocument/2006/relationships/tags" Target="../tags/tag811.xml"/><Relationship Id="rId4" Type="http://schemas.openxmlformats.org/officeDocument/2006/relationships/tags" Target="../tags/tag812.xml"/><Relationship Id="rId5" Type="http://schemas.openxmlformats.org/officeDocument/2006/relationships/tags" Target="../tags/tag813.xml"/><Relationship Id="rId6" Type="http://schemas.openxmlformats.org/officeDocument/2006/relationships/tags" Target="../tags/tag814.xml"/><Relationship Id="rId7" Type="http://schemas.openxmlformats.org/officeDocument/2006/relationships/tags" Target="../tags/tag815.xml"/><Relationship Id="rId8" Type="http://schemas.openxmlformats.org/officeDocument/2006/relationships/tags" Target="../tags/tag816.xml"/><Relationship Id="rId9" Type="http://schemas.openxmlformats.org/officeDocument/2006/relationships/tags" Target="../tags/tag817.xml"/><Relationship Id="rId10" Type="http://schemas.openxmlformats.org/officeDocument/2006/relationships/tags" Target="../tags/tag818.xml"/><Relationship Id="rId11" Type="http://schemas.openxmlformats.org/officeDocument/2006/relationships/tags" Target="../tags/tag819.xml"/><Relationship Id="rId12" Type="http://schemas.openxmlformats.org/officeDocument/2006/relationships/tags" Target="../tags/tag820.xml"/><Relationship Id="rId13" Type="http://schemas.openxmlformats.org/officeDocument/2006/relationships/tags" Target="../tags/tag821.xml"/><Relationship Id="rId14" Type="http://schemas.openxmlformats.org/officeDocument/2006/relationships/tags" Target="../tags/tag822.xml"/><Relationship Id="rId15" Type="http://schemas.openxmlformats.org/officeDocument/2006/relationships/tags" Target="../tags/tag823.xml"/><Relationship Id="rId16" Type="http://schemas.openxmlformats.org/officeDocument/2006/relationships/tags" Target="../tags/tag824.xml"/><Relationship Id="rId17" Type="http://schemas.openxmlformats.org/officeDocument/2006/relationships/tags" Target="../tags/tag825.xml"/><Relationship Id="rId18" Type="http://schemas.openxmlformats.org/officeDocument/2006/relationships/tags" Target="../tags/tag826.xml"/><Relationship Id="rId19" Type="http://schemas.openxmlformats.org/officeDocument/2006/relationships/tags" Target="../tags/tag827.xml"/><Relationship Id="rId20" Type="http://schemas.openxmlformats.org/officeDocument/2006/relationships/tags" Target="../tags/tag828.xml"/><Relationship Id="rId21" Type="http://schemas.openxmlformats.org/officeDocument/2006/relationships/tags" Target="../tags/tag829.xml"/><Relationship Id="rId22" Type="http://schemas.openxmlformats.org/officeDocument/2006/relationships/tags" Target="../tags/tag830.xml"/><Relationship Id="rId23" Type="http://schemas.openxmlformats.org/officeDocument/2006/relationships/slideLayout" Target="../slideLayouts/slideLayout1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4"/>
          <p:cNvGrpSpPr/>
          <p:nvPr>
            <p:custDataLst>
              <p:tags r:id="rId1"/>
            </p:custDataLst>
          </p:nvPr>
        </p:nvGrpSpPr>
        <p:grpSpPr>
          <a:xfrm>
            <a:off x="5359400" y="3048635"/>
            <a:ext cx="1534795" cy="1534795"/>
            <a:chOff x="5328603" y="3130427"/>
            <a:chExt cx="1534794" cy="1534794"/>
          </a:xfrm>
        </p:grpSpPr>
        <p:sp>
          <p:nvSpPr>
            <p:cNvPr id="26" name="PA-椭圆 5"/>
            <p:cNvSpPr/>
            <p:nvPr>
              <p:custDataLst>
                <p:tags r:id="rId2"/>
              </p:custDataLst>
            </p:nvPr>
          </p:nvSpPr>
          <p:spPr>
            <a:xfrm>
              <a:off x="5328603" y="3130427"/>
              <a:ext cx="1534794" cy="1534794"/>
            </a:xfrm>
            <a:prstGeom prst="ellipse">
              <a:avLst/>
            </a:prstGeom>
            <a:solidFill>
              <a:srgbClr val="FFFFFF"/>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sp>
          <p:nvSpPr>
            <p:cNvPr id="27" name="PA-任意多边形 80"/>
            <p:cNvSpPr>
              <a:spLocks noEditPoints="1"/>
            </p:cNvSpPr>
            <p:nvPr>
              <p:custDataLst>
                <p:tags r:id="rId3"/>
              </p:custDataLst>
            </p:nvPr>
          </p:nvSpPr>
          <p:spPr bwMode="auto">
            <a:xfrm>
              <a:off x="5794693" y="3597787"/>
              <a:ext cx="582295" cy="650240"/>
            </a:xfrm>
            <a:custGeom>
              <a:avLst/>
              <a:gdLst>
                <a:gd name="T0" fmla="*/ 139 w 145"/>
                <a:gd name="T1" fmla="*/ 5 h 162"/>
                <a:gd name="T2" fmla="*/ 123 w 145"/>
                <a:gd name="T3" fmla="*/ 5 h 162"/>
                <a:gd name="T4" fmla="*/ 118 w 145"/>
                <a:gd name="T5" fmla="*/ 0 h 162"/>
                <a:gd name="T6" fmla="*/ 31 w 145"/>
                <a:gd name="T7" fmla="*/ 0 h 162"/>
                <a:gd name="T8" fmla="*/ 27 w 145"/>
                <a:gd name="T9" fmla="*/ 5 h 162"/>
                <a:gd name="T10" fmla="*/ 5 w 145"/>
                <a:gd name="T11" fmla="*/ 5 h 162"/>
                <a:gd name="T12" fmla="*/ 0 w 145"/>
                <a:gd name="T13" fmla="*/ 11 h 162"/>
                <a:gd name="T14" fmla="*/ 0 w 145"/>
                <a:gd name="T15" fmla="*/ 31 h 162"/>
                <a:gd name="T16" fmla="*/ 64 w 145"/>
                <a:gd name="T17" fmla="*/ 91 h 162"/>
                <a:gd name="T18" fmla="*/ 64 w 145"/>
                <a:gd name="T19" fmla="*/ 124 h 162"/>
                <a:gd name="T20" fmla="*/ 39 w 145"/>
                <a:gd name="T21" fmla="*/ 131 h 162"/>
                <a:gd name="T22" fmla="*/ 36 w 145"/>
                <a:gd name="T23" fmla="*/ 135 h 162"/>
                <a:gd name="T24" fmla="*/ 36 w 145"/>
                <a:gd name="T25" fmla="*/ 139 h 162"/>
                <a:gd name="T26" fmla="*/ 31 w 145"/>
                <a:gd name="T27" fmla="*/ 143 h 162"/>
                <a:gd name="T28" fmla="*/ 27 w 145"/>
                <a:gd name="T29" fmla="*/ 148 h 162"/>
                <a:gd name="T30" fmla="*/ 27 w 145"/>
                <a:gd name="T31" fmla="*/ 157 h 162"/>
                <a:gd name="T32" fmla="*/ 31 w 145"/>
                <a:gd name="T33" fmla="*/ 162 h 162"/>
                <a:gd name="T34" fmla="*/ 113 w 145"/>
                <a:gd name="T35" fmla="*/ 162 h 162"/>
                <a:gd name="T36" fmla="*/ 118 w 145"/>
                <a:gd name="T37" fmla="*/ 157 h 162"/>
                <a:gd name="T38" fmla="*/ 118 w 145"/>
                <a:gd name="T39" fmla="*/ 148 h 162"/>
                <a:gd name="T40" fmla="*/ 113 w 145"/>
                <a:gd name="T41" fmla="*/ 143 h 162"/>
                <a:gd name="T42" fmla="*/ 108 w 145"/>
                <a:gd name="T43" fmla="*/ 139 h 162"/>
                <a:gd name="T44" fmla="*/ 108 w 145"/>
                <a:gd name="T45" fmla="*/ 135 h 162"/>
                <a:gd name="T46" fmla="*/ 106 w 145"/>
                <a:gd name="T47" fmla="*/ 131 h 162"/>
                <a:gd name="T48" fmla="*/ 80 w 145"/>
                <a:gd name="T49" fmla="*/ 124 h 162"/>
                <a:gd name="T50" fmla="*/ 80 w 145"/>
                <a:gd name="T51" fmla="*/ 91 h 162"/>
                <a:gd name="T52" fmla="*/ 145 w 145"/>
                <a:gd name="T53" fmla="*/ 31 h 162"/>
                <a:gd name="T54" fmla="*/ 145 w 145"/>
                <a:gd name="T55" fmla="*/ 11 h 162"/>
                <a:gd name="T56" fmla="*/ 139 w 145"/>
                <a:gd name="T57" fmla="*/ 5 h 162"/>
                <a:gd name="T58" fmla="*/ 9 w 145"/>
                <a:gd name="T59" fmla="*/ 28 h 162"/>
                <a:gd name="T60" fmla="*/ 9 w 145"/>
                <a:gd name="T61" fmla="*/ 21 h 162"/>
                <a:gd name="T62" fmla="*/ 15 w 145"/>
                <a:gd name="T63" fmla="*/ 16 h 162"/>
                <a:gd name="T64" fmla="*/ 27 w 145"/>
                <a:gd name="T65" fmla="*/ 16 h 162"/>
                <a:gd name="T66" fmla="*/ 36 w 145"/>
                <a:gd name="T67" fmla="*/ 60 h 162"/>
                <a:gd name="T68" fmla="*/ 9 w 145"/>
                <a:gd name="T69" fmla="*/ 28 h 162"/>
                <a:gd name="T70" fmla="*/ 135 w 145"/>
                <a:gd name="T71" fmla="*/ 28 h 162"/>
                <a:gd name="T72" fmla="*/ 108 w 145"/>
                <a:gd name="T73" fmla="*/ 60 h 162"/>
                <a:gd name="T74" fmla="*/ 117 w 145"/>
                <a:gd name="T75" fmla="*/ 16 h 162"/>
                <a:gd name="T76" fmla="*/ 129 w 145"/>
                <a:gd name="T77" fmla="*/ 16 h 162"/>
                <a:gd name="T78" fmla="*/ 135 w 145"/>
                <a:gd name="T79" fmla="*/ 21 h 162"/>
                <a:gd name="T80" fmla="*/ 135 w 145"/>
                <a:gd name="T81" fmla="*/ 2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5" h="162">
                  <a:moveTo>
                    <a:pt x="139" y="5"/>
                  </a:moveTo>
                  <a:cubicBezTo>
                    <a:pt x="123" y="5"/>
                    <a:pt x="123" y="5"/>
                    <a:pt x="123" y="5"/>
                  </a:cubicBezTo>
                  <a:cubicBezTo>
                    <a:pt x="120" y="5"/>
                    <a:pt x="118" y="3"/>
                    <a:pt x="118" y="0"/>
                  </a:cubicBezTo>
                  <a:cubicBezTo>
                    <a:pt x="31" y="0"/>
                    <a:pt x="31" y="0"/>
                    <a:pt x="31" y="0"/>
                  </a:cubicBezTo>
                  <a:cubicBezTo>
                    <a:pt x="29" y="0"/>
                    <a:pt x="27" y="2"/>
                    <a:pt x="27" y="5"/>
                  </a:cubicBezTo>
                  <a:cubicBezTo>
                    <a:pt x="5" y="5"/>
                    <a:pt x="5" y="5"/>
                    <a:pt x="5" y="5"/>
                  </a:cubicBezTo>
                  <a:cubicBezTo>
                    <a:pt x="2" y="5"/>
                    <a:pt x="0" y="8"/>
                    <a:pt x="0" y="11"/>
                  </a:cubicBezTo>
                  <a:cubicBezTo>
                    <a:pt x="0" y="31"/>
                    <a:pt x="0" y="31"/>
                    <a:pt x="0" y="31"/>
                  </a:cubicBezTo>
                  <a:cubicBezTo>
                    <a:pt x="0" y="59"/>
                    <a:pt x="46" y="83"/>
                    <a:pt x="64" y="91"/>
                  </a:cubicBezTo>
                  <a:cubicBezTo>
                    <a:pt x="64" y="124"/>
                    <a:pt x="64" y="124"/>
                    <a:pt x="64" y="124"/>
                  </a:cubicBezTo>
                  <a:cubicBezTo>
                    <a:pt x="64" y="124"/>
                    <a:pt x="50" y="126"/>
                    <a:pt x="39" y="131"/>
                  </a:cubicBezTo>
                  <a:cubicBezTo>
                    <a:pt x="37" y="132"/>
                    <a:pt x="36" y="133"/>
                    <a:pt x="36" y="135"/>
                  </a:cubicBezTo>
                  <a:cubicBezTo>
                    <a:pt x="36" y="139"/>
                    <a:pt x="36" y="139"/>
                    <a:pt x="36" y="139"/>
                  </a:cubicBezTo>
                  <a:cubicBezTo>
                    <a:pt x="36" y="141"/>
                    <a:pt x="34" y="143"/>
                    <a:pt x="31" y="143"/>
                  </a:cubicBezTo>
                  <a:cubicBezTo>
                    <a:pt x="29" y="143"/>
                    <a:pt x="27" y="145"/>
                    <a:pt x="27" y="148"/>
                  </a:cubicBezTo>
                  <a:cubicBezTo>
                    <a:pt x="27" y="157"/>
                    <a:pt x="27" y="157"/>
                    <a:pt x="27" y="157"/>
                  </a:cubicBezTo>
                  <a:cubicBezTo>
                    <a:pt x="27" y="160"/>
                    <a:pt x="29" y="162"/>
                    <a:pt x="31" y="162"/>
                  </a:cubicBezTo>
                  <a:cubicBezTo>
                    <a:pt x="113" y="162"/>
                    <a:pt x="113" y="162"/>
                    <a:pt x="113" y="162"/>
                  </a:cubicBezTo>
                  <a:cubicBezTo>
                    <a:pt x="116" y="162"/>
                    <a:pt x="118" y="160"/>
                    <a:pt x="118" y="157"/>
                  </a:cubicBezTo>
                  <a:cubicBezTo>
                    <a:pt x="118" y="148"/>
                    <a:pt x="118" y="148"/>
                    <a:pt x="118" y="148"/>
                  </a:cubicBezTo>
                  <a:cubicBezTo>
                    <a:pt x="118" y="145"/>
                    <a:pt x="116" y="143"/>
                    <a:pt x="113" y="143"/>
                  </a:cubicBezTo>
                  <a:cubicBezTo>
                    <a:pt x="110" y="143"/>
                    <a:pt x="108" y="141"/>
                    <a:pt x="108" y="139"/>
                  </a:cubicBezTo>
                  <a:cubicBezTo>
                    <a:pt x="108" y="135"/>
                    <a:pt x="108" y="135"/>
                    <a:pt x="108" y="135"/>
                  </a:cubicBezTo>
                  <a:cubicBezTo>
                    <a:pt x="108" y="133"/>
                    <a:pt x="107" y="132"/>
                    <a:pt x="106" y="131"/>
                  </a:cubicBezTo>
                  <a:cubicBezTo>
                    <a:pt x="95" y="126"/>
                    <a:pt x="80" y="124"/>
                    <a:pt x="80" y="124"/>
                  </a:cubicBezTo>
                  <a:cubicBezTo>
                    <a:pt x="80" y="91"/>
                    <a:pt x="80" y="91"/>
                    <a:pt x="80" y="91"/>
                  </a:cubicBezTo>
                  <a:cubicBezTo>
                    <a:pt x="99" y="83"/>
                    <a:pt x="145" y="59"/>
                    <a:pt x="145" y="31"/>
                  </a:cubicBezTo>
                  <a:cubicBezTo>
                    <a:pt x="145" y="11"/>
                    <a:pt x="145" y="11"/>
                    <a:pt x="145" y="11"/>
                  </a:cubicBezTo>
                  <a:cubicBezTo>
                    <a:pt x="145" y="8"/>
                    <a:pt x="142" y="5"/>
                    <a:pt x="139" y="5"/>
                  </a:cubicBezTo>
                  <a:close/>
                  <a:moveTo>
                    <a:pt x="9" y="28"/>
                  </a:moveTo>
                  <a:cubicBezTo>
                    <a:pt x="9" y="21"/>
                    <a:pt x="9" y="21"/>
                    <a:pt x="9" y="21"/>
                  </a:cubicBezTo>
                  <a:cubicBezTo>
                    <a:pt x="9" y="18"/>
                    <a:pt x="12" y="16"/>
                    <a:pt x="15" y="16"/>
                  </a:cubicBezTo>
                  <a:cubicBezTo>
                    <a:pt x="27" y="16"/>
                    <a:pt x="27" y="16"/>
                    <a:pt x="27" y="16"/>
                  </a:cubicBezTo>
                  <a:cubicBezTo>
                    <a:pt x="27" y="16"/>
                    <a:pt x="28" y="47"/>
                    <a:pt x="36" y="60"/>
                  </a:cubicBezTo>
                  <a:cubicBezTo>
                    <a:pt x="36" y="60"/>
                    <a:pt x="9" y="49"/>
                    <a:pt x="9" y="28"/>
                  </a:cubicBezTo>
                  <a:close/>
                  <a:moveTo>
                    <a:pt x="135" y="28"/>
                  </a:moveTo>
                  <a:cubicBezTo>
                    <a:pt x="135" y="49"/>
                    <a:pt x="108" y="60"/>
                    <a:pt x="108" y="60"/>
                  </a:cubicBezTo>
                  <a:cubicBezTo>
                    <a:pt x="117" y="47"/>
                    <a:pt x="117" y="16"/>
                    <a:pt x="117" y="16"/>
                  </a:cubicBezTo>
                  <a:cubicBezTo>
                    <a:pt x="129" y="16"/>
                    <a:pt x="129" y="16"/>
                    <a:pt x="129" y="16"/>
                  </a:cubicBezTo>
                  <a:cubicBezTo>
                    <a:pt x="133" y="16"/>
                    <a:pt x="135" y="18"/>
                    <a:pt x="135" y="21"/>
                  </a:cubicBezTo>
                  <a:lnTo>
                    <a:pt x="135" y="28"/>
                  </a:ln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grpSp>
      <p:sp>
        <p:nvSpPr>
          <p:cNvPr id="8" name="PA-椭圆 76"/>
          <p:cNvSpPr>
            <a:spLocks noChangeArrowheads="1"/>
          </p:cNvSpPr>
          <p:nvPr>
            <p:custDataLst>
              <p:tags r:id="rId4"/>
            </p:custDataLst>
          </p:nvPr>
        </p:nvSpPr>
        <p:spPr bwMode="auto">
          <a:xfrm>
            <a:off x="4177030" y="1855470"/>
            <a:ext cx="1153795" cy="11557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9" name="PA-椭圆 74"/>
          <p:cNvSpPr>
            <a:spLocks noChangeArrowheads="1"/>
          </p:cNvSpPr>
          <p:nvPr>
            <p:custDataLst>
              <p:tags r:id="rId5"/>
            </p:custDataLst>
          </p:nvPr>
        </p:nvSpPr>
        <p:spPr bwMode="auto">
          <a:xfrm>
            <a:off x="3342640" y="3241040"/>
            <a:ext cx="1159510" cy="115570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0" name="PA-椭圆 75"/>
          <p:cNvSpPr>
            <a:spLocks noChangeArrowheads="1"/>
          </p:cNvSpPr>
          <p:nvPr>
            <p:custDataLst>
              <p:tags r:id="rId6"/>
            </p:custDataLst>
          </p:nvPr>
        </p:nvSpPr>
        <p:spPr bwMode="auto">
          <a:xfrm>
            <a:off x="4177030" y="4625340"/>
            <a:ext cx="1153795" cy="115951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1" name="PA-椭圆 83"/>
          <p:cNvSpPr>
            <a:spLocks noChangeArrowheads="1"/>
          </p:cNvSpPr>
          <p:nvPr>
            <p:custDataLst>
              <p:tags r:id="rId7"/>
            </p:custDataLst>
          </p:nvPr>
        </p:nvSpPr>
        <p:spPr bwMode="auto">
          <a:xfrm>
            <a:off x="6922135" y="1855470"/>
            <a:ext cx="1153795" cy="115570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2" name="PA-椭圆 81"/>
          <p:cNvSpPr>
            <a:spLocks noChangeArrowheads="1"/>
          </p:cNvSpPr>
          <p:nvPr>
            <p:custDataLst>
              <p:tags r:id="rId8"/>
            </p:custDataLst>
          </p:nvPr>
        </p:nvSpPr>
        <p:spPr bwMode="auto">
          <a:xfrm>
            <a:off x="7750810" y="3241040"/>
            <a:ext cx="1159510" cy="11557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3" name="PA-椭圆 82"/>
          <p:cNvSpPr>
            <a:spLocks noChangeArrowheads="1"/>
          </p:cNvSpPr>
          <p:nvPr>
            <p:custDataLst>
              <p:tags r:id="rId9"/>
            </p:custDataLst>
          </p:nvPr>
        </p:nvSpPr>
        <p:spPr bwMode="auto">
          <a:xfrm>
            <a:off x="6922135" y="4625340"/>
            <a:ext cx="1153795" cy="115951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4" name="PA-任意多边形 14"/>
          <p:cNvSpPr/>
          <p:nvPr>
            <p:custDataLst>
              <p:tags r:id="rId10"/>
            </p:custDataLst>
          </p:nvPr>
        </p:nvSpPr>
        <p:spPr bwMode="auto">
          <a:xfrm>
            <a:off x="4567555" y="3664585"/>
            <a:ext cx="1084580" cy="314960"/>
          </a:xfrm>
          <a:custGeom>
            <a:avLst/>
            <a:gdLst>
              <a:gd name="T0" fmla="*/ 881 w 881"/>
              <a:gd name="T1" fmla="*/ 129 h 257"/>
              <a:gd name="T2" fmla="*/ 831 w 881"/>
              <a:gd name="T3" fmla="*/ 79 h 257"/>
              <a:gd name="T4" fmla="*/ 170 w 881"/>
              <a:gd name="T5" fmla="*/ 79 h 257"/>
              <a:gd name="T6" fmla="*/ 170 w 881"/>
              <a:gd name="T7" fmla="*/ 0 h 257"/>
              <a:gd name="T8" fmla="*/ 0 w 881"/>
              <a:gd name="T9" fmla="*/ 129 h 257"/>
              <a:gd name="T10" fmla="*/ 170 w 881"/>
              <a:gd name="T11" fmla="*/ 257 h 257"/>
              <a:gd name="T12" fmla="*/ 170 w 881"/>
              <a:gd name="T13" fmla="*/ 178 h 257"/>
              <a:gd name="T14" fmla="*/ 831 w 881"/>
              <a:gd name="T15" fmla="*/ 178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881" y="100"/>
                  <a:pt x="860" y="79"/>
                  <a:pt x="831" y="79"/>
                </a:cubicBezTo>
                <a:cubicBezTo>
                  <a:pt x="170" y="79"/>
                  <a:pt x="170" y="79"/>
                  <a:pt x="170" y="79"/>
                </a:cubicBezTo>
                <a:cubicBezTo>
                  <a:pt x="170" y="0"/>
                  <a:pt x="170" y="0"/>
                  <a:pt x="170" y="0"/>
                </a:cubicBezTo>
                <a:cubicBezTo>
                  <a:pt x="0" y="129"/>
                  <a:pt x="0" y="129"/>
                  <a:pt x="0" y="129"/>
                </a:cubicBezTo>
                <a:cubicBezTo>
                  <a:pt x="170" y="257"/>
                  <a:pt x="170" y="257"/>
                  <a:pt x="170" y="257"/>
                </a:cubicBezTo>
                <a:cubicBezTo>
                  <a:pt x="170" y="178"/>
                  <a:pt x="170" y="178"/>
                  <a:pt x="170" y="178"/>
                </a:cubicBezTo>
                <a:cubicBezTo>
                  <a:pt x="831" y="178"/>
                  <a:pt x="831" y="178"/>
                  <a:pt x="831" y="178"/>
                </a:cubicBezTo>
                <a:cubicBezTo>
                  <a:pt x="861" y="178"/>
                  <a:pt x="881" y="153"/>
                  <a:pt x="881" y="129"/>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5" name="PA-任意多边形 15"/>
          <p:cNvSpPr/>
          <p:nvPr>
            <p:custDataLst>
              <p:tags r:id="rId11"/>
            </p:custDataLst>
          </p:nvPr>
        </p:nvSpPr>
        <p:spPr bwMode="auto">
          <a:xfrm>
            <a:off x="5280660" y="4226560"/>
            <a:ext cx="513715" cy="507365"/>
          </a:xfrm>
          <a:custGeom>
            <a:avLst/>
            <a:gdLst>
              <a:gd name="T0" fmla="*/ 401 w 417"/>
              <a:gd name="T1" fmla="*/ 20 h 413"/>
              <a:gd name="T2" fmla="*/ 330 w 417"/>
              <a:gd name="T3" fmla="*/ 20 h 413"/>
              <a:gd name="T4" fmla="*/ 87 w 417"/>
              <a:gd name="T5" fmla="*/ 259 h 413"/>
              <a:gd name="T6" fmla="*/ 30 w 417"/>
              <a:gd name="T7" fmla="*/ 203 h 413"/>
              <a:gd name="T8" fmla="*/ 0 w 417"/>
              <a:gd name="T9" fmla="*/ 413 h 413"/>
              <a:gd name="T10" fmla="*/ 213 w 417"/>
              <a:gd name="T11" fmla="*/ 383 h 413"/>
              <a:gd name="T12" fmla="*/ 159 w 417"/>
              <a:gd name="T13" fmla="*/ 329 h 413"/>
              <a:gd name="T14" fmla="*/ 401 w 417"/>
              <a:gd name="T15" fmla="*/ 91 h 413"/>
              <a:gd name="T16" fmla="*/ 417 w 417"/>
              <a:gd name="T17" fmla="*/ 52 h 413"/>
              <a:gd name="T18" fmla="*/ 401 w 417"/>
              <a:gd name="T19" fmla="*/ 2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401" y="20"/>
                </a:moveTo>
                <a:cubicBezTo>
                  <a:pt x="380" y="0"/>
                  <a:pt x="351" y="0"/>
                  <a:pt x="330" y="20"/>
                </a:cubicBezTo>
                <a:cubicBezTo>
                  <a:pt x="87" y="259"/>
                  <a:pt x="87" y="259"/>
                  <a:pt x="87" y="259"/>
                </a:cubicBezTo>
                <a:cubicBezTo>
                  <a:pt x="30" y="203"/>
                  <a:pt x="30" y="203"/>
                  <a:pt x="30" y="203"/>
                </a:cubicBezTo>
                <a:cubicBezTo>
                  <a:pt x="0" y="413"/>
                  <a:pt x="0" y="413"/>
                  <a:pt x="0" y="413"/>
                </a:cubicBezTo>
                <a:cubicBezTo>
                  <a:pt x="213" y="383"/>
                  <a:pt x="213" y="383"/>
                  <a:pt x="213" y="383"/>
                </a:cubicBezTo>
                <a:cubicBezTo>
                  <a:pt x="159" y="329"/>
                  <a:pt x="159" y="329"/>
                  <a:pt x="159" y="329"/>
                </a:cubicBezTo>
                <a:cubicBezTo>
                  <a:pt x="401" y="91"/>
                  <a:pt x="401" y="91"/>
                  <a:pt x="401" y="91"/>
                </a:cubicBezTo>
                <a:cubicBezTo>
                  <a:pt x="412" y="80"/>
                  <a:pt x="417" y="66"/>
                  <a:pt x="417" y="52"/>
                </a:cubicBezTo>
                <a:cubicBezTo>
                  <a:pt x="416" y="39"/>
                  <a:pt x="410" y="27"/>
                  <a:pt x="401" y="20"/>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6" name="PA-任意多边形 16"/>
          <p:cNvSpPr/>
          <p:nvPr>
            <p:custDataLst>
              <p:tags r:id="rId12"/>
            </p:custDataLst>
          </p:nvPr>
        </p:nvSpPr>
        <p:spPr bwMode="auto">
          <a:xfrm>
            <a:off x="5280660" y="2902585"/>
            <a:ext cx="513715" cy="504190"/>
          </a:xfrm>
          <a:custGeom>
            <a:avLst/>
            <a:gdLst>
              <a:gd name="T0" fmla="*/ 158 w 417"/>
              <a:gd name="T1" fmla="*/ 86 h 411"/>
              <a:gd name="T2" fmla="*/ 212 w 417"/>
              <a:gd name="T3" fmla="*/ 30 h 411"/>
              <a:gd name="T4" fmla="*/ 0 w 417"/>
              <a:gd name="T5" fmla="*/ 0 h 411"/>
              <a:gd name="T6" fmla="*/ 30 w 417"/>
              <a:gd name="T7" fmla="*/ 210 h 411"/>
              <a:gd name="T8" fmla="*/ 87 w 417"/>
              <a:gd name="T9" fmla="*/ 157 h 411"/>
              <a:gd name="T10" fmla="*/ 330 w 417"/>
              <a:gd name="T11" fmla="*/ 398 h 411"/>
              <a:gd name="T12" fmla="*/ 367 w 417"/>
              <a:gd name="T13" fmla="*/ 411 h 411"/>
              <a:gd name="T14" fmla="*/ 401 w 417"/>
              <a:gd name="T15" fmla="*/ 398 h 411"/>
              <a:gd name="T16" fmla="*/ 417 w 417"/>
              <a:gd name="T17" fmla="*/ 363 h 411"/>
              <a:gd name="T18" fmla="*/ 401 w 417"/>
              <a:gd name="T19" fmla="*/ 327 h 411"/>
              <a:gd name="T20" fmla="*/ 158 w 417"/>
              <a:gd name="T21" fmla="*/ 8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158" y="86"/>
                </a:moveTo>
                <a:cubicBezTo>
                  <a:pt x="212" y="30"/>
                  <a:pt x="212" y="30"/>
                  <a:pt x="212" y="30"/>
                </a:cubicBezTo>
                <a:cubicBezTo>
                  <a:pt x="0" y="0"/>
                  <a:pt x="0" y="0"/>
                  <a:pt x="0" y="0"/>
                </a:cubicBezTo>
                <a:cubicBezTo>
                  <a:pt x="30" y="210"/>
                  <a:pt x="30" y="210"/>
                  <a:pt x="30" y="210"/>
                </a:cubicBezTo>
                <a:cubicBezTo>
                  <a:pt x="87" y="157"/>
                  <a:pt x="87" y="157"/>
                  <a:pt x="87" y="157"/>
                </a:cubicBezTo>
                <a:cubicBezTo>
                  <a:pt x="330" y="398"/>
                  <a:pt x="330" y="398"/>
                  <a:pt x="330" y="398"/>
                </a:cubicBezTo>
                <a:cubicBezTo>
                  <a:pt x="339" y="407"/>
                  <a:pt x="351" y="411"/>
                  <a:pt x="367" y="411"/>
                </a:cubicBezTo>
                <a:cubicBezTo>
                  <a:pt x="380" y="411"/>
                  <a:pt x="393" y="406"/>
                  <a:pt x="401" y="398"/>
                </a:cubicBezTo>
                <a:cubicBezTo>
                  <a:pt x="411" y="388"/>
                  <a:pt x="417" y="376"/>
                  <a:pt x="417" y="363"/>
                </a:cubicBezTo>
                <a:cubicBezTo>
                  <a:pt x="417" y="350"/>
                  <a:pt x="411" y="337"/>
                  <a:pt x="401" y="327"/>
                </a:cubicBezTo>
                <a:lnTo>
                  <a:pt x="158" y="86"/>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7" name="PA-任意多边形 17"/>
          <p:cNvSpPr/>
          <p:nvPr>
            <p:custDataLst>
              <p:tags r:id="rId13"/>
            </p:custDataLst>
          </p:nvPr>
        </p:nvSpPr>
        <p:spPr bwMode="auto">
          <a:xfrm>
            <a:off x="6597650" y="3664585"/>
            <a:ext cx="1084580" cy="314960"/>
          </a:xfrm>
          <a:custGeom>
            <a:avLst/>
            <a:gdLst>
              <a:gd name="T0" fmla="*/ 881 w 881"/>
              <a:gd name="T1" fmla="*/ 129 h 257"/>
              <a:gd name="T2" fmla="*/ 711 w 881"/>
              <a:gd name="T3" fmla="*/ 0 h 257"/>
              <a:gd name="T4" fmla="*/ 711 w 881"/>
              <a:gd name="T5" fmla="*/ 79 h 257"/>
              <a:gd name="T6" fmla="*/ 50 w 881"/>
              <a:gd name="T7" fmla="*/ 79 h 257"/>
              <a:gd name="T8" fmla="*/ 0 w 881"/>
              <a:gd name="T9" fmla="*/ 129 h 257"/>
              <a:gd name="T10" fmla="*/ 50 w 881"/>
              <a:gd name="T11" fmla="*/ 178 h 257"/>
              <a:gd name="T12" fmla="*/ 711 w 881"/>
              <a:gd name="T13" fmla="*/ 178 h 257"/>
              <a:gd name="T14" fmla="*/ 711 w 881"/>
              <a:gd name="T15" fmla="*/ 257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711" y="0"/>
                  <a:pt x="711" y="0"/>
                  <a:pt x="711" y="0"/>
                </a:cubicBezTo>
                <a:cubicBezTo>
                  <a:pt x="711" y="79"/>
                  <a:pt x="711" y="79"/>
                  <a:pt x="711" y="79"/>
                </a:cubicBezTo>
                <a:cubicBezTo>
                  <a:pt x="50" y="79"/>
                  <a:pt x="50" y="79"/>
                  <a:pt x="50" y="79"/>
                </a:cubicBezTo>
                <a:cubicBezTo>
                  <a:pt x="21" y="79"/>
                  <a:pt x="0" y="100"/>
                  <a:pt x="0" y="129"/>
                </a:cubicBezTo>
                <a:cubicBezTo>
                  <a:pt x="0" y="153"/>
                  <a:pt x="20" y="178"/>
                  <a:pt x="50" y="178"/>
                </a:cubicBezTo>
                <a:cubicBezTo>
                  <a:pt x="711" y="178"/>
                  <a:pt x="711" y="178"/>
                  <a:pt x="711" y="178"/>
                </a:cubicBezTo>
                <a:cubicBezTo>
                  <a:pt x="711" y="257"/>
                  <a:pt x="711" y="257"/>
                  <a:pt x="711" y="257"/>
                </a:cubicBezTo>
                <a:lnTo>
                  <a:pt x="881" y="129"/>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8" name="PA-任意多边形 18"/>
          <p:cNvSpPr/>
          <p:nvPr>
            <p:custDataLst>
              <p:tags r:id="rId14"/>
            </p:custDataLst>
          </p:nvPr>
        </p:nvSpPr>
        <p:spPr bwMode="auto">
          <a:xfrm>
            <a:off x="6456045" y="4226560"/>
            <a:ext cx="513715" cy="507365"/>
          </a:xfrm>
          <a:custGeom>
            <a:avLst/>
            <a:gdLst>
              <a:gd name="T0" fmla="*/ 330 w 417"/>
              <a:gd name="T1" fmla="*/ 259 h 413"/>
              <a:gd name="T2" fmla="*/ 87 w 417"/>
              <a:gd name="T3" fmla="*/ 20 h 413"/>
              <a:gd name="T4" fmla="*/ 16 w 417"/>
              <a:gd name="T5" fmla="*/ 20 h 413"/>
              <a:gd name="T6" fmla="*/ 0 w 417"/>
              <a:gd name="T7" fmla="*/ 52 h 413"/>
              <a:gd name="T8" fmla="*/ 16 w 417"/>
              <a:gd name="T9" fmla="*/ 91 h 413"/>
              <a:gd name="T10" fmla="*/ 258 w 417"/>
              <a:gd name="T11" fmla="*/ 329 h 413"/>
              <a:gd name="T12" fmla="*/ 204 w 417"/>
              <a:gd name="T13" fmla="*/ 383 h 413"/>
              <a:gd name="T14" fmla="*/ 417 w 417"/>
              <a:gd name="T15" fmla="*/ 413 h 413"/>
              <a:gd name="T16" fmla="*/ 387 w 417"/>
              <a:gd name="T17" fmla="*/ 203 h 413"/>
              <a:gd name="T18" fmla="*/ 330 w 417"/>
              <a:gd name="T19" fmla="*/ 2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330" y="259"/>
                </a:moveTo>
                <a:cubicBezTo>
                  <a:pt x="87" y="20"/>
                  <a:pt x="87" y="20"/>
                  <a:pt x="87" y="20"/>
                </a:cubicBezTo>
                <a:cubicBezTo>
                  <a:pt x="66" y="0"/>
                  <a:pt x="37" y="0"/>
                  <a:pt x="16" y="20"/>
                </a:cubicBezTo>
                <a:cubicBezTo>
                  <a:pt x="7" y="27"/>
                  <a:pt x="1" y="39"/>
                  <a:pt x="0" y="52"/>
                </a:cubicBezTo>
                <a:cubicBezTo>
                  <a:pt x="0" y="66"/>
                  <a:pt x="5" y="80"/>
                  <a:pt x="16" y="91"/>
                </a:cubicBezTo>
                <a:cubicBezTo>
                  <a:pt x="258" y="329"/>
                  <a:pt x="258" y="329"/>
                  <a:pt x="258" y="329"/>
                </a:cubicBezTo>
                <a:cubicBezTo>
                  <a:pt x="204" y="383"/>
                  <a:pt x="204" y="383"/>
                  <a:pt x="204" y="383"/>
                </a:cubicBezTo>
                <a:cubicBezTo>
                  <a:pt x="417" y="413"/>
                  <a:pt x="417" y="413"/>
                  <a:pt x="417" y="413"/>
                </a:cubicBezTo>
                <a:cubicBezTo>
                  <a:pt x="387" y="203"/>
                  <a:pt x="387" y="203"/>
                  <a:pt x="387" y="203"/>
                </a:cubicBezTo>
                <a:lnTo>
                  <a:pt x="330" y="259"/>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9" name="PA-任意多边形 19"/>
          <p:cNvSpPr/>
          <p:nvPr>
            <p:custDataLst>
              <p:tags r:id="rId15"/>
            </p:custDataLst>
          </p:nvPr>
        </p:nvSpPr>
        <p:spPr bwMode="auto">
          <a:xfrm>
            <a:off x="6456045" y="2902585"/>
            <a:ext cx="513715" cy="504190"/>
          </a:xfrm>
          <a:custGeom>
            <a:avLst/>
            <a:gdLst>
              <a:gd name="T0" fmla="*/ 50 w 417"/>
              <a:gd name="T1" fmla="*/ 411 h 411"/>
              <a:gd name="T2" fmla="*/ 87 w 417"/>
              <a:gd name="T3" fmla="*/ 398 h 411"/>
              <a:gd name="T4" fmla="*/ 330 w 417"/>
              <a:gd name="T5" fmla="*/ 157 h 411"/>
              <a:gd name="T6" fmla="*/ 387 w 417"/>
              <a:gd name="T7" fmla="*/ 210 h 411"/>
              <a:gd name="T8" fmla="*/ 417 w 417"/>
              <a:gd name="T9" fmla="*/ 0 h 411"/>
              <a:gd name="T10" fmla="*/ 205 w 417"/>
              <a:gd name="T11" fmla="*/ 30 h 411"/>
              <a:gd name="T12" fmla="*/ 259 w 417"/>
              <a:gd name="T13" fmla="*/ 86 h 411"/>
              <a:gd name="T14" fmla="*/ 16 w 417"/>
              <a:gd name="T15" fmla="*/ 327 h 411"/>
              <a:gd name="T16" fmla="*/ 0 w 417"/>
              <a:gd name="T17" fmla="*/ 363 h 411"/>
              <a:gd name="T18" fmla="*/ 16 w 417"/>
              <a:gd name="T19" fmla="*/ 398 h 411"/>
              <a:gd name="T20" fmla="*/ 50 w 417"/>
              <a:gd name="T21" fmla="*/ 411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50" y="411"/>
                </a:moveTo>
                <a:cubicBezTo>
                  <a:pt x="66" y="411"/>
                  <a:pt x="78" y="407"/>
                  <a:pt x="87" y="398"/>
                </a:cubicBezTo>
                <a:cubicBezTo>
                  <a:pt x="330" y="157"/>
                  <a:pt x="330" y="157"/>
                  <a:pt x="330" y="157"/>
                </a:cubicBezTo>
                <a:cubicBezTo>
                  <a:pt x="387" y="210"/>
                  <a:pt x="387" y="210"/>
                  <a:pt x="387" y="210"/>
                </a:cubicBezTo>
                <a:cubicBezTo>
                  <a:pt x="417" y="0"/>
                  <a:pt x="417" y="0"/>
                  <a:pt x="417" y="0"/>
                </a:cubicBezTo>
                <a:cubicBezTo>
                  <a:pt x="205" y="30"/>
                  <a:pt x="205" y="30"/>
                  <a:pt x="205" y="30"/>
                </a:cubicBezTo>
                <a:cubicBezTo>
                  <a:pt x="259" y="86"/>
                  <a:pt x="259" y="86"/>
                  <a:pt x="259" y="86"/>
                </a:cubicBezTo>
                <a:cubicBezTo>
                  <a:pt x="16" y="327"/>
                  <a:pt x="16" y="327"/>
                  <a:pt x="16" y="327"/>
                </a:cubicBezTo>
                <a:cubicBezTo>
                  <a:pt x="6" y="337"/>
                  <a:pt x="0" y="350"/>
                  <a:pt x="0" y="363"/>
                </a:cubicBezTo>
                <a:cubicBezTo>
                  <a:pt x="0" y="376"/>
                  <a:pt x="6" y="388"/>
                  <a:pt x="16" y="398"/>
                </a:cubicBezTo>
                <a:cubicBezTo>
                  <a:pt x="24" y="406"/>
                  <a:pt x="37" y="411"/>
                  <a:pt x="50" y="411"/>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29" name="PA-文本框 13"/>
          <p:cNvSpPr txBox="1"/>
          <p:nvPr>
            <p:custDataLst>
              <p:tags r:id="rId16"/>
            </p:custDataLst>
          </p:nvPr>
        </p:nvSpPr>
        <p:spPr>
          <a:xfrm>
            <a:off x="8417560" y="1349375"/>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鲁棒性测试</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0" name="PA-矩形 29"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17"/>
            </p:custDataLst>
          </p:nvPr>
        </p:nvSpPr>
        <p:spPr>
          <a:xfrm>
            <a:off x="8390890" y="1896110"/>
            <a:ext cx="219202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测试模型对恶意样本混淆、加壳等对抗性技术的抵抗能力</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PA-文本框 13"/>
          <p:cNvSpPr txBox="1"/>
          <p:nvPr>
            <p:custDataLst>
              <p:tags r:id="rId18"/>
            </p:custDataLst>
          </p:nvPr>
        </p:nvSpPr>
        <p:spPr>
          <a:xfrm>
            <a:off x="8148955" y="4984750"/>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a:pPr>
            <a:r>
              <a:rPr lang="zh-CN" altLang="en-US" sz="2400" kern="0" dirty="0">
                <a:latin typeface="思源黑体 CN Medium" panose="020B0600000000000000" charset="-122"/>
                <a:ea typeface="思源黑体 CN Medium" panose="020B0600000000000000" charset="-122"/>
                <a:cs typeface="思源黑体 CN Regular" panose="020B0500000000000000" charset="-122"/>
                <a:sym typeface="+mn-lt"/>
              </a:rPr>
              <a:t>模型训练</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3" name="PA-矩形 32"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19"/>
            </p:custDataLst>
          </p:nvPr>
        </p:nvSpPr>
        <p:spPr>
          <a:xfrm>
            <a:off x="8160385" y="5531485"/>
            <a:ext cx="2662555"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训练并优化</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GNN/CNN</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模型，对比其在准确率、召回率、</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F1</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分数等指标上与传统方法的性能差异</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PA-文本框 13"/>
          <p:cNvSpPr txBox="1"/>
          <p:nvPr>
            <p:custDataLst>
              <p:tags r:id="rId20"/>
            </p:custDataLst>
          </p:nvPr>
        </p:nvSpPr>
        <p:spPr>
          <a:xfrm>
            <a:off x="9274175" y="3108960"/>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数据集构建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6" name="PA-矩形 35"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1"/>
            </p:custDataLst>
          </p:nvPr>
        </p:nvSpPr>
        <p:spPr>
          <a:xfrm>
            <a:off x="9247505" y="3656330"/>
            <a:ext cx="219202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收集和处理包含多个已知和未知变异家族的恶意样本库</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8" name="PA-文本框 13"/>
          <p:cNvSpPr txBox="1"/>
          <p:nvPr>
            <p:custDataLst>
              <p:tags r:id="rId22"/>
            </p:custDataLst>
          </p:nvPr>
        </p:nvSpPr>
        <p:spPr>
          <a:xfrm>
            <a:off x="1709420" y="1349375"/>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9" name="PA-矩形 38"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3"/>
            </p:custDataLst>
          </p:nvPr>
        </p:nvSpPr>
        <p:spPr>
          <a:xfrm>
            <a:off x="1181100" y="1896110"/>
            <a:ext cx="2720340"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本选题旨在应对恶意软件的快速变种和对抗攻击。内容包括：设计一种提取恶意代码行为特征图谱的方法；构建卷积神经网络深度学习模型</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1" name="PA-文本框 13"/>
          <p:cNvSpPr txBox="1"/>
          <p:nvPr>
            <p:custDataLst>
              <p:tags r:id="rId24"/>
            </p:custDataLst>
          </p:nvPr>
        </p:nvSpPr>
        <p:spPr>
          <a:xfrm>
            <a:off x="849630" y="3108960"/>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深度学习理论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2" name="PA-矩形 41"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5"/>
            </p:custDataLst>
          </p:nvPr>
        </p:nvSpPr>
        <p:spPr>
          <a:xfrm>
            <a:off x="849630" y="3656330"/>
            <a:ext cx="2192020"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采用</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GNN</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模型，利用图结构优势捕捉恶意程序家族间的结构相似性</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4" name="PA-文本框 13"/>
          <p:cNvSpPr txBox="1"/>
          <p:nvPr>
            <p:custDataLst>
              <p:tags r:id="rId26"/>
            </p:custDataLst>
          </p:nvPr>
        </p:nvSpPr>
        <p:spPr>
          <a:xfrm>
            <a:off x="1800860" y="4984750"/>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行为分析建模</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5" name="PA-矩形 44"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7"/>
            </p:custDataLst>
          </p:nvPr>
        </p:nvSpPr>
        <p:spPr>
          <a:xfrm>
            <a:off x="1800860" y="5531485"/>
            <a:ext cx="2192020"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基于</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API</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调用序列、权限请求等构建恶意软件的特征向量或行为图谱</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pic>
        <p:nvPicPr>
          <p:cNvPr id="55" name="图片 54" descr="32313534313136373b32313534313134383bb7a2cfd6"/>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4502150" y="2185670"/>
            <a:ext cx="495300" cy="495300"/>
          </a:xfrm>
          <a:prstGeom prst="rect">
            <a:avLst/>
          </a:prstGeom>
        </p:spPr>
      </p:pic>
      <p:pic>
        <p:nvPicPr>
          <p:cNvPr id="56" name="图片 55" descr="32313534313136373b32313534313135323bbbe3b1a8"/>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7279640" y="2213610"/>
            <a:ext cx="439420" cy="439420"/>
          </a:xfrm>
          <a:prstGeom prst="rect">
            <a:avLst/>
          </a:prstGeom>
        </p:spPr>
      </p:pic>
      <p:pic>
        <p:nvPicPr>
          <p:cNvPr id="57" name="图片 56" descr="32313534313136373b32313534313135333bbbe1bbb0"/>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3706495" y="3623310"/>
            <a:ext cx="409575" cy="409575"/>
          </a:xfrm>
          <a:prstGeom prst="rect">
            <a:avLst/>
          </a:prstGeom>
        </p:spPr>
      </p:pic>
      <p:pic>
        <p:nvPicPr>
          <p:cNvPr id="6" name="图片 5" descr="32313534313136373b32313534313136303bc9cfc9fd"/>
          <p:cNvPicPr>
            <a:picLocks noChangeAspect="1"/>
          </p:cNvPicPr>
          <p:nvPr>
            <p:custDataLst>
              <p:tags r:id="rId37"/>
            </p:custDataLst>
          </p:nvPr>
        </p:nvPicPr>
        <p:blipFill>
          <a:blip r:embed="rId38">
            <a:extLst>
              <a:ext uri="{96DAC541-7B7A-43D3-8B79-37D633B846F1}">
                <asvg:svgBlip xmlns:asvg="http://schemas.microsoft.com/office/drawing/2016/SVG/main" r:embed="rId39"/>
              </a:ext>
            </a:extLst>
          </a:blip>
          <a:stretch>
            <a:fillRect/>
          </a:stretch>
        </p:blipFill>
        <p:spPr>
          <a:xfrm>
            <a:off x="4531360" y="5008880"/>
            <a:ext cx="436880" cy="436880"/>
          </a:xfrm>
          <a:prstGeom prst="rect">
            <a:avLst/>
          </a:prstGeom>
        </p:spPr>
      </p:pic>
      <p:pic>
        <p:nvPicPr>
          <p:cNvPr id="28" name="图片 27" descr="32313534313136373b32313534313136323bcafdbedd"/>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tretch>
            <a:fillRect/>
          </a:stretch>
        </p:blipFill>
        <p:spPr>
          <a:xfrm>
            <a:off x="7295515" y="5039360"/>
            <a:ext cx="406400" cy="406400"/>
          </a:xfrm>
          <a:prstGeom prst="rect">
            <a:avLst/>
          </a:prstGeom>
        </p:spPr>
      </p:pic>
      <p:pic>
        <p:nvPicPr>
          <p:cNvPr id="31" name="图片 30" descr="32313534313136373b32313534313136333bcdc5b6d3"/>
          <p:cNvPicPr>
            <a:picLocks noChangeAspect="1"/>
          </p:cNvPicPr>
          <p:nvPr>
            <p:custDataLst>
              <p:tags r:id="rId43"/>
            </p:custDataLst>
          </p:nvPr>
        </p:nvPicPr>
        <p:blipFill>
          <a:blip r:embed="rId44">
            <a:extLst>
              <a:ext uri="{96DAC541-7B7A-43D3-8B79-37D633B846F1}">
                <asvg:svgBlip xmlns:asvg="http://schemas.microsoft.com/office/drawing/2016/SVG/main" r:embed="rId45"/>
              </a:ext>
            </a:extLst>
          </a:blip>
          <a:stretch>
            <a:fillRect/>
          </a:stretch>
        </p:blipFill>
        <p:spPr>
          <a:xfrm>
            <a:off x="8118475" y="3623310"/>
            <a:ext cx="434975" cy="434975"/>
          </a:xfrm>
          <a:prstGeom prst="rect">
            <a:avLst/>
          </a:prstGeom>
        </p:spPr>
      </p:pic>
      <p:grpSp>
        <p:nvGrpSpPr>
          <p:cNvPr id="20" name="组合 19"/>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1" name="文本框 20"/>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基于深度学习的恶意程序家族变异检测与分类研究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4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52"/>
          <p:cNvSpPr/>
          <p:nvPr>
            <p:custDataLst>
              <p:tags r:id="rId1"/>
            </p:custDataLst>
          </p:nvPr>
        </p:nvSpPr>
        <p:spPr bwMode="auto">
          <a:xfrm>
            <a:off x="6024174" y="4082940"/>
            <a:ext cx="4909435" cy="2909382"/>
          </a:xfrm>
          <a:prstGeom prst="ellipse">
            <a:avLst/>
          </a:prstGeom>
          <a:solidFill>
            <a:schemeClr val="accent1"/>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9" name="Oval 53"/>
          <p:cNvSpPr/>
          <p:nvPr>
            <p:custDataLst>
              <p:tags r:id="rId2"/>
            </p:custDataLst>
          </p:nvPr>
        </p:nvSpPr>
        <p:spPr bwMode="auto">
          <a:xfrm>
            <a:off x="6695087" y="4481796"/>
            <a:ext cx="3567610" cy="2114203"/>
          </a:xfrm>
          <a:prstGeom prst="ellipse">
            <a:avLst/>
          </a:prstGeom>
          <a:solidFill>
            <a:sysClr val="window" lastClr="FFFFFF"/>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0" name="Oval 54"/>
          <p:cNvSpPr/>
          <p:nvPr>
            <p:custDataLst>
              <p:tags r:id="rId3"/>
            </p:custDataLst>
          </p:nvPr>
        </p:nvSpPr>
        <p:spPr bwMode="auto">
          <a:xfrm>
            <a:off x="7501263" y="4958278"/>
            <a:ext cx="1955259" cy="1158707"/>
          </a:xfrm>
          <a:prstGeom prst="ellipse">
            <a:avLst/>
          </a:prstGeom>
          <a:solidFill>
            <a:sysClr val="window" lastClr="FFFFFF"/>
          </a:solidFill>
          <a:ln w="25400" cap="flat" cmpd="sng" algn="ctr">
            <a:solidFill>
              <a:schemeClr val="accent2"/>
            </a:solid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1" name="Oval 55"/>
          <p:cNvSpPr/>
          <p:nvPr>
            <p:custDataLst>
              <p:tags r:id="rId4"/>
            </p:custDataLst>
          </p:nvPr>
        </p:nvSpPr>
        <p:spPr bwMode="auto">
          <a:xfrm>
            <a:off x="7696340" y="5073883"/>
            <a:ext cx="1565105" cy="927497"/>
          </a:xfrm>
          <a:prstGeom prst="ellipse">
            <a:avLst/>
          </a:prstGeom>
          <a:solidFill>
            <a:schemeClr val="accent3"/>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2" name="Isosceles Triangle 41"/>
          <p:cNvSpPr/>
          <p:nvPr>
            <p:custDataLst>
              <p:tags r:id="rId5"/>
            </p:custDataLst>
          </p:nvPr>
        </p:nvSpPr>
        <p:spPr bwMode="auto">
          <a:xfrm flipV="1">
            <a:off x="7599523" y="4435378"/>
            <a:ext cx="1758739" cy="1158511"/>
          </a:xfrm>
          <a:prstGeom prst="triangle">
            <a:avLst/>
          </a:pr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3" name="Freeform: Shape 42"/>
          <p:cNvSpPr/>
          <p:nvPr>
            <p:custDataLst>
              <p:tags r:id="rId6"/>
            </p:custDataLst>
          </p:nvPr>
        </p:nvSpPr>
        <p:spPr bwMode="auto">
          <a:xfrm>
            <a:off x="7612541" y="4286405"/>
            <a:ext cx="1760185" cy="148972"/>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4" name="Freeform: Shape 43"/>
          <p:cNvSpPr/>
          <p:nvPr>
            <p:custDataLst>
              <p:tags r:id="rId7"/>
            </p:custDataLst>
          </p:nvPr>
        </p:nvSpPr>
        <p:spPr bwMode="auto">
          <a:xfrm>
            <a:off x="6828629" y="3327487"/>
            <a:ext cx="3284618" cy="1006646"/>
          </a:xfrm>
          <a:custGeom>
            <a:avLst/>
            <a:gdLst/>
            <a:ahLst/>
            <a:cxnLst/>
            <a:rect l="l" t="t" r="r" b="b"/>
            <a:pathLst>
              <a:path w="3061735" h="937284">
                <a:moveTo>
                  <a:pt x="0" y="0"/>
                </a:moveTo>
                <a:lnTo>
                  <a:pt x="3061735" y="0"/>
                </a:lnTo>
                <a:lnTo>
                  <a:pt x="2493758" y="937284"/>
                </a:lnTo>
                <a:lnTo>
                  <a:pt x="567977" y="937284"/>
                </a:lnTo>
                <a:close/>
              </a:path>
            </a:pathLst>
          </a:cu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5" name="Freeform: Shape 44"/>
          <p:cNvSpPr/>
          <p:nvPr>
            <p:custDataLst>
              <p:tags r:id="rId8"/>
            </p:custDataLst>
          </p:nvPr>
        </p:nvSpPr>
        <p:spPr bwMode="auto">
          <a:xfrm>
            <a:off x="6122820" y="2168976"/>
            <a:ext cx="4687559" cy="1005201"/>
          </a:xfrm>
          <a:custGeom>
            <a:avLst/>
            <a:gdLst/>
            <a:ahLst/>
            <a:cxnLst/>
            <a:rect l="l" t="t" r="r" b="b"/>
            <a:pathLst>
              <a:path w="4370803" h="937284">
                <a:moveTo>
                  <a:pt x="0" y="0"/>
                </a:moveTo>
                <a:lnTo>
                  <a:pt x="4370803" y="0"/>
                </a:lnTo>
                <a:lnTo>
                  <a:pt x="3802825" y="937284"/>
                </a:lnTo>
                <a:lnTo>
                  <a:pt x="567978" y="937284"/>
                </a:lnTo>
                <a:close/>
              </a:path>
            </a:pathLst>
          </a:cu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6" name="Freeform: Shape 45"/>
          <p:cNvSpPr/>
          <p:nvPr>
            <p:custDataLst>
              <p:tags r:id="rId9"/>
            </p:custDataLst>
          </p:nvPr>
        </p:nvSpPr>
        <p:spPr bwMode="auto">
          <a:xfrm>
            <a:off x="6831522" y="3179962"/>
            <a:ext cx="3284618" cy="147526"/>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7" name="Freeform: Shape 46"/>
          <p:cNvSpPr/>
          <p:nvPr>
            <p:custDataLst>
              <p:tags r:id="rId10"/>
            </p:custDataLst>
          </p:nvPr>
        </p:nvSpPr>
        <p:spPr bwMode="auto">
          <a:xfrm>
            <a:off x="6122820" y="2021450"/>
            <a:ext cx="4687559" cy="147526"/>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cxnSp>
        <p:nvCxnSpPr>
          <p:cNvPr id="18" name="Straight Connector 5"/>
          <p:cNvCxnSpPr/>
          <p:nvPr/>
        </p:nvCxnSpPr>
        <p:spPr>
          <a:xfrm>
            <a:off x="5350478" y="2714244"/>
            <a:ext cx="906849"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6"/>
          <p:cNvCxnSpPr/>
          <p:nvPr/>
        </p:nvCxnSpPr>
        <p:spPr>
          <a:xfrm>
            <a:off x="5350478" y="3996062"/>
            <a:ext cx="1650262"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7"/>
          <p:cNvCxnSpPr/>
          <p:nvPr/>
        </p:nvCxnSpPr>
        <p:spPr>
          <a:xfrm>
            <a:off x="5297170" y="5334635"/>
            <a:ext cx="1976755"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sp>
        <p:nvSpPr>
          <p:cNvPr id="22" name="Oval 29"/>
          <p:cNvSpPr/>
          <p:nvPr>
            <p:custDataLst>
              <p:tags r:id="rId11"/>
            </p:custDataLst>
          </p:nvPr>
        </p:nvSpPr>
        <p:spPr bwMode="auto">
          <a:xfrm>
            <a:off x="4524375" y="3680460"/>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34" name="Oval 25"/>
          <p:cNvSpPr/>
          <p:nvPr>
            <p:custDataLst>
              <p:tags r:id="rId12"/>
            </p:custDataLst>
          </p:nvPr>
        </p:nvSpPr>
        <p:spPr bwMode="auto">
          <a:xfrm>
            <a:off x="4524375" y="4990465"/>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39" name="Oval 20"/>
          <p:cNvSpPr/>
          <p:nvPr>
            <p:custDataLst>
              <p:tags r:id="rId13"/>
            </p:custDataLst>
          </p:nvPr>
        </p:nvSpPr>
        <p:spPr bwMode="auto">
          <a:xfrm>
            <a:off x="4524375" y="2369820"/>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44" name="Rectangle 47"/>
          <p:cNvSpPr/>
          <p:nvPr/>
        </p:nvSpPr>
        <p:spPr bwMode="auto">
          <a:xfrm>
            <a:off x="7003769" y="2454850"/>
            <a:ext cx="2925660" cy="4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数据采集：</a:t>
            </a:r>
            <a:r>
              <a:rPr lang="en-US" altLang="zh-CN"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 </a:t>
            </a: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收集国内主要城市的居民消费支出数据、数字平台渗透率数据</a:t>
            </a:r>
            <a:endPar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45" name="Rectangle 47"/>
          <p:cNvSpPr/>
          <p:nvPr/>
        </p:nvSpPr>
        <p:spPr bwMode="auto">
          <a:xfrm>
            <a:off x="7427500" y="3503285"/>
            <a:ext cx="2086876"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工具变量法：</a:t>
            </a:r>
            <a:r>
              <a:rPr lang="en-US" altLang="zh-CN"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 </a:t>
            </a: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考虑平台发展与消费升级的互为因果关系，寻找工具变量进行内生性处理</a:t>
            </a:r>
            <a:endPar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endParaRPr>
          </a:p>
        </p:txBody>
      </p:sp>
      <p:grpSp>
        <p:nvGrpSpPr>
          <p:cNvPr id="2" name="组合 1"/>
          <p:cNvGrpSpPr/>
          <p:nvPr/>
        </p:nvGrpSpPr>
        <p:grpSpPr>
          <a:xfrm>
            <a:off x="601980" y="2061845"/>
            <a:ext cx="3559175" cy="4150360"/>
            <a:chOff x="668" y="2887"/>
            <a:chExt cx="5605" cy="6536"/>
          </a:xfrm>
        </p:grpSpPr>
        <p:sp>
          <p:nvSpPr>
            <p:cNvPr id="47" name="文本框 46"/>
            <p:cNvSpPr txBox="1"/>
            <p:nvPr/>
          </p:nvSpPr>
          <p:spPr>
            <a:xfrm>
              <a:off x="1200" y="2887"/>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研究内容</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8" name="文本框 47"/>
            <p:cNvSpPr txBox="1"/>
            <p:nvPr>
              <p:custDataLst>
                <p:tags r:id="rId14"/>
              </p:custDataLst>
            </p:nvPr>
          </p:nvSpPr>
          <p:spPr>
            <a:xfrm>
              <a:off x="668" y="3447"/>
              <a:ext cx="5605" cy="1452"/>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rPr>
                <a:t>本选题旨在分析数字平台生态如何通过信息扩散、供需匹配和信任机制等渠道，影响城市居民的消费结构升级和新消费模式的形</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50" name="文本框 49"/>
            <p:cNvSpPr txBox="1"/>
            <p:nvPr/>
          </p:nvSpPr>
          <p:spPr>
            <a:xfrm>
              <a:off x="1200" y="5149"/>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平台经济理论</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51" name="文本框 50"/>
            <p:cNvSpPr txBox="1"/>
            <p:nvPr>
              <p:custDataLst>
                <p:tags r:id="rId15"/>
              </p:custDataLst>
            </p:nvPr>
          </p:nvSpPr>
          <p:spPr>
            <a:xfrm>
              <a:off x="1201" y="5709"/>
              <a:ext cx="5072" cy="1016"/>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借鉴双边市场理论，分析数字平台对供需两端的外部性和网络效应</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53" name="文本框 52"/>
            <p:cNvSpPr txBox="1"/>
            <p:nvPr/>
          </p:nvSpPr>
          <p:spPr>
            <a:xfrm>
              <a:off x="1200" y="7411"/>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计量经济学</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54" name="文本框 53"/>
            <p:cNvSpPr txBox="1"/>
            <p:nvPr>
              <p:custDataLst>
                <p:tags r:id="rId16"/>
              </p:custDataLst>
            </p:nvPr>
          </p:nvSpPr>
          <p:spPr>
            <a:xfrm>
              <a:off x="1201" y="7971"/>
              <a:ext cx="5072" cy="1452"/>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采用面板数据模型（</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Panel Data Model</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），控制城市经济发展水平等变量，识别数字平台渗透率对居民消费结构升级的因果效应</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grpSp>
      <p:pic>
        <p:nvPicPr>
          <p:cNvPr id="6" name="图片 5" descr="32313534313136373b32313534313136363bd7dcbde1"/>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685348" y="2530793"/>
            <a:ext cx="366395" cy="366395"/>
          </a:xfrm>
          <a:prstGeom prst="rect">
            <a:avLst/>
          </a:prstGeom>
        </p:spPr>
      </p:pic>
      <p:pic>
        <p:nvPicPr>
          <p:cNvPr id="58" name="图片 57" descr="32313534313136373b32313534313135363bc1e9b8d0"/>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661535" y="3817620"/>
            <a:ext cx="414020" cy="414020"/>
          </a:xfrm>
          <a:prstGeom prst="rect">
            <a:avLst/>
          </a:prstGeom>
        </p:spPr>
      </p:pic>
      <p:pic>
        <p:nvPicPr>
          <p:cNvPr id="59" name="图片 58" descr="32313534313136373b32313534313136313bcab1bce4"/>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685348" y="5151438"/>
            <a:ext cx="366395" cy="366395"/>
          </a:xfrm>
          <a:prstGeom prst="rect">
            <a:avLst/>
          </a:prstGeom>
        </p:spPr>
      </p:pic>
      <p:grpSp>
        <p:nvGrpSpPr>
          <p:cNvPr id="21" name="组合 20"/>
          <p:cNvGrpSpPr/>
          <p:nvPr/>
        </p:nvGrpSpPr>
        <p:grpSpPr>
          <a:xfrm>
            <a:off x="725170" y="1046480"/>
            <a:ext cx="766445" cy="76200"/>
            <a:chOff x="1218" y="1168"/>
            <a:chExt cx="2012" cy="74"/>
          </a:xfrm>
        </p:grpSpPr>
        <p:sp>
          <p:nvSpPr>
            <p:cNvPr id="23" name="矩形 22"/>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4" name="矩形 23"/>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5" name="文本框 2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数字平台生态对城市居民消费升级的驱动机制研究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custDataLst>
              <p:tags r:id="rId1"/>
            </p:custDataLst>
          </p:nvPr>
        </p:nvGrpSpPr>
        <p:grpSpPr>
          <a:xfrm>
            <a:off x="3988181" y="1724751"/>
            <a:ext cx="4288664" cy="3868311"/>
            <a:chOff x="199622" y="394179"/>
            <a:chExt cx="3254296" cy="2935327"/>
          </a:xfrm>
        </p:grpSpPr>
        <p:sp>
          <p:nvSpPr>
            <p:cNvPr id="15" name="任意多边形: 形状 14"/>
            <p:cNvSpPr/>
            <p:nvPr>
              <p:custDataLst>
                <p:tags r:id="rId2"/>
              </p:custDataLst>
            </p:nvPr>
          </p:nvSpPr>
          <p:spPr>
            <a:xfrm flipH="1">
              <a:off x="2037539" y="473091"/>
              <a:ext cx="1213422" cy="2764868"/>
            </a:xfrm>
            <a:custGeom>
              <a:avLst/>
              <a:gdLst>
                <a:gd name="connsiteX0" fmla="*/ 1200269 w 1570649"/>
                <a:gd name="connsiteY0" fmla="*/ 0 h 2935327"/>
                <a:gd name="connsiteX1" fmla="*/ 1570649 w 1570649"/>
                <a:gd name="connsiteY1" fmla="*/ 369833 h 2935327"/>
                <a:gd name="connsiteX2" fmla="*/ 1570649 w 1570649"/>
                <a:gd name="connsiteY2" fmla="*/ 2565494 h 2935327"/>
                <a:gd name="connsiteX3" fmla="*/ 1200269 w 1570649"/>
                <a:gd name="connsiteY3" fmla="*/ 2935327 h 2935327"/>
                <a:gd name="connsiteX4" fmla="*/ 853727 w 1570649"/>
                <a:gd name="connsiteY4" fmla="*/ 2696391 h 2935327"/>
                <a:gd name="connsiteX5" fmla="*/ 772214 w 1570649"/>
                <a:gd name="connsiteY5" fmla="*/ 2705431 h 2935327"/>
                <a:gd name="connsiteX6" fmla="*/ 401839 w 1570649"/>
                <a:gd name="connsiteY6" fmla="*/ 2336074 h 2935327"/>
                <a:gd name="connsiteX7" fmla="*/ 402316 w 1570649"/>
                <a:gd name="connsiteY7" fmla="*/ 2315134 h 2935327"/>
                <a:gd name="connsiteX8" fmla="*/ 217364 w 1570649"/>
                <a:gd name="connsiteY8" fmla="*/ 2214705 h 2935327"/>
                <a:gd name="connsiteX9" fmla="*/ 108682 w 1570649"/>
                <a:gd name="connsiteY9" fmla="*/ 1953393 h 2935327"/>
                <a:gd name="connsiteX10" fmla="*/ 157306 w 1570649"/>
                <a:gd name="connsiteY10" fmla="*/ 1770145 h 2935327"/>
                <a:gd name="connsiteX11" fmla="*/ 0 w 1570649"/>
                <a:gd name="connsiteY11" fmla="*/ 1467428 h 2935327"/>
                <a:gd name="connsiteX12" fmla="*/ 157783 w 1570649"/>
                <a:gd name="connsiteY12" fmla="*/ 1165183 h 2935327"/>
                <a:gd name="connsiteX13" fmla="*/ 217364 w 1570649"/>
                <a:gd name="connsiteY13" fmla="*/ 720146 h 2935327"/>
                <a:gd name="connsiteX14" fmla="*/ 402316 w 1570649"/>
                <a:gd name="connsiteY14" fmla="*/ 619717 h 2935327"/>
                <a:gd name="connsiteX15" fmla="*/ 401839 w 1570649"/>
                <a:gd name="connsiteY15" fmla="*/ 599253 h 2935327"/>
                <a:gd name="connsiteX16" fmla="*/ 772214 w 1570649"/>
                <a:gd name="connsiteY16" fmla="*/ 229419 h 2935327"/>
                <a:gd name="connsiteX17" fmla="*/ 853727 w 1570649"/>
                <a:gd name="connsiteY17" fmla="*/ 238465 h 2935327"/>
                <a:gd name="connsiteX18" fmla="*/ 1200269 w 1570649"/>
                <a:gd name="connsiteY18" fmla="*/ 0 h 293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0649" h="2935327">
                  <a:moveTo>
                    <a:pt x="1200269" y="0"/>
                  </a:moveTo>
                  <a:cubicBezTo>
                    <a:pt x="1404287" y="0"/>
                    <a:pt x="1570649" y="165639"/>
                    <a:pt x="1570649" y="369833"/>
                  </a:cubicBezTo>
                  <a:lnTo>
                    <a:pt x="1570649" y="2565494"/>
                  </a:lnTo>
                  <a:cubicBezTo>
                    <a:pt x="1570649" y="2769211"/>
                    <a:pt x="1404287" y="2935327"/>
                    <a:pt x="1200269" y="2935327"/>
                  </a:cubicBezTo>
                  <a:cubicBezTo>
                    <a:pt x="1042015" y="2935327"/>
                    <a:pt x="907117" y="2835846"/>
                    <a:pt x="853727" y="2696391"/>
                  </a:cubicBezTo>
                  <a:cubicBezTo>
                    <a:pt x="827034" y="2702577"/>
                    <a:pt x="799865" y="2705431"/>
                    <a:pt x="772214" y="2705431"/>
                  </a:cubicBezTo>
                  <a:cubicBezTo>
                    <a:pt x="568196" y="2705431"/>
                    <a:pt x="401839" y="2539792"/>
                    <a:pt x="401839" y="2336074"/>
                  </a:cubicBezTo>
                  <a:cubicBezTo>
                    <a:pt x="401839" y="2328935"/>
                    <a:pt x="402316" y="2322273"/>
                    <a:pt x="402316" y="2315134"/>
                  </a:cubicBezTo>
                  <a:cubicBezTo>
                    <a:pt x="332719" y="2300856"/>
                    <a:pt x="268848" y="2266108"/>
                    <a:pt x="217364" y="2214705"/>
                  </a:cubicBezTo>
                  <a:cubicBezTo>
                    <a:pt x="147291" y="2145210"/>
                    <a:pt x="108682" y="2051921"/>
                    <a:pt x="108682" y="1953393"/>
                  </a:cubicBezTo>
                  <a:cubicBezTo>
                    <a:pt x="108682" y="1888188"/>
                    <a:pt x="125842" y="1825356"/>
                    <a:pt x="157306" y="1770145"/>
                  </a:cubicBezTo>
                  <a:cubicBezTo>
                    <a:pt x="62447" y="1703033"/>
                    <a:pt x="0" y="1592605"/>
                    <a:pt x="0" y="1467428"/>
                  </a:cubicBezTo>
                  <a:cubicBezTo>
                    <a:pt x="0" y="1342722"/>
                    <a:pt x="62447" y="1232294"/>
                    <a:pt x="157783" y="1165183"/>
                  </a:cubicBezTo>
                  <a:cubicBezTo>
                    <a:pt x="76746" y="1023821"/>
                    <a:pt x="96766" y="840567"/>
                    <a:pt x="217364" y="720146"/>
                  </a:cubicBezTo>
                  <a:cubicBezTo>
                    <a:pt x="268848" y="668742"/>
                    <a:pt x="332719" y="634471"/>
                    <a:pt x="402316" y="619717"/>
                  </a:cubicBezTo>
                  <a:cubicBezTo>
                    <a:pt x="402316" y="613054"/>
                    <a:pt x="401839" y="606392"/>
                    <a:pt x="401839" y="599253"/>
                  </a:cubicBezTo>
                  <a:cubicBezTo>
                    <a:pt x="401839" y="395535"/>
                    <a:pt x="568196" y="229419"/>
                    <a:pt x="772214" y="229419"/>
                  </a:cubicBezTo>
                  <a:cubicBezTo>
                    <a:pt x="799865" y="229419"/>
                    <a:pt x="827034" y="232751"/>
                    <a:pt x="853727" y="238465"/>
                  </a:cubicBezTo>
                  <a:cubicBezTo>
                    <a:pt x="907117" y="99004"/>
                    <a:pt x="1042015" y="0"/>
                    <a:pt x="120026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CN Regular" panose="020B0500000000000000" charset="-122"/>
              </a:endParaRPr>
            </a:p>
          </p:txBody>
        </p:sp>
        <p:sp>
          <p:nvSpPr>
            <p:cNvPr id="16" name="任意多边形: 形状 15"/>
            <p:cNvSpPr/>
            <p:nvPr>
              <p:custDataLst>
                <p:tags r:id="rId3"/>
              </p:custDataLst>
            </p:nvPr>
          </p:nvSpPr>
          <p:spPr>
            <a:xfrm>
              <a:off x="394364" y="472369"/>
              <a:ext cx="1213422" cy="2764868"/>
            </a:xfrm>
            <a:custGeom>
              <a:avLst/>
              <a:gdLst>
                <a:gd name="connsiteX0" fmla="*/ 1200269 w 1570649"/>
                <a:gd name="connsiteY0" fmla="*/ 0 h 2935327"/>
                <a:gd name="connsiteX1" fmla="*/ 1570649 w 1570649"/>
                <a:gd name="connsiteY1" fmla="*/ 369833 h 2935327"/>
                <a:gd name="connsiteX2" fmla="*/ 1570649 w 1570649"/>
                <a:gd name="connsiteY2" fmla="*/ 2565494 h 2935327"/>
                <a:gd name="connsiteX3" fmla="*/ 1200269 w 1570649"/>
                <a:gd name="connsiteY3" fmla="*/ 2935327 h 2935327"/>
                <a:gd name="connsiteX4" fmla="*/ 853727 w 1570649"/>
                <a:gd name="connsiteY4" fmla="*/ 2696391 h 2935327"/>
                <a:gd name="connsiteX5" fmla="*/ 772214 w 1570649"/>
                <a:gd name="connsiteY5" fmla="*/ 2705431 h 2935327"/>
                <a:gd name="connsiteX6" fmla="*/ 401839 w 1570649"/>
                <a:gd name="connsiteY6" fmla="*/ 2336074 h 2935327"/>
                <a:gd name="connsiteX7" fmla="*/ 402316 w 1570649"/>
                <a:gd name="connsiteY7" fmla="*/ 2315134 h 2935327"/>
                <a:gd name="connsiteX8" fmla="*/ 217364 w 1570649"/>
                <a:gd name="connsiteY8" fmla="*/ 2214705 h 2935327"/>
                <a:gd name="connsiteX9" fmla="*/ 108682 w 1570649"/>
                <a:gd name="connsiteY9" fmla="*/ 1953393 h 2935327"/>
                <a:gd name="connsiteX10" fmla="*/ 157306 w 1570649"/>
                <a:gd name="connsiteY10" fmla="*/ 1770145 h 2935327"/>
                <a:gd name="connsiteX11" fmla="*/ 0 w 1570649"/>
                <a:gd name="connsiteY11" fmla="*/ 1467428 h 2935327"/>
                <a:gd name="connsiteX12" fmla="*/ 157783 w 1570649"/>
                <a:gd name="connsiteY12" fmla="*/ 1165183 h 2935327"/>
                <a:gd name="connsiteX13" fmla="*/ 217364 w 1570649"/>
                <a:gd name="connsiteY13" fmla="*/ 720146 h 2935327"/>
                <a:gd name="connsiteX14" fmla="*/ 402316 w 1570649"/>
                <a:gd name="connsiteY14" fmla="*/ 619717 h 2935327"/>
                <a:gd name="connsiteX15" fmla="*/ 401839 w 1570649"/>
                <a:gd name="connsiteY15" fmla="*/ 599253 h 2935327"/>
                <a:gd name="connsiteX16" fmla="*/ 772214 w 1570649"/>
                <a:gd name="connsiteY16" fmla="*/ 229419 h 2935327"/>
                <a:gd name="connsiteX17" fmla="*/ 853727 w 1570649"/>
                <a:gd name="connsiteY17" fmla="*/ 238465 h 2935327"/>
                <a:gd name="connsiteX18" fmla="*/ 1200269 w 1570649"/>
                <a:gd name="connsiteY18" fmla="*/ 0 h 293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0649" h="2935327">
                  <a:moveTo>
                    <a:pt x="1200269" y="0"/>
                  </a:moveTo>
                  <a:cubicBezTo>
                    <a:pt x="1404287" y="0"/>
                    <a:pt x="1570649" y="165639"/>
                    <a:pt x="1570649" y="369833"/>
                  </a:cubicBezTo>
                  <a:lnTo>
                    <a:pt x="1570649" y="2565494"/>
                  </a:lnTo>
                  <a:cubicBezTo>
                    <a:pt x="1570649" y="2769211"/>
                    <a:pt x="1404287" y="2935327"/>
                    <a:pt x="1200269" y="2935327"/>
                  </a:cubicBezTo>
                  <a:cubicBezTo>
                    <a:pt x="1042015" y="2935327"/>
                    <a:pt x="907117" y="2835846"/>
                    <a:pt x="853727" y="2696391"/>
                  </a:cubicBezTo>
                  <a:cubicBezTo>
                    <a:pt x="827034" y="2702577"/>
                    <a:pt x="799865" y="2705431"/>
                    <a:pt x="772214" y="2705431"/>
                  </a:cubicBezTo>
                  <a:cubicBezTo>
                    <a:pt x="568196" y="2705431"/>
                    <a:pt x="401839" y="2539792"/>
                    <a:pt x="401839" y="2336074"/>
                  </a:cubicBezTo>
                  <a:cubicBezTo>
                    <a:pt x="401839" y="2328935"/>
                    <a:pt x="402316" y="2322273"/>
                    <a:pt x="402316" y="2315134"/>
                  </a:cubicBezTo>
                  <a:cubicBezTo>
                    <a:pt x="332719" y="2300856"/>
                    <a:pt x="268848" y="2266108"/>
                    <a:pt x="217364" y="2214705"/>
                  </a:cubicBezTo>
                  <a:cubicBezTo>
                    <a:pt x="147291" y="2145210"/>
                    <a:pt x="108682" y="2051921"/>
                    <a:pt x="108682" y="1953393"/>
                  </a:cubicBezTo>
                  <a:cubicBezTo>
                    <a:pt x="108682" y="1888188"/>
                    <a:pt x="125842" y="1825356"/>
                    <a:pt x="157306" y="1770145"/>
                  </a:cubicBezTo>
                  <a:cubicBezTo>
                    <a:pt x="62447" y="1703033"/>
                    <a:pt x="0" y="1592605"/>
                    <a:pt x="0" y="1467428"/>
                  </a:cubicBezTo>
                  <a:cubicBezTo>
                    <a:pt x="0" y="1342722"/>
                    <a:pt x="62447" y="1232294"/>
                    <a:pt x="157783" y="1165183"/>
                  </a:cubicBezTo>
                  <a:cubicBezTo>
                    <a:pt x="76746" y="1023821"/>
                    <a:pt x="96766" y="840567"/>
                    <a:pt x="217364" y="720146"/>
                  </a:cubicBezTo>
                  <a:cubicBezTo>
                    <a:pt x="268848" y="668742"/>
                    <a:pt x="332719" y="634471"/>
                    <a:pt x="402316" y="619717"/>
                  </a:cubicBezTo>
                  <a:cubicBezTo>
                    <a:pt x="402316" y="613054"/>
                    <a:pt x="401839" y="606392"/>
                    <a:pt x="401839" y="599253"/>
                  </a:cubicBezTo>
                  <a:cubicBezTo>
                    <a:pt x="401839" y="395535"/>
                    <a:pt x="568196" y="229419"/>
                    <a:pt x="772214" y="229419"/>
                  </a:cubicBezTo>
                  <a:cubicBezTo>
                    <a:pt x="799865" y="229419"/>
                    <a:pt x="827034" y="232751"/>
                    <a:pt x="853727" y="238465"/>
                  </a:cubicBezTo>
                  <a:cubicBezTo>
                    <a:pt x="907117" y="99004"/>
                    <a:pt x="1042015" y="0"/>
                    <a:pt x="120026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CN Regular" panose="020B0500000000000000" charset="-122"/>
              </a:endParaRPr>
            </a:p>
          </p:txBody>
        </p:sp>
        <p:sp>
          <p:nvSpPr>
            <p:cNvPr id="17" name="brain_285118"/>
            <p:cNvSpPr>
              <a:spLocks noChangeAspect="1"/>
            </p:cNvSpPr>
            <p:nvPr>
              <p:custDataLst>
                <p:tags r:id="rId4"/>
              </p:custDataLst>
            </p:nvPr>
          </p:nvSpPr>
          <p:spPr bwMode="auto">
            <a:xfrm>
              <a:off x="199622" y="394179"/>
              <a:ext cx="3254296" cy="293532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 name="connsiteX127" fmla="*/ 373273 h 605239"/>
                <a:gd name="connsiteY127" fmla="*/ 373273 h 605239"/>
                <a:gd name="connsiteX128" fmla="*/ 373273 h 605239"/>
                <a:gd name="connsiteY128" fmla="*/ 373273 h 605239"/>
                <a:gd name="connsiteX129" fmla="*/ 373273 h 605239"/>
                <a:gd name="connsiteY129" fmla="*/ 373273 h 605239"/>
                <a:gd name="connsiteX130" fmla="*/ 373273 h 605239"/>
                <a:gd name="connsiteY130" fmla="*/ 373273 h 605239"/>
                <a:gd name="connsiteX131" fmla="*/ 373273 h 605239"/>
                <a:gd name="connsiteY131" fmla="*/ 373273 h 605239"/>
                <a:gd name="connsiteX132" fmla="*/ 373273 h 605239"/>
                <a:gd name="connsiteY132" fmla="*/ 373273 h 605239"/>
                <a:gd name="connsiteX133" fmla="*/ 373273 h 605239"/>
                <a:gd name="connsiteY133" fmla="*/ 373273 h 605239"/>
                <a:gd name="connsiteX134" fmla="*/ 373273 h 605239"/>
                <a:gd name="connsiteY134" fmla="*/ 373273 h 605239"/>
                <a:gd name="connsiteX135" fmla="*/ 373273 h 605239"/>
                <a:gd name="connsiteY135" fmla="*/ 373273 h 605239"/>
                <a:gd name="connsiteX136" fmla="*/ 373273 h 605239"/>
                <a:gd name="connsiteY136" fmla="*/ 373273 h 605239"/>
                <a:gd name="connsiteX137" fmla="*/ 373273 h 605239"/>
                <a:gd name="connsiteY137" fmla="*/ 373273 h 605239"/>
                <a:gd name="connsiteX138" fmla="*/ 373273 h 605239"/>
                <a:gd name="connsiteY138" fmla="*/ 373273 h 605239"/>
                <a:gd name="connsiteX139" fmla="*/ 373273 h 605239"/>
                <a:gd name="connsiteY139" fmla="*/ 373273 h 605239"/>
                <a:gd name="connsiteX140" fmla="*/ 373273 h 605239"/>
                <a:gd name="connsiteY140" fmla="*/ 373273 h 605239"/>
                <a:gd name="connsiteX141" fmla="*/ 373273 h 605239"/>
                <a:gd name="connsiteY141" fmla="*/ 373273 h 605239"/>
                <a:gd name="connsiteX142" fmla="*/ 373273 h 605239"/>
                <a:gd name="connsiteY142"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639" h="548082">
                  <a:moveTo>
                    <a:pt x="412808" y="292564"/>
                  </a:moveTo>
                  <a:cubicBezTo>
                    <a:pt x="450990" y="292564"/>
                    <a:pt x="481962" y="323473"/>
                    <a:pt x="481962" y="361577"/>
                  </a:cubicBezTo>
                  <a:lnTo>
                    <a:pt x="460869" y="361577"/>
                  </a:lnTo>
                  <a:cubicBezTo>
                    <a:pt x="460869" y="335109"/>
                    <a:pt x="439330" y="313614"/>
                    <a:pt x="412808" y="313614"/>
                  </a:cubicBezTo>
                  <a:close/>
                  <a:moveTo>
                    <a:pt x="194760" y="292564"/>
                  </a:moveTo>
                  <a:lnTo>
                    <a:pt x="194760" y="313614"/>
                  </a:lnTo>
                  <a:cubicBezTo>
                    <a:pt x="168327" y="313614"/>
                    <a:pt x="146788" y="335109"/>
                    <a:pt x="146788" y="361577"/>
                  </a:cubicBezTo>
                  <a:lnTo>
                    <a:pt x="125606" y="361577"/>
                  </a:lnTo>
                  <a:cubicBezTo>
                    <a:pt x="125606" y="323473"/>
                    <a:pt x="156667" y="292564"/>
                    <a:pt x="194760" y="292564"/>
                  </a:cubicBezTo>
                  <a:close/>
                  <a:moveTo>
                    <a:pt x="460869" y="186434"/>
                  </a:moveTo>
                  <a:lnTo>
                    <a:pt x="481962" y="186434"/>
                  </a:lnTo>
                  <a:cubicBezTo>
                    <a:pt x="481962" y="224488"/>
                    <a:pt x="450990" y="255518"/>
                    <a:pt x="412808" y="255518"/>
                  </a:cubicBezTo>
                  <a:lnTo>
                    <a:pt x="412808" y="234446"/>
                  </a:lnTo>
                  <a:cubicBezTo>
                    <a:pt x="439330" y="234446"/>
                    <a:pt x="460869" y="212930"/>
                    <a:pt x="460869" y="186434"/>
                  </a:cubicBezTo>
                  <a:close/>
                  <a:moveTo>
                    <a:pt x="125606" y="186434"/>
                  </a:moveTo>
                  <a:lnTo>
                    <a:pt x="146788" y="186434"/>
                  </a:lnTo>
                  <a:cubicBezTo>
                    <a:pt x="146788" y="212930"/>
                    <a:pt x="168327" y="234446"/>
                    <a:pt x="194760" y="234446"/>
                  </a:cubicBezTo>
                  <a:lnTo>
                    <a:pt x="194760" y="255518"/>
                  </a:lnTo>
                  <a:cubicBezTo>
                    <a:pt x="156667" y="255518"/>
                    <a:pt x="125606" y="224488"/>
                    <a:pt x="125606" y="186434"/>
                  </a:cubicBezTo>
                  <a:close/>
                  <a:moveTo>
                    <a:pt x="383526" y="21063"/>
                  </a:moveTo>
                  <a:cubicBezTo>
                    <a:pt x="357002" y="21063"/>
                    <a:pt x="335463" y="42570"/>
                    <a:pt x="335463" y="69055"/>
                  </a:cubicBezTo>
                  <a:lnTo>
                    <a:pt x="335463" y="157128"/>
                  </a:lnTo>
                  <a:cubicBezTo>
                    <a:pt x="335552" y="183524"/>
                    <a:pt x="357091" y="204942"/>
                    <a:pt x="383526" y="204942"/>
                  </a:cubicBezTo>
                  <a:lnTo>
                    <a:pt x="383526" y="226005"/>
                  </a:lnTo>
                  <a:cubicBezTo>
                    <a:pt x="364835" y="226005"/>
                    <a:pt x="347924" y="218629"/>
                    <a:pt x="335463" y="206631"/>
                  </a:cubicBezTo>
                  <a:lnTo>
                    <a:pt x="335463" y="341451"/>
                  </a:lnTo>
                  <a:cubicBezTo>
                    <a:pt x="347924" y="329454"/>
                    <a:pt x="364835" y="321988"/>
                    <a:pt x="383526" y="321988"/>
                  </a:cubicBezTo>
                  <a:lnTo>
                    <a:pt x="383526" y="343051"/>
                  </a:lnTo>
                  <a:cubicBezTo>
                    <a:pt x="357002" y="343051"/>
                    <a:pt x="335463" y="364647"/>
                    <a:pt x="335463" y="391043"/>
                  </a:cubicBezTo>
                  <a:lnTo>
                    <a:pt x="335463" y="479027"/>
                  </a:lnTo>
                  <a:cubicBezTo>
                    <a:pt x="335463" y="505423"/>
                    <a:pt x="357002" y="527019"/>
                    <a:pt x="383526" y="527019"/>
                  </a:cubicBezTo>
                  <a:cubicBezTo>
                    <a:pt x="410049" y="527019"/>
                    <a:pt x="431588" y="505423"/>
                    <a:pt x="431588" y="479027"/>
                  </a:cubicBezTo>
                  <a:cubicBezTo>
                    <a:pt x="431588" y="452543"/>
                    <a:pt x="410049" y="431036"/>
                    <a:pt x="383526" y="431036"/>
                  </a:cubicBezTo>
                  <a:lnTo>
                    <a:pt x="383526" y="409973"/>
                  </a:lnTo>
                  <a:cubicBezTo>
                    <a:pt x="421619" y="409973"/>
                    <a:pt x="452682" y="440901"/>
                    <a:pt x="452682" y="479027"/>
                  </a:cubicBezTo>
                  <a:cubicBezTo>
                    <a:pt x="452682" y="480272"/>
                    <a:pt x="452682" y="481605"/>
                    <a:pt x="452593" y="482849"/>
                  </a:cubicBezTo>
                  <a:cubicBezTo>
                    <a:pt x="456064" y="483649"/>
                    <a:pt x="459713" y="484093"/>
                    <a:pt x="463363" y="484093"/>
                  </a:cubicBezTo>
                  <a:cubicBezTo>
                    <a:pt x="489886" y="484093"/>
                    <a:pt x="511425" y="462586"/>
                    <a:pt x="511425" y="436102"/>
                  </a:cubicBezTo>
                  <a:cubicBezTo>
                    <a:pt x="511425" y="435213"/>
                    <a:pt x="511425" y="434324"/>
                    <a:pt x="511336" y="433435"/>
                  </a:cubicBezTo>
                  <a:cubicBezTo>
                    <a:pt x="495938" y="431925"/>
                    <a:pt x="480986" y="425348"/>
                    <a:pt x="469237" y="413528"/>
                  </a:cubicBezTo>
                  <a:lnTo>
                    <a:pt x="484190" y="398686"/>
                  </a:lnTo>
                  <a:cubicBezTo>
                    <a:pt x="502881" y="417349"/>
                    <a:pt x="533409" y="417349"/>
                    <a:pt x="552100" y="398686"/>
                  </a:cubicBezTo>
                  <a:cubicBezTo>
                    <a:pt x="568032" y="382778"/>
                    <a:pt x="570435" y="358337"/>
                    <a:pt x="559221" y="339852"/>
                  </a:cubicBezTo>
                  <a:cubicBezTo>
                    <a:pt x="552634" y="341985"/>
                    <a:pt x="545692" y="343051"/>
                    <a:pt x="538482" y="343051"/>
                  </a:cubicBezTo>
                  <a:lnTo>
                    <a:pt x="538482" y="321988"/>
                  </a:lnTo>
                  <a:cubicBezTo>
                    <a:pt x="564917" y="321988"/>
                    <a:pt x="586456" y="300481"/>
                    <a:pt x="586456" y="273997"/>
                  </a:cubicBezTo>
                  <a:cubicBezTo>
                    <a:pt x="586456" y="247601"/>
                    <a:pt x="564917" y="226005"/>
                    <a:pt x="538482" y="226005"/>
                  </a:cubicBezTo>
                  <a:lnTo>
                    <a:pt x="538482" y="204942"/>
                  </a:lnTo>
                  <a:cubicBezTo>
                    <a:pt x="545692" y="204942"/>
                    <a:pt x="552634" y="206097"/>
                    <a:pt x="559221" y="208141"/>
                  </a:cubicBezTo>
                  <a:cubicBezTo>
                    <a:pt x="570435" y="189745"/>
                    <a:pt x="568032" y="165305"/>
                    <a:pt x="552100" y="149396"/>
                  </a:cubicBezTo>
                  <a:cubicBezTo>
                    <a:pt x="533409" y="130644"/>
                    <a:pt x="502881" y="130644"/>
                    <a:pt x="484190" y="149396"/>
                  </a:cubicBezTo>
                  <a:lnTo>
                    <a:pt x="469237" y="134465"/>
                  </a:lnTo>
                  <a:cubicBezTo>
                    <a:pt x="480986" y="122734"/>
                    <a:pt x="495938" y="116158"/>
                    <a:pt x="511336" y="114647"/>
                  </a:cubicBezTo>
                  <a:cubicBezTo>
                    <a:pt x="511425" y="113758"/>
                    <a:pt x="511425" y="112780"/>
                    <a:pt x="511425" y="111892"/>
                  </a:cubicBezTo>
                  <a:cubicBezTo>
                    <a:pt x="511425" y="85407"/>
                    <a:pt x="489886" y="63900"/>
                    <a:pt x="463363" y="63900"/>
                  </a:cubicBezTo>
                  <a:cubicBezTo>
                    <a:pt x="459713" y="63900"/>
                    <a:pt x="456064" y="64344"/>
                    <a:pt x="452593" y="65144"/>
                  </a:cubicBezTo>
                  <a:cubicBezTo>
                    <a:pt x="452682" y="66477"/>
                    <a:pt x="452682" y="67722"/>
                    <a:pt x="452682" y="69055"/>
                  </a:cubicBezTo>
                  <a:cubicBezTo>
                    <a:pt x="452682" y="107092"/>
                    <a:pt x="421619" y="138109"/>
                    <a:pt x="383526" y="138109"/>
                  </a:cubicBezTo>
                  <a:lnTo>
                    <a:pt x="383526" y="117046"/>
                  </a:lnTo>
                  <a:cubicBezTo>
                    <a:pt x="410049" y="117046"/>
                    <a:pt x="431588" y="95539"/>
                    <a:pt x="431588" y="69055"/>
                  </a:cubicBezTo>
                  <a:cubicBezTo>
                    <a:pt x="431588" y="42570"/>
                    <a:pt x="410049" y="21063"/>
                    <a:pt x="383526" y="21063"/>
                  </a:cubicBezTo>
                  <a:close/>
                  <a:moveTo>
                    <a:pt x="224113" y="21063"/>
                  </a:moveTo>
                  <a:cubicBezTo>
                    <a:pt x="197590" y="21063"/>
                    <a:pt x="176051" y="42570"/>
                    <a:pt x="176051" y="69055"/>
                  </a:cubicBezTo>
                  <a:cubicBezTo>
                    <a:pt x="176051" y="95539"/>
                    <a:pt x="197590" y="117046"/>
                    <a:pt x="224113" y="117046"/>
                  </a:cubicBezTo>
                  <a:lnTo>
                    <a:pt x="224113" y="138109"/>
                  </a:lnTo>
                  <a:cubicBezTo>
                    <a:pt x="185931" y="138109"/>
                    <a:pt x="154957" y="107092"/>
                    <a:pt x="154957" y="69055"/>
                  </a:cubicBezTo>
                  <a:cubicBezTo>
                    <a:pt x="154957" y="67722"/>
                    <a:pt x="154957" y="66477"/>
                    <a:pt x="155046" y="65144"/>
                  </a:cubicBezTo>
                  <a:cubicBezTo>
                    <a:pt x="151486" y="64344"/>
                    <a:pt x="147926" y="63900"/>
                    <a:pt x="144187" y="63900"/>
                  </a:cubicBezTo>
                  <a:cubicBezTo>
                    <a:pt x="117753" y="63900"/>
                    <a:pt x="96125" y="85407"/>
                    <a:pt x="96125" y="111892"/>
                  </a:cubicBezTo>
                  <a:cubicBezTo>
                    <a:pt x="96125" y="112780"/>
                    <a:pt x="96214" y="113669"/>
                    <a:pt x="96214" y="114558"/>
                  </a:cubicBezTo>
                  <a:cubicBezTo>
                    <a:pt x="112146" y="116157"/>
                    <a:pt x="126920" y="123090"/>
                    <a:pt x="138402" y="134465"/>
                  </a:cubicBezTo>
                  <a:lnTo>
                    <a:pt x="123449" y="149396"/>
                  </a:lnTo>
                  <a:cubicBezTo>
                    <a:pt x="114371" y="140331"/>
                    <a:pt x="102266" y="135354"/>
                    <a:pt x="89450" y="135354"/>
                  </a:cubicBezTo>
                  <a:cubicBezTo>
                    <a:pt x="76633" y="135354"/>
                    <a:pt x="64617" y="140331"/>
                    <a:pt x="55539" y="149396"/>
                  </a:cubicBezTo>
                  <a:cubicBezTo>
                    <a:pt x="39518" y="165304"/>
                    <a:pt x="37204" y="189745"/>
                    <a:pt x="48329" y="208141"/>
                  </a:cubicBezTo>
                  <a:cubicBezTo>
                    <a:pt x="54916" y="206097"/>
                    <a:pt x="61947" y="204942"/>
                    <a:pt x="69157" y="204942"/>
                  </a:cubicBezTo>
                  <a:lnTo>
                    <a:pt x="69157" y="226005"/>
                  </a:lnTo>
                  <a:cubicBezTo>
                    <a:pt x="42633" y="226005"/>
                    <a:pt x="21094" y="247601"/>
                    <a:pt x="21094" y="273997"/>
                  </a:cubicBezTo>
                  <a:cubicBezTo>
                    <a:pt x="21094" y="300481"/>
                    <a:pt x="42633" y="321988"/>
                    <a:pt x="69157" y="321988"/>
                  </a:cubicBezTo>
                  <a:lnTo>
                    <a:pt x="69157" y="343051"/>
                  </a:lnTo>
                  <a:cubicBezTo>
                    <a:pt x="61947" y="343051"/>
                    <a:pt x="54916" y="341985"/>
                    <a:pt x="48329" y="339852"/>
                  </a:cubicBezTo>
                  <a:cubicBezTo>
                    <a:pt x="43879" y="347317"/>
                    <a:pt x="41387" y="355849"/>
                    <a:pt x="41387" y="364736"/>
                  </a:cubicBezTo>
                  <a:cubicBezTo>
                    <a:pt x="41387" y="377534"/>
                    <a:pt x="46460" y="389621"/>
                    <a:pt x="55539" y="398686"/>
                  </a:cubicBezTo>
                  <a:cubicBezTo>
                    <a:pt x="64617" y="407751"/>
                    <a:pt x="76633" y="412728"/>
                    <a:pt x="89450" y="412728"/>
                  </a:cubicBezTo>
                  <a:cubicBezTo>
                    <a:pt x="102355" y="412728"/>
                    <a:pt x="114371" y="407751"/>
                    <a:pt x="123449" y="398686"/>
                  </a:cubicBezTo>
                  <a:lnTo>
                    <a:pt x="138402" y="413528"/>
                  </a:lnTo>
                  <a:cubicBezTo>
                    <a:pt x="126920" y="424992"/>
                    <a:pt x="112146" y="431925"/>
                    <a:pt x="96214" y="433435"/>
                  </a:cubicBezTo>
                  <a:cubicBezTo>
                    <a:pt x="96214" y="434324"/>
                    <a:pt x="96125" y="435213"/>
                    <a:pt x="96125" y="436190"/>
                  </a:cubicBezTo>
                  <a:cubicBezTo>
                    <a:pt x="96125" y="462586"/>
                    <a:pt x="117753" y="484093"/>
                    <a:pt x="144187" y="484093"/>
                  </a:cubicBezTo>
                  <a:cubicBezTo>
                    <a:pt x="147926" y="484093"/>
                    <a:pt x="151486" y="483649"/>
                    <a:pt x="155046" y="482849"/>
                  </a:cubicBezTo>
                  <a:cubicBezTo>
                    <a:pt x="154957" y="481605"/>
                    <a:pt x="154957" y="480272"/>
                    <a:pt x="154957" y="479027"/>
                  </a:cubicBezTo>
                  <a:cubicBezTo>
                    <a:pt x="154957" y="440901"/>
                    <a:pt x="185931" y="409973"/>
                    <a:pt x="224113" y="409973"/>
                  </a:cubicBezTo>
                  <a:lnTo>
                    <a:pt x="224113" y="431036"/>
                  </a:lnTo>
                  <a:cubicBezTo>
                    <a:pt x="197590" y="431036"/>
                    <a:pt x="176051" y="452543"/>
                    <a:pt x="176051" y="479027"/>
                  </a:cubicBezTo>
                  <a:cubicBezTo>
                    <a:pt x="176051" y="505423"/>
                    <a:pt x="197590" y="527019"/>
                    <a:pt x="224113" y="527019"/>
                  </a:cubicBezTo>
                  <a:cubicBezTo>
                    <a:pt x="250548" y="527019"/>
                    <a:pt x="272176" y="505423"/>
                    <a:pt x="272176" y="479027"/>
                  </a:cubicBezTo>
                  <a:lnTo>
                    <a:pt x="272176" y="391043"/>
                  </a:lnTo>
                  <a:cubicBezTo>
                    <a:pt x="272176" y="364647"/>
                    <a:pt x="250548" y="343051"/>
                    <a:pt x="224113" y="343051"/>
                  </a:cubicBezTo>
                  <a:lnTo>
                    <a:pt x="224113" y="321988"/>
                  </a:lnTo>
                  <a:cubicBezTo>
                    <a:pt x="242715" y="321988"/>
                    <a:pt x="259715" y="329454"/>
                    <a:pt x="272176" y="341451"/>
                  </a:cubicBezTo>
                  <a:lnTo>
                    <a:pt x="272176" y="206631"/>
                  </a:lnTo>
                  <a:cubicBezTo>
                    <a:pt x="259715" y="218628"/>
                    <a:pt x="242715" y="226005"/>
                    <a:pt x="224113" y="226094"/>
                  </a:cubicBezTo>
                  <a:lnTo>
                    <a:pt x="224113" y="204942"/>
                  </a:lnTo>
                  <a:cubicBezTo>
                    <a:pt x="250548" y="204942"/>
                    <a:pt x="272176" y="183435"/>
                    <a:pt x="272176" y="156950"/>
                  </a:cubicBezTo>
                  <a:lnTo>
                    <a:pt x="272176" y="69055"/>
                  </a:lnTo>
                  <a:cubicBezTo>
                    <a:pt x="272176" y="42570"/>
                    <a:pt x="250548" y="21063"/>
                    <a:pt x="224113" y="21063"/>
                  </a:cubicBezTo>
                  <a:close/>
                  <a:moveTo>
                    <a:pt x="383526" y="0"/>
                  </a:moveTo>
                  <a:cubicBezTo>
                    <a:pt x="412986" y="0"/>
                    <a:pt x="438263" y="18486"/>
                    <a:pt x="448143" y="44526"/>
                  </a:cubicBezTo>
                  <a:cubicBezTo>
                    <a:pt x="453127" y="43459"/>
                    <a:pt x="458200" y="42837"/>
                    <a:pt x="463363" y="42837"/>
                  </a:cubicBezTo>
                  <a:cubicBezTo>
                    <a:pt x="501546" y="42837"/>
                    <a:pt x="532608" y="73854"/>
                    <a:pt x="532608" y="111892"/>
                  </a:cubicBezTo>
                  <a:cubicBezTo>
                    <a:pt x="532608" y="113225"/>
                    <a:pt x="532519" y="114469"/>
                    <a:pt x="532430" y="115802"/>
                  </a:cubicBezTo>
                  <a:cubicBezTo>
                    <a:pt x="545158" y="118468"/>
                    <a:pt x="557173" y="124689"/>
                    <a:pt x="567053" y="134465"/>
                  </a:cubicBezTo>
                  <a:cubicBezTo>
                    <a:pt x="589571" y="156950"/>
                    <a:pt x="593220" y="191167"/>
                    <a:pt x="578178" y="217562"/>
                  </a:cubicBezTo>
                  <a:cubicBezTo>
                    <a:pt x="595979" y="230093"/>
                    <a:pt x="607639" y="250712"/>
                    <a:pt x="607639" y="273997"/>
                  </a:cubicBezTo>
                  <a:cubicBezTo>
                    <a:pt x="607639" y="297370"/>
                    <a:pt x="595979" y="317989"/>
                    <a:pt x="578178" y="330520"/>
                  </a:cubicBezTo>
                  <a:cubicBezTo>
                    <a:pt x="593220" y="356827"/>
                    <a:pt x="589571" y="391132"/>
                    <a:pt x="567053" y="413528"/>
                  </a:cubicBezTo>
                  <a:cubicBezTo>
                    <a:pt x="557173" y="423393"/>
                    <a:pt x="545158" y="429614"/>
                    <a:pt x="532430" y="432280"/>
                  </a:cubicBezTo>
                  <a:cubicBezTo>
                    <a:pt x="532519" y="433524"/>
                    <a:pt x="532519" y="434857"/>
                    <a:pt x="532519" y="436190"/>
                  </a:cubicBezTo>
                  <a:cubicBezTo>
                    <a:pt x="532519" y="474228"/>
                    <a:pt x="501546" y="505156"/>
                    <a:pt x="463363" y="505156"/>
                  </a:cubicBezTo>
                  <a:cubicBezTo>
                    <a:pt x="458200" y="505156"/>
                    <a:pt x="453127" y="504623"/>
                    <a:pt x="448232" y="503468"/>
                  </a:cubicBezTo>
                  <a:cubicBezTo>
                    <a:pt x="438263" y="529507"/>
                    <a:pt x="413075" y="548082"/>
                    <a:pt x="383526" y="548082"/>
                  </a:cubicBezTo>
                  <a:cubicBezTo>
                    <a:pt x="345343" y="548082"/>
                    <a:pt x="314369" y="517065"/>
                    <a:pt x="314369" y="479027"/>
                  </a:cubicBezTo>
                  <a:lnTo>
                    <a:pt x="314369" y="69055"/>
                  </a:lnTo>
                  <a:cubicBezTo>
                    <a:pt x="314369" y="30928"/>
                    <a:pt x="345343" y="0"/>
                    <a:pt x="383526" y="0"/>
                  </a:cubicBezTo>
                  <a:close/>
                  <a:moveTo>
                    <a:pt x="224113" y="0"/>
                  </a:moveTo>
                  <a:cubicBezTo>
                    <a:pt x="262207" y="0"/>
                    <a:pt x="293270" y="30928"/>
                    <a:pt x="293270" y="69055"/>
                  </a:cubicBezTo>
                  <a:lnTo>
                    <a:pt x="293270" y="479027"/>
                  </a:lnTo>
                  <a:cubicBezTo>
                    <a:pt x="293270" y="517065"/>
                    <a:pt x="262207" y="548082"/>
                    <a:pt x="224113" y="548082"/>
                  </a:cubicBezTo>
                  <a:cubicBezTo>
                    <a:pt x="194564" y="548082"/>
                    <a:pt x="169376" y="529507"/>
                    <a:pt x="159407" y="503468"/>
                  </a:cubicBezTo>
                  <a:cubicBezTo>
                    <a:pt x="154423" y="504623"/>
                    <a:pt x="149350" y="505156"/>
                    <a:pt x="144187" y="505156"/>
                  </a:cubicBezTo>
                  <a:cubicBezTo>
                    <a:pt x="106093" y="505156"/>
                    <a:pt x="75031" y="474228"/>
                    <a:pt x="75031" y="436190"/>
                  </a:cubicBezTo>
                  <a:cubicBezTo>
                    <a:pt x="75031" y="434857"/>
                    <a:pt x="75120" y="433613"/>
                    <a:pt x="75120" y="432280"/>
                  </a:cubicBezTo>
                  <a:cubicBezTo>
                    <a:pt x="62125" y="429614"/>
                    <a:pt x="50199" y="423126"/>
                    <a:pt x="40586" y="413528"/>
                  </a:cubicBezTo>
                  <a:cubicBezTo>
                    <a:pt x="27502" y="400552"/>
                    <a:pt x="20293" y="383133"/>
                    <a:pt x="20293" y="364736"/>
                  </a:cubicBezTo>
                  <a:cubicBezTo>
                    <a:pt x="20293" y="352561"/>
                    <a:pt x="23497" y="340829"/>
                    <a:pt x="29372" y="330520"/>
                  </a:cubicBezTo>
                  <a:cubicBezTo>
                    <a:pt x="11660" y="317989"/>
                    <a:pt x="0" y="297370"/>
                    <a:pt x="0" y="273997"/>
                  </a:cubicBezTo>
                  <a:cubicBezTo>
                    <a:pt x="0" y="250712"/>
                    <a:pt x="11660" y="230093"/>
                    <a:pt x="29461" y="217562"/>
                  </a:cubicBezTo>
                  <a:cubicBezTo>
                    <a:pt x="14330" y="191167"/>
                    <a:pt x="18068" y="156950"/>
                    <a:pt x="40586" y="134465"/>
                  </a:cubicBezTo>
                  <a:cubicBezTo>
                    <a:pt x="50199" y="124867"/>
                    <a:pt x="62125" y="118468"/>
                    <a:pt x="75120" y="115713"/>
                  </a:cubicBezTo>
                  <a:cubicBezTo>
                    <a:pt x="75120" y="114469"/>
                    <a:pt x="75031" y="113225"/>
                    <a:pt x="75031" y="111892"/>
                  </a:cubicBezTo>
                  <a:cubicBezTo>
                    <a:pt x="75031" y="73854"/>
                    <a:pt x="106093" y="42837"/>
                    <a:pt x="144187" y="42837"/>
                  </a:cubicBezTo>
                  <a:cubicBezTo>
                    <a:pt x="149350" y="42837"/>
                    <a:pt x="154423" y="43459"/>
                    <a:pt x="159407" y="44526"/>
                  </a:cubicBezTo>
                  <a:cubicBezTo>
                    <a:pt x="169376" y="18486"/>
                    <a:pt x="194564" y="0"/>
                    <a:pt x="224113" y="0"/>
                  </a:cubicBezTo>
                  <a:close/>
                </a:path>
              </a:pathLst>
            </a:custGeom>
            <a:solidFill>
              <a:schemeClr val="accent1"/>
            </a:solidFill>
            <a:ln>
              <a:noFill/>
            </a:ln>
          </p:spPr>
        </p:sp>
      </p:grpSp>
      <p:sp>
        <p:nvSpPr>
          <p:cNvPr id="34" name="矩形: 圆角 33"/>
          <p:cNvSpPr/>
          <p:nvPr>
            <p:custDataLst>
              <p:tags r:id="rId5"/>
            </p:custDataLst>
          </p:nvPr>
        </p:nvSpPr>
        <p:spPr>
          <a:xfrm>
            <a:off x="2710180" y="1547813"/>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20" name="矩形 19"/>
          <p:cNvSpPr/>
          <p:nvPr>
            <p:custDataLst>
              <p:tags r:id="rId6"/>
            </p:custDataLst>
          </p:nvPr>
        </p:nvSpPr>
        <p:spPr>
          <a:xfrm>
            <a:off x="1405890" y="1998028"/>
            <a:ext cx="2888615" cy="922020"/>
          </a:xfrm>
          <a:prstGeom prst="rect">
            <a:avLst/>
          </a:prstGeom>
        </p:spPr>
        <p:txBody>
          <a:bodyPr wrap="square" anchor="t" anchorCtr="0">
            <a:spAutoFit/>
          </a:bodyPr>
          <a:lstStyle/>
          <a:p>
            <a:pPr algn="r">
              <a:lnSpc>
                <a:spcPct val="150000"/>
              </a:lnSpc>
            </a:pPr>
            <a:r>
              <a:rPr lang="zh-CN" altLang="en-US" sz="1200" dirty="0">
                <a:solidFill>
                  <a:schemeClr val="accent1"/>
                </a:solidFill>
                <a:latin typeface="+mn-ea"/>
                <a:cs typeface="+mn-ea"/>
              </a:rPr>
              <a:t>本选题旨在探究社交媒体（如雪球、微博）的情绪指标如何影响股票市场的交易量、波动性和价格异常。</a:t>
            </a:r>
            <a:endParaRPr lang="zh-CN" altLang="en-US" sz="1200" dirty="0">
              <a:solidFill>
                <a:schemeClr val="accent1"/>
              </a:solidFill>
              <a:latin typeface="+mn-ea"/>
              <a:cs typeface="+mn-ea"/>
            </a:endParaRPr>
          </a:p>
        </p:txBody>
      </p:sp>
      <p:sp>
        <p:nvSpPr>
          <p:cNvPr id="21" name="矩形 20"/>
          <p:cNvSpPr/>
          <p:nvPr>
            <p:custDataLst>
              <p:tags r:id="rId7"/>
            </p:custDataLst>
          </p:nvPr>
        </p:nvSpPr>
        <p:spPr>
          <a:xfrm>
            <a:off x="2710180" y="1475740"/>
            <a:ext cx="161925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rPr>
              <a:t>研究内容</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8" name="矩形: 圆角 33"/>
          <p:cNvSpPr/>
          <p:nvPr>
            <p:custDataLst>
              <p:tags r:id="rId8"/>
            </p:custDataLst>
          </p:nvPr>
        </p:nvSpPr>
        <p:spPr>
          <a:xfrm>
            <a:off x="2093595" y="326072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9" name="矩形 8"/>
          <p:cNvSpPr/>
          <p:nvPr>
            <p:custDataLst>
              <p:tags r:id="rId9"/>
            </p:custDataLst>
          </p:nvPr>
        </p:nvSpPr>
        <p:spPr>
          <a:xfrm>
            <a:off x="789305" y="3709988"/>
            <a:ext cx="2888615" cy="922020"/>
          </a:xfrm>
          <a:prstGeom prst="rect">
            <a:avLst/>
          </a:prstGeom>
        </p:spPr>
        <p:txBody>
          <a:bodyPr wrap="square" anchor="t" anchorCtr="0">
            <a:spAutoFit/>
          </a:bodyPr>
          <a:lstStyle/>
          <a:p>
            <a:pPr algn="r">
              <a:lnSpc>
                <a:spcPct val="150000"/>
              </a:lnSpc>
            </a:pPr>
            <a:r>
              <a:rPr lang="en-US" altLang="zh-CN" sz="1200" dirty="0">
                <a:solidFill>
                  <a:schemeClr val="accent1"/>
                </a:solidFill>
                <a:latin typeface="+mn-ea"/>
                <a:cs typeface="+mn-ea"/>
              </a:rPr>
              <a:t> </a:t>
            </a:r>
            <a:r>
              <a:rPr lang="zh-CN" altLang="en-US" sz="1200" dirty="0">
                <a:solidFill>
                  <a:schemeClr val="accent1"/>
                </a:solidFill>
                <a:latin typeface="+mn-ea"/>
                <a:cs typeface="+mn-ea"/>
              </a:rPr>
              <a:t>借鉴投资者情绪理论（</a:t>
            </a:r>
            <a:r>
              <a:rPr lang="en-US" altLang="zh-CN" sz="1200" dirty="0">
                <a:solidFill>
                  <a:schemeClr val="accent1"/>
                </a:solidFill>
                <a:latin typeface="+mn-ea"/>
                <a:cs typeface="+mn-ea"/>
              </a:rPr>
              <a:t>Investor Sentiment Theory</a:t>
            </a:r>
            <a:r>
              <a:rPr lang="zh-CN" altLang="en-US" sz="1200" dirty="0">
                <a:solidFill>
                  <a:schemeClr val="accent1"/>
                </a:solidFill>
                <a:latin typeface="+mn-ea"/>
                <a:cs typeface="+mn-ea"/>
              </a:rPr>
              <a:t>），分析非理性情绪对资产定价的影响</a:t>
            </a:r>
            <a:endParaRPr lang="zh-CN" altLang="en-US" sz="1200" dirty="0">
              <a:solidFill>
                <a:schemeClr val="accent1"/>
              </a:solidFill>
              <a:latin typeface="+mn-ea"/>
              <a:cs typeface="+mn-ea"/>
            </a:endParaRPr>
          </a:p>
        </p:txBody>
      </p:sp>
      <p:sp>
        <p:nvSpPr>
          <p:cNvPr id="10" name="矩形 9"/>
          <p:cNvSpPr/>
          <p:nvPr>
            <p:custDataLst>
              <p:tags r:id="rId10"/>
            </p:custDataLst>
          </p:nvPr>
        </p:nvSpPr>
        <p:spPr>
          <a:xfrm>
            <a:off x="2145665" y="3198495"/>
            <a:ext cx="1583055"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行为金融</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0" name="矩形: 圆角 33"/>
          <p:cNvSpPr/>
          <p:nvPr>
            <p:custDataLst>
              <p:tags r:id="rId11"/>
            </p:custDataLst>
          </p:nvPr>
        </p:nvSpPr>
        <p:spPr>
          <a:xfrm flipH="1">
            <a:off x="8009255" y="145605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41" name="矩形 40"/>
          <p:cNvSpPr/>
          <p:nvPr>
            <p:custDataLst>
              <p:tags r:id="rId12"/>
            </p:custDataLst>
          </p:nvPr>
        </p:nvSpPr>
        <p:spPr>
          <a:xfrm flipH="1">
            <a:off x="8044180" y="1905318"/>
            <a:ext cx="2888615" cy="922020"/>
          </a:xfrm>
          <a:prstGeom prst="rect">
            <a:avLst/>
          </a:prstGeom>
        </p:spPr>
        <p:txBody>
          <a:bodyPr wrap="square" anchor="t" anchorCtr="0">
            <a:spAutoFit/>
          </a:bodyPr>
          <a:lstStyle/>
          <a:p>
            <a:pPr algn="l">
              <a:lnSpc>
                <a:spcPct val="150000"/>
              </a:lnSpc>
            </a:pPr>
            <a:r>
              <a:rPr lang="en-US" altLang="zh-CN" sz="1200" dirty="0">
                <a:solidFill>
                  <a:schemeClr val="accent1"/>
                </a:solidFill>
                <a:latin typeface="+mn-ea"/>
                <a:cs typeface="+mn-ea"/>
              </a:rPr>
              <a:t> </a:t>
            </a:r>
            <a:r>
              <a:rPr lang="zh-CN" altLang="en-US" sz="1200" dirty="0">
                <a:solidFill>
                  <a:schemeClr val="accent1"/>
                </a:solidFill>
                <a:latin typeface="+mn-ea"/>
                <a:cs typeface="+mn-ea"/>
              </a:rPr>
              <a:t>采用格兰杰因果检验和向量自回归模型（</a:t>
            </a:r>
            <a:r>
              <a:rPr lang="en-US" altLang="zh-CN" sz="1200" dirty="0">
                <a:solidFill>
                  <a:schemeClr val="accent1"/>
                </a:solidFill>
                <a:latin typeface="+mn-ea"/>
                <a:cs typeface="+mn-ea"/>
              </a:rPr>
              <a:t>VAR</a:t>
            </a:r>
            <a:r>
              <a:rPr lang="zh-CN" altLang="en-US" sz="1200" dirty="0">
                <a:solidFill>
                  <a:schemeClr val="accent1"/>
                </a:solidFill>
                <a:latin typeface="+mn-ea"/>
                <a:cs typeface="+mn-ea"/>
              </a:rPr>
              <a:t>），检验社交媒体情绪与股市波动之间的动态关系</a:t>
            </a:r>
            <a:endParaRPr lang="zh-CN" altLang="en-US" sz="1200" dirty="0">
              <a:solidFill>
                <a:schemeClr val="accent1"/>
              </a:solidFill>
              <a:latin typeface="+mn-ea"/>
              <a:cs typeface="+mn-ea"/>
            </a:endParaRPr>
          </a:p>
        </p:txBody>
      </p:sp>
      <p:sp>
        <p:nvSpPr>
          <p:cNvPr id="42" name="矩形 41"/>
          <p:cNvSpPr/>
          <p:nvPr>
            <p:custDataLst>
              <p:tags r:id="rId13"/>
            </p:custDataLst>
          </p:nvPr>
        </p:nvSpPr>
        <p:spPr>
          <a:xfrm flipH="1">
            <a:off x="8059420" y="1383983"/>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时序分析</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4" name="矩形: 圆角 33"/>
          <p:cNvSpPr/>
          <p:nvPr>
            <p:custDataLst>
              <p:tags r:id="rId14"/>
            </p:custDataLst>
          </p:nvPr>
        </p:nvSpPr>
        <p:spPr>
          <a:xfrm flipH="1">
            <a:off x="8552180" y="3136265"/>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45" name="矩形 44"/>
          <p:cNvSpPr/>
          <p:nvPr>
            <p:custDataLst>
              <p:tags r:id="rId15"/>
            </p:custDataLst>
          </p:nvPr>
        </p:nvSpPr>
        <p:spPr>
          <a:xfrm flipH="1">
            <a:off x="8587105" y="3585528"/>
            <a:ext cx="2888615" cy="922020"/>
          </a:xfrm>
          <a:prstGeom prst="rect">
            <a:avLst/>
          </a:prstGeom>
        </p:spPr>
        <p:txBody>
          <a:bodyPr wrap="square" anchor="t" anchorCtr="0">
            <a:spAutoFit/>
          </a:bodyPr>
          <a:lstStyle/>
          <a:p>
            <a:pPr algn="l">
              <a:lnSpc>
                <a:spcPct val="150000"/>
              </a:lnSpc>
            </a:pPr>
            <a:r>
              <a:rPr lang="zh-CN" altLang="en-US" sz="1200" dirty="0">
                <a:solidFill>
                  <a:schemeClr val="accent1"/>
                </a:solidFill>
                <a:latin typeface="+mn-ea"/>
                <a:cs typeface="+mn-ea"/>
              </a:rPr>
              <a:t>选取重大突发公共事件，分析社交媒体情绪在事件发生后对股价异常收益的影响</a:t>
            </a:r>
            <a:endParaRPr lang="zh-CN" altLang="en-US" sz="1200" dirty="0">
              <a:solidFill>
                <a:schemeClr val="accent1"/>
              </a:solidFill>
              <a:latin typeface="+mn-ea"/>
              <a:cs typeface="+mn-ea"/>
            </a:endParaRPr>
          </a:p>
        </p:txBody>
      </p:sp>
      <p:sp>
        <p:nvSpPr>
          <p:cNvPr id="46" name="矩形 45"/>
          <p:cNvSpPr/>
          <p:nvPr>
            <p:custDataLst>
              <p:tags r:id="rId16"/>
            </p:custDataLst>
          </p:nvPr>
        </p:nvSpPr>
        <p:spPr>
          <a:xfrm flipH="1">
            <a:off x="8573770" y="3063240"/>
            <a:ext cx="1602105"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事件研究</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9" name="矩形: 圆角 33"/>
          <p:cNvSpPr/>
          <p:nvPr>
            <p:custDataLst>
              <p:tags r:id="rId17"/>
            </p:custDataLst>
          </p:nvPr>
        </p:nvSpPr>
        <p:spPr>
          <a:xfrm flipH="1">
            <a:off x="8044180" y="517461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50" name="矩形 49"/>
          <p:cNvSpPr/>
          <p:nvPr>
            <p:custDataLst>
              <p:tags r:id="rId18"/>
            </p:custDataLst>
          </p:nvPr>
        </p:nvSpPr>
        <p:spPr>
          <a:xfrm flipH="1">
            <a:off x="8079105" y="5623878"/>
            <a:ext cx="2888615" cy="922020"/>
          </a:xfrm>
          <a:prstGeom prst="rect">
            <a:avLst/>
          </a:prstGeom>
        </p:spPr>
        <p:txBody>
          <a:bodyPr wrap="square" anchor="t" anchorCtr="0">
            <a:spAutoFit/>
          </a:bodyPr>
          <a:lstStyle/>
          <a:p>
            <a:pPr algn="l">
              <a:lnSpc>
                <a:spcPct val="150000"/>
              </a:lnSpc>
            </a:pPr>
            <a:r>
              <a:rPr lang="zh-CN" altLang="en-US" sz="1200" dirty="0">
                <a:solidFill>
                  <a:schemeClr val="accent1"/>
                </a:solidFill>
                <a:latin typeface="+mn-ea"/>
                <a:cs typeface="+mn-ea"/>
              </a:rPr>
              <a:t>构建一个高频社交媒体情绪指数，并量化其对</a:t>
            </a:r>
            <a:r>
              <a:rPr lang="en-US" altLang="zh-CN" sz="1200" dirty="0">
                <a:solidFill>
                  <a:schemeClr val="accent1"/>
                </a:solidFill>
                <a:latin typeface="+mn-ea"/>
                <a:cs typeface="+mn-ea"/>
              </a:rPr>
              <a:t>A</a:t>
            </a:r>
            <a:r>
              <a:rPr lang="zh-CN" altLang="en-US" sz="1200" dirty="0">
                <a:solidFill>
                  <a:schemeClr val="accent1"/>
                </a:solidFill>
                <a:latin typeface="+mn-ea"/>
                <a:cs typeface="+mn-ea"/>
              </a:rPr>
              <a:t>股市场特定板块（如科技股）的预测能力。形成跨市场的比较研究报告</a:t>
            </a:r>
            <a:endParaRPr lang="zh-CN" altLang="en-US" sz="1200" dirty="0">
              <a:solidFill>
                <a:schemeClr val="accent1"/>
              </a:solidFill>
              <a:latin typeface="+mn-ea"/>
              <a:cs typeface="+mn-ea"/>
            </a:endParaRPr>
          </a:p>
        </p:txBody>
      </p:sp>
      <p:sp>
        <p:nvSpPr>
          <p:cNvPr id="51" name="矩形 50"/>
          <p:cNvSpPr/>
          <p:nvPr>
            <p:custDataLst>
              <p:tags r:id="rId19"/>
            </p:custDataLst>
          </p:nvPr>
        </p:nvSpPr>
        <p:spPr>
          <a:xfrm flipH="1">
            <a:off x="8056245" y="5118100"/>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预期成果</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57" name="矩形: 圆角 33"/>
          <p:cNvSpPr/>
          <p:nvPr>
            <p:custDataLst>
              <p:tags r:id="rId20"/>
            </p:custDataLst>
          </p:nvPr>
        </p:nvSpPr>
        <p:spPr>
          <a:xfrm>
            <a:off x="2693035" y="5185410"/>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58" name="矩形 57"/>
          <p:cNvSpPr/>
          <p:nvPr>
            <p:custDataLst>
              <p:tags r:id="rId21"/>
            </p:custDataLst>
          </p:nvPr>
        </p:nvSpPr>
        <p:spPr>
          <a:xfrm>
            <a:off x="1153160" y="5634990"/>
            <a:ext cx="3124200" cy="645160"/>
          </a:xfrm>
          <a:prstGeom prst="rect">
            <a:avLst/>
          </a:prstGeom>
        </p:spPr>
        <p:txBody>
          <a:bodyPr wrap="square" anchor="t" anchorCtr="0">
            <a:spAutoFit/>
          </a:bodyPr>
          <a:lstStyle/>
          <a:p>
            <a:pPr algn="r">
              <a:lnSpc>
                <a:spcPct val="150000"/>
              </a:lnSpc>
            </a:pPr>
            <a:r>
              <a:rPr lang="zh-CN" altLang="en-US" sz="1200" dirty="0">
                <a:solidFill>
                  <a:schemeClr val="accent1"/>
                </a:solidFill>
                <a:latin typeface="+mn-ea"/>
                <a:cs typeface="+mn-ea"/>
              </a:rPr>
              <a:t>采用词典法或情感分析模型（</a:t>
            </a:r>
            <a:r>
              <a:rPr lang="en-US" altLang="zh-CN" sz="1200" dirty="0">
                <a:solidFill>
                  <a:schemeClr val="accent1"/>
                </a:solidFill>
                <a:latin typeface="+mn-ea"/>
                <a:cs typeface="+mn-ea"/>
              </a:rPr>
              <a:t>NLP</a:t>
            </a:r>
            <a:r>
              <a:rPr lang="zh-CN" altLang="en-US" sz="1200" dirty="0">
                <a:solidFill>
                  <a:schemeClr val="accent1"/>
                </a:solidFill>
                <a:latin typeface="+mn-ea"/>
                <a:cs typeface="+mn-ea"/>
              </a:rPr>
              <a:t>），对海量社交媒体文本进行情感评分和聚合</a:t>
            </a:r>
            <a:endParaRPr lang="zh-CN" altLang="en-US" sz="1200" dirty="0">
              <a:solidFill>
                <a:schemeClr val="accent1"/>
              </a:solidFill>
              <a:latin typeface="+mn-ea"/>
              <a:cs typeface="+mn-ea"/>
            </a:endParaRPr>
          </a:p>
        </p:txBody>
      </p:sp>
      <p:sp>
        <p:nvSpPr>
          <p:cNvPr id="59" name="矩形 58"/>
          <p:cNvSpPr/>
          <p:nvPr>
            <p:custDataLst>
              <p:tags r:id="rId22"/>
            </p:custDataLst>
          </p:nvPr>
        </p:nvSpPr>
        <p:spPr>
          <a:xfrm>
            <a:off x="2693035" y="5125085"/>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指数构建</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grpSp>
        <p:nvGrpSpPr>
          <p:cNvPr id="6" name="组合 5"/>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7" name="文本框 6"/>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社交媒体情绪对股市波动影响的跨市场比较研究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1"/>
            </p:custDataLst>
          </p:nvPr>
        </p:nvSpPr>
        <p:spPr>
          <a:xfrm>
            <a:off x="1151255" y="2238375"/>
            <a:ext cx="2130425" cy="1963420"/>
          </a:xfrm>
          <a:prstGeom prst="roundRect">
            <a:avLst>
              <a:gd name="adj" fmla="val 935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11" name="任意多边形 10"/>
          <p:cNvSpPr/>
          <p:nvPr>
            <p:custDataLst>
              <p:tags r:id="rId2"/>
            </p:custDataLst>
          </p:nvPr>
        </p:nvSpPr>
        <p:spPr>
          <a:xfrm>
            <a:off x="100901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12" name="椭圆 11"/>
          <p:cNvSpPr/>
          <p:nvPr>
            <p:custDataLst>
              <p:tags r:id="rId3"/>
            </p:custDataLst>
          </p:nvPr>
        </p:nvSpPr>
        <p:spPr>
          <a:xfrm>
            <a:off x="1824990" y="3034030"/>
            <a:ext cx="782955" cy="78422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13" name="文本框 11"/>
          <p:cNvSpPr txBox="1"/>
          <p:nvPr>
            <p:custDataLst>
              <p:tags r:id="rId4"/>
            </p:custDataLst>
          </p:nvPr>
        </p:nvSpPr>
        <p:spPr>
          <a:xfrm>
            <a:off x="1696720" y="2479040"/>
            <a:ext cx="1095375" cy="768350"/>
          </a:xfrm>
          <a:prstGeom prst="rect">
            <a:avLst/>
          </a:prstGeom>
          <a:noFill/>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01</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37" name="文本框 64"/>
          <p:cNvSpPr txBox="1"/>
          <p:nvPr>
            <p:custDataLst>
              <p:tags r:id="rId5"/>
            </p:custDataLst>
          </p:nvPr>
        </p:nvSpPr>
        <p:spPr>
          <a:xfrm>
            <a:off x="1491615"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人机交互</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40" name="圆角矩形 39"/>
          <p:cNvSpPr/>
          <p:nvPr>
            <p:custDataLst>
              <p:tags r:id="rId6"/>
            </p:custDataLst>
          </p:nvPr>
        </p:nvSpPr>
        <p:spPr>
          <a:xfrm>
            <a:off x="3750945" y="2238375"/>
            <a:ext cx="2130425" cy="1963420"/>
          </a:xfrm>
          <a:prstGeom prst="roundRect">
            <a:avLst>
              <a:gd name="adj" fmla="val 935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41" name="任意多边形 40"/>
          <p:cNvSpPr/>
          <p:nvPr>
            <p:custDataLst>
              <p:tags r:id="rId7"/>
            </p:custDataLst>
          </p:nvPr>
        </p:nvSpPr>
        <p:spPr>
          <a:xfrm>
            <a:off x="360870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42" name="椭圆 41"/>
          <p:cNvSpPr/>
          <p:nvPr>
            <p:custDataLst>
              <p:tags r:id="rId8"/>
            </p:custDataLst>
          </p:nvPr>
        </p:nvSpPr>
        <p:spPr>
          <a:xfrm>
            <a:off x="4424680" y="3034030"/>
            <a:ext cx="782955" cy="7842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43" name="文本框 48"/>
          <p:cNvSpPr txBox="1"/>
          <p:nvPr>
            <p:custDataLst>
              <p:tags r:id="rId9"/>
            </p:custDataLst>
          </p:nvPr>
        </p:nvSpPr>
        <p:spPr>
          <a:xfrm>
            <a:off x="4254500" y="2479040"/>
            <a:ext cx="1168400"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02</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47" name="圆角矩形 46"/>
          <p:cNvSpPr/>
          <p:nvPr>
            <p:custDataLst>
              <p:tags r:id="rId10"/>
            </p:custDataLst>
          </p:nvPr>
        </p:nvSpPr>
        <p:spPr>
          <a:xfrm>
            <a:off x="6340475" y="2238375"/>
            <a:ext cx="2130425" cy="1963420"/>
          </a:xfrm>
          <a:prstGeom prst="roundRect">
            <a:avLst>
              <a:gd name="adj" fmla="val 935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48" name="任意多边形 47"/>
          <p:cNvSpPr/>
          <p:nvPr>
            <p:custDataLst>
              <p:tags r:id="rId11"/>
            </p:custDataLst>
          </p:nvPr>
        </p:nvSpPr>
        <p:spPr>
          <a:xfrm>
            <a:off x="619823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49" name="椭圆 48"/>
          <p:cNvSpPr/>
          <p:nvPr>
            <p:custDataLst>
              <p:tags r:id="rId12"/>
            </p:custDataLst>
          </p:nvPr>
        </p:nvSpPr>
        <p:spPr>
          <a:xfrm>
            <a:off x="7014210" y="3034030"/>
            <a:ext cx="782955" cy="7842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50" name="文本框 54"/>
          <p:cNvSpPr txBox="1"/>
          <p:nvPr>
            <p:custDataLst>
              <p:tags r:id="rId13"/>
            </p:custDataLst>
          </p:nvPr>
        </p:nvSpPr>
        <p:spPr>
          <a:xfrm>
            <a:off x="6774180" y="2479040"/>
            <a:ext cx="1276985"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03</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54" name="圆角矩形 53"/>
          <p:cNvSpPr/>
          <p:nvPr>
            <p:custDataLst>
              <p:tags r:id="rId14"/>
            </p:custDataLst>
          </p:nvPr>
        </p:nvSpPr>
        <p:spPr>
          <a:xfrm>
            <a:off x="8940165" y="2238375"/>
            <a:ext cx="2130425" cy="1963420"/>
          </a:xfrm>
          <a:prstGeom prst="roundRect">
            <a:avLst>
              <a:gd name="adj" fmla="val 935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55" name="任意多边形 54"/>
          <p:cNvSpPr/>
          <p:nvPr>
            <p:custDataLst>
              <p:tags r:id="rId15"/>
            </p:custDataLst>
          </p:nvPr>
        </p:nvSpPr>
        <p:spPr>
          <a:xfrm>
            <a:off x="879792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56" name="椭圆 55"/>
          <p:cNvSpPr/>
          <p:nvPr>
            <p:custDataLst>
              <p:tags r:id="rId16"/>
            </p:custDataLst>
          </p:nvPr>
        </p:nvSpPr>
        <p:spPr>
          <a:xfrm>
            <a:off x="9613900" y="3034030"/>
            <a:ext cx="782955" cy="7842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57" name="文本框 67"/>
          <p:cNvSpPr txBox="1"/>
          <p:nvPr>
            <p:custDataLst>
              <p:tags r:id="rId17"/>
            </p:custDataLst>
          </p:nvPr>
        </p:nvSpPr>
        <p:spPr>
          <a:xfrm>
            <a:off x="9415780" y="2479040"/>
            <a:ext cx="1143635"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04</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15" name="矩形 44"/>
          <p:cNvSpPr>
            <a:spLocks noChangeArrowheads="1"/>
          </p:cNvSpPr>
          <p:nvPr>
            <p:custDataLst>
              <p:tags r:id="rId18"/>
            </p:custDataLst>
          </p:nvPr>
        </p:nvSpPr>
        <p:spPr bwMode="auto">
          <a:xfrm>
            <a:off x="1300480" y="4626610"/>
            <a:ext cx="186118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分析程序员与</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的交互模式，如提示词工程（</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Prompt Engineering</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）对任务效率的影响</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6" name="文本框 66"/>
          <p:cNvSpPr txBox="1"/>
          <p:nvPr>
            <p:custDataLst>
              <p:tags r:id="rId19"/>
            </p:custDataLst>
          </p:nvPr>
        </p:nvSpPr>
        <p:spPr>
          <a:xfrm>
            <a:off x="409956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软件工程</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17" name="矩形 45"/>
          <p:cNvSpPr>
            <a:spLocks noChangeArrowheads="1"/>
          </p:cNvSpPr>
          <p:nvPr>
            <p:custDataLst>
              <p:tags r:id="rId20"/>
            </p:custDataLst>
          </p:nvPr>
        </p:nvSpPr>
        <p:spPr bwMode="auto">
          <a:xfrm>
            <a:off x="3908425" y="4626610"/>
            <a:ext cx="1861185" cy="75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采用代码行数、圈复杂度、缺陷密度等指标，量化</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对软件质量的影响</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8" name="文本框 55"/>
          <p:cNvSpPr txBox="1"/>
          <p:nvPr>
            <p:custDataLst>
              <p:tags r:id="rId21"/>
            </p:custDataLst>
          </p:nvPr>
        </p:nvSpPr>
        <p:spPr>
          <a:xfrm>
            <a:off x="668528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实验设计</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19" name="矩形 46"/>
          <p:cNvSpPr>
            <a:spLocks noChangeArrowheads="1"/>
          </p:cNvSpPr>
          <p:nvPr>
            <p:custDataLst>
              <p:tags r:id="rId22"/>
            </p:custDataLst>
          </p:nvPr>
        </p:nvSpPr>
        <p:spPr bwMode="auto">
          <a:xfrm>
            <a:off x="6494145" y="4626610"/>
            <a:ext cx="1861185" cy="119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设置实验组（使用</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辅助工具，如</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Copilot</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）和对照组（传统编程），对比完成特定难度任务的时间和错误率</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20" name="文本框 64"/>
          <p:cNvSpPr txBox="1"/>
          <p:nvPr>
            <p:custDataLst>
              <p:tags r:id="rId23"/>
            </p:custDataLst>
          </p:nvPr>
        </p:nvSpPr>
        <p:spPr>
          <a:xfrm>
            <a:off x="927227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用户体验</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21" name="矩形 47"/>
          <p:cNvSpPr>
            <a:spLocks noChangeArrowheads="1"/>
          </p:cNvSpPr>
          <p:nvPr>
            <p:custDataLst>
              <p:tags r:id="rId24"/>
            </p:custDataLst>
          </p:nvPr>
        </p:nvSpPr>
        <p:spPr bwMode="auto">
          <a:xfrm>
            <a:off x="9081135" y="4626610"/>
            <a:ext cx="186118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结合问卷和访谈，评估程序员对</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辅助工具的接受度、满意度和认知负荷</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nvGrpSpPr>
          <p:cNvPr id="3" name="组合 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LLMs</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驱动的编程辅助效率提升研究方法</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3"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1"/>
            </p:custDataLst>
          </p:nvPr>
        </p:nvSpPr>
        <p:spPr>
          <a:xfrm>
            <a:off x="4537075" y="2183130"/>
            <a:ext cx="3119755" cy="3119755"/>
          </a:xfrm>
          <a:prstGeom prst="ellipse">
            <a:avLst/>
          </a:prstGeom>
          <a:noFill/>
          <a:ln w="136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5" name="椭圆 5"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2"/>
            </p:custDataLst>
          </p:nvPr>
        </p:nvSpPr>
        <p:spPr>
          <a:xfrm>
            <a:off x="6450330" y="4430395"/>
            <a:ext cx="1319530" cy="1319530"/>
          </a:xfrm>
          <a:prstGeom prst="ellipse">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7" name="椭圆 8"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3"/>
            </p:custDataLst>
          </p:nvPr>
        </p:nvSpPr>
        <p:spPr>
          <a:xfrm>
            <a:off x="6450330" y="2087245"/>
            <a:ext cx="1319530" cy="1319530"/>
          </a:xfrm>
          <a:prstGeom prst="ellipse">
            <a:avLst/>
          </a:prstGeom>
          <a:solidFill>
            <a:schemeClr val="accent5"/>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9" name="椭圆 11"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4"/>
            </p:custDataLst>
          </p:nvPr>
        </p:nvSpPr>
        <p:spPr>
          <a:xfrm>
            <a:off x="4432935" y="4430395"/>
            <a:ext cx="1319530" cy="1319530"/>
          </a:xfrm>
          <a:prstGeom prst="ellipse">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2" name="椭圆 14"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5"/>
            </p:custDataLst>
          </p:nvPr>
        </p:nvSpPr>
        <p:spPr>
          <a:xfrm>
            <a:off x="4432935" y="2087245"/>
            <a:ext cx="1319530" cy="1319530"/>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3" name="文本框 3"/>
          <p:cNvSpPr txBox="1"/>
          <p:nvPr>
            <p:custDataLst>
              <p:tags r:id="rId6"/>
            </p:custDataLst>
          </p:nvPr>
        </p:nvSpPr>
        <p:spPr>
          <a:xfrm>
            <a:off x="8253095" y="1724660"/>
            <a:ext cx="266192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分析国家主权在网络空间中的延伸，探讨数据主权与全球信息流动的平衡点</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4" name="文本框 14"/>
          <p:cNvSpPr txBox="1"/>
          <p:nvPr>
            <p:custDataLst>
              <p:tags r:id="rId7"/>
            </p:custDataLst>
          </p:nvPr>
        </p:nvSpPr>
        <p:spPr>
          <a:xfrm>
            <a:off x="1290955" y="4478020"/>
            <a:ext cx="268478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选取国内外典型案例（如滴滴事件、</a:t>
            </a:r>
            <a:r>
              <a:rPr lang="en-US" altLang="zh-CN"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TikTok</a:t>
            </a: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事件），分析本土化存储要求的实际执法情况和法律后果</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5" name="圆角矩形 45"/>
          <p:cNvSpPr/>
          <p:nvPr>
            <p:custDataLst>
              <p:tags r:id="rId8"/>
            </p:custDataLst>
          </p:nvPr>
        </p:nvSpPr>
        <p:spPr>
          <a:xfrm>
            <a:off x="8253095" y="1899285"/>
            <a:ext cx="2216785" cy="561975"/>
          </a:xfrm>
          <a:prstGeom prst="roundRect">
            <a:avLst>
              <a:gd name="adj" fmla="val 50000"/>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数据主权理论</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6" name="圆角矩形 42"/>
          <p:cNvSpPr/>
          <p:nvPr>
            <p:custDataLst>
              <p:tags r:id="rId9"/>
            </p:custDataLst>
          </p:nvPr>
        </p:nvSpPr>
        <p:spPr>
          <a:xfrm>
            <a:off x="1758950" y="4594860"/>
            <a:ext cx="2216785" cy="561975"/>
          </a:xfrm>
          <a:prstGeom prst="roundRect">
            <a:avLst>
              <a:gd name="adj" fmla="val 50000"/>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案例分析法</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67" name="文本框 1"/>
          <p:cNvSpPr txBox="1"/>
          <p:nvPr>
            <p:custDataLst>
              <p:tags r:id="rId10"/>
            </p:custDataLst>
          </p:nvPr>
        </p:nvSpPr>
        <p:spPr>
          <a:xfrm>
            <a:off x="8253095" y="4478020"/>
            <a:ext cx="266192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访谈跨国企业法务人员、数据安全律师和监管机构人员，了解实际合规操作中的困境与成本</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9" name="圆角矩形 41"/>
          <p:cNvSpPr/>
          <p:nvPr>
            <p:custDataLst>
              <p:tags r:id="rId11"/>
            </p:custDataLst>
          </p:nvPr>
        </p:nvSpPr>
        <p:spPr>
          <a:xfrm>
            <a:off x="8253095" y="4594860"/>
            <a:ext cx="2216785" cy="561975"/>
          </a:xfrm>
          <a:prstGeom prst="roundRect">
            <a:avLst>
              <a:gd name="adj" fmla="val 50000"/>
            </a:avLst>
          </a:prstGeom>
          <a:solidFill>
            <a:schemeClr val="accent5"/>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专家访谈法</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70" name="文本框 2"/>
          <p:cNvSpPr txBox="1"/>
          <p:nvPr>
            <p:custDataLst>
              <p:tags r:id="rId12"/>
            </p:custDataLst>
          </p:nvPr>
        </p:nvSpPr>
        <p:spPr>
          <a:xfrm>
            <a:off x="1276350" y="1724660"/>
            <a:ext cx="268478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对比分析中国、欧盟、美国的跨境数据流动和安全审查制度，识别立法差异和冲突点</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72" name="圆角矩形 43"/>
          <p:cNvSpPr/>
          <p:nvPr>
            <p:custDataLst>
              <p:tags r:id="rId13"/>
            </p:custDataLst>
          </p:nvPr>
        </p:nvSpPr>
        <p:spPr>
          <a:xfrm>
            <a:off x="1744345" y="1899285"/>
            <a:ext cx="2216785" cy="561975"/>
          </a:xfrm>
          <a:prstGeom prst="roundRect">
            <a:avLst>
              <a:gd name="adj" fmla="val 50000"/>
            </a:avLst>
          </a:prstGeom>
          <a:solidFill>
            <a:schemeClr val="accent2"/>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法学比较研究</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pic>
        <p:nvPicPr>
          <p:cNvPr id="56" name="图片 55" descr="32313534313136373b32313534313135323bbbe3b1a8"/>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777740" y="4775200"/>
            <a:ext cx="629920" cy="629920"/>
          </a:xfrm>
          <a:prstGeom prst="rect">
            <a:avLst/>
          </a:prstGeom>
        </p:spPr>
      </p:pic>
      <p:pic>
        <p:nvPicPr>
          <p:cNvPr id="57" name="图片 56" descr="32313534313136373b32313534313135333bbbe1bbb0"/>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4799330" y="2453640"/>
            <a:ext cx="586740" cy="586740"/>
          </a:xfrm>
          <a:prstGeom prst="rect">
            <a:avLst/>
          </a:prstGeom>
        </p:spPr>
      </p:pic>
      <p:pic>
        <p:nvPicPr>
          <p:cNvPr id="16" name="图片 15" descr="32313534313136373b32313534313136303bc9cfc9fd"/>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6797040" y="2433955"/>
            <a:ext cx="626110" cy="626110"/>
          </a:xfrm>
          <a:prstGeom prst="rect">
            <a:avLst/>
          </a:prstGeom>
        </p:spPr>
      </p:pic>
      <p:grpSp>
        <p:nvGrpSpPr>
          <p:cNvPr id="3" name="组合 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0" name="文本框 9"/>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法学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 </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：聚焦数据合规与算法治理研究方法</a:t>
            </a:r>
            <a:endPar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pic>
        <p:nvPicPr>
          <p:cNvPr id="14" name="图片 13" descr="32313534313136373b32313534313135333bbbe1bbb0"/>
          <p:cNvPicPr>
            <a:picLocks noChangeAspect="1"/>
          </p:cNvPicPr>
          <p:nvPr>
            <p:custDataLst>
              <p:tags r:id="rId23"/>
            </p:custDataLst>
          </p:nvPr>
        </p:nvPicPr>
        <p:blipFill>
          <a:blip r:embed="rId18">
            <a:extLst>
              <a:ext uri="{96DAC541-7B7A-43D3-8B79-37D633B846F1}">
                <asvg:svgBlip xmlns:asvg="http://schemas.microsoft.com/office/drawing/2016/SVG/main" r:embed="rId19"/>
              </a:ext>
            </a:extLst>
          </a:blip>
          <a:stretch>
            <a:fillRect/>
          </a:stretch>
        </p:blipFill>
        <p:spPr>
          <a:xfrm>
            <a:off x="6797040" y="4818380"/>
            <a:ext cx="586740" cy="586740"/>
          </a:xfrm>
          <a:prstGeom prst="rect">
            <a:avLst/>
          </a:prstGeom>
        </p:spPr>
      </p:pic>
    </p:spTree>
    <p:custDataLst>
      <p:tags r:id="rId2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48086"/>
          <p:cNvSpPr/>
          <p:nvPr>
            <p:custDataLst>
              <p:tags r:id="rId1"/>
            </p:custDataLst>
          </p:nvPr>
        </p:nvSpPr>
        <p:spPr>
          <a:xfrm>
            <a:off x="5058410" y="4301490"/>
            <a:ext cx="2021205"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理论建模方法</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sp>
        <p:nvSpPr>
          <p:cNvPr id="15" name="Shape 48087"/>
          <p:cNvSpPr/>
          <p:nvPr>
            <p:custDataLst>
              <p:tags r:id="rId2"/>
            </p:custDataLst>
          </p:nvPr>
        </p:nvSpPr>
        <p:spPr>
          <a:xfrm>
            <a:off x="4750435" y="4834890"/>
            <a:ext cx="2621915" cy="1454785"/>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信息法学理论：</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分析算法信息传播中的信息失衡和权力不对等问题</a:t>
            </a: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用户权益保障：</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从民法、消费者权益保护法等角度，界定平台在算法推荐中的法律责任边界</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26" name="Group 48077"/>
          <p:cNvGrpSpPr/>
          <p:nvPr>
            <p:custDataLst>
              <p:tags r:id="rId3"/>
            </p:custDataLst>
          </p:nvPr>
        </p:nvGrpSpPr>
        <p:grpSpPr>
          <a:xfrm rot="0">
            <a:off x="5039360" y="1825625"/>
            <a:ext cx="2059940" cy="2195195"/>
            <a:chOff x="0" y="0"/>
            <a:chExt cx="2413000" cy="4198498"/>
          </a:xfrm>
        </p:grpSpPr>
        <p:sp>
          <p:nvSpPr>
            <p:cNvPr id="27" name="Shape 48071"/>
            <p:cNvSpPr/>
            <p:nvPr>
              <p:custDataLst>
                <p:tags r:id="rId4"/>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8" name="Shape 48072"/>
            <p:cNvSpPr/>
            <p:nvPr>
              <p:custDataLst>
                <p:tags r:id="rId5"/>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9" name="Shape 48073"/>
            <p:cNvSpPr/>
            <p:nvPr>
              <p:custDataLst>
                <p:tags r:id="rId6"/>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30" name="Shape 48074"/>
            <p:cNvSpPr/>
            <p:nvPr>
              <p:custDataLst>
                <p:tags r:id="rId7"/>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36" name="Shape 48075"/>
            <p:cNvSpPr/>
            <p:nvPr>
              <p:custDataLst>
                <p:tags r:id="rId8"/>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5" name="Shape 48076"/>
            <p:cNvSpPr/>
            <p:nvPr>
              <p:custDataLst>
                <p:tags r:id="rId9"/>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16" name="Shape 48086"/>
          <p:cNvSpPr/>
          <p:nvPr>
            <p:custDataLst>
              <p:tags r:id="rId10"/>
            </p:custDataLst>
          </p:nvPr>
        </p:nvSpPr>
        <p:spPr>
          <a:xfrm>
            <a:off x="8796655" y="4301490"/>
            <a:ext cx="2048510"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实验与实证</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grpSp>
        <p:nvGrpSpPr>
          <p:cNvPr id="18" name="Group 48077"/>
          <p:cNvGrpSpPr/>
          <p:nvPr>
            <p:custDataLst>
              <p:tags r:id="rId11"/>
            </p:custDataLst>
          </p:nvPr>
        </p:nvGrpSpPr>
        <p:grpSpPr>
          <a:xfrm rot="0">
            <a:off x="8790940" y="1825625"/>
            <a:ext cx="2059940" cy="2195195"/>
            <a:chOff x="0" y="0"/>
            <a:chExt cx="2413000" cy="4198498"/>
          </a:xfrm>
        </p:grpSpPr>
        <p:sp>
          <p:nvSpPr>
            <p:cNvPr id="20" name="Shape 48071"/>
            <p:cNvSpPr/>
            <p:nvPr>
              <p:custDataLst>
                <p:tags r:id="rId12"/>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1" name="Shape 48072"/>
            <p:cNvSpPr/>
            <p:nvPr>
              <p:custDataLst>
                <p:tags r:id="rId13"/>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2" name="Shape 48073"/>
            <p:cNvSpPr/>
            <p:nvPr>
              <p:custDataLst>
                <p:tags r:id="rId14"/>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3" name="Shape 48074"/>
            <p:cNvSpPr/>
            <p:nvPr>
              <p:custDataLst>
                <p:tags r:id="rId15"/>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4" name="Shape 48075"/>
            <p:cNvSpPr/>
            <p:nvPr>
              <p:custDataLst>
                <p:tags r:id="rId16"/>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5" name="Shape 48076"/>
            <p:cNvSpPr/>
            <p:nvPr>
              <p:custDataLst>
                <p:tags r:id="rId17"/>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32" name="Shape 48087"/>
          <p:cNvSpPr/>
          <p:nvPr>
            <p:custDataLst>
              <p:tags r:id="rId18"/>
            </p:custDataLst>
          </p:nvPr>
        </p:nvSpPr>
        <p:spPr>
          <a:xfrm>
            <a:off x="8457565" y="4834890"/>
            <a:ext cx="2726055" cy="1675765"/>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文献研究法：</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收集和分析国内外关于算法歧视、信息茧房的判例和行政处罚案例</a:t>
            </a: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规范分析法：</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对现有法律法规进行深度解读，评估其对</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茧房效应</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治理的有效性</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5" name="Group 48077"/>
          <p:cNvGrpSpPr/>
          <p:nvPr>
            <p:custDataLst>
              <p:tags r:id="rId19"/>
            </p:custDataLst>
          </p:nvPr>
        </p:nvGrpSpPr>
        <p:grpSpPr>
          <a:xfrm rot="0">
            <a:off x="1287145" y="1825625"/>
            <a:ext cx="2060575" cy="2195195"/>
            <a:chOff x="0" y="0"/>
            <a:chExt cx="2413000" cy="4198498"/>
          </a:xfrm>
        </p:grpSpPr>
        <p:sp>
          <p:nvSpPr>
            <p:cNvPr id="6" name="Shape 48071"/>
            <p:cNvSpPr/>
            <p:nvPr>
              <p:custDataLst>
                <p:tags r:id="rId20"/>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7" name="Shape 48072"/>
            <p:cNvSpPr/>
            <p:nvPr>
              <p:custDataLst>
                <p:tags r:id="rId21"/>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8" name="Shape 48073"/>
            <p:cNvSpPr/>
            <p:nvPr>
              <p:custDataLst>
                <p:tags r:id="rId22"/>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9" name="Shape 48074"/>
            <p:cNvSpPr/>
            <p:nvPr>
              <p:custDataLst>
                <p:tags r:id="rId23"/>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10" name="Shape 48075"/>
            <p:cNvSpPr/>
            <p:nvPr>
              <p:custDataLst>
                <p:tags r:id="rId24"/>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11" name="Shape 48076"/>
            <p:cNvSpPr/>
            <p:nvPr>
              <p:custDataLst>
                <p:tags r:id="rId25"/>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12" name="Shape 48086"/>
          <p:cNvSpPr/>
          <p:nvPr>
            <p:custDataLst>
              <p:tags r:id="rId26"/>
            </p:custDataLst>
          </p:nvPr>
        </p:nvSpPr>
        <p:spPr>
          <a:xfrm>
            <a:off x="1319530" y="4301490"/>
            <a:ext cx="1995170"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研究内容</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sp>
        <p:nvSpPr>
          <p:cNvPr id="33" name="Shape 48087"/>
          <p:cNvSpPr/>
          <p:nvPr>
            <p:custDataLst>
              <p:tags r:id="rId27"/>
            </p:custDataLst>
          </p:nvPr>
        </p:nvSpPr>
        <p:spPr>
          <a:xfrm>
            <a:off x="1167765" y="4727575"/>
            <a:ext cx="2299335" cy="1131570"/>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algn="ctr" defTabSz="914400">
              <a:lnSpc>
                <a:spcPct val="150000"/>
              </a:lnSpc>
              <a:spcBef>
                <a:spcPts val="0"/>
              </a:spcBef>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本选题旨在分析算法推荐系统导致的</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信息茧房</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现象，对用户知情权、选择权和表达自由的侵害</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13" name="组合 12"/>
          <p:cNvGrpSpPr/>
          <p:nvPr/>
        </p:nvGrpSpPr>
        <p:grpSpPr>
          <a:xfrm>
            <a:off x="725170" y="1046480"/>
            <a:ext cx="766445" cy="76200"/>
            <a:chOff x="1218" y="1168"/>
            <a:chExt cx="2012" cy="74"/>
          </a:xfrm>
        </p:grpSpPr>
        <p:sp>
          <p:nvSpPr>
            <p:cNvPr id="17" name="矩形 16"/>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1" name="矩形 30"/>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4" name="文本框 33"/>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算法推荐</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茧房效应</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的法律规制与用户自主权保障</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custDataLst>
              <p:tags r:id="rId1"/>
            </p:custDataLst>
          </p:nvPr>
        </p:nvSpPr>
        <p:spPr>
          <a:xfrm>
            <a:off x="5917141" y="1888067"/>
            <a:ext cx="338668" cy="3386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1" name="椭圆 10"/>
          <p:cNvSpPr/>
          <p:nvPr>
            <p:custDataLst>
              <p:tags r:id="rId2"/>
            </p:custDataLst>
          </p:nvPr>
        </p:nvSpPr>
        <p:spPr>
          <a:xfrm>
            <a:off x="5926666" y="5579534"/>
            <a:ext cx="338668" cy="3386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cs typeface="思源黑体 Medium" panose="020B0600000000000000" charset="-122"/>
            </a:endParaRPr>
          </a:p>
        </p:txBody>
      </p:sp>
      <p:sp>
        <p:nvSpPr>
          <p:cNvPr id="12" name="矩形 11"/>
          <p:cNvSpPr/>
          <p:nvPr>
            <p:custDataLst>
              <p:tags r:id="rId3"/>
            </p:custDataLst>
          </p:nvPr>
        </p:nvSpPr>
        <p:spPr>
          <a:xfrm>
            <a:off x="6064250" y="2351618"/>
            <a:ext cx="63500" cy="31030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3" name="矩形 12"/>
          <p:cNvSpPr/>
          <p:nvPr>
            <p:custDataLst>
              <p:tags r:id="rId4"/>
            </p:custDataLst>
          </p:nvPr>
        </p:nvSpPr>
        <p:spPr>
          <a:xfrm flipV="1">
            <a:off x="1458102" y="3118498"/>
            <a:ext cx="337846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4" name="矩形 13"/>
          <p:cNvSpPr/>
          <p:nvPr>
            <p:custDataLst>
              <p:tags r:id="rId5"/>
            </p:custDataLst>
          </p:nvPr>
        </p:nvSpPr>
        <p:spPr>
          <a:xfrm flipV="1">
            <a:off x="7358389" y="3118498"/>
            <a:ext cx="337846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9" name="文本框 18"/>
          <p:cNvSpPr txBox="1"/>
          <p:nvPr>
            <p:custDataLst>
              <p:tags r:id="rId6"/>
            </p:custDataLst>
          </p:nvPr>
        </p:nvSpPr>
        <p:spPr>
          <a:xfrm>
            <a:off x="1492885" y="3489652"/>
            <a:ext cx="3307080" cy="368300"/>
          </a:xfrm>
          <a:prstGeom prst="rect">
            <a:avLst/>
          </a:prstGeom>
          <a:noFill/>
        </p:spPr>
        <p:txBody>
          <a:bodyPr wrap="square" rtlCol="0">
            <a:spAutoFit/>
          </a:bodyPr>
          <a:lstStyle/>
          <a:p>
            <a:pPr algn="ctr"/>
            <a:r>
              <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rPr>
              <a:t>理论建模方法</a:t>
            </a:r>
            <a:endPar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25" name="文本框 24"/>
          <p:cNvSpPr txBox="1"/>
          <p:nvPr>
            <p:custDataLst>
              <p:tags r:id="rId7"/>
            </p:custDataLst>
          </p:nvPr>
        </p:nvSpPr>
        <p:spPr>
          <a:xfrm>
            <a:off x="7357110" y="3489960"/>
            <a:ext cx="3383915" cy="368300"/>
          </a:xfrm>
          <a:prstGeom prst="rect">
            <a:avLst/>
          </a:prstGeom>
          <a:noFill/>
        </p:spPr>
        <p:txBody>
          <a:bodyPr wrap="square" rtlCol="0">
            <a:spAutoFit/>
          </a:bodyPr>
          <a:lstStyle/>
          <a:p>
            <a:pPr algn="ctr"/>
            <a:r>
              <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rPr>
              <a:t>实验与实证方法</a:t>
            </a:r>
            <a:endPar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37" name="文本框 36"/>
          <p:cNvSpPr txBox="1"/>
          <p:nvPr>
            <p:custDataLst>
              <p:tags r:id="rId8"/>
            </p:custDataLst>
          </p:nvPr>
        </p:nvSpPr>
        <p:spPr>
          <a:xfrm>
            <a:off x="1457960" y="4053205"/>
            <a:ext cx="3341370" cy="1753235"/>
          </a:xfrm>
          <a:prstGeom prst="rect">
            <a:avLst/>
          </a:prstGeom>
          <a:noFill/>
        </p:spPr>
        <p:txBody>
          <a:bodyPr wrap="square" rtlCol="0" anchor="t">
            <a:spAutoFit/>
          </a:bodyPr>
          <a:lstStyle/>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分子生物学：</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分析基因编辑对细胞信号转导通路的影响，设计合理的基因敲除或过表达策略。</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肿瘤免疫学：</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评估</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细胞活化、细胞因子分泌等指标，量化免疫细胞对经基因编辑肿瘤细胞的反应。</a:t>
            </a:r>
            <a:endPar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38" name="文本框 37"/>
          <p:cNvSpPr txBox="1"/>
          <p:nvPr>
            <p:custDataLst>
              <p:tags r:id="rId9"/>
            </p:custDataLst>
          </p:nvPr>
        </p:nvSpPr>
        <p:spPr>
          <a:xfrm>
            <a:off x="7355205" y="4053205"/>
            <a:ext cx="3341370" cy="2306955"/>
          </a:xfrm>
          <a:prstGeom prst="rect">
            <a:avLst/>
          </a:prstGeom>
          <a:noFill/>
        </p:spPr>
        <p:txBody>
          <a:bodyPr wrap="square" rtlCol="0" anchor="t">
            <a:spAutoFit/>
          </a:bodyPr>
          <a:lstStyle/>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细胞培养与转染：</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培养肿瘤细胞系和</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细胞，利用慢病毒或脂质体将</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CRISPR/Cas9</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系统转染至目标细胞。</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qPCR</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与</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Western Blot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检测基因和蛋白的敲除或表达效率。</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细胞杀伤实验：</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进行体外共孵育实验，通过流式细胞术或荧光标记法，测定</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细胞对肿瘤细胞的特异性杀伤率。</a:t>
            </a:r>
            <a:endPar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pic>
        <p:nvPicPr>
          <p:cNvPr id="3" name="图片 2" descr="32313534313136373b32313534313135363bc1e9b8d0"/>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10485" y="1889760"/>
            <a:ext cx="1033145" cy="1033145"/>
          </a:xfrm>
          <a:prstGeom prst="rect">
            <a:avLst/>
          </a:prstGeom>
        </p:spPr>
      </p:pic>
      <p:pic>
        <p:nvPicPr>
          <p:cNvPr id="9" name="图片 8" descr="32313534313136373b32313534313233393bcfc2bdb5"/>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8568690" y="2035175"/>
            <a:ext cx="914400" cy="914400"/>
          </a:xfrm>
          <a:prstGeom prst="rect">
            <a:avLst/>
          </a:prstGeom>
        </p:spPr>
      </p:pic>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8" name="文本框 7"/>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CRISPR/Cas9</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技术的肿瘤免疫逃逸机制调控研究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椭圆 83"/>
          <p:cNvSpPr/>
          <p:nvPr>
            <p:custDataLst>
              <p:tags r:id="rId1"/>
            </p:custDataLst>
          </p:nvPr>
        </p:nvSpPr>
        <p:spPr>
          <a:xfrm flipH="1">
            <a:off x="8902700"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5" name="椭圆 84"/>
          <p:cNvSpPr/>
          <p:nvPr>
            <p:custDataLst>
              <p:tags r:id="rId2"/>
            </p:custDataLst>
          </p:nvPr>
        </p:nvSpPr>
        <p:spPr>
          <a:xfrm flipH="1">
            <a:off x="1010983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86" name="椭圆 85"/>
          <p:cNvSpPr/>
          <p:nvPr>
            <p:custDataLst>
              <p:tags r:id="rId3"/>
            </p:custDataLst>
          </p:nvPr>
        </p:nvSpPr>
        <p:spPr>
          <a:xfrm flipH="1">
            <a:off x="6471920"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7" name="椭圆 86"/>
          <p:cNvSpPr/>
          <p:nvPr>
            <p:custDataLst>
              <p:tags r:id="rId4"/>
            </p:custDataLst>
          </p:nvPr>
        </p:nvSpPr>
        <p:spPr>
          <a:xfrm flipH="1">
            <a:off x="767905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88" name="椭圆 87"/>
          <p:cNvSpPr/>
          <p:nvPr>
            <p:custDataLst>
              <p:tags r:id="rId5"/>
            </p:custDataLst>
          </p:nvPr>
        </p:nvSpPr>
        <p:spPr>
          <a:xfrm flipH="1">
            <a:off x="4040505"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9" name="椭圆 88"/>
          <p:cNvSpPr/>
          <p:nvPr>
            <p:custDataLst>
              <p:tags r:id="rId6"/>
            </p:custDataLst>
          </p:nvPr>
        </p:nvSpPr>
        <p:spPr>
          <a:xfrm flipH="1">
            <a:off x="5248910"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90" name="椭圆 89"/>
          <p:cNvSpPr/>
          <p:nvPr>
            <p:custDataLst>
              <p:tags r:id="rId7"/>
            </p:custDataLst>
          </p:nvPr>
        </p:nvSpPr>
        <p:spPr>
          <a:xfrm flipH="1">
            <a:off x="1637665"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91" name="椭圆 90"/>
          <p:cNvSpPr/>
          <p:nvPr>
            <p:custDataLst>
              <p:tags r:id="rId8"/>
            </p:custDataLst>
          </p:nvPr>
        </p:nvSpPr>
        <p:spPr>
          <a:xfrm flipH="1">
            <a:off x="284543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92" name="1"/>
          <p:cNvSpPr txBox="1">
            <a:spLocks noChangeArrowheads="1"/>
          </p:cNvSpPr>
          <p:nvPr>
            <p:custDataLst>
              <p:tags r:id="rId9"/>
            </p:custDataLst>
          </p:nvPr>
        </p:nvSpPr>
        <p:spPr bwMode="auto">
          <a:xfrm>
            <a:off x="1579245" y="3889375"/>
            <a:ext cx="1737360"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代谢工程</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3" name="1"/>
          <p:cNvSpPr txBox="1">
            <a:spLocks noChangeArrowheads="1"/>
          </p:cNvSpPr>
          <p:nvPr>
            <p:custDataLst>
              <p:tags r:id="rId10"/>
            </p:custDataLst>
          </p:nvPr>
        </p:nvSpPr>
        <p:spPr bwMode="auto">
          <a:xfrm>
            <a:off x="1455420" y="4271645"/>
            <a:ext cx="198628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采用</a:t>
            </a:r>
            <a:r>
              <a:rPr lang="en-US" altLang="zh-CN"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FBA</a:t>
            </a: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等计算模型，模拟和预测基因敲除、过表达对细胞代谢通量的影响</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4" name="1"/>
          <p:cNvSpPr txBox="1">
            <a:spLocks noChangeArrowheads="1"/>
          </p:cNvSpPr>
          <p:nvPr>
            <p:custDataLst>
              <p:tags r:id="rId11"/>
            </p:custDataLst>
          </p:nvPr>
        </p:nvSpPr>
        <p:spPr bwMode="auto">
          <a:xfrm>
            <a:off x="400685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基因线路设计</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5" name="1"/>
          <p:cNvSpPr txBox="1">
            <a:spLocks noChangeArrowheads="1"/>
          </p:cNvSpPr>
          <p:nvPr>
            <p:custDataLst>
              <p:tags r:id="rId12"/>
            </p:custDataLst>
          </p:nvPr>
        </p:nvSpPr>
        <p:spPr bwMode="auto">
          <a:xfrm>
            <a:off x="3905885"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借鉴电子工程的原理，设计具备可预测性、模块化和可控性的基因调控网络</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6" name="1"/>
          <p:cNvSpPr txBox="1">
            <a:spLocks noChangeArrowheads="1"/>
          </p:cNvSpPr>
          <p:nvPr>
            <p:custDataLst>
              <p:tags r:id="rId13"/>
            </p:custDataLst>
          </p:nvPr>
        </p:nvSpPr>
        <p:spPr bwMode="auto">
          <a:xfrm>
            <a:off x="643382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基因组编辑</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7" name="1"/>
          <p:cNvSpPr txBox="1">
            <a:spLocks noChangeArrowheads="1"/>
          </p:cNvSpPr>
          <p:nvPr>
            <p:custDataLst>
              <p:tags r:id="rId14"/>
            </p:custDataLst>
          </p:nvPr>
        </p:nvSpPr>
        <p:spPr bwMode="auto">
          <a:xfrm>
            <a:off x="6355080"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利用同源重组、多重基因组编辑等技术，将设计的基因线路整合到微生物染色体中</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8" name="1"/>
          <p:cNvSpPr txBox="1">
            <a:spLocks noChangeArrowheads="1"/>
          </p:cNvSpPr>
          <p:nvPr>
            <p:custDataLst>
              <p:tags r:id="rId15"/>
            </p:custDataLst>
          </p:nvPr>
        </p:nvSpPr>
        <p:spPr bwMode="auto">
          <a:xfrm>
            <a:off x="886079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发酵与产物检测</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9" name="1"/>
          <p:cNvSpPr txBox="1">
            <a:spLocks noChangeArrowheads="1"/>
          </p:cNvSpPr>
          <p:nvPr>
            <p:custDataLst>
              <p:tags r:id="rId16"/>
            </p:custDataLst>
          </p:nvPr>
        </p:nvSpPr>
        <p:spPr bwMode="auto">
          <a:xfrm>
            <a:off x="8804275"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在不同培养条件下进行发酵，利用高效液相色谱精确测定目标产物的产量、产率和纯度</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100" name="矩形 99"/>
          <p:cNvSpPr/>
          <p:nvPr>
            <p:custDataLst>
              <p:tags r:id="rId17"/>
            </p:custDataLst>
          </p:nvPr>
        </p:nvSpPr>
        <p:spPr>
          <a:xfrm>
            <a:off x="1312545"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1" name="矩形 100"/>
          <p:cNvSpPr/>
          <p:nvPr>
            <p:custDataLst>
              <p:tags r:id="rId18"/>
            </p:custDataLst>
          </p:nvPr>
        </p:nvSpPr>
        <p:spPr>
          <a:xfrm>
            <a:off x="3755390"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2" name="矩形 101"/>
          <p:cNvSpPr/>
          <p:nvPr>
            <p:custDataLst>
              <p:tags r:id="rId19"/>
            </p:custDataLst>
          </p:nvPr>
        </p:nvSpPr>
        <p:spPr>
          <a:xfrm>
            <a:off x="6197600"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3" name="矩形 102"/>
          <p:cNvSpPr/>
          <p:nvPr>
            <p:custDataLst>
              <p:tags r:id="rId20"/>
            </p:custDataLst>
          </p:nvPr>
        </p:nvSpPr>
        <p:spPr>
          <a:xfrm>
            <a:off x="8640445"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pic>
        <p:nvPicPr>
          <p:cNvPr id="104" name="图片 103" descr="32313534313136373b32313534313135373bc4bfb1ea"/>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6866255" y="2072005"/>
            <a:ext cx="873760" cy="873760"/>
          </a:xfrm>
          <a:prstGeom prst="rect">
            <a:avLst/>
          </a:prstGeom>
        </p:spPr>
      </p:pic>
      <p:pic>
        <p:nvPicPr>
          <p:cNvPr id="105" name="图片 104" descr="32313534313136373b32313534313136343bd3cabcfe"/>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2004060" y="2072005"/>
            <a:ext cx="873760" cy="873760"/>
          </a:xfrm>
          <a:prstGeom prst="rect">
            <a:avLst/>
          </a:prstGeom>
        </p:spPr>
      </p:pic>
      <p:pic>
        <p:nvPicPr>
          <p:cNvPr id="106" name="图片 105" descr="32313534313136373b32313534313136353bd6b4d0d0"/>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9337675" y="2072005"/>
            <a:ext cx="873760" cy="873760"/>
          </a:xfrm>
          <a:prstGeom prst="rect">
            <a:avLst/>
          </a:prstGeom>
        </p:spPr>
      </p:pic>
      <p:pic>
        <p:nvPicPr>
          <p:cNvPr id="107" name="图片 106" descr="32313534313136373b32313534313233393bcfc2bdb5"/>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4387850" y="2072005"/>
            <a:ext cx="873760" cy="873760"/>
          </a:xfrm>
          <a:prstGeom prst="rect">
            <a:avLst/>
          </a:prstGeom>
        </p:spPr>
      </p:pic>
      <p:sp>
        <p:nvSpPr>
          <p:cNvPr id="108" name="Text Placeholder 7"/>
          <p:cNvSpPr txBox="1"/>
          <p:nvPr>
            <p:custDataLst>
              <p:tags r:id="rId33"/>
            </p:custDataLst>
          </p:nvPr>
        </p:nvSpPr>
        <p:spPr>
          <a:xfrm>
            <a:off x="2863215" y="172593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01</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09" name="Text Placeholder 7"/>
          <p:cNvSpPr txBox="1"/>
          <p:nvPr>
            <p:custDataLst>
              <p:tags r:id="rId34"/>
            </p:custDataLst>
          </p:nvPr>
        </p:nvSpPr>
        <p:spPr>
          <a:xfrm>
            <a:off x="5256530" y="171577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02</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10" name="Text Placeholder 7"/>
          <p:cNvSpPr txBox="1"/>
          <p:nvPr>
            <p:custDataLst>
              <p:tags r:id="rId35"/>
            </p:custDataLst>
          </p:nvPr>
        </p:nvSpPr>
        <p:spPr>
          <a:xfrm>
            <a:off x="7684770" y="172593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03</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11" name="Text Placeholder 7"/>
          <p:cNvSpPr txBox="1"/>
          <p:nvPr>
            <p:custDataLst>
              <p:tags r:id="rId36"/>
            </p:custDataLst>
          </p:nvPr>
        </p:nvSpPr>
        <p:spPr>
          <a:xfrm>
            <a:off x="10112375" y="171577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04</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grpSp>
        <p:nvGrpSpPr>
          <p:cNvPr id="3" name="组合 2"/>
          <p:cNvGrpSpPr/>
          <p:nvPr/>
        </p:nvGrpSpPr>
        <p:grpSpPr>
          <a:xfrm>
            <a:off x="725170" y="1046480"/>
            <a:ext cx="766445" cy="76200"/>
            <a:chOff x="1218" y="1168"/>
            <a:chExt cx="2012" cy="74"/>
          </a:xfrm>
        </p:grpSpPr>
        <p:sp>
          <p:nvSpPr>
            <p:cNvPr id="2" name="矩形 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生物科学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医学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 </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：聚焦肿瘤免疫与合成生物学研究</a:t>
            </a:r>
            <a:endPar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3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a:stCxn id="30" idx="4"/>
          </p:cNvCxnSpPr>
          <p:nvPr>
            <p:custDataLst>
              <p:tags r:id="rId1"/>
            </p:custDataLst>
          </p:nvPr>
        </p:nvCxnSpPr>
        <p:spPr>
          <a:xfrm flipH="1">
            <a:off x="5717523" y="1964906"/>
            <a:ext cx="0" cy="3135904"/>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custDataLst>
              <p:tags r:id="rId2"/>
            </p:custDataLst>
          </p:nvPr>
        </p:nvSpPr>
        <p:spPr>
          <a:xfrm>
            <a:off x="583894" y="0"/>
            <a:ext cx="3844887"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4" name="文本框 3"/>
          <p:cNvSpPr txBox="1"/>
          <p:nvPr/>
        </p:nvSpPr>
        <p:spPr>
          <a:xfrm>
            <a:off x="1156653" y="1259840"/>
            <a:ext cx="2714625"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defTabSz="914400">
              <a:tabLst>
                <a:tab pos="1790700" algn="l"/>
              </a:tabLst>
            </a:pPr>
            <a:r>
              <a:rPr lang="zh-CN" altLang="en-US"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rPr>
              <a:t>市场营销</a:t>
            </a:r>
            <a:r>
              <a:rPr lang="en-US" altLang="zh-CN"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rPr>
              <a:t> </a:t>
            </a:r>
            <a:endParaRPr lang="en-US" altLang="zh-CN"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endParaRPr>
          </a:p>
        </p:txBody>
      </p:sp>
      <p:cxnSp>
        <p:nvCxnSpPr>
          <p:cNvPr id="8" name="直接连接符 7"/>
          <p:cNvCxnSpPr/>
          <p:nvPr/>
        </p:nvCxnSpPr>
        <p:spPr>
          <a:xfrm>
            <a:off x="1223766" y="2172573"/>
            <a:ext cx="702527" cy="0"/>
          </a:xfrm>
          <a:prstGeom prst="line">
            <a:avLst/>
          </a:prstGeom>
          <a:ln w="34925">
            <a:solidFill>
              <a:srgbClr val="2C5664"/>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custDataLst>
              <p:tags r:id="rId3"/>
            </p:custDataLst>
          </p:nvPr>
        </p:nvSpPr>
        <p:spPr>
          <a:xfrm>
            <a:off x="6332220" y="1113473"/>
            <a:ext cx="4546600"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消费者行为学</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12" name="矩形 11"/>
          <p:cNvSpPr/>
          <p:nvPr>
            <p:custDataLst>
              <p:tags r:id="rId4"/>
            </p:custDataLst>
          </p:nvPr>
        </p:nvSpPr>
        <p:spPr>
          <a:xfrm>
            <a:off x="6332220" y="1596390"/>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借鉴</a:t>
            </a:r>
            <a:r>
              <a:rPr lang="en-US" altLang="zh-CN" sz="1200" dirty="0">
                <a:solidFill>
                  <a:schemeClr val="accent6">
                    <a:alpha val="70000"/>
                  </a:schemeClr>
                </a:solidFill>
                <a:latin typeface="+mn-ea"/>
                <a:cs typeface="思源黑体 Medium" panose="020B0600000000000000" charset="-122"/>
                <a:sym typeface="+mn-ea"/>
              </a:rPr>
              <a:t>ELM</a:t>
            </a:r>
            <a:r>
              <a:rPr lang="zh-CN" altLang="en-US" sz="1200" dirty="0">
                <a:solidFill>
                  <a:schemeClr val="accent6">
                    <a:alpha val="70000"/>
                  </a:schemeClr>
                </a:solidFill>
                <a:latin typeface="+mn-ea"/>
                <a:cs typeface="思源黑体 Medium" panose="020B0600000000000000" charset="-122"/>
                <a:sym typeface="+mn-ea"/>
              </a:rPr>
              <a:t>模型（</a:t>
            </a:r>
            <a:r>
              <a:rPr lang="en-US" altLang="zh-CN" sz="1200" dirty="0">
                <a:solidFill>
                  <a:schemeClr val="accent6">
                    <a:alpha val="70000"/>
                  </a:schemeClr>
                </a:solidFill>
                <a:latin typeface="+mn-ea"/>
                <a:cs typeface="思源黑体 Medium" panose="020B0600000000000000" charset="-122"/>
                <a:sym typeface="+mn-ea"/>
              </a:rPr>
              <a:t>Elaboration Likelihood Model</a:t>
            </a:r>
            <a:r>
              <a:rPr lang="zh-CN" altLang="en-US" sz="1200" dirty="0">
                <a:solidFill>
                  <a:schemeClr val="accent6">
                    <a:alpha val="70000"/>
                  </a:schemeClr>
                </a:solidFill>
                <a:latin typeface="+mn-ea"/>
                <a:cs typeface="思源黑体 Medium" panose="020B0600000000000000" charset="-122"/>
                <a:sym typeface="+mn-ea"/>
              </a:rPr>
              <a:t>），分析</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信息通过中心路径和边缘路径对态度的影响</a:t>
            </a:r>
            <a:endParaRPr lang="zh-CN" altLang="en-US" sz="1200" dirty="0">
              <a:solidFill>
                <a:schemeClr val="accent6">
                  <a:alpha val="70000"/>
                </a:schemeClr>
              </a:solidFill>
              <a:latin typeface="+mn-ea"/>
              <a:cs typeface="思源黑体 Medium" panose="020B0600000000000000" charset="-122"/>
              <a:sym typeface="+mn-ea"/>
            </a:endParaRPr>
          </a:p>
        </p:txBody>
      </p:sp>
      <p:sp>
        <p:nvSpPr>
          <p:cNvPr id="30" name="椭圆 29"/>
          <p:cNvSpPr/>
          <p:nvPr>
            <p:custDataLst>
              <p:tags r:id="rId5"/>
            </p:custDataLst>
          </p:nvPr>
        </p:nvSpPr>
        <p:spPr>
          <a:xfrm>
            <a:off x="5376000" y="1244906"/>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1" name="椭圆 30"/>
          <p:cNvSpPr/>
          <p:nvPr>
            <p:custDataLst>
              <p:tags r:id="rId6"/>
            </p:custDataLst>
          </p:nvPr>
        </p:nvSpPr>
        <p:spPr>
          <a:xfrm>
            <a:off x="5376000" y="3120939"/>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2" name="椭圆 31"/>
          <p:cNvSpPr/>
          <p:nvPr>
            <p:custDataLst>
              <p:tags r:id="rId7"/>
            </p:custDataLst>
          </p:nvPr>
        </p:nvSpPr>
        <p:spPr>
          <a:xfrm>
            <a:off x="5376000" y="4996972"/>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7" name="文本框 36"/>
          <p:cNvSpPr txBox="1"/>
          <p:nvPr>
            <p:custDataLst>
              <p:tags r:id="rId8"/>
            </p:custDataLst>
          </p:nvPr>
        </p:nvSpPr>
        <p:spPr>
          <a:xfrm>
            <a:off x="6331585" y="2902903"/>
            <a:ext cx="4546600"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问卷调查法</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38" name="矩形 37"/>
          <p:cNvSpPr/>
          <p:nvPr>
            <p:custDataLst>
              <p:tags r:id="rId9"/>
            </p:custDataLst>
          </p:nvPr>
        </p:nvSpPr>
        <p:spPr>
          <a:xfrm>
            <a:off x="6331585" y="3386455"/>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设计结构化问卷，在</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世代群体中收集关于其</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行为、风险感知和购买意愿的数据</a:t>
            </a:r>
            <a:endParaRPr lang="zh-CN" altLang="en-US" sz="1200" dirty="0">
              <a:solidFill>
                <a:schemeClr val="accent6">
                  <a:alpha val="70000"/>
                </a:schemeClr>
              </a:solidFill>
              <a:latin typeface="+mn-ea"/>
              <a:cs typeface="思源黑体 Medium" panose="020B0600000000000000" charset="-122"/>
              <a:sym typeface="+mn-ea"/>
            </a:endParaRPr>
          </a:p>
        </p:txBody>
      </p:sp>
      <p:sp>
        <p:nvSpPr>
          <p:cNvPr id="39" name="文本框 38"/>
          <p:cNvSpPr txBox="1"/>
          <p:nvPr>
            <p:custDataLst>
              <p:tags r:id="rId10"/>
            </p:custDataLst>
          </p:nvPr>
        </p:nvSpPr>
        <p:spPr>
          <a:xfrm>
            <a:off x="6331585" y="4692333"/>
            <a:ext cx="4547235"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结构方程模型</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40" name="矩形 39"/>
          <p:cNvSpPr/>
          <p:nvPr>
            <p:custDataLst>
              <p:tags r:id="rId11"/>
            </p:custDataLst>
          </p:nvPr>
        </p:nvSpPr>
        <p:spPr>
          <a:xfrm>
            <a:off x="6331585" y="5175885"/>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构建理论模型，利用</a:t>
            </a:r>
            <a:r>
              <a:rPr lang="en-US" altLang="zh-CN" sz="1200" dirty="0">
                <a:solidFill>
                  <a:schemeClr val="accent6">
                    <a:alpha val="70000"/>
                  </a:schemeClr>
                </a:solidFill>
                <a:latin typeface="+mn-ea"/>
                <a:cs typeface="思源黑体 Medium" panose="020B0600000000000000" charset="-122"/>
                <a:sym typeface="+mn-ea"/>
              </a:rPr>
              <a:t>SEM</a:t>
            </a:r>
            <a:r>
              <a:rPr lang="zh-CN" altLang="en-US" sz="1200" dirty="0">
                <a:solidFill>
                  <a:schemeClr val="accent6">
                    <a:alpha val="70000"/>
                  </a:schemeClr>
                </a:solidFill>
                <a:latin typeface="+mn-ea"/>
                <a:cs typeface="思源黑体 Medium" panose="020B0600000000000000" charset="-122"/>
                <a:sym typeface="+mn-ea"/>
              </a:rPr>
              <a:t>验证</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信息特征、中介变量和购买意愿之间的复杂假设关系</a:t>
            </a:r>
            <a:endParaRPr lang="zh-CN" altLang="en-US" sz="1200" dirty="0">
              <a:solidFill>
                <a:schemeClr val="accent6">
                  <a:alpha val="70000"/>
                </a:schemeClr>
              </a:solidFill>
              <a:latin typeface="+mn-ea"/>
              <a:cs typeface="思源黑体 Medium" panose="020B0600000000000000" charset="-122"/>
              <a:sym typeface="+mn-ea"/>
            </a:endParaRPr>
          </a:p>
        </p:txBody>
      </p:sp>
      <p:pic>
        <p:nvPicPr>
          <p:cNvPr id="41" name="图片 40" descr="343439383331313b343532303032383bbfcdbba7b9dcc0ed"/>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563870" y="3308350"/>
            <a:ext cx="344170" cy="344170"/>
          </a:xfrm>
          <a:prstGeom prst="rect">
            <a:avLst/>
          </a:prstGeom>
        </p:spPr>
      </p:pic>
      <p:pic>
        <p:nvPicPr>
          <p:cNvPr id="42" name="图片 41" descr="343439383331313b343532303032393bbfcdbba7b8fabdf8"/>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563870" y="5149215"/>
            <a:ext cx="344170" cy="344170"/>
          </a:xfrm>
          <a:prstGeom prst="rect">
            <a:avLst/>
          </a:prstGeom>
        </p:spPr>
      </p:pic>
      <p:pic>
        <p:nvPicPr>
          <p:cNvPr id="43" name="图片 42" descr="343439383331313b343532303033303bd2d1b9bad3a6d3c3"/>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5563870" y="1432560"/>
            <a:ext cx="344170" cy="344170"/>
          </a:xfrm>
          <a:prstGeom prst="rect">
            <a:avLst/>
          </a:prstGeom>
        </p:spPr>
      </p:pic>
      <p:sp>
        <p:nvSpPr>
          <p:cNvPr id="2" name="矩形 1"/>
          <p:cNvSpPr/>
          <p:nvPr>
            <p:custDataLst>
              <p:tags r:id="rId21"/>
            </p:custDataLst>
          </p:nvPr>
        </p:nvSpPr>
        <p:spPr>
          <a:xfrm>
            <a:off x="1147445" y="2455545"/>
            <a:ext cx="2733040" cy="3784600"/>
          </a:xfrm>
          <a:prstGeom prst="rect">
            <a:avLst/>
          </a:prstGeom>
        </p:spPr>
        <p:txBody>
          <a:bodyPr wrap="square" anchor="t" anchorCtr="0">
            <a:spAutoFit/>
          </a:bodyPr>
          <a:lstStyle/>
          <a:p>
            <a:pPr>
              <a:lnSpc>
                <a:spcPct val="200000"/>
              </a:lnSpc>
            </a:pPr>
            <a:r>
              <a:rPr lang="zh-CN" altLang="en-US" sz="1200" dirty="0">
                <a:solidFill>
                  <a:schemeClr val="accent6">
                    <a:alpha val="70000"/>
                  </a:schemeClr>
                </a:solidFill>
                <a:latin typeface="+mn-ea"/>
                <a:cs typeface="思源黑体 Medium" panose="020B0600000000000000" charset="-122"/>
                <a:sym typeface="+mn-ea"/>
              </a:rPr>
              <a:t>社交媒体</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行为对</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世代消费者购买意愿的影响机制研究。</a:t>
            </a:r>
            <a:endParaRPr lang="zh-CN" altLang="en-US" sz="1200" dirty="0">
              <a:solidFill>
                <a:schemeClr val="accent6">
                  <a:alpha val="70000"/>
                </a:schemeClr>
              </a:solidFill>
              <a:latin typeface="+mn-ea"/>
              <a:cs typeface="思源黑体 Medium" panose="020B0600000000000000" charset="-122"/>
              <a:sym typeface="+mn-ea"/>
            </a:endParaRPr>
          </a:p>
          <a:p>
            <a:pPr>
              <a:lnSpc>
                <a:spcPct val="200000"/>
              </a:lnSpc>
            </a:pPr>
            <a:r>
              <a:rPr lang="zh-CN" altLang="en-US" sz="1200" dirty="0">
                <a:solidFill>
                  <a:schemeClr val="accent6">
                    <a:alpha val="70000"/>
                  </a:schemeClr>
                </a:solidFill>
                <a:latin typeface="+mn-ea"/>
                <a:cs typeface="思源黑体 Medium" panose="020B0600000000000000" charset="-122"/>
                <a:sym typeface="+mn-ea"/>
              </a:rPr>
              <a:t>本选题旨在探究社交媒体平台（如小红书、抖音）上的</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行为如何影响</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a:t>
            </a:r>
            <a:r>
              <a:rPr lang="en-US" altLang="zh-CN" sz="1200" dirty="0">
                <a:solidFill>
                  <a:schemeClr val="accent6">
                    <a:alpha val="70000"/>
                  </a:schemeClr>
                </a:solidFill>
                <a:latin typeface="+mn-ea"/>
                <a:cs typeface="思源黑体 Medium" panose="020B0600000000000000" charset="-122"/>
                <a:sym typeface="+mn-ea"/>
              </a:rPr>
              <a:t>1995-2009</a:t>
            </a:r>
            <a:r>
              <a:rPr lang="zh-CN" altLang="en-US" sz="1200" dirty="0">
                <a:solidFill>
                  <a:schemeClr val="accent6">
                    <a:alpha val="70000"/>
                  </a:schemeClr>
                </a:solidFill>
                <a:latin typeface="+mn-ea"/>
                <a:cs typeface="思源黑体 Medium" panose="020B0600000000000000" charset="-122"/>
                <a:sym typeface="+mn-ea"/>
              </a:rPr>
              <a:t>年生）消费者的购买决策。内容包括：识别</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信息的关键特征（如真实性、情感卷入度、意见领袖可信度）；构建感知风险、社交认同</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等中介变量，分析其对购买意愿的传导路径</a:t>
            </a:r>
            <a:endParaRPr lang="zh-CN" altLang="en-US" sz="1200" dirty="0">
              <a:solidFill>
                <a:schemeClr val="accent6">
                  <a:alpha val="70000"/>
                </a:schemeClr>
              </a:solidFill>
              <a:latin typeface="+mn-ea"/>
              <a:cs typeface="思源黑体 Medium" panose="020B0600000000000000" charset="-122"/>
              <a:sym typeface="+mn-ea"/>
            </a:endParaRPr>
          </a:p>
        </p:txBody>
      </p:sp>
    </p:spTree>
    <p:custDataLst>
      <p:tags r:id="rId2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custDataLst>
              <p:tags r:id="rId1"/>
            </p:custDataLst>
          </p:nvPr>
        </p:nvSpPr>
        <p:spPr>
          <a:xfrm>
            <a:off x="4237931" y="3302000"/>
            <a:ext cx="1414600" cy="1414600"/>
          </a:xfrm>
          <a:prstGeom prst="ellipse">
            <a:avLst/>
          </a:prstGeom>
          <a:noFill/>
          <a:ln w="9525">
            <a:solidFill>
              <a:schemeClr val="accent1"/>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37" name="椭圆 36"/>
          <p:cNvSpPr/>
          <p:nvPr>
            <p:custDataLst>
              <p:tags r:id="rId2"/>
            </p:custDataLst>
          </p:nvPr>
        </p:nvSpPr>
        <p:spPr>
          <a:xfrm>
            <a:off x="6392659" y="3302000"/>
            <a:ext cx="1414600" cy="1414600"/>
          </a:xfrm>
          <a:prstGeom prst="ellips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38" name="椭圆 37"/>
          <p:cNvSpPr/>
          <p:nvPr>
            <p:custDataLst>
              <p:tags r:id="rId3"/>
            </p:custDataLst>
          </p:nvPr>
        </p:nvSpPr>
        <p:spPr>
          <a:xfrm>
            <a:off x="7303108" y="2446043"/>
            <a:ext cx="591163" cy="591163"/>
          </a:xfrm>
          <a:prstGeom prst="ellipse">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cxnSp>
        <p:nvCxnSpPr>
          <p:cNvPr id="39" name="直接连接符 38"/>
          <p:cNvCxnSpPr/>
          <p:nvPr>
            <p:custDataLst>
              <p:tags r:id="rId4"/>
            </p:custDataLst>
          </p:nvPr>
        </p:nvCxnSpPr>
        <p:spPr>
          <a:xfrm>
            <a:off x="5647349" y="4009300"/>
            <a:ext cx="745067" cy="0"/>
          </a:xfrm>
          <a:prstGeom prst="lin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0" name="直接连接符 39"/>
          <p:cNvCxnSpPr/>
          <p:nvPr>
            <p:custDataLst>
              <p:tags r:id="rId5"/>
            </p:custDataLst>
          </p:nvPr>
        </p:nvCxnSpPr>
        <p:spPr>
          <a:xfrm flipH="1">
            <a:off x="7797806" y="4020163"/>
            <a:ext cx="3770809" cy="0"/>
          </a:xfrm>
          <a:prstGeom prst="lin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直接连接符 40"/>
          <p:cNvCxnSpPr/>
          <p:nvPr>
            <p:custDataLst>
              <p:tags r:id="rId6"/>
            </p:custDataLst>
          </p:nvPr>
        </p:nvCxnSpPr>
        <p:spPr>
          <a:xfrm flipH="1">
            <a:off x="754747" y="4020163"/>
            <a:ext cx="3479316" cy="0"/>
          </a:xfrm>
          <a:prstGeom prst="line">
            <a:avLst/>
          </a:prstGeom>
          <a:noFill/>
          <a:ln w="9525">
            <a:solidFill>
              <a:schemeClr val="accent1"/>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42" name="椭圆 41"/>
          <p:cNvSpPr/>
          <p:nvPr>
            <p:custDataLst>
              <p:tags r:id="rId7"/>
            </p:custDataLst>
          </p:nvPr>
        </p:nvSpPr>
        <p:spPr>
          <a:xfrm>
            <a:off x="7303108" y="4859263"/>
            <a:ext cx="591163" cy="591163"/>
          </a:xfrm>
          <a:prstGeom prst="ellipse">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3" name="椭圆 42"/>
          <p:cNvSpPr/>
          <p:nvPr>
            <p:custDataLst>
              <p:tags r:id="rId8"/>
            </p:custDataLst>
          </p:nvPr>
        </p:nvSpPr>
        <p:spPr>
          <a:xfrm>
            <a:off x="4256700" y="2446043"/>
            <a:ext cx="591163" cy="591163"/>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4" name="椭圆 43"/>
          <p:cNvSpPr/>
          <p:nvPr>
            <p:custDataLst>
              <p:tags r:id="rId9"/>
            </p:custDataLst>
          </p:nvPr>
        </p:nvSpPr>
        <p:spPr>
          <a:xfrm>
            <a:off x="4256700" y="4859263"/>
            <a:ext cx="591163" cy="591163"/>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5" name="文本框 9"/>
          <p:cNvSpPr txBox="1"/>
          <p:nvPr>
            <p:custDataLst>
              <p:tags r:id="rId10"/>
            </p:custDataLst>
          </p:nvPr>
        </p:nvSpPr>
        <p:spPr>
          <a:xfrm>
            <a:off x="4341289" y="2492833"/>
            <a:ext cx="410845"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rPr>
              <a:t>A</a:t>
            </a:r>
            <a:endPar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endParaRPr>
          </a:p>
        </p:txBody>
      </p:sp>
      <p:sp>
        <p:nvSpPr>
          <p:cNvPr id="46" name="文本框 9"/>
          <p:cNvSpPr txBox="1"/>
          <p:nvPr>
            <p:custDataLst>
              <p:tags r:id="rId11"/>
            </p:custDataLst>
          </p:nvPr>
        </p:nvSpPr>
        <p:spPr>
          <a:xfrm>
            <a:off x="4342100" y="4893859"/>
            <a:ext cx="420370"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rPr>
              <a:t>B</a:t>
            </a:r>
            <a:endPar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7" name="文本框 9"/>
          <p:cNvSpPr txBox="1"/>
          <p:nvPr>
            <p:custDataLst>
              <p:tags r:id="rId12"/>
            </p:custDataLst>
          </p:nvPr>
        </p:nvSpPr>
        <p:spPr>
          <a:xfrm>
            <a:off x="7391988" y="2492833"/>
            <a:ext cx="416560"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rPr>
              <a:t>C</a:t>
            </a:r>
            <a:endPar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endParaRPr>
          </a:p>
        </p:txBody>
      </p:sp>
      <p:sp>
        <p:nvSpPr>
          <p:cNvPr id="48" name="文本框 9"/>
          <p:cNvSpPr txBox="1"/>
          <p:nvPr>
            <p:custDataLst>
              <p:tags r:id="rId13"/>
            </p:custDataLst>
          </p:nvPr>
        </p:nvSpPr>
        <p:spPr>
          <a:xfrm>
            <a:off x="7384685" y="4893859"/>
            <a:ext cx="431165"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rPr>
              <a:t>D</a:t>
            </a:r>
            <a:endPar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9" name="Freeform 532"/>
          <p:cNvSpPr/>
          <p:nvPr>
            <p:custDataLst>
              <p:tags r:id="rId14"/>
            </p:custDataLst>
          </p:nvPr>
        </p:nvSpPr>
        <p:spPr bwMode="auto">
          <a:xfrm>
            <a:off x="4646175" y="3702940"/>
            <a:ext cx="598112" cy="607312"/>
          </a:xfrm>
          <a:custGeom>
            <a:avLst/>
            <a:gdLst>
              <a:gd name="T0" fmla="*/ 53 w 55"/>
              <a:gd name="T1" fmla="*/ 20 h 56"/>
              <a:gd name="T2" fmla="*/ 54 w 55"/>
              <a:gd name="T3" fmla="*/ 28 h 56"/>
              <a:gd name="T4" fmla="*/ 52 w 55"/>
              <a:gd name="T5" fmla="*/ 30 h 56"/>
              <a:gd name="T6" fmla="*/ 55 w 55"/>
              <a:gd name="T7" fmla="*/ 33 h 56"/>
              <a:gd name="T8" fmla="*/ 54 w 55"/>
              <a:gd name="T9" fmla="*/ 37 h 56"/>
              <a:gd name="T10" fmla="*/ 52 w 55"/>
              <a:gd name="T11" fmla="*/ 38 h 56"/>
              <a:gd name="T12" fmla="*/ 53 w 55"/>
              <a:gd name="T13" fmla="*/ 40 h 56"/>
              <a:gd name="T14" fmla="*/ 52 w 55"/>
              <a:gd name="T15" fmla="*/ 45 h 56"/>
              <a:gd name="T16" fmla="*/ 50 w 55"/>
              <a:gd name="T17" fmla="*/ 46 h 56"/>
              <a:gd name="T18" fmla="*/ 52 w 55"/>
              <a:gd name="T19" fmla="*/ 48 h 56"/>
              <a:gd name="T20" fmla="*/ 51 w 55"/>
              <a:gd name="T21" fmla="*/ 54 h 56"/>
              <a:gd name="T22" fmla="*/ 47 w 55"/>
              <a:gd name="T23" fmla="*/ 56 h 56"/>
              <a:gd name="T24" fmla="*/ 20 w 55"/>
              <a:gd name="T25" fmla="*/ 49 h 56"/>
              <a:gd name="T26" fmla="*/ 13 w 55"/>
              <a:gd name="T27" fmla="*/ 48 h 56"/>
              <a:gd name="T28" fmla="*/ 13 w 55"/>
              <a:gd name="T29" fmla="*/ 52 h 56"/>
              <a:gd name="T30" fmla="*/ 0 w 55"/>
              <a:gd name="T31" fmla="*/ 52 h 56"/>
              <a:gd name="T32" fmla="*/ 0 w 55"/>
              <a:gd name="T33" fmla="*/ 17 h 56"/>
              <a:gd name="T34" fmla="*/ 13 w 55"/>
              <a:gd name="T35" fmla="*/ 17 h 56"/>
              <a:gd name="T36" fmla="*/ 13 w 55"/>
              <a:gd name="T37" fmla="*/ 23 h 56"/>
              <a:gd name="T38" fmla="*/ 18 w 55"/>
              <a:gd name="T39" fmla="*/ 22 h 56"/>
              <a:gd name="T40" fmla="*/ 40 w 55"/>
              <a:gd name="T41" fmla="*/ 0 h 56"/>
              <a:gd name="T42" fmla="*/ 34 w 55"/>
              <a:gd name="T43" fmla="*/ 21 h 56"/>
              <a:gd name="T44" fmla="*/ 53 w 55"/>
              <a:gd name="T45" fmla="*/ 2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6">
                <a:moveTo>
                  <a:pt x="53" y="20"/>
                </a:moveTo>
                <a:cubicBezTo>
                  <a:pt x="54" y="28"/>
                  <a:pt x="54" y="28"/>
                  <a:pt x="54" y="28"/>
                </a:cubicBezTo>
                <a:cubicBezTo>
                  <a:pt x="52" y="30"/>
                  <a:pt x="52" y="30"/>
                  <a:pt x="52" y="30"/>
                </a:cubicBezTo>
                <a:cubicBezTo>
                  <a:pt x="55" y="33"/>
                  <a:pt x="55" y="33"/>
                  <a:pt x="55" y="33"/>
                </a:cubicBezTo>
                <a:cubicBezTo>
                  <a:pt x="54" y="37"/>
                  <a:pt x="54" y="37"/>
                  <a:pt x="54" y="37"/>
                </a:cubicBezTo>
                <a:cubicBezTo>
                  <a:pt x="52" y="38"/>
                  <a:pt x="52" y="38"/>
                  <a:pt x="52" y="38"/>
                </a:cubicBezTo>
                <a:cubicBezTo>
                  <a:pt x="53" y="40"/>
                  <a:pt x="53" y="40"/>
                  <a:pt x="53" y="40"/>
                </a:cubicBezTo>
                <a:cubicBezTo>
                  <a:pt x="52" y="45"/>
                  <a:pt x="52" y="45"/>
                  <a:pt x="52" y="45"/>
                </a:cubicBezTo>
                <a:cubicBezTo>
                  <a:pt x="50" y="46"/>
                  <a:pt x="50" y="46"/>
                  <a:pt x="50" y="46"/>
                </a:cubicBezTo>
                <a:cubicBezTo>
                  <a:pt x="52" y="48"/>
                  <a:pt x="52" y="48"/>
                  <a:pt x="52" y="48"/>
                </a:cubicBezTo>
                <a:cubicBezTo>
                  <a:pt x="51" y="54"/>
                  <a:pt x="51" y="54"/>
                  <a:pt x="51" y="54"/>
                </a:cubicBezTo>
                <a:cubicBezTo>
                  <a:pt x="47" y="56"/>
                  <a:pt x="47" y="56"/>
                  <a:pt x="47" y="56"/>
                </a:cubicBezTo>
                <a:cubicBezTo>
                  <a:pt x="20" y="49"/>
                  <a:pt x="20" y="49"/>
                  <a:pt x="20" y="49"/>
                </a:cubicBezTo>
                <a:cubicBezTo>
                  <a:pt x="13" y="48"/>
                  <a:pt x="13" y="48"/>
                  <a:pt x="13" y="48"/>
                </a:cubicBezTo>
                <a:cubicBezTo>
                  <a:pt x="13" y="52"/>
                  <a:pt x="13" y="52"/>
                  <a:pt x="13" y="52"/>
                </a:cubicBezTo>
                <a:cubicBezTo>
                  <a:pt x="0" y="52"/>
                  <a:pt x="0" y="52"/>
                  <a:pt x="0" y="52"/>
                </a:cubicBezTo>
                <a:cubicBezTo>
                  <a:pt x="0" y="17"/>
                  <a:pt x="0" y="17"/>
                  <a:pt x="0" y="17"/>
                </a:cubicBezTo>
                <a:cubicBezTo>
                  <a:pt x="13" y="17"/>
                  <a:pt x="13" y="17"/>
                  <a:pt x="13" y="17"/>
                </a:cubicBezTo>
                <a:cubicBezTo>
                  <a:pt x="13" y="23"/>
                  <a:pt x="13" y="23"/>
                  <a:pt x="13" y="23"/>
                </a:cubicBezTo>
                <a:cubicBezTo>
                  <a:pt x="18" y="22"/>
                  <a:pt x="18" y="22"/>
                  <a:pt x="18" y="22"/>
                </a:cubicBezTo>
                <a:cubicBezTo>
                  <a:pt x="40" y="0"/>
                  <a:pt x="40" y="0"/>
                  <a:pt x="40" y="0"/>
                </a:cubicBezTo>
                <a:cubicBezTo>
                  <a:pt x="51" y="8"/>
                  <a:pt x="41" y="15"/>
                  <a:pt x="34" y="21"/>
                </a:cubicBezTo>
                <a:lnTo>
                  <a:pt x="53" y="20"/>
                </a:lnTo>
                <a:close/>
              </a:path>
            </a:pathLst>
          </a:custGeom>
          <a:solidFill>
            <a:schemeClr val="accent1"/>
          </a:solidFill>
          <a:ln>
            <a:noFill/>
          </a:ln>
        </p:spPr>
        <p:txBody>
          <a:bodyPr vert="horz" wrap="square" lIns="121920" tIns="60960" rIns="121920" bIns="60960" numCol="1" anchor="t" anchorCtr="0" compatLnSpc="1"/>
          <a:lstStyle/>
          <a:p>
            <a:endParaRPr lang="zh-CN" altLang="en-US" sz="2400" dirty="0">
              <a:solidFill>
                <a:schemeClr val="dk1"/>
              </a:solidFill>
              <a:latin typeface="思源黑体 CN Medium" panose="020B0600000000000000" charset="-122"/>
              <a:ea typeface="思源黑体 CN Medium" panose="020B0600000000000000" charset="-122"/>
              <a:cs typeface="+mn-ea"/>
              <a:sym typeface="+mn-lt"/>
            </a:endParaRPr>
          </a:p>
        </p:txBody>
      </p:sp>
      <p:sp>
        <p:nvSpPr>
          <p:cNvPr id="50" name="Freeform 532"/>
          <p:cNvSpPr/>
          <p:nvPr>
            <p:custDataLst>
              <p:tags r:id="rId15"/>
            </p:custDataLst>
          </p:nvPr>
        </p:nvSpPr>
        <p:spPr bwMode="auto">
          <a:xfrm flipH="1">
            <a:off x="6800903" y="3702940"/>
            <a:ext cx="598112" cy="607312"/>
          </a:xfrm>
          <a:custGeom>
            <a:avLst/>
            <a:gdLst>
              <a:gd name="T0" fmla="*/ 53 w 55"/>
              <a:gd name="T1" fmla="*/ 20 h 56"/>
              <a:gd name="T2" fmla="*/ 54 w 55"/>
              <a:gd name="T3" fmla="*/ 28 h 56"/>
              <a:gd name="T4" fmla="*/ 52 w 55"/>
              <a:gd name="T5" fmla="*/ 30 h 56"/>
              <a:gd name="T6" fmla="*/ 55 w 55"/>
              <a:gd name="T7" fmla="*/ 33 h 56"/>
              <a:gd name="T8" fmla="*/ 54 w 55"/>
              <a:gd name="T9" fmla="*/ 37 h 56"/>
              <a:gd name="T10" fmla="*/ 52 w 55"/>
              <a:gd name="T11" fmla="*/ 38 h 56"/>
              <a:gd name="T12" fmla="*/ 53 w 55"/>
              <a:gd name="T13" fmla="*/ 40 h 56"/>
              <a:gd name="T14" fmla="*/ 52 w 55"/>
              <a:gd name="T15" fmla="*/ 45 h 56"/>
              <a:gd name="T16" fmla="*/ 50 w 55"/>
              <a:gd name="T17" fmla="*/ 46 h 56"/>
              <a:gd name="T18" fmla="*/ 52 w 55"/>
              <a:gd name="T19" fmla="*/ 48 h 56"/>
              <a:gd name="T20" fmla="*/ 51 w 55"/>
              <a:gd name="T21" fmla="*/ 54 h 56"/>
              <a:gd name="T22" fmla="*/ 47 w 55"/>
              <a:gd name="T23" fmla="*/ 56 h 56"/>
              <a:gd name="T24" fmla="*/ 20 w 55"/>
              <a:gd name="T25" fmla="*/ 49 h 56"/>
              <a:gd name="T26" fmla="*/ 13 w 55"/>
              <a:gd name="T27" fmla="*/ 48 h 56"/>
              <a:gd name="T28" fmla="*/ 13 w 55"/>
              <a:gd name="T29" fmla="*/ 52 h 56"/>
              <a:gd name="T30" fmla="*/ 0 w 55"/>
              <a:gd name="T31" fmla="*/ 52 h 56"/>
              <a:gd name="T32" fmla="*/ 0 w 55"/>
              <a:gd name="T33" fmla="*/ 17 h 56"/>
              <a:gd name="T34" fmla="*/ 13 w 55"/>
              <a:gd name="T35" fmla="*/ 17 h 56"/>
              <a:gd name="T36" fmla="*/ 13 w 55"/>
              <a:gd name="T37" fmla="*/ 23 h 56"/>
              <a:gd name="T38" fmla="*/ 18 w 55"/>
              <a:gd name="T39" fmla="*/ 22 h 56"/>
              <a:gd name="T40" fmla="*/ 40 w 55"/>
              <a:gd name="T41" fmla="*/ 0 h 56"/>
              <a:gd name="T42" fmla="*/ 34 w 55"/>
              <a:gd name="T43" fmla="*/ 21 h 56"/>
              <a:gd name="T44" fmla="*/ 53 w 55"/>
              <a:gd name="T45" fmla="*/ 2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6">
                <a:moveTo>
                  <a:pt x="53" y="20"/>
                </a:moveTo>
                <a:cubicBezTo>
                  <a:pt x="54" y="28"/>
                  <a:pt x="54" y="28"/>
                  <a:pt x="54" y="28"/>
                </a:cubicBezTo>
                <a:cubicBezTo>
                  <a:pt x="52" y="30"/>
                  <a:pt x="52" y="30"/>
                  <a:pt x="52" y="30"/>
                </a:cubicBezTo>
                <a:cubicBezTo>
                  <a:pt x="55" y="33"/>
                  <a:pt x="55" y="33"/>
                  <a:pt x="55" y="33"/>
                </a:cubicBezTo>
                <a:cubicBezTo>
                  <a:pt x="54" y="37"/>
                  <a:pt x="54" y="37"/>
                  <a:pt x="54" y="37"/>
                </a:cubicBezTo>
                <a:cubicBezTo>
                  <a:pt x="52" y="38"/>
                  <a:pt x="52" y="38"/>
                  <a:pt x="52" y="38"/>
                </a:cubicBezTo>
                <a:cubicBezTo>
                  <a:pt x="53" y="40"/>
                  <a:pt x="53" y="40"/>
                  <a:pt x="53" y="40"/>
                </a:cubicBezTo>
                <a:cubicBezTo>
                  <a:pt x="52" y="45"/>
                  <a:pt x="52" y="45"/>
                  <a:pt x="52" y="45"/>
                </a:cubicBezTo>
                <a:cubicBezTo>
                  <a:pt x="50" y="46"/>
                  <a:pt x="50" y="46"/>
                  <a:pt x="50" y="46"/>
                </a:cubicBezTo>
                <a:cubicBezTo>
                  <a:pt x="52" y="48"/>
                  <a:pt x="52" y="48"/>
                  <a:pt x="52" y="48"/>
                </a:cubicBezTo>
                <a:cubicBezTo>
                  <a:pt x="51" y="54"/>
                  <a:pt x="51" y="54"/>
                  <a:pt x="51" y="54"/>
                </a:cubicBezTo>
                <a:cubicBezTo>
                  <a:pt x="47" y="56"/>
                  <a:pt x="47" y="56"/>
                  <a:pt x="47" y="56"/>
                </a:cubicBezTo>
                <a:cubicBezTo>
                  <a:pt x="20" y="49"/>
                  <a:pt x="20" y="49"/>
                  <a:pt x="20" y="49"/>
                </a:cubicBezTo>
                <a:cubicBezTo>
                  <a:pt x="13" y="48"/>
                  <a:pt x="13" y="48"/>
                  <a:pt x="13" y="48"/>
                </a:cubicBezTo>
                <a:cubicBezTo>
                  <a:pt x="13" y="52"/>
                  <a:pt x="13" y="52"/>
                  <a:pt x="13" y="52"/>
                </a:cubicBezTo>
                <a:cubicBezTo>
                  <a:pt x="0" y="52"/>
                  <a:pt x="0" y="52"/>
                  <a:pt x="0" y="52"/>
                </a:cubicBezTo>
                <a:cubicBezTo>
                  <a:pt x="0" y="17"/>
                  <a:pt x="0" y="17"/>
                  <a:pt x="0" y="17"/>
                </a:cubicBezTo>
                <a:cubicBezTo>
                  <a:pt x="13" y="17"/>
                  <a:pt x="13" y="17"/>
                  <a:pt x="13" y="17"/>
                </a:cubicBezTo>
                <a:cubicBezTo>
                  <a:pt x="13" y="23"/>
                  <a:pt x="13" y="23"/>
                  <a:pt x="13" y="23"/>
                </a:cubicBezTo>
                <a:cubicBezTo>
                  <a:pt x="18" y="22"/>
                  <a:pt x="18" y="22"/>
                  <a:pt x="18" y="22"/>
                </a:cubicBezTo>
                <a:cubicBezTo>
                  <a:pt x="40" y="0"/>
                  <a:pt x="40" y="0"/>
                  <a:pt x="40" y="0"/>
                </a:cubicBezTo>
                <a:cubicBezTo>
                  <a:pt x="51" y="8"/>
                  <a:pt x="41" y="15"/>
                  <a:pt x="34" y="21"/>
                </a:cubicBezTo>
                <a:lnTo>
                  <a:pt x="53" y="20"/>
                </a:lnTo>
                <a:close/>
              </a:path>
            </a:pathLst>
          </a:custGeom>
          <a:solidFill>
            <a:schemeClr val="accent3"/>
          </a:solidFill>
          <a:ln>
            <a:noFill/>
          </a:ln>
        </p:spPr>
        <p:txBody>
          <a:bodyPr vert="horz" wrap="square" lIns="121920" tIns="60960" rIns="121920" bIns="60960" numCol="1" anchor="t" anchorCtr="0" compatLnSpc="1"/>
          <a:lstStyle/>
          <a:p>
            <a:endParaRPr lang="zh-CN" altLang="en-US" sz="2400" dirty="0">
              <a:solidFill>
                <a:schemeClr val="dk1"/>
              </a:solidFill>
              <a:latin typeface="思源黑体 CN Medium" panose="020B0600000000000000" charset="-122"/>
              <a:ea typeface="思源黑体 CN Medium" panose="020B0600000000000000" charset="-122"/>
              <a:cs typeface="+mn-ea"/>
              <a:sym typeface="+mn-lt"/>
            </a:endParaRPr>
          </a:p>
        </p:txBody>
      </p:sp>
      <p:sp>
        <p:nvSpPr>
          <p:cNvPr id="52" name="文本框 51"/>
          <p:cNvSpPr txBox="1"/>
          <p:nvPr>
            <p:custDataLst>
              <p:tags r:id="rId16"/>
            </p:custDataLst>
          </p:nvPr>
        </p:nvSpPr>
        <p:spPr>
          <a:xfrm>
            <a:off x="1283970" y="1955165"/>
            <a:ext cx="2729230" cy="460375"/>
          </a:xfrm>
          <a:prstGeom prst="rect">
            <a:avLst/>
          </a:prstGeom>
          <a:noFill/>
        </p:spPr>
        <p:txBody>
          <a:bodyPr wrap="square">
            <a:spAutoFit/>
          </a:bodyPr>
          <a:lstStyle/>
          <a:p>
            <a:pPr algn="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组织变革理论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3" name="矩形 52"/>
          <p:cNvSpPr/>
          <p:nvPr>
            <p:custDataLst>
              <p:tags r:id="rId17"/>
            </p:custDataLst>
          </p:nvPr>
        </p:nvSpPr>
        <p:spPr>
          <a:xfrm>
            <a:off x="1283970" y="2291715"/>
            <a:ext cx="2729230" cy="922020"/>
          </a:xfrm>
          <a:prstGeom prst="rect">
            <a:avLst/>
          </a:prstGeom>
        </p:spPr>
        <p:txBody>
          <a:bodyPr wrap="square">
            <a:spAutoFit/>
          </a:bodyPr>
          <a:lstStyle/>
          <a:p>
            <a:pPr algn="r" latinLnBrk="1">
              <a:lnSpc>
                <a:spcPct val="150000"/>
              </a:lnSpc>
            </a:pP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借鉴</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Lewin</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的</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解冻</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变革</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再冻结</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模型，分析数字化转型中的组织结构调整过程</a:t>
            </a:r>
            <a:endPar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endParaRPr>
          </a:p>
        </p:txBody>
      </p:sp>
      <p:sp>
        <p:nvSpPr>
          <p:cNvPr id="55" name="文本框 54"/>
          <p:cNvSpPr txBox="1"/>
          <p:nvPr>
            <p:custDataLst>
              <p:tags r:id="rId18"/>
            </p:custDataLst>
          </p:nvPr>
        </p:nvSpPr>
        <p:spPr>
          <a:xfrm>
            <a:off x="1283335" y="4537075"/>
            <a:ext cx="2729230" cy="460375"/>
          </a:xfrm>
          <a:prstGeom prst="rect">
            <a:avLst/>
          </a:prstGeom>
          <a:noFill/>
        </p:spPr>
        <p:txBody>
          <a:bodyPr wrap="square">
            <a:spAutoFit/>
          </a:bodyPr>
          <a:lstStyle/>
          <a:p>
            <a:pPr algn="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案例研究法</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6" name="矩形 55"/>
          <p:cNvSpPr/>
          <p:nvPr>
            <p:custDataLst>
              <p:tags r:id="rId19"/>
            </p:custDataLst>
          </p:nvPr>
        </p:nvSpPr>
        <p:spPr>
          <a:xfrm>
            <a:off x="1283335" y="4872990"/>
            <a:ext cx="2729230" cy="922020"/>
          </a:xfrm>
          <a:prstGeom prst="rect">
            <a:avLst/>
          </a:prstGeom>
        </p:spPr>
        <p:txBody>
          <a:bodyPr wrap="square">
            <a:spAutoFit/>
          </a:bodyPr>
          <a:lstStyle/>
          <a:p>
            <a:pPr algn="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选取国内不同行业（如制造、金融）的典型企业，进行多案例深度访谈和组织文件分析</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8" name="文本框 57"/>
          <p:cNvSpPr txBox="1"/>
          <p:nvPr>
            <p:custDataLst>
              <p:tags r:id="rId20"/>
            </p:custDataLst>
          </p:nvPr>
        </p:nvSpPr>
        <p:spPr>
          <a:xfrm>
            <a:off x="8206105" y="1955165"/>
            <a:ext cx="2729230" cy="460375"/>
          </a:xfrm>
          <a:prstGeom prst="rect">
            <a:avLst/>
          </a:prstGeom>
          <a:noFill/>
        </p:spPr>
        <p:txBody>
          <a:bodyPr wrap="square">
            <a:spAutoFit/>
          </a:bodyPr>
          <a:lstStyle/>
          <a:p>
            <a:pP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工作设计理论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9" name="矩形 58"/>
          <p:cNvSpPr/>
          <p:nvPr>
            <p:custDataLst>
              <p:tags r:id="rId21"/>
            </p:custDataLst>
          </p:nvPr>
        </p:nvSpPr>
        <p:spPr>
          <a:xfrm>
            <a:off x="8206105" y="2291715"/>
            <a:ext cx="2729230" cy="645160"/>
          </a:xfrm>
          <a:prstGeom prst="rect">
            <a:avLst/>
          </a:prstGeom>
        </p:spPr>
        <p:txBody>
          <a:bodyPr wrap="square">
            <a:spAutoFit/>
          </a:bodyPr>
          <a:lstStyle/>
          <a:p>
            <a:pP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分析新的数字化工作任务对员工自主权、技能多样性和任务重要性的影响</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1" name="文本框 60"/>
          <p:cNvSpPr txBox="1"/>
          <p:nvPr>
            <p:custDataLst>
              <p:tags r:id="rId22"/>
            </p:custDataLst>
          </p:nvPr>
        </p:nvSpPr>
        <p:spPr>
          <a:xfrm>
            <a:off x="8206105" y="4537075"/>
            <a:ext cx="2729230" cy="460375"/>
          </a:xfrm>
          <a:prstGeom prst="rect">
            <a:avLst/>
          </a:prstGeom>
          <a:noFill/>
        </p:spPr>
        <p:txBody>
          <a:bodyPr wrap="square">
            <a:spAutoFit/>
          </a:bodyPr>
          <a:lstStyle/>
          <a:p>
            <a:pP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回归分析</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2" name="矩形 61"/>
          <p:cNvSpPr/>
          <p:nvPr>
            <p:custDataLst>
              <p:tags r:id="rId23"/>
            </p:custDataLst>
          </p:nvPr>
        </p:nvSpPr>
        <p:spPr>
          <a:xfrm>
            <a:off x="8206105" y="4872990"/>
            <a:ext cx="2729230" cy="645160"/>
          </a:xfrm>
          <a:prstGeom prst="rect">
            <a:avLst/>
          </a:prstGeom>
        </p:spPr>
        <p:txBody>
          <a:bodyPr wrap="square">
            <a:spAutoFit/>
          </a:bodyPr>
          <a:lstStyle/>
          <a:p>
            <a:pP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利用统计回归，量化组织结构变革强度对员工适应性指标的影响</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6" name="组合 5"/>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7" name="文本框 6"/>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企业数字化转型中的组织结构变革与员工适应性研究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算法推荐新闻</a:t>
            </a:r>
            <a:r>
              <a:rPr lang="en-US" altLang="zh-CN" dirty="0">
                <a:solidFill>
                  <a:srgbClr val="3B3B3B"/>
                </a:solidFill>
                <a:latin typeface="思源黑体 CN Bold" panose="020B0800000000000000" charset="-122"/>
                <a:ea typeface="思源黑体 CN Bold" panose="020B0800000000000000" charset="-122"/>
                <a:cs typeface="思源黑体 Regular" panose="020B0500000000000000" charset="-122"/>
              </a:rPr>
              <a:t>“</a:t>
            </a: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信息茧房</a:t>
            </a:r>
            <a:r>
              <a:rPr lang="en-US" altLang="zh-CN" dirty="0">
                <a:solidFill>
                  <a:srgbClr val="3B3B3B"/>
                </a:solidFill>
                <a:latin typeface="思源黑体 CN Bold" panose="020B0800000000000000" charset="-122"/>
                <a:ea typeface="思源黑体 CN Bold" panose="020B0800000000000000" charset="-122"/>
                <a:cs typeface="思源黑体 Regular" panose="020B0500000000000000" charset="-122"/>
              </a:rPr>
              <a:t>”</a:t>
            </a: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的形成路径与打破策略研究</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graphicFrame>
        <p:nvGraphicFramePr>
          <p:cNvPr id="45" name="图表 44"/>
          <p:cNvGraphicFramePr/>
          <p:nvPr/>
        </p:nvGraphicFramePr>
        <p:xfrm>
          <a:off x="1292225" y="1431290"/>
          <a:ext cx="9641205" cy="2939415"/>
        </p:xfrm>
        <a:graphic>
          <a:graphicData uri="http://schemas.openxmlformats.org/drawingml/2006/chart">
            <c:chart xmlns:c="http://schemas.openxmlformats.org/drawingml/2006/chart" xmlns:r="http://schemas.openxmlformats.org/officeDocument/2006/relationships" r:id="rId1"/>
          </a:graphicData>
        </a:graphic>
      </p:graphicFrame>
      <p:sp>
        <p:nvSpPr>
          <p:cNvPr id="46" name="文本框 45"/>
          <p:cNvSpPr txBox="1"/>
          <p:nvPr/>
        </p:nvSpPr>
        <p:spPr>
          <a:xfrm>
            <a:off x="1292860" y="4481830"/>
            <a:ext cx="9640570" cy="2030095"/>
          </a:xfrm>
          <a:prstGeom prst="rect">
            <a:avLst/>
          </a:prstGeom>
          <a:noFill/>
        </p:spPr>
        <p:txBody>
          <a:bodyPr wrap="square" rtlCol="0">
            <a:spAutoFit/>
          </a:bodyPr>
          <a:lstStyle/>
          <a:p>
            <a:pPr>
              <a:lnSpc>
                <a:spcPct val="150000"/>
              </a:lnSpc>
            </a:pPr>
            <a:r>
              <a:rPr lang="zh-CN" altLang="en-US" sz="1200" b="1">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理论建模方法</a:t>
            </a:r>
            <a:endParaRPr lang="zh-CN" altLang="en-US" sz="1200" b="1">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传播学理论：</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借鉴选择性接触理论，分析算法如何强化用户的既有偏好和信念。</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网络科学与图论：</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将用户和信息构建成二部图，利用图论指标（如模块度、聚类系数）量化</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信息茧房</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的形成程度。</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indent="0">
              <a:lnSpc>
                <a:spcPct val="150000"/>
              </a:lnSpc>
              <a:buFont typeface="Arial" panose="020B0604020202020204" pitchFamily="34" charset="0"/>
              <a:buNone/>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实验与实证方法</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用户行为模拟：</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在实验室环境下，模拟不同算法和用户初始偏好，观察</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茧房</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的形成速度和深度。</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内容分析法：</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对不同新闻客户端的用户推荐内容进行抽样编码，测量内容的多样性和信源异质性。</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问卷与访谈：</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了解用户对被推荐内容的感知多样性及其意见极化倾向。</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799580" y="1586865"/>
            <a:ext cx="4333240" cy="4369435"/>
            <a:chOff x="10708" y="2499"/>
            <a:chExt cx="6824" cy="6881"/>
          </a:xfrm>
        </p:grpSpPr>
        <p:sp>
          <p:nvSpPr>
            <p:cNvPr id="29" name="六边形 28"/>
            <p:cNvSpPr/>
            <p:nvPr/>
          </p:nvSpPr>
          <p:spPr>
            <a:xfrm>
              <a:off x="12797" y="2499"/>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0" name="六边形 29"/>
            <p:cNvSpPr/>
            <p:nvPr/>
          </p:nvSpPr>
          <p:spPr>
            <a:xfrm>
              <a:off x="12797" y="4815"/>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1" name="六边形 30"/>
            <p:cNvSpPr/>
            <p:nvPr/>
          </p:nvSpPr>
          <p:spPr>
            <a:xfrm>
              <a:off x="12797" y="7131"/>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2" name="六边形 31"/>
            <p:cNvSpPr/>
            <p:nvPr/>
          </p:nvSpPr>
          <p:spPr>
            <a:xfrm>
              <a:off x="10708" y="3632"/>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3" name="六边形 32"/>
            <p:cNvSpPr/>
            <p:nvPr/>
          </p:nvSpPr>
          <p:spPr>
            <a:xfrm>
              <a:off x="14924" y="3632"/>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6" name="六边形 35"/>
            <p:cNvSpPr/>
            <p:nvPr/>
          </p:nvSpPr>
          <p:spPr>
            <a:xfrm>
              <a:off x="10708" y="5976"/>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7" name="六边形 36"/>
            <p:cNvSpPr/>
            <p:nvPr/>
          </p:nvSpPr>
          <p:spPr>
            <a:xfrm>
              <a:off x="14924" y="5976"/>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18" name="文本框 43"/>
            <p:cNvSpPr txBox="1"/>
            <p:nvPr/>
          </p:nvSpPr>
          <p:spPr bwMode="auto">
            <a:xfrm>
              <a:off x="11317" y="4500"/>
              <a:ext cx="1400"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回归分析</a:t>
              </a:r>
              <a:endParaRPr lang="zh-CN" altLang="en-US" sz="1385" dirty="0">
                <a:solidFill>
                  <a:srgbClr val="727372"/>
                </a:solidFill>
                <a:latin typeface="+mn-ea"/>
                <a:ea typeface="+mn-ea"/>
                <a:cs typeface="思源黑体 Regular" panose="020B0500000000000000" charset="-122"/>
                <a:sym typeface="+mn-ea"/>
              </a:endParaRPr>
            </a:p>
          </p:txBody>
        </p:sp>
        <p:sp>
          <p:nvSpPr>
            <p:cNvPr id="19" name="文本框 44"/>
            <p:cNvSpPr txBox="1"/>
            <p:nvPr/>
          </p:nvSpPr>
          <p:spPr bwMode="auto">
            <a:xfrm>
              <a:off x="15112" y="4501"/>
              <a:ext cx="2234"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网络科学与图论</a:t>
              </a:r>
              <a:endParaRPr lang="zh-CN" altLang="en-US" sz="1385" dirty="0">
                <a:solidFill>
                  <a:srgbClr val="727372"/>
                </a:solidFill>
                <a:latin typeface="+mn-ea"/>
                <a:ea typeface="+mn-ea"/>
                <a:cs typeface="思源黑体 Regular" panose="020B0500000000000000" charset="-122"/>
                <a:sym typeface="+mn-ea"/>
              </a:endParaRPr>
            </a:p>
          </p:txBody>
        </p:sp>
        <p:sp>
          <p:nvSpPr>
            <p:cNvPr id="20" name="文本框 45"/>
            <p:cNvSpPr txBox="1"/>
            <p:nvPr/>
          </p:nvSpPr>
          <p:spPr bwMode="auto">
            <a:xfrm>
              <a:off x="13280" y="8075"/>
              <a:ext cx="1678"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内容分析法</a:t>
              </a:r>
              <a:endParaRPr lang="zh-CN" altLang="en-US" sz="1385" dirty="0">
                <a:solidFill>
                  <a:srgbClr val="727372"/>
                </a:solidFill>
                <a:latin typeface="+mn-ea"/>
                <a:ea typeface="+mn-ea"/>
                <a:cs typeface="思源黑体 Regular" panose="020B0500000000000000" charset="-122"/>
                <a:sym typeface="+mn-ea"/>
              </a:endParaRPr>
            </a:p>
          </p:txBody>
        </p:sp>
        <p:sp>
          <p:nvSpPr>
            <p:cNvPr id="21" name="文本框 46"/>
            <p:cNvSpPr txBox="1">
              <a:spLocks noChangeArrowheads="1"/>
            </p:cNvSpPr>
            <p:nvPr/>
          </p:nvSpPr>
          <p:spPr bwMode="auto">
            <a:xfrm>
              <a:off x="11276" y="6918"/>
              <a:ext cx="168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问卷与访谈</a:t>
              </a:r>
              <a:endParaRPr lang="zh-CN" altLang="en-US" sz="1400" dirty="0">
                <a:solidFill>
                  <a:srgbClr val="FFFFFF"/>
                </a:solidFill>
                <a:latin typeface="+mn-ea"/>
                <a:ea typeface="+mn-ea"/>
                <a:cs typeface="思源黑体 Regular" panose="020B0500000000000000" charset="-122"/>
                <a:sym typeface="+mn-ea"/>
              </a:endParaRPr>
            </a:p>
          </p:txBody>
        </p:sp>
        <p:sp>
          <p:nvSpPr>
            <p:cNvPr id="22" name="文本框 47"/>
            <p:cNvSpPr txBox="1">
              <a:spLocks noChangeArrowheads="1"/>
            </p:cNvSpPr>
            <p:nvPr/>
          </p:nvSpPr>
          <p:spPr bwMode="auto">
            <a:xfrm>
              <a:off x="15134" y="6922"/>
              <a:ext cx="196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用户行为模拟</a:t>
              </a:r>
              <a:endParaRPr lang="zh-CN" altLang="en-US" sz="1400" dirty="0">
                <a:solidFill>
                  <a:srgbClr val="FFFFFF"/>
                </a:solidFill>
                <a:latin typeface="+mn-ea"/>
                <a:ea typeface="+mn-ea"/>
                <a:cs typeface="思源黑体 Regular" panose="020B0500000000000000" charset="-122"/>
                <a:sym typeface="+mn-ea"/>
              </a:endParaRPr>
            </a:p>
          </p:txBody>
        </p:sp>
        <p:sp>
          <p:nvSpPr>
            <p:cNvPr id="23" name="文本框 48"/>
            <p:cNvSpPr txBox="1">
              <a:spLocks noChangeArrowheads="1"/>
            </p:cNvSpPr>
            <p:nvPr/>
          </p:nvSpPr>
          <p:spPr bwMode="auto">
            <a:xfrm>
              <a:off x="13257" y="3368"/>
              <a:ext cx="168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传播学理论</a:t>
              </a:r>
              <a:endParaRPr lang="zh-CN" altLang="en-US" sz="1400" dirty="0">
                <a:solidFill>
                  <a:srgbClr val="FFFFFF"/>
                </a:solidFill>
                <a:latin typeface="+mn-ea"/>
                <a:ea typeface="+mn-ea"/>
                <a:cs typeface="思源黑体 Regular" panose="020B0500000000000000" charset="-122"/>
                <a:sym typeface="+mn-ea"/>
              </a:endParaRPr>
            </a:p>
          </p:txBody>
        </p:sp>
        <p:sp>
          <p:nvSpPr>
            <p:cNvPr id="24" name="文本框 49"/>
            <p:cNvSpPr txBox="1"/>
            <p:nvPr/>
          </p:nvSpPr>
          <p:spPr bwMode="auto">
            <a:xfrm>
              <a:off x="13255" y="5666"/>
              <a:ext cx="1732" cy="5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800" b="1" dirty="0">
                  <a:solidFill>
                    <a:srgbClr val="3B3B3B"/>
                  </a:solidFill>
                  <a:latin typeface="+mn-ea"/>
                  <a:ea typeface="+mn-ea"/>
                  <a:cs typeface="思源黑体 Regular" panose="020B0500000000000000" charset="-122"/>
                </a:rPr>
                <a:t>研究方法</a:t>
              </a:r>
              <a:endParaRPr lang="zh-CN" altLang="en-US" sz="1800" b="1" dirty="0">
                <a:solidFill>
                  <a:srgbClr val="3B3B3B"/>
                </a:solidFill>
                <a:latin typeface="+mn-ea"/>
                <a:ea typeface="+mn-ea"/>
                <a:cs typeface="思源黑体 Regular" panose="020B0500000000000000" charset="-122"/>
              </a:endParaRPr>
            </a:p>
          </p:txBody>
        </p:sp>
      </p:grpSp>
      <p:grpSp>
        <p:nvGrpSpPr>
          <p:cNvPr id="5" name="组合 4"/>
          <p:cNvGrpSpPr/>
          <p:nvPr/>
        </p:nvGrpSpPr>
        <p:grpSpPr>
          <a:xfrm>
            <a:off x="1125220" y="1868805"/>
            <a:ext cx="4831715" cy="1293495"/>
            <a:chOff x="9034" y="1817"/>
            <a:chExt cx="7609" cy="2037"/>
          </a:xfrm>
        </p:grpSpPr>
        <p:sp>
          <p:nvSpPr>
            <p:cNvPr id="6" name="椭圆 5"/>
            <p:cNvSpPr/>
            <p:nvPr/>
          </p:nvSpPr>
          <p:spPr>
            <a:xfrm>
              <a:off x="9034" y="1817"/>
              <a:ext cx="975" cy="975"/>
            </a:xfrm>
            <a:prstGeom prst="ellipse">
              <a:avLst/>
            </a:prstGeom>
            <a:gradFill>
              <a:gsLst>
                <a:gs pos="0">
                  <a:schemeClr val="accent1">
                    <a:alpha val="30000"/>
                  </a:schemeClr>
                </a:gs>
                <a:gs pos="100000">
                  <a:schemeClr val="accent6">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200">
                  <a:cs typeface="思源黑体 Regular" panose="020B0500000000000000" charset="-122"/>
                  <a:sym typeface="+mn-ea"/>
                </a:rPr>
                <a:t>  </a:t>
              </a:r>
              <a:endParaRPr lang="zh-CN" altLang="en-US" sz="1200">
                <a:cs typeface="思源黑体 Regular" panose="020B0500000000000000" charset="-122"/>
                <a:sym typeface="+mn-ea"/>
              </a:endParaRPr>
            </a:p>
          </p:txBody>
        </p:sp>
        <p:sp>
          <p:nvSpPr>
            <p:cNvPr id="8" name="矩形 7"/>
            <p:cNvSpPr/>
            <p:nvPr/>
          </p:nvSpPr>
          <p:spPr>
            <a:xfrm>
              <a:off x="9330" y="1966"/>
              <a:ext cx="7313" cy="1888"/>
            </a:xfrm>
            <a:prstGeom prst="rect">
              <a:avLst/>
            </a:prstGeom>
          </p:spPr>
          <p:txBody>
            <a:bodyPr wrap="square" anchor="t" anchorCtr="0">
              <a:spAutoFit/>
            </a:bodyPr>
            <a:lstStyle/>
            <a:p>
              <a:pPr algn="l">
                <a:lnSpc>
                  <a:spcPct val="150000"/>
                </a:lnSpc>
              </a:pPr>
              <a:r>
                <a:rPr lang="zh-CN" altLang="en-US" sz="1200" dirty="0">
                  <a:solidFill>
                    <a:srgbClr val="727273"/>
                  </a:solidFill>
                  <a:latin typeface="+mn-ea"/>
                  <a:cs typeface="思源黑体 Regular" panose="020B0500000000000000" charset="-122"/>
                  <a:sym typeface="+mn-ea"/>
                </a:rPr>
                <a:t>本选题旨在深入探究算法推荐系统在新闻传播中加剧</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信息茧房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效应的具体机制。内容包括：分析用户点击偏好、阅读时长等行为数据对算法的影响；界定信息异质性和信息多样性的指标；设计并测试不同的人工干预或去中心化推荐策略，以打破信息茧房</a:t>
              </a:r>
              <a:endParaRPr lang="zh-CN" altLang="en-US" sz="1200" dirty="0">
                <a:solidFill>
                  <a:srgbClr val="727273"/>
                </a:solidFill>
                <a:latin typeface="+mn-ea"/>
                <a:cs typeface="思源黑体 Regular" panose="020B0500000000000000" charset="-122"/>
                <a:sym typeface="+mn-ea"/>
              </a:endParaRPr>
            </a:p>
          </p:txBody>
        </p:sp>
      </p:grpSp>
      <p:grpSp>
        <p:nvGrpSpPr>
          <p:cNvPr id="25" name="组合 24"/>
          <p:cNvGrpSpPr/>
          <p:nvPr/>
        </p:nvGrpSpPr>
        <p:grpSpPr>
          <a:xfrm>
            <a:off x="1125220" y="3413125"/>
            <a:ext cx="4831715" cy="2955925"/>
            <a:chOff x="9034" y="1817"/>
            <a:chExt cx="7609" cy="4655"/>
          </a:xfrm>
        </p:grpSpPr>
        <p:sp>
          <p:nvSpPr>
            <p:cNvPr id="26" name="椭圆 25"/>
            <p:cNvSpPr/>
            <p:nvPr/>
          </p:nvSpPr>
          <p:spPr>
            <a:xfrm>
              <a:off x="9034" y="1817"/>
              <a:ext cx="975" cy="975"/>
            </a:xfrm>
            <a:prstGeom prst="ellipse">
              <a:avLst/>
            </a:prstGeom>
            <a:gradFill>
              <a:gsLst>
                <a:gs pos="0">
                  <a:schemeClr val="accent1">
                    <a:alpha val="30000"/>
                  </a:schemeClr>
                </a:gs>
                <a:gs pos="100000">
                  <a:schemeClr val="accent6">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200">
                  <a:cs typeface="思源黑体 Regular" panose="020B0500000000000000" charset="-122"/>
                  <a:sym typeface="+mn-ea"/>
                </a:rPr>
                <a:t>  </a:t>
              </a:r>
              <a:endParaRPr lang="zh-CN" altLang="en-US" sz="1200">
                <a:cs typeface="思源黑体 Regular" panose="020B0500000000000000" charset="-122"/>
                <a:sym typeface="+mn-ea"/>
              </a:endParaRPr>
            </a:p>
          </p:txBody>
        </p:sp>
        <p:sp>
          <p:nvSpPr>
            <p:cNvPr id="27" name="矩形 26"/>
            <p:cNvSpPr/>
            <p:nvPr/>
          </p:nvSpPr>
          <p:spPr>
            <a:xfrm>
              <a:off x="9330" y="1966"/>
              <a:ext cx="7313" cy="4506"/>
            </a:xfrm>
            <a:prstGeom prst="rect">
              <a:avLst/>
            </a:prstGeom>
          </p:spPr>
          <p:txBody>
            <a:bodyPr wrap="square" anchor="t" anchorCtr="0">
              <a:spAutoFit/>
            </a:bodyPr>
            <a:lstStyle/>
            <a:p>
              <a:pPr algn="l">
                <a:lnSpc>
                  <a:spcPct val="150000"/>
                </a:lnSpc>
              </a:pPr>
              <a:r>
                <a:rPr lang="zh-CN" altLang="en-US" sz="1200" dirty="0">
                  <a:solidFill>
                    <a:srgbClr val="727273"/>
                  </a:solidFill>
                  <a:latin typeface="+mn-ea"/>
                  <a:cs typeface="思源黑体 Regular" panose="020B0500000000000000" charset="-122"/>
                  <a:sym typeface="+mn-ea"/>
                </a:rPr>
                <a:t>理论建模方法</a:t>
              </a:r>
              <a:endParaRPr lang="zh-CN" altLang="en-US"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传播学理论：</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借鉴选择性接触理论，分析算法如何强化用户的既有偏好和信念。</a:t>
              </a:r>
              <a:endParaRPr lang="en-US" altLang="zh-CN"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网络科学与图论：</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将用户和信息构建成二部图，利用图论指标（如模块度、聚类系数）量化</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信息茧房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的形成程度</a:t>
              </a:r>
              <a:endParaRPr lang="zh-CN" altLang="en-US" sz="1200" dirty="0">
                <a:solidFill>
                  <a:srgbClr val="727273"/>
                </a:solidFill>
                <a:latin typeface="+mn-ea"/>
                <a:cs typeface="思源黑体 Regular" panose="020B0500000000000000" charset="-122"/>
                <a:sym typeface="+mn-ea"/>
              </a:endParaRPr>
            </a:p>
            <a:p>
              <a:pPr indent="0" algn="l">
                <a:lnSpc>
                  <a:spcPct val="150000"/>
                </a:lnSpc>
                <a:buFont typeface="Arial" panose="020B0604020202020204" pitchFamily="34" charset="0"/>
                <a:buNone/>
              </a:pPr>
              <a:r>
                <a:rPr lang="zh-CN" altLang="en-US" sz="1200" dirty="0">
                  <a:solidFill>
                    <a:srgbClr val="727273"/>
                  </a:solidFill>
                  <a:latin typeface="+mn-ea"/>
                  <a:cs typeface="思源黑体 Regular" panose="020B0500000000000000" charset="-122"/>
                  <a:sym typeface="+mn-ea"/>
                </a:rPr>
                <a:t>实验与实证方法</a:t>
              </a:r>
              <a:endParaRPr lang="zh-CN" altLang="en-US"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用户行为模拟：</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在实验室环境下，模拟不同算法和用户初始偏好，观察</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的形成速度和深度。</a:t>
              </a:r>
              <a:endParaRPr lang="en-US" altLang="zh-CN"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内容分析法：</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对不同新闻客户端的用户推荐内容进行抽样编码，测量内容的多样性和信源异质性。</a:t>
              </a:r>
              <a:endParaRPr lang="zh-CN" altLang="en-US" sz="1200" dirty="0">
                <a:solidFill>
                  <a:srgbClr val="727273"/>
                </a:solidFill>
                <a:latin typeface="+mn-ea"/>
                <a:cs typeface="思源黑体 Regular" panose="020B0500000000000000" charset="-122"/>
                <a:sym typeface="+mn-ea"/>
              </a:endParaRPr>
            </a:p>
          </p:txBody>
        </p:sp>
      </p:grpSp>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新闻传播学：聚焦媒体融合与信息茧房</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短视频叙事模式对青少年社会价值观念重塑的影响研究</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7" name="六边形 4"/>
          <p:cNvSpPr/>
          <p:nvPr>
            <p:custDataLst>
              <p:tags r:id="rId1"/>
            </p:custDataLst>
          </p:nvPr>
        </p:nvSpPr>
        <p:spPr>
          <a:xfrm>
            <a:off x="4914265" y="2505075"/>
            <a:ext cx="2270125" cy="2552065"/>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2"/>
          </a:solidFill>
          <a:ln w="19050" cap="flat" cmpd="sng" algn="ctr">
            <a:solidFill>
              <a:srgbClr val="A9C683"/>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18" name="六边形 4"/>
          <p:cNvSpPr/>
          <p:nvPr>
            <p:custDataLst>
              <p:tags r:id="rId2"/>
            </p:custDataLst>
          </p:nvPr>
        </p:nvSpPr>
        <p:spPr>
          <a:xfrm>
            <a:off x="4385310" y="1907540"/>
            <a:ext cx="3332480" cy="374650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noFill/>
          <a:ln w="12700" cap="flat" cmpd="sng" algn="ctr">
            <a:solidFill>
              <a:schemeClr val="accent1">
                <a:lumMod val="20000"/>
                <a:lumOff val="80000"/>
              </a:schemeClr>
            </a:solidFill>
            <a:prstDash val="dash"/>
            <a:miter lim="800000"/>
          </a:ln>
          <a:effectLst/>
        </p:spPr>
        <p:txBody>
          <a:bodyPr rtlCol="0" anchor="ctr"/>
          <a:lstStyle/>
          <a:p>
            <a:pPr algn="ctr"/>
            <a:endParaRPr lang="zh-CN" altLang="en-US" sz="1400" kern="0">
              <a:solidFill>
                <a:prstClr val="white"/>
              </a:solidFill>
              <a:latin typeface="思源黑体 CN Medium" panose="020B0600000000000000" charset="-122"/>
              <a:ea typeface="思源黑体 CN Medium" panose="020B0600000000000000" charset="-122"/>
              <a:cs typeface="思源黑体 Bold" panose="020B0800000000000000" charset="-122"/>
            </a:endParaRPr>
          </a:p>
        </p:txBody>
      </p:sp>
      <p:sp>
        <p:nvSpPr>
          <p:cNvPr id="3" name="六边形 4"/>
          <p:cNvSpPr/>
          <p:nvPr>
            <p:custDataLst>
              <p:tags r:id="rId3"/>
            </p:custDataLst>
          </p:nvPr>
        </p:nvSpPr>
        <p:spPr>
          <a:xfrm>
            <a:off x="4145915" y="248856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2" name="六边形 4"/>
          <p:cNvSpPr/>
          <p:nvPr>
            <p:custDataLst>
              <p:tags r:id="rId4"/>
            </p:custDataLst>
          </p:nvPr>
        </p:nvSpPr>
        <p:spPr>
          <a:xfrm>
            <a:off x="4145915" y="445579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3"/>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5" name="六边形 4"/>
          <p:cNvSpPr/>
          <p:nvPr>
            <p:custDataLst>
              <p:tags r:id="rId5"/>
            </p:custDataLst>
          </p:nvPr>
        </p:nvSpPr>
        <p:spPr>
          <a:xfrm>
            <a:off x="7444105" y="248856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2"/>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6" name="六边形 4"/>
          <p:cNvSpPr/>
          <p:nvPr>
            <p:custDataLst>
              <p:tags r:id="rId6"/>
            </p:custDataLst>
          </p:nvPr>
        </p:nvSpPr>
        <p:spPr>
          <a:xfrm>
            <a:off x="7444105" y="445579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grpSp>
        <p:nvGrpSpPr>
          <p:cNvPr id="23" name="组合 22"/>
          <p:cNvGrpSpPr/>
          <p:nvPr>
            <p:custDataLst>
              <p:tags r:id="rId7"/>
            </p:custDataLst>
          </p:nvPr>
        </p:nvGrpSpPr>
        <p:grpSpPr>
          <a:xfrm>
            <a:off x="921385" y="2280285"/>
            <a:ext cx="2888615" cy="988695"/>
            <a:chOff x="2076" y="3532"/>
            <a:chExt cx="4549" cy="1557"/>
          </a:xfrm>
        </p:grpSpPr>
        <p:sp>
          <p:nvSpPr>
            <p:cNvPr id="5" name="文本占位符 25"/>
            <p:cNvSpPr txBox="1"/>
            <p:nvPr>
              <p:custDataLst>
                <p:tags r:id="rId8"/>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Regular" panose="020B0500000000000000" charset="-122"/>
                </a:rPr>
                <a:t>叙事学理论</a:t>
              </a:r>
              <a:endParaRPr kumimoji="0" lang="zh-CN" altLang="en-US" sz="2000" i="0" u="none" strike="noStrike" kern="1200" cap="none" spc="10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7" name="矩形 47"/>
            <p:cNvSpPr>
              <a:spLocks noChangeArrowheads="1"/>
            </p:cNvSpPr>
            <p:nvPr>
              <p:custDataLst>
                <p:tags r:id="rId9"/>
              </p:custDataLst>
            </p:nvPr>
          </p:nvSpPr>
          <p:spPr bwMode="auto">
            <a:xfrm>
              <a:off x="2076" y="4065"/>
              <a:ext cx="4549" cy="1024"/>
            </a:xfrm>
            <a:prstGeom prst="rect">
              <a:avLst/>
            </a:prstGeom>
            <a:noFill/>
            <a:ln w="9525">
              <a:noFill/>
              <a:miter lim="800000"/>
            </a:ln>
          </p:spPr>
          <p:txBody>
            <a:bodyPr wrap="square" lIns="68566" tIns="34283" rIns="68566" bIns="34283">
              <a:spAutoFit/>
            </a:bodyPr>
            <a:lstStyle/>
            <a:p>
              <a:pPr algn="r">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借鉴结构叙事学，分析短视频的叙事结构、角色设定和冲突解决模式</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12" name="组合 11"/>
          <p:cNvGrpSpPr/>
          <p:nvPr>
            <p:custDataLst>
              <p:tags r:id="rId10"/>
            </p:custDataLst>
          </p:nvPr>
        </p:nvGrpSpPr>
        <p:grpSpPr>
          <a:xfrm>
            <a:off x="922020" y="4397375"/>
            <a:ext cx="2888615" cy="1280795"/>
            <a:chOff x="2076" y="3532"/>
            <a:chExt cx="4549" cy="2017"/>
          </a:xfrm>
        </p:grpSpPr>
        <p:sp>
          <p:nvSpPr>
            <p:cNvPr id="13" name="文本占位符 25"/>
            <p:cNvSpPr txBox="1"/>
            <p:nvPr>
              <p:custDataLst>
                <p:tags r:id="rId11"/>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3"/>
                  </a:solidFill>
                  <a:effectLst/>
                  <a:uLnTx/>
                  <a:uFillTx/>
                  <a:latin typeface="思源黑体 CN Medium" panose="020B0600000000000000" charset="-122"/>
                  <a:ea typeface="思源黑体 CN Medium" panose="020B0600000000000000" charset="-122"/>
                  <a:cs typeface="思源黑体 Regular" panose="020B0500000000000000" charset="-122"/>
                </a:rPr>
                <a:t>内容分析</a:t>
              </a:r>
              <a:endParaRPr kumimoji="0" lang="zh-CN" altLang="en-US" sz="2000" i="0" u="none" strike="noStrike" kern="1200" cap="none" spc="100" normalizeH="0" baseline="0" noProof="0" dirty="0">
                <a:ln>
                  <a:noFill/>
                </a:ln>
                <a:solidFill>
                  <a:schemeClr val="accent3"/>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14" name="矩形 47"/>
            <p:cNvSpPr>
              <a:spLocks noChangeArrowheads="1"/>
            </p:cNvSpPr>
            <p:nvPr>
              <p:custDataLst>
                <p:tags r:id="rId12"/>
              </p:custDataLst>
            </p:nvPr>
          </p:nvSpPr>
          <p:spPr bwMode="auto">
            <a:xfrm>
              <a:off x="2076" y="4065"/>
              <a:ext cx="4549" cy="1484"/>
            </a:xfrm>
            <a:prstGeom prst="rect">
              <a:avLst/>
            </a:prstGeom>
            <a:noFill/>
            <a:ln w="9525">
              <a:noFill/>
              <a:miter lim="800000"/>
            </a:ln>
          </p:spPr>
          <p:txBody>
            <a:bodyPr wrap="square" lIns="68566" tIns="34283" rIns="68566" bIns="34283">
              <a:spAutoFit/>
            </a:bodyPr>
            <a:lstStyle/>
            <a:p>
              <a:pPr algn="r">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对热门短视频内容进行大规模抽样，并对其价值倾向、情绪基调和叙事结构进行编码和量化分析</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15" name="组合 14"/>
          <p:cNvGrpSpPr/>
          <p:nvPr>
            <p:custDataLst>
              <p:tags r:id="rId13"/>
            </p:custDataLst>
          </p:nvPr>
        </p:nvGrpSpPr>
        <p:grpSpPr>
          <a:xfrm>
            <a:off x="8336280" y="2280285"/>
            <a:ext cx="2888615" cy="988695"/>
            <a:chOff x="2076" y="3532"/>
            <a:chExt cx="4549" cy="1557"/>
          </a:xfrm>
        </p:grpSpPr>
        <p:sp>
          <p:nvSpPr>
            <p:cNvPr id="16" name="文本占位符 25"/>
            <p:cNvSpPr txBox="1"/>
            <p:nvPr>
              <p:custDataLst>
                <p:tags r:id="rId14"/>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2"/>
                  </a:solidFill>
                  <a:effectLst/>
                  <a:uLnTx/>
                  <a:uFillTx/>
                  <a:latin typeface="思源黑体 CN Medium" panose="020B0600000000000000" charset="-122"/>
                  <a:ea typeface="思源黑体 CN Medium" panose="020B0600000000000000" charset="-122"/>
                  <a:cs typeface="思源黑体 Regular" panose="020B0500000000000000" charset="-122"/>
                </a:rPr>
                <a:t>涵化理论</a:t>
              </a:r>
              <a:endParaRPr kumimoji="0" lang="zh-CN" altLang="en-US" sz="2000" i="0" u="none" strike="noStrike" kern="1200" cap="none" spc="100" normalizeH="0" baseline="0" noProof="0" dirty="0">
                <a:ln>
                  <a:noFill/>
                </a:ln>
                <a:solidFill>
                  <a:schemeClr val="accent2"/>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27" name="矩形 47"/>
            <p:cNvSpPr>
              <a:spLocks noChangeArrowheads="1"/>
            </p:cNvSpPr>
            <p:nvPr>
              <p:custDataLst>
                <p:tags r:id="rId15"/>
              </p:custDataLst>
            </p:nvPr>
          </p:nvSpPr>
          <p:spPr bwMode="auto">
            <a:xfrm>
              <a:off x="2076" y="4065"/>
              <a:ext cx="4549" cy="1024"/>
            </a:xfrm>
            <a:prstGeom prst="rect">
              <a:avLst/>
            </a:prstGeom>
            <a:noFill/>
            <a:ln w="9525">
              <a:noFill/>
              <a:miter lim="800000"/>
            </a:ln>
          </p:spPr>
          <p:txBody>
            <a:bodyPr wrap="square" lIns="68566" tIns="34283" rIns="68566" bIns="34283">
              <a:spAutoFit/>
            </a:bodyPr>
            <a:lstStyle/>
            <a:p>
              <a:pPr algn="l">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分析青少年长期接触短视频所建构的</a:t>
              </a:r>
              <a:r>
                <a:rPr lang="en-US" altLang="zh-CN"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a:t>
              </a: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社会现实</a:t>
              </a:r>
              <a:r>
                <a:rPr lang="en-US" altLang="zh-CN"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a:t>
              </a: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对他们实际价值观的影响</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29" name="组合 28"/>
          <p:cNvGrpSpPr/>
          <p:nvPr>
            <p:custDataLst>
              <p:tags r:id="rId16"/>
            </p:custDataLst>
          </p:nvPr>
        </p:nvGrpSpPr>
        <p:grpSpPr>
          <a:xfrm>
            <a:off x="8336915" y="4397375"/>
            <a:ext cx="2888615" cy="1280795"/>
            <a:chOff x="2076" y="3532"/>
            <a:chExt cx="4549" cy="2017"/>
          </a:xfrm>
        </p:grpSpPr>
        <p:sp>
          <p:nvSpPr>
            <p:cNvPr id="30" name="文本占位符 25"/>
            <p:cNvSpPr txBox="1"/>
            <p:nvPr>
              <p:custDataLst>
                <p:tags r:id="rId17"/>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思源黑体 Regular" panose="020B0500000000000000" charset="-122"/>
                </a:rPr>
                <a:t>深度访谈</a:t>
              </a:r>
              <a:endParaRPr kumimoji="0" lang="zh-CN" altLang="en-US" sz="2000" i="0" u="none" strike="noStrike" kern="1200" cap="none" spc="10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31" name="矩形 47"/>
            <p:cNvSpPr>
              <a:spLocks noChangeArrowheads="1"/>
            </p:cNvSpPr>
            <p:nvPr>
              <p:custDataLst>
                <p:tags r:id="rId18"/>
              </p:custDataLst>
            </p:nvPr>
          </p:nvSpPr>
          <p:spPr bwMode="auto">
            <a:xfrm>
              <a:off x="2076" y="4065"/>
              <a:ext cx="4549" cy="1484"/>
            </a:xfrm>
            <a:prstGeom prst="rect">
              <a:avLst/>
            </a:prstGeom>
            <a:noFill/>
            <a:ln w="9525">
              <a:noFill/>
              <a:miter lim="800000"/>
            </a:ln>
          </p:spPr>
          <p:txBody>
            <a:bodyPr wrap="square" lIns="68566" tIns="34283" rIns="68566" bIns="34283">
              <a:spAutoFit/>
            </a:bodyPr>
            <a:lstStyle/>
            <a:p>
              <a:pPr algn="l">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访谈青少年群体，了解他们对短视频内容的主观解读、情感共鸣和对自身价值观念的影响</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Tree>
    <p:custDataLst>
      <p:tags r:id="rId1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82550" y="2217420"/>
            <a:ext cx="12036425" cy="3225165"/>
            <a:chOff x="130" y="3327"/>
            <a:chExt cx="18955" cy="5079"/>
          </a:xfrm>
        </p:grpSpPr>
        <p:grpSp>
          <p:nvGrpSpPr>
            <p:cNvPr id="7" name="组合 6"/>
            <p:cNvGrpSpPr/>
            <p:nvPr/>
          </p:nvGrpSpPr>
          <p:grpSpPr>
            <a:xfrm>
              <a:off x="130" y="3327"/>
              <a:ext cx="18955" cy="5079"/>
              <a:chOff x="171" y="3567"/>
              <a:chExt cx="18955" cy="5079"/>
            </a:xfrm>
          </p:grpSpPr>
          <p:grpSp>
            <p:nvGrpSpPr>
              <p:cNvPr id="6" name="组合 5"/>
              <p:cNvGrpSpPr/>
              <p:nvPr/>
            </p:nvGrpSpPr>
            <p:grpSpPr>
              <a:xfrm>
                <a:off x="171" y="3982"/>
                <a:ext cx="18955" cy="4340"/>
                <a:chOff x="90" y="3770"/>
                <a:chExt cx="18955" cy="4340"/>
              </a:xfrm>
            </p:grpSpPr>
            <p:grpSp>
              <p:nvGrpSpPr>
                <p:cNvPr id="3" name="组合 2"/>
                <p:cNvGrpSpPr/>
                <p:nvPr/>
              </p:nvGrpSpPr>
              <p:grpSpPr>
                <a:xfrm>
                  <a:off x="90" y="3770"/>
                  <a:ext cx="6663" cy="1889"/>
                  <a:chOff x="345" y="3770"/>
                  <a:chExt cx="6663" cy="1889"/>
                </a:xfrm>
              </p:grpSpPr>
              <p:sp>
                <p:nvSpPr>
                  <p:cNvPr id="40" name="矩形 39"/>
                  <p:cNvSpPr/>
                  <p:nvPr>
                    <p:custDataLst>
                      <p:tags r:id="rId2"/>
                    </p:custDataLst>
                  </p:nvPr>
                </p:nvSpPr>
                <p:spPr>
                  <a:xfrm>
                    <a:off x="895" y="4498"/>
                    <a:ext cx="6113" cy="1161"/>
                  </a:xfrm>
                  <a:prstGeom prst="rect">
                    <a:avLst/>
                  </a:prstGeom>
                </p:spPr>
                <p:txBody>
                  <a:bodyPr wrap="square">
                    <a:spAutoFit/>
                  </a:bodyPr>
                  <a:lstStyle/>
                  <a:p>
                    <a:pPr marL="0" marR="0" lvl="0" indent="0" algn="r" defTabSz="457200" rtl="0" eaLnBrk="1" fontAlgn="auto" latinLnBrk="0" hangingPunct="1">
                      <a:lnSpc>
                        <a:spcPct val="150000"/>
                      </a:lnSpc>
                      <a:spcBef>
                        <a:spcPts val="600"/>
                      </a:spcBef>
                      <a:spcAft>
                        <a:spcPts val="0"/>
                      </a:spcAft>
                      <a:buClrTx/>
                      <a:buSzTx/>
                      <a:buFontTx/>
                      <a:buNone/>
                      <a:defRPr/>
                    </a:pPr>
                    <a:r>
                      <a:rPr kumimoji="0" lang="en-US" altLang="zh-CN"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 </a:t>
                    </a:r>
                    <a:r>
                      <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分析政府资源配置效率和公共品供给在外部冲击（气候风险）下的优化问题</a:t>
                    </a:r>
                    <a:endPar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1" name="矩形 40"/>
                  <p:cNvSpPr/>
                  <p:nvPr>
                    <p:custDataLst>
                      <p:tags r:id="rId3"/>
                    </p:custDataLst>
                  </p:nvPr>
                </p:nvSpPr>
                <p:spPr>
                  <a:xfrm>
                    <a:off x="345" y="3770"/>
                    <a:ext cx="6663" cy="725"/>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2"/>
                        </a:solidFill>
                        <a:effectLst/>
                        <a:uLnTx/>
                        <a:uFillTx/>
                        <a:latin typeface="思源黑体 CN Medium" panose="020B0600000000000000" charset="-122"/>
                        <a:ea typeface="思源黑体 CN Medium" panose="020B0600000000000000" charset="-122"/>
                        <a:cs typeface="思源黑体 CN Regular" panose="020B0500000000000000" charset="-122"/>
                      </a:rPr>
                      <a:t>公共财政理论</a:t>
                    </a:r>
                    <a:endParaRPr kumimoji="0" lang="zh-CN" altLang="en-US" sz="2400" b="1" i="0" u="none" strike="noStrike" kern="1200" cap="none" spc="0" normalizeH="0" baseline="0" noProof="0">
                      <a:ln>
                        <a:noFill/>
                      </a:ln>
                      <a:solidFill>
                        <a:schemeClr val="accent2"/>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grpSp>
            <p:grpSp>
              <p:nvGrpSpPr>
                <p:cNvPr id="4" name="组合 3"/>
                <p:cNvGrpSpPr/>
                <p:nvPr/>
              </p:nvGrpSpPr>
              <p:grpSpPr>
                <a:xfrm>
                  <a:off x="90" y="6206"/>
                  <a:ext cx="6663" cy="1904"/>
                  <a:chOff x="345" y="6221"/>
                  <a:chExt cx="6663" cy="1904"/>
                </a:xfrm>
              </p:grpSpPr>
              <p:sp>
                <p:nvSpPr>
                  <p:cNvPr id="42" name="矩形 41"/>
                  <p:cNvSpPr/>
                  <p:nvPr>
                    <p:custDataLst>
                      <p:tags r:id="rId4"/>
                    </p:custDataLst>
                  </p:nvPr>
                </p:nvSpPr>
                <p:spPr>
                  <a:xfrm>
                    <a:off x="895" y="6964"/>
                    <a:ext cx="6113" cy="1161"/>
                  </a:xfrm>
                  <a:prstGeom prst="rect">
                    <a:avLst/>
                  </a:prstGeom>
                </p:spPr>
                <p:txBody>
                  <a:bodyPr wrap="square">
                    <a:spAutoFit/>
                  </a:bodyPr>
                  <a:lstStyle/>
                  <a:p>
                    <a:pPr marL="0" marR="0" lvl="0" indent="0" algn="r" defTabSz="457200" rtl="0" eaLnBrk="1" fontAlgn="auto" latinLnBrk="0" hangingPunct="1">
                      <a:lnSpc>
                        <a:spcPct val="150000"/>
                      </a:lnSpc>
                      <a:spcBef>
                        <a:spcPts val="600"/>
                      </a:spcBef>
                      <a:spcAft>
                        <a:spcPts val="0"/>
                      </a:spcAft>
                      <a:buClrTx/>
                      <a:buSzTx/>
                      <a:buFontTx/>
                      <a:buNone/>
                      <a:defRPr/>
                    </a:pPr>
                    <a:r>
                      <a:rPr kumimoji="0" lang="en-US" altLang="zh-CN"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 </a:t>
                    </a:r>
                    <a:r>
                      <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收集中国数百个城市的长期财政支出数据和气候数据，采用固定效应模型进行回归分析</a:t>
                    </a:r>
                    <a:endPar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3" name="矩形 42"/>
                  <p:cNvSpPr/>
                  <p:nvPr>
                    <p:custDataLst>
                      <p:tags r:id="rId5"/>
                    </p:custDataLst>
                  </p:nvPr>
                </p:nvSpPr>
                <p:spPr>
                  <a:xfrm>
                    <a:off x="345" y="6221"/>
                    <a:ext cx="6663" cy="725"/>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面板数据模型</a:t>
                    </a:r>
                    <a:endParaRPr kumimoji="0" lang="zh-CN" altLang="en-US" sz="2400" b="1"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nvGrpSpPr>
                <p:cNvPr id="5" name="组合 4"/>
                <p:cNvGrpSpPr/>
                <p:nvPr/>
              </p:nvGrpSpPr>
              <p:grpSpPr>
                <a:xfrm>
                  <a:off x="12447" y="3770"/>
                  <a:ext cx="6598" cy="2413"/>
                  <a:chOff x="12447" y="3770"/>
                  <a:chExt cx="6598" cy="2413"/>
                </a:xfrm>
              </p:grpSpPr>
              <p:sp>
                <p:nvSpPr>
                  <p:cNvPr id="44" name="矩形 43"/>
                  <p:cNvSpPr/>
                  <p:nvPr>
                    <p:custDataLst>
                      <p:tags r:id="rId6"/>
                    </p:custDataLst>
                  </p:nvPr>
                </p:nvSpPr>
                <p:spPr>
                  <a:xfrm>
                    <a:off x="12449" y="4513"/>
                    <a:ext cx="6113" cy="1670"/>
                  </a:xfrm>
                  <a:prstGeom prst="rect">
                    <a:avLst/>
                  </a:prstGeom>
                </p:spPr>
                <p:txBody>
                  <a:bodyPr wrap="square">
                    <a:spAutoFit/>
                  </a:bodyPr>
                  <a:lstStyle/>
                  <a:p>
                    <a:pPr marL="0" marR="0" lvl="0" indent="0" algn="l" defTabSz="457200" rtl="0" eaLnBrk="1" fontAlgn="auto" latinLnBrk="0" hangingPunct="1">
                      <a:lnSpc>
                        <a:spcPct val="150000"/>
                      </a:lnSpc>
                      <a:spcBef>
                        <a:spcPts val="600"/>
                      </a:spcBef>
                      <a:spcAft>
                        <a:spcPts val="0"/>
                      </a:spcAft>
                      <a:buClrTx/>
                      <a:buSzTx/>
                      <a:buFontTx/>
                      <a:buNone/>
                      <a:defRPr/>
                    </a:pPr>
                    <a:r>
                      <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使用气候模型数据（如极端降水、气温异常）作为外部冲击变量，量化气候变化对地方财政的潜在影响</a:t>
                    </a:r>
                    <a:endPar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5" name="矩形 44"/>
                  <p:cNvSpPr/>
                  <p:nvPr>
                    <p:custDataLst>
                      <p:tags r:id="rId7"/>
                    </p:custDataLst>
                  </p:nvPr>
                </p:nvSpPr>
                <p:spPr>
                  <a:xfrm>
                    <a:off x="12447" y="3770"/>
                    <a:ext cx="6598" cy="72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3"/>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气候风险量化</a:t>
                    </a:r>
                    <a:endParaRPr kumimoji="0" lang="zh-CN" altLang="en-US" sz="2400" b="1" i="0" u="none" strike="noStrike" kern="1200" cap="none" spc="0" normalizeH="0" baseline="0" noProof="0">
                      <a:ln>
                        <a:noFill/>
                      </a:ln>
                      <a:solidFill>
                        <a:schemeClr val="accent3"/>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nvGrpSpPr>
                <p:cNvPr id="8" name="组合 7"/>
                <p:cNvGrpSpPr/>
                <p:nvPr/>
              </p:nvGrpSpPr>
              <p:grpSpPr>
                <a:xfrm>
                  <a:off x="12447" y="6236"/>
                  <a:ext cx="6598" cy="1874"/>
                  <a:chOff x="12447" y="6236"/>
                  <a:chExt cx="6598" cy="1874"/>
                </a:xfrm>
              </p:grpSpPr>
              <p:sp>
                <p:nvSpPr>
                  <p:cNvPr id="46" name="矩形 45"/>
                  <p:cNvSpPr/>
                  <p:nvPr>
                    <p:custDataLst>
                      <p:tags r:id="rId8"/>
                    </p:custDataLst>
                  </p:nvPr>
                </p:nvSpPr>
                <p:spPr>
                  <a:xfrm>
                    <a:off x="12449" y="6949"/>
                    <a:ext cx="6113" cy="1161"/>
                  </a:xfrm>
                  <a:prstGeom prst="rect">
                    <a:avLst/>
                  </a:prstGeom>
                </p:spPr>
                <p:txBody>
                  <a:bodyPr wrap="square">
                    <a:spAutoFit/>
                  </a:bodyPr>
                  <a:lstStyle/>
                  <a:p>
                    <a:pPr marL="0" marR="0" lvl="0" indent="0" algn="l" defTabSz="457200" rtl="0" eaLnBrk="1" fontAlgn="auto" latinLnBrk="0" hangingPunct="1">
                      <a:lnSpc>
                        <a:spcPct val="150000"/>
                      </a:lnSpc>
                      <a:spcBef>
                        <a:spcPts val="600"/>
                      </a:spcBef>
                      <a:spcAft>
                        <a:spcPts val="0"/>
                      </a:spcAft>
                      <a:buClrTx/>
                      <a:buSzTx/>
                      <a:buFontTx/>
                      <a:buNone/>
                      <a:defRPr/>
                    </a:pPr>
                    <a:r>
                      <a:rPr kumimoji="1" lang="en-US" altLang="zh-CN"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 </a:t>
                    </a:r>
                    <a:r>
                      <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分析气候风险对不同财政支出水平的地方政府所产生的异质性影响</a:t>
                    </a:r>
                    <a:endPar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7" name="矩形 46"/>
                  <p:cNvSpPr/>
                  <p:nvPr>
                    <p:custDataLst>
                      <p:tags r:id="rId9"/>
                    </p:custDataLst>
                  </p:nvPr>
                </p:nvSpPr>
                <p:spPr>
                  <a:xfrm>
                    <a:off x="12447" y="6236"/>
                    <a:ext cx="6598" cy="72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5"/>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分位数回归</a:t>
                    </a:r>
                    <a:endParaRPr kumimoji="0" lang="zh-CN" altLang="en-US" sz="2400" b="1" i="0" u="none" strike="noStrike" kern="1200" cap="none" spc="0" normalizeH="0" baseline="0" noProof="0">
                      <a:ln>
                        <a:noFill/>
                      </a:ln>
                      <a:solidFill>
                        <a:schemeClr val="accent5"/>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sp>
            <p:nvSpPr>
              <p:cNvPr id="49" name="箭头: 十字 48"/>
              <p:cNvSpPr/>
              <p:nvPr>
                <p:custDataLst>
                  <p:tags r:id="rId10"/>
                </p:custDataLst>
              </p:nvPr>
            </p:nvSpPr>
            <p:spPr>
              <a:xfrm>
                <a:off x="7101" y="3567"/>
                <a:ext cx="5079" cy="5079"/>
              </a:xfrm>
              <a:prstGeom prst="quadArrow">
                <a:avLst>
                  <a:gd name="adj1" fmla="val 2000"/>
                  <a:gd name="adj2" fmla="val 4000"/>
                  <a:gd name="adj3" fmla="val 5000"/>
                </a:avLst>
              </a:prstGeom>
              <a:solidFill>
                <a:srgbClr val="52717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no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grpSp>
        <p:pic>
          <p:nvPicPr>
            <p:cNvPr id="9" name="图片 8" descr="333438303937363b333438313035353bb2fac6b7c4a3d0c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683" y="3953"/>
              <a:ext cx="1440" cy="1440"/>
            </a:xfrm>
            <a:prstGeom prst="rect">
              <a:avLst/>
            </a:prstGeom>
          </p:spPr>
        </p:pic>
        <p:pic>
          <p:nvPicPr>
            <p:cNvPr id="10" name="图片 9" descr="333438303937363b333438313035373bb9abcbbed3c5cac6"/>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10074" y="3953"/>
              <a:ext cx="1440" cy="1440"/>
            </a:xfrm>
            <a:prstGeom prst="rect">
              <a:avLst/>
            </a:prstGeom>
          </p:spPr>
        </p:pic>
        <p:pic>
          <p:nvPicPr>
            <p:cNvPr id="11" name="图片 10" descr="333438303937363b333438313037303bb6a8cebbb2fac6b7"/>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10090" y="6340"/>
              <a:ext cx="1440" cy="1440"/>
            </a:xfrm>
            <a:prstGeom prst="rect">
              <a:avLst/>
            </a:prstGeom>
          </p:spPr>
        </p:pic>
        <p:pic>
          <p:nvPicPr>
            <p:cNvPr id="19" name="图片 18" descr="333438303937363b333438313038303bd7e9d6afbcdcb9b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694" y="6341"/>
              <a:ext cx="1440" cy="1440"/>
            </a:xfrm>
            <a:prstGeom prst="rect">
              <a:avLst/>
            </a:prstGeom>
          </p:spPr>
        </p:pic>
      </p:grpSp>
      <p:grpSp>
        <p:nvGrpSpPr>
          <p:cNvPr id="14" name="组合 1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5" name="文本框 1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气候变化风险对地方政府财政支出结构的影响研究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custDataLst>
              <p:tags r:id="rId1"/>
            </p:custDataLst>
          </p:nvPr>
        </p:nvGrpSpPr>
        <p:grpSpPr>
          <a:xfrm>
            <a:off x="1050290" y="1753870"/>
            <a:ext cx="10092055" cy="4556760"/>
            <a:chOff x="1730" y="2582"/>
            <a:chExt cx="15893" cy="7176"/>
          </a:xfrm>
        </p:grpSpPr>
        <p:sp>
          <p:nvSpPr>
            <p:cNvPr id="6" name="任意形状 3"/>
            <p:cNvSpPr/>
            <p:nvPr>
              <p:custDataLst>
                <p:tags r:id="rId2"/>
              </p:custDataLst>
            </p:nvPr>
          </p:nvSpPr>
          <p:spPr>
            <a:xfrm>
              <a:off x="6260" y="3197"/>
              <a:ext cx="1147" cy="1147"/>
            </a:xfrm>
            <a:custGeom>
              <a:avLst/>
              <a:gdLst>
                <a:gd name="connsiteX0" fmla="*/ 13213 w 835570"/>
                <a:gd name="connsiteY0" fmla="*/ 13213 h 835570"/>
                <a:gd name="connsiteX1" fmla="*/ 829745 w 835570"/>
                <a:gd name="connsiteY1" fmla="*/ 829745 h 835570"/>
              </a:gdLst>
              <a:ahLst/>
              <a:cxnLst>
                <a:cxn ang="0">
                  <a:pos x="connsiteX0" y="connsiteY0"/>
                </a:cxn>
                <a:cxn ang="0">
                  <a:pos x="connsiteX1" y="connsiteY1"/>
                </a:cxn>
              </a:cxnLst>
              <a:rect l="l" t="t" r="r" b="b"/>
              <a:pathLst>
                <a:path w="835570" h="835570">
                  <a:moveTo>
                    <a:pt x="13213" y="13213"/>
                  </a:moveTo>
                  <a:lnTo>
                    <a:pt x="829745" y="829745"/>
                  </a:lnTo>
                </a:path>
              </a:pathLst>
            </a:custGeom>
            <a:ln w="28575" cap="flat">
              <a:solidFill>
                <a:schemeClr val="accent4"/>
              </a:solidFill>
              <a:prstDash val="solid"/>
              <a:miter/>
              <a:headEnd type="oval"/>
            </a:ln>
          </p:spPr>
          <p:txBody>
            <a:bodyPr rtlCol="0" anchor="ctr"/>
            <a:lstStyle/>
            <a:p>
              <a:endParaRPr lang="zh-CN" altLang="en-US">
                <a:cs typeface="思源黑体 CN Regular" panose="020B0500000000000000" charset="-122"/>
              </a:endParaRPr>
            </a:p>
          </p:txBody>
        </p:sp>
        <p:sp>
          <p:nvSpPr>
            <p:cNvPr id="7" name="任意形状 4"/>
            <p:cNvSpPr/>
            <p:nvPr>
              <p:custDataLst>
                <p:tags r:id="rId3"/>
              </p:custDataLst>
            </p:nvPr>
          </p:nvSpPr>
          <p:spPr>
            <a:xfrm>
              <a:off x="11583" y="3197"/>
              <a:ext cx="1357" cy="1357"/>
            </a:xfrm>
            <a:custGeom>
              <a:avLst/>
              <a:gdLst>
                <a:gd name="connsiteX0" fmla="*/ 829745 w 835570"/>
                <a:gd name="connsiteY0" fmla="*/ 13213 h 835570"/>
                <a:gd name="connsiteX1" fmla="*/ 13213 w 835570"/>
                <a:gd name="connsiteY1" fmla="*/ 829745 h 835570"/>
              </a:gdLst>
              <a:ahLst/>
              <a:cxnLst>
                <a:cxn ang="0">
                  <a:pos x="connsiteX0" y="connsiteY0"/>
                </a:cxn>
                <a:cxn ang="0">
                  <a:pos x="connsiteX1" y="connsiteY1"/>
                </a:cxn>
              </a:cxnLst>
              <a:rect l="l" t="t" r="r" b="b"/>
              <a:pathLst>
                <a:path w="835570" h="835570">
                  <a:moveTo>
                    <a:pt x="829745" y="13213"/>
                  </a:moveTo>
                  <a:lnTo>
                    <a:pt x="13213" y="829745"/>
                  </a:lnTo>
                </a:path>
              </a:pathLst>
            </a:custGeom>
            <a:ln w="28575" cap="flat">
              <a:solidFill>
                <a:schemeClr val="accent5"/>
              </a:solidFill>
              <a:prstDash val="solid"/>
              <a:miter/>
              <a:headEnd type="oval"/>
            </a:ln>
          </p:spPr>
          <p:txBody>
            <a:bodyPr rtlCol="0" anchor="ctr"/>
            <a:lstStyle/>
            <a:p>
              <a:endParaRPr lang="zh-CN" altLang="en-US">
                <a:cs typeface="思源黑体 CN Regular" panose="020B0500000000000000" charset="-122"/>
              </a:endParaRPr>
            </a:p>
          </p:txBody>
        </p:sp>
        <p:sp>
          <p:nvSpPr>
            <p:cNvPr id="8" name="任意形状 5"/>
            <p:cNvSpPr/>
            <p:nvPr>
              <p:custDataLst>
                <p:tags r:id="rId4"/>
              </p:custDataLst>
            </p:nvPr>
          </p:nvSpPr>
          <p:spPr>
            <a:xfrm>
              <a:off x="6260" y="7446"/>
              <a:ext cx="1147" cy="1147"/>
            </a:xfrm>
            <a:custGeom>
              <a:avLst/>
              <a:gdLst>
                <a:gd name="connsiteX0" fmla="*/ 13213 w 835570"/>
                <a:gd name="connsiteY0" fmla="*/ 829745 h 835570"/>
                <a:gd name="connsiteX1" fmla="*/ 829745 w 835570"/>
                <a:gd name="connsiteY1" fmla="*/ 13213 h 835570"/>
              </a:gdLst>
              <a:ahLst/>
              <a:cxnLst>
                <a:cxn ang="0">
                  <a:pos x="connsiteX0" y="connsiteY0"/>
                </a:cxn>
                <a:cxn ang="0">
                  <a:pos x="connsiteX1" y="connsiteY1"/>
                </a:cxn>
              </a:cxnLst>
              <a:rect l="l" t="t" r="r" b="b"/>
              <a:pathLst>
                <a:path w="835570" h="835570">
                  <a:moveTo>
                    <a:pt x="13213" y="829745"/>
                  </a:moveTo>
                  <a:lnTo>
                    <a:pt x="829745" y="13213"/>
                  </a:lnTo>
                </a:path>
              </a:pathLst>
            </a:custGeom>
            <a:ln w="28575" cap="flat">
              <a:solidFill>
                <a:schemeClr val="accent5"/>
              </a:solidFill>
              <a:prstDash val="solid"/>
              <a:miter/>
              <a:headEnd type="oval"/>
            </a:ln>
          </p:spPr>
          <p:txBody>
            <a:bodyPr rtlCol="0" anchor="ctr"/>
            <a:lstStyle/>
            <a:p>
              <a:endParaRPr lang="zh-CN" altLang="en-US">
                <a:cs typeface="思源黑体 CN Regular" panose="020B0500000000000000" charset="-122"/>
              </a:endParaRPr>
            </a:p>
          </p:txBody>
        </p:sp>
        <p:sp>
          <p:nvSpPr>
            <p:cNvPr id="9" name="任意形状 6"/>
            <p:cNvSpPr/>
            <p:nvPr>
              <p:custDataLst>
                <p:tags r:id="rId5"/>
              </p:custDataLst>
            </p:nvPr>
          </p:nvSpPr>
          <p:spPr>
            <a:xfrm>
              <a:off x="11792" y="7446"/>
              <a:ext cx="1147" cy="1147"/>
            </a:xfrm>
            <a:custGeom>
              <a:avLst/>
              <a:gdLst>
                <a:gd name="connsiteX0" fmla="*/ 829745 w 835570"/>
                <a:gd name="connsiteY0" fmla="*/ 829745 h 835570"/>
                <a:gd name="connsiteX1" fmla="*/ 13213 w 835570"/>
                <a:gd name="connsiteY1" fmla="*/ 13213 h 835570"/>
              </a:gdLst>
              <a:ahLst/>
              <a:cxnLst>
                <a:cxn ang="0">
                  <a:pos x="connsiteX0" y="connsiteY0"/>
                </a:cxn>
                <a:cxn ang="0">
                  <a:pos x="connsiteX1" y="connsiteY1"/>
                </a:cxn>
              </a:cxnLst>
              <a:rect l="l" t="t" r="r" b="b"/>
              <a:pathLst>
                <a:path w="835570" h="835570">
                  <a:moveTo>
                    <a:pt x="829745" y="829745"/>
                  </a:moveTo>
                  <a:lnTo>
                    <a:pt x="13213" y="13213"/>
                  </a:lnTo>
                </a:path>
              </a:pathLst>
            </a:custGeom>
            <a:ln w="28575" cap="flat">
              <a:solidFill>
                <a:schemeClr val="accent4"/>
              </a:solidFill>
              <a:prstDash val="solid"/>
              <a:miter/>
              <a:headEnd type="oval"/>
            </a:ln>
          </p:spPr>
          <p:txBody>
            <a:bodyPr rtlCol="0" anchor="ctr"/>
            <a:lstStyle/>
            <a:p>
              <a:endParaRPr lang="zh-CN" altLang="en-US">
                <a:cs typeface="思源黑体 CN Regular" panose="020B0500000000000000" charset="-122"/>
              </a:endParaRPr>
            </a:p>
          </p:txBody>
        </p:sp>
        <p:sp>
          <p:nvSpPr>
            <p:cNvPr id="10" name="任意形状 7"/>
            <p:cNvSpPr/>
            <p:nvPr>
              <p:custDataLst>
                <p:tags r:id="rId6"/>
              </p:custDataLst>
            </p:nvPr>
          </p:nvSpPr>
          <p:spPr>
            <a:xfrm>
              <a:off x="9263" y="4105"/>
              <a:ext cx="3588" cy="1801"/>
            </a:xfrm>
            <a:custGeom>
              <a:avLst/>
              <a:gdLst>
                <a:gd name="connsiteX0" fmla="*/ 1308884 w 2612479"/>
                <a:gd name="connsiteY0" fmla="*/ 7933 h 1311528"/>
                <a:gd name="connsiteX1" fmla="*/ 2609835 w 2612479"/>
                <a:gd name="connsiteY1" fmla="*/ 1308884 h 1311528"/>
                <a:gd name="connsiteX2" fmla="*/ 2126474 w 2612479"/>
                <a:gd name="connsiteY2" fmla="*/ 1308884 h 1311528"/>
                <a:gd name="connsiteX3" fmla="*/ 1308884 w 2612479"/>
                <a:gd name="connsiteY3" fmla="*/ 491294 h 1311528"/>
                <a:gd name="connsiteX4" fmla="*/ 491294 w 2612479"/>
                <a:gd name="connsiteY4" fmla="*/ 1308884 h 1311528"/>
                <a:gd name="connsiteX5" fmla="*/ 7933 w 2612479"/>
                <a:gd name="connsiteY5" fmla="*/ 1308884 h 1311528"/>
                <a:gd name="connsiteX6" fmla="*/ 1308884 w 2612479"/>
                <a:gd name="connsiteY6" fmla="*/ 7933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1308884" y="7933"/>
                  </a:moveTo>
                  <a:cubicBezTo>
                    <a:pt x="2025994" y="7933"/>
                    <a:pt x="2609835" y="591774"/>
                    <a:pt x="2609835" y="1308884"/>
                  </a:cubicBezTo>
                  <a:lnTo>
                    <a:pt x="2126474" y="1308884"/>
                  </a:lnTo>
                  <a:cubicBezTo>
                    <a:pt x="2126474" y="858311"/>
                    <a:pt x="1759458" y="491294"/>
                    <a:pt x="1308884" y="491294"/>
                  </a:cubicBezTo>
                  <a:cubicBezTo>
                    <a:pt x="858311" y="491294"/>
                    <a:pt x="491294" y="858311"/>
                    <a:pt x="491294" y="1308884"/>
                  </a:cubicBezTo>
                  <a:lnTo>
                    <a:pt x="7933" y="1308884"/>
                  </a:lnTo>
                  <a:cubicBezTo>
                    <a:pt x="8990" y="591774"/>
                    <a:pt x="591774" y="7933"/>
                    <a:pt x="1308884" y="7933"/>
                  </a:cubicBezTo>
                  <a:close/>
                </a:path>
              </a:pathLst>
            </a:custGeom>
            <a:solidFill>
              <a:schemeClr val="accent5"/>
            </a:solidFill>
            <a:ln w="9525" cap="flat">
              <a:noFill/>
              <a:prstDash val="solid"/>
              <a:miter/>
            </a:ln>
            <a:effectLst/>
          </p:spPr>
          <p:txBody>
            <a:bodyPr rtlCol="0" anchor="ctr"/>
            <a:lstStyle/>
            <a:p>
              <a:endParaRPr lang="zh-CN" altLang="en-US">
                <a:cs typeface="思源黑体 CN Regular" panose="020B0500000000000000" charset="-122"/>
              </a:endParaRPr>
            </a:p>
          </p:txBody>
        </p:sp>
        <p:sp>
          <p:nvSpPr>
            <p:cNvPr id="11" name="任意形状 8"/>
            <p:cNvSpPr/>
            <p:nvPr>
              <p:custDataLst>
                <p:tags r:id="rId7"/>
              </p:custDataLst>
            </p:nvPr>
          </p:nvSpPr>
          <p:spPr>
            <a:xfrm>
              <a:off x="6349" y="4111"/>
              <a:ext cx="3588" cy="1801"/>
            </a:xfrm>
            <a:custGeom>
              <a:avLst/>
              <a:gdLst>
                <a:gd name="connsiteX0" fmla="*/ 1309760 w 2612479"/>
                <a:gd name="connsiteY0" fmla="*/ 8809 h 1311528"/>
                <a:gd name="connsiteX1" fmla="*/ 2610712 w 2612479"/>
                <a:gd name="connsiteY1" fmla="*/ 1309760 h 1311528"/>
                <a:gd name="connsiteX2" fmla="*/ 2127350 w 2612479"/>
                <a:gd name="connsiteY2" fmla="*/ 1309760 h 1311528"/>
                <a:gd name="connsiteX3" fmla="*/ 1309760 w 2612479"/>
                <a:gd name="connsiteY3" fmla="*/ 492170 h 1311528"/>
                <a:gd name="connsiteX4" fmla="*/ 492170 w 2612479"/>
                <a:gd name="connsiteY4" fmla="*/ 1309760 h 1311528"/>
                <a:gd name="connsiteX5" fmla="*/ 8809 w 2612479"/>
                <a:gd name="connsiteY5" fmla="*/ 1309760 h 1311528"/>
                <a:gd name="connsiteX6" fmla="*/ 1309760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1309760" y="8809"/>
                  </a:moveTo>
                  <a:cubicBezTo>
                    <a:pt x="2026870" y="8809"/>
                    <a:pt x="2610712" y="592650"/>
                    <a:pt x="2610712" y="1309760"/>
                  </a:cubicBezTo>
                  <a:lnTo>
                    <a:pt x="2127350" y="1309760"/>
                  </a:lnTo>
                  <a:cubicBezTo>
                    <a:pt x="2127350" y="859187"/>
                    <a:pt x="1760334" y="492170"/>
                    <a:pt x="1309760" y="492170"/>
                  </a:cubicBezTo>
                  <a:cubicBezTo>
                    <a:pt x="859187" y="492170"/>
                    <a:pt x="492170" y="859187"/>
                    <a:pt x="492170" y="1309760"/>
                  </a:cubicBezTo>
                  <a:lnTo>
                    <a:pt x="8809" y="1309760"/>
                  </a:lnTo>
                  <a:cubicBezTo>
                    <a:pt x="9866" y="592650"/>
                    <a:pt x="592650" y="8809"/>
                    <a:pt x="1309760" y="8809"/>
                  </a:cubicBezTo>
                  <a:close/>
                </a:path>
              </a:pathLst>
            </a:custGeom>
            <a:solidFill>
              <a:schemeClr val="accent4"/>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2" name="任意形状 9"/>
            <p:cNvSpPr/>
            <p:nvPr>
              <p:custDataLst>
                <p:tags r:id="rId8"/>
              </p:custDataLst>
            </p:nvPr>
          </p:nvSpPr>
          <p:spPr>
            <a:xfrm>
              <a:off x="6349" y="5883"/>
              <a:ext cx="3588" cy="1801"/>
            </a:xfrm>
            <a:custGeom>
              <a:avLst/>
              <a:gdLst>
                <a:gd name="connsiteX0" fmla="*/ 8809 w 2612479"/>
                <a:gd name="connsiteY0" fmla="*/ 8809 h 1311528"/>
                <a:gd name="connsiteX1" fmla="*/ 492170 w 2612479"/>
                <a:gd name="connsiteY1" fmla="*/ 8809 h 1311528"/>
                <a:gd name="connsiteX2" fmla="*/ 1309760 w 2612479"/>
                <a:gd name="connsiteY2" fmla="*/ 826399 h 1311528"/>
                <a:gd name="connsiteX3" fmla="*/ 2127350 w 2612479"/>
                <a:gd name="connsiteY3" fmla="*/ 8809 h 1311528"/>
                <a:gd name="connsiteX4" fmla="*/ 2610712 w 2612479"/>
                <a:gd name="connsiteY4" fmla="*/ 8809 h 1311528"/>
                <a:gd name="connsiteX5" fmla="*/ 1309760 w 2612479"/>
                <a:gd name="connsiteY5" fmla="*/ 1309760 h 1311528"/>
                <a:gd name="connsiteX6" fmla="*/ 8809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8809" y="8809"/>
                  </a:moveTo>
                  <a:lnTo>
                    <a:pt x="492170" y="8809"/>
                  </a:lnTo>
                  <a:cubicBezTo>
                    <a:pt x="492170" y="459382"/>
                    <a:pt x="859187" y="826399"/>
                    <a:pt x="1309760" y="826399"/>
                  </a:cubicBezTo>
                  <a:cubicBezTo>
                    <a:pt x="1760334" y="826399"/>
                    <a:pt x="2127350" y="459382"/>
                    <a:pt x="2127350" y="8809"/>
                  </a:cubicBezTo>
                  <a:lnTo>
                    <a:pt x="2610712" y="8809"/>
                  </a:lnTo>
                  <a:cubicBezTo>
                    <a:pt x="2610712" y="725919"/>
                    <a:pt x="2026870" y="1309760"/>
                    <a:pt x="1309760" y="1309760"/>
                  </a:cubicBezTo>
                  <a:cubicBezTo>
                    <a:pt x="591592" y="1309760"/>
                    <a:pt x="8809" y="725919"/>
                    <a:pt x="8809" y="8809"/>
                  </a:cubicBezTo>
                  <a:close/>
                </a:path>
              </a:pathLst>
            </a:custGeom>
            <a:solidFill>
              <a:schemeClr val="accent5"/>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3" name="任意形状 10"/>
            <p:cNvSpPr/>
            <p:nvPr>
              <p:custDataLst>
                <p:tags r:id="rId9"/>
              </p:custDataLst>
            </p:nvPr>
          </p:nvSpPr>
          <p:spPr>
            <a:xfrm>
              <a:off x="9264" y="5863"/>
              <a:ext cx="3588" cy="1801"/>
            </a:xfrm>
            <a:custGeom>
              <a:avLst/>
              <a:gdLst>
                <a:gd name="connsiteX0" fmla="*/ 8809 w 2612479"/>
                <a:gd name="connsiteY0" fmla="*/ 8809 h 1311528"/>
                <a:gd name="connsiteX1" fmla="*/ 492170 w 2612479"/>
                <a:gd name="connsiteY1" fmla="*/ 8809 h 1311528"/>
                <a:gd name="connsiteX2" fmla="*/ 1309760 w 2612479"/>
                <a:gd name="connsiteY2" fmla="*/ 826399 h 1311528"/>
                <a:gd name="connsiteX3" fmla="*/ 2127350 w 2612479"/>
                <a:gd name="connsiteY3" fmla="*/ 8809 h 1311528"/>
                <a:gd name="connsiteX4" fmla="*/ 2610712 w 2612479"/>
                <a:gd name="connsiteY4" fmla="*/ 8809 h 1311528"/>
                <a:gd name="connsiteX5" fmla="*/ 1309760 w 2612479"/>
                <a:gd name="connsiteY5" fmla="*/ 1309760 h 1311528"/>
                <a:gd name="connsiteX6" fmla="*/ 8809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8809" y="8809"/>
                  </a:moveTo>
                  <a:lnTo>
                    <a:pt x="492170" y="8809"/>
                  </a:lnTo>
                  <a:cubicBezTo>
                    <a:pt x="492170" y="459382"/>
                    <a:pt x="859187" y="826399"/>
                    <a:pt x="1309760" y="826399"/>
                  </a:cubicBezTo>
                  <a:cubicBezTo>
                    <a:pt x="1760333" y="826399"/>
                    <a:pt x="2127350" y="459382"/>
                    <a:pt x="2127350" y="8809"/>
                  </a:cubicBezTo>
                  <a:lnTo>
                    <a:pt x="2610712" y="8809"/>
                  </a:lnTo>
                  <a:cubicBezTo>
                    <a:pt x="2610712" y="725919"/>
                    <a:pt x="2026870" y="1309760"/>
                    <a:pt x="1309760" y="1309760"/>
                  </a:cubicBezTo>
                  <a:cubicBezTo>
                    <a:pt x="591592" y="1308702"/>
                    <a:pt x="8809" y="725919"/>
                    <a:pt x="8809" y="8809"/>
                  </a:cubicBezTo>
                  <a:close/>
                </a:path>
              </a:pathLst>
            </a:custGeom>
            <a:solidFill>
              <a:schemeClr val="accent4"/>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6" name="文本框 15"/>
            <p:cNvSpPr txBox="1"/>
            <p:nvPr>
              <p:custDataLst>
                <p:tags r:id="rId10"/>
              </p:custDataLst>
            </p:nvPr>
          </p:nvSpPr>
          <p:spPr>
            <a:xfrm>
              <a:off x="13283" y="2582"/>
              <a:ext cx="3174" cy="725"/>
            </a:xfrm>
            <a:prstGeom prst="rect">
              <a:avLst/>
            </a:prstGeom>
            <a:noFill/>
          </p:spPr>
          <p:txBody>
            <a:bodyPr wrap="none" rtlCol="0">
              <a:spAutoFit/>
            </a:bodyPr>
            <a:lstStyle/>
            <a:p>
              <a:pPr algn="l"/>
              <a:r>
                <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rPr>
                <a:t>二元选择模型</a:t>
              </a:r>
              <a:endPar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7" name="文本框 16"/>
            <p:cNvSpPr txBox="1"/>
            <p:nvPr>
              <p:custDataLst>
                <p:tags r:id="rId11"/>
              </p:custDataLst>
            </p:nvPr>
          </p:nvSpPr>
          <p:spPr>
            <a:xfrm>
              <a:off x="13311" y="3265"/>
              <a:ext cx="4312" cy="1364"/>
            </a:xfrm>
            <a:prstGeom prst="rect">
              <a:avLst/>
            </a:prstGeom>
            <a:noFill/>
          </p:spPr>
          <p:txBody>
            <a:bodyPr wrap="square" rtlCol="0">
              <a:spAutoFit/>
            </a:bodyPr>
            <a:lstStyle/>
            <a:p>
              <a:pP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采用</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Logit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或</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Probit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模型，分析银行数字化程度对</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获得贷款概率的影响</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8" name="文本框 17"/>
            <p:cNvSpPr txBox="1"/>
            <p:nvPr>
              <p:custDataLst>
                <p:tags r:id="rId12"/>
              </p:custDataLst>
            </p:nvPr>
          </p:nvSpPr>
          <p:spPr>
            <a:xfrm>
              <a:off x="13283" y="7304"/>
              <a:ext cx="4136" cy="725"/>
            </a:xfrm>
            <a:prstGeom prst="rect">
              <a:avLst/>
            </a:prstGeom>
            <a:noFill/>
          </p:spPr>
          <p:txBody>
            <a:bodyPr wrap="none" rtlCol="0">
              <a:spAutoFit/>
            </a:bodyPr>
            <a:lstStyle/>
            <a:p>
              <a:pPr algn="l"/>
              <a:r>
                <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rPr>
                <a:t>企业微观数据分析</a:t>
              </a:r>
              <a:endPar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9" name="文本框 18"/>
            <p:cNvSpPr txBox="1"/>
            <p:nvPr>
              <p:custDataLst>
                <p:tags r:id="rId13"/>
              </p:custDataLst>
            </p:nvPr>
          </p:nvSpPr>
          <p:spPr>
            <a:xfrm>
              <a:off x="13311" y="7987"/>
              <a:ext cx="4312" cy="1364"/>
            </a:xfrm>
            <a:prstGeom prst="rect">
              <a:avLst/>
            </a:prstGeom>
            <a:noFill/>
          </p:spPr>
          <p:txBody>
            <a:bodyPr wrap="square" rtlCol="0">
              <a:spAutoFit/>
            </a:bodyPr>
            <a:lstStyle/>
            <a:p>
              <a:pP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收集国内</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的融资数据，结合银行的公开数字化投入指标进行实证检验</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0" name="文本框 19"/>
            <p:cNvSpPr txBox="1"/>
            <p:nvPr>
              <p:custDataLst>
                <p:tags r:id="rId14"/>
              </p:custDataLst>
            </p:nvPr>
          </p:nvSpPr>
          <p:spPr>
            <a:xfrm>
              <a:off x="2864" y="7304"/>
              <a:ext cx="3174" cy="725"/>
            </a:xfrm>
            <a:prstGeom prst="rect">
              <a:avLst/>
            </a:prstGeom>
            <a:noFill/>
          </p:spPr>
          <p:txBody>
            <a:bodyPr wrap="none" rtlCol="0">
              <a:spAutoFit/>
            </a:bodyPr>
            <a:lstStyle/>
            <a:p>
              <a:pPr algn="r"/>
              <a:r>
                <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rPr>
                <a:t>倾向得分匹配</a:t>
              </a:r>
              <a:endPar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1" name="文本框 20"/>
            <p:cNvSpPr txBox="1"/>
            <p:nvPr>
              <p:custDataLst>
                <p:tags r:id="rId15"/>
              </p:custDataLst>
            </p:nvPr>
          </p:nvSpPr>
          <p:spPr>
            <a:xfrm>
              <a:off x="1730" y="7987"/>
              <a:ext cx="4312" cy="1771"/>
            </a:xfrm>
            <a:prstGeom prst="rect">
              <a:avLst/>
            </a:prstGeom>
            <a:noFill/>
          </p:spPr>
          <p:txBody>
            <a:bodyPr wrap="square" rtlCol="0">
              <a:spAutoFit/>
            </a:bodyPr>
            <a:lstStyle/>
            <a:p>
              <a:pPr algn="r">
                <a:lnSpc>
                  <a:spcPct val="120000"/>
                </a:lnSpc>
              </a:pP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 </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建立</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数字化银行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传统银行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的样本匹配机制，以控制不可观测的银行特征，识别数字化的净效应</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2" name="文本框 21"/>
            <p:cNvSpPr txBox="1"/>
            <p:nvPr>
              <p:custDataLst>
                <p:tags r:id="rId16"/>
              </p:custDataLst>
            </p:nvPr>
          </p:nvSpPr>
          <p:spPr>
            <a:xfrm>
              <a:off x="3345" y="2582"/>
              <a:ext cx="2693" cy="725"/>
            </a:xfrm>
            <a:prstGeom prst="rect">
              <a:avLst/>
            </a:prstGeom>
            <a:noFill/>
          </p:spPr>
          <p:txBody>
            <a:bodyPr wrap="none" rtlCol="0">
              <a:spAutoFit/>
            </a:bodyPr>
            <a:lstStyle/>
            <a:p>
              <a:pPr algn="r"/>
              <a:r>
                <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rPr>
                <a:t>信息经济学</a:t>
              </a:r>
              <a:endPar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3" name="文本框 22"/>
            <p:cNvSpPr txBox="1"/>
            <p:nvPr>
              <p:custDataLst>
                <p:tags r:id="rId17"/>
              </p:custDataLst>
            </p:nvPr>
          </p:nvSpPr>
          <p:spPr>
            <a:xfrm>
              <a:off x="1730" y="3265"/>
              <a:ext cx="4312" cy="1364"/>
            </a:xfrm>
            <a:prstGeom prst="rect">
              <a:avLst/>
            </a:prstGeom>
            <a:noFill/>
          </p:spPr>
          <p:txBody>
            <a:bodyPr wrap="square" rtlCol="0">
              <a:spAutoFit/>
            </a:bodyPr>
            <a:lstStyle/>
            <a:p>
              <a:pPr algn="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分析数字化如何通过数据画像和行为评分来降低银行与</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之间的信息不对称</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pic>
          <p:nvPicPr>
            <p:cNvPr id="24" name="图片 23" descr="32313538313530373b32313538313531363bbcc6bbae"/>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7431" y="5172"/>
              <a:ext cx="1440" cy="1440"/>
            </a:xfrm>
            <a:prstGeom prst="rect">
              <a:avLst/>
            </a:prstGeom>
          </p:spPr>
        </p:pic>
        <p:pic>
          <p:nvPicPr>
            <p:cNvPr id="25" name="图片 24" descr="32313538313530373b32313538313531383bd1b6cfa2"/>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10398" y="5217"/>
              <a:ext cx="1350" cy="1350"/>
            </a:xfrm>
            <a:prstGeom prst="rect">
              <a:avLst/>
            </a:prstGeom>
          </p:spPr>
        </p:pic>
      </p:grpSp>
      <p:grpSp>
        <p:nvGrpSpPr>
          <p:cNvPr id="3" name="组合 2"/>
          <p:cNvGrpSpPr/>
          <p:nvPr/>
        </p:nvGrpSpPr>
        <p:grpSpPr>
          <a:xfrm>
            <a:off x="725170" y="1046480"/>
            <a:ext cx="766445" cy="76200"/>
            <a:chOff x="1218" y="1168"/>
            <a:chExt cx="2012" cy="74"/>
          </a:xfrm>
        </p:grpSpPr>
        <p:sp>
          <p:nvSpPr>
            <p:cNvPr id="4" name="矩形 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7" name="矩形 26"/>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8" name="文本框 27"/>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银行数字化转型对中小企业信贷可获得性的影响研究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222375" y="1692275"/>
            <a:ext cx="9747885" cy="4580255"/>
            <a:chOff x="1925" y="2560"/>
            <a:chExt cx="15351" cy="7213"/>
          </a:xfrm>
        </p:grpSpPr>
        <p:grpSp>
          <p:nvGrpSpPr>
            <p:cNvPr id="95" name="组合 94"/>
            <p:cNvGrpSpPr/>
            <p:nvPr/>
          </p:nvGrpSpPr>
          <p:grpSpPr>
            <a:xfrm>
              <a:off x="1925" y="2560"/>
              <a:ext cx="15351" cy="7213"/>
              <a:chOff x="1961" y="1915"/>
              <a:chExt cx="15351" cy="7213"/>
            </a:xfrm>
          </p:grpSpPr>
          <p:grpSp>
            <p:nvGrpSpPr>
              <p:cNvPr id="47" name="组合 46"/>
              <p:cNvGrpSpPr/>
              <p:nvPr/>
            </p:nvGrpSpPr>
            <p:grpSpPr>
              <a:xfrm>
                <a:off x="10348" y="1915"/>
                <a:ext cx="6964" cy="6971"/>
                <a:chOff x="9940" y="2669"/>
                <a:chExt cx="6964" cy="6971"/>
              </a:xfrm>
            </p:grpSpPr>
            <p:sp>
              <p:nvSpPr>
                <p:cNvPr id="64" name="Freeform 160"/>
                <p:cNvSpPr/>
                <p:nvPr>
                  <p:custDataLst>
                    <p:tags r:id="rId2"/>
                  </p:custDataLst>
                </p:nvPr>
              </p:nvSpPr>
              <p:spPr bwMode="auto">
                <a:xfrm>
                  <a:off x="9940" y="4336"/>
                  <a:ext cx="2269" cy="4069"/>
                </a:xfrm>
                <a:custGeom>
                  <a:avLst/>
                  <a:gdLst>
                    <a:gd name="T0" fmla="*/ 683 w 684"/>
                    <a:gd name="T1" fmla="*/ 779 h 1223"/>
                    <a:gd name="T2" fmla="*/ 675 w 684"/>
                    <a:gd name="T3" fmla="*/ 766 h 1223"/>
                    <a:gd name="T4" fmla="*/ 624 w 684"/>
                    <a:gd name="T5" fmla="*/ 639 h 1223"/>
                    <a:gd name="T6" fmla="*/ 614 w 684"/>
                    <a:gd name="T7" fmla="*/ 569 h 1223"/>
                    <a:gd name="T8" fmla="*/ 619 w 684"/>
                    <a:gd name="T9" fmla="*/ 471 h 1223"/>
                    <a:gd name="T10" fmla="*/ 636 w 684"/>
                    <a:gd name="T11" fmla="*/ 403 h 1223"/>
                    <a:gd name="T12" fmla="*/ 649 w 684"/>
                    <a:gd name="T13" fmla="*/ 275 h 1223"/>
                    <a:gd name="T14" fmla="*/ 629 w 684"/>
                    <a:gd name="T15" fmla="*/ 194 h 1223"/>
                    <a:gd name="T16" fmla="*/ 388 w 684"/>
                    <a:gd name="T17" fmla="*/ 4 h 1223"/>
                    <a:gd name="T18" fmla="*/ 282 w 684"/>
                    <a:gd name="T19" fmla="*/ 8 h 1223"/>
                    <a:gd name="T20" fmla="*/ 55 w 684"/>
                    <a:gd name="T21" fmla="*/ 208 h 1223"/>
                    <a:gd name="T22" fmla="*/ 18 w 684"/>
                    <a:gd name="T23" fmla="*/ 349 h 1223"/>
                    <a:gd name="T24" fmla="*/ 5 w 684"/>
                    <a:gd name="T25" fmla="*/ 447 h 1223"/>
                    <a:gd name="T26" fmla="*/ 0 w 684"/>
                    <a:gd name="T27" fmla="*/ 542 h 1223"/>
                    <a:gd name="T28" fmla="*/ 2 w 684"/>
                    <a:gd name="T29" fmla="*/ 590 h 1223"/>
                    <a:gd name="T30" fmla="*/ 25 w 684"/>
                    <a:gd name="T31" fmla="*/ 770 h 1223"/>
                    <a:gd name="T32" fmla="*/ 206 w 684"/>
                    <a:gd name="T33" fmla="*/ 1166 h 1223"/>
                    <a:gd name="T34" fmla="*/ 252 w 684"/>
                    <a:gd name="T35" fmla="*/ 1223 h 1223"/>
                    <a:gd name="T36" fmla="*/ 256 w 684"/>
                    <a:gd name="T37" fmla="*/ 1223 h 1223"/>
                    <a:gd name="T38" fmla="*/ 257 w 684"/>
                    <a:gd name="T39" fmla="*/ 1221 h 1223"/>
                    <a:gd name="T40" fmla="*/ 251 w 684"/>
                    <a:gd name="T41" fmla="*/ 1164 h 1223"/>
                    <a:gd name="T42" fmla="*/ 257 w 684"/>
                    <a:gd name="T43" fmla="*/ 1072 h 1223"/>
                    <a:gd name="T44" fmla="*/ 365 w 684"/>
                    <a:gd name="T45" fmla="*/ 877 h 1223"/>
                    <a:gd name="T46" fmla="*/ 571 w 684"/>
                    <a:gd name="T47" fmla="*/ 782 h 1223"/>
                    <a:gd name="T48" fmla="*/ 675 w 684"/>
                    <a:gd name="T49" fmla="*/ 785 h 1223"/>
                    <a:gd name="T50" fmla="*/ 680 w 684"/>
                    <a:gd name="T51" fmla="*/ 785 h 1223"/>
                    <a:gd name="T52" fmla="*/ 683 w 684"/>
                    <a:gd name="T53" fmla="*/ 779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4" h="1223">
                      <a:moveTo>
                        <a:pt x="683" y="779"/>
                      </a:moveTo>
                      <a:cubicBezTo>
                        <a:pt x="680" y="775"/>
                        <a:pt x="678" y="770"/>
                        <a:pt x="675" y="766"/>
                      </a:cubicBezTo>
                      <a:cubicBezTo>
                        <a:pt x="652" y="726"/>
                        <a:pt x="635" y="684"/>
                        <a:pt x="624" y="639"/>
                      </a:cubicBezTo>
                      <a:cubicBezTo>
                        <a:pt x="619" y="616"/>
                        <a:pt x="617" y="592"/>
                        <a:pt x="614" y="569"/>
                      </a:cubicBezTo>
                      <a:cubicBezTo>
                        <a:pt x="611" y="536"/>
                        <a:pt x="615" y="503"/>
                        <a:pt x="619" y="471"/>
                      </a:cubicBezTo>
                      <a:cubicBezTo>
                        <a:pt x="622" y="448"/>
                        <a:pt x="629" y="425"/>
                        <a:pt x="636" y="403"/>
                      </a:cubicBezTo>
                      <a:cubicBezTo>
                        <a:pt x="649" y="361"/>
                        <a:pt x="654" y="319"/>
                        <a:pt x="649" y="275"/>
                      </a:cubicBezTo>
                      <a:cubicBezTo>
                        <a:pt x="646" y="247"/>
                        <a:pt x="639" y="220"/>
                        <a:pt x="629" y="194"/>
                      </a:cubicBezTo>
                      <a:cubicBezTo>
                        <a:pt x="591" y="97"/>
                        <a:pt x="499" y="20"/>
                        <a:pt x="388" y="4"/>
                      </a:cubicBezTo>
                      <a:cubicBezTo>
                        <a:pt x="352" y="0"/>
                        <a:pt x="317" y="0"/>
                        <a:pt x="282" y="8"/>
                      </a:cubicBezTo>
                      <a:cubicBezTo>
                        <a:pt x="171" y="32"/>
                        <a:pt x="88" y="110"/>
                        <a:pt x="55" y="208"/>
                      </a:cubicBezTo>
                      <a:cubicBezTo>
                        <a:pt x="39" y="254"/>
                        <a:pt x="27" y="301"/>
                        <a:pt x="18" y="349"/>
                      </a:cubicBezTo>
                      <a:cubicBezTo>
                        <a:pt x="12" y="381"/>
                        <a:pt x="9" y="414"/>
                        <a:pt x="5" y="447"/>
                      </a:cubicBezTo>
                      <a:cubicBezTo>
                        <a:pt x="1" y="480"/>
                        <a:pt x="2" y="513"/>
                        <a:pt x="0" y="542"/>
                      </a:cubicBezTo>
                      <a:cubicBezTo>
                        <a:pt x="1" y="560"/>
                        <a:pt x="1" y="575"/>
                        <a:pt x="2" y="590"/>
                      </a:cubicBezTo>
                      <a:cubicBezTo>
                        <a:pt x="4" y="650"/>
                        <a:pt x="12" y="710"/>
                        <a:pt x="25" y="770"/>
                      </a:cubicBezTo>
                      <a:cubicBezTo>
                        <a:pt x="58" y="914"/>
                        <a:pt x="118" y="1047"/>
                        <a:pt x="206" y="1166"/>
                      </a:cubicBezTo>
                      <a:cubicBezTo>
                        <a:pt x="221" y="1185"/>
                        <a:pt x="237" y="1204"/>
                        <a:pt x="252" y="1223"/>
                      </a:cubicBezTo>
                      <a:cubicBezTo>
                        <a:pt x="253" y="1223"/>
                        <a:pt x="255" y="1223"/>
                        <a:pt x="256" y="1223"/>
                      </a:cubicBezTo>
                      <a:cubicBezTo>
                        <a:pt x="257" y="1223"/>
                        <a:pt x="257" y="1222"/>
                        <a:pt x="257" y="1221"/>
                      </a:cubicBezTo>
                      <a:cubicBezTo>
                        <a:pt x="254" y="1202"/>
                        <a:pt x="252" y="1183"/>
                        <a:pt x="251" y="1164"/>
                      </a:cubicBezTo>
                      <a:cubicBezTo>
                        <a:pt x="248" y="1133"/>
                        <a:pt x="251" y="1102"/>
                        <a:pt x="257" y="1072"/>
                      </a:cubicBezTo>
                      <a:cubicBezTo>
                        <a:pt x="272" y="995"/>
                        <a:pt x="309" y="931"/>
                        <a:pt x="365" y="877"/>
                      </a:cubicBezTo>
                      <a:cubicBezTo>
                        <a:pt x="423" y="823"/>
                        <a:pt x="493" y="792"/>
                        <a:pt x="571" y="782"/>
                      </a:cubicBezTo>
                      <a:cubicBezTo>
                        <a:pt x="606" y="778"/>
                        <a:pt x="640" y="778"/>
                        <a:pt x="675" y="785"/>
                      </a:cubicBezTo>
                      <a:cubicBezTo>
                        <a:pt x="676" y="786"/>
                        <a:pt x="678" y="785"/>
                        <a:pt x="680" y="785"/>
                      </a:cubicBezTo>
                      <a:cubicBezTo>
                        <a:pt x="682" y="785"/>
                        <a:pt x="684" y="781"/>
                        <a:pt x="683" y="779"/>
                      </a:cubicBezTo>
                      <a:close/>
                    </a:path>
                  </a:pathLst>
                </a:custGeom>
                <a:solidFill>
                  <a:schemeClr val="accent5"/>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5" name="Freeform 161"/>
                <p:cNvSpPr/>
                <p:nvPr>
                  <p:custDataLst>
                    <p:tags r:id="rId3"/>
                  </p:custDataLst>
                </p:nvPr>
              </p:nvSpPr>
              <p:spPr bwMode="auto">
                <a:xfrm>
                  <a:off x="10902" y="7086"/>
                  <a:ext cx="3850" cy="2554"/>
                </a:xfrm>
                <a:custGeom>
                  <a:avLst/>
                  <a:gdLst>
                    <a:gd name="T0" fmla="*/ 870 w 1160"/>
                    <a:gd name="T1" fmla="*/ 132 h 768"/>
                    <a:gd name="T2" fmla="*/ 854 w 1160"/>
                    <a:gd name="T3" fmla="*/ 135 h 768"/>
                    <a:gd name="T4" fmla="*/ 718 w 1160"/>
                    <a:gd name="T5" fmla="*/ 144 h 768"/>
                    <a:gd name="T6" fmla="*/ 649 w 1160"/>
                    <a:gd name="T7" fmla="*/ 132 h 768"/>
                    <a:gd name="T8" fmla="*/ 557 w 1160"/>
                    <a:gd name="T9" fmla="*/ 97 h 768"/>
                    <a:gd name="T10" fmla="*/ 497 w 1160"/>
                    <a:gd name="T11" fmla="*/ 60 h 768"/>
                    <a:gd name="T12" fmla="*/ 379 w 1160"/>
                    <a:gd name="T13" fmla="*/ 8 h 768"/>
                    <a:gd name="T14" fmla="*/ 297 w 1160"/>
                    <a:gd name="T15" fmla="*/ 2 h 768"/>
                    <a:gd name="T16" fmla="*/ 41 w 1160"/>
                    <a:gd name="T17" fmla="*/ 173 h 768"/>
                    <a:gd name="T18" fmla="*/ 12 w 1160"/>
                    <a:gd name="T19" fmla="*/ 275 h 768"/>
                    <a:gd name="T20" fmla="*/ 133 w 1160"/>
                    <a:gd name="T21" fmla="*/ 553 h 768"/>
                    <a:gd name="T22" fmla="*/ 255 w 1160"/>
                    <a:gd name="T23" fmla="*/ 631 h 768"/>
                    <a:gd name="T24" fmla="*/ 344 w 1160"/>
                    <a:gd name="T25" fmla="*/ 674 h 768"/>
                    <a:gd name="T26" fmla="*/ 433 w 1160"/>
                    <a:gd name="T27" fmla="*/ 708 h 768"/>
                    <a:gd name="T28" fmla="*/ 479 w 1160"/>
                    <a:gd name="T29" fmla="*/ 721 h 768"/>
                    <a:gd name="T30" fmla="*/ 657 w 1160"/>
                    <a:gd name="T31" fmla="*/ 754 h 768"/>
                    <a:gd name="T32" fmla="*/ 1090 w 1160"/>
                    <a:gd name="T33" fmla="*/ 704 h 768"/>
                    <a:gd name="T34" fmla="*/ 1158 w 1160"/>
                    <a:gd name="T35" fmla="*/ 678 h 768"/>
                    <a:gd name="T36" fmla="*/ 1160 w 1160"/>
                    <a:gd name="T37" fmla="*/ 674 h 768"/>
                    <a:gd name="T38" fmla="*/ 1158 w 1160"/>
                    <a:gd name="T39" fmla="*/ 673 h 768"/>
                    <a:gd name="T40" fmla="*/ 1102 w 1160"/>
                    <a:gd name="T41" fmla="*/ 662 h 768"/>
                    <a:gd name="T42" fmla="*/ 1016 w 1160"/>
                    <a:gd name="T43" fmla="*/ 627 h 768"/>
                    <a:gd name="T44" fmla="*/ 865 w 1160"/>
                    <a:gd name="T45" fmla="*/ 464 h 768"/>
                    <a:gd name="T46" fmla="*/ 838 w 1160"/>
                    <a:gd name="T47" fmla="*/ 239 h 768"/>
                    <a:gd name="T48" fmla="*/ 873 w 1160"/>
                    <a:gd name="T49" fmla="*/ 141 h 768"/>
                    <a:gd name="T50" fmla="*/ 874 w 1160"/>
                    <a:gd name="T51" fmla="*/ 136 h 768"/>
                    <a:gd name="T52" fmla="*/ 870 w 1160"/>
                    <a:gd name="T53" fmla="*/ 132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0" h="768">
                      <a:moveTo>
                        <a:pt x="870" y="132"/>
                      </a:moveTo>
                      <a:cubicBezTo>
                        <a:pt x="864" y="133"/>
                        <a:pt x="859" y="133"/>
                        <a:pt x="854" y="135"/>
                      </a:cubicBezTo>
                      <a:cubicBezTo>
                        <a:pt x="809" y="145"/>
                        <a:pt x="764" y="148"/>
                        <a:pt x="718" y="144"/>
                      </a:cubicBezTo>
                      <a:cubicBezTo>
                        <a:pt x="694" y="142"/>
                        <a:pt x="671" y="136"/>
                        <a:pt x="649" y="132"/>
                      </a:cubicBezTo>
                      <a:cubicBezTo>
                        <a:pt x="616" y="125"/>
                        <a:pt x="586" y="111"/>
                        <a:pt x="557" y="97"/>
                      </a:cubicBezTo>
                      <a:cubicBezTo>
                        <a:pt x="535" y="87"/>
                        <a:pt x="516" y="74"/>
                        <a:pt x="497" y="60"/>
                      </a:cubicBezTo>
                      <a:cubicBezTo>
                        <a:pt x="461" y="35"/>
                        <a:pt x="423" y="16"/>
                        <a:pt x="379" y="8"/>
                      </a:cubicBezTo>
                      <a:cubicBezTo>
                        <a:pt x="352" y="3"/>
                        <a:pt x="324" y="0"/>
                        <a:pt x="297" y="2"/>
                      </a:cubicBezTo>
                      <a:cubicBezTo>
                        <a:pt x="192" y="8"/>
                        <a:pt x="91" y="72"/>
                        <a:pt x="41" y="173"/>
                      </a:cubicBezTo>
                      <a:cubicBezTo>
                        <a:pt x="26" y="206"/>
                        <a:pt x="16" y="239"/>
                        <a:pt x="12" y="275"/>
                      </a:cubicBezTo>
                      <a:cubicBezTo>
                        <a:pt x="0" y="387"/>
                        <a:pt x="49" y="490"/>
                        <a:pt x="133" y="553"/>
                      </a:cubicBezTo>
                      <a:cubicBezTo>
                        <a:pt x="171" y="582"/>
                        <a:pt x="212" y="608"/>
                        <a:pt x="255" y="631"/>
                      </a:cubicBezTo>
                      <a:cubicBezTo>
                        <a:pt x="284" y="646"/>
                        <a:pt x="314" y="660"/>
                        <a:pt x="344" y="674"/>
                      </a:cubicBezTo>
                      <a:cubicBezTo>
                        <a:pt x="374" y="687"/>
                        <a:pt x="405" y="697"/>
                        <a:pt x="433" y="708"/>
                      </a:cubicBezTo>
                      <a:cubicBezTo>
                        <a:pt x="450" y="713"/>
                        <a:pt x="464" y="716"/>
                        <a:pt x="479" y="721"/>
                      </a:cubicBezTo>
                      <a:cubicBezTo>
                        <a:pt x="537" y="738"/>
                        <a:pt x="597" y="748"/>
                        <a:pt x="657" y="754"/>
                      </a:cubicBezTo>
                      <a:cubicBezTo>
                        <a:pt x="805" y="768"/>
                        <a:pt x="949" y="751"/>
                        <a:pt x="1090" y="704"/>
                      </a:cubicBezTo>
                      <a:cubicBezTo>
                        <a:pt x="1113" y="697"/>
                        <a:pt x="1135" y="687"/>
                        <a:pt x="1158" y="678"/>
                      </a:cubicBezTo>
                      <a:cubicBezTo>
                        <a:pt x="1159" y="678"/>
                        <a:pt x="1160" y="676"/>
                        <a:pt x="1160" y="674"/>
                      </a:cubicBezTo>
                      <a:cubicBezTo>
                        <a:pt x="1160" y="674"/>
                        <a:pt x="1159" y="673"/>
                        <a:pt x="1158" y="673"/>
                      </a:cubicBezTo>
                      <a:cubicBezTo>
                        <a:pt x="1139" y="670"/>
                        <a:pt x="1121" y="666"/>
                        <a:pt x="1102" y="662"/>
                      </a:cubicBezTo>
                      <a:cubicBezTo>
                        <a:pt x="1072" y="655"/>
                        <a:pt x="1043" y="642"/>
                        <a:pt x="1016" y="627"/>
                      </a:cubicBezTo>
                      <a:cubicBezTo>
                        <a:pt x="948" y="589"/>
                        <a:pt x="898" y="534"/>
                        <a:pt x="865" y="464"/>
                      </a:cubicBezTo>
                      <a:cubicBezTo>
                        <a:pt x="831" y="392"/>
                        <a:pt x="822" y="316"/>
                        <a:pt x="838" y="239"/>
                      </a:cubicBezTo>
                      <a:cubicBezTo>
                        <a:pt x="845" y="205"/>
                        <a:pt x="855" y="172"/>
                        <a:pt x="873" y="141"/>
                      </a:cubicBezTo>
                      <a:cubicBezTo>
                        <a:pt x="873" y="140"/>
                        <a:pt x="874" y="138"/>
                        <a:pt x="874" y="136"/>
                      </a:cubicBezTo>
                      <a:cubicBezTo>
                        <a:pt x="875" y="134"/>
                        <a:pt x="872" y="131"/>
                        <a:pt x="870" y="132"/>
                      </a:cubicBezTo>
                      <a:close/>
                    </a:path>
                  </a:pathLst>
                </a:custGeom>
                <a:solidFill>
                  <a:schemeClr val="accent4"/>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6" name="Freeform 162"/>
                <p:cNvSpPr/>
                <p:nvPr>
                  <p:custDataLst>
                    <p:tags r:id="rId4"/>
                  </p:custDataLst>
                </p:nvPr>
              </p:nvSpPr>
              <p:spPr bwMode="auto">
                <a:xfrm>
                  <a:off x="13776" y="5825"/>
                  <a:ext cx="3128" cy="3379"/>
                </a:xfrm>
                <a:custGeom>
                  <a:avLst/>
                  <a:gdLst>
                    <a:gd name="T0" fmla="*/ 326 w 941"/>
                    <a:gd name="T1" fmla="*/ 109 h 1015"/>
                    <a:gd name="T2" fmla="*/ 325 w 941"/>
                    <a:gd name="T3" fmla="*/ 124 h 1015"/>
                    <a:gd name="T4" fmla="*/ 291 w 941"/>
                    <a:gd name="T5" fmla="*/ 257 h 1015"/>
                    <a:gd name="T6" fmla="*/ 258 w 941"/>
                    <a:gd name="T7" fmla="*/ 319 h 1015"/>
                    <a:gd name="T8" fmla="*/ 197 w 941"/>
                    <a:gd name="T9" fmla="*/ 396 h 1015"/>
                    <a:gd name="T10" fmla="*/ 143 w 941"/>
                    <a:gd name="T11" fmla="*/ 441 h 1015"/>
                    <a:gd name="T12" fmla="*/ 57 w 941"/>
                    <a:gd name="T13" fmla="*/ 537 h 1015"/>
                    <a:gd name="T14" fmla="*/ 26 w 941"/>
                    <a:gd name="T15" fmla="*/ 614 h 1015"/>
                    <a:gd name="T16" fmla="*/ 110 w 941"/>
                    <a:gd name="T17" fmla="*/ 909 h 1015"/>
                    <a:gd name="T18" fmla="*/ 198 w 941"/>
                    <a:gd name="T19" fmla="*/ 969 h 1015"/>
                    <a:gd name="T20" fmla="*/ 499 w 941"/>
                    <a:gd name="T21" fmla="*/ 940 h 1015"/>
                    <a:gd name="T22" fmla="*/ 611 w 941"/>
                    <a:gd name="T23" fmla="*/ 848 h 1015"/>
                    <a:gd name="T24" fmla="*/ 679 w 941"/>
                    <a:gd name="T25" fmla="*/ 776 h 1015"/>
                    <a:gd name="T26" fmla="*/ 740 w 941"/>
                    <a:gd name="T27" fmla="*/ 702 h 1015"/>
                    <a:gd name="T28" fmla="*/ 766 w 941"/>
                    <a:gd name="T29" fmla="*/ 663 h 1015"/>
                    <a:gd name="T30" fmla="*/ 853 w 941"/>
                    <a:gd name="T31" fmla="*/ 503 h 1015"/>
                    <a:gd name="T32" fmla="*/ 939 w 941"/>
                    <a:gd name="T33" fmla="*/ 76 h 1015"/>
                    <a:gd name="T34" fmla="*/ 936 w 941"/>
                    <a:gd name="T35" fmla="*/ 4 h 1015"/>
                    <a:gd name="T36" fmla="*/ 932 w 941"/>
                    <a:gd name="T37" fmla="*/ 0 h 1015"/>
                    <a:gd name="T38" fmla="*/ 930 w 941"/>
                    <a:gd name="T39" fmla="*/ 2 h 1015"/>
                    <a:gd name="T40" fmla="*/ 903 w 941"/>
                    <a:gd name="T41" fmla="*/ 51 h 1015"/>
                    <a:gd name="T42" fmla="*/ 843 w 941"/>
                    <a:gd name="T43" fmla="*/ 123 h 1015"/>
                    <a:gd name="T44" fmla="*/ 641 w 941"/>
                    <a:gd name="T45" fmla="*/ 216 h 1015"/>
                    <a:gd name="T46" fmla="*/ 418 w 941"/>
                    <a:gd name="T47" fmla="*/ 172 h 1015"/>
                    <a:gd name="T48" fmla="*/ 336 w 941"/>
                    <a:gd name="T49" fmla="*/ 109 h 1015"/>
                    <a:gd name="T50" fmla="*/ 332 w 941"/>
                    <a:gd name="T51" fmla="*/ 106 h 1015"/>
                    <a:gd name="T52" fmla="*/ 326 w 941"/>
                    <a:gd name="T53" fmla="*/ 109 h 1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41" h="1015">
                      <a:moveTo>
                        <a:pt x="326" y="109"/>
                      </a:moveTo>
                      <a:cubicBezTo>
                        <a:pt x="326" y="114"/>
                        <a:pt x="325" y="119"/>
                        <a:pt x="325" y="124"/>
                      </a:cubicBezTo>
                      <a:cubicBezTo>
                        <a:pt x="320" y="170"/>
                        <a:pt x="309" y="215"/>
                        <a:pt x="291" y="257"/>
                      </a:cubicBezTo>
                      <a:cubicBezTo>
                        <a:pt x="282" y="279"/>
                        <a:pt x="270" y="299"/>
                        <a:pt x="258" y="319"/>
                      </a:cubicBezTo>
                      <a:cubicBezTo>
                        <a:pt x="242" y="348"/>
                        <a:pt x="219" y="372"/>
                        <a:pt x="197" y="396"/>
                      </a:cubicBezTo>
                      <a:cubicBezTo>
                        <a:pt x="181" y="413"/>
                        <a:pt x="162" y="427"/>
                        <a:pt x="143" y="441"/>
                      </a:cubicBezTo>
                      <a:cubicBezTo>
                        <a:pt x="108" y="467"/>
                        <a:pt x="79" y="498"/>
                        <a:pt x="57" y="537"/>
                      </a:cubicBezTo>
                      <a:cubicBezTo>
                        <a:pt x="44" y="561"/>
                        <a:pt x="33" y="587"/>
                        <a:pt x="26" y="614"/>
                      </a:cubicBezTo>
                      <a:cubicBezTo>
                        <a:pt x="0" y="715"/>
                        <a:pt x="29" y="831"/>
                        <a:pt x="110" y="909"/>
                      </a:cubicBezTo>
                      <a:cubicBezTo>
                        <a:pt x="136" y="934"/>
                        <a:pt x="165" y="954"/>
                        <a:pt x="198" y="969"/>
                      </a:cubicBezTo>
                      <a:cubicBezTo>
                        <a:pt x="301" y="1015"/>
                        <a:pt x="414" y="1000"/>
                        <a:pt x="499" y="940"/>
                      </a:cubicBezTo>
                      <a:cubicBezTo>
                        <a:pt x="539" y="912"/>
                        <a:pt x="576" y="881"/>
                        <a:pt x="611" y="848"/>
                      </a:cubicBezTo>
                      <a:cubicBezTo>
                        <a:pt x="635" y="825"/>
                        <a:pt x="657" y="801"/>
                        <a:pt x="679" y="776"/>
                      </a:cubicBezTo>
                      <a:cubicBezTo>
                        <a:pt x="702" y="752"/>
                        <a:pt x="721" y="725"/>
                        <a:pt x="740" y="702"/>
                      </a:cubicBezTo>
                      <a:cubicBezTo>
                        <a:pt x="750" y="687"/>
                        <a:pt x="758" y="675"/>
                        <a:pt x="766" y="663"/>
                      </a:cubicBezTo>
                      <a:cubicBezTo>
                        <a:pt x="800" y="613"/>
                        <a:pt x="829" y="559"/>
                        <a:pt x="853" y="503"/>
                      </a:cubicBezTo>
                      <a:cubicBezTo>
                        <a:pt x="911" y="367"/>
                        <a:pt x="941" y="225"/>
                        <a:pt x="939" y="76"/>
                      </a:cubicBezTo>
                      <a:cubicBezTo>
                        <a:pt x="939" y="52"/>
                        <a:pt x="937" y="28"/>
                        <a:pt x="936" y="4"/>
                      </a:cubicBezTo>
                      <a:cubicBezTo>
                        <a:pt x="936" y="2"/>
                        <a:pt x="934" y="1"/>
                        <a:pt x="932" y="0"/>
                      </a:cubicBezTo>
                      <a:cubicBezTo>
                        <a:pt x="932" y="0"/>
                        <a:pt x="931" y="1"/>
                        <a:pt x="930" y="2"/>
                      </a:cubicBezTo>
                      <a:cubicBezTo>
                        <a:pt x="922" y="19"/>
                        <a:pt x="912" y="35"/>
                        <a:pt x="903" y="51"/>
                      </a:cubicBezTo>
                      <a:cubicBezTo>
                        <a:pt x="886" y="78"/>
                        <a:pt x="866" y="102"/>
                        <a:pt x="843" y="123"/>
                      </a:cubicBezTo>
                      <a:cubicBezTo>
                        <a:pt x="786" y="176"/>
                        <a:pt x="718" y="206"/>
                        <a:pt x="641" y="216"/>
                      </a:cubicBezTo>
                      <a:cubicBezTo>
                        <a:pt x="562" y="226"/>
                        <a:pt x="488" y="211"/>
                        <a:pt x="418" y="172"/>
                      </a:cubicBezTo>
                      <a:cubicBezTo>
                        <a:pt x="388" y="155"/>
                        <a:pt x="360" y="135"/>
                        <a:pt x="336" y="109"/>
                      </a:cubicBezTo>
                      <a:cubicBezTo>
                        <a:pt x="335" y="108"/>
                        <a:pt x="334" y="107"/>
                        <a:pt x="332" y="106"/>
                      </a:cubicBezTo>
                      <a:cubicBezTo>
                        <a:pt x="331" y="105"/>
                        <a:pt x="327" y="107"/>
                        <a:pt x="326" y="109"/>
                      </a:cubicBezTo>
                      <a:close/>
                    </a:path>
                  </a:pathLst>
                </a:custGeom>
                <a:solidFill>
                  <a:schemeClr val="accent3"/>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7" name="Freeform 163"/>
                <p:cNvSpPr/>
                <p:nvPr>
                  <p:custDataLst>
                    <p:tags r:id="rId5"/>
                  </p:custDataLst>
                </p:nvPr>
              </p:nvSpPr>
              <p:spPr bwMode="auto">
                <a:xfrm>
                  <a:off x="13950" y="2764"/>
                  <a:ext cx="2913" cy="3718"/>
                </a:xfrm>
                <a:custGeom>
                  <a:avLst/>
                  <a:gdLst>
                    <a:gd name="T0" fmla="*/ 2 w 877"/>
                    <a:gd name="T1" fmla="*/ 612 h 1118"/>
                    <a:gd name="T2" fmla="*/ 16 w 877"/>
                    <a:gd name="T3" fmla="*/ 619 h 1118"/>
                    <a:gd name="T4" fmla="*/ 132 w 877"/>
                    <a:gd name="T5" fmla="*/ 692 h 1118"/>
                    <a:gd name="T6" fmla="*/ 181 w 877"/>
                    <a:gd name="T7" fmla="*/ 742 h 1118"/>
                    <a:gd name="T8" fmla="*/ 235 w 877"/>
                    <a:gd name="T9" fmla="*/ 824 h 1118"/>
                    <a:gd name="T10" fmla="*/ 262 w 877"/>
                    <a:gd name="T11" fmla="*/ 889 h 1118"/>
                    <a:gd name="T12" fmla="*/ 326 w 877"/>
                    <a:gd name="T13" fmla="*/ 1000 h 1118"/>
                    <a:gd name="T14" fmla="*/ 390 w 877"/>
                    <a:gd name="T15" fmla="*/ 1054 h 1118"/>
                    <a:gd name="T16" fmla="*/ 697 w 877"/>
                    <a:gd name="T17" fmla="*/ 1065 h 1118"/>
                    <a:gd name="T18" fmla="*/ 780 w 877"/>
                    <a:gd name="T19" fmla="*/ 1000 h 1118"/>
                    <a:gd name="T20" fmla="*/ 846 w 877"/>
                    <a:gd name="T21" fmla="*/ 705 h 1118"/>
                    <a:gd name="T22" fmla="*/ 793 w 877"/>
                    <a:gd name="T23" fmla="*/ 569 h 1118"/>
                    <a:gd name="T24" fmla="*/ 746 w 877"/>
                    <a:gd name="T25" fmla="*/ 483 h 1118"/>
                    <a:gd name="T26" fmla="*/ 694 w 877"/>
                    <a:gd name="T27" fmla="*/ 402 h 1118"/>
                    <a:gd name="T28" fmla="*/ 665 w 877"/>
                    <a:gd name="T29" fmla="*/ 365 h 1118"/>
                    <a:gd name="T30" fmla="*/ 540 w 877"/>
                    <a:gd name="T31" fmla="*/ 234 h 1118"/>
                    <a:gd name="T32" fmla="*/ 161 w 877"/>
                    <a:gd name="T33" fmla="*/ 19 h 1118"/>
                    <a:gd name="T34" fmla="*/ 90 w 877"/>
                    <a:gd name="T35" fmla="*/ 0 h 1118"/>
                    <a:gd name="T36" fmla="*/ 86 w 877"/>
                    <a:gd name="T37" fmla="*/ 2 h 1118"/>
                    <a:gd name="T38" fmla="*/ 87 w 877"/>
                    <a:gd name="T39" fmla="*/ 5 h 1118"/>
                    <a:gd name="T40" fmla="*/ 126 w 877"/>
                    <a:gd name="T41" fmla="*/ 46 h 1118"/>
                    <a:gd name="T42" fmla="*/ 175 w 877"/>
                    <a:gd name="T43" fmla="*/ 125 h 1118"/>
                    <a:gd name="T44" fmla="*/ 202 w 877"/>
                    <a:gd name="T45" fmla="*/ 346 h 1118"/>
                    <a:gd name="T46" fmla="*/ 91 w 877"/>
                    <a:gd name="T47" fmla="*/ 544 h 1118"/>
                    <a:gd name="T48" fmla="*/ 5 w 877"/>
                    <a:gd name="T49" fmla="*/ 603 h 1118"/>
                    <a:gd name="T50" fmla="*/ 1 w 877"/>
                    <a:gd name="T51" fmla="*/ 606 h 1118"/>
                    <a:gd name="T52" fmla="*/ 2 w 877"/>
                    <a:gd name="T53" fmla="*/ 612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77" h="1118">
                      <a:moveTo>
                        <a:pt x="2" y="612"/>
                      </a:moveTo>
                      <a:cubicBezTo>
                        <a:pt x="7" y="614"/>
                        <a:pt x="12" y="617"/>
                        <a:pt x="16" y="619"/>
                      </a:cubicBezTo>
                      <a:cubicBezTo>
                        <a:pt x="59" y="637"/>
                        <a:pt x="98" y="661"/>
                        <a:pt x="132" y="692"/>
                      </a:cubicBezTo>
                      <a:cubicBezTo>
                        <a:pt x="150" y="707"/>
                        <a:pt x="165" y="725"/>
                        <a:pt x="181" y="742"/>
                      </a:cubicBezTo>
                      <a:cubicBezTo>
                        <a:pt x="204" y="766"/>
                        <a:pt x="219" y="795"/>
                        <a:pt x="235" y="824"/>
                      </a:cubicBezTo>
                      <a:cubicBezTo>
                        <a:pt x="246" y="845"/>
                        <a:pt x="254" y="867"/>
                        <a:pt x="262" y="889"/>
                      </a:cubicBezTo>
                      <a:cubicBezTo>
                        <a:pt x="276" y="930"/>
                        <a:pt x="296" y="968"/>
                        <a:pt x="326" y="1000"/>
                      </a:cubicBezTo>
                      <a:cubicBezTo>
                        <a:pt x="345" y="1021"/>
                        <a:pt x="366" y="1039"/>
                        <a:pt x="390" y="1054"/>
                      </a:cubicBezTo>
                      <a:cubicBezTo>
                        <a:pt x="478" y="1110"/>
                        <a:pt x="597" y="1118"/>
                        <a:pt x="697" y="1065"/>
                      </a:cubicBezTo>
                      <a:cubicBezTo>
                        <a:pt x="729" y="1048"/>
                        <a:pt x="756" y="1027"/>
                        <a:pt x="780" y="1000"/>
                      </a:cubicBezTo>
                      <a:cubicBezTo>
                        <a:pt x="856" y="916"/>
                        <a:pt x="877" y="804"/>
                        <a:pt x="846" y="705"/>
                      </a:cubicBezTo>
                      <a:cubicBezTo>
                        <a:pt x="832" y="658"/>
                        <a:pt x="814" y="613"/>
                        <a:pt x="793" y="569"/>
                      </a:cubicBezTo>
                      <a:cubicBezTo>
                        <a:pt x="779" y="540"/>
                        <a:pt x="762" y="511"/>
                        <a:pt x="746" y="483"/>
                      </a:cubicBezTo>
                      <a:cubicBezTo>
                        <a:pt x="730" y="454"/>
                        <a:pt x="710" y="428"/>
                        <a:pt x="694" y="402"/>
                      </a:cubicBezTo>
                      <a:cubicBezTo>
                        <a:pt x="683" y="388"/>
                        <a:pt x="674" y="377"/>
                        <a:pt x="665" y="365"/>
                      </a:cubicBezTo>
                      <a:cubicBezTo>
                        <a:pt x="628" y="317"/>
                        <a:pt x="586" y="274"/>
                        <a:pt x="540" y="234"/>
                      </a:cubicBezTo>
                      <a:cubicBezTo>
                        <a:pt x="429" y="135"/>
                        <a:pt x="302" y="64"/>
                        <a:pt x="161" y="19"/>
                      </a:cubicBezTo>
                      <a:cubicBezTo>
                        <a:pt x="138" y="12"/>
                        <a:pt x="114" y="6"/>
                        <a:pt x="90" y="0"/>
                      </a:cubicBezTo>
                      <a:cubicBezTo>
                        <a:pt x="89" y="0"/>
                        <a:pt x="88" y="1"/>
                        <a:pt x="86" y="2"/>
                      </a:cubicBezTo>
                      <a:cubicBezTo>
                        <a:pt x="86" y="2"/>
                        <a:pt x="86" y="4"/>
                        <a:pt x="87" y="5"/>
                      </a:cubicBezTo>
                      <a:cubicBezTo>
                        <a:pt x="100" y="18"/>
                        <a:pt x="113" y="32"/>
                        <a:pt x="126" y="46"/>
                      </a:cubicBezTo>
                      <a:cubicBezTo>
                        <a:pt x="146" y="70"/>
                        <a:pt x="162" y="97"/>
                        <a:pt x="175" y="125"/>
                      </a:cubicBezTo>
                      <a:cubicBezTo>
                        <a:pt x="208" y="196"/>
                        <a:pt x="216" y="270"/>
                        <a:pt x="202" y="346"/>
                      </a:cubicBezTo>
                      <a:cubicBezTo>
                        <a:pt x="187" y="424"/>
                        <a:pt x="149" y="490"/>
                        <a:pt x="91" y="544"/>
                      </a:cubicBezTo>
                      <a:cubicBezTo>
                        <a:pt x="65" y="568"/>
                        <a:pt x="37" y="588"/>
                        <a:pt x="5" y="603"/>
                      </a:cubicBezTo>
                      <a:cubicBezTo>
                        <a:pt x="4" y="603"/>
                        <a:pt x="3" y="605"/>
                        <a:pt x="1" y="606"/>
                      </a:cubicBezTo>
                      <a:cubicBezTo>
                        <a:pt x="0" y="607"/>
                        <a:pt x="0" y="611"/>
                        <a:pt x="2" y="612"/>
                      </a:cubicBezTo>
                      <a:close/>
                    </a:path>
                  </a:pathLst>
                </a:custGeom>
                <a:solidFill>
                  <a:schemeClr val="accent2"/>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8" name="Freeform 164"/>
                <p:cNvSpPr/>
                <p:nvPr>
                  <p:custDataLst>
                    <p:tags r:id="rId6"/>
                  </p:custDataLst>
                </p:nvPr>
              </p:nvSpPr>
              <p:spPr bwMode="auto">
                <a:xfrm>
                  <a:off x="10484" y="2669"/>
                  <a:ext cx="4053" cy="2577"/>
                </a:xfrm>
                <a:custGeom>
                  <a:avLst/>
                  <a:gdLst>
                    <a:gd name="T0" fmla="*/ 555 w 1221"/>
                    <a:gd name="T1" fmla="*/ 775 h 776"/>
                    <a:gd name="T2" fmla="*/ 566 w 1221"/>
                    <a:gd name="T3" fmla="*/ 763 h 776"/>
                    <a:gd name="T4" fmla="*/ 671 w 1221"/>
                    <a:gd name="T5" fmla="*/ 675 h 776"/>
                    <a:gd name="T6" fmla="*/ 734 w 1221"/>
                    <a:gd name="T7" fmla="*/ 645 h 776"/>
                    <a:gd name="T8" fmla="*/ 829 w 1221"/>
                    <a:gd name="T9" fmla="*/ 619 h 776"/>
                    <a:gd name="T10" fmla="*/ 899 w 1221"/>
                    <a:gd name="T11" fmla="*/ 613 h 776"/>
                    <a:gd name="T12" fmla="*/ 1025 w 1221"/>
                    <a:gd name="T13" fmla="*/ 587 h 776"/>
                    <a:gd name="T14" fmla="*/ 1095 w 1221"/>
                    <a:gd name="T15" fmla="*/ 543 h 776"/>
                    <a:gd name="T16" fmla="*/ 1201 w 1221"/>
                    <a:gd name="T17" fmla="*/ 254 h 776"/>
                    <a:gd name="T18" fmla="*/ 1165 w 1221"/>
                    <a:gd name="T19" fmla="*/ 155 h 776"/>
                    <a:gd name="T20" fmla="*/ 904 w 1221"/>
                    <a:gd name="T21" fmla="*/ 1 h 776"/>
                    <a:gd name="T22" fmla="*/ 759 w 1221"/>
                    <a:gd name="T23" fmla="*/ 10 h 776"/>
                    <a:gd name="T24" fmla="*/ 662 w 1221"/>
                    <a:gd name="T25" fmla="*/ 27 h 776"/>
                    <a:gd name="T26" fmla="*/ 570 w 1221"/>
                    <a:gd name="T27" fmla="*/ 52 h 776"/>
                    <a:gd name="T28" fmla="*/ 525 w 1221"/>
                    <a:gd name="T29" fmla="*/ 68 h 776"/>
                    <a:gd name="T30" fmla="*/ 361 w 1221"/>
                    <a:gd name="T31" fmla="*/ 146 h 776"/>
                    <a:gd name="T32" fmla="*/ 40 w 1221"/>
                    <a:gd name="T33" fmla="*/ 441 h 776"/>
                    <a:gd name="T34" fmla="*/ 1 w 1221"/>
                    <a:gd name="T35" fmla="*/ 502 h 776"/>
                    <a:gd name="T36" fmla="*/ 1 w 1221"/>
                    <a:gd name="T37" fmla="*/ 506 h 776"/>
                    <a:gd name="T38" fmla="*/ 4 w 1221"/>
                    <a:gd name="T39" fmla="*/ 506 h 776"/>
                    <a:gd name="T40" fmla="*/ 55 w 1221"/>
                    <a:gd name="T41" fmla="*/ 483 h 776"/>
                    <a:gd name="T42" fmla="*/ 146 w 1221"/>
                    <a:gd name="T43" fmla="*/ 460 h 776"/>
                    <a:gd name="T44" fmla="*/ 364 w 1221"/>
                    <a:gd name="T45" fmla="*/ 503 h 776"/>
                    <a:gd name="T46" fmla="*/ 518 w 1221"/>
                    <a:gd name="T47" fmla="*/ 669 h 776"/>
                    <a:gd name="T48" fmla="*/ 547 w 1221"/>
                    <a:gd name="T49" fmla="*/ 769 h 776"/>
                    <a:gd name="T50" fmla="*/ 549 w 1221"/>
                    <a:gd name="T51" fmla="*/ 774 h 776"/>
                    <a:gd name="T52" fmla="*/ 555 w 1221"/>
                    <a:gd name="T53" fmla="*/ 775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21" h="776">
                      <a:moveTo>
                        <a:pt x="555" y="775"/>
                      </a:moveTo>
                      <a:cubicBezTo>
                        <a:pt x="559" y="771"/>
                        <a:pt x="562" y="767"/>
                        <a:pt x="566" y="763"/>
                      </a:cubicBezTo>
                      <a:cubicBezTo>
                        <a:pt x="596" y="728"/>
                        <a:pt x="631" y="699"/>
                        <a:pt x="671" y="675"/>
                      </a:cubicBezTo>
                      <a:cubicBezTo>
                        <a:pt x="691" y="663"/>
                        <a:pt x="713" y="654"/>
                        <a:pt x="734" y="645"/>
                      </a:cubicBezTo>
                      <a:cubicBezTo>
                        <a:pt x="764" y="631"/>
                        <a:pt x="797" y="625"/>
                        <a:pt x="829" y="619"/>
                      </a:cubicBezTo>
                      <a:cubicBezTo>
                        <a:pt x="852" y="615"/>
                        <a:pt x="875" y="614"/>
                        <a:pt x="899" y="613"/>
                      </a:cubicBezTo>
                      <a:cubicBezTo>
                        <a:pt x="942" y="613"/>
                        <a:pt x="985" y="605"/>
                        <a:pt x="1025" y="587"/>
                      </a:cubicBezTo>
                      <a:cubicBezTo>
                        <a:pt x="1050" y="575"/>
                        <a:pt x="1074" y="561"/>
                        <a:pt x="1095" y="543"/>
                      </a:cubicBezTo>
                      <a:cubicBezTo>
                        <a:pt x="1176" y="476"/>
                        <a:pt x="1221" y="365"/>
                        <a:pt x="1201" y="254"/>
                      </a:cubicBezTo>
                      <a:cubicBezTo>
                        <a:pt x="1195" y="219"/>
                        <a:pt x="1183" y="186"/>
                        <a:pt x="1165" y="155"/>
                      </a:cubicBezTo>
                      <a:cubicBezTo>
                        <a:pt x="1108" y="57"/>
                        <a:pt x="1008" y="2"/>
                        <a:pt x="904" y="1"/>
                      </a:cubicBezTo>
                      <a:cubicBezTo>
                        <a:pt x="856" y="0"/>
                        <a:pt x="807" y="3"/>
                        <a:pt x="759" y="10"/>
                      </a:cubicBezTo>
                      <a:cubicBezTo>
                        <a:pt x="726" y="14"/>
                        <a:pt x="694" y="21"/>
                        <a:pt x="662" y="27"/>
                      </a:cubicBezTo>
                      <a:cubicBezTo>
                        <a:pt x="630" y="34"/>
                        <a:pt x="599" y="45"/>
                        <a:pt x="570" y="52"/>
                      </a:cubicBezTo>
                      <a:cubicBezTo>
                        <a:pt x="553" y="58"/>
                        <a:pt x="539" y="63"/>
                        <a:pt x="525" y="68"/>
                      </a:cubicBezTo>
                      <a:cubicBezTo>
                        <a:pt x="468" y="89"/>
                        <a:pt x="414" y="115"/>
                        <a:pt x="361" y="146"/>
                      </a:cubicBezTo>
                      <a:cubicBezTo>
                        <a:pt x="234" y="222"/>
                        <a:pt x="127" y="320"/>
                        <a:pt x="40" y="441"/>
                      </a:cubicBezTo>
                      <a:cubicBezTo>
                        <a:pt x="26" y="461"/>
                        <a:pt x="14" y="481"/>
                        <a:pt x="1" y="502"/>
                      </a:cubicBezTo>
                      <a:cubicBezTo>
                        <a:pt x="0" y="503"/>
                        <a:pt x="1" y="505"/>
                        <a:pt x="1" y="506"/>
                      </a:cubicBezTo>
                      <a:cubicBezTo>
                        <a:pt x="1" y="507"/>
                        <a:pt x="3" y="507"/>
                        <a:pt x="4" y="506"/>
                      </a:cubicBezTo>
                      <a:cubicBezTo>
                        <a:pt x="21" y="498"/>
                        <a:pt x="38" y="490"/>
                        <a:pt x="55" y="483"/>
                      </a:cubicBezTo>
                      <a:cubicBezTo>
                        <a:pt x="84" y="470"/>
                        <a:pt x="115" y="464"/>
                        <a:pt x="146" y="460"/>
                      </a:cubicBezTo>
                      <a:cubicBezTo>
                        <a:pt x="223" y="451"/>
                        <a:pt x="296" y="465"/>
                        <a:pt x="364" y="503"/>
                      </a:cubicBezTo>
                      <a:cubicBezTo>
                        <a:pt x="434" y="541"/>
                        <a:pt x="485" y="597"/>
                        <a:pt x="518" y="669"/>
                      </a:cubicBezTo>
                      <a:cubicBezTo>
                        <a:pt x="533" y="701"/>
                        <a:pt x="543" y="734"/>
                        <a:pt x="547" y="769"/>
                      </a:cubicBezTo>
                      <a:cubicBezTo>
                        <a:pt x="547" y="770"/>
                        <a:pt x="548" y="772"/>
                        <a:pt x="549" y="774"/>
                      </a:cubicBezTo>
                      <a:cubicBezTo>
                        <a:pt x="549" y="776"/>
                        <a:pt x="554" y="776"/>
                        <a:pt x="555" y="775"/>
                      </a:cubicBezTo>
                      <a:close/>
                    </a:path>
                  </a:pathLst>
                </a:custGeom>
                <a:solidFill>
                  <a:schemeClr val="accent1"/>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94" name="组合 93"/>
              <p:cNvGrpSpPr/>
              <p:nvPr/>
            </p:nvGrpSpPr>
            <p:grpSpPr>
              <a:xfrm>
                <a:off x="1961" y="2105"/>
                <a:ext cx="6999" cy="7023"/>
                <a:chOff x="6101" y="2817"/>
                <a:chExt cx="6999" cy="7023"/>
              </a:xfrm>
            </p:grpSpPr>
            <p:grpSp>
              <p:nvGrpSpPr>
                <p:cNvPr id="81" name="组合 80"/>
                <p:cNvGrpSpPr/>
                <p:nvPr/>
              </p:nvGrpSpPr>
              <p:grpSpPr>
                <a:xfrm>
                  <a:off x="6101" y="2817"/>
                  <a:ext cx="6999" cy="1308"/>
                  <a:chOff x="1384" y="2817"/>
                  <a:chExt cx="6999" cy="1308"/>
                </a:xfrm>
              </p:grpSpPr>
              <p:sp>
                <p:nvSpPr>
                  <p:cNvPr id="79" name="文本框 9"/>
                  <p:cNvSpPr/>
                  <p:nvPr/>
                </p:nvSpPr>
                <p:spPr bwMode="auto">
                  <a:xfrm>
                    <a:off x="5323" y="281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2"/>
                        </a:solidFill>
                        <a:effectLst/>
                        <a:latin typeface="思源黑体 CN Medium" panose="020B0600000000000000" charset="-122"/>
                        <a:ea typeface="思源黑体 CN Medium" panose="020B0600000000000000" charset="-122"/>
                        <a:cs typeface="思源黑体 CN Regular" panose="020B0500000000000000" charset="-122"/>
                        <a:sym typeface="+mn-ea"/>
                      </a:rPr>
                      <a:t>研究内容</a:t>
                    </a:r>
                    <a:endParaRPr lang="zh-CN" altLang="en-US" sz="2200" b="1" dirty="0">
                      <a:ln>
                        <a:noFill/>
                      </a:ln>
                      <a:solidFill>
                        <a:schemeClr val="accent2"/>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0"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本选题旨在探究住房限购政策对被限制居民财富效应和消费结构的影响。</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2" name="组合 81"/>
                <p:cNvGrpSpPr/>
                <p:nvPr/>
              </p:nvGrpSpPr>
              <p:grpSpPr>
                <a:xfrm>
                  <a:off x="6101" y="4242"/>
                  <a:ext cx="6999" cy="1308"/>
                  <a:chOff x="1384" y="2817"/>
                  <a:chExt cx="6999" cy="1308"/>
                </a:xfrm>
              </p:grpSpPr>
              <p:sp>
                <p:nvSpPr>
                  <p:cNvPr id="83" name="文本框 9"/>
                  <p:cNvSpPr/>
                  <p:nvPr/>
                </p:nvSpPr>
                <p:spPr bwMode="auto">
                  <a:xfrm>
                    <a:off x="5083" y="2817"/>
                    <a:ext cx="288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CN Regular" panose="020B0500000000000000" charset="-122"/>
                        <a:sym typeface="+mn-ea"/>
                      </a:rPr>
                      <a:t>家庭消费理论</a:t>
                    </a:r>
                    <a:endPar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4"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借鉴生命周期</a:t>
                    </a:r>
                    <a:r>
                      <a:rPr lang="en-US" altLang="zh-CN"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持久收入假说，分析政策对居民跨期消费决策的影响</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5" name="组合 84"/>
                <p:cNvGrpSpPr/>
                <p:nvPr/>
              </p:nvGrpSpPr>
              <p:grpSpPr>
                <a:xfrm>
                  <a:off x="6101" y="5667"/>
                  <a:ext cx="6999" cy="1308"/>
                  <a:chOff x="1384" y="2817"/>
                  <a:chExt cx="6999" cy="1308"/>
                </a:xfrm>
              </p:grpSpPr>
              <p:sp>
                <p:nvSpPr>
                  <p:cNvPr id="86" name="文本框 9"/>
                  <p:cNvSpPr/>
                  <p:nvPr/>
                </p:nvSpPr>
                <p:spPr bwMode="auto">
                  <a:xfrm>
                    <a:off x="5144" y="2817"/>
                    <a:ext cx="2825"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4"/>
                        </a:solidFill>
                        <a:effectLst/>
                        <a:latin typeface="思源黑体 CN Medium" panose="020B0600000000000000" charset="-122"/>
                        <a:ea typeface="思源黑体 CN Medium" panose="020B0600000000000000" charset="-122"/>
                        <a:cs typeface="思源黑体 CN Regular" panose="020B0500000000000000" charset="-122"/>
                        <a:sym typeface="+mn-ea"/>
                      </a:rPr>
                      <a:t>政策评估模型</a:t>
                    </a:r>
                    <a:endParaRPr lang="zh-CN" altLang="en-US" sz="2200" b="1" dirty="0">
                      <a:ln>
                        <a:noFill/>
                      </a:ln>
                      <a:solidFill>
                        <a:schemeClr val="accent4"/>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7"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采用双重差分法，将限购城市作为实验组，未限购城市作为对照组，评估政策的净效应</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8" name="组合 87"/>
                <p:cNvGrpSpPr/>
                <p:nvPr/>
              </p:nvGrpSpPr>
              <p:grpSpPr>
                <a:xfrm>
                  <a:off x="6101" y="7092"/>
                  <a:ext cx="6999" cy="1308"/>
                  <a:chOff x="1384" y="2817"/>
                  <a:chExt cx="6999" cy="1308"/>
                </a:xfrm>
              </p:grpSpPr>
              <p:sp>
                <p:nvSpPr>
                  <p:cNvPr id="89" name="文本框 9"/>
                  <p:cNvSpPr/>
                  <p:nvPr/>
                </p:nvSpPr>
                <p:spPr bwMode="auto">
                  <a:xfrm>
                    <a:off x="4874" y="2817"/>
                    <a:ext cx="3095"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CN Regular" panose="020B0500000000000000" charset="-122"/>
                        <a:sym typeface="+mn-ea"/>
                      </a:rPr>
                      <a:t>微观数据采集</a:t>
                    </a:r>
                    <a:endPar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90"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采用大规模家庭收支调查数据（如</a:t>
                    </a:r>
                    <a:r>
                      <a:rPr lang="en-US" altLang="zh-CN"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CFPS</a:t>
                    </a: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），获取居民的资产结构和详细消费支出数据</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91" name="组合 90"/>
                <p:cNvGrpSpPr/>
                <p:nvPr/>
              </p:nvGrpSpPr>
              <p:grpSpPr>
                <a:xfrm>
                  <a:off x="6101" y="8532"/>
                  <a:ext cx="6999" cy="1308"/>
                  <a:chOff x="1384" y="2817"/>
                  <a:chExt cx="6999" cy="1308"/>
                </a:xfrm>
              </p:grpSpPr>
              <p:sp>
                <p:nvSpPr>
                  <p:cNvPr id="92" name="文本框 9"/>
                  <p:cNvSpPr/>
                  <p:nvPr/>
                </p:nvSpPr>
                <p:spPr bwMode="auto">
                  <a:xfrm>
                    <a:off x="5323" y="281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CN Regular" panose="020B0500000000000000" charset="-122"/>
                        <a:sym typeface="+mn-ea"/>
                      </a:rPr>
                      <a:t>异质性分析</a:t>
                    </a:r>
                    <a:endPar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93"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根据城市级别、居民收入水平等进行分组回归，识别政策效应的差异</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grpSp>
        <p:pic>
          <p:nvPicPr>
            <p:cNvPr id="97" name="图片 96" descr="32313534313136373b32313534313134383bb7a2cfd6"/>
            <p:cNvPicPr>
              <a:picLocks noChangeAspect="1"/>
            </p:cNvPicPr>
            <p:nvPr/>
          </p:nvPicPr>
          <p:blipFill>
            <a:blip r:embed="rId7"/>
            <a:stretch>
              <a:fillRect/>
            </a:stretch>
          </p:blipFill>
          <p:spPr>
            <a:xfrm>
              <a:off x="15272" y="4227"/>
              <a:ext cx="1141" cy="1141"/>
            </a:xfrm>
            <a:prstGeom prst="rect">
              <a:avLst/>
            </a:prstGeom>
          </p:spPr>
        </p:pic>
        <p:pic>
          <p:nvPicPr>
            <p:cNvPr id="98" name="图片 97" descr="32313534313136373b32313534313135313bbacfd7f7"/>
            <p:cNvPicPr>
              <a:picLocks noChangeAspect="1"/>
            </p:cNvPicPr>
            <p:nvPr/>
          </p:nvPicPr>
          <p:blipFill>
            <a:blip r:embed="rId8"/>
            <a:stretch>
              <a:fillRect/>
            </a:stretch>
          </p:blipFill>
          <p:spPr>
            <a:xfrm>
              <a:off x="10729" y="5296"/>
              <a:ext cx="1230" cy="1230"/>
            </a:xfrm>
            <a:prstGeom prst="rect">
              <a:avLst/>
            </a:prstGeom>
          </p:spPr>
        </p:pic>
        <p:pic>
          <p:nvPicPr>
            <p:cNvPr id="99" name="图片 98" descr="32313534313136373b32313534313135353bc1aacfb5"/>
            <p:cNvPicPr>
              <a:picLocks noChangeAspect="1"/>
            </p:cNvPicPr>
            <p:nvPr/>
          </p:nvPicPr>
          <p:blipFill>
            <a:blip r:embed="rId9"/>
            <a:stretch>
              <a:fillRect/>
            </a:stretch>
          </p:blipFill>
          <p:spPr>
            <a:xfrm>
              <a:off x="15124" y="7055"/>
              <a:ext cx="1141" cy="1141"/>
            </a:xfrm>
            <a:prstGeom prst="rect">
              <a:avLst/>
            </a:prstGeom>
          </p:spPr>
        </p:pic>
        <p:pic>
          <p:nvPicPr>
            <p:cNvPr id="100" name="图片 99" descr="32313534313136373b32313534313135373bc4bfb1ea"/>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252" y="7692"/>
              <a:ext cx="1141" cy="1141"/>
            </a:xfrm>
            <a:prstGeom prst="rect">
              <a:avLst/>
            </a:prstGeom>
          </p:spPr>
        </p:pic>
        <p:pic>
          <p:nvPicPr>
            <p:cNvPr id="101" name="图片 100" descr="32313534313136373b32313534313136343bd3cabcfe"/>
            <p:cNvPicPr>
              <a:picLocks noChangeAspect="1"/>
            </p:cNvPicPr>
            <p:nvPr/>
          </p:nvPicPr>
          <p:blipFill>
            <a:blip r:embed="rId12"/>
            <a:stretch>
              <a:fillRect/>
            </a:stretch>
          </p:blipFill>
          <p:spPr>
            <a:xfrm>
              <a:off x="12659" y="3038"/>
              <a:ext cx="1261" cy="1261"/>
            </a:xfrm>
            <a:prstGeom prst="rect">
              <a:avLst/>
            </a:prstGeom>
          </p:spPr>
        </p:pic>
      </p:gr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住房限购政策对居民消费结构升级的区域差异性影响</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2895599" y="2068609"/>
            <a:ext cx="6400803" cy="3441509"/>
            <a:chOff x="2438400" y="1609725"/>
            <a:chExt cx="7543800" cy="4056063"/>
          </a:xfrm>
        </p:grpSpPr>
        <p:grpSp>
          <p:nvGrpSpPr>
            <p:cNvPr id="8" name="组合 7"/>
            <p:cNvGrpSpPr/>
            <p:nvPr/>
          </p:nvGrpSpPr>
          <p:grpSpPr>
            <a:xfrm>
              <a:off x="4514850" y="1609725"/>
              <a:ext cx="1162050" cy="1162050"/>
              <a:chOff x="2838450" y="1838325"/>
              <a:chExt cx="1295400" cy="1295400"/>
            </a:xfrm>
          </p:grpSpPr>
          <p:sp>
            <p:nvSpPr>
              <p:cNvPr id="21" name="椭圆 20"/>
              <p:cNvSpPr/>
              <p:nvPr>
                <p:custDataLst>
                  <p:tags r:id="rId2"/>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22" name="椭圆 2"/>
              <p:cNvSpPr/>
              <p:nvPr>
                <p:custDataLst>
                  <p:tags r:id="rId3"/>
                </p:custDataLst>
              </p:nvPr>
            </p:nvSpPr>
            <p:spPr>
              <a:xfrm>
                <a:off x="3210976" y="2162175"/>
                <a:ext cx="550348" cy="647700"/>
              </a:xfrm>
              <a:custGeom>
                <a:avLst/>
                <a:gdLst>
                  <a:gd name="connsiteX0" fmla="*/ 119379 w 281919"/>
                  <a:gd name="connsiteY0" fmla="*/ 73025 h 331788"/>
                  <a:gd name="connsiteX1" fmla="*/ 144779 w 281919"/>
                  <a:gd name="connsiteY1" fmla="*/ 98425 h 331788"/>
                  <a:gd name="connsiteX2" fmla="*/ 119379 w 281919"/>
                  <a:gd name="connsiteY2" fmla="*/ 123825 h 331788"/>
                  <a:gd name="connsiteX3" fmla="*/ 93979 w 281919"/>
                  <a:gd name="connsiteY3" fmla="*/ 98425 h 331788"/>
                  <a:gd name="connsiteX4" fmla="*/ 119379 w 281919"/>
                  <a:gd name="connsiteY4" fmla="*/ 73025 h 331788"/>
                  <a:gd name="connsiteX5" fmla="*/ 114848 w 281919"/>
                  <a:gd name="connsiteY5" fmla="*/ 31750 h 331788"/>
                  <a:gd name="connsiteX6" fmla="*/ 109669 w 281919"/>
                  <a:gd name="connsiteY6" fmla="*/ 35634 h 331788"/>
                  <a:gd name="connsiteX7" fmla="*/ 103196 w 281919"/>
                  <a:gd name="connsiteY7" fmla="*/ 48581 h 331788"/>
                  <a:gd name="connsiteX8" fmla="*/ 100607 w 281919"/>
                  <a:gd name="connsiteY8" fmla="*/ 52465 h 331788"/>
                  <a:gd name="connsiteX9" fmla="*/ 95428 w 281919"/>
                  <a:gd name="connsiteY9" fmla="*/ 52465 h 331788"/>
                  <a:gd name="connsiteX10" fmla="*/ 82481 w 281919"/>
                  <a:gd name="connsiteY10" fmla="*/ 47286 h 331788"/>
                  <a:gd name="connsiteX11" fmla="*/ 76008 w 281919"/>
                  <a:gd name="connsiteY11" fmla="*/ 48581 h 331788"/>
                  <a:gd name="connsiteX12" fmla="*/ 69535 w 281919"/>
                  <a:gd name="connsiteY12" fmla="*/ 55054 h 331788"/>
                  <a:gd name="connsiteX13" fmla="*/ 68240 w 281919"/>
                  <a:gd name="connsiteY13" fmla="*/ 60233 h 331788"/>
                  <a:gd name="connsiteX14" fmla="*/ 73419 w 281919"/>
                  <a:gd name="connsiteY14" fmla="*/ 74474 h 331788"/>
                  <a:gd name="connsiteX15" fmla="*/ 73419 w 281919"/>
                  <a:gd name="connsiteY15" fmla="*/ 78358 h 331788"/>
                  <a:gd name="connsiteX16" fmla="*/ 73419 w 281919"/>
                  <a:gd name="connsiteY16" fmla="*/ 79652 h 331788"/>
                  <a:gd name="connsiteX17" fmla="*/ 70829 w 281919"/>
                  <a:gd name="connsiteY17" fmla="*/ 82242 h 331788"/>
                  <a:gd name="connsiteX18" fmla="*/ 56588 w 281919"/>
                  <a:gd name="connsiteY18" fmla="*/ 88715 h 331788"/>
                  <a:gd name="connsiteX19" fmla="*/ 52704 w 281919"/>
                  <a:gd name="connsiteY19" fmla="*/ 93894 h 331788"/>
                  <a:gd name="connsiteX20" fmla="*/ 52704 w 281919"/>
                  <a:gd name="connsiteY20" fmla="*/ 102956 h 331788"/>
                  <a:gd name="connsiteX21" fmla="*/ 56588 w 281919"/>
                  <a:gd name="connsiteY21" fmla="*/ 108135 h 331788"/>
                  <a:gd name="connsiteX22" fmla="*/ 70829 w 281919"/>
                  <a:gd name="connsiteY22" fmla="*/ 113314 h 331788"/>
                  <a:gd name="connsiteX23" fmla="*/ 73419 w 281919"/>
                  <a:gd name="connsiteY23" fmla="*/ 117198 h 331788"/>
                  <a:gd name="connsiteX24" fmla="*/ 73419 w 281919"/>
                  <a:gd name="connsiteY24" fmla="*/ 122376 h 331788"/>
                  <a:gd name="connsiteX25" fmla="*/ 68240 w 281919"/>
                  <a:gd name="connsiteY25" fmla="*/ 135323 h 331788"/>
                  <a:gd name="connsiteX26" fmla="*/ 69535 w 281919"/>
                  <a:gd name="connsiteY26" fmla="*/ 141796 h 331788"/>
                  <a:gd name="connsiteX27" fmla="*/ 76008 w 281919"/>
                  <a:gd name="connsiteY27" fmla="*/ 148269 h 331788"/>
                  <a:gd name="connsiteX28" fmla="*/ 82481 w 281919"/>
                  <a:gd name="connsiteY28" fmla="*/ 149564 h 331788"/>
                  <a:gd name="connsiteX29" fmla="*/ 95428 w 281919"/>
                  <a:gd name="connsiteY29" fmla="*/ 144386 h 331788"/>
                  <a:gd name="connsiteX30" fmla="*/ 100607 w 281919"/>
                  <a:gd name="connsiteY30" fmla="*/ 144386 h 331788"/>
                  <a:gd name="connsiteX31" fmla="*/ 104491 w 281919"/>
                  <a:gd name="connsiteY31" fmla="*/ 146975 h 331788"/>
                  <a:gd name="connsiteX32" fmla="*/ 109669 w 281919"/>
                  <a:gd name="connsiteY32" fmla="*/ 161216 h 331788"/>
                  <a:gd name="connsiteX33" fmla="*/ 114848 w 281919"/>
                  <a:gd name="connsiteY33" fmla="*/ 165100 h 331788"/>
                  <a:gd name="connsiteX34" fmla="*/ 123911 w 281919"/>
                  <a:gd name="connsiteY34" fmla="*/ 165100 h 331788"/>
                  <a:gd name="connsiteX35" fmla="*/ 129089 w 281919"/>
                  <a:gd name="connsiteY35" fmla="*/ 161216 h 331788"/>
                  <a:gd name="connsiteX36" fmla="*/ 135562 w 281919"/>
                  <a:gd name="connsiteY36" fmla="*/ 146975 h 331788"/>
                  <a:gd name="connsiteX37" fmla="*/ 138152 w 281919"/>
                  <a:gd name="connsiteY37" fmla="*/ 144386 h 331788"/>
                  <a:gd name="connsiteX38" fmla="*/ 143330 w 281919"/>
                  <a:gd name="connsiteY38" fmla="*/ 144386 h 331788"/>
                  <a:gd name="connsiteX39" fmla="*/ 157572 w 281919"/>
                  <a:gd name="connsiteY39" fmla="*/ 149564 h 331788"/>
                  <a:gd name="connsiteX40" fmla="*/ 162750 w 281919"/>
                  <a:gd name="connsiteY40" fmla="*/ 148269 h 331788"/>
                  <a:gd name="connsiteX41" fmla="*/ 169224 w 281919"/>
                  <a:gd name="connsiteY41" fmla="*/ 141796 h 331788"/>
                  <a:gd name="connsiteX42" fmla="*/ 170518 w 281919"/>
                  <a:gd name="connsiteY42" fmla="*/ 135323 h 331788"/>
                  <a:gd name="connsiteX43" fmla="*/ 165340 w 281919"/>
                  <a:gd name="connsiteY43" fmla="*/ 121082 h 331788"/>
                  <a:gd name="connsiteX44" fmla="*/ 165340 w 281919"/>
                  <a:gd name="connsiteY44" fmla="*/ 117198 h 331788"/>
                  <a:gd name="connsiteX45" fmla="*/ 167929 w 281919"/>
                  <a:gd name="connsiteY45" fmla="*/ 113314 h 331788"/>
                  <a:gd name="connsiteX46" fmla="*/ 182170 w 281919"/>
                  <a:gd name="connsiteY46" fmla="*/ 108135 h 331788"/>
                  <a:gd name="connsiteX47" fmla="*/ 186054 w 281919"/>
                  <a:gd name="connsiteY47" fmla="*/ 102956 h 331788"/>
                  <a:gd name="connsiteX48" fmla="*/ 186054 w 281919"/>
                  <a:gd name="connsiteY48" fmla="*/ 93894 h 331788"/>
                  <a:gd name="connsiteX49" fmla="*/ 182170 w 281919"/>
                  <a:gd name="connsiteY49" fmla="*/ 88715 h 331788"/>
                  <a:gd name="connsiteX50" fmla="*/ 167929 w 281919"/>
                  <a:gd name="connsiteY50" fmla="*/ 82242 h 331788"/>
                  <a:gd name="connsiteX51" fmla="*/ 165340 w 281919"/>
                  <a:gd name="connsiteY51" fmla="*/ 79652 h 331788"/>
                  <a:gd name="connsiteX52" fmla="*/ 165340 w 281919"/>
                  <a:gd name="connsiteY52" fmla="*/ 74474 h 331788"/>
                  <a:gd name="connsiteX53" fmla="*/ 170518 w 281919"/>
                  <a:gd name="connsiteY53" fmla="*/ 60233 h 331788"/>
                  <a:gd name="connsiteX54" fmla="*/ 169224 w 281919"/>
                  <a:gd name="connsiteY54" fmla="*/ 53759 h 331788"/>
                  <a:gd name="connsiteX55" fmla="*/ 162750 w 281919"/>
                  <a:gd name="connsiteY55" fmla="*/ 48581 h 331788"/>
                  <a:gd name="connsiteX56" fmla="*/ 156277 w 281919"/>
                  <a:gd name="connsiteY56" fmla="*/ 47286 h 331788"/>
                  <a:gd name="connsiteX57" fmla="*/ 143330 w 281919"/>
                  <a:gd name="connsiteY57" fmla="*/ 52465 h 331788"/>
                  <a:gd name="connsiteX58" fmla="*/ 138152 w 281919"/>
                  <a:gd name="connsiteY58" fmla="*/ 52465 h 331788"/>
                  <a:gd name="connsiteX59" fmla="*/ 135562 w 281919"/>
                  <a:gd name="connsiteY59" fmla="*/ 49875 h 331788"/>
                  <a:gd name="connsiteX60" fmla="*/ 129089 w 281919"/>
                  <a:gd name="connsiteY60" fmla="*/ 35634 h 331788"/>
                  <a:gd name="connsiteX61" fmla="*/ 123911 w 281919"/>
                  <a:gd name="connsiteY61" fmla="*/ 31750 h 331788"/>
                  <a:gd name="connsiteX62" fmla="*/ 114848 w 281919"/>
                  <a:gd name="connsiteY62" fmla="*/ 31750 h 331788"/>
                  <a:gd name="connsiteX63" fmla="*/ 124149 w 281919"/>
                  <a:gd name="connsiteY63" fmla="*/ 0 h 331788"/>
                  <a:gd name="connsiteX64" fmla="*/ 249569 w 281919"/>
                  <a:gd name="connsiteY64" fmla="*/ 125717 h 331788"/>
                  <a:gd name="connsiteX65" fmla="*/ 257327 w 281919"/>
                  <a:gd name="connsiteY65" fmla="*/ 156822 h 331788"/>
                  <a:gd name="connsiteX66" fmla="*/ 280600 w 281919"/>
                  <a:gd name="connsiteY66" fmla="*/ 200887 h 331788"/>
                  <a:gd name="connsiteX67" fmla="*/ 271549 w 281919"/>
                  <a:gd name="connsiteY67" fmla="*/ 217736 h 331788"/>
                  <a:gd name="connsiteX68" fmla="*/ 249569 w 281919"/>
                  <a:gd name="connsiteY68" fmla="*/ 217736 h 331788"/>
                  <a:gd name="connsiteX69" fmla="*/ 249569 w 281919"/>
                  <a:gd name="connsiteY69" fmla="*/ 263098 h 331788"/>
                  <a:gd name="connsiteX70" fmla="*/ 223709 w 281919"/>
                  <a:gd name="connsiteY70" fmla="*/ 290315 h 331788"/>
                  <a:gd name="connsiteX71" fmla="*/ 187505 w 281919"/>
                  <a:gd name="connsiteY71" fmla="*/ 290315 h 331788"/>
                  <a:gd name="connsiteX72" fmla="*/ 187505 w 281919"/>
                  <a:gd name="connsiteY72" fmla="*/ 322716 h 331788"/>
                  <a:gd name="connsiteX73" fmla="*/ 178454 w 281919"/>
                  <a:gd name="connsiteY73" fmla="*/ 331788 h 331788"/>
                  <a:gd name="connsiteX74" fmla="*/ 49155 w 281919"/>
                  <a:gd name="connsiteY74" fmla="*/ 331788 h 331788"/>
                  <a:gd name="connsiteX75" fmla="*/ 38811 w 281919"/>
                  <a:gd name="connsiteY75" fmla="*/ 322716 h 331788"/>
                  <a:gd name="connsiteX76" fmla="*/ 38811 w 281919"/>
                  <a:gd name="connsiteY76" fmla="*/ 289019 h 331788"/>
                  <a:gd name="connsiteX77" fmla="*/ 12952 w 281919"/>
                  <a:gd name="connsiteY77" fmla="*/ 182743 h 331788"/>
                  <a:gd name="connsiteX78" fmla="*/ 22 w 281919"/>
                  <a:gd name="connsiteY78" fmla="*/ 127013 h 331788"/>
                  <a:gd name="connsiteX79" fmla="*/ 124149 w 281919"/>
                  <a:gd name="connsiteY79"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81919" h="331788">
                    <a:moveTo>
                      <a:pt x="119379" y="73025"/>
                    </a:moveTo>
                    <a:cubicBezTo>
                      <a:pt x="133407" y="73025"/>
                      <a:pt x="144779" y="84397"/>
                      <a:pt x="144779" y="98425"/>
                    </a:cubicBezTo>
                    <a:cubicBezTo>
                      <a:pt x="144779" y="112453"/>
                      <a:pt x="133407" y="123825"/>
                      <a:pt x="119379" y="123825"/>
                    </a:cubicBezTo>
                    <a:cubicBezTo>
                      <a:pt x="105351" y="123825"/>
                      <a:pt x="93979" y="112453"/>
                      <a:pt x="93979" y="98425"/>
                    </a:cubicBezTo>
                    <a:cubicBezTo>
                      <a:pt x="93979" y="84397"/>
                      <a:pt x="105351" y="73025"/>
                      <a:pt x="119379" y="73025"/>
                    </a:cubicBezTo>
                    <a:close/>
                    <a:moveTo>
                      <a:pt x="114848" y="31750"/>
                    </a:moveTo>
                    <a:cubicBezTo>
                      <a:pt x="112259" y="31750"/>
                      <a:pt x="110964" y="33045"/>
                      <a:pt x="109669" y="35634"/>
                    </a:cubicBezTo>
                    <a:cubicBezTo>
                      <a:pt x="109669" y="35634"/>
                      <a:pt x="109669" y="35634"/>
                      <a:pt x="103196" y="48581"/>
                    </a:cubicBezTo>
                    <a:cubicBezTo>
                      <a:pt x="103196" y="51170"/>
                      <a:pt x="101901" y="51170"/>
                      <a:pt x="100607" y="52465"/>
                    </a:cubicBezTo>
                    <a:cubicBezTo>
                      <a:pt x="99312" y="52465"/>
                      <a:pt x="96723" y="52465"/>
                      <a:pt x="95428" y="52465"/>
                    </a:cubicBezTo>
                    <a:cubicBezTo>
                      <a:pt x="95428" y="52465"/>
                      <a:pt x="95428" y="52465"/>
                      <a:pt x="82481" y="47286"/>
                    </a:cubicBezTo>
                    <a:cubicBezTo>
                      <a:pt x="79892" y="45991"/>
                      <a:pt x="77303" y="45991"/>
                      <a:pt x="76008" y="48581"/>
                    </a:cubicBezTo>
                    <a:cubicBezTo>
                      <a:pt x="76008" y="48581"/>
                      <a:pt x="76008" y="48581"/>
                      <a:pt x="69535" y="55054"/>
                    </a:cubicBezTo>
                    <a:cubicBezTo>
                      <a:pt x="68240" y="56349"/>
                      <a:pt x="66946" y="58938"/>
                      <a:pt x="68240" y="60233"/>
                    </a:cubicBezTo>
                    <a:cubicBezTo>
                      <a:pt x="68240" y="60233"/>
                      <a:pt x="68240" y="60233"/>
                      <a:pt x="73419" y="74474"/>
                    </a:cubicBezTo>
                    <a:cubicBezTo>
                      <a:pt x="74713" y="75769"/>
                      <a:pt x="74713" y="77063"/>
                      <a:pt x="73419" y="78358"/>
                    </a:cubicBezTo>
                    <a:cubicBezTo>
                      <a:pt x="73419" y="79652"/>
                      <a:pt x="73419" y="79652"/>
                      <a:pt x="73419" y="79652"/>
                    </a:cubicBezTo>
                    <a:cubicBezTo>
                      <a:pt x="73419" y="80947"/>
                      <a:pt x="72124" y="82242"/>
                      <a:pt x="70829" y="82242"/>
                    </a:cubicBezTo>
                    <a:cubicBezTo>
                      <a:pt x="70829" y="82242"/>
                      <a:pt x="70829" y="82242"/>
                      <a:pt x="56588" y="88715"/>
                    </a:cubicBezTo>
                    <a:cubicBezTo>
                      <a:pt x="53999" y="90010"/>
                      <a:pt x="52704" y="91304"/>
                      <a:pt x="52704" y="93894"/>
                    </a:cubicBezTo>
                    <a:cubicBezTo>
                      <a:pt x="52704" y="93894"/>
                      <a:pt x="52704" y="93894"/>
                      <a:pt x="52704" y="102956"/>
                    </a:cubicBezTo>
                    <a:cubicBezTo>
                      <a:pt x="52704" y="105546"/>
                      <a:pt x="53999" y="106840"/>
                      <a:pt x="56588" y="108135"/>
                    </a:cubicBezTo>
                    <a:cubicBezTo>
                      <a:pt x="56588" y="108135"/>
                      <a:pt x="56588" y="108135"/>
                      <a:pt x="70829" y="113314"/>
                    </a:cubicBezTo>
                    <a:cubicBezTo>
                      <a:pt x="72124" y="114608"/>
                      <a:pt x="73419" y="115903"/>
                      <a:pt x="73419" y="117198"/>
                    </a:cubicBezTo>
                    <a:cubicBezTo>
                      <a:pt x="74713" y="118492"/>
                      <a:pt x="74713" y="121082"/>
                      <a:pt x="73419" y="122376"/>
                    </a:cubicBezTo>
                    <a:cubicBezTo>
                      <a:pt x="73419" y="122376"/>
                      <a:pt x="73419" y="122376"/>
                      <a:pt x="68240" y="135323"/>
                    </a:cubicBezTo>
                    <a:cubicBezTo>
                      <a:pt x="66946" y="137912"/>
                      <a:pt x="68240" y="140502"/>
                      <a:pt x="69535" y="141796"/>
                    </a:cubicBezTo>
                    <a:cubicBezTo>
                      <a:pt x="69535" y="141796"/>
                      <a:pt x="69535" y="141796"/>
                      <a:pt x="76008" y="148269"/>
                    </a:cubicBezTo>
                    <a:cubicBezTo>
                      <a:pt x="77303" y="149564"/>
                      <a:pt x="79892" y="150859"/>
                      <a:pt x="82481" y="149564"/>
                    </a:cubicBezTo>
                    <a:cubicBezTo>
                      <a:pt x="82481" y="149564"/>
                      <a:pt x="82481" y="149564"/>
                      <a:pt x="95428" y="144386"/>
                    </a:cubicBezTo>
                    <a:cubicBezTo>
                      <a:pt x="96723" y="143091"/>
                      <a:pt x="99312" y="143091"/>
                      <a:pt x="100607" y="144386"/>
                    </a:cubicBezTo>
                    <a:cubicBezTo>
                      <a:pt x="101901" y="144386"/>
                      <a:pt x="103196" y="145680"/>
                      <a:pt x="104491" y="146975"/>
                    </a:cubicBezTo>
                    <a:cubicBezTo>
                      <a:pt x="104491" y="146975"/>
                      <a:pt x="104491" y="146975"/>
                      <a:pt x="109669" y="161216"/>
                    </a:cubicBezTo>
                    <a:cubicBezTo>
                      <a:pt x="110964" y="163805"/>
                      <a:pt x="112259" y="165100"/>
                      <a:pt x="114848" y="165100"/>
                    </a:cubicBezTo>
                    <a:cubicBezTo>
                      <a:pt x="114848" y="165100"/>
                      <a:pt x="114848" y="165100"/>
                      <a:pt x="123911" y="165100"/>
                    </a:cubicBezTo>
                    <a:cubicBezTo>
                      <a:pt x="126500" y="165100"/>
                      <a:pt x="129089" y="163805"/>
                      <a:pt x="129089" y="161216"/>
                    </a:cubicBezTo>
                    <a:cubicBezTo>
                      <a:pt x="129089" y="161216"/>
                      <a:pt x="129089" y="161216"/>
                      <a:pt x="135562" y="146975"/>
                    </a:cubicBezTo>
                    <a:cubicBezTo>
                      <a:pt x="135562" y="145680"/>
                      <a:pt x="136857" y="144386"/>
                      <a:pt x="138152" y="144386"/>
                    </a:cubicBezTo>
                    <a:cubicBezTo>
                      <a:pt x="139446" y="143091"/>
                      <a:pt x="142036" y="143091"/>
                      <a:pt x="143330" y="144386"/>
                    </a:cubicBezTo>
                    <a:cubicBezTo>
                      <a:pt x="143330" y="144386"/>
                      <a:pt x="143330" y="144386"/>
                      <a:pt x="157572" y="149564"/>
                    </a:cubicBezTo>
                    <a:cubicBezTo>
                      <a:pt x="158866" y="150859"/>
                      <a:pt x="161456" y="149564"/>
                      <a:pt x="162750" y="148269"/>
                    </a:cubicBezTo>
                    <a:cubicBezTo>
                      <a:pt x="162750" y="148269"/>
                      <a:pt x="162750" y="148269"/>
                      <a:pt x="169224" y="141796"/>
                    </a:cubicBezTo>
                    <a:cubicBezTo>
                      <a:pt x="171813" y="140502"/>
                      <a:pt x="171813" y="137912"/>
                      <a:pt x="170518" y="135323"/>
                    </a:cubicBezTo>
                    <a:cubicBezTo>
                      <a:pt x="170518" y="135323"/>
                      <a:pt x="170518" y="135323"/>
                      <a:pt x="165340" y="121082"/>
                    </a:cubicBezTo>
                    <a:cubicBezTo>
                      <a:pt x="164045" y="119787"/>
                      <a:pt x="164045" y="118492"/>
                      <a:pt x="165340" y="117198"/>
                    </a:cubicBezTo>
                    <a:cubicBezTo>
                      <a:pt x="165340" y="115903"/>
                      <a:pt x="166634" y="114608"/>
                      <a:pt x="167929" y="113314"/>
                    </a:cubicBezTo>
                    <a:cubicBezTo>
                      <a:pt x="167929" y="113314"/>
                      <a:pt x="167929" y="113314"/>
                      <a:pt x="182170" y="108135"/>
                    </a:cubicBezTo>
                    <a:cubicBezTo>
                      <a:pt x="184760" y="106840"/>
                      <a:pt x="186054" y="105546"/>
                      <a:pt x="186054" y="102956"/>
                    </a:cubicBezTo>
                    <a:cubicBezTo>
                      <a:pt x="186054" y="102956"/>
                      <a:pt x="186054" y="102956"/>
                      <a:pt x="186054" y="93894"/>
                    </a:cubicBezTo>
                    <a:cubicBezTo>
                      <a:pt x="186054" y="91304"/>
                      <a:pt x="184760" y="88715"/>
                      <a:pt x="182170" y="88715"/>
                    </a:cubicBezTo>
                    <a:cubicBezTo>
                      <a:pt x="182170" y="88715"/>
                      <a:pt x="182170" y="88715"/>
                      <a:pt x="167929" y="82242"/>
                    </a:cubicBezTo>
                    <a:cubicBezTo>
                      <a:pt x="166634" y="82242"/>
                      <a:pt x="165340" y="80947"/>
                      <a:pt x="165340" y="79652"/>
                    </a:cubicBezTo>
                    <a:cubicBezTo>
                      <a:pt x="164045" y="78358"/>
                      <a:pt x="164045" y="75769"/>
                      <a:pt x="165340" y="74474"/>
                    </a:cubicBezTo>
                    <a:cubicBezTo>
                      <a:pt x="165340" y="74474"/>
                      <a:pt x="165340" y="74474"/>
                      <a:pt x="170518" y="60233"/>
                    </a:cubicBezTo>
                    <a:cubicBezTo>
                      <a:pt x="171813" y="58938"/>
                      <a:pt x="170518" y="56349"/>
                      <a:pt x="169224" y="53759"/>
                    </a:cubicBezTo>
                    <a:cubicBezTo>
                      <a:pt x="169224" y="53759"/>
                      <a:pt x="169224" y="53759"/>
                      <a:pt x="162750" y="48581"/>
                    </a:cubicBezTo>
                    <a:cubicBezTo>
                      <a:pt x="161456" y="45991"/>
                      <a:pt x="158866" y="45991"/>
                      <a:pt x="156277" y="47286"/>
                    </a:cubicBezTo>
                    <a:cubicBezTo>
                      <a:pt x="156277" y="47286"/>
                      <a:pt x="156277" y="47286"/>
                      <a:pt x="143330" y="52465"/>
                    </a:cubicBezTo>
                    <a:cubicBezTo>
                      <a:pt x="142036" y="53759"/>
                      <a:pt x="139446" y="52465"/>
                      <a:pt x="138152" y="52465"/>
                    </a:cubicBezTo>
                    <a:cubicBezTo>
                      <a:pt x="136857" y="52465"/>
                      <a:pt x="135562" y="51170"/>
                      <a:pt x="135562" y="49875"/>
                    </a:cubicBezTo>
                    <a:cubicBezTo>
                      <a:pt x="135562" y="49875"/>
                      <a:pt x="135562" y="49875"/>
                      <a:pt x="129089" y="35634"/>
                    </a:cubicBezTo>
                    <a:cubicBezTo>
                      <a:pt x="127795" y="33045"/>
                      <a:pt x="126500" y="31750"/>
                      <a:pt x="123911" y="31750"/>
                    </a:cubicBezTo>
                    <a:cubicBezTo>
                      <a:pt x="123911" y="31750"/>
                      <a:pt x="123911" y="31750"/>
                      <a:pt x="114848" y="31750"/>
                    </a:cubicBezTo>
                    <a:close/>
                    <a:moveTo>
                      <a:pt x="124149" y="0"/>
                    </a:moveTo>
                    <a:cubicBezTo>
                      <a:pt x="192677" y="0"/>
                      <a:pt x="249569" y="55730"/>
                      <a:pt x="249569" y="125717"/>
                    </a:cubicBezTo>
                    <a:cubicBezTo>
                      <a:pt x="249569" y="136085"/>
                      <a:pt x="252155" y="146453"/>
                      <a:pt x="257327" y="156822"/>
                    </a:cubicBezTo>
                    <a:cubicBezTo>
                      <a:pt x="257327" y="156822"/>
                      <a:pt x="257327" y="156822"/>
                      <a:pt x="280600" y="200887"/>
                    </a:cubicBezTo>
                    <a:cubicBezTo>
                      <a:pt x="284479" y="207368"/>
                      <a:pt x="279307" y="216440"/>
                      <a:pt x="271549" y="217736"/>
                    </a:cubicBezTo>
                    <a:cubicBezTo>
                      <a:pt x="271549" y="217736"/>
                      <a:pt x="271549" y="217736"/>
                      <a:pt x="249569" y="217736"/>
                    </a:cubicBezTo>
                    <a:cubicBezTo>
                      <a:pt x="249569" y="217736"/>
                      <a:pt x="249569" y="217736"/>
                      <a:pt x="249569" y="263098"/>
                    </a:cubicBezTo>
                    <a:cubicBezTo>
                      <a:pt x="249569" y="278650"/>
                      <a:pt x="237932" y="290315"/>
                      <a:pt x="223709" y="290315"/>
                    </a:cubicBezTo>
                    <a:cubicBezTo>
                      <a:pt x="223709" y="290315"/>
                      <a:pt x="223709" y="290315"/>
                      <a:pt x="187505" y="290315"/>
                    </a:cubicBezTo>
                    <a:cubicBezTo>
                      <a:pt x="187505" y="290315"/>
                      <a:pt x="187505" y="290315"/>
                      <a:pt x="187505" y="322716"/>
                    </a:cubicBezTo>
                    <a:cubicBezTo>
                      <a:pt x="187505" y="327900"/>
                      <a:pt x="183626" y="331788"/>
                      <a:pt x="178454" y="331788"/>
                    </a:cubicBezTo>
                    <a:cubicBezTo>
                      <a:pt x="178454" y="331788"/>
                      <a:pt x="178454" y="331788"/>
                      <a:pt x="49155" y="331788"/>
                    </a:cubicBezTo>
                    <a:cubicBezTo>
                      <a:pt x="43983" y="331788"/>
                      <a:pt x="38811" y="327900"/>
                      <a:pt x="38811" y="322716"/>
                    </a:cubicBezTo>
                    <a:cubicBezTo>
                      <a:pt x="38811" y="322716"/>
                      <a:pt x="38811" y="322716"/>
                      <a:pt x="38811" y="289019"/>
                    </a:cubicBezTo>
                    <a:cubicBezTo>
                      <a:pt x="38811" y="251433"/>
                      <a:pt x="31053" y="215144"/>
                      <a:pt x="12952" y="182743"/>
                    </a:cubicBezTo>
                    <a:cubicBezTo>
                      <a:pt x="5194" y="165894"/>
                      <a:pt x="22" y="146453"/>
                      <a:pt x="22" y="127013"/>
                    </a:cubicBezTo>
                    <a:cubicBezTo>
                      <a:pt x="-1271" y="57026"/>
                      <a:pt x="54328" y="0"/>
                      <a:pt x="12414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9" name="组合 8"/>
            <p:cNvGrpSpPr/>
            <p:nvPr/>
          </p:nvGrpSpPr>
          <p:grpSpPr>
            <a:xfrm>
              <a:off x="2438400" y="3056731"/>
              <a:ext cx="1162050" cy="1162050"/>
              <a:chOff x="2838450" y="1838325"/>
              <a:chExt cx="1295400" cy="1295400"/>
            </a:xfrm>
          </p:grpSpPr>
          <p:sp>
            <p:nvSpPr>
              <p:cNvPr id="19" name="椭圆 18"/>
              <p:cNvSpPr/>
              <p:nvPr>
                <p:custDataLst>
                  <p:tags r:id="rId4"/>
                </p:custDataLst>
              </p:nvPr>
            </p:nvSpPr>
            <p:spPr>
              <a:xfrm>
                <a:off x="2838450" y="1838325"/>
                <a:ext cx="1295400" cy="1295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20" name="椭圆 60"/>
              <p:cNvSpPr/>
              <p:nvPr>
                <p:custDataLst>
                  <p:tags r:id="rId5"/>
                </p:custDataLst>
              </p:nvPr>
            </p:nvSpPr>
            <p:spPr>
              <a:xfrm>
                <a:off x="3201118" y="2162175"/>
                <a:ext cx="570064" cy="647700"/>
              </a:xfrm>
              <a:custGeom>
                <a:avLst/>
                <a:gdLst>
                  <a:gd name="connsiteX0" fmla="*/ 112848 w 296210"/>
                  <a:gd name="connsiteY0" fmla="*/ 312737 h 336550"/>
                  <a:gd name="connsiteX1" fmla="*/ 183364 w 296210"/>
                  <a:gd name="connsiteY1" fmla="*/ 312737 h 336550"/>
                  <a:gd name="connsiteX2" fmla="*/ 187281 w 296210"/>
                  <a:gd name="connsiteY2" fmla="*/ 314060 h 336550"/>
                  <a:gd name="connsiteX3" fmla="*/ 188587 w 296210"/>
                  <a:gd name="connsiteY3" fmla="*/ 318029 h 336550"/>
                  <a:gd name="connsiteX4" fmla="*/ 188587 w 296210"/>
                  <a:gd name="connsiteY4" fmla="*/ 331258 h 336550"/>
                  <a:gd name="connsiteX5" fmla="*/ 187281 w 296210"/>
                  <a:gd name="connsiteY5" fmla="*/ 335227 h 336550"/>
                  <a:gd name="connsiteX6" fmla="*/ 183364 w 296210"/>
                  <a:gd name="connsiteY6" fmla="*/ 336550 h 336550"/>
                  <a:gd name="connsiteX7" fmla="*/ 112848 w 296210"/>
                  <a:gd name="connsiteY7" fmla="*/ 336550 h 336550"/>
                  <a:gd name="connsiteX8" fmla="*/ 107624 w 296210"/>
                  <a:gd name="connsiteY8" fmla="*/ 331258 h 336550"/>
                  <a:gd name="connsiteX9" fmla="*/ 107624 w 296210"/>
                  <a:gd name="connsiteY9" fmla="*/ 318029 h 336550"/>
                  <a:gd name="connsiteX10" fmla="*/ 108930 w 296210"/>
                  <a:gd name="connsiteY10" fmla="*/ 314060 h 336550"/>
                  <a:gd name="connsiteX11" fmla="*/ 112848 w 296210"/>
                  <a:gd name="connsiteY11" fmla="*/ 312737 h 336550"/>
                  <a:gd name="connsiteX12" fmla="*/ 112848 w 296210"/>
                  <a:gd name="connsiteY12" fmla="*/ 277812 h 336550"/>
                  <a:gd name="connsiteX13" fmla="*/ 183364 w 296210"/>
                  <a:gd name="connsiteY13" fmla="*/ 277812 h 336550"/>
                  <a:gd name="connsiteX14" fmla="*/ 187281 w 296210"/>
                  <a:gd name="connsiteY14" fmla="*/ 280282 h 336550"/>
                  <a:gd name="connsiteX15" fmla="*/ 188587 w 296210"/>
                  <a:gd name="connsiteY15" fmla="*/ 283986 h 336550"/>
                  <a:gd name="connsiteX16" fmla="*/ 188587 w 296210"/>
                  <a:gd name="connsiteY16" fmla="*/ 295098 h 336550"/>
                  <a:gd name="connsiteX17" fmla="*/ 187281 w 296210"/>
                  <a:gd name="connsiteY17" fmla="*/ 298802 h 336550"/>
                  <a:gd name="connsiteX18" fmla="*/ 183364 w 296210"/>
                  <a:gd name="connsiteY18" fmla="*/ 300037 h 336550"/>
                  <a:gd name="connsiteX19" fmla="*/ 112848 w 296210"/>
                  <a:gd name="connsiteY19" fmla="*/ 300037 h 336550"/>
                  <a:gd name="connsiteX20" fmla="*/ 108930 w 296210"/>
                  <a:gd name="connsiteY20" fmla="*/ 298802 h 336550"/>
                  <a:gd name="connsiteX21" fmla="*/ 107624 w 296210"/>
                  <a:gd name="connsiteY21" fmla="*/ 295098 h 336550"/>
                  <a:gd name="connsiteX22" fmla="*/ 107624 w 296210"/>
                  <a:gd name="connsiteY22" fmla="*/ 283986 h 336550"/>
                  <a:gd name="connsiteX23" fmla="*/ 112848 w 296210"/>
                  <a:gd name="connsiteY23" fmla="*/ 277812 h 336550"/>
                  <a:gd name="connsiteX24" fmla="*/ 255726 w 296210"/>
                  <a:gd name="connsiteY24" fmla="*/ 165100 h 336550"/>
                  <a:gd name="connsiteX25" fmla="*/ 286005 w 296210"/>
                  <a:gd name="connsiteY25" fmla="*/ 170447 h 336550"/>
                  <a:gd name="connsiteX26" fmla="*/ 293903 w 296210"/>
                  <a:gd name="connsiteY26" fmla="*/ 174458 h 336550"/>
                  <a:gd name="connsiteX27" fmla="*/ 295220 w 296210"/>
                  <a:gd name="connsiteY27" fmla="*/ 182479 h 336550"/>
                  <a:gd name="connsiteX28" fmla="*/ 291270 w 296210"/>
                  <a:gd name="connsiteY28" fmla="*/ 189163 h 336550"/>
                  <a:gd name="connsiteX29" fmla="*/ 283372 w 296210"/>
                  <a:gd name="connsiteY29" fmla="*/ 190500 h 336550"/>
                  <a:gd name="connsiteX30" fmla="*/ 253093 w 296210"/>
                  <a:gd name="connsiteY30" fmla="*/ 185153 h 336550"/>
                  <a:gd name="connsiteX31" fmla="*/ 245194 w 296210"/>
                  <a:gd name="connsiteY31" fmla="*/ 181142 h 336550"/>
                  <a:gd name="connsiteX32" fmla="*/ 242561 w 296210"/>
                  <a:gd name="connsiteY32" fmla="*/ 173121 h 336550"/>
                  <a:gd name="connsiteX33" fmla="*/ 247827 w 296210"/>
                  <a:gd name="connsiteY33" fmla="*/ 166437 h 336550"/>
                  <a:gd name="connsiteX34" fmla="*/ 255726 w 296210"/>
                  <a:gd name="connsiteY34" fmla="*/ 165100 h 336550"/>
                  <a:gd name="connsiteX35" fmla="*/ 40484 w 296210"/>
                  <a:gd name="connsiteY35" fmla="*/ 165100 h 336550"/>
                  <a:gd name="connsiteX36" fmla="*/ 49699 w 296210"/>
                  <a:gd name="connsiteY36" fmla="*/ 166437 h 336550"/>
                  <a:gd name="connsiteX37" fmla="*/ 53649 w 296210"/>
                  <a:gd name="connsiteY37" fmla="*/ 173121 h 336550"/>
                  <a:gd name="connsiteX38" fmla="*/ 51016 w 296210"/>
                  <a:gd name="connsiteY38" fmla="*/ 181142 h 336550"/>
                  <a:gd name="connsiteX39" fmla="*/ 43117 w 296210"/>
                  <a:gd name="connsiteY39" fmla="*/ 185153 h 336550"/>
                  <a:gd name="connsiteX40" fmla="*/ 12838 w 296210"/>
                  <a:gd name="connsiteY40" fmla="*/ 190500 h 336550"/>
                  <a:gd name="connsiteX41" fmla="*/ 4940 w 296210"/>
                  <a:gd name="connsiteY41" fmla="*/ 189163 h 336550"/>
                  <a:gd name="connsiteX42" fmla="*/ 990 w 296210"/>
                  <a:gd name="connsiteY42" fmla="*/ 182479 h 336550"/>
                  <a:gd name="connsiteX43" fmla="*/ 2307 w 296210"/>
                  <a:gd name="connsiteY43" fmla="*/ 174458 h 336550"/>
                  <a:gd name="connsiteX44" fmla="*/ 10205 w 296210"/>
                  <a:gd name="connsiteY44" fmla="*/ 170447 h 336550"/>
                  <a:gd name="connsiteX45" fmla="*/ 288721 w 296210"/>
                  <a:gd name="connsiteY45" fmla="*/ 84137 h 336550"/>
                  <a:gd name="connsiteX46" fmla="*/ 295234 w 296210"/>
                  <a:gd name="connsiteY46" fmla="*/ 89217 h 336550"/>
                  <a:gd name="connsiteX47" fmla="*/ 295234 w 296210"/>
                  <a:gd name="connsiteY47" fmla="*/ 96837 h 336550"/>
                  <a:gd name="connsiteX48" fmla="*/ 288721 w 296210"/>
                  <a:gd name="connsiteY48" fmla="*/ 103187 h 336550"/>
                  <a:gd name="connsiteX49" fmla="*/ 261367 w 296210"/>
                  <a:gd name="connsiteY49" fmla="*/ 114617 h 336550"/>
                  <a:gd name="connsiteX50" fmla="*/ 252249 w 296210"/>
                  <a:gd name="connsiteY50" fmla="*/ 115887 h 336550"/>
                  <a:gd name="connsiteX51" fmla="*/ 247039 w 296210"/>
                  <a:gd name="connsiteY51" fmla="*/ 110807 h 336550"/>
                  <a:gd name="connsiteX52" fmla="*/ 247039 w 296210"/>
                  <a:gd name="connsiteY52" fmla="*/ 103187 h 336550"/>
                  <a:gd name="connsiteX53" fmla="*/ 253552 w 296210"/>
                  <a:gd name="connsiteY53" fmla="*/ 96837 h 336550"/>
                  <a:gd name="connsiteX54" fmla="*/ 280905 w 296210"/>
                  <a:gd name="connsiteY54" fmla="*/ 85407 h 336550"/>
                  <a:gd name="connsiteX55" fmla="*/ 288721 w 296210"/>
                  <a:gd name="connsiteY55" fmla="*/ 84137 h 336550"/>
                  <a:gd name="connsiteX56" fmla="*/ 7489 w 296210"/>
                  <a:gd name="connsiteY56" fmla="*/ 84137 h 336550"/>
                  <a:gd name="connsiteX57" fmla="*/ 15305 w 296210"/>
                  <a:gd name="connsiteY57" fmla="*/ 85407 h 336550"/>
                  <a:gd name="connsiteX58" fmla="*/ 43961 w 296210"/>
                  <a:gd name="connsiteY58" fmla="*/ 96837 h 336550"/>
                  <a:gd name="connsiteX59" fmla="*/ 49171 w 296210"/>
                  <a:gd name="connsiteY59" fmla="*/ 103187 h 336550"/>
                  <a:gd name="connsiteX60" fmla="*/ 49171 w 296210"/>
                  <a:gd name="connsiteY60" fmla="*/ 110807 h 336550"/>
                  <a:gd name="connsiteX61" fmla="*/ 43961 w 296210"/>
                  <a:gd name="connsiteY61" fmla="*/ 115887 h 336550"/>
                  <a:gd name="connsiteX62" fmla="*/ 34843 w 296210"/>
                  <a:gd name="connsiteY62" fmla="*/ 114617 h 336550"/>
                  <a:gd name="connsiteX63" fmla="*/ 7489 w 296210"/>
                  <a:gd name="connsiteY63" fmla="*/ 103187 h 336550"/>
                  <a:gd name="connsiteX64" fmla="*/ 976 w 296210"/>
                  <a:gd name="connsiteY64" fmla="*/ 96837 h 336550"/>
                  <a:gd name="connsiteX65" fmla="*/ 976 w 296210"/>
                  <a:gd name="connsiteY65" fmla="*/ 89217 h 336550"/>
                  <a:gd name="connsiteX66" fmla="*/ 7489 w 296210"/>
                  <a:gd name="connsiteY66" fmla="*/ 84137 h 336550"/>
                  <a:gd name="connsiteX67" fmla="*/ 148105 w 296210"/>
                  <a:gd name="connsiteY67" fmla="*/ 68262 h 336550"/>
                  <a:gd name="connsiteX68" fmla="*/ 180961 w 296210"/>
                  <a:gd name="connsiteY68" fmla="*/ 73519 h 336550"/>
                  <a:gd name="connsiteX69" fmla="*/ 205932 w 296210"/>
                  <a:gd name="connsiteY69" fmla="*/ 86660 h 336550"/>
                  <a:gd name="connsiteX70" fmla="*/ 223017 w 296210"/>
                  <a:gd name="connsiteY70" fmla="*/ 109001 h 336550"/>
                  <a:gd name="connsiteX71" fmla="*/ 228274 w 296210"/>
                  <a:gd name="connsiteY71" fmla="*/ 139227 h 336550"/>
                  <a:gd name="connsiteX72" fmla="*/ 228274 w 296210"/>
                  <a:gd name="connsiteY72" fmla="*/ 140541 h 336550"/>
                  <a:gd name="connsiteX73" fmla="*/ 228274 w 296210"/>
                  <a:gd name="connsiteY73" fmla="*/ 141855 h 336550"/>
                  <a:gd name="connsiteX74" fmla="*/ 226960 w 296210"/>
                  <a:gd name="connsiteY74" fmla="*/ 156311 h 336550"/>
                  <a:gd name="connsiteX75" fmla="*/ 216446 w 296210"/>
                  <a:gd name="connsiteY75" fmla="*/ 185222 h 336550"/>
                  <a:gd name="connsiteX76" fmla="*/ 201989 w 296210"/>
                  <a:gd name="connsiteY76" fmla="*/ 216762 h 336550"/>
                  <a:gd name="connsiteX77" fmla="*/ 194104 w 296210"/>
                  <a:gd name="connsiteY77" fmla="*/ 236474 h 336550"/>
                  <a:gd name="connsiteX78" fmla="*/ 190161 w 296210"/>
                  <a:gd name="connsiteY78" fmla="*/ 250930 h 336550"/>
                  <a:gd name="connsiteX79" fmla="*/ 187533 w 296210"/>
                  <a:gd name="connsiteY79" fmla="*/ 261443 h 336550"/>
                  <a:gd name="connsiteX80" fmla="*/ 182276 w 296210"/>
                  <a:gd name="connsiteY80" fmla="*/ 266700 h 336550"/>
                  <a:gd name="connsiteX81" fmla="*/ 113935 w 296210"/>
                  <a:gd name="connsiteY81" fmla="*/ 266700 h 336550"/>
                  <a:gd name="connsiteX82" fmla="*/ 108678 w 296210"/>
                  <a:gd name="connsiteY82" fmla="*/ 261443 h 336550"/>
                  <a:gd name="connsiteX83" fmla="*/ 106049 w 296210"/>
                  <a:gd name="connsiteY83" fmla="*/ 250930 h 336550"/>
                  <a:gd name="connsiteX84" fmla="*/ 102107 w 296210"/>
                  <a:gd name="connsiteY84" fmla="*/ 236474 h 336550"/>
                  <a:gd name="connsiteX85" fmla="*/ 94221 w 296210"/>
                  <a:gd name="connsiteY85" fmla="*/ 216762 h 336550"/>
                  <a:gd name="connsiteX86" fmla="*/ 79764 w 296210"/>
                  <a:gd name="connsiteY86" fmla="*/ 185222 h 336550"/>
                  <a:gd name="connsiteX87" fmla="*/ 69250 w 296210"/>
                  <a:gd name="connsiteY87" fmla="*/ 156311 h 336550"/>
                  <a:gd name="connsiteX88" fmla="*/ 67936 w 296210"/>
                  <a:gd name="connsiteY88" fmla="*/ 149740 h 336550"/>
                  <a:gd name="connsiteX89" fmla="*/ 67936 w 296210"/>
                  <a:gd name="connsiteY89" fmla="*/ 141855 h 336550"/>
                  <a:gd name="connsiteX90" fmla="*/ 67936 w 296210"/>
                  <a:gd name="connsiteY90" fmla="*/ 139227 h 336550"/>
                  <a:gd name="connsiteX91" fmla="*/ 73193 w 296210"/>
                  <a:gd name="connsiteY91" fmla="*/ 109001 h 336550"/>
                  <a:gd name="connsiteX92" fmla="*/ 90278 w 296210"/>
                  <a:gd name="connsiteY92" fmla="*/ 86660 h 336550"/>
                  <a:gd name="connsiteX93" fmla="*/ 115249 w 296210"/>
                  <a:gd name="connsiteY93" fmla="*/ 73519 h 336550"/>
                  <a:gd name="connsiteX94" fmla="*/ 148105 w 296210"/>
                  <a:gd name="connsiteY94" fmla="*/ 68262 h 336550"/>
                  <a:gd name="connsiteX95" fmla="*/ 230737 w 296210"/>
                  <a:gd name="connsiteY95" fmla="*/ 20380 h 336550"/>
                  <a:gd name="connsiteX96" fmla="*/ 238620 w 296210"/>
                  <a:gd name="connsiteY96" fmla="*/ 20380 h 336550"/>
                  <a:gd name="connsiteX97" fmla="*/ 242561 w 296210"/>
                  <a:gd name="connsiteY97" fmla="*/ 27030 h 336550"/>
                  <a:gd name="connsiteX98" fmla="*/ 241247 w 296210"/>
                  <a:gd name="connsiteY98" fmla="*/ 36341 h 336550"/>
                  <a:gd name="connsiteX99" fmla="*/ 224168 w 296210"/>
                  <a:gd name="connsiteY99" fmla="*/ 61613 h 336550"/>
                  <a:gd name="connsiteX100" fmla="*/ 217599 w 296210"/>
                  <a:gd name="connsiteY100" fmla="*/ 66933 h 336550"/>
                  <a:gd name="connsiteX101" fmla="*/ 209716 w 296210"/>
                  <a:gd name="connsiteY101" fmla="*/ 66933 h 336550"/>
                  <a:gd name="connsiteX102" fmla="*/ 204461 w 296210"/>
                  <a:gd name="connsiteY102" fmla="*/ 60282 h 336550"/>
                  <a:gd name="connsiteX103" fmla="*/ 207089 w 296210"/>
                  <a:gd name="connsiteY103" fmla="*/ 50972 h 336550"/>
                  <a:gd name="connsiteX104" fmla="*/ 224168 w 296210"/>
                  <a:gd name="connsiteY104" fmla="*/ 25700 h 336550"/>
                  <a:gd name="connsiteX105" fmla="*/ 230737 w 296210"/>
                  <a:gd name="connsiteY105" fmla="*/ 20380 h 336550"/>
                  <a:gd name="connsiteX106" fmla="*/ 59177 w 296210"/>
                  <a:gd name="connsiteY106" fmla="*/ 20380 h 336550"/>
                  <a:gd name="connsiteX107" fmla="*/ 67060 w 296210"/>
                  <a:gd name="connsiteY107" fmla="*/ 20380 h 336550"/>
                  <a:gd name="connsiteX108" fmla="*/ 73629 w 296210"/>
                  <a:gd name="connsiteY108" fmla="*/ 25700 h 336550"/>
                  <a:gd name="connsiteX109" fmla="*/ 90709 w 296210"/>
                  <a:gd name="connsiteY109" fmla="*/ 50972 h 336550"/>
                  <a:gd name="connsiteX110" fmla="*/ 93336 w 296210"/>
                  <a:gd name="connsiteY110" fmla="*/ 60282 h 336550"/>
                  <a:gd name="connsiteX111" fmla="*/ 88081 w 296210"/>
                  <a:gd name="connsiteY111" fmla="*/ 66933 h 336550"/>
                  <a:gd name="connsiteX112" fmla="*/ 81512 w 296210"/>
                  <a:gd name="connsiteY112" fmla="*/ 66933 h 336550"/>
                  <a:gd name="connsiteX113" fmla="*/ 73629 w 296210"/>
                  <a:gd name="connsiteY113" fmla="*/ 61613 h 336550"/>
                  <a:gd name="connsiteX114" fmla="*/ 57863 w 296210"/>
                  <a:gd name="connsiteY114" fmla="*/ 36341 h 336550"/>
                  <a:gd name="connsiteX115" fmla="*/ 55236 w 296210"/>
                  <a:gd name="connsiteY115" fmla="*/ 27030 h 336550"/>
                  <a:gd name="connsiteX116" fmla="*/ 59177 w 296210"/>
                  <a:gd name="connsiteY116" fmla="*/ 20380 h 336550"/>
                  <a:gd name="connsiteX117" fmla="*/ 148264 w 296210"/>
                  <a:gd name="connsiteY117" fmla="*/ 0 h 336550"/>
                  <a:gd name="connsiteX118" fmla="*/ 155884 w 296210"/>
                  <a:gd name="connsiteY118" fmla="*/ 2633 h 336550"/>
                  <a:gd name="connsiteX119" fmla="*/ 158424 w 296210"/>
                  <a:gd name="connsiteY119" fmla="*/ 11848 h 336550"/>
                  <a:gd name="connsiteX120" fmla="*/ 158424 w 296210"/>
                  <a:gd name="connsiteY120" fmla="*/ 42127 h 336550"/>
                  <a:gd name="connsiteX121" fmla="*/ 155884 w 296210"/>
                  <a:gd name="connsiteY121" fmla="*/ 50026 h 336550"/>
                  <a:gd name="connsiteX122" fmla="*/ 148264 w 296210"/>
                  <a:gd name="connsiteY122" fmla="*/ 53975 h 336550"/>
                  <a:gd name="connsiteX123" fmla="*/ 141914 w 296210"/>
                  <a:gd name="connsiteY123" fmla="*/ 50026 h 336550"/>
                  <a:gd name="connsiteX124" fmla="*/ 139374 w 296210"/>
                  <a:gd name="connsiteY124" fmla="*/ 42127 h 336550"/>
                  <a:gd name="connsiteX125" fmla="*/ 139374 w 296210"/>
                  <a:gd name="connsiteY125" fmla="*/ 11848 h 336550"/>
                  <a:gd name="connsiteX126" fmla="*/ 141914 w 296210"/>
                  <a:gd name="connsiteY126" fmla="*/ 2633 h 336550"/>
                  <a:gd name="connsiteX127" fmla="*/ 148264 w 296210"/>
                  <a:gd name="connsiteY127"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96210" h="336550">
                    <a:moveTo>
                      <a:pt x="112848" y="312737"/>
                    </a:moveTo>
                    <a:lnTo>
                      <a:pt x="183364" y="312737"/>
                    </a:lnTo>
                    <a:cubicBezTo>
                      <a:pt x="184670" y="312737"/>
                      <a:pt x="185976" y="314060"/>
                      <a:pt x="187281" y="314060"/>
                    </a:cubicBezTo>
                    <a:cubicBezTo>
                      <a:pt x="188587" y="315383"/>
                      <a:pt x="188587" y="316706"/>
                      <a:pt x="188587" y="318029"/>
                    </a:cubicBezTo>
                    <a:cubicBezTo>
                      <a:pt x="188587" y="331258"/>
                      <a:pt x="188587" y="331258"/>
                      <a:pt x="188587" y="331258"/>
                    </a:cubicBezTo>
                    <a:cubicBezTo>
                      <a:pt x="188587" y="332581"/>
                      <a:pt x="188587" y="333904"/>
                      <a:pt x="187281" y="335227"/>
                    </a:cubicBezTo>
                    <a:cubicBezTo>
                      <a:pt x="185976" y="336550"/>
                      <a:pt x="184670" y="336550"/>
                      <a:pt x="183364" y="336550"/>
                    </a:cubicBezTo>
                    <a:cubicBezTo>
                      <a:pt x="112848" y="336550"/>
                      <a:pt x="112848" y="336550"/>
                      <a:pt x="112848" y="336550"/>
                    </a:cubicBezTo>
                    <a:cubicBezTo>
                      <a:pt x="108930" y="336550"/>
                      <a:pt x="107624" y="335227"/>
                      <a:pt x="107624" y="331258"/>
                    </a:cubicBezTo>
                    <a:cubicBezTo>
                      <a:pt x="107624" y="318029"/>
                      <a:pt x="107624" y="318029"/>
                      <a:pt x="107624" y="318029"/>
                    </a:cubicBezTo>
                    <a:cubicBezTo>
                      <a:pt x="107624" y="316706"/>
                      <a:pt x="107624" y="315383"/>
                      <a:pt x="108930" y="314060"/>
                    </a:cubicBezTo>
                    <a:cubicBezTo>
                      <a:pt x="110236" y="314060"/>
                      <a:pt x="111542" y="312737"/>
                      <a:pt x="112848" y="312737"/>
                    </a:cubicBezTo>
                    <a:close/>
                    <a:moveTo>
                      <a:pt x="112848" y="277812"/>
                    </a:moveTo>
                    <a:lnTo>
                      <a:pt x="183364" y="277812"/>
                    </a:lnTo>
                    <a:cubicBezTo>
                      <a:pt x="184670" y="277812"/>
                      <a:pt x="185976" y="279047"/>
                      <a:pt x="187281" y="280282"/>
                    </a:cubicBezTo>
                    <a:cubicBezTo>
                      <a:pt x="188587" y="281516"/>
                      <a:pt x="188587" y="282751"/>
                      <a:pt x="188587" y="283986"/>
                    </a:cubicBezTo>
                    <a:cubicBezTo>
                      <a:pt x="188587" y="295098"/>
                      <a:pt x="188587" y="295098"/>
                      <a:pt x="188587" y="295098"/>
                    </a:cubicBezTo>
                    <a:cubicBezTo>
                      <a:pt x="188587" y="296333"/>
                      <a:pt x="188587" y="297568"/>
                      <a:pt x="187281" y="298802"/>
                    </a:cubicBezTo>
                    <a:cubicBezTo>
                      <a:pt x="185976" y="300037"/>
                      <a:pt x="184670" y="300037"/>
                      <a:pt x="183364" y="300037"/>
                    </a:cubicBezTo>
                    <a:cubicBezTo>
                      <a:pt x="112848" y="300037"/>
                      <a:pt x="112848" y="300037"/>
                      <a:pt x="112848" y="300037"/>
                    </a:cubicBezTo>
                    <a:cubicBezTo>
                      <a:pt x="111542" y="300037"/>
                      <a:pt x="110236" y="300037"/>
                      <a:pt x="108930" y="298802"/>
                    </a:cubicBezTo>
                    <a:cubicBezTo>
                      <a:pt x="107624" y="297568"/>
                      <a:pt x="107624" y="296333"/>
                      <a:pt x="107624" y="295098"/>
                    </a:cubicBezTo>
                    <a:cubicBezTo>
                      <a:pt x="107624" y="283986"/>
                      <a:pt x="107624" y="283986"/>
                      <a:pt x="107624" y="283986"/>
                    </a:cubicBezTo>
                    <a:cubicBezTo>
                      <a:pt x="107624" y="280282"/>
                      <a:pt x="108930" y="277812"/>
                      <a:pt x="112848" y="277812"/>
                    </a:cubicBezTo>
                    <a:close/>
                    <a:moveTo>
                      <a:pt x="255726" y="165100"/>
                    </a:moveTo>
                    <a:lnTo>
                      <a:pt x="286005" y="170447"/>
                    </a:lnTo>
                    <a:cubicBezTo>
                      <a:pt x="288637" y="170447"/>
                      <a:pt x="291270" y="171784"/>
                      <a:pt x="293903" y="174458"/>
                    </a:cubicBezTo>
                    <a:cubicBezTo>
                      <a:pt x="295220" y="177132"/>
                      <a:pt x="296536" y="179805"/>
                      <a:pt x="295220" y="182479"/>
                    </a:cubicBezTo>
                    <a:cubicBezTo>
                      <a:pt x="295220" y="185153"/>
                      <a:pt x="293903" y="186490"/>
                      <a:pt x="291270" y="189163"/>
                    </a:cubicBezTo>
                    <a:cubicBezTo>
                      <a:pt x="288637" y="190500"/>
                      <a:pt x="286005" y="190500"/>
                      <a:pt x="283372" y="190500"/>
                    </a:cubicBezTo>
                    <a:cubicBezTo>
                      <a:pt x="283372" y="190500"/>
                      <a:pt x="283372" y="190500"/>
                      <a:pt x="253093" y="185153"/>
                    </a:cubicBezTo>
                    <a:cubicBezTo>
                      <a:pt x="249144" y="185153"/>
                      <a:pt x="246511" y="183816"/>
                      <a:pt x="245194" y="181142"/>
                    </a:cubicBezTo>
                    <a:cubicBezTo>
                      <a:pt x="242561" y="178468"/>
                      <a:pt x="242561" y="175795"/>
                      <a:pt x="242561" y="173121"/>
                    </a:cubicBezTo>
                    <a:cubicBezTo>
                      <a:pt x="243878" y="170447"/>
                      <a:pt x="245194" y="169111"/>
                      <a:pt x="247827" y="166437"/>
                    </a:cubicBezTo>
                    <a:cubicBezTo>
                      <a:pt x="249144" y="165100"/>
                      <a:pt x="253093" y="165100"/>
                      <a:pt x="255726" y="165100"/>
                    </a:cubicBezTo>
                    <a:close/>
                    <a:moveTo>
                      <a:pt x="40484" y="165100"/>
                    </a:moveTo>
                    <a:cubicBezTo>
                      <a:pt x="43117" y="165100"/>
                      <a:pt x="47066" y="165100"/>
                      <a:pt x="49699" y="166437"/>
                    </a:cubicBezTo>
                    <a:cubicBezTo>
                      <a:pt x="51016" y="169111"/>
                      <a:pt x="53649" y="170447"/>
                      <a:pt x="53649" y="173121"/>
                    </a:cubicBezTo>
                    <a:cubicBezTo>
                      <a:pt x="53649" y="175795"/>
                      <a:pt x="53649" y="178468"/>
                      <a:pt x="51016" y="181142"/>
                    </a:cubicBezTo>
                    <a:cubicBezTo>
                      <a:pt x="49699" y="183816"/>
                      <a:pt x="47066" y="185153"/>
                      <a:pt x="43117" y="185153"/>
                    </a:cubicBezTo>
                    <a:cubicBezTo>
                      <a:pt x="12838" y="190500"/>
                      <a:pt x="12838" y="190500"/>
                      <a:pt x="12838" y="190500"/>
                    </a:cubicBezTo>
                    <a:cubicBezTo>
                      <a:pt x="10205" y="190500"/>
                      <a:pt x="7573" y="190500"/>
                      <a:pt x="4940" y="189163"/>
                    </a:cubicBezTo>
                    <a:cubicBezTo>
                      <a:pt x="2307" y="186490"/>
                      <a:pt x="990" y="185153"/>
                      <a:pt x="990" y="182479"/>
                    </a:cubicBezTo>
                    <a:cubicBezTo>
                      <a:pt x="-326" y="179805"/>
                      <a:pt x="990" y="177132"/>
                      <a:pt x="2307" y="174458"/>
                    </a:cubicBezTo>
                    <a:cubicBezTo>
                      <a:pt x="4940" y="171784"/>
                      <a:pt x="7573" y="170447"/>
                      <a:pt x="10205" y="170447"/>
                    </a:cubicBezTo>
                    <a:close/>
                    <a:moveTo>
                      <a:pt x="288721" y="84137"/>
                    </a:moveTo>
                    <a:cubicBezTo>
                      <a:pt x="291326" y="85407"/>
                      <a:pt x="293931" y="86677"/>
                      <a:pt x="295234" y="89217"/>
                    </a:cubicBezTo>
                    <a:cubicBezTo>
                      <a:pt x="296536" y="91757"/>
                      <a:pt x="296536" y="94297"/>
                      <a:pt x="295234" y="96837"/>
                    </a:cubicBezTo>
                    <a:cubicBezTo>
                      <a:pt x="293931" y="99377"/>
                      <a:pt x="291326" y="101917"/>
                      <a:pt x="288721" y="103187"/>
                    </a:cubicBezTo>
                    <a:cubicBezTo>
                      <a:pt x="288721" y="103187"/>
                      <a:pt x="288721" y="103187"/>
                      <a:pt x="261367" y="114617"/>
                    </a:cubicBezTo>
                    <a:cubicBezTo>
                      <a:pt x="258762" y="115887"/>
                      <a:pt x="254854" y="115887"/>
                      <a:pt x="252249" y="115887"/>
                    </a:cubicBezTo>
                    <a:cubicBezTo>
                      <a:pt x="249644" y="114617"/>
                      <a:pt x="248341" y="113347"/>
                      <a:pt x="247039" y="110807"/>
                    </a:cubicBezTo>
                    <a:cubicBezTo>
                      <a:pt x="245736" y="108267"/>
                      <a:pt x="245736" y="105727"/>
                      <a:pt x="247039" y="103187"/>
                    </a:cubicBezTo>
                    <a:cubicBezTo>
                      <a:pt x="248341" y="100647"/>
                      <a:pt x="250947" y="98107"/>
                      <a:pt x="253552" y="96837"/>
                    </a:cubicBezTo>
                    <a:lnTo>
                      <a:pt x="280905" y="85407"/>
                    </a:lnTo>
                    <a:cubicBezTo>
                      <a:pt x="283511" y="84137"/>
                      <a:pt x="286116" y="84137"/>
                      <a:pt x="288721" y="84137"/>
                    </a:cubicBezTo>
                    <a:close/>
                    <a:moveTo>
                      <a:pt x="7489" y="84137"/>
                    </a:moveTo>
                    <a:cubicBezTo>
                      <a:pt x="10094" y="84137"/>
                      <a:pt x="12699" y="84137"/>
                      <a:pt x="15305" y="85407"/>
                    </a:cubicBezTo>
                    <a:lnTo>
                      <a:pt x="43961" y="96837"/>
                    </a:lnTo>
                    <a:cubicBezTo>
                      <a:pt x="46566" y="98107"/>
                      <a:pt x="47869" y="100647"/>
                      <a:pt x="49171" y="103187"/>
                    </a:cubicBezTo>
                    <a:cubicBezTo>
                      <a:pt x="50474" y="105727"/>
                      <a:pt x="50474" y="108267"/>
                      <a:pt x="49171" y="110807"/>
                    </a:cubicBezTo>
                    <a:cubicBezTo>
                      <a:pt x="49171" y="113347"/>
                      <a:pt x="46566" y="114617"/>
                      <a:pt x="43961" y="115887"/>
                    </a:cubicBezTo>
                    <a:cubicBezTo>
                      <a:pt x="41356" y="115887"/>
                      <a:pt x="37448" y="115887"/>
                      <a:pt x="34843" y="114617"/>
                    </a:cubicBezTo>
                    <a:cubicBezTo>
                      <a:pt x="7489" y="103187"/>
                      <a:pt x="7489" y="103187"/>
                      <a:pt x="7489" y="103187"/>
                    </a:cubicBezTo>
                    <a:cubicBezTo>
                      <a:pt x="4884" y="101917"/>
                      <a:pt x="2279" y="99377"/>
                      <a:pt x="976" y="96837"/>
                    </a:cubicBezTo>
                    <a:cubicBezTo>
                      <a:pt x="-326" y="94297"/>
                      <a:pt x="-326" y="91757"/>
                      <a:pt x="976" y="89217"/>
                    </a:cubicBezTo>
                    <a:cubicBezTo>
                      <a:pt x="2279" y="86677"/>
                      <a:pt x="4884" y="85407"/>
                      <a:pt x="7489" y="84137"/>
                    </a:cubicBezTo>
                    <a:close/>
                    <a:moveTo>
                      <a:pt x="148105" y="68262"/>
                    </a:moveTo>
                    <a:cubicBezTo>
                      <a:pt x="159933" y="68262"/>
                      <a:pt x="170447" y="69576"/>
                      <a:pt x="180961" y="73519"/>
                    </a:cubicBezTo>
                    <a:cubicBezTo>
                      <a:pt x="190161" y="76147"/>
                      <a:pt x="198047" y="80089"/>
                      <a:pt x="205932" y="86660"/>
                    </a:cubicBezTo>
                    <a:cubicBezTo>
                      <a:pt x="212503" y="93231"/>
                      <a:pt x="219075" y="99802"/>
                      <a:pt x="223017" y="109001"/>
                    </a:cubicBezTo>
                    <a:cubicBezTo>
                      <a:pt x="226960" y="116886"/>
                      <a:pt x="228274" y="127399"/>
                      <a:pt x="228274" y="139227"/>
                    </a:cubicBezTo>
                    <a:cubicBezTo>
                      <a:pt x="228274" y="139227"/>
                      <a:pt x="228274" y="140541"/>
                      <a:pt x="228274" y="140541"/>
                    </a:cubicBezTo>
                    <a:cubicBezTo>
                      <a:pt x="228274" y="140541"/>
                      <a:pt x="228274" y="140541"/>
                      <a:pt x="228274" y="141855"/>
                    </a:cubicBezTo>
                    <a:cubicBezTo>
                      <a:pt x="228274" y="147112"/>
                      <a:pt x="228274" y="151054"/>
                      <a:pt x="226960" y="156311"/>
                    </a:cubicBezTo>
                    <a:cubicBezTo>
                      <a:pt x="224332" y="165510"/>
                      <a:pt x="221703" y="174709"/>
                      <a:pt x="216446" y="185222"/>
                    </a:cubicBezTo>
                    <a:cubicBezTo>
                      <a:pt x="212503" y="194421"/>
                      <a:pt x="207246" y="204935"/>
                      <a:pt x="201989" y="216762"/>
                    </a:cubicBezTo>
                    <a:cubicBezTo>
                      <a:pt x="198047" y="223333"/>
                      <a:pt x="195418" y="229904"/>
                      <a:pt x="194104" y="236474"/>
                    </a:cubicBezTo>
                    <a:cubicBezTo>
                      <a:pt x="192790" y="241731"/>
                      <a:pt x="191475" y="246988"/>
                      <a:pt x="190161" y="250930"/>
                    </a:cubicBezTo>
                    <a:cubicBezTo>
                      <a:pt x="190161" y="256187"/>
                      <a:pt x="188847" y="258815"/>
                      <a:pt x="187533" y="261443"/>
                    </a:cubicBezTo>
                    <a:cubicBezTo>
                      <a:pt x="186218" y="264072"/>
                      <a:pt x="184904" y="265386"/>
                      <a:pt x="182276" y="266700"/>
                    </a:cubicBezTo>
                    <a:cubicBezTo>
                      <a:pt x="113935" y="266700"/>
                      <a:pt x="113935" y="266700"/>
                      <a:pt x="113935" y="266700"/>
                    </a:cubicBezTo>
                    <a:cubicBezTo>
                      <a:pt x="111306" y="265386"/>
                      <a:pt x="108678" y="264072"/>
                      <a:pt x="108678" y="261443"/>
                    </a:cubicBezTo>
                    <a:cubicBezTo>
                      <a:pt x="107364" y="258815"/>
                      <a:pt x="106049" y="256187"/>
                      <a:pt x="106049" y="250930"/>
                    </a:cubicBezTo>
                    <a:cubicBezTo>
                      <a:pt x="104735" y="246988"/>
                      <a:pt x="103421" y="241731"/>
                      <a:pt x="102107" y="236474"/>
                    </a:cubicBezTo>
                    <a:cubicBezTo>
                      <a:pt x="100792" y="229904"/>
                      <a:pt x="98164" y="223333"/>
                      <a:pt x="94221" y="216762"/>
                    </a:cubicBezTo>
                    <a:cubicBezTo>
                      <a:pt x="88964" y="204935"/>
                      <a:pt x="83707" y="194421"/>
                      <a:pt x="79764" y="185222"/>
                    </a:cubicBezTo>
                    <a:cubicBezTo>
                      <a:pt x="74507" y="174709"/>
                      <a:pt x="71879" y="165510"/>
                      <a:pt x="69250" y="156311"/>
                    </a:cubicBezTo>
                    <a:cubicBezTo>
                      <a:pt x="69250" y="154997"/>
                      <a:pt x="69250" y="152368"/>
                      <a:pt x="67936" y="149740"/>
                    </a:cubicBezTo>
                    <a:cubicBezTo>
                      <a:pt x="67936" y="141855"/>
                      <a:pt x="67936" y="141855"/>
                      <a:pt x="67936" y="141855"/>
                    </a:cubicBezTo>
                    <a:cubicBezTo>
                      <a:pt x="67936" y="139227"/>
                      <a:pt x="67936" y="139227"/>
                      <a:pt x="67936" y="139227"/>
                    </a:cubicBezTo>
                    <a:cubicBezTo>
                      <a:pt x="67936" y="127399"/>
                      <a:pt x="69250" y="116886"/>
                      <a:pt x="73193" y="109001"/>
                    </a:cubicBezTo>
                    <a:cubicBezTo>
                      <a:pt x="78450" y="99802"/>
                      <a:pt x="83707" y="93231"/>
                      <a:pt x="90278" y="86660"/>
                    </a:cubicBezTo>
                    <a:cubicBezTo>
                      <a:pt x="98164" y="80089"/>
                      <a:pt x="106049" y="76147"/>
                      <a:pt x="115249" y="73519"/>
                    </a:cubicBezTo>
                    <a:cubicBezTo>
                      <a:pt x="125763" y="69576"/>
                      <a:pt x="136277" y="68262"/>
                      <a:pt x="148105" y="68262"/>
                    </a:cubicBezTo>
                    <a:close/>
                    <a:moveTo>
                      <a:pt x="230737" y="20380"/>
                    </a:moveTo>
                    <a:cubicBezTo>
                      <a:pt x="233365" y="19050"/>
                      <a:pt x="235992" y="19050"/>
                      <a:pt x="238620" y="20380"/>
                    </a:cubicBezTo>
                    <a:cubicBezTo>
                      <a:pt x="241247" y="23040"/>
                      <a:pt x="242561" y="24370"/>
                      <a:pt x="242561" y="27030"/>
                    </a:cubicBezTo>
                    <a:cubicBezTo>
                      <a:pt x="242561" y="31021"/>
                      <a:pt x="242561" y="33681"/>
                      <a:pt x="241247" y="36341"/>
                    </a:cubicBezTo>
                    <a:cubicBezTo>
                      <a:pt x="241247" y="36341"/>
                      <a:pt x="241247" y="36341"/>
                      <a:pt x="224168" y="61613"/>
                    </a:cubicBezTo>
                    <a:cubicBezTo>
                      <a:pt x="221541" y="64273"/>
                      <a:pt x="220227" y="66933"/>
                      <a:pt x="217599" y="66933"/>
                    </a:cubicBezTo>
                    <a:cubicBezTo>
                      <a:pt x="213658" y="68263"/>
                      <a:pt x="211030" y="68263"/>
                      <a:pt x="209716" y="66933"/>
                    </a:cubicBezTo>
                    <a:cubicBezTo>
                      <a:pt x="207089" y="64273"/>
                      <a:pt x="205775" y="62943"/>
                      <a:pt x="204461" y="60282"/>
                    </a:cubicBezTo>
                    <a:cubicBezTo>
                      <a:pt x="204461" y="56292"/>
                      <a:pt x="205775" y="53632"/>
                      <a:pt x="207089" y="50972"/>
                    </a:cubicBezTo>
                    <a:lnTo>
                      <a:pt x="224168" y="25700"/>
                    </a:lnTo>
                    <a:cubicBezTo>
                      <a:pt x="225482" y="23040"/>
                      <a:pt x="228110" y="20380"/>
                      <a:pt x="230737" y="20380"/>
                    </a:cubicBezTo>
                    <a:close/>
                    <a:moveTo>
                      <a:pt x="59177" y="20380"/>
                    </a:moveTo>
                    <a:cubicBezTo>
                      <a:pt x="61805" y="19050"/>
                      <a:pt x="64432" y="19050"/>
                      <a:pt x="67060" y="20380"/>
                    </a:cubicBezTo>
                    <a:cubicBezTo>
                      <a:pt x="69688" y="20380"/>
                      <a:pt x="72316" y="23040"/>
                      <a:pt x="73629" y="25700"/>
                    </a:cubicBezTo>
                    <a:lnTo>
                      <a:pt x="90709" y="50972"/>
                    </a:lnTo>
                    <a:cubicBezTo>
                      <a:pt x="92022" y="53632"/>
                      <a:pt x="93336" y="56292"/>
                      <a:pt x="93336" y="60282"/>
                    </a:cubicBezTo>
                    <a:cubicBezTo>
                      <a:pt x="92022" y="62943"/>
                      <a:pt x="90709" y="64273"/>
                      <a:pt x="88081" y="66933"/>
                    </a:cubicBezTo>
                    <a:cubicBezTo>
                      <a:pt x="86767" y="68263"/>
                      <a:pt x="84140" y="68263"/>
                      <a:pt x="81512" y="66933"/>
                    </a:cubicBezTo>
                    <a:cubicBezTo>
                      <a:pt x="77571" y="66933"/>
                      <a:pt x="76257" y="64273"/>
                      <a:pt x="73629" y="61613"/>
                    </a:cubicBezTo>
                    <a:cubicBezTo>
                      <a:pt x="57863" y="36341"/>
                      <a:pt x="57863" y="36341"/>
                      <a:pt x="57863" y="36341"/>
                    </a:cubicBezTo>
                    <a:cubicBezTo>
                      <a:pt x="55236" y="33681"/>
                      <a:pt x="55236" y="31021"/>
                      <a:pt x="55236" y="27030"/>
                    </a:cubicBezTo>
                    <a:cubicBezTo>
                      <a:pt x="55236" y="24370"/>
                      <a:pt x="57863" y="23040"/>
                      <a:pt x="59177" y="20380"/>
                    </a:cubicBezTo>
                    <a:close/>
                    <a:moveTo>
                      <a:pt x="148264" y="0"/>
                    </a:moveTo>
                    <a:cubicBezTo>
                      <a:pt x="150804" y="0"/>
                      <a:pt x="153344" y="1316"/>
                      <a:pt x="155884" y="2633"/>
                    </a:cubicBezTo>
                    <a:cubicBezTo>
                      <a:pt x="157154" y="5266"/>
                      <a:pt x="158424" y="7899"/>
                      <a:pt x="158424" y="11848"/>
                    </a:cubicBezTo>
                    <a:lnTo>
                      <a:pt x="158424" y="42127"/>
                    </a:lnTo>
                    <a:cubicBezTo>
                      <a:pt x="158424" y="44760"/>
                      <a:pt x="157154" y="48709"/>
                      <a:pt x="155884" y="50026"/>
                    </a:cubicBezTo>
                    <a:cubicBezTo>
                      <a:pt x="153344" y="52658"/>
                      <a:pt x="150804" y="53975"/>
                      <a:pt x="148264" y="53975"/>
                    </a:cubicBezTo>
                    <a:cubicBezTo>
                      <a:pt x="145724" y="53975"/>
                      <a:pt x="144454" y="52658"/>
                      <a:pt x="141914" y="50026"/>
                    </a:cubicBezTo>
                    <a:cubicBezTo>
                      <a:pt x="140644" y="48709"/>
                      <a:pt x="139374" y="44760"/>
                      <a:pt x="139374" y="42127"/>
                    </a:cubicBezTo>
                    <a:cubicBezTo>
                      <a:pt x="139374" y="11848"/>
                      <a:pt x="139374" y="11848"/>
                      <a:pt x="139374" y="11848"/>
                    </a:cubicBezTo>
                    <a:cubicBezTo>
                      <a:pt x="139374" y="7899"/>
                      <a:pt x="140644" y="5266"/>
                      <a:pt x="141914" y="2633"/>
                    </a:cubicBezTo>
                    <a:cubicBezTo>
                      <a:pt x="144454" y="1316"/>
                      <a:pt x="145724" y="0"/>
                      <a:pt x="14826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0" name="组合 9"/>
            <p:cNvGrpSpPr/>
            <p:nvPr/>
          </p:nvGrpSpPr>
          <p:grpSpPr>
            <a:xfrm>
              <a:off x="4514850" y="4503738"/>
              <a:ext cx="1162050" cy="1162050"/>
              <a:chOff x="2838450" y="1838325"/>
              <a:chExt cx="1295400" cy="1295400"/>
            </a:xfrm>
          </p:grpSpPr>
          <p:sp>
            <p:nvSpPr>
              <p:cNvPr id="17" name="椭圆 16"/>
              <p:cNvSpPr/>
              <p:nvPr>
                <p:custDataLst>
                  <p:tags r:id="rId6"/>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8" name="椭圆 74"/>
              <p:cNvSpPr/>
              <p:nvPr>
                <p:custDataLst>
                  <p:tags r:id="rId7"/>
                </p:custDataLst>
              </p:nvPr>
            </p:nvSpPr>
            <p:spPr>
              <a:xfrm>
                <a:off x="3162300" y="2265993"/>
                <a:ext cx="647700" cy="440063"/>
              </a:xfrm>
              <a:custGeom>
                <a:avLst/>
                <a:gdLst>
                  <a:gd name="connsiteX0" fmla="*/ 131671 w 331788"/>
                  <a:gd name="connsiteY0" fmla="*/ 111125 h 225425"/>
                  <a:gd name="connsiteX1" fmla="*/ 131671 w 331788"/>
                  <a:gd name="connsiteY1" fmla="*/ 116299 h 225425"/>
                  <a:gd name="connsiteX2" fmla="*/ 125095 w 331788"/>
                  <a:gd name="connsiteY2" fmla="*/ 118886 h 225425"/>
                  <a:gd name="connsiteX3" fmla="*/ 119833 w 331788"/>
                  <a:gd name="connsiteY3" fmla="*/ 122767 h 225425"/>
                  <a:gd name="connsiteX4" fmla="*/ 117202 w 331788"/>
                  <a:gd name="connsiteY4" fmla="*/ 126647 h 225425"/>
                  <a:gd name="connsiteX5" fmla="*/ 115887 w 331788"/>
                  <a:gd name="connsiteY5" fmla="*/ 133115 h 225425"/>
                  <a:gd name="connsiteX6" fmla="*/ 115887 w 331788"/>
                  <a:gd name="connsiteY6" fmla="*/ 138289 h 225425"/>
                  <a:gd name="connsiteX7" fmla="*/ 119833 w 331788"/>
                  <a:gd name="connsiteY7" fmla="*/ 143463 h 225425"/>
                  <a:gd name="connsiteX8" fmla="*/ 126410 w 331788"/>
                  <a:gd name="connsiteY8" fmla="*/ 148637 h 225425"/>
                  <a:gd name="connsiteX9" fmla="*/ 138248 w 331788"/>
                  <a:gd name="connsiteY9" fmla="*/ 152518 h 225425"/>
                  <a:gd name="connsiteX10" fmla="*/ 142194 w 331788"/>
                  <a:gd name="connsiteY10" fmla="*/ 152518 h 225425"/>
                  <a:gd name="connsiteX11" fmla="*/ 146141 w 331788"/>
                  <a:gd name="connsiteY11" fmla="*/ 153811 h 225425"/>
                  <a:gd name="connsiteX12" fmla="*/ 148771 w 331788"/>
                  <a:gd name="connsiteY12" fmla="*/ 156398 h 225425"/>
                  <a:gd name="connsiteX13" fmla="*/ 150087 w 331788"/>
                  <a:gd name="connsiteY13" fmla="*/ 158985 h 225425"/>
                  <a:gd name="connsiteX14" fmla="*/ 147456 w 331788"/>
                  <a:gd name="connsiteY14" fmla="*/ 162866 h 225425"/>
                  <a:gd name="connsiteX15" fmla="*/ 142194 w 331788"/>
                  <a:gd name="connsiteY15" fmla="*/ 164159 h 225425"/>
                  <a:gd name="connsiteX16" fmla="*/ 138248 w 331788"/>
                  <a:gd name="connsiteY16" fmla="*/ 164159 h 225425"/>
                  <a:gd name="connsiteX17" fmla="*/ 134302 w 331788"/>
                  <a:gd name="connsiteY17" fmla="*/ 162866 h 225425"/>
                  <a:gd name="connsiteX18" fmla="*/ 131671 w 331788"/>
                  <a:gd name="connsiteY18" fmla="*/ 160279 h 225425"/>
                  <a:gd name="connsiteX19" fmla="*/ 127725 w 331788"/>
                  <a:gd name="connsiteY19" fmla="*/ 157692 h 225425"/>
                  <a:gd name="connsiteX20" fmla="*/ 115887 w 331788"/>
                  <a:gd name="connsiteY20" fmla="*/ 157692 h 225425"/>
                  <a:gd name="connsiteX21" fmla="*/ 115887 w 331788"/>
                  <a:gd name="connsiteY21" fmla="*/ 175801 h 225425"/>
                  <a:gd name="connsiteX22" fmla="*/ 127725 w 331788"/>
                  <a:gd name="connsiteY22" fmla="*/ 175801 h 225425"/>
                  <a:gd name="connsiteX23" fmla="*/ 127725 w 331788"/>
                  <a:gd name="connsiteY23" fmla="*/ 173214 h 225425"/>
                  <a:gd name="connsiteX24" fmla="*/ 130356 w 331788"/>
                  <a:gd name="connsiteY24" fmla="*/ 173214 h 225425"/>
                  <a:gd name="connsiteX25" fmla="*/ 131671 w 331788"/>
                  <a:gd name="connsiteY25" fmla="*/ 174507 h 225425"/>
                  <a:gd name="connsiteX26" fmla="*/ 131671 w 331788"/>
                  <a:gd name="connsiteY26" fmla="*/ 180975 h 225425"/>
                  <a:gd name="connsiteX27" fmla="*/ 143510 w 331788"/>
                  <a:gd name="connsiteY27" fmla="*/ 180975 h 225425"/>
                  <a:gd name="connsiteX28" fmla="*/ 143510 w 331788"/>
                  <a:gd name="connsiteY28" fmla="*/ 175801 h 225425"/>
                  <a:gd name="connsiteX29" fmla="*/ 151402 w 331788"/>
                  <a:gd name="connsiteY29" fmla="*/ 174507 h 225425"/>
                  <a:gd name="connsiteX30" fmla="*/ 156664 w 331788"/>
                  <a:gd name="connsiteY30" fmla="*/ 170627 h 225425"/>
                  <a:gd name="connsiteX31" fmla="*/ 160610 w 331788"/>
                  <a:gd name="connsiteY31" fmla="*/ 165453 h 225425"/>
                  <a:gd name="connsiteX32" fmla="*/ 161925 w 331788"/>
                  <a:gd name="connsiteY32" fmla="*/ 158985 h 225425"/>
                  <a:gd name="connsiteX33" fmla="*/ 160610 w 331788"/>
                  <a:gd name="connsiteY33" fmla="*/ 155105 h 225425"/>
                  <a:gd name="connsiteX34" fmla="*/ 157979 w 331788"/>
                  <a:gd name="connsiteY34" fmla="*/ 149931 h 225425"/>
                  <a:gd name="connsiteX35" fmla="*/ 151402 w 331788"/>
                  <a:gd name="connsiteY35" fmla="*/ 143463 h 225425"/>
                  <a:gd name="connsiteX36" fmla="*/ 139564 w 331788"/>
                  <a:gd name="connsiteY36" fmla="*/ 140876 h 225425"/>
                  <a:gd name="connsiteX37" fmla="*/ 127725 w 331788"/>
                  <a:gd name="connsiteY37" fmla="*/ 133115 h 225425"/>
                  <a:gd name="connsiteX38" fmla="*/ 129041 w 331788"/>
                  <a:gd name="connsiteY38" fmla="*/ 129234 h 225425"/>
                  <a:gd name="connsiteX39" fmla="*/ 134302 w 331788"/>
                  <a:gd name="connsiteY39" fmla="*/ 127941 h 225425"/>
                  <a:gd name="connsiteX40" fmla="*/ 139564 w 331788"/>
                  <a:gd name="connsiteY40" fmla="*/ 127941 h 225425"/>
                  <a:gd name="connsiteX41" fmla="*/ 142194 w 331788"/>
                  <a:gd name="connsiteY41" fmla="*/ 129234 h 225425"/>
                  <a:gd name="connsiteX42" fmla="*/ 146141 w 331788"/>
                  <a:gd name="connsiteY42" fmla="*/ 131821 h 225425"/>
                  <a:gd name="connsiteX43" fmla="*/ 148771 w 331788"/>
                  <a:gd name="connsiteY43" fmla="*/ 134408 h 225425"/>
                  <a:gd name="connsiteX44" fmla="*/ 160610 w 331788"/>
                  <a:gd name="connsiteY44" fmla="*/ 134408 h 225425"/>
                  <a:gd name="connsiteX45" fmla="*/ 160610 w 331788"/>
                  <a:gd name="connsiteY45" fmla="*/ 116299 h 225425"/>
                  <a:gd name="connsiteX46" fmla="*/ 148771 w 331788"/>
                  <a:gd name="connsiteY46" fmla="*/ 116299 h 225425"/>
                  <a:gd name="connsiteX47" fmla="*/ 148771 w 331788"/>
                  <a:gd name="connsiteY47" fmla="*/ 118886 h 225425"/>
                  <a:gd name="connsiteX48" fmla="*/ 143510 w 331788"/>
                  <a:gd name="connsiteY48" fmla="*/ 117593 h 225425"/>
                  <a:gd name="connsiteX49" fmla="*/ 143510 w 331788"/>
                  <a:gd name="connsiteY49" fmla="*/ 111125 h 225425"/>
                  <a:gd name="connsiteX50" fmla="*/ 131671 w 331788"/>
                  <a:gd name="connsiteY50" fmla="*/ 111125 h 225425"/>
                  <a:gd name="connsiteX51" fmla="*/ 174079 w 331788"/>
                  <a:gd name="connsiteY51" fmla="*/ 84137 h 225425"/>
                  <a:gd name="connsiteX52" fmla="*/ 210890 w 331788"/>
                  <a:gd name="connsiteY52" fmla="*/ 146197 h 225425"/>
                  <a:gd name="connsiteX53" fmla="*/ 171450 w 331788"/>
                  <a:gd name="connsiteY53" fmla="*/ 209550 h 225425"/>
                  <a:gd name="connsiteX54" fmla="*/ 213519 w 331788"/>
                  <a:gd name="connsiteY54" fmla="*/ 209550 h 225425"/>
                  <a:gd name="connsiteX55" fmla="*/ 255588 w 331788"/>
                  <a:gd name="connsiteY55" fmla="*/ 169470 h 225425"/>
                  <a:gd name="connsiteX56" fmla="*/ 255588 w 331788"/>
                  <a:gd name="connsiteY56" fmla="*/ 125510 h 225425"/>
                  <a:gd name="connsiteX57" fmla="*/ 213519 w 331788"/>
                  <a:gd name="connsiteY57" fmla="*/ 84137 h 225425"/>
                  <a:gd name="connsiteX58" fmla="*/ 174079 w 331788"/>
                  <a:gd name="connsiteY58" fmla="*/ 84137 h 225425"/>
                  <a:gd name="connsiteX59" fmla="*/ 56529 w 331788"/>
                  <a:gd name="connsiteY59" fmla="*/ 84137 h 225425"/>
                  <a:gd name="connsiteX60" fmla="*/ 15875 w 331788"/>
                  <a:gd name="connsiteY60" fmla="*/ 124217 h 225425"/>
                  <a:gd name="connsiteX61" fmla="*/ 15875 w 331788"/>
                  <a:gd name="connsiteY61" fmla="*/ 169470 h 225425"/>
                  <a:gd name="connsiteX62" fmla="*/ 56529 w 331788"/>
                  <a:gd name="connsiteY62" fmla="*/ 209550 h 225425"/>
                  <a:gd name="connsiteX63" fmla="*/ 106363 w 331788"/>
                  <a:gd name="connsiteY63" fmla="*/ 209550 h 225425"/>
                  <a:gd name="connsiteX64" fmla="*/ 67020 w 331788"/>
                  <a:gd name="connsiteY64" fmla="*/ 146197 h 225425"/>
                  <a:gd name="connsiteX65" fmla="*/ 103740 w 331788"/>
                  <a:gd name="connsiteY65" fmla="*/ 84137 h 225425"/>
                  <a:gd name="connsiteX66" fmla="*/ 56529 w 331788"/>
                  <a:gd name="connsiteY66" fmla="*/ 84137 h 225425"/>
                  <a:gd name="connsiteX67" fmla="*/ 0 w 331788"/>
                  <a:gd name="connsiteY67" fmla="*/ 66675 h 225425"/>
                  <a:gd name="connsiteX68" fmla="*/ 58737 w 331788"/>
                  <a:gd name="connsiteY68" fmla="*/ 66675 h 225425"/>
                  <a:gd name="connsiteX69" fmla="*/ 269875 w 331788"/>
                  <a:gd name="connsiteY69" fmla="*/ 66675 h 225425"/>
                  <a:gd name="connsiteX70" fmla="*/ 269875 w 331788"/>
                  <a:gd name="connsiteY70" fmla="*/ 225425 h 225425"/>
                  <a:gd name="connsiteX71" fmla="*/ 0 w 331788"/>
                  <a:gd name="connsiteY71" fmla="*/ 225425 h 225425"/>
                  <a:gd name="connsiteX72" fmla="*/ 30162 w 331788"/>
                  <a:gd name="connsiteY72" fmla="*/ 34925 h 225425"/>
                  <a:gd name="connsiteX73" fmla="*/ 88269 w 331788"/>
                  <a:gd name="connsiteY73" fmla="*/ 34925 h 225425"/>
                  <a:gd name="connsiteX74" fmla="*/ 300037 w 331788"/>
                  <a:gd name="connsiteY74" fmla="*/ 34925 h 225425"/>
                  <a:gd name="connsiteX75" fmla="*/ 300037 w 331788"/>
                  <a:gd name="connsiteY75" fmla="*/ 193675 h 225425"/>
                  <a:gd name="connsiteX76" fmla="*/ 280668 w 331788"/>
                  <a:gd name="connsiteY76" fmla="*/ 193675 h 225425"/>
                  <a:gd name="connsiteX77" fmla="*/ 280668 w 331788"/>
                  <a:gd name="connsiteY77" fmla="*/ 136886 h 225425"/>
                  <a:gd name="connsiteX78" fmla="*/ 283251 w 331788"/>
                  <a:gd name="connsiteY78" fmla="*/ 135596 h 225425"/>
                  <a:gd name="connsiteX79" fmla="*/ 283251 w 331788"/>
                  <a:gd name="connsiteY79" fmla="*/ 91714 h 225425"/>
                  <a:gd name="connsiteX80" fmla="*/ 280668 w 331788"/>
                  <a:gd name="connsiteY80" fmla="*/ 91714 h 225425"/>
                  <a:gd name="connsiteX81" fmla="*/ 280668 w 331788"/>
                  <a:gd name="connsiteY81" fmla="*/ 56866 h 225425"/>
                  <a:gd name="connsiteX82" fmla="*/ 244513 w 331788"/>
                  <a:gd name="connsiteY82" fmla="*/ 56866 h 225425"/>
                  <a:gd name="connsiteX83" fmla="*/ 243221 w 331788"/>
                  <a:gd name="connsiteY83" fmla="*/ 51703 h 225425"/>
                  <a:gd name="connsiteX84" fmla="*/ 86978 w 331788"/>
                  <a:gd name="connsiteY84" fmla="*/ 51703 h 225425"/>
                  <a:gd name="connsiteX85" fmla="*/ 84395 w 331788"/>
                  <a:gd name="connsiteY85" fmla="*/ 56866 h 225425"/>
                  <a:gd name="connsiteX86" fmla="*/ 30162 w 331788"/>
                  <a:gd name="connsiteY86" fmla="*/ 56866 h 225425"/>
                  <a:gd name="connsiteX87" fmla="*/ 30162 w 331788"/>
                  <a:gd name="connsiteY87" fmla="*/ 34925 h 225425"/>
                  <a:gd name="connsiteX88" fmla="*/ 60325 w 331788"/>
                  <a:gd name="connsiteY88" fmla="*/ 0 h 225425"/>
                  <a:gd name="connsiteX89" fmla="*/ 272040 w 331788"/>
                  <a:gd name="connsiteY89" fmla="*/ 0 h 225425"/>
                  <a:gd name="connsiteX90" fmla="*/ 331788 w 331788"/>
                  <a:gd name="connsiteY90" fmla="*/ 0 h 225425"/>
                  <a:gd name="connsiteX91" fmla="*/ 331788 w 331788"/>
                  <a:gd name="connsiteY91" fmla="*/ 160338 h 225425"/>
                  <a:gd name="connsiteX92" fmla="*/ 312305 w 331788"/>
                  <a:gd name="connsiteY92" fmla="*/ 160338 h 225425"/>
                  <a:gd name="connsiteX93" fmla="*/ 312305 w 331788"/>
                  <a:gd name="connsiteY93" fmla="*/ 102981 h 225425"/>
                  <a:gd name="connsiteX94" fmla="*/ 314903 w 331788"/>
                  <a:gd name="connsiteY94" fmla="*/ 101678 h 225425"/>
                  <a:gd name="connsiteX95" fmla="*/ 314903 w 331788"/>
                  <a:gd name="connsiteY95" fmla="*/ 57357 h 225425"/>
                  <a:gd name="connsiteX96" fmla="*/ 312305 w 331788"/>
                  <a:gd name="connsiteY96" fmla="*/ 57357 h 225425"/>
                  <a:gd name="connsiteX97" fmla="*/ 312305 w 331788"/>
                  <a:gd name="connsiteY97" fmla="*/ 22161 h 225425"/>
                  <a:gd name="connsiteX98" fmla="*/ 275937 w 331788"/>
                  <a:gd name="connsiteY98" fmla="*/ 22161 h 225425"/>
                  <a:gd name="connsiteX99" fmla="*/ 274638 w 331788"/>
                  <a:gd name="connsiteY99" fmla="*/ 16946 h 225425"/>
                  <a:gd name="connsiteX100" fmla="*/ 116176 w 331788"/>
                  <a:gd name="connsiteY100" fmla="*/ 16946 h 225425"/>
                  <a:gd name="connsiteX101" fmla="*/ 114877 w 331788"/>
                  <a:gd name="connsiteY101" fmla="*/ 22161 h 225425"/>
                  <a:gd name="connsiteX102" fmla="*/ 60325 w 331788"/>
                  <a:gd name="connsiteY102" fmla="*/ 22161 h 225425"/>
                  <a:gd name="connsiteX103" fmla="*/ 60325 w 331788"/>
                  <a:gd name="connsiteY103" fmla="*/ 0 h 22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1788" h="225425">
                    <a:moveTo>
                      <a:pt x="131671" y="111125"/>
                    </a:moveTo>
                    <a:cubicBezTo>
                      <a:pt x="131671" y="111125"/>
                      <a:pt x="131671" y="111125"/>
                      <a:pt x="131671" y="116299"/>
                    </a:cubicBezTo>
                    <a:cubicBezTo>
                      <a:pt x="129041" y="116299"/>
                      <a:pt x="127725" y="117593"/>
                      <a:pt x="125095" y="118886"/>
                    </a:cubicBezTo>
                    <a:cubicBezTo>
                      <a:pt x="123779" y="118886"/>
                      <a:pt x="121149" y="120180"/>
                      <a:pt x="119833" y="122767"/>
                    </a:cubicBezTo>
                    <a:cubicBezTo>
                      <a:pt x="118518" y="124060"/>
                      <a:pt x="117202" y="125354"/>
                      <a:pt x="117202" y="126647"/>
                    </a:cubicBezTo>
                    <a:cubicBezTo>
                      <a:pt x="115887" y="129234"/>
                      <a:pt x="115887" y="130528"/>
                      <a:pt x="115887" y="133115"/>
                    </a:cubicBezTo>
                    <a:cubicBezTo>
                      <a:pt x="115887" y="134408"/>
                      <a:pt x="115887" y="135702"/>
                      <a:pt x="115887" y="138289"/>
                    </a:cubicBezTo>
                    <a:cubicBezTo>
                      <a:pt x="117202" y="139582"/>
                      <a:pt x="118518" y="142169"/>
                      <a:pt x="119833" y="143463"/>
                    </a:cubicBezTo>
                    <a:cubicBezTo>
                      <a:pt x="121149" y="146050"/>
                      <a:pt x="123779" y="147344"/>
                      <a:pt x="126410" y="148637"/>
                    </a:cubicBezTo>
                    <a:cubicBezTo>
                      <a:pt x="129041" y="149931"/>
                      <a:pt x="132987" y="151224"/>
                      <a:pt x="138248" y="152518"/>
                    </a:cubicBezTo>
                    <a:cubicBezTo>
                      <a:pt x="139564" y="152518"/>
                      <a:pt x="140879" y="152518"/>
                      <a:pt x="142194" y="152518"/>
                    </a:cubicBezTo>
                    <a:cubicBezTo>
                      <a:pt x="143510" y="153811"/>
                      <a:pt x="144825" y="153811"/>
                      <a:pt x="146141" y="153811"/>
                    </a:cubicBezTo>
                    <a:cubicBezTo>
                      <a:pt x="147456" y="155105"/>
                      <a:pt x="147456" y="155105"/>
                      <a:pt x="148771" y="156398"/>
                    </a:cubicBezTo>
                    <a:cubicBezTo>
                      <a:pt x="148771" y="157692"/>
                      <a:pt x="150087" y="158985"/>
                      <a:pt x="150087" y="158985"/>
                    </a:cubicBezTo>
                    <a:cubicBezTo>
                      <a:pt x="150087" y="161572"/>
                      <a:pt x="148771" y="161572"/>
                      <a:pt x="147456" y="162866"/>
                    </a:cubicBezTo>
                    <a:cubicBezTo>
                      <a:pt x="146141" y="164159"/>
                      <a:pt x="144825" y="164159"/>
                      <a:pt x="142194" y="164159"/>
                    </a:cubicBezTo>
                    <a:cubicBezTo>
                      <a:pt x="140879" y="164159"/>
                      <a:pt x="139564" y="164159"/>
                      <a:pt x="138248" y="164159"/>
                    </a:cubicBezTo>
                    <a:cubicBezTo>
                      <a:pt x="136933" y="164159"/>
                      <a:pt x="135618" y="162866"/>
                      <a:pt x="134302" y="162866"/>
                    </a:cubicBezTo>
                    <a:cubicBezTo>
                      <a:pt x="132987" y="162866"/>
                      <a:pt x="131671" y="161572"/>
                      <a:pt x="131671" y="160279"/>
                    </a:cubicBezTo>
                    <a:cubicBezTo>
                      <a:pt x="130356" y="160279"/>
                      <a:pt x="129041" y="158985"/>
                      <a:pt x="127725" y="157692"/>
                    </a:cubicBezTo>
                    <a:cubicBezTo>
                      <a:pt x="127725" y="157692"/>
                      <a:pt x="127725" y="157692"/>
                      <a:pt x="115887" y="157692"/>
                    </a:cubicBezTo>
                    <a:cubicBezTo>
                      <a:pt x="115887" y="157692"/>
                      <a:pt x="115887" y="157692"/>
                      <a:pt x="115887" y="175801"/>
                    </a:cubicBezTo>
                    <a:cubicBezTo>
                      <a:pt x="115887" y="175801"/>
                      <a:pt x="115887" y="175801"/>
                      <a:pt x="127725" y="175801"/>
                    </a:cubicBezTo>
                    <a:cubicBezTo>
                      <a:pt x="127725" y="175801"/>
                      <a:pt x="127725" y="175801"/>
                      <a:pt x="127725" y="173214"/>
                    </a:cubicBezTo>
                    <a:cubicBezTo>
                      <a:pt x="129041" y="173214"/>
                      <a:pt x="129041" y="173214"/>
                      <a:pt x="130356" y="173214"/>
                    </a:cubicBezTo>
                    <a:cubicBezTo>
                      <a:pt x="130356" y="174507"/>
                      <a:pt x="131671" y="174507"/>
                      <a:pt x="131671" y="174507"/>
                    </a:cubicBezTo>
                    <a:cubicBezTo>
                      <a:pt x="131671" y="174507"/>
                      <a:pt x="131671" y="174507"/>
                      <a:pt x="131671" y="180975"/>
                    </a:cubicBezTo>
                    <a:cubicBezTo>
                      <a:pt x="131671" y="180975"/>
                      <a:pt x="131671" y="180975"/>
                      <a:pt x="143510" y="180975"/>
                    </a:cubicBezTo>
                    <a:cubicBezTo>
                      <a:pt x="143510" y="180975"/>
                      <a:pt x="143510" y="180975"/>
                      <a:pt x="143510" y="175801"/>
                    </a:cubicBezTo>
                    <a:cubicBezTo>
                      <a:pt x="146141" y="175801"/>
                      <a:pt x="148771" y="175801"/>
                      <a:pt x="151402" y="174507"/>
                    </a:cubicBezTo>
                    <a:cubicBezTo>
                      <a:pt x="152717" y="173214"/>
                      <a:pt x="155348" y="171920"/>
                      <a:pt x="156664" y="170627"/>
                    </a:cubicBezTo>
                    <a:cubicBezTo>
                      <a:pt x="157979" y="169333"/>
                      <a:pt x="159294" y="168040"/>
                      <a:pt x="160610" y="165453"/>
                    </a:cubicBezTo>
                    <a:cubicBezTo>
                      <a:pt x="160610" y="164159"/>
                      <a:pt x="161925" y="161572"/>
                      <a:pt x="161925" y="158985"/>
                    </a:cubicBezTo>
                    <a:cubicBezTo>
                      <a:pt x="161925" y="158985"/>
                      <a:pt x="161925" y="156398"/>
                      <a:pt x="160610" y="155105"/>
                    </a:cubicBezTo>
                    <a:cubicBezTo>
                      <a:pt x="160610" y="153811"/>
                      <a:pt x="159294" y="151224"/>
                      <a:pt x="157979" y="149931"/>
                    </a:cubicBezTo>
                    <a:cubicBezTo>
                      <a:pt x="156664" y="147344"/>
                      <a:pt x="154033" y="146050"/>
                      <a:pt x="151402" y="143463"/>
                    </a:cubicBezTo>
                    <a:cubicBezTo>
                      <a:pt x="148771" y="142169"/>
                      <a:pt x="144825" y="140876"/>
                      <a:pt x="139564" y="140876"/>
                    </a:cubicBezTo>
                    <a:cubicBezTo>
                      <a:pt x="131671" y="139582"/>
                      <a:pt x="127725" y="136995"/>
                      <a:pt x="127725" y="133115"/>
                    </a:cubicBezTo>
                    <a:cubicBezTo>
                      <a:pt x="127725" y="131821"/>
                      <a:pt x="127725" y="130528"/>
                      <a:pt x="129041" y="129234"/>
                    </a:cubicBezTo>
                    <a:cubicBezTo>
                      <a:pt x="130356" y="127941"/>
                      <a:pt x="132987" y="127941"/>
                      <a:pt x="134302" y="127941"/>
                    </a:cubicBezTo>
                    <a:cubicBezTo>
                      <a:pt x="136933" y="127941"/>
                      <a:pt x="138248" y="127941"/>
                      <a:pt x="139564" y="127941"/>
                    </a:cubicBezTo>
                    <a:cubicBezTo>
                      <a:pt x="140879" y="129234"/>
                      <a:pt x="142194" y="129234"/>
                      <a:pt x="142194" y="129234"/>
                    </a:cubicBezTo>
                    <a:cubicBezTo>
                      <a:pt x="143510" y="130528"/>
                      <a:pt x="144825" y="130528"/>
                      <a:pt x="146141" y="131821"/>
                    </a:cubicBezTo>
                    <a:cubicBezTo>
                      <a:pt x="146141" y="131821"/>
                      <a:pt x="147456" y="133115"/>
                      <a:pt x="148771" y="134408"/>
                    </a:cubicBezTo>
                    <a:cubicBezTo>
                      <a:pt x="148771" y="134408"/>
                      <a:pt x="148771" y="134408"/>
                      <a:pt x="160610" y="134408"/>
                    </a:cubicBezTo>
                    <a:cubicBezTo>
                      <a:pt x="160610" y="134408"/>
                      <a:pt x="160610" y="134408"/>
                      <a:pt x="160610" y="116299"/>
                    </a:cubicBezTo>
                    <a:cubicBezTo>
                      <a:pt x="160610" y="116299"/>
                      <a:pt x="160610" y="116299"/>
                      <a:pt x="148771" y="116299"/>
                    </a:cubicBezTo>
                    <a:cubicBezTo>
                      <a:pt x="148771" y="116299"/>
                      <a:pt x="148771" y="116299"/>
                      <a:pt x="148771" y="118886"/>
                    </a:cubicBezTo>
                    <a:cubicBezTo>
                      <a:pt x="147456" y="118886"/>
                      <a:pt x="144825" y="117593"/>
                      <a:pt x="143510" y="117593"/>
                    </a:cubicBezTo>
                    <a:cubicBezTo>
                      <a:pt x="143510" y="117593"/>
                      <a:pt x="143510" y="117593"/>
                      <a:pt x="143510" y="111125"/>
                    </a:cubicBezTo>
                    <a:cubicBezTo>
                      <a:pt x="143510" y="111125"/>
                      <a:pt x="143510" y="111125"/>
                      <a:pt x="131671" y="111125"/>
                    </a:cubicBezTo>
                    <a:close/>
                    <a:moveTo>
                      <a:pt x="174079" y="84137"/>
                    </a:moveTo>
                    <a:cubicBezTo>
                      <a:pt x="196429" y="95773"/>
                      <a:pt x="210890" y="119046"/>
                      <a:pt x="210890" y="146197"/>
                    </a:cubicBezTo>
                    <a:cubicBezTo>
                      <a:pt x="210890" y="174641"/>
                      <a:pt x="195114" y="197914"/>
                      <a:pt x="171450" y="209550"/>
                    </a:cubicBezTo>
                    <a:cubicBezTo>
                      <a:pt x="171450" y="209550"/>
                      <a:pt x="171450" y="209550"/>
                      <a:pt x="213519" y="209550"/>
                    </a:cubicBezTo>
                    <a:cubicBezTo>
                      <a:pt x="218778" y="190156"/>
                      <a:pt x="234554" y="174641"/>
                      <a:pt x="255588" y="169470"/>
                    </a:cubicBezTo>
                    <a:cubicBezTo>
                      <a:pt x="255588" y="169470"/>
                      <a:pt x="255588" y="169470"/>
                      <a:pt x="255588" y="125510"/>
                    </a:cubicBezTo>
                    <a:cubicBezTo>
                      <a:pt x="234554" y="120339"/>
                      <a:pt x="218778" y="103531"/>
                      <a:pt x="213519" y="84137"/>
                    </a:cubicBezTo>
                    <a:cubicBezTo>
                      <a:pt x="213519" y="84137"/>
                      <a:pt x="213519" y="84137"/>
                      <a:pt x="174079" y="84137"/>
                    </a:cubicBezTo>
                    <a:close/>
                    <a:moveTo>
                      <a:pt x="56529" y="84137"/>
                    </a:moveTo>
                    <a:cubicBezTo>
                      <a:pt x="51283" y="103531"/>
                      <a:pt x="35546" y="119046"/>
                      <a:pt x="15875" y="124217"/>
                    </a:cubicBezTo>
                    <a:cubicBezTo>
                      <a:pt x="15875" y="124217"/>
                      <a:pt x="15875" y="124217"/>
                      <a:pt x="15875" y="169470"/>
                    </a:cubicBezTo>
                    <a:cubicBezTo>
                      <a:pt x="35546" y="174641"/>
                      <a:pt x="51283" y="190156"/>
                      <a:pt x="56529" y="209550"/>
                    </a:cubicBezTo>
                    <a:lnTo>
                      <a:pt x="106363" y="209550"/>
                    </a:lnTo>
                    <a:cubicBezTo>
                      <a:pt x="82757" y="197914"/>
                      <a:pt x="67020" y="174641"/>
                      <a:pt x="67020" y="146197"/>
                    </a:cubicBezTo>
                    <a:cubicBezTo>
                      <a:pt x="67020" y="119046"/>
                      <a:pt x="81446" y="95773"/>
                      <a:pt x="103740" y="84137"/>
                    </a:cubicBezTo>
                    <a:cubicBezTo>
                      <a:pt x="103740" y="84137"/>
                      <a:pt x="103740" y="84137"/>
                      <a:pt x="56529" y="84137"/>
                    </a:cubicBezTo>
                    <a:close/>
                    <a:moveTo>
                      <a:pt x="0" y="66675"/>
                    </a:moveTo>
                    <a:lnTo>
                      <a:pt x="58737" y="66675"/>
                    </a:lnTo>
                    <a:lnTo>
                      <a:pt x="269875" y="66675"/>
                    </a:lnTo>
                    <a:lnTo>
                      <a:pt x="269875" y="225425"/>
                    </a:lnTo>
                    <a:lnTo>
                      <a:pt x="0" y="225425"/>
                    </a:lnTo>
                    <a:close/>
                    <a:moveTo>
                      <a:pt x="30162" y="34925"/>
                    </a:moveTo>
                    <a:cubicBezTo>
                      <a:pt x="30162" y="34925"/>
                      <a:pt x="30162" y="34925"/>
                      <a:pt x="88269" y="34925"/>
                    </a:cubicBezTo>
                    <a:lnTo>
                      <a:pt x="300037" y="34925"/>
                    </a:lnTo>
                    <a:cubicBezTo>
                      <a:pt x="300037" y="34925"/>
                      <a:pt x="300037" y="34925"/>
                      <a:pt x="300037" y="193675"/>
                    </a:cubicBezTo>
                    <a:cubicBezTo>
                      <a:pt x="300037" y="193675"/>
                      <a:pt x="300037" y="193675"/>
                      <a:pt x="280668" y="193675"/>
                    </a:cubicBezTo>
                    <a:cubicBezTo>
                      <a:pt x="280668" y="193675"/>
                      <a:pt x="280668" y="193675"/>
                      <a:pt x="280668" y="136886"/>
                    </a:cubicBezTo>
                    <a:cubicBezTo>
                      <a:pt x="281959" y="136886"/>
                      <a:pt x="283251" y="136886"/>
                      <a:pt x="283251" y="135596"/>
                    </a:cubicBezTo>
                    <a:cubicBezTo>
                      <a:pt x="283251" y="135596"/>
                      <a:pt x="283251" y="135596"/>
                      <a:pt x="283251" y="91714"/>
                    </a:cubicBezTo>
                    <a:cubicBezTo>
                      <a:pt x="283251" y="91714"/>
                      <a:pt x="281959" y="91714"/>
                      <a:pt x="280668" y="91714"/>
                    </a:cubicBezTo>
                    <a:cubicBezTo>
                      <a:pt x="280668" y="91714"/>
                      <a:pt x="280668" y="91714"/>
                      <a:pt x="280668" y="56866"/>
                    </a:cubicBezTo>
                    <a:cubicBezTo>
                      <a:pt x="280668" y="56866"/>
                      <a:pt x="280668" y="56866"/>
                      <a:pt x="244513" y="56866"/>
                    </a:cubicBezTo>
                    <a:cubicBezTo>
                      <a:pt x="244513" y="55575"/>
                      <a:pt x="243221" y="52994"/>
                      <a:pt x="243221" y="51703"/>
                    </a:cubicBezTo>
                    <a:cubicBezTo>
                      <a:pt x="243221" y="51703"/>
                      <a:pt x="243221" y="51703"/>
                      <a:pt x="86978" y="51703"/>
                    </a:cubicBezTo>
                    <a:cubicBezTo>
                      <a:pt x="85687" y="52994"/>
                      <a:pt x="85687" y="55575"/>
                      <a:pt x="84395" y="56866"/>
                    </a:cubicBezTo>
                    <a:cubicBezTo>
                      <a:pt x="84395" y="56866"/>
                      <a:pt x="84395" y="56866"/>
                      <a:pt x="30162" y="56866"/>
                    </a:cubicBezTo>
                    <a:cubicBezTo>
                      <a:pt x="30162" y="56866"/>
                      <a:pt x="30162" y="56866"/>
                      <a:pt x="30162" y="34925"/>
                    </a:cubicBezTo>
                    <a:close/>
                    <a:moveTo>
                      <a:pt x="60325" y="0"/>
                    </a:moveTo>
                    <a:cubicBezTo>
                      <a:pt x="60325" y="0"/>
                      <a:pt x="60325" y="0"/>
                      <a:pt x="272040" y="0"/>
                    </a:cubicBezTo>
                    <a:lnTo>
                      <a:pt x="331788" y="0"/>
                    </a:lnTo>
                    <a:cubicBezTo>
                      <a:pt x="331788" y="0"/>
                      <a:pt x="331788" y="0"/>
                      <a:pt x="331788" y="160338"/>
                    </a:cubicBezTo>
                    <a:cubicBezTo>
                      <a:pt x="331788" y="160338"/>
                      <a:pt x="331788" y="160338"/>
                      <a:pt x="312305" y="160338"/>
                    </a:cubicBezTo>
                    <a:cubicBezTo>
                      <a:pt x="312305" y="160338"/>
                      <a:pt x="312305" y="160338"/>
                      <a:pt x="312305" y="102981"/>
                    </a:cubicBezTo>
                    <a:cubicBezTo>
                      <a:pt x="313604" y="102981"/>
                      <a:pt x="313604" y="102981"/>
                      <a:pt x="314903" y="101678"/>
                    </a:cubicBezTo>
                    <a:cubicBezTo>
                      <a:pt x="314903" y="101678"/>
                      <a:pt x="314903" y="101678"/>
                      <a:pt x="314903" y="57357"/>
                    </a:cubicBezTo>
                    <a:cubicBezTo>
                      <a:pt x="313604" y="57357"/>
                      <a:pt x="313604" y="57357"/>
                      <a:pt x="312305" y="57357"/>
                    </a:cubicBezTo>
                    <a:cubicBezTo>
                      <a:pt x="312305" y="57357"/>
                      <a:pt x="312305" y="57357"/>
                      <a:pt x="312305" y="22161"/>
                    </a:cubicBezTo>
                    <a:cubicBezTo>
                      <a:pt x="312305" y="22161"/>
                      <a:pt x="312305" y="22161"/>
                      <a:pt x="275937" y="22161"/>
                    </a:cubicBezTo>
                    <a:cubicBezTo>
                      <a:pt x="275937" y="20857"/>
                      <a:pt x="274638" y="18250"/>
                      <a:pt x="274638" y="16946"/>
                    </a:cubicBezTo>
                    <a:cubicBezTo>
                      <a:pt x="274638" y="16946"/>
                      <a:pt x="274638" y="16946"/>
                      <a:pt x="116176" y="16946"/>
                    </a:cubicBezTo>
                    <a:cubicBezTo>
                      <a:pt x="116176" y="18250"/>
                      <a:pt x="114877" y="20857"/>
                      <a:pt x="114877" y="22161"/>
                    </a:cubicBezTo>
                    <a:cubicBezTo>
                      <a:pt x="114877" y="22161"/>
                      <a:pt x="114877" y="22161"/>
                      <a:pt x="60325" y="22161"/>
                    </a:cubicBezTo>
                    <a:cubicBezTo>
                      <a:pt x="60325" y="22161"/>
                      <a:pt x="60325" y="22161"/>
                      <a:pt x="603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1" name="组合 10"/>
            <p:cNvGrpSpPr/>
            <p:nvPr/>
          </p:nvGrpSpPr>
          <p:grpSpPr>
            <a:xfrm>
              <a:off x="7415213" y="2597944"/>
              <a:ext cx="1162050" cy="1162050"/>
              <a:chOff x="2838450" y="1838325"/>
              <a:chExt cx="1295400" cy="1295400"/>
            </a:xfrm>
          </p:grpSpPr>
          <p:sp>
            <p:nvSpPr>
              <p:cNvPr id="15" name="椭圆 14"/>
              <p:cNvSpPr/>
              <p:nvPr>
                <p:custDataLst>
                  <p:tags r:id="rId8"/>
                </p:custDataLst>
              </p:nvPr>
            </p:nvSpPr>
            <p:spPr>
              <a:xfrm>
                <a:off x="2838450" y="1838325"/>
                <a:ext cx="1295400" cy="1295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6" name="椭圆 88"/>
              <p:cNvSpPr/>
              <p:nvPr>
                <p:custDataLst>
                  <p:tags r:id="rId9"/>
                </p:custDataLst>
              </p:nvPr>
            </p:nvSpPr>
            <p:spPr>
              <a:xfrm>
                <a:off x="3200489" y="2162175"/>
                <a:ext cx="571321" cy="647700"/>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2" name="组合 11"/>
            <p:cNvGrpSpPr/>
            <p:nvPr/>
          </p:nvGrpSpPr>
          <p:grpSpPr>
            <a:xfrm>
              <a:off x="8820180" y="3979070"/>
              <a:ext cx="1162050" cy="1162050"/>
              <a:chOff x="2838450" y="1838325"/>
              <a:chExt cx="1295400" cy="1295400"/>
            </a:xfrm>
          </p:grpSpPr>
          <p:sp>
            <p:nvSpPr>
              <p:cNvPr id="13" name="椭圆 12"/>
              <p:cNvSpPr/>
              <p:nvPr>
                <p:custDataLst>
                  <p:tags r:id="rId10"/>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4" name="椭圆 102"/>
              <p:cNvSpPr/>
              <p:nvPr>
                <p:custDataLst>
                  <p:tags r:id="rId11"/>
                </p:custDataLst>
              </p:nvPr>
            </p:nvSpPr>
            <p:spPr>
              <a:xfrm>
                <a:off x="3162300" y="2162175"/>
                <a:ext cx="647700" cy="647700"/>
              </a:xfrm>
              <a:custGeom>
                <a:avLst/>
                <a:gdLst>
                  <a:gd name="connsiteX0" fmla="*/ 15554 w 331788"/>
                  <a:gd name="connsiteY0" fmla="*/ 301625 h 331788"/>
                  <a:gd name="connsiteX1" fmla="*/ 127029 w 331788"/>
                  <a:gd name="connsiteY1" fmla="*/ 301625 h 331788"/>
                  <a:gd name="connsiteX2" fmla="*/ 141288 w 331788"/>
                  <a:gd name="connsiteY2" fmla="*/ 316051 h 331788"/>
                  <a:gd name="connsiteX3" fmla="*/ 127029 w 331788"/>
                  <a:gd name="connsiteY3" fmla="*/ 331788 h 331788"/>
                  <a:gd name="connsiteX4" fmla="*/ 15554 w 331788"/>
                  <a:gd name="connsiteY4" fmla="*/ 331788 h 331788"/>
                  <a:gd name="connsiteX5" fmla="*/ 0 w 331788"/>
                  <a:gd name="connsiteY5" fmla="*/ 316051 h 331788"/>
                  <a:gd name="connsiteX6" fmla="*/ 15554 w 331788"/>
                  <a:gd name="connsiteY6" fmla="*/ 301625 h 331788"/>
                  <a:gd name="connsiteX7" fmla="*/ 15554 w 331788"/>
                  <a:gd name="connsiteY7" fmla="*/ 263525 h 331788"/>
                  <a:gd name="connsiteX8" fmla="*/ 95920 w 331788"/>
                  <a:gd name="connsiteY8" fmla="*/ 263525 h 331788"/>
                  <a:gd name="connsiteX9" fmla="*/ 141288 w 331788"/>
                  <a:gd name="connsiteY9" fmla="*/ 283634 h 331788"/>
                  <a:gd name="connsiteX10" fmla="*/ 127029 w 331788"/>
                  <a:gd name="connsiteY10" fmla="*/ 293688 h 331788"/>
                  <a:gd name="connsiteX11" fmla="*/ 15554 w 331788"/>
                  <a:gd name="connsiteY11" fmla="*/ 293688 h 331788"/>
                  <a:gd name="connsiteX12" fmla="*/ 0 w 331788"/>
                  <a:gd name="connsiteY12" fmla="*/ 278607 h 331788"/>
                  <a:gd name="connsiteX13" fmla="*/ 15554 w 331788"/>
                  <a:gd name="connsiteY13" fmla="*/ 263525 h 331788"/>
                  <a:gd name="connsiteX14" fmla="*/ 270156 w 331788"/>
                  <a:gd name="connsiteY14" fmla="*/ 228600 h 331788"/>
                  <a:gd name="connsiteX15" fmla="*/ 316380 w 331788"/>
                  <a:gd name="connsiteY15" fmla="*/ 228600 h 331788"/>
                  <a:gd name="connsiteX16" fmla="*/ 331788 w 331788"/>
                  <a:gd name="connsiteY16" fmla="*/ 244337 h 331788"/>
                  <a:gd name="connsiteX17" fmla="*/ 316380 w 331788"/>
                  <a:gd name="connsiteY17" fmla="*/ 258763 h 331788"/>
                  <a:gd name="connsiteX18" fmla="*/ 244475 w 331788"/>
                  <a:gd name="connsiteY18" fmla="*/ 258763 h 331788"/>
                  <a:gd name="connsiteX19" fmla="*/ 270156 w 331788"/>
                  <a:gd name="connsiteY19" fmla="*/ 228600 h 331788"/>
                  <a:gd name="connsiteX20" fmla="*/ 15586 w 331788"/>
                  <a:gd name="connsiteY20" fmla="*/ 225425 h 331788"/>
                  <a:gd name="connsiteX21" fmla="*/ 61046 w 331788"/>
                  <a:gd name="connsiteY21" fmla="*/ 225425 h 331788"/>
                  <a:gd name="connsiteX22" fmla="*/ 85725 w 331788"/>
                  <a:gd name="connsiteY22" fmla="*/ 255588 h 331788"/>
                  <a:gd name="connsiteX23" fmla="*/ 15586 w 331788"/>
                  <a:gd name="connsiteY23" fmla="*/ 255588 h 331788"/>
                  <a:gd name="connsiteX24" fmla="*/ 0 w 331788"/>
                  <a:gd name="connsiteY24" fmla="*/ 241162 h 331788"/>
                  <a:gd name="connsiteX25" fmla="*/ 15586 w 331788"/>
                  <a:gd name="connsiteY25" fmla="*/ 225425 h 331788"/>
                  <a:gd name="connsiteX26" fmla="*/ 283493 w 331788"/>
                  <a:gd name="connsiteY26" fmla="*/ 190500 h 331788"/>
                  <a:gd name="connsiteX27" fmla="*/ 316125 w 331788"/>
                  <a:gd name="connsiteY27" fmla="*/ 190500 h 331788"/>
                  <a:gd name="connsiteX28" fmla="*/ 331788 w 331788"/>
                  <a:gd name="connsiteY28" fmla="*/ 204926 h 331788"/>
                  <a:gd name="connsiteX29" fmla="*/ 316125 w 331788"/>
                  <a:gd name="connsiteY29" fmla="*/ 220663 h 331788"/>
                  <a:gd name="connsiteX30" fmla="*/ 273050 w 331788"/>
                  <a:gd name="connsiteY30" fmla="*/ 220663 h 331788"/>
                  <a:gd name="connsiteX31" fmla="*/ 283493 w 331788"/>
                  <a:gd name="connsiteY31" fmla="*/ 190500 h 331788"/>
                  <a:gd name="connsiteX32" fmla="*/ 15586 w 331788"/>
                  <a:gd name="connsiteY32" fmla="*/ 188912 h 331788"/>
                  <a:gd name="connsiteX33" fmla="*/ 46759 w 331788"/>
                  <a:gd name="connsiteY33" fmla="*/ 188912 h 331788"/>
                  <a:gd name="connsiteX34" fmla="*/ 57150 w 331788"/>
                  <a:gd name="connsiteY34" fmla="*/ 217487 h 331788"/>
                  <a:gd name="connsiteX35" fmla="*/ 15586 w 331788"/>
                  <a:gd name="connsiteY35" fmla="*/ 217487 h 331788"/>
                  <a:gd name="connsiteX36" fmla="*/ 0 w 331788"/>
                  <a:gd name="connsiteY36" fmla="*/ 202578 h 331788"/>
                  <a:gd name="connsiteX37" fmla="*/ 15586 w 331788"/>
                  <a:gd name="connsiteY37" fmla="*/ 188912 h 331788"/>
                  <a:gd name="connsiteX38" fmla="*/ 169863 w 331788"/>
                  <a:gd name="connsiteY38" fmla="*/ 174625 h 331788"/>
                  <a:gd name="connsiteX39" fmla="*/ 169863 w 331788"/>
                  <a:gd name="connsiteY39" fmla="*/ 201813 h 331788"/>
                  <a:gd name="connsiteX40" fmla="*/ 187326 w 331788"/>
                  <a:gd name="connsiteY40" fmla="*/ 188762 h 331788"/>
                  <a:gd name="connsiteX41" fmla="*/ 169863 w 331788"/>
                  <a:gd name="connsiteY41" fmla="*/ 174625 h 331788"/>
                  <a:gd name="connsiteX42" fmla="*/ 285750 w 331788"/>
                  <a:gd name="connsiteY42" fmla="*/ 152400 h 331788"/>
                  <a:gd name="connsiteX43" fmla="*/ 316442 w 331788"/>
                  <a:gd name="connsiteY43" fmla="*/ 152400 h 331788"/>
                  <a:gd name="connsiteX44" fmla="*/ 331788 w 331788"/>
                  <a:gd name="connsiteY44" fmla="*/ 167481 h 331788"/>
                  <a:gd name="connsiteX45" fmla="*/ 316442 w 331788"/>
                  <a:gd name="connsiteY45" fmla="*/ 182563 h 331788"/>
                  <a:gd name="connsiteX46" fmla="*/ 285750 w 331788"/>
                  <a:gd name="connsiteY46" fmla="*/ 182563 h 331788"/>
                  <a:gd name="connsiteX47" fmla="*/ 287029 w 331788"/>
                  <a:gd name="connsiteY47" fmla="*/ 166225 h 331788"/>
                  <a:gd name="connsiteX48" fmla="*/ 285750 w 331788"/>
                  <a:gd name="connsiteY48" fmla="*/ 152400 h 331788"/>
                  <a:gd name="connsiteX49" fmla="*/ 15875 w 331788"/>
                  <a:gd name="connsiteY49" fmla="*/ 149225 h 331788"/>
                  <a:gd name="connsiteX50" fmla="*/ 47625 w 331788"/>
                  <a:gd name="connsiteY50" fmla="*/ 149225 h 331788"/>
                  <a:gd name="connsiteX51" fmla="*/ 46302 w 331788"/>
                  <a:gd name="connsiteY51" fmla="*/ 166423 h 331788"/>
                  <a:gd name="connsiteX52" fmla="*/ 47625 w 331788"/>
                  <a:gd name="connsiteY52" fmla="*/ 180975 h 331788"/>
                  <a:gd name="connsiteX53" fmla="*/ 15875 w 331788"/>
                  <a:gd name="connsiteY53" fmla="*/ 180975 h 331788"/>
                  <a:gd name="connsiteX54" fmla="*/ 0 w 331788"/>
                  <a:gd name="connsiteY54" fmla="*/ 165100 h 331788"/>
                  <a:gd name="connsiteX55" fmla="*/ 15875 w 331788"/>
                  <a:gd name="connsiteY55" fmla="*/ 149225 h 331788"/>
                  <a:gd name="connsiteX56" fmla="*/ 161925 w 331788"/>
                  <a:gd name="connsiteY56" fmla="*/ 130175 h 331788"/>
                  <a:gd name="connsiteX57" fmla="*/ 146050 w 331788"/>
                  <a:gd name="connsiteY57" fmla="*/ 141455 h 331788"/>
                  <a:gd name="connsiteX58" fmla="*/ 161925 w 331788"/>
                  <a:gd name="connsiteY58" fmla="*/ 153988 h 331788"/>
                  <a:gd name="connsiteX59" fmla="*/ 274638 w 331788"/>
                  <a:gd name="connsiteY59" fmla="*/ 114300 h 331788"/>
                  <a:gd name="connsiteX60" fmla="*/ 316202 w 331788"/>
                  <a:gd name="connsiteY60" fmla="*/ 114300 h 331788"/>
                  <a:gd name="connsiteX61" fmla="*/ 331788 w 331788"/>
                  <a:gd name="connsiteY61" fmla="*/ 130037 h 331788"/>
                  <a:gd name="connsiteX62" fmla="*/ 316202 w 331788"/>
                  <a:gd name="connsiteY62" fmla="*/ 144463 h 331788"/>
                  <a:gd name="connsiteX63" fmla="*/ 283730 w 331788"/>
                  <a:gd name="connsiteY63" fmla="*/ 144463 h 331788"/>
                  <a:gd name="connsiteX64" fmla="*/ 274638 w 331788"/>
                  <a:gd name="connsiteY64" fmla="*/ 114300 h 331788"/>
                  <a:gd name="connsiteX65" fmla="*/ 15663 w 331788"/>
                  <a:gd name="connsiteY65" fmla="*/ 111125 h 331788"/>
                  <a:gd name="connsiteX66" fmla="*/ 58738 w 331788"/>
                  <a:gd name="connsiteY66" fmla="*/ 111125 h 331788"/>
                  <a:gd name="connsiteX67" fmla="*/ 48295 w 331788"/>
                  <a:gd name="connsiteY67" fmla="*/ 141288 h 331788"/>
                  <a:gd name="connsiteX68" fmla="*/ 15663 w 331788"/>
                  <a:gd name="connsiteY68" fmla="*/ 141288 h 331788"/>
                  <a:gd name="connsiteX69" fmla="*/ 0 w 331788"/>
                  <a:gd name="connsiteY69" fmla="*/ 126862 h 331788"/>
                  <a:gd name="connsiteX70" fmla="*/ 15663 w 331788"/>
                  <a:gd name="connsiteY70" fmla="*/ 111125 h 331788"/>
                  <a:gd name="connsiteX71" fmla="*/ 165894 w 331788"/>
                  <a:gd name="connsiteY71" fmla="*/ 104775 h 331788"/>
                  <a:gd name="connsiteX72" fmla="*/ 169783 w 331788"/>
                  <a:gd name="connsiteY72" fmla="*/ 109934 h 331788"/>
                  <a:gd name="connsiteX73" fmla="*/ 169783 w 331788"/>
                  <a:gd name="connsiteY73" fmla="*/ 116383 h 331788"/>
                  <a:gd name="connsiteX74" fmla="*/ 203492 w 331788"/>
                  <a:gd name="connsiteY74" fmla="*/ 137021 h 331788"/>
                  <a:gd name="connsiteX75" fmla="*/ 194417 w 331788"/>
                  <a:gd name="connsiteY75" fmla="*/ 146050 h 331788"/>
                  <a:gd name="connsiteX76" fmla="*/ 169783 w 331788"/>
                  <a:gd name="connsiteY76" fmla="*/ 130572 h 331788"/>
                  <a:gd name="connsiteX77" fmla="*/ 169783 w 331788"/>
                  <a:gd name="connsiteY77" fmla="*/ 156369 h 331788"/>
                  <a:gd name="connsiteX78" fmla="*/ 204788 w 331788"/>
                  <a:gd name="connsiteY78" fmla="*/ 187325 h 331788"/>
                  <a:gd name="connsiteX79" fmla="*/ 169783 w 331788"/>
                  <a:gd name="connsiteY79" fmla="*/ 215702 h 331788"/>
                  <a:gd name="connsiteX80" fmla="*/ 169783 w 331788"/>
                  <a:gd name="connsiteY80" fmla="*/ 223441 h 331788"/>
                  <a:gd name="connsiteX81" fmla="*/ 165894 w 331788"/>
                  <a:gd name="connsiteY81" fmla="*/ 228600 h 331788"/>
                  <a:gd name="connsiteX82" fmla="*/ 162004 w 331788"/>
                  <a:gd name="connsiteY82" fmla="*/ 223441 h 331788"/>
                  <a:gd name="connsiteX83" fmla="*/ 162004 w 331788"/>
                  <a:gd name="connsiteY83" fmla="*/ 215702 h 331788"/>
                  <a:gd name="connsiteX84" fmla="*/ 127000 w 331788"/>
                  <a:gd name="connsiteY84" fmla="*/ 189905 h 331788"/>
                  <a:gd name="connsiteX85" fmla="*/ 136075 w 331788"/>
                  <a:gd name="connsiteY85" fmla="*/ 182166 h 331788"/>
                  <a:gd name="connsiteX86" fmla="*/ 162004 w 331788"/>
                  <a:gd name="connsiteY86" fmla="*/ 201813 h 331788"/>
                  <a:gd name="connsiteX87" fmla="*/ 162004 w 331788"/>
                  <a:gd name="connsiteY87" fmla="*/ 173137 h 331788"/>
                  <a:gd name="connsiteX88" fmla="*/ 129593 w 331788"/>
                  <a:gd name="connsiteY88" fmla="*/ 144760 h 331788"/>
                  <a:gd name="connsiteX89" fmla="*/ 162004 w 331788"/>
                  <a:gd name="connsiteY89" fmla="*/ 116383 h 331788"/>
                  <a:gd name="connsiteX90" fmla="*/ 162004 w 331788"/>
                  <a:gd name="connsiteY90" fmla="*/ 109934 h 331788"/>
                  <a:gd name="connsiteX91" fmla="*/ 165894 w 331788"/>
                  <a:gd name="connsiteY91" fmla="*/ 104775 h 331788"/>
                  <a:gd name="connsiteX92" fmla="*/ 165895 w 331788"/>
                  <a:gd name="connsiteY92" fmla="*/ 90487 h 331788"/>
                  <a:gd name="connsiteX93" fmla="*/ 90488 w 331788"/>
                  <a:gd name="connsiteY93" fmla="*/ 165894 h 331788"/>
                  <a:gd name="connsiteX94" fmla="*/ 165895 w 331788"/>
                  <a:gd name="connsiteY94" fmla="*/ 241301 h 331788"/>
                  <a:gd name="connsiteX95" fmla="*/ 241302 w 331788"/>
                  <a:gd name="connsiteY95" fmla="*/ 165894 h 331788"/>
                  <a:gd name="connsiteX96" fmla="*/ 165895 w 331788"/>
                  <a:gd name="connsiteY96" fmla="*/ 90487 h 331788"/>
                  <a:gd name="connsiteX97" fmla="*/ 246063 w 331788"/>
                  <a:gd name="connsiteY97" fmla="*/ 76200 h 331788"/>
                  <a:gd name="connsiteX98" fmla="*/ 316202 w 331788"/>
                  <a:gd name="connsiteY98" fmla="*/ 76200 h 331788"/>
                  <a:gd name="connsiteX99" fmla="*/ 331788 w 331788"/>
                  <a:gd name="connsiteY99" fmla="*/ 90626 h 331788"/>
                  <a:gd name="connsiteX100" fmla="*/ 316202 w 331788"/>
                  <a:gd name="connsiteY100" fmla="*/ 106363 h 331788"/>
                  <a:gd name="connsiteX101" fmla="*/ 270742 w 331788"/>
                  <a:gd name="connsiteY101" fmla="*/ 106363 h 331788"/>
                  <a:gd name="connsiteX102" fmla="*/ 246063 w 331788"/>
                  <a:gd name="connsiteY102" fmla="*/ 76200 h 331788"/>
                  <a:gd name="connsiteX103" fmla="*/ 15688 w 331788"/>
                  <a:gd name="connsiteY103" fmla="*/ 74612 h 331788"/>
                  <a:gd name="connsiteX104" fmla="*/ 88900 w 331788"/>
                  <a:gd name="connsiteY104" fmla="*/ 74612 h 331788"/>
                  <a:gd name="connsiteX105" fmla="*/ 62753 w 331788"/>
                  <a:gd name="connsiteY105" fmla="*/ 104775 h 331788"/>
                  <a:gd name="connsiteX106" fmla="*/ 15688 w 331788"/>
                  <a:gd name="connsiteY106" fmla="*/ 104775 h 331788"/>
                  <a:gd name="connsiteX107" fmla="*/ 0 w 331788"/>
                  <a:gd name="connsiteY107" fmla="*/ 89038 h 331788"/>
                  <a:gd name="connsiteX108" fmla="*/ 15688 w 331788"/>
                  <a:gd name="connsiteY108" fmla="*/ 74612 h 331788"/>
                  <a:gd name="connsiteX109" fmla="*/ 166688 w 331788"/>
                  <a:gd name="connsiteY109" fmla="*/ 61912 h 331788"/>
                  <a:gd name="connsiteX110" fmla="*/ 271463 w 331788"/>
                  <a:gd name="connsiteY110" fmla="*/ 166687 h 331788"/>
                  <a:gd name="connsiteX111" fmla="*/ 166688 w 331788"/>
                  <a:gd name="connsiteY111" fmla="*/ 271462 h 331788"/>
                  <a:gd name="connsiteX112" fmla="*/ 61913 w 331788"/>
                  <a:gd name="connsiteY112" fmla="*/ 166687 h 331788"/>
                  <a:gd name="connsiteX113" fmla="*/ 166688 w 331788"/>
                  <a:gd name="connsiteY113" fmla="*/ 61912 h 331788"/>
                  <a:gd name="connsiteX114" fmla="*/ 204759 w 331788"/>
                  <a:gd name="connsiteY114" fmla="*/ 38100 h 331788"/>
                  <a:gd name="connsiteX115" fmla="*/ 316234 w 331788"/>
                  <a:gd name="connsiteY115" fmla="*/ 38100 h 331788"/>
                  <a:gd name="connsiteX116" fmla="*/ 331788 w 331788"/>
                  <a:gd name="connsiteY116" fmla="*/ 53975 h 331788"/>
                  <a:gd name="connsiteX117" fmla="*/ 316234 w 331788"/>
                  <a:gd name="connsiteY117" fmla="*/ 69850 h 331788"/>
                  <a:gd name="connsiteX118" fmla="*/ 235868 w 331788"/>
                  <a:gd name="connsiteY118" fmla="*/ 69850 h 331788"/>
                  <a:gd name="connsiteX119" fmla="*/ 190500 w 331788"/>
                  <a:gd name="connsiteY119" fmla="*/ 48683 h 331788"/>
                  <a:gd name="connsiteX120" fmla="*/ 204759 w 331788"/>
                  <a:gd name="connsiteY120" fmla="*/ 38100 h 331788"/>
                  <a:gd name="connsiteX121" fmla="*/ 204759 w 331788"/>
                  <a:gd name="connsiteY121" fmla="*/ 0 h 331788"/>
                  <a:gd name="connsiteX122" fmla="*/ 316234 w 331788"/>
                  <a:gd name="connsiteY122" fmla="*/ 0 h 331788"/>
                  <a:gd name="connsiteX123" fmla="*/ 331788 w 331788"/>
                  <a:gd name="connsiteY123" fmla="*/ 15737 h 331788"/>
                  <a:gd name="connsiteX124" fmla="*/ 316234 w 331788"/>
                  <a:gd name="connsiteY124" fmla="*/ 30163 h 331788"/>
                  <a:gd name="connsiteX125" fmla="*/ 204759 w 331788"/>
                  <a:gd name="connsiteY125" fmla="*/ 30163 h 331788"/>
                  <a:gd name="connsiteX126" fmla="*/ 190500 w 331788"/>
                  <a:gd name="connsiteY126" fmla="*/ 15737 h 331788"/>
                  <a:gd name="connsiteX127" fmla="*/ 204759 w 331788"/>
                  <a:gd name="connsiteY127"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31788" h="331788">
                    <a:moveTo>
                      <a:pt x="15554" y="301625"/>
                    </a:moveTo>
                    <a:cubicBezTo>
                      <a:pt x="15554" y="301625"/>
                      <a:pt x="15554" y="301625"/>
                      <a:pt x="127029" y="301625"/>
                    </a:cubicBezTo>
                    <a:cubicBezTo>
                      <a:pt x="134807" y="301625"/>
                      <a:pt x="141288" y="308182"/>
                      <a:pt x="141288" y="316051"/>
                    </a:cubicBezTo>
                    <a:cubicBezTo>
                      <a:pt x="141288" y="325231"/>
                      <a:pt x="134807" y="331788"/>
                      <a:pt x="127029" y="331788"/>
                    </a:cubicBezTo>
                    <a:cubicBezTo>
                      <a:pt x="127029" y="331788"/>
                      <a:pt x="127029" y="331788"/>
                      <a:pt x="15554" y="331788"/>
                    </a:cubicBezTo>
                    <a:cubicBezTo>
                      <a:pt x="6481" y="331788"/>
                      <a:pt x="0" y="325231"/>
                      <a:pt x="0" y="316051"/>
                    </a:cubicBezTo>
                    <a:cubicBezTo>
                      <a:pt x="0" y="308182"/>
                      <a:pt x="6481" y="301625"/>
                      <a:pt x="15554" y="301625"/>
                    </a:cubicBezTo>
                    <a:close/>
                    <a:moveTo>
                      <a:pt x="15554" y="263525"/>
                    </a:moveTo>
                    <a:cubicBezTo>
                      <a:pt x="15554" y="263525"/>
                      <a:pt x="15554" y="263525"/>
                      <a:pt x="95920" y="263525"/>
                    </a:cubicBezTo>
                    <a:cubicBezTo>
                      <a:pt x="108882" y="273579"/>
                      <a:pt x="124437" y="279863"/>
                      <a:pt x="141288" y="283634"/>
                    </a:cubicBezTo>
                    <a:cubicBezTo>
                      <a:pt x="138695" y="288661"/>
                      <a:pt x="133510" y="293688"/>
                      <a:pt x="127029" y="293688"/>
                    </a:cubicBezTo>
                    <a:cubicBezTo>
                      <a:pt x="127029" y="293688"/>
                      <a:pt x="127029" y="293688"/>
                      <a:pt x="15554" y="293688"/>
                    </a:cubicBezTo>
                    <a:cubicBezTo>
                      <a:pt x="6481" y="293688"/>
                      <a:pt x="0" y="286147"/>
                      <a:pt x="0" y="278607"/>
                    </a:cubicBezTo>
                    <a:cubicBezTo>
                      <a:pt x="0" y="271066"/>
                      <a:pt x="6481" y="263525"/>
                      <a:pt x="15554" y="263525"/>
                    </a:cubicBezTo>
                    <a:close/>
                    <a:moveTo>
                      <a:pt x="270156" y="228600"/>
                    </a:moveTo>
                    <a:cubicBezTo>
                      <a:pt x="270156" y="228600"/>
                      <a:pt x="270156" y="228600"/>
                      <a:pt x="316380" y="228600"/>
                    </a:cubicBezTo>
                    <a:cubicBezTo>
                      <a:pt x="325368" y="228600"/>
                      <a:pt x="331788" y="235157"/>
                      <a:pt x="331788" y="244337"/>
                    </a:cubicBezTo>
                    <a:cubicBezTo>
                      <a:pt x="331788" y="252206"/>
                      <a:pt x="325368" y="258763"/>
                      <a:pt x="316380" y="258763"/>
                    </a:cubicBezTo>
                    <a:cubicBezTo>
                      <a:pt x="316380" y="258763"/>
                      <a:pt x="316380" y="258763"/>
                      <a:pt x="244475" y="258763"/>
                    </a:cubicBezTo>
                    <a:cubicBezTo>
                      <a:pt x="254747" y="250895"/>
                      <a:pt x="262451" y="240403"/>
                      <a:pt x="270156" y="228600"/>
                    </a:cubicBezTo>
                    <a:close/>
                    <a:moveTo>
                      <a:pt x="15586" y="225425"/>
                    </a:moveTo>
                    <a:cubicBezTo>
                      <a:pt x="15586" y="225425"/>
                      <a:pt x="15586" y="225425"/>
                      <a:pt x="61046" y="225425"/>
                    </a:cubicBezTo>
                    <a:cubicBezTo>
                      <a:pt x="67541" y="237228"/>
                      <a:pt x="76633" y="247720"/>
                      <a:pt x="85725" y="255588"/>
                    </a:cubicBezTo>
                    <a:cubicBezTo>
                      <a:pt x="85725" y="255588"/>
                      <a:pt x="85725" y="255588"/>
                      <a:pt x="15586" y="255588"/>
                    </a:cubicBezTo>
                    <a:cubicBezTo>
                      <a:pt x="6494" y="255588"/>
                      <a:pt x="0" y="249031"/>
                      <a:pt x="0" y="241162"/>
                    </a:cubicBezTo>
                    <a:cubicBezTo>
                      <a:pt x="0" y="231982"/>
                      <a:pt x="6494" y="225425"/>
                      <a:pt x="15586" y="225425"/>
                    </a:cubicBezTo>
                    <a:close/>
                    <a:moveTo>
                      <a:pt x="283493" y="190500"/>
                    </a:moveTo>
                    <a:cubicBezTo>
                      <a:pt x="283493" y="190500"/>
                      <a:pt x="283493" y="190500"/>
                      <a:pt x="316125" y="190500"/>
                    </a:cubicBezTo>
                    <a:cubicBezTo>
                      <a:pt x="325262" y="190500"/>
                      <a:pt x="331788" y="197057"/>
                      <a:pt x="331788" y="204926"/>
                    </a:cubicBezTo>
                    <a:cubicBezTo>
                      <a:pt x="331788" y="214106"/>
                      <a:pt x="325262" y="220663"/>
                      <a:pt x="316125" y="220663"/>
                    </a:cubicBezTo>
                    <a:cubicBezTo>
                      <a:pt x="316125" y="220663"/>
                      <a:pt x="316125" y="220663"/>
                      <a:pt x="273050" y="220663"/>
                    </a:cubicBezTo>
                    <a:cubicBezTo>
                      <a:pt x="278271" y="211483"/>
                      <a:pt x="282187" y="200992"/>
                      <a:pt x="283493" y="190500"/>
                    </a:cubicBezTo>
                    <a:close/>
                    <a:moveTo>
                      <a:pt x="15586" y="188912"/>
                    </a:moveTo>
                    <a:cubicBezTo>
                      <a:pt x="15586" y="188912"/>
                      <a:pt x="15586" y="188912"/>
                      <a:pt x="46759" y="188912"/>
                    </a:cubicBezTo>
                    <a:cubicBezTo>
                      <a:pt x="49357" y="198851"/>
                      <a:pt x="53253" y="208790"/>
                      <a:pt x="57150" y="217487"/>
                    </a:cubicBezTo>
                    <a:cubicBezTo>
                      <a:pt x="57150" y="217487"/>
                      <a:pt x="57150" y="217487"/>
                      <a:pt x="15586" y="217487"/>
                    </a:cubicBezTo>
                    <a:cubicBezTo>
                      <a:pt x="6494" y="217487"/>
                      <a:pt x="0" y="211275"/>
                      <a:pt x="0" y="202578"/>
                    </a:cubicBezTo>
                    <a:cubicBezTo>
                      <a:pt x="0" y="195124"/>
                      <a:pt x="6494" y="188912"/>
                      <a:pt x="15586" y="188912"/>
                    </a:cubicBezTo>
                    <a:close/>
                    <a:moveTo>
                      <a:pt x="169863" y="174625"/>
                    </a:moveTo>
                    <a:cubicBezTo>
                      <a:pt x="169863" y="174625"/>
                      <a:pt x="169863" y="174625"/>
                      <a:pt x="169863" y="201813"/>
                    </a:cubicBezTo>
                    <a:cubicBezTo>
                      <a:pt x="179266" y="201813"/>
                      <a:pt x="187326" y="197758"/>
                      <a:pt x="187326" y="188762"/>
                    </a:cubicBezTo>
                    <a:cubicBezTo>
                      <a:pt x="187326" y="178481"/>
                      <a:pt x="177923" y="175910"/>
                      <a:pt x="169863" y="174625"/>
                    </a:cubicBezTo>
                    <a:close/>
                    <a:moveTo>
                      <a:pt x="285750" y="152400"/>
                    </a:moveTo>
                    <a:cubicBezTo>
                      <a:pt x="285750" y="152400"/>
                      <a:pt x="285750" y="152400"/>
                      <a:pt x="316442" y="152400"/>
                    </a:cubicBezTo>
                    <a:cubicBezTo>
                      <a:pt x="325394" y="152400"/>
                      <a:pt x="331788" y="159941"/>
                      <a:pt x="331788" y="167481"/>
                    </a:cubicBezTo>
                    <a:cubicBezTo>
                      <a:pt x="331788" y="175022"/>
                      <a:pt x="325394" y="182563"/>
                      <a:pt x="316442" y="182563"/>
                    </a:cubicBezTo>
                    <a:cubicBezTo>
                      <a:pt x="316442" y="182563"/>
                      <a:pt x="316442" y="182563"/>
                      <a:pt x="285750" y="182563"/>
                    </a:cubicBezTo>
                    <a:cubicBezTo>
                      <a:pt x="287029" y="176279"/>
                      <a:pt x="287029" y="171252"/>
                      <a:pt x="287029" y="166225"/>
                    </a:cubicBezTo>
                    <a:cubicBezTo>
                      <a:pt x="287029" y="161197"/>
                      <a:pt x="287029" y="157427"/>
                      <a:pt x="285750" y="152400"/>
                    </a:cubicBezTo>
                    <a:close/>
                    <a:moveTo>
                      <a:pt x="15875" y="149225"/>
                    </a:moveTo>
                    <a:cubicBezTo>
                      <a:pt x="15875" y="149225"/>
                      <a:pt x="15875" y="149225"/>
                      <a:pt x="47625" y="149225"/>
                    </a:cubicBezTo>
                    <a:cubicBezTo>
                      <a:pt x="46302" y="155839"/>
                      <a:pt x="46302" y="161131"/>
                      <a:pt x="46302" y="166423"/>
                    </a:cubicBezTo>
                    <a:cubicBezTo>
                      <a:pt x="46302" y="171714"/>
                      <a:pt x="46302" y="175683"/>
                      <a:pt x="47625" y="180975"/>
                    </a:cubicBezTo>
                    <a:cubicBezTo>
                      <a:pt x="47625" y="180975"/>
                      <a:pt x="47625" y="180975"/>
                      <a:pt x="15875" y="180975"/>
                    </a:cubicBezTo>
                    <a:cubicBezTo>
                      <a:pt x="6614" y="180975"/>
                      <a:pt x="0" y="173037"/>
                      <a:pt x="0" y="165100"/>
                    </a:cubicBezTo>
                    <a:cubicBezTo>
                      <a:pt x="0" y="157162"/>
                      <a:pt x="6614" y="149225"/>
                      <a:pt x="15875" y="149225"/>
                    </a:cubicBezTo>
                    <a:close/>
                    <a:moveTo>
                      <a:pt x="161925" y="130175"/>
                    </a:moveTo>
                    <a:cubicBezTo>
                      <a:pt x="152664" y="130175"/>
                      <a:pt x="146050" y="135188"/>
                      <a:pt x="146050" y="141455"/>
                    </a:cubicBezTo>
                    <a:cubicBezTo>
                      <a:pt x="146050" y="147721"/>
                      <a:pt x="151341" y="151481"/>
                      <a:pt x="161925" y="153988"/>
                    </a:cubicBezTo>
                    <a:close/>
                    <a:moveTo>
                      <a:pt x="274638" y="114300"/>
                    </a:moveTo>
                    <a:cubicBezTo>
                      <a:pt x="274638" y="114300"/>
                      <a:pt x="274638" y="114300"/>
                      <a:pt x="316202" y="114300"/>
                    </a:cubicBezTo>
                    <a:cubicBezTo>
                      <a:pt x="325294" y="114300"/>
                      <a:pt x="331788" y="120857"/>
                      <a:pt x="331788" y="130037"/>
                    </a:cubicBezTo>
                    <a:cubicBezTo>
                      <a:pt x="331788" y="137906"/>
                      <a:pt x="325294" y="144463"/>
                      <a:pt x="316202" y="144463"/>
                    </a:cubicBezTo>
                    <a:cubicBezTo>
                      <a:pt x="316202" y="144463"/>
                      <a:pt x="316202" y="144463"/>
                      <a:pt x="283730" y="144463"/>
                    </a:cubicBezTo>
                    <a:cubicBezTo>
                      <a:pt x="282431" y="133971"/>
                      <a:pt x="278535" y="123480"/>
                      <a:pt x="274638" y="114300"/>
                    </a:cubicBezTo>
                    <a:close/>
                    <a:moveTo>
                      <a:pt x="15663" y="111125"/>
                    </a:moveTo>
                    <a:cubicBezTo>
                      <a:pt x="15663" y="111125"/>
                      <a:pt x="15663" y="111125"/>
                      <a:pt x="58738" y="111125"/>
                    </a:cubicBezTo>
                    <a:cubicBezTo>
                      <a:pt x="53517" y="120305"/>
                      <a:pt x="49601" y="130796"/>
                      <a:pt x="48295" y="141288"/>
                    </a:cubicBezTo>
                    <a:cubicBezTo>
                      <a:pt x="48295" y="141288"/>
                      <a:pt x="48295" y="141288"/>
                      <a:pt x="15663" y="141288"/>
                    </a:cubicBezTo>
                    <a:cubicBezTo>
                      <a:pt x="6526" y="141288"/>
                      <a:pt x="0" y="134731"/>
                      <a:pt x="0" y="126862"/>
                    </a:cubicBezTo>
                    <a:cubicBezTo>
                      <a:pt x="0" y="117682"/>
                      <a:pt x="6526" y="111125"/>
                      <a:pt x="15663" y="111125"/>
                    </a:cubicBezTo>
                    <a:close/>
                    <a:moveTo>
                      <a:pt x="165894" y="104775"/>
                    </a:moveTo>
                    <a:cubicBezTo>
                      <a:pt x="168487" y="104775"/>
                      <a:pt x="169783" y="107355"/>
                      <a:pt x="169783" y="109934"/>
                    </a:cubicBezTo>
                    <a:cubicBezTo>
                      <a:pt x="169783" y="109934"/>
                      <a:pt x="169783" y="109934"/>
                      <a:pt x="169783" y="116383"/>
                    </a:cubicBezTo>
                    <a:cubicBezTo>
                      <a:pt x="181452" y="116383"/>
                      <a:pt x="203492" y="124123"/>
                      <a:pt x="203492" y="137021"/>
                    </a:cubicBezTo>
                    <a:cubicBezTo>
                      <a:pt x="203492" y="142180"/>
                      <a:pt x="198306" y="146050"/>
                      <a:pt x="194417" y="146050"/>
                    </a:cubicBezTo>
                    <a:cubicBezTo>
                      <a:pt x="185341" y="146050"/>
                      <a:pt x="185341" y="130572"/>
                      <a:pt x="169783" y="130572"/>
                    </a:cubicBezTo>
                    <a:cubicBezTo>
                      <a:pt x="169783" y="130572"/>
                      <a:pt x="169783" y="130572"/>
                      <a:pt x="169783" y="156369"/>
                    </a:cubicBezTo>
                    <a:cubicBezTo>
                      <a:pt x="187934" y="160238"/>
                      <a:pt x="204788" y="165398"/>
                      <a:pt x="204788" y="187325"/>
                    </a:cubicBezTo>
                    <a:cubicBezTo>
                      <a:pt x="204788" y="205383"/>
                      <a:pt x="190527" y="214412"/>
                      <a:pt x="169783" y="215702"/>
                    </a:cubicBezTo>
                    <a:cubicBezTo>
                      <a:pt x="169783" y="215702"/>
                      <a:pt x="169783" y="215702"/>
                      <a:pt x="169783" y="223441"/>
                    </a:cubicBezTo>
                    <a:cubicBezTo>
                      <a:pt x="169783" y="226020"/>
                      <a:pt x="168487" y="228600"/>
                      <a:pt x="165894" y="228600"/>
                    </a:cubicBezTo>
                    <a:cubicBezTo>
                      <a:pt x="163301" y="228600"/>
                      <a:pt x="162004" y="226020"/>
                      <a:pt x="162004" y="223441"/>
                    </a:cubicBezTo>
                    <a:cubicBezTo>
                      <a:pt x="162004" y="223441"/>
                      <a:pt x="162004" y="223441"/>
                      <a:pt x="162004" y="215702"/>
                    </a:cubicBezTo>
                    <a:cubicBezTo>
                      <a:pt x="138668" y="214412"/>
                      <a:pt x="127000" y="201813"/>
                      <a:pt x="127000" y="189905"/>
                    </a:cubicBezTo>
                    <a:cubicBezTo>
                      <a:pt x="127000" y="184745"/>
                      <a:pt x="130889" y="182166"/>
                      <a:pt x="136075" y="182166"/>
                    </a:cubicBezTo>
                    <a:cubicBezTo>
                      <a:pt x="151633" y="182166"/>
                      <a:pt x="138668" y="200224"/>
                      <a:pt x="162004" y="201813"/>
                    </a:cubicBezTo>
                    <a:cubicBezTo>
                      <a:pt x="162004" y="201813"/>
                      <a:pt x="162004" y="201813"/>
                      <a:pt x="162004" y="173137"/>
                    </a:cubicBezTo>
                    <a:cubicBezTo>
                      <a:pt x="141261" y="169267"/>
                      <a:pt x="129593" y="160238"/>
                      <a:pt x="129593" y="144760"/>
                    </a:cubicBezTo>
                    <a:cubicBezTo>
                      <a:pt x="129593" y="126702"/>
                      <a:pt x="145150" y="117673"/>
                      <a:pt x="162004" y="116383"/>
                    </a:cubicBezTo>
                    <a:cubicBezTo>
                      <a:pt x="162004" y="116383"/>
                      <a:pt x="162004" y="116383"/>
                      <a:pt x="162004" y="109934"/>
                    </a:cubicBezTo>
                    <a:cubicBezTo>
                      <a:pt x="162004" y="107355"/>
                      <a:pt x="163301" y="104775"/>
                      <a:pt x="165894" y="104775"/>
                    </a:cubicBezTo>
                    <a:close/>
                    <a:moveTo>
                      <a:pt x="165895" y="90487"/>
                    </a:moveTo>
                    <a:cubicBezTo>
                      <a:pt x="124249" y="90487"/>
                      <a:pt x="90488" y="124248"/>
                      <a:pt x="90488" y="165894"/>
                    </a:cubicBezTo>
                    <a:cubicBezTo>
                      <a:pt x="90488" y="207540"/>
                      <a:pt x="124249" y="241301"/>
                      <a:pt x="165895" y="241301"/>
                    </a:cubicBezTo>
                    <a:cubicBezTo>
                      <a:pt x="207541" y="241301"/>
                      <a:pt x="241302" y="207540"/>
                      <a:pt x="241302" y="165894"/>
                    </a:cubicBezTo>
                    <a:cubicBezTo>
                      <a:pt x="241302" y="124248"/>
                      <a:pt x="207541" y="90487"/>
                      <a:pt x="165895" y="90487"/>
                    </a:cubicBezTo>
                    <a:close/>
                    <a:moveTo>
                      <a:pt x="246063" y="76200"/>
                    </a:moveTo>
                    <a:cubicBezTo>
                      <a:pt x="246063" y="76200"/>
                      <a:pt x="246063" y="76200"/>
                      <a:pt x="316202" y="76200"/>
                    </a:cubicBezTo>
                    <a:cubicBezTo>
                      <a:pt x="325294" y="76200"/>
                      <a:pt x="331788" y="82757"/>
                      <a:pt x="331788" y="90626"/>
                    </a:cubicBezTo>
                    <a:cubicBezTo>
                      <a:pt x="331788" y="99806"/>
                      <a:pt x="325294" y="106363"/>
                      <a:pt x="316202" y="106363"/>
                    </a:cubicBezTo>
                    <a:cubicBezTo>
                      <a:pt x="316202" y="106363"/>
                      <a:pt x="316202" y="106363"/>
                      <a:pt x="270742" y="106363"/>
                    </a:cubicBezTo>
                    <a:cubicBezTo>
                      <a:pt x="264247" y="94560"/>
                      <a:pt x="255155" y="84068"/>
                      <a:pt x="246063" y="76200"/>
                    </a:cubicBezTo>
                    <a:close/>
                    <a:moveTo>
                      <a:pt x="15688" y="74612"/>
                    </a:moveTo>
                    <a:cubicBezTo>
                      <a:pt x="15688" y="74612"/>
                      <a:pt x="15688" y="74612"/>
                      <a:pt x="88900" y="74612"/>
                    </a:cubicBezTo>
                    <a:cubicBezTo>
                      <a:pt x="78441" y="82480"/>
                      <a:pt x="70597" y="92972"/>
                      <a:pt x="62753" y="104775"/>
                    </a:cubicBezTo>
                    <a:cubicBezTo>
                      <a:pt x="62753" y="104775"/>
                      <a:pt x="62753" y="104775"/>
                      <a:pt x="15688" y="104775"/>
                    </a:cubicBezTo>
                    <a:cubicBezTo>
                      <a:pt x="6537" y="104775"/>
                      <a:pt x="0" y="98218"/>
                      <a:pt x="0" y="89038"/>
                    </a:cubicBezTo>
                    <a:cubicBezTo>
                      <a:pt x="0" y="81169"/>
                      <a:pt x="6537" y="74612"/>
                      <a:pt x="15688" y="74612"/>
                    </a:cubicBezTo>
                    <a:close/>
                    <a:moveTo>
                      <a:pt x="166688" y="61912"/>
                    </a:moveTo>
                    <a:cubicBezTo>
                      <a:pt x="224554" y="61912"/>
                      <a:pt x="271463" y="108821"/>
                      <a:pt x="271463" y="166687"/>
                    </a:cubicBezTo>
                    <a:cubicBezTo>
                      <a:pt x="271463" y="224553"/>
                      <a:pt x="224554" y="271462"/>
                      <a:pt x="166688" y="271462"/>
                    </a:cubicBezTo>
                    <a:cubicBezTo>
                      <a:pt x="108822" y="271462"/>
                      <a:pt x="61913" y="224553"/>
                      <a:pt x="61913" y="166687"/>
                    </a:cubicBezTo>
                    <a:cubicBezTo>
                      <a:pt x="61913" y="108821"/>
                      <a:pt x="108822" y="61912"/>
                      <a:pt x="166688" y="61912"/>
                    </a:cubicBezTo>
                    <a:close/>
                    <a:moveTo>
                      <a:pt x="204759" y="38100"/>
                    </a:moveTo>
                    <a:cubicBezTo>
                      <a:pt x="204759" y="38100"/>
                      <a:pt x="204759" y="38100"/>
                      <a:pt x="316234" y="38100"/>
                    </a:cubicBezTo>
                    <a:cubicBezTo>
                      <a:pt x="325307" y="38100"/>
                      <a:pt x="331788" y="46037"/>
                      <a:pt x="331788" y="53975"/>
                    </a:cubicBezTo>
                    <a:cubicBezTo>
                      <a:pt x="331788" y="61912"/>
                      <a:pt x="325307" y="69850"/>
                      <a:pt x="316234" y="69850"/>
                    </a:cubicBezTo>
                    <a:cubicBezTo>
                      <a:pt x="316234" y="69850"/>
                      <a:pt x="316234" y="69850"/>
                      <a:pt x="235868" y="69850"/>
                    </a:cubicBezTo>
                    <a:cubicBezTo>
                      <a:pt x="222906" y="59267"/>
                      <a:pt x="207351" y="52652"/>
                      <a:pt x="190500" y="48683"/>
                    </a:cubicBezTo>
                    <a:cubicBezTo>
                      <a:pt x="193093" y="43392"/>
                      <a:pt x="198278" y="38100"/>
                      <a:pt x="204759" y="38100"/>
                    </a:cubicBezTo>
                    <a:close/>
                    <a:moveTo>
                      <a:pt x="204759" y="0"/>
                    </a:moveTo>
                    <a:cubicBezTo>
                      <a:pt x="204759" y="0"/>
                      <a:pt x="204759" y="0"/>
                      <a:pt x="316234" y="0"/>
                    </a:cubicBezTo>
                    <a:cubicBezTo>
                      <a:pt x="325307" y="0"/>
                      <a:pt x="331788" y="6557"/>
                      <a:pt x="331788" y="15737"/>
                    </a:cubicBezTo>
                    <a:cubicBezTo>
                      <a:pt x="331788" y="23606"/>
                      <a:pt x="325307" y="30163"/>
                      <a:pt x="316234" y="30163"/>
                    </a:cubicBezTo>
                    <a:cubicBezTo>
                      <a:pt x="316234" y="30163"/>
                      <a:pt x="316234" y="30163"/>
                      <a:pt x="204759" y="30163"/>
                    </a:cubicBezTo>
                    <a:cubicBezTo>
                      <a:pt x="196981" y="30163"/>
                      <a:pt x="190500" y="23606"/>
                      <a:pt x="190500" y="15737"/>
                    </a:cubicBezTo>
                    <a:cubicBezTo>
                      <a:pt x="190500" y="6557"/>
                      <a:pt x="196981" y="0"/>
                      <a:pt x="20475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cxnSp>
        <p:nvCxnSpPr>
          <p:cNvPr id="23" name="直接连接符 22"/>
          <p:cNvCxnSpPr/>
          <p:nvPr>
            <p:custDataLst>
              <p:tags r:id="rId12"/>
            </p:custDataLst>
          </p:nvPr>
        </p:nvCxnSpPr>
        <p:spPr>
          <a:xfrm flipV="1">
            <a:off x="3737188" y="2743200"/>
            <a:ext cx="1025312" cy="6975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3"/>
            </p:custDataLst>
          </p:nvPr>
        </p:nvCxnSpPr>
        <p:spPr>
          <a:xfrm flipV="1">
            <a:off x="5670089" y="3687077"/>
            <a:ext cx="1592655" cy="1083555"/>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14"/>
            </p:custDataLst>
          </p:nvPr>
        </p:nvCxnSpPr>
        <p:spPr>
          <a:xfrm>
            <a:off x="3684175" y="4035859"/>
            <a:ext cx="1176252" cy="78259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15"/>
            </p:custDataLst>
          </p:nvPr>
        </p:nvCxnSpPr>
        <p:spPr>
          <a:xfrm>
            <a:off x="7959937" y="3748685"/>
            <a:ext cx="494875" cy="47467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nvGrpSpPr>
          <p:cNvPr id="27" name="组合 26"/>
          <p:cNvGrpSpPr/>
          <p:nvPr>
            <p:custDataLst>
              <p:tags r:id="rId16"/>
            </p:custDataLst>
          </p:nvPr>
        </p:nvGrpSpPr>
        <p:grpSpPr>
          <a:xfrm>
            <a:off x="1424483" y="1703035"/>
            <a:ext cx="3139293" cy="1299032"/>
            <a:chOff x="7483989" y="3361982"/>
            <a:chExt cx="2942234" cy="1299031"/>
          </a:xfrm>
        </p:grpSpPr>
        <p:sp>
          <p:nvSpPr>
            <p:cNvPr id="28" name="矩形 27"/>
            <p:cNvSpPr/>
            <p:nvPr>
              <p:custDataLst>
                <p:tags r:id="rId17"/>
              </p:custDataLst>
            </p:nvPr>
          </p:nvSpPr>
          <p:spPr>
            <a:xfrm>
              <a:off x="7483989" y="3685019"/>
              <a:ext cx="2942234" cy="975994"/>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本选题旨在分析行政机关在行使公共管理职能时采用算法决策系统产生的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算法黑箱</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问题，对公民知情权、申辩权和救济权的侵害</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9" name="矩形 28"/>
            <p:cNvSpPr/>
            <p:nvPr>
              <p:custDataLst>
                <p:tags r:id="rId18"/>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0" name="组合 29"/>
          <p:cNvGrpSpPr/>
          <p:nvPr>
            <p:custDataLst>
              <p:tags r:id="rId19"/>
            </p:custDataLst>
          </p:nvPr>
        </p:nvGrpSpPr>
        <p:grpSpPr>
          <a:xfrm>
            <a:off x="1067445" y="4310011"/>
            <a:ext cx="3139293" cy="856437"/>
            <a:chOff x="7483989" y="3361982"/>
            <a:chExt cx="2942234" cy="856436"/>
          </a:xfrm>
        </p:grpSpPr>
        <p:sp>
          <p:nvSpPr>
            <p:cNvPr id="31" name="矩形 30"/>
            <p:cNvSpPr/>
            <p:nvPr>
              <p:custDataLst>
                <p:tags r:id="rId20"/>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借鉴行政正当程序原则、比例原则和公开原则，构建算法行政的合法性框架</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矩形 31"/>
            <p:cNvSpPr/>
            <p:nvPr>
              <p:custDataLst>
                <p:tags r:id="rId21"/>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行政法理论</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3" name="组合 32"/>
          <p:cNvGrpSpPr/>
          <p:nvPr>
            <p:custDataLst>
              <p:tags r:id="rId22"/>
            </p:custDataLst>
          </p:nvPr>
        </p:nvGrpSpPr>
        <p:grpSpPr>
          <a:xfrm>
            <a:off x="5686924" y="5263624"/>
            <a:ext cx="3139293" cy="856437"/>
            <a:chOff x="7483989" y="3361982"/>
            <a:chExt cx="2942234" cy="856436"/>
          </a:xfrm>
        </p:grpSpPr>
        <p:sp>
          <p:nvSpPr>
            <p:cNvPr id="34" name="矩形 33"/>
            <p:cNvSpPr/>
            <p:nvPr>
              <p:custDataLst>
                <p:tags r:id="rId23"/>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分析行政算法可能产生的歧视性后果，探讨算法公平性的法律保障</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矩形 34"/>
            <p:cNvSpPr/>
            <p:nvPr>
              <p:custDataLst>
                <p:tags r:id="rId24"/>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数据伦理法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6" name="组合 35"/>
          <p:cNvGrpSpPr/>
          <p:nvPr>
            <p:custDataLst>
              <p:tags r:id="rId25"/>
            </p:custDataLst>
          </p:nvPr>
        </p:nvGrpSpPr>
        <p:grpSpPr>
          <a:xfrm>
            <a:off x="6633215" y="1862765"/>
            <a:ext cx="3139293" cy="856437"/>
            <a:chOff x="7483989" y="3361982"/>
            <a:chExt cx="2942234" cy="856436"/>
          </a:xfrm>
        </p:grpSpPr>
        <p:sp>
          <p:nvSpPr>
            <p:cNvPr id="37" name="矩形 36"/>
            <p:cNvSpPr/>
            <p:nvPr>
              <p:custDataLst>
                <p:tags r:id="rId26"/>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深度解读和评析国内外关于行政算法规制的法律法规和司法解释</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8" name="矩形 37"/>
            <p:cNvSpPr/>
            <p:nvPr>
              <p:custDataLst>
                <p:tags r:id="rId27"/>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规范分析法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2" name="组合 41"/>
          <p:cNvGrpSpPr/>
          <p:nvPr>
            <p:custDataLst>
              <p:tags r:id="rId28"/>
            </p:custDataLst>
          </p:nvPr>
        </p:nvGrpSpPr>
        <p:grpSpPr>
          <a:xfrm>
            <a:off x="9049905" y="3017164"/>
            <a:ext cx="2484157" cy="1078052"/>
            <a:chOff x="7483989" y="3361982"/>
            <a:chExt cx="2328223" cy="1078051"/>
          </a:xfrm>
        </p:grpSpPr>
        <p:sp>
          <p:nvSpPr>
            <p:cNvPr id="43" name="矩形 42"/>
            <p:cNvSpPr/>
            <p:nvPr>
              <p:custDataLst>
                <p:tags r:id="rId29"/>
              </p:custDataLst>
            </p:nvPr>
          </p:nvSpPr>
          <p:spPr>
            <a:xfrm>
              <a:off x="7483989" y="3685019"/>
              <a:ext cx="2328223" cy="755014"/>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对比德国、英国等国家在行政透明度法中对算法公开和解释义务的规定</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4" name="矩形 43"/>
            <p:cNvSpPr/>
            <p:nvPr>
              <p:custDataLst>
                <p:tags r:id="rId30"/>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比较研究法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45" name="文本框 4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行政决策中的</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算法黑箱</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问题及其正当程序保障研究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3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94"/>
          <p:cNvGrpSpPr/>
          <p:nvPr>
            <p:custDataLst>
              <p:tags r:id="rId1"/>
            </p:custDataLst>
          </p:nvPr>
        </p:nvGrpSpPr>
        <p:grpSpPr>
          <a:xfrm>
            <a:off x="2646267" y="1869549"/>
            <a:ext cx="6879740" cy="3453791"/>
            <a:chOff x="2563813" y="2184400"/>
            <a:chExt cx="7061201" cy="3544888"/>
          </a:xfrm>
          <a:solidFill>
            <a:schemeClr val="tx1"/>
          </a:solidFill>
        </p:grpSpPr>
        <p:grpSp>
          <p:nvGrpSpPr>
            <p:cNvPr id="79" name="Group 93"/>
            <p:cNvGrpSpPr/>
            <p:nvPr/>
          </p:nvGrpSpPr>
          <p:grpSpPr>
            <a:xfrm>
              <a:off x="2563813" y="2184400"/>
              <a:ext cx="7061201" cy="3544888"/>
              <a:chOff x="2563813" y="2184400"/>
              <a:chExt cx="7061201" cy="3544888"/>
            </a:xfrm>
            <a:grpFill/>
          </p:grpSpPr>
          <p:grpSp>
            <p:nvGrpSpPr>
              <p:cNvPr id="81" name="Group 91"/>
              <p:cNvGrpSpPr/>
              <p:nvPr/>
            </p:nvGrpSpPr>
            <p:grpSpPr>
              <a:xfrm>
                <a:off x="3336926" y="2963863"/>
                <a:ext cx="5502275" cy="1960562"/>
                <a:chOff x="3336926" y="2963863"/>
                <a:chExt cx="5502275" cy="1960562"/>
              </a:xfrm>
              <a:grpFill/>
            </p:grpSpPr>
            <p:sp>
              <p:nvSpPr>
                <p:cNvPr id="88" name="Rectangle 5"/>
                <p:cNvSpPr>
                  <a:spLocks noChangeArrowheads="1"/>
                </p:cNvSpPr>
                <p:nvPr>
                  <p:custDataLst>
                    <p:tags r:id="rId2"/>
                  </p:custDataLst>
                </p:nvPr>
              </p:nvSpPr>
              <p:spPr bwMode="auto">
                <a:xfrm>
                  <a:off x="4689476" y="3919538"/>
                  <a:ext cx="2790825" cy="7620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9" name="Freeform 6"/>
                <p:cNvSpPr/>
                <p:nvPr>
                  <p:custDataLst>
                    <p:tags r:id="rId3"/>
                  </p:custDataLst>
                </p:nvPr>
              </p:nvSpPr>
              <p:spPr bwMode="auto">
                <a:xfrm>
                  <a:off x="3336926" y="4229100"/>
                  <a:ext cx="703263" cy="695325"/>
                </a:xfrm>
                <a:custGeom>
                  <a:avLst/>
                  <a:gdLst>
                    <a:gd name="T0" fmla="*/ 443 w 443"/>
                    <a:gd name="T1" fmla="*/ 33 h 438"/>
                    <a:gd name="T2" fmla="*/ 34 w 443"/>
                    <a:gd name="T3" fmla="*/ 438 h 438"/>
                    <a:gd name="T4" fmla="*/ 0 w 443"/>
                    <a:gd name="T5" fmla="*/ 405 h 438"/>
                    <a:gd name="T6" fmla="*/ 410 w 443"/>
                    <a:gd name="T7" fmla="*/ 0 h 438"/>
                    <a:gd name="T8" fmla="*/ 443 w 443"/>
                    <a:gd name="T9" fmla="*/ 33 h 438"/>
                  </a:gdLst>
                  <a:ahLst/>
                  <a:cxnLst>
                    <a:cxn ang="0">
                      <a:pos x="T0" y="T1"/>
                    </a:cxn>
                    <a:cxn ang="0">
                      <a:pos x="T2" y="T3"/>
                    </a:cxn>
                    <a:cxn ang="0">
                      <a:pos x="T4" y="T5"/>
                    </a:cxn>
                    <a:cxn ang="0">
                      <a:pos x="T6" y="T7"/>
                    </a:cxn>
                    <a:cxn ang="0">
                      <a:pos x="T8" y="T9"/>
                    </a:cxn>
                  </a:cxnLst>
                  <a:rect l="0" t="0" r="r" b="b"/>
                  <a:pathLst>
                    <a:path w="443" h="438">
                      <a:moveTo>
                        <a:pt x="443" y="33"/>
                      </a:moveTo>
                      <a:lnTo>
                        <a:pt x="34" y="438"/>
                      </a:lnTo>
                      <a:lnTo>
                        <a:pt x="0" y="405"/>
                      </a:lnTo>
                      <a:lnTo>
                        <a:pt x="410" y="0"/>
                      </a:lnTo>
                      <a:lnTo>
                        <a:pt x="443"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0" name="Freeform 7"/>
                <p:cNvSpPr/>
                <p:nvPr>
                  <p:custDataLst>
                    <p:tags r:id="rId4"/>
                  </p:custDataLst>
                </p:nvPr>
              </p:nvSpPr>
              <p:spPr bwMode="auto">
                <a:xfrm>
                  <a:off x="3348038" y="2967038"/>
                  <a:ext cx="692150" cy="723900"/>
                </a:xfrm>
                <a:custGeom>
                  <a:avLst/>
                  <a:gdLst>
                    <a:gd name="T0" fmla="*/ 400 w 436"/>
                    <a:gd name="T1" fmla="*/ 456 h 456"/>
                    <a:gd name="T2" fmla="*/ 0 w 436"/>
                    <a:gd name="T3" fmla="*/ 34 h 456"/>
                    <a:gd name="T4" fmla="*/ 34 w 436"/>
                    <a:gd name="T5" fmla="*/ 0 h 456"/>
                    <a:gd name="T6" fmla="*/ 436 w 436"/>
                    <a:gd name="T7" fmla="*/ 422 h 456"/>
                    <a:gd name="T8" fmla="*/ 400 w 436"/>
                    <a:gd name="T9" fmla="*/ 456 h 456"/>
                  </a:gdLst>
                  <a:ahLst/>
                  <a:cxnLst>
                    <a:cxn ang="0">
                      <a:pos x="T0" y="T1"/>
                    </a:cxn>
                    <a:cxn ang="0">
                      <a:pos x="T2" y="T3"/>
                    </a:cxn>
                    <a:cxn ang="0">
                      <a:pos x="T4" y="T5"/>
                    </a:cxn>
                    <a:cxn ang="0">
                      <a:pos x="T6" y="T7"/>
                    </a:cxn>
                    <a:cxn ang="0">
                      <a:pos x="T8" y="T9"/>
                    </a:cxn>
                  </a:cxnLst>
                  <a:rect l="0" t="0" r="r" b="b"/>
                  <a:pathLst>
                    <a:path w="436" h="456">
                      <a:moveTo>
                        <a:pt x="400" y="456"/>
                      </a:moveTo>
                      <a:lnTo>
                        <a:pt x="0" y="34"/>
                      </a:lnTo>
                      <a:lnTo>
                        <a:pt x="34" y="0"/>
                      </a:lnTo>
                      <a:lnTo>
                        <a:pt x="436" y="422"/>
                      </a:lnTo>
                      <a:lnTo>
                        <a:pt x="400" y="456"/>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1" name="Freeform 8"/>
                <p:cNvSpPr/>
                <p:nvPr>
                  <p:custDataLst>
                    <p:tags r:id="rId5"/>
                  </p:custDataLst>
                </p:nvPr>
              </p:nvSpPr>
              <p:spPr bwMode="auto">
                <a:xfrm>
                  <a:off x="8132763" y="4224338"/>
                  <a:ext cx="706438" cy="696913"/>
                </a:xfrm>
                <a:custGeom>
                  <a:avLst/>
                  <a:gdLst>
                    <a:gd name="T0" fmla="*/ 0 w 445"/>
                    <a:gd name="T1" fmla="*/ 33 h 439"/>
                    <a:gd name="T2" fmla="*/ 410 w 445"/>
                    <a:gd name="T3" fmla="*/ 439 h 439"/>
                    <a:gd name="T4" fmla="*/ 445 w 445"/>
                    <a:gd name="T5" fmla="*/ 406 h 439"/>
                    <a:gd name="T6" fmla="*/ 34 w 445"/>
                    <a:gd name="T7" fmla="*/ 0 h 439"/>
                    <a:gd name="T8" fmla="*/ 0 w 445"/>
                    <a:gd name="T9" fmla="*/ 33 h 439"/>
                  </a:gdLst>
                  <a:ahLst/>
                  <a:cxnLst>
                    <a:cxn ang="0">
                      <a:pos x="T0" y="T1"/>
                    </a:cxn>
                    <a:cxn ang="0">
                      <a:pos x="T2" y="T3"/>
                    </a:cxn>
                    <a:cxn ang="0">
                      <a:pos x="T4" y="T5"/>
                    </a:cxn>
                    <a:cxn ang="0">
                      <a:pos x="T6" y="T7"/>
                    </a:cxn>
                    <a:cxn ang="0">
                      <a:pos x="T8" y="T9"/>
                    </a:cxn>
                  </a:cxnLst>
                  <a:rect l="0" t="0" r="r" b="b"/>
                  <a:pathLst>
                    <a:path w="445" h="439">
                      <a:moveTo>
                        <a:pt x="0" y="33"/>
                      </a:moveTo>
                      <a:lnTo>
                        <a:pt x="410" y="439"/>
                      </a:lnTo>
                      <a:lnTo>
                        <a:pt x="445" y="406"/>
                      </a:lnTo>
                      <a:lnTo>
                        <a:pt x="34" y="0"/>
                      </a:lnTo>
                      <a:lnTo>
                        <a:pt x="0"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2" name="Freeform 9"/>
                <p:cNvSpPr/>
                <p:nvPr>
                  <p:custDataLst>
                    <p:tags r:id="rId6"/>
                  </p:custDataLst>
                </p:nvPr>
              </p:nvSpPr>
              <p:spPr bwMode="auto">
                <a:xfrm>
                  <a:off x="8132763" y="2963863"/>
                  <a:ext cx="692150" cy="722313"/>
                </a:xfrm>
                <a:custGeom>
                  <a:avLst/>
                  <a:gdLst>
                    <a:gd name="T0" fmla="*/ 36 w 436"/>
                    <a:gd name="T1" fmla="*/ 455 h 455"/>
                    <a:gd name="T2" fmla="*/ 436 w 436"/>
                    <a:gd name="T3" fmla="*/ 33 h 455"/>
                    <a:gd name="T4" fmla="*/ 403 w 436"/>
                    <a:gd name="T5" fmla="*/ 0 h 455"/>
                    <a:gd name="T6" fmla="*/ 0 w 436"/>
                    <a:gd name="T7" fmla="*/ 422 h 455"/>
                    <a:gd name="T8" fmla="*/ 36 w 436"/>
                    <a:gd name="T9" fmla="*/ 455 h 455"/>
                  </a:gdLst>
                  <a:ahLst/>
                  <a:cxnLst>
                    <a:cxn ang="0">
                      <a:pos x="T0" y="T1"/>
                    </a:cxn>
                    <a:cxn ang="0">
                      <a:pos x="T2" y="T3"/>
                    </a:cxn>
                    <a:cxn ang="0">
                      <a:pos x="T4" y="T5"/>
                    </a:cxn>
                    <a:cxn ang="0">
                      <a:pos x="T6" y="T7"/>
                    </a:cxn>
                    <a:cxn ang="0">
                      <a:pos x="T8" y="T9"/>
                    </a:cxn>
                  </a:cxnLst>
                  <a:rect l="0" t="0" r="r" b="b"/>
                  <a:pathLst>
                    <a:path w="436" h="455">
                      <a:moveTo>
                        <a:pt x="36" y="455"/>
                      </a:moveTo>
                      <a:lnTo>
                        <a:pt x="436" y="33"/>
                      </a:lnTo>
                      <a:lnTo>
                        <a:pt x="403" y="0"/>
                      </a:lnTo>
                      <a:lnTo>
                        <a:pt x="0" y="422"/>
                      </a:lnTo>
                      <a:lnTo>
                        <a:pt x="36" y="455"/>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82" name="Oval 10"/>
              <p:cNvSpPr>
                <a:spLocks noChangeArrowheads="1"/>
              </p:cNvSpPr>
              <p:nvPr>
                <p:custDataLst>
                  <p:tags r:id="rId7"/>
                </p:custDataLst>
              </p:nvPr>
            </p:nvSpPr>
            <p:spPr bwMode="auto">
              <a:xfrm>
                <a:off x="2563813" y="2184400"/>
                <a:ext cx="1028700"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3" name="Oval 13"/>
              <p:cNvSpPr>
                <a:spLocks noChangeArrowheads="1"/>
              </p:cNvSpPr>
              <p:nvPr>
                <p:custDataLst>
                  <p:tags r:id="rId8"/>
                </p:custDataLst>
              </p:nvPr>
            </p:nvSpPr>
            <p:spPr bwMode="auto">
              <a:xfrm>
                <a:off x="2563813" y="4695825"/>
                <a:ext cx="1028700"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4" name="Oval 16"/>
              <p:cNvSpPr>
                <a:spLocks noChangeArrowheads="1"/>
              </p:cNvSpPr>
              <p:nvPr>
                <p:custDataLst>
                  <p:tags r:id="rId9"/>
                </p:custDataLst>
              </p:nvPr>
            </p:nvSpPr>
            <p:spPr bwMode="auto">
              <a:xfrm>
                <a:off x="3795713"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5" name="Oval 19"/>
              <p:cNvSpPr>
                <a:spLocks noChangeArrowheads="1"/>
              </p:cNvSpPr>
              <p:nvPr>
                <p:custDataLst>
                  <p:tags r:id="rId10"/>
                </p:custDataLst>
              </p:nvPr>
            </p:nvSpPr>
            <p:spPr bwMode="auto">
              <a:xfrm>
                <a:off x="7340601"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6" name="Oval 22"/>
              <p:cNvSpPr>
                <a:spLocks noChangeArrowheads="1"/>
              </p:cNvSpPr>
              <p:nvPr>
                <p:custDataLst>
                  <p:tags r:id="rId11"/>
                </p:custDataLst>
              </p:nvPr>
            </p:nvSpPr>
            <p:spPr bwMode="auto">
              <a:xfrm>
                <a:off x="8591551" y="2184400"/>
                <a:ext cx="1033463"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7" name="Oval 25"/>
              <p:cNvSpPr>
                <a:spLocks noChangeArrowheads="1"/>
              </p:cNvSpPr>
              <p:nvPr>
                <p:custDataLst>
                  <p:tags r:id="rId12"/>
                </p:custDataLst>
              </p:nvPr>
            </p:nvSpPr>
            <p:spPr bwMode="auto">
              <a:xfrm>
                <a:off x="8591551" y="4695825"/>
                <a:ext cx="1033463"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80" name="Oval 28"/>
            <p:cNvSpPr>
              <a:spLocks noChangeArrowheads="1"/>
            </p:cNvSpPr>
            <p:nvPr>
              <p:custDataLst>
                <p:tags r:id="rId13"/>
              </p:custDataLst>
            </p:nvPr>
          </p:nvSpPr>
          <p:spPr bwMode="auto">
            <a:xfrm>
              <a:off x="5387976" y="3260725"/>
              <a:ext cx="1393825" cy="1392238"/>
            </a:xfrm>
            <a:prstGeom prst="ellipse">
              <a:avLst/>
            </a:prstGeom>
            <a:solidFill>
              <a:schemeClr val="accent1">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93" name="TextBox 6"/>
          <p:cNvSpPr txBox="1"/>
          <p:nvPr>
            <p:custDataLst>
              <p:tags r:id="rId14"/>
            </p:custDataLst>
          </p:nvPr>
        </p:nvSpPr>
        <p:spPr>
          <a:xfrm>
            <a:off x="866739" y="3098941"/>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侵权责任法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4" name="Rectangle 1"/>
          <p:cNvSpPr/>
          <p:nvPr>
            <p:custDataLst>
              <p:tags r:id="rId15"/>
            </p:custDataLst>
          </p:nvPr>
        </p:nvSpPr>
        <p:spPr>
          <a:xfrm>
            <a:off x="779279" y="3423755"/>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探讨游戏公司在防沉迷措施不到位时，是否存在过错和侵权责任的边界</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95" name="TextBox 8"/>
          <p:cNvSpPr txBox="1"/>
          <p:nvPr>
            <p:custDataLst>
              <p:tags r:id="rId16"/>
            </p:custDataLst>
          </p:nvPr>
        </p:nvSpPr>
        <p:spPr>
          <a:xfrm>
            <a:off x="3845560" y="1292225"/>
            <a:ext cx="1735455" cy="269875"/>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6" name="Rectangle 9"/>
          <p:cNvSpPr/>
          <p:nvPr>
            <p:custDataLst>
              <p:tags r:id="rId17"/>
            </p:custDataLst>
          </p:nvPr>
        </p:nvSpPr>
        <p:spPr>
          <a:xfrm>
            <a:off x="3847545" y="1616904"/>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本选题旨在从法学角度界定未成年人网络游戏</a:t>
            </a:r>
            <a:r>
              <a:rPr lang="en-US" altLang="zh-CN"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沉迷</a:t>
            </a:r>
            <a:r>
              <a:rPr lang="en-US" altLang="zh-CN"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行为的法律性质、后果及各方责任</a:t>
            </a:r>
            <a:endPar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97" name="TextBox 10"/>
          <p:cNvSpPr txBox="1"/>
          <p:nvPr>
            <p:custDataLst>
              <p:tags r:id="rId18"/>
            </p:custDataLst>
          </p:nvPr>
        </p:nvSpPr>
        <p:spPr>
          <a:xfrm>
            <a:off x="6687643" y="1292088"/>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规范分析法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8" name="Rectangle 11"/>
          <p:cNvSpPr/>
          <p:nvPr>
            <p:custDataLst>
              <p:tags r:id="rId19"/>
            </p:custDataLst>
          </p:nvPr>
        </p:nvSpPr>
        <p:spPr>
          <a:xfrm>
            <a:off x="6600183" y="1616904"/>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对《未成年人保护法》、国家新闻出版署的相关规定进行深入解读，评估防沉迷系统的法律有效性</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99" name="TextBox 12"/>
          <p:cNvSpPr txBox="1"/>
          <p:nvPr>
            <p:custDataLst>
              <p:tags r:id="rId20"/>
            </p:custDataLst>
          </p:nvPr>
        </p:nvSpPr>
        <p:spPr>
          <a:xfrm>
            <a:off x="9763411" y="3098941"/>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案例分析法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0" name="Rectangle 13"/>
          <p:cNvSpPr/>
          <p:nvPr>
            <p:custDataLst>
              <p:tags r:id="rId21"/>
            </p:custDataLst>
          </p:nvPr>
        </p:nvSpPr>
        <p:spPr>
          <a:xfrm>
            <a:off x="9675951" y="3423755"/>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收集和分析涉及未成年人因游戏充值、沉迷导致家庭纠纷或人身损害的司法判例</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101" name="TextBox 14"/>
          <p:cNvSpPr txBox="1"/>
          <p:nvPr>
            <p:custDataLst>
              <p:tags r:id="rId22"/>
            </p:custDataLst>
          </p:nvPr>
        </p:nvSpPr>
        <p:spPr>
          <a:xfrm>
            <a:off x="4223385" y="5123815"/>
            <a:ext cx="1762760" cy="269875"/>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未成年人保护法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2" name="Rectangle 15"/>
          <p:cNvSpPr/>
          <p:nvPr>
            <p:custDataLst>
              <p:tags r:id="rId23"/>
            </p:custDataLst>
          </p:nvPr>
        </p:nvSpPr>
        <p:spPr>
          <a:xfrm>
            <a:off x="4248559" y="5448707"/>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分析国家、学校、家庭和网络服务提供者在未成年人网络行为管理中的法律地位和义务</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103" name="TextBox 16"/>
          <p:cNvSpPr txBox="1"/>
          <p:nvPr>
            <p:custDataLst>
              <p:tags r:id="rId24"/>
            </p:custDataLst>
          </p:nvPr>
        </p:nvSpPr>
        <p:spPr>
          <a:xfrm>
            <a:off x="6268131" y="5123892"/>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社会调查法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4" name="Rectangle 17"/>
          <p:cNvSpPr/>
          <p:nvPr>
            <p:custDataLst>
              <p:tags r:id="rId25"/>
            </p:custDataLst>
          </p:nvPr>
        </p:nvSpPr>
        <p:spPr>
          <a:xfrm>
            <a:off x="6180672" y="5448707"/>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针对未成年人监护人和游戏行业从业者，进行问卷或访谈，了解防沉迷措施的实际效果和法律认知</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grpSp>
        <p:nvGrpSpPr>
          <p:cNvPr id="105" name="Group 37"/>
          <p:cNvGrpSpPr/>
          <p:nvPr>
            <p:custDataLst>
              <p:tags r:id="rId26"/>
            </p:custDataLst>
          </p:nvPr>
        </p:nvGrpSpPr>
        <p:grpSpPr>
          <a:xfrm>
            <a:off x="2459025" y="2841983"/>
            <a:ext cx="396767" cy="421108"/>
            <a:chOff x="2371633" y="3182483"/>
            <a:chExt cx="407231" cy="432215"/>
          </a:xfrm>
          <a:solidFill>
            <a:schemeClr val="tx1"/>
          </a:solidFill>
        </p:grpSpPr>
        <p:cxnSp>
          <p:nvCxnSpPr>
            <p:cNvPr id="106" name="Straight Connector 7"/>
            <p:cNvCxnSpPr/>
            <p:nvPr>
              <p:custDataLst>
                <p:tags r:id="rId27"/>
              </p:custDataLst>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7" name="Oval 35"/>
            <p:cNvSpPr/>
            <p:nvPr>
              <p:custDataLst>
                <p:tags r:id="rId28"/>
              </p:custDataLst>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08" name="Oval 36"/>
            <p:cNvSpPr/>
            <p:nvPr>
              <p:custDataLst>
                <p:tags r:id="rId29"/>
              </p:custDataLst>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dirty="0">
                <a:solidFill>
                  <a:prstClr val="white"/>
                </a:solidFill>
                <a:cs typeface="+mn-ea"/>
                <a:sym typeface="+mn-lt"/>
              </a:endParaRPr>
            </a:p>
          </p:txBody>
        </p:sp>
      </p:grpSp>
      <p:grpSp>
        <p:nvGrpSpPr>
          <p:cNvPr id="109" name="Group 38"/>
          <p:cNvGrpSpPr/>
          <p:nvPr>
            <p:custDataLst>
              <p:tags r:id="rId30"/>
            </p:custDataLst>
          </p:nvPr>
        </p:nvGrpSpPr>
        <p:grpSpPr>
          <a:xfrm flipH="1">
            <a:off x="9374829" y="2754353"/>
            <a:ext cx="396767" cy="421108"/>
            <a:chOff x="2371633" y="3182483"/>
            <a:chExt cx="407231" cy="432215"/>
          </a:xfrm>
          <a:solidFill>
            <a:schemeClr val="tx1"/>
          </a:solidFill>
        </p:grpSpPr>
        <p:cxnSp>
          <p:nvCxnSpPr>
            <p:cNvPr id="110" name="Straight Connector 39"/>
            <p:cNvCxnSpPr/>
            <p:nvPr>
              <p:custDataLst>
                <p:tags r:id="rId31"/>
              </p:custDataLst>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1" name="Oval 40"/>
            <p:cNvSpPr/>
            <p:nvPr>
              <p:custDataLst>
                <p:tags r:id="rId32"/>
              </p:custDataLst>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12" name="Oval 41"/>
            <p:cNvSpPr/>
            <p:nvPr>
              <p:custDataLst>
                <p:tags r:id="rId33"/>
              </p:custDataLst>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13" name="Group 44"/>
          <p:cNvGrpSpPr/>
          <p:nvPr>
            <p:custDataLst>
              <p:tags r:id="rId34"/>
            </p:custDataLst>
          </p:nvPr>
        </p:nvGrpSpPr>
        <p:grpSpPr>
          <a:xfrm>
            <a:off x="3589008" y="5094680"/>
            <a:ext cx="625361" cy="354027"/>
            <a:chOff x="3531420" y="5494597"/>
            <a:chExt cx="641856" cy="363365"/>
          </a:xfrm>
          <a:solidFill>
            <a:schemeClr val="tx1"/>
          </a:solidFill>
        </p:grpSpPr>
        <p:cxnSp>
          <p:nvCxnSpPr>
            <p:cNvPr id="114" name="Straight Connector 34"/>
            <p:cNvCxnSpPr/>
            <p:nvPr>
              <p:custDataLst>
                <p:tags r:id="rId35"/>
              </p:custDataLst>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5" name="Oval 42"/>
            <p:cNvSpPr/>
            <p:nvPr>
              <p:custDataLst>
                <p:tags r:id="rId36"/>
              </p:custDataLst>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16" name="Oval 43"/>
            <p:cNvSpPr/>
            <p:nvPr>
              <p:custDataLst>
                <p:tags r:id="rId37"/>
              </p:custDataLst>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17" name="Group 45"/>
          <p:cNvGrpSpPr/>
          <p:nvPr>
            <p:custDataLst>
              <p:tags r:id="rId38"/>
            </p:custDataLst>
          </p:nvPr>
        </p:nvGrpSpPr>
        <p:grpSpPr>
          <a:xfrm flipH="1">
            <a:off x="7917447" y="5081817"/>
            <a:ext cx="625361" cy="354027"/>
            <a:chOff x="3531420" y="5494597"/>
            <a:chExt cx="641856" cy="363365"/>
          </a:xfrm>
          <a:solidFill>
            <a:schemeClr val="tx1"/>
          </a:solidFill>
        </p:grpSpPr>
        <p:cxnSp>
          <p:nvCxnSpPr>
            <p:cNvPr id="118" name="Straight Connector 46"/>
            <p:cNvCxnSpPr/>
            <p:nvPr>
              <p:custDataLst>
                <p:tags r:id="rId39"/>
              </p:custDataLst>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Oval 47"/>
            <p:cNvSpPr/>
            <p:nvPr>
              <p:custDataLst>
                <p:tags r:id="rId40"/>
              </p:custDataLst>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0" name="Oval 48"/>
            <p:cNvSpPr/>
            <p:nvPr>
              <p:custDataLst>
                <p:tags r:id="rId41"/>
              </p:custDataLst>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21" name="Group 55"/>
          <p:cNvGrpSpPr/>
          <p:nvPr>
            <p:custDataLst>
              <p:tags r:id="rId42"/>
            </p:custDataLst>
          </p:nvPr>
        </p:nvGrpSpPr>
        <p:grpSpPr>
          <a:xfrm>
            <a:off x="4333840" y="2609833"/>
            <a:ext cx="192163" cy="424603"/>
            <a:chOff x="4295897" y="2944210"/>
            <a:chExt cx="197232" cy="435801"/>
          </a:xfrm>
          <a:solidFill>
            <a:schemeClr val="tx1"/>
          </a:solidFill>
        </p:grpSpPr>
        <p:cxnSp>
          <p:nvCxnSpPr>
            <p:cNvPr id="122" name="Straight Connector 26"/>
            <p:cNvCxnSpPr/>
            <p:nvPr>
              <p:custDataLst>
                <p:tags r:id="rId43"/>
              </p:custDataLst>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3" name="Oval 53"/>
            <p:cNvSpPr/>
            <p:nvPr>
              <p:custDataLst>
                <p:tags r:id="rId44"/>
              </p:custDataLst>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4" name="Oval 54"/>
            <p:cNvSpPr/>
            <p:nvPr>
              <p:custDataLst>
                <p:tags r:id="rId45"/>
              </p:custDataLst>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25" name="Group 56"/>
          <p:cNvGrpSpPr/>
          <p:nvPr>
            <p:custDataLst>
              <p:tags r:id="rId46"/>
            </p:custDataLst>
          </p:nvPr>
        </p:nvGrpSpPr>
        <p:grpSpPr>
          <a:xfrm flipH="1">
            <a:off x="7568757" y="2598116"/>
            <a:ext cx="192163" cy="424603"/>
            <a:chOff x="4295897" y="2944210"/>
            <a:chExt cx="197232" cy="435801"/>
          </a:xfrm>
          <a:solidFill>
            <a:schemeClr val="tx1"/>
          </a:solidFill>
        </p:grpSpPr>
        <p:cxnSp>
          <p:nvCxnSpPr>
            <p:cNvPr id="126" name="Straight Connector 57"/>
            <p:cNvCxnSpPr/>
            <p:nvPr>
              <p:custDataLst>
                <p:tags r:id="rId47"/>
              </p:custDataLst>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7" name="Oval 58"/>
            <p:cNvSpPr/>
            <p:nvPr>
              <p:custDataLst>
                <p:tags r:id="rId48"/>
              </p:custDataLst>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8" name="Oval 59"/>
            <p:cNvSpPr/>
            <p:nvPr>
              <p:custDataLst>
                <p:tags r:id="rId49"/>
              </p:custDataLst>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sp>
        <p:nvSpPr>
          <p:cNvPr id="129" name="Oval 11"/>
          <p:cNvSpPr>
            <a:spLocks noChangeArrowheads="1"/>
          </p:cNvSpPr>
          <p:nvPr>
            <p:custDataLst>
              <p:tags r:id="rId50"/>
            </p:custDataLst>
          </p:nvPr>
        </p:nvSpPr>
        <p:spPr bwMode="auto">
          <a:xfrm>
            <a:off x="2777735" y="2005657"/>
            <a:ext cx="739324" cy="737779"/>
          </a:xfrm>
          <a:prstGeom prst="ellipse">
            <a:avLst/>
          </a:prstGeom>
          <a:solidFill>
            <a:schemeClr val="accent1"/>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0" name="Oval 14"/>
          <p:cNvSpPr>
            <a:spLocks noChangeArrowheads="1"/>
          </p:cNvSpPr>
          <p:nvPr>
            <p:custDataLst>
              <p:tags r:id="rId51"/>
            </p:custDataLst>
          </p:nvPr>
        </p:nvSpPr>
        <p:spPr bwMode="auto">
          <a:xfrm>
            <a:off x="2777735" y="4447904"/>
            <a:ext cx="739324" cy="740872"/>
          </a:xfrm>
          <a:prstGeom prst="ellipse">
            <a:avLst/>
          </a:prstGeom>
          <a:solidFill>
            <a:schemeClr val="accent5"/>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1" name="Oval 17"/>
          <p:cNvSpPr>
            <a:spLocks noChangeArrowheads="1"/>
          </p:cNvSpPr>
          <p:nvPr>
            <p:custDataLst>
              <p:tags r:id="rId52"/>
            </p:custDataLst>
          </p:nvPr>
        </p:nvSpPr>
        <p:spPr bwMode="auto">
          <a:xfrm>
            <a:off x="3977979" y="3226008"/>
            <a:ext cx="739324" cy="740872"/>
          </a:xfrm>
          <a:prstGeom prst="ellipse">
            <a:avLst/>
          </a:prstGeom>
          <a:solidFill>
            <a:schemeClr val="accent2"/>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2" name="Oval 20"/>
          <p:cNvSpPr>
            <a:spLocks noChangeArrowheads="1"/>
          </p:cNvSpPr>
          <p:nvPr>
            <p:custDataLst>
              <p:tags r:id="rId53"/>
            </p:custDataLst>
          </p:nvPr>
        </p:nvSpPr>
        <p:spPr bwMode="auto">
          <a:xfrm>
            <a:off x="7431767" y="3226008"/>
            <a:ext cx="739324" cy="740872"/>
          </a:xfrm>
          <a:prstGeom prst="ellipse">
            <a:avLst/>
          </a:prstGeom>
          <a:solidFill>
            <a:schemeClr val="accent3"/>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3" name="Oval 23"/>
          <p:cNvSpPr>
            <a:spLocks noChangeArrowheads="1"/>
          </p:cNvSpPr>
          <p:nvPr>
            <p:custDataLst>
              <p:tags r:id="rId54"/>
            </p:custDataLst>
          </p:nvPr>
        </p:nvSpPr>
        <p:spPr bwMode="auto">
          <a:xfrm>
            <a:off x="8655212" y="2005657"/>
            <a:ext cx="734685" cy="737779"/>
          </a:xfrm>
          <a:prstGeom prst="ellipse">
            <a:avLst/>
          </a:prstGeom>
          <a:solidFill>
            <a:schemeClr val="tx1">
              <a:lumMod val="60000"/>
              <a:lumOff val="40000"/>
            </a:schemeClr>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4" name="Oval 26"/>
          <p:cNvSpPr>
            <a:spLocks noChangeArrowheads="1"/>
          </p:cNvSpPr>
          <p:nvPr>
            <p:custDataLst>
              <p:tags r:id="rId55"/>
            </p:custDataLst>
          </p:nvPr>
        </p:nvSpPr>
        <p:spPr bwMode="auto">
          <a:xfrm>
            <a:off x="8655212" y="4447904"/>
            <a:ext cx="734685" cy="740872"/>
          </a:xfrm>
          <a:prstGeom prst="ellipse">
            <a:avLst/>
          </a:prstGeom>
          <a:solidFill>
            <a:schemeClr val="accent2"/>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5" name="Oval 29"/>
          <p:cNvSpPr>
            <a:spLocks noChangeArrowheads="1"/>
          </p:cNvSpPr>
          <p:nvPr>
            <p:custDataLst>
              <p:tags r:id="rId56"/>
            </p:custDataLst>
          </p:nvPr>
        </p:nvSpPr>
        <p:spPr bwMode="auto">
          <a:xfrm>
            <a:off x="5580364" y="3099180"/>
            <a:ext cx="996077" cy="996077"/>
          </a:xfrm>
          <a:prstGeom prst="ellipse">
            <a:avLst/>
          </a:pr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6" name="Freeform 31"/>
          <p:cNvSpPr/>
          <p:nvPr>
            <p:custDataLst>
              <p:tags r:id="rId57"/>
            </p:custDataLst>
          </p:nvPr>
        </p:nvSpPr>
        <p:spPr bwMode="auto">
          <a:xfrm>
            <a:off x="5387027" y="2731061"/>
            <a:ext cx="691377" cy="403691"/>
          </a:xfrm>
          <a:custGeom>
            <a:avLst/>
            <a:gdLst>
              <a:gd name="T0" fmla="*/ 23 w 189"/>
              <a:gd name="T1" fmla="*/ 104 h 110"/>
              <a:gd name="T2" fmla="*/ 177 w 189"/>
              <a:gd name="T3" fmla="*/ 24 h 110"/>
              <a:gd name="T4" fmla="*/ 189 w 189"/>
              <a:gd name="T5" fmla="*/ 12 h 110"/>
              <a:gd name="T6" fmla="*/ 189 w 189"/>
              <a:gd name="T7" fmla="*/ 12 h 110"/>
              <a:gd name="T8" fmla="*/ 176 w 189"/>
              <a:gd name="T9" fmla="*/ 0 h 110"/>
              <a:gd name="T10" fmla="*/ 4 w 189"/>
              <a:gd name="T11" fmla="*/ 89 h 110"/>
              <a:gd name="T12" fmla="*/ 7 w 189"/>
              <a:gd name="T13" fmla="*/ 106 h 110"/>
              <a:gd name="T14" fmla="*/ 7 w 189"/>
              <a:gd name="T15" fmla="*/ 107 h 110"/>
              <a:gd name="T16" fmla="*/ 23 w 189"/>
              <a:gd name="T17" fmla="*/ 10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110">
                <a:moveTo>
                  <a:pt x="23" y="104"/>
                </a:moveTo>
                <a:cubicBezTo>
                  <a:pt x="60" y="58"/>
                  <a:pt x="115" y="28"/>
                  <a:pt x="177" y="24"/>
                </a:cubicBezTo>
                <a:cubicBezTo>
                  <a:pt x="184" y="24"/>
                  <a:pt x="189" y="19"/>
                  <a:pt x="189" y="12"/>
                </a:cubicBezTo>
                <a:cubicBezTo>
                  <a:pt x="189" y="12"/>
                  <a:pt x="189" y="12"/>
                  <a:pt x="189" y="12"/>
                </a:cubicBezTo>
                <a:cubicBezTo>
                  <a:pt x="189" y="5"/>
                  <a:pt x="183" y="0"/>
                  <a:pt x="176" y="0"/>
                </a:cubicBezTo>
                <a:cubicBezTo>
                  <a:pt x="106" y="4"/>
                  <a:pt x="45" y="38"/>
                  <a:pt x="4" y="89"/>
                </a:cubicBezTo>
                <a:cubicBezTo>
                  <a:pt x="0" y="95"/>
                  <a:pt x="1" y="103"/>
                  <a:pt x="7" y="106"/>
                </a:cubicBezTo>
                <a:cubicBezTo>
                  <a:pt x="7" y="107"/>
                  <a:pt x="7" y="107"/>
                  <a:pt x="7" y="107"/>
                </a:cubicBezTo>
                <a:cubicBezTo>
                  <a:pt x="13" y="110"/>
                  <a:pt x="19" y="109"/>
                  <a:pt x="23" y="104"/>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7" name="Freeform 32"/>
          <p:cNvSpPr/>
          <p:nvPr>
            <p:custDataLst>
              <p:tags r:id="rId58"/>
            </p:custDataLst>
          </p:nvPr>
        </p:nvSpPr>
        <p:spPr bwMode="auto">
          <a:xfrm>
            <a:off x="6140272" y="2735704"/>
            <a:ext cx="801193" cy="1254377"/>
          </a:xfrm>
          <a:custGeom>
            <a:avLst/>
            <a:gdLst>
              <a:gd name="T0" fmla="*/ 195 w 219"/>
              <a:gd name="T1" fmla="*/ 235 h 342"/>
              <a:gd name="T2" fmla="*/ 175 w 219"/>
              <a:gd name="T3" fmla="*/ 323 h 342"/>
              <a:gd name="T4" fmla="*/ 179 w 219"/>
              <a:gd name="T5" fmla="*/ 337 h 342"/>
              <a:gd name="T6" fmla="*/ 179 w 219"/>
              <a:gd name="T7" fmla="*/ 337 h 342"/>
              <a:gd name="T8" fmla="*/ 197 w 219"/>
              <a:gd name="T9" fmla="*/ 333 h 342"/>
              <a:gd name="T10" fmla="*/ 219 w 219"/>
              <a:gd name="T11" fmla="*/ 235 h 342"/>
              <a:gd name="T12" fmla="*/ 13 w 219"/>
              <a:gd name="T13" fmla="*/ 1 h 342"/>
              <a:gd name="T14" fmla="*/ 0 w 219"/>
              <a:gd name="T15" fmla="*/ 13 h 342"/>
              <a:gd name="T16" fmla="*/ 0 w 219"/>
              <a:gd name="T17" fmla="*/ 13 h 342"/>
              <a:gd name="T18" fmla="*/ 10 w 219"/>
              <a:gd name="T19" fmla="*/ 25 h 342"/>
              <a:gd name="T20" fmla="*/ 195 w 219"/>
              <a:gd name="T21" fmla="*/ 23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342">
                <a:moveTo>
                  <a:pt x="195" y="235"/>
                </a:moveTo>
                <a:cubicBezTo>
                  <a:pt x="195" y="266"/>
                  <a:pt x="188" y="296"/>
                  <a:pt x="175" y="323"/>
                </a:cubicBezTo>
                <a:cubicBezTo>
                  <a:pt x="173" y="328"/>
                  <a:pt x="175" y="334"/>
                  <a:pt x="179" y="337"/>
                </a:cubicBezTo>
                <a:cubicBezTo>
                  <a:pt x="179" y="337"/>
                  <a:pt x="179" y="337"/>
                  <a:pt x="179" y="337"/>
                </a:cubicBezTo>
                <a:cubicBezTo>
                  <a:pt x="185" y="342"/>
                  <a:pt x="194" y="340"/>
                  <a:pt x="197" y="333"/>
                </a:cubicBezTo>
                <a:cubicBezTo>
                  <a:pt x="211" y="303"/>
                  <a:pt x="219" y="270"/>
                  <a:pt x="219" y="235"/>
                </a:cubicBezTo>
                <a:cubicBezTo>
                  <a:pt x="219" y="115"/>
                  <a:pt x="129" y="16"/>
                  <a:pt x="13" y="1"/>
                </a:cubicBezTo>
                <a:cubicBezTo>
                  <a:pt x="6" y="0"/>
                  <a:pt x="0" y="6"/>
                  <a:pt x="0" y="13"/>
                </a:cubicBezTo>
                <a:cubicBezTo>
                  <a:pt x="0" y="13"/>
                  <a:pt x="0" y="13"/>
                  <a:pt x="0" y="13"/>
                </a:cubicBezTo>
                <a:cubicBezTo>
                  <a:pt x="0" y="19"/>
                  <a:pt x="4" y="24"/>
                  <a:pt x="10" y="25"/>
                </a:cubicBezTo>
                <a:cubicBezTo>
                  <a:pt x="114" y="38"/>
                  <a:pt x="195" y="127"/>
                  <a:pt x="195" y="235"/>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8" name="Freeform 33"/>
          <p:cNvSpPr/>
          <p:nvPr>
            <p:custDataLst>
              <p:tags r:id="rId59"/>
            </p:custDataLst>
          </p:nvPr>
        </p:nvSpPr>
        <p:spPr bwMode="auto">
          <a:xfrm>
            <a:off x="5210701" y="3150221"/>
            <a:ext cx="1596199" cy="1319339"/>
          </a:xfrm>
          <a:custGeom>
            <a:avLst/>
            <a:gdLst>
              <a:gd name="T0" fmla="*/ 413 w 436"/>
              <a:gd name="T1" fmla="*/ 240 h 360"/>
              <a:gd name="T2" fmla="*/ 189 w 436"/>
              <a:gd name="T3" fmla="*/ 329 h 360"/>
              <a:gd name="T4" fmla="*/ 30 w 436"/>
              <a:gd name="T5" fmla="*/ 170 h 360"/>
              <a:gd name="T6" fmla="*/ 51 w 436"/>
              <a:gd name="T7" fmla="*/ 19 h 360"/>
              <a:gd name="T8" fmla="*/ 47 w 436"/>
              <a:gd name="T9" fmla="*/ 3 h 360"/>
              <a:gd name="T10" fmla="*/ 47 w 436"/>
              <a:gd name="T11" fmla="*/ 3 h 360"/>
              <a:gd name="T12" fmla="*/ 30 w 436"/>
              <a:gd name="T13" fmla="*/ 7 h 360"/>
              <a:gd name="T14" fmla="*/ 1 w 436"/>
              <a:gd name="T15" fmla="*/ 128 h 360"/>
              <a:gd name="T16" fmla="*/ 229 w 436"/>
              <a:gd name="T17" fmla="*/ 358 h 360"/>
              <a:gd name="T18" fmla="*/ 432 w 436"/>
              <a:gd name="T19" fmla="*/ 254 h 360"/>
              <a:gd name="T20" fmla="*/ 430 w 436"/>
              <a:gd name="T21" fmla="*/ 238 h 360"/>
              <a:gd name="T22" fmla="*/ 430 w 436"/>
              <a:gd name="T23" fmla="*/ 238 h 360"/>
              <a:gd name="T24" fmla="*/ 413 w 436"/>
              <a:gd name="T25"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6" h="360">
                <a:moveTo>
                  <a:pt x="413" y="240"/>
                </a:moveTo>
                <a:cubicBezTo>
                  <a:pt x="366" y="309"/>
                  <a:pt x="282" y="349"/>
                  <a:pt x="189" y="329"/>
                </a:cubicBezTo>
                <a:cubicBezTo>
                  <a:pt x="110" y="312"/>
                  <a:pt x="47" y="249"/>
                  <a:pt x="30" y="170"/>
                </a:cubicBezTo>
                <a:cubicBezTo>
                  <a:pt x="18" y="115"/>
                  <a:pt x="27" y="62"/>
                  <a:pt x="51" y="19"/>
                </a:cubicBezTo>
                <a:cubicBezTo>
                  <a:pt x="54" y="14"/>
                  <a:pt x="53" y="6"/>
                  <a:pt x="47" y="3"/>
                </a:cubicBezTo>
                <a:cubicBezTo>
                  <a:pt x="47" y="3"/>
                  <a:pt x="47" y="3"/>
                  <a:pt x="47" y="3"/>
                </a:cubicBezTo>
                <a:cubicBezTo>
                  <a:pt x="41" y="0"/>
                  <a:pt x="34" y="1"/>
                  <a:pt x="30" y="7"/>
                </a:cubicBezTo>
                <a:cubicBezTo>
                  <a:pt x="10" y="43"/>
                  <a:pt x="0" y="84"/>
                  <a:pt x="1" y="128"/>
                </a:cubicBezTo>
                <a:cubicBezTo>
                  <a:pt x="4" y="253"/>
                  <a:pt x="105" y="354"/>
                  <a:pt x="229" y="358"/>
                </a:cubicBezTo>
                <a:cubicBezTo>
                  <a:pt x="314" y="360"/>
                  <a:pt x="389" y="318"/>
                  <a:pt x="432" y="254"/>
                </a:cubicBezTo>
                <a:cubicBezTo>
                  <a:pt x="436" y="249"/>
                  <a:pt x="435" y="242"/>
                  <a:pt x="430" y="238"/>
                </a:cubicBezTo>
                <a:cubicBezTo>
                  <a:pt x="430" y="238"/>
                  <a:pt x="430" y="238"/>
                  <a:pt x="430" y="238"/>
                </a:cubicBezTo>
                <a:cubicBezTo>
                  <a:pt x="425" y="233"/>
                  <a:pt x="417" y="234"/>
                  <a:pt x="413" y="240"/>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9" name="Oval 12"/>
          <p:cNvSpPr>
            <a:spLocks noChangeArrowheads="1"/>
          </p:cNvSpPr>
          <p:nvPr>
            <p:custDataLst>
              <p:tags r:id="rId60"/>
            </p:custDataLst>
          </p:nvPr>
        </p:nvSpPr>
        <p:spPr bwMode="auto">
          <a:xfrm>
            <a:off x="3022593" y="2181604"/>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0" name="Oval 15"/>
          <p:cNvSpPr>
            <a:spLocks noChangeArrowheads="1"/>
          </p:cNvSpPr>
          <p:nvPr>
            <p:custDataLst>
              <p:tags r:id="rId61"/>
            </p:custDataLst>
          </p:nvPr>
        </p:nvSpPr>
        <p:spPr bwMode="auto">
          <a:xfrm>
            <a:off x="3023299" y="4626489"/>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1" name="Oval 18"/>
          <p:cNvSpPr>
            <a:spLocks noChangeArrowheads="1"/>
          </p:cNvSpPr>
          <p:nvPr>
            <p:custDataLst>
              <p:tags r:id="rId62"/>
            </p:custDataLst>
          </p:nvPr>
        </p:nvSpPr>
        <p:spPr bwMode="auto">
          <a:xfrm>
            <a:off x="4223543" y="3404593"/>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2" name="Oval 21"/>
          <p:cNvSpPr>
            <a:spLocks noChangeArrowheads="1"/>
          </p:cNvSpPr>
          <p:nvPr>
            <p:custDataLst>
              <p:tags r:id="rId63"/>
            </p:custDataLst>
          </p:nvPr>
        </p:nvSpPr>
        <p:spPr bwMode="auto">
          <a:xfrm>
            <a:off x="7677331" y="3404593"/>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3" name="Oval 24"/>
          <p:cNvSpPr>
            <a:spLocks noChangeArrowheads="1"/>
          </p:cNvSpPr>
          <p:nvPr>
            <p:custDataLst>
              <p:tags r:id="rId64"/>
            </p:custDataLst>
          </p:nvPr>
        </p:nvSpPr>
        <p:spPr bwMode="auto">
          <a:xfrm>
            <a:off x="8897747" y="2181604"/>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4" name="Oval 27"/>
          <p:cNvSpPr>
            <a:spLocks noChangeArrowheads="1"/>
          </p:cNvSpPr>
          <p:nvPr>
            <p:custDataLst>
              <p:tags r:id="rId65"/>
            </p:custDataLst>
          </p:nvPr>
        </p:nvSpPr>
        <p:spPr bwMode="auto">
          <a:xfrm>
            <a:off x="8897747" y="4625397"/>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5" name="Oval 30"/>
          <p:cNvSpPr>
            <a:spLocks noChangeArrowheads="1"/>
          </p:cNvSpPr>
          <p:nvPr>
            <p:custDataLst>
              <p:tags r:id="rId66"/>
            </p:custDataLst>
          </p:nvPr>
        </p:nvSpPr>
        <p:spPr bwMode="auto">
          <a:xfrm>
            <a:off x="5952404" y="3404051"/>
            <a:ext cx="248905" cy="385167"/>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网络游戏</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沉迷</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行为的法律界定与未成年人保护研究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67"/>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custDataLst>
              <p:tags r:id="rId1"/>
            </p:custDataLst>
          </p:nvPr>
        </p:nvSpPr>
        <p:spPr>
          <a:xfrm>
            <a:off x="5732869" y="2336797"/>
            <a:ext cx="726263" cy="754744"/>
          </a:xfrm>
          <a:custGeom>
            <a:avLst/>
            <a:gdLst>
              <a:gd name="connsiteX0" fmla="*/ 200025 w 323850"/>
              <a:gd name="connsiteY0" fmla="*/ 303213 h 336550"/>
              <a:gd name="connsiteX1" fmla="*/ 188912 w 323850"/>
              <a:gd name="connsiteY1" fmla="*/ 314326 h 336550"/>
              <a:gd name="connsiteX2" fmla="*/ 200025 w 323850"/>
              <a:gd name="connsiteY2" fmla="*/ 325439 h 336550"/>
              <a:gd name="connsiteX3" fmla="*/ 211138 w 323850"/>
              <a:gd name="connsiteY3" fmla="*/ 314326 h 336550"/>
              <a:gd name="connsiteX4" fmla="*/ 200025 w 323850"/>
              <a:gd name="connsiteY4" fmla="*/ 303213 h 336550"/>
              <a:gd name="connsiteX5" fmla="*/ 267890 w 323850"/>
              <a:gd name="connsiteY5" fmla="*/ 200026 h 336550"/>
              <a:gd name="connsiteX6" fmla="*/ 306529 w 323850"/>
              <a:gd name="connsiteY6" fmla="*/ 200026 h 336550"/>
              <a:gd name="connsiteX7" fmla="*/ 323850 w 323850"/>
              <a:gd name="connsiteY7" fmla="*/ 217105 h 336550"/>
              <a:gd name="connsiteX8" fmla="*/ 323850 w 323850"/>
              <a:gd name="connsiteY8" fmla="*/ 219733 h 336550"/>
              <a:gd name="connsiteX9" fmla="*/ 306529 w 323850"/>
              <a:gd name="connsiteY9" fmla="*/ 238126 h 336550"/>
              <a:gd name="connsiteX10" fmla="*/ 267890 w 323850"/>
              <a:gd name="connsiteY10" fmla="*/ 238126 h 336550"/>
              <a:gd name="connsiteX11" fmla="*/ 249237 w 323850"/>
              <a:gd name="connsiteY11" fmla="*/ 219733 h 336550"/>
              <a:gd name="connsiteX12" fmla="*/ 249237 w 323850"/>
              <a:gd name="connsiteY12" fmla="*/ 217105 h 336550"/>
              <a:gd name="connsiteX13" fmla="*/ 267890 w 323850"/>
              <a:gd name="connsiteY13" fmla="*/ 200026 h 336550"/>
              <a:gd name="connsiteX14" fmla="*/ 267890 w 323850"/>
              <a:gd name="connsiteY14" fmla="*/ 155576 h 336550"/>
              <a:gd name="connsiteX15" fmla="*/ 306529 w 323850"/>
              <a:gd name="connsiteY15" fmla="*/ 155576 h 336550"/>
              <a:gd name="connsiteX16" fmla="*/ 323850 w 323850"/>
              <a:gd name="connsiteY16" fmla="*/ 172528 h 336550"/>
              <a:gd name="connsiteX17" fmla="*/ 323850 w 323850"/>
              <a:gd name="connsiteY17" fmla="*/ 175137 h 336550"/>
              <a:gd name="connsiteX18" fmla="*/ 306529 w 323850"/>
              <a:gd name="connsiteY18" fmla="*/ 192089 h 336550"/>
              <a:gd name="connsiteX19" fmla="*/ 267890 w 323850"/>
              <a:gd name="connsiteY19" fmla="*/ 192089 h 336550"/>
              <a:gd name="connsiteX20" fmla="*/ 249237 w 323850"/>
              <a:gd name="connsiteY20" fmla="*/ 175137 h 336550"/>
              <a:gd name="connsiteX21" fmla="*/ 249237 w 323850"/>
              <a:gd name="connsiteY21" fmla="*/ 172528 h 336550"/>
              <a:gd name="connsiteX22" fmla="*/ 267890 w 323850"/>
              <a:gd name="connsiteY22" fmla="*/ 155576 h 336550"/>
              <a:gd name="connsiteX23" fmla="*/ 175670 w 323850"/>
              <a:gd name="connsiteY23" fmla="*/ 15876 h 336550"/>
              <a:gd name="connsiteX24" fmla="*/ 173037 w 323850"/>
              <a:gd name="connsiteY24" fmla="*/ 19686 h 336550"/>
              <a:gd name="connsiteX25" fmla="*/ 175670 w 323850"/>
              <a:gd name="connsiteY25" fmla="*/ 22226 h 336550"/>
              <a:gd name="connsiteX26" fmla="*/ 224379 w 323850"/>
              <a:gd name="connsiteY26" fmla="*/ 22226 h 336550"/>
              <a:gd name="connsiteX27" fmla="*/ 227012 w 323850"/>
              <a:gd name="connsiteY27" fmla="*/ 19686 h 336550"/>
              <a:gd name="connsiteX28" fmla="*/ 224379 w 323850"/>
              <a:gd name="connsiteY28" fmla="*/ 15876 h 336550"/>
              <a:gd name="connsiteX29" fmla="*/ 175670 w 323850"/>
              <a:gd name="connsiteY29" fmla="*/ 15876 h 336550"/>
              <a:gd name="connsiteX30" fmla="*/ 125064 w 323850"/>
              <a:gd name="connsiteY30" fmla="*/ 0 h 336550"/>
              <a:gd name="connsiteX31" fmla="*/ 276458 w 323850"/>
              <a:gd name="connsiteY31" fmla="*/ 0 h 336550"/>
              <a:gd name="connsiteX32" fmla="*/ 298837 w 323850"/>
              <a:gd name="connsiteY32" fmla="*/ 22349 h 336550"/>
              <a:gd name="connsiteX33" fmla="*/ 298837 w 323850"/>
              <a:gd name="connsiteY33" fmla="*/ 109116 h 336550"/>
              <a:gd name="connsiteX34" fmla="*/ 306736 w 323850"/>
              <a:gd name="connsiteY34" fmla="*/ 109116 h 336550"/>
              <a:gd name="connsiteX35" fmla="*/ 323850 w 323850"/>
              <a:gd name="connsiteY35" fmla="*/ 127521 h 336550"/>
              <a:gd name="connsiteX36" fmla="*/ 323850 w 323850"/>
              <a:gd name="connsiteY36" fmla="*/ 130150 h 336550"/>
              <a:gd name="connsiteX37" fmla="*/ 306736 w 323850"/>
              <a:gd name="connsiteY37" fmla="*/ 147241 h 336550"/>
              <a:gd name="connsiteX38" fmla="*/ 268559 w 323850"/>
              <a:gd name="connsiteY38" fmla="*/ 147241 h 336550"/>
              <a:gd name="connsiteX39" fmla="*/ 250128 w 323850"/>
              <a:gd name="connsiteY39" fmla="*/ 130150 h 336550"/>
              <a:gd name="connsiteX40" fmla="*/ 250128 w 323850"/>
              <a:gd name="connsiteY40" fmla="*/ 127521 h 336550"/>
              <a:gd name="connsiteX41" fmla="*/ 268559 w 323850"/>
              <a:gd name="connsiteY41" fmla="*/ 109116 h 336550"/>
              <a:gd name="connsiteX42" fmla="*/ 272508 w 323850"/>
              <a:gd name="connsiteY42" fmla="*/ 109116 h 336550"/>
              <a:gd name="connsiteX43" fmla="*/ 283040 w 323850"/>
              <a:gd name="connsiteY43" fmla="*/ 109116 h 336550"/>
              <a:gd name="connsiteX44" fmla="*/ 283040 w 323850"/>
              <a:gd name="connsiteY44" fmla="*/ 35496 h 336550"/>
              <a:gd name="connsiteX45" fmla="*/ 118481 w 323850"/>
              <a:gd name="connsiteY45" fmla="*/ 35496 h 336550"/>
              <a:gd name="connsiteX46" fmla="*/ 118481 w 323850"/>
              <a:gd name="connsiteY46" fmla="*/ 76250 h 336550"/>
              <a:gd name="connsiteX47" fmla="*/ 155342 w 323850"/>
              <a:gd name="connsiteY47" fmla="*/ 56530 h 336550"/>
              <a:gd name="connsiteX48" fmla="*/ 184305 w 323850"/>
              <a:gd name="connsiteY48" fmla="*/ 74935 h 336550"/>
              <a:gd name="connsiteX49" fmla="*/ 139545 w 323850"/>
              <a:gd name="connsiteY49" fmla="*/ 117004 h 336550"/>
              <a:gd name="connsiteX50" fmla="*/ 118481 w 323850"/>
              <a:gd name="connsiteY50" fmla="*/ 131465 h 336550"/>
              <a:gd name="connsiteX51" fmla="*/ 118481 w 323850"/>
              <a:gd name="connsiteY51" fmla="*/ 294481 h 336550"/>
              <a:gd name="connsiteX52" fmla="*/ 283040 w 323850"/>
              <a:gd name="connsiteY52" fmla="*/ 294481 h 336550"/>
              <a:gd name="connsiteX53" fmla="*/ 283040 w 323850"/>
              <a:gd name="connsiteY53" fmla="*/ 282649 h 336550"/>
              <a:gd name="connsiteX54" fmla="*/ 268559 w 323850"/>
              <a:gd name="connsiteY54" fmla="*/ 282649 h 336550"/>
              <a:gd name="connsiteX55" fmla="*/ 250128 w 323850"/>
              <a:gd name="connsiteY55" fmla="*/ 264244 h 336550"/>
              <a:gd name="connsiteX56" fmla="*/ 250128 w 323850"/>
              <a:gd name="connsiteY56" fmla="*/ 262930 h 336550"/>
              <a:gd name="connsiteX57" fmla="*/ 268559 w 323850"/>
              <a:gd name="connsiteY57" fmla="*/ 244525 h 336550"/>
              <a:gd name="connsiteX58" fmla="*/ 306736 w 323850"/>
              <a:gd name="connsiteY58" fmla="*/ 244525 h 336550"/>
              <a:gd name="connsiteX59" fmla="*/ 323850 w 323850"/>
              <a:gd name="connsiteY59" fmla="*/ 262930 h 336550"/>
              <a:gd name="connsiteX60" fmla="*/ 323850 w 323850"/>
              <a:gd name="connsiteY60" fmla="*/ 264244 h 336550"/>
              <a:gd name="connsiteX61" fmla="*/ 306736 w 323850"/>
              <a:gd name="connsiteY61" fmla="*/ 282649 h 336550"/>
              <a:gd name="connsiteX62" fmla="*/ 301470 w 323850"/>
              <a:gd name="connsiteY62" fmla="*/ 282649 h 336550"/>
              <a:gd name="connsiteX63" fmla="*/ 298837 w 323850"/>
              <a:gd name="connsiteY63" fmla="*/ 282649 h 336550"/>
              <a:gd name="connsiteX64" fmla="*/ 298837 w 323850"/>
              <a:gd name="connsiteY64" fmla="*/ 314201 h 336550"/>
              <a:gd name="connsiteX65" fmla="*/ 276458 w 323850"/>
              <a:gd name="connsiteY65" fmla="*/ 336550 h 336550"/>
              <a:gd name="connsiteX66" fmla="*/ 125064 w 323850"/>
              <a:gd name="connsiteY66" fmla="*/ 336550 h 336550"/>
              <a:gd name="connsiteX67" fmla="*/ 102684 w 323850"/>
              <a:gd name="connsiteY67" fmla="*/ 314201 h 336550"/>
              <a:gd name="connsiteX68" fmla="*/ 102684 w 323850"/>
              <a:gd name="connsiteY68" fmla="*/ 287908 h 336550"/>
              <a:gd name="connsiteX69" fmla="*/ 75038 w 323850"/>
              <a:gd name="connsiteY69" fmla="*/ 287908 h 336550"/>
              <a:gd name="connsiteX70" fmla="*/ 13164 w 323850"/>
              <a:gd name="connsiteY70" fmla="*/ 255042 h 336550"/>
              <a:gd name="connsiteX71" fmla="*/ 11848 w 323850"/>
              <a:gd name="connsiteY71" fmla="*/ 253727 h 336550"/>
              <a:gd name="connsiteX72" fmla="*/ 9215 w 323850"/>
              <a:gd name="connsiteY72" fmla="*/ 249783 h 336550"/>
              <a:gd name="connsiteX73" fmla="*/ 7899 w 323850"/>
              <a:gd name="connsiteY73" fmla="*/ 244525 h 336550"/>
              <a:gd name="connsiteX74" fmla="*/ 6582 w 323850"/>
              <a:gd name="connsiteY74" fmla="*/ 240581 h 336550"/>
              <a:gd name="connsiteX75" fmla="*/ 2633 w 323850"/>
              <a:gd name="connsiteY75" fmla="*/ 231378 h 336550"/>
              <a:gd name="connsiteX76" fmla="*/ 2633 w 323850"/>
              <a:gd name="connsiteY76" fmla="*/ 228749 h 336550"/>
              <a:gd name="connsiteX77" fmla="*/ 0 w 323850"/>
              <a:gd name="connsiteY77" fmla="*/ 219546 h 336550"/>
              <a:gd name="connsiteX78" fmla="*/ 0 w 323850"/>
              <a:gd name="connsiteY78" fmla="*/ 215602 h 336550"/>
              <a:gd name="connsiteX79" fmla="*/ 0 w 323850"/>
              <a:gd name="connsiteY79" fmla="*/ 202456 h 336550"/>
              <a:gd name="connsiteX80" fmla="*/ 40810 w 323850"/>
              <a:gd name="connsiteY80" fmla="*/ 119633 h 336550"/>
              <a:gd name="connsiteX81" fmla="*/ 102684 w 323850"/>
              <a:gd name="connsiteY81" fmla="*/ 85452 h 336550"/>
              <a:gd name="connsiteX82" fmla="*/ 102684 w 323850"/>
              <a:gd name="connsiteY82" fmla="*/ 22349 h 336550"/>
              <a:gd name="connsiteX83" fmla="*/ 125064 w 323850"/>
              <a:gd name="connsiteY8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23850" h="336550">
                <a:moveTo>
                  <a:pt x="200025" y="303213"/>
                </a:moveTo>
                <a:cubicBezTo>
                  <a:pt x="193887" y="303213"/>
                  <a:pt x="188912" y="308188"/>
                  <a:pt x="188912" y="314326"/>
                </a:cubicBezTo>
                <a:cubicBezTo>
                  <a:pt x="188912" y="320464"/>
                  <a:pt x="193887" y="325439"/>
                  <a:pt x="200025" y="325439"/>
                </a:cubicBezTo>
                <a:cubicBezTo>
                  <a:pt x="206163" y="325439"/>
                  <a:pt x="211138" y="320464"/>
                  <a:pt x="211138" y="314326"/>
                </a:cubicBezTo>
                <a:cubicBezTo>
                  <a:pt x="211138" y="308188"/>
                  <a:pt x="206163" y="303213"/>
                  <a:pt x="200025" y="303213"/>
                </a:cubicBezTo>
                <a:close/>
                <a:moveTo>
                  <a:pt x="267890" y="200026"/>
                </a:moveTo>
                <a:cubicBezTo>
                  <a:pt x="267890" y="200026"/>
                  <a:pt x="267890" y="200026"/>
                  <a:pt x="306529" y="200026"/>
                </a:cubicBezTo>
                <a:cubicBezTo>
                  <a:pt x="315856" y="200026"/>
                  <a:pt x="323850" y="207909"/>
                  <a:pt x="323850" y="217105"/>
                </a:cubicBezTo>
                <a:cubicBezTo>
                  <a:pt x="323850" y="217105"/>
                  <a:pt x="323850" y="217105"/>
                  <a:pt x="323850" y="219733"/>
                </a:cubicBezTo>
                <a:cubicBezTo>
                  <a:pt x="323850" y="228929"/>
                  <a:pt x="315856" y="238126"/>
                  <a:pt x="306529" y="238126"/>
                </a:cubicBezTo>
                <a:cubicBezTo>
                  <a:pt x="306529" y="238126"/>
                  <a:pt x="306529" y="238126"/>
                  <a:pt x="267890" y="238126"/>
                </a:cubicBezTo>
                <a:cubicBezTo>
                  <a:pt x="257231" y="238126"/>
                  <a:pt x="249237" y="228929"/>
                  <a:pt x="249237" y="219733"/>
                </a:cubicBezTo>
                <a:cubicBezTo>
                  <a:pt x="249237" y="219733"/>
                  <a:pt x="249237" y="219733"/>
                  <a:pt x="249237" y="217105"/>
                </a:cubicBezTo>
                <a:cubicBezTo>
                  <a:pt x="249237" y="207909"/>
                  <a:pt x="257231" y="200026"/>
                  <a:pt x="267890" y="200026"/>
                </a:cubicBezTo>
                <a:close/>
                <a:moveTo>
                  <a:pt x="267890" y="155576"/>
                </a:moveTo>
                <a:cubicBezTo>
                  <a:pt x="267890" y="155576"/>
                  <a:pt x="267890" y="155576"/>
                  <a:pt x="306529" y="155576"/>
                </a:cubicBezTo>
                <a:cubicBezTo>
                  <a:pt x="315856" y="155576"/>
                  <a:pt x="323850" y="163400"/>
                  <a:pt x="323850" y="172528"/>
                </a:cubicBezTo>
                <a:cubicBezTo>
                  <a:pt x="323850" y="172528"/>
                  <a:pt x="323850" y="172528"/>
                  <a:pt x="323850" y="175137"/>
                </a:cubicBezTo>
                <a:cubicBezTo>
                  <a:pt x="323850" y="184265"/>
                  <a:pt x="315856" y="192089"/>
                  <a:pt x="306529" y="192089"/>
                </a:cubicBezTo>
                <a:cubicBezTo>
                  <a:pt x="306529" y="192089"/>
                  <a:pt x="306529" y="192089"/>
                  <a:pt x="267890" y="192089"/>
                </a:cubicBezTo>
                <a:cubicBezTo>
                  <a:pt x="257231" y="192089"/>
                  <a:pt x="249237" y="184265"/>
                  <a:pt x="249237" y="175137"/>
                </a:cubicBezTo>
                <a:cubicBezTo>
                  <a:pt x="249237" y="175137"/>
                  <a:pt x="249237" y="175137"/>
                  <a:pt x="249237" y="172528"/>
                </a:cubicBezTo>
                <a:cubicBezTo>
                  <a:pt x="249237" y="163400"/>
                  <a:pt x="257231" y="155576"/>
                  <a:pt x="267890" y="155576"/>
                </a:cubicBezTo>
                <a:close/>
                <a:moveTo>
                  <a:pt x="175670" y="15876"/>
                </a:moveTo>
                <a:cubicBezTo>
                  <a:pt x="174353" y="15876"/>
                  <a:pt x="173037" y="17146"/>
                  <a:pt x="173037" y="19686"/>
                </a:cubicBezTo>
                <a:cubicBezTo>
                  <a:pt x="173037" y="20956"/>
                  <a:pt x="174353" y="22226"/>
                  <a:pt x="175670" y="22226"/>
                </a:cubicBezTo>
                <a:cubicBezTo>
                  <a:pt x="175670" y="22226"/>
                  <a:pt x="175670" y="22226"/>
                  <a:pt x="224379" y="22226"/>
                </a:cubicBezTo>
                <a:cubicBezTo>
                  <a:pt x="225695" y="22226"/>
                  <a:pt x="227012" y="20956"/>
                  <a:pt x="227012" y="19686"/>
                </a:cubicBezTo>
                <a:cubicBezTo>
                  <a:pt x="227012" y="17146"/>
                  <a:pt x="225695" y="15876"/>
                  <a:pt x="224379" y="15876"/>
                </a:cubicBezTo>
                <a:cubicBezTo>
                  <a:pt x="224379" y="15876"/>
                  <a:pt x="224379" y="15876"/>
                  <a:pt x="175670" y="15876"/>
                </a:cubicBezTo>
                <a:close/>
                <a:moveTo>
                  <a:pt x="125064" y="0"/>
                </a:moveTo>
                <a:cubicBezTo>
                  <a:pt x="125064" y="0"/>
                  <a:pt x="125064" y="0"/>
                  <a:pt x="276458" y="0"/>
                </a:cubicBezTo>
                <a:cubicBezTo>
                  <a:pt x="288306" y="0"/>
                  <a:pt x="298837" y="10517"/>
                  <a:pt x="298837" y="22349"/>
                </a:cubicBezTo>
                <a:cubicBezTo>
                  <a:pt x="298837" y="22349"/>
                  <a:pt x="298837" y="22349"/>
                  <a:pt x="298837" y="109116"/>
                </a:cubicBezTo>
                <a:cubicBezTo>
                  <a:pt x="298837" y="109116"/>
                  <a:pt x="298837" y="109116"/>
                  <a:pt x="306736" y="109116"/>
                </a:cubicBezTo>
                <a:cubicBezTo>
                  <a:pt x="315951" y="109116"/>
                  <a:pt x="323850" y="118318"/>
                  <a:pt x="323850" y="127521"/>
                </a:cubicBezTo>
                <a:cubicBezTo>
                  <a:pt x="323850" y="127521"/>
                  <a:pt x="323850" y="127521"/>
                  <a:pt x="323850" y="130150"/>
                </a:cubicBezTo>
                <a:cubicBezTo>
                  <a:pt x="323850" y="139353"/>
                  <a:pt x="315951" y="147241"/>
                  <a:pt x="306736" y="147241"/>
                </a:cubicBezTo>
                <a:cubicBezTo>
                  <a:pt x="306736" y="147241"/>
                  <a:pt x="306736" y="147241"/>
                  <a:pt x="268559" y="147241"/>
                </a:cubicBezTo>
                <a:cubicBezTo>
                  <a:pt x="258027" y="147241"/>
                  <a:pt x="250128" y="139353"/>
                  <a:pt x="250128" y="130150"/>
                </a:cubicBezTo>
                <a:cubicBezTo>
                  <a:pt x="250128" y="130150"/>
                  <a:pt x="250128" y="130150"/>
                  <a:pt x="250128" y="127521"/>
                </a:cubicBezTo>
                <a:cubicBezTo>
                  <a:pt x="250128" y="118318"/>
                  <a:pt x="258027" y="109116"/>
                  <a:pt x="268559" y="109116"/>
                </a:cubicBezTo>
                <a:cubicBezTo>
                  <a:pt x="268559" y="109116"/>
                  <a:pt x="268559" y="109116"/>
                  <a:pt x="272508" y="109116"/>
                </a:cubicBezTo>
                <a:cubicBezTo>
                  <a:pt x="272508" y="109116"/>
                  <a:pt x="272508" y="109116"/>
                  <a:pt x="283040" y="109116"/>
                </a:cubicBezTo>
                <a:cubicBezTo>
                  <a:pt x="283040" y="109116"/>
                  <a:pt x="283040" y="109116"/>
                  <a:pt x="283040" y="35496"/>
                </a:cubicBezTo>
                <a:cubicBezTo>
                  <a:pt x="283040" y="35496"/>
                  <a:pt x="283040" y="35496"/>
                  <a:pt x="118481" y="35496"/>
                </a:cubicBezTo>
                <a:cubicBezTo>
                  <a:pt x="118481" y="35496"/>
                  <a:pt x="118481" y="35496"/>
                  <a:pt x="118481" y="76250"/>
                </a:cubicBezTo>
                <a:cubicBezTo>
                  <a:pt x="134279" y="67047"/>
                  <a:pt x="148760" y="59159"/>
                  <a:pt x="155342" y="56530"/>
                </a:cubicBezTo>
                <a:cubicBezTo>
                  <a:pt x="176406" y="44698"/>
                  <a:pt x="188254" y="59159"/>
                  <a:pt x="184305" y="74935"/>
                </a:cubicBezTo>
                <a:cubicBezTo>
                  <a:pt x="181672" y="86767"/>
                  <a:pt x="160608" y="99913"/>
                  <a:pt x="139545" y="117004"/>
                </a:cubicBezTo>
                <a:cubicBezTo>
                  <a:pt x="134279" y="120948"/>
                  <a:pt x="126380" y="126206"/>
                  <a:pt x="118481" y="131465"/>
                </a:cubicBezTo>
                <a:cubicBezTo>
                  <a:pt x="118481" y="131465"/>
                  <a:pt x="118481" y="131465"/>
                  <a:pt x="118481" y="294481"/>
                </a:cubicBezTo>
                <a:cubicBezTo>
                  <a:pt x="118481" y="294481"/>
                  <a:pt x="118481" y="294481"/>
                  <a:pt x="283040" y="294481"/>
                </a:cubicBezTo>
                <a:cubicBezTo>
                  <a:pt x="283040" y="294481"/>
                  <a:pt x="283040" y="294481"/>
                  <a:pt x="283040" y="282649"/>
                </a:cubicBezTo>
                <a:cubicBezTo>
                  <a:pt x="283040" y="282649"/>
                  <a:pt x="283040" y="282649"/>
                  <a:pt x="268559" y="282649"/>
                </a:cubicBezTo>
                <a:cubicBezTo>
                  <a:pt x="258027" y="282649"/>
                  <a:pt x="250128" y="274762"/>
                  <a:pt x="250128" y="264244"/>
                </a:cubicBezTo>
                <a:cubicBezTo>
                  <a:pt x="250128" y="264244"/>
                  <a:pt x="250128" y="264244"/>
                  <a:pt x="250128" y="262930"/>
                </a:cubicBezTo>
                <a:cubicBezTo>
                  <a:pt x="250128" y="252413"/>
                  <a:pt x="258027" y="244525"/>
                  <a:pt x="268559" y="244525"/>
                </a:cubicBezTo>
                <a:cubicBezTo>
                  <a:pt x="268559" y="244525"/>
                  <a:pt x="268559" y="244525"/>
                  <a:pt x="306736" y="244525"/>
                </a:cubicBezTo>
                <a:cubicBezTo>
                  <a:pt x="315951" y="244525"/>
                  <a:pt x="323850" y="252413"/>
                  <a:pt x="323850" y="262930"/>
                </a:cubicBezTo>
                <a:cubicBezTo>
                  <a:pt x="323850" y="262930"/>
                  <a:pt x="323850" y="262930"/>
                  <a:pt x="323850" y="264244"/>
                </a:cubicBezTo>
                <a:cubicBezTo>
                  <a:pt x="323850" y="274762"/>
                  <a:pt x="315951" y="282649"/>
                  <a:pt x="306736" y="282649"/>
                </a:cubicBezTo>
                <a:cubicBezTo>
                  <a:pt x="306736" y="282649"/>
                  <a:pt x="306736" y="282649"/>
                  <a:pt x="301470" y="282649"/>
                </a:cubicBezTo>
                <a:cubicBezTo>
                  <a:pt x="301470" y="282649"/>
                  <a:pt x="301470" y="282649"/>
                  <a:pt x="298837" y="282649"/>
                </a:cubicBezTo>
                <a:cubicBezTo>
                  <a:pt x="298837" y="282649"/>
                  <a:pt x="298837" y="282649"/>
                  <a:pt x="298837" y="314201"/>
                </a:cubicBezTo>
                <a:cubicBezTo>
                  <a:pt x="298837" y="326033"/>
                  <a:pt x="288306" y="336550"/>
                  <a:pt x="276458" y="336550"/>
                </a:cubicBezTo>
                <a:cubicBezTo>
                  <a:pt x="276458" y="336550"/>
                  <a:pt x="276458" y="336550"/>
                  <a:pt x="125064" y="336550"/>
                </a:cubicBezTo>
                <a:cubicBezTo>
                  <a:pt x="113216" y="336550"/>
                  <a:pt x="102684" y="326033"/>
                  <a:pt x="102684" y="314201"/>
                </a:cubicBezTo>
                <a:cubicBezTo>
                  <a:pt x="102684" y="314201"/>
                  <a:pt x="102684" y="314201"/>
                  <a:pt x="102684" y="287908"/>
                </a:cubicBezTo>
                <a:cubicBezTo>
                  <a:pt x="102684" y="287908"/>
                  <a:pt x="102684" y="287908"/>
                  <a:pt x="75038" y="287908"/>
                </a:cubicBezTo>
                <a:cubicBezTo>
                  <a:pt x="75038" y="287908"/>
                  <a:pt x="35544" y="287908"/>
                  <a:pt x="13164" y="255042"/>
                </a:cubicBezTo>
                <a:cubicBezTo>
                  <a:pt x="13164" y="253727"/>
                  <a:pt x="13164" y="253727"/>
                  <a:pt x="11848" y="253727"/>
                </a:cubicBezTo>
                <a:cubicBezTo>
                  <a:pt x="11848" y="252413"/>
                  <a:pt x="10531" y="251098"/>
                  <a:pt x="9215" y="249783"/>
                </a:cubicBezTo>
                <a:cubicBezTo>
                  <a:pt x="9215" y="248469"/>
                  <a:pt x="7899" y="245839"/>
                  <a:pt x="7899" y="244525"/>
                </a:cubicBezTo>
                <a:cubicBezTo>
                  <a:pt x="6582" y="243210"/>
                  <a:pt x="6582" y="241895"/>
                  <a:pt x="6582" y="240581"/>
                </a:cubicBezTo>
                <a:cubicBezTo>
                  <a:pt x="5266" y="237951"/>
                  <a:pt x="3949" y="235322"/>
                  <a:pt x="2633" y="231378"/>
                </a:cubicBezTo>
                <a:cubicBezTo>
                  <a:pt x="2633" y="230063"/>
                  <a:pt x="2633" y="230063"/>
                  <a:pt x="2633" y="228749"/>
                </a:cubicBezTo>
                <a:cubicBezTo>
                  <a:pt x="1316" y="226120"/>
                  <a:pt x="1316" y="223490"/>
                  <a:pt x="0" y="219546"/>
                </a:cubicBezTo>
                <a:cubicBezTo>
                  <a:pt x="0" y="218232"/>
                  <a:pt x="0" y="216917"/>
                  <a:pt x="0" y="215602"/>
                </a:cubicBezTo>
                <a:cubicBezTo>
                  <a:pt x="0" y="211658"/>
                  <a:pt x="0" y="207714"/>
                  <a:pt x="0" y="202456"/>
                </a:cubicBezTo>
                <a:cubicBezTo>
                  <a:pt x="0" y="149870"/>
                  <a:pt x="23696" y="127521"/>
                  <a:pt x="40810" y="119633"/>
                </a:cubicBezTo>
                <a:cubicBezTo>
                  <a:pt x="40810" y="119633"/>
                  <a:pt x="72405" y="102543"/>
                  <a:pt x="102684" y="85452"/>
                </a:cubicBezTo>
                <a:cubicBezTo>
                  <a:pt x="102684" y="85452"/>
                  <a:pt x="102684" y="85452"/>
                  <a:pt x="102684" y="22349"/>
                </a:cubicBezTo>
                <a:cubicBezTo>
                  <a:pt x="102684" y="10517"/>
                  <a:pt x="113216" y="0"/>
                  <a:pt x="12506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8" name="椭圆 7"/>
          <p:cNvSpPr/>
          <p:nvPr>
            <p:custDataLst>
              <p:tags r:id="rId2"/>
            </p:custDataLst>
          </p:nvPr>
        </p:nvSpPr>
        <p:spPr>
          <a:xfrm>
            <a:off x="2100200" y="4426856"/>
            <a:ext cx="665743" cy="754744"/>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9" name="椭圆 8"/>
          <p:cNvSpPr/>
          <p:nvPr>
            <p:custDataLst>
              <p:tags r:id="rId3"/>
            </p:custDataLst>
          </p:nvPr>
        </p:nvSpPr>
        <p:spPr>
          <a:xfrm>
            <a:off x="9381557" y="4426856"/>
            <a:ext cx="754744" cy="754744"/>
          </a:xfrm>
          <a:custGeom>
            <a:avLst/>
            <a:gdLst>
              <a:gd name="connsiteX0" fmla="*/ 15554 w 331788"/>
              <a:gd name="connsiteY0" fmla="*/ 301625 h 331788"/>
              <a:gd name="connsiteX1" fmla="*/ 127029 w 331788"/>
              <a:gd name="connsiteY1" fmla="*/ 301625 h 331788"/>
              <a:gd name="connsiteX2" fmla="*/ 141288 w 331788"/>
              <a:gd name="connsiteY2" fmla="*/ 316051 h 331788"/>
              <a:gd name="connsiteX3" fmla="*/ 127029 w 331788"/>
              <a:gd name="connsiteY3" fmla="*/ 331788 h 331788"/>
              <a:gd name="connsiteX4" fmla="*/ 15554 w 331788"/>
              <a:gd name="connsiteY4" fmla="*/ 331788 h 331788"/>
              <a:gd name="connsiteX5" fmla="*/ 0 w 331788"/>
              <a:gd name="connsiteY5" fmla="*/ 316051 h 331788"/>
              <a:gd name="connsiteX6" fmla="*/ 15554 w 331788"/>
              <a:gd name="connsiteY6" fmla="*/ 301625 h 331788"/>
              <a:gd name="connsiteX7" fmla="*/ 15554 w 331788"/>
              <a:gd name="connsiteY7" fmla="*/ 263525 h 331788"/>
              <a:gd name="connsiteX8" fmla="*/ 95920 w 331788"/>
              <a:gd name="connsiteY8" fmla="*/ 263525 h 331788"/>
              <a:gd name="connsiteX9" fmla="*/ 141288 w 331788"/>
              <a:gd name="connsiteY9" fmla="*/ 283634 h 331788"/>
              <a:gd name="connsiteX10" fmla="*/ 127029 w 331788"/>
              <a:gd name="connsiteY10" fmla="*/ 293688 h 331788"/>
              <a:gd name="connsiteX11" fmla="*/ 15554 w 331788"/>
              <a:gd name="connsiteY11" fmla="*/ 293688 h 331788"/>
              <a:gd name="connsiteX12" fmla="*/ 0 w 331788"/>
              <a:gd name="connsiteY12" fmla="*/ 278607 h 331788"/>
              <a:gd name="connsiteX13" fmla="*/ 15554 w 331788"/>
              <a:gd name="connsiteY13" fmla="*/ 263525 h 331788"/>
              <a:gd name="connsiteX14" fmla="*/ 270156 w 331788"/>
              <a:gd name="connsiteY14" fmla="*/ 228600 h 331788"/>
              <a:gd name="connsiteX15" fmla="*/ 316380 w 331788"/>
              <a:gd name="connsiteY15" fmla="*/ 228600 h 331788"/>
              <a:gd name="connsiteX16" fmla="*/ 331788 w 331788"/>
              <a:gd name="connsiteY16" fmla="*/ 244337 h 331788"/>
              <a:gd name="connsiteX17" fmla="*/ 316380 w 331788"/>
              <a:gd name="connsiteY17" fmla="*/ 258763 h 331788"/>
              <a:gd name="connsiteX18" fmla="*/ 244475 w 331788"/>
              <a:gd name="connsiteY18" fmla="*/ 258763 h 331788"/>
              <a:gd name="connsiteX19" fmla="*/ 270156 w 331788"/>
              <a:gd name="connsiteY19" fmla="*/ 228600 h 331788"/>
              <a:gd name="connsiteX20" fmla="*/ 15586 w 331788"/>
              <a:gd name="connsiteY20" fmla="*/ 225425 h 331788"/>
              <a:gd name="connsiteX21" fmla="*/ 61046 w 331788"/>
              <a:gd name="connsiteY21" fmla="*/ 225425 h 331788"/>
              <a:gd name="connsiteX22" fmla="*/ 85725 w 331788"/>
              <a:gd name="connsiteY22" fmla="*/ 255588 h 331788"/>
              <a:gd name="connsiteX23" fmla="*/ 15586 w 331788"/>
              <a:gd name="connsiteY23" fmla="*/ 255588 h 331788"/>
              <a:gd name="connsiteX24" fmla="*/ 0 w 331788"/>
              <a:gd name="connsiteY24" fmla="*/ 241162 h 331788"/>
              <a:gd name="connsiteX25" fmla="*/ 15586 w 331788"/>
              <a:gd name="connsiteY25" fmla="*/ 225425 h 331788"/>
              <a:gd name="connsiteX26" fmla="*/ 283493 w 331788"/>
              <a:gd name="connsiteY26" fmla="*/ 190500 h 331788"/>
              <a:gd name="connsiteX27" fmla="*/ 316125 w 331788"/>
              <a:gd name="connsiteY27" fmla="*/ 190500 h 331788"/>
              <a:gd name="connsiteX28" fmla="*/ 331788 w 331788"/>
              <a:gd name="connsiteY28" fmla="*/ 204926 h 331788"/>
              <a:gd name="connsiteX29" fmla="*/ 316125 w 331788"/>
              <a:gd name="connsiteY29" fmla="*/ 220663 h 331788"/>
              <a:gd name="connsiteX30" fmla="*/ 273050 w 331788"/>
              <a:gd name="connsiteY30" fmla="*/ 220663 h 331788"/>
              <a:gd name="connsiteX31" fmla="*/ 283493 w 331788"/>
              <a:gd name="connsiteY31" fmla="*/ 190500 h 331788"/>
              <a:gd name="connsiteX32" fmla="*/ 15586 w 331788"/>
              <a:gd name="connsiteY32" fmla="*/ 188912 h 331788"/>
              <a:gd name="connsiteX33" fmla="*/ 46759 w 331788"/>
              <a:gd name="connsiteY33" fmla="*/ 188912 h 331788"/>
              <a:gd name="connsiteX34" fmla="*/ 57150 w 331788"/>
              <a:gd name="connsiteY34" fmla="*/ 217487 h 331788"/>
              <a:gd name="connsiteX35" fmla="*/ 15586 w 331788"/>
              <a:gd name="connsiteY35" fmla="*/ 217487 h 331788"/>
              <a:gd name="connsiteX36" fmla="*/ 0 w 331788"/>
              <a:gd name="connsiteY36" fmla="*/ 202578 h 331788"/>
              <a:gd name="connsiteX37" fmla="*/ 15586 w 331788"/>
              <a:gd name="connsiteY37" fmla="*/ 188912 h 331788"/>
              <a:gd name="connsiteX38" fmla="*/ 169863 w 331788"/>
              <a:gd name="connsiteY38" fmla="*/ 174625 h 331788"/>
              <a:gd name="connsiteX39" fmla="*/ 169863 w 331788"/>
              <a:gd name="connsiteY39" fmla="*/ 201813 h 331788"/>
              <a:gd name="connsiteX40" fmla="*/ 187326 w 331788"/>
              <a:gd name="connsiteY40" fmla="*/ 188762 h 331788"/>
              <a:gd name="connsiteX41" fmla="*/ 169863 w 331788"/>
              <a:gd name="connsiteY41" fmla="*/ 174625 h 331788"/>
              <a:gd name="connsiteX42" fmla="*/ 285750 w 331788"/>
              <a:gd name="connsiteY42" fmla="*/ 152400 h 331788"/>
              <a:gd name="connsiteX43" fmla="*/ 316442 w 331788"/>
              <a:gd name="connsiteY43" fmla="*/ 152400 h 331788"/>
              <a:gd name="connsiteX44" fmla="*/ 331788 w 331788"/>
              <a:gd name="connsiteY44" fmla="*/ 167481 h 331788"/>
              <a:gd name="connsiteX45" fmla="*/ 316442 w 331788"/>
              <a:gd name="connsiteY45" fmla="*/ 182563 h 331788"/>
              <a:gd name="connsiteX46" fmla="*/ 285750 w 331788"/>
              <a:gd name="connsiteY46" fmla="*/ 182563 h 331788"/>
              <a:gd name="connsiteX47" fmla="*/ 287029 w 331788"/>
              <a:gd name="connsiteY47" fmla="*/ 166225 h 331788"/>
              <a:gd name="connsiteX48" fmla="*/ 285750 w 331788"/>
              <a:gd name="connsiteY48" fmla="*/ 152400 h 331788"/>
              <a:gd name="connsiteX49" fmla="*/ 15875 w 331788"/>
              <a:gd name="connsiteY49" fmla="*/ 149225 h 331788"/>
              <a:gd name="connsiteX50" fmla="*/ 47625 w 331788"/>
              <a:gd name="connsiteY50" fmla="*/ 149225 h 331788"/>
              <a:gd name="connsiteX51" fmla="*/ 46302 w 331788"/>
              <a:gd name="connsiteY51" fmla="*/ 166423 h 331788"/>
              <a:gd name="connsiteX52" fmla="*/ 47625 w 331788"/>
              <a:gd name="connsiteY52" fmla="*/ 180975 h 331788"/>
              <a:gd name="connsiteX53" fmla="*/ 15875 w 331788"/>
              <a:gd name="connsiteY53" fmla="*/ 180975 h 331788"/>
              <a:gd name="connsiteX54" fmla="*/ 0 w 331788"/>
              <a:gd name="connsiteY54" fmla="*/ 165100 h 331788"/>
              <a:gd name="connsiteX55" fmla="*/ 15875 w 331788"/>
              <a:gd name="connsiteY55" fmla="*/ 149225 h 331788"/>
              <a:gd name="connsiteX56" fmla="*/ 161925 w 331788"/>
              <a:gd name="connsiteY56" fmla="*/ 130175 h 331788"/>
              <a:gd name="connsiteX57" fmla="*/ 146050 w 331788"/>
              <a:gd name="connsiteY57" fmla="*/ 141455 h 331788"/>
              <a:gd name="connsiteX58" fmla="*/ 161925 w 331788"/>
              <a:gd name="connsiteY58" fmla="*/ 153988 h 331788"/>
              <a:gd name="connsiteX59" fmla="*/ 274638 w 331788"/>
              <a:gd name="connsiteY59" fmla="*/ 114300 h 331788"/>
              <a:gd name="connsiteX60" fmla="*/ 316202 w 331788"/>
              <a:gd name="connsiteY60" fmla="*/ 114300 h 331788"/>
              <a:gd name="connsiteX61" fmla="*/ 331788 w 331788"/>
              <a:gd name="connsiteY61" fmla="*/ 130037 h 331788"/>
              <a:gd name="connsiteX62" fmla="*/ 316202 w 331788"/>
              <a:gd name="connsiteY62" fmla="*/ 144463 h 331788"/>
              <a:gd name="connsiteX63" fmla="*/ 283730 w 331788"/>
              <a:gd name="connsiteY63" fmla="*/ 144463 h 331788"/>
              <a:gd name="connsiteX64" fmla="*/ 274638 w 331788"/>
              <a:gd name="connsiteY64" fmla="*/ 114300 h 331788"/>
              <a:gd name="connsiteX65" fmla="*/ 15663 w 331788"/>
              <a:gd name="connsiteY65" fmla="*/ 111125 h 331788"/>
              <a:gd name="connsiteX66" fmla="*/ 58738 w 331788"/>
              <a:gd name="connsiteY66" fmla="*/ 111125 h 331788"/>
              <a:gd name="connsiteX67" fmla="*/ 48295 w 331788"/>
              <a:gd name="connsiteY67" fmla="*/ 141288 h 331788"/>
              <a:gd name="connsiteX68" fmla="*/ 15663 w 331788"/>
              <a:gd name="connsiteY68" fmla="*/ 141288 h 331788"/>
              <a:gd name="connsiteX69" fmla="*/ 0 w 331788"/>
              <a:gd name="connsiteY69" fmla="*/ 126862 h 331788"/>
              <a:gd name="connsiteX70" fmla="*/ 15663 w 331788"/>
              <a:gd name="connsiteY70" fmla="*/ 111125 h 331788"/>
              <a:gd name="connsiteX71" fmla="*/ 165894 w 331788"/>
              <a:gd name="connsiteY71" fmla="*/ 104775 h 331788"/>
              <a:gd name="connsiteX72" fmla="*/ 169783 w 331788"/>
              <a:gd name="connsiteY72" fmla="*/ 109934 h 331788"/>
              <a:gd name="connsiteX73" fmla="*/ 169783 w 331788"/>
              <a:gd name="connsiteY73" fmla="*/ 116383 h 331788"/>
              <a:gd name="connsiteX74" fmla="*/ 203492 w 331788"/>
              <a:gd name="connsiteY74" fmla="*/ 137021 h 331788"/>
              <a:gd name="connsiteX75" fmla="*/ 194417 w 331788"/>
              <a:gd name="connsiteY75" fmla="*/ 146050 h 331788"/>
              <a:gd name="connsiteX76" fmla="*/ 169783 w 331788"/>
              <a:gd name="connsiteY76" fmla="*/ 130572 h 331788"/>
              <a:gd name="connsiteX77" fmla="*/ 169783 w 331788"/>
              <a:gd name="connsiteY77" fmla="*/ 156369 h 331788"/>
              <a:gd name="connsiteX78" fmla="*/ 204788 w 331788"/>
              <a:gd name="connsiteY78" fmla="*/ 187325 h 331788"/>
              <a:gd name="connsiteX79" fmla="*/ 169783 w 331788"/>
              <a:gd name="connsiteY79" fmla="*/ 215702 h 331788"/>
              <a:gd name="connsiteX80" fmla="*/ 169783 w 331788"/>
              <a:gd name="connsiteY80" fmla="*/ 223441 h 331788"/>
              <a:gd name="connsiteX81" fmla="*/ 165894 w 331788"/>
              <a:gd name="connsiteY81" fmla="*/ 228600 h 331788"/>
              <a:gd name="connsiteX82" fmla="*/ 162004 w 331788"/>
              <a:gd name="connsiteY82" fmla="*/ 223441 h 331788"/>
              <a:gd name="connsiteX83" fmla="*/ 162004 w 331788"/>
              <a:gd name="connsiteY83" fmla="*/ 215702 h 331788"/>
              <a:gd name="connsiteX84" fmla="*/ 127000 w 331788"/>
              <a:gd name="connsiteY84" fmla="*/ 189905 h 331788"/>
              <a:gd name="connsiteX85" fmla="*/ 136075 w 331788"/>
              <a:gd name="connsiteY85" fmla="*/ 182166 h 331788"/>
              <a:gd name="connsiteX86" fmla="*/ 162004 w 331788"/>
              <a:gd name="connsiteY86" fmla="*/ 201813 h 331788"/>
              <a:gd name="connsiteX87" fmla="*/ 162004 w 331788"/>
              <a:gd name="connsiteY87" fmla="*/ 173137 h 331788"/>
              <a:gd name="connsiteX88" fmla="*/ 129593 w 331788"/>
              <a:gd name="connsiteY88" fmla="*/ 144760 h 331788"/>
              <a:gd name="connsiteX89" fmla="*/ 162004 w 331788"/>
              <a:gd name="connsiteY89" fmla="*/ 116383 h 331788"/>
              <a:gd name="connsiteX90" fmla="*/ 162004 w 331788"/>
              <a:gd name="connsiteY90" fmla="*/ 109934 h 331788"/>
              <a:gd name="connsiteX91" fmla="*/ 165894 w 331788"/>
              <a:gd name="connsiteY91" fmla="*/ 104775 h 331788"/>
              <a:gd name="connsiteX92" fmla="*/ 165895 w 331788"/>
              <a:gd name="connsiteY92" fmla="*/ 90487 h 331788"/>
              <a:gd name="connsiteX93" fmla="*/ 90488 w 331788"/>
              <a:gd name="connsiteY93" fmla="*/ 165894 h 331788"/>
              <a:gd name="connsiteX94" fmla="*/ 165895 w 331788"/>
              <a:gd name="connsiteY94" fmla="*/ 241301 h 331788"/>
              <a:gd name="connsiteX95" fmla="*/ 241302 w 331788"/>
              <a:gd name="connsiteY95" fmla="*/ 165894 h 331788"/>
              <a:gd name="connsiteX96" fmla="*/ 165895 w 331788"/>
              <a:gd name="connsiteY96" fmla="*/ 90487 h 331788"/>
              <a:gd name="connsiteX97" fmla="*/ 246063 w 331788"/>
              <a:gd name="connsiteY97" fmla="*/ 76200 h 331788"/>
              <a:gd name="connsiteX98" fmla="*/ 316202 w 331788"/>
              <a:gd name="connsiteY98" fmla="*/ 76200 h 331788"/>
              <a:gd name="connsiteX99" fmla="*/ 331788 w 331788"/>
              <a:gd name="connsiteY99" fmla="*/ 90626 h 331788"/>
              <a:gd name="connsiteX100" fmla="*/ 316202 w 331788"/>
              <a:gd name="connsiteY100" fmla="*/ 106363 h 331788"/>
              <a:gd name="connsiteX101" fmla="*/ 270742 w 331788"/>
              <a:gd name="connsiteY101" fmla="*/ 106363 h 331788"/>
              <a:gd name="connsiteX102" fmla="*/ 246063 w 331788"/>
              <a:gd name="connsiteY102" fmla="*/ 76200 h 331788"/>
              <a:gd name="connsiteX103" fmla="*/ 15688 w 331788"/>
              <a:gd name="connsiteY103" fmla="*/ 74612 h 331788"/>
              <a:gd name="connsiteX104" fmla="*/ 88900 w 331788"/>
              <a:gd name="connsiteY104" fmla="*/ 74612 h 331788"/>
              <a:gd name="connsiteX105" fmla="*/ 62753 w 331788"/>
              <a:gd name="connsiteY105" fmla="*/ 104775 h 331788"/>
              <a:gd name="connsiteX106" fmla="*/ 15688 w 331788"/>
              <a:gd name="connsiteY106" fmla="*/ 104775 h 331788"/>
              <a:gd name="connsiteX107" fmla="*/ 0 w 331788"/>
              <a:gd name="connsiteY107" fmla="*/ 89038 h 331788"/>
              <a:gd name="connsiteX108" fmla="*/ 15688 w 331788"/>
              <a:gd name="connsiteY108" fmla="*/ 74612 h 331788"/>
              <a:gd name="connsiteX109" fmla="*/ 166688 w 331788"/>
              <a:gd name="connsiteY109" fmla="*/ 61912 h 331788"/>
              <a:gd name="connsiteX110" fmla="*/ 271463 w 331788"/>
              <a:gd name="connsiteY110" fmla="*/ 166687 h 331788"/>
              <a:gd name="connsiteX111" fmla="*/ 166688 w 331788"/>
              <a:gd name="connsiteY111" fmla="*/ 271462 h 331788"/>
              <a:gd name="connsiteX112" fmla="*/ 61913 w 331788"/>
              <a:gd name="connsiteY112" fmla="*/ 166687 h 331788"/>
              <a:gd name="connsiteX113" fmla="*/ 166688 w 331788"/>
              <a:gd name="connsiteY113" fmla="*/ 61912 h 331788"/>
              <a:gd name="connsiteX114" fmla="*/ 204759 w 331788"/>
              <a:gd name="connsiteY114" fmla="*/ 38100 h 331788"/>
              <a:gd name="connsiteX115" fmla="*/ 316234 w 331788"/>
              <a:gd name="connsiteY115" fmla="*/ 38100 h 331788"/>
              <a:gd name="connsiteX116" fmla="*/ 331788 w 331788"/>
              <a:gd name="connsiteY116" fmla="*/ 53975 h 331788"/>
              <a:gd name="connsiteX117" fmla="*/ 316234 w 331788"/>
              <a:gd name="connsiteY117" fmla="*/ 69850 h 331788"/>
              <a:gd name="connsiteX118" fmla="*/ 235868 w 331788"/>
              <a:gd name="connsiteY118" fmla="*/ 69850 h 331788"/>
              <a:gd name="connsiteX119" fmla="*/ 190500 w 331788"/>
              <a:gd name="connsiteY119" fmla="*/ 48683 h 331788"/>
              <a:gd name="connsiteX120" fmla="*/ 204759 w 331788"/>
              <a:gd name="connsiteY120" fmla="*/ 38100 h 331788"/>
              <a:gd name="connsiteX121" fmla="*/ 204759 w 331788"/>
              <a:gd name="connsiteY121" fmla="*/ 0 h 331788"/>
              <a:gd name="connsiteX122" fmla="*/ 316234 w 331788"/>
              <a:gd name="connsiteY122" fmla="*/ 0 h 331788"/>
              <a:gd name="connsiteX123" fmla="*/ 331788 w 331788"/>
              <a:gd name="connsiteY123" fmla="*/ 15737 h 331788"/>
              <a:gd name="connsiteX124" fmla="*/ 316234 w 331788"/>
              <a:gd name="connsiteY124" fmla="*/ 30163 h 331788"/>
              <a:gd name="connsiteX125" fmla="*/ 204759 w 331788"/>
              <a:gd name="connsiteY125" fmla="*/ 30163 h 331788"/>
              <a:gd name="connsiteX126" fmla="*/ 190500 w 331788"/>
              <a:gd name="connsiteY126" fmla="*/ 15737 h 331788"/>
              <a:gd name="connsiteX127" fmla="*/ 204759 w 331788"/>
              <a:gd name="connsiteY127"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31788" h="331788">
                <a:moveTo>
                  <a:pt x="15554" y="301625"/>
                </a:moveTo>
                <a:cubicBezTo>
                  <a:pt x="15554" y="301625"/>
                  <a:pt x="15554" y="301625"/>
                  <a:pt x="127029" y="301625"/>
                </a:cubicBezTo>
                <a:cubicBezTo>
                  <a:pt x="134807" y="301625"/>
                  <a:pt x="141288" y="308182"/>
                  <a:pt x="141288" y="316051"/>
                </a:cubicBezTo>
                <a:cubicBezTo>
                  <a:pt x="141288" y="325231"/>
                  <a:pt x="134807" y="331788"/>
                  <a:pt x="127029" y="331788"/>
                </a:cubicBezTo>
                <a:cubicBezTo>
                  <a:pt x="127029" y="331788"/>
                  <a:pt x="127029" y="331788"/>
                  <a:pt x="15554" y="331788"/>
                </a:cubicBezTo>
                <a:cubicBezTo>
                  <a:pt x="6481" y="331788"/>
                  <a:pt x="0" y="325231"/>
                  <a:pt x="0" y="316051"/>
                </a:cubicBezTo>
                <a:cubicBezTo>
                  <a:pt x="0" y="308182"/>
                  <a:pt x="6481" y="301625"/>
                  <a:pt x="15554" y="301625"/>
                </a:cubicBezTo>
                <a:close/>
                <a:moveTo>
                  <a:pt x="15554" y="263525"/>
                </a:moveTo>
                <a:cubicBezTo>
                  <a:pt x="15554" y="263525"/>
                  <a:pt x="15554" y="263525"/>
                  <a:pt x="95920" y="263525"/>
                </a:cubicBezTo>
                <a:cubicBezTo>
                  <a:pt x="108882" y="273579"/>
                  <a:pt x="124437" y="279863"/>
                  <a:pt x="141288" y="283634"/>
                </a:cubicBezTo>
                <a:cubicBezTo>
                  <a:pt x="138695" y="288661"/>
                  <a:pt x="133510" y="293688"/>
                  <a:pt x="127029" y="293688"/>
                </a:cubicBezTo>
                <a:cubicBezTo>
                  <a:pt x="127029" y="293688"/>
                  <a:pt x="127029" y="293688"/>
                  <a:pt x="15554" y="293688"/>
                </a:cubicBezTo>
                <a:cubicBezTo>
                  <a:pt x="6481" y="293688"/>
                  <a:pt x="0" y="286147"/>
                  <a:pt x="0" y="278607"/>
                </a:cubicBezTo>
                <a:cubicBezTo>
                  <a:pt x="0" y="271066"/>
                  <a:pt x="6481" y="263525"/>
                  <a:pt x="15554" y="263525"/>
                </a:cubicBezTo>
                <a:close/>
                <a:moveTo>
                  <a:pt x="270156" y="228600"/>
                </a:moveTo>
                <a:cubicBezTo>
                  <a:pt x="270156" y="228600"/>
                  <a:pt x="270156" y="228600"/>
                  <a:pt x="316380" y="228600"/>
                </a:cubicBezTo>
                <a:cubicBezTo>
                  <a:pt x="325368" y="228600"/>
                  <a:pt x="331788" y="235157"/>
                  <a:pt x="331788" y="244337"/>
                </a:cubicBezTo>
                <a:cubicBezTo>
                  <a:pt x="331788" y="252206"/>
                  <a:pt x="325368" y="258763"/>
                  <a:pt x="316380" y="258763"/>
                </a:cubicBezTo>
                <a:cubicBezTo>
                  <a:pt x="316380" y="258763"/>
                  <a:pt x="316380" y="258763"/>
                  <a:pt x="244475" y="258763"/>
                </a:cubicBezTo>
                <a:cubicBezTo>
                  <a:pt x="254747" y="250895"/>
                  <a:pt x="262451" y="240403"/>
                  <a:pt x="270156" y="228600"/>
                </a:cubicBezTo>
                <a:close/>
                <a:moveTo>
                  <a:pt x="15586" y="225425"/>
                </a:moveTo>
                <a:cubicBezTo>
                  <a:pt x="15586" y="225425"/>
                  <a:pt x="15586" y="225425"/>
                  <a:pt x="61046" y="225425"/>
                </a:cubicBezTo>
                <a:cubicBezTo>
                  <a:pt x="67541" y="237228"/>
                  <a:pt x="76633" y="247720"/>
                  <a:pt x="85725" y="255588"/>
                </a:cubicBezTo>
                <a:cubicBezTo>
                  <a:pt x="85725" y="255588"/>
                  <a:pt x="85725" y="255588"/>
                  <a:pt x="15586" y="255588"/>
                </a:cubicBezTo>
                <a:cubicBezTo>
                  <a:pt x="6494" y="255588"/>
                  <a:pt x="0" y="249031"/>
                  <a:pt x="0" y="241162"/>
                </a:cubicBezTo>
                <a:cubicBezTo>
                  <a:pt x="0" y="231982"/>
                  <a:pt x="6494" y="225425"/>
                  <a:pt x="15586" y="225425"/>
                </a:cubicBezTo>
                <a:close/>
                <a:moveTo>
                  <a:pt x="283493" y="190500"/>
                </a:moveTo>
                <a:cubicBezTo>
                  <a:pt x="283493" y="190500"/>
                  <a:pt x="283493" y="190500"/>
                  <a:pt x="316125" y="190500"/>
                </a:cubicBezTo>
                <a:cubicBezTo>
                  <a:pt x="325262" y="190500"/>
                  <a:pt x="331788" y="197057"/>
                  <a:pt x="331788" y="204926"/>
                </a:cubicBezTo>
                <a:cubicBezTo>
                  <a:pt x="331788" y="214106"/>
                  <a:pt x="325262" y="220663"/>
                  <a:pt x="316125" y="220663"/>
                </a:cubicBezTo>
                <a:cubicBezTo>
                  <a:pt x="316125" y="220663"/>
                  <a:pt x="316125" y="220663"/>
                  <a:pt x="273050" y="220663"/>
                </a:cubicBezTo>
                <a:cubicBezTo>
                  <a:pt x="278271" y="211483"/>
                  <a:pt x="282187" y="200992"/>
                  <a:pt x="283493" y="190500"/>
                </a:cubicBezTo>
                <a:close/>
                <a:moveTo>
                  <a:pt x="15586" y="188912"/>
                </a:moveTo>
                <a:cubicBezTo>
                  <a:pt x="15586" y="188912"/>
                  <a:pt x="15586" y="188912"/>
                  <a:pt x="46759" y="188912"/>
                </a:cubicBezTo>
                <a:cubicBezTo>
                  <a:pt x="49357" y="198851"/>
                  <a:pt x="53253" y="208790"/>
                  <a:pt x="57150" y="217487"/>
                </a:cubicBezTo>
                <a:cubicBezTo>
                  <a:pt x="57150" y="217487"/>
                  <a:pt x="57150" y="217487"/>
                  <a:pt x="15586" y="217487"/>
                </a:cubicBezTo>
                <a:cubicBezTo>
                  <a:pt x="6494" y="217487"/>
                  <a:pt x="0" y="211275"/>
                  <a:pt x="0" y="202578"/>
                </a:cubicBezTo>
                <a:cubicBezTo>
                  <a:pt x="0" y="195124"/>
                  <a:pt x="6494" y="188912"/>
                  <a:pt x="15586" y="188912"/>
                </a:cubicBezTo>
                <a:close/>
                <a:moveTo>
                  <a:pt x="169863" y="174625"/>
                </a:moveTo>
                <a:cubicBezTo>
                  <a:pt x="169863" y="174625"/>
                  <a:pt x="169863" y="174625"/>
                  <a:pt x="169863" y="201813"/>
                </a:cubicBezTo>
                <a:cubicBezTo>
                  <a:pt x="179266" y="201813"/>
                  <a:pt x="187326" y="197758"/>
                  <a:pt x="187326" y="188762"/>
                </a:cubicBezTo>
                <a:cubicBezTo>
                  <a:pt x="187326" y="178481"/>
                  <a:pt x="177923" y="175910"/>
                  <a:pt x="169863" y="174625"/>
                </a:cubicBezTo>
                <a:close/>
                <a:moveTo>
                  <a:pt x="285750" y="152400"/>
                </a:moveTo>
                <a:cubicBezTo>
                  <a:pt x="285750" y="152400"/>
                  <a:pt x="285750" y="152400"/>
                  <a:pt x="316442" y="152400"/>
                </a:cubicBezTo>
                <a:cubicBezTo>
                  <a:pt x="325394" y="152400"/>
                  <a:pt x="331788" y="159941"/>
                  <a:pt x="331788" y="167481"/>
                </a:cubicBezTo>
                <a:cubicBezTo>
                  <a:pt x="331788" y="175022"/>
                  <a:pt x="325394" y="182563"/>
                  <a:pt x="316442" y="182563"/>
                </a:cubicBezTo>
                <a:cubicBezTo>
                  <a:pt x="316442" y="182563"/>
                  <a:pt x="316442" y="182563"/>
                  <a:pt x="285750" y="182563"/>
                </a:cubicBezTo>
                <a:cubicBezTo>
                  <a:pt x="287029" y="176279"/>
                  <a:pt x="287029" y="171252"/>
                  <a:pt x="287029" y="166225"/>
                </a:cubicBezTo>
                <a:cubicBezTo>
                  <a:pt x="287029" y="161197"/>
                  <a:pt x="287029" y="157427"/>
                  <a:pt x="285750" y="152400"/>
                </a:cubicBezTo>
                <a:close/>
                <a:moveTo>
                  <a:pt x="15875" y="149225"/>
                </a:moveTo>
                <a:cubicBezTo>
                  <a:pt x="15875" y="149225"/>
                  <a:pt x="15875" y="149225"/>
                  <a:pt x="47625" y="149225"/>
                </a:cubicBezTo>
                <a:cubicBezTo>
                  <a:pt x="46302" y="155839"/>
                  <a:pt x="46302" y="161131"/>
                  <a:pt x="46302" y="166423"/>
                </a:cubicBezTo>
                <a:cubicBezTo>
                  <a:pt x="46302" y="171714"/>
                  <a:pt x="46302" y="175683"/>
                  <a:pt x="47625" y="180975"/>
                </a:cubicBezTo>
                <a:cubicBezTo>
                  <a:pt x="47625" y="180975"/>
                  <a:pt x="47625" y="180975"/>
                  <a:pt x="15875" y="180975"/>
                </a:cubicBezTo>
                <a:cubicBezTo>
                  <a:pt x="6614" y="180975"/>
                  <a:pt x="0" y="173037"/>
                  <a:pt x="0" y="165100"/>
                </a:cubicBezTo>
                <a:cubicBezTo>
                  <a:pt x="0" y="157162"/>
                  <a:pt x="6614" y="149225"/>
                  <a:pt x="15875" y="149225"/>
                </a:cubicBezTo>
                <a:close/>
                <a:moveTo>
                  <a:pt x="161925" y="130175"/>
                </a:moveTo>
                <a:cubicBezTo>
                  <a:pt x="152664" y="130175"/>
                  <a:pt x="146050" y="135188"/>
                  <a:pt x="146050" y="141455"/>
                </a:cubicBezTo>
                <a:cubicBezTo>
                  <a:pt x="146050" y="147721"/>
                  <a:pt x="151341" y="151481"/>
                  <a:pt x="161925" y="153988"/>
                </a:cubicBezTo>
                <a:close/>
                <a:moveTo>
                  <a:pt x="274638" y="114300"/>
                </a:moveTo>
                <a:cubicBezTo>
                  <a:pt x="274638" y="114300"/>
                  <a:pt x="274638" y="114300"/>
                  <a:pt x="316202" y="114300"/>
                </a:cubicBezTo>
                <a:cubicBezTo>
                  <a:pt x="325294" y="114300"/>
                  <a:pt x="331788" y="120857"/>
                  <a:pt x="331788" y="130037"/>
                </a:cubicBezTo>
                <a:cubicBezTo>
                  <a:pt x="331788" y="137906"/>
                  <a:pt x="325294" y="144463"/>
                  <a:pt x="316202" y="144463"/>
                </a:cubicBezTo>
                <a:cubicBezTo>
                  <a:pt x="316202" y="144463"/>
                  <a:pt x="316202" y="144463"/>
                  <a:pt x="283730" y="144463"/>
                </a:cubicBezTo>
                <a:cubicBezTo>
                  <a:pt x="282431" y="133971"/>
                  <a:pt x="278535" y="123480"/>
                  <a:pt x="274638" y="114300"/>
                </a:cubicBezTo>
                <a:close/>
                <a:moveTo>
                  <a:pt x="15663" y="111125"/>
                </a:moveTo>
                <a:cubicBezTo>
                  <a:pt x="15663" y="111125"/>
                  <a:pt x="15663" y="111125"/>
                  <a:pt x="58738" y="111125"/>
                </a:cubicBezTo>
                <a:cubicBezTo>
                  <a:pt x="53517" y="120305"/>
                  <a:pt x="49601" y="130796"/>
                  <a:pt x="48295" y="141288"/>
                </a:cubicBezTo>
                <a:cubicBezTo>
                  <a:pt x="48295" y="141288"/>
                  <a:pt x="48295" y="141288"/>
                  <a:pt x="15663" y="141288"/>
                </a:cubicBezTo>
                <a:cubicBezTo>
                  <a:pt x="6526" y="141288"/>
                  <a:pt x="0" y="134731"/>
                  <a:pt x="0" y="126862"/>
                </a:cubicBezTo>
                <a:cubicBezTo>
                  <a:pt x="0" y="117682"/>
                  <a:pt x="6526" y="111125"/>
                  <a:pt x="15663" y="111125"/>
                </a:cubicBezTo>
                <a:close/>
                <a:moveTo>
                  <a:pt x="165894" y="104775"/>
                </a:moveTo>
                <a:cubicBezTo>
                  <a:pt x="168487" y="104775"/>
                  <a:pt x="169783" y="107355"/>
                  <a:pt x="169783" y="109934"/>
                </a:cubicBezTo>
                <a:cubicBezTo>
                  <a:pt x="169783" y="109934"/>
                  <a:pt x="169783" y="109934"/>
                  <a:pt x="169783" y="116383"/>
                </a:cubicBezTo>
                <a:cubicBezTo>
                  <a:pt x="181452" y="116383"/>
                  <a:pt x="203492" y="124123"/>
                  <a:pt x="203492" y="137021"/>
                </a:cubicBezTo>
                <a:cubicBezTo>
                  <a:pt x="203492" y="142180"/>
                  <a:pt x="198306" y="146050"/>
                  <a:pt x="194417" y="146050"/>
                </a:cubicBezTo>
                <a:cubicBezTo>
                  <a:pt x="185341" y="146050"/>
                  <a:pt x="185341" y="130572"/>
                  <a:pt x="169783" y="130572"/>
                </a:cubicBezTo>
                <a:cubicBezTo>
                  <a:pt x="169783" y="130572"/>
                  <a:pt x="169783" y="130572"/>
                  <a:pt x="169783" y="156369"/>
                </a:cubicBezTo>
                <a:cubicBezTo>
                  <a:pt x="187934" y="160238"/>
                  <a:pt x="204788" y="165398"/>
                  <a:pt x="204788" y="187325"/>
                </a:cubicBezTo>
                <a:cubicBezTo>
                  <a:pt x="204788" y="205383"/>
                  <a:pt x="190527" y="214412"/>
                  <a:pt x="169783" y="215702"/>
                </a:cubicBezTo>
                <a:cubicBezTo>
                  <a:pt x="169783" y="215702"/>
                  <a:pt x="169783" y="215702"/>
                  <a:pt x="169783" y="223441"/>
                </a:cubicBezTo>
                <a:cubicBezTo>
                  <a:pt x="169783" y="226020"/>
                  <a:pt x="168487" y="228600"/>
                  <a:pt x="165894" y="228600"/>
                </a:cubicBezTo>
                <a:cubicBezTo>
                  <a:pt x="163301" y="228600"/>
                  <a:pt x="162004" y="226020"/>
                  <a:pt x="162004" y="223441"/>
                </a:cubicBezTo>
                <a:cubicBezTo>
                  <a:pt x="162004" y="223441"/>
                  <a:pt x="162004" y="223441"/>
                  <a:pt x="162004" y="215702"/>
                </a:cubicBezTo>
                <a:cubicBezTo>
                  <a:pt x="138668" y="214412"/>
                  <a:pt x="127000" y="201813"/>
                  <a:pt x="127000" y="189905"/>
                </a:cubicBezTo>
                <a:cubicBezTo>
                  <a:pt x="127000" y="184745"/>
                  <a:pt x="130889" y="182166"/>
                  <a:pt x="136075" y="182166"/>
                </a:cubicBezTo>
                <a:cubicBezTo>
                  <a:pt x="151633" y="182166"/>
                  <a:pt x="138668" y="200224"/>
                  <a:pt x="162004" y="201813"/>
                </a:cubicBezTo>
                <a:cubicBezTo>
                  <a:pt x="162004" y="201813"/>
                  <a:pt x="162004" y="201813"/>
                  <a:pt x="162004" y="173137"/>
                </a:cubicBezTo>
                <a:cubicBezTo>
                  <a:pt x="141261" y="169267"/>
                  <a:pt x="129593" y="160238"/>
                  <a:pt x="129593" y="144760"/>
                </a:cubicBezTo>
                <a:cubicBezTo>
                  <a:pt x="129593" y="126702"/>
                  <a:pt x="145150" y="117673"/>
                  <a:pt x="162004" y="116383"/>
                </a:cubicBezTo>
                <a:cubicBezTo>
                  <a:pt x="162004" y="116383"/>
                  <a:pt x="162004" y="116383"/>
                  <a:pt x="162004" y="109934"/>
                </a:cubicBezTo>
                <a:cubicBezTo>
                  <a:pt x="162004" y="107355"/>
                  <a:pt x="163301" y="104775"/>
                  <a:pt x="165894" y="104775"/>
                </a:cubicBezTo>
                <a:close/>
                <a:moveTo>
                  <a:pt x="165895" y="90487"/>
                </a:moveTo>
                <a:cubicBezTo>
                  <a:pt x="124249" y="90487"/>
                  <a:pt x="90488" y="124248"/>
                  <a:pt x="90488" y="165894"/>
                </a:cubicBezTo>
                <a:cubicBezTo>
                  <a:pt x="90488" y="207540"/>
                  <a:pt x="124249" y="241301"/>
                  <a:pt x="165895" y="241301"/>
                </a:cubicBezTo>
                <a:cubicBezTo>
                  <a:pt x="207541" y="241301"/>
                  <a:pt x="241302" y="207540"/>
                  <a:pt x="241302" y="165894"/>
                </a:cubicBezTo>
                <a:cubicBezTo>
                  <a:pt x="241302" y="124248"/>
                  <a:pt x="207541" y="90487"/>
                  <a:pt x="165895" y="90487"/>
                </a:cubicBezTo>
                <a:close/>
                <a:moveTo>
                  <a:pt x="246063" y="76200"/>
                </a:moveTo>
                <a:cubicBezTo>
                  <a:pt x="246063" y="76200"/>
                  <a:pt x="246063" y="76200"/>
                  <a:pt x="316202" y="76200"/>
                </a:cubicBezTo>
                <a:cubicBezTo>
                  <a:pt x="325294" y="76200"/>
                  <a:pt x="331788" y="82757"/>
                  <a:pt x="331788" y="90626"/>
                </a:cubicBezTo>
                <a:cubicBezTo>
                  <a:pt x="331788" y="99806"/>
                  <a:pt x="325294" y="106363"/>
                  <a:pt x="316202" y="106363"/>
                </a:cubicBezTo>
                <a:cubicBezTo>
                  <a:pt x="316202" y="106363"/>
                  <a:pt x="316202" y="106363"/>
                  <a:pt x="270742" y="106363"/>
                </a:cubicBezTo>
                <a:cubicBezTo>
                  <a:pt x="264247" y="94560"/>
                  <a:pt x="255155" y="84068"/>
                  <a:pt x="246063" y="76200"/>
                </a:cubicBezTo>
                <a:close/>
                <a:moveTo>
                  <a:pt x="15688" y="74612"/>
                </a:moveTo>
                <a:cubicBezTo>
                  <a:pt x="15688" y="74612"/>
                  <a:pt x="15688" y="74612"/>
                  <a:pt x="88900" y="74612"/>
                </a:cubicBezTo>
                <a:cubicBezTo>
                  <a:pt x="78441" y="82480"/>
                  <a:pt x="70597" y="92972"/>
                  <a:pt x="62753" y="104775"/>
                </a:cubicBezTo>
                <a:cubicBezTo>
                  <a:pt x="62753" y="104775"/>
                  <a:pt x="62753" y="104775"/>
                  <a:pt x="15688" y="104775"/>
                </a:cubicBezTo>
                <a:cubicBezTo>
                  <a:pt x="6537" y="104775"/>
                  <a:pt x="0" y="98218"/>
                  <a:pt x="0" y="89038"/>
                </a:cubicBezTo>
                <a:cubicBezTo>
                  <a:pt x="0" y="81169"/>
                  <a:pt x="6537" y="74612"/>
                  <a:pt x="15688" y="74612"/>
                </a:cubicBezTo>
                <a:close/>
                <a:moveTo>
                  <a:pt x="166688" y="61912"/>
                </a:moveTo>
                <a:cubicBezTo>
                  <a:pt x="224554" y="61912"/>
                  <a:pt x="271463" y="108821"/>
                  <a:pt x="271463" y="166687"/>
                </a:cubicBezTo>
                <a:cubicBezTo>
                  <a:pt x="271463" y="224553"/>
                  <a:pt x="224554" y="271462"/>
                  <a:pt x="166688" y="271462"/>
                </a:cubicBezTo>
                <a:cubicBezTo>
                  <a:pt x="108822" y="271462"/>
                  <a:pt x="61913" y="224553"/>
                  <a:pt x="61913" y="166687"/>
                </a:cubicBezTo>
                <a:cubicBezTo>
                  <a:pt x="61913" y="108821"/>
                  <a:pt x="108822" y="61912"/>
                  <a:pt x="166688" y="61912"/>
                </a:cubicBezTo>
                <a:close/>
                <a:moveTo>
                  <a:pt x="204759" y="38100"/>
                </a:moveTo>
                <a:cubicBezTo>
                  <a:pt x="204759" y="38100"/>
                  <a:pt x="204759" y="38100"/>
                  <a:pt x="316234" y="38100"/>
                </a:cubicBezTo>
                <a:cubicBezTo>
                  <a:pt x="325307" y="38100"/>
                  <a:pt x="331788" y="46037"/>
                  <a:pt x="331788" y="53975"/>
                </a:cubicBezTo>
                <a:cubicBezTo>
                  <a:pt x="331788" y="61912"/>
                  <a:pt x="325307" y="69850"/>
                  <a:pt x="316234" y="69850"/>
                </a:cubicBezTo>
                <a:cubicBezTo>
                  <a:pt x="316234" y="69850"/>
                  <a:pt x="316234" y="69850"/>
                  <a:pt x="235868" y="69850"/>
                </a:cubicBezTo>
                <a:cubicBezTo>
                  <a:pt x="222906" y="59267"/>
                  <a:pt x="207351" y="52652"/>
                  <a:pt x="190500" y="48683"/>
                </a:cubicBezTo>
                <a:cubicBezTo>
                  <a:pt x="193093" y="43392"/>
                  <a:pt x="198278" y="38100"/>
                  <a:pt x="204759" y="38100"/>
                </a:cubicBezTo>
                <a:close/>
                <a:moveTo>
                  <a:pt x="204759" y="0"/>
                </a:moveTo>
                <a:cubicBezTo>
                  <a:pt x="204759" y="0"/>
                  <a:pt x="204759" y="0"/>
                  <a:pt x="316234" y="0"/>
                </a:cubicBezTo>
                <a:cubicBezTo>
                  <a:pt x="325307" y="0"/>
                  <a:pt x="331788" y="6557"/>
                  <a:pt x="331788" y="15737"/>
                </a:cubicBezTo>
                <a:cubicBezTo>
                  <a:pt x="331788" y="23606"/>
                  <a:pt x="325307" y="30163"/>
                  <a:pt x="316234" y="30163"/>
                </a:cubicBezTo>
                <a:cubicBezTo>
                  <a:pt x="316234" y="30163"/>
                  <a:pt x="316234" y="30163"/>
                  <a:pt x="204759" y="30163"/>
                </a:cubicBezTo>
                <a:cubicBezTo>
                  <a:pt x="196981" y="30163"/>
                  <a:pt x="190500" y="23606"/>
                  <a:pt x="190500" y="15737"/>
                </a:cubicBezTo>
                <a:cubicBezTo>
                  <a:pt x="190500" y="6557"/>
                  <a:pt x="196981" y="0"/>
                  <a:pt x="20475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0" name="矩形 9"/>
          <p:cNvSpPr/>
          <p:nvPr>
            <p:custDataLst>
              <p:tags r:id="rId4"/>
            </p:custDataLst>
          </p:nvPr>
        </p:nvSpPr>
        <p:spPr>
          <a:xfrm>
            <a:off x="1201135" y="2154643"/>
            <a:ext cx="2591569" cy="1198880"/>
          </a:xfrm>
          <a:prstGeom prst="rect">
            <a:avLst/>
          </a:prstGeom>
        </p:spPr>
        <p:txBody>
          <a:bodyPr wrap="square">
            <a:spAutoFit/>
            <a:scene3d>
              <a:camera prst="orthographicFront"/>
              <a:lightRig rig="threePt" dir="t"/>
            </a:scene3d>
            <a:sp3d contourW="12700"/>
          </a:bodyPr>
          <a:lstStyle/>
          <a:p>
            <a:pPr algn="just">
              <a:lnSpc>
                <a:spcPct val="15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本选题旨在分析《反垄断法》框架下，平台经济中的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独家交易行为的法律构成、危害性及规制路径</a:t>
            </a:r>
            <a:endPar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11" name="组合 10"/>
          <p:cNvGrpSpPr/>
          <p:nvPr>
            <p:custDataLst>
              <p:tags r:id="rId5"/>
            </p:custDataLst>
          </p:nvPr>
        </p:nvGrpSpPr>
        <p:grpSpPr>
          <a:xfrm>
            <a:off x="874713" y="3441020"/>
            <a:ext cx="10442575" cy="696687"/>
            <a:chOff x="874713" y="3441020"/>
            <a:chExt cx="10442575" cy="696686"/>
          </a:xfrm>
        </p:grpSpPr>
        <p:sp>
          <p:nvSpPr>
            <p:cNvPr id="12" name="任意多边形 3"/>
            <p:cNvSpPr/>
            <p:nvPr>
              <p:custDataLst>
                <p:tags r:id="rId6"/>
              </p:custDataLst>
            </p:nvPr>
          </p:nvSpPr>
          <p:spPr>
            <a:xfrm>
              <a:off x="874713"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3" name="任意多边形 4"/>
            <p:cNvSpPr/>
            <p:nvPr>
              <p:custDataLst>
                <p:tags r:id="rId7"/>
              </p:custDataLst>
            </p:nvPr>
          </p:nvSpPr>
          <p:spPr>
            <a:xfrm>
              <a:off x="4537643"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4" name="任意多边形 5"/>
            <p:cNvSpPr/>
            <p:nvPr>
              <p:custDataLst>
                <p:tags r:id="rId8"/>
              </p:custDataLst>
            </p:nvPr>
          </p:nvSpPr>
          <p:spPr>
            <a:xfrm>
              <a:off x="8200572"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5" name="矩形 14"/>
            <p:cNvSpPr/>
            <p:nvPr>
              <p:custDataLst>
                <p:tags r:id="rId9"/>
              </p:custDataLst>
            </p:nvPr>
          </p:nvSpPr>
          <p:spPr>
            <a:xfrm>
              <a:off x="1471642"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核心研究内容</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6" name="矩形 15"/>
            <p:cNvSpPr/>
            <p:nvPr>
              <p:custDataLst>
                <p:tags r:id="rId10"/>
              </p:custDataLst>
            </p:nvPr>
          </p:nvSpPr>
          <p:spPr>
            <a:xfrm>
              <a:off x="5069865"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en-US" altLang="zh-CN"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理论建模方法</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7" name="矩形 16"/>
            <p:cNvSpPr/>
            <p:nvPr>
              <p:custDataLst>
                <p:tags r:id="rId11"/>
              </p:custDataLst>
            </p:nvPr>
          </p:nvSpPr>
          <p:spPr>
            <a:xfrm>
              <a:off x="8733653"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实验与实证方法</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sp>
        <p:nvSpPr>
          <p:cNvPr id="18" name="矩形 17"/>
          <p:cNvSpPr/>
          <p:nvPr>
            <p:custDataLst>
              <p:tags r:id="rId12"/>
            </p:custDataLst>
          </p:nvPr>
        </p:nvSpPr>
        <p:spPr>
          <a:xfrm>
            <a:off x="8200390" y="1610995"/>
            <a:ext cx="3045460" cy="1753235"/>
          </a:xfrm>
          <a:prstGeom prst="rect">
            <a:avLst/>
          </a:prstGeom>
        </p:spPr>
        <p:txBody>
          <a:bodyPr wrap="square">
            <a:spAutoFit/>
            <a:scene3d>
              <a:camera prst="orthographicFront"/>
              <a:lightRig rig="threePt" dir="t"/>
            </a:scene3d>
            <a:sp3d contourW="12700"/>
          </a:bodyPr>
          <a:lstStyle/>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案例研究法：</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重点分析国家市场监管总局对国内大型平台的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行政处罚案例和相关司法判例。</a:t>
            </a:r>
            <a:endPar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比较研究法：</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对比欧盟、美国等成熟经济体在数字平台独家交易行为规制中的立法趋势和执法经验。</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9" name="矩形 18"/>
          <p:cNvSpPr/>
          <p:nvPr>
            <p:custDataLst>
              <p:tags r:id="rId13"/>
            </p:custDataLst>
          </p:nvPr>
        </p:nvSpPr>
        <p:spPr>
          <a:xfrm>
            <a:off x="4537075" y="4382135"/>
            <a:ext cx="2947035" cy="1753235"/>
          </a:xfrm>
          <a:prstGeom prst="rect">
            <a:avLst/>
          </a:prstGeom>
        </p:spPr>
        <p:txBody>
          <a:bodyPr wrap="square">
            <a:spAutoFit/>
            <a:scene3d>
              <a:camera prst="orthographicFront"/>
              <a:lightRig rig="threePt" dir="t"/>
            </a:scene3d>
            <a:sp3d contourW="12700"/>
          </a:bodyPr>
          <a:lstStyle/>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反垄断法经济学分析：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运用效率理论、排除竞争理论，分析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行为的反竞争效果与可能的效率辩护。</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法律构成要件分析：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对比《反垄断法》第</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17</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条中滥用市场支配地位的行为类型，进行细致的要件分析</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平台经济反垄断规制下的</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二选一</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行为法律后果研究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4"/>
          <p:cNvGrpSpPr/>
          <p:nvPr>
            <p:custDataLst>
              <p:tags r:id="rId1"/>
            </p:custDataLst>
          </p:nvPr>
        </p:nvGrpSpPr>
        <p:grpSpPr>
          <a:xfrm>
            <a:off x="4027101" y="1795048"/>
            <a:ext cx="3684873" cy="3683199"/>
            <a:chOff x="599351" y="2215578"/>
            <a:chExt cx="3266532" cy="3265048"/>
          </a:xfrm>
        </p:grpSpPr>
        <p:sp>
          <p:nvSpPr>
            <p:cNvPr id="8" name="Freeform: Shape 5"/>
            <p:cNvSpPr/>
            <p:nvPr>
              <p:custDataLst>
                <p:tags r:id="rId2"/>
              </p:custDataLst>
            </p:nvPr>
          </p:nvSpPr>
          <p:spPr bwMode="auto">
            <a:xfrm>
              <a:off x="599351" y="2215579"/>
              <a:ext cx="1948951" cy="1948951"/>
            </a:xfrm>
            <a:custGeom>
              <a:avLst/>
              <a:gdLst>
                <a:gd name="T0" fmla="*/ 1315 w 1315"/>
                <a:gd name="T1" fmla="*/ 657 h 1315"/>
                <a:gd name="T2" fmla="*/ 1204 w 1315"/>
                <a:gd name="T3" fmla="*/ 768 h 1315"/>
                <a:gd name="T4" fmla="*/ 1101 w 1315"/>
                <a:gd name="T5" fmla="*/ 665 h 1315"/>
                <a:gd name="T6" fmla="*/ 1111 w 1315"/>
                <a:gd name="T7" fmla="*/ 657 h 1315"/>
                <a:gd name="T8" fmla="*/ 1101 w 1315"/>
                <a:gd name="T9" fmla="*/ 650 h 1315"/>
                <a:gd name="T10" fmla="*/ 1000 w 1315"/>
                <a:gd name="T11" fmla="*/ 547 h 1315"/>
                <a:gd name="T12" fmla="*/ 658 w 1315"/>
                <a:gd name="T13" fmla="*/ 205 h 1315"/>
                <a:gd name="T14" fmla="*/ 205 w 1315"/>
                <a:gd name="T15" fmla="*/ 657 h 1315"/>
                <a:gd name="T16" fmla="*/ 547 w 1315"/>
                <a:gd name="T17" fmla="*/ 999 h 1315"/>
                <a:gd name="T18" fmla="*/ 446 w 1315"/>
                <a:gd name="T19" fmla="*/ 1103 h 1315"/>
                <a:gd name="T20" fmla="*/ 0 w 1315"/>
                <a:gd name="T21" fmla="*/ 657 h 1315"/>
                <a:gd name="T22" fmla="*/ 658 w 1315"/>
                <a:gd name="T23" fmla="*/ 0 h 1315"/>
                <a:gd name="T24" fmla="*/ 1101 w 1315"/>
                <a:gd name="T25" fmla="*/ 445 h 1315"/>
                <a:gd name="T26" fmla="*/ 1204 w 1315"/>
                <a:gd name="T27" fmla="*/ 547 h 1315"/>
                <a:gd name="T28" fmla="*/ 1315 w 1315"/>
                <a:gd name="T29" fmla="*/ 657 h 1315"/>
                <a:gd name="T30" fmla="*/ 769 w 1315"/>
                <a:gd name="T31" fmla="*/ 999 h 1315"/>
                <a:gd name="T32" fmla="*/ 665 w 1315"/>
                <a:gd name="T33" fmla="*/ 1103 h 1315"/>
                <a:gd name="T34" fmla="*/ 658 w 1315"/>
                <a:gd name="T35" fmla="*/ 1110 h 1315"/>
                <a:gd name="T36" fmla="*/ 650 w 1315"/>
                <a:gd name="T37" fmla="*/ 1103 h 1315"/>
                <a:gd name="T38" fmla="*/ 547 w 1315"/>
                <a:gd name="T39" fmla="*/ 1204 h 1315"/>
                <a:gd name="T40" fmla="*/ 658 w 1315"/>
                <a:gd name="T41" fmla="*/ 1315 h 1315"/>
                <a:gd name="T42" fmla="*/ 769 w 1315"/>
                <a:gd name="T43" fmla="*/ 1204 h 1315"/>
                <a:gd name="T44" fmla="*/ 870 w 1315"/>
                <a:gd name="T45" fmla="*/ 1103 h 1315"/>
                <a:gd name="T46" fmla="*/ 1101 w 1315"/>
                <a:gd name="T47" fmla="*/ 869 h 1315"/>
                <a:gd name="T48" fmla="*/ 1000 w 1315"/>
                <a:gd name="T49" fmla="*/ 768 h 1315"/>
                <a:gd name="T50" fmla="*/ 769 w 1315"/>
                <a:gd name="T51" fmla="*/ 999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1315" y="657"/>
                  </a:moveTo>
                  <a:lnTo>
                    <a:pt x="1204" y="768"/>
                  </a:lnTo>
                  <a:lnTo>
                    <a:pt x="1101" y="665"/>
                  </a:lnTo>
                  <a:lnTo>
                    <a:pt x="1111" y="657"/>
                  </a:lnTo>
                  <a:lnTo>
                    <a:pt x="1101" y="650"/>
                  </a:lnTo>
                  <a:lnTo>
                    <a:pt x="1000" y="547"/>
                  </a:lnTo>
                  <a:lnTo>
                    <a:pt x="658" y="205"/>
                  </a:lnTo>
                  <a:lnTo>
                    <a:pt x="205" y="657"/>
                  </a:lnTo>
                  <a:lnTo>
                    <a:pt x="547" y="999"/>
                  </a:lnTo>
                  <a:lnTo>
                    <a:pt x="446" y="1103"/>
                  </a:lnTo>
                  <a:lnTo>
                    <a:pt x="0" y="657"/>
                  </a:lnTo>
                  <a:lnTo>
                    <a:pt x="658" y="0"/>
                  </a:lnTo>
                  <a:lnTo>
                    <a:pt x="1101" y="445"/>
                  </a:lnTo>
                  <a:lnTo>
                    <a:pt x="1204" y="547"/>
                  </a:lnTo>
                  <a:lnTo>
                    <a:pt x="1315" y="657"/>
                  </a:lnTo>
                  <a:close/>
                  <a:moveTo>
                    <a:pt x="769" y="999"/>
                  </a:moveTo>
                  <a:lnTo>
                    <a:pt x="665" y="1103"/>
                  </a:lnTo>
                  <a:lnTo>
                    <a:pt x="658" y="1110"/>
                  </a:lnTo>
                  <a:lnTo>
                    <a:pt x="650" y="1103"/>
                  </a:lnTo>
                  <a:lnTo>
                    <a:pt x="547" y="1204"/>
                  </a:lnTo>
                  <a:lnTo>
                    <a:pt x="658" y="1315"/>
                  </a:lnTo>
                  <a:lnTo>
                    <a:pt x="769" y="1204"/>
                  </a:lnTo>
                  <a:lnTo>
                    <a:pt x="870" y="1103"/>
                  </a:lnTo>
                  <a:lnTo>
                    <a:pt x="1101" y="869"/>
                  </a:lnTo>
                  <a:lnTo>
                    <a:pt x="1000" y="768"/>
                  </a:lnTo>
                  <a:lnTo>
                    <a:pt x="769" y="999"/>
                  </a:lnTo>
                  <a:close/>
                </a:path>
              </a:pathLst>
            </a:custGeom>
            <a:solidFill>
              <a:schemeClr val="accent1"/>
            </a:solidFill>
            <a:ln>
              <a:noFill/>
            </a:ln>
          </p:spPr>
          <p:txBody>
            <a:bodyPr anchor="ctr"/>
            <a:lstStyle/>
            <a:p>
              <a:pPr algn="ctr" defTabSz="914400"/>
              <a:endParaRPr sz="1865">
                <a:solidFill>
                  <a:prstClr val="white">
                    <a:lumMod val="50000"/>
                  </a:prstClr>
                </a:solidFill>
                <a:cs typeface="+mn-ea"/>
                <a:sym typeface="+mn-lt"/>
              </a:endParaRPr>
            </a:p>
          </p:txBody>
        </p:sp>
        <p:sp>
          <p:nvSpPr>
            <p:cNvPr id="9" name="Freeform: Shape 6"/>
            <p:cNvSpPr/>
            <p:nvPr>
              <p:custDataLst>
                <p:tags r:id="rId3"/>
              </p:custDataLst>
            </p:nvPr>
          </p:nvSpPr>
          <p:spPr bwMode="auto">
            <a:xfrm>
              <a:off x="1916931" y="2215578"/>
              <a:ext cx="1948951" cy="1948950"/>
            </a:xfrm>
            <a:custGeom>
              <a:avLst/>
              <a:gdLst>
                <a:gd name="T0" fmla="*/ 546 w 1315"/>
                <a:gd name="T1" fmla="*/ 999 h 1315"/>
                <a:gd name="T2" fmla="*/ 445 w 1315"/>
                <a:gd name="T3" fmla="*/ 1103 h 1315"/>
                <a:gd name="T4" fmla="*/ 212 w 1315"/>
                <a:gd name="T5" fmla="*/ 869 h 1315"/>
                <a:gd name="T6" fmla="*/ 111 w 1315"/>
                <a:gd name="T7" fmla="*/ 768 h 1315"/>
                <a:gd name="T8" fmla="*/ 0 w 1315"/>
                <a:gd name="T9" fmla="*/ 657 h 1315"/>
                <a:gd name="T10" fmla="*/ 111 w 1315"/>
                <a:gd name="T11" fmla="*/ 547 h 1315"/>
                <a:gd name="T12" fmla="*/ 212 w 1315"/>
                <a:gd name="T13" fmla="*/ 650 h 1315"/>
                <a:gd name="T14" fmla="*/ 204 w 1315"/>
                <a:gd name="T15" fmla="*/ 657 h 1315"/>
                <a:gd name="T16" fmla="*/ 212 w 1315"/>
                <a:gd name="T17" fmla="*/ 665 h 1315"/>
                <a:gd name="T18" fmla="*/ 315 w 1315"/>
                <a:gd name="T19" fmla="*/ 768 h 1315"/>
                <a:gd name="T20" fmla="*/ 546 w 1315"/>
                <a:gd name="T21" fmla="*/ 999 h 1315"/>
                <a:gd name="T22" fmla="*/ 657 w 1315"/>
                <a:gd name="T23" fmla="*/ 0 h 1315"/>
                <a:gd name="T24" fmla="*/ 212 w 1315"/>
                <a:gd name="T25" fmla="*/ 445 h 1315"/>
                <a:gd name="T26" fmla="*/ 315 w 1315"/>
                <a:gd name="T27" fmla="*/ 547 h 1315"/>
                <a:gd name="T28" fmla="*/ 657 w 1315"/>
                <a:gd name="T29" fmla="*/ 205 h 1315"/>
                <a:gd name="T30" fmla="*/ 1110 w 1315"/>
                <a:gd name="T31" fmla="*/ 657 h 1315"/>
                <a:gd name="T32" fmla="*/ 768 w 1315"/>
                <a:gd name="T33" fmla="*/ 999 h 1315"/>
                <a:gd name="T34" fmla="*/ 665 w 1315"/>
                <a:gd name="T35" fmla="*/ 1103 h 1315"/>
                <a:gd name="T36" fmla="*/ 657 w 1315"/>
                <a:gd name="T37" fmla="*/ 1110 h 1315"/>
                <a:gd name="T38" fmla="*/ 650 w 1315"/>
                <a:gd name="T39" fmla="*/ 1103 h 1315"/>
                <a:gd name="T40" fmla="*/ 546 w 1315"/>
                <a:gd name="T41" fmla="*/ 1204 h 1315"/>
                <a:gd name="T42" fmla="*/ 657 w 1315"/>
                <a:gd name="T43" fmla="*/ 1315 h 1315"/>
                <a:gd name="T44" fmla="*/ 768 w 1315"/>
                <a:gd name="T45" fmla="*/ 1204 h 1315"/>
                <a:gd name="T46" fmla="*/ 869 w 1315"/>
                <a:gd name="T47" fmla="*/ 1103 h 1315"/>
                <a:gd name="T48" fmla="*/ 1315 w 1315"/>
                <a:gd name="T49" fmla="*/ 657 h 1315"/>
                <a:gd name="T50" fmla="*/ 657 w 1315"/>
                <a:gd name="T51" fmla="*/ 0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546" y="999"/>
                  </a:moveTo>
                  <a:lnTo>
                    <a:pt x="445" y="1103"/>
                  </a:lnTo>
                  <a:lnTo>
                    <a:pt x="212" y="869"/>
                  </a:lnTo>
                  <a:lnTo>
                    <a:pt x="111" y="768"/>
                  </a:lnTo>
                  <a:lnTo>
                    <a:pt x="0" y="657"/>
                  </a:lnTo>
                  <a:lnTo>
                    <a:pt x="111" y="547"/>
                  </a:lnTo>
                  <a:lnTo>
                    <a:pt x="212" y="650"/>
                  </a:lnTo>
                  <a:lnTo>
                    <a:pt x="204" y="657"/>
                  </a:lnTo>
                  <a:lnTo>
                    <a:pt x="212" y="665"/>
                  </a:lnTo>
                  <a:lnTo>
                    <a:pt x="315" y="768"/>
                  </a:lnTo>
                  <a:lnTo>
                    <a:pt x="546" y="999"/>
                  </a:lnTo>
                  <a:close/>
                  <a:moveTo>
                    <a:pt x="657" y="0"/>
                  </a:moveTo>
                  <a:lnTo>
                    <a:pt x="212" y="445"/>
                  </a:lnTo>
                  <a:lnTo>
                    <a:pt x="315" y="547"/>
                  </a:lnTo>
                  <a:lnTo>
                    <a:pt x="657" y="205"/>
                  </a:lnTo>
                  <a:lnTo>
                    <a:pt x="1110" y="657"/>
                  </a:lnTo>
                  <a:lnTo>
                    <a:pt x="768" y="999"/>
                  </a:lnTo>
                  <a:lnTo>
                    <a:pt x="665" y="1103"/>
                  </a:lnTo>
                  <a:lnTo>
                    <a:pt x="657" y="1110"/>
                  </a:lnTo>
                  <a:lnTo>
                    <a:pt x="650" y="1103"/>
                  </a:lnTo>
                  <a:lnTo>
                    <a:pt x="546" y="1204"/>
                  </a:lnTo>
                  <a:lnTo>
                    <a:pt x="657" y="1315"/>
                  </a:lnTo>
                  <a:lnTo>
                    <a:pt x="768" y="1204"/>
                  </a:lnTo>
                  <a:lnTo>
                    <a:pt x="869" y="1103"/>
                  </a:lnTo>
                  <a:lnTo>
                    <a:pt x="1315" y="657"/>
                  </a:lnTo>
                  <a:lnTo>
                    <a:pt x="657" y="0"/>
                  </a:lnTo>
                  <a:close/>
                </a:path>
              </a:pathLst>
            </a:custGeom>
            <a:solidFill>
              <a:schemeClr val="accent2"/>
            </a:solidFill>
            <a:ln>
              <a:noFill/>
            </a:ln>
          </p:spPr>
          <p:txBody>
            <a:bodyPr anchor="ctr"/>
            <a:lstStyle/>
            <a:p>
              <a:pPr algn="ctr" defTabSz="914400"/>
              <a:endParaRPr sz="1865">
                <a:solidFill>
                  <a:prstClr val="white">
                    <a:lumMod val="50000"/>
                  </a:prstClr>
                </a:solidFill>
                <a:cs typeface="+mn-ea"/>
                <a:sym typeface="+mn-lt"/>
              </a:endParaRPr>
            </a:p>
          </p:txBody>
        </p:sp>
        <p:sp>
          <p:nvSpPr>
            <p:cNvPr id="10" name="Freeform: Shape 7"/>
            <p:cNvSpPr/>
            <p:nvPr>
              <p:custDataLst>
                <p:tags r:id="rId4"/>
              </p:custDataLst>
            </p:nvPr>
          </p:nvSpPr>
          <p:spPr bwMode="auto">
            <a:xfrm>
              <a:off x="1916932" y="3533156"/>
              <a:ext cx="1948951" cy="1947468"/>
            </a:xfrm>
            <a:custGeom>
              <a:avLst/>
              <a:gdLst>
                <a:gd name="T0" fmla="*/ 315 w 1315"/>
                <a:gd name="T1" fmla="*/ 546 h 1314"/>
                <a:gd name="T2" fmla="*/ 212 w 1315"/>
                <a:gd name="T3" fmla="*/ 445 h 1314"/>
                <a:gd name="T4" fmla="*/ 445 w 1315"/>
                <a:gd name="T5" fmla="*/ 214 h 1314"/>
                <a:gd name="T6" fmla="*/ 546 w 1315"/>
                <a:gd name="T7" fmla="*/ 110 h 1314"/>
                <a:gd name="T8" fmla="*/ 657 w 1315"/>
                <a:gd name="T9" fmla="*/ 0 h 1314"/>
                <a:gd name="T10" fmla="*/ 768 w 1315"/>
                <a:gd name="T11" fmla="*/ 110 h 1314"/>
                <a:gd name="T12" fmla="*/ 665 w 1315"/>
                <a:gd name="T13" fmla="*/ 214 h 1314"/>
                <a:gd name="T14" fmla="*/ 657 w 1315"/>
                <a:gd name="T15" fmla="*/ 204 h 1314"/>
                <a:gd name="T16" fmla="*/ 650 w 1315"/>
                <a:gd name="T17" fmla="*/ 214 h 1314"/>
                <a:gd name="T18" fmla="*/ 546 w 1315"/>
                <a:gd name="T19" fmla="*/ 315 h 1314"/>
                <a:gd name="T20" fmla="*/ 315 w 1315"/>
                <a:gd name="T21" fmla="*/ 546 h 1314"/>
                <a:gd name="T22" fmla="*/ 869 w 1315"/>
                <a:gd name="T23" fmla="*/ 214 h 1314"/>
                <a:gd name="T24" fmla="*/ 768 w 1315"/>
                <a:gd name="T25" fmla="*/ 315 h 1314"/>
                <a:gd name="T26" fmla="*/ 1110 w 1315"/>
                <a:gd name="T27" fmla="*/ 657 h 1314"/>
                <a:gd name="T28" fmla="*/ 657 w 1315"/>
                <a:gd name="T29" fmla="*/ 1109 h 1314"/>
                <a:gd name="T30" fmla="*/ 315 w 1315"/>
                <a:gd name="T31" fmla="*/ 767 h 1314"/>
                <a:gd name="T32" fmla="*/ 212 w 1315"/>
                <a:gd name="T33" fmla="*/ 664 h 1314"/>
                <a:gd name="T34" fmla="*/ 204 w 1315"/>
                <a:gd name="T35" fmla="*/ 657 h 1314"/>
                <a:gd name="T36" fmla="*/ 212 w 1315"/>
                <a:gd name="T37" fmla="*/ 649 h 1314"/>
                <a:gd name="T38" fmla="*/ 111 w 1315"/>
                <a:gd name="T39" fmla="*/ 546 h 1314"/>
                <a:gd name="T40" fmla="*/ 0 w 1315"/>
                <a:gd name="T41" fmla="*/ 657 h 1314"/>
                <a:gd name="T42" fmla="*/ 111 w 1315"/>
                <a:gd name="T43" fmla="*/ 767 h 1314"/>
                <a:gd name="T44" fmla="*/ 212 w 1315"/>
                <a:gd name="T45" fmla="*/ 869 h 1314"/>
                <a:gd name="T46" fmla="*/ 657 w 1315"/>
                <a:gd name="T47" fmla="*/ 1314 h 1314"/>
                <a:gd name="T48" fmla="*/ 1315 w 1315"/>
                <a:gd name="T49" fmla="*/ 657 h 1314"/>
                <a:gd name="T50" fmla="*/ 869 w 1315"/>
                <a:gd name="T51" fmla="*/ 214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315" y="546"/>
                  </a:moveTo>
                  <a:lnTo>
                    <a:pt x="212" y="445"/>
                  </a:lnTo>
                  <a:lnTo>
                    <a:pt x="445" y="214"/>
                  </a:lnTo>
                  <a:lnTo>
                    <a:pt x="546" y="110"/>
                  </a:lnTo>
                  <a:lnTo>
                    <a:pt x="657" y="0"/>
                  </a:lnTo>
                  <a:lnTo>
                    <a:pt x="768" y="110"/>
                  </a:lnTo>
                  <a:lnTo>
                    <a:pt x="665" y="214"/>
                  </a:lnTo>
                  <a:lnTo>
                    <a:pt x="657" y="204"/>
                  </a:lnTo>
                  <a:lnTo>
                    <a:pt x="650" y="214"/>
                  </a:lnTo>
                  <a:lnTo>
                    <a:pt x="546" y="315"/>
                  </a:lnTo>
                  <a:lnTo>
                    <a:pt x="315" y="546"/>
                  </a:lnTo>
                  <a:close/>
                  <a:moveTo>
                    <a:pt x="869" y="214"/>
                  </a:moveTo>
                  <a:lnTo>
                    <a:pt x="768" y="315"/>
                  </a:lnTo>
                  <a:lnTo>
                    <a:pt x="1110" y="657"/>
                  </a:lnTo>
                  <a:lnTo>
                    <a:pt x="657" y="1109"/>
                  </a:lnTo>
                  <a:lnTo>
                    <a:pt x="315" y="767"/>
                  </a:lnTo>
                  <a:lnTo>
                    <a:pt x="212" y="664"/>
                  </a:lnTo>
                  <a:lnTo>
                    <a:pt x="204" y="657"/>
                  </a:lnTo>
                  <a:lnTo>
                    <a:pt x="212" y="649"/>
                  </a:lnTo>
                  <a:lnTo>
                    <a:pt x="111" y="546"/>
                  </a:lnTo>
                  <a:lnTo>
                    <a:pt x="0" y="657"/>
                  </a:lnTo>
                  <a:lnTo>
                    <a:pt x="111" y="767"/>
                  </a:lnTo>
                  <a:lnTo>
                    <a:pt x="212" y="869"/>
                  </a:lnTo>
                  <a:lnTo>
                    <a:pt x="657" y="1314"/>
                  </a:lnTo>
                  <a:lnTo>
                    <a:pt x="1315" y="657"/>
                  </a:lnTo>
                  <a:lnTo>
                    <a:pt x="869" y="214"/>
                  </a:lnTo>
                  <a:close/>
                </a:path>
              </a:pathLst>
            </a:custGeom>
            <a:solidFill>
              <a:schemeClr val="accent3"/>
            </a:solidFill>
            <a:ln>
              <a:noFill/>
            </a:ln>
          </p:spPr>
          <p:txBody>
            <a:bodyPr anchor="ctr"/>
            <a:lstStyle/>
            <a:p>
              <a:pPr algn="ctr" defTabSz="914400"/>
              <a:endParaRPr sz="1865">
                <a:solidFill>
                  <a:prstClr val="white">
                    <a:lumMod val="50000"/>
                  </a:prstClr>
                </a:solidFill>
                <a:cs typeface="+mn-ea"/>
                <a:sym typeface="+mn-lt"/>
              </a:endParaRPr>
            </a:p>
          </p:txBody>
        </p:sp>
        <p:sp>
          <p:nvSpPr>
            <p:cNvPr id="11" name="Freeform: Shape 8"/>
            <p:cNvSpPr/>
            <p:nvPr>
              <p:custDataLst>
                <p:tags r:id="rId5"/>
              </p:custDataLst>
            </p:nvPr>
          </p:nvSpPr>
          <p:spPr bwMode="auto">
            <a:xfrm>
              <a:off x="599351" y="3533158"/>
              <a:ext cx="1948951" cy="1947468"/>
            </a:xfrm>
            <a:custGeom>
              <a:avLst/>
              <a:gdLst>
                <a:gd name="T0" fmla="*/ 1315 w 1315"/>
                <a:gd name="T1" fmla="*/ 657 h 1314"/>
                <a:gd name="T2" fmla="*/ 1204 w 1315"/>
                <a:gd name="T3" fmla="*/ 767 h 1314"/>
                <a:gd name="T4" fmla="*/ 1101 w 1315"/>
                <a:gd name="T5" fmla="*/ 664 h 1314"/>
                <a:gd name="T6" fmla="*/ 1111 w 1315"/>
                <a:gd name="T7" fmla="*/ 657 h 1314"/>
                <a:gd name="T8" fmla="*/ 1101 w 1315"/>
                <a:gd name="T9" fmla="*/ 649 h 1314"/>
                <a:gd name="T10" fmla="*/ 1000 w 1315"/>
                <a:gd name="T11" fmla="*/ 546 h 1314"/>
                <a:gd name="T12" fmla="*/ 769 w 1315"/>
                <a:gd name="T13" fmla="*/ 315 h 1314"/>
                <a:gd name="T14" fmla="*/ 870 w 1315"/>
                <a:gd name="T15" fmla="*/ 214 h 1314"/>
                <a:gd name="T16" fmla="*/ 1101 w 1315"/>
                <a:gd name="T17" fmla="*/ 445 h 1314"/>
                <a:gd name="T18" fmla="*/ 1204 w 1315"/>
                <a:gd name="T19" fmla="*/ 546 h 1314"/>
                <a:gd name="T20" fmla="*/ 1315 w 1315"/>
                <a:gd name="T21" fmla="*/ 657 h 1314"/>
                <a:gd name="T22" fmla="*/ 658 w 1315"/>
                <a:gd name="T23" fmla="*/ 1109 h 1314"/>
                <a:gd name="T24" fmla="*/ 205 w 1315"/>
                <a:gd name="T25" fmla="*/ 657 h 1314"/>
                <a:gd name="T26" fmla="*/ 547 w 1315"/>
                <a:gd name="T27" fmla="*/ 315 h 1314"/>
                <a:gd name="T28" fmla="*/ 650 w 1315"/>
                <a:gd name="T29" fmla="*/ 214 h 1314"/>
                <a:gd name="T30" fmla="*/ 658 w 1315"/>
                <a:gd name="T31" fmla="*/ 204 h 1314"/>
                <a:gd name="T32" fmla="*/ 665 w 1315"/>
                <a:gd name="T33" fmla="*/ 214 h 1314"/>
                <a:gd name="T34" fmla="*/ 769 w 1315"/>
                <a:gd name="T35" fmla="*/ 110 h 1314"/>
                <a:gd name="T36" fmla="*/ 658 w 1315"/>
                <a:gd name="T37" fmla="*/ 0 h 1314"/>
                <a:gd name="T38" fmla="*/ 547 w 1315"/>
                <a:gd name="T39" fmla="*/ 110 h 1314"/>
                <a:gd name="T40" fmla="*/ 446 w 1315"/>
                <a:gd name="T41" fmla="*/ 214 h 1314"/>
                <a:gd name="T42" fmla="*/ 0 w 1315"/>
                <a:gd name="T43" fmla="*/ 657 h 1314"/>
                <a:gd name="T44" fmla="*/ 658 w 1315"/>
                <a:gd name="T45" fmla="*/ 1314 h 1314"/>
                <a:gd name="T46" fmla="*/ 1101 w 1315"/>
                <a:gd name="T47" fmla="*/ 869 h 1314"/>
                <a:gd name="T48" fmla="*/ 1000 w 1315"/>
                <a:gd name="T49" fmla="*/ 767 h 1314"/>
                <a:gd name="T50" fmla="*/ 658 w 1315"/>
                <a:gd name="T51" fmla="*/ 1109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1315" y="657"/>
                  </a:moveTo>
                  <a:lnTo>
                    <a:pt x="1204" y="767"/>
                  </a:lnTo>
                  <a:lnTo>
                    <a:pt x="1101" y="664"/>
                  </a:lnTo>
                  <a:lnTo>
                    <a:pt x="1111" y="657"/>
                  </a:lnTo>
                  <a:lnTo>
                    <a:pt x="1101" y="649"/>
                  </a:lnTo>
                  <a:lnTo>
                    <a:pt x="1000" y="546"/>
                  </a:lnTo>
                  <a:lnTo>
                    <a:pt x="769" y="315"/>
                  </a:lnTo>
                  <a:lnTo>
                    <a:pt x="870" y="214"/>
                  </a:lnTo>
                  <a:lnTo>
                    <a:pt x="1101" y="445"/>
                  </a:lnTo>
                  <a:lnTo>
                    <a:pt x="1204" y="546"/>
                  </a:lnTo>
                  <a:lnTo>
                    <a:pt x="1315" y="657"/>
                  </a:lnTo>
                  <a:close/>
                  <a:moveTo>
                    <a:pt x="658" y="1109"/>
                  </a:moveTo>
                  <a:lnTo>
                    <a:pt x="205" y="657"/>
                  </a:lnTo>
                  <a:lnTo>
                    <a:pt x="547" y="315"/>
                  </a:lnTo>
                  <a:lnTo>
                    <a:pt x="650" y="214"/>
                  </a:lnTo>
                  <a:lnTo>
                    <a:pt x="658" y="204"/>
                  </a:lnTo>
                  <a:lnTo>
                    <a:pt x="665" y="214"/>
                  </a:lnTo>
                  <a:lnTo>
                    <a:pt x="769" y="110"/>
                  </a:lnTo>
                  <a:lnTo>
                    <a:pt x="658" y="0"/>
                  </a:lnTo>
                  <a:lnTo>
                    <a:pt x="547" y="110"/>
                  </a:lnTo>
                  <a:lnTo>
                    <a:pt x="446" y="214"/>
                  </a:lnTo>
                  <a:lnTo>
                    <a:pt x="0" y="657"/>
                  </a:lnTo>
                  <a:lnTo>
                    <a:pt x="658" y="1314"/>
                  </a:lnTo>
                  <a:lnTo>
                    <a:pt x="1101" y="869"/>
                  </a:lnTo>
                  <a:lnTo>
                    <a:pt x="1000" y="767"/>
                  </a:lnTo>
                  <a:lnTo>
                    <a:pt x="658" y="1109"/>
                  </a:lnTo>
                  <a:close/>
                </a:path>
              </a:pathLst>
            </a:custGeom>
            <a:solidFill>
              <a:schemeClr val="accent4"/>
            </a:solidFill>
            <a:ln>
              <a:noFill/>
            </a:ln>
          </p:spPr>
          <p:txBody>
            <a:bodyPr anchor="ctr"/>
            <a:lstStyle/>
            <a:p>
              <a:pPr algn="ctr" defTabSz="914400"/>
              <a:endParaRPr sz="1865">
                <a:solidFill>
                  <a:prstClr val="white">
                    <a:lumMod val="50000"/>
                  </a:prstClr>
                </a:solidFill>
                <a:cs typeface="+mn-ea"/>
                <a:sym typeface="+mn-lt"/>
              </a:endParaRPr>
            </a:p>
          </p:txBody>
        </p:sp>
      </p:grpSp>
      <p:sp>
        <p:nvSpPr>
          <p:cNvPr id="13" name="Flowchart: Connector 19"/>
          <p:cNvSpPr/>
          <p:nvPr>
            <p:custDataLst>
              <p:tags r:id="rId6"/>
            </p:custDataLst>
          </p:nvPr>
        </p:nvSpPr>
        <p:spPr>
          <a:xfrm>
            <a:off x="8982035" y="1602676"/>
            <a:ext cx="672895" cy="672893"/>
          </a:xfrm>
          <a:prstGeom prst="flowChartConnector">
            <a:avLst/>
          </a:prstGeom>
          <a:solidFill>
            <a:schemeClr val="accent2"/>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sp>
        <p:nvSpPr>
          <p:cNvPr id="14" name="Flowchart: Connector 20"/>
          <p:cNvSpPr/>
          <p:nvPr>
            <p:custDataLst>
              <p:tags r:id="rId7"/>
            </p:custDataLst>
          </p:nvPr>
        </p:nvSpPr>
        <p:spPr>
          <a:xfrm>
            <a:off x="8961608" y="3861447"/>
            <a:ext cx="672895" cy="672893"/>
          </a:xfrm>
          <a:prstGeom prst="flowChartConnector">
            <a:avLst/>
          </a:prstGeom>
          <a:solidFill>
            <a:schemeClr val="accent3"/>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grpSp>
        <p:nvGrpSpPr>
          <p:cNvPr id="15" name="Group 36"/>
          <p:cNvGrpSpPr/>
          <p:nvPr>
            <p:custDataLst>
              <p:tags r:id="rId8"/>
            </p:custDataLst>
          </p:nvPr>
        </p:nvGrpSpPr>
        <p:grpSpPr>
          <a:xfrm>
            <a:off x="9105181" y="1746924"/>
            <a:ext cx="385747" cy="374013"/>
            <a:chOff x="4411266" y="2303265"/>
            <a:chExt cx="325040" cy="315154"/>
          </a:xfrm>
          <a:solidFill>
            <a:schemeClr val="bg1"/>
          </a:solidFill>
        </p:grpSpPr>
        <p:sp>
          <p:nvSpPr>
            <p:cNvPr id="25" name="Freeform: Shape 37"/>
            <p:cNvSpPr/>
            <p:nvPr>
              <p:custDataLst>
                <p:tags r:id="rId9"/>
              </p:custDataLst>
            </p:nvPr>
          </p:nvSpPr>
          <p:spPr bwMode="auto">
            <a:xfrm>
              <a:off x="4411266" y="2336007"/>
              <a:ext cx="291108" cy="282412"/>
            </a:xfrm>
            <a:custGeom>
              <a:avLst/>
              <a:gdLst>
                <a:gd name="T0" fmla="*/ 417 w 21600"/>
                <a:gd name="T1" fmla="*/ 102 h 21600"/>
                <a:gd name="T2" fmla="*/ 384 w 21600"/>
                <a:gd name="T3" fmla="*/ 65 h 21600"/>
                <a:gd name="T4" fmla="*/ 316 w 21600"/>
                <a:gd name="T5" fmla="*/ 0 h 21600"/>
                <a:gd name="T6" fmla="*/ 283 w 21600"/>
                <a:gd name="T7" fmla="*/ 33 h 21600"/>
                <a:gd name="T8" fmla="*/ 149 w 21600"/>
                <a:gd name="T9" fmla="*/ 102 h 21600"/>
                <a:gd name="T10" fmla="*/ 0 w 21600"/>
                <a:gd name="T11" fmla="*/ 465 h 21600"/>
                <a:gd name="T12" fmla="*/ 182 w 21600"/>
                <a:gd name="T13" fmla="*/ 265 h 21600"/>
                <a:gd name="T14" fmla="*/ 182 w 21600"/>
                <a:gd name="T15" fmla="*/ 265 h 21600"/>
                <a:gd name="T16" fmla="*/ 197 w 21600"/>
                <a:gd name="T17" fmla="*/ 181 h 21600"/>
                <a:gd name="T18" fmla="*/ 302 w 21600"/>
                <a:gd name="T19" fmla="*/ 181 h 21600"/>
                <a:gd name="T20" fmla="*/ 302 w 21600"/>
                <a:gd name="T21" fmla="*/ 283 h 21600"/>
                <a:gd name="T22" fmla="*/ 216 w 21600"/>
                <a:gd name="T23" fmla="*/ 297 h 21600"/>
                <a:gd name="T24" fmla="*/ 216 w 21600"/>
                <a:gd name="T25" fmla="*/ 297 h 21600"/>
                <a:gd name="T26" fmla="*/ 10 w 21600"/>
                <a:gd name="T27" fmla="*/ 474 h 21600"/>
                <a:gd name="T28" fmla="*/ 384 w 21600"/>
                <a:gd name="T29" fmla="*/ 330 h 21600"/>
                <a:gd name="T30" fmla="*/ 451 w 21600"/>
                <a:gd name="T31" fmla="*/ 200 h 21600"/>
                <a:gd name="T32" fmla="*/ 489 w 21600"/>
                <a:gd name="T33" fmla="*/ 167 h 21600"/>
                <a:gd name="T34" fmla="*/ 417 w 21600"/>
                <a:gd name="T35" fmla="*/ 102 h 21600"/>
                <a:gd name="T36" fmla="*/ 417 w 21600"/>
                <a:gd name="T37" fmla="*/ 102 h 216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600" h="21600">
                  <a:moveTo>
                    <a:pt x="18424" y="4659"/>
                  </a:moveTo>
                  <a:cubicBezTo>
                    <a:pt x="16941" y="2965"/>
                    <a:pt x="16941" y="2965"/>
                    <a:pt x="16941" y="2965"/>
                  </a:cubicBezTo>
                  <a:cubicBezTo>
                    <a:pt x="13976" y="0"/>
                    <a:pt x="13976" y="0"/>
                    <a:pt x="13976" y="0"/>
                  </a:cubicBezTo>
                  <a:cubicBezTo>
                    <a:pt x="13976" y="0"/>
                    <a:pt x="13976" y="0"/>
                    <a:pt x="12494" y="1482"/>
                  </a:cubicBezTo>
                  <a:cubicBezTo>
                    <a:pt x="11012" y="2965"/>
                    <a:pt x="6565" y="4659"/>
                    <a:pt x="6565" y="4659"/>
                  </a:cubicBezTo>
                  <a:cubicBezTo>
                    <a:pt x="0" y="21176"/>
                    <a:pt x="0" y="21176"/>
                    <a:pt x="0" y="21176"/>
                  </a:cubicBezTo>
                  <a:cubicBezTo>
                    <a:pt x="8047" y="12071"/>
                    <a:pt x="8047" y="12071"/>
                    <a:pt x="8047" y="12071"/>
                  </a:cubicBezTo>
                  <a:cubicBezTo>
                    <a:pt x="7624" y="10800"/>
                    <a:pt x="7835" y="9318"/>
                    <a:pt x="8682" y="8259"/>
                  </a:cubicBezTo>
                  <a:cubicBezTo>
                    <a:pt x="9953" y="6988"/>
                    <a:pt x="12071" y="6988"/>
                    <a:pt x="13341" y="8259"/>
                  </a:cubicBezTo>
                  <a:cubicBezTo>
                    <a:pt x="14400" y="9529"/>
                    <a:pt x="14400" y="11647"/>
                    <a:pt x="13341" y="12918"/>
                  </a:cubicBezTo>
                  <a:cubicBezTo>
                    <a:pt x="12282" y="13765"/>
                    <a:pt x="10800" y="13976"/>
                    <a:pt x="9529" y="13553"/>
                  </a:cubicBezTo>
                  <a:cubicBezTo>
                    <a:pt x="424" y="21600"/>
                    <a:pt x="424" y="21600"/>
                    <a:pt x="424" y="21600"/>
                  </a:cubicBezTo>
                  <a:cubicBezTo>
                    <a:pt x="16941" y="15035"/>
                    <a:pt x="16941" y="15035"/>
                    <a:pt x="16941" y="15035"/>
                  </a:cubicBezTo>
                  <a:cubicBezTo>
                    <a:pt x="16941" y="15035"/>
                    <a:pt x="18424" y="10588"/>
                    <a:pt x="19906" y="9106"/>
                  </a:cubicBezTo>
                  <a:cubicBezTo>
                    <a:pt x="21600" y="7624"/>
                    <a:pt x="21600" y="7624"/>
                    <a:pt x="21600" y="7624"/>
                  </a:cubicBezTo>
                  <a:lnTo>
                    <a:pt x="18424" y="4659"/>
                  </a:lnTo>
                  <a:close/>
                  <a:moveTo>
                    <a:pt x="18424" y="4659"/>
                  </a:moveTo>
                </a:path>
              </a:pathLst>
            </a:custGeom>
            <a:grpFill/>
            <a:ln>
              <a:noFill/>
            </a:ln>
          </p:spPr>
          <p:txBody>
            <a:bodyPr anchor="ctr"/>
            <a:lstStyle/>
            <a:p>
              <a:pPr algn="ctr" defTabSz="914400"/>
              <a:endParaRPr sz="1865">
                <a:solidFill>
                  <a:prstClr val="white">
                    <a:lumMod val="50000"/>
                  </a:prstClr>
                </a:solidFill>
                <a:cs typeface="+mn-ea"/>
                <a:sym typeface="+mn-lt"/>
              </a:endParaRPr>
            </a:p>
          </p:txBody>
        </p:sp>
        <p:sp>
          <p:nvSpPr>
            <p:cNvPr id="26" name="Freeform: Shape 38"/>
            <p:cNvSpPr/>
            <p:nvPr>
              <p:custDataLst>
                <p:tags r:id="rId10"/>
              </p:custDataLst>
            </p:nvPr>
          </p:nvSpPr>
          <p:spPr bwMode="auto">
            <a:xfrm>
              <a:off x="4619625" y="2303265"/>
              <a:ext cx="116681" cy="113109"/>
            </a:xfrm>
            <a:custGeom>
              <a:avLst/>
              <a:gdLst>
                <a:gd name="T0" fmla="*/ 24 w 21600"/>
                <a:gd name="T1" fmla="*/ 0 h 21600"/>
                <a:gd name="T2" fmla="*/ 196 w 21600"/>
                <a:gd name="T3" fmla="*/ 167 h 21600"/>
                <a:gd name="T4" fmla="*/ 172 w 21600"/>
                <a:gd name="T5" fmla="*/ 190 h 21600"/>
                <a:gd name="T6" fmla="*/ 0 w 21600"/>
                <a:gd name="T7" fmla="*/ 23 h 21600"/>
                <a:gd name="T8" fmla="*/ 24 w 21600"/>
                <a:gd name="T9" fmla="*/ 0 h 21600"/>
                <a:gd name="T10" fmla="*/ 24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667" y="0"/>
                  </a:moveTo>
                  <a:lnTo>
                    <a:pt x="21600" y="18933"/>
                  </a:lnTo>
                  <a:lnTo>
                    <a:pt x="18933" y="21600"/>
                  </a:lnTo>
                  <a:lnTo>
                    <a:pt x="0" y="2667"/>
                  </a:lnTo>
                  <a:lnTo>
                    <a:pt x="2667" y="0"/>
                  </a:lnTo>
                  <a:close/>
                  <a:moveTo>
                    <a:pt x="2667" y="0"/>
                  </a:moveTo>
                </a:path>
              </a:pathLst>
            </a:custGeom>
            <a:grpFill/>
            <a:ln>
              <a:noFill/>
            </a:ln>
          </p:spPr>
          <p:txBody>
            <a:bodyPr anchor="ctr"/>
            <a:lstStyle/>
            <a:p>
              <a:pPr algn="ctr" defTabSz="914400"/>
              <a:endParaRPr sz="1865">
                <a:solidFill>
                  <a:prstClr val="white">
                    <a:lumMod val="50000"/>
                  </a:prstClr>
                </a:solidFill>
                <a:cs typeface="+mn-ea"/>
                <a:sym typeface="+mn-lt"/>
              </a:endParaRPr>
            </a:p>
          </p:txBody>
        </p:sp>
      </p:grpSp>
      <p:grpSp>
        <p:nvGrpSpPr>
          <p:cNvPr id="16" name="Group 39"/>
          <p:cNvGrpSpPr/>
          <p:nvPr>
            <p:custDataLst>
              <p:tags r:id="rId11"/>
            </p:custDataLst>
          </p:nvPr>
        </p:nvGrpSpPr>
        <p:grpSpPr>
          <a:xfrm>
            <a:off x="9084959" y="4019291"/>
            <a:ext cx="449007" cy="375997"/>
            <a:chOff x="5099051" y="3930651"/>
            <a:chExt cx="390525" cy="327025"/>
          </a:xfrm>
          <a:solidFill>
            <a:schemeClr val="bg1"/>
          </a:solidFill>
        </p:grpSpPr>
        <p:sp>
          <p:nvSpPr>
            <p:cNvPr id="23" name="Freeform: Shape 40"/>
            <p:cNvSpPr/>
            <p:nvPr>
              <p:custDataLst>
                <p:tags r:id="rId12"/>
              </p:custDataLst>
            </p:nvPr>
          </p:nvSpPr>
          <p:spPr bwMode="auto">
            <a:xfrm>
              <a:off x="5165726" y="4027488"/>
              <a:ext cx="255588" cy="230188"/>
            </a:xfrm>
            <a:custGeom>
              <a:avLst/>
              <a:gdLst>
                <a:gd name="T0" fmla="*/ 0 w 161"/>
                <a:gd name="T1" fmla="*/ 62 h 145"/>
                <a:gd name="T2" fmla="*/ 0 w 161"/>
                <a:gd name="T3" fmla="*/ 145 h 145"/>
                <a:gd name="T4" fmla="*/ 31 w 161"/>
                <a:gd name="T5" fmla="*/ 145 h 145"/>
                <a:gd name="T6" fmla="*/ 130 w 161"/>
                <a:gd name="T7" fmla="*/ 145 h 145"/>
                <a:gd name="T8" fmla="*/ 161 w 161"/>
                <a:gd name="T9" fmla="*/ 145 h 145"/>
                <a:gd name="T10" fmla="*/ 161 w 161"/>
                <a:gd name="T11" fmla="*/ 62 h 145"/>
                <a:gd name="T12" fmla="*/ 81 w 161"/>
                <a:gd name="T13" fmla="*/ 0 h 145"/>
                <a:gd name="T14" fmla="*/ 0 w 161"/>
                <a:gd name="T15" fmla="*/ 62 h 1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145">
                  <a:moveTo>
                    <a:pt x="0" y="62"/>
                  </a:moveTo>
                  <a:lnTo>
                    <a:pt x="0" y="145"/>
                  </a:lnTo>
                  <a:lnTo>
                    <a:pt x="31" y="145"/>
                  </a:lnTo>
                  <a:lnTo>
                    <a:pt x="130" y="145"/>
                  </a:lnTo>
                  <a:lnTo>
                    <a:pt x="161" y="145"/>
                  </a:lnTo>
                  <a:lnTo>
                    <a:pt x="161" y="62"/>
                  </a:lnTo>
                  <a:lnTo>
                    <a:pt x="81" y="0"/>
                  </a:lnTo>
                  <a:lnTo>
                    <a:pt x="0" y="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24" name="Freeform: Shape 41"/>
            <p:cNvSpPr/>
            <p:nvPr>
              <p:custDataLst>
                <p:tags r:id="rId13"/>
              </p:custDataLst>
            </p:nvPr>
          </p:nvSpPr>
          <p:spPr bwMode="auto">
            <a:xfrm>
              <a:off x="5099051" y="3930651"/>
              <a:ext cx="390525" cy="195263"/>
            </a:xfrm>
            <a:custGeom>
              <a:avLst/>
              <a:gdLst>
                <a:gd name="T0" fmla="*/ 225 w 246"/>
                <a:gd name="T1" fmla="*/ 80 h 123"/>
                <a:gd name="T2" fmla="*/ 225 w 246"/>
                <a:gd name="T3" fmla="*/ 21 h 123"/>
                <a:gd name="T4" fmla="*/ 182 w 246"/>
                <a:gd name="T5" fmla="*/ 21 h 123"/>
                <a:gd name="T6" fmla="*/ 182 w 246"/>
                <a:gd name="T7" fmla="*/ 47 h 123"/>
                <a:gd name="T8" fmla="*/ 123 w 246"/>
                <a:gd name="T9" fmla="*/ 0 h 123"/>
                <a:gd name="T10" fmla="*/ 123 w 246"/>
                <a:gd name="T11" fmla="*/ 0 h 123"/>
                <a:gd name="T12" fmla="*/ 123 w 246"/>
                <a:gd name="T13" fmla="*/ 0 h 123"/>
                <a:gd name="T14" fmla="*/ 123 w 246"/>
                <a:gd name="T15" fmla="*/ 0 h 123"/>
                <a:gd name="T16" fmla="*/ 123 w 246"/>
                <a:gd name="T17" fmla="*/ 0 h 123"/>
                <a:gd name="T18" fmla="*/ 0 w 246"/>
                <a:gd name="T19" fmla="*/ 97 h 123"/>
                <a:gd name="T20" fmla="*/ 21 w 246"/>
                <a:gd name="T21" fmla="*/ 123 h 123"/>
                <a:gd name="T22" fmla="*/ 123 w 246"/>
                <a:gd name="T23" fmla="*/ 42 h 123"/>
                <a:gd name="T24" fmla="*/ 225 w 246"/>
                <a:gd name="T25" fmla="*/ 123 h 123"/>
                <a:gd name="T26" fmla="*/ 246 w 246"/>
                <a:gd name="T27" fmla="*/ 97 h 123"/>
                <a:gd name="T28" fmla="*/ 225 w 246"/>
                <a:gd name="T29" fmla="*/ 8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123">
                  <a:moveTo>
                    <a:pt x="225" y="80"/>
                  </a:moveTo>
                  <a:lnTo>
                    <a:pt x="225" y="21"/>
                  </a:lnTo>
                  <a:lnTo>
                    <a:pt x="182" y="21"/>
                  </a:lnTo>
                  <a:lnTo>
                    <a:pt x="182" y="47"/>
                  </a:lnTo>
                  <a:lnTo>
                    <a:pt x="123" y="0"/>
                  </a:lnTo>
                  <a:lnTo>
                    <a:pt x="123" y="0"/>
                  </a:lnTo>
                  <a:lnTo>
                    <a:pt x="123" y="0"/>
                  </a:lnTo>
                  <a:lnTo>
                    <a:pt x="123" y="0"/>
                  </a:lnTo>
                  <a:lnTo>
                    <a:pt x="123" y="0"/>
                  </a:lnTo>
                  <a:lnTo>
                    <a:pt x="0" y="97"/>
                  </a:lnTo>
                  <a:lnTo>
                    <a:pt x="21" y="123"/>
                  </a:lnTo>
                  <a:lnTo>
                    <a:pt x="123" y="42"/>
                  </a:lnTo>
                  <a:lnTo>
                    <a:pt x="225" y="123"/>
                  </a:lnTo>
                  <a:lnTo>
                    <a:pt x="246" y="97"/>
                  </a:lnTo>
                  <a:lnTo>
                    <a:pt x="225"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grpSp>
      <p:sp>
        <p:nvSpPr>
          <p:cNvPr id="21" name="Rectangle 44"/>
          <p:cNvSpPr/>
          <p:nvPr>
            <p:custDataLst>
              <p:tags r:id="rId14"/>
            </p:custDataLst>
          </p:nvPr>
        </p:nvSpPr>
        <p:spPr>
          <a:xfrm>
            <a:off x="8279436" y="2677383"/>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采用事件研究法和财务指标分析（如</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ROA</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Tobin's Q</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）评估长期和短期绩效</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2" name="TextBox 45"/>
          <p:cNvSpPr txBox="1"/>
          <p:nvPr>
            <p:custDataLst>
              <p:tags r:id="rId15"/>
            </p:custDataLst>
          </p:nvPr>
        </p:nvSpPr>
        <p:spPr>
          <a:xfrm>
            <a:off x="8590372" y="2300835"/>
            <a:ext cx="1415368" cy="338448"/>
          </a:xfrm>
          <a:prstGeom prst="rect">
            <a:avLst/>
          </a:prstGeom>
          <a:noFill/>
        </p:spPr>
        <p:txBody>
          <a:bodyPr wrap="none" lIns="121864" tIns="60932" rIns="121864" bIns="60932">
            <a:noAutofit/>
          </a:bodyPr>
          <a:lstStyle/>
          <a:p>
            <a:pPr algn="ctr" defTabSz="914400"/>
            <a:r>
              <a:rPr lang="zh-CN" altLang="en-US" sz="1600" b="1"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并购绩效模型</a:t>
            </a:r>
            <a:endParaRPr lang="zh-CN" altLang="en-US" sz="1600" b="1"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9" name="Rectangle 47"/>
          <p:cNvSpPr/>
          <p:nvPr>
            <p:custDataLst>
              <p:tags r:id="rId16"/>
            </p:custDataLst>
          </p:nvPr>
        </p:nvSpPr>
        <p:spPr>
          <a:xfrm>
            <a:off x="8279436" y="4910888"/>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对并购后企业的员工进行问卷调查，测量其文化适应度、组织承诺和感知公平性。</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0" name="TextBox 48"/>
          <p:cNvSpPr txBox="1"/>
          <p:nvPr>
            <p:custDataLst>
              <p:tags r:id="rId17"/>
            </p:custDataLst>
          </p:nvPr>
        </p:nvSpPr>
        <p:spPr>
          <a:xfrm>
            <a:off x="8590372" y="4534340"/>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问卷调查法</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53" name="Rectangle 13"/>
          <p:cNvSpPr/>
          <p:nvPr>
            <p:custDataLst>
              <p:tags r:id="rId18"/>
            </p:custDataLst>
          </p:nvPr>
        </p:nvSpPr>
        <p:spPr>
          <a:xfrm>
            <a:off x="1422400" y="2653519"/>
            <a:ext cx="2096464" cy="797831"/>
          </a:xfrm>
          <a:prstGeom prst="rect">
            <a:avLst/>
          </a:prstGeom>
        </p:spPr>
        <p:txBody>
          <a:bodyPr wrap="square" lIns="0" tIns="0" rIns="0" bIns="0">
            <a:normAutofit lnSpcReduction="10000"/>
          </a:bodyPr>
          <a:lstStyle/>
          <a:p>
            <a:pPr algn="ctr" defTabSz="914400">
              <a:lnSpc>
                <a:spcPct val="150000"/>
              </a:lnSpc>
              <a:defRPr/>
            </a:pP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借鉴</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Deal &amp; Kennedy</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Hofstede</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等模型，评估被并购双方的文化差异程度</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54" name="TextBox 14"/>
          <p:cNvSpPr txBox="1"/>
          <p:nvPr>
            <p:custDataLst>
              <p:tags r:id="rId19"/>
            </p:custDataLst>
          </p:nvPr>
        </p:nvSpPr>
        <p:spPr>
          <a:xfrm>
            <a:off x="1733336" y="2276971"/>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组织文化理论</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9" name="Flowchart: Connector 17"/>
          <p:cNvSpPr/>
          <p:nvPr>
            <p:custDataLst>
              <p:tags r:id="rId20"/>
            </p:custDataLst>
          </p:nvPr>
        </p:nvSpPr>
        <p:spPr>
          <a:xfrm>
            <a:off x="2104572" y="1604077"/>
            <a:ext cx="672895" cy="672893"/>
          </a:xfrm>
          <a:prstGeom prst="flowChartConnector">
            <a:avLst/>
          </a:prstGeom>
          <a:solidFill>
            <a:schemeClr val="accent1"/>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sp>
        <p:nvSpPr>
          <p:cNvPr id="30" name="Flowchart: Connector 18"/>
          <p:cNvSpPr/>
          <p:nvPr>
            <p:custDataLst>
              <p:tags r:id="rId21"/>
            </p:custDataLst>
          </p:nvPr>
        </p:nvSpPr>
        <p:spPr>
          <a:xfrm>
            <a:off x="2104572" y="3860040"/>
            <a:ext cx="672895" cy="672893"/>
          </a:xfrm>
          <a:prstGeom prst="flowChartConnector">
            <a:avLst/>
          </a:prstGeom>
          <a:solidFill>
            <a:schemeClr val="accent4"/>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grpSp>
        <p:nvGrpSpPr>
          <p:cNvPr id="31" name="Group 21"/>
          <p:cNvGrpSpPr/>
          <p:nvPr>
            <p:custDataLst>
              <p:tags r:id="rId22"/>
            </p:custDataLst>
          </p:nvPr>
        </p:nvGrpSpPr>
        <p:grpSpPr>
          <a:xfrm>
            <a:off x="2294200" y="1776555"/>
            <a:ext cx="334873" cy="337011"/>
            <a:chOff x="3886200" y="3605213"/>
            <a:chExt cx="1243013" cy="1250950"/>
          </a:xfrm>
          <a:solidFill>
            <a:schemeClr val="bg1"/>
          </a:solidFill>
        </p:grpSpPr>
        <p:sp>
          <p:nvSpPr>
            <p:cNvPr id="36" name="Freeform: Shape 22"/>
            <p:cNvSpPr/>
            <p:nvPr>
              <p:custDataLst>
                <p:tags r:id="rId23"/>
              </p:custDataLst>
            </p:nvPr>
          </p:nvSpPr>
          <p:spPr bwMode="auto">
            <a:xfrm>
              <a:off x="4732338"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5" y="70"/>
                    <a:pt x="46" y="60"/>
                    <a:pt x="46" y="47"/>
                  </a:cubicBezTo>
                  <a:cubicBezTo>
                    <a:pt x="46" y="23"/>
                    <a:pt x="46" y="23"/>
                    <a:pt x="46" y="23"/>
                  </a:cubicBezTo>
                  <a:cubicBezTo>
                    <a:pt x="46" y="10"/>
                    <a:pt x="35"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37" name="Freeform: Shape 23"/>
            <p:cNvSpPr/>
            <p:nvPr>
              <p:custDataLst>
                <p:tags r:id="rId24"/>
              </p:custDataLst>
            </p:nvPr>
          </p:nvSpPr>
          <p:spPr bwMode="auto">
            <a:xfrm>
              <a:off x="3886200" y="3751263"/>
              <a:ext cx="1243013" cy="1104900"/>
            </a:xfrm>
            <a:custGeom>
              <a:avLst/>
              <a:gdLst>
                <a:gd name="T0" fmla="*/ 329 w 329"/>
                <a:gd name="T1" fmla="*/ 1 h 294"/>
                <a:gd name="T2" fmla="*/ 282 w 329"/>
                <a:gd name="T3" fmla="*/ 1 h 294"/>
                <a:gd name="T4" fmla="*/ 282 w 329"/>
                <a:gd name="T5" fmla="*/ 13 h 294"/>
                <a:gd name="T6" fmla="*/ 247 w 329"/>
                <a:gd name="T7" fmla="*/ 48 h 294"/>
                <a:gd name="T8" fmla="*/ 212 w 329"/>
                <a:gd name="T9" fmla="*/ 13 h 294"/>
                <a:gd name="T10" fmla="*/ 212 w 329"/>
                <a:gd name="T11" fmla="*/ 1 h 294"/>
                <a:gd name="T12" fmla="*/ 118 w 329"/>
                <a:gd name="T13" fmla="*/ 1 h 294"/>
                <a:gd name="T14" fmla="*/ 118 w 329"/>
                <a:gd name="T15" fmla="*/ 13 h 294"/>
                <a:gd name="T16" fmla="*/ 83 w 329"/>
                <a:gd name="T17" fmla="*/ 48 h 294"/>
                <a:gd name="T18" fmla="*/ 47 w 329"/>
                <a:gd name="T19" fmla="*/ 13 h 294"/>
                <a:gd name="T20" fmla="*/ 47 w 329"/>
                <a:gd name="T21" fmla="*/ 1 h 294"/>
                <a:gd name="T22" fmla="*/ 0 w 329"/>
                <a:gd name="T23" fmla="*/ 0 h 294"/>
                <a:gd name="T24" fmla="*/ 0 w 329"/>
                <a:gd name="T25" fmla="*/ 294 h 294"/>
                <a:gd name="T26" fmla="*/ 24 w 329"/>
                <a:gd name="T27" fmla="*/ 294 h 294"/>
                <a:gd name="T28" fmla="*/ 306 w 329"/>
                <a:gd name="T29" fmla="*/ 294 h 294"/>
                <a:gd name="T30" fmla="*/ 329 w 329"/>
                <a:gd name="T31" fmla="*/ 294 h 294"/>
                <a:gd name="T32" fmla="*/ 329 w 329"/>
                <a:gd name="T33" fmla="*/ 1 h 294"/>
                <a:gd name="T34" fmla="*/ 306 w 329"/>
                <a:gd name="T35" fmla="*/ 271 h 294"/>
                <a:gd name="T36" fmla="*/ 24 w 329"/>
                <a:gd name="T37" fmla="*/ 271 h 294"/>
                <a:gd name="T38" fmla="*/ 24 w 329"/>
                <a:gd name="T39" fmla="*/ 83 h 294"/>
                <a:gd name="T40" fmla="*/ 306 w 329"/>
                <a:gd name="T41" fmla="*/ 83 h 294"/>
                <a:gd name="T42" fmla="*/ 306 w 329"/>
                <a:gd name="T43" fmla="*/ 27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9" h="294">
                  <a:moveTo>
                    <a:pt x="329" y="1"/>
                  </a:moveTo>
                  <a:cubicBezTo>
                    <a:pt x="282" y="1"/>
                    <a:pt x="282" y="1"/>
                    <a:pt x="282" y="1"/>
                  </a:cubicBezTo>
                  <a:cubicBezTo>
                    <a:pt x="282" y="13"/>
                    <a:pt x="282" y="13"/>
                    <a:pt x="282" y="13"/>
                  </a:cubicBezTo>
                  <a:cubicBezTo>
                    <a:pt x="282" y="32"/>
                    <a:pt x="266" y="48"/>
                    <a:pt x="247" y="48"/>
                  </a:cubicBezTo>
                  <a:cubicBezTo>
                    <a:pt x="228" y="48"/>
                    <a:pt x="212" y="32"/>
                    <a:pt x="212" y="13"/>
                  </a:cubicBezTo>
                  <a:cubicBezTo>
                    <a:pt x="212" y="1"/>
                    <a:pt x="212" y="1"/>
                    <a:pt x="212" y="1"/>
                  </a:cubicBezTo>
                  <a:cubicBezTo>
                    <a:pt x="118" y="1"/>
                    <a:pt x="118" y="1"/>
                    <a:pt x="118" y="1"/>
                  </a:cubicBezTo>
                  <a:cubicBezTo>
                    <a:pt x="118" y="13"/>
                    <a:pt x="118" y="13"/>
                    <a:pt x="118" y="13"/>
                  </a:cubicBezTo>
                  <a:cubicBezTo>
                    <a:pt x="118" y="32"/>
                    <a:pt x="102" y="48"/>
                    <a:pt x="83" y="48"/>
                  </a:cubicBezTo>
                  <a:cubicBezTo>
                    <a:pt x="63" y="48"/>
                    <a:pt x="47" y="32"/>
                    <a:pt x="47" y="13"/>
                  </a:cubicBezTo>
                  <a:cubicBezTo>
                    <a:pt x="47" y="1"/>
                    <a:pt x="47" y="1"/>
                    <a:pt x="47" y="1"/>
                  </a:cubicBezTo>
                  <a:cubicBezTo>
                    <a:pt x="0" y="0"/>
                    <a:pt x="0" y="0"/>
                    <a:pt x="0" y="0"/>
                  </a:cubicBezTo>
                  <a:cubicBezTo>
                    <a:pt x="0" y="294"/>
                    <a:pt x="0" y="294"/>
                    <a:pt x="0" y="294"/>
                  </a:cubicBezTo>
                  <a:cubicBezTo>
                    <a:pt x="24" y="294"/>
                    <a:pt x="24" y="294"/>
                    <a:pt x="24" y="294"/>
                  </a:cubicBezTo>
                  <a:cubicBezTo>
                    <a:pt x="306" y="294"/>
                    <a:pt x="306" y="294"/>
                    <a:pt x="306" y="294"/>
                  </a:cubicBezTo>
                  <a:cubicBezTo>
                    <a:pt x="329" y="294"/>
                    <a:pt x="329" y="294"/>
                    <a:pt x="329" y="294"/>
                  </a:cubicBezTo>
                  <a:lnTo>
                    <a:pt x="329" y="1"/>
                  </a:lnTo>
                  <a:close/>
                  <a:moveTo>
                    <a:pt x="306" y="271"/>
                  </a:moveTo>
                  <a:cubicBezTo>
                    <a:pt x="24" y="271"/>
                    <a:pt x="24" y="271"/>
                    <a:pt x="24" y="271"/>
                  </a:cubicBezTo>
                  <a:cubicBezTo>
                    <a:pt x="24" y="83"/>
                    <a:pt x="24" y="83"/>
                    <a:pt x="24" y="83"/>
                  </a:cubicBezTo>
                  <a:cubicBezTo>
                    <a:pt x="306" y="83"/>
                    <a:pt x="306" y="83"/>
                    <a:pt x="306" y="83"/>
                  </a:cubicBezTo>
                  <a:lnTo>
                    <a:pt x="306" y="2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38" name="Freeform: Shape 24"/>
            <p:cNvSpPr/>
            <p:nvPr>
              <p:custDataLst>
                <p:tags r:id="rId25"/>
              </p:custDataLst>
            </p:nvPr>
          </p:nvSpPr>
          <p:spPr bwMode="auto">
            <a:xfrm>
              <a:off x="4108450"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6" y="70"/>
                    <a:pt x="46" y="60"/>
                    <a:pt x="46" y="47"/>
                  </a:cubicBezTo>
                  <a:cubicBezTo>
                    <a:pt x="46" y="23"/>
                    <a:pt x="46" y="23"/>
                    <a:pt x="46" y="23"/>
                  </a:cubicBezTo>
                  <a:cubicBezTo>
                    <a:pt x="46" y="10"/>
                    <a:pt x="36"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42" name="Rectangle 25"/>
            <p:cNvSpPr/>
            <p:nvPr>
              <p:custDataLst>
                <p:tags r:id="rId26"/>
              </p:custDataLst>
            </p:nvPr>
          </p:nvSpPr>
          <p:spPr bwMode="auto">
            <a:xfrm>
              <a:off x="4332288"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3" name="Rectangle 26"/>
            <p:cNvSpPr/>
            <p:nvPr>
              <p:custDataLst>
                <p:tags r:id="rId27"/>
              </p:custDataLst>
            </p:nvPr>
          </p:nvSpPr>
          <p:spPr bwMode="auto">
            <a:xfrm>
              <a:off x="4559300"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4" name="Rectangle 27"/>
            <p:cNvSpPr/>
            <p:nvPr>
              <p:custDataLst>
                <p:tags r:id="rId28"/>
              </p:custDataLst>
            </p:nvPr>
          </p:nvSpPr>
          <p:spPr bwMode="auto">
            <a:xfrm>
              <a:off x="4767263"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5" name="Rectangle 28"/>
            <p:cNvSpPr/>
            <p:nvPr>
              <p:custDataLst>
                <p:tags r:id="rId29"/>
              </p:custDataLst>
            </p:nvPr>
          </p:nvSpPr>
          <p:spPr bwMode="auto">
            <a:xfrm>
              <a:off x="4332288"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6" name="Rectangle 29"/>
            <p:cNvSpPr/>
            <p:nvPr>
              <p:custDataLst>
                <p:tags r:id="rId30"/>
              </p:custDataLst>
            </p:nvPr>
          </p:nvSpPr>
          <p:spPr bwMode="auto">
            <a:xfrm>
              <a:off x="4559300"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7" name="Rectangle 30"/>
            <p:cNvSpPr/>
            <p:nvPr>
              <p:custDataLst>
                <p:tags r:id="rId31"/>
              </p:custDataLst>
            </p:nvPr>
          </p:nvSpPr>
          <p:spPr bwMode="auto">
            <a:xfrm>
              <a:off x="4767263"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8" name="Rectangle 31"/>
            <p:cNvSpPr/>
            <p:nvPr>
              <p:custDataLst>
                <p:tags r:id="rId32"/>
              </p:custDataLst>
            </p:nvPr>
          </p:nvSpPr>
          <p:spPr bwMode="auto">
            <a:xfrm>
              <a:off x="4332288"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9" name="Rectangle 32"/>
            <p:cNvSpPr/>
            <p:nvPr>
              <p:custDataLst>
                <p:tags r:id="rId33"/>
              </p:custDataLst>
            </p:nvPr>
          </p:nvSpPr>
          <p:spPr bwMode="auto">
            <a:xfrm>
              <a:off x="4108450" y="4364038"/>
              <a:ext cx="141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0" name="Rectangle 33"/>
            <p:cNvSpPr/>
            <p:nvPr>
              <p:custDataLst>
                <p:tags r:id="rId34"/>
              </p:custDataLst>
            </p:nvPr>
          </p:nvSpPr>
          <p:spPr bwMode="auto">
            <a:xfrm>
              <a:off x="4108450" y="4570413"/>
              <a:ext cx="141288"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1" name="Rectangle 34"/>
            <p:cNvSpPr/>
            <p:nvPr>
              <p:custDataLst>
                <p:tags r:id="rId35"/>
              </p:custDataLst>
            </p:nvPr>
          </p:nvSpPr>
          <p:spPr bwMode="auto">
            <a:xfrm>
              <a:off x="4559300"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2" name="Rectangle 35"/>
            <p:cNvSpPr/>
            <p:nvPr>
              <p:custDataLst>
                <p:tags r:id="rId36"/>
              </p:custDataLst>
            </p:nvPr>
          </p:nvSpPr>
          <p:spPr bwMode="auto">
            <a:xfrm>
              <a:off x="4767263"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grpSp>
      <p:sp>
        <p:nvSpPr>
          <p:cNvPr id="32" name="Freeform: Shape 42"/>
          <p:cNvSpPr/>
          <p:nvPr>
            <p:custDataLst>
              <p:tags r:id="rId37"/>
            </p:custDataLst>
          </p:nvPr>
        </p:nvSpPr>
        <p:spPr bwMode="auto">
          <a:xfrm flipH="1">
            <a:off x="2238207" y="4019363"/>
            <a:ext cx="401031" cy="352051"/>
          </a:xfrm>
          <a:custGeom>
            <a:avLst/>
            <a:gdLst>
              <a:gd name="T0" fmla="*/ 110 w 111"/>
              <a:gd name="T1" fmla="*/ 13 h 97"/>
              <a:gd name="T2" fmla="*/ 101 w 111"/>
              <a:gd name="T3" fmla="*/ 3 h 97"/>
              <a:gd name="T4" fmla="*/ 96 w 111"/>
              <a:gd name="T5" fmla="*/ 3 h 97"/>
              <a:gd name="T6" fmla="*/ 95 w 111"/>
              <a:gd name="T7" fmla="*/ 5 h 97"/>
              <a:gd name="T8" fmla="*/ 92 w 111"/>
              <a:gd name="T9" fmla="*/ 6 h 97"/>
              <a:gd name="T10" fmla="*/ 92 w 111"/>
              <a:gd name="T11" fmla="*/ 6 h 97"/>
              <a:gd name="T12" fmla="*/ 67 w 111"/>
              <a:gd name="T13" fmla="*/ 32 h 97"/>
              <a:gd name="T14" fmla="*/ 66 w 111"/>
              <a:gd name="T15" fmla="*/ 37 h 97"/>
              <a:gd name="T16" fmla="*/ 68 w 111"/>
              <a:gd name="T17" fmla="*/ 41 h 97"/>
              <a:gd name="T18" fmla="*/ 68 w 111"/>
              <a:gd name="T19" fmla="*/ 41 h 97"/>
              <a:gd name="T20" fmla="*/ 69 w 111"/>
              <a:gd name="T21" fmla="*/ 41 h 97"/>
              <a:gd name="T22" fmla="*/ 63 w 111"/>
              <a:gd name="T23" fmla="*/ 46 h 97"/>
              <a:gd name="T24" fmla="*/ 45 w 111"/>
              <a:gd name="T25" fmla="*/ 28 h 97"/>
              <a:gd name="T26" fmla="*/ 39 w 111"/>
              <a:gd name="T27" fmla="*/ 7 h 97"/>
              <a:gd name="T28" fmla="*/ 18 w 111"/>
              <a:gd name="T29" fmla="*/ 1 h 97"/>
              <a:gd name="T30" fmla="*/ 30 w 111"/>
              <a:gd name="T31" fmla="*/ 14 h 97"/>
              <a:gd name="T32" fmla="*/ 27 w 111"/>
              <a:gd name="T33" fmla="*/ 26 h 97"/>
              <a:gd name="T34" fmla="*/ 15 w 111"/>
              <a:gd name="T35" fmla="*/ 29 h 97"/>
              <a:gd name="T36" fmla="*/ 3 w 111"/>
              <a:gd name="T37" fmla="*/ 17 h 97"/>
              <a:gd name="T38" fmla="*/ 9 w 111"/>
              <a:gd name="T39" fmla="*/ 37 h 97"/>
              <a:gd name="T40" fmla="*/ 31 w 111"/>
              <a:gd name="T41" fmla="*/ 43 h 97"/>
              <a:gd name="T42" fmla="*/ 31 w 111"/>
              <a:gd name="T43" fmla="*/ 43 h 97"/>
              <a:gd name="T44" fmla="*/ 48 w 111"/>
              <a:gd name="T45" fmla="*/ 60 h 97"/>
              <a:gd name="T46" fmla="*/ 32 w 111"/>
              <a:gd name="T47" fmla="*/ 78 h 97"/>
              <a:gd name="T48" fmla="*/ 31 w 111"/>
              <a:gd name="T49" fmla="*/ 77 h 97"/>
              <a:gd name="T50" fmla="*/ 26 w 111"/>
              <a:gd name="T51" fmla="*/ 80 h 97"/>
              <a:gd name="T52" fmla="*/ 18 w 111"/>
              <a:gd name="T53" fmla="*/ 93 h 97"/>
              <a:gd name="T54" fmla="*/ 20 w 111"/>
              <a:gd name="T55" fmla="*/ 95 h 97"/>
              <a:gd name="T56" fmla="*/ 33 w 111"/>
              <a:gd name="T57" fmla="*/ 87 h 97"/>
              <a:gd name="T58" fmla="*/ 37 w 111"/>
              <a:gd name="T59" fmla="*/ 83 h 97"/>
              <a:gd name="T60" fmla="*/ 35 w 111"/>
              <a:gd name="T61" fmla="*/ 82 h 97"/>
              <a:gd name="T62" fmla="*/ 53 w 111"/>
              <a:gd name="T63" fmla="*/ 64 h 97"/>
              <a:gd name="T64" fmla="*/ 82 w 111"/>
              <a:gd name="T65" fmla="*/ 93 h 97"/>
              <a:gd name="T66" fmla="*/ 89 w 111"/>
              <a:gd name="T67" fmla="*/ 97 h 97"/>
              <a:gd name="T68" fmla="*/ 96 w 111"/>
              <a:gd name="T69" fmla="*/ 93 h 97"/>
              <a:gd name="T70" fmla="*/ 96 w 111"/>
              <a:gd name="T71" fmla="*/ 79 h 97"/>
              <a:gd name="T72" fmla="*/ 67 w 111"/>
              <a:gd name="T73" fmla="*/ 50 h 97"/>
              <a:gd name="T74" fmla="*/ 72 w 111"/>
              <a:gd name="T75" fmla="*/ 45 h 97"/>
              <a:gd name="T76" fmla="*/ 75 w 111"/>
              <a:gd name="T77" fmla="*/ 47 h 97"/>
              <a:gd name="T78" fmla="*/ 82 w 111"/>
              <a:gd name="T79" fmla="*/ 46 h 97"/>
              <a:gd name="T80" fmla="*/ 106 w 111"/>
              <a:gd name="T81" fmla="*/ 21 h 97"/>
              <a:gd name="T82" fmla="*/ 106 w 111"/>
              <a:gd name="T83" fmla="*/ 20 h 97"/>
              <a:gd name="T84" fmla="*/ 106 w 111"/>
              <a:gd name="T85" fmla="*/ 20 h 97"/>
              <a:gd name="T86" fmla="*/ 107 w 111"/>
              <a:gd name="T87" fmla="*/ 18 h 97"/>
              <a:gd name="T88" fmla="*/ 110 w 111"/>
              <a:gd name="T89" fmla="*/ 18 h 97"/>
              <a:gd name="T90" fmla="*/ 110 w 111"/>
              <a:gd name="T91" fmla="*/ 13 h 97"/>
              <a:gd name="T92" fmla="*/ 90 w 111"/>
              <a:gd name="T93" fmla="*/ 84 h 97"/>
              <a:gd name="T94" fmla="*/ 94 w 111"/>
              <a:gd name="T95" fmla="*/ 87 h 97"/>
              <a:gd name="T96" fmla="*/ 90 w 111"/>
              <a:gd name="T97" fmla="*/ 92 h 97"/>
              <a:gd name="T98" fmla="*/ 86 w 111"/>
              <a:gd name="T99" fmla="*/ 87 h 97"/>
              <a:gd name="T100" fmla="*/ 90 w 111"/>
              <a:gd name="T101" fmla="*/ 84 h 97"/>
              <a:gd name="T102" fmla="*/ 76 w 111"/>
              <a:gd name="T103" fmla="*/ 32 h 97"/>
              <a:gd name="T104" fmla="*/ 74 w 111"/>
              <a:gd name="T105" fmla="*/ 31 h 97"/>
              <a:gd name="T106" fmla="*/ 93 w 111"/>
              <a:gd name="T107" fmla="*/ 13 h 97"/>
              <a:gd name="T108" fmla="*/ 95 w 111"/>
              <a:gd name="T109" fmla="*/ 14 h 97"/>
              <a:gd name="T110" fmla="*/ 76 w 111"/>
              <a:gd name="T111" fmla="*/ 32 h 97"/>
              <a:gd name="T112" fmla="*/ 76 w 111"/>
              <a:gd name="T113" fmla="*/ 32 h 97"/>
              <a:gd name="T114" fmla="*/ 82 w 111"/>
              <a:gd name="T115" fmla="*/ 39 h 97"/>
              <a:gd name="T116" fmla="*/ 80 w 111"/>
              <a:gd name="T117" fmla="*/ 37 h 97"/>
              <a:gd name="T118" fmla="*/ 99 w 111"/>
              <a:gd name="T119" fmla="*/ 18 h 97"/>
              <a:gd name="T120" fmla="*/ 101 w 111"/>
              <a:gd name="T121" fmla="*/ 20 h 97"/>
              <a:gd name="T122" fmla="*/ 82 w 111"/>
              <a:gd name="T123" fmla="*/ 39 h 97"/>
              <a:gd name="T124" fmla="*/ 82 w 111"/>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1" h="97">
                <a:moveTo>
                  <a:pt x="110" y="13"/>
                </a:moveTo>
                <a:cubicBezTo>
                  <a:pt x="101" y="3"/>
                  <a:pt x="101" y="3"/>
                  <a:pt x="101" y="3"/>
                </a:cubicBezTo>
                <a:cubicBezTo>
                  <a:pt x="99" y="1"/>
                  <a:pt x="97" y="1"/>
                  <a:pt x="96" y="3"/>
                </a:cubicBezTo>
                <a:cubicBezTo>
                  <a:pt x="95" y="4"/>
                  <a:pt x="95" y="4"/>
                  <a:pt x="95" y="5"/>
                </a:cubicBezTo>
                <a:cubicBezTo>
                  <a:pt x="94" y="5"/>
                  <a:pt x="93" y="6"/>
                  <a:pt x="92" y="6"/>
                </a:cubicBezTo>
                <a:cubicBezTo>
                  <a:pt x="92" y="6"/>
                  <a:pt x="92" y="6"/>
                  <a:pt x="92" y="6"/>
                </a:cubicBezTo>
                <a:cubicBezTo>
                  <a:pt x="67" y="32"/>
                  <a:pt x="67" y="32"/>
                  <a:pt x="67" y="32"/>
                </a:cubicBezTo>
                <a:cubicBezTo>
                  <a:pt x="67" y="33"/>
                  <a:pt x="67" y="36"/>
                  <a:pt x="66" y="37"/>
                </a:cubicBezTo>
                <a:cubicBezTo>
                  <a:pt x="68" y="41"/>
                  <a:pt x="68" y="41"/>
                  <a:pt x="68" y="41"/>
                </a:cubicBezTo>
                <a:cubicBezTo>
                  <a:pt x="68" y="41"/>
                  <a:pt x="68" y="41"/>
                  <a:pt x="68" y="41"/>
                </a:cubicBezTo>
                <a:cubicBezTo>
                  <a:pt x="69" y="41"/>
                  <a:pt x="69" y="41"/>
                  <a:pt x="69" y="41"/>
                </a:cubicBezTo>
                <a:cubicBezTo>
                  <a:pt x="63" y="46"/>
                  <a:pt x="63" y="46"/>
                  <a:pt x="63" y="46"/>
                </a:cubicBezTo>
                <a:cubicBezTo>
                  <a:pt x="45" y="28"/>
                  <a:pt x="45" y="28"/>
                  <a:pt x="45" y="28"/>
                </a:cubicBezTo>
                <a:cubicBezTo>
                  <a:pt x="47" y="21"/>
                  <a:pt x="45" y="13"/>
                  <a:pt x="39" y="7"/>
                </a:cubicBezTo>
                <a:cubicBezTo>
                  <a:pt x="34" y="1"/>
                  <a:pt x="25" y="0"/>
                  <a:pt x="18" y="1"/>
                </a:cubicBezTo>
                <a:cubicBezTo>
                  <a:pt x="30" y="14"/>
                  <a:pt x="30" y="14"/>
                  <a:pt x="30" y="14"/>
                </a:cubicBezTo>
                <a:cubicBezTo>
                  <a:pt x="27" y="26"/>
                  <a:pt x="27" y="26"/>
                  <a:pt x="27" y="26"/>
                </a:cubicBezTo>
                <a:cubicBezTo>
                  <a:pt x="15" y="29"/>
                  <a:pt x="15" y="29"/>
                  <a:pt x="15" y="29"/>
                </a:cubicBezTo>
                <a:cubicBezTo>
                  <a:pt x="3" y="17"/>
                  <a:pt x="3" y="17"/>
                  <a:pt x="3" y="17"/>
                </a:cubicBezTo>
                <a:cubicBezTo>
                  <a:pt x="0" y="23"/>
                  <a:pt x="3" y="32"/>
                  <a:pt x="9" y="37"/>
                </a:cubicBezTo>
                <a:cubicBezTo>
                  <a:pt x="14" y="43"/>
                  <a:pt x="23" y="46"/>
                  <a:pt x="31" y="43"/>
                </a:cubicBezTo>
                <a:cubicBezTo>
                  <a:pt x="31" y="43"/>
                  <a:pt x="31" y="43"/>
                  <a:pt x="31" y="43"/>
                </a:cubicBezTo>
                <a:cubicBezTo>
                  <a:pt x="48" y="60"/>
                  <a:pt x="48" y="60"/>
                  <a:pt x="48" y="60"/>
                </a:cubicBezTo>
                <a:cubicBezTo>
                  <a:pt x="32" y="78"/>
                  <a:pt x="32" y="78"/>
                  <a:pt x="32" y="78"/>
                </a:cubicBezTo>
                <a:cubicBezTo>
                  <a:pt x="31" y="77"/>
                  <a:pt x="31" y="77"/>
                  <a:pt x="31" y="77"/>
                </a:cubicBezTo>
                <a:cubicBezTo>
                  <a:pt x="26" y="80"/>
                  <a:pt x="26" y="80"/>
                  <a:pt x="26" y="80"/>
                </a:cubicBezTo>
                <a:cubicBezTo>
                  <a:pt x="18" y="93"/>
                  <a:pt x="18" y="93"/>
                  <a:pt x="18" y="93"/>
                </a:cubicBezTo>
                <a:cubicBezTo>
                  <a:pt x="20" y="95"/>
                  <a:pt x="20" y="95"/>
                  <a:pt x="20" y="95"/>
                </a:cubicBezTo>
                <a:cubicBezTo>
                  <a:pt x="33" y="87"/>
                  <a:pt x="33" y="87"/>
                  <a:pt x="33" y="87"/>
                </a:cubicBezTo>
                <a:cubicBezTo>
                  <a:pt x="37" y="83"/>
                  <a:pt x="37" y="83"/>
                  <a:pt x="37" y="83"/>
                </a:cubicBezTo>
                <a:cubicBezTo>
                  <a:pt x="35" y="82"/>
                  <a:pt x="35" y="82"/>
                  <a:pt x="35" y="82"/>
                </a:cubicBezTo>
                <a:cubicBezTo>
                  <a:pt x="53" y="64"/>
                  <a:pt x="53" y="64"/>
                  <a:pt x="53" y="64"/>
                </a:cubicBezTo>
                <a:cubicBezTo>
                  <a:pt x="82" y="93"/>
                  <a:pt x="82" y="93"/>
                  <a:pt x="82" y="93"/>
                </a:cubicBezTo>
                <a:cubicBezTo>
                  <a:pt x="84" y="96"/>
                  <a:pt x="86" y="97"/>
                  <a:pt x="89" y="97"/>
                </a:cubicBezTo>
                <a:cubicBezTo>
                  <a:pt x="91" y="97"/>
                  <a:pt x="94" y="96"/>
                  <a:pt x="96" y="93"/>
                </a:cubicBezTo>
                <a:cubicBezTo>
                  <a:pt x="101" y="89"/>
                  <a:pt x="101" y="83"/>
                  <a:pt x="96" y="79"/>
                </a:cubicBezTo>
                <a:cubicBezTo>
                  <a:pt x="67" y="50"/>
                  <a:pt x="67" y="50"/>
                  <a:pt x="67" y="50"/>
                </a:cubicBezTo>
                <a:cubicBezTo>
                  <a:pt x="72" y="45"/>
                  <a:pt x="72" y="45"/>
                  <a:pt x="72" y="45"/>
                </a:cubicBezTo>
                <a:cubicBezTo>
                  <a:pt x="75" y="47"/>
                  <a:pt x="75" y="47"/>
                  <a:pt x="75" y="47"/>
                </a:cubicBezTo>
                <a:cubicBezTo>
                  <a:pt x="77" y="46"/>
                  <a:pt x="79" y="46"/>
                  <a:pt x="82" y="46"/>
                </a:cubicBezTo>
                <a:cubicBezTo>
                  <a:pt x="106" y="21"/>
                  <a:pt x="106" y="21"/>
                  <a:pt x="106" y="21"/>
                </a:cubicBezTo>
                <a:cubicBezTo>
                  <a:pt x="106" y="20"/>
                  <a:pt x="106" y="20"/>
                  <a:pt x="106" y="20"/>
                </a:cubicBezTo>
                <a:cubicBezTo>
                  <a:pt x="106" y="20"/>
                  <a:pt x="106" y="20"/>
                  <a:pt x="106" y="20"/>
                </a:cubicBezTo>
                <a:cubicBezTo>
                  <a:pt x="107" y="19"/>
                  <a:pt x="107" y="19"/>
                  <a:pt x="107" y="18"/>
                </a:cubicBezTo>
                <a:cubicBezTo>
                  <a:pt x="109" y="18"/>
                  <a:pt x="110" y="18"/>
                  <a:pt x="110" y="18"/>
                </a:cubicBezTo>
                <a:cubicBezTo>
                  <a:pt x="111" y="16"/>
                  <a:pt x="111" y="14"/>
                  <a:pt x="110" y="13"/>
                </a:cubicBezTo>
                <a:close/>
                <a:moveTo>
                  <a:pt x="90" y="84"/>
                </a:moveTo>
                <a:cubicBezTo>
                  <a:pt x="92" y="84"/>
                  <a:pt x="94" y="86"/>
                  <a:pt x="94" y="87"/>
                </a:cubicBezTo>
                <a:cubicBezTo>
                  <a:pt x="94" y="90"/>
                  <a:pt x="92" y="92"/>
                  <a:pt x="90" y="92"/>
                </a:cubicBezTo>
                <a:cubicBezTo>
                  <a:pt x="87" y="92"/>
                  <a:pt x="86" y="90"/>
                  <a:pt x="86" y="87"/>
                </a:cubicBezTo>
                <a:cubicBezTo>
                  <a:pt x="86" y="86"/>
                  <a:pt x="87" y="84"/>
                  <a:pt x="90" y="84"/>
                </a:cubicBezTo>
                <a:close/>
                <a:moveTo>
                  <a:pt x="76" y="32"/>
                </a:moveTo>
                <a:cubicBezTo>
                  <a:pt x="74" y="31"/>
                  <a:pt x="74" y="31"/>
                  <a:pt x="74" y="31"/>
                </a:cubicBezTo>
                <a:cubicBezTo>
                  <a:pt x="93" y="13"/>
                  <a:pt x="93" y="13"/>
                  <a:pt x="93" y="13"/>
                </a:cubicBezTo>
                <a:cubicBezTo>
                  <a:pt x="95" y="14"/>
                  <a:pt x="95" y="14"/>
                  <a:pt x="95" y="14"/>
                </a:cubicBezTo>
                <a:cubicBezTo>
                  <a:pt x="76" y="32"/>
                  <a:pt x="76" y="32"/>
                  <a:pt x="76" y="32"/>
                </a:cubicBezTo>
                <a:cubicBezTo>
                  <a:pt x="76" y="32"/>
                  <a:pt x="76" y="32"/>
                  <a:pt x="76" y="32"/>
                </a:cubicBezTo>
                <a:close/>
                <a:moveTo>
                  <a:pt x="82" y="39"/>
                </a:moveTo>
                <a:cubicBezTo>
                  <a:pt x="80" y="37"/>
                  <a:pt x="80" y="37"/>
                  <a:pt x="80" y="37"/>
                </a:cubicBezTo>
                <a:cubicBezTo>
                  <a:pt x="99" y="18"/>
                  <a:pt x="99" y="18"/>
                  <a:pt x="99" y="18"/>
                </a:cubicBezTo>
                <a:cubicBezTo>
                  <a:pt x="101" y="20"/>
                  <a:pt x="101" y="20"/>
                  <a:pt x="101" y="20"/>
                </a:cubicBezTo>
                <a:cubicBezTo>
                  <a:pt x="82" y="39"/>
                  <a:pt x="82" y="39"/>
                  <a:pt x="82" y="39"/>
                </a:cubicBezTo>
                <a:cubicBezTo>
                  <a:pt x="82" y="39"/>
                  <a:pt x="82" y="39"/>
                  <a:pt x="82" y="39"/>
                </a:cubicBezTo>
                <a:close/>
              </a:path>
            </a:pathLst>
          </a:custGeom>
          <a:solidFill>
            <a:schemeClr val="bg1"/>
          </a:solidFill>
          <a:ln>
            <a:noFill/>
          </a:ln>
        </p:spPr>
        <p:txBody>
          <a:bodyPr anchor="ctr"/>
          <a:lstStyle/>
          <a:p>
            <a:pPr algn="ctr" defTabSz="914400"/>
            <a:endParaRPr sz="1865">
              <a:solidFill>
                <a:prstClr val="white">
                  <a:lumMod val="50000"/>
                </a:prstClr>
              </a:solidFill>
              <a:cs typeface="+mn-ea"/>
              <a:sym typeface="+mn-lt"/>
            </a:endParaRPr>
          </a:p>
        </p:txBody>
      </p:sp>
      <p:sp>
        <p:nvSpPr>
          <p:cNvPr id="34" name="Rectangle 50"/>
          <p:cNvSpPr/>
          <p:nvPr>
            <p:custDataLst>
              <p:tags r:id="rId38"/>
            </p:custDataLst>
          </p:nvPr>
        </p:nvSpPr>
        <p:spPr>
          <a:xfrm>
            <a:off x="1422400" y="4909483"/>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选取国内企业在过去十年中实施的成功和失败跨国并购案例，进行深度访谈和档案分析</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TextBox 51"/>
          <p:cNvSpPr txBox="1"/>
          <p:nvPr>
            <p:custDataLst>
              <p:tags r:id="rId39"/>
            </p:custDataLst>
          </p:nvPr>
        </p:nvSpPr>
        <p:spPr>
          <a:xfrm>
            <a:off x="1733336" y="4532935"/>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多案例研究法</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2" name="文本框 11"/>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企业跨国并购后的文化整合模式对绩效影响的实证研究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40"/>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1"/>
          <p:cNvSpPr/>
          <p:nvPr/>
        </p:nvSpPr>
        <p:spPr bwMode="auto">
          <a:xfrm>
            <a:off x="1219616" y="1877669"/>
            <a:ext cx="4407776" cy="3818883"/>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1"/>
          </a:solidFill>
          <a:ln w="38100">
            <a:solidFill>
              <a:schemeClr val="bg1"/>
            </a:solidFill>
          </a:ln>
          <a:effectLst/>
        </p:spPr>
        <p:txBody>
          <a:bodyPr anchor="ctr"/>
          <a:lstStyle/>
          <a:p>
            <a:pPr algn="ctr"/>
            <a:endParaRPr sz="1355">
              <a:cs typeface="+mn-ea"/>
              <a:sym typeface="+mn-lt"/>
            </a:endParaRPr>
          </a:p>
        </p:txBody>
      </p:sp>
      <p:sp>
        <p:nvSpPr>
          <p:cNvPr id="8" name="文本框 5"/>
          <p:cNvSpPr txBox="1"/>
          <p:nvPr/>
        </p:nvSpPr>
        <p:spPr>
          <a:xfrm>
            <a:off x="4234344" y="4048937"/>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04</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grpSp>
        <p:nvGrpSpPr>
          <p:cNvPr id="9" name="组合 8"/>
          <p:cNvGrpSpPr/>
          <p:nvPr/>
        </p:nvGrpSpPr>
        <p:grpSpPr>
          <a:xfrm>
            <a:off x="6292912" y="1890636"/>
            <a:ext cx="4730689" cy="1092400"/>
            <a:chOff x="7483989" y="3395135"/>
            <a:chExt cx="4730689" cy="1092398"/>
          </a:xfrm>
        </p:grpSpPr>
        <p:sp>
          <p:nvSpPr>
            <p:cNvPr id="10" name="矩形 9"/>
            <p:cNvSpPr/>
            <p:nvPr/>
          </p:nvSpPr>
          <p:spPr>
            <a:xfrm>
              <a:off x="7483989" y="3732519"/>
              <a:ext cx="4730689" cy="755014"/>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本选题旨在分析消费者对品牌社会责任（</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）活动的感知，如何通过品牌信任、品牌认同等心理变量，最终影响其购买意愿和品牌忠诚度</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1" name="矩形 10"/>
            <p:cNvSpPr/>
            <p:nvPr/>
          </p:nvSpPr>
          <p:spPr>
            <a:xfrm>
              <a:off x="7483989" y="3395135"/>
              <a:ext cx="2050552" cy="386079"/>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13" name="组合 12"/>
          <p:cNvGrpSpPr/>
          <p:nvPr>
            <p:custDataLst>
              <p:tags r:id="rId1"/>
            </p:custDataLst>
          </p:nvPr>
        </p:nvGrpSpPr>
        <p:grpSpPr>
          <a:xfrm>
            <a:off x="6329847" y="3207467"/>
            <a:ext cx="494683" cy="494683"/>
            <a:chOff x="7214440" y="2889925"/>
            <a:chExt cx="413117" cy="413117"/>
          </a:xfrm>
        </p:grpSpPr>
        <p:sp>
          <p:nvSpPr>
            <p:cNvPr id="15" name="椭圆 14"/>
            <p:cNvSpPr/>
            <p:nvPr>
              <p:custDataLst>
                <p:tags r:id="rId2"/>
              </p:custDataLst>
            </p:nvPr>
          </p:nvSpPr>
          <p:spPr>
            <a:xfrm>
              <a:off x="7214440" y="2889925"/>
              <a:ext cx="413117" cy="41311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16" name="任意多边形: 形状 19"/>
            <p:cNvSpPr/>
            <p:nvPr>
              <p:custDataLst>
                <p:tags r:id="rId3"/>
              </p:custDataLst>
            </p:nvPr>
          </p:nvSpPr>
          <p:spPr>
            <a:xfrm>
              <a:off x="7300764" y="2976259"/>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chemeClr val="bg2"/>
            </a:solidFill>
            <a:ln w="12700">
              <a:miter lim="400000"/>
            </a:ln>
          </p:spPr>
          <p:txBody>
            <a:bodyPr anchor="ctr"/>
            <a:lstStyle/>
            <a:p>
              <a:pPr algn="ctr"/>
              <a:endParaRPr sz="1355">
                <a:cs typeface="+mn-ea"/>
                <a:sym typeface="+mn-lt"/>
              </a:endParaRPr>
            </a:p>
          </p:txBody>
        </p:sp>
      </p:grpSp>
      <p:sp>
        <p:nvSpPr>
          <p:cNvPr id="14" name="矩形 13"/>
          <p:cNvSpPr/>
          <p:nvPr>
            <p:custDataLst>
              <p:tags r:id="rId4"/>
            </p:custDataLst>
          </p:nvPr>
        </p:nvSpPr>
        <p:spPr>
          <a:xfrm>
            <a:off x="6824529" y="3273671"/>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品牌资产理论：分析</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如何作为品牌联想的一部分，提升品牌的无形价值</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18" name="组合 17"/>
          <p:cNvGrpSpPr/>
          <p:nvPr>
            <p:custDataLst>
              <p:tags r:id="rId5"/>
            </p:custDataLst>
          </p:nvPr>
        </p:nvGrpSpPr>
        <p:grpSpPr>
          <a:xfrm>
            <a:off x="6329847" y="3864285"/>
            <a:ext cx="494683" cy="494683"/>
            <a:chOff x="7214440" y="3667670"/>
            <a:chExt cx="413117" cy="413117"/>
          </a:xfrm>
        </p:grpSpPr>
        <p:sp>
          <p:nvSpPr>
            <p:cNvPr id="20" name="椭圆 19"/>
            <p:cNvSpPr/>
            <p:nvPr>
              <p:custDataLst>
                <p:tags r:id="rId6"/>
              </p:custDataLst>
            </p:nvPr>
          </p:nvSpPr>
          <p:spPr>
            <a:xfrm>
              <a:off x="7214440" y="3667670"/>
              <a:ext cx="413117" cy="4131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21" name="任意多边形: 形状 22"/>
            <p:cNvSpPr/>
            <p:nvPr>
              <p:custDataLst>
                <p:tags r:id="rId7"/>
              </p:custDataLst>
            </p:nvPr>
          </p:nvSpPr>
          <p:spPr>
            <a:xfrm>
              <a:off x="7298468" y="3754004"/>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solidFill>
              <a:schemeClr val="bg2"/>
            </a:solidFill>
            <a:ln w="12700">
              <a:miter lim="400000"/>
            </a:ln>
          </p:spPr>
          <p:txBody>
            <a:bodyPr anchor="ctr"/>
            <a:lstStyle/>
            <a:p>
              <a:pPr algn="ctr"/>
              <a:endParaRPr sz="1355">
                <a:cs typeface="+mn-ea"/>
                <a:sym typeface="+mn-lt"/>
              </a:endParaRPr>
            </a:p>
          </p:txBody>
        </p:sp>
      </p:grpSp>
      <p:sp>
        <p:nvSpPr>
          <p:cNvPr id="19" name="矩形 18"/>
          <p:cNvSpPr/>
          <p:nvPr>
            <p:custDataLst>
              <p:tags r:id="rId8"/>
            </p:custDataLst>
          </p:nvPr>
        </p:nvSpPr>
        <p:spPr>
          <a:xfrm>
            <a:off x="6824529" y="3945460"/>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感知风险理论：探讨</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活动对消费者产品质量感知风险的降低作用</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23" name="组合 22"/>
          <p:cNvGrpSpPr/>
          <p:nvPr>
            <p:custDataLst>
              <p:tags r:id="rId9"/>
            </p:custDataLst>
          </p:nvPr>
        </p:nvGrpSpPr>
        <p:grpSpPr>
          <a:xfrm>
            <a:off x="6329847" y="4521093"/>
            <a:ext cx="494683" cy="494683"/>
            <a:chOff x="7214440" y="4445415"/>
            <a:chExt cx="413117" cy="413117"/>
          </a:xfrm>
        </p:grpSpPr>
        <p:sp>
          <p:nvSpPr>
            <p:cNvPr id="25" name="椭圆 24"/>
            <p:cNvSpPr/>
            <p:nvPr>
              <p:custDataLst>
                <p:tags r:id="rId10"/>
              </p:custDataLst>
            </p:nvPr>
          </p:nvSpPr>
          <p:spPr>
            <a:xfrm>
              <a:off x="7214440" y="4445415"/>
              <a:ext cx="413117" cy="41311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26" name="任意多边形: 形状 21"/>
            <p:cNvSpPr/>
            <p:nvPr>
              <p:custDataLst>
                <p:tags r:id="rId11"/>
              </p:custDataLst>
            </p:nvPr>
          </p:nvSpPr>
          <p:spPr>
            <a:xfrm>
              <a:off x="7298468" y="4542637"/>
              <a:ext cx="240468" cy="218673"/>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355">
                <a:cs typeface="+mn-ea"/>
                <a:sym typeface="+mn-lt"/>
              </a:endParaRPr>
            </a:p>
          </p:txBody>
        </p:sp>
      </p:grpSp>
      <p:sp>
        <p:nvSpPr>
          <p:cNvPr id="24" name="矩形 23"/>
          <p:cNvSpPr/>
          <p:nvPr>
            <p:custDataLst>
              <p:tags r:id="rId12"/>
            </p:custDataLst>
          </p:nvPr>
        </p:nvSpPr>
        <p:spPr>
          <a:xfrm>
            <a:off x="6824529" y="4602268"/>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实验法：设计不同</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情景（高</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低卷入度），招募被试进行心理测量和购买决策模拟</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28" name="组合 27"/>
          <p:cNvGrpSpPr/>
          <p:nvPr>
            <p:custDataLst>
              <p:tags r:id="rId13"/>
            </p:custDataLst>
          </p:nvPr>
        </p:nvGrpSpPr>
        <p:grpSpPr>
          <a:xfrm>
            <a:off x="6329847" y="5177899"/>
            <a:ext cx="494683" cy="494683"/>
            <a:chOff x="7214440" y="5223159"/>
            <a:chExt cx="413117" cy="413117"/>
          </a:xfrm>
        </p:grpSpPr>
        <p:sp>
          <p:nvSpPr>
            <p:cNvPr id="30" name="椭圆 29"/>
            <p:cNvSpPr/>
            <p:nvPr>
              <p:custDataLst>
                <p:tags r:id="rId14"/>
              </p:custDataLst>
            </p:nvPr>
          </p:nvSpPr>
          <p:spPr>
            <a:xfrm>
              <a:off x="7214440" y="5223159"/>
              <a:ext cx="413117" cy="4131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31" name="任意多边形: 形状 20"/>
            <p:cNvSpPr/>
            <p:nvPr>
              <p:custDataLst>
                <p:tags r:id="rId15"/>
              </p:custDataLst>
            </p:nvPr>
          </p:nvSpPr>
          <p:spPr>
            <a:xfrm>
              <a:off x="7303101" y="5309493"/>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355">
                <a:cs typeface="+mn-ea"/>
                <a:sym typeface="+mn-lt"/>
              </a:endParaRPr>
            </a:p>
          </p:txBody>
        </p:sp>
      </p:grpSp>
      <p:sp>
        <p:nvSpPr>
          <p:cNvPr id="29" name="矩形 28"/>
          <p:cNvSpPr/>
          <p:nvPr>
            <p:custDataLst>
              <p:tags r:id="rId16"/>
            </p:custDataLst>
          </p:nvPr>
        </p:nvSpPr>
        <p:spPr>
          <a:xfrm>
            <a:off x="6824529" y="5274441"/>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问卷调查法：采用结构方程模型（</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SEM</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），验证</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感知</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en-US"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品牌信任</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en-US"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购买意愿</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的假设路径</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任意多边形: 形状 2"/>
          <p:cNvSpPr/>
          <p:nvPr/>
        </p:nvSpPr>
        <p:spPr bwMode="auto">
          <a:xfrm>
            <a:off x="1211107" y="2343921"/>
            <a:ext cx="3869628" cy="3352633"/>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2"/>
          </a:solidFill>
          <a:ln w="38100">
            <a:solidFill>
              <a:schemeClr val="bg1"/>
            </a:solidFill>
          </a:ln>
          <a:effectLst/>
        </p:spPr>
        <p:txBody>
          <a:bodyPr anchor="ctr"/>
          <a:lstStyle/>
          <a:p>
            <a:pPr algn="ctr"/>
            <a:endParaRPr sz="1355">
              <a:cs typeface="+mn-ea"/>
              <a:sym typeface="+mn-lt"/>
            </a:endParaRPr>
          </a:p>
        </p:txBody>
      </p:sp>
      <p:sp>
        <p:nvSpPr>
          <p:cNvPr id="33" name="文本框 6"/>
          <p:cNvSpPr txBox="1"/>
          <p:nvPr/>
        </p:nvSpPr>
        <p:spPr>
          <a:xfrm>
            <a:off x="3487005" y="3666911"/>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03</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sp>
        <p:nvSpPr>
          <p:cNvPr id="34" name="任意多边形: 形状 3"/>
          <p:cNvSpPr/>
          <p:nvPr/>
        </p:nvSpPr>
        <p:spPr bwMode="auto">
          <a:xfrm>
            <a:off x="1202599" y="2820436"/>
            <a:ext cx="3319631" cy="2876117"/>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3"/>
          </a:solidFill>
          <a:ln w="38100">
            <a:solidFill>
              <a:schemeClr val="bg1"/>
            </a:solidFill>
          </a:ln>
          <a:effectLst/>
        </p:spPr>
        <p:txBody>
          <a:bodyPr anchor="ctr"/>
          <a:lstStyle/>
          <a:p>
            <a:pPr algn="ctr"/>
            <a:endParaRPr sz="1355">
              <a:cs typeface="+mn-ea"/>
              <a:sym typeface="+mn-lt"/>
            </a:endParaRPr>
          </a:p>
        </p:txBody>
      </p:sp>
      <p:sp>
        <p:nvSpPr>
          <p:cNvPr id="35" name="文本框 7"/>
          <p:cNvSpPr txBox="1"/>
          <p:nvPr/>
        </p:nvSpPr>
        <p:spPr>
          <a:xfrm>
            <a:off x="3424177" y="4578641"/>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02</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sp>
        <p:nvSpPr>
          <p:cNvPr id="36" name="任意多边形: 形状 4"/>
          <p:cNvSpPr/>
          <p:nvPr/>
        </p:nvSpPr>
        <p:spPr bwMode="auto">
          <a:xfrm>
            <a:off x="1194089" y="3305461"/>
            <a:ext cx="2759811" cy="2391091"/>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4"/>
          </a:solidFill>
          <a:ln w="38100">
            <a:solidFill>
              <a:schemeClr val="bg1"/>
            </a:solidFill>
          </a:ln>
          <a:effectLst/>
        </p:spPr>
        <p:txBody>
          <a:bodyPr anchor="ctr"/>
          <a:lstStyle/>
          <a:p>
            <a:pPr algn="ctr"/>
            <a:endParaRPr sz="1355">
              <a:cs typeface="+mn-ea"/>
              <a:sym typeface="+mn-lt"/>
            </a:endParaRPr>
          </a:p>
        </p:txBody>
      </p:sp>
      <p:sp>
        <p:nvSpPr>
          <p:cNvPr id="37" name="文本框 8"/>
          <p:cNvSpPr txBox="1"/>
          <p:nvPr/>
        </p:nvSpPr>
        <p:spPr>
          <a:xfrm>
            <a:off x="2403721" y="4480515"/>
            <a:ext cx="861567" cy="535252"/>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01</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5" name="矩形 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6" name="文本框 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rPr>
              <a:t>消费者对品牌社会责任感知对购买意愿影响的心理机制研究</a:t>
            </a:r>
            <a:endPar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1171865" y="2990535"/>
            <a:ext cx="10515600" cy="1811337"/>
            <a:chOff x="838200" y="2990533"/>
            <a:chExt cx="10515600" cy="1811337"/>
          </a:xfrm>
        </p:grpSpPr>
        <p:sp>
          <p:nvSpPr>
            <p:cNvPr id="8" name="Freeform 5"/>
            <p:cNvSpPr/>
            <p:nvPr>
              <p:custDataLst>
                <p:tags r:id="rId2"/>
              </p:custDataLst>
            </p:nvPr>
          </p:nvSpPr>
          <p:spPr bwMode="auto">
            <a:xfrm>
              <a:off x="2656343"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80 w 697"/>
                <a:gd name="T15" fmla="*/ 696 h 696"/>
                <a:gd name="T16" fmla="*/ 580 w 697"/>
                <a:gd name="T17" fmla="*/ 438 h 696"/>
                <a:gd name="T18" fmla="*/ 604 w 697"/>
                <a:gd name="T19" fmla="*/ 441 h 696"/>
                <a:gd name="T20" fmla="*/ 697 w 697"/>
                <a:gd name="T21" fmla="*/ 348 h 696"/>
                <a:gd name="T22" fmla="*/ 604 w 697"/>
                <a:gd name="T23" fmla="*/ 255 h 696"/>
                <a:gd name="T24" fmla="*/ 580 w 697"/>
                <a:gd name="T25" fmla="*/ 258 h 696"/>
                <a:gd name="T26" fmla="*/ 580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80" y="696"/>
                    <a:pt x="580" y="696"/>
                    <a:pt x="580" y="696"/>
                  </a:cubicBezTo>
                  <a:cubicBezTo>
                    <a:pt x="580" y="438"/>
                    <a:pt x="580" y="438"/>
                    <a:pt x="580" y="438"/>
                  </a:cubicBezTo>
                  <a:cubicBezTo>
                    <a:pt x="587" y="440"/>
                    <a:pt x="595" y="441"/>
                    <a:pt x="604" y="441"/>
                  </a:cubicBezTo>
                  <a:cubicBezTo>
                    <a:pt x="655" y="441"/>
                    <a:pt x="697" y="400"/>
                    <a:pt x="697" y="348"/>
                  </a:cubicBezTo>
                  <a:cubicBezTo>
                    <a:pt x="697" y="297"/>
                    <a:pt x="655" y="255"/>
                    <a:pt x="604" y="255"/>
                  </a:cubicBezTo>
                  <a:cubicBezTo>
                    <a:pt x="595" y="255"/>
                    <a:pt x="587" y="256"/>
                    <a:pt x="580" y="258"/>
                  </a:cubicBezTo>
                  <a:cubicBezTo>
                    <a:pt x="580" y="0"/>
                    <a:pt x="580" y="0"/>
                    <a:pt x="580" y="0"/>
                  </a:cubicBezTo>
                  <a:lnTo>
                    <a:pt x="0" y="0"/>
                  </a:lnTo>
                  <a:close/>
                </a:path>
              </a:pathLst>
            </a:custGeom>
            <a:solidFill>
              <a:schemeClr val="accent2"/>
            </a:solidFill>
            <a:ln>
              <a:noFill/>
            </a:ln>
          </p:spPr>
          <p:txBody>
            <a:bodyPr vert="horz" wrap="square" lIns="91440" tIns="45720" rIns="91440" bIns="45720" numCol="1" anchor="t" anchorCtr="0" compatLnSpc="1"/>
            <a:lstStyle/>
            <a:p>
              <a:endParaRPr lang="id-ID" sz="1355">
                <a:cs typeface="+mn-ea"/>
                <a:sym typeface="+mn-lt"/>
              </a:endParaRPr>
            </a:p>
          </p:txBody>
        </p:sp>
        <p:sp>
          <p:nvSpPr>
            <p:cNvPr id="9" name="Freeform 6"/>
            <p:cNvSpPr/>
            <p:nvPr>
              <p:custDataLst>
                <p:tags r:id="rId3"/>
              </p:custDataLst>
            </p:nvPr>
          </p:nvSpPr>
          <p:spPr bwMode="auto">
            <a:xfrm>
              <a:off x="838200"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80 w 697"/>
                <a:gd name="T15" fmla="*/ 696 h 696"/>
                <a:gd name="T16" fmla="*/ 580 w 697"/>
                <a:gd name="T17" fmla="*/ 438 h 696"/>
                <a:gd name="T18" fmla="*/ 604 w 697"/>
                <a:gd name="T19" fmla="*/ 441 h 696"/>
                <a:gd name="T20" fmla="*/ 697 w 697"/>
                <a:gd name="T21" fmla="*/ 348 h 696"/>
                <a:gd name="T22" fmla="*/ 604 w 697"/>
                <a:gd name="T23" fmla="*/ 255 h 696"/>
                <a:gd name="T24" fmla="*/ 580 w 697"/>
                <a:gd name="T25" fmla="*/ 258 h 696"/>
                <a:gd name="T26" fmla="*/ 580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80" y="696"/>
                    <a:pt x="580" y="696"/>
                    <a:pt x="580" y="696"/>
                  </a:cubicBezTo>
                  <a:cubicBezTo>
                    <a:pt x="580" y="438"/>
                    <a:pt x="580" y="438"/>
                    <a:pt x="580" y="438"/>
                  </a:cubicBezTo>
                  <a:cubicBezTo>
                    <a:pt x="587" y="440"/>
                    <a:pt x="595" y="441"/>
                    <a:pt x="604" y="441"/>
                  </a:cubicBezTo>
                  <a:cubicBezTo>
                    <a:pt x="655" y="441"/>
                    <a:pt x="697" y="400"/>
                    <a:pt x="697" y="348"/>
                  </a:cubicBezTo>
                  <a:cubicBezTo>
                    <a:pt x="697" y="297"/>
                    <a:pt x="655" y="255"/>
                    <a:pt x="604" y="255"/>
                  </a:cubicBezTo>
                  <a:cubicBezTo>
                    <a:pt x="595" y="255"/>
                    <a:pt x="587" y="256"/>
                    <a:pt x="580" y="258"/>
                  </a:cubicBezTo>
                  <a:cubicBezTo>
                    <a:pt x="580" y="0"/>
                    <a:pt x="580" y="0"/>
                    <a:pt x="580" y="0"/>
                  </a:cubicBezTo>
                  <a:lnTo>
                    <a:pt x="0" y="0"/>
                  </a:lnTo>
                  <a:close/>
                </a:path>
              </a:pathLst>
            </a:custGeom>
            <a:solidFill>
              <a:schemeClr val="accent1"/>
            </a:solidFill>
            <a:ln>
              <a:noFill/>
            </a:ln>
          </p:spPr>
          <p:txBody>
            <a:bodyPr vert="horz" wrap="square" lIns="91440" tIns="45720" rIns="91440" bIns="45720" numCol="1" anchor="t" anchorCtr="0" compatLnSpc="1"/>
            <a:lstStyle/>
            <a:p>
              <a:endParaRPr lang="id-ID" sz="1355">
                <a:cs typeface="+mn-ea"/>
                <a:sym typeface="+mn-lt"/>
              </a:endParaRPr>
            </a:p>
          </p:txBody>
        </p:sp>
        <p:sp>
          <p:nvSpPr>
            <p:cNvPr id="10" name="Freeform 7"/>
            <p:cNvSpPr/>
            <p:nvPr>
              <p:custDataLst>
                <p:tags r:id="rId4"/>
              </p:custDataLst>
            </p:nvPr>
          </p:nvSpPr>
          <p:spPr bwMode="auto">
            <a:xfrm>
              <a:off x="4472658"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3"/>
            </a:solidFill>
            <a:ln>
              <a:noFill/>
            </a:ln>
          </p:spPr>
          <p:txBody>
            <a:bodyPr vert="horz" wrap="square" lIns="91440" tIns="45720" rIns="91440" bIns="45720" numCol="1" anchor="t" anchorCtr="0" compatLnSpc="1"/>
            <a:lstStyle/>
            <a:p>
              <a:endParaRPr lang="id-ID" sz="1355">
                <a:cs typeface="+mn-ea"/>
                <a:sym typeface="+mn-lt"/>
              </a:endParaRPr>
            </a:p>
          </p:txBody>
        </p:sp>
        <p:sp>
          <p:nvSpPr>
            <p:cNvPr id="11" name="Freeform 8"/>
            <p:cNvSpPr/>
            <p:nvPr>
              <p:custDataLst>
                <p:tags r:id="rId5"/>
              </p:custDataLst>
            </p:nvPr>
          </p:nvSpPr>
          <p:spPr bwMode="auto">
            <a:xfrm>
              <a:off x="6290801"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4"/>
            </a:solidFill>
            <a:ln>
              <a:noFill/>
            </a:ln>
          </p:spPr>
          <p:txBody>
            <a:bodyPr vert="horz" wrap="square" lIns="91440" tIns="45720" rIns="91440" bIns="45720" numCol="1" anchor="t" anchorCtr="0" compatLnSpc="1"/>
            <a:lstStyle/>
            <a:p>
              <a:endParaRPr lang="id-ID" sz="1355">
                <a:cs typeface="+mn-ea"/>
                <a:sym typeface="+mn-lt"/>
              </a:endParaRPr>
            </a:p>
          </p:txBody>
        </p:sp>
        <p:sp>
          <p:nvSpPr>
            <p:cNvPr id="12" name="Freeform 9"/>
            <p:cNvSpPr/>
            <p:nvPr>
              <p:custDataLst>
                <p:tags r:id="rId6"/>
              </p:custDataLst>
            </p:nvPr>
          </p:nvSpPr>
          <p:spPr bwMode="auto">
            <a:xfrm>
              <a:off x="8108945"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5"/>
            </a:solidFill>
            <a:ln>
              <a:noFill/>
            </a:ln>
          </p:spPr>
          <p:txBody>
            <a:bodyPr vert="horz" wrap="square" lIns="91440" tIns="45720" rIns="91440" bIns="45720" numCol="1" anchor="t" anchorCtr="0" compatLnSpc="1"/>
            <a:lstStyle/>
            <a:p>
              <a:endParaRPr lang="id-ID" sz="1355">
                <a:cs typeface="+mn-ea"/>
                <a:sym typeface="+mn-lt"/>
              </a:endParaRPr>
            </a:p>
          </p:txBody>
        </p:sp>
        <p:grpSp>
          <p:nvGrpSpPr>
            <p:cNvPr id="13" name="Group 2"/>
            <p:cNvGrpSpPr/>
            <p:nvPr/>
          </p:nvGrpSpPr>
          <p:grpSpPr>
            <a:xfrm>
              <a:off x="9914284" y="2990533"/>
              <a:ext cx="1439516" cy="1811337"/>
              <a:chOff x="9914284" y="2990533"/>
              <a:chExt cx="1439516" cy="1811337"/>
            </a:xfrm>
          </p:grpSpPr>
          <p:sp>
            <p:nvSpPr>
              <p:cNvPr id="24" name="Freeform 10"/>
              <p:cNvSpPr/>
              <p:nvPr/>
            </p:nvSpPr>
            <p:spPr bwMode="auto">
              <a:xfrm>
                <a:off x="9914284" y="2990533"/>
                <a:ext cx="1439516" cy="1811337"/>
              </a:xfrm>
              <a:custGeom>
                <a:avLst/>
                <a:gdLst>
                  <a:gd name="T0" fmla="*/ 0 w 482"/>
                  <a:gd name="T1" fmla="*/ 0 h 696"/>
                  <a:gd name="T2" fmla="*/ 0 w 482"/>
                  <a:gd name="T3" fmla="*/ 223 h 696"/>
                  <a:gd name="T4" fmla="*/ 0 w 482"/>
                  <a:gd name="T5" fmla="*/ 223 h 696"/>
                  <a:gd name="T6" fmla="*/ 125 w 482"/>
                  <a:gd name="T7" fmla="*/ 348 h 696"/>
                  <a:gd name="T8" fmla="*/ 0 w 482"/>
                  <a:gd name="T9" fmla="*/ 473 h 696"/>
                  <a:gd name="T10" fmla="*/ 0 w 482"/>
                  <a:gd name="T11" fmla="*/ 473 h 696"/>
                  <a:gd name="T12" fmla="*/ 0 w 482"/>
                  <a:gd name="T13" fmla="*/ 696 h 696"/>
                  <a:gd name="T14" fmla="*/ 388 w 482"/>
                  <a:gd name="T15" fmla="*/ 441 h 696"/>
                  <a:gd name="T16" fmla="*/ 482 w 482"/>
                  <a:gd name="T17" fmla="*/ 348 h 696"/>
                  <a:gd name="T18" fmla="*/ 388 w 482"/>
                  <a:gd name="T19" fmla="*/ 255 h 696"/>
                  <a:gd name="T20" fmla="*/ 0 w 482"/>
                  <a:gd name="T21"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2"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0" y="696"/>
                      <a:pt x="380" y="441"/>
                      <a:pt x="388" y="441"/>
                    </a:cubicBezTo>
                    <a:cubicBezTo>
                      <a:pt x="440" y="441"/>
                      <a:pt x="482" y="400"/>
                      <a:pt x="482" y="348"/>
                    </a:cubicBezTo>
                    <a:cubicBezTo>
                      <a:pt x="482" y="297"/>
                      <a:pt x="440" y="255"/>
                      <a:pt x="388" y="255"/>
                    </a:cubicBezTo>
                    <a:cubicBezTo>
                      <a:pt x="380" y="255"/>
                      <a:pt x="0" y="0"/>
                      <a:pt x="0" y="0"/>
                    </a:cubicBezTo>
                    <a:close/>
                  </a:path>
                </a:pathLst>
              </a:custGeom>
              <a:solidFill>
                <a:srgbClr val="FDDCB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355">
                  <a:cs typeface="+mn-ea"/>
                  <a:sym typeface="+mn-lt"/>
                </a:endParaRPr>
              </a:p>
            </p:txBody>
          </p:sp>
          <p:sp>
            <p:nvSpPr>
              <p:cNvPr id="25" name="Freeform 11"/>
              <p:cNvSpPr/>
              <p:nvPr/>
            </p:nvSpPr>
            <p:spPr bwMode="auto">
              <a:xfrm>
                <a:off x="10971514" y="3654108"/>
                <a:ext cx="382286" cy="484187"/>
              </a:xfrm>
              <a:custGeom>
                <a:avLst/>
                <a:gdLst>
                  <a:gd name="T0" fmla="*/ 34 w 128"/>
                  <a:gd name="T1" fmla="*/ 186 h 186"/>
                  <a:gd name="T2" fmla="*/ 128 w 128"/>
                  <a:gd name="T3" fmla="*/ 93 h 186"/>
                  <a:gd name="T4" fmla="*/ 34 w 128"/>
                  <a:gd name="T5" fmla="*/ 0 h 186"/>
                  <a:gd name="T6" fmla="*/ 0 w 128"/>
                  <a:gd name="T7" fmla="*/ 93 h 186"/>
                  <a:gd name="T8" fmla="*/ 34 w 128"/>
                  <a:gd name="T9" fmla="*/ 186 h 186"/>
                </a:gdLst>
                <a:ahLst/>
                <a:cxnLst>
                  <a:cxn ang="0">
                    <a:pos x="T0" y="T1"/>
                  </a:cxn>
                  <a:cxn ang="0">
                    <a:pos x="T2" y="T3"/>
                  </a:cxn>
                  <a:cxn ang="0">
                    <a:pos x="T4" y="T5"/>
                  </a:cxn>
                  <a:cxn ang="0">
                    <a:pos x="T6" y="T7"/>
                  </a:cxn>
                  <a:cxn ang="0">
                    <a:pos x="T8" y="T9"/>
                  </a:cxn>
                </a:cxnLst>
                <a:rect l="0" t="0" r="r" b="b"/>
                <a:pathLst>
                  <a:path w="128" h="186">
                    <a:moveTo>
                      <a:pt x="34" y="186"/>
                    </a:moveTo>
                    <a:cubicBezTo>
                      <a:pt x="86" y="186"/>
                      <a:pt x="128" y="145"/>
                      <a:pt x="128" y="93"/>
                    </a:cubicBezTo>
                    <a:cubicBezTo>
                      <a:pt x="128" y="42"/>
                      <a:pt x="86" y="0"/>
                      <a:pt x="34" y="0"/>
                    </a:cubicBezTo>
                    <a:cubicBezTo>
                      <a:pt x="30" y="0"/>
                      <a:pt x="0" y="46"/>
                      <a:pt x="0" y="93"/>
                    </a:cubicBezTo>
                    <a:cubicBezTo>
                      <a:pt x="0" y="140"/>
                      <a:pt x="30" y="186"/>
                      <a:pt x="34" y="186"/>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355">
                  <a:cs typeface="+mn-ea"/>
                  <a:sym typeface="+mn-lt"/>
                </a:endParaRPr>
              </a:p>
            </p:txBody>
          </p:sp>
        </p:grpSp>
        <p:sp>
          <p:nvSpPr>
            <p:cNvPr id="14" name="Freeform 22"/>
            <p:cNvSpPr>
              <a:spLocks noEditPoints="1"/>
            </p:cNvSpPr>
            <p:nvPr>
              <p:custDataLst>
                <p:tags r:id="rId7"/>
              </p:custDataLst>
            </p:nvPr>
          </p:nvSpPr>
          <p:spPr bwMode="auto">
            <a:xfrm>
              <a:off x="6933260" y="3607047"/>
              <a:ext cx="548509" cy="459003"/>
            </a:xfrm>
            <a:custGeom>
              <a:avLst/>
              <a:gdLst>
                <a:gd name="T0" fmla="*/ 138 w 202"/>
                <a:gd name="T1" fmla="*/ 143 h 169"/>
                <a:gd name="T2" fmla="*/ 142 w 202"/>
                <a:gd name="T3" fmla="*/ 154 h 169"/>
                <a:gd name="T4" fmla="*/ 126 w 202"/>
                <a:gd name="T5" fmla="*/ 154 h 169"/>
                <a:gd name="T6" fmla="*/ 97 w 202"/>
                <a:gd name="T7" fmla="*/ 149 h 169"/>
                <a:gd name="T8" fmla="*/ 86 w 202"/>
                <a:gd name="T9" fmla="*/ 151 h 169"/>
                <a:gd name="T10" fmla="*/ 71 w 202"/>
                <a:gd name="T11" fmla="*/ 147 h 169"/>
                <a:gd name="T12" fmla="*/ 60 w 202"/>
                <a:gd name="T13" fmla="*/ 147 h 169"/>
                <a:gd name="T14" fmla="*/ 60 w 202"/>
                <a:gd name="T15" fmla="*/ 73 h 169"/>
                <a:gd name="T16" fmla="*/ 80 w 202"/>
                <a:gd name="T17" fmla="*/ 70 h 169"/>
                <a:gd name="T18" fmla="*/ 101 w 202"/>
                <a:gd name="T19" fmla="*/ 48 h 169"/>
                <a:gd name="T20" fmla="*/ 122 w 202"/>
                <a:gd name="T21" fmla="*/ 21 h 169"/>
                <a:gd name="T22" fmla="*/ 133 w 202"/>
                <a:gd name="T23" fmla="*/ 4 h 169"/>
                <a:gd name="T24" fmla="*/ 144 w 202"/>
                <a:gd name="T25" fmla="*/ 29 h 169"/>
                <a:gd name="T26" fmla="*/ 132 w 202"/>
                <a:gd name="T27" fmla="*/ 67 h 169"/>
                <a:gd name="T28" fmla="*/ 131 w 202"/>
                <a:gd name="T29" fmla="*/ 92 h 169"/>
                <a:gd name="T30" fmla="*/ 123 w 202"/>
                <a:gd name="T31" fmla="*/ 113 h 169"/>
                <a:gd name="T32" fmla="*/ 135 w 202"/>
                <a:gd name="T33" fmla="*/ 98 h 169"/>
                <a:gd name="T34" fmla="*/ 141 w 202"/>
                <a:gd name="T35" fmla="*/ 71 h 169"/>
                <a:gd name="T36" fmla="*/ 145 w 202"/>
                <a:gd name="T37" fmla="*/ 67 h 169"/>
                <a:gd name="T38" fmla="*/ 142 w 202"/>
                <a:gd name="T39" fmla="*/ 77 h 169"/>
                <a:gd name="T40" fmla="*/ 148 w 202"/>
                <a:gd name="T41" fmla="*/ 90 h 169"/>
                <a:gd name="T42" fmla="*/ 146 w 202"/>
                <a:gd name="T43" fmla="*/ 99 h 169"/>
                <a:gd name="T44" fmla="*/ 148 w 202"/>
                <a:gd name="T45" fmla="*/ 108 h 169"/>
                <a:gd name="T46" fmla="*/ 142 w 202"/>
                <a:gd name="T47" fmla="*/ 121 h 169"/>
                <a:gd name="T48" fmla="*/ 144 w 202"/>
                <a:gd name="T49" fmla="*/ 129 h 169"/>
                <a:gd name="T50" fmla="*/ 138 w 202"/>
                <a:gd name="T51" fmla="*/ 143 h 169"/>
                <a:gd name="T52" fmla="*/ 202 w 202"/>
                <a:gd name="T53" fmla="*/ 99 h 169"/>
                <a:gd name="T54" fmla="*/ 190 w 202"/>
                <a:gd name="T55" fmla="*/ 88 h 169"/>
                <a:gd name="T56" fmla="*/ 185 w 202"/>
                <a:gd name="T57" fmla="*/ 88 h 169"/>
                <a:gd name="T58" fmla="*/ 194 w 202"/>
                <a:gd name="T59" fmla="*/ 77 h 169"/>
                <a:gd name="T60" fmla="*/ 182 w 202"/>
                <a:gd name="T61" fmla="*/ 66 h 169"/>
                <a:gd name="T62" fmla="*/ 159 w 202"/>
                <a:gd name="T63" fmla="*/ 66 h 169"/>
                <a:gd name="T64" fmla="*/ 148 w 202"/>
                <a:gd name="T65" fmla="*/ 77 h 169"/>
                <a:gd name="T66" fmla="*/ 160 w 202"/>
                <a:gd name="T67" fmla="*/ 88 h 169"/>
                <a:gd name="T68" fmla="*/ 161 w 202"/>
                <a:gd name="T69" fmla="*/ 88 h 169"/>
                <a:gd name="T70" fmla="*/ 152 w 202"/>
                <a:gd name="T71" fmla="*/ 99 h 169"/>
                <a:gd name="T72" fmla="*/ 161 w 202"/>
                <a:gd name="T73" fmla="*/ 110 h 169"/>
                <a:gd name="T74" fmla="*/ 160 w 202"/>
                <a:gd name="T75" fmla="*/ 110 h 169"/>
                <a:gd name="T76" fmla="*/ 148 w 202"/>
                <a:gd name="T77" fmla="*/ 121 h 169"/>
                <a:gd name="T78" fmla="*/ 157 w 202"/>
                <a:gd name="T79" fmla="*/ 132 h 169"/>
                <a:gd name="T80" fmla="*/ 156 w 202"/>
                <a:gd name="T81" fmla="*/ 132 h 169"/>
                <a:gd name="T82" fmla="*/ 144 w 202"/>
                <a:gd name="T83" fmla="*/ 143 h 169"/>
                <a:gd name="T84" fmla="*/ 156 w 202"/>
                <a:gd name="T85" fmla="*/ 154 h 169"/>
                <a:gd name="T86" fmla="*/ 167 w 202"/>
                <a:gd name="T87" fmla="*/ 154 h 169"/>
                <a:gd name="T88" fmla="*/ 179 w 202"/>
                <a:gd name="T89" fmla="*/ 154 h 169"/>
                <a:gd name="T90" fmla="*/ 191 w 202"/>
                <a:gd name="T91" fmla="*/ 143 h 169"/>
                <a:gd name="T92" fmla="*/ 181 w 202"/>
                <a:gd name="T93" fmla="*/ 132 h 169"/>
                <a:gd name="T94" fmla="*/ 186 w 202"/>
                <a:gd name="T95" fmla="*/ 132 h 169"/>
                <a:gd name="T96" fmla="*/ 198 w 202"/>
                <a:gd name="T97" fmla="*/ 121 h 169"/>
                <a:gd name="T98" fmla="*/ 189 w 202"/>
                <a:gd name="T99" fmla="*/ 110 h 169"/>
                <a:gd name="T100" fmla="*/ 190 w 202"/>
                <a:gd name="T101" fmla="*/ 110 h 169"/>
                <a:gd name="T102" fmla="*/ 202 w 202"/>
                <a:gd name="T103" fmla="*/ 99 h 169"/>
                <a:gd name="T104" fmla="*/ 0 w 202"/>
                <a:gd name="T105" fmla="*/ 67 h 169"/>
                <a:gd name="T106" fmla="*/ 53 w 202"/>
                <a:gd name="T107" fmla="*/ 67 h 169"/>
                <a:gd name="T108" fmla="*/ 53 w 202"/>
                <a:gd name="T109" fmla="*/ 169 h 169"/>
                <a:gd name="T110" fmla="*/ 0 w 202"/>
                <a:gd name="T111" fmla="*/ 169 h 169"/>
                <a:gd name="T112" fmla="*/ 0 w 202"/>
                <a:gd name="T113" fmla="*/ 67 h 169"/>
                <a:gd name="T114" fmla="*/ 32 w 202"/>
                <a:gd name="T115" fmla="*/ 153 h 169"/>
                <a:gd name="T116" fmla="*/ 38 w 202"/>
                <a:gd name="T117" fmla="*/ 159 h 169"/>
                <a:gd name="T118" fmla="*/ 45 w 202"/>
                <a:gd name="T119" fmla="*/ 153 h 169"/>
                <a:gd name="T120" fmla="*/ 38 w 202"/>
                <a:gd name="T121" fmla="*/ 146 h 169"/>
                <a:gd name="T122" fmla="*/ 32 w 202"/>
                <a:gd name="T123" fmla="*/ 15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2" h="169">
                  <a:moveTo>
                    <a:pt x="138" y="143"/>
                  </a:moveTo>
                  <a:cubicBezTo>
                    <a:pt x="138" y="147"/>
                    <a:pt x="139" y="151"/>
                    <a:pt x="142" y="154"/>
                  </a:cubicBezTo>
                  <a:cubicBezTo>
                    <a:pt x="126" y="154"/>
                    <a:pt x="126" y="154"/>
                    <a:pt x="126" y="154"/>
                  </a:cubicBezTo>
                  <a:cubicBezTo>
                    <a:pt x="119" y="154"/>
                    <a:pt x="102" y="149"/>
                    <a:pt x="97" y="149"/>
                  </a:cubicBezTo>
                  <a:cubicBezTo>
                    <a:pt x="92" y="149"/>
                    <a:pt x="90" y="151"/>
                    <a:pt x="86" y="151"/>
                  </a:cubicBezTo>
                  <a:cubicBezTo>
                    <a:pt x="82" y="151"/>
                    <a:pt x="75" y="147"/>
                    <a:pt x="71" y="147"/>
                  </a:cubicBezTo>
                  <a:cubicBezTo>
                    <a:pt x="60" y="147"/>
                    <a:pt x="60" y="147"/>
                    <a:pt x="60" y="147"/>
                  </a:cubicBezTo>
                  <a:cubicBezTo>
                    <a:pt x="60" y="73"/>
                    <a:pt x="60" y="73"/>
                    <a:pt x="60" y="73"/>
                  </a:cubicBezTo>
                  <a:cubicBezTo>
                    <a:pt x="64" y="74"/>
                    <a:pt x="73" y="75"/>
                    <a:pt x="80" y="70"/>
                  </a:cubicBezTo>
                  <a:cubicBezTo>
                    <a:pt x="89" y="64"/>
                    <a:pt x="97" y="55"/>
                    <a:pt x="101" y="48"/>
                  </a:cubicBezTo>
                  <a:cubicBezTo>
                    <a:pt x="106" y="42"/>
                    <a:pt x="116" y="36"/>
                    <a:pt x="122" y="21"/>
                  </a:cubicBezTo>
                  <a:cubicBezTo>
                    <a:pt x="125" y="15"/>
                    <a:pt x="123" y="0"/>
                    <a:pt x="133" y="4"/>
                  </a:cubicBezTo>
                  <a:cubicBezTo>
                    <a:pt x="144" y="7"/>
                    <a:pt x="144" y="18"/>
                    <a:pt x="144" y="29"/>
                  </a:cubicBezTo>
                  <a:cubicBezTo>
                    <a:pt x="143" y="41"/>
                    <a:pt x="132" y="63"/>
                    <a:pt x="132" y="67"/>
                  </a:cubicBezTo>
                  <a:cubicBezTo>
                    <a:pt x="130" y="77"/>
                    <a:pt x="131" y="83"/>
                    <a:pt x="131" y="92"/>
                  </a:cubicBezTo>
                  <a:cubicBezTo>
                    <a:pt x="130" y="104"/>
                    <a:pt x="123" y="113"/>
                    <a:pt x="123" y="113"/>
                  </a:cubicBezTo>
                  <a:cubicBezTo>
                    <a:pt x="123" y="113"/>
                    <a:pt x="133" y="107"/>
                    <a:pt x="135" y="98"/>
                  </a:cubicBezTo>
                  <a:cubicBezTo>
                    <a:pt x="137" y="89"/>
                    <a:pt x="135" y="80"/>
                    <a:pt x="141" y="71"/>
                  </a:cubicBezTo>
                  <a:cubicBezTo>
                    <a:pt x="142" y="69"/>
                    <a:pt x="143" y="68"/>
                    <a:pt x="145" y="67"/>
                  </a:cubicBezTo>
                  <a:cubicBezTo>
                    <a:pt x="143" y="69"/>
                    <a:pt x="142" y="73"/>
                    <a:pt x="142" y="77"/>
                  </a:cubicBezTo>
                  <a:cubicBezTo>
                    <a:pt x="142" y="82"/>
                    <a:pt x="144" y="87"/>
                    <a:pt x="148" y="90"/>
                  </a:cubicBezTo>
                  <a:cubicBezTo>
                    <a:pt x="147" y="93"/>
                    <a:pt x="146" y="96"/>
                    <a:pt x="146" y="99"/>
                  </a:cubicBezTo>
                  <a:cubicBezTo>
                    <a:pt x="146" y="102"/>
                    <a:pt x="147" y="105"/>
                    <a:pt x="148" y="108"/>
                  </a:cubicBezTo>
                  <a:cubicBezTo>
                    <a:pt x="144" y="111"/>
                    <a:pt x="142" y="115"/>
                    <a:pt x="142" y="121"/>
                  </a:cubicBezTo>
                  <a:cubicBezTo>
                    <a:pt x="142" y="124"/>
                    <a:pt x="143" y="127"/>
                    <a:pt x="144" y="129"/>
                  </a:cubicBezTo>
                  <a:cubicBezTo>
                    <a:pt x="140" y="133"/>
                    <a:pt x="138" y="137"/>
                    <a:pt x="138" y="143"/>
                  </a:cubicBezTo>
                  <a:moveTo>
                    <a:pt x="202" y="99"/>
                  </a:moveTo>
                  <a:cubicBezTo>
                    <a:pt x="202" y="93"/>
                    <a:pt x="197" y="88"/>
                    <a:pt x="190" y="88"/>
                  </a:cubicBezTo>
                  <a:cubicBezTo>
                    <a:pt x="185" y="88"/>
                    <a:pt x="185" y="88"/>
                    <a:pt x="185" y="88"/>
                  </a:cubicBezTo>
                  <a:cubicBezTo>
                    <a:pt x="190" y="87"/>
                    <a:pt x="194" y="82"/>
                    <a:pt x="194" y="77"/>
                  </a:cubicBezTo>
                  <a:cubicBezTo>
                    <a:pt x="194" y="71"/>
                    <a:pt x="189" y="66"/>
                    <a:pt x="182" y="66"/>
                  </a:cubicBezTo>
                  <a:cubicBezTo>
                    <a:pt x="159" y="66"/>
                    <a:pt x="159" y="66"/>
                    <a:pt x="159" y="66"/>
                  </a:cubicBezTo>
                  <a:cubicBezTo>
                    <a:pt x="152" y="66"/>
                    <a:pt x="148" y="71"/>
                    <a:pt x="148" y="77"/>
                  </a:cubicBezTo>
                  <a:cubicBezTo>
                    <a:pt x="148" y="83"/>
                    <a:pt x="153" y="88"/>
                    <a:pt x="160" y="88"/>
                  </a:cubicBezTo>
                  <a:cubicBezTo>
                    <a:pt x="161" y="88"/>
                    <a:pt x="161" y="88"/>
                    <a:pt x="161" y="88"/>
                  </a:cubicBezTo>
                  <a:cubicBezTo>
                    <a:pt x="156" y="89"/>
                    <a:pt x="152" y="94"/>
                    <a:pt x="152" y="99"/>
                  </a:cubicBezTo>
                  <a:cubicBezTo>
                    <a:pt x="152" y="104"/>
                    <a:pt x="156" y="109"/>
                    <a:pt x="161" y="110"/>
                  </a:cubicBezTo>
                  <a:cubicBezTo>
                    <a:pt x="160" y="110"/>
                    <a:pt x="160" y="110"/>
                    <a:pt x="160" y="110"/>
                  </a:cubicBezTo>
                  <a:cubicBezTo>
                    <a:pt x="153" y="110"/>
                    <a:pt x="148" y="115"/>
                    <a:pt x="148" y="121"/>
                  </a:cubicBezTo>
                  <a:cubicBezTo>
                    <a:pt x="148" y="126"/>
                    <a:pt x="152" y="130"/>
                    <a:pt x="157" y="132"/>
                  </a:cubicBezTo>
                  <a:cubicBezTo>
                    <a:pt x="156" y="132"/>
                    <a:pt x="156" y="132"/>
                    <a:pt x="156" y="132"/>
                  </a:cubicBezTo>
                  <a:cubicBezTo>
                    <a:pt x="149" y="132"/>
                    <a:pt x="144" y="137"/>
                    <a:pt x="144" y="143"/>
                  </a:cubicBezTo>
                  <a:cubicBezTo>
                    <a:pt x="144" y="149"/>
                    <a:pt x="149" y="154"/>
                    <a:pt x="156" y="154"/>
                  </a:cubicBezTo>
                  <a:cubicBezTo>
                    <a:pt x="167" y="154"/>
                    <a:pt x="167" y="154"/>
                    <a:pt x="167" y="154"/>
                  </a:cubicBezTo>
                  <a:cubicBezTo>
                    <a:pt x="179" y="154"/>
                    <a:pt x="179" y="154"/>
                    <a:pt x="179" y="154"/>
                  </a:cubicBezTo>
                  <a:cubicBezTo>
                    <a:pt x="185" y="154"/>
                    <a:pt x="191" y="149"/>
                    <a:pt x="191" y="143"/>
                  </a:cubicBezTo>
                  <a:cubicBezTo>
                    <a:pt x="191" y="137"/>
                    <a:pt x="187" y="133"/>
                    <a:pt x="181" y="132"/>
                  </a:cubicBezTo>
                  <a:cubicBezTo>
                    <a:pt x="186" y="132"/>
                    <a:pt x="186" y="132"/>
                    <a:pt x="186" y="132"/>
                  </a:cubicBezTo>
                  <a:cubicBezTo>
                    <a:pt x="193" y="132"/>
                    <a:pt x="198" y="127"/>
                    <a:pt x="198" y="121"/>
                  </a:cubicBezTo>
                  <a:cubicBezTo>
                    <a:pt x="198" y="115"/>
                    <a:pt x="194" y="111"/>
                    <a:pt x="189" y="110"/>
                  </a:cubicBezTo>
                  <a:cubicBezTo>
                    <a:pt x="190" y="110"/>
                    <a:pt x="190" y="110"/>
                    <a:pt x="190" y="110"/>
                  </a:cubicBezTo>
                  <a:cubicBezTo>
                    <a:pt x="197" y="110"/>
                    <a:pt x="202" y="105"/>
                    <a:pt x="202" y="99"/>
                  </a:cubicBezTo>
                  <a:moveTo>
                    <a:pt x="0" y="67"/>
                  </a:moveTo>
                  <a:cubicBezTo>
                    <a:pt x="53" y="67"/>
                    <a:pt x="53" y="67"/>
                    <a:pt x="53" y="67"/>
                  </a:cubicBezTo>
                  <a:cubicBezTo>
                    <a:pt x="53" y="169"/>
                    <a:pt x="53" y="169"/>
                    <a:pt x="53" y="169"/>
                  </a:cubicBezTo>
                  <a:cubicBezTo>
                    <a:pt x="0" y="169"/>
                    <a:pt x="0" y="169"/>
                    <a:pt x="0" y="169"/>
                  </a:cubicBezTo>
                  <a:lnTo>
                    <a:pt x="0" y="67"/>
                  </a:lnTo>
                  <a:close/>
                  <a:moveTo>
                    <a:pt x="32" y="153"/>
                  </a:moveTo>
                  <a:cubicBezTo>
                    <a:pt x="32" y="156"/>
                    <a:pt x="35" y="159"/>
                    <a:pt x="38" y="159"/>
                  </a:cubicBezTo>
                  <a:cubicBezTo>
                    <a:pt x="42" y="159"/>
                    <a:pt x="45" y="156"/>
                    <a:pt x="45" y="153"/>
                  </a:cubicBezTo>
                  <a:cubicBezTo>
                    <a:pt x="45" y="149"/>
                    <a:pt x="42" y="146"/>
                    <a:pt x="38" y="146"/>
                  </a:cubicBezTo>
                  <a:cubicBezTo>
                    <a:pt x="35" y="146"/>
                    <a:pt x="32" y="149"/>
                    <a:pt x="32" y="153"/>
                  </a:cubicBezTo>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5" name="Freeform 24"/>
            <p:cNvSpPr>
              <a:spLocks noEditPoints="1"/>
            </p:cNvSpPr>
            <p:nvPr>
              <p:custDataLst>
                <p:tags r:id="rId8"/>
              </p:custDataLst>
            </p:nvPr>
          </p:nvSpPr>
          <p:spPr bwMode="auto">
            <a:xfrm>
              <a:off x="3441285" y="3611554"/>
              <a:ext cx="292615" cy="450970"/>
            </a:xfrm>
            <a:custGeom>
              <a:avLst/>
              <a:gdLst>
                <a:gd name="T0" fmla="*/ 108 w 108"/>
                <a:gd name="T1" fmla="*/ 53 h 166"/>
                <a:gd name="T2" fmla="*/ 94 w 108"/>
                <a:gd name="T3" fmla="*/ 90 h 166"/>
                <a:gd name="T4" fmla="*/ 77 w 108"/>
                <a:gd name="T5" fmla="*/ 123 h 166"/>
                <a:gd name="T6" fmla="*/ 32 w 108"/>
                <a:gd name="T7" fmla="*/ 123 h 166"/>
                <a:gd name="T8" fmla="*/ 15 w 108"/>
                <a:gd name="T9" fmla="*/ 90 h 166"/>
                <a:gd name="T10" fmla="*/ 0 w 108"/>
                <a:gd name="T11" fmla="*/ 53 h 166"/>
                <a:gd name="T12" fmla="*/ 54 w 108"/>
                <a:gd name="T13" fmla="*/ 0 h 166"/>
                <a:gd name="T14" fmla="*/ 54 w 108"/>
                <a:gd name="T15" fmla="*/ 0 h 166"/>
                <a:gd name="T16" fmla="*/ 54 w 108"/>
                <a:gd name="T17" fmla="*/ 0 h 166"/>
                <a:gd name="T18" fmla="*/ 108 w 108"/>
                <a:gd name="T19" fmla="*/ 53 h 166"/>
                <a:gd name="T20" fmla="*/ 75 w 108"/>
                <a:gd name="T21" fmla="*/ 127 h 166"/>
                <a:gd name="T22" fmla="*/ 34 w 108"/>
                <a:gd name="T23" fmla="*/ 127 h 166"/>
                <a:gd name="T24" fmla="*/ 30 w 108"/>
                <a:gd name="T25" fmla="*/ 131 h 166"/>
                <a:gd name="T26" fmla="*/ 30 w 108"/>
                <a:gd name="T27" fmla="*/ 132 h 166"/>
                <a:gd name="T28" fmla="*/ 34 w 108"/>
                <a:gd name="T29" fmla="*/ 136 h 166"/>
                <a:gd name="T30" fmla="*/ 75 w 108"/>
                <a:gd name="T31" fmla="*/ 136 h 166"/>
                <a:gd name="T32" fmla="*/ 79 w 108"/>
                <a:gd name="T33" fmla="*/ 132 h 166"/>
                <a:gd name="T34" fmla="*/ 79 w 108"/>
                <a:gd name="T35" fmla="*/ 131 h 166"/>
                <a:gd name="T36" fmla="*/ 75 w 108"/>
                <a:gd name="T37" fmla="*/ 127 h 166"/>
                <a:gd name="T38" fmla="*/ 75 w 108"/>
                <a:gd name="T39" fmla="*/ 139 h 166"/>
                <a:gd name="T40" fmla="*/ 34 w 108"/>
                <a:gd name="T41" fmla="*/ 139 h 166"/>
                <a:gd name="T42" fmla="*/ 30 w 108"/>
                <a:gd name="T43" fmla="*/ 143 h 166"/>
                <a:gd name="T44" fmla="*/ 30 w 108"/>
                <a:gd name="T45" fmla="*/ 143 h 166"/>
                <a:gd name="T46" fmla="*/ 34 w 108"/>
                <a:gd name="T47" fmla="*/ 147 h 166"/>
                <a:gd name="T48" fmla="*/ 75 w 108"/>
                <a:gd name="T49" fmla="*/ 147 h 166"/>
                <a:gd name="T50" fmla="*/ 79 w 108"/>
                <a:gd name="T51" fmla="*/ 143 h 166"/>
                <a:gd name="T52" fmla="*/ 79 w 108"/>
                <a:gd name="T53" fmla="*/ 143 h 166"/>
                <a:gd name="T54" fmla="*/ 75 w 108"/>
                <a:gd name="T55" fmla="*/ 139 h 166"/>
                <a:gd name="T56" fmla="*/ 75 w 108"/>
                <a:gd name="T57" fmla="*/ 150 h 166"/>
                <a:gd name="T58" fmla="*/ 34 w 108"/>
                <a:gd name="T59" fmla="*/ 150 h 166"/>
                <a:gd name="T60" fmla="*/ 30 w 108"/>
                <a:gd name="T61" fmla="*/ 154 h 166"/>
                <a:gd name="T62" fmla="*/ 30 w 108"/>
                <a:gd name="T63" fmla="*/ 156 h 166"/>
                <a:gd name="T64" fmla="*/ 34 w 108"/>
                <a:gd name="T65" fmla="*/ 160 h 166"/>
                <a:gd name="T66" fmla="*/ 38 w 108"/>
                <a:gd name="T67" fmla="*/ 160 h 166"/>
                <a:gd name="T68" fmla="*/ 38 w 108"/>
                <a:gd name="T69" fmla="*/ 162 h 166"/>
                <a:gd name="T70" fmla="*/ 42 w 108"/>
                <a:gd name="T71" fmla="*/ 166 h 166"/>
                <a:gd name="T72" fmla="*/ 66 w 108"/>
                <a:gd name="T73" fmla="*/ 166 h 166"/>
                <a:gd name="T74" fmla="*/ 70 w 108"/>
                <a:gd name="T75" fmla="*/ 162 h 166"/>
                <a:gd name="T76" fmla="*/ 70 w 108"/>
                <a:gd name="T77" fmla="*/ 160 h 166"/>
                <a:gd name="T78" fmla="*/ 75 w 108"/>
                <a:gd name="T79" fmla="*/ 160 h 166"/>
                <a:gd name="T80" fmla="*/ 79 w 108"/>
                <a:gd name="T81" fmla="*/ 156 h 166"/>
                <a:gd name="T82" fmla="*/ 79 w 108"/>
                <a:gd name="T83" fmla="*/ 154 h 166"/>
                <a:gd name="T84" fmla="*/ 75 w 108"/>
                <a:gd name="T85" fmla="*/ 15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8" h="166">
                  <a:moveTo>
                    <a:pt x="108" y="53"/>
                  </a:moveTo>
                  <a:cubicBezTo>
                    <a:pt x="108" y="68"/>
                    <a:pt x="103" y="81"/>
                    <a:pt x="94" y="90"/>
                  </a:cubicBezTo>
                  <a:cubicBezTo>
                    <a:pt x="76" y="111"/>
                    <a:pt x="86" y="123"/>
                    <a:pt x="77" y="123"/>
                  </a:cubicBezTo>
                  <a:cubicBezTo>
                    <a:pt x="32" y="123"/>
                    <a:pt x="32" y="123"/>
                    <a:pt x="32" y="123"/>
                  </a:cubicBezTo>
                  <a:cubicBezTo>
                    <a:pt x="22" y="123"/>
                    <a:pt x="33" y="111"/>
                    <a:pt x="15" y="90"/>
                  </a:cubicBezTo>
                  <a:cubicBezTo>
                    <a:pt x="6" y="81"/>
                    <a:pt x="0" y="68"/>
                    <a:pt x="0" y="53"/>
                  </a:cubicBezTo>
                  <a:cubicBezTo>
                    <a:pt x="0" y="24"/>
                    <a:pt x="25" y="0"/>
                    <a:pt x="54" y="0"/>
                  </a:cubicBezTo>
                  <a:cubicBezTo>
                    <a:pt x="54" y="0"/>
                    <a:pt x="54" y="0"/>
                    <a:pt x="54" y="0"/>
                  </a:cubicBezTo>
                  <a:cubicBezTo>
                    <a:pt x="54" y="0"/>
                    <a:pt x="54" y="0"/>
                    <a:pt x="54" y="0"/>
                  </a:cubicBezTo>
                  <a:cubicBezTo>
                    <a:pt x="84" y="0"/>
                    <a:pt x="108" y="24"/>
                    <a:pt x="108" y="53"/>
                  </a:cubicBezTo>
                  <a:moveTo>
                    <a:pt x="75" y="127"/>
                  </a:moveTo>
                  <a:cubicBezTo>
                    <a:pt x="34" y="127"/>
                    <a:pt x="34" y="127"/>
                    <a:pt x="34" y="127"/>
                  </a:cubicBezTo>
                  <a:cubicBezTo>
                    <a:pt x="32" y="127"/>
                    <a:pt x="30" y="129"/>
                    <a:pt x="30" y="131"/>
                  </a:cubicBezTo>
                  <a:cubicBezTo>
                    <a:pt x="30" y="132"/>
                    <a:pt x="30" y="132"/>
                    <a:pt x="30" y="132"/>
                  </a:cubicBezTo>
                  <a:cubicBezTo>
                    <a:pt x="30" y="134"/>
                    <a:pt x="32" y="136"/>
                    <a:pt x="34" y="136"/>
                  </a:cubicBezTo>
                  <a:cubicBezTo>
                    <a:pt x="75" y="136"/>
                    <a:pt x="75" y="136"/>
                    <a:pt x="75" y="136"/>
                  </a:cubicBezTo>
                  <a:cubicBezTo>
                    <a:pt x="77" y="136"/>
                    <a:pt x="79" y="134"/>
                    <a:pt x="79" y="132"/>
                  </a:cubicBezTo>
                  <a:cubicBezTo>
                    <a:pt x="79" y="131"/>
                    <a:pt x="79" y="131"/>
                    <a:pt x="79" y="131"/>
                  </a:cubicBezTo>
                  <a:cubicBezTo>
                    <a:pt x="79" y="129"/>
                    <a:pt x="77" y="127"/>
                    <a:pt x="75" y="127"/>
                  </a:cubicBezTo>
                  <a:moveTo>
                    <a:pt x="75" y="139"/>
                  </a:moveTo>
                  <a:cubicBezTo>
                    <a:pt x="34" y="139"/>
                    <a:pt x="34" y="139"/>
                    <a:pt x="34" y="139"/>
                  </a:cubicBezTo>
                  <a:cubicBezTo>
                    <a:pt x="32" y="139"/>
                    <a:pt x="30" y="141"/>
                    <a:pt x="30" y="143"/>
                  </a:cubicBezTo>
                  <a:cubicBezTo>
                    <a:pt x="30" y="143"/>
                    <a:pt x="30" y="143"/>
                    <a:pt x="30" y="143"/>
                  </a:cubicBezTo>
                  <a:cubicBezTo>
                    <a:pt x="30" y="145"/>
                    <a:pt x="32" y="147"/>
                    <a:pt x="34" y="147"/>
                  </a:cubicBezTo>
                  <a:cubicBezTo>
                    <a:pt x="75" y="147"/>
                    <a:pt x="75" y="147"/>
                    <a:pt x="75" y="147"/>
                  </a:cubicBezTo>
                  <a:cubicBezTo>
                    <a:pt x="77" y="147"/>
                    <a:pt x="79" y="145"/>
                    <a:pt x="79" y="143"/>
                  </a:cubicBezTo>
                  <a:cubicBezTo>
                    <a:pt x="79" y="143"/>
                    <a:pt x="79" y="143"/>
                    <a:pt x="79" y="143"/>
                  </a:cubicBezTo>
                  <a:cubicBezTo>
                    <a:pt x="79" y="141"/>
                    <a:pt x="77" y="139"/>
                    <a:pt x="75" y="139"/>
                  </a:cubicBezTo>
                  <a:moveTo>
                    <a:pt x="75" y="150"/>
                  </a:moveTo>
                  <a:cubicBezTo>
                    <a:pt x="34" y="150"/>
                    <a:pt x="34" y="150"/>
                    <a:pt x="34" y="150"/>
                  </a:cubicBezTo>
                  <a:cubicBezTo>
                    <a:pt x="32" y="150"/>
                    <a:pt x="30" y="152"/>
                    <a:pt x="30" y="154"/>
                  </a:cubicBezTo>
                  <a:cubicBezTo>
                    <a:pt x="30" y="156"/>
                    <a:pt x="30" y="156"/>
                    <a:pt x="30" y="156"/>
                  </a:cubicBezTo>
                  <a:cubicBezTo>
                    <a:pt x="30" y="159"/>
                    <a:pt x="32" y="160"/>
                    <a:pt x="34" y="160"/>
                  </a:cubicBezTo>
                  <a:cubicBezTo>
                    <a:pt x="38" y="160"/>
                    <a:pt x="38" y="160"/>
                    <a:pt x="38" y="160"/>
                  </a:cubicBezTo>
                  <a:cubicBezTo>
                    <a:pt x="38" y="162"/>
                    <a:pt x="38" y="162"/>
                    <a:pt x="38" y="162"/>
                  </a:cubicBezTo>
                  <a:cubicBezTo>
                    <a:pt x="38" y="164"/>
                    <a:pt x="40" y="166"/>
                    <a:pt x="42" y="166"/>
                  </a:cubicBezTo>
                  <a:cubicBezTo>
                    <a:pt x="66" y="166"/>
                    <a:pt x="66" y="166"/>
                    <a:pt x="66" y="166"/>
                  </a:cubicBezTo>
                  <a:cubicBezTo>
                    <a:pt x="69" y="166"/>
                    <a:pt x="70" y="164"/>
                    <a:pt x="70" y="162"/>
                  </a:cubicBezTo>
                  <a:cubicBezTo>
                    <a:pt x="70" y="160"/>
                    <a:pt x="70" y="160"/>
                    <a:pt x="70" y="160"/>
                  </a:cubicBezTo>
                  <a:cubicBezTo>
                    <a:pt x="75" y="160"/>
                    <a:pt x="75" y="160"/>
                    <a:pt x="75" y="160"/>
                  </a:cubicBezTo>
                  <a:cubicBezTo>
                    <a:pt x="77" y="160"/>
                    <a:pt x="79" y="159"/>
                    <a:pt x="79" y="156"/>
                  </a:cubicBezTo>
                  <a:cubicBezTo>
                    <a:pt x="79" y="154"/>
                    <a:pt x="79" y="154"/>
                    <a:pt x="79" y="154"/>
                  </a:cubicBezTo>
                  <a:cubicBezTo>
                    <a:pt x="79" y="152"/>
                    <a:pt x="77" y="150"/>
                    <a:pt x="75" y="150"/>
                  </a:cubicBezTo>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6" name="Freeform 39"/>
            <p:cNvSpPr/>
            <p:nvPr>
              <p:custDataLst>
                <p:tags r:id="rId9"/>
              </p:custDataLst>
            </p:nvPr>
          </p:nvSpPr>
          <p:spPr bwMode="auto">
            <a:xfrm>
              <a:off x="8850905" y="3558110"/>
              <a:ext cx="369497" cy="546213"/>
            </a:xfrm>
            <a:custGeom>
              <a:avLst/>
              <a:gdLst>
                <a:gd name="T0" fmla="*/ 128 w 136"/>
                <a:gd name="T1" fmla="*/ 185 h 201"/>
                <a:gd name="T2" fmla="*/ 117 w 136"/>
                <a:gd name="T3" fmla="*/ 177 h 201"/>
                <a:gd name="T4" fmla="*/ 117 w 136"/>
                <a:gd name="T5" fmla="*/ 155 h 201"/>
                <a:gd name="T6" fmla="*/ 126 w 136"/>
                <a:gd name="T7" fmla="*/ 150 h 201"/>
                <a:gd name="T8" fmla="*/ 110 w 136"/>
                <a:gd name="T9" fmla="*/ 142 h 201"/>
                <a:gd name="T10" fmla="*/ 111 w 136"/>
                <a:gd name="T11" fmla="*/ 103 h 201"/>
                <a:gd name="T12" fmla="*/ 112 w 136"/>
                <a:gd name="T13" fmla="*/ 91 h 201"/>
                <a:gd name="T14" fmla="*/ 42 w 136"/>
                <a:gd name="T15" fmla="*/ 6 h 201"/>
                <a:gd name="T16" fmla="*/ 9 w 136"/>
                <a:gd name="T17" fmla="*/ 22 h 201"/>
                <a:gd name="T18" fmla="*/ 8 w 136"/>
                <a:gd name="T19" fmla="*/ 33 h 201"/>
                <a:gd name="T20" fmla="*/ 22 w 136"/>
                <a:gd name="T21" fmla="*/ 30 h 201"/>
                <a:gd name="T22" fmla="*/ 22 w 136"/>
                <a:gd name="T23" fmla="*/ 30 h 201"/>
                <a:gd name="T24" fmla="*/ 10 w 136"/>
                <a:gd name="T25" fmla="*/ 55 h 201"/>
                <a:gd name="T26" fmla="*/ 3 w 136"/>
                <a:gd name="T27" fmla="*/ 78 h 201"/>
                <a:gd name="T28" fmla="*/ 19 w 136"/>
                <a:gd name="T29" fmla="*/ 84 h 201"/>
                <a:gd name="T30" fmla="*/ 33 w 136"/>
                <a:gd name="T31" fmla="*/ 69 h 201"/>
                <a:gd name="T32" fmla="*/ 44 w 136"/>
                <a:gd name="T33" fmla="*/ 90 h 201"/>
                <a:gd name="T34" fmla="*/ 20 w 136"/>
                <a:gd name="T35" fmla="*/ 124 h 201"/>
                <a:gd name="T36" fmla="*/ 23 w 136"/>
                <a:gd name="T37" fmla="*/ 135 h 201"/>
                <a:gd name="T38" fmla="*/ 25 w 136"/>
                <a:gd name="T39" fmla="*/ 137 h 201"/>
                <a:gd name="T40" fmla="*/ 27 w 136"/>
                <a:gd name="T41" fmla="*/ 139 h 201"/>
                <a:gd name="T42" fmla="*/ 29 w 136"/>
                <a:gd name="T43" fmla="*/ 141 h 201"/>
                <a:gd name="T44" fmla="*/ 30 w 136"/>
                <a:gd name="T45" fmla="*/ 142 h 201"/>
                <a:gd name="T46" fmla="*/ 23 w 136"/>
                <a:gd name="T47" fmla="*/ 142 h 201"/>
                <a:gd name="T48" fmla="*/ 11 w 136"/>
                <a:gd name="T49" fmla="*/ 150 h 201"/>
                <a:gd name="T50" fmla="*/ 13 w 136"/>
                <a:gd name="T51" fmla="*/ 154 h 201"/>
                <a:gd name="T52" fmla="*/ 16 w 136"/>
                <a:gd name="T53" fmla="*/ 155 h 201"/>
                <a:gd name="T54" fmla="*/ 20 w 136"/>
                <a:gd name="T55" fmla="*/ 155 h 201"/>
                <a:gd name="T56" fmla="*/ 20 w 136"/>
                <a:gd name="T57" fmla="*/ 177 h 201"/>
                <a:gd name="T58" fmla="*/ 20 w 136"/>
                <a:gd name="T59" fmla="*/ 177 h 201"/>
                <a:gd name="T60" fmla="*/ 9 w 136"/>
                <a:gd name="T61" fmla="*/ 187 h 201"/>
                <a:gd name="T62" fmla="*/ 7 w 136"/>
                <a:gd name="T63" fmla="*/ 189 h 201"/>
                <a:gd name="T64" fmla="*/ 6 w 136"/>
                <a:gd name="T65" fmla="*/ 190 h 201"/>
                <a:gd name="T66" fmla="*/ 5 w 136"/>
                <a:gd name="T67" fmla="*/ 190 h 201"/>
                <a:gd name="T68" fmla="*/ 4 w 136"/>
                <a:gd name="T69" fmla="*/ 191 h 201"/>
                <a:gd name="T70" fmla="*/ 4 w 136"/>
                <a:gd name="T71" fmla="*/ 191 h 201"/>
                <a:gd name="T72" fmla="*/ 3 w 136"/>
                <a:gd name="T73" fmla="*/ 193 h 201"/>
                <a:gd name="T74" fmla="*/ 2 w 136"/>
                <a:gd name="T75" fmla="*/ 193 h 201"/>
                <a:gd name="T76" fmla="*/ 2 w 136"/>
                <a:gd name="T77" fmla="*/ 194 h 201"/>
                <a:gd name="T78" fmla="*/ 2 w 136"/>
                <a:gd name="T79" fmla="*/ 195 h 201"/>
                <a:gd name="T80" fmla="*/ 2 w 136"/>
                <a:gd name="T81" fmla="*/ 197 h 201"/>
                <a:gd name="T82" fmla="*/ 2 w 136"/>
                <a:gd name="T83" fmla="*/ 198 h 201"/>
                <a:gd name="T84" fmla="*/ 2 w 136"/>
                <a:gd name="T85" fmla="*/ 199 h 201"/>
                <a:gd name="T86" fmla="*/ 3 w 136"/>
                <a:gd name="T87" fmla="*/ 200 h 201"/>
                <a:gd name="T88" fmla="*/ 6 w 136"/>
                <a:gd name="T89" fmla="*/ 201 h 201"/>
                <a:gd name="T90" fmla="*/ 52 w 136"/>
                <a:gd name="T91" fmla="*/ 201 h 201"/>
                <a:gd name="T92" fmla="*/ 136 w 136"/>
                <a:gd name="T93"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6" h="201">
                  <a:moveTo>
                    <a:pt x="128" y="188"/>
                  </a:moveTo>
                  <a:cubicBezTo>
                    <a:pt x="128" y="187"/>
                    <a:pt x="128" y="187"/>
                    <a:pt x="128" y="185"/>
                  </a:cubicBezTo>
                  <a:cubicBezTo>
                    <a:pt x="128" y="182"/>
                    <a:pt x="124" y="177"/>
                    <a:pt x="117" y="177"/>
                  </a:cubicBezTo>
                  <a:cubicBezTo>
                    <a:pt x="117" y="177"/>
                    <a:pt x="117" y="177"/>
                    <a:pt x="117" y="177"/>
                  </a:cubicBezTo>
                  <a:cubicBezTo>
                    <a:pt x="115" y="174"/>
                    <a:pt x="111" y="170"/>
                    <a:pt x="111" y="165"/>
                  </a:cubicBezTo>
                  <a:cubicBezTo>
                    <a:pt x="111" y="161"/>
                    <a:pt x="115" y="157"/>
                    <a:pt x="117" y="155"/>
                  </a:cubicBezTo>
                  <a:cubicBezTo>
                    <a:pt x="120" y="155"/>
                    <a:pt x="121" y="155"/>
                    <a:pt x="122" y="155"/>
                  </a:cubicBezTo>
                  <a:cubicBezTo>
                    <a:pt x="123" y="155"/>
                    <a:pt x="126" y="154"/>
                    <a:pt x="126" y="150"/>
                  </a:cubicBezTo>
                  <a:cubicBezTo>
                    <a:pt x="126" y="147"/>
                    <a:pt x="122" y="142"/>
                    <a:pt x="114" y="142"/>
                  </a:cubicBezTo>
                  <a:cubicBezTo>
                    <a:pt x="113" y="142"/>
                    <a:pt x="112" y="142"/>
                    <a:pt x="110" y="142"/>
                  </a:cubicBezTo>
                  <a:cubicBezTo>
                    <a:pt x="123" y="132"/>
                    <a:pt x="123" y="132"/>
                    <a:pt x="123" y="132"/>
                  </a:cubicBezTo>
                  <a:cubicBezTo>
                    <a:pt x="123" y="132"/>
                    <a:pt x="111" y="115"/>
                    <a:pt x="111" y="103"/>
                  </a:cubicBezTo>
                  <a:cubicBezTo>
                    <a:pt x="111" y="103"/>
                    <a:pt x="111" y="103"/>
                    <a:pt x="111" y="102"/>
                  </a:cubicBezTo>
                  <a:cubicBezTo>
                    <a:pt x="111" y="99"/>
                    <a:pt x="111" y="95"/>
                    <a:pt x="112" y="91"/>
                  </a:cubicBezTo>
                  <a:cubicBezTo>
                    <a:pt x="112" y="79"/>
                    <a:pt x="113" y="53"/>
                    <a:pt x="102" y="33"/>
                  </a:cubicBezTo>
                  <a:cubicBezTo>
                    <a:pt x="91" y="12"/>
                    <a:pt x="69" y="0"/>
                    <a:pt x="42" y="6"/>
                  </a:cubicBezTo>
                  <a:cubicBezTo>
                    <a:pt x="30" y="9"/>
                    <a:pt x="21" y="16"/>
                    <a:pt x="16" y="22"/>
                  </a:cubicBezTo>
                  <a:cubicBezTo>
                    <a:pt x="9" y="22"/>
                    <a:pt x="9" y="22"/>
                    <a:pt x="9" y="22"/>
                  </a:cubicBezTo>
                  <a:cubicBezTo>
                    <a:pt x="11" y="23"/>
                    <a:pt x="12" y="24"/>
                    <a:pt x="13" y="25"/>
                  </a:cubicBezTo>
                  <a:cubicBezTo>
                    <a:pt x="9" y="29"/>
                    <a:pt x="8" y="33"/>
                    <a:pt x="8" y="33"/>
                  </a:cubicBezTo>
                  <a:cubicBezTo>
                    <a:pt x="20" y="33"/>
                    <a:pt x="20" y="33"/>
                    <a:pt x="20" y="33"/>
                  </a:cubicBezTo>
                  <a:cubicBezTo>
                    <a:pt x="22" y="31"/>
                    <a:pt x="22" y="30"/>
                    <a:pt x="22" y="30"/>
                  </a:cubicBezTo>
                  <a:cubicBezTo>
                    <a:pt x="21" y="29"/>
                    <a:pt x="20" y="29"/>
                    <a:pt x="19" y="28"/>
                  </a:cubicBezTo>
                  <a:cubicBezTo>
                    <a:pt x="22" y="30"/>
                    <a:pt x="22" y="30"/>
                    <a:pt x="22" y="30"/>
                  </a:cubicBezTo>
                  <a:cubicBezTo>
                    <a:pt x="22" y="30"/>
                    <a:pt x="13" y="43"/>
                    <a:pt x="12" y="44"/>
                  </a:cubicBezTo>
                  <a:cubicBezTo>
                    <a:pt x="12" y="45"/>
                    <a:pt x="12" y="52"/>
                    <a:pt x="10" y="55"/>
                  </a:cubicBezTo>
                  <a:cubicBezTo>
                    <a:pt x="9" y="57"/>
                    <a:pt x="2" y="69"/>
                    <a:pt x="1" y="70"/>
                  </a:cubicBezTo>
                  <a:cubicBezTo>
                    <a:pt x="0" y="71"/>
                    <a:pt x="2" y="75"/>
                    <a:pt x="3" y="78"/>
                  </a:cubicBezTo>
                  <a:cubicBezTo>
                    <a:pt x="5" y="81"/>
                    <a:pt x="7" y="82"/>
                    <a:pt x="9" y="82"/>
                  </a:cubicBezTo>
                  <a:cubicBezTo>
                    <a:pt x="12" y="83"/>
                    <a:pt x="18" y="84"/>
                    <a:pt x="19" y="84"/>
                  </a:cubicBezTo>
                  <a:cubicBezTo>
                    <a:pt x="20" y="85"/>
                    <a:pt x="24" y="83"/>
                    <a:pt x="25" y="82"/>
                  </a:cubicBezTo>
                  <a:cubicBezTo>
                    <a:pt x="26" y="81"/>
                    <a:pt x="29" y="72"/>
                    <a:pt x="33" y="69"/>
                  </a:cubicBezTo>
                  <a:cubicBezTo>
                    <a:pt x="37" y="66"/>
                    <a:pt x="43" y="65"/>
                    <a:pt x="47" y="64"/>
                  </a:cubicBezTo>
                  <a:cubicBezTo>
                    <a:pt x="48" y="68"/>
                    <a:pt x="49" y="82"/>
                    <a:pt x="44" y="90"/>
                  </a:cubicBezTo>
                  <a:cubicBezTo>
                    <a:pt x="36" y="103"/>
                    <a:pt x="23" y="117"/>
                    <a:pt x="20" y="123"/>
                  </a:cubicBezTo>
                  <a:cubicBezTo>
                    <a:pt x="20" y="123"/>
                    <a:pt x="20" y="123"/>
                    <a:pt x="20" y="124"/>
                  </a:cubicBezTo>
                  <a:cubicBezTo>
                    <a:pt x="17" y="129"/>
                    <a:pt x="18" y="133"/>
                    <a:pt x="18" y="133"/>
                  </a:cubicBezTo>
                  <a:cubicBezTo>
                    <a:pt x="18" y="133"/>
                    <a:pt x="21" y="134"/>
                    <a:pt x="23" y="135"/>
                  </a:cubicBezTo>
                  <a:cubicBezTo>
                    <a:pt x="24" y="136"/>
                    <a:pt x="25" y="136"/>
                    <a:pt x="25" y="137"/>
                  </a:cubicBezTo>
                  <a:cubicBezTo>
                    <a:pt x="25" y="137"/>
                    <a:pt x="25" y="137"/>
                    <a:pt x="25" y="137"/>
                  </a:cubicBezTo>
                  <a:cubicBezTo>
                    <a:pt x="26" y="137"/>
                    <a:pt x="27" y="138"/>
                    <a:pt x="27" y="139"/>
                  </a:cubicBezTo>
                  <a:cubicBezTo>
                    <a:pt x="27" y="139"/>
                    <a:pt x="27" y="139"/>
                    <a:pt x="27" y="139"/>
                  </a:cubicBezTo>
                  <a:cubicBezTo>
                    <a:pt x="28" y="139"/>
                    <a:pt x="28" y="140"/>
                    <a:pt x="28" y="140"/>
                  </a:cubicBezTo>
                  <a:cubicBezTo>
                    <a:pt x="29" y="140"/>
                    <a:pt x="29" y="140"/>
                    <a:pt x="29" y="141"/>
                  </a:cubicBezTo>
                  <a:cubicBezTo>
                    <a:pt x="29" y="141"/>
                    <a:pt x="29" y="142"/>
                    <a:pt x="30" y="142"/>
                  </a:cubicBezTo>
                  <a:cubicBezTo>
                    <a:pt x="30" y="142"/>
                    <a:pt x="30" y="142"/>
                    <a:pt x="30" y="142"/>
                  </a:cubicBezTo>
                  <a:cubicBezTo>
                    <a:pt x="27" y="142"/>
                    <a:pt x="25" y="142"/>
                    <a:pt x="24" y="142"/>
                  </a:cubicBezTo>
                  <a:cubicBezTo>
                    <a:pt x="23" y="142"/>
                    <a:pt x="23" y="142"/>
                    <a:pt x="23" y="142"/>
                  </a:cubicBezTo>
                  <a:cubicBezTo>
                    <a:pt x="20" y="142"/>
                    <a:pt x="17" y="143"/>
                    <a:pt x="15" y="145"/>
                  </a:cubicBezTo>
                  <a:cubicBezTo>
                    <a:pt x="12" y="146"/>
                    <a:pt x="11" y="149"/>
                    <a:pt x="11" y="150"/>
                  </a:cubicBezTo>
                  <a:cubicBezTo>
                    <a:pt x="11" y="152"/>
                    <a:pt x="12" y="154"/>
                    <a:pt x="13" y="154"/>
                  </a:cubicBezTo>
                  <a:cubicBezTo>
                    <a:pt x="13" y="154"/>
                    <a:pt x="13" y="154"/>
                    <a:pt x="13" y="154"/>
                  </a:cubicBezTo>
                  <a:cubicBezTo>
                    <a:pt x="14" y="155"/>
                    <a:pt x="15" y="155"/>
                    <a:pt x="16" y="155"/>
                  </a:cubicBezTo>
                  <a:cubicBezTo>
                    <a:pt x="16" y="155"/>
                    <a:pt x="16" y="155"/>
                    <a:pt x="16" y="155"/>
                  </a:cubicBezTo>
                  <a:cubicBezTo>
                    <a:pt x="16" y="155"/>
                    <a:pt x="16" y="155"/>
                    <a:pt x="16" y="155"/>
                  </a:cubicBezTo>
                  <a:cubicBezTo>
                    <a:pt x="16" y="155"/>
                    <a:pt x="18" y="155"/>
                    <a:pt x="20" y="155"/>
                  </a:cubicBezTo>
                  <a:cubicBezTo>
                    <a:pt x="23" y="157"/>
                    <a:pt x="26" y="161"/>
                    <a:pt x="26" y="165"/>
                  </a:cubicBezTo>
                  <a:cubicBezTo>
                    <a:pt x="26" y="170"/>
                    <a:pt x="23" y="174"/>
                    <a:pt x="20" y="177"/>
                  </a:cubicBezTo>
                  <a:cubicBezTo>
                    <a:pt x="20" y="177"/>
                    <a:pt x="20" y="177"/>
                    <a:pt x="20" y="177"/>
                  </a:cubicBezTo>
                  <a:cubicBezTo>
                    <a:pt x="20" y="177"/>
                    <a:pt x="20" y="177"/>
                    <a:pt x="20" y="177"/>
                  </a:cubicBezTo>
                  <a:cubicBezTo>
                    <a:pt x="14" y="177"/>
                    <a:pt x="9" y="182"/>
                    <a:pt x="9" y="185"/>
                  </a:cubicBezTo>
                  <a:cubicBezTo>
                    <a:pt x="9" y="186"/>
                    <a:pt x="9" y="187"/>
                    <a:pt x="9" y="187"/>
                  </a:cubicBezTo>
                  <a:cubicBezTo>
                    <a:pt x="10" y="187"/>
                    <a:pt x="10" y="188"/>
                    <a:pt x="10" y="188"/>
                  </a:cubicBezTo>
                  <a:cubicBezTo>
                    <a:pt x="9" y="188"/>
                    <a:pt x="8" y="189"/>
                    <a:pt x="7" y="189"/>
                  </a:cubicBezTo>
                  <a:cubicBezTo>
                    <a:pt x="6" y="189"/>
                    <a:pt x="6" y="189"/>
                    <a:pt x="6" y="189"/>
                  </a:cubicBezTo>
                  <a:cubicBezTo>
                    <a:pt x="6" y="190"/>
                    <a:pt x="6" y="190"/>
                    <a:pt x="6" y="190"/>
                  </a:cubicBezTo>
                  <a:cubicBezTo>
                    <a:pt x="6" y="190"/>
                    <a:pt x="6" y="190"/>
                    <a:pt x="6" y="190"/>
                  </a:cubicBezTo>
                  <a:cubicBezTo>
                    <a:pt x="6" y="190"/>
                    <a:pt x="5" y="190"/>
                    <a:pt x="5" y="190"/>
                  </a:cubicBezTo>
                  <a:cubicBezTo>
                    <a:pt x="5" y="190"/>
                    <a:pt x="5" y="190"/>
                    <a:pt x="5" y="190"/>
                  </a:cubicBezTo>
                  <a:cubicBezTo>
                    <a:pt x="5" y="190"/>
                    <a:pt x="5" y="191"/>
                    <a:pt x="4" y="191"/>
                  </a:cubicBezTo>
                  <a:cubicBezTo>
                    <a:pt x="4" y="191"/>
                    <a:pt x="4" y="191"/>
                    <a:pt x="4" y="191"/>
                  </a:cubicBezTo>
                  <a:cubicBezTo>
                    <a:pt x="4" y="191"/>
                    <a:pt x="4" y="191"/>
                    <a:pt x="4" y="191"/>
                  </a:cubicBezTo>
                  <a:cubicBezTo>
                    <a:pt x="3" y="192"/>
                    <a:pt x="3" y="192"/>
                    <a:pt x="3" y="192"/>
                  </a:cubicBezTo>
                  <a:cubicBezTo>
                    <a:pt x="3" y="192"/>
                    <a:pt x="3" y="192"/>
                    <a:pt x="3" y="193"/>
                  </a:cubicBezTo>
                  <a:cubicBezTo>
                    <a:pt x="3" y="193"/>
                    <a:pt x="3" y="193"/>
                    <a:pt x="2" y="193"/>
                  </a:cubicBezTo>
                  <a:cubicBezTo>
                    <a:pt x="2" y="193"/>
                    <a:pt x="2" y="193"/>
                    <a:pt x="2" y="193"/>
                  </a:cubicBezTo>
                  <a:cubicBezTo>
                    <a:pt x="2" y="193"/>
                    <a:pt x="2" y="194"/>
                    <a:pt x="2" y="194"/>
                  </a:cubicBezTo>
                  <a:cubicBezTo>
                    <a:pt x="2" y="194"/>
                    <a:pt x="2" y="194"/>
                    <a:pt x="2" y="194"/>
                  </a:cubicBezTo>
                  <a:cubicBezTo>
                    <a:pt x="2" y="194"/>
                    <a:pt x="2" y="194"/>
                    <a:pt x="2" y="195"/>
                  </a:cubicBezTo>
                  <a:cubicBezTo>
                    <a:pt x="2" y="195"/>
                    <a:pt x="2" y="195"/>
                    <a:pt x="2" y="195"/>
                  </a:cubicBezTo>
                  <a:cubicBezTo>
                    <a:pt x="1" y="195"/>
                    <a:pt x="1" y="196"/>
                    <a:pt x="1" y="196"/>
                  </a:cubicBezTo>
                  <a:cubicBezTo>
                    <a:pt x="1" y="196"/>
                    <a:pt x="2" y="197"/>
                    <a:pt x="2" y="197"/>
                  </a:cubicBezTo>
                  <a:cubicBezTo>
                    <a:pt x="2" y="197"/>
                    <a:pt x="2" y="198"/>
                    <a:pt x="2" y="198"/>
                  </a:cubicBezTo>
                  <a:cubicBezTo>
                    <a:pt x="2" y="198"/>
                    <a:pt x="2" y="198"/>
                    <a:pt x="2" y="198"/>
                  </a:cubicBezTo>
                  <a:cubicBezTo>
                    <a:pt x="2" y="198"/>
                    <a:pt x="2" y="198"/>
                    <a:pt x="2" y="199"/>
                  </a:cubicBezTo>
                  <a:cubicBezTo>
                    <a:pt x="2" y="199"/>
                    <a:pt x="2" y="199"/>
                    <a:pt x="2" y="199"/>
                  </a:cubicBezTo>
                  <a:cubicBezTo>
                    <a:pt x="3" y="199"/>
                    <a:pt x="3" y="199"/>
                    <a:pt x="3" y="200"/>
                  </a:cubicBezTo>
                  <a:cubicBezTo>
                    <a:pt x="3" y="200"/>
                    <a:pt x="3" y="200"/>
                    <a:pt x="3" y="200"/>
                  </a:cubicBezTo>
                  <a:cubicBezTo>
                    <a:pt x="3" y="200"/>
                    <a:pt x="3" y="200"/>
                    <a:pt x="3" y="200"/>
                  </a:cubicBezTo>
                  <a:cubicBezTo>
                    <a:pt x="4" y="201"/>
                    <a:pt x="5" y="201"/>
                    <a:pt x="6" y="201"/>
                  </a:cubicBezTo>
                  <a:cubicBezTo>
                    <a:pt x="6" y="201"/>
                    <a:pt x="6" y="201"/>
                    <a:pt x="6" y="201"/>
                  </a:cubicBezTo>
                  <a:cubicBezTo>
                    <a:pt x="7" y="201"/>
                    <a:pt x="28" y="201"/>
                    <a:pt x="52" y="201"/>
                  </a:cubicBezTo>
                  <a:cubicBezTo>
                    <a:pt x="87" y="201"/>
                    <a:pt x="130" y="201"/>
                    <a:pt x="131" y="201"/>
                  </a:cubicBezTo>
                  <a:cubicBezTo>
                    <a:pt x="133" y="201"/>
                    <a:pt x="136" y="200"/>
                    <a:pt x="136" y="196"/>
                  </a:cubicBezTo>
                  <a:cubicBezTo>
                    <a:pt x="136" y="193"/>
                    <a:pt x="133" y="189"/>
                    <a:pt x="128" y="188"/>
                  </a:cubicBez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7" name="Freeform 41"/>
            <p:cNvSpPr>
              <a:spLocks noEditPoints="1"/>
            </p:cNvSpPr>
            <p:nvPr>
              <p:custDataLst>
                <p:tags r:id="rId10"/>
              </p:custDataLst>
            </p:nvPr>
          </p:nvSpPr>
          <p:spPr bwMode="auto">
            <a:xfrm>
              <a:off x="1583876" y="3572919"/>
              <a:ext cx="401627" cy="519821"/>
            </a:xfrm>
            <a:custGeom>
              <a:avLst/>
              <a:gdLst>
                <a:gd name="T0" fmla="*/ 130 w 148"/>
                <a:gd name="T1" fmla="*/ 112 h 191"/>
                <a:gd name="T2" fmla="*/ 148 w 148"/>
                <a:gd name="T3" fmla="*/ 67 h 191"/>
                <a:gd name="T4" fmla="*/ 82 w 148"/>
                <a:gd name="T5" fmla="*/ 0 h 191"/>
                <a:gd name="T6" fmla="*/ 45 w 148"/>
                <a:gd name="T7" fmla="*/ 12 h 191"/>
                <a:gd name="T8" fmla="*/ 44 w 148"/>
                <a:gd name="T9" fmla="*/ 12 h 191"/>
                <a:gd name="T10" fmla="*/ 43 w 148"/>
                <a:gd name="T11" fmla="*/ 13 h 191"/>
                <a:gd name="T12" fmla="*/ 28 w 148"/>
                <a:gd name="T13" fmla="*/ 28 h 191"/>
                <a:gd name="T14" fmla="*/ 17 w 148"/>
                <a:gd name="T15" fmla="*/ 53 h 191"/>
                <a:gd name="T16" fmla="*/ 20 w 148"/>
                <a:gd name="T17" fmla="*/ 74 h 191"/>
                <a:gd name="T18" fmla="*/ 2 w 148"/>
                <a:gd name="T19" fmla="*/ 101 h 191"/>
                <a:gd name="T20" fmla="*/ 7 w 148"/>
                <a:gd name="T21" fmla="*/ 110 h 191"/>
                <a:gd name="T22" fmla="*/ 18 w 148"/>
                <a:gd name="T23" fmla="*/ 110 h 191"/>
                <a:gd name="T24" fmla="*/ 19 w 148"/>
                <a:gd name="T25" fmla="*/ 118 h 191"/>
                <a:gd name="T26" fmla="*/ 22 w 148"/>
                <a:gd name="T27" fmla="*/ 122 h 191"/>
                <a:gd name="T28" fmla="*/ 20 w 148"/>
                <a:gd name="T29" fmla="*/ 129 h 191"/>
                <a:gd name="T30" fmla="*/ 25 w 148"/>
                <a:gd name="T31" fmla="*/ 133 h 191"/>
                <a:gd name="T32" fmla="*/ 35 w 148"/>
                <a:gd name="T33" fmla="*/ 152 h 191"/>
                <a:gd name="T34" fmla="*/ 44 w 148"/>
                <a:gd name="T35" fmla="*/ 151 h 191"/>
                <a:gd name="T36" fmla="*/ 51 w 148"/>
                <a:gd name="T37" fmla="*/ 150 h 191"/>
                <a:gd name="T38" fmla="*/ 60 w 148"/>
                <a:gd name="T39" fmla="*/ 159 h 191"/>
                <a:gd name="T40" fmla="*/ 58 w 148"/>
                <a:gd name="T41" fmla="*/ 171 h 191"/>
                <a:gd name="T42" fmla="*/ 49 w 148"/>
                <a:gd name="T43" fmla="*/ 191 h 191"/>
                <a:gd name="T44" fmla="*/ 89 w 148"/>
                <a:gd name="T45" fmla="*/ 171 h 191"/>
                <a:gd name="T46" fmla="*/ 131 w 148"/>
                <a:gd name="T47" fmla="*/ 163 h 191"/>
                <a:gd name="T48" fmla="*/ 130 w 148"/>
                <a:gd name="T49" fmla="*/ 112 h 191"/>
                <a:gd name="T50" fmla="*/ 104 w 148"/>
                <a:gd name="T51" fmla="*/ 76 h 191"/>
                <a:gd name="T52" fmla="*/ 101 w 148"/>
                <a:gd name="T53" fmla="*/ 72 h 191"/>
                <a:gd name="T54" fmla="*/ 70 w 148"/>
                <a:gd name="T55" fmla="*/ 114 h 191"/>
                <a:gd name="T56" fmla="*/ 76 w 148"/>
                <a:gd name="T57" fmla="*/ 78 h 191"/>
                <a:gd name="T58" fmla="*/ 63 w 148"/>
                <a:gd name="T59" fmla="*/ 78 h 191"/>
                <a:gd name="T60" fmla="*/ 68 w 148"/>
                <a:gd name="T61" fmla="*/ 59 h 191"/>
                <a:gd name="T62" fmla="*/ 62 w 148"/>
                <a:gd name="T63" fmla="*/ 59 h 191"/>
                <a:gd name="T64" fmla="*/ 49 w 148"/>
                <a:gd name="T65" fmla="*/ 22 h 191"/>
                <a:gd name="T66" fmla="*/ 49 w 148"/>
                <a:gd name="T67" fmla="*/ 21 h 191"/>
                <a:gd name="T68" fmla="*/ 49 w 148"/>
                <a:gd name="T69" fmla="*/ 21 h 191"/>
                <a:gd name="T70" fmla="*/ 49 w 148"/>
                <a:gd name="T71" fmla="*/ 21 h 191"/>
                <a:gd name="T72" fmla="*/ 50 w 148"/>
                <a:gd name="T73" fmla="*/ 21 h 191"/>
                <a:gd name="T74" fmla="*/ 82 w 148"/>
                <a:gd name="T75" fmla="*/ 11 h 191"/>
                <a:gd name="T76" fmla="*/ 135 w 148"/>
                <a:gd name="T77" fmla="*/ 48 h 191"/>
                <a:gd name="T78" fmla="*/ 135 w 148"/>
                <a:gd name="T79" fmla="*/ 70 h 191"/>
                <a:gd name="T80" fmla="*/ 104 w 148"/>
                <a:gd name="T81" fmla="*/ 76 h 191"/>
                <a:gd name="T82" fmla="*/ 90 w 148"/>
                <a:gd name="T83" fmla="*/ 61 h 191"/>
                <a:gd name="T84" fmla="*/ 103 w 148"/>
                <a:gd name="T85" fmla="*/ 61 h 191"/>
                <a:gd name="T86" fmla="*/ 75 w 148"/>
                <a:gd name="T87" fmla="*/ 102 h 191"/>
                <a:gd name="T88" fmla="*/ 81 w 148"/>
                <a:gd name="T89" fmla="*/ 74 h 191"/>
                <a:gd name="T90" fmla="*/ 68 w 148"/>
                <a:gd name="T91" fmla="*/ 74 h 191"/>
                <a:gd name="T92" fmla="*/ 76 w 148"/>
                <a:gd name="T93" fmla="*/ 40 h 191"/>
                <a:gd name="T94" fmla="*/ 97 w 148"/>
                <a:gd name="T95" fmla="*/ 40 h 191"/>
                <a:gd name="T96" fmla="*/ 90 w 148"/>
                <a:gd name="T97" fmla="*/ 6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91">
                  <a:moveTo>
                    <a:pt x="130" y="112"/>
                  </a:moveTo>
                  <a:cubicBezTo>
                    <a:pt x="142" y="92"/>
                    <a:pt x="148" y="84"/>
                    <a:pt x="148" y="67"/>
                  </a:cubicBezTo>
                  <a:cubicBezTo>
                    <a:pt x="148" y="30"/>
                    <a:pt x="118" y="0"/>
                    <a:pt x="82" y="0"/>
                  </a:cubicBezTo>
                  <a:cubicBezTo>
                    <a:pt x="68" y="0"/>
                    <a:pt x="55" y="5"/>
                    <a:pt x="45" y="12"/>
                  </a:cubicBezTo>
                  <a:cubicBezTo>
                    <a:pt x="44" y="12"/>
                    <a:pt x="44" y="12"/>
                    <a:pt x="44" y="12"/>
                  </a:cubicBezTo>
                  <a:cubicBezTo>
                    <a:pt x="44" y="12"/>
                    <a:pt x="44" y="12"/>
                    <a:pt x="43" y="13"/>
                  </a:cubicBezTo>
                  <a:cubicBezTo>
                    <a:pt x="37" y="17"/>
                    <a:pt x="32" y="22"/>
                    <a:pt x="28" y="28"/>
                  </a:cubicBezTo>
                  <a:cubicBezTo>
                    <a:pt x="23" y="35"/>
                    <a:pt x="19" y="44"/>
                    <a:pt x="17" y="53"/>
                  </a:cubicBezTo>
                  <a:cubicBezTo>
                    <a:pt x="14" y="68"/>
                    <a:pt x="20" y="68"/>
                    <a:pt x="20" y="74"/>
                  </a:cubicBezTo>
                  <a:cubicBezTo>
                    <a:pt x="20" y="79"/>
                    <a:pt x="11" y="89"/>
                    <a:pt x="2" y="101"/>
                  </a:cubicBezTo>
                  <a:cubicBezTo>
                    <a:pt x="0" y="104"/>
                    <a:pt x="1" y="110"/>
                    <a:pt x="7" y="110"/>
                  </a:cubicBezTo>
                  <a:cubicBezTo>
                    <a:pt x="18" y="110"/>
                    <a:pt x="18" y="110"/>
                    <a:pt x="18" y="110"/>
                  </a:cubicBezTo>
                  <a:cubicBezTo>
                    <a:pt x="25" y="110"/>
                    <a:pt x="20" y="117"/>
                    <a:pt x="19" y="118"/>
                  </a:cubicBezTo>
                  <a:cubicBezTo>
                    <a:pt x="19" y="119"/>
                    <a:pt x="22" y="122"/>
                    <a:pt x="22" y="122"/>
                  </a:cubicBezTo>
                  <a:cubicBezTo>
                    <a:pt x="22" y="122"/>
                    <a:pt x="18" y="126"/>
                    <a:pt x="20" y="129"/>
                  </a:cubicBezTo>
                  <a:cubicBezTo>
                    <a:pt x="20" y="130"/>
                    <a:pt x="26" y="129"/>
                    <a:pt x="25" y="133"/>
                  </a:cubicBezTo>
                  <a:cubicBezTo>
                    <a:pt x="21" y="150"/>
                    <a:pt x="30" y="152"/>
                    <a:pt x="35" y="152"/>
                  </a:cubicBezTo>
                  <a:cubicBezTo>
                    <a:pt x="38" y="152"/>
                    <a:pt x="41" y="152"/>
                    <a:pt x="44" y="151"/>
                  </a:cubicBezTo>
                  <a:cubicBezTo>
                    <a:pt x="46" y="150"/>
                    <a:pt x="49" y="150"/>
                    <a:pt x="51" y="150"/>
                  </a:cubicBezTo>
                  <a:cubicBezTo>
                    <a:pt x="57" y="150"/>
                    <a:pt x="61" y="153"/>
                    <a:pt x="60" y="159"/>
                  </a:cubicBezTo>
                  <a:cubicBezTo>
                    <a:pt x="58" y="164"/>
                    <a:pt x="58" y="167"/>
                    <a:pt x="58" y="171"/>
                  </a:cubicBezTo>
                  <a:cubicBezTo>
                    <a:pt x="57" y="175"/>
                    <a:pt x="49" y="191"/>
                    <a:pt x="49" y="191"/>
                  </a:cubicBezTo>
                  <a:cubicBezTo>
                    <a:pt x="49" y="191"/>
                    <a:pt x="62" y="182"/>
                    <a:pt x="89" y="171"/>
                  </a:cubicBezTo>
                  <a:cubicBezTo>
                    <a:pt x="115" y="159"/>
                    <a:pt x="131" y="163"/>
                    <a:pt x="131" y="163"/>
                  </a:cubicBezTo>
                  <a:cubicBezTo>
                    <a:pt x="131" y="163"/>
                    <a:pt x="118" y="132"/>
                    <a:pt x="130" y="112"/>
                  </a:cubicBezTo>
                  <a:close/>
                  <a:moveTo>
                    <a:pt x="104" y="76"/>
                  </a:moveTo>
                  <a:cubicBezTo>
                    <a:pt x="103" y="75"/>
                    <a:pt x="102" y="73"/>
                    <a:pt x="101" y="72"/>
                  </a:cubicBezTo>
                  <a:cubicBezTo>
                    <a:pt x="70" y="114"/>
                    <a:pt x="70" y="114"/>
                    <a:pt x="70" y="114"/>
                  </a:cubicBezTo>
                  <a:cubicBezTo>
                    <a:pt x="76" y="78"/>
                    <a:pt x="76" y="78"/>
                    <a:pt x="76" y="78"/>
                  </a:cubicBezTo>
                  <a:cubicBezTo>
                    <a:pt x="63" y="78"/>
                    <a:pt x="63" y="78"/>
                    <a:pt x="63" y="78"/>
                  </a:cubicBezTo>
                  <a:cubicBezTo>
                    <a:pt x="68" y="59"/>
                    <a:pt x="68" y="59"/>
                    <a:pt x="68" y="59"/>
                  </a:cubicBezTo>
                  <a:cubicBezTo>
                    <a:pt x="66" y="59"/>
                    <a:pt x="64" y="59"/>
                    <a:pt x="62" y="59"/>
                  </a:cubicBezTo>
                  <a:cubicBezTo>
                    <a:pt x="37" y="62"/>
                    <a:pt x="30" y="36"/>
                    <a:pt x="49" y="22"/>
                  </a:cubicBezTo>
                  <a:cubicBezTo>
                    <a:pt x="49" y="21"/>
                    <a:pt x="49" y="21"/>
                    <a:pt x="49" y="21"/>
                  </a:cubicBezTo>
                  <a:cubicBezTo>
                    <a:pt x="49" y="21"/>
                    <a:pt x="49" y="21"/>
                    <a:pt x="49" y="21"/>
                  </a:cubicBezTo>
                  <a:cubicBezTo>
                    <a:pt x="49" y="21"/>
                    <a:pt x="49" y="21"/>
                    <a:pt x="49" y="21"/>
                  </a:cubicBezTo>
                  <a:cubicBezTo>
                    <a:pt x="50" y="21"/>
                    <a:pt x="50" y="21"/>
                    <a:pt x="50" y="21"/>
                  </a:cubicBezTo>
                  <a:cubicBezTo>
                    <a:pt x="59" y="14"/>
                    <a:pt x="70" y="11"/>
                    <a:pt x="82" y="11"/>
                  </a:cubicBezTo>
                  <a:cubicBezTo>
                    <a:pt x="106" y="11"/>
                    <a:pt x="127" y="26"/>
                    <a:pt x="135" y="48"/>
                  </a:cubicBezTo>
                  <a:cubicBezTo>
                    <a:pt x="138" y="57"/>
                    <a:pt x="138" y="63"/>
                    <a:pt x="135" y="70"/>
                  </a:cubicBezTo>
                  <a:cubicBezTo>
                    <a:pt x="130" y="82"/>
                    <a:pt x="108" y="83"/>
                    <a:pt x="104" y="76"/>
                  </a:cubicBezTo>
                  <a:close/>
                  <a:moveTo>
                    <a:pt x="90" y="61"/>
                  </a:moveTo>
                  <a:cubicBezTo>
                    <a:pt x="103" y="61"/>
                    <a:pt x="103" y="61"/>
                    <a:pt x="103" y="61"/>
                  </a:cubicBezTo>
                  <a:cubicBezTo>
                    <a:pt x="75" y="102"/>
                    <a:pt x="75" y="102"/>
                    <a:pt x="75" y="102"/>
                  </a:cubicBezTo>
                  <a:cubicBezTo>
                    <a:pt x="81" y="74"/>
                    <a:pt x="81" y="74"/>
                    <a:pt x="81" y="74"/>
                  </a:cubicBezTo>
                  <a:cubicBezTo>
                    <a:pt x="68" y="74"/>
                    <a:pt x="68" y="74"/>
                    <a:pt x="68" y="74"/>
                  </a:cubicBezTo>
                  <a:cubicBezTo>
                    <a:pt x="76" y="40"/>
                    <a:pt x="76" y="40"/>
                    <a:pt x="76" y="40"/>
                  </a:cubicBezTo>
                  <a:cubicBezTo>
                    <a:pt x="97" y="40"/>
                    <a:pt x="97" y="40"/>
                    <a:pt x="97" y="40"/>
                  </a:cubicBezTo>
                  <a:lnTo>
                    <a:pt x="90" y="61"/>
                  </a:ln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8" name="Freeform 65"/>
            <p:cNvSpPr>
              <a:spLocks noEditPoints="1"/>
            </p:cNvSpPr>
            <p:nvPr>
              <p:custDataLst>
                <p:tags r:id="rId11"/>
              </p:custDataLst>
            </p:nvPr>
          </p:nvSpPr>
          <p:spPr bwMode="auto">
            <a:xfrm>
              <a:off x="5193882" y="3637310"/>
              <a:ext cx="406218" cy="405070"/>
            </a:xfrm>
            <a:custGeom>
              <a:avLst/>
              <a:gdLst>
                <a:gd name="T0" fmla="*/ 131 w 150"/>
                <a:gd name="T1" fmla="*/ 19 h 149"/>
                <a:gd name="T2" fmla="*/ 62 w 150"/>
                <a:gd name="T3" fmla="*/ 19 h 149"/>
                <a:gd name="T4" fmla="*/ 49 w 150"/>
                <a:gd name="T5" fmla="*/ 65 h 149"/>
                <a:gd name="T6" fmla="*/ 36 w 150"/>
                <a:gd name="T7" fmla="*/ 78 h 149"/>
                <a:gd name="T8" fmla="*/ 40 w 150"/>
                <a:gd name="T9" fmla="*/ 81 h 149"/>
                <a:gd name="T10" fmla="*/ 37 w 150"/>
                <a:gd name="T11" fmla="*/ 84 h 149"/>
                <a:gd name="T12" fmla="*/ 41 w 150"/>
                <a:gd name="T13" fmla="*/ 88 h 149"/>
                <a:gd name="T14" fmla="*/ 34 w 150"/>
                <a:gd name="T15" fmla="*/ 95 h 149"/>
                <a:gd name="T16" fmla="*/ 30 w 150"/>
                <a:gd name="T17" fmla="*/ 91 h 149"/>
                <a:gd name="T18" fmla="*/ 16 w 150"/>
                <a:gd name="T19" fmla="*/ 105 h 149"/>
                <a:gd name="T20" fmla="*/ 20 w 150"/>
                <a:gd name="T21" fmla="*/ 109 h 149"/>
                <a:gd name="T22" fmla="*/ 13 w 150"/>
                <a:gd name="T23" fmla="*/ 116 h 149"/>
                <a:gd name="T24" fmla="*/ 9 w 150"/>
                <a:gd name="T25" fmla="*/ 112 h 149"/>
                <a:gd name="T26" fmla="*/ 2 w 150"/>
                <a:gd name="T27" fmla="*/ 119 h 149"/>
                <a:gd name="T28" fmla="*/ 0 w 150"/>
                <a:gd name="T29" fmla="*/ 143 h 149"/>
                <a:gd name="T30" fmla="*/ 6 w 150"/>
                <a:gd name="T31" fmla="*/ 149 h 149"/>
                <a:gd name="T32" fmla="*/ 30 w 150"/>
                <a:gd name="T33" fmla="*/ 147 h 149"/>
                <a:gd name="T34" fmla="*/ 44 w 150"/>
                <a:gd name="T35" fmla="*/ 133 h 149"/>
                <a:gd name="T36" fmla="*/ 40 w 150"/>
                <a:gd name="T37" fmla="*/ 129 h 149"/>
                <a:gd name="T38" fmla="*/ 54 w 150"/>
                <a:gd name="T39" fmla="*/ 115 h 149"/>
                <a:gd name="T40" fmla="*/ 58 w 150"/>
                <a:gd name="T41" fmla="*/ 119 h 149"/>
                <a:gd name="T42" fmla="*/ 68 w 150"/>
                <a:gd name="T43" fmla="*/ 109 h 149"/>
                <a:gd name="T44" fmla="*/ 71 w 150"/>
                <a:gd name="T45" fmla="*/ 113 h 149"/>
                <a:gd name="T46" fmla="*/ 84 w 150"/>
                <a:gd name="T47" fmla="*/ 100 h 149"/>
                <a:gd name="T48" fmla="*/ 131 w 150"/>
                <a:gd name="T49" fmla="*/ 87 h 149"/>
                <a:gd name="T50" fmla="*/ 131 w 150"/>
                <a:gd name="T51" fmla="*/ 19 h 149"/>
                <a:gd name="T52" fmla="*/ 17 w 150"/>
                <a:gd name="T53" fmla="*/ 134 h 149"/>
                <a:gd name="T54" fmla="*/ 15 w 150"/>
                <a:gd name="T55" fmla="*/ 132 h 149"/>
                <a:gd name="T56" fmla="*/ 53 w 150"/>
                <a:gd name="T57" fmla="*/ 94 h 149"/>
                <a:gd name="T58" fmla="*/ 55 w 150"/>
                <a:gd name="T59" fmla="*/ 97 h 149"/>
                <a:gd name="T60" fmla="*/ 17 w 150"/>
                <a:gd name="T61" fmla="*/ 134 h 149"/>
                <a:gd name="T62" fmla="*/ 117 w 150"/>
                <a:gd name="T63" fmla="*/ 48 h 149"/>
                <a:gd name="T64" fmla="*/ 101 w 150"/>
                <a:gd name="T65" fmla="*/ 48 h 149"/>
                <a:gd name="T66" fmla="*/ 101 w 150"/>
                <a:gd name="T67" fmla="*/ 32 h 149"/>
                <a:gd name="T68" fmla="*/ 117 w 150"/>
                <a:gd name="T69" fmla="*/ 32 h 149"/>
                <a:gd name="T70" fmla="*/ 117 w 150"/>
                <a:gd name="T71" fmla="*/ 4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0" h="149">
                  <a:moveTo>
                    <a:pt x="131" y="19"/>
                  </a:moveTo>
                  <a:cubicBezTo>
                    <a:pt x="112" y="0"/>
                    <a:pt x="81" y="0"/>
                    <a:pt x="62" y="19"/>
                  </a:cubicBezTo>
                  <a:cubicBezTo>
                    <a:pt x="49" y="31"/>
                    <a:pt x="45" y="49"/>
                    <a:pt x="49" y="65"/>
                  </a:cubicBezTo>
                  <a:cubicBezTo>
                    <a:pt x="36" y="78"/>
                    <a:pt x="36" y="78"/>
                    <a:pt x="36" y="78"/>
                  </a:cubicBezTo>
                  <a:cubicBezTo>
                    <a:pt x="40" y="81"/>
                    <a:pt x="40" y="81"/>
                    <a:pt x="40" y="81"/>
                  </a:cubicBezTo>
                  <a:cubicBezTo>
                    <a:pt x="37" y="84"/>
                    <a:pt x="37" y="84"/>
                    <a:pt x="37" y="84"/>
                  </a:cubicBezTo>
                  <a:cubicBezTo>
                    <a:pt x="41" y="88"/>
                    <a:pt x="41" y="88"/>
                    <a:pt x="41" y="88"/>
                  </a:cubicBezTo>
                  <a:cubicBezTo>
                    <a:pt x="34" y="95"/>
                    <a:pt x="34" y="95"/>
                    <a:pt x="34" y="95"/>
                  </a:cubicBezTo>
                  <a:cubicBezTo>
                    <a:pt x="30" y="91"/>
                    <a:pt x="30" y="91"/>
                    <a:pt x="30" y="91"/>
                  </a:cubicBezTo>
                  <a:cubicBezTo>
                    <a:pt x="16" y="105"/>
                    <a:pt x="16" y="105"/>
                    <a:pt x="16" y="105"/>
                  </a:cubicBezTo>
                  <a:cubicBezTo>
                    <a:pt x="20" y="109"/>
                    <a:pt x="20" y="109"/>
                    <a:pt x="20" y="109"/>
                  </a:cubicBezTo>
                  <a:cubicBezTo>
                    <a:pt x="13" y="116"/>
                    <a:pt x="13" y="116"/>
                    <a:pt x="13" y="116"/>
                  </a:cubicBezTo>
                  <a:cubicBezTo>
                    <a:pt x="9" y="112"/>
                    <a:pt x="9" y="112"/>
                    <a:pt x="9" y="112"/>
                  </a:cubicBezTo>
                  <a:cubicBezTo>
                    <a:pt x="2" y="119"/>
                    <a:pt x="2" y="119"/>
                    <a:pt x="2" y="119"/>
                  </a:cubicBezTo>
                  <a:cubicBezTo>
                    <a:pt x="0" y="143"/>
                    <a:pt x="0" y="143"/>
                    <a:pt x="0" y="143"/>
                  </a:cubicBezTo>
                  <a:cubicBezTo>
                    <a:pt x="6" y="149"/>
                    <a:pt x="6" y="149"/>
                    <a:pt x="6" y="149"/>
                  </a:cubicBezTo>
                  <a:cubicBezTo>
                    <a:pt x="30" y="147"/>
                    <a:pt x="30" y="147"/>
                    <a:pt x="30" y="147"/>
                  </a:cubicBezTo>
                  <a:cubicBezTo>
                    <a:pt x="44" y="133"/>
                    <a:pt x="44" y="133"/>
                    <a:pt x="44" y="133"/>
                  </a:cubicBezTo>
                  <a:cubicBezTo>
                    <a:pt x="40" y="129"/>
                    <a:pt x="40" y="129"/>
                    <a:pt x="40" y="129"/>
                  </a:cubicBezTo>
                  <a:cubicBezTo>
                    <a:pt x="54" y="115"/>
                    <a:pt x="54" y="115"/>
                    <a:pt x="54" y="115"/>
                  </a:cubicBezTo>
                  <a:cubicBezTo>
                    <a:pt x="58" y="119"/>
                    <a:pt x="58" y="119"/>
                    <a:pt x="58" y="119"/>
                  </a:cubicBezTo>
                  <a:cubicBezTo>
                    <a:pt x="68" y="109"/>
                    <a:pt x="68" y="109"/>
                    <a:pt x="68" y="109"/>
                  </a:cubicBezTo>
                  <a:cubicBezTo>
                    <a:pt x="71" y="113"/>
                    <a:pt x="71" y="113"/>
                    <a:pt x="71" y="113"/>
                  </a:cubicBezTo>
                  <a:cubicBezTo>
                    <a:pt x="84" y="100"/>
                    <a:pt x="84" y="100"/>
                    <a:pt x="84" y="100"/>
                  </a:cubicBezTo>
                  <a:cubicBezTo>
                    <a:pt x="101" y="104"/>
                    <a:pt x="118" y="100"/>
                    <a:pt x="131" y="87"/>
                  </a:cubicBezTo>
                  <a:cubicBezTo>
                    <a:pt x="150" y="68"/>
                    <a:pt x="150" y="38"/>
                    <a:pt x="131" y="19"/>
                  </a:cubicBezTo>
                  <a:close/>
                  <a:moveTo>
                    <a:pt x="17" y="134"/>
                  </a:moveTo>
                  <a:cubicBezTo>
                    <a:pt x="15" y="132"/>
                    <a:pt x="15" y="132"/>
                    <a:pt x="15" y="132"/>
                  </a:cubicBezTo>
                  <a:cubicBezTo>
                    <a:pt x="53" y="94"/>
                    <a:pt x="53" y="94"/>
                    <a:pt x="53" y="94"/>
                  </a:cubicBezTo>
                  <a:cubicBezTo>
                    <a:pt x="55" y="97"/>
                    <a:pt x="55" y="97"/>
                    <a:pt x="55" y="97"/>
                  </a:cubicBezTo>
                  <a:lnTo>
                    <a:pt x="17" y="134"/>
                  </a:lnTo>
                  <a:close/>
                  <a:moveTo>
                    <a:pt x="117" y="48"/>
                  </a:moveTo>
                  <a:cubicBezTo>
                    <a:pt x="112" y="53"/>
                    <a:pt x="105" y="53"/>
                    <a:pt x="101" y="48"/>
                  </a:cubicBezTo>
                  <a:cubicBezTo>
                    <a:pt x="97" y="44"/>
                    <a:pt x="97" y="37"/>
                    <a:pt x="101" y="32"/>
                  </a:cubicBezTo>
                  <a:cubicBezTo>
                    <a:pt x="105" y="28"/>
                    <a:pt x="112" y="28"/>
                    <a:pt x="117" y="32"/>
                  </a:cubicBezTo>
                  <a:cubicBezTo>
                    <a:pt x="121" y="37"/>
                    <a:pt x="121" y="44"/>
                    <a:pt x="117" y="48"/>
                  </a:cubicBez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9" name="TextBox 18"/>
            <p:cNvSpPr txBox="1"/>
            <p:nvPr>
              <p:custDataLst>
                <p:tags r:id="rId12"/>
              </p:custDataLst>
            </p:nvPr>
          </p:nvSpPr>
          <p:spPr>
            <a:xfrm>
              <a:off x="1342679" y="4162387"/>
              <a:ext cx="896620"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0" name="TextBox 19"/>
            <p:cNvSpPr txBox="1"/>
            <p:nvPr>
              <p:custDataLst>
                <p:tags r:id="rId13"/>
              </p:custDataLst>
            </p:nvPr>
          </p:nvSpPr>
          <p:spPr>
            <a:xfrm>
              <a:off x="2969051" y="4162387"/>
              <a:ext cx="1253490" cy="306705"/>
            </a:xfrm>
            <a:prstGeom prst="rect">
              <a:avLst/>
            </a:prstGeom>
            <a:noFill/>
          </p:spPr>
          <p:txBody>
            <a:bodyPr wrap="none" rtlCol="0">
              <a:spAutoFit/>
            </a:bodyPr>
            <a:lstStyle/>
            <a:p>
              <a:pPr algn="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社会交换理论</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1" name="TextBox 20"/>
            <p:cNvSpPr txBox="1"/>
            <p:nvPr>
              <p:custDataLst>
                <p:tags r:id="rId14"/>
              </p:custDataLst>
            </p:nvPr>
          </p:nvSpPr>
          <p:spPr>
            <a:xfrm>
              <a:off x="4566044" y="4162387"/>
              <a:ext cx="1674495"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工作</a:t>
              </a:r>
              <a:r>
                <a:rPr lang="en-US" altLang="zh-CN"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生活平衡理论</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2" name="TextBox 21"/>
            <p:cNvSpPr txBox="1"/>
            <p:nvPr>
              <p:custDataLst>
                <p:tags r:id="rId15"/>
              </p:custDataLst>
            </p:nvPr>
          </p:nvSpPr>
          <p:spPr>
            <a:xfrm>
              <a:off x="6676287" y="4162387"/>
              <a:ext cx="1075055"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问卷测量法</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3" name="TextBox 22"/>
            <p:cNvSpPr txBox="1"/>
            <p:nvPr>
              <p:custDataLst>
                <p:tags r:id="rId16"/>
              </p:custDataLst>
            </p:nvPr>
          </p:nvSpPr>
          <p:spPr>
            <a:xfrm>
              <a:off x="8417113" y="4162387"/>
              <a:ext cx="1253490" cy="306705"/>
            </a:xfrm>
            <a:prstGeom prst="rect">
              <a:avLst/>
            </a:prstGeom>
            <a:noFill/>
          </p:spPr>
          <p:txBody>
            <a:bodyPr wrap="none" rtlCol="0">
              <a:spAutoFit/>
            </a:bodyPr>
            <a:lstStyle/>
            <a:p>
              <a:pPr algn="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层级线性模型</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sp>
        <p:nvSpPr>
          <p:cNvPr id="27" name="文本框 26"/>
          <p:cNvSpPr txBox="1"/>
          <p:nvPr>
            <p:custDataLst>
              <p:tags r:id="rId17"/>
            </p:custDataLst>
          </p:nvPr>
        </p:nvSpPr>
        <p:spPr>
          <a:xfrm>
            <a:off x="1068070" y="1638935"/>
            <a:ext cx="1951355" cy="121031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本选题旨在探究弹性工作制（如远程办公、弹性工时）对知识型员工（如研发、设计人员）创新绩效（如创意产出、专利申请）的影响</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0" name="文本框 29"/>
          <p:cNvSpPr txBox="1"/>
          <p:nvPr>
            <p:custDataLst>
              <p:tags r:id="rId18"/>
            </p:custDataLst>
          </p:nvPr>
        </p:nvSpPr>
        <p:spPr>
          <a:xfrm>
            <a:off x="4551680" y="2172970"/>
            <a:ext cx="1951355" cy="69596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探讨弹性工作如何通过降低冲突、提升幸福感来正向影响员工的创新投入</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3" name="文本框 32"/>
          <p:cNvSpPr txBox="1"/>
          <p:nvPr>
            <p:custDataLst>
              <p:tags r:id="rId19"/>
            </p:custDataLst>
          </p:nvPr>
        </p:nvSpPr>
        <p:spPr>
          <a:xfrm>
            <a:off x="8393430" y="1948815"/>
            <a:ext cx="1951355" cy="90043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分析个体层面（自主性）和组织层面（弹性工作政策）因素对创新绩效的跨层影响</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6" name="文本框 35"/>
          <p:cNvSpPr txBox="1"/>
          <p:nvPr>
            <p:custDataLst>
              <p:tags r:id="rId20"/>
            </p:custDataLst>
          </p:nvPr>
        </p:nvSpPr>
        <p:spPr>
          <a:xfrm>
            <a:off x="2793365" y="4943475"/>
            <a:ext cx="1951355" cy="705485"/>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分析组织授予弹性工作权力后，员工以创新绩效作为回报的内在机制</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2" name="文本框 41"/>
          <p:cNvSpPr txBox="1"/>
          <p:nvPr>
            <p:custDataLst>
              <p:tags r:id="rId21"/>
            </p:custDataLst>
          </p:nvPr>
        </p:nvSpPr>
        <p:spPr>
          <a:xfrm>
            <a:off x="6380480" y="4942840"/>
            <a:ext cx="1951355" cy="70612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对不同行业（如</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IT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、咨询）的知识型员工进行问卷调查，测量其工作自主性、工作</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生活平衡及创新绩效</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endParaRPr>
          </a:p>
        </p:txBody>
      </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6" name="文本框 25"/>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弹性工作制对知识型员工创新绩效影响的差异化研究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custDataLst>
              <p:tags r:id="rId1"/>
            </p:custDataLst>
          </p:nvPr>
        </p:nvGrpSpPr>
        <p:grpSpPr bwMode="auto">
          <a:xfrm>
            <a:off x="2255260" y="2153844"/>
            <a:ext cx="7552947" cy="1442663"/>
            <a:chOff x="0" y="0"/>
            <a:chExt cx="6032665" cy="1152128"/>
          </a:xfrm>
        </p:grpSpPr>
        <p:sp>
          <p:nvSpPr>
            <p:cNvPr id="36" name="直接连接符 35"/>
            <p:cNvSpPr>
              <a:spLocks noChangeShapeType="1"/>
            </p:cNvSpPr>
            <p:nvPr>
              <p:custDataLst>
                <p:tags r:id="rId2"/>
              </p:custDataLst>
            </p:nvPr>
          </p:nvSpPr>
          <p:spPr bwMode="auto">
            <a:xfrm>
              <a:off x="0" y="504056"/>
              <a:ext cx="6032665" cy="1"/>
            </a:xfrm>
            <a:prstGeom prst="line">
              <a:avLst/>
            </a:prstGeom>
            <a:noFill/>
            <a:ln w="6350">
              <a:solidFill>
                <a:srgbClr val="7F7F7F"/>
              </a:solidFill>
              <a:bevel/>
            </a:ln>
            <a:extLst>
              <a:ext uri="{909E8E84-426E-40DD-AFC4-6F175D3DCCD1}">
                <a14:hiddenFill xmlns:a14="http://schemas.microsoft.com/office/drawing/2010/main">
                  <a:noFill/>
                </a14:hiddenFill>
              </a:ext>
            </a:extLst>
          </p:spPr>
          <p:txBody>
            <a:bodyPr/>
            <a:lstStyle/>
            <a:p>
              <a:pPr defTabSz="342900"/>
              <a:endParaRPr lang="zh-CN" altLang="en-US" sz="3200">
                <a:solidFill>
                  <a:srgbClr val="ED7D31"/>
                </a:solidFill>
                <a:cs typeface="+mn-ea"/>
                <a:sym typeface="+mn-lt"/>
              </a:endParaRPr>
            </a:p>
          </p:txBody>
        </p:sp>
        <p:cxnSp>
          <p:nvCxnSpPr>
            <p:cNvPr id="37" name="直接箭头连接符 36"/>
            <p:cNvCxnSpPr>
              <a:cxnSpLocks noChangeShapeType="1"/>
            </p:cNvCxnSpPr>
            <p:nvPr>
              <p:custDataLst>
                <p:tags r:id="rId3"/>
              </p:custDataLst>
            </p:nvPr>
          </p:nvCxnSpPr>
          <p:spPr bwMode="auto">
            <a:xfrm>
              <a:off x="0"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38" name="直接箭头连接符 37"/>
            <p:cNvCxnSpPr>
              <a:cxnSpLocks noChangeShapeType="1"/>
            </p:cNvCxnSpPr>
            <p:nvPr>
              <p:custDataLst>
                <p:tags r:id="rId4"/>
              </p:custDataLst>
            </p:nvPr>
          </p:nvCxnSpPr>
          <p:spPr bwMode="auto">
            <a:xfrm>
              <a:off x="2031485"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42" name="直接箭头连接符 41"/>
            <p:cNvCxnSpPr>
              <a:cxnSpLocks noChangeShapeType="1"/>
            </p:cNvCxnSpPr>
            <p:nvPr>
              <p:custDataLst>
                <p:tags r:id="rId5"/>
              </p:custDataLst>
            </p:nvPr>
          </p:nvCxnSpPr>
          <p:spPr bwMode="auto">
            <a:xfrm>
              <a:off x="4144450"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43" name="直接箭头连接符 42"/>
            <p:cNvCxnSpPr>
              <a:cxnSpLocks noChangeShapeType="1"/>
            </p:cNvCxnSpPr>
            <p:nvPr>
              <p:custDataLst>
                <p:tags r:id="rId6"/>
              </p:custDataLst>
            </p:nvPr>
          </p:nvCxnSpPr>
          <p:spPr bwMode="auto">
            <a:xfrm>
              <a:off x="6030758"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sp>
          <p:nvSpPr>
            <p:cNvPr id="44" name="直接连接符 43"/>
            <p:cNvSpPr>
              <a:spLocks noChangeShapeType="1"/>
            </p:cNvSpPr>
            <p:nvPr/>
          </p:nvSpPr>
          <p:spPr bwMode="auto">
            <a:xfrm flipH="1">
              <a:off x="3080337" y="0"/>
              <a:ext cx="1" cy="504056"/>
            </a:xfrm>
            <a:prstGeom prst="line">
              <a:avLst/>
            </a:prstGeom>
            <a:noFill/>
            <a:ln w="6350">
              <a:solidFill>
                <a:srgbClr val="7F7F7F"/>
              </a:solidFill>
              <a:bevel/>
            </a:ln>
            <a:extLst>
              <a:ext uri="{909E8E84-426E-40DD-AFC4-6F175D3DCCD1}">
                <a14:hiddenFill xmlns:a14="http://schemas.microsoft.com/office/drawing/2010/main">
                  <a:noFill/>
                </a14:hiddenFill>
              </a:ext>
            </a:extLst>
          </p:spPr>
          <p:txBody>
            <a:bodyPr/>
            <a:lstStyle/>
            <a:p>
              <a:pPr defTabSz="342900"/>
              <a:endParaRPr lang="zh-CN" altLang="en-US" sz="3200">
                <a:solidFill>
                  <a:srgbClr val="ED7D31"/>
                </a:solidFill>
                <a:cs typeface="+mn-ea"/>
                <a:sym typeface="+mn-lt"/>
              </a:endParaRPr>
            </a:p>
          </p:txBody>
        </p:sp>
      </p:grpSp>
      <p:sp>
        <p:nvSpPr>
          <p:cNvPr id="45" name="TextBox 29"/>
          <p:cNvSpPr>
            <a:spLocks noChangeArrowheads="1"/>
          </p:cNvSpPr>
          <p:nvPr>
            <p:custDataLst>
              <p:tags r:id="rId7"/>
            </p:custDataLst>
          </p:nvPr>
        </p:nvSpPr>
        <p:spPr bwMode="auto">
          <a:xfrm>
            <a:off x="912576"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分析算法技术对新闻专业主义（如客观性、独立性）核心价值的挑战与重构</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6" name="TextBox 30"/>
          <p:cNvSpPr>
            <a:spLocks noChangeArrowheads="1"/>
          </p:cNvSpPr>
          <p:nvPr>
            <p:custDataLst>
              <p:tags r:id="rId8"/>
            </p:custDataLst>
          </p:nvPr>
        </p:nvSpPr>
        <p:spPr bwMode="auto">
          <a:xfrm>
            <a:off x="3436052" y="4393227"/>
            <a:ext cx="2525056"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研究算法技术作为新的媒介环境对新闻生产流程和编辑角色定位的影响</a:t>
            </a:r>
            <a:endParaRPr lang="zh-CN" altLang="en-US" sz="12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7" name="TextBox 31"/>
          <p:cNvSpPr>
            <a:spLocks noChangeArrowheads="1"/>
          </p:cNvSpPr>
          <p:nvPr>
            <p:custDataLst>
              <p:tags r:id="rId9"/>
            </p:custDataLst>
          </p:nvPr>
        </p:nvSpPr>
        <p:spPr bwMode="auto">
          <a:xfrm>
            <a:off x="6051563"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访谈不同层级的新闻编辑和算法工程师，了解他们在内容把关、流量分配和伦理决策中的协同与冲突</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8" name="TextBox 32"/>
          <p:cNvSpPr>
            <a:spLocks noChangeArrowheads="1"/>
          </p:cNvSpPr>
          <p:nvPr>
            <p:custDataLst>
              <p:tags r:id="rId10"/>
            </p:custDataLst>
          </p:nvPr>
        </p:nvSpPr>
        <p:spPr bwMode="auto">
          <a:xfrm>
            <a:off x="8755959"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编制新闻编辑算法素养测量量表，对国内主流媒体的编辑进行抽样调查，评估其素养水平</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9" name="等腰三角形 48"/>
          <p:cNvSpPr>
            <a:spLocks noChangeArrowheads="1"/>
          </p:cNvSpPr>
          <p:nvPr/>
        </p:nvSpPr>
        <p:spPr bwMode="auto">
          <a:xfrm rot="5400000">
            <a:off x="2163208" y="5684153"/>
            <a:ext cx="361856" cy="311071"/>
          </a:xfrm>
          <a:prstGeom prst="triangle">
            <a:avLst>
              <a:gd name="adj" fmla="val 50000"/>
            </a:avLst>
          </a:prstGeom>
          <a:solidFill>
            <a:schemeClr val="accent2"/>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800">
              <a:solidFill>
                <a:srgbClr val="FFFFFF"/>
              </a:solidFill>
              <a:latin typeface="+mn-lt"/>
              <a:ea typeface="+mn-ea"/>
              <a:cs typeface="+mn-ea"/>
              <a:sym typeface="+mn-lt"/>
            </a:endParaRPr>
          </a:p>
        </p:txBody>
      </p:sp>
      <p:sp>
        <p:nvSpPr>
          <p:cNvPr id="50" name="TextBox 34"/>
          <p:cNvSpPr>
            <a:spLocks noChangeArrowheads="1"/>
          </p:cNvSpPr>
          <p:nvPr/>
        </p:nvSpPr>
        <p:spPr bwMode="auto">
          <a:xfrm>
            <a:off x="2539348" y="5568156"/>
            <a:ext cx="816397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defTabSz="342900">
              <a:lnSpc>
                <a:spcPct val="150000"/>
              </a:lnSpc>
              <a:spcBef>
                <a:spcPct val="0"/>
              </a:spcBef>
              <a:buNone/>
            </a:pP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本选题旨在分析在媒体融合和算法推荐为主导的传播环境下，新闻编辑所需的</a:t>
            </a:r>
            <a:r>
              <a:rPr lang="en-US" altLang="zh-CN"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算法素养</a:t>
            </a:r>
            <a:r>
              <a:rPr lang="en-US" altLang="zh-CN"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（如理解、评估和使用算法）的内涵、现状与重要性</a:t>
            </a:r>
            <a:endPar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51" name="组合 50"/>
          <p:cNvGrpSpPr/>
          <p:nvPr/>
        </p:nvGrpSpPr>
        <p:grpSpPr bwMode="auto">
          <a:xfrm>
            <a:off x="4643819" y="1431725"/>
            <a:ext cx="2904369" cy="722125"/>
            <a:chOff x="0" y="0"/>
            <a:chExt cx="2320263" cy="576064"/>
          </a:xfrm>
        </p:grpSpPr>
        <p:sp>
          <p:nvSpPr>
            <p:cNvPr id="52" name="矩形 51"/>
            <p:cNvSpPr>
              <a:spLocks noChangeArrowheads="1"/>
            </p:cNvSpPr>
            <p:nvPr/>
          </p:nvSpPr>
          <p:spPr bwMode="auto">
            <a:xfrm>
              <a:off x="0" y="0"/>
              <a:ext cx="2320263" cy="576064"/>
            </a:xfrm>
            <a:prstGeom prst="rect">
              <a:avLst/>
            </a:prstGeom>
            <a:solidFill>
              <a:schemeClr val="accent2"/>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800">
                <a:solidFill>
                  <a:srgbClr val="ED7D31"/>
                </a:solidFill>
                <a:latin typeface="+mn-lt"/>
                <a:ea typeface="+mn-ea"/>
                <a:cs typeface="+mn-ea"/>
                <a:sym typeface="+mn-lt"/>
              </a:endParaRPr>
            </a:p>
          </p:txBody>
        </p:sp>
        <p:sp>
          <p:nvSpPr>
            <p:cNvPr id="53" name="TextBox 35"/>
            <p:cNvSpPr>
              <a:spLocks noChangeArrowheads="1"/>
            </p:cNvSpPr>
            <p:nvPr/>
          </p:nvSpPr>
          <p:spPr bwMode="auto">
            <a:xfrm>
              <a:off x="467063" y="128274"/>
              <a:ext cx="1366648" cy="318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20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核心研究方法</a:t>
              </a:r>
              <a:endParaRPr lang="zh-CN" altLang="en-US" sz="20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54" name="组合 53"/>
          <p:cNvGrpSpPr/>
          <p:nvPr>
            <p:custDataLst>
              <p:tags r:id="rId11"/>
            </p:custDataLst>
          </p:nvPr>
        </p:nvGrpSpPr>
        <p:grpSpPr bwMode="auto">
          <a:xfrm>
            <a:off x="1003049" y="3596504"/>
            <a:ext cx="2383804" cy="720539"/>
            <a:chOff x="0" y="0"/>
            <a:chExt cx="1904222" cy="576064"/>
          </a:xfrm>
          <a:solidFill>
            <a:schemeClr val="accent1"/>
          </a:solidFill>
        </p:grpSpPr>
        <p:sp>
          <p:nvSpPr>
            <p:cNvPr id="55" name="矩形 54"/>
            <p:cNvSpPr>
              <a:spLocks noChangeArrowheads="1"/>
            </p:cNvSpPr>
            <p:nvPr>
              <p:custDataLst>
                <p:tags r:id="rId12"/>
              </p:custDataLst>
            </p:nvPr>
          </p:nvSpPr>
          <p:spPr bwMode="auto">
            <a:xfrm>
              <a:off x="0" y="0"/>
              <a:ext cx="1904222" cy="576064"/>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56" name="TextBox 36"/>
            <p:cNvSpPr>
              <a:spLocks noChangeArrowheads="1"/>
            </p:cNvSpPr>
            <p:nvPr>
              <p:custDataLst>
                <p:tags r:id="rId13"/>
              </p:custDataLst>
            </p:nvPr>
          </p:nvSpPr>
          <p:spPr bwMode="auto">
            <a:xfrm>
              <a:off x="392107" y="140563"/>
              <a:ext cx="1120005" cy="2695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专业主义理论</a:t>
              </a:r>
              <a:endPar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57" name="组合 56"/>
          <p:cNvGrpSpPr/>
          <p:nvPr>
            <p:custDataLst>
              <p:tags r:id="rId14"/>
            </p:custDataLst>
          </p:nvPr>
        </p:nvGrpSpPr>
        <p:grpSpPr bwMode="auto">
          <a:xfrm>
            <a:off x="3577304" y="3596504"/>
            <a:ext cx="2383804" cy="720539"/>
            <a:chOff x="0" y="0"/>
            <a:chExt cx="1904222" cy="576064"/>
          </a:xfrm>
        </p:grpSpPr>
        <p:sp>
          <p:nvSpPr>
            <p:cNvPr id="58" name="矩形 57"/>
            <p:cNvSpPr>
              <a:spLocks noChangeArrowheads="1"/>
            </p:cNvSpPr>
            <p:nvPr>
              <p:custDataLst>
                <p:tags r:id="rId15"/>
              </p:custDataLst>
            </p:nvPr>
          </p:nvSpPr>
          <p:spPr bwMode="auto">
            <a:xfrm>
              <a:off x="0" y="0"/>
              <a:ext cx="1904222" cy="576064"/>
            </a:xfrm>
            <a:prstGeom prst="rect">
              <a:avLst/>
            </a:prstGeom>
            <a:solidFill>
              <a:schemeClr val="accent2"/>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59" name="TextBox 37"/>
            <p:cNvSpPr>
              <a:spLocks noChangeArrowheads="1"/>
            </p:cNvSpPr>
            <p:nvPr>
              <p:custDataLst>
                <p:tags r:id="rId16"/>
              </p:custDataLst>
            </p:nvPr>
          </p:nvSpPr>
          <p:spPr bwMode="auto">
            <a:xfrm>
              <a:off x="473267" y="140563"/>
              <a:ext cx="957685" cy="26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媒介生态学</a:t>
              </a:r>
              <a:endPar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60" name="组合 59"/>
          <p:cNvGrpSpPr/>
          <p:nvPr>
            <p:custDataLst>
              <p:tags r:id="rId17"/>
            </p:custDataLst>
          </p:nvPr>
        </p:nvGrpSpPr>
        <p:grpSpPr bwMode="auto">
          <a:xfrm>
            <a:off x="6191235" y="3596504"/>
            <a:ext cx="2383804" cy="720539"/>
            <a:chOff x="0" y="0"/>
            <a:chExt cx="1904222" cy="576064"/>
          </a:xfrm>
        </p:grpSpPr>
        <p:sp>
          <p:nvSpPr>
            <p:cNvPr id="61" name="矩形 60"/>
            <p:cNvSpPr>
              <a:spLocks noChangeArrowheads="1"/>
            </p:cNvSpPr>
            <p:nvPr>
              <p:custDataLst>
                <p:tags r:id="rId18"/>
              </p:custDataLst>
            </p:nvPr>
          </p:nvSpPr>
          <p:spPr bwMode="auto">
            <a:xfrm>
              <a:off x="0" y="0"/>
              <a:ext cx="1904222" cy="576064"/>
            </a:xfrm>
            <a:prstGeom prst="rect">
              <a:avLst/>
            </a:prstGeom>
            <a:solidFill>
              <a:schemeClr val="accent1"/>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62" name="TextBox 38"/>
            <p:cNvSpPr>
              <a:spLocks noChangeArrowheads="1"/>
            </p:cNvSpPr>
            <p:nvPr>
              <p:custDataLst>
                <p:tags r:id="rId19"/>
              </p:custDataLst>
            </p:nvPr>
          </p:nvSpPr>
          <p:spPr bwMode="auto">
            <a:xfrm>
              <a:off x="473267" y="140563"/>
              <a:ext cx="957685" cy="26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深度访谈法</a:t>
              </a:r>
              <a:endPar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63" name="组合 62"/>
          <p:cNvGrpSpPr/>
          <p:nvPr>
            <p:custDataLst>
              <p:tags r:id="rId20"/>
            </p:custDataLst>
          </p:nvPr>
        </p:nvGrpSpPr>
        <p:grpSpPr bwMode="auto">
          <a:xfrm>
            <a:off x="8805167" y="3596504"/>
            <a:ext cx="2383804" cy="720539"/>
            <a:chOff x="0" y="0"/>
            <a:chExt cx="1904222" cy="576064"/>
          </a:xfrm>
          <a:solidFill>
            <a:schemeClr val="accent2"/>
          </a:solidFill>
        </p:grpSpPr>
        <p:sp>
          <p:nvSpPr>
            <p:cNvPr id="64" name="矩形 63"/>
            <p:cNvSpPr>
              <a:spLocks noChangeArrowheads="1"/>
            </p:cNvSpPr>
            <p:nvPr>
              <p:custDataLst>
                <p:tags r:id="rId21"/>
              </p:custDataLst>
            </p:nvPr>
          </p:nvSpPr>
          <p:spPr bwMode="auto">
            <a:xfrm>
              <a:off x="0" y="0"/>
              <a:ext cx="1904222" cy="576064"/>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65" name="TextBox 39"/>
            <p:cNvSpPr>
              <a:spLocks noChangeArrowheads="1"/>
            </p:cNvSpPr>
            <p:nvPr>
              <p:custDataLst>
                <p:tags r:id="rId22"/>
              </p:custDataLst>
            </p:nvPr>
          </p:nvSpPr>
          <p:spPr bwMode="auto">
            <a:xfrm>
              <a:off x="473267" y="140563"/>
              <a:ext cx="957685" cy="2695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问卷调查法</a:t>
              </a:r>
              <a:endPar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媒体融合背景下新闻编辑的</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算法素养</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与专业边界重塑研究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custDataLst>
              <p:tags r:id="rId1"/>
            </p:custDataLst>
          </p:nvPr>
        </p:nvGrpSpPr>
        <p:grpSpPr>
          <a:xfrm>
            <a:off x="175895" y="1855470"/>
            <a:ext cx="11737955" cy="4688865"/>
            <a:chOff x="274" y="2540"/>
            <a:chExt cx="18485" cy="7384"/>
          </a:xfrm>
        </p:grpSpPr>
        <p:sp>
          <p:nvSpPr>
            <p:cNvPr id="4" name="Freeform 5"/>
            <p:cNvSpPr/>
            <p:nvPr>
              <p:custDataLst>
                <p:tags r:id="rId2"/>
              </p:custDataLst>
            </p:nvPr>
          </p:nvSpPr>
          <p:spPr bwMode="auto">
            <a:xfrm>
              <a:off x="5231" y="6289"/>
              <a:ext cx="4858" cy="2869"/>
            </a:xfrm>
            <a:custGeom>
              <a:avLst/>
              <a:gdLst>
                <a:gd name="T0" fmla="*/ 0 w 356"/>
                <a:gd name="T1" fmla="*/ 209 h 209"/>
                <a:gd name="T2" fmla="*/ 356 w 356"/>
                <a:gd name="T3" fmla="*/ 209 h 209"/>
                <a:gd name="T4" fmla="*/ 68 w 356"/>
                <a:gd name="T5" fmla="*/ 0 h 209"/>
                <a:gd name="T6" fmla="*/ 0 w 356"/>
                <a:gd name="T7" fmla="*/ 209 h 209"/>
              </a:gdLst>
              <a:ahLst/>
              <a:cxnLst>
                <a:cxn ang="0">
                  <a:pos x="T0" y="T1"/>
                </a:cxn>
                <a:cxn ang="0">
                  <a:pos x="T2" y="T3"/>
                </a:cxn>
                <a:cxn ang="0">
                  <a:pos x="T4" y="T5"/>
                </a:cxn>
                <a:cxn ang="0">
                  <a:pos x="T6" y="T7"/>
                </a:cxn>
              </a:cxnLst>
              <a:rect l="0" t="0" r="r" b="b"/>
              <a:pathLst>
                <a:path w="356" h="209">
                  <a:moveTo>
                    <a:pt x="0" y="209"/>
                  </a:moveTo>
                  <a:cubicBezTo>
                    <a:pt x="356" y="209"/>
                    <a:pt x="356" y="209"/>
                    <a:pt x="356" y="209"/>
                  </a:cubicBezTo>
                  <a:cubicBezTo>
                    <a:pt x="68" y="0"/>
                    <a:pt x="68" y="0"/>
                    <a:pt x="68" y="0"/>
                  </a:cubicBezTo>
                  <a:cubicBezTo>
                    <a:pt x="25" y="58"/>
                    <a:pt x="0" y="131"/>
                    <a:pt x="0" y="209"/>
                  </a:cubicBezTo>
                  <a:close/>
                </a:path>
              </a:pathLst>
            </a:custGeom>
            <a:solidFill>
              <a:schemeClr val="accent1"/>
            </a:solidFill>
            <a:ln>
              <a:noFill/>
            </a:ln>
          </p:spPr>
          <p:txBody>
            <a:bodyPr vert="horz" wrap="square" lIns="91440" tIns="45720" rIns="91440" bIns="45720" numCol="1" anchor="t" anchorCtr="0" compatLnSpc="1"/>
            <a:lstStyle/>
            <a:p>
              <a:endParaRPr lang="en-US" dirty="0">
                <a:noFill/>
                <a:latin typeface="思源黑体 CN Medium" panose="020B0600000000000000" charset="-122"/>
                <a:ea typeface="思源黑体 CN Medium" panose="020B0600000000000000" charset="-122"/>
                <a:cs typeface="思源黑体 Medium" panose="020B0600000000000000" charset="-122"/>
              </a:endParaRPr>
            </a:p>
          </p:txBody>
        </p:sp>
        <p:sp>
          <p:nvSpPr>
            <p:cNvPr id="5" name="文本框 4"/>
            <p:cNvSpPr txBox="1"/>
            <p:nvPr>
              <p:custDataLst>
                <p:tags r:id="rId3"/>
              </p:custDataLst>
            </p:nvPr>
          </p:nvSpPr>
          <p:spPr>
            <a:xfrm>
              <a:off x="5772" y="7738"/>
              <a:ext cx="597" cy="475"/>
            </a:xfrm>
            <a:custGeom>
              <a:avLst/>
              <a:gdLst/>
              <a:ahLst/>
              <a:cxnLst/>
              <a:rect l="l" t="t" r="r" b="b"/>
              <a:pathLst>
                <a:path w="370732"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69977" y="4096"/>
                  </a:moveTo>
                  <a:lnTo>
                    <a:pt x="370732" y="4096"/>
                  </a:lnTo>
                  <a:lnTo>
                    <a:pt x="370732" y="290798"/>
                  </a:lnTo>
                  <a:lnTo>
                    <a:pt x="317078" y="290798"/>
                  </a:lnTo>
                  <a:lnTo>
                    <a:pt x="317078" y="49968"/>
                  </a:lnTo>
                  <a:lnTo>
                    <a:pt x="269977" y="4996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6" name="Freeform 9"/>
            <p:cNvSpPr/>
            <p:nvPr>
              <p:custDataLst>
                <p:tags r:id="rId4"/>
              </p:custDataLst>
            </p:nvPr>
          </p:nvSpPr>
          <p:spPr bwMode="auto">
            <a:xfrm>
              <a:off x="6426" y="4835"/>
              <a:ext cx="3662" cy="4323"/>
            </a:xfrm>
            <a:custGeom>
              <a:avLst/>
              <a:gdLst>
                <a:gd name="T0" fmla="*/ 0 w 268"/>
                <a:gd name="T1" fmla="*/ 121 h 315"/>
                <a:gd name="T2" fmla="*/ 268 w 268"/>
                <a:gd name="T3" fmla="*/ 315 h 315"/>
                <a:gd name="T4" fmla="*/ 165 w 268"/>
                <a:gd name="T5" fmla="*/ 0 h 315"/>
                <a:gd name="T6" fmla="*/ 0 w 268"/>
                <a:gd name="T7" fmla="*/ 121 h 315"/>
              </a:gdLst>
              <a:ahLst/>
              <a:cxnLst>
                <a:cxn ang="0">
                  <a:pos x="T0" y="T1"/>
                </a:cxn>
                <a:cxn ang="0">
                  <a:pos x="T2" y="T3"/>
                </a:cxn>
                <a:cxn ang="0">
                  <a:pos x="T4" y="T5"/>
                </a:cxn>
                <a:cxn ang="0">
                  <a:pos x="T6" y="T7"/>
                </a:cxn>
              </a:cxnLst>
              <a:rect l="0" t="0" r="r" b="b"/>
              <a:pathLst>
                <a:path w="268" h="315">
                  <a:moveTo>
                    <a:pt x="0" y="121"/>
                  </a:moveTo>
                  <a:cubicBezTo>
                    <a:pt x="268" y="315"/>
                    <a:pt x="268" y="315"/>
                    <a:pt x="268" y="315"/>
                  </a:cubicBezTo>
                  <a:cubicBezTo>
                    <a:pt x="165" y="0"/>
                    <a:pt x="165" y="0"/>
                    <a:pt x="165" y="0"/>
                  </a:cubicBezTo>
                  <a:cubicBezTo>
                    <a:pt x="96" y="23"/>
                    <a:pt x="39" y="66"/>
                    <a:pt x="0" y="121"/>
                  </a:cubicBezTo>
                  <a:close/>
                </a:path>
              </a:pathLst>
            </a:custGeom>
            <a:solidFill>
              <a:schemeClr val="accent2"/>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7" name="文本框 6"/>
            <p:cNvSpPr txBox="1"/>
            <p:nvPr>
              <p:custDataLst>
                <p:tags r:id="rId5"/>
              </p:custDataLst>
            </p:nvPr>
          </p:nvSpPr>
          <p:spPr>
            <a:xfrm>
              <a:off x="7407" y="5881"/>
              <a:ext cx="741" cy="475"/>
            </a:xfrm>
            <a:custGeom>
              <a:avLst/>
              <a:gdLst/>
              <a:ahLst/>
              <a:cxnLst/>
              <a:rect l="l" t="t" r="r" b="b"/>
              <a:pathLst>
                <a:path w="460429"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363769" y="1229"/>
                  </a:moveTo>
                  <a:cubicBezTo>
                    <a:pt x="423977" y="1229"/>
                    <a:pt x="460429" y="42596"/>
                    <a:pt x="460429" y="88878"/>
                  </a:cubicBezTo>
                  <a:cubicBezTo>
                    <a:pt x="460429" y="129016"/>
                    <a:pt x="439541" y="149085"/>
                    <a:pt x="387934" y="210931"/>
                  </a:cubicBezTo>
                  <a:lnTo>
                    <a:pt x="360083" y="244107"/>
                  </a:lnTo>
                  <a:lnTo>
                    <a:pt x="460429" y="244107"/>
                  </a:lnTo>
                  <a:lnTo>
                    <a:pt x="460429" y="290798"/>
                  </a:lnTo>
                  <a:lnTo>
                    <a:pt x="266291" y="290798"/>
                  </a:lnTo>
                  <a:lnTo>
                    <a:pt x="266291" y="283016"/>
                  </a:lnTo>
                  <a:lnTo>
                    <a:pt x="339604" y="195367"/>
                  </a:lnTo>
                  <a:cubicBezTo>
                    <a:pt x="393259" y="131473"/>
                    <a:pt x="405546" y="116319"/>
                    <a:pt x="405546" y="91335"/>
                  </a:cubicBezTo>
                  <a:cubicBezTo>
                    <a:pt x="405546" y="58160"/>
                    <a:pt x="380972" y="48739"/>
                    <a:pt x="363769" y="48739"/>
                  </a:cubicBezTo>
                  <a:cubicBezTo>
                    <a:pt x="344929" y="48739"/>
                    <a:pt x="321993" y="59798"/>
                    <a:pt x="321993" y="95021"/>
                  </a:cubicBezTo>
                  <a:lnTo>
                    <a:pt x="321993" y="102394"/>
                  </a:lnTo>
                  <a:lnTo>
                    <a:pt x="267110" y="102394"/>
                  </a:lnTo>
                  <a:lnTo>
                    <a:pt x="267110" y="95021"/>
                  </a:lnTo>
                  <a:cubicBezTo>
                    <a:pt x="267110" y="44234"/>
                    <a:pt x="301514" y="1229"/>
                    <a:pt x="363769" y="1229"/>
                  </a:cubicBez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8" name="Freeform 7"/>
            <p:cNvSpPr/>
            <p:nvPr>
              <p:custDataLst>
                <p:tags r:id="rId6"/>
              </p:custDataLst>
            </p:nvPr>
          </p:nvSpPr>
          <p:spPr bwMode="auto">
            <a:xfrm>
              <a:off x="8789" y="4973"/>
              <a:ext cx="2581" cy="4185"/>
            </a:xfrm>
            <a:custGeom>
              <a:avLst/>
              <a:gdLst>
                <a:gd name="T0" fmla="*/ 95 w 189"/>
                <a:gd name="T1" fmla="*/ 0 h 305"/>
                <a:gd name="T2" fmla="*/ 0 w 189"/>
                <a:gd name="T3" fmla="*/ 15 h 305"/>
                <a:gd name="T4" fmla="*/ 95 w 189"/>
                <a:gd name="T5" fmla="*/ 305 h 305"/>
                <a:gd name="T6" fmla="*/ 189 w 189"/>
                <a:gd name="T7" fmla="*/ 15 h 305"/>
                <a:gd name="T8" fmla="*/ 95 w 189"/>
                <a:gd name="T9" fmla="*/ 0 h 305"/>
              </a:gdLst>
              <a:ahLst/>
              <a:cxnLst>
                <a:cxn ang="0">
                  <a:pos x="T0" y="T1"/>
                </a:cxn>
                <a:cxn ang="0">
                  <a:pos x="T2" y="T3"/>
                </a:cxn>
                <a:cxn ang="0">
                  <a:pos x="T4" y="T5"/>
                </a:cxn>
                <a:cxn ang="0">
                  <a:pos x="T6" y="T7"/>
                </a:cxn>
                <a:cxn ang="0">
                  <a:pos x="T8" y="T9"/>
                </a:cxn>
              </a:cxnLst>
              <a:rect l="0" t="0" r="r" b="b"/>
              <a:pathLst>
                <a:path w="189" h="305">
                  <a:moveTo>
                    <a:pt x="95" y="0"/>
                  </a:moveTo>
                  <a:cubicBezTo>
                    <a:pt x="62" y="0"/>
                    <a:pt x="30" y="5"/>
                    <a:pt x="0" y="15"/>
                  </a:cubicBezTo>
                  <a:cubicBezTo>
                    <a:pt x="95" y="305"/>
                    <a:pt x="95" y="305"/>
                    <a:pt x="95" y="305"/>
                  </a:cubicBezTo>
                  <a:cubicBezTo>
                    <a:pt x="189" y="15"/>
                    <a:pt x="189" y="15"/>
                    <a:pt x="189" y="15"/>
                  </a:cubicBezTo>
                  <a:cubicBezTo>
                    <a:pt x="159" y="5"/>
                    <a:pt x="128" y="0"/>
                    <a:pt x="95" y="0"/>
                  </a:cubicBezTo>
                  <a:close/>
                </a:path>
              </a:pathLst>
            </a:custGeom>
            <a:solidFill>
              <a:schemeClr val="accent3"/>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9" name="文本框 8"/>
            <p:cNvSpPr txBox="1"/>
            <p:nvPr>
              <p:custDataLst>
                <p:tags r:id="rId7"/>
              </p:custDataLst>
            </p:nvPr>
          </p:nvSpPr>
          <p:spPr>
            <a:xfrm>
              <a:off x="9665" y="5341"/>
              <a:ext cx="759" cy="475"/>
            </a:xfrm>
            <a:custGeom>
              <a:avLst/>
              <a:gdLst/>
              <a:ahLst/>
              <a:cxnLst/>
              <a:rect l="l" t="t" r="r" b="b"/>
              <a:pathLst>
                <a:path w="471897"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77759" y="4096"/>
                  </a:moveTo>
                  <a:lnTo>
                    <a:pt x="463706" y="4096"/>
                  </a:lnTo>
                  <a:lnTo>
                    <a:pt x="397355" y="111404"/>
                  </a:lnTo>
                  <a:cubicBezTo>
                    <a:pt x="437493" y="115910"/>
                    <a:pt x="471897" y="150314"/>
                    <a:pt x="471897" y="196596"/>
                  </a:cubicBezTo>
                  <a:cubicBezTo>
                    <a:pt x="471897" y="258851"/>
                    <a:pt x="423158" y="294894"/>
                    <a:pt x="364179" y="294894"/>
                  </a:cubicBezTo>
                  <a:cubicBezTo>
                    <a:pt x="315849" y="294894"/>
                    <a:pt x="280216" y="268681"/>
                    <a:pt x="264652" y="233048"/>
                  </a:cubicBezTo>
                  <a:lnTo>
                    <a:pt x="305610" y="208474"/>
                  </a:lnTo>
                  <a:cubicBezTo>
                    <a:pt x="318716" y="235506"/>
                    <a:pt x="340424" y="248612"/>
                    <a:pt x="364589" y="248612"/>
                  </a:cubicBezTo>
                  <a:cubicBezTo>
                    <a:pt x="384658" y="248612"/>
                    <a:pt x="418243" y="238782"/>
                    <a:pt x="418243" y="196596"/>
                  </a:cubicBezTo>
                  <a:cubicBezTo>
                    <a:pt x="418243" y="158505"/>
                    <a:pt x="383019" y="134340"/>
                    <a:pt x="328136" y="148266"/>
                  </a:cubicBezTo>
                  <a:lnTo>
                    <a:pt x="387115" y="49968"/>
                  </a:lnTo>
                  <a:lnTo>
                    <a:pt x="277759" y="4996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0" name="Freeform 6"/>
            <p:cNvSpPr/>
            <p:nvPr>
              <p:custDataLst>
                <p:tags r:id="rId8"/>
              </p:custDataLst>
            </p:nvPr>
          </p:nvSpPr>
          <p:spPr bwMode="auto">
            <a:xfrm>
              <a:off x="10068" y="5508"/>
              <a:ext cx="3099" cy="3651"/>
            </a:xfrm>
            <a:custGeom>
              <a:avLst/>
              <a:gdLst>
                <a:gd name="T0" fmla="*/ 87 w 227"/>
                <a:gd name="T1" fmla="*/ 0 h 266"/>
                <a:gd name="T2" fmla="*/ 0 w 227"/>
                <a:gd name="T3" fmla="*/ 266 h 266"/>
                <a:gd name="T4" fmla="*/ 227 w 227"/>
                <a:gd name="T5" fmla="*/ 102 h 266"/>
                <a:gd name="T6" fmla="*/ 87 w 227"/>
                <a:gd name="T7" fmla="*/ 0 h 266"/>
              </a:gdLst>
              <a:ahLst/>
              <a:cxnLst>
                <a:cxn ang="0">
                  <a:pos x="T0" y="T1"/>
                </a:cxn>
                <a:cxn ang="0">
                  <a:pos x="T2" y="T3"/>
                </a:cxn>
                <a:cxn ang="0">
                  <a:pos x="T4" y="T5"/>
                </a:cxn>
                <a:cxn ang="0">
                  <a:pos x="T6" y="T7"/>
                </a:cxn>
              </a:cxnLst>
              <a:rect l="0" t="0" r="r" b="b"/>
              <a:pathLst>
                <a:path w="227" h="266">
                  <a:moveTo>
                    <a:pt x="87" y="0"/>
                  </a:moveTo>
                  <a:cubicBezTo>
                    <a:pt x="0" y="266"/>
                    <a:pt x="0" y="266"/>
                    <a:pt x="0" y="266"/>
                  </a:cubicBezTo>
                  <a:cubicBezTo>
                    <a:pt x="227" y="102"/>
                    <a:pt x="227" y="102"/>
                    <a:pt x="227" y="102"/>
                  </a:cubicBezTo>
                  <a:cubicBezTo>
                    <a:pt x="192" y="53"/>
                    <a:pt x="142" y="18"/>
                    <a:pt x="87" y="0"/>
                  </a:cubicBezTo>
                  <a:close/>
                </a:path>
              </a:pathLst>
            </a:custGeom>
            <a:solidFill>
              <a:schemeClr val="accent4"/>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11" name="文本框 10"/>
            <p:cNvSpPr txBox="1"/>
            <p:nvPr>
              <p:custDataLst>
                <p:tags r:id="rId9"/>
              </p:custDataLst>
            </p:nvPr>
          </p:nvSpPr>
          <p:spPr>
            <a:xfrm>
              <a:off x="11489" y="6210"/>
              <a:ext cx="761" cy="475"/>
            </a:xfrm>
            <a:custGeom>
              <a:avLst/>
              <a:gdLst/>
              <a:ahLst/>
              <a:cxnLst/>
              <a:rect l="l" t="t" r="r" b="b"/>
              <a:pathLst>
                <a:path w="472716" h="294894">
                  <a:moveTo>
                    <a:pt x="388344" y="76590"/>
                  </a:moveTo>
                  <a:lnTo>
                    <a:pt x="319535" y="178575"/>
                  </a:lnTo>
                  <a:lnTo>
                    <a:pt x="388344" y="178575"/>
                  </a:lnTo>
                  <a:close/>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388344" y="4096"/>
                  </a:moveTo>
                  <a:lnTo>
                    <a:pt x="441998" y="4096"/>
                  </a:lnTo>
                  <a:lnTo>
                    <a:pt x="441998" y="178575"/>
                  </a:lnTo>
                  <a:lnTo>
                    <a:pt x="472716" y="178575"/>
                  </a:lnTo>
                  <a:lnTo>
                    <a:pt x="472716" y="224447"/>
                  </a:lnTo>
                  <a:lnTo>
                    <a:pt x="441998" y="224447"/>
                  </a:lnTo>
                  <a:lnTo>
                    <a:pt x="441998" y="290798"/>
                  </a:lnTo>
                  <a:lnTo>
                    <a:pt x="388344" y="290798"/>
                  </a:lnTo>
                  <a:lnTo>
                    <a:pt x="388344" y="224447"/>
                  </a:lnTo>
                  <a:lnTo>
                    <a:pt x="264652" y="224447"/>
                  </a:lnTo>
                  <a:lnTo>
                    <a:pt x="264652" y="178575"/>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2" name="Freeform 8"/>
            <p:cNvSpPr/>
            <p:nvPr>
              <p:custDataLst>
                <p:tags r:id="rId10"/>
              </p:custDataLst>
            </p:nvPr>
          </p:nvSpPr>
          <p:spPr bwMode="auto">
            <a:xfrm>
              <a:off x="10068" y="7100"/>
              <a:ext cx="3467" cy="2058"/>
            </a:xfrm>
            <a:custGeom>
              <a:avLst/>
              <a:gdLst>
                <a:gd name="T0" fmla="*/ 206 w 254"/>
                <a:gd name="T1" fmla="*/ 0 h 150"/>
                <a:gd name="T2" fmla="*/ 0 w 254"/>
                <a:gd name="T3" fmla="*/ 150 h 150"/>
                <a:gd name="T4" fmla="*/ 254 w 254"/>
                <a:gd name="T5" fmla="*/ 150 h 150"/>
                <a:gd name="T6" fmla="*/ 206 w 254"/>
                <a:gd name="T7" fmla="*/ 0 h 150"/>
              </a:gdLst>
              <a:ahLst/>
              <a:cxnLst>
                <a:cxn ang="0">
                  <a:pos x="T0" y="T1"/>
                </a:cxn>
                <a:cxn ang="0">
                  <a:pos x="T2" y="T3"/>
                </a:cxn>
                <a:cxn ang="0">
                  <a:pos x="T4" y="T5"/>
                </a:cxn>
                <a:cxn ang="0">
                  <a:pos x="T6" y="T7"/>
                </a:cxn>
              </a:cxnLst>
              <a:rect l="0" t="0" r="r" b="b"/>
              <a:pathLst>
                <a:path w="254" h="150">
                  <a:moveTo>
                    <a:pt x="206" y="0"/>
                  </a:moveTo>
                  <a:cubicBezTo>
                    <a:pt x="0" y="150"/>
                    <a:pt x="0" y="150"/>
                    <a:pt x="0" y="150"/>
                  </a:cubicBezTo>
                  <a:cubicBezTo>
                    <a:pt x="254" y="150"/>
                    <a:pt x="254" y="150"/>
                    <a:pt x="254" y="150"/>
                  </a:cubicBezTo>
                  <a:cubicBezTo>
                    <a:pt x="254" y="97"/>
                    <a:pt x="238" y="44"/>
                    <a:pt x="206" y="0"/>
                  </a:cubicBezTo>
                  <a:close/>
                </a:path>
              </a:pathLst>
            </a:custGeom>
            <a:solidFill>
              <a:schemeClr val="accent5"/>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13" name="文本框 12"/>
            <p:cNvSpPr txBox="1"/>
            <p:nvPr>
              <p:custDataLst>
                <p:tags r:id="rId11"/>
              </p:custDataLst>
            </p:nvPr>
          </p:nvSpPr>
          <p:spPr>
            <a:xfrm>
              <a:off x="12392" y="8064"/>
              <a:ext cx="761" cy="475"/>
            </a:xfrm>
            <a:custGeom>
              <a:avLst/>
              <a:gdLst/>
              <a:ahLst/>
              <a:cxnLst/>
              <a:rect l="l" t="t" r="r" b="b"/>
              <a:pathLst>
                <a:path w="473126"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94142" y="4096"/>
                  </a:moveTo>
                  <a:lnTo>
                    <a:pt x="441998" y="4096"/>
                  </a:lnTo>
                  <a:lnTo>
                    <a:pt x="441998" y="49968"/>
                  </a:lnTo>
                  <a:lnTo>
                    <a:pt x="336328" y="49968"/>
                  </a:lnTo>
                  <a:lnTo>
                    <a:pt x="328546" y="108537"/>
                  </a:lnTo>
                  <a:cubicBezTo>
                    <a:pt x="331413" y="106080"/>
                    <a:pt x="346977" y="95021"/>
                    <a:pt x="374418" y="95021"/>
                  </a:cubicBezTo>
                  <a:cubicBezTo>
                    <a:pt x="424387" y="95021"/>
                    <a:pt x="473126" y="134341"/>
                    <a:pt x="473126" y="194548"/>
                  </a:cubicBezTo>
                  <a:cubicBezTo>
                    <a:pt x="473126" y="255984"/>
                    <a:pt x="425615" y="294894"/>
                    <a:pt x="366636" y="294894"/>
                  </a:cubicBezTo>
                  <a:cubicBezTo>
                    <a:pt x="319126" y="294894"/>
                    <a:pt x="281445" y="269500"/>
                    <a:pt x="266700" y="235096"/>
                  </a:cubicBezTo>
                  <a:lnTo>
                    <a:pt x="308067" y="212979"/>
                  </a:lnTo>
                  <a:cubicBezTo>
                    <a:pt x="314620" y="226495"/>
                    <a:pt x="331413" y="247793"/>
                    <a:pt x="366636" y="247793"/>
                  </a:cubicBezTo>
                  <a:cubicBezTo>
                    <a:pt x="391211" y="247793"/>
                    <a:pt x="420291" y="233048"/>
                    <a:pt x="420291" y="194548"/>
                  </a:cubicBezTo>
                  <a:cubicBezTo>
                    <a:pt x="420291" y="154819"/>
                    <a:pt x="389573" y="139665"/>
                    <a:pt x="365408" y="139665"/>
                  </a:cubicBezTo>
                  <a:cubicBezTo>
                    <a:pt x="344519" y="139665"/>
                    <a:pt x="331003" y="149085"/>
                    <a:pt x="319126" y="160553"/>
                  </a:cubicBezTo>
                  <a:lnTo>
                    <a:pt x="274892" y="14662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4" name="Oval 31"/>
            <p:cNvSpPr/>
            <p:nvPr>
              <p:custDataLst>
                <p:tags r:id="rId12"/>
              </p:custDataLst>
            </p:nvPr>
          </p:nvSpPr>
          <p:spPr>
            <a:xfrm>
              <a:off x="9426" y="8403"/>
              <a:ext cx="1498" cy="1498"/>
            </a:xfrm>
            <a:prstGeom prst="ellipse">
              <a:avLst/>
            </a:prstGeom>
            <a:solidFill>
              <a:schemeClr val="bg1"/>
            </a:solidFill>
            <a:ln w="50800">
              <a:noFill/>
            </a:ln>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rtlCol="0" anchor="ctr"/>
            <a:lstStyle/>
            <a:p>
              <a:pPr algn="ctr"/>
              <a:endParaRPr lang="en-US" sz="4800" dirty="0">
                <a:solidFill>
                  <a:schemeClr val="bg1"/>
                </a:solidFill>
                <a:latin typeface="思源黑体 CN Medium" panose="020B0600000000000000" charset="-122"/>
                <a:ea typeface="思源黑体 CN Medium" panose="020B0600000000000000" charset="-122"/>
                <a:cs typeface="思源黑体 Medium" panose="020B0600000000000000" charset="-122"/>
              </a:endParaRPr>
            </a:p>
          </p:txBody>
        </p:sp>
        <p:cxnSp>
          <p:nvCxnSpPr>
            <p:cNvPr id="15" name="Straight Connector 33"/>
            <p:cNvCxnSpPr/>
            <p:nvPr>
              <p:custDataLst>
                <p:tags r:id="rId13"/>
              </p:custDataLst>
            </p:nvPr>
          </p:nvCxnSpPr>
          <p:spPr>
            <a:xfrm flipH="1">
              <a:off x="4583" y="7922"/>
              <a:ext cx="842" cy="0"/>
            </a:xfrm>
            <a:prstGeom prst="line">
              <a:avLst/>
            </a:prstGeom>
            <a:ln w="19050" cmpd="sng">
              <a:solidFill>
                <a:schemeClr val="accent1"/>
              </a:solidFill>
              <a:headEnd type="none" w="med" len="med"/>
              <a:tailEnd type="oval" w="med" len="med"/>
            </a:ln>
            <a:effectLst/>
          </p:spPr>
          <p:style>
            <a:lnRef idx="2">
              <a:schemeClr val="accent1"/>
            </a:lnRef>
            <a:fillRef idx="0">
              <a:schemeClr val="accent1"/>
            </a:fillRef>
            <a:effectRef idx="1">
              <a:schemeClr val="accent1"/>
            </a:effectRef>
            <a:fontRef idx="minor">
              <a:schemeClr val="tx1"/>
            </a:fontRef>
          </p:style>
        </p:cxnSp>
        <p:sp>
          <p:nvSpPr>
            <p:cNvPr id="16" name="Freeform 37"/>
            <p:cNvSpPr/>
            <p:nvPr>
              <p:custDataLst>
                <p:tags r:id="rId14"/>
              </p:custDataLst>
            </p:nvPr>
          </p:nvSpPr>
          <p:spPr>
            <a:xfrm flipH="1" flipV="1">
              <a:off x="5725" y="4870"/>
              <a:ext cx="1623" cy="823"/>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2"/>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sp>
          <p:nvSpPr>
            <p:cNvPr id="17" name="Freeform 40"/>
            <p:cNvSpPr/>
            <p:nvPr>
              <p:custDataLst>
                <p:tags r:id="rId15"/>
              </p:custDataLst>
            </p:nvPr>
          </p:nvSpPr>
          <p:spPr>
            <a:xfrm flipH="1" flipV="1">
              <a:off x="9449" y="2953"/>
              <a:ext cx="1125" cy="218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3"/>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sp>
          <p:nvSpPr>
            <p:cNvPr id="18" name="Freeform 42"/>
            <p:cNvSpPr/>
            <p:nvPr>
              <p:custDataLst>
                <p:tags r:id="rId16"/>
              </p:custDataLst>
            </p:nvPr>
          </p:nvSpPr>
          <p:spPr>
            <a:xfrm flipV="1">
              <a:off x="12246" y="4947"/>
              <a:ext cx="1623" cy="117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4"/>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cxnSp>
          <p:nvCxnSpPr>
            <p:cNvPr id="19" name="Straight Connector 44"/>
            <p:cNvCxnSpPr/>
            <p:nvPr>
              <p:custDataLst>
                <p:tags r:id="rId17"/>
              </p:custDataLst>
            </p:nvPr>
          </p:nvCxnSpPr>
          <p:spPr>
            <a:xfrm flipH="1">
              <a:off x="13359" y="8164"/>
              <a:ext cx="1072" cy="0"/>
            </a:xfrm>
            <a:prstGeom prst="line">
              <a:avLst/>
            </a:prstGeom>
            <a:ln w="19050" cmpd="sng">
              <a:solidFill>
                <a:schemeClr val="accent5"/>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文本框 19"/>
            <p:cNvSpPr txBox="1"/>
            <p:nvPr>
              <p:custDataLst>
                <p:tags r:id="rId18"/>
              </p:custDataLst>
            </p:nvPr>
          </p:nvSpPr>
          <p:spPr>
            <a:xfrm>
              <a:off x="274" y="7500"/>
              <a:ext cx="4187" cy="725"/>
            </a:xfrm>
            <a:prstGeom prst="rect">
              <a:avLst/>
            </a:prstGeom>
            <a:noFill/>
          </p:spPr>
          <p:txBody>
            <a:bodyPr wrap="square" rtlCol="0">
              <a:spAutoFit/>
            </a:bodyPr>
            <a:lstStyle/>
            <a:p>
              <a:pPr algn="r"/>
              <a:r>
                <a:rPr lang="zh-CN" altLang="en-US" sz="2400" b="1" dirty="0">
                  <a:solidFill>
                    <a:schemeClr val="accent1"/>
                  </a:solidFill>
                  <a:latin typeface="+mj-ea"/>
                  <a:ea typeface="+mj-ea"/>
                  <a:cs typeface="思源黑体 Medium" panose="020B0600000000000000" charset="-122"/>
                </a:rPr>
                <a:t>危机传播理论</a:t>
              </a:r>
              <a:endParaRPr lang="zh-CN" altLang="en-US" sz="2400" b="1" dirty="0">
                <a:solidFill>
                  <a:schemeClr val="accent1"/>
                </a:solidFill>
                <a:latin typeface="+mj-ea"/>
                <a:ea typeface="+mj-ea"/>
                <a:cs typeface="思源黑体 Medium" panose="020B0600000000000000" charset="-122"/>
              </a:endParaRPr>
            </a:p>
          </p:txBody>
        </p:sp>
        <p:sp>
          <p:nvSpPr>
            <p:cNvPr id="21" name="文本框 20"/>
            <p:cNvSpPr txBox="1"/>
            <p:nvPr>
              <p:custDataLst>
                <p:tags r:id="rId19"/>
              </p:custDataLst>
            </p:nvPr>
          </p:nvSpPr>
          <p:spPr>
            <a:xfrm>
              <a:off x="1408" y="4444"/>
              <a:ext cx="4187" cy="725"/>
            </a:xfrm>
            <a:prstGeom prst="rect">
              <a:avLst/>
            </a:prstGeom>
            <a:noFill/>
          </p:spPr>
          <p:txBody>
            <a:bodyPr wrap="square" rtlCol="0">
              <a:spAutoFit/>
            </a:bodyPr>
            <a:lstStyle>
              <a:defPPr>
                <a:defRPr lang="en-US"/>
              </a:defPPr>
              <a:lvl1pPr algn="r">
                <a:defRPr sz="2000">
                  <a:latin typeface="思源黑体 CN Medium" panose="020B0600000000000000" charset="-122"/>
                  <a:ea typeface="思源黑体 CN Medium" panose="020B0600000000000000" charset="-122"/>
                </a:defRPr>
              </a:lvl1pPr>
            </a:lstStyle>
            <a:p>
              <a:r>
                <a:rPr lang="zh-CN" altLang="en-US" sz="2400" b="1" dirty="0">
                  <a:solidFill>
                    <a:schemeClr val="accent2"/>
                  </a:solidFill>
                  <a:latin typeface="+mj-ea"/>
                  <a:ea typeface="+mj-ea"/>
                  <a:cs typeface="思源黑体 Medium" panose="020B0600000000000000" charset="-122"/>
                </a:rPr>
                <a:t>社会信任理论</a:t>
              </a:r>
              <a:endParaRPr lang="zh-CN" altLang="en-US" sz="2400" b="1" dirty="0">
                <a:solidFill>
                  <a:schemeClr val="accent2"/>
                </a:solidFill>
                <a:latin typeface="+mj-ea"/>
                <a:ea typeface="+mj-ea"/>
                <a:cs typeface="思源黑体 Medium" panose="020B0600000000000000" charset="-122"/>
              </a:endParaRPr>
            </a:p>
          </p:txBody>
        </p:sp>
        <p:sp>
          <p:nvSpPr>
            <p:cNvPr id="22" name="文本框 21"/>
            <p:cNvSpPr txBox="1"/>
            <p:nvPr>
              <p:custDataLst>
                <p:tags r:id="rId20"/>
              </p:custDataLst>
            </p:nvPr>
          </p:nvSpPr>
          <p:spPr>
            <a:xfrm>
              <a:off x="13981" y="4572"/>
              <a:ext cx="4187" cy="725"/>
            </a:xfrm>
            <a:prstGeom prst="rect">
              <a:avLst/>
            </a:prstGeom>
            <a:noFill/>
          </p:spPr>
          <p:txBody>
            <a:bodyPr wrap="square" rtlCol="0">
              <a:spAutoFit/>
            </a:bodyPr>
            <a:lstStyle/>
            <a:p>
              <a:r>
                <a:rPr lang="zh-CN" altLang="en-US" sz="2400" b="1" dirty="0">
                  <a:solidFill>
                    <a:schemeClr val="accent4"/>
                  </a:solidFill>
                  <a:latin typeface="+mj-ea"/>
                  <a:ea typeface="+mj-ea"/>
                  <a:cs typeface="思源黑体 Medium" panose="020B0600000000000000" charset="-122"/>
                </a:rPr>
                <a:t>定量实验法</a:t>
              </a:r>
              <a:endParaRPr lang="zh-CN" altLang="en-US" sz="2400" b="1" dirty="0">
                <a:solidFill>
                  <a:schemeClr val="accent4"/>
                </a:solidFill>
                <a:latin typeface="+mj-ea"/>
                <a:ea typeface="+mj-ea"/>
                <a:cs typeface="思源黑体 Medium" panose="020B0600000000000000" charset="-122"/>
              </a:endParaRPr>
            </a:p>
          </p:txBody>
        </p:sp>
        <p:sp>
          <p:nvSpPr>
            <p:cNvPr id="23" name="文本框 22"/>
            <p:cNvSpPr txBox="1"/>
            <p:nvPr>
              <p:custDataLst>
                <p:tags r:id="rId21"/>
              </p:custDataLst>
            </p:nvPr>
          </p:nvSpPr>
          <p:spPr>
            <a:xfrm>
              <a:off x="14546" y="7787"/>
              <a:ext cx="4187" cy="725"/>
            </a:xfrm>
            <a:prstGeom prst="rect">
              <a:avLst/>
            </a:prstGeom>
            <a:noFill/>
          </p:spPr>
          <p:txBody>
            <a:bodyPr wrap="square" rtlCol="0">
              <a:spAutoFit/>
            </a:bodyPr>
            <a:lstStyle/>
            <a:p>
              <a:r>
                <a:rPr lang="zh-CN" altLang="en-US" sz="2400" b="1" dirty="0">
                  <a:solidFill>
                    <a:schemeClr val="accent5"/>
                  </a:solidFill>
                  <a:latin typeface="+mj-ea"/>
                  <a:ea typeface="+mj-ea"/>
                  <a:cs typeface="思源黑体 Medium" panose="020B0600000000000000" charset="-122"/>
                </a:rPr>
                <a:t>问卷调查法</a:t>
              </a:r>
              <a:endParaRPr lang="zh-CN" altLang="en-US" sz="2400" b="1" dirty="0">
                <a:solidFill>
                  <a:schemeClr val="accent5"/>
                </a:solidFill>
                <a:latin typeface="+mj-ea"/>
                <a:ea typeface="+mj-ea"/>
                <a:cs typeface="思源黑体 Medium" panose="020B0600000000000000" charset="-122"/>
              </a:endParaRPr>
            </a:p>
          </p:txBody>
        </p:sp>
        <p:sp>
          <p:nvSpPr>
            <p:cNvPr id="24" name="文本框 23"/>
            <p:cNvSpPr txBox="1"/>
            <p:nvPr>
              <p:custDataLst>
                <p:tags r:id="rId22"/>
              </p:custDataLst>
            </p:nvPr>
          </p:nvSpPr>
          <p:spPr>
            <a:xfrm>
              <a:off x="5122" y="2540"/>
              <a:ext cx="4187" cy="725"/>
            </a:xfrm>
            <a:prstGeom prst="rect">
              <a:avLst/>
            </a:prstGeom>
            <a:noFill/>
          </p:spPr>
          <p:txBody>
            <a:bodyPr wrap="square" rtlCol="0">
              <a:spAutoFit/>
            </a:bodyPr>
            <a:lstStyle/>
            <a:p>
              <a:pPr algn="r"/>
              <a:r>
                <a:rPr lang="zh-CN" altLang="en-US" sz="2400" b="1" dirty="0">
                  <a:solidFill>
                    <a:schemeClr val="accent3"/>
                  </a:solidFill>
                  <a:latin typeface="+mj-ea"/>
                  <a:ea typeface="+mj-ea"/>
                  <a:cs typeface="思源黑体 Medium" panose="020B0600000000000000" charset="-122"/>
                </a:rPr>
                <a:t>内容分析法</a:t>
              </a:r>
              <a:endParaRPr lang="zh-CN" altLang="en-US" sz="2400" b="1" dirty="0">
                <a:solidFill>
                  <a:schemeClr val="accent3"/>
                </a:solidFill>
                <a:latin typeface="+mj-ea"/>
                <a:ea typeface="+mj-ea"/>
                <a:cs typeface="思源黑体 Medium" panose="020B0600000000000000" charset="-122"/>
              </a:endParaRPr>
            </a:p>
          </p:txBody>
        </p:sp>
        <p:sp>
          <p:nvSpPr>
            <p:cNvPr id="25" name="文本框 24"/>
            <p:cNvSpPr txBox="1"/>
            <p:nvPr>
              <p:custDataLst>
                <p:tags r:id="rId23"/>
              </p:custDataLst>
            </p:nvPr>
          </p:nvSpPr>
          <p:spPr>
            <a:xfrm>
              <a:off x="470" y="8113"/>
              <a:ext cx="3956" cy="1464"/>
            </a:xfrm>
            <a:prstGeom prst="rect">
              <a:avLst/>
            </a:prstGeom>
            <a:noFill/>
          </p:spPr>
          <p:txBody>
            <a:bodyPr wrap="square" rtlCol="0">
              <a:spAutoFit/>
            </a:bodyPr>
            <a:lstStyle/>
            <a:p>
              <a:pPr algn="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借鉴</a:t>
              </a:r>
              <a:r>
                <a:rPr lang="en-US" altLang="zh-CN"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SCCT</a:t>
              </a: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理论，分析反转新闻对信息源责任感知和形象修复的挑战</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sp>
          <p:nvSpPr>
            <p:cNvPr id="26" name="文本框 25"/>
            <p:cNvSpPr txBox="1"/>
            <p:nvPr>
              <p:custDataLst>
                <p:tags r:id="rId24"/>
              </p:custDataLst>
            </p:nvPr>
          </p:nvSpPr>
          <p:spPr>
            <a:xfrm>
              <a:off x="469" y="5086"/>
              <a:ext cx="5161" cy="1024"/>
            </a:xfrm>
            <a:prstGeom prst="rect">
              <a:avLst/>
            </a:prstGeom>
            <a:noFill/>
          </p:spPr>
          <p:txBody>
            <a:bodyPr wrap="square" rtlCol="0">
              <a:spAutoFit/>
            </a:bodyPr>
            <a:lstStyle/>
            <a:p>
              <a:pPr lvl="0" algn="r">
                <a:lnSpc>
                  <a:spcPct val="130000"/>
                </a:lnSpc>
                <a:buClrTx/>
                <a:buSzTx/>
                <a:buFontTx/>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rPr>
                <a:t>构建反转新闻对公众、媒体、政府三者间信任瓦解的理论模型</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27" name="文本框 26"/>
            <p:cNvSpPr txBox="1"/>
            <p:nvPr>
              <p:custDataLst>
                <p:tags r:id="rId25"/>
              </p:custDataLst>
            </p:nvPr>
          </p:nvSpPr>
          <p:spPr>
            <a:xfrm>
              <a:off x="3605" y="3132"/>
              <a:ext cx="5734" cy="1024"/>
            </a:xfrm>
            <a:prstGeom prst="rect">
              <a:avLst/>
            </a:prstGeom>
            <a:noFill/>
          </p:spPr>
          <p:txBody>
            <a:bodyPr wrap="square" rtlCol="0">
              <a:spAutoFit/>
            </a:bodyPr>
            <a:lstStyle/>
            <a:p>
              <a:pPr lvl="0" algn="r">
                <a:lnSpc>
                  <a:spcPct val="130000"/>
                </a:lnSpc>
                <a:buClrTx/>
                <a:buSzTx/>
                <a:buFontTx/>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rPr>
                <a:t>收集和编码典型的网络公共危机事件，追踪其信息的首次发布、澄清、反转等关键节点</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28" name="文本框 27"/>
            <p:cNvSpPr txBox="1"/>
            <p:nvPr>
              <p:custDataLst>
                <p:tags r:id="rId26"/>
              </p:custDataLst>
            </p:nvPr>
          </p:nvSpPr>
          <p:spPr>
            <a:xfrm>
              <a:off x="13722" y="5301"/>
              <a:ext cx="5037" cy="1464"/>
            </a:xfrm>
            <a:prstGeom prst="rect">
              <a:avLst/>
            </a:prstGeom>
            <a:noFill/>
          </p:spPr>
          <p:txBody>
            <a:bodyPr wrap="square" rtlCol="0">
              <a:spAutoFit/>
            </a:bodyPr>
            <a:lstStyle/>
            <a:p>
              <a:pP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设计情景实验，向被试展示不同反转次数和解释力度的新闻，测量其情绪波动和信息源信任度的变化</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sp>
          <p:nvSpPr>
            <p:cNvPr id="29" name="文本框 28"/>
            <p:cNvSpPr txBox="1"/>
            <p:nvPr>
              <p:custDataLst>
                <p:tags r:id="rId27"/>
              </p:custDataLst>
            </p:nvPr>
          </p:nvSpPr>
          <p:spPr>
            <a:xfrm>
              <a:off x="14605" y="8460"/>
              <a:ext cx="4050" cy="1464"/>
            </a:xfrm>
            <a:prstGeom prst="rect">
              <a:avLst/>
            </a:prstGeom>
            <a:noFill/>
          </p:spPr>
          <p:txBody>
            <a:bodyPr wrap="square" rtlCol="0">
              <a:spAutoFit/>
            </a:bodyPr>
            <a:lstStyle/>
            <a:p>
              <a:pP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编制反转新闻观众测量量表，对网络公共危机观众抽样调查，评估其素养水平</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grpSp>
      <p:grpSp>
        <p:nvGrpSpPr>
          <p:cNvPr id="31" name="组合 30"/>
          <p:cNvGrpSpPr/>
          <p:nvPr/>
        </p:nvGrpSpPr>
        <p:grpSpPr>
          <a:xfrm>
            <a:off x="725170" y="1046480"/>
            <a:ext cx="766445" cy="76200"/>
            <a:chOff x="1218" y="1168"/>
            <a:chExt cx="2012" cy="74"/>
          </a:xfrm>
        </p:grpSpPr>
        <p:sp>
          <p:nvSpPr>
            <p:cNvPr id="34" name="矩形 3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5" name="矩形 3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6" name="文本框 3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网络公共危机中</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反转新闻</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的传播机制与信任修复研究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1149985" y="2080260"/>
            <a:ext cx="9892665" cy="3781425"/>
            <a:chOff x="1811" y="3608"/>
            <a:chExt cx="15579" cy="5955"/>
          </a:xfrm>
        </p:grpSpPr>
        <p:grpSp>
          <p:nvGrpSpPr>
            <p:cNvPr id="8" name="组合 7"/>
            <p:cNvGrpSpPr/>
            <p:nvPr/>
          </p:nvGrpSpPr>
          <p:grpSpPr>
            <a:xfrm>
              <a:off x="6322" y="3608"/>
              <a:ext cx="6557" cy="5955"/>
              <a:chOff x="6321" y="3024"/>
              <a:chExt cx="6557" cy="5955"/>
            </a:xfrm>
          </p:grpSpPr>
          <p:sp>
            <p:nvSpPr>
              <p:cNvPr id="10" name="Freeform 5"/>
              <p:cNvSpPr/>
              <p:nvPr>
                <p:custDataLst>
                  <p:tags r:id="rId2"/>
                </p:custDataLst>
              </p:nvPr>
            </p:nvSpPr>
            <p:spPr bwMode="auto">
              <a:xfrm>
                <a:off x="7495" y="3657"/>
                <a:ext cx="4579" cy="5323"/>
              </a:xfrm>
              <a:custGeom>
                <a:avLst/>
                <a:gdLst>
                  <a:gd name="T0" fmla="*/ 553107085 w 5977"/>
                  <a:gd name="T1" fmla="*/ 70285550 h 6949"/>
                  <a:gd name="T2" fmla="*/ 487233550 w 5977"/>
                  <a:gd name="T3" fmla="*/ 359685891 h 6949"/>
                  <a:gd name="T4" fmla="*/ 350301198 w 5977"/>
                  <a:gd name="T5" fmla="*/ 115798432 h 6949"/>
                  <a:gd name="T6" fmla="*/ 336665723 w 5977"/>
                  <a:gd name="T7" fmla="*/ 128664779 h 6949"/>
                  <a:gd name="T8" fmla="*/ 487425501 w 5977"/>
                  <a:gd name="T9" fmla="*/ 487966836 h 6949"/>
                  <a:gd name="T10" fmla="*/ 426737689 w 5977"/>
                  <a:gd name="T11" fmla="*/ 535784040 h 6949"/>
                  <a:gd name="T12" fmla="*/ 102747252 w 5977"/>
                  <a:gd name="T13" fmla="*/ 361990214 h 6949"/>
                  <a:gd name="T14" fmla="*/ 72211396 w 5977"/>
                  <a:gd name="T15" fmla="*/ 375625106 h 6949"/>
                  <a:gd name="T16" fmla="*/ 300559805 w 5977"/>
                  <a:gd name="T17" fmla="*/ 476252431 h 6949"/>
                  <a:gd name="T18" fmla="*/ 458810023 w 5977"/>
                  <a:gd name="T19" fmla="*/ 679236091 h 6949"/>
                  <a:gd name="T20" fmla="*/ 410029258 w 5977"/>
                  <a:gd name="T21" fmla="*/ 814238084 h 6949"/>
                  <a:gd name="T22" fmla="*/ 2304717 w 5977"/>
                  <a:gd name="T23" fmla="*/ 744144451 h 6949"/>
                  <a:gd name="T24" fmla="*/ 0 w 5977"/>
                  <a:gd name="T25" fmla="*/ 778519119 h 6949"/>
                  <a:gd name="T26" fmla="*/ 419439638 w 5977"/>
                  <a:gd name="T27" fmla="*/ 879530717 h 6949"/>
                  <a:gd name="T28" fmla="*/ 430770396 w 5977"/>
                  <a:gd name="T29" fmla="*/ 1158560951 h 6949"/>
                  <a:gd name="T30" fmla="*/ 300559805 w 5977"/>
                  <a:gd name="T31" fmla="*/ 1274167466 h 6949"/>
                  <a:gd name="T32" fmla="*/ 174382360 w 5977"/>
                  <a:gd name="T33" fmla="*/ 1298364383 h 6949"/>
                  <a:gd name="T34" fmla="*/ 763979262 w 5977"/>
                  <a:gd name="T35" fmla="*/ 1322752778 h 6949"/>
                  <a:gd name="T36" fmla="*/ 853474940 w 5977"/>
                  <a:gd name="T37" fmla="*/ 1303164944 h 6949"/>
                  <a:gd name="T38" fmla="*/ 766283979 w 5977"/>
                  <a:gd name="T39" fmla="*/ 1282233251 h 6949"/>
                  <a:gd name="T40" fmla="*/ 599391621 w 5977"/>
                  <a:gd name="T41" fmla="*/ 1171043463 h 6949"/>
                  <a:gd name="T42" fmla="*/ 595934326 w 5977"/>
                  <a:gd name="T43" fmla="*/ 916593980 h 6949"/>
                  <a:gd name="T44" fmla="*/ 886123563 w 5977"/>
                  <a:gd name="T45" fmla="*/ 798298870 h 6949"/>
                  <a:gd name="T46" fmla="*/ 1147889272 w 5977"/>
                  <a:gd name="T47" fmla="*/ 773910474 h 6949"/>
                  <a:gd name="T48" fmla="*/ 1146544744 w 5977"/>
                  <a:gd name="T49" fmla="*/ 735310997 h 6949"/>
                  <a:gd name="T50" fmla="*/ 1096611840 w 5977"/>
                  <a:gd name="T51" fmla="*/ 748561178 h 6949"/>
                  <a:gd name="T52" fmla="*/ 589788853 w 5977"/>
                  <a:gd name="T53" fmla="*/ 814814274 h 6949"/>
                  <a:gd name="T54" fmla="*/ 635305150 w 5977"/>
                  <a:gd name="T55" fmla="*/ 568238220 h 6949"/>
                  <a:gd name="T56" fmla="*/ 1048982776 w 5977"/>
                  <a:gd name="T57" fmla="*/ 422866120 h 6949"/>
                  <a:gd name="T58" fmla="*/ 1035347301 w 5977"/>
                  <a:gd name="T59" fmla="*/ 406926906 h 6949"/>
                  <a:gd name="T60" fmla="*/ 734403157 w 5977"/>
                  <a:gd name="T61" fmla="*/ 474524299 h 6949"/>
                  <a:gd name="T62" fmla="*/ 560020797 w 5977"/>
                  <a:gd name="T63" fmla="*/ 545386039 h 6949"/>
                  <a:gd name="T64" fmla="*/ 592093570 w 5977"/>
                  <a:gd name="T65" fmla="*/ 456472680 h 6949"/>
                  <a:gd name="T66" fmla="*/ 779535115 w 5977"/>
                  <a:gd name="T67" fmla="*/ 194533602 h 6949"/>
                  <a:gd name="T68" fmla="*/ 656430626 w 5977"/>
                  <a:gd name="T69" fmla="*/ 351812462 h 6949"/>
                  <a:gd name="T70" fmla="*/ 538895321 w 5977"/>
                  <a:gd name="T71" fmla="*/ 408463120 h 6949"/>
                  <a:gd name="T72" fmla="*/ 572120233 w 5977"/>
                  <a:gd name="T73" fmla="*/ 103700193 h 6949"/>
                  <a:gd name="T74" fmla="*/ 563093753 w 5977"/>
                  <a:gd name="T75" fmla="*/ 191917 h 6949"/>
                  <a:gd name="T76" fmla="*/ 534862176 w 5977"/>
                  <a:gd name="T77" fmla="*/ 0 h 69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977" h="6949">
                    <a:moveTo>
                      <a:pt x="2785" y="0"/>
                    </a:moveTo>
                    <a:cubicBezTo>
                      <a:pt x="2841" y="42"/>
                      <a:pt x="2858" y="134"/>
                      <a:pt x="2880" y="366"/>
                    </a:cubicBezTo>
                    <a:cubicBezTo>
                      <a:pt x="2910" y="674"/>
                      <a:pt x="2891" y="857"/>
                      <a:pt x="2760" y="1513"/>
                    </a:cubicBezTo>
                    <a:cubicBezTo>
                      <a:pt x="2638" y="2133"/>
                      <a:pt x="2639" y="2130"/>
                      <a:pt x="2537" y="1873"/>
                    </a:cubicBezTo>
                    <a:cubicBezTo>
                      <a:pt x="2413" y="1562"/>
                      <a:pt x="2149" y="1060"/>
                      <a:pt x="1997" y="847"/>
                    </a:cubicBezTo>
                    <a:cubicBezTo>
                      <a:pt x="1912" y="730"/>
                      <a:pt x="1834" y="619"/>
                      <a:pt x="1824" y="603"/>
                    </a:cubicBezTo>
                    <a:cubicBezTo>
                      <a:pt x="1821" y="599"/>
                      <a:pt x="1822" y="588"/>
                      <a:pt x="1825" y="573"/>
                    </a:cubicBezTo>
                    <a:cubicBezTo>
                      <a:pt x="1802" y="607"/>
                      <a:pt x="1779" y="639"/>
                      <a:pt x="1753" y="670"/>
                    </a:cubicBezTo>
                    <a:cubicBezTo>
                      <a:pt x="1818" y="723"/>
                      <a:pt x="2054" y="1118"/>
                      <a:pt x="2190" y="1400"/>
                    </a:cubicBezTo>
                    <a:cubicBezTo>
                      <a:pt x="2346" y="1724"/>
                      <a:pt x="2539" y="2359"/>
                      <a:pt x="2538" y="2541"/>
                    </a:cubicBezTo>
                    <a:cubicBezTo>
                      <a:pt x="2537" y="2685"/>
                      <a:pt x="2494" y="2855"/>
                      <a:pt x="2446" y="2903"/>
                    </a:cubicBezTo>
                    <a:cubicBezTo>
                      <a:pt x="2409" y="2940"/>
                      <a:pt x="2382" y="2926"/>
                      <a:pt x="2222" y="2790"/>
                    </a:cubicBezTo>
                    <a:cubicBezTo>
                      <a:pt x="1978" y="2584"/>
                      <a:pt x="1756" y="2436"/>
                      <a:pt x="1436" y="2266"/>
                    </a:cubicBezTo>
                    <a:cubicBezTo>
                      <a:pt x="1187" y="2133"/>
                      <a:pt x="694" y="1925"/>
                      <a:pt x="535" y="1885"/>
                    </a:cubicBezTo>
                    <a:cubicBezTo>
                      <a:pt x="470" y="1868"/>
                      <a:pt x="435" y="1856"/>
                      <a:pt x="420" y="1823"/>
                    </a:cubicBezTo>
                    <a:cubicBezTo>
                      <a:pt x="408" y="1868"/>
                      <a:pt x="393" y="1913"/>
                      <a:pt x="376" y="1956"/>
                    </a:cubicBezTo>
                    <a:cubicBezTo>
                      <a:pt x="383" y="1953"/>
                      <a:pt x="389" y="1951"/>
                      <a:pt x="395" y="1951"/>
                    </a:cubicBezTo>
                    <a:cubicBezTo>
                      <a:pt x="549" y="1951"/>
                      <a:pt x="1204" y="2247"/>
                      <a:pt x="1565" y="2480"/>
                    </a:cubicBezTo>
                    <a:cubicBezTo>
                      <a:pt x="1801" y="2632"/>
                      <a:pt x="2168" y="2981"/>
                      <a:pt x="2287" y="3167"/>
                    </a:cubicBezTo>
                    <a:cubicBezTo>
                      <a:pt x="2358" y="3279"/>
                      <a:pt x="2375" y="3338"/>
                      <a:pt x="2389" y="3537"/>
                    </a:cubicBezTo>
                    <a:cubicBezTo>
                      <a:pt x="2407" y="3784"/>
                      <a:pt x="2356" y="4253"/>
                      <a:pt x="2309" y="4282"/>
                    </a:cubicBezTo>
                    <a:cubicBezTo>
                      <a:pt x="2294" y="4291"/>
                      <a:pt x="2216" y="4272"/>
                      <a:pt x="2135" y="4240"/>
                    </a:cubicBezTo>
                    <a:cubicBezTo>
                      <a:pt x="1771" y="4095"/>
                      <a:pt x="1129" y="3975"/>
                      <a:pt x="401" y="3915"/>
                    </a:cubicBezTo>
                    <a:cubicBezTo>
                      <a:pt x="234" y="3901"/>
                      <a:pt x="89" y="3886"/>
                      <a:pt x="12" y="3875"/>
                    </a:cubicBezTo>
                    <a:cubicBezTo>
                      <a:pt x="12" y="3877"/>
                      <a:pt x="12" y="3878"/>
                      <a:pt x="12" y="3880"/>
                    </a:cubicBezTo>
                    <a:cubicBezTo>
                      <a:pt x="12" y="3939"/>
                      <a:pt x="8" y="3997"/>
                      <a:pt x="0" y="4054"/>
                    </a:cubicBezTo>
                    <a:lnTo>
                      <a:pt x="229" y="4057"/>
                    </a:lnTo>
                    <a:cubicBezTo>
                      <a:pt x="1035" y="4066"/>
                      <a:pt x="1849" y="4284"/>
                      <a:pt x="2184" y="4580"/>
                    </a:cubicBezTo>
                    <a:cubicBezTo>
                      <a:pt x="2296" y="4678"/>
                      <a:pt x="2311" y="4707"/>
                      <a:pt x="2329" y="4848"/>
                    </a:cubicBezTo>
                    <a:cubicBezTo>
                      <a:pt x="2353" y="5035"/>
                      <a:pt x="2303" y="5720"/>
                      <a:pt x="2243" y="6033"/>
                    </a:cubicBezTo>
                    <a:cubicBezTo>
                      <a:pt x="2219" y="6155"/>
                      <a:pt x="2177" y="6286"/>
                      <a:pt x="2148" y="6324"/>
                    </a:cubicBezTo>
                    <a:cubicBezTo>
                      <a:pt x="2078" y="6419"/>
                      <a:pt x="1739" y="6599"/>
                      <a:pt x="1565" y="6635"/>
                    </a:cubicBezTo>
                    <a:cubicBezTo>
                      <a:pt x="1488" y="6651"/>
                      <a:pt x="1312" y="6682"/>
                      <a:pt x="1175" y="6704"/>
                    </a:cubicBezTo>
                    <a:cubicBezTo>
                      <a:pt x="1037" y="6727"/>
                      <a:pt x="917" y="6752"/>
                      <a:pt x="908" y="6761"/>
                    </a:cubicBezTo>
                    <a:cubicBezTo>
                      <a:pt x="846" y="6823"/>
                      <a:pt x="1154" y="6882"/>
                      <a:pt x="1733" y="6919"/>
                    </a:cubicBezTo>
                    <a:cubicBezTo>
                      <a:pt x="2214" y="6949"/>
                      <a:pt x="3600" y="6930"/>
                      <a:pt x="3978" y="6888"/>
                    </a:cubicBezTo>
                    <a:cubicBezTo>
                      <a:pt x="4141" y="6870"/>
                      <a:pt x="4313" y="6840"/>
                      <a:pt x="4359" y="6821"/>
                    </a:cubicBezTo>
                    <a:lnTo>
                      <a:pt x="4444" y="6786"/>
                    </a:lnTo>
                    <a:lnTo>
                      <a:pt x="4380" y="6752"/>
                    </a:lnTo>
                    <a:cubicBezTo>
                      <a:pt x="4344" y="6733"/>
                      <a:pt x="4169" y="6699"/>
                      <a:pt x="3990" y="6677"/>
                    </a:cubicBezTo>
                    <a:cubicBezTo>
                      <a:pt x="3636" y="6633"/>
                      <a:pt x="3384" y="6538"/>
                      <a:pt x="3223" y="6387"/>
                    </a:cubicBezTo>
                    <a:cubicBezTo>
                      <a:pt x="3147" y="6317"/>
                      <a:pt x="3136" y="6284"/>
                      <a:pt x="3121" y="6098"/>
                    </a:cubicBezTo>
                    <a:cubicBezTo>
                      <a:pt x="3098" y="5808"/>
                      <a:pt x="3092" y="5584"/>
                      <a:pt x="3098" y="5147"/>
                    </a:cubicBezTo>
                    <a:lnTo>
                      <a:pt x="3103" y="4773"/>
                    </a:lnTo>
                    <a:lnTo>
                      <a:pt x="3201" y="4665"/>
                    </a:lnTo>
                    <a:cubicBezTo>
                      <a:pt x="3389" y="4458"/>
                      <a:pt x="3879" y="4281"/>
                      <a:pt x="4614" y="4157"/>
                    </a:cubicBezTo>
                    <a:cubicBezTo>
                      <a:pt x="4997" y="4092"/>
                      <a:pt x="5912" y="4000"/>
                      <a:pt x="5966" y="4021"/>
                    </a:cubicBezTo>
                    <a:cubicBezTo>
                      <a:pt x="5969" y="4022"/>
                      <a:pt x="5973" y="4026"/>
                      <a:pt x="5977" y="4030"/>
                    </a:cubicBezTo>
                    <a:cubicBezTo>
                      <a:pt x="5971" y="3983"/>
                      <a:pt x="5968" y="3935"/>
                      <a:pt x="5968" y="3887"/>
                    </a:cubicBezTo>
                    <a:cubicBezTo>
                      <a:pt x="5968" y="3867"/>
                      <a:pt x="5969" y="3848"/>
                      <a:pt x="5970" y="3829"/>
                    </a:cubicBezTo>
                    <a:cubicBezTo>
                      <a:pt x="5961" y="3854"/>
                      <a:pt x="5951" y="3871"/>
                      <a:pt x="5942" y="3877"/>
                    </a:cubicBezTo>
                    <a:cubicBezTo>
                      <a:pt x="5925" y="3888"/>
                      <a:pt x="5821" y="3898"/>
                      <a:pt x="5710" y="3898"/>
                    </a:cubicBezTo>
                    <a:cubicBezTo>
                      <a:pt x="5247" y="3899"/>
                      <a:pt x="4355" y="4013"/>
                      <a:pt x="3586" y="4169"/>
                    </a:cubicBezTo>
                    <a:cubicBezTo>
                      <a:pt x="3302" y="4226"/>
                      <a:pt x="3085" y="4257"/>
                      <a:pt x="3071" y="4243"/>
                    </a:cubicBezTo>
                    <a:cubicBezTo>
                      <a:pt x="3043" y="4215"/>
                      <a:pt x="2962" y="3612"/>
                      <a:pt x="2962" y="3431"/>
                    </a:cubicBezTo>
                    <a:cubicBezTo>
                      <a:pt x="2962" y="3287"/>
                      <a:pt x="3037" y="3185"/>
                      <a:pt x="3308" y="2959"/>
                    </a:cubicBezTo>
                    <a:cubicBezTo>
                      <a:pt x="3708" y="2626"/>
                      <a:pt x="4264" y="2412"/>
                      <a:pt x="5130" y="2260"/>
                    </a:cubicBezTo>
                    <a:lnTo>
                      <a:pt x="5462" y="2202"/>
                    </a:lnTo>
                    <a:cubicBezTo>
                      <a:pt x="5441" y="2169"/>
                      <a:pt x="5420" y="2136"/>
                      <a:pt x="5403" y="2101"/>
                    </a:cubicBezTo>
                    <a:cubicBezTo>
                      <a:pt x="5400" y="2110"/>
                      <a:pt x="5397" y="2116"/>
                      <a:pt x="5391" y="2119"/>
                    </a:cubicBezTo>
                    <a:cubicBezTo>
                      <a:pt x="5374" y="2130"/>
                      <a:pt x="5204" y="2161"/>
                      <a:pt x="5015" y="2189"/>
                    </a:cubicBezTo>
                    <a:cubicBezTo>
                      <a:pt x="4603" y="2249"/>
                      <a:pt x="4090" y="2371"/>
                      <a:pt x="3824" y="2471"/>
                    </a:cubicBezTo>
                    <a:cubicBezTo>
                      <a:pt x="3718" y="2511"/>
                      <a:pt x="3480" y="2623"/>
                      <a:pt x="3296" y="2720"/>
                    </a:cubicBezTo>
                    <a:cubicBezTo>
                      <a:pt x="2967" y="2892"/>
                      <a:pt x="2959" y="2895"/>
                      <a:pt x="2916" y="2840"/>
                    </a:cubicBezTo>
                    <a:cubicBezTo>
                      <a:pt x="2888" y="2802"/>
                      <a:pt x="2878" y="2747"/>
                      <a:pt x="2887" y="2673"/>
                    </a:cubicBezTo>
                    <a:cubicBezTo>
                      <a:pt x="2899" y="2585"/>
                      <a:pt x="2938" y="2526"/>
                      <a:pt x="3083" y="2377"/>
                    </a:cubicBezTo>
                    <a:cubicBezTo>
                      <a:pt x="3474" y="1976"/>
                      <a:pt x="3779" y="1561"/>
                      <a:pt x="3990" y="1139"/>
                    </a:cubicBezTo>
                    <a:cubicBezTo>
                      <a:pt x="4014" y="1091"/>
                      <a:pt x="4038" y="1048"/>
                      <a:pt x="4059" y="1013"/>
                    </a:cubicBezTo>
                    <a:cubicBezTo>
                      <a:pt x="4029" y="994"/>
                      <a:pt x="4001" y="975"/>
                      <a:pt x="3973" y="953"/>
                    </a:cubicBezTo>
                    <a:cubicBezTo>
                      <a:pt x="3895" y="1157"/>
                      <a:pt x="3635" y="1579"/>
                      <a:pt x="3418" y="1832"/>
                    </a:cubicBezTo>
                    <a:cubicBezTo>
                      <a:pt x="3264" y="2012"/>
                      <a:pt x="2893" y="2318"/>
                      <a:pt x="2830" y="2318"/>
                    </a:cubicBezTo>
                    <a:cubicBezTo>
                      <a:pt x="2793" y="2318"/>
                      <a:pt x="2789" y="2289"/>
                      <a:pt x="2806" y="2127"/>
                    </a:cubicBezTo>
                    <a:cubicBezTo>
                      <a:pt x="2817" y="2022"/>
                      <a:pt x="2845" y="1835"/>
                      <a:pt x="2867" y="1711"/>
                    </a:cubicBezTo>
                    <a:cubicBezTo>
                      <a:pt x="2974" y="1120"/>
                      <a:pt x="2996" y="891"/>
                      <a:pt x="2979" y="540"/>
                    </a:cubicBezTo>
                    <a:cubicBezTo>
                      <a:pt x="2970" y="346"/>
                      <a:pt x="2955" y="140"/>
                      <a:pt x="2946" y="84"/>
                    </a:cubicBezTo>
                    <a:lnTo>
                      <a:pt x="2932" y="1"/>
                    </a:lnTo>
                    <a:cubicBezTo>
                      <a:pt x="2909" y="2"/>
                      <a:pt x="2886" y="3"/>
                      <a:pt x="2863" y="3"/>
                    </a:cubicBezTo>
                    <a:cubicBezTo>
                      <a:pt x="2836" y="3"/>
                      <a:pt x="2811" y="2"/>
                      <a:pt x="2785" y="0"/>
                    </a:cubicBezTo>
                    <a:close/>
                  </a:path>
                </a:pathLst>
              </a:custGeom>
              <a:solidFill>
                <a:srgbClr val="5F5F5F"/>
              </a:solidFill>
              <a:ln>
                <a:noFill/>
              </a:ln>
            </p:spPr>
            <p:txBody>
              <a:bodyPr/>
              <a:lstStyle/>
              <a:p>
                <a:endParaRPr lang="zh-CN" altLang="en-US" dirty="0">
                  <a:solidFill>
                    <a:schemeClr val="tx1">
                      <a:lumMod val="65000"/>
                      <a:lumOff val="35000"/>
                    </a:schemeClr>
                  </a:solidFill>
                  <a:cs typeface="+mn-ea"/>
                  <a:sym typeface="+mn-lt"/>
                </a:endParaRPr>
              </a:p>
            </p:txBody>
          </p:sp>
          <p:sp>
            <p:nvSpPr>
              <p:cNvPr id="12" name="橢圓 6"/>
              <p:cNvSpPr/>
              <p:nvPr>
                <p:custDataLst>
                  <p:tags r:id="rId3"/>
                </p:custDataLst>
              </p:nvPr>
            </p:nvSpPr>
            <p:spPr>
              <a:xfrm>
                <a:off x="9431" y="3024"/>
                <a:ext cx="734" cy="734"/>
              </a:xfrm>
              <a:prstGeom prst="ellipse">
                <a:avLst/>
              </a:prstGeom>
              <a:solidFill>
                <a:schemeClr val="accent2"/>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4" name="橢圓 5"/>
              <p:cNvSpPr/>
              <p:nvPr>
                <p:custDataLst>
                  <p:tags r:id="rId4"/>
                </p:custDataLst>
              </p:nvPr>
            </p:nvSpPr>
            <p:spPr>
              <a:xfrm>
                <a:off x="7916" y="3170"/>
                <a:ext cx="1246" cy="1243"/>
              </a:xfrm>
              <a:prstGeom prst="ellipse">
                <a:avLst/>
              </a:prstGeom>
              <a:solidFill>
                <a:schemeClr val="accent3"/>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7" name="橢圓 7"/>
              <p:cNvSpPr/>
              <p:nvPr>
                <p:custDataLst>
                  <p:tags r:id="rId5"/>
                </p:custDataLst>
              </p:nvPr>
            </p:nvSpPr>
            <p:spPr>
              <a:xfrm>
                <a:off x="10348" y="3459"/>
                <a:ext cx="1246" cy="1246"/>
              </a:xfrm>
              <a:prstGeom prst="ellipse">
                <a:avLst/>
              </a:prstGeom>
              <a:solidFill>
                <a:schemeClr val="accent5"/>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8" name="橢圓 3"/>
              <p:cNvSpPr/>
              <p:nvPr>
                <p:custDataLst>
                  <p:tags r:id="rId6"/>
                </p:custDataLst>
              </p:nvPr>
            </p:nvSpPr>
            <p:spPr>
              <a:xfrm>
                <a:off x="6321" y="6028"/>
                <a:ext cx="1243" cy="1246"/>
              </a:xfrm>
              <a:prstGeom prst="ellipse">
                <a:avLst/>
              </a:prstGeom>
              <a:solidFill>
                <a:schemeClr val="accent1"/>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24" name="橢圓 9"/>
              <p:cNvSpPr/>
              <p:nvPr>
                <p:custDataLst>
                  <p:tags r:id="rId7"/>
                </p:custDataLst>
              </p:nvPr>
            </p:nvSpPr>
            <p:spPr>
              <a:xfrm>
                <a:off x="11636" y="6222"/>
                <a:ext cx="1243" cy="1243"/>
              </a:xfrm>
              <a:prstGeom prst="ellipse">
                <a:avLst/>
              </a:prstGeom>
              <a:solidFill>
                <a:schemeClr val="accent6"/>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33" name="橢圓 6"/>
              <p:cNvSpPr/>
              <p:nvPr>
                <p:custDataLst>
                  <p:tags r:id="rId8"/>
                </p:custDataLst>
              </p:nvPr>
            </p:nvSpPr>
            <p:spPr>
              <a:xfrm>
                <a:off x="7417" y="4705"/>
                <a:ext cx="734" cy="734"/>
              </a:xfrm>
              <a:prstGeom prst="ellipse">
                <a:avLst/>
              </a:prstGeom>
              <a:solidFill>
                <a:schemeClr val="accent4"/>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34" name="橢圓 6"/>
              <p:cNvSpPr/>
              <p:nvPr>
                <p:custDataLst>
                  <p:tags r:id="rId9"/>
                </p:custDataLst>
              </p:nvPr>
            </p:nvSpPr>
            <p:spPr>
              <a:xfrm>
                <a:off x="11260" y="4949"/>
                <a:ext cx="734" cy="734"/>
              </a:xfrm>
              <a:prstGeom prst="ellipse">
                <a:avLst/>
              </a:prstGeom>
              <a:solidFill>
                <a:schemeClr val="accent3"/>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grpSp>
        <p:grpSp>
          <p:nvGrpSpPr>
            <p:cNvPr id="35" name="组合 34"/>
            <p:cNvGrpSpPr/>
            <p:nvPr/>
          </p:nvGrpSpPr>
          <p:grpSpPr>
            <a:xfrm>
              <a:off x="1811" y="3803"/>
              <a:ext cx="15579" cy="5409"/>
              <a:chOff x="1749" y="3525"/>
              <a:chExt cx="15579" cy="5409"/>
            </a:xfrm>
          </p:grpSpPr>
          <p:sp>
            <p:nvSpPr>
              <p:cNvPr id="36" name="1"/>
              <p:cNvSpPr txBox="1">
                <a:spLocks noChangeArrowheads="1"/>
              </p:cNvSpPr>
              <p:nvPr>
                <p:custDataLst>
                  <p:tags r:id="rId10"/>
                </p:custDataLst>
              </p:nvPr>
            </p:nvSpPr>
            <p:spPr bwMode="auto">
              <a:xfrm>
                <a:off x="13347" y="3525"/>
                <a:ext cx="3980"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身份建构理论</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37" name="1"/>
              <p:cNvSpPr txBox="1">
                <a:spLocks noChangeArrowheads="1"/>
              </p:cNvSpPr>
              <p:nvPr>
                <p:custDataLst>
                  <p:tags r:id="rId11"/>
                </p:custDataLst>
              </p:nvPr>
            </p:nvSpPr>
            <p:spPr bwMode="auto">
              <a:xfrm>
                <a:off x="13426" y="4246"/>
                <a:ext cx="3796" cy="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探讨该群体如何通过网络内容和特定传播模式，建构其</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全球公民</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流浪者</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的社群身份</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38" name="1"/>
              <p:cNvSpPr txBox="1">
                <a:spLocks noChangeArrowheads="1"/>
              </p:cNvSpPr>
              <p:nvPr>
                <p:custDataLst>
                  <p:tags r:id="rId12"/>
                </p:custDataLst>
              </p:nvPr>
            </p:nvSpPr>
            <p:spPr bwMode="auto">
              <a:xfrm>
                <a:off x="13415" y="6702"/>
                <a:ext cx="3913"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深度访谈法</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39" name="1"/>
              <p:cNvSpPr txBox="1">
                <a:spLocks noChangeArrowheads="1"/>
              </p:cNvSpPr>
              <p:nvPr>
                <p:custDataLst>
                  <p:tags r:id="rId13"/>
                </p:custDataLst>
              </p:nvPr>
            </p:nvSpPr>
            <p:spPr bwMode="auto">
              <a:xfrm>
                <a:off x="13494" y="7424"/>
                <a:ext cx="3796" cy="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75000"/>
                      </a:schemeClr>
                    </a:solidFill>
                    <a:latin typeface="思源黑体 CN Medium" panose="020B0600000000000000" charset="-122"/>
                    <a:ea typeface="思源黑体 CN Medium" panose="020B0600000000000000" charset="-122"/>
                    <a:cs typeface="思源黑体 Regular" panose="020B0500000000000000" charset="-122"/>
                    <a:sym typeface="+mn-ea"/>
                  </a:rPr>
                  <a:t>访谈不同国家和职业背景的数字游民，了解他们的媒介依赖性、信息过滤和跨文化交流经验</a:t>
                </a:r>
                <a:endParaRPr lang="zh-CN" altLang="en-US" sz="1200" dirty="0">
                  <a:solidFill>
                    <a:schemeClr val="tx1">
                      <a:alpha val="75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0" name="1"/>
              <p:cNvSpPr txBox="1">
                <a:spLocks noChangeArrowheads="1"/>
              </p:cNvSpPr>
              <p:nvPr>
                <p:custDataLst>
                  <p:tags r:id="rId14"/>
                </p:custDataLst>
              </p:nvPr>
            </p:nvSpPr>
            <p:spPr bwMode="auto">
              <a:xfrm>
                <a:off x="1773" y="3525"/>
                <a:ext cx="3824"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eaLnBrk="1" hangingPunct="1">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媒介环境理论</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41" name="1"/>
              <p:cNvSpPr txBox="1">
                <a:spLocks noChangeArrowheads="1"/>
              </p:cNvSpPr>
              <p:nvPr>
                <p:custDataLst>
                  <p:tags r:id="rId15"/>
                </p:custDataLst>
              </p:nvPr>
            </p:nvSpPr>
            <p:spPr bwMode="auto">
              <a:xfrm>
                <a:off x="1749" y="4246"/>
                <a:ext cx="3767"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分析数字游民在高度移动化和分散化环境中，所依赖的媒介生态特征</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2" name="1"/>
              <p:cNvSpPr txBox="1">
                <a:spLocks noChangeArrowheads="1"/>
              </p:cNvSpPr>
              <p:nvPr>
                <p:custDataLst>
                  <p:tags r:id="rId16"/>
                </p:custDataLst>
              </p:nvPr>
            </p:nvSpPr>
            <p:spPr bwMode="auto">
              <a:xfrm>
                <a:off x="1817" y="7424"/>
                <a:ext cx="3767" cy="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深入参与数字游民的线上社区（如特定</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Reddit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论坛、微信群、</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Discord</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频道），观察和记录其传播行为</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3" name="1"/>
              <p:cNvSpPr txBox="1">
                <a:spLocks noChangeArrowheads="1"/>
              </p:cNvSpPr>
              <p:nvPr>
                <p:custDataLst>
                  <p:tags r:id="rId17"/>
                </p:custDataLst>
              </p:nvPr>
            </p:nvSpPr>
            <p:spPr bwMode="auto">
              <a:xfrm>
                <a:off x="1773" y="6702"/>
                <a:ext cx="3947"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网络民族志</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gr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7" name="矩形 46"/>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数字游民群体的新型传播实践与媒介使用研究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8"/>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圆角矩形 50"/>
          <p:cNvSpPr/>
          <p:nvPr/>
        </p:nvSpPr>
        <p:spPr>
          <a:xfrm>
            <a:off x="421005" y="299720"/>
            <a:ext cx="11348720" cy="6258560"/>
          </a:xfrm>
          <a:prstGeom prst="roundRect">
            <a:avLst>
              <a:gd name="adj" fmla="val 73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104" name="六边形 4"/>
          <p:cNvSpPr/>
          <p:nvPr>
            <p:custDataLst>
              <p:tags r:id="rId1"/>
            </p:custDataLst>
          </p:nvPr>
        </p:nvSpPr>
        <p:spPr>
          <a:xfrm rot="16200000">
            <a:off x="889635" y="2873375"/>
            <a:ext cx="2503805" cy="2169160"/>
          </a:xfrm>
          <a:prstGeom prst="hexagon">
            <a:avLst>
              <a:gd name="adj" fmla="val 35839"/>
              <a:gd name="vf" fmla="val 115470"/>
            </a:avLst>
          </a:prstGeom>
          <a:solidFill>
            <a:schemeClr val="accent3"/>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5" name="任意多边形 8"/>
          <p:cNvSpPr/>
          <p:nvPr>
            <p:custDataLst>
              <p:tags r:id="rId2"/>
            </p:custDataLst>
          </p:nvPr>
        </p:nvSpPr>
        <p:spPr>
          <a:xfrm>
            <a:off x="1158875" y="1841500"/>
            <a:ext cx="1963420" cy="3230880"/>
          </a:xfrm>
          <a:prstGeom prst="flowChartOffpageConnector">
            <a:avLst/>
          </a:prstGeom>
          <a:gradFill>
            <a:gsLst>
              <a:gs pos="0">
                <a:schemeClr val="accent4">
                  <a:lumMod val="20000"/>
                  <a:lumOff val="80000"/>
                </a:schemeClr>
              </a:gs>
              <a:gs pos="82000">
                <a:schemeClr val="accent3"/>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6" name="椭圆 4"/>
          <p:cNvSpPr/>
          <p:nvPr>
            <p:custDataLst>
              <p:tags r:id="rId3"/>
            </p:custDataLst>
          </p:nvPr>
        </p:nvSpPr>
        <p:spPr>
          <a:xfrm>
            <a:off x="1794510"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7" name="六边形 3"/>
          <p:cNvSpPr/>
          <p:nvPr>
            <p:custDataLst>
              <p:tags r:id="rId4"/>
            </p:custDataLst>
          </p:nvPr>
        </p:nvSpPr>
        <p:spPr>
          <a:xfrm rot="16200000">
            <a:off x="3607435" y="2873375"/>
            <a:ext cx="2503805" cy="2169160"/>
          </a:xfrm>
          <a:prstGeom prst="hexagon">
            <a:avLst>
              <a:gd name="adj" fmla="val 35839"/>
              <a:gd name="vf" fmla="val 115470"/>
            </a:avLst>
          </a:prstGeom>
          <a:solidFill>
            <a:schemeClr val="accent5"/>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8" name="任意多边形 7"/>
          <p:cNvSpPr/>
          <p:nvPr>
            <p:custDataLst>
              <p:tags r:id="rId5"/>
            </p:custDataLst>
          </p:nvPr>
        </p:nvSpPr>
        <p:spPr>
          <a:xfrm>
            <a:off x="3876675" y="1840865"/>
            <a:ext cx="1963420" cy="3231515"/>
          </a:xfrm>
          <a:prstGeom prst="flowChartOffpageConnector">
            <a:avLst/>
          </a:prstGeom>
          <a:gradFill>
            <a:gsLst>
              <a:gs pos="0">
                <a:schemeClr val="accent5">
                  <a:lumMod val="20000"/>
                  <a:lumOff val="80000"/>
                </a:schemeClr>
              </a:gs>
              <a:gs pos="82000">
                <a:schemeClr val="accent5"/>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9" name="椭圆 3"/>
          <p:cNvSpPr/>
          <p:nvPr>
            <p:custDataLst>
              <p:tags r:id="rId6"/>
            </p:custDataLst>
          </p:nvPr>
        </p:nvSpPr>
        <p:spPr>
          <a:xfrm>
            <a:off x="4512310"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0" name="六边形 2"/>
          <p:cNvSpPr/>
          <p:nvPr>
            <p:custDataLst>
              <p:tags r:id="rId7"/>
            </p:custDataLst>
          </p:nvPr>
        </p:nvSpPr>
        <p:spPr>
          <a:xfrm rot="16200000">
            <a:off x="6322695" y="2873375"/>
            <a:ext cx="2503805" cy="2169160"/>
          </a:xfrm>
          <a:prstGeom prst="hexagon">
            <a:avLst>
              <a:gd name="adj" fmla="val 35839"/>
              <a:gd name="vf" fmla="val 115470"/>
            </a:avLst>
          </a:prstGeom>
          <a:solidFill>
            <a:schemeClr val="accent2"/>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1" name="任意多边形 6"/>
          <p:cNvSpPr/>
          <p:nvPr>
            <p:custDataLst>
              <p:tags r:id="rId8"/>
            </p:custDataLst>
          </p:nvPr>
        </p:nvSpPr>
        <p:spPr>
          <a:xfrm>
            <a:off x="6591300" y="1841500"/>
            <a:ext cx="1963420" cy="3230880"/>
          </a:xfrm>
          <a:prstGeom prst="flowChartOffpageConnector">
            <a:avLst/>
          </a:prstGeom>
          <a:gradFill>
            <a:gsLst>
              <a:gs pos="0">
                <a:schemeClr val="accent2">
                  <a:lumMod val="20000"/>
                  <a:lumOff val="80000"/>
                </a:schemeClr>
              </a:gs>
              <a:gs pos="82000">
                <a:schemeClr val="accent2"/>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2" name="椭圆 2"/>
          <p:cNvSpPr/>
          <p:nvPr>
            <p:custDataLst>
              <p:tags r:id="rId9"/>
            </p:custDataLst>
          </p:nvPr>
        </p:nvSpPr>
        <p:spPr>
          <a:xfrm>
            <a:off x="7226935"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3" name="六边形 1"/>
          <p:cNvSpPr/>
          <p:nvPr>
            <p:custDataLst>
              <p:tags r:id="rId10"/>
            </p:custDataLst>
          </p:nvPr>
        </p:nvSpPr>
        <p:spPr>
          <a:xfrm rot="16200000">
            <a:off x="9037955" y="2873375"/>
            <a:ext cx="2503805" cy="2169160"/>
          </a:xfrm>
          <a:prstGeom prst="hexagon">
            <a:avLst>
              <a:gd name="adj" fmla="val 35839"/>
              <a:gd name="vf" fmla="val 115470"/>
            </a:avLst>
          </a:prstGeom>
          <a:solidFill>
            <a:schemeClr val="accent6"/>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4" name="任意多边形 5"/>
          <p:cNvSpPr/>
          <p:nvPr>
            <p:custDataLst>
              <p:tags r:id="rId11"/>
            </p:custDataLst>
          </p:nvPr>
        </p:nvSpPr>
        <p:spPr>
          <a:xfrm>
            <a:off x="9306560" y="1841500"/>
            <a:ext cx="1963420" cy="3230880"/>
          </a:xfrm>
          <a:prstGeom prst="flowChartOffpageConnector">
            <a:avLst/>
          </a:prstGeom>
          <a:gradFill>
            <a:gsLst>
              <a:gs pos="0">
                <a:schemeClr val="accent6">
                  <a:lumMod val="20000"/>
                  <a:lumOff val="80000"/>
                </a:schemeClr>
              </a:gs>
              <a:gs pos="82000">
                <a:schemeClr val="accent6"/>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5" name="椭圆 1"/>
          <p:cNvSpPr/>
          <p:nvPr>
            <p:custDataLst>
              <p:tags r:id="rId12"/>
            </p:custDataLst>
          </p:nvPr>
        </p:nvSpPr>
        <p:spPr>
          <a:xfrm>
            <a:off x="9942195"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6" name="文本框 9"/>
          <p:cNvSpPr txBox="1"/>
          <p:nvPr>
            <p:custDataLst>
              <p:tags r:id="rId13"/>
            </p:custDataLst>
          </p:nvPr>
        </p:nvSpPr>
        <p:spPr>
          <a:xfrm>
            <a:off x="122872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3">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数字素养框架</a:t>
            </a:r>
            <a:endParaRPr lang="zh-CN" altLang="en-US" sz="2000" b="1">
              <a:solidFill>
                <a:schemeClr val="accent3">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17" name="文本框 8"/>
          <p:cNvSpPr txBox="1"/>
          <p:nvPr>
            <p:custDataLst>
              <p:tags r:id="rId14"/>
            </p:custDataLst>
          </p:nvPr>
        </p:nvSpPr>
        <p:spPr>
          <a:xfrm>
            <a:off x="1138873"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借鉴</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UNESCO</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或国内的教师信息技术标准，构建评价体系的理论维度</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18" name="文本框 6"/>
          <p:cNvSpPr txBox="1"/>
          <p:nvPr>
            <p:custDataLst>
              <p:tags r:id="rId15"/>
            </p:custDataLst>
          </p:nvPr>
        </p:nvSpPr>
        <p:spPr>
          <a:xfrm>
            <a:off x="394652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5">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结构方程模型</a:t>
            </a:r>
            <a:endParaRPr lang="zh-CN" altLang="en-US" sz="2000" b="1">
              <a:solidFill>
                <a:schemeClr val="accent5">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1" name="文本框 4"/>
          <p:cNvSpPr txBox="1"/>
          <p:nvPr>
            <p:custDataLst>
              <p:tags r:id="rId16"/>
            </p:custDataLst>
          </p:nvPr>
        </p:nvSpPr>
        <p:spPr>
          <a:xfrm>
            <a:off x="6659880"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2">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问卷调查法</a:t>
            </a:r>
            <a:endParaRPr lang="zh-CN" altLang="en-US" sz="2000" b="1">
              <a:solidFill>
                <a:schemeClr val="accent2">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3" name="文本框 2"/>
          <p:cNvSpPr txBox="1"/>
          <p:nvPr>
            <p:custDataLst>
              <p:tags r:id="rId17"/>
            </p:custDataLst>
          </p:nvPr>
        </p:nvSpPr>
        <p:spPr>
          <a:xfrm>
            <a:off x="937704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6">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信效度检验</a:t>
            </a:r>
            <a:endParaRPr lang="zh-CN" altLang="en-US" sz="2000" b="1">
              <a:solidFill>
                <a:schemeClr val="accent6">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7" name="文本框 8"/>
          <p:cNvSpPr txBox="1"/>
          <p:nvPr>
            <p:custDataLst>
              <p:tags r:id="rId18"/>
            </p:custDataLst>
          </p:nvPr>
        </p:nvSpPr>
        <p:spPr>
          <a:xfrm>
            <a:off x="3851593" y="3085465"/>
            <a:ext cx="2005965" cy="105029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建立潜变量模型，分析多因素（如培训、环境支持）对数字教学胜任力的作用路径和贡献度</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28" name="文本框 8"/>
          <p:cNvSpPr txBox="1"/>
          <p:nvPr>
            <p:custDataLst>
              <p:tags r:id="rId19"/>
            </p:custDataLst>
          </p:nvPr>
        </p:nvSpPr>
        <p:spPr>
          <a:xfrm>
            <a:off x="6573838"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设计结构化问卷，对不同区域、学段的中小学教师进行大规模抽样调查</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29" name="文本框 8"/>
          <p:cNvSpPr txBox="1"/>
          <p:nvPr>
            <p:custDataLst>
              <p:tags r:id="rId20"/>
            </p:custDataLst>
          </p:nvPr>
        </p:nvSpPr>
        <p:spPr>
          <a:xfrm>
            <a:off x="9286558"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严格对问卷进行</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Cronbach's α</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系数检验和探索性</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验证性因子分析</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nvGrpSpPr>
          <p:cNvPr id="186" name="组合 185"/>
          <p:cNvGrpSpPr/>
          <p:nvPr/>
        </p:nvGrpSpPr>
        <p:grpSpPr>
          <a:xfrm>
            <a:off x="734695" y="1046480"/>
            <a:ext cx="766445" cy="76200"/>
            <a:chOff x="1218" y="1168"/>
            <a:chExt cx="2012" cy="74"/>
          </a:xfrm>
        </p:grpSpPr>
        <p:sp>
          <p:nvSpPr>
            <p:cNvPr id="187" name="矩形 186"/>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88" name="矩形 187"/>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89" name="文本框 188"/>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中小学教师数字教学胜任力现状及其影响因素研究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图表 22"/>
          <p:cNvGraphicFramePr>
            <a:graphicFrameLocks noGrp="1"/>
          </p:cNvGraphicFramePr>
          <p:nvPr>
            <p:ph sz="half" idx="4294967295"/>
          </p:nvPr>
        </p:nvGraphicFramePr>
        <p:xfrm>
          <a:off x="3787140" y="1371600"/>
          <a:ext cx="5090795" cy="4578350"/>
        </p:xfrm>
        <a:graphic>
          <a:graphicData uri="http://schemas.openxmlformats.org/drawingml/2006/chart">
            <c:chart xmlns:c="http://schemas.openxmlformats.org/drawingml/2006/chart" xmlns:r="http://schemas.openxmlformats.org/officeDocument/2006/relationships" r:id="rId1"/>
          </a:graphicData>
        </a:graphic>
      </p:graphicFrame>
      <p:grpSp>
        <p:nvGrpSpPr>
          <p:cNvPr id="21" name="组合 20"/>
          <p:cNvGrpSpPr/>
          <p:nvPr>
            <p:custDataLst>
              <p:tags r:id="rId2"/>
            </p:custDataLst>
          </p:nvPr>
        </p:nvGrpSpPr>
        <p:grpSpPr>
          <a:xfrm>
            <a:off x="1279525" y="1691005"/>
            <a:ext cx="10488295" cy="4944110"/>
            <a:chOff x="1691" y="2798"/>
            <a:chExt cx="16517" cy="7786"/>
          </a:xfrm>
        </p:grpSpPr>
        <p:sp>
          <p:nvSpPr>
            <p:cNvPr id="41" name="任意多边形 35"/>
            <p:cNvSpPr/>
            <p:nvPr>
              <p:custDataLst>
                <p:tags r:id="rId3"/>
              </p:custDataLst>
            </p:nvPr>
          </p:nvSpPr>
          <p:spPr>
            <a:xfrm flipH="1" flipV="1">
              <a:off x="11881" y="7895"/>
              <a:ext cx="945" cy="429"/>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525915 w 525915"/>
                <a:gd name="connsiteY0-2" fmla="*/ 265258 h 265258"/>
                <a:gd name="connsiteX1-3" fmla="*/ 345440 w 525915"/>
                <a:gd name="connsiteY1-4" fmla="*/ 0 h 265258"/>
                <a:gd name="connsiteX2-5" fmla="*/ 0 w 525915"/>
                <a:gd name="connsiteY2-6" fmla="*/ 0 h 265258"/>
              </a:gdLst>
              <a:ahLst/>
              <a:cxnLst>
                <a:cxn ang="0">
                  <a:pos x="connsiteX0-1" y="connsiteY0-2"/>
                </a:cxn>
                <a:cxn ang="0">
                  <a:pos x="connsiteX1-3" y="connsiteY1-4"/>
                </a:cxn>
                <a:cxn ang="0">
                  <a:pos x="connsiteX2-5" y="connsiteY2-6"/>
                </a:cxn>
              </a:cxnLst>
              <a:rect l="l" t="t" r="r" b="b"/>
              <a:pathLst>
                <a:path w="525915" h="265258">
                  <a:moveTo>
                    <a:pt x="525915" y="265258"/>
                  </a:moveTo>
                  <a:lnTo>
                    <a:pt x="345440" y="0"/>
                  </a:lnTo>
                  <a:lnTo>
                    <a:pt x="0" y="0"/>
                  </a:lnTo>
                </a:path>
              </a:pathLst>
            </a:custGeom>
            <a:ln>
              <a:solidFill>
                <a:schemeClr val="accent3"/>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47" name="任意多边形 34"/>
            <p:cNvSpPr/>
            <p:nvPr>
              <p:custDataLst>
                <p:tags r:id="rId4"/>
              </p:custDataLst>
            </p:nvPr>
          </p:nvSpPr>
          <p:spPr>
            <a:xfrm flipV="1">
              <a:off x="6169" y="8140"/>
              <a:ext cx="1460" cy="530"/>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552619 w 552619"/>
                <a:gd name="connsiteY0-2" fmla="*/ 255373 h 255373"/>
                <a:gd name="connsiteX1-3" fmla="*/ 345440 w 552619"/>
                <a:gd name="connsiteY1-4" fmla="*/ 0 h 255373"/>
                <a:gd name="connsiteX2-5" fmla="*/ 0 w 552619"/>
                <a:gd name="connsiteY2-6" fmla="*/ 0 h 255373"/>
              </a:gdLst>
              <a:ahLst/>
              <a:cxnLst>
                <a:cxn ang="0">
                  <a:pos x="connsiteX0-1" y="connsiteY0-2"/>
                </a:cxn>
                <a:cxn ang="0">
                  <a:pos x="connsiteX1-3" y="connsiteY1-4"/>
                </a:cxn>
                <a:cxn ang="0">
                  <a:pos x="connsiteX2-5" y="connsiteY2-6"/>
                </a:cxn>
              </a:cxnLst>
              <a:rect l="l" t="t" r="r" b="b"/>
              <a:pathLst>
                <a:path w="552619" h="255373">
                  <a:moveTo>
                    <a:pt x="552619" y="255373"/>
                  </a:moveTo>
                  <a:lnTo>
                    <a:pt x="345440" y="0"/>
                  </a:lnTo>
                  <a:lnTo>
                    <a:pt x="0" y="0"/>
                  </a:lnTo>
                </a:path>
              </a:pathLst>
            </a:custGeom>
            <a:ln>
              <a:solidFill>
                <a:schemeClr val="accent3"/>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cxnSp>
          <p:nvCxnSpPr>
            <p:cNvPr id="49" name="直接连接符 2"/>
            <p:cNvCxnSpPr/>
            <p:nvPr>
              <p:custDataLst>
                <p:tags r:id="rId5"/>
              </p:custDataLst>
            </p:nvPr>
          </p:nvCxnSpPr>
          <p:spPr>
            <a:xfrm flipH="1">
              <a:off x="5495" y="5856"/>
              <a:ext cx="950" cy="0"/>
            </a:xfrm>
            <a:prstGeom prst="line">
              <a:avLst/>
            </a:prstGeom>
            <a:ln>
              <a:solidFill>
                <a:schemeClr val="accent5"/>
              </a:solidFill>
              <a:headEnd type="oval" w="med" len="med"/>
              <a:tailEnd type="oval" w="med" len="med"/>
            </a:ln>
          </p:spPr>
          <p:style>
            <a:lnRef idx="2">
              <a:schemeClr val="dk1"/>
            </a:lnRef>
            <a:fillRef idx="0">
              <a:schemeClr val="dk1"/>
            </a:fillRef>
            <a:effectRef idx="1">
              <a:schemeClr val="dk1"/>
            </a:effectRef>
            <a:fontRef idx="minor">
              <a:schemeClr val="tx1"/>
            </a:fontRef>
          </p:style>
        </p:cxnSp>
        <p:sp>
          <p:nvSpPr>
            <p:cNvPr id="50" name="任意多边形 33"/>
            <p:cNvSpPr/>
            <p:nvPr>
              <p:custDataLst>
                <p:tags r:id="rId6"/>
              </p:custDataLst>
            </p:nvPr>
          </p:nvSpPr>
          <p:spPr>
            <a:xfrm flipH="1">
              <a:off x="12099" y="3162"/>
              <a:ext cx="1017" cy="720"/>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626054 w 626054"/>
                <a:gd name="connsiteY0-2" fmla="*/ 265258 h 265258"/>
                <a:gd name="connsiteX1-3" fmla="*/ 345440 w 626054"/>
                <a:gd name="connsiteY1-4" fmla="*/ 0 h 265258"/>
                <a:gd name="connsiteX2-5" fmla="*/ 0 w 626054"/>
                <a:gd name="connsiteY2-6" fmla="*/ 0 h 265258"/>
                <a:gd name="connsiteX0-7" fmla="*/ 626054 w 626054"/>
                <a:gd name="connsiteY0-8" fmla="*/ 278439 h 278439"/>
                <a:gd name="connsiteX1-9" fmla="*/ 345440 w 626054"/>
                <a:gd name="connsiteY1-10" fmla="*/ 0 h 278439"/>
                <a:gd name="connsiteX2-11" fmla="*/ 0 w 626054"/>
                <a:gd name="connsiteY2-12" fmla="*/ 0 h 278439"/>
                <a:gd name="connsiteX0-13" fmla="*/ 548910 w 548910"/>
                <a:gd name="connsiteY0-14" fmla="*/ 304800 h 304800"/>
                <a:gd name="connsiteX1-15" fmla="*/ 345440 w 548910"/>
                <a:gd name="connsiteY1-16" fmla="*/ 0 h 304800"/>
                <a:gd name="connsiteX2-17" fmla="*/ 0 w 548910"/>
                <a:gd name="connsiteY2-18" fmla="*/ 0 h 304800"/>
              </a:gdLst>
              <a:ahLst/>
              <a:cxnLst>
                <a:cxn ang="0">
                  <a:pos x="connsiteX0-1" y="connsiteY0-2"/>
                </a:cxn>
                <a:cxn ang="0">
                  <a:pos x="connsiteX1-3" y="connsiteY1-4"/>
                </a:cxn>
                <a:cxn ang="0">
                  <a:pos x="connsiteX2-5" y="connsiteY2-6"/>
                </a:cxn>
              </a:cxnLst>
              <a:rect l="l" t="t" r="r" b="b"/>
              <a:pathLst>
                <a:path w="548910" h="304800">
                  <a:moveTo>
                    <a:pt x="548910" y="304800"/>
                  </a:moveTo>
                  <a:lnTo>
                    <a:pt x="345440" y="0"/>
                  </a:lnTo>
                  <a:lnTo>
                    <a:pt x="0" y="0"/>
                  </a:lnTo>
                </a:path>
              </a:pathLst>
            </a:custGeom>
            <a:ln>
              <a:solidFill>
                <a:schemeClr val="accent1"/>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51" name="任意多边形 32"/>
            <p:cNvSpPr/>
            <p:nvPr>
              <p:custDataLst>
                <p:tags r:id="rId7"/>
              </p:custDataLst>
            </p:nvPr>
          </p:nvSpPr>
          <p:spPr>
            <a:xfrm>
              <a:off x="5744" y="3162"/>
              <a:ext cx="1594" cy="411"/>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481054 w 481054"/>
                <a:gd name="connsiteY0-2" fmla="*/ 290855 h 290855"/>
                <a:gd name="connsiteX1-3" fmla="*/ 345440 w 481054"/>
                <a:gd name="connsiteY1-4" fmla="*/ 0 h 290855"/>
                <a:gd name="connsiteX2-5" fmla="*/ 0 w 481054"/>
                <a:gd name="connsiteY2-6" fmla="*/ 0 h 290855"/>
                <a:gd name="connsiteX0-7" fmla="*/ 435573 w 435573"/>
                <a:gd name="connsiteY0-8" fmla="*/ 192310 h 192310"/>
                <a:gd name="connsiteX1-9" fmla="*/ 345440 w 435573"/>
                <a:gd name="connsiteY1-10" fmla="*/ 0 h 192310"/>
                <a:gd name="connsiteX2-11" fmla="*/ 0 w 435573"/>
                <a:gd name="connsiteY2-12" fmla="*/ 0 h 192310"/>
                <a:gd name="connsiteX0-13" fmla="*/ 438683 w 438683"/>
                <a:gd name="connsiteY0-14" fmla="*/ 199747 h 199747"/>
                <a:gd name="connsiteX1-15" fmla="*/ 345440 w 438683"/>
                <a:gd name="connsiteY1-16" fmla="*/ 0 h 199747"/>
                <a:gd name="connsiteX2-17" fmla="*/ 0 w 438683"/>
                <a:gd name="connsiteY2-18" fmla="*/ 0 h 199747"/>
                <a:gd name="connsiteX0-19" fmla="*/ 482551 w 482551"/>
                <a:gd name="connsiteY0-20" fmla="*/ 226698 h 226698"/>
                <a:gd name="connsiteX1-21" fmla="*/ 345440 w 482551"/>
                <a:gd name="connsiteY1-22" fmla="*/ 0 h 226698"/>
                <a:gd name="connsiteX2-23" fmla="*/ 0 w 482551"/>
                <a:gd name="connsiteY2-24" fmla="*/ 0 h 226698"/>
              </a:gdLst>
              <a:ahLst/>
              <a:cxnLst>
                <a:cxn ang="0">
                  <a:pos x="connsiteX0-1" y="connsiteY0-2"/>
                </a:cxn>
                <a:cxn ang="0">
                  <a:pos x="connsiteX1-3" y="connsiteY1-4"/>
                </a:cxn>
                <a:cxn ang="0">
                  <a:pos x="connsiteX2-5" y="connsiteY2-6"/>
                </a:cxn>
              </a:cxnLst>
              <a:rect l="l" t="t" r="r" b="b"/>
              <a:pathLst>
                <a:path w="482551" h="226698">
                  <a:moveTo>
                    <a:pt x="482551" y="226698"/>
                  </a:moveTo>
                  <a:lnTo>
                    <a:pt x="345440" y="0"/>
                  </a:lnTo>
                  <a:lnTo>
                    <a:pt x="0" y="0"/>
                  </a:lnTo>
                </a:path>
              </a:pathLst>
            </a:custGeom>
            <a:ln>
              <a:solidFill>
                <a:schemeClr val="accent6"/>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37" name="文本框 64"/>
            <p:cNvSpPr txBox="1"/>
            <p:nvPr>
              <p:custDataLst>
                <p:tags r:id="rId8"/>
              </p:custDataLst>
            </p:nvPr>
          </p:nvSpPr>
          <p:spPr>
            <a:xfrm>
              <a:off x="3453" y="2798"/>
              <a:ext cx="2282" cy="725"/>
            </a:xfrm>
            <a:prstGeom prst="rect">
              <a:avLst/>
            </a:prstGeom>
            <a:noFill/>
          </p:spPr>
          <p:txBody>
            <a:bodyPr wrap="square" lIns="91440" tIns="45720" rIns="91440" bIns="45720" rtlCol="0">
              <a:spAutoFit/>
            </a:bodyPr>
            <a:lstStyle/>
            <a:p>
              <a:pPr algn="ctr"/>
              <a:r>
                <a:rPr lang="zh-CN" altLang="en-US" sz="2400" b="1" dirty="0">
                  <a:solidFill>
                    <a:schemeClr val="accent6"/>
                  </a:solidFill>
                  <a:latin typeface="思源黑体 CN Medium" panose="020B0600000000000000" charset="-122"/>
                  <a:ea typeface="思源黑体 CN Medium" panose="020B0600000000000000" charset="-122"/>
                  <a:cs typeface="思源黑体 Regular" panose="020B0500000000000000" charset="-122"/>
                </a:rPr>
                <a:t>情境认知</a:t>
              </a:r>
              <a:endParaRPr lang="zh-CN" altLang="en-US" sz="2400" b="1" dirty="0">
                <a:solidFill>
                  <a:schemeClr val="accent6"/>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4" name="文本框 64"/>
            <p:cNvSpPr txBox="1"/>
            <p:nvPr>
              <p:custDataLst>
                <p:tags r:id="rId9"/>
              </p:custDataLst>
            </p:nvPr>
          </p:nvSpPr>
          <p:spPr>
            <a:xfrm>
              <a:off x="3153" y="5493"/>
              <a:ext cx="2282" cy="725"/>
            </a:xfrm>
            <a:prstGeom prst="rect">
              <a:avLst/>
            </a:prstGeom>
            <a:noFill/>
          </p:spPr>
          <p:txBody>
            <a:bodyPr wrap="square" lIns="91440" tIns="45720" rIns="91440" bIns="45720" rtlCol="0">
              <a:spAutoFit/>
            </a:bodyPr>
            <a:lstStyle/>
            <a:p>
              <a:pPr algn="ctr"/>
              <a:r>
                <a:rPr lang="zh-CN" altLang="en-US" sz="2400" b="1" dirty="0">
                  <a:solidFill>
                    <a:schemeClr val="accent4"/>
                  </a:solidFill>
                  <a:latin typeface="思源黑体 CN Medium" panose="020B0600000000000000" charset="-122"/>
                  <a:ea typeface="思源黑体 CN Medium" panose="020B0600000000000000" charset="-122"/>
                  <a:cs typeface="思源黑体 Regular" panose="020B0500000000000000" charset="-122"/>
                </a:rPr>
                <a:t>协作学习</a:t>
              </a:r>
              <a:endParaRPr lang="zh-CN" altLang="en-US" sz="2400" b="1" dirty="0">
                <a:solidFill>
                  <a:schemeClr val="accent4"/>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5" name="文本框 64"/>
            <p:cNvSpPr txBox="1"/>
            <p:nvPr>
              <p:custDataLst>
                <p:tags r:id="rId10"/>
              </p:custDataLst>
            </p:nvPr>
          </p:nvSpPr>
          <p:spPr>
            <a:xfrm>
              <a:off x="3887" y="8324"/>
              <a:ext cx="2282" cy="725"/>
            </a:xfrm>
            <a:prstGeom prst="rect">
              <a:avLst/>
            </a:prstGeom>
            <a:noFill/>
          </p:spPr>
          <p:txBody>
            <a:bodyPr wrap="square" lIns="91440" tIns="45720" rIns="91440" bIns="45720" rtlCol="0">
              <a:spAutoFit/>
            </a:bodyPr>
            <a:lstStyle/>
            <a:p>
              <a:pPr algn="ct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rPr>
                <a:t>行动研究</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6" name="文本框 64"/>
            <p:cNvSpPr txBox="1"/>
            <p:nvPr>
              <p:custDataLst>
                <p:tags r:id="rId11"/>
              </p:custDataLst>
            </p:nvPr>
          </p:nvSpPr>
          <p:spPr>
            <a:xfrm>
              <a:off x="12827" y="7959"/>
              <a:ext cx="2282" cy="725"/>
            </a:xfrm>
            <a:prstGeom prst="rect">
              <a:avLst/>
            </a:prstGeom>
            <a:noFill/>
          </p:spPr>
          <p:txBody>
            <a:bodyPr wrap="square" lIns="91440" tIns="45720" rIns="91440" bIns="45720" rtlCol="0">
              <a:spAutoFit/>
            </a:bodyPr>
            <a:lstStyle/>
            <a:p>
              <a:pPr algn="ct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rPr>
                <a:t>预期成果</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7" name="文本框 64"/>
            <p:cNvSpPr txBox="1"/>
            <p:nvPr>
              <p:custDataLst>
                <p:tags r:id="rId12"/>
              </p:custDataLst>
            </p:nvPr>
          </p:nvSpPr>
          <p:spPr>
            <a:xfrm>
              <a:off x="13117" y="2798"/>
              <a:ext cx="2282" cy="725"/>
            </a:xfrm>
            <a:prstGeom prst="rect">
              <a:avLst/>
            </a:prstGeom>
            <a:noFill/>
          </p:spPr>
          <p:txBody>
            <a:bodyPr wrap="square" lIns="91440" tIns="45720" rIns="91440" bIns="45720" rtlCol="0">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rPr>
                <a:t>内容分析</a:t>
              </a:r>
              <a:endPar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9" name="文本框 18"/>
            <p:cNvSpPr txBox="1"/>
            <p:nvPr>
              <p:custDataLst>
                <p:tags r:id="rId13"/>
              </p:custDataLst>
            </p:nvPr>
          </p:nvSpPr>
          <p:spPr>
            <a:xfrm>
              <a:off x="1691" y="3388"/>
              <a:ext cx="3949"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分析教师的反思学习是如何在真实的教学情境和协作交流中发生的</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9" name="文本框 8"/>
            <p:cNvSpPr txBox="1"/>
            <p:nvPr>
              <p:custDataLst>
                <p:tags r:id="rId14"/>
              </p:custDataLst>
            </p:nvPr>
          </p:nvSpPr>
          <p:spPr>
            <a:xfrm>
              <a:off x="1691" y="6083"/>
              <a:ext cx="3744"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借鉴知识建构理论，设计协作反思环节中的角色分工和互动规范</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4" name="文本框 13"/>
            <p:cNvSpPr txBox="1"/>
            <p:nvPr>
              <p:custDataLst>
                <p:tags r:id="rId15"/>
              </p:custDataLst>
            </p:nvPr>
          </p:nvSpPr>
          <p:spPr>
            <a:xfrm>
              <a:off x="1691" y="8914"/>
              <a:ext cx="4478"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在试点学校组织教师群体进行周期性微课拍摄、上传和协作式互评，并在实践中不断优化模式</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5" name="文本框 14"/>
            <p:cNvSpPr txBox="1"/>
            <p:nvPr>
              <p:custDataLst>
                <p:tags r:id="rId16"/>
              </p:custDataLst>
            </p:nvPr>
          </p:nvSpPr>
          <p:spPr>
            <a:xfrm>
              <a:off x="12827" y="8537"/>
              <a:ext cx="5381" cy="1670"/>
            </a:xfrm>
            <a:prstGeom prst="rect">
              <a:avLst/>
            </a:prstGeom>
            <a:noFill/>
          </p:spPr>
          <p:txBody>
            <a:bodyPr wrap="square" rtlCol="0">
              <a:spAutoFit/>
            </a:bodyPr>
            <a:lstStyle/>
            <a:p>
              <a:pPr algn="l">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构建一套微课驱动的教师协作反思学习模式。产出基于行动研究的详细过程记录和质性分析报告，总结协作机制的关键要素</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7" name="文本框 16"/>
            <p:cNvSpPr txBox="1"/>
            <p:nvPr>
              <p:custDataLst>
                <p:tags r:id="rId17"/>
              </p:custDataLst>
            </p:nvPr>
          </p:nvSpPr>
          <p:spPr>
            <a:xfrm>
              <a:off x="13117" y="3393"/>
              <a:ext cx="3365" cy="2179"/>
            </a:xfrm>
            <a:prstGeom prst="rect">
              <a:avLst/>
            </a:prstGeom>
            <a:noFill/>
          </p:spPr>
          <p:txBody>
            <a:bodyPr wrap="square" rtlCol="0">
              <a:spAutoFit/>
            </a:bodyPr>
            <a:lstStyle/>
            <a:p>
              <a:pPr algn="l">
                <a:lnSpc>
                  <a:spcPct val="150000"/>
                </a:lnSpc>
              </a:pP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对教师在平台上的反思日志和评论文本进行编码，量化分析协作的深度和专业性</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 name="矩形 2"/>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基于微课资源的教师同伴协作式反思学习模式研究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8" name="文本框 7"/>
          <p:cNvSpPr txBox="1"/>
          <p:nvPr/>
        </p:nvSpPr>
        <p:spPr>
          <a:xfrm>
            <a:off x="5600700" y="3200400"/>
            <a:ext cx="1464310"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5400" b="1" i="0" u="none" strike="noStrike" cap="none" spc="0" normalizeH="0" baseline="0" dirty="0">
                <a:ln>
                  <a:noFill/>
                </a:ln>
                <a:solidFill>
                  <a:srgbClr val="52717B"/>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解决</a:t>
            </a:r>
            <a:endParaRPr kumimoji="0" lang="zh-CN" altLang="en-US" sz="5400" b="1" i="0" u="none" strike="noStrike" cap="none" spc="0" normalizeH="0" baseline="0" dirty="0">
              <a:ln>
                <a:noFill/>
              </a:ln>
              <a:solidFill>
                <a:srgbClr val="52717B"/>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spTree>
    <p:custDataLst>
      <p:tags r:id="rId18"/>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custDataLst>
              <p:tags r:id="rId1"/>
            </p:custDataLst>
          </p:nvPr>
        </p:nvGrpSpPr>
        <p:grpSpPr>
          <a:xfrm>
            <a:off x="768350" y="2029460"/>
            <a:ext cx="10660380" cy="3522980"/>
            <a:chOff x="1207" y="4010"/>
            <a:chExt cx="16788" cy="5548"/>
          </a:xfrm>
        </p:grpSpPr>
        <p:grpSp>
          <p:nvGrpSpPr>
            <p:cNvPr id="39" name="组合 38"/>
            <p:cNvGrpSpPr/>
            <p:nvPr/>
          </p:nvGrpSpPr>
          <p:grpSpPr>
            <a:xfrm>
              <a:off x="1207" y="4010"/>
              <a:ext cx="16788" cy="5548"/>
              <a:chOff x="1206" y="4355"/>
              <a:chExt cx="16788" cy="5548"/>
            </a:xfrm>
          </p:grpSpPr>
          <p:grpSp>
            <p:nvGrpSpPr>
              <p:cNvPr id="33" name="组合 32"/>
              <p:cNvGrpSpPr/>
              <p:nvPr/>
            </p:nvGrpSpPr>
            <p:grpSpPr>
              <a:xfrm>
                <a:off x="4899" y="4355"/>
                <a:ext cx="9403" cy="4791"/>
                <a:chOff x="4786" y="3680"/>
                <a:chExt cx="9403" cy="4791"/>
              </a:xfrm>
            </p:grpSpPr>
            <p:sp>
              <p:nvSpPr>
                <p:cNvPr id="5" name="菱形 4"/>
                <p:cNvSpPr/>
                <p:nvPr>
                  <p:custDataLst>
                    <p:tags r:id="rId2"/>
                  </p:custDataLst>
                </p:nvPr>
              </p:nvSpPr>
              <p:spPr>
                <a:xfrm>
                  <a:off x="4786" y="3680"/>
                  <a:ext cx="4117" cy="4117"/>
                </a:xfrm>
                <a:prstGeom prst="diamond">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mn-lt"/>
                  </a:endParaRPr>
                </a:p>
              </p:txBody>
            </p:sp>
            <p:sp>
              <p:nvSpPr>
                <p:cNvPr id="6" name="菱形 5"/>
                <p:cNvSpPr/>
                <p:nvPr>
                  <p:custDataLst>
                    <p:tags r:id="rId3"/>
                  </p:custDataLst>
                </p:nvPr>
              </p:nvSpPr>
              <p:spPr>
                <a:xfrm>
                  <a:off x="10072" y="3680"/>
                  <a:ext cx="4117" cy="4117"/>
                </a:xfrm>
                <a:prstGeom prst="diamond">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mn-lt"/>
                  </a:endParaRPr>
                </a:p>
              </p:txBody>
            </p:sp>
            <p:sp>
              <p:nvSpPr>
                <p:cNvPr id="8" name="íṩľíḍè-Frame 2"/>
                <p:cNvSpPr/>
                <p:nvPr>
                  <p:custDataLst>
                    <p:tags r:id="rId4"/>
                  </p:custDataLst>
                </p:nvPr>
              </p:nvSpPr>
              <p:spPr>
                <a:xfrm rot="18900000">
                  <a:off x="9890" y="4769"/>
                  <a:ext cx="1944" cy="1944"/>
                </a:xfrm>
                <a:prstGeom prst="frame">
                  <a:avLst>
                    <a:gd name="adj1" fmla="val 7164"/>
                  </a:avLst>
                </a:prstGeom>
                <a:solidFill>
                  <a:schemeClr val="accent6">
                    <a:alpha val="59000"/>
                  </a:schemeClr>
                </a:solidFill>
                <a:ln w="12700" cap="flat" cmpd="sng" algn="ctr">
                  <a:no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9" name="íṩľíḍè-Frame 3"/>
                <p:cNvSpPr/>
                <p:nvPr>
                  <p:custDataLst>
                    <p:tags r:id="rId5"/>
                  </p:custDataLst>
                </p:nvPr>
              </p:nvSpPr>
              <p:spPr>
                <a:xfrm rot="18900000">
                  <a:off x="7141" y="4769"/>
                  <a:ext cx="1944" cy="1944"/>
                </a:xfrm>
                <a:prstGeom prst="frame">
                  <a:avLst>
                    <a:gd name="adj1" fmla="val 7164"/>
                  </a:avLst>
                </a:prstGeom>
                <a:solidFill>
                  <a:schemeClr val="accent3">
                    <a:alpha val="59000"/>
                  </a:schemeClr>
                </a:solidFill>
                <a:ln w="12700" cap="flat" cmpd="sng" algn="ctr">
                  <a:no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0" name="íṩľíḍè-Oval 21"/>
                <p:cNvSpPr/>
                <p:nvPr>
                  <p:custDataLst>
                    <p:tags r:id="rId6"/>
                  </p:custDataLst>
                </p:nvPr>
              </p:nvSpPr>
              <p:spPr>
                <a:xfrm>
                  <a:off x="4883" y="3951"/>
                  <a:ext cx="1200" cy="1200"/>
                </a:xfrm>
                <a:prstGeom prst="ellipse">
                  <a:avLst/>
                </a:prstGeom>
                <a:solidFill>
                  <a:schemeClr val="accent3"/>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2" name="íṩľíḍè-Oval 19"/>
                <p:cNvSpPr/>
                <p:nvPr>
                  <p:custDataLst>
                    <p:tags r:id="rId7"/>
                  </p:custDataLst>
                </p:nvPr>
              </p:nvSpPr>
              <p:spPr>
                <a:xfrm>
                  <a:off x="12892" y="3951"/>
                  <a:ext cx="1200" cy="1200"/>
                </a:xfrm>
                <a:prstGeom prst="ellipse">
                  <a:avLst/>
                </a:prstGeom>
                <a:solidFill>
                  <a:schemeClr val="accent6"/>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4" name="íṩľíḍè-Oval 17"/>
                <p:cNvSpPr/>
                <p:nvPr>
                  <p:custDataLst>
                    <p:tags r:id="rId8"/>
                  </p:custDataLst>
                </p:nvPr>
              </p:nvSpPr>
              <p:spPr>
                <a:xfrm>
                  <a:off x="6165" y="7271"/>
                  <a:ext cx="1200" cy="1200"/>
                </a:xfrm>
                <a:prstGeom prst="ellipse">
                  <a:avLst/>
                </a:prstGeom>
                <a:solidFill>
                  <a:schemeClr val="accent3"/>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6" name="íṩľíḍè-Oval 15"/>
                <p:cNvSpPr/>
                <p:nvPr>
                  <p:custDataLst>
                    <p:tags r:id="rId9"/>
                  </p:custDataLst>
                </p:nvPr>
              </p:nvSpPr>
              <p:spPr>
                <a:xfrm>
                  <a:off x="11611" y="7271"/>
                  <a:ext cx="1200" cy="1200"/>
                </a:xfrm>
                <a:prstGeom prst="ellipse">
                  <a:avLst/>
                </a:prstGeom>
                <a:solidFill>
                  <a:schemeClr val="accent6"/>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20" name="文本框 19"/>
                <p:cNvSpPr txBox="1"/>
                <p:nvPr>
                  <p:custDataLst>
                    <p:tags r:id="rId10"/>
                  </p:custDataLst>
                </p:nvPr>
              </p:nvSpPr>
              <p:spPr>
                <a:xfrm>
                  <a:off x="6188" y="5297"/>
                  <a:ext cx="1424" cy="9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建模</a:t>
                  </a:r>
                  <a:endPar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21" name="文本框 20"/>
                <p:cNvSpPr txBox="1"/>
                <p:nvPr>
                  <p:custDataLst>
                    <p:tags r:id="rId11"/>
                  </p:custDataLst>
                </p:nvPr>
              </p:nvSpPr>
              <p:spPr>
                <a:xfrm>
                  <a:off x="11440" y="5267"/>
                  <a:ext cx="1424" cy="9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实验</a:t>
                  </a:r>
                  <a:endPar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grpSp>
          <p:grpSp>
            <p:nvGrpSpPr>
              <p:cNvPr id="38" name="组合 37"/>
              <p:cNvGrpSpPr/>
              <p:nvPr/>
            </p:nvGrpSpPr>
            <p:grpSpPr>
              <a:xfrm>
                <a:off x="1206" y="4959"/>
                <a:ext cx="16788" cy="4944"/>
                <a:chOff x="1143" y="4839"/>
                <a:chExt cx="16788" cy="4944"/>
              </a:xfrm>
            </p:grpSpPr>
            <p:grpSp>
              <p:nvGrpSpPr>
                <p:cNvPr id="34" name="组合 33"/>
                <p:cNvGrpSpPr/>
                <p:nvPr/>
              </p:nvGrpSpPr>
              <p:grpSpPr>
                <a:xfrm>
                  <a:off x="1143" y="4839"/>
                  <a:ext cx="2931" cy="4247"/>
                  <a:chOff x="1067" y="4680"/>
                  <a:chExt cx="2931" cy="4247"/>
                </a:xfrm>
              </p:grpSpPr>
              <p:sp>
                <p:nvSpPr>
                  <p:cNvPr id="42" name="文本框 41"/>
                  <p:cNvSpPr txBox="1"/>
                  <p:nvPr>
                    <p:custDataLst>
                      <p:tags r:id="rId12"/>
                    </p:custDataLst>
                  </p:nvPr>
                </p:nvSpPr>
                <p:spPr>
                  <a:xfrm flipH="1">
                    <a:off x="1082" y="4680"/>
                    <a:ext cx="2908" cy="822"/>
                  </a:xfrm>
                  <a:prstGeom prst="rect">
                    <a:avLst/>
                  </a:prstGeom>
                </p:spPr>
                <p:txBody>
                  <a:bodyPr wrap="square">
                    <a:spAutoFit/>
                  </a:bodyPr>
                  <a:lstStyle>
                    <a:defPPr>
                      <a:defRPr lang="zh-CN"/>
                    </a:defPPr>
                    <a:lvl1pPr algn="dist">
                      <a:defRPr sz="2000">
                        <a:gradFill>
                          <a:gsLst>
                            <a:gs pos="100000">
                              <a:srgbClr val="02C0CF"/>
                            </a:gs>
                            <a:gs pos="37000">
                              <a:srgbClr val="2FDFAD"/>
                            </a:gs>
                          </a:gsLst>
                          <a:lin ang="2700000" scaled="1"/>
                        </a:gradFill>
                      </a:defRPr>
                    </a:lvl1pPr>
                  </a:lstStyle>
                  <a:p>
                    <a:pPr algn="r"/>
                    <a:r>
                      <a:rPr lang="zh-CN" altLang="en-US" sz="2800" b="1" dirty="0">
                        <a:solidFill>
                          <a:schemeClr val="accent3"/>
                        </a:solidFill>
                        <a:latin typeface="思源黑体 CN Medium" panose="020B0600000000000000" charset="-122"/>
                        <a:ea typeface="思源黑体 CN Medium" panose="020B0600000000000000" charset="-122"/>
                        <a:cs typeface="思源黑体 Medium" panose="020B0600000000000000" charset="-122"/>
                        <a:sym typeface="+mn-lt"/>
                      </a:rPr>
                      <a:t>理论建模</a:t>
                    </a:r>
                    <a:endParaRPr lang="zh-CN" altLang="en-US" sz="2800" b="1" dirty="0">
                      <a:solidFill>
                        <a:schemeClr val="accent3"/>
                      </a:solid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43" name="矩形 44"/>
                  <p:cNvSpPr>
                    <a:spLocks noChangeArrowheads="1"/>
                  </p:cNvSpPr>
                  <p:nvPr>
                    <p:custDataLst>
                      <p:tags r:id="rId13"/>
                    </p:custDataLst>
                  </p:nvPr>
                </p:nvSpPr>
                <p:spPr bwMode="auto">
                  <a:xfrm>
                    <a:off x="1067" y="5650"/>
                    <a:ext cx="2931" cy="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自然语言处理（</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NLP</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基于</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Transformer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架构的</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进行序列标注、命名实体识别（</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NER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）和关系抽取。</a:t>
                    </a:r>
                    <a:endPar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迁移学习理论：</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研究如何有效利用</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在通用语料上学习的知识，快速迁移到专业法律领域。</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35" name="组合 34"/>
                <p:cNvGrpSpPr/>
                <p:nvPr/>
              </p:nvGrpSpPr>
              <p:grpSpPr>
                <a:xfrm>
                  <a:off x="15000" y="4839"/>
                  <a:ext cx="2931" cy="4944"/>
                  <a:chOff x="1067" y="4680"/>
                  <a:chExt cx="2931" cy="4944"/>
                </a:xfrm>
              </p:grpSpPr>
              <p:sp>
                <p:nvSpPr>
                  <p:cNvPr id="36" name="文本框 35"/>
                  <p:cNvSpPr txBox="1"/>
                  <p:nvPr>
                    <p:custDataLst>
                      <p:tags r:id="rId14"/>
                    </p:custDataLst>
                  </p:nvPr>
                </p:nvSpPr>
                <p:spPr>
                  <a:xfrm flipH="1">
                    <a:off x="1082" y="4680"/>
                    <a:ext cx="2908" cy="822"/>
                  </a:xfrm>
                  <a:prstGeom prst="rect">
                    <a:avLst/>
                  </a:prstGeom>
                </p:spPr>
                <p:txBody>
                  <a:bodyPr wrap="square">
                    <a:spAutoFit/>
                  </a:bodyPr>
                  <a:lstStyle>
                    <a:defPPr>
                      <a:defRPr lang="zh-CN"/>
                    </a:defPPr>
                    <a:lvl1pPr algn="dist">
                      <a:defRPr sz="2000">
                        <a:gradFill>
                          <a:gsLst>
                            <a:gs pos="100000">
                              <a:srgbClr val="02C0CF"/>
                            </a:gs>
                            <a:gs pos="37000">
                              <a:srgbClr val="2FDFAD"/>
                            </a:gs>
                          </a:gsLst>
                          <a:lin ang="2700000" scaled="1"/>
                        </a:gradFill>
                      </a:defRPr>
                    </a:lvl1pPr>
                  </a:lstStyle>
                  <a:p>
                    <a:pPr algn="l"/>
                    <a:r>
                      <a:rPr lang="zh-CN" altLang="en-US" sz="2800" b="1" dirty="0">
                        <a:solidFill>
                          <a:schemeClr val="accent6"/>
                        </a:solidFill>
                        <a:latin typeface="思源黑体 CN Medium" panose="020B0600000000000000" charset="-122"/>
                        <a:ea typeface="思源黑体 CN Medium" panose="020B0600000000000000" charset="-122"/>
                        <a:cs typeface="思源黑体 Medium" panose="020B0600000000000000" charset="-122"/>
                        <a:sym typeface="+mn-lt"/>
                      </a:rPr>
                      <a:t>实验实证</a:t>
                    </a:r>
                    <a:endParaRPr lang="zh-CN" altLang="en-US" sz="2800" b="1" dirty="0">
                      <a:solidFill>
                        <a:schemeClr val="accent6"/>
                      </a:solid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37" name="矩形 44"/>
                  <p:cNvSpPr>
                    <a:spLocks noChangeArrowheads="1"/>
                  </p:cNvSpPr>
                  <p:nvPr>
                    <p:custDataLst>
                      <p:tags r:id="rId15"/>
                    </p:custDataLst>
                  </p:nvPr>
                </p:nvSpPr>
                <p:spPr bwMode="auto">
                  <a:xfrm>
                    <a:off x="1067" y="5650"/>
                    <a:ext cx="2931" cy="3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数据集构建：</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收集和标注中文法律文本数据集，定义关键抽取要素的标签集。</a:t>
                    </a:r>
                    <a:endPar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模型微调与评估：</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LoRA</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等高效微调方法，在标注数据集上训练模型，并对比传统模型（如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BERT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CRF</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）在准确率、召回率、</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F1</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值上的性能差异。</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grpSp>
        <p:pic>
          <p:nvPicPr>
            <p:cNvPr id="40" name="图片 39" descr="32313534313136373b32313534313134383bb7a2cfd6"/>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5322" y="4606"/>
              <a:ext cx="550" cy="550"/>
            </a:xfrm>
            <a:prstGeom prst="rect">
              <a:avLst/>
            </a:prstGeom>
          </p:spPr>
        </p:pic>
        <p:pic>
          <p:nvPicPr>
            <p:cNvPr id="41" name="图片 40" descr="32313534313136373b32313534313135313bbacfd7f7"/>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6570" y="7892"/>
              <a:ext cx="619" cy="619"/>
            </a:xfrm>
            <a:prstGeom prst="rect">
              <a:avLst/>
            </a:prstGeom>
          </p:spPr>
        </p:pic>
        <p:pic>
          <p:nvPicPr>
            <p:cNvPr id="44" name="图片 43" descr="32313534313136373b32313534313135353bc1aacfb5"/>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3331" y="4606"/>
              <a:ext cx="550" cy="550"/>
            </a:xfrm>
            <a:prstGeom prst="rect">
              <a:avLst/>
            </a:prstGeom>
          </p:spPr>
        </p:pic>
        <p:pic>
          <p:nvPicPr>
            <p:cNvPr id="45" name="图片 44" descr="32313534313136373b32313534313136343bd3cabcfe"/>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12020" y="7897"/>
              <a:ext cx="610" cy="610"/>
            </a:xfrm>
            <a:prstGeom prst="rect">
              <a:avLst/>
            </a:prstGeom>
          </p:spPr>
        </p:pic>
      </p:grpSp>
      <p:grpSp>
        <p:nvGrpSpPr>
          <p:cNvPr id="2" name="组合 1"/>
          <p:cNvGrpSpPr/>
          <p:nvPr/>
        </p:nvGrpSpPr>
        <p:grpSpPr>
          <a:xfrm>
            <a:off x="734695" y="1046480"/>
            <a:ext cx="766445" cy="76200"/>
            <a:chOff x="1218" y="1168"/>
            <a:chExt cx="2012" cy="74"/>
          </a:xfrm>
        </p:grpSpPr>
        <p:sp>
          <p:nvSpPr>
            <p:cNvPr id="3" name="矩形 2"/>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 name="矩形 3"/>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基于预训练大模型（</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LLMs</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）的中文法律文本要素自动抽取研究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custDataLst>
              <p:tags r:id="rId1"/>
            </p:custDataLst>
          </p:nvPr>
        </p:nvGrpSpPr>
        <p:grpSpPr>
          <a:xfrm>
            <a:off x="1993265" y="1680845"/>
            <a:ext cx="8206105" cy="4368165"/>
            <a:chOff x="3402" y="2452"/>
            <a:chExt cx="12923" cy="6879"/>
          </a:xfrm>
        </p:grpSpPr>
        <p:sp>
          <p:nvSpPr>
            <p:cNvPr id="7" name="任意多边形 13"/>
            <p:cNvSpPr/>
            <p:nvPr>
              <p:custDataLst>
                <p:tags r:id="rId2"/>
              </p:custDataLst>
            </p:nvPr>
          </p:nvSpPr>
          <p:spPr bwMode="auto">
            <a:xfrm rot="18900000">
              <a:off x="8227" y="6582"/>
              <a:ext cx="2749" cy="2749"/>
            </a:xfrm>
            <a:custGeom>
              <a:avLst/>
              <a:gdLst>
                <a:gd name="T0" fmla="*/ 327 w 327"/>
                <a:gd name="T1" fmla="*/ 327 h 327"/>
                <a:gd name="T2" fmla="*/ 327 w 327"/>
                <a:gd name="T3" fmla="*/ 216 h 327"/>
                <a:gd name="T4" fmla="*/ 110 w 327"/>
                <a:gd name="T5" fmla="*/ 0 h 327"/>
                <a:gd name="T6" fmla="*/ 0 w 327"/>
                <a:gd name="T7" fmla="*/ 0 h 327"/>
                <a:gd name="T8" fmla="*/ 327 w 327"/>
                <a:gd name="T9" fmla="*/ 327 h 327"/>
              </a:gdLst>
              <a:ahLst/>
              <a:cxnLst>
                <a:cxn ang="0">
                  <a:pos x="T0" y="T1"/>
                </a:cxn>
                <a:cxn ang="0">
                  <a:pos x="T2" y="T3"/>
                </a:cxn>
                <a:cxn ang="0">
                  <a:pos x="T4" y="T5"/>
                </a:cxn>
                <a:cxn ang="0">
                  <a:pos x="T6" y="T7"/>
                </a:cxn>
                <a:cxn ang="0">
                  <a:pos x="T8" y="T9"/>
                </a:cxn>
              </a:cxnLst>
              <a:rect l="0" t="0" r="r" b="b"/>
              <a:pathLst>
                <a:path w="327" h="327">
                  <a:moveTo>
                    <a:pt x="327" y="327"/>
                  </a:moveTo>
                  <a:cubicBezTo>
                    <a:pt x="327" y="216"/>
                    <a:pt x="327" y="216"/>
                    <a:pt x="327" y="216"/>
                  </a:cubicBezTo>
                  <a:cubicBezTo>
                    <a:pt x="208" y="216"/>
                    <a:pt x="110" y="119"/>
                    <a:pt x="110" y="0"/>
                  </a:cubicBezTo>
                  <a:cubicBezTo>
                    <a:pt x="0" y="0"/>
                    <a:pt x="0" y="0"/>
                    <a:pt x="0" y="0"/>
                  </a:cubicBezTo>
                  <a:cubicBezTo>
                    <a:pt x="0" y="180"/>
                    <a:pt x="147" y="327"/>
                    <a:pt x="327" y="327"/>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8" name="任意多边形 7"/>
            <p:cNvSpPr/>
            <p:nvPr>
              <p:custDataLst>
                <p:tags r:id="rId3"/>
              </p:custDataLst>
            </p:nvPr>
          </p:nvSpPr>
          <p:spPr bwMode="auto">
            <a:xfrm rot="18900000">
              <a:off x="10435" y="6961"/>
              <a:ext cx="1017" cy="1874"/>
            </a:xfrm>
            <a:custGeom>
              <a:avLst/>
              <a:gdLst>
                <a:gd name="T0" fmla="*/ 0 w 287"/>
                <a:gd name="T1" fmla="*/ 266 h 529"/>
                <a:gd name="T2" fmla="*/ 287 w 287"/>
                <a:gd name="T3" fmla="*/ 529 h 529"/>
                <a:gd name="T4" fmla="*/ 287 w 287"/>
                <a:gd name="T5" fmla="*/ 266 h 529"/>
                <a:gd name="T6" fmla="*/ 287 w 287"/>
                <a:gd name="T7" fmla="*/ 0 h 529"/>
                <a:gd name="T8" fmla="*/ 0 w 287"/>
                <a:gd name="T9" fmla="*/ 266 h 529"/>
              </a:gdLst>
              <a:ahLst/>
              <a:cxnLst>
                <a:cxn ang="0">
                  <a:pos x="T0" y="T1"/>
                </a:cxn>
                <a:cxn ang="0">
                  <a:pos x="T2" y="T3"/>
                </a:cxn>
                <a:cxn ang="0">
                  <a:pos x="T4" y="T5"/>
                </a:cxn>
                <a:cxn ang="0">
                  <a:pos x="T6" y="T7"/>
                </a:cxn>
                <a:cxn ang="0">
                  <a:pos x="T8" y="T9"/>
                </a:cxn>
              </a:cxnLst>
              <a:rect l="0" t="0" r="r" b="b"/>
              <a:pathLst>
                <a:path w="287" h="529">
                  <a:moveTo>
                    <a:pt x="0" y="266"/>
                  </a:moveTo>
                  <a:lnTo>
                    <a:pt x="287" y="529"/>
                  </a:lnTo>
                  <a:lnTo>
                    <a:pt x="287" y="266"/>
                  </a:lnTo>
                  <a:lnTo>
                    <a:pt x="287" y="0"/>
                  </a:lnTo>
                  <a:lnTo>
                    <a:pt x="0" y="266"/>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45720" rIns="91440" bIns="45720" numCol="1" anchor="ctr" anchorCtr="0" compatLnSpc="1"/>
            <a:lstStyle/>
            <a:p>
              <a:pPr algn="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03</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17" name="任意多边形 8"/>
            <p:cNvSpPr/>
            <p:nvPr>
              <p:custDataLst>
                <p:tags r:id="rId4"/>
              </p:custDataLst>
            </p:nvPr>
          </p:nvSpPr>
          <p:spPr bwMode="auto">
            <a:xfrm rot="18900000">
              <a:off x="10158" y="4652"/>
              <a:ext cx="2745" cy="2748"/>
            </a:xfrm>
            <a:custGeom>
              <a:avLst/>
              <a:gdLst>
                <a:gd name="T0" fmla="*/ 327 w 327"/>
                <a:gd name="T1" fmla="*/ 0 h 327"/>
                <a:gd name="T2" fmla="*/ 217 w 327"/>
                <a:gd name="T3" fmla="*/ 0 h 327"/>
                <a:gd name="T4" fmla="*/ 0 w 327"/>
                <a:gd name="T5" fmla="*/ 216 h 327"/>
                <a:gd name="T6" fmla="*/ 0 w 327"/>
                <a:gd name="T7" fmla="*/ 327 h 327"/>
                <a:gd name="T8" fmla="*/ 327 w 327"/>
                <a:gd name="T9" fmla="*/ 0 h 327"/>
              </a:gdLst>
              <a:ahLst/>
              <a:cxnLst>
                <a:cxn ang="0">
                  <a:pos x="T0" y="T1"/>
                </a:cxn>
                <a:cxn ang="0">
                  <a:pos x="T2" y="T3"/>
                </a:cxn>
                <a:cxn ang="0">
                  <a:pos x="T4" y="T5"/>
                </a:cxn>
                <a:cxn ang="0">
                  <a:pos x="T6" y="T7"/>
                </a:cxn>
                <a:cxn ang="0">
                  <a:pos x="T8" y="T9"/>
                </a:cxn>
              </a:cxnLst>
              <a:rect l="0" t="0" r="r" b="b"/>
              <a:pathLst>
                <a:path w="327" h="327">
                  <a:moveTo>
                    <a:pt x="327" y="0"/>
                  </a:moveTo>
                  <a:cubicBezTo>
                    <a:pt x="217" y="0"/>
                    <a:pt x="217" y="0"/>
                    <a:pt x="217" y="0"/>
                  </a:cubicBezTo>
                  <a:cubicBezTo>
                    <a:pt x="217" y="119"/>
                    <a:pt x="120" y="216"/>
                    <a:pt x="0" y="216"/>
                  </a:cubicBezTo>
                  <a:cubicBezTo>
                    <a:pt x="0" y="327"/>
                    <a:pt x="0" y="327"/>
                    <a:pt x="0" y="327"/>
                  </a:cubicBezTo>
                  <a:cubicBezTo>
                    <a:pt x="180" y="327"/>
                    <a:pt x="327" y="180"/>
                    <a:pt x="327" y="0"/>
                  </a:cubicBez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18" name="任意多边形 9"/>
            <p:cNvSpPr/>
            <p:nvPr>
              <p:custDataLst>
                <p:tags r:id="rId5"/>
              </p:custDataLst>
            </p:nvPr>
          </p:nvSpPr>
          <p:spPr bwMode="auto">
            <a:xfrm rot="18900000">
              <a:off x="8227" y="2721"/>
              <a:ext cx="2745" cy="2749"/>
            </a:xfrm>
            <a:custGeom>
              <a:avLst/>
              <a:gdLst>
                <a:gd name="T0" fmla="*/ 0 w 327"/>
                <a:gd name="T1" fmla="*/ 0 h 327"/>
                <a:gd name="T2" fmla="*/ 0 w 327"/>
                <a:gd name="T3" fmla="*/ 110 h 327"/>
                <a:gd name="T4" fmla="*/ 217 w 327"/>
                <a:gd name="T5" fmla="*/ 327 h 327"/>
                <a:gd name="T6" fmla="*/ 327 w 327"/>
                <a:gd name="T7" fmla="*/ 327 h 327"/>
                <a:gd name="T8" fmla="*/ 0 w 327"/>
                <a:gd name="T9" fmla="*/ 0 h 327"/>
              </a:gdLst>
              <a:ahLst/>
              <a:cxnLst>
                <a:cxn ang="0">
                  <a:pos x="T0" y="T1"/>
                </a:cxn>
                <a:cxn ang="0">
                  <a:pos x="T2" y="T3"/>
                </a:cxn>
                <a:cxn ang="0">
                  <a:pos x="T4" y="T5"/>
                </a:cxn>
                <a:cxn ang="0">
                  <a:pos x="T6" y="T7"/>
                </a:cxn>
                <a:cxn ang="0">
                  <a:pos x="T8" y="T9"/>
                </a:cxn>
              </a:cxnLst>
              <a:rect l="0" t="0" r="r" b="b"/>
              <a:pathLst>
                <a:path w="327" h="327">
                  <a:moveTo>
                    <a:pt x="0" y="0"/>
                  </a:moveTo>
                  <a:cubicBezTo>
                    <a:pt x="0" y="110"/>
                    <a:pt x="0" y="110"/>
                    <a:pt x="0" y="110"/>
                  </a:cubicBezTo>
                  <a:cubicBezTo>
                    <a:pt x="120" y="110"/>
                    <a:pt x="217" y="207"/>
                    <a:pt x="217" y="327"/>
                  </a:cubicBezTo>
                  <a:cubicBezTo>
                    <a:pt x="327" y="327"/>
                    <a:pt x="327" y="327"/>
                    <a:pt x="327" y="327"/>
                  </a:cubicBezTo>
                  <a:cubicBezTo>
                    <a:pt x="327" y="146"/>
                    <a:pt x="180" y="0"/>
                    <a:pt x="0" y="0"/>
                  </a:cubicBezTo>
                </a:path>
              </a:pathLst>
            </a:custGeom>
            <a:solidFill>
              <a:srgbClr val="009A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1" name="任意多边形 20"/>
            <p:cNvSpPr/>
            <p:nvPr>
              <p:custDataLst>
                <p:tags r:id="rId6"/>
              </p:custDataLst>
            </p:nvPr>
          </p:nvSpPr>
          <p:spPr bwMode="auto">
            <a:xfrm rot="18900000">
              <a:off x="10543" y="4171"/>
              <a:ext cx="1870" cy="1017"/>
            </a:xfrm>
            <a:custGeom>
              <a:avLst/>
              <a:gdLst>
                <a:gd name="T0" fmla="*/ 263 w 528"/>
                <a:gd name="T1" fmla="*/ 287 h 287"/>
                <a:gd name="T2" fmla="*/ 528 w 528"/>
                <a:gd name="T3" fmla="*/ 0 h 287"/>
                <a:gd name="T4" fmla="*/ 263 w 528"/>
                <a:gd name="T5" fmla="*/ 0 h 287"/>
                <a:gd name="T6" fmla="*/ 0 w 528"/>
                <a:gd name="T7" fmla="*/ 0 h 287"/>
                <a:gd name="T8" fmla="*/ 263 w 528"/>
                <a:gd name="T9" fmla="*/ 287 h 287"/>
              </a:gdLst>
              <a:ahLst/>
              <a:cxnLst>
                <a:cxn ang="0">
                  <a:pos x="T0" y="T1"/>
                </a:cxn>
                <a:cxn ang="0">
                  <a:pos x="T2" y="T3"/>
                </a:cxn>
                <a:cxn ang="0">
                  <a:pos x="T4" y="T5"/>
                </a:cxn>
                <a:cxn ang="0">
                  <a:pos x="T6" y="T7"/>
                </a:cxn>
                <a:cxn ang="0">
                  <a:pos x="T8" y="T9"/>
                </a:cxn>
              </a:cxnLst>
              <a:rect l="0" t="0" r="r" b="b"/>
              <a:pathLst>
                <a:path w="528" h="287">
                  <a:moveTo>
                    <a:pt x="263" y="287"/>
                  </a:moveTo>
                  <a:lnTo>
                    <a:pt x="528" y="0"/>
                  </a:lnTo>
                  <a:lnTo>
                    <a:pt x="263" y="0"/>
                  </a:lnTo>
                  <a:lnTo>
                    <a:pt x="0" y="0"/>
                  </a:lnTo>
                  <a:lnTo>
                    <a:pt x="263" y="287"/>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18288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02</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22" name="任意多边形 12"/>
            <p:cNvSpPr/>
            <p:nvPr>
              <p:custDataLst>
                <p:tags r:id="rId7"/>
              </p:custDataLst>
            </p:nvPr>
          </p:nvSpPr>
          <p:spPr bwMode="auto">
            <a:xfrm rot="18900000">
              <a:off x="8227" y="2721"/>
              <a:ext cx="2745" cy="2749"/>
            </a:xfrm>
            <a:custGeom>
              <a:avLst/>
              <a:gdLst>
                <a:gd name="T0" fmla="*/ 0 w 327"/>
                <a:gd name="T1" fmla="*/ 0 h 327"/>
                <a:gd name="T2" fmla="*/ 0 w 327"/>
                <a:gd name="T3" fmla="*/ 110 h 327"/>
                <a:gd name="T4" fmla="*/ 217 w 327"/>
                <a:gd name="T5" fmla="*/ 327 h 327"/>
                <a:gd name="T6" fmla="*/ 327 w 327"/>
                <a:gd name="T7" fmla="*/ 327 h 327"/>
                <a:gd name="T8" fmla="*/ 0 w 327"/>
                <a:gd name="T9" fmla="*/ 0 h 327"/>
              </a:gdLst>
              <a:ahLst/>
              <a:cxnLst>
                <a:cxn ang="0">
                  <a:pos x="T0" y="T1"/>
                </a:cxn>
                <a:cxn ang="0">
                  <a:pos x="T2" y="T3"/>
                </a:cxn>
                <a:cxn ang="0">
                  <a:pos x="T4" y="T5"/>
                </a:cxn>
                <a:cxn ang="0">
                  <a:pos x="T6" y="T7"/>
                </a:cxn>
                <a:cxn ang="0">
                  <a:pos x="T8" y="T9"/>
                </a:cxn>
              </a:cxnLst>
              <a:rect l="0" t="0" r="r" b="b"/>
              <a:pathLst>
                <a:path w="327" h="327">
                  <a:moveTo>
                    <a:pt x="0" y="0"/>
                  </a:moveTo>
                  <a:cubicBezTo>
                    <a:pt x="0" y="110"/>
                    <a:pt x="0" y="110"/>
                    <a:pt x="0" y="110"/>
                  </a:cubicBezTo>
                  <a:cubicBezTo>
                    <a:pt x="120" y="110"/>
                    <a:pt x="217" y="207"/>
                    <a:pt x="217" y="327"/>
                  </a:cubicBezTo>
                  <a:cubicBezTo>
                    <a:pt x="327" y="327"/>
                    <a:pt x="327" y="327"/>
                    <a:pt x="327" y="327"/>
                  </a:cubicBezTo>
                  <a:cubicBezTo>
                    <a:pt x="327" y="146"/>
                    <a:pt x="180" y="0"/>
                    <a:pt x="0" y="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3" name="任意多边形 14"/>
            <p:cNvSpPr/>
            <p:nvPr>
              <p:custDataLst>
                <p:tags r:id="rId8"/>
              </p:custDataLst>
            </p:nvPr>
          </p:nvSpPr>
          <p:spPr bwMode="auto">
            <a:xfrm rot="18900000">
              <a:off x="6296" y="4650"/>
              <a:ext cx="2749" cy="2749"/>
            </a:xfrm>
            <a:custGeom>
              <a:avLst/>
              <a:gdLst>
                <a:gd name="T0" fmla="*/ 0 w 327"/>
                <a:gd name="T1" fmla="*/ 327 h 327"/>
                <a:gd name="T2" fmla="*/ 110 w 327"/>
                <a:gd name="T3" fmla="*/ 327 h 327"/>
                <a:gd name="T4" fmla="*/ 327 w 327"/>
                <a:gd name="T5" fmla="*/ 110 h 327"/>
                <a:gd name="T6" fmla="*/ 327 w 327"/>
                <a:gd name="T7" fmla="*/ 0 h 327"/>
                <a:gd name="T8" fmla="*/ 0 w 327"/>
                <a:gd name="T9" fmla="*/ 327 h 327"/>
              </a:gdLst>
              <a:ahLst/>
              <a:cxnLst>
                <a:cxn ang="0">
                  <a:pos x="T0" y="T1"/>
                </a:cxn>
                <a:cxn ang="0">
                  <a:pos x="T2" y="T3"/>
                </a:cxn>
                <a:cxn ang="0">
                  <a:pos x="T4" y="T5"/>
                </a:cxn>
                <a:cxn ang="0">
                  <a:pos x="T6" y="T7"/>
                </a:cxn>
                <a:cxn ang="0">
                  <a:pos x="T8" y="T9"/>
                </a:cxn>
              </a:cxnLst>
              <a:rect l="0" t="0" r="r" b="b"/>
              <a:pathLst>
                <a:path w="327" h="327">
                  <a:moveTo>
                    <a:pt x="0" y="327"/>
                  </a:moveTo>
                  <a:cubicBezTo>
                    <a:pt x="110" y="327"/>
                    <a:pt x="110" y="327"/>
                    <a:pt x="110" y="327"/>
                  </a:cubicBezTo>
                  <a:cubicBezTo>
                    <a:pt x="110" y="207"/>
                    <a:pt x="208" y="110"/>
                    <a:pt x="327" y="110"/>
                  </a:cubicBezTo>
                  <a:cubicBezTo>
                    <a:pt x="327" y="0"/>
                    <a:pt x="327" y="0"/>
                    <a:pt x="327" y="0"/>
                  </a:cubicBezTo>
                  <a:cubicBezTo>
                    <a:pt x="147" y="0"/>
                    <a:pt x="0" y="146"/>
                    <a:pt x="0" y="327"/>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4" name="任意多边形 10"/>
            <p:cNvSpPr/>
            <p:nvPr>
              <p:custDataLst>
                <p:tags r:id="rId9"/>
              </p:custDataLst>
            </p:nvPr>
          </p:nvSpPr>
          <p:spPr bwMode="auto">
            <a:xfrm rot="18900000">
              <a:off x="7743" y="3212"/>
              <a:ext cx="1017" cy="1874"/>
            </a:xfrm>
            <a:custGeom>
              <a:avLst/>
              <a:gdLst>
                <a:gd name="T0" fmla="*/ 287 w 287"/>
                <a:gd name="T1" fmla="*/ 266 h 529"/>
                <a:gd name="T2" fmla="*/ 0 w 287"/>
                <a:gd name="T3" fmla="*/ 0 h 529"/>
                <a:gd name="T4" fmla="*/ 0 w 287"/>
                <a:gd name="T5" fmla="*/ 266 h 529"/>
                <a:gd name="T6" fmla="*/ 0 w 287"/>
                <a:gd name="T7" fmla="*/ 529 h 529"/>
                <a:gd name="T8" fmla="*/ 287 w 287"/>
                <a:gd name="T9" fmla="*/ 266 h 529"/>
              </a:gdLst>
              <a:ahLst/>
              <a:cxnLst>
                <a:cxn ang="0">
                  <a:pos x="T0" y="T1"/>
                </a:cxn>
                <a:cxn ang="0">
                  <a:pos x="T2" y="T3"/>
                </a:cxn>
                <a:cxn ang="0">
                  <a:pos x="T4" y="T5"/>
                </a:cxn>
                <a:cxn ang="0">
                  <a:pos x="T6" y="T7"/>
                </a:cxn>
                <a:cxn ang="0">
                  <a:pos x="T8" y="T9"/>
                </a:cxn>
              </a:cxnLst>
              <a:rect l="0" t="0" r="r" b="b"/>
              <a:pathLst>
                <a:path w="287" h="529">
                  <a:moveTo>
                    <a:pt x="287" y="266"/>
                  </a:moveTo>
                  <a:lnTo>
                    <a:pt x="0" y="0"/>
                  </a:lnTo>
                  <a:lnTo>
                    <a:pt x="0" y="266"/>
                  </a:lnTo>
                  <a:lnTo>
                    <a:pt x="0" y="529"/>
                  </a:lnTo>
                  <a:lnTo>
                    <a:pt x="287" y="26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182880" bIns="4572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01</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25" name="任意多边形 24"/>
            <p:cNvSpPr/>
            <p:nvPr>
              <p:custDataLst>
                <p:tags r:id="rId10"/>
              </p:custDataLst>
            </p:nvPr>
          </p:nvSpPr>
          <p:spPr bwMode="auto">
            <a:xfrm rot="18900000">
              <a:off x="6794" y="6862"/>
              <a:ext cx="1874" cy="1017"/>
            </a:xfrm>
            <a:custGeom>
              <a:avLst/>
              <a:gdLst>
                <a:gd name="T0" fmla="*/ 264 w 529"/>
                <a:gd name="T1" fmla="*/ 0 h 287"/>
                <a:gd name="T2" fmla="*/ 0 w 529"/>
                <a:gd name="T3" fmla="*/ 287 h 287"/>
                <a:gd name="T4" fmla="*/ 264 w 529"/>
                <a:gd name="T5" fmla="*/ 287 h 287"/>
                <a:gd name="T6" fmla="*/ 529 w 529"/>
                <a:gd name="T7" fmla="*/ 287 h 287"/>
                <a:gd name="T8" fmla="*/ 264 w 529"/>
                <a:gd name="T9" fmla="*/ 0 h 287"/>
              </a:gdLst>
              <a:ahLst/>
              <a:cxnLst>
                <a:cxn ang="0">
                  <a:pos x="T0" y="T1"/>
                </a:cxn>
                <a:cxn ang="0">
                  <a:pos x="T2" y="T3"/>
                </a:cxn>
                <a:cxn ang="0">
                  <a:pos x="T4" y="T5"/>
                </a:cxn>
                <a:cxn ang="0">
                  <a:pos x="T6" y="T7"/>
                </a:cxn>
                <a:cxn ang="0">
                  <a:pos x="T8" y="T9"/>
                </a:cxn>
              </a:cxnLst>
              <a:rect l="0" t="0" r="r" b="b"/>
              <a:pathLst>
                <a:path w="529" h="287">
                  <a:moveTo>
                    <a:pt x="264" y="0"/>
                  </a:moveTo>
                  <a:lnTo>
                    <a:pt x="0" y="287"/>
                  </a:lnTo>
                  <a:lnTo>
                    <a:pt x="264" y="287"/>
                  </a:lnTo>
                  <a:lnTo>
                    <a:pt x="529" y="287"/>
                  </a:lnTo>
                  <a:lnTo>
                    <a:pt x="264"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182880" rIns="91440" bIns="4572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04</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grpSp>
          <p:nvGrpSpPr>
            <p:cNvPr id="31" name="组合 30"/>
            <p:cNvGrpSpPr/>
            <p:nvPr/>
          </p:nvGrpSpPr>
          <p:grpSpPr>
            <a:xfrm>
              <a:off x="3402" y="2467"/>
              <a:ext cx="2931" cy="1779"/>
              <a:chOff x="3402" y="3292"/>
              <a:chExt cx="2931" cy="1779"/>
            </a:xfrm>
          </p:grpSpPr>
          <p:sp>
            <p:nvSpPr>
              <p:cNvPr id="52" name="文本框 9"/>
              <p:cNvSpPr/>
              <p:nvPr>
                <p:custDataLst>
                  <p:tags r:id="rId11"/>
                </p:custDataLst>
              </p:nvPr>
            </p:nvSpPr>
            <p:spPr bwMode="auto">
              <a:xfrm>
                <a:off x="3544" y="3292"/>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1"/>
                    </a:solidFill>
                    <a:effectLst/>
                    <a:latin typeface="思源黑体 CN Medium" panose="020B0600000000000000" charset="-122"/>
                    <a:ea typeface="思源黑体 CN Medium" panose="020B0600000000000000" charset="-122"/>
                    <a:cs typeface="思源黑体 Regular" panose="020B0500000000000000" charset="-122"/>
                    <a:sym typeface="+mn-ea"/>
                  </a:rPr>
                  <a:t>网络协议分析</a:t>
                </a:r>
                <a:endParaRPr lang="zh-CN" altLang="en-US" sz="2200" b="1" dirty="0">
                  <a:ln>
                    <a:noFill/>
                  </a:ln>
                  <a:solidFill>
                    <a:schemeClr val="accent1"/>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26" name="矩形 44"/>
              <p:cNvSpPr>
                <a:spLocks noChangeArrowheads="1"/>
              </p:cNvSpPr>
              <p:nvPr>
                <p:custDataLst>
                  <p:tags r:id="rId12"/>
                </p:custDataLst>
              </p:nvPr>
            </p:nvSpPr>
            <p:spPr bwMode="auto">
              <a:xfrm>
                <a:off x="3402" y="3884"/>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提取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环境中流量的周期性、命令结构等特定特征</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30" name="组合 29"/>
            <p:cNvGrpSpPr/>
            <p:nvPr/>
          </p:nvGrpSpPr>
          <p:grpSpPr>
            <a:xfrm>
              <a:off x="3402" y="7111"/>
              <a:ext cx="2931" cy="1779"/>
              <a:chOff x="3402" y="7096"/>
              <a:chExt cx="2931" cy="1779"/>
            </a:xfrm>
          </p:grpSpPr>
          <p:sp>
            <p:nvSpPr>
              <p:cNvPr id="27" name="文本框 9"/>
              <p:cNvSpPr/>
              <p:nvPr>
                <p:custDataLst>
                  <p:tags r:id="rId13"/>
                </p:custDataLst>
              </p:nvPr>
            </p:nvSpPr>
            <p:spPr bwMode="auto">
              <a:xfrm>
                <a:off x="3544" y="7096"/>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Regular" panose="020B0500000000000000" charset="-122"/>
                    <a:sym typeface="+mn-ea"/>
                  </a:rPr>
                  <a:t>模型训练</a:t>
                </a:r>
                <a:endPar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28" name="矩形 44"/>
              <p:cNvSpPr>
                <a:spLocks noChangeArrowheads="1"/>
              </p:cNvSpPr>
              <p:nvPr>
                <p:custDataLst>
                  <p:tags r:id="rId14"/>
                </p:custDataLst>
              </p:nvPr>
            </p:nvSpPr>
            <p:spPr bwMode="auto">
              <a:xfrm>
                <a:off x="3402" y="7688"/>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训练并优化异常检测模型，评估其实时性（延迟）和准确率（误报率）</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29" name="组合 28"/>
            <p:cNvGrpSpPr/>
            <p:nvPr/>
          </p:nvGrpSpPr>
          <p:grpSpPr>
            <a:xfrm>
              <a:off x="13394" y="7096"/>
              <a:ext cx="2931" cy="1779"/>
              <a:chOff x="13394" y="7096"/>
              <a:chExt cx="2931" cy="1779"/>
            </a:xfrm>
          </p:grpSpPr>
          <p:sp>
            <p:nvSpPr>
              <p:cNvPr id="34" name="文本框 9"/>
              <p:cNvSpPr/>
              <p:nvPr>
                <p:custDataLst>
                  <p:tags r:id="rId15"/>
                </p:custDataLst>
              </p:nvPr>
            </p:nvSpPr>
            <p:spPr bwMode="auto">
              <a:xfrm>
                <a:off x="13536" y="7096"/>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Regular" panose="020B0500000000000000" charset="-122"/>
                    <a:sym typeface="+mn-ea"/>
                  </a:rPr>
                  <a:t>数据集获取</a:t>
                </a:r>
                <a:endPar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39" name="矩形 44"/>
              <p:cNvSpPr>
                <a:spLocks noChangeArrowheads="1"/>
              </p:cNvSpPr>
              <p:nvPr>
                <p:custDataLst>
                  <p:tags r:id="rId16"/>
                </p:custDataLst>
              </p:nvPr>
            </p:nvSpPr>
            <p:spPr bwMode="auto">
              <a:xfrm>
                <a:off x="13394" y="7688"/>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采用公开或模拟的</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网络流量数据集，并注入常见的攻击类型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40" name="组合 39"/>
            <p:cNvGrpSpPr/>
            <p:nvPr/>
          </p:nvGrpSpPr>
          <p:grpSpPr>
            <a:xfrm>
              <a:off x="13394" y="2452"/>
              <a:ext cx="2931" cy="2127"/>
              <a:chOff x="13394" y="3307"/>
              <a:chExt cx="2931" cy="2127"/>
            </a:xfrm>
          </p:grpSpPr>
          <p:sp>
            <p:nvSpPr>
              <p:cNvPr id="41" name="文本框 9"/>
              <p:cNvSpPr/>
              <p:nvPr>
                <p:custDataLst>
                  <p:tags r:id="rId17"/>
                </p:custDataLst>
              </p:nvPr>
            </p:nvSpPr>
            <p:spPr bwMode="auto">
              <a:xfrm>
                <a:off x="13536" y="330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Regular" panose="020B0500000000000000" charset="-122"/>
                    <a:sym typeface="+mn-ea"/>
                  </a:rPr>
                  <a:t>深度学习模型</a:t>
                </a:r>
                <a:endPar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2" name="矩形 44"/>
              <p:cNvSpPr>
                <a:spLocks noChangeArrowheads="1"/>
              </p:cNvSpPr>
              <p:nvPr>
                <p:custDataLst>
                  <p:tags r:id="rId18"/>
                </p:custDataLst>
              </p:nvPr>
            </p:nvSpPr>
            <p:spPr bwMode="auto">
              <a:xfrm>
                <a:off x="13394" y="3899"/>
                <a:ext cx="2931" cy="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LSTM</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Transformer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等模型，捕捉</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流量在时间维度上的依赖和异常模式</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7" name="矩形 46"/>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面向工业互联网安全的异常流量检测方法研究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9"/>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2"/>
          <p:cNvGraphicFramePr/>
          <p:nvPr>
            <p:custDataLst>
              <p:tags r:id="rId1"/>
            </p:custDataLst>
          </p:nvPr>
        </p:nvGraphicFramePr>
        <p:xfrm>
          <a:off x="6904990" y="1783715"/>
          <a:ext cx="4232275" cy="2783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1"/>
          <p:cNvSpPr txBox="1">
            <a:spLocks noChangeArrowheads="1"/>
          </p:cNvSpPr>
          <p:nvPr/>
        </p:nvSpPr>
        <p:spPr bwMode="auto">
          <a:xfrm>
            <a:off x="6811010" y="4720590"/>
            <a:ext cx="4414520" cy="598170"/>
          </a:xfrm>
          <a:prstGeom prst="rect">
            <a:avLst/>
          </a:prstGeom>
          <a:noFill/>
          <a:ln w="9525">
            <a:noFill/>
            <a:miter lim="800000"/>
          </a:ln>
        </p:spPr>
        <p:txBody>
          <a:bodyPr wrap="square" lIns="45709" tIns="22855" rIns="45709" bIns="22855">
            <a:spAutoFit/>
          </a:bodyPr>
          <a:lstStyle/>
          <a:p>
            <a:pPr algn="ctr" defTabSz="457200">
              <a:lnSpc>
                <a:spcPct val="15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预期成果：形成一套基于情境模拟的护理人文关怀能力培养方案。产出量化效果评估和质性分析报告，验证模拟教学的有效性</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cxnSp>
        <p:nvCxnSpPr>
          <p:cNvPr id="4" name="直接连接符 84"/>
          <p:cNvCxnSpPr/>
          <p:nvPr/>
        </p:nvCxnSpPr>
        <p:spPr>
          <a:xfrm flipH="1">
            <a:off x="2579964" y="3081420"/>
            <a:ext cx="3649125" cy="0"/>
          </a:xfrm>
          <a:prstGeom prst="line">
            <a:avLst/>
          </a:prstGeom>
          <a:noFill/>
          <a:ln w="25400" cap="flat" cmpd="sng" algn="ctr">
            <a:solidFill>
              <a:schemeClr val="accent6"/>
            </a:solidFill>
            <a:prstDash val="sysDot"/>
            <a:miter lim="800000"/>
            <a:headEnd type="oval"/>
          </a:ln>
          <a:effectLst/>
        </p:spPr>
      </p:cxnSp>
      <p:cxnSp>
        <p:nvCxnSpPr>
          <p:cNvPr id="5" name="直接连接符 85"/>
          <p:cNvCxnSpPr/>
          <p:nvPr/>
        </p:nvCxnSpPr>
        <p:spPr>
          <a:xfrm flipH="1">
            <a:off x="2579963" y="4427992"/>
            <a:ext cx="3636429" cy="0"/>
          </a:xfrm>
          <a:prstGeom prst="line">
            <a:avLst/>
          </a:prstGeom>
          <a:noFill/>
          <a:ln w="25400" cap="flat" cmpd="sng" algn="ctr">
            <a:solidFill>
              <a:schemeClr val="accent6"/>
            </a:solidFill>
            <a:prstDash val="sysDot"/>
            <a:miter lim="800000"/>
            <a:headEnd type="oval"/>
          </a:ln>
          <a:effectLst/>
        </p:spPr>
      </p:cxnSp>
      <p:cxnSp>
        <p:nvCxnSpPr>
          <p:cNvPr id="6" name="直接连接符 87"/>
          <p:cNvCxnSpPr/>
          <p:nvPr/>
        </p:nvCxnSpPr>
        <p:spPr>
          <a:xfrm flipV="1">
            <a:off x="6484694" y="1929121"/>
            <a:ext cx="1" cy="3505689"/>
          </a:xfrm>
          <a:prstGeom prst="line">
            <a:avLst/>
          </a:prstGeom>
          <a:noFill/>
          <a:ln w="25400" cap="flat" cmpd="sng" algn="ctr">
            <a:solidFill>
              <a:schemeClr val="accent6"/>
            </a:solidFill>
            <a:prstDash val="sysDot"/>
            <a:miter lim="800000"/>
            <a:headEnd type="none"/>
          </a:ln>
          <a:effectLst/>
        </p:spPr>
      </p:cxnSp>
      <p:sp>
        <p:nvSpPr>
          <p:cNvPr id="8" name="文本框 5"/>
          <p:cNvSpPr txBox="1"/>
          <p:nvPr/>
        </p:nvSpPr>
        <p:spPr>
          <a:xfrm>
            <a:off x="1093404" y="1783897"/>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研究</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内容</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9" name="矩形 8"/>
          <p:cNvSpPr/>
          <p:nvPr/>
        </p:nvSpPr>
        <p:spPr>
          <a:xfrm>
            <a:off x="2782623" y="1917690"/>
            <a:ext cx="3494776" cy="920750"/>
          </a:xfrm>
          <a:prstGeom prst="rect">
            <a:avLst/>
          </a:prstGeom>
        </p:spPr>
        <p:txBody>
          <a:bodyPr wrap="square" lIns="91418" tIns="45708" rIns="91418" bIns="45708">
            <a:spAutoFit/>
          </a:bodyPr>
          <a:lstStyle/>
          <a:p>
            <a:pPr defTabSz="457200">
              <a:lnSpc>
                <a:spcPct val="150000"/>
              </a:lnSpc>
            </a:pPr>
            <a:r>
              <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本选题旨在通过设计情境模拟教学（</a:t>
            </a:r>
            <a:r>
              <a:rPr lang="en-US" altLang="zh-CN"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Simulation-Based Learning</a:t>
            </a:r>
            <a:r>
              <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），提升护理学生或新入职护士的人文关怀、沟通和伦理决策能力</a:t>
            </a:r>
            <a:endPar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 name="文本框 6"/>
          <p:cNvSpPr txBox="1"/>
          <p:nvPr/>
        </p:nvSpPr>
        <p:spPr>
          <a:xfrm>
            <a:off x="1093404" y="3183470"/>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理论</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建模</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12" name="矩形 11"/>
          <p:cNvSpPr/>
          <p:nvPr/>
        </p:nvSpPr>
        <p:spPr>
          <a:xfrm>
            <a:off x="2782623" y="3085034"/>
            <a:ext cx="3494776" cy="1359535"/>
          </a:xfrm>
          <a:prstGeom prst="rect">
            <a:avLst/>
          </a:prstGeom>
        </p:spPr>
        <p:txBody>
          <a:bodyPr wrap="square" lIns="91418" tIns="45708" rIns="91418" bIns="45708">
            <a:spAutoFit/>
          </a:bodyPr>
          <a:lstStyle/>
          <a:p>
            <a:pPr defTabSz="457200">
              <a:lnSpc>
                <a:spcPct val="150000"/>
              </a:lnSpc>
            </a:pP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人文关怀理论：</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借鉴护理学家</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Watson</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等理论，构建人文关怀能力的评价维度。</a:t>
            </a:r>
            <a:endPar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情境学习理论：</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分析模拟教学如何在安全、高逼真度的环境下，促进学生将理论知识转化为实践技能和情感能力</a:t>
            </a:r>
            <a:endPar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7" name="文本框 7"/>
          <p:cNvSpPr txBox="1"/>
          <p:nvPr/>
        </p:nvSpPr>
        <p:spPr>
          <a:xfrm>
            <a:off x="1093404" y="4446656"/>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实验</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实证</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18" name="矩形 17"/>
          <p:cNvSpPr/>
          <p:nvPr/>
        </p:nvSpPr>
        <p:spPr>
          <a:xfrm>
            <a:off x="2782623" y="4559083"/>
            <a:ext cx="3494776" cy="1613535"/>
          </a:xfrm>
          <a:prstGeom prst="rect">
            <a:avLst/>
          </a:prstGeom>
        </p:spPr>
        <p:txBody>
          <a:bodyPr wrap="square" lIns="91418" tIns="45708" rIns="91418" bIns="45708">
            <a:spAutoFit/>
          </a:bodyPr>
          <a:lstStyle/>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准实验设计：</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设置实验组和对照组（，进行前后测对比。</a:t>
            </a:r>
            <a:endPar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量表测量：</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采用护理人文关怀能力量表、沟通技巧评分表等标准化工具进行定量评估。</a:t>
            </a:r>
            <a:endPar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质性访谈：</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对实验组学生进行深度访谈，了解模拟训练对他们职业认同和伦理思维的影响</a:t>
            </a:r>
            <a:endPar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grpSp>
        <p:nvGrpSpPr>
          <p:cNvPr id="11" name="组合 10"/>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3" name="文本框 12"/>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基于情境模拟的护理人文关怀能力培养效果评价</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7"/>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2098291" y="1872172"/>
            <a:ext cx="7821930" cy="4039872"/>
            <a:chOff x="2122342" y="1373660"/>
            <a:chExt cx="7823968" cy="4040924"/>
          </a:xfrm>
        </p:grpSpPr>
        <p:sp>
          <p:nvSpPr>
            <p:cNvPr id="5" name="任意多边形 8"/>
            <p:cNvSpPr/>
            <p:nvPr>
              <p:custDataLst>
                <p:tags r:id="rId2"/>
              </p:custDataLst>
            </p:nvPr>
          </p:nvSpPr>
          <p:spPr>
            <a:xfrm>
              <a:off x="2122342" y="2351497"/>
              <a:ext cx="3431799" cy="625003"/>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6" name="五边形 9"/>
            <p:cNvSpPr/>
            <p:nvPr>
              <p:custDataLst>
                <p:tags r:id="rId3"/>
              </p:custDataLst>
            </p:nvPr>
          </p:nvSpPr>
          <p:spPr>
            <a:xfrm rot="16200000">
              <a:off x="4732237" y="1530863"/>
              <a:ext cx="978155" cy="663748"/>
            </a:xfrm>
            <a:prstGeom prst="homePlate">
              <a:avLst>
                <a:gd name="adj" fmla="val 315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7" name="任意多边形 10"/>
            <p:cNvSpPr/>
            <p:nvPr>
              <p:custDataLst>
                <p:tags r:id="rId4"/>
              </p:custDataLst>
            </p:nvPr>
          </p:nvSpPr>
          <p:spPr>
            <a:xfrm rot="10800000">
              <a:off x="6525309" y="3775856"/>
              <a:ext cx="3421001" cy="659937"/>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8" name="五边形 11"/>
            <p:cNvSpPr/>
            <p:nvPr>
              <p:custDataLst>
                <p:tags r:id="rId5"/>
              </p:custDataLst>
            </p:nvPr>
          </p:nvSpPr>
          <p:spPr>
            <a:xfrm rot="5400000">
              <a:off x="6363342" y="4599031"/>
              <a:ext cx="978155" cy="652950"/>
            </a:xfrm>
            <a:prstGeom prst="homePlate">
              <a:avLst>
                <a:gd name="adj" fmla="val 315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9" name="任意多边形 12"/>
            <p:cNvSpPr/>
            <p:nvPr>
              <p:custDataLst>
                <p:tags r:id="rId6"/>
              </p:custDataLst>
            </p:nvPr>
          </p:nvSpPr>
          <p:spPr>
            <a:xfrm rot="10800000" flipV="1">
              <a:off x="6525309" y="2351180"/>
              <a:ext cx="3421001" cy="625003"/>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0" name="五边形 13"/>
            <p:cNvSpPr/>
            <p:nvPr>
              <p:custDataLst>
                <p:tags r:id="rId7"/>
              </p:custDataLst>
            </p:nvPr>
          </p:nvSpPr>
          <p:spPr>
            <a:xfrm rot="16200000" flipV="1">
              <a:off x="6363342" y="1536262"/>
              <a:ext cx="978155" cy="654220"/>
            </a:xfrm>
            <a:prstGeom prst="homePlate">
              <a:avLst>
                <a:gd name="adj" fmla="val 315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1" name="任意多边形 14"/>
            <p:cNvSpPr/>
            <p:nvPr>
              <p:custDataLst>
                <p:tags r:id="rId8"/>
              </p:custDataLst>
            </p:nvPr>
          </p:nvSpPr>
          <p:spPr>
            <a:xfrm flipV="1">
              <a:off x="2122342" y="3770140"/>
              <a:ext cx="3431799" cy="666289"/>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2" name="五边形 15"/>
            <p:cNvSpPr/>
            <p:nvPr>
              <p:custDataLst>
                <p:tags r:id="rId9"/>
              </p:custDataLst>
            </p:nvPr>
          </p:nvSpPr>
          <p:spPr>
            <a:xfrm rot="5400000" flipV="1">
              <a:off x="4732237" y="4593314"/>
              <a:ext cx="978155" cy="663748"/>
            </a:xfrm>
            <a:prstGeom prst="homePlate">
              <a:avLst>
                <a:gd name="adj" fmla="val 315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7" name="矩形 16"/>
            <p:cNvSpPr/>
            <p:nvPr>
              <p:custDataLst>
                <p:tags r:id="rId10"/>
              </p:custDataLst>
            </p:nvPr>
          </p:nvSpPr>
          <p:spPr>
            <a:xfrm>
              <a:off x="4804343" y="1572866"/>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01</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18" name="矩形 17"/>
            <p:cNvSpPr/>
            <p:nvPr>
              <p:custDataLst>
                <p:tags r:id="rId11"/>
              </p:custDataLst>
            </p:nvPr>
          </p:nvSpPr>
          <p:spPr>
            <a:xfrm>
              <a:off x="4776100" y="4632340"/>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02</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19" name="矩形 18"/>
            <p:cNvSpPr/>
            <p:nvPr>
              <p:custDataLst>
                <p:tags r:id="rId12"/>
              </p:custDataLst>
            </p:nvPr>
          </p:nvSpPr>
          <p:spPr>
            <a:xfrm>
              <a:off x="6382086" y="1576696"/>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03</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20" name="矩形 19"/>
            <p:cNvSpPr/>
            <p:nvPr>
              <p:custDataLst>
                <p:tags r:id="rId13"/>
              </p:custDataLst>
            </p:nvPr>
          </p:nvSpPr>
          <p:spPr>
            <a:xfrm>
              <a:off x="6498714" y="4633406"/>
              <a:ext cx="680389" cy="584799"/>
            </a:xfrm>
            <a:prstGeom prst="rect">
              <a:avLst/>
            </a:prstGeom>
            <a:noFill/>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04</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grpSp>
      <p:sp>
        <p:nvSpPr>
          <p:cNvPr id="46" name="矩形 45"/>
          <p:cNvSpPr/>
          <p:nvPr>
            <p:custDataLst>
              <p:tags r:id="rId14"/>
            </p:custDataLst>
          </p:nvPr>
        </p:nvSpPr>
        <p:spPr>
          <a:xfrm>
            <a:off x="7412095" y="2071627"/>
            <a:ext cx="3569347" cy="645160"/>
          </a:xfrm>
          <a:prstGeom prst="rect">
            <a:avLst/>
          </a:prstGeom>
        </p:spPr>
        <p:txBody>
          <a:bodyPr wrap="square">
            <a:spAutoFit/>
          </a:bodyPr>
          <a:lstStyle/>
          <a:p>
            <a:pPr>
              <a:lnSpc>
                <a:spcPct val="150000"/>
              </a:lnSpc>
              <a:spcBef>
                <a:spcPts val="800"/>
              </a:spcBef>
            </a:pP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收集本院近一年老年患者的病历数据，对风险因素进行回归分析，确定权重</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7" name="文本框 20"/>
          <p:cNvSpPr txBox="1"/>
          <p:nvPr>
            <p:custDataLst>
              <p:tags r:id="rId15"/>
            </p:custDataLst>
          </p:nvPr>
        </p:nvSpPr>
        <p:spPr>
          <a:xfrm>
            <a:off x="7412355" y="1671320"/>
            <a:ext cx="3552190" cy="397510"/>
          </a:xfrm>
          <a:prstGeom prst="rect">
            <a:avLst/>
          </a:prstGeom>
          <a:noFill/>
        </p:spPr>
        <p:txBody>
          <a:bodyPr wrap="square" lIns="91435" tIns="45716" rIns="91435" bIns="45716">
            <a:spAutoFit/>
          </a:bodyPr>
          <a:lstStyle/>
          <a:p>
            <a:pP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回顾性研究</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8" name="矩形 47"/>
          <p:cNvSpPr/>
          <p:nvPr>
            <p:custDataLst>
              <p:tags r:id="rId16"/>
            </p:custDataLst>
          </p:nvPr>
        </p:nvSpPr>
        <p:spPr>
          <a:xfrm>
            <a:off x="7412095" y="5413556"/>
            <a:ext cx="3569347" cy="922020"/>
          </a:xfrm>
          <a:prstGeom prst="rect">
            <a:avLst/>
          </a:prstGeom>
        </p:spPr>
        <p:txBody>
          <a:bodyPr wrap="square">
            <a:spAutoFit/>
          </a:bodyPr>
          <a:lstStyle/>
          <a:p>
            <a:pP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在试点病区实施该预警系统（实验组），对比实施前后或与对照病区（传统评估）的跌倒发生率、伤害严重度</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9" name="文本框 20"/>
          <p:cNvSpPr txBox="1"/>
          <p:nvPr>
            <p:custDataLst>
              <p:tags r:id="rId17"/>
            </p:custDataLst>
          </p:nvPr>
        </p:nvSpPr>
        <p:spPr>
          <a:xfrm>
            <a:off x="7412355" y="5013325"/>
            <a:ext cx="3552190" cy="397510"/>
          </a:xfrm>
          <a:prstGeom prst="rect">
            <a:avLst/>
          </a:prstGeom>
          <a:noFill/>
        </p:spPr>
        <p:txBody>
          <a:bodyPr wrap="square" lIns="91435" tIns="45716" rIns="91435" bIns="45716">
            <a:spAutoFit/>
          </a:bodyPr>
          <a:lstStyle/>
          <a:p>
            <a:pP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前瞻性干预研究</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0" name="矩形 49"/>
          <p:cNvSpPr/>
          <p:nvPr>
            <p:custDataLst>
              <p:tags r:id="rId18"/>
            </p:custDataLst>
          </p:nvPr>
        </p:nvSpPr>
        <p:spPr>
          <a:xfrm>
            <a:off x="1210074" y="2071627"/>
            <a:ext cx="3569347" cy="645160"/>
          </a:xfrm>
          <a:prstGeom prst="rect">
            <a:avLst/>
          </a:prstGeom>
        </p:spPr>
        <p:txBody>
          <a:bodyPr wrap="square">
            <a:spAutoFit/>
          </a:bodyPr>
          <a:lstStyle/>
          <a:p>
            <a:pPr algn="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借鉴</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Morse Fall Scale</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Hendrich II</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等成熟量表，构建本土化、精细化的风险因素权重模型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1" name="文本框 20"/>
          <p:cNvSpPr txBox="1"/>
          <p:nvPr>
            <p:custDataLst>
              <p:tags r:id="rId19"/>
            </p:custDataLst>
          </p:nvPr>
        </p:nvSpPr>
        <p:spPr>
          <a:xfrm>
            <a:off x="1166495" y="1671320"/>
            <a:ext cx="3613150" cy="397510"/>
          </a:xfrm>
          <a:prstGeom prst="rect">
            <a:avLst/>
          </a:prstGeom>
          <a:noFill/>
        </p:spPr>
        <p:txBody>
          <a:bodyPr wrap="square" lIns="91435" tIns="45716" rIns="91435" bIns="45716">
            <a:spAutoFit/>
          </a:bodyPr>
          <a:lstStyle/>
          <a:p>
            <a:pPr algn="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风险评估理论</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2" name="矩形 51"/>
          <p:cNvSpPr/>
          <p:nvPr>
            <p:custDataLst>
              <p:tags r:id="rId20"/>
            </p:custDataLst>
          </p:nvPr>
        </p:nvSpPr>
        <p:spPr>
          <a:xfrm>
            <a:off x="1210074" y="5413556"/>
            <a:ext cx="3569347" cy="645160"/>
          </a:xfrm>
          <a:prstGeom prst="rect">
            <a:avLst/>
          </a:prstGeom>
        </p:spPr>
        <p:txBody>
          <a:bodyPr wrap="square">
            <a:spAutoFit/>
          </a:bodyPr>
          <a:lstStyle/>
          <a:p>
            <a:pPr algn="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采用</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PDCA</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循环等方法，指导预警系统的实施、反馈和优化流程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3" name="文本框 20"/>
          <p:cNvSpPr txBox="1"/>
          <p:nvPr>
            <p:custDataLst>
              <p:tags r:id="rId21"/>
            </p:custDataLst>
          </p:nvPr>
        </p:nvSpPr>
        <p:spPr>
          <a:xfrm>
            <a:off x="1166495" y="5013325"/>
            <a:ext cx="3613150" cy="397510"/>
          </a:xfrm>
          <a:prstGeom prst="rect">
            <a:avLst/>
          </a:prstGeom>
          <a:noFill/>
        </p:spPr>
        <p:txBody>
          <a:bodyPr wrap="square" lIns="91435" tIns="45716" rIns="91435" bIns="45716">
            <a:spAutoFit/>
          </a:bodyPr>
          <a:lstStyle/>
          <a:p>
            <a:pPr algn="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安全管理理论</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grpSp>
        <p:nvGrpSpPr>
          <p:cNvPr id="25" name="组合 24"/>
          <p:cNvGrpSpPr/>
          <p:nvPr/>
        </p:nvGrpSpPr>
        <p:grpSpPr>
          <a:xfrm>
            <a:off x="725170" y="1046480"/>
            <a:ext cx="766445" cy="76200"/>
            <a:chOff x="1218" y="1168"/>
            <a:chExt cx="2012" cy="74"/>
          </a:xfrm>
        </p:grpSpPr>
        <p:sp>
          <p:nvSpPr>
            <p:cNvPr id="34" name="矩形 3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5" name="矩形 3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6" name="文本框 35"/>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住院老年患者跌倒风险预警系统的构建与应用效果评价</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582930" y="1815027"/>
            <a:ext cx="11026140" cy="4801993"/>
            <a:chOff x="1094" y="3162"/>
            <a:chExt cx="15983" cy="6960"/>
          </a:xfrm>
        </p:grpSpPr>
        <p:grpSp>
          <p:nvGrpSpPr>
            <p:cNvPr id="2" name="组合 1"/>
            <p:cNvGrpSpPr/>
            <p:nvPr/>
          </p:nvGrpSpPr>
          <p:grpSpPr>
            <a:xfrm>
              <a:off x="1094" y="3162"/>
              <a:ext cx="15865" cy="5227"/>
              <a:chOff x="1090" y="3162"/>
              <a:chExt cx="15865" cy="5227"/>
            </a:xfrm>
          </p:grpSpPr>
          <p:sp>
            <p:nvSpPr>
              <p:cNvPr id="6" name="菱形 5"/>
              <p:cNvSpPr/>
              <p:nvPr>
                <p:custDataLst>
                  <p:tags r:id="rId2"/>
                </p:custDataLst>
              </p:nvPr>
            </p:nvSpPr>
            <p:spPr>
              <a:xfrm>
                <a:off x="7689" y="6603"/>
                <a:ext cx="3372" cy="1786"/>
              </a:xfrm>
              <a:prstGeom prst="diamond">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9" name="菱形 8"/>
              <p:cNvSpPr/>
              <p:nvPr>
                <p:custDataLst>
                  <p:tags r:id="rId3"/>
                </p:custDataLst>
              </p:nvPr>
            </p:nvSpPr>
            <p:spPr>
              <a:xfrm>
                <a:off x="7689" y="4481"/>
                <a:ext cx="3372" cy="1786"/>
              </a:xfrm>
              <a:prstGeom prst="diamond">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10" name="菱形 9"/>
              <p:cNvSpPr/>
              <p:nvPr>
                <p:custDataLst>
                  <p:tags r:id="rId4"/>
                </p:custDataLst>
              </p:nvPr>
            </p:nvSpPr>
            <p:spPr>
              <a:xfrm>
                <a:off x="7689" y="3376"/>
                <a:ext cx="3372" cy="1786"/>
              </a:xfrm>
              <a:prstGeom prst="diamond">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34" name="矩形 33"/>
              <p:cNvSpPr/>
              <p:nvPr>
                <p:custDataLst>
                  <p:tags r:id="rId5"/>
                </p:custDataLst>
              </p:nvPr>
            </p:nvSpPr>
            <p:spPr>
              <a:xfrm>
                <a:off x="1090" y="4639"/>
                <a:ext cx="3260" cy="667"/>
              </a:xfrm>
              <a:prstGeom prst="rect">
                <a:avLst/>
              </a:prstGeom>
            </p:spPr>
            <p:txBody>
              <a:bodyPr wrap="square">
                <a:spAutoFit/>
              </a:bodyPr>
              <a:lstStyle/>
              <a:p>
                <a:pPr algn="l"/>
                <a:r>
                  <a:rPr lang="zh-CN" altLang="en-US" sz="2400" b="1" dirty="0">
                    <a:solidFill>
                      <a:schemeClr val="accent2"/>
                    </a:solidFill>
                    <a:latin typeface="思源黑体 CN Medium" panose="020B0600000000000000" charset="-122"/>
                    <a:ea typeface="思源黑体 CN Medium" panose="020B0600000000000000" charset="-122"/>
                    <a:cs typeface="思源黑体 Regular" panose="020B0500000000000000" charset="-122"/>
                    <a:sym typeface="+mn-lt"/>
                  </a:rPr>
                  <a:t>横断面调查法</a:t>
                </a:r>
                <a:endParaRPr lang="zh-CN" altLang="en-US" sz="2400" b="1" dirty="0">
                  <a:solidFill>
                    <a:schemeClr val="accent2"/>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nvGrpSpPr>
              <p:cNvPr id="17" name="组合 16"/>
              <p:cNvGrpSpPr/>
              <p:nvPr/>
            </p:nvGrpSpPr>
            <p:grpSpPr>
              <a:xfrm>
                <a:off x="10130" y="3749"/>
                <a:ext cx="4035" cy="195"/>
                <a:chOff x="10200" y="4202"/>
                <a:chExt cx="4035" cy="165"/>
              </a:xfrm>
            </p:grpSpPr>
            <p:sp>
              <p:nvSpPr>
                <p:cNvPr id="19" name="椭圆 18"/>
                <p:cNvSpPr/>
                <p:nvPr>
                  <p:custDataLst>
                    <p:tags r:id="rId6"/>
                  </p:custDataLst>
                </p:nvPr>
              </p:nvSpPr>
              <p:spPr>
                <a:xfrm>
                  <a:off x="10200" y="4202"/>
                  <a:ext cx="197" cy="165"/>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109" name="直接连接符 108"/>
                <p:cNvCxnSpPr/>
                <p:nvPr>
                  <p:custDataLst>
                    <p:tags r:id="rId7"/>
                  </p:custDataLst>
                </p:nvPr>
              </p:nvCxnSpPr>
              <p:spPr>
                <a:xfrm flipH="1">
                  <a:off x="10337" y="4291"/>
                  <a:ext cx="3898"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菱形 15"/>
              <p:cNvSpPr/>
              <p:nvPr>
                <p:custDataLst>
                  <p:tags r:id="rId8"/>
                </p:custDataLst>
              </p:nvPr>
            </p:nvSpPr>
            <p:spPr>
              <a:xfrm>
                <a:off x="7689" y="5540"/>
                <a:ext cx="3372" cy="1786"/>
              </a:xfrm>
              <a:prstGeom prst="diamond">
                <a:avLst/>
              </a:prstGeom>
              <a:solidFill>
                <a:schemeClr val="accent3">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grpSp>
            <p:nvGrpSpPr>
              <p:cNvPr id="18" name="组合 17"/>
              <p:cNvGrpSpPr/>
              <p:nvPr/>
            </p:nvGrpSpPr>
            <p:grpSpPr>
              <a:xfrm>
                <a:off x="10873" y="6356"/>
                <a:ext cx="4005" cy="191"/>
                <a:chOff x="10448" y="4195"/>
                <a:chExt cx="4005" cy="161"/>
              </a:xfrm>
            </p:grpSpPr>
            <p:sp>
              <p:nvSpPr>
                <p:cNvPr id="23" name="椭圆 22"/>
                <p:cNvSpPr/>
                <p:nvPr>
                  <p:custDataLst>
                    <p:tags r:id="rId9"/>
                  </p:custDataLst>
                </p:nvPr>
              </p:nvSpPr>
              <p:spPr>
                <a:xfrm>
                  <a:off x="10448" y="4195"/>
                  <a:ext cx="188" cy="161"/>
                </a:xfrm>
                <a:prstGeom prst="ellipse">
                  <a:avLst/>
                </a:prstGeom>
                <a:solidFill>
                  <a:schemeClr val="accent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24" name="直接连接符 23"/>
                <p:cNvCxnSpPr/>
                <p:nvPr>
                  <p:custDataLst>
                    <p:tags r:id="rId10"/>
                  </p:custDataLst>
                </p:nvPr>
              </p:nvCxnSpPr>
              <p:spPr>
                <a:xfrm flipH="1">
                  <a:off x="10555" y="4280"/>
                  <a:ext cx="38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3202" y="5261"/>
                <a:ext cx="4658" cy="189"/>
                <a:chOff x="9507" y="4240"/>
                <a:chExt cx="4658" cy="160"/>
              </a:xfrm>
            </p:grpSpPr>
            <p:sp>
              <p:nvSpPr>
                <p:cNvPr id="30" name="椭圆 29"/>
                <p:cNvSpPr/>
                <p:nvPr>
                  <p:custDataLst>
                    <p:tags r:id="rId11"/>
                  </p:custDataLst>
                </p:nvPr>
              </p:nvSpPr>
              <p:spPr>
                <a:xfrm>
                  <a:off x="13964" y="4240"/>
                  <a:ext cx="201" cy="160"/>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38" name="直接连接符 37"/>
                <p:cNvCxnSpPr/>
                <p:nvPr>
                  <p:custDataLst>
                    <p:tags r:id="rId12"/>
                  </p:custDataLst>
                </p:nvPr>
              </p:nvCxnSpPr>
              <p:spPr>
                <a:xfrm flipH="1" flipV="1">
                  <a:off x="9507" y="4299"/>
                  <a:ext cx="4607" cy="25"/>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4043" y="7950"/>
                <a:ext cx="4654" cy="184"/>
                <a:chOff x="9852" y="4312"/>
                <a:chExt cx="4654" cy="155"/>
              </a:xfrm>
            </p:grpSpPr>
            <p:sp>
              <p:nvSpPr>
                <p:cNvPr id="40" name="椭圆 39"/>
                <p:cNvSpPr/>
                <p:nvPr>
                  <p:custDataLst>
                    <p:tags r:id="rId13"/>
                  </p:custDataLst>
                </p:nvPr>
              </p:nvSpPr>
              <p:spPr>
                <a:xfrm>
                  <a:off x="14321" y="4312"/>
                  <a:ext cx="185" cy="155"/>
                </a:xfrm>
                <a:prstGeom prst="ellipse">
                  <a:avLst/>
                </a:prstGeom>
                <a:solidFill>
                  <a:schemeClr val="accent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45" name="直接连接符 44"/>
                <p:cNvCxnSpPr/>
                <p:nvPr>
                  <p:custDataLst>
                    <p:tags r:id="rId14"/>
                  </p:custDataLst>
                </p:nvPr>
              </p:nvCxnSpPr>
              <p:spPr>
                <a:xfrm flipH="1">
                  <a:off x="9852" y="4386"/>
                  <a:ext cx="4537" cy="6"/>
                </a:xfrm>
                <a:prstGeom prst="line">
                  <a:avLst/>
                </a:prstGeom>
                <a:ln w="22225">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 name="矩形 2"/>
              <p:cNvSpPr/>
              <p:nvPr>
                <p:custDataLst>
                  <p:tags r:id="rId15"/>
                </p:custDataLst>
              </p:nvPr>
            </p:nvSpPr>
            <p:spPr>
              <a:xfrm>
                <a:off x="1978" y="7327"/>
                <a:ext cx="3621" cy="667"/>
              </a:xfrm>
              <a:prstGeom prst="rect">
                <a:avLst/>
              </a:prstGeom>
            </p:spPr>
            <p:txBody>
              <a:bodyPr wrap="square">
                <a:spAutoFit/>
              </a:bodyPr>
              <a:lstStyle/>
              <a:p>
                <a:pPr algn="l"/>
                <a:r>
                  <a:rPr lang="zh-CN" altLang="en-US" sz="2400" b="1" dirty="0">
                    <a:solidFill>
                      <a:schemeClr val="accent5"/>
                    </a:solidFill>
                    <a:latin typeface="思源黑体 CN Medium" panose="020B0600000000000000" charset="-122"/>
                    <a:ea typeface="思源黑体 CN Medium" panose="020B0600000000000000" charset="-122"/>
                    <a:cs typeface="思源黑体 Regular" panose="020B0500000000000000" charset="-122"/>
                    <a:sym typeface="+mn-lt"/>
                  </a:rPr>
                  <a:t>准实验干预研究</a:t>
                </a:r>
                <a:endParaRPr lang="zh-CN" altLang="en-US" sz="2400" b="1" dirty="0">
                  <a:solidFill>
                    <a:schemeClr val="accent5"/>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4" name="矩形 3"/>
              <p:cNvSpPr/>
              <p:nvPr>
                <p:custDataLst>
                  <p:tags r:id="rId16"/>
                </p:custDataLst>
              </p:nvPr>
            </p:nvSpPr>
            <p:spPr>
              <a:xfrm>
                <a:off x="13230" y="3162"/>
                <a:ext cx="3036" cy="667"/>
              </a:xfrm>
              <a:prstGeom prst="rect">
                <a:avLst/>
              </a:prstGeom>
            </p:spPr>
            <p:txBody>
              <a:bodyPr wrap="square">
                <a:spAutoFit/>
              </a:bodyPr>
              <a:lstStyle/>
              <a:p>
                <a:pPr algn="r"/>
                <a:r>
                  <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sym typeface="+mn-lt"/>
                  </a:rPr>
                  <a:t>自我效能理论</a:t>
                </a:r>
                <a:endPar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5" name="矩形 4"/>
              <p:cNvSpPr/>
              <p:nvPr>
                <p:custDataLst>
                  <p:tags r:id="rId17"/>
                </p:custDataLst>
              </p:nvPr>
            </p:nvSpPr>
            <p:spPr>
              <a:xfrm>
                <a:off x="13367" y="5758"/>
                <a:ext cx="3588" cy="667"/>
              </a:xfrm>
              <a:prstGeom prst="rect">
                <a:avLst/>
              </a:prstGeom>
            </p:spPr>
            <p:txBody>
              <a:bodyPr wrap="square">
                <a:spAutoFit/>
              </a:bodyPr>
              <a:lstStyle/>
              <a:p>
                <a:pPr algn="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sym typeface="+mn-lt"/>
                  </a:rPr>
                  <a:t>慢性病护理模式</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
          <p:nvSpPr>
            <p:cNvPr id="20" name="矩形 47"/>
            <p:cNvSpPr>
              <a:spLocks noChangeArrowheads="1"/>
            </p:cNvSpPr>
            <p:nvPr>
              <p:custDataLst>
                <p:tags r:id="rId18"/>
              </p:custDataLst>
            </p:nvPr>
          </p:nvSpPr>
          <p:spPr bwMode="auto">
            <a:xfrm>
              <a:off x="1168" y="5368"/>
              <a:ext cx="4103" cy="1575"/>
            </a:xfrm>
            <a:prstGeom prst="rect">
              <a:avLst/>
            </a:prstGeom>
            <a:noFill/>
            <a:ln w="9525">
              <a:noFill/>
              <a:miter lim="800000"/>
            </a:ln>
          </p:spPr>
          <p:txBody>
            <a:bodyPr wrap="square" lIns="68566" tIns="34283" rIns="68566" bIns="34283">
              <a:spAutoFit/>
            </a:bodyPr>
            <a:lstStyle/>
            <a:p>
              <a:pP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对社区或医院的慢病患者进行问卷调查和访谈，收集其自我管理能力和障碍因素的数据</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7" name="矩形 47"/>
            <p:cNvSpPr>
              <a:spLocks noChangeArrowheads="1"/>
            </p:cNvSpPr>
            <p:nvPr>
              <p:custDataLst>
                <p:tags r:id="rId19"/>
              </p:custDataLst>
            </p:nvPr>
          </p:nvSpPr>
          <p:spPr bwMode="auto">
            <a:xfrm>
              <a:off x="1993" y="8055"/>
              <a:ext cx="5872" cy="2067"/>
            </a:xfrm>
            <a:prstGeom prst="rect">
              <a:avLst/>
            </a:prstGeom>
            <a:noFill/>
            <a:ln w="9525">
              <a:noFill/>
              <a:miter lim="800000"/>
            </a:ln>
          </p:spPr>
          <p:txBody>
            <a:bodyPr wrap="square" lIns="68566" tIns="34283" rIns="68566" bIns="34283">
              <a:spAutoFit/>
            </a:bodyPr>
            <a:lstStyle/>
            <a:p>
              <a:pP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设置实验组（接受个性化远程干预）和对照组（接受常规健康教育），追踪</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3-6</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个月，对比两组患者的生理指标（如血糖</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HbA1c</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、血压）和自我管理评分变化</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8" name="矩形 47"/>
            <p:cNvSpPr>
              <a:spLocks noChangeArrowheads="1"/>
            </p:cNvSpPr>
            <p:nvPr>
              <p:custDataLst>
                <p:tags r:id="rId20"/>
              </p:custDataLst>
            </p:nvPr>
          </p:nvSpPr>
          <p:spPr bwMode="auto">
            <a:xfrm>
              <a:off x="12184" y="3855"/>
              <a:ext cx="4203" cy="1082"/>
            </a:xfrm>
            <a:prstGeom prst="rect">
              <a:avLst/>
            </a:prstGeom>
            <a:noFill/>
            <a:ln w="9525">
              <a:noFill/>
              <a:miter lim="800000"/>
            </a:ln>
          </p:spPr>
          <p:txBody>
            <a:bodyPr wrap="square" lIns="68566" tIns="34283" rIns="68566" bIns="34283">
              <a:spAutoFit/>
            </a:bodyPr>
            <a:lstStyle/>
            <a:p>
              <a:pPr algn="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分析患者对自身管理行为的信心水平，并将其作为干预目标</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11" name="矩形 47"/>
            <p:cNvSpPr>
              <a:spLocks noChangeArrowheads="1"/>
            </p:cNvSpPr>
            <p:nvPr>
              <p:custDataLst>
                <p:tags r:id="rId21"/>
              </p:custDataLst>
            </p:nvPr>
          </p:nvSpPr>
          <p:spPr bwMode="auto">
            <a:xfrm>
              <a:off x="12790" y="6469"/>
              <a:ext cx="4287" cy="1082"/>
            </a:xfrm>
            <a:prstGeom prst="rect">
              <a:avLst/>
            </a:prstGeom>
            <a:noFill/>
            <a:ln w="9525">
              <a:noFill/>
              <a:miter lim="800000"/>
            </a:ln>
          </p:spPr>
          <p:txBody>
            <a:bodyPr wrap="square" lIns="68566" tIns="34283" rIns="68566" bIns="34283">
              <a:spAutoFit/>
            </a:bodyPr>
            <a:lstStyle/>
            <a:p>
              <a:pPr algn="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借鉴慢性病护理模式（</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CCM</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），强调社区、家庭和患者的主动参与</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
        <p:nvSpPr>
          <p:cNvPr id="26" name="文本框 2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rPr>
              <a:t>基于居家环境的慢病患者自我管理能力评估与干预模式研究</a:t>
            </a:r>
            <a:endPar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grpSp>
        <p:nvGrpSpPr>
          <p:cNvPr id="13" name="组合 1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4" name="矩形 13"/>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Tree>
    <p:custDataLst>
      <p:tags r:id="rId2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DIAGRAM_VIRTUALLY_FRAME" val="{&quot;height&quot;:423.7,&quot;left&quot;:66.9,&quot;top&quot;:106.25,&quot;width&quot;:836.85}"/>
</p:tagLst>
</file>

<file path=ppt/tags/tag160.xml><?xml version="1.0" encoding="utf-8"?>
<p:tagLst xmlns:p="http://schemas.openxmlformats.org/presentationml/2006/main">
  <p:tag name="PA" val="v5.2.11"/>
  <p:tag name="KSO_WM_UNIT_LINE_FORE_SCHEMECOLOR_INDEX_BRIGHTNESS" val="0"/>
  <p:tag name="KSO_WM_UNIT_LINE_FORE_SCHEMECOLOR_INDEX" val="7"/>
  <p:tag name="KSO_WM_UNIT_LINE_FILL_TYPE" val="2"/>
  <p:tag name="KSO_WM_DIAGRAM_VIRTUALLY_FRAME" val="{&quot;height&quot;:423.7,&quot;left&quot;:66.9,&quot;top&quot;:106.25,&quot;width&quot;:836.85}"/>
</p:tagLst>
</file>

<file path=ppt/tags/tag161.xml><?xml version="1.0" encoding="utf-8"?>
<p:tagLst xmlns:p="http://schemas.openxmlformats.org/presentationml/2006/main">
  <p:tag name="PA" val="v5.2.11"/>
  <p:tag name="KSO_WM_UNIT_FILL_FORE_SCHEMECOLOR_INDEX_BRIGHTNESS" val="0"/>
  <p:tag name="KSO_WM_UNIT_FILL_FORE_SCHEMECOLOR_INDEX" val="7"/>
  <p:tag name="KSO_WM_UNIT_FILL_TYPE" val="1"/>
  <p:tag name="KSO_WM_DIAGRAM_VIRTUALLY_FRAME" val="{&quot;height&quot;:423.7,&quot;left&quot;:66.9,&quot;top&quot;:106.25,&quot;width&quot;:836.85}"/>
</p:tagLst>
</file>

<file path=ppt/tags/tag162.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3.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4.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5.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6.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7.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8.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9.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0.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1.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2.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3.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4.xml><?xml version="1.0" encoding="utf-8"?>
<p:tagLst xmlns:p="http://schemas.openxmlformats.org/presentationml/2006/main">
  <p:tag name="PA" val="v5.2.11"/>
  <p:tag name="KSO_WM_DIAGRAM_VIRTUALLY_FRAME" val="{&quot;height&quot;:423.7,&quot;left&quot;:66.9,&quot;top&quot;:106.25,&quot;width&quot;:836.85}"/>
</p:tagLst>
</file>

<file path=ppt/tags/tag175.xml><?xml version="1.0" encoding="utf-8"?>
<p:tagLst xmlns:p="http://schemas.openxmlformats.org/presentationml/2006/main">
  <p:tag name="PA" val="v5.2.11"/>
  <p:tag name="KSO_WM_DIAGRAM_VIRTUALLY_FRAME" val="{&quot;height&quot;:423.7,&quot;left&quot;:66.9,&quot;top&quot;:106.25,&quot;width&quot;:836.85}"/>
</p:tagLst>
</file>

<file path=ppt/tags/tag176.xml><?xml version="1.0" encoding="utf-8"?>
<p:tagLst xmlns:p="http://schemas.openxmlformats.org/presentationml/2006/main">
  <p:tag name="PA" val="v5.2.11"/>
  <p:tag name="KSO_WM_DIAGRAM_VIRTUALLY_FRAME" val="{&quot;height&quot;:423.7,&quot;left&quot;:66.9,&quot;top&quot;:106.25,&quot;width&quot;:836.85}"/>
</p:tagLst>
</file>

<file path=ppt/tags/tag177.xml><?xml version="1.0" encoding="utf-8"?>
<p:tagLst xmlns:p="http://schemas.openxmlformats.org/presentationml/2006/main">
  <p:tag name="PA" val="v5.2.11"/>
  <p:tag name="KSO_WM_DIAGRAM_VIRTUALLY_FRAME" val="{&quot;height&quot;:423.7,&quot;left&quot;:66.9,&quot;top&quot;:106.25,&quot;width&quot;:836.85}"/>
</p:tagLst>
</file>

<file path=ppt/tags/tag178.xml><?xml version="1.0" encoding="utf-8"?>
<p:tagLst xmlns:p="http://schemas.openxmlformats.org/presentationml/2006/main">
  <p:tag name="PA" val="v5.2.11"/>
  <p:tag name="KSO_WM_DIAGRAM_VIRTUALLY_FRAME" val="{&quot;height&quot;:423.7,&quot;left&quot;:66.9,&quot;top&quot;:106.25,&quot;width&quot;:836.85}"/>
</p:tagLst>
</file>

<file path=ppt/tags/tag179.xml><?xml version="1.0" encoding="utf-8"?>
<p:tagLst xmlns:p="http://schemas.openxmlformats.org/presentationml/2006/main">
  <p:tag name="PA" val="v5.2.11"/>
  <p:tag name="KSO_WM_DIAGRAM_VIRTUALLY_FRAME" val="{&quot;height&quot;:423.7,&quot;left&quot;:66.9,&quot;top&quot;:106.25,&quot;width&quot;:836.85}"/>
</p:tagLst>
</file>

<file path=ppt/tags/tag180.xml><?xml version="1.0" encoding="utf-8"?>
<p:tagLst xmlns:p="http://schemas.openxmlformats.org/presentationml/2006/main">
  <p:tag name="PA" val="v5.2.11"/>
  <p:tag name="KSO_WM_DIAGRAM_VIRTUALLY_FRAME" val="{&quot;height&quot;:423.7,&quot;left&quot;:66.9,&quot;top&quot;:106.25,&quot;width&quot;:836.85}"/>
</p:tagLst>
</file>

<file path=ppt/tags/tag181.xml><?xml version="1.0" encoding="utf-8"?>
<p:tagLst xmlns:p="http://schemas.openxmlformats.org/presentationml/2006/main">
  <p:tag name="PA" val="v5.2.11"/>
  <p:tag name="KSO_WM_DIAGRAM_VIRTUALLY_FRAME" val="{&quot;height&quot;:423.7,&quot;left&quot;:66.9,&quot;top&quot;:106.25,&quot;width&quot;:836.85}"/>
</p:tagLst>
</file>

<file path=ppt/tags/tag182.xml><?xml version="1.0" encoding="utf-8"?>
<p:tagLst xmlns:p="http://schemas.openxmlformats.org/presentationml/2006/main">
  <p:tag name="PA" val="v5.2.11"/>
  <p:tag name="KSO_WM_DIAGRAM_VIRTUALLY_FRAME" val="{&quot;height&quot;:423.7,&quot;left&quot;:66.9,&quot;top&quot;:106.25,&quot;width&quot;:836.85}"/>
</p:tagLst>
</file>

<file path=ppt/tags/tag183.xml><?xml version="1.0" encoding="utf-8"?>
<p:tagLst xmlns:p="http://schemas.openxmlformats.org/presentationml/2006/main">
  <p:tag name="PA" val="v5.2.11"/>
  <p:tag name="KSO_WM_DIAGRAM_VIRTUALLY_FRAME" val="{&quot;height&quot;:423.7,&quot;left&quot;:66.9,&quot;top&quot;:106.25,&quot;width&quot;:836.85}"/>
</p:tagLst>
</file>

<file path=ppt/tags/tag184.xml><?xml version="1.0" encoding="utf-8"?>
<p:tagLst xmlns:p="http://schemas.openxmlformats.org/presentationml/2006/main">
  <p:tag name="PA" val="v5.2.11"/>
  <p:tag name="KSO_WM_DIAGRAM_VIRTUALLY_FRAME" val="{&quot;height&quot;:423.7,&quot;left&quot;:66.9,&quot;top&quot;:106.25,&quot;width&quot;:836.85}"/>
</p:tagLst>
</file>

<file path=ppt/tags/tag185.xml><?xml version="1.0" encoding="utf-8"?>
<p:tagLst xmlns:p="http://schemas.openxmlformats.org/presentationml/2006/main">
  <p:tag name="PA" val="v5.2.11"/>
  <p:tag name="KSO_WM_DIAGRAM_VIRTUALLY_FRAME" val="{&quot;height&quot;:423.7,&quot;left&quot;:66.9,&quot;top&quot;:106.25,&quot;width&quot;:836.85}"/>
</p:tagLst>
</file>

<file path=ppt/tags/tag186.xml><?xml version="1.0" encoding="utf-8"?>
<p:tagLst xmlns:p="http://schemas.openxmlformats.org/presentationml/2006/main">
  <p:tag name="KSO_WM_DIAGRAM_VIRTUALLY_FRAME" val="{&quot;height&quot;:423.7,&quot;left&quot;:66.9,&quot;top&quot;:106.25,&quot;width&quot;:836.85}"/>
</p:tagLst>
</file>

<file path=ppt/tags/tag187.xml><?xml version="1.0" encoding="utf-8"?>
<p:tagLst xmlns:p="http://schemas.openxmlformats.org/presentationml/2006/main">
  <p:tag name="KSO_WM_DIAGRAM_VIRTUALLY_FRAME" val="{&quot;height&quot;:423.7,&quot;left&quot;:66.9,&quot;top&quot;:106.25,&quot;width&quot;:836.85}"/>
</p:tagLst>
</file>

<file path=ppt/tags/tag188.xml><?xml version="1.0" encoding="utf-8"?>
<p:tagLst xmlns:p="http://schemas.openxmlformats.org/presentationml/2006/main">
  <p:tag name="KSO_WM_DIAGRAM_VIRTUALLY_FRAME" val="{&quot;height&quot;:423.7,&quot;left&quot;:66.9,&quot;top&quot;:106.25,&quot;width&quot;:836.85}"/>
</p:tagLst>
</file>

<file path=ppt/tags/tag189.xml><?xml version="1.0" encoding="utf-8"?>
<p:tagLst xmlns:p="http://schemas.openxmlformats.org/presentationml/2006/main">
  <p:tag name="KSO_WM_DIAGRAM_VIRTUALLY_FRAME" val="{&quot;height&quot;:423.7,&quot;left&quot;:66.9,&quot;top&quot;:106.25,&quot;width&quot;:836.85}"/>
</p:tagLst>
</file>

<file path=ppt/tags/tag190.xml><?xml version="1.0" encoding="utf-8"?>
<p:tagLst xmlns:p="http://schemas.openxmlformats.org/presentationml/2006/main">
  <p:tag name="KSO_WM_DIAGRAM_VIRTUALLY_FRAME" val="{&quot;height&quot;:423.7,&quot;left&quot;:66.9,&quot;top&quot;:106.25,&quot;width&quot;:836.85}"/>
</p:tagLst>
</file>

<file path=ppt/tags/tag191.xml><?xml version="1.0" encoding="utf-8"?>
<p:tagLst xmlns:p="http://schemas.openxmlformats.org/presentationml/2006/main">
  <p:tag name="KSO_WM_DIAGRAM_VIRTUALLY_FRAME" val="{&quot;height&quot;:423.7,&quot;left&quot;:66.9,&quot;top&quot;:106.25,&quot;width&quot;:836.85}"/>
</p:tagLst>
</file>

<file path=ppt/tags/tag19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19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196.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9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8.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9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0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0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10.xml><?xml version="1.0" encoding="utf-8"?>
<p:tagLst xmlns:p="http://schemas.openxmlformats.org/presentationml/2006/main">
  <p:tag name="KSO_WM_DIAGRAM_VIRTUALLY_FRAME" val="{&quot;height&quot;:407.3249606299213,&quot;left&quot;:62.15,&quot;top&quot;:108.97503937007873,&quot;width&quot;:841.45}"/>
</p:tagLst>
</file>

<file path=ppt/tags/tag211.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3.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407.3249606299213,&quot;left&quot;:62.15,&quot;top&quot;:108.97503937007873,&quot;width&quot;:841.45}"/>
</p:tagLst>
</file>

<file path=ppt/tags/tag21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5.xml><?xml version="1.0" encoding="utf-8"?>
<p:tagLst xmlns:p="http://schemas.openxmlformats.org/presentationml/2006/main">
  <p:tag name="KSO_WM_DIAGRAM_VIRTUALLY_FRAME" val="{&quot;height&quot;:407.3249606299213,&quot;left&quot;:62.15,&quot;top&quot;:108.97503937007873,&quot;width&quot;:841.45}"/>
</p:tagLst>
</file>

<file path=ppt/tags/tag216.xml><?xml version="1.0" encoding="utf-8"?>
<p:tagLst xmlns:p="http://schemas.openxmlformats.org/presentationml/2006/main">
  <p:tag name="KSO_WM_DIAGRAM_VIRTUALLY_FRAME" val="{&quot;height&quot;:407.3249606299213,&quot;left&quot;:62.15,&quot;top&quot;:108.97503937007873,&quot;width&quot;:841.45}"/>
</p:tagLst>
</file>

<file path=ppt/tags/tag21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8.xml><?xml version="1.0" encoding="utf-8"?>
<p:tagLst xmlns:p="http://schemas.openxmlformats.org/presentationml/2006/main">
  <p:tag name="KSO_WM_DIAGRAM_VIRTUALLY_FRAME" val="{&quot;height&quot;:407.3249606299213,&quot;left&quot;:62.15,&quot;top&quot;:108.97503937007873,&quot;width&quot;:841.45}"/>
</p:tagLst>
</file>

<file path=ppt/tags/tag219.xml><?xml version="1.0" encoding="utf-8"?>
<p:tagLst xmlns:p="http://schemas.openxmlformats.org/presentationml/2006/main">
  <p:tag name="KSO_WM_DIAGRAM_VIRTUALLY_FRAME" val="{&quot;height&quot;:407.3249606299213,&quot;left&quot;:62.15,&quot;top&quot;:108.97503937007873,&quot;width&quot;:841.45}"/>
</p:tagLst>
</file>

<file path=ppt/tags/tag22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1.xml><?xml version="1.0" encoding="utf-8"?>
<p:tagLst xmlns:p="http://schemas.openxmlformats.org/presentationml/2006/main">
  <p:tag name="KSO_WM_DIAGRAM_VIRTUALLY_FRAME" val="{&quot;height&quot;:407.3249606299213,&quot;left&quot;:62.15,&quot;top&quot;:108.97503937007873,&quot;width&quot;:841.45}"/>
</p:tagLst>
</file>

<file path=ppt/tags/tag222.xml><?xml version="1.0" encoding="utf-8"?>
<p:tagLst xmlns:p="http://schemas.openxmlformats.org/presentationml/2006/main">
  <p:tag name="KSO_WM_DIAGRAM_VIRTUALLY_FRAME" val="{&quot;height&quot;:407.3249606299213,&quot;left&quot;:62.15,&quot;top&quot;:108.97503937007873,&quot;width&quot;:841.45}"/>
</p:tagLst>
</file>

<file path=ppt/tags/tag22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4.xml><?xml version="1.0" encoding="utf-8"?>
<p:tagLst xmlns:p="http://schemas.openxmlformats.org/presentationml/2006/main">
  <p:tag name="KSO_WM_DIAGRAM_VIRTUALLY_FRAME" val="{&quot;height&quot;:407.3249606299213,&quot;left&quot;:62.15,&quot;top&quot;:108.97503937007873,&quot;width&quot;:841.45}"/>
</p:tagLst>
</file>

<file path=ppt/tags/tag225.xml><?xml version="1.0" encoding="utf-8"?>
<p:tagLst xmlns:p="http://schemas.openxmlformats.org/presentationml/2006/main">
  <p:tag name="KSO_WM_DIAGRAM_VIRTUALLY_FRAME" val="{&quot;height&quot;:407.3249606299213,&quot;left&quot;:62.15,&quot;top&quot;:108.97503937007873,&quot;width&quot;:841.45}"/>
</p:tagLst>
</file>

<file path=ppt/tags/tag22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7.xml><?xml version="1.0" encoding="utf-8"?>
<p:tagLst xmlns:p="http://schemas.openxmlformats.org/presentationml/2006/main">
  <p:tag name="KSO_WM_DIAGRAM_VIRTUALLY_FRAME" val="{&quot;height&quot;:407.3249606299213,&quot;left&quot;:62.15,&quot;top&quot;:108.97503937007873,&quot;width&quot;:841.45}"/>
</p:tagLst>
</file>

<file path=ppt/tags/tag228.xml><?xml version="1.0" encoding="utf-8"?>
<p:tagLst xmlns:p="http://schemas.openxmlformats.org/presentationml/2006/main">
  <p:tag name="KSO_WM_DIAGRAM_VIRTUALLY_FRAME" val="{&quot;height&quot;:407.3249606299213,&quot;left&quot;:62.15,&quot;top&quot;:108.97503937007873,&quot;width&quot;:841.45}"/>
</p:tagLst>
</file>

<file path=ppt/tags/tag22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30.xml><?xml version="1.0" encoding="utf-8"?>
<p:tagLst xmlns:p="http://schemas.openxmlformats.org/presentationml/2006/main">
  <p:tag name="KSO_WM_DIAGRAM_VIRTUALLY_FRAME" val="{&quot;height&quot;:407.3249606299213,&quot;left&quot;:62.15,&quot;top&quot;:108.97503937007873,&quot;width&quot;:841.45}"/>
</p:tagLst>
</file>

<file path=ppt/tags/tag231.xml><?xml version="1.0" encoding="utf-8"?>
<p:tagLst xmlns:p="http://schemas.openxmlformats.org/presentationml/2006/main">
  <p:tag name="KSO_WM_DIAGRAM_VIRTUALLY_FRAME" val="{&quot;height&quot;:407.3249606299213,&quot;left&quot;:62.15,&quot;top&quot;:108.97503937007873,&quot;width&quot;:841.45}"/>
</p:tagLst>
</file>

<file path=ppt/tags/tag2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33.xml><?xml version="1.0" encoding="utf-8"?>
<p:tagLst xmlns:p="http://schemas.openxmlformats.org/presentationml/2006/main">
  <p:tag name="KSO_WM_DIAGRAM_VIRTUALLY_FRAME" val="{&quot;height&quot;:298.45,&quot;left&quot;:79.45,&quot;top&quot;:176.25,&quot;width&quot;:803.45}"/>
</p:tagLst>
</file>

<file path=ppt/tags/tag234.xml><?xml version="1.0" encoding="utf-8"?>
<p:tagLst xmlns:p="http://schemas.openxmlformats.org/presentationml/2006/main">
  <p:tag name="KSO_WM_DIAGRAM_VIRTUALLY_FRAME" val="{&quot;height&quot;:298.45,&quot;left&quot;:79.45,&quot;top&quot;:176.25,&quot;width&quot;:803.45}"/>
</p:tagLst>
</file>

<file path=ppt/tags/tag235.xml><?xml version="1.0" encoding="utf-8"?>
<p:tagLst xmlns:p="http://schemas.openxmlformats.org/presentationml/2006/main">
  <p:tag name="KSO_WM_DIAGRAM_VIRTUALLY_FRAME" val="{&quot;height&quot;:298.45,&quot;left&quot;:79.45,&quot;top&quot;:176.25,&quot;width&quot;:803.45}"/>
</p:tagLst>
</file>

<file path=ppt/tags/tag236.xml><?xml version="1.0" encoding="utf-8"?>
<p:tagLst xmlns:p="http://schemas.openxmlformats.org/presentationml/2006/main">
  <p:tag name="KSO_WM_DIAGRAM_VIRTUALLY_FRAME" val="{&quot;height&quot;:298.45,&quot;left&quot;:79.45,&quot;top&quot;:176.25,&quot;width&quot;:803.45}"/>
</p:tagLst>
</file>

<file path=ppt/tags/tag237.xml><?xml version="1.0" encoding="utf-8"?>
<p:tagLst xmlns:p="http://schemas.openxmlformats.org/presentationml/2006/main">
  <p:tag name="KSO_WM_DIAGRAM_VIRTUALLY_FRAME" val="{&quot;height&quot;:298.45,&quot;left&quot;:79.45,&quot;top&quot;:176.25,&quot;width&quot;:803.45}"/>
</p:tagLst>
</file>

<file path=ppt/tags/tag238.xml><?xml version="1.0" encoding="utf-8"?>
<p:tagLst xmlns:p="http://schemas.openxmlformats.org/presentationml/2006/main">
  <p:tag name="KSO_WM_DIAGRAM_VIRTUALLY_FRAME" val="{&quot;height&quot;:298.45,&quot;left&quot;:79.45,&quot;top&quot;:176.25,&quot;width&quot;:803.45}"/>
</p:tagLst>
</file>

<file path=ppt/tags/tag239.xml><?xml version="1.0" encoding="utf-8"?>
<p:tagLst xmlns:p="http://schemas.openxmlformats.org/presentationml/2006/main">
  <p:tag name="KSO_WM_DIAGRAM_VIRTUALLY_FRAME" val="{&quot;height&quot;:298.45,&quot;left&quot;:79.45,&quot;top&quot;:176.25,&quot;width&quot;:803.45}"/>
</p:tagLst>
</file>

<file path=ppt/tags/tag240.xml><?xml version="1.0" encoding="utf-8"?>
<p:tagLst xmlns:p="http://schemas.openxmlformats.org/presentationml/2006/main">
  <p:tag name="KSO_WM_DIAGRAM_VIRTUALLY_FRAME" val="{&quot;height&quot;:298.45,&quot;left&quot;:79.45,&quot;top&quot;:176.25,&quot;width&quot;:803.45}"/>
</p:tagLst>
</file>

<file path=ppt/tags/tag241.xml><?xml version="1.0" encoding="utf-8"?>
<p:tagLst xmlns:p="http://schemas.openxmlformats.org/presentationml/2006/main">
  <p:tag name="KSO_WM_DIAGRAM_VIRTUALLY_FRAME" val="{&quot;height&quot;:298.45,&quot;left&quot;:79.45,&quot;top&quot;:176.25,&quot;width&quot;:803.45}"/>
</p:tagLst>
</file>

<file path=ppt/tags/tag242.xml><?xml version="1.0" encoding="utf-8"?>
<p:tagLst xmlns:p="http://schemas.openxmlformats.org/presentationml/2006/main">
  <p:tag name="KSO_WM_DIAGRAM_VIRTUALLY_FRAME" val="{&quot;height&quot;:298.45,&quot;left&quot;:79.45,&quot;top&quot;:176.25,&quot;width&quot;:803.45}"/>
</p:tagLst>
</file>

<file path=ppt/tags/tag243.xml><?xml version="1.0" encoding="utf-8"?>
<p:tagLst xmlns:p="http://schemas.openxmlformats.org/presentationml/2006/main">
  <p:tag name="KSO_WM_DIAGRAM_VIRTUALLY_FRAME" val="{&quot;height&quot;:298.45,&quot;left&quot;:79.45,&quot;top&quot;:176.25,&quot;width&quot;:803.45}"/>
</p:tagLst>
</file>

<file path=ppt/tags/tag244.xml><?xml version="1.0" encoding="utf-8"?>
<p:tagLst xmlns:p="http://schemas.openxmlformats.org/presentationml/2006/main">
  <p:tag name="KSO_WM_DIAGRAM_VIRTUALLY_FRAME" val="{&quot;height&quot;:298.45,&quot;left&quot;:79.45,&quot;top&quot;:176.25,&quot;width&quot;:803.45}"/>
</p:tagLst>
</file>

<file path=ppt/tags/tag245.xml><?xml version="1.0" encoding="utf-8"?>
<p:tagLst xmlns:p="http://schemas.openxmlformats.org/presentationml/2006/main">
  <p:tag name="KSO_WM_DIAGRAM_VIRTUALLY_FRAME" val="{&quot;height&quot;:298.45,&quot;left&quot;:79.45,&quot;top&quot;:176.25,&quot;width&quot;:803.45}"/>
</p:tagLst>
</file>

<file path=ppt/tags/tag246.xml><?xml version="1.0" encoding="utf-8"?>
<p:tagLst xmlns:p="http://schemas.openxmlformats.org/presentationml/2006/main">
  <p:tag name="KSO_WM_DIAGRAM_VIRTUALLY_FRAME" val="{&quot;height&quot;:298.45,&quot;left&quot;:79.45,&quot;top&quot;:176.25,&quot;width&quot;:803.45}"/>
</p:tagLst>
</file>

<file path=ppt/tags/tag247.xml><?xml version="1.0" encoding="utf-8"?>
<p:tagLst xmlns:p="http://schemas.openxmlformats.org/presentationml/2006/main">
  <p:tag name="KSO_WM_DIAGRAM_VIRTUALLY_FRAME" val="{&quot;height&quot;:298.45,&quot;left&quot;:79.45,&quot;top&quot;:176.25,&quot;width&quot;:803.45}"/>
</p:tagLst>
</file>

<file path=ppt/tags/tag248.xml><?xml version="1.0" encoding="utf-8"?>
<p:tagLst xmlns:p="http://schemas.openxmlformats.org/presentationml/2006/main">
  <p:tag name="KSO_WM_DIAGRAM_VIRTUALLY_FRAME" val="{&quot;height&quot;:298.45,&quot;left&quot;:79.45,&quot;top&quot;:176.25,&quot;width&quot;:803.45}"/>
</p:tagLst>
</file>

<file path=ppt/tags/tag249.xml><?xml version="1.0" encoding="utf-8"?>
<p:tagLst xmlns:p="http://schemas.openxmlformats.org/presentationml/2006/main">
  <p:tag name="KSO_WM_DIAGRAM_VIRTUALLY_FRAME" val="{&quot;height&quot;:298.45,&quot;left&quot;:79.45,&quot;top&quot;:176.25,&quot;width&quot;:803.45}"/>
</p:tagLst>
</file>

<file path=ppt/tags/tag250.xml><?xml version="1.0" encoding="utf-8"?>
<p:tagLst xmlns:p="http://schemas.openxmlformats.org/presentationml/2006/main">
  <p:tag name="KSO_WM_DIAGRAM_VIRTUALLY_FRAME" val="{&quot;height&quot;:298.45,&quot;left&quot;:79.45,&quot;top&quot;:176.25,&quot;width&quot;:803.45}"/>
</p:tagLst>
</file>

<file path=ppt/tags/tag251.xml><?xml version="1.0" encoding="utf-8"?>
<p:tagLst xmlns:p="http://schemas.openxmlformats.org/presentationml/2006/main">
  <p:tag name="KSO_WM_DIAGRAM_VIRTUALLY_FRAME" val="{&quot;height&quot;:298.45,&quot;left&quot;:79.45,&quot;top&quot;:176.25,&quot;width&quot;:803.45}"/>
</p:tagLst>
</file>

<file path=ppt/tags/tag252.xml><?xml version="1.0" encoding="utf-8"?>
<p:tagLst xmlns:p="http://schemas.openxmlformats.org/presentationml/2006/main">
  <p:tag name="KSO_WM_DIAGRAM_VIRTUALLY_FRAME" val="{&quot;height&quot;:298.45,&quot;left&quot;:79.45,&quot;top&quot;:176.25,&quot;width&quot;:803.45}"/>
</p:tagLst>
</file>

<file path=ppt/tags/tag253.xml><?xml version="1.0" encoding="utf-8"?>
<p:tagLst xmlns:p="http://schemas.openxmlformats.org/presentationml/2006/main">
  <p:tag name="KSO_WM_DIAGRAM_VIRTUALLY_FRAME" val="{&quot;height&quot;:298.45,&quot;left&quot;:79.45,&quot;top&quot;:176.25,&quot;width&quot;:803.45}"/>
</p:tagLst>
</file>

<file path=ppt/tags/tag254.xml><?xml version="1.0" encoding="utf-8"?>
<p:tagLst xmlns:p="http://schemas.openxmlformats.org/presentationml/2006/main">
  <p:tag name="KSO_WM_DIAGRAM_VIRTUALLY_FRAME" val="{&quot;height&quot;:298.45,&quot;left&quot;:79.45,&quot;top&quot;:176.25,&quot;width&quot;:803.45}"/>
</p:tagLst>
</file>

<file path=ppt/tags/tag255.xml><?xml version="1.0" encoding="utf-8"?>
<p:tagLst xmlns:p="http://schemas.openxmlformats.org/presentationml/2006/main">
  <p:tag name="KSO_WM_DIAGRAM_VIRTUALLY_FRAME" val="{&quot;height&quot;:298.45,&quot;left&quot;:79.45,&quot;top&quot;:176.25,&quot;width&quot;:803.45}"/>
</p:tagLst>
</file>

<file path=ppt/tags/tag256.xml><?xml version="1.0" encoding="utf-8"?>
<p:tagLst xmlns:p="http://schemas.openxmlformats.org/presentationml/2006/main">
  <p:tag name="KSO_WM_DIAGRAM_VIRTUALLY_FRAME" val="{&quot;height&quot;:298.45,&quot;left&quot;:79.45,&quot;top&quot;:176.25,&quot;width&quot;:803.45}"/>
</p:tagLst>
</file>

<file path=ppt/tags/tag257.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25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59.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0.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1.xml><?xml version="1.0" encoding="utf-8"?>
<p:tagLst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3.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4.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6.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7.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8.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9.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7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71.xml><?xml version="1.0" encoding="utf-8"?>
<p:tagLst xmlns:p="http://schemas.openxmlformats.org/presentationml/2006/main">
  <p:tag name="KSO_WM_DIAGRAM_VIRTUALLY_FRAME" val="{&quot;height&quot;:346.05,&quot;left&quot;:100.5,&quot;top&quot;:135.8,&quot;width&quot;:758.95}"/>
</p:tagLst>
</file>

<file path=ppt/tags/tag272.xml><?xml version="1.0" encoding="utf-8"?>
<p:tagLst xmlns:p="http://schemas.openxmlformats.org/presentationml/2006/main">
  <p:tag name="KSO_WM_DIAGRAM_VIRTUALLY_FRAME" val="{&quot;height&quot;:346.05,&quot;left&quot;:100.5,&quot;top&quot;:135.8,&quot;width&quot;:758.95}"/>
</p:tagLst>
</file>

<file path=ppt/tags/tag273.xml><?xml version="1.0" encoding="utf-8"?>
<p:tagLst xmlns:p="http://schemas.openxmlformats.org/presentationml/2006/main">
  <p:tag name="KSO_WM_DIAGRAM_VIRTUALLY_FRAME" val="{&quot;height&quot;:346.05,&quot;left&quot;:100.5,&quot;top&quot;:135.8,&quot;width&quot;:758.95}"/>
</p:tagLst>
</file>

<file path=ppt/tags/tag274.xml><?xml version="1.0" encoding="utf-8"?>
<p:tagLst xmlns:p="http://schemas.openxmlformats.org/presentationml/2006/main">
  <p:tag name="KSO_WM_DIAGRAM_VIRTUALLY_FRAME" val="{&quot;height&quot;:346.05,&quot;left&quot;:100.5,&quot;top&quot;:135.8,&quot;width&quot;:758.95}"/>
</p:tagLst>
</file>

<file path=ppt/tags/tag2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76.xml><?xml version="1.0" encoding="utf-8"?>
<p:tagLst xmlns:p="http://schemas.openxmlformats.org/presentationml/2006/main">
  <p:tag name="KSO_WM_DIAGRAM_VIRTUALLY_FRAME" val="{&quot;height&quot;:378.15,&quot;left&quot;:91.95,&quot;top&quot;:143.75,&quot;width&quot;:788.65}"/>
</p:tagLst>
</file>

<file path=ppt/tags/tag277.xml><?xml version="1.0" encoding="utf-8"?>
<p:tagLst xmlns:p="http://schemas.openxmlformats.org/presentationml/2006/main">
  <p:tag name="KSO_WM_DIAGRAM_VIRTUALLY_FRAME" val="{&quot;height&quot;:378.15,&quot;left&quot;:91.95,&quot;top&quot;:143.75,&quot;width&quot;:788.65}"/>
</p:tagLst>
</file>

<file path=ppt/tags/tag278.xml><?xml version="1.0" encoding="utf-8"?>
<p:tagLst xmlns:p="http://schemas.openxmlformats.org/presentationml/2006/main">
  <p:tag name="KSO_WM_DIAGRAM_VIRTUALLY_FRAME" val="{&quot;height&quot;:378.15,&quot;left&quot;:91.95,&quot;top&quot;:143.75,&quot;width&quot;:788.65}"/>
</p:tagLst>
</file>

<file path=ppt/tags/tag279.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0.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1.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82.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83.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84.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285.xml><?xml version="1.0" encoding="utf-8"?>
<p:tagLst xmlns:p="http://schemas.openxmlformats.org/presentationml/2006/main">
  <p:tag name="KSO_WM_DIAGRAM_VIRTUALLY_FRAME" val="{&quot;height&quot;:378.15,&quot;left&quot;:91.95,&quot;top&quot;:143.75,&quot;width&quot;:788.65}"/>
</p:tagLst>
</file>

<file path=ppt/tags/tag286.xml><?xml version="1.0" encoding="utf-8"?>
<p:tagLst xmlns:p="http://schemas.openxmlformats.org/presentationml/2006/main">
  <p:tag name="KSO_WM_DIAGRAM_VIRTUALLY_FRAME" val="{&quot;height&quot;:378.15,&quot;left&quot;:91.95,&quot;top&quot;:143.75,&quot;width&quot;:788.65}"/>
</p:tagLst>
</file>

<file path=ppt/tags/tag287.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8.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89.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0.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1.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292.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3.xml><?xml version="1.0" encoding="utf-8"?>
<p:tagLst xmlns:p="http://schemas.openxmlformats.org/presentationml/2006/main">
  <p:tag name="KSO_WM_DIAGRAM_VIRTUALLY_FRAME" val="{&quot;height&quot;:378.15,&quot;left&quot;:91.95,&quot;top&quot;:143.75,&quot;width&quot;:788.65}"/>
</p:tagLst>
</file>

<file path=ppt/tags/tag294.xml><?xml version="1.0" encoding="utf-8"?>
<p:tagLst xmlns:p="http://schemas.openxmlformats.org/presentationml/2006/main">
  <p:tag name="KSO_WM_DIAGRAM_VIRTUALLY_FRAME" val="{&quot;height&quot;:378.15,&quot;left&quot;:91.95,&quot;top&quot;:143.75,&quot;width&quot;:788.65}"/>
</p:tagLst>
</file>

<file path=ppt/tags/tag295.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6.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97.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8.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9.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300.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301.xml><?xml version="1.0" encoding="utf-8"?>
<p:tagLst xmlns:p="http://schemas.openxmlformats.org/presentationml/2006/main">
  <p:tag name="KSO_WM_DIAGRAM_VIRTUALLY_FRAME" val="{&quot;height&quot;:378.15,&quot;left&quot;:91.95,&quot;top&quot;:143.75,&quot;width&quot;:788.65}"/>
</p:tagLst>
</file>

<file path=ppt/tags/tag302.xml><?xml version="1.0" encoding="utf-8"?>
<p:tagLst xmlns:p="http://schemas.openxmlformats.org/presentationml/2006/main">
  <p:tag name="KSO_WM_DIAGRAM_VIRTUALLY_FRAME" val="{&quot;height&quot;:378.15,&quot;left&quot;:91.95,&quot;top&quot;:143.75,&quot;width&quot;:788.65}"/>
</p:tagLst>
</file>

<file path=ppt/tags/tag3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30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0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9.xml><?xml version="1.0" encoding="utf-8"?>
<p:tagLst xmlns:p="http://schemas.openxmlformats.org/presentationml/2006/main">
  <p:tag name="KSO_WM_DIAGRAM_VIRTUALLY_FRAME" val="{&quot;height&quot;:417.5833070866141,&quot;left&quot;:114.8,&quot;top&quot;:148.66669291338582,&quot;width&quot;:730.95}"/>
</p:tagLst>
</file>

<file path=ppt/tags/tag310.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11.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12.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13.xml><?xml version="1.0" encoding="utf-8"?>
<p:tagLst xmlns:p="http://schemas.openxmlformats.org/presentationml/2006/main">
  <p:tag name="KSO_WM_DIAGRAM_VIRTUALLY_FRAME" val="{&quot;height&quot;:417.5833070866141,&quot;left&quot;:114.8,&quot;top&quot;:148.66669291338582,&quot;width&quot;:730.95}"/>
</p:tagLst>
</file>

<file path=ppt/tags/tag314.xml><?xml version="1.0" encoding="utf-8"?>
<p:tagLst xmlns:p="http://schemas.openxmlformats.org/presentationml/2006/main">
  <p:tag name="KSO_WM_DIAGRAM_VIRTUALLY_FRAME" val="{&quot;height&quot;:417.5833070866141,&quot;left&quot;:114.8,&quot;top&quot;:148.66669291338582,&quot;width&quot;:730.95}"/>
</p:tagLst>
</file>

<file path=ppt/tags/tag315.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16.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7.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8.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9.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0.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1.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2.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3.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4.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5.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26.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7.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28.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9.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30.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31.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32.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3.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4.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5.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6.xml><?xml version="1.0" encoding="utf-8"?>
<p:tagLst xmlns:p="http://schemas.openxmlformats.org/presentationml/2006/main">
  <p:tag name="KSO_WM_DIAGRAM_VIRTUALLY_FRAME" val="{&quot;height&quot;:311.65,&quot;left&quot;:103.35,&quot;top&quot;:129.3,&quot;width&quot;:753.3}"/>
</p:tagLst>
</file>

<file path=ppt/tags/tag337.xml><?xml version="1.0" encoding="utf-8"?>
<p:tagLst xmlns:p="http://schemas.openxmlformats.org/presentationml/2006/main">
  <p:tag name="KSO_WM_DIAGRAM_VIRTUALLY_FRAME" val="{&quot;height&quot;:311.65,&quot;left&quot;:103.35,&quot;top&quot;:129.3,&quot;width&quot;:753.3}"/>
</p:tagLst>
</file>

<file path=ppt/tags/tag338.xml><?xml version="1.0" encoding="utf-8"?>
<p:tagLst xmlns:p="http://schemas.openxmlformats.org/presentationml/2006/main">
  <p:tag name="KSO_WM_DIAGRAM_VIRTUALLY_FRAME" val="{&quot;height&quot;:311.65,&quot;left&quot;:103.35,&quot;top&quot;:129.3,&quot;width&quot;:753.3}"/>
</p:tagLst>
</file>

<file path=ppt/tags/tag339.xml><?xml version="1.0" encoding="utf-8"?>
<p:tagLst xmlns:p="http://schemas.openxmlformats.org/presentationml/2006/main">
  <p:tag name="KSO_WM_DIAGRAM_VIRTUALLY_FRAME" val="{&quot;height&quot;:311.65,&quot;left&quot;:103.35,&quot;top&quot;:129.3,&quot;width&quot;:753.3}"/>
</p:tagLst>
</file>

<file path=ppt/tags/tag340.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1.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3.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4.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45.xml><?xml version="1.0" encoding="utf-8"?>
<p:tagLst xmlns:p="http://schemas.openxmlformats.org/presentationml/2006/main">
  <p:tag name="KSO_WM_UNIT_LINE_FORE_SCHEMECOLOR_INDEX_BRIGHTNESS" val="0"/>
  <p:tag name="KSO_WM_UNIT_LINE_FORE_SCHEMECOLOR_INDEX" val="5"/>
  <p:tag name="KSO_WM_UNIT_LINE_FILL_TYPE" val="2"/>
  <p:tag name="KSO_WM_DIAGRAM_VIRTUALLY_FRAME" val="{&quot;height&quot;:370.67496062992126,&quot;left&quot;:423.3070866141732,&quot;top&quot;:87.67503937007874,&quot;width&quot;:433.2929133858268}"/>
</p:tagLst>
</file>

<file path=ppt/tags/tag34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48.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4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2.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53.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54.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55.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56.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7.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8.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9.xml><?xml version="1.0" encoding="utf-8"?>
<p:tagLst xmlns:p="http://schemas.openxmlformats.org/presentationml/2006/main">
  <p:tag name="KSO_WM_UNIT_TEXT_FILL_FORE_SCHEMECOLOR_INDEX_BRIGHTNESS" val="0"/>
  <p:tag name="KSO_WM_UNIT_TEXT_FILL_FORE_SCHEMECOLOR_INDEX" val="10"/>
  <p:tag name="KSO_WM_UNIT_TEXT_FILL_TYPE" val="1"/>
</p:tagLst>
</file>

<file path=ppt/tags/tag360.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6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2.xml><?xml version="1.0" encoding="utf-8"?>
<p:tagLst xmlns:p="http://schemas.openxmlformats.org/presentationml/2006/main">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3.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4.xml><?xml version="1.0" encoding="utf-8"?>
<p:tagLst xmlns:p="http://schemas.openxmlformats.org/presentationml/2006/main">
  <p:tag name="KSO_WM_UNIT_LINE_FORE_SCHEMECOLOR_INDEX_BRIGHTNESS" val="0"/>
  <p:tag name="KSO_WM_UNIT_LINE_FORE_SCHEMECOLOR_INDEX" val="7"/>
  <p:tag name="KSO_WM_UNIT_LINE_FILL_TYPE" val="2"/>
  <p:tag name="KSO_WM_DIAGRAM_VIRTUALLY_FRAME" val="{&quot;height&quot;:302.35,&quot;left&quot;:59.42889763779526,&quot;top&quot;:153.95,&quot;width&quot;:851.4856692913385}"/>
</p:tagLst>
</file>

<file path=ppt/tags/tag365.xml><?xml version="1.0" encoding="utf-8"?>
<p:tagLst xmlns:p="http://schemas.openxmlformats.org/presentationml/2006/main">
  <p:tag name="KSO_WM_UNIT_LINE_FORE_SCHEMECOLOR_INDEX_BRIGHTNESS" val="0"/>
  <p:tag name="KSO_WM_UNIT_LINE_FORE_SCHEMECOLOR_INDEX" val="7"/>
  <p:tag name="KSO_WM_UNIT_LINE_FILL_TYPE" val="2"/>
  <p:tag name="KSO_WM_DIAGRAM_VIRTUALLY_FRAME" val="{&quot;height&quot;:302.35,&quot;left&quot;:59.42889763779526,&quot;top&quot;:153.95,&quot;width&quot;:851.4856692913385}"/>
</p:tagLst>
</file>

<file path=ppt/tags/tag366.xml><?xml version="1.0" encoding="utf-8"?>
<p:tagLst xmlns:p="http://schemas.openxmlformats.org/presentationml/2006/main">
  <p:tag name="KSO_WM_UNIT_LINE_FORE_SCHEMECOLOR_INDEX_BRIGHTNESS" val="0"/>
  <p:tag name="KSO_WM_UNIT_LINE_FORE_SCHEMECOLOR_INDEX" val="5"/>
  <p:tag name="KSO_WM_UNIT_LINE_FILL_TYPE" val="2"/>
  <p:tag name="KSO_WM_DIAGRAM_VIRTUALLY_FRAME" val="{&quot;height&quot;:302.35,&quot;left&quot;:59.42889763779526,&quot;top&quot;:153.95,&quot;width&quot;:851.4856692913385}"/>
</p:tagLst>
</file>

<file path=ppt/tags/tag367.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70.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1.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3.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DIAGRAM_VIRTUALLY_FRAME" val="{&quot;height&quot;:302.35,&quot;left&quot;:59.42889763779526,&quot;top&quot;:153.95,&quot;width&quot;:851.4856692913385}"/>
</p:tagLst>
</file>

<file path=ppt/tags/tag375.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DIAGRAM_VIRTUALLY_FRAME" val="{&quot;height&quot;:302.35,&quot;left&quot;:59.42889763779526,&quot;top&quot;:153.95,&quot;width&quot;:851.4856692913385}"/>
</p:tagLst>
</file>

<file path=ppt/tags/tag376.xml><?xml version="1.0" encoding="utf-8"?>
<p:tagLst xmlns:p="http://schemas.openxmlformats.org/presentationml/2006/main">
  <p:tag name="KSO_WM_DIAGRAM_VIRTUALLY_FRAME" val="{&quot;height&quot;:302.35,&quot;left&quot;:59.42889763779526,&quot;top&quot;:153.95,&quot;width&quot;:851.4856692913385}"/>
</p:tagLst>
</file>

<file path=ppt/tags/tag377.xml><?xml version="1.0" encoding="utf-8"?>
<p:tagLst xmlns:p="http://schemas.openxmlformats.org/presentationml/2006/main">
  <p:tag name="KSO_WM_DIAGRAM_VIRTUALLY_FRAME" val="{&quot;height&quot;:302.35,&quot;left&quot;:59.42889763779526,&quot;top&quot;:153.95,&quot;width&quot;:851.4856692913385}"/>
</p:tagLst>
</file>

<file path=ppt/tags/tag378.xml><?xml version="1.0" encoding="utf-8"?>
<p:tagLst xmlns:p="http://schemas.openxmlformats.org/presentationml/2006/main">
  <p:tag name="KSO_WM_DIAGRAM_VIRTUALLY_FRAME" val="{&quot;height&quot;:302.35,&quot;left&quot;:59.42889763779526,&quot;top&quot;:153.95,&quot;width&quot;:851.4856692913385}"/>
</p:tagLst>
</file>

<file path=ppt/tags/tag379.xml><?xml version="1.0" encoding="utf-8"?>
<p:tagLst xmlns:p="http://schemas.openxmlformats.org/presentationml/2006/main">
  <p:tag name="KSO_WM_DIAGRAM_VIRTUALLY_FRAME" val="{&quot;height&quot;:302.35,&quot;left&quot;:59.42889763779526,&quot;top&quot;:153.95,&quot;width&quot;:851.4856692913385}"/>
</p:tagLst>
</file>

<file path=ppt/tags/tag380.xml><?xml version="1.0" encoding="utf-8"?>
<p:tagLst xmlns:p="http://schemas.openxmlformats.org/presentationml/2006/main">
  <p:tag name="KSO_WM_DIAGRAM_VIRTUALLY_FRAME" val="{&quot;height&quot;:302.35,&quot;left&quot;:59.42889763779526,&quot;top&quot;:153.95,&quot;width&quot;:851.4856692913385}"/>
</p:tagLst>
</file>

<file path=ppt/tags/tag381.xml><?xml version="1.0" encoding="utf-8"?>
<p:tagLst xmlns:p="http://schemas.openxmlformats.org/presentationml/2006/main">
  <p:tag name="KSO_WM_DIAGRAM_VIRTUALLY_FRAME" val="{&quot;height&quot;:302.35,&quot;left&quot;:59.42889763779526,&quot;top&quot;:153.95,&quot;width&quot;:851.4856692913385}"/>
</p:tagLst>
</file>

<file path=ppt/tags/tag382.xml><?xml version="1.0" encoding="utf-8"?>
<p:tagLst xmlns:p="http://schemas.openxmlformats.org/presentationml/2006/main">
  <p:tag name="KSO_WM_DIAGRAM_VIRTUALLY_FRAME" val="{&quot;height&quot;:302.35,&quot;left&quot;:59.42889763779526,&quot;top&quot;:153.95,&quot;width&quot;:851.4856692913385}"/>
</p:tagLst>
</file>

<file path=ppt/tags/tag383.xml><?xml version="1.0" encoding="utf-8"?>
<p:tagLst xmlns:p="http://schemas.openxmlformats.org/presentationml/2006/main">
  <p:tag name="KSO_WM_DIAGRAM_VIRTUALLY_FRAME" val="{&quot;height&quot;:302.35,&quot;left&quot;:59.42889763779526,&quot;top&quot;:153.95,&quot;width&quot;:851.4856692913385}"/>
</p:tagLst>
</file>

<file path=ppt/tags/tag3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385.xml><?xml version="1.0" encoding="utf-8"?>
<p:tagLst xmlns:p="http://schemas.openxmlformats.org/presentationml/2006/main">
  <p:tag name="KSO_WM_SLIDE_NOBEATY" val="1"/>
</p:tagLst>
</file>

<file path=ppt/tags/tag386.xml><?xml version="1.0" encoding="utf-8"?>
<p:tagLst xmlns:p="http://schemas.openxmlformats.org/presentationml/2006/main">
  <p:tag name="KSO_WM_SLIDE_NOBEATY" val="1"/>
</p:tagLst>
</file>

<file path=ppt/tags/tag387.xml><?xml version="1.0" encoding="utf-8"?>
<p:tagLst xmlns:p="http://schemas.openxmlformats.org/presentationml/2006/main">
  <p:tag name="KSO_WM_DIAGRAM_VIRTUALLY_FRAME" val="{&quot;height&quot;:296.9,&quot;left&quot;:72.55,&quot;top&quot;:150.2,&quot;width&quot;:811.35}"/>
</p:tagLst>
</file>

<file path=ppt/tags/tag388.xml><?xml version="1.0" encoding="utf-8"?>
<p:tagLst xmlns:p="http://schemas.openxmlformats.org/presentationml/2006/main">
  <p:tag name="KSO_WM_DIAGRAM_VIRTUALLY_FRAME" val="{&quot;height&quot;:296.9,&quot;left&quot;:72.55,&quot;top&quot;:150.2,&quot;width&quot;:811.35}"/>
</p:tagLst>
</file>

<file path=ppt/tags/tag389.xml><?xml version="1.0" encoding="utf-8"?>
<p:tagLst xmlns:p="http://schemas.openxmlformats.org/presentationml/2006/main">
  <p:tag name="KSO_WM_DIAGRAM_VIRTUALLY_FRAME" val="{&quot;height&quot;:296.9,&quot;left&quot;:72.55,&quot;top&quot;:150.2,&quot;width&quot;:811.35}"/>
</p:tagLst>
</file>

<file path=ppt/tags/tag390.xml><?xml version="1.0" encoding="utf-8"?>
<p:tagLst xmlns:p="http://schemas.openxmlformats.org/presentationml/2006/main">
  <p:tag name="KSO_WM_DIAGRAM_VIRTUALLY_FRAME" val="{&quot;height&quot;:296.9,&quot;left&quot;:72.55,&quot;top&quot;:150.2,&quot;width&quot;:811.35}"/>
</p:tagLst>
</file>

<file path=ppt/tags/tag391.xml><?xml version="1.0" encoding="utf-8"?>
<p:tagLst xmlns:p="http://schemas.openxmlformats.org/presentationml/2006/main">
  <p:tag name="KSO_WM_DIAGRAM_VIRTUALLY_FRAME" val="{&quot;height&quot;:296.9,&quot;left&quot;:72.55,&quot;top&quot;:150.2,&quot;width&quot;:811.35}"/>
</p:tagLst>
</file>

<file path=ppt/tags/tag392.xml><?xml version="1.0" encoding="utf-8"?>
<p:tagLst xmlns:p="http://schemas.openxmlformats.org/presentationml/2006/main">
  <p:tag name="KSO_WM_DIAGRAM_VIRTUALLY_FRAME" val="{&quot;height&quot;:296.9,&quot;left&quot;:72.55,&quot;top&quot;:150.2,&quot;width&quot;:811.35}"/>
</p:tagLst>
</file>

<file path=ppt/tags/tag393.xml><?xml version="1.0" encoding="utf-8"?>
<p:tagLst xmlns:p="http://schemas.openxmlformats.org/presentationml/2006/main">
  <p:tag name="KSO_WM_DIAGRAM_VIRTUALLY_FRAME" val="{&quot;height&quot;:296.9,&quot;left&quot;:72.55,&quot;top&quot;:150.2,&quot;width&quot;:811.35}"/>
</p:tagLst>
</file>

<file path=ppt/tags/tag394.xml><?xml version="1.0" encoding="utf-8"?>
<p:tagLst xmlns:p="http://schemas.openxmlformats.org/presentationml/2006/main">
  <p:tag name="KSO_WM_DIAGRAM_VIRTUALLY_FRAME" val="{&quot;height&quot;:296.9,&quot;left&quot;:72.55,&quot;top&quot;:150.2,&quot;width&quot;:811.35}"/>
</p:tagLst>
</file>

<file path=ppt/tags/tag395.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396.xml><?xml version="1.0" encoding="utf-8"?>
<p:tagLst xmlns:p="http://schemas.openxmlformats.org/presentationml/2006/main">
  <p:tag name="KSO_WM_DIAGRAM_VIRTUALLY_FRAME" val="{&quot;height&quot;:296.9,&quot;left&quot;:72.55,&quot;top&quot;:150.2,&quot;width&quot;:811.35}"/>
</p:tagLst>
</file>

<file path=ppt/tags/tag397.xml><?xml version="1.0" encoding="utf-8"?>
<p:tagLst xmlns:p="http://schemas.openxmlformats.org/presentationml/2006/main">
  <p:tag name="KSO_WM_DIAGRAM_VIRTUALLY_FRAME" val="{&quot;height&quot;:296.9,&quot;left&quot;:72.55,&quot;top&quot;:150.2,&quot;width&quot;:811.35}"/>
</p:tagLst>
</file>

<file path=ppt/tags/tag398.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399.xml><?xml version="1.0" encoding="utf-8"?>
<p:tagLst xmlns:p="http://schemas.openxmlformats.org/presentationml/2006/main">
  <p:tag name="KSO_WM_DIAGRAM_VIRTUALLY_FRAME" val="{&quot;height&quot;:296.9,&quot;left&quot;:72.55,&quot;top&quot;:150.2,&quot;width&quot;:811.35}"/>
</p:tagLst>
</file>

<file path=ppt/tags/tag400.xml><?xml version="1.0" encoding="utf-8"?>
<p:tagLst xmlns:p="http://schemas.openxmlformats.org/presentationml/2006/main">
  <p:tag name="KSO_WM_DIAGRAM_VIRTUALLY_FRAME" val="{&quot;height&quot;:296.9,&quot;left&quot;:72.55,&quot;top&quot;:150.2,&quot;width&quot;:811.35}"/>
</p:tagLst>
</file>

<file path=ppt/tags/tag401.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402.xml><?xml version="1.0" encoding="utf-8"?>
<p:tagLst xmlns:p="http://schemas.openxmlformats.org/presentationml/2006/main">
  <p:tag name="KSO_WM_DIAGRAM_VIRTUALLY_FRAME" val="{&quot;height&quot;:296.9,&quot;left&quot;:72.55,&quot;top&quot;:150.2,&quot;width&quot;:811.35}"/>
</p:tagLst>
</file>

<file path=ppt/tags/tag403.xml><?xml version="1.0" encoding="utf-8"?>
<p:tagLst xmlns:p="http://schemas.openxmlformats.org/presentationml/2006/main">
  <p:tag name="KSO_WM_DIAGRAM_VIRTUALLY_FRAME" val="{&quot;height&quot;:296.9,&quot;left&quot;:72.55,&quot;top&quot;:150.2,&quot;width&quot;:811.35}"/>
</p:tagLst>
</file>

<file path=ppt/tags/tag404.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405.xml><?xml version="1.0" encoding="utf-8"?>
<p:tagLst xmlns:p="http://schemas.openxmlformats.org/presentationml/2006/main">
  <p:tag name="KSO_WM_SLIDE_NOBEATY" val="1"/>
</p:tagLst>
</file>

<file path=ppt/tags/tag406.xml><?xml version="1.0" encoding="utf-8"?>
<p:tagLst xmlns:p="http://schemas.openxmlformats.org/presentationml/2006/main">
  <p:tag name="KSO_WM_DIAGRAM_VIRTUALLY_FRAME" val="{&quot;height&quot;:253.95,&quot;left&quot;:6.5,&quot;top&quot;:174.6,&quot;width&quot;:947.75}"/>
</p:tagLst>
</file>

<file path=ppt/tags/tag407.xml><?xml version="1.0" encoding="utf-8"?>
<p:tagLst xmlns:p="http://schemas.openxmlformats.org/presentationml/2006/main">
  <p:tag name="KSO_WM_DIAGRAM_VIRTUALLY_FRAME" val="{&quot;height&quot;:253.95,&quot;left&quot;:6.5,&quot;top&quot;:174.6,&quot;width&quot;:947.75}"/>
</p:tagLst>
</file>

<file path=ppt/tags/tag408.xml><?xml version="1.0" encoding="utf-8"?>
<p:tagLst xmlns:p="http://schemas.openxmlformats.org/presentationml/2006/main">
  <p:tag name="KSO_WM_DIAGRAM_VIRTUALLY_FRAME" val="{&quot;height&quot;:253.95,&quot;left&quot;:6.5,&quot;top&quot;:174.6,&quot;width&quot;:947.75}"/>
</p:tagLst>
</file>

<file path=ppt/tags/tag409.xml><?xml version="1.0" encoding="utf-8"?>
<p:tagLst xmlns:p="http://schemas.openxmlformats.org/presentationml/2006/main">
  <p:tag name="KSO_WM_DIAGRAM_VIRTUALLY_FRAME" val="{&quot;height&quot;:253.95,&quot;left&quot;:6.5,&quot;top&quot;:174.6,&quot;width&quot;:947.75}"/>
</p:tagLst>
</file>

<file path=ppt/tags/tag410.xml><?xml version="1.0" encoding="utf-8"?>
<p:tagLst xmlns:p="http://schemas.openxmlformats.org/presentationml/2006/main">
  <p:tag name="KSO_WM_DIAGRAM_VIRTUALLY_FRAME" val="{&quot;height&quot;:253.95,&quot;left&quot;:6.5,&quot;top&quot;:174.6,&quot;width&quot;:947.75}"/>
</p:tagLst>
</file>

<file path=ppt/tags/tag411.xml><?xml version="1.0" encoding="utf-8"?>
<p:tagLst xmlns:p="http://schemas.openxmlformats.org/presentationml/2006/main">
  <p:tag name="KSO_WM_DIAGRAM_VIRTUALLY_FRAME" val="{&quot;height&quot;:253.95,&quot;left&quot;:6.5,&quot;top&quot;:174.6,&quot;width&quot;:947.75}"/>
</p:tagLst>
</file>

<file path=ppt/tags/tag412.xml><?xml version="1.0" encoding="utf-8"?>
<p:tagLst xmlns:p="http://schemas.openxmlformats.org/presentationml/2006/main">
  <p:tag name="KSO_WM_DIAGRAM_VIRTUALLY_FRAME" val="{&quot;height&quot;:253.95,&quot;left&quot;:6.5,&quot;top&quot;:174.6,&quot;width&quot;:947.75}"/>
</p:tagLst>
</file>

<file path=ppt/tags/tag413.xml><?xml version="1.0" encoding="utf-8"?>
<p:tagLst xmlns:p="http://schemas.openxmlformats.org/presentationml/2006/main">
  <p:tag name="KSO_WM_DIAGRAM_VIRTUALLY_FRAME" val="{&quot;height&quot;:253.95,&quot;left&quot;:6.5,&quot;top&quot;:174.6,&quot;width&quot;:947.75}"/>
</p:tagLst>
</file>

<file path=ppt/tags/tag414.xml><?xml version="1.0" encoding="utf-8"?>
<p:tagLst xmlns:p="http://schemas.openxmlformats.org/presentationml/2006/main">
  <p:tag name="KSO_WM_DIAGRAM_VIRTUALLY_FRAME" val="{&quot;height&quot;:253.95,&quot;left&quot;:6.5,&quot;top&quot;:174.6,&quot;width&quot;:947.75}"/>
</p:tagLst>
</file>

<file path=ppt/tags/tag415.xml><?xml version="1.0" encoding="utf-8"?>
<p:tagLst xmlns:p="http://schemas.openxmlformats.org/presentationml/2006/main">
  <p:tag name="KSO_WM_DIAGRAM_VIRTUALLY_FRAME" val="{&quot;height&quot;:253.95,&quot;left&quot;:6.5,&quot;top&quot;:174.6,&quot;width&quot;:947.75}"/>
</p:tagLst>
</file>

<file path=ppt/tags/tag416.xml><?xml version="1.0" encoding="utf-8"?>
<p:tagLst xmlns:p="http://schemas.openxmlformats.org/presentationml/2006/main">
  <p:tag name="KSO_WM_DIAGRAM_VIRTUALLY_FRAME" val="{&quot;height&quot;:253.95,&quot;left&quot;:6.5,&quot;top&quot;:174.6,&quot;width&quot;:947.75}"/>
</p:tagLst>
</file>

<file path=ppt/tags/tag417.xml><?xml version="1.0" encoding="utf-8"?>
<p:tagLst xmlns:p="http://schemas.openxmlformats.org/presentationml/2006/main">
  <p:tag name="KSO_WM_DIAGRAM_VIRTUALLY_FRAME" val="{&quot;height&quot;:253.95,&quot;left&quot;:6.5,&quot;top&quot;:174.6,&quot;width&quot;:947.75}"/>
</p:tagLst>
</file>

<file path=ppt/tags/tag418.xml><?xml version="1.0" encoding="utf-8"?>
<p:tagLst xmlns:p="http://schemas.openxmlformats.org/presentationml/2006/main">
  <p:tag name="KSO_WM_DIAGRAM_VIRTUALLY_FRAME" val="{&quot;height&quot;:253.95,&quot;left&quot;:6.5,&quot;top&quot;:174.6,&quot;width&quot;:947.75}"/>
</p:tagLst>
</file>

<file path=ppt/tags/tag419.xml><?xml version="1.0" encoding="utf-8"?>
<p:tagLst xmlns:p="http://schemas.openxmlformats.org/presentationml/2006/main">
  <p:tag name="KSO_WM_DIAGRAM_VIRTUALLY_FRAME" val="{&quot;height&quot;:253.95,&quot;left&quot;:6.5,&quot;top&quot;:174.6,&quot;width&quot;:947.75}"/>
</p:tagLst>
</file>

<file path=ppt/tags/tag42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21.xml><?xml version="1.0" encoding="utf-8"?>
<p:tagLst xmlns:p="http://schemas.openxmlformats.org/presentationml/2006/main">
  <p:tag name="KSO_WM_DIAGRAM_VIRTUALLY_FRAME" val="{&quot;height&quot;:358.8,&quot;left&quot;:82.7,&quot;top&quot;:138.1,&quot;width&quot;:794.65}"/>
</p:tagLst>
</file>

<file path=ppt/tags/tag422.xml><?xml version="1.0" encoding="utf-8"?>
<p:tagLst xmlns:p="http://schemas.openxmlformats.org/presentationml/2006/main">
  <p:tag name="KSO_WM_DIAGRAM_VIRTUALLY_FRAME" val="{&quot;height&quot;:358.8,&quot;left&quot;:82.7,&quot;top&quot;:138.1,&quot;width&quot;:794.65}"/>
</p:tagLst>
</file>

<file path=ppt/tags/tag423.xml><?xml version="1.0" encoding="utf-8"?>
<p:tagLst xmlns:p="http://schemas.openxmlformats.org/presentationml/2006/main">
  <p:tag name="KSO_WM_DIAGRAM_VIRTUALLY_FRAME" val="{&quot;height&quot;:358.8,&quot;left&quot;:82.7,&quot;top&quot;:138.1,&quot;width&quot;:794.65}"/>
</p:tagLst>
</file>

<file path=ppt/tags/tag424.xml><?xml version="1.0" encoding="utf-8"?>
<p:tagLst xmlns:p="http://schemas.openxmlformats.org/presentationml/2006/main">
  <p:tag name="KSO_WM_DIAGRAM_VIRTUALLY_FRAME" val="{&quot;height&quot;:358.8,&quot;left&quot;:82.7,&quot;top&quot;:138.1,&quot;width&quot;:794.65}"/>
</p:tagLst>
</file>

<file path=ppt/tags/tag425.xml><?xml version="1.0" encoding="utf-8"?>
<p:tagLst xmlns:p="http://schemas.openxmlformats.org/presentationml/2006/main">
  <p:tag name="KSO_WM_DIAGRAM_VIRTUALLY_FRAME" val="{&quot;height&quot;:358.8,&quot;left&quot;:82.7,&quot;top&quot;:138.1,&quot;width&quot;:794.65}"/>
</p:tagLst>
</file>

<file path=ppt/tags/tag426.xml><?xml version="1.0" encoding="utf-8"?>
<p:tagLst xmlns:p="http://schemas.openxmlformats.org/presentationml/2006/main">
  <p:tag name="KSO_WM_DIAGRAM_VIRTUALLY_FRAME" val="{&quot;height&quot;:358.8,&quot;left&quot;:82.7,&quot;top&quot;:138.1,&quot;width&quot;:794.65}"/>
</p:tagLst>
</file>

<file path=ppt/tags/tag427.xml><?xml version="1.0" encoding="utf-8"?>
<p:tagLst xmlns:p="http://schemas.openxmlformats.org/presentationml/2006/main">
  <p:tag name="KSO_WM_DIAGRAM_VIRTUALLY_FRAME" val="{&quot;height&quot;:358.8,&quot;left&quot;:82.7,&quot;top&quot;:138.1,&quot;width&quot;:794.65}"/>
</p:tagLst>
</file>

<file path=ppt/tags/tag428.xml><?xml version="1.0" encoding="utf-8"?>
<p:tagLst xmlns:p="http://schemas.openxmlformats.org/presentationml/2006/main">
  <p:tag name="KSO_WM_DIAGRAM_VIRTUALLY_FRAME" val="{&quot;height&quot;:358.8,&quot;left&quot;:82.7,&quot;top&quot;:138.1,&quot;width&quot;:794.65}"/>
</p:tagLst>
</file>

<file path=ppt/tags/tag429.xml><?xml version="1.0" encoding="utf-8"?>
<p:tagLst xmlns:p="http://schemas.openxmlformats.org/presentationml/2006/main">
  <p:tag name="KSO_WM_DIAGRAM_VIRTUALLY_FRAME" val="{&quot;height&quot;:358.8,&quot;left&quot;:82.7,&quot;top&quot;:138.1,&quot;width&quot;:794.65}"/>
</p:tagLst>
</file>

<file path=ppt/tags/tag430.xml><?xml version="1.0" encoding="utf-8"?>
<p:tagLst xmlns:p="http://schemas.openxmlformats.org/presentationml/2006/main">
  <p:tag name="KSO_WM_DIAGRAM_VIRTUALLY_FRAME" val="{&quot;height&quot;:358.8,&quot;left&quot;:82.7,&quot;top&quot;:138.1,&quot;width&quot;:794.65}"/>
</p:tagLst>
</file>

<file path=ppt/tags/tag431.xml><?xml version="1.0" encoding="utf-8"?>
<p:tagLst xmlns:p="http://schemas.openxmlformats.org/presentationml/2006/main">
  <p:tag name="KSO_WM_DIAGRAM_VIRTUALLY_FRAME" val="{&quot;height&quot;:358.8,&quot;left&quot;:82.7,&quot;top&quot;:138.1,&quot;width&quot;:794.65}"/>
</p:tagLst>
</file>

<file path=ppt/tags/tag432.xml><?xml version="1.0" encoding="utf-8"?>
<p:tagLst xmlns:p="http://schemas.openxmlformats.org/presentationml/2006/main">
  <p:tag name="KSO_WM_DIAGRAM_VIRTUALLY_FRAME" val="{&quot;height&quot;:358.8,&quot;left&quot;:82.7,&quot;top&quot;:138.1,&quot;width&quot;:794.65}"/>
</p:tagLst>
</file>

<file path=ppt/tags/tag433.xml><?xml version="1.0" encoding="utf-8"?>
<p:tagLst xmlns:p="http://schemas.openxmlformats.org/presentationml/2006/main">
  <p:tag name="KSO_WM_DIAGRAM_VIRTUALLY_FRAME" val="{&quot;height&quot;:358.8,&quot;left&quot;:82.7,&quot;top&quot;:138.1,&quot;width&quot;:794.65}"/>
</p:tagLst>
</file>

<file path=ppt/tags/tag434.xml><?xml version="1.0" encoding="utf-8"?>
<p:tagLst xmlns:p="http://schemas.openxmlformats.org/presentationml/2006/main">
  <p:tag name="KSO_WM_DIAGRAM_VIRTUALLY_FRAME" val="{&quot;height&quot;:358.8,&quot;left&quot;:82.7,&quot;top&quot;:138.1,&quot;width&quot;:794.65}"/>
</p:tagLst>
</file>

<file path=ppt/tags/tag435.xml><?xml version="1.0" encoding="utf-8"?>
<p:tagLst xmlns:p="http://schemas.openxmlformats.org/presentationml/2006/main">
  <p:tag name="KSO_WM_DIAGRAM_VIRTUALLY_FRAME" val="{&quot;height&quot;:358.8,&quot;left&quot;:82.7,&quot;top&quot;:138.1,&quot;width&quot;:794.65}"/>
</p:tagLst>
</file>

<file path=ppt/tags/tag436.xml><?xml version="1.0" encoding="utf-8"?>
<p:tagLst xmlns:p="http://schemas.openxmlformats.org/presentationml/2006/main">
  <p:tag name="KSO_WM_DIAGRAM_VIRTUALLY_FRAME" val="{&quot;height&quot;:358.8,&quot;left&quot;:82.7,&quot;top&quot;:138.1,&quot;width&quot;:794.65}"/>
</p:tagLst>
</file>

<file path=ppt/tags/tag437.xml><?xml version="1.0" encoding="utf-8"?>
<p:tagLst xmlns:p="http://schemas.openxmlformats.org/presentationml/2006/main">
  <p:tag name="KSO_WM_DIAGRAM_VIRTUALLY_FRAME" val="{&quot;height&quot;:358.8,&quot;left&quot;:82.7,&quot;top&quot;:138.1,&quot;width&quot;:794.65}"/>
</p:tagLst>
</file>

<file path=ppt/tags/tag438.xml><?xml version="1.0" encoding="utf-8"?>
<p:tagLst xmlns:p="http://schemas.openxmlformats.org/presentationml/2006/main">
  <p:tag name="KSO_WM_DIAGRAM_VIRTUALLY_FRAME" val="{&quot;height&quot;:358.8,&quot;left&quot;:82.7,&quot;top&quot;:138.1,&quot;width&quot;:794.65}"/>
</p:tagLst>
</file>

<file path=ppt/tags/tag439.xml><?xml version="1.0" encoding="utf-8"?>
<p:tagLst xmlns:p="http://schemas.openxmlformats.org/presentationml/2006/main">
  <p:tag name="KSO_WM_DIAGRAM_VIRTUALLY_FRAME" val="{&quot;height&quot;:358.8,&quot;left&quot;:82.7,&quot;top&quot;:138.1,&quot;width&quot;:794.65}"/>
</p:tagLst>
</file>

<file path=ppt/tags/tag4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41.xml><?xml version="1.0" encoding="utf-8"?>
<p:tagLst xmlns:p="http://schemas.openxmlformats.org/presentationml/2006/main">
  <p:tag name="KSO_WM_DIAGRAM_VIRTUALLY_FRAME" val="{&quot;height&quot;:360.65,&quot;left&quot;:96.25,&quot;top&quot;:133.25,&quot;width&quot;:767.55}"/>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1"/>
  <p:tag name="KSO_WM_UNIT_ID" val="diagram20200110_3*q_h_i*1_4_1"/>
  <p:tag name="KSO_WM_TEMPLATE_CATEGORY" val="diagram"/>
  <p:tag name="KSO_WM_TEMPLATE_INDEX" val="20200110"/>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00110_3*q_h_i*1_3_1"/>
  <p:tag name="KSO_WM_TEMPLATE_CATEGORY" val="diagram"/>
  <p:tag name="KSO_WM_TEMPLATE_INDEX" val="20200110"/>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00110_3*q_h_i*1_2_1"/>
  <p:tag name="KSO_WM_TEMPLATE_CATEGORY" val="diagram"/>
  <p:tag name="KSO_WM_TEMPLATE_INDEX" val="20200110"/>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00110_3*q_h_i*1_1_1"/>
  <p:tag name="KSO_WM_TEMPLATE_CATEGORY" val="diagram"/>
  <p:tag name="KSO_WM_TEMPLATE_INDEX" val="20200110"/>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1"/>
  <p:tag name="KSO_WM_UNIT_ID" val="diagram20200110_3*q_h_i*1_5_1"/>
  <p:tag name="KSO_WM_TEMPLATE_CATEGORY" val="diagram"/>
  <p:tag name="KSO_WM_TEMPLATE_INDEX" val="20200110"/>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4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4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8.xml><?xml version="1.0" encoding="utf-8"?>
<p:tagLst xmlns:p="http://schemas.openxmlformats.org/presentationml/2006/main">
  <p:tag name="KSO_WM_SLIDE_NOBEATY" val="1"/>
</p:tagLst>
</file>

<file path=ppt/tags/tag47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5.xml><?xml version="1.0" encoding="utf-8"?>
<p:tagLst xmlns:p="http://schemas.openxmlformats.org/presentationml/2006/main">
  <p:tag name="KSO_WM_SLIDE_NOBEATY" val="1"/>
</p:tagLst>
</file>

<file path=ppt/tags/tag546.xml><?xml version="1.0" encoding="utf-8"?>
<p:tagLst xmlns:p="http://schemas.openxmlformats.org/presentationml/2006/main">
  <p:tag name="KSO_WM_DIAGRAM_VIRTUALLY_FRAME" val="{&quot;height&quot;:399.8502887139107,&quot;left&quot;:68.8750656167979,&quot;top&quot;:126.85,&quot;width&quot;:822.2749343832022}"/>
</p:tagLst>
</file>

<file path=ppt/tags/tag547.xml><?xml version="1.0" encoding="utf-8"?>
<p:tagLst xmlns:p="http://schemas.openxmlformats.org/presentationml/2006/main">
  <p:tag name="KSO_WM_DIAGRAM_VIRTUALLY_FRAME" val="{&quot;height&quot;:399.8502887139107,&quot;left&quot;:68.8750656167979,&quot;top&quot;:126.85,&quot;width&quot;:822.2749343832022}"/>
</p:tagLst>
</file>

<file path=ppt/tags/tag548.xml><?xml version="1.0" encoding="utf-8"?>
<p:tagLst xmlns:p="http://schemas.openxmlformats.org/presentationml/2006/main">
  <p:tag name="KSO_WM_DIAGRAM_VIRTUALLY_FRAME" val="{&quot;height&quot;:399.8502887139107,&quot;left&quot;:68.8750656167979,&quot;top&quot;:126.85,&quot;width&quot;:822.2749343832022}"/>
</p:tagLst>
</file>

<file path=ppt/tags/tag549.xml><?xml version="1.0" encoding="utf-8"?>
<p:tagLst xmlns:p="http://schemas.openxmlformats.org/presentationml/2006/main">
  <p:tag name="KSO_WM_DIAGRAM_VIRTUALLY_FRAME" val="{&quot;height&quot;:399.8502887139107,&quot;left&quot;:68.8750656167979,&quot;top&quot;:126.85,&quot;width&quot;:822.2749343832022}"/>
</p:tagLst>
</file>

<file path=ppt/tags/tag550.xml><?xml version="1.0" encoding="utf-8"?>
<p:tagLst xmlns:p="http://schemas.openxmlformats.org/presentationml/2006/main">
  <p:tag name="KSO_WM_DIAGRAM_VIRTUALLY_FRAME" val="{&quot;height&quot;:399.8502887139107,&quot;left&quot;:68.8750656167979,&quot;top&quot;:126.85,&quot;width&quot;:822.2749343832022}"/>
</p:tagLst>
</file>

<file path=ppt/tags/tag551.xml><?xml version="1.0" encoding="utf-8"?>
<p:tagLst xmlns:p="http://schemas.openxmlformats.org/presentationml/2006/main">
  <p:tag name="KSO_WM_DIAGRAM_VIRTUALLY_FRAME" val="{&quot;height&quot;:399.8502887139107,&quot;left&quot;:68.8750656167979,&quot;top&quot;:126.85,&quot;width&quot;:822.2749343832022}"/>
</p:tagLst>
</file>

<file path=ppt/tags/tag552.xml><?xml version="1.0" encoding="utf-8"?>
<p:tagLst xmlns:p="http://schemas.openxmlformats.org/presentationml/2006/main">
  <p:tag name="KSO_WM_DIAGRAM_VIRTUALLY_FRAME" val="{&quot;height&quot;:399.8502887139107,&quot;left&quot;:68.8750656167979,&quot;top&quot;:126.85,&quot;width&quot;:822.2749343832022}"/>
</p:tagLst>
</file>

<file path=ppt/tags/tag553.xml><?xml version="1.0" encoding="utf-8"?>
<p:tagLst xmlns:p="http://schemas.openxmlformats.org/presentationml/2006/main">
  <p:tag name="KSO_WM_DIAGRAM_VIRTUALLY_FRAME" val="{&quot;height&quot;:399.8502887139107,&quot;left&quot;:68.8750656167979,&quot;top&quot;:126.85,&quot;width&quot;:822.2749343832022}"/>
</p:tagLst>
</file>

<file path=ppt/tags/tag554.xml><?xml version="1.0" encoding="utf-8"?>
<p:tagLst xmlns:p="http://schemas.openxmlformats.org/presentationml/2006/main">
  <p:tag name="KSO_WM_DIAGRAM_VIRTUALLY_FRAME" val="{&quot;height&quot;:399.8502887139107,&quot;left&quot;:68.8750656167979,&quot;top&quot;:126.85,&quot;width&quot;:822.2749343832022}"/>
</p:tagLst>
</file>

<file path=ppt/tags/tag555.xml><?xml version="1.0" encoding="utf-8"?>
<p:tagLst xmlns:p="http://schemas.openxmlformats.org/presentationml/2006/main">
  <p:tag name="KSO_WM_DIAGRAM_VIRTUALLY_FRAME" val="{&quot;height&quot;:399.8502887139107,&quot;left&quot;:68.8750656167979,&quot;top&quot;:126.85,&quot;width&quot;:822.2749343832022}"/>
</p:tagLst>
</file>

<file path=ppt/tags/tag556.xml><?xml version="1.0" encoding="utf-8"?>
<p:tagLst xmlns:p="http://schemas.openxmlformats.org/presentationml/2006/main">
  <p:tag name="KSO_WM_DIAGRAM_VIRTUALLY_FRAME" val="{&quot;height&quot;:399.8502887139107,&quot;left&quot;:68.8750656167979,&quot;top&quot;:126.85,&quot;width&quot;:822.2749343832022}"/>
</p:tagLst>
</file>

<file path=ppt/tags/tag557.xml><?xml version="1.0" encoding="utf-8"?>
<p:tagLst xmlns:p="http://schemas.openxmlformats.org/presentationml/2006/main">
  <p:tag name="KSO_WM_DIAGRAM_VIRTUALLY_FRAME" val="{&quot;height&quot;:399.8502887139107,&quot;left&quot;:68.8750656167979,&quot;top&quot;:126.85,&quot;width&quot;:822.2749343832022}"/>
</p:tagLst>
</file>

<file path=ppt/tags/tag558.xml><?xml version="1.0" encoding="utf-8"?>
<p:tagLst xmlns:p="http://schemas.openxmlformats.org/presentationml/2006/main">
  <p:tag name="KSO_WM_DIAGRAM_VIRTUALLY_FRAME" val="{&quot;height&quot;:399.8502887139107,&quot;left&quot;:68.8750656167979,&quot;top&quot;:126.85,&quot;width&quot;:822.2749343832022}"/>
</p:tagLst>
</file>

<file path=ppt/tags/tag559.xml><?xml version="1.0" encoding="utf-8"?>
<p:tagLst xmlns:p="http://schemas.openxmlformats.org/presentationml/2006/main">
  <p:tag name="KSO_WM_SLIDE_NOBEATY" val="1"/>
</p:tagLst>
</file>

<file path=ppt/tags/tag560.xml><?xml version="1.0" encoding="utf-8"?>
<p:tagLst xmlns:p="http://schemas.openxmlformats.org/presentationml/2006/main">
  <p:tag name="KSO_WM_DIAGRAM_VIRTUALLY_FRAME" val="{&quot;height&quot;:323.31047244094486,&quot;left&quot;:112,&quot;top&quot;:126.19496062992125,&quot;width&quot;:705}"/>
</p:tagLst>
</file>

<file path=ppt/tags/tag561.xml><?xml version="1.0" encoding="utf-8"?>
<p:tagLst xmlns:p="http://schemas.openxmlformats.org/presentationml/2006/main">
  <p:tag name="KSO_WM_DIAGRAM_VIRTUALLY_FRAME" val="{&quot;height&quot;:323.31047244094486,&quot;left&quot;:112,&quot;top&quot;:126.19496062992125,&quot;width&quot;:705}"/>
</p:tagLst>
</file>

<file path=ppt/tags/tag562.xml><?xml version="1.0" encoding="utf-8"?>
<p:tagLst xmlns:p="http://schemas.openxmlformats.org/presentationml/2006/main">
  <p:tag name="KSO_WM_DIAGRAM_VIRTUALLY_FRAME" val="{&quot;height&quot;:323.31047244094486,&quot;left&quot;:112,&quot;top&quot;:126.19496062992125,&quot;width&quot;:705}"/>
</p:tagLst>
</file>

<file path=ppt/tags/tag563.xml><?xml version="1.0" encoding="utf-8"?>
<p:tagLst xmlns:p="http://schemas.openxmlformats.org/presentationml/2006/main">
  <p:tag name="KSO_WM_DIAGRAM_VIRTUALLY_FRAME" val="{&quot;height&quot;:323.31047244094486,&quot;left&quot;:112,&quot;top&quot;:126.19496062992125,&quot;width&quot;:705}"/>
</p:tagLst>
</file>

<file path=ppt/tags/tag564.xml><?xml version="1.0" encoding="utf-8"?>
<p:tagLst xmlns:p="http://schemas.openxmlformats.org/presentationml/2006/main">
  <p:tag name="KSO_WM_DIAGRAM_VIRTUALLY_FRAME" val="{&quot;height&quot;:323.31047244094486,&quot;left&quot;:112,&quot;top&quot;:126.19496062992125,&quot;width&quot;:705}"/>
</p:tagLst>
</file>

<file path=ppt/tags/tag565.xml><?xml version="1.0" encoding="utf-8"?>
<p:tagLst xmlns:p="http://schemas.openxmlformats.org/presentationml/2006/main">
  <p:tag name="KSO_WM_DIAGRAM_VIRTUALLY_FRAME" val="{&quot;height&quot;:323.31047244094486,&quot;left&quot;:112,&quot;top&quot;:126.19496062992125,&quot;width&quot;:705}"/>
</p:tagLst>
</file>

<file path=ppt/tags/tag566.xml><?xml version="1.0" encoding="utf-8"?>
<p:tagLst xmlns:p="http://schemas.openxmlformats.org/presentationml/2006/main">
  <p:tag name="KSO_WM_DIAGRAM_VIRTUALLY_FRAME" val="{&quot;height&quot;:323.31047244094486,&quot;left&quot;:112,&quot;top&quot;:126.19496062992125,&quot;width&quot;:705}"/>
</p:tagLst>
</file>

<file path=ppt/tags/tag567.xml><?xml version="1.0" encoding="utf-8"?>
<p:tagLst xmlns:p="http://schemas.openxmlformats.org/presentationml/2006/main">
  <p:tag name="KSO_WM_DIAGRAM_VIRTUALLY_FRAME" val="{&quot;height&quot;:323.31047244094486,&quot;left&quot;:112,&quot;top&quot;:126.19496062992125,&quot;width&quot;:705}"/>
</p:tagLst>
</file>

<file path=ppt/tags/tag568.xml><?xml version="1.0" encoding="utf-8"?>
<p:tagLst xmlns:p="http://schemas.openxmlformats.org/presentationml/2006/main">
  <p:tag name="KSO_WM_DIAGRAM_VIRTUALLY_FRAME" val="{&quot;height&quot;:323.31047244094486,&quot;left&quot;:112,&quot;top&quot;:126.19496062992125,&quot;width&quot;:705}"/>
</p:tagLst>
</file>

<file path=ppt/tags/tag569.xml><?xml version="1.0" encoding="utf-8"?>
<p:tagLst xmlns:p="http://schemas.openxmlformats.org/presentationml/2006/main">
  <p:tag name="KSO_WM_DIAGRAM_VIRTUALLY_FRAME" val="{&quot;height&quot;:323.31047244094486,&quot;left&quot;:112,&quot;top&quot;:126.19496062992125,&quot;width&quot;:705}"/>
</p:tagLst>
</file>

<file path=ppt/tags/tag570.xml><?xml version="1.0" encoding="utf-8"?>
<p:tagLst xmlns:p="http://schemas.openxmlformats.org/presentationml/2006/main">
  <p:tag name="KSO_WM_DIAGRAM_VIRTUALLY_FRAME" val="{&quot;height&quot;:323.31047244094486,&quot;left&quot;:112,&quot;top&quot;:126.19496062992125,&quot;width&quot;:705}"/>
</p:tagLst>
</file>

<file path=ppt/tags/tag571.xml><?xml version="1.0" encoding="utf-8"?>
<p:tagLst xmlns:p="http://schemas.openxmlformats.org/presentationml/2006/main">
  <p:tag name="KSO_WM_DIAGRAM_VIRTUALLY_FRAME" val="{&quot;height&quot;:323.31047244094486,&quot;left&quot;:112,&quot;top&quot;:126.19496062992125,&quot;width&quot;:705}"/>
</p:tagLst>
</file>

<file path=ppt/tags/tag572.xml><?xml version="1.0" encoding="utf-8"?>
<p:tagLst xmlns:p="http://schemas.openxmlformats.org/presentationml/2006/main">
  <p:tag name="KSO_WM_DIAGRAM_VIRTUALLY_FRAME" val="{&quot;height&quot;:323.31047244094486,&quot;left&quot;:112,&quot;top&quot;:126.19496062992125,&quot;width&quot;:705}"/>
</p:tagLst>
</file>

<file path=ppt/tags/tag573.xml><?xml version="1.0" encoding="utf-8"?>
<p:tagLst xmlns:p="http://schemas.openxmlformats.org/presentationml/2006/main">
  <p:tag name="KSO_WM_DIAGRAM_VIRTUALLY_FRAME" val="{&quot;height&quot;:323.31047244094486,&quot;left&quot;:112,&quot;top&quot;:126.19496062992125,&quot;width&quot;:705}"/>
</p:tagLst>
</file>

<file path=ppt/tags/tag574.xml><?xml version="1.0" encoding="utf-8"?>
<p:tagLst xmlns:p="http://schemas.openxmlformats.org/presentationml/2006/main">
  <p:tag name="KSO_WM_DIAGRAM_VIRTUALLY_FRAME" val="{&quot;height&quot;:323.31047244094486,&quot;left&quot;:112,&quot;top&quot;:126.19496062992125,&quot;width&quot;:705}"/>
</p:tagLst>
</file>

<file path=ppt/tags/tag575.xml><?xml version="1.0" encoding="utf-8"?>
<p:tagLst xmlns:p="http://schemas.openxmlformats.org/presentationml/2006/main">
  <p:tag name="KSO_WM_DIAGRAM_VIRTUALLY_FRAME" val="{&quot;height&quot;:323.31047244094486,&quot;left&quot;:112,&quot;top&quot;:126.19496062992125,&quot;width&quot;:705}"/>
</p:tagLst>
</file>

<file path=ppt/tags/tag576.xml><?xml version="1.0" encoding="utf-8"?>
<p:tagLst xmlns:p="http://schemas.openxmlformats.org/presentationml/2006/main">
  <p:tag name="KSO_WM_DIAGRAM_VIRTUALLY_FRAME" val="{&quot;height&quot;:323.31047244094486,&quot;left&quot;:112,&quot;top&quot;:126.19496062992125,&quot;width&quot;:705}"/>
</p:tagLst>
</file>

<file path=ppt/tags/tag577.xml><?xml version="1.0" encoding="utf-8"?>
<p:tagLst xmlns:p="http://schemas.openxmlformats.org/presentationml/2006/main">
  <p:tag name="KSO_WM_DIAGRAM_VIRTUALLY_FRAME" val="{&quot;height&quot;:323.31047244094486,&quot;left&quot;:112,&quot;top&quot;:126.19496062992125,&quot;width&quot;:705}"/>
</p:tagLst>
</file>

<file path=ppt/tags/tag578.xml><?xml version="1.0" encoding="utf-8"?>
<p:tagLst xmlns:p="http://schemas.openxmlformats.org/presentationml/2006/main">
  <p:tag name="KSO_WM_DIAGRAM_VIRTUALLY_FRAME" val="{&quot;height&quot;:323.31047244094486,&quot;left&quot;:112,&quot;top&quot;:126.19496062992125,&quot;width&quot;:705}"/>
</p:tagLst>
</file>

<file path=ppt/tags/tag579.xml><?xml version="1.0" encoding="utf-8"?>
<p:tagLst xmlns:p="http://schemas.openxmlformats.org/presentationml/2006/main">
  <p:tag name="KSO_WM_DIAGRAM_VIRTUALLY_FRAME" val="{&quot;height&quot;:323.31047244094486,&quot;left&quot;:112,&quot;top&quot;:126.19496062992125,&quot;width&quot;:705}"/>
</p:tagLst>
</file>

<file path=ppt/tags/tag580.xml><?xml version="1.0" encoding="utf-8"?>
<p:tagLst xmlns:p="http://schemas.openxmlformats.org/presentationml/2006/main">
  <p:tag name="KSO_WM_DIAGRAM_VIRTUALLY_FRAME" val="{&quot;height&quot;:323.31047244094486,&quot;left&quot;:112,&quot;top&quot;:126.19496062992125,&quot;width&quot;:705}"/>
</p:tagLst>
</file>

<file path=ppt/tags/tag581.xml><?xml version="1.0" encoding="utf-8"?>
<p:tagLst xmlns:p="http://schemas.openxmlformats.org/presentationml/2006/main">
  <p:tag name="KSO_WM_DIAGRAM_VIRTUALLY_FRAME" val="{&quot;height&quot;:323.31047244094486,&quot;left&quot;:112,&quot;top&quot;:126.19496062992125,&quot;width&quot;:705}"/>
</p:tagLst>
</file>

<file path=ppt/tags/tag582.xml><?xml version="1.0" encoding="utf-8"?>
<p:tagLst xmlns:p="http://schemas.openxmlformats.org/presentationml/2006/main">
  <p:tag name="KSO_WM_DIAGRAM_VIRTUALLY_FRAME" val="{&quot;height&quot;:323.31047244094486,&quot;left&quot;:112,&quot;top&quot;:126.19496062992125,&quot;width&quot;:705}"/>
</p:tagLst>
</file>

<file path=ppt/tags/tag583.xml><?xml version="1.0" encoding="utf-8"?>
<p:tagLst xmlns:p="http://schemas.openxmlformats.org/presentationml/2006/main">
  <p:tag name="KSO_WM_DIAGRAM_VIRTUALLY_FRAME" val="{&quot;height&quot;:323.31047244094486,&quot;left&quot;:112,&quot;top&quot;:126.19496062992125,&quot;width&quot;:705}"/>
</p:tagLst>
</file>

<file path=ppt/tags/tag584.xml><?xml version="1.0" encoding="utf-8"?>
<p:tagLst xmlns:p="http://schemas.openxmlformats.org/presentationml/2006/main">
  <p:tag name="KSO_WM_DIAGRAM_VIRTUALLY_FRAME" val="{&quot;height&quot;:323.31047244094486,&quot;left&quot;:112,&quot;top&quot;:126.19496062992125,&quot;width&quot;:705}"/>
</p:tagLst>
</file>

<file path=ppt/tags/tag585.xml><?xml version="1.0" encoding="utf-8"?>
<p:tagLst xmlns:p="http://schemas.openxmlformats.org/presentationml/2006/main">
  <p:tag name="KSO_WM_DIAGRAM_VIRTUALLY_FRAME" val="{&quot;height&quot;:323.31047244094486,&quot;left&quot;:112,&quot;top&quot;:126.19496062992125,&quot;width&quot;:705}"/>
</p:tagLst>
</file>

<file path=ppt/tags/tag586.xml><?xml version="1.0" encoding="utf-8"?>
<p:tagLst xmlns:p="http://schemas.openxmlformats.org/presentationml/2006/main">
  <p:tag name="KSO_WM_DIAGRAM_VIRTUALLY_FRAME" val="{&quot;height&quot;:323.31047244094486,&quot;left&quot;:112,&quot;top&quot;:126.19496062992125,&quot;width&quot;:705}"/>
</p:tagLst>
</file>

<file path=ppt/tags/tag587.xml><?xml version="1.0" encoding="utf-8"?>
<p:tagLst xmlns:p="http://schemas.openxmlformats.org/presentationml/2006/main">
  <p:tag name="KSO_WM_DIAGRAM_VIRTUALLY_FRAME" val="{&quot;height&quot;:323.31047244094486,&quot;left&quot;:112,&quot;top&quot;:126.19496062992125,&quot;width&quot;:705}"/>
</p:tagLst>
</file>

<file path=ppt/tags/tag588.xml><?xml version="1.0" encoding="utf-8"?>
<p:tagLst xmlns:p="http://schemas.openxmlformats.org/presentationml/2006/main">
  <p:tag name="KSO_WM_DIAGRAM_VIRTUALLY_FRAME" val="{&quot;height&quot;:323.31047244094486,&quot;left&quot;:112,&quot;top&quot;:126.19496062992125,&quot;width&quot;:705}"/>
</p:tagLst>
</file>

<file path=ppt/tags/tag589.xml><?xml version="1.0" encoding="utf-8"?>
<p:tagLst xmlns:p="http://schemas.openxmlformats.org/presentationml/2006/main">
  <p:tag name="KSO_WM_DIAGRAM_VIRTUALLY_FRAME" val="{&quot;height&quot;:323.31047244094486,&quot;left&quot;:112,&quot;top&quot;:126.19496062992125,&quot;width&quot;:705}"/>
</p:tagLst>
</file>

<file path=ppt/tags/tag590.xml><?xml version="1.0" encoding="utf-8"?>
<p:tagLst xmlns:p="http://schemas.openxmlformats.org/presentationml/2006/main">
  <p:tag name="KSO_WM_DIAGRAM_VIRTUALLY_FRAME" val="{&quot;height&quot;:323.31047244094486,&quot;left&quot;:112,&quot;top&quot;:126.19496062992125,&quot;width&quot;:705}"/>
</p:tagLst>
</file>

<file path=ppt/tags/tag591.xml><?xml version="1.0" encoding="utf-8"?>
<p:tagLst xmlns:p="http://schemas.openxmlformats.org/presentationml/2006/main">
  <p:tag name="KSO_WM_DIAGRAM_VIRTUALLY_FRAME" val="{&quot;height&quot;:323.31047244094486,&quot;left&quot;:112,&quot;top&quot;:126.19496062992125,&quot;width&quot;:705}"/>
</p:tagLst>
</file>

<file path=ppt/tags/tag592.xml><?xml version="1.0" encoding="utf-8"?>
<p:tagLst xmlns:p="http://schemas.openxmlformats.org/presentationml/2006/main">
  <p:tag name="KSO_WM_DIAGRAM_VIRTUALLY_FRAME" val="{&quot;height&quot;:323.31047244094486,&quot;left&quot;:112,&quot;top&quot;:126.19496062992125,&quot;width&quot;:705}"/>
</p:tagLst>
</file>

<file path=ppt/tags/tag593.xml><?xml version="1.0" encoding="utf-8"?>
<p:tagLst xmlns:p="http://schemas.openxmlformats.org/presentationml/2006/main">
  <p:tag name="KSO_WM_DIAGRAM_VIRTUALLY_FRAME" val="{&quot;height&quot;:323.31047244094486,&quot;left&quot;:112,&quot;top&quot;:126.19496062992125,&quot;width&quot;:705}"/>
</p:tagLst>
</file>

<file path=ppt/tags/tag594.xml><?xml version="1.0" encoding="utf-8"?>
<p:tagLst xmlns:p="http://schemas.openxmlformats.org/presentationml/2006/main">
  <p:tag name="KSO_WM_DIAGRAM_VIRTUALLY_FRAME" val="{&quot;height&quot;:323.31047244094486,&quot;left&quot;:112,&quot;top&quot;:126.19496062992125,&quot;width&quot;:705}"/>
</p:tagLst>
</file>

<file path=ppt/tags/tag595.xml><?xml version="1.0" encoding="utf-8"?>
<p:tagLst xmlns:p="http://schemas.openxmlformats.org/presentationml/2006/main">
  <p:tag name="KSO_WM_DIAGRAM_VIRTUALLY_FRAME" val="{&quot;height&quot;:323.31047244094486,&quot;left&quot;:112,&quot;top&quot;:126.19496062992125,&quot;width&quot;:705}"/>
</p:tagLst>
</file>

<file path=ppt/tags/tag596.xml><?xml version="1.0" encoding="utf-8"?>
<p:tagLst xmlns:p="http://schemas.openxmlformats.org/presentationml/2006/main">
  <p:tag name="KSO_WM_DIAGRAM_VIRTUALLY_FRAME" val="{&quot;height&quot;:323.31047244094486,&quot;left&quot;:112,&quot;top&quot;:126.19496062992125,&quot;width&quot;:705}"/>
</p:tagLst>
</file>

<file path=ppt/tags/tag597.xml><?xml version="1.0" encoding="utf-8"?>
<p:tagLst xmlns:p="http://schemas.openxmlformats.org/presentationml/2006/main">
  <p:tag name="KSO_WM_DIAGRAM_VIRTUALLY_FRAME" val="{&quot;height&quot;:323.31047244094486,&quot;left&quot;:112,&quot;top&quot;:126.19496062992125,&quot;width&quot;:705}"/>
</p:tagLst>
</file>

<file path=ppt/tags/tag598.xml><?xml version="1.0" encoding="utf-8"?>
<p:tagLst xmlns:p="http://schemas.openxmlformats.org/presentationml/2006/main">
  <p:tag name="KSO_WM_DIAGRAM_VIRTUALLY_FRAME" val="{&quot;height&quot;:323.31047244094486,&quot;left&quot;:112,&quot;top&quot;:126.19496062992125,&quot;width&quot;:705}"/>
</p:tagLst>
</file>

<file path=ppt/tags/tag599.xml><?xml version="1.0" encoding="utf-8"?>
<p:tagLst xmlns:p="http://schemas.openxmlformats.org/presentationml/2006/main">
  <p:tag name="KSO_WM_SLIDE_NOBEATY" val="1"/>
</p:tagLst>
</file>

<file path=ppt/tags/tag600.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1.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2.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3.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4.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5.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6.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7.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8.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9.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0.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1.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2.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3.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4.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5.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6.xml><?xml version="1.0" encoding="utf-8"?>
<p:tagLst xmlns:p="http://schemas.openxmlformats.org/presentationml/2006/main">
  <p:tag name="KSO_WM_SLIDE_NOBEATY" val="1"/>
</p:tagLst>
</file>

<file path=ppt/tags/tag617.xml><?xml version="1.0" encoding="utf-8"?>
<p:tagLst xmlns:p="http://schemas.openxmlformats.org/presentationml/2006/main">
  <p:tag name="KSO_WM_DIAGRAM_VIRTUALLY_FRAME" val="{&quot;height&quot;:315.7634908136482,&quot;left&quot;:79.21564304461943,&quot;top&quot;:129.05,&quot;width&quot;:841.057217847769}"/>
</p:tagLst>
</file>

<file path=ppt/tags/tag618.xml><?xml version="1.0" encoding="utf-8"?>
<p:tagLst xmlns:p="http://schemas.openxmlformats.org/presentationml/2006/main">
  <p:tag name="KSO_WM_DIAGRAM_VIRTUALLY_FRAME" val="{&quot;height&quot;:315.7634908136482,&quot;left&quot;:79.21564304461943,&quot;top&quot;:129.05,&quot;width&quot;:841.057217847769}"/>
</p:tagLst>
</file>

<file path=ppt/tags/tag619.xml><?xml version="1.0" encoding="utf-8"?>
<p:tagLst xmlns:p="http://schemas.openxmlformats.org/presentationml/2006/main">
  <p:tag name="KSO_WM_DIAGRAM_VIRTUALLY_FRAME" val="{&quot;height&quot;:315.7634908136482,&quot;left&quot;:79.21564304461943,&quot;top&quot;:129.05,&quot;width&quot;:841.057217847769}"/>
</p:tagLst>
</file>

<file path=ppt/tags/tag620.xml><?xml version="1.0" encoding="utf-8"?>
<p:tagLst xmlns:p="http://schemas.openxmlformats.org/presentationml/2006/main">
  <p:tag name="KSO_WM_DIAGRAM_VIRTUALLY_FRAME" val="{&quot;height&quot;:315.7634908136482,&quot;left&quot;:79.21564304461943,&quot;top&quot;:129.05,&quot;width&quot;:841.057217847769}"/>
</p:tagLst>
</file>

<file path=ppt/tags/tag621.xml><?xml version="1.0" encoding="utf-8"?>
<p:tagLst xmlns:p="http://schemas.openxmlformats.org/presentationml/2006/main">
  <p:tag name="KSO_WM_DIAGRAM_VIRTUALLY_FRAME" val="{&quot;height&quot;:315.7634908136482,&quot;left&quot;:79.21564304461943,&quot;top&quot;:129.05,&quot;width&quot;:841.057217847769}"/>
</p:tagLst>
</file>

<file path=ppt/tags/tag622.xml><?xml version="1.0" encoding="utf-8"?>
<p:tagLst xmlns:p="http://schemas.openxmlformats.org/presentationml/2006/main">
  <p:tag name="KSO_WM_DIAGRAM_VIRTUALLY_FRAME" val="{&quot;height&quot;:315.7634908136482,&quot;left&quot;:79.21564304461943,&quot;top&quot;:129.05,&quot;width&quot;:841.057217847769}"/>
</p:tagLst>
</file>

<file path=ppt/tags/tag623.xml><?xml version="1.0" encoding="utf-8"?>
<p:tagLst xmlns:p="http://schemas.openxmlformats.org/presentationml/2006/main">
  <p:tag name="KSO_WM_DIAGRAM_VIRTUALLY_FRAME" val="{&quot;height&quot;:315.7634908136482,&quot;left&quot;:79.21564304461943,&quot;top&quot;:129.05,&quot;width&quot;:841.057217847769}"/>
</p:tagLst>
</file>

<file path=ppt/tags/tag624.xml><?xml version="1.0" encoding="utf-8"?>
<p:tagLst xmlns:p="http://schemas.openxmlformats.org/presentationml/2006/main">
  <p:tag name="KSO_WM_DIAGRAM_VIRTUALLY_FRAME" val="{&quot;height&quot;:315.7634908136482,&quot;left&quot;:79.21564304461943,&quot;top&quot;:129.05,&quot;width&quot;:841.057217847769}"/>
</p:tagLst>
</file>

<file path=ppt/tags/tag625.xml><?xml version="1.0" encoding="utf-8"?>
<p:tagLst xmlns:p="http://schemas.openxmlformats.org/presentationml/2006/main">
  <p:tag name="KSO_WM_DIAGRAM_VIRTUALLY_FRAME" val="{&quot;height&quot;:315.7634908136482,&quot;left&quot;:79.21564304461943,&quot;top&quot;:129.05,&quot;width&quot;:841.057217847769}"/>
</p:tagLst>
</file>

<file path=ppt/tags/tag626.xml><?xml version="1.0" encoding="utf-8"?>
<p:tagLst xmlns:p="http://schemas.openxmlformats.org/presentationml/2006/main">
  <p:tag name="KSO_WM_DIAGRAM_VIRTUALLY_FRAME" val="{&quot;height&quot;:315.7634908136482,&quot;left&quot;:79.21564304461943,&quot;top&quot;:129.05,&quot;width&quot;:841.057217847769}"/>
</p:tagLst>
</file>

<file path=ppt/tags/tag627.xml><?xml version="1.0" encoding="utf-8"?>
<p:tagLst xmlns:p="http://schemas.openxmlformats.org/presentationml/2006/main">
  <p:tag name="KSO_WM_DIAGRAM_VIRTUALLY_FRAME" val="{&quot;height&quot;:315.7634908136482,&quot;left&quot;:79.21564304461943,&quot;top&quot;:129.05,&quot;width&quot;:841.057217847769}"/>
</p:tagLst>
</file>

<file path=ppt/tags/tag628.xml><?xml version="1.0" encoding="utf-8"?>
<p:tagLst xmlns:p="http://schemas.openxmlformats.org/presentationml/2006/main">
  <p:tag name="KSO_WM_DIAGRAM_VIRTUALLY_FRAME" val="{&quot;height&quot;:315.7634908136482,&quot;left&quot;:79.21564304461943,&quot;top&quot;:129.05,&quot;width&quot;:841.057217847769}"/>
</p:tagLst>
</file>

<file path=ppt/tags/tag629.xml><?xml version="1.0" encoding="utf-8"?>
<p:tagLst xmlns:p="http://schemas.openxmlformats.org/presentationml/2006/main">
  <p:tag name="KSO_WM_DIAGRAM_VIRTUALLY_FRAME" val="{&quot;height&quot;:315.7634908136482,&quot;left&quot;:79.21564304461943,&quot;top&quot;:129.05,&quot;width&quot;:841.057217847769}"/>
</p:tagLst>
</file>

<file path=ppt/tags/tag630.xml><?xml version="1.0" encoding="utf-8"?>
<p:tagLst xmlns:p="http://schemas.openxmlformats.org/presentationml/2006/main">
  <p:tag name="KSO_WM_DIAGRAM_VIRTUALLY_FRAME" val="{&quot;height&quot;:315.7634908136482,&quot;left&quot;:79.21564304461943,&quot;top&quot;:129.05,&quot;width&quot;:841.057217847769}"/>
</p:tagLst>
</file>

<file path=ppt/tags/tag631.xml><?xml version="1.0" encoding="utf-8"?>
<p:tagLst xmlns:p="http://schemas.openxmlformats.org/presentationml/2006/main">
  <p:tag name="KSO_WM_DIAGRAM_VIRTUALLY_FRAME" val="{&quot;height&quot;:315.7634908136482,&quot;left&quot;:79.21564304461943,&quot;top&quot;:129.05,&quot;width&quot;:841.057217847769}"/>
</p:tagLst>
</file>

<file path=ppt/tags/tag632.xml><?xml version="1.0" encoding="utf-8"?>
<p:tagLst xmlns:p="http://schemas.openxmlformats.org/presentationml/2006/main">
  <p:tag name="KSO_WM_DIAGRAM_VIRTUALLY_FRAME" val="{&quot;height&quot;:315.7634908136482,&quot;left&quot;:79.21564304461943,&quot;top&quot;:129.05,&quot;width&quot;:841.057217847769}"/>
</p:tagLst>
</file>

<file path=ppt/tags/tag633.xml><?xml version="1.0" encoding="utf-8"?>
<p:tagLst xmlns:p="http://schemas.openxmlformats.org/presentationml/2006/main">
  <p:tag name="KSO_WM_DIAGRAM_VIRTUALLY_FRAME" val="{&quot;height&quot;:315.7634908136482,&quot;left&quot;:79.21564304461943,&quot;top&quot;:129.05,&quot;width&quot;:841.057217847769}"/>
</p:tagLst>
</file>

<file path=ppt/tags/tag634.xml><?xml version="1.0" encoding="utf-8"?>
<p:tagLst xmlns:p="http://schemas.openxmlformats.org/presentationml/2006/main">
  <p:tag name="KSO_WM_DIAGRAM_VIRTUALLY_FRAME" val="{&quot;height&quot;:315.7634908136482,&quot;left&quot;:79.21564304461943,&quot;top&quot;:129.05,&quot;width&quot;:841.057217847769}"/>
</p:tagLst>
</file>

<file path=ppt/tags/tag635.xml><?xml version="1.0" encoding="utf-8"?>
<p:tagLst xmlns:p="http://schemas.openxmlformats.org/presentationml/2006/main">
  <p:tag name="KSO_WM_DIAGRAM_VIRTUALLY_FRAME" val="{&quot;height&quot;:315.7634908136482,&quot;left&quot;:79.21564304461943,&quot;top&quot;:129.05,&quot;width&quot;:841.057217847769}"/>
</p:tagLst>
</file>

<file path=ppt/tags/tag636.xml><?xml version="1.0" encoding="utf-8"?>
<p:tagLst xmlns:p="http://schemas.openxmlformats.org/presentationml/2006/main">
  <p:tag name="KSO_WM_DIAGRAM_VIRTUALLY_FRAME" val="{&quot;height&quot;:315.7634908136482,&quot;left&quot;:79.21564304461943,&quot;top&quot;:129.05,&quot;width&quot;:841.057217847769}"/>
</p:tagLst>
</file>

<file path=ppt/tags/tag637.xml><?xml version="1.0" encoding="utf-8"?>
<p:tagLst xmlns:p="http://schemas.openxmlformats.org/presentationml/2006/main">
  <p:tag name="KSO_WM_DIAGRAM_VIRTUALLY_FRAME" val="{&quot;height&quot;:315.7634908136482,&quot;left&quot;:79.21564304461943,&quot;top&quot;:129.05,&quot;width&quot;:841.057217847769}"/>
</p:tagLst>
</file>

<file path=ppt/tags/tag638.xml><?xml version="1.0" encoding="utf-8"?>
<p:tagLst xmlns:p="http://schemas.openxmlformats.org/presentationml/2006/main">
  <p:tag name="KSO_WM_SLIDE_NOBEATY" val="1"/>
</p:tagLst>
</file>

<file path=ppt/tags/tag63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1.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2.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3.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4.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5.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6.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7.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8.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1.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2.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3.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4.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5.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6.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7.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8.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6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61.xml><?xml version="1.0" encoding="utf-8"?>
<p:tagLst xmlns:p="http://schemas.openxmlformats.org/presentationml/2006/main">
  <p:tag name="KSO_WM_SLIDE_NOBEATY" val="1"/>
</p:tagLst>
</file>

<file path=ppt/tags/tag662.xml><?xml version="1.0" encoding="utf-8"?>
<p:tagLst xmlns:p="http://schemas.openxmlformats.org/presentationml/2006/main">
  <p:tag name="KSO_WM_DIAGRAM_VIRTUALLY_FRAME" val="{&quot;height&quot;:391.25209258841284,&quot;left&quot;:-5.05,&quot;top&quot;:146.09999999999997,&quot;width&quot;:1022.1482677165353}"/>
</p:tagLst>
</file>

<file path=ppt/tags/tag663.xml><?xml version="1.0" encoding="utf-8"?>
<p:tagLst xmlns:p="http://schemas.openxmlformats.org/presentationml/2006/main">
  <p:tag name="KSO_WM_DIAGRAM_VIRTUALLY_FRAME" val="{&quot;height&quot;:391.25209258841284,&quot;left&quot;:-5.05,&quot;top&quot;:146.09999999999997,&quot;width&quot;:1022.1482677165353}"/>
</p:tagLst>
</file>

<file path=ppt/tags/tag664.xml><?xml version="1.0" encoding="utf-8"?>
<p:tagLst xmlns:p="http://schemas.openxmlformats.org/presentationml/2006/main">
  <p:tag name="KSO_WM_DIAGRAM_VIRTUALLY_FRAME" val="{&quot;height&quot;:391.25209258841284,&quot;left&quot;:-5.05,&quot;top&quot;:146.09999999999997,&quot;width&quot;:1022.1482677165353}"/>
</p:tagLst>
</file>

<file path=ppt/tags/tag665.xml><?xml version="1.0" encoding="utf-8"?>
<p:tagLst xmlns:p="http://schemas.openxmlformats.org/presentationml/2006/main">
  <p:tag name="KSO_WM_DIAGRAM_VIRTUALLY_FRAME" val="{&quot;height&quot;:391.25209258841284,&quot;left&quot;:-5.05,&quot;top&quot;:146.09999999999997,&quot;width&quot;:1022.1482677165353}"/>
</p:tagLst>
</file>

<file path=ppt/tags/tag666.xml><?xml version="1.0" encoding="utf-8"?>
<p:tagLst xmlns:p="http://schemas.openxmlformats.org/presentationml/2006/main">
  <p:tag name="KSO_WM_DIAGRAM_VIRTUALLY_FRAME" val="{&quot;height&quot;:391.25209258841284,&quot;left&quot;:-5.05,&quot;top&quot;:146.09999999999997,&quot;width&quot;:1022.1482677165353}"/>
</p:tagLst>
</file>

<file path=ppt/tags/tag667.xml><?xml version="1.0" encoding="utf-8"?>
<p:tagLst xmlns:p="http://schemas.openxmlformats.org/presentationml/2006/main">
  <p:tag name="KSO_WM_DIAGRAM_VIRTUALLY_FRAME" val="{&quot;height&quot;:391.25209258841284,&quot;left&quot;:-5.05,&quot;top&quot;:146.09999999999997,&quot;width&quot;:1022.1482677165353}"/>
</p:tagLst>
</file>

<file path=ppt/tags/tag668.xml><?xml version="1.0" encoding="utf-8"?>
<p:tagLst xmlns:p="http://schemas.openxmlformats.org/presentationml/2006/main">
  <p:tag name="KSO_WM_DIAGRAM_VIRTUALLY_FRAME" val="{&quot;height&quot;:391.25209258841284,&quot;left&quot;:-5.05,&quot;top&quot;:146.09999999999997,&quot;width&quot;:1022.1482677165353}"/>
</p:tagLst>
</file>

<file path=ppt/tags/tag669.xml><?xml version="1.0" encoding="utf-8"?>
<p:tagLst xmlns:p="http://schemas.openxmlformats.org/presentationml/2006/main">
  <p:tag name="KSO_WM_DIAGRAM_VIRTUALLY_FRAME" val="{&quot;height&quot;:391.25209258841284,&quot;left&quot;:-5.05,&quot;top&quot;:146.09999999999997,&quot;width&quot;:1022.1482677165353}"/>
</p:tagLst>
</file>

<file path=ppt/tags/tag670.xml><?xml version="1.0" encoding="utf-8"?>
<p:tagLst xmlns:p="http://schemas.openxmlformats.org/presentationml/2006/main">
  <p:tag name="KSO_WM_DIAGRAM_VIRTUALLY_FRAME" val="{&quot;height&quot;:391.25209258841284,&quot;left&quot;:-5.05,&quot;top&quot;:146.09999999999997,&quot;width&quot;:1022.1482677165353}"/>
</p:tagLst>
</file>

<file path=ppt/tags/tag671.xml><?xml version="1.0" encoding="utf-8"?>
<p:tagLst xmlns:p="http://schemas.openxmlformats.org/presentationml/2006/main">
  <p:tag name="KSO_WM_DIAGRAM_VIRTUALLY_FRAME" val="{&quot;height&quot;:391.25209258841284,&quot;left&quot;:-5.05,&quot;top&quot;:146.09999999999997,&quot;width&quot;:1022.1482677165353}"/>
</p:tagLst>
</file>

<file path=ppt/tags/tag672.xml><?xml version="1.0" encoding="utf-8"?>
<p:tagLst xmlns:p="http://schemas.openxmlformats.org/presentationml/2006/main">
  <p:tag name="KSO_WM_DIAGRAM_VIRTUALLY_FRAME" val="{&quot;height&quot;:391.25209258841284,&quot;left&quot;:-5.05,&quot;top&quot;:146.09999999999997,&quot;width&quot;:1022.1482677165353}"/>
</p:tagLst>
</file>

<file path=ppt/tags/tag673.xml><?xml version="1.0" encoding="utf-8"?>
<p:tagLst xmlns:p="http://schemas.openxmlformats.org/presentationml/2006/main">
  <p:tag name="KSO_WM_DIAGRAM_VIRTUALLY_FRAME" val="{&quot;height&quot;:391.25209258841284,&quot;left&quot;:-5.05,&quot;top&quot;:146.09999999999997,&quot;width&quot;:1022.1482677165353}"/>
</p:tagLst>
</file>

<file path=ppt/tags/tag674.xml><?xml version="1.0" encoding="utf-8"?>
<p:tagLst xmlns:p="http://schemas.openxmlformats.org/presentationml/2006/main">
  <p:tag name="KSO_WM_DIAGRAM_VIRTUALLY_FRAME" val="{&quot;height&quot;:391.25209258841284,&quot;left&quot;:-5.05,&quot;top&quot;:146.09999999999997,&quot;width&quot;:1022.1482677165353}"/>
</p:tagLst>
</file>

<file path=ppt/tags/tag675.xml><?xml version="1.0" encoding="utf-8"?>
<p:tagLst xmlns:p="http://schemas.openxmlformats.org/presentationml/2006/main">
  <p:tag name="KSO_WM_DIAGRAM_VIRTUALLY_FRAME" val="{&quot;height&quot;:391.25209258841284,&quot;left&quot;:-5.05,&quot;top&quot;:146.09999999999997,&quot;width&quot;:1022.1482677165353}"/>
</p:tagLst>
</file>

<file path=ppt/tags/tag676.xml><?xml version="1.0" encoding="utf-8"?>
<p:tagLst xmlns:p="http://schemas.openxmlformats.org/presentationml/2006/main">
  <p:tag name="KSO_WM_DIAGRAM_VIRTUALLY_FRAME" val="{&quot;height&quot;:391.25209258841284,&quot;left&quot;:-5.05,&quot;top&quot;:146.09999999999997,&quot;width&quot;:1022.1482677165353}"/>
</p:tagLst>
</file>

<file path=ppt/tags/tag677.xml><?xml version="1.0" encoding="utf-8"?>
<p:tagLst xmlns:p="http://schemas.openxmlformats.org/presentationml/2006/main">
  <p:tag name="KSO_WM_DIAGRAM_VIRTUALLY_FRAME" val="{&quot;height&quot;:391.25209258841284,&quot;left&quot;:-5.05,&quot;top&quot;:146.09999999999997,&quot;width&quot;:1022.1482677165353}"/>
</p:tagLst>
</file>

<file path=ppt/tags/tag678.xml><?xml version="1.0" encoding="utf-8"?>
<p:tagLst xmlns:p="http://schemas.openxmlformats.org/presentationml/2006/main">
  <p:tag name="KSO_WM_DIAGRAM_VIRTUALLY_FRAME" val="{&quot;height&quot;:391.25209258841284,&quot;left&quot;:-5.05,&quot;top&quot;:146.09999999999997,&quot;width&quot;:1022.1482677165353}"/>
</p:tagLst>
</file>

<file path=ppt/tags/tag679.xml><?xml version="1.0" encoding="utf-8"?>
<p:tagLst xmlns:p="http://schemas.openxmlformats.org/presentationml/2006/main">
  <p:tag name="KSO_WM_DIAGRAM_VIRTUALLY_FRAME" val="{&quot;height&quot;:391.25209258841284,&quot;left&quot;:-5.05,&quot;top&quot;:146.09999999999997,&quot;width&quot;:1022.1482677165353}"/>
</p:tagLst>
</file>

<file path=ppt/tags/tag680.xml><?xml version="1.0" encoding="utf-8"?>
<p:tagLst xmlns:p="http://schemas.openxmlformats.org/presentationml/2006/main">
  <p:tag name="KSO_WM_DIAGRAM_VIRTUALLY_FRAME" val="{&quot;height&quot;:391.25209258841284,&quot;left&quot;:-5.05,&quot;top&quot;:146.09999999999997,&quot;width&quot;:1022.1482677165353}"/>
</p:tagLst>
</file>

<file path=ppt/tags/tag681.xml><?xml version="1.0" encoding="utf-8"?>
<p:tagLst xmlns:p="http://schemas.openxmlformats.org/presentationml/2006/main">
  <p:tag name="KSO_WM_DIAGRAM_VIRTUALLY_FRAME" val="{&quot;height&quot;:391.25209258841284,&quot;left&quot;:-5.05,&quot;top&quot;:146.09999999999997,&quot;width&quot;:1022.1482677165353}"/>
</p:tagLst>
</file>

<file path=ppt/tags/tag682.xml><?xml version="1.0" encoding="utf-8"?>
<p:tagLst xmlns:p="http://schemas.openxmlformats.org/presentationml/2006/main">
  <p:tag name="KSO_WM_DIAGRAM_VIRTUALLY_FRAME" val="{&quot;height&quot;:391.25209258841284,&quot;left&quot;:-5.05,&quot;top&quot;:146.09999999999997,&quot;width&quot;:1022.1482677165353}"/>
</p:tagLst>
</file>

<file path=ppt/tags/tag683.xml><?xml version="1.0" encoding="utf-8"?>
<p:tagLst xmlns:p="http://schemas.openxmlformats.org/presentationml/2006/main">
  <p:tag name="KSO_WM_DIAGRAM_VIRTUALLY_FRAME" val="{&quot;height&quot;:391.25209258841284,&quot;left&quot;:-5.05,&quot;top&quot;:146.09999999999997,&quot;width&quot;:1022.1482677165353}"/>
</p:tagLst>
</file>

<file path=ppt/tags/tag684.xml><?xml version="1.0" encoding="utf-8"?>
<p:tagLst xmlns:p="http://schemas.openxmlformats.org/presentationml/2006/main">
  <p:tag name="KSO_WM_DIAGRAM_VIRTUALLY_FRAME" val="{&quot;height&quot;:391.25209258841284,&quot;left&quot;:-5.05,&quot;top&quot;:146.09999999999997,&quot;width&quot;:1022.1482677165353}"/>
</p:tagLst>
</file>

<file path=ppt/tags/tag685.xml><?xml version="1.0" encoding="utf-8"?>
<p:tagLst xmlns:p="http://schemas.openxmlformats.org/presentationml/2006/main">
  <p:tag name="KSO_WM_DIAGRAM_VIRTUALLY_FRAME" val="{&quot;height&quot;:391.25209258841284,&quot;left&quot;:-5.05,&quot;top&quot;:146.09999999999997,&quot;width&quot;:1022.1482677165353}"/>
</p:tagLst>
</file>

<file path=ppt/tags/tag686.xml><?xml version="1.0" encoding="utf-8"?>
<p:tagLst xmlns:p="http://schemas.openxmlformats.org/presentationml/2006/main">
  <p:tag name="KSO_WM_DIAGRAM_VIRTUALLY_FRAME" val="{&quot;height&quot;:391.25209258841284,&quot;left&quot;:-5.05,&quot;top&quot;:146.09999999999997,&quot;width&quot;:1022.1482677165353}"/>
</p:tagLst>
</file>

<file path=ppt/tags/tag687.xml><?xml version="1.0" encoding="utf-8"?>
<p:tagLst xmlns:p="http://schemas.openxmlformats.org/presentationml/2006/main">
  <p:tag name="KSO_WM_DIAGRAM_VIRTUALLY_FRAME" val="{&quot;height&quot;:391.25209258841284,&quot;left&quot;:-5.05,&quot;top&quot;:146.09999999999997,&quot;width&quot;:1022.1482677165353}"/>
</p:tagLst>
</file>

<file path=ppt/tags/tag688.xml><?xml version="1.0" encoding="utf-8"?>
<p:tagLst xmlns:p="http://schemas.openxmlformats.org/presentationml/2006/main">
  <p:tag name="KSO_WM_DIAGRAM_VIRTUALLY_FRAME" val="{&quot;height&quot;:391.25209258841284,&quot;left&quot;:-5.05,&quot;top&quot;:146.09999999999997,&quot;width&quot;:1022.1482677165353}"/>
</p:tagLst>
</file>

<file path=ppt/tags/tag689.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690.xml><?xml version="1.0" encoding="utf-8"?>
<p:tagLst xmlns:p="http://schemas.openxmlformats.org/presentationml/2006/main">
  <p:tag name="KSO_WM_DIAGRAM_VIRTUALLY_FRAME" val="{&quot;height&quot;:297.75,&quot;left&quot;:90.55,&quot;top&quot;:163.8,&quot;width&quot;:778.95}"/>
</p:tagLst>
</file>

<file path=ppt/tags/tag691.xml><?xml version="1.0" encoding="utf-8"?>
<p:tagLst xmlns:p="http://schemas.openxmlformats.org/presentationml/2006/main">
  <p:tag name="KSO_WM_DIAGRAM_VIRTUALLY_FRAME" val="{&quot;height&quot;:297.75,&quot;left&quot;:90.55,&quot;top&quot;:163.8,&quot;width&quot;:778.95}"/>
</p:tagLst>
</file>

<file path=ppt/tags/tag692.xml><?xml version="1.0" encoding="utf-8"?>
<p:tagLst xmlns:p="http://schemas.openxmlformats.org/presentationml/2006/main">
  <p:tag name="KSO_WM_DIAGRAM_VIRTUALLY_FRAME" val="{&quot;height&quot;:297.75,&quot;left&quot;:90.55,&quot;top&quot;:163.8,&quot;width&quot;:778.95}"/>
</p:tagLst>
</file>

<file path=ppt/tags/tag693.xml><?xml version="1.0" encoding="utf-8"?>
<p:tagLst xmlns:p="http://schemas.openxmlformats.org/presentationml/2006/main">
  <p:tag name="KSO_WM_DIAGRAM_VIRTUALLY_FRAME" val="{&quot;height&quot;:297.75,&quot;left&quot;:90.55,&quot;top&quot;:163.8,&quot;width&quot;:778.95}"/>
</p:tagLst>
</file>

<file path=ppt/tags/tag694.xml><?xml version="1.0" encoding="utf-8"?>
<p:tagLst xmlns:p="http://schemas.openxmlformats.org/presentationml/2006/main">
  <p:tag name="KSO_WM_DIAGRAM_VIRTUALLY_FRAME" val="{&quot;height&quot;:297.75,&quot;left&quot;:90.55,&quot;top&quot;:163.8,&quot;width&quot;:778.95}"/>
</p:tagLst>
</file>

<file path=ppt/tags/tag695.xml><?xml version="1.0" encoding="utf-8"?>
<p:tagLst xmlns:p="http://schemas.openxmlformats.org/presentationml/2006/main">
  <p:tag name="KSO_WM_DIAGRAM_VIRTUALLY_FRAME" val="{&quot;height&quot;:297.75,&quot;left&quot;:90.55,&quot;top&quot;:163.8,&quot;width&quot;:778.95}"/>
</p:tagLst>
</file>

<file path=ppt/tags/tag696.xml><?xml version="1.0" encoding="utf-8"?>
<p:tagLst xmlns:p="http://schemas.openxmlformats.org/presentationml/2006/main">
  <p:tag name="KSO_WM_DIAGRAM_VIRTUALLY_FRAME" val="{&quot;height&quot;:297.75,&quot;left&quot;:90.55,&quot;top&quot;:163.8,&quot;width&quot;:778.95}"/>
</p:tagLst>
</file>

<file path=ppt/tags/tag697.xml><?xml version="1.0" encoding="utf-8"?>
<p:tagLst xmlns:p="http://schemas.openxmlformats.org/presentationml/2006/main">
  <p:tag name="KSO_WM_DIAGRAM_VIRTUALLY_FRAME" val="{&quot;height&quot;:297.75,&quot;left&quot;:90.55,&quot;top&quot;:163.8,&quot;width&quot;:778.95}"/>
</p:tagLst>
</file>

<file path=ppt/tags/tag698.xml><?xml version="1.0" encoding="utf-8"?>
<p:tagLst xmlns:p="http://schemas.openxmlformats.org/presentationml/2006/main">
  <p:tag name="KSO_WM_DIAGRAM_VIRTUALLY_FRAME" val="{&quot;height&quot;:297.75,&quot;left&quot;:90.55,&quot;top&quot;:163.8,&quot;width&quot;:778.95}"/>
</p:tagLst>
</file>

<file path=ppt/tags/tag699.xml><?xml version="1.0" encoding="utf-8"?>
<p:tagLst xmlns:p="http://schemas.openxmlformats.org/presentationml/2006/main">
  <p:tag name="KSO_WM_DIAGRAM_VIRTUALLY_FRAME" val="{&quot;height&quot;:297.75,&quot;left&quot;:90.55,&quot;top&quot;:163.8,&quot;width&quot;:778.95}"/>
</p:tagLst>
</file>

<file path=ppt/tags/tag700.xml><?xml version="1.0" encoding="utf-8"?>
<p:tagLst xmlns:p="http://schemas.openxmlformats.org/presentationml/2006/main">
  <p:tag name="KSO_WM_DIAGRAM_VIRTUALLY_FRAME" val="{&quot;height&quot;:297.75,&quot;left&quot;:90.55,&quot;top&quot;:163.8,&quot;width&quot;:778.95}"/>
</p:tagLst>
</file>

<file path=ppt/tags/tag701.xml><?xml version="1.0" encoding="utf-8"?>
<p:tagLst xmlns:p="http://schemas.openxmlformats.org/presentationml/2006/main">
  <p:tag name="KSO_WM_DIAGRAM_VIRTUALLY_FRAME" val="{&quot;height&quot;:297.75,&quot;left&quot;:90.55,&quot;top&quot;:163.8,&quot;width&quot;:778.95}"/>
</p:tagLst>
</file>

<file path=ppt/tags/tag702.xml><?xml version="1.0" encoding="utf-8"?>
<p:tagLst xmlns:p="http://schemas.openxmlformats.org/presentationml/2006/main">
  <p:tag name="KSO_WM_DIAGRAM_VIRTUALLY_FRAME" val="{&quot;height&quot;:297.75,&quot;left&quot;:90.55,&quot;top&quot;:163.8,&quot;width&quot;:778.95}"/>
</p:tagLst>
</file>

<file path=ppt/tags/tag703.xml><?xml version="1.0" encoding="utf-8"?>
<p:tagLst xmlns:p="http://schemas.openxmlformats.org/presentationml/2006/main">
  <p:tag name="KSO_WM_DIAGRAM_VIRTUALLY_FRAME" val="{&quot;height&quot;:297.75,&quot;left&quot;:90.55,&quot;top&quot;:163.8,&quot;width&quot;:778.95}"/>
</p:tagLst>
</file>

<file path=ppt/tags/tag704.xml><?xml version="1.0" encoding="utf-8"?>
<p:tagLst xmlns:p="http://schemas.openxmlformats.org/presentationml/2006/main">
  <p:tag name="KSO_WM_DIAGRAM_VIRTUALLY_FRAME" val="{&quot;height&quot;:297.75,&quot;left&quot;:90.55,&quot;top&quot;:163.8,&quot;width&quot;:778.95}"/>
</p:tagLst>
</file>

<file path=ppt/tags/tag705.xml><?xml version="1.0" encoding="utf-8"?>
<p:tagLst xmlns:p="http://schemas.openxmlformats.org/presentationml/2006/main">
  <p:tag name="KSO_WM_DIAGRAM_VIRTUALLY_FRAME" val="{&quot;height&quot;:297.75,&quot;left&quot;:90.55,&quot;top&quot;:163.8,&quot;width&quot;:778.95}"/>
</p:tagLst>
</file>

<file path=ppt/tags/tag706.xml><?xml version="1.0" encoding="utf-8"?>
<p:tagLst xmlns:p="http://schemas.openxmlformats.org/presentationml/2006/main">
  <p:tag name="KSO_WM_DIAGRAM_VIRTUALLY_FRAME" val="{&quot;height&quot;:297.75,&quot;left&quot;:90.55,&quot;top&quot;:163.8,&quot;width&quot;:778.95}"/>
</p:tagLst>
</file>

<file path=ppt/tags/tag707.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08.xml><?xml version="1.0" encoding="utf-8"?>
<p:tagLst xmlns:p="http://schemas.openxmlformats.org/presentationml/2006/main">
  <p:tag name="KSO_WM_DIAGRAM_VIRTUALLY_FRAME" val="{&quot;height&quot;:297.625,&quot;left&quot;:83.225,&quot;top&quot;:112.6,&quot;width&quot;:812.4}"/>
</p:tagLst>
</file>

<file path=ppt/tags/tag709.xml><?xml version="1.0" encoding="utf-8"?>
<p:tagLst xmlns:p="http://schemas.openxmlformats.org/presentationml/2006/main">
  <p:tag name="KSO_WM_DIAGRAM_VIRTUALLY_FRAME" val="{&quot;height&quot;:297.625,&quot;left&quot;:83.225,&quot;top&quot;:112.6,&quot;width&quot;:812.4}"/>
</p:tagLst>
</file>

<file path=ppt/tags/tag710.xml><?xml version="1.0" encoding="utf-8"?>
<p:tagLst xmlns:p="http://schemas.openxmlformats.org/presentationml/2006/main">
  <p:tag name="KSO_WM_DIAGRAM_VIRTUALLY_FRAME" val="{&quot;height&quot;:297.625,&quot;left&quot;:83.225,&quot;top&quot;:112.6,&quot;width&quot;:812.4}"/>
</p:tagLst>
</file>

<file path=ppt/tags/tag711.xml><?xml version="1.0" encoding="utf-8"?>
<p:tagLst xmlns:p="http://schemas.openxmlformats.org/presentationml/2006/main">
  <p:tag name="KSO_WM_DIAGRAM_VIRTUALLY_FRAME" val="{&quot;height&quot;:297.625,&quot;left&quot;:83.225,&quot;top&quot;:112.6,&quot;width&quot;:812.4}"/>
</p:tagLst>
</file>

<file path=ppt/tags/tag712.xml><?xml version="1.0" encoding="utf-8"?>
<p:tagLst xmlns:p="http://schemas.openxmlformats.org/presentationml/2006/main">
  <p:tag name="KSO_WM_DIAGRAM_VIRTUALLY_FRAME" val="{&quot;height&quot;:297.625,&quot;left&quot;:83.225,&quot;top&quot;:112.6,&quot;width&quot;:812.4}"/>
</p:tagLst>
</file>

<file path=ppt/tags/tag713.xml><?xml version="1.0" encoding="utf-8"?>
<p:tagLst xmlns:p="http://schemas.openxmlformats.org/presentationml/2006/main">
  <p:tag name="KSO_WM_DIAGRAM_VIRTUALLY_FRAME" val="{&quot;height&quot;:297.625,&quot;left&quot;:83.225,&quot;top&quot;:112.6,&quot;width&quot;:812.4}"/>
</p:tagLst>
</file>

<file path=ppt/tags/tag714.xml><?xml version="1.0" encoding="utf-8"?>
<p:tagLst xmlns:p="http://schemas.openxmlformats.org/presentationml/2006/main">
  <p:tag name="KSO_WM_DIAGRAM_VIRTUALLY_FRAME" val="{&quot;height&quot;:297.625,&quot;left&quot;:83.225,&quot;top&quot;:112.6,&quot;width&quot;:812.4}"/>
</p:tagLst>
</file>

<file path=ppt/tags/tag715.xml><?xml version="1.0" encoding="utf-8"?>
<p:tagLst xmlns:p="http://schemas.openxmlformats.org/presentationml/2006/main">
  <p:tag name="KSO_WM_DIAGRAM_VIRTUALLY_FRAME" val="{&quot;height&quot;:297.625,&quot;left&quot;:83.225,&quot;top&quot;:112.6,&quot;width&quot;:812.4}"/>
</p:tagLst>
</file>

<file path=ppt/tags/tag716.xml><?xml version="1.0" encoding="utf-8"?>
<p:tagLst xmlns:p="http://schemas.openxmlformats.org/presentationml/2006/main">
  <p:tag name="KSO_WM_DIAGRAM_VIRTUALLY_FRAME" val="{&quot;height&quot;:297.625,&quot;left&quot;:83.225,&quot;top&quot;:112.6,&quot;width&quot;:812.4}"/>
</p:tagLst>
</file>

<file path=ppt/tags/tag717.xml><?xml version="1.0" encoding="utf-8"?>
<p:tagLst xmlns:p="http://schemas.openxmlformats.org/presentationml/2006/main">
  <p:tag name="KSO_WM_DIAGRAM_VIRTUALLY_FRAME" val="{&quot;height&quot;:297.625,&quot;left&quot;:83.225,&quot;top&quot;:112.6,&quot;width&quot;:812.4}"/>
</p:tagLst>
</file>

<file path=ppt/tags/tag718.xml><?xml version="1.0" encoding="utf-8"?>
<p:tagLst xmlns:p="http://schemas.openxmlformats.org/presentationml/2006/main">
  <p:tag name="KSO_WM_DIAGRAM_VIRTUALLY_FRAME" val="{&quot;height&quot;:297.625,&quot;left&quot;:83.225,&quot;top&quot;:112.6,&quot;width&quot;:812.4}"/>
</p:tagLst>
</file>

<file path=ppt/tags/tag719.xml><?xml version="1.0" encoding="utf-8"?>
<p:tagLst xmlns:p="http://schemas.openxmlformats.org/presentationml/2006/main">
  <p:tag name="KSO_WM_DIAGRAM_VIRTUALLY_FRAME" val="{&quot;height&quot;:297.625,&quot;left&quot;:83.225,&quot;top&quot;:112.6,&quot;width&quot;:812.4}"/>
</p:tagLst>
</file>

<file path=ppt/tags/tag720.xml><?xml version="1.0" encoding="utf-8"?>
<p:tagLst xmlns:p="http://schemas.openxmlformats.org/presentationml/2006/main">
  <p:tag name="KSO_WM_DIAGRAM_VIRTUALLY_FRAME" val="{&quot;height&quot;:297.625,&quot;left&quot;:83.225,&quot;top&quot;:112.6,&quot;width&quot;:812.4}"/>
</p:tagLst>
</file>

<file path=ppt/tags/tag721.xml><?xml version="1.0" encoding="utf-8"?>
<p:tagLst xmlns:p="http://schemas.openxmlformats.org/presentationml/2006/main">
  <p:tag name="KSO_WM_DIAGRAM_VIRTUALLY_FRAME" val="{&quot;height&quot;:297.625,&quot;left&quot;:83.225,&quot;top&quot;:112.6,&quot;width&quot;:812.4}"/>
</p:tagLst>
</file>

<file path=ppt/tags/tag722.xml><?xml version="1.0" encoding="utf-8"?>
<p:tagLst xmlns:p="http://schemas.openxmlformats.org/presentationml/2006/main">
  <p:tag name="KSO_WM_DIAGRAM_VIRTUALLY_FRAME" val="{&quot;height&quot;:297.625,&quot;left&quot;:83.225,&quot;top&quot;:112.6,&quot;width&quot;:812.4}"/>
</p:tagLst>
</file>

<file path=ppt/tags/tag723.xml><?xml version="1.0" encoding="utf-8"?>
<p:tagLst xmlns:p="http://schemas.openxmlformats.org/presentationml/2006/main">
  <p:tag name="KSO_WM_DIAGRAM_VIRTUALLY_FRAME" val="{&quot;height&quot;:297.625,&quot;left&quot;:83.225,&quot;top&quot;:112.6,&quot;width&quot;:812.4}"/>
</p:tagLst>
</file>

<file path=ppt/tags/tag724.xml><?xml version="1.0" encoding="utf-8"?>
<p:tagLst xmlns:p="http://schemas.openxmlformats.org/presentationml/2006/main">
  <p:tag name="KSO_WM_DIAGRAM_VIRTUALLY_FRAME" val="{&quot;height&quot;:297.625,&quot;left&quot;:83.225,&quot;top&quot;:112.6,&quot;width&quot;:812.4}"/>
</p:tagLst>
</file>

<file path=ppt/tags/tag725.xml><?xml version="1.0" encoding="utf-8"?>
<p:tagLst xmlns:p="http://schemas.openxmlformats.org/presentationml/2006/main">
  <p:tag name="KSO_WM_DIAGRAM_VIRTUALLY_FRAME" val="{&quot;height&quot;:297.625,&quot;left&quot;:83.225,&quot;top&quot;:112.6,&quot;width&quot;:812.4}"/>
</p:tagLst>
</file>

<file path=ppt/tags/tag726.xml><?xml version="1.0" encoding="utf-8"?>
<p:tagLst xmlns:p="http://schemas.openxmlformats.org/presentationml/2006/main">
  <p:tag name="KSO_WM_DIAGRAM_VIRTUALLY_FRAME" val="{&quot;height&quot;:297.625,&quot;left&quot;:83.225,&quot;top&quot;:112.6,&quot;width&quot;:812.4}"/>
</p:tagLst>
</file>

<file path=ppt/tags/tag727.xml><?xml version="1.0" encoding="utf-8"?>
<p:tagLst xmlns:p="http://schemas.openxmlformats.org/presentationml/2006/main">
  <p:tag name="KSO_WM_DIAGRAM_VIRTUALLY_FRAME" val="{&quot;height&quot;:297.625,&quot;left&quot;:83.225,&quot;top&quot;:112.6,&quot;width&quot;:812.4}"/>
</p:tagLst>
</file>

<file path=ppt/tags/tag728.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29.xml><?xml version="1.0" encoding="utf-8"?>
<p:tagLst xmlns:p="http://schemas.openxmlformats.org/presentationml/2006/main">
  <p:tag name="KSO_WM_DIAGRAM_VIRTUALLY_FRAME" val="{&quot;height&quot;:363.85,&quot;left&quot;:119.7,&quot;top&quot;:133.15,&quot;width&quot;:720.6}"/>
</p:tagLst>
</file>

<file path=ppt/tags/tag730.xml><?xml version="1.0" encoding="utf-8"?>
<p:tagLst xmlns:p="http://schemas.openxmlformats.org/presentationml/2006/main">
  <p:tag name="KSO_WM_DIAGRAM_VIRTUALLY_FRAME" val="{&quot;height&quot;:363.85,&quot;left&quot;:119.7,&quot;top&quot;:133.15,&quot;width&quot;:720.6}"/>
</p:tagLst>
</file>

<file path=ppt/tags/tag731.xml><?xml version="1.0" encoding="utf-8"?>
<p:tagLst xmlns:p="http://schemas.openxmlformats.org/presentationml/2006/main">
  <p:tag name="KSO_WM_DIAGRAM_VIRTUALLY_FRAME" val="{&quot;height&quot;:363.85,&quot;left&quot;:119.7,&quot;top&quot;:133.15,&quot;width&quot;:720.6}"/>
</p:tagLst>
</file>

<file path=ppt/tags/tag732.xml><?xml version="1.0" encoding="utf-8"?>
<p:tagLst xmlns:p="http://schemas.openxmlformats.org/presentationml/2006/main">
  <p:tag name="KSO_WM_DIAGRAM_VIRTUALLY_FRAME" val="{&quot;height&quot;:363.85,&quot;left&quot;:119.7,&quot;top&quot;:133.15,&quot;width&quot;:720.6}"/>
</p:tagLst>
</file>

<file path=ppt/tags/tag733.xml><?xml version="1.0" encoding="utf-8"?>
<p:tagLst xmlns:p="http://schemas.openxmlformats.org/presentationml/2006/main">
  <p:tag name="KSO_WM_DIAGRAM_VIRTUALLY_FRAME" val="{&quot;height&quot;:363.85,&quot;left&quot;:119.7,&quot;top&quot;:133.15,&quot;width&quot;:720.6}"/>
</p:tagLst>
</file>

<file path=ppt/tags/tag734.xml><?xml version="1.0" encoding="utf-8"?>
<p:tagLst xmlns:p="http://schemas.openxmlformats.org/presentationml/2006/main">
  <p:tag name="KSO_WM_DIAGRAM_VIRTUALLY_FRAME" val="{&quot;height&quot;:363.85,&quot;left&quot;:119.7,&quot;top&quot;:133.15,&quot;width&quot;:720.6}"/>
</p:tagLst>
</file>

<file path=ppt/tags/tag735.xml><?xml version="1.0" encoding="utf-8"?>
<p:tagLst xmlns:p="http://schemas.openxmlformats.org/presentationml/2006/main">
  <p:tag name="KSO_WM_DIAGRAM_VIRTUALLY_FRAME" val="{&quot;height&quot;:363.85,&quot;left&quot;:119.7,&quot;top&quot;:133.15,&quot;width&quot;:720.6}"/>
</p:tagLst>
</file>

<file path=ppt/tags/tag736.xml><?xml version="1.0" encoding="utf-8"?>
<p:tagLst xmlns:p="http://schemas.openxmlformats.org/presentationml/2006/main">
  <p:tag name="KSO_WM_DIAGRAM_VIRTUALLY_FRAME" val="{&quot;height&quot;:363.85,&quot;left&quot;:119.7,&quot;top&quot;:133.15,&quot;width&quot;:720.6}"/>
</p:tagLst>
</file>

<file path=ppt/tags/tag737.xml><?xml version="1.0" encoding="utf-8"?>
<p:tagLst xmlns:p="http://schemas.openxmlformats.org/presentationml/2006/main">
  <p:tag name="KSO_WM_DIAGRAM_VIRTUALLY_FRAME" val="{&quot;height&quot;:363.85,&quot;left&quot;:119.7,&quot;top&quot;:133.15,&quot;width&quot;:720.6}"/>
</p:tagLst>
</file>

<file path=ppt/tags/tag738.xml><?xml version="1.0" encoding="utf-8"?>
<p:tagLst xmlns:p="http://schemas.openxmlformats.org/presentationml/2006/main">
  <p:tag name="KSO_WM_DIAGRAM_VIRTUALLY_FRAME" val="{&quot;height&quot;:363.85,&quot;left&quot;:119.7,&quot;top&quot;:133.15,&quot;width&quot;:720.6}"/>
</p:tagLst>
</file>

<file path=ppt/tags/tag739.xml><?xml version="1.0" encoding="utf-8"?>
<p:tagLst xmlns:p="http://schemas.openxmlformats.org/presentationml/2006/main">
  <p:tag name="KSO_WM_DIAGRAM_VIRTUALLY_FRAME" val="{&quot;height&quot;:363.85,&quot;left&quot;:119.7,&quot;top&quot;:133.15,&quot;width&quot;:720.6}"/>
</p:tagLst>
</file>

<file path=ppt/tags/tag740.xml><?xml version="1.0" encoding="utf-8"?>
<p:tagLst xmlns:p="http://schemas.openxmlformats.org/presentationml/2006/main">
  <p:tag name="KSO_WM_DIAGRAM_VIRTUALLY_FRAME" val="{&quot;height&quot;:363.85,&quot;left&quot;:119.7,&quot;top&quot;:133.15,&quot;width&quot;:720.6}"/>
</p:tagLst>
</file>

<file path=ppt/tags/tag741.xml><?xml version="1.0" encoding="utf-8"?>
<p:tagLst xmlns:p="http://schemas.openxmlformats.org/presentationml/2006/main">
  <p:tag name="KSO_WM_DIAGRAM_VIRTUALLY_FRAME" val="{&quot;height&quot;:363.85,&quot;left&quot;:119.7,&quot;top&quot;:133.15,&quot;width&quot;:720.6}"/>
</p:tagLst>
</file>

<file path=ppt/tags/tag742.xml><?xml version="1.0" encoding="utf-8"?>
<p:tagLst xmlns:p="http://schemas.openxmlformats.org/presentationml/2006/main">
  <p:tag name="KSO_WM_DIAGRAM_VIRTUALLY_FRAME" val="{&quot;height&quot;:363.85,&quot;left&quot;:119.7,&quot;top&quot;:133.15,&quot;width&quot;:720.6}"/>
</p:tagLst>
</file>

<file path=ppt/tags/tag743.xml><?xml version="1.0" encoding="utf-8"?>
<p:tagLst xmlns:p="http://schemas.openxmlformats.org/presentationml/2006/main">
  <p:tag name="KSO_WM_DIAGRAM_VIRTUALLY_FRAME" val="{&quot;height&quot;:363.85,&quot;left&quot;:119.7,&quot;top&quot;:133.15,&quot;width&quot;:720.6}"/>
</p:tagLst>
</file>

<file path=ppt/tags/tag744.xml><?xml version="1.0" encoding="utf-8"?>
<p:tagLst xmlns:p="http://schemas.openxmlformats.org/presentationml/2006/main">
  <p:tag name="KSO_WM_DIAGRAM_VIRTUALLY_FRAME" val="{&quot;height&quot;:363.85,&quot;left&quot;:119.7,&quot;top&quot;:133.15,&quot;width&quot;:720.6}"/>
</p:tagLst>
</file>

<file path=ppt/tags/tag745.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46.xml><?xml version="1.0" encoding="utf-8"?>
<p:tagLst xmlns:p="http://schemas.openxmlformats.org/presentationml/2006/main">
  <p:tag name="KSO_WM_DIAGRAM_VIRTUALLY_FRAME" val="{&quot;height&quot;:294.8,&quot;left&quot;:60.5,&quot;top&quot;:159.8,&quot;width&quot;:839.4}"/>
</p:tagLst>
</file>

<file path=ppt/tags/tag747.xml><?xml version="1.0" encoding="utf-8"?>
<p:tagLst xmlns:p="http://schemas.openxmlformats.org/presentationml/2006/main">
  <p:tag name="KSO_WM_DIAGRAM_VIRTUALLY_FRAME" val="{&quot;height&quot;:294.8,&quot;left&quot;:60.5,&quot;top&quot;:159.8,&quot;width&quot;:839.4}"/>
</p:tagLst>
</file>

<file path=ppt/tags/tag748.xml><?xml version="1.0" encoding="utf-8"?>
<p:tagLst xmlns:p="http://schemas.openxmlformats.org/presentationml/2006/main">
  <p:tag name="KSO_WM_DIAGRAM_VIRTUALLY_FRAME" val="{&quot;height&quot;:294.8,&quot;left&quot;:60.5,&quot;top&quot;:159.8,&quot;width&quot;:839.4}"/>
</p:tagLst>
</file>

<file path=ppt/tags/tag749.xml><?xml version="1.0" encoding="utf-8"?>
<p:tagLst xmlns:p="http://schemas.openxmlformats.org/presentationml/2006/main">
  <p:tag name="KSO_WM_DIAGRAM_VIRTUALLY_FRAME" val="{&quot;height&quot;:294.8,&quot;left&quot;:60.5,&quot;top&quot;:159.8,&quot;width&quot;:839.4}"/>
</p:tagLst>
</file>

<file path=ppt/tags/tag750.xml><?xml version="1.0" encoding="utf-8"?>
<p:tagLst xmlns:p="http://schemas.openxmlformats.org/presentationml/2006/main">
  <p:tag name="KSO_WM_DIAGRAM_VIRTUALLY_FRAME" val="{&quot;height&quot;:294.8,&quot;left&quot;:60.5,&quot;top&quot;:159.8,&quot;width&quot;:839.4}"/>
</p:tagLst>
</file>

<file path=ppt/tags/tag751.xml><?xml version="1.0" encoding="utf-8"?>
<p:tagLst xmlns:p="http://schemas.openxmlformats.org/presentationml/2006/main">
  <p:tag name="KSO_WM_DIAGRAM_VIRTUALLY_FRAME" val="{&quot;height&quot;:294.8,&quot;left&quot;:60.5,&quot;top&quot;:159.8,&quot;width&quot;:839.4}"/>
</p:tagLst>
</file>

<file path=ppt/tags/tag752.xml><?xml version="1.0" encoding="utf-8"?>
<p:tagLst xmlns:p="http://schemas.openxmlformats.org/presentationml/2006/main">
  <p:tag name="KSO_WM_DIAGRAM_VIRTUALLY_FRAME" val="{&quot;height&quot;:294.8,&quot;left&quot;:60.5,&quot;top&quot;:159.8,&quot;width&quot;:839.4}"/>
</p:tagLst>
</file>

<file path=ppt/tags/tag753.xml><?xml version="1.0" encoding="utf-8"?>
<p:tagLst xmlns:p="http://schemas.openxmlformats.org/presentationml/2006/main">
  <p:tag name="KSO_WM_DIAGRAM_VIRTUALLY_FRAME" val="{&quot;height&quot;:294.8,&quot;left&quot;:60.5,&quot;top&quot;:159.8,&quot;width&quot;:839.4}"/>
</p:tagLst>
</file>

<file path=ppt/tags/tag754.xml><?xml version="1.0" encoding="utf-8"?>
<p:tagLst xmlns:p="http://schemas.openxmlformats.org/presentationml/2006/main">
  <p:tag name="KSO_WM_DIAGRAM_VIRTUALLY_FRAME" val="{&quot;height&quot;:294.8,&quot;left&quot;:60.5,&quot;top&quot;:159.8,&quot;width&quot;:839.4}"/>
</p:tagLst>
</file>

<file path=ppt/tags/tag755.xml><?xml version="1.0" encoding="utf-8"?>
<p:tagLst xmlns:p="http://schemas.openxmlformats.org/presentationml/2006/main">
  <p:tag name="KSO_WM_DIAGRAM_VIRTUALLY_FRAME" val="{&quot;height&quot;:294.8,&quot;left&quot;:60.5,&quot;top&quot;:159.8,&quot;width&quot;:839.4}"/>
</p:tagLst>
</file>

<file path=ppt/tags/tag756.xml><?xml version="1.0" encoding="utf-8"?>
<p:tagLst xmlns:p="http://schemas.openxmlformats.org/presentationml/2006/main">
  <p:tag name="KSO_WM_DIAGRAM_VIRTUALLY_FRAME" val="{&quot;height&quot;:294.8,&quot;left&quot;:60.5,&quot;top&quot;:159.8,&quot;width&quot;:839.4}"/>
</p:tagLst>
</file>

<file path=ppt/tags/tag757.xml><?xml version="1.0" encoding="utf-8"?>
<p:tagLst xmlns:p="http://schemas.openxmlformats.org/presentationml/2006/main">
  <p:tag name="KSO_WM_DIAGRAM_VIRTUALLY_FRAME" val="{&quot;height&quot;:294.8,&quot;left&quot;:60.5,&quot;top&quot;:159.8,&quot;width&quot;:839.4}"/>
</p:tagLst>
</file>

<file path=ppt/tags/tag758.xml><?xml version="1.0" encoding="utf-8"?>
<p:tagLst xmlns:p="http://schemas.openxmlformats.org/presentationml/2006/main">
  <p:tag name="KSO_WM_DIAGRAM_VIRTUALLY_FRAME" val="{&quot;height&quot;:294.8,&quot;left&quot;:60.5,&quot;top&quot;:159.8,&quot;width&quot;:839.4}"/>
</p:tagLst>
</file>

<file path=ppt/tags/tag759.xml><?xml version="1.0" encoding="utf-8"?>
<p:tagLst xmlns:p="http://schemas.openxmlformats.org/presentationml/2006/main">
  <p:tag name="KSO_WM_DIAGRAM_VIRTUALLY_FRAME" val="{&quot;height&quot;:294.8,&quot;left&quot;:60.5,&quot;top&quot;:159.8,&quot;width&quot;:839.4}"/>
</p:tagLst>
</file>

<file path=ppt/tags/tag760.xml><?xml version="1.0" encoding="utf-8"?>
<p:tagLst xmlns:p="http://schemas.openxmlformats.org/presentationml/2006/main">
  <p:tag name="KSO_WM_DIAGRAM_VIRTUALLY_FRAME" val="{&quot;height&quot;:294.8,&quot;left&quot;:60.5,&quot;top&quot;:159.8,&quot;width&quot;:839.4}"/>
</p:tagLst>
</file>

<file path=ppt/tags/tag761.xml><?xml version="1.0" encoding="utf-8"?>
<p:tagLst xmlns:p="http://schemas.openxmlformats.org/presentationml/2006/main">
  <p:tag name="KSO_WM_DIAGRAM_VIRTUALLY_FRAME" val="{&quot;height&quot;:294.8,&quot;left&quot;:60.5,&quot;top&quot;:159.8,&quot;width&quot;:839.4}"/>
</p:tagLst>
</file>

<file path=ppt/tags/tag762.xml><?xml version="1.0" encoding="utf-8"?>
<p:tagLst xmlns:p="http://schemas.openxmlformats.org/presentationml/2006/main">
  <p:tag name="KSO_WM_DIAGRAM_VIRTUALLY_FRAME" val="{&quot;height&quot;:294.8,&quot;left&quot;:60.5,&quot;top&quot;:159.8,&quot;width&quot;:839.4}"/>
</p:tagLst>
</file>

<file path=ppt/tags/tag763.xml><?xml version="1.0" encoding="utf-8"?>
<p:tagLst xmlns:p="http://schemas.openxmlformats.org/presentationml/2006/main">
  <p:tag name="KSO_WM_DIAGRAM_VIRTUALLY_FRAME" val="{&quot;height&quot;:294.8,&quot;left&quot;:60.5,&quot;top&quot;:159.8,&quot;width&quot;:839.4}"/>
</p:tagLst>
</file>

<file path=ppt/tags/tag764.xml><?xml version="1.0" encoding="utf-8"?>
<p:tagLst xmlns:p="http://schemas.openxmlformats.org/presentationml/2006/main">
  <p:tag name="KSO_WM_DIAGRAM_VIRTUALLY_FRAME" val="{&quot;height&quot;:294.8,&quot;left&quot;:60.5,&quot;top&quot;:159.8,&quot;width&quot;:839.4}"/>
</p:tagLst>
</file>

<file path=ppt/tags/tag765.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66.xml><?xml version="1.0" encoding="utf-8"?>
<p:tagLst xmlns:p="http://schemas.openxmlformats.org/presentationml/2006/main">
  <p:tag name="KSO_WM_DIAGRAM_VIRTUALLY_FRAME" val="{&quot;height&quot;:356.7,&quot;left&quot;:156.95,&quot;top&quot;:132.35,&quot;width&quot;:646.15}"/>
</p:tagLst>
</file>

<file path=ppt/tags/tag767.xml><?xml version="1.0" encoding="utf-8"?>
<p:tagLst xmlns:p="http://schemas.openxmlformats.org/presentationml/2006/main">
  <p:tag name="KSO_WM_DIAGRAM_VIRTUALLY_FRAME" val="{&quot;height&quot;:356.7,&quot;left&quot;:156.95,&quot;top&quot;:132.35,&quot;width&quot;:646.15}"/>
</p:tagLst>
</file>

<file path=ppt/tags/tag768.xml><?xml version="1.0" encoding="utf-8"?>
<p:tagLst xmlns:p="http://schemas.openxmlformats.org/presentationml/2006/main">
  <p:tag name="KSO_WM_DIAGRAM_VIRTUALLY_FRAME" val="{&quot;height&quot;:356.7,&quot;left&quot;:156.95,&quot;top&quot;:132.35,&quot;width&quot;:646.15}"/>
</p:tagLst>
</file>

<file path=ppt/tags/tag769.xml><?xml version="1.0" encoding="utf-8"?>
<p:tagLst xmlns:p="http://schemas.openxmlformats.org/presentationml/2006/main">
  <p:tag name="KSO_WM_DIAGRAM_VIRTUALLY_FRAME" val="{&quot;height&quot;:356.7,&quot;left&quot;:156.95,&quot;top&quot;:132.35,&quot;width&quot;:646.15}"/>
</p:tagLst>
</file>

<file path=ppt/tags/tag770.xml><?xml version="1.0" encoding="utf-8"?>
<p:tagLst xmlns:p="http://schemas.openxmlformats.org/presentationml/2006/main">
  <p:tag name="KSO_WM_DIAGRAM_VIRTUALLY_FRAME" val="{&quot;height&quot;:356.7,&quot;left&quot;:156.95,&quot;top&quot;:132.35,&quot;width&quot;:646.15}"/>
</p:tagLst>
</file>

<file path=ppt/tags/tag771.xml><?xml version="1.0" encoding="utf-8"?>
<p:tagLst xmlns:p="http://schemas.openxmlformats.org/presentationml/2006/main">
  <p:tag name="KSO_WM_DIAGRAM_VIRTUALLY_FRAME" val="{&quot;height&quot;:356.7,&quot;left&quot;:156.95,&quot;top&quot;:132.35,&quot;width&quot;:646.15}"/>
</p:tagLst>
</file>

<file path=ppt/tags/tag772.xml><?xml version="1.0" encoding="utf-8"?>
<p:tagLst xmlns:p="http://schemas.openxmlformats.org/presentationml/2006/main">
  <p:tag name="KSO_WM_DIAGRAM_VIRTUALLY_FRAME" val="{&quot;height&quot;:356.7,&quot;left&quot;:156.95,&quot;top&quot;:132.35,&quot;width&quot;:646.15}"/>
</p:tagLst>
</file>

<file path=ppt/tags/tag773.xml><?xml version="1.0" encoding="utf-8"?>
<p:tagLst xmlns:p="http://schemas.openxmlformats.org/presentationml/2006/main">
  <p:tag name="KSO_WM_DIAGRAM_VIRTUALLY_FRAME" val="{&quot;height&quot;:356.7,&quot;left&quot;:156.95,&quot;top&quot;:132.35,&quot;width&quot;:646.15}"/>
</p:tagLst>
</file>

<file path=ppt/tags/tag774.xml><?xml version="1.0" encoding="utf-8"?>
<p:tagLst xmlns:p="http://schemas.openxmlformats.org/presentationml/2006/main">
  <p:tag name="KSO_WM_DIAGRAM_VIRTUALLY_FRAME" val="{&quot;height&quot;:356.7,&quot;left&quot;:156.95,&quot;top&quot;:132.35,&quot;width&quot;:646.15}"/>
</p:tagLst>
</file>

<file path=ppt/tags/tag775.xml><?xml version="1.0" encoding="utf-8"?>
<p:tagLst xmlns:p="http://schemas.openxmlformats.org/presentationml/2006/main">
  <p:tag name="KSO_WM_DIAGRAM_VIRTUALLY_FRAME" val="{&quot;height&quot;:356.7,&quot;left&quot;:156.95,&quot;top&quot;:132.35,&quot;width&quot;:646.15}"/>
</p:tagLst>
</file>

<file path=ppt/tags/tag776.xml><?xml version="1.0" encoding="utf-8"?>
<p:tagLst xmlns:p="http://schemas.openxmlformats.org/presentationml/2006/main">
  <p:tag name="KSO_WM_DIAGRAM_VIRTUALLY_FRAME" val="{&quot;height&quot;:356.7,&quot;left&quot;:156.95,&quot;top&quot;:132.35,&quot;width&quot;:646.15}"/>
</p:tagLst>
</file>

<file path=ppt/tags/tag777.xml><?xml version="1.0" encoding="utf-8"?>
<p:tagLst xmlns:p="http://schemas.openxmlformats.org/presentationml/2006/main">
  <p:tag name="KSO_WM_DIAGRAM_VIRTUALLY_FRAME" val="{&quot;height&quot;:356.7,&quot;left&quot;:156.95,&quot;top&quot;:132.35,&quot;width&quot;:646.15}"/>
</p:tagLst>
</file>

<file path=ppt/tags/tag778.xml><?xml version="1.0" encoding="utf-8"?>
<p:tagLst xmlns:p="http://schemas.openxmlformats.org/presentationml/2006/main">
  <p:tag name="KSO_WM_DIAGRAM_VIRTUALLY_FRAME" val="{&quot;height&quot;:356.7,&quot;left&quot;:156.95,&quot;top&quot;:132.35,&quot;width&quot;:646.15}"/>
</p:tagLst>
</file>

<file path=ppt/tags/tag779.xml><?xml version="1.0" encoding="utf-8"?>
<p:tagLst xmlns:p="http://schemas.openxmlformats.org/presentationml/2006/main">
  <p:tag name="KSO_WM_DIAGRAM_VIRTUALLY_FRAME" val="{&quot;height&quot;:356.7,&quot;left&quot;:156.95,&quot;top&quot;:132.35,&quot;width&quot;:646.15}"/>
</p:tagLst>
</file>

<file path=ppt/tags/tag780.xml><?xml version="1.0" encoding="utf-8"?>
<p:tagLst xmlns:p="http://schemas.openxmlformats.org/presentationml/2006/main">
  <p:tag name="KSO_WM_DIAGRAM_VIRTUALLY_FRAME" val="{&quot;height&quot;:356.7,&quot;left&quot;:156.95,&quot;top&quot;:132.35,&quot;width&quot;:646.15}"/>
</p:tagLst>
</file>

<file path=ppt/tags/tag781.xml><?xml version="1.0" encoding="utf-8"?>
<p:tagLst xmlns:p="http://schemas.openxmlformats.org/presentationml/2006/main">
  <p:tag name="KSO_WM_DIAGRAM_VIRTUALLY_FRAME" val="{&quot;height&quot;:356.7,&quot;left&quot;:156.95,&quot;top&quot;:132.35,&quot;width&quot;:646.15}"/>
</p:tagLst>
</file>

<file path=ppt/tags/tag782.xml><?xml version="1.0" encoding="utf-8"?>
<p:tagLst xmlns:p="http://schemas.openxmlformats.org/presentationml/2006/main">
  <p:tag name="KSO_WM_DIAGRAM_VIRTUALLY_FRAME" val="{&quot;height&quot;:356.7,&quot;left&quot;:156.95,&quot;top&quot;:132.35,&quot;width&quot;:646.15}"/>
</p:tagLst>
</file>

<file path=ppt/tags/tag783.xml><?xml version="1.0" encoding="utf-8"?>
<p:tagLst xmlns:p="http://schemas.openxmlformats.org/presentationml/2006/main">
  <p:tag name="KSO_WM_DIAGRAM_VIRTUALLY_FRAME" val="{&quot;height&quot;:356.7,&quot;left&quot;:156.95,&quot;top&quot;:132.35,&quot;width&quot;:646.15}"/>
</p:tagLst>
</file>

<file path=ppt/tags/tag784.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85.xml><?xml version="1.0" encoding="utf-8"?>
<p:tagLst xmlns:p="http://schemas.openxmlformats.org/presentationml/2006/main">
  <p:tag name="KSO_WM_UNIT_PLACING_PICTURE_USER_VIEWPORT" val="{&quot;height&quot;:4384,&quot;width&quot;:6665}"/>
</p:tagLst>
</file>

<file path=ppt/tags/tag786.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87.xml><?xml version="1.0" encoding="utf-8"?>
<p:tagLst xmlns:p="http://schemas.openxmlformats.org/presentationml/2006/main">
  <p:tag name="KSO_WM_DIAGRAM_VIRTUALLY_FRAME" val="{&quot;height&quot;:345.46425196850396,&quot;left&quot;:91.85,&quot;top&quot;:131.6,&quot;width&quot;:772.8304724409448}"/>
</p:tagLst>
</file>

<file path=ppt/tags/tag788.xml><?xml version="1.0" encoding="utf-8"?>
<p:tagLst xmlns:p="http://schemas.openxmlformats.org/presentationml/2006/main">
  <p:tag name="KSO_WM_DIAGRAM_VIRTUALLY_FRAME" val="{&quot;height&quot;:367.26425196850397,&quot;left&quot;:91.85,&quot;top&quot;:131.6,&quot;width&quot;:772.8304724409448}"/>
</p:tagLst>
</file>

<file path=ppt/tags/tag789.xml><?xml version="1.0" encoding="utf-8"?>
<p:tagLst xmlns:p="http://schemas.openxmlformats.org/presentationml/2006/main">
  <p:tag name="KSO_WM_DIAGRAM_VIRTUALLY_FRAME" val="{&quot;height&quot;:367.26425196850397,&quot;left&quot;:91.85,&quot;top&quot;:131.6,&quot;width&quot;:772.8304724409448}"/>
</p:tagLst>
</file>

<file path=ppt/tags/tag790.xml><?xml version="1.0" encoding="utf-8"?>
<p:tagLst xmlns:p="http://schemas.openxmlformats.org/presentationml/2006/main">
  <p:tag name="KSO_WM_DIAGRAM_VIRTUALLY_FRAME" val="{&quot;height&quot;:367.26425196850397,&quot;left&quot;:91.85,&quot;top&quot;:131.6,&quot;width&quot;:772.8304724409448}"/>
</p:tagLst>
</file>

<file path=ppt/tags/tag791.xml><?xml version="1.0" encoding="utf-8"?>
<p:tagLst xmlns:p="http://schemas.openxmlformats.org/presentationml/2006/main">
  <p:tag name="KSO_WM_DIAGRAM_VIRTUALLY_FRAME" val="{&quot;height&quot;:367.26425196850397,&quot;left&quot;:91.85,&quot;top&quot;:131.6,&quot;width&quot;:772.8304724409448}"/>
</p:tagLst>
</file>

<file path=ppt/tags/tag792.xml><?xml version="1.0" encoding="utf-8"?>
<p:tagLst xmlns:p="http://schemas.openxmlformats.org/presentationml/2006/main">
  <p:tag name="KSO_WM_DIAGRAM_VIRTUALLY_FRAME" val="{&quot;height&quot;:367.26425196850397,&quot;left&quot;:91.85,&quot;top&quot;:131.6,&quot;width&quot;:772.8304724409448}"/>
</p:tagLst>
</file>

<file path=ppt/tags/tag793.xml><?xml version="1.0" encoding="utf-8"?>
<p:tagLst xmlns:p="http://schemas.openxmlformats.org/presentationml/2006/main">
  <p:tag name="KSO_WM_DIAGRAM_VIRTUALLY_FRAME" val="{&quot;height&quot;:367.26425196850397,&quot;left&quot;:91.85,&quot;top&quot;:131.6,&quot;width&quot;:772.8304724409448}"/>
</p:tagLst>
</file>

<file path=ppt/tags/tag794.xml><?xml version="1.0" encoding="utf-8"?>
<p:tagLst xmlns:p="http://schemas.openxmlformats.org/presentationml/2006/main">
  <p:tag name="KSO_WM_DIAGRAM_VIRTUALLY_FRAME" val="{&quot;height&quot;:367.26425196850397,&quot;left&quot;:91.85,&quot;top&quot;:131.6,&quot;width&quot;:772.8304724409448}"/>
</p:tagLst>
</file>

<file path=ppt/tags/tag795.xml><?xml version="1.0" encoding="utf-8"?>
<p:tagLst xmlns:p="http://schemas.openxmlformats.org/presentationml/2006/main">
  <p:tag name="KSO_WM_DIAGRAM_VIRTUALLY_FRAME" val="{&quot;height&quot;:367.26425196850397,&quot;left&quot;:91.85,&quot;top&quot;:131.6,&quot;width&quot;:772.8304724409448}"/>
</p:tagLst>
</file>

<file path=ppt/tags/tag796.xml><?xml version="1.0" encoding="utf-8"?>
<p:tagLst xmlns:p="http://schemas.openxmlformats.org/presentationml/2006/main">
  <p:tag name="KSO_WM_DIAGRAM_VIRTUALLY_FRAME" val="{&quot;height&quot;:367.26425196850397,&quot;left&quot;:91.85,&quot;top&quot;:131.6,&quot;width&quot;:772.8304724409448}"/>
</p:tagLst>
</file>

<file path=ppt/tags/tag797.xml><?xml version="1.0" encoding="utf-8"?>
<p:tagLst xmlns:p="http://schemas.openxmlformats.org/presentationml/2006/main">
  <p:tag name="KSO_WM_DIAGRAM_VIRTUALLY_FRAME" val="{&quot;height&quot;:367.26425196850397,&quot;left&quot;:91.85,&quot;top&quot;:131.6,&quot;width&quot;:772.8304724409448}"/>
</p:tagLst>
</file>

<file path=ppt/tags/tag798.xml><?xml version="1.0" encoding="utf-8"?>
<p:tagLst xmlns:p="http://schemas.openxmlformats.org/presentationml/2006/main">
  <p:tag name="KSO_WM_DIAGRAM_VIRTUALLY_FRAME" val="{&quot;height&quot;:367.26425196850397,&quot;left&quot;:91.85,&quot;top&quot;:131.6,&quot;width&quot;:772.8304724409448}"/>
</p:tagLst>
</file>

<file path=ppt/tags/tag799.xml><?xml version="1.0" encoding="utf-8"?>
<p:tagLst xmlns:p="http://schemas.openxmlformats.org/presentationml/2006/main">
  <p:tag name="KSO_WM_DIAGRAM_VIRTUALLY_FRAME" val="{&quot;height&quot;:367.26425196850397,&quot;left&quot;:91.85,&quot;top&quot;:131.6,&quot;width&quot;:772.8304724409448}"/>
</p:tagLst>
</file>

<file path=ppt/tags/tag800.xml><?xml version="1.0" encoding="utf-8"?>
<p:tagLst xmlns:p="http://schemas.openxmlformats.org/presentationml/2006/main">
  <p:tag name="KSO_WM_DIAGRAM_VIRTUALLY_FRAME" val="{&quot;height&quot;:367.26425196850397,&quot;left&quot;:91.85,&quot;top&quot;:131.6,&quot;width&quot;:772.8304724409448}"/>
</p:tagLst>
</file>

<file path=ppt/tags/tag801.xml><?xml version="1.0" encoding="utf-8"?>
<p:tagLst xmlns:p="http://schemas.openxmlformats.org/presentationml/2006/main">
  <p:tag name="KSO_WM_DIAGRAM_VIRTUALLY_FRAME" val="{&quot;height&quot;:367.26425196850397,&quot;left&quot;:91.85,&quot;top&quot;:131.6,&quot;width&quot;:772.8304724409448}"/>
</p:tagLst>
</file>

<file path=ppt/tags/tag802.xml><?xml version="1.0" encoding="utf-8"?>
<p:tagLst xmlns:p="http://schemas.openxmlformats.org/presentationml/2006/main">
  <p:tag name="KSO_WM_DIAGRAM_VIRTUALLY_FRAME" val="{&quot;height&quot;:367.26425196850397,&quot;left&quot;:91.85,&quot;top&quot;:131.6,&quot;width&quot;:772.8304724409448}"/>
</p:tagLst>
</file>

<file path=ppt/tags/tag803.xml><?xml version="1.0" encoding="utf-8"?>
<p:tagLst xmlns:p="http://schemas.openxmlformats.org/presentationml/2006/main">
  <p:tag name="KSO_WM_DIAGRAM_VIRTUALLY_FRAME" val="{&quot;height&quot;:367.26425196850397,&quot;left&quot;:91.85,&quot;top&quot;:131.6,&quot;width&quot;:772.8304724409448}"/>
</p:tagLst>
</file>

<file path=ppt/tags/tag804.xml><?xml version="1.0" encoding="utf-8"?>
<p:tagLst xmlns:p="http://schemas.openxmlformats.org/presentationml/2006/main">
  <p:tag name="KSO_WM_DIAGRAM_VIRTUALLY_FRAME" val="{&quot;height&quot;:367.26425196850397,&quot;left&quot;:91.85,&quot;top&quot;:131.6,&quot;width&quot;:772.8304724409448}"/>
</p:tagLst>
</file>

<file path=ppt/tags/tag805.xml><?xml version="1.0" encoding="utf-8"?>
<p:tagLst xmlns:p="http://schemas.openxmlformats.org/presentationml/2006/main">
  <p:tag name="KSO_WM_DIAGRAM_VIRTUALLY_FRAME" val="{&quot;height&quot;:367.26425196850397,&quot;left&quot;:91.85,&quot;top&quot;:131.6,&quot;width&quot;:772.8304724409448}"/>
</p:tagLst>
</file>

<file path=ppt/tags/tag806.xml><?xml version="1.0" encoding="utf-8"?>
<p:tagLst xmlns:p="http://schemas.openxmlformats.org/presentationml/2006/main">
  <p:tag name="KSO_WM_DIAGRAM_VIRTUALLY_FRAME" val="{&quot;height&quot;:367.26425196850397,&quot;left&quot;:91.85,&quot;top&quot;:131.6,&quot;width&quot;:772.8304724409448}"/>
</p:tagLst>
</file>

<file path=ppt/tags/tag807.xml><?xml version="1.0" encoding="utf-8"?>
<p:tagLst xmlns:p="http://schemas.openxmlformats.org/presentationml/2006/main">
  <p:tag name="KSO_WM_DIAGRAM_VIRTUALLY_FRAME" val="{&quot;height&quot;:367.26425196850397,&quot;left&quot;:91.85,&quot;top&quot;:131.6,&quot;width&quot;:772.8304724409448}"/>
</p:tagLst>
</file>

<file path=ppt/tags/tag808.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809.xml><?xml version="1.0" encoding="utf-8"?>
<p:tagLst xmlns:p="http://schemas.openxmlformats.org/presentationml/2006/main">
  <p:tag name="KSO_WM_DIAGRAM_VIRTUALLY_FRAME" val="{&quot;height&quot;:404.8924936974928,&quot;left&quot;:45.9,&quot;top&quot;:142.9155118110236,&quot;width&quot;:868.2}"/>
</p:tagLst>
</file>

<file path=ppt/tags/tag810.xml><?xml version="1.0" encoding="utf-8"?>
<p:tagLst xmlns:p="http://schemas.openxmlformats.org/presentationml/2006/main">
  <p:tag name="KSO_WM_DIAGRAM_VIRTUALLY_FRAME" val="{&quot;height&quot;:404.8924936974928,&quot;left&quot;:45.9,&quot;top&quot;:142.9155118110236,&quot;width&quot;:868.2}"/>
</p:tagLst>
</file>

<file path=ppt/tags/tag811.xml><?xml version="1.0" encoding="utf-8"?>
<p:tagLst xmlns:p="http://schemas.openxmlformats.org/presentationml/2006/main">
  <p:tag name="KSO_WM_DIAGRAM_VIRTUALLY_FRAME" val="{&quot;height&quot;:404.8924936974928,&quot;left&quot;:45.9,&quot;top&quot;:142.9155118110236,&quot;width&quot;:868.2}"/>
</p:tagLst>
</file>

<file path=ppt/tags/tag812.xml><?xml version="1.0" encoding="utf-8"?>
<p:tagLst xmlns:p="http://schemas.openxmlformats.org/presentationml/2006/main">
  <p:tag name="KSO_WM_DIAGRAM_VIRTUALLY_FRAME" val="{&quot;height&quot;:404.8924936974928,&quot;left&quot;:45.9,&quot;top&quot;:142.9155118110236,&quot;width&quot;:868.2}"/>
</p:tagLst>
</file>

<file path=ppt/tags/tag813.xml><?xml version="1.0" encoding="utf-8"?>
<p:tagLst xmlns:p="http://schemas.openxmlformats.org/presentationml/2006/main">
  <p:tag name="KSO_WM_DIAGRAM_VIRTUALLY_FRAME" val="{&quot;height&quot;:404.8924936974928,&quot;left&quot;:45.9,&quot;top&quot;:142.9155118110236,&quot;width&quot;:868.2}"/>
</p:tagLst>
</file>

<file path=ppt/tags/tag814.xml><?xml version="1.0" encoding="utf-8"?>
<p:tagLst xmlns:p="http://schemas.openxmlformats.org/presentationml/2006/main">
  <p:tag name="KSO_WM_DIAGRAM_VIRTUALLY_FRAME" val="{&quot;height&quot;:404.8924936974928,&quot;left&quot;:45.9,&quot;top&quot;:142.9155118110236,&quot;width&quot;:868.2}"/>
</p:tagLst>
</file>

<file path=ppt/tags/tag815.xml><?xml version="1.0" encoding="utf-8"?>
<p:tagLst xmlns:p="http://schemas.openxmlformats.org/presentationml/2006/main">
  <p:tag name="KSO_WM_DIAGRAM_VIRTUALLY_FRAME" val="{&quot;height&quot;:404.8924936974928,&quot;left&quot;:45.9,&quot;top&quot;:142.9155118110236,&quot;width&quot;:868.2}"/>
</p:tagLst>
</file>

<file path=ppt/tags/tag816.xml><?xml version="1.0" encoding="utf-8"?>
<p:tagLst xmlns:p="http://schemas.openxmlformats.org/presentationml/2006/main">
  <p:tag name="KSO_WM_DIAGRAM_VIRTUALLY_FRAME" val="{&quot;height&quot;:404.8924936974928,&quot;left&quot;:45.9,&quot;top&quot;:142.9155118110236,&quot;width&quot;:868.2}"/>
</p:tagLst>
</file>

<file path=ppt/tags/tag817.xml><?xml version="1.0" encoding="utf-8"?>
<p:tagLst xmlns:p="http://schemas.openxmlformats.org/presentationml/2006/main">
  <p:tag name="KSO_WM_DIAGRAM_VIRTUALLY_FRAME" val="{&quot;height&quot;:404.8924936974928,&quot;left&quot;:45.9,&quot;top&quot;:142.9155118110236,&quot;width&quot;:868.2}"/>
</p:tagLst>
</file>

<file path=ppt/tags/tag818.xml><?xml version="1.0" encoding="utf-8"?>
<p:tagLst xmlns:p="http://schemas.openxmlformats.org/presentationml/2006/main">
  <p:tag name="KSO_WM_DIAGRAM_VIRTUALLY_FRAME" val="{&quot;height&quot;:404.8924936974928,&quot;left&quot;:45.9,&quot;top&quot;:142.9155118110236,&quot;width&quot;:868.2}"/>
</p:tagLst>
</file>

<file path=ppt/tags/tag819.xml><?xml version="1.0" encoding="utf-8"?>
<p:tagLst xmlns:p="http://schemas.openxmlformats.org/presentationml/2006/main">
  <p:tag name="KSO_WM_DIAGRAM_VIRTUALLY_FRAME" val="{&quot;height&quot;:404.8924936974928,&quot;left&quot;:45.9,&quot;top&quot;:142.9155118110236,&quot;width&quot;:868.2}"/>
</p:tagLst>
</file>

<file path=ppt/tags/tag820.xml><?xml version="1.0" encoding="utf-8"?>
<p:tagLst xmlns:p="http://schemas.openxmlformats.org/presentationml/2006/main">
  <p:tag name="KSO_WM_DIAGRAM_VIRTUALLY_FRAME" val="{&quot;height&quot;:404.8924936974928,&quot;left&quot;:45.9,&quot;top&quot;:142.9155118110236,&quot;width&quot;:868.2}"/>
</p:tagLst>
</file>

<file path=ppt/tags/tag821.xml><?xml version="1.0" encoding="utf-8"?>
<p:tagLst xmlns:p="http://schemas.openxmlformats.org/presentationml/2006/main">
  <p:tag name="KSO_WM_DIAGRAM_VIRTUALLY_FRAME" val="{&quot;height&quot;:404.8924936974928,&quot;left&quot;:45.9,&quot;top&quot;:142.9155118110236,&quot;width&quot;:868.2}"/>
</p:tagLst>
</file>

<file path=ppt/tags/tag822.xml><?xml version="1.0" encoding="utf-8"?>
<p:tagLst xmlns:p="http://schemas.openxmlformats.org/presentationml/2006/main">
  <p:tag name="KSO_WM_DIAGRAM_VIRTUALLY_FRAME" val="{&quot;height&quot;:404.8924936974928,&quot;left&quot;:45.9,&quot;top&quot;:142.9155118110236,&quot;width&quot;:868.2}"/>
</p:tagLst>
</file>

<file path=ppt/tags/tag823.xml><?xml version="1.0" encoding="utf-8"?>
<p:tagLst xmlns:p="http://schemas.openxmlformats.org/presentationml/2006/main">
  <p:tag name="KSO_WM_DIAGRAM_VIRTUALLY_FRAME" val="{&quot;height&quot;:404.8924936974928,&quot;left&quot;:45.9,&quot;top&quot;:142.9155118110236,&quot;width&quot;:868.2}"/>
</p:tagLst>
</file>

<file path=ppt/tags/tag824.xml><?xml version="1.0" encoding="utf-8"?>
<p:tagLst xmlns:p="http://schemas.openxmlformats.org/presentationml/2006/main">
  <p:tag name="KSO_WM_DIAGRAM_VIRTUALLY_FRAME" val="{&quot;height&quot;:404.8924936974928,&quot;left&quot;:45.9,&quot;top&quot;:142.9155118110236,&quot;width&quot;:868.2}"/>
</p:tagLst>
</file>

<file path=ppt/tags/tag825.xml><?xml version="1.0" encoding="utf-8"?>
<p:tagLst xmlns:p="http://schemas.openxmlformats.org/presentationml/2006/main">
  <p:tag name="KSO_WM_DIAGRAM_VIRTUALLY_FRAME" val="{&quot;height&quot;:404.8924936974928,&quot;left&quot;:45.9,&quot;top&quot;:142.9155118110236,&quot;width&quot;:868.2}"/>
</p:tagLst>
</file>

<file path=ppt/tags/tag826.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7.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8.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9.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30.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831.xml><?xml version="1.0" encoding="utf-8"?>
<p:tagLst xmlns:p="http://schemas.openxmlformats.org/presentationml/2006/main">
  <p:tag name="resource_record_key" val="{&quot;65&quot;:[20205081],&quot;71&quot;:[76235680130]}"/>
</p:tagLst>
</file>

<file path=ppt/theme/theme1.xml><?xml version="1.0" encoding="utf-8"?>
<a:theme xmlns:a="http://schemas.openxmlformats.org/drawingml/2006/main" name="Office 主题​​">
  <a:themeElements>
    <a:clrScheme name="教育">
      <a:dk1>
        <a:srgbClr val="000000"/>
      </a:dk1>
      <a:lt1>
        <a:srgbClr val="FFFFFF"/>
      </a:lt1>
      <a:dk2>
        <a:srgbClr val="0F1423"/>
      </a:dk2>
      <a:lt2>
        <a:srgbClr val="FFFFFF"/>
      </a:lt2>
      <a:accent1>
        <a:srgbClr val="5D8287"/>
      </a:accent1>
      <a:accent2>
        <a:srgbClr val="799FA0"/>
      </a:accent2>
      <a:accent3>
        <a:srgbClr val="A2CBC5"/>
      </a:accent3>
      <a:accent4>
        <a:srgbClr val="B3CBB1"/>
      </a:accent4>
      <a:accent5>
        <a:srgbClr val="D6CA8A"/>
      </a:accent5>
      <a:accent6>
        <a:srgbClr val="F9CA62"/>
      </a:accent6>
      <a:hlink>
        <a:srgbClr val="0563C1"/>
      </a:hlink>
      <a:folHlink>
        <a:srgbClr val="954D72"/>
      </a:folHlink>
    </a:clrScheme>
    <a:fontScheme name="">
      <a:majorFont>
        <a:latin typeface="思源黑体 CN Bold"/>
        <a:ea typeface="思源黑体 CN Bold"/>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3252C"/>
      </a:dk2>
      <a:lt2>
        <a:srgbClr val="FDFEFB"/>
      </a:lt2>
      <a:accent1>
        <a:srgbClr val="5B805B"/>
      </a:accent1>
      <a:accent2>
        <a:srgbClr val="A9C683"/>
      </a:accent2>
      <a:accent3>
        <a:srgbClr val="A9D3A9"/>
      </a:accent3>
      <a:accent4>
        <a:srgbClr val="66A4A4"/>
      </a:accent4>
      <a:accent5>
        <a:srgbClr val="537E85"/>
      </a:accent5>
      <a:accent6>
        <a:srgbClr val="52717B"/>
      </a:accent6>
      <a:hlink>
        <a:srgbClr val="8F9456"/>
      </a:hlink>
      <a:folHlink>
        <a:srgbClr val="6DA4F2"/>
      </a:folHlink>
    </a:clrScheme>
    <a:fontScheme name="">
      <a:majorFont>
        <a:latin typeface="思源黑体 CN Bold"/>
        <a:ea typeface="思源黑体 CN Bold"/>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Medium"/>
        <a:ea typeface=""/>
        <a:cs typeface=""/>
        <a:font script="Jpan" typeface="ＭＳ Ｐゴシック"/>
        <a:font script="Hang" typeface="맑은 고딕"/>
        <a:font script="Hans" typeface="思源黑体 Medium"/>
        <a:font script="Hant" typeface="新細明體"/>
        <a:font script="Arab" typeface="思源黑体 Medium"/>
        <a:font script="Hebr" typeface="思源黑体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Medium"/>
        <a:ea typeface=""/>
        <a:cs typeface=""/>
        <a:font script="Jpan" typeface="ＭＳ Ｐゴシック"/>
        <a:font script="Hang" typeface="맑은 고딕"/>
        <a:font script="Hans" typeface="思源黑体 Medium"/>
        <a:font script="Hant" typeface="新細明體"/>
        <a:font script="Arab" typeface="思源黑体 Medium"/>
        <a:font script="Hebr" typeface="思源黑体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7764</Words>
  <Application>WPS 演示</Application>
  <PresentationFormat>宽屏</PresentationFormat>
  <Paragraphs>702</Paragraphs>
  <Slides>34</Slides>
  <Notes>2</Notes>
  <HiddenSlides>1</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34</vt:i4>
      </vt:variant>
    </vt:vector>
  </HeadingPairs>
  <TitlesOfParts>
    <vt:vector size="59" baseType="lpstr">
      <vt:lpstr>Arial</vt:lpstr>
      <vt:lpstr>宋体</vt:lpstr>
      <vt:lpstr>Wingdings</vt:lpstr>
      <vt:lpstr>思源黑体 Medium</vt:lpstr>
      <vt:lpstr>Wingdings</vt:lpstr>
      <vt:lpstr>思源黑体 CN Regular</vt:lpstr>
      <vt:lpstr>思源黑体 CN Medium</vt:lpstr>
      <vt:lpstr>思源黑体 CN Bold</vt:lpstr>
      <vt:lpstr>标准粗黑</vt:lpstr>
      <vt:lpstr>思源黑体 Regular</vt:lpstr>
      <vt:lpstr>微软雅黑</vt:lpstr>
      <vt:lpstr>Calibri</vt:lpstr>
      <vt:lpstr>Helvetica Neue Light</vt:lpstr>
      <vt:lpstr>思源黑体 Heavy</vt:lpstr>
      <vt:lpstr>黑体</vt:lpstr>
      <vt:lpstr>League Gothic Regular</vt:lpstr>
      <vt:lpstr>Arial Unicode MS</vt:lpstr>
      <vt:lpstr>Verdana</vt:lpstr>
      <vt:lpstr>思源黑体 Bold</vt:lpstr>
      <vt:lpstr>思源黑体 CN Normal</vt:lpstr>
      <vt:lpstr>Arial</vt:lpstr>
      <vt:lpstr>Open Sans</vt:lpstr>
      <vt:lpstr>Segoe Print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58</cp:revision>
  <dcterms:created xsi:type="dcterms:W3CDTF">2022-01-14T06:34:00Z</dcterms:created>
  <dcterms:modified xsi:type="dcterms:W3CDTF">2025-10-29T06:53:50Z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2052-11.1.0.11176</vt:lpwstr>
  </property>
  <property fmtid="{D5CDD505-2E9C-101B-9397-08002B2CF9AE}" pid="3" name="ICV">
    <vt:lpwstr>6E043B602A3945C6A8780E5FC4B1752B</vt:lpwstr>
  </property>
  <property fmtid="{D5CDD505-2E9C-101B-9397-08002B2CF9AE}" pid="4" name="KSOTemplateUUID">
    <vt:lpwstr>v1.0_mb_Al+RhMaNTNJZ8tVZt3FpEA==</vt:lpwstr>
  </property>
</Properties>
</file>